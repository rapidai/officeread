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slides/slide13.xml" ContentType="application/vnd.openxmlformats-officedocument.presentationml.slide+xml"/>
  <Override PartName="/ppt/slides/slide40.xml" ContentType="application/vnd.openxmlformats-officedocument.presentationml.slide+xml"/>
  <Override PartName="/ppt/slides/slide14.xml" ContentType="application/vnd.openxmlformats-officedocument.presentationml.slide+xml"/>
  <Override PartName="/ppt/slides/slide3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37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3.xml" ContentType="application/vnd.openxmlformats-officedocument.presentationml.slide+xml"/>
  <Override PartName="/ppt/presProps.xml" ContentType="application/vnd.openxmlformats-officedocument.presentationml.presProps+xml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Default Extension="rels" ContentType="application/vnd.openxmlformats-package.relationships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314" r:id="rId3"/>
    <p:sldId id="315" r:id="rId4"/>
    <p:sldId id="316" r:id="rId5"/>
    <p:sldId id="317" r:id="rId6"/>
    <p:sldId id="329" r:id="rId7"/>
    <p:sldId id="330" r:id="rId8"/>
    <p:sldId id="331" r:id="rId9"/>
    <p:sldId id="332" r:id="rId10"/>
    <p:sldId id="333" r:id="rId11"/>
    <p:sldId id="334" r:id="rId12"/>
    <p:sldId id="325" r:id="rId13"/>
    <p:sldId id="326" r:id="rId14"/>
    <p:sldId id="327" r:id="rId15"/>
    <p:sldId id="350" r:id="rId16"/>
    <p:sldId id="328" r:id="rId17"/>
    <p:sldId id="335" r:id="rId18"/>
    <p:sldId id="306" r:id="rId19"/>
    <p:sldId id="295" r:id="rId20"/>
    <p:sldId id="336" r:id="rId21"/>
    <p:sldId id="355" r:id="rId22"/>
    <p:sldId id="337" r:id="rId23"/>
    <p:sldId id="338" r:id="rId24"/>
    <p:sldId id="339" r:id="rId25"/>
    <p:sldId id="305" r:id="rId26"/>
    <p:sldId id="312" r:id="rId27"/>
    <p:sldId id="351" r:id="rId28"/>
    <p:sldId id="352" r:id="rId29"/>
    <p:sldId id="353" r:id="rId30"/>
    <p:sldId id="354" r:id="rId31"/>
    <p:sldId id="340" r:id="rId32"/>
    <p:sldId id="341" r:id="rId33"/>
    <p:sldId id="342" r:id="rId34"/>
    <p:sldId id="343" r:id="rId35"/>
    <p:sldId id="344" r:id="rId36"/>
    <p:sldId id="345" r:id="rId37"/>
    <p:sldId id="347" r:id="rId38"/>
    <p:sldId id="348" r:id="rId39"/>
    <p:sldId id="279" r:id="rId40"/>
    <p:sldId id="280" r:id="rId4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4970" autoAdjust="0"/>
    <p:restoredTop sz="94660"/>
  </p:normalViewPr>
  <p:slideViewPr>
    <p:cSldViewPr snapToObjects="1">
      <p:cViewPr>
        <p:scale>
          <a:sx n="150" d="100"/>
          <a:sy n="150" d="100"/>
        </p:scale>
        <p:origin x="-1296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heme" Target="theme/theme1.xml"/><Relationship Id="rId35" Type="http://schemas.openxmlformats.org/officeDocument/2006/relationships/slide" Target="slides/slide34.xml"/><Relationship Id="rId31" Type="http://schemas.openxmlformats.org/officeDocument/2006/relationships/slide" Target="slides/slide30.xml"/><Relationship Id="rId34" Type="http://schemas.openxmlformats.org/officeDocument/2006/relationships/slide" Target="slides/slide33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7" Type="http://schemas.openxmlformats.org/officeDocument/2006/relationships/slide" Target="slides/slide6.xml"/><Relationship Id="rId36" Type="http://schemas.openxmlformats.org/officeDocument/2006/relationships/slide" Target="slides/slide35.xml"/><Relationship Id="rId43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47" Type="http://schemas.openxmlformats.org/officeDocument/2006/relationships/tableStyles" Target="tableStyles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7" Type="http://schemas.openxmlformats.org/officeDocument/2006/relationships/slide" Target="slides/slide26.xml"/><Relationship Id="rId14" Type="http://schemas.openxmlformats.org/officeDocument/2006/relationships/slide" Target="slides/slide13.xml"/><Relationship Id="rId23" Type="http://schemas.openxmlformats.org/officeDocument/2006/relationships/slide" Target="slides/slide22.xml"/><Relationship Id="rId4" Type="http://schemas.openxmlformats.org/officeDocument/2006/relationships/slide" Target="slides/slide3.xml"/><Relationship Id="rId28" Type="http://schemas.openxmlformats.org/officeDocument/2006/relationships/slide" Target="slides/slide27.xml"/><Relationship Id="rId45" Type="http://schemas.openxmlformats.org/officeDocument/2006/relationships/viewProps" Target="viewProps.xml"/><Relationship Id="rId26" Type="http://schemas.openxmlformats.org/officeDocument/2006/relationships/slide" Target="slides/slide25.xml"/><Relationship Id="rId30" Type="http://schemas.openxmlformats.org/officeDocument/2006/relationships/slide" Target="slides/slide29.xml"/><Relationship Id="rId11" Type="http://schemas.openxmlformats.org/officeDocument/2006/relationships/slide" Target="slides/slide10.xml"/><Relationship Id="rId42" Type="http://schemas.openxmlformats.org/officeDocument/2006/relationships/notesMaster" Target="notesMasters/notesMaster1.xml"/><Relationship Id="rId29" Type="http://schemas.openxmlformats.org/officeDocument/2006/relationships/slide" Target="slides/slide28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33" Type="http://schemas.openxmlformats.org/officeDocument/2006/relationships/slide" Target="slides/slide32.xml"/><Relationship Id="rId44" Type="http://schemas.openxmlformats.org/officeDocument/2006/relationships/presProps" Target="presProps.xml"/><Relationship Id="rId41" Type="http://schemas.openxmlformats.org/officeDocument/2006/relationships/slide" Target="slides/slide4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AAAC7285-C30C-1D42-9C56-13A3207C2838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83CE0A97-5E03-FA4A-991E-B9E0819653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ＭＳ Ｐゴシック" pitchFamily="-65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D68075-B4AC-A447-AADE-2AD26BD9BCFA}" type="slidenum">
              <a:rPr lang="en-US"/>
              <a:pPr/>
              <a:t>15</a:t>
            </a:fld>
            <a:endParaRPr 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>
              <a:ea typeface="ＭＳ Ｐゴシック" pitchFamily="-105" charset="-128"/>
              <a:cs typeface="ＭＳ Ｐゴシック" pitchFamily="-105" charset="-128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9560B10-9494-1C41-A237-BA962C652E2C}" type="slidenum">
              <a:rPr lang="en-US" smtClean="0">
                <a:latin typeface="Calibri" pitchFamily="-105" charset="0"/>
                <a:ea typeface="ＭＳ Ｐゴシック" pitchFamily="-105" charset="-128"/>
                <a:cs typeface="ＭＳ Ｐゴシック" pitchFamily="-105" charset="-128"/>
              </a:rPr>
              <a:pPr/>
              <a:t>17</a:t>
            </a:fld>
            <a:endParaRPr lang="en-US" smtClean="0">
              <a:latin typeface="Calibri" pitchFamily="-105" charset="0"/>
              <a:ea typeface="ＭＳ Ｐゴシック" pitchFamily="-105" charset="-128"/>
              <a:cs typeface="ＭＳ Ｐゴシック" pitchFamily="-105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85CED-3647-7F4C-A769-0ACB1CBF1D9B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E08A3-4546-E641-B2C1-24F99E5093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998E6-6F62-874E-953A-D8B20820BB54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BF0ED-DCD2-EC44-91BA-FEEB83473A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D8BC3-140A-C644-80CB-BBF0C2E13E27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36FDA-B094-8D43-BAA6-E53A7841EA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B2A20-3CA8-F742-9EB8-EECAE79849C0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1D45-080D-9548-B65C-536487B313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A86E5-3059-6C4A-A6E0-0B758F05FDDF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A9346-FCCF-004F-BEBC-A8E66B8965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9BB3D-E530-A24D-9AD4-2612E3C1849D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77D3A-BFB9-6543-9353-D7A75ACAC7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BF65D-F1A8-2848-AD2F-79282A949EF2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D3097-78BD-1D40-9484-DF381FD47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ED578-5457-DB43-A1F2-51CFB0DC3221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20766-37A0-8B41-8540-2C3921445A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358B1-D14C-0747-9002-D82A2A05EDBC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C751C-5578-664F-B428-470BEEA983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A81CB-4E24-BC4C-8DED-C965563BA065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E7F14-404E-734A-8518-0C65AA044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1EE33-FFB8-D541-A3A9-EEC9D192BF63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1A7FB-0820-FD48-9CE6-220CECFD2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EF51F56-7D18-8146-B905-7EB7CC0E0E8D}" type="datetime1">
              <a:rPr lang="en-US"/>
              <a:pPr>
                <a:defRPr/>
              </a:pPr>
              <a:t>3/9/11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46C6D50F-238B-6A4C-80E2-2EC1665278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•"/>
        <a:defRPr sz="3200" kern="12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–"/>
        <a:defRPr sz="28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•"/>
        <a:defRPr sz="24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–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»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3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hpc.noaa.gov" TargetMode="External"/><Relationship Id="rId3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7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pc.noaa.gov" TargetMode="External"/><Relationship Id="rId3" Type="http://schemas.openxmlformats.org/officeDocument/2006/relationships/image" Target="../media/image23.png"/><Relationship Id="rId6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3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3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brfc.noaa.gov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hyperlink" Target="mailto:kevin.werner@noaa" TargetMode="External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700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  <a:t>NWS</a:t>
            </a:r>
            <a:b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</a:br>
            <a: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  <a:t>March 2011</a:t>
            </a:r>
            <a:b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</a:br>
            <a: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  <a:t>CUWCD Briefing</a:t>
            </a:r>
          </a:p>
        </p:txBody>
      </p:sp>
      <p:sp>
        <p:nvSpPr>
          <p:cNvPr id="1433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898989"/>
                </a:solidFill>
                <a:ea typeface="ＭＳ Ｐゴシック" pitchFamily="-105" charset="-128"/>
                <a:cs typeface="ＭＳ Ｐゴシック" pitchFamily="-105" charset="-128"/>
              </a:rPr>
              <a:t>2pm, March 9, 2011</a:t>
            </a:r>
          </a:p>
          <a:p>
            <a:pPr eaLnBrk="1" hangingPunct="1"/>
            <a:endParaRPr lang="en-US" dirty="0" smtClean="0">
              <a:solidFill>
                <a:srgbClr val="898989"/>
              </a:solidFill>
              <a:ea typeface="ＭＳ Ｐゴシック" pitchFamily="-105" charset="-128"/>
              <a:cs typeface="ＭＳ Ｐゴシック" pitchFamily="-105" charset="-128"/>
            </a:endParaRPr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" y="6432550"/>
            <a:ext cx="8686800" cy="369888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Calibri" pitchFamily="-105" charset="0"/>
              </a:rPr>
              <a:t>These slides: www.cbrfc.noaa.gov/present/present.php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3528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Outline</a:t>
            </a:r>
          </a:p>
        </p:txBody>
      </p:sp>
      <p:sp>
        <p:nvSpPr>
          <p:cNvPr id="1536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352800" cy="4525963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February Weather Review</a:t>
            </a:r>
          </a:p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Snow States</a:t>
            </a:r>
          </a:p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Water Supply Forecasts</a:t>
            </a:r>
          </a:p>
        </p:txBody>
      </p:sp>
      <p:sp>
        <p:nvSpPr>
          <p:cNvPr id="15365" name="TextBox 5"/>
          <p:cNvSpPr txBox="1">
            <a:spLocks noChangeArrowheads="1"/>
          </p:cNvSpPr>
          <p:nvPr/>
        </p:nvSpPr>
        <p:spPr bwMode="auto">
          <a:xfrm>
            <a:off x="152400" y="6432550"/>
            <a:ext cx="8686800" cy="369888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Calibri" pitchFamily="-105" charset="0"/>
              </a:rPr>
              <a:t>Web Reference: www.cbrfc.noaa.gov/wsup/pub2/map/html/cbrfc</a:t>
            </a:r>
            <a:r>
              <a:rPr lang="en-US" dirty="0" smtClean="0">
                <a:latin typeface="Calibri" pitchFamily="-105" charset="0"/>
              </a:rPr>
              <a:t>.1.2011.</a:t>
            </a:r>
            <a:r>
              <a:rPr lang="en-US" dirty="0">
                <a:latin typeface="Calibri" pitchFamily="-105" charset="0"/>
              </a:rPr>
              <a:t>html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11" y="0"/>
            <a:ext cx="4832689" cy="61420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600" y="25401"/>
            <a:ext cx="3044508" cy="35298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600" y="3276600"/>
            <a:ext cx="2895600" cy="3357217"/>
          </a:xfrm>
          <a:prstGeom prst="rect">
            <a:avLst/>
          </a:prstGeom>
        </p:spPr>
      </p:pic>
      <p:sp>
        <p:nvSpPr>
          <p:cNvPr id="16386" name="TextBox 5"/>
          <p:cNvSpPr txBox="1">
            <a:spLocks noChangeArrowheads="1"/>
          </p:cNvSpPr>
          <p:nvPr/>
        </p:nvSpPr>
        <p:spPr bwMode="auto">
          <a:xfrm>
            <a:off x="3022600" y="6432550"/>
            <a:ext cx="58166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Calibri" pitchFamily="-105" charset="0"/>
              </a:rPr>
              <a:t>Web Reference: http://</a:t>
            </a:r>
            <a:r>
              <a:rPr lang="en-US" sz="1400" dirty="0" err="1">
                <a:latin typeface="Calibri" pitchFamily="-105" charset="0"/>
              </a:rPr>
              <a:t>www.cbrfc.noaa.</a:t>
            </a:r>
            <a:r>
              <a:rPr lang="en-US" sz="1400" dirty="0" err="1" smtClean="0">
                <a:latin typeface="Calibri" pitchFamily="-105" charset="0"/>
              </a:rPr>
              <a:t>gov</a:t>
            </a:r>
            <a:endParaRPr lang="en-US" sz="1400" dirty="0">
              <a:latin typeface="Calibri" pitchFamily="-105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401"/>
            <a:ext cx="3022600" cy="35044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399" y="25401"/>
            <a:ext cx="3022601" cy="350446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276600"/>
            <a:ext cx="3022600" cy="35044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3054350"/>
            <a:ext cx="2913698" cy="3378200"/>
          </a:xfrm>
          <a:prstGeom prst="rect">
            <a:avLst/>
          </a:prstGeom>
          <a:ln w="50800">
            <a:solidFill>
              <a:srgbClr val="0000FF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1" y="3054350"/>
            <a:ext cx="2913698" cy="337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609600"/>
            <a:ext cx="7893050" cy="4547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Box 6"/>
          <p:cNvSpPr txBox="1">
            <a:spLocks noChangeArrowheads="1"/>
          </p:cNvSpPr>
          <p:nvPr/>
        </p:nvSpPr>
        <p:spPr bwMode="auto">
          <a:xfrm>
            <a:off x="152400" y="65500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http://www.cbrfc.noaa.gov/gmap/gmapm.php?scon=checked</a:t>
            </a:r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0" y="0"/>
            <a:ext cx="23368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5400" dirty="0"/>
              <a:t>Snow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r="32558"/>
          <a:stretch>
            <a:fillRect/>
          </a:stretch>
        </p:blipFill>
        <p:spPr>
          <a:xfrm>
            <a:off x="-75085" y="771525"/>
            <a:ext cx="3123085" cy="44277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400" y="5135841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February 7 (above)</a:t>
            </a:r>
          </a:p>
          <a:p>
            <a:endParaRPr lang="en-US" dirty="0" smtClean="0"/>
          </a:p>
          <a:p>
            <a:r>
              <a:rPr lang="en-US" dirty="0" smtClean="0"/>
              <a:t>March 7 (right)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-1"/>
            <a:ext cx="5334001" cy="55975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Box 6"/>
          <p:cNvSpPr txBox="1">
            <a:spLocks noChangeArrowheads="1"/>
          </p:cNvSpPr>
          <p:nvPr/>
        </p:nvSpPr>
        <p:spPr bwMode="auto">
          <a:xfrm>
            <a:off x="152400" y="65500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http://www.cbrfc.noaa.gov/gmap/gmapm.php?scon=checked</a:t>
            </a:r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0" y="0"/>
            <a:ext cx="23368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5400" dirty="0"/>
              <a:t>Snow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r="26316"/>
          <a:stretch>
            <a:fillRect/>
          </a:stretch>
        </p:blipFill>
        <p:spPr>
          <a:xfrm>
            <a:off x="0" y="923925"/>
            <a:ext cx="2133600" cy="31220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1" y="0"/>
            <a:ext cx="6553200" cy="62659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191000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January 6 (above)</a:t>
            </a:r>
          </a:p>
          <a:p>
            <a:endParaRPr lang="en-US" dirty="0" smtClean="0"/>
          </a:p>
          <a:p>
            <a:r>
              <a:rPr lang="en-US" dirty="0" smtClean="0"/>
              <a:t>February 7 (right)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Box 6"/>
          <p:cNvSpPr txBox="1">
            <a:spLocks noChangeArrowheads="1"/>
          </p:cNvSpPr>
          <p:nvPr/>
        </p:nvSpPr>
        <p:spPr bwMode="auto">
          <a:xfrm>
            <a:off x="152400" y="65500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http://www.cbrfc.noaa.gov/gmap/gmapm.php?scon=checked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109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 r="19167"/>
          <a:stretch>
            <a:fillRect/>
          </a:stretch>
        </p:blipFill>
        <p:spPr>
          <a:xfrm>
            <a:off x="-381000" y="990600"/>
            <a:ext cx="3886200" cy="3160421"/>
          </a:xfrm>
          <a:prstGeom prst="rect">
            <a:avLst/>
          </a:prstGeom>
        </p:spPr>
      </p:pic>
      <p:sp>
        <p:nvSpPr>
          <p:cNvPr id="18435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843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Snow: Trial Lake</a:t>
            </a:r>
          </a:p>
        </p:txBody>
      </p:sp>
      <p:sp>
        <p:nvSpPr>
          <p:cNvPr id="8" name="Oval 7"/>
          <p:cNvSpPr/>
          <p:nvPr/>
        </p:nvSpPr>
        <p:spPr>
          <a:xfrm>
            <a:off x="1333500" y="2362200"/>
            <a:ext cx="266700" cy="3429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600200" y="2533650"/>
            <a:ext cx="1981200" cy="17145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1905000"/>
            <a:ext cx="5410200" cy="360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 r="28333"/>
          <a:stretch>
            <a:fillRect/>
          </a:stretch>
        </p:blipFill>
        <p:spPr>
          <a:xfrm>
            <a:off x="0" y="1295400"/>
            <a:ext cx="3119342" cy="3276600"/>
          </a:xfrm>
          <a:prstGeom prst="rect">
            <a:avLst/>
          </a:prstGeom>
        </p:spPr>
      </p:pic>
      <p:sp>
        <p:nvSpPr>
          <p:cNvPr id="18435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843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Snow: Trial Lake</a:t>
            </a:r>
          </a:p>
        </p:txBody>
      </p:sp>
      <p:sp>
        <p:nvSpPr>
          <p:cNvPr id="8" name="Oval 7"/>
          <p:cNvSpPr/>
          <p:nvPr/>
        </p:nvSpPr>
        <p:spPr>
          <a:xfrm>
            <a:off x="1333500" y="2362200"/>
            <a:ext cx="266700" cy="3429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600200" y="2533650"/>
            <a:ext cx="1981200" cy="17145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295400"/>
            <a:ext cx="54864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 r="19167"/>
          <a:stretch>
            <a:fillRect/>
          </a:stretch>
        </p:blipFill>
        <p:spPr>
          <a:xfrm>
            <a:off x="-381000" y="990600"/>
            <a:ext cx="3886200" cy="3160421"/>
          </a:xfrm>
          <a:prstGeom prst="rect">
            <a:avLst/>
          </a:prstGeom>
        </p:spPr>
      </p:pic>
      <p:sp>
        <p:nvSpPr>
          <p:cNvPr id="18435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843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Snow: Duchesne River Group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286000"/>
            <a:ext cx="1752600" cy="11430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 flipV="1">
            <a:off x="2895600" y="2705100"/>
            <a:ext cx="685800" cy="15240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1447800"/>
            <a:ext cx="5410200" cy="360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19167"/>
          <a:stretch>
            <a:fillRect/>
          </a:stretch>
        </p:blipFill>
        <p:spPr>
          <a:xfrm>
            <a:off x="-381000" y="990600"/>
            <a:ext cx="3886200" cy="3160421"/>
          </a:xfrm>
          <a:prstGeom prst="rect">
            <a:avLst/>
          </a:prstGeom>
        </p:spPr>
      </p:pic>
      <p:sp>
        <p:nvSpPr>
          <p:cNvPr id="18435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843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Snow: Provo River Group</a:t>
            </a:r>
          </a:p>
        </p:txBody>
      </p:sp>
      <p:sp>
        <p:nvSpPr>
          <p:cNvPr id="8" name="Oval 7"/>
          <p:cNvSpPr/>
          <p:nvPr/>
        </p:nvSpPr>
        <p:spPr>
          <a:xfrm>
            <a:off x="762000" y="2209800"/>
            <a:ext cx="990600" cy="9906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752600" y="2705100"/>
            <a:ext cx="1828800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232" y="1208088"/>
            <a:ext cx="5388768" cy="3592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Last 7 days…</a:t>
            </a:r>
          </a:p>
        </p:txBody>
      </p:sp>
      <p:sp>
        <p:nvSpPr>
          <p:cNvPr id="24579" name="TextBox 4"/>
          <p:cNvSpPr txBox="1">
            <a:spLocks noChangeArrowheads="1"/>
          </p:cNvSpPr>
          <p:nvPr/>
        </p:nvSpPr>
        <p:spPr bwMode="auto">
          <a:xfrm>
            <a:off x="152400" y="6119813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http://water.weather.gov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813" y="1992313"/>
            <a:ext cx="5312187" cy="4127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4699000" cy="26930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Forecast Precipitation</a:t>
            </a:r>
          </a:p>
        </p:txBody>
      </p:sp>
      <p:sp>
        <p:nvSpPr>
          <p:cNvPr id="25603" name="TextBox 4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</a:t>
            </a:r>
            <a:r>
              <a:rPr lang="en-US" sz="1400">
                <a:latin typeface="Calibri" pitchFamily="-105" charset="0"/>
                <a:hlinkClick r:id="rId2"/>
              </a:rPr>
              <a:t>www.hpc.noaa.gov</a:t>
            </a:r>
            <a:r>
              <a:rPr lang="en-US" sz="1400">
                <a:latin typeface="Calibri" pitchFamily="-105" charset="0"/>
              </a:rPr>
              <a:t> </a:t>
            </a:r>
          </a:p>
        </p:txBody>
      </p:sp>
      <p:sp>
        <p:nvSpPr>
          <p:cNvPr id="25604" name="TextBox 7"/>
          <p:cNvSpPr txBox="1">
            <a:spLocks noChangeArrowheads="1"/>
          </p:cNvSpPr>
          <p:nvPr/>
        </p:nvSpPr>
        <p:spPr bwMode="auto">
          <a:xfrm>
            <a:off x="152400" y="4095801"/>
            <a:ext cx="37338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 typeface="Arial" pitchFamily="-105" charset="0"/>
              <a:buChar char="•"/>
            </a:pPr>
            <a:r>
              <a:rPr lang="en-US" dirty="0" smtClean="0"/>
              <a:t>Active weather period continues!!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Storm #1 passing through today/tomorrow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Storm #2 Friday/Saturday (mostly north)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Storm #3 Sunday/Monday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Total accumulations around 2” of water in northern basins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0"/>
            <a:ext cx="4593138" cy="34417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5429987" cy="47555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4953000" cy="1143000"/>
          </a:xfrm>
        </p:spPr>
        <p:txBody>
          <a:bodyPr/>
          <a:lstStyle/>
          <a:p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La Nina Update</a:t>
            </a:r>
          </a:p>
        </p:txBody>
      </p:sp>
      <p:sp>
        <p:nvSpPr>
          <p:cNvPr id="26630" name="TextBox 5"/>
          <p:cNvSpPr txBox="1">
            <a:spLocks noChangeArrowheads="1"/>
          </p:cNvSpPr>
          <p:nvPr/>
        </p:nvSpPr>
        <p:spPr bwMode="auto">
          <a:xfrm>
            <a:off x="152400" y="6427788"/>
            <a:ext cx="8686800" cy="306387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</a:t>
            </a:r>
            <a:r>
              <a:rPr lang="en-US" sz="1400">
                <a:latin typeface="Calibri" pitchFamily="-105" charset="0"/>
                <a:hlinkClick r:id="rId2"/>
              </a:rPr>
              <a:t>http://www.cpc.noaa.gov</a:t>
            </a:r>
            <a:r>
              <a:rPr lang="en-US" sz="1400">
                <a:latin typeface="Calibri" pitchFamily="-105" charset="0"/>
              </a:rPr>
              <a:t> and iri.columbia.edu/climate/ENSO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990600"/>
            <a:ext cx="4343400" cy="5113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418" y="3276600"/>
            <a:ext cx="3534566" cy="2971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90600"/>
            <a:ext cx="4495800" cy="52931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297" y="50800"/>
            <a:ext cx="2840903" cy="3225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6418" y="3276600"/>
            <a:ext cx="3606800" cy="30325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7696200" cy="17621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200" b="1" dirty="0">
                <a:solidFill>
                  <a:srgbClr val="000000"/>
                </a:solidFill>
              </a:rPr>
              <a:t>NOAA Operational Definitions for</a:t>
            </a:r>
            <a:br>
              <a:rPr lang="en-US" sz="3200" b="1" dirty="0">
                <a:solidFill>
                  <a:srgbClr val="000000"/>
                </a:solidFill>
              </a:rPr>
            </a:br>
            <a:r>
              <a:rPr lang="en-US" sz="3200" b="1" dirty="0">
                <a:solidFill>
                  <a:srgbClr val="000000"/>
                </a:solidFill>
              </a:rPr>
              <a:t> </a:t>
            </a:r>
            <a:r>
              <a:rPr lang="en-US" sz="3200" b="1" dirty="0">
                <a:solidFill>
                  <a:srgbClr val="000000"/>
                </a:solidFill>
                <a:ea typeface="Times New Roman" pitchFamily="-110" charset="0"/>
                <a:cs typeface="Times New Roman" pitchFamily="-110" charset="0"/>
              </a:rPr>
              <a:t>El Niño and La Niña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0" y="1295400"/>
            <a:ext cx="9144000" cy="5755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 sz="2400" b="1" u="sng" dirty="0">
              <a:ea typeface="Times New Roman" pitchFamily="-110" charset="0"/>
              <a:cs typeface="Times New Roman" pitchFamily="-110" charset="0"/>
            </a:endParaRPr>
          </a:p>
          <a:p>
            <a:r>
              <a:rPr lang="en-US" sz="2200" u="sng" dirty="0">
                <a:ea typeface="Times New Roman" pitchFamily="-110" charset="0"/>
                <a:cs typeface="Times New Roman" pitchFamily="-110" charset="0"/>
              </a:rPr>
              <a:t>El Niño:</a:t>
            </a:r>
            <a:r>
              <a:rPr lang="en-US" sz="2200" dirty="0">
                <a:ea typeface="Times New Roman" pitchFamily="-110" charset="0"/>
                <a:cs typeface="Times New Roman" pitchFamily="-110" charset="0"/>
              </a:rPr>
              <a:t> characterized by a </a:t>
            </a:r>
            <a:r>
              <a:rPr lang="en-US" sz="2200" i="1" dirty="0">
                <a:solidFill>
                  <a:srgbClr val="FF0000"/>
                </a:solidFill>
                <a:ea typeface="Times New Roman" pitchFamily="-110" charset="0"/>
                <a:cs typeface="Times New Roman" pitchFamily="-110" charset="0"/>
              </a:rPr>
              <a:t>positive</a:t>
            </a:r>
            <a:r>
              <a:rPr lang="en-US" sz="2200" dirty="0">
                <a:ea typeface="Times New Roman" pitchFamily="-110" charset="0"/>
                <a:cs typeface="Times New Roman" pitchFamily="-110" charset="0"/>
              </a:rPr>
              <a:t>  ONI greater than or equal to +0.5°C.</a:t>
            </a:r>
          </a:p>
          <a:p>
            <a:r>
              <a:rPr lang="en-US" sz="2200" dirty="0">
                <a:ea typeface="Times New Roman" pitchFamily="-110" charset="0"/>
                <a:cs typeface="Times New Roman" pitchFamily="-110" charset="0"/>
              </a:rPr>
              <a:t>Weak:  +0.5 to +0.99, Moderate: +1 to +1.49, Strong: &gt; +1.5</a:t>
            </a:r>
          </a:p>
          <a:p>
            <a:endParaRPr lang="en-US" sz="2200" dirty="0">
              <a:ea typeface="Times New Roman" pitchFamily="-110" charset="0"/>
              <a:cs typeface="Times New Roman" pitchFamily="-110" charset="0"/>
            </a:endParaRPr>
          </a:p>
          <a:p>
            <a:r>
              <a:rPr lang="en-US" sz="2200" u="sng" dirty="0">
                <a:ea typeface="Times New Roman" pitchFamily="-110" charset="0"/>
                <a:cs typeface="Times New Roman" pitchFamily="-110" charset="0"/>
              </a:rPr>
              <a:t>La Niña:</a:t>
            </a:r>
            <a:r>
              <a:rPr lang="en-US" sz="2200" dirty="0">
                <a:ea typeface="Times New Roman" pitchFamily="-110" charset="0"/>
                <a:cs typeface="Times New Roman" pitchFamily="-110" charset="0"/>
              </a:rPr>
              <a:t> characterized by a </a:t>
            </a:r>
            <a:r>
              <a:rPr lang="en-US" sz="2200" i="1" dirty="0">
                <a:solidFill>
                  <a:srgbClr val="0000FF"/>
                </a:solidFill>
                <a:ea typeface="Times New Roman" pitchFamily="-110" charset="0"/>
                <a:cs typeface="Times New Roman" pitchFamily="-110" charset="0"/>
              </a:rPr>
              <a:t>negative</a:t>
            </a:r>
            <a:r>
              <a:rPr lang="en-US" sz="2200" dirty="0">
                <a:ea typeface="Times New Roman" pitchFamily="-110" charset="0"/>
                <a:cs typeface="Times New Roman" pitchFamily="-110" charset="0"/>
              </a:rPr>
              <a:t> ONI less than or equal to </a:t>
            </a:r>
            <a:r>
              <a:rPr lang="en-US" sz="2200" dirty="0">
                <a:latin typeface="Courier" pitchFamily="-110" charset="0"/>
                <a:ea typeface="Times New Roman" pitchFamily="-110" charset="0"/>
                <a:cs typeface="Times New Roman" pitchFamily="-110" charset="0"/>
                <a:sym typeface="WP MathA" pitchFamily="2" charset="2"/>
              </a:rPr>
              <a:t>-</a:t>
            </a:r>
            <a:r>
              <a:rPr lang="en-US" sz="2200" dirty="0">
                <a:ea typeface="Times New Roman" pitchFamily="-110" charset="0"/>
                <a:cs typeface="Times New Roman" pitchFamily="-110" charset="0"/>
              </a:rPr>
              <a:t>0.5°C.</a:t>
            </a:r>
          </a:p>
          <a:p>
            <a:r>
              <a:rPr lang="en-US" sz="2200" dirty="0">
                <a:ea typeface="Times New Roman" pitchFamily="-110" charset="0"/>
                <a:cs typeface="Times New Roman" pitchFamily="-110" charset="0"/>
              </a:rPr>
              <a:t>Weak:  -0.5 to -0.99, Moderate: -1 to -1.49, Strong: &lt; -1.5</a:t>
            </a:r>
          </a:p>
          <a:p>
            <a:endParaRPr lang="en-US" sz="2200" dirty="0">
              <a:ea typeface="Times New Roman" pitchFamily="-110" charset="0"/>
              <a:cs typeface="Times New Roman" pitchFamily="-110" charset="0"/>
            </a:endParaRPr>
          </a:p>
          <a:p>
            <a:r>
              <a:rPr lang="en-US" sz="2200" dirty="0">
                <a:ea typeface="Times New Roman" pitchFamily="-110" charset="0"/>
                <a:cs typeface="Times New Roman" pitchFamily="-110" charset="0"/>
              </a:rPr>
              <a:t>To be classified as a full-fledged El </a:t>
            </a:r>
            <a:r>
              <a:rPr lang="en-US" sz="2200" dirty="0"/>
              <a:t>Ni</a:t>
            </a:r>
            <a:r>
              <a:rPr lang="en-US" sz="2200" dirty="0">
                <a:ea typeface="Times New Roman" pitchFamily="-110" charset="0"/>
                <a:cs typeface="Times New Roman" pitchFamily="-110" charset="0"/>
              </a:rPr>
              <a:t>ño or La </a:t>
            </a:r>
            <a:r>
              <a:rPr lang="en-US" sz="2200" dirty="0"/>
              <a:t>Ni</a:t>
            </a:r>
            <a:r>
              <a:rPr lang="en-US" sz="2200" dirty="0">
                <a:ea typeface="Times New Roman" pitchFamily="-110" charset="0"/>
                <a:cs typeface="Times New Roman" pitchFamily="-110" charset="0"/>
              </a:rPr>
              <a:t>ña </a:t>
            </a:r>
            <a:r>
              <a:rPr lang="en-US" sz="2200" u="sng" dirty="0">
                <a:ea typeface="Times New Roman" pitchFamily="-110" charset="0"/>
                <a:cs typeface="Times New Roman" pitchFamily="-110" charset="0"/>
              </a:rPr>
              <a:t>episode,</a:t>
            </a:r>
            <a:r>
              <a:rPr lang="en-US" sz="2200" dirty="0">
                <a:ea typeface="Times New Roman" pitchFamily="-110" charset="0"/>
                <a:cs typeface="Times New Roman" pitchFamily="-110" charset="0"/>
              </a:rPr>
              <a:t> these thresholds must be exceeded for a period of at least 5 consecutive overlapping 3-month seasons.  </a:t>
            </a:r>
          </a:p>
          <a:p>
            <a:endParaRPr lang="en-US" sz="2400" dirty="0">
              <a:ea typeface="Times New Roman" pitchFamily="-110" charset="0"/>
              <a:cs typeface="Times New Roman" pitchFamily="-110" charset="0"/>
            </a:endParaRPr>
          </a:p>
          <a:p>
            <a:r>
              <a:rPr lang="en-US" sz="2000" i="1" dirty="0">
                <a:ea typeface="Times New Roman" pitchFamily="-110" charset="0"/>
                <a:cs typeface="Times New Roman" pitchFamily="-110" charset="0"/>
              </a:rPr>
              <a:t>CPC considers </a:t>
            </a:r>
            <a:r>
              <a:rPr lang="en-US" sz="2000" i="1" dirty="0"/>
              <a:t>El Niño or La Niña </a:t>
            </a:r>
            <a:r>
              <a:rPr lang="en-US" sz="2000" i="1" u="sng" dirty="0"/>
              <a:t>conditions</a:t>
            </a:r>
            <a:r>
              <a:rPr lang="en-US" sz="2000" i="1" dirty="0"/>
              <a:t> to occur when the monthly Niño3.4 OISST departures meet or exceed +/- 0.5°C along with consistent atmospheric features.  These anomalies must also be forecasted to persist for 3 consecutive months.  </a:t>
            </a:r>
            <a:endParaRPr lang="en-US" sz="2000" i="1" dirty="0">
              <a:ea typeface="Times New Roman" pitchFamily="-110" charset="0"/>
              <a:cs typeface="Times New Roman" pitchFamily="-110" charset="0"/>
            </a:endParaRPr>
          </a:p>
          <a:p>
            <a:endParaRPr lang="en-US" sz="2000" i="1" dirty="0">
              <a:solidFill>
                <a:schemeClr val="bg1"/>
              </a:solidFill>
              <a:ea typeface="Times New Roman" pitchFamily="-110" charset="0"/>
              <a:cs typeface="Times New Roman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942" y="82550"/>
            <a:ext cx="4936258" cy="6388098"/>
          </a:xfrm>
          <a:prstGeom prst="rect">
            <a:avLst/>
          </a:prstGeom>
        </p:spPr>
      </p:pic>
      <p:sp>
        <p:nvSpPr>
          <p:cNvPr id="27650" name="TextBox 5"/>
          <p:cNvSpPr txBox="1">
            <a:spLocks noChangeArrowheads="1"/>
          </p:cNvSpPr>
          <p:nvPr/>
        </p:nvSpPr>
        <p:spPr bwMode="auto">
          <a:xfrm>
            <a:off x="152400" y="6427788"/>
            <a:ext cx="8686800" cy="306387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http://www.cbrfc.noaa.gov/climate/climoForecasts.cgi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98"/>
            <a:ext cx="3513091" cy="32639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76599"/>
            <a:ext cx="3278997" cy="30464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Box 4"/>
          <p:cNvSpPr txBox="1">
            <a:spLocks noChangeArrowheads="1"/>
          </p:cNvSpPr>
          <p:nvPr/>
        </p:nvSpPr>
        <p:spPr bwMode="auto">
          <a:xfrm>
            <a:off x="222250" y="65500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sp>
        <p:nvSpPr>
          <p:cNvPr id="29700" name="TextBox 6"/>
          <p:cNvSpPr txBox="1">
            <a:spLocks noChangeArrowheads="1"/>
          </p:cNvSpPr>
          <p:nvPr/>
        </p:nvSpPr>
        <p:spPr bwMode="auto">
          <a:xfrm>
            <a:off x="0" y="381000"/>
            <a:ext cx="2362200" cy="6463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 smtClean="0"/>
              <a:t>March 1, 2011</a:t>
            </a:r>
          </a:p>
          <a:p>
            <a:r>
              <a:rPr lang="en-US" dirty="0"/>
              <a:t>Water Supply Forecasts</a:t>
            </a:r>
          </a:p>
          <a:p>
            <a:endParaRPr lang="en-US" dirty="0"/>
          </a:p>
          <a:p>
            <a:r>
              <a:rPr lang="en-US" dirty="0"/>
              <a:t>Highlights:</a:t>
            </a:r>
            <a:endParaRPr lang="en-US" dirty="0" smtClean="0"/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 Wet winter continues for much of the basin with many forecasts higher than any year since 1997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 Some northern basins predicting flows near the top 10%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 Forecasts slightly higher across northern basins since Feb 1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 San Juan and lower basin somewhat lower since Feb 1</a:t>
            </a:r>
          </a:p>
          <a:p>
            <a:pPr>
              <a:buFont typeface="Arial" pitchFamily="-105" charset="0"/>
              <a:buChar char="•"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0"/>
            <a:ext cx="6553200" cy="64700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0"/>
            <a:ext cx="6553200" cy="65073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55600"/>
            <a:ext cx="9310828" cy="599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32891"/>
          <a:stretch>
            <a:fillRect/>
          </a:stretch>
        </p:blipFill>
        <p:spPr>
          <a:xfrm>
            <a:off x="-1" y="461009"/>
            <a:ext cx="2758989" cy="2646835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36868" name="Group 9"/>
          <p:cNvGrpSpPr>
            <a:grpSpLocks/>
          </p:cNvGrpSpPr>
          <p:nvPr/>
        </p:nvGrpSpPr>
        <p:grpSpPr bwMode="auto">
          <a:xfrm>
            <a:off x="1143000" y="1464310"/>
            <a:ext cx="2057400" cy="457200"/>
            <a:chOff x="1905000" y="1219200"/>
            <a:chExt cx="20574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133600"/>
            <a:ext cx="5910514" cy="41592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514" y="141000"/>
            <a:ext cx="5740400" cy="1551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32891"/>
          <a:stretch>
            <a:fillRect/>
          </a:stretch>
        </p:blipFill>
        <p:spPr>
          <a:xfrm>
            <a:off x="-1" y="461009"/>
            <a:ext cx="2758989" cy="2646835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143000" y="1464310"/>
            <a:ext cx="2057400" cy="457200"/>
            <a:chOff x="1905000" y="1219200"/>
            <a:chExt cx="20574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76281"/>
            <a:ext cx="5854700" cy="15452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057400"/>
            <a:ext cx="5854700" cy="4119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32891"/>
          <a:stretch>
            <a:fillRect/>
          </a:stretch>
        </p:blipFill>
        <p:spPr>
          <a:xfrm>
            <a:off x="-1" y="461009"/>
            <a:ext cx="2758989" cy="2646835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143000" y="1464310"/>
            <a:ext cx="2057400" cy="457200"/>
            <a:chOff x="1905000" y="1219200"/>
            <a:chExt cx="20574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50" y="244187"/>
            <a:ext cx="5391150" cy="144872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220" y="1828800"/>
            <a:ext cx="5630779" cy="396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32891"/>
          <a:stretch>
            <a:fillRect/>
          </a:stretch>
        </p:blipFill>
        <p:spPr>
          <a:xfrm>
            <a:off x="-1" y="461009"/>
            <a:ext cx="2758989" cy="2646835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143000" y="1464310"/>
            <a:ext cx="2057400" cy="457200"/>
            <a:chOff x="1905000" y="1219200"/>
            <a:chExt cx="20574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464" y="304800"/>
            <a:ext cx="5759450" cy="15419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629" y="2133600"/>
            <a:ext cx="5739063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32891"/>
          <a:stretch>
            <a:fillRect/>
          </a:stretch>
        </p:blipFill>
        <p:spPr>
          <a:xfrm>
            <a:off x="-1" y="461009"/>
            <a:ext cx="2758989" cy="2646835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625604" y="1506645"/>
            <a:ext cx="2057400" cy="457200"/>
            <a:chOff x="1905000" y="1219200"/>
            <a:chExt cx="20574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612569"/>
            <a:ext cx="5605714" cy="14747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8685" y="2209800"/>
            <a:ext cx="5802229" cy="4083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r="32891"/>
          <a:stretch>
            <a:fillRect/>
          </a:stretch>
        </p:blipFill>
        <p:spPr>
          <a:xfrm>
            <a:off x="-1" y="461009"/>
            <a:ext cx="2758989" cy="2646835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171700" y="1921510"/>
            <a:ext cx="2057400" cy="457200"/>
            <a:chOff x="1905000" y="1219200"/>
            <a:chExt cx="20574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864" y="53876"/>
            <a:ext cx="5861050" cy="163903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864" y="1921510"/>
            <a:ext cx="5861050" cy="41244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27990"/>
          <a:stretch>
            <a:fillRect/>
          </a:stretch>
        </p:blipFill>
        <p:spPr>
          <a:xfrm>
            <a:off x="0" y="639763"/>
            <a:ext cx="2947987" cy="2468082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219200" y="1752600"/>
            <a:ext cx="2057400" cy="457200"/>
            <a:chOff x="1714500" y="1219200"/>
            <a:chExt cx="2057400" cy="457200"/>
          </a:xfrm>
        </p:grpSpPr>
        <p:sp>
          <p:nvSpPr>
            <p:cNvPr id="6" name="Oval 5"/>
            <p:cNvSpPr/>
            <p:nvPr/>
          </p:nvSpPr>
          <p:spPr>
            <a:xfrm>
              <a:off x="17145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0955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050" y="216058"/>
            <a:ext cx="5568950" cy="15365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051" y="1981199"/>
            <a:ext cx="5568950" cy="39188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27990"/>
          <a:stretch>
            <a:fillRect/>
          </a:stretch>
        </p:blipFill>
        <p:spPr>
          <a:xfrm>
            <a:off x="0" y="639763"/>
            <a:ext cx="2947987" cy="2468082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609558" y="1905000"/>
            <a:ext cx="2057400" cy="457200"/>
            <a:chOff x="1905000" y="1219200"/>
            <a:chExt cx="2057400" cy="457200"/>
          </a:xfrm>
        </p:grpSpPr>
        <p:sp>
          <p:nvSpPr>
            <p:cNvPr id="6" name="Oval 5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7" name="Straight Arrow Connector 6"/>
            <p:cNvCxnSpPr>
              <a:stCxn id="6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0" y="356192"/>
            <a:ext cx="5651500" cy="15488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908" y="1981200"/>
            <a:ext cx="5369092" cy="3778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27990"/>
          <a:stretch>
            <a:fillRect/>
          </a:stretch>
        </p:blipFill>
        <p:spPr>
          <a:xfrm>
            <a:off x="0" y="639763"/>
            <a:ext cx="2947987" cy="2468082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624" y="2362200"/>
            <a:ext cx="5477376" cy="38544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624" y="410507"/>
            <a:ext cx="5416550" cy="14944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27990"/>
          <a:stretch>
            <a:fillRect/>
          </a:stretch>
        </p:blipFill>
        <p:spPr>
          <a:xfrm>
            <a:off x="0" y="639763"/>
            <a:ext cx="2947987" cy="2468082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908" y="228600"/>
            <a:ext cx="5153192" cy="146482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7442" y="2743200"/>
            <a:ext cx="5260808" cy="3702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27990"/>
          <a:stretch>
            <a:fillRect/>
          </a:stretch>
        </p:blipFill>
        <p:spPr>
          <a:xfrm>
            <a:off x="0" y="639763"/>
            <a:ext cx="2947987" cy="2468082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726" y="2133600"/>
            <a:ext cx="5152524" cy="36258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958" y="339340"/>
            <a:ext cx="5416550" cy="1565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27990"/>
          <a:stretch>
            <a:fillRect/>
          </a:stretch>
        </p:blipFill>
        <p:spPr>
          <a:xfrm>
            <a:off x="0" y="639763"/>
            <a:ext cx="2947987" cy="2468082"/>
          </a:xfrm>
          <a:prstGeom prst="rect">
            <a:avLst/>
          </a:prstGeom>
        </p:spPr>
      </p:pic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" y="64738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www.cbrfc.noaa.gov/gmap/gmapm.php?wcon=checked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4200" y="639763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Other points:</a:t>
            </a:r>
          </a:p>
          <a:p>
            <a:r>
              <a:rPr lang="en-US" dirty="0" smtClean="0"/>
              <a:t>Sevier – Piute Dam – 130 </a:t>
            </a:r>
            <a:r>
              <a:rPr lang="en-US" dirty="0" err="1" smtClean="0"/>
              <a:t>kaf</a:t>
            </a:r>
            <a:r>
              <a:rPr lang="en-US" dirty="0" smtClean="0"/>
              <a:t>, 197% of average</a:t>
            </a:r>
          </a:p>
          <a:p>
            <a:r>
              <a:rPr lang="en-US" dirty="0" smtClean="0"/>
              <a:t>Manti Creek – Near </a:t>
            </a:r>
            <a:r>
              <a:rPr lang="en-US" dirty="0" err="1" smtClean="0"/>
              <a:t>Dugway</a:t>
            </a:r>
            <a:r>
              <a:rPr lang="en-US" dirty="0" smtClean="0"/>
              <a:t> Creek – 23 </a:t>
            </a:r>
            <a:r>
              <a:rPr lang="en-US" dirty="0" err="1" smtClean="0"/>
              <a:t>kaf</a:t>
            </a:r>
            <a:r>
              <a:rPr lang="en-US" dirty="0" smtClean="0"/>
              <a:t>, 126% of average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Peak Flow Forecast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856566" cy="4525963"/>
          </a:xfrm>
        </p:spPr>
        <p:txBody>
          <a:bodyPr/>
          <a:lstStyle/>
          <a:p>
            <a:r>
              <a:rPr lang="en-US" dirty="0" smtClean="0"/>
              <a:t>March 1 Peak flow forecasts highlights: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766" y="1417638"/>
            <a:ext cx="5830234" cy="472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r="20116"/>
          <a:stretch>
            <a:fillRect/>
          </a:stretch>
        </p:blipFill>
        <p:spPr>
          <a:xfrm>
            <a:off x="76200" y="1417638"/>
            <a:ext cx="3034510" cy="3078162"/>
          </a:xfrm>
          <a:prstGeom prst="rect">
            <a:avLst/>
          </a:prstGeom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939337" y="2286000"/>
            <a:ext cx="2590800" cy="457200"/>
            <a:chOff x="1905000" y="1219200"/>
            <a:chExt cx="2057400" cy="457200"/>
          </a:xfrm>
        </p:grpSpPr>
        <p:sp>
          <p:nvSpPr>
            <p:cNvPr id="9" name="Oval 8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10" name="Straight Arrow Connector 9"/>
            <p:cNvCxnSpPr>
              <a:stCxn id="9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137" y="3797300"/>
            <a:ext cx="5423363" cy="28411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04800"/>
            <a:ext cx="4851863" cy="3234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r="20116"/>
          <a:stretch>
            <a:fillRect/>
          </a:stretch>
        </p:blipFill>
        <p:spPr>
          <a:xfrm>
            <a:off x="76200" y="1417638"/>
            <a:ext cx="3034510" cy="307816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809999"/>
            <a:ext cx="5676900" cy="2923065"/>
          </a:xfrm>
          <a:prstGeom prst="rect">
            <a:avLst/>
          </a:prstGeom>
        </p:spPr>
      </p:pic>
      <p:grpSp>
        <p:nvGrpSpPr>
          <p:cNvPr id="8" name="Group 9"/>
          <p:cNvGrpSpPr>
            <a:grpSpLocks/>
          </p:cNvGrpSpPr>
          <p:nvPr/>
        </p:nvGrpSpPr>
        <p:grpSpPr bwMode="auto">
          <a:xfrm>
            <a:off x="939337" y="2286000"/>
            <a:ext cx="2590800" cy="457200"/>
            <a:chOff x="1905000" y="1219200"/>
            <a:chExt cx="2057400" cy="457200"/>
          </a:xfrm>
        </p:grpSpPr>
        <p:sp>
          <p:nvSpPr>
            <p:cNvPr id="11" name="Oval 10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13" name="Straight Arrow Connector 12"/>
            <p:cNvCxnSpPr>
              <a:stCxn id="11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00" y="0"/>
            <a:ext cx="54864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r="20116"/>
          <a:stretch>
            <a:fillRect/>
          </a:stretch>
        </p:blipFill>
        <p:spPr>
          <a:xfrm>
            <a:off x="76200" y="1417638"/>
            <a:ext cx="3034510" cy="307816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797300"/>
            <a:ext cx="5366657" cy="2762250"/>
          </a:xfrm>
          <a:prstGeom prst="rect">
            <a:avLst/>
          </a:prstGeom>
        </p:spPr>
      </p:pic>
      <p:grpSp>
        <p:nvGrpSpPr>
          <p:cNvPr id="8" name="Group 9"/>
          <p:cNvGrpSpPr>
            <a:grpSpLocks/>
          </p:cNvGrpSpPr>
          <p:nvPr/>
        </p:nvGrpSpPr>
        <p:grpSpPr bwMode="auto">
          <a:xfrm>
            <a:off x="939337" y="2286000"/>
            <a:ext cx="2590800" cy="457200"/>
            <a:chOff x="1905000" y="1219200"/>
            <a:chExt cx="2057400" cy="457200"/>
          </a:xfrm>
        </p:grpSpPr>
        <p:sp>
          <p:nvSpPr>
            <p:cNvPr id="11" name="Oval 10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13" name="Straight Arrow Connector 12"/>
            <p:cNvCxnSpPr>
              <a:stCxn id="11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0"/>
            <a:ext cx="5271290" cy="35141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r="20116"/>
          <a:stretch>
            <a:fillRect/>
          </a:stretch>
        </p:blipFill>
        <p:spPr>
          <a:xfrm>
            <a:off x="76200" y="1417638"/>
            <a:ext cx="3034510" cy="3078162"/>
          </a:xfrm>
          <a:prstGeom prst="rect">
            <a:avLst/>
          </a:prstGeom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371600" y="2362200"/>
            <a:ext cx="2590800" cy="457200"/>
            <a:chOff x="1905000" y="1219200"/>
            <a:chExt cx="2057400" cy="457200"/>
          </a:xfrm>
        </p:grpSpPr>
        <p:sp>
          <p:nvSpPr>
            <p:cNvPr id="9" name="Oval 8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10" name="Straight Arrow Connector 9"/>
            <p:cNvCxnSpPr>
              <a:stCxn id="9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711200"/>
            <a:ext cx="5181600" cy="345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r="20116"/>
          <a:stretch>
            <a:fillRect/>
          </a:stretch>
        </p:blipFill>
        <p:spPr>
          <a:xfrm>
            <a:off x="76200" y="1417638"/>
            <a:ext cx="3034510" cy="3078162"/>
          </a:xfrm>
          <a:prstGeom prst="rect">
            <a:avLst/>
          </a:prstGeom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510510" y="2286000"/>
            <a:ext cx="1994690" cy="457200"/>
            <a:chOff x="1905000" y="1219200"/>
            <a:chExt cx="2057400" cy="457200"/>
          </a:xfrm>
        </p:grpSpPr>
        <p:sp>
          <p:nvSpPr>
            <p:cNvPr id="9" name="Oval 8"/>
            <p:cNvSpPr/>
            <p:nvPr/>
          </p:nvSpPr>
          <p:spPr>
            <a:xfrm>
              <a:off x="1905000" y="1219200"/>
              <a:ext cx="381000" cy="45720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10" name="Straight Arrow Connector 9"/>
            <p:cNvCxnSpPr>
              <a:stCxn id="9" idx="6"/>
            </p:cNvCxnSpPr>
            <p:nvPr/>
          </p:nvCxnSpPr>
          <p:spPr>
            <a:xfrm>
              <a:off x="2286000" y="1447800"/>
              <a:ext cx="1676400" cy="22860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2133600"/>
            <a:ext cx="5334000" cy="355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Peak Flow Publication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200"/>
            <a:ext cx="7699648" cy="5219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-296863"/>
            <a:ext cx="8229600" cy="1143001"/>
          </a:xfrm>
        </p:spPr>
        <p:txBody>
          <a:bodyPr/>
          <a:lstStyle/>
          <a:p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CBRFC News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457200" y="846138"/>
            <a:ext cx="4648200" cy="1219200"/>
          </a:xfrm>
        </p:spPr>
        <p:txBody>
          <a:bodyPr/>
          <a:lstStyle/>
          <a:p>
            <a:r>
              <a:rPr lang="en-US" sz="2000" dirty="0" smtClean="0">
                <a:ea typeface="ＭＳ Ｐゴシック" pitchFamily="-105" charset="-128"/>
                <a:cs typeface="ＭＳ Ｐゴシック" pitchFamily="-105" charset="-128"/>
              </a:rPr>
              <a:t>Basin Focal Points (Available to discuss forecasts: 801.524.5130)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Upper Colorado: Brenda Alcorn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Green: Ashley Nielson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San Juan / Gunnison: Tracy Cox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Great Basin: Brent Bernard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Lower Colorado (below Lake Powell): Greg Smith</a:t>
            </a:r>
          </a:p>
          <a:p>
            <a:r>
              <a:rPr lang="en-US" sz="2000" dirty="0" smtClean="0">
                <a:ea typeface="ＭＳ Ｐゴシック" pitchFamily="-105" charset="-128"/>
                <a:cs typeface="ＭＳ Ｐゴシック" pitchFamily="-105" charset="-128"/>
              </a:rPr>
              <a:t>Here now: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Sign up for all webinars through May 2011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Weekly ESP model guidance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Email product updates via </a:t>
            </a:r>
            <a:r>
              <a:rPr lang="en-US" sz="1600" dirty="0" err="1" smtClean="0">
                <a:ea typeface="ＭＳ Ｐゴシック" pitchFamily="-105" charset="-128"/>
                <a:cs typeface="ＭＳ Ｐゴシック" pitchFamily="-105" charset="-128"/>
              </a:rPr>
              <a:t>govdelivery</a:t>
            </a:r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 (can add more products / </a:t>
            </a:r>
            <a:r>
              <a:rPr lang="en-US" sz="1600" dirty="0" err="1" smtClean="0">
                <a:ea typeface="ＭＳ Ｐゴシック" pitchFamily="-105" charset="-128"/>
                <a:cs typeface="ＭＳ Ｐゴシック" pitchFamily="-105" charset="-128"/>
              </a:rPr>
              <a:t>webpages</a:t>
            </a:r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 upon request)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Changes to CBRFC webpage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Blog (</a:t>
            </a:r>
            <a:r>
              <a:rPr lang="en-US" sz="1600" dirty="0" err="1" smtClean="0">
                <a:ea typeface="ＭＳ Ｐゴシック" pitchFamily="-105" charset="-128"/>
                <a:cs typeface="ＭＳ Ｐゴシック" pitchFamily="-105" charset="-128"/>
              </a:rPr>
              <a:t>blog.citizen.apps.gov/cbrfc</a:t>
            </a:r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)</a:t>
            </a:r>
          </a:p>
          <a:p>
            <a:r>
              <a:rPr lang="en-US" sz="2000" dirty="0" smtClean="0">
                <a:ea typeface="ＭＳ Ｐゴシック" pitchFamily="-105" charset="-128"/>
                <a:cs typeface="ＭＳ Ｐゴシック" pitchFamily="-105" charset="-128"/>
              </a:rPr>
              <a:t>Coming soon: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New water supply publication – example</a:t>
            </a:r>
          </a:p>
          <a:p>
            <a:pPr lvl="1">
              <a:buNone/>
            </a:pPr>
            <a:endParaRPr lang="en-US" sz="1600" dirty="0" smtClean="0">
              <a:ea typeface="ＭＳ Ｐゴシック" pitchFamily="-105" charset="-128"/>
              <a:cs typeface="ＭＳ Ｐゴシック" pitchFamily="-105" charset="-12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00200"/>
            <a:ext cx="3756197" cy="358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More Resources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  <a:hlinkClick r:id="rId2"/>
              </a:rPr>
              <a:t>www.cbrfc.noaa.gov</a:t>
            </a:r>
            <a:endParaRPr lang="en-US" dirty="0" smtClean="0">
              <a:ea typeface="ＭＳ Ｐゴシック" pitchFamily="-105" charset="-128"/>
              <a:cs typeface="ＭＳ Ｐゴシック" pitchFamily="-105" charset="-128"/>
            </a:endParaRPr>
          </a:p>
          <a:p>
            <a:pPr eaLnBrk="1" hangingPunct="1"/>
            <a:r>
              <a:rPr lang="en-US" dirty="0" err="1" smtClean="0">
                <a:ea typeface="ＭＳ Ｐゴシック" pitchFamily="-105" charset="-128"/>
                <a:cs typeface="ＭＳ Ｐゴシック" pitchFamily="-105" charset="-128"/>
              </a:rPr>
              <a:t>Wateroutlook.nwrfc.noaa.gov</a:t>
            </a:r>
            <a:endParaRPr lang="en-US" dirty="0" smtClean="0">
              <a:ea typeface="ＭＳ Ｐゴシック" pitchFamily="-105" charset="-128"/>
              <a:cs typeface="ＭＳ Ｐゴシック" pitchFamily="-105" charset="-128"/>
            </a:endParaRPr>
          </a:p>
          <a:p>
            <a:pPr eaLnBrk="1" hangingPunct="1">
              <a:buNone/>
            </a:pPr>
            <a:endParaRPr lang="en-US" dirty="0" smtClean="0">
              <a:ea typeface="ＭＳ Ｐゴシック" pitchFamily="-105" charset="-128"/>
              <a:cs typeface="ＭＳ Ｐゴシック" pitchFamily="-105" charset="-128"/>
            </a:endParaRPr>
          </a:p>
          <a:p>
            <a:pPr eaLnBrk="1" hangingPunct="1">
              <a:buFont typeface="Arial" pitchFamily="-105" charset="0"/>
              <a:buNone/>
            </a:pPr>
            <a:endParaRPr lang="en-US" dirty="0" smtClean="0">
              <a:ea typeface="ＭＳ Ｐゴシック" pitchFamily="-105" charset="-128"/>
              <a:cs typeface="ＭＳ Ｐゴシック" pitchFamily="-10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Group 7"/>
          <p:cNvGrpSpPr>
            <a:grpSpLocks/>
          </p:cNvGrpSpPr>
          <p:nvPr/>
        </p:nvGrpSpPr>
        <p:grpSpPr bwMode="auto">
          <a:xfrm>
            <a:off x="1143000" y="2438400"/>
            <a:ext cx="6591300" cy="2020888"/>
            <a:chOff x="720" y="2352"/>
            <a:chExt cx="4152" cy="1273"/>
          </a:xfrm>
        </p:grpSpPr>
        <p:pic>
          <p:nvPicPr>
            <p:cNvPr id="45060" name="Picture 4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936" y="2352"/>
              <a:ext cx="936" cy="9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1" name="Picture 6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16" y="2352"/>
              <a:ext cx="774" cy="7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062" name="TextBox 3"/>
            <p:cNvSpPr txBox="1">
              <a:spLocks noChangeArrowheads="1"/>
            </p:cNvSpPr>
            <p:nvPr/>
          </p:nvSpPr>
          <p:spPr bwMode="auto">
            <a:xfrm>
              <a:off x="720" y="2352"/>
              <a:ext cx="4152" cy="127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endParaRPr lang="en-US" b="1">
                <a:latin typeface="Calibri" pitchFamily="-105" charset="0"/>
              </a:endParaRPr>
            </a:p>
            <a:p>
              <a:pPr algn="ctr"/>
              <a:r>
                <a:rPr lang="en-US" b="1">
                  <a:latin typeface="Calibri" pitchFamily="-105" charset="0"/>
                </a:rPr>
                <a:t>Kevin Werner</a:t>
              </a:r>
            </a:p>
            <a:p>
              <a:pPr algn="ctr"/>
              <a:endParaRPr lang="en-US" b="1">
                <a:latin typeface="Calibri" pitchFamily="-105" charset="0"/>
              </a:endParaRPr>
            </a:p>
            <a:p>
              <a:pPr algn="ctr"/>
              <a:r>
                <a:rPr lang="en-US">
                  <a:latin typeface="Calibri" pitchFamily="-105" charset="0"/>
                </a:rPr>
                <a:t>CBRFC Service Coordination Hydrologist</a:t>
              </a:r>
            </a:p>
            <a:p>
              <a:pPr algn="ctr"/>
              <a:r>
                <a:rPr lang="en-US">
                  <a:latin typeface="Calibri" pitchFamily="-105" charset="0"/>
                </a:rPr>
                <a:t>Phone: 801.524.5130</a:t>
              </a:r>
            </a:p>
            <a:p>
              <a:pPr algn="ctr"/>
              <a:r>
                <a:rPr lang="en-US">
                  <a:latin typeface="Calibri" pitchFamily="-105" charset="0"/>
                </a:rPr>
                <a:t>Email: </a:t>
              </a:r>
              <a:r>
                <a:rPr lang="en-US">
                  <a:latin typeface="Calibri" pitchFamily="-105" charset="0"/>
                  <a:hlinkClick r:id="rId4"/>
                </a:rPr>
                <a:t>kevin.werner@noaa</a:t>
              </a:r>
              <a:r>
                <a:rPr lang="en-US">
                  <a:latin typeface="Calibri" pitchFamily="-105" charset="0"/>
                </a:rPr>
                <a:t>.gov</a:t>
              </a:r>
            </a:p>
          </p:txBody>
        </p:sp>
      </p:grpSp>
      <p:sp>
        <p:nvSpPr>
          <p:cNvPr id="45059" name="TextBox 5"/>
          <p:cNvSpPr txBox="1">
            <a:spLocks noChangeArrowheads="1"/>
          </p:cNvSpPr>
          <p:nvPr/>
        </p:nvSpPr>
        <p:spPr bwMode="auto">
          <a:xfrm>
            <a:off x="838200" y="381000"/>
            <a:ext cx="762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pitchFamily="-105" charset="0"/>
              </a:rPr>
              <a:t>Feedback, Questions, Concerns always welcome….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9373</TotalTime>
  <Words>1079</Words>
  <Application>Microsoft Macintosh PowerPoint</Application>
  <PresentationFormat>On-screen Show (4:3)</PresentationFormat>
  <Paragraphs>105</Paragraphs>
  <Slides>40</Slides>
  <Notes>2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NWS March 2011 CUWCD Briefing</vt:lpstr>
      <vt:lpstr>Outline</vt:lpstr>
      <vt:lpstr>Slide 3</vt:lpstr>
      <vt:lpstr>Slide 4</vt:lpstr>
      <vt:lpstr>Slide 5</vt:lpstr>
      <vt:lpstr>Slide 6</vt:lpstr>
      <vt:lpstr>Slide 7</vt:lpstr>
      <vt:lpstr>Snow: Trial Lake</vt:lpstr>
      <vt:lpstr>Snow: Trial Lake</vt:lpstr>
      <vt:lpstr>Snow: Duchesne River Group</vt:lpstr>
      <vt:lpstr>Snow: Provo River Group</vt:lpstr>
      <vt:lpstr>Last 7 days…</vt:lpstr>
      <vt:lpstr>Forecast Precipitation</vt:lpstr>
      <vt:lpstr>La Nina Update</vt:lpstr>
      <vt:lpstr>NOAA Operational Definitions for  El Niño and La Niña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Peak Flow Forecast</vt:lpstr>
      <vt:lpstr>Slide 32</vt:lpstr>
      <vt:lpstr>Slide 33</vt:lpstr>
      <vt:lpstr>Slide 34</vt:lpstr>
      <vt:lpstr>Slide 35</vt:lpstr>
      <vt:lpstr>Slide 36</vt:lpstr>
      <vt:lpstr>Peak Flow Publication</vt:lpstr>
      <vt:lpstr>CBRFC News</vt:lpstr>
      <vt:lpstr>More Resources</vt:lpstr>
      <vt:lpstr>Slide 40</vt:lpstr>
    </vt:vector>
  </TitlesOfParts>
  <Company>NWS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CBRFC March 2009 Water Supply Webinar</dc:title>
  <dc:creator>kvw</dc:creator>
  <cp:lastModifiedBy>Kevin Werner</cp:lastModifiedBy>
  <cp:revision>28</cp:revision>
  <dcterms:created xsi:type="dcterms:W3CDTF">2011-03-09T20:56:16Z</dcterms:created>
  <dcterms:modified xsi:type="dcterms:W3CDTF">2011-03-09T22:12:08Z</dcterms:modified>
</cp:coreProperties>
</file>