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charts/chart17.xml" ContentType="application/vnd.openxmlformats-officedocument.drawingml.char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charts/chart13.xml" ContentType="application/vnd.openxmlformats-officedocument.drawingml.chart+xml"/>
  <Override PartName="/ppt/charts/chart15.xml" ContentType="application/vnd.openxmlformats-officedocument.drawingml.char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harts/chart9.xml" ContentType="application/vnd.openxmlformats-officedocument.drawingml.chart+xml"/>
  <Override PartName="/ppt/charts/chart11.xml" ContentType="application/vnd.openxmlformats-officedocument.drawingml.chart+xml"/>
  <Override PartName="/ppt/charts/chart7.xml" ContentType="application/vnd.openxmlformats-officedocument.drawingml.chart+xml"/>
  <Default Extension="xlsx" ContentType="application/vnd.openxmlformats-officedocument.spreadsheetml.sheet"/>
  <Override PartName="/ppt/charts/chart3.xml" ContentType="application/vnd.openxmlformats-officedocument.drawingml.chart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charts/chart1.xml" ContentType="application/vnd.openxmlformats-officedocument.drawingml.char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rts/chart18.xml" ContentType="application/vnd.openxmlformats-officedocument.drawingml.char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charts/chart16.xml" ContentType="application/vnd.openxmlformats-officedocument.drawingml.char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charts/chart14.xml" ContentType="application/vnd.openxmlformats-officedocument.drawingml.char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charts/chart8.xml" ContentType="application/vnd.openxmlformats-officedocument.drawingml.chart+xml"/>
  <Override PartName="/ppt/charts/chart12.xml" ContentType="application/vnd.openxmlformats-officedocument.drawingml.chart+xml"/>
  <Override PartName="/ppt/slideLayouts/slideLayout10.xml" ContentType="application/vnd.openxmlformats-officedocument.presentationml.slideLayout+xml"/>
  <Override PartName="/ppt/charts/chart6.xml" ContentType="application/vnd.openxmlformats-officedocument.drawingml.chart+xml"/>
  <Override PartName="/ppt/charts/chart10.xml" ContentType="application/vnd.openxmlformats-officedocument.drawingml.chart+xml"/>
  <Override PartName="/ppt/charts/chart4.xml" ContentType="application/vnd.openxmlformats-officedocument.drawingml.char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0"/>
  </p:notesMasterIdLst>
  <p:sldIdLst>
    <p:sldId id="256" r:id="rId2"/>
    <p:sldId id="413" r:id="rId3"/>
    <p:sldId id="298" r:id="rId4"/>
    <p:sldId id="299" r:id="rId5"/>
    <p:sldId id="302" r:id="rId6"/>
    <p:sldId id="303" r:id="rId7"/>
    <p:sldId id="330" r:id="rId8"/>
    <p:sldId id="414" r:id="rId9"/>
    <p:sldId id="402" r:id="rId10"/>
    <p:sldId id="403" r:id="rId11"/>
    <p:sldId id="391" r:id="rId12"/>
    <p:sldId id="425" r:id="rId13"/>
    <p:sldId id="431" r:id="rId14"/>
    <p:sldId id="432" r:id="rId15"/>
    <p:sldId id="410" r:id="rId16"/>
    <p:sldId id="404" r:id="rId17"/>
    <p:sldId id="430" r:id="rId18"/>
    <p:sldId id="415" r:id="rId19"/>
    <p:sldId id="427" r:id="rId20"/>
    <p:sldId id="407" r:id="rId21"/>
    <p:sldId id="426" r:id="rId22"/>
    <p:sldId id="428" r:id="rId23"/>
    <p:sldId id="429" r:id="rId24"/>
    <p:sldId id="433" r:id="rId25"/>
    <p:sldId id="416" r:id="rId26"/>
    <p:sldId id="401" r:id="rId27"/>
    <p:sldId id="400" r:id="rId28"/>
    <p:sldId id="417" r:id="rId29"/>
    <p:sldId id="408" r:id="rId30"/>
    <p:sldId id="390" r:id="rId31"/>
    <p:sldId id="392" r:id="rId32"/>
    <p:sldId id="393" r:id="rId33"/>
    <p:sldId id="418" r:id="rId34"/>
    <p:sldId id="434" r:id="rId35"/>
    <p:sldId id="419" r:id="rId36"/>
    <p:sldId id="435" r:id="rId37"/>
    <p:sldId id="394" r:id="rId38"/>
    <p:sldId id="436" r:id="rId39"/>
    <p:sldId id="438" r:id="rId40"/>
    <p:sldId id="439" r:id="rId41"/>
    <p:sldId id="420" r:id="rId42"/>
    <p:sldId id="437" r:id="rId43"/>
    <p:sldId id="395" r:id="rId44"/>
    <p:sldId id="396" r:id="rId45"/>
    <p:sldId id="421" r:id="rId46"/>
    <p:sldId id="406" r:id="rId47"/>
    <p:sldId id="397" r:id="rId48"/>
    <p:sldId id="422" r:id="rId49"/>
    <p:sldId id="405" r:id="rId50"/>
    <p:sldId id="398" r:id="rId51"/>
    <p:sldId id="443" r:id="rId52"/>
    <p:sldId id="399" r:id="rId53"/>
    <p:sldId id="423" r:id="rId54"/>
    <p:sldId id="411" r:id="rId55"/>
    <p:sldId id="440" r:id="rId56"/>
    <p:sldId id="441" r:id="rId57"/>
    <p:sldId id="442" r:id="rId58"/>
    <p:sldId id="317" r:id="rId5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3333FF"/>
    <a:srgbClr val="00234B"/>
    <a:srgbClr val="56689C"/>
    <a:srgbClr val="5A6DA4"/>
    <a:srgbClr val="5B6EA3"/>
    <a:srgbClr val="6577AB"/>
    <a:srgbClr val="495883"/>
    <a:srgbClr val="A1ABCB"/>
    <a:srgbClr val="6B7CAD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06" autoAdjust="0"/>
    <p:restoredTop sz="94654" autoAdjust="0"/>
  </p:normalViewPr>
  <p:slideViewPr>
    <p:cSldViewPr>
      <p:cViewPr>
        <p:scale>
          <a:sx n="90" d="100"/>
          <a:sy n="90" d="100"/>
        </p:scale>
        <p:origin x="-1530" y="-4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autoTitleDeleted val="1"/>
    <c:plotArea>
      <c:layout>
        <c:manualLayout>
          <c:layoutTarget val="inner"/>
          <c:xMode val="edge"/>
          <c:yMode val="edge"/>
          <c:x val="0.18556703849518824"/>
          <c:y val="8.6666699162616961E-2"/>
          <c:w val="0.79012740594925601"/>
          <c:h val="0.75193691486198533"/>
        </c:manualLayout>
      </c:layout>
      <c:lineChart>
        <c:grouping val="standard"/>
        <c:ser>
          <c:idx val="0"/>
          <c:order val="0"/>
          <c:tx>
            <c:strRef>
              <c:f>Sheet1!$B$1</c:f>
              <c:strCache>
                <c:ptCount val="1"/>
                <c:pt idx="0">
                  <c:v>Column1</c:v>
                </c:pt>
              </c:strCache>
            </c:strRef>
          </c:tx>
          <c:spPr>
            <a:ln w="41275" cmpd="sng">
              <a:solidFill>
                <a:schemeClr val="accent2">
                  <a:lumMod val="75000"/>
                </a:schemeClr>
              </a:solidFill>
            </a:ln>
          </c:spPr>
          <c:marker>
            <c:spPr>
              <a:solidFill>
                <a:schemeClr val="accent2">
                  <a:lumMod val="75000"/>
                </a:schemeClr>
              </a:solidFill>
              <a:ln>
                <a:solidFill>
                  <a:srgbClr val="F3A447">
                    <a:lumMod val="75000"/>
                  </a:srgbClr>
                </a:solidFill>
              </a:ln>
            </c:spPr>
          </c:marker>
          <c:cat>
            <c:numRef>
              <c:f>Sheet1!$A$2:$A$3</c:f>
              <c:numCache>
                <c:formatCode>General</c:formatCode>
                <c:ptCount val="2"/>
                <c:pt idx="0">
                  <c:v>2010</c:v>
                </c:pt>
                <c:pt idx="1">
                  <c:v>2012</c:v>
                </c:pt>
              </c:numCache>
            </c:numRef>
          </c:cat>
          <c:val>
            <c:numRef>
              <c:f>Sheet1!$B$2:$B$3</c:f>
              <c:numCache>
                <c:formatCode>0.0%</c:formatCode>
                <c:ptCount val="2"/>
                <c:pt idx="0">
                  <c:v>0.62100000000000033</c:v>
                </c:pt>
                <c:pt idx="1">
                  <c:v>0.66600000000000048</c:v>
                </c:pt>
              </c:numCache>
            </c:numRef>
          </c:val>
        </c:ser>
        <c:marker val="1"/>
        <c:axId val="112167936"/>
        <c:axId val="112186496"/>
      </c:lineChart>
      <c:catAx>
        <c:axId val="112167936"/>
        <c:scaling>
          <c:orientation val="minMax"/>
        </c:scaling>
        <c:axPos val="b"/>
        <c:numFmt formatCode="General" sourceLinked="1"/>
        <c:tickLblPos val="nextTo"/>
        <c:crossAx val="112186496"/>
        <c:crosses val="autoZero"/>
        <c:auto val="1"/>
        <c:lblAlgn val="ctr"/>
        <c:lblOffset val="100"/>
      </c:catAx>
      <c:valAx>
        <c:axId val="112186496"/>
        <c:scaling>
          <c:orientation val="minMax"/>
          <c:max val="0.7000000000000004"/>
          <c:min val="0.5"/>
        </c:scaling>
        <c:axPos val="l"/>
        <c:numFmt formatCode="0%" sourceLinked="0"/>
        <c:tickLblPos val="nextTo"/>
        <c:txPr>
          <a:bodyPr/>
          <a:lstStyle/>
          <a:p>
            <a:pPr>
              <a:defRPr sz="1600"/>
            </a:pPr>
            <a:endParaRPr lang="en-US"/>
          </a:p>
        </c:txPr>
        <c:crossAx val="112167936"/>
        <c:crosses val="autoZero"/>
        <c:crossBetween val="between"/>
      </c:valAx>
      <c:spPr>
        <a:noFill/>
      </c:spPr>
    </c:plotArea>
    <c:plotVisOnly val="1"/>
  </c:chart>
  <c:txPr>
    <a:bodyPr/>
    <a:lstStyle/>
    <a:p>
      <a:pPr>
        <a:defRPr sz="1800"/>
      </a:pPr>
      <a:endParaRPr lang="en-US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8.6599030890369508E-2"/>
          <c:y val="4.3607954545454547E-2"/>
          <c:w val="0.88466762568140533"/>
          <c:h val="0.85718751344606514"/>
        </c:manualLayout>
      </c:layout>
      <c:lineChart>
        <c:grouping val="standard"/>
        <c:ser>
          <c:idx val="1"/>
          <c:order val="0"/>
          <c:tx>
            <c:strRef>
              <c:f>Sheet1!$A$2</c:f>
              <c:strCache>
                <c:ptCount val="1"/>
                <c:pt idx="0">
                  <c:v>To be able to get a better job</c:v>
                </c:pt>
              </c:strCache>
            </c:strRef>
          </c:tx>
          <c:spPr>
            <a:ln w="38100"/>
          </c:spPr>
          <c:marker>
            <c:symbol val="square"/>
            <c:size val="5"/>
            <c:spPr>
              <a:ln w="25400"/>
            </c:spPr>
          </c:marker>
          <c:dPt>
            <c:idx val="13"/>
            <c:spPr>
              <a:ln w="38100">
                <a:prstDash val="dash"/>
              </a:ln>
            </c:spPr>
          </c:dPt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Sheet1!$B$1:$AL$1</c:f>
              <c:strCache>
                <c:ptCount val="37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  <c:pt idx="6">
                  <c:v>1982</c:v>
                </c:pt>
                <c:pt idx="7">
                  <c:v>1983</c:v>
                </c:pt>
                <c:pt idx="8">
                  <c:v>1984</c:v>
                </c:pt>
                <c:pt idx="9">
                  <c:v>1985</c:v>
                </c:pt>
                <c:pt idx="10">
                  <c:v>1986</c:v>
                </c:pt>
                <c:pt idx="11">
                  <c:v>1987</c:v>
                </c:pt>
                <c:pt idx="12">
                  <c:v>1988</c:v>
                </c:pt>
                <c:pt idx="13">
                  <c:v>1989</c:v>
                </c:pt>
                <c:pt idx="14">
                  <c:v>1990</c:v>
                </c:pt>
                <c:pt idx="15">
                  <c:v>1991</c:v>
                </c:pt>
                <c:pt idx="16">
                  <c:v>1992</c:v>
                </c:pt>
                <c:pt idx="17">
                  <c:v>1993</c:v>
                </c:pt>
                <c:pt idx="18">
                  <c:v>1994</c:v>
                </c:pt>
                <c:pt idx="19">
                  <c:v>1995</c:v>
                </c:pt>
                <c:pt idx="20">
                  <c:v>1996</c:v>
                </c:pt>
                <c:pt idx="21">
                  <c:v>1997</c:v>
                </c:pt>
                <c:pt idx="22">
                  <c:v>1998</c:v>
                </c:pt>
                <c:pt idx="23">
                  <c:v>1999</c:v>
                </c:pt>
                <c:pt idx="24">
                  <c:v>2000</c:v>
                </c:pt>
                <c:pt idx="25">
                  <c:v>2001</c:v>
                </c:pt>
                <c:pt idx="26">
                  <c:v>2002</c:v>
                </c:pt>
                <c:pt idx="27">
                  <c:v>2003</c:v>
                </c:pt>
                <c:pt idx="28">
                  <c:v>2004</c:v>
                </c:pt>
                <c:pt idx="29">
                  <c:v>2005</c:v>
                </c:pt>
                <c:pt idx="30">
                  <c:v>2006</c:v>
                </c:pt>
                <c:pt idx="31">
                  <c:v>2007</c:v>
                </c:pt>
                <c:pt idx="32">
                  <c:v>2008</c:v>
                </c:pt>
                <c:pt idx="33">
                  <c:v>2009</c:v>
                </c:pt>
                <c:pt idx="34">
                  <c:v>2010</c:v>
                </c:pt>
                <c:pt idx="35">
                  <c:v>2011</c:v>
                </c:pt>
                <c:pt idx="36">
                  <c:v>2012</c:v>
                </c:pt>
              </c:strCache>
            </c:strRef>
          </c:cat>
          <c:val>
            <c:numRef>
              <c:f>Sheet1!$B$2:$AL$2</c:f>
              <c:numCache>
                <c:formatCode>0.0</c:formatCode>
                <c:ptCount val="37"/>
                <c:pt idx="0">
                  <c:v>67.8</c:v>
                </c:pt>
                <c:pt idx="1">
                  <c:v>74.400000000000006</c:v>
                </c:pt>
                <c:pt idx="2">
                  <c:v>73.099999999999994</c:v>
                </c:pt>
                <c:pt idx="3">
                  <c:v>76.3</c:v>
                </c:pt>
                <c:pt idx="4">
                  <c:v>74.8</c:v>
                </c:pt>
                <c:pt idx="5">
                  <c:v>73.8</c:v>
                </c:pt>
                <c:pt idx="6">
                  <c:v>75.3</c:v>
                </c:pt>
                <c:pt idx="7">
                  <c:v>73.3</c:v>
                </c:pt>
                <c:pt idx="8">
                  <c:v>73</c:v>
                </c:pt>
                <c:pt idx="13">
                  <c:v>74</c:v>
                </c:pt>
                <c:pt idx="14">
                  <c:v>75.599999999999994</c:v>
                </c:pt>
                <c:pt idx="15">
                  <c:v>75.599999999999994</c:v>
                </c:pt>
                <c:pt idx="16">
                  <c:v>76</c:v>
                </c:pt>
                <c:pt idx="17">
                  <c:v>80.3</c:v>
                </c:pt>
                <c:pt idx="18">
                  <c:v>75.599999999999994</c:v>
                </c:pt>
                <c:pt idx="19">
                  <c:v>75.5</c:v>
                </c:pt>
                <c:pt idx="20">
                  <c:v>75.5</c:v>
                </c:pt>
                <c:pt idx="21">
                  <c:v>72.599999999999994</c:v>
                </c:pt>
                <c:pt idx="22">
                  <c:v>75.3</c:v>
                </c:pt>
                <c:pt idx="23">
                  <c:v>71.5</c:v>
                </c:pt>
                <c:pt idx="24">
                  <c:v>71.599999999999994</c:v>
                </c:pt>
                <c:pt idx="25">
                  <c:v>70.3</c:v>
                </c:pt>
                <c:pt idx="26">
                  <c:v>71.599999999999994</c:v>
                </c:pt>
                <c:pt idx="27">
                  <c:v>70.099999999999994</c:v>
                </c:pt>
                <c:pt idx="28">
                  <c:v>71.8</c:v>
                </c:pt>
                <c:pt idx="29">
                  <c:v>72.2</c:v>
                </c:pt>
                <c:pt idx="30">
                  <c:v>70.400000000000006</c:v>
                </c:pt>
                <c:pt idx="33">
                  <c:v>84.3</c:v>
                </c:pt>
                <c:pt idx="34">
                  <c:v>84.7</c:v>
                </c:pt>
                <c:pt idx="35">
                  <c:v>85.9</c:v>
                </c:pt>
                <c:pt idx="36">
                  <c:v>87.9</c:v>
                </c:pt>
              </c:numCache>
            </c:numRef>
          </c:val>
        </c:ser>
        <c:ser>
          <c:idx val="2"/>
          <c:order val="1"/>
          <c:tx>
            <c:strRef>
              <c:f>Sheet1!$A$3</c:f>
              <c:strCache>
                <c:ptCount val="1"/>
                <c:pt idx="0">
                  <c:v>To be able to make more money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Sheet1!$B$1:$AL$1</c:f>
              <c:strCache>
                <c:ptCount val="37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  <c:pt idx="6">
                  <c:v>1982</c:v>
                </c:pt>
                <c:pt idx="7">
                  <c:v>1983</c:v>
                </c:pt>
                <c:pt idx="8">
                  <c:v>1984</c:v>
                </c:pt>
                <c:pt idx="9">
                  <c:v>1985</c:v>
                </c:pt>
                <c:pt idx="10">
                  <c:v>1986</c:v>
                </c:pt>
                <c:pt idx="11">
                  <c:v>1987</c:v>
                </c:pt>
                <c:pt idx="12">
                  <c:v>1988</c:v>
                </c:pt>
                <c:pt idx="13">
                  <c:v>1989</c:v>
                </c:pt>
                <c:pt idx="14">
                  <c:v>1990</c:v>
                </c:pt>
                <c:pt idx="15">
                  <c:v>1991</c:v>
                </c:pt>
                <c:pt idx="16">
                  <c:v>1992</c:v>
                </c:pt>
                <c:pt idx="17">
                  <c:v>1993</c:v>
                </c:pt>
                <c:pt idx="18">
                  <c:v>1994</c:v>
                </c:pt>
                <c:pt idx="19">
                  <c:v>1995</c:v>
                </c:pt>
                <c:pt idx="20">
                  <c:v>1996</c:v>
                </c:pt>
                <c:pt idx="21">
                  <c:v>1997</c:v>
                </c:pt>
                <c:pt idx="22">
                  <c:v>1998</c:v>
                </c:pt>
                <c:pt idx="23">
                  <c:v>1999</c:v>
                </c:pt>
                <c:pt idx="24">
                  <c:v>2000</c:v>
                </c:pt>
                <c:pt idx="25">
                  <c:v>2001</c:v>
                </c:pt>
                <c:pt idx="26">
                  <c:v>2002</c:v>
                </c:pt>
                <c:pt idx="27">
                  <c:v>2003</c:v>
                </c:pt>
                <c:pt idx="28">
                  <c:v>2004</c:v>
                </c:pt>
                <c:pt idx="29">
                  <c:v>2005</c:v>
                </c:pt>
                <c:pt idx="30">
                  <c:v>2006</c:v>
                </c:pt>
                <c:pt idx="31">
                  <c:v>2007</c:v>
                </c:pt>
                <c:pt idx="32">
                  <c:v>2008</c:v>
                </c:pt>
                <c:pt idx="33">
                  <c:v>2009</c:v>
                </c:pt>
                <c:pt idx="34">
                  <c:v>2010</c:v>
                </c:pt>
                <c:pt idx="35">
                  <c:v>2011</c:v>
                </c:pt>
                <c:pt idx="36">
                  <c:v>2012</c:v>
                </c:pt>
              </c:strCache>
            </c:strRef>
          </c:cat>
          <c:val>
            <c:numRef>
              <c:f>Sheet1!$B$3:$AL$3</c:f>
              <c:numCache>
                <c:formatCode>0.0</c:formatCode>
                <c:ptCount val="37"/>
                <c:pt idx="0">
                  <c:v>49.7</c:v>
                </c:pt>
                <c:pt idx="1">
                  <c:v>58.9</c:v>
                </c:pt>
                <c:pt idx="2">
                  <c:v>57.7</c:v>
                </c:pt>
                <c:pt idx="3">
                  <c:v>62.1</c:v>
                </c:pt>
                <c:pt idx="4">
                  <c:v>61.1</c:v>
                </c:pt>
                <c:pt idx="5">
                  <c:v>64.099999999999994</c:v>
                </c:pt>
                <c:pt idx="6">
                  <c:v>67.5</c:v>
                </c:pt>
                <c:pt idx="7">
                  <c:v>64.900000000000006</c:v>
                </c:pt>
                <c:pt idx="8">
                  <c:v>65.8</c:v>
                </c:pt>
                <c:pt idx="9">
                  <c:v>66.7</c:v>
                </c:pt>
                <c:pt idx="10">
                  <c:v>67.5</c:v>
                </c:pt>
                <c:pt idx="11">
                  <c:v>68.3</c:v>
                </c:pt>
                <c:pt idx="12">
                  <c:v>70.3</c:v>
                </c:pt>
                <c:pt idx="13">
                  <c:v>70.3</c:v>
                </c:pt>
                <c:pt idx="14">
                  <c:v>71</c:v>
                </c:pt>
                <c:pt idx="15">
                  <c:v>71.400000000000006</c:v>
                </c:pt>
                <c:pt idx="16">
                  <c:v>70.3</c:v>
                </c:pt>
                <c:pt idx="17">
                  <c:v>72</c:v>
                </c:pt>
                <c:pt idx="18">
                  <c:v>70.3</c:v>
                </c:pt>
                <c:pt idx="19">
                  <c:v>70.5</c:v>
                </c:pt>
                <c:pt idx="20">
                  <c:v>71</c:v>
                </c:pt>
                <c:pt idx="21">
                  <c:v>69.900000000000006</c:v>
                </c:pt>
                <c:pt idx="22">
                  <c:v>72.099999999999994</c:v>
                </c:pt>
                <c:pt idx="23">
                  <c:v>69.3</c:v>
                </c:pt>
                <c:pt idx="24">
                  <c:v>70</c:v>
                </c:pt>
                <c:pt idx="25">
                  <c:v>69.8</c:v>
                </c:pt>
                <c:pt idx="26">
                  <c:v>70.5</c:v>
                </c:pt>
                <c:pt idx="27">
                  <c:v>69.400000000000006</c:v>
                </c:pt>
                <c:pt idx="28">
                  <c:v>70.099999999999994</c:v>
                </c:pt>
                <c:pt idx="29">
                  <c:v>71</c:v>
                </c:pt>
                <c:pt idx="30">
                  <c:v>69</c:v>
                </c:pt>
                <c:pt idx="33">
                  <c:v>72.5</c:v>
                </c:pt>
                <c:pt idx="34">
                  <c:v>71.2</c:v>
                </c:pt>
                <c:pt idx="35">
                  <c:v>71.7</c:v>
                </c:pt>
                <c:pt idx="36">
                  <c:v>74.599999999999994</c:v>
                </c:pt>
              </c:numCache>
            </c:numRef>
          </c:val>
        </c:ser>
        <c:ser>
          <c:idx val="3"/>
          <c:order val="2"/>
          <c:tx>
            <c:strRef>
              <c:f>Sheet1!$A$4</c:f>
              <c:strCache>
                <c:ptCount val="1"/>
                <c:pt idx="0">
                  <c:v>To gain a general education and appreciation of ideas</c:v>
                </c:pt>
              </c:strCache>
            </c:strRef>
          </c:tx>
          <c:spPr>
            <a:ln w="38100"/>
          </c:spPr>
          <c:marker>
            <c:symbol val="diamond"/>
            <c:size val="10"/>
            <c:spPr>
              <a:ln w="25400"/>
            </c:spPr>
          </c:marker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Sheet1!$B$1:$AL$1</c:f>
              <c:strCache>
                <c:ptCount val="37"/>
                <c:pt idx="0">
                  <c:v>1976</c:v>
                </c:pt>
                <c:pt idx="1">
                  <c:v>1977</c:v>
                </c:pt>
                <c:pt idx="2">
                  <c:v>1978</c:v>
                </c:pt>
                <c:pt idx="3">
                  <c:v>1979</c:v>
                </c:pt>
                <c:pt idx="4">
                  <c:v>1980</c:v>
                </c:pt>
                <c:pt idx="5">
                  <c:v>1981</c:v>
                </c:pt>
                <c:pt idx="6">
                  <c:v>1982</c:v>
                </c:pt>
                <c:pt idx="7">
                  <c:v>1983</c:v>
                </c:pt>
                <c:pt idx="8">
                  <c:v>1984</c:v>
                </c:pt>
                <c:pt idx="9">
                  <c:v>1985</c:v>
                </c:pt>
                <c:pt idx="10">
                  <c:v>1986</c:v>
                </c:pt>
                <c:pt idx="11">
                  <c:v>1987</c:v>
                </c:pt>
                <c:pt idx="12">
                  <c:v>1988</c:v>
                </c:pt>
                <c:pt idx="13">
                  <c:v>1989</c:v>
                </c:pt>
                <c:pt idx="14">
                  <c:v>1990</c:v>
                </c:pt>
                <c:pt idx="15">
                  <c:v>1991</c:v>
                </c:pt>
                <c:pt idx="16">
                  <c:v>1992</c:v>
                </c:pt>
                <c:pt idx="17">
                  <c:v>1993</c:v>
                </c:pt>
                <c:pt idx="18">
                  <c:v>1994</c:v>
                </c:pt>
                <c:pt idx="19">
                  <c:v>1995</c:v>
                </c:pt>
                <c:pt idx="20">
                  <c:v>1996</c:v>
                </c:pt>
                <c:pt idx="21">
                  <c:v>1997</c:v>
                </c:pt>
                <c:pt idx="22">
                  <c:v>1998</c:v>
                </c:pt>
                <c:pt idx="23">
                  <c:v>1999</c:v>
                </c:pt>
                <c:pt idx="24">
                  <c:v>2000</c:v>
                </c:pt>
                <c:pt idx="25">
                  <c:v>2001</c:v>
                </c:pt>
                <c:pt idx="26">
                  <c:v>2002</c:v>
                </c:pt>
                <c:pt idx="27">
                  <c:v>2003</c:v>
                </c:pt>
                <c:pt idx="28">
                  <c:v>2004</c:v>
                </c:pt>
                <c:pt idx="29">
                  <c:v>2005</c:v>
                </c:pt>
                <c:pt idx="30">
                  <c:v>2006</c:v>
                </c:pt>
                <c:pt idx="31">
                  <c:v>2007</c:v>
                </c:pt>
                <c:pt idx="32">
                  <c:v>2008</c:v>
                </c:pt>
                <c:pt idx="33">
                  <c:v>2009</c:v>
                </c:pt>
                <c:pt idx="34">
                  <c:v>2010</c:v>
                </c:pt>
                <c:pt idx="35">
                  <c:v>2011</c:v>
                </c:pt>
                <c:pt idx="36">
                  <c:v>2012</c:v>
                </c:pt>
              </c:strCache>
            </c:strRef>
          </c:cat>
          <c:val>
            <c:numRef>
              <c:f>Sheet1!$B$4:$AL$4</c:f>
              <c:numCache>
                <c:formatCode>0.0</c:formatCode>
                <c:ptCount val="37"/>
                <c:pt idx="0">
                  <c:v>67.400000000000006</c:v>
                </c:pt>
                <c:pt idx="1">
                  <c:v>73.8</c:v>
                </c:pt>
                <c:pt idx="2">
                  <c:v>71.400000000000006</c:v>
                </c:pt>
                <c:pt idx="3">
                  <c:v>71</c:v>
                </c:pt>
                <c:pt idx="4">
                  <c:v>69.3</c:v>
                </c:pt>
                <c:pt idx="5">
                  <c:v>70.3</c:v>
                </c:pt>
                <c:pt idx="6">
                  <c:v>69.599999999999994</c:v>
                </c:pt>
                <c:pt idx="7">
                  <c:v>66.599999999999994</c:v>
                </c:pt>
                <c:pt idx="8">
                  <c:v>67.400000000000006</c:v>
                </c:pt>
                <c:pt idx="9">
                  <c:v>63.7</c:v>
                </c:pt>
                <c:pt idx="10">
                  <c:v>63.6</c:v>
                </c:pt>
                <c:pt idx="11">
                  <c:v>62.5</c:v>
                </c:pt>
                <c:pt idx="12">
                  <c:v>61.1</c:v>
                </c:pt>
                <c:pt idx="13">
                  <c:v>64.400000000000006</c:v>
                </c:pt>
                <c:pt idx="14">
                  <c:v>65.099999999999994</c:v>
                </c:pt>
                <c:pt idx="15">
                  <c:v>63</c:v>
                </c:pt>
                <c:pt idx="16">
                  <c:v>64.8</c:v>
                </c:pt>
                <c:pt idx="17">
                  <c:v>66.8</c:v>
                </c:pt>
                <c:pt idx="18">
                  <c:v>61.9</c:v>
                </c:pt>
                <c:pt idx="19">
                  <c:v>65.400000000000006</c:v>
                </c:pt>
                <c:pt idx="20">
                  <c:v>64.599999999999994</c:v>
                </c:pt>
                <c:pt idx="21">
                  <c:v>62.5</c:v>
                </c:pt>
                <c:pt idx="22">
                  <c:v>64.599999999999994</c:v>
                </c:pt>
                <c:pt idx="23">
                  <c:v>62.8</c:v>
                </c:pt>
                <c:pt idx="24">
                  <c:v>64.5</c:v>
                </c:pt>
                <c:pt idx="25">
                  <c:v>65.8</c:v>
                </c:pt>
                <c:pt idx="26">
                  <c:v>66</c:v>
                </c:pt>
                <c:pt idx="27">
                  <c:v>65.400000000000006</c:v>
                </c:pt>
                <c:pt idx="28">
                  <c:v>64.599999999999994</c:v>
                </c:pt>
                <c:pt idx="29">
                  <c:v>65.400000000000006</c:v>
                </c:pt>
                <c:pt idx="30">
                  <c:v>64.3</c:v>
                </c:pt>
                <c:pt idx="33">
                  <c:v>71.2</c:v>
                </c:pt>
                <c:pt idx="34">
                  <c:v>72.400000000000006</c:v>
                </c:pt>
                <c:pt idx="35">
                  <c:v>72.400000000000006</c:v>
                </c:pt>
                <c:pt idx="36">
                  <c:v>72.8</c:v>
                </c:pt>
              </c:numCache>
            </c:numRef>
          </c:val>
        </c:ser>
        <c:marker val="1"/>
        <c:axId val="112324992"/>
        <c:axId val="112326528"/>
      </c:lineChart>
      <c:catAx>
        <c:axId val="112324992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12326528"/>
        <c:crosses val="autoZero"/>
        <c:auto val="1"/>
        <c:lblAlgn val="ctr"/>
        <c:lblOffset val="100"/>
        <c:tickLblSkip val="3"/>
      </c:catAx>
      <c:valAx>
        <c:axId val="112326528"/>
        <c:scaling>
          <c:orientation val="minMax"/>
          <c:max val="100"/>
          <c:min val="4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/>
        </c:title>
        <c:numFmt formatCode="0" sourceLinked="0"/>
        <c:tickLblPos val="nextTo"/>
        <c:crossAx val="112324992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21933070866141741"/>
          <c:y val="1.51472950209582E-2"/>
          <c:w val="0.49436237328132171"/>
          <c:h val="0.19323128452227062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8.1761958809203006E-2"/>
          <c:y val="3.8149137607799088E-2"/>
          <c:w val="0.71356849925009369"/>
          <c:h val="0.83222491419342071"/>
        </c:manualLayout>
      </c:layout>
      <c:lineChart>
        <c:grouping val="standard"/>
        <c:ser>
          <c:idx val="12"/>
          <c:order val="0"/>
          <c:tx>
            <c:strRef>
              <c:f>Sheet1!$A$14</c:f>
              <c:strCache>
                <c:ptCount val="1"/>
                <c:pt idx="0">
                  <c:v>Being very well off financially</c:v>
                </c:pt>
              </c:strCache>
            </c:strRef>
          </c:tx>
          <c:spPr>
            <a:ln w="38100">
              <a:solidFill>
                <a:schemeClr val="accent1">
                  <a:lumMod val="5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c:spPr>
          </c:marker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Sheet1!$B$14:$AV$14</c:f>
              <c:numCache>
                <c:formatCode>0.0</c:formatCode>
                <c:ptCount val="47"/>
                <c:pt idx="0">
                  <c:v>42.238420665001243</c:v>
                </c:pt>
                <c:pt idx="1">
                  <c:v>41.937262792084972</c:v>
                </c:pt>
                <c:pt idx="2">
                  <c:v>39.462117219869619</c:v>
                </c:pt>
                <c:pt idx="3">
                  <c:v>42.166652040243555</c:v>
                </c:pt>
                <c:pt idx="4">
                  <c:v>36.231704340718501</c:v>
                </c:pt>
                <c:pt idx="5">
                  <c:v>37.1</c:v>
                </c:pt>
                <c:pt idx="6">
                  <c:v>38.6</c:v>
                </c:pt>
                <c:pt idx="8">
                  <c:v>43.5</c:v>
                </c:pt>
                <c:pt idx="9">
                  <c:v>46.8</c:v>
                </c:pt>
                <c:pt idx="10">
                  <c:v>50.2</c:v>
                </c:pt>
                <c:pt idx="11">
                  <c:v>56.2</c:v>
                </c:pt>
                <c:pt idx="12">
                  <c:v>58.3</c:v>
                </c:pt>
                <c:pt idx="13">
                  <c:v>61.1</c:v>
                </c:pt>
                <c:pt idx="14">
                  <c:v>62.4</c:v>
                </c:pt>
                <c:pt idx="15">
                  <c:v>63.9</c:v>
                </c:pt>
                <c:pt idx="16">
                  <c:v>68</c:v>
                </c:pt>
                <c:pt idx="17">
                  <c:v>68.7</c:v>
                </c:pt>
                <c:pt idx="18">
                  <c:v>70.400000000000006</c:v>
                </c:pt>
                <c:pt idx="19">
                  <c:v>69.2</c:v>
                </c:pt>
                <c:pt idx="20">
                  <c:v>71.900000000000006</c:v>
                </c:pt>
                <c:pt idx="21">
                  <c:v>74.099999999999994</c:v>
                </c:pt>
                <c:pt idx="23">
                  <c:v>73.8</c:v>
                </c:pt>
                <c:pt idx="24">
                  <c:v>72.3</c:v>
                </c:pt>
                <c:pt idx="25">
                  <c:v>72.7</c:v>
                </c:pt>
                <c:pt idx="26">
                  <c:v>71.400000000000006</c:v>
                </c:pt>
                <c:pt idx="27">
                  <c:v>71.900000000000006</c:v>
                </c:pt>
                <c:pt idx="28">
                  <c:v>71.8</c:v>
                </c:pt>
                <c:pt idx="29">
                  <c:v>72.8</c:v>
                </c:pt>
                <c:pt idx="30">
                  <c:v>72.900000000000006</c:v>
                </c:pt>
                <c:pt idx="31">
                  <c:v>73.3</c:v>
                </c:pt>
                <c:pt idx="32">
                  <c:v>72.900000000000006</c:v>
                </c:pt>
                <c:pt idx="33">
                  <c:v>72.099999999999994</c:v>
                </c:pt>
                <c:pt idx="34">
                  <c:v>73.400000000000006</c:v>
                </c:pt>
                <c:pt idx="35">
                  <c:v>73.599999999999994</c:v>
                </c:pt>
                <c:pt idx="36">
                  <c:v>73.2</c:v>
                </c:pt>
                <c:pt idx="37">
                  <c:v>73.8</c:v>
                </c:pt>
                <c:pt idx="38">
                  <c:v>73.599999999999994</c:v>
                </c:pt>
                <c:pt idx="39">
                  <c:v>74.5</c:v>
                </c:pt>
                <c:pt idx="40">
                  <c:v>73.400000000000006</c:v>
                </c:pt>
                <c:pt idx="41">
                  <c:v>74.400000000000006</c:v>
                </c:pt>
                <c:pt idx="42">
                  <c:v>76.8</c:v>
                </c:pt>
                <c:pt idx="43">
                  <c:v>78.099999999999994</c:v>
                </c:pt>
                <c:pt idx="44">
                  <c:v>77.400000000000006</c:v>
                </c:pt>
                <c:pt idx="45">
                  <c:v>79.599999999999994</c:v>
                </c:pt>
                <c:pt idx="46">
                  <c:v>81</c:v>
                </c:pt>
              </c:numCache>
            </c:numRef>
          </c:val>
        </c:ser>
        <c:ser>
          <c:idx val="4"/>
          <c:order val="1"/>
          <c:tx>
            <c:strRef>
              <c:f>Sheet1!$A$18</c:f>
              <c:strCache>
                <c:ptCount val="1"/>
                <c:pt idx="0">
                  <c:v>Developing a meaningful philosophy of life</c:v>
                </c:pt>
              </c:strCache>
            </c:strRef>
          </c:tx>
          <c:spPr>
            <a:ln w="38100"/>
          </c:spPr>
          <c:marker>
            <c:symbol val="triangle"/>
            <c:size val="8"/>
          </c:marker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Sheet1!$B$18:$AV$18</c:f>
              <c:numCache>
                <c:formatCode>General</c:formatCode>
                <c:ptCount val="47"/>
                <c:pt idx="5" formatCode="0.0">
                  <c:v>72.7</c:v>
                </c:pt>
                <c:pt idx="6" formatCode="0.0">
                  <c:v>75</c:v>
                </c:pt>
                <c:pt idx="7" formatCode="0.0">
                  <c:v>72.5</c:v>
                </c:pt>
                <c:pt idx="8" formatCode="0.0">
                  <c:v>65.2</c:v>
                </c:pt>
                <c:pt idx="9" formatCode="0.0">
                  <c:v>68.3</c:v>
                </c:pt>
                <c:pt idx="10" formatCode="0.0">
                  <c:v>65.3</c:v>
                </c:pt>
                <c:pt idx="11" formatCode="0.0">
                  <c:v>63</c:v>
                </c:pt>
                <c:pt idx="12" formatCode="0.0">
                  <c:v>60.3</c:v>
                </c:pt>
                <c:pt idx="13" formatCode="0.0">
                  <c:v>56.4</c:v>
                </c:pt>
                <c:pt idx="14" formatCode="0.0">
                  <c:v>54.2</c:v>
                </c:pt>
                <c:pt idx="15" formatCode="0.0">
                  <c:v>52.8</c:v>
                </c:pt>
                <c:pt idx="16" formatCode="0.0">
                  <c:v>50.6</c:v>
                </c:pt>
                <c:pt idx="17" formatCode="0.0">
                  <c:v>47.9</c:v>
                </c:pt>
                <c:pt idx="18" formatCode="0.0">
                  <c:v>48</c:v>
                </c:pt>
                <c:pt idx="19" formatCode="0.0">
                  <c:v>46.9</c:v>
                </c:pt>
                <c:pt idx="20" formatCode="0.0">
                  <c:v>44</c:v>
                </c:pt>
                <c:pt idx="21" formatCode="0.0">
                  <c:v>43.1</c:v>
                </c:pt>
                <c:pt idx="23" formatCode="0.0">
                  <c:v>43.8</c:v>
                </c:pt>
                <c:pt idx="24" formatCode="0.0">
                  <c:v>45.9</c:v>
                </c:pt>
                <c:pt idx="25" formatCode="0.0">
                  <c:v>47.5</c:v>
                </c:pt>
                <c:pt idx="26" formatCode="0.0">
                  <c:v>48.9</c:v>
                </c:pt>
                <c:pt idx="27" formatCode="0.0">
                  <c:v>47.8</c:v>
                </c:pt>
                <c:pt idx="28" formatCode="0.0">
                  <c:v>46.6</c:v>
                </c:pt>
                <c:pt idx="29" formatCode="0.0">
                  <c:v>45.4</c:v>
                </c:pt>
                <c:pt idx="30" formatCode="0.0">
                  <c:v>44.5</c:v>
                </c:pt>
                <c:pt idx="31" formatCode="0.0">
                  <c:v>44.5</c:v>
                </c:pt>
                <c:pt idx="32" formatCode="0.0">
                  <c:v>44.1</c:v>
                </c:pt>
                <c:pt idx="33" formatCode="0.0">
                  <c:v>43</c:v>
                </c:pt>
                <c:pt idx="34" formatCode="0.0">
                  <c:v>42.4</c:v>
                </c:pt>
                <c:pt idx="35" formatCode="0.0">
                  <c:v>43.1</c:v>
                </c:pt>
                <c:pt idx="36" formatCode="0.0">
                  <c:v>40.6</c:v>
                </c:pt>
                <c:pt idx="37" formatCode="0.0">
                  <c:v>39.300000000000004</c:v>
                </c:pt>
                <c:pt idx="38" formatCode="0.0">
                  <c:v>42.1</c:v>
                </c:pt>
                <c:pt idx="39" formatCode="0.0">
                  <c:v>45</c:v>
                </c:pt>
                <c:pt idx="40" formatCode="0.0">
                  <c:v>46.3</c:v>
                </c:pt>
                <c:pt idx="41" formatCode="0.0">
                  <c:v>49.2</c:v>
                </c:pt>
                <c:pt idx="42" formatCode="0.0">
                  <c:v>51.4</c:v>
                </c:pt>
                <c:pt idx="43" formatCode="0.0">
                  <c:v>48</c:v>
                </c:pt>
                <c:pt idx="44" formatCode="0.0">
                  <c:v>46.9</c:v>
                </c:pt>
                <c:pt idx="45" formatCode="0.0">
                  <c:v>46.8</c:v>
                </c:pt>
                <c:pt idx="46" formatCode="0.0">
                  <c:v>45.6</c:v>
                </c:pt>
              </c:numCache>
            </c:numRef>
          </c:val>
        </c:ser>
        <c:ser>
          <c:idx val="1"/>
          <c:order val="2"/>
          <c:tx>
            <c:strRef>
              <c:f>Sheet1!$A$3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Sheet1!$B$3:$AU$3</c:f>
            </c:numRef>
          </c:val>
        </c:ser>
        <c:ser>
          <c:idx val="3"/>
          <c:order val="3"/>
          <c:tx>
            <c:strRef>
              <c:f>Sheet1!$A$5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Sheet1!$B$5:$AU$5</c:f>
            </c:numRef>
          </c:val>
        </c:ser>
        <c:ser>
          <c:idx val="5"/>
          <c:order val="4"/>
          <c:tx>
            <c:strRef>
              <c:f>Sheet1!$A$7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Sheet1!$B$7:$AU$7</c:f>
            </c:numRef>
          </c:val>
        </c:ser>
        <c:ser>
          <c:idx val="7"/>
          <c:order val="5"/>
          <c:tx>
            <c:strRef>
              <c:f>Sheet1!$A$9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Sheet1!$B$9:$AU$9</c:f>
            </c:numRef>
          </c:val>
        </c:ser>
        <c:ser>
          <c:idx val="9"/>
          <c:order val="6"/>
          <c:tx>
            <c:strRef>
              <c:f>Sheet1!$A$11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Sheet1!$B$11:$AU$11</c:f>
            </c:numRef>
          </c:val>
        </c:ser>
        <c:ser>
          <c:idx val="11"/>
          <c:order val="7"/>
          <c:tx>
            <c:strRef>
              <c:f>Sheet1!$A$13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Sheet1!$B$13:$AU$13</c:f>
            </c:numRef>
          </c:val>
        </c:ser>
        <c:marker val="1"/>
        <c:axId val="113054080"/>
        <c:axId val="113055616"/>
      </c:lineChart>
      <c:catAx>
        <c:axId val="113054080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 b="0"/>
            </a:pPr>
            <a:endParaRPr lang="en-US"/>
          </a:p>
        </c:txPr>
        <c:crossAx val="113055616"/>
        <c:crosses val="autoZero"/>
        <c:auto val="1"/>
        <c:lblAlgn val="ctr"/>
        <c:lblOffset val="100"/>
        <c:tickLblSkip val="2"/>
      </c:catAx>
      <c:valAx>
        <c:axId val="113055616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200" dirty="0"/>
                  <a:t>% of Students</a:t>
                </a:r>
              </a:p>
            </c:rich>
          </c:tx>
          <c:layout/>
        </c:title>
        <c:numFmt formatCode="0" sourceLinked="0"/>
        <c:tickLblPos val="nextTo"/>
        <c:crossAx val="11305408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1959411323584563"/>
          <c:y val="0"/>
          <c:w val="0.17114665354330721"/>
          <c:h val="0.80324166865505464"/>
        </c:manualLayout>
      </c:layout>
      <c:txPr>
        <a:bodyPr/>
        <a:lstStyle/>
        <a:p>
          <a:pPr>
            <a:defRPr sz="1400" b="0"/>
          </a:pPr>
          <a:endParaRPr lang="en-US"/>
        </a:p>
      </c:txPr>
    </c:legend>
    <c:plotVisOnly val="1"/>
    <c:dispBlanksAs val="span"/>
  </c:chart>
  <c:txPr>
    <a:bodyPr/>
    <a:lstStyle/>
    <a:p>
      <a:pPr>
        <a:defRPr sz="1800"/>
      </a:pPr>
      <a:endParaRPr lang="en-US"/>
    </a:p>
  </c:txPr>
  <c:externalData r:id="rId1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plotArea>
      <c:layout>
        <c:manualLayout>
          <c:layoutTarget val="inner"/>
          <c:xMode val="edge"/>
          <c:yMode val="edge"/>
          <c:x val="8.1761958809203006E-2"/>
          <c:y val="3.8149137607799102E-2"/>
          <c:w val="0.71356849925009369"/>
          <c:h val="0.83222491419342093"/>
        </c:manualLayout>
      </c:layout>
      <c:lineChart>
        <c:grouping val="standard"/>
        <c:ser>
          <c:idx val="12"/>
          <c:order val="0"/>
          <c:tx>
            <c:strRef>
              <c:f>Sheet1!$A$14</c:f>
              <c:strCache>
                <c:ptCount val="1"/>
                <c:pt idx="0">
                  <c:v>Being very well off financially</c:v>
                </c:pt>
              </c:strCache>
            </c:strRef>
          </c:tx>
          <c:spPr>
            <a:ln w="38100">
              <a:solidFill>
                <a:schemeClr val="accent1">
                  <a:lumMod val="50000"/>
                </a:schemeClr>
              </a:solidFill>
            </a:ln>
          </c:spPr>
          <c:marker>
            <c:symbol val="circle"/>
            <c:size val="7"/>
            <c:spPr>
              <a:solidFill>
                <a:schemeClr val="accent1">
                  <a:lumMod val="50000"/>
                </a:schemeClr>
              </a:solidFill>
              <a:ln w="22225">
                <a:solidFill>
                  <a:schemeClr val="accent1">
                    <a:lumMod val="50000"/>
                  </a:schemeClr>
                </a:solidFill>
              </a:ln>
            </c:spPr>
          </c:marker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Sheet1!$B$14:$AV$14</c:f>
              <c:numCache>
                <c:formatCode>0.0</c:formatCode>
                <c:ptCount val="47"/>
                <c:pt idx="0">
                  <c:v>42.238420665001243</c:v>
                </c:pt>
                <c:pt idx="1">
                  <c:v>41.937262792084972</c:v>
                </c:pt>
                <c:pt idx="2">
                  <c:v>39.462117219869619</c:v>
                </c:pt>
                <c:pt idx="3">
                  <c:v>42.166652040243555</c:v>
                </c:pt>
                <c:pt idx="4">
                  <c:v>36.231704340718501</c:v>
                </c:pt>
                <c:pt idx="5">
                  <c:v>37.1</c:v>
                </c:pt>
                <c:pt idx="6">
                  <c:v>38.6</c:v>
                </c:pt>
                <c:pt idx="8">
                  <c:v>43.5</c:v>
                </c:pt>
                <c:pt idx="9">
                  <c:v>46.8</c:v>
                </c:pt>
                <c:pt idx="10">
                  <c:v>50.2</c:v>
                </c:pt>
                <c:pt idx="11">
                  <c:v>56.2</c:v>
                </c:pt>
                <c:pt idx="12">
                  <c:v>58.3</c:v>
                </c:pt>
                <c:pt idx="13">
                  <c:v>61.1</c:v>
                </c:pt>
                <c:pt idx="14">
                  <c:v>62.4</c:v>
                </c:pt>
                <c:pt idx="15">
                  <c:v>63.9</c:v>
                </c:pt>
                <c:pt idx="16">
                  <c:v>68</c:v>
                </c:pt>
                <c:pt idx="17">
                  <c:v>68.7</c:v>
                </c:pt>
                <c:pt idx="18">
                  <c:v>70.400000000000006</c:v>
                </c:pt>
                <c:pt idx="19">
                  <c:v>69.2</c:v>
                </c:pt>
                <c:pt idx="20">
                  <c:v>71.900000000000006</c:v>
                </c:pt>
                <c:pt idx="21">
                  <c:v>74.099999999999994</c:v>
                </c:pt>
                <c:pt idx="23">
                  <c:v>73.8</c:v>
                </c:pt>
                <c:pt idx="24">
                  <c:v>72.3</c:v>
                </c:pt>
                <c:pt idx="25">
                  <c:v>72.7</c:v>
                </c:pt>
                <c:pt idx="26">
                  <c:v>71.400000000000006</c:v>
                </c:pt>
                <c:pt idx="27">
                  <c:v>71.900000000000006</c:v>
                </c:pt>
                <c:pt idx="28">
                  <c:v>71.8</c:v>
                </c:pt>
                <c:pt idx="29">
                  <c:v>72.8</c:v>
                </c:pt>
                <c:pt idx="30">
                  <c:v>72.900000000000006</c:v>
                </c:pt>
                <c:pt idx="31">
                  <c:v>73.3</c:v>
                </c:pt>
                <c:pt idx="32">
                  <c:v>72.900000000000006</c:v>
                </c:pt>
                <c:pt idx="33">
                  <c:v>72.099999999999994</c:v>
                </c:pt>
                <c:pt idx="34">
                  <c:v>73.400000000000006</c:v>
                </c:pt>
                <c:pt idx="35">
                  <c:v>73.599999999999994</c:v>
                </c:pt>
                <c:pt idx="36">
                  <c:v>73.2</c:v>
                </c:pt>
                <c:pt idx="37">
                  <c:v>73.8</c:v>
                </c:pt>
                <c:pt idx="38">
                  <c:v>73.599999999999994</c:v>
                </c:pt>
                <c:pt idx="39">
                  <c:v>74.5</c:v>
                </c:pt>
                <c:pt idx="40">
                  <c:v>73.400000000000006</c:v>
                </c:pt>
                <c:pt idx="41">
                  <c:v>74.400000000000006</c:v>
                </c:pt>
                <c:pt idx="42">
                  <c:v>76.8</c:v>
                </c:pt>
                <c:pt idx="43">
                  <c:v>78.099999999999994</c:v>
                </c:pt>
                <c:pt idx="44">
                  <c:v>77.400000000000006</c:v>
                </c:pt>
                <c:pt idx="45">
                  <c:v>79.599999999999994</c:v>
                </c:pt>
                <c:pt idx="46">
                  <c:v>81</c:v>
                </c:pt>
              </c:numCache>
            </c:numRef>
          </c:val>
        </c:ser>
        <c:ser>
          <c:idx val="0"/>
          <c:order val="1"/>
          <c:tx>
            <c:strRef>
              <c:f>Sheet1!$A$38</c:f>
              <c:strCache>
                <c:ptCount val="1"/>
                <c:pt idx="0">
                  <c:v>Raising a family</c:v>
                </c:pt>
              </c:strCache>
            </c:strRef>
          </c:tx>
          <c:spPr>
            <a:ln w="38100">
              <a:solidFill>
                <a:schemeClr val="accent4">
                  <a:lumMod val="60000"/>
                  <a:lumOff val="40000"/>
                </a:schemeClr>
              </a:solidFill>
            </a:ln>
          </c:spPr>
          <c:marker>
            <c:symbol val="diamond"/>
            <c:size val="7"/>
            <c:spPr>
              <a:solidFill>
                <a:schemeClr val="accent4">
                  <a:lumMod val="60000"/>
                  <a:lumOff val="40000"/>
                </a:schemeClr>
              </a:solidFill>
              <a:ln w="25400">
                <a:solidFill>
                  <a:srgbClr val="D092A7">
                    <a:lumMod val="60000"/>
                    <a:lumOff val="40000"/>
                  </a:srgbClr>
                </a:solidFill>
              </a:ln>
            </c:spPr>
          </c:marker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Sheet1!$B$38:$AV$38</c:f>
              <c:numCache>
                <c:formatCode>General</c:formatCode>
                <c:ptCount val="47"/>
                <c:pt idx="3" formatCode="0.0">
                  <c:v>71.511111807607463</c:v>
                </c:pt>
                <c:pt idx="4" formatCode="0.0">
                  <c:v>67.003564212816656</c:v>
                </c:pt>
                <c:pt idx="5" formatCode="0.0">
                  <c:v>59.8</c:v>
                </c:pt>
                <c:pt idx="6" formatCode="0.0">
                  <c:v>64.5</c:v>
                </c:pt>
                <c:pt idx="7" formatCode="0.0">
                  <c:v>54.8</c:v>
                </c:pt>
                <c:pt idx="8" formatCode="0.0">
                  <c:v>54.3</c:v>
                </c:pt>
                <c:pt idx="9" formatCode="0.0">
                  <c:v>56</c:v>
                </c:pt>
                <c:pt idx="10" formatCode="0.0">
                  <c:v>57.2</c:v>
                </c:pt>
                <c:pt idx="11" formatCode="0.0">
                  <c:v>58.8</c:v>
                </c:pt>
                <c:pt idx="12" formatCode="0.0">
                  <c:v>62.3</c:v>
                </c:pt>
                <c:pt idx="13" formatCode="0.0">
                  <c:v>65.400000000000006</c:v>
                </c:pt>
                <c:pt idx="14" formatCode="0.0">
                  <c:v>64.099999999999994</c:v>
                </c:pt>
                <c:pt idx="15" formatCode="0.0">
                  <c:v>67.599999999999994</c:v>
                </c:pt>
                <c:pt idx="16" formatCode="0.0">
                  <c:v>68.099999999999994</c:v>
                </c:pt>
                <c:pt idx="17" formatCode="0.0">
                  <c:v>67.5</c:v>
                </c:pt>
                <c:pt idx="18" formatCode="0.0">
                  <c:v>69.8</c:v>
                </c:pt>
                <c:pt idx="19" formatCode="0.0">
                  <c:v>70.599999999999994</c:v>
                </c:pt>
                <c:pt idx="20" formatCode="0.0">
                  <c:v>68.3</c:v>
                </c:pt>
                <c:pt idx="23" formatCode="0.0">
                  <c:v>69.8</c:v>
                </c:pt>
                <c:pt idx="24" formatCode="0.0">
                  <c:v>70.2</c:v>
                </c:pt>
                <c:pt idx="25" formatCode="0.0">
                  <c:v>69.900000000000006</c:v>
                </c:pt>
                <c:pt idx="26" formatCode="0.0">
                  <c:v>71.8</c:v>
                </c:pt>
                <c:pt idx="27" formatCode="0.0">
                  <c:v>71.7</c:v>
                </c:pt>
                <c:pt idx="28" formatCode="0.0">
                  <c:v>72.3</c:v>
                </c:pt>
                <c:pt idx="29" formatCode="0.0">
                  <c:v>72.5</c:v>
                </c:pt>
                <c:pt idx="30" formatCode="0.0">
                  <c:v>73.3</c:v>
                </c:pt>
                <c:pt idx="31" formatCode="0.0">
                  <c:v>74.599999999999994</c:v>
                </c:pt>
                <c:pt idx="32" formatCode="0.0">
                  <c:v>74.3</c:v>
                </c:pt>
                <c:pt idx="33" formatCode="0.0">
                  <c:v>73.599999999999994</c:v>
                </c:pt>
                <c:pt idx="34" formatCode="0.0">
                  <c:v>73.099999999999994</c:v>
                </c:pt>
                <c:pt idx="35" formatCode="0.0">
                  <c:v>72.3</c:v>
                </c:pt>
                <c:pt idx="36" formatCode="0.0">
                  <c:v>73.599999999999994</c:v>
                </c:pt>
                <c:pt idx="37" formatCode="0.0">
                  <c:v>74.8</c:v>
                </c:pt>
                <c:pt idx="38" formatCode="0.0">
                  <c:v>75.099999999999994</c:v>
                </c:pt>
                <c:pt idx="39" formatCode="0.0">
                  <c:v>75.900000000000006</c:v>
                </c:pt>
                <c:pt idx="40" formatCode="0.0">
                  <c:v>75.5</c:v>
                </c:pt>
                <c:pt idx="41" formatCode="0.0">
                  <c:v>76.7</c:v>
                </c:pt>
                <c:pt idx="42" formatCode="0.0">
                  <c:v>75.5</c:v>
                </c:pt>
                <c:pt idx="43" formatCode="0.0">
                  <c:v>74.7</c:v>
                </c:pt>
                <c:pt idx="44" formatCode="0.0">
                  <c:v>73.400000000000006</c:v>
                </c:pt>
                <c:pt idx="45" formatCode="0.0">
                  <c:v>72.900000000000006</c:v>
                </c:pt>
                <c:pt idx="46" formatCode="0.0">
                  <c:v>73.599999999999994</c:v>
                </c:pt>
              </c:numCache>
            </c:numRef>
          </c:val>
        </c:ser>
        <c:ser>
          <c:idx val="4"/>
          <c:order val="2"/>
          <c:tx>
            <c:strRef>
              <c:f>Sheet1!$A$18</c:f>
              <c:strCache>
                <c:ptCount val="1"/>
                <c:pt idx="0">
                  <c:v>Developing a meaningful philosophy of life</c:v>
                </c:pt>
              </c:strCache>
            </c:strRef>
          </c:tx>
          <c:spPr>
            <a:ln w="38100"/>
          </c:spPr>
          <c:marker>
            <c:symbol val="triangle"/>
            <c:size val="8"/>
          </c:marker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Sheet1!$B$18:$AV$18</c:f>
              <c:numCache>
                <c:formatCode>General</c:formatCode>
                <c:ptCount val="47"/>
                <c:pt idx="5" formatCode="0.0">
                  <c:v>72.7</c:v>
                </c:pt>
                <c:pt idx="6" formatCode="0.0">
                  <c:v>75</c:v>
                </c:pt>
                <c:pt idx="7" formatCode="0.0">
                  <c:v>72.5</c:v>
                </c:pt>
                <c:pt idx="8" formatCode="0.0">
                  <c:v>65.2</c:v>
                </c:pt>
                <c:pt idx="9" formatCode="0.0">
                  <c:v>68.3</c:v>
                </c:pt>
                <c:pt idx="10" formatCode="0.0">
                  <c:v>65.3</c:v>
                </c:pt>
                <c:pt idx="11" formatCode="0.0">
                  <c:v>63</c:v>
                </c:pt>
                <c:pt idx="12" formatCode="0.0">
                  <c:v>60.3</c:v>
                </c:pt>
                <c:pt idx="13" formatCode="0.0">
                  <c:v>56.4</c:v>
                </c:pt>
                <c:pt idx="14" formatCode="0.0">
                  <c:v>54.2</c:v>
                </c:pt>
                <c:pt idx="15" formatCode="0.0">
                  <c:v>52.8</c:v>
                </c:pt>
                <c:pt idx="16" formatCode="0.0">
                  <c:v>50.6</c:v>
                </c:pt>
                <c:pt idx="17" formatCode="0.0">
                  <c:v>47.9</c:v>
                </c:pt>
                <c:pt idx="18" formatCode="0.0">
                  <c:v>48</c:v>
                </c:pt>
                <c:pt idx="19" formatCode="0.0">
                  <c:v>46.9</c:v>
                </c:pt>
                <c:pt idx="20" formatCode="0.0">
                  <c:v>44</c:v>
                </c:pt>
                <c:pt idx="21" formatCode="0.0">
                  <c:v>43.1</c:v>
                </c:pt>
                <c:pt idx="23" formatCode="0.0">
                  <c:v>43.8</c:v>
                </c:pt>
                <c:pt idx="24" formatCode="0.0">
                  <c:v>45.9</c:v>
                </c:pt>
                <c:pt idx="25" formatCode="0.0">
                  <c:v>47.5</c:v>
                </c:pt>
                <c:pt idx="26" formatCode="0.0">
                  <c:v>48.9</c:v>
                </c:pt>
                <c:pt idx="27" formatCode="0.0">
                  <c:v>47.8</c:v>
                </c:pt>
                <c:pt idx="28" formatCode="0.0">
                  <c:v>46.6</c:v>
                </c:pt>
                <c:pt idx="29" formatCode="0.0">
                  <c:v>45.4</c:v>
                </c:pt>
                <c:pt idx="30" formatCode="0.0">
                  <c:v>44.5</c:v>
                </c:pt>
                <c:pt idx="31" formatCode="0.0">
                  <c:v>44.5</c:v>
                </c:pt>
                <c:pt idx="32" formatCode="0.0">
                  <c:v>44.1</c:v>
                </c:pt>
                <c:pt idx="33" formatCode="0.0">
                  <c:v>43</c:v>
                </c:pt>
                <c:pt idx="34" formatCode="0.0">
                  <c:v>42.4</c:v>
                </c:pt>
                <c:pt idx="35" formatCode="0.0">
                  <c:v>43.1</c:v>
                </c:pt>
                <c:pt idx="36" formatCode="0.0">
                  <c:v>40.6</c:v>
                </c:pt>
                <c:pt idx="37" formatCode="0.0">
                  <c:v>39.300000000000004</c:v>
                </c:pt>
                <c:pt idx="38" formatCode="0.0">
                  <c:v>42.1</c:v>
                </c:pt>
                <c:pt idx="39" formatCode="0.0">
                  <c:v>45</c:v>
                </c:pt>
                <c:pt idx="40" formatCode="0.0">
                  <c:v>46.3</c:v>
                </c:pt>
                <c:pt idx="41" formatCode="0.0">
                  <c:v>49.2</c:v>
                </c:pt>
                <c:pt idx="42" formatCode="0.0">
                  <c:v>51.4</c:v>
                </c:pt>
                <c:pt idx="43" formatCode="0.0">
                  <c:v>48</c:v>
                </c:pt>
                <c:pt idx="44" formatCode="0.0">
                  <c:v>46.9</c:v>
                </c:pt>
                <c:pt idx="45" formatCode="0.0">
                  <c:v>46.8</c:v>
                </c:pt>
                <c:pt idx="46" formatCode="0.0">
                  <c:v>45.6</c:v>
                </c:pt>
              </c:numCache>
            </c:numRef>
          </c:val>
        </c:ser>
        <c:ser>
          <c:idx val="1"/>
          <c:order val="3"/>
          <c:tx>
            <c:strRef>
              <c:f>Sheet1!$A$3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Sheet1!$B$3:$AU$3</c:f>
            </c:numRef>
          </c:val>
        </c:ser>
        <c:ser>
          <c:idx val="3"/>
          <c:order val="4"/>
          <c:tx>
            <c:strRef>
              <c:f>Sheet1!$A$5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Sheet1!$B$5:$AU$5</c:f>
            </c:numRef>
          </c:val>
        </c:ser>
        <c:ser>
          <c:idx val="5"/>
          <c:order val="5"/>
          <c:tx>
            <c:strRef>
              <c:f>Sheet1!$A$7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Sheet1!$B$7:$AU$7</c:f>
            </c:numRef>
          </c:val>
        </c:ser>
        <c:ser>
          <c:idx val="7"/>
          <c:order val="6"/>
          <c:tx>
            <c:strRef>
              <c:f>Sheet1!$A$9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Sheet1!$B$9:$AU$9</c:f>
            </c:numRef>
          </c:val>
        </c:ser>
        <c:ser>
          <c:idx val="9"/>
          <c:order val="7"/>
          <c:tx>
            <c:strRef>
              <c:f>Sheet1!$A$11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Sheet1!$B$11:$AU$11</c:f>
            </c:numRef>
          </c:val>
        </c:ser>
        <c:ser>
          <c:idx val="11"/>
          <c:order val="8"/>
          <c:tx>
            <c:strRef>
              <c:f>Sheet1!$A$13</c:f>
              <c:strCache>
                <c:ptCount val="1"/>
                <c:pt idx="0">
                  <c:v>Somewhat/Not Important</c:v>
                </c:pt>
              </c:strCache>
            </c:strRef>
          </c:tx>
          <c:cat>
            <c:strRef>
              <c:f>Sheet1!$B$1:$AV$1</c:f>
              <c:strCache>
                <c:ptCount val="47"/>
                <c:pt idx="0">
                  <c:v>1966</c:v>
                </c:pt>
                <c:pt idx="1">
                  <c:v>1967</c:v>
                </c:pt>
                <c:pt idx="2">
                  <c:v>1968</c:v>
                </c:pt>
                <c:pt idx="3">
                  <c:v>1969</c:v>
                </c:pt>
                <c:pt idx="4">
                  <c:v>1970</c:v>
                </c:pt>
                <c:pt idx="5">
                  <c:v>1971</c:v>
                </c:pt>
                <c:pt idx="6">
                  <c:v>1972</c:v>
                </c:pt>
                <c:pt idx="7">
                  <c:v>1973</c:v>
                </c:pt>
                <c:pt idx="8">
                  <c:v>1974</c:v>
                </c:pt>
                <c:pt idx="9">
                  <c:v>1975</c:v>
                </c:pt>
                <c:pt idx="10">
                  <c:v>1976</c:v>
                </c:pt>
                <c:pt idx="11">
                  <c:v>1977</c:v>
                </c:pt>
                <c:pt idx="12">
                  <c:v>1978</c:v>
                </c:pt>
                <c:pt idx="13">
                  <c:v>1979</c:v>
                </c:pt>
                <c:pt idx="14">
                  <c:v>1980</c:v>
                </c:pt>
                <c:pt idx="15">
                  <c:v>1981</c:v>
                </c:pt>
                <c:pt idx="16">
                  <c:v>1982</c:v>
                </c:pt>
                <c:pt idx="17">
                  <c:v>1983</c:v>
                </c:pt>
                <c:pt idx="18">
                  <c:v>1984</c:v>
                </c:pt>
                <c:pt idx="19">
                  <c:v>1985</c:v>
                </c:pt>
                <c:pt idx="20">
                  <c:v>1986</c:v>
                </c:pt>
                <c:pt idx="21">
                  <c:v>1987</c:v>
                </c:pt>
                <c:pt idx="22">
                  <c:v>1988</c:v>
                </c:pt>
                <c:pt idx="23">
                  <c:v>1989</c:v>
                </c:pt>
                <c:pt idx="24">
                  <c:v>1990</c:v>
                </c:pt>
                <c:pt idx="25">
                  <c:v>1991</c:v>
                </c:pt>
                <c:pt idx="26">
                  <c:v>1992</c:v>
                </c:pt>
                <c:pt idx="27">
                  <c:v>1993</c:v>
                </c:pt>
                <c:pt idx="28">
                  <c:v>1994</c:v>
                </c:pt>
                <c:pt idx="29">
                  <c:v>1995</c:v>
                </c:pt>
                <c:pt idx="30">
                  <c:v>1996</c:v>
                </c:pt>
                <c:pt idx="31">
                  <c:v>1997</c:v>
                </c:pt>
                <c:pt idx="32">
                  <c:v>1998</c:v>
                </c:pt>
                <c:pt idx="33">
                  <c:v>1999</c:v>
                </c:pt>
                <c:pt idx="34">
                  <c:v>2000</c:v>
                </c:pt>
                <c:pt idx="35">
                  <c:v>2001</c:v>
                </c:pt>
                <c:pt idx="36">
                  <c:v>2002</c:v>
                </c:pt>
                <c:pt idx="37">
                  <c:v>2003</c:v>
                </c:pt>
                <c:pt idx="38">
                  <c:v>2004</c:v>
                </c:pt>
                <c:pt idx="39">
                  <c:v>2005</c:v>
                </c:pt>
                <c:pt idx="40">
                  <c:v>2006</c:v>
                </c:pt>
                <c:pt idx="41">
                  <c:v>2007</c:v>
                </c:pt>
                <c:pt idx="42">
                  <c:v>2008</c:v>
                </c:pt>
                <c:pt idx="43">
                  <c:v>2009</c:v>
                </c:pt>
                <c:pt idx="44">
                  <c:v>2010</c:v>
                </c:pt>
                <c:pt idx="45">
                  <c:v>2011</c:v>
                </c:pt>
                <c:pt idx="46">
                  <c:v>2012</c:v>
                </c:pt>
              </c:strCache>
            </c:strRef>
          </c:cat>
          <c:val>
            <c:numRef>
              <c:f>Sheet1!$B$13:$AU$13</c:f>
            </c:numRef>
          </c:val>
        </c:ser>
        <c:marker val="1"/>
        <c:axId val="113513984"/>
        <c:axId val="113515520"/>
      </c:lineChart>
      <c:catAx>
        <c:axId val="113513984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 b="0"/>
            </a:pPr>
            <a:endParaRPr lang="en-US"/>
          </a:p>
        </c:txPr>
        <c:crossAx val="113515520"/>
        <c:crosses val="autoZero"/>
        <c:auto val="1"/>
        <c:lblAlgn val="ctr"/>
        <c:lblOffset val="100"/>
        <c:tickLblSkip val="2"/>
      </c:catAx>
      <c:valAx>
        <c:axId val="113515520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sz="1200" dirty="0"/>
                  <a:t>% of Students</a:t>
                </a:r>
              </a:p>
            </c:rich>
          </c:tx>
          <c:layout/>
        </c:title>
        <c:numFmt formatCode="0" sourceLinked="0"/>
        <c:tickLblPos val="nextTo"/>
        <c:crossAx val="1135139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81369439992567305"/>
          <c:y val="7.5757575757575774E-2"/>
          <c:w val="0.17114665354330721"/>
          <c:h val="0.66687803229141907"/>
        </c:manualLayout>
      </c:layout>
      <c:txPr>
        <a:bodyPr/>
        <a:lstStyle/>
        <a:p>
          <a:pPr>
            <a:defRPr sz="1400" b="0"/>
          </a:pPr>
          <a:endParaRPr lang="en-US"/>
        </a:p>
      </c:txPr>
    </c:legend>
    <c:plotVisOnly val="1"/>
    <c:dispBlanksAs val="span"/>
  </c:chart>
  <c:txPr>
    <a:bodyPr/>
    <a:lstStyle/>
    <a:p>
      <a:pPr>
        <a:defRPr sz="1800"/>
      </a:pPr>
      <a:endParaRPr lang="en-US"/>
    </a:p>
  </c:txPr>
  <c:externalData r:id="rId1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8.6599030890369563E-2"/>
          <c:y val="4.3607954545454547E-2"/>
          <c:w val="0.88466762568140567"/>
          <c:h val="0.84121896648164896"/>
        </c:manualLayout>
      </c:layout>
      <c:lineChart>
        <c:grouping val="standard"/>
        <c:ser>
          <c:idx val="2"/>
          <c:order val="0"/>
          <c:tx>
            <c:strRef>
              <c:f>Sheet1!$A$2</c:f>
              <c:strCache>
                <c:ptCount val="1"/>
                <c:pt idx="0">
                  <c:v>I was offered financial assistance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Sheet1!$B$1:$AP$1</c:f>
              <c:strCache>
                <c:ptCount val="41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  <c:pt idx="4">
                  <c:v>1976</c:v>
                </c:pt>
                <c:pt idx="5">
                  <c:v>1977</c:v>
                </c:pt>
                <c:pt idx="6">
                  <c:v>1978</c:v>
                </c:pt>
                <c:pt idx="7">
                  <c:v>1979</c:v>
                </c:pt>
                <c:pt idx="8">
                  <c:v>1980</c:v>
                </c:pt>
                <c:pt idx="9">
                  <c:v>1981</c:v>
                </c:pt>
                <c:pt idx="10">
                  <c:v>1982</c:v>
                </c:pt>
                <c:pt idx="11">
                  <c:v>1983</c:v>
                </c:pt>
                <c:pt idx="12">
                  <c:v>1984</c:v>
                </c:pt>
                <c:pt idx="13">
                  <c:v>1985</c:v>
                </c:pt>
                <c:pt idx="14">
                  <c:v>1986</c:v>
                </c:pt>
                <c:pt idx="15">
                  <c:v>1987</c:v>
                </c:pt>
                <c:pt idx="16">
                  <c:v>1988</c:v>
                </c:pt>
                <c:pt idx="17">
                  <c:v>1989</c:v>
                </c:pt>
                <c:pt idx="18">
                  <c:v>1990</c:v>
                </c:pt>
                <c:pt idx="19">
                  <c:v>1991</c:v>
                </c:pt>
                <c:pt idx="20">
                  <c:v>1992</c:v>
                </c:pt>
                <c:pt idx="21">
                  <c:v>1993</c:v>
                </c:pt>
                <c:pt idx="22">
                  <c:v>1994</c:v>
                </c:pt>
                <c:pt idx="23">
                  <c:v>1995</c:v>
                </c:pt>
                <c:pt idx="24">
                  <c:v>1996</c:v>
                </c:pt>
                <c:pt idx="25">
                  <c:v>1997</c:v>
                </c:pt>
                <c:pt idx="26">
                  <c:v>1998</c:v>
                </c:pt>
                <c:pt idx="27">
                  <c:v>1999</c:v>
                </c:pt>
                <c:pt idx="28">
                  <c:v>2000</c:v>
                </c:pt>
                <c:pt idx="29">
                  <c:v>2001</c:v>
                </c:pt>
                <c:pt idx="30">
                  <c:v>2002</c:v>
                </c:pt>
                <c:pt idx="31">
                  <c:v>2003</c:v>
                </c:pt>
                <c:pt idx="32">
                  <c:v>2004</c:v>
                </c:pt>
                <c:pt idx="33">
                  <c:v>2005</c:v>
                </c:pt>
                <c:pt idx="34">
                  <c:v>2006</c:v>
                </c:pt>
                <c:pt idx="35">
                  <c:v>2007</c:v>
                </c:pt>
                <c:pt idx="36">
                  <c:v>2008</c:v>
                </c:pt>
                <c:pt idx="37">
                  <c:v>2009</c:v>
                </c:pt>
                <c:pt idx="38">
                  <c:v>2010</c:v>
                </c:pt>
                <c:pt idx="39">
                  <c:v>2011</c:v>
                </c:pt>
                <c:pt idx="40">
                  <c:v>2012</c:v>
                </c:pt>
              </c:strCache>
            </c:strRef>
          </c:cat>
          <c:val>
            <c:numRef>
              <c:f>Sheet1!$B$2:$AP$2</c:f>
              <c:numCache>
                <c:formatCode>0.0</c:formatCode>
                <c:ptCount val="41"/>
                <c:pt idx="0">
                  <c:v>19.399999999999999</c:v>
                </c:pt>
                <c:pt idx="1">
                  <c:v>18.8</c:v>
                </c:pt>
                <c:pt idx="2">
                  <c:v>20.5</c:v>
                </c:pt>
                <c:pt idx="3">
                  <c:v>19.5</c:v>
                </c:pt>
                <c:pt idx="4">
                  <c:v>16.5</c:v>
                </c:pt>
                <c:pt idx="5">
                  <c:v>17.7</c:v>
                </c:pt>
                <c:pt idx="6">
                  <c:v>16.600000000000001</c:v>
                </c:pt>
                <c:pt idx="7">
                  <c:v>17.7</c:v>
                </c:pt>
                <c:pt idx="8">
                  <c:v>18.3</c:v>
                </c:pt>
                <c:pt idx="9">
                  <c:v>16.899999999999999</c:v>
                </c:pt>
                <c:pt idx="10">
                  <c:v>19.2</c:v>
                </c:pt>
                <c:pt idx="11">
                  <c:v>23.7</c:v>
                </c:pt>
                <c:pt idx="12">
                  <c:v>22.4</c:v>
                </c:pt>
                <c:pt idx="13">
                  <c:v>23.2</c:v>
                </c:pt>
                <c:pt idx="14">
                  <c:v>23.6</c:v>
                </c:pt>
                <c:pt idx="15">
                  <c:v>22.6</c:v>
                </c:pt>
                <c:pt idx="16">
                  <c:v>23.5</c:v>
                </c:pt>
                <c:pt idx="17">
                  <c:v>25.1</c:v>
                </c:pt>
                <c:pt idx="18">
                  <c:v>26.4</c:v>
                </c:pt>
                <c:pt idx="19">
                  <c:v>30.2</c:v>
                </c:pt>
                <c:pt idx="20">
                  <c:v>31</c:v>
                </c:pt>
                <c:pt idx="21">
                  <c:v>33.4</c:v>
                </c:pt>
                <c:pt idx="22">
                  <c:v>31.7</c:v>
                </c:pt>
                <c:pt idx="23">
                  <c:v>33.5</c:v>
                </c:pt>
                <c:pt idx="24">
                  <c:v>35.9</c:v>
                </c:pt>
                <c:pt idx="25">
                  <c:v>35.9</c:v>
                </c:pt>
                <c:pt idx="26">
                  <c:v>34.4</c:v>
                </c:pt>
                <c:pt idx="27">
                  <c:v>33.1</c:v>
                </c:pt>
                <c:pt idx="28">
                  <c:v>32</c:v>
                </c:pt>
                <c:pt idx="29">
                  <c:v>33.200000000000003</c:v>
                </c:pt>
                <c:pt idx="30">
                  <c:v>34.1</c:v>
                </c:pt>
                <c:pt idx="31">
                  <c:v>33.6</c:v>
                </c:pt>
                <c:pt idx="32">
                  <c:v>33.700000000000003</c:v>
                </c:pt>
                <c:pt idx="33">
                  <c:v>35.4</c:v>
                </c:pt>
                <c:pt idx="34">
                  <c:v>34.300000000000004</c:v>
                </c:pt>
                <c:pt idx="35">
                  <c:v>39.4</c:v>
                </c:pt>
                <c:pt idx="36">
                  <c:v>43</c:v>
                </c:pt>
                <c:pt idx="37">
                  <c:v>44.7</c:v>
                </c:pt>
                <c:pt idx="38">
                  <c:v>45.5</c:v>
                </c:pt>
                <c:pt idx="39">
                  <c:v>44</c:v>
                </c:pt>
                <c:pt idx="40">
                  <c:v>45.6</c:v>
                </c:pt>
              </c:numCache>
            </c:numRef>
          </c:val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The cost of attending this college</c:v>
                </c:pt>
              </c:strCache>
            </c:strRef>
          </c:tx>
          <c:spPr>
            <a:ln w="38100"/>
          </c:spPr>
          <c:marker>
            <c:symbol val="x"/>
            <c:size val="9"/>
            <c:spPr>
              <a:solidFill>
                <a:schemeClr val="accent6">
                  <a:lumMod val="60000"/>
                  <a:lumOff val="40000"/>
                </a:schemeClr>
              </a:solidFill>
              <a:ln w="25400"/>
            </c:spPr>
          </c:marker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Sheet1!$B$1:$AP$1</c:f>
              <c:strCache>
                <c:ptCount val="41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  <c:pt idx="4">
                  <c:v>1976</c:v>
                </c:pt>
                <c:pt idx="5">
                  <c:v>1977</c:v>
                </c:pt>
                <c:pt idx="6">
                  <c:v>1978</c:v>
                </c:pt>
                <c:pt idx="7">
                  <c:v>1979</c:v>
                </c:pt>
                <c:pt idx="8">
                  <c:v>1980</c:v>
                </c:pt>
                <c:pt idx="9">
                  <c:v>1981</c:v>
                </c:pt>
                <c:pt idx="10">
                  <c:v>1982</c:v>
                </c:pt>
                <c:pt idx="11">
                  <c:v>1983</c:v>
                </c:pt>
                <c:pt idx="12">
                  <c:v>1984</c:v>
                </c:pt>
                <c:pt idx="13">
                  <c:v>1985</c:v>
                </c:pt>
                <c:pt idx="14">
                  <c:v>1986</c:v>
                </c:pt>
                <c:pt idx="15">
                  <c:v>1987</c:v>
                </c:pt>
                <c:pt idx="16">
                  <c:v>1988</c:v>
                </c:pt>
                <c:pt idx="17">
                  <c:v>1989</c:v>
                </c:pt>
                <c:pt idx="18">
                  <c:v>1990</c:v>
                </c:pt>
                <c:pt idx="19">
                  <c:v>1991</c:v>
                </c:pt>
                <c:pt idx="20">
                  <c:v>1992</c:v>
                </c:pt>
                <c:pt idx="21">
                  <c:v>1993</c:v>
                </c:pt>
                <c:pt idx="22">
                  <c:v>1994</c:v>
                </c:pt>
                <c:pt idx="23">
                  <c:v>1995</c:v>
                </c:pt>
                <c:pt idx="24">
                  <c:v>1996</c:v>
                </c:pt>
                <c:pt idx="25">
                  <c:v>1997</c:v>
                </c:pt>
                <c:pt idx="26">
                  <c:v>1998</c:v>
                </c:pt>
                <c:pt idx="27">
                  <c:v>1999</c:v>
                </c:pt>
                <c:pt idx="28">
                  <c:v>2000</c:v>
                </c:pt>
                <c:pt idx="29">
                  <c:v>2001</c:v>
                </c:pt>
                <c:pt idx="30">
                  <c:v>2002</c:v>
                </c:pt>
                <c:pt idx="31">
                  <c:v>2003</c:v>
                </c:pt>
                <c:pt idx="32">
                  <c:v>2004</c:v>
                </c:pt>
                <c:pt idx="33">
                  <c:v>2005</c:v>
                </c:pt>
                <c:pt idx="34">
                  <c:v>2006</c:v>
                </c:pt>
                <c:pt idx="35">
                  <c:v>2007</c:v>
                </c:pt>
                <c:pt idx="36">
                  <c:v>2008</c:v>
                </c:pt>
                <c:pt idx="37">
                  <c:v>2009</c:v>
                </c:pt>
                <c:pt idx="38">
                  <c:v>2010</c:v>
                </c:pt>
                <c:pt idx="39">
                  <c:v>2011</c:v>
                </c:pt>
                <c:pt idx="40">
                  <c:v>2012</c:v>
                </c:pt>
              </c:strCache>
            </c:strRef>
          </c:cat>
          <c:val>
            <c:numRef>
              <c:f>Sheet1!$B$3:$AP$3</c:f>
              <c:numCache>
                <c:formatCode>General</c:formatCode>
                <c:ptCount val="41"/>
                <c:pt idx="32" formatCode="0.0">
                  <c:v>31</c:v>
                </c:pt>
                <c:pt idx="33" formatCode="0.0">
                  <c:v>32.4</c:v>
                </c:pt>
                <c:pt idx="34" formatCode="0.0">
                  <c:v>32.200000000000003</c:v>
                </c:pt>
                <c:pt idx="35" formatCode="0.0">
                  <c:v>36.800000000000004</c:v>
                </c:pt>
                <c:pt idx="36" formatCode="0.0">
                  <c:v>39.9</c:v>
                </c:pt>
                <c:pt idx="37" formatCode="0.0">
                  <c:v>41.6</c:v>
                </c:pt>
                <c:pt idx="38" formatCode="0.0">
                  <c:v>41</c:v>
                </c:pt>
                <c:pt idx="39" formatCode="0.0">
                  <c:v>40.6</c:v>
                </c:pt>
                <c:pt idx="40" formatCode="0.0">
                  <c:v>43.3</c:v>
                </c:pt>
              </c:numCache>
            </c:numRef>
          </c:val>
        </c:ser>
        <c:ser>
          <c:idx val="0"/>
          <c:order val="2"/>
          <c:tx>
            <c:strRef>
              <c:f>Sheet1!$A$4</c:f>
              <c:strCache>
                <c:ptCount val="1"/>
                <c:pt idx="0">
                  <c:v>Could not afford first choice</c:v>
                </c:pt>
              </c:strCache>
            </c:strRef>
          </c:tx>
          <c:spPr>
            <a:ln w="38100"/>
          </c:spPr>
          <c:marker>
            <c:symbol val="circle"/>
            <c:size val="9"/>
            <c:spPr>
              <a:ln w="25400"/>
            </c:spPr>
          </c:marker>
          <c:cat>
            <c:strRef>
              <c:f>Sheet1!$B$1:$AP$1</c:f>
              <c:strCache>
                <c:ptCount val="41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  <c:pt idx="4">
                  <c:v>1976</c:v>
                </c:pt>
                <c:pt idx="5">
                  <c:v>1977</c:v>
                </c:pt>
                <c:pt idx="6">
                  <c:v>1978</c:v>
                </c:pt>
                <c:pt idx="7">
                  <c:v>1979</c:v>
                </c:pt>
                <c:pt idx="8">
                  <c:v>1980</c:v>
                </c:pt>
                <c:pt idx="9">
                  <c:v>1981</c:v>
                </c:pt>
                <c:pt idx="10">
                  <c:v>1982</c:v>
                </c:pt>
                <c:pt idx="11">
                  <c:v>1983</c:v>
                </c:pt>
                <c:pt idx="12">
                  <c:v>1984</c:v>
                </c:pt>
                <c:pt idx="13">
                  <c:v>1985</c:v>
                </c:pt>
                <c:pt idx="14">
                  <c:v>1986</c:v>
                </c:pt>
                <c:pt idx="15">
                  <c:v>1987</c:v>
                </c:pt>
                <c:pt idx="16">
                  <c:v>1988</c:v>
                </c:pt>
                <c:pt idx="17">
                  <c:v>1989</c:v>
                </c:pt>
                <c:pt idx="18">
                  <c:v>1990</c:v>
                </c:pt>
                <c:pt idx="19">
                  <c:v>1991</c:v>
                </c:pt>
                <c:pt idx="20">
                  <c:v>1992</c:v>
                </c:pt>
                <c:pt idx="21">
                  <c:v>1993</c:v>
                </c:pt>
                <c:pt idx="22">
                  <c:v>1994</c:v>
                </c:pt>
                <c:pt idx="23">
                  <c:v>1995</c:v>
                </c:pt>
                <c:pt idx="24">
                  <c:v>1996</c:v>
                </c:pt>
                <c:pt idx="25">
                  <c:v>1997</c:v>
                </c:pt>
                <c:pt idx="26">
                  <c:v>1998</c:v>
                </c:pt>
                <c:pt idx="27">
                  <c:v>1999</c:v>
                </c:pt>
                <c:pt idx="28">
                  <c:v>2000</c:v>
                </c:pt>
                <c:pt idx="29">
                  <c:v>2001</c:v>
                </c:pt>
                <c:pt idx="30">
                  <c:v>2002</c:v>
                </c:pt>
                <c:pt idx="31">
                  <c:v>2003</c:v>
                </c:pt>
                <c:pt idx="32">
                  <c:v>2004</c:v>
                </c:pt>
                <c:pt idx="33">
                  <c:v>2005</c:v>
                </c:pt>
                <c:pt idx="34">
                  <c:v>2006</c:v>
                </c:pt>
                <c:pt idx="35">
                  <c:v>2007</c:v>
                </c:pt>
                <c:pt idx="36">
                  <c:v>2008</c:v>
                </c:pt>
                <c:pt idx="37">
                  <c:v>2009</c:v>
                </c:pt>
                <c:pt idx="38">
                  <c:v>2010</c:v>
                </c:pt>
                <c:pt idx="39">
                  <c:v>2011</c:v>
                </c:pt>
                <c:pt idx="40">
                  <c:v>2012</c:v>
                </c:pt>
              </c:strCache>
            </c:strRef>
          </c:cat>
          <c:val>
            <c:numRef>
              <c:f>Sheet1!$B$4:$AP$4</c:f>
              <c:numCache>
                <c:formatCode>General</c:formatCode>
                <c:ptCount val="41"/>
                <c:pt idx="34" formatCode="0.0">
                  <c:v>9.4</c:v>
                </c:pt>
                <c:pt idx="35" formatCode="0.0">
                  <c:v>9.7000000000000011</c:v>
                </c:pt>
                <c:pt idx="36" formatCode="0.0">
                  <c:v>11.2</c:v>
                </c:pt>
                <c:pt idx="37" formatCode="0.0">
                  <c:v>12.2</c:v>
                </c:pt>
                <c:pt idx="38" formatCode="0.0">
                  <c:v>12.2</c:v>
                </c:pt>
                <c:pt idx="39" formatCode="0.0">
                  <c:v>12.6</c:v>
                </c:pt>
                <c:pt idx="40" formatCode="0.0">
                  <c:v>13.4</c:v>
                </c:pt>
              </c:numCache>
            </c:numRef>
          </c:val>
        </c:ser>
        <c:ser>
          <c:idx val="4"/>
          <c:order val="3"/>
          <c:tx>
            <c:strRef>
              <c:f>Sheet1!$A$5</c:f>
              <c:strCache>
                <c:ptCount val="1"/>
                <c:pt idx="0">
                  <c:v>Not offered aid by first choice</c:v>
                </c:pt>
              </c:strCache>
            </c:strRef>
          </c:tx>
          <c:spPr>
            <a:ln w="38100"/>
          </c:spPr>
          <c:marker>
            <c:symbol val="diamond"/>
            <c:size val="9"/>
            <c:spPr>
              <a:solidFill>
                <a:srgbClr val="809EC2">
                  <a:lumMod val="60000"/>
                  <a:lumOff val="40000"/>
                </a:srgbClr>
              </a:solidFill>
              <a:ln w="25400"/>
            </c:spPr>
          </c:marker>
          <c:dPt>
            <c:idx val="24"/>
            <c:spPr>
              <a:ln w="38100">
                <a:prstDash val="sysDot"/>
              </a:ln>
            </c:spPr>
          </c:dPt>
          <c:cat>
            <c:strRef>
              <c:f>Sheet1!$B$1:$AP$1</c:f>
              <c:strCache>
                <c:ptCount val="41"/>
                <c:pt idx="0">
                  <c:v>1972</c:v>
                </c:pt>
                <c:pt idx="1">
                  <c:v>1973</c:v>
                </c:pt>
                <c:pt idx="2">
                  <c:v>1974</c:v>
                </c:pt>
                <c:pt idx="3">
                  <c:v>1975</c:v>
                </c:pt>
                <c:pt idx="4">
                  <c:v>1976</c:v>
                </c:pt>
                <c:pt idx="5">
                  <c:v>1977</c:v>
                </c:pt>
                <c:pt idx="6">
                  <c:v>1978</c:v>
                </c:pt>
                <c:pt idx="7">
                  <c:v>1979</c:v>
                </c:pt>
                <c:pt idx="8">
                  <c:v>1980</c:v>
                </c:pt>
                <c:pt idx="9">
                  <c:v>1981</c:v>
                </c:pt>
                <c:pt idx="10">
                  <c:v>1982</c:v>
                </c:pt>
                <c:pt idx="11">
                  <c:v>1983</c:v>
                </c:pt>
                <c:pt idx="12">
                  <c:v>1984</c:v>
                </c:pt>
                <c:pt idx="13">
                  <c:v>1985</c:v>
                </c:pt>
                <c:pt idx="14">
                  <c:v>1986</c:v>
                </c:pt>
                <c:pt idx="15">
                  <c:v>1987</c:v>
                </c:pt>
                <c:pt idx="16">
                  <c:v>1988</c:v>
                </c:pt>
                <c:pt idx="17">
                  <c:v>1989</c:v>
                </c:pt>
                <c:pt idx="18">
                  <c:v>1990</c:v>
                </c:pt>
                <c:pt idx="19">
                  <c:v>1991</c:v>
                </c:pt>
                <c:pt idx="20">
                  <c:v>1992</c:v>
                </c:pt>
                <c:pt idx="21">
                  <c:v>1993</c:v>
                </c:pt>
                <c:pt idx="22">
                  <c:v>1994</c:v>
                </c:pt>
                <c:pt idx="23">
                  <c:v>1995</c:v>
                </c:pt>
                <c:pt idx="24">
                  <c:v>1996</c:v>
                </c:pt>
                <c:pt idx="25">
                  <c:v>1997</c:v>
                </c:pt>
                <c:pt idx="26">
                  <c:v>1998</c:v>
                </c:pt>
                <c:pt idx="27">
                  <c:v>1999</c:v>
                </c:pt>
                <c:pt idx="28">
                  <c:v>2000</c:v>
                </c:pt>
                <c:pt idx="29">
                  <c:v>2001</c:v>
                </c:pt>
                <c:pt idx="30">
                  <c:v>2002</c:v>
                </c:pt>
                <c:pt idx="31">
                  <c:v>2003</c:v>
                </c:pt>
                <c:pt idx="32">
                  <c:v>2004</c:v>
                </c:pt>
                <c:pt idx="33">
                  <c:v>2005</c:v>
                </c:pt>
                <c:pt idx="34">
                  <c:v>2006</c:v>
                </c:pt>
                <c:pt idx="35">
                  <c:v>2007</c:v>
                </c:pt>
                <c:pt idx="36">
                  <c:v>2008</c:v>
                </c:pt>
                <c:pt idx="37">
                  <c:v>2009</c:v>
                </c:pt>
                <c:pt idx="38">
                  <c:v>2010</c:v>
                </c:pt>
                <c:pt idx="39">
                  <c:v>2011</c:v>
                </c:pt>
                <c:pt idx="40">
                  <c:v>2012</c:v>
                </c:pt>
              </c:strCache>
            </c:strRef>
          </c:cat>
          <c:val>
            <c:numRef>
              <c:f>Sheet1!$B$5:$AP$5</c:f>
              <c:numCache>
                <c:formatCode>General</c:formatCode>
                <c:ptCount val="41"/>
                <c:pt idx="12" formatCode="0.0">
                  <c:v>4.4000000000000004</c:v>
                </c:pt>
                <c:pt idx="13" formatCode="0.0">
                  <c:v>4.7</c:v>
                </c:pt>
                <c:pt idx="14" formatCode="0.0">
                  <c:v>5.0999999999999996</c:v>
                </c:pt>
                <c:pt idx="15" formatCode="0.0">
                  <c:v>4.7</c:v>
                </c:pt>
                <c:pt idx="16" formatCode="0.0">
                  <c:v>5</c:v>
                </c:pt>
                <c:pt idx="17" formatCode="0.0">
                  <c:v>5.6</c:v>
                </c:pt>
                <c:pt idx="24" formatCode="0.0">
                  <c:v>5.9</c:v>
                </c:pt>
                <c:pt idx="25" formatCode="0.0">
                  <c:v>5.5</c:v>
                </c:pt>
                <c:pt idx="26" formatCode="0.0">
                  <c:v>6</c:v>
                </c:pt>
                <c:pt idx="27" formatCode="0.0">
                  <c:v>5.6</c:v>
                </c:pt>
                <c:pt idx="28" formatCode="0.0">
                  <c:v>5.5</c:v>
                </c:pt>
                <c:pt idx="29" formatCode="0.0">
                  <c:v>5.8</c:v>
                </c:pt>
                <c:pt idx="30" formatCode="0.0">
                  <c:v>6</c:v>
                </c:pt>
                <c:pt idx="31" formatCode="0.0">
                  <c:v>5.9</c:v>
                </c:pt>
                <c:pt idx="32" formatCode="0.0">
                  <c:v>6.1</c:v>
                </c:pt>
                <c:pt idx="33" formatCode="0.0">
                  <c:v>6.6</c:v>
                </c:pt>
                <c:pt idx="34" formatCode="0.0">
                  <c:v>6.5</c:v>
                </c:pt>
                <c:pt idx="35" formatCode="0.0">
                  <c:v>7.3</c:v>
                </c:pt>
                <c:pt idx="36" formatCode="0.0">
                  <c:v>8.5</c:v>
                </c:pt>
                <c:pt idx="37" formatCode="0.0">
                  <c:v>8.9</c:v>
                </c:pt>
                <c:pt idx="38" formatCode="0.0">
                  <c:v>8.9</c:v>
                </c:pt>
                <c:pt idx="39" formatCode="0.0">
                  <c:v>9.3000000000000007</c:v>
                </c:pt>
                <c:pt idx="40" formatCode="0.0">
                  <c:v>9.5</c:v>
                </c:pt>
              </c:numCache>
            </c:numRef>
          </c:val>
        </c:ser>
        <c:marker val="1"/>
        <c:axId val="113712128"/>
        <c:axId val="113713920"/>
      </c:lineChart>
      <c:catAx>
        <c:axId val="113712128"/>
        <c:scaling>
          <c:orientation val="minMax"/>
        </c:scaling>
        <c:axPos val="b"/>
        <c:tickLblPos val="nextTo"/>
        <c:txPr>
          <a:bodyPr rot="-2700000" vert="horz"/>
          <a:lstStyle/>
          <a:p>
            <a:pPr>
              <a:defRPr/>
            </a:pPr>
            <a:endParaRPr lang="en-US"/>
          </a:p>
        </c:txPr>
        <c:crossAx val="113713920"/>
        <c:crosses val="autoZero"/>
        <c:auto val="1"/>
        <c:lblAlgn val="ctr"/>
        <c:lblOffset val="100"/>
        <c:tickLblSkip val="2"/>
      </c:catAx>
      <c:valAx>
        <c:axId val="113713920"/>
        <c:scaling>
          <c:orientation val="minMax"/>
          <c:max val="5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/>
        </c:title>
        <c:numFmt formatCode="0" sourceLinked="0"/>
        <c:tickLblPos val="nextTo"/>
        <c:crossAx val="113712128"/>
        <c:crosses val="autoZero"/>
        <c:crossBetween val="between"/>
      </c:valAx>
      <c:spPr>
        <a:solidFill>
          <a:prstClr val="white"/>
        </a:solidFill>
      </c:spPr>
    </c:plotArea>
    <c:legend>
      <c:legendPos val="r"/>
      <c:layout>
        <c:manualLayout>
          <c:xMode val="edge"/>
          <c:yMode val="edge"/>
          <c:x val="0.21153846153846173"/>
          <c:y val="9.6286734649972019E-2"/>
          <c:w val="0.28322115384615376"/>
          <c:h val="0.18648336990663067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8.5088396969246874E-2"/>
          <c:y val="2.8672665916760435E-2"/>
          <c:w val="0.85242028774181011"/>
          <c:h val="0.85719385076865395"/>
        </c:manualLayout>
      </c:layout>
      <c:barChart>
        <c:barDir val="col"/>
        <c:grouping val="clustered"/>
        <c:ser>
          <c:idx val="1"/>
          <c:order val="1"/>
          <c:tx>
            <c:strRef>
              <c:f>Sheet1!$A$3</c:f>
              <c:strCache>
                <c:ptCount val="1"/>
                <c:pt idx="0">
                  <c:v>Attending First choice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</c:spPr>
          <c:dLbls>
            <c:spPr>
              <a:noFill/>
            </c:spPr>
            <c:txPr>
              <a:bodyPr/>
              <a:lstStyle/>
              <a:p>
                <a:pPr>
                  <a:defRPr>
                    <a:solidFill>
                      <a:schemeClr val="bg1"/>
                    </a:solidFill>
                  </a:defRPr>
                </a:pPr>
                <a:endParaRPr lang="en-US"/>
              </a:p>
            </c:txPr>
            <c:dLblPos val="inEnd"/>
            <c:showVal val="1"/>
          </c:dLbls>
          <c:cat>
            <c:strRef>
              <c:f>Sheet1!$B$1:$G$1</c:f>
              <c:strCache>
                <c:ptCount val="6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</c:strCache>
            </c:strRef>
          </c:cat>
          <c:val>
            <c:numRef>
              <c:f>Sheet1!$B$3:$G$3</c:f>
              <c:numCache>
                <c:formatCode>0.0</c:formatCode>
                <c:ptCount val="6"/>
                <c:pt idx="0">
                  <c:v>64.099999999999994</c:v>
                </c:pt>
                <c:pt idx="1">
                  <c:v>60.7</c:v>
                </c:pt>
                <c:pt idx="2">
                  <c:v>60.7</c:v>
                </c:pt>
                <c:pt idx="3">
                  <c:v>60.5</c:v>
                </c:pt>
                <c:pt idx="4">
                  <c:v>57.9</c:v>
                </c:pt>
                <c:pt idx="5">
                  <c:v>59.3</c:v>
                </c:pt>
              </c:numCache>
            </c:numRef>
          </c:val>
        </c:ser>
        <c:axId val="113744128"/>
        <c:axId val="113758208"/>
      </c:barChart>
      <c:lineChart>
        <c:grouping val="standard"/>
        <c:ser>
          <c:idx val="0"/>
          <c:order val="0"/>
          <c:tx>
            <c:strRef>
              <c:f>Sheet1!$A$2</c:f>
              <c:strCache>
                <c:ptCount val="1"/>
                <c:pt idx="0">
                  <c:v>Accepted First Choice</c:v>
                </c:pt>
              </c:strCache>
            </c:strRef>
          </c:tx>
          <c:spPr>
            <a:ln w="38100">
              <a:solidFill>
                <a:schemeClr val="accent6">
                  <a:lumMod val="75000"/>
                </a:schemeClr>
              </a:solidFill>
            </a:ln>
          </c:spPr>
          <c:marker>
            <c:spPr>
              <a:ln w="25400"/>
            </c:spPr>
          </c:marker>
          <c:dLbls>
            <c:dLbl>
              <c:idx val="0"/>
              <c:layout>
                <c:manualLayout>
                  <c:x val="-3.7037037037037056E-2"/>
                  <c:y val="-2.619047619047617E-2"/>
                </c:manualLayout>
              </c:layout>
              <c:showVal val="1"/>
            </c:dLbl>
            <c:dLbl>
              <c:idx val="1"/>
              <c:layout>
                <c:manualLayout>
                  <c:x val="-3.2407407407407461E-2"/>
                  <c:y val="-3.8095238095238099E-2"/>
                </c:manualLayout>
              </c:layout>
              <c:showVal val="1"/>
            </c:dLbl>
            <c:dLbl>
              <c:idx val="2"/>
              <c:layout>
                <c:manualLayout>
                  <c:x val="-3.5493827160493881E-2"/>
                  <c:y val="-3.8095238095238119E-2"/>
                </c:manualLayout>
              </c:layout>
              <c:showVal val="1"/>
            </c:dLbl>
            <c:dLbl>
              <c:idx val="3"/>
              <c:layout>
                <c:manualLayout>
                  <c:x val="-3.0864197530864231E-2"/>
                  <c:y val="-4.2857142857142913E-2"/>
                </c:manualLayout>
              </c:layout>
              <c:showVal val="1"/>
            </c:dLbl>
            <c:dLbl>
              <c:idx val="4"/>
              <c:layout>
                <c:manualLayout>
                  <c:x val="-3.3950617283950615E-2"/>
                  <c:y val="-3.8095238095238119E-2"/>
                </c:manualLayout>
              </c:layout>
              <c:showVal val="1"/>
            </c:dLbl>
            <c:dLbl>
              <c:idx val="5"/>
              <c:layout>
                <c:manualLayout>
                  <c:x val="-3.616352201257874E-2"/>
                  <c:y val="-3.571428571428574E-2"/>
                </c:manualLayout>
              </c:layout>
              <c:showVal val="1"/>
            </c:dLbl>
            <c:showVal val="1"/>
          </c:dLbls>
          <c:cat>
            <c:strRef>
              <c:f>Sheet1!$B$1:$G$1</c:f>
              <c:strCache>
                <c:ptCount val="6"/>
                <c:pt idx="0">
                  <c:v>2007</c:v>
                </c:pt>
                <c:pt idx="1">
                  <c:v>2008</c:v>
                </c:pt>
                <c:pt idx="2">
                  <c:v>2009</c:v>
                </c:pt>
                <c:pt idx="3">
                  <c:v>2010</c:v>
                </c:pt>
                <c:pt idx="4">
                  <c:v>2011</c:v>
                </c:pt>
                <c:pt idx="5">
                  <c:v>2012</c:v>
                </c:pt>
              </c:strCache>
            </c:strRef>
          </c:cat>
          <c:val>
            <c:numRef>
              <c:f>Sheet1!$B$2:$G$2</c:f>
              <c:numCache>
                <c:formatCode>0.0</c:formatCode>
                <c:ptCount val="6"/>
                <c:pt idx="0">
                  <c:v>80.599999999999994</c:v>
                </c:pt>
                <c:pt idx="1">
                  <c:v>77.8</c:v>
                </c:pt>
                <c:pt idx="2">
                  <c:v>79.2</c:v>
                </c:pt>
                <c:pt idx="3">
                  <c:v>78.900000000000006</c:v>
                </c:pt>
                <c:pt idx="4">
                  <c:v>76</c:v>
                </c:pt>
                <c:pt idx="5">
                  <c:v>76.7</c:v>
                </c:pt>
              </c:numCache>
            </c:numRef>
          </c:val>
        </c:ser>
        <c:marker val="1"/>
        <c:axId val="113744128"/>
        <c:axId val="113758208"/>
      </c:lineChart>
      <c:catAx>
        <c:axId val="113744128"/>
        <c:scaling>
          <c:orientation val="minMax"/>
        </c:scaling>
        <c:axPos val="b"/>
        <c:tickLblPos val="nextTo"/>
        <c:crossAx val="113758208"/>
        <c:crosses val="autoZero"/>
        <c:auto val="1"/>
        <c:lblAlgn val="ctr"/>
        <c:lblOffset val="100"/>
      </c:catAx>
      <c:valAx>
        <c:axId val="113758208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/>
        </c:title>
        <c:numFmt formatCode="0" sourceLinked="0"/>
        <c:tickLblPos val="nextTo"/>
        <c:crossAx val="113744128"/>
        <c:crosses val="autoZero"/>
        <c:crossBetween val="between"/>
      </c:valAx>
    </c:plotArea>
    <c:legend>
      <c:legendPos val="b"/>
      <c:layout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gap"/>
  </c:chart>
  <c:spPr>
    <a:solidFill>
      <a:prstClr val="white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autoTitleDeleted val="1"/>
    <c:plotArea>
      <c:layout>
        <c:manualLayout>
          <c:layoutTarget val="inner"/>
          <c:xMode val="edge"/>
          <c:yMode val="edge"/>
          <c:x val="8.6599030890369508E-2"/>
          <c:y val="4.3607954545454547E-2"/>
          <c:w val="0.8942830102967898"/>
          <c:h val="0.85718751344606514"/>
        </c:manualLayout>
      </c:layout>
      <c:lineChart>
        <c:grouping val="standard"/>
        <c:ser>
          <c:idx val="1"/>
          <c:order val="0"/>
          <c:tx>
            <c:strRef>
              <c:f>Sheet1!$A$2</c:f>
              <c:strCache>
                <c:ptCount val="1"/>
                <c:pt idx="0">
                  <c:v>All Students</c:v>
                </c:pt>
              </c:strCache>
            </c:strRef>
          </c:tx>
          <c:spPr>
            <a:ln w="38100" cmpd="sng">
              <a:solidFill>
                <a:schemeClr val="accent6">
                  <a:lumMod val="75000"/>
                </a:schemeClr>
              </a:solidFill>
            </a:ln>
          </c:spPr>
          <c:marker>
            <c:symbol val="square"/>
            <c:size val="5"/>
            <c:spPr>
              <a:solidFill>
                <a:schemeClr val="accent6">
                  <a:lumMod val="75000"/>
                </a:schemeClr>
              </a:solidFill>
              <a:ln w="25400">
                <a:solidFill>
                  <a:schemeClr val="accent6">
                    <a:lumMod val="75000"/>
                  </a:schemeClr>
                </a:solidFill>
              </a:ln>
            </c:spPr>
          </c:marker>
          <c:dPt>
            <c:idx val="13"/>
            <c:spPr>
              <a:ln w="38100" cmpd="sng">
                <a:solidFill>
                  <a:schemeClr val="accent6">
                    <a:lumMod val="75000"/>
                  </a:schemeClr>
                </a:solidFill>
                <a:prstDash val="solid"/>
              </a:ln>
            </c:spPr>
          </c:dPt>
          <c:dPt>
            <c:idx val="14"/>
            <c:spPr>
              <a:ln w="38100" cmpd="sng">
                <a:solidFill>
                  <a:schemeClr val="accent6">
                    <a:lumMod val="75000"/>
                  </a:schemeClr>
                </a:solidFill>
                <a:prstDash val="dash"/>
              </a:ln>
            </c:spPr>
          </c:dPt>
          <c:dPt>
            <c:idx val="33"/>
            <c:spPr>
              <a:ln w="38100" cmpd="sng">
                <a:solidFill>
                  <a:schemeClr val="accent6">
                    <a:lumMod val="75000"/>
                  </a:schemeClr>
                </a:solidFill>
                <a:prstDash val="dash"/>
              </a:ln>
            </c:spPr>
          </c:dPt>
          <c:cat>
            <c:strRef>
              <c:f>Sheet1!$B$1:$Q$1</c:f>
              <c:strCache>
                <c:ptCount val="16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</c:strCache>
            </c:strRef>
          </c:cat>
          <c:val>
            <c:numRef>
              <c:f>Sheet1!$B$2:$Q$2</c:f>
              <c:numCache>
                <c:formatCode>0.0</c:formatCode>
                <c:ptCount val="16"/>
                <c:pt idx="0">
                  <c:v>50.9</c:v>
                </c:pt>
                <c:pt idx="1">
                  <c:v>52.4</c:v>
                </c:pt>
                <c:pt idx="2">
                  <c:v>53.9</c:v>
                </c:pt>
                <c:pt idx="3">
                  <c:v>56</c:v>
                </c:pt>
                <c:pt idx="4">
                  <c:v>57.9</c:v>
                </c:pt>
                <c:pt idx="5">
                  <c:v>59.3</c:v>
                </c:pt>
                <c:pt idx="6">
                  <c:v>59.4</c:v>
                </c:pt>
                <c:pt idx="7">
                  <c:v>56.7</c:v>
                </c:pt>
                <c:pt idx="8">
                  <c:v>57.9</c:v>
                </c:pt>
                <c:pt idx="9">
                  <c:v>61.2</c:v>
                </c:pt>
                <c:pt idx="10">
                  <c:v>63.5</c:v>
                </c:pt>
                <c:pt idx="11">
                  <c:v>66.2</c:v>
                </c:pt>
                <c:pt idx="12">
                  <c:v>64.900000000000006</c:v>
                </c:pt>
                <c:pt idx="14">
                  <c:v>71.3</c:v>
                </c:pt>
                <c:pt idx="15">
                  <c:v>75</c:v>
                </c:pt>
              </c:numCache>
            </c:numRef>
          </c:val>
        </c:ser>
        <c:marker val="1"/>
        <c:axId val="114110848"/>
        <c:axId val="114112384"/>
      </c:lineChart>
      <c:catAx>
        <c:axId val="114110848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14112384"/>
        <c:crosses val="autoZero"/>
        <c:auto val="1"/>
        <c:lblAlgn val="ctr"/>
        <c:lblOffset val="100"/>
      </c:catAx>
      <c:valAx>
        <c:axId val="114112384"/>
        <c:scaling>
          <c:orientation val="minMax"/>
          <c:max val="10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1026650514839649E-3"/>
              <c:y val="0.34925067768168355"/>
            </c:manualLayout>
          </c:layout>
        </c:title>
        <c:numFmt formatCode="0" sourceLinked="0"/>
        <c:tickLblPos val="nextTo"/>
        <c:crossAx val="114110848"/>
        <c:crosses val="autoZero"/>
        <c:crossBetween val="between"/>
      </c:valAx>
    </c:plotArea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autoTitleDeleted val="1"/>
    <c:plotArea>
      <c:layout>
        <c:manualLayout>
          <c:layoutTarget val="inner"/>
          <c:xMode val="edge"/>
          <c:yMode val="edge"/>
          <c:x val="8.6599030890369508E-2"/>
          <c:y val="4.3607954545454547E-2"/>
          <c:w val="0.88466762568140522"/>
          <c:h val="0.85718751344606514"/>
        </c:manualLayout>
      </c:layout>
      <c:lineChart>
        <c:grouping val="standard"/>
        <c:ser>
          <c:idx val="1"/>
          <c:order val="0"/>
          <c:tx>
            <c:strRef>
              <c:f>Sheet1!$A$2</c:f>
              <c:strCache>
                <c:ptCount val="1"/>
                <c:pt idx="0">
                  <c:v>Liberal</c:v>
                </c:pt>
              </c:strCache>
            </c:strRef>
          </c:tx>
          <c:spPr>
            <a:ln w="38100">
              <a:solidFill>
                <a:srgbClr val="C00000"/>
              </a:solidFill>
            </a:ln>
          </c:spPr>
          <c:marker>
            <c:symbol val="square"/>
            <c:size val="5"/>
            <c:spPr>
              <a:solidFill>
                <a:srgbClr val="C00000"/>
              </a:solidFill>
              <a:ln w="25400">
                <a:solidFill>
                  <a:srgbClr val="C00000"/>
                </a:solidFill>
              </a:ln>
            </c:spPr>
          </c:marker>
          <c:dPt>
            <c:idx val="13"/>
            <c:spPr>
              <a:ln w="38100">
                <a:solidFill>
                  <a:srgbClr val="C00000"/>
                </a:solidFill>
                <a:prstDash val="solid"/>
              </a:ln>
            </c:spPr>
          </c:dPt>
          <c:dPt>
            <c:idx val="14"/>
            <c:spPr>
              <a:ln w="38100">
                <a:solidFill>
                  <a:srgbClr val="C00000"/>
                </a:solidFill>
                <a:prstDash val="dash"/>
              </a:ln>
            </c:spPr>
          </c:dPt>
          <c:dPt>
            <c:idx val="33"/>
            <c:spPr>
              <a:ln w="38100">
                <a:solidFill>
                  <a:srgbClr val="C00000"/>
                </a:solidFill>
                <a:prstDash val="dash"/>
              </a:ln>
            </c:spPr>
          </c:dPt>
          <c:cat>
            <c:strRef>
              <c:f>Sheet1!$B$1:$Q$1</c:f>
              <c:strCache>
                <c:ptCount val="16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</c:strCache>
            </c:strRef>
          </c:cat>
          <c:val>
            <c:numRef>
              <c:f>Sheet1!$B$2:$Q$2</c:f>
              <c:numCache>
                <c:formatCode>0.0</c:formatCode>
                <c:ptCount val="16"/>
                <c:pt idx="0">
                  <c:v>72.467078376169198</c:v>
                </c:pt>
                <c:pt idx="1">
                  <c:v>71.770723778563919</c:v>
                </c:pt>
                <c:pt idx="2">
                  <c:v>72.686238041193889</c:v>
                </c:pt>
                <c:pt idx="3">
                  <c:v>74.347642242045296</c:v>
                </c:pt>
                <c:pt idx="4">
                  <c:v>76.268831483611919</c:v>
                </c:pt>
                <c:pt idx="5">
                  <c:v>76.733300794623389</c:v>
                </c:pt>
                <c:pt idx="6">
                  <c:v>77.936243182968227</c:v>
                </c:pt>
                <c:pt idx="7">
                  <c:v>79.007185320568212</c:v>
                </c:pt>
                <c:pt idx="8">
                  <c:v>80.487887619311962</c:v>
                </c:pt>
                <c:pt idx="9">
                  <c:v>83.450612929095627</c:v>
                </c:pt>
                <c:pt idx="10">
                  <c:v>84.417476969226996</c:v>
                </c:pt>
                <c:pt idx="11">
                  <c:v>85.178120767439253</c:v>
                </c:pt>
                <c:pt idx="12">
                  <c:v>86.118844556412185</c:v>
                </c:pt>
                <c:pt idx="14">
                  <c:v>88.281780020352784</c:v>
                </c:pt>
                <c:pt idx="15">
                  <c:v>91.49960976697524</c:v>
                </c:pt>
              </c:numCache>
            </c:numRef>
          </c:val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Middle of the Road</c:v>
                </c:pt>
              </c:strCache>
            </c:strRef>
          </c:tx>
          <c:spPr>
            <a:ln w="38100">
              <a:solidFill>
                <a:schemeClr val="accent4">
                  <a:lumMod val="50000"/>
                </a:schemeClr>
              </a:solidFill>
            </a:ln>
          </c:spPr>
          <c:marker>
            <c:spPr>
              <a:solidFill>
                <a:schemeClr val="accent4">
                  <a:lumMod val="50000"/>
                </a:schemeClr>
              </a:solidFill>
              <a:ln w="25400">
                <a:solidFill>
                  <a:srgbClr val="D092A7">
                    <a:lumMod val="50000"/>
                  </a:srgbClr>
                </a:solidFill>
              </a:ln>
            </c:spPr>
          </c:marker>
          <c:dPt>
            <c:idx val="14"/>
            <c:spPr>
              <a:ln w="38100">
                <a:solidFill>
                  <a:schemeClr val="accent4">
                    <a:lumMod val="50000"/>
                  </a:schemeClr>
                </a:solidFill>
                <a:prstDash val="dash"/>
              </a:ln>
            </c:spPr>
          </c:dPt>
          <c:cat>
            <c:strRef>
              <c:f>Sheet1!$B$1:$Q$1</c:f>
              <c:strCache>
                <c:ptCount val="16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</c:strCache>
            </c:strRef>
          </c:cat>
          <c:val>
            <c:numRef>
              <c:f>Sheet1!$B$3:$Q$3</c:f>
              <c:numCache>
                <c:formatCode>0.0</c:formatCode>
                <c:ptCount val="16"/>
                <c:pt idx="0">
                  <c:v>51.511993557029548</c:v>
                </c:pt>
                <c:pt idx="1">
                  <c:v>53.400665526785929</c:v>
                </c:pt>
                <c:pt idx="2">
                  <c:v>54.858472617133174</c:v>
                </c:pt>
                <c:pt idx="3">
                  <c:v>56.807841960568027</c:v>
                </c:pt>
                <c:pt idx="4">
                  <c:v>58.336027889586333</c:v>
                </c:pt>
                <c:pt idx="5">
                  <c:v>60.782275116505019</c:v>
                </c:pt>
                <c:pt idx="6">
                  <c:v>61.301186514252578</c:v>
                </c:pt>
                <c:pt idx="7">
                  <c:v>57.895706377634085</c:v>
                </c:pt>
                <c:pt idx="8">
                  <c:v>59.354898975273883</c:v>
                </c:pt>
                <c:pt idx="9">
                  <c:v>62.977279867648093</c:v>
                </c:pt>
                <c:pt idx="10">
                  <c:v>65.391624638312322</c:v>
                </c:pt>
                <c:pt idx="11">
                  <c:v>67.690817099254758</c:v>
                </c:pt>
                <c:pt idx="12">
                  <c:v>67.618115072262341</c:v>
                </c:pt>
                <c:pt idx="14">
                  <c:v>74.028122415219187</c:v>
                </c:pt>
                <c:pt idx="15">
                  <c:v>78.934932923959408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Conservative</c:v>
                </c:pt>
              </c:strCache>
            </c:strRef>
          </c:tx>
          <c:spPr>
            <a:ln w="38100">
              <a:solidFill>
                <a:srgbClr val="3333FF"/>
              </a:solidFill>
            </a:ln>
          </c:spPr>
          <c:marker>
            <c:spPr>
              <a:solidFill>
                <a:srgbClr val="3333FF"/>
              </a:solidFill>
              <a:ln w="25400">
                <a:solidFill>
                  <a:srgbClr val="3333FF"/>
                </a:solidFill>
              </a:ln>
            </c:spPr>
          </c:marker>
          <c:dPt>
            <c:idx val="14"/>
            <c:spPr>
              <a:ln w="38100">
                <a:solidFill>
                  <a:srgbClr val="3333FF"/>
                </a:solidFill>
                <a:prstDash val="dash"/>
              </a:ln>
            </c:spPr>
          </c:dPt>
          <c:cat>
            <c:strRef>
              <c:f>Sheet1!$B$1:$Q$1</c:f>
              <c:strCache>
                <c:ptCount val="16"/>
                <c:pt idx="0">
                  <c:v>1997</c:v>
                </c:pt>
                <c:pt idx="1">
                  <c:v>1998</c:v>
                </c:pt>
                <c:pt idx="2">
                  <c:v>1999</c:v>
                </c:pt>
                <c:pt idx="3">
                  <c:v>2000</c:v>
                </c:pt>
                <c:pt idx="4">
                  <c:v>2001</c:v>
                </c:pt>
                <c:pt idx="5">
                  <c:v>2002</c:v>
                </c:pt>
                <c:pt idx="6">
                  <c:v>2003</c:v>
                </c:pt>
                <c:pt idx="7">
                  <c:v>2004</c:v>
                </c:pt>
                <c:pt idx="8">
                  <c:v>2005</c:v>
                </c:pt>
                <c:pt idx="9">
                  <c:v>2006</c:v>
                </c:pt>
                <c:pt idx="10">
                  <c:v>2007</c:v>
                </c:pt>
                <c:pt idx="11">
                  <c:v>2008</c:v>
                </c:pt>
                <c:pt idx="12">
                  <c:v>2009</c:v>
                </c:pt>
                <c:pt idx="13">
                  <c:v>2010</c:v>
                </c:pt>
                <c:pt idx="14">
                  <c:v>2011</c:v>
                </c:pt>
                <c:pt idx="15">
                  <c:v>2012</c:v>
                </c:pt>
              </c:strCache>
            </c:strRef>
          </c:cat>
          <c:val>
            <c:numRef>
              <c:f>Sheet1!$B$4:$Q$4</c:f>
              <c:numCache>
                <c:formatCode>0.0</c:formatCode>
                <c:ptCount val="16"/>
                <c:pt idx="0">
                  <c:v>25.522212121514826</c:v>
                </c:pt>
                <c:pt idx="1">
                  <c:v>26.639747531137964</c:v>
                </c:pt>
                <c:pt idx="2">
                  <c:v>27.959111700643746</c:v>
                </c:pt>
                <c:pt idx="3">
                  <c:v>29.067608519356359</c:v>
                </c:pt>
                <c:pt idx="4">
                  <c:v>30.41115391459503</c:v>
                </c:pt>
                <c:pt idx="5">
                  <c:v>33.031619921083504</c:v>
                </c:pt>
                <c:pt idx="6">
                  <c:v>33.844782443931472</c:v>
                </c:pt>
                <c:pt idx="7">
                  <c:v>27.688191027723487</c:v>
                </c:pt>
                <c:pt idx="8">
                  <c:v>27.55603384295679</c:v>
                </c:pt>
                <c:pt idx="9">
                  <c:v>30.799364019626193</c:v>
                </c:pt>
                <c:pt idx="10">
                  <c:v>33.080027896119475</c:v>
                </c:pt>
                <c:pt idx="11">
                  <c:v>34.547192737277285</c:v>
                </c:pt>
                <c:pt idx="12">
                  <c:v>32.037055526236955</c:v>
                </c:pt>
                <c:pt idx="14">
                  <c:v>42.809554790015753</c:v>
                </c:pt>
                <c:pt idx="15">
                  <c:v>47.001771165426845</c:v>
                </c:pt>
              </c:numCache>
            </c:numRef>
          </c:val>
        </c:ser>
        <c:marker val="1"/>
        <c:axId val="114238976"/>
        <c:axId val="114240512"/>
      </c:lineChart>
      <c:catAx>
        <c:axId val="114238976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114240512"/>
        <c:crosses val="autoZero"/>
        <c:auto val="1"/>
        <c:lblAlgn val="ctr"/>
        <c:lblOffset val="100"/>
      </c:catAx>
      <c:valAx>
        <c:axId val="114240512"/>
        <c:scaling>
          <c:orientation val="minMax"/>
          <c:max val="10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1026650514839649E-3"/>
              <c:y val="0.34925067768168355"/>
            </c:manualLayout>
          </c:layout>
        </c:title>
        <c:numFmt formatCode="0" sourceLinked="0"/>
        <c:tickLblPos val="nextTo"/>
        <c:crossAx val="114238976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56451809509388262"/>
          <c:y val="0.73641855314960625"/>
          <c:w val="0.42266139208560483"/>
          <c:h val="0.12019458774549741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9.4000148566335068E-2"/>
          <c:y val="3.7195374015748094E-2"/>
          <c:w val="0.89321014708067159"/>
          <c:h val="0.86519071204809217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Men 2008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Liberal/Far Left</c:v>
                </c:pt>
                <c:pt idx="1">
                  <c:v>Middle of the Road</c:v>
                </c:pt>
                <c:pt idx="2">
                  <c:v>Conservative/Far Right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30.3</c:v>
                </c:pt>
                <c:pt idx="1">
                  <c:v>44.2</c:v>
                </c:pt>
                <c:pt idx="2">
                  <c:v>25.5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Men 2012</c:v>
                </c:pt>
              </c:strCache>
            </c:strRef>
          </c:tx>
          <c:dLbls>
            <c:dLbl>
              <c:idx val="0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FF0000"/>
                      </a:solidFill>
                    </a:defRPr>
                  </a:pPr>
                  <a:endParaRPr lang="en-US"/>
                </a:p>
              </c:txPr>
            </c:dLbl>
            <c:dLbl>
              <c:idx val="1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33CC33"/>
                      </a:solidFill>
                    </a:defRPr>
                  </a:pPr>
                  <a:endParaRPr lang="en-US"/>
                </a:p>
              </c:txPr>
            </c:dLbl>
            <c:dLbl>
              <c:idx val="2"/>
              <c:layout/>
              <c:tx>
                <c:rich>
                  <a:bodyPr/>
                  <a:lstStyle/>
                  <a:p>
                    <a:pPr>
                      <a:defRPr sz="1200">
                        <a:solidFill>
                          <a:schemeClr val="tx1"/>
                        </a:solidFill>
                      </a:defRPr>
                    </a:pPr>
                    <a:r>
                      <a:rPr lang="en-US" dirty="0">
                        <a:solidFill>
                          <a:schemeClr val="tx1"/>
                        </a:solidFill>
                      </a:rPr>
                      <a:t>25.6</a:t>
                    </a:r>
                  </a:p>
                </c:rich>
              </c:tx>
              <c:spPr/>
              <c:dLblPos val="outEnd"/>
              <c:showVal val="1"/>
            </c:dLbl>
            <c:txPr>
              <a:bodyPr/>
              <a:lstStyle/>
              <a:p>
                <a:pPr>
                  <a:defRPr sz="1200">
                    <a:solidFill>
                      <a:srgbClr val="FF0000"/>
                    </a:solidFill>
                  </a:defRPr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Liberal/Far Left</c:v>
                </c:pt>
                <c:pt idx="1">
                  <c:v>Middle of the Road</c:v>
                </c:pt>
                <c:pt idx="2">
                  <c:v>Conservative/Far Right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26.4</c:v>
                </c:pt>
                <c:pt idx="1">
                  <c:v>48</c:v>
                </c:pt>
                <c:pt idx="2">
                  <c:v>25.6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Women 2008</c:v>
                </c:pt>
              </c:strCache>
            </c:strRef>
          </c:tx>
          <c:dLbls>
            <c:txPr>
              <a:bodyPr/>
              <a:lstStyle/>
              <a:p>
                <a:pPr>
                  <a:defRPr sz="1200" b="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Liberal/Far Left</c:v>
                </c:pt>
                <c:pt idx="1">
                  <c:v>Middle of the Road</c:v>
                </c:pt>
                <c:pt idx="2">
                  <c:v>Conservative/Far Right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37.4</c:v>
                </c:pt>
                <c:pt idx="1">
                  <c:v>42.5</c:v>
                </c:pt>
                <c:pt idx="2">
                  <c:v>20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Women 2012</c:v>
                </c:pt>
              </c:strCache>
            </c:strRef>
          </c:tx>
          <c:dLbls>
            <c:dLbl>
              <c:idx val="1"/>
              <c:spPr/>
              <c:txPr>
                <a:bodyPr/>
                <a:lstStyle/>
                <a:p>
                  <a:pPr>
                    <a:defRPr sz="1200" b="1">
                      <a:solidFill>
                        <a:srgbClr val="33CC33"/>
                      </a:solidFill>
                    </a:defRPr>
                  </a:pPr>
                  <a:endParaRPr lang="en-US"/>
                </a:p>
              </c:txPr>
            </c:dLbl>
            <c:dLbl>
              <c:idx val="2"/>
              <c:spPr/>
              <c:txPr>
                <a:bodyPr/>
                <a:lstStyle/>
                <a:p>
                  <a:pPr>
                    <a:defRPr sz="1200" b="0">
                      <a:solidFill>
                        <a:schemeClr val="tx1"/>
                      </a:solidFill>
                    </a:defRPr>
                  </a:pPr>
                  <a:endParaRPr lang="en-US"/>
                </a:p>
              </c:txPr>
            </c:dLbl>
            <c:txPr>
              <a:bodyPr/>
              <a:lstStyle/>
              <a:p>
                <a:pPr>
                  <a:defRPr sz="1200" b="1">
                    <a:solidFill>
                      <a:srgbClr val="FF0000"/>
                    </a:solidFill>
                  </a:defRPr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Liberal/Far Left</c:v>
                </c:pt>
                <c:pt idx="1">
                  <c:v>Middle of the Road</c:v>
                </c:pt>
                <c:pt idx="2">
                  <c:v>Conservative/Far Right</c:v>
                </c:pt>
              </c:strCache>
            </c:strRef>
          </c:cat>
          <c:val>
            <c:numRef>
              <c:f>Sheet1!$E$2:$E$4</c:f>
              <c:numCache>
                <c:formatCode>0.0</c:formatCode>
                <c:ptCount val="3"/>
                <c:pt idx="0">
                  <c:v>32.300000000000004</c:v>
                </c:pt>
                <c:pt idx="1">
                  <c:v>47</c:v>
                </c:pt>
                <c:pt idx="2">
                  <c:v>20.7</c:v>
                </c:pt>
              </c:numCache>
            </c:numRef>
          </c:val>
        </c:ser>
        <c:axId val="114389760"/>
        <c:axId val="114391296"/>
      </c:barChart>
      <c:catAx>
        <c:axId val="114389760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14391296"/>
        <c:crosses val="autoZero"/>
        <c:auto val="1"/>
        <c:lblAlgn val="ctr"/>
        <c:lblOffset val="100"/>
      </c:catAx>
      <c:valAx>
        <c:axId val="114391296"/>
        <c:scaling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smtClean="0"/>
                  <a:t>% of Students</a:t>
                </a:r>
              </a:p>
            </c:rich>
          </c:tx>
          <c:layout>
            <c:manualLayout>
              <c:xMode val="edge"/>
              <c:yMode val="edge"/>
              <c:x val="1.0822834645669382E-2"/>
              <c:y val="0.31428001968503938"/>
            </c:manualLayout>
          </c:layout>
        </c:title>
        <c:numFmt formatCode="0" sourceLinked="0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14389760"/>
        <c:crosses val="autoZero"/>
        <c:crossBetween val="between"/>
        <c:majorUnit val="10"/>
      </c:valAx>
    </c:plotArea>
    <c:legend>
      <c:legendPos val="r"/>
      <c:layout>
        <c:manualLayout>
          <c:xMode val="edge"/>
          <c:yMode val="edge"/>
          <c:x val="0.80331129599366058"/>
          <c:y val="1.8683219033104735E-2"/>
          <c:w val="0.14030518001287595"/>
          <c:h val="0.20726780120226926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spPr>
    <a:solidFill>
      <a:schemeClr val="bg1"/>
    </a:solidFill>
  </c:spPr>
  <c:txPr>
    <a:bodyPr/>
    <a:lstStyle/>
    <a:p>
      <a:pPr>
        <a:defRPr sz="1800">
          <a:latin typeface="+mj-lt"/>
        </a:defRPr>
      </a:pPr>
      <a:endParaRPr lang="en-US"/>
    </a:p>
  </c:txPr>
  <c:externalData r:id="rId1"/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8.4566186302184057E-2"/>
          <c:y val="3.7195374015748094E-2"/>
          <c:w val="0.90264410934482264"/>
          <c:h val="0.70383329099991532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2008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A National Health Care Plan Is Needed To Cover Everybody's Medical Costs</c:v>
                </c:pt>
                <c:pt idx="1">
                  <c:v>Abortion Should Be Legal</c:v>
                </c:pt>
                <c:pt idx="2">
                  <c:v>Students From Disadvantaged Social Backgrounds Should Be Given Preferential Treatment In College Admissions</c:v>
                </c:pt>
                <c:pt idx="3">
                  <c:v>Racial Discrimination Is No Longer A Major Problem In America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70.3</c:v>
                </c:pt>
                <c:pt idx="1">
                  <c:v>58.2</c:v>
                </c:pt>
                <c:pt idx="2">
                  <c:v>39.5</c:v>
                </c:pt>
                <c:pt idx="3">
                  <c:v>20.100000000000001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</c:spPr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A National Health Care Plan Is Needed To Cover Everybody's Medical Costs</c:v>
                </c:pt>
                <c:pt idx="1">
                  <c:v>Abortion Should Be Legal</c:v>
                </c:pt>
                <c:pt idx="2">
                  <c:v>Students From Disadvantaged Social Backgrounds Should Be Given Preferential Treatment In College Admissions</c:v>
                </c:pt>
                <c:pt idx="3">
                  <c:v>Racial Discrimination Is No Longer A Major Problem In America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62.7</c:v>
                </c:pt>
                <c:pt idx="1">
                  <c:v>61.1</c:v>
                </c:pt>
                <c:pt idx="2">
                  <c:v>41.9</c:v>
                </c:pt>
                <c:pt idx="3">
                  <c:v>23</c:v>
                </c:pt>
              </c:numCache>
            </c:numRef>
          </c:val>
        </c:ser>
        <c:axId val="114475776"/>
        <c:axId val="114477312"/>
      </c:barChart>
      <c:catAx>
        <c:axId val="114475776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14477312"/>
        <c:crosses val="autoZero"/>
        <c:auto val="1"/>
        <c:lblAlgn val="ctr"/>
        <c:lblOffset val="100"/>
      </c:catAx>
      <c:valAx>
        <c:axId val="114477312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smtClean="0"/>
                  <a:t>% of Students</a:t>
                </a:r>
              </a:p>
            </c:rich>
          </c:tx>
          <c:layout>
            <c:manualLayout>
              <c:xMode val="edge"/>
              <c:yMode val="edge"/>
              <c:x val="1.0822834645669393E-2"/>
              <c:y val="0.31428001968503938"/>
            </c:manualLayout>
          </c:layout>
        </c:title>
        <c:numFmt formatCode="0" sourceLinked="0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14475776"/>
        <c:crosses val="autoZero"/>
        <c:crossBetween val="between"/>
        <c:majorUnit val="10"/>
      </c:valAx>
    </c:plotArea>
    <c:legend>
      <c:legendPos val="r"/>
      <c:layout>
        <c:manualLayout>
          <c:xMode val="edge"/>
          <c:yMode val="edge"/>
          <c:x val="0.85677041549051791"/>
          <c:y val="1.5995046990093978E-2"/>
          <c:w val="8.6846060516020576E-2"/>
          <c:h val="0.16156887647108625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spPr>
    <a:solidFill>
      <a:schemeClr val="bg1"/>
    </a:solidFill>
  </c:spPr>
  <c:txPr>
    <a:bodyPr/>
    <a:lstStyle/>
    <a:p>
      <a:pPr>
        <a:defRPr sz="1800">
          <a:latin typeface="+mj-lt"/>
        </a:defRPr>
      </a:pPr>
      <a:endParaRPr lang="en-US"/>
    </a:p>
  </c:txPr>
  <c:externalData r:id="rId1"/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8"/>
  <c:chart>
    <c:plotArea>
      <c:layout>
        <c:manualLayout>
          <c:layoutTarget val="inner"/>
          <c:xMode val="edge"/>
          <c:yMode val="edge"/>
          <c:x val="9.4000148566335068E-2"/>
          <c:y val="3.7195374015748094E-2"/>
          <c:w val="0.89321014708067159"/>
          <c:h val="0.8813197443061545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2008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Liberal/Far Left</c:v>
                </c:pt>
                <c:pt idx="1">
                  <c:v>Middle of the Road</c:v>
                </c:pt>
                <c:pt idx="2">
                  <c:v>Conservative/Far Right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73.7</c:v>
                </c:pt>
                <c:pt idx="1">
                  <c:v>59.9</c:v>
                </c:pt>
                <c:pt idx="2">
                  <c:v>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2012</c:v>
                </c:pt>
              </c:strCache>
            </c:strRef>
          </c:tx>
          <c:spPr>
            <a:solidFill>
              <a:srgbClr val="809EC2">
                <a:lumMod val="50000"/>
              </a:srgbClr>
            </a:solidFill>
          </c:spPr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Liberal/Far Left</c:v>
                </c:pt>
                <c:pt idx="1">
                  <c:v>Middle of the Road</c:v>
                </c:pt>
                <c:pt idx="2">
                  <c:v>Conservative/Far Right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82.4</c:v>
                </c:pt>
                <c:pt idx="1">
                  <c:v>66.400000000000006</c:v>
                </c:pt>
                <c:pt idx="2">
                  <c:v>38.1</c:v>
                </c:pt>
              </c:numCache>
            </c:numRef>
          </c:val>
        </c:ser>
        <c:axId val="114688768"/>
        <c:axId val="114690304"/>
      </c:barChart>
      <c:catAx>
        <c:axId val="114688768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14690304"/>
        <c:crosses val="autoZero"/>
        <c:auto val="1"/>
        <c:lblAlgn val="ctr"/>
        <c:lblOffset val="100"/>
      </c:catAx>
      <c:valAx>
        <c:axId val="114690304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smtClean="0"/>
                  <a:t>% of Students</a:t>
                </a:r>
              </a:p>
            </c:rich>
          </c:tx>
          <c:layout>
            <c:manualLayout>
              <c:xMode val="edge"/>
              <c:yMode val="edge"/>
              <c:x val="1.0822834645669393E-2"/>
              <c:y val="0.31428001968503938"/>
            </c:manualLayout>
          </c:layout>
        </c:title>
        <c:numFmt formatCode="0" sourceLinked="0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114688768"/>
        <c:crosses val="autoZero"/>
        <c:crossBetween val="between"/>
        <c:majorUnit val="10"/>
      </c:valAx>
    </c:plotArea>
    <c:legend>
      <c:legendPos val="r"/>
      <c:layout>
        <c:manualLayout>
          <c:xMode val="edge"/>
          <c:yMode val="edge"/>
          <c:x val="0.79073267964145977"/>
          <c:y val="6.7070315807298303E-2"/>
          <c:w val="0.11756140741841237"/>
          <c:h val="0.11272459363632176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spPr>
    <a:solidFill>
      <a:schemeClr val="bg1"/>
    </a:solidFill>
  </c:spPr>
  <c:txPr>
    <a:bodyPr/>
    <a:lstStyle/>
    <a:p>
      <a:pPr>
        <a:defRPr sz="1800">
          <a:latin typeface="+mj-lt"/>
        </a:defRPr>
      </a:pPr>
      <a:endParaRPr lang="en-US"/>
    </a:p>
  </c:txPr>
  <c:externalData r:id="rId1"/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9.4000157031653167E-2"/>
          <c:y val="5.5974640493881907E-2"/>
          <c:w val="0.89321014708067159"/>
          <c:h val="0.8651907120480928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HBCUs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Probability &amp; Statistics</c:v>
                </c:pt>
                <c:pt idx="3">
                  <c:v>AP Calculus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63.5</c:v>
                </c:pt>
                <c:pt idx="1">
                  <c:v>12.6</c:v>
                </c:pt>
                <c:pt idx="2">
                  <c:v>7.4</c:v>
                </c:pt>
                <c:pt idx="3">
                  <c:v>8.6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Public 4-Year Colleges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Probability &amp; Statistics</c:v>
                </c:pt>
                <c:pt idx="3">
                  <c:v>AP Calculus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74.2</c:v>
                </c:pt>
                <c:pt idx="1">
                  <c:v>20</c:v>
                </c:pt>
                <c:pt idx="2">
                  <c:v>10.7</c:v>
                </c:pt>
                <c:pt idx="3">
                  <c:v>18.7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Private 4-Year Colleges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Probability &amp; Statistics</c:v>
                </c:pt>
                <c:pt idx="3">
                  <c:v>AP Calculus</c:v>
                </c:pt>
              </c:strCache>
            </c:strRef>
          </c:cat>
          <c:val>
            <c:numRef>
              <c:f>Sheet1!$D$2:$D$5</c:f>
              <c:numCache>
                <c:formatCode>0.0</c:formatCode>
                <c:ptCount val="4"/>
                <c:pt idx="0">
                  <c:v>78.599999999999994</c:v>
                </c:pt>
                <c:pt idx="1">
                  <c:v>28.1</c:v>
                </c:pt>
                <c:pt idx="2">
                  <c:v>12.4</c:v>
                </c:pt>
                <c:pt idx="3">
                  <c:v>22.2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Public Universities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Probability &amp; Statistics</c:v>
                </c:pt>
                <c:pt idx="3">
                  <c:v>AP Calculus</c:v>
                </c:pt>
              </c:strCache>
            </c:strRef>
          </c:cat>
          <c:val>
            <c:numRef>
              <c:f>Sheet1!$E$2:$E$5</c:f>
              <c:numCache>
                <c:formatCode>0.0</c:formatCode>
                <c:ptCount val="4"/>
                <c:pt idx="0">
                  <c:v>85</c:v>
                </c:pt>
                <c:pt idx="1">
                  <c:v>33.800000000000004</c:v>
                </c:pt>
                <c:pt idx="2">
                  <c:v>18.3</c:v>
                </c:pt>
                <c:pt idx="3">
                  <c:v>37.200000000000003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Private Universities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Probability &amp; Statistics</c:v>
                </c:pt>
                <c:pt idx="3">
                  <c:v>AP Calculus</c:v>
                </c:pt>
              </c:strCache>
            </c:strRef>
          </c:cat>
          <c:val>
            <c:numRef>
              <c:f>Sheet1!$F$2:$F$5</c:f>
              <c:numCache>
                <c:formatCode>0.0</c:formatCode>
                <c:ptCount val="4"/>
                <c:pt idx="0">
                  <c:v>91.2</c:v>
                </c:pt>
                <c:pt idx="1">
                  <c:v>47.3</c:v>
                </c:pt>
                <c:pt idx="2">
                  <c:v>23.3</c:v>
                </c:pt>
                <c:pt idx="3">
                  <c:v>48.9</c:v>
                </c:pt>
              </c:numCache>
            </c:numRef>
          </c:val>
        </c:ser>
        <c:axId val="94303744"/>
        <c:axId val="94305280"/>
      </c:barChart>
      <c:catAx>
        <c:axId val="94303744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94305280"/>
        <c:crosses val="autoZero"/>
        <c:auto val="1"/>
        <c:lblAlgn val="ctr"/>
        <c:lblOffset val="100"/>
      </c:catAx>
      <c:valAx>
        <c:axId val="94305280"/>
        <c:scaling>
          <c:orientation val="minMax"/>
        </c:scaling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smtClean="0"/>
                  <a:t>% of Students</a:t>
                </a:r>
              </a:p>
            </c:rich>
          </c:tx>
          <c:layout>
            <c:manualLayout>
              <c:xMode val="edge"/>
              <c:yMode val="edge"/>
              <c:x val="1.0822834645669393E-2"/>
              <c:y val="0.31428001968503938"/>
            </c:manualLayout>
          </c:layout>
        </c:title>
        <c:numFmt formatCode="0" sourceLinked="0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94303744"/>
        <c:crosses val="autoZero"/>
        <c:crossBetween val="between"/>
        <c:majorUnit val="10"/>
      </c:valAx>
    </c:plotArea>
    <c:legend>
      <c:legendPos val="r"/>
      <c:layout>
        <c:manualLayout>
          <c:xMode val="edge"/>
          <c:yMode val="edge"/>
          <c:x val="0.66569912735267134"/>
          <c:y val="4.6212518889684244E-2"/>
          <c:w val="0.22594983410092645"/>
          <c:h val="0.26333204251107922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spPr>
    <a:solidFill>
      <a:schemeClr val="bg1"/>
    </a:solidFill>
  </c:spPr>
  <c:txPr>
    <a:bodyPr/>
    <a:lstStyle/>
    <a:p>
      <a:pPr>
        <a:defRPr sz="1800">
          <a:latin typeface="+mj-lt"/>
        </a:defRPr>
      </a:pPr>
      <a:endParaRPr lang="en-US"/>
    </a:p>
  </c:txPr>
  <c:externalData r:id="rId1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9.4000148566335068E-2"/>
          <c:y val="3.7195374015748094E-2"/>
          <c:w val="0.89321014708067159"/>
          <c:h val="0.86519071204809339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Not Pre-Med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Calculus</c:v>
                </c:pt>
                <c:pt idx="3">
                  <c:v>AP Probability &amp; Statistics</c:v>
                </c:pt>
              </c:strCache>
            </c:strRef>
          </c:cat>
          <c:val>
            <c:numRef>
              <c:f>Sheet1!$B$2:$B$5</c:f>
              <c:numCache>
                <c:formatCode>0.0</c:formatCode>
                <c:ptCount val="4"/>
                <c:pt idx="0">
                  <c:v>80.3</c:v>
                </c:pt>
                <c:pt idx="1">
                  <c:v>28.9</c:v>
                </c:pt>
                <c:pt idx="2">
                  <c:v>28.3</c:v>
                </c:pt>
                <c:pt idx="3">
                  <c:v>15.1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Pre-Med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Sheet1!$A$2:$A$5</c:f>
              <c:strCache>
                <c:ptCount val="4"/>
                <c:pt idx="0">
                  <c:v>Pre-calculus/Trigonometry</c:v>
                </c:pt>
                <c:pt idx="1">
                  <c:v>Calculus</c:v>
                </c:pt>
                <c:pt idx="2">
                  <c:v>AP Calculus</c:v>
                </c:pt>
                <c:pt idx="3">
                  <c:v>AP Probability &amp; Statistics</c:v>
                </c:pt>
              </c:strCache>
            </c:strRef>
          </c:cat>
          <c:val>
            <c:numRef>
              <c:f>Sheet1!$C$2:$C$5</c:f>
              <c:numCache>
                <c:formatCode>0.0</c:formatCode>
                <c:ptCount val="4"/>
                <c:pt idx="0">
                  <c:v>85.3</c:v>
                </c:pt>
                <c:pt idx="1">
                  <c:v>35.700000000000003</c:v>
                </c:pt>
                <c:pt idx="2">
                  <c:v>37.6</c:v>
                </c:pt>
                <c:pt idx="3">
                  <c:v>16.7</c:v>
                </c:pt>
              </c:numCache>
            </c:numRef>
          </c:val>
        </c:ser>
        <c:axId val="94275456"/>
        <c:axId val="94276992"/>
      </c:barChart>
      <c:catAx>
        <c:axId val="94275456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94276992"/>
        <c:crosses val="autoZero"/>
        <c:auto val="1"/>
        <c:lblAlgn val="ctr"/>
        <c:lblOffset val="100"/>
      </c:catAx>
      <c:valAx>
        <c:axId val="94276992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smtClean="0"/>
                  <a:t>% of Students</a:t>
                </a:r>
              </a:p>
            </c:rich>
          </c:tx>
          <c:layout>
            <c:manualLayout>
              <c:xMode val="edge"/>
              <c:yMode val="edge"/>
              <c:x val="1.0822834645669405E-2"/>
              <c:y val="0.31428001968503938"/>
            </c:manualLayout>
          </c:layout>
        </c:title>
        <c:numFmt formatCode="0" sourceLinked="0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94275456"/>
        <c:crosses val="autoZero"/>
        <c:crossBetween val="between"/>
        <c:majorUnit val="10"/>
      </c:valAx>
    </c:plotArea>
    <c:legend>
      <c:legendPos val="r"/>
      <c:layout>
        <c:manualLayout>
          <c:xMode val="edge"/>
          <c:yMode val="edge"/>
          <c:x val="0.71840563561630355"/>
          <c:y val="4.8737790972849838E-2"/>
          <c:w val="0.13536807309463675"/>
          <c:h val="0.10533281700443181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spPr>
    <a:solidFill>
      <a:schemeClr val="bg1"/>
    </a:solidFill>
  </c:spPr>
  <c:txPr>
    <a:bodyPr/>
    <a:lstStyle/>
    <a:p>
      <a:pPr>
        <a:defRPr sz="1800">
          <a:latin typeface="+mj-lt"/>
        </a:defRPr>
      </a:pPr>
      <a:endParaRPr lang="en-US"/>
    </a:p>
  </c:txPr>
  <c:externalData r:id="rId1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8.6599030890369508E-2"/>
          <c:y val="4.3607954545454547E-2"/>
          <c:w val="0.66351377952755908"/>
          <c:h val="0.85718751344606514"/>
        </c:manualLayout>
      </c:layout>
      <c:lineChart>
        <c:grouping val="standard"/>
        <c:ser>
          <c:idx val="2"/>
          <c:order val="0"/>
          <c:tx>
            <c:strRef>
              <c:f>Sheet1!$A$2</c:f>
              <c:strCache>
                <c:ptCount val="1"/>
                <c:pt idx="0">
                  <c:v>Ask questions in class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dPt>
            <c:idx val="33"/>
            <c:spPr>
              <a:ln w="38100">
                <a:prstDash val="dash"/>
              </a:ln>
            </c:spPr>
          </c:dPt>
          <c:cat>
            <c:strRef>
              <c:f>Sheet1!$B$1:$F$1</c:f>
              <c:strCach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strCache>
            </c:strRef>
          </c:cat>
          <c:val>
            <c:numRef>
              <c:f>Sheet1!$B$2:$F$2</c:f>
              <c:numCache>
                <c:formatCode>0.0</c:formatCode>
                <c:ptCount val="5"/>
                <c:pt idx="0">
                  <c:v>53.9</c:v>
                </c:pt>
                <c:pt idx="1">
                  <c:v>53.9</c:v>
                </c:pt>
                <c:pt idx="2">
                  <c:v>54.8</c:v>
                </c:pt>
                <c:pt idx="3">
                  <c:v>54.6</c:v>
                </c:pt>
                <c:pt idx="4">
                  <c:v>57.3</c:v>
                </c:pt>
              </c:numCache>
            </c:numRef>
          </c:val>
        </c:ser>
        <c:ser>
          <c:idx val="3"/>
          <c:order val="1"/>
          <c:tx>
            <c:strRef>
              <c:f>Sheet1!$A$3</c:f>
              <c:strCache>
                <c:ptCount val="1"/>
                <c:pt idx="0">
                  <c:v>Accept mistakes as part of the learning process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dPt>
            <c:idx val="33"/>
            <c:spPr>
              <a:ln w="38100">
                <a:prstDash val="dash"/>
              </a:ln>
            </c:spPr>
          </c:dPt>
          <c:cat>
            <c:strRef>
              <c:f>Sheet1!$B$1:$F$1</c:f>
              <c:strCach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strCache>
            </c:strRef>
          </c:cat>
          <c:val>
            <c:numRef>
              <c:f>Sheet1!$B$3:$F$3</c:f>
              <c:numCache>
                <c:formatCode>0.0</c:formatCode>
                <c:ptCount val="5"/>
                <c:pt idx="0">
                  <c:v>51.6</c:v>
                </c:pt>
                <c:pt idx="1">
                  <c:v>51.8</c:v>
                </c:pt>
                <c:pt idx="2">
                  <c:v>53</c:v>
                </c:pt>
                <c:pt idx="3">
                  <c:v>54.2</c:v>
                </c:pt>
                <c:pt idx="4">
                  <c:v>56.3</c:v>
                </c:pt>
              </c:numCache>
            </c:numRef>
          </c:val>
        </c:ser>
        <c:ser>
          <c:idx val="0"/>
          <c:order val="2"/>
          <c:tx>
            <c:strRef>
              <c:f>Sheet1!$A$4</c:f>
              <c:strCache>
                <c:ptCount val="1"/>
                <c:pt idx="0">
                  <c:v>Revise your papers to improve your writing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cat>
            <c:strRef>
              <c:f>Sheet1!$B$1:$F$1</c:f>
              <c:strCach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strCache>
            </c:strRef>
          </c:cat>
          <c:val>
            <c:numRef>
              <c:f>Sheet1!$B$4:$F$4</c:f>
              <c:numCache>
                <c:formatCode>0.0</c:formatCode>
                <c:ptCount val="5"/>
                <c:pt idx="0">
                  <c:v>46.6</c:v>
                </c:pt>
                <c:pt idx="1">
                  <c:v>46.6</c:v>
                </c:pt>
                <c:pt idx="2">
                  <c:v>47</c:v>
                </c:pt>
                <c:pt idx="3">
                  <c:v>47.7</c:v>
                </c:pt>
                <c:pt idx="4">
                  <c:v>50.5</c:v>
                </c:pt>
              </c:numCache>
            </c:numRef>
          </c:val>
        </c:ser>
        <c:ser>
          <c:idx val="4"/>
          <c:order val="3"/>
          <c:tx>
            <c:strRef>
              <c:f>Sheet1!$A$5</c:f>
              <c:strCache>
                <c:ptCount val="1"/>
                <c:pt idx="0">
                  <c:v>Evaluate the quality or reliability of information you received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cat>
            <c:strRef>
              <c:f>Sheet1!$B$1:$F$1</c:f>
              <c:strCach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strCache>
            </c:strRef>
          </c:cat>
          <c:val>
            <c:numRef>
              <c:f>Sheet1!$B$5:$F$5</c:f>
              <c:numCache>
                <c:formatCode>0.0</c:formatCode>
                <c:ptCount val="5"/>
                <c:pt idx="0">
                  <c:v>37</c:v>
                </c:pt>
                <c:pt idx="1">
                  <c:v>36.9</c:v>
                </c:pt>
                <c:pt idx="2">
                  <c:v>38.300000000000004</c:v>
                </c:pt>
                <c:pt idx="3">
                  <c:v>40.1</c:v>
                </c:pt>
                <c:pt idx="4">
                  <c:v>41.9</c:v>
                </c:pt>
              </c:numCache>
            </c:numRef>
          </c:val>
        </c:ser>
        <c:ser>
          <c:idx val="5"/>
          <c:order val="4"/>
          <c:tx>
            <c:strRef>
              <c:f>Sheet1!$A$6</c:f>
              <c:strCache>
                <c:ptCount val="1"/>
                <c:pt idx="0">
                  <c:v>Look up scientific research articles and resources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cat>
            <c:strRef>
              <c:f>Sheet1!$B$1:$F$1</c:f>
              <c:strCache>
                <c:ptCount val="5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</c:strCache>
            </c:strRef>
          </c:cat>
          <c:val>
            <c:numRef>
              <c:f>Sheet1!$B$6:$F$6</c:f>
              <c:numCache>
                <c:formatCode>0.0</c:formatCode>
                <c:ptCount val="5"/>
                <c:pt idx="0">
                  <c:v>22.1</c:v>
                </c:pt>
                <c:pt idx="1">
                  <c:v>21.9</c:v>
                </c:pt>
                <c:pt idx="2">
                  <c:v>23.9</c:v>
                </c:pt>
                <c:pt idx="3">
                  <c:v>24.9</c:v>
                </c:pt>
                <c:pt idx="4">
                  <c:v>27.4</c:v>
                </c:pt>
              </c:numCache>
            </c:numRef>
          </c:val>
        </c:ser>
        <c:marker val="1"/>
        <c:axId val="94606848"/>
        <c:axId val="94608768"/>
      </c:lineChart>
      <c:catAx>
        <c:axId val="94606848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94608768"/>
        <c:crosses val="autoZero"/>
        <c:auto val="1"/>
        <c:lblAlgn val="ctr"/>
        <c:lblOffset val="100"/>
        <c:tickLblSkip val="1"/>
      </c:catAx>
      <c:valAx>
        <c:axId val="94608768"/>
        <c:scaling>
          <c:orientation val="minMax"/>
          <c:max val="7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1026650514839649E-3"/>
              <c:y val="0.36291187986747636"/>
            </c:manualLayout>
          </c:layout>
        </c:title>
        <c:numFmt formatCode="0" sourceLinked="0"/>
        <c:tickLblPos val="nextTo"/>
        <c:crossAx val="94606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6503716241077391"/>
          <c:y val="0.14546706251882477"/>
          <c:w val="0.21461034660387079"/>
          <c:h val="0.67149904557384921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8"/>
  <c:chart>
    <c:autoTitleDeleted val="1"/>
    <c:plotArea>
      <c:layout>
        <c:manualLayout>
          <c:layoutTarget val="inner"/>
          <c:xMode val="edge"/>
          <c:yMode val="edge"/>
          <c:x val="8.6599030890369508E-2"/>
          <c:y val="4.3607954545454547E-2"/>
          <c:w val="0.88466762568140522"/>
          <c:h val="0.85718751344606514"/>
        </c:manualLayout>
      </c:layout>
      <c:lineChart>
        <c:grouping val="standard"/>
        <c:ser>
          <c:idx val="1"/>
          <c:order val="0"/>
          <c:tx>
            <c:strRef>
              <c:f>Sheet1!$A$2</c:f>
              <c:strCache>
                <c:ptCount val="1"/>
                <c:pt idx="0">
                  <c:v>Felt overwhelmed by all I had to do*</c:v>
                </c:pt>
              </c:strCache>
            </c:strRef>
          </c:tx>
          <c:marker>
            <c:symbol val="square"/>
            <c:size val="5"/>
          </c:marker>
          <c:dPt>
            <c:idx val="13"/>
            <c:spPr>
              <a:ln>
                <a:prstDash val="solid"/>
              </a:ln>
            </c:spPr>
          </c:dPt>
          <c:dPt>
            <c:idx val="33"/>
            <c:spPr>
              <a:ln>
                <a:prstDash val="dash"/>
              </a:ln>
            </c:spPr>
          </c:dPt>
          <c:cat>
            <c:strRef>
              <c:f>Sheet1!$B$1:$AC$1</c:f>
              <c:strCache>
                <c:ptCount val="28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</c:strCache>
            </c:strRef>
          </c:cat>
          <c:val>
            <c:numRef>
              <c:f>Sheet1!$B$2:$AC$2</c:f>
              <c:numCache>
                <c:formatCode>0.0</c:formatCode>
                <c:ptCount val="28"/>
                <c:pt idx="0">
                  <c:v>18.100000000000001</c:v>
                </c:pt>
                <c:pt idx="1">
                  <c:v>19.600000000000001</c:v>
                </c:pt>
                <c:pt idx="2">
                  <c:v>18.600000000000001</c:v>
                </c:pt>
                <c:pt idx="3">
                  <c:v>23.7</c:v>
                </c:pt>
                <c:pt idx="4">
                  <c:v>21</c:v>
                </c:pt>
                <c:pt idx="5">
                  <c:v>21.4</c:v>
                </c:pt>
                <c:pt idx="6">
                  <c:v>22.1</c:v>
                </c:pt>
                <c:pt idx="7">
                  <c:v>23.8</c:v>
                </c:pt>
                <c:pt idx="8">
                  <c:v>24.6</c:v>
                </c:pt>
                <c:pt idx="9">
                  <c:v>26.1</c:v>
                </c:pt>
                <c:pt idx="10">
                  <c:v>26.5</c:v>
                </c:pt>
                <c:pt idx="11">
                  <c:v>29.5</c:v>
                </c:pt>
                <c:pt idx="12">
                  <c:v>29.6</c:v>
                </c:pt>
                <c:pt idx="13">
                  <c:v>29.9</c:v>
                </c:pt>
                <c:pt idx="14">
                  <c:v>30.7</c:v>
                </c:pt>
                <c:pt idx="15">
                  <c:v>28.1</c:v>
                </c:pt>
                <c:pt idx="16">
                  <c:v>28</c:v>
                </c:pt>
                <c:pt idx="17">
                  <c:v>26.8</c:v>
                </c:pt>
                <c:pt idx="18">
                  <c:v>26.5</c:v>
                </c:pt>
                <c:pt idx="19">
                  <c:v>27.4</c:v>
                </c:pt>
                <c:pt idx="20">
                  <c:v>26.8</c:v>
                </c:pt>
                <c:pt idx="21">
                  <c:v>28.7</c:v>
                </c:pt>
                <c:pt idx="22">
                  <c:v>27.7</c:v>
                </c:pt>
                <c:pt idx="23">
                  <c:v>28.2</c:v>
                </c:pt>
                <c:pt idx="24">
                  <c:v>27.1</c:v>
                </c:pt>
                <c:pt idx="25">
                  <c:v>29.1</c:v>
                </c:pt>
                <c:pt idx="26">
                  <c:v>28.5</c:v>
                </c:pt>
                <c:pt idx="27">
                  <c:v>30.4</c:v>
                </c:pt>
              </c:numCache>
            </c:numRef>
          </c:val>
        </c:ser>
        <c:marker val="1"/>
        <c:axId val="94760960"/>
        <c:axId val="94762496"/>
      </c:lineChart>
      <c:catAx>
        <c:axId val="94760960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94762496"/>
        <c:crosses val="autoZero"/>
        <c:auto val="1"/>
        <c:lblAlgn val="ctr"/>
        <c:lblOffset val="100"/>
        <c:tickLblSkip val="3"/>
      </c:catAx>
      <c:valAx>
        <c:axId val="94762496"/>
        <c:scaling>
          <c:orientation val="minMax"/>
          <c:max val="5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1026650514839649E-3"/>
              <c:y val="0.34925067768168355"/>
            </c:manualLayout>
          </c:layout>
        </c:title>
        <c:numFmt formatCode="0" sourceLinked="0"/>
        <c:tickLblPos val="nextTo"/>
        <c:crossAx val="94760960"/>
        <c:crosses val="autoZero"/>
        <c:crossBetween val="between"/>
      </c:valAx>
    </c:plotArea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style val="8"/>
  <c:chart>
    <c:autoTitleDeleted val="1"/>
    <c:plotArea>
      <c:layout>
        <c:manualLayout>
          <c:layoutTarget val="inner"/>
          <c:xMode val="edge"/>
          <c:yMode val="edge"/>
          <c:x val="7.6983646274984857E-2"/>
          <c:y val="4.9355145262014656E-2"/>
          <c:w val="0.87505224106602053"/>
          <c:h val="0.85718751344606514"/>
        </c:manualLayout>
      </c:layout>
      <c:lineChart>
        <c:grouping val="standard"/>
        <c:ser>
          <c:idx val="1"/>
          <c:order val="0"/>
          <c:tx>
            <c:strRef>
              <c:f>Sheet1!$A$2</c:f>
              <c:strCache>
                <c:ptCount val="1"/>
                <c:pt idx="0">
                  <c:v>Women</c:v>
                </c:pt>
              </c:strCache>
            </c:strRef>
          </c:tx>
          <c:spPr>
            <a:ln w="38100"/>
          </c:spPr>
          <c:marker>
            <c:symbol val="square"/>
            <c:size val="5"/>
            <c:spPr>
              <a:ln w="25400"/>
            </c:spPr>
          </c:marker>
          <c:dPt>
            <c:idx val="13"/>
            <c:spPr>
              <a:ln w="38100">
                <a:prstDash val="solid"/>
              </a:ln>
            </c:spPr>
          </c:dPt>
          <c:dPt>
            <c:idx val="14"/>
            <c:spPr>
              <a:ln w="38100">
                <a:prstDash val="solid"/>
              </a:ln>
            </c:spPr>
          </c:dPt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Sheet1!$B$1:$AC$1</c:f>
              <c:strCache>
                <c:ptCount val="28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</c:strCache>
            </c:strRef>
          </c:cat>
          <c:val>
            <c:numRef>
              <c:f>Sheet1!$B$2:$AC$2</c:f>
              <c:numCache>
                <c:formatCode>0.0</c:formatCode>
                <c:ptCount val="28"/>
                <c:pt idx="0">
                  <c:v>22.6</c:v>
                </c:pt>
                <c:pt idx="1">
                  <c:v>24.5</c:v>
                </c:pt>
                <c:pt idx="2">
                  <c:v>23.9</c:v>
                </c:pt>
                <c:pt idx="3">
                  <c:v>30.7</c:v>
                </c:pt>
                <c:pt idx="4">
                  <c:v>27.3</c:v>
                </c:pt>
                <c:pt idx="5">
                  <c:v>28.1</c:v>
                </c:pt>
                <c:pt idx="6">
                  <c:v>29.3</c:v>
                </c:pt>
                <c:pt idx="7">
                  <c:v>31.4</c:v>
                </c:pt>
                <c:pt idx="8">
                  <c:v>32.1</c:v>
                </c:pt>
                <c:pt idx="9">
                  <c:v>33.800000000000004</c:v>
                </c:pt>
                <c:pt idx="10">
                  <c:v>34.200000000000003</c:v>
                </c:pt>
                <c:pt idx="11">
                  <c:v>38.1</c:v>
                </c:pt>
                <c:pt idx="12">
                  <c:v>38.4</c:v>
                </c:pt>
                <c:pt idx="13">
                  <c:v>38.6</c:v>
                </c:pt>
                <c:pt idx="14">
                  <c:v>39.6</c:v>
                </c:pt>
                <c:pt idx="15">
                  <c:v>36.4</c:v>
                </c:pt>
                <c:pt idx="16">
                  <c:v>36.6</c:v>
                </c:pt>
                <c:pt idx="17">
                  <c:v>35.200000000000003</c:v>
                </c:pt>
                <c:pt idx="18">
                  <c:v>35.1</c:v>
                </c:pt>
                <c:pt idx="19">
                  <c:v>36.4</c:v>
                </c:pt>
                <c:pt idx="20">
                  <c:v>35.6</c:v>
                </c:pt>
                <c:pt idx="21">
                  <c:v>38</c:v>
                </c:pt>
                <c:pt idx="22">
                  <c:v>36.800000000000004</c:v>
                </c:pt>
                <c:pt idx="23">
                  <c:v>37.300000000000004</c:v>
                </c:pt>
                <c:pt idx="24">
                  <c:v>36.4</c:v>
                </c:pt>
                <c:pt idx="25">
                  <c:v>38.800000000000004</c:v>
                </c:pt>
                <c:pt idx="26">
                  <c:v>38.1</c:v>
                </c:pt>
                <c:pt idx="27">
                  <c:v>40.5</c:v>
                </c:pt>
              </c:numCache>
            </c:numRef>
          </c:val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Men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dPt>
            <c:idx val="14"/>
            <c:spPr>
              <a:ln w="38100">
                <a:prstDash val="solid"/>
              </a:ln>
            </c:spPr>
          </c:dPt>
          <c:cat>
            <c:strRef>
              <c:f>Sheet1!$B$1:$AC$1</c:f>
              <c:strCache>
                <c:ptCount val="28"/>
                <c:pt idx="0">
                  <c:v>1985</c:v>
                </c:pt>
                <c:pt idx="1">
                  <c:v>1986</c:v>
                </c:pt>
                <c:pt idx="2">
                  <c:v>1987</c:v>
                </c:pt>
                <c:pt idx="3">
                  <c:v>1988</c:v>
                </c:pt>
                <c:pt idx="4">
                  <c:v>1989</c:v>
                </c:pt>
                <c:pt idx="5">
                  <c:v>1990</c:v>
                </c:pt>
                <c:pt idx="6">
                  <c:v>1991</c:v>
                </c:pt>
                <c:pt idx="7">
                  <c:v>1992</c:v>
                </c:pt>
                <c:pt idx="8">
                  <c:v>1993</c:v>
                </c:pt>
                <c:pt idx="9">
                  <c:v>1994</c:v>
                </c:pt>
                <c:pt idx="10">
                  <c:v>1995</c:v>
                </c:pt>
                <c:pt idx="11">
                  <c:v>1996</c:v>
                </c:pt>
                <c:pt idx="12">
                  <c:v>1997</c:v>
                </c:pt>
                <c:pt idx="13">
                  <c:v>1998</c:v>
                </c:pt>
                <c:pt idx="14">
                  <c:v>1999</c:v>
                </c:pt>
                <c:pt idx="15">
                  <c:v>2000</c:v>
                </c:pt>
                <c:pt idx="16">
                  <c:v>2001</c:v>
                </c:pt>
                <c:pt idx="17">
                  <c:v>2002</c:v>
                </c:pt>
                <c:pt idx="18">
                  <c:v>2003</c:v>
                </c:pt>
                <c:pt idx="19">
                  <c:v>2004</c:v>
                </c:pt>
                <c:pt idx="20">
                  <c:v>2005</c:v>
                </c:pt>
                <c:pt idx="21">
                  <c:v>2006</c:v>
                </c:pt>
                <c:pt idx="22">
                  <c:v>2007</c:v>
                </c:pt>
                <c:pt idx="23">
                  <c:v>2008</c:v>
                </c:pt>
                <c:pt idx="24">
                  <c:v>2009</c:v>
                </c:pt>
                <c:pt idx="25">
                  <c:v>2010</c:v>
                </c:pt>
                <c:pt idx="26">
                  <c:v>2011</c:v>
                </c:pt>
                <c:pt idx="27">
                  <c:v>2012</c:v>
                </c:pt>
              </c:strCache>
            </c:strRef>
          </c:cat>
          <c:val>
            <c:numRef>
              <c:f>Sheet1!$B$3:$AC$3</c:f>
              <c:numCache>
                <c:formatCode>0.0</c:formatCode>
                <c:ptCount val="28"/>
                <c:pt idx="0">
                  <c:v>13.4</c:v>
                </c:pt>
                <c:pt idx="1">
                  <c:v>14.3</c:v>
                </c:pt>
                <c:pt idx="2">
                  <c:v>12.9</c:v>
                </c:pt>
                <c:pt idx="3">
                  <c:v>15.9</c:v>
                </c:pt>
                <c:pt idx="4">
                  <c:v>14</c:v>
                </c:pt>
                <c:pt idx="5">
                  <c:v>13.8</c:v>
                </c:pt>
                <c:pt idx="6">
                  <c:v>14.2</c:v>
                </c:pt>
                <c:pt idx="7">
                  <c:v>15.3</c:v>
                </c:pt>
                <c:pt idx="8">
                  <c:v>15.7</c:v>
                </c:pt>
                <c:pt idx="9">
                  <c:v>16.899999999999999</c:v>
                </c:pt>
                <c:pt idx="10">
                  <c:v>17.2</c:v>
                </c:pt>
                <c:pt idx="11">
                  <c:v>19.3</c:v>
                </c:pt>
                <c:pt idx="12">
                  <c:v>18.899999999999999</c:v>
                </c:pt>
                <c:pt idx="13">
                  <c:v>19.5</c:v>
                </c:pt>
                <c:pt idx="14">
                  <c:v>19.899999999999999</c:v>
                </c:pt>
                <c:pt idx="15">
                  <c:v>17.899999999999999</c:v>
                </c:pt>
                <c:pt idx="16">
                  <c:v>17.399999999999999</c:v>
                </c:pt>
                <c:pt idx="17">
                  <c:v>16.399999999999999</c:v>
                </c:pt>
                <c:pt idx="18">
                  <c:v>15.9</c:v>
                </c:pt>
                <c:pt idx="19">
                  <c:v>16.3</c:v>
                </c:pt>
                <c:pt idx="20">
                  <c:v>15.9</c:v>
                </c:pt>
                <c:pt idx="21">
                  <c:v>17.3</c:v>
                </c:pt>
                <c:pt idx="22">
                  <c:v>16.5</c:v>
                </c:pt>
                <c:pt idx="23">
                  <c:v>17</c:v>
                </c:pt>
                <c:pt idx="24">
                  <c:v>15.9</c:v>
                </c:pt>
                <c:pt idx="25">
                  <c:v>17.600000000000001</c:v>
                </c:pt>
                <c:pt idx="26">
                  <c:v>16.899999999999999</c:v>
                </c:pt>
                <c:pt idx="27">
                  <c:v>18.3</c:v>
                </c:pt>
              </c:numCache>
            </c:numRef>
          </c:val>
        </c:ser>
        <c:marker val="1"/>
        <c:axId val="94795264"/>
        <c:axId val="94796800"/>
      </c:lineChart>
      <c:catAx>
        <c:axId val="94795264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94796800"/>
        <c:crosses val="autoZero"/>
        <c:auto val="1"/>
        <c:lblAlgn val="ctr"/>
        <c:lblOffset val="100"/>
        <c:tickLblSkip val="3"/>
      </c:catAx>
      <c:valAx>
        <c:axId val="94796800"/>
        <c:scaling>
          <c:orientation val="minMax"/>
          <c:max val="5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1026650514839614E-3"/>
              <c:y val="0.34925067768168355"/>
            </c:manualLayout>
          </c:layout>
        </c:title>
        <c:numFmt formatCode="0" sourceLinked="0"/>
        <c:tickLblPos val="nextTo"/>
        <c:crossAx val="9479526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1035142842721588"/>
          <c:y val="0.7588682233686308"/>
          <c:w val="0.24798190490611755"/>
          <c:h val="9.72060819983709E-2"/>
        </c:manualLayout>
      </c:layout>
      <c:spPr>
        <a:ln>
          <a:solidFill>
            <a:srgbClr val="00234B"/>
          </a:solidFill>
        </a:ln>
      </c:spPr>
    </c:legend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plotArea>
      <c:layout>
        <c:manualLayout>
          <c:layoutTarget val="inner"/>
          <c:xMode val="edge"/>
          <c:yMode val="edge"/>
          <c:x val="9.4000148566335068E-2"/>
          <c:y val="3.7195374015748094E-2"/>
          <c:w val="0.89321014708067159"/>
          <c:h val="0.86519071204809395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Not at all Overwhelmed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High Emotional Health</c:v>
                </c:pt>
                <c:pt idx="1">
                  <c:v>High Social Self-Concept</c:v>
                </c:pt>
                <c:pt idx="2">
                  <c:v>High Academic Self-Concept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67.400000000000006</c:v>
                </c:pt>
                <c:pt idx="1">
                  <c:v>34.4</c:v>
                </c:pt>
                <c:pt idx="2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Frequently Overwhelmed</c:v>
                </c:pt>
              </c:strCache>
            </c:strRef>
          </c:tx>
          <c:dLbls>
            <c:txPr>
              <a:bodyPr/>
              <a:lstStyle/>
              <a:p>
                <a:pPr>
                  <a:defRPr sz="1200"/>
                </a:pPr>
                <a:endParaRPr lang="en-US"/>
              </a:p>
            </c:txPr>
            <c:dLblPos val="outEnd"/>
            <c:showVal val="1"/>
          </c:dLbls>
          <c:cat>
            <c:strRef>
              <c:f>Sheet1!$A$2:$A$4</c:f>
              <c:strCache>
                <c:ptCount val="3"/>
                <c:pt idx="0">
                  <c:v>High Emotional Health</c:v>
                </c:pt>
                <c:pt idx="1">
                  <c:v>High Social Self-Concept</c:v>
                </c:pt>
                <c:pt idx="2">
                  <c:v>High Academic Self-Concept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40.200000000000003</c:v>
                </c:pt>
                <c:pt idx="1">
                  <c:v>23.4</c:v>
                </c:pt>
                <c:pt idx="2">
                  <c:v>20.5</c:v>
                </c:pt>
              </c:numCache>
            </c:numRef>
          </c:val>
        </c:ser>
        <c:axId val="94570368"/>
        <c:axId val="94571904"/>
      </c:barChart>
      <c:catAx>
        <c:axId val="94570368"/>
        <c:scaling>
          <c:orientation val="minMax"/>
        </c:scaling>
        <c:axPos val="b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94571904"/>
        <c:crosses val="autoZero"/>
        <c:auto val="1"/>
        <c:lblAlgn val="ctr"/>
        <c:lblOffset val="100"/>
      </c:catAx>
      <c:valAx>
        <c:axId val="94571904"/>
        <c:scaling>
          <c:orientation val="minMax"/>
          <c:max val="100"/>
        </c:scaling>
        <c:axPos val="l"/>
        <c:title>
          <c:tx>
            <c:rich>
              <a:bodyPr rot="-5400000" vert="horz"/>
              <a:lstStyle/>
              <a:p>
                <a:pPr>
                  <a:defRPr sz="1200"/>
                </a:pPr>
                <a:r>
                  <a:rPr lang="en-US" sz="1200" dirty="0" smtClean="0"/>
                  <a:t>% of Students</a:t>
                </a:r>
              </a:p>
            </c:rich>
          </c:tx>
          <c:layout>
            <c:manualLayout>
              <c:xMode val="edge"/>
              <c:yMode val="edge"/>
              <c:x val="1.0822834645669414E-2"/>
              <c:y val="0.31428001968503938"/>
            </c:manualLayout>
          </c:layout>
        </c:title>
        <c:numFmt formatCode="0" sourceLinked="0"/>
        <c:tickLblPos val="nextTo"/>
        <c:txPr>
          <a:bodyPr/>
          <a:lstStyle/>
          <a:p>
            <a:pPr>
              <a:defRPr sz="1200"/>
            </a:pPr>
            <a:endParaRPr lang="en-US"/>
          </a:p>
        </c:txPr>
        <c:crossAx val="94570368"/>
        <c:crosses val="autoZero"/>
        <c:crossBetween val="between"/>
        <c:majorUnit val="10"/>
      </c:valAx>
    </c:plotArea>
    <c:legend>
      <c:legendPos val="r"/>
      <c:layout>
        <c:manualLayout>
          <c:xMode val="edge"/>
          <c:yMode val="edge"/>
          <c:x val="0.51872010102510768"/>
          <c:y val="0.12370654326104004"/>
          <c:w val="0.23920455108205818"/>
          <c:h val="9.7353058140459747E-2"/>
        </c:manualLayout>
      </c:layout>
      <c:spPr>
        <a:ln>
          <a:solidFill>
            <a:srgbClr val="00234B"/>
          </a:solidFill>
        </a:ln>
      </c:spPr>
      <c:txPr>
        <a:bodyPr/>
        <a:lstStyle/>
        <a:p>
          <a:pPr>
            <a:defRPr sz="1200"/>
          </a:pPr>
          <a:endParaRPr lang="en-US"/>
        </a:p>
      </c:txPr>
    </c:legend>
    <c:plotVisOnly val="1"/>
    <c:dispBlanksAs val="gap"/>
  </c:chart>
  <c:spPr>
    <a:solidFill>
      <a:schemeClr val="bg1"/>
    </a:solidFill>
  </c:spPr>
  <c:txPr>
    <a:bodyPr/>
    <a:lstStyle/>
    <a:p>
      <a:pPr>
        <a:defRPr sz="1800">
          <a:latin typeface="+mj-lt"/>
        </a:defRPr>
      </a:pPr>
      <a:endParaRPr lang="en-US"/>
    </a:p>
  </c:txPr>
  <c:externalData r:id="rId1"/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8"/>
  <c:chart>
    <c:autoTitleDeleted val="1"/>
    <c:plotArea>
      <c:layout>
        <c:manualLayout>
          <c:layoutTarget val="inner"/>
          <c:xMode val="edge"/>
          <c:yMode val="edge"/>
          <c:x val="8.6599030890369508E-2"/>
          <c:y val="4.3607954545454547E-2"/>
          <c:w val="0.88466762568140522"/>
          <c:h val="0.85718751344606514"/>
        </c:manualLayout>
      </c:layout>
      <c:lineChart>
        <c:grouping val="standard"/>
        <c:ser>
          <c:idx val="1"/>
          <c:order val="0"/>
          <c:tx>
            <c:strRef>
              <c:f>Sheet1!$A$2</c:f>
              <c:strCache>
                <c:ptCount val="1"/>
                <c:pt idx="0">
                  <c:v>College residence</c:v>
                </c:pt>
              </c:strCache>
            </c:strRef>
          </c:tx>
          <c:spPr>
            <a:ln w="38100"/>
          </c:spPr>
          <c:marker>
            <c:symbol val="square"/>
            <c:size val="5"/>
            <c:spPr>
              <a:ln w="25400"/>
            </c:spPr>
          </c:marker>
          <c:dPt>
            <c:idx val="13"/>
            <c:spPr>
              <a:ln w="38100">
                <a:prstDash val="solid"/>
              </a:ln>
            </c:spPr>
          </c:dPt>
          <c:dPt>
            <c:idx val="33"/>
            <c:spPr>
              <a:ln w="38100">
                <a:prstDash val="dash"/>
              </a:ln>
            </c:spPr>
          </c:dPt>
          <c:cat>
            <c:strRef>
              <c:f>Sheet1!$B$1:$AO$1</c:f>
              <c:strCache>
                <c:ptCount val="40"/>
                <c:pt idx="0">
                  <c:v>1973</c:v>
                </c:pt>
                <c:pt idx="1">
                  <c:v>1974</c:v>
                </c:pt>
                <c:pt idx="2">
                  <c:v>1975</c:v>
                </c:pt>
                <c:pt idx="3">
                  <c:v>1976</c:v>
                </c:pt>
                <c:pt idx="4">
                  <c:v>1977</c:v>
                </c:pt>
                <c:pt idx="5">
                  <c:v>1978</c:v>
                </c:pt>
                <c:pt idx="6">
                  <c:v>1979</c:v>
                </c:pt>
                <c:pt idx="7">
                  <c:v>1980</c:v>
                </c:pt>
                <c:pt idx="8">
                  <c:v>1981</c:v>
                </c:pt>
                <c:pt idx="9">
                  <c:v>1982</c:v>
                </c:pt>
                <c:pt idx="10">
                  <c:v>1983</c:v>
                </c:pt>
                <c:pt idx="11">
                  <c:v>1984</c:v>
                </c:pt>
                <c:pt idx="12">
                  <c:v>1985</c:v>
                </c:pt>
                <c:pt idx="13">
                  <c:v>1986</c:v>
                </c:pt>
                <c:pt idx="14">
                  <c:v>1987</c:v>
                </c:pt>
                <c:pt idx="15">
                  <c:v>1988</c:v>
                </c:pt>
                <c:pt idx="16">
                  <c:v>1989</c:v>
                </c:pt>
                <c:pt idx="17">
                  <c:v>1990</c:v>
                </c:pt>
                <c:pt idx="18">
                  <c:v>1991</c:v>
                </c:pt>
                <c:pt idx="19">
                  <c:v>1992</c:v>
                </c:pt>
                <c:pt idx="20">
                  <c:v>1993</c:v>
                </c:pt>
                <c:pt idx="21">
                  <c:v>1994</c:v>
                </c:pt>
                <c:pt idx="22">
                  <c:v>1995</c:v>
                </c:pt>
                <c:pt idx="23">
                  <c:v>1996</c:v>
                </c:pt>
                <c:pt idx="24">
                  <c:v>1997</c:v>
                </c:pt>
                <c:pt idx="25">
                  <c:v>1998</c:v>
                </c:pt>
                <c:pt idx="26">
                  <c:v>1999</c:v>
                </c:pt>
                <c:pt idx="27">
                  <c:v>2000</c:v>
                </c:pt>
                <c:pt idx="28">
                  <c:v>2001</c:v>
                </c:pt>
                <c:pt idx="29">
                  <c:v>2002</c:v>
                </c:pt>
                <c:pt idx="30">
                  <c:v>2003</c:v>
                </c:pt>
                <c:pt idx="31">
                  <c:v>2004</c:v>
                </c:pt>
                <c:pt idx="32">
                  <c:v>2005</c:v>
                </c:pt>
                <c:pt idx="33">
                  <c:v>2006</c:v>
                </c:pt>
                <c:pt idx="34">
                  <c:v>2007</c:v>
                </c:pt>
                <c:pt idx="35">
                  <c:v>2008</c:v>
                </c:pt>
                <c:pt idx="36">
                  <c:v>2009</c:v>
                </c:pt>
                <c:pt idx="37">
                  <c:v>2010</c:v>
                </c:pt>
                <c:pt idx="38">
                  <c:v>2011</c:v>
                </c:pt>
                <c:pt idx="39">
                  <c:v>2012</c:v>
                </c:pt>
              </c:strCache>
            </c:strRef>
          </c:cat>
          <c:val>
            <c:numRef>
              <c:f>Sheet1!$B$2:$AO$2</c:f>
              <c:numCache>
                <c:formatCode>0.0</c:formatCode>
                <c:ptCount val="40"/>
                <c:pt idx="0">
                  <c:v>74.3</c:v>
                </c:pt>
                <c:pt idx="1">
                  <c:v>72.900000000000006</c:v>
                </c:pt>
                <c:pt idx="2">
                  <c:v>71.8</c:v>
                </c:pt>
                <c:pt idx="3">
                  <c:v>70</c:v>
                </c:pt>
                <c:pt idx="4">
                  <c:v>66.7</c:v>
                </c:pt>
                <c:pt idx="5">
                  <c:v>71.099999999999994</c:v>
                </c:pt>
                <c:pt idx="6">
                  <c:v>72.2</c:v>
                </c:pt>
                <c:pt idx="7">
                  <c:v>71.5</c:v>
                </c:pt>
                <c:pt idx="8">
                  <c:v>74.900000000000006</c:v>
                </c:pt>
                <c:pt idx="9">
                  <c:v>72.7</c:v>
                </c:pt>
                <c:pt idx="10">
                  <c:v>72.3</c:v>
                </c:pt>
                <c:pt idx="11">
                  <c:v>72.900000000000006</c:v>
                </c:pt>
                <c:pt idx="12">
                  <c:v>76</c:v>
                </c:pt>
                <c:pt idx="13">
                  <c:v>75.599999999999994</c:v>
                </c:pt>
                <c:pt idx="14">
                  <c:v>78.3</c:v>
                </c:pt>
                <c:pt idx="15">
                  <c:v>76.2</c:v>
                </c:pt>
                <c:pt idx="16">
                  <c:v>77</c:v>
                </c:pt>
                <c:pt idx="17">
                  <c:v>79.099999999999994</c:v>
                </c:pt>
                <c:pt idx="18">
                  <c:v>78</c:v>
                </c:pt>
                <c:pt idx="19">
                  <c:v>79.400000000000006</c:v>
                </c:pt>
                <c:pt idx="20">
                  <c:v>79.8</c:v>
                </c:pt>
                <c:pt idx="21">
                  <c:v>79.5</c:v>
                </c:pt>
                <c:pt idx="22">
                  <c:v>79.099999999999994</c:v>
                </c:pt>
                <c:pt idx="23">
                  <c:v>78.2</c:v>
                </c:pt>
                <c:pt idx="24">
                  <c:v>79.2</c:v>
                </c:pt>
                <c:pt idx="25">
                  <c:v>80</c:v>
                </c:pt>
                <c:pt idx="26">
                  <c:v>79.2</c:v>
                </c:pt>
                <c:pt idx="27">
                  <c:v>75.400000000000006</c:v>
                </c:pt>
                <c:pt idx="28">
                  <c:v>75.900000000000006</c:v>
                </c:pt>
                <c:pt idx="29">
                  <c:v>75.5</c:v>
                </c:pt>
                <c:pt idx="30">
                  <c:v>77.400000000000006</c:v>
                </c:pt>
                <c:pt idx="31">
                  <c:v>77.7</c:v>
                </c:pt>
                <c:pt idx="32">
                  <c:v>79.3</c:v>
                </c:pt>
                <c:pt idx="33">
                  <c:v>79.099999999999994</c:v>
                </c:pt>
                <c:pt idx="34">
                  <c:v>80.3</c:v>
                </c:pt>
                <c:pt idx="35">
                  <c:v>77.7</c:v>
                </c:pt>
                <c:pt idx="36">
                  <c:v>79.5</c:v>
                </c:pt>
                <c:pt idx="37">
                  <c:v>78.400000000000006</c:v>
                </c:pt>
                <c:pt idx="38">
                  <c:v>79.3</c:v>
                </c:pt>
                <c:pt idx="39">
                  <c:v>76.099999999999994</c:v>
                </c:pt>
              </c:numCache>
            </c:numRef>
          </c:val>
        </c:ser>
        <c:ser>
          <c:idx val="0"/>
          <c:order val="1"/>
          <c:tx>
            <c:strRef>
              <c:f>Sheet1!$A$3</c:f>
              <c:strCache>
                <c:ptCount val="1"/>
                <c:pt idx="0">
                  <c:v>With parents or relatives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cat>
            <c:strRef>
              <c:f>Sheet1!$B$1:$AO$1</c:f>
              <c:strCache>
                <c:ptCount val="40"/>
                <c:pt idx="0">
                  <c:v>1973</c:v>
                </c:pt>
                <c:pt idx="1">
                  <c:v>1974</c:v>
                </c:pt>
                <c:pt idx="2">
                  <c:v>1975</c:v>
                </c:pt>
                <c:pt idx="3">
                  <c:v>1976</c:v>
                </c:pt>
                <c:pt idx="4">
                  <c:v>1977</c:v>
                </c:pt>
                <c:pt idx="5">
                  <c:v>1978</c:v>
                </c:pt>
                <c:pt idx="6">
                  <c:v>1979</c:v>
                </c:pt>
                <c:pt idx="7">
                  <c:v>1980</c:v>
                </c:pt>
                <c:pt idx="8">
                  <c:v>1981</c:v>
                </c:pt>
                <c:pt idx="9">
                  <c:v>1982</c:v>
                </c:pt>
                <c:pt idx="10">
                  <c:v>1983</c:v>
                </c:pt>
                <c:pt idx="11">
                  <c:v>1984</c:v>
                </c:pt>
                <c:pt idx="12">
                  <c:v>1985</c:v>
                </c:pt>
                <c:pt idx="13">
                  <c:v>1986</c:v>
                </c:pt>
                <c:pt idx="14">
                  <c:v>1987</c:v>
                </c:pt>
                <c:pt idx="15">
                  <c:v>1988</c:v>
                </c:pt>
                <c:pt idx="16">
                  <c:v>1989</c:v>
                </c:pt>
                <c:pt idx="17">
                  <c:v>1990</c:v>
                </c:pt>
                <c:pt idx="18">
                  <c:v>1991</c:v>
                </c:pt>
                <c:pt idx="19">
                  <c:v>1992</c:v>
                </c:pt>
                <c:pt idx="20">
                  <c:v>1993</c:v>
                </c:pt>
                <c:pt idx="21">
                  <c:v>1994</c:v>
                </c:pt>
                <c:pt idx="22">
                  <c:v>1995</c:v>
                </c:pt>
                <c:pt idx="23">
                  <c:v>1996</c:v>
                </c:pt>
                <c:pt idx="24">
                  <c:v>1997</c:v>
                </c:pt>
                <c:pt idx="25">
                  <c:v>1998</c:v>
                </c:pt>
                <c:pt idx="26">
                  <c:v>1999</c:v>
                </c:pt>
                <c:pt idx="27">
                  <c:v>2000</c:v>
                </c:pt>
                <c:pt idx="28">
                  <c:v>2001</c:v>
                </c:pt>
                <c:pt idx="29">
                  <c:v>2002</c:v>
                </c:pt>
                <c:pt idx="30">
                  <c:v>2003</c:v>
                </c:pt>
                <c:pt idx="31">
                  <c:v>2004</c:v>
                </c:pt>
                <c:pt idx="32">
                  <c:v>2005</c:v>
                </c:pt>
                <c:pt idx="33">
                  <c:v>2006</c:v>
                </c:pt>
                <c:pt idx="34">
                  <c:v>2007</c:v>
                </c:pt>
                <c:pt idx="35">
                  <c:v>2008</c:v>
                </c:pt>
                <c:pt idx="36">
                  <c:v>2009</c:v>
                </c:pt>
                <c:pt idx="37">
                  <c:v>2010</c:v>
                </c:pt>
                <c:pt idx="38">
                  <c:v>2011</c:v>
                </c:pt>
                <c:pt idx="39">
                  <c:v>2012</c:v>
                </c:pt>
              </c:strCache>
            </c:strRef>
          </c:cat>
          <c:val>
            <c:numRef>
              <c:f>Sheet1!$B$3:$AO$3</c:f>
              <c:numCache>
                <c:formatCode>0.0</c:formatCode>
                <c:ptCount val="40"/>
                <c:pt idx="0">
                  <c:v>21</c:v>
                </c:pt>
                <c:pt idx="1">
                  <c:v>21.9</c:v>
                </c:pt>
                <c:pt idx="2">
                  <c:v>21.9</c:v>
                </c:pt>
                <c:pt idx="3">
                  <c:v>23.7</c:v>
                </c:pt>
                <c:pt idx="4">
                  <c:v>26.3</c:v>
                </c:pt>
                <c:pt idx="5">
                  <c:v>22.9</c:v>
                </c:pt>
                <c:pt idx="6">
                  <c:v>20.8</c:v>
                </c:pt>
                <c:pt idx="7">
                  <c:v>21.2</c:v>
                </c:pt>
                <c:pt idx="8">
                  <c:v>18.8</c:v>
                </c:pt>
                <c:pt idx="9">
                  <c:v>20.7</c:v>
                </c:pt>
                <c:pt idx="10">
                  <c:v>22.4</c:v>
                </c:pt>
                <c:pt idx="11">
                  <c:v>21.6</c:v>
                </c:pt>
                <c:pt idx="12">
                  <c:v>18.5</c:v>
                </c:pt>
                <c:pt idx="13">
                  <c:v>17.100000000000001</c:v>
                </c:pt>
                <c:pt idx="14">
                  <c:v>15.1</c:v>
                </c:pt>
                <c:pt idx="15">
                  <c:v>16.5</c:v>
                </c:pt>
                <c:pt idx="16">
                  <c:v>16.2</c:v>
                </c:pt>
                <c:pt idx="17">
                  <c:v>15.5</c:v>
                </c:pt>
                <c:pt idx="18">
                  <c:v>16.3</c:v>
                </c:pt>
                <c:pt idx="19">
                  <c:v>14.9</c:v>
                </c:pt>
                <c:pt idx="20">
                  <c:v>14.7</c:v>
                </c:pt>
                <c:pt idx="21">
                  <c:v>15.1</c:v>
                </c:pt>
                <c:pt idx="22">
                  <c:v>15.5</c:v>
                </c:pt>
                <c:pt idx="23">
                  <c:v>16</c:v>
                </c:pt>
                <c:pt idx="24">
                  <c:v>15.2</c:v>
                </c:pt>
                <c:pt idx="25">
                  <c:v>14.4</c:v>
                </c:pt>
                <c:pt idx="26">
                  <c:v>15.2</c:v>
                </c:pt>
                <c:pt idx="27">
                  <c:v>17.600000000000001</c:v>
                </c:pt>
                <c:pt idx="28">
                  <c:v>17.399999999999999</c:v>
                </c:pt>
                <c:pt idx="29">
                  <c:v>16.899999999999999</c:v>
                </c:pt>
                <c:pt idx="30">
                  <c:v>16.399999999999999</c:v>
                </c:pt>
                <c:pt idx="31">
                  <c:v>14.8</c:v>
                </c:pt>
                <c:pt idx="32">
                  <c:v>15.5</c:v>
                </c:pt>
                <c:pt idx="33">
                  <c:v>14.3</c:v>
                </c:pt>
                <c:pt idx="34">
                  <c:v>13.4</c:v>
                </c:pt>
                <c:pt idx="35">
                  <c:v>14.7</c:v>
                </c:pt>
                <c:pt idx="36">
                  <c:v>14.2</c:v>
                </c:pt>
                <c:pt idx="37">
                  <c:v>15.2</c:v>
                </c:pt>
                <c:pt idx="38">
                  <c:v>15</c:v>
                </c:pt>
                <c:pt idx="39">
                  <c:v>17.2</c:v>
                </c:pt>
              </c:numCache>
            </c:numRef>
          </c:val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Other private home, apartment, room</c:v>
                </c:pt>
              </c:strCache>
            </c:strRef>
          </c:tx>
          <c:spPr>
            <a:ln w="38100"/>
          </c:spPr>
          <c:marker>
            <c:spPr>
              <a:ln w="25400"/>
            </c:spPr>
          </c:marker>
          <c:cat>
            <c:strRef>
              <c:f>Sheet1!$B$1:$AO$1</c:f>
              <c:strCache>
                <c:ptCount val="40"/>
                <c:pt idx="0">
                  <c:v>1973</c:v>
                </c:pt>
                <c:pt idx="1">
                  <c:v>1974</c:v>
                </c:pt>
                <c:pt idx="2">
                  <c:v>1975</c:v>
                </c:pt>
                <c:pt idx="3">
                  <c:v>1976</c:v>
                </c:pt>
                <c:pt idx="4">
                  <c:v>1977</c:v>
                </c:pt>
                <c:pt idx="5">
                  <c:v>1978</c:v>
                </c:pt>
                <c:pt idx="6">
                  <c:v>1979</c:v>
                </c:pt>
                <c:pt idx="7">
                  <c:v>1980</c:v>
                </c:pt>
                <c:pt idx="8">
                  <c:v>1981</c:v>
                </c:pt>
                <c:pt idx="9">
                  <c:v>1982</c:v>
                </c:pt>
                <c:pt idx="10">
                  <c:v>1983</c:v>
                </c:pt>
                <c:pt idx="11">
                  <c:v>1984</c:v>
                </c:pt>
                <c:pt idx="12">
                  <c:v>1985</c:v>
                </c:pt>
                <c:pt idx="13">
                  <c:v>1986</c:v>
                </c:pt>
                <c:pt idx="14">
                  <c:v>1987</c:v>
                </c:pt>
                <c:pt idx="15">
                  <c:v>1988</c:v>
                </c:pt>
                <c:pt idx="16">
                  <c:v>1989</c:v>
                </c:pt>
                <c:pt idx="17">
                  <c:v>1990</c:v>
                </c:pt>
                <c:pt idx="18">
                  <c:v>1991</c:v>
                </c:pt>
                <c:pt idx="19">
                  <c:v>1992</c:v>
                </c:pt>
                <c:pt idx="20">
                  <c:v>1993</c:v>
                </c:pt>
                <c:pt idx="21">
                  <c:v>1994</c:v>
                </c:pt>
                <c:pt idx="22">
                  <c:v>1995</c:v>
                </c:pt>
                <c:pt idx="23">
                  <c:v>1996</c:v>
                </c:pt>
                <c:pt idx="24">
                  <c:v>1997</c:v>
                </c:pt>
                <c:pt idx="25">
                  <c:v>1998</c:v>
                </c:pt>
                <c:pt idx="26">
                  <c:v>1999</c:v>
                </c:pt>
                <c:pt idx="27">
                  <c:v>2000</c:v>
                </c:pt>
                <c:pt idx="28">
                  <c:v>2001</c:v>
                </c:pt>
                <c:pt idx="29">
                  <c:v>2002</c:v>
                </c:pt>
                <c:pt idx="30">
                  <c:v>2003</c:v>
                </c:pt>
                <c:pt idx="31">
                  <c:v>2004</c:v>
                </c:pt>
                <c:pt idx="32">
                  <c:v>2005</c:v>
                </c:pt>
                <c:pt idx="33">
                  <c:v>2006</c:v>
                </c:pt>
                <c:pt idx="34">
                  <c:v>2007</c:v>
                </c:pt>
                <c:pt idx="35">
                  <c:v>2008</c:v>
                </c:pt>
                <c:pt idx="36">
                  <c:v>2009</c:v>
                </c:pt>
                <c:pt idx="37">
                  <c:v>2010</c:v>
                </c:pt>
                <c:pt idx="38">
                  <c:v>2011</c:v>
                </c:pt>
                <c:pt idx="39">
                  <c:v>2012</c:v>
                </c:pt>
              </c:strCache>
            </c:strRef>
          </c:cat>
          <c:val>
            <c:numRef>
              <c:f>Sheet1!$B$4:$AO$4</c:f>
              <c:numCache>
                <c:formatCode>0.0</c:formatCode>
                <c:ptCount val="40"/>
                <c:pt idx="0">
                  <c:v>2.2000000000000002</c:v>
                </c:pt>
                <c:pt idx="1">
                  <c:v>2.9</c:v>
                </c:pt>
                <c:pt idx="2">
                  <c:v>3.4</c:v>
                </c:pt>
                <c:pt idx="3">
                  <c:v>3.3</c:v>
                </c:pt>
                <c:pt idx="4">
                  <c:v>4.0999999999999996</c:v>
                </c:pt>
                <c:pt idx="5">
                  <c:v>3.3</c:v>
                </c:pt>
                <c:pt idx="6">
                  <c:v>4</c:v>
                </c:pt>
                <c:pt idx="7">
                  <c:v>4.2</c:v>
                </c:pt>
                <c:pt idx="8">
                  <c:v>3.2</c:v>
                </c:pt>
                <c:pt idx="9">
                  <c:v>3.6</c:v>
                </c:pt>
                <c:pt idx="10">
                  <c:v>2.7</c:v>
                </c:pt>
                <c:pt idx="11">
                  <c:v>2.8</c:v>
                </c:pt>
                <c:pt idx="12">
                  <c:v>2.7</c:v>
                </c:pt>
                <c:pt idx="13">
                  <c:v>3.8</c:v>
                </c:pt>
                <c:pt idx="14">
                  <c:v>3.5</c:v>
                </c:pt>
                <c:pt idx="15">
                  <c:v>3.8</c:v>
                </c:pt>
                <c:pt idx="16">
                  <c:v>3.8</c:v>
                </c:pt>
                <c:pt idx="17">
                  <c:v>2.9</c:v>
                </c:pt>
                <c:pt idx="18">
                  <c:v>2.9</c:v>
                </c:pt>
                <c:pt idx="19">
                  <c:v>3.2</c:v>
                </c:pt>
                <c:pt idx="20">
                  <c:v>3</c:v>
                </c:pt>
                <c:pt idx="21">
                  <c:v>2.8</c:v>
                </c:pt>
                <c:pt idx="22">
                  <c:v>3</c:v>
                </c:pt>
                <c:pt idx="23">
                  <c:v>2.9</c:v>
                </c:pt>
                <c:pt idx="24">
                  <c:v>3.5</c:v>
                </c:pt>
                <c:pt idx="25">
                  <c:v>3</c:v>
                </c:pt>
                <c:pt idx="26">
                  <c:v>3</c:v>
                </c:pt>
                <c:pt idx="27">
                  <c:v>4.4000000000000004</c:v>
                </c:pt>
                <c:pt idx="28">
                  <c:v>4.0999999999999996</c:v>
                </c:pt>
                <c:pt idx="29">
                  <c:v>4.3</c:v>
                </c:pt>
                <c:pt idx="30">
                  <c:v>3.6</c:v>
                </c:pt>
                <c:pt idx="31">
                  <c:v>4.2</c:v>
                </c:pt>
                <c:pt idx="32">
                  <c:v>2.6</c:v>
                </c:pt>
                <c:pt idx="33">
                  <c:v>3.6</c:v>
                </c:pt>
                <c:pt idx="34">
                  <c:v>3.6</c:v>
                </c:pt>
                <c:pt idx="35">
                  <c:v>4.2</c:v>
                </c:pt>
                <c:pt idx="36">
                  <c:v>2.8</c:v>
                </c:pt>
                <c:pt idx="37">
                  <c:v>2.4</c:v>
                </c:pt>
                <c:pt idx="38">
                  <c:v>2.4</c:v>
                </c:pt>
                <c:pt idx="39">
                  <c:v>2.8</c:v>
                </c:pt>
              </c:numCache>
            </c:numRef>
          </c:val>
        </c:ser>
        <c:marker val="1"/>
        <c:axId val="95618176"/>
        <c:axId val="95620096"/>
      </c:lineChart>
      <c:catAx>
        <c:axId val="95618176"/>
        <c:scaling>
          <c:orientation val="minMax"/>
        </c:scaling>
        <c:axPos val="b"/>
        <c:tickLblPos val="nextTo"/>
        <c:txPr>
          <a:bodyPr rot="0" vert="horz"/>
          <a:lstStyle/>
          <a:p>
            <a:pPr>
              <a:defRPr/>
            </a:pPr>
            <a:endParaRPr lang="en-US"/>
          </a:p>
        </c:txPr>
        <c:crossAx val="95620096"/>
        <c:crosses val="autoZero"/>
        <c:auto val="1"/>
        <c:lblAlgn val="ctr"/>
        <c:lblOffset val="100"/>
        <c:tickLblSkip val="3"/>
      </c:catAx>
      <c:valAx>
        <c:axId val="95620096"/>
        <c:scaling>
          <c:orientation val="minMax"/>
          <c:max val="100"/>
          <c:min val="0"/>
        </c:scaling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dirty="0" smtClean="0"/>
                  <a:t>% of Students</a:t>
                </a:r>
                <a:endParaRPr lang="en-US" dirty="0"/>
              </a:p>
            </c:rich>
          </c:tx>
          <c:layout>
            <c:manualLayout>
              <c:xMode val="edge"/>
              <c:yMode val="edge"/>
              <c:x val="8.1026650514839649E-3"/>
              <c:y val="0.34925067768168355"/>
            </c:manualLayout>
          </c:layout>
        </c:title>
        <c:numFmt formatCode="0" sourceLinked="0"/>
        <c:tickLblPos val="nextTo"/>
        <c:crossAx val="95618176"/>
        <c:crosses val="autoZero"/>
        <c:crossBetween val="between"/>
      </c:valAx>
      <c:spPr>
        <a:noFill/>
      </c:spPr>
    </c:plotArea>
    <c:legend>
      <c:legendPos val="t"/>
      <c:layout>
        <c:manualLayout>
          <c:xMode val="edge"/>
          <c:yMode val="edge"/>
          <c:x val="0.43198503432263291"/>
          <c:y val="0.41318672665916778"/>
          <c:w val="0.52865813648293969"/>
          <c:h val="0.18765354330708664"/>
        </c:manualLayout>
      </c:layout>
    </c:legend>
    <c:plotVisOnly val="1"/>
    <c:dispBlanksAs val="span"/>
  </c:chart>
  <c:spPr>
    <a:solidFill>
      <a:schemeClr val="bg1"/>
    </a:solidFill>
  </c:spPr>
  <c:txPr>
    <a:bodyPr/>
    <a:lstStyle/>
    <a:p>
      <a:pPr>
        <a:defRPr sz="1200">
          <a:latin typeface="+mj-lt"/>
        </a:defRPr>
      </a:pPr>
      <a:endParaRPr lang="en-US"/>
    </a:p>
  </c:tx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5057D-2A2F-48C3-94A9-B382B07108F2}" type="datetimeFigureOut">
              <a:rPr lang="en-US" smtClean="0"/>
              <a:pPr/>
              <a:t>1/23/2013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12C8D-A39E-43C2-884F-474CBD72F0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46667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Gap increased from 16.5% in 2007 to 17.4% in 2012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A12C8D-A39E-43C2-884F-474CBD72F0BF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23 reasons…this is number 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A12C8D-A39E-43C2-884F-474CBD72F0B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30.7 in 1999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A12C8D-A39E-43C2-884F-474CBD72F0BF}" type="slidenum">
              <a:rPr lang="en-US" smtClean="0"/>
              <a:pPr/>
              <a:t>50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solidFill>
                  <a:srgbClr val="21324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BFC59-949C-4873-92B7-657641AA0B62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6" name="Picture 8" descr="HERI_square_RGB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29600" y="5943600"/>
            <a:ext cx="838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24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1324D"/>
                </a:solidFill>
              </a:defRPr>
            </a:lvl1pPr>
            <a:lvl2pPr>
              <a:defRPr>
                <a:solidFill>
                  <a:srgbClr val="21324D"/>
                </a:solidFill>
              </a:defRPr>
            </a:lvl2pPr>
            <a:lvl3pPr>
              <a:defRPr>
                <a:solidFill>
                  <a:srgbClr val="21324D"/>
                </a:solidFill>
              </a:defRPr>
            </a:lvl3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BD75D7-25B1-4C45-9682-ED09BEF6F7E5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7" name="Picture 2" descr="H:\Correct logos\CIRP_square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0600" y="632460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1910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21324D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91425E-8D86-41DA-8CE8-4312A7838821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34B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rgbClr val="00234B"/>
                </a:solidFill>
              </a:defRPr>
            </a:lvl1pPr>
            <a:lvl2pPr>
              <a:defRPr sz="2400">
                <a:solidFill>
                  <a:srgbClr val="00234B"/>
                </a:solidFill>
              </a:defRPr>
            </a:lvl2pPr>
            <a:lvl3pPr>
              <a:defRPr sz="2000">
                <a:solidFill>
                  <a:srgbClr val="00234B"/>
                </a:solidFill>
              </a:defRPr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D1CC6-56D3-4548-813C-EE984CA685A2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91074E-7E7F-4325-B555-103816687D9F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0C1DA97-56E9-4480-94C6-848F6843CF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706A78-9F78-48A6-88D3-59C6532A83E0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167783D0-770D-4B01-A9DD-3AFF23370C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2" descr="H:\Correct logos\CIRP_square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0600" y="632460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1B703-09DE-4F82-BB34-A4B97C134E31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5EC22CEF-9E34-432A-B596-1301F101E4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6" name="Picture 2" descr="H:\Correct logos\CIRP_square_RG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10600" y="6324600"/>
            <a:ext cx="457200" cy="45720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D6916-038E-4765-897A-9D32814241B4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AEBD1A58-DE99-4BE3-9C8C-86105C7471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C621BB-C584-4750-B3B5-732699B6A14F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25996A6-DDFD-4E48-B4AD-750E030EA82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6F4F-3E05-4B97-860E-989BEB1A75D5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B92D339F-4C3B-4A3C-83FA-A5A48E70CF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C91336-126D-466D-96CA-EA0D8300F653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95A08240-2ADD-4023-AE0B-CB1F0CA389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alphaModFix amt="37000"/>
            <a:lum/>
          </a:blip>
          <a:srcRect/>
          <a:stretch>
            <a:fillRect l="-15000" r="-1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9AFD1AA-3B30-4493-A606-AAD43BF91E3A}" type="datetimeFigureOut">
              <a:rPr lang="en-US"/>
              <a:pPr>
                <a:defRPr/>
              </a:pPr>
              <a:t>1/23/2013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pic>
        <p:nvPicPr>
          <p:cNvPr id="6" name="Picture 2" descr="H:\Correct logos\CIRP_square_RGB.jp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610600" y="6324600"/>
            <a:ext cx="457200" cy="4572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21324D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21324D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rgbClr val="2132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rgbClr val="21324D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rgbClr val="21324D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7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3124200"/>
            <a:ext cx="8001000" cy="1219200"/>
          </a:xfrm>
          <a:noFill/>
          <a:ln>
            <a:solidFill>
              <a:schemeClr val="bg1"/>
            </a:solidFill>
          </a:ln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 smtClean="0"/>
              <a:t/>
            </a:r>
            <a:br>
              <a:rPr lang="en-US" sz="3600" b="1" dirty="0" smtClean="0"/>
            </a:br>
            <a:r>
              <a:rPr lang="en-US" sz="3200" b="1" dirty="0" smtClean="0"/>
              <a:t>Who is Coming to College? </a:t>
            </a:r>
            <a:br>
              <a:rPr lang="en-US" sz="3200" b="1" dirty="0" smtClean="0"/>
            </a:br>
            <a:r>
              <a:rPr lang="en-US" sz="2000" b="1" dirty="0" smtClean="0"/>
              <a:t>2012 CIRP Freshman Survey Results</a:t>
            </a:r>
            <a:r>
              <a:rPr lang="en-US" sz="3600" b="1" dirty="0" smtClean="0"/>
              <a:t/>
            </a:r>
            <a:br>
              <a:rPr lang="en-US" sz="3600" b="1" dirty="0" smtClean="0"/>
            </a:br>
            <a:endParaRPr lang="en-US" sz="3600" b="1" dirty="0">
              <a:solidFill>
                <a:srgbClr val="00234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648200"/>
            <a:ext cx="7543800" cy="2057400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700" dirty="0" smtClean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 smtClean="0">
                <a:solidFill>
                  <a:srgbClr val="495883"/>
                </a:solidFill>
                <a:latin typeface="Arial" pitchFamily="34" charset="0"/>
                <a:cs typeface="Arial" pitchFamily="34" charset="0"/>
              </a:rPr>
              <a:t>John H. Pryor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500" dirty="0" smtClean="0">
                <a:solidFill>
                  <a:srgbClr val="495883"/>
                </a:solidFill>
                <a:latin typeface="Arial" pitchFamily="34" charset="0"/>
                <a:cs typeface="Arial" pitchFamily="34" charset="0"/>
              </a:rPr>
              <a:t>Director, Cooperative Institutional Research Program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500" dirty="0" smtClean="0">
                <a:solidFill>
                  <a:srgbClr val="495883"/>
                </a:solidFill>
                <a:latin typeface="Arial" pitchFamily="34" charset="0"/>
                <a:cs typeface="Arial" pitchFamily="34" charset="0"/>
              </a:rPr>
              <a:t>Higher Education Research Institute at UCLA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9144000" cy="24771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Higher Education Research Institute</a:t>
            </a:r>
            <a:endParaRPr lang="en-US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229600" cy="4785360"/>
          </a:xfrm>
        </p:spPr>
        <p:txBody>
          <a:bodyPr/>
          <a:lstStyle/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r>
              <a:rPr lang="en-US" b="1" dirty="0" smtClean="0"/>
              <a:t>We believe in	</a:t>
            </a:r>
          </a:p>
          <a:p>
            <a:pPr>
              <a:buNone/>
            </a:pPr>
            <a:r>
              <a:rPr lang="en-US" b="1" dirty="0" smtClean="0"/>
              <a:t>	the transformative power </a:t>
            </a:r>
          </a:p>
          <a:p>
            <a:pPr>
              <a:buNone/>
            </a:pPr>
            <a:r>
              <a:rPr lang="en-US" b="1" dirty="0" smtClean="0"/>
              <a:t>	of higher education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4648200" y="3657600"/>
            <a:ext cx="4114800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81000"/>
            <a:ext cx="8229600" cy="1143000"/>
          </a:xfrm>
          <a:noFill/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495883"/>
                </a:solidFill>
              </a:rPr>
              <a:t>CIRP Freshman Survey</a:t>
            </a:r>
          </a:p>
        </p:txBody>
      </p:sp>
      <p:sp>
        <p:nvSpPr>
          <p:cNvPr id="21507" name="Rectangle 6"/>
          <p:cNvSpPr>
            <a:spLocks noGrp="1" noChangeArrowheads="1"/>
          </p:cNvSpPr>
          <p:nvPr>
            <p:ph type="body" idx="4294967295"/>
          </p:nvPr>
        </p:nvSpPr>
        <p:spPr>
          <a:xfrm>
            <a:off x="3810000" y="1524000"/>
            <a:ext cx="5029200" cy="4495800"/>
          </a:xfrm>
          <a:noFill/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None/>
              <a:defRPr/>
            </a:pPr>
            <a:endParaRPr lang="en-US" sz="2400" b="1" dirty="0" smtClean="0">
              <a:solidFill>
                <a:srgbClr val="495883"/>
              </a:solidFill>
              <a:latin typeface="+mj-lt"/>
            </a:endParaRPr>
          </a:p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 smtClean="0">
                <a:solidFill>
                  <a:srgbClr val="495883"/>
                </a:solidFill>
                <a:latin typeface="+mj-lt"/>
              </a:rPr>
              <a:t>Comprehensive survey of incoming first-time full-time college students at four-year institutions</a:t>
            </a:r>
          </a:p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b="1" dirty="0" smtClean="0">
              <a:solidFill>
                <a:srgbClr val="495883"/>
              </a:solidFill>
              <a:latin typeface="+mj-lt"/>
            </a:endParaRPr>
          </a:p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 smtClean="0">
                <a:solidFill>
                  <a:srgbClr val="495883"/>
                </a:solidFill>
                <a:latin typeface="+mj-lt"/>
              </a:rPr>
              <a:t>Beginning of longitudinal research program that continues with the YFCY, DLE, and CSS</a:t>
            </a:r>
          </a:p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400" b="1" dirty="0" smtClean="0">
              <a:solidFill>
                <a:srgbClr val="495883"/>
              </a:solidFill>
              <a:latin typeface="+mj-lt"/>
            </a:endParaRPr>
          </a:p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400" b="1" dirty="0" smtClean="0">
                <a:solidFill>
                  <a:srgbClr val="495883"/>
                </a:solidFill>
                <a:latin typeface="+mj-lt"/>
              </a:rPr>
              <a:t>47th year and over 15 million students total </a:t>
            </a:r>
          </a:p>
          <a:p>
            <a:pPr eaLnBrk="1" fontAlgn="auto" hangingPunct="1">
              <a:spcBef>
                <a:spcPct val="35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800" b="1" dirty="0" smtClean="0">
              <a:solidFill>
                <a:srgbClr val="495883"/>
              </a:solidFill>
              <a:latin typeface="+mj-lt"/>
            </a:endParaRPr>
          </a:p>
        </p:txBody>
      </p:sp>
      <p:pic>
        <p:nvPicPr>
          <p:cNvPr id="4" name="Picture 4" descr="E:\DCTFS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" y="1905000"/>
            <a:ext cx="3543300" cy="23622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noFill/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495883"/>
                </a:solidFill>
              </a:rPr>
              <a:t>CIRP Freshman Survey 2012 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76400"/>
            <a:ext cx="4191000" cy="5105400"/>
          </a:xfrm>
          <a:noFill/>
        </p:spPr>
        <p:txBody>
          <a:bodyPr/>
          <a:lstStyle/>
          <a:p>
            <a:pPr eaLnBrk="1" hangingPunct="1"/>
            <a:r>
              <a:rPr lang="en-US" sz="2400" b="1" dirty="0" smtClean="0">
                <a:solidFill>
                  <a:srgbClr val="495883"/>
                </a:solidFill>
              </a:rPr>
              <a:t>Administered at </a:t>
            </a:r>
          </a:p>
          <a:p>
            <a:pPr lvl="1" eaLnBrk="1" hangingPunct="1"/>
            <a:r>
              <a:rPr lang="en-US" sz="2000" b="1" dirty="0" smtClean="0">
                <a:solidFill>
                  <a:srgbClr val="495883"/>
                </a:solidFill>
              </a:rPr>
              <a:t>389 four-year institutions</a:t>
            </a:r>
          </a:p>
          <a:p>
            <a:pPr lvl="1" eaLnBrk="1" hangingPunct="1"/>
            <a:r>
              <a:rPr lang="en-US" sz="2000" b="1" dirty="0" smtClean="0">
                <a:solidFill>
                  <a:srgbClr val="495883"/>
                </a:solidFill>
              </a:rPr>
              <a:t>236,937 students</a:t>
            </a:r>
          </a:p>
          <a:p>
            <a:pPr lvl="1" eaLnBrk="1" hangingPunct="1">
              <a:buNone/>
            </a:pPr>
            <a:endParaRPr lang="en-US" sz="2400" b="1" dirty="0" smtClean="0">
              <a:solidFill>
                <a:srgbClr val="495883"/>
              </a:solidFill>
            </a:endParaRPr>
          </a:p>
          <a:p>
            <a:pPr eaLnBrk="1" hangingPunct="1"/>
            <a:r>
              <a:rPr lang="en-US" sz="2400" b="1" dirty="0" smtClean="0">
                <a:solidFill>
                  <a:srgbClr val="495883"/>
                </a:solidFill>
              </a:rPr>
              <a:t>“Norms” </a:t>
            </a:r>
          </a:p>
          <a:p>
            <a:pPr lvl="1" eaLnBrk="1" hangingPunct="1"/>
            <a:r>
              <a:rPr lang="en-US" sz="2000" b="1" dirty="0" smtClean="0">
                <a:solidFill>
                  <a:srgbClr val="495883"/>
                </a:solidFill>
              </a:rPr>
              <a:t>283 four-year institutions</a:t>
            </a:r>
          </a:p>
          <a:p>
            <a:pPr lvl="1" eaLnBrk="1" hangingPunct="1"/>
            <a:r>
              <a:rPr lang="en-US" sz="2000" b="1" dirty="0" smtClean="0">
                <a:solidFill>
                  <a:srgbClr val="495883"/>
                </a:solidFill>
              </a:rPr>
              <a:t>192,912 students</a:t>
            </a:r>
          </a:p>
          <a:p>
            <a:pPr lvl="1" eaLnBrk="1" hangingPunct="1"/>
            <a:r>
              <a:rPr lang="en-US" sz="2000" b="1" dirty="0" smtClean="0">
                <a:solidFill>
                  <a:srgbClr val="495883"/>
                </a:solidFill>
              </a:rPr>
              <a:t>Weighted to 1.5 million entering four-year institutions</a:t>
            </a:r>
          </a:p>
          <a:p>
            <a:pPr lvl="1" eaLnBrk="1" hangingPunct="1">
              <a:buNone/>
            </a:pPr>
            <a:endParaRPr lang="en-US" sz="2400" dirty="0" smtClean="0"/>
          </a:p>
          <a:p>
            <a:pPr lvl="1" eaLnBrk="1" hangingPunct="1"/>
            <a:endParaRPr lang="en-US" dirty="0" smtClean="0"/>
          </a:p>
        </p:txBody>
      </p:sp>
      <p:pic>
        <p:nvPicPr>
          <p:cNvPr id="6" name="Picture 5" descr="Picture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95800" y="2743200"/>
            <a:ext cx="4368800" cy="3276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  <a:noFill/>
        </p:spPr>
        <p:txBody>
          <a:bodyPr/>
          <a:lstStyle/>
          <a:p>
            <a:r>
              <a:rPr lang="en-US" b="1" dirty="0" smtClean="0">
                <a:solidFill>
                  <a:srgbClr val="495883"/>
                </a:solidFill>
              </a:rPr>
              <a:t>CIRP Conceptual Framework</a:t>
            </a:r>
            <a:endParaRPr lang="en-US" b="1" dirty="0">
              <a:solidFill>
                <a:srgbClr val="495883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724400"/>
          </a:xfrm>
          <a:noFill/>
        </p:spPr>
        <p:txBody>
          <a:bodyPr/>
          <a:lstStyle/>
          <a:p>
            <a:r>
              <a:rPr lang="en-US" sz="2800" dirty="0" smtClean="0"/>
              <a:t>Student experience is comprehensive, multifaceted and inter-related, not focused on one or two issues</a:t>
            </a:r>
          </a:p>
          <a:p>
            <a:endParaRPr lang="en-US" sz="2800" dirty="0" smtClean="0"/>
          </a:p>
          <a:p>
            <a:r>
              <a:rPr lang="en-US" sz="2800" dirty="0" smtClean="0"/>
              <a:t>Look at cognitive and affective domains</a:t>
            </a:r>
          </a:p>
          <a:p>
            <a:endParaRPr lang="en-US" sz="2800" dirty="0" smtClean="0"/>
          </a:p>
          <a:p>
            <a:r>
              <a:rPr lang="en-US" sz="2800" dirty="0" smtClean="0"/>
              <a:t>Collect data that is:</a:t>
            </a:r>
          </a:p>
          <a:p>
            <a:pPr lvl="1"/>
            <a:r>
              <a:rPr lang="en-US" sz="2400" dirty="0" smtClean="0"/>
              <a:t>Behavioral (what students do, i.e., study, interact, etc)</a:t>
            </a:r>
          </a:p>
          <a:p>
            <a:pPr lvl="1"/>
            <a:r>
              <a:rPr lang="en-US" sz="2400" dirty="0" smtClean="0"/>
              <a:t>Psychological (attitudes, values, self-concept)</a:t>
            </a:r>
          </a:p>
          <a:p>
            <a:pPr lvl="1"/>
            <a:r>
              <a:rPr lang="en-US" sz="2400" dirty="0" smtClean="0"/>
              <a:t>Environmental (campus climate, residence type)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</a:t>
            </a:r>
            <a:r>
              <a:rPr lang="en-US" b="1" dirty="0" smtClean="0">
                <a:solidFill>
                  <a:srgbClr val="495883"/>
                </a:solidFill>
              </a:rPr>
              <a:t>Astin’s I-E-O Model</a:t>
            </a:r>
          </a:p>
        </p:txBody>
      </p:sp>
      <p:sp>
        <p:nvSpPr>
          <p:cNvPr id="6146" name="Line 2"/>
          <p:cNvSpPr>
            <a:spLocks noChangeShapeType="1"/>
          </p:cNvSpPr>
          <p:nvPr/>
        </p:nvSpPr>
        <p:spPr bwMode="auto">
          <a:xfrm flipV="1">
            <a:off x="1371600" y="2895600"/>
            <a:ext cx="838200" cy="68580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4114800" y="5027613"/>
            <a:ext cx="1143000" cy="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6858000" y="3048000"/>
            <a:ext cx="838200" cy="685800"/>
          </a:xfrm>
          <a:prstGeom prst="line">
            <a:avLst/>
          </a:prstGeom>
          <a:noFill/>
          <a:ln w="12700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278535" name="Text Box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2100" y="3935413"/>
            <a:ext cx="3683000" cy="231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8536" name="Text Box 8"/>
          <p:cNvSpPr txBox="1">
            <a:spLocks noChangeArrowheads="1"/>
          </p:cNvSpPr>
          <p:nvPr/>
        </p:nvSpPr>
        <p:spPr bwMode="auto">
          <a:xfrm>
            <a:off x="304800" y="4121150"/>
            <a:ext cx="3657600" cy="1908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b="1" u="sng" dirty="0" smtClean="0">
                <a:solidFill>
                  <a:schemeClr val="bg1"/>
                </a:solidFill>
                <a:latin typeface="Arial" charset="0"/>
              </a:rPr>
              <a:t>INPUT</a:t>
            </a:r>
          </a:p>
          <a:p>
            <a:pPr algn="ctr" eaLnBrk="0" hangingPunct="0"/>
            <a:endParaRPr lang="en-US" b="1" dirty="0">
              <a:solidFill>
                <a:schemeClr val="bg1"/>
              </a:solidFill>
              <a:latin typeface="Arial" charset="0"/>
            </a:endParaRPr>
          </a:p>
          <a:p>
            <a:pPr algn="ctr" eaLnBrk="0" hangingPunct="0"/>
            <a:r>
              <a:rPr lang="en-US" i="1" dirty="0">
                <a:solidFill>
                  <a:schemeClr val="bg1"/>
                </a:solidFill>
                <a:latin typeface="Arial" charset="0"/>
              </a:rPr>
              <a:t>CIRP Freshman Survey</a:t>
            </a:r>
          </a:p>
          <a:p>
            <a:pPr algn="ctr" eaLnBrk="0" hangingPunct="0"/>
            <a:r>
              <a:rPr lang="en-US" sz="1600" dirty="0" smtClean="0">
                <a:solidFill>
                  <a:schemeClr val="bg1"/>
                </a:solidFill>
                <a:latin typeface="Arial" charset="0"/>
              </a:rPr>
              <a:t>(previous academic performance, </a:t>
            </a:r>
            <a:r>
              <a:rPr lang="en-US" sz="1600" dirty="0">
                <a:solidFill>
                  <a:schemeClr val="bg1"/>
                </a:solidFill>
                <a:latin typeface="Arial" charset="0"/>
              </a:rPr>
              <a:t>financial concerns, 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Arial" charset="0"/>
              </a:rPr>
              <a:t>expectations, degree aspirations,</a:t>
            </a:r>
          </a:p>
          <a:p>
            <a:pPr algn="ctr" eaLnBrk="0" hangingPunct="0"/>
            <a:r>
              <a:rPr lang="en-US" sz="1600" dirty="0">
                <a:solidFill>
                  <a:schemeClr val="bg1"/>
                </a:solidFill>
                <a:latin typeface="Arial" charset="0"/>
              </a:rPr>
              <a:t>self-concept in high school, race, sex)</a:t>
            </a:r>
            <a:r>
              <a:rPr lang="en-US" sz="1600" dirty="0">
                <a:solidFill>
                  <a:srgbClr val="A4AEB5"/>
                </a:solidFill>
                <a:latin typeface="Tahoma" pitchFamily="34" charset="0"/>
              </a:rPr>
              <a:t> </a:t>
            </a:r>
          </a:p>
        </p:txBody>
      </p:sp>
      <p:pic>
        <p:nvPicPr>
          <p:cNvPr id="278537" name="Text Box 6"/>
          <p:cNvPicPr>
            <a:picLocks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05075" y="1447800"/>
            <a:ext cx="4213225" cy="2312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5" name="Text Box 10"/>
          <p:cNvSpPr txBox="1">
            <a:spLocks noChangeArrowheads="1"/>
          </p:cNvSpPr>
          <p:nvPr/>
        </p:nvSpPr>
        <p:spPr bwMode="auto">
          <a:xfrm>
            <a:off x="2514600" y="1609725"/>
            <a:ext cx="41910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b="1" u="sng" dirty="0" smtClean="0">
                <a:solidFill>
                  <a:srgbClr val="21324D"/>
                </a:solidFill>
                <a:latin typeface="Arial" charset="0"/>
              </a:rPr>
              <a:t>ENVIRONMENT</a:t>
            </a:r>
          </a:p>
          <a:p>
            <a:pPr algn="ctr" eaLnBrk="0" hangingPunct="0"/>
            <a:r>
              <a:rPr lang="en-US" dirty="0" smtClean="0">
                <a:solidFill>
                  <a:srgbClr val="21324D"/>
                </a:solidFill>
                <a:latin typeface="Arial" charset="0"/>
              </a:rPr>
              <a:t> </a:t>
            </a:r>
            <a:endParaRPr lang="en-US" dirty="0">
              <a:solidFill>
                <a:srgbClr val="21324D"/>
              </a:solidFill>
              <a:latin typeface="Arial" charset="0"/>
            </a:endParaRPr>
          </a:p>
          <a:p>
            <a:pPr algn="ctr" eaLnBrk="0" hangingPunct="0"/>
            <a:r>
              <a:rPr lang="en-US" i="1" dirty="0">
                <a:solidFill>
                  <a:srgbClr val="21324D"/>
                </a:solidFill>
                <a:latin typeface="Arial" charset="0"/>
              </a:rPr>
              <a:t>YFCY/DLE/CSS</a:t>
            </a:r>
          </a:p>
          <a:p>
            <a:pPr algn="ctr" eaLnBrk="0" hangingPunct="0"/>
            <a:r>
              <a:rPr lang="en-US" sz="1600" dirty="0">
                <a:solidFill>
                  <a:srgbClr val="21324D"/>
                </a:solidFill>
                <a:latin typeface="Arial" charset="0"/>
              </a:rPr>
              <a:t>(e.g., </a:t>
            </a:r>
            <a:r>
              <a:rPr lang="en-US" sz="1600" dirty="0" smtClean="0">
                <a:solidFill>
                  <a:srgbClr val="21324D"/>
                </a:solidFill>
                <a:latin typeface="Arial" charset="0"/>
              </a:rPr>
              <a:t>residence, interactions </a:t>
            </a:r>
            <a:endParaRPr lang="en-US" sz="1600" dirty="0">
              <a:solidFill>
                <a:srgbClr val="21324D"/>
              </a:solidFill>
              <a:latin typeface="Arial" charset="0"/>
            </a:endParaRPr>
          </a:p>
          <a:p>
            <a:pPr algn="ctr" eaLnBrk="0" hangingPunct="0"/>
            <a:r>
              <a:rPr lang="en-US" sz="1600" dirty="0">
                <a:solidFill>
                  <a:srgbClr val="21324D"/>
                </a:solidFill>
                <a:latin typeface="Arial" charset="0"/>
              </a:rPr>
              <a:t>with peers and faculty, curricular</a:t>
            </a:r>
          </a:p>
          <a:p>
            <a:pPr algn="ctr" eaLnBrk="0" hangingPunct="0"/>
            <a:r>
              <a:rPr lang="en-US" sz="1600" dirty="0">
                <a:solidFill>
                  <a:srgbClr val="21324D"/>
                </a:solidFill>
                <a:latin typeface="Arial" charset="0"/>
              </a:rPr>
              <a:t>and co-curricular experiences)</a:t>
            </a:r>
          </a:p>
        </p:txBody>
      </p:sp>
      <p:pic>
        <p:nvPicPr>
          <p:cNvPr id="278539" name="Text Box 7"/>
          <p:cNvPicPr>
            <a:picLocks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34000" y="3886200"/>
            <a:ext cx="3530600" cy="2414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5067" name="Text Box 12"/>
          <p:cNvSpPr txBox="1">
            <a:spLocks noChangeArrowheads="1"/>
          </p:cNvSpPr>
          <p:nvPr/>
        </p:nvSpPr>
        <p:spPr bwMode="auto">
          <a:xfrm>
            <a:off x="5410200" y="4191001"/>
            <a:ext cx="3505200" cy="1661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b="1" u="sng" dirty="0" smtClean="0">
                <a:solidFill>
                  <a:srgbClr val="21324D"/>
                </a:solidFill>
                <a:latin typeface="Arial" charset="0"/>
              </a:rPr>
              <a:t>OUTCOME</a:t>
            </a:r>
          </a:p>
          <a:p>
            <a:pPr algn="ctr" eaLnBrk="0" hangingPunct="0"/>
            <a:endParaRPr lang="en-US" b="1" dirty="0">
              <a:solidFill>
                <a:srgbClr val="21324D"/>
              </a:solidFill>
              <a:latin typeface="Arial" charset="0"/>
            </a:endParaRPr>
          </a:p>
          <a:p>
            <a:pPr algn="ctr" eaLnBrk="0" hangingPunct="0"/>
            <a:r>
              <a:rPr lang="en-US" i="1" dirty="0">
                <a:solidFill>
                  <a:srgbClr val="21324D"/>
                </a:solidFill>
                <a:latin typeface="Arial" charset="0"/>
              </a:rPr>
              <a:t>YFCY/DLE/CSS</a:t>
            </a:r>
          </a:p>
          <a:p>
            <a:pPr algn="ctr" eaLnBrk="0" hangingPunct="0"/>
            <a:r>
              <a:rPr lang="en-US" sz="1600" dirty="0" smtClean="0">
                <a:solidFill>
                  <a:srgbClr val="21324D"/>
                </a:solidFill>
              </a:rPr>
              <a:t>(</a:t>
            </a:r>
            <a:r>
              <a:rPr lang="en-US" sz="1600" dirty="0" smtClean="0">
                <a:solidFill>
                  <a:srgbClr val="21324D"/>
                </a:solidFill>
                <a:latin typeface="Arial" charset="0"/>
              </a:rPr>
              <a:t>gains </a:t>
            </a:r>
            <a:r>
              <a:rPr lang="en-US" sz="1600" dirty="0">
                <a:solidFill>
                  <a:srgbClr val="21324D"/>
                </a:solidFill>
                <a:latin typeface="Arial" charset="0"/>
              </a:rPr>
              <a:t>in college, satisfaction with college, retention, </a:t>
            </a:r>
          </a:p>
          <a:p>
            <a:pPr algn="ctr" eaLnBrk="0" hangingPunct="0"/>
            <a:r>
              <a:rPr lang="en-US" sz="1600" dirty="0">
                <a:solidFill>
                  <a:srgbClr val="21324D"/>
                </a:solidFill>
                <a:latin typeface="Arial" charset="0"/>
              </a:rPr>
              <a:t>post-college plans)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nimBg="1"/>
      <p:bldP spid="6147" grpId="0" animBg="1"/>
      <p:bldP spid="6148" grpId="0" animBg="1"/>
      <p:bldP spid="27853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" y="685800"/>
            <a:ext cx="7086600" cy="397094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267200" y="1981200"/>
            <a:ext cx="3581400" cy="2590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10" name="Content Placeholder 9"/>
          <p:cNvGraphicFramePr>
            <a:graphicFrameLocks noGrp="1"/>
          </p:cNvGraphicFramePr>
          <p:nvPr>
            <p:ph sz="quarter" idx="4"/>
          </p:nvPr>
        </p:nvGraphicFramePr>
        <p:xfrm>
          <a:off x="4800600" y="2667000"/>
          <a:ext cx="3962400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18774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0728" y="1143000"/>
            <a:ext cx="8119872" cy="424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2337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Reasons</a:t>
            </a:r>
            <a:r>
              <a:rPr kumimoji="0" lang="en-US" sz="30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to go to College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16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“Very Important”)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304800" y="1447800"/>
          <a:ext cx="8305800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81200" y="0"/>
            <a:ext cx="5269294" cy="5715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905000" y="381000"/>
            <a:ext cx="5334000" cy="1752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23378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Most important objective:</a:t>
            </a:r>
            <a:br>
              <a:rPr lang="en-US" sz="3600" dirty="0" smtClean="0"/>
            </a:b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Being well off financially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1600200"/>
          <a:ext cx="8610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Most important objective:</a:t>
            </a:r>
            <a:br>
              <a:rPr lang="en-US" sz="3600" dirty="0" smtClean="0"/>
            </a:br>
            <a:r>
              <a:rPr lang="en-US" sz="3600" dirty="0" smtClean="0">
                <a:solidFill>
                  <a:schemeClr val="accent1">
                    <a:lumMod val="50000"/>
                  </a:schemeClr>
                </a:solidFill>
              </a:rPr>
              <a:t>Being well off financially</a:t>
            </a:r>
            <a:endParaRPr lang="en-US" sz="36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304800" y="1600200"/>
          <a:ext cx="86106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Increased Importance</a:t>
            </a:r>
            <a:r>
              <a:rPr kumimoji="0" lang="en-US" sz="30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of Financial Reasons</a:t>
            </a:r>
            <a: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2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1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“Very Important”)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xmlns="" val="2217233401"/>
              </p:ext>
            </p:extLst>
          </p:nvPr>
        </p:nvGraphicFramePr>
        <p:xfrm>
          <a:off x="609600" y="1676400"/>
          <a:ext cx="79248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3999052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2400" y="1981200"/>
            <a:ext cx="8839200" cy="289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340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2800" b="1" dirty="0" smtClean="0"/>
              <a:t>The First Choice Gap</a:t>
            </a:r>
            <a:endParaRPr lang="en-US" sz="2800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457200" y="1219200"/>
          <a:ext cx="80772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1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Chart bld="series" animBg="0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Time to Degree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r>
              <a:rPr lang="en-US" b="1" dirty="0" smtClean="0"/>
              <a:t>New in 2012</a:t>
            </a:r>
          </a:p>
          <a:p>
            <a:endParaRPr lang="en-US" b="1" dirty="0" smtClean="0"/>
          </a:p>
          <a:p>
            <a:r>
              <a:rPr lang="en-US" b="1" dirty="0" smtClean="0"/>
              <a:t>“How many years do you expect it will take you to graduate from this college?”</a:t>
            </a:r>
          </a:p>
          <a:p>
            <a:endParaRPr lang="en-US" b="1" dirty="0" smtClean="0"/>
          </a:p>
          <a:p>
            <a:r>
              <a:rPr lang="en-US" b="1" dirty="0" smtClean="0"/>
              <a:t>Importance in college choice:</a:t>
            </a:r>
          </a:p>
          <a:p>
            <a:pPr lvl="1"/>
            <a:r>
              <a:rPr lang="en-US" b="1" dirty="0" smtClean="0"/>
              <a:t>“The percentage of students who graduate from this college”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S:\staff\Serge\John\TFS12 Infographic\Freshman-Survey-Infographic_6-1_20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371600"/>
            <a:ext cx="8915400" cy="2057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274976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1382328"/>
            <a:ext cx="8991600" cy="20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4976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Time to Degree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r>
              <a:rPr lang="en-US" b="1" dirty="0" smtClean="0"/>
              <a:t>Only 8.6% believe they will take 5 years</a:t>
            </a:r>
          </a:p>
          <a:p>
            <a:pPr lvl="1"/>
            <a:r>
              <a:rPr lang="en-US" b="1" dirty="0" smtClean="0"/>
              <a:t>National figure is 15.8%</a:t>
            </a:r>
          </a:p>
          <a:p>
            <a:pPr lvl="1"/>
            <a:endParaRPr lang="en-US" b="1" dirty="0" smtClean="0"/>
          </a:p>
          <a:p>
            <a:r>
              <a:rPr lang="en-US" b="1" dirty="0" smtClean="0"/>
              <a:t>2.7% believe they will take 6 years</a:t>
            </a:r>
          </a:p>
          <a:p>
            <a:pPr lvl="1"/>
            <a:r>
              <a:rPr lang="en-US" b="1" dirty="0" smtClean="0"/>
              <a:t>National figure is 4.5%</a:t>
            </a: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/>
              <a:t>5yr Degree and Prospective Major</a:t>
            </a:r>
            <a:endParaRPr lang="en-US" sz="3600" b="1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14478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	19.1% 	Engineering</a:t>
            </a:r>
          </a:p>
          <a:p>
            <a:pPr>
              <a:buNone/>
            </a:pPr>
            <a:r>
              <a:rPr lang="en-US" b="1" dirty="0" smtClean="0"/>
              <a:t>	14.0%	English </a:t>
            </a:r>
          </a:p>
          <a:p>
            <a:pPr lvl="1">
              <a:buNone/>
            </a:pPr>
            <a:endParaRPr lang="en-US" b="1" dirty="0" smtClean="0"/>
          </a:p>
          <a:p>
            <a:pPr lvl="1"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	</a:t>
            </a:r>
            <a:endParaRPr lang="en-US" b="1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2"/>
          </p:nvPr>
        </p:nvGraphicFramePr>
        <p:xfrm>
          <a:off x="914400" y="3429000"/>
          <a:ext cx="7239000" cy="2667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413000"/>
                <a:gridCol w="2413000"/>
                <a:gridCol w="2413000"/>
              </a:tblGrid>
              <a:tr h="889000">
                <a:tc>
                  <a:txBody>
                    <a:bodyPr/>
                    <a:lstStyle/>
                    <a:p>
                      <a:pPr algn="ctr"/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Public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Private</a:t>
                      </a:r>
                      <a:endParaRPr lang="en-US" sz="2400" dirty="0"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College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11.3%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4.3%</a:t>
                      </a:r>
                      <a:endParaRPr lang="en-US" sz="2400" b="1" dirty="0"/>
                    </a:p>
                  </a:txBody>
                  <a:tcPr/>
                </a:tc>
              </a:tr>
              <a:tr h="889000">
                <a:tc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University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7.8%</a:t>
                      </a:r>
                      <a:endParaRPr lang="en-US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smtClean="0"/>
                        <a:t>15.0%</a:t>
                      </a:r>
                      <a:endParaRPr lang="en-US" sz="24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Time to Degree</a:t>
            </a:r>
            <a:endParaRPr lang="en-US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600200"/>
            <a:ext cx="8153400" cy="4572000"/>
          </a:xfrm>
        </p:spPr>
        <p:txBody>
          <a:bodyPr/>
          <a:lstStyle/>
          <a:p>
            <a:pPr algn="ctr">
              <a:buNone/>
            </a:pPr>
            <a:r>
              <a:rPr lang="en-US" b="1" dirty="0" smtClean="0"/>
              <a:t>“The percentage of students that </a:t>
            </a:r>
          </a:p>
          <a:p>
            <a:pPr algn="ctr">
              <a:buNone/>
            </a:pPr>
            <a:r>
              <a:rPr lang="en-US" b="1" dirty="0" smtClean="0"/>
              <a:t>graduate from this college” </a:t>
            </a:r>
          </a:p>
          <a:p>
            <a:pPr algn="ctr"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b="1" dirty="0" smtClean="0"/>
              <a:t>was “very important” to only</a:t>
            </a:r>
          </a:p>
          <a:p>
            <a:pPr>
              <a:buNone/>
            </a:pPr>
            <a:endParaRPr lang="en-US" b="1" dirty="0" smtClean="0"/>
          </a:p>
          <a:p>
            <a:pPr algn="ctr">
              <a:buNone/>
            </a:pPr>
            <a:r>
              <a:rPr lang="en-US" sz="5400" b="1" dirty="0" smtClean="0"/>
              <a:t>30.4%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Support for Same-Sex Marriage</a:t>
            </a:r>
            <a:b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“Agree Strongly” or “Agree Somewhat”)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xmlns="" val="2190054538"/>
              </p:ext>
            </p:extLst>
          </p:nvPr>
        </p:nvGraphicFramePr>
        <p:xfrm>
          <a:off x="609600" y="1600200"/>
          <a:ext cx="79248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3573061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731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Support for Same-Sex Marriage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“Agree Strongly” or “Agree Somewhat”)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xmlns="" val="2140995071"/>
              </p:ext>
            </p:extLst>
          </p:nvPr>
        </p:nvGraphicFramePr>
        <p:xfrm>
          <a:off x="609600" y="1600200"/>
          <a:ext cx="7924800" cy="487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462878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7200" y="1219200"/>
            <a:ext cx="8229600" cy="371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39811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533400" y="1524000"/>
          <a:ext cx="80772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7921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Political Orientation in 2008 and 2012, by Sex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0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1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2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3" categoryIdx="0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0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1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2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3" categoryIdx="1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0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1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2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graphicEl>
                                              <a:chart seriesIdx="3" categoryIdx="2" bldStep="ptInCategory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Sub>
          <a:bldChart bld="categoryEl" animBg="0"/>
        </p:bldSub>
      </p:bldGraphic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457200" y="1524000"/>
          <a:ext cx="8077200" cy="5105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7921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Support for Social and Political Views, by </a:t>
            </a:r>
            <a:r>
              <a:rPr lang="en-US" sz="3000" dirty="0" smtClean="0">
                <a:solidFill>
                  <a:srgbClr val="56689C"/>
                </a:solidFill>
                <a:latin typeface="+mj-lt"/>
                <a:ea typeface="+mj-ea"/>
                <a:cs typeface="+mj-cs"/>
              </a:rPr>
              <a:t>Year</a:t>
            </a:r>
            <a:br>
              <a:rPr lang="en-US" sz="3000" dirty="0" smtClean="0">
                <a:solidFill>
                  <a:srgbClr val="56689C"/>
                </a:solidFill>
                <a:latin typeface="+mj-lt"/>
                <a:ea typeface="+mj-ea"/>
                <a:cs typeface="+mj-cs"/>
              </a:rPr>
            </a:br>
            <a:r>
              <a:rPr lang="en-US" sz="2400" dirty="0" smtClean="0">
                <a:solidFill>
                  <a:srgbClr val="56689C"/>
                </a:solidFill>
                <a:latin typeface="+mj-lt"/>
                <a:ea typeface="+mj-ea"/>
                <a:cs typeface="+mj-cs"/>
              </a:rPr>
              <a:t>(% Indicating “Agree Strongly” or “Agree Somewhat”)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533400" y="1524000"/>
          <a:ext cx="80772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304800"/>
            <a:ext cx="8229600" cy="13255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Wealthy Should Pay More Taxes</a:t>
            </a:r>
            <a:endParaRPr lang="en-US" sz="3000" dirty="0" smtClean="0">
              <a:solidFill>
                <a:srgbClr val="56689C"/>
              </a:solidFill>
              <a:latin typeface="+mj-lt"/>
              <a:ea typeface="+mj-ea"/>
              <a:cs typeface="+mj-cs"/>
            </a:endParaRPr>
          </a:p>
          <a:p>
            <a:pPr lvl="0" algn="ctr" eaLnBrk="0" hangingPunct="0">
              <a:defRPr/>
            </a:pPr>
            <a:r>
              <a:rPr lang="en-US" sz="2000" dirty="0" smtClean="0">
                <a:solidFill>
                  <a:srgbClr val="56689C"/>
                </a:solidFill>
              </a:rPr>
              <a:t>(% Indicating “Agree Strongly” or “Agree Somewhat”)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Updated Majors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105400"/>
          </a:xfrm>
        </p:spPr>
        <p:txBody>
          <a:bodyPr/>
          <a:lstStyle/>
          <a:p>
            <a:r>
              <a:rPr lang="en-US" sz="2800" dirty="0" smtClean="0"/>
              <a:t>Reflect contemporary majors</a:t>
            </a:r>
          </a:p>
          <a:p>
            <a:pPr lvl="1"/>
            <a:r>
              <a:rPr lang="en-US" sz="2400" dirty="0" smtClean="0"/>
              <a:t>Biology (from 8 to 12)</a:t>
            </a:r>
          </a:p>
          <a:p>
            <a:pPr lvl="1"/>
            <a:r>
              <a:rPr lang="en-US" sz="2400" dirty="0" smtClean="0"/>
              <a:t>Engineering (from 8-13)</a:t>
            </a:r>
          </a:p>
          <a:p>
            <a:pPr lvl="1"/>
            <a:r>
              <a:rPr lang="en-US" sz="2400" dirty="0" smtClean="0"/>
              <a:t>Business (from 8 – 12)</a:t>
            </a:r>
          </a:p>
          <a:p>
            <a:pPr lvl="1">
              <a:buNone/>
            </a:pPr>
            <a:endParaRPr lang="en-US" sz="2400" dirty="0" smtClean="0"/>
          </a:p>
          <a:p>
            <a:r>
              <a:rPr lang="en-US" sz="2800" dirty="0" smtClean="0"/>
              <a:t>No large changes between categories</a:t>
            </a:r>
          </a:p>
          <a:p>
            <a:endParaRPr lang="en-US" sz="2800" dirty="0" smtClean="0"/>
          </a:p>
          <a:p>
            <a:r>
              <a:rPr lang="en-US" sz="2800" dirty="0" smtClean="0"/>
              <a:t>Business continues to be the largest (14.4%)</a:t>
            </a:r>
          </a:p>
          <a:p>
            <a:pPr lvl="1"/>
            <a:r>
              <a:rPr lang="en-US" sz="2400" dirty="0" smtClean="0"/>
              <a:t>14.1% 	Health professions</a:t>
            </a:r>
          </a:p>
          <a:p>
            <a:pPr lvl="1"/>
            <a:r>
              <a:rPr lang="en-US" sz="2400" dirty="0" smtClean="0"/>
              <a:t>12.6% 	Biological sciences</a:t>
            </a:r>
          </a:p>
          <a:p>
            <a:pPr lvl="1"/>
            <a:r>
              <a:rPr lang="en-US" sz="2400" dirty="0" smtClean="0"/>
              <a:t>10.4% 	Engineering</a:t>
            </a:r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for 2012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0" y="2057400"/>
            <a:ext cx="5181600" cy="3962400"/>
          </a:xfrm>
        </p:spPr>
        <p:txBody>
          <a:bodyPr/>
          <a:lstStyle/>
          <a:p>
            <a:pPr>
              <a:buNone/>
            </a:pPr>
            <a:r>
              <a:rPr lang="en-US" sz="4800" b="1" dirty="0" smtClean="0"/>
              <a:t>19.3% 	Pre-med</a:t>
            </a:r>
          </a:p>
          <a:p>
            <a:endParaRPr lang="en-US" sz="4800" b="1" dirty="0" smtClean="0"/>
          </a:p>
          <a:p>
            <a:pPr>
              <a:buNone/>
            </a:pPr>
            <a:r>
              <a:rPr lang="en-US" sz="4800" b="1" dirty="0" smtClean="0"/>
              <a:t>  6.3% 	Pre-law</a:t>
            </a:r>
            <a:endParaRPr lang="en-US" sz="4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676399"/>
          <a:ext cx="7696204" cy="4506767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4495800"/>
                <a:gridCol w="914400"/>
                <a:gridCol w="685802"/>
                <a:gridCol w="914398"/>
                <a:gridCol w="685804"/>
              </a:tblGrid>
              <a:tr h="351517">
                <a:tc>
                  <a:txBody>
                    <a:bodyPr/>
                    <a:lstStyle/>
                    <a:p>
                      <a:pPr algn="l" fontAlgn="t"/>
                      <a:endParaRPr lang="en-US" sz="11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Pre-Med</a:t>
                      </a:r>
                      <a:endParaRPr lang="en-US" dirty="0"/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smtClean="0"/>
                        <a:t>Pre-Law</a:t>
                      </a: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</a:rPr>
                        <a:t>Biological 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&amp; Life Sciences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latin typeface="+mj-lt"/>
                        </a:rPr>
                        <a:t>43.7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Health Professions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latin typeface="+mj-lt"/>
                        </a:rPr>
                        <a:t>31.7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FF0000"/>
                        </a:solidFill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1.5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Social Science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12.7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Undecided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4.3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6.7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Engineering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3.7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2.4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Physical Science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3.7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0.7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476713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Other (Agriculture, Education, English, Fine Arts, Math/Computer Scienced, Library Science, Other Non-technical)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3.6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9.0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Business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1.7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FF0000"/>
                          </a:solidFill>
                          <a:latin typeface="+mj-lt"/>
                        </a:rPr>
                        <a:t>18.1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Arts &amp; Humanities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0.9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5.0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History or Political Science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0.4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>
                        <a:latin typeface="+mj-lt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1" i="0" u="none" strike="noStrike" dirty="0">
                          <a:solidFill>
                            <a:srgbClr val="FF0000"/>
                          </a:solidFill>
                          <a:latin typeface="+mj-lt"/>
                        </a:rPr>
                        <a:t>26.6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+mj-lt"/>
                      </a:endParaRPr>
                    </a:p>
                  </a:txBody>
                  <a:tcPr marL="0" marR="0" marT="0" marB="0" anchor="ctr"/>
                </a:tc>
              </a:tr>
              <a:tr h="351517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Justice and Security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0.4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14.6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+mj-lt"/>
                        </a:rPr>
                        <a:t> </a:t>
                      </a: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Academic Major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Intentions among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Pre-Med and Pre-Law Students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HBCU Differences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95800"/>
          </a:xfrm>
        </p:spPr>
        <p:txBody>
          <a:bodyPr/>
          <a:lstStyle/>
          <a:p>
            <a:r>
              <a:rPr lang="en-US" dirty="0" smtClean="0"/>
              <a:t>Historically Black Colleges and Universities enroll the largest percentage of both</a:t>
            </a:r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b="1" dirty="0" smtClean="0"/>
              <a:t>Pre-med</a:t>
            </a:r>
          </a:p>
          <a:p>
            <a:pPr lvl="2">
              <a:buNone/>
            </a:pPr>
            <a:r>
              <a:rPr lang="en-US" dirty="0" smtClean="0"/>
              <a:t>22.9%  </a:t>
            </a:r>
            <a:r>
              <a:rPr lang="en-US" dirty="0" err="1" smtClean="0"/>
              <a:t>vs</a:t>
            </a:r>
            <a:r>
              <a:rPr lang="en-US" dirty="0" smtClean="0"/>
              <a:t> 19.3%</a:t>
            </a:r>
          </a:p>
          <a:p>
            <a:pPr lvl="2">
              <a:buNone/>
            </a:pPr>
            <a:endParaRPr lang="en-US" dirty="0" smtClean="0"/>
          </a:p>
          <a:p>
            <a:pPr lvl="1"/>
            <a:r>
              <a:rPr lang="en-US" b="1" dirty="0" smtClean="0"/>
              <a:t>Pre-law</a:t>
            </a:r>
          </a:p>
          <a:p>
            <a:pPr lvl="2"/>
            <a:r>
              <a:rPr lang="en-US" dirty="0" smtClean="0"/>
              <a:t>10.5% </a:t>
            </a:r>
            <a:r>
              <a:rPr lang="en-US" dirty="0" err="1" smtClean="0"/>
              <a:t>vs</a:t>
            </a:r>
            <a:r>
              <a:rPr lang="en-US" dirty="0" smtClean="0"/>
              <a:t> 6.3%</a:t>
            </a:r>
          </a:p>
          <a:p>
            <a:pPr lvl="2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Occupational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Pre-med</a:t>
            </a:r>
          </a:p>
          <a:p>
            <a:pPr lvl="1"/>
            <a:r>
              <a:rPr lang="en-US" dirty="0" smtClean="0"/>
              <a:t>35.7% Physicians</a:t>
            </a:r>
          </a:p>
          <a:p>
            <a:pPr lvl="1"/>
            <a:r>
              <a:rPr lang="en-US" dirty="0" smtClean="0"/>
              <a:t>11.7%	Nurses</a:t>
            </a:r>
          </a:p>
          <a:p>
            <a:pPr lvl="1"/>
            <a:r>
              <a:rPr lang="en-US" dirty="0" smtClean="0"/>
              <a:t>  2.1%	Research Scientists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Occupational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Pre-law</a:t>
            </a:r>
          </a:p>
          <a:p>
            <a:pPr lvl="1"/>
            <a:r>
              <a:rPr lang="en-US" dirty="0" smtClean="0"/>
              <a:t>46.8% 	Attorney</a:t>
            </a:r>
          </a:p>
          <a:p>
            <a:pPr lvl="1"/>
            <a:r>
              <a:rPr lang="en-US" dirty="0" smtClean="0"/>
              <a:t>11.3%	Business</a:t>
            </a:r>
          </a:p>
          <a:p>
            <a:pPr lvl="1"/>
            <a:r>
              <a:rPr lang="en-US" dirty="0" smtClean="0"/>
              <a:t>  6.8%	Law enforcement</a:t>
            </a:r>
          </a:p>
          <a:p>
            <a:pPr lvl="1"/>
            <a:r>
              <a:rPr lang="en-US" dirty="0" smtClean="0"/>
              <a:t>  5.1%	Government</a:t>
            </a:r>
          </a:p>
          <a:p>
            <a:pPr lvl="1"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for 2012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7924800" cy="4800600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Historically asked how many years of a subject (English, Math, Music, etc)</a:t>
            </a:r>
          </a:p>
          <a:p>
            <a:pPr>
              <a:buNone/>
            </a:pPr>
            <a:r>
              <a:rPr lang="en-US" b="1" dirty="0" smtClean="0"/>
              <a:t>	recommended years in </a:t>
            </a:r>
            <a:r>
              <a:rPr lang="en-US" b="1" i="1" dirty="0" smtClean="0"/>
              <a:t>Nation at Risk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Research on math level indicates a connection with retention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0" y="1219200"/>
          <a:ext cx="8915400" cy="541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7921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Type of High School Math Courses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Completed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533400" y="1600200"/>
          <a:ext cx="80772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Type of High School Math Courses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Completed, by Pre-Med Intention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052700"/>
            <a:ext cx="9144000" cy="275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1800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Slight Rise in Selected Habits of Mind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“Frequently” or “Occasionally”)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457200" y="1219200"/>
          <a:ext cx="81534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228600"/>
            <a:ext cx="9144000" cy="485475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85800" y="533400"/>
            <a:ext cx="7924800" cy="167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9075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Trend of “Felt Overwhelmed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by All I Had to Do”</a:t>
            </a:r>
            <a: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sz="32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sz="24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“Frequently”)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/>
        </p:nvGraphicFramePr>
        <p:xfrm>
          <a:off x="609600" y="1676400"/>
          <a:ext cx="79248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09696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Felt Overwhelmed by All I had To</a:t>
            </a:r>
            <a:r>
              <a:rPr kumimoji="0" lang="en-US" sz="30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Do</a:t>
            </a:r>
            <a:endParaRPr kumimoji="0" lang="en-US" sz="3000" b="0" i="0" u="none" strike="noStrike" kern="1200" cap="none" spc="0" normalizeH="0" baseline="0" noProof="0" dirty="0" smtClean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(% Indicating “Frequently”)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="" xmlns:p14="http://schemas.microsoft.com/office/powerpoint/2010/main" val="3198998438"/>
              </p:ext>
            </p:extLst>
          </p:nvPr>
        </p:nvGraphicFramePr>
        <p:xfrm>
          <a:off x="609600" y="1371600"/>
          <a:ext cx="79248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="" xmlns:p14="http://schemas.microsoft.com/office/powerpoint/2010/main" val="13918048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/>
          <p:cNvGraphicFramePr/>
          <p:nvPr/>
        </p:nvGraphicFramePr>
        <p:xfrm>
          <a:off x="533400" y="1219200"/>
          <a:ext cx="8077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457200" y="274638"/>
            <a:ext cx="8229600" cy="792162"/>
          </a:xfrm>
          <a:prstGeom prst="rect">
            <a:avLst/>
          </a:prstGeom>
          <a:solidFill>
            <a:schemeClr val="bg1"/>
          </a:solidFill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Impact of Feeling Overwhelmed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>
            <a:spLocks noGrp="1"/>
          </p:cNvSpPr>
          <p:nvPr>
            <p:ph type="body" idx="4294967295"/>
          </p:nvPr>
        </p:nvSpPr>
        <p:spPr>
          <a:xfrm>
            <a:off x="457200" y="304800"/>
            <a:ext cx="8305800" cy="594360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Impact of Economics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Expectations and Reality of Time to Graduation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Support of Same-Sex Marriage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Political Views and Orientation between 2008 and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Revised Majors in 2012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Pre-Med or Pre-Law Track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Differences in Math Preparation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Specific Habits of Mind on the Rise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dirty="0" smtClean="0">
                <a:latin typeface="+mj-lt"/>
              </a:rPr>
              <a:t>Feeling Overwhelmed as High School Seniors</a:t>
            </a:r>
          </a:p>
          <a:p>
            <a:pPr eaLnBrk="1" hangingPunct="1">
              <a:lnSpc>
                <a:spcPct val="150000"/>
              </a:lnSpc>
              <a:buNone/>
            </a:pPr>
            <a:r>
              <a:rPr lang="en-US" sz="2400" b="1" dirty="0" smtClean="0">
                <a:latin typeface="+mj-lt"/>
              </a:rPr>
              <a:t>Where Students Reside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792162"/>
          </a:xfrm>
          <a:prstGeom prst="rect">
            <a:avLst/>
          </a:prstGeom>
          <a:noFill/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6689C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Living Plans for Fall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56689C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xmlns="" val="2360482779"/>
              </p:ext>
            </p:extLst>
          </p:nvPr>
        </p:nvGraphicFramePr>
        <p:xfrm>
          <a:off x="609600" y="990600"/>
          <a:ext cx="7924800" cy="533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xmlns="" val="212096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Students Living with Family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smtClean="0"/>
              <a:t>Important factor in college choice </a:t>
            </a:r>
          </a:p>
          <a:p>
            <a:pPr lvl="1"/>
            <a:r>
              <a:rPr lang="en-US" dirty="0" smtClean="0"/>
              <a:t>Cost (57.3% </a:t>
            </a:r>
            <a:r>
              <a:rPr lang="en-US" dirty="0" err="1" smtClean="0"/>
              <a:t>vs</a:t>
            </a:r>
            <a:r>
              <a:rPr lang="en-US" dirty="0" smtClean="0"/>
              <a:t> 40.1%)</a:t>
            </a:r>
          </a:p>
          <a:p>
            <a:pPr lvl="1"/>
            <a:r>
              <a:rPr lang="en-US" dirty="0" smtClean="0"/>
              <a:t>Live near home (49.0% </a:t>
            </a:r>
            <a:r>
              <a:rPr lang="en-US" dirty="0" err="1" smtClean="0"/>
              <a:t>vs</a:t>
            </a:r>
            <a:r>
              <a:rPr lang="en-US" dirty="0" smtClean="0"/>
              <a:t> 13.7%)</a:t>
            </a:r>
          </a:p>
          <a:p>
            <a:pPr lvl="1">
              <a:buNone/>
            </a:pPr>
            <a:endParaRPr lang="en-US" dirty="0" smtClean="0"/>
          </a:p>
          <a:p>
            <a:r>
              <a:rPr lang="en-US" dirty="0" smtClean="0"/>
              <a:t>Financing college</a:t>
            </a:r>
          </a:p>
          <a:p>
            <a:pPr lvl="1"/>
            <a:r>
              <a:rPr lang="en-US" dirty="0" smtClean="0"/>
              <a:t>Using loans (48.7% </a:t>
            </a:r>
            <a:r>
              <a:rPr lang="en-US" dirty="0" err="1" smtClean="0"/>
              <a:t>vs</a:t>
            </a:r>
            <a:r>
              <a:rPr lang="en-US" dirty="0" smtClean="0"/>
              <a:t> 62.3%)</a:t>
            </a:r>
          </a:p>
          <a:p>
            <a:pPr lvl="1"/>
            <a:r>
              <a:rPr lang="en-US" dirty="0" smtClean="0"/>
              <a:t>Not using any family resources (21.1% </a:t>
            </a:r>
            <a:r>
              <a:rPr lang="en-US" dirty="0" err="1" smtClean="0"/>
              <a:t>vs</a:t>
            </a:r>
            <a:r>
              <a:rPr lang="en-US" dirty="0" smtClean="0"/>
              <a:t> 12.7%)</a:t>
            </a:r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Students Living with Family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/>
          <a:lstStyle/>
          <a:p>
            <a:r>
              <a:rPr lang="en-US" dirty="0" smtClean="0"/>
              <a:t>“Very good” chance of transfer</a:t>
            </a:r>
          </a:p>
          <a:p>
            <a:pPr lvl="1"/>
            <a:r>
              <a:rPr lang="en-US" dirty="0" smtClean="0"/>
              <a:t>10.0% </a:t>
            </a:r>
            <a:r>
              <a:rPr lang="en-US" dirty="0" err="1" smtClean="0"/>
              <a:t>vs</a:t>
            </a:r>
            <a:r>
              <a:rPr lang="en-US" dirty="0" smtClean="0"/>
              <a:t> 5.2%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Need extra time to complete degree </a:t>
            </a:r>
          </a:p>
          <a:p>
            <a:pPr lvl="1"/>
            <a:r>
              <a:rPr lang="en-US" dirty="0" smtClean="0"/>
              <a:t>7.9% </a:t>
            </a:r>
            <a:r>
              <a:rPr lang="en-US" dirty="0" err="1" smtClean="0"/>
              <a:t>vs</a:t>
            </a:r>
            <a:r>
              <a:rPr lang="en-US" dirty="0" smtClean="0"/>
              <a:t> 5.4%</a:t>
            </a:r>
          </a:p>
          <a:p>
            <a:pPr lvl="1">
              <a:buNone/>
            </a:pP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r>
              <a:rPr lang="en-US" dirty="0" smtClean="0"/>
              <a:t>Economic impact intensifies</a:t>
            </a:r>
          </a:p>
          <a:p>
            <a:pPr lvl="1"/>
            <a:r>
              <a:rPr lang="en-US" dirty="0" smtClean="0"/>
              <a:t>All time highs </a:t>
            </a:r>
          </a:p>
          <a:p>
            <a:r>
              <a:rPr lang="en-US" dirty="0" smtClean="0"/>
              <a:t>At the same time, few see time to degree as important as it should be</a:t>
            </a:r>
          </a:p>
          <a:p>
            <a:r>
              <a:rPr lang="en-US" dirty="0" smtClean="0"/>
              <a:t>Students identify more with “middle of the road” politically, yet hold liberal views</a:t>
            </a:r>
          </a:p>
          <a:p>
            <a:r>
              <a:rPr lang="en-US" dirty="0" smtClean="0"/>
              <a:t>More students entering having felt overwhelmed</a:t>
            </a:r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For More Information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152400" y="2514600"/>
            <a:ext cx="3657600" cy="1600200"/>
          </a:xfrm>
        </p:spPr>
        <p:txBody>
          <a:bodyPr/>
          <a:lstStyle/>
          <a:p>
            <a:pPr algn="ctr" eaLnBrk="1" hangingPunct="1">
              <a:buFont typeface="Arial" charset="0"/>
              <a:buNone/>
            </a:pPr>
            <a:r>
              <a:rPr lang="en-US" sz="2000" dirty="0" smtClean="0"/>
              <a:t>www.heri.ucla.edu</a:t>
            </a:r>
          </a:p>
          <a:p>
            <a:pPr algn="ctr" eaLnBrk="1" hangingPunct="1">
              <a:buFont typeface="Arial" charset="0"/>
              <a:buNone/>
            </a:pPr>
            <a:endParaRPr lang="en-US" sz="2000" dirty="0" smtClean="0"/>
          </a:p>
          <a:p>
            <a:pPr algn="ctr" eaLnBrk="1" hangingPunct="1">
              <a:buFont typeface="Arial" charset="0"/>
              <a:buNone/>
            </a:pPr>
            <a:r>
              <a:rPr lang="en-US" sz="2000" dirty="0" smtClean="0"/>
              <a:t>john.pryor@ucla.edu</a:t>
            </a:r>
          </a:p>
          <a:p>
            <a:pPr eaLnBrk="1" hangingPunct="1"/>
            <a:endParaRPr lang="en-US" dirty="0" smtClean="0"/>
          </a:p>
        </p:txBody>
      </p:sp>
      <p:pic>
        <p:nvPicPr>
          <p:cNvPr id="6" name="Picture 5" descr="TFS 2012 Cover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114800" y="1371600"/>
            <a:ext cx="3886200" cy="5029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4883</TotalTime>
  <Words>1382</Words>
  <Application>Microsoft Office PowerPoint</Application>
  <PresentationFormat>On-screen Show (4:3)</PresentationFormat>
  <Paragraphs>353</Paragraphs>
  <Slides>58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59" baseType="lpstr">
      <vt:lpstr>Office Theme</vt:lpstr>
      <vt:lpstr> Who is Coming to College?  2012 CIRP Freshman Survey Results </vt:lpstr>
      <vt:lpstr>Higher Education Research Institute</vt:lpstr>
      <vt:lpstr>CIRP Freshman Survey</vt:lpstr>
      <vt:lpstr>CIRP Freshman Survey 2012 </vt:lpstr>
      <vt:lpstr>CIRP Conceptual Framework</vt:lpstr>
      <vt:lpstr>   Astin’s I-E-O Model</vt:lpstr>
      <vt:lpstr>Slide 7</vt:lpstr>
      <vt:lpstr>Slide 8</vt:lpstr>
      <vt:lpstr>Slide 9</vt:lpstr>
      <vt:lpstr>Slide 10</vt:lpstr>
      <vt:lpstr>Slide 11</vt:lpstr>
      <vt:lpstr>Slide 12</vt:lpstr>
      <vt:lpstr>Most important objective: Being well off financially</vt:lpstr>
      <vt:lpstr>Most important objective: Being well off financially</vt:lpstr>
      <vt:lpstr>Slide 15</vt:lpstr>
      <vt:lpstr>Slide 16</vt:lpstr>
      <vt:lpstr>The First Choice Gap</vt:lpstr>
      <vt:lpstr>Slide 18</vt:lpstr>
      <vt:lpstr>Time to Degree</vt:lpstr>
      <vt:lpstr>Slide 20</vt:lpstr>
      <vt:lpstr>Slide 21</vt:lpstr>
      <vt:lpstr>Time to Degree</vt:lpstr>
      <vt:lpstr>5yr Degree and Prospective Major</vt:lpstr>
      <vt:lpstr>Time to Degree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Updated Majors</vt:lpstr>
      <vt:lpstr>Slide 35</vt:lpstr>
      <vt:lpstr>New for 2012</vt:lpstr>
      <vt:lpstr>Slide 37</vt:lpstr>
      <vt:lpstr>HBCU Differences</vt:lpstr>
      <vt:lpstr>Occupational Connections</vt:lpstr>
      <vt:lpstr>Occupational Connections</vt:lpstr>
      <vt:lpstr>Slide 41</vt:lpstr>
      <vt:lpstr>New for 2012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Students Living with Family</vt:lpstr>
      <vt:lpstr>Students Living with Family</vt:lpstr>
      <vt:lpstr>Conclusions</vt:lpstr>
      <vt:lpstr>For More Information</vt:lpstr>
    </vt:vector>
  </TitlesOfParts>
  <Company>gseis-ucla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2009 American Freshman</dc:title>
  <dc:creator>John H. Pryor</dc:creator>
  <cp:lastModifiedBy>Silvio Vallejos</cp:lastModifiedBy>
  <cp:revision>520</cp:revision>
  <dcterms:created xsi:type="dcterms:W3CDTF">2010-01-08T16:47:54Z</dcterms:created>
  <dcterms:modified xsi:type="dcterms:W3CDTF">2013-01-23T23:32:35Z</dcterms:modified>
</cp:coreProperties>
</file>