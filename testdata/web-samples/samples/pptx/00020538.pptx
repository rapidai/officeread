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sldIdLst>
    <p:sldId id="256" r:id="rId2"/>
    <p:sldId id="257" r:id="rId3"/>
    <p:sldId id="282" r:id="rId4"/>
    <p:sldId id="283" r:id="rId5"/>
    <p:sldId id="286" r:id="rId6"/>
    <p:sldId id="290" r:id="rId7"/>
    <p:sldId id="287" r:id="rId8"/>
    <p:sldId id="293" r:id="rId9"/>
    <p:sldId id="296" r:id="rId10"/>
    <p:sldId id="285" r:id="rId11"/>
    <p:sldId id="295" r:id="rId12"/>
    <p:sldId id="291" r:id="rId13"/>
    <p:sldId id="284" r:id="rId14"/>
    <p:sldId id="289" r:id="rId15"/>
    <p:sldId id="288" r:id="rId16"/>
    <p:sldId id="292" r:id="rId17"/>
    <p:sldId id="29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322" autoAdjust="0"/>
    <p:restoredTop sz="94585" autoAdjust="0"/>
  </p:normalViewPr>
  <p:slideViewPr>
    <p:cSldViewPr showGuides="1">
      <p:cViewPr>
        <p:scale>
          <a:sx n="72" d="100"/>
          <a:sy n="72" d="100"/>
        </p:scale>
        <p:origin x="-109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9AFA47-720E-4E74-9893-7F906D9EEBCF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ca-ES"/>
        </a:p>
      </dgm:t>
    </dgm:pt>
    <dgm:pt modelId="{6D22A3DB-12BE-4333-8E65-7F72D6FB5A84}">
      <dgm:prSet phldrT="[Texto]" custT="1"/>
      <dgm:spPr/>
      <dgm:t>
        <a:bodyPr/>
        <a:lstStyle/>
        <a:p>
          <a:r>
            <a:rPr lang="es-ES" sz="2400" b="1" dirty="0" smtClean="0">
              <a:latin typeface="Calibri" pitchFamily="34" charset="0"/>
              <a:cs typeface="Calibri" pitchFamily="34" charset="0"/>
            </a:rPr>
            <a:t>Examen inicial</a:t>
          </a:r>
          <a:endParaRPr lang="ca-ES" sz="2400" b="1" dirty="0">
            <a:latin typeface="Calibri" pitchFamily="34" charset="0"/>
            <a:cs typeface="Calibri" pitchFamily="34" charset="0"/>
          </a:endParaRPr>
        </a:p>
      </dgm:t>
    </dgm:pt>
    <dgm:pt modelId="{D9ACEEF1-E633-442C-B9B3-A91B48C226AE}" type="parTrans" cxnId="{B7CF4858-62B9-4677-A158-7EC2C8D1E735}">
      <dgm:prSet/>
      <dgm:spPr/>
      <dgm:t>
        <a:bodyPr/>
        <a:lstStyle/>
        <a:p>
          <a:endParaRPr lang="ca-ES" sz="2800" b="1">
            <a:latin typeface="Calibri" pitchFamily="34" charset="0"/>
            <a:cs typeface="Calibri" pitchFamily="34" charset="0"/>
          </a:endParaRPr>
        </a:p>
      </dgm:t>
    </dgm:pt>
    <dgm:pt modelId="{4BDBE11E-9208-4F65-8652-6CFD6021F768}" type="sibTrans" cxnId="{B7CF4858-62B9-4677-A158-7EC2C8D1E735}">
      <dgm:prSet custT="1"/>
      <dgm:spPr/>
      <dgm:t>
        <a:bodyPr/>
        <a:lstStyle/>
        <a:p>
          <a:endParaRPr lang="ca-ES" sz="3600" b="1">
            <a:latin typeface="Calibri" pitchFamily="34" charset="0"/>
            <a:cs typeface="Calibri" pitchFamily="34" charset="0"/>
          </a:endParaRPr>
        </a:p>
      </dgm:t>
    </dgm:pt>
    <dgm:pt modelId="{A6C7937D-52B2-4BF9-B9F8-E399DA0807B2}">
      <dgm:prSet phldrT="[Texto]" custT="1"/>
      <dgm:spPr/>
      <dgm:t>
        <a:bodyPr/>
        <a:lstStyle/>
        <a:p>
          <a:r>
            <a:rPr lang="es-ES" sz="2400" b="1" dirty="0" smtClean="0">
              <a:latin typeface="Calibri" pitchFamily="34" charset="0"/>
              <a:cs typeface="Calibri" pitchFamily="34" charset="0"/>
            </a:rPr>
            <a:t>Examen final</a:t>
          </a:r>
          <a:endParaRPr lang="ca-ES" sz="2400" b="1" dirty="0">
            <a:latin typeface="Calibri" pitchFamily="34" charset="0"/>
            <a:cs typeface="Calibri" pitchFamily="34" charset="0"/>
          </a:endParaRPr>
        </a:p>
      </dgm:t>
    </dgm:pt>
    <dgm:pt modelId="{74A21BB4-0570-4902-9830-3435972B93B7}" type="parTrans" cxnId="{8E33306C-582A-416D-9032-30B6985EAB80}">
      <dgm:prSet/>
      <dgm:spPr/>
      <dgm:t>
        <a:bodyPr/>
        <a:lstStyle/>
        <a:p>
          <a:endParaRPr lang="ca-ES" sz="2800" b="1">
            <a:latin typeface="Calibri" pitchFamily="34" charset="0"/>
            <a:cs typeface="Calibri" pitchFamily="34" charset="0"/>
          </a:endParaRPr>
        </a:p>
      </dgm:t>
    </dgm:pt>
    <dgm:pt modelId="{8FD425F7-3520-4CF3-A71B-C516A6798508}" type="sibTrans" cxnId="{8E33306C-582A-416D-9032-30B6985EAB80}">
      <dgm:prSet/>
      <dgm:spPr/>
      <dgm:t>
        <a:bodyPr/>
        <a:lstStyle/>
        <a:p>
          <a:endParaRPr lang="ca-ES" sz="2800" b="1">
            <a:latin typeface="Calibri" pitchFamily="34" charset="0"/>
            <a:cs typeface="Calibri" pitchFamily="34" charset="0"/>
          </a:endParaRPr>
        </a:p>
      </dgm:t>
    </dgm:pt>
    <dgm:pt modelId="{879F342E-E148-4D5B-89E0-75E1E321ECB5}">
      <dgm:prSet phldrT="[Texto]" custT="1"/>
      <dgm:spPr/>
      <dgm:t>
        <a:bodyPr/>
        <a:lstStyle/>
        <a:p>
          <a:r>
            <a:rPr lang="es-ES" sz="2400" b="1" dirty="0" err="1" smtClean="0">
              <a:latin typeface="Calibri" pitchFamily="34" charset="0"/>
              <a:cs typeface="Calibri" pitchFamily="34" charset="0"/>
            </a:rPr>
            <a:t>Alumnat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centres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experimentals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amb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metodologia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“ad-hoc”</a:t>
          </a:r>
          <a:endParaRPr lang="ca-ES" sz="2400" b="1" dirty="0">
            <a:latin typeface="Calibri" pitchFamily="34" charset="0"/>
            <a:cs typeface="Calibri" pitchFamily="34" charset="0"/>
          </a:endParaRPr>
        </a:p>
      </dgm:t>
    </dgm:pt>
    <dgm:pt modelId="{96AFE168-7F4E-4D35-A777-87272C330947}" type="parTrans" cxnId="{5011BD0C-471C-4F65-9613-2119A5A51E4A}">
      <dgm:prSet/>
      <dgm:spPr/>
      <dgm:t>
        <a:bodyPr/>
        <a:lstStyle/>
        <a:p>
          <a:endParaRPr lang="ca-ES" sz="2800" b="1">
            <a:latin typeface="Calibri" pitchFamily="34" charset="0"/>
            <a:cs typeface="Calibri" pitchFamily="34" charset="0"/>
          </a:endParaRPr>
        </a:p>
      </dgm:t>
    </dgm:pt>
    <dgm:pt modelId="{AF303437-E5DD-4F59-8C5B-1655D915D5C0}" type="sibTrans" cxnId="{5011BD0C-471C-4F65-9613-2119A5A51E4A}">
      <dgm:prSet custT="1"/>
      <dgm:spPr/>
      <dgm:t>
        <a:bodyPr/>
        <a:lstStyle/>
        <a:p>
          <a:endParaRPr lang="ca-ES" sz="3600" b="1">
            <a:latin typeface="Calibri" pitchFamily="34" charset="0"/>
            <a:cs typeface="Calibri" pitchFamily="34" charset="0"/>
          </a:endParaRPr>
        </a:p>
      </dgm:t>
    </dgm:pt>
    <dgm:pt modelId="{41ED8F88-018A-4218-8D63-03988D504DEF}">
      <dgm:prSet phldrT="[Texto]" custT="1"/>
      <dgm:spPr/>
      <dgm:t>
        <a:bodyPr/>
        <a:lstStyle/>
        <a:p>
          <a:r>
            <a:rPr lang="es-ES" sz="2400" b="1" dirty="0" err="1" smtClean="0">
              <a:latin typeface="Calibri" pitchFamily="34" charset="0"/>
              <a:cs typeface="Calibri" pitchFamily="34" charset="0"/>
            </a:rPr>
            <a:t>Alumnat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centres control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sense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emprar TIC,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però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podien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emprar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qualsevol</a:t>
          </a:r>
          <a:r>
            <a:rPr lang="es-ES" sz="2400" b="1" dirty="0" smtClean="0">
              <a:latin typeface="Calibri" pitchFamily="34" charset="0"/>
              <a:cs typeface="Calibri" pitchFamily="34" charset="0"/>
            </a:rPr>
            <a:t> estrategia </a:t>
          </a:r>
          <a:r>
            <a:rPr lang="es-ES" sz="2400" b="1" dirty="0" err="1" smtClean="0">
              <a:latin typeface="Calibri" pitchFamily="34" charset="0"/>
              <a:cs typeface="Calibri" pitchFamily="34" charset="0"/>
            </a:rPr>
            <a:t>metodològica</a:t>
          </a:r>
          <a:endParaRPr lang="ca-ES" sz="2400" b="1" dirty="0">
            <a:latin typeface="Calibri" pitchFamily="34" charset="0"/>
            <a:cs typeface="Calibri" pitchFamily="34" charset="0"/>
          </a:endParaRPr>
        </a:p>
      </dgm:t>
    </dgm:pt>
    <dgm:pt modelId="{C039997D-7AEF-4712-A9A0-DE4D3D973545}" type="parTrans" cxnId="{C1DB26C7-C329-444A-A97B-FD01C1915736}">
      <dgm:prSet/>
      <dgm:spPr/>
      <dgm:t>
        <a:bodyPr/>
        <a:lstStyle/>
        <a:p>
          <a:endParaRPr lang="ca-ES" sz="2800" b="1">
            <a:latin typeface="Calibri" pitchFamily="34" charset="0"/>
            <a:cs typeface="Calibri" pitchFamily="34" charset="0"/>
          </a:endParaRPr>
        </a:p>
      </dgm:t>
    </dgm:pt>
    <dgm:pt modelId="{E50E3945-FBFF-4F9D-84AB-857714F491A6}" type="sibTrans" cxnId="{C1DB26C7-C329-444A-A97B-FD01C1915736}">
      <dgm:prSet custT="1"/>
      <dgm:spPr/>
      <dgm:t>
        <a:bodyPr/>
        <a:lstStyle/>
        <a:p>
          <a:endParaRPr lang="ca-ES" sz="3600" b="1">
            <a:latin typeface="Calibri" pitchFamily="34" charset="0"/>
            <a:cs typeface="Calibri" pitchFamily="34" charset="0"/>
          </a:endParaRPr>
        </a:p>
      </dgm:t>
    </dgm:pt>
    <dgm:pt modelId="{BC3B8789-EB3F-4780-B380-136B0E238418}" type="pres">
      <dgm:prSet presAssocID="{5B9AFA47-720E-4E74-9893-7F906D9EEBC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ca-ES"/>
        </a:p>
      </dgm:t>
    </dgm:pt>
    <dgm:pt modelId="{9BB35013-F0FB-43E3-A755-F3546649256D}" type="pres">
      <dgm:prSet presAssocID="{5B9AFA47-720E-4E74-9893-7F906D9EEBCF}" presName="dummyMaxCanvas" presStyleCnt="0">
        <dgm:presLayoutVars/>
      </dgm:prSet>
      <dgm:spPr/>
    </dgm:pt>
    <dgm:pt modelId="{91915779-0BF4-468B-9506-139209555124}" type="pres">
      <dgm:prSet presAssocID="{5B9AFA47-720E-4E74-9893-7F906D9EEBCF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1986B6A8-04CE-4FCD-9256-55A25E7E10CB}" type="pres">
      <dgm:prSet presAssocID="{5B9AFA47-720E-4E74-9893-7F906D9EEBCF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591C8830-C684-422A-8589-91C85463A51C}" type="pres">
      <dgm:prSet presAssocID="{5B9AFA47-720E-4E74-9893-7F906D9EEBCF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98DF49AF-1A93-47CA-9589-22324774F623}" type="pres">
      <dgm:prSet presAssocID="{5B9AFA47-720E-4E74-9893-7F906D9EEBCF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90EE65BD-FAB5-43AE-B271-FA1EF909F2F1}" type="pres">
      <dgm:prSet presAssocID="{5B9AFA47-720E-4E74-9893-7F906D9EEBCF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FD63D279-82FB-44AF-89A0-98030CD88718}" type="pres">
      <dgm:prSet presAssocID="{5B9AFA47-720E-4E74-9893-7F906D9EEBCF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333E0E16-A768-4FAE-8532-E55BE0F337E5}" type="pres">
      <dgm:prSet presAssocID="{5B9AFA47-720E-4E74-9893-7F906D9EEBCF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575419C5-23E0-49BD-A87F-5381B9367AE3}" type="pres">
      <dgm:prSet presAssocID="{5B9AFA47-720E-4E74-9893-7F906D9EEBCF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0478B72C-4630-4920-AA37-E62A9796963F}" type="pres">
      <dgm:prSet presAssocID="{5B9AFA47-720E-4E74-9893-7F906D9EEBCF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1F595A25-8756-4C58-9BE7-50DCF4A8E3E3}" type="pres">
      <dgm:prSet presAssocID="{5B9AFA47-720E-4E74-9893-7F906D9EEBCF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B9214D8C-E4A9-4712-9F2D-EC6459ABB6F7}" type="pres">
      <dgm:prSet presAssocID="{5B9AFA47-720E-4E74-9893-7F906D9EEBCF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ca-ES"/>
        </a:p>
      </dgm:t>
    </dgm:pt>
  </dgm:ptLst>
  <dgm:cxnLst>
    <dgm:cxn modelId="{B7CF4858-62B9-4677-A158-7EC2C8D1E735}" srcId="{5B9AFA47-720E-4E74-9893-7F906D9EEBCF}" destId="{6D22A3DB-12BE-4333-8E65-7F72D6FB5A84}" srcOrd="0" destOrd="0" parTransId="{D9ACEEF1-E633-442C-B9B3-A91B48C226AE}" sibTransId="{4BDBE11E-9208-4F65-8652-6CFD6021F768}"/>
    <dgm:cxn modelId="{2392716E-A192-4EB5-8D71-21847609303C}" type="presOf" srcId="{E50E3945-FBFF-4F9D-84AB-857714F491A6}" destId="{333E0E16-A768-4FAE-8532-E55BE0F337E5}" srcOrd="0" destOrd="0" presId="urn:microsoft.com/office/officeart/2005/8/layout/vProcess5"/>
    <dgm:cxn modelId="{A96F9100-DD44-416B-A019-632F27CB7A0F}" type="presOf" srcId="{5B9AFA47-720E-4E74-9893-7F906D9EEBCF}" destId="{BC3B8789-EB3F-4780-B380-136B0E238418}" srcOrd="0" destOrd="0" presId="urn:microsoft.com/office/officeart/2005/8/layout/vProcess5"/>
    <dgm:cxn modelId="{DFF1E9B5-0FDB-40DA-80AF-F3192EF4AD10}" type="presOf" srcId="{879F342E-E148-4D5B-89E0-75E1E321ECB5}" destId="{0478B72C-4630-4920-AA37-E62A9796963F}" srcOrd="1" destOrd="0" presId="urn:microsoft.com/office/officeart/2005/8/layout/vProcess5"/>
    <dgm:cxn modelId="{850D9F45-20D7-4F93-945A-9005D6C03E3D}" type="presOf" srcId="{41ED8F88-018A-4218-8D63-03988D504DEF}" destId="{591C8830-C684-422A-8589-91C85463A51C}" srcOrd="0" destOrd="0" presId="urn:microsoft.com/office/officeart/2005/8/layout/vProcess5"/>
    <dgm:cxn modelId="{5011BD0C-471C-4F65-9613-2119A5A51E4A}" srcId="{5B9AFA47-720E-4E74-9893-7F906D9EEBCF}" destId="{879F342E-E148-4D5B-89E0-75E1E321ECB5}" srcOrd="1" destOrd="0" parTransId="{96AFE168-7F4E-4D35-A777-87272C330947}" sibTransId="{AF303437-E5DD-4F59-8C5B-1655D915D5C0}"/>
    <dgm:cxn modelId="{8E33306C-582A-416D-9032-30B6985EAB80}" srcId="{5B9AFA47-720E-4E74-9893-7F906D9EEBCF}" destId="{A6C7937D-52B2-4BF9-B9F8-E399DA0807B2}" srcOrd="3" destOrd="0" parTransId="{74A21BB4-0570-4902-9830-3435972B93B7}" sibTransId="{8FD425F7-3520-4CF3-A71B-C516A6798508}"/>
    <dgm:cxn modelId="{15BAD5B5-23B4-4E77-87A1-29974970F1B7}" type="presOf" srcId="{A6C7937D-52B2-4BF9-B9F8-E399DA0807B2}" destId="{98DF49AF-1A93-47CA-9589-22324774F623}" srcOrd="0" destOrd="0" presId="urn:microsoft.com/office/officeart/2005/8/layout/vProcess5"/>
    <dgm:cxn modelId="{95239F55-D383-41AA-AA99-0E22260811FA}" type="presOf" srcId="{879F342E-E148-4D5B-89E0-75E1E321ECB5}" destId="{1986B6A8-04CE-4FCD-9256-55A25E7E10CB}" srcOrd="0" destOrd="0" presId="urn:microsoft.com/office/officeart/2005/8/layout/vProcess5"/>
    <dgm:cxn modelId="{3AB99E7A-332B-4D72-936A-1DD2985B95EF}" type="presOf" srcId="{AF303437-E5DD-4F59-8C5B-1655D915D5C0}" destId="{FD63D279-82FB-44AF-89A0-98030CD88718}" srcOrd="0" destOrd="0" presId="urn:microsoft.com/office/officeart/2005/8/layout/vProcess5"/>
    <dgm:cxn modelId="{189DEAA5-FA51-4422-8CCC-A7E36E5C5914}" type="presOf" srcId="{41ED8F88-018A-4218-8D63-03988D504DEF}" destId="{1F595A25-8756-4C58-9BE7-50DCF4A8E3E3}" srcOrd="1" destOrd="0" presId="urn:microsoft.com/office/officeart/2005/8/layout/vProcess5"/>
    <dgm:cxn modelId="{CE36BC18-DF2F-4ED3-99C8-C262F38AE66F}" type="presOf" srcId="{6D22A3DB-12BE-4333-8E65-7F72D6FB5A84}" destId="{91915779-0BF4-468B-9506-139209555124}" srcOrd="0" destOrd="0" presId="urn:microsoft.com/office/officeart/2005/8/layout/vProcess5"/>
    <dgm:cxn modelId="{C1DB26C7-C329-444A-A97B-FD01C1915736}" srcId="{5B9AFA47-720E-4E74-9893-7F906D9EEBCF}" destId="{41ED8F88-018A-4218-8D63-03988D504DEF}" srcOrd="2" destOrd="0" parTransId="{C039997D-7AEF-4712-A9A0-DE4D3D973545}" sibTransId="{E50E3945-FBFF-4F9D-84AB-857714F491A6}"/>
    <dgm:cxn modelId="{E29FF006-8827-440F-9CCC-2CD0CF476896}" type="presOf" srcId="{A6C7937D-52B2-4BF9-B9F8-E399DA0807B2}" destId="{B9214D8C-E4A9-4712-9F2D-EC6459ABB6F7}" srcOrd="1" destOrd="0" presId="urn:microsoft.com/office/officeart/2005/8/layout/vProcess5"/>
    <dgm:cxn modelId="{811FE33F-ABE7-46B6-AEDF-C273C3274AF4}" type="presOf" srcId="{4BDBE11E-9208-4F65-8652-6CFD6021F768}" destId="{90EE65BD-FAB5-43AE-B271-FA1EF909F2F1}" srcOrd="0" destOrd="0" presId="urn:microsoft.com/office/officeart/2005/8/layout/vProcess5"/>
    <dgm:cxn modelId="{F2C2A57F-4CC6-469A-B4A2-3356A3C096D7}" type="presOf" srcId="{6D22A3DB-12BE-4333-8E65-7F72D6FB5A84}" destId="{575419C5-23E0-49BD-A87F-5381B9367AE3}" srcOrd="1" destOrd="0" presId="urn:microsoft.com/office/officeart/2005/8/layout/vProcess5"/>
    <dgm:cxn modelId="{3CA909F7-AE70-4627-83AE-31A8FA12C183}" type="presParOf" srcId="{BC3B8789-EB3F-4780-B380-136B0E238418}" destId="{9BB35013-F0FB-43E3-A755-F3546649256D}" srcOrd="0" destOrd="0" presId="urn:microsoft.com/office/officeart/2005/8/layout/vProcess5"/>
    <dgm:cxn modelId="{9EB83BAB-78A2-4AD0-A683-33D86F0CD4B0}" type="presParOf" srcId="{BC3B8789-EB3F-4780-B380-136B0E238418}" destId="{91915779-0BF4-468B-9506-139209555124}" srcOrd="1" destOrd="0" presId="urn:microsoft.com/office/officeart/2005/8/layout/vProcess5"/>
    <dgm:cxn modelId="{7920A45C-CDD5-461F-8F93-DA953C772CD6}" type="presParOf" srcId="{BC3B8789-EB3F-4780-B380-136B0E238418}" destId="{1986B6A8-04CE-4FCD-9256-55A25E7E10CB}" srcOrd="2" destOrd="0" presId="urn:microsoft.com/office/officeart/2005/8/layout/vProcess5"/>
    <dgm:cxn modelId="{27DC0660-FDE9-4F07-BC07-CC5E7EA235EA}" type="presParOf" srcId="{BC3B8789-EB3F-4780-B380-136B0E238418}" destId="{591C8830-C684-422A-8589-91C85463A51C}" srcOrd="3" destOrd="0" presId="urn:microsoft.com/office/officeart/2005/8/layout/vProcess5"/>
    <dgm:cxn modelId="{45B915AE-8374-4327-8410-E92366628C00}" type="presParOf" srcId="{BC3B8789-EB3F-4780-B380-136B0E238418}" destId="{98DF49AF-1A93-47CA-9589-22324774F623}" srcOrd="4" destOrd="0" presId="urn:microsoft.com/office/officeart/2005/8/layout/vProcess5"/>
    <dgm:cxn modelId="{A300C4BD-960F-4C48-8BCD-41C7139B8078}" type="presParOf" srcId="{BC3B8789-EB3F-4780-B380-136B0E238418}" destId="{90EE65BD-FAB5-43AE-B271-FA1EF909F2F1}" srcOrd="5" destOrd="0" presId="urn:microsoft.com/office/officeart/2005/8/layout/vProcess5"/>
    <dgm:cxn modelId="{78C543F0-448A-4C8B-852E-9CDC57D8DE75}" type="presParOf" srcId="{BC3B8789-EB3F-4780-B380-136B0E238418}" destId="{FD63D279-82FB-44AF-89A0-98030CD88718}" srcOrd="6" destOrd="0" presId="urn:microsoft.com/office/officeart/2005/8/layout/vProcess5"/>
    <dgm:cxn modelId="{6A73467F-995C-4C3E-A678-01299F2FE1BE}" type="presParOf" srcId="{BC3B8789-EB3F-4780-B380-136B0E238418}" destId="{333E0E16-A768-4FAE-8532-E55BE0F337E5}" srcOrd="7" destOrd="0" presId="urn:microsoft.com/office/officeart/2005/8/layout/vProcess5"/>
    <dgm:cxn modelId="{FCA7DE5F-812E-45B6-A0FC-8496BC99535D}" type="presParOf" srcId="{BC3B8789-EB3F-4780-B380-136B0E238418}" destId="{575419C5-23E0-49BD-A87F-5381B9367AE3}" srcOrd="8" destOrd="0" presId="urn:microsoft.com/office/officeart/2005/8/layout/vProcess5"/>
    <dgm:cxn modelId="{806B6EC2-25CE-4998-933E-F6765F7B9656}" type="presParOf" srcId="{BC3B8789-EB3F-4780-B380-136B0E238418}" destId="{0478B72C-4630-4920-AA37-E62A9796963F}" srcOrd="9" destOrd="0" presId="urn:microsoft.com/office/officeart/2005/8/layout/vProcess5"/>
    <dgm:cxn modelId="{4FC51B79-FCD7-4149-B692-53FCB07BB433}" type="presParOf" srcId="{BC3B8789-EB3F-4780-B380-136B0E238418}" destId="{1F595A25-8756-4C58-9BE7-50DCF4A8E3E3}" srcOrd="10" destOrd="0" presId="urn:microsoft.com/office/officeart/2005/8/layout/vProcess5"/>
    <dgm:cxn modelId="{ED66EE19-FD56-4EF7-B0BE-0CE69420C7C3}" type="presParOf" srcId="{BC3B8789-EB3F-4780-B380-136B0E238418}" destId="{B9214D8C-E4A9-4712-9F2D-EC6459ABB6F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F9B13-A308-4A13-B35F-B32D25B84742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ca-ES"/>
        </a:p>
      </dgm:t>
    </dgm:pt>
    <dgm:pt modelId="{75667F23-BBE2-4467-B8A7-5953D182791D}">
      <dgm:prSet phldrT="[Texto]"/>
      <dgm:spPr/>
      <dgm:t>
        <a:bodyPr/>
        <a:lstStyle/>
        <a:p>
          <a:r>
            <a:rPr lang="es-ES" dirty="0" smtClean="0">
              <a:latin typeface="Calibri" pitchFamily="34" charset="0"/>
              <a:cs typeface="Calibri" pitchFamily="34" charset="0"/>
            </a:rPr>
            <a:t>2010-2011</a:t>
          </a:r>
          <a:endParaRPr lang="ca-ES" dirty="0">
            <a:latin typeface="Calibri" pitchFamily="34" charset="0"/>
            <a:cs typeface="Calibri" pitchFamily="34" charset="0"/>
          </a:endParaRPr>
        </a:p>
      </dgm:t>
    </dgm:pt>
    <dgm:pt modelId="{17EE7CD7-B568-4B0A-8C5F-F44BD409B0DD}" type="parTrans" cxnId="{2D2191D1-7196-4560-9D36-84B598AA4F2E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444169B3-63D5-486D-AE1D-0C6B1B6FD49E}" type="sibTrans" cxnId="{2D2191D1-7196-4560-9D36-84B598AA4F2E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02552FCA-3FAC-4825-9B03-E4ECE5E6E72E}">
      <dgm:prSet phldrT="[Texto]"/>
      <dgm:spPr/>
      <dgm:t>
        <a:bodyPr/>
        <a:lstStyle/>
        <a:p>
          <a:r>
            <a:rPr lang="es-ES" b="1" dirty="0" err="1" smtClean="0">
              <a:latin typeface="Calibri" pitchFamily="34" charset="0"/>
              <a:cs typeface="Calibri" pitchFamily="34" charset="0"/>
            </a:rPr>
            <a:t>Ortografia</a:t>
          </a:r>
          <a:endParaRPr lang="ca-ES" b="1" dirty="0">
            <a:latin typeface="Calibri" pitchFamily="34" charset="0"/>
            <a:cs typeface="Calibri" pitchFamily="34" charset="0"/>
          </a:endParaRPr>
        </a:p>
      </dgm:t>
    </dgm:pt>
    <dgm:pt modelId="{9718203D-C2B4-4280-ABB3-FD9E697A7B58}" type="parTrans" cxnId="{507B3357-3AEB-4C31-A9C3-5ABC56615F2D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801F0568-FD7B-4814-9322-A9B9A6D647C6}" type="sibTrans" cxnId="{507B3357-3AEB-4C31-A9C3-5ABC56615F2D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0E00F528-9306-4D14-8AAE-C5551508F9C4}">
      <dgm:prSet phldrT="[Texto]"/>
      <dgm:spPr/>
      <dgm:t>
        <a:bodyPr/>
        <a:lstStyle/>
        <a:p>
          <a:r>
            <a:rPr lang="es-ES" dirty="0" smtClean="0">
              <a:latin typeface="Calibri" pitchFamily="34" charset="0"/>
              <a:cs typeface="Calibri" pitchFamily="34" charset="0"/>
            </a:rPr>
            <a:t>2011-2012</a:t>
          </a:r>
          <a:endParaRPr lang="ca-ES" dirty="0">
            <a:latin typeface="Calibri" pitchFamily="34" charset="0"/>
            <a:cs typeface="Calibri" pitchFamily="34" charset="0"/>
          </a:endParaRPr>
        </a:p>
      </dgm:t>
    </dgm:pt>
    <dgm:pt modelId="{002269BA-D4D0-47BC-B64A-3AF4F2EBC02E}" type="parTrans" cxnId="{1DCB808C-BEF2-4E74-812B-A4EB7F541CEA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993AA611-6CA2-4CF1-BBDC-8BAC652A972D}" type="sibTrans" cxnId="{1DCB808C-BEF2-4E74-812B-A4EB7F541CEA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2BA4A425-9962-485D-B08F-3878D3E5622C}">
      <dgm:prSet phldrT="[Texto]"/>
      <dgm:spPr/>
      <dgm:t>
        <a:bodyPr/>
        <a:lstStyle/>
        <a:p>
          <a:r>
            <a:rPr lang="es-ES" b="1" dirty="0" err="1" smtClean="0">
              <a:latin typeface="Calibri" pitchFamily="34" charset="0"/>
              <a:cs typeface="Calibri" pitchFamily="34" charset="0"/>
            </a:rPr>
            <a:t>Càlcul</a:t>
          </a:r>
          <a:r>
            <a:rPr lang="es-ES" b="1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b="1" dirty="0" err="1" smtClean="0">
              <a:latin typeface="Calibri" pitchFamily="34" charset="0"/>
              <a:cs typeface="Calibri" pitchFamily="34" charset="0"/>
            </a:rPr>
            <a:t>matemàtic</a:t>
          </a:r>
          <a:endParaRPr lang="ca-ES" b="1" dirty="0">
            <a:latin typeface="Calibri" pitchFamily="34" charset="0"/>
            <a:cs typeface="Calibri" pitchFamily="34" charset="0"/>
          </a:endParaRPr>
        </a:p>
      </dgm:t>
    </dgm:pt>
    <dgm:pt modelId="{465758E1-33D4-43D9-B4DC-E6BB10C65E82}" type="parTrans" cxnId="{D8274795-AE6E-44EC-A1CF-E67E6275E49C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E7966A14-730F-4B16-9E5E-E0CCB8BBD9FE}" type="sibTrans" cxnId="{D8274795-AE6E-44EC-A1CF-E67E6275E49C}">
      <dgm:prSet/>
      <dgm:spPr/>
      <dgm:t>
        <a:bodyPr/>
        <a:lstStyle/>
        <a:p>
          <a:endParaRPr lang="ca-ES">
            <a:latin typeface="Calibri" pitchFamily="34" charset="0"/>
            <a:cs typeface="Calibri" pitchFamily="34" charset="0"/>
          </a:endParaRPr>
        </a:p>
      </dgm:t>
    </dgm:pt>
    <dgm:pt modelId="{EE31FD3E-1566-4314-9B50-D498AF98A128}">
      <dgm:prSet phldrT="[Texto]"/>
      <dgm:spPr/>
      <dgm:t>
        <a:bodyPr/>
        <a:lstStyle/>
        <a:p>
          <a:r>
            <a:rPr lang="es-ES" b="1" dirty="0" err="1" smtClean="0">
              <a:latin typeface="Calibri" pitchFamily="34" charset="0"/>
              <a:cs typeface="Calibri" pitchFamily="34" charset="0"/>
            </a:rPr>
            <a:t>Medi</a:t>
          </a:r>
          <a:r>
            <a:rPr lang="es-ES" b="1" dirty="0" smtClean="0">
              <a:latin typeface="Calibri" pitchFamily="34" charset="0"/>
              <a:cs typeface="Calibri" pitchFamily="34" charset="0"/>
            </a:rPr>
            <a:t> social</a:t>
          </a:r>
          <a:endParaRPr lang="ca-ES" b="1" dirty="0">
            <a:latin typeface="Calibri" pitchFamily="34" charset="0"/>
            <a:cs typeface="Calibri" pitchFamily="34" charset="0"/>
          </a:endParaRPr>
        </a:p>
      </dgm:t>
    </dgm:pt>
    <dgm:pt modelId="{6595502F-5382-45A8-AB69-B27E11CFB77E}" type="parTrans" cxnId="{C5DE6B47-676D-42E0-9B93-852005BBEB00}">
      <dgm:prSet/>
      <dgm:spPr/>
      <dgm:t>
        <a:bodyPr/>
        <a:lstStyle/>
        <a:p>
          <a:endParaRPr lang="ca-ES"/>
        </a:p>
      </dgm:t>
    </dgm:pt>
    <dgm:pt modelId="{C7E4A37E-352B-4654-9109-7A36B4050A08}" type="sibTrans" cxnId="{C5DE6B47-676D-42E0-9B93-852005BBEB00}">
      <dgm:prSet/>
      <dgm:spPr/>
      <dgm:t>
        <a:bodyPr/>
        <a:lstStyle/>
        <a:p>
          <a:endParaRPr lang="ca-ES"/>
        </a:p>
      </dgm:t>
    </dgm:pt>
    <dgm:pt modelId="{2BC23239-B07F-4806-A270-F75122655E26}">
      <dgm:prSet phldrT="[Texto]"/>
      <dgm:spPr/>
      <dgm:t>
        <a:bodyPr/>
        <a:lstStyle/>
        <a:p>
          <a:r>
            <a:rPr lang="es-ES" b="1" dirty="0" err="1" smtClean="0">
              <a:latin typeface="Calibri" pitchFamily="34" charset="0"/>
              <a:cs typeface="Calibri" pitchFamily="34" charset="0"/>
            </a:rPr>
            <a:t>Medi</a:t>
          </a:r>
          <a:r>
            <a:rPr lang="es-ES" b="1" dirty="0" smtClean="0">
              <a:latin typeface="Calibri" pitchFamily="34" charset="0"/>
              <a:cs typeface="Calibri" pitchFamily="34" charset="0"/>
            </a:rPr>
            <a:t> natural</a:t>
          </a:r>
        </a:p>
        <a:p>
          <a:r>
            <a:rPr lang="es-ES" b="1" dirty="0" err="1" smtClean="0">
              <a:latin typeface="Calibri" pitchFamily="34" charset="0"/>
              <a:cs typeface="Calibri" pitchFamily="34" charset="0"/>
            </a:rPr>
            <a:t>Desenvolupament</a:t>
          </a:r>
          <a:r>
            <a:rPr lang="es-ES" b="1" dirty="0" smtClean="0">
              <a:latin typeface="Calibri" pitchFamily="34" charset="0"/>
              <a:cs typeface="Calibri" pitchFamily="34" charset="0"/>
            </a:rPr>
            <a:t> de </a:t>
          </a:r>
          <a:r>
            <a:rPr lang="es-ES" b="1" dirty="0" err="1" smtClean="0">
              <a:latin typeface="Calibri" pitchFamily="34" charset="0"/>
              <a:cs typeface="Calibri" pitchFamily="34" charset="0"/>
            </a:rPr>
            <a:t>diferents</a:t>
          </a:r>
          <a:r>
            <a:rPr lang="es-ES" b="1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b="1" dirty="0" err="1" smtClean="0">
              <a:latin typeface="Calibri" pitchFamily="34" charset="0"/>
              <a:cs typeface="Calibri" pitchFamily="34" charset="0"/>
            </a:rPr>
            <a:t>competències</a:t>
          </a:r>
          <a:endParaRPr lang="ca-ES" b="1" dirty="0">
            <a:latin typeface="Calibri" pitchFamily="34" charset="0"/>
            <a:cs typeface="Calibri" pitchFamily="34" charset="0"/>
          </a:endParaRPr>
        </a:p>
      </dgm:t>
    </dgm:pt>
    <dgm:pt modelId="{8264212E-ECCD-4239-B56A-E4D1285679A8}" type="parTrans" cxnId="{0E6324C0-90EC-4489-A7C5-A3006B71DCB5}">
      <dgm:prSet/>
      <dgm:spPr/>
      <dgm:t>
        <a:bodyPr/>
        <a:lstStyle/>
        <a:p>
          <a:endParaRPr lang="ca-ES"/>
        </a:p>
      </dgm:t>
    </dgm:pt>
    <dgm:pt modelId="{F4C58BD2-CFB5-4C56-B1BA-52026C042646}" type="sibTrans" cxnId="{0E6324C0-90EC-4489-A7C5-A3006B71DCB5}">
      <dgm:prSet/>
      <dgm:spPr/>
      <dgm:t>
        <a:bodyPr/>
        <a:lstStyle/>
        <a:p>
          <a:endParaRPr lang="ca-ES"/>
        </a:p>
      </dgm:t>
    </dgm:pt>
    <dgm:pt modelId="{65F4F786-3332-43D1-8B92-ADA6C56C31B1}" type="pres">
      <dgm:prSet presAssocID="{5B3F9B13-A308-4A13-B35F-B32D25B84742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ca-ES"/>
        </a:p>
      </dgm:t>
    </dgm:pt>
    <dgm:pt modelId="{B84CC4FA-398A-4A29-8F8F-F0FB25E95B04}" type="pres">
      <dgm:prSet presAssocID="{75667F23-BBE2-4467-B8A7-5953D182791D}" presName="parentText1" presStyleLbl="node1" presStyleIdx="0" presStyleCnt="2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DB8D2051-E146-4BFE-B1B5-69CFC2D87545}" type="pres">
      <dgm:prSet presAssocID="{75667F23-BBE2-4467-B8A7-5953D182791D}" presName="childText1" presStyleLbl="solidAlignAcc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6960529E-4DE2-40E5-8701-5976516FEE6E}" type="pres">
      <dgm:prSet presAssocID="{0E00F528-9306-4D14-8AAE-C5551508F9C4}" presName="parentText2" presStyleLbl="node1" presStyleIdx="1" presStyleCnt="2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ca-ES"/>
        </a:p>
      </dgm:t>
    </dgm:pt>
    <dgm:pt modelId="{3886BA62-0B3C-4E7D-A964-4BE8240A12DF}" type="pres">
      <dgm:prSet presAssocID="{0E00F528-9306-4D14-8AAE-C5551508F9C4}" presName="childText2" presStyleLbl="solidAlignAcc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ca-ES"/>
        </a:p>
      </dgm:t>
    </dgm:pt>
  </dgm:ptLst>
  <dgm:cxnLst>
    <dgm:cxn modelId="{C5DE6B47-676D-42E0-9B93-852005BBEB00}" srcId="{0E00F528-9306-4D14-8AAE-C5551508F9C4}" destId="{EE31FD3E-1566-4314-9B50-D498AF98A128}" srcOrd="1" destOrd="0" parTransId="{6595502F-5382-45A8-AB69-B27E11CFB77E}" sibTransId="{C7E4A37E-352B-4654-9109-7A36B4050A08}"/>
    <dgm:cxn modelId="{0E6324C0-90EC-4489-A7C5-A3006B71DCB5}" srcId="{0E00F528-9306-4D14-8AAE-C5551508F9C4}" destId="{2BC23239-B07F-4806-A270-F75122655E26}" srcOrd="2" destOrd="0" parTransId="{8264212E-ECCD-4239-B56A-E4D1285679A8}" sibTransId="{F4C58BD2-CFB5-4C56-B1BA-52026C042646}"/>
    <dgm:cxn modelId="{1DCB808C-BEF2-4E74-812B-A4EB7F541CEA}" srcId="{5B3F9B13-A308-4A13-B35F-B32D25B84742}" destId="{0E00F528-9306-4D14-8AAE-C5551508F9C4}" srcOrd="1" destOrd="0" parTransId="{002269BA-D4D0-47BC-B64A-3AF4F2EBC02E}" sibTransId="{993AA611-6CA2-4CF1-BBDC-8BAC652A972D}"/>
    <dgm:cxn modelId="{74938676-FF10-46F2-A1A7-719C189F9E98}" type="presOf" srcId="{75667F23-BBE2-4467-B8A7-5953D182791D}" destId="{B84CC4FA-398A-4A29-8F8F-F0FB25E95B04}" srcOrd="0" destOrd="0" presId="urn:microsoft.com/office/officeart/2009/3/layout/IncreasingArrowsProcess"/>
    <dgm:cxn modelId="{A946C94C-FB52-454A-821C-5E5FEE087329}" type="presOf" srcId="{EE31FD3E-1566-4314-9B50-D498AF98A128}" destId="{3886BA62-0B3C-4E7D-A964-4BE8240A12DF}" srcOrd="0" destOrd="1" presId="urn:microsoft.com/office/officeart/2009/3/layout/IncreasingArrowsProcess"/>
    <dgm:cxn modelId="{DE34B73C-DF7A-4494-87A7-AA3A9CEFC8EE}" type="presOf" srcId="{2BA4A425-9962-485D-B08F-3878D3E5622C}" destId="{3886BA62-0B3C-4E7D-A964-4BE8240A12DF}" srcOrd="0" destOrd="0" presId="urn:microsoft.com/office/officeart/2009/3/layout/IncreasingArrowsProcess"/>
    <dgm:cxn modelId="{507B3357-3AEB-4C31-A9C3-5ABC56615F2D}" srcId="{75667F23-BBE2-4467-B8A7-5953D182791D}" destId="{02552FCA-3FAC-4825-9B03-E4ECE5E6E72E}" srcOrd="0" destOrd="0" parTransId="{9718203D-C2B4-4280-ABB3-FD9E697A7B58}" sibTransId="{801F0568-FD7B-4814-9322-A9B9A6D647C6}"/>
    <dgm:cxn modelId="{D8274795-AE6E-44EC-A1CF-E67E6275E49C}" srcId="{0E00F528-9306-4D14-8AAE-C5551508F9C4}" destId="{2BA4A425-9962-485D-B08F-3878D3E5622C}" srcOrd="0" destOrd="0" parTransId="{465758E1-33D4-43D9-B4DC-E6BB10C65E82}" sibTransId="{E7966A14-730F-4B16-9E5E-E0CCB8BBD9FE}"/>
    <dgm:cxn modelId="{947B8634-5B88-40C7-9677-945CA8A0978F}" type="presOf" srcId="{2BC23239-B07F-4806-A270-F75122655E26}" destId="{3886BA62-0B3C-4E7D-A964-4BE8240A12DF}" srcOrd="0" destOrd="2" presId="urn:microsoft.com/office/officeart/2009/3/layout/IncreasingArrowsProcess"/>
    <dgm:cxn modelId="{2D2191D1-7196-4560-9D36-84B598AA4F2E}" srcId="{5B3F9B13-A308-4A13-B35F-B32D25B84742}" destId="{75667F23-BBE2-4467-B8A7-5953D182791D}" srcOrd="0" destOrd="0" parTransId="{17EE7CD7-B568-4B0A-8C5F-F44BD409B0DD}" sibTransId="{444169B3-63D5-486D-AE1D-0C6B1B6FD49E}"/>
    <dgm:cxn modelId="{5A54A487-93E0-4EAB-A9B2-B10B743FA577}" type="presOf" srcId="{02552FCA-3FAC-4825-9B03-E4ECE5E6E72E}" destId="{DB8D2051-E146-4BFE-B1B5-69CFC2D87545}" srcOrd="0" destOrd="0" presId="urn:microsoft.com/office/officeart/2009/3/layout/IncreasingArrowsProcess"/>
    <dgm:cxn modelId="{13B6B931-7FC6-41C5-A1E1-79C06DA60FBE}" type="presOf" srcId="{5B3F9B13-A308-4A13-B35F-B32D25B84742}" destId="{65F4F786-3332-43D1-8B92-ADA6C56C31B1}" srcOrd="0" destOrd="0" presId="urn:microsoft.com/office/officeart/2009/3/layout/IncreasingArrowsProcess"/>
    <dgm:cxn modelId="{F868A81A-CACF-4E4F-9CE7-691589A75F66}" type="presOf" srcId="{0E00F528-9306-4D14-8AAE-C5551508F9C4}" destId="{6960529E-4DE2-40E5-8701-5976516FEE6E}" srcOrd="0" destOrd="0" presId="urn:microsoft.com/office/officeart/2009/3/layout/IncreasingArrowsProcess"/>
    <dgm:cxn modelId="{932EE40A-01AA-4010-A67D-D144024CF3CB}" type="presParOf" srcId="{65F4F786-3332-43D1-8B92-ADA6C56C31B1}" destId="{B84CC4FA-398A-4A29-8F8F-F0FB25E95B04}" srcOrd="0" destOrd="0" presId="urn:microsoft.com/office/officeart/2009/3/layout/IncreasingArrowsProcess"/>
    <dgm:cxn modelId="{8D5B645B-72C4-4279-9F44-AFE186FEBE56}" type="presParOf" srcId="{65F4F786-3332-43D1-8B92-ADA6C56C31B1}" destId="{DB8D2051-E146-4BFE-B1B5-69CFC2D87545}" srcOrd="1" destOrd="0" presId="urn:microsoft.com/office/officeart/2009/3/layout/IncreasingArrowsProcess"/>
    <dgm:cxn modelId="{8ED32542-C42D-4703-8C07-165C85F8FCAD}" type="presParOf" srcId="{65F4F786-3332-43D1-8B92-ADA6C56C31B1}" destId="{6960529E-4DE2-40E5-8701-5976516FEE6E}" srcOrd="2" destOrd="0" presId="urn:microsoft.com/office/officeart/2009/3/layout/IncreasingArrowsProcess"/>
    <dgm:cxn modelId="{C2EC9304-5FF7-454F-8392-750793323E33}" type="presParOf" srcId="{65F4F786-3332-43D1-8B92-ADA6C56C31B1}" destId="{3886BA62-0B3C-4E7D-A964-4BE8240A12DF}" srcOrd="3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1915779-0BF4-468B-9506-139209555124}">
      <dsp:nvSpPr>
        <dsp:cNvPr id="0" name=""/>
        <dsp:cNvSpPr/>
      </dsp:nvSpPr>
      <dsp:spPr>
        <a:xfrm>
          <a:off x="0" y="0"/>
          <a:ext cx="6855161" cy="110892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Examen inicial</a:t>
          </a:r>
          <a:endParaRPr lang="ca-ES" sz="2400" b="1" kern="1200" dirty="0">
            <a:latin typeface="Calibri" pitchFamily="34" charset="0"/>
            <a:cs typeface="Calibri" pitchFamily="34" charset="0"/>
          </a:endParaRPr>
        </a:p>
      </dsp:txBody>
      <dsp:txXfrm>
        <a:off x="0" y="0"/>
        <a:ext cx="5629801" cy="1108923"/>
      </dsp:txXfrm>
    </dsp:sp>
    <dsp:sp modelId="{1986B6A8-04CE-4FCD-9256-55A25E7E10CB}">
      <dsp:nvSpPr>
        <dsp:cNvPr id="0" name=""/>
        <dsp:cNvSpPr/>
      </dsp:nvSpPr>
      <dsp:spPr>
        <a:xfrm>
          <a:off x="574119" y="1310545"/>
          <a:ext cx="6855161" cy="1108923"/>
        </a:xfrm>
        <a:prstGeom prst="roundRect">
          <a:avLst>
            <a:gd name="adj" fmla="val 10000"/>
          </a:avLst>
        </a:prstGeom>
        <a:solidFill>
          <a:schemeClr val="accent4">
            <a:hueOff val="3675809"/>
            <a:satOff val="-15999"/>
            <a:lumOff val="-78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Alumnat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centres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experimentals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amb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metodologia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“ad-hoc”</a:t>
          </a:r>
          <a:endParaRPr lang="ca-ES" sz="2400" b="1" kern="1200" dirty="0">
            <a:latin typeface="Calibri" pitchFamily="34" charset="0"/>
            <a:cs typeface="Calibri" pitchFamily="34" charset="0"/>
          </a:endParaRPr>
        </a:p>
      </dsp:txBody>
      <dsp:txXfrm>
        <a:off x="574119" y="1310545"/>
        <a:ext cx="5560241" cy="1108923"/>
      </dsp:txXfrm>
    </dsp:sp>
    <dsp:sp modelId="{591C8830-C684-422A-8589-91C85463A51C}">
      <dsp:nvSpPr>
        <dsp:cNvPr id="0" name=""/>
        <dsp:cNvSpPr/>
      </dsp:nvSpPr>
      <dsp:spPr>
        <a:xfrm>
          <a:off x="1139670" y="2621091"/>
          <a:ext cx="6855161" cy="1108923"/>
        </a:xfrm>
        <a:prstGeom prst="roundRect">
          <a:avLst>
            <a:gd name="adj" fmla="val 10000"/>
          </a:avLst>
        </a:prstGeom>
        <a:solidFill>
          <a:schemeClr val="accent4">
            <a:hueOff val="7351619"/>
            <a:satOff val="-31999"/>
            <a:lumOff val="-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Alumnat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centres control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sense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emprar TIC,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però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podien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emprar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qualsevol</a:t>
          </a: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 estrategia </a:t>
          </a:r>
          <a:r>
            <a:rPr lang="es-ES" sz="2400" b="1" kern="1200" dirty="0" err="1" smtClean="0">
              <a:latin typeface="Calibri" pitchFamily="34" charset="0"/>
              <a:cs typeface="Calibri" pitchFamily="34" charset="0"/>
            </a:rPr>
            <a:t>metodològica</a:t>
          </a:r>
          <a:endParaRPr lang="ca-ES" sz="2400" b="1" kern="1200" dirty="0">
            <a:latin typeface="Calibri" pitchFamily="34" charset="0"/>
            <a:cs typeface="Calibri" pitchFamily="34" charset="0"/>
          </a:endParaRPr>
        </a:p>
      </dsp:txBody>
      <dsp:txXfrm>
        <a:off x="1139670" y="2621091"/>
        <a:ext cx="5568810" cy="1108923"/>
      </dsp:txXfrm>
    </dsp:sp>
    <dsp:sp modelId="{98DF49AF-1A93-47CA-9589-22324774F623}">
      <dsp:nvSpPr>
        <dsp:cNvPr id="0" name=""/>
        <dsp:cNvSpPr/>
      </dsp:nvSpPr>
      <dsp:spPr>
        <a:xfrm>
          <a:off x="1713790" y="3931636"/>
          <a:ext cx="6855161" cy="1108923"/>
        </a:xfrm>
        <a:prstGeom prst="roundRect">
          <a:avLst>
            <a:gd name="adj" fmla="val 10000"/>
          </a:avLst>
        </a:prstGeom>
        <a:solidFill>
          <a:schemeClr val="accent4">
            <a:hueOff val="11027428"/>
            <a:satOff val="-47998"/>
            <a:lumOff val="-23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b="1" kern="1200" dirty="0" smtClean="0">
              <a:latin typeface="Calibri" pitchFamily="34" charset="0"/>
              <a:cs typeface="Calibri" pitchFamily="34" charset="0"/>
            </a:rPr>
            <a:t>Examen final</a:t>
          </a:r>
          <a:endParaRPr lang="ca-ES" sz="2400" b="1" kern="1200" dirty="0">
            <a:latin typeface="Calibri" pitchFamily="34" charset="0"/>
            <a:cs typeface="Calibri" pitchFamily="34" charset="0"/>
          </a:endParaRPr>
        </a:p>
      </dsp:txBody>
      <dsp:txXfrm>
        <a:off x="1713790" y="3931636"/>
        <a:ext cx="5560241" cy="1108923"/>
      </dsp:txXfrm>
    </dsp:sp>
    <dsp:sp modelId="{90EE65BD-FAB5-43AE-B271-FA1EF909F2F1}">
      <dsp:nvSpPr>
        <dsp:cNvPr id="0" name=""/>
        <dsp:cNvSpPr/>
      </dsp:nvSpPr>
      <dsp:spPr>
        <a:xfrm>
          <a:off x="6134361" y="849334"/>
          <a:ext cx="720800" cy="72080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ca-ES" sz="3600" b="1" kern="1200">
            <a:latin typeface="Calibri" pitchFamily="34" charset="0"/>
            <a:cs typeface="Calibri" pitchFamily="34" charset="0"/>
          </a:endParaRPr>
        </a:p>
      </dsp:txBody>
      <dsp:txXfrm>
        <a:off x="6134361" y="849334"/>
        <a:ext cx="720800" cy="720800"/>
      </dsp:txXfrm>
    </dsp:sp>
    <dsp:sp modelId="{FD63D279-82FB-44AF-89A0-98030CD88718}">
      <dsp:nvSpPr>
        <dsp:cNvPr id="0" name=""/>
        <dsp:cNvSpPr/>
      </dsp:nvSpPr>
      <dsp:spPr>
        <a:xfrm>
          <a:off x="6708481" y="2159879"/>
          <a:ext cx="720800" cy="72080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6237002"/>
            <a:satOff val="-7607"/>
            <a:lumOff val="-936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237002"/>
              <a:satOff val="-7607"/>
              <a:lumOff val="-9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ca-ES" sz="3600" b="1" kern="1200">
            <a:latin typeface="Calibri" pitchFamily="34" charset="0"/>
            <a:cs typeface="Calibri" pitchFamily="34" charset="0"/>
          </a:endParaRPr>
        </a:p>
      </dsp:txBody>
      <dsp:txXfrm>
        <a:off x="6708481" y="2159879"/>
        <a:ext cx="720800" cy="720800"/>
      </dsp:txXfrm>
    </dsp:sp>
    <dsp:sp modelId="{333E0E16-A768-4FAE-8532-E55BE0F337E5}">
      <dsp:nvSpPr>
        <dsp:cNvPr id="0" name=""/>
        <dsp:cNvSpPr/>
      </dsp:nvSpPr>
      <dsp:spPr>
        <a:xfrm>
          <a:off x="7274032" y="3470425"/>
          <a:ext cx="720800" cy="72080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12474003"/>
            <a:satOff val="-15214"/>
            <a:lumOff val="-1872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12474003"/>
              <a:satOff val="-15214"/>
              <a:lumOff val="-18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ca-ES" sz="3600" b="1" kern="1200">
            <a:latin typeface="Calibri" pitchFamily="34" charset="0"/>
            <a:cs typeface="Calibri" pitchFamily="34" charset="0"/>
          </a:endParaRPr>
        </a:p>
      </dsp:txBody>
      <dsp:txXfrm>
        <a:off x="7274032" y="3470425"/>
        <a:ext cx="720800" cy="7208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84CC4FA-398A-4A29-8F8F-F0FB25E95B04}">
      <dsp:nvSpPr>
        <dsp:cNvPr id="0" name=""/>
        <dsp:cNvSpPr/>
      </dsp:nvSpPr>
      <dsp:spPr>
        <a:xfrm>
          <a:off x="0" y="184666"/>
          <a:ext cx="8568952" cy="1248067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198131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latin typeface="Calibri" pitchFamily="34" charset="0"/>
              <a:cs typeface="Calibri" pitchFamily="34" charset="0"/>
            </a:rPr>
            <a:t>2010-2011</a:t>
          </a:r>
          <a:endParaRPr lang="ca-ES" sz="2300" kern="1200" dirty="0">
            <a:latin typeface="Calibri" pitchFamily="34" charset="0"/>
            <a:cs typeface="Calibri" pitchFamily="34" charset="0"/>
          </a:endParaRPr>
        </a:p>
      </dsp:txBody>
      <dsp:txXfrm>
        <a:off x="0" y="184666"/>
        <a:ext cx="8568952" cy="1248067"/>
      </dsp:txXfrm>
    </dsp:sp>
    <dsp:sp modelId="{DB8D2051-E146-4BFE-B1B5-69CFC2D87545}">
      <dsp:nvSpPr>
        <dsp:cNvPr id="0" name=""/>
        <dsp:cNvSpPr/>
      </dsp:nvSpPr>
      <dsp:spPr>
        <a:xfrm>
          <a:off x="0" y="1150200"/>
          <a:ext cx="3958855" cy="2785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Ortografia</a:t>
          </a:r>
          <a:endParaRPr lang="ca-ES" sz="2300" b="1" kern="1200" dirty="0">
            <a:latin typeface="Calibri" pitchFamily="34" charset="0"/>
            <a:cs typeface="Calibri" pitchFamily="34" charset="0"/>
          </a:endParaRPr>
        </a:p>
      </dsp:txBody>
      <dsp:txXfrm>
        <a:off x="0" y="1150200"/>
        <a:ext cx="3958855" cy="2785753"/>
      </dsp:txXfrm>
    </dsp:sp>
    <dsp:sp modelId="{6960529E-4DE2-40E5-8701-5976516FEE6E}">
      <dsp:nvSpPr>
        <dsp:cNvPr id="0" name=""/>
        <dsp:cNvSpPr/>
      </dsp:nvSpPr>
      <dsp:spPr>
        <a:xfrm>
          <a:off x="3958855" y="600550"/>
          <a:ext cx="4610096" cy="1248067"/>
        </a:xfrm>
        <a:prstGeom prst="rightArrow">
          <a:avLst>
            <a:gd name="adj1" fmla="val 50000"/>
            <a:gd name="adj2" fmla="val 50000"/>
          </a:avLst>
        </a:prstGeom>
        <a:solidFill>
          <a:schemeClr val="accent5">
            <a:hueOff val="-11429256"/>
            <a:satOff val="2100"/>
            <a:lumOff val="-5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254000" bIns="198131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latin typeface="Calibri" pitchFamily="34" charset="0"/>
              <a:cs typeface="Calibri" pitchFamily="34" charset="0"/>
            </a:rPr>
            <a:t>2011-2012</a:t>
          </a:r>
          <a:endParaRPr lang="ca-ES" sz="2300" kern="1200" dirty="0">
            <a:latin typeface="Calibri" pitchFamily="34" charset="0"/>
            <a:cs typeface="Calibri" pitchFamily="34" charset="0"/>
          </a:endParaRPr>
        </a:p>
      </dsp:txBody>
      <dsp:txXfrm>
        <a:off x="3958855" y="600550"/>
        <a:ext cx="4610096" cy="1248067"/>
      </dsp:txXfrm>
    </dsp:sp>
    <dsp:sp modelId="{3886BA62-0B3C-4E7D-A964-4BE8240A12DF}">
      <dsp:nvSpPr>
        <dsp:cNvPr id="0" name=""/>
        <dsp:cNvSpPr/>
      </dsp:nvSpPr>
      <dsp:spPr>
        <a:xfrm>
          <a:off x="3958855" y="1566083"/>
          <a:ext cx="3958855" cy="278575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1429256"/>
              <a:satOff val="2100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Càlcul</a:t>
          </a:r>
          <a:r>
            <a:rPr lang="es-ES" sz="2300" b="1" kern="1200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matemàtic</a:t>
          </a:r>
          <a:endParaRPr lang="ca-ES" sz="2300" b="1" kern="1200" dirty="0">
            <a:latin typeface="Calibri" pitchFamily="34" charset="0"/>
            <a:cs typeface="Calibri" pitchFamily="34" charset="0"/>
          </a:endParaRP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Medi</a:t>
          </a:r>
          <a:r>
            <a:rPr lang="es-ES" sz="2300" b="1" kern="1200" dirty="0" smtClean="0">
              <a:latin typeface="Calibri" pitchFamily="34" charset="0"/>
              <a:cs typeface="Calibri" pitchFamily="34" charset="0"/>
            </a:rPr>
            <a:t> social</a:t>
          </a:r>
          <a:endParaRPr lang="ca-ES" sz="2300" b="1" kern="1200" dirty="0">
            <a:latin typeface="Calibri" pitchFamily="34" charset="0"/>
            <a:cs typeface="Calibri" pitchFamily="34" charset="0"/>
          </a:endParaRP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Medi</a:t>
          </a:r>
          <a:r>
            <a:rPr lang="es-ES" sz="2300" b="1" kern="1200" dirty="0" smtClean="0">
              <a:latin typeface="Calibri" pitchFamily="34" charset="0"/>
              <a:cs typeface="Calibri" pitchFamily="34" charset="0"/>
            </a:rPr>
            <a:t> natural</a:t>
          </a:r>
        </a:p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Desenvolupament</a:t>
          </a:r>
          <a:r>
            <a:rPr lang="es-ES" sz="2300" b="1" kern="1200" dirty="0" smtClean="0">
              <a:latin typeface="Calibri" pitchFamily="34" charset="0"/>
              <a:cs typeface="Calibri" pitchFamily="34" charset="0"/>
            </a:rPr>
            <a:t> de </a:t>
          </a: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diferents</a:t>
          </a:r>
          <a:r>
            <a:rPr lang="es-ES" sz="2300" b="1" kern="1200" dirty="0" smtClean="0">
              <a:latin typeface="Calibri" pitchFamily="34" charset="0"/>
              <a:cs typeface="Calibri" pitchFamily="34" charset="0"/>
            </a:rPr>
            <a:t> </a:t>
          </a:r>
          <a:r>
            <a:rPr lang="es-ES" sz="2300" b="1" kern="1200" dirty="0" err="1" smtClean="0">
              <a:latin typeface="Calibri" pitchFamily="34" charset="0"/>
              <a:cs typeface="Calibri" pitchFamily="34" charset="0"/>
            </a:rPr>
            <a:t>competències</a:t>
          </a:r>
          <a:endParaRPr lang="ca-ES" sz="2300" b="1" kern="1200" dirty="0">
            <a:latin typeface="Calibri" pitchFamily="34" charset="0"/>
            <a:cs typeface="Calibri" pitchFamily="34" charset="0"/>
          </a:endParaRPr>
        </a:p>
      </dsp:txBody>
      <dsp:txXfrm>
        <a:off x="3958855" y="1566083"/>
        <a:ext cx="3958855" cy="2785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>
            <a:lvl1pPr>
              <a:defRPr>
                <a:latin typeface="Calibri" pitchFamily="34" charset="0"/>
                <a:cs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>
                <a:latin typeface="Calibri" pitchFamily="34" charset="0"/>
                <a:cs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C33710D-BA96-4A85-BA89-8092B89F09D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36AE-B8F4-44A9-8A45-516EA846730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3717032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36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5102920"/>
            <a:ext cx="7772400" cy="1509712"/>
          </a:xfrm>
        </p:spPr>
        <p:txBody>
          <a:bodyPr anchor="t"/>
          <a:lstStyle>
            <a:lvl1pPr marL="45720" indent="0">
              <a:buNone/>
              <a:defRPr sz="18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588224" y="1196752"/>
            <a:ext cx="957264" cy="457200"/>
          </a:xfrm>
        </p:spPr>
        <p:txBody>
          <a:bodyPr/>
          <a:lstStyle>
            <a:lvl1pPr>
              <a:defRPr sz="600"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9488" y="1196752"/>
            <a:ext cx="1325880" cy="457200"/>
          </a:xfrm>
        </p:spPr>
        <p:txBody>
          <a:bodyPr/>
          <a:lstStyle>
            <a:lvl1pPr>
              <a:defRPr sz="600"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6424" y="586376"/>
            <a:ext cx="762000" cy="365760"/>
          </a:xfrm>
        </p:spPr>
        <p:txBody>
          <a:bodyPr/>
          <a:lstStyle>
            <a:lvl1pPr>
              <a:defRPr sz="1400"/>
            </a:lvl1pPr>
          </a:lstStyle>
          <a:p>
            <a:fld id="{33E066D2-E844-4E32-8D94-87A43E7BDFEE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C4F63-ED5F-46BB-A42C-6686822AB64A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AA2A997-FDDA-41C6-BF44-E4F6536619AB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6A8C2729-5FF8-43CD-9514-E1B2C977813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E5969-2ACF-45F2-A151-34E9184CACB2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69A32-A69E-4BE2-ACA0-DFFB22DF44C7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73F69-7E77-403F-BE18-940A0633552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8AB6-71C2-4CAF-A0D7-958B90AAC9F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743C-278A-42DA-9CE7-D8F132A6B49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fld id="{9231B842-961B-4A43-8C5F-04FD0AD23988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Calibri" pitchFamily="34" charset="0"/>
          <a:ea typeface="+mn-ea"/>
          <a:cs typeface="Calibri" pitchFamily="34" charset="0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Calibri" pitchFamily="34" charset="0"/>
          <a:ea typeface="+mn-ea"/>
          <a:cs typeface="Calibri" pitchFamily="34" charset="0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Calibri" pitchFamily="34" charset="0"/>
          <a:ea typeface="+mn-ea"/>
          <a:cs typeface="Calibri" pitchFamily="34" charset="0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Calibri" pitchFamily="34" charset="0"/>
          <a:ea typeface="+mn-ea"/>
          <a:cs typeface="Calibri" pitchFamily="34" charset="0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03848" y="685800"/>
            <a:ext cx="5938565" cy="2743200"/>
          </a:xfrm>
        </p:spPr>
        <p:txBody>
          <a:bodyPr>
            <a:normAutofit/>
          </a:bodyPr>
          <a:lstStyle/>
          <a:p>
            <a:pPr algn="r"/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48264" y="5766593"/>
            <a:ext cx="1956249" cy="944562"/>
          </a:xfrm>
          <a:prstGeom prst="rect">
            <a:avLst/>
          </a:prstGeom>
        </p:spPr>
      </p:pic>
      <p:pic>
        <p:nvPicPr>
          <p:cNvPr id="7" name="Picture 2" descr="I:\HDD\MAGATZEM ARXIUS BLINK\Imatges Blanquerna\FPCEEFonsTranspare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75" y="5733256"/>
            <a:ext cx="200025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72000" y="4365104"/>
            <a:ext cx="4572000" cy="1224136"/>
          </a:xfrm>
        </p:spPr>
        <p:txBody>
          <a:bodyPr/>
          <a:lstStyle/>
          <a:p>
            <a:pPr algn="r"/>
            <a:r>
              <a:rPr lang="es-ES" b="1" dirty="0" smtClean="0"/>
              <a:t>Dr. Pere </a:t>
            </a:r>
            <a:r>
              <a:rPr lang="es-ES" b="1" dirty="0" err="1" smtClean="0"/>
              <a:t>Marquès</a:t>
            </a:r>
            <a:r>
              <a:rPr lang="es-ES" b="1" dirty="0" smtClean="0"/>
              <a:t> </a:t>
            </a:r>
            <a:r>
              <a:rPr lang="es-ES" b="1" dirty="0"/>
              <a:t>–</a:t>
            </a:r>
            <a:r>
              <a:rPr lang="es-ES" b="1" dirty="0" smtClean="0"/>
              <a:t> UAB</a:t>
            </a:r>
          </a:p>
          <a:p>
            <a:pPr algn="r"/>
            <a:r>
              <a:rPr lang="es-ES" b="1" dirty="0" smtClean="0"/>
              <a:t>Dr. Miquel Àngel Prats – URL</a:t>
            </a:r>
            <a:endParaRPr lang="ca-ES" b="1" dirty="0"/>
          </a:p>
        </p:txBody>
      </p:sp>
      <p:pic>
        <p:nvPicPr>
          <p:cNvPr id="1026" name="Picture 2" descr="dim6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5893787"/>
            <a:ext cx="1244848" cy="78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3730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71600" y="764704"/>
            <a:ext cx="7772400" cy="1143000"/>
          </a:xfrm>
        </p:spPr>
        <p:txBody>
          <a:bodyPr/>
          <a:lstStyle/>
          <a:p>
            <a:pPr algn="r"/>
            <a:r>
              <a:rPr lang="es-E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ÍNDEX</a:t>
            </a:r>
            <a:endParaRPr lang="ca-E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258341" y="2204864"/>
            <a:ext cx="8892480" cy="425117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200" b="1" dirty="0" err="1" smtClean="0"/>
              <a:t>Objectiu</a:t>
            </a:r>
            <a:r>
              <a:rPr lang="es-ES" sz="3200" b="1" dirty="0" smtClean="0"/>
              <a:t> i </a:t>
            </a:r>
            <a:r>
              <a:rPr lang="es-ES" sz="3200" b="1" dirty="0" err="1" smtClean="0"/>
              <a:t>hipòtesi</a:t>
            </a:r>
            <a:r>
              <a:rPr lang="es-ES" sz="3200" b="1" dirty="0" smtClean="0"/>
              <a:t> inicial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 err="1" smtClean="0"/>
              <a:t>Aprenentatges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objecte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d’estudi</a:t>
            </a:r>
            <a:endParaRPr lang="es-ES" sz="3200" b="1" dirty="0" smtClean="0"/>
          </a:p>
          <a:p>
            <a:pPr marL="514350" indent="-514350">
              <a:buFont typeface="+mj-lt"/>
              <a:buAutoNum type="arabicPeriod"/>
            </a:pPr>
            <a:r>
              <a:rPr lang="es-ES" sz="3200" b="1" dirty="0" err="1" smtClean="0"/>
              <a:t>Disseny</a:t>
            </a:r>
            <a:r>
              <a:rPr lang="es-ES" sz="3200" b="1" dirty="0" smtClean="0"/>
              <a:t> de la recerca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b="1" dirty="0" err="1" smtClean="0"/>
              <a:t>Resultats</a:t>
            </a:r>
            <a:r>
              <a:rPr lang="es-ES" sz="3200" b="1" dirty="0" smtClean="0"/>
              <a:t> </a:t>
            </a:r>
            <a:r>
              <a:rPr lang="es-ES" sz="3200" b="1" dirty="0" err="1" smtClean="0"/>
              <a:t>obtinguts</a:t>
            </a:r>
            <a:endParaRPr lang="es-ES" sz="3200" b="1" dirty="0" smtClean="0"/>
          </a:p>
          <a:p>
            <a:pPr marL="514350" indent="-514350">
              <a:buFont typeface="+mj-lt"/>
              <a:buAutoNum type="arabicPeriod"/>
            </a:pPr>
            <a:r>
              <a:rPr lang="es-ES" sz="3200" b="1" dirty="0" err="1" smtClean="0"/>
              <a:t>Conclusions</a:t>
            </a:r>
            <a:endParaRPr lang="es-ES" sz="3200" b="1" dirty="0" smtClean="0"/>
          </a:p>
          <a:p>
            <a:pPr marL="514350" indent="-514350">
              <a:buFont typeface="+mj-lt"/>
              <a:buAutoNum type="arabicPeriod"/>
            </a:pPr>
            <a:r>
              <a:rPr lang="es-ES" sz="3200" b="1" dirty="0" smtClean="0"/>
              <a:t>Prospectiva</a:t>
            </a:r>
            <a:endParaRPr lang="ca-ES" sz="3200" b="1" dirty="0"/>
          </a:p>
        </p:txBody>
      </p:sp>
    </p:spTree>
    <p:extLst>
      <p:ext uri="{BB962C8B-B14F-4D97-AF65-F5344CB8AC3E}">
        <p14:creationId xmlns:p14="http://schemas.microsoft.com/office/powerpoint/2010/main" xmlns="" val="365215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OBJECTIU I HIPÒTESI INICIAL</a:t>
            </a:r>
            <a:b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575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Objectiu</a:t>
            </a:r>
            <a:r>
              <a:rPr lang="es-ES" b="1" dirty="0" smtClean="0"/>
              <a:t> i </a:t>
            </a:r>
            <a:r>
              <a:rPr lang="es-ES" b="1" dirty="0" err="1" smtClean="0"/>
              <a:t>hipòtesi</a:t>
            </a:r>
            <a:r>
              <a:rPr lang="es-ES" b="1" dirty="0" smtClean="0"/>
              <a:t> inicial</a:t>
            </a:r>
            <a:endParaRPr lang="ca-ES" b="1" dirty="0"/>
          </a:p>
        </p:txBody>
      </p:sp>
      <p:sp>
        <p:nvSpPr>
          <p:cNvPr id="3" name="2 Rectángulo"/>
          <p:cNvSpPr/>
          <p:nvPr/>
        </p:nvSpPr>
        <p:spPr>
          <a:xfrm>
            <a:off x="251520" y="1683907"/>
            <a:ext cx="8629178" cy="430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sz="3400" b="1" dirty="0" smtClean="0">
                <a:latin typeface="Calibri"/>
                <a:ea typeface="Times New Roman"/>
                <a:cs typeface="Times New Roman"/>
              </a:rPr>
              <a:t>Verificar </a:t>
            </a:r>
            <a:r>
              <a:rPr lang="ca-ES" sz="3400" b="1" dirty="0">
                <a:latin typeface="Calibri"/>
                <a:ea typeface="Times New Roman"/>
                <a:cs typeface="Times New Roman"/>
              </a:rPr>
              <a:t>si l’aplicació sistemàtica de determinades metodologies didàctiques </a:t>
            </a:r>
            <a:r>
              <a:rPr lang="ca-ES" sz="3400" b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amb el suport dels llibres de text digitals i una formació adequada al professorat </a:t>
            </a:r>
            <a:r>
              <a:rPr lang="ca-ES" sz="3400" b="1" dirty="0">
                <a:solidFill>
                  <a:srgbClr val="0070C0"/>
                </a:solidFill>
                <a:latin typeface="Calibri"/>
                <a:ea typeface="Times New Roman"/>
                <a:cs typeface="Times New Roman"/>
              </a:rPr>
              <a:t>pot comportar millores significatives en els aprenentatges dels estudiants i en el seu rendiment acadèmic.</a:t>
            </a:r>
            <a:endParaRPr lang="ca-ES" sz="3400" b="1" dirty="0">
              <a:solidFill>
                <a:srgbClr val="0070C0"/>
              </a:solidFill>
              <a:effectLst/>
              <a:latin typeface="Calibri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703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APRENENTATGES OBJECTES D’ESTUDI</a:t>
            </a: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742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251520" y="571499"/>
            <a:ext cx="889248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Aprenentatges</a:t>
            </a:r>
            <a:r>
              <a:rPr lang="es-ES" b="1" dirty="0" smtClean="0"/>
              <a:t> </a:t>
            </a:r>
            <a:r>
              <a:rPr lang="es-ES" b="1" dirty="0" err="1" smtClean="0"/>
              <a:t>objecte</a:t>
            </a:r>
            <a:r>
              <a:rPr lang="es-ES" b="1" dirty="0" smtClean="0"/>
              <a:t> </a:t>
            </a:r>
            <a:r>
              <a:rPr lang="es-ES" b="1" dirty="0" err="1" smtClean="0"/>
              <a:t>d’estudi</a:t>
            </a:r>
            <a:endParaRPr lang="ca-ES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249363"/>
            <a:ext cx="3366074" cy="558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9783"/>
          <a:stretch/>
        </p:blipFill>
        <p:spPr bwMode="auto">
          <a:xfrm>
            <a:off x="148868" y="1268760"/>
            <a:ext cx="2109347" cy="268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9783"/>
          <a:stretch/>
        </p:blipFill>
        <p:spPr bwMode="auto">
          <a:xfrm>
            <a:off x="2462213" y="1268760"/>
            <a:ext cx="2105461" cy="2686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396" y="3880098"/>
            <a:ext cx="2113819" cy="297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62213" y="3880098"/>
            <a:ext cx="2113776" cy="2977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83246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DISSENY DE LA RECERCA</a:t>
            </a:r>
            <a:b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727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Disseny</a:t>
            </a:r>
            <a:r>
              <a:rPr lang="es-ES" b="1" dirty="0" smtClean="0"/>
              <a:t> de la recerca</a:t>
            </a:r>
            <a:endParaRPr lang="ca-ES" b="1" dirty="0"/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xmlns="" val="2481500306"/>
              </p:ext>
            </p:extLst>
          </p:nvPr>
        </p:nvGraphicFramePr>
        <p:xfrm>
          <a:off x="251520" y="1268760"/>
          <a:ext cx="8568952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50725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Disseny</a:t>
            </a:r>
            <a:r>
              <a:rPr lang="es-ES" b="1" dirty="0" smtClean="0"/>
              <a:t> de la recerca</a:t>
            </a:r>
            <a:endParaRPr lang="ca-E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9027" y="1313194"/>
            <a:ext cx="7245945" cy="532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2056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 OBTINGUTS</a:t>
            </a:r>
            <a:b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083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Resultats</a:t>
            </a:r>
            <a:r>
              <a:rPr lang="es-ES" b="1" dirty="0" smtClean="0"/>
              <a:t> </a:t>
            </a:r>
            <a:r>
              <a:rPr lang="es-ES" b="1" dirty="0" err="1" smtClean="0"/>
              <a:t>obtinguts</a:t>
            </a:r>
            <a:endParaRPr lang="ca-ES" b="1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33439428"/>
              </p:ext>
            </p:extLst>
          </p:nvPr>
        </p:nvGraphicFramePr>
        <p:xfrm>
          <a:off x="1331640" y="4437112"/>
          <a:ext cx="6696745" cy="2160240"/>
        </p:xfrm>
        <a:graphic>
          <a:graphicData uri="http://schemas.openxmlformats.org/drawingml/2006/table">
            <a:tbl>
              <a:tblPr/>
              <a:tblGrid>
                <a:gridCol w="802006"/>
                <a:gridCol w="220552"/>
                <a:gridCol w="962406"/>
                <a:gridCol w="942355"/>
                <a:gridCol w="1363407"/>
                <a:gridCol w="461153"/>
                <a:gridCol w="721806"/>
                <a:gridCol w="220552"/>
                <a:gridCol w="501254"/>
                <a:gridCol w="501254"/>
              </a:tblGrid>
              <a:tr h="3187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 dirty="0" err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Promig</a:t>
                      </a:r>
                      <a:endParaRPr lang="ca-ES" sz="2400" b="1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Inici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Final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%menys d'errors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Desvest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Inici</a:t>
                      </a:r>
                      <a:endParaRPr lang="ca-ES" sz="2400" b="1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b="1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Final</a:t>
                      </a:r>
                      <a:endParaRPr lang="ca-ES" sz="2400" b="1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0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Dict c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10,5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10,1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3,7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Control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3,1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3,4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0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Dict e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9,5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7,8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17,1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Exp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3,2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2,6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7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Test c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32,0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30,7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4,2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Control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9,3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11,1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72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Test e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33,4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26,2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21,5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Exp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8,2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8,3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0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Total c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42,4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40,8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3,9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Control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11,8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14,3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0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Total e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42,9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34,1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20,5</a:t>
                      </a:r>
                      <a:endParaRPr lang="ca-ES" sz="2400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Exp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 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11,0</a:t>
                      </a:r>
                      <a:endParaRPr lang="ca-ES" sz="240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ca-ES" sz="1400" dirty="0">
                          <a:effectLst/>
                          <a:latin typeface="Calibri" pitchFamily="34" charset="0"/>
                          <a:ea typeface="Times New Roman"/>
                          <a:cs typeface="Calibri" pitchFamily="34" charset="0"/>
                        </a:rPr>
                        <a:t>10,6</a:t>
                      </a:r>
                      <a:endParaRPr lang="ca-ES" sz="2400" dirty="0">
                        <a:effectLst/>
                        <a:latin typeface="Calibri" pitchFamily="34" charset="0"/>
                        <a:ea typeface="Times New Roman"/>
                        <a:cs typeface="Calibri" pitchFamily="34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1522" y="1151246"/>
            <a:ext cx="888095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ca-E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Prova inicial. </a:t>
            </a:r>
            <a:r>
              <a:rPr kumimoji="0" lang="ca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La  mitjana d’errors dels grups experimental i control van ser pràcticament iguals (42,9 el grup experimental i 42,4 el grup control), de manera que podem considerar els grups força similars.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ca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marL="285750" indent="-285750" algn="just" eaLnBrk="1" hangingPunct="1">
              <a:buFontTx/>
              <a:buChar char="-"/>
            </a:pPr>
            <a:r>
              <a:rPr kumimoji="0" lang="ca-E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Prova final.</a:t>
            </a:r>
            <a:r>
              <a:rPr kumimoji="0" lang="ca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 </a:t>
            </a:r>
            <a:r>
              <a:rPr lang="ca-ES" dirty="0">
                <a:latin typeface="Calibri" pitchFamily="34" charset="0"/>
                <a:ea typeface="Times New Roman" pitchFamily="18" charset="0"/>
                <a:cs typeface="Calibri" pitchFamily="34" charset="0"/>
              </a:rPr>
              <a:t>En els centres experimentals, la mitjana d’errors ha baixat a 34,1, en tant que els centres control segueixen amb una mitjana de 40,8</a:t>
            </a:r>
            <a:r>
              <a:rPr lang="ca-ES" dirty="0" smtClean="0">
                <a:latin typeface="Calibri" pitchFamily="34" charset="0"/>
                <a:ea typeface="Times New Roman" pitchFamily="18" charset="0"/>
                <a:cs typeface="Calibri" pitchFamily="34" charset="0"/>
              </a:rPr>
              <a:t>. </a:t>
            </a:r>
            <a:r>
              <a:rPr kumimoji="0" lang="ca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És a dir, </a:t>
            </a:r>
            <a:r>
              <a:rPr kumimoji="0" lang="ca-E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en el centres experimentals hem tingut una reducció dels errors del 20,5%</a:t>
            </a:r>
            <a:r>
              <a:rPr kumimoji="0" lang="ca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en tant que en els centres control la millora ha estat només del 3,9%.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a-E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En el següent quadre es poden veure totes les dades i comprovar les millores dels dos grups a la prova de dictat i a la prova test:</a:t>
            </a:r>
            <a:endParaRPr kumimoji="0" lang="ca-E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a-E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 </a:t>
            </a:r>
            <a:r>
              <a:rPr kumimoji="0" lang="ca-ES" sz="1200" b="1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Dict</a:t>
            </a:r>
            <a:r>
              <a:rPr kumimoji="0" lang="ca-E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 </a:t>
            </a:r>
            <a:r>
              <a:rPr kumimoji="0" lang="ca-ES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= errors a la prova de dictat. </a:t>
            </a:r>
            <a:r>
              <a:rPr kumimoji="0" lang="ca-E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Test </a:t>
            </a:r>
            <a:r>
              <a:rPr kumimoji="0" lang="ca-ES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= errors a la prova de test. </a:t>
            </a:r>
            <a:r>
              <a:rPr kumimoji="0" lang="ca-E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Total</a:t>
            </a:r>
            <a:r>
              <a:rPr kumimoji="0" lang="ca-ES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 = errors sumats de les dues proves. </a:t>
            </a:r>
            <a:r>
              <a:rPr kumimoji="0" lang="ca-E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c </a:t>
            </a:r>
            <a:r>
              <a:rPr kumimoji="0" lang="ca-ES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= grups control. </a:t>
            </a:r>
            <a:r>
              <a:rPr kumimoji="0" lang="ca-ES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e</a:t>
            </a:r>
            <a:r>
              <a:rPr kumimoji="0" lang="ca-ES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Adobe Fangsong Std R" charset="-128"/>
                <a:cs typeface="Calibri" pitchFamily="34" charset="0"/>
              </a:rPr>
              <a:t> = grups experimentals</a:t>
            </a:r>
            <a:endParaRPr kumimoji="0" lang="ca-E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2870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Resultats</a:t>
            </a:r>
            <a:r>
              <a:rPr lang="es-ES" b="1" dirty="0" smtClean="0"/>
              <a:t> </a:t>
            </a:r>
            <a:r>
              <a:rPr lang="es-ES" b="1" dirty="0" err="1" smtClean="0"/>
              <a:t>obtinguts</a:t>
            </a:r>
            <a:endParaRPr lang="ca-ES" b="1" dirty="0"/>
          </a:p>
        </p:txBody>
      </p:sp>
      <p:pic>
        <p:nvPicPr>
          <p:cNvPr id="4099" name="Gráfico 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23"/>
          <a:stretch>
            <a:fillRect/>
          </a:stretch>
        </p:blipFill>
        <p:spPr bwMode="auto">
          <a:xfrm>
            <a:off x="107504" y="1268760"/>
            <a:ext cx="496855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120580" y="1271836"/>
            <a:ext cx="3861023" cy="232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b="1" i="1" dirty="0">
                <a:latin typeface="Calibri"/>
                <a:ea typeface="Times New Roman"/>
                <a:cs typeface="Times New Roman"/>
              </a:rPr>
              <a:t>Els professors dels grups experimental també han necessitat molt menys temps per a preparar activitats i corregir</a:t>
            </a:r>
            <a:r>
              <a:rPr lang="ca-ES" dirty="0">
                <a:latin typeface="Calibri"/>
                <a:ea typeface="Times New Roman"/>
                <a:cs typeface="Times New Roman"/>
              </a:rPr>
              <a:t> fora de l’aula (ja que han utilitzat els exercicis autocorrectius de Digital-Text). El següent quadre explicita les diferències.</a:t>
            </a:r>
            <a:endParaRPr lang="ca-ES" dirty="0">
              <a:effectLst/>
              <a:latin typeface="Calibri"/>
              <a:ea typeface="Times New Roman"/>
              <a:cs typeface="Times New Roman"/>
            </a:endParaRPr>
          </a:p>
        </p:txBody>
      </p:sp>
      <p:pic>
        <p:nvPicPr>
          <p:cNvPr id="4100" name="Gráfico 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124"/>
          <a:stretch>
            <a:fillRect/>
          </a:stretch>
        </p:blipFill>
        <p:spPr bwMode="auto">
          <a:xfrm>
            <a:off x="3348609" y="3933056"/>
            <a:ext cx="558881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28464" y="3933056"/>
            <a:ext cx="3076128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dirty="0" smtClean="0">
                <a:latin typeface="Calibri"/>
                <a:ea typeface="Times New Roman"/>
                <a:cs typeface="Times New Roman"/>
              </a:rPr>
              <a:t>El quadre següent ens </a:t>
            </a:r>
            <a:r>
              <a:rPr lang="ca-ES" dirty="0">
                <a:latin typeface="Calibri"/>
                <a:ea typeface="Times New Roman"/>
                <a:cs typeface="Times New Roman"/>
              </a:rPr>
              <a:t>mostra que, segons estimacions del professorat, </a:t>
            </a:r>
            <a:r>
              <a:rPr lang="ca-ES" b="1" i="1" dirty="0">
                <a:latin typeface="Calibri"/>
                <a:ea typeface="Times New Roman"/>
                <a:cs typeface="Times New Roman"/>
              </a:rPr>
              <a:t>el volum d’exercicis realitzats pels alumnes experimentals ha estat molt més elevat</a:t>
            </a:r>
            <a:r>
              <a:rPr lang="ca-ES" dirty="0">
                <a:latin typeface="Calibri"/>
                <a:ea typeface="Times New Roman"/>
                <a:cs typeface="Times New Roman"/>
              </a:rPr>
              <a:t> que els exercicis realitzats pels alumnes del grup de control. </a:t>
            </a:r>
            <a:endParaRPr lang="ca-ES" dirty="0">
              <a:effectLst/>
              <a:latin typeface="Calibri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416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CONCLUSIONS</a:t>
            </a:r>
            <a:b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298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err="1" smtClean="0"/>
              <a:t>Conclusions</a:t>
            </a:r>
            <a:endParaRPr lang="ca-ES" b="1" dirty="0"/>
          </a:p>
        </p:txBody>
      </p:sp>
      <p:sp>
        <p:nvSpPr>
          <p:cNvPr id="3" name="2 Rectángulo"/>
          <p:cNvSpPr/>
          <p:nvPr/>
        </p:nvSpPr>
        <p:spPr>
          <a:xfrm>
            <a:off x="107504" y="1268760"/>
            <a:ext cx="8928992" cy="5657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sz="2000" b="1" i="1" dirty="0">
                <a:latin typeface="Calibri"/>
                <a:ea typeface="Times New Roman"/>
                <a:cs typeface="Times New Roman"/>
              </a:rPr>
              <a:t>E</a:t>
            </a:r>
            <a:r>
              <a:rPr lang="ca-ES" sz="2000" b="1" i="1" dirty="0" smtClean="0">
                <a:latin typeface="Calibri"/>
                <a:ea typeface="Times New Roman"/>
                <a:cs typeface="Times New Roman"/>
              </a:rPr>
              <a:t>ls </a:t>
            </a:r>
            <a:r>
              <a:rPr lang="ca-ES" sz="2000" b="1" i="1" dirty="0">
                <a:latin typeface="Calibri"/>
                <a:ea typeface="Times New Roman"/>
                <a:cs typeface="Times New Roman"/>
              </a:rPr>
              <a:t>alumnes que han utilitzat de manera sistemàtica</a:t>
            </a:r>
            <a:r>
              <a:rPr lang="ca-ES" sz="2000" dirty="0">
                <a:latin typeface="Calibri"/>
                <a:ea typeface="Times New Roman"/>
                <a:cs typeface="Times New Roman"/>
              </a:rPr>
              <a:t> (segons la metodologia i planificació prèviament establerta amb l’adequada formació del professorat) </a:t>
            </a:r>
            <a:r>
              <a:rPr lang="ca-ES" sz="2000" b="1" i="1" dirty="0">
                <a:latin typeface="Calibri"/>
                <a:ea typeface="Times New Roman"/>
                <a:cs typeface="Times New Roman"/>
              </a:rPr>
              <a:t>els continguts didàctics digitals </a:t>
            </a:r>
            <a:r>
              <a:rPr lang="ca-ES" sz="2000" dirty="0">
                <a:latin typeface="Calibri"/>
                <a:ea typeface="Times New Roman"/>
                <a:cs typeface="Times New Roman"/>
              </a:rPr>
              <a:t>(en aquest cas els exercicis d’ortografia de Digital-Text)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han obtingut una millora significativa dels seus aprenentatges i rendiment acadèmic, amb una mitjana del 20,5%.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Els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grups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control han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obtingut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només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una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petita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millora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(3,9%),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malgrat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que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sense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es-ES" sz="2000" b="1" i="1" dirty="0" err="1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significació</a:t>
            </a:r>
            <a:r>
              <a:rPr lang="es-ES" sz="2000" b="1" i="1" dirty="0" smtClean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estadística.</a:t>
            </a:r>
            <a:r>
              <a:rPr lang="ca-ES" sz="2000" b="1" i="1" dirty="0" smtClean="0">
                <a:latin typeface="Calibri"/>
                <a:ea typeface="Times New Roman"/>
                <a:cs typeface="Times New Roman"/>
              </a:rPr>
              <a:t>.</a:t>
            </a:r>
            <a:endParaRPr lang="ca-ES" sz="2000" dirty="0">
              <a:latin typeface="Calibri"/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sz="2000" dirty="0">
                <a:latin typeface="Calibri"/>
                <a:ea typeface="Times New Roman"/>
                <a:cs typeface="Times New Roman"/>
              </a:rPr>
              <a:t>I això ha estat així, perquè els alumnes dels grups experimentals han treballat més, és a dir,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han realitzat molts més exercicis</a:t>
            </a:r>
            <a:r>
              <a:rPr lang="ca-ES" sz="2000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ca-ES" sz="2000" dirty="0">
                <a:latin typeface="Calibri"/>
                <a:ea typeface="Times New Roman"/>
                <a:cs typeface="Times New Roman"/>
              </a:rPr>
              <a:t>(de reforç, de repàs) dels que habitualment fan els alumnes quan s’utilitzen les metodologies tradicionals (sense TIC)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per la seva demostrada motivació davant la naturalesa interactiva de les eines TIC</a:t>
            </a:r>
            <a:r>
              <a:rPr lang="ca-ES" sz="2000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.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ca-ES" sz="2000" dirty="0">
                <a:latin typeface="Calibri"/>
                <a:ea typeface="Times New Roman"/>
                <a:cs typeface="Times New Roman"/>
              </a:rPr>
              <a:t>Per altra banda, destaquem que amb el suport de l’ordinador i els exercicis autocorrectius,</a:t>
            </a:r>
            <a:r>
              <a:rPr lang="ca-ES" sz="2000" b="1" i="1" dirty="0">
                <a:latin typeface="Calibri"/>
                <a:ea typeface="Times New Roman"/>
                <a:cs typeface="Times New Roman"/>
              </a:rPr>
              <a:t>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tot això no ha suposat un treball extra significatiu per al professorat</a:t>
            </a:r>
            <a:r>
              <a:rPr lang="ca-ES" sz="2000" dirty="0">
                <a:latin typeface="Calibri"/>
                <a:ea typeface="Times New Roman"/>
                <a:cs typeface="Times New Roman"/>
              </a:rPr>
              <a:t>, sinó tot el contrari. A més,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les TIC han</a:t>
            </a:r>
            <a:r>
              <a:rPr lang="ca-ES" sz="2000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 </a:t>
            </a:r>
            <a:r>
              <a:rPr lang="ca-ES" sz="2000" b="1" i="1" dirty="0">
                <a:solidFill>
                  <a:srgbClr val="C00000"/>
                </a:solidFill>
                <a:latin typeface="Calibri"/>
                <a:ea typeface="Times New Roman"/>
                <a:cs typeface="Times New Roman"/>
              </a:rPr>
              <a:t>pogut aportar la informació del progrés (traçabilitat) de l’aprenentatge de cada alumne de forma personalitzada</a:t>
            </a:r>
            <a:r>
              <a:rPr lang="ca-ES" sz="2000" dirty="0">
                <a:latin typeface="Calibri"/>
                <a:ea typeface="Times New Roman"/>
                <a:cs typeface="Times New Roman"/>
              </a:rPr>
              <a:t>.</a:t>
            </a:r>
            <a:endParaRPr lang="ca-ES" sz="2000" dirty="0">
              <a:effectLst/>
              <a:latin typeface="Calibri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005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331640" y="4406900"/>
            <a:ext cx="7812360" cy="1542380"/>
          </a:xfrm>
        </p:spPr>
        <p:txBody>
          <a:bodyPr>
            <a:normAutofit/>
          </a:bodyPr>
          <a:lstStyle/>
          <a:p>
            <a: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PROSPECTIVA</a:t>
            </a:r>
            <a:br>
              <a:rPr lang="es-E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ca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295636" y="4149080"/>
            <a:ext cx="6552728" cy="422523"/>
          </a:xfrm>
        </p:spPr>
        <p:txBody>
          <a:bodyPr>
            <a:normAutofit/>
          </a:bodyPr>
          <a:lstStyle/>
          <a:p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860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3 Título"/>
          <p:cNvSpPr>
            <a:spLocks noGrp="1"/>
          </p:cNvSpPr>
          <p:nvPr>
            <p:ph type="title"/>
          </p:nvPr>
        </p:nvSpPr>
        <p:spPr>
          <a:xfrm>
            <a:off x="1371600" y="571499"/>
            <a:ext cx="7772400" cy="625253"/>
          </a:xfrm>
        </p:spPr>
        <p:txBody>
          <a:bodyPr>
            <a:noAutofit/>
          </a:bodyPr>
          <a:lstStyle/>
          <a:p>
            <a:pPr algn="r"/>
            <a:r>
              <a:rPr lang="es-ES" b="1" dirty="0" smtClean="0"/>
              <a:t>Prospectiva</a:t>
            </a:r>
            <a:endParaRPr lang="ca-ES" b="1" dirty="0"/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xmlns="" val="605553320"/>
              </p:ext>
            </p:extLst>
          </p:nvPr>
        </p:nvGraphicFramePr>
        <p:xfrm>
          <a:off x="323528" y="1268760"/>
          <a:ext cx="8568952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27665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203848" y="685800"/>
            <a:ext cx="5938565" cy="2743200"/>
          </a:xfrm>
        </p:spPr>
        <p:txBody>
          <a:bodyPr>
            <a:normAutofit/>
          </a:bodyPr>
          <a:lstStyle/>
          <a:p>
            <a:pPr algn="r"/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Podem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millorar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les TIC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resultats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acadèmics</a:t>
            </a:r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ca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48264" y="5766593"/>
            <a:ext cx="1956249" cy="944562"/>
          </a:xfrm>
          <a:prstGeom prst="rect">
            <a:avLst/>
          </a:prstGeom>
        </p:spPr>
      </p:pic>
      <p:pic>
        <p:nvPicPr>
          <p:cNvPr id="7" name="Picture 2" descr="I:\HDD\MAGATZEM ARXIUS BLINK\Imatges Blanquerna\FPCEEFonsTransparent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75" y="5733256"/>
            <a:ext cx="200025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72000" y="4365104"/>
            <a:ext cx="4572000" cy="1224136"/>
          </a:xfrm>
        </p:spPr>
        <p:txBody>
          <a:bodyPr/>
          <a:lstStyle/>
          <a:p>
            <a:pPr algn="r"/>
            <a:r>
              <a:rPr lang="es-ES" b="1" dirty="0" smtClean="0"/>
              <a:t>Dr. Pere </a:t>
            </a:r>
            <a:r>
              <a:rPr lang="es-ES" b="1" dirty="0" err="1" smtClean="0"/>
              <a:t>Marquès</a:t>
            </a:r>
            <a:r>
              <a:rPr lang="es-ES" b="1" dirty="0" smtClean="0"/>
              <a:t> </a:t>
            </a:r>
            <a:r>
              <a:rPr lang="es-ES" b="1" dirty="0"/>
              <a:t>–</a:t>
            </a:r>
            <a:r>
              <a:rPr lang="es-ES" b="1" dirty="0" smtClean="0"/>
              <a:t> UAB</a:t>
            </a:r>
          </a:p>
          <a:p>
            <a:pPr algn="r"/>
            <a:r>
              <a:rPr lang="es-ES" b="1" dirty="0" smtClean="0"/>
              <a:t>Dr. Miquel Àngel Prats – URL</a:t>
            </a:r>
            <a:endParaRPr lang="ca-ES" b="1" dirty="0"/>
          </a:p>
        </p:txBody>
      </p:sp>
      <p:pic>
        <p:nvPicPr>
          <p:cNvPr id="1026" name="Picture 2" descr="dim6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5893787"/>
            <a:ext cx="1244848" cy="78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8066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Firelight">
      <a:dk1>
        <a:sysClr val="windowText" lastClr="000000"/>
      </a:dk1>
      <a:lt1>
        <a:sysClr val="window" lastClr="FFFFFF"/>
      </a:lt1>
      <a:dk2>
        <a:srgbClr val="9F1C00"/>
      </a:dk2>
      <a:lt2>
        <a:srgbClr val="EEECE1"/>
      </a:lt2>
      <a:accent1>
        <a:srgbClr val="FF881F"/>
      </a:accent1>
      <a:accent2>
        <a:srgbClr val="771C00"/>
      </a:accent2>
      <a:accent3>
        <a:srgbClr val="576A2C"/>
      </a:accent3>
      <a:accent4>
        <a:srgbClr val="A24D00"/>
      </a:accent4>
      <a:accent5>
        <a:srgbClr val="244872"/>
      </a:accent5>
      <a:accent6>
        <a:srgbClr val="5E341C"/>
      </a:accent6>
      <a:hlink>
        <a:srgbClr val="FF912E"/>
      </a:hlink>
      <a:folHlink>
        <a:srgbClr val="B5CB83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633</TotalTime>
  <Words>710</Words>
  <Application>Microsoft Office PowerPoint</Application>
  <PresentationFormat>Presentación en pantalla (4:3)</PresentationFormat>
  <Paragraphs>126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Urbano</vt:lpstr>
      <vt:lpstr>Podem millorar amb les TIC els resultats acadèmics?</vt:lpstr>
      <vt:lpstr>ÍNDEX</vt:lpstr>
      <vt:lpstr>OBJECTIU I HIPÒTESI INICIAL </vt:lpstr>
      <vt:lpstr>Objectiu i hipòtesi inicial</vt:lpstr>
      <vt:lpstr>APRENENTATGES OBJECTES D’ESTUDI</vt:lpstr>
      <vt:lpstr>Aprenentatges objecte d’estudi</vt:lpstr>
      <vt:lpstr>DISSENY DE LA RECERCA </vt:lpstr>
      <vt:lpstr>Disseny de la recerca</vt:lpstr>
      <vt:lpstr>Disseny de la recerca</vt:lpstr>
      <vt:lpstr>RESULTATS OBTINGUTS </vt:lpstr>
      <vt:lpstr>Resultats obtinguts</vt:lpstr>
      <vt:lpstr>Resultats obtinguts</vt:lpstr>
      <vt:lpstr>CONCLUSIONS </vt:lpstr>
      <vt:lpstr>Conclusions</vt:lpstr>
      <vt:lpstr>PROSPECTIVA </vt:lpstr>
      <vt:lpstr>Prospectiva</vt:lpstr>
      <vt:lpstr>Podem millorar amb les TIC els resultats acadèmics?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maprats</dc:creator>
  <cp:lastModifiedBy>pmarques</cp:lastModifiedBy>
  <cp:revision>109</cp:revision>
  <dcterms:created xsi:type="dcterms:W3CDTF">2011-06-16T16:47:37Z</dcterms:created>
  <dcterms:modified xsi:type="dcterms:W3CDTF">2011-07-11T12:59:48Z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TC010690773082</vt:lpwstr>
  </property>
</Properties>
</file>