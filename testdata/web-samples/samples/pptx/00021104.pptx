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DF328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45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2AC4F-C8B8-4A1C-90E7-87803ACF6DB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71475-9C2D-4BEA-880C-DA35328B11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71475-9C2D-4BEA-880C-DA35328B117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71475-9C2D-4BEA-880C-DA35328B1179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71475-9C2D-4BEA-880C-DA35328B1179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71475-9C2D-4BEA-880C-DA35328B1179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71475-9C2D-4BEA-880C-DA35328B1179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F6152-E3E8-44AD-A2F2-07F7C583DAA8}" type="datetimeFigureOut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48717-833F-4DDC-8301-EE6B96E7001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06575"/>
            <a:ext cx="7772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Auschwitz-Birkenau Uprising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752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By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Ari Bard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50838"/>
            <a:ext cx="8229600" cy="141763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Background of Auschwitz-Birkenau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Auschwitz-Birkenau was considered the most notorious death camp in the Third Reich.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Auschwitz-Birkenau was established on May 26, 1940.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Auschwitz-Birkenau was liberated on January 27, 1945 by the Soviets.</a:t>
            </a:r>
          </a:p>
          <a:p>
            <a:r>
              <a:rPr lang="en-US" b="1" u="sng" dirty="0" smtClean="0">
                <a:solidFill>
                  <a:srgbClr val="FF0000"/>
                </a:solidFill>
              </a:rPr>
              <a:t>Auschwitz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Concentration Camp.</a:t>
            </a:r>
          </a:p>
          <a:p>
            <a:r>
              <a:rPr lang="en-US" b="1" u="sng" dirty="0" smtClean="0">
                <a:solidFill>
                  <a:srgbClr val="FF0000"/>
                </a:solidFill>
              </a:rPr>
              <a:t>Birkenau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Death Camp.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Approximately 2.1 to 2.5 million people were killed in gas chambers.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About 2 million of them were: Jews, Poles, Gypsies, and Soviet POWs.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The </a:t>
            </a:r>
            <a:r>
              <a:rPr lang="en-US" b="1" i="1" dirty="0" smtClean="0">
                <a:solidFill>
                  <a:srgbClr val="FF0000"/>
                </a:solidFill>
              </a:rPr>
              <a:t>Sonderkommando</a:t>
            </a:r>
            <a:r>
              <a:rPr lang="en-US" b="1" dirty="0" smtClean="0">
                <a:solidFill>
                  <a:srgbClr val="FF0000"/>
                </a:solidFill>
              </a:rPr>
              <a:t> Jews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1"/>
            <a:ext cx="8229600" cy="6019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</a:t>
            </a:r>
            <a:r>
              <a:rPr lang="en-US" b="1" i="1" dirty="0" smtClean="0">
                <a:solidFill>
                  <a:srgbClr val="C00000"/>
                </a:solidFill>
              </a:rPr>
              <a:t>Sonderkommando</a:t>
            </a:r>
            <a:r>
              <a:rPr lang="en-US" b="1" dirty="0" smtClean="0">
                <a:solidFill>
                  <a:srgbClr val="C00000"/>
                </a:solidFill>
              </a:rPr>
              <a:t> were groups of young male prisoners picked by the Nazis who had relatively good health whose job it was to dispose of corpses from the gas chambers and/or crematoria.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There were other groups of </a:t>
            </a:r>
            <a:r>
              <a:rPr lang="en-US" b="1" i="1" dirty="0" smtClean="0">
                <a:solidFill>
                  <a:srgbClr val="C00000"/>
                </a:solidFill>
              </a:rPr>
              <a:t>Sonderkommando </a:t>
            </a:r>
            <a:r>
              <a:rPr lang="en-US" b="1" dirty="0" smtClean="0">
                <a:solidFill>
                  <a:srgbClr val="C00000"/>
                </a:solidFill>
              </a:rPr>
              <a:t>Jews in these other camps: Treblinka, Belzec, Chelmno, and Sobibor.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The </a:t>
            </a:r>
            <a:r>
              <a:rPr lang="en-US" b="1" i="1" dirty="0" smtClean="0">
                <a:solidFill>
                  <a:srgbClr val="C00000"/>
                </a:solidFill>
              </a:rPr>
              <a:t>Sonderkommandos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lived under better conditions; they received better/more food and water, and were given more comfortable sleeping conditions.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About 400 </a:t>
            </a:r>
            <a:r>
              <a:rPr lang="en-US" b="1" i="1" dirty="0" smtClean="0">
                <a:solidFill>
                  <a:srgbClr val="C00000"/>
                </a:solidFill>
              </a:rPr>
              <a:t>Sonderkommandos </a:t>
            </a:r>
            <a:r>
              <a:rPr lang="en-US" b="1" dirty="0" smtClean="0">
                <a:solidFill>
                  <a:srgbClr val="C00000"/>
                </a:solidFill>
              </a:rPr>
              <a:t>were</a:t>
            </a:r>
            <a:r>
              <a:rPr lang="en-US" b="1" i="1" dirty="0" smtClean="0">
                <a:solidFill>
                  <a:srgbClr val="C00000"/>
                </a:solidFill>
              </a:rPr>
              <a:t> a</a:t>
            </a:r>
            <a:r>
              <a:rPr lang="en-US" b="1" dirty="0" smtClean="0">
                <a:solidFill>
                  <a:srgbClr val="C00000"/>
                </a:solidFill>
              </a:rPr>
              <a:t>t Auschwitz-Birkenau</a:t>
            </a:r>
            <a:r>
              <a:rPr lang="en-US" b="1" i="1" dirty="0" smtClean="0">
                <a:solidFill>
                  <a:srgbClr val="C00000"/>
                </a:solidFill>
              </a:rPr>
              <a:t>.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809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Suppliers of the Gunpowder for the Revolt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6172200"/>
          </a:xfrm>
        </p:spPr>
        <p:txBody>
          <a:bodyPr>
            <a:normAutofit fontScale="92500"/>
          </a:bodyPr>
          <a:lstStyle/>
          <a:p>
            <a:r>
              <a:rPr lang="en-US" b="1" dirty="0" smtClean="0">
                <a:solidFill>
                  <a:srgbClr val="CC0000"/>
                </a:solidFill>
              </a:rPr>
              <a:t>Four women (Roza Robota, Ella Gartner, Esther Wajcblum, and Regina Safirsztain), working on a forced labor assignment at a nearby munitions factory, risked their lives, and the lives of others, to smuggle parts and gunpowder to the </a:t>
            </a:r>
            <a:r>
              <a:rPr lang="en-US" b="1" i="1" dirty="0" smtClean="0">
                <a:solidFill>
                  <a:srgbClr val="CC0000"/>
                </a:solidFill>
              </a:rPr>
              <a:t>Sonderkommandos </a:t>
            </a:r>
            <a:r>
              <a:rPr lang="en-US" b="1" dirty="0" smtClean="0">
                <a:solidFill>
                  <a:srgbClr val="CC0000"/>
                </a:solidFill>
              </a:rPr>
              <a:t>in Birkenau for the revolt.</a:t>
            </a:r>
          </a:p>
          <a:p>
            <a:r>
              <a:rPr lang="en-US" b="1" dirty="0" smtClean="0">
                <a:solidFill>
                  <a:srgbClr val="CC0000"/>
                </a:solidFill>
              </a:rPr>
              <a:t>Roza Robota passed the parts to Asir-Godel Zilber, who passed them on to </a:t>
            </a:r>
            <a:r>
              <a:rPr lang="en-US" b="1" dirty="0">
                <a:solidFill>
                  <a:srgbClr val="CC0000"/>
                </a:solidFill>
              </a:rPr>
              <a:t>Wróbel </a:t>
            </a:r>
            <a:r>
              <a:rPr lang="en-US" b="1" dirty="0" smtClean="0">
                <a:solidFill>
                  <a:srgbClr val="CC0000"/>
                </a:solidFill>
              </a:rPr>
              <a:t>(a </a:t>
            </a:r>
            <a:r>
              <a:rPr lang="en-US" b="1" i="1" dirty="0" smtClean="0">
                <a:solidFill>
                  <a:srgbClr val="CC0000"/>
                </a:solidFill>
              </a:rPr>
              <a:t>Sonderkommando</a:t>
            </a:r>
            <a:r>
              <a:rPr lang="en-US" b="1" dirty="0" smtClean="0">
                <a:solidFill>
                  <a:srgbClr val="CC0000"/>
                </a:solidFill>
              </a:rPr>
              <a:t>), who passed them on to Filatov, and other experts (in making weapons) among the Russians, who turned the parts into bombs, dynamite, and grenades.</a:t>
            </a:r>
          </a:p>
          <a:p>
            <a:pPr lvl="1"/>
            <a:r>
              <a:rPr lang="en-US" b="1" dirty="0" smtClean="0">
                <a:solidFill>
                  <a:srgbClr val="CC0000"/>
                </a:solidFill>
              </a:rPr>
              <a:t>This process was long and dangerous.</a:t>
            </a:r>
            <a:endParaRPr lang="en-US" b="1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22098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Pictures of Two of the Four Brave Women who Risked their Lives to Help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b="1" dirty="0" smtClean="0">
                <a:solidFill>
                  <a:srgbClr val="FF0000"/>
                </a:solidFill>
              </a:rPr>
              <a:t>tart a Revolt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2438400"/>
            <a:ext cx="1955673" cy="2848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4550" y="2392577"/>
            <a:ext cx="2000250" cy="286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09600" y="5257800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Ella Gartner</a:t>
            </a:r>
            <a:endParaRPr lang="en-US" sz="2800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5943600" y="52578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Roza Robota</a:t>
            </a:r>
            <a:endParaRPr lang="en-US" sz="2800" u="sng" dirty="0"/>
          </a:p>
        </p:txBody>
      </p:sp>
      <p:pic>
        <p:nvPicPr>
          <p:cNvPr id="6151" name="Picture 7" descr="C:\Documents and Settings\Ariel  Bard\My Documents\My Pictures\Microsoft Clip Organizer\j0336510.gif"/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0" y="2990849"/>
            <a:ext cx="1066800" cy="210729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The Revolt At Auschwitz-Birkenau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revolt was planned  by four Polish Jews: Jankiel Handelsman, Josef Deresiński, </a:t>
            </a:r>
            <a:r>
              <a:rPr lang="en-US" b="1" dirty="0">
                <a:solidFill>
                  <a:srgbClr val="C00000"/>
                </a:solidFill>
              </a:rPr>
              <a:t>Załmen </a:t>
            </a:r>
            <a:r>
              <a:rPr lang="en-US" b="1" dirty="0" smtClean="0">
                <a:solidFill>
                  <a:srgbClr val="C00000"/>
                </a:solidFill>
              </a:rPr>
              <a:t>Gradowski, and Josef Dorębus.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All of the planners died during the revolt, except for Jankiel Handelsman, who survived but was imprisoned in Block 11 at Auschwitz. He died there after having been tortured.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The Revolt at Auschwitz-Birkenau occurred on October 7, 1944.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The </a:t>
            </a:r>
            <a:r>
              <a:rPr lang="en-US" b="1" i="1" dirty="0" smtClean="0">
                <a:solidFill>
                  <a:srgbClr val="C00000"/>
                </a:solidFill>
              </a:rPr>
              <a:t>Sonderkommandos</a:t>
            </a:r>
            <a:r>
              <a:rPr lang="en-US" b="1" dirty="0" smtClean="0">
                <a:solidFill>
                  <a:srgbClr val="C00000"/>
                </a:solidFill>
              </a:rPr>
              <a:t> of crematorium IV found out that they were going to be killed soon (</a:t>
            </a:r>
            <a:r>
              <a:rPr lang="en-US" b="1" i="1" dirty="0" smtClean="0">
                <a:solidFill>
                  <a:srgbClr val="C00000"/>
                </a:solidFill>
              </a:rPr>
              <a:t>Sonderkommandos</a:t>
            </a:r>
            <a:r>
              <a:rPr lang="en-US" b="1" dirty="0" smtClean="0">
                <a:solidFill>
                  <a:srgbClr val="C00000"/>
                </a:solidFill>
              </a:rPr>
              <a:t> were usually killed within 5-6 months so there would be no witnesses to the Nazis’ crimes), so they planned a revolt.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Revolt At Auschwitz-Birkenau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</a:t>
            </a:r>
            <a:r>
              <a:rPr lang="en-US" b="1" i="1" dirty="0" smtClean="0">
                <a:solidFill>
                  <a:srgbClr val="C00000"/>
                </a:solidFill>
              </a:rPr>
              <a:t>Sonderkommandos</a:t>
            </a:r>
            <a:r>
              <a:rPr lang="en-US" b="1" dirty="0" smtClean="0">
                <a:solidFill>
                  <a:srgbClr val="C00000"/>
                </a:solidFill>
              </a:rPr>
              <a:t> of crematorium IV started the revolt.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They killed three SS guards at the crematorium, which started the revolt.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Later, the </a:t>
            </a:r>
            <a:r>
              <a:rPr lang="en-US" b="1" i="1" dirty="0" smtClean="0">
                <a:solidFill>
                  <a:srgbClr val="C00000"/>
                </a:solidFill>
              </a:rPr>
              <a:t>Sonderkommandos </a:t>
            </a:r>
            <a:r>
              <a:rPr lang="en-US" b="1" dirty="0" smtClean="0">
                <a:solidFill>
                  <a:srgbClr val="C00000"/>
                </a:solidFill>
              </a:rPr>
              <a:t>from crematorium II revolted.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They killed two SS guards at the crematorium.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Then they cut the wires surrounding the crematorium, and </a:t>
            </a:r>
            <a:r>
              <a:rPr lang="en-US" b="1" smtClean="0">
                <a:solidFill>
                  <a:srgbClr val="C00000"/>
                </a:solidFill>
              </a:rPr>
              <a:t>fled toward </a:t>
            </a:r>
            <a:r>
              <a:rPr lang="en-US" b="1" dirty="0" smtClean="0">
                <a:solidFill>
                  <a:srgbClr val="C00000"/>
                </a:solidFill>
              </a:rPr>
              <a:t>Rajsk, but were caught </a:t>
            </a:r>
            <a:r>
              <a:rPr lang="en-US" b="1" smtClean="0">
                <a:solidFill>
                  <a:srgbClr val="C00000"/>
                </a:solidFill>
              </a:rPr>
              <a:t>and killed.</a:t>
            </a:r>
            <a:r>
              <a:rPr lang="en-US" smtClean="0">
                <a:solidFill>
                  <a:srgbClr val="FFFF00"/>
                </a:solidFill>
              </a:rPr>
              <a:t>.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Revolt At Auschwitz-Birkenau Cont.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While some of the </a:t>
            </a:r>
            <a:r>
              <a:rPr lang="en-US" i="1" dirty="0" smtClean="0">
                <a:solidFill>
                  <a:srgbClr val="FFFF00"/>
                </a:solidFill>
              </a:rPr>
              <a:t>Sonderkommandos </a:t>
            </a:r>
            <a:r>
              <a:rPr lang="en-US" dirty="0" smtClean="0">
                <a:solidFill>
                  <a:srgbClr val="FFFF00"/>
                </a:solidFill>
              </a:rPr>
              <a:t>from crematorium IV set up the explosives near the ovens, the others repelled the SS soldiers attacks.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The </a:t>
            </a:r>
            <a:r>
              <a:rPr lang="en-US" i="1" dirty="0" smtClean="0">
                <a:solidFill>
                  <a:srgbClr val="FFFF00"/>
                </a:solidFill>
              </a:rPr>
              <a:t>Sonderkommandos</a:t>
            </a:r>
            <a:r>
              <a:rPr lang="en-US" dirty="0" smtClean="0">
                <a:solidFill>
                  <a:srgbClr val="FFFF00"/>
                </a:solidFill>
              </a:rPr>
              <a:t> from crematorium IV, were able to kill about 25 SS soldiers in the entire revolt.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The </a:t>
            </a:r>
            <a:r>
              <a:rPr lang="en-US" i="1" dirty="0" smtClean="0">
                <a:solidFill>
                  <a:srgbClr val="FFFF00"/>
                </a:solidFill>
              </a:rPr>
              <a:t>Sonderkommandos </a:t>
            </a:r>
            <a:r>
              <a:rPr lang="en-US" dirty="0" smtClean="0">
                <a:solidFill>
                  <a:srgbClr val="FFFF00"/>
                </a:solidFill>
              </a:rPr>
              <a:t>then blew up crematorium IV with their hand-made explosives.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Result of the Revolt At Auschwitz-Birkenau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The entire plan of the revolt was to blow up all of the crematoria, but that did not work.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The </a:t>
            </a:r>
            <a:r>
              <a:rPr lang="en-US" i="1" dirty="0" smtClean="0">
                <a:solidFill>
                  <a:srgbClr val="FFFF00"/>
                </a:solidFill>
              </a:rPr>
              <a:t>Sonderkommandos</a:t>
            </a:r>
            <a:r>
              <a:rPr lang="en-US" dirty="0" smtClean="0">
                <a:solidFill>
                  <a:srgbClr val="FFFF00"/>
                </a:solidFill>
              </a:rPr>
              <a:t> from crematoria III, and V were not able to join the revolt soon enough before more SS reinforcements arrived.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The revolt ended up failing, and out of the 663 </a:t>
            </a:r>
            <a:r>
              <a:rPr lang="en-US" i="1" dirty="0" smtClean="0">
                <a:solidFill>
                  <a:srgbClr val="FFFF00"/>
                </a:solidFill>
              </a:rPr>
              <a:t>Sonderkommandos </a:t>
            </a:r>
            <a:r>
              <a:rPr lang="en-US" dirty="0" smtClean="0">
                <a:solidFill>
                  <a:srgbClr val="FFFF00"/>
                </a:solidFill>
              </a:rPr>
              <a:t>who revolted 451 of them lost their lives. The rest had been killed later by the Nazis.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Result of the Revolt At Auschwitz-Birkenau Cont.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The Nazis found out about the four women who had smuggled in the gunpowder, and parts for the weapons that the </a:t>
            </a:r>
            <a:r>
              <a:rPr lang="en-US" i="1" dirty="0" smtClean="0">
                <a:solidFill>
                  <a:srgbClr val="FFFF00"/>
                </a:solidFill>
              </a:rPr>
              <a:t>Sonderkommandos </a:t>
            </a:r>
            <a:r>
              <a:rPr lang="en-US" dirty="0" smtClean="0">
                <a:solidFill>
                  <a:srgbClr val="FFFF00"/>
                </a:solidFill>
              </a:rPr>
              <a:t>used.</a:t>
            </a:r>
          </a:p>
          <a:p>
            <a:pPr lvl="1"/>
            <a:r>
              <a:rPr lang="en-US" dirty="0" smtClean="0">
                <a:solidFill>
                  <a:srgbClr val="FFFF00"/>
                </a:solidFill>
              </a:rPr>
              <a:t>These four women were brutally tortured by the SS, but refused to give up the names of their co-conspirators.</a:t>
            </a:r>
          </a:p>
          <a:p>
            <a:pPr lvl="1"/>
            <a:r>
              <a:rPr lang="en-US" dirty="0" smtClean="0">
                <a:solidFill>
                  <a:srgbClr val="FFFF00"/>
                </a:solidFill>
              </a:rPr>
              <a:t>On January 6, 1945, the Nazis publically hanged the four women.</a:t>
            </a:r>
          </a:p>
          <a:p>
            <a:pPr lvl="1"/>
            <a:r>
              <a:rPr lang="en-US" dirty="0" smtClean="0">
                <a:solidFill>
                  <a:srgbClr val="FFFF00"/>
                </a:solidFill>
              </a:rPr>
              <a:t>Right when the trap door opened, Roza Robota shouted the famous line: “Be strong; have courage!”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Bibliography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3600" dirty="0"/>
              <a:t>Ainsztein, Reuben. </a:t>
            </a:r>
            <a:r>
              <a:rPr lang="en-US" sz="3600" i="1" dirty="0"/>
              <a:t>Jewish Resistance In Nazi-Occupied Eastern Europe</a:t>
            </a:r>
            <a:r>
              <a:rPr lang="en-US" sz="3600" dirty="0"/>
              <a:t>.</a:t>
            </a:r>
            <a:r>
              <a:rPr lang="en-US" sz="3600" i="1" dirty="0"/>
              <a:t> </a:t>
            </a:r>
            <a:r>
              <a:rPr lang="en-US" sz="3600" dirty="0"/>
              <a:t>London: Elek, 1974.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sz="3600" i="1" dirty="0"/>
              <a:t>CBC Digital Archives</a:t>
            </a:r>
            <a:r>
              <a:rPr lang="en-US" sz="3600" dirty="0"/>
              <a:t>. 3 April 2008. </a:t>
            </a:r>
          </a:p>
          <a:p>
            <a:pPr>
              <a:buNone/>
            </a:pPr>
            <a:r>
              <a:rPr lang="en-US" sz="3600" dirty="0" smtClean="0"/>
              <a:t>	&lt;</a:t>
            </a:r>
            <a:r>
              <a:rPr lang="en-US" sz="3600" dirty="0"/>
              <a:t>http://archives.cbc.ca/war_conflict/second_world_war/clips/1579-10643/&gt; (30 May 2008).</a:t>
            </a:r>
          </a:p>
          <a:p>
            <a:pPr>
              <a:buNone/>
            </a:pPr>
            <a:r>
              <a:rPr lang="en-US" sz="3600" dirty="0"/>
              <a:t> </a:t>
            </a:r>
            <a:endParaRPr lang="en-US" sz="3600" dirty="0" smtClean="0"/>
          </a:p>
          <a:p>
            <a:pPr>
              <a:buNone/>
            </a:pPr>
            <a:r>
              <a:rPr lang="en-US" sz="3600" i="1" dirty="0" smtClean="0"/>
              <a:t>Dkimages</a:t>
            </a:r>
            <a:r>
              <a:rPr lang="en-US" sz="3600" dirty="0" smtClean="0"/>
              <a:t>. &lt; http://www.dkimages.com/discover/Home/Technology/Military-Technology/Weapons/Unassigned/General-06.html&gt; (1 June 2008).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sz="3600" i="1" dirty="0"/>
              <a:t>Encyclopedia of the Holocaust</a:t>
            </a:r>
            <a:r>
              <a:rPr lang="en-US" sz="3600" dirty="0"/>
              <a:t>, “Auschwitz.”</a:t>
            </a:r>
          </a:p>
          <a:p>
            <a:pPr>
              <a:buNone/>
            </a:pPr>
            <a:endParaRPr lang="en-US" sz="3600" dirty="0" smtClean="0"/>
          </a:p>
          <a:p>
            <a:pPr>
              <a:buNone/>
            </a:pPr>
            <a:r>
              <a:rPr lang="en-US" sz="3600" dirty="0"/>
              <a:t> </a:t>
            </a:r>
            <a:r>
              <a:rPr lang="en-US" sz="3600" i="1" dirty="0" smtClean="0"/>
              <a:t>Jewish Virtual Library</a:t>
            </a:r>
            <a:r>
              <a:rPr lang="en-US" sz="3600" dirty="0" smtClean="0"/>
              <a:t>. 2008.  &lt;http://www.jewishvirtuallibrary.org/images/Belzec3.jpg&gt; (1 June 2008).</a:t>
            </a:r>
          </a:p>
          <a:p>
            <a:pPr>
              <a:buNone/>
            </a:pPr>
            <a:endParaRPr lang="en-US" sz="3600" dirty="0" smtClean="0"/>
          </a:p>
          <a:p>
            <a:pPr>
              <a:buNone/>
            </a:pPr>
            <a:r>
              <a:rPr lang="en-US" sz="3600" i="1" dirty="0" smtClean="0"/>
              <a:t>Jewish Virtual Library</a:t>
            </a:r>
            <a:r>
              <a:rPr lang="en-US" sz="3600" dirty="0" smtClean="0"/>
              <a:t>. 2008. &lt;http://www.jewishvirtuallibrary.org/jsource/Holocaust/aurevolt.html</a:t>
            </a:r>
            <a:r>
              <a:rPr lang="en-US" sz="3600" i="1" dirty="0" smtClean="0"/>
              <a:t>&gt; </a:t>
            </a:r>
            <a:r>
              <a:rPr lang="en-US" sz="3600" dirty="0" smtClean="0"/>
              <a:t>(1 June 2008).</a:t>
            </a:r>
          </a:p>
          <a:p>
            <a:pPr>
              <a:buNone/>
            </a:pPr>
            <a:endParaRPr lang="en-US" sz="3600" dirty="0" smtClean="0"/>
          </a:p>
          <a:p>
            <a:pPr>
              <a:buNone/>
            </a:pPr>
            <a:r>
              <a:rPr lang="en-US" sz="3600" dirty="0" smtClean="0"/>
              <a:t>“Krema IV and Krema V.” January 21, 2008. &lt;http://www.scrapbookpages.com/Poland/Birkenau/Birkenau03B.html&gt; (1 June 2008).</a:t>
            </a:r>
          </a:p>
          <a:p>
            <a:pPr>
              <a:buNone/>
            </a:pPr>
            <a:endParaRPr lang="en-US" sz="3600" dirty="0" smtClean="0"/>
          </a:p>
          <a:p>
            <a:pPr>
              <a:buNone/>
            </a:pPr>
            <a:r>
              <a:rPr lang="en-US" sz="3600" dirty="0"/>
              <a:t> </a:t>
            </a:r>
          </a:p>
          <a:p>
            <a:pPr>
              <a:buNone/>
            </a:pPr>
            <a:r>
              <a:rPr lang="en-US" sz="3600" dirty="0"/>
              <a:t>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Bibliography Cont.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 smtClean="0"/>
              <a:t>“Mizen: Digital Academy,” in </a:t>
            </a:r>
            <a:r>
              <a:rPr lang="en-US" sz="1800" i="1" dirty="0" smtClean="0"/>
              <a:t>Apple Learning Exchange</a:t>
            </a:r>
            <a:r>
              <a:rPr lang="en-US" sz="1800" dirty="0" smtClean="0"/>
              <a:t>. 2007. &lt;http://edcommunity.apple.com/ali/story.php?itemID=13755&amp;version=3571&amp;pageID=8847&gt; (1 June 2008).</a:t>
            </a:r>
          </a:p>
          <a:p>
            <a:pPr>
              <a:buNone/>
            </a:pPr>
            <a:endParaRPr lang="en-US" sz="1700" i="1" dirty="0" smtClean="0"/>
          </a:p>
          <a:p>
            <a:pPr>
              <a:buNone/>
            </a:pPr>
            <a:r>
              <a:rPr lang="en-US" sz="1700" i="1" dirty="0" smtClean="0"/>
              <a:t>Poland</a:t>
            </a:r>
            <a:r>
              <a:rPr lang="en-US" sz="1700" dirty="0" smtClean="0"/>
              <a:t>.  &lt;</a:t>
            </a:r>
            <a:r>
              <a:rPr lang="en-US" sz="1800" dirty="0" smtClean="0"/>
              <a:t> http://www.sn14.co.uk/Polland/picn0139_Auschwitz_ElectricFence.jpg</a:t>
            </a:r>
            <a:r>
              <a:rPr lang="en-US" sz="1700" i="1" dirty="0" smtClean="0"/>
              <a:t>&gt; </a:t>
            </a:r>
            <a:r>
              <a:rPr lang="en-US" sz="1700" dirty="0" smtClean="0"/>
              <a:t>(1 June 2008).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“Resistance During The Holocaust,” in </a:t>
            </a:r>
            <a:r>
              <a:rPr lang="en-US" sz="1800" i="1" dirty="0" smtClean="0"/>
              <a:t>An End to Intolerance</a:t>
            </a:r>
            <a:r>
              <a:rPr lang="en-US" sz="1800" dirty="0" smtClean="0"/>
              <a:t>. 2005. </a:t>
            </a:r>
          </a:p>
          <a:p>
            <a:pPr>
              <a:buNone/>
            </a:pPr>
            <a:r>
              <a:rPr lang="en-US" sz="1800" dirty="0" smtClean="0"/>
              <a:t>	&lt;http://www.iearn.org/hgp/aeti/aeti-1998-no-frames/resistance.htm&gt; (23 May 2008).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“Resistance Movement At KL Auschwitz-Birkenau,” in </a:t>
            </a:r>
            <a:r>
              <a:rPr lang="en-US" sz="1800" i="1" dirty="0" smtClean="0"/>
              <a:t>The International Forum In </a:t>
            </a:r>
            <a:endParaRPr lang="en-US" sz="1800" dirty="0" smtClean="0"/>
          </a:p>
          <a:p>
            <a:pPr>
              <a:buNone/>
            </a:pPr>
            <a:r>
              <a:rPr lang="en-US" sz="1800" i="1" dirty="0" smtClean="0"/>
              <a:t>	Commemoration of the 60</a:t>
            </a:r>
            <a:r>
              <a:rPr lang="en-US" sz="1800" i="1" baseline="30000" dirty="0" smtClean="0"/>
              <a:t>th</a:t>
            </a:r>
            <a:r>
              <a:rPr lang="en-US" sz="1800" i="1" dirty="0" smtClean="0"/>
              <a:t> Anniversary of Auschwitz-Birkenau Liberation. </a:t>
            </a:r>
            <a:r>
              <a:rPr lang="en-US" sz="1800" dirty="0" smtClean="0"/>
              <a:t>2005. &lt;http://www.auschwitz.org.pl/new/let_my_people_live/forum/www.auschwitzanniversary2005.pl/index-eng47eb.html?s2=articles&amp;s3=ruch_oporu&gt; (20 May 2008).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 smtClean="0"/>
              <a:t>Shields, Jacqueline</a:t>
            </a:r>
            <a:r>
              <a:rPr lang="en-US" sz="1800" b="1" dirty="0" smtClean="0"/>
              <a:t>. “</a:t>
            </a:r>
            <a:r>
              <a:rPr lang="en-US" sz="1800" dirty="0" smtClean="0"/>
              <a:t>Sonderkommando,” in </a:t>
            </a:r>
            <a:r>
              <a:rPr lang="en-US" sz="1800" i="1" dirty="0" smtClean="0"/>
              <a:t>Jewish Virtual Library</a:t>
            </a:r>
            <a:r>
              <a:rPr lang="en-US" sz="1800" dirty="0" smtClean="0"/>
              <a:t>. 2008. </a:t>
            </a:r>
          </a:p>
          <a:p>
            <a:pPr>
              <a:buNone/>
            </a:pPr>
            <a:r>
              <a:rPr lang="en-US" sz="1800" dirty="0" smtClean="0"/>
              <a:t>	&lt;http://www.jewishvirtuallibrary.org/jsource/Holocaust/Sonderkommando.html&gt; (28 May 2008).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796</Words>
  <Application>Microsoft Office PowerPoint</Application>
  <PresentationFormat>On-screen Show (4:3)</PresentationFormat>
  <Paragraphs>85</Paragraphs>
  <Slides>12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Auschwitz-Birkenau Uprising</vt:lpstr>
      <vt:lpstr>Background of Auschwitz-Birkenau</vt:lpstr>
      <vt:lpstr>The Sonderkommando Jews</vt:lpstr>
      <vt:lpstr>The Suppliers of the Gunpowder for the Revolt</vt:lpstr>
      <vt:lpstr>Pictures of Two of the Four Brave Women who Risked their Lives to Help Start a Revolt</vt:lpstr>
      <vt:lpstr>The Revolt At Auschwitz-Birkenau</vt:lpstr>
      <vt:lpstr>The Revolt At Auschwitz-Birkenau</vt:lpstr>
      <vt:lpstr>The Revolt At Auschwitz-Birkenau Cont.</vt:lpstr>
      <vt:lpstr>The Result of the Revolt At Auschwitz-Birkenau</vt:lpstr>
      <vt:lpstr>The Result of the Revolt At Auschwitz-Birkenau Cont.</vt:lpstr>
      <vt:lpstr>Bibliography</vt:lpstr>
      <vt:lpstr>Bibliography Cont.</vt:lpstr>
    </vt:vector>
  </TitlesOfParts>
  <Company>Student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Auschwitz-Birkenau Uprising</dc:title>
  <dc:creator> Ari Bard</dc:creator>
  <cp:lastModifiedBy>Mitchell Bard</cp:lastModifiedBy>
  <cp:revision>64</cp:revision>
  <dcterms:created xsi:type="dcterms:W3CDTF">2008-06-01T15:23:00Z</dcterms:created>
  <dcterms:modified xsi:type="dcterms:W3CDTF">2008-07-31T16:54:43Z</dcterms:modified>
</cp:coreProperties>
</file>