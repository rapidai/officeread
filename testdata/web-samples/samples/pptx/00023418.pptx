
<file path=[Content_Types].xml><?xml version="1.0" encoding="utf-8"?>
<Types xmlns="http://schemas.openxmlformats.org/package/2006/content-types">
  <Override PartName="/customXml/itemProps3.xml" ContentType="application/vnd.openxmlformats-officedocument.customXmlProperties+xml"/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notesSlides/notesSlide2.xml" ContentType="application/vnd.openxmlformats-officedocument.presentationml.notesSlide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8.xml" ContentType="application/vnd.openxmlformats-officedocument.presentationml.notesSlide+xml"/>
  <Default Extension="gif" ContentType="image/gif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53" r:id="rId4"/>
  </p:sldMasterIdLst>
  <p:notesMasterIdLst>
    <p:notesMasterId r:id="rId39"/>
  </p:notesMasterIdLst>
  <p:handoutMasterIdLst>
    <p:handoutMasterId r:id="rId40"/>
  </p:handoutMasterIdLst>
  <p:sldIdLst>
    <p:sldId id="256" r:id="rId5"/>
    <p:sldId id="296" r:id="rId6"/>
    <p:sldId id="294" r:id="rId7"/>
    <p:sldId id="267" r:id="rId8"/>
    <p:sldId id="285" r:id="rId9"/>
    <p:sldId id="268" r:id="rId10"/>
    <p:sldId id="278" r:id="rId11"/>
    <p:sldId id="269" r:id="rId12"/>
    <p:sldId id="286" r:id="rId13"/>
    <p:sldId id="279" r:id="rId14"/>
    <p:sldId id="295" r:id="rId15"/>
    <p:sldId id="270" r:id="rId16"/>
    <p:sldId id="280" r:id="rId17"/>
    <p:sldId id="282" r:id="rId18"/>
    <p:sldId id="281" r:id="rId19"/>
    <p:sldId id="283" r:id="rId20"/>
    <p:sldId id="284" r:id="rId21"/>
    <p:sldId id="274" r:id="rId22"/>
    <p:sldId id="293" r:id="rId23"/>
    <p:sldId id="272" r:id="rId24"/>
    <p:sldId id="275" r:id="rId25"/>
    <p:sldId id="276" r:id="rId26"/>
    <p:sldId id="287" r:id="rId27"/>
    <p:sldId id="291" r:id="rId28"/>
    <p:sldId id="288" r:id="rId29"/>
    <p:sldId id="289" r:id="rId30"/>
    <p:sldId id="290" r:id="rId31"/>
    <p:sldId id="297" r:id="rId32"/>
    <p:sldId id="298" r:id="rId33"/>
    <p:sldId id="299" r:id="rId34"/>
    <p:sldId id="300" r:id="rId35"/>
    <p:sldId id="301" r:id="rId36"/>
    <p:sldId id="302" r:id="rId37"/>
    <p:sldId id="277" r:id="rId38"/>
  </p:sldIdLst>
  <p:sldSz cx="9144000" cy="6858000" type="screen4x3"/>
  <p:notesSz cx="68580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7E7E7"/>
    <a:srgbClr val="FFFFFF"/>
    <a:srgbClr val="1939A7"/>
    <a:srgbClr val="000000"/>
    <a:srgbClr val="404040"/>
    <a:srgbClr val="336699"/>
    <a:srgbClr val="FFCC00"/>
    <a:srgbClr val="FF000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6503" autoAdjust="0"/>
    <p:restoredTop sz="98397" autoAdjust="0"/>
  </p:normalViewPr>
  <p:slideViewPr>
    <p:cSldViewPr snapToGrid="0">
      <p:cViewPr>
        <p:scale>
          <a:sx n="75" d="100"/>
          <a:sy n="75" d="100"/>
        </p:scale>
        <p:origin x="-2484" y="-930"/>
      </p:cViewPr>
      <p:guideLst>
        <p:guide orient="horz" pos="2434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80" d="100"/>
          <a:sy n="80" d="100"/>
        </p:scale>
        <p:origin x="-2022" y="-96"/>
      </p:cViewPr>
      <p:guideLst>
        <p:guide orient="horz" pos="2928"/>
        <p:guide pos="2160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jwoytek\Desktop\sewp%20sales2.xls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chart>
    <c:title>
      <c:tx>
        <c:rich>
          <a:bodyPr/>
          <a:lstStyle/>
          <a:p>
            <a:pPr>
              <a:defRPr sz="1175" b="1" i="0" u="none" strike="noStrike" baseline="0">
                <a:solidFill>
                  <a:srgbClr val="000000"/>
                </a:solidFill>
                <a:latin typeface="Geneva"/>
                <a:ea typeface="Geneva"/>
                <a:cs typeface="Geneva"/>
              </a:defRPr>
            </a:pPr>
            <a:r>
              <a:rPr lang="en-US"/>
              <a:t>Yearly Comparison-Overall sales
($Million)</a:t>
            </a:r>
          </a:p>
        </c:rich>
      </c:tx>
      <c:layout>
        <c:manualLayout>
          <c:xMode val="edge"/>
          <c:yMode val="edge"/>
          <c:x val="0.29857874443219035"/>
          <c:y val="4.3289943187481306E-2"/>
        </c:manualLayout>
      </c:layout>
      <c:spPr>
        <a:noFill/>
        <a:ln w="25400">
          <a:noFill/>
        </a:ln>
      </c:spPr>
    </c:title>
    <c:plotArea>
      <c:layout>
        <c:manualLayout>
          <c:layoutTarget val="inner"/>
          <c:xMode val="edge"/>
          <c:yMode val="edge"/>
          <c:x val="8.0568844676954798E-2"/>
          <c:y val="0.15151547178426017"/>
          <c:w val="0.82306604071947931"/>
          <c:h val="0.72943877130422097"/>
        </c:manualLayout>
      </c:layout>
      <c:barChart>
        <c:barDir val="col"/>
        <c:grouping val="clustered"/>
        <c:ser>
          <c:idx val="6"/>
          <c:order val="0"/>
          <c:tx>
            <c:v>FY07</c:v>
          </c:tx>
          <c:spPr>
            <a:solidFill>
              <a:srgbClr val="FF0000"/>
            </a:solidFill>
            <a:ln w="12700">
              <a:solidFill>
                <a:srgbClr val="000000"/>
              </a:solidFill>
              <a:prstDash val="solid"/>
            </a:ln>
          </c:spPr>
          <c:cat>
            <c:strRef>
              <c:f>'[1]SEWP IV (2)'!$A$61:$A$72</c:f>
              <c:strCache>
                <c:ptCount val="12"/>
                <c:pt idx="0">
                  <c:v>Oct</c:v>
                </c:pt>
                <c:pt idx="1">
                  <c:v>Nov</c:v>
                </c:pt>
                <c:pt idx="2">
                  <c:v>Dec</c:v>
                </c:pt>
                <c:pt idx="3">
                  <c:v>Jan</c:v>
                </c:pt>
                <c:pt idx="4">
                  <c:v>Feb</c:v>
                </c:pt>
                <c:pt idx="5">
                  <c:v>Mar</c:v>
                </c:pt>
                <c:pt idx="6">
                  <c:v>Apr</c:v>
                </c:pt>
                <c:pt idx="7">
                  <c:v>May</c:v>
                </c:pt>
                <c:pt idx="8">
                  <c:v>Jun</c:v>
                </c:pt>
                <c:pt idx="9">
                  <c:v>Jul</c:v>
                </c:pt>
                <c:pt idx="10">
                  <c:v>Aug</c:v>
                </c:pt>
                <c:pt idx="11">
                  <c:v>Sep</c:v>
                </c:pt>
              </c:strCache>
            </c:strRef>
          </c:cat>
          <c:val>
            <c:numRef>
              <c:f>'SEWP IV'!$K$2:$K$13</c:f>
              <c:numCache>
                <c:formatCode>General</c:formatCode>
                <c:ptCount val="12"/>
                <c:pt idx="7" formatCode="0.00">
                  <c:v>11.53549434000001</c:v>
                </c:pt>
                <c:pt idx="8" formatCode="0.00">
                  <c:v>51.361104159999996</c:v>
                </c:pt>
                <c:pt idx="9" formatCode="0.00">
                  <c:v>86.615471429999928</c:v>
                </c:pt>
                <c:pt idx="10" formatCode="0.00">
                  <c:v>141.15931846000001</c:v>
                </c:pt>
                <c:pt idx="11" formatCode="0.00">
                  <c:v>411.68139987999967</c:v>
                </c:pt>
              </c:numCache>
            </c:numRef>
          </c:val>
        </c:ser>
        <c:ser>
          <c:idx val="7"/>
          <c:order val="1"/>
          <c:tx>
            <c:v>FY08</c:v>
          </c:tx>
          <c:spPr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rgbClr val="000000"/>
              </a:solidFill>
              <a:prstDash val="solid"/>
            </a:ln>
          </c:spPr>
          <c:cat>
            <c:strRef>
              <c:f>'[1]SEWP IV (2)'!$A$61:$A$72</c:f>
              <c:strCache>
                <c:ptCount val="12"/>
                <c:pt idx="0">
                  <c:v>Oct</c:v>
                </c:pt>
                <c:pt idx="1">
                  <c:v>Nov</c:v>
                </c:pt>
                <c:pt idx="2">
                  <c:v>Dec</c:v>
                </c:pt>
                <c:pt idx="3">
                  <c:v>Jan</c:v>
                </c:pt>
                <c:pt idx="4">
                  <c:v>Feb</c:v>
                </c:pt>
                <c:pt idx="5">
                  <c:v>Mar</c:v>
                </c:pt>
                <c:pt idx="6">
                  <c:v>Apr</c:v>
                </c:pt>
                <c:pt idx="7">
                  <c:v>May</c:v>
                </c:pt>
                <c:pt idx="8">
                  <c:v>Jun</c:v>
                </c:pt>
                <c:pt idx="9">
                  <c:v>Jul</c:v>
                </c:pt>
                <c:pt idx="10">
                  <c:v>Aug</c:v>
                </c:pt>
                <c:pt idx="11">
                  <c:v>Sep</c:v>
                </c:pt>
              </c:strCache>
            </c:strRef>
          </c:cat>
          <c:val>
            <c:numRef>
              <c:f>'SEWP IV'!$K$14:$K$25</c:f>
              <c:numCache>
                <c:formatCode>0.00</c:formatCode>
                <c:ptCount val="12"/>
                <c:pt idx="0">
                  <c:v>34.280697169999996</c:v>
                </c:pt>
                <c:pt idx="1">
                  <c:v>32.76029324000006</c:v>
                </c:pt>
                <c:pt idx="2">
                  <c:v>60.484928559999958</c:v>
                </c:pt>
                <c:pt idx="3">
                  <c:v>63.190393310000076</c:v>
                </c:pt>
                <c:pt idx="4">
                  <c:v>35.681505450000003</c:v>
                </c:pt>
                <c:pt idx="5">
                  <c:v>75.613531209999948</c:v>
                </c:pt>
                <c:pt idx="6">
                  <c:v>96.802786419999848</c:v>
                </c:pt>
                <c:pt idx="7">
                  <c:v>67.815516349999982</c:v>
                </c:pt>
                <c:pt idx="8">
                  <c:v>114.81115672000008</c:v>
                </c:pt>
                <c:pt idx="9">
                  <c:v>136.20132366999999</c:v>
                </c:pt>
                <c:pt idx="10">
                  <c:v>167.13141770000001</c:v>
                </c:pt>
                <c:pt idx="11">
                  <c:v>504.15695331000001</c:v>
                </c:pt>
              </c:numCache>
            </c:numRef>
          </c:val>
        </c:ser>
        <c:ser>
          <c:idx val="0"/>
          <c:order val="2"/>
          <c:tx>
            <c:v>FY09</c:v>
          </c:tx>
          <c:cat>
            <c:strRef>
              <c:f>'[1]SEWP IV (2)'!$A$61:$A$72</c:f>
              <c:strCache>
                <c:ptCount val="12"/>
                <c:pt idx="0">
                  <c:v>Oct</c:v>
                </c:pt>
                <c:pt idx="1">
                  <c:v>Nov</c:v>
                </c:pt>
                <c:pt idx="2">
                  <c:v>Dec</c:v>
                </c:pt>
                <c:pt idx="3">
                  <c:v>Jan</c:v>
                </c:pt>
                <c:pt idx="4">
                  <c:v>Feb</c:v>
                </c:pt>
                <c:pt idx="5">
                  <c:v>Mar</c:v>
                </c:pt>
                <c:pt idx="6">
                  <c:v>Apr</c:v>
                </c:pt>
                <c:pt idx="7">
                  <c:v>May</c:v>
                </c:pt>
                <c:pt idx="8">
                  <c:v>Jun</c:v>
                </c:pt>
                <c:pt idx="9">
                  <c:v>Jul</c:v>
                </c:pt>
                <c:pt idx="10">
                  <c:v>Aug</c:v>
                </c:pt>
                <c:pt idx="11">
                  <c:v>Sep</c:v>
                </c:pt>
              </c:strCache>
            </c:strRef>
          </c:cat>
          <c:val>
            <c:numRef>
              <c:f>'SEWP IV'!$K$26:$K$37</c:f>
              <c:numCache>
                <c:formatCode>0.00</c:formatCode>
                <c:ptCount val="12"/>
                <c:pt idx="0">
                  <c:v>65.442288739999981</c:v>
                </c:pt>
                <c:pt idx="1">
                  <c:v>46.735619200000045</c:v>
                </c:pt>
                <c:pt idx="2">
                  <c:v>77.606458529999898</c:v>
                </c:pt>
                <c:pt idx="3">
                  <c:v>49.472553410000003</c:v>
                </c:pt>
                <c:pt idx="4">
                  <c:v>153.22388749999999</c:v>
                </c:pt>
                <c:pt idx="5">
                  <c:v>140.75838242000003</c:v>
                </c:pt>
                <c:pt idx="6">
                  <c:v>103.0145718199999</c:v>
                </c:pt>
                <c:pt idx="7">
                  <c:v>121.40980262000002</c:v>
                </c:pt>
                <c:pt idx="8">
                  <c:v>201.68251581000001</c:v>
                </c:pt>
                <c:pt idx="9">
                  <c:v>173.04234822000001</c:v>
                </c:pt>
                <c:pt idx="10">
                  <c:v>219.89882863000017</c:v>
                </c:pt>
                <c:pt idx="11">
                  <c:v>679.86006442999906</c:v>
                </c:pt>
              </c:numCache>
            </c:numRef>
          </c:val>
        </c:ser>
        <c:ser>
          <c:idx val="1"/>
          <c:order val="3"/>
          <c:tx>
            <c:v>FY10</c:v>
          </c:tx>
          <c:val>
            <c:numRef>
              <c:f>'SEWP IV'!$K$38:$K$49</c:f>
              <c:numCache>
                <c:formatCode>0.00</c:formatCode>
                <c:ptCount val="12"/>
                <c:pt idx="0">
                  <c:v>54.558891389999999</c:v>
                </c:pt>
                <c:pt idx="1">
                  <c:v>50.113896609999998</c:v>
                </c:pt>
                <c:pt idx="2">
                  <c:v>104.7801022</c:v>
                </c:pt>
                <c:pt idx="3">
                  <c:v>52.839481999999997</c:v>
                </c:pt>
                <c:pt idx="4">
                  <c:v>66.629196579999913</c:v>
                </c:pt>
                <c:pt idx="5">
                  <c:v>207.10859802000002</c:v>
                </c:pt>
                <c:pt idx="6">
                  <c:v>229.69056666999998</c:v>
                </c:pt>
                <c:pt idx="7">
                  <c:v>120.51885765</c:v>
                </c:pt>
                <c:pt idx="8">
                  <c:v>198.71913466999979</c:v>
                </c:pt>
                <c:pt idx="9">
                  <c:v>227.8239470000002</c:v>
                </c:pt>
                <c:pt idx="10">
                  <c:v>298.23730983999963</c:v>
                </c:pt>
                <c:pt idx="11">
                  <c:v>873.69151122000005</c:v>
                </c:pt>
              </c:numCache>
            </c:numRef>
          </c:val>
        </c:ser>
        <c:ser>
          <c:idx val="2"/>
          <c:order val="4"/>
          <c:tx>
            <c:v>FY11</c:v>
          </c:tx>
          <c:val>
            <c:numRef>
              <c:f>'SEWP IV'!$K$50:$K$61</c:f>
              <c:numCache>
                <c:formatCode>0.00</c:formatCode>
                <c:ptCount val="12"/>
                <c:pt idx="0">
                  <c:v>47.970888589999994</c:v>
                </c:pt>
                <c:pt idx="1">
                  <c:v>79.65331338999998</c:v>
                </c:pt>
                <c:pt idx="2">
                  <c:v>104.05009238999995</c:v>
                </c:pt>
                <c:pt idx="3">
                  <c:v>69.981126300000085</c:v>
                </c:pt>
                <c:pt idx="4">
                  <c:v>94.265946889999981</c:v>
                </c:pt>
                <c:pt idx="5">
                  <c:v>184.22074836000004</c:v>
                </c:pt>
                <c:pt idx="6">
                  <c:v>144.90495015999997</c:v>
                </c:pt>
                <c:pt idx="7">
                  <c:v>111.93682572000009</c:v>
                </c:pt>
                <c:pt idx="8">
                  <c:v>161.39774537000017</c:v>
                </c:pt>
                <c:pt idx="9">
                  <c:v>191.01002231000001</c:v>
                </c:pt>
                <c:pt idx="10">
                  <c:v>306.43021149999947</c:v>
                </c:pt>
                <c:pt idx="11">
                  <c:v>834.98316353000052</c:v>
                </c:pt>
              </c:numCache>
            </c:numRef>
          </c:val>
        </c:ser>
        <c:axId val="95872128"/>
        <c:axId val="97620736"/>
      </c:barChart>
      <c:catAx>
        <c:axId val="95872128"/>
        <c:scaling>
          <c:orientation val="minMax"/>
        </c:scaling>
        <c:axPos val="b"/>
        <c:numFmt formatCode="General" sourceLinked="1"/>
        <c:tickLblPos val="nextTo"/>
        <c:spPr>
          <a:ln w="3175">
            <a:solidFill>
              <a:srgbClr val="000000"/>
            </a:solidFill>
            <a:prstDash val="solid"/>
          </a:ln>
        </c:spPr>
        <c:txPr>
          <a:bodyPr rot="0" vert="horz"/>
          <a:lstStyle/>
          <a:p>
            <a:pPr>
              <a:defRPr sz="1050" b="0" i="0" u="none" strike="noStrike" baseline="0">
                <a:solidFill>
                  <a:srgbClr val="000000"/>
                </a:solidFill>
                <a:latin typeface="Geneva"/>
                <a:ea typeface="Geneva"/>
                <a:cs typeface="Geneva"/>
              </a:defRPr>
            </a:pPr>
            <a:endParaRPr lang="en-US"/>
          </a:p>
        </c:txPr>
        <c:crossAx val="97620736"/>
        <c:crosses val="autoZero"/>
        <c:auto val="1"/>
        <c:lblAlgn val="ctr"/>
        <c:lblOffset val="100"/>
        <c:tickLblSkip val="1"/>
        <c:tickMarkSkip val="1"/>
      </c:catAx>
      <c:valAx>
        <c:axId val="97620736"/>
        <c:scaling>
          <c:orientation val="minMax"/>
        </c:scaling>
        <c:axPos val="l"/>
        <c:majorGridlines>
          <c:spPr>
            <a:ln w="3175">
              <a:solidFill>
                <a:srgbClr val="000000"/>
              </a:solidFill>
              <a:prstDash val="solid"/>
            </a:ln>
          </c:spPr>
        </c:majorGridlines>
        <c:numFmt formatCode="\$#,##0" sourceLinked="0"/>
        <c:tickLblPos val="nextTo"/>
        <c:spPr>
          <a:ln w="3175">
            <a:solidFill>
              <a:srgbClr val="000000"/>
            </a:solidFill>
            <a:prstDash val="solid"/>
          </a:ln>
        </c:spPr>
        <c:txPr>
          <a:bodyPr rot="0" vert="horz"/>
          <a:lstStyle/>
          <a:p>
            <a:pPr>
              <a:defRPr sz="1050" b="0" i="0" u="none" strike="noStrike" baseline="0">
                <a:solidFill>
                  <a:srgbClr val="000000"/>
                </a:solidFill>
                <a:latin typeface="Geneva"/>
                <a:ea typeface="Geneva"/>
                <a:cs typeface="Geneva"/>
              </a:defRPr>
            </a:pPr>
            <a:endParaRPr lang="en-US"/>
          </a:p>
        </c:txPr>
        <c:crossAx val="95872128"/>
        <c:crosses val="autoZero"/>
        <c:crossBetween val="between"/>
      </c:valAx>
      <c:spPr>
        <a:noFill/>
        <a:ln w="12700">
          <a:solidFill>
            <a:srgbClr val="808080"/>
          </a:solidFill>
          <a:prstDash val="solid"/>
        </a:ln>
      </c:spPr>
    </c:plotArea>
    <c:legend>
      <c:legendPos val="r"/>
      <c:layout>
        <c:manualLayout>
          <c:xMode val="edge"/>
          <c:yMode val="edge"/>
          <c:x val="0.91153368043978211"/>
          <c:y val="0.46753340642546259"/>
          <c:w val="7.2369300742944717E-2"/>
          <c:h val="0.25147812219675081"/>
        </c:manualLayout>
      </c:layout>
      <c:spPr>
        <a:solidFill>
          <a:srgbClr val="FFFFFF"/>
        </a:solidFill>
        <a:ln w="3175">
          <a:solidFill>
            <a:srgbClr val="000000"/>
          </a:solidFill>
          <a:prstDash val="solid"/>
        </a:ln>
      </c:spPr>
      <c:txPr>
        <a:bodyPr/>
        <a:lstStyle/>
        <a:p>
          <a:pPr>
            <a:defRPr sz="805" b="0" i="0" u="none" strike="noStrike" baseline="0">
              <a:solidFill>
                <a:srgbClr val="000000"/>
              </a:solidFill>
              <a:latin typeface="Geneva"/>
              <a:ea typeface="Geneva"/>
              <a:cs typeface="Geneva"/>
            </a:defRPr>
          </a:pPr>
          <a:endParaRPr lang="en-US"/>
        </a:p>
      </c:txPr>
    </c:legend>
    <c:plotVisOnly val="1"/>
    <c:dispBlanksAs val="gap"/>
  </c:chart>
  <c:spPr>
    <a:solidFill>
      <a:srgbClr val="FFFFFF"/>
    </a:solidFill>
    <a:ln w="3175">
      <a:solidFill>
        <a:srgbClr val="000000"/>
      </a:solidFill>
      <a:prstDash val="solid"/>
    </a:ln>
  </c:spPr>
  <c:txPr>
    <a:bodyPr/>
    <a:lstStyle/>
    <a:p>
      <a:pPr>
        <a:defRPr sz="875" b="0" i="0" u="none" strike="noStrike" baseline="0">
          <a:solidFill>
            <a:srgbClr val="000000"/>
          </a:solidFill>
          <a:latin typeface="Geneva"/>
          <a:ea typeface="Geneva"/>
          <a:cs typeface="Geneva"/>
        </a:defRPr>
      </a:pPr>
      <a:endParaRPr lang="en-US"/>
    </a:p>
  </c:txPr>
  <c:externalData r:id="rId1"/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0213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672" tIns="46338" rIns="92672" bIns="46338" numCol="1" anchor="t" anchorCtr="0" compatLnSpc="1">
            <a:prstTxWarp prst="textNoShape">
              <a:avLst/>
            </a:prstTxWarp>
          </a:bodyPr>
          <a:lstStyle>
            <a:lvl1pPr defTabSz="928688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578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1263"/>
            <a:ext cx="2970213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672" tIns="46338" rIns="92672" bIns="46338" numCol="1" anchor="b" anchorCtr="0" compatLnSpc="1">
            <a:prstTxWarp prst="textNoShape">
              <a:avLst/>
            </a:prstTxWarp>
          </a:bodyPr>
          <a:lstStyle>
            <a:lvl1pPr defTabSz="928688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578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831263"/>
            <a:ext cx="297180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672" tIns="46338" rIns="92672" bIns="46338" numCol="1" anchor="b" anchorCtr="0" compatLnSpc="1">
            <a:prstTxWarp prst="textNoShape">
              <a:avLst/>
            </a:prstTxWarp>
          </a:bodyPr>
          <a:lstStyle>
            <a:lvl1pPr algn="r" defTabSz="928688">
              <a:defRPr sz="1200"/>
            </a:lvl1pPr>
          </a:lstStyle>
          <a:p>
            <a:pPr>
              <a:defRPr/>
            </a:pPr>
            <a:fld id="{4B74E00D-6DEA-44DD-91F2-1B6FEBFB5FA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0213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672" tIns="46338" rIns="92672" bIns="46338" numCol="1" anchor="t" anchorCtr="0" compatLnSpc="1">
            <a:prstTxWarp prst="textNoShape">
              <a:avLst/>
            </a:prstTxWarp>
          </a:bodyPr>
          <a:lstStyle>
            <a:lvl1pPr defTabSz="928688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531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06488" y="700088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414838"/>
            <a:ext cx="5486400" cy="418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672" tIns="46338" rIns="92672" bIns="463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45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1263"/>
            <a:ext cx="2970213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672" tIns="46338" rIns="92672" bIns="46338" numCol="1" anchor="b" anchorCtr="0" compatLnSpc="1">
            <a:prstTxWarp prst="textNoShape">
              <a:avLst/>
            </a:prstTxWarp>
          </a:bodyPr>
          <a:lstStyle>
            <a:lvl1pPr defTabSz="928688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45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831263"/>
            <a:ext cx="297180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672" tIns="46338" rIns="92672" bIns="46338" numCol="1" anchor="b" anchorCtr="0" compatLnSpc="1">
            <a:prstTxWarp prst="textNoShape">
              <a:avLst/>
            </a:prstTxWarp>
          </a:bodyPr>
          <a:lstStyle>
            <a:lvl1pPr algn="r" defTabSz="928688">
              <a:defRPr sz="1200"/>
            </a:lvl1pPr>
          </a:lstStyle>
          <a:p>
            <a:pPr>
              <a:defRPr/>
            </a:pPr>
            <a:fld id="{3A963B2C-EA83-44FF-AF94-950B622FFD1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076D6EC-F42D-4974-823C-FF371D9BF9C8}" type="slidenum">
              <a:rPr lang="en-US" smtClean="0"/>
              <a:pPr/>
              <a:t>1</a:t>
            </a:fld>
            <a:endParaRPr lang="en-US" smtClean="0"/>
          </a:p>
        </p:txBody>
      </p:sp>
      <p:sp>
        <p:nvSpPr>
          <p:cNvPr id="23555" name="Rectangle 7"/>
          <p:cNvSpPr txBox="1">
            <a:spLocks noGrp="1" noChangeArrowheads="1"/>
          </p:cNvSpPr>
          <p:nvPr/>
        </p:nvSpPr>
        <p:spPr bwMode="auto">
          <a:xfrm>
            <a:off x="3884613" y="8831263"/>
            <a:ext cx="297180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672" tIns="46338" rIns="92672" bIns="46338" anchor="b"/>
          <a:lstStyle/>
          <a:p>
            <a:pPr algn="r" defTabSz="928688"/>
            <a:fld id="{1964842D-D741-4192-9B19-AEDB7174933D}" type="slidenum">
              <a:rPr lang="en-US" sz="1200"/>
              <a:pPr algn="r" defTabSz="928688"/>
              <a:t>1</a:t>
            </a:fld>
            <a:endParaRPr lang="en-US" sz="1200"/>
          </a:p>
        </p:txBody>
      </p:sp>
      <p:sp>
        <p:nvSpPr>
          <p:cNvPr id="2355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8075" y="700088"/>
            <a:ext cx="4648200" cy="3486150"/>
          </a:xfrm>
          <a:ln/>
        </p:spPr>
      </p:sp>
      <p:sp>
        <p:nvSpPr>
          <p:cNvPr id="2355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7388" y="4414838"/>
            <a:ext cx="5483225" cy="4181475"/>
          </a:xfrm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19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smtClean="0"/>
              <a:t>Welcome - provide some insight into the size and significance of the event.</a:t>
            </a:r>
            <a:br>
              <a:rPr lang="en-US" smtClean="0"/>
            </a:br>
            <a:r>
              <a:rPr lang="en-US" smtClean="0"/>
              <a:t>Step through the welcome packet and explain contents???  </a:t>
            </a:r>
            <a:br>
              <a:rPr lang="en-US" smtClean="0"/>
            </a:br>
            <a:r>
              <a:rPr lang="en-US" smtClean="0"/>
              <a:t>Agenda</a:t>
            </a:r>
            <a:br>
              <a:rPr lang="en-US" smtClean="0"/>
            </a:br>
            <a:r>
              <a:rPr lang="en-US" smtClean="0"/>
              <a:t>-break timing and expectation</a:t>
            </a:r>
            <a:br>
              <a:rPr lang="en-US" smtClean="0"/>
            </a:br>
            <a:r>
              <a:rPr lang="en-US" smtClean="0"/>
              <a:t>-contract holder tables</a:t>
            </a:r>
            <a:br>
              <a:rPr lang="en-US" smtClean="0"/>
            </a:br>
            <a:r>
              <a:rPr lang="en-US" smtClean="0"/>
              <a:t>Wireless availability and expected use of</a:t>
            </a:r>
            <a:br>
              <a:rPr lang="en-US" smtClean="0"/>
            </a:br>
            <a:r>
              <a:rPr lang="en-US" smtClean="0"/>
              <a:t>Seating</a:t>
            </a:r>
            <a:br>
              <a:rPr lang="en-US" smtClean="0"/>
            </a:br>
            <a:r>
              <a:rPr lang="en-US" smtClean="0"/>
              <a:t>Comments welcome throughout (Microphone location and use)</a:t>
            </a:r>
            <a:br>
              <a:rPr lang="en-US" smtClean="0"/>
            </a:br>
            <a:r>
              <a:rPr lang="en-US" smtClean="0"/>
              <a:t>Evening plans - restaurants selected for each night</a:t>
            </a:r>
            <a:br>
              <a:rPr lang="en-US" smtClean="0"/>
            </a:br>
            <a:r>
              <a:rPr lang="en-US" smtClean="0"/>
              <a:t>Room/Building Logistics - Restroom Locations</a:t>
            </a:r>
            <a:br>
              <a:rPr lang="en-US" smtClean="0"/>
            </a:br>
            <a:endParaRPr lang="en-US" smtClean="0"/>
          </a:p>
        </p:txBody>
      </p:sp>
      <p:sp>
        <p:nvSpPr>
          <p:cNvPr id="819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3F30437-064E-4965-9C4D-B849126ABC15}" type="slidenum">
              <a:rPr lang="en-US" smtClean="0"/>
              <a:pPr/>
              <a:t>7</a:t>
            </a:fld>
            <a:endParaRPr lang="en-U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27100"/>
            <a:fld id="{6323F165-7BE8-4F38-8111-5B3A5C9AF5A1}" type="slidenum">
              <a:rPr lang="en-US" smtClean="0"/>
              <a:pPr defTabSz="927100"/>
              <a:t>10</a:t>
            </a:fld>
            <a:endParaRPr lang="en-US" smtClean="0"/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8075" y="700088"/>
            <a:ext cx="4648200" cy="3486150"/>
          </a:xfrm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7388" y="4414838"/>
            <a:ext cx="5483225" cy="4181475"/>
          </a:xfrm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27100"/>
            <a:fld id="{97778891-442F-4043-A322-23C39E13D266}" type="slidenum">
              <a:rPr lang="en-US" smtClean="0"/>
              <a:pPr defTabSz="927100"/>
              <a:t>13</a:t>
            </a:fld>
            <a:endParaRPr lang="en-US" smtClean="0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8075" y="700088"/>
            <a:ext cx="4648200" cy="3486150"/>
          </a:xfrm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7388" y="4414838"/>
            <a:ext cx="5483225" cy="4181475"/>
          </a:xfrm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27100"/>
            <a:fld id="{E17E92EC-F02E-40CA-B17A-4B23673E2CD3}" type="slidenum">
              <a:rPr lang="en-US" smtClean="0"/>
              <a:pPr defTabSz="927100"/>
              <a:t>14</a:t>
            </a:fld>
            <a:endParaRPr lang="en-US" smtClean="0"/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8075" y="700088"/>
            <a:ext cx="4648200" cy="3486150"/>
          </a:xfrm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7388" y="4414838"/>
            <a:ext cx="5483225" cy="4181475"/>
          </a:xfrm>
          <a:noFill/>
          <a:ln/>
        </p:spPr>
        <p:txBody>
          <a:bodyPr/>
          <a:lstStyle/>
          <a:p>
            <a:pPr eaLnBrk="1" hangingPunct="1"/>
            <a:r>
              <a:rPr lang="en-US" smtClean="0">
                <a:solidFill>
                  <a:srgbClr val="8E0000"/>
                </a:solidFill>
              </a:rPr>
              <a:t>NOTE: This slide is hidden for NASA customer training ( See “Hide Slide” option on the Slide Show menu)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Intro now – who are we</a:t>
            </a:r>
          </a:p>
          <a:p>
            <a:pPr eaLnBrk="1" hangingPunct="1"/>
            <a:r>
              <a:rPr lang="en-US" smtClean="0"/>
              <a:t>	who are you and knowledge of SEWP</a:t>
            </a:r>
          </a:p>
          <a:p>
            <a:pPr eaLnBrk="1" hangingPunct="1"/>
            <a:r>
              <a:rPr lang="en-US" smtClean="0"/>
              <a:t>	sign in</a:t>
            </a:r>
          </a:p>
          <a:p>
            <a:pPr eaLnBrk="1" hangingPunct="1"/>
            <a:r>
              <a:rPr lang="en-US" smtClean="0"/>
              <a:t>Ask questions but may defer some discussions till we get to that section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27100"/>
            <a:fld id="{431378B4-BF18-4DF4-9AFE-33D84089AF8B}" type="slidenum">
              <a:rPr lang="en-US" smtClean="0"/>
              <a:pPr defTabSz="927100"/>
              <a:t>15</a:t>
            </a:fld>
            <a:endParaRPr lang="en-US" smtClean="0"/>
          </a:p>
        </p:txBody>
      </p:sp>
      <p:sp>
        <p:nvSpPr>
          <p:cNvPr id="20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8075" y="700088"/>
            <a:ext cx="4648200" cy="3486150"/>
          </a:xfrm>
          <a:ln/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7388" y="4414838"/>
            <a:ext cx="5483225" cy="4181475"/>
          </a:xfrm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27100"/>
            <a:fld id="{862A276D-5084-40E4-9582-BCF6C11732EE}" type="slidenum">
              <a:rPr lang="en-US" smtClean="0"/>
              <a:pPr defTabSz="927100"/>
              <a:t>16</a:t>
            </a:fld>
            <a:endParaRPr lang="en-US" smtClean="0"/>
          </a:p>
        </p:txBody>
      </p:sp>
      <p:sp>
        <p:nvSpPr>
          <p:cNvPr id="22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8075" y="700088"/>
            <a:ext cx="4648200" cy="3486150"/>
          </a:xfrm>
          <a:ln/>
        </p:spPr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7388" y="4414838"/>
            <a:ext cx="5483225" cy="4181475"/>
          </a:xfrm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27100"/>
            <a:fld id="{1CD4D341-4B9D-463C-A251-31C5075351A9}" type="slidenum">
              <a:rPr lang="en-US" smtClean="0"/>
              <a:pPr defTabSz="927100"/>
              <a:t>17</a:t>
            </a:fld>
            <a:endParaRPr lang="en-US" smtClean="0"/>
          </a:p>
        </p:txBody>
      </p:sp>
      <p:sp>
        <p:nvSpPr>
          <p:cNvPr id="23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698500"/>
            <a:ext cx="4648200" cy="3486150"/>
          </a:xfrm>
          <a:ln/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414838"/>
            <a:ext cx="5486400" cy="4183062"/>
          </a:xfrm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FCEA9F4-57BE-4D2D-8672-5D5A48A0F936}" type="slidenum">
              <a:rPr lang="en-US" smtClean="0">
                <a:latin typeface="Times" pitchFamily="18" charset="0"/>
              </a:rPr>
              <a:pPr/>
              <a:t>29</a:t>
            </a:fld>
            <a:endParaRPr lang="en-US" smtClean="0">
              <a:latin typeface="Times" pitchFamily="18" charset="0"/>
            </a:endParaRPr>
          </a:p>
        </p:txBody>
      </p:sp>
      <p:sp>
        <p:nvSpPr>
          <p:cNvPr id="51203" name="Rectangle 7"/>
          <p:cNvSpPr txBox="1">
            <a:spLocks noGrp="1" noChangeArrowheads="1"/>
          </p:cNvSpPr>
          <p:nvPr/>
        </p:nvSpPr>
        <p:spPr bwMode="auto">
          <a:xfrm>
            <a:off x="3884613" y="8831263"/>
            <a:ext cx="297180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672" tIns="46338" rIns="92672" bIns="46338" anchor="b"/>
          <a:lstStyle/>
          <a:p>
            <a:pPr algn="r" defTabSz="928688"/>
            <a:fld id="{2B826721-C61F-4B29-87C9-1191D8CFA631}" type="slidenum">
              <a:rPr lang="en-US" sz="1200"/>
              <a:pPr algn="r" defTabSz="928688"/>
              <a:t>29</a:t>
            </a:fld>
            <a:endParaRPr lang="en-US" sz="1200"/>
          </a:p>
        </p:txBody>
      </p:sp>
      <p:sp>
        <p:nvSpPr>
          <p:cNvPr id="5120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8075" y="700088"/>
            <a:ext cx="4648200" cy="3486150"/>
          </a:xfrm>
          <a:ln/>
        </p:spPr>
      </p:sp>
      <p:sp>
        <p:nvSpPr>
          <p:cNvPr id="5120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7389" y="4414838"/>
            <a:ext cx="5483225" cy="4181475"/>
          </a:xfrm>
          <a:noFill/>
          <a:ln/>
        </p:spPr>
        <p:txBody>
          <a:bodyPr/>
          <a:lstStyle/>
          <a:p>
            <a:pPr eaLnBrk="1" hangingPunct="1"/>
            <a:endParaRPr lang="en-US" smtClean="0"/>
          </a:p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6947D31-9FAC-4F40-A46B-54AAAD84540C}" type="slidenum">
              <a:rPr lang="en-US">
                <a:solidFill>
                  <a:prstClr val="black"/>
                </a:solidFill>
              </a:rPr>
              <a:pPr/>
              <a:t>30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4613" y="8831263"/>
            <a:ext cx="297180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672" tIns="46338" rIns="92672" bIns="46338" anchor="b"/>
          <a:lstStyle/>
          <a:p>
            <a:pPr algn="r" defTabSz="928688" eaLnBrk="0" fontAlgn="base" hangingPunct="0">
              <a:spcBef>
                <a:spcPct val="0"/>
              </a:spcBef>
              <a:spcAft>
                <a:spcPct val="0"/>
              </a:spcAft>
            </a:pPr>
            <a:fld id="{CFB97BA5-8AA5-463D-B8A7-3966E2304811}" type="slidenum">
              <a:rPr lang="en-US" sz="1200">
                <a:solidFill>
                  <a:prstClr val="black"/>
                </a:solidFill>
                <a:latin typeface="Times" pitchFamily="18" charset="0"/>
              </a:rPr>
              <a:pPr algn="r" defTabSz="928688" eaLnBrk="0" fontAlgn="base" hangingPunct="0">
                <a:spcBef>
                  <a:spcPct val="0"/>
                </a:spcBef>
                <a:spcAft>
                  <a:spcPct val="0"/>
                </a:spcAft>
              </a:pPr>
              <a:t>30</a:t>
            </a:fld>
            <a:endParaRPr lang="en-US" sz="1200">
              <a:solidFill>
                <a:prstClr val="black"/>
              </a:solidFill>
              <a:latin typeface="Times" pitchFamily="18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8075" y="700088"/>
            <a:ext cx="4648200" cy="3486150"/>
          </a:xfrm>
          <a:ln/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7389" y="4414838"/>
            <a:ext cx="5483225" cy="4181475"/>
          </a:xfrm>
          <a:noFill/>
          <a:ln/>
        </p:spPr>
        <p:txBody>
          <a:bodyPr/>
          <a:lstStyle/>
          <a:p>
            <a:pPr eaLnBrk="1" hangingPunct="1"/>
            <a:endParaRPr lang="en-US" smtClean="0"/>
          </a:p>
          <a:p>
            <a:pPr eaLnBrk="1" hangingPunct="1"/>
            <a:endParaRPr lang="en-US" smtClean="0"/>
          </a:p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CFA4DAC-E940-4629-A484-1E04BA1DF863}" type="slidenum">
              <a:rPr lang="en-US">
                <a:solidFill>
                  <a:prstClr val="black"/>
                </a:solidFill>
              </a:rPr>
              <a:pPr/>
              <a:t>31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3251" name="Rectangle 7"/>
          <p:cNvSpPr txBox="1">
            <a:spLocks noGrp="1" noChangeArrowheads="1"/>
          </p:cNvSpPr>
          <p:nvPr/>
        </p:nvSpPr>
        <p:spPr bwMode="auto">
          <a:xfrm>
            <a:off x="3884613" y="8831263"/>
            <a:ext cx="297180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672" tIns="46338" rIns="92672" bIns="46338" anchor="b"/>
          <a:lstStyle/>
          <a:p>
            <a:pPr algn="r" defTabSz="928688" eaLnBrk="0" fontAlgn="base" hangingPunct="0">
              <a:spcBef>
                <a:spcPct val="0"/>
              </a:spcBef>
              <a:spcAft>
                <a:spcPct val="0"/>
              </a:spcAft>
            </a:pPr>
            <a:fld id="{34F40FB5-1AA2-44FD-9BC8-28D4840F50A4}" type="slidenum">
              <a:rPr lang="en-US" sz="1200">
                <a:solidFill>
                  <a:prstClr val="black"/>
                </a:solidFill>
                <a:latin typeface="Times" pitchFamily="18" charset="0"/>
              </a:rPr>
              <a:pPr algn="r" defTabSz="928688" eaLnBrk="0" fontAlgn="base" hangingPunct="0">
                <a:spcBef>
                  <a:spcPct val="0"/>
                </a:spcBef>
                <a:spcAft>
                  <a:spcPct val="0"/>
                </a:spcAft>
              </a:pPr>
              <a:t>31</a:t>
            </a:fld>
            <a:endParaRPr lang="en-US" sz="1200">
              <a:solidFill>
                <a:prstClr val="black"/>
              </a:solidFill>
              <a:latin typeface="Times" pitchFamily="18" charset="0"/>
            </a:endParaRPr>
          </a:p>
        </p:txBody>
      </p:sp>
      <p:sp>
        <p:nvSpPr>
          <p:cNvPr id="5325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6175" y="700458"/>
            <a:ext cx="4572000" cy="3486150"/>
          </a:xfrm>
          <a:ln/>
        </p:spPr>
      </p:sp>
      <p:sp>
        <p:nvSpPr>
          <p:cNvPr id="5325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7389" y="4414838"/>
            <a:ext cx="5483225" cy="4181475"/>
          </a:xfrm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EA3C053-ADF2-4D28-83C5-6F3A2741A1A2}" type="slidenum">
              <a:rPr lang="en-US">
                <a:solidFill>
                  <a:prstClr val="black"/>
                </a:solidFill>
              </a:rPr>
              <a:pPr/>
              <a:t>32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4275" name="Rectangle 7"/>
          <p:cNvSpPr txBox="1">
            <a:spLocks noGrp="1" noChangeArrowheads="1"/>
          </p:cNvSpPr>
          <p:nvPr/>
        </p:nvSpPr>
        <p:spPr bwMode="auto">
          <a:xfrm>
            <a:off x="3884613" y="8831263"/>
            <a:ext cx="297180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672" tIns="46338" rIns="92672" bIns="46338" anchor="b"/>
          <a:lstStyle/>
          <a:p>
            <a:pPr algn="r" defTabSz="928688" eaLnBrk="0" fontAlgn="base" hangingPunct="0">
              <a:spcBef>
                <a:spcPct val="0"/>
              </a:spcBef>
              <a:spcAft>
                <a:spcPct val="0"/>
              </a:spcAft>
            </a:pPr>
            <a:fld id="{A900B1DD-365E-408D-80E5-2A76F668E4DC}" type="slidenum">
              <a:rPr lang="en-US" sz="1200">
                <a:solidFill>
                  <a:prstClr val="black"/>
                </a:solidFill>
                <a:latin typeface="Times" pitchFamily="18" charset="0"/>
              </a:rPr>
              <a:pPr algn="r" defTabSz="928688" eaLnBrk="0" fontAlgn="base" hangingPunct="0">
                <a:spcBef>
                  <a:spcPct val="0"/>
                </a:spcBef>
                <a:spcAft>
                  <a:spcPct val="0"/>
                </a:spcAft>
              </a:pPr>
              <a:t>32</a:t>
            </a:fld>
            <a:endParaRPr lang="en-US" sz="1200">
              <a:solidFill>
                <a:prstClr val="black"/>
              </a:solidFill>
              <a:latin typeface="Times" pitchFamily="18" charset="0"/>
            </a:endParaRPr>
          </a:p>
        </p:txBody>
      </p:sp>
      <p:sp>
        <p:nvSpPr>
          <p:cNvPr id="5427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6175" y="700458"/>
            <a:ext cx="4572000" cy="3486150"/>
          </a:xfrm>
          <a:ln/>
        </p:spPr>
      </p:sp>
      <p:sp>
        <p:nvSpPr>
          <p:cNvPr id="5427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7389" y="4414838"/>
            <a:ext cx="5483225" cy="4181475"/>
          </a:xfrm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C18FD64-75EB-42D5-903D-3272FA186ED3}" type="slidenum">
              <a:rPr lang="en-US" smtClean="0">
                <a:latin typeface="Times" pitchFamily="18" charset="0"/>
              </a:rPr>
              <a:pPr/>
              <a:t>33</a:t>
            </a:fld>
            <a:endParaRPr lang="en-US" smtClean="0">
              <a:latin typeface="Times" pitchFamily="18" charset="0"/>
            </a:endParaRPr>
          </a:p>
        </p:txBody>
      </p:sp>
      <p:sp>
        <p:nvSpPr>
          <p:cNvPr id="54275" name="Rectangle 7"/>
          <p:cNvSpPr txBox="1">
            <a:spLocks noGrp="1" noChangeArrowheads="1"/>
          </p:cNvSpPr>
          <p:nvPr/>
        </p:nvSpPr>
        <p:spPr bwMode="auto">
          <a:xfrm>
            <a:off x="3884028" y="8831263"/>
            <a:ext cx="2972421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939" tIns="45471" rIns="90939" bIns="45471" anchor="b"/>
          <a:lstStyle/>
          <a:p>
            <a:pPr algn="r" defTabSz="911322"/>
            <a:fld id="{E1736152-2F9D-407D-B5B3-0289C6B60B18}" type="slidenum">
              <a:rPr lang="en-US" sz="1200"/>
              <a:pPr algn="r" defTabSz="911322"/>
              <a:t>33</a:t>
            </a:fld>
            <a:endParaRPr lang="en-US" sz="1200" dirty="0"/>
          </a:p>
        </p:txBody>
      </p:sp>
      <p:sp>
        <p:nvSpPr>
          <p:cNvPr id="5427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8530" y="700088"/>
            <a:ext cx="4548706" cy="3486150"/>
          </a:xfrm>
          <a:ln/>
        </p:spPr>
      </p:sp>
      <p:sp>
        <p:nvSpPr>
          <p:cNvPr id="5427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7975" y="4414838"/>
            <a:ext cx="5482052" cy="4181475"/>
          </a:xfrm>
          <a:noFill/>
          <a:ln/>
        </p:spPr>
        <p:txBody>
          <a:bodyPr/>
          <a:lstStyle/>
          <a:p>
            <a:pPr eaLnBrk="1" hangingPunct="1"/>
            <a:r>
              <a:rPr lang="en-US" smtClean="0"/>
              <a:t>Along with the competed contracts which have an IT  product scope, a limited services capability and a $4 Billion contract limit, there are 3 non-competed 8(a) set-asides listed here.  Unlike the competed contracts there is no limit on services from these 3 contracts but there is an upper limit of $3 Million per contract.  Further, Miratek and Eyak are limited to product purchases up to 30% of an order.  Because of the mix of services and  product  in providing imaging and conferencing systems, there is no limit on product or service amounts on Petrosys.  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Note these are meant to complement the competed contracts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08A9DE4-6E4E-4338-9BB4-9B599EA42E5B}" type="slidenum">
              <a:rPr lang="en-US" smtClean="0"/>
              <a:pPr/>
              <a:t>34</a:t>
            </a:fld>
            <a:endParaRPr lang="en-US" smtClean="0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8075" y="700088"/>
            <a:ext cx="4648200" cy="3486150"/>
          </a:xfrm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7388" y="4414838"/>
            <a:ext cx="5483225" cy="4181475"/>
          </a:xfrm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5" descr="3694_JuiceDrop3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5" name="Group 13"/>
          <p:cNvGrpSpPr>
            <a:grpSpLocks/>
          </p:cNvGrpSpPr>
          <p:nvPr userDrawn="1"/>
        </p:nvGrpSpPr>
        <p:grpSpPr bwMode="auto">
          <a:xfrm>
            <a:off x="3043238" y="476250"/>
            <a:ext cx="3038475" cy="4625975"/>
            <a:chOff x="1917" y="300"/>
            <a:chExt cx="1914" cy="2914"/>
          </a:xfrm>
        </p:grpSpPr>
        <p:pic>
          <p:nvPicPr>
            <p:cNvPr id="6" name="Picture 10" descr="SEWP_duckonly_transp"/>
            <p:cNvPicPr>
              <a:picLocks noChangeAspect="1" noChangeArrowheads="1"/>
            </p:cNvPicPr>
            <p:nvPr userDrawn="1"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917" y="300"/>
              <a:ext cx="1914" cy="18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" name="Picture 12" descr="sewp_words"/>
            <p:cNvPicPr>
              <a:picLocks noChangeAspect="1" noChangeArrowheads="1"/>
            </p:cNvPicPr>
            <p:nvPr userDrawn="1"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2043" y="2009"/>
              <a:ext cx="1662" cy="120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48230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247900" y="5992813"/>
            <a:ext cx="3962400" cy="3429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1800" b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8230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1066800" y="4911725"/>
            <a:ext cx="6324600" cy="1076325"/>
          </a:xfrm>
          <a:noFill/>
        </p:spPr>
        <p:txBody>
          <a:bodyPr lIns="0" bIns="0"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80513" cy="11239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7400" y="0"/>
            <a:ext cx="8393113" cy="11239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271588" y="2635250"/>
            <a:ext cx="3143250" cy="1524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67238" y="2635250"/>
            <a:ext cx="3143250" cy="1524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0" y="6381750"/>
            <a:ext cx="757238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52AF9A-0E75-4B40-98AB-38C3D5DF7DB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jpe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1" descr="3694_JuiceDrop3"/>
          <p:cNvPicPr>
            <a:picLocks noChangeAspect="1" noChangeArrowheads="1"/>
          </p:cNvPicPr>
          <p:nvPr userDrawn="1"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3" name="Rectangle 9"/>
          <p:cNvSpPr>
            <a:spLocks noChangeArrowheads="1"/>
          </p:cNvSpPr>
          <p:nvPr userDrawn="1"/>
        </p:nvSpPr>
        <p:spPr bwMode="auto">
          <a:xfrm>
            <a:off x="276225" y="1114425"/>
            <a:ext cx="8543925" cy="5476875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9180513" cy="11239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vert="horz" wrap="square" lIns="457200" tIns="0" rIns="0" bIns="10972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Customer Service</a:t>
            </a:r>
          </a:p>
        </p:txBody>
      </p:sp>
      <p:sp>
        <p:nvSpPr>
          <p:cNvPr id="1029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547688" y="1339850"/>
            <a:ext cx="6438900" cy="1524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pic>
        <p:nvPicPr>
          <p:cNvPr id="1030" name="Picture 8" descr="SEWP_duckonly_transp"/>
          <p:cNvPicPr>
            <a:picLocks noChangeAspect="1" noChangeArrowheads="1"/>
          </p:cNvPicPr>
          <p:nvPr userDrawn="1"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209550" y="142875"/>
            <a:ext cx="942975" cy="906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4" name="Text Box 10"/>
          <p:cNvSpPr txBox="1">
            <a:spLocks noChangeArrowheads="1"/>
          </p:cNvSpPr>
          <p:nvPr userDrawn="1"/>
        </p:nvSpPr>
        <p:spPr bwMode="auto">
          <a:xfrm>
            <a:off x="0" y="6553200"/>
            <a:ext cx="3905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fld id="{F78A3B3C-A66A-4F0B-B861-28194C75C093}" type="slidenum">
              <a:rPr lang="en-US" sz="1400"/>
              <a:pPr>
                <a:defRPr/>
              </a:pPr>
              <a:t>‹#›</a:t>
            </a:fld>
            <a:endParaRPr lang="en-US" sz="1400"/>
          </a:p>
        </p:txBody>
      </p:sp>
      <p:pic>
        <p:nvPicPr>
          <p:cNvPr id="1032" name="Picture 8" descr="SEWP_duck_only_628w_608h"/>
          <p:cNvPicPr>
            <a:picLocks noChangeAspect="1" noChangeArrowheads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8183563" y="5981700"/>
            <a:ext cx="617537" cy="596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ext Box 9"/>
          <p:cNvSpPr txBox="1">
            <a:spLocks noChangeArrowheads="1"/>
          </p:cNvSpPr>
          <p:nvPr userDrawn="1"/>
        </p:nvSpPr>
        <p:spPr bwMode="auto">
          <a:xfrm>
            <a:off x="7874000" y="6545263"/>
            <a:ext cx="1409700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sz="1200" b="1" dirty="0" smtClean="0">
                <a:solidFill>
                  <a:srgbClr val="FFFFFF"/>
                </a:solidFill>
              </a:rPr>
              <a:t>Symposium </a:t>
            </a:r>
            <a:r>
              <a:rPr lang="en-US" sz="1200" b="1" dirty="0">
                <a:solidFill>
                  <a:srgbClr val="FFFFFF"/>
                </a:solidFill>
              </a:rPr>
              <a:t>‘12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5" r:id="rId1"/>
    <p:sldLayoutId id="2147483874" r:id="rId2"/>
    <p:sldLayoutId id="2147483876" r:id="rId3"/>
  </p:sldLayoutIdLst>
  <p:transition/>
  <p:timing>
    <p:tnLst>
      <p:par>
        <p:cTn id="1" dur="indefinite" restart="never" nodeType="tmRoot"/>
      </p:par>
    </p:tnLst>
  </p:timing>
  <p:hf hdr="0" ftr="0" dt="0"/>
  <p:txStyles>
    <p:titleStyle>
      <a:lvl1pPr marL="4763" indent="-4763" algn="ctr" rtl="0" eaLnBrk="0" fontAlgn="base" hangingPunct="0">
        <a:lnSpc>
          <a:spcPts val="3800"/>
        </a:lnSpc>
        <a:spcBef>
          <a:spcPct val="0"/>
        </a:spcBef>
        <a:spcAft>
          <a:spcPct val="0"/>
        </a:spcAft>
        <a:defRPr sz="3200" b="1">
          <a:solidFill>
            <a:srgbClr val="FAFAFA"/>
          </a:solidFill>
          <a:latin typeface="+mj-lt"/>
          <a:ea typeface="+mj-ea"/>
          <a:cs typeface="+mj-cs"/>
        </a:defRPr>
      </a:lvl1pPr>
      <a:lvl2pPr marL="4763" indent="-4763" algn="ctr" rtl="0" eaLnBrk="0" fontAlgn="base" hangingPunct="0">
        <a:lnSpc>
          <a:spcPts val="3800"/>
        </a:lnSpc>
        <a:spcBef>
          <a:spcPct val="0"/>
        </a:spcBef>
        <a:spcAft>
          <a:spcPct val="0"/>
        </a:spcAft>
        <a:defRPr sz="3200" b="1">
          <a:solidFill>
            <a:srgbClr val="FAFAFA"/>
          </a:solidFill>
          <a:latin typeface="Arial" charset="0"/>
        </a:defRPr>
      </a:lvl2pPr>
      <a:lvl3pPr marL="4763" indent="-4763" algn="ctr" rtl="0" eaLnBrk="0" fontAlgn="base" hangingPunct="0">
        <a:lnSpc>
          <a:spcPts val="3800"/>
        </a:lnSpc>
        <a:spcBef>
          <a:spcPct val="0"/>
        </a:spcBef>
        <a:spcAft>
          <a:spcPct val="0"/>
        </a:spcAft>
        <a:defRPr sz="3200" b="1">
          <a:solidFill>
            <a:srgbClr val="FAFAFA"/>
          </a:solidFill>
          <a:latin typeface="Arial" charset="0"/>
        </a:defRPr>
      </a:lvl3pPr>
      <a:lvl4pPr marL="4763" indent="-4763" algn="ctr" rtl="0" eaLnBrk="0" fontAlgn="base" hangingPunct="0">
        <a:lnSpc>
          <a:spcPts val="3800"/>
        </a:lnSpc>
        <a:spcBef>
          <a:spcPct val="0"/>
        </a:spcBef>
        <a:spcAft>
          <a:spcPct val="0"/>
        </a:spcAft>
        <a:defRPr sz="3200" b="1">
          <a:solidFill>
            <a:srgbClr val="FAFAFA"/>
          </a:solidFill>
          <a:latin typeface="Arial" charset="0"/>
        </a:defRPr>
      </a:lvl4pPr>
      <a:lvl5pPr marL="4763" indent="-4763" algn="ctr" rtl="0" eaLnBrk="0" fontAlgn="base" hangingPunct="0">
        <a:lnSpc>
          <a:spcPts val="3800"/>
        </a:lnSpc>
        <a:spcBef>
          <a:spcPct val="0"/>
        </a:spcBef>
        <a:spcAft>
          <a:spcPct val="0"/>
        </a:spcAft>
        <a:defRPr sz="3200" b="1">
          <a:solidFill>
            <a:srgbClr val="FAFAFA"/>
          </a:solidFill>
          <a:latin typeface="Arial" charset="0"/>
        </a:defRPr>
      </a:lvl5pPr>
      <a:lvl6pPr marL="461963" algn="l" rtl="0" fontAlgn="base">
        <a:lnSpc>
          <a:spcPts val="3800"/>
        </a:lnSpc>
        <a:spcBef>
          <a:spcPct val="0"/>
        </a:spcBef>
        <a:spcAft>
          <a:spcPct val="0"/>
        </a:spcAft>
        <a:defRPr sz="3200" b="1">
          <a:solidFill>
            <a:srgbClr val="FAFAFA"/>
          </a:solidFill>
          <a:latin typeface="Arial" charset="0"/>
        </a:defRPr>
      </a:lvl6pPr>
      <a:lvl7pPr marL="919163" algn="l" rtl="0" fontAlgn="base">
        <a:lnSpc>
          <a:spcPts val="3800"/>
        </a:lnSpc>
        <a:spcBef>
          <a:spcPct val="0"/>
        </a:spcBef>
        <a:spcAft>
          <a:spcPct val="0"/>
        </a:spcAft>
        <a:defRPr sz="3200" b="1">
          <a:solidFill>
            <a:srgbClr val="FAFAFA"/>
          </a:solidFill>
          <a:latin typeface="Arial" charset="0"/>
        </a:defRPr>
      </a:lvl7pPr>
      <a:lvl8pPr marL="1376363" algn="l" rtl="0" fontAlgn="base">
        <a:lnSpc>
          <a:spcPts val="3800"/>
        </a:lnSpc>
        <a:spcBef>
          <a:spcPct val="0"/>
        </a:spcBef>
        <a:spcAft>
          <a:spcPct val="0"/>
        </a:spcAft>
        <a:defRPr sz="3200" b="1">
          <a:solidFill>
            <a:srgbClr val="FAFAFA"/>
          </a:solidFill>
          <a:latin typeface="Arial" charset="0"/>
        </a:defRPr>
      </a:lvl8pPr>
      <a:lvl9pPr marL="1833563" algn="l" rtl="0" fontAlgn="base">
        <a:lnSpc>
          <a:spcPts val="3800"/>
        </a:lnSpc>
        <a:spcBef>
          <a:spcPct val="0"/>
        </a:spcBef>
        <a:spcAft>
          <a:spcPct val="0"/>
        </a:spcAft>
        <a:defRPr sz="3200" b="1">
          <a:solidFill>
            <a:srgbClr val="FAFAFA"/>
          </a:solidFill>
          <a:latin typeface="Arial" charset="0"/>
        </a:defRPr>
      </a:lvl9pPr>
    </p:titleStyle>
    <p:bodyStyle>
      <a:lvl1pPr marL="285750" indent="-285750" algn="l" rtl="0" eaLnBrk="0" fontAlgn="base" hangingPunct="0">
        <a:lnSpc>
          <a:spcPts val="2700"/>
        </a:lnSpc>
        <a:spcBef>
          <a:spcPts val="2600"/>
        </a:spcBef>
        <a:spcAft>
          <a:spcPct val="0"/>
        </a:spcAft>
        <a:buClr>
          <a:schemeClr val="tx1"/>
        </a:buClr>
        <a:buFont typeface="Wingdings" pitchFamily="2" charset="2"/>
        <a:buChar char="Ø"/>
        <a:defRPr sz="2400" b="1">
          <a:solidFill>
            <a:schemeClr val="tx1"/>
          </a:solidFill>
          <a:latin typeface="+mn-lt"/>
          <a:ea typeface="+mn-ea"/>
          <a:cs typeface="+mn-cs"/>
        </a:defRPr>
      </a:lvl1pPr>
      <a:lvl2pPr marL="515938" indent="-115888" algn="l" rtl="0" eaLnBrk="0" fontAlgn="base" hangingPunct="0">
        <a:lnSpc>
          <a:spcPts val="2000"/>
        </a:lnSpc>
        <a:spcBef>
          <a:spcPts val="900"/>
        </a:spcBef>
        <a:spcAft>
          <a:spcPct val="0"/>
        </a:spcAft>
        <a:buClr>
          <a:schemeClr val="tx1"/>
        </a:buClr>
        <a:buFont typeface="Times" pitchFamily="18" charset="0"/>
        <a:buChar char="•"/>
        <a:defRPr sz="2000">
          <a:solidFill>
            <a:schemeClr val="tx1"/>
          </a:solidFill>
          <a:latin typeface="+mn-lt"/>
        </a:defRPr>
      </a:lvl2pPr>
      <a:lvl3pPr marL="796925" indent="-111125" algn="l" rtl="0" eaLnBrk="0" fontAlgn="base" hangingPunct="0">
        <a:lnSpc>
          <a:spcPts val="1800"/>
        </a:lnSpc>
        <a:spcBef>
          <a:spcPts val="800"/>
        </a:spcBef>
        <a:spcAft>
          <a:spcPct val="0"/>
        </a:spcAft>
        <a:buClr>
          <a:schemeClr val="tx1"/>
        </a:buClr>
        <a:buChar char="-"/>
        <a:defRPr>
          <a:solidFill>
            <a:schemeClr val="tx1"/>
          </a:solidFill>
          <a:latin typeface="+mn-lt"/>
        </a:defRPr>
      </a:lvl3pPr>
      <a:lvl4pPr marL="1031875" indent="-120650" algn="l" rtl="0" eaLnBrk="0" fontAlgn="base" hangingPunct="0">
        <a:lnSpc>
          <a:spcPts val="1400"/>
        </a:lnSpc>
        <a:spcBef>
          <a:spcPts val="500"/>
        </a:spcBef>
        <a:spcAft>
          <a:spcPct val="0"/>
        </a:spcAft>
        <a:buClr>
          <a:schemeClr val="tx1"/>
        </a:buClr>
        <a:buFont typeface="Wingdings" pitchFamily="2" charset="2"/>
        <a:buChar char=""/>
        <a:defRPr sz="1600">
          <a:solidFill>
            <a:schemeClr val="tx1"/>
          </a:solidFill>
          <a:latin typeface="+mn-lt"/>
        </a:defRPr>
      </a:lvl4pPr>
      <a:lvl5pPr marL="1260475" indent="-114300" algn="l" rtl="0" eaLnBrk="0" fontAlgn="base" hangingPunct="0">
        <a:lnSpc>
          <a:spcPts val="1400"/>
        </a:lnSpc>
        <a:spcBef>
          <a:spcPts val="500"/>
        </a:spcBef>
        <a:spcAft>
          <a:spcPct val="0"/>
        </a:spcAft>
        <a:buClr>
          <a:schemeClr val="tx1"/>
        </a:buClr>
        <a:buFont typeface="Wingdings" pitchFamily="2" charset="2"/>
        <a:buChar char=""/>
        <a:defRPr sz="1400">
          <a:solidFill>
            <a:schemeClr val="tx1"/>
          </a:solidFill>
          <a:latin typeface="+mn-lt"/>
        </a:defRPr>
      </a:lvl5pPr>
      <a:lvl6pPr marL="1717675" indent="-114300" algn="l" rtl="0" fontAlgn="base">
        <a:lnSpc>
          <a:spcPts val="1400"/>
        </a:lnSpc>
        <a:spcBef>
          <a:spcPts val="500"/>
        </a:spcBef>
        <a:spcAft>
          <a:spcPct val="0"/>
        </a:spcAft>
        <a:buClr>
          <a:schemeClr val="tx1"/>
        </a:buClr>
        <a:buFont typeface="Wingdings" pitchFamily="2" charset="2"/>
        <a:buChar char=""/>
        <a:defRPr sz="1400">
          <a:solidFill>
            <a:schemeClr val="tx1"/>
          </a:solidFill>
          <a:latin typeface="+mn-lt"/>
        </a:defRPr>
      </a:lvl6pPr>
      <a:lvl7pPr marL="2174875" indent="-114300" algn="l" rtl="0" fontAlgn="base">
        <a:lnSpc>
          <a:spcPts val="1400"/>
        </a:lnSpc>
        <a:spcBef>
          <a:spcPts val="500"/>
        </a:spcBef>
        <a:spcAft>
          <a:spcPct val="0"/>
        </a:spcAft>
        <a:buClr>
          <a:schemeClr val="tx1"/>
        </a:buClr>
        <a:buFont typeface="Wingdings" pitchFamily="2" charset="2"/>
        <a:buChar char=""/>
        <a:defRPr sz="1400">
          <a:solidFill>
            <a:schemeClr val="tx1"/>
          </a:solidFill>
          <a:latin typeface="+mn-lt"/>
        </a:defRPr>
      </a:lvl7pPr>
      <a:lvl8pPr marL="2632075" indent="-114300" algn="l" rtl="0" fontAlgn="base">
        <a:lnSpc>
          <a:spcPts val="1400"/>
        </a:lnSpc>
        <a:spcBef>
          <a:spcPts val="500"/>
        </a:spcBef>
        <a:spcAft>
          <a:spcPct val="0"/>
        </a:spcAft>
        <a:buClr>
          <a:schemeClr val="tx1"/>
        </a:buClr>
        <a:buFont typeface="Wingdings" pitchFamily="2" charset="2"/>
        <a:buChar char=""/>
        <a:defRPr sz="1400">
          <a:solidFill>
            <a:schemeClr val="tx1"/>
          </a:solidFill>
          <a:latin typeface="+mn-lt"/>
        </a:defRPr>
      </a:lvl8pPr>
      <a:lvl9pPr marL="3089275" indent="-114300" algn="l" rtl="0" fontAlgn="base">
        <a:lnSpc>
          <a:spcPts val="1400"/>
        </a:lnSpc>
        <a:spcBef>
          <a:spcPts val="500"/>
        </a:spcBef>
        <a:spcAft>
          <a:spcPct val="0"/>
        </a:spcAft>
        <a:buClr>
          <a:schemeClr val="tx1"/>
        </a:buClr>
        <a:buFont typeface="Wingdings" pitchFamily="2" charset="2"/>
        <a:buChar char=""/>
        <a:defRPr sz="1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vaztech-inc.com/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petrosys.com/" TargetMode="External"/><Relationship Id="rId5" Type="http://schemas.openxmlformats.org/officeDocument/2006/relationships/hyperlink" Target="http://www.victorygs.com/" TargetMode="External"/><Relationship Id="rId4" Type="http://schemas.openxmlformats.org/officeDocument/2006/relationships/hyperlink" Target="http://www.copperriverit.com/" TargetMode="Externa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ctrTitle"/>
          </p:nvPr>
        </p:nvSpPr>
        <p:spPr>
          <a:xfrm>
            <a:off x="539750" y="5157788"/>
            <a:ext cx="8191500" cy="1076325"/>
          </a:xfrm>
          <a:ln w="9525"/>
          <a:effectLst>
            <a:outerShdw dist="35921" dir="2700000" algn="ctr" rotWithShape="0">
              <a:schemeClr val="bg1"/>
            </a:outerShdw>
          </a:effectLst>
        </p:spPr>
        <p:txBody>
          <a:bodyPr/>
          <a:lstStyle/>
          <a:p>
            <a:pPr marL="0" indent="4763" eaLnBrk="1" hangingPunct="1">
              <a:defRPr/>
            </a:pPr>
            <a:r>
              <a:rPr lang="en-US" dirty="0" smtClean="0"/>
              <a:t>State of SEWP</a:t>
            </a:r>
            <a:br>
              <a:rPr lang="en-US" dirty="0" smtClean="0"/>
            </a:br>
            <a:r>
              <a:rPr lang="en-US" dirty="0" smtClean="0"/>
              <a:t>Joanne Woytek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pic>
        <p:nvPicPr>
          <p:cNvPr id="1026" name="Picture 2" descr="Z:\Cartoons\rde8973h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32119" y="1133121"/>
            <a:ext cx="8431898" cy="5089879"/>
          </a:xfrm>
          <a:prstGeom prst="rect">
            <a:avLst/>
          </a:prstGeom>
          <a:noFill/>
        </p:spPr>
      </p:pic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Keypad Question</a:t>
            </a:r>
            <a:endParaRPr lang="en-US" dirty="0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344488" y="1825962"/>
            <a:ext cx="8329612" cy="2885405"/>
          </a:xfrm>
        </p:spPr>
        <p:txBody>
          <a:bodyPr/>
          <a:lstStyle/>
          <a:p>
            <a:pPr>
              <a:buNone/>
            </a:pPr>
            <a:r>
              <a:rPr lang="en-US" dirty="0" smtClean="0"/>
              <a:t>Philadelphia is the home of?</a:t>
            </a:r>
          </a:p>
          <a:p>
            <a:pPr lvl="1">
              <a:buNone/>
            </a:pPr>
            <a:endParaRPr lang="en-US" dirty="0" smtClean="0"/>
          </a:p>
          <a:p>
            <a:pPr lvl="1">
              <a:buNone/>
            </a:pPr>
            <a:r>
              <a:rPr lang="en-US" sz="2200" dirty="0" smtClean="0"/>
              <a:t>1 =&gt; </a:t>
            </a:r>
            <a:r>
              <a:rPr lang="en-US" sz="2400" dirty="0" smtClean="0"/>
              <a:t>Duck SEWP and Cheese Cake</a:t>
            </a:r>
            <a:endParaRPr lang="en-US" sz="2200" dirty="0" smtClean="0"/>
          </a:p>
          <a:p>
            <a:pPr lvl="1">
              <a:buNone/>
            </a:pPr>
            <a:r>
              <a:rPr lang="en-US" sz="2200" dirty="0" smtClean="0"/>
              <a:t>2 =&gt; </a:t>
            </a:r>
            <a:r>
              <a:rPr lang="en-US" sz="2400" dirty="0" smtClean="0"/>
              <a:t>Cheese steak sandwich, water ice, soft pretzels and </a:t>
            </a:r>
            <a:r>
              <a:rPr lang="en-US" sz="2400" dirty="0" err="1" smtClean="0"/>
              <a:t>TastyKakes</a:t>
            </a:r>
            <a:endParaRPr lang="en-US" sz="2200" dirty="0" smtClean="0"/>
          </a:p>
          <a:p>
            <a:pPr lvl="1">
              <a:buNone/>
            </a:pPr>
            <a:r>
              <a:rPr lang="en-US" sz="2200" dirty="0" smtClean="0"/>
              <a:t>3 =&gt; </a:t>
            </a:r>
            <a:r>
              <a:rPr lang="en-US" sz="2400" dirty="0" smtClean="0"/>
              <a:t>Chili Fries, Ice Cream and Chocolate</a:t>
            </a:r>
            <a:endParaRPr lang="en-US" sz="2200" dirty="0" smtClean="0"/>
          </a:p>
          <a:p>
            <a:pPr lvl="1">
              <a:buNone/>
            </a:pPr>
            <a:r>
              <a:rPr lang="en-US" sz="2200" dirty="0" smtClean="0"/>
              <a:t>4 =&gt; </a:t>
            </a:r>
            <a:r>
              <a:rPr lang="en-US" sz="2400" dirty="0" smtClean="0"/>
              <a:t>Beer, Wine and Whiskey</a:t>
            </a:r>
            <a:endParaRPr lang="en-US" sz="2200" dirty="0" smtClean="0"/>
          </a:p>
          <a:p>
            <a:endParaRPr lang="en-US" dirty="0" smtClean="0"/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Symposium Overview</a:t>
            </a:r>
            <a:endParaRPr lang="en-US" dirty="0"/>
          </a:p>
        </p:txBody>
      </p:sp>
      <p:sp>
        <p:nvSpPr>
          <p:cNvPr id="5123" name="Content Placeholder 2"/>
          <p:cNvSpPr>
            <a:spLocks noGrp="1"/>
          </p:cNvSpPr>
          <p:nvPr>
            <p:ph idx="1"/>
          </p:nvPr>
        </p:nvSpPr>
        <p:spPr>
          <a:xfrm>
            <a:off x="488950" y="1232349"/>
            <a:ext cx="8099425" cy="3847207"/>
          </a:xfrm>
        </p:spPr>
        <p:txBody>
          <a:bodyPr/>
          <a:lstStyle/>
          <a:p>
            <a:r>
              <a:rPr lang="en-US" dirty="0" smtClean="0"/>
              <a:t>Meals / Breaks</a:t>
            </a:r>
          </a:p>
          <a:p>
            <a:pPr lvl="1"/>
            <a:r>
              <a:rPr lang="en-US" dirty="0" smtClean="0"/>
              <a:t>Exhibitor Area</a:t>
            </a:r>
          </a:p>
          <a:p>
            <a:pPr lvl="1"/>
            <a:r>
              <a:rPr lang="en-US" dirty="0" smtClean="0"/>
              <a:t>Networking Event</a:t>
            </a:r>
          </a:p>
          <a:p>
            <a:r>
              <a:rPr lang="en-US" dirty="0" smtClean="0"/>
              <a:t>Evening Events</a:t>
            </a:r>
          </a:p>
          <a:p>
            <a:pPr lvl="1"/>
            <a:r>
              <a:rPr lang="en-US" dirty="0" smtClean="0"/>
              <a:t>Tuesday Evening - Dinner  / Bowling at Lucky Strike Lounge-n-Lanes</a:t>
            </a:r>
          </a:p>
          <a:p>
            <a:pPr lvl="1"/>
            <a:r>
              <a:rPr lang="en-US" dirty="0" smtClean="0"/>
              <a:t>Options for Wednesday Evening:</a:t>
            </a:r>
          </a:p>
          <a:p>
            <a:pPr lvl="2"/>
            <a:r>
              <a:rPr lang="en-US" dirty="0" smtClean="0"/>
              <a:t>On your own</a:t>
            </a:r>
          </a:p>
          <a:p>
            <a:pPr lvl="2"/>
            <a:r>
              <a:rPr lang="en-US" dirty="0" smtClean="0"/>
              <a:t>Ghost Tour</a:t>
            </a:r>
          </a:p>
          <a:p>
            <a:pPr lvl="2"/>
            <a:r>
              <a:rPr lang="en-US" dirty="0" smtClean="0"/>
              <a:t>Philly Tour</a:t>
            </a:r>
          </a:p>
          <a:p>
            <a:pPr lvl="2"/>
            <a:r>
              <a:rPr lang="en-US" dirty="0" smtClean="0"/>
              <a:t>Dinner and Independence Hall</a:t>
            </a: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Symposium Overview</a:t>
            </a:r>
            <a:endParaRPr lang="en-US" dirty="0"/>
          </a:p>
        </p:txBody>
      </p:sp>
      <p:sp>
        <p:nvSpPr>
          <p:cNvPr id="5123" name="Content Placeholder 2"/>
          <p:cNvSpPr>
            <a:spLocks noGrp="1"/>
          </p:cNvSpPr>
          <p:nvPr>
            <p:ph idx="1"/>
          </p:nvPr>
        </p:nvSpPr>
        <p:spPr>
          <a:xfrm>
            <a:off x="425450" y="1320504"/>
            <a:ext cx="8099425" cy="4001095"/>
          </a:xfrm>
        </p:spPr>
        <p:txBody>
          <a:bodyPr/>
          <a:lstStyle/>
          <a:p>
            <a:r>
              <a:rPr lang="en-US" dirty="0" smtClean="0"/>
              <a:t>Plenary Sessions</a:t>
            </a:r>
          </a:p>
          <a:p>
            <a:pPr lvl="1"/>
            <a:r>
              <a:rPr lang="en-US" dirty="0" smtClean="0"/>
              <a:t>Contract Updates – Tuesday 12:45 PM</a:t>
            </a:r>
          </a:p>
          <a:p>
            <a:pPr lvl="1"/>
            <a:r>
              <a:rPr lang="en-US" dirty="0" smtClean="0"/>
              <a:t>Day 1 Recap, Evening Event Logistics - Tuesday 4 PM</a:t>
            </a:r>
          </a:p>
          <a:p>
            <a:pPr lvl="1"/>
            <a:r>
              <a:rPr lang="en-US" dirty="0" smtClean="0"/>
              <a:t>Day 2 Opening Remarks – Wednesday 8:45 PM</a:t>
            </a:r>
          </a:p>
          <a:p>
            <a:pPr lvl="1"/>
            <a:r>
              <a:rPr lang="en-US" dirty="0" smtClean="0"/>
              <a:t>Contract Holder Panel  - Wednesday 12:45 PM</a:t>
            </a:r>
          </a:p>
          <a:p>
            <a:pPr lvl="1"/>
            <a:r>
              <a:rPr lang="en-US" dirty="0" smtClean="0"/>
              <a:t>Demonstration of New Online Tools– Wednesday 2:00 PM</a:t>
            </a:r>
          </a:p>
          <a:p>
            <a:pPr lvl="1"/>
            <a:r>
              <a:rPr lang="en-US" dirty="0" smtClean="0"/>
              <a:t>Recap/Q and A – Wednesday 3:15 PM</a:t>
            </a:r>
          </a:p>
          <a:p>
            <a:pPr lvl="1"/>
            <a:r>
              <a:rPr lang="en-US" dirty="0" smtClean="0"/>
              <a:t>Government only session – Wednesday 3:45 PM</a:t>
            </a:r>
          </a:p>
          <a:p>
            <a:r>
              <a:rPr lang="en-US" dirty="0" smtClean="0"/>
              <a:t>Tuesday Lunch and Learn</a:t>
            </a:r>
          </a:p>
          <a:p>
            <a:pPr lvl="1"/>
            <a:r>
              <a:rPr lang="en-US" dirty="0" smtClean="0"/>
              <a:t>Quick overview of SEWP for first-timers</a:t>
            </a: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Symposium Overview</a:t>
            </a:r>
            <a:endParaRPr lang="en-US" dirty="0"/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>
          <a:xfrm>
            <a:off x="371475" y="1436688"/>
            <a:ext cx="8097838" cy="4373562"/>
          </a:xfrm>
        </p:spPr>
        <p:txBody>
          <a:bodyPr/>
          <a:lstStyle/>
          <a:p>
            <a:r>
              <a:rPr lang="en-US" dirty="0" smtClean="0"/>
              <a:t>4 Breakout Sessions</a:t>
            </a:r>
          </a:p>
          <a:p>
            <a:pPr lvl="1"/>
            <a:r>
              <a:rPr lang="en-US" dirty="0" smtClean="0"/>
              <a:t>The Customer Service Model</a:t>
            </a:r>
          </a:p>
          <a:p>
            <a:pPr lvl="1"/>
            <a:r>
              <a:rPr lang="en-US" dirty="0" smtClean="0"/>
              <a:t>The Catalog </a:t>
            </a:r>
            <a:r>
              <a:rPr lang="en-US" dirty="0" smtClean="0"/>
              <a:t>By Request Model</a:t>
            </a:r>
            <a:endParaRPr lang="en-US" dirty="0" smtClean="0"/>
          </a:p>
          <a:p>
            <a:pPr lvl="1"/>
            <a:r>
              <a:rPr lang="en-US" dirty="0" smtClean="0"/>
              <a:t>The Quote Request Model</a:t>
            </a:r>
          </a:p>
          <a:p>
            <a:pPr lvl="1"/>
            <a:r>
              <a:rPr lang="en-US" dirty="0" smtClean="0"/>
              <a:t>The Contractual Model</a:t>
            </a:r>
          </a:p>
          <a:p>
            <a:r>
              <a:rPr lang="en-US" dirty="0" smtClean="0"/>
              <a:t>Thursday Morning Agency Sessions</a:t>
            </a:r>
          </a:p>
          <a:p>
            <a:pPr lvl="1"/>
            <a:r>
              <a:rPr lang="en-US" dirty="0" err="1" smtClean="0"/>
              <a:t>DoD</a:t>
            </a:r>
            <a:endParaRPr lang="en-US" dirty="0" smtClean="0"/>
          </a:p>
          <a:p>
            <a:pPr lvl="1"/>
            <a:r>
              <a:rPr lang="en-US" dirty="0" smtClean="0"/>
              <a:t>NASA</a:t>
            </a:r>
          </a:p>
          <a:p>
            <a:pPr lvl="1"/>
            <a:r>
              <a:rPr lang="en-US" dirty="0" smtClean="0"/>
              <a:t>VA</a:t>
            </a:r>
          </a:p>
          <a:p>
            <a:pPr lvl="1"/>
            <a:r>
              <a:rPr lang="en-US" dirty="0" smtClean="0"/>
              <a:t>US Courts</a:t>
            </a:r>
          </a:p>
          <a:p>
            <a:pPr lvl="1"/>
            <a:r>
              <a:rPr lang="en-US" dirty="0" smtClean="0"/>
              <a:t>Others</a:t>
            </a: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80513" cy="1123950"/>
          </a:xfrm>
        </p:spPr>
        <p:txBody>
          <a:bodyPr/>
          <a:lstStyle/>
          <a:p>
            <a:pPr indent="0" algn="ctr" eaLnBrk="1" hangingPunct="1">
              <a:defRPr/>
            </a:pPr>
            <a:r>
              <a:rPr lang="en-US" dirty="0" smtClean="0"/>
              <a:t>Who is Here?</a:t>
            </a:r>
          </a:p>
        </p:txBody>
      </p:sp>
      <p:sp>
        <p:nvSpPr>
          <p:cNvPr id="3075" name="Rectangle 3"/>
          <p:cNvSpPr>
            <a:spLocks noChangeArrowheads="1"/>
          </p:cNvSpPr>
          <p:nvPr/>
        </p:nvSpPr>
        <p:spPr bwMode="auto">
          <a:xfrm>
            <a:off x="381000" y="1101725"/>
            <a:ext cx="7086600" cy="20928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buFont typeface="Wingdings" pitchFamily="2" charset="2"/>
              <a:buChar char="Ø"/>
            </a:pPr>
            <a:r>
              <a:rPr lang="en-US" b="1" dirty="0" smtClean="0">
                <a:latin typeface="+mn-lt"/>
                <a:cs typeface="Times" pitchFamily="18" charset="0"/>
              </a:rPr>
              <a:t>Largest attendance ever</a:t>
            </a:r>
          </a:p>
          <a:p>
            <a:pPr lvl="1" eaLnBrk="1" hangingPunct="1"/>
            <a:r>
              <a:rPr lang="en-US" sz="2000" dirty="0" smtClean="0">
                <a:latin typeface="+mn-lt"/>
                <a:cs typeface="Times" pitchFamily="18" charset="0"/>
              </a:rPr>
              <a:t>- 275 </a:t>
            </a:r>
            <a:r>
              <a:rPr lang="en-US" sz="2000" dirty="0">
                <a:latin typeface="+mn-lt"/>
                <a:cs typeface="Times" pitchFamily="18" charset="0"/>
              </a:rPr>
              <a:t>Pre-Registered </a:t>
            </a:r>
            <a:r>
              <a:rPr lang="en-US" sz="2000" dirty="0" smtClean="0">
                <a:latin typeface="+mn-lt"/>
                <a:cs typeface="Times" pitchFamily="18" charset="0"/>
              </a:rPr>
              <a:t>Attendees</a:t>
            </a:r>
          </a:p>
          <a:p>
            <a:pPr lvl="1" eaLnBrk="1" hangingPunct="1"/>
            <a:r>
              <a:rPr lang="en-US" sz="2000" dirty="0" smtClean="0">
                <a:latin typeface="+mn-lt"/>
                <a:cs typeface="Times" pitchFamily="18" charset="0"/>
              </a:rPr>
              <a:t>- 181 Government / 18 Agencies </a:t>
            </a:r>
            <a:r>
              <a:rPr lang="en-US" sz="2000" dirty="0">
                <a:latin typeface="+mn-lt"/>
                <a:cs typeface="Times" pitchFamily="18" charset="0"/>
              </a:rPr>
              <a:t>including:</a:t>
            </a:r>
          </a:p>
          <a:p>
            <a:pPr lvl="1" eaLnBrk="1" hangingPunct="1"/>
            <a:endParaRPr lang="en-US" b="1" dirty="0">
              <a:latin typeface="Times New Roman" pitchFamily="18" charset="0"/>
            </a:endParaRPr>
          </a:p>
          <a:p>
            <a:pPr eaLnBrk="1" hangingPunct="1">
              <a:buFont typeface="Wingdings" pitchFamily="2" charset="2"/>
              <a:buChar char="§"/>
            </a:pPr>
            <a:endParaRPr lang="en-US" b="1" dirty="0">
              <a:latin typeface="Times New Roman" pitchFamily="18" charset="0"/>
            </a:endParaRPr>
          </a:p>
          <a:p>
            <a:pPr lvl="1" eaLnBrk="1" hangingPunct="1"/>
            <a:endParaRPr lang="en-US" sz="1800" b="1" dirty="0">
              <a:latin typeface="Times New Roman" pitchFamily="18" charset="0"/>
            </a:endParaRPr>
          </a:p>
        </p:txBody>
      </p:sp>
      <p:sp>
        <p:nvSpPr>
          <p:cNvPr id="3076" name="TextBox 3"/>
          <p:cNvSpPr txBox="1">
            <a:spLocks noChangeArrowheads="1"/>
          </p:cNvSpPr>
          <p:nvPr/>
        </p:nvSpPr>
        <p:spPr bwMode="auto">
          <a:xfrm>
            <a:off x="393700" y="2298700"/>
            <a:ext cx="8420100" cy="39703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200" b="1" dirty="0" smtClean="0">
                <a:latin typeface="+mn-lt"/>
              </a:rPr>
              <a:t>US Courts </a:t>
            </a:r>
            <a:r>
              <a:rPr lang="en-US" sz="2000" b="1" dirty="0" smtClean="0">
                <a:latin typeface="+mn-lt"/>
              </a:rPr>
              <a:t>– </a:t>
            </a:r>
            <a:r>
              <a:rPr lang="en-US" sz="2000" dirty="0" smtClean="0">
                <a:latin typeface="+mn-lt"/>
              </a:rPr>
              <a:t>38 Attendees</a:t>
            </a:r>
          </a:p>
          <a:p>
            <a:endParaRPr lang="en-US" sz="2000" b="1" dirty="0" smtClean="0">
              <a:latin typeface="+mn-lt"/>
            </a:endParaRPr>
          </a:p>
          <a:p>
            <a:r>
              <a:rPr lang="en-US" sz="2200" b="1" dirty="0" smtClean="0">
                <a:latin typeface="+mn-lt"/>
              </a:rPr>
              <a:t>DoD including Army, Navy, Air Force, DISA </a:t>
            </a:r>
            <a:r>
              <a:rPr lang="en-US" sz="2000" b="1" dirty="0" smtClean="0">
                <a:latin typeface="+mn-lt"/>
              </a:rPr>
              <a:t>– </a:t>
            </a:r>
            <a:r>
              <a:rPr lang="en-US" sz="2000" dirty="0" smtClean="0">
                <a:latin typeface="+mn-lt"/>
              </a:rPr>
              <a:t>35 Attendees</a:t>
            </a:r>
          </a:p>
          <a:p>
            <a:endParaRPr lang="en-US" sz="2000" b="1" dirty="0" smtClean="0">
              <a:latin typeface="+mn-lt"/>
            </a:endParaRPr>
          </a:p>
          <a:p>
            <a:r>
              <a:rPr lang="en-US" sz="2200" b="1" dirty="0" smtClean="0">
                <a:latin typeface="+mn-lt"/>
              </a:rPr>
              <a:t>NASA</a:t>
            </a:r>
            <a:r>
              <a:rPr lang="en-US" sz="2000" b="1" dirty="0" smtClean="0">
                <a:latin typeface="+mn-lt"/>
              </a:rPr>
              <a:t> – </a:t>
            </a:r>
            <a:r>
              <a:rPr lang="en-US" sz="2000" dirty="0" smtClean="0">
                <a:latin typeface="+mn-lt"/>
              </a:rPr>
              <a:t>35 Attendees</a:t>
            </a:r>
          </a:p>
          <a:p>
            <a:endParaRPr lang="en-US" sz="2000" b="1" dirty="0" smtClean="0">
              <a:latin typeface="+mn-lt"/>
            </a:endParaRPr>
          </a:p>
          <a:p>
            <a:r>
              <a:rPr lang="en-US" sz="2200" b="1" dirty="0" smtClean="0">
                <a:latin typeface="+mn-lt"/>
              </a:rPr>
              <a:t>Veterans Affairs </a:t>
            </a:r>
            <a:r>
              <a:rPr lang="en-US" sz="2000" b="1" dirty="0" smtClean="0">
                <a:latin typeface="+mn-lt"/>
              </a:rPr>
              <a:t>– </a:t>
            </a:r>
            <a:r>
              <a:rPr lang="en-US" sz="2000" dirty="0" smtClean="0">
                <a:latin typeface="+mn-lt"/>
              </a:rPr>
              <a:t>24 Attendees</a:t>
            </a:r>
          </a:p>
          <a:p>
            <a:endParaRPr lang="en-US" sz="2000" b="1" dirty="0" smtClean="0">
              <a:latin typeface="+mn-lt"/>
            </a:endParaRPr>
          </a:p>
          <a:p>
            <a:r>
              <a:rPr lang="en-US" sz="2200" b="1" dirty="0" smtClean="0">
                <a:latin typeface="+mn-lt"/>
              </a:rPr>
              <a:t>GSA</a:t>
            </a:r>
            <a:r>
              <a:rPr lang="en-US" sz="2000" b="1" dirty="0" smtClean="0">
                <a:latin typeface="+mn-lt"/>
              </a:rPr>
              <a:t> – </a:t>
            </a:r>
            <a:r>
              <a:rPr lang="en-US" sz="2000" dirty="0" smtClean="0">
                <a:latin typeface="+mn-lt"/>
              </a:rPr>
              <a:t>6 Attendees</a:t>
            </a:r>
          </a:p>
          <a:p>
            <a:endParaRPr lang="en-US" sz="2000" b="1" dirty="0" smtClean="0">
              <a:latin typeface="+mn-lt"/>
            </a:endParaRPr>
          </a:p>
          <a:p>
            <a:r>
              <a:rPr lang="en-US" sz="2200" b="1" dirty="0" smtClean="0">
                <a:latin typeface="+mn-lt"/>
              </a:rPr>
              <a:t>Others: </a:t>
            </a:r>
            <a:r>
              <a:rPr lang="en-US" sz="2000" dirty="0" smtClean="0">
                <a:latin typeface="+mn-lt"/>
              </a:rPr>
              <a:t>Commerce, Energy, EOP, EPA, Federal Retirement Thrift Investment Board (FRTIB), GAO, Interior, Justice, NIH, USAID</a:t>
            </a:r>
            <a:endParaRPr lang="en-US" sz="2000" dirty="0">
              <a:latin typeface="+mn-l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Keypad Question</a:t>
            </a:r>
            <a:endParaRPr lang="en-US" dirty="0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395288" y="1606465"/>
            <a:ext cx="8329612" cy="3629199"/>
          </a:xfrm>
        </p:spPr>
        <p:txBody>
          <a:bodyPr/>
          <a:lstStyle/>
          <a:p>
            <a:pPr>
              <a:buNone/>
            </a:pPr>
            <a:r>
              <a:rPr lang="en-US" dirty="0" smtClean="0"/>
              <a:t>What has been your overall impression of the SEWP Program Office?</a:t>
            </a:r>
          </a:p>
          <a:p>
            <a:pPr lvl="1">
              <a:buNone/>
            </a:pPr>
            <a:endParaRPr lang="en-US" dirty="0" smtClean="0"/>
          </a:p>
          <a:p>
            <a:pPr lvl="1">
              <a:buNone/>
            </a:pPr>
            <a:r>
              <a:rPr lang="en-US" sz="2200" dirty="0" smtClean="0"/>
              <a:t>1 =&gt; Very Positive</a:t>
            </a:r>
          </a:p>
          <a:p>
            <a:pPr lvl="1">
              <a:buNone/>
            </a:pPr>
            <a:r>
              <a:rPr lang="en-US" sz="2200" dirty="0" smtClean="0"/>
              <a:t>2 =&gt; Somewhat Positive</a:t>
            </a:r>
          </a:p>
          <a:p>
            <a:pPr lvl="1">
              <a:buNone/>
            </a:pPr>
            <a:r>
              <a:rPr lang="en-US" sz="2200" dirty="0" smtClean="0"/>
              <a:t>3 =&gt; Neutral</a:t>
            </a:r>
          </a:p>
          <a:p>
            <a:pPr lvl="1">
              <a:buNone/>
            </a:pPr>
            <a:r>
              <a:rPr lang="en-US" sz="2200" dirty="0" smtClean="0"/>
              <a:t>4 =&gt; Somewhat Negative</a:t>
            </a:r>
          </a:p>
          <a:p>
            <a:pPr lvl="1">
              <a:buNone/>
            </a:pPr>
            <a:r>
              <a:rPr lang="en-US" sz="2200" dirty="0" smtClean="0"/>
              <a:t>5 =&gt; Very Negative</a:t>
            </a:r>
          </a:p>
          <a:p>
            <a:pPr lvl="1">
              <a:buNone/>
            </a:pPr>
            <a:r>
              <a:rPr lang="en-US" sz="2200" dirty="0" smtClean="0"/>
              <a:t>6 =&gt; Not Applicable</a:t>
            </a:r>
          </a:p>
          <a:p>
            <a:endParaRPr lang="en-US" dirty="0" smtClean="0"/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Keypad Question</a:t>
            </a:r>
            <a:endParaRPr lang="en-US" dirty="0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395288" y="1606465"/>
            <a:ext cx="8180387" cy="3629199"/>
          </a:xfrm>
        </p:spPr>
        <p:txBody>
          <a:bodyPr/>
          <a:lstStyle/>
          <a:p>
            <a:pPr>
              <a:buNone/>
            </a:pPr>
            <a:r>
              <a:rPr lang="en-US" dirty="0" smtClean="0"/>
              <a:t>What has been your overall impression of the SEWP Vendors?</a:t>
            </a:r>
          </a:p>
          <a:p>
            <a:pPr lvl="1">
              <a:buNone/>
            </a:pPr>
            <a:endParaRPr lang="en-US" dirty="0" smtClean="0"/>
          </a:p>
          <a:p>
            <a:pPr lvl="1">
              <a:buNone/>
            </a:pPr>
            <a:r>
              <a:rPr lang="en-US" sz="2200" dirty="0" smtClean="0"/>
              <a:t>1 =&gt; Very Positive</a:t>
            </a:r>
          </a:p>
          <a:p>
            <a:pPr lvl="1">
              <a:buNone/>
            </a:pPr>
            <a:r>
              <a:rPr lang="en-US" sz="2200" dirty="0" smtClean="0"/>
              <a:t>2 =&gt; Somewhat Positive</a:t>
            </a:r>
          </a:p>
          <a:p>
            <a:pPr lvl="1">
              <a:buNone/>
            </a:pPr>
            <a:r>
              <a:rPr lang="en-US" sz="2200" dirty="0" smtClean="0"/>
              <a:t>3 =&gt; Neutral</a:t>
            </a:r>
          </a:p>
          <a:p>
            <a:pPr lvl="1">
              <a:buNone/>
            </a:pPr>
            <a:r>
              <a:rPr lang="en-US" sz="2200" dirty="0" smtClean="0"/>
              <a:t>4 =&gt; Somewhat Negative</a:t>
            </a:r>
          </a:p>
          <a:p>
            <a:pPr lvl="1">
              <a:buNone/>
            </a:pPr>
            <a:r>
              <a:rPr lang="en-US" sz="2200" dirty="0" smtClean="0"/>
              <a:t>5 =&gt; Very Negative</a:t>
            </a:r>
          </a:p>
          <a:p>
            <a:pPr lvl="1">
              <a:buNone/>
            </a:pPr>
            <a:r>
              <a:rPr lang="en-US" sz="2200" dirty="0" smtClean="0"/>
              <a:t>6 =&gt; Not Applicable</a:t>
            </a:r>
          </a:p>
          <a:p>
            <a:endParaRPr lang="en-US" dirty="0" smtClean="0"/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0" y="6381750"/>
            <a:ext cx="757238" cy="476250"/>
          </a:xfrm>
          <a:prstGeom prst="rect">
            <a:avLst/>
          </a:prstGeom>
          <a:noFill/>
        </p:spPr>
        <p:txBody>
          <a:bodyPr/>
          <a:lstStyle/>
          <a:p>
            <a:fld id="{9E17BE92-8DFB-421C-BC94-D9EA0C66BB3D}" type="slidenum">
              <a:rPr lang="en-US" smtClean="0"/>
              <a:pPr/>
              <a:t>10</a:t>
            </a:fld>
            <a:endParaRPr lang="en-US" smtClean="0"/>
          </a:p>
        </p:txBody>
      </p:sp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indent="0" eaLnBrk="1" hangingPunct="1"/>
            <a:r>
              <a:rPr lang="en-US" smtClean="0"/>
              <a:t>SEWP Program Overview</a:t>
            </a:r>
          </a:p>
        </p:txBody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5763" y="1335088"/>
            <a:ext cx="8237537" cy="2886075"/>
          </a:xfrm>
        </p:spPr>
        <p:txBody>
          <a:bodyPr/>
          <a:lstStyle/>
          <a:p>
            <a:pPr eaLnBrk="1" hangingPunct="1"/>
            <a:r>
              <a:rPr lang="en-US" sz="2800" dirty="0" smtClean="0"/>
              <a:t>SEWP: Solutions for Enterprise-Wide Procurement</a:t>
            </a:r>
          </a:p>
          <a:p>
            <a:pPr lvl="1" eaLnBrk="1" hangingPunct="1"/>
            <a:r>
              <a:rPr lang="en-US" sz="2000" dirty="0" smtClean="0"/>
              <a:t>NASA-Wide IDIQ Contract Vehicle for purchase of  IT Product solutions</a:t>
            </a:r>
          </a:p>
          <a:p>
            <a:pPr lvl="1" eaLnBrk="1" hangingPunct="1"/>
            <a:r>
              <a:rPr lang="en-US" sz="2000" dirty="0" smtClean="0"/>
              <a:t>Authorized by OMB as a Government-Wide Acquisition Contract</a:t>
            </a:r>
          </a:p>
          <a:p>
            <a:pPr eaLnBrk="1" hangingPunct="1"/>
            <a:r>
              <a:rPr lang="en-US" sz="2800" dirty="0" smtClean="0"/>
              <a:t>Program is 19 years old</a:t>
            </a:r>
          </a:p>
          <a:p>
            <a:pPr lvl="1" eaLnBrk="1" hangingPunct="1"/>
            <a:r>
              <a:rPr lang="en-US" sz="2000" dirty="0" smtClean="0"/>
              <a:t>Version IV started in May 2007</a:t>
            </a:r>
          </a:p>
          <a:p>
            <a:pPr lvl="1" eaLnBrk="1" hangingPunct="1"/>
            <a:r>
              <a:rPr lang="en-US" sz="2000" dirty="0" smtClean="0"/>
              <a:t>FY11 Government-Wide: 24,000 Delivery Orders worth over $2.3 Billion</a:t>
            </a:r>
          </a:p>
          <a:p>
            <a:pPr lvl="1" eaLnBrk="1" hangingPunct="1"/>
            <a:r>
              <a:rPr lang="en-US" sz="2000" dirty="0" smtClean="0"/>
              <a:t>70 Agencies / Over 10,000 customers in past year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Keypad Question</a:t>
            </a:r>
            <a:endParaRPr lang="en-US" dirty="0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357188" y="1246314"/>
            <a:ext cx="8180387" cy="3257302"/>
          </a:xfrm>
        </p:spPr>
        <p:txBody>
          <a:bodyPr/>
          <a:lstStyle/>
          <a:p>
            <a:pPr>
              <a:buNone/>
            </a:pPr>
            <a:r>
              <a:rPr lang="en-US" dirty="0" smtClean="0"/>
              <a:t>What milestone will SEWP IV reach this year?</a:t>
            </a:r>
          </a:p>
          <a:p>
            <a:pPr lvl="1">
              <a:buNone/>
            </a:pPr>
            <a:endParaRPr lang="en-US" dirty="0" smtClean="0"/>
          </a:p>
          <a:p>
            <a:pPr lvl="1">
              <a:buNone/>
            </a:pPr>
            <a:r>
              <a:rPr lang="en-US" sz="2200" dirty="0" smtClean="0"/>
              <a:t>1 =&gt; </a:t>
            </a:r>
            <a:r>
              <a:rPr lang="en-US" sz="2400" dirty="0" smtClean="0"/>
              <a:t>10</a:t>
            </a:r>
            <a:r>
              <a:rPr lang="en-US" sz="2400" baseline="30000" dirty="0" smtClean="0"/>
              <a:t>th</a:t>
            </a:r>
            <a:r>
              <a:rPr lang="en-US" sz="2400" dirty="0" smtClean="0"/>
              <a:t> Year</a:t>
            </a:r>
            <a:endParaRPr lang="en-US" sz="2200" dirty="0" smtClean="0"/>
          </a:p>
          <a:p>
            <a:pPr lvl="1">
              <a:buNone/>
            </a:pPr>
            <a:r>
              <a:rPr lang="en-US" sz="2200" dirty="0" smtClean="0"/>
              <a:t>2 =&gt; </a:t>
            </a:r>
            <a:r>
              <a:rPr lang="en-US" sz="2400" dirty="0" smtClean="0"/>
              <a:t>1 Million Customers</a:t>
            </a:r>
            <a:endParaRPr lang="en-US" sz="2200" dirty="0" smtClean="0"/>
          </a:p>
          <a:p>
            <a:pPr lvl="1">
              <a:buNone/>
            </a:pPr>
            <a:r>
              <a:rPr lang="en-US" sz="2200" dirty="0" smtClean="0"/>
              <a:t>3 =&gt; </a:t>
            </a:r>
            <a:r>
              <a:rPr lang="en-US" sz="2400" dirty="0" smtClean="0"/>
              <a:t>$10 Billion in Sales</a:t>
            </a:r>
            <a:endParaRPr lang="en-US" sz="2200" dirty="0" smtClean="0"/>
          </a:p>
          <a:p>
            <a:pPr lvl="1">
              <a:buNone/>
            </a:pPr>
            <a:r>
              <a:rPr lang="en-US" sz="2200" dirty="0" smtClean="0"/>
              <a:t>4 =&gt; </a:t>
            </a:r>
            <a:r>
              <a:rPr lang="en-US" sz="2400" dirty="0" smtClean="0"/>
              <a:t>100 Delivery Orders</a:t>
            </a:r>
          </a:p>
          <a:p>
            <a:pPr lvl="1">
              <a:buNone/>
            </a:pPr>
            <a:r>
              <a:rPr lang="en-US" sz="2400" dirty="0" smtClean="0"/>
              <a:t>5 =&gt; $100 Million in Sales</a:t>
            </a:r>
            <a:endParaRPr lang="en-US" sz="2200" dirty="0" smtClean="0"/>
          </a:p>
          <a:p>
            <a:endParaRPr lang="en-US" dirty="0" smtClean="0"/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Product Solution Contracts</a:t>
            </a:r>
            <a:endParaRPr lang="en-US" dirty="0"/>
          </a:p>
        </p:txBody>
      </p:sp>
      <p:sp>
        <p:nvSpPr>
          <p:cNvPr id="14339" name="Content Placeholder 2"/>
          <p:cNvSpPr>
            <a:spLocks noGrp="1"/>
          </p:cNvSpPr>
          <p:nvPr>
            <p:ph idx="1"/>
          </p:nvPr>
        </p:nvSpPr>
        <p:spPr>
          <a:xfrm>
            <a:off x="423862" y="1164519"/>
            <a:ext cx="7500937" cy="5514330"/>
          </a:xfrm>
        </p:spPr>
        <p:txBody>
          <a:bodyPr/>
          <a:lstStyle/>
          <a:p>
            <a:r>
              <a:rPr lang="en-US" dirty="0" smtClean="0"/>
              <a:t>Emphasis on Product and Product Based Services</a:t>
            </a:r>
          </a:p>
          <a:p>
            <a:r>
              <a:rPr lang="en-US" dirty="0" smtClean="0"/>
              <a:t>Broad Scope</a:t>
            </a:r>
          </a:p>
          <a:p>
            <a:pPr lvl="1"/>
            <a:r>
              <a:rPr lang="en-US" dirty="0" smtClean="0"/>
              <a:t>IT Hardware and software</a:t>
            </a:r>
          </a:p>
          <a:p>
            <a:pPr lvl="1"/>
            <a:r>
              <a:rPr lang="en-US" dirty="0" smtClean="0"/>
              <a:t>Audio-visual / Conferencing</a:t>
            </a:r>
          </a:p>
          <a:p>
            <a:pPr lvl="1"/>
            <a:r>
              <a:rPr lang="en-US" dirty="0" smtClean="0"/>
              <a:t>Product based services</a:t>
            </a:r>
          </a:p>
          <a:p>
            <a:pPr lvl="2"/>
            <a:r>
              <a:rPr lang="en-US" dirty="0" smtClean="0"/>
              <a:t>Warranty and maintenance</a:t>
            </a:r>
          </a:p>
          <a:p>
            <a:pPr lvl="2"/>
            <a:r>
              <a:rPr lang="en-US" dirty="0" smtClean="0"/>
              <a:t>Training</a:t>
            </a:r>
          </a:p>
          <a:p>
            <a:pPr lvl="2"/>
            <a:r>
              <a:rPr lang="en-US" dirty="0" smtClean="0"/>
              <a:t>Installation</a:t>
            </a:r>
          </a:p>
          <a:p>
            <a:pPr lvl="2"/>
            <a:r>
              <a:rPr lang="en-US" dirty="0" smtClean="0"/>
              <a:t>Site Survey</a:t>
            </a:r>
          </a:p>
          <a:p>
            <a:r>
              <a:rPr lang="en-US" dirty="0" smtClean="0"/>
              <a:t>Request Driven</a:t>
            </a:r>
          </a:p>
          <a:p>
            <a:pPr>
              <a:buFont typeface="Wingdings" pitchFamily="2" charset="2"/>
              <a:buNone/>
            </a:pPr>
            <a:endParaRPr lang="en-US" dirty="0" smtClean="0"/>
          </a:p>
          <a:p>
            <a:pPr>
              <a:buFont typeface="Wingdings" pitchFamily="2" charset="2"/>
              <a:buNone/>
            </a:pPr>
            <a:endParaRPr lang="en-US" dirty="0" smtClean="0"/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0" y="6381750"/>
            <a:ext cx="757238" cy="476250"/>
          </a:xfrm>
          <a:prstGeom prst="rect">
            <a:avLst/>
          </a:prstGeom>
          <a:noFill/>
        </p:spPr>
        <p:txBody>
          <a:bodyPr/>
          <a:lstStyle/>
          <a:p>
            <a:fld id="{85188709-BB74-4F28-8F55-280D2C3D8E6C}" type="slidenum">
              <a:rPr lang="en-US" smtClean="0"/>
              <a:pPr/>
              <a:t>13</a:t>
            </a:fld>
            <a:endParaRPr lang="en-US" smtClean="0"/>
          </a:p>
        </p:txBody>
      </p:sp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indent="0" eaLnBrk="1" hangingPunct="1"/>
            <a:r>
              <a:rPr lang="en-US" smtClean="0"/>
              <a:t>SEWP By The Numbers</a:t>
            </a:r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36563" y="1521780"/>
            <a:ext cx="8237537" cy="2757165"/>
          </a:xfrm>
        </p:spPr>
        <p:txBody>
          <a:bodyPr/>
          <a:lstStyle/>
          <a:p>
            <a:pPr eaLnBrk="1" hangingPunct="1"/>
            <a:r>
              <a:rPr lang="en-US" sz="2800" dirty="0" smtClean="0"/>
              <a:t>38 Competed Prime Contractors</a:t>
            </a:r>
          </a:p>
          <a:p>
            <a:pPr eaLnBrk="1" hangingPunct="1"/>
            <a:r>
              <a:rPr lang="en-US" sz="2800" dirty="0" smtClean="0"/>
              <a:t>4 8(a) Set aside Contractors</a:t>
            </a:r>
          </a:p>
          <a:p>
            <a:pPr eaLnBrk="1" hangingPunct="1"/>
            <a:r>
              <a:rPr lang="en-US" sz="2800" dirty="0" smtClean="0"/>
              <a:t>3800+ Manufacturers</a:t>
            </a:r>
          </a:p>
          <a:p>
            <a:pPr lvl="1" eaLnBrk="1" hangingPunct="1"/>
            <a:r>
              <a:rPr lang="en-US" sz="2000" dirty="0" smtClean="0"/>
              <a:t>Including Cisco, Sun, </a:t>
            </a:r>
            <a:r>
              <a:rPr lang="en-US" sz="2000" dirty="0" err="1" smtClean="0"/>
              <a:t>NetApp</a:t>
            </a:r>
            <a:r>
              <a:rPr lang="en-US" sz="2000" dirty="0" smtClean="0"/>
              <a:t>, EMC, APC,  Microsoft, Oracle, etc.</a:t>
            </a:r>
          </a:p>
          <a:p>
            <a:pPr eaLnBrk="1" hangingPunct="1"/>
            <a:r>
              <a:rPr lang="en-US" sz="2800" dirty="0" smtClean="0"/>
              <a:t>2+ Million Products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indent="0" eaLnBrk="1" hangingPunct="1"/>
            <a:r>
              <a:rPr lang="en-US" smtClean="0"/>
              <a:t>SEWP Program Office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>
          <a:xfrm>
            <a:off x="407987" y="1313607"/>
            <a:ext cx="8228013" cy="3129062"/>
          </a:xfrm>
          <a:solidFill>
            <a:schemeClr val="accent1">
              <a:alpha val="0"/>
            </a:schemeClr>
          </a:solidFill>
        </p:spPr>
        <p:txBody>
          <a:bodyPr/>
          <a:lstStyle/>
          <a:p>
            <a:pPr eaLnBrk="1" hangingPunct="1"/>
            <a:r>
              <a:rPr lang="en-US" sz="2800" dirty="0" smtClean="0"/>
              <a:t>Post Contract Award Management </a:t>
            </a:r>
          </a:p>
          <a:p>
            <a:pPr lvl="1" eaLnBrk="1" hangingPunct="1"/>
            <a:r>
              <a:rPr lang="en-US" sz="2400" b="1" dirty="0" smtClean="0"/>
              <a:t>4 civil servants</a:t>
            </a:r>
          </a:p>
          <a:p>
            <a:pPr lvl="2" eaLnBrk="1" hangingPunct="1"/>
            <a:r>
              <a:rPr lang="en-US" sz="2000" dirty="0" smtClean="0"/>
              <a:t>Program Manager</a:t>
            </a:r>
          </a:p>
          <a:p>
            <a:pPr lvl="2" eaLnBrk="1" hangingPunct="1"/>
            <a:r>
              <a:rPr lang="en-US" sz="2000" dirty="0" smtClean="0"/>
              <a:t>Deputy Program Manager</a:t>
            </a:r>
          </a:p>
          <a:p>
            <a:pPr lvl="2" eaLnBrk="1" hangingPunct="1"/>
            <a:r>
              <a:rPr lang="en-US" sz="2000" dirty="0" smtClean="0"/>
              <a:t>Financial Manager</a:t>
            </a:r>
          </a:p>
          <a:p>
            <a:pPr lvl="2" eaLnBrk="1" hangingPunct="1"/>
            <a:r>
              <a:rPr lang="en-US" sz="2000" dirty="0" smtClean="0"/>
              <a:t>Contracting Officer</a:t>
            </a:r>
          </a:p>
          <a:p>
            <a:pPr lvl="2" eaLnBrk="1" hangingPunct="1">
              <a:buNone/>
            </a:pPr>
            <a:endParaRPr lang="en-US" sz="2000" b="1" dirty="0" smtClean="0"/>
          </a:p>
          <a:p>
            <a:pPr lvl="1" eaLnBrk="1" hangingPunct="1"/>
            <a:r>
              <a:rPr lang="en-US" sz="2400" b="1" dirty="0" smtClean="0"/>
              <a:t>Contractor staff of over 35 personnel</a:t>
            </a:r>
          </a:p>
          <a:p>
            <a:pPr lvl="1" eaLnBrk="1" hangingPunct="1"/>
            <a:r>
              <a:rPr lang="en-US" sz="2400" b="1" dirty="0" smtClean="0"/>
              <a:t>Focus on customer support</a:t>
            </a:r>
          </a:p>
        </p:txBody>
      </p:sp>
      <p:sp>
        <p:nvSpPr>
          <p:cNvPr id="7172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0" y="6381750"/>
            <a:ext cx="757238" cy="476250"/>
          </a:xfrm>
          <a:prstGeom prst="rect">
            <a:avLst/>
          </a:prstGeom>
          <a:noFill/>
        </p:spPr>
        <p:txBody>
          <a:bodyPr/>
          <a:lstStyle/>
          <a:p>
            <a:fld id="{39A93FCC-28F2-4F3A-ADBB-625104B3E9E4}" type="slidenum">
              <a:rPr lang="en-US" smtClean="0"/>
              <a:pPr/>
              <a:t>14</a:t>
            </a:fld>
            <a:endParaRPr lang="en-US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0" y="6381750"/>
            <a:ext cx="757238" cy="476250"/>
          </a:xfrm>
          <a:prstGeom prst="rect">
            <a:avLst/>
          </a:prstGeom>
          <a:noFill/>
        </p:spPr>
        <p:txBody>
          <a:bodyPr/>
          <a:lstStyle/>
          <a:p>
            <a:fld id="{1742E348-7D4A-438E-840F-F79A80FE4827}" type="slidenum">
              <a:rPr lang="en-US" smtClean="0"/>
              <a:pPr/>
              <a:t>15</a:t>
            </a:fld>
            <a:endParaRPr lang="en-US" smtClean="0"/>
          </a:p>
        </p:txBody>
      </p:sp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indent="0" eaLnBrk="1" hangingPunct="1"/>
            <a:r>
              <a:rPr lang="en-US" smtClean="0"/>
              <a:t>SEWP Program Services</a:t>
            </a:r>
          </a:p>
        </p:txBody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74663" y="1247775"/>
            <a:ext cx="7383462" cy="4886325"/>
          </a:xfrm>
          <a:solidFill>
            <a:schemeClr val="accent1">
              <a:alpha val="0"/>
            </a:schemeClr>
          </a:solidFill>
        </p:spPr>
        <p:txBody>
          <a:bodyPr/>
          <a:lstStyle/>
          <a:p>
            <a:pPr eaLnBrk="1" hangingPunct="1">
              <a:lnSpc>
                <a:spcPct val="75000"/>
              </a:lnSpc>
              <a:spcBef>
                <a:spcPct val="40000"/>
              </a:spcBef>
            </a:pPr>
            <a:r>
              <a:rPr lang="en-US" sz="2800" dirty="0" smtClean="0"/>
              <a:t>Help Desk</a:t>
            </a:r>
          </a:p>
          <a:p>
            <a:pPr lvl="1" eaLnBrk="1" hangingPunct="1">
              <a:lnSpc>
                <a:spcPct val="75000"/>
              </a:lnSpc>
              <a:spcBef>
                <a:spcPct val="40000"/>
              </a:spcBef>
            </a:pPr>
            <a:r>
              <a:rPr lang="en-US" sz="2000" dirty="0" smtClean="0"/>
              <a:t>	Pre-order support</a:t>
            </a:r>
          </a:p>
          <a:p>
            <a:pPr lvl="1" eaLnBrk="1" hangingPunct="1">
              <a:lnSpc>
                <a:spcPct val="75000"/>
              </a:lnSpc>
              <a:spcBef>
                <a:spcPct val="40000"/>
              </a:spcBef>
            </a:pPr>
            <a:r>
              <a:rPr lang="en-US" sz="2000" dirty="0" smtClean="0"/>
              <a:t>	Order processing and support</a:t>
            </a:r>
          </a:p>
          <a:p>
            <a:pPr lvl="1" eaLnBrk="1" hangingPunct="1">
              <a:lnSpc>
                <a:spcPct val="75000"/>
              </a:lnSpc>
              <a:spcBef>
                <a:spcPct val="40000"/>
              </a:spcBef>
            </a:pPr>
            <a:r>
              <a:rPr lang="en-US" sz="2000" dirty="0" smtClean="0"/>
              <a:t>	Post-order support</a:t>
            </a:r>
          </a:p>
          <a:p>
            <a:pPr eaLnBrk="1" hangingPunct="1">
              <a:lnSpc>
                <a:spcPct val="75000"/>
              </a:lnSpc>
              <a:spcBef>
                <a:spcPct val="40000"/>
              </a:spcBef>
            </a:pPr>
            <a:r>
              <a:rPr lang="en-US" sz="2800" dirty="0" smtClean="0"/>
              <a:t>On-Line Information / Tools</a:t>
            </a:r>
            <a:r>
              <a:rPr lang="en-US" sz="2600" dirty="0" smtClean="0"/>
              <a:t> </a:t>
            </a:r>
          </a:p>
          <a:p>
            <a:pPr lvl="1" eaLnBrk="1" hangingPunct="1">
              <a:lnSpc>
                <a:spcPct val="75000"/>
              </a:lnSpc>
              <a:spcBef>
                <a:spcPct val="40000"/>
              </a:spcBef>
            </a:pPr>
            <a:r>
              <a:rPr lang="en-US" sz="2000" dirty="0" smtClean="0"/>
              <a:t>RFQ, Search, FAQs, etc</a:t>
            </a:r>
          </a:p>
          <a:p>
            <a:pPr eaLnBrk="1" hangingPunct="1">
              <a:lnSpc>
                <a:spcPct val="75000"/>
              </a:lnSpc>
              <a:spcBef>
                <a:spcPct val="40000"/>
              </a:spcBef>
            </a:pPr>
            <a:r>
              <a:rPr lang="en-US" sz="2800" dirty="0" smtClean="0"/>
              <a:t>Training</a:t>
            </a:r>
          </a:p>
          <a:p>
            <a:pPr lvl="1" eaLnBrk="1" hangingPunct="1">
              <a:lnSpc>
                <a:spcPct val="75000"/>
              </a:lnSpc>
              <a:spcBef>
                <a:spcPct val="40000"/>
              </a:spcBef>
            </a:pPr>
            <a:r>
              <a:rPr lang="en-US" sz="2000" dirty="0" smtClean="0"/>
              <a:t>Free on-site and web-based training on proper use of Contracts</a:t>
            </a:r>
          </a:p>
          <a:p>
            <a:pPr eaLnBrk="1" hangingPunct="1">
              <a:lnSpc>
                <a:spcPct val="75000"/>
              </a:lnSpc>
              <a:spcBef>
                <a:spcPct val="40000"/>
              </a:spcBef>
            </a:pPr>
            <a:r>
              <a:rPr lang="en-US" sz="2800" dirty="0" smtClean="0"/>
              <a:t>Outreach</a:t>
            </a:r>
          </a:p>
          <a:p>
            <a:pPr lvl="1" eaLnBrk="1" hangingPunct="1">
              <a:lnSpc>
                <a:spcPct val="75000"/>
              </a:lnSpc>
              <a:spcBef>
                <a:spcPct val="40000"/>
              </a:spcBef>
            </a:pPr>
            <a:r>
              <a:rPr lang="en-US" sz="2000" dirty="0" smtClean="0"/>
              <a:t>Meetings / Retreats / Conferences</a:t>
            </a:r>
          </a:p>
          <a:p>
            <a:pPr eaLnBrk="1" hangingPunct="1">
              <a:lnSpc>
                <a:spcPct val="75000"/>
              </a:lnSpc>
              <a:spcBef>
                <a:spcPct val="40000"/>
              </a:spcBef>
            </a:pPr>
            <a:r>
              <a:rPr lang="en-US" sz="2800" dirty="0" smtClean="0"/>
              <a:t>Order Processing/ Reports / Tracking</a:t>
            </a:r>
          </a:p>
          <a:p>
            <a:pPr eaLnBrk="1" hangingPunct="1">
              <a:lnSpc>
                <a:spcPct val="75000"/>
              </a:lnSpc>
              <a:spcBef>
                <a:spcPct val="40000"/>
              </a:spcBef>
            </a:pPr>
            <a:r>
              <a:rPr lang="en-US" sz="2800" dirty="0" smtClean="0"/>
              <a:t>Quality Assurance / Surveys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0" y="6381750"/>
            <a:ext cx="757238" cy="476250"/>
          </a:xfrm>
          <a:prstGeom prst="rect">
            <a:avLst/>
          </a:prstGeom>
          <a:noFill/>
        </p:spPr>
        <p:txBody>
          <a:bodyPr/>
          <a:lstStyle/>
          <a:p>
            <a:fld id="{88531AA7-B096-47A7-A645-660219E3510F}" type="slidenum">
              <a:rPr lang="en-US" smtClean="0"/>
              <a:pPr/>
              <a:t>16</a:t>
            </a:fld>
            <a:endParaRPr lang="en-US" smtClean="0"/>
          </a:p>
        </p:txBody>
      </p:sp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indent="0" eaLnBrk="1" hangingPunct="1"/>
            <a:r>
              <a:rPr lang="en-US" smtClean="0"/>
              <a:t>SEWP Success</a:t>
            </a:r>
          </a:p>
        </p:txBody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14338" y="1300163"/>
            <a:ext cx="8008937" cy="4694237"/>
          </a:xfrm>
          <a:solidFill>
            <a:schemeClr val="accent1">
              <a:alpha val="0"/>
            </a:schemeClr>
          </a:solidFill>
        </p:spPr>
        <p:txBody>
          <a:bodyPr/>
          <a:lstStyle/>
          <a:p>
            <a:pPr eaLnBrk="1" hangingPunct="1">
              <a:lnSpc>
                <a:spcPct val="75000"/>
              </a:lnSpc>
              <a:spcBef>
                <a:spcPct val="50000"/>
              </a:spcBef>
            </a:pPr>
            <a:r>
              <a:rPr lang="en-US" sz="2800" dirty="0" smtClean="0"/>
              <a:t>Large non-GSA Government-Wide Contract Vehicle</a:t>
            </a:r>
          </a:p>
          <a:p>
            <a:pPr lvl="1" eaLnBrk="1" hangingPunct="1">
              <a:lnSpc>
                <a:spcPct val="75000"/>
              </a:lnSpc>
              <a:spcBef>
                <a:spcPct val="50000"/>
              </a:spcBef>
            </a:pPr>
            <a:r>
              <a:rPr lang="en-US" sz="2000" dirty="0" smtClean="0"/>
              <a:t>Utilized by every Federal Agency</a:t>
            </a:r>
          </a:p>
          <a:p>
            <a:pPr eaLnBrk="1" hangingPunct="1">
              <a:lnSpc>
                <a:spcPct val="75000"/>
              </a:lnSpc>
              <a:spcBef>
                <a:spcPct val="50000"/>
              </a:spcBef>
            </a:pPr>
            <a:r>
              <a:rPr lang="en-US" sz="2800" dirty="0" smtClean="0"/>
              <a:t>Clean “Bill of Health” from </a:t>
            </a:r>
            <a:r>
              <a:rPr lang="en-US" sz="2800" dirty="0" err="1" smtClean="0"/>
              <a:t>DoD</a:t>
            </a:r>
            <a:r>
              <a:rPr lang="en-US" sz="2800" dirty="0" smtClean="0"/>
              <a:t> IG and GAO</a:t>
            </a:r>
          </a:p>
          <a:p>
            <a:pPr eaLnBrk="1" hangingPunct="1">
              <a:lnSpc>
                <a:spcPct val="75000"/>
              </a:lnSpc>
              <a:spcBef>
                <a:spcPct val="50000"/>
              </a:spcBef>
            </a:pPr>
            <a:r>
              <a:rPr lang="en-US" sz="2800" dirty="0" smtClean="0"/>
              <a:t>Lowest Service Fee in Government</a:t>
            </a:r>
          </a:p>
          <a:p>
            <a:pPr lvl="1" eaLnBrk="1" hangingPunct="1">
              <a:lnSpc>
                <a:spcPct val="75000"/>
              </a:lnSpc>
              <a:spcBef>
                <a:spcPct val="50000"/>
              </a:spcBef>
            </a:pPr>
            <a:r>
              <a:rPr lang="en-US" sz="2000" dirty="0" smtClean="0"/>
              <a:t>0.45% of order total (Typical fee is 0.75 to 1%)</a:t>
            </a:r>
            <a:endParaRPr lang="en-US" sz="2400" dirty="0" smtClean="0"/>
          </a:p>
          <a:p>
            <a:pPr eaLnBrk="1" hangingPunct="1">
              <a:lnSpc>
                <a:spcPct val="75000"/>
              </a:lnSpc>
              <a:spcBef>
                <a:spcPct val="50000"/>
              </a:spcBef>
            </a:pPr>
            <a:r>
              <a:rPr lang="en-US" sz="2800" dirty="0" smtClean="0"/>
              <a:t>Customer Service Survey by Outside Consultant</a:t>
            </a:r>
          </a:p>
          <a:p>
            <a:pPr lvl="1" eaLnBrk="1" hangingPunct="1">
              <a:lnSpc>
                <a:spcPct val="75000"/>
              </a:lnSpc>
              <a:spcBef>
                <a:spcPct val="50000"/>
              </a:spcBef>
            </a:pPr>
            <a:r>
              <a:rPr lang="en-US" sz="2000" dirty="0" smtClean="0"/>
              <a:t>93% satisfaction rating for customer service</a:t>
            </a:r>
          </a:p>
          <a:p>
            <a:pPr eaLnBrk="1" hangingPunct="1">
              <a:lnSpc>
                <a:spcPct val="75000"/>
              </a:lnSpc>
              <a:spcBef>
                <a:spcPct val="50000"/>
              </a:spcBef>
            </a:pPr>
            <a:r>
              <a:rPr lang="en-US" sz="2800" dirty="0" smtClean="0"/>
              <a:t>Can be leveraged by single customers; consolidated groups; up through CIO-level agency requirements</a:t>
            </a:r>
          </a:p>
          <a:p>
            <a:pPr lvl="1" eaLnBrk="1" hangingPunct="1">
              <a:lnSpc>
                <a:spcPct val="75000"/>
              </a:lnSpc>
              <a:spcBef>
                <a:spcPct val="50000"/>
              </a:spcBef>
            </a:pPr>
            <a:r>
              <a:rPr lang="en-US" sz="2000" dirty="0" smtClean="0"/>
              <a:t>Tracking, support, training, oversight, insight along with up to date IT product solutions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05639FA8-1EDB-47CC-AF6D-96879B0C6179}" type="slidenum">
              <a:rPr lang="en-US" smtClean="0"/>
              <a:pPr/>
              <a:t>17</a:t>
            </a:fld>
            <a:endParaRPr lang="en-US" smtClean="0"/>
          </a:p>
        </p:txBody>
      </p:sp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80513" cy="1123950"/>
          </a:xfrm>
        </p:spPr>
        <p:txBody>
          <a:bodyPr/>
          <a:lstStyle/>
          <a:p>
            <a:pPr indent="0" eaLnBrk="1" hangingPunct="1"/>
            <a:r>
              <a:rPr lang="en-US" smtClean="0"/>
              <a:t>Program Structure - Oversight</a:t>
            </a:r>
          </a:p>
        </p:txBody>
      </p:sp>
      <p:sp>
        <p:nvSpPr>
          <p:cNvPr id="9220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50838" y="1252538"/>
            <a:ext cx="7931150" cy="4927600"/>
          </a:xfrm>
          <a:solidFill>
            <a:schemeClr val="accent1">
              <a:alpha val="0"/>
            </a:schemeClr>
          </a:solidFill>
        </p:spPr>
        <p:txBody>
          <a:bodyPr/>
          <a:lstStyle/>
          <a:p>
            <a:pPr eaLnBrk="1" hangingPunct="1"/>
            <a:r>
              <a:rPr lang="en-US" altLang="en-US" sz="2800" dirty="0" smtClean="0"/>
              <a:t>NASA </a:t>
            </a:r>
          </a:p>
          <a:p>
            <a:pPr lvl="1" eaLnBrk="1" hangingPunct="1"/>
            <a:r>
              <a:rPr lang="en-US" altLang="en-US" sz="2000" dirty="0" smtClean="0"/>
              <a:t>Direct oversight: Part of the GSFC CIO Directorate</a:t>
            </a:r>
          </a:p>
          <a:p>
            <a:pPr lvl="1" eaLnBrk="1" hangingPunct="1"/>
            <a:r>
              <a:rPr lang="en-US" altLang="en-US" sz="2000" dirty="0" smtClean="0"/>
              <a:t>HQ oversight:</a:t>
            </a:r>
          </a:p>
          <a:p>
            <a:pPr lvl="2" eaLnBrk="1" hangingPunct="1"/>
            <a:r>
              <a:rPr lang="en-US" altLang="en-US" sz="1800" dirty="0" smtClean="0"/>
              <a:t>CIO</a:t>
            </a:r>
          </a:p>
          <a:p>
            <a:pPr lvl="2" eaLnBrk="1" hangingPunct="1"/>
            <a:r>
              <a:rPr lang="en-US" altLang="en-US" sz="1800" dirty="0" smtClean="0"/>
              <a:t>Financial Office</a:t>
            </a:r>
          </a:p>
          <a:p>
            <a:pPr eaLnBrk="1" hangingPunct="1"/>
            <a:r>
              <a:rPr lang="en-US" altLang="en-US" sz="2800" dirty="0" smtClean="0"/>
              <a:t>Other Government Entities</a:t>
            </a:r>
          </a:p>
          <a:p>
            <a:pPr lvl="1" eaLnBrk="1" hangingPunct="1"/>
            <a:r>
              <a:rPr lang="en-US" altLang="en-US" sz="2000" dirty="0" smtClean="0"/>
              <a:t>Office of Management and Budget (OMB)</a:t>
            </a:r>
          </a:p>
          <a:p>
            <a:pPr lvl="1" eaLnBrk="1" hangingPunct="1"/>
            <a:r>
              <a:rPr lang="en-US" altLang="en-US" sz="2000" dirty="0" smtClean="0"/>
              <a:t>Congress / General Accounting Office (GAO)</a:t>
            </a:r>
          </a:p>
          <a:p>
            <a:pPr lvl="1" eaLnBrk="1" hangingPunct="1"/>
            <a:r>
              <a:rPr lang="en-US" altLang="en-US" sz="2000" dirty="0" smtClean="0"/>
              <a:t>Inspector Generals Everywhere</a:t>
            </a:r>
          </a:p>
          <a:p>
            <a:pPr eaLnBrk="1" hangingPunct="1"/>
            <a:r>
              <a:rPr lang="en-US" altLang="en-US" sz="2800" dirty="0" smtClean="0"/>
              <a:t>Others</a:t>
            </a:r>
          </a:p>
          <a:p>
            <a:pPr lvl="1" eaLnBrk="1" hangingPunct="1"/>
            <a:r>
              <a:rPr lang="en-US" altLang="en-US" sz="2000" dirty="0" smtClean="0"/>
              <a:t>Press / Public</a:t>
            </a:r>
          </a:p>
          <a:p>
            <a:pPr lvl="1" eaLnBrk="1" hangingPunct="1"/>
            <a:r>
              <a:rPr lang="en-US" altLang="en-US" sz="2000" dirty="0" smtClean="0"/>
              <a:t>Industry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Keypad Question</a:t>
            </a:r>
            <a:endParaRPr lang="en-US" dirty="0"/>
          </a:p>
        </p:txBody>
      </p:sp>
      <p:sp>
        <p:nvSpPr>
          <p:cNvPr id="19459" name="Rectangle 3"/>
          <p:cNvSpPr>
            <a:spLocks noChangeArrowheads="1"/>
          </p:cNvSpPr>
          <p:nvPr/>
        </p:nvSpPr>
        <p:spPr bwMode="auto">
          <a:xfrm>
            <a:off x="350838" y="1219200"/>
            <a:ext cx="8386762" cy="4924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600" b="1" dirty="0" smtClean="0">
                <a:latin typeface="+mn-lt"/>
              </a:rPr>
              <a:t>(</a:t>
            </a:r>
            <a:r>
              <a:rPr lang="en-US" sz="2600" b="1" dirty="0" err="1" smtClean="0">
                <a:latin typeface="+mn-lt"/>
              </a:rPr>
              <a:t>Govt</a:t>
            </a:r>
            <a:r>
              <a:rPr lang="en-US" sz="2600" b="1" dirty="0" smtClean="0">
                <a:latin typeface="+mn-lt"/>
              </a:rPr>
              <a:t> Only) Select </a:t>
            </a:r>
            <a:r>
              <a:rPr lang="en-US" sz="2600" b="1" dirty="0">
                <a:latin typeface="+mn-lt"/>
              </a:rPr>
              <a:t>the top reason you have used </a:t>
            </a:r>
            <a:r>
              <a:rPr lang="en-US" sz="2600" b="1" dirty="0" smtClean="0">
                <a:latin typeface="+mn-lt"/>
              </a:rPr>
              <a:t>SEWP:</a:t>
            </a:r>
            <a:endParaRPr lang="en-US" sz="2600" b="1" dirty="0">
              <a:latin typeface="+mn-lt"/>
            </a:endParaRPr>
          </a:p>
          <a:p>
            <a:pPr>
              <a:buFont typeface="Wingdings" pitchFamily="2" charset="2"/>
              <a:buChar char="Ø"/>
              <a:defRPr/>
            </a:pPr>
            <a:endParaRPr lang="en-US" dirty="0">
              <a:latin typeface="+mn-lt"/>
            </a:endParaRPr>
          </a:p>
          <a:p>
            <a:pPr>
              <a:defRPr/>
            </a:pPr>
            <a:r>
              <a:rPr lang="en-US" dirty="0" smtClean="0">
                <a:latin typeface="+mn-lt"/>
              </a:rPr>
              <a:t>1 =&gt; Customer </a:t>
            </a:r>
            <a:r>
              <a:rPr lang="en-US" dirty="0">
                <a:latin typeface="+mn-lt"/>
              </a:rPr>
              <a:t>Service </a:t>
            </a:r>
            <a:endParaRPr lang="en-US" b="1" dirty="0">
              <a:latin typeface="+mn-lt"/>
            </a:endParaRPr>
          </a:p>
          <a:p>
            <a:pPr>
              <a:defRPr/>
            </a:pPr>
            <a:endParaRPr lang="en-US" dirty="0">
              <a:latin typeface="+mn-lt"/>
            </a:endParaRPr>
          </a:p>
          <a:p>
            <a:pPr>
              <a:defRPr/>
            </a:pPr>
            <a:r>
              <a:rPr lang="en-US" dirty="0" smtClean="0">
                <a:latin typeface="+mn-lt"/>
              </a:rPr>
              <a:t>2 =&gt; Available Technology</a:t>
            </a:r>
            <a:endParaRPr lang="en-US" b="1" dirty="0">
              <a:latin typeface="+mn-lt"/>
            </a:endParaRPr>
          </a:p>
          <a:p>
            <a:pPr>
              <a:buFont typeface="Wingdings" pitchFamily="2" charset="2"/>
              <a:buChar char="Ø"/>
              <a:defRPr/>
            </a:pPr>
            <a:endParaRPr lang="en-US" dirty="0">
              <a:latin typeface="+mn-lt"/>
            </a:endParaRPr>
          </a:p>
          <a:p>
            <a:pPr>
              <a:defRPr/>
            </a:pPr>
            <a:r>
              <a:rPr lang="en-US" dirty="0" smtClean="0">
                <a:latin typeface="+mn-lt"/>
              </a:rPr>
              <a:t>3 =&gt; Low </a:t>
            </a:r>
            <a:r>
              <a:rPr lang="en-US" dirty="0">
                <a:latin typeface="+mn-lt"/>
              </a:rPr>
              <a:t>Prices </a:t>
            </a:r>
            <a:endParaRPr lang="en-US" b="1" dirty="0">
              <a:latin typeface="+mn-lt"/>
            </a:endParaRPr>
          </a:p>
          <a:p>
            <a:pPr>
              <a:buFont typeface="Wingdings" pitchFamily="2" charset="2"/>
              <a:buChar char="Ø"/>
              <a:defRPr/>
            </a:pPr>
            <a:endParaRPr lang="en-US" dirty="0">
              <a:latin typeface="+mn-lt"/>
            </a:endParaRPr>
          </a:p>
          <a:p>
            <a:pPr>
              <a:defRPr/>
            </a:pPr>
            <a:r>
              <a:rPr lang="en-US" dirty="0" smtClean="0">
                <a:latin typeface="+mn-lt"/>
              </a:rPr>
              <a:t>4 =&gt; Low Fee</a:t>
            </a:r>
            <a:endParaRPr lang="en-US" b="1" dirty="0">
              <a:latin typeface="+mn-lt"/>
            </a:endParaRPr>
          </a:p>
          <a:p>
            <a:pPr>
              <a:buFont typeface="Wingdings" pitchFamily="2" charset="2"/>
              <a:buChar char="Ø"/>
              <a:defRPr/>
            </a:pPr>
            <a:endParaRPr lang="en-US" dirty="0">
              <a:latin typeface="+mn-lt"/>
            </a:endParaRPr>
          </a:p>
          <a:p>
            <a:pPr>
              <a:defRPr/>
            </a:pPr>
            <a:r>
              <a:rPr lang="en-US" dirty="0" smtClean="0">
                <a:latin typeface="+mn-lt"/>
              </a:rPr>
              <a:t>5 =&gt; Like </a:t>
            </a:r>
            <a:r>
              <a:rPr lang="en-US" dirty="0">
                <a:latin typeface="+mn-lt"/>
              </a:rPr>
              <a:t>the </a:t>
            </a:r>
            <a:r>
              <a:rPr lang="en-US" dirty="0" smtClean="0">
                <a:latin typeface="+mn-lt"/>
              </a:rPr>
              <a:t>Duck</a:t>
            </a:r>
            <a:endParaRPr lang="en-US" b="1" dirty="0">
              <a:latin typeface="+mn-lt"/>
            </a:endParaRPr>
          </a:p>
          <a:p>
            <a:pPr>
              <a:buFont typeface="Wingdings" pitchFamily="2" charset="2"/>
              <a:buChar char="Ø"/>
              <a:defRPr/>
            </a:pPr>
            <a:endParaRPr lang="en-US" dirty="0">
              <a:latin typeface="+mn-lt"/>
            </a:endParaRPr>
          </a:p>
          <a:p>
            <a:pPr>
              <a:defRPr/>
            </a:pPr>
            <a:r>
              <a:rPr lang="en-US" dirty="0" smtClean="0">
                <a:latin typeface="+mn-lt"/>
              </a:rPr>
              <a:t>6 =&gt; Ease </a:t>
            </a:r>
            <a:r>
              <a:rPr lang="en-US" dirty="0">
                <a:latin typeface="+mn-lt"/>
              </a:rPr>
              <a:t>of </a:t>
            </a:r>
            <a:r>
              <a:rPr lang="en-US" dirty="0" smtClean="0">
                <a:latin typeface="+mn-lt"/>
              </a:rPr>
              <a:t>Use</a:t>
            </a:r>
            <a:endParaRPr lang="en-US" b="1" dirty="0">
              <a:latin typeface="+mn-lt"/>
            </a:endParaRPr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Innovation</a:t>
            </a:r>
            <a:endParaRPr lang="en-US"/>
          </a:p>
        </p:txBody>
      </p:sp>
      <p:pic>
        <p:nvPicPr>
          <p:cNvPr id="4" name="Picture 4" descr="C:\Documents and Settings\jwoytek\My Documents\slides\Think-Outside-Bowl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26610" y="1270000"/>
            <a:ext cx="6841066" cy="5130800"/>
          </a:xfrm>
          <a:prstGeom prst="rect">
            <a:avLst/>
          </a:prstGeom>
          <a:noFill/>
        </p:spPr>
      </p:pic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Fourth SEWP Objective</a:t>
            </a:r>
            <a:endParaRPr lang="en-US" dirty="0"/>
          </a:p>
        </p:txBody>
      </p:sp>
      <p:sp>
        <p:nvSpPr>
          <p:cNvPr id="16387" name="Content Placeholder 2"/>
          <p:cNvSpPr>
            <a:spLocks noGrp="1"/>
          </p:cNvSpPr>
          <p:nvPr>
            <p:ph idx="1"/>
          </p:nvPr>
        </p:nvSpPr>
        <p:spPr>
          <a:xfrm>
            <a:off x="406400" y="1314450"/>
            <a:ext cx="8453438" cy="3744913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dirty="0" smtClean="0"/>
              <a:t>SEWP embraces innovative procurement transactions and processes.</a:t>
            </a:r>
          </a:p>
          <a:p>
            <a:r>
              <a:rPr lang="en-US" b="0" dirty="0" smtClean="0"/>
              <a:t>Automated processes</a:t>
            </a:r>
          </a:p>
          <a:p>
            <a:r>
              <a:rPr lang="en-US" b="0" dirty="0" smtClean="0"/>
              <a:t>One business day turn-around</a:t>
            </a:r>
          </a:p>
          <a:p>
            <a:r>
              <a:rPr lang="en-US" b="0" dirty="0" smtClean="0"/>
              <a:t>On-line tools</a:t>
            </a:r>
          </a:p>
          <a:p>
            <a:r>
              <a:rPr lang="en-US" b="0" dirty="0" smtClean="0"/>
              <a:t>Database driven</a:t>
            </a:r>
          </a:p>
          <a:p>
            <a:r>
              <a:rPr lang="en-US" b="0" dirty="0" smtClean="0"/>
              <a:t>Outreach</a:t>
            </a:r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Top 12 Reasons Customers Use SEWP</a:t>
            </a:r>
            <a:endParaRPr lang="en-US" dirty="0"/>
          </a:p>
        </p:txBody>
      </p:sp>
      <p:sp>
        <p:nvSpPr>
          <p:cNvPr id="19459" name="Content Placeholder 2"/>
          <p:cNvSpPr>
            <a:spLocks noGrp="1"/>
          </p:cNvSpPr>
          <p:nvPr>
            <p:ph idx="1"/>
          </p:nvPr>
        </p:nvSpPr>
        <p:spPr>
          <a:xfrm>
            <a:off x="527050" y="1570187"/>
            <a:ext cx="6438900" cy="3744615"/>
          </a:xfrm>
        </p:spPr>
        <p:txBody>
          <a:bodyPr/>
          <a:lstStyle/>
          <a:p>
            <a:r>
              <a:rPr lang="en-US" dirty="0" smtClean="0"/>
              <a:t>Speed </a:t>
            </a:r>
          </a:p>
          <a:p>
            <a:r>
              <a:rPr lang="en-US" dirty="0" smtClean="0"/>
              <a:t>New Product Availability</a:t>
            </a:r>
          </a:p>
          <a:p>
            <a:r>
              <a:rPr lang="en-US" dirty="0" smtClean="0"/>
              <a:t>Customer Service</a:t>
            </a:r>
          </a:p>
          <a:p>
            <a:r>
              <a:rPr lang="en-US" dirty="0" smtClean="0"/>
              <a:t>Tracking</a:t>
            </a:r>
          </a:p>
          <a:p>
            <a:r>
              <a:rPr lang="en-US" dirty="0" smtClean="0"/>
              <a:t>Assistance</a:t>
            </a:r>
          </a:p>
          <a:p>
            <a:r>
              <a:rPr lang="en-US" dirty="0" smtClean="0"/>
              <a:t>Low Price</a:t>
            </a:r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Top 12 Reasons Customers Use SEWP</a:t>
            </a:r>
            <a:endParaRPr lang="en-US" dirty="0"/>
          </a:p>
        </p:txBody>
      </p:sp>
      <p:sp>
        <p:nvSpPr>
          <p:cNvPr id="20483" name="Content Placeholder 2"/>
          <p:cNvSpPr>
            <a:spLocks noGrp="1"/>
          </p:cNvSpPr>
          <p:nvPr>
            <p:ph idx="1"/>
          </p:nvPr>
        </p:nvSpPr>
        <p:spPr>
          <a:xfrm>
            <a:off x="527050" y="1282700"/>
            <a:ext cx="7610475" cy="4479925"/>
          </a:xfrm>
        </p:spPr>
        <p:txBody>
          <a:bodyPr/>
          <a:lstStyle/>
          <a:p>
            <a:r>
              <a:rPr lang="en-US" dirty="0" smtClean="0"/>
              <a:t>Small Business and the availability of Service Disabled Veteran Owned Businesses (SDVOSB)</a:t>
            </a:r>
          </a:p>
          <a:p>
            <a:r>
              <a:rPr lang="en-US" dirty="0" smtClean="0"/>
              <a:t>Outstanding On-line Tool Set</a:t>
            </a:r>
          </a:p>
          <a:p>
            <a:r>
              <a:rPr lang="en-US" dirty="0" smtClean="0"/>
              <a:t>Outstanding Tools for Contract</a:t>
            </a:r>
          </a:p>
          <a:p>
            <a:r>
              <a:rPr lang="en-US" dirty="0" smtClean="0"/>
              <a:t>Government Oversight of the Entire Process</a:t>
            </a:r>
          </a:p>
          <a:p>
            <a:r>
              <a:rPr lang="en-US" dirty="0" smtClean="0"/>
              <a:t>Free On-site Training (plus a free on-line training video)</a:t>
            </a:r>
          </a:p>
          <a:p>
            <a:r>
              <a:rPr lang="en-US" dirty="0" smtClean="0"/>
              <a:t>Low Fee plus cap</a:t>
            </a:r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Recent Updates</a:t>
            </a:r>
            <a:endParaRPr lang="en-US" dirty="0"/>
          </a:p>
        </p:txBody>
      </p:sp>
      <p:sp>
        <p:nvSpPr>
          <p:cNvPr id="7171" name="Content Placeholder 3"/>
          <p:cNvSpPr>
            <a:spLocks noGrp="1"/>
          </p:cNvSpPr>
          <p:nvPr>
            <p:ph idx="1"/>
          </p:nvPr>
        </p:nvSpPr>
        <p:spPr>
          <a:xfrm>
            <a:off x="463550" y="1282936"/>
            <a:ext cx="8197850" cy="2577629"/>
          </a:xfrm>
        </p:spPr>
        <p:txBody>
          <a:bodyPr/>
          <a:lstStyle/>
          <a:p>
            <a:r>
              <a:rPr lang="en-US" dirty="0" smtClean="0"/>
              <a:t>Tactical </a:t>
            </a:r>
          </a:p>
          <a:p>
            <a:pPr lvl="1"/>
            <a:r>
              <a:rPr lang="en-US" dirty="0" smtClean="0"/>
              <a:t>New Quote Verification Tool</a:t>
            </a:r>
          </a:p>
          <a:p>
            <a:pPr lvl="1"/>
            <a:r>
              <a:rPr lang="en-US" dirty="0" smtClean="0"/>
              <a:t>Enhanced FAQ, User Portal</a:t>
            </a:r>
          </a:p>
          <a:p>
            <a:pPr lvl="1"/>
            <a:r>
              <a:rPr lang="en-US" dirty="0" smtClean="0"/>
              <a:t>Ticketing system</a:t>
            </a:r>
          </a:p>
          <a:p>
            <a:pPr lvl="1"/>
            <a:r>
              <a:rPr lang="en-US" dirty="0" smtClean="0"/>
              <a:t>PRISM Implementation – Social Security</a:t>
            </a:r>
          </a:p>
          <a:p>
            <a:pPr lvl="1"/>
            <a:r>
              <a:rPr lang="en-US" dirty="0" smtClean="0"/>
              <a:t>Contract modifications &amp; small business recertification</a:t>
            </a:r>
          </a:p>
          <a:p>
            <a:pPr lvl="1">
              <a:buFont typeface="Times" pitchFamily="18" charset="0"/>
              <a:buNone/>
            </a:pPr>
            <a:endParaRPr lang="en-US" dirty="0" smtClean="0"/>
          </a:p>
        </p:txBody>
      </p: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Recent Updates</a:t>
            </a:r>
            <a:endParaRPr lang="en-US" dirty="0"/>
          </a:p>
        </p:txBody>
      </p:sp>
      <p:sp>
        <p:nvSpPr>
          <p:cNvPr id="7171" name="Content Placeholder 3"/>
          <p:cNvSpPr>
            <a:spLocks noGrp="1"/>
          </p:cNvSpPr>
          <p:nvPr>
            <p:ph idx="1"/>
          </p:nvPr>
        </p:nvSpPr>
        <p:spPr>
          <a:xfrm>
            <a:off x="438150" y="1290267"/>
            <a:ext cx="8197850" cy="5001369"/>
          </a:xfrm>
        </p:spPr>
        <p:txBody>
          <a:bodyPr/>
          <a:lstStyle/>
          <a:p>
            <a:r>
              <a:rPr lang="en-US" dirty="0" smtClean="0"/>
              <a:t>Staff</a:t>
            </a:r>
          </a:p>
          <a:p>
            <a:pPr lvl="1"/>
            <a:r>
              <a:rPr lang="en-US" dirty="0" smtClean="0"/>
              <a:t>Several major new staff positions</a:t>
            </a:r>
          </a:p>
          <a:p>
            <a:pPr lvl="2"/>
            <a:r>
              <a:rPr lang="en-US" dirty="0" smtClean="0"/>
              <a:t>Customer Service and Order Processing Teams </a:t>
            </a:r>
          </a:p>
          <a:p>
            <a:pPr lvl="2"/>
            <a:r>
              <a:rPr lang="en-US" dirty="0" smtClean="0"/>
              <a:t>Technology Researcher</a:t>
            </a:r>
          </a:p>
          <a:p>
            <a:pPr lvl="2"/>
            <a:r>
              <a:rPr lang="en-US" dirty="0" smtClean="0"/>
              <a:t>Outreach Coordinator</a:t>
            </a:r>
          </a:p>
          <a:p>
            <a:pPr lvl="1"/>
            <a:r>
              <a:rPr lang="en-US" dirty="0" smtClean="0"/>
              <a:t>All CSRs are HDI (Help Desk Institute) certified</a:t>
            </a:r>
          </a:p>
          <a:p>
            <a:r>
              <a:rPr lang="en-US" dirty="0" smtClean="0"/>
              <a:t>Strategic Focus</a:t>
            </a:r>
          </a:p>
          <a:p>
            <a:pPr lvl="1"/>
            <a:r>
              <a:rPr lang="en-US" dirty="0" smtClean="0"/>
              <a:t>Solidifying back-office best practices and documentation</a:t>
            </a:r>
          </a:p>
          <a:p>
            <a:pPr lvl="1"/>
            <a:r>
              <a:rPr lang="en-US" dirty="0" smtClean="0"/>
              <a:t>Embracing Leadership Role within IT Acquisition Community</a:t>
            </a:r>
          </a:p>
          <a:p>
            <a:pPr lvl="1"/>
            <a:r>
              <a:rPr lang="en-US" dirty="0" smtClean="0"/>
              <a:t>Redefining SEWP’s Mission &amp; Vision </a:t>
            </a:r>
          </a:p>
          <a:p>
            <a:pPr lvl="1"/>
            <a:r>
              <a:rPr lang="en-US" dirty="0" smtClean="0"/>
              <a:t>Larger Strategic Role within Federal Agencies</a:t>
            </a:r>
          </a:p>
          <a:p>
            <a:pPr lvl="1"/>
            <a:r>
              <a:rPr lang="en-US" dirty="0" smtClean="0"/>
              <a:t>Providing more proactive support; e.g. market research assistance</a:t>
            </a:r>
          </a:p>
          <a:p>
            <a:pPr lvl="1">
              <a:buFont typeface="Times" pitchFamily="18" charset="0"/>
              <a:buNone/>
            </a:pPr>
            <a:endParaRPr lang="en-US" dirty="0" smtClean="0"/>
          </a:p>
        </p:txBody>
      </p:sp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Keypad Question</a:t>
            </a:r>
            <a:endParaRPr lang="en-US" dirty="0"/>
          </a:p>
        </p:txBody>
      </p:sp>
      <p:sp>
        <p:nvSpPr>
          <p:cNvPr id="10243" name="Content Placeholder 2"/>
          <p:cNvSpPr>
            <a:spLocks noGrp="1"/>
          </p:cNvSpPr>
          <p:nvPr>
            <p:ph idx="1"/>
          </p:nvPr>
        </p:nvSpPr>
        <p:spPr>
          <a:xfrm>
            <a:off x="382588" y="1646151"/>
            <a:ext cx="8088312" cy="3629199"/>
          </a:xfrm>
        </p:spPr>
        <p:txBody>
          <a:bodyPr/>
          <a:lstStyle/>
          <a:p>
            <a:pPr>
              <a:buNone/>
            </a:pPr>
            <a:r>
              <a:rPr lang="en-US" dirty="0" smtClean="0"/>
              <a:t>SEWP IV’s largest Agency usage in order:</a:t>
            </a:r>
          </a:p>
          <a:p>
            <a:pPr>
              <a:buNone/>
            </a:pPr>
            <a:endParaRPr lang="en-US" dirty="0" smtClean="0"/>
          </a:p>
          <a:p>
            <a:pPr lvl="1">
              <a:buNone/>
            </a:pPr>
            <a:r>
              <a:rPr lang="en-US" sz="2400" dirty="0" smtClean="0"/>
              <a:t>1 =&gt; Defense; NASA; VA; Justice</a:t>
            </a:r>
            <a:endParaRPr lang="en-US" sz="2400" b="1" dirty="0" smtClean="0"/>
          </a:p>
          <a:p>
            <a:pPr lvl="1">
              <a:buNone/>
            </a:pPr>
            <a:endParaRPr lang="en-US" sz="2400" b="1" dirty="0" smtClean="0"/>
          </a:p>
          <a:p>
            <a:pPr lvl="1">
              <a:buNone/>
            </a:pPr>
            <a:r>
              <a:rPr lang="en-US" sz="2400" dirty="0" smtClean="0"/>
              <a:t>2 =&gt; NASA; Defense; GSA; VA</a:t>
            </a:r>
            <a:endParaRPr lang="en-US" sz="2400" b="1" dirty="0" smtClean="0"/>
          </a:p>
          <a:p>
            <a:pPr lvl="1">
              <a:buNone/>
            </a:pPr>
            <a:endParaRPr lang="en-US" sz="2400" b="1" dirty="0" smtClean="0"/>
          </a:p>
          <a:p>
            <a:pPr lvl="1">
              <a:buNone/>
            </a:pPr>
            <a:r>
              <a:rPr lang="en-US" sz="2400" dirty="0" smtClean="0"/>
              <a:t>3 =&gt; Defense; VA ; Justice; NASA</a:t>
            </a:r>
            <a:endParaRPr lang="en-US" sz="2400" b="1" dirty="0" smtClean="0"/>
          </a:p>
          <a:p>
            <a:pPr lvl="1">
              <a:buNone/>
            </a:pPr>
            <a:endParaRPr lang="en-US" sz="2400" b="1" dirty="0" smtClean="0"/>
          </a:p>
          <a:p>
            <a:pPr lvl="1">
              <a:buNone/>
            </a:pPr>
            <a:r>
              <a:rPr lang="en-US" sz="2400" dirty="0" smtClean="0"/>
              <a:t>4 =&gt; GAO; Executive Office of the President; HUD; Peace Corps</a:t>
            </a:r>
            <a:endParaRPr lang="en-US" sz="2400" b="1" dirty="0" smtClean="0"/>
          </a:p>
        </p:txBody>
      </p: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Month by Month Usage 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6" name="Chart 5"/>
          <p:cNvGraphicFramePr>
            <a:graphicFrameLocks/>
          </p:cNvGraphicFramePr>
          <p:nvPr/>
        </p:nvGraphicFramePr>
        <p:xfrm>
          <a:off x="292100" y="1130300"/>
          <a:ext cx="8534400" cy="5461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Keypad Question</a:t>
            </a:r>
            <a:endParaRPr lang="en-US" dirty="0"/>
          </a:p>
        </p:txBody>
      </p:sp>
      <p:sp>
        <p:nvSpPr>
          <p:cNvPr id="10243" name="Content Placeholder 2"/>
          <p:cNvSpPr>
            <a:spLocks noGrp="1"/>
          </p:cNvSpPr>
          <p:nvPr>
            <p:ph idx="1"/>
          </p:nvPr>
        </p:nvSpPr>
        <p:spPr>
          <a:xfrm>
            <a:off x="547688" y="1236280"/>
            <a:ext cx="7224712" cy="4347344"/>
          </a:xfrm>
        </p:spPr>
        <p:txBody>
          <a:bodyPr/>
          <a:lstStyle/>
          <a:p>
            <a:pPr lvl="0">
              <a:buNone/>
            </a:pPr>
            <a:r>
              <a:rPr lang="en-US" dirty="0" smtClean="0"/>
              <a:t>How many wagons escorted the Liberty Bell on its return to Philadelphia from Allentown?:</a:t>
            </a:r>
          </a:p>
          <a:p>
            <a:pPr>
              <a:buNone/>
            </a:pPr>
            <a:endParaRPr lang="en-US" dirty="0" smtClean="0"/>
          </a:p>
          <a:p>
            <a:pPr lvl="1">
              <a:buNone/>
            </a:pPr>
            <a:r>
              <a:rPr lang="en-US" sz="2400" dirty="0" smtClean="0"/>
              <a:t>1 =&gt; 175 wagon caravan</a:t>
            </a:r>
            <a:endParaRPr lang="en-US" sz="2400" b="1" dirty="0" smtClean="0"/>
          </a:p>
          <a:p>
            <a:pPr lvl="1">
              <a:buNone/>
            </a:pPr>
            <a:endParaRPr lang="en-US" sz="2400" b="1" dirty="0" smtClean="0"/>
          </a:p>
          <a:p>
            <a:pPr lvl="1">
              <a:buNone/>
            </a:pPr>
            <a:r>
              <a:rPr lang="en-US" sz="2400" dirty="0" smtClean="0"/>
              <a:t>2 =&gt; 5 Duck powered wagons</a:t>
            </a:r>
            <a:endParaRPr lang="en-US" sz="2400" b="1" dirty="0" smtClean="0"/>
          </a:p>
          <a:p>
            <a:pPr lvl="1">
              <a:buNone/>
            </a:pPr>
            <a:endParaRPr lang="en-US" sz="2400" b="1" dirty="0" smtClean="0"/>
          </a:p>
          <a:p>
            <a:pPr lvl="1">
              <a:buNone/>
            </a:pPr>
            <a:r>
              <a:rPr lang="en-US" sz="2400" dirty="0" smtClean="0"/>
              <a:t>3 =&gt; 700 wagon caravan</a:t>
            </a:r>
            <a:endParaRPr lang="en-US" sz="2400" b="1" dirty="0" smtClean="0"/>
          </a:p>
          <a:p>
            <a:pPr lvl="1">
              <a:buNone/>
            </a:pPr>
            <a:endParaRPr lang="en-US" sz="2400" b="1" dirty="0" smtClean="0"/>
          </a:p>
          <a:p>
            <a:pPr lvl="1">
              <a:buNone/>
            </a:pPr>
            <a:r>
              <a:rPr lang="en-US" sz="2400" dirty="0" smtClean="0"/>
              <a:t>4 =&gt; 500 wagon caravan</a:t>
            </a:r>
            <a:endParaRPr lang="en-US" sz="2400" b="1" dirty="0" smtClean="0"/>
          </a:p>
          <a:p>
            <a:pPr lvl="1">
              <a:buNone/>
            </a:pPr>
            <a:endParaRPr lang="en-US" sz="2200" b="1" dirty="0" smtClean="0"/>
          </a:p>
        </p:txBody>
      </p:sp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Evening Dinner Event</a:t>
            </a:r>
            <a:endParaRPr lang="en-US" dirty="0"/>
          </a:p>
        </p:txBody>
      </p:sp>
      <p:sp>
        <p:nvSpPr>
          <p:cNvPr id="9219" name="Content Placeholder 2"/>
          <p:cNvSpPr>
            <a:spLocks noGrp="1"/>
          </p:cNvSpPr>
          <p:nvPr>
            <p:ph idx="1"/>
          </p:nvPr>
        </p:nvSpPr>
        <p:spPr>
          <a:xfrm>
            <a:off x="323850" y="1152525"/>
            <a:ext cx="8451850" cy="3436938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smtClean="0"/>
              <a:t>Lucky Strike Bowling / Dinner:</a:t>
            </a:r>
          </a:p>
          <a:p>
            <a:pPr>
              <a:buFont typeface="Wingdings" pitchFamily="2" charset="2"/>
              <a:buNone/>
            </a:pPr>
            <a:r>
              <a:rPr lang="en-US" b="0" smtClean="0"/>
              <a:t>	- Event Begins at 6:30pm, buses leave hotel at 6:15, 6:30 &amp; 6:45</a:t>
            </a:r>
          </a:p>
          <a:p>
            <a:pPr>
              <a:buFont typeface="Wingdings" pitchFamily="2" charset="2"/>
              <a:buNone/>
            </a:pPr>
            <a:r>
              <a:rPr lang="en-US" b="0" smtClean="0"/>
              <a:t>	- $20 fee includes buffet, full bar and unlimited bowling and billiards </a:t>
            </a:r>
          </a:p>
          <a:p>
            <a:pPr>
              <a:buFont typeface="Wingdings" pitchFamily="2" charset="2"/>
              <a:buNone/>
            </a:pPr>
            <a:r>
              <a:rPr lang="en-US" b="0" smtClean="0"/>
              <a:t>	- Buses leave Lucky Strike at 9:15, 9:30 &amp; 9:45</a:t>
            </a:r>
          </a:p>
          <a:p>
            <a:pPr>
              <a:buFont typeface="Wingdings" pitchFamily="2" charset="2"/>
              <a:buNone/>
            </a:pPr>
            <a:r>
              <a:rPr lang="en-US" b="0" smtClean="0"/>
              <a:t>	- Tickets available at Registration (Cash or Credit),cash only at door </a:t>
            </a:r>
          </a:p>
          <a:p>
            <a:pPr lvl="1">
              <a:buFont typeface="Times" pitchFamily="18" charset="0"/>
              <a:buNone/>
            </a:pPr>
            <a:endParaRPr lang="en-US" smtClean="0"/>
          </a:p>
        </p:txBody>
      </p:sp>
      <p:pic>
        <p:nvPicPr>
          <p:cNvPr id="9220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419725" y="4635500"/>
            <a:ext cx="2301875" cy="1943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21" name="Picture 6" descr="Lucky Strike Lane-Philadelphia, Philadelphia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30300" y="4676775"/>
            <a:ext cx="2857500" cy="190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indent="0" eaLnBrk="1" hangingPunct="1">
              <a:defRPr/>
            </a:pPr>
            <a:r>
              <a:rPr lang="en-US" smtClean="0"/>
              <a:t>Group A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033463" y="1352550"/>
            <a:ext cx="7075487" cy="342900"/>
          </a:xfrm>
          <a:solidFill>
            <a:schemeClr val="accent1">
              <a:alpha val="0"/>
            </a:schemeClr>
          </a:solidFill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dirty="0" smtClean="0">
                <a:latin typeface="Arial" pitchFamily="34" charset="0"/>
              </a:rPr>
              <a:t>Computer System OEMs and Value Added Resellers </a:t>
            </a:r>
            <a:endParaRPr lang="en-US" sz="2000" dirty="0" smtClean="0">
              <a:latin typeface="Arial" pitchFamily="34" charset="0"/>
            </a:endParaRPr>
          </a:p>
        </p:txBody>
      </p:sp>
      <p:graphicFrame>
        <p:nvGraphicFramePr>
          <p:cNvPr id="21784" name="Group 280"/>
          <p:cNvGraphicFramePr>
            <a:graphicFrameLocks noGrp="1"/>
          </p:cNvGraphicFramePr>
          <p:nvPr/>
        </p:nvGraphicFramePr>
        <p:xfrm>
          <a:off x="1828800" y="2095500"/>
          <a:ext cx="5191125" cy="4062414"/>
        </p:xfrm>
        <a:graphic>
          <a:graphicData uri="http://schemas.openxmlformats.org/drawingml/2006/table">
            <a:tbl>
              <a:tblPr/>
              <a:tblGrid>
                <a:gridCol w="2524125"/>
                <a:gridCol w="2667000"/>
              </a:tblGrid>
              <a:tr h="4508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ts val="2700"/>
                        </a:lnSpc>
                        <a:spcBef>
                          <a:spcPts val="26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Alliance Technology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ts val="2700"/>
                        </a:lnSpc>
                        <a:spcBef>
                          <a:spcPts val="26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 Woman Owned, 8(a)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08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ts val="2700"/>
                        </a:lnSpc>
                        <a:spcBef>
                          <a:spcPts val="26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Dell Federal Systems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ts val="2700"/>
                        </a:lnSpc>
                        <a:spcBef>
                          <a:spcPts val="26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24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ts val="2700"/>
                        </a:lnSpc>
                        <a:spcBef>
                          <a:spcPts val="26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Force 3, Inc.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ts val="2700"/>
                        </a:lnSpc>
                        <a:spcBef>
                          <a:spcPts val="26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Small, Minority-Owned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08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ts val="2700"/>
                        </a:lnSpc>
                        <a:spcBef>
                          <a:spcPts val="26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Four Points Tech.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ts val="2700"/>
                        </a:lnSpc>
                        <a:spcBef>
                          <a:spcPts val="26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SDVOSB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08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ts val="2700"/>
                        </a:lnSpc>
                        <a:spcBef>
                          <a:spcPts val="26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Hewlett Packard (HP)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ts val="2700"/>
                        </a:lnSpc>
                        <a:spcBef>
                          <a:spcPts val="26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24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ts val="2700"/>
                        </a:lnSpc>
                        <a:spcBef>
                          <a:spcPts val="26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IBM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ts val="2700"/>
                        </a:lnSpc>
                        <a:spcBef>
                          <a:spcPts val="26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08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ts val="2700"/>
                        </a:lnSpc>
                        <a:spcBef>
                          <a:spcPts val="26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PC Mall Gov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ts val="2700"/>
                        </a:lnSpc>
                        <a:spcBef>
                          <a:spcPts val="26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24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ts val="2700"/>
                        </a:lnSpc>
                        <a:spcBef>
                          <a:spcPts val="26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Silicon Graphics Fed.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ts val="2700"/>
                        </a:lnSpc>
                        <a:spcBef>
                          <a:spcPts val="26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08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ts val="2700"/>
                        </a:lnSpc>
                        <a:spcBef>
                          <a:spcPts val="26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Unisys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ts val="2700"/>
                        </a:lnSpc>
                        <a:spcBef>
                          <a:spcPts val="26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indent="0" eaLnBrk="1" hangingPunct="1">
              <a:defRPr/>
            </a:pPr>
            <a:r>
              <a:rPr lang="en-US" smtClean="0"/>
              <a:t>Group B: SDVOSB Set-Aside</a:t>
            </a:r>
          </a:p>
        </p:txBody>
      </p:sp>
      <p:sp>
        <p:nvSpPr>
          <p:cNvPr id="21507" name="Rectangle 8"/>
          <p:cNvSpPr>
            <a:spLocks noChangeArrowheads="1"/>
          </p:cNvSpPr>
          <p:nvPr/>
        </p:nvSpPr>
        <p:spPr bwMode="auto">
          <a:xfrm>
            <a:off x="931863" y="1254125"/>
            <a:ext cx="7280275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b="1">
                <a:solidFill>
                  <a:srgbClr val="000000"/>
                </a:solidFill>
                <a:latin typeface="Arial" charset="0"/>
              </a:rPr>
              <a:t>Service Disabled Veteran-Owned Small Business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b="1">
                <a:solidFill>
                  <a:srgbClr val="000000"/>
                </a:solidFill>
                <a:latin typeface="Arial" charset="0"/>
              </a:rPr>
              <a:t>		Value Added Resellers </a:t>
            </a:r>
          </a:p>
        </p:txBody>
      </p:sp>
      <p:graphicFrame>
        <p:nvGraphicFramePr>
          <p:cNvPr id="23580" name="Group 28"/>
          <p:cNvGraphicFramePr>
            <a:graphicFrameLocks noGrp="1"/>
          </p:cNvGraphicFramePr>
          <p:nvPr/>
        </p:nvGraphicFramePr>
        <p:xfrm>
          <a:off x="1778000" y="2387600"/>
          <a:ext cx="5270500" cy="2692400"/>
        </p:xfrm>
        <a:graphic>
          <a:graphicData uri="http://schemas.openxmlformats.org/drawingml/2006/table">
            <a:tbl>
              <a:tblPr/>
              <a:tblGrid>
                <a:gridCol w="2635250"/>
                <a:gridCol w="2635250"/>
              </a:tblGrid>
              <a:tr h="5207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ts val="2700"/>
                        </a:lnSpc>
                        <a:spcBef>
                          <a:spcPts val="26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Alvarez &amp; Associates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ts val="2700"/>
                        </a:lnSpc>
                        <a:spcBef>
                          <a:spcPts val="26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SDVOSB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87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ts val="2700"/>
                        </a:lnSpc>
                        <a:spcBef>
                          <a:spcPts val="26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FedStore</a:t>
                      </a: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 Corporation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ts val="2700"/>
                        </a:lnSpc>
                        <a:spcBef>
                          <a:spcPts val="26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SDVOSB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ts val="2700"/>
                        </a:lnSpc>
                        <a:spcBef>
                          <a:spcPts val="26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I3 Federal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ts val="2700"/>
                        </a:lnSpc>
                        <a:spcBef>
                          <a:spcPts val="26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SDVOSB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87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ts val="2700"/>
                        </a:lnSpc>
                        <a:spcBef>
                          <a:spcPts val="26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MicroTech</a:t>
                      </a: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 LLC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ts val="2700"/>
                        </a:lnSpc>
                        <a:spcBef>
                          <a:spcPts val="26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SDVOSB, 8(a)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ts val="2700"/>
                        </a:lnSpc>
                        <a:spcBef>
                          <a:spcPts val="26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Three Wire Systems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ts val="2700"/>
                        </a:lnSpc>
                        <a:spcBef>
                          <a:spcPts val="26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SDVOSB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ts val="2700"/>
                        </a:lnSpc>
                        <a:spcBef>
                          <a:spcPts val="26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ThunderCat</a:t>
                      </a: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 Technology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ts val="2700"/>
                        </a:lnSpc>
                        <a:spcBef>
                          <a:spcPts val="26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SDVOSB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indent="0" eaLnBrk="1" hangingPunct="1">
              <a:defRPr/>
            </a:pPr>
            <a:r>
              <a:rPr lang="en-US" smtClean="0"/>
              <a:t>Group C: Small Business Set-Aside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65150" y="1292225"/>
            <a:ext cx="7608888" cy="342900"/>
          </a:xfrm>
          <a:solidFill>
            <a:schemeClr val="accent1">
              <a:alpha val="0"/>
            </a:schemeClr>
          </a:solidFill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smtClean="0">
                <a:latin typeface="Arial" charset="0"/>
              </a:rPr>
              <a:t>Value Added Resellers</a:t>
            </a:r>
            <a:endParaRPr lang="en-US" sz="2000" smtClean="0">
              <a:latin typeface="Arial" charset="0"/>
            </a:endParaRPr>
          </a:p>
        </p:txBody>
      </p:sp>
      <p:graphicFrame>
        <p:nvGraphicFramePr>
          <p:cNvPr id="23699" name="Group 147"/>
          <p:cNvGraphicFramePr>
            <a:graphicFrameLocks noGrp="1"/>
          </p:cNvGraphicFramePr>
          <p:nvPr/>
        </p:nvGraphicFramePr>
        <p:xfrm>
          <a:off x="1047750" y="1806575"/>
          <a:ext cx="7048500" cy="4553712"/>
        </p:xfrm>
        <a:graphic>
          <a:graphicData uri="http://schemas.openxmlformats.org/drawingml/2006/table">
            <a:tbl>
              <a:tblPr/>
              <a:tblGrid>
                <a:gridCol w="3048000"/>
                <a:gridCol w="4000500"/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ts val="2700"/>
                        </a:lnSpc>
                        <a:spcBef>
                          <a:spcPts val="26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Affigent</a:t>
                      </a: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, LLC</a:t>
                      </a:r>
                    </a:p>
                  </a:txBody>
                  <a:tcPr marT="18288" marB="18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ts val="2700"/>
                        </a:lnSpc>
                        <a:spcBef>
                          <a:spcPts val="26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Small / 8(a) / Alaskan Native Co.</a:t>
                      </a:r>
                    </a:p>
                  </a:txBody>
                  <a:tcPr marT="18288" marB="18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ts val="2700"/>
                        </a:lnSpc>
                        <a:spcBef>
                          <a:spcPts val="26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Blue Tech, Inc.</a:t>
                      </a:r>
                    </a:p>
                  </a:txBody>
                  <a:tcPr marT="18288" marB="18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ts val="2700"/>
                        </a:lnSpc>
                        <a:spcBef>
                          <a:spcPts val="26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Small / 8(a) / Woman-Owned / </a:t>
                      </a:r>
                      <a:r>
                        <a:rPr kumimoji="0" lang="en-US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Hubzone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marT="18288" marB="18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90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ts val="2700"/>
                        </a:lnSpc>
                        <a:spcBef>
                          <a:spcPts val="26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CounterTrade Products</a:t>
                      </a:r>
                    </a:p>
                  </a:txBody>
                  <a:tcPr marT="18288" marB="18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ts val="2700"/>
                        </a:lnSpc>
                        <a:spcBef>
                          <a:spcPts val="26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Small / 8(a) / Woman-Owned</a:t>
                      </a:r>
                    </a:p>
                  </a:txBody>
                  <a:tcPr marT="18288" marB="18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ts val="2700"/>
                        </a:lnSpc>
                        <a:spcBef>
                          <a:spcPts val="26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FCN Technology</a:t>
                      </a:r>
                    </a:p>
                  </a:txBody>
                  <a:tcPr marT="18288" marB="18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ts val="2700"/>
                        </a:lnSpc>
                        <a:spcBef>
                          <a:spcPts val="26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Small / Woman-Owned</a:t>
                      </a:r>
                    </a:p>
                  </a:txBody>
                  <a:tcPr marT="18288" marB="18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90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ts val="2700"/>
                        </a:lnSpc>
                        <a:spcBef>
                          <a:spcPts val="26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GC Micro</a:t>
                      </a:r>
                    </a:p>
                  </a:txBody>
                  <a:tcPr marT="18288" marB="18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ts val="2700"/>
                        </a:lnSpc>
                        <a:spcBef>
                          <a:spcPts val="26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Small / Woman-Owned / Minority-Owned</a:t>
                      </a:r>
                    </a:p>
                  </a:txBody>
                  <a:tcPr marT="18288" marB="18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ts val="2700"/>
                        </a:lnSpc>
                        <a:spcBef>
                          <a:spcPts val="26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Intelligent Decisions</a:t>
                      </a:r>
                    </a:p>
                  </a:txBody>
                  <a:tcPr marT="18288" marB="18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ts val="2700"/>
                        </a:lnSpc>
                        <a:spcBef>
                          <a:spcPts val="26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Small / Minority-Owned</a:t>
                      </a:r>
                    </a:p>
                  </a:txBody>
                  <a:tcPr marT="18288" marB="18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90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ts val="2700"/>
                        </a:lnSpc>
                        <a:spcBef>
                          <a:spcPts val="26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iGov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marT="18288" marB="18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ts val="2700"/>
                        </a:lnSpc>
                        <a:spcBef>
                          <a:spcPts val="26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Small </a:t>
                      </a:r>
                    </a:p>
                  </a:txBody>
                  <a:tcPr marT="18288" marB="18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ts val="2700"/>
                        </a:lnSpc>
                        <a:spcBef>
                          <a:spcPts val="26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immixGroup</a:t>
                      </a:r>
                    </a:p>
                  </a:txBody>
                  <a:tcPr marT="18288" marB="18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ts val="2700"/>
                        </a:lnSpc>
                        <a:spcBef>
                          <a:spcPts val="26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Small </a:t>
                      </a:r>
                    </a:p>
                  </a:txBody>
                  <a:tcPr marT="18288" marB="18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90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ts val="2700"/>
                        </a:lnSpc>
                        <a:spcBef>
                          <a:spcPts val="26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Merlin International</a:t>
                      </a:r>
                    </a:p>
                  </a:txBody>
                  <a:tcPr marT="18288" marB="18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ts val="2700"/>
                        </a:lnSpc>
                        <a:spcBef>
                          <a:spcPts val="26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Small / 8(a) / Veteran-Owned</a:t>
                      </a:r>
                    </a:p>
                  </a:txBody>
                  <a:tcPr marT="18288" marB="18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ts val="2700"/>
                        </a:lnSpc>
                        <a:spcBef>
                          <a:spcPts val="26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Red River</a:t>
                      </a:r>
                    </a:p>
                  </a:txBody>
                  <a:tcPr marT="18288" marB="18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ts val="2700"/>
                        </a:lnSpc>
                        <a:spcBef>
                          <a:spcPts val="26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Small </a:t>
                      </a:r>
                    </a:p>
                  </a:txBody>
                  <a:tcPr marT="18288" marB="18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90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ts val="2700"/>
                        </a:lnSpc>
                        <a:spcBef>
                          <a:spcPts val="26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Sword and Shield</a:t>
                      </a:r>
                    </a:p>
                  </a:txBody>
                  <a:tcPr marT="18288" marB="18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ts val="2700"/>
                        </a:lnSpc>
                        <a:spcBef>
                          <a:spcPts val="26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Small </a:t>
                      </a:r>
                    </a:p>
                  </a:txBody>
                  <a:tcPr marT="18288" marB="18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ts val="2700"/>
                        </a:lnSpc>
                        <a:spcBef>
                          <a:spcPts val="26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Technica</a:t>
                      </a: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 Corporation</a:t>
                      </a:r>
                    </a:p>
                  </a:txBody>
                  <a:tcPr marT="18288" marB="18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ts val="2700"/>
                        </a:lnSpc>
                        <a:spcBef>
                          <a:spcPts val="26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Small / Veteran-Owned / Minority Owned</a:t>
                      </a:r>
                    </a:p>
                  </a:txBody>
                  <a:tcPr marT="18288" marB="182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>
          <a:xfrm>
            <a:off x="750888" y="0"/>
            <a:ext cx="8393112" cy="1123950"/>
          </a:xfrm>
        </p:spPr>
        <p:txBody>
          <a:bodyPr/>
          <a:lstStyle/>
          <a:p>
            <a:pPr indent="0" eaLnBrk="1" hangingPunct="1">
              <a:defRPr/>
            </a:pPr>
            <a:r>
              <a:rPr lang="en-US" smtClean="0"/>
              <a:t>Group D: Full and Open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706438" y="1236663"/>
            <a:ext cx="8207375" cy="342900"/>
          </a:xfrm>
          <a:solidFill>
            <a:schemeClr val="accent1">
              <a:alpha val="0"/>
            </a:schemeClr>
          </a:solidFill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smtClean="0">
                <a:latin typeface="Arial" charset="0"/>
              </a:rPr>
              <a:t>Value Added Resellers </a:t>
            </a:r>
            <a:endParaRPr lang="en-US" sz="2000" smtClean="0">
              <a:latin typeface="Arial" charset="0"/>
            </a:endParaRPr>
          </a:p>
        </p:txBody>
      </p:sp>
      <p:graphicFrame>
        <p:nvGraphicFramePr>
          <p:cNvPr id="24816" name="Group 240"/>
          <p:cNvGraphicFramePr>
            <a:graphicFrameLocks noGrp="1"/>
          </p:cNvGraphicFramePr>
          <p:nvPr/>
        </p:nvGraphicFramePr>
        <p:xfrm>
          <a:off x="622300" y="1666875"/>
          <a:ext cx="7899400" cy="4762500"/>
        </p:xfrm>
        <a:graphic>
          <a:graphicData uri="http://schemas.openxmlformats.org/drawingml/2006/table">
            <a:tbl>
              <a:tblPr/>
              <a:tblGrid>
                <a:gridCol w="3133725"/>
                <a:gridCol w="1704975"/>
                <a:gridCol w="3060700"/>
              </a:tblGrid>
              <a:tr h="2698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ts val="2500"/>
                        </a:lnSpc>
                        <a:spcBef>
                          <a:spcPts val="26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Best Buy, Gov LLC</a:t>
                      </a: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ts val="2500"/>
                        </a:lnSpc>
                        <a:spcBef>
                          <a:spcPts val="26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ts val="2500"/>
                        </a:lnSpc>
                        <a:spcBef>
                          <a:spcPts val="26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14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ts val="2500"/>
                        </a:lnSpc>
                        <a:spcBef>
                          <a:spcPts val="26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CDW*G</a:t>
                      </a: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ts val="2500"/>
                        </a:lnSpc>
                        <a:spcBef>
                          <a:spcPts val="26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ts val="2500"/>
                        </a:lnSpc>
                        <a:spcBef>
                          <a:spcPts val="26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14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ts val="2500"/>
                        </a:lnSpc>
                        <a:spcBef>
                          <a:spcPts val="26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CounterTrade Products</a:t>
                      </a: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ts val="2500"/>
                        </a:lnSpc>
                        <a:spcBef>
                          <a:spcPts val="26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(also Group C) </a:t>
                      </a: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ts val="2500"/>
                        </a:lnSpc>
                        <a:spcBef>
                          <a:spcPts val="26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Small 8(a) / Woman-Owned</a:t>
                      </a: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98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ts val="2500"/>
                        </a:lnSpc>
                        <a:spcBef>
                          <a:spcPts val="26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Emtec</a:t>
                      </a: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 Federal</a:t>
                      </a: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ts val="2500"/>
                        </a:lnSpc>
                        <a:spcBef>
                          <a:spcPts val="26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ts val="2500"/>
                        </a:lnSpc>
                        <a:spcBef>
                          <a:spcPts val="26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14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ts val="2500"/>
                        </a:lnSpc>
                        <a:spcBef>
                          <a:spcPts val="26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GovConnection</a:t>
                      </a: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, Inc.</a:t>
                      </a: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ts val="2500"/>
                        </a:lnSpc>
                        <a:spcBef>
                          <a:spcPts val="26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ts val="2500"/>
                        </a:lnSpc>
                        <a:spcBef>
                          <a:spcPts val="26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14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ts val="2500"/>
                        </a:lnSpc>
                        <a:spcBef>
                          <a:spcPts val="26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GTRI</a:t>
                      </a: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ts val="2500"/>
                        </a:lnSpc>
                        <a:spcBef>
                          <a:spcPts val="26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ts val="2500"/>
                        </a:lnSpc>
                        <a:spcBef>
                          <a:spcPts val="26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14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ts val="2500"/>
                        </a:lnSpc>
                        <a:spcBef>
                          <a:spcPts val="26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GTSI Corp.</a:t>
                      </a: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ts val="2500"/>
                        </a:lnSpc>
                        <a:spcBef>
                          <a:spcPts val="26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ts val="2500"/>
                        </a:lnSpc>
                        <a:spcBef>
                          <a:spcPts val="26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98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ts val="2500"/>
                        </a:lnSpc>
                        <a:spcBef>
                          <a:spcPts val="26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immixGroup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ts val="2500"/>
                        </a:lnSpc>
                        <a:spcBef>
                          <a:spcPts val="26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(also Group C)</a:t>
                      </a: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ts val="2500"/>
                        </a:lnSpc>
                        <a:spcBef>
                          <a:spcPts val="26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Small</a:t>
                      </a: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14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ts val="2500"/>
                        </a:lnSpc>
                        <a:spcBef>
                          <a:spcPts val="26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Iron Bow Technologies</a:t>
                      </a: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ts val="2500"/>
                        </a:lnSpc>
                        <a:spcBef>
                          <a:spcPts val="26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ts val="2500"/>
                        </a:lnSpc>
                        <a:spcBef>
                          <a:spcPts val="26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14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ts val="2500"/>
                        </a:lnSpc>
                        <a:spcBef>
                          <a:spcPts val="26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PC Mall Gov</a:t>
                      </a: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ts val="2500"/>
                        </a:lnSpc>
                        <a:spcBef>
                          <a:spcPts val="26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(also Group A)</a:t>
                      </a: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ts val="2500"/>
                        </a:lnSpc>
                        <a:spcBef>
                          <a:spcPts val="26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14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ts val="2500"/>
                        </a:lnSpc>
                        <a:spcBef>
                          <a:spcPts val="26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Presidio</a:t>
                      </a: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ts val="2500"/>
                        </a:lnSpc>
                        <a:spcBef>
                          <a:spcPts val="26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ts val="2500"/>
                        </a:lnSpc>
                        <a:spcBef>
                          <a:spcPts val="26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14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ts val="2500"/>
                        </a:lnSpc>
                        <a:spcBef>
                          <a:spcPts val="26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Ricoh Americas Corp.</a:t>
                      </a: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ts val="2500"/>
                        </a:lnSpc>
                        <a:spcBef>
                          <a:spcPts val="26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ts val="2500"/>
                        </a:lnSpc>
                        <a:spcBef>
                          <a:spcPts val="26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14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ts val="2500"/>
                        </a:lnSpc>
                        <a:spcBef>
                          <a:spcPts val="26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SoftChoice</a:t>
                      </a: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 Corp.</a:t>
                      </a: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ts val="2500"/>
                        </a:lnSpc>
                        <a:spcBef>
                          <a:spcPts val="26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ts val="2500"/>
                        </a:lnSpc>
                        <a:spcBef>
                          <a:spcPts val="26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14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ts val="2500"/>
                        </a:lnSpc>
                        <a:spcBef>
                          <a:spcPts val="26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Unisys</a:t>
                      </a: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ts val="2500"/>
                        </a:lnSpc>
                        <a:spcBef>
                          <a:spcPts val="26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(also Group A)</a:t>
                      </a: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ts val="2500"/>
                        </a:lnSpc>
                        <a:spcBef>
                          <a:spcPts val="26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ts val="2500"/>
                        </a:lnSpc>
                        <a:spcBef>
                          <a:spcPts val="26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WWT</a:t>
                      </a: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ts val="2500"/>
                        </a:lnSpc>
                        <a:spcBef>
                          <a:spcPts val="26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ts val="2500"/>
                        </a:lnSpc>
                        <a:spcBef>
                          <a:spcPts val="26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444500" y="0"/>
            <a:ext cx="8680450" cy="1123950"/>
          </a:xfrm>
        </p:spPr>
        <p:txBody>
          <a:bodyPr/>
          <a:lstStyle/>
          <a:p>
            <a:pPr indent="0" algn="ctr" eaLnBrk="1" hangingPunct="1">
              <a:defRPr/>
            </a:pPr>
            <a:r>
              <a:rPr lang="en-US" dirty="0" smtClean="0"/>
              <a:t>Group E: 8a Set-Asides (non-competed)</a:t>
            </a:r>
          </a:p>
        </p:txBody>
      </p:sp>
      <p:sp>
        <p:nvSpPr>
          <p:cNvPr id="12291" name="Text Box 3"/>
          <p:cNvSpPr txBox="1">
            <a:spLocks noChangeArrowheads="1"/>
          </p:cNvSpPr>
          <p:nvPr/>
        </p:nvSpPr>
        <p:spPr bwMode="auto">
          <a:xfrm>
            <a:off x="2125663" y="1701800"/>
            <a:ext cx="504348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2292" name="Rectangle 4"/>
          <p:cNvSpPr>
            <a:spLocks noChangeArrowheads="1"/>
          </p:cNvSpPr>
          <p:nvPr/>
        </p:nvSpPr>
        <p:spPr bwMode="auto">
          <a:xfrm>
            <a:off x="650875" y="1341438"/>
            <a:ext cx="7037388" cy="1460500"/>
          </a:xfrm>
          <a:prstGeom prst="rect">
            <a:avLst/>
          </a:prstGeom>
          <a:solidFill>
            <a:schemeClr val="accent1">
              <a:alpha val="0"/>
            </a:schemeClr>
          </a:solidFill>
          <a:ln w="12700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342900" indent="-342900" eaLnBrk="1" hangingPunct="1">
              <a:lnSpc>
                <a:spcPts val="2700"/>
              </a:lnSpc>
              <a:spcBef>
                <a:spcPts val="2600"/>
              </a:spcBef>
              <a:buClr>
                <a:schemeClr val="tx1"/>
              </a:buClr>
              <a:buFont typeface="Wingdings" pitchFamily="2" charset="2"/>
              <a:buChar char="Ø"/>
            </a:pPr>
            <a:r>
              <a:rPr lang="en-US" sz="2800" b="1">
                <a:latin typeface="Arial Narrow" pitchFamily="34" charset="0"/>
              </a:rPr>
              <a:t>Non-Competed 8(a) Set-aside Contracts</a:t>
            </a:r>
          </a:p>
          <a:p>
            <a:pPr marL="742950" lvl="1" indent="-285750" eaLnBrk="1" hangingPunct="1">
              <a:lnSpc>
                <a:spcPts val="2000"/>
              </a:lnSpc>
              <a:spcBef>
                <a:spcPts val="900"/>
              </a:spcBef>
              <a:buClr>
                <a:schemeClr val="tx1"/>
              </a:buClr>
              <a:buFont typeface="Times" pitchFamily="18" charset="0"/>
              <a:buChar char="•"/>
            </a:pPr>
            <a:r>
              <a:rPr lang="en-US" sz="1800">
                <a:latin typeface="Arial Narrow" pitchFamily="34" charset="0"/>
              </a:rPr>
              <a:t>Complement Prime Vendor (competed) contracts</a:t>
            </a:r>
          </a:p>
          <a:p>
            <a:pPr marL="742950" lvl="1" indent="-285750" eaLnBrk="1" hangingPunct="1">
              <a:lnSpc>
                <a:spcPts val="2000"/>
              </a:lnSpc>
              <a:spcBef>
                <a:spcPts val="900"/>
              </a:spcBef>
              <a:buClr>
                <a:schemeClr val="tx1"/>
              </a:buClr>
              <a:buFont typeface="Times" pitchFamily="18" charset="0"/>
              <a:buChar char="•"/>
            </a:pPr>
            <a:r>
              <a:rPr lang="en-US" sz="1800">
                <a:latin typeface="Arial Narrow" pitchFamily="34" charset="0"/>
              </a:rPr>
              <a:t>Primarily product based services</a:t>
            </a:r>
          </a:p>
          <a:p>
            <a:pPr marL="742950" lvl="1" indent="-285750" eaLnBrk="1" hangingPunct="1">
              <a:lnSpc>
                <a:spcPts val="2000"/>
              </a:lnSpc>
              <a:spcBef>
                <a:spcPts val="900"/>
              </a:spcBef>
              <a:buClr>
                <a:schemeClr val="tx1"/>
              </a:buClr>
              <a:buFont typeface="Times" pitchFamily="18" charset="0"/>
              <a:buChar char="•"/>
            </a:pPr>
            <a:r>
              <a:rPr lang="en-US" sz="1800">
                <a:latin typeface="Arial Narrow" pitchFamily="34" charset="0"/>
              </a:rPr>
              <a:t>Limited to $4.0 million per contract</a:t>
            </a:r>
            <a:endParaRPr lang="en-US">
              <a:latin typeface="Arial Narrow" pitchFamily="34" charset="0"/>
            </a:endParaRPr>
          </a:p>
        </p:txBody>
      </p:sp>
      <p:sp>
        <p:nvSpPr>
          <p:cNvPr id="12293" name="Rectangle 4"/>
          <p:cNvSpPr>
            <a:spLocks noChangeArrowheads="1"/>
          </p:cNvSpPr>
          <p:nvPr/>
        </p:nvSpPr>
        <p:spPr bwMode="auto">
          <a:xfrm>
            <a:off x="773113" y="2538413"/>
            <a:ext cx="7977187" cy="3708400"/>
          </a:xfrm>
          <a:prstGeom prst="rect">
            <a:avLst/>
          </a:prstGeom>
          <a:solidFill>
            <a:schemeClr val="accent1">
              <a:alpha val="0"/>
            </a:schemeClr>
          </a:solidFill>
          <a:ln w="12700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marL="2057400" lvl="4" indent="-228600" eaLnBrk="1" hangingPunct="1">
              <a:lnSpc>
                <a:spcPts val="2700"/>
              </a:lnSpc>
              <a:spcBef>
                <a:spcPts val="2600"/>
              </a:spcBef>
              <a:buClr>
                <a:schemeClr val="tx1"/>
              </a:buClr>
              <a:buFont typeface="Wingdings" pitchFamily="2" charset="2"/>
              <a:buNone/>
            </a:pPr>
            <a:endParaRPr lang="en-US" b="1">
              <a:latin typeface="Arial Narrow" pitchFamily="34" charset="0"/>
            </a:endParaRPr>
          </a:p>
          <a:p>
            <a:pPr marL="342900" indent="-342900" eaLnBrk="1" hangingPunct="1">
              <a:lnSpc>
                <a:spcPts val="2700"/>
              </a:lnSpc>
              <a:spcBef>
                <a:spcPts val="2600"/>
              </a:spcBef>
              <a:buClr>
                <a:schemeClr val="tx1"/>
              </a:buClr>
              <a:buFont typeface="Wingdings" pitchFamily="2" charset="2"/>
              <a:buChar char="Ø"/>
            </a:pPr>
            <a:r>
              <a:rPr lang="en-US" b="1">
                <a:latin typeface="Arial Narrow" pitchFamily="34" charset="0"/>
              </a:rPr>
              <a:t>Vaz Tech  </a:t>
            </a:r>
            <a:r>
              <a:rPr lang="en-US" b="1">
                <a:latin typeface="Arial Narrow" pitchFamily="34" charset="0"/>
                <a:hlinkClick r:id="rId3"/>
              </a:rPr>
              <a:t>www.vaztech-inc.com</a:t>
            </a:r>
            <a:r>
              <a:rPr lang="en-US" b="1">
                <a:latin typeface="Arial Narrow" pitchFamily="34" charset="0"/>
              </a:rPr>
              <a:t> </a:t>
            </a:r>
          </a:p>
          <a:p>
            <a:pPr marL="342900" indent="-342900" eaLnBrk="1" hangingPunct="1">
              <a:lnSpc>
                <a:spcPts val="2700"/>
              </a:lnSpc>
              <a:spcBef>
                <a:spcPts val="2600"/>
              </a:spcBef>
              <a:buClr>
                <a:schemeClr val="tx1"/>
              </a:buClr>
              <a:buFont typeface="Wingdings" pitchFamily="2" charset="2"/>
              <a:buChar char="Ø"/>
            </a:pPr>
            <a:r>
              <a:rPr lang="en-US" b="1">
                <a:latin typeface="Arial Narrow" pitchFamily="34" charset="0"/>
              </a:rPr>
              <a:t>Copper River Information Technology   </a:t>
            </a:r>
            <a:r>
              <a:rPr lang="en-US" b="1">
                <a:latin typeface="Arial Narrow" pitchFamily="34" charset="0"/>
                <a:hlinkClick r:id="rId4"/>
              </a:rPr>
              <a:t>www.copperriverit.com</a:t>
            </a:r>
            <a:endParaRPr lang="en-US" b="1">
              <a:latin typeface="Arial Narrow" pitchFamily="34" charset="0"/>
            </a:endParaRPr>
          </a:p>
          <a:p>
            <a:pPr marL="342900" indent="-342900" eaLnBrk="1" hangingPunct="1">
              <a:lnSpc>
                <a:spcPts val="2700"/>
              </a:lnSpc>
              <a:spcBef>
                <a:spcPts val="2600"/>
              </a:spcBef>
              <a:buClr>
                <a:schemeClr val="tx1"/>
              </a:buClr>
              <a:buFont typeface="Wingdings" pitchFamily="2" charset="2"/>
              <a:buChar char="Ø"/>
            </a:pPr>
            <a:r>
              <a:rPr lang="en-US" b="1">
                <a:latin typeface="Arial Narrow" pitchFamily="34" charset="0"/>
              </a:rPr>
              <a:t> Victory Global Solutions, Inc.    </a:t>
            </a:r>
            <a:r>
              <a:rPr lang="en-US" b="1">
                <a:latin typeface="Arial Narrow" pitchFamily="34" charset="0"/>
                <a:hlinkClick r:id="rId5"/>
              </a:rPr>
              <a:t>www.victorygs.com</a:t>
            </a:r>
            <a:r>
              <a:rPr lang="en-US" b="1">
                <a:latin typeface="Arial Narrow" pitchFamily="34" charset="0"/>
              </a:rPr>
              <a:t> </a:t>
            </a:r>
          </a:p>
          <a:p>
            <a:pPr marL="342900" indent="-342900" eaLnBrk="1" hangingPunct="1">
              <a:lnSpc>
                <a:spcPts val="2700"/>
              </a:lnSpc>
              <a:spcBef>
                <a:spcPts val="2600"/>
              </a:spcBef>
              <a:buClr>
                <a:schemeClr val="tx1"/>
              </a:buClr>
              <a:buFont typeface="Wingdings" pitchFamily="2" charset="2"/>
              <a:buChar char="Ø"/>
            </a:pPr>
            <a:r>
              <a:rPr lang="en-US" b="1">
                <a:latin typeface="Arial Narrow" pitchFamily="34" charset="0"/>
              </a:rPr>
              <a:t>PSI Technology   </a:t>
            </a:r>
            <a:r>
              <a:rPr lang="en-US" b="1">
                <a:latin typeface="Arial Narrow" pitchFamily="34" charset="0"/>
                <a:hlinkClick r:id="rId6"/>
              </a:rPr>
              <a:t>www.petrosys.com</a:t>
            </a:r>
            <a:r>
              <a:rPr lang="en-US" b="1">
                <a:latin typeface="Arial Narrow" pitchFamily="34" charset="0"/>
              </a:rPr>
              <a:t> </a:t>
            </a:r>
          </a:p>
          <a:p>
            <a:pPr marL="342900" indent="-342900" eaLnBrk="1" hangingPunct="1">
              <a:lnSpc>
                <a:spcPts val="2700"/>
              </a:lnSpc>
              <a:spcBef>
                <a:spcPts val="2600"/>
              </a:spcBef>
              <a:buClr>
                <a:schemeClr val="tx1"/>
              </a:buClr>
              <a:buFont typeface="Wingdings" pitchFamily="2" charset="2"/>
              <a:buChar char="Ø"/>
            </a:pPr>
            <a:endParaRPr lang="en-US" b="1">
              <a:latin typeface="Arial Narrow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0" y="5984875"/>
            <a:ext cx="9144000" cy="10763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0" rIns="0" bIns="0" anchor="ctr"/>
          <a:lstStyle/>
          <a:p>
            <a:pPr indent="4763" algn="ctr" eaLnBrk="1" hangingPunct="1">
              <a:lnSpc>
                <a:spcPts val="3800"/>
              </a:lnSpc>
              <a:defRPr/>
            </a:pPr>
            <a:endParaRPr lang="en-US" sz="2800" b="1" i="1" kern="0" dirty="0">
              <a:solidFill>
                <a:srgbClr val="FAFAFA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2_ENC_AIM_PRES_v1.00">
  <a:themeElements>
    <a:clrScheme name="">
      <a:dk1>
        <a:srgbClr val="000000"/>
      </a:dk1>
      <a:lt1>
        <a:srgbClr val="000000"/>
      </a:lt1>
      <a:dk2>
        <a:srgbClr val="3365FB"/>
      </a:dk2>
      <a:lt2>
        <a:srgbClr val="000000"/>
      </a:lt2>
      <a:accent1>
        <a:srgbClr val="00CC99"/>
      </a:accent1>
      <a:accent2>
        <a:srgbClr val="3333CC"/>
      </a:accent2>
      <a:accent3>
        <a:srgbClr val="AAAAAA"/>
      </a:accent3>
      <a:accent4>
        <a:srgbClr val="000000"/>
      </a:accent4>
      <a:accent5>
        <a:srgbClr val="AAE2CA"/>
      </a:accent5>
      <a:accent6>
        <a:srgbClr val="2D2DB9"/>
      </a:accent6>
      <a:hlink>
        <a:srgbClr val="0000FF"/>
      </a:hlink>
      <a:folHlink>
        <a:srgbClr val="9933FF"/>
      </a:folHlink>
    </a:clrScheme>
    <a:fontScheme name="2_ENC_AIM_PRES_v1.00">
      <a:majorFont>
        <a:latin typeface="Arial"/>
        <a:ea typeface=""/>
        <a:cs typeface=""/>
      </a:majorFont>
      <a:minorFont>
        <a:latin typeface="Arial Narro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18" charset="0"/>
          </a:defRPr>
        </a:defPPr>
      </a:lstStyle>
    </a:lnDef>
  </a:objectDefaults>
  <a:extraClrSchemeLst>
    <a:extraClrScheme>
      <a:clrScheme name="2_ENC_AIM_PRES_v1.00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ENC_AIM_PRES_v1.00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ENC_AIM_PRES_v1.00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ENC_AIM_PRES_v1.00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ENC_AIM_PRES_v1.00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ENC_AIM_PRES_v1.00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ENC_AIM_PRES_v1.00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251B08C68BDEE4CA67B68AE309DC5DA" ma:contentTypeVersion="0" ma:contentTypeDescription="Create a new document." ma:contentTypeScope="" ma:versionID="69c34d9eaa1aba4e460626d6d1262d1d">
  <xsd:schema xmlns:xsd="http://www.w3.org/2001/XMLSchema" xmlns:p="http://schemas.microsoft.com/office/2006/metadata/properties" targetNamespace="http://schemas.microsoft.com/office/2006/metadata/properties" ma:root="true" ma:fieldsID="4aeb20c0e3442673af7ee10786458764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office/internal/2005/internalDocumentation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 ma:readOnly="tru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lastPrinted" minOccurs="0" maxOccurs="1" type="xsd:dateTime"/>
        <xsd:element name="contentStatus" minOccurs="0" maxOccurs="1" type="xsd:string"/>
      </xsd:all>
    </xsd:complexType>
  </xsd:schema>
</ct:contentTypeSchema>
</file>

<file path=customXml/item3.xml><?xml version="1.0" encoding="utf-8"?>
<p:properties xmlns:p="http://schemas.microsoft.com/office/2006/metadata/properties" xmlns:xsi="http://www.w3.org/2001/XMLSchema-instance">
  <documentManagement/>
</p:properties>
</file>

<file path=customXml/itemProps1.xml><?xml version="1.0" encoding="utf-8"?>
<ds:datastoreItem xmlns:ds="http://schemas.openxmlformats.org/officeDocument/2006/customXml" ds:itemID="{018AA3B7-C11E-48B7-B4E0-77362906F4C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78B04C1-BD3D-4F63-93DC-95BAF7DF66C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internal/2005/internalDocumentation"/>
  </ds:schemaRefs>
</ds:datastoreItem>
</file>

<file path=customXml/itemProps3.xml><?xml version="1.0" encoding="utf-8"?>
<ds:datastoreItem xmlns:ds="http://schemas.openxmlformats.org/officeDocument/2006/customXml" ds:itemID="{A2B569D3-2331-49B4-8F6A-399E327ED7B5}">
  <ds:schemaRefs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14619</TotalTime>
  <Words>1460</Words>
  <Application>Microsoft Office PowerPoint</Application>
  <PresentationFormat>On-screen Show (4:3)</PresentationFormat>
  <Paragraphs>364</Paragraphs>
  <Slides>34</Slides>
  <Notes>14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5" baseType="lpstr">
      <vt:lpstr>2_ENC_AIM_PRES_v1.00</vt:lpstr>
      <vt:lpstr>State of SEWP Joanne Woytek</vt:lpstr>
      <vt:lpstr>Slide 2</vt:lpstr>
      <vt:lpstr>Keypad Question</vt:lpstr>
      <vt:lpstr>Symposium Overview</vt:lpstr>
      <vt:lpstr>Symposium Overview</vt:lpstr>
      <vt:lpstr>Symposium Overview</vt:lpstr>
      <vt:lpstr>Who is Here?</vt:lpstr>
      <vt:lpstr>Keypad Question</vt:lpstr>
      <vt:lpstr>Keypad Question</vt:lpstr>
      <vt:lpstr>SEWP Program Overview</vt:lpstr>
      <vt:lpstr>Keypad Question</vt:lpstr>
      <vt:lpstr>Product Solution Contracts</vt:lpstr>
      <vt:lpstr>SEWP By The Numbers</vt:lpstr>
      <vt:lpstr>SEWP Program Office</vt:lpstr>
      <vt:lpstr>SEWP Program Services</vt:lpstr>
      <vt:lpstr>SEWP Success</vt:lpstr>
      <vt:lpstr>Program Structure - Oversight</vt:lpstr>
      <vt:lpstr>Keypad Question</vt:lpstr>
      <vt:lpstr>Innovation</vt:lpstr>
      <vt:lpstr>Fourth SEWP Objective</vt:lpstr>
      <vt:lpstr>Top 12 Reasons Customers Use SEWP</vt:lpstr>
      <vt:lpstr>Top 12 Reasons Customers Use SEWP</vt:lpstr>
      <vt:lpstr>Recent Updates</vt:lpstr>
      <vt:lpstr>Recent Updates</vt:lpstr>
      <vt:lpstr>Keypad Question</vt:lpstr>
      <vt:lpstr>Month by Month Usage </vt:lpstr>
      <vt:lpstr>Keypad Question</vt:lpstr>
      <vt:lpstr>Evening Dinner Event</vt:lpstr>
      <vt:lpstr>Group A</vt:lpstr>
      <vt:lpstr>Group B: SDVOSB Set-Aside</vt:lpstr>
      <vt:lpstr>Group C: Small Business Set-Aside</vt:lpstr>
      <vt:lpstr>Group D: Full and Open</vt:lpstr>
      <vt:lpstr>Group E: 8a Set-Asides (non-competed)</vt:lpstr>
      <vt:lpstr>Slide 34</vt:lpstr>
    </vt:vector>
  </TitlesOfParts>
  <Company>LI2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dnavarro</dc:creator>
  <cp:lastModifiedBy>glarson</cp:lastModifiedBy>
  <cp:revision>548</cp:revision>
  <cp:lastPrinted>2004-06-09T15:40:50Z</cp:lastPrinted>
  <dcterms:created xsi:type="dcterms:W3CDTF">2003-10-01T15:28:34Z</dcterms:created>
  <dcterms:modified xsi:type="dcterms:W3CDTF">2012-05-08T21:14:46Z</dcterms:modified>
</cp:coreProperties>
</file>