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8"/>
  </p:notesMasterIdLst>
  <p:sldIdLst>
    <p:sldId id="265" r:id="rId2"/>
    <p:sldId id="266" r:id="rId3"/>
    <p:sldId id="267" r:id="rId4"/>
    <p:sldId id="273" r:id="rId5"/>
    <p:sldId id="275" r:id="rId6"/>
    <p:sldId id="258" r:id="rId7"/>
    <p:sldId id="276" r:id="rId8"/>
    <p:sldId id="277" r:id="rId9"/>
    <p:sldId id="280" r:id="rId10"/>
    <p:sldId id="302" r:id="rId11"/>
    <p:sldId id="278" r:id="rId12"/>
    <p:sldId id="279" r:id="rId13"/>
    <p:sldId id="281" r:id="rId14"/>
    <p:sldId id="283" r:id="rId15"/>
    <p:sldId id="286" r:id="rId16"/>
    <p:sldId id="285" r:id="rId1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1031F"/>
    <a:srgbClr val="FFC145"/>
    <a:srgbClr val="FF99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643" autoAdjust="0"/>
  </p:normalViewPr>
  <p:slideViewPr>
    <p:cSldViewPr>
      <p:cViewPr varScale="1">
        <p:scale>
          <a:sx n="104" d="100"/>
          <a:sy n="104" d="100"/>
        </p:scale>
        <p:origin x="-17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/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endParaRPr lang="en-US"/>
          </a:p>
        </p:txBody>
      </p:sp>
      <p:sp>
        <p:nvSpPr>
          <p:cNvPr id="1177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177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177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/>
          </a:p>
        </p:txBody>
      </p:sp>
      <p:sp>
        <p:nvSpPr>
          <p:cNvPr id="1177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0C86E037-B274-4BB8-A3FC-44370A057599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C34869-D1EF-4E4A-A339-189EB3195F22}" type="slidenum">
              <a:rPr lang="en-US"/>
              <a:pPr/>
              <a:t>1</a:t>
            </a:fld>
            <a:endParaRPr lang="en-US"/>
          </a:p>
        </p:txBody>
      </p:sp>
      <p:sp>
        <p:nvSpPr>
          <p:cNvPr id="501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820229-9320-4609-BF74-D597D08B1D0F}" type="slidenum">
              <a:rPr lang="en-US"/>
              <a:pPr/>
              <a:t>2</a:t>
            </a:fld>
            <a:endParaRPr lang="en-US"/>
          </a:p>
        </p:txBody>
      </p:sp>
      <p:sp>
        <p:nvSpPr>
          <p:cNvPr id="503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3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275AD6-9333-43AA-AA4B-B761E0378125}" type="slidenum">
              <a:rPr lang="en-US"/>
              <a:pPr/>
              <a:t>3</a:t>
            </a:fld>
            <a:endParaRPr lang="en-US"/>
          </a:p>
        </p:txBody>
      </p:sp>
      <p:sp>
        <p:nvSpPr>
          <p:cNvPr id="505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5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37DF5D-0D2F-405D-A91E-3349367D436C}" type="slidenum">
              <a:rPr lang="en-US"/>
              <a:pPr/>
              <a:t>4</a:t>
            </a:fld>
            <a:endParaRPr lang="en-US"/>
          </a:p>
        </p:txBody>
      </p:sp>
      <p:sp>
        <p:nvSpPr>
          <p:cNvPr id="520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0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BF86D5-0AF8-4615-84A7-0A6FEA39783A}" type="slidenum">
              <a:rPr lang="en-US"/>
              <a:pPr/>
              <a:t>5</a:t>
            </a:fld>
            <a:endParaRPr lang="en-US"/>
          </a:p>
        </p:txBody>
      </p:sp>
      <p:sp>
        <p:nvSpPr>
          <p:cNvPr id="524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4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6F9B1D-F2DB-49A8-BDBA-979499C92523}" type="slidenum">
              <a:rPr lang="en-US"/>
              <a:pPr/>
              <a:t>6</a:t>
            </a:fld>
            <a:endParaRPr lang="en-US"/>
          </a:p>
        </p:txBody>
      </p:sp>
      <p:sp>
        <p:nvSpPr>
          <p:cNvPr id="473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3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73D01F-63BC-4927-8C33-D7CDE67928D5}" type="slidenum">
              <a:rPr lang="en-US"/>
              <a:pPr/>
              <a:t>7</a:t>
            </a:fld>
            <a:endParaRPr lang="en-US"/>
          </a:p>
        </p:txBody>
      </p:sp>
      <p:sp>
        <p:nvSpPr>
          <p:cNvPr id="526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6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35B2F0-0234-4B3D-BD2C-9A389A2D7A8C}" type="slidenum">
              <a:rPr lang="en-US"/>
              <a:pPr/>
              <a:t>8</a:t>
            </a:fld>
            <a:endParaRPr lang="en-US"/>
          </a:p>
        </p:txBody>
      </p:sp>
      <p:sp>
        <p:nvSpPr>
          <p:cNvPr id="528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8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35E901-29A0-48B8-9F85-096828220D84}" type="slidenum">
              <a:rPr lang="en-US"/>
              <a:pPr/>
              <a:t>9</a:t>
            </a:fld>
            <a:endParaRPr lang="en-US"/>
          </a:p>
        </p:txBody>
      </p:sp>
      <p:sp>
        <p:nvSpPr>
          <p:cNvPr id="534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4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F52F84-0188-4A22-88D8-C7E704E6AB4D}" type="slidenum">
              <a:rPr lang="en-US"/>
              <a:pPr/>
              <a:t>10</a:t>
            </a:fld>
            <a:endParaRPr lang="en-US"/>
          </a:p>
        </p:txBody>
      </p:sp>
      <p:sp>
        <p:nvSpPr>
          <p:cNvPr id="587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7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270305-8258-4E7B-B2B1-F9A0D5A98DD5}" type="slidenum">
              <a:rPr lang="en-US"/>
              <a:pPr/>
              <a:t>11</a:t>
            </a:fld>
            <a:endParaRPr lang="en-US"/>
          </a:p>
        </p:txBody>
      </p:sp>
      <p:sp>
        <p:nvSpPr>
          <p:cNvPr id="530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0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37ED0A-8633-43E5-A4AC-86C54A4DCC9B}" type="slidenum">
              <a:rPr lang="en-US"/>
              <a:pPr/>
              <a:t>12</a:t>
            </a:fld>
            <a:endParaRPr lang="en-US"/>
          </a:p>
        </p:txBody>
      </p:sp>
      <p:sp>
        <p:nvSpPr>
          <p:cNvPr id="532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C77413-D346-430E-8A8C-F730A573D498}" type="slidenum">
              <a:rPr lang="en-US"/>
              <a:pPr/>
              <a:t>13</a:t>
            </a:fld>
            <a:endParaRPr lang="en-US"/>
          </a:p>
        </p:txBody>
      </p:sp>
      <p:sp>
        <p:nvSpPr>
          <p:cNvPr id="536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6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B4774F-D577-4087-8F74-7D77763F643C}" type="slidenum">
              <a:rPr lang="en-US"/>
              <a:pPr/>
              <a:t>14</a:t>
            </a:fld>
            <a:endParaRPr lang="en-US"/>
          </a:p>
        </p:txBody>
      </p:sp>
      <p:sp>
        <p:nvSpPr>
          <p:cNvPr id="542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19E34A-DD55-42F5-8FEF-65D74C207F8B}" type="slidenum">
              <a:rPr lang="en-US"/>
              <a:pPr/>
              <a:t>15</a:t>
            </a:fld>
            <a:endParaRPr lang="en-US"/>
          </a:p>
        </p:txBody>
      </p:sp>
      <p:sp>
        <p:nvSpPr>
          <p:cNvPr id="550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0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55823F-6237-4E5D-B39D-D9A2431390B3}" type="slidenum">
              <a:rPr lang="en-US"/>
              <a:pPr/>
              <a:t>16</a:t>
            </a:fld>
            <a:endParaRPr lang="en-US"/>
          </a:p>
        </p:txBody>
      </p:sp>
      <p:sp>
        <p:nvSpPr>
          <p:cNvPr id="548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8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381000" y="457200"/>
            <a:ext cx="8397875" cy="5562600"/>
            <a:chOff x="240" y="288"/>
            <a:chExt cx="5290" cy="3504"/>
          </a:xfrm>
        </p:grpSpPr>
        <p:sp>
          <p:nvSpPr>
            <p:cNvPr id="10243" name="Rectangle 3"/>
            <p:cNvSpPr>
              <a:spLocks noChangeArrowheads="1"/>
            </p:cNvSpPr>
            <p:nvPr/>
          </p:nvSpPr>
          <p:spPr bwMode="blackWhite">
            <a:xfrm>
              <a:off x="240" y="288"/>
              <a:ext cx="5290" cy="3504"/>
            </a:xfrm>
            <a:prstGeom prst="rect">
              <a:avLst/>
            </a:prstGeom>
            <a:solidFill>
              <a:schemeClr val="bg1"/>
            </a:solidFill>
            <a:ln w="5080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10244" name="Rectangle 4"/>
            <p:cNvSpPr>
              <a:spLocks noChangeArrowheads="1"/>
            </p:cNvSpPr>
            <p:nvPr/>
          </p:nvSpPr>
          <p:spPr bwMode="auto">
            <a:xfrm>
              <a:off x="285" y="336"/>
              <a:ext cx="5184" cy="3408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10245" name="Line 5"/>
            <p:cNvSpPr>
              <a:spLocks noChangeShapeType="1"/>
            </p:cNvSpPr>
            <p:nvPr/>
          </p:nvSpPr>
          <p:spPr bwMode="auto">
            <a:xfrm>
              <a:off x="576" y="2256"/>
              <a:ext cx="460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46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219200" y="838200"/>
            <a:ext cx="6781800" cy="2559050"/>
          </a:xfrm>
        </p:spPr>
        <p:txBody>
          <a:bodyPr anchorCtr="1"/>
          <a:lstStyle>
            <a:lvl1pPr algn="ctr">
              <a:defRPr sz="6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33800"/>
            <a:ext cx="6400800" cy="187325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dt" sz="half" idx="2"/>
          </p:nvPr>
        </p:nvSpPr>
        <p:spPr>
          <a:xfrm>
            <a:off x="536575" y="6248400"/>
            <a:ext cx="2054225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ftr" sz="quarter" idx="3"/>
          </p:nvPr>
        </p:nvSpPr>
        <p:spPr>
          <a:xfrm>
            <a:off x="3251200" y="6248400"/>
            <a:ext cx="2887663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0250" name="Rectangle 10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788150" y="625792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6AF41C13-A934-4DC2-BA16-7950C70CEFF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F67575-9BF9-49C9-8DC8-B8B6C1BE391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610AFE-4BC4-4EA2-9DA5-9DC8BA36A72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828800"/>
            <a:ext cx="40005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828800"/>
            <a:ext cx="40005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007425-9734-4565-A1C2-BD82C423C2B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42F68C-68C7-44FF-8986-B06FFB18A80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97267F-A04F-4E3B-8322-DA8FFE2A35A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7D3FF8-CD31-40F9-A1B6-ED8745A8F79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9593E5-A8AA-4B74-B470-AD1166327B0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79829D-4F25-4037-90CC-782D880195B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48F320-8C14-4D3E-B4BC-031152FA76E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8450" y="473075"/>
            <a:ext cx="2038350" cy="53943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473075"/>
            <a:ext cx="5962650" cy="53943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CD0AE5-DBE8-46D2-9216-306E5C604B9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73075"/>
            <a:ext cx="8153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828800"/>
            <a:ext cx="4000500" cy="4038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828800"/>
            <a:ext cx="4000500" cy="19431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3924300"/>
            <a:ext cx="4000500" cy="19431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533400" y="6248400"/>
            <a:ext cx="20574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2385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781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391FC417-52BC-4C23-B661-0CFA2851534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73075"/>
            <a:ext cx="8153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828800"/>
            <a:ext cx="4000500" cy="4038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828800"/>
            <a:ext cx="4000500" cy="4038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33400" y="6248400"/>
            <a:ext cx="20574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385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81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6E28D83-B52E-400C-80F6-2A03A78164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228600" y="228600"/>
            <a:ext cx="8686800" cy="5943600"/>
            <a:chOff x="144" y="144"/>
            <a:chExt cx="5472" cy="3744"/>
          </a:xfrm>
        </p:grpSpPr>
        <p:sp>
          <p:nvSpPr>
            <p:cNvPr id="9219" name="Rectangle 3"/>
            <p:cNvSpPr>
              <a:spLocks noChangeArrowheads="1"/>
            </p:cNvSpPr>
            <p:nvPr/>
          </p:nvSpPr>
          <p:spPr bwMode="auto">
            <a:xfrm>
              <a:off x="144" y="144"/>
              <a:ext cx="5472" cy="3744"/>
            </a:xfrm>
            <a:prstGeom prst="rect">
              <a:avLst/>
            </a:prstGeom>
            <a:solidFill>
              <a:schemeClr val="bg1"/>
            </a:solidFill>
            <a:ln w="444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9220" name="Rectangle 4"/>
            <p:cNvSpPr>
              <a:spLocks noChangeArrowheads="1"/>
            </p:cNvSpPr>
            <p:nvPr/>
          </p:nvSpPr>
          <p:spPr bwMode="blackWhite">
            <a:xfrm>
              <a:off x="193" y="193"/>
              <a:ext cx="5373" cy="36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9221" name="Line 5"/>
            <p:cNvSpPr>
              <a:spLocks noChangeShapeType="1"/>
            </p:cNvSpPr>
            <p:nvPr/>
          </p:nvSpPr>
          <p:spPr bwMode="auto">
            <a:xfrm>
              <a:off x="336" y="1092"/>
              <a:ext cx="5136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2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473075"/>
            <a:ext cx="8153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828800"/>
            <a:ext cx="81534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224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33400" y="624840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endParaRPr lang="en-US"/>
          </a:p>
        </p:txBody>
      </p:sp>
      <p:sp>
        <p:nvSpPr>
          <p:cNvPr id="9225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385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9226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4EB51572-9DBB-464C-8885-AB7761DA0728}" type="slidenum">
              <a:rPr lang="en-US"/>
              <a:pPr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txStyles>
    <p:titleStyle>
      <a:lvl1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n"/>
        <a:defRPr sz="31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7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>
                <a:solidFill>
                  <a:srgbClr val="FFBF1F"/>
                </a:solidFill>
              </a:rPr>
              <a:t>1. Taoism (Daoism)</a:t>
            </a:r>
          </a:p>
        </p:txBody>
      </p:sp>
      <p:sp>
        <p:nvSpPr>
          <p:cNvPr id="5007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828800"/>
            <a:ext cx="5105400" cy="40386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Be like </a:t>
            </a:r>
            <a:r>
              <a:rPr lang="en-US" sz="2400" b="1" i="1" u="sng">
                <a:solidFill>
                  <a:srgbClr val="FFBF1F"/>
                </a:solidFill>
              </a:rPr>
              <a:t>water</a:t>
            </a:r>
            <a:r>
              <a:rPr lang="en-US" sz="2400">
                <a:solidFill>
                  <a:srgbClr val="FFBF1F"/>
                </a:solidFill>
              </a:rPr>
              <a:t>:</a:t>
            </a:r>
          </a:p>
          <a:p>
            <a:r>
              <a:rPr lang="en-US" sz="2400">
                <a:solidFill>
                  <a:srgbClr val="FFBF1F"/>
                </a:solidFill>
              </a:rPr>
              <a:t>flow smoothly around obstacles rather than bumping up against them</a:t>
            </a:r>
          </a:p>
          <a:p>
            <a:r>
              <a:rPr lang="en-US" sz="2400">
                <a:solidFill>
                  <a:srgbClr val="FFBF1F"/>
                </a:solidFill>
              </a:rPr>
              <a:t>adapt yourself to the shape of the channel and you won’t get stuck</a:t>
            </a:r>
          </a:p>
          <a:p>
            <a:pPr>
              <a:buFont typeface="Wingdings" pitchFamily="2" charset="2"/>
              <a:buNone/>
            </a:pPr>
            <a:endParaRPr lang="en-US" sz="2400">
              <a:solidFill>
                <a:srgbClr val="FFBF1F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The natural rather than the humanmade world is offered as a model</a:t>
            </a:r>
          </a:p>
        </p:txBody>
      </p:sp>
      <p:graphicFrame>
        <p:nvGraphicFramePr>
          <p:cNvPr id="500742" name="Object 6"/>
          <p:cNvGraphicFramePr>
            <a:graphicFrameLocks noChangeAspect="1"/>
          </p:cNvGraphicFramePr>
          <p:nvPr>
            <p:ph sz="half" idx="2"/>
          </p:nvPr>
        </p:nvGraphicFramePr>
        <p:xfrm>
          <a:off x="5715000" y="1905000"/>
          <a:ext cx="2911475" cy="4038600"/>
        </p:xfrm>
        <a:graphic>
          <a:graphicData uri="http://schemas.openxmlformats.org/presentationml/2006/ole">
            <p:oleObj spid="_x0000_s500742" name="Bitmap Image" r:id="rId4" imgW="2142857" imgH="2971429" progId="PBrush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>
                <a:solidFill>
                  <a:srgbClr val="FFBF1F"/>
                </a:solidFill>
              </a:rPr>
              <a:t>1. Taoism (Daoism)</a:t>
            </a:r>
          </a:p>
        </p:txBody>
      </p:sp>
      <p:sp>
        <p:nvSpPr>
          <p:cNvPr id="5027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5334000"/>
            <a:ext cx="8153400" cy="5334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Grass is flexible and bends before the wind – so it survives</a:t>
            </a:r>
          </a:p>
        </p:txBody>
      </p:sp>
      <p:graphicFrame>
        <p:nvGraphicFramePr>
          <p:cNvPr id="502790" name="Object 6"/>
          <p:cNvGraphicFramePr>
            <a:graphicFrameLocks noChangeAspect="1"/>
          </p:cNvGraphicFramePr>
          <p:nvPr>
            <p:ph sz="half" idx="2"/>
          </p:nvPr>
        </p:nvGraphicFramePr>
        <p:xfrm>
          <a:off x="1371600" y="1905000"/>
          <a:ext cx="6477000" cy="3328988"/>
        </p:xfrm>
        <a:graphic>
          <a:graphicData uri="http://schemas.openxmlformats.org/presentationml/2006/ole">
            <p:oleObj spid="_x0000_s502790" name="Bitmap Image" r:id="rId4" imgW="4761905" imgH="2448267" progId="PBrush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>
                <a:solidFill>
                  <a:srgbClr val="FFBF1F"/>
                </a:solidFill>
              </a:rPr>
              <a:t>1. Taoism (Daoism)</a:t>
            </a:r>
          </a:p>
        </p:txBody>
      </p:sp>
      <p:sp>
        <p:nvSpPr>
          <p:cNvPr id="5048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905000"/>
            <a:ext cx="8229600" cy="40386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The tree is rigid and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doesn’t bend before 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the wind – so it 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breaks!</a:t>
            </a:r>
          </a:p>
          <a:p>
            <a:pPr>
              <a:buFont typeface="Wingdings" pitchFamily="2" charset="2"/>
              <a:buNone/>
            </a:pPr>
            <a:endParaRPr lang="en-US" sz="2400">
              <a:solidFill>
                <a:srgbClr val="FFBF1F"/>
              </a:solidFill>
            </a:endParaRPr>
          </a:p>
          <a:p>
            <a:r>
              <a:rPr lang="en-US" sz="2400">
                <a:solidFill>
                  <a:srgbClr val="FFBF1F"/>
                </a:solidFill>
              </a:rPr>
              <a:t>Flexibility looks like 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weakness but is 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really strength</a:t>
            </a:r>
          </a:p>
          <a:p>
            <a:r>
              <a:rPr lang="en-US" sz="2400">
                <a:solidFill>
                  <a:srgbClr val="FFBF1F"/>
                </a:solidFill>
              </a:rPr>
              <a:t>Rigidity looks like strength but is really weakness </a:t>
            </a:r>
          </a:p>
        </p:txBody>
      </p:sp>
      <p:graphicFrame>
        <p:nvGraphicFramePr>
          <p:cNvPr id="504842" name="Object 10"/>
          <p:cNvGraphicFramePr>
            <a:graphicFrameLocks noChangeAspect="1"/>
          </p:cNvGraphicFramePr>
          <p:nvPr>
            <p:ph sz="half" idx="2"/>
          </p:nvPr>
        </p:nvGraphicFramePr>
        <p:xfrm>
          <a:off x="3429000" y="1828800"/>
          <a:ext cx="5334000" cy="3548063"/>
        </p:xfrm>
        <a:graphic>
          <a:graphicData uri="http://schemas.openxmlformats.org/presentationml/2006/ole">
            <p:oleObj spid="_x0000_s504842" name="Bitmap Image" r:id="rId4" imgW="5714286" imgH="3801006" progId="PBrush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>
                <a:solidFill>
                  <a:srgbClr val="FFBF1F"/>
                </a:solidFill>
              </a:rPr>
              <a:t>1. Taoism (Daoism)</a:t>
            </a:r>
          </a:p>
        </p:txBody>
      </p:sp>
      <p:sp>
        <p:nvSpPr>
          <p:cNvPr id="519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828800"/>
            <a:ext cx="8305800" cy="40386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Don’t meddle with spontaneous processes; let them evolve unhindered – don’t micromanage!</a:t>
            </a:r>
          </a:p>
        </p:txBody>
      </p:sp>
      <p:graphicFrame>
        <p:nvGraphicFramePr>
          <p:cNvPr id="519181" name="Object 13"/>
          <p:cNvGraphicFramePr>
            <a:graphicFrameLocks noChangeAspect="1"/>
          </p:cNvGraphicFramePr>
          <p:nvPr>
            <p:ph sz="half" idx="2"/>
          </p:nvPr>
        </p:nvGraphicFramePr>
        <p:xfrm>
          <a:off x="381000" y="2743200"/>
          <a:ext cx="8305800" cy="3054350"/>
        </p:xfrm>
        <a:graphic>
          <a:graphicData uri="http://schemas.openxmlformats.org/presentationml/2006/ole">
            <p:oleObj spid="_x0000_s519181" name="Bitmap Image" r:id="rId4" imgW="6190476" imgH="2276793" progId="PBrush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>
                <a:solidFill>
                  <a:srgbClr val="FFBF1F"/>
                </a:solidFill>
              </a:rPr>
              <a:t>1. Taoism (Daoism)</a:t>
            </a:r>
          </a:p>
        </p:txBody>
      </p:sp>
      <p:sp>
        <p:nvSpPr>
          <p:cNvPr id="5232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828800"/>
            <a:ext cx="6172200" cy="40386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500">
                <a:solidFill>
                  <a:srgbClr val="FFBF1F"/>
                </a:solidFill>
              </a:rPr>
              <a:t>Don’t spend too much time trying to get ahead, trying to change or improve yourself or the world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500">
                <a:solidFill>
                  <a:srgbClr val="FFBF1F"/>
                </a:solidFill>
              </a:rPr>
              <a:t>Don’t worry too much about learning or culture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500">
                <a:solidFill>
                  <a:srgbClr val="FFBF1F"/>
                </a:solidFill>
              </a:rPr>
              <a:t>Think intuitively – language and abstract thought lead us astray by imposing artificial categories on reality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500">
                <a:solidFill>
                  <a:srgbClr val="FFBF1F"/>
                </a:solidFill>
              </a:rPr>
              <a:t>Relax – choose simplicity – be an “uncarved block” </a:t>
            </a:r>
            <a:endParaRPr lang="en-US" sz="2000">
              <a:solidFill>
                <a:srgbClr val="FFBF1F"/>
              </a:solidFill>
            </a:endParaRPr>
          </a:p>
        </p:txBody>
      </p:sp>
      <p:pic>
        <p:nvPicPr>
          <p:cNvPr id="523269" name="Picture 5" descr="ChuangTzu1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6629400" y="1905000"/>
            <a:ext cx="1866900" cy="40386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>
                <a:solidFill>
                  <a:srgbClr val="FFBF1F"/>
                </a:solidFill>
              </a:rPr>
              <a:t>2. Confucianism</a:t>
            </a:r>
          </a:p>
        </p:txBody>
      </p:sp>
      <p:sp>
        <p:nvSpPr>
          <p:cNvPr id="4720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5257800"/>
            <a:ext cx="8382000" cy="9144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FFBF1F"/>
                </a:solidFill>
              </a:rPr>
              <a:t>Confucius (K’ung-fu-tzu,    Mencius (Meng-tzu,           Hsün-tzu (Xunzi:</a:t>
            </a:r>
          </a:p>
          <a:p>
            <a:pPr>
              <a:buFont typeface="Wingdings" pitchFamily="2" charset="2"/>
              <a:buNone/>
            </a:pPr>
            <a:r>
              <a:rPr lang="en-US" sz="2000">
                <a:solidFill>
                  <a:srgbClr val="FFBF1F"/>
                </a:solidFill>
              </a:rPr>
              <a:t>Kongfuzi: 551-479 </a:t>
            </a:r>
            <a:r>
              <a:rPr lang="en-US" sz="1800">
                <a:solidFill>
                  <a:srgbClr val="FFBF1F"/>
                </a:solidFill>
              </a:rPr>
              <a:t>BCE</a:t>
            </a:r>
            <a:r>
              <a:rPr lang="en-US" sz="2000">
                <a:solidFill>
                  <a:srgbClr val="FFBF1F"/>
                </a:solidFill>
              </a:rPr>
              <a:t>)    Mengzi:  372-289 </a:t>
            </a:r>
            <a:r>
              <a:rPr lang="en-US" sz="1800">
                <a:solidFill>
                  <a:srgbClr val="FFBF1F"/>
                </a:solidFill>
              </a:rPr>
              <a:t>BCE</a:t>
            </a:r>
            <a:r>
              <a:rPr lang="en-US" sz="2000">
                <a:solidFill>
                  <a:srgbClr val="FFBF1F"/>
                </a:solidFill>
              </a:rPr>
              <a:t>)         310-220 </a:t>
            </a:r>
            <a:r>
              <a:rPr lang="en-US" sz="1800">
                <a:solidFill>
                  <a:srgbClr val="FFBF1F"/>
                </a:solidFill>
              </a:rPr>
              <a:t>BCE</a:t>
            </a:r>
            <a:r>
              <a:rPr lang="en-US" sz="2000">
                <a:solidFill>
                  <a:srgbClr val="FFBF1F"/>
                </a:solidFill>
              </a:rPr>
              <a:t>)</a:t>
            </a:r>
          </a:p>
        </p:txBody>
      </p:sp>
      <p:graphicFrame>
        <p:nvGraphicFramePr>
          <p:cNvPr id="472072" name="Object 8"/>
          <p:cNvGraphicFramePr>
            <a:graphicFrameLocks noChangeAspect="1"/>
          </p:cNvGraphicFramePr>
          <p:nvPr>
            <p:ph sz="quarter" idx="2"/>
          </p:nvPr>
        </p:nvGraphicFramePr>
        <p:xfrm>
          <a:off x="3200400" y="1905000"/>
          <a:ext cx="2376488" cy="3276600"/>
        </p:xfrm>
        <a:graphic>
          <a:graphicData uri="http://schemas.openxmlformats.org/presentationml/2006/ole">
            <p:oleObj spid="_x0000_s472072" name="Bitmap Image" r:id="rId4" imgW="1486107" imgH="2048161" progId="PBrush">
              <p:embed/>
            </p:oleObj>
          </a:graphicData>
        </a:graphic>
      </p:graphicFrame>
      <p:pic>
        <p:nvPicPr>
          <p:cNvPr id="47206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7200" y="1905000"/>
            <a:ext cx="2576513" cy="3276600"/>
          </a:xfrm>
          <a:prstGeom prst="rect">
            <a:avLst/>
          </a:prstGeom>
          <a:noFill/>
        </p:spPr>
      </p:pic>
      <p:pic>
        <p:nvPicPr>
          <p:cNvPr id="472075" name="Picture 11" descr="xunzi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6"/>
          <a:srcRect/>
          <a:stretch>
            <a:fillRect/>
          </a:stretch>
        </p:blipFill>
        <p:spPr>
          <a:xfrm>
            <a:off x="5715000" y="1905000"/>
            <a:ext cx="2965450" cy="32766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>
                <a:solidFill>
                  <a:srgbClr val="FFBF1F"/>
                </a:solidFill>
              </a:rPr>
              <a:t>2. Confucianism</a:t>
            </a:r>
          </a:p>
        </p:txBody>
      </p:sp>
      <p:sp>
        <p:nvSpPr>
          <p:cNvPr id="525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828800"/>
            <a:ext cx="6172200" cy="40386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800">
                <a:solidFill>
                  <a:srgbClr val="FFBF1F"/>
                </a:solidFill>
              </a:rPr>
              <a:t>The Taoists are wrong! </a:t>
            </a:r>
          </a:p>
          <a:p>
            <a:pPr>
              <a:buFont typeface="Wingdings" pitchFamily="2" charset="2"/>
              <a:buNone/>
            </a:pPr>
            <a:r>
              <a:rPr lang="en-US" sz="2800" i="1">
                <a:solidFill>
                  <a:srgbClr val="FFBF1F"/>
                </a:solidFill>
              </a:rPr>
              <a:t>Don’t</a:t>
            </a:r>
            <a:r>
              <a:rPr lang="en-US" sz="2800">
                <a:solidFill>
                  <a:srgbClr val="FFBF1F"/>
                </a:solidFill>
              </a:rPr>
              <a:t> be an uncarved block – instead you should constantly be seeking to improve yourself, “like carving and polishing jade”</a:t>
            </a:r>
          </a:p>
          <a:p>
            <a:pPr>
              <a:buFont typeface="Wingdings" pitchFamily="2" charset="2"/>
              <a:buNone/>
            </a:pPr>
            <a:r>
              <a:rPr lang="en-US" sz="2800" i="1">
                <a:solidFill>
                  <a:srgbClr val="FFBF1F"/>
                </a:solidFill>
              </a:rPr>
              <a:t>Promote </a:t>
            </a:r>
            <a:r>
              <a:rPr lang="en-US" sz="2800">
                <a:solidFill>
                  <a:srgbClr val="FFBF1F"/>
                </a:solidFill>
              </a:rPr>
              <a:t>education, culture, commerce, civilisation</a:t>
            </a:r>
          </a:p>
          <a:p>
            <a:pPr>
              <a:buFont typeface="Wingdings" pitchFamily="2" charset="2"/>
              <a:buNone/>
            </a:pPr>
            <a:r>
              <a:rPr lang="en-US" sz="2800" i="1">
                <a:solidFill>
                  <a:srgbClr val="FFBF1F"/>
                </a:solidFill>
              </a:rPr>
              <a:t>Cultivate</a:t>
            </a:r>
            <a:r>
              <a:rPr lang="en-US" sz="2800">
                <a:solidFill>
                  <a:srgbClr val="FFBF1F"/>
                </a:solidFill>
              </a:rPr>
              <a:t> relationships of reciprocity and mutual respect</a:t>
            </a:r>
          </a:p>
        </p:txBody>
      </p:sp>
      <p:pic>
        <p:nvPicPr>
          <p:cNvPr id="525319" name="Picture 7" descr="10035a_large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6781800" y="1828800"/>
            <a:ext cx="1804988" cy="41148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>
                <a:solidFill>
                  <a:srgbClr val="FFBF1F"/>
                </a:solidFill>
              </a:rPr>
              <a:t>2. Confucianism</a:t>
            </a:r>
          </a:p>
        </p:txBody>
      </p:sp>
      <p:sp>
        <p:nvSpPr>
          <p:cNvPr id="527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828800"/>
            <a:ext cx="4114800" cy="40386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800" i="1">
                <a:solidFill>
                  <a:srgbClr val="FFBF1F"/>
                </a:solidFill>
              </a:rPr>
              <a:t>Embrace</a:t>
            </a:r>
            <a:r>
              <a:rPr lang="en-US" sz="2800">
                <a:solidFill>
                  <a:srgbClr val="FFBF1F"/>
                </a:solidFill>
              </a:rPr>
              <a:t> traditional norms and social roles as the defining framework of your life</a:t>
            </a:r>
          </a:p>
          <a:p>
            <a:pPr>
              <a:buFont typeface="Wingdings" pitchFamily="2" charset="2"/>
              <a:buNone/>
            </a:pPr>
            <a:r>
              <a:rPr lang="en-US" sz="2800">
                <a:solidFill>
                  <a:srgbClr val="FFBF1F"/>
                </a:solidFill>
              </a:rPr>
              <a:t>The framework may be revised piecemeal from within, but never simply rebuilt from scratch</a:t>
            </a:r>
            <a:endParaRPr lang="en-US" sz="2800" i="1">
              <a:solidFill>
                <a:srgbClr val="FFBF1F"/>
              </a:solidFill>
            </a:endParaRPr>
          </a:p>
        </p:txBody>
      </p:sp>
      <p:graphicFrame>
        <p:nvGraphicFramePr>
          <p:cNvPr id="527366" name="Object 6"/>
          <p:cNvGraphicFramePr>
            <a:graphicFrameLocks noChangeAspect="1"/>
          </p:cNvGraphicFramePr>
          <p:nvPr>
            <p:ph sz="half" idx="2"/>
          </p:nvPr>
        </p:nvGraphicFramePr>
        <p:xfrm>
          <a:off x="4495800" y="1828800"/>
          <a:ext cx="4267200" cy="4116388"/>
        </p:xfrm>
        <a:graphic>
          <a:graphicData uri="http://schemas.openxmlformats.org/presentationml/2006/ole">
            <p:oleObj spid="_x0000_s527366" name="Bitmap Image" r:id="rId4" imgW="4048690" imgH="3905795" progId="PBrush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>
                <a:solidFill>
                  <a:srgbClr val="FFBF1F"/>
                </a:solidFill>
              </a:rPr>
              <a:t>2. Confucianism</a:t>
            </a:r>
          </a:p>
        </p:txBody>
      </p:sp>
      <p:sp>
        <p:nvSpPr>
          <p:cNvPr id="5335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828800"/>
            <a:ext cx="8382000" cy="40386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800">
                <a:solidFill>
                  <a:srgbClr val="FFBF1F"/>
                </a:solidFill>
              </a:rPr>
              <a:t>Deference to established </a:t>
            </a:r>
          </a:p>
          <a:p>
            <a:pPr>
              <a:buFont typeface="Wingdings" pitchFamily="2" charset="2"/>
              <a:buNone/>
            </a:pPr>
            <a:r>
              <a:rPr lang="en-US" sz="2800">
                <a:solidFill>
                  <a:srgbClr val="FFBF1F"/>
                </a:solidFill>
              </a:rPr>
              <a:t>   social roles can mean </a:t>
            </a:r>
          </a:p>
          <a:p>
            <a:pPr>
              <a:buFont typeface="Wingdings" pitchFamily="2" charset="2"/>
              <a:buNone/>
            </a:pPr>
            <a:r>
              <a:rPr lang="en-US" sz="2800">
                <a:solidFill>
                  <a:srgbClr val="FFBF1F"/>
                </a:solidFill>
              </a:rPr>
              <a:t>   deference to authority – </a:t>
            </a:r>
          </a:p>
          <a:p>
            <a:pPr>
              <a:buFont typeface="Wingdings" pitchFamily="2" charset="2"/>
              <a:buNone/>
            </a:pPr>
            <a:r>
              <a:rPr lang="en-US" sz="2800">
                <a:solidFill>
                  <a:srgbClr val="FFBF1F"/>
                </a:solidFill>
              </a:rPr>
              <a:t>   but not always</a:t>
            </a:r>
          </a:p>
          <a:p>
            <a:pPr>
              <a:buFont typeface="Wingdings" pitchFamily="2" charset="2"/>
              <a:buNone/>
            </a:pPr>
            <a:r>
              <a:rPr lang="en-US" sz="2800">
                <a:solidFill>
                  <a:srgbClr val="FFBF1F"/>
                </a:solidFill>
              </a:rPr>
              <a:t>If the ruler doesn’t live up </a:t>
            </a:r>
          </a:p>
          <a:p>
            <a:pPr>
              <a:buFont typeface="Wingdings" pitchFamily="2" charset="2"/>
              <a:buNone/>
            </a:pPr>
            <a:r>
              <a:rPr lang="en-US" sz="2800">
                <a:solidFill>
                  <a:srgbClr val="FFBF1F"/>
                </a:solidFill>
              </a:rPr>
              <a:t>   to his “job description,”</a:t>
            </a:r>
          </a:p>
          <a:p>
            <a:pPr>
              <a:buFont typeface="Wingdings" pitchFamily="2" charset="2"/>
              <a:buNone/>
            </a:pPr>
            <a:r>
              <a:rPr lang="en-US" sz="2800">
                <a:solidFill>
                  <a:srgbClr val="FFBF1F"/>
                </a:solidFill>
              </a:rPr>
              <a:t>   he’s no longer a true ruler, and may be disposed of as a common criminal</a:t>
            </a:r>
          </a:p>
        </p:txBody>
      </p:sp>
      <p:pic>
        <p:nvPicPr>
          <p:cNvPr id="533511" name="Picture 7" descr="thronebl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4572000" y="1828800"/>
            <a:ext cx="4038600" cy="3033713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>
                <a:solidFill>
                  <a:srgbClr val="FFBF1F"/>
                </a:solidFill>
              </a:rPr>
              <a:t>Implications for Nanoethics?</a:t>
            </a:r>
          </a:p>
        </p:txBody>
      </p:sp>
      <p:sp>
        <p:nvSpPr>
          <p:cNvPr id="5867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828800"/>
            <a:ext cx="5410200" cy="40386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Confucian attitudes seem more favourable toward technological progress and self-transformation than Taoist attitudes do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On the other hand, Confucians’ reverence for tradition might make them more cautious about radical change than the Taoists’ </a:t>
            </a:r>
            <a:r>
              <a:rPr lang="en-US" sz="2400" i="1">
                <a:solidFill>
                  <a:srgbClr val="FFBF1F"/>
                </a:solidFill>
              </a:rPr>
              <a:t>laissez faire </a:t>
            </a:r>
            <a:r>
              <a:rPr lang="en-US" sz="2400">
                <a:solidFill>
                  <a:srgbClr val="FFBF1F"/>
                </a:solidFill>
              </a:rPr>
              <a:t>attitude </a:t>
            </a:r>
          </a:p>
        </p:txBody>
      </p:sp>
      <p:pic>
        <p:nvPicPr>
          <p:cNvPr id="58675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38800" y="1981200"/>
            <a:ext cx="2919413" cy="3810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>
                <a:solidFill>
                  <a:srgbClr val="FFBF1F"/>
                </a:solidFill>
              </a:rPr>
              <a:t>A Disagreement </a:t>
            </a:r>
            <a:br>
              <a:rPr lang="en-US" sz="5400">
                <a:solidFill>
                  <a:srgbClr val="FFBF1F"/>
                </a:solidFill>
              </a:rPr>
            </a:br>
            <a:r>
              <a:rPr lang="en-US" sz="5400">
                <a:solidFill>
                  <a:srgbClr val="FFBF1F"/>
                </a:solidFill>
              </a:rPr>
              <a:t>Among Confucians</a:t>
            </a:r>
          </a:p>
        </p:txBody>
      </p:sp>
      <p:sp>
        <p:nvSpPr>
          <p:cNvPr id="529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828800"/>
            <a:ext cx="4876800" cy="40386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 u="sng">
                <a:solidFill>
                  <a:srgbClr val="FFBF1F"/>
                </a:solidFill>
              </a:rPr>
              <a:t>Hsün-tzu</a:t>
            </a:r>
            <a:r>
              <a:rPr lang="en-US" sz="2400">
                <a:solidFill>
                  <a:srgbClr val="FFBF1F"/>
                </a:solidFill>
              </a:rPr>
              <a:t>: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Contrary to the Taoists, our natural inclinations are corrupt and untrustworthy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Therefore moral education is like making bowls out of wood – imposing an alien form, shaping and molding us </a:t>
            </a:r>
            <a:r>
              <a:rPr lang="en-US" sz="2400" i="1">
                <a:solidFill>
                  <a:srgbClr val="FFBF1F"/>
                </a:solidFill>
              </a:rPr>
              <a:t>against</a:t>
            </a:r>
            <a:r>
              <a:rPr lang="en-US" sz="2400">
                <a:solidFill>
                  <a:srgbClr val="FFBF1F"/>
                </a:solidFill>
              </a:rPr>
              <a:t> nature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The virtuous person is an artificial product of a good teacher</a:t>
            </a:r>
          </a:p>
        </p:txBody>
      </p:sp>
      <p:pic>
        <p:nvPicPr>
          <p:cNvPr id="529414" name="Picture 6" descr="xunzi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5181600" y="1905000"/>
            <a:ext cx="3516313" cy="388620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>
                <a:solidFill>
                  <a:srgbClr val="FFBF1F"/>
                </a:solidFill>
              </a:rPr>
              <a:t>A Disagreement </a:t>
            </a:r>
            <a:br>
              <a:rPr lang="en-US" sz="5400">
                <a:solidFill>
                  <a:srgbClr val="FFBF1F"/>
                </a:solidFill>
              </a:rPr>
            </a:br>
            <a:r>
              <a:rPr lang="en-US" sz="5400">
                <a:solidFill>
                  <a:srgbClr val="FFBF1F"/>
                </a:solidFill>
              </a:rPr>
              <a:t>Among Confucians</a:t>
            </a:r>
          </a:p>
        </p:txBody>
      </p:sp>
      <p:sp>
        <p:nvSpPr>
          <p:cNvPr id="531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828800"/>
            <a:ext cx="5410200" cy="40386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 u="sng">
                <a:solidFill>
                  <a:srgbClr val="FFBF1F"/>
                </a:solidFill>
              </a:rPr>
              <a:t>Mencius</a:t>
            </a:r>
            <a:r>
              <a:rPr lang="en-US" sz="2400">
                <a:solidFill>
                  <a:srgbClr val="FFBF1F"/>
                </a:solidFill>
              </a:rPr>
              <a:t>: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Yes, we need moral education – but such education works </a:t>
            </a:r>
            <a:r>
              <a:rPr lang="en-US" sz="2400" i="1">
                <a:solidFill>
                  <a:srgbClr val="FFBF1F"/>
                </a:solidFill>
              </a:rPr>
              <a:t>with</a:t>
            </a:r>
            <a:r>
              <a:rPr lang="en-US" sz="2400">
                <a:solidFill>
                  <a:srgbClr val="FFBF1F"/>
                </a:solidFill>
              </a:rPr>
              <a:t> our nature and helps it reach its fulfillment, rather than working against it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It’s more like watering a plant than like carving wood into bowls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Don’t tug on your plants to help them grow!</a:t>
            </a:r>
          </a:p>
          <a:p>
            <a:pPr>
              <a:buFont typeface="Wingdings" pitchFamily="2" charset="2"/>
              <a:buNone/>
            </a:pPr>
            <a:endParaRPr lang="en-US" sz="2400">
              <a:solidFill>
                <a:srgbClr val="FFBF1F"/>
              </a:solidFill>
            </a:endParaRPr>
          </a:p>
        </p:txBody>
      </p:sp>
      <p:graphicFrame>
        <p:nvGraphicFramePr>
          <p:cNvPr id="531462" name="Object 6"/>
          <p:cNvGraphicFramePr>
            <a:graphicFrameLocks noChangeAspect="1"/>
          </p:cNvGraphicFramePr>
          <p:nvPr>
            <p:ph sz="quarter" idx="2"/>
          </p:nvPr>
        </p:nvGraphicFramePr>
        <p:xfrm>
          <a:off x="5791200" y="1905000"/>
          <a:ext cx="2873375" cy="3962400"/>
        </p:xfrm>
        <a:graphic>
          <a:graphicData uri="http://schemas.openxmlformats.org/presentationml/2006/ole">
            <p:oleObj spid="_x0000_s531462" name="Bitmap Image" r:id="rId4" imgW="1486107" imgH="2048161" progId="PBrush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>
                <a:solidFill>
                  <a:srgbClr val="FFBF1F"/>
                </a:solidFill>
              </a:rPr>
              <a:t>3. Akan Teachings</a:t>
            </a:r>
          </a:p>
        </p:txBody>
      </p:sp>
      <p:sp>
        <p:nvSpPr>
          <p:cNvPr id="5355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828800"/>
            <a:ext cx="4495800" cy="40386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An example of traditional African thought: the Akan peoples of West Africa</a:t>
            </a:r>
          </a:p>
          <a:p>
            <a:pPr>
              <a:buFont typeface="Wingdings" pitchFamily="2" charset="2"/>
              <a:buNone/>
            </a:pPr>
            <a:endParaRPr lang="en-US" sz="2400">
              <a:solidFill>
                <a:srgbClr val="FFBF1F"/>
              </a:solidFill>
            </a:endParaRPr>
          </a:p>
          <a:p>
            <a:r>
              <a:rPr lang="en-US" sz="2400">
                <a:solidFill>
                  <a:srgbClr val="FFBF1F"/>
                </a:solidFill>
              </a:rPr>
              <a:t>“Humans have value”</a:t>
            </a:r>
          </a:p>
          <a:p>
            <a:r>
              <a:rPr lang="en-US" sz="2400">
                <a:solidFill>
                  <a:srgbClr val="FFBF1F"/>
                </a:solidFill>
              </a:rPr>
              <a:t>“Humans need help.”</a:t>
            </a:r>
          </a:p>
          <a:p>
            <a:pPr>
              <a:buFont typeface="Wingdings" pitchFamily="2" charset="2"/>
              <a:buNone/>
            </a:pPr>
            <a:endParaRPr lang="en-US" sz="2400">
              <a:solidFill>
                <a:srgbClr val="FFBF1F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Humans as </a:t>
            </a:r>
            <a:r>
              <a:rPr lang="en-US" sz="2300" i="1">
                <a:solidFill>
                  <a:srgbClr val="FFBF1F"/>
                </a:solidFill>
              </a:rPr>
              <a:t>dependent</a:t>
            </a:r>
            <a:r>
              <a:rPr lang="en-US" sz="2300">
                <a:solidFill>
                  <a:srgbClr val="FFBF1F"/>
                </a:solidFill>
              </a:rPr>
              <a:t> beings</a:t>
            </a:r>
          </a:p>
        </p:txBody>
      </p:sp>
      <p:sp>
        <p:nvSpPr>
          <p:cNvPr id="535559" name="AutoShape 7" descr="gdsld_akan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535562" name="AutoShape 10" descr="vmfag_ghana_head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pic>
        <p:nvPicPr>
          <p:cNvPr id="535563" name="Picture 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6400" y="1905000"/>
            <a:ext cx="2971800" cy="4038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>
                <a:solidFill>
                  <a:srgbClr val="FFBF1F"/>
                </a:solidFill>
              </a:rPr>
              <a:t>3. Akan Teachings</a:t>
            </a:r>
          </a:p>
        </p:txBody>
      </p:sp>
      <p:sp>
        <p:nvSpPr>
          <p:cNvPr id="5416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828800"/>
            <a:ext cx="4648200" cy="4038600"/>
          </a:xfrm>
        </p:spPr>
        <p:txBody>
          <a:bodyPr/>
          <a:lstStyle/>
          <a:p>
            <a:r>
              <a:rPr lang="en-US" sz="2400">
                <a:solidFill>
                  <a:srgbClr val="FFBF1F"/>
                </a:solidFill>
              </a:rPr>
              <a:t>“When you ask for help, your belongings won’t hear you – people will.”</a:t>
            </a:r>
          </a:p>
          <a:p>
            <a:r>
              <a:rPr lang="en-US" sz="2400">
                <a:solidFill>
                  <a:srgbClr val="FFBF1F"/>
                </a:solidFill>
              </a:rPr>
              <a:t>“Whatever threatens another will one day threaten you.”</a:t>
            </a:r>
          </a:p>
          <a:p>
            <a:endParaRPr lang="en-US" sz="2400">
              <a:solidFill>
                <a:srgbClr val="FFBF1F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Humans as </a:t>
            </a:r>
            <a:r>
              <a:rPr lang="en-US" sz="2400" i="1">
                <a:solidFill>
                  <a:srgbClr val="FFBF1F"/>
                </a:solidFill>
              </a:rPr>
              <a:t>mutually</a:t>
            </a:r>
            <a:r>
              <a:rPr lang="en-US" sz="2400">
                <a:solidFill>
                  <a:srgbClr val="FFBF1F"/>
                </a:solidFill>
              </a:rPr>
              <a:t> dependent beings</a:t>
            </a:r>
          </a:p>
          <a:p>
            <a:pPr>
              <a:buFont typeface="Wingdings" pitchFamily="2" charset="2"/>
              <a:buNone/>
            </a:pPr>
            <a:endParaRPr lang="en-US" sz="2400">
              <a:solidFill>
                <a:srgbClr val="FFBF1F"/>
              </a:solidFill>
            </a:endParaRPr>
          </a:p>
        </p:txBody>
      </p:sp>
      <p:sp>
        <p:nvSpPr>
          <p:cNvPr id="541700" name="AutoShape 4" descr="gdsld_akan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pic>
        <p:nvPicPr>
          <p:cNvPr id="54170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53000" y="1828800"/>
            <a:ext cx="3686175" cy="4114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>
                <a:solidFill>
                  <a:srgbClr val="FFBF1F"/>
                </a:solidFill>
              </a:rPr>
              <a:t>3. Akan Teachings</a:t>
            </a:r>
          </a:p>
        </p:txBody>
      </p:sp>
      <p:sp>
        <p:nvSpPr>
          <p:cNvPr id="5498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828800"/>
            <a:ext cx="6705600" cy="40386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But concern for others isn’t 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 	purely strategic:</a:t>
            </a:r>
          </a:p>
          <a:p>
            <a:pPr>
              <a:buFont typeface="Wingdings" pitchFamily="2" charset="2"/>
              <a:buNone/>
            </a:pPr>
            <a:endParaRPr lang="en-US" sz="2400">
              <a:solidFill>
                <a:srgbClr val="FFBF1F"/>
              </a:solidFill>
            </a:endParaRPr>
          </a:p>
          <a:p>
            <a:r>
              <a:rPr lang="en-US" sz="2400">
                <a:solidFill>
                  <a:srgbClr val="FFBF1F"/>
                </a:solidFill>
              </a:rPr>
              <a:t>“Every person is a child 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	of God – none is a child </a:t>
            </a: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	of the earth.”</a:t>
            </a:r>
          </a:p>
          <a:p>
            <a:pPr>
              <a:buFont typeface="Wingdings" pitchFamily="2" charset="2"/>
              <a:buNone/>
            </a:pPr>
            <a:endParaRPr lang="en-US" sz="2400">
              <a:solidFill>
                <a:srgbClr val="FFBF1F"/>
              </a:solidFill>
            </a:endParaRPr>
          </a:p>
          <a:p>
            <a:pPr>
              <a:buFont typeface="Wingdings" pitchFamily="2" charset="2"/>
              <a:buNone/>
            </a:pPr>
            <a:endParaRPr lang="en-US" sz="2400">
              <a:solidFill>
                <a:srgbClr val="FFBF1F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Humans as beings with </a:t>
            </a:r>
            <a:r>
              <a:rPr lang="en-US" sz="2400" i="1">
                <a:solidFill>
                  <a:srgbClr val="FFBF1F"/>
                </a:solidFill>
              </a:rPr>
              <a:t>sacred value</a:t>
            </a:r>
            <a:endParaRPr lang="en-US" sz="2400">
              <a:solidFill>
                <a:srgbClr val="FFBF1F"/>
              </a:solidFill>
            </a:endParaRPr>
          </a:p>
        </p:txBody>
      </p:sp>
      <p:sp>
        <p:nvSpPr>
          <p:cNvPr id="549892" name="AutoShape 4" descr="gdsld_akan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549893" name="AutoShape 5" descr="chief_140w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pic>
        <p:nvPicPr>
          <p:cNvPr id="549895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43400" y="1905000"/>
            <a:ext cx="4267200" cy="298291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>
                <a:solidFill>
                  <a:srgbClr val="FFBF1F"/>
                </a:solidFill>
              </a:rPr>
              <a:t>3. Akan Teachings</a:t>
            </a:r>
          </a:p>
        </p:txBody>
      </p:sp>
      <p:sp>
        <p:nvSpPr>
          <p:cNvPr id="5478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828800"/>
            <a:ext cx="6858000" cy="4038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>
                <a:solidFill>
                  <a:srgbClr val="FFBF1F"/>
                </a:solidFill>
              </a:rPr>
              <a:t>“Whoever lands on earth lands in a town.”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No human existence outside the context of a community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Akan regard </a:t>
            </a:r>
            <a:r>
              <a:rPr lang="en-US" sz="2400" i="1">
                <a:solidFill>
                  <a:srgbClr val="FFBF1F"/>
                </a:solidFill>
              </a:rPr>
              <a:t>Kinship</a:t>
            </a:r>
            <a:r>
              <a:rPr lang="en-US" sz="2400">
                <a:solidFill>
                  <a:srgbClr val="FFBF1F"/>
                </a:solidFill>
              </a:rPr>
              <a:t> as essential to human identity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(Akan teachings not sympathetic to Rawls’ Veil of Ignorance?)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400">
              <a:solidFill>
                <a:srgbClr val="FFBF1F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>
                <a:solidFill>
                  <a:srgbClr val="FFBF1F"/>
                </a:solidFill>
              </a:rPr>
              <a:t>But not a rejection of individual identity:</a:t>
            </a:r>
          </a:p>
          <a:p>
            <a:pPr>
              <a:lnSpc>
                <a:spcPct val="90000"/>
              </a:lnSpc>
            </a:pPr>
            <a:r>
              <a:rPr lang="en-US" sz="2400">
                <a:solidFill>
                  <a:srgbClr val="FFBF1F"/>
                </a:solidFill>
              </a:rPr>
              <a:t>“Nobody else was present when God gave me my destiny.”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400">
              <a:solidFill>
                <a:srgbClr val="FFBF1F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400">
              <a:solidFill>
                <a:srgbClr val="FFBF1F"/>
              </a:solidFill>
            </a:endParaRPr>
          </a:p>
        </p:txBody>
      </p:sp>
      <p:sp>
        <p:nvSpPr>
          <p:cNvPr id="547844" name="AutoShape 4" descr="gdsld_akan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547845" name="AutoShape 5" descr="chief_140w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pic>
        <p:nvPicPr>
          <p:cNvPr id="547846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15200" y="1905000"/>
            <a:ext cx="1333500" cy="40290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L-Nanoethics-6">
  <a:themeElements>
    <a:clrScheme name="Refined 1">
      <a:dk1>
        <a:srgbClr val="666633"/>
      </a:dk1>
      <a:lt1>
        <a:srgbClr val="FFFFFF"/>
      </a:lt1>
      <a:dk2>
        <a:srgbClr val="000000"/>
      </a:dk2>
      <a:lt2>
        <a:srgbClr val="FFFFFF"/>
      </a:lt2>
      <a:accent1>
        <a:srgbClr val="666699"/>
      </a:accent1>
      <a:accent2>
        <a:srgbClr val="990000"/>
      </a:accent2>
      <a:accent3>
        <a:srgbClr val="AAAAAA"/>
      </a:accent3>
      <a:accent4>
        <a:srgbClr val="DADADA"/>
      </a:accent4>
      <a:accent5>
        <a:srgbClr val="B8B8CA"/>
      </a:accent5>
      <a:accent6>
        <a:srgbClr val="8A0000"/>
      </a:accent6>
      <a:hlink>
        <a:srgbClr val="999900"/>
      </a:hlink>
      <a:folHlink>
        <a:srgbClr val="FFFFFF"/>
      </a:folHlink>
    </a:clrScheme>
    <a:fontScheme name="Refined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Refined 1">
        <a:dk1>
          <a:srgbClr val="666633"/>
        </a:dk1>
        <a:lt1>
          <a:srgbClr val="FFFFFF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990000"/>
        </a:accent2>
        <a:accent3>
          <a:srgbClr val="AAAAAA"/>
        </a:accent3>
        <a:accent4>
          <a:srgbClr val="DADADA"/>
        </a:accent4>
        <a:accent5>
          <a:srgbClr val="B8B8CA"/>
        </a:accent5>
        <a:accent6>
          <a:srgbClr val="8A0000"/>
        </a:accent6>
        <a:hlink>
          <a:srgbClr val="9999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fined 2">
        <a:dk1>
          <a:srgbClr val="4D4D4D"/>
        </a:dk1>
        <a:lt1>
          <a:srgbClr val="FFFFFF"/>
        </a:lt1>
        <a:dk2>
          <a:srgbClr val="4A1102"/>
        </a:dk2>
        <a:lt2>
          <a:srgbClr val="FFFFFF"/>
        </a:lt2>
        <a:accent1>
          <a:srgbClr val="CC3300"/>
        </a:accent1>
        <a:accent2>
          <a:srgbClr val="666699"/>
        </a:accent2>
        <a:accent3>
          <a:srgbClr val="B1AAAA"/>
        </a:accent3>
        <a:accent4>
          <a:srgbClr val="DADADA"/>
        </a:accent4>
        <a:accent5>
          <a:srgbClr val="E2ADAA"/>
        </a:accent5>
        <a:accent6>
          <a:srgbClr val="5C5C8A"/>
        </a:accent6>
        <a:hlink>
          <a:srgbClr val="FF99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fined 3">
        <a:dk1>
          <a:srgbClr val="666699"/>
        </a:dk1>
        <a:lt1>
          <a:srgbClr val="FFFFFF"/>
        </a:lt1>
        <a:dk2>
          <a:srgbClr val="400040"/>
        </a:dk2>
        <a:lt2>
          <a:srgbClr val="FFFFFF"/>
        </a:lt2>
        <a:accent1>
          <a:srgbClr val="FFCC00"/>
        </a:accent1>
        <a:accent2>
          <a:srgbClr val="FF3300"/>
        </a:accent2>
        <a:accent3>
          <a:srgbClr val="AFAAAF"/>
        </a:accent3>
        <a:accent4>
          <a:srgbClr val="DADADA"/>
        </a:accent4>
        <a:accent5>
          <a:srgbClr val="FFE2AA"/>
        </a:accent5>
        <a:accent6>
          <a:srgbClr val="E72D00"/>
        </a:accent6>
        <a:hlink>
          <a:srgbClr val="CC99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fined 4">
        <a:dk1>
          <a:srgbClr val="4D4D4D"/>
        </a:dk1>
        <a:lt1>
          <a:srgbClr val="FFFFFF"/>
        </a:lt1>
        <a:dk2>
          <a:srgbClr val="006699"/>
        </a:dk2>
        <a:lt2>
          <a:srgbClr val="CCECFF"/>
        </a:lt2>
        <a:accent1>
          <a:srgbClr val="339966"/>
        </a:accent1>
        <a:accent2>
          <a:srgbClr val="3366FF"/>
        </a:accent2>
        <a:accent3>
          <a:srgbClr val="AAB8CA"/>
        </a:accent3>
        <a:accent4>
          <a:srgbClr val="DADADA"/>
        </a:accent4>
        <a:accent5>
          <a:srgbClr val="ADCAB8"/>
        </a:accent5>
        <a:accent6>
          <a:srgbClr val="2D5CE7"/>
        </a:accent6>
        <a:hlink>
          <a:srgbClr val="33CC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fined 5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FF66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8A2D"/>
        </a:accent6>
        <a:hlink>
          <a:srgbClr val="FFCC00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fined 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C3300"/>
        </a:accent1>
        <a:accent2>
          <a:srgbClr val="666699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5C5C8A"/>
        </a:accent6>
        <a:hlink>
          <a:srgbClr val="999900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fined 7">
        <a:dk1>
          <a:srgbClr val="000000"/>
        </a:dk1>
        <a:lt1>
          <a:srgbClr val="FFFFFF"/>
        </a:lt1>
        <a:dk2>
          <a:srgbClr val="000066"/>
        </a:dk2>
        <a:lt2>
          <a:srgbClr val="333399"/>
        </a:lt2>
        <a:accent1>
          <a:srgbClr val="3399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8AE7"/>
        </a:accent6>
        <a:hlink>
          <a:srgbClr val="00CCFF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RL-Nanoethics-6</Template>
  <TotalTime>5</TotalTime>
  <Words>634</Words>
  <Application>Microsoft PowerPoint</Application>
  <PresentationFormat>On-screen Show (4:3)</PresentationFormat>
  <Paragraphs>103</Paragraphs>
  <Slides>16</Slides>
  <Notes>16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RL-Nanoethics-6</vt:lpstr>
      <vt:lpstr>Bitmap Image</vt:lpstr>
      <vt:lpstr>1. Taoism (Daoism)</vt:lpstr>
      <vt:lpstr>1. Taoism (Daoism)</vt:lpstr>
      <vt:lpstr>1. Taoism (Daoism)</vt:lpstr>
      <vt:lpstr>1. Taoism (Daoism)</vt:lpstr>
      <vt:lpstr>1. Taoism (Daoism)</vt:lpstr>
      <vt:lpstr>2. Confucianism</vt:lpstr>
      <vt:lpstr>2. Confucianism</vt:lpstr>
      <vt:lpstr>2. Confucianism</vt:lpstr>
      <vt:lpstr>2. Confucianism</vt:lpstr>
      <vt:lpstr>Implications for Nanoethics?</vt:lpstr>
      <vt:lpstr>A Disagreement  Among Confucians</vt:lpstr>
      <vt:lpstr>A Disagreement  Among Confucians</vt:lpstr>
      <vt:lpstr>3. Akan Teachings</vt:lpstr>
      <vt:lpstr>3. Akan Teachings</vt:lpstr>
      <vt:lpstr>3. Akan Teachings</vt:lpstr>
      <vt:lpstr>3. Akan Teachings</vt:lpstr>
    </vt:vector>
  </TitlesOfParts>
  <Company>Auburn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Western and Nonwestern Ethical Approaches  Nanoethics Lecture VI</dc:title>
  <dc:creator>Roderick Tracy Long</dc:creator>
  <cp:lastModifiedBy>Roderick Tracy Long</cp:lastModifiedBy>
  <cp:revision>6</cp:revision>
  <dcterms:created xsi:type="dcterms:W3CDTF">2008-04-18T20:34:41Z</dcterms:created>
  <dcterms:modified xsi:type="dcterms:W3CDTF">2008-04-18T20:47:10Z</dcterms:modified>
</cp:coreProperties>
</file>