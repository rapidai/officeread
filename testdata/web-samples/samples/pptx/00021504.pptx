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82" r:id="rId2"/>
    <p:sldId id="285" r:id="rId3"/>
    <p:sldId id="283" r:id="rId4"/>
    <p:sldId id="284" r:id="rId5"/>
    <p:sldId id="297" r:id="rId6"/>
    <p:sldId id="293" r:id="rId7"/>
    <p:sldId id="286" r:id="rId8"/>
    <p:sldId id="287" r:id="rId9"/>
    <p:sldId id="288" r:id="rId10"/>
    <p:sldId id="295" r:id="rId11"/>
    <p:sldId id="289" r:id="rId12"/>
    <p:sldId id="290" r:id="rId13"/>
    <p:sldId id="291" r:id="rId14"/>
    <p:sldId id="292" r:id="rId15"/>
    <p:sldId id="296" r:id="rId16"/>
  </p:sldIdLst>
  <p:sldSz cx="9144000" cy="6858000" type="screen4x3"/>
  <p:notesSz cx="6858000" cy="919956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4400" b="1" kern="1200">
        <a:solidFill>
          <a:schemeClr val="tx2"/>
        </a:solidFill>
        <a:latin typeface="GillSans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4400" b="1" kern="1200">
        <a:solidFill>
          <a:schemeClr val="tx2"/>
        </a:solidFill>
        <a:latin typeface="GillSans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4400" b="1" kern="1200">
        <a:solidFill>
          <a:schemeClr val="tx2"/>
        </a:solidFill>
        <a:latin typeface="GillSans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4400" b="1" kern="1200">
        <a:solidFill>
          <a:schemeClr val="tx2"/>
        </a:solidFill>
        <a:latin typeface="GillSans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4400" b="1" kern="1200">
        <a:solidFill>
          <a:schemeClr val="tx2"/>
        </a:solidFill>
        <a:latin typeface="GillSans" pitchFamily="34" charset="0"/>
        <a:ea typeface="+mn-ea"/>
        <a:cs typeface="+mn-cs"/>
      </a:defRPr>
    </a:lvl5pPr>
    <a:lvl6pPr marL="2286000" algn="l" defTabSz="914400" rtl="0" eaLnBrk="1" latinLnBrk="0" hangingPunct="1">
      <a:defRPr sz="4400" b="1" kern="1200">
        <a:solidFill>
          <a:schemeClr val="tx2"/>
        </a:solidFill>
        <a:latin typeface="GillSans" pitchFamily="34" charset="0"/>
        <a:ea typeface="+mn-ea"/>
        <a:cs typeface="+mn-cs"/>
      </a:defRPr>
    </a:lvl6pPr>
    <a:lvl7pPr marL="2743200" algn="l" defTabSz="914400" rtl="0" eaLnBrk="1" latinLnBrk="0" hangingPunct="1">
      <a:defRPr sz="4400" b="1" kern="1200">
        <a:solidFill>
          <a:schemeClr val="tx2"/>
        </a:solidFill>
        <a:latin typeface="GillSans" pitchFamily="34" charset="0"/>
        <a:ea typeface="+mn-ea"/>
        <a:cs typeface="+mn-cs"/>
      </a:defRPr>
    </a:lvl7pPr>
    <a:lvl8pPr marL="3200400" algn="l" defTabSz="914400" rtl="0" eaLnBrk="1" latinLnBrk="0" hangingPunct="1">
      <a:defRPr sz="4400" b="1" kern="1200">
        <a:solidFill>
          <a:schemeClr val="tx2"/>
        </a:solidFill>
        <a:latin typeface="GillSans" pitchFamily="34" charset="0"/>
        <a:ea typeface="+mn-ea"/>
        <a:cs typeface="+mn-cs"/>
      </a:defRPr>
    </a:lvl8pPr>
    <a:lvl9pPr marL="3657600" algn="l" defTabSz="914400" rtl="0" eaLnBrk="1" latinLnBrk="0" hangingPunct="1">
      <a:defRPr sz="4400" b="1" kern="1200">
        <a:solidFill>
          <a:schemeClr val="tx2"/>
        </a:solidFill>
        <a:latin typeface="GillSans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618" autoAdjust="0"/>
    <p:restoredTop sz="86443" autoAdjust="0"/>
  </p:normalViewPr>
  <p:slideViewPr>
    <p:cSldViewPr>
      <p:cViewPr varScale="1">
        <p:scale>
          <a:sx n="95" d="100"/>
          <a:sy n="95" d="100"/>
        </p:scale>
        <p:origin x="-114" y="-3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solidFill>
                  <a:schemeClr val="tx1"/>
                </a:solidFill>
                <a:latin typeface="Arial" pitchFamily="34" charset="0"/>
              </a:defRPr>
            </a:lvl1pPr>
          </a:lstStyle>
          <a:p>
            <a:endParaRPr lang="en-US"/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solidFill>
                  <a:schemeClr val="tx1"/>
                </a:solidFill>
                <a:latin typeface="Arial" pitchFamily="34" charset="0"/>
              </a:defRPr>
            </a:lvl1pPr>
          </a:lstStyle>
          <a:p>
            <a:endParaRPr lang="en-US"/>
          </a:p>
        </p:txBody>
      </p:sp>
      <p:sp>
        <p:nvSpPr>
          <p:cNvPr id="307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737600"/>
            <a:ext cx="29718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solidFill>
                  <a:schemeClr val="tx1"/>
                </a:solidFill>
                <a:latin typeface="Arial" pitchFamily="34" charset="0"/>
              </a:defRPr>
            </a:lvl1pPr>
          </a:lstStyle>
          <a:p>
            <a:endParaRPr lang="en-US"/>
          </a:p>
        </p:txBody>
      </p:sp>
      <p:sp>
        <p:nvSpPr>
          <p:cNvPr id="307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737600"/>
            <a:ext cx="29718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solidFill>
                  <a:schemeClr val="tx1"/>
                </a:solidFill>
                <a:latin typeface="Arial" pitchFamily="34" charset="0"/>
              </a:defRPr>
            </a:lvl1pPr>
          </a:lstStyle>
          <a:p>
            <a:fld id="{769E00C5-FBF9-4FF3-9774-98667ACCFA1F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60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60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C318C2-69BF-4A3D-BFB2-8AD8ED85A13E}" type="datetimeFigureOut">
              <a:rPr lang="en-US" smtClean="0"/>
              <a:pPr/>
              <a:t>11/4/2010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30300" y="690563"/>
            <a:ext cx="4597400" cy="34496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70388"/>
            <a:ext cx="5486400" cy="41386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37600"/>
            <a:ext cx="2971800" cy="460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737600"/>
            <a:ext cx="2971800" cy="460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0A129A-211B-4110-951C-911CBA61104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0A129A-211B-4110-951C-911CBA611045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92609CD-C4FB-4A5A-BE34-D8AABB466474}" type="slidenum">
              <a:rPr lang="en-US"/>
              <a:pPr/>
              <a:t>3</a:t>
            </a:fld>
            <a:endParaRPr lang="en-US"/>
          </a:p>
        </p:txBody>
      </p:sp>
      <p:sp>
        <p:nvSpPr>
          <p:cNvPr id="12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31888" y="688975"/>
            <a:ext cx="4597400" cy="3449638"/>
          </a:xfrm>
          <a:ln/>
        </p:spPr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69792"/>
            <a:ext cx="5486400" cy="4141401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OHPI: Office of Highway Policy Information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0A129A-211B-4110-951C-911CBA611045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0A129A-211B-4110-951C-911CBA611045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5" name="Picture 5" descr="PPTtemplate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 bwMode="auto">
          <a:xfrm>
            <a:off x="1447800" y="-22225"/>
            <a:ext cx="7467600" cy="14700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447800" y="1524000"/>
            <a:ext cx="6096000" cy="17526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>
              <a:buFontTx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3" name="Picture 9" descr="PPTtemplate1"/>
          <p:cNvPicPr>
            <a:picLocks noChangeAspect="1" noChangeArrowheads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GillSans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GillSans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GillSans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GillSans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GillSans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GillSans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GillSans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GillSans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143000" y="1066800"/>
            <a:ext cx="7772400" cy="2438400"/>
          </a:xfrm>
        </p:spPr>
        <p:txBody>
          <a:bodyPr/>
          <a:lstStyle/>
          <a:p>
            <a:r>
              <a:rPr lang="en-US" sz="4000" dirty="0" smtClean="0">
                <a:latin typeface="Calibri" pitchFamily="34" charset="0"/>
              </a:rPr>
              <a:t>FHWA Traveler Analysis Framework</a:t>
            </a:r>
            <a:r>
              <a:rPr lang="en-US" sz="4000" dirty="0">
                <a:latin typeface="Calibri" pitchFamily="34" charset="0"/>
              </a:rPr>
              <a:t/>
            </a:r>
            <a:br>
              <a:rPr lang="en-US" sz="4000" dirty="0">
                <a:latin typeface="Calibri" pitchFamily="34" charset="0"/>
              </a:rPr>
            </a:br>
            <a:r>
              <a:rPr lang="en-US" sz="4000" dirty="0" smtClean="0">
                <a:latin typeface="Calibri" pitchFamily="34" charset="0"/>
              </a:rPr>
              <a:t>Part II</a:t>
            </a:r>
            <a:br>
              <a:rPr lang="en-US" sz="4000" dirty="0" smtClean="0">
                <a:latin typeface="Calibri" pitchFamily="34" charset="0"/>
              </a:rPr>
            </a:br>
            <a:r>
              <a:rPr lang="en-US" sz="4000" dirty="0" smtClean="0">
                <a:latin typeface="Calibri" pitchFamily="34" charset="0"/>
              </a:rPr>
              <a:t>Status Report</a:t>
            </a:r>
            <a:br>
              <a:rPr lang="en-US" sz="4000" dirty="0" smtClean="0">
                <a:latin typeface="Calibri" pitchFamily="34" charset="0"/>
              </a:rPr>
            </a:br>
            <a:endParaRPr lang="en-US" sz="4000" dirty="0">
              <a:latin typeface="Calibri" pitchFamily="34" charset="0"/>
            </a:endParaRP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267200"/>
            <a:ext cx="6400800" cy="9906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sz="2000" b="1" dirty="0" smtClean="0">
                <a:solidFill>
                  <a:srgbClr val="000000"/>
                </a:solidFill>
                <a:latin typeface="Calibri" pitchFamily="34" charset="0"/>
              </a:rPr>
              <a:t>AMPO Travel Modeling Meeting</a:t>
            </a:r>
            <a:endParaRPr lang="en-US" sz="2000" b="1" dirty="0">
              <a:solidFill>
                <a:srgbClr val="000000"/>
              </a:solidFill>
              <a:latin typeface="Calibri" pitchFamily="34" charset="0"/>
            </a:endParaRPr>
          </a:p>
          <a:p>
            <a:pPr>
              <a:lnSpc>
                <a:spcPct val="80000"/>
              </a:lnSpc>
            </a:pPr>
            <a:r>
              <a:rPr lang="en-US" sz="2000" b="1" dirty="0" smtClean="0">
                <a:solidFill>
                  <a:srgbClr val="000000"/>
                </a:solidFill>
                <a:latin typeface="Calibri" pitchFamily="34" charset="0"/>
              </a:rPr>
              <a:t>Washington, D.C.</a:t>
            </a:r>
            <a:endParaRPr lang="en-US" sz="2000" b="1" dirty="0">
              <a:solidFill>
                <a:srgbClr val="000000"/>
              </a:solidFill>
              <a:latin typeface="Calibri" pitchFamily="34" charset="0"/>
            </a:endParaRPr>
          </a:p>
          <a:p>
            <a:pPr>
              <a:lnSpc>
                <a:spcPct val="80000"/>
              </a:lnSpc>
            </a:pPr>
            <a:r>
              <a:rPr lang="en-US" sz="2000" b="1" dirty="0" smtClean="0">
                <a:solidFill>
                  <a:srgbClr val="000000"/>
                </a:solidFill>
                <a:latin typeface="Calibri" pitchFamily="34" charset="0"/>
              </a:rPr>
              <a:t>November 5, 2010</a:t>
            </a:r>
            <a:endParaRPr lang="en-US" sz="2000" b="1" dirty="0">
              <a:solidFill>
                <a:srgbClr val="000000"/>
              </a:solidFill>
              <a:latin typeface="Calibri" pitchFamily="34" charset="0"/>
            </a:endParaRPr>
          </a:p>
        </p:txBody>
      </p:sp>
      <p:pic>
        <p:nvPicPr>
          <p:cNvPr id="9221" name="Picture 5" descr="Principal_White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010400" y="4343400"/>
            <a:ext cx="1460500" cy="825500"/>
          </a:xfrm>
          <a:prstGeom prst="rect">
            <a:avLst/>
          </a:prstGeom>
          <a:noFill/>
        </p:spPr>
      </p:pic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1371600" y="5410200"/>
            <a:ext cx="4419600" cy="9906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Daniel</a:t>
            </a:r>
            <a:r>
              <a:rPr kumimoji="0" lang="en-US" sz="2000" b="1" i="0" u="none" strike="noStrike" kern="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 Jenkins, FHWA</a:t>
            </a: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000" kern="0" noProof="0" dirty="0" smtClean="0">
                <a:solidFill>
                  <a:srgbClr val="000000"/>
                </a:solidFill>
                <a:latin typeface="Calibri" pitchFamily="34" charset="0"/>
              </a:rPr>
              <a:t>Don Vary, WSA</a:t>
            </a:r>
            <a:endParaRPr kumimoji="0" lang="en-US" sz="20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  <p:pic>
        <p:nvPicPr>
          <p:cNvPr id="36866" name="Picture 2"/>
          <p:cNvPicPr>
            <a:picLocks noChangeAspect="1" noChangeArrowheads="1"/>
          </p:cNvPicPr>
          <p:nvPr/>
        </p:nvPicPr>
        <p:blipFill>
          <a:blip r:embed="rId4" cstate="print"/>
          <a:srcRect l="1165" t="6923" r="86404" b="6923"/>
          <a:stretch>
            <a:fillRect/>
          </a:stretch>
        </p:blipFill>
        <p:spPr bwMode="auto">
          <a:xfrm>
            <a:off x="7467600" y="5334000"/>
            <a:ext cx="762000" cy="762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458788"/>
            <a:r>
              <a:rPr lang="en-US" dirty="0" smtClean="0"/>
              <a:t>FHWA TAF Part II</a:t>
            </a:r>
            <a:endParaRPr lang="en-US" dirty="0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524000"/>
            <a:ext cx="6945313" cy="4648200"/>
          </a:xfrm>
        </p:spPr>
        <p:txBody>
          <a:bodyPr/>
          <a:lstStyle/>
          <a:p>
            <a:r>
              <a:rPr lang="en-US" sz="2400" dirty="0" smtClean="0"/>
              <a:t>FHWA Leading Office and Program Manager</a:t>
            </a:r>
          </a:p>
          <a:p>
            <a:pPr>
              <a:buNone/>
            </a:pPr>
            <a:r>
              <a:rPr lang="en-US" sz="2400" dirty="0" smtClean="0"/>
              <a:t>	Office of Highway Policy Information (OHPI)</a:t>
            </a:r>
          </a:p>
          <a:p>
            <a:pPr>
              <a:buNone/>
            </a:pPr>
            <a:r>
              <a:rPr lang="en-US" sz="2400" dirty="0" smtClean="0"/>
              <a:t>	Danny Jenkins, PE.</a:t>
            </a:r>
          </a:p>
          <a:p>
            <a:pPr>
              <a:buNone/>
            </a:pPr>
            <a:r>
              <a:rPr lang="en-US" sz="2400" dirty="0" smtClean="0"/>
              <a:t>	Daniel.Jenkins@DOT.GOV</a:t>
            </a:r>
          </a:p>
          <a:p>
            <a:r>
              <a:rPr lang="en-US" sz="2400" dirty="0" smtClean="0"/>
              <a:t>Team </a:t>
            </a:r>
          </a:p>
          <a:p>
            <a:pPr>
              <a:buNone/>
            </a:pPr>
            <a:r>
              <a:rPr lang="en-US" sz="2400" dirty="0" smtClean="0"/>
              <a:t>	 </a:t>
            </a:r>
            <a:r>
              <a:rPr lang="en-US" sz="2400" dirty="0"/>
              <a:t>Roger Mingo, </a:t>
            </a:r>
            <a:r>
              <a:rPr lang="en-US" sz="2400" dirty="0" smtClean="0"/>
              <a:t>WSA, RSG</a:t>
            </a:r>
            <a:r>
              <a:rPr lang="en-US" sz="2400" dirty="0"/>
              <a:t>, Matt </a:t>
            </a:r>
            <a:r>
              <a:rPr lang="en-US" sz="2400" dirty="0" smtClean="0"/>
              <a:t>Coogan</a:t>
            </a:r>
          </a:p>
          <a:p>
            <a:r>
              <a:rPr lang="en-US" sz="2400" dirty="0" smtClean="0"/>
              <a:t>Aided by expert panel </a:t>
            </a:r>
          </a:p>
          <a:p>
            <a:pPr lvl="1"/>
            <a:r>
              <a:rPr lang="en-US" sz="2000" dirty="0" smtClean="0"/>
              <a:t>Academicians, </a:t>
            </a:r>
            <a:r>
              <a:rPr lang="en-US" sz="2000" dirty="0" smtClean="0"/>
              <a:t>practitioners (MPO, state DOT), </a:t>
            </a:r>
            <a:r>
              <a:rPr lang="en-US" sz="2000" dirty="0" smtClean="0"/>
              <a:t>private sector</a:t>
            </a:r>
          </a:p>
          <a:p>
            <a:endParaRPr lang="en-US" sz="2400" dirty="0" smtClean="0"/>
          </a:p>
          <a:p>
            <a:endParaRPr lang="en-US" dirty="0" smtClean="0"/>
          </a:p>
          <a:p>
            <a:pPr lvl="1"/>
            <a:endParaRPr lang="en-US" sz="2400" dirty="0" smtClean="0"/>
          </a:p>
          <a:p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533400"/>
            <a:ext cx="8229600" cy="952500"/>
          </a:xfrm>
        </p:spPr>
        <p:txBody>
          <a:bodyPr/>
          <a:lstStyle/>
          <a:p>
            <a:pPr marL="458788"/>
            <a:r>
              <a:rPr lang="en-US" dirty="0" smtClean="0"/>
              <a:t> Traveler Analysis Framework 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43000" y="1295400"/>
            <a:ext cx="7467600" cy="38100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800" dirty="0" smtClean="0"/>
              <a:t>Background/Purpose</a:t>
            </a:r>
          </a:p>
          <a:p>
            <a:pPr lvl="1">
              <a:lnSpc>
                <a:spcPct val="90000"/>
              </a:lnSpc>
            </a:pPr>
            <a:r>
              <a:rPr lang="en-US" sz="2400" dirty="0" smtClean="0"/>
              <a:t>Development of long-distance multimodal  passenger flows for demand analysis</a:t>
            </a:r>
            <a:endParaRPr lang="en-US" sz="2400" dirty="0"/>
          </a:p>
          <a:p>
            <a:pPr>
              <a:lnSpc>
                <a:spcPct val="90000"/>
              </a:lnSpc>
            </a:pPr>
            <a:r>
              <a:rPr lang="en-US" sz="2800" dirty="0" smtClean="0"/>
              <a:t>Motivation</a:t>
            </a:r>
          </a:p>
          <a:p>
            <a:pPr lvl="1">
              <a:lnSpc>
                <a:spcPct val="90000"/>
              </a:lnSpc>
            </a:pPr>
            <a:r>
              <a:rPr lang="en-US" sz="2400" dirty="0" smtClean="0"/>
              <a:t>Inconsistent/non-existent data</a:t>
            </a:r>
          </a:p>
          <a:p>
            <a:pPr lvl="1">
              <a:lnSpc>
                <a:spcPct val="90000"/>
              </a:lnSpc>
            </a:pPr>
            <a:r>
              <a:rPr lang="en-US" sz="2400" dirty="0" smtClean="0"/>
              <a:t>Expense of “one-off” surveys</a:t>
            </a:r>
          </a:p>
          <a:p>
            <a:pPr lvl="1">
              <a:lnSpc>
                <a:spcPct val="90000"/>
              </a:lnSpc>
            </a:pPr>
            <a:r>
              <a:rPr lang="en-US" sz="2400" dirty="0" smtClean="0"/>
              <a:t>Growing importance of multi-regional, corridor and multinational analysis</a:t>
            </a:r>
          </a:p>
          <a:p>
            <a:pPr lvl="1">
              <a:lnSpc>
                <a:spcPct val="90000"/>
              </a:lnSpc>
            </a:pPr>
            <a:r>
              <a:rPr lang="en-US" sz="2400" dirty="0" smtClean="0"/>
              <a:t>Need for policy analysis – price, demographics</a:t>
            </a:r>
          </a:p>
          <a:p>
            <a:pPr lvl="1">
              <a:lnSpc>
                <a:spcPct val="90000"/>
              </a:lnSpc>
            </a:pPr>
            <a:r>
              <a:rPr lang="en-US" sz="2400" dirty="0" smtClean="0"/>
              <a:t>Travel market: high VMT, often high-value</a:t>
            </a:r>
          </a:p>
          <a:p>
            <a:pPr lvl="1">
              <a:lnSpc>
                <a:spcPct val="90000"/>
              </a:lnSpc>
              <a:buNone/>
            </a:pPr>
            <a:endParaRPr lang="en-US" sz="2400" dirty="0" smtClean="0"/>
          </a:p>
          <a:p>
            <a:pPr lvl="1">
              <a:lnSpc>
                <a:spcPct val="90000"/>
              </a:lnSpc>
            </a:pP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458788"/>
            <a:r>
              <a:rPr lang="en-US" dirty="0" smtClean="0"/>
              <a:t>TAF - Evolutionary Process</a:t>
            </a:r>
            <a:endParaRPr lang="en-US" dirty="0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447800"/>
            <a:ext cx="8001000" cy="4648200"/>
          </a:xfrm>
        </p:spPr>
        <p:txBody>
          <a:bodyPr/>
          <a:lstStyle/>
          <a:p>
            <a:r>
              <a:rPr lang="en-US" sz="2400" b="1" dirty="0" smtClean="0"/>
              <a:t>2010 FHWA OHPI Travel “Roadmap” – Track 1</a:t>
            </a:r>
          </a:p>
          <a:p>
            <a:pPr lvl="1"/>
            <a:r>
              <a:rPr lang="en-US" sz="2400" dirty="0" smtClean="0"/>
              <a:t>Use of existing data for current and future flows</a:t>
            </a:r>
          </a:p>
          <a:p>
            <a:pPr lvl="1"/>
            <a:r>
              <a:rPr lang="en-US" sz="2400" dirty="0" smtClean="0"/>
              <a:t>Assign to national </a:t>
            </a:r>
            <a:r>
              <a:rPr lang="en-US" sz="2400" dirty="0" smtClean="0"/>
              <a:t>network</a:t>
            </a:r>
          </a:p>
          <a:p>
            <a:pPr lvl="1"/>
            <a:r>
              <a:rPr lang="en-US" sz="2400" dirty="0" smtClean="0"/>
              <a:t>Focus of this study</a:t>
            </a:r>
            <a:endParaRPr lang="en-US" sz="2400" dirty="0" smtClean="0"/>
          </a:p>
          <a:p>
            <a:r>
              <a:rPr lang="en-US" sz="2400" b="1" dirty="0" smtClean="0"/>
              <a:t>2010 FHWA OHPI Travel “Roadmap” – Track 2</a:t>
            </a:r>
          </a:p>
          <a:p>
            <a:pPr lvl="1"/>
            <a:r>
              <a:rPr lang="en-US" sz="2400" dirty="0" smtClean="0"/>
              <a:t>Design/implement new household travel survey</a:t>
            </a:r>
          </a:p>
          <a:p>
            <a:pPr lvl="1"/>
            <a:r>
              <a:rPr lang="en-US" sz="2400" dirty="0" smtClean="0"/>
              <a:t>Develop new models</a:t>
            </a:r>
          </a:p>
          <a:p>
            <a:endParaRPr lang="en-US" dirty="0" smtClean="0"/>
          </a:p>
          <a:p>
            <a:pPr lvl="1"/>
            <a:endParaRPr lang="en-US" sz="2400" dirty="0" smtClean="0"/>
          </a:p>
          <a:p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2133600"/>
            <a:ext cx="8229600" cy="1143000"/>
          </a:xfrm>
        </p:spPr>
        <p:txBody>
          <a:bodyPr/>
          <a:lstStyle/>
          <a:p>
            <a:pPr marL="458788"/>
            <a:r>
              <a:rPr lang="en-US" dirty="0" smtClean="0"/>
              <a:t>Preliminary Thoughts and Approached Offered by the Team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458788"/>
            <a:r>
              <a:rPr lang="en-US" dirty="0" smtClean="0"/>
              <a:t>FHWA TAF Part II</a:t>
            </a:r>
            <a:endParaRPr lang="en-US" dirty="0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447800"/>
            <a:ext cx="6945313" cy="4648200"/>
          </a:xfrm>
        </p:spPr>
        <p:txBody>
          <a:bodyPr/>
          <a:lstStyle/>
          <a:p>
            <a:r>
              <a:rPr lang="en-US" sz="2400" dirty="0" smtClean="0"/>
              <a:t>Status</a:t>
            </a:r>
          </a:p>
          <a:p>
            <a:pPr lvl="1"/>
            <a:r>
              <a:rPr lang="en-US" sz="2000" dirty="0" smtClean="0"/>
              <a:t>First panel meeting November 18 to lay out basic methodology</a:t>
            </a:r>
          </a:p>
          <a:p>
            <a:pPr lvl="1"/>
            <a:r>
              <a:rPr lang="en-US" sz="2000" dirty="0" smtClean="0"/>
              <a:t>18 month timeframe</a:t>
            </a:r>
          </a:p>
          <a:p>
            <a:endParaRPr lang="en-US" sz="2400" dirty="0" smtClean="0"/>
          </a:p>
          <a:p>
            <a:endParaRPr lang="en-US" dirty="0" smtClean="0"/>
          </a:p>
          <a:p>
            <a:pPr lvl="1"/>
            <a:endParaRPr lang="en-US" sz="2400" dirty="0" smtClean="0"/>
          </a:p>
          <a:p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Sources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602" y="1371601"/>
          <a:ext cx="8458198" cy="4572005"/>
        </p:xfrm>
        <a:graphic>
          <a:graphicData uri="http://schemas.openxmlformats.org/drawingml/2006/table">
            <a:tbl>
              <a:tblPr/>
              <a:tblGrid>
                <a:gridCol w="1228896"/>
                <a:gridCol w="1382297"/>
                <a:gridCol w="1205166"/>
                <a:gridCol w="1086514"/>
                <a:gridCol w="1086514"/>
                <a:gridCol w="1086514"/>
                <a:gridCol w="1382297"/>
              </a:tblGrid>
              <a:tr h="361260">
                <a:tc gridSpan="7">
                  <a:txBody>
                    <a:bodyPr/>
                    <a:lstStyle/>
                    <a:p>
                      <a:pPr marL="0" marR="0"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Calibri"/>
                          <a:ea typeface="Times New Roman"/>
                          <a:cs typeface="Arial"/>
                        </a:rPr>
                        <a:t>Long Distance Annual Trips (greater than 100 Miles) from National Household Travel Surveys</a:t>
                      </a:r>
                      <a:endParaRPr lang="en-US" sz="1600" dirty="0">
                        <a:solidFill>
                          <a:schemeClr val="bg1"/>
                        </a:solidFill>
                        <a:latin typeface="Cambria"/>
                        <a:ea typeface="Times New Roman"/>
                        <a:cs typeface="Times New Roman"/>
                      </a:endParaRPr>
                    </a:p>
                  </a:txBody>
                  <a:tcPr marL="65969" marR="65969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1260">
                <a:tc>
                  <a:txBody>
                    <a:bodyPr/>
                    <a:lstStyle/>
                    <a:p>
                      <a:pPr marL="0" marR="0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739ABC"/>
                          </a:solidFill>
                          <a:latin typeface="Calibri"/>
                          <a:ea typeface="Times New Roman"/>
                          <a:cs typeface="Arial"/>
                        </a:rPr>
                        <a:t> </a:t>
                      </a:r>
                      <a:endParaRPr lang="en-US" sz="1000" dirty="0">
                        <a:latin typeface="Cambria"/>
                        <a:ea typeface="Times New Roman"/>
                        <a:cs typeface="Times New Roman"/>
                      </a:endParaRPr>
                    </a:p>
                  </a:txBody>
                  <a:tcPr marL="65969" marR="65969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Arial"/>
                        </a:rPr>
                        <a:t>CAR</a:t>
                      </a:r>
                      <a:endParaRPr lang="en-US" sz="1400" dirty="0">
                        <a:solidFill>
                          <a:schemeClr val="tx1"/>
                        </a:solidFill>
                        <a:latin typeface="Cambria"/>
                        <a:ea typeface="Times New Roman"/>
                        <a:cs typeface="Times New Roman"/>
                      </a:endParaRPr>
                    </a:p>
                  </a:txBody>
                  <a:tcPr marL="65969" marR="65969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Arial"/>
                        </a:rPr>
                        <a:t>AIR</a:t>
                      </a:r>
                      <a:endParaRPr lang="en-US" sz="1400" dirty="0">
                        <a:solidFill>
                          <a:schemeClr val="tx1"/>
                        </a:solidFill>
                        <a:latin typeface="Cambria"/>
                        <a:ea typeface="Times New Roman"/>
                        <a:cs typeface="Times New Roman"/>
                      </a:endParaRPr>
                    </a:p>
                  </a:txBody>
                  <a:tcPr marL="65969" marR="65969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Arial"/>
                        </a:rPr>
                        <a:t>BUS</a:t>
                      </a:r>
                      <a:endParaRPr lang="en-US" sz="1400" dirty="0">
                        <a:solidFill>
                          <a:schemeClr val="tx1"/>
                        </a:solidFill>
                        <a:latin typeface="Cambria"/>
                        <a:ea typeface="Times New Roman"/>
                        <a:cs typeface="Times New Roman"/>
                      </a:endParaRPr>
                    </a:p>
                  </a:txBody>
                  <a:tcPr marL="65969" marR="65969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Arial"/>
                        </a:rPr>
                        <a:t>RAIL</a:t>
                      </a:r>
                      <a:endParaRPr lang="en-US" sz="1400" dirty="0">
                        <a:solidFill>
                          <a:schemeClr val="tx1"/>
                        </a:solidFill>
                        <a:latin typeface="Cambria"/>
                        <a:ea typeface="Times New Roman"/>
                        <a:cs typeface="Times New Roman"/>
                      </a:endParaRPr>
                    </a:p>
                  </a:txBody>
                  <a:tcPr marL="65969" marR="65969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Arial"/>
                        </a:rPr>
                        <a:t>OTHER</a:t>
                      </a:r>
                      <a:endParaRPr lang="en-US" sz="1400" dirty="0">
                        <a:solidFill>
                          <a:schemeClr val="tx1"/>
                        </a:solidFill>
                        <a:latin typeface="Cambria"/>
                        <a:ea typeface="Times New Roman"/>
                        <a:cs typeface="Times New Roman"/>
                      </a:endParaRPr>
                    </a:p>
                  </a:txBody>
                  <a:tcPr marL="65969" marR="65969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Arial"/>
                        </a:rPr>
                        <a:t>TOTAL</a:t>
                      </a:r>
                      <a:endParaRPr lang="en-US" sz="1400" dirty="0">
                        <a:solidFill>
                          <a:schemeClr val="tx1"/>
                        </a:solidFill>
                        <a:latin typeface="Cambria"/>
                        <a:ea typeface="Times New Roman"/>
                        <a:cs typeface="Times New Roman"/>
                      </a:endParaRPr>
                    </a:p>
                  </a:txBody>
                  <a:tcPr marL="65969" marR="65969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170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100">
                        <a:latin typeface="Calibri"/>
                        <a:ea typeface="Times New Roman"/>
                      </a:endParaRPr>
                    </a:p>
                  </a:txBody>
                  <a:tcPr marL="65969" marR="65969" marT="0" marB="0" anchor="ctr">
                    <a:lnL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792A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marR="0"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/>
                          <a:ea typeface="Times New Roman"/>
                          <a:cs typeface="Arial"/>
                        </a:rPr>
                        <a:t>Expanded Trips (&gt;100 MI) by Main Travel Mode</a:t>
                      </a:r>
                      <a:endParaRPr lang="en-US" sz="1400" dirty="0">
                        <a:latin typeface="Cambria"/>
                        <a:ea typeface="Times New Roman"/>
                        <a:cs typeface="Times New Roman"/>
                      </a:endParaRPr>
                    </a:p>
                  </a:txBody>
                  <a:tcPr marL="65969" marR="65969" marT="0" marB="0" anchor="ctr">
                    <a:lnL>
                      <a:noFill/>
                    </a:lnL>
                    <a:lnR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792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58043"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latin typeface="Calibri"/>
                          <a:ea typeface="Times New Roman"/>
                          <a:cs typeface="Arial"/>
                        </a:rPr>
                        <a:t>1995 ATS </a:t>
                      </a:r>
                      <a:endParaRPr lang="en-US" sz="1400" dirty="0">
                        <a:latin typeface="Cambria"/>
                        <a:ea typeface="Times New Roman"/>
                        <a:cs typeface="Times New Roman"/>
                      </a:endParaRPr>
                    </a:p>
                  </a:txBody>
                  <a:tcPr marL="65969" marR="65969" marT="0" marB="0" anchor="ctr">
                    <a:lnL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latin typeface="Calibri"/>
                          <a:ea typeface="Times New Roman"/>
                          <a:cs typeface="Arial"/>
                        </a:rPr>
                        <a:t>1,641,892,400</a:t>
                      </a:r>
                      <a:endParaRPr lang="en-US" sz="1400">
                        <a:latin typeface="Cambria"/>
                        <a:ea typeface="Times New Roman"/>
                        <a:cs typeface="Times New Roman"/>
                      </a:endParaRPr>
                    </a:p>
                  </a:txBody>
                  <a:tcPr marL="65969" marR="65969" marT="0" marB="0" anchor="ctr">
                    <a:lnL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latin typeface="Calibri"/>
                          <a:ea typeface="Times New Roman"/>
                          <a:cs typeface="Arial"/>
                        </a:rPr>
                        <a:t>343,283,810</a:t>
                      </a:r>
                      <a:endParaRPr lang="en-US" sz="1400">
                        <a:latin typeface="Cambria"/>
                        <a:ea typeface="Times New Roman"/>
                        <a:cs typeface="Times New Roman"/>
                      </a:endParaRPr>
                    </a:p>
                  </a:txBody>
                  <a:tcPr marL="65969" marR="65969" marT="0" marB="0" anchor="ctr">
                    <a:lnL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latin typeface="Calibri"/>
                          <a:ea typeface="Times New Roman"/>
                          <a:cs typeface="Arial"/>
                        </a:rPr>
                        <a:t>42,326,649</a:t>
                      </a:r>
                      <a:endParaRPr lang="en-US" sz="1400">
                        <a:latin typeface="Cambria"/>
                        <a:ea typeface="Times New Roman"/>
                        <a:cs typeface="Times New Roman"/>
                      </a:endParaRPr>
                    </a:p>
                  </a:txBody>
                  <a:tcPr marL="65969" marR="65969" marT="0" marB="0" anchor="ctr">
                    <a:lnL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latin typeface="Calibri"/>
                          <a:ea typeface="Times New Roman"/>
                          <a:cs typeface="Arial"/>
                        </a:rPr>
                        <a:t>9,533,141</a:t>
                      </a:r>
                      <a:endParaRPr lang="en-US" sz="1400">
                        <a:latin typeface="Cambria"/>
                        <a:ea typeface="Times New Roman"/>
                        <a:cs typeface="Times New Roman"/>
                      </a:endParaRPr>
                    </a:p>
                  </a:txBody>
                  <a:tcPr marL="65969" marR="65969" marT="0" marB="0" anchor="ctr">
                    <a:lnL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latin typeface="Calibri"/>
                          <a:ea typeface="Times New Roman"/>
                          <a:cs typeface="Arial"/>
                        </a:rPr>
                        <a:t>3,215,997</a:t>
                      </a:r>
                      <a:endParaRPr lang="en-US" sz="1400">
                        <a:latin typeface="Cambria"/>
                        <a:ea typeface="Times New Roman"/>
                        <a:cs typeface="Times New Roman"/>
                      </a:endParaRPr>
                    </a:p>
                  </a:txBody>
                  <a:tcPr marL="65969" marR="65969" marT="0" marB="0" anchor="ctr">
                    <a:lnL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latin typeface="Calibri"/>
                          <a:ea typeface="Times New Roman"/>
                          <a:cs typeface="Arial"/>
                        </a:rPr>
                        <a:t>2,040,252,100</a:t>
                      </a:r>
                      <a:endParaRPr lang="en-US" sz="1400">
                        <a:latin typeface="Cambria"/>
                        <a:ea typeface="Times New Roman"/>
                        <a:cs typeface="Times New Roman"/>
                      </a:endParaRPr>
                    </a:p>
                  </a:txBody>
                  <a:tcPr marL="65969" marR="65969" marT="0" marB="0" anchor="ctr">
                    <a:lnL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58043"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Calibri"/>
                          <a:ea typeface="Times New Roman"/>
                          <a:cs typeface="Arial"/>
                        </a:rPr>
                        <a:t>Modal Share</a:t>
                      </a:r>
                    </a:p>
                  </a:txBody>
                  <a:tcPr marL="65969" marR="65969" marT="0" marB="0" anchor="ctr">
                    <a:lnL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Calibri"/>
                          <a:ea typeface="Times New Roman"/>
                          <a:cs typeface="Arial"/>
                        </a:rPr>
                        <a:t>80.5%</a:t>
                      </a:r>
                      <a:endParaRPr lang="en-US" sz="1400" dirty="0">
                        <a:latin typeface="Cambria"/>
                        <a:ea typeface="Times New Roman"/>
                        <a:cs typeface="Times New Roman"/>
                      </a:endParaRPr>
                    </a:p>
                  </a:txBody>
                  <a:tcPr marL="65969" marR="65969" marT="0" marB="0" anchor="ctr">
                    <a:lnL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Calibri"/>
                          <a:ea typeface="Times New Roman"/>
                          <a:cs typeface="Arial"/>
                        </a:rPr>
                        <a:t>16.8%</a:t>
                      </a:r>
                      <a:endParaRPr lang="en-US" sz="1400">
                        <a:latin typeface="Cambria"/>
                        <a:ea typeface="Times New Roman"/>
                        <a:cs typeface="Times New Roman"/>
                      </a:endParaRPr>
                    </a:p>
                  </a:txBody>
                  <a:tcPr marL="65969" marR="65969" marT="0" marB="0" anchor="ctr">
                    <a:lnL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Calibri"/>
                          <a:ea typeface="Times New Roman"/>
                          <a:cs typeface="Arial"/>
                        </a:rPr>
                        <a:t>2.1%</a:t>
                      </a:r>
                      <a:endParaRPr lang="en-US" sz="1400">
                        <a:latin typeface="Cambria"/>
                        <a:ea typeface="Times New Roman"/>
                        <a:cs typeface="Times New Roman"/>
                      </a:endParaRPr>
                    </a:p>
                  </a:txBody>
                  <a:tcPr marL="65969" marR="65969" marT="0" marB="0" anchor="ctr">
                    <a:lnL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Calibri"/>
                          <a:ea typeface="Times New Roman"/>
                          <a:cs typeface="Arial"/>
                        </a:rPr>
                        <a:t>0.5%</a:t>
                      </a:r>
                      <a:endParaRPr lang="en-US" sz="1400">
                        <a:latin typeface="Cambria"/>
                        <a:ea typeface="Times New Roman"/>
                        <a:cs typeface="Times New Roman"/>
                      </a:endParaRPr>
                    </a:p>
                  </a:txBody>
                  <a:tcPr marL="65969" marR="65969" marT="0" marB="0" anchor="ctr">
                    <a:lnL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Calibri"/>
                          <a:ea typeface="Times New Roman"/>
                          <a:cs typeface="Arial"/>
                        </a:rPr>
                        <a:t>0.2%</a:t>
                      </a:r>
                      <a:endParaRPr lang="en-US" sz="1400">
                        <a:latin typeface="Cambria"/>
                        <a:ea typeface="Times New Roman"/>
                        <a:cs typeface="Times New Roman"/>
                      </a:endParaRPr>
                    </a:p>
                  </a:txBody>
                  <a:tcPr marL="65969" marR="65969" marT="0" marB="0" anchor="ctr">
                    <a:lnL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Calibri"/>
                          <a:ea typeface="Times New Roman"/>
                          <a:cs typeface="Arial"/>
                        </a:rPr>
                        <a:t>100%</a:t>
                      </a:r>
                      <a:endParaRPr lang="en-US" sz="1400">
                        <a:latin typeface="Cambria"/>
                        <a:ea typeface="Times New Roman"/>
                        <a:cs typeface="Times New Roman"/>
                      </a:endParaRPr>
                    </a:p>
                  </a:txBody>
                  <a:tcPr marL="65969" marR="65969" marT="0" marB="0" anchor="ctr">
                    <a:lnL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8043"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latin typeface="Calibri"/>
                          <a:ea typeface="Times New Roman"/>
                          <a:cs typeface="Arial"/>
                        </a:rPr>
                        <a:t>2001 NHTS</a:t>
                      </a:r>
                      <a:endParaRPr lang="en-US" sz="1400">
                        <a:latin typeface="Cambria"/>
                        <a:ea typeface="Times New Roman"/>
                        <a:cs typeface="Times New Roman"/>
                      </a:endParaRPr>
                    </a:p>
                  </a:txBody>
                  <a:tcPr marL="65969" marR="65969" marT="0" marB="0" anchor="ctr">
                    <a:lnL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latin typeface="Calibri"/>
                          <a:ea typeface="Times New Roman"/>
                          <a:cs typeface="Arial"/>
                        </a:rPr>
                        <a:t>2,336,093,693</a:t>
                      </a:r>
                      <a:endParaRPr lang="en-US" sz="1400" dirty="0">
                        <a:latin typeface="Cambria"/>
                        <a:ea typeface="Times New Roman"/>
                        <a:cs typeface="Times New Roman"/>
                      </a:endParaRPr>
                    </a:p>
                  </a:txBody>
                  <a:tcPr marL="65969" marR="65969" marT="0" marB="0" anchor="ctr">
                    <a:lnL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latin typeface="Calibri"/>
                          <a:ea typeface="Times New Roman"/>
                          <a:cs typeface="Arial"/>
                        </a:rPr>
                        <a:t>193,289,524</a:t>
                      </a:r>
                      <a:endParaRPr lang="en-US" sz="1400">
                        <a:latin typeface="Cambria"/>
                        <a:ea typeface="Times New Roman"/>
                        <a:cs typeface="Times New Roman"/>
                      </a:endParaRPr>
                    </a:p>
                  </a:txBody>
                  <a:tcPr marL="65969" marR="65969" marT="0" marB="0" anchor="ctr">
                    <a:lnL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latin typeface="Calibri"/>
                          <a:ea typeface="Times New Roman"/>
                          <a:cs typeface="Arial"/>
                        </a:rPr>
                        <a:t>55,443,050</a:t>
                      </a:r>
                      <a:endParaRPr lang="en-US" sz="1400">
                        <a:latin typeface="Cambria"/>
                        <a:ea typeface="Times New Roman"/>
                        <a:cs typeface="Times New Roman"/>
                      </a:endParaRPr>
                    </a:p>
                  </a:txBody>
                  <a:tcPr marL="65969" marR="65969" marT="0" marB="0" anchor="ctr">
                    <a:lnL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latin typeface="Calibri"/>
                          <a:ea typeface="Times New Roman"/>
                          <a:cs typeface="Arial"/>
                        </a:rPr>
                        <a:t>21,144,317</a:t>
                      </a:r>
                      <a:endParaRPr lang="en-US" sz="1400">
                        <a:latin typeface="Cambria"/>
                        <a:ea typeface="Times New Roman"/>
                        <a:cs typeface="Times New Roman"/>
                      </a:endParaRPr>
                    </a:p>
                  </a:txBody>
                  <a:tcPr marL="65969" marR="65969" marT="0" marB="0" anchor="ctr">
                    <a:lnL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latin typeface="Calibri"/>
                          <a:ea typeface="Times New Roman"/>
                          <a:cs typeface="Arial"/>
                        </a:rPr>
                        <a:t>11,155,783</a:t>
                      </a:r>
                      <a:endParaRPr lang="en-US" sz="1400">
                        <a:latin typeface="Cambria"/>
                        <a:ea typeface="Times New Roman"/>
                        <a:cs typeface="Times New Roman"/>
                      </a:endParaRPr>
                    </a:p>
                  </a:txBody>
                  <a:tcPr marL="65969" marR="65969" marT="0" marB="0" anchor="ctr">
                    <a:lnL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latin typeface="Calibri"/>
                          <a:ea typeface="Times New Roman"/>
                          <a:cs typeface="Arial"/>
                        </a:rPr>
                        <a:t>2,617,126,367</a:t>
                      </a:r>
                      <a:endParaRPr lang="en-US" sz="1400">
                        <a:latin typeface="Cambria"/>
                        <a:ea typeface="Times New Roman"/>
                        <a:cs typeface="Times New Roman"/>
                      </a:endParaRPr>
                    </a:p>
                  </a:txBody>
                  <a:tcPr marL="65969" marR="65969" marT="0" marB="0" anchor="ctr">
                    <a:lnL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58043"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Calibri"/>
                          <a:ea typeface="Times New Roman"/>
                          <a:cs typeface="Arial"/>
                        </a:rPr>
                        <a:t>Modal Share</a:t>
                      </a:r>
                      <a:endParaRPr lang="en-US" sz="1400">
                        <a:latin typeface="Cambria"/>
                        <a:ea typeface="Times New Roman"/>
                        <a:cs typeface="Times New Roman"/>
                      </a:endParaRPr>
                    </a:p>
                  </a:txBody>
                  <a:tcPr marL="65969" marR="65969" marT="0" marB="0" anchor="ctr">
                    <a:lnL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Calibri"/>
                          <a:ea typeface="Times New Roman"/>
                          <a:cs typeface="Arial"/>
                        </a:rPr>
                        <a:t>89.3%</a:t>
                      </a:r>
                      <a:endParaRPr lang="en-US" sz="1400">
                        <a:latin typeface="Cambria"/>
                        <a:ea typeface="Times New Roman"/>
                        <a:cs typeface="Times New Roman"/>
                      </a:endParaRPr>
                    </a:p>
                  </a:txBody>
                  <a:tcPr marL="65969" marR="65969" marT="0" marB="0" anchor="ctr">
                    <a:lnL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Calibri"/>
                          <a:ea typeface="Times New Roman"/>
                          <a:cs typeface="Arial"/>
                        </a:rPr>
                        <a:t>7.4%</a:t>
                      </a:r>
                      <a:endParaRPr lang="en-US" sz="1400" dirty="0">
                        <a:latin typeface="Cambria"/>
                        <a:ea typeface="Times New Roman"/>
                        <a:cs typeface="Times New Roman"/>
                      </a:endParaRPr>
                    </a:p>
                  </a:txBody>
                  <a:tcPr marL="65969" marR="65969" marT="0" marB="0" anchor="ctr">
                    <a:lnL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Calibri"/>
                          <a:ea typeface="Times New Roman"/>
                          <a:cs typeface="Arial"/>
                        </a:rPr>
                        <a:t>2.1%</a:t>
                      </a:r>
                      <a:endParaRPr lang="en-US" sz="1400">
                        <a:latin typeface="Cambria"/>
                        <a:ea typeface="Times New Roman"/>
                        <a:cs typeface="Times New Roman"/>
                      </a:endParaRPr>
                    </a:p>
                  </a:txBody>
                  <a:tcPr marL="65969" marR="65969" marT="0" marB="0" anchor="ctr">
                    <a:lnL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Calibri"/>
                          <a:ea typeface="Times New Roman"/>
                          <a:cs typeface="Arial"/>
                        </a:rPr>
                        <a:t>0.8%</a:t>
                      </a:r>
                      <a:endParaRPr lang="en-US" sz="1400">
                        <a:latin typeface="Cambria"/>
                        <a:ea typeface="Times New Roman"/>
                        <a:cs typeface="Times New Roman"/>
                      </a:endParaRPr>
                    </a:p>
                  </a:txBody>
                  <a:tcPr marL="65969" marR="65969" marT="0" marB="0" anchor="ctr">
                    <a:lnL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Calibri"/>
                          <a:ea typeface="Times New Roman"/>
                          <a:cs typeface="Arial"/>
                        </a:rPr>
                        <a:t>0.4%</a:t>
                      </a:r>
                      <a:endParaRPr lang="en-US" sz="1400">
                        <a:latin typeface="Cambria"/>
                        <a:ea typeface="Times New Roman"/>
                        <a:cs typeface="Times New Roman"/>
                      </a:endParaRPr>
                    </a:p>
                  </a:txBody>
                  <a:tcPr marL="65969" marR="65969" marT="0" marB="0" anchor="ctr">
                    <a:lnL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Calibri"/>
                          <a:ea typeface="Times New Roman"/>
                          <a:cs typeface="Arial"/>
                        </a:rPr>
                        <a:t>100%</a:t>
                      </a:r>
                      <a:endParaRPr lang="en-US" sz="1400">
                        <a:latin typeface="Cambria"/>
                        <a:ea typeface="Times New Roman"/>
                        <a:cs typeface="Times New Roman"/>
                      </a:endParaRPr>
                    </a:p>
                  </a:txBody>
                  <a:tcPr marL="65969" marR="65969" marT="0" marB="0" anchor="ctr">
                    <a:lnL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8043"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latin typeface="Calibri"/>
                          <a:ea typeface="Times New Roman"/>
                          <a:cs typeface="Arial"/>
                        </a:rPr>
                        <a:t>2008 NHTS</a:t>
                      </a:r>
                      <a:endParaRPr lang="en-US" sz="1400">
                        <a:latin typeface="Cambria"/>
                        <a:ea typeface="Times New Roman"/>
                        <a:cs typeface="Times New Roman"/>
                      </a:endParaRPr>
                    </a:p>
                  </a:txBody>
                  <a:tcPr marL="65969" marR="65969" marT="0" marB="0" anchor="ctr">
                    <a:lnL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latin typeface="Calibri"/>
                          <a:ea typeface="Times New Roman"/>
                          <a:cs typeface="Arial"/>
                        </a:rPr>
                        <a:t>3,205,130,326</a:t>
                      </a:r>
                      <a:endParaRPr lang="en-US" sz="1400">
                        <a:latin typeface="Cambria"/>
                        <a:ea typeface="Times New Roman"/>
                        <a:cs typeface="Times New Roman"/>
                      </a:endParaRPr>
                    </a:p>
                  </a:txBody>
                  <a:tcPr marL="65969" marR="65969" marT="0" marB="0" anchor="ctr">
                    <a:lnL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latin typeface="Calibri"/>
                          <a:ea typeface="Times New Roman"/>
                          <a:cs typeface="Arial"/>
                        </a:rPr>
                        <a:t>201,646,048</a:t>
                      </a:r>
                      <a:endParaRPr lang="en-US" sz="1400" dirty="0">
                        <a:latin typeface="Cambria"/>
                        <a:ea typeface="Times New Roman"/>
                        <a:cs typeface="Times New Roman"/>
                      </a:endParaRPr>
                    </a:p>
                  </a:txBody>
                  <a:tcPr marL="65969" marR="65969" marT="0" marB="0" anchor="ctr">
                    <a:lnL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latin typeface="Calibri"/>
                          <a:ea typeface="Times New Roman"/>
                          <a:cs typeface="Arial"/>
                        </a:rPr>
                        <a:t>43,234,705</a:t>
                      </a:r>
                      <a:endParaRPr lang="en-US" sz="1400">
                        <a:latin typeface="Cambria"/>
                        <a:ea typeface="Times New Roman"/>
                        <a:cs typeface="Times New Roman"/>
                      </a:endParaRPr>
                    </a:p>
                  </a:txBody>
                  <a:tcPr marL="65969" marR="65969" marT="0" marB="0" anchor="ctr">
                    <a:lnL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latin typeface="Calibri"/>
                          <a:ea typeface="Times New Roman"/>
                          <a:cs typeface="Arial"/>
                        </a:rPr>
                        <a:t>16,886,134</a:t>
                      </a:r>
                      <a:endParaRPr lang="en-US" sz="1400">
                        <a:latin typeface="Cambria"/>
                        <a:ea typeface="Times New Roman"/>
                        <a:cs typeface="Times New Roman"/>
                      </a:endParaRPr>
                    </a:p>
                  </a:txBody>
                  <a:tcPr marL="65969" marR="65969" marT="0" marB="0" anchor="ctr">
                    <a:lnL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latin typeface="Calibri"/>
                          <a:ea typeface="Times New Roman"/>
                          <a:cs typeface="Arial"/>
                        </a:rPr>
                        <a:t>41,565,117</a:t>
                      </a:r>
                      <a:endParaRPr lang="en-US" sz="1400">
                        <a:latin typeface="Cambria"/>
                        <a:ea typeface="Times New Roman"/>
                        <a:cs typeface="Times New Roman"/>
                      </a:endParaRPr>
                    </a:p>
                  </a:txBody>
                  <a:tcPr marL="65969" marR="65969" marT="0" marB="0" anchor="ctr">
                    <a:lnL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latin typeface="Calibri"/>
                          <a:ea typeface="Times New Roman"/>
                          <a:cs typeface="Arial"/>
                        </a:rPr>
                        <a:t>3,508,462,329</a:t>
                      </a:r>
                      <a:endParaRPr lang="en-US" sz="1400">
                        <a:latin typeface="Cambria"/>
                        <a:ea typeface="Times New Roman"/>
                        <a:cs typeface="Times New Roman"/>
                      </a:endParaRPr>
                    </a:p>
                  </a:txBody>
                  <a:tcPr marL="65969" marR="65969" marT="0" marB="0" anchor="ctr">
                    <a:lnL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58043"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Calibri"/>
                          <a:ea typeface="Times New Roman"/>
                          <a:cs typeface="Arial"/>
                        </a:rPr>
                        <a:t>Modal Share</a:t>
                      </a:r>
                      <a:endParaRPr lang="en-US" sz="1400">
                        <a:latin typeface="Cambria"/>
                        <a:ea typeface="Times New Roman"/>
                        <a:cs typeface="Times New Roman"/>
                      </a:endParaRPr>
                    </a:p>
                  </a:txBody>
                  <a:tcPr marL="65969" marR="65969" marT="0" marB="0" anchor="ctr">
                    <a:lnL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Calibri"/>
                          <a:ea typeface="Times New Roman"/>
                          <a:cs typeface="Arial"/>
                        </a:rPr>
                        <a:t>91.4%</a:t>
                      </a:r>
                      <a:endParaRPr lang="en-US" sz="1400">
                        <a:latin typeface="Cambria"/>
                        <a:ea typeface="Times New Roman"/>
                        <a:cs typeface="Times New Roman"/>
                      </a:endParaRPr>
                    </a:p>
                  </a:txBody>
                  <a:tcPr marL="65969" marR="65969" marT="0" marB="0" anchor="ctr">
                    <a:lnL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Calibri"/>
                          <a:ea typeface="Times New Roman"/>
                          <a:cs typeface="Arial"/>
                        </a:rPr>
                        <a:t>5.7%</a:t>
                      </a:r>
                      <a:endParaRPr lang="en-US" sz="1400">
                        <a:latin typeface="Cambria"/>
                        <a:ea typeface="Times New Roman"/>
                        <a:cs typeface="Times New Roman"/>
                      </a:endParaRPr>
                    </a:p>
                  </a:txBody>
                  <a:tcPr marL="65969" marR="65969" marT="0" marB="0" anchor="ctr">
                    <a:lnL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Calibri"/>
                          <a:ea typeface="Times New Roman"/>
                          <a:cs typeface="Arial"/>
                        </a:rPr>
                        <a:t>1.2%</a:t>
                      </a:r>
                      <a:endParaRPr lang="en-US" sz="1400" dirty="0">
                        <a:latin typeface="Cambria"/>
                        <a:ea typeface="Times New Roman"/>
                        <a:cs typeface="Times New Roman"/>
                      </a:endParaRPr>
                    </a:p>
                  </a:txBody>
                  <a:tcPr marL="65969" marR="65969" marT="0" marB="0" anchor="ctr">
                    <a:lnL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Calibri"/>
                          <a:ea typeface="Times New Roman"/>
                          <a:cs typeface="Arial"/>
                        </a:rPr>
                        <a:t>0.5%</a:t>
                      </a:r>
                      <a:endParaRPr lang="en-US" sz="1400">
                        <a:latin typeface="Cambria"/>
                        <a:ea typeface="Times New Roman"/>
                        <a:cs typeface="Times New Roman"/>
                      </a:endParaRPr>
                    </a:p>
                  </a:txBody>
                  <a:tcPr marL="65969" marR="65969" marT="0" marB="0" anchor="ctr">
                    <a:lnL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Calibri"/>
                          <a:ea typeface="Times New Roman"/>
                          <a:cs typeface="Arial"/>
                        </a:rPr>
                        <a:t>1.2%</a:t>
                      </a:r>
                      <a:endParaRPr lang="en-US" sz="1400">
                        <a:latin typeface="Cambria"/>
                        <a:ea typeface="Times New Roman"/>
                        <a:cs typeface="Times New Roman"/>
                      </a:endParaRPr>
                    </a:p>
                  </a:txBody>
                  <a:tcPr marL="65969" marR="65969" marT="0" marB="0" anchor="ctr">
                    <a:lnL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Calibri"/>
                          <a:ea typeface="Times New Roman"/>
                          <a:cs typeface="Arial"/>
                        </a:rPr>
                        <a:t>100%</a:t>
                      </a:r>
                      <a:endParaRPr lang="en-US" sz="1400" dirty="0">
                        <a:latin typeface="Cambria"/>
                        <a:ea typeface="Times New Roman"/>
                        <a:cs typeface="Times New Roman"/>
                      </a:endParaRPr>
                    </a:p>
                  </a:txBody>
                  <a:tcPr marL="65969" marR="65969" marT="0" marB="0" anchor="ctr">
                    <a:lnL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1260">
                <a:tc>
                  <a:txBody>
                    <a:bodyPr/>
                    <a:lstStyle/>
                    <a:p>
                      <a:pPr marL="0" marR="0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FFFFFF"/>
                          </a:solidFill>
                          <a:latin typeface="Calibri"/>
                          <a:ea typeface="Times New Roman"/>
                          <a:cs typeface="Arial"/>
                        </a:rPr>
                        <a:t> </a:t>
                      </a:r>
                      <a:endParaRPr lang="en-US" sz="1000">
                        <a:latin typeface="Cambria"/>
                        <a:ea typeface="Times New Roman"/>
                        <a:cs typeface="Times New Roman"/>
                      </a:endParaRPr>
                    </a:p>
                  </a:txBody>
                  <a:tcPr marL="65969" marR="65969" marT="0" marB="0" anchor="b">
                    <a:lnL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792A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marR="0"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/>
                          <a:ea typeface="Times New Roman"/>
                          <a:cs typeface="Arial"/>
                        </a:rPr>
                        <a:t>Number of Sampled Trips (&gt;100 MI) by Main Travel Mode</a:t>
                      </a:r>
                      <a:endParaRPr lang="en-US" sz="1400" dirty="0">
                        <a:latin typeface="Cambria"/>
                        <a:ea typeface="Times New Roman"/>
                        <a:cs typeface="Times New Roman"/>
                      </a:endParaRPr>
                    </a:p>
                  </a:txBody>
                  <a:tcPr marL="65969" marR="65969" marT="0" marB="0" anchor="ctr">
                    <a:lnL>
                      <a:noFill/>
                    </a:lnL>
                    <a:lnR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792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58043"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latin typeface="Calibri"/>
                          <a:ea typeface="Times New Roman"/>
                          <a:cs typeface="Arial"/>
                        </a:rPr>
                        <a:t>1995 ATS </a:t>
                      </a:r>
                      <a:endParaRPr lang="en-US" sz="1400" dirty="0">
                        <a:latin typeface="Cambria"/>
                        <a:ea typeface="Times New Roman"/>
                        <a:cs typeface="Times New Roman"/>
                      </a:endParaRPr>
                    </a:p>
                  </a:txBody>
                  <a:tcPr marL="65969" marR="65969" marT="0" marB="0" anchor="ctr">
                    <a:lnL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latin typeface="Calibri"/>
                          <a:ea typeface="Times New Roman"/>
                          <a:cs typeface="Arial"/>
                        </a:rPr>
                        <a:t>449,009</a:t>
                      </a:r>
                      <a:endParaRPr lang="en-US" sz="1400">
                        <a:latin typeface="Cambria"/>
                        <a:ea typeface="Times New Roman"/>
                        <a:cs typeface="Times New Roman"/>
                      </a:endParaRPr>
                    </a:p>
                  </a:txBody>
                  <a:tcPr marL="65969" marR="65969" marT="0" marB="0" anchor="ctr">
                    <a:lnL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latin typeface="Calibri"/>
                          <a:ea typeface="Times New Roman"/>
                          <a:cs typeface="Arial"/>
                        </a:rPr>
                        <a:t>83,336</a:t>
                      </a:r>
                      <a:endParaRPr lang="en-US" sz="1400">
                        <a:latin typeface="Cambria"/>
                        <a:ea typeface="Times New Roman"/>
                        <a:cs typeface="Times New Roman"/>
                      </a:endParaRPr>
                    </a:p>
                  </a:txBody>
                  <a:tcPr marL="65969" marR="65969" marT="0" marB="0" anchor="ctr">
                    <a:lnL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latin typeface="Calibri"/>
                          <a:ea typeface="Times New Roman"/>
                          <a:cs typeface="Arial"/>
                        </a:rPr>
                        <a:t>10,238</a:t>
                      </a:r>
                      <a:endParaRPr lang="en-US" sz="1400">
                        <a:latin typeface="Cambria"/>
                        <a:ea typeface="Times New Roman"/>
                        <a:cs typeface="Times New Roman"/>
                      </a:endParaRPr>
                    </a:p>
                  </a:txBody>
                  <a:tcPr marL="65969" marR="65969" marT="0" marB="0" anchor="ctr">
                    <a:lnL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latin typeface="Calibri"/>
                          <a:ea typeface="Times New Roman"/>
                          <a:cs typeface="Arial"/>
                        </a:rPr>
                        <a:t>2,477</a:t>
                      </a:r>
                      <a:endParaRPr lang="en-US" sz="1400" dirty="0">
                        <a:latin typeface="Cambria"/>
                        <a:ea typeface="Times New Roman"/>
                        <a:cs typeface="Times New Roman"/>
                      </a:endParaRPr>
                    </a:p>
                  </a:txBody>
                  <a:tcPr marL="65969" marR="65969" marT="0" marB="0" anchor="ctr">
                    <a:lnL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latin typeface="Calibri"/>
                          <a:ea typeface="Times New Roman"/>
                          <a:cs typeface="Arial"/>
                        </a:rPr>
                        <a:t>916</a:t>
                      </a:r>
                      <a:endParaRPr lang="en-US" sz="1400">
                        <a:latin typeface="Cambria"/>
                        <a:ea typeface="Times New Roman"/>
                        <a:cs typeface="Times New Roman"/>
                      </a:endParaRPr>
                    </a:p>
                  </a:txBody>
                  <a:tcPr marL="65969" marR="65969" marT="0" marB="0" anchor="ctr">
                    <a:lnL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latin typeface="Calibri"/>
                          <a:ea typeface="Times New Roman"/>
                          <a:cs typeface="Arial"/>
                        </a:rPr>
                        <a:t>545,974</a:t>
                      </a:r>
                      <a:endParaRPr lang="en-US" sz="1400" dirty="0">
                        <a:latin typeface="Cambria"/>
                        <a:ea typeface="Times New Roman"/>
                        <a:cs typeface="Times New Roman"/>
                      </a:endParaRPr>
                    </a:p>
                  </a:txBody>
                  <a:tcPr marL="65969" marR="65969" marT="0" marB="0" anchor="ctr">
                    <a:lnL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58043"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Calibri"/>
                          <a:ea typeface="Times New Roman"/>
                          <a:cs typeface="Arial"/>
                        </a:rPr>
                        <a:t>Modal Share</a:t>
                      </a:r>
                      <a:endParaRPr lang="en-US" sz="1400" dirty="0">
                        <a:latin typeface="Cambria"/>
                        <a:ea typeface="Times New Roman"/>
                        <a:cs typeface="Times New Roman"/>
                      </a:endParaRPr>
                    </a:p>
                  </a:txBody>
                  <a:tcPr marL="65969" marR="65969" marT="0" marB="0" anchor="ctr">
                    <a:lnL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Calibri"/>
                          <a:ea typeface="Times New Roman"/>
                          <a:cs typeface="Arial"/>
                        </a:rPr>
                        <a:t>82.2%</a:t>
                      </a:r>
                      <a:endParaRPr lang="en-US" sz="1400" dirty="0">
                        <a:latin typeface="Cambria"/>
                        <a:ea typeface="Times New Roman"/>
                        <a:cs typeface="Times New Roman"/>
                      </a:endParaRPr>
                    </a:p>
                  </a:txBody>
                  <a:tcPr marL="65969" marR="65969" marT="0" marB="0" anchor="ctr">
                    <a:lnL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Calibri"/>
                          <a:ea typeface="Times New Roman"/>
                          <a:cs typeface="Arial"/>
                        </a:rPr>
                        <a:t>15.3%</a:t>
                      </a:r>
                      <a:endParaRPr lang="en-US" sz="1400">
                        <a:latin typeface="Cambria"/>
                        <a:ea typeface="Times New Roman"/>
                        <a:cs typeface="Times New Roman"/>
                      </a:endParaRPr>
                    </a:p>
                  </a:txBody>
                  <a:tcPr marL="65969" marR="65969" marT="0" marB="0" anchor="ctr">
                    <a:lnL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Calibri"/>
                          <a:ea typeface="Times New Roman"/>
                          <a:cs typeface="Arial"/>
                        </a:rPr>
                        <a:t>1.9%</a:t>
                      </a:r>
                      <a:endParaRPr lang="en-US" sz="1400">
                        <a:latin typeface="Cambria"/>
                        <a:ea typeface="Times New Roman"/>
                        <a:cs typeface="Times New Roman"/>
                      </a:endParaRPr>
                    </a:p>
                  </a:txBody>
                  <a:tcPr marL="65969" marR="65969" marT="0" marB="0" anchor="ctr">
                    <a:lnL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Calibri"/>
                          <a:ea typeface="Times New Roman"/>
                          <a:cs typeface="Arial"/>
                        </a:rPr>
                        <a:t>0.5%</a:t>
                      </a:r>
                      <a:endParaRPr lang="en-US" sz="1400" dirty="0">
                        <a:latin typeface="Cambria"/>
                        <a:ea typeface="Times New Roman"/>
                        <a:cs typeface="Times New Roman"/>
                      </a:endParaRPr>
                    </a:p>
                  </a:txBody>
                  <a:tcPr marL="65969" marR="65969" marT="0" marB="0" anchor="ctr">
                    <a:lnL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Calibri"/>
                          <a:ea typeface="Times New Roman"/>
                          <a:cs typeface="Arial"/>
                        </a:rPr>
                        <a:t>0.2%</a:t>
                      </a:r>
                      <a:endParaRPr lang="en-US" sz="1400">
                        <a:latin typeface="Cambria"/>
                        <a:ea typeface="Times New Roman"/>
                        <a:cs typeface="Times New Roman"/>
                      </a:endParaRPr>
                    </a:p>
                  </a:txBody>
                  <a:tcPr marL="65969" marR="65969" marT="0" marB="0" anchor="ctr">
                    <a:lnL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Calibri"/>
                          <a:ea typeface="Times New Roman"/>
                          <a:cs typeface="Arial"/>
                        </a:rPr>
                        <a:t>100%</a:t>
                      </a:r>
                      <a:endParaRPr lang="en-US" sz="1400" dirty="0">
                        <a:latin typeface="Cambria"/>
                        <a:ea typeface="Times New Roman"/>
                        <a:cs typeface="Times New Roman"/>
                      </a:endParaRPr>
                    </a:p>
                  </a:txBody>
                  <a:tcPr marL="65969" marR="65969" marT="0" marB="0" anchor="ctr">
                    <a:lnL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8043"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latin typeface="Calibri"/>
                          <a:ea typeface="Times New Roman"/>
                          <a:cs typeface="Arial"/>
                        </a:rPr>
                        <a:t>2001 NHTS</a:t>
                      </a:r>
                      <a:endParaRPr lang="en-US" sz="1400">
                        <a:latin typeface="Cambria"/>
                        <a:ea typeface="Times New Roman"/>
                        <a:cs typeface="Times New Roman"/>
                      </a:endParaRPr>
                    </a:p>
                  </a:txBody>
                  <a:tcPr marL="65969" marR="65969" marT="0" marB="0" anchor="ctr">
                    <a:lnL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latin typeface="Calibri"/>
                          <a:ea typeface="Times New Roman"/>
                          <a:cs typeface="Arial"/>
                        </a:rPr>
                        <a:t>40,333</a:t>
                      </a:r>
                      <a:endParaRPr lang="en-US" sz="1400" dirty="0">
                        <a:latin typeface="Cambria"/>
                        <a:ea typeface="Times New Roman"/>
                        <a:cs typeface="Times New Roman"/>
                      </a:endParaRPr>
                    </a:p>
                  </a:txBody>
                  <a:tcPr marL="65969" marR="65969" marT="0" marB="0" anchor="ctr">
                    <a:lnL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latin typeface="Calibri"/>
                          <a:ea typeface="Times New Roman"/>
                          <a:cs typeface="Arial"/>
                        </a:rPr>
                        <a:t>3,347</a:t>
                      </a:r>
                      <a:endParaRPr lang="en-US" sz="1400">
                        <a:latin typeface="Cambria"/>
                        <a:ea typeface="Times New Roman"/>
                        <a:cs typeface="Times New Roman"/>
                      </a:endParaRPr>
                    </a:p>
                  </a:txBody>
                  <a:tcPr marL="65969" marR="65969" marT="0" marB="0" anchor="ctr">
                    <a:lnL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latin typeface="Calibri"/>
                          <a:ea typeface="Times New Roman"/>
                          <a:cs typeface="Arial"/>
                        </a:rPr>
                        <a:t>933</a:t>
                      </a:r>
                      <a:endParaRPr lang="en-US" sz="1400">
                        <a:latin typeface="Cambria"/>
                        <a:ea typeface="Times New Roman"/>
                        <a:cs typeface="Times New Roman"/>
                      </a:endParaRPr>
                    </a:p>
                  </a:txBody>
                  <a:tcPr marL="65969" marR="65969" marT="0" marB="0" anchor="ctr">
                    <a:lnL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latin typeface="Calibri"/>
                          <a:ea typeface="Times New Roman"/>
                          <a:cs typeface="Arial"/>
                        </a:rPr>
                        <a:t>392</a:t>
                      </a:r>
                      <a:endParaRPr lang="en-US" sz="1400">
                        <a:latin typeface="Cambria"/>
                        <a:ea typeface="Times New Roman"/>
                        <a:cs typeface="Times New Roman"/>
                      </a:endParaRPr>
                    </a:p>
                  </a:txBody>
                  <a:tcPr marL="65969" marR="65969" marT="0" marB="0" anchor="ctr">
                    <a:lnL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latin typeface="Calibri"/>
                          <a:ea typeface="Times New Roman"/>
                          <a:cs typeface="Arial"/>
                        </a:rPr>
                        <a:t>160</a:t>
                      </a:r>
                      <a:endParaRPr lang="en-US" sz="1400" dirty="0">
                        <a:latin typeface="Cambria"/>
                        <a:ea typeface="Times New Roman"/>
                        <a:cs typeface="Times New Roman"/>
                      </a:endParaRPr>
                    </a:p>
                  </a:txBody>
                  <a:tcPr marL="65969" marR="65969" marT="0" marB="0" anchor="ctr">
                    <a:lnL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latin typeface="Calibri"/>
                          <a:ea typeface="Times New Roman"/>
                          <a:cs typeface="Arial"/>
                        </a:rPr>
                        <a:t>45,165</a:t>
                      </a:r>
                      <a:endParaRPr lang="en-US" sz="1400" dirty="0">
                        <a:latin typeface="Cambria"/>
                        <a:ea typeface="Times New Roman"/>
                        <a:cs typeface="Times New Roman"/>
                      </a:endParaRPr>
                    </a:p>
                  </a:txBody>
                  <a:tcPr marL="65969" marR="65969" marT="0" marB="0" anchor="ctr">
                    <a:lnL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58043"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Calibri"/>
                          <a:ea typeface="Times New Roman"/>
                          <a:cs typeface="Arial"/>
                        </a:rPr>
                        <a:t>Modal Share</a:t>
                      </a:r>
                      <a:endParaRPr lang="en-US" sz="1400">
                        <a:latin typeface="Cambria"/>
                        <a:ea typeface="Times New Roman"/>
                        <a:cs typeface="Times New Roman"/>
                      </a:endParaRPr>
                    </a:p>
                  </a:txBody>
                  <a:tcPr marL="65969" marR="65969" marT="0" marB="0" anchor="ctr">
                    <a:lnL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Calibri"/>
                          <a:ea typeface="Times New Roman"/>
                          <a:cs typeface="Arial"/>
                        </a:rPr>
                        <a:t>89.3%</a:t>
                      </a:r>
                      <a:endParaRPr lang="en-US" sz="1400">
                        <a:latin typeface="Cambria"/>
                        <a:ea typeface="Times New Roman"/>
                        <a:cs typeface="Times New Roman"/>
                      </a:endParaRPr>
                    </a:p>
                  </a:txBody>
                  <a:tcPr marL="65969" marR="65969" marT="0" marB="0" anchor="ctr">
                    <a:lnL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Calibri"/>
                          <a:ea typeface="Times New Roman"/>
                          <a:cs typeface="Arial"/>
                        </a:rPr>
                        <a:t>7.4%</a:t>
                      </a:r>
                      <a:endParaRPr lang="en-US" sz="1400" dirty="0">
                        <a:latin typeface="Cambria"/>
                        <a:ea typeface="Times New Roman"/>
                        <a:cs typeface="Times New Roman"/>
                      </a:endParaRPr>
                    </a:p>
                  </a:txBody>
                  <a:tcPr marL="65969" marR="65969" marT="0" marB="0" anchor="ctr">
                    <a:lnL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Calibri"/>
                          <a:ea typeface="Times New Roman"/>
                          <a:cs typeface="Arial"/>
                        </a:rPr>
                        <a:t>2.1%</a:t>
                      </a:r>
                      <a:endParaRPr lang="en-US" sz="1400" dirty="0">
                        <a:latin typeface="Cambria"/>
                        <a:ea typeface="Times New Roman"/>
                        <a:cs typeface="Times New Roman"/>
                      </a:endParaRPr>
                    </a:p>
                  </a:txBody>
                  <a:tcPr marL="65969" marR="65969" marT="0" marB="0" anchor="ctr">
                    <a:lnL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Calibri"/>
                          <a:ea typeface="Times New Roman"/>
                          <a:cs typeface="Arial"/>
                        </a:rPr>
                        <a:t>0.9%</a:t>
                      </a:r>
                      <a:endParaRPr lang="en-US" sz="1400">
                        <a:latin typeface="Cambria"/>
                        <a:ea typeface="Times New Roman"/>
                        <a:cs typeface="Times New Roman"/>
                      </a:endParaRPr>
                    </a:p>
                  </a:txBody>
                  <a:tcPr marL="65969" marR="65969" marT="0" marB="0" anchor="ctr">
                    <a:lnL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Calibri"/>
                          <a:ea typeface="Times New Roman"/>
                          <a:cs typeface="Arial"/>
                        </a:rPr>
                        <a:t>0.4%</a:t>
                      </a:r>
                      <a:endParaRPr lang="en-US" sz="1400" dirty="0">
                        <a:latin typeface="Cambria"/>
                        <a:ea typeface="Times New Roman"/>
                        <a:cs typeface="Times New Roman"/>
                      </a:endParaRPr>
                    </a:p>
                  </a:txBody>
                  <a:tcPr marL="65969" marR="65969" marT="0" marB="0" anchor="ctr">
                    <a:lnL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Calibri"/>
                          <a:ea typeface="Times New Roman"/>
                          <a:cs typeface="Arial"/>
                        </a:rPr>
                        <a:t>100%</a:t>
                      </a:r>
                      <a:endParaRPr lang="en-US" sz="1400" dirty="0">
                        <a:latin typeface="Cambria"/>
                        <a:ea typeface="Times New Roman"/>
                        <a:cs typeface="Times New Roman"/>
                      </a:endParaRPr>
                    </a:p>
                  </a:txBody>
                  <a:tcPr marL="65969" marR="65969" marT="0" marB="0" anchor="ctr">
                    <a:lnL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8043"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latin typeface="Calibri"/>
                          <a:ea typeface="Times New Roman"/>
                          <a:cs typeface="Arial"/>
                        </a:rPr>
                        <a:t>2008 NHTS</a:t>
                      </a:r>
                      <a:endParaRPr lang="en-US" sz="1400">
                        <a:latin typeface="Cambria"/>
                        <a:ea typeface="Times New Roman"/>
                        <a:cs typeface="Times New Roman"/>
                      </a:endParaRPr>
                    </a:p>
                  </a:txBody>
                  <a:tcPr marL="65969" marR="65969" marT="0" marB="0" anchor="ctr">
                    <a:lnL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latin typeface="Calibri"/>
                          <a:ea typeface="Times New Roman"/>
                          <a:cs typeface="Arial"/>
                        </a:rPr>
                        <a:t>9,847</a:t>
                      </a:r>
                      <a:endParaRPr lang="en-US" sz="1400">
                        <a:latin typeface="Cambria"/>
                        <a:ea typeface="Times New Roman"/>
                        <a:cs typeface="Times New Roman"/>
                      </a:endParaRPr>
                    </a:p>
                  </a:txBody>
                  <a:tcPr marL="65969" marR="65969" marT="0" marB="0" anchor="ctr">
                    <a:lnL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latin typeface="Calibri"/>
                          <a:ea typeface="Times New Roman"/>
                          <a:cs typeface="Arial"/>
                        </a:rPr>
                        <a:t>661</a:t>
                      </a:r>
                      <a:endParaRPr lang="en-US" sz="1400">
                        <a:latin typeface="Cambria"/>
                        <a:ea typeface="Times New Roman"/>
                        <a:cs typeface="Times New Roman"/>
                      </a:endParaRPr>
                    </a:p>
                  </a:txBody>
                  <a:tcPr marL="65969" marR="65969" marT="0" marB="0" anchor="ctr">
                    <a:lnL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latin typeface="Calibri"/>
                          <a:ea typeface="Times New Roman"/>
                          <a:cs typeface="Arial"/>
                        </a:rPr>
                        <a:t>183</a:t>
                      </a:r>
                      <a:endParaRPr lang="en-US" sz="1400">
                        <a:latin typeface="Cambria"/>
                        <a:ea typeface="Times New Roman"/>
                        <a:cs typeface="Times New Roman"/>
                      </a:endParaRPr>
                    </a:p>
                  </a:txBody>
                  <a:tcPr marL="65969" marR="65969" marT="0" marB="0" anchor="ctr">
                    <a:lnL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latin typeface="Calibri"/>
                          <a:ea typeface="Times New Roman"/>
                          <a:cs typeface="Arial"/>
                        </a:rPr>
                        <a:t>28</a:t>
                      </a:r>
                      <a:endParaRPr lang="en-US" sz="1400" dirty="0">
                        <a:latin typeface="Cambria"/>
                        <a:ea typeface="Times New Roman"/>
                        <a:cs typeface="Times New Roman"/>
                      </a:endParaRPr>
                    </a:p>
                  </a:txBody>
                  <a:tcPr marL="65969" marR="65969" marT="0" marB="0" anchor="ctr">
                    <a:lnL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latin typeface="Calibri"/>
                          <a:ea typeface="Times New Roman"/>
                          <a:cs typeface="Arial"/>
                        </a:rPr>
                        <a:t>143</a:t>
                      </a:r>
                      <a:endParaRPr lang="en-US" sz="1400" dirty="0">
                        <a:latin typeface="Cambria"/>
                        <a:ea typeface="Times New Roman"/>
                        <a:cs typeface="Times New Roman"/>
                      </a:endParaRPr>
                    </a:p>
                  </a:txBody>
                  <a:tcPr marL="65969" marR="65969" marT="0" marB="0" anchor="ctr">
                    <a:lnL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latin typeface="Calibri"/>
                          <a:ea typeface="Times New Roman"/>
                          <a:cs typeface="Arial"/>
                        </a:rPr>
                        <a:t>10,862</a:t>
                      </a:r>
                      <a:endParaRPr lang="en-US" sz="1400">
                        <a:latin typeface="Cambria"/>
                        <a:ea typeface="Times New Roman"/>
                        <a:cs typeface="Times New Roman"/>
                      </a:endParaRPr>
                    </a:p>
                  </a:txBody>
                  <a:tcPr marL="65969" marR="65969" marT="0" marB="0" anchor="ctr">
                    <a:lnL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58043">
                <a:tc>
                  <a:txBody>
                    <a:bodyPr/>
                    <a:lstStyle/>
                    <a:p>
                      <a:pPr marL="0" marR="0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Calibri"/>
                          <a:ea typeface="Times New Roman"/>
                          <a:cs typeface="Arial"/>
                        </a:rPr>
                        <a:t>Modal Share</a:t>
                      </a:r>
                      <a:endParaRPr lang="en-US" sz="1400">
                        <a:latin typeface="Cambria"/>
                        <a:ea typeface="Times New Roman"/>
                        <a:cs typeface="Times New Roman"/>
                      </a:endParaRPr>
                    </a:p>
                  </a:txBody>
                  <a:tcPr marL="65969" marR="65969" marT="0" marB="0" anchor="ctr">
                    <a:lnL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Calibri"/>
                          <a:ea typeface="Times New Roman"/>
                          <a:cs typeface="Arial"/>
                        </a:rPr>
                        <a:t>90.7%</a:t>
                      </a:r>
                      <a:endParaRPr lang="en-US" sz="1400">
                        <a:latin typeface="Cambria"/>
                        <a:ea typeface="Times New Roman"/>
                        <a:cs typeface="Times New Roman"/>
                      </a:endParaRPr>
                    </a:p>
                  </a:txBody>
                  <a:tcPr marL="65969" marR="65969" marT="0" marB="0" anchor="ctr">
                    <a:lnL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Calibri"/>
                          <a:ea typeface="Times New Roman"/>
                          <a:cs typeface="Arial"/>
                        </a:rPr>
                        <a:t>6.1%</a:t>
                      </a:r>
                      <a:endParaRPr lang="en-US" sz="1400">
                        <a:latin typeface="Cambria"/>
                        <a:ea typeface="Times New Roman"/>
                        <a:cs typeface="Times New Roman"/>
                      </a:endParaRPr>
                    </a:p>
                  </a:txBody>
                  <a:tcPr marL="65969" marR="65969" marT="0" marB="0" anchor="ctr">
                    <a:lnL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Calibri"/>
                          <a:ea typeface="Times New Roman"/>
                          <a:cs typeface="Arial"/>
                        </a:rPr>
                        <a:t>1.7%</a:t>
                      </a:r>
                      <a:endParaRPr lang="en-US" sz="1400">
                        <a:latin typeface="Cambria"/>
                        <a:ea typeface="Times New Roman"/>
                        <a:cs typeface="Times New Roman"/>
                      </a:endParaRPr>
                    </a:p>
                  </a:txBody>
                  <a:tcPr marL="65969" marR="65969" marT="0" marB="0" anchor="ctr">
                    <a:lnL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Calibri"/>
                          <a:ea typeface="Times New Roman"/>
                          <a:cs typeface="Arial"/>
                        </a:rPr>
                        <a:t>0.3%</a:t>
                      </a:r>
                      <a:endParaRPr lang="en-US" sz="1400">
                        <a:latin typeface="Cambria"/>
                        <a:ea typeface="Times New Roman"/>
                        <a:cs typeface="Times New Roman"/>
                      </a:endParaRPr>
                    </a:p>
                  </a:txBody>
                  <a:tcPr marL="65969" marR="65969" marT="0" marB="0" anchor="ctr">
                    <a:lnL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Calibri"/>
                          <a:ea typeface="Times New Roman"/>
                          <a:cs typeface="Arial"/>
                        </a:rPr>
                        <a:t>1.3%</a:t>
                      </a:r>
                      <a:endParaRPr lang="en-US" sz="1400" dirty="0">
                        <a:latin typeface="Cambria"/>
                        <a:ea typeface="Times New Roman"/>
                        <a:cs typeface="Times New Roman"/>
                      </a:endParaRPr>
                    </a:p>
                  </a:txBody>
                  <a:tcPr marL="65969" marR="65969" marT="0" marB="0" anchor="ctr">
                    <a:lnL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Calibri"/>
                          <a:ea typeface="Times New Roman"/>
                          <a:cs typeface="Arial"/>
                        </a:rPr>
                        <a:t>100%</a:t>
                      </a:r>
                      <a:endParaRPr lang="en-US" sz="1400" dirty="0">
                        <a:latin typeface="Cambria"/>
                        <a:ea typeface="Times New Roman"/>
                        <a:cs typeface="Times New Roman"/>
                      </a:endParaRPr>
                    </a:p>
                  </a:txBody>
                  <a:tcPr marL="65969" marR="65969" marT="0" marB="0" anchor="ctr">
                    <a:lnL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9A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Additional Data Sources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066800"/>
            <a:ext cx="8229600" cy="4373563"/>
          </a:xfrm>
        </p:spPr>
        <p:txBody>
          <a:bodyPr/>
          <a:lstStyle/>
          <a:p>
            <a:r>
              <a:rPr lang="en-US" dirty="0" smtClean="0"/>
              <a:t>Air</a:t>
            </a:r>
          </a:p>
          <a:p>
            <a:pPr lvl="2"/>
            <a:r>
              <a:rPr lang="en-US" dirty="0" smtClean="0">
                <a:solidFill>
                  <a:schemeClr val="tx1"/>
                </a:solidFill>
                <a:latin typeface="+mn-lt"/>
              </a:rPr>
              <a:t>FAA – FACT 2 (county-county)</a:t>
            </a:r>
          </a:p>
          <a:p>
            <a:pPr lvl="2"/>
            <a:r>
              <a:rPr lang="en-US" dirty="0" smtClean="0">
                <a:solidFill>
                  <a:schemeClr val="tx1"/>
                </a:solidFill>
                <a:latin typeface="+mn-lt"/>
              </a:rPr>
              <a:t>ACRP 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3-10 </a:t>
            </a:r>
            <a:r>
              <a:rPr lang="en-US" dirty="0" smtClean="0">
                <a:solidFill>
                  <a:schemeClr val="tx1"/>
                </a:solidFill>
                <a:latin typeface="+mn-lt"/>
              </a:rPr>
              <a:t>project </a:t>
            </a:r>
            <a:r>
              <a:rPr lang="en-US" dirty="0" smtClean="0"/>
              <a:t> </a:t>
            </a:r>
          </a:p>
          <a:p>
            <a:pPr lvl="3"/>
            <a:r>
              <a:rPr lang="en-US" dirty="0" smtClean="0"/>
              <a:t>True origin-destination for East/West coast locations</a:t>
            </a:r>
          </a:p>
          <a:p>
            <a:r>
              <a:rPr lang="en-US" dirty="0" smtClean="0"/>
              <a:t>Rail </a:t>
            </a:r>
            <a:r>
              <a:rPr lang="en-US" dirty="0" smtClean="0"/>
              <a:t>– Estimates based on </a:t>
            </a:r>
            <a:r>
              <a:rPr lang="en-US" smtClean="0"/>
              <a:t>available data</a:t>
            </a:r>
            <a:endParaRPr lang="en-US" dirty="0" smtClean="0"/>
          </a:p>
          <a:p>
            <a:r>
              <a:rPr lang="en-US" dirty="0" smtClean="0"/>
              <a:t>Bus – ABA</a:t>
            </a:r>
          </a:p>
          <a:p>
            <a:r>
              <a:rPr lang="en-US" dirty="0" smtClean="0"/>
              <a:t>Private sector household surveys </a:t>
            </a:r>
          </a:p>
          <a:p>
            <a:r>
              <a:rPr lang="en-US" dirty="0" smtClean="0"/>
              <a:t>Cross border data</a:t>
            </a:r>
          </a:p>
          <a:p>
            <a:r>
              <a:rPr lang="en-US" dirty="0" smtClean="0"/>
              <a:t>NHTS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Issues/Parameters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295400"/>
            <a:ext cx="7696200" cy="4525963"/>
          </a:xfrm>
        </p:spPr>
        <p:txBody>
          <a:bodyPr/>
          <a:lstStyle/>
          <a:p>
            <a:r>
              <a:rPr lang="en-US" dirty="0" smtClean="0"/>
              <a:t>Data questions</a:t>
            </a:r>
          </a:p>
          <a:p>
            <a:pPr lvl="1"/>
            <a:r>
              <a:rPr lang="en-US" dirty="0" smtClean="0"/>
              <a:t>Inbound international air travel</a:t>
            </a:r>
          </a:p>
          <a:p>
            <a:pPr lvl="1"/>
            <a:r>
              <a:rPr lang="en-US" dirty="0" smtClean="0"/>
              <a:t>Cross border origin/destination flows</a:t>
            </a:r>
          </a:p>
          <a:p>
            <a:pPr lvl="1"/>
            <a:r>
              <a:rPr lang="en-US" dirty="0" smtClean="0"/>
              <a:t>Availability of recent rail data</a:t>
            </a:r>
          </a:p>
          <a:p>
            <a:r>
              <a:rPr lang="en-US" dirty="0" smtClean="0"/>
              <a:t>Trip purposes</a:t>
            </a:r>
          </a:p>
          <a:p>
            <a:pPr lvl="1"/>
            <a:r>
              <a:rPr lang="en-US" dirty="0" smtClean="0"/>
              <a:t>Business, tourist, other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Issues/Parameters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295400"/>
            <a:ext cx="7696200" cy="4525963"/>
          </a:xfrm>
        </p:spPr>
        <p:txBody>
          <a:bodyPr/>
          <a:lstStyle/>
          <a:p>
            <a:r>
              <a:rPr lang="en-US" dirty="0" smtClean="0"/>
              <a:t>Long distance &gt;= 100 miles</a:t>
            </a:r>
          </a:p>
          <a:p>
            <a:r>
              <a:rPr lang="en-US" dirty="0" smtClean="0"/>
              <a:t>Geography </a:t>
            </a:r>
          </a:p>
          <a:p>
            <a:pPr lvl="1"/>
            <a:r>
              <a:rPr lang="en-US" dirty="0" smtClean="0"/>
              <a:t> Build from smallest geography to state</a:t>
            </a:r>
            <a:br>
              <a:rPr lang="en-US" dirty="0" smtClean="0"/>
            </a:br>
            <a:r>
              <a:rPr lang="en-US" dirty="0" smtClean="0"/>
              <a:t> level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274638"/>
            <a:ext cx="8229600" cy="1143000"/>
          </a:xfrm>
        </p:spPr>
        <p:txBody>
          <a:bodyPr/>
          <a:lstStyle/>
          <a:p>
            <a:r>
              <a:rPr lang="en-US" dirty="0" smtClean="0"/>
              <a:t>Validation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493837"/>
            <a:ext cx="3124200" cy="4525963"/>
          </a:xfrm>
        </p:spPr>
        <p:txBody>
          <a:bodyPr/>
          <a:lstStyle/>
          <a:p>
            <a:r>
              <a:rPr lang="en-US" dirty="0" smtClean="0"/>
              <a:t>Reviews of flows relative to activity centers</a:t>
            </a:r>
          </a:p>
          <a:p>
            <a:r>
              <a:rPr lang="en-US" dirty="0" smtClean="0"/>
              <a:t>Comparison of flows as percentage of total from HPMS</a:t>
            </a:r>
            <a:endParaRPr lang="en-US" dirty="0"/>
          </a:p>
        </p:txBody>
      </p:sp>
      <p:pic>
        <p:nvPicPr>
          <p:cNvPr id="5" name="Picture 4" descr="Statewide_ATS95Trips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19600" y="1600200"/>
            <a:ext cx="4328663" cy="3579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Auto Passenger Travel</a:t>
            </a:r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2" cstate="print"/>
          <a:srcRect b="65567"/>
          <a:stretch>
            <a:fillRect/>
          </a:stretch>
        </p:blipFill>
        <p:spPr bwMode="auto">
          <a:xfrm>
            <a:off x="838200" y="1676400"/>
            <a:ext cx="82296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Air Passenger Travel</a:t>
            </a:r>
            <a:endParaRPr lang="en-US" dirty="0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 cstate="print"/>
          <a:srcRect t="34410" b="24237"/>
          <a:stretch>
            <a:fillRect/>
          </a:stretch>
        </p:blipFill>
        <p:spPr bwMode="auto">
          <a:xfrm>
            <a:off x="1371600" y="1143000"/>
            <a:ext cx="7162800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Rail Passenger Travel</a:t>
            </a:r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2" cstate="print"/>
          <a:srcRect t="75162"/>
          <a:stretch>
            <a:fillRect/>
          </a:stretch>
        </p:blipFill>
        <p:spPr bwMode="auto">
          <a:xfrm>
            <a:off x="1295400" y="1676400"/>
            <a:ext cx="7543800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Questions?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00200"/>
            <a:ext cx="8229600" cy="4525963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	Contact:</a:t>
            </a:r>
          </a:p>
          <a:p>
            <a:pPr lvl="1">
              <a:buNone/>
            </a:pPr>
            <a:r>
              <a:rPr lang="en-US" dirty="0" smtClean="0"/>
              <a:t>	Daniel Jenkins</a:t>
            </a:r>
          </a:p>
          <a:p>
            <a:pPr lvl="1">
              <a:buNone/>
            </a:pPr>
            <a:r>
              <a:rPr lang="en-US" dirty="0" smtClean="0"/>
              <a:t>	daniel.jenkins@dot.gov</a:t>
            </a:r>
          </a:p>
          <a:p>
            <a:pPr>
              <a:buNone/>
            </a:pPr>
            <a:r>
              <a:rPr lang="en-US" dirty="0" smtClean="0"/>
              <a:t> 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GillSans"/>
        <a:ea typeface=""/>
        <a:cs typeface=""/>
      </a:majorFont>
      <a:minorFont>
        <a:latin typeface="Gill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4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GillSans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4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GillSans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1908</TotalTime>
  <Words>448</Words>
  <Application>Microsoft Office PowerPoint</Application>
  <PresentationFormat>On-screen Show (4:3)</PresentationFormat>
  <Paragraphs>175</Paragraphs>
  <Slides>15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Default Design</vt:lpstr>
      <vt:lpstr>FHWA Traveler Analysis Framework Part II Status Report </vt:lpstr>
      <vt:lpstr>FHWA TAF Part II</vt:lpstr>
      <vt:lpstr> Traveler Analysis Framework  </vt:lpstr>
      <vt:lpstr>TAF - Evolutionary Process</vt:lpstr>
      <vt:lpstr>Preliminary Thoughts and Approached Offered by the Team</vt:lpstr>
      <vt:lpstr>FHWA TAF Part II</vt:lpstr>
      <vt:lpstr>Data Sources</vt:lpstr>
      <vt:lpstr>Additional Data Sources </vt:lpstr>
      <vt:lpstr>Issues/Parameters</vt:lpstr>
      <vt:lpstr>Issues/Parameters</vt:lpstr>
      <vt:lpstr>Validation</vt:lpstr>
      <vt:lpstr>Auto Passenger Travel</vt:lpstr>
      <vt:lpstr>Air Passenger Travel</vt:lpstr>
      <vt:lpstr>Rail Passenger Travel</vt:lpstr>
      <vt:lpstr>Questions?</vt:lpstr>
    </vt:vector>
  </TitlesOfParts>
  <Company>Wilbur Smith Associates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Nick Smith</dc:creator>
  <cp:lastModifiedBy>dvary</cp:lastModifiedBy>
  <cp:revision>59</cp:revision>
  <dcterms:created xsi:type="dcterms:W3CDTF">2006-10-02T23:27:55Z</dcterms:created>
  <dcterms:modified xsi:type="dcterms:W3CDTF">2010-11-04T16:52:25Z</dcterms:modified>
</cp:coreProperties>
</file>