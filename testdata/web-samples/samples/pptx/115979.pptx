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Default Extension="pdf" ContentType="application/pdf"/>
  <Override PartName="/ppt/slides/slide22.xml" ContentType="application/vnd.openxmlformats-officedocument.presentationml.slide+xml"/>
  <Override PartName="/ppt/slides/slide28.xml" ContentType="application/vnd.openxmlformats-officedocument.presentationml.slide+xml"/>
  <Override PartName="/ppt/theme/theme2.xml" ContentType="application/vnd.openxmlformats-officedocument.theme+xml"/>
  <Override PartName="/ppt/slides/slide2.xml" ContentType="application/vnd.openxmlformats-officedocument.presentationml.slide+xml"/>
  <Override PartName="/docProps/app.xml" ContentType="application/vnd.openxmlformats-officedocument.extended-properties+xml"/>
  <Override PartName="/ppt/slides/slide30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Layouts/slideLayout3.xml" ContentType="application/vnd.openxmlformats-officedocument.presentationml.slideLayout+xml"/>
  <Override PartName="/ppt/slides/slide21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23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slides/slide7.xml" ContentType="application/vnd.openxmlformats-officedocument.presentationml.slide+xml"/>
  <Override PartName="/ppt/slides/slide26.xml" ContentType="application/vnd.openxmlformats-officedocument.presentationml.slide+xml"/>
  <Override PartName="/ppt/slideMasters/slideMaster1.xml" ContentType="application/vnd.openxmlformats-officedocument.presentationml.slideMaster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Default Extension="xlsx" ContentType="application/vnd.openxmlformats-officedocument.spreadsheetml.sheet"/>
  <Override PartName="/ppt/slides/slide25.xml" ContentType="application/vnd.openxmlformats-officedocument.presentationml.slide+xml"/>
  <Override PartName="/ppt/notesSlides/notesSlide4.xml" ContentType="application/vnd.openxmlformats-officedocument.presentationml.notesSlide+xml"/>
  <Override PartName="/ppt/embeddings/Microsoft_Equation2.bin" ContentType="application/vnd.openxmlformats-officedocument.oleObject"/>
  <Override PartName="/ppt/embeddings/Microsoft_Equation4.bin" ContentType="application/vnd.openxmlformats-officedocument.oleObject"/>
  <Override PartName="/ppt/slides/slide13.xml" ContentType="application/vnd.openxmlformats-officedocument.presentationml.slide+xml"/>
  <Override PartName="/ppt/slides/slide40.xml" ContentType="application/vnd.openxmlformats-officedocument.presentationml.slide+xml"/>
  <Override PartName="/ppt/slides/slide14.xml" ContentType="application/vnd.openxmlformats-officedocument.presentationml.slide+xml"/>
  <Override PartName="/ppt/slides/slide34.xml" ContentType="application/vnd.openxmlformats-officedocument.presentationml.slide+xml"/>
  <Override PartName="/ppt/embeddings/Microsoft_Equation5.bin" ContentType="application/vnd.openxmlformats-officedocument.oleObject"/>
  <Default Extension="pict" ContentType="image/pict"/>
  <Override PartName="/ppt/notesSlides/notesSlide6.xml" ContentType="application/vnd.openxmlformats-officedocument.presentationml.notes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37.xml" ContentType="application/vnd.openxmlformats-officedocument.presentationml.slide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3.xml" ContentType="application/vnd.openxmlformats-officedocument.presentationml.slide+xml"/>
  <Override PartName="/ppt/presProps.xml" ContentType="application/vnd.openxmlformats-officedocument.presentationml.presProps+xml"/>
  <Default Extension="vml" ContentType="application/vnd.openxmlformats-officedocument.vmlDrawing"/>
  <Default Extension="jpeg" ContentType="image/jpeg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embeddings/Microsoft_Equation1.bin" ContentType="application/vnd.openxmlformats-officedocument.oleObject"/>
  <Override PartName="/ppt/slides/slide27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ppt/slideLayouts/slideLayout13.xml" ContentType="application/vnd.openxmlformats-officedocument.presentationml.slideLayout+xml"/>
  <Override PartName="/ppt/slides/slide8.xml" ContentType="application/vnd.openxmlformats-officedocument.presentationml.slide+xml"/>
  <Override PartName="/ppt/slides/slide31.xml" ContentType="application/vnd.openxmlformats-officedocument.presentationml.slide+xml"/>
  <Override PartName="/ppt/slides/slide15.xml" ContentType="application/vnd.openxmlformats-officedocument.presentationml.slide+xml"/>
  <Default Extension="bin" ContentType="application/vnd.openxmlformats-officedocument.presentationml.printerSettings"/>
  <Override PartName="/ppt/notesSlides/notesSlide10.xml" ContentType="application/vnd.openxmlformats-officedocument.presentationml.notesSlide+xml"/>
  <Default Extension="rels" ContentType="application/vnd.openxmlformats-package.relationships+xml"/>
  <Override PartName="/ppt/slides/slide9.xml" ContentType="application/vnd.openxmlformats-officedocument.presentationml.slide+xml"/>
  <Override PartName="/ppt/embeddings/Microsoft_Equation3.bin" ContentType="application/vnd.openxmlformats-officedocument.oleObject"/>
  <Override PartName="/ppt/slides/slide24.xml" ContentType="application/vnd.openxmlformats-officedocument.presentationml.slide+xml"/>
  <Override PartName="/ppt/slides/slide39.xml" ContentType="application/vnd.openxmlformats-officedocument.presentationml.slide+xml"/>
  <Override PartName="/ppt/slides/slide32.xml" ContentType="application/vnd.openxmlformats-officedocument.presentationml.slide+xml"/>
  <Override PartName="/ppt/slides/slide6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Layouts/slideLayout12.xml" ContentType="application/vnd.openxmlformats-officedocument.presentationml.slideLayout+xml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81" r:id="rId3"/>
    <p:sldId id="282" r:id="rId4"/>
    <p:sldId id="264" r:id="rId5"/>
    <p:sldId id="297" r:id="rId6"/>
    <p:sldId id="283" r:id="rId7"/>
    <p:sldId id="286" r:id="rId8"/>
    <p:sldId id="284" r:id="rId9"/>
    <p:sldId id="289" r:id="rId10"/>
    <p:sldId id="290" r:id="rId11"/>
    <p:sldId id="285" r:id="rId12"/>
    <p:sldId id="265" r:id="rId13"/>
    <p:sldId id="292" r:id="rId14"/>
    <p:sldId id="293" r:id="rId15"/>
    <p:sldId id="287" r:id="rId16"/>
    <p:sldId id="266" r:id="rId17"/>
    <p:sldId id="272" r:id="rId18"/>
    <p:sldId id="280" r:id="rId19"/>
    <p:sldId id="298" r:id="rId20"/>
    <p:sldId id="295" r:id="rId21"/>
    <p:sldId id="291" r:id="rId22"/>
    <p:sldId id="277" r:id="rId23"/>
    <p:sldId id="262" r:id="rId24"/>
    <p:sldId id="267" r:id="rId25"/>
    <p:sldId id="270" r:id="rId26"/>
    <p:sldId id="278" r:id="rId27"/>
    <p:sldId id="258" r:id="rId28"/>
    <p:sldId id="271" r:id="rId29"/>
    <p:sldId id="274" r:id="rId30"/>
    <p:sldId id="273" r:id="rId31"/>
    <p:sldId id="276" r:id="rId32"/>
    <p:sldId id="260" r:id="rId33"/>
    <p:sldId id="261" r:id="rId34"/>
    <p:sldId id="275" r:id="rId35"/>
    <p:sldId id="263" r:id="rId36"/>
    <p:sldId id="299" r:id="rId37"/>
    <p:sldId id="268" r:id="rId38"/>
    <p:sldId id="269" r:id="rId39"/>
    <p:sldId id="296" r:id="rId40"/>
    <p:sldId id="279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>
    <p:restoredLeft sz="15620"/>
    <p:restoredTop sz="94660"/>
  </p:normalViewPr>
  <p:slideViewPr>
    <p:cSldViewPr snapToObjects="1">
      <p:cViewPr varScale="1">
        <p:scale>
          <a:sx n="64" d="100"/>
          <a:sy n="64" d="100"/>
        </p:scale>
        <p:origin x="-608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91" d="100"/>
          <a:sy n="91" d="100"/>
        </p:scale>
        <p:origin x="-2008" y="-104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theme" Target="theme/theme1.xml"/><Relationship Id="rId35" Type="http://schemas.openxmlformats.org/officeDocument/2006/relationships/slide" Target="slides/slide34.xml"/><Relationship Id="rId31" Type="http://schemas.openxmlformats.org/officeDocument/2006/relationships/slide" Target="slides/slide30.xml"/><Relationship Id="rId34" Type="http://schemas.openxmlformats.org/officeDocument/2006/relationships/slide" Target="slides/slide33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7" Type="http://schemas.openxmlformats.org/officeDocument/2006/relationships/slide" Target="slides/slide6.xml"/><Relationship Id="rId36" Type="http://schemas.openxmlformats.org/officeDocument/2006/relationships/slide" Target="slides/slide35.xml"/><Relationship Id="rId43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47" Type="http://schemas.openxmlformats.org/officeDocument/2006/relationships/tableStyles" Target="tableStyles.xml"/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0" Type="http://schemas.openxmlformats.org/officeDocument/2006/relationships/slide" Target="slides/slide9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9" Type="http://schemas.openxmlformats.org/officeDocument/2006/relationships/slide" Target="slides/slide8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7" Type="http://schemas.openxmlformats.org/officeDocument/2006/relationships/slide" Target="slides/slide26.xml"/><Relationship Id="rId14" Type="http://schemas.openxmlformats.org/officeDocument/2006/relationships/slide" Target="slides/slide13.xml"/><Relationship Id="rId23" Type="http://schemas.openxmlformats.org/officeDocument/2006/relationships/slide" Target="slides/slide22.xml"/><Relationship Id="rId4" Type="http://schemas.openxmlformats.org/officeDocument/2006/relationships/slide" Target="slides/slide3.xml"/><Relationship Id="rId28" Type="http://schemas.openxmlformats.org/officeDocument/2006/relationships/slide" Target="slides/slide27.xml"/><Relationship Id="rId45" Type="http://schemas.openxmlformats.org/officeDocument/2006/relationships/viewProps" Target="viewProps.xml"/><Relationship Id="rId26" Type="http://schemas.openxmlformats.org/officeDocument/2006/relationships/slide" Target="slides/slide25.xml"/><Relationship Id="rId30" Type="http://schemas.openxmlformats.org/officeDocument/2006/relationships/slide" Target="slides/slide29.xml"/><Relationship Id="rId11" Type="http://schemas.openxmlformats.org/officeDocument/2006/relationships/slide" Target="slides/slide10.xml"/><Relationship Id="rId42" Type="http://schemas.openxmlformats.org/officeDocument/2006/relationships/notesMaster" Target="notesMasters/notesMaster1.xml"/><Relationship Id="rId29" Type="http://schemas.openxmlformats.org/officeDocument/2006/relationships/slide" Target="slides/slide28.xml"/><Relationship Id="rId6" Type="http://schemas.openxmlformats.org/officeDocument/2006/relationships/slide" Target="slides/slide5.xml"/><Relationship Id="rId16" Type="http://schemas.openxmlformats.org/officeDocument/2006/relationships/slide" Target="slides/slide15.xml"/><Relationship Id="rId33" Type="http://schemas.openxmlformats.org/officeDocument/2006/relationships/slide" Target="slides/slide32.xml"/><Relationship Id="rId44" Type="http://schemas.openxmlformats.org/officeDocument/2006/relationships/presProps" Target="presProps.xml"/><Relationship Id="rId41" Type="http://schemas.openxmlformats.org/officeDocument/2006/relationships/slide" Target="slides/slide4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9" Type="http://schemas.openxmlformats.org/officeDocument/2006/relationships/slide" Target="slides/slide18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plotArea>
      <c:layout/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numRef>
              <c:f>Sheet1!$A$2:$A$6</c:f>
              <c:numCache>
                <c:formatCode>General</c:formatCode>
                <c:ptCount val="5"/>
                <c:pt idx="0">
                  <c:v>13.5</c:v>
                </c:pt>
                <c:pt idx="1">
                  <c:v>10.0</c:v>
                </c:pt>
                <c:pt idx="2">
                  <c:v>7.0</c:v>
                </c:pt>
                <c:pt idx="3">
                  <c:v>4.0</c:v>
                </c:pt>
                <c:pt idx="4">
                  <c:v>0.0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1.0</c:v>
                </c:pt>
                <c:pt idx="1">
                  <c:v>0.0</c:v>
                </c:pt>
                <c:pt idx="2">
                  <c:v>0.0</c:v>
                </c:pt>
                <c:pt idx="3">
                  <c:v>0.1</c:v>
                </c:pt>
                <c:pt idx="4">
                  <c:v>0.3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cat>
            <c:numRef>
              <c:f>Sheet1!$A$2:$A$6</c:f>
              <c:numCache>
                <c:formatCode>General</c:formatCode>
                <c:ptCount val="5"/>
                <c:pt idx="0">
                  <c:v>13.5</c:v>
                </c:pt>
                <c:pt idx="1">
                  <c:v>10.0</c:v>
                </c:pt>
                <c:pt idx="2">
                  <c:v>7.0</c:v>
                </c:pt>
                <c:pt idx="3">
                  <c:v>4.0</c:v>
                </c:pt>
                <c:pt idx="4">
                  <c:v>0.0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</c:ser>
        <c:overlap val="100"/>
        <c:axId val="352271048"/>
        <c:axId val="228717000"/>
      </c:barChart>
      <c:catAx>
        <c:axId val="352271048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AGE</a:t>
                </a:r>
              </a:p>
            </c:rich>
          </c:tx>
          <c:layout/>
        </c:title>
        <c:numFmt formatCode="General" sourceLinked="1"/>
        <c:tickLblPos val="nextTo"/>
        <c:crossAx val="228717000"/>
        <c:crosses val="autoZero"/>
        <c:auto val="1"/>
        <c:lblAlgn val="ctr"/>
        <c:lblOffset val="100"/>
      </c:catAx>
      <c:valAx>
        <c:axId val="228717000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SFR</a:t>
                </a:r>
              </a:p>
            </c:rich>
          </c:tx>
          <c:layout/>
        </c:title>
        <c:numFmt formatCode="General" sourceLinked="1"/>
        <c:tickLblPos val="nextTo"/>
        <c:crossAx val="352271048"/>
        <c:crosses val="autoZero"/>
        <c:crossBetween val="between"/>
      </c:valAx>
    </c:plotArea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autoTitleDeleted val="1"/>
    <c:plotArea>
      <c:layout>
        <c:manualLayout>
          <c:layoutTarget val="inner"/>
          <c:xMode val="edge"/>
          <c:yMode val="edge"/>
          <c:x val="0.141269841269841"/>
          <c:y val="0.275862068965517"/>
          <c:w val="0.815079365079365"/>
          <c:h val="0.264976015929043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numRef>
              <c:f>Sheet1!$A$2:$A$6</c:f>
              <c:numCache>
                <c:formatCode>General</c:formatCode>
                <c:ptCount val="5"/>
                <c:pt idx="0">
                  <c:v>13.5</c:v>
                </c:pt>
                <c:pt idx="1">
                  <c:v>10.0</c:v>
                </c:pt>
                <c:pt idx="2">
                  <c:v>7.0</c:v>
                </c:pt>
                <c:pt idx="3">
                  <c:v>4.0</c:v>
                </c:pt>
                <c:pt idx="4">
                  <c:v>0.0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0.1</c:v>
                </c:pt>
                <c:pt idx="4">
                  <c:v>0.3</c:v>
                </c:pt>
              </c:numCache>
            </c:numRef>
          </c:val>
        </c:ser>
        <c:overlap val="100"/>
        <c:axId val="228740408"/>
        <c:axId val="345499416"/>
      </c:barChart>
      <c:catAx>
        <c:axId val="228740408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AGE</a:t>
                </a:r>
              </a:p>
            </c:rich>
          </c:tx>
          <c:layout/>
        </c:title>
        <c:numFmt formatCode="General" sourceLinked="1"/>
        <c:tickLblPos val="nextTo"/>
        <c:crossAx val="345499416"/>
        <c:crosses val="autoZero"/>
        <c:auto val="1"/>
        <c:lblAlgn val="ctr"/>
        <c:lblOffset val="100"/>
      </c:catAx>
      <c:valAx>
        <c:axId val="345499416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SFR</a:t>
                </a:r>
              </a:p>
            </c:rich>
          </c:tx>
          <c:layout/>
        </c:title>
        <c:numFmt formatCode="General" sourceLinked="1"/>
        <c:tickLblPos val="nextTo"/>
        <c:crossAx val="228740408"/>
        <c:crosses val="autoZero"/>
        <c:crossBetween val="between"/>
      </c:valAx>
    </c:plotArea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ict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pict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pict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pict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pict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996CE0-9009-4591-BD8B-3131C682EFF0}" type="datetimeFigureOut">
              <a:rPr lang="en-US" smtClean="0"/>
              <a:pPr/>
              <a:t>9/26/08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2B3E4D-90FF-40C0-A8C0-AD35A1EA566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2B3E4D-90FF-40C0-A8C0-AD35A1EA566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F860380-4831-46BF-825A-896D1DC87165}" type="slidenum">
              <a:rPr lang="en-US"/>
              <a:pPr/>
              <a:t>5</a:t>
            </a:fld>
            <a:endParaRPr lang="en-US"/>
          </a:p>
        </p:txBody>
      </p:sp>
      <p:sp>
        <p:nvSpPr>
          <p:cNvPr id="35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DE2184-4B8E-4A27-9FAD-B2E793E24318}" type="slidenum">
              <a:rPr lang="en-US"/>
              <a:pPr/>
              <a:t>9</a:t>
            </a:fld>
            <a:endParaRPr lang="en-US"/>
          </a:p>
        </p:txBody>
      </p:sp>
      <p:sp>
        <p:nvSpPr>
          <p:cNvPr id="359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9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A5122C0-BF7D-42BA-A5A0-D72DF34B857A}" type="slidenum">
              <a:rPr lang="en-US"/>
              <a:pPr/>
              <a:t>10</a:t>
            </a:fld>
            <a:endParaRPr lang="en-US"/>
          </a:p>
        </p:txBody>
      </p:sp>
      <p:sp>
        <p:nvSpPr>
          <p:cNvPr id="344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4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9170FB-3C22-4E5C-9B88-94DC717F3D64}" type="slidenum">
              <a:rPr lang="en-US"/>
              <a:pPr/>
              <a:t>13</a:t>
            </a:fld>
            <a:endParaRPr lang="en-US"/>
          </a:p>
        </p:txBody>
      </p:sp>
      <p:sp>
        <p:nvSpPr>
          <p:cNvPr id="15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D83694-CFEE-4B6A-8281-81DCF458F48C}" type="slidenum">
              <a:rPr lang="en-US"/>
              <a:pPr/>
              <a:t>14</a:t>
            </a:fld>
            <a:endParaRPr lang="en-US"/>
          </a:p>
        </p:txBody>
      </p:sp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D83694-CFEE-4B6A-8281-81DCF458F48C}" type="slidenum">
              <a:rPr lang="en-US"/>
              <a:pPr/>
              <a:t>19</a:t>
            </a:fld>
            <a:endParaRPr lang="en-US"/>
          </a:p>
        </p:txBody>
      </p:sp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8BB71F-E86C-4C9C-8CB6-9A66FE4C343E}" type="slidenum">
              <a:rPr lang="en-US"/>
              <a:pPr/>
              <a:t>20</a:t>
            </a:fld>
            <a:endParaRPr lang="en-US"/>
          </a:p>
        </p:txBody>
      </p:sp>
      <p:sp>
        <p:nvSpPr>
          <p:cNvPr id="145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2B3E4D-90FF-40C0-A8C0-AD35A1EA566C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D2E9A5-C0E5-40D9-9DDF-3ACC6E6DCD77}" type="slidenum">
              <a:rPr lang="en-US"/>
              <a:pPr/>
              <a:t>39</a:t>
            </a:fld>
            <a:endParaRPr lang="en-US"/>
          </a:p>
        </p:txBody>
      </p:sp>
      <p:sp>
        <p:nvSpPr>
          <p:cNvPr id="307202" name="Rectangle 1026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4588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03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666" tIns="44833" rIns="89666" bIns="44833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A34CE-4F9B-4C67-A2FE-7674CE505F4E}" type="datetimeFigureOut">
              <a:rPr lang="en-US" smtClean="0"/>
              <a:pPr/>
              <a:t>9/26/08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B72A7-BA48-4144-8EB1-9FEA899C4B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A34CE-4F9B-4C67-A2FE-7674CE505F4E}" type="datetimeFigureOut">
              <a:rPr lang="en-US" smtClean="0"/>
              <a:pPr/>
              <a:t>9/26/08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B72A7-BA48-4144-8EB1-9FEA899C4B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A34CE-4F9B-4C67-A2FE-7674CE505F4E}" type="datetimeFigureOut">
              <a:rPr lang="en-US" smtClean="0"/>
              <a:pPr/>
              <a:t>9/26/08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B72A7-BA48-4144-8EB1-9FEA899C4B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A34CE-4F9B-4C67-A2FE-7674CE505F4E}" type="datetimeFigureOut">
              <a:rPr lang="en-US" smtClean="0"/>
              <a:pPr/>
              <a:t>9/26/08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B72A7-BA48-4144-8EB1-9FEA899C4B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A34CE-4F9B-4C67-A2FE-7674CE505F4E}" type="datetimeFigureOut">
              <a:rPr lang="en-US" smtClean="0"/>
              <a:pPr/>
              <a:t>9/26/08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B72A7-BA48-4144-8EB1-9FEA899C4B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A34CE-4F9B-4C67-A2FE-7674CE505F4E}" type="datetimeFigureOut">
              <a:rPr lang="en-US" smtClean="0"/>
              <a:pPr/>
              <a:t>9/26/08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B72A7-BA48-4144-8EB1-9FEA899C4B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A34CE-4F9B-4C67-A2FE-7674CE505F4E}" type="datetimeFigureOut">
              <a:rPr lang="en-US" smtClean="0"/>
              <a:pPr/>
              <a:t>9/26/08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B72A7-BA48-4144-8EB1-9FEA899C4B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A34CE-4F9B-4C67-A2FE-7674CE505F4E}" type="datetimeFigureOut">
              <a:rPr lang="en-US" smtClean="0"/>
              <a:pPr/>
              <a:t>9/26/08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B72A7-BA48-4144-8EB1-9FEA899C4B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A34CE-4F9B-4C67-A2FE-7674CE505F4E}" type="datetimeFigureOut">
              <a:rPr lang="en-US" smtClean="0"/>
              <a:pPr/>
              <a:t>9/26/08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B72A7-BA48-4144-8EB1-9FEA899C4B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A34CE-4F9B-4C67-A2FE-7674CE505F4E}" type="datetimeFigureOut">
              <a:rPr lang="en-US" smtClean="0"/>
              <a:pPr/>
              <a:t>9/26/08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B72A7-BA48-4144-8EB1-9FEA899C4B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A34CE-4F9B-4C67-A2FE-7674CE505F4E}" type="datetimeFigureOut">
              <a:rPr lang="en-US" smtClean="0"/>
              <a:pPr/>
              <a:t>9/26/08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B72A7-BA48-4144-8EB1-9FEA899C4B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fld id="{4B499AD0-A9DD-4622-863E-69606B0119E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fld id="{43925169-A40B-4BB9-881A-7BA9E993234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2A34CE-4F9B-4C67-A2FE-7674CE505F4E}" type="datetimeFigureOut">
              <a:rPr lang="en-US" smtClean="0"/>
              <a:pPr/>
              <a:t>9/26/08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2B72A7-BA48-4144-8EB1-9FEA899C4B0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.bin"/><Relationship Id="rId1" Type="http://schemas.openxmlformats.org/officeDocument/2006/relationships/vmlDrawing" Target="../drawings/vmlDrawing1.v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7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6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1" Type="http://schemas.openxmlformats.org/officeDocument/2006/relationships/video" Target="file://localhost/Users/ricotti/Documents/mymovie.mov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df"/><Relationship Id="rId3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df"/><Relationship Id="rId3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df"/><Relationship Id="rId3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jpe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df"/><Relationship Id="rId3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df"/><Relationship Id="rId3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2.bin"/><Relationship Id="rId1" Type="http://schemas.openxmlformats.org/officeDocument/2006/relationships/vmlDrawing" Target="../drawings/vmlDrawing2.v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df"/><Relationship Id="rId4" Type="http://schemas.openxmlformats.org/officeDocument/2006/relationships/image" Target="../media/image34.pdf"/><Relationship Id="rId10" Type="http://schemas.openxmlformats.org/officeDocument/2006/relationships/image" Target="../media/image40.pdf"/><Relationship Id="rId5" Type="http://schemas.openxmlformats.org/officeDocument/2006/relationships/image" Target="../media/image35.png"/><Relationship Id="rId7" Type="http://schemas.openxmlformats.org/officeDocument/2006/relationships/image" Target="../media/image37.png"/><Relationship Id="rId11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df"/><Relationship Id="rId9" Type="http://schemas.openxmlformats.org/officeDocument/2006/relationships/image" Target="../media/image39.png"/><Relationship Id="rId3" Type="http://schemas.openxmlformats.org/officeDocument/2006/relationships/image" Target="../media/image33.png"/><Relationship Id="rId6" Type="http://schemas.openxmlformats.org/officeDocument/2006/relationships/image" Target="../media/image36.pdf"/></Relationships>
</file>

<file path=ppt/slides/_rels/slide30.xml.rels><?xml version="1.0" encoding="UTF-8" standalone="yes"?>
<Relationships xmlns="http://schemas.openxmlformats.org/package/2006/relationships"><Relationship Id="rId14" Type="http://schemas.openxmlformats.org/officeDocument/2006/relationships/image" Target="../media/image53.png"/><Relationship Id="rId4" Type="http://schemas.openxmlformats.org/officeDocument/2006/relationships/image" Target="../media/image43.png"/><Relationship Id="rId7" Type="http://schemas.openxmlformats.org/officeDocument/2006/relationships/image" Target="../media/image46.pdf"/><Relationship Id="rId11" Type="http://schemas.openxmlformats.org/officeDocument/2006/relationships/image" Target="../media/image50.pd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8" Type="http://schemas.openxmlformats.org/officeDocument/2006/relationships/image" Target="../media/image47.png"/><Relationship Id="rId13" Type="http://schemas.openxmlformats.org/officeDocument/2006/relationships/image" Target="../media/image52.pdf"/><Relationship Id="rId10" Type="http://schemas.openxmlformats.org/officeDocument/2006/relationships/image" Target="../media/image49.png"/><Relationship Id="rId5" Type="http://schemas.openxmlformats.org/officeDocument/2006/relationships/image" Target="../media/image44.pdf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9.xml"/><Relationship Id="rId9" Type="http://schemas.openxmlformats.org/officeDocument/2006/relationships/image" Target="../media/image48.pdf"/><Relationship Id="rId3" Type="http://schemas.openxmlformats.org/officeDocument/2006/relationships/image" Target="../media/image42.pd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3.bin"/><Relationship Id="rId1" Type="http://schemas.openxmlformats.org/officeDocument/2006/relationships/vmlDrawing" Target="../drawings/vmlDrawing3.v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df"/><Relationship Id="rId3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df"/><Relationship Id="rId3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4.bin"/><Relationship Id="rId1" Type="http://schemas.openxmlformats.org/officeDocument/2006/relationships/vmlDrawing" Target="../drawings/vmlDrawing4.v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image" Target="../media/image62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1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5.bin"/><Relationship Id="rId1" Type="http://schemas.openxmlformats.org/officeDocument/2006/relationships/vmlDrawing" Target="../drawings/vmlDrawing5.v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828800"/>
            <a:ext cx="7772400" cy="23622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1F497D"/>
                </a:solidFill>
              </a:rPr>
              <a:t>Late gas accretion onto primordial mini-halos</a:t>
            </a:r>
            <a:r>
              <a:rPr lang="en-US" dirty="0" smtClean="0">
                <a:solidFill>
                  <a:srgbClr val="376092"/>
                </a:solidFill>
              </a:rPr>
              <a:t/>
            </a:r>
            <a:br>
              <a:rPr lang="en-US" dirty="0" smtClean="0">
                <a:solidFill>
                  <a:srgbClr val="376092"/>
                </a:solidFill>
              </a:rPr>
            </a:br>
            <a:r>
              <a:rPr lang="en-US" dirty="0" smtClean="0">
                <a:solidFill>
                  <a:srgbClr val="376092"/>
                </a:solidFill>
              </a:rPr>
              <a:t> </a:t>
            </a:r>
            <a:r>
              <a:rPr lang="en-US" sz="2667" dirty="0" smtClean="0">
                <a:solidFill>
                  <a:srgbClr val="376092"/>
                </a:solidFill>
              </a:rPr>
              <a:t>a model for pre-</a:t>
            </a:r>
            <a:r>
              <a:rPr lang="en-US" sz="2667" dirty="0" err="1" smtClean="0">
                <a:solidFill>
                  <a:srgbClr val="376092"/>
                </a:solidFill>
              </a:rPr>
              <a:t>reionization</a:t>
            </a:r>
            <a:r>
              <a:rPr lang="en-US" sz="2667" dirty="0" smtClean="0">
                <a:solidFill>
                  <a:srgbClr val="376092"/>
                </a:solidFill>
              </a:rPr>
              <a:t> dwarfs and extragalactic </a:t>
            </a:r>
            <a:br>
              <a:rPr lang="en-US" sz="2667" dirty="0" smtClean="0">
                <a:solidFill>
                  <a:srgbClr val="376092"/>
                </a:solidFill>
              </a:rPr>
            </a:br>
            <a:r>
              <a:rPr lang="en-US" sz="2667" dirty="0" smtClean="0">
                <a:solidFill>
                  <a:srgbClr val="376092"/>
                </a:solidFill>
              </a:rPr>
              <a:t>compact High-Velocity Clouds </a:t>
            </a:r>
            <a:endParaRPr lang="en-US" sz="2667" dirty="0">
              <a:solidFill>
                <a:srgbClr val="37609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419600"/>
            <a:ext cx="6400800" cy="1752600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Massimo Ricotti (U of Maryland)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133600"/>
            <a:ext cx="8534400" cy="44196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C0504D"/>
                </a:solidFill>
              </a:rPr>
              <a:t>Outline:</a:t>
            </a:r>
          </a:p>
          <a:p>
            <a:r>
              <a:rPr lang="en-US" dirty="0" smtClean="0">
                <a:solidFill>
                  <a:srgbClr val="1F497D"/>
                </a:solidFill>
              </a:rPr>
              <a:t>Part I : pre-</a:t>
            </a:r>
            <a:r>
              <a:rPr lang="en-US" dirty="0" err="1" smtClean="0">
                <a:solidFill>
                  <a:srgbClr val="1F497D"/>
                </a:solidFill>
              </a:rPr>
              <a:t>reionization</a:t>
            </a:r>
            <a:r>
              <a:rPr lang="en-US" dirty="0" smtClean="0">
                <a:solidFill>
                  <a:srgbClr val="1F497D"/>
                </a:solidFill>
              </a:rPr>
              <a:t> fossils</a:t>
            </a:r>
          </a:p>
          <a:p>
            <a:r>
              <a:rPr lang="en-US" dirty="0" smtClean="0">
                <a:solidFill>
                  <a:srgbClr val="1F497D"/>
                </a:solidFill>
              </a:rPr>
              <a:t>Part II: late (cold) gas accretion onto mini-halos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I </a:t>
            </a:r>
            <a:r>
              <a:rPr lang="en-US" dirty="0" smtClean="0"/>
              <a:t>will describe an exciting but </a:t>
            </a:r>
            <a:r>
              <a:rPr lang="en-US" dirty="0" smtClean="0"/>
              <a:t>controversial</a:t>
            </a:r>
            <a:r>
              <a:rPr lang="en-US" dirty="0" smtClean="0"/>
              <a:t> hypothesis</a:t>
            </a:r>
            <a:r>
              <a:rPr lang="en-US" dirty="0" smtClean="0"/>
              <a:t> </a:t>
            </a:r>
            <a:r>
              <a:rPr lang="en-US" dirty="0" smtClean="0"/>
              <a:t>for </a:t>
            </a:r>
            <a:r>
              <a:rPr lang="en-US" dirty="0" smtClean="0"/>
              <a:t>the origin of</a:t>
            </a:r>
            <a:r>
              <a:rPr lang="en-US" dirty="0" smtClean="0"/>
              <a:t> (some) Local </a:t>
            </a:r>
            <a:r>
              <a:rPr lang="en-US" dirty="0" smtClean="0"/>
              <a:t>Group dwarf </a:t>
            </a:r>
            <a:r>
              <a:rPr lang="en-US" dirty="0" err="1" smtClean="0"/>
              <a:t>spheroidals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C0504D"/>
                </a:solidFill>
              </a:rPr>
              <a:t>Fossil </a:t>
            </a:r>
            <a:r>
              <a:rPr lang="en-US" dirty="0" smtClean="0">
                <a:solidFill>
                  <a:srgbClr val="C0504D"/>
                </a:solidFill>
              </a:rPr>
              <a:t>relics of the first </a:t>
            </a:r>
            <a:r>
              <a:rPr lang="en-US" dirty="0" smtClean="0">
                <a:solidFill>
                  <a:srgbClr val="C0504D"/>
                </a:solidFill>
              </a:rPr>
              <a:t>galaxies</a:t>
            </a:r>
          </a:p>
          <a:p>
            <a:pPr>
              <a:buNone/>
            </a:pPr>
            <a:r>
              <a:rPr lang="en-US" dirty="0" smtClean="0">
                <a:solidFill>
                  <a:srgbClr val="C0504D"/>
                </a:solidFill>
              </a:rPr>
              <a:t>	</a:t>
            </a:r>
          </a:p>
          <a:p>
            <a:pPr>
              <a:buNone/>
            </a:pPr>
            <a:r>
              <a:rPr lang="en-US" dirty="0" smtClean="0">
                <a:solidFill>
                  <a:srgbClr val="C0504D"/>
                </a:solidFill>
              </a:rPr>
              <a:t>	</a:t>
            </a:r>
            <a:r>
              <a:rPr lang="en-US" dirty="0" smtClean="0">
                <a:solidFill>
                  <a:srgbClr val="C0504D"/>
                </a:solidFill>
              </a:rPr>
              <a:t>Near field Cosmology may provide the only observational test for theories of galaxy formation in early universe !</a:t>
            </a:r>
          </a:p>
          <a:p>
            <a:pPr>
              <a:buNone/>
            </a:pPr>
            <a:endParaRPr lang="en-US" dirty="0">
              <a:solidFill>
                <a:srgbClr val="C0504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74638"/>
            <a:ext cx="471881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I will discuss mainly 3 recent papers: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400" dirty="0" smtClean="0"/>
              <a:t>Ricotti, </a:t>
            </a:r>
            <a:r>
              <a:rPr lang="en-US" sz="2400" dirty="0" err="1" smtClean="0"/>
              <a:t>Gnedin</a:t>
            </a:r>
            <a:r>
              <a:rPr lang="en-US" sz="2400" dirty="0" smtClean="0"/>
              <a:t> &amp; Shull 2008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400" dirty="0" err="1" smtClean="0"/>
              <a:t>Bovill</a:t>
            </a:r>
            <a:r>
              <a:rPr lang="en-US" sz="2400" dirty="0" smtClean="0"/>
              <a:t> &amp; Ricotti 2008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400" dirty="0" smtClean="0"/>
              <a:t>Ricotti 2008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376092"/>
                </a:solidFill>
              </a:rPr>
              <a:t>INTRO</a:t>
            </a:r>
            <a:br>
              <a:rPr lang="en-US" dirty="0" smtClean="0">
                <a:solidFill>
                  <a:srgbClr val="376092"/>
                </a:solidFill>
              </a:rPr>
            </a:br>
            <a:r>
              <a:rPr lang="en-US" b="1" dirty="0" smtClean="0">
                <a:solidFill>
                  <a:srgbClr val="1F497D"/>
                </a:solidFill>
              </a:rPr>
              <a:t>The First Galaxies: important questions</a:t>
            </a:r>
            <a:endParaRPr lang="en-US" b="1" dirty="0">
              <a:solidFill>
                <a:srgbClr val="1F497D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04800" y="1676400"/>
            <a:ext cx="8229600" cy="4525963"/>
          </a:xfrm>
        </p:spPr>
        <p:txBody>
          <a:bodyPr/>
          <a:lstStyle/>
          <a:p>
            <a:r>
              <a:rPr lang="en-US" dirty="0" smtClean="0"/>
              <a:t>How small were the first galaxies?</a:t>
            </a:r>
          </a:p>
          <a:p>
            <a:r>
              <a:rPr lang="en-US" dirty="0" smtClean="0"/>
              <a:t>How many? … and how do they look like?</a:t>
            </a:r>
          </a:p>
          <a:p>
            <a:r>
              <a:rPr lang="en-US" dirty="0" smtClean="0"/>
              <a:t>Where are the first galaxies today?</a:t>
            </a:r>
          </a:p>
          <a:p>
            <a:endParaRPr lang="en-US" dirty="0" smtClean="0"/>
          </a:p>
          <a:p>
            <a:r>
              <a:rPr lang="en-US" u="sng" dirty="0" smtClean="0"/>
              <a:t>Still we do not have these answers</a:t>
            </a:r>
            <a:r>
              <a:rPr lang="en-US" dirty="0" smtClean="0"/>
              <a:t>: not only the properties of the galaxies but their </a:t>
            </a:r>
            <a:r>
              <a:rPr lang="en-US" b="1" dirty="0" smtClean="0">
                <a:solidFill>
                  <a:schemeClr val="accent2"/>
                </a:solidFill>
              </a:rPr>
              <a:t>global formation rate </a:t>
            </a:r>
            <a:r>
              <a:rPr lang="en-US" dirty="0" smtClean="0"/>
              <a:t>is </a:t>
            </a:r>
            <a:r>
              <a:rPr lang="en-US" b="1" dirty="0" smtClean="0">
                <a:solidFill>
                  <a:srgbClr val="C0504D"/>
                </a:solidFill>
              </a:rPr>
              <a:t>regulated by feedback </a:t>
            </a:r>
            <a:r>
              <a:rPr lang="en-US" dirty="0" smtClean="0"/>
              <a:t>(</a:t>
            </a:r>
            <a:r>
              <a:rPr lang="en-US" dirty="0" err="1" smtClean="0"/>
              <a:t>radiative</a:t>
            </a:r>
            <a:r>
              <a:rPr lang="en-US" dirty="0" smtClean="0"/>
              <a:t> and chemical feedback)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376092"/>
                </a:solidFill>
              </a:rPr>
              <a:t>Reionization</a:t>
            </a:r>
            <a:r>
              <a:rPr lang="en-US" b="1" dirty="0" smtClean="0">
                <a:solidFill>
                  <a:srgbClr val="376092"/>
                </a:solidFill>
              </a:rPr>
              <a:t> feedback:</a:t>
            </a:r>
            <a:endParaRPr lang="en-US" b="1" dirty="0">
              <a:solidFill>
                <a:srgbClr val="37609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US" dirty="0" smtClean="0"/>
              <a:t>IGM temperature at </a:t>
            </a:r>
            <a:r>
              <a:rPr lang="en-US" dirty="0" err="1" smtClean="0"/>
              <a:t>reionization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1F497D"/>
                </a:solidFill>
              </a:rPr>
              <a:t>T≈2×10</a:t>
            </a:r>
            <a:r>
              <a:rPr lang="en-US" baseline="30000" dirty="0" smtClean="0">
                <a:solidFill>
                  <a:srgbClr val="1F497D"/>
                </a:solidFill>
              </a:rPr>
              <a:t>4 </a:t>
            </a:r>
            <a:r>
              <a:rPr lang="en-US" dirty="0" smtClean="0">
                <a:solidFill>
                  <a:srgbClr val="1F497D"/>
                </a:solidFill>
              </a:rPr>
              <a:t>K</a:t>
            </a:r>
          </a:p>
          <a:p>
            <a:r>
              <a:rPr lang="en-US" dirty="0" smtClean="0"/>
              <a:t>Jeans mass </a:t>
            </a:r>
            <a:r>
              <a:rPr lang="en-US" dirty="0" smtClean="0">
                <a:solidFill>
                  <a:srgbClr val="1F497D"/>
                </a:solidFill>
              </a:rPr>
              <a:t>M</a:t>
            </a:r>
            <a:r>
              <a:rPr lang="en-US" baseline="-25000" dirty="0" smtClean="0">
                <a:solidFill>
                  <a:srgbClr val="1F497D"/>
                </a:solidFill>
              </a:rPr>
              <a:t>jeans</a:t>
            </a:r>
            <a:r>
              <a:rPr lang="en-US" dirty="0" smtClean="0">
                <a:solidFill>
                  <a:srgbClr val="1F497D"/>
                </a:solidFill>
              </a:rPr>
              <a:t>(IGM)≈10</a:t>
            </a:r>
            <a:r>
              <a:rPr lang="en-US" baseline="30000" dirty="0" smtClean="0">
                <a:solidFill>
                  <a:srgbClr val="1F497D"/>
                </a:solidFill>
              </a:rPr>
              <a:t>8</a:t>
            </a:r>
            <a:r>
              <a:rPr lang="en-US" dirty="0" smtClean="0">
                <a:solidFill>
                  <a:srgbClr val="1F497D"/>
                </a:solidFill>
              </a:rPr>
              <a:t> </a:t>
            </a:r>
            <a:r>
              <a:rPr lang="en-US" dirty="0" err="1" smtClean="0">
                <a:solidFill>
                  <a:srgbClr val="1F497D"/>
                </a:solidFill>
              </a:rPr>
              <a:t>M</a:t>
            </a:r>
            <a:r>
              <a:rPr lang="en-US" baseline="-25000" dirty="0" err="1" smtClean="0">
                <a:solidFill>
                  <a:srgbClr val="1F497D"/>
                </a:solidFill>
              </a:rPr>
              <a:t>sun</a:t>
            </a:r>
            <a:endParaRPr lang="en-US" sz="2400" dirty="0" smtClean="0">
              <a:solidFill>
                <a:srgbClr val="1F497D"/>
              </a:solidFill>
            </a:endParaRPr>
          </a:p>
          <a:p>
            <a:pPr>
              <a:buClr>
                <a:schemeClr val="tx2">
                  <a:lumMod val="75000"/>
                </a:schemeClr>
              </a:buClr>
            </a:pPr>
            <a:r>
              <a:rPr lang="en-US" dirty="0" smtClean="0">
                <a:solidFill>
                  <a:schemeClr val="tx1"/>
                </a:solidFill>
              </a:rPr>
              <a:t>Suppression of gas accretion and star formation in halos with </a:t>
            </a:r>
            <a:r>
              <a:rPr lang="en-US" dirty="0" err="1" smtClean="0">
                <a:solidFill>
                  <a:schemeClr val="tx2"/>
                </a:solidFill>
              </a:rPr>
              <a:t>v</a:t>
            </a:r>
            <a:r>
              <a:rPr lang="en-US" baseline="-25000" dirty="0" err="1" smtClean="0">
                <a:solidFill>
                  <a:schemeClr val="tx2"/>
                </a:solidFill>
              </a:rPr>
              <a:t>cir</a:t>
            </a:r>
            <a:r>
              <a:rPr lang="en-US" dirty="0" smtClean="0">
                <a:solidFill>
                  <a:schemeClr val="tx2"/>
                </a:solidFill>
              </a:rPr>
              <a:t> &lt; 20 km/</a:t>
            </a:r>
            <a:r>
              <a:rPr lang="en-US" dirty="0" err="1" smtClean="0">
                <a:solidFill>
                  <a:schemeClr val="tx2"/>
                </a:solidFill>
              </a:rPr>
              <a:t>s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sz="2400" dirty="0" smtClean="0">
                <a:solidFill>
                  <a:schemeClr val="tx1"/>
                </a:solidFill>
              </a:rPr>
              <a:t>(ref: Babul &amp; Rees 1992, </a:t>
            </a:r>
            <a:r>
              <a:rPr lang="en-US" sz="2400" dirty="0" err="1" smtClean="0">
                <a:solidFill>
                  <a:schemeClr val="tx1"/>
                </a:solidFill>
              </a:rPr>
              <a:t>Efstathiou</a:t>
            </a:r>
            <a:r>
              <a:rPr lang="en-US" sz="2400" dirty="0" smtClean="0">
                <a:solidFill>
                  <a:schemeClr val="tx1"/>
                </a:solidFill>
              </a:rPr>
              <a:t> 1992)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Confirmed by simulations </a:t>
            </a:r>
            <a:r>
              <a:rPr lang="en-US" sz="2400" dirty="0" smtClean="0"/>
              <a:t>(ref: </a:t>
            </a:r>
            <a:r>
              <a:rPr lang="en-US" sz="2400" dirty="0" err="1" smtClean="0"/>
              <a:t>Gnedin</a:t>
            </a:r>
            <a:r>
              <a:rPr lang="en-US" sz="2400" dirty="0" smtClean="0"/>
              <a:t> 2000, Bullock et al. 2000 )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429000" y="4038600"/>
          <a:ext cx="2671762" cy="1004887"/>
        </p:xfrm>
        <a:graphic>
          <a:graphicData uri="http://schemas.openxmlformats.org/presentationml/2006/ole">
            <p:oleObj spid="_x0000_s16386" name="Equation" r:id="rId3" imgW="1181100" imgH="4445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1F497D"/>
                </a:solidFill>
              </a:rPr>
              <a:t>After </a:t>
            </a:r>
            <a:r>
              <a:rPr lang="en-US" b="1" dirty="0" err="1" smtClean="0">
                <a:solidFill>
                  <a:srgbClr val="1F497D"/>
                </a:solidFill>
              </a:rPr>
              <a:t>reionization</a:t>
            </a:r>
            <a:r>
              <a:rPr lang="en-US" b="1" dirty="0" smtClean="0">
                <a:solidFill>
                  <a:srgbClr val="1F497D"/>
                </a:solidFill>
              </a:rPr>
              <a:t> star formation in mini-halos stops: passive stellar  evolution</a:t>
            </a:r>
            <a:endParaRPr lang="en-US" b="1" dirty="0">
              <a:solidFill>
                <a:srgbClr val="1F497D"/>
              </a:solidFill>
            </a:endParaRPr>
          </a:p>
        </p:txBody>
      </p:sp>
      <p:sp>
        <p:nvSpPr>
          <p:cNvPr id="3481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4816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600200"/>
            <a:ext cx="9144000" cy="528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09600" y="5679887"/>
            <a:ext cx="7696200" cy="89255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600" dirty="0" smtClean="0"/>
              <a:t>The smallest galaxies in the Universe can only form </a:t>
            </a:r>
            <a:r>
              <a:rPr lang="en-US" sz="2600" u="sng" dirty="0" smtClean="0"/>
              <a:t>before </a:t>
            </a:r>
            <a:r>
              <a:rPr lang="en-US" sz="2600" dirty="0" err="1" smtClean="0"/>
              <a:t>reionization</a:t>
            </a:r>
            <a:r>
              <a:rPr lang="en-US" sz="2600" dirty="0" smtClean="0"/>
              <a:t>!</a:t>
            </a:r>
            <a:endParaRPr lang="en-US" sz="2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1F497D"/>
                </a:solidFill>
              </a:rPr>
              <a:t>Definition: </a:t>
            </a:r>
            <a:r>
              <a:rPr lang="en-US" b="1" dirty="0" smtClean="0">
                <a:solidFill>
                  <a:schemeClr val="accent2"/>
                </a:solidFill>
              </a:rPr>
              <a:t>“pre-</a:t>
            </a:r>
            <a:r>
              <a:rPr lang="en-US" b="1" dirty="0" err="1" smtClean="0">
                <a:solidFill>
                  <a:schemeClr val="accent2"/>
                </a:solidFill>
              </a:rPr>
              <a:t>reionization</a:t>
            </a:r>
            <a:r>
              <a:rPr lang="en-US" b="1" dirty="0" smtClean="0">
                <a:solidFill>
                  <a:schemeClr val="accent2"/>
                </a:solidFill>
              </a:rPr>
              <a:t>” </a:t>
            </a:r>
            <a:r>
              <a:rPr lang="en-US" b="1" dirty="0" smtClean="0">
                <a:solidFill>
                  <a:schemeClr val="tx2"/>
                </a:solidFill>
              </a:rPr>
              <a:t>dwarfs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04800" y="1676400"/>
            <a:ext cx="8229600" cy="48768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 smtClean="0"/>
              <a:t>Galaxies that form in mini-halos with:</a:t>
            </a:r>
          </a:p>
          <a:p>
            <a:pPr>
              <a:buNone/>
            </a:pPr>
            <a:r>
              <a:rPr lang="en-US" dirty="0" err="1" smtClean="0">
                <a:solidFill>
                  <a:schemeClr val="tx2"/>
                </a:solidFill>
              </a:rPr>
              <a:t>T</a:t>
            </a:r>
            <a:r>
              <a:rPr lang="en-US" baseline="-25000" dirty="0" err="1" smtClean="0">
                <a:solidFill>
                  <a:schemeClr val="tx2"/>
                </a:solidFill>
              </a:rPr>
              <a:t>vir</a:t>
            </a:r>
            <a:r>
              <a:rPr lang="en-US" dirty="0" smtClean="0">
                <a:solidFill>
                  <a:schemeClr val="tx2"/>
                </a:solidFill>
              </a:rPr>
              <a:t>&lt;</a:t>
            </a:r>
            <a:r>
              <a:rPr lang="en-US" dirty="0" smtClean="0">
                <a:solidFill>
                  <a:schemeClr val="tx2"/>
                </a:solidFill>
              </a:rPr>
              <a:t> 20000 </a:t>
            </a:r>
            <a:r>
              <a:rPr lang="en-US" dirty="0" smtClean="0">
                <a:solidFill>
                  <a:schemeClr val="tx2"/>
                </a:solidFill>
              </a:rPr>
              <a:t>K 	(</a:t>
            </a:r>
            <a:r>
              <a:rPr lang="en-US" dirty="0" err="1" smtClean="0">
                <a:solidFill>
                  <a:schemeClr val="tx2"/>
                </a:solidFill>
              </a:rPr>
              <a:t>M</a:t>
            </a:r>
            <a:r>
              <a:rPr lang="en-US" baseline="-25000" dirty="0" err="1" smtClean="0">
                <a:solidFill>
                  <a:schemeClr val="tx2"/>
                </a:solidFill>
              </a:rPr>
              <a:t>dm</a:t>
            </a:r>
            <a:r>
              <a:rPr lang="en-US" dirty="0" smtClean="0">
                <a:solidFill>
                  <a:schemeClr val="tx2"/>
                </a:solidFill>
              </a:rPr>
              <a:t> &lt; 10</a:t>
            </a:r>
            <a:r>
              <a:rPr lang="en-US" baseline="30000" dirty="0" smtClean="0">
                <a:solidFill>
                  <a:schemeClr val="tx2"/>
                </a:solidFill>
              </a:rPr>
              <a:t>8</a:t>
            </a:r>
            <a:r>
              <a:rPr lang="en-US" dirty="0" smtClean="0">
                <a:solidFill>
                  <a:schemeClr val="tx2"/>
                </a:solidFill>
              </a:rPr>
              <a:t>  </a:t>
            </a:r>
            <a:r>
              <a:rPr lang="en-US" dirty="0" err="1" smtClean="0">
                <a:solidFill>
                  <a:schemeClr val="tx2"/>
                </a:solidFill>
              </a:rPr>
              <a:t>M</a:t>
            </a:r>
            <a:r>
              <a:rPr lang="en-US" baseline="-25000" dirty="0" err="1" smtClean="0">
                <a:solidFill>
                  <a:schemeClr val="tx2"/>
                </a:solidFill>
              </a:rPr>
              <a:t>sun</a:t>
            </a:r>
            <a:r>
              <a:rPr lang="en-US" dirty="0" smtClean="0">
                <a:solidFill>
                  <a:schemeClr val="tx2"/>
                </a:solidFill>
              </a:rPr>
              <a:t>   or    </a:t>
            </a:r>
            <a:r>
              <a:rPr lang="en-US" dirty="0" err="1" smtClean="0">
                <a:solidFill>
                  <a:schemeClr val="tx2"/>
                </a:solidFill>
              </a:rPr>
              <a:t>v</a:t>
            </a:r>
            <a:r>
              <a:rPr lang="en-US" baseline="-25000" dirty="0" err="1" smtClean="0">
                <a:solidFill>
                  <a:schemeClr val="tx2"/>
                </a:solidFill>
              </a:rPr>
              <a:t>cir</a:t>
            </a:r>
            <a:r>
              <a:rPr lang="en-US" dirty="0" smtClean="0">
                <a:solidFill>
                  <a:schemeClr val="tx2"/>
                </a:solidFill>
              </a:rPr>
              <a:t>&lt;20 km/</a:t>
            </a:r>
            <a:r>
              <a:rPr lang="en-US" dirty="0" err="1" smtClean="0">
                <a:solidFill>
                  <a:schemeClr val="tx2"/>
                </a:solidFill>
              </a:rPr>
              <a:t>s</a:t>
            </a:r>
            <a:r>
              <a:rPr lang="en-US" dirty="0" smtClean="0">
                <a:solidFill>
                  <a:schemeClr val="tx2"/>
                </a:solidFill>
              </a:rPr>
              <a:t>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In order to initiate star formation one of the following is necessary: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Sufficient H</a:t>
            </a:r>
            <a:r>
              <a:rPr lang="en-US" baseline="-25000" dirty="0" smtClean="0"/>
              <a:t>2</a:t>
            </a:r>
            <a:r>
              <a:rPr lang="en-US" dirty="0" smtClean="0"/>
              <a:t> formation in metal free gas (catalyst: H</a:t>
            </a:r>
            <a:r>
              <a:rPr lang="en-US" baseline="30000" dirty="0" smtClean="0"/>
              <a:t>-</a:t>
            </a:r>
            <a:r>
              <a:rPr lang="en-US" dirty="0" smtClean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Sufficient metal pre-enrichment</a:t>
            </a:r>
          </a:p>
          <a:p>
            <a:pPr>
              <a:buNone/>
            </a:pPr>
            <a:r>
              <a:rPr lang="en-US" dirty="0" smtClean="0"/>
              <a:t>If none available: the mini-halo remains dark (forever?) and </a:t>
            </a:r>
            <a:r>
              <a:rPr lang="en-US" dirty="0" smtClean="0">
                <a:solidFill>
                  <a:srgbClr val="C0504D"/>
                </a:solidFill>
              </a:rPr>
              <a:t>pre-</a:t>
            </a:r>
            <a:r>
              <a:rPr lang="en-US" dirty="0" err="1" smtClean="0">
                <a:solidFill>
                  <a:srgbClr val="C0504D"/>
                </a:solidFill>
              </a:rPr>
              <a:t>reionization</a:t>
            </a:r>
            <a:r>
              <a:rPr lang="en-US" dirty="0" smtClean="0">
                <a:solidFill>
                  <a:srgbClr val="C0504D"/>
                </a:solidFill>
              </a:rPr>
              <a:t> dwarfs do not form!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Why makes a difference? </a:t>
            </a:r>
            <a:r>
              <a:rPr lang="en-US" dirty="0" smtClean="0"/>
              <a:t> </a:t>
            </a:r>
          </a:p>
          <a:p>
            <a:pPr algn="ctr">
              <a:buNone/>
            </a:pPr>
            <a:r>
              <a:rPr lang="en-US" dirty="0" smtClean="0">
                <a:solidFill>
                  <a:schemeClr val="tx2"/>
                </a:solidFill>
              </a:rPr>
              <a:t>Number of mini-halos ≈ </a:t>
            </a:r>
            <a:r>
              <a:rPr lang="en-US" dirty="0" smtClean="0">
                <a:solidFill>
                  <a:schemeClr val="tx2"/>
                </a:solidFill>
              </a:rPr>
              <a:t>1/M</a:t>
            </a:r>
            <a:r>
              <a:rPr lang="en-US" baseline="30000" dirty="0" smtClean="0">
                <a:solidFill>
                  <a:schemeClr val="tx2"/>
                </a:solidFill>
              </a:rPr>
              <a:t>2</a:t>
            </a:r>
            <a:endParaRPr lang="en-US" dirty="0" smtClean="0">
              <a:solidFill>
                <a:schemeClr val="tx2"/>
              </a:solidFill>
            </a:endParaRPr>
          </a:p>
          <a:p>
            <a:pPr>
              <a:buNone/>
            </a:pPr>
            <a:endParaRPr lang="en-US" dirty="0" smtClean="0">
              <a:solidFill>
                <a:srgbClr val="C0504D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1F497D"/>
                </a:solidFill>
              </a:rPr>
              <a:t>Two Different views:</a:t>
            </a:r>
            <a:endParaRPr lang="en-US" b="1" dirty="0">
              <a:solidFill>
                <a:srgbClr val="1F497D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6893387" cy="4525963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u="sng" dirty="0" smtClean="0"/>
              <a:t>Our view</a:t>
            </a:r>
            <a:r>
              <a:rPr lang="en-US" dirty="0" smtClean="0"/>
              <a:t>: pre-</a:t>
            </a:r>
            <a:r>
              <a:rPr lang="en-US" dirty="0" err="1" smtClean="0"/>
              <a:t>reionization</a:t>
            </a:r>
            <a:r>
              <a:rPr lang="en-US" dirty="0" smtClean="0"/>
              <a:t> dwarfs formed in large number and some of their fossils can be found in the Local Group (a fraction of dwarf </a:t>
            </a:r>
            <a:r>
              <a:rPr lang="en-US" dirty="0" err="1" smtClean="0"/>
              <a:t>spheroidals</a:t>
            </a:r>
            <a:r>
              <a:rPr lang="en-US" dirty="0" smtClean="0"/>
              <a:t>)</a:t>
            </a:r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u="sng" dirty="0" smtClean="0"/>
              <a:t>Old view</a:t>
            </a:r>
            <a:r>
              <a:rPr lang="en-US" dirty="0" smtClean="0"/>
              <a:t>:</a:t>
            </a:r>
            <a:r>
              <a:rPr lang="en-US" dirty="0" smtClean="0"/>
              <a:t> none of Local </a:t>
            </a:r>
            <a:r>
              <a:rPr lang="en-US" dirty="0" smtClean="0"/>
              <a:t>group dwarf </a:t>
            </a:r>
            <a:r>
              <a:rPr lang="en-US" dirty="0" err="1" smtClean="0"/>
              <a:t>spheroidal</a:t>
            </a:r>
            <a:r>
              <a:rPr lang="en-US" dirty="0" smtClean="0"/>
              <a:t> are</a:t>
            </a:r>
            <a:r>
              <a:rPr lang="en-US" dirty="0" smtClean="0"/>
              <a:t> pre</a:t>
            </a:r>
            <a:r>
              <a:rPr lang="en-US" dirty="0" smtClean="0"/>
              <a:t>-</a:t>
            </a:r>
            <a:r>
              <a:rPr lang="en-US" dirty="0" err="1" smtClean="0"/>
              <a:t>reionization</a:t>
            </a:r>
            <a:r>
              <a:rPr lang="en-US" dirty="0" smtClean="0"/>
              <a:t> fossils. They are tidally stripped </a:t>
            </a:r>
            <a:r>
              <a:rPr lang="en-US" dirty="0" err="1" smtClean="0"/>
              <a:t>dIrr</a:t>
            </a:r>
            <a:r>
              <a:rPr lang="en-US" dirty="0" smtClean="0"/>
              <a:t> (more massive, formed mostly  </a:t>
            </a:r>
            <a:r>
              <a:rPr lang="en-US" dirty="0" smtClean="0"/>
              <a:t>after </a:t>
            </a:r>
            <a:r>
              <a:rPr lang="en-US" dirty="0" err="1" smtClean="0"/>
              <a:t>reionization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4" name="Picture 3" descr="obam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1417638"/>
            <a:ext cx="1600200" cy="2394954"/>
          </a:xfrm>
          <a:prstGeom prst="rect">
            <a:avLst/>
          </a:prstGeom>
        </p:spPr>
      </p:pic>
      <p:pic>
        <p:nvPicPr>
          <p:cNvPr id="5" name="Picture 4" descr="mcca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6357" y="4022864"/>
            <a:ext cx="1612843" cy="21032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sz="4500" dirty="0" smtClean="0">
                <a:solidFill>
                  <a:schemeClr val="tx2"/>
                </a:solidFill>
              </a:rPr>
              <a:t>Why do we think so?</a:t>
            </a:r>
          </a:p>
          <a:p>
            <a:pPr algn="ctr">
              <a:buNone/>
            </a:pPr>
            <a:r>
              <a:rPr lang="en-US" sz="4500" dirty="0" smtClean="0">
                <a:solidFill>
                  <a:schemeClr val="tx2"/>
                </a:solidFill>
              </a:rPr>
              <a:t>(Physical processes at play)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238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95600" y="4457700"/>
            <a:ext cx="2438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0" y="0"/>
            <a:ext cx="7493000" cy="3898900"/>
            <a:chOff x="0" y="0"/>
            <a:chExt cx="4720" cy="2456"/>
          </a:xfrm>
        </p:grpSpPr>
        <p:pic>
          <p:nvPicPr>
            <p:cNvPr id="351236" name="Picture 4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0" y="0"/>
              <a:ext cx="2437" cy="24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351239" name="Rectangle 7"/>
            <p:cNvSpPr>
              <a:spLocks noChangeArrowheads="1"/>
            </p:cNvSpPr>
            <p:nvPr/>
          </p:nvSpPr>
          <p:spPr bwMode="auto">
            <a:xfrm>
              <a:off x="2331" y="106"/>
              <a:ext cx="2389" cy="7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</a:rPr>
                <a:t>H2 photo-dissociation:</a:t>
              </a:r>
            </a:p>
            <a:p>
              <a:r>
                <a:rPr lang="en-US">
                  <a:solidFill>
                    <a:schemeClr val="accent2"/>
                  </a:solidFill>
                </a:rPr>
                <a:t>Negative feedback</a:t>
              </a:r>
            </a:p>
            <a:p>
              <a:r>
                <a:rPr lang="en-US">
                  <a:solidFill>
                    <a:srgbClr val="FF0000"/>
                  </a:solidFill>
                </a:rPr>
                <a:t>Suppress galaxy formation</a:t>
              </a:r>
              <a:endParaRPr 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847725" y="2895600"/>
            <a:ext cx="8296275" cy="3055938"/>
            <a:chOff x="534" y="1824"/>
            <a:chExt cx="5226" cy="1925"/>
          </a:xfrm>
        </p:grpSpPr>
        <p:pic>
          <p:nvPicPr>
            <p:cNvPr id="351237" name="Picture 5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288" y="1824"/>
              <a:ext cx="2472" cy="1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351240" name="Rectangle 8"/>
            <p:cNvSpPr>
              <a:spLocks noChangeArrowheads="1"/>
            </p:cNvSpPr>
            <p:nvPr/>
          </p:nvSpPr>
          <p:spPr bwMode="auto">
            <a:xfrm>
              <a:off x="534" y="2698"/>
              <a:ext cx="1397" cy="7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</a:rPr>
                <a:t>H2 formation:</a:t>
              </a:r>
            </a:p>
            <a:p>
              <a:r>
                <a:rPr lang="en-US">
                  <a:solidFill>
                    <a:schemeClr val="accent2"/>
                  </a:solidFill>
                </a:rPr>
                <a:t>Free electrons </a:t>
              </a:r>
            </a:p>
            <a:p>
              <a:r>
                <a:rPr lang="en-US">
                  <a:solidFill>
                    <a:schemeClr val="accent2"/>
                  </a:solidFill>
                </a:rPr>
                <a:t>at virialization</a:t>
              </a:r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1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9906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>
                <a:solidFill>
                  <a:srgbClr val="1F497D"/>
                </a:solidFill>
              </a:rPr>
              <a:t>Positive Feedback regions</a:t>
            </a:r>
          </a:p>
        </p:txBody>
      </p:sp>
      <p:pic>
        <p:nvPicPr>
          <p:cNvPr id="343044" name="Picture 4"/>
          <p:cNvPicPr>
            <a:picLocks noGrp="1" noChangeAspect="1" noChangeArrowheads="1"/>
          </p:cNvPicPr>
          <p:nvPr>
            <p:ph type="chart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295400" y="1295400"/>
            <a:ext cx="6477000" cy="5254625"/>
          </a:xfrm>
          <a:noFill/>
          <a:ln/>
        </p:spPr>
      </p:pic>
      <p:pic>
        <p:nvPicPr>
          <p:cNvPr id="343045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95400" y="1371600"/>
            <a:ext cx="6464300" cy="520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43046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95400" y="1371600"/>
            <a:ext cx="6464300" cy="520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43047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295400" y="1371600"/>
            <a:ext cx="6464300" cy="520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43048" name="Picture 8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295400" y="1371600"/>
            <a:ext cx="6464300" cy="520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43049" name="Picture 9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295400" y="1371600"/>
            <a:ext cx="6464300" cy="520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43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43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43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43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43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2"/>
                </a:solidFill>
              </a:rPr>
              <a:t>Net Positive or Negative Feedback?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Radiation: </a:t>
            </a:r>
          </a:p>
          <a:p>
            <a:pPr lvl="1"/>
            <a:r>
              <a:rPr lang="en-US" dirty="0" smtClean="0"/>
              <a:t>Ionizing UV and X-rays (effect mostly ignored): </a:t>
            </a:r>
          </a:p>
          <a:p>
            <a:pPr lvl="2"/>
            <a:r>
              <a:rPr lang="en-US" dirty="0" smtClean="0"/>
              <a:t>promote H2 formation and cooling (global-positive)</a:t>
            </a:r>
          </a:p>
          <a:p>
            <a:pPr lvl="2"/>
            <a:r>
              <a:rPr lang="en-US" dirty="0" smtClean="0"/>
              <a:t>Heat the gas and produce galactic winds (negative)</a:t>
            </a:r>
          </a:p>
          <a:p>
            <a:pPr lvl="1"/>
            <a:r>
              <a:rPr lang="en-US" dirty="0" smtClean="0"/>
              <a:t> Non ionizing UV: destroy H2 (global-negative)</a:t>
            </a:r>
          </a:p>
          <a:p>
            <a:r>
              <a:rPr lang="en-US" dirty="0" smtClean="0">
                <a:solidFill>
                  <a:srgbClr val="C0504D"/>
                </a:solidFill>
              </a:rPr>
              <a:t>Chemical</a:t>
            </a:r>
            <a:r>
              <a:rPr lang="en-US" dirty="0" smtClean="0"/>
              <a:t> (very uncertain):</a:t>
            </a:r>
          </a:p>
          <a:p>
            <a:pPr lvl="1"/>
            <a:r>
              <a:rPr lang="en-US" dirty="0" smtClean="0"/>
              <a:t>Chemical enrichment (positive)</a:t>
            </a:r>
          </a:p>
          <a:p>
            <a:pPr lvl="1"/>
            <a:r>
              <a:rPr lang="en-US" dirty="0" smtClean="0"/>
              <a:t>SN winds (negative?)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376092"/>
                </a:solidFill>
              </a:rPr>
              <a:t>Simulations of the first galaxies</a:t>
            </a:r>
            <a:endParaRPr lang="en-US" dirty="0">
              <a:solidFill>
                <a:srgbClr val="376092"/>
              </a:solidFill>
            </a:endParaRPr>
          </a:p>
        </p:txBody>
      </p:sp>
      <p:pic>
        <p:nvPicPr>
          <p:cNvPr id="4" name="mymovie.mov">
            <a:hlinkClick r:id="" action="ppaction://media"/>
          </p:cNvPr>
          <p:cNvPicPr/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274065" y="1600200"/>
            <a:ext cx="5661025" cy="4525963"/>
          </a:xfrm>
        </p:spPr>
      </p:pic>
      <p:sp>
        <p:nvSpPr>
          <p:cNvPr id="5" name="TextBox 4"/>
          <p:cNvSpPr txBox="1"/>
          <p:nvPr/>
        </p:nvSpPr>
        <p:spPr>
          <a:xfrm>
            <a:off x="609599" y="1752600"/>
            <a:ext cx="241606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Feedback-regulated galaxy formation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Font typeface="Arial"/>
              <a:buChar char="•"/>
            </a:pPr>
            <a:r>
              <a:rPr lang="en-US" dirty="0" smtClean="0"/>
              <a:t>1 </a:t>
            </a:r>
            <a:r>
              <a:rPr lang="en-US" dirty="0" err="1" smtClean="0"/>
              <a:t>Mpc</a:t>
            </a:r>
            <a:r>
              <a:rPr lang="en-US" dirty="0" smtClean="0"/>
              <a:t> box size</a:t>
            </a:r>
          </a:p>
          <a:p>
            <a:pPr>
              <a:buFont typeface="Arial"/>
              <a:buChar char="•"/>
            </a:pPr>
            <a:r>
              <a:rPr lang="en-US" dirty="0" smtClean="0"/>
              <a:t>10</a:t>
            </a:r>
            <a:r>
              <a:rPr lang="en-US" baseline="30000" dirty="0" smtClean="0"/>
              <a:t>3</a:t>
            </a:r>
            <a:r>
              <a:rPr lang="en-US" dirty="0" smtClean="0"/>
              <a:t> </a:t>
            </a:r>
            <a:r>
              <a:rPr lang="en-US" dirty="0" err="1" smtClean="0"/>
              <a:t>M</a:t>
            </a:r>
            <a:r>
              <a:rPr lang="en-US" baseline="-25000" dirty="0" err="1" smtClean="0"/>
              <a:t>sun</a:t>
            </a:r>
            <a:r>
              <a:rPr lang="en-US" dirty="0" smtClean="0"/>
              <a:t> mass res.</a:t>
            </a:r>
          </a:p>
          <a:p>
            <a:pPr>
              <a:buFont typeface="Arial"/>
              <a:buChar char="•"/>
            </a:pPr>
            <a:r>
              <a:rPr lang="en-US" dirty="0" smtClean="0"/>
              <a:t>3D </a:t>
            </a:r>
            <a:r>
              <a:rPr lang="en-US" dirty="0" err="1" smtClean="0"/>
              <a:t>radiative</a:t>
            </a:r>
            <a:r>
              <a:rPr lang="en-US" dirty="0" smtClean="0"/>
              <a:t> transfer</a:t>
            </a:r>
          </a:p>
          <a:p>
            <a:pPr>
              <a:buFont typeface="Arial"/>
              <a:buChar char="•"/>
            </a:pPr>
            <a:r>
              <a:rPr lang="en-US" dirty="0" smtClean="0"/>
              <a:t>Run ends at </a:t>
            </a:r>
            <a:r>
              <a:rPr lang="en-US" dirty="0" err="1" smtClean="0"/>
              <a:t>redshift</a:t>
            </a:r>
            <a:r>
              <a:rPr lang="en-US" dirty="0" smtClean="0"/>
              <a:t> of </a:t>
            </a:r>
            <a:r>
              <a:rPr lang="en-US" dirty="0" err="1" smtClean="0"/>
              <a:t>reionization</a:t>
            </a:r>
            <a:endParaRPr lang="en-US" dirty="0" smtClean="0"/>
          </a:p>
          <a:p>
            <a:pPr>
              <a:buFont typeface="Arial"/>
              <a:buChar char="•"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715000" y="6292334"/>
            <a:ext cx="3220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Ref: Ricotti, </a:t>
            </a:r>
            <a:r>
              <a:rPr lang="en-US" dirty="0" err="1" smtClean="0"/>
              <a:t>Gnedin</a:t>
            </a:r>
            <a:r>
              <a:rPr lang="en-US" dirty="0" smtClean="0"/>
              <a:t> &amp; Shull 2002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1143000"/>
          </a:xfrm>
        </p:spPr>
        <p:txBody>
          <a:bodyPr/>
          <a:lstStyle/>
          <a:p>
            <a:r>
              <a:rPr lang="en-US" b="1" dirty="0">
                <a:solidFill>
                  <a:srgbClr val="1F497D"/>
                </a:solidFill>
              </a:rPr>
              <a:t>Feedback:</a:t>
            </a:r>
            <a:r>
              <a:rPr lang="en-US" b="1" dirty="0" smtClean="0">
                <a:solidFill>
                  <a:srgbClr val="1F497D"/>
                </a:solidFill>
              </a:rPr>
              <a:t> photo-heating winds</a:t>
            </a:r>
            <a:endParaRPr lang="en-US" b="1" dirty="0">
              <a:solidFill>
                <a:srgbClr val="1F497D"/>
              </a:solidFill>
            </a:endParaRPr>
          </a:p>
        </p:txBody>
      </p:sp>
      <p:pic>
        <p:nvPicPr>
          <p:cNvPr id="137220" name="Picture 4" descr="fbar256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lum bright="-96000" contrast="100000"/>
          </a:blip>
          <a:srcRect/>
          <a:stretch>
            <a:fillRect/>
          </a:stretch>
        </p:blipFill>
        <p:spPr>
          <a:xfrm>
            <a:off x="2970212" y="1447800"/>
            <a:ext cx="5410200" cy="5410200"/>
          </a:xfrm>
        </p:spPr>
      </p:pic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381000" y="4495800"/>
            <a:ext cx="4191000" cy="2005013"/>
            <a:chOff x="336" y="2825"/>
            <a:chExt cx="2640" cy="1263"/>
          </a:xfrm>
        </p:grpSpPr>
        <p:sp>
          <p:nvSpPr>
            <p:cNvPr id="137222" name="Text Box 6"/>
            <p:cNvSpPr txBox="1">
              <a:spLocks noChangeArrowheads="1"/>
            </p:cNvSpPr>
            <p:nvPr/>
          </p:nvSpPr>
          <p:spPr bwMode="auto">
            <a:xfrm>
              <a:off x="336" y="3327"/>
              <a:ext cx="1529" cy="76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sz="2900" dirty="0"/>
                <a:t>Dark</a:t>
              </a:r>
              <a:r>
                <a:rPr lang="en-US" sz="2900" dirty="0" smtClean="0"/>
                <a:t> </a:t>
              </a:r>
            </a:p>
            <a:p>
              <a:pPr algn="l">
                <a:spcBef>
                  <a:spcPct val="50000"/>
                </a:spcBef>
              </a:pPr>
              <a:r>
                <a:rPr lang="en-US" sz="2900" dirty="0" smtClean="0"/>
                <a:t>galaxies</a:t>
              </a:r>
              <a:endParaRPr lang="en-US" sz="2900" dirty="0"/>
            </a:p>
          </p:txBody>
        </p:sp>
        <p:cxnSp>
          <p:nvCxnSpPr>
            <p:cNvPr id="137225" name="AutoShape 9"/>
            <p:cNvCxnSpPr>
              <a:cxnSpLocks noChangeShapeType="1"/>
            </p:cNvCxnSpPr>
            <p:nvPr/>
          </p:nvCxnSpPr>
          <p:spPr bwMode="auto">
            <a:xfrm flipV="1">
              <a:off x="1865" y="2825"/>
              <a:ext cx="1111" cy="883"/>
            </a:xfrm>
            <a:prstGeom prst="straightConnector1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sp>
        <p:nvSpPr>
          <p:cNvPr id="137228" name="Rectangle 12"/>
          <p:cNvSpPr>
            <a:spLocks noChangeArrowheads="1"/>
          </p:cNvSpPr>
          <p:nvPr/>
        </p:nvSpPr>
        <p:spPr bwMode="auto">
          <a:xfrm rot="-5400000">
            <a:off x="970727" y="3789935"/>
            <a:ext cx="4214878" cy="538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900" dirty="0"/>
              <a:t>Fraction of cosmic baryons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218061" y="1951800"/>
            <a:ext cx="5420739" cy="2239200"/>
            <a:chOff x="218061" y="1951800"/>
            <a:chExt cx="5420739" cy="2239200"/>
          </a:xfrm>
        </p:grpSpPr>
        <p:sp>
          <p:nvSpPr>
            <p:cNvPr id="12" name="Text Box 6"/>
            <p:cNvSpPr txBox="1">
              <a:spLocks noChangeArrowheads="1"/>
            </p:cNvSpPr>
            <p:nvPr/>
          </p:nvSpPr>
          <p:spPr bwMode="auto">
            <a:xfrm>
              <a:off x="218061" y="1951800"/>
              <a:ext cx="2590800" cy="98488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sz="2900" dirty="0" smtClean="0"/>
                <a:t>Luminous galaxies</a:t>
              </a:r>
              <a:endParaRPr lang="en-US" sz="2900" dirty="0"/>
            </a:p>
          </p:txBody>
        </p:sp>
        <p:cxnSp>
          <p:nvCxnSpPr>
            <p:cNvPr id="14" name="AutoShape 9"/>
            <p:cNvCxnSpPr>
              <a:cxnSpLocks noChangeShapeType="1"/>
            </p:cNvCxnSpPr>
            <p:nvPr/>
          </p:nvCxnSpPr>
          <p:spPr bwMode="auto">
            <a:xfrm>
              <a:off x="2808861" y="2490410"/>
              <a:ext cx="2829939" cy="1700590"/>
            </a:xfrm>
            <a:prstGeom prst="straightConnector1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grpSp>
        <p:nvGrpSpPr>
          <p:cNvPr id="25" name="Group 24"/>
          <p:cNvGrpSpPr/>
          <p:nvPr/>
        </p:nvGrpSpPr>
        <p:grpSpPr>
          <a:xfrm>
            <a:off x="6019180" y="1778507"/>
            <a:ext cx="1677638" cy="4722879"/>
            <a:chOff x="6400800" y="1779301"/>
            <a:chExt cx="1677638" cy="4722879"/>
          </a:xfrm>
        </p:grpSpPr>
        <p:cxnSp>
          <p:nvCxnSpPr>
            <p:cNvPr id="18" name="Straight Connector 17"/>
            <p:cNvCxnSpPr/>
            <p:nvPr/>
          </p:nvCxnSpPr>
          <p:spPr>
            <a:xfrm rot="5400000" flipH="1" flipV="1">
              <a:off x="5107749" y="4139947"/>
              <a:ext cx="4722879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rot="10800000">
              <a:off x="6858000" y="4038600"/>
              <a:ext cx="61118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6400800" y="3392269"/>
              <a:ext cx="167763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1F497D"/>
                  </a:solidFill>
                </a:rPr>
                <a:t>Pre-</a:t>
              </a:r>
              <a:r>
                <a:rPr lang="en-US" dirty="0" err="1" smtClean="0">
                  <a:solidFill>
                    <a:srgbClr val="1F497D"/>
                  </a:solidFill>
                </a:rPr>
                <a:t>reionization</a:t>
              </a:r>
              <a:endParaRPr lang="en-US" dirty="0" smtClean="0">
                <a:solidFill>
                  <a:srgbClr val="1F497D"/>
                </a:solidFill>
              </a:endParaRPr>
            </a:p>
            <a:p>
              <a:r>
                <a:rPr lang="en-US" dirty="0" smtClean="0">
                  <a:solidFill>
                    <a:srgbClr val="1F497D"/>
                  </a:solidFill>
                </a:rPr>
                <a:t>dwarfs</a:t>
              </a:r>
              <a:endParaRPr lang="en-US" dirty="0">
                <a:solidFill>
                  <a:srgbClr val="1F497D"/>
                </a:solidFill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248" name="Picture 8" descr="fpr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76400" y="533400"/>
            <a:ext cx="6080125" cy="60801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pic>
        <p:nvPicPr>
          <p:cNvPr id="138250" name="Picture 10" descr="gf128p2_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76400" y="533400"/>
            <a:ext cx="6080125" cy="608012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38251" name="Text Box 11"/>
          <p:cNvSpPr txBox="1">
            <a:spLocks noChangeArrowheads="1"/>
          </p:cNvSpPr>
          <p:nvPr/>
        </p:nvSpPr>
        <p:spPr bwMode="auto">
          <a:xfrm>
            <a:off x="228600" y="304800"/>
            <a:ext cx="8915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b="1" dirty="0" smtClean="0">
                <a:solidFill>
                  <a:srgbClr val="1F497D"/>
                </a:solidFill>
                <a:latin typeface="+mj-lt"/>
              </a:rPr>
              <a:t>Pre-</a:t>
            </a:r>
            <a:r>
              <a:rPr lang="en-US" sz="3600" b="1" dirty="0" err="1" smtClean="0">
                <a:solidFill>
                  <a:srgbClr val="1F497D"/>
                </a:solidFill>
                <a:latin typeface="+mj-lt"/>
              </a:rPr>
              <a:t>reionization</a:t>
            </a:r>
            <a:r>
              <a:rPr lang="en-US" sz="3600" b="1" dirty="0" smtClean="0">
                <a:solidFill>
                  <a:srgbClr val="1F497D"/>
                </a:solidFill>
                <a:latin typeface="+mj-lt"/>
              </a:rPr>
              <a:t> dwarfs: numerous but faint!</a:t>
            </a:r>
            <a:endParaRPr lang="en-US" sz="3600" b="1" dirty="0">
              <a:solidFill>
                <a:srgbClr val="1F497D"/>
              </a:solidFill>
              <a:latin typeface="+mj-lt"/>
            </a:endParaRPr>
          </a:p>
        </p:txBody>
      </p:sp>
      <p:sp>
        <p:nvSpPr>
          <p:cNvPr id="138252" name="Rectangle 12"/>
          <p:cNvSpPr>
            <a:spLocks noChangeArrowheads="1"/>
          </p:cNvSpPr>
          <p:nvPr/>
        </p:nvSpPr>
        <p:spPr bwMode="auto">
          <a:xfrm rot="-5400000">
            <a:off x="-468030" y="3119279"/>
            <a:ext cx="383166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600" dirty="0"/>
              <a:t>Fraction of baryons in stars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412666" y="951131"/>
            <a:ext cx="1677638" cy="5017648"/>
            <a:chOff x="6400800" y="1416328"/>
            <a:chExt cx="1677638" cy="4722879"/>
          </a:xfrm>
        </p:grpSpPr>
        <p:cxnSp>
          <p:nvCxnSpPr>
            <p:cNvPr id="7" name="Straight Connector 6"/>
            <p:cNvCxnSpPr/>
            <p:nvPr/>
          </p:nvCxnSpPr>
          <p:spPr>
            <a:xfrm rot="5400000" flipH="1" flipV="1">
              <a:off x="5109338" y="3776974"/>
              <a:ext cx="4722879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 rot="10800000">
              <a:off x="6858000" y="4038600"/>
              <a:ext cx="61118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6400800" y="3392269"/>
              <a:ext cx="167763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1F497D"/>
                  </a:solidFill>
                </a:rPr>
                <a:t>Pre-</a:t>
              </a:r>
              <a:r>
                <a:rPr lang="en-US" dirty="0" err="1" smtClean="0">
                  <a:solidFill>
                    <a:srgbClr val="1F497D"/>
                  </a:solidFill>
                </a:rPr>
                <a:t>reionization</a:t>
              </a:r>
              <a:endParaRPr lang="en-US" dirty="0" smtClean="0">
                <a:solidFill>
                  <a:srgbClr val="1F497D"/>
                </a:solidFill>
              </a:endParaRPr>
            </a:p>
            <a:p>
              <a:r>
                <a:rPr lang="en-US" dirty="0" smtClean="0">
                  <a:solidFill>
                    <a:srgbClr val="1F497D"/>
                  </a:solidFill>
                </a:rPr>
                <a:t>dwarfs</a:t>
              </a:r>
              <a:endParaRPr lang="en-US" dirty="0">
                <a:solidFill>
                  <a:srgbClr val="1F497D"/>
                </a:solidFill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8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8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1F497D"/>
                </a:solidFill>
              </a:rPr>
              <a:t>“</a:t>
            </a:r>
            <a:r>
              <a:rPr lang="en-US" b="1" dirty="0" smtClean="0"/>
              <a:t>Dark </a:t>
            </a:r>
            <a:r>
              <a:rPr lang="en-US" b="1" dirty="0" smtClean="0">
                <a:solidFill>
                  <a:schemeClr val="tx2"/>
                </a:solidFill>
              </a:rPr>
              <a:t>galaxies”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417638"/>
            <a:ext cx="6839312" cy="54403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376092"/>
                </a:solidFill>
              </a:rPr>
              <a:t>Pre-</a:t>
            </a:r>
            <a:r>
              <a:rPr lang="en-US" b="1" dirty="0" err="1" smtClean="0">
                <a:solidFill>
                  <a:srgbClr val="376092"/>
                </a:solidFill>
              </a:rPr>
              <a:t>reionization</a:t>
            </a:r>
            <a:r>
              <a:rPr lang="en-US" b="1" dirty="0" smtClean="0">
                <a:solidFill>
                  <a:srgbClr val="376092"/>
                </a:solidFill>
              </a:rPr>
              <a:t> fossils and ultra-faint </a:t>
            </a:r>
            <a:r>
              <a:rPr lang="en-US" b="1" dirty="0" err="1" smtClean="0">
                <a:solidFill>
                  <a:srgbClr val="376092"/>
                </a:solidFill>
              </a:rPr>
              <a:t>dSphs</a:t>
            </a:r>
            <a:r>
              <a:rPr lang="en-US" b="1" dirty="0" smtClean="0">
                <a:solidFill>
                  <a:srgbClr val="376092"/>
                </a:solidFill>
              </a:rPr>
              <a:t>: a model prediction!</a:t>
            </a:r>
            <a:endParaRPr lang="en-US" b="1" dirty="0">
              <a:solidFill>
                <a:srgbClr val="376092"/>
              </a:solidFill>
            </a:endParaRPr>
          </a:p>
        </p:txBody>
      </p:sp>
      <p:pic>
        <p:nvPicPr>
          <p:cNvPr id="6" name="Content Placeholder 5" descr="f1.eps"/>
          <p:cNvPicPr>
            <a:picLocks noGrp="1" noChangeAspect="1"/>
          </p:cNvPicPr>
          <p:nvPr>
            <p:ph idx="1"/>
          </p:nvPr>
        </p:nvPicPr>
        <mc:AlternateContent>
          <mc:Choice xmlns:ma="http://schemas.microsoft.com/office/mac/drawingml/2008/main" Requires="ma">
            <p:blipFill>
              <a:blip r:embed="rId2"/>
              <a:srcRect l="-40915" r="-40915"/>
              <a:stretch>
                <a:fillRect/>
              </a:stretch>
            </p:blipFill>
          </mc:Choice>
          <mc:Fallback>
            <p:blipFill>
              <a:blip r:embed="rId3"/>
              <a:srcRect l="-40915" r="-40915"/>
              <a:stretch>
                <a:fillRect/>
              </a:stretch>
            </p:blipFill>
          </mc:Fallback>
        </mc:AlternateContent>
        <p:spPr>
          <a:xfrm>
            <a:off x="-1752600" y="1219200"/>
            <a:ext cx="11963400" cy="5287962"/>
          </a:xfrm>
        </p:spPr>
      </p:pic>
      <p:sp>
        <p:nvSpPr>
          <p:cNvPr id="7" name="TextBox 6"/>
          <p:cNvSpPr txBox="1"/>
          <p:nvPr/>
        </p:nvSpPr>
        <p:spPr>
          <a:xfrm>
            <a:off x="4958239" y="6322496"/>
            <a:ext cx="418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Ref: Ricotti &amp; </a:t>
            </a:r>
            <a:r>
              <a:rPr lang="en-US" dirty="0" err="1" smtClean="0"/>
              <a:t>Gnedin</a:t>
            </a:r>
            <a:r>
              <a:rPr lang="en-US" dirty="0" smtClean="0"/>
              <a:t> 05, </a:t>
            </a:r>
            <a:r>
              <a:rPr lang="en-US" dirty="0" err="1" smtClean="0"/>
              <a:t>Bovill</a:t>
            </a:r>
            <a:r>
              <a:rPr lang="en-US" dirty="0" smtClean="0"/>
              <a:t> &amp; Ricotti 08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f3.eps"/>
          <p:cNvPicPr>
            <a:picLocks noGrp="1" noChangeAspect="1"/>
          </p:cNvPicPr>
          <p:nvPr>
            <p:ph idx="1"/>
          </p:nvPr>
        </p:nvPicPr>
        <mc:AlternateContent>
          <mc:Choice xmlns:ma="http://schemas.microsoft.com/office/mac/drawingml/2008/main" Requires="ma">
            <p:blipFill>
              <a:blip r:embed="rId2"/>
              <a:srcRect l="-40915" r="-40915"/>
              <a:stretch>
                <a:fillRect/>
              </a:stretch>
            </p:blipFill>
          </mc:Choice>
          <mc:Fallback>
            <p:blipFill>
              <a:blip r:embed="rId3"/>
              <a:srcRect l="-40915" r="-40915"/>
              <a:stretch>
                <a:fillRect/>
              </a:stretch>
            </p:blipFill>
          </mc:Fallback>
        </mc:AlternateContent>
        <p:spPr>
          <a:xfrm>
            <a:off x="-1066800" y="609600"/>
            <a:ext cx="11277600" cy="62484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1F497D"/>
                </a:solidFill>
              </a:rPr>
              <a:t>Luminosity-</a:t>
            </a:r>
            <a:r>
              <a:rPr lang="en-US" b="1" dirty="0" err="1" smtClean="0">
                <a:solidFill>
                  <a:srgbClr val="1F497D"/>
                </a:solidFill>
              </a:rPr>
              <a:t>metallicity</a:t>
            </a:r>
            <a:r>
              <a:rPr lang="en-US" b="1" dirty="0" smtClean="0">
                <a:solidFill>
                  <a:srgbClr val="1F497D"/>
                </a:solidFill>
              </a:rPr>
              <a:t> relation</a:t>
            </a:r>
            <a:endParaRPr lang="en-US" b="1" dirty="0">
              <a:solidFill>
                <a:srgbClr val="1F497D"/>
              </a:solidFill>
            </a:endParaRPr>
          </a:p>
        </p:txBody>
      </p:sp>
      <p:pic>
        <p:nvPicPr>
          <p:cNvPr id="7" name="Content Placeholder 6" descr="ZL.update.eps"/>
          <p:cNvPicPr>
            <a:picLocks noGrp="1" noChangeAspect="1"/>
          </p:cNvPicPr>
          <p:nvPr>
            <p:ph idx="1"/>
          </p:nvPr>
        </p:nvPicPr>
        <mc:AlternateContent>
          <mc:Choice xmlns:ma="http://schemas.microsoft.com/office/mac/drawingml/2008/main" Requires="ma">
            <p:blipFill>
              <a:blip r:embed="rId2"/>
              <a:srcRect l="-40915" r="-40915"/>
              <a:stretch>
                <a:fillRect/>
              </a:stretch>
            </p:blipFill>
          </mc:Choice>
          <mc:Fallback>
            <p:blipFill>
              <a:blip r:embed="rId3"/>
              <a:srcRect l="-40915" r="-40915"/>
              <a:stretch>
                <a:fillRect/>
              </a:stretch>
            </p:blipFill>
          </mc:Fallback>
        </mc:AlternateContent>
        <p:spPr>
          <a:xfrm>
            <a:off x="-990600" y="1417638"/>
            <a:ext cx="10820400" cy="4953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250" name="Picture 10" descr="gf128p2_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90600" y="609600"/>
            <a:ext cx="6080125" cy="608012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38252" name="Rectangle 12"/>
          <p:cNvSpPr>
            <a:spLocks noChangeArrowheads="1"/>
          </p:cNvSpPr>
          <p:nvPr/>
        </p:nvSpPr>
        <p:spPr bwMode="auto">
          <a:xfrm rot="-5400000">
            <a:off x="-1364808" y="3269810"/>
            <a:ext cx="383166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600" dirty="0"/>
              <a:t>Fraction of baryons in stars</a:t>
            </a:r>
          </a:p>
        </p:txBody>
      </p:sp>
      <p:sp>
        <p:nvSpPr>
          <p:cNvPr id="7" name="Sun 6"/>
          <p:cNvSpPr/>
          <p:nvPr/>
        </p:nvSpPr>
        <p:spPr>
          <a:xfrm>
            <a:off x="2209800" y="1981200"/>
            <a:ext cx="457200" cy="457200"/>
          </a:xfrm>
          <a:prstGeom prst="sun">
            <a:avLst>
              <a:gd name="adj" fmla="val 27931"/>
            </a:avLst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un 7"/>
          <p:cNvSpPr/>
          <p:nvPr/>
        </p:nvSpPr>
        <p:spPr>
          <a:xfrm>
            <a:off x="3962400" y="2895600"/>
            <a:ext cx="457200" cy="457200"/>
          </a:xfrm>
          <a:prstGeom prst="sun">
            <a:avLst>
              <a:gd name="adj" fmla="val 31443"/>
            </a:avLst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Curved Connector 9"/>
          <p:cNvCxnSpPr/>
          <p:nvPr/>
        </p:nvCxnSpPr>
        <p:spPr>
          <a:xfrm>
            <a:off x="2667000" y="2209800"/>
            <a:ext cx="4403725" cy="915988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4419600" y="3124200"/>
            <a:ext cx="2651125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239000" y="2479457"/>
            <a:ext cx="19050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smtClean="0"/>
              <a:t>Same</a:t>
            </a:r>
          </a:p>
          <a:p>
            <a:r>
              <a:rPr lang="en-US" sz="2600" dirty="0" smtClean="0"/>
              <a:t>Luminosity</a:t>
            </a:r>
          </a:p>
          <a:p>
            <a:endParaRPr lang="en-US" sz="2600" dirty="0" smtClean="0"/>
          </a:p>
          <a:p>
            <a:r>
              <a:rPr lang="en-US" sz="2600" dirty="0" smtClean="0"/>
              <a:t>Not same </a:t>
            </a:r>
            <a:r>
              <a:rPr lang="en-US" sz="2600" dirty="0" err="1" smtClean="0"/>
              <a:t>metallicity</a:t>
            </a:r>
            <a:r>
              <a:rPr lang="en-US" sz="2600" dirty="0" smtClean="0"/>
              <a:t>!</a:t>
            </a:r>
            <a:endParaRPr lang="en-US" sz="26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043" name="Picture 19" descr="figZLupdate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-228600"/>
            <a:ext cx="6858000" cy="6858000"/>
          </a:xfrm>
          <a:prstGeom prst="rect">
            <a:avLst/>
          </a:prstGeom>
          <a:noFill/>
        </p:spPr>
      </p:pic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8686800" cy="1143000"/>
          </a:xfrm>
        </p:spPr>
        <p:txBody>
          <a:bodyPr/>
          <a:lstStyle/>
          <a:p>
            <a:r>
              <a:rPr lang="en-US">
                <a:solidFill>
                  <a:schemeClr val="accent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pple Chancery" pitchFamily="15" charset="0"/>
              </a:rPr>
              <a:t>Metallicity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Problem with stellar populations</a:t>
            </a:r>
            <a:b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and abundance patterns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Most </a:t>
            </a:r>
            <a:r>
              <a:rPr lang="en-US" dirty="0" err="1" smtClean="0"/>
              <a:t>dSphs</a:t>
            </a:r>
            <a:r>
              <a:rPr lang="en-US" dirty="0" smtClean="0"/>
              <a:t> have a dominant old stellar population (like Globular Clusters)</a:t>
            </a:r>
          </a:p>
          <a:p>
            <a:r>
              <a:rPr lang="en-US" u="sng" dirty="0" smtClean="0"/>
              <a:t>However</a:t>
            </a:r>
            <a:r>
              <a:rPr lang="en-US" dirty="0" smtClean="0"/>
              <a:t>, the SFH in </a:t>
            </a:r>
            <a:r>
              <a:rPr lang="en-US" dirty="0" err="1" smtClean="0"/>
              <a:t>dSphs</a:t>
            </a:r>
            <a:r>
              <a:rPr lang="en-US" dirty="0" smtClean="0"/>
              <a:t> is often complex, with minor episodes of SF at later times </a:t>
            </a:r>
            <a:r>
              <a:rPr lang="en-US" sz="2600" dirty="0" smtClean="0"/>
              <a:t>(</a:t>
            </a:r>
            <a:r>
              <a:rPr lang="en-US" sz="2600" dirty="0" err="1" smtClean="0"/>
              <a:t>eg</a:t>
            </a:r>
            <a:r>
              <a:rPr lang="en-US" sz="2600" dirty="0" smtClean="0"/>
              <a:t>., see </a:t>
            </a:r>
            <a:r>
              <a:rPr lang="en-US" sz="2600" dirty="0" err="1" smtClean="0"/>
              <a:t>Grebel</a:t>
            </a:r>
            <a:r>
              <a:rPr lang="en-US" sz="2600" dirty="0" smtClean="0"/>
              <a:t> et al. 04 and </a:t>
            </a:r>
            <a:r>
              <a:rPr lang="en-US" sz="2600" dirty="0" err="1" smtClean="0"/>
              <a:t>Fenner</a:t>
            </a:r>
            <a:r>
              <a:rPr lang="en-US" sz="2600" dirty="0" smtClean="0"/>
              <a:t> et al.)</a:t>
            </a:r>
          </a:p>
          <a:p>
            <a:r>
              <a:rPr lang="en-US" dirty="0" smtClean="0"/>
              <a:t>Recent claim: some ultra-faint dwarfs show evidence for mixed stellar populations</a:t>
            </a:r>
          </a:p>
          <a:p>
            <a:endParaRPr lang="en-US" dirty="0" smtClean="0"/>
          </a:p>
          <a:p>
            <a:r>
              <a:rPr lang="en-US" dirty="0" smtClean="0"/>
              <a:t>How bad is this for pre-</a:t>
            </a:r>
            <a:r>
              <a:rPr lang="en-US" dirty="0" err="1" smtClean="0"/>
              <a:t>reionization</a:t>
            </a:r>
            <a:r>
              <a:rPr lang="en-US" dirty="0" smtClean="0"/>
              <a:t> fossils 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590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Can </a:t>
            </a:r>
            <a:r>
              <a:rPr lang="en-US" b="1" dirty="0" err="1" smtClean="0">
                <a:solidFill>
                  <a:schemeClr val="accent1">
                    <a:lumMod val="75000"/>
                  </a:schemeClr>
                </a:solidFill>
              </a:rPr>
              <a:t>reionization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 suppress star formation in mini-halos forever?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52800" y="894546"/>
            <a:ext cx="18993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600" dirty="0" smtClean="0">
                <a:solidFill>
                  <a:srgbClr val="FF0000"/>
                </a:solidFill>
              </a:rPr>
              <a:t>Part II</a:t>
            </a:r>
            <a:endParaRPr lang="en-US" sz="5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376092"/>
                </a:solidFill>
              </a:rPr>
              <a:t>The puzzle of Leo T</a:t>
            </a:r>
            <a:endParaRPr lang="en-US" b="1" dirty="0">
              <a:solidFill>
                <a:srgbClr val="37609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Is one of the smallest </a:t>
            </a:r>
            <a:r>
              <a:rPr lang="en-US" dirty="0" err="1" smtClean="0"/>
              <a:t>dSphs</a:t>
            </a:r>
            <a:r>
              <a:rPr lang="en-US" dirty="0" smtClean="0"/>
              <a:t>: </a:t>
            </a:r>
            <a:r>
              <a:rPr lang="en-US" dirty="0" err="1" smtClean="0"/>
              <a:t>σ</a:t>
            </a:r>
            <a:r>
              <a:rPr lang="en-US" baseline="-25000" dirty="0" smtClean="0"/>
              <a:t>*</a:t>
            </a:r>
            <a:r>
              <a:rPr lang="en-US" dirty="0" smtClean="0"/>
              <a:t>=6.9 km/</a:t>
            </a:r>
            <a:r>
              <a:rPr lang="en-US" dirty="0" err="1" smtClean="0"/>
              <a:t>s</a:t>
            </a:r>
            <a:endParaRPr lang="en-US" dirty="0" smtClean="0"/>
          </a:p>
          <a:p>
            <a:r>
              <a:rPr lang="en-US" dirty="0" smtClean="0"/>
              <a:t>Looks as a pre-</a:t>
            </a:r>
            <a:r>
              <a:rPr lang="en-US" dirty="0" err="1" smtClean="0"/>
              <a:t>reionization</a:t>
            </a:r>
            <a:r>
              <a:rPr lang="en-US" dirty="0" smtClean="0"/>
              <a:t> fossil</a:t>
            </a:r>
          </a:p>
          <a:p>
            <a:r>
              <a:rPr lang="en-US" dirty="0" smtClean="0"/>
              <a:t>Distance 430 </a:t>
            </a:r>
            <a:r>
              <a:rPr lang="en-US" dirty="0" err="1" smtClean="0"/>
              <a:t>kpc</a:t>
            </a:r>
            <a:r>
              <a:rPr lang="en-US" dirty="0" smtClean="0"/>
              <a:t> from Galactic center</a:t>
            </a:r>
          </a:p>
          <a:p>
            <a:r>
              <a:rPr lang="en-US" dirty="0" smtClean="0"/>
              <a:t>Is gas rich! </a:t>
            </a:r>
            <a:r>
              <a:rPr lang="en-US" dirty="0" err="1" smtClean="0">
                <a:sym typeface="Wingdings"/>
              </a:rPr>
              <a:t></a:t>
            </a:r>
            <a:r>
              <a:rPr lang="en-US" dirty="0" smtClean="0"/>
              <a:t> </a:t>
            </a:r>
          </a:p>
          <a:p>
            <a:r>
              <a:rPr lang="en-US" dirty="0"/>
              <a:t>F</a:t>
            </a:r>
            <a:r>
              <a:rPr lang="en-US" dirty="0" smtClean="0"/>
              <a:t>orming stars at </a:t>
            </a:r>
            <a:r>
              <a:rPr lang="en-US" dirty="0" err="1" smtClean="0"/>
              <a:t>z</a:t>
            </a:r>
            <a:r>
              <a:rPr lang="en-US" dirty="0" smtClean="0"/>
              <a:t>=0!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096000" y="3352801"/>
            <a:ext cx="2819245" cy="19389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Leo T properties:</a:t>
            </a:r>
          </a:p>
          <a:p>
            <a:r>
              <a:rPr lang="en-US" dirty="0" smtClean="0">
                <a:latin typeface="ＭＳ ゴシック"/>
                <a:ea typeface="ＭＳ ゴシック"/>
                <a:cs typeface="ＭＳ ゴシック"/>
              </a:rPr>
              <a:t>☐</a:t>
            </a:r>
            <a:r>
              <a:rPr lang="en-US" dirty="0" smtClean="0"/>
              <a:t> </a:t>
            </a:r>
            <a:r>
              <a:rPr lang="en-US" dirty="0" err="1" smtClean="0"/>
              <a:t>r</a:t>
            </a:r>
            <a:r>
              <a:rPr lang="en-US" baseline="-25000" dirty="0" err="1" smtClean="0"/>
              <a:t>core</a:t>
            </a:r>
            <a:r>
              <a:rPr lang="en-US" dirty="0" smtClean="0"/>
              <a:t>=100 pc </a:t>
            </a:r>
            <a:endParaRPr lang="en-US" dirty="0" smtClean="0">
              <a:latin typeface="Wingdings"/>
              <a:ea typeface="Wingdings"/>
              <a:cs typeface="Wingdings"/>
            </a:endParaRPr>
          </a:p>
          <a:p>
            <a:r>
              <a:rPr lang="en-US" dirty="0" smtClean="0">
                <a:latin typeface="ＭＳ ゴシック"/>
                <a:ea typeface="ＭＳ ゴシック"/>
                <a:cs typeface="ＭＳ ゴシック"/>
              </a:rPr>
              <a:t>☐</a:t>
            </a:r>
            <a:r>
              <a:rPr lang="en-US" dirty="0" err="1" smtClean="0"/>
              <a:t>M</a:t>
            </a:r>
            <a:r>
              <a:rPr lang="en-US" baseline="-25000" dirty="0" err="1" smtClean="0"/>
              <a:t>dm</a:t>
            </a:r>
            <a:r>
              <a:rPr lang="en-US" dirty="0" err="1" smtClean="0"/>
              <a:t>/M</a:t>
            </a:r>
            <a:r>
              <a:rPr lang="en-US" baseline="-25000" dirty="0" err="1" smtClean="0"/>
              <a:t>gas</a:t>
            </a:r>
            <a:r>
              <a:rPr lang="en-US" dirty="0" smtClean="0"/>
              <a:t>=10-30</a:t>
            </a:r>
          </a:p>
          <a:p>
            <a:r>
              <a:rPr lang="en-US" dirty="0" smtClean="0">
                <a:latin typeface="ＭＳ ゴシック"/>
                <a:ea typeface="ＭＳ ゴシック"/>
                <a:cs typeface="ＭＳ ゴシック"/>
              </a:rPr>
              <a:t>☐</a:t>
            </a:r>
            <a:r>
              <a:rPr lang="en-US" dirty="0" smtClean="0"/>
              <a:t>N</a:t>
            </a:r>
            <a:r>
              <a:rPr lang="en-US" baseline="-25000" dirty="0" smtClean="0"/>
              <a:t>H</a:t>
            </a:r>
            <a:r>
              <a:rPr lang="en-US" dirty="0" smtClean="0"/>
              <a:t>=7x10</a:t>
            </a:r>
            <a:r>
              <a:rPr lang="en-US" baseline="30000" dirty="0" smtClean="0"/>
              <a:t>20</a:t>
            </a:r>
            <a:r>
              <a:rPr lang="en-US" dirty="0" smtClean="0"/>
              <a:t> cm</a:t>
            </a:r>
            <a:r>
              <a:rPr lang="en-US" baseline="30000" dirty="0" smtClean="0"/>
              <a:t>-2</a:t>
            </a:r>
          </a:p>
          <a:p>
            <a:endParaRPr lang="en-US" baseline="30000" dirty="0" smtClean="0"/>
          </a:p>
          <a:p>
            <a:r>
              <a:rPr lang="en-US" dirty="0" smtClean="0"/>
              <a:t>Ref: Ryan-Weber et al 2008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295400" y="5568791"/>
            <a:ext cx="6553200" cy="83099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b="1" dirty="0" smtClean="0"/>
              <a:t>Leo T definitively does not fit our model !</a:t>
            </a:r>
          </a:p>
          <a:p>
            <a:endParaRPr lang="en-US" sz="2400" b="1" dirty="0"/>
          </a:p>
        </p:txBody>
      </p:sp>
      <p:pic>
        <p:nvPicPr>
          <p:cNvPr id="8" name="Picture 7" descr="j01788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038599"/>
            <a:ext cx="1034084" cy="6857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afterEffect">
                                  <p:stCondLst>
                                    <p:cond delay="10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35" presetClass="emph" presetSubtype="0" repeatCount="3000" fill="hold" grpId="2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discrete" valueType="str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1" animBg="1"/>
      <p:bldP spid="7" grpId="2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344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376092"/>
                </a:solidFill>
              </a:rPr>
              <a:t>Revisiting gas accretion onto mini-halos</a:t>
            </a:r>
            <a:endParaRPr lang="en-US" b="1" dirty="0">
              <a:solidFill>
                <a:srgbClr val="37609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None/>
            </a:pPr>
            <a:r>
              <a:rPr lang="en-US" dirty="0" smtClean="0"/>
              <a:t>Ability to accrete gas increases with increasing: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Γ</a:t>
            </a:r>
            <a:r>
              <a:rPr lang="en-US" dirty="0" smtClean="0"/>
              <a:t>=[</a:t>
            </a:r>
            <a:r>
              <a:rPr lang="en-US" dirty="0" err="1" smtClean="0"/>
              <a:t>v</a:t>
            </a:r>
            <a:r>
              <a:rPr lang="en-US" baseline="-25000" dirty="0" err="1" smtClean="0"/>
              <a:t>cir</a:t>
            </a:r>
            <a:r>
              <a:rPr lang="en-US" dirty="0" err="1" smtClean="0"/>
              <a:t>/c</a:t>
            </a:r>
            <a:r>
              <a:rPr lang="en-US" baseline="-25000" dirty="0" err="1" smtClean="0"/>
              <a:t>s</a:t>
            </a:r>
            <a:r>
              <a:rPr lang="en-US" sz="2162" dirty="0" err="1" smtClean="0"/>
              <a:t>(IGM</a:t>
            </a:r>
            <a:r>
              <a:rPr lang="en-US" sz="2162" dirty="0" smtClean="0"/>
              <a:t>)</a:t>
            </a:r>
            <a:r>
              <a:rPr lang="en-US" sz="2162" baseline="-25000" dirty="0" smtClean="0"/>
              <a:t> </a:t>
            </a:r>
            <a:r>
              <a:rPr lang="en-US" dirty="0" smtClean="0"/>
              <a:t>]</a:t>
            </a:r>
            <a:r>
              <a:rPr lang="en-US" baseline="30000" dirty="0" smtClean="0"/>
              <a:t>2</a:t>
            </a:r>
            <a:r>
              <a:rPr lang="en-US" dirty="0" smtClean="0"/>
              <a:t>=</a:t>
            </a:r>
            <a:r>
              <a:rPr lang="en-US" dirty="0" err="1" smtClean="0"/>
              <a:t>T</a:t>
            </a:r>
            <a:r>
              <a:rPr lang="en-US" baseline="-25000" dirty="0" err="1" smtClean="0"/>
              <a:t>vir</a:t>
            </a:r>
            <a:r>
              <a:rPr lang="en-US" dirty="0" smtClean="0"/>
              <a:t>/T</a:t>
            </a:r>
            <a:r>
              <a:rPr lang="en-US" baseline="-25000" dirty="0" smtClean="0"/>
              <a:t>IGM</a:t>
            </a:r>
          </a:p>
          <a:p>
            <a:pPr marL="914400" lvl="1" indent="-514350">
              <a:buFont typeface="Wingdings" charset="2"/>
              <a:buChar char="ü"/>
            </a:pPr>
            <a:r>
              <a:rPr lang="en-US" dirty="0" smtClean="0">
                <a:solidFill>
                  <a:srgbClr val="FF0000"/>
                </a:solidFill>
              </a:rPr>
              <a:t>IGM temperature decreases at </a:t>
            </a:r>
            <a:r>
              <a:rPr lang="en-US" dirty="0" err="1" smtClean="0">
                <a:solidFill>
                  <a:srgbClr val="FF0000"/>
                </a:solidFill>
              </a:rPr>
              <a:t>redshift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z</a:t>
            </a:r>
            <a:r>
              <a:rPr lang="en-US" dirty="0" smtClean="0">
                <a:solidFill>
                  <a:srgbClr val="FF0000"/>
                </a:solidFill>
              </a:rPr>
              <a:t>&lt;3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Concentration of dark halo, </a:t>
            </a:r>
            <a:r>
              <a:rPr lang="en-US" dirty="0" err="1" smtClean="0"/>
              <a:t>c</a:t>
            </a:r>
            <a:r>
              <a:rPr lang="en-US" dirty="0" smtClean="0"/>
              <a:t>=</a:t>
            </a:r>
            <a:r>
              <a:rPr lang="en-US" dirty="0" err="1" smtClean="0"/>
              <a:t>r</a:t>
            </a:r>
            <a:r>
              <a:rPr lang="en-US" baseline="-25000" dirty="0" err="1" smtClean="0"/>
              <a:t>h</a:t>
            </a:r>
            <a:r>
              <a:rPr lang="en-US" dirty="0" err="1" smtClean="0"/>
              <a:t>/r</a:t>
            </a:r>
            <a:r>
              <a:rPr lang="en-US" baseline="-25000" dirty="0" err="1" smtClean="0"/>
              <a:t>s</a:t>
            </a:r>
            <a:endParaRPr lang="en-US" dirty="0" smtClean="0"/>
          </a:p>
          <a:p>
            <a:pPr marL="914400" lvl="1" indent="-514350">
              <a:buFont typeface="Wingdings" charset="2"/>
              <a:buChar char="ü"/>
            </a:pPr>
            <a:r>
              <a:rPr lang="en-US" dirty="0" smtClean="0">
                <a:solidFill>
                  <a:srgbClr val="FF0000"/>
                </a:solidFill>
              </a:rPr>
              <a:t>Concentration of first </a:t>
            </a:r>
            <a:r>
              <a:rPr lang="en-US" dirty="0" err="1" smtClean="0">
                <a:solidFill>
                  <a:srgbClr val="FF0000"/>
                </a:solidFill>
              </a:rPr>
              <a:t>minihalos</a:t>
            </a:r>
            <a:r>
              <a:rPr lang="en-US" dirty="0" smtClean="0">
                <a:solidFill>
                  <a:srgbClr val="FF0000"/>
                </a:solidFill>
              </a:rPr>
              <a:t> increases with decreasing </a:t>
            </a:r>
            <a:r>
              <a:rPr lang="en-US" dirty="0" err="1" smtClean="0">
                <a:solidFill>
                  <a:srgbClr val="FF0000"/>
                </a:solidFill>
              </a:rPr>
              <a:t>redshift</a:t>
            </a:r>
            <a:r>
              <a:rPr lang="en-US" dirty="0" smtClean="0">
                <a:solidFill>
                  <a:srgbClr val="FF0000"/>
                </a:solidFill>
              </a:rPr>
              <a:t> if halo evolves in isolation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Gas must be able to recombine (and cool)</a:t>
            </a:r>
          </a:p>
          <a:p>
            <a:pPr marL="514350" indent="-514350">
              <a:buNone/>
            </a:pPr>
            <a:r>
              <a:rPr lang="en-US" dirty="0" smtClean="0"/>
              <a:t>      (note that </a:t>
            </a:r>
            <a:r>
              <a:rPr lang="en-US" dirty="0" err="1" smtClean="0"/>
              <a:t>t</a:t>
            </a:r>
            <a:r>
              <a:rPr lang="en-US" baseline="-25000" dirty="0" err="1" smtClean="0"/>
              <a:t>cool</a:t>
            </a:r>
            <a:r>
              <a:rPr lang="en-US" dirty="0" smtClean="0"/>
              <a:t>&lt;</a:t>
            </a:r>
            <a:r>
              <a:rPr lang="en-US" dirty="0" err="1" smtClean="0"/>
              <a:t>t</a:t>
            </a:r>
            <a:r>
              <a:rPr lang="en-US" baseline="-25000" dirty="0" err="1" smtClean="0"/>
              <a:t>rec</a:t>
            </a:r>
            <a:r>
              <a:rPr lang="en-US" dirty="0" smtClean="0"/>
              <a:t>)</a:t>
            </a:r>
          </a:p>
          <a:p>
            <a:pPr marL="514350" indent="-514350">
              <a:buNone/>
            </a:pPr>
            <a:r>
              <a:rPr lang="en-US" dirty="0" smtClean="0"/>
              <a:t> </a:t>
            </a:r>
          </a:p>
          <a:p>
            <a:pPr>
              <a:buNone/>
            </a:pPr>
            <a:endParaRPr lang="en-US" dirty="0" smtClean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solidFill>
                  <a:srgbClr val="FF0000"/>
                </a:solidFill>
              </a:rPr>
              <a:t>Message to take home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reionization</a:t>
            </a:r>
            <a:r>
              <a:rPr lang="en-US" dirty="0" smtClean="0"/>
              <a:t> feedback idea is valid but fails at </a:t>
            </a:r>
            <a:r>
              <a:rPr lang="en-US" dirty="0" err="1" smtClean="0"/>
              <a:t>z</a:t>
            </a:r>
            <a:r>
              <a:rPr lang="en-US" dirty="0" smtClean="0"/>
              <a:t>&lt;2 if the halo is highly concentrated </a:t>
            </a:r>
          </a:p>
          <a:p>
            <a:r>
              <a:rPr lang="en-US" dirty="0" err="1" smtClean="0"/>
              <a:t>Minihalos</a:t>
            </a:r>
            <a:r>
              <a:rPr lang="en-US" dirty="0" smtClean="0"/>
              <a:t> </a:t>
            </a:r>
            <a:r>
              <a:rPr lang="en-US" dirty="0" err="1" smtClean="0"/>
              <a:t>virialized</a:t>
            </a:r>
            <a:r>
              <a:rPr lang="en-US" dirty="0" smtClean="0"/>
              <a:t> before </a:t>
            </a:r>
            <a:r>
              <a:rPr lang="en-US" dirty="0" err="1" smtClean="0"/>
              <a:t>reionization</a:t>
            </a:r>
            <a:r>
              <a:rPr lang="en-US" dirty="0" smtClean="0"/>
              <a:t>, that  evolve to </a:t>
            </a:r>
            <a:r>
              <a:rPr lang="en-US" dirty="0" err="1" smtClean="0"/>
              <a:t>z</a:t>
            </a:r>
            <a:r>
              <a:rPr lang="en-US" dirty="0" smtClean="0"/>
              <a:t>=0 in the low-density IGM, have a late phase of gas accretion and possibly star formation </a:t>
            </a:r>
            <a:endParaRPr lang="en-US" dirty="0"/>
          </a:p>
        </p:txBody>
      </p:sp>
      <p:graphicFrame>
        <p:nvGraphicFramePr>
          <p:cNvPr id="4" name="Chart 3"/>
          <p:cNvGraphicFramePr/>
          <p:nvPr/>
        </p:nvGraphicFramePr>
        <p:xfrm>
          <a:off x="228600" y="4495800"/>
          <a:ext cx="3200400" cy="2209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/>
          <p:nvPr/>
        </p:nvGraphicFramePr>
        <p:xfrm>
          <a:off x="5486400" y="4495800"/>
          <a:ext cx="3200400" cy="2209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48000" y="630549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ea typeface="Wingdings"/>
                <a:cs typeface="Wingdings"/>
              </a:rPr>
              <a:t>Do these objects exist? 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Wingdings"/>
                <a:ea typeface="Wingdings"/>
                <a:cs typeface="Wingdings"/>
              </a:rPr>
              <a:t></a:t>
            </a:r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4" grpId="0">
        <p:bldAsOne/>
      </p:bldGraphic>
      <p:bldGraphic spid="5" grpId="0">
        <p:bldAsOne/>
      </p:bldGraphic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…. some details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mc:AlternateContent>
          <mc:Choice xmlns:ma="http://schemas.microsoft.com/office/mac/drawingml/2008/main" Requires="ma">
            <p:blipFill>
              <a:blip r:embed="rId2"/>
              <a:srcRect l="-49181" r="-49181"/>
              <a:stretch>
                <a:fillRect/>
              </a:stretch>
            </p:blipFill>
          </mc:Choice>
          <mc:Fallback>
            <p:blipFill>
              <a:blip r:embed="rId3"/>
              <a:srcRect l="-49181" r="-49181"/>
              <a:stretch>
                <a:fillRect/>
              </a:stretch>
            </p:blipFill>
          </mc:Fallback>
        </mc:AlternateContent>
        <p:spPr/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1F497D"/>
                </a:solidFill>
              </a:rPr>
              <a:t>Evidence 1:</a:t>
            </a:r>
            <a:br>
              <a:rPr lang="en-US" b="1" dirty="0" smtClean="0">
                <a:solidFill>
                  <a:srgbClr val="1F497D"/>
                </a:solidFill>
              </a:rPr>
            </a:br>
            <a:r>
              <a:rPr lang="en-US" b="1" dirty="0" smtClean="0">
                <a:solidFill>
                  <a:srgbClr val="1F497D"/>
                </a:solidFill>
              </a:rPr>
              <a:t>Evolution of the IGM temperature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111" dirty="0" smtClean="0"/>
              <a:t>(from observations of the Lyman-alpha forest)</a:t>
            </a:r>
            <a:endParaRPr lang="en-US" sz="3111" dirty="0"/>
          </a:p>
        </p:txBody>
      </p:sp>
      <p:pic>
        <p:nvPicPr>
          <p:cNvPr id="4" name="Content Placeholder 3" descr="f2.eps"/>
          <p:cNvPicPr>
            <a:picLocks noGrp="1" noChangeAspect="1"/>
          </p:cNvPicPr>
          <p:nvPr>
            <p:ph idx="1"/>
          </p:nvPr>
        </p:nvPicPr>
        <mc:AlternateContent>
          <mc:Choice xmlns:ma="http://schemas.microsoft.com/office/mac/drawingml/2008/main" Requires="ma">
            <p:blipFill>
              <a:blip r:embed="rId2"/>
              <a:srcRect l="-7179" r="-7179"/>
              <a:stretch>
                <a:fillRect/>
              </a:stretch>
            </p:blipFill>
          </mc:Choice>
          <mc:Fallback>
            <p:blipFill>
              <a:blip r:embed="rId3"/>
              <a:srcRect l="-7179" r="-7179"/>
              <a:stretch>
                <a:fillRect/>
              </a:stretch>
            </p:blipFill>
          </mc:Fallback>
        </mc:AlternateContent>
        <p:spPr/>
      </p:pic>
      <p:sp>
        <p:nvSpPr>
          <p:cNvPr id="5" name="TextBox 4"/>
          <p:cNvSpPr txBox="1"/>
          <p:nvPr/>
        </p:nvSpPr>
        <p:spPr>
          <a:xfrm>
            <a:off x="5745219" y="6107668"/>
            <a:ext cx="329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Ref: Ricotti, </a:t>
            </a:r>
            <a:r>
              <a:rPr lang="en-US" dirty="0" err="1" smtClean="0"/>
              <a:t>Gnedin</a:t>
            </a:r>
            <a:r>
              <a:rPr lang="en-US" dirty="0" smtClean="0"/>
              <a:t> &amp; Shull 2000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2"/>
                </a:solidFill>
              </a:rPr>
              <a:t>Evidence 2:</a:t>
            </a:r>
            <a:br>
              <a:rPr lang="en-US" b="1" dirty="0" smtClean="0">
                <a:solidFill>
                  <a:schemeClr val="tx2"/>
                </a:solidFill>
              </a:rPr>
            </a:br>
            <a:r>
              <a:rPr lang="en-US" b="1" dirty="0" smtClean="0">
                <a:solidFill>
                  <a:schemeClr val="tx2"/>
                </a:solidFill>
              </a:rPr>
              <a:t>Dark Halo Concentration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085975" y="3390900"/>
          <a:ext cx="4549775" cy="990600"/>
        </p:xfrm>
        <a:graphic>
          <a:graphicData uri="http://schemas.openxmlformats.org/presentationml/2006/ole">
            <p:oleObj spid="_x0000_s21507" name="Equation" r:id="rId3" imgW="1866900" imgH="406400" progId="Equation.3">
              <p:embed/>
            </p:oleObj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98541" y="6126163"/>
            <a:ext cx="8288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Refs: Bullock et al. 2001, Wechsler et al. 2002, Ricotti 2003, Ricotti, </a:t>
            </a:r>
            <a:r>
              <a:rPr lang="en-US" dirty="0" err="1" smtClean="0"/>
              <a:t>Pontzen</a:t>
            </a:r>
            <a:r>
              <a:rPr lang="en-US" dirty="0" smtClean="0"/>
              <a:t> &amp; </a:t>
            </a:r>
            <a:r>
              <a:rPr lang="en-US" dirty="0" err="1" smtClean="0"/>
              <a:t>Viel</a:t>
            </a:r>
            <a:r>
              <a:rPr lang="en-US" dirty="0" smtClean="0"/>
              <a:t> 2007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8001000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Concentration increase as the halo evolves, after </a:t>
            </a:r>
            <a:r>
              <a:rPr lang="en-US" sz="2400" dirty="0" err="1" smtClean="0"/>
              <a:t>virialization</a:t>
            </a:r>
            <a:r>
              <a:rPr lang="en-US" sz="2400" dirty="0" smtClean="0"/>
              <a:t>, </a:t>
            </a:r>
          </a:p>
          <a:p>
            <a:r>
              <a:rPr lang="en-US" sz="2400" dirty="0" smtClean="0"/>
              <a:t>in expanding universe (low density IGM).  </a:t>
            </a:r>
          </a:p>
          <a:p>
            <a:r>
              <a:rPr lang="en-US" sz="2400" dirty="0" smtClean="0"/>
              <a:t>From N-body simulations: 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eta_c55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927100" y="1752600"/>
            <a:ext cx="7289800" cy="4906962"/>
          </a:xfrm>
          <a:prstGeom prst="rect">
            <a:avLst/>
          </a:prstGeom>
        </p:spPr>
      </p:pic>
      <p:pic>
        <p:nvPicPr>
          <p:cNvPr id="7" name="Picture 6" descr="beta_c5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927100" y="1752600"/>
            <a:ext cx="7289800" cy="4906962"/>
          </a:xfrm>
          <a:prstGeom prst="rect">
            <a:avLst/>
          </a:prstGeom>
        </p:spPr>
      </p:pic>
      <p:pic>
        <p:nvPicPr>
          <p:cNvPr id="8" name="Picture 7" descr="beta_c20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6"/>
              <a:stretch>
                <a:fillRect/>
              </a:stretch>
            </p:blipFill>
          </mc:Choice>
          <mc:Fallback>
            <p:blipFill>
              <a:blip r:embed="rId7"/>
              <a:stretch>
                <a:fillRect/>
              </a:stretch>
            </p:blipFill>
          </mc:Fallback>
        </mc:AlternateContent>
        <p:spPr>
          <a:xfrm>
            <a:off x="927100" y="1752600"/>
            <a:ext cx="7289800" cy="4906962"/>
          </a:xfrm>
          <a:prstGeom prst="rect">
            <a:avLst/>
          </a:prstGeom>
        </p:spPr>
      </p:pic>
      <p:pic>
        <p:nvPicPr>
          <p:cNvPr id="9" name="Picture 8" descr="beta_c35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8"/>
              <a:stretch>
                <a:fillRect/>
              </a:stretch>
            </p:blipFill>
          </mc:Choice>
          <mc:Fallback>
            <p:blipFill>
              <a:blip r:embed="rId9"/>
              <a:stretch>
                <a:fillRect/>
              </a:stretch>
            </p:blipFill>
          </mc:Fallback>
        </mc:AlternateContent>
        <p:spPr>
          <a:xfrm>
            <a:off x="927100" y="1752600"/>
            <a:ext cx="7289800" cy="4906962"/>
          </a:xfrm>
          <a:prstGeom prst="rect">
            <a:avLst/>
          </a:prstGeom>
        </p:spPr>
      </p:pic>
      <p:pic>
        <p:nvPicPr>
          <p:cNvPr id="11" name="Picture 10" descr="f1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10"/>
              <a:stretch>
                <a:fillRect/>
              </a:stretch>
            </p:blipFill>
          </mc:Choice>
          <mc:Fallback>
            <p:blipFill>
              <a:blip r:embed="rId11"/>
              <a:stretch>
                <a:fillRect/>
              </a:stretch>
            </p:blipFill>
          </mc:Fallback>
        </mc:AlternateContent>
        <p:spPr>
          <a:xfrm>
            <a:off x="927100" y="1752600"/>
            <a:ext cx="7289800" cy="49069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1F497D"/>
                </a:solidFill>
              </a:rPr>
              <a:t>Gas density profile in NFW potential</a:t>
            </a:r>
            <a:endParaRPr lang="en-US" b="1" dirty="0">
              <a:solidFill>
                <a:srgbClr val="1F497D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3200" y="1701095"/>
            <a:ext cx="14478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 err="1" smtClean="0"/>
              <a:t>z</a:t>
            </a:r>
            <a:r>
              <a:rPr lang="en-US" sz="3500" dirty="0" smtClean="0"/>
              <a:t>=0, </a:t>
            </a:r>
            <a:r>
              <a:rPr lang="en-US" sz="3500" dirty="0" err="1" smtClean="0"/>
              <a:t>Γ</a:t>
            </a:r>
            <a:r>
              <a:rPr lang="en-US" sz="3500" dirty="0" smtClean="0"/>
              <a:t>=1</a:t>
            </a:r>
            <a:endParaRPr lang="en-US" sz="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1F497D"/>
                </a:solidFill>
              </a:rPr>
              <a:t>Late gas accretion onto mini-halos</a:t>
            </a:r>
            <a:endParaRPr lang="en-US" b="1" dirty="0">
              <a:solidFill>
                <a:srgbClr val="1F497D"/>
              </a:solidFill>
            </a:endParaRPr>
          </a:p>
        </p:txBody>
      </p:sp>
      <p:sp>
        <p:nvSpPr>
          <p:cNvPr id="24" name="Content Placeholder 23"/>
          <p:cNvSpPr>
            <a:spLocks noGrp="1"/>
          </p:cNvSpPr>
          <p:nvPr>
            <p:ph idx="1"/>
          </p:nvPr>
        </p:nvSpPr>
        <p:spPr>
          <a:xfrm>
            <a:off x="268836" y="1219200"/>
            <a:ext cx="8229600" cy="4525963"/>
          </a:xfrm>
        </p:spPr>
        <p:txBody>
          <a:bodyPr/>
          <a:lstStyle/>
          <a:p>
            <a:pPr>
              <a:buNone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781800" y="6107668"/>
            <a:ext cx="1716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Ref: Ricotti 2008</a:t>
            </a:r>
            <a:endParaRPr lang="en-US" dirty="0"/>
          </a:p>
        </p:txBody>
      </p:sp>
      <p:pic>
        <p:nvPicPr>
          <p:cNvPr id="15" name="Picture 14" descr="core1b_5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927100" y="1435100"/>
            <a:ext cx="7289800" cy="5041900"/>
          </a:xfrm>
          <a:prstGeom prst="rect">
            <a:avLst/>
          </a:prstGeom>
        </p:spPr>
      </p:pic>
      <p:pic>
        <p:nvPicPr>
          <p:cNvPr id="16" name="Picture 15" descr="core1b_4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927100" y="1435100"/>
            <a:ext cx="7289800" cy="5041900"/>
          </a:xfrm>
          <a:prstGeom prst="rect">
            <a:avLst/>
          </a:prstGeom>
        </p:spPr>
      </p:pic>
      <p:pic>
        <p:nvPicPr>
          <p:cNvPr id="17" name="Picture 16" descr="core1b_3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7"/>
              <a:stretch>
                <a:fillRect/>
              </a:stretch>
            </p:blipFill>
          </mc:Choice>
          <mc:Fallback>
            <p:blipFill>
              <a:blip r:embed="rId8"/>
              <a:stretch>
                <a:fillRect/>
              </a:stretch>
            </p:blipFill>
          </mc:Fallback>
        </mc:AlternateContent>
        <p:spPr>
          <a:xfrm>
            <a:off x="927100" y="1435100"/>
            <a:ext cx="7289800" cy="5041900"/>
          </a:xfrm>
          <a:prstGeom prst="rect">
            <a:avLst/>
          </a:prstGeom>
        </p:spPr>
      </p:pic>
      <p:pic>
        <p:nvPicPr>
          <p:cNvPr id="18" name="Picture 17" descr="core1b_2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9"/>
              <a:stretch>
                <a:fillRect/>
              </a:stretch>
            </p:blipFill>
          </mc:Choice>
          <mc:Fallback>
            <p:blipFill>
              <a:blip r:embed="rId10"/>
              <a:stretch>
                <a:fillRect/>
              </a:stretch>
            </p:blipFill>
          </mc:Fallback>
        </mc:AlternateContent>
        <p:spPr>
          <a:xfrm>
            <a:off x="927100" y="1435100"/>
            <a:ext cx="7289800" cy="5041900"/>
          </a:xfrm>
          <a:prstGeom prst="rect">
            <a:avLst/>
          </a:prstGeom>
        </p:spPr>
      </p:pic>
      <p:pic>
        <p:nvPicPr>
          <p:cNvPr id="19" name="Picture 18" descr="core1b_1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11">
                <a:alphaModFix/>
              </a:blip>
              <a:stretch>
                <a:fillRect/>
              </a:stretch>
            </p:blipFill>
          </mc:Choice>
          <mc:Fallback>
            <p:blipFill>
              <a:blip r:embed="rId12">
                <a:alphaModFix/>
              </a:blip>
              <a:stretch>
                <a:fillRect/>
              </a:stretch>
            </p:blipFill>
          </mc:Fallback>
        </mc:AlternateContent>
        <p:spPr>
          <a:xfrm>
            <a:off x="927100" y="1435100"/>
            <a:ext cx="7289800" cy="5041900"/>
          </a:xfrm>
          <a:prstGeom prst="rect">
            <a:avLst/>
          </a:prstGeom>
        </p:spPr>
      </p:pic>
      <p:pic>
        <p:nvPicPr>
          <p:cNvPr id="23" name="Picture 22" descr="core1b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13"/>
              <a:stretch>
                <a:fillRect/>
              </a:stretch>
            </p:blipFill>
          </mc:Choice>
          <mc:Fallback>
            <p:blipFill>
              <a:blip r:embed="rId14"/>
              <a:stretch>
                <a:fillRect/>
              </a:stretch>
            </p:blipFill>
          </mc:Fallback>
        </mc:AlternateContent>
        <p:spPr>
          <a:xfrm>
            <a:off x="927100" y="1435100"/>
            <a:ext cx="7289800" cy="50419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68836" y="1752600"/>
            <a:ext cx="1376882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 err="1" smtClean="0"/>
              <a:t>Z</a:t>
            </a:r>
            <a:r>
              <a:rPr lang="en-US" sz="2300" baseline="-25000" dirty="0" err="1" smtClean="0"/>
              <a:t>vir</a:t>
            </a:r>
            <a:r>
              <a:rPr lang="en-US" sz="2300" dirty="0" smtClean="0"/>
              <a:t>=10</a:t>
            </a:r>
            <a:endParaRPr lang="en-US" sz="2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5058" name="Object 2"/>
          <p:cNvGraphicFramePr>
            <a:graphicFrameLocks noChangeAspect="1"/>
          </p:cNvGraphicFramePr>
          <p:nvPr/>
        </p:nvGraphicFramePr>
        <p:xfrm>
          <a:off x="1143000" y="2895600"/>
          <a:ext cx="6800850" cy="1163638"/>
        </p:xfrm>
        <a:graphic>
          <a:graphicData uri="http://schemas.openxmlformats.org/presentationml/2006/ole">
            <p:oleObj spid="_x0000_s45058" name="Equation" r:id="rId3" imgW="2819400" imgH="482600" progId="Equation.3">
              <p:embed/>
            </p:oleObj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343400" y="1600200"/>
            <a:ext cx="523175" cy="9079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300" dirty="0" smtClean="0"/>
              <a:t>+</a:t>
            </a:r>
            <a:endParaRPr lang="en-US" sz="5300" dirty="0"/>
          </a:p>
        </p:txBody>
      </p:sp>
      <p:sp>
        <p:nvSpPr>
          <p:cNvPr id="8" name="TextBox 7"/>
          <p:cNvSpPr txBox="1"/>
          <p:nvPr/>
        </p:nvSpPr>
        <p:spPr>
          <a:xfrm>
            <a:off x="457200" y="4724399"/>
            <a:ext cx="8229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n</a:t>
            </a:r>
            <a:r>
              <a:rPr lang="en-US" sz="2400" dirty="0" smtClean="0"/>
              <a:t> = # of standard deviations from the mean density </a:t>
            </a:r>
          </a:p>
          <a:p>
            <a:r>
              <a:rPr lang="en-US" sz="2400" dirty="0" smtClean="0"/>
              <a:t>       of initial density perturbation (</a:t>
            </a:r>
            <a:r>
              <a:rPr lang="en-US" sz="2400" dirty="0" err="1" smtClean="0"/>
              <a:t>ie</a:t>
            </a:r>
            <a:r>
              <a:rPr lang="en-US" sz="2400" dirty="0" smtClean="0"/>
              <a:t>, how rare the object is)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1F497D"/>
                </a:solidFill>
              </a:rPr>
              <a:t>Mini-halos with gas and no stars </a:t>
            </a:r>
            <a:br>
              <a:rPr lang="en-US" b="1" dirty="0" smtClean="0">
                <a:solidFill>
                  <a:srgbClr val="1F497D"/>
                </a:solidFill>
              </a:rPr>
            </a:br>
            <a:r>
              <a:rPr lang="en-US" b="1" dirty="0" smtClean="0">
                <a:solidFill>
                  <a:srgbClr val="1F497D"/>
                </a:solidFill>
              </a:rPr>
              <a:t>(comp. HVC?)</a:t>
            </a:r>
            <a:endParaRPr lang="en-US" b="1" dirty="0">
              <a:solidFill>
                <a:srgbClr val="1F497D"/>
              </a:solidFill>
            </a:endParaRPr>
          </a:p>
        </p:txBody>
      </p:sp>
      <p:pic>
        <p:nvPicPr>
          <p:cNvPr id="4" name="Content Placeholder 3" descr="f4a.eps"/>
          <p:cNvPicPr>
            <a:picLocks noGrp="1" noChangeAspect="1"/>
          </p:cNvPicPr>
          <p:nvPr>
            <p:ph idx="1"/>
          </p:nvPr>
        </p:nvPicPr>
        <mc:AlternateContent>
          <mc:Choice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1981200" y="1752601"/>
            <a:ext cx="5697155" cy="4724400"/>
          </a:xfrm>
        </p:spPr>
      </p:pic>
      <p:sp>
        <p:nvSpPr>
          <p:cNvPr id="5" name="TextBox 4"/>
          <p:cNvSpPr txBox="1"/>
          <p:nvPr/>
        </p:nvSpPr>
        <p:spPr>
          <a:xfrm>
            <a:off x="6781800" y="6107668"/>
            <a:ext cx="1716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Ref: Ricotti 2008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28600" y="1951037"/>
            <a:ext cx="27432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008000"/>
                </a:solidFill>
              </a:rPr>
              <a:t>Green: 4-σ pert.</a:t>
            </a:r>
          </a:p>
          <a:p>
            <a:r>
              <a:rPr lang="en-US" sz="2000" dirty="0" smtClean="0">
                <a:solidFill>
                  <a:srgbClr val="FF0000"/>
                </a:solidFill>
              </a:rPr>
              <a:t>Red:     3-σ pert.</a:t>
            </a:r>
          </a:p>
          <a:p>
            <a:r>
              <a:rPr lang="en-US" sz="2000" dirty="0" smtClean="0"/>
              <a:t>Black:  2-σ pert.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 smtClean="0">
                <a:solidFill>
                  <a:srgbClr val="1F497D"/>
                </a:solidFill>
              </a:rPr>
              <a:t>Star forming </a:t>
            </a:r>
            <a:r>
              <a:rPr lang="en-US" b="1" dirty="0" smtClean="0">
                <a:solidFill>
                  <a:srgbClr val="1F497D"/>
                </a:solidFill>
              </a:rPr>
              <a:t>mini-halos at </a:t>
            </a:r>
            <a:r>
              <a:rPr lang="en-US" b="1" dirty="0" err="1" smtClean="0">
                <a:solidFill>
                  <a:srgbClr val="1F497D"/>
                </a:solidFill>
              </a:rPr>
              <a:t>z</a:t>
            </a:r>
            <a:r>
              <a:rPr lang="en-US" b="1" dirty="0" smtClean="0">
                <a:solidFill>
                  <a:srgbClr val="1F497D"/>
                </a:solidFill>
              </a:rPr>
              <a:t>=0 and </a:t>
            </a:r>
            <a:r>
              <a:rPr lang="en-US" b="1" dirty="0" err="1" smtClean="0">
                <a:solidFill>
                  <a:srgbClr val="1F497D"/>
                </a:solidFill>
              </a:rPr>
              <a:t>z</a:t>
            </a:r>
            <a:r>
              <a:rPr lang="en-US" b="1" dirty="0" smtClean="0">
                <a:solidFill>
                  <a:srgbClr val="1F497D"/>
                </a:solidFill>
              </a:rPr>
              <a:t>=2</a:t>
            </a:r>
            <a:endParaRPr lang="en-US" b="1" dirty="0">
              <a:solidFill>
                <a:srgbClr val="1F497D"/>
              </a:solidFill>
            </a:endParaRPr>
          </a:p>
        </p:txBody>
      </p:sp>
      <p:pic>
        <p:nvPicPr>
          <p:cNvPr id="4" name="Content Placeholder 3" descr="f4b.eps"/>
          <p:cNvPicPr>
            <a:picLocks noGrp="1" noChangeAspect="1"/>
          </p:cNvPicPr>
          <p:nvPr>
            <p:ph idx="1"/>
          </p:nvPr>
        </p:nvPicPr>
        <mc:AlternateContent>
          <mc:Choice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2180622" y="1600200"/>
            <a:ext cx="5697155" cy="4525963"/>
          </a:xfrm>
        </p:spPr>
      </p:pic>
      <p:sp>
        <p:nvSpPr>
          <p:cNvPr id="5" name="TextBox 4"/>
          <p:cNvSpPr txBox="1"/>
          <p:nvPr/>
        </p:nvSpPr>
        <p:spPr>
          <a:xfrm>
            <a:off x="6781800" y="6107668"/>
            <a:ext cx="1716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Ref: Ricotti 2008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85800" y="1784866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3-σ pert.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1F497D"/>
                </a:solidFill>
              </a:rPr>
              <a:t>More on properties of accreted gas </a:t>
            </a:r>
            <a:endParaRPr lang="en-US" b="1" dirty="0">
              <a:solidFill>
                <a:srgbClr val="1F497D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423863" y="1600200"/>
          <a:ext cx="5016500" cy="4525963"/>
        </p:xfrm>
        <a:graphic>
          <a:graphicData uri="http://schemas.openxmlformats.org/presentationml/2006/ole">
            <p:oleObj spid="_x0000_s35842" name="Equation" r:id="rId3" imgW="1917700" imgH="1828800" progId="Equation.3">
              <p:embed/>
            </p:oleObj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0" y="1600200"/>
            <a:ext cx="2593975" cy="255454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/>
              <a:t>Leo T:</a:t>
            </a:r>
          </a:p>
          <a:p>
            <a:r>
              <a:rPr lang="en-US" sz="2400" dirty="0" err="1" smtClean="0">
                <a:latin typeface="Wingdings"/>
                <a:ea typeface="Wingdings"/>
                <a:cs typeface="Wingdings"/>
              </a:rPr>
              <a:t></a:t>
            </a:r>
            <a:r>
              <a:rPr lang="en-US" sz="2400" dirty="0" smtClean="0"/>
              <a:t> </a:t>
            </a:r>
            <a:r>
              <a:rPr lang="en-US" sz="2400" dirty="0" err="1" smtClean="0"/>
              <a:t>r</a:t>
            </a:r>
            <a:r>
              <a:rPr lang="en-US" sz="2400" baseline="-25000" dirty="0" err="1" smtClean="0"/>
              <a:t>core</a:t>
            </a:r>
            <a:r>
              <a:rPr lang="en-US" sz="2400" dirty="0" smtClean="0"/>
              <a:t>=100 pc</a:t>
            </a:r>
            <a:endParaRPr lang="en-US" sz="2400" dirty="0" smtClean="0">
              <a:latin typeface="Wingdings"/>
              <a:ea typeface="Wingdings"/>
              <a:cs typeface="Wingdings"/>
            </a:endParaRPr>
          </a:p>
          <a:p>
            <a:r>
              <a:rPr lang="en-US" sz="2400" dirty="0" err="1" smtClean="0">
                <a:latin typeface="Wingdings"/>
                <a:ea typeface="Wingdings"/>
                <a:cs typeface="Wingdings"/>
              </a:rPr>
              <a:t></a:t>
            </a:r>
            <a:r>
              <a:rPr lang="en-US" sz="2400" dirty="0" err="1" smtClean="0"/>
              <a:t>M</a:t>
            </a:r>
            <a:r>
              <a:rPr lang="en-US" sz="2400" baseline="-25000" dirty="0" err="1" smtClean="0"/>
              <a:t>dm</a:t>
            </a:r>
            <a:r>
              <a:rPr lang="en-US" sz="2400" dirty="0" err="1" smtClean="0"/>
              <a:t>/M</a:t>
            </a:r>
            <a:r>
              <a:rPr lang="en-US" sz="2400" baseline="-25000" dirty="0" err="1" smtClean="0"/>
              <a:t>gas</a:t>
            </a:r>
            <a:r>
              <a:rPr lang="en-US" sz="2400" dirty="0" smtClean="0"/>
              <a:t>= 10-30</a:t>
            </a:r>
          </a:p>
          <a:p>
            <a:r>
              <a:rPr lang="en-US" sz="2400" dirty="0" smtClean="0">
                <a:latin typeface="Wingdings"/>
                <a:ea typeface="Wingdings"/>
                <a:cs typeface="Wingdings"/>
              </a:rPr>
              <a:t></a:t>
            </a:r>
            <a:r>
              <a:rPr lang="en-US" sz="2400" dirty="0" smtClean="0"/>
              <a:t>N</a:t>
            </a:r>
            <a:r>
              <a:rPr lang="en-US" sz="2400" baseline="-25000" dirty="0" smtClean="0"/>
              <a:t>H</a:t>
            </a:r>
            <a:r>
              <a:rPr lang="en-US" sz="2400" dirty="0" smtClean="0"/>
              <a:t>=7x10</a:t>
            </a:r>
            <a:r>
              <a:rPr lang="en-US" sz="2400" baseline="30000" dirty="0" smtClean="0"/>
              <a:t>20</a:t>
            </a:r>
            <a:r>
              <a:rPr lang="en-US" sz="2400" dirty="0" smtClean="0"/>
              <a:t> cm</a:t>
            </a:r>
            <a:r>
              <a:rPr lang="en-US" sz="2400" baseline="30000" dirty="0" smtClean="0"/>
              <a:t>-2</a:t>
            </a:r>
          </a:p>
          <a:p>
            <a:endParaRPr lang="en-US" sz="2400" baseline="30000" dirty="0" smtClean="0"/>
          </a:p>
          <a:p>
            <a:r>
              <a:rPr lang="en-US" sz="2400" dirty="0" smtClean="0"/>
              <a:t>(</a:t>
            </a:r>
            <a:r>
              <a:rPr lang="en-US" sz="2400" dirty="0" err="1" smtClean="0"/>
              <a:t>V</a:t>
            </a:r>
            <a:r>
              <a:rPr lang="en-US" sz="2400" baseline="-25000" dirty="0" err="1" smtClean="0"/>
              <a:t>cir</a:t>
            </a:r>
            <a:r>
              <a:rPr lang="en-US" sz="2400" dirty="0" smtClean="0"/>
              <a:t>=11 km/s)</a:t>
            </a:r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1F497D"/>
                </a:solidFill>
              </a:rPr>
              <a:t>Compact </a:t>
            </a:r>
            <a:r>
              <a:rPr lang="en-US" b="1" dirty="0" err="1" smtClean="0">
                <a:solidFill>
                  <a:srgbClr val="1F497D"/>
                </a:solidFill>
              </a:rPr>
              <a:t>HVCs</a:t>
            </a:r>
            <a:r>
              <a:rPr lang="en-US" b="1" dirty="0" smtClean="0">
                <a:solidFill>
                  <a:srgbClr val="1F497D"/>
                </a:solidFill>
              </a:rPr>
              <a:t> or unknown population?</a:t>
            </a:r>
            <a:endParaRPr lang="en-US" b="1" dirty="0">
              <a:solidFill>
                <a:srgbClr val="1F497D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If compact </a:t>
            </a:r>
            <a:r>
              <a:rPr lang="en-US" dirty="0" err="1" smtClean="0"/>
              <a:t>HVCs</a:t>
            </a:r>
            <a:r>
              <a:rPr lang="en-US" dirty="0" smtClean="0"/>
              <a:t> are at distances of about 1 </a:t>
            </a:r>
            <a:r>
              <a:rPr lang="en-US" dirty="0" err="1" smtClean="0"/>
              <a:t>Mpc</a:t>
            </a:r>
            <a:r>
              <a:rPr lang="en-US" dirty="0" smtClean="0"/>
              <a:t> model may work for some of them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385030"/>
            <a:ext cx="3505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 smtClean="0"/>
          </a:p>
          <a:p>
            <a:r>
              <a:rPr lang="en-US" sz="2400" dirty="0" smtClean="0">
                <a:latin typeface="ＭＳ ゴシック"/>
                <a:ea typeface="ＭＳ ゴシック"/>
                <a:cs typeface="ＭＳ ゴシック"/>
              </a:rPr>
              <a:t>☐</a:t>
            </a:r>
            <a:r>
              <a:rPr lang="en-US" sz="2400" dirty="0" smtClean="0"/>
              <a:t>     </a:t>
            </a:r>
            <a:r>
              <a:rPr lang="en-US" sz="2400" dirty="0" err="1" smtClean="0"/>
              <a:t>r</a:t>
            </a:r>
            <a:r>
              <a:rPr lang="en-US" sz="2400" baseline="-25000" dirty="0" err="1" smtClean="0"/>
              <a:t>h</a:t>
            </a:r>
            <a:r>
              <a:rPr lang="en-US" sz="2400" dirty="0" smtClean="0"/>
              <a:t>= 15 </a:t>
            </a:r>
            <a:r>
              <a:rPr lang="en-US" sz="2400" dirty="0" err="1" smtClean="0"/>
              <a:t>kpc</a:t>
            </a:r>
            <a:r>
              <a:rPr lang="en-US" sz="2400" dirty="0" smtClean="0"/>
              <a:t>  </a:t>
            </a:r>
            <a:endParaRPr lang="en-US" sz="2400" dirty="0" smtClean="0">
              <a:latin typeface="Wingdings"/>
              <a:ea typeface="Wingdings"/>
              <a:cs typeface="Wingdings"/>
            </a:endParaRPr>
          </a:p>
          <a:p>
            <a:r>
              <a:rPr lang="en-US" sz="2400" dirty="0" smtClean="0">
                <a:latin typeface="ＭＳ ゴシック"/>
                <a:ea typeface="ＭＳ ゴシック"/>
                <a:cs typeface="ＭＳ ゴシック"/>
              </a:rPr>
              <a:t>☐  </a:t>
            </a:r>
            <a:r>
              <a:rPr lang="en-US" sz="2400" dirty="0" err="1" smtClean="0"/>
              <a:t>r</a:t>
            </a:r>
            <a:r>
              <a:rPr lang="en-US" sz="2400" baseline="-25000" dirty="0" err="1" smtClean="0"/>
              <a:t>core</a:t>
            </a:r>
            <a:r>
              <a:rPr lang="en-US" sz="2400" dirty="0" smtClean="0"/>
              <a:t>=100 pc </a:t>
            </a:r>
          </a:p>
          <a:p>
            <a:r>
              <a:rPr lang="en-US" sz="2400" dirty="0" err="1" smtClean="0">
                <a:latin typeface="Wingdings"/>
                <a:ea typeface="Wingdings"/>
                <a:cs typeface="Wingdings"/>
              </a:rPr>
              <a:t></a:t>
            </a:r>
            <a:r>
              <a:rPr lang="en-US" sz="2400" dirty="0" smtClean="0">
                <a:latin typeface="Wingdings"/>
                <a:ea typeface="Wingdings"/>
                <a:cs typeface="Wingdings"/>
              </a:rPr>
              <a:t> </a:t>
            </a:r>
            <a:r>
              <a:rPr lang="en-US" sz="2400" dirty="0" smtClean="0"/>
              <a:t>N</a:t>
            </a:r>
            <a:r>
              <a:rPr lang="en-US" sz="2400" baseline="-25000" dirty="0" smtClean="0"/>
              <a:t>H</a:t>
            </a:r>
            <a:r>
              <a:rPr lang="en-US" sz="2400" dirty="0" smtClean="0"/>
              <a:t>=10</a:t>
            </a:r>
            <a:r>
              <a:rPr lang="en-US" sz="2400" baseline="30000" dirty="0" smtClean="0"/>
              <a:t>18 </a:t>
            </a:r>
            <a:r>
              <a:rPr lang="en-US" sz="2400" dirty="0" smtClean="0"/>
              <a:t>- 10</a:t>
            </a:r>
            <a:r>
              <a:rPr lang="en-US" sz="2400" baseline="30000" dirty="0" smtClean="0"/>
              <a:t>19</a:t>
            </a:r>
            <a:r>
              <a:rPr lang="en-US" sz="2400" dirty="0" smtClean="0"/>
              <a:t> cm</a:t>
            </a:r>
            <a:r>
              <a:rPr lang="en-US" sz="2400" baseline="30000" dirty="0" smtClean="0"/>
              <a:t>-2</a:t>
            </a:r>
          </a:p>
          <a:p>
            <a:endParaRPr lang="en-US" sz="2400" dirty="0" smtClean="0"/>
          </a:p>
          <a:p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5105400"/>
            <a:ext cx="6475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Refs: Blitz et al. 1999, Braun &amp; Burton 1999, </a:t>
            </a:r>
            <a:r>
              <a:rPr lang="en-US" dirty="0" err="1" smtClean="0"/>
              <a:t>Robinshaw</a:t>
            </a:r>
            <a:r>
              <a:rPr lang="en-US" dirty="0" smtClean="0"/>
              <a:t> et al. 2002, </a:t>
            </a:r>
          </a:p>
          <a:p>
            <a:r>
              <a:rPr lang="en-US" dirty="0" smtClean="0"/>
              <a:t>Sternberg et al. 2002, Putman et al. 2003, Maloney &amp; Putman 2003, 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2385030"/>
            <a:ext cx="8458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 smtClean="0"/>
          </a:p>
          <a:p>
            <a:pPr>
              <a:buFont typeface="Wingdings" pitchFamily="12" charset="2"/>
              <a:buChar char="þ"/>
            </a:pPr>
            <a:r>
              <a:rPr lang="en-US" sz="2400" dirty="0" smtClean="0"/>
              <a:t>                                             </a:t>
            </a:r>
          </a:p>
          <a:p>
            <a:pPr>
              <a:buFont typeface="Wingdings" pitchFamily="12" charset="2"/>
              <a:buChar char="þ"/>
            </a:pPr>
            <a:r>
              <a:rPr lang="en-US" sz="2400" dirty="0" smtClean="0"/>
              <a:t>                                              </a:t>
            </a:r>
          </a:p>
          <a:p>
            <a:pPr>
              <a:buFont typeface="Wingdings" pitchFamily="12" charset="2"/>
              <a:buChar char="þ"/>
            </a:pPr>
            <a:r>
              <a:rPr lang="en-US" sz="2400" dirty="0" smtClean="0"/>
              <a:t>                                            </a:t>
            </a:r>
          </a:p>
          <a:p>
            <a:r>
              <a:rPr lang="en-US" sz="2400" dirty="0" smtClean="0"/>
              <a:t> </a:t>
            </a:r>
          </a:p>
          <a:p>
            <a:r>
              <a:rPr lang="en-US" sz="2400" dirty="0" smtClean="0"/>
              <a:t>Most are probably undetected because too faint and/or too small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638"/>
            <a:ext cx="8273739" cy="2559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971800"/>
            <a:ext cx="8229600" cy="3349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accent2"/>
                </a:solidFill>
              </a:rPr>
              <a:t>Can ALFALFA find these objects if they are nearby?</a:t>
            </a:r>
            <a:endParaRPr lang="en-US" sz="2800" dirty="0" smtClean="0">
              <a:solidFill>
                <a:schemeClr val="accent2"/>
              </a:solidFill>
            </a:endParaRPr>
          </a:p>
          <a:p>
            <a:r>
              <a:rPr lang="en-US" sz="2500" dirty="0" smtClean="0"/>
              <a:t>Very rough estimate (we need to asses ionization corrections):</a:t>
            </a:r>
          </a:p>
          <a:p>
            <a:endParaRPr lang="en-US" sz="2800" dirty="0" smtClean="0"/>
          </a:p>
          <a:p>
            <a:pPr>
              <a:buFont typeface="Arial"/>
              <a:buChar char="•"/>
            </a:pPr>
            <a:r>
              <a:rPr lang="en-US" sz="2800" dirty="0" smtClean="0"/>
              <a:t> Angular size: 3-30 </a:t>
            </a:r>
            <a:r>
              <a:rPr lang="en-US" sz="2800" dirty="0" err="1" smtClean="0"/>
              <a:t>arcmin</a:t>
            </a:r>
            <a:r>
              <a:rPr lang="en-US" sz="2800" dirty="0" smtClean="0"/>
              <a:t> (for 1-10 </a:t>
            </a:r>
            <a:r>
              <a:rPr lang="en-US" sz="2800" dirty="0" err="1" smtClean="0"/>
              <a:t>kpc</a:t>
            </a:r>
            <a:r>
              <a:rPr lang="en-US" sz="2800" dirty="0" smtClean="0"/>
              <a:t> size at 1 </a:t>
            </a:r>
            <a:r>
              <a:rPr lang="en-US" sz="2800" dirty="0" err="1" smtClean="0"/>
              <a:t>Mpc</a:t>
            </a:r>
            <a:r>
              <a:rPr lang="en-US" sz="2800" dirty="0" smtClean="0"/>
              <a:t>)</a:t>
            </a:r>
          </a:p>
          <a:p>
            <a:pPr>
              <a:buFont typeface="Arial"/>
              <a:buChar char="•"/>
            </a:pPr>
            <a:r>
              <a:rPr lang="en-US" sz="2800" dirty="0" smtClean="0"/>
              <a:t> H Mass (total): 10</a:t>
            </a:r>
            <a:r>
              <a:rPr lang="en-US" sz="2800" baseline="30000" dirty="0" smtClean="0"/>
              <a:t>5</a:t>
            </a:r>
            <a:r>
              <a:rPr lang="en-US" sz="2800" dirty="0" smtClean="0"/>
              <a:t>-10</a:t>
            </a:r>
            <a:r>
              <a:rPr lang="en-US" sz="2800" baseline="30000" dirty="0" smtClean="0"/>
              <a:t>7</a:t>
            </a:r>
            <a:r>
              <a:rPr lang="en-US" sz="2800" dirty="0" smtClean="0"/>
              <a:t> </a:t>
            </a:r>
            <a:r>
              <a:rPr lang="en-US" sz="2800" dirty="0" err="1" smtClean="0"/>
              <a:t>M</a:t>
            </a:r>
            <a:r>
              <a:rPr lang="en-US" sz="2800" baseline="-25000" dirty="0" err="1" smtClean="0"/>
              <a:t>sun</a:t>
            </a:r>
            <a:r>
              <a:rPr lang="en-US" sz="2800" baseline="-25000" dirty="0" smtClean="0"/>
              <a:t> </a:t>
            </a:r>
            <a:r>
              <a:rPr lang="en-US" sz="2800" dirty="0" smtClean="0"/>
              <a:t> (but mostly ionized?)</a:t>
            </a:r>
          </a:p>
          <a:p>
            <a:pPr>
              <a:buFont typeface="Arial"/>
              <a:buChar char="•"/>
            </a:pPr>
            <a:r>
              <a:rPr lang="en-US" sz="2800" dirty="0" smtClean="0"/>
              <a:t> H Mass of the core (few 100 pc): 10</a:t>
            </a:r>
            <a:r>
              <a:rPr lang="en-US" sz="2800" baseline="30000" dirty="0" smtClean="0"/>
              <a:t>3</a:t>
            </a:r>
            <a:r>
              <a:rPr lang="en-US" sz="2800" dirty="0" smtClean="0"/>
              <a:t>-10</a:t>
            </a:r>
            <a:r>
              <a:rPr lang="en-US" sz="2800" baseline="30000" dirty="0" smtClean="0"/>
              <a:t>5</a:t>
            </a:r>
            <a:r>
              <a:rPr lang="en-US" sz="2800" dirty="0" smtClean="0">
                <a:solidFill>
                  <a:srgbClr val="000000"/>
                </a:solidFill>
              </a:rPr>
              <a:t>M</a:t>
            </a:r>
            <a:r>
              <a:rPr lang="en-US" sz="2800" baseline="-25000" dirty="0" smtClean="0">
                <a:solidFill>
                  <a:srgbClr val="000000"/>
                </a:solidFill>
              </a:rPr>
              <a:t>sun</a:t>
            </a:r>
          </a:p>
          <a:p>
            <a:pPr>
              <a:buFont typeface="Arial"/>
              <a:buChar char="•"/>
            </a:pPr>
            <a:endParaRPr lang="en-US" sz="2800" baseline="-25000" dirty="0" smtClean="0">
              <a:solidFill>
                <a:srgbClr val="000000"/>
              </a:solidFill>
            </a:endParaRPr>
          </a:p>
          <a:p>
            <a:pPr>
              <a:buFont typeface="Arial"/>
              <a:buChar char="•"/>
            </a:pPr>
            <a:r>
              <a:rPr lang="en-US" sz="2800" dirty="0" smtClean="0">
                <a:solidFill>
                  <a:srgbClr val="000000"/>
                </a:solidFill>
              </a:rPr>
              <a:t> We do not know yet their number per square degree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1F497D"/>
                </a:solidFill>
              </a:rPr>
              <a:t>Summary</a:t>
            </a:r>
            <a:endParaRPr lang="en-US" b="1" dirty="0">
              <a:solidFill>
                <a:srgbClr val="1F497D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>
            <a:normAutofit fontScale="92500" lnSpcReduction="10000"/>
          </a:bodyPr>
          <a:lstStyle/>
          <a:p>
            <a:pPr>
              <a:buClr>
                <a:schemeClr val="accent2">
                  <a:lumMod val="75000"/>
                </a:schemeClr>
              </a:buClr>
              <a:buFont typeface="Wingdings" charset="2"/>
              <a:buChar char="ü"/>
            </a:pPr>
            <a:r>
              <a:rPr lang="en-US" dirty="0" smtClean="0"/>
              <a:t>Found pre-</a:t>
            </a:r>
            <a:r>
              <a:rPr lang="en-US" dirty="0" err="1" smtClean="0"/>
              <a:t>reionization</a:t>
            </a:r>
            <a:r>
              <a:rPr lang="en-US" dirty="0" smtClean="0"/>
              <a:t> fossils in the Local Group?</a:t>
            </a:r>
          </a:p>
          <a:p>
            <a:pPr>
              <a:buClr>
                <a:schemeClr val="accent2">
                  <a:lumMod val="75000"/>
                </a:schemeClr>
              </a:buClr>
              <a:buFont typeface="Wingdings" charset="2"/>
              <a:buChar char="ü"/>
            </a:pPr>
            <a:r>
              <a:rPr lang="en-US" dirty="0" err="1" smtClean="0"/>
              <a:t>Revisitation</a:t>
            </a:r>
            <a:r>
              <a:rPr lang="en-US" dirty="0" smtClean="0"/>
              <a:t> of </a:t>
            </a:r>
            <a:r>
              <a:rPr lang="en-US" dirty="0" err="1" smtClean="0"/>
              <a:t>reionization</a:t>
            </a:r>
            <a:r>
              <a:rPr lang="en-US" dirty="0" smtClean="0"/>
              <a:t> feedback on formation of dwarf galaxies</a:t>
            </a:r>
          </a:p>
          <a:p>
            <a:pPr>
              <a:buFont typeface="Courier New"/>
              <a:buChar char="o"/>
            </a:pPr>
            <a:r>
              <a:rPr lang="en-US" dirty="0" smtClean="0">
                <a:solidFill>
                  <a:srgbClr val="000000"/>
                </a:solidFill>
              </a:rPr>
              <a:t>M</a:t>
            </a:r>
            <a:r>
              <a:rPr lang="en-US" dirty="0" smtClean="0"/>
              <a:t>ini-halos with </a:t>
            </a:r>
            <a:r>
              <a:rPr lang="en-US" dirty="0" err="1" smtClean="0"/>
              <a:t>v</a:t>
            </a:r>
            <a:r>
              <a:rPr lang="en-US" baseline="-25000" dirty="0" err="1" smtClean="0"/>
              <a:t>cir</a:t>
            </a:r>
            <a:r>
              <a:rPr lang="en-US" dirty="0" smtClean="0"/>
              <a:t>&lt; 20 km/</a:t>
            </a:r>
            <a:r>
              <a:rPr lang="en-US" dirty="0" err="1" smtClean="0"/>
              <a:t>s</a:t>
            </a:r>
            <a:r>
              <a:rPr lang="en-US" dirty="0" smtClean="0"/>
              <a:t> stop accreting gas after </a:t>
            </a:r>
            <a:r>
              <a:rPr lang="en-US" dirty="0" err="1" smtClean="0"/>
              <a:t>reionization</a:t>
            </a:r>
            <a:r>
              <a:rPr lang="en-US" dirty="0" smtClean="0"/>
              <a:t> but, if they evolve in isolation, have a recent (</a:t>
            </a:r>
            <a:r>
              <a:rPr lang="en-US" dirty="0" err="1" smtClean="0"/>
              <a:t>z</a:t>
            </a:r>
            <a:r>
              <a:rPr lang="en-US" dirty="0" smtClean="0"/>
              <a:t>&lt;1-2) phase of accretion from IGM and star formation</a:t>
            </a:r>
          </a:p>
          <a:p>
            <a:pPr marL="971550" lvl="1" indent="-514350">
              <a:buClr>
                <a:schemeClr val="accent2">
                  <a:lumMod val="75000"/>
                </a:schemeClr>
              </a:buClr>
              <a:buFont typeface="+mj-lt"/>
              <a:buAutoNum type="arabicParenR"/>
            </a:pPr>
            <a:r>
              <a:rPr lang="en-US" dirty="0" smtClean="0"/>
              <a:t>Pre-</a:t>
            </a:r>
            <a:r>
              <a:rPr lang="en-US" dirty="0" err="1" smtClean="0"/>
              <a:t>reionization</a:t>
            </a:r>
            <a:r>
              <a:rPr lang="en-US" dirty="0" smtClean="0"/>
              <a:t> fossils may have bimodal SFH</a:t>
            </a:r>
          </a:p>
          <a:p>
            <a:pPr marL="971550" lvl="1" indent="-514350">
              <a:buClr>
                <a:schemeClr val="accent2">
                  <a:lumMod val="75000"/>
                </a:schemeClr>
              </a:buClr>
              <a:buFont typeface="+mj-lt"/>
              <a:buAutoNum type="arabicParenR"/>
            </a:pPr>
            <a:r>
              <a:rPr lang="en-US" dirty="0" smtClean="0"/>
              <a:t>Dark mini-halos may accrete gas for the first time at </a:t>
            </a:r>
            <a:r>
              <a:rPr lang="en-US" dirty="0" err="1" smtClean="0"/>
              <a:t>z</a:t>
            </a:r>
            <a:r>
              <a:rPr lang="en-US" dirty="0" smtClean="0"/>
              <a:t>&lt;1. Compact </a:t>
            </a:r>
            <a:r>
              <a:rPr lang="en-US" dirty="0" err="1" smtClean="0"/>
              <a:t>HVCs</a:t>
            </a:r>
            <a:r>
              <a:rPr lang="en-US" dirty="0" smtClean="0"/>
              <a:t> or undiscovered population?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1F497D"/>
                </a:solidFill>
              </a:rPr>
              <a:t>Future work</a:t>
            </a:r>
            <a:endParaRPr lang="en-US" b="1" dirty="0">
              <a:solidFill>
                <a:srgbClr val="1F497D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Work on testing the model versus known compact HVC population </a:t>
            </a:r>
          </a:p>
          <a:p>
            <a:r>
              <a:rPr lang="en-US" dirty="0" smtClean="0"/>
              <a:t>Zero </a:t>
            </a:r>
            <a:r>
              <a:rPr lang="en-US" dirty="0" err="1" smtClean="0"/>
              <a:t>metallicity</a:t>
            </a:r>
            <a:r>
              <a:rPr lang="en-US" dirty="0" smtClean="0"/>
              <a:t> star formation at </a:t>
            </a:r>
            <a:r>
              <a:rPr lang="en-US" dirty="0" err="1" smtClean="0"/>
              <a:t>z</a:t>
            </a:r>
            <a:r>
              <a:rPr lang="en-US" dirty="0" smtClean="0"/>
              <a:t>=0?</a:t>
            </a:r>
          </a:p>
          <a:p>
            <a:r>
              <a:rPr lang="en-US" dirty="0" smtClean="0"/>
              <a:t>Simulated maps of the distribution of gas rich mini-halos around the Milky Way in 21cm and H-alpha emission (including simulated maps with ALFALFA sensitivity and resolution)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>
                <a:solidFill>
                  <a:schemeClr val="accent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pple Chancery" pitchFamily="15" charset="0"/>
              </a:rPr>
              <a:t>Luminosity Functions</a:t>
            </a:r>
            <a:endParaRPr lang="en-US">
              <a:solidFill>
                <a:schemeClr val="accent2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 Black" pitchFamily="15" charset="0"/>
            </a:endParaRPr>
          </a:p>
        </p:txBody>
      </p:sp>
      <p:pic>
        <p:nvPicPr>
          <p:cNvPr id="306189" name="Picture 13" descr="LF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990600"/>
            <a:ext cx="9144000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6192" name="Picture 16" descr="L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990600"/>
            <a:ext cx="9144000" cy="5867400"/>
          </a:xfrm>
          <a:prstGeom prst="rect">
            <a:avLst/>
          </a:prstGeom>
          <a:noFill/>
        </p:spPr>
      </p:pic>
      <p:sp>
        <p:nvSpPr>
          <p:cNvPr id="306182" name="Line 6"/>
          <p:cNvSpPr>
            <a:spLocks noChangeShapeType="1"/>
          </p:cNvSpPr>
          <p:nvPr/>
        </p:nvSpPr>
        <p:spPr bwMode="auto">
          <a:xfrm>
            <a:off x="4724400" y="1524000"/>
            <a:ext cx="0" cy="2819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182880" tIns="91440" rIns="182880" bIns="91440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6183" name="Line 7"/>
          <p:cNvSpPr>
            <a:spLocks noChangeShapeType="1"/>
          </p:cNvSpPr>
          <p:nvPr/>
        </p:nvSpPr>
        <p:spPr bwMode="auto">
          <a:xfrm>
            <a:off x="4724400" y="32004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lIns="182880" tIns="91440" rIns="182880" bIns="91440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6184" name="Text Box 8"/>
          <p:cNvSpPr txBox="1">
            <a:spLocks noChangeArrowheads="1"/>
          </p:cNvSpPr>
          <p:nvPr/>
        </p:nvSpPr>
        <p:spPr bwMode="auto">
          <a:xfrm>
            <a:off x="5257800" y="2895600"/>
            <a:ext cx="776288" cy="649288"/>
          </a:xfrm>
          <a:prstGeom prst="rect">
            <a:avLst/>
          </a:prstGeom>
          <a:solidFill>
            <a:schemeClr val="hlink">
              <a:alpha val="30000"/>
            </a:schemeClr>
          </a:solidFill>
          <a:ln w="381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182880" tIns="91440" rIns="182880" bIns="91440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2800">
                <a:latin typeface="Arial Narrow" pitchFamily="15" charset="0"/>
              </a:rPr>
              <a:t>Ok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1981200" y="3352800"/>
            <a:ext cx="3741738" cy="2311400"/>
            <a:chOff x="86" y="1536"/>
            <a:chExt cx="2713" cy="2602"/>
          </a:xfrm>
        </p:grpSpPr>
        <p:sp>
          <p:nvSpPr>
            <p:cNvPr id="306186" name="Line 10"/>
            <p:cNvSpPr>
              <a:spLocks noChangeShapeType="1"/>
            </p:cNvSpPr>
            <p:nvPr/>
          </p:nvSpPr>
          <p:spPr bwMode="auto">
            <a:xfrm flipV="1">
              <a:off x="1680" y="1536"/>
              <a:ext cx="0" cy="43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lIns="182880" tIns="91440" rIns="182880" bIns="91440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306187" name="Line 11"/>
            <p:cNvSpPr>
              <a:spLocks noChangeShapeType="1"/>
            </p:cNvSpPr>
            <p:nvPr/>
          </p:nvSpPr>
          <p:spPr bwMode="auto">
            <a:xfrm flipH="1">
              <a:off x="1344" y="1728"/>
              <a:ext cx="336" cy="12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182880" tIns="91440" rIns="182880" bIns="91440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306188" name="Text Box 12"/>
            <p:cNvSpPr txBox="1">
              <a:spLocks noChangeArrowheads="1"/>
            </p:cNvSpPr>
            <p:nvPr/>
          </p:nvSpPr>
          <p:spPr bwMode="auto">
            <a:xfrm>
              <a:off x="86" y="2926"/>
              <a:ext cx="2713" cy="121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lIns="182880" tIns="91440" rIns="182880" bIns="9144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2800">
                  <a:latin typeface="Arial Narrow" pitchFamily="15" charset="0"/>
                </a:rPr>
                <a:t>Missing satellites problem</a:t>
              </a:r>
            </a:p>
            <a:p>
              <a:pPr eaLnBrk="1" hangingPunct="1"/>
              <a:r>
                <a:rPr lang="en-US" sz="2800">
                  <a:latin typeface="Arial Narrow" pitchFamily="15" charset="0"/>
                </a:rPr>
                <a:t>revisited</a:t>
              </a:r>
            </a:p>
          </p:txBody>
        </p:sp>
      </p:grpSp>
      <p:sp>
        <p:nvSpPr>
          <p:cNvPr id="306197" name="Text Box 21"/>
          <p:cNvSpPr txBox="1">
            <a:spLocks noChangeArrowheads="1"/>
          </p:cNvSpPr>
          <p:nvPr/>
        </p:nvSpPr>
        <p:spPr bwMode="auto">
          <a:xfrm>
            <a:off x="6477000" y="3200400"/>
            <a:ext cx="2438400" cy="860425"/>
          </a:xfrm>
          <a:prstGeom prst="rect">
            <a:avLst/>
          </a:prstGeom>
          <a:solidFill>
            <a:srgbClr val="FF6600">
              <a:alpha val="30000"/>
            </a:srgbClr>
          </a:solidFill>
          <a:ln w="381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Let’s include the new dwarfs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6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6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06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7" dur="500"/>
                                        <p:tgtEl>
                                          <p:spTgt spid="306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306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5" dur="500"/>
                                        <p:tgtEl>
                                          <p:spTgt spid="3061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06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06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182" grpId="0" animBg="1"/>
      <p:bldP spid="306182" grpId="1" animBg="1"/>
      <p:bldP spid="306183" grpId="0" animBg="1"/>
      <p:bldP spid="306183" grpId="1" animBg="1"/>
      <p:bldP spid="306184" grpId="0" animBg="1"/>
      <p:bldP spid="306184" grpId="1" animBg="1"/>
      <p:bldP spid="30619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gas is isothermal:</a:t>
            </a:r>
          </a:p>
          <a:p>
            <a:endParaRPr lang="en-US" dirty="0"/>
          </a:p>
        </p:txBody>
      </p:sp>
      <p:graphicFrame>
        <p:nvGraphicFramePr>
          <p:cNvPr id="60418" name="Object 2"/>
          <p:cNvGraphicFramePr>
            <a:graphicFrameLocks noChangeAspect="1"/>
          </p:cNvGraphicFramePr>
          <p:nvPr/>
        </p:nvGraphicFramePr>
        <p:xfrm>
          <a:off x="838200" y="2997959"/>
          <a:ext cx="7696200" cy="662830"/>
        </p:xfrm>
        <a:graphic>
          <a:graphicData uri="http://schemas.openxmlformats.org/presentationml/2006/ole">
            <p:oleObj spid="_x0000_s60418" name="Equation" r:id="rId3" imgW="2654300" imgH="2286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13643</TotalTime>
  <Words>1562</Words>
  <Application>Microsoft Macintosh PowerPoint</Application>
  <PresentationFormat>On-screen Show (4:3)</PresentationFormat>
  <Paragraphs>213</Paragraphs>
  <Slides>40</Slides>
  <Notes>10</Notes>
  <HiddenSlides>1</HiddenSlides>
  <MMClips>1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2" baseType="lpstr">
      <vt:lpstr>Office Theme</vt:lpstr>
      <vt:lpstr>Equation</vt:lpstr>
      <vt:lpstr>Late gas accretion onto primordial mini-halos  a model for pre-reionization dwarfs and extragalactic  compact High-Velocity Clouds </vt:lpstr>
      <vt:lpstr>Slide 2</vt:lpstr>
      <vt:lpstr>INTRO The First Galaxies: important questions</vt:lpstr>
      <vt:lpstr>Reionization feedback:</vt:lpstr>
      <vt:lpstr>After reionization star formation in mini-halos stops: passive stellar  evolution</vt:lpstr>
      <vt:lpstr>Definition: “pre-reionization” dwarfs</vt:lpstr>
      <vt:lpstr>Two Different views:</vt:lpstr>
      <vt:lpstr>Slide 8</vt:lpstr>
      <vt:lpstr>Slide 9</vt:lpstr>
      <vt:lpstr>Positive Feedback regions</vt:lpstr>
      <vt:lpstr>Net Positive or Negative Feedback?</vt:lpstr>
      <vt:lpstr>Simulations of the first galaxies</vt:lpstr>
      <vt:lpstr>Feedback: photo-heating winds</vt:lpstr>
      <vt:lpstr>Slide 14</vt:lpstr>
      <vt:lpstr>“Dark galaxies”</vt:lpstr>
      <vt:lpstr>Pre-reionization fossils and ultra-faint dSphs: a model prediction!</vt:lpstr>
      <vt:lpstr>Slide 17</vt:lpstr>
      <vt:lpstr>Luminosity-metallicity relation</vt:lpstr>
      <vt:lpstr>Slide 19</vt:lpstr>
      <vt:lpstr>Metallicity</vt:lpstr>
      <vt:lpstr>Problem with stellar populations and abundance patterns</vt:lpstr>
      <vt:lpstr>Can reionization suppress star formation in mini-halos forever?</vt:lpstr>
      <vt:lpstr>The puzzle of Leo T</vt:lpstr>
      <vt:lpstr>Revisiting gas accretion onto mini-halos</vt:lpstr>
      <vt:lpstr>Message to take home</vt:lpstr>
      <vt:lpstr>…. some details </vt:lpstr>
      <vt:lpstr>Evidence 1: Evolution of the IGM temperature (from observations of the Lyman-alpha forest)</vt:lpstr>
      <vt:lpstr>Evidence 2: Dark Halo Concentration</vt:lpstr>
      <vt:lpstr>Gas density profile in NFW potential</vt:lpstr>
      <vt:lpstr>Late gas accretion onto mini-halos</vt:lpstr>
      <vt:lpstr>Slide 31</vt:lpstr>
      <vt:lpstr>Mini-halos with gas and no stars  (comp. HVC?)</vt:lpstr>
      <vt:lpstr>Star forming mini-halos at z=0 and z=2</vt:lpstr>
      <vt:lpstr>More on properties of accreted gas </vt:lpstr>
      <vt:lpstr>Compact HVCs or unknown population?</vt:lpstr>
      <vt:lpstr>Slide 36</vt:lpstr>
      <vt:lpstr>Summary</vt:lpstr>
      <vt:lpstr>Future work</vt:lpstr>
      <vt:lpstr>Luminosity Functions</vt:lpstr>
      <vt:lpstr>Slide 40</vt:lpstr>
    </vt:vector>
  </TitlesOfParts>
  <Company>U of Maryland</Company>
  <LinksUpToDate>false</LinksUpToDate>
  <SharedDoc>false</SharedDoc>
  <HyperlinksChanged>false</HyperlinksChanged>
  <AppVersion>12.0258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Massimo Ricotti</dc:creator>
  <cp:lastModifiedBy>Massimo Ricotti</cp:lastModifiedBy>
  <cp:revision>88</cp:revision>
  <dcterms:created xsi:type="dcterms:W3CDTF">2008-09-26T12:01:25Z</dcterms:created>
  <dcterms:modified xsi:type="dcterms:W3CDTF">2008-09-26T21:26:56Z</dcterms:modified>
</cp:coreProperties>
</file>