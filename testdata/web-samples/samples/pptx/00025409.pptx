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Lst>
  <p:notesMasterIdLst>
    <p:notesMasterId r:id="rId29"/>
  </p:notesMasterIdLst>
  <p:sldIdLst>
    <p:sldId id="256" r:id="rId2"/>
    <p:sldId id="263" r:id="rId3"/>
    <p:sldId id="261" r:id="rId4"/>
    <p:sldId id="264" r:id="rId5"/>
    <p:sldId id="265" r:id="rId6"/>
    <p:sldId id="266" r:id="rId7"/>
    <p:sldId id="269" r:id="rId8"/>
    <p:sldId id="271" r:id="rId9"/>
    <p:sldId id="272" r:id="rId10"/>
    <p:sldId id="267" r:id="rId11"/>
    <p:sldId id="268" r:id="rId12"/>
    <p:sldId id="257" r:id="rId13"/>
    <p:sldId id="258" r:id="rId14"/>
    <p:sldId id="259" r:id="rId15"/>
    <p:sldId id="260" r:id="rId16"/>
    <p:sldId id="262" r:id="rId17"/>
    <p:sldId id="273" r:id="rId18"/>
    <p:sldId id="274" r:id="rId19"/>
    <p:sldId id="275" r:id="rId20"/>
    <p:sldId id="276" r:id="rId21"/>
    <p:sldId id="277" r:id="rId22"/>
    <p:sldId id="278" r:id="rId23"/>
    <p:sldId id="279" r:id="rId24"/>
    <p:sldId id="280" r:id="rId25"/>
    <p:sldId id="281" r:id="rId26"/>
    <p:sldId id="282" r:id="rId27"/>
    <p:sldId id="283"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410" autoAdjust="0"/>
  </p:normalViewPr>
  <p:slideViewPr>
    <p:cSldViewPr>
      <p:cViewPr varScale="1">
        <p:scale>
          <a:sx n="57" d="100"/>
          <a:sy n="57" d="100"/>
        </p:scale>
        <p:origin x="-1210"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4D630E-2812-42FF-A4F3-065BFE0B2B9D}" type="datetimeFigureOut">
              <a:rPr lang="en-CA" smtClean="0"/>
              <a:t>02/04/2012</a:t>
            </a:fld>
            <a:endParaRPr lang="en-CA"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A35B11-B24D-4050-A234-F0B1128C83B5}" type="slidenum">
              <a:rPr lang="en-CA" smtClean="0"/>
              <a:t>‹#›</a:t>
            </a:fld>
            <a:endParaRPr lang="en-CA" dirty="0"/>
          </a:p>
        </p:txBody>
      </p:sp>
    </p:spTree>
    <p:extLst>
      <p:ext uri="{BB962C8B-B14F-4D97-AF65-F5344CB8AC3E}">
        <p14:creationId xmlns:p14="http://schemas.microsoft.com/office/powerpoint/2010/main" val="3506411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At the Australian Positive Psychology Conference, at the end of a symposium on Positive</a:t>
            </a:r>
            <a:r>
              <a:rPr lang="en-CA" baseline="0" dirty="0" smtClean="0"/>
              <a:t> Education, I raised one question: “If you can put aside Marty Seligman, Chris Peterson, and the Positive Psychology Movement associated with University of Pennsylvania, what would be the three most important values you want to instill in your children and students?” </a:t>
            </a:r>
          </a:p>
          <a:p>
            <a:endParaRPr lang="en-CA" baseline="0" dirty="0" smtClean="0"/>
          </a:p>
          <a:p>
            <a:r>
              <a:rPr lang="en-CA" baseline="0" dirty="0" smtClean="0"/>
              <a:t>One presenter stood up immediately to answer my question: “According to Chris Peterson, other people matter. This is the first value. According to Chris Peterson and Marty Seligman, the second important value is to discover their signature strengths. The third value according to Marty Seligman is to use their signature strengths to serve something bigger than themselves.” </a:t>
            </a:r>
          </a:p>
          <a:p>
            <a:endParaRPr lang="en-CA" baseline="0" dirty="0" smtClean="0"/>
          </a:p>
          <a:p>
            <a:r>
              <a:rPr lang="en-CA" baseline="0" dirty="0" smtClean="0"/>
              <a:t>I shook my head and said: “But you did not answer my question. I was interested in your personal opinion as a parent and a teacher.” Sadly, his mind was so dominated by Marty Seligman’s brand of Positive Psychology that he could only give stock answers as a parrot and he was not able to use his own critical faculty and give me an answer based on his own values, experiences, and convictions. </a:t>
            </a:r>
          </a:p>
          <a:p>
            <a:endParaRPr lang="en-CA" baseline="0" dirty="0" smtClean="0"/>
          </a:p>
          <a:p>
            <a:r>
              <a:rPr lang="en-CA" baseline="0" dirty="0" smtClean="0"/>
              <a:t>My main purpose for this workshop is to make the point that Positive Psychology is bigger than Marty Seligman and Positive Education did not begin with Marty Seligman. I want to present an alternative vision to broaden your horizon on the meaning of Positive Education. </a:t>
            </a:r>
            <a:endParaRPr lang="en-CA" dirty="0"/>
          </a:p>
        </p:txBody>
      </p:sp>
      <p:sp>
        <p:nvSpPr>
          <p:cNvPr id="4" name="Slide Number Placeholder 3"/>
          <p:cNvSpPr>
            <a:spLocks noGrp="1"/>
          </p:cNvSpPr>
          <p:nvPr>
            <p:ph type="sldNum" sz="quarter" idx="10"/>
          </p:nvPr>
        </p:nvSpPr>
        <p:spPr/>
        <p:txBody>
          <a:bodyPr/>
          <a:lstStyle/>
          <a:p>
            <a:fld id="{29A35B11-B24D-4050-A234-F0B1128C83B5}" type="slidenum">
              <a:rPr lang="en-CA" smtClean="0"/>
              <a:t>1</a:t>
            </a:fld>
            <a:endParaRPr lang="en-CA" dirty="0"/>
          </a:p>
        </p:txBody>
      </p:sp>
    </p:spTree>
    <p:extLst>
      <p:ext uri="{BB962C8B-B14F-4D97-AF65-F5344CB8AC3E}">
        <p14:creationId xmlns:p14="http://schemas.microsoft.com/office/powerpoint/2010/main" val="1639944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29A35B11-B24D-4050-A234-F0B1128C83B5}" type="slidenum">
              <a:rPr lang="en-CA" smtClean="0"/>
              <a:t>2</a:t>
            </a:fld>
            <a:endParaRPr lang="en-CA" dirty="0"/>
          </a:p>
        </p:txBody>
      </p:sp>
    </p:spTree>
    <p:extLst>
      <p:ext uri="{BB962C8B-B14F-4D97-AF65-F5344CB8AC3E}">
        <p14:creationId xmlns:p14="http://schemas.microsoft.com/office/powerpoint/2010/main" val="2555102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95" name="Group 94"/>
          <p:cNvGrpSpPr/>
          <p:nvPr/>
        </p:nvGrpSpPr>
        <p:grpSpPr>
          <a:xfrm>
            <a:off x="0" y="-30477"/>
            <a:ext cx="9067800" cy="6889273"/>
            <a:chOff x="0" y="-30477"/>
            <a:chExt cx="9067800" cy="6889273"/>
          </a:xfrm>
        </p:grpSpPr>
        <p:cxnSp>
          <p:nvCxnSpPr>
            <p:cNvPr id="110" name="Straight Connector 109"/>
            <p:cNvCxnSpPr/>
            <p:nvPr/>
          </p:nvCxnSpPr>
          <p:spPr>
            <a:xfrm rot="16200000" flipH="1">
              <a:off x="-14478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rot="16200000" flipH="1">
              <a:off x="-16383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rot="5400000">
              <a:off x="-14859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rot="5400000">
              <a:off x="-3238500" y="3314700"/>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rot="16200000" flipH="1">
              <a:off x="-3314700" y="3314700"/>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rot="16200000" flipH="1">
              <a:off x="-1371600" y="2971800"/>
              <a:ext cx="6858000" cy="9144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rot="16200000" flipH="1">
              <a:off x="-2819400" y="3200400"/>
              <a:ext cx="6858000"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rot="5400000">
              <a:off x="-2705099" y="3238500"/>
              <a:ext cx="6858000"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rot="16200000" flipH="1">
              <a:off x="-2133600" y="3200400"/>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rot="16200000" flipH="1">
              <a:off x="-31242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rot="16200000" flipH="1">
              <a:off x="-1828799" y="3352799"/>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rot="16200000" flipH="1">
              <a:off x="-28194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rot="16200000" flipH="1">
              <a:off x="-2438400" y="3124200"/>
              <a:ext cx="6858000" cy="609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rot="5400000">
              <a:off x="-1731645" y="2722245"/>
              <a:ext cx="6858000"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rot="5400000">
              <a:off x="-1142048" y="3277552"/>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rot="5400000">
              <a:off x="-9144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rot="5400000">
              <a:off x="-1855470" y="3227070"/>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rot="16200000" flipH="1">
              <a:off x="-2643187" y="3252788"/>
              <a:ext cx="6858000"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rot="16200000" flipH="1">
              <a:off x="-1954530" y="3326130"/>
              <a:ext cx="6858000" cy="20574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rot="16200000" flipH="1">
              <a:off x="-23622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rot="16200000" flipH="1">
              <a:off x="-21336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rot="16200000" flipH="1">
              <a:off x="10668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a:xfrm rot="16200000" flipH="1">
              <a:off x="8763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rot="5400000">
              <a:off x="1028700" y="3238500"/>
              <a:ext cx="6858000" cy="3810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rot="5400000">
              <a:off x="-723900" y="3314700"/>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rot="16200000" flipH="1">
              <a:off x="-800100" y="3314700"/>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rot="5400000">
              <a:off x="-152400" y="3429000"/>
              <a:ext cx="6858000"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rot="16200000" flipH="1">
              <a:off x="-304800" y="3200400"/>
              <a:ext cx="6858000" cy="4572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rot="5400000">
              <a:off x="-190499" y="3238500"/>
              <a:ext cx="6858000" cy="3810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rot="16200000" flipH="1">
              <a:off x="381000" y="3200400"/>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p:cNvCxnSpPr/>
            <p:nvPr/>
          </p:nvCxnSpPr>
          <p:spPr>
            <a:xfrm rot="16200000" flipH="1">
              <a:off x="-6096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p:nvCxnSpPr>
          <p:spPr>
            <a:xfrm rot="16200000" flipH="1">
              <a:off x="685801" y="3352799"/>
              <a:ext cx="6858000" cy="152401"/>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p:cNvCxnSpPr/>
            <p:nvPr/>
          </p:nvCxnSpPr>
          <p:spPr>
            <a:xfrm rot="16200000" flipH="1">
              <a:off x="-3048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p:nvCxnSpPr>
          <p:spPr>
            <a:xfrm rot="5400000">
              <a:off x="-1028700" y="3314700"/>
              <a:ext cx="6858000"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rot="5400000">
              <a:off x="782955" y="2722245"/>
              <a:ext cx="6858000"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rot="5400000">
              <a:off x="1372552" y="3277552"/>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25" name="Straight Connector 224"/>
            <p:cNvCxnSpPr/>
            <p:nvPr/>
          </p:nvCxnSpPr>
          <p:spPr>
            <a:xfrm rot="5400000">
              <a:off x="16002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p:nvCxnSpPr>
          <p:spPr>
            <a:xfrm rot="5400000">
              <a:off x="659130" y="3227070"/>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7" name="Straight Connector 226"/>
            <p:cNvCxnSpPr/>
            <p:nvPr/>
          </p:nvCxnSpPr>
          <p:spPr>
            <a:xfrm rot="16200000" flipH="1">
              <a:off x="-128587" y="3252788"/>
              <a:ext cx="6858000"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p:nvCxnSpPr>
          <p:spPr>
            <a:xfrm rot="16200000" flipH="1">
              <a:off x="560070" y="3326130"/>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9" name="Straight Connector 228"/>
            <p:cNvCxnSpPr/>
            <p:nvPr/>
          </p:nvCxnSpPr>
          <p:spPr>
            <a:xfrm rot="16200000" flipH="1">
              <a:off x="1524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p:nvCxnSpPr>
          <p:spPr>
            <a:xfrm rot="16200000" flipH="1">
              <a:off x="3810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rot="16200000" flipH="1">
              <a:off x="2743200" y="3352801"/>
              <a:ext cx="6858000" cy="1524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rot="16200000" flipH="1">
              <a:off x="2095501" y="3238501"/>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9" name="Straight Connector 238"/>
            <p:cNvCxnSpPr/>
            <p:nvPr/>
          </p:nvCxnSpPr>
          <p:spPr>
            <a:xfrm rot="5400000">
              <a:off x="2705100" y="3238501"/>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p:nvCxnSpPr>
          <p:spPr>
            <a:xfrm rot="5400000">
              <a:off x="1828801" y="3276600"/>
              <a:ext cx="6857999" cy="3048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p:nvCxnSpPr>
          <p:spPr>
            <a:xfrm rot="16200000" flipH="1">
              <a:off x="1066800" y="3200402"/>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rot="16200000" flipH="1">
              <a:off x="2362201" y="3352800"/>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rot="5400000">
              <a:off x="2646045" y="2722246"/>
              <a:ext cx="6858000" cy="1413510"/>
            </a:xfrm>
            <a:prstGeom prst="line">
              <a:avLst/>
            </a:prstGeom>
            <a:ln>
              <a:solidFill>
                <a:schemeClr val="accent1">
                  <a:alpha val="56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rot="5400000">
              <a:off x="3048952" y="3277553"/>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rot="5400000">
              <a:off x="2895600" y="3276601"/>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rot="5400000">
              <a:off x="2388870" y="3227071"/>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rot="16200000" flipH="1">
              <a:off x="2236470" y="3326131"/>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rot="16200000" flipH="1">
              <a:off x="1752600" y="3352801"/>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rot="16200000" flipH="1">
              <a:off x="19812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rot="5400000">
              <a:off x="3467100" y="3314701"/>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rot="16200000" flipH="1">
              <a:off x="3467099" y="3314701"/>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2" name="Straight Connector 251"/>
            <p:cNvCxnSpPr/>
            <p:nvPr/>
          </p:nvCxnSpPr>
          <p:spPr>
            <a:xfrm rot="5400000">
              <a:off x="4038600" y="3429001"/>
              <a:ext cx="6858000"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rot="16200000" flipH="1">
              <a:off x="3886200" y="3200401"/>
              <a:ext cx="6858000"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rot="5400000">
              <a:off x="4000501" y="3238501"/>
              <a:ext cx="6858000"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rot="16200000" flipH="1">
              <a:off x="4572000" y="3200401"/>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rot="16200000" flipH="1">
              <a:off x="37338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rot="5400000">
              <a:off x="3619500" y="3314700"/>
              <a:ext cx="6858000"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rot="16200000" flipH="1">
              <a:off x="4214813" y="3252788"/>
              <a:ext cx="6858000"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p:cNvCxnSpPr/>
            <p:nvPr/>
          </p:nvCxnSpPr>
          <p:spPr>
            <a:xfrm rot="16200000" flipH="1">
              <a:off x="4751070" y="3326131"/>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p:nvCxnSpPr>
          <p:spPr>
            <a:xfrm rot="16200000" flipH="1">
              <a:off x="4343400" y="3352801"/>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rot="16200000" flipH="1">
              <a:off x="4572000" y="3352801"/>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rot="16200000" flipH="1">
              <a:off x="5257800" y="3352802"/>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p:nvCxnSpPr>
          <p:spPr>
            <a:xfrm rot="16200000" flipH="1">
              <a:off x="5067300" y="3238502"/>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rot="5400000">
              <a:off x="5219700" y="3238502"/>
              <a:ext cx="6858000" cy="3810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p:nvCxnSpPr>
          <p:spPr>
            <a:xfrm rot="16200000" flipH="1">
              <a:off x="4876801" y="3352801"/>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p:nvCxnSpPr>
          <p:spPr>
            <a:xfrm rot="5400000">
              <a:off x="5527994" y="3318196"/>
              <a:ext cx="6888479" cy="191133"/>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rot="5400000">
              <a:off x="4850130" y="3227072"/>
              <a:ext cx="6858000" cy="40386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rot="16200000" flipH="1">
              <a:off x="4751070" y="3326132"/>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8" name="Straight Connector 277"/>
            <p:cNvCxnSpPr/>
            <p:nvPr/>
          </p:nvCxnSpPr>
          <p:spPr>
            <a:xfrm rot="5400000">
              <a:off x="5562599" y="3429001"/>
              <a:ext cx="6858002" cy="1588"/>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p:cNvCxnSpPr/>
            <p:nvPr/>
          </p:nvCxnSpPr>
          <p:spPr>
            <a:xfrm rot="5400000">
              <a:off x="2552700" y="3390900"/>
              <a:ext cx="6858000" cy="76200"/>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p:cNvCxnSpPr/>
            <p:nvPr/>
          </p:nvCxnSpPr>
          <p:spPr>
            <a:xfrm rot="16200000" flipH="1">
              <a:off x="3048000" y="3352800"/>
              <a:ext cx="6858000" cy="1524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p:nvCxnSpPr>
          <p:spPr>
            <a:xfrm rot="16200000" flipH="1">
              <a:off x="3238500" y="3238500"/>
              <a:ext cx="6858000" cy="381000"/>
            </a:xfrm>
            <a:prstGeom prst="line">
              <a:avLst/>
            </a:prstGeom>
            <a:ln w="19050">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p:nvCxnSpPr>
          <p:spPr>
            <a:xfrm rot="5400000">
              <a:off x="2133600" y="3276600"/>
              <a:ext cx="6858000" cy="3048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p:nvCxnSpPr>
          <p:spPr>
            <a:xfrm rot="16200000" flipH="1">
              <a:off x="3148013" y="3252789"/>
              <a:ext cx="6858000"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rot="5400000">
              <a:off x="37719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p:nvCxnSpPr>
          <p:spPr>
            <a:xfrm rot="5400000">
              <a:off x="4229100" y="2933700"/>
              <a:ext cx="6858000" cy="990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p:nvPr/>
          </p:nvCxnSpPr>
          <p:spPr>
            <a:xfrm rot="16200000" flipH="1">
              <a:off x="1371600" y="3200403"/>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grpSp>
      <p:sp>
        <p:nvSpPr>
          <p:cNvPr id="4" name="Date Placeholder 3"/>
          <p:cNvSpPr>
            <a:spLocks noGrp="1"/>
          </p:cNvSpPr>
          <p:nvPr>
            <p:ph type="dt" sz="half" idx="10"/>
          </p:nvPr>
        </p:nvSpPr>
        <p:spPr/>
        <p:txBody>
          <a:bodyPr/>
          <a:lstStyle/>
          <a:p>
            <a:fld id="{B2940A8E-C84A-443F-8961-D93C52D35E97}" type="datetimeFigureOut">
              <a:rPr lang="en-CA" smtClean="0"/>
              <a:t>02/04/2012</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0F337625-8817-4990-BC0F-5F87421D89F8}" type="slidenum">
              <a:rPr lang="en-CA" smtClean="0"/>
              <a:t>‹#›</a:t>
            </a:fld>
            <a:endParaRPr lang="en-CA" dirty="0"/>
          </a:p>
        </p:txBody>
      </p:sp>
      <p:sp>
        <p:nvSpPr>
          <p:cNvPr id="113" name="Rectangle 112"/>
          <p:cNvSpPr/>
          <p:nvPr/>
        </p:nvSpPr>
        <p:spPr>
          <a:xfrm>
            <a:off x="0" y="1905000"/>
            <a:ext cx="4953000" cy="3124200"/>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dirty="0">
              <a:solidFill>
                <a:prstClr val="white"/>
              </a:solidFill>
              <a:latin typeface="Tw Cen MT"/>
              <a:ea typeface="+mn-ea"/>
              <a:cs typeface="+mn-cs"/>
            </a:endParaRPr>
          </a:p>
        </p:txBody>
      </p:sp>
      <p:grpSp>
        <p:nvGrpSpPr>
          <p:cNvPr id="94" name="Group 93"/>
          <p:cNvGrpSpPr/>
          <p:nvPr/>
        </p:nvGrpSpPr>
        <p:grpSpPr>
          <a:xfrm>
            <a:off x="0" y="2057400"/>
            <a:ext cx="4801394" cy="2820988"/>
            <a:chOff x="0" y="2057400"/>
            <a:chExt cx="4801394" cy="2820988"/>
          </a:xfrm>
        </p:grpSpPr>
        <p:cxnSp>
          <p:nvCxnSpPr>
            <p:cNvPr id="117" name="Straight Connector 116"/>
            <p:cNvCxnSpPr/>
            <p:nvPr/>
          </p:nvCxnSpPr>
          <p:spPr>
            <a:xfrm>
              <a:off x="0" y="2057400"/>
              <a:ext cx="48006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a:off x="0" y="4876800"/>
              <a:ext cx="48006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rot="5400000">
              <a:off x="3391694" y="3467100"/>
              <a:ext cx="2818606"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228600" y="2130425"/>
            <a:ext cx="4419600" cy="1600327"/>
          </a:xfrm>
        </p:spPr>
        <p:txBody>
          <a:bodyPr anchor="b">
            <a:normAutofit/>
          </a:bodyPr>
          <a:lstStyle>
            <a:lvl1pPr algn="l">
              <a:defRPr sz="3600" b="1" cap="none" spc="40" baseline="0">
                <a:ln w="13335" cmpd="sng">
                  <a:solidFill>
                    <a:schemeClr val="accent1">
                      <a:lumMod val="50000"/>
                    </a:schemeClr>
                  </a:solidFill>
                  <a:prstDash val="solid"/>
                </a:ln>
                <a:solidFill>
                  <a:schemeClr val="accent6">
                    <a:tint val="1000"/>
                  </a:schemeClr>
                </a:solidFill>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28600" y="3733800"/>
            <a:ext cx="4419600" cy="1066800"/>
          </a:xfrm>
        </p:spPr>
        <p:txBody>
          <a:bodyPr>
            <a:normAutofit/>
          </a:bodyPr>
          <a:lstStyle>
            <a:lvl1pPr marL="0" indent="0" algn="l">
              <a:buNone/>
              <a:defRPr sz="22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940A8E-C84A-443F-8961-D93C52D35E97}" type="datetimeFigureOut">
              <a:rPr lang="en-CA" smtClean="0"/>
              <a:t>02/04/2012</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0F337625-8817-4990-BC0F-5F87421D89F8}" type="slidenum">
              <a:rPr lang="en-CA" smtClean="0"/>
              <a:t>‹#›</a:t>
            </a:fld>
            <a:endParaRPr lang="en-CA"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grpSp>
        <p:nvGrpSpPr>
          <p:cNvPr id="7" name="Group 92"/>
          <p:cNvGrpSpPr/>
          <p:nvPr/>
        </p:nvGrpSpPr>
        <p:grpSpPr>
          <a:xfrm>
            <a:off x="1" y="-30478"/>
            <a:ext cx="9067799" cy="4846320"/>
            <a:chOff x="1" y="-30477"/>
            <a:chExt cx="9067799" cy="4526277"/>
          </a:xfrm>
        </p:grpSpPr>
        <p:cxnSp>
          <p:nvCxnSpPr>
            <p:cNvPr id="8" name="Straight Connector 7"/>
            <p:cNvCxnSpPr/>
            <p:nvPr/>
          </p:nvCxnSpPr>
          <p:spPr>
            <a:xfrm rot="16200000" flipH="1">
              <a:off x="-27166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46216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30976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206236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6200000" flipH="1">
              <a:off x="-2138565"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16200000" flipH="1">
              <a:off x="-195465" y="1785212"/>
              <a:ext cx="4505731" cy="9144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6200000" flipH="1">
              <a:off x="-1643265" y="2013812"/>
              <a:ext cx="4505731"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5400000">
              <a:off x="-1528964"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H="1">
              <a:off x="-957465" y="2013812"/>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6200000" flipH="1">
              <a:off x="-194806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H="1">
              <a:off x="-652664" y="2166211"/>
              <a:ext cx="4505731" cy="152401"/>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164326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6200000" flipH="1">
              <a:off x="-1790700" y="2019300"/>
              <a:ext cx="4495800" cy="4572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555510" y="1535657"/>
              <a:ext cx="4505731"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34087" y="2090964"/>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2617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a:off x="-67933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6200000" flipH="1">
              <a:off x="-1467052" y="2066200"/>
              <a:ext cx="4505731"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6200000" flipH="1">
              <a:off x="-77839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6200000" flipH="1">
              <a:off x="-118606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6200000" flipH="1">
              <a:off x="-95746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6200000" flipH="1">
              <a:off x="22429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6200000" flipH="1">
              <a:off x="20524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2204835" y="2051912"/>
              <a:ext cx="4505731" cy="3810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a:off x="45223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6200000" flipH="1">
              <a:off x="376035"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1023735" y="2242139"/>
              <a:ext cx="4505731"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6200000" flipH="1">
              <a:off x="871335" y="2013812"/>
              <a:ext cx="4505731" cy="4572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a:off x="985636"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16200000" flipH="1">
              <a:off x="1557135" y="2013812"/>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6200000" flipH="1">
              <a:off x="5665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6200000" flipH="1">
              <a:off x="1861936" y="2166211"/>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6200000" flipH="1">
              <a:off x="8713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5400000">
              <a:off x="147435" y="2128112"/>
              <a:ext cx="4505731"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1959090" y="1535657"/>
              <a:ext cx="4505731"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a:off x="2548687" y="2090964"/>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5400000">
              <a:off x="27763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a:off x="183526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16200000" flipH="1">
              <a:off x="1047548" y="2066200"/>
              <a:ext cx="4505731"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16200000" flipH="1">
              <a:off x="17362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16200000" flipH="1">
              <a:off x="13285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16200000" flipH="1">
              <a:off x="1557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16200000" flipH="1">
              <a:off x="3919335" y="2166212"/>
              <a:ext cx="4505731" cy="152400"/>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16200000" flipH="1">
              <a:off x="3271636"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38812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3004936" y="2090012"/>
              <a:ext cx="4505730" cy="3048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16200000" flipH="1">
              <a:off x="2242935" y="2013813"/>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16200000" flipH="1">
              <a:off x="3538336" y="2166212"/>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a:off x="3822180" y="1535657"/>
              <a:ext cx="4505731" cy="1413510"/>
            </a:xfrm>
            <a:prstGeom prst="line">
              <a:avLst/>
            </a:prstGeom>
            <a:ln>
              <a:solidFill>
                <a:schemeClr val="accent1">
                  <a:alpha val="56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rot="5400000">
              <a:off x="4225087" y="2090965"/>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a:off x="40717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rot="5400000">
              <a:off x="356500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rot="16200000" flipH="1">
              <a:off x="34126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rot="16200000" flipH="1">
              <a:off x="2928735" y="2166212"/>
              <a:ext cx="4505731" cy="152400"/>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16200000" flipH="1">
              <a:off x="3081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rot="5400000">
              <a:off x="464323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rot="16200000" flipH="1">
              <a:off x="4643234"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rot="5400000">
              <a:off x="5214735" y="2242140"/>
              <a:ext cx="4505731"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rot="16200000" flipH="1">
              <a:off x="5062335" y="2013812"/>
              <a:ext cx="4505731"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a:off x="5176636"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rot="16200000" flipH="1">
              <a:off x="5748135" y="2013813"/>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16200000" flipH="1">
              <a:off x="49099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4795635" y="2128112"/>
              <a:ext cx="4505731"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16200000" flipH="1">
              <a:off x="5390948" y="2066200"/>
              <a:ext cx="4505731"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16200000" flipH="1">
              <a:off x="59272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rot="16200000" flipH="1">
              <a:off x="55195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rot="16200000" flipH="1">
              <a:off x="5748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16200000" flipH="1">
              <a:off x="6433935" y="2166213"/>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16200000" flipH="1">
              <a:off x="6243435" y="2051913"/>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5400000">
              <a:off x="6395835" y="2051913"/>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16200000" flipH="1">
              <a:off x="6052936" y="2166212"/>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rot="5400000">
              <a:off x="6709356" y="2136834"/>
              <a:ext cx="4525755" cy="191133"/>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a:off x="6026265" y="2040483"/>
              <a:ext cx="4505731" cy="40386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rot="16200000" flipH="1">
              <a:off x="5927205" y="2139543"/>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5400000">
              <a:off x="6738734" y="2242140"/>
              <a:ext cx="4505732" cy="1588"/>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a:off x="3728835" y="2204312"/>
              <a:ext cx="4505731" cy="76200"/>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16200000" flipH="1">
              <a:off x="4224135" y="2166212"/>
              <a:ext cx="4505731" cy="1524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rot="16200000" flipH="1">
              <a:off x="4414635" y="2051912"/>
              <a:ext cx="4505731" cy="381000"/>
            </a:xfrm>
            <a:prstGeom prst="line">
              <a:avLst/>
            </a:prstGeom>
            <a:ln w="19050">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rot="5400000">
              <a:off x="3309735" y="2090012"/>
              <a:ext cx="4505731" cy="3048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rot="16200000" flipH="1">
              <a:off x="4324148" y="2066200"/>
              <a:ext cx="4505731"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rot="5400000">
              <a:off x="49480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rot="5400000">
              <a:off x="5405235" y="1747112"/>
              <a:ext cx="4505731" cy="990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rot="16200000" flipH="1">
              <a:off x="2547735" y="2013814"/>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grpSp>
      <p:sp>
        <p:nvSpPr>
          <p:cNvPr id="94" name="Rectangle 93"/>
          <p:cNvSpPr/>
          <p:nvPr/>
        </p:nvSpPr>
        <p:spPr>
          <a:xfrm>
            <a:off x="0" y="4311168"/>
            <a:ext cx="9144000" cy="1905000"/>
          </a:xfrm>
          <a:prstGeom prst="rect">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dirty="0">
              <a:solidFill>
                <a:prstClr val="white"/>
              </a:solidFill>
              <a:latin typeface="Tw Cen MT"/>
              <a:ea typeface="+mn-ea"/>
              <a:cs typeface="+mn-cs"/>
            </a:endParaRPr>
          </a:p>
        </p:txBody>
      </p:sp>
      <p:cxnSp>
        <p:nvCxnSpPr>
          <p:cNvPr id="96" name="Straight Connector 95"/>
          <p:cNvCxnSpPr/>
          <p:nvPr/>
        </p:nvCxnSpPr>
        <p:spPr>
          <a:xfrm>
            <a:off x="0" y="4387368"/>
            <a:ext cx="91440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0" y="6138380"/>
            <a:ext cx="91440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457200" y="5621364"/>
            <a:ext cx="8305800" cy="414649"/>
          </a:xfrm>
        </p:spPr>
        <p:txBody>
          <a:bodyPr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5" name="Title 94"/>
          <p:cNvSpPr>
            <a:spLocks noGrp="1"/>
          </p:cNvSpPr>
          <p:nvPr>
            <p:ph type="title"/>
          </p:nvPr>
        </p:nvSpPr>
        <p:spPr>
          <a:xfrm>
            <a:off x="457200" y="4463568"/>
            <a:ext cx="8305800" cy="1143000"/>
          </a:xfrm>
        </p:spPr>
        <p:txBody>
          <a:bodyPr/>
          <a:lstStyle/>
          <a:p>
            <a:r>
              <a:rPr lang="en-US" smtClean="0"/>
              <a:t>Click to edit Master title style</a:t>
            </a:r>
            <a:endParaRPr lang="en-US"/>
          </a:p>
        </p:txBody>
      </p:sp>
      <p:sp>
        <p:nvSpPr>
          <p:cNvPr id="2" name="Date Placeholder 1"/>
          <p:cNvSpPr>
            <a:spLocks noGrp="1"/>
          </p:cNvSpPr>
          <p:nvPr>
            <p:ph type="dt" sz="half" idx="10"/>
          </p:nvPr>
        </p:nvSpPr>
        <p:spPr/>
        <p:txBody>
          <a:bodyPr/>
          <a:lstStyle/>
          <a:p>
            <a:fld id="{B2940A8E-C84A-443F-8961-D93C52D35E97}" type="datetimeFigureOut">
              <a:rPr lang="en-CA" smtClean="0"/>
              <a:t>02/04/2012</a:t>
            </a:fld>
            <a:endParaRPr lang="en-CA" dirty="0"/>
          </a:p>
        </p:txBody>
      </p:sp>
      <p:sp>
        <p:nvSpPr>
          <p:cNvPr id="91" name="Footer Placeholder 90"/>
          <p:cNvSpPr>
            <a:spLocks noGrp="1"/>
          </p:cNvSpPr>
          <p:nvPr>
            <p:ph type="ftr" sz="quarter" idx="11"/>
          </p:nvPr>
        </p:nvSpPr>
        <p:spPr/>
        <p:txBody>
          <a:bodyPr/>
          <a:lstStyle/>
          <a:p>
            <a:endParaRPr lang="en-CA" dirty="0"/>
          </a:p>
        </p:txBody>
      </p:sp>
      <p:sp>
        <p:nvSpPr>
          <p:cNvPr id="92" name="Slide Number Placeholder 91"/>
          <p:cNvSpPr>
            <a:spLocks noGrp="1"/>
          </p:cNvSpPr>
          <p:nvPr>
            <p:ph type="sldNum" sz="quarter" idx="12"/>
          </p:nvPr>
        </p:nvSpPr>
        <p:spPr/>
        <p:txBody>
          <a:bodyPr/>
          <a:lstStyle/>
          <a:p>
            <a:fld id="{0F337625-8817-4990-BC0F-5F87421D89F8}" type="slidenum">
              <a:rPr lang="en-CA" smtClean="0"/>
              <a:t>‹#›</a:t>
            </a:fld>
            <a:endParaRPr lang="en-CA"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2940A8E-C84A-443F-8961-D93C52D35E97}" type="datetimeFigureOut">
              <a:rPr lang="en-CA" smtClean="0"/>
              <a:t>02/04/2012</a:t>
            </a:fld>
            <a:endParaRPr lang="en-CA" dirty="0"/>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p:txBody>
          <a:bodyPr/>
          <a:lstStyle/>
          <a:p>
            <a:fld id="{0F337625-8817-4990-BC0F-5F87421D89F8}" type="slidenum">
              <a:rPr lang="en-CA" smtClean="0"/>
              <a:t>‹#›</a:t>
            </a:fld>
            <a:endParaRPr lang="en-CA"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2940A8E-C84A-443F-8961-D93C52D35E97}" type="datetimeFigureOut">
              <a:rPr lang="en-CA" smtClean="0"/>
              <a:t>02/04/2012</a:t>
            </a:fld>
            <a:endParaRPr lang="en-CA" dirty="0"/>
          </a:p>
        </p:txBody>
      </p:sp>
      <p:sp>
        <p:nvSpPr>
          <p:cNvPr id="8" name="Footer Placeholder 7"/>
          <p:cNvSpPr>
            <a:spLocks noGrp="1"/>
          </p:cNvSpPr>
          <p:nvPr>
            <p:ph type="ftr" sz="quarter" idx="11"/>
          </p:nvPr>
        </p:nvSpPr>
        <p:spPr/>
        <p:txBody>
          <a:bodyPr/>
          <a:lstStyle/>
          <a:p>
            <a:endParaRPr lang="en-CA" dirty="0"/>
          </a:p>
        </p:txBody>
      </p:sp>
      <p:sp>
        <p:nvSpPr>
          <p:cNvPr id="9" name="Slide Number Placeholder 8"/>
          <p:cNvSpPr>
            <a:spLocks noGrp="1"/>
          </p:cNvSpPr>
          <p:nvPr>
            <p:ph type="sldNum" sz="quarter" idx="12"/>
          </p:nvPr>
        </p:nvSpPr>
        <p:spPr/>
        <p:txBody>
          <a:bodyPr/>
          <a:lstStyle/>
          <a:p>
            <a:fld id="{0F337625-8817-4990-BC0F-5F87421D89F8}" type="slidenum">
              <a:rPr lang="en-CA" smtClean="0"/>
              <a:t>‹#›</a:t>
            </a:fld>
            <a:endParaRPr lang="en-CA"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2940A8E-C84A-443F-8961-D93C52D35E97}" type="datetimeFigureOut">
              <a:rPr lang="en-CA" smtClean="0"/>
              <a:t>02/04/2012</a:t>
            </a:fld>
            <a:endParaRPr lang="en-CA" dirty="0"/>
          </a:p>
        </p:txBody>
      </p:sp>
      <p:sp>
        <p:nvSpPr>
          <p:cNvPr id="4" name="Footer Placeholder 3"/>
          <p:cNvSpPr>
            <a:spLocks noGrp="1"/>
          </p:cNvSpPr>
          <p:nvPr>
            <p:ph type="ftr" sz="quarter" idx="11"/>
          </p:nvPr>
        </p:nvSpPr>
        <p:spPr/>
        <p:txBody>
          <a:bodyPr/>
          <a:lstStyle/>
          <a:p>
            <a:endParaRPr lang="en-CA" dirty="0"/>
          </a:p>
        </p:txBody>
      </p:sp>
      <p:sp>
        <p:nvSpPr>
          <p:cNvPr id="5" name="Slide Number Placeholder 4"/>
          <p:cNvSpPr>
            <a:spLocks noGrp="1"/>
          </p:cNvSpPr>
          <p:nvPr>
            <p:ph type="sldNum" sz="quarter" idx="12"/>
          </p:nvPr>
        </p:nvSpPr>
        <p:spPr/>
        <p:txBody>
          <a:bodyPr/>
          <a:lstStyle/>
          <a:p>
            <a:fld id="{0F337625-8817-4990-BC0F-5F87421D89F8}" type="slidenum">
              <a:rPr lang="en-CA" smtClean="0"/>
              <a:t>‹#›</a:t>
            </a:fld>
            <a:endParaRPr lang="en-CA"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940A8E-C84A-443F-8961-D93C52D35E97}" type="datetimeFigureOut">
              <a:rPr lang="en-CA" smtClean="0"/>
              <a:t>02/04/2012</a:t>
            </a:fld>
            <a:endParaRPr lang="en-CA" dirty="0"/>
          </a:p>
        </p:txBody>
      </p:sp>
      <p:sp>
        <p:nvSpPr>
          <p:cNvPr id="3" name="Footer Placeholder 2"/>
          <p:cNvSpPr>
            <a:spLocks noGrp="1"/>
          </p:cNvSpPr>
          <p:nvPr>
            <p:ph type="ftr" sz="quarter" idx="11"/>
          </p:nvPr>
        </p:nvSpPr>
        <p:spPr/>
        <p:txBody>
          <a:bodyPr/>
          <a:lstStyle/>
          <a:p>
            <a:endParaRPr lang="en-CA" dirty="0"/>
          </a:p>
        </p:txBody>
      </p:sp>
      <p:sp>
        <p:nvSpPr>
          <p:cNvPr id="4" name="Slide Number Placeholder 3"/>
          <p:cNvSpPr>
            <a:spLocks noGrp="1"/>
          </p:cNvSpPr>
          <p:nvPr>
            <p:ph type="sldNum" sz="quarter" idx="12"/>
          </p:nvPr>
        </p:nvSpPr>
        <p:spPr/>
        <p:txBody>
          <a:bodyPr/>
          <a:lstStyle/>
          <a:p>
            <a:fld id="{0F337625-8817-4990-BC0F-5F87421D89F8}" type="slidenum">
              <a:rPr lang="en-CA" smtClean="0"/>
              <a:t>‹#›</a:t>
            </a:fld>
            <a:endParaRPr lang="en-CA"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200400" y="273050"/>
            <a:ext cx="5486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2940A8E-C84A-443F-8961-D93C52D35E97}" type="datetimeFigureOut">
              <a:rPr lang="en-CA" smtClean="0"/>
              <a:t>02/04/2012</a:t>
            </a:fld>
            <a:endParaRPr lang="en-CA" dirty="0"/>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p:txBody>
          <a:bodyPr/>
          <a:lstStyle/>
          <a:p>
            <a:fld id="{0F337625-8817-4990-BC0F-5F87421D89F8}" type="slidenum">
              <a:rPr lang="en-CA" smtClean="0"/>
              <a:t>‹#›</a:t>
            </a:fld>
            <a:endParaRPr lang="en-CA" dirty="0"/>
          </a:p>
        </p:txBody>
      </p:sp>
      <p:sp>
        <p:nvSpPr>
          <p:cNvPr id="37" name="Rectangle 36"/>
          <p:cNvSpPr/>
          <p:nvPr/>
        </p:nvSpPr>
        <p:spPr>
          <a:xfrm>
            <a:off x="0" y="1563624"/>
            <a:ext cx="2761488" cy="3313176"/>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dirty="0">
              <a:solidFill>
                <a:prstClr val="white"/>
              </a:solidFill>
              <a:latin typeface="Tw Cen MT"/>
              <a:ea typeface="+mn-ea"/>
              <a:cs typeface="+mn-cs"/>
            </a:endParaRPr>
          </a:p>
        </p:txBody>
      </p:sp>
      <p:cxnSp>
        <p:nvCxnSpPr>
          <p:cNvPr id="39" name="Straight Connector 38"/>
          <p:cNvCxnSpPr/>
          <p:nvPr/>
        </p:nvCxnSpPr>
        <p:spPr>
          <a:xfrm rot="5400000">
            <a:off x="1128157" y="3221339"/>
            <a:ext cx="3017520"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0" y="1712976"/>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0" y="4733544"/>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2400" y="1901952"/>
            <a:ext cx="2377440" cy="1371600"/>
          </a:xfrm>
        </p:spPr>
        <p:txBody>
          <a:bodyPr anchor="b">
            <a:normAutofit/>
          </a:bodyPr>
          <a:lstStyle>
            <a:lvl1pPr algn="l" defTabSz="914400" rtl="0" eaLnBrk="1" latinLnBrk="0" hangingPunct="1">
              <a:spcBef>
                <a:spcPct val="0"/>
              </a:spcBef>
              <a:buNone/>
              <a:tabLst>
                <a:tab pos="3830638" algn="l"/>
              </a:tabLst>
              <a:defRPr lang="en-US" sz="2600" b="1" kern="1200" cap="none" spc="20" baseline="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latin typeface="+mj-lt"/>
                <a:ea typeface="+mj-ea"/>
                <a:cs typeface="+mj-cs"/>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152400" y="3273552"/>
            <a:ext cx="2377440" cy="1371600"/>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200400" y="381000"/>
            <a:ext cx="5562600" cy="5638800"/>
          </a:xfrm>
          <a:solidFill>
            <a:schemeClr val="bg2"/>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5" name="Date Placeholder 4"/>
          <p:cNvSpPr>
            <a:spLocks noGrp="1"/>
          </p:cNvSpPr>
          <p:nvPr>
            <p:ph type="dt" sz="half" idx="10"/>
          </p:nvPr>
        </p:nvSpPr>
        <p:spPr/>
        <p:txBody>
          <a:bodyPr/>
          <a:lstStyle/>
          <a:p>
            <a:fld id="{B2940A8E-C84A-443F-8961-D93C52D35E97}" type="datetimeFigureOut">
              <a:rPr lang="en-CA" smtClean="0"/>
              <a:t>02/04/2012</a:t>
            </a:fld>
            <a:endParaRPr lang="en-CA" dirty="0"/>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p:txBody>
          <a:bodyPr/>
          <a:lstStyle/>
          <a:p>
            <a:fld id="{0F337625-8817-4990-BC0F-5F87421D89F8}" type="slidenum">
              <a:rPr lang="en-CA" smtClean="0"/>
              <a:t>‹#›</a:t>
            </a:fld>
            <a:endParaRPr lang="en-CA" dirty="0"/>
          </a:p>
        </p:txBody>
      </p:sp>
      <p:sp>
        <p:nvSpPr>
          <p:cNvPr id="33" name="Rectangle 32"/>
          <p:cNvSpPr/>
          <p:nvPr/>
        </p:nvSpPr>
        <p:spPr>
          <a:xfrm>
            <a:off x="0" y="1563624"/>
            <a:ext cx="2761488" cy="3313176"/>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dirty="0">
              <a:solidFill>
                <a:prstClr val="white"/>
              </a:solidFill>
              <a:latin typeface="Tw Cen MT"/>
              <a:ea typeface="+mn-ea"/>
              <a:cs typeface="+mn-cs"/>
            </a:endParaRPr>
          </a:p>
        </p:txBody>
      </p:sp>
      <p:cxnSp>
        <p:nvCxnSpPr>
          <p:cNvPr id="34" name="Straight Connector 33"/>
          <p:cNvCxnSpPr/>
          <p:nvPr/>
        </p:nvCxnSpPr>
        <p:spPr>
          <a:xfrm rot="5400000">
            <a:off x="1128157" y="3221339"/>
            <a:ext cx="3017520"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0" y="1712976"/>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0" y="4733544"/>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5448" y="1905000"/>
            <a:ext cx="2377440" cy="1371600"/>
          </a:xfrm>
        </p:spPr>
        <p:txBody>
          <a:bodyPr anchor="b">
            <a:normAutofit/>
          </a:bodyPr>
          <a:lstStyle>
            <a:lvl1pPr algn="l">
              <a:defRPr sz="2600" b="1" cap="none" spc="20" baseline="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152400" y="3276600"/>
            <a:ext cx="2377440" cy="1371600"/>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940A8E-C84A-443F-8961-D93C52D35E97}" type="datetimeFigureOut">
              <a:rPr lang="en-CA" smtClean="0"/>
              <a:t>02/04/2012</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0F337625-8817-4990-BC0F-5F87421D89F8}" type="slidenum">
              <a:rPr lang="en-CA" smtClean="0"/>
              <a:t>‹#›</a:t>
            </a:fld>
            <a:endParaRPr lang="en-CA"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940A8E-C84A-443F-8961-D93C52D35E97}" type="datetimeFigureOut">
              <a:rPr lang="en-CA" smtClean="0"/>
              <a:t>02/04/2012</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0F337625-8817-4990-BC0F-5F87421D89F8}" type="slidenum">
              <a:rPr lang="en-CA" smtClean="0"/>
              <a:t>‹#›</a:t>
            </a:fld>
            <a:endParaRPr lang="en-CA"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90" name="Rectangle 189"/>
          <p:cNvSpPr/>
          <p:nvPr/>
        </p:nvSpPr>
        <p:spPr>
          <a:xfrm>
            <a:off x="149352" y="137160"/>
            <a:ext cx="8869680" cy="6583680"/>
          </a:xfrm>
          <a:prstGeom prst="rect">
            <a:avLst/>
          </a:prstGeom>
          <a:noFill/>
          <a:ln w="1905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dirty="0">
              <a:solidFill>
                <a:prstClr val="white"/>
              </a:solidFill>
              <a:latin typeface="Tw Cen MT"/>
              <a:ea typeface="+mn-ea"/>
              <a:cs typeface="+mn-cs"/>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12408"/>
            <a:ext cx="2133600" cy="365125"/>
          </a:xfrm>
          <a:prstGeom prst="rect">
            <a:avLst/>
          </a:prstGeom>
        </p:spPr>
        <p:txBody>
          <a:bodyPr vert="horz" lIns="91440" tIns="45720" rIns="91440" bIns="45720" rtlCol="0" anchor="ctr"/>
          <a:lstStyle>
            <a:lvl1pPr algn="l">
              <a:defRPr sz="1200">
                <a:solidFill>
                  <a:schemeClr val="tx2"/>
                </a:solidFill>
              </a:defRPr>
            </a:lvl1pPr>
          </a:lstStyle>
          <a:p>
            <a:fld id="{B2940A8E-C84A-443F-8961-D93C52D35E97}" type="datetimeFigureOut">
              <a:rPr lang="en-CA" smtClean="0"/>
              <a:t>02/04/2012</a:t>
            </a:fld>
            <a:endParaRPr lang="en-CA" dirty="0"/>
          </a:p>
        </p:txBody>
      </p:sp>
      <p:sp>
        <p:nvSpPr>
          <p:cNvPr id="5" name="Footer Placeholder 4"/>
          <p:cNvSpPr>
            <a:spLocks noGrp="1"/>
          </p:cNvSpPr>
          <p:nvPr>
            <p:ph type="ftr" sz="quarter" idx="3"/>
          </p:nvPr>
        </p:nvSpPr>
        <p:spPr>
          <a:xfrm>
            <a:off x="2831123" y="6312408"/>
            <a:ext cx="3481754" cy="365125"/>
          </a:xfrm>
          <a:prstGeom prst="rect">
            <a:avLst/>
          </a:prstGeom>
        </p:spPr>
        <p:txBody>
          <a:bodyPr vert="horz" lIns="91440" tIns="45720" rIns="91440" bIns="45720" rtlCol="0" anchor="ctr"/>
          <a:lstStyle>
            <a:lvl1pPr algn="ctr">
              <a:defRPr sz="1200">
                <a:solidFill>
                  <a:schemeClr val="tx2"/>
                </a:solidFill>
              </a:defRPr>
            </a:lvl1pPr>
          </a:lstStyle>
          <a:p>
            <a:endParaRPr lang="en-CA" dirty="0"/>
          </a:p>
        </p:txBody>
      </p:sp>
      <p:sp>
        <p:nvSpPr>
          <p:cNvPr id="6" name="Slide Number Placeholder 5"/>
          <p:cNvSpPr>
            <a:spLocks noGrp="1"/>
          </p:cNvSpPr>
          <p:nvPr>
            <p:ph type="sldNum" sz="quarter" idx="4"/>
          </p:nvPr>
        </p:nvSpPr>
        <p:spPr>
          <a:xfrm>
            <a:off x="6553200" y="6312408"/>
            <a:ext cx="2133600" cy="365125"/>
          </a:xfrm>
          <a:prstGeom prst="rect">
            <a:avLst/>
          </a:prstGeom>
        </p:spPr>
        <p:txBody>
          <a:bodyPr vert="horz" lIns="91440" tIns="45720" rIns="91440" bIns="45720" rtlCol="0" anchor="ctr"/>
          <a:lstStyle>
            <a:lvl1pPr algn="r">
              <a:defRPr sz="1200">
                <a:solidFill>
                  <a:schemeClr val="tx2"/>
                </a:solidFill>
              </a:defRPr>
            </a:lvl1pPr>
          </a:lstStyle>
          <a:p>
            <a:fld id="{0F337625-8817-4990-BC0F-5F87421D89F8}" type="slidenum">
              <a:rPr lang="en-CA" smtClean="0"/>
              <a:t>‹#›</a:t>
            </a:fld>
            <a:endParaRPr lang="en-CA" dirty="0"/>
          </a:p>
        </p:txBody>
      </p:sp>
    </p:spTree>
  </p:cSld>
  <p:clrMap bg1="dk1" tx1="lt1" bg2="dk2" tx2="lt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xStyles>
    <p:titleStyle>
      <a:lvl1pPr algn="l" defTabSz="914400" rtl="0" eaLnBrk="1" latinLnBrk="0" hangingPunct="1">
        <a:spcBef>
          <a:spcPct val="0"/>
        </a:spcBef>
        <a:buNone/>
        <a:tabLst>
          <a:tab pos="3830638" algn="l"/>
        </a:tabLst>
        <a:defRPr sz="3600" b="1" kern="1200" cap="none" spc="50">
          <a:ln w="13335" cmpd="sng">
            <a:solidFill>
              <a:schemeClr val="accent1">
                <a:lumMod val="50000"/>
              </a:schemeClr>
            </a:solidFill>
            <a:prstDash val="solid"/>
          </a:ln>
          <a:solidFill>
            <a:schemeClr val="accent6">
              <a:tint val="1000"/>
            </a:schemeClr>
          </a:solidFill>
          <a:effectLst/>
          <a:latin typeface="+mj-lt"/>
          <a:ea typeface="+mj-ea"/>
          <a:cs typeface="+mj-cs"/>
        </a:defRPr>
      </a:lvl1pPr>
    </p:titleStyle>
    <p:bodyStyle>
      <a:lvl1pPr marL="274320" indent="-274320" algn="l" defTabSz="914400" rtl="0" eaLnBrk="1" latinLnBrk="0" hangingPunct="1">
        <a:spcBef>
          <a:spcPct val="20000"/>
        </a:spcBef>
        <a:buClr>
          <a:schemeClr val="accent1">
            <a:lumMod val="60000"/>
            <a:lumOff val="40000"/>
          </a:schemeClr>
        </a:buClr>
        <a:buFont typeface="Arial" pitchFamily="34" charset="0"/>
        <a:buChar char="•"/>
        <a:defRPr sz="2400" kern="1200">
          <a:solidFill>
            <a:schemeClr val="tx2"/>
          </a:solidFill>
          <a:latin typeface="+mn-lt"/>
          <a:ea typeface="+mn-ea"/>
          <a:cs typeface="+mn-cs"/>
        </a:defRPr>
      </a:lvl1pPr>
      <a:lvl2pPr marL="548640" indent="-182880" algn="l" defTabSz="914400" rtl="0" eaLnBrk="1" latinLnBrk="0" hangingPunct="1">
        <a:spcBef>
          <a:spcPct val="20000"/>
        </a:spcBef>
        <a:buClr>
          <a:schemeClr val="accent1">
            <a:lumMod val="60000"/>
            <a:lumOff val="40000"/>
          </a:schemeClr>
        </a:buClr>
        <a:buFont typeface="Arial" pitchFamily="34" charset="0"/>
        <a:buChar char="•"/>
        <a:defRPr sz="2000" kern="1200">
          <a:solidFill>
            <a:schemeClr val="tx1"/>
          </a:solidFill>
          <a:latin typeface="+mn-lt"/>
          <a:ea typeface="+mn-ea"/>
          <a:cs typeface="+mn-cs"/>
        </a:defRPr>
      </a:lvl2pPr>
      <a:lvl3pPr marL="91440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3pPr>
      <a:lvl4pPr marL="118872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4pPr>
      <a:lvl5pPr marL="1463040" indent="-228600" algn="l" defTabSz="914400" rtl="0" eaLnBrk="1" latinLnBrk="0" hangingPunct="1">
        <a:spcBef>
          <a:spcPct val="20000"/>
        </a:spcBef>
        <a:buClr>
          <a:schemeClr val="accent4"/>
        </a:buClr>
        <a:buFont typeface="Arial" pitchFamily="34" charset="0"/>
        <a:buChar char="•"/>
        <a:defRPr sz="1600" kern="1200" baseline="0">
          <a:solidFill>
            <a:schemeClr val="tx2"/>
          </a:solidFill>
          <a:latin typeface="+mn-lt"/>
          <a:ea typeface="+mn-ea"/>
          <a:cs typeface="+mn-cs"/>
        </a:defRPr>
      </a:lvl5pPr>
      <a:lvl6pPr marL="1691640" indent="-182880" algn="l" defTabSz="914400" rtl="0" eaLnBrk="1" latinLnBrk="0" hangingPunct="1">
        <a:spcBef>
          <a:spcPct val="20000"/>
        </a:spcBef>
        <a:buClr>
          <a:schemeClr val="accent5"/>
        </a:buClr>
        <a:buFont typeface="Arial" pitchFamily="34" charset="0"/>
        <a:buChar char="•"/>
        <a:defRPr sz="1600" kern="1200">
          <a:solidFill>
            <a:schemeClr val="tx1"/>
          </a:solidFill>
          <a:latin typeface="+mn-lt"/>
          <a:ea typeface="+mn-ea"/>
          <a:cs typeface="+mn-cs"/>
        </a:defRPr>
      </a:lvl6pPr>
      <a:lvl7pPr marL="1920240" indent="-182880" algn="l" defTabSz="914400" rtl="0" eaLnBrk="1" latinLnBrk="0" hangingPunct="1">
        <a:spcBef>
          <a:spcPct val="20000"/>
        </a:spcBef>
        <a:buClr>
          <a:schemeClr val="accent6"/>
        </a:buClr>
        <a:buFont typeface="Arial" pitchFamily="34" charset="0"/>
        <a:buChar char="•"/>
        <a:defRPr sz="1600" kern="1200">
          <a:solidFill>
            <a:schemeClr val="tx1"/>
          </a:solidFill>
          <a:latin typeface="+mn-lt"/>
          <a:ea typeface="+mn-ea"/>
          <a:cs typeface="+mn-cs"/>
        </a:defRPr>
      </a:lvl7pPr>
      <a:lvl8pPr marL="2148840" indent="-182880" algn="l" defTabSz="914400" rtl="0" eaLnBrk="1" latinLnBrk="0" hangingPunct="1">
        <a:spcBef>
          <a:spcPct val="20000"/>
        </a:spcBef>
        <a:buClr>
          <a:schemeClr val="accent3"/>
        </a:buClr>
        <a:buFont typeface="Arial" pitchFamily="34" charset="0"/>
        <a:buChar char="•"/>
        <a:defRPr sz="1600" kern="1200">
          <a:solidFill>
            <a:schemeClr val="tx1"/>
          </a:solidFill>
          <a:latin typeface="+mn-lt"/>
          <a:ea typeface="+mn-ea"/>
          <a:cs typeface="+mn-cs"/>
        </a:defRPr>
      </a:lvl8pPr>
      <a:lvl9pPr marL="2377440" indent="-182880" algn="l" defTabSz="914400" rtl="0" eaLnBrk="1" latinLnBrk="0" hangingPunct="1">
        <a:spcBef>
          <a:spcPct val="20000"/>
        </a:spcBef>
        <a:buClr>
          <a:schemeClr val="accent6"/>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CA" sz="4000" dirty="0" smtClean="0"/>
              <a:t>Positive Education: </a:t>
            </a:r>
            <a:r>
              <a:rPr lang="en-CA" sz="3200" dirty="0" smtClean="0"/>
              <a:t>An Alternative </a:t>
            </a:r>
            <a:r>
              <a:rPr lang="en-CA" sz="3200" dirty="0" smtClean="0"/>
              <a:t>Vision</a:t>
            </a:r>
            <a:br>
              <a:rPr lang="en-CA" sz="3200" dirty="0" smtClean="0"/>
            </a:br>
            <a:endParaRPr lang="en-CA" sz="3200" dirty="0"/>
          </a:p>
        </p:txBody>
      </p:sp>
      <p:sp>
        <p:nvSpPr>
          <p:cNvPr id="3" name="Subtitle 2"/>
          <p:cNvSpPr>
            <a:spLocks noGrp="1"/>
          </p:cNvSpPr>
          <p:nvPr>
            <p:ph type="subTitle" idx="1"/>
          </p:nvPr>
        </p:nvSpPr>
        <p:spPr>
          <a:xfrm>
            <a:off x="179512" y="3356992"/>
            <a:ext cx="4468688" cy="1443608"/>
          </a:xfrm>
        </p:spPr>
        <p:txBody>
          <a:bodyPr>
            <a:normAutofit fontScale="85000" lnSpcReduction="10000"/>
          </a:bodyPr>
          <a:lstStyle/>
          <a:p>
            <a:r>
              <a:rPr lang="en-CA" sz="2600" dirty="0" smtClean="0"/>
              <a:t>Paul T. P. Wong, PhD</a:t>
            </a:r>
          </a:p>
          <a:p>
            <a:endParaRPr lang="en-CA" dirty="0" smtClean="0"/>
          </a:p>
          <a:p>
            <a:r>
              <a:rPr lang="en-CA" dirty="0" smtClean="0"/>
              <a:t>Presented at the School of Education, </a:t>
            </a:r>
          </a:p>
          <a:p>
            <a:r>
              <a:rPr lang="en-CA" dirty="0" smtClean="0"/>
              <a:t>University of Melbourne on March 27, 2012</a:t>
            </a:r>
            <a:endParaRPr lang="en-CA" dirty="0"/>
          </a:p>
        </p:txBody>
      </p:sp>
    </p:spTree>
    <p:extLst>
      <p:ext uri="{BB962C8B-B14F-4D97-AF65-F5344CB8AC3E}">
        <p14:creationId xmlns:p14="http://schemas.microsoft.com/office/powerpoint/2010/main" val="15193168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b="1" dirty="0"/>
              <a:t>Traditional approach to </a:t>
            </a:r>
            <a:r>
              <a:rPr lang="en-US" b="1" dirty="0" smtClean="0"/>
              <a:t>education</a:t>
            </a:r>
            <a:endParaRPr lang="en-CA" dirty="0"/>
          </a:p>
        </p:txBody>
      </p:sp>
      <p:sp>
        <p:nvSpPr>
          <p:cNvPr id="2" name="Content Placeholder 1"/>
          <p:cNvSpPr>
            <a:spLocks noGrp="1"/>
          </p:cNvSpPr>
          <p:nvPr>
            <p:ph sz="half" idx="1"/>
          </p:nvPr>
        </p:nvSpPr>
        <p:spPr/>
        <p:txBody>
          <a:bodyPr>
            <a:normAutofit fontScale="77500" lnSpcReduction="20000"/>
          </a:bodyPr>
          <a:lstStyle/>
          <a:p>
            <a:pPr lvl="0">
              <a:spcBef>
                <a:spcPts val="1200"/>
              </a:spcBef>
            </a:pPr>
            <a:r>
              <a:rPr lang="en-US" sz="3100" dirty="0" smtClean="0"/>
              <a:t>One </a:t>
            </a:r>
            <a:r>
              <a:rPr lang="en-US" sz="3100" dirty="0"/>
              <a:t>size for all – the same curriculum for all students</a:t>
            </a:r>
            <a:endParaRPr lang="en-CA" sz="3100" dirty="0"/>
          </a:p>
          <a:p>
            <a:pPr lvl="0">
              <a:spcBef>
                <a:spcPts val="1200"/>
              </a:spcBef>
            </a:pPr>
            <a:r>
              <a:rPr lang="en-US" sz="3100" dirty="0"/>
              <a:t>Catering to the common denominator – boring the bright ones and leaving behind the weakest ones</a:t>
            </a:r>
            <a:endParaRPr lang="en-CA" sz="3100" dirty="0"/>
          </a:p>
          <a:p>
            <a:pPr lvl="0">
              <a:spcBef>
                <a:spcPts val="1200"/>
              </a:spcBef>
            </a:pPr>
            <a:r>
              <a:rPr lang="en-US" sz="3100" dirty="0"/>
              <a:t>Not enough attention to the unique needs and challenges of individual schools and students</a:t>
            </a:r>
            <a:endParaRPr lang="en-CA" sz="3100" dirty="0"/>
          </a:p>
          <a:p>
            <a:pPr lvl="0">
              <a:spcBef>
                <a:spcPts val="1200"/>
              </a:spcBef>
            </a:pPr>
            <a:r>
              <a:rPr lang="en-US" sz="3100" dirty="0"/>
              <a:t>Depending on testing to ensure </a:t>
            </a:r>
            <a:r>
              <a:rPr lang="en-US" sz="3100" dirty="0" smtClean="0"/>
              <a:t>standards</a:t>
            </a:r>
            <a:endParaRPr lang="en-CA" sz="3100" dirty="0" smtClean="0"/>
          </a:p>
          <a:p>
            <a:endParaRPr lang="en-CA" dirty="0"/>
          </a:p>
        </p:txBody>
      </p:sp>
      <p:sp>
        <p:nvSpPr>
          <p:cNvPr id="4" name="Content Placeholder 3"/>
          <p:cNvSpPr>
            <a:spLocks noGrp="1"/>
          </p:cNvSpPr>
          <p:nvPr>
            <p:ph sz="half" idx="2"/>
          </p:nvPr>
        </p:nvSpPr>
        <p:spPr>
          <a:xfrm>
            <a:off x="4648200" y="1600200"/>
            <a:ext cx="4100264" cy="4709120"/>
          </a:xfrm>
        </p:spPr>
        <p:txBody>
          <a:bodyPr>
            <a:normAutofit fontScale="77500" lnSpcReduction="20000"/>
          </a:bodyPr>
          <a:lstStyle/>
          <a:p>
            <a:pPr lvl="0">
              <a:spcBef>
                <a:spcPts val="1200"/>
              </a:spcBef>
            </a:pPr>
            <a:r>
              <a:rPr lang="en-US" sz="3100" dirty="0"/>
              <a:t>Too much emphasis on deficiencies and remediation and not enough on tapping into underutilized talents</a:t>
            </a:r>
            <a:endParaRPr lang="en-CA" sz="3100" dirty="0"/>
          </a:p>
          <a:p>
            <a:pPr lvl="0">
              <a:spcBef>
                <a:spcPts val="1200"/>
              </a:spcBef>
            </a:pPr>
            <a:r>
              <a:rPr lang="en-US" sz="3100" dirty="0"/>
              <a:t>Teacher qualifications primarily based on academic degrees</a:t>
            </a:r>
            <a:endParaRPr lang="en-CA" sz="3100" dirty="0"/>
          </a:p>
          <a:p>
            <a:pPr lvl="0">
              <a:spcBef>
                <a:spcPts val="1200"/>
              </a:spcBef>
            </a:pPr>
            <a:r>
              <a:rPr lang="en-US" sz="3100" dirty="0"/>
              <a:t>Domination by secular humanism and political correctness</a:t>
            </a:r>
            <a:endParaRPr lang="en-CA" sz="3100" dirty="0"/>
          </a:p>
          <a:p>
            <a:pPr lvl="0">
              <a:spcBef>
                <a:spcPts val="1200"/>
              </a:spcBef>
            </a:pPr>
            <a:r>
              <a:rPr lang="en-US" sz="3100" dirty="0"/>
              <a:t>Breakdown of traditional Judeo-Christian values, the foundation of Western Civilization and civil </a:t>
            </a:r>
            <a:r>
              <a:rPr lang="en-US" sz="3100" dirty="0" smtClean="0"/>
              <a:t>society</a:t>
            </a:r>
            <a:endParaRPr lang="en-CA" dirty="0"/>
          </a:p>
        </p:txBody>
      </p:sp>
    </p:spTree>
    <p:extLst>
      <p:ext uri="{BB962C8B-B14F-4D97-AF65-F5344CB8AC3E}">
        <p14:creationId xmlns:p14="http://schemas.microsoft.com/office/powerpoint/2010/main" val="13087726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2915925" y="1556792"/>
            <a:ext cx="288032" cy="4680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Rectangle 8"/>
          <p:cNvSpPr/>
          <p:nvPr/>
        </p:nvSpPr>
        <p:spPr>
          <a:xfrm>
            <a:off x="2339752" y="4869160"/>
            <a:ext cx="4513592" cy="108012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smtClean="0"/>
              <a:t>Adler’s 3 R’s: </a:t>
            </a:r>
          </a:p>
          <a:p>
            <a:pPr algn="ctr"/>
            <a:r>
              <a:rPr lang="en-CA" dirty="0" smtClean="0"/>
              <a:t>Responsibility, Respect &amp; Resourcefulness (Persistence &amp; Creativity)</a:t>
            </a:r>
            <a:endParaRPr lang="en-CA" dirty="0"/>
          </a:p>
        </p:txBody>
      </p:sp>
      <p:sp>
        <p:nvSpPr>
          <p:cNvPr id="10" name="Rectangle 9"/>
          <p:cNvSpPr/>
          <p:nvPr/>
        </p:nvSpPr>
        <p:spPr>
          <a:xfrm>
            <a:off x="2339752" y="3789040"/>
            <a:ext cx="4513592" cy="10801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b="1" dirty="0" smtClean="0">
                <a:ln w="900" cmpd="sng">
                  <a:solidFill>
                    <a:schemeClr val="accent1">
                      <a:lumMod val="50000"/>
                      <a:alpha val="55000"/>
                    </a:schemeClr>
                  </a:solidFill>
                  <a:prstDash val="solid"/>
                </a:ln>
                <a:solidFill>
                  <a:schemeClr val="bg2">
                    <a:lumMod val="75000"/>
                  </a:schemeClr>
                </a:solidFill>
              </a:rPr>
              <a:t>Achievement Motivation: Weiner, Feather, Dweck, Wong, &amp; Gallup</a:t>
            </a:r>
            <a:endParaRPr lang="en-CA" b="1" dirty="0">
              <a:ln w="900" cmpd="sng">
                <a:solidFill>
                  <a:schemeClr val="accent1">
                    <a:lumMod val="50000"/>
                    <a:alpha val="55000"/>
                  </a:schemeClr>
                </a:solidFill>
                <a:prstDash val="solid"/>
              </a:ln>
              <a:solidFill>
                <a:schemeClr val="bg2">
                  <a:lumMod val="75000"/>
                </a:schemeClr>
              </a:solidFill>
            </a:endParaRPr>
          </a:p>
        </p:txBody>
      </p:sp>
      <p:sp>
        <p:nvSpPr>
          <p:cNvPr id="11" name="Rectangle 10"/>
          <p:cNvSpPr/>
          <p:nvPr/>
        </p:nvSpPr>
        <p:spPr>
          <a:xfrm>
            <a:off x="2339752" y="2708920"/>
            <a:ext cx="4513592" cy="108012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pPr algn="ctr"/>
            <a:r>
              <a:rPr lang="en-CA" b="1" cap="all" dirty="0" smtClean="0">
                <a:ln w="0"/>
                <a:solidFill>
                  <a:schemeClr val="bg2">
                    <a:lumMod val="75000"/>
                  </a:schemeClr>
                </a:solidFill>
                <a:effectLst/>
              </a:rPr>
              <a:t>Meaning &amp; Purpose:</a:t>
            </a:r>
          </a:p>
          <a:p>
            <a:pPr algn="ctr"/>
            <a:r>
              <a:rPr lang="en-CA" b="1" cap="all" dirty="0" smtClean="0">
                <a:ln w="0"/>
                <a:solidFill>
                  <a:schemeClr val="bg2">
                    <a:lumMod val="75000"/>
                  </a:schemeClr>
                </a:solidFill>
                <a:effectLst/>
              </a:rPr>
              <a:t>PURE &amp; ABCDE</a:t>
            </a:r>
            <a:endParaRPr lang="en-CA" b="1" cap="all" dirty="0">
              <a:ln w="0"/>
              <a:solidFill>
                <a:schemeClr val="bg2">
                  <a:lumMod val="75000"/>
                </a:schemeClr>
              </a:solidFill>
              <a:effectLst/>
            </a:endParaRPr>
          </a:p>
        </p:txBody>
      </p:sp>
      <p:sp>
        <p:nvSpPr>
          <p:cNvPr id="12" name="Isosceles Triangle 11"/>
          <p:cNvSpPr/>
          <p:nvPr/>
        </p:nvSpPr>
        <p:spPr>
          <a:xfrm>
            <a:off x="1428195" y="1196752"/>
            <a:ext cx="6336705" cy="1512168"/>
          </a:xfrm>
          <a:prstGeom prst="triangl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smtClean="0"/>
              <a:t>Well-being &amp; </a:t>
            </a:r>
          </a:p>
          <a:p>
            <a:pPr algn="ctr"/>
            <a:r>
              <a:rPr lang="en-CA" dirty="0" smtClean="0"/>
              <a:t>Sustainable Growth for Self and Others</a:t>
            </a:r>
          </a:p>
          <a:p>
            <a:pPr algn="ctr"/>
            <a:endParaRPr lang="en-CA" dirty="0"/>
          </a:p>
        </p:txBody>
      </p:sp>
      <p:sp>
        <p:nvSpPr>
          <p:cNvPr id="13" name="Rounded Rectangle 12"/>
          <p:cNvSpPr/>
          <p:nvPr/>
        </p:nvSpPr>
        <p:spPr>
          <a:xfrm>
            <a:off x="1572211" y="5949280"/>
            <a:ext cx="6048673" cy="720080"/>
          </a:xfrm>
          <a:prstGeom prst="round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smtClean="0"/>
              <a:t>Foundations: Parents, Teachers, School Environment &amp; Curriculum</a:t>
            </a:r>
            <a:endParaRPr lang="en-CA" dirty="0"/>
          </a:p>
        </p:txBody>
      </p:sp>
      <p:sp>
        <p:nvSpPr>
          <p:cNvPr id="19" name="Title 18"/>
          <p:cNvSpPr>
            <a:spLocks noGrp="1"/>
          </p:cNvSpPr>
          <p:nvPr>
            <p:ph type="title"/>
          </p:nvPr>
        </p:nvSpPr>
        <p:spPr>
          <a:xfrm>
            <a:off x="251520" y="-171400"/>
            <a:ext cx="8928992" cy="1219200"/>
          </a:xfrm>
        </p:spPr>
        <p:txBody>
          <a:bodyPr>
            <a:normAutofit/>
          </a:bodyPr>
          <a:lstStyle/>
          <a:p>
            <a:r>
              <a:rPr lang="en-CA" dirty="0" smtClean="0"/>
              <a:t>An Alternative Vision of Positive Education</a:t>
            </a:r>
            <a:endParaRPr lang="en-CA" dirty="0"/>
          </a:p>
        </p:txBody>
      </p:sp>
    </p:spTree>
    <p:extLst>
      <p:ext uri="{BB962C8B-B14F-4D97-AF65-F5344CB8AC3E}">
        <p14:creationId xmlns:p14="http://schemas.microsoft.com/office/powerpoint/2010/main" val="292761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90264"/>
            <a:ext cx="8229600" cy="1143000"/>
          </a:xfrm>
        </p:spPr>
        <p:txBody>
          <a:bodyPr>
            <a:normAutofit/>
          </a:bodyPr>
          <a:lstStyle/>
          <a:p>
            <a:r>
              <a:rPr lang="en-US" sz="4400" b="1" dirty="0"/>
              <a:t>Caring and competent </a:t>
            </a:r>
            <a:r>
              <a:rPr lang="en-US" sz="4400" b="1" dirty="0" smtClean="0"/>
              <a:t>teachers</a:t>
            </a:r>
            <a:endParaRPr lang="en-CA" dirty="0"/>
          </a:p>
        </p:txBody>
      </p:sp>
      <p:sp>
        <p:nvSpPr>
          <p:cNvPr id="2" name="Content Placeholder 1"/>
          <p:cNvSpPr>
            <a:spLocks noGrp="1"/>
          </p:cNvSpPr>
          <p:nvPr>
            <p:ph idx="1"/>
          </p:nvPr>
        </p:nvSpPr>
        <p:spPr>
          <a:xfrm>
            <a:off x="457200" y="1196752"/>
            <a:ext cx="8435280" cy="5328592"/>
          </a:xfrm>
        </p:spPr>
        <p:txBody>
          <a:bodyPr>
            <a:normAutofit fontScale="62500" lnSpcReduction="20000"/>
          </a:bodyPr>
          <a:lstStyle/>
          <a:p>
            <a:pPr marL="0" indent="0">
              <a:buNone/>
            </a:pPr>
            <a:r>
              <a:rPr lang="en-US" sz="3800" b="1" i="1" dirty="0" smtClean="0"/>
              <a:t>Parker </a:t>
            </a:r>
            <a:r>
              <a:rPr lang="en-US" sz="3800" b="1" i="1" dirty="0"/>
              <a:t>J Palmer (1998): The courage to teach: Exploring the inner landscape of a teacher's life</a:t>
            </a:r>
            <a:endParaRPr lang="en-CA" sz="3800" dirty="0"/>
          </a:p>
          <a:p>
            <a:pPr lvl="0"/>
            <a:r>
              <a:rPr lang="en-US" sz="3500" dirty="0"/>
              <a:t>Good teaching comes from the personal identity and the integrity of the teacher</a:t>
            </a:r>
            <a:endParaRPr lang="en-CA" sz="3500" dirty="0"/>
          </a:p>
          <a:p>
            <a:pPr lvl="0"/>
            <a:r>
              <a:rPr lang="en-US" sz="3500" dirty="0"/>
              <a:t>Teachers need to develop a deeper understanding of what it means to fulfill the spiritual calling of teaching</a:t>
            </a:r>
            <a:endParaRPr lang="en-CA" sz="3500" dirty="0"/>
          </a:p>
          <a:p>
            <a:pPr lvl="0"/>
            <a:r>
              <a:rPr lang="en-US" sz="3500" dirty="0"/>
              <a:t>The inner life of the dedicated teachers shapes their teaching and learning</a:t>
            </a:r>
            <a:endParaRPr lang="en-CA" sz="3500" dirty="0"/>
          </a:p>
          <a:p>
            <a:pPr lvl="0"/>
            <a:r>
              <a:rPr lang="en-US" sz="3500" dirty="0"/>
              <a:t>Good teachers are able to weave a complex web of connections among themselves, their subjects, and their students and students learn from this web</a:t>
            </a:r>
            <a:endParaRPr lang="en-CA" sz="3500" dirty="0"/>
          </a:p>
          <a:p>
            <a:pPr lvl="0">
              <a:spcBef>
                <a:spcPts val="0"/>
              </a:spcBef>
            </a:pPr>
            <a:endParaRPr lang="en-US" sz="3500" dirty="0" smtClean="0"/>
          </a:p>
          <a:p>
            <a:pPr marL="0" lvl="0" indent="0">
              <a:buNone/>
            </a:pPr>
            <a:r>
              <a:rPr lang="en-US" sz="3800" dirty="0" smtClean="0"/>
              <a:t>Four </a:t>
            </a:r>
            <a:r>
              <a:rPr lang="en-US" sz="3800" dirty="0"/>
              <a:t>important questions for good teaching: </a:t>
            </a:r>
            <a:endParaRPr lang="en-CA" sz="3800" dirty="0"/>
          </a:p>
          <a:p>
            <a:pPr lvl="1"/>
            <a:r>
              <a:rPr lang="en-US" sz="3200" b="1" dirty="0"/>
              <a:t>What – </a:t>
            </a:r>
            <a:r>
              <a:rPr lang="en-US" sz="3200" dirty="0"/>
              <a:t>What is the content of the subject matter?</a:t>
            </a:r>
            <a:endParaRPr lang="en-CA" sz="3200" dirty="0"/>
          </a:p>
          <a:p>
            <a:pPr lvl="1"/>
            <a:r>
              <a:rPr lang="en-US" sz="3200" b="1" dirty="0"/>
              <a:t>How</a:t>
            </a:r>
            <a:r>
              <a:rPr lang="en-US" sz="3200" dirty="0"/>
              <a:t> – What methods are required to best teach the content?</a:t>
            </a:r>
            <a:endParaRPr lang="en-CA" sz="3200" dirty="0"/>
          </a:p>
          <a:p>
            <a:pPr lvl="1"/>
            <a:r>
              <a:rPr lang="en-US" sz="3200" b="1" dirty="0"/>
              <a:t>Why</a:t>
            </a:r>
            <a:r>
              <a:rPr lang="en-US" sz="3200" dirty="0"/>
              <a:t> – What is the justification for the content and methods used?</a:t>
            </a:r>
            <a:endParaRPr lang="en-CA" sz="3200" dirty="0"/>
          </a:p>
          <a:p>
            <a:pPr lvl="1"/>
            <a:r>
              <a:rPr lang="en-US" sz="3200" b="1" dirty="0"/>
              <a:t>Who</a:t>
            </a:r>
            <a:r>
              <a:rPr lang="en-US" sz="3200" dirty="0"/>
              <a:t> – Who is the teacher as an individual?</a:t>
            </a:r>
            <a:endParaRPr lang="en-CA" sz="3200" dirty="0"/>
          </a:p>
          <a:p>
            <a:endParaRPr lang="en-CA" dirty="0"/>
          </a:p>
        </p:txBody>
      </p:sp>
    </p:spTree>
    <p:extLst>
      <p:ext uri="{BB962C8B-B14F-4D97-AF65-F5344CB8AC3E}">
        <p14:creationId xmlns:p14="http://schemas.microsoft.com/office/powerpoint/2010/main" val="1450326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200" b="1" i="1" dirty="0"/>
              <a:t>A Sense of Calling: Who Teaches and Why. </a:t>
            </a:r>
            <a:r>
              <a:rPr lang="en-US" sz="3200" b="1" i="1" dirty="0" smtClean="0"/>
              <a:t/>
            </a:r>
            <a:br>
              <a:rPr lang="en-US" sz="3200" b="1" i="1" dirty="0" smtClean="0"/>
            </a:br>
            <a:r>
              <a:rPr lang="en-US" sz="3200" b="1" i="1" dirty="0" smtClean="0"/>
              <a:t>A </a:t>
            </a:r>
            <a:r>
              <a:rPr lang="en-US" sz="3200" b="1" i="1" dirty="0"/>
              <a:t>Report from Public Agenda</a:t>
            </a:r>
            <a:r>
              <a:rPr lang="en-US" sz="3200" b="1" dirty="0"/>
              <a:t> (2000</a:t>
            </a:r>
            <a:r>
              <a:rPr lang="en-US" sz="3200" b="1" dirty="0" smtClean="0"/>
              <a:t>)</a:t>
            </a:r>
            <a:endParaRPr lang="en-CA" sz="3200" dirty="0"/>
          </a:p>
        </p:txBody>
      </p:sp>
      <p:sp>
        <p:nvSpPr>
          <p:cNvPr id="2" name="Content Placeholder 1"/>
          <p:cNvSpPr>
            <a:spLocks noGrp="1"/>
          </p:cNvSpPr>
          <p:nvPr>
            <p:ph idx="1"/>
          </p:nvPr>
        </p:nvSpPr>
        <p:spPr/>
        <p:txBody>
          <a:bodyPr>
            <a:normAutofit fontScale="92500" lnSpcReduction="20000"/>
          </a:bodyPr>
          <a:lstStyle/>
          <a:p>
            <a:pPr lvl="0"/>
            <a:r>
              <a:rPr lang="en-US" dirty="0" smtClean="0"/>
              <a:t>Beginning </a:t>
            </a:r>
            <a:r>
              <a:rPr lang="en-US" dirty="0"/>
              <a:t>teachers were motivated, committed, and doing what they wanted to </a:t>
            </a:r>
            <a:r>
              <a:rPr lang="en-US" dirty="0" smtClean="0"/>
              <a:t>do.</a:t>
            </a:r>
            <a:endParaRPr lang="en-CA" dirty="0"/>
          </a:p>
          <a:p>
            <a:pPr lvl="0"/>
            <a:r>
              <a:rPr lang="en-US" dirty="0"/>
              <a:t>Incentives other than salaries actually attracted people to the teaching </a:t>
            </a:r>
            <a:r>
              <a:rPr lang="en-US" dirty="0" smtClean="0"/>
              <a:t>profession.</a:t>
            </a:r>
            <a:endParaRPr lang="en-CA" dirty="0"/>
          </a:p>
          <a:p>
            <a:pPr lvl="0"/>
            <a:r>
              <a:rPr lang="en-US" dirty="0"/>
              <a:t>Main worry was that they could not make a </a:t>
            </a:r>
            <a:r>
              <a:rPr lang="en-US" dirty="0" smtClean="0"/>
              <a:t>difference.</a:t>
            </a:r>
            <a:endParaRPr lang="en-CA" dirty="0"/>
          </a:p>
          <a:p>
            <a:pPr lvl="0"/>
            <a:r>
              <a:rPr lang="en-US" dirty="0"/>
              <a:t>Teachers believed that good teaching comes from what happens daily in the </a:t>
            </a:r>
            <a:r>
              <a:rPr lang="en-US" dirty="0" smtClean="0"/>
              <a:t>classroom.</a:t>
            </a:r>
            <a:endParaRPr lang="en-CA" dirty="0" smtClean="0"/>
          </a:p>
          <a:p>
            <a:pPr marL="0" indent="0">
              <a:buNone/>
            </a:pPr>
            <a:endParaRPr lang="en-US" b="1" dirty="0" smtClean="0"/>
          </a:p>
          <a:p>
            <a:pPr marL="0" indent="0">
              <a:buNone/>
            </a:pPr>
            <a:r>
              <a:rPr lang="en-US" b="1" dirty="0" smtClean="0"/>
              <a:t>Some of the findings</a:t>
            </a:r>
            <a:r>
              <a:rPr lang="en-US" dirty="0" smtClean="0"/>
              <a:t>:</a:t>
            </a:r>
            <a:endParaRPr lang="en-CA" dirty="0" smtClean="0"/>
          </a:p>
          <a:p>
            <a:pPr lvl="1"/>
            <a:r>
              <a:rPr lang="en-US" sz="2400" dirty="0" smtClean="0"/>
              <a:t>Teaching </a:t>
            </a:r>
            <a:r>
              <a:rPr lang="en-US" sz="2400" dirty="0"/>
              <a:t>is the work I love to do -- 96%</a:t>
            </a:r>
            <a:endParaRPr lang="en-CA" sz="2400" dirty="0"/>
          </a:p>
          <a:p>
            <a:pPr lvl="1"/>
            <a:r>
              <a:rPr lang="en-US" sz="2400" dirty="0"/>
              <a:t>I would choose teaching again -- 80%</a:t>
            </a:r>
            <a:endParaRPr lang="en-CA" sz="2400" dirty="0"/>
          </a:p>
          <a:p>
            <a:pPr lvl="1"/>
            <a:r>
              <a:rPr lang="en-US" sz="2400" dirty="0"/>
              <a:t>Teaching is a life-long choice -- 75%</a:t>
            </a:r>
            <a:endParaRPr lang="en-CA" sz="2400" dirty="0"/>
          </a:p>
          <a:p>
            <a:pPr lvl="1"/>
            <a:r>
              <a:rPr lang="en-US" sz="2400" dirty="0"/>
              <a:t>I get a lot of satisfaction out of teaching -- 68%</a:t>
            </a:r>
            <a:endParaRPr lang="en-CA" sz="2400" dirty="0"/>
          </a:p>
          <a:p>
            <a:pPr lvl="1"/>
            <a:r>
              <a:rPr lang="en-US" sz="2400" dirty="0"/>
              <a:t>Getting into teaching by chance --12%</a:t>
            </a:r>
            <a:endParaRPr lang="en-CA" sz="2400" dirty="0"/>
          </a:p>
          <a:p>
            <a:endParaRPr lang="en-CA" dirty="0"/>
          </a:p>
        </p:txBody>
      </p:sp>
    </p:spTree>
    <p:extLst>
      <p:ext uri="{BB962C8B-B14F-4D97-AF65-F5344CB8AC3E}">
        <p14:creationId xmlns:p14="http://schemas.microsoft.com/office/powerpoint/2010/main" val="3865707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99392"/>
            <a:ext cx="8229600" cy="1143000"/>
          </a:xfrm>
        </p:spPr>
        <p:txBody>
          <a:bodyPr>
            <a:normAutofit/>
          </a:bodyPr>
          <a:lstStyle/>
          <a:p>
            <a:r>
              <a:rPr lang="en-US" b="1" dirty="0"/>
              <a:t>The need for personal growth in </a:t>
            </a:r>
            <a:r>
              <a:rPr lang="en-US" b="1" dirty="0" smtClean="0"/>
              <a:t>teachers</a:t>
            </a:r>
            <a:endParaRPr lang="en-CA" dirty="0"/>
          </a:p>
        </p:txBody>
      </p:sp>
      <p:sp>
        <p:nvSpPr>
          <p:cNvPr id="2" name="Content Placeholder 1"/>
          <p:cNvSpPr>
            <a:spLocks noGrp="1"/>
          </p:cNvSpPr>
          <p:nvPr>
            <p:ph idx="1"/>
          </p:nvPr>
        </p:nvSpPr>
        <p:spPr>
          <a:xfrm>
            <a:off x="457200" y="1600200"/>
            <a:ext cx="8291264" cy="4853136"/>
          </a:xfrm>
        </p:spPr>
        <p:txBody>
          <a:bodyPr>
            <a:normAutofit lnSpcReduction="10000"/>
          </a:bodyPr>
          <a:lstStyle/>
          <a:p>
            <a:pPr marL="0" indent="0">
              <a:buNone/>
            </a:pPr>
            <a:r>
              <a:rPr lang="en-US" b="1" dirty="0" smtClean="0"/>
              <a:t>Setting </a:t>
            </a:r>
            <a:r>
              <a:rPr lang="en-US" b="1" dirty="0"/>
              <a:t>an example</a:t>
            </a:r>
            <a:endParaRPr lang="en-CA" dirty="0"/>
          </a:p>
          <a:p>
            <a:pPr marL="0" indent="0" algn="ctr">
              <a:buNone/>
            </a:pPr>
            <a:r>
              <a:rPr lang="en-US" i="1" dirty="0" smtClean="0"/>
              <a:t>“</a:t>
            </a:r>
            <a:r>
              <a:rPr lang="en-US" i="1" dirty="0"/>
              <a:t>If your actions inspire others to dream more, learn more, do more and become more, you are a leader</a:t>
            </a:r>
            <a:r>
              <a:rPr lang="en-US" i="1" dirty="0" smtClean="0"/>
              <a:t>.”</a:t>
            </a:r>
          </a:p>
          <a:p>
            <a:pPr marL="0" indent="0" algn="ctr">
              <a:buNone/>
            </a:pPr>
            <a:r>
              <a:rPr lang="en-US" sz="1800" dirty="0" smtClean="0"/>
              <a:t>- John </a:t>
            </a:r>
            <a:r>
              <a:rPr lang="en-US" sz="1800" dirty="0"/>
              <a:t>Quincy Adams</a:t>
            </a:r>
            <a:endParaRPr lang="en-CA" sz="1800" dirty="0"/>
          </a:p>
          <a:p>
            <a:pPr marL="0" indent="0">
              <a:buNone/>
            </a:pPr>
            <a:endParaRPr lang="en-US" b="1" dirty="0" smtClean="0"/>
          </a:p>
          <a:p>
            <a:pPr marL="0" indent="0">
              <a:buNone/>
            </a:pPr>
            <a:r>
              <a:rPr lang="en-US" b="1" dirty="0" smtClean="0"/>
              <a:t>Constructive </a:t>
            </a:r>
            <a:r>
              <a:rPr lang="en-US" b="1" dirty="0"/>
              <a:t>personality change (Rogers)</a:t>
            </a:r>
            <a:endParaRPr lang="en-CA" dirty="0"/>
          </a:p>
          <a:p>
            <a:pPr lvl="1"/>
            <a:r>
              <a:rPr lang="en-US" sz="2200" dirty="0"/>
              <a:t>Promoting self-discipline</a:t>
            </a:r>
            <a:endParaRPr lang="en-CA" sz="2200" dirty="0"/>
          </a:p>
          <a:p>
            <a:pPr lvl="1"/>
            <a:r>
              <a:rPr lang="en-US" sz="2200" dirty="0"/>
              <a:t>Encouraging self-motivation</a:t>
            </a:r>
            <a:endParaRPr lang="en-CA" sz="2200" dirty="0"/>
          </a:p>
          <a:p>
            <a:pPr lvl="1"/>
            <a:r>
              <a:rPr lang="en-US" sz="2200" dirty="0"/>
              <a:t>Facilitating academic engagement</a:t>
            </a:r>
            <a:endParaRPr lang="en-CA" sz="2200" dirty="0"/>
          </a:p>
          <a:p>
            <a:pPr lvl="1"/>
            <a:r>
              <a:rPr lang="en-US" sz="2200" dirty="0"/>
              <a:t>Genuineness</a:t>
            </a:r>
            <a:endParaRPr lang="en-CA" sz="2200" dirty="0"/>
          </a:p>
          <a:p>
            <a:pPr lvl="1"/>
            <a:r>
              <a:rPr lang="en-US" sz="2200" dirty="0"/>
              <a:t>Understanding (empathy)</a:t>
            </a:r>
            <a:endParaRPr lang="en-CA" sz="2200" dirty="0"/>
          </a:p>
          <a:p>
            <a:pPr lvl="1"/>
            <a:r>
              <a:rPr lang="en-US" sz="2200" dirty="0"/>
              <a:t>Positive regards and warm acceptance</a:t>
            </a:r>
            <a:endParaRPr lang="en-CA" sz="2200" dirty="0"/>
          </a:p>
          <a:p>
            <a:endParaRPr lang="en-CA" dirty="0"/>
          </a:p>
        </p:txBody>
      </p:sp>
    </p:spTree>
    <p:extLst>
      <p:ext uri="{BB962C8B-B14F-4D97-AF65-F5344CB8AC3E}">
        <p14:creationId xmlns:p14="http://schemas.microsoft.com/office/powerpoint/2010/main" val="2703582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b="1" dirty="0"/>
              <a:t>What the Administrators can do to build positive </a:t>
            </a:r>
            <a:r>
              <a:rPr lang="en-US" b="1" dirty="0" smtClean="0"/>
              <a:t>schools</a:t>
            </a:r>
            <a:endParaRPr lang="en-CA" dirty="0"/>
          </a:p>
        </p:txBody>
      </p:sp>
      <p:sp>
        <p:nvSpPr>
          <p:cNvPr id="2" name="Content Placeholder 1"/>
          <p:cNvSpPr>
            <a:spLocks noGrp="1"/>
          </p:cNvSpPr>
          <p:nvPr>
            <p:ph idx="1"/>
          </p:nvPr>
        </p:nvSpPr>
        <p:spPr/>
        <p:txBody>
          <a:bodyPr>
            <a:normAutofit fontScale="92500" lnSpcReduction="20000"/>
          </a:bodyPr>
          <a:lstStyle/>
          <a:p>
            <a:r>
              <a:rPr lang="en-US" dirty="0" smtClean="0"/>
              <a:t>Engaging </a:t>
            </a:r>
            <a:r>
              <a:rPr lang="en-US" dirty="0"/>
              <a:t>the students &amp; teachers</a:t>
            </a:r>
            <a:endParaRPr lang="en-CA" dirty="0"/>
          </a:p>
          <a:p>
            <a:pPr lvl="0"/>
            <a:r>
              <a:rPr lang="en-US" dirty="0"/>
              <a:t>Spreading the love of learning</a:t>
            </a:r>
            <a:endParaRPr lang="en-CA" dirty="0"/>
          </a:p>
          <a:p>
            <a:pPr lvl="0"/>
            <a:r>
              <a:rPr lang="en-US" dirty="0"/>
              <a:t>Building relationships</a:t>
            </a:r>
            <a:endParaRPr lang="en-CA" dirty="0"/>
          </a:p>
          <a:p>
            <a:pPr lvl="0"/>
            <a:r>
              <a:rPr lang="en-US" dirty="0"/>
              <a:t>Clearly communicating what is expected</a:t>
            </a:r>
            <a:endParaRPr lang="en-CA" dirty="0"/>
          </a:p>
          <a:p>
            <a:pPr lvl="0"/>
            <a:r>
              <a:rPr lang="en-US" dirty="0"/>
              <a:t>Welcoming everyone’s input</a:t>
            </a:r>
            <a:endParaRPr lang="en-CA" dirty="0"/>
          </a:p>
          <a:p>
            <a:pPr lvl="0"/>
            <a:r>
              <a:rPr lang="en-US" dirty="0"/>
              <a:t>Deciding on what matters most</a:t>
            </a:r>
            <a:endParaRPr lang="en-CA" dirty="0"/>
          </a:p>
          <a:p>
            <a:pPr lvl="0"/>
            <a:r>
              <a:rPr lang="en-US" dirty="0"/>
              <a:t>Creating a positive climate</a:t>
            </a:r>
            <a:endParaRPr lang="en-CA" dirty="0"/>
          </a:p>
          <a:p>
            <a:pPr lvl="0"/>
            <a:r>
              <a:rPr lang="en-US" dirty="0"/>
              <a:t>Meeting the basic needs for meaning and spirituality</a:t>
            </a:r>
            <a:endParaRPr lang="en-CA" dirty="0"/>
          </a:p>
          <a:p>
            <a:pPr lvl="0"/>
            <a:r>
              <a:rPr lang="en-US" dirty="0"/>
              <a:t>Building a caring, cooperative community</a:t>
            </a:r>
            <a:endParaRPr lang="en-CA" dirty="0"/>
          </a:p>
          <a:p>
            <a:pPr lvl="0"/>
            <a:r>
              <a:rPr lang="en-US" dirty="0"/>
              <a:t>Valuing each one’s talent and uniqueness</a:t>
            </a:r>
            <a:endParaRPr lang="en-CA" dirty="0"/>
          </a:p>
          <a:p>
            <a:pPr lvl="0"/>
            <a:r>
              <a:rPr lang="en-US" dirty="0"/>
              <a:t>Building on each one’s strengths and interests</a:t>
            </a:r>
            <a:endParaRPr lang="en-CA" dirty="0"/>
          </a:p>
          <a:p>
            <a:pPr lvl="0"/>
            <a:r>
              <a:rPr lang="en-US" dirty="0"/>
              <a:t>Validating and empowering each others</a:t>
            </a:r>
            <a:endParaRPr lang="en-CA" dirty="0"/>
          </a:p>
          <a:p>
            <a:pPr lvl="0"/>
            <a:r>
              <a:rPr lang="en-US" dirty="0"/>
              <a:t>Creating an engaged learning environment</a:t>
            </a:r>
            <a:endParaRPr lang="en-CA" dirty="0"/>
          </a:p>
          <a:p>
            <a:endParaRPr lang="en-CA" dirty="0"/>
          </a:p>
        </p:txBody>
      </p:sp>
    </p:spTree>
    <p:extLst>
      <p:ext uri="{BB962C8B-B14F-4D97-AF65-F5344CB8AC3E}">
        <p14:creationId xmlns:p14="http://schemas.microsoft.com/office/powerpoint/2010/main" val="24232045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32656"/>
            <a:ext cx="8229600" cy="868958"/>
          </a:xfrm>
        </p:spPr>
        <p:txBody>
          <a:bodyPr anchor="t">
            <a:normAutofit fontScale="90000"/>
          </a:bodyPr>
          <a:lstStyle/>
          <a:p>
            <a:pPr algn="ctr"/>
            <a:r>
              <a:rPr lang="en-CA" sz="4800" dirty="0"/>
              <a:t>Adler’s 3 R’s of Good Citizenship</a:t>
            </a:r>
          </a:p>
        </p:txBody>
      </p:sp>
      <p:sp>
        <p:nvSpPr>
          <p:cNvPr id="3" name="Content Placeholder 2"/>
          <p:cNvSpPr>
            <a:spLocks noGrp="1"/>
          </p:cNvSpPr>
          <p:nvPr>
            <p:ph idx="1"/>
          </p:nvPr>
        </p:nvSpPr>
        <p:spPr/>
        <p:txBody>
          <a:bodyPr>
            <a:noAutofit/>
          </a:bodyPr>
          <a:lstStyle/>
          <a:p>
            <a:pPr lvl="0"/>
            <a:endParaRPr lang="en-CA" sz="2800" dirty="0" smtClean="0"/>
          </a:p>
          <a:p>
            <a:pPr lvl="0"/>
            <a:endParaRPr lang="en-CA" sz="2800" dirty="0"/>
          </a:p>
          <a:p>
            <a:pPr lvl="0"/>
            <a:endParaRPr lang="en-CA" sz="2800" dirty="0" smtClean="0"/>
          </a:p>
          <a:p>
            <a:pPr marL="0" lvl="0" indent="0">
              <a:buNone/>
            </a:pPr>
            <a:endParaRPr lang="en-CA" sz="2800" dirty="0" smtClean="0"/>
          </a:p>
          <a:p>
            <a:pPr marL="0" lvl="0" indent="0">
              <a:buNone/>
            </a:pPr>
            <a:endParaRPr lang="en-CA" sz="2800" dirty="0"/>
          </a:p>
          <a:p>
            <a:pPr marL="0" lvl="0" indent="0">
              <a:buNone/>
            </a:pPr>
            <a:endParaRPr lang="en-CA" sz="2800" dirty="0"/>
          </a:p>
          <a:p>
            <a:pPr marL="0" indent="0">
              <a:buNone/>
            </a:pPr>
            <a:r>
              <a:rPr lang="en-US" sz="2800" dirty="0" smtClean="0"/>
              <a:t>Please </a:t>
            </a:r>
            <a:r>
              <a:rPr lang="en-US" sz="2800" dirty="0"/>
              <a:t>visit: </a:t>
            </a:r>
            <a:r>
              <a:rPr lang="en-US" sz="2800" u="sng" dirty="0">
                <a:solidFill>
                  <a:schemeClr val="accent1">
                    <a:lumMod val="20000"/>
                    <a:lumOff val="80000"/>
                  </a:schemeClr>
                </a:solidFill>
              </a:rPr>
              <a:t>http://www.education.gov.za/LinkClick.aspx?fileticket=n76lN9ho8Ks%3D&amp;tabid=93&amp;mid=1130</a:t>
            </a:r>
            <a:endParaRPr lang="en-CA" sz="2800" dirty="0">
              <a:solidFill>
                <a:schemeClr val="accent1">
                  <a:lumMod val="20000"/>
                  <a:lumOff val="80000"/>
                </a:schemeClr>
              </a:solidFill>
            </a:endParaRPr>
          </a:p>
          <a:p>
            <a:pPr marL="0" lvl="0" indent="0">
              <a:buNone/>
            </a:pPr>
            <a:endParaRPr lang="en-CA" sz="3200" dirty="0"/>
          </a:p>
        </p:txBody>
      </p:sp>
      <p:sp>
        <p:nvSpPr>
          <p:cNvPr id="5" name="Content Placeholder 2"/>
          <p:cNvSpPr txBox="1">
            <a:spLocks/>
          </p:cNvSpPr>
          <p:nvPr/>
        </p:nvSpPr>
        <p:spPr>
          <a:xfrm>
            <a:off x="904056" y="1449288"/>
            <a:ext cx="3379912" cy="4572000"/>
          </a:xfrm>
          <a:prstGeom prst="rect">
            <a:avLst/>
          </a:prstGeom>
        </p:spPr>
        <p:txBody>
          <a:bodyPr vert="horz">
            <a:no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endParaRPr lang="en-CA" sz="3200" b="1" dirty="0" smtClean="0"/>
          </a:p>
          <a:p>
            <a:r>
              <a:rPr lang="en-CA" sz="3200" b="1" dirty="0" smtClean="0"/>
              <a:t>R</a:t>
            </a:r>
            <a:r>
              <a:rPr lang="en-CA" sz="3200" dirty="0" smtClean="0"/>
              <a:t>esponsibility</a:t>
            </a:r>
          </a:p>
          <a:p>
            <a:r>
              <a:rPr lang="en-CA" sz="3200" b="1" dirty="0" smtClean="0"/>
              <a:t>R</a:t>
            </a:r>
            <a:r>
              <a:rPr lang="en-CA" sz="3200" dirty="0" smtClean="0"/>
              <a:t>espect</a:t>
            </a:r>
          </a:p>
          <a:p>
            <a:r>
              <a:rPr lang="en-CA" sz="3200" b="1" dirty="0" smtClean="0"/>
              <a:t>R</a:t>
            </a:r>
            <a:r>
              <a:rPr lang="en-CA" sz="3200" dirty="0" smtClean="0"/>
              <a:t>esourcefulness</a:t>
            </a:r>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11960" y="1772816"/>
            <a:ext cx="4176464" cy="2818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395536" y="1556792"/>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82046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48680"/>
            <a:ext cx="7772400" cy="1872208"/>
          </a:xfrm>
        </p:spPr>
        <p:txBody>
          <a:bodyPr anchor="t">
            <a:normAutofit/>
          </a:bodyPr>
          <a:lstStyle/>
          <a:p>
            <a:pPr algn="ctr"/>
            <a:r>
              <a:rPr lang="en-CA" sz="4800" dirty="0" smtClean="0"/>
              <a:t>Adler on Responsibility</a:t>
            </a:r>
            <a:endParaRPr lang="en-CA" sz="4400" dirty="0"/>
          </a:p>
        </p:txBody>
      </p:sp>
      <p:sp>
        <p:nvSpPr>
          <p:cNvPr id="3" name="Content Placeholder 2"/>
          <p:cNvSpPr>
            <a:spLocks noGrp="1"/>
          </p:cNvSpPr>
          <p:nvPr>
            <p:ph idx="1"/>
          </p:nvPr>
        </p:nvSpPr>
        <p:spPr>
          <a:xfrm>
            <a:off x="457200" y="1524000"/>
            <a:ext cx="8075240" cy="3993232"/>
          </a:xfrm>
        </p:spPr>
        <p:txBody>
          <a:bodyPr>
            <a:noAutofit/>
          </a:bodyPr>
          <a:lstStyle/>
          <a:p>
            <a:endParaRPr lang="en-CA" sz="2500" dirty="0" smtClean="0"/>
          </a:p>
          <a:p>
            <a:r>
              <a:rPr lang="en-US" sz="2500" dirty="0" smtClean="0"/>
              <a:t>Provide </a:t>
            </a:r>
            <a:r>
              <a:rPr lang="en-US" sz="2500" dirty="0"/>
              <a:t>an encouraging and democratic </a:t>
            </a:r>
            <a:r>
              <a:rPr lang="en-US" sz="2500" dirty="0" smtClean="0"/>
              <a:t>environment</a:t>
            </a:r>
          </a:p>
          <a:p>
            <a:r>
              <a:rPr lang="en-US" sz="2500" dirty="0" smtClean="0"/>
              <a:t>Encourage social interests &amp; cooperation.</a:t>
            </a:r>
          </a:p>
          <a:p>
            <a:r>
              <a:rPr lang="en-CA" sz="2500" dirty="0"/>
              <a:t>Discipline thru natural &amp; logical </a:t>
            </a:r>
            <a:r>
              <a:rPr lang="en-CA" sz="2500" dirty="0" smtClean="0"/>
              <a:t>consequences.</a:t>
            </a:r>
            <a:endParaRPr lang="en-CA" sz="2500" dirty="0"/>
          </a:p>
          <a:p>
            <a:r>
              <a:rPr lang="en-US" sz="2500" dirty="0"/>
              <a:t>Avoid putting children in a position of inferiority.</a:t>
            </a:r>
            <a:endParaRPr lang="en-CA" sz="2500" dirty="0"/>
          </a:p>
          <a:p>
            <a:r>
              <a:rPr lang="en-US" sz="2500" dirty="0"/>
              <a:t>Don’t do </a:t>
            </a:r>
            <a:r>
              <a:rPr lang="en-US" sz="2500" dirty="0" smtClean="0"/>
              <a:t>for </a:t>
            </a:r>
            <a:r>
              <a:rPr lang="en-US" sz="2500" dirty="0"/>
              <a:t>children </a:t>
            </a:r>
            <a:r>
              <a:rPr lang="en-US" sz="2500" dirty="0" smtClean="0"/>
              <a:t>what </a:t>
            </a:r>
            <a:r>
              <a:rPr lang="en-US" sz="2500" dirty="0"/>
              <a:t>they can do themselves.</a:t>
            </a:r>
            <a:endParaRPr lang="en-CA" sz="2500" dirty="0"/>
          </a:p>
          <a:p>
            <a:r>
              <a:rPr lang="en-US" sz="2500" dirty="0" smtClean="0"/>
              <a:t>Both </a:t>
            </a:r>
            <a:r>
              <a:rPr lang="en-US" sz="2500" dirty="0"/>
              <a:t>pampering and neglect can undermine the development of responsibility</a:t>
            </a:r>
            <a:r>
              <a:rPr lang="en-US" sz="2500" dirty="0" smtClean="0"/>
              <a:t>.</a:t>
            </a:r>
            <a:endParaRPr lang="en-CA" sz="2500" dirty="0"/>
          </a:p>
          <a:p>
            <a:endParaRPr lang="en-CA" sz="2500" dirty="0"/>
          </a:p>
        </p:txBody>
      </p:sp>
      <p:cxnSp>
        <p:nvCxnSpPr>
          <p:cNvPr id="4" name="Straight Connector 3"/>
          <p:cNvCxnSpPr/>
          <p:nvPr/>
        </p:nvCxnSpPr>
        <p:spPr>
          <a:xfrm>
            <a:off x="395536" y="1412776"/>
            <a:ext cx="835292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24566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800" b="1" dirty="0"/>
              <a:t>Enhancing </a:t>
            </a:r>
            <a:r>
              <a:rPr lang="en-US" sz="3800" dirty="0" smtClean="0"/>
              <a:t>academic</a:t>
            </a:r>
            <a:r>
              <a:rPr lang="en-US" sz="3800" b="1" dirty="0" smtClean="0"/>
              <a:t> </a:t>
            </a:r>
            <a:r>
              <a:rPr lang="en-US" sz="3800" b="1" dirty="0"/>
              <a:t>motivation</a:t>
            </a:r>
            <a:r>
              <a:rPr lang="en-CA" dirty="0"/>
              <a:t/>
            </a:r>
            <a:br>
              <a:rPr lang="en-CA" dirty="0"/>
            </a:br>
            <a:endParaRPr lang="en-CA" dirty="0"/>
          </a:p>
        </p:txBody>
      </p:sp>
      <p:sp>
        <p:nvSpPr>
          <p:cNvPr id="2" name="Content Placeholder 1"/>
          <p:cNvSpPr>
            <a:spLocks noGrp="1"/>
          </p:cNvSpPr>
          <p:nvPr>
            <p:ph idx="1"/>
          </p:nvPr>
        </p:nvSpPr>
        <p:spPr/>
        <p:txBody>
          <a:bodyPr>
            <a:normAutofit/>
          </a:bodyPr>
          <a:lstStyle/>
          <a:p>
            <a:pPr marL="0" indent="0">
              <a:buNone/>
            </a:pPr>
            <a:r>
              <a:rPr lang="en-US" sz="2600" b="1" dirty="0" smtClean="0"/>
              <a:t>What </a:t>
            </a:r>
            <a:r>
              <a:rPr lang="en-US" sz="2600" b="1" dirty="0"/>
              <a:t>is success? </a:t>
            </a:r>
            <a:endParaRPr lang="en-CA" sz="2600" dirty="0"/>
          </a:p>
          <a:p>
            <a:pPr marL="365760" lvl="1" indent="0" algn="ctr">
              <a:buNone/>
            </a:pPr>
            <a:r>
              <a:rPr lang="en-US" sz="2400" dirty="0" smtClean="0">
                <a:solidFill>
                  <a:schemeClr val="tx1"/>
                </a:solidFill>
              </a:rPr>
              <a:t>“</a:t>
            </a:r>
            <a:r>
              <a:rPr lang="en-US" sz="2400" i="1" dirty="0" smtClean="0">
                <a:solidFill>
                  <a:schemeClr val="tx1"/>
                </a:solidFill>
              </a:rPr>
              <a:t>Success means having the courage, the determination, and the will to become the person </a:t>
            </a:r>
            <a:r>
              <a:rPr lang="en-US" sz="2400" i="1" dirty="0" smtClean="0"/>
              <a:t>you believe you were meant to be.</a:t>
            </a:r>
            <a:r>
              <a:rPr lang="en-US" sz="2400" dirty="0" smtClean="0"/>
              <a:t>”</a:t>
            </a:r>
            <a:r>
              <a:rPr lang="en-CA" sz="2400" dirty="0" smtClean="0">
                <a:solidFill>
                  <a:schemeClr val="tx1"/>
                </a:solidFill>
              </a:rPr>
              <a:t> </a:t>
            </a:r>
          </a:p>
          <a:p>
            <a:pPr marL="365760" lvl="1" indent="0" algn="ctr">
              <a:buNone/>
            </a:pPr>
            <a:r>
              <a:rPr lang="en-CA" sz="1800" dirty="0" smtClean="0">
                <a:solidFill>
                  <a:schemeClr val="tx1"/>
                </a:solidFill>
              </a:rPr>
              <a:t>- </a:t>
            </a:r>
            <a:r>
              <a:rPr lang="en-US" sz="1800" dirty="0" smtClean="0">
                <a:solidFill>
                  <a:schemeClr val="tx1"/>
                </a:solidFill>
              </a:rPr>
              <a:t>George </a:t>
            </a:r>
            <a:r>
              <a:rPr lang="en-US" sz="1800" dirty="0">
                <a:solidFill>
                  <a:schemeClr val="tx1"/>
                </a:solidFill>
              </a:rPr>
              <a:t>Sheehan</a:t>
            </a:r>
            <a:endParaRPr lang="en-CA" sz="1800" dirty="0">
              <a:solidFill>
                <a:schemeClr val="tx1"/>
              </a:solidFill>
            </a:endParaRPr>
          </a:p>
          <a:p>
            <a:pPr marL="0" indent="0">
              <a:spcBef>
                <a:spcPts val="1200"/>
              </a:spcBef>
              <a:buNone/>
            </a:pPr>
            <a:r>
              <a:rPr lang="en-US" sz="2600" b="1" dirty="0" smtClean="0"/>
              <a:t>The </a:t>
            </a:r>
            <a:r>
              <a:rPr lang="en-US" sz="2600" b="1" dirty="0"/>
              <a:t>importance of values</a:t>
            </a:r>
            <a:endParaRPr lang="en-CA" sz="2600" dirty="0"/>
          </a:p>
          <a:p>
            <a:pPr lvl="1"/>
            <a:r>
              <a:rPr lang="en-US" sz="2400" dirty="0"/>
              <a:t>Values are important in deciding on the choice of goals and influencing our motivation in different domains of </a:t>
            </a:r>
            <a:r>
              <a:rPr lang="en-US" sz="2400" dirty="0" smtClean="0"/>
              <a:t>life.</a:t>
            </a:r>
            <a:endParaRPr lang="en-CA" sz="2400" dirty="0"/>
          </a:p>
          <a:p>
            <a:pPr lvl="1"/>
            <a:r>
              <a:rPr lang="en-US" sz="2400" dirty="0"/>
              <a:t>Values are based on our needs, wants, desires, our past experiences and our beliefs regarding what really matters in life. Values are clearly related to cultural and social norms.</a:t>
            </a:r>
            <a:endParaRPr lang="en-CA" sz="2400" dirty="0"/>
          </a:p>
          <a:p>
            <a:endParaRPr lang="en-CA" dirty="0"/>
          </a:p>
        </p:txBody>
      </p:sp>
    </p:spTree>
    <p:extLst>
      <p:ext uri="{BB962C8B-B14F-4D97-AF65-F5344CB8AC3E}">
        <p14:creationId xmlns:p14="http://schemas.microsoft.com/office/powerpoint/2010/main" val="2925218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71400"/>
            <a:ext cx="8229600" cy="1143000"/>
          </a:xfrm>
        </p:spPr>
        <p:txBody>
          <a:bodyPr>
            <a:normAutofit/>
          </a:bodyPr>
          <a:lstStyle/>
          <a:p>
            <a:r>
              <a:rPr lang="en-US" sz="3500" b="1" dirty="0"/>
              <a:t>There are different conceptions of </a:t>
            </a:r>
            <a:r>
              <a:rPr lang="en-US" sz="3500" b="1" dirty="0" smtClean="0"/>
              <a:t>values</a:t>
            </a:r>
            <a:endParaRPr lang="en-CA" sz="3500" dirty="0"/>
          </a:p>
        </p:txBody>
      </p:sp>
      <p:sp>
        <p:nvSpPr>
          <p:cNvPr id="2" name="Content Placeholder 1"/>
          <p:cNvSpPr>
            <a:spLocks noGrp="1"/>
          </p:cNvSpPr>
          <p:nvPr>
            <p:ph idx="1"/>
          </p:nvPr>
        </p:nvSpPr>
        <p:spPr>
          <a:xfrm>
            <a:off x="457200" y="1307901"/>
            <a:ext cx="8363272" cy="4857403"/>
          </a:xfrm>
        </p:spPr>
        <p:txBody>
          <a:bodyPr>
            <a:normAutofit fontScale="92500" lnSpcReduction="10000"/>
          </a:bodyPr>
          <a:lstStyle/>
          <a:p>
            <a:pPr marL="0" indent="0">
              <a:buNone/>
            </a:pPr>
            <a:r>
              <a:rPr lang="en-US" sz="2800" b="1" dirty="0" smtClean="0"/>
              <a:t>Rokeach</a:t>
            </a:r>
            <a:r>
              <a:rPr lang="en-US" sz="2800" b="1" dirty="0" smtClean="0"/>
              <a:t> </a:t>
            </a:r>
            <a:r>
              <a:rPr lang="en-US" sz="2800" b="1" dirty="0"/>
              <a:t>(1973)</a:t>
            </a:r>
            <a:endParaRPr lang="en-CA" sz="2000" dirty="0"/>
          </a:p>
          <a:p>
            <a:pPr lvl="1">
              <a:buFont typeface="Wingdings" pitchFamily="2" charset="2"/>
              <a:buChar char="§"/>
            </a:pPr>
            <a:r>
              <a:rPr lang="en-US" sz="2400" dirty="0"/>
              <a:t>Terminal values</a:t>
            </a:r>
            <a:endParaRPr lang="en-CA" sz="2400" dirty="0"/>
          </a:p>
          <a:p>
            <a:pPr lvl="1">
              <a:buFont typeface="Wingdings" pitchFamily="2" charset="2"/>
              <a:buChar char="§"/>
            </a:pPr>
            <a:r>
              <a:rPr lang="en-US" sz="2400" dirty="0"/>
              <a:t>Instrumental values</a:t>
            </a:r>
            <a:endParaRPr lang="en-CA" sz="2400" dirty="0"/>
          </a:p>
          <a:p>
            <a:pPr marL="0" indent="0">
              <a:spcBef>
                <a:spcPts val="2400"/>
              </a:spcBef>
              <a:buNone/>
            </a:pPr>
            <a:r>
              <a:rPr lang="en-US" sz="2800" b="1" dirty="0"/>
              <a:t>Academic values (Ames, 1987)</a:t>
            </a:r>
            <a:endParaRPr lang="en-CA" sz="2000" dirty="0"/>
          </a:p>
          <a:p>
            <a:pPr lvl="1">
              <a:buFont typeface="Wingdings" pitchFamily="2" charset="2"/>
              <a:buChar char="§"/>
            </a:pPr>
            <a:r>
              <a:rPr lang="en-US" sz="2400" dirty="0"/>
              <a:t>Intrinsic mastery or learning values</a:t>
            </a:r>
            <a:endParaRPr lang="en-CA" sz="2400" dirty="0"/>
          </a:p>
          <a:p>
            <a:pPr lvl="1">
              <a:buFont typeface="Wingdings" pitchFamily="2" charset="2"/>
              <a:buChar char="§"/>
            </a:pPr>
            <a:r>
              <a:rPr lang="en-US" sz="2400" dirty="0"/>
              <a:t>Extrinsic social approval values</a:t>
            </a:r>
            <a:endParaRPr lang="en-CA" sz="2400" dirty="0"/>
          </a:p>
          <a:p>
            <a:pPr marL="0" indent="0">
              <a:spcBef>
                <a:spcPts val="2400"/>
              </a:spcBef>
              <a:buNone/>
            </a:pPr>
            <a:r>
              <a:rPr lang="en-US" sz="2800" b="1" dirty="0"/>
              <a:t>Task values (</a:t>
            </a:r>
            <a:r>
              <a:rPr lang="en-US" sz="2800" b="1" dirty="0"/>
              <a:t>Eccles</a:t>
            </a:r>
            <a:r>
              <a:rPr lang="en-US" sz="2800" b="1" dirty="0"/>
              <a:t> et al, 1983)</a:t>
            </a:r>
            <a:endParaRPr lang="en-CA" sz="2000" dirty="0"/>
          </a:p>
          <a:p>
            <a:pPr lvl="1">
              <a:buFont typeface="Wingdings" pitchFamily="2" charset="2"/>
              <a:buChar char="§"/>
            </a:pPr>
            <a:r>
              <a:rPr lang="en-US" sz="2200" dirty="0"/>
              <a:t>Attainment value – Doing a good job</a:t>
            </a:r>
            <a:endParaRPr lang="en-CA" sz="2200" dirty="0"/>
          </a:p>
          <a:p>
            <a:pPr lvl="1">
              <a:buFont typeface="Wingdings" pitchFamily="2" charset="2"/>
              <a:buChar char="§"/>
            </a:pPr>
            <a:r>
              <a:rPr lang="en-US" sz="2200" dirty="0"/>
              <a:t>Intrinsic values – Enjoying an activity</a:t>
            </a:r>
            <a:endParaRPr lang="en-CA" sz="2200" dirty="0"/>
          </a:p>
          <a:p>
            <a:pPr lvl="1">
              <a:buFont typeface="Wingdings" pitchFamily="2" charset="2"/>
              <a:buChar char="§"/>
            </a:pPr>
            <a:r>
              <a:rPr lang="en-US" sz="2200" dirty="0"/>
              <a:t>Utility values – Serving a future goal</a:t>
            </a:r>
            <a:endParaRPr lang="en-CA" sz="2200" dirty="0"/>
          </a:p>
          <a:p>
            <a:pPr lvl="1">
              <a:buFont typeface="Wingdings" pitchFamily="2" charset="2"/>
              <a:buChar char="§"/>
            </a:pPr>
            <a:r>
              <a:rPr lang="en-US" sz="2200" dirty="0"/>
              <a:t>Costs – The negative aspects of engaging in an activity</a:t>
            </a:r>
            <a:endParaRPr lang="en-CA" sz="2200" dirty="0"/>
          </a:p>
          <a:p>
            <a:endParaRPr lang="en-CA" dirty="0"/>
          </a:p>
        </p:txBody>
      </p:sp>
    </p:spTree>
    <p:extLst>
      <p:ext uri="{BB962C8B-B14F-4D97-AF65-F5344CB8AC3E}">
        <p14:creationId xmlns:p14="http://schemas.microsoft.com/office/powerpoint/2010/main" val="6271047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
            </a:r>
            <a:br>
              <a:rPr lang="en-CA" dirty="0" smtClean="0"/>
            </a:br>
            <a:r>
              <a:rPr lang="en-CA" dirty="0"/>
              <a:t/>
            </a:r>
            <a:br>
              <a:rPr lang="en-CA" dirty="0"/>
            </a:br>
            <a:r>
              <a:rPr lang="en-CA" dirty="0" smtClean="0"/>
              <a:t/>
            </a:r>
            <a:br>
              <a:rPr lang="en-CA" dirty="0" smtClean="0"/>
            </a:br>
            <a:r>
              <a:rPr lang="en-CA" sz="3300" dirty="0" smtClean="0"/>
              <a:t>Weiner’s Attribution Theory of Achievement (Weiner, 1979, 1985)</a:t>
            </a:r>
            <a:endParaRPr lang="en-CA" sz="3300" dirty="0"/>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389272558"/>
              </p:ext>
            </p:extLst>
          </p:nvPr>
        </p:nvGraphicFramePr>
        <p:xfrm>
          <a:off x="539551" y="1700808"/>
          <a:ext cx="3957154" cy="3528392"/>
        </p:xfrm>
        <a:graphic>
          <a:graphicData uri="http://schemas.openxmlformats.org/drawingml/2006/table">
            <a:tbl>
              <a:tblPr firstRow="1" bandRow="1">
                <a:tableStyleId>{5C22544A-7EE6-4342-B048-85BDC9FD1C3A}</a:tableStyleId>
              </a:tblPr>
              <a:tblGrid>
                <a:gridCol w="542883"/>
                <a:gridCol w="482247"/>
                <a:gridCol w="1314811"/>
                <a:gridCol w="1617213"/>
              </a:tblGrid>
              <a:tr h="552782">
                <a:tc>
                  <a:txBody>
                    <a:bodyPr/>
                    <a:lstStyle/>
                    <a:p>
                      <a:endParaRPr lang="en-CA" dirty="0"/>
                    </a:p>
                  </a:txBody>
                  <a:tcPr marL="80981" marR="80981" vert="vert270"/>
                </a:tc>
                <a:tc>
                  <a:txBody>
                    <a:bodyPr/>
                    <a:lstStyle/>
                    <a:p>
                      <a:endParaRPr lang="en-CA" dirty="0"/>
                    </a:p>
                  </a:txBody>
                  <a:tcPr marL="80981" marR="80981"/>
                </a:tc>
                <a:tc gridSpan="2">
                  <a:txBody>
                    <a:bodyPr/>
                    <a:lstStyle/>
                    <a:p>
                      <a:pPr algn="ctr"/>
                      <a:r>
                        <a:rPr lang="en-CA" sz="2200" b="1" u="none" dirty="0" smtClean="0"/>
                        <a:t>Stability</a:t>
                      </a:r>
                      <a:endParaRPr lang="en-CA" sz="2200" b="1" u="none" dirty="0"/>
                    </a:p>
                  </a:txBody>
                  <a:tcPr marL="80981" marR="80981"/>
                </a:tc>
                <a:tc hMerge="1">
                  <a:txBody>
                    <a:bodyPr/>
                    <a:lstStyle/>
                    <a:p>
                      <a:endParaRPr lang="en-CA" dirty="0"/>
                    </a:p>
                  </a:txBody>
                  <a:tcPr marL="90945" marR="90945"/>
                </a:tc>
              </a:tr>
              <a:tr h="427961">
                <a:tc>
                  <a:txBody>
                    <a:bodyPr/>
                    <a:lstStyle/>
                    <a:p>
                      <a:endParaRPr lang="en-CA" dirty="0"/>
                    </a:p>
                  </a:txBody>
                  <a:tcPr marL="80981" marR="80981" vert="vert270" anchor="b">
                    <a:solidFill>
                      <a:schemeClr val="accent1"/>
                    </a:solidFill>
                  </a:tcPr>
                </a:tc>
                <a:tc>
                  <a:txBody>
                    <a:bodyPr/>
                    <a:lstStyle/>
                    <a:p>
                      <a:endParaRPr lang="en-CA" b="1" u="sng" dirty="0"/>
                    </a:p>
                  </a:txBody>
                  <a:tcPr marL="80981" marR="80981">
                    <a:solidFill>
                      <a:schemeClr val="accent1">
                        <a:lumMod val="60000"/>
                        <a:lumOff val="40000"/>
                      </a:schemeClr>
                    </a:solidFill>
                  </a:tcPr>
                </a:tc>
                <a:tc>
                  <a:txBody>
                    <a:bodyPr/>
                    <a:lstStyle/>
                    <a:p>
                      <a:pPr algn="ctr"/>
                      <a:r>
                        <a:rPr lang="en-CA" b="1" u="none" dirty="0" smtClean="0"/>
                        <a:t>Low</a:t>
                      </a:r>
                      <a:endParaRPr lang="en-CA" b="1" u="none" dirty="0"/>
                    </a:p>
                  </a:txBody>
                  <a:tcPr marL="80981" marR="80981">
                    <a:solidFill>
                      <a:schemeClr val="accent1">
                        <a:lumMod val="60000"/>
                        <a:lumOff val="40000"/>
                      </a:schemeClr>
                    </a:solidFill>
                  </a:tcPr>
                </a:tc>
                <a:tc>
                  <a:txBody>
                    <a:bodyPr/>
                    <a:lstStyle/>
                    <a:p>
                      <a:pPr algn="ctr"/>
                      <a:r>
                        <a:rPr lang="en-CA" b="1" u="none" dirty="0" smtClean="0"/>
                        <a:t>High</a:t>
                      </a:r>
                      <a:endParaRPr lang="en-CA" b="1" u="none" dirty="0"/>
                    </a:p>
                  </a:txBody>
                  <a:tcPr marL="80981" marR="80981">
                    <a:solidFill>
                      <a:schemeClr val="accent1">
                        <a:lumMod val="60000"/>
                        <a:lumOff val="40000"/>
                      </a:schemeClr>
                    </a:solidFill>
                  </a:tcPr>
                </a:tc>
              </a:tr>
              <a:tr h="1101609">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200" b="1" dirty="0" smtClean="0">
                          <a:solidFill>
                            <a:schemeClr val="tx1"/>
                          </a:solidFill>
                        </a:rPr>
                        <a:t>Locus of Causality</a:t>
                      </a:r>
                      <a:endParaRPr lang="en-CA" dirty="0"/>
                    </a:p>
                  </a:txBody>
                  <a:tcPr marL="80981" marR="80981" vert="vert270" anchor="b">
                    <a:solidFill>
                      <a:schemeClr val="accent1"/>
                    </a:solidFill>
                  </a:tcPr>
                </a:tc>
                <a:tc>
                  <a:txBody>
                    <a:bodyPr/>
                    <a:lstStyle/>
                    <a:p>
                      <a:pPr algn="ctr"/>
                      <a:r>
                        <a:rPr lang="en-CA" b="1" u="none" dirty="0" smtClean="0"/>
                        <a:t>Internal</a:t>
                      </a:r>
                      <a:endParaRPr lang="en-CA" b="1" u="none" dirty="0"/>
                    </a:p>
                  </a:txBody>
                  <a:tcPr marL="80981" marR="80981" vert="vert270">
                    <a:solidFill>
                      <a:schemeClr val="accent1">
                        <a:lumMod val="60000"/>
                        <a:lumOff val="40000"/>
                      </a:schemeClr>
                    </a:solidFill>
                  </a:tcPr>
                </a:tc>
                <a:tc>
                  <a:txBody>
                    <a:bodyPr/>
                    <a:lstStyle/>
                    <a:p>
                      <a:pPr algn="ctr"/>
                      <a:r>
                        <a:rPr lang="en-CA" i="1" dirty="0" smtClean="0"/>
                        <a:t>Effort</a:t>
                      </a:r>
                      <a:endParaRPr lang="en-CA" i="1" dirty="0"/>
                    </a:p>
                  </a:txBody>
                  <a:tcPr marL="80981" marR="80981" anchor="ctr">
                    <a:solidFill>
                      <a:schemeClr val="accent1">
                        <a:lumMod val="20000"/>
                        <a:lumOff val="80000"/>
                      </a:schemeClr>
                    </a:solidFill>
                  </a:tcPr>
                </a:tc>
                <a:tc>
                  <a:txBody>
                    <a:bodyPr/>
                    <a:lstStyle/>
                    <a:p>
                      <a:pPr algn="ctr"/>
                      <a:r>
                        <a:rPr lang="en-CA" i="1" dirty="0" smtClean="0"/>
                        <a:t>Ability</a:t>
                      </a:r>
                      <a:endParaRPr lang="en-CA" i="1" dirty="0"/>
                    </a:p>
                  </a:txBody>
                  <a:tcPr marL="80981" marR="80981" anchor="ctr">
                    <a:solidFill>
                      <a:schemeClr val="accent1">
                        <a:lumMod val="20000"/>
                        <a:lumOff val="80000"/>
                      </a:schemeClr>
                    </a:solidFill>
                  </a:tcPr>
                </a:tc>
              </a:tr>
              <a:tr h="1446040">
                <a:tc vMerge="1">
                  <a:txBody>
                    <a:bodyPr/>
                    <a:lstStyle/>
                    <a:p>
                      <a:endParaRPr lang="en-CA" dirty="0"/>
                    </a:p>
                  </a:txBody>
                  <a:tcPr marL="90945" marR="90945"/>
                </a:tc>
                <a:tc>
                  <a:txBody>
                    <a:bodyPr/>
                    <a:lstStyle/>
                    <a:p>
                      <a:pPr algn="ctr"/>
                      <a:r>
                        <a:rPr lang="en-CA" b="1" u="none" dirty="0" smtClean="0"/>
                        <a:t>External</a:t>
                      </a:r>
                      <a:endParaRPr lang="en-CA" b="1" u="none" dirty="0"/>
                    </a:p>
                  </a:txBody>
                  <a:tcPr marL="80981" marR="80981" vert="vert270">
                    <a:solidFill>
                      <a:schemeClr val="accent1">
                        <a:lumMod val="60000"/>
                        <a:lumOff val="40000"/>
                      </a:schemeClr>
                    </a:solidFill>
                  </a:tcPr>
                </a:tc>
                <a:tc>
                  <a:txBody>
                    <a:bodyPr/>
                    <a:lstStyle/>
                    <a:p>
                      <a:pPr algn="ctr"/>
                      <a:r>
                        <a:rPr lang="en-CA" i="1" dirty="0" smtClean="0"/>
                        <a:t>Luck</a:t>
                      </a:r>
                      <a:endParaRPr lang="en-CA" i="1" dirty="0"/>
                    </a:p>
                  </a:txBody>
                  <a:tcPr marL="80981" marR="80981" anchor="ctr">
                    <a:solidFill>
                      <a:schemeClr val="accent1">
                        <a:lumMod val="20000"/>
                        <a:lumOff val="80000"/>
                      </a:schemeClr>
                    </a:solidFill>
                  </a:tcPr>
                </a:tc>
                <a:tc>
                  <a:txBody>
                    <a:bodyPr/>
                    <a:lstStyle/>
                    <a:p>
                      <a:pPr algn="ctr"/>
                      <a:r>
                        <a:rPr lang="en-CA" i="1" dirty="0" smtClean="0"/>
                        <a:t>Task Difficulty</a:t>
                      </a:r>
                      <a:endParaRPr lang="en-CA" i="1" dirty="0"/>
                    </a:p>
                  </a:txBody>
                  <a:tcPr marL="80981" marR="80981" anchor="ctr">
                    <a:solidFill>
                      <a:schemeClr val="accent1">
                        <a:lumMod val="20000"/>
                        <a:lumOff val="80000"/>
                      </a:schemeClr>
                    </a:solidFill>
                  </a:tcPr>
                </a:tc>
              </a:tr>
            </a:tbl>
          </a:graphicData>
        </a:graphic>
      </p:graphicFrame>
      <p:sp>
        <p:nvSpPr>
          <p:cNvPr id="8" name="Text Placeholder 7"/>
          <p:cNvSpPr>
            <a:spLocks noGrp="1"/>
          </p:cNvSpPr>
          <p:nvPr>
            <p:ph sz="half" idx="2"/>
          </p:nvPr>
        </p:nvSpPr>
        <p:spPr>
          <a:xfrm>
            <a:off x="4648200" y="1844825"/>
            <a:ext cx="4038600" cy="4680520"/>
          </a:xfrm>
        </p:spPr>
        <p:txBody>
          <a:bodyPr>
            <a:normAutofit/>
          </a:bodyPr>
          <a:lstStyle/>
          <a:p>
            <a:pPr marL="285750" indent="-285750" algn="l">
              <a:spcBef>
                <a:spcPts val="1200"/>
              </a:spcBef>
              <a:buFont typeface="Arial" pitchFamily="34" charset="0"/>
              <a:buChar char="•"/>
            </a:pPr>
            <a:r>
              <a:rPr lang="en-CA" sz="2400" dirty="0" smtClean="0"/>
              <a:t>The more attribution to stable factors, the greater the expectation that the same outcome will occur.</a:t>
            </a:r>
          </a:p>
          <a:p>
            <a:pPr marL="285750" indent="-285750" algn="l">
              <a:spcBef>
                <a:spcPts val="1200"/>
              </a:spcBef>
              <a:buFont typeface="Arial" pitchFamily="34" charset="0"/>
              <a:buChar char="•"/>
            </a:pPr>
            <a:r>
              <a:rPr lang="en-CA" sz="2400" dirty="0" smtClean="0"/>
              <a:t>The more attribution to internal factors following success, the greater the pride and self-esteem.</a:t>
            </a:r>
          </a:p>
          <a:p>
            <a:pPr marL="285750" indent="-285750" algn="l">
              <a:buFont typeface="Arial" pitchFamily="34" charset="0"/>
              <a:buChar char="•"/>
            </a:pPr>
            <a:endParaRPr lang="en-CA" b="1" dirty="0"/>
          </a:p>
        </p:txBody>
      </p:sp>
      <p:sp>
        <p:nvSpPr>
          <p:cNvPr id="11" name="Rectangle 10"/>
          <p:cNvSpPr/>
          <p:nvPr/>
        </p:nvSpPr>
        <p:spPr>
          <a:xfrm>
            <a:off x="539552" y="5487615"/>
            <a:ext cx="8280920" cy="461665"/>
          </a:xfrm>
          <a:prstGeom prst="rect">
            <a:avLst/>
          </a:prstGeom>
        </p:spPr>
        <p:txBody>
          <a:bodyPr wrap="square">
            <a:spAutoFit/>
          </a:bodyPr>
          <a:lstStyle/>
          <a:p>
            <a:pPr marL="285750" indent="-285750">
              <a:buFont typeface="Arial" pitchFamily="34" charset="0"/>
              <a:buChar char="•"/>
            </a:pPr>
            <a:r>
              <a:rPr lang="en-CA" sz="2400" dirty="0" smtClean="0">
                <a:solidFill>
                  <a:schemeClr val="accent1">
                    <a:lumMod val="20000"/>
                    <a:lumOff val="80000"/>
                  </a:schemeClr>
                </a:solidFill>
              </a:rPr>
              <a:t>Values are defined in terms of affective response to attribution.</a:t>
            </a:r>
          </a:p>
        </p:txBody>
      </p:sp>
    </p:spTree>
    <p:extLst>
      <p:ext uri="{BB962C8B-B14F-4D97-AF65-F5344CB8AC3E}">
        <p14:creationId xmlns:p14="http://schemas.microsoft.com/office/powerpoint/2010/main" val="29362595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8229600" cy="1143000"/>
          </a:xfrm>
        </p:spPr>
        <p:txBody>
          <a:bodyPr>
            <a:normAutofit fontScale="90000"/>
          </a:bodyPr>
          <a:lstStyle/>
          <a:p>
            <a:r>
              <a:rPr lang="en-CA" dirty="0" smtClean="0"/>
              <a:t>Feather’s </a:t>
            </a:r>
            <a:r>
              <a:rPr lang="en-CA" dirty="0" smtClean="0"/>
              <a:t>Interactionist</a:t>
            </a:r>
            <a:r>
              <a:rPr lang="en-CA" dirty="0" smtClean="0"/>
              <a:t> Approach to Values</a:t>
            </a:r>
            <a:endParaRPr lang="en-CA" dirty="0"/>
          </a:p>
        </p:txBody>
      </p:sp>
      <p:sp>
        <p:nvSpPr>
          <p:cNvPr id="5" name="Content Placeholder 4"/>
          <p:cNvSpPr>
            <a:spLocks noGrp="1"/>
          </p:cNvSpPr>
          <p:nvPr>
            <p:ph idx="1"/>
          </p:nvPr>
        </p:nvSpPr>
        <p:spPr/>
        <p:txBody>
          <a:bodyPr>
            <a:normAutofit/>
          </a:bodyPr>
          <a:lstStyle/>
          <a:p>
            <a:r>
              <a:rPr lang="en-CA" sz="2600" dirty="0" smtClean="0"/>
              <a:t>Feather (1975) found that academic persistence and satisfaction with school are related to congruence between student’s personal values and perceived institutional values.</a:t>
            </a:r>
          </a:p>
          <a:p>
            <a:pPr>
              <a:spcBef>
                <a:spcPts val="2400"/>
              </a:spcBef>
            </a:pPr>
            <a:r>
              <a:rPr lang="en-CA" sz="2600" dirty="0" smtClean="0"/>
              <a:t>Feather (1995): </a:t>
            </a:r>
          </a:p>
          <a:p>
            <a:pPr lvl="1">
              <a:buFont typeface="Wingdings" pitchFamily="2" charset="2"/>
              <a:buChar char="§"/>
            </a:pPr>
            <a:r>
              <a:rPr lang="en-CA" sz="2200" i="1" dirty="0" smtClean="0">
                <a:solidFill>
                  <a:schemeClr val="accent1">
                    <a:lumMod val="20000"/>
                    <a:lumOff val="80000"/>
                  </a:schemeClr>
                </a:solidFill>
              </a:rPr>
              <a:t>“Values have their source in basic human needs and in societal demands .” </a:t>
            </a:r>
            <a:r>
              <a:rPr lang="en-CA" sz="2200" dirty="0" smtClean="0">
                <a:solidFill>
                  <a:schemeClr val="accent1">
                    <a:lumMod val="20000"/>
                    <a:lumOff val="80000"/>
                  </a:schemeClr>
                </a:solidFill>
              </a:rPr>
              <a:t>(p. 1135)</a:t>
            </a:r>
          </a:p>
          <a:p>
            <a:pPr lvl="1">
              <a:spcBef>
                <a:spcPts val="1200"/>
              </a:spcBef>
              <a:buFont typeface="Wingdings" pitchFamily="2" charset="2"/>
              <a:buChar char="§"/>
            </a:pPr>
            <a:r>
              <a:rPr lang="en-CA" sz="2200" i="1" dirty="0" smtClean="0">
                <a:solidFill>
                  <a:schemeClr val="accent1">
                    <a:lumMod val="20000"/>
                    <a:lumOff val="80000"/>
                  </a:schemeClr>
                </a:solidFill>
              </a:rPr>
              <a:t>“Values are tied to a normative base involving a dimension of goodness and badness.”</a:t>
            </a:r>
            <a:r>
              <a:rPr lang="en-CA" sz="2200" dirty="0" smtClean="0">
                <a:solidFill>
                  <a:schemeClr val="accent1">
                    <a:lumMod val="20000"/>
                    <a:lumOff val="80000"/>
                  </a:schemeClr>
                </a:solidFill>
              </a:rPr>
              <a:t> (p. 1136)</a:t>
            </a:r>
            <a:endParaRPr lang="en-CA" sz="2200" dirty="0">
              <a:solidFill>
                <a:schemeClr val="accent1">
                  <a:lumMod val="20000"/>
                  <a:lumOff val="80000"/>
                </a:schemeClr>
              </a:solidFill>
            </a:endParaRPr>
          </a:p>
        </p:txBody>
      </p:sp>
    </p:spTree>
    <p:extLst>
      <p:ext uri="{BB962C8B-B14F-4D97-AF65-F5344CB8AC3E}">
        <p14:creationId xmlns:p14="http://schemas.microsoft.com/office/powerpoint/2010/main" val="15920033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8229600" cy="1143000"/>
          </a:xfrm>
        </p:spPr>
        <p:txBody>
          <a:bodyPr/>
          <a:lstStyle/>
          <a:p>
            <a:r>
              <a:rPr lang="en-CA" dirty="0" smtClean="0"/>
              <a:t>Dweck on Mastery Values</a:t>
            </a:r>
            <a:endParaRPr lang="en-CA" dirty="0"/>
          </a:p>
        </p:txBody>
      </p:sp>
      <p:sp>
        <p:nvSpPr>
          <p:cNvPr id="3" name="Content Placeholder 2"/>
          <p:cNvSpPr>
            <a:spLocks noGrp="1"/>
          </p:cNvSpPr>
          <p:nvPr>
            <p:ph idx="1"/>
          </p:nvPr>
        </p:nvSpPr>
        <p:spPr/>
        <p:txBody>
          <a:bodyPr/>
          <a:lstStyle/>
          <a:p>
            <a:pPr>
              <a:spcBef>
                <a:spcPts val="2400"/>
              </a:spcBef>
            </a:pPr>
            <a:r>
              <a:rPr lang="en-CA" dirty="0" smtClean="0"/>
              <a:t>Dweck (1986): Mastery values are associated with attribution of success to effort more than ability.</a:t>
            </a:r>
          </a:p>
          <a:p>
            <a:pPr>
              <a:spcBef>
                <a:spcPts val="2400"/>
              </a:spcBef>
            </a:pPr>
            <a:r>
              <a:rPr lang="en-CA" dirty="0" smtClean="0"/>
              <a:t>Dweck &amp; Elliott (1983): In test situations, children will value performance goals, whereas, in mastery-oriented learning situations, children will value learning goals.</a:t>
            </a:r>
          </a:p>
          <a:p>
            <a:pPr>
              <a:spcBef>
                <a:spcPts val="2400"/>
              </a:spcBef>
            </a:pPr>
            <a:r>
              <a:rPr lang="en-CA" dirty="0" smtClean="0"/>
              <a:t>Goals need to be challenging in order to stretch students’ ability and engender productive learning.</a:t>
            </a:r>
            <a:endParaRPr lang="en-CA" dirty="0"/>
          </a:p>
        </p:txBody>
      </p:sp>
    </p:spTree>
    <p:extLst>
      <p:ext uri="{BB962C8B-B14F-4D97-AF65-F5344CB8AC3E}">
        <p14:creationId xmlns:p14="http://schemas.microsoft.com/office/powerpoint/2010/main" val="7391598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864" y="-171400"/>
            <a:ext cx="8229600" cy="1143000"/>
          </a:xfrm>
        </p:spPr>
        <p:txBody>
          <a:bodyPr>
            <a:normAutofit/>
          </a:bodyPr>
          <a:lstStyle/>
          <a:p>
            <a:r>
              <a:rPr lang="en-CA" dirty="0" smtClean="0"/>
              <a:t>Wong’s (1998) Academic Attitude Scale</a:t>
            </a:r>
            <a:endParaRPr lang="en-CA" dirty="0"/>
          </a:p>
        </p:txBody>
      </p:sp>
      <p:sp>
        <p:nvSpPr>
          <p:cNvPr id="4" name="Text Placeholder 3"/>
          <p:cNvSpPr>
            <a:spLocks noGrp="1"/>
          </p:cNvSpPr>
          <p:nvPr>
            <p:ph type="body" idx="1"/>
          </p:nvPr>
        </p:nvSpPr>
        <p:spPr>
          <a:xfrm>
            <a:off x="603820" y="5187280"/>
            <a:ext cx="4040188" cy="762000"/>
          </a:xfrm>
        </p:spPr>
        <p:txBody>
          <a:bodyPr>
            <a:noAutofit/>
          </a:bodyPr>
          <a:lstStyle/>
          <a:p>
            <a:r>
              <a:rPr lang="en-CA" sz="2200" dirty="0" smtClean="0"/>
              <a:t>The positive factors are positively correlated with academic achievement and persistence.</a:t>
            </a:r>
            <a:endParaRPr lang="en-CA" sz="2200" dirty="0"/>
          </a:p>
        </p:txBody>
      </p:sp>
      <p:sp>
        <p:nvSpPr>
          <p:cNvPr id="3" name="Content Placeholder 2"/>
          <p:cNvSpPr>
            <a:spLocks noGrp="1"/>
          </p:cNvSpPr>
          <p:nvPr>
            <p:ph sz="half" idx="2"/>
          </p:nvPr>
        </p:nvSpPr>
        <p:spPr>
          <a:xfrm>
            <a:off x="821432" y="1484784"/>
            <a:ext cx="4038600" cy="3913632"/>
          </a:xfrm>
        </p:spPr>
        <p:txBody>
          <a:bodyPr>
            <a:normAutofit/>
          </a:bodyPr>
          <a:lstStyle/>
          <a:p>
            <a:pPr marL="274320" lvl="1" indent="0">
              <a:buNone/>
            </a:pPr>
            <a:r>
              <a:rPr lang="en-CA" sz="2800" b="1" dirty="0" smtClean="0">
                <a:solidFill>
                  <a:schemeClr val="accent1">
                    <a:lumMod val="20000"/>
                    <a:lumOff val="80000"/>
                  </a:schemeClr>
                </a:solidFill>
              </a:rPr>
              <a:t>Positive factors</a:t>
            </a:r>
          </a:p>
          <a:p>
            <a:pPr marL="617220" lvl="1" indent="-342900"/>
            <a:r>
              <a:rPr lang="en-CA" sz="2500" dirty="0" smtClean="0">
                <a:solidFill>
                  <a:schemeClr val="accent1">
                    <a:lumMod val="20000"/>
                    <a:lumOff val="80000"/>
                  </a:schemeClr>
                </a:solidFill>
              </a:rPr>
              <a:t>Intrinsic Value</a:t>
            </a:r>
          </a:p>
          <a:p>
            <a:pPr marL="617220" lvl="1" indent="-342900"/>
            <a:r>
              <a:rPr lang="en-CA" sz="2500" dirty="0" smtClean="0">
                <a:solidFill>
                  <a:schemeClr val="accent1">
                    <a:lumMod val="20000"/>
                    <a:lumOff val="80000"/>
                  </a:schemeClr>
                </a:solidFill>
              </a:rPr>
              <a:t>Instrumental Value</a:t>
            </a:r>
          </a:p>
          <a:p>
            <a:pPr marL="617220" lvl="1" indent="-342900"/>
            <a:r>
              <a:rPr lang="en-CA" sz="2500" dirty="0" smtClean="0">
                <a:solidFill>
                  <a:schemeClr val="accent1">
                    <a:lumMod val="20000"/>
                    <a:lumOff val="80000"/>
                  </a:schemeClr>
                </a:solidFill>
              </a:rPr>
              <a:t>Personal Development</a:t>
            </a:r>
          </a:p>
        </p:txBody>
      </p:sp>
      <p:sp>
        <p:nvSpPr>
          <p:cNvPr id="5" name="Text Placeholder 4"/>
          <p:cNvSpPr>
            <a:spLocks noGrp="1"/>
          </p:cNvSpPr>
          <p:nvPr>
            <p:ph type="body" sz="quarter" idx="3"/>
          </p:nvPr>
        </p:nvSpPr>
        <p:spPr>
          <a:xfrm>
            <a:off x="4706689" y="5517232"/>
            <a:ext cx="4041775" cy="639762"/>
          </a:xfrm>
        </p:spPr>
        <p:txBody>
          <a:bodyPr>
            <a:noAutofit/>
          </a:bodyPr>
          <a:lstStyle/>
          <a:p>
            <a:pPr>
              <a:lnSpc>
                <a:spcPct val="120000"/>
              </a:lnSpc>
            </a:pPr>
            <a:r>
              <a:rPr lang="en-CA" sz="2200" dirty="0" smtClean="0"/>
              <a:t>The negative factors are negatively correlated with academic achievement and persistence.</a:t>
            </a:r>
            <a:endParaRPr lang="en-CA" sz="2200" dirty="0"/>
          </a:p>
        </p:txBody>
      </p:sp>
      <p:sp>
        <p:nvSpPr>
          <p:cNvPr id="6" name="Content Placeholder 5"/>
          <p:cNvSpPr>
            <a:spLocks noGrp="1"/>
          </p:cNvSpPr>
          <p:nvPr>
            <p:ph sz="quarter" idx="4"/>
          </p:nvPr>
        </p:nvSpPr>
        <p:spPr>
          <a:xfrm>
            <a:off x="5076056" y="1484784"/>
            <a:ext cx="4041775" cy="3951288"/>
          </a:xfrm>
        </p:spPr>
        <p:txBody>
          <a:bodyPr/>
          <a:lstStyle/>
          <a:p>
            <a:pPr marL="137160" indent="0">
              <a:buNone/>
            </a:pPr>
            <a:r>
              <a:rPr lang="en-CA" sz="2800" b="1" dirty="0"/>
              <a:t>Negative </a:t>
            </a:r>
            <a:r>
              <a:rPr lang="en-CA" sz="2800" b="1" dirty="0" smtClean="0"/>
              <a:t>Factors</a:t>
            </a:r>
          </a:p>
          <a:p>
            <a:pPr marL="480060" indent="-342900"/>
            <a:r>
              <a:rPr lang="en-CA" sz="2500" dirty="0" smtClean="0"/>
              <a:t>External Pressure</a:t>
            </a:r>
          </a:p>
          <a:p>
            <a:pPr marL="480060" indent="-342900"/>
            <a:r>
              <a:rPr lang="en-CA" sz="2500" dirty="0" smtClean="0"/>
              <a:t>No </a:t>
            </a:r>
            <a:r>
              <a:rPr lang="en-CA" sz="2500" dirty="0"/>
              <a:t>Better </a:t>
            </a:r>
            <a:r>
              <a:rPr lang="en-CA" sz="2500" dirty="0" smtClean="0"/>
              <a:t>Option</a:t>
            </a:r>
          </a:p>
          <a:p>
            <a:pPr marL="480060" indent="-342900"/>
            <a:r>
              <a:rPr lang="en-CA" sz="2500" dirty="0" smtClean="0"/>
              <a:t>Social </a:t>
            </a:r>
            <a:r>
              <a:rPr lang="en-CA" sz="2500" dirty="0"/>
              <a:t>Interest</a:t>
            </a:r>
          </a:p>
          <a:p>
            <a:endParaRPr lang="en-CA" dirty="0"/>
          </a:p>
        </p:txBody>
      </p:sp>
    </p:spTree>
    <p:extLst>
      <p:ext uri="{BB962C8B-B14F-4D97-AF65-F5344CB8AC3E}">
        <p14:creationId xmlns:p14="http://schemas.microsoft.com/office/powerpoint/2010/main" val="24412643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60648"/>
            <a:ext cx="8229600" cy="1143000"/>
          </a:xfrm>
        </p:spPr>
        <p:txBody>
          <a:bodyPr>
            <a:normAutofit fontScale="90000"/>
          </a:bodyPr>
          <a:lstStyle/>
          <a:p>
            <a:r>
              <a:rPr lang="en-US" b="1" dirty="0"/>
              <a:t>Focusing on student strengths rather than weaknesses</a:t>
            </a:r>
            <a:endParaRPr lang="en-CA" dirty="0"/>
          </a:p>
        </p:txBody>
      </p:sp>
      <p:sp>
        <p:nvSpPr>
          <p:cNvPr id="2" name="Content Placeholder 1"/>
          <p:cNvSpPr>
            <a:spLocks noGrp="1"/>
          </p:cNvSpPr>
          <p:nvPr>
            <p:ph idx="1"/>
          </p:nvPr>
        </p:nvSpPr>
        <p:spPr/>
        <p:txBody>
          <a:bodyPr>
            <a:normAutofit fontScale="92500"/>
          </a:bodyPr>
          <a:lstStyle/>
          <a:p>
            <a:pPr marL="0" indent="0">
              <a:buNone/>
            </a:pPr>
            <a:r>
              <a:rPr lang="en-US" b="1" dirty="0" smtClean="0"/>
              <a:t>Three </a:t>
            </a:r>
            <a:r>
              <a:rPr lang="en-US" b="1" dirty="0"/>
              <a:t>steps of The StrengthsQuest Program:</a:t>
            </a:r>
            <a:endParaRPr lang="en-CA" dirty="0"/>
          </a:p>
          <a:p>
            <a:pPr marL="457200" lvl="0" indent="-457200">
              <a:buFont typeface="+mj-lt"/>
              <a:buAutoNum type="arabicPeriod"/>
            </a:pPr>
            <a:r>
              <a:rPr lang="en-US" dirty="0" smtClean="0"/>
              <a:t>Complete </a:t>
            </a:r>
            <a:r>
              <a:rPr lang="en-US" dirty="0"/>
              <a:t>the Clifton StrengthsFinder assessment</a:t>
            </a:r>
            <a:endParaRPr lang="en-CA" dirty="0"/>
          </a:p>
          <a:p>
            <a:pPr marL="457200" lvl="0" indent="-457200">
              <a:buFont typeface="+mj-lt"/>
              <a:buAutoNum type="arabicPeriod"/>
            </a:pPr>
            <a:r>
              <a:rPr lang="en-US" dirty="0" smtClean="0"/>
              <a:t>Complete </a:t>
            </a:r>
            <a:r>
              <a:rPr lang="en-US" dirty="0"/>
              <a:t>the workbook: </a:t>
            </a:r>
            <a:r>
              <a:rPr lang="en-US" i="1" dirty="0"/>
              <a:t>StrengthsQuest: Discover and develop your strengths in academics, careers, and beyond. </a:t>
            </a:r>
            <a:endParaRPr lang="en-CA" dirty="0"/>
          </a:p>
          <a:p>
            <a:pPr marL="457200" lvl="0" indent="-457200">
              <a:buFont typeface="+mj-lt"/>
              <a:buAutoNum type="arabicPeriod"/>
            </a:pPr>
            <a:r>
              <a:rPr lang="en-US" dirty="0" smtClean="0"/>
              <a:t>Take </a:t>
            </a:r>
            <a:r>
              <a:rPr lang="en-US" dirty="0"/>
              <a:t>more in-depth training in their areas of signature strengths</a:t>
            </a:r>
            <a:endParaRPr lang="en-CA" dirty="0"/>
          </a:p>
          <a:p>
            <a:pPr marL="0" indent="0">
              <a:buNone/>
            </a:pPr>
            <a:endParaRPr lang="en-US" dirty="0" smtClean="0"/>
          </a:p>
          <a:p>
            <a:pPr marL="0" indent="0">
              <a:buNone/>
            </a:pPr>
            <a:r>
              <a:rPr lang="en-US" b="1" dirty="0" smtClean="0"/>
              <a:t>The </a:t>
            </a:r>
            <a:r>
              <a:rPr lang="en-US" b="1" dirty="0"/>
              <a:t>very best students have these characteristics:</a:t>
            </a:r>
            <a:endParaRPr lang="en-CA" b="1" dirty="0"/>
          </a:p>
          <a:p>
            <a:pPr lvl="0"/>
            <a:r>
              <a:rPr lang="en-US" dirty="0"/>
              <a:t>They clearly recognize and develop their talents and strengths</a:t>
            </a:r>
            <a:endParaRPr lang="en-CA" dirty="0"/>
          </a:p>
          <a:p>
            <a:pPr lvl="0"/>
            <a:r>
              <a:rPr lang="en-US" dirty="0"/>
              <a:t>They apply their signature strengths to areas that match their natural talents</a:t>
            </a:r>
            <a:endParaRPr lang="en-CA" dirty="0"/>
          </a:p>
          <a:p>
            <a:pPr lvl="0"/>
            <a:r>
              <a:rPr lang="en-US" dirty="0"/>
              <a:t>Apply their strengths to pursue desired goals</a:t>
            </a:r>
            <a:endParaRPr lang="en-CA" dirty="0"/>
          </a:p>
          <a:p>
            <a:endParaRPr lang="en-CA" dirty="0"/>
          </a:p>
        </p:txBody>
      </p:sp>
    </p:spTree>
    <p:extLst>
      <p:ext uri="{BB962C8B-B14F-4D97-AF65-F5344CB8AC3E}">
        <p14:creationId xmlns:p14="http://schemas.microsoft.com/office/powerpoint/2010/main" val="8283067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smtClean="0"/>
              <a:t>PURE as a definition of meaning in life</a:t>
            </a:r>
            <a:endParaRPr lang="en-CA" dirty="0"/>
          </a:p>
        </p:txBody>
      </p:sp>
      <p:sp>
        <p:nvSpPr>
          <p:cNvPr id="3" name="Content Placeholder 2"/>
          <p:cNvSpPr>
            <a:spLocks noGrp="1"/>
          </p:cNvSpPr>
          <p:nvPr>
            <p:ph idx="1"/>
          </p:nvPr>
        </p:nvSpPr>
        <p:spPr/>
        <p:txBody>
          <a:bodyPr>
            <a:normAutofit/>
          </a:bodyPr>
          <a:lstStyle/>
          <a:p>
            <a:r>
              <a:rPr lang="en-CA" dirty="0" smtClean="0"/>
              <a:t>Meaning in life can be operationally defined in terms of PURE, which stands for:</a:t>
            </a:r>
          </a:p>
          <a:p>
            <a:pPr lvl="1"/>
            <a:endParaRPr lang="en-CA" sz="2400" b="1" dirty="0" smtClean="0"/>
          </a:p>
          <a:p>
            <a:pPr lvl="1"/>
            <a:r>
              <a:rPr lang="en-CA" sz="2400" b="1" dirty="0" smtClean="0"/>
              <a:t>P</a:t>
            </a:r>
            <a:r>
              <a:rPr lang="en-CA" sz="2400" dirty="0" smtClean="0"/>
              <a:t>urpose</a:t>
            </a:r>
          </a:p>
          <a:p>
            <a:pPr lvl="1"/>
            <a:endParaRPr lang="en-CA" sz="2400" dirty="0" smtClean="0"/>
          </a:p>
          <a:p>
            <a:pPr lvl="1"/>
            <a:r>
              <a:rPr lang="en-CA" sz="2400" b="1" dirty="0" smtClean="0"/>
              <a:t>U</a:t>
            </a:r>
            <a:r>
              <a:rPr lang="en-CA" sz="2400" dirty="0" smtClean="0"/>
              <a:t>nderstanding</a:t>
            </a:r>
          </a:p>
          <a:p>
            <a:pPr lvl="1"/>
            <a:endParaRPr lang="en-CA" sz="2400" dirty="0" smtClean="0"/>
          </a:p>
          <a:p>
            <a:pPr lvl="1"/>
            <a:r>
              <a:rPr lang="en-CA" sz="2400" b="1" dirty="0" smtClean="0"/>
              <a:t>R</a:t>
            </a:r>
            <a:r>
              <a:rPr lang="en-CA" sz="2400" dirty="0" smtClean="0"/>
              <a:t>esponsibility</a:t>
            </a:r>
          </a:p>
          <a:p>
            <a:pPr lvl="1"/>
            <a:endParaRPr lang="en-CA" sz="2400" dirty="0" smtClean="0"/>
          </a:p>
          <a:p>
            <a:pPr lvl="1"/>
            <a:r>
              <a:rPr lang="en-CA" sz="2400" b="1" dirty="0" smtClean="0"/>
              <a:t>E</a:t>
            </a:r>
            <a:r>
              <a:rPr lang="en-CA" sz="2400" dirty="0" smtClean="0"/>
              <a:t>njoyment </a:t>
            </a:r>
            <a:endParaRPr lang="en-CA" sz="2400" dirty="0"/>
          </a:p>
        </p:txBody>
      </p:sp>
    </p:spTree>
    <p:extLst>
      <p:ext uri="{BB962C8B-B14F-4D97-AF65-F5344CB8AC3E}">
        <p14:creationId xmlns:p14="http://schemas.microsoft.com/office/powerpoint/2010/main" val="4103969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Purpose</a:t>
            </a:r>
            <a:endParaRPr lang="en-CA" dirty="0"/>
          </a:p>
        </p:txBody>
      </p:sp>
      <p:sp>
        <p:nvSpPr>
          <p:cNvPr id="7" name="Content Placeholder 6"/>
          <p:cNvSpPr>
            <a:spLocks noGrp="1"/>
          </p:cNvSpPr>
          <p:nvPr>
            <p:ph idx="1"/>
          </p:nvPr>
        </p:nvSpPr>
        <p:spPr>
          <a:xfrm>
            <a:off x="457200" y="1752600"/>
            <a:ext cx="4590958" cy="4373563"/>
          </a:xfrm>
        </p:spPr>
        <p:txBody>
          <a:bodyPr/>
          <a:lstStyle/>
          <a:p>
            <a:pPr marL="114300" indent="0">
              <a:buNone/>
            </a:pPr>
            <a:r>
              <a:rPr lang="en-CA" b="1" dirty="0"/>
              <a:t>Involves:</a:t>
            </a:r>
          </a:p>
          <a:p>
            <a:r>
              <a:rPr lang="en-CA" dirty="0"/>
              <a:t>Clarifying our life direction and core values.</a:t>
            </a:r>
          </a:p>
          <a:p>
            <a:r>
              <a:rPr lang="en-CA" dirty="0"/>
              <a:t>Organizing our activities.</a:t>
            </a:r>
          </a:p>
          <a:p>
            <a:r>
              <a:rPr lang="en-CA" dirty="0"/>
              <a:t>Deliberating your daily plans.</a:t>
            </a:r>
          </a:p>
          <a:p>
            <a:r>
              <a:rPr lang="en-CA" dirty="0"/>
              <a:t>Pursuing one’s calling and mission in life with passion and </a:t>
            </a:r>
            <a:r>
              <a:rPr lang="en-CA" dirty="0" smtClean="0"/>
              <a:t>commitment.</a:t>
            </a:r>
            <a:endParaRPr lang="en-CA" dirty="0"/>
          </a:p>
        </p:txBody>
      </p:sp>
      <p:pic>
        <p:nvPicPr>
          <p:cNvPr id="3074" name="Picture 2" descr="C:\Users\Paul\Documents\My Dropbox\My Documents\M4L\ppt images\Lesson 6 ppt images\lighthouse-vector-for-free-rowing-adobe-ai-vector-art-small-free-vector-art-beside-free-vector-artwork-boat-free-artwork-image-412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2053580"/>
            <a:ext cx="3772314" cy="3319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4133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Understanding</a:t>
            </a:r>
            <a:endParaRPr lang="en-CA" dirty="0"/>
          </a:p>
        </p:txBody>
      </p:sp>
      <p:sp>
        <p:nvSpPr>
          <p:cNvPr id="3" name="Content Placeholder 2"/>
          <p:cNvSpPr>
            <a:spLocks noGrp="1"/>
          </p:cNvSpPr>
          <p:nvPr>
            <p:ph idx="1"/>
          </p:nvPr>
        </p:nvSpPr>
        <p:spPr>
          <a:xfrm>
            <a:off x="1691680" y="1791741"/>
            <a:ext cx="6995120" cy="4541138"/>
          </a:xfrm>
        </p:spPr>
        <p:txBody>
          <a:bodyPr>
            <a:normAutofit/>
          </a:bodyPr>
          <a:lstStyle/>
          <a:p>
            <a:pPr marL="114300" indent="0">
              <a:buNone/>
            </a:pPr>
            <a:r>
              <a:rPr lang="en-CA" b="1" dirty="0" smtClean="0"/>
              <a:t>Involves:</a:t>
            </a:r>
          </a:p>
          <a:p>
            <a:r>
              <a:rPr lang="en-CA" dirty="0" smtClean="0"/>
              <a:t>Full awareness of the situation and the consequences of one`s actions.</a:t>
            </a:r>
          </a:p>
          <a:p>
            <a:r>
              <a:rPr lang="en-CA" dirty="0" smtClean="0"/>
              <a:t>Knowing right from wrong.</a:t>
            </a:r>
          </a:p>
          <a:p>
            <a:r>
              <a:rPr lang="en-CA" dirty="0"/>
              <a:t>U</a:t>
            </a:r>
            <a:r>
              <a:rPr lang="en-CA" dirty="0" smtClean="0"/>
              <a:t>nderstanding the legal/ethical principles in decision making.</a:t>
            </a:r>
          </a:p>
          <a:p>
            <a:r>
              <a:rPr lang="en-CA" dirty="0" smtClean="0"/>
              <a:t>Self-knowledge of our strengths and weaknesses.</a:t>
            </a:r>
          </a:p>
          <a:p>
            <a:r>
              <a:rPr lang="en-CA" dirty="0" smtClean="0"/>
              <a:t>Understanding/knowing the world we live in.</a:t>
            </a:r>
          </a:p>
          <a:p>
            <a:r>
              <a:rPr lang="en-CA" dirty="0" smtClean="0"/>
              <a:t>Achieving a sense of coherence.</a:t>
            </a:r>
            <a:endParaRPr lang="en-CA" dirty="0"/>
          </a:p>
        </p:txBody>
      </p:sp>
      <p:pic>
        <p:nvPicPr>
          <p:cNvPr id="2053"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t="10454" b="10440"/>
          <a:stretch/>
        </p:blipFill>
        <p:spPr bwMode="auto">
          <a:xfrm>
            <a:off x="395536" y="1700808"/>
            <a:ext cx="1296144" cy="4632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52686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Responsibility</a:t>
            </a:r>
            <a:endParaRPr lang="en-CA" dirty="0"/>
          </a:p>
        </p:txBody>
      </p:sp>
      <p:sp>
        <p:nvSpPr>
          <p:cNvPr id="3" name="Content Placeholder 2"/>
          <p:cNvSpPr>
            <a:spLocks noGrp="1"/>
          </p:cNvSpPr>
          <p:nvPr>
            <p:ph idx="1"/>
          </p:nvPr>
        </p:nvSpPr>
        <p:spPr>
          <a:xfrm>
            <a:off x="457200" y="1752600"/>
            <a:ext cx="3466728" cy="4373563"/>
          </a:xfrm>
        </p:spPr>
        <p:txBody>
          <a:bodyPr>
            <a:normAutofit/>
          </a:bodyPr>
          <a:lstStyle/>
          <a:p>
            <a:pPr marL="114300" indent="0">
              <a:buNone/>
            </a:pPr>
            <a:r>
              <a:rPr lang="en-CA" b="1" dirty="0" smtClean="0"/>
              <a:t>Involves:</a:t>
            </a:r>
          </a:p>
          <a:p>
            <a:r>
              <a:rPr lang="en-CA" dirty="0" smtClean="0"/>
              <a:t>Taking full responsibility of our own life.</a:t>
            </a:r>
          </a:p>
          <a:p>
            <a:r>
              <a:rPr lang="en-CA" dirty="0" smtClean="0"/>
              <a:t>Assuming responsibility for our decisions and actions.</a:t>
            </a:r>
          </a:p>
          <a:p>
            <a:r>
              <a:rPr lang="en-CA" dirty="0" smtClean="0"/>
              <a:t>Holding ourselves accountable.</a:t>
            </a:r>
          </a:p>
          <a:p>
            <a:r>
              <a:rPr lang="en-CA" dirty="0" smtClean="0"/>
              <a:t>Being a moral agent.</a:t>
            </a:r>
            <a:endParaRPr lang="en-CA" dirty="0"/>
          </a:p>
        </p:txBody>
      </p:sp>
      <p:grpSp>
        <p:nvGrpSpPr>
          <p:cNvPr id="5" name="Group 4"/>
          <p:cNvGrpSpPr/>
          <p:nvPr/>
        </p:nvGrpSpPr>
        <p:grpSpPr>
          <a:xfrm>
            <a:off x="3851920" y="1844824"/>
            <a:ext cx="4932252" cy="4248472"/>
            <a:chOff x="3851920" y="1844824"/>
            <a:chExt cx="4932252" cy="4248472"/>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8308" t="8388" r="9389" b="8571"/>
            <a:stretch/>
          </p:blipFill>
          <p:spPr bwMode="auto">
            <a:xfrm>
              <a:off x="3851920" y="1844824"/>
              <a:ext cx="4932252"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851920" y="2132856"/>
              <a:ext cx="1512168"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grpSp>
    </p:spTree>
    <p:extLst>
      <p:ext uri="{BB962C8B-B14F-4D97-AF65-F5344CB8AC3E}">
        <p14:creationId xmlns:p14="http://schemas.microsoft.com/office/powerpoint/2010/main" val="3054288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Enjoyment/Evaluation</a:t>
            </a:r>
            <a:endParaRPr lang="en-CA" dirty="0"/>
          </a:p>
        </p:txBody>
      </p:sp>
      <p:sp>
        <p:nvSpPr>
          <p:cNvPr id="3" name="Content Placeholder 2"/>
          <p:cNvSpPr>
            <a:spLocks noGrp="1"/>
          </p:cNvSpPr>
          <p:nvPr>
            <p:ph idx="1"/>
          </p:nvPr>
        </p:nvSpPr>
        <p:spPr/>
        <p:txBody>
          <a:bodyPr>
            <a:normAutofit/>
          </a:bodyPr>
          <a:lstStyle/>
          <a:p>
            <a:endParaRPr lang="en-CA" dirty="0" smtClean="0"/>
          </a:p>
          <a:p>
            <a:r>
              <a:rPr lang="en-CA" dirty="0" smtClean="0"/>
              <a:t>The natural outcome of leading a purposeful and responsible life.</a:t>
            </a:r>
          </a:p>
          <a:p>
            <a:r>
              <a:rPr lang="en-CA" dirty="0" smtClean="0"/>
              <a:t>But a positive outcome is not inevitable.</a:t>
            </a:r>
          </a:p>
          <a:p>
            <a:r>
              <a:rPr lang="en-CA" dirty="0" smtClean="0"/>
              <a:t>Sometimes, the personal costs of being responsible can be too high.</a:t>
            </a:r>
          </a:p>
          <a:p>
            <a:r>
              <a:rPr lang="en-CA" dirty="0" smtClean="0"/>
              <a:t>This stage involves reflection and sometimes re-evaluation </a:t>
            </a:r>
            <a:r>
              <a:rPr lang="en-CA" dirty="0"/>
              <a:t>of PURE.</a:t>
            </a:r>
          </a:p>
          <a:p>
            <a:endParaRPr lang="en-CA" dirty="0" smtClean="0"/>
          </a:p>
          <a:p>
            <a:endParaRPr lang="en-CA" dirty="0" smtClean="0"/>
          </a:p>
        </p:txBody>
      </p:sp>
    </p:spTree>
    <p:extLst>
      <p:ext uri="{BB962C8B-B14F-4D97-AF65-F5344CB8AC3E}">
        <p14:creationId xmlns:p14="http://schemas.microsoft.com/office/powerpoint/2010/main" val="1962967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00"/>
            <a:ext cx="8229600" cy="1143000"/>
          </a:xfrm>
        </p:spPr>
        <p:txBody>
          <a:bodyPr/>
          <a:lstStyle/>
          <a:p>
            <a:r>
              <a:rPr lang="en-CA" dirty="0" smtClean="0"/>
              <a:t>The PURE Test</a:t>
            </a:r>
            <a:endParaRPr lang="en-CA" dirty="0"/>
          </a:p>
        </p:txBody>
      </p:sp>
      <p:sp>
        <p:nvSpPr>
          <p:cNvPr id="3" name="Content Placeholder 2"/>
          <p:cNvSpPr>
            <a:spLocks noGrp="1"/>
          </p:cNvSpPr>
          <p:nvPr>
            <p:ph idx="1"/>
          </p:nvPr>
        </p:nvSpPr>
        <p:spPr>
          <a:xfrm>
            <a:off x="457200" y="1268760"/>
            <a:ext cx="8229600" cy="4525963"/>
          </a:xfrm>
        </p:spPr>
        <p:txBody>
          <a:bodyPr/>
          <a:lstStyle/>
          <a:p>
            <a:r>
              <a:rPr lang="en-CA" dirty="0" smtClean="0"/>
              <a:t>The PURE test provides an operational definition of meaning in life.</a:t>
            </a:r>
          </a:p>
          <a:p>
            <a:r>
              <a:rPr lang="en-CA" dirty="0" smtClean="0"/>
              <a:t>P, U, R, E are interdependent components but their interdependence is only partial.</a:t>
            </a:r>
          </a:p>
          <a:p>
            <a:r>
              <a:rPr lang="en-CA" dirty="0" smtClean="0"/>
              <a:t>Interestingly</a:t>
            </a:r>
            <a:r>
              <a:rPr lang="en-CA" dirty="0"/>
              <a:t>, it is possible to score high on PERMA but low on PURE</a:t>
            </a:r>
            <a:r>
              <a:rPr lang="en-CA" dirty="0" smtClean="0"/>
              <a:t>.</a:t>
            </a:r>
            <a:r>
              <a:rPr lang="en-CA" dirty="0"/>
              <a:t> </a:t>
            </a:r>
            <a:endParaRPr lang="en-CA" dirty="0" smtClean="0"/>
          </a:p>
          <a:p>
            <a:r>
              <a:rPr lang="en-CA" dirty="0" smtClean="0"/>
              <a:t>The </a:t>
            </a:r>
            <a:r>
              <a:rPr lang="en-CA" dirty="0"/>
              <a:t>happy rioter vs. the sad hero</a:t>
            </a:r>
            <a:r>
              <a:rPr lang="en-CA" dirty="0" smtClean="0"/>
              <a:t>.</a:t>
            </a:r>
            <a:endParaRPr lang="en-CA" dirty="0"/>
          </a:p>
        </p:txBody>
      </p:sp>
      <p:pic>
        <p:nvPicPr>
          <p:cNvPr id="4098" name="Picture 2" descr="C:\Users\Paul\Documents\My Dropbox\My Documents\M4L\ppt images\Lesson 6 ppt images\416_CP24_blackbloc_10062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4442699"/>
            <a:ext cx="2592288" cy="1944216"/>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C:\Users\Paul\Documents\My Dropbox\My Documents\M4L\ppt images\Lesson 6 ppt images\Large-anti-G20-protests-in-Toronto-Ontario_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976" y="4437112"/>
            <a:ext cx="3240360" cy="1955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9024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CA" dirty="0" smtClean="0"/>
              <a:t>The PURE Test</a:t>
            </a:r>
            <a:endParaRPr lang="en-CA" dirty="0"/>
          </a:p>
        </p:txBody>
      </p:sp>
      <p:sp>
        <p:nvSpPr>
          <p:cNvPr id="2" name="Content Placeholder 1"/>
          <p:cNvSpPr>
            <a:spLocks noGrp="1"/>
          </p:cNvSpPr>
          <p:nvPr>
            <p:ph idx="1"/>
          </p:nvPr>
        </p:nvSpPr>
        <p:spPr>
          <a:xfrm>
            <a:off x="251520" y="1524000"/>
            <a:ext cx="8784976" cy="4929336"/>
          </a:xfrm>
        </p:spPr>
        <p:txBody>
          <a:bodyPr>
            <a:noAutofit/>
          </a:bodyPr>
          <a:lstStyle/>
          <a:p>
            <a:pPr marL="0" indent="0">
              <a:lnSpc>
                <a:spcPct val="120000"/>
              </a:lnSpc>
              <a:spcAft>
                <a:spcPts val="600"/>
              </a:spcAft>
              <a:buNone/>
            </a:pPr>
            <a:r>
              <a:rPr lang="en-CA" sz="2200" dirty="0"/>
              <a:t>1. Is your decision or commitment consistent with your overall life goal?</a:t>
            </a:r>
          </a:p>
          <a:p>
            <a:pPr marL="0" indent="0">
              <a:lnSpc>
                <a:spcPct val="120000"/>
              </a:lnSpc>
              <a:spcAft>
                <a:spcPts val="600"/>
              </a:spcAft>
              <a:buNone/>
            </a:pPr>
            <a:r>
              <a:rPr lang="en-CA" sz="2200" dirty="0" smtClean="0"/>
              <a:t>2</a:t>
            </a:r>
            <a:r>
              <a:rPr lang="en-CA" sz="2200" dirty="0"/>
              <a:t>. Is it consistent with your core values?</a:t>
            </a:r>
          </a:p>
          <a:p>
            <a:pPr marL="0" indent="0">
              <a:lnSpc>
                <a:spcPct val="120000"/>
              </a:lnSpc>
              <a:spcAft>
                <a:spcPts val="600"/>
              </a:spcAft>
              <a:buNone/>
            </a:pPr>
            <a:r>
              <a:rPr lang="en-CA" sz="2200" dirty="0" smtClean="0"/>
              <a:t>3</a:t>
            </a:r>
            <a:r>
              <a:rPr lang="en-CA" sz="2200" dirty="0"/>
              <a:t>. Is it something you feel passionately about?</a:t>
            </a:r>
          </a:p>
          <a:p>
            <a:pPr marL="0" indent="0">
              <a:lnSpc>
                <a:spcPct val="120000"/>
              </a:lnSpc>
              <a:spcAft>
                <a:spcPts val="600"/>
              </a:spcAft>
              <a:buNone/>
            </a:pPr>
            <a:r>
              <a:rPr lang="en-CA" sz="2200" dirty="0" smtClean="0"/>
              <a:t>4</a:t>
            </a:r>
            <a:r>
              <a:rPr lang="en-CA" sz="2200" dirty="0"/>
              <a:t>. Are you primarily motivated by something greater than self-interest?</a:t>
            </a:r>
          </a:p>
          <a:p>
            <a:pPr marL="0" indent="0">
              <a:lnSpc>
                <a:spcPct val="120000"/>
              </a:lnSpc>
              <a:spcAft>
                <a:spcPts val="600"/>
              </a:spcAft>
              <a:buNone/>
            </a:pPr>
            <a:r>
              <a:rPr lang="en-CA" sz="2200" dirty="0" smtClean="0"/>
              <a:t>5</a:t>
            </a:r>
            <a:r>
              <a:rPr lang="en-CA" sz="2200" dirty="0"/>
              <a:t>. Do you fully understand the consequences and implications of your decision or commitment?</a:t>
            </a:r>
          </a:p>
          <a:p>
            <a:pPr marL="0" indent="0">
              <a:lnSpc>
                <a:spcPct val="120000"/>
              </a:lnSpc>
              <a:spcAft>
                <a:spcPts val="600"/>
              </a:spcAft>
              <a:buNone/>
            </a:pPr>
            <a:r>
              <a:rPr lang="en-CA" sz="2200" dirty="0" smtClean="0"/>
              <a:t>6</a:t>
            </a:r>
            <a:r>
              <a:rPr lang="en-CA" sz="2200" dirty="0"/>
              <a:t>. Is your decision or commitment consistent with your sense of self identity</a:t>
            </a:r>
            <a:r>
              <a:rPr lang="en-CA" sz="2200" dirty="0" smtClean="0"/>
              <a:t>?</a:t>
            </a:r>
          </a:p>
          <a:p>
            <a:pPr marL="0" indent="0">
              <a:lnSpc>
                <a:spcPct val="120000"/>
              </a:lnSpc>
              <a:spcAft>
                <a:spcPts val="600"/>
              </a:spcAft>
              <a:buNone/>
            </a:pPr>
            <a:r>
              <a:rPr lang="en-CA" sz="2200" dirty="0" smtClean="0"/>
              <a:t>7. Do you understand your own motives behind it?</a:t>
            </a:r>
            <a:endParaRPr lang="en-CA" sz="2200" dirty="0"/>
          </a:p>
        </p:txBody>
      </p:sp>
    </p:spTree>
    <p:extLst>
      <p:ext uri="{BB962C8B-B14F-4D97-AF65-F5344CB8AC3E}">
        <p14:creationId xmlns:p14="http://schemas.microsoft.com/office/powerpoint/2010/main" val="47280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CA" dirty="0" smtClean="0"/>
              <a:t>The PURE Test (continued)</a:t>
            </a:r>
            <a:endParaRPr lang="en-CA" dirty="0"/>
          </a:p>
        </p:txBody>
      </p:sp>
      <p:sp>
        <p:nvSpPr>
          <p:cNvPr id="2" name="Content Placeholder 1"/>
          <p:cNvSpPr>
            <a:spLocks noGrp="1"/>
          </p:cNvSpPr>
          <p:nvPr>
            <p:ph idx="1"/>
          </p:nvPr>
        </p:nvSpPr>
        <p:spPr/>
        <p:txBody>
          <a:bodyPr>
            <a:normAutofit/>
          </a:bodyPr>
          <a:lstStyle/>
          <a:p>
            <a:pPr marL="0" indent="0">
              <a:spcAft>
                <a:spcPts val="600"/>
              </a:spcAft>
              <a:buNone/>
            </a:pPr>
            <a:r>
              <a:rPr lang="en-CA" sz="2200" dirty="0"/>
              <a:t>8. Do you know how you really feel about it?</a:t>
            </a:r>
          </a:p>
          <a:p>
            <a:pPr marL="0" indent="0">
              <a:spcAft>
                <a:spcPts val="600"/>
              </a:spcAft>
              <a:buNone/>
            </a:pPr>
            <a:r>
              <a:rPr lang="en-CA" sz="2200" dirty="0" smtClean="0"/>
              <a:t>9</a:t>
            </a:r>
            <a:r>
              <a:rPr lang="en-CA" sz="2200" dirty="0"/>
              <a:t>. Are you sure you are doing the right thing?</a:t>
            </a:r>
          </a:p>
          <a:p>
            <a:pPr marL="0" indent="0">
              <a:spcAft>
                <a:spcPts val="600"/>
              </a:spcAft>
              <a:buNone/>
            </a:pPr>
            <a:r>
              <a:rPr lang="en-CA" sz="2200" dirty="0" smtClean="0"/>
              <a:t>10</a:t>
            </a:r>
            <a:r>
              <a:rPr lang="en-CA" sz="2200" dirty="0"/>
              <a:t>. Are you willing to be held accountable for your decision?</a:t>
            </a:r>
          </a:p>
          <a:p>
            <a:pPr marL="0" indent="0">
              <a:spcAft>
                <a:spcPts val="600"/>
              </a:spcAft>
              <a:buNone/>
            </a:pPr>
            <a:r>
              <a:rPr lang="en-CA" sz="2200" dirty="0" smtClean="0"/>
              <a:t>11</a:t>
            </a:r>
            <a:r>
              <a:rPr lang="en-CA" sz="2200" dirty="0"/>
              <a:t>. Can others depend on you to carry out your commitment?</a:t>
            </a:r>
          </a:p>
          <a:p>
            <a:pPr marL="0" indent="0">
              <a:spcAft>
                <a:spcPts val="600"/>
              </a:spcAft>
              <a:buNone/>
            </a:pPr>
            <a:r>
              <a:rPr lang="en-CA" sz="2200" dirty="0" smtClean="0"/>
              <a:t>12</a:t>
            </a:r>
            <a:r>
              <a:rPr lang="en-CA" sz="2200" dirty="0"/>
              <a:t>. Are you responding to what life demands of you?</a:t>
            </a:r>
          </a:p>
          <a:p>
            <a:pPr marL="0" indent="0">
              <a:spcAft>
                <a:spcPts val="600"/>
              </a:spcAft>
              <a:buNone/>
            </a:pPr>
            <a:r>
              <a:rPr lang="en-CA" sz="2200" dirty="0" smtClean="0"/>
              <a:t>13</a:t>
            </a:r>
            <a:r>
              <a:rPr lang="en-CA" sz="2200" dirty="0"/>
              <a:t>. Do you feel good about your decision or commitment?</a:t>
            </a:r>
          </a:p>
          <a:p>
            <a:pPr marL="0" indent="0">
              <a:spcAft>
                <a:spcPts val="600"/>
              </a:spcAft>
              <a:buNone/>
            </a:pPr>
            <a:r>
              <a:rPr lang="en-CA" sz="2200" dirty="0" smtClean="0"/>
              <a:t>14</a:t>
            </a:r>
            <a:r>
              <a:rPr lang="en-CA" sz="2200" dirty="0"/>
              <a:t>. Are you fully satisfied with the situation?</a:t>
            </a:r>
          </a:p>
          <a:p>
            <a:pPr marL="0" indent="0">
              <a:spcAft>
                <a:spcPts val="600"/>
              </a:spcAft>
              <a:buNone/>
            </a:pPr>
            <a:r>
              <a:rPr lang="en-CA" sz="2200" dirty="0" smtClean="0"/>
              <a:t>15</a:t>
            </a:r>
            <a:r>
              <a:rPr lang="en-CA" sz="2200" dirty="0"/>
              <a:t>. Do you think you will be happy with the consequences?</a:t>
            </a:r>
          </a:p>
          <a:p>
            <a:pPr marL="0" indent="0">
              <a:spcAft>
                <a:spcPts val="600"/>
              </a:spcAft>
              <a:buNone/>
            </a:pPr>
            <a:r>
              <a:rPr lang="en-CA" sz="2200" dirty="0" smtClean="0"/>
              <a:t>16</a:t>
            </a:r>
            <a:r>
              <a:rPr lang="en-CA" sz="2200" dirty="0"/>
              <a:t>. Given the opportunity, would you enjoy doing this again</a:t>
            </a:r>
            <a:r>
              <a:rPr lang="en-CA" sz="2200" dirty="0" smtClean="0"/>
              <a:t>?</a:t>
            </a:r>
            <a:endParaRPr lang="en-CA" sz="2200" dirty="0"/>
          </a:p>
        </p:txBody>
      </p:sp>
    </p:spTree>
    <p:extLst>
      <p:ext uri="{BB962C8B-B14F-4D97-AF65-F5344CB8AC3E}">
        <p14:creationId xmlns:p14="http://schemas.microsoft.com/office/powerpoint/2010/main" val="3645693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Advantages of PURE</a:t>
            </a:r>
            <a:endParaRPr lang="en-CA" dirty="0"/>
          </a:p>
        </p:txBody>
      </p:sp>
      <p:sp>
        <p:nvSpPr>
          <p:cNvPr id="3" name="Content Placeholder 2"/>
          <p:cNvSpPr>
            <a:spLocks noGrp="1"/>
          </p:cNvSpPr>
          <p:nvPr>
            <p:ph idx="1"/>
          </p:nvPr>
        </p:nvSpPr>
        <p:spPr/>
        <p:txBody>
          <a:bodyPr/>
          <a:lstStyle/>
          <a:p>
            <a:endParaRPr lang="en-CA" dirty="0" smtClean="0"/>
          </a:p>
          <a:p>
            <a:r>
              <a:rPr lang="en-CA" sz="2500" dirty="0" smtClean="0"/>
              <a:t>Not </a:t>
            </a:r>
            <a:r>
              <a:rPr lang="en-CA" sz="2500" dirty="0"/>
              <a:t>achieving happiness at the expense of </a:t>
            </a:r>
            <a:r>
              <a:rPr lang="en-CA" sz="2500" dirty="0" smtClean="0"/>
              <a:t>others</a:t>
            </a:r>
            <a:endParaRPr lang="en-CA" sz="2500" dirty="0"/>
          </a:p>
          <a:p>
            <a:endParaRPr lang="en-CA" sz="2500" dirty="0" smtClean="0"/>
          </a:p>
          <a:p>
            <a:r>
              <a:rPr lang="en-CA" sz="2500" dirty="0" smtClean="0"/>
              <a:t>Developing </a:t>
            </a:r>
            <a:r>
              <a:rPr lang="en-CA" sz="2500" dirty="0"/>
              <a:t>your full potential without harming </a:t>
            </a:r>
            <a:r>
              <a:rPr lang="en-CA" sz="2500" dirty="0" smtClean="0"/>
              <a:t>others</a:t>
            </a:r>
            <a:endParaRPr lang="en-CA" sz="2500" dirty="0"/>
          </a:p>
          <a:p>
            <a:endParaRPr lang="en-CA" sz="2500" dirty="0" smtClean="0"/>
          </a:p>
          <a:p>
            <a:r>
              <a:rPr lang="en-CA" sz="2500" dirty="0" smtClean="0"/>
              <a:t>Leading </a:t>
            </a:r>
            <a:r>
              <a:rPr lang="en-CA" sz="2500" dirty="0"/>
              <a:t>a life that is good emotionally, intellectually, relationally, </a:t>
            </a:r>
            <a:r>
              <a:rPr lang="en-CA" sz="2500" dirty="0" smtClean="0"/>
              <a:t>morally, and spiritually</a:t>
            </a:r>
            <a:endParaRPr lang="en-CA" sz="2500" dirty="0"/>
          </a:p>
          <a:p>
            <a:endParaRPr lang="en-CA" dirty="0"/>
          </a:p>
        </p:txBody>
      </p:sp>
    </p:spTree>
    <p:extLst>
      <p:ext uri="{BB962C8B-B14F-4D97-AF65-F5344CB8AC3E}">
        <p14:creationId xmlns:p14="http://schemas.microsoft.com/office/powerpoint/2010/main" val="1926618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CA" dirty="0" smtClean="0"/>
              <a:t>ABCDE Model of </a:t>
            </a:r>
            <a:br>
              <a:rPr lang="en-CA" dirty="0" smtClean="0"/>
            </a:br>
            <a:r>
              <a:rPr lang="en-CA" dirty="0" smtClean="0"/>
              <a:t>Resilience &amp; Resourcefulness</a:t>
            </a:r>
            <a:endParaRPr lang="en-CA" dirty="0"/>
          </a:p>
        </p:txBody>
      </p:sp>
      <p:sp>
        <p:nvSpPr>
          <p:cNvPr id="6" name="Content Placeholder 1"/>
          <p:cNvSpPr txBox="1">
            <a:spLocks/>
          </p:cNvSpPr>
          <p:nvPr/>
        </p:nvSpPr>
        <p:spPr>
          <a:xfrm>
            <a:off x="251520" y="1340768"/>
            <a:ext cx="8507288" cy="4572000"/>
          </a:xfrm>
          <a:prstGeom prst="rect">
            <a:avLst/>
          </a:prstGeom>
        </p:spPr>
        <p:txBody>
          <a:bodyPr vert="horz">
            <a:noAutofit/>
          </a:bodyPr>
          <a:lst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a:lstStyle>
          <a:p>
            <a:pPr>
              <a:lnSpc>
                <a:spcPct val="120000"/>
              </a:lnSpc>
              <a:spcAft>
                <a:spcPts val="600"/>
              </a:spcAft>
            </a:pPr>
            <a:r>
              <a:rPr lang="en-CA" sz="2200" b="1" dirty="0"/>
              <a:t>A</a:t>
            </a:r>
            <a:r>
              <a:rPr lang="en-CA" sz="2200" dirty="0"/>
              <a:t>cceptance</a:t>
            </a:r>
            <a:r>
              <a:rPr lang="en-CA" sz="2200" dirty="0">
                <a:solidFill>
                  <a:schemeClr val="accent1">
                    <a:lumMod val="20000"/>
                    <a:lumOff val="80000"/>
                  </a:schemeClr>
                </a:solidFill>
              </a:rPr>
              <a:t>:  Accept what cannot be </a:t>
            </a:r>
            <a:r>
              <a:rPr lang="en-CA" sz="2200" dirty="0" smtClean="0">
                <a:solidFill>
                  <a:schemeClr val="accent1">
                    <a:lumMod val="20000"/>
                    <a:lumOff val="80000"/>
                  </a:schemeClr>
                </a:solidFill>
              </a:rPr>
              <a:t>changed</a:t>
            </a:r>
          </a:p>
          <a:p>
            <a:pPr>
              <a:lnSpc>
                <a:spcPct val="120000"/>
              </a:lnSpc>
              <a:spcAft>
                <a:spcPts val="600"/>
              </a:spcAft>
            </a:pPr>
            <a:r>
              <a:rPr lang="en-CA" sz="2200" b="1" dirty="0"/>
              <a:t>B</a:t>
            </a:r>
            <a:r>
              <a:rPr lang="en-CA" sz="2200" dirty="0"/>
              <a:t>elief</a:t>
            </a:r>
            <a:r>
              <a:rPr lang="en-CA" sz="2200" dirty="0">
                <a:solidFill>
                  <a:schemeClr val="accent1">
                    <a:lumMod val="20000"/>
                    <a:lumOff val="80000"/>
                  </a:schemeClr>
                </a:solidFill>
              </a:rPr>
              <a:t>:  Affirm one’s ideal, calling, competency, potential to grow,  faith in others and in </a:t>
            </a:r>
            <a:r>
              <a:rPr lang="en-CA" sz="2200" dirty="0" smtClean="0">
                <a:solidFill>
                  <a:schemeClr val="accent1">
                    <a:lumMod val="20000"/>
                    <a:lumOff val="80000"/>
                  </a:schemeClr>
                </a:solidFill>
              </a:rPr>
              <a:t>God</a:t>
            </a:r>
          </a:p>
          <a:p>
            <a:pPr>
              <a:lnSpc>
                <a:spcPct val="120000"/>
              </a:lnSpc>
              <a:spcAft>
                <a:spcPts val="600"/>
              </a:spcAft>
            </a:pPr>
            <a:r>
              <a:rPr lang="en-CA" sz="2200" b="1" dirty="0"/>
              <a:t>C</a:t>
            </a:r>
            <a:r>
              <a:rPr lang="en-CA" sz="2200" dirty="0"/>
              <a:t>ommitment</a:t>
            </a:r>
            <a:r>
              <a:rPr lang="en-CA" sz="2200" dirty="0">
                <a:solidFill>
                  <a:schemeClr val="accent1">
                    <a:lumMod val="20000"/>
                    <a:lumOff val="80000"/>
                  </a:schemeClr>
                </a:solidFill>
              </a:rPr>
              <a:t>:  Determined to move forward, explore possible solutions, dig deeper, and carry out one’s responsibility in spite of obstacles, setbacks and a bleak </a:t>
            </a:r>
            <a:r>
              <a:rPr lang="en-CA" sz="2200" dirty="0" smtClean="0">
                <a:solidFill>
                  <a:schemeClr val="accent1">
                    <a:lumMod val="20000"/>
                    <a:lumOff val="80000"/>
                  </a:schemeClr>
                </a:solidFill>
              </a:rPr>
              <a:t>future</a:t>
            </a:r>
          </a:p>
          <a:p>
            <a:pPr>
              <a:lnSpc>
                <a:spcPct val="120000"/>
              </a:lnSpc>
              <a:spcAft>
                <a:spcPts val="600"/>
              </a:spcAft>
            </a:pPr>
            <a:r>
              <a:rPr lang="en-CA" sz="2200" b="1" dirty="0"/>
              <a:t>D</a:t>
            </a:r>
            <a:r>
              <a:rPr lang="en-CA" sz="2200" dirty="0"/>
              <a:t>iscovery</a:t>
            </a:r>
            <a:r>
              <a:rPr lang="en-CA" sz="2200" dirty="0">
                <a:solidFill>
                  <a:schemeClr val="accent1">
                    <a:lumMod val="20000"/>
                    <a:lumOff val="80000"/>
                  </a:schemeClr>
                </a:solidFill>
              </a:rPr>
              <a:t>: Discover greater inner strength, a broader horizon, the power of belief &amp; faith, and learn something new about self, others, life, and the human condition.</a:t>
            </a:r>
            <a:endParaRPr lang="en-CA" sz="2200" dirty="0">
              <a:solidFill>
                <a:schemeClr val="accent1">
                  <a:lumMod val="20000"/>
                  <a:lumOff val="80000"/>
                </a:schemeClr>
              </a:solidFill>
              <a:latin typeface="Calibri"/>
              <a:ea typeface="Calibri"/>
              <a:cs typeface="Times New Roman"/>
            </a:endParaRPr>
          </a:p>
          <a:p>
            <a:pPr>
              <a:lnSpc>
                <a:spcPct val="120000"/>
              </a:lnSpc>
              <a:spcAft>
                <a:spcPts val="600"/>
              </a:spcAft>
            </a:pPr>
            <a:r>
              <a:rPr lang="en-CA" sz="2200" b="1" dirty="0"/>
              <a:t>E</a:t>
            </a:r>
            <a:r>
              <a:rPr lang="en-CA" sz="2200" dirty="0"/>
              <a:t>njoyment/</a:t>
            </a:r>
            <a:r>
              <a:rPr lang="en-CA" sz="2200" b="1" dirty="0"/>
              <a:t>E</a:t>
            </a:r>
            <a:r>
              <a:rPr lang="en-CA" sz="2200" dirty="0"/>
              <a:t>valuation</a:t>
            </a:r>
            <a:r>
              <a:rPr lang="en-CA" sz="2200" dirty="0">
                <a:solidFill>
                  <a:schemeClr val="accent1">
                    <a:lumMod val="20000"/>
                    <a:lumOff val="80000"/>
                  </a:schemeClr>
                </a:solidFill>
              </a:rPr>
              <a:t>: Enjoy the struggle and progress, and constantly evaluate the process to improve the likelihood of </a:t>
            </a:r>
            <a:r>
              <a:rPr lang="en-CA" sz="2200" dirty="0" smtClean="0">
                <a:solidFill>
                  <a:schemeClr val="accent1">
                    <a:lumMod val="20000"/>
                    <a:lumOff val="80000"/>
                  </a:schemeClr>
                </a:solidFill>
              </a:rPr>
              <a:t>success</a:t>
            </a:r>
            <a:endParaRPr lang="en-CA" sz="2200" dirty="0">
              <a:solidFill>
                <a:schemeClr val="accent1">
                  <a:lumMod val="20000"/>
                  <a:lumOff val="80000"/>
                </a:schemeClr>
              </a:solidFill>
              <a:latin typeface="Calibri"/>
              <a:ea typeface="Calibri"/>
              <a:cs typeface="Times New Roman"/>
            </a:endParaRPr>
          </a:p>
          <a:p>
            <a:pPr>
              <a:spcAft>
                <a:spcPts val="0"/>
              </a:spcAft>
            </a:pPr>
            <a:endParaRPr lang="en-CA" sz="2200" dirty="0">
              <a:latin typeface="Calibri"/>
              <a:ea typeface="Calibri"/>
              <a:cs typeface="Times New Roman"/>
            </a:endParaRPr>
          </a:p>
        </p:txBody>
      </p:sp>
    </p:spTree>
    <p:extLst>
      <p:ext uri="{BB962C8B-B14F-4D97-AF65-F5344CB8AC3E}">
        <p14:creationId xmlns:p14="http://schemas.microsoft.com/office/powerpoint/2010/main" val="1213419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CA" dirty="0" smtClean="0"/>
              <a:t>Conclusion</a:t>
            </a:r>
            <a:endParaRPr lang="en-CA" dirty="0"/>
          </a:p>
        </p:txBody>
      </p:sp>
      <p:sp>
        <p:nvSpPr>
          <p:cNvPr id="2" name="Content Placeholder 1"/>
          <p:cNvSpPr>
            <a:spLocks noGrp="1"/>
          </p:cNvSpPr>
          <p:nvPr>
            <p:ph idx="1"/>
          </p:nvPr>
        </p:nvSpPr>
        <p:spPr/>
        <p:txBody>
          <a:bodyPr/>
          <a:lstStyle/>
          <a:p>
            <a:pPr>
              <a:spcBef>
                <a:spcPts val="2400"/>
              </a:spcBef>
            </a:pPr>
            <a:r>
              <a:rPr lang="en-CA" dirty="0" smtClean="0"/>
              <a:t>The PURE model offers principles of personal growth and meaningful living.</a:t>
            </a:r>
          </a:p>
          <a:p>
            <a:pPr>
              <a:spcBef>
                <a:spcPts val="2400"/>
              </a:spcBef>
            </a:pPr>
            <a:r>
              <a:rPr lang="en-CA" dirty="0" smtClean="0"/>
              <a:t>The ABCDE model offers principles of resilience and resourcefulness.</a:t>
            </a:r>
          </a:p>
          <a:p>
            <a:pPr>
              <a:spcBef>
                <a:spcPts val="2400"/>
              </a:spcBef>
            </a:pPr>
            <a:r>
              <a:rPr lang="en-CA" dirty="0" smtClean="0"/>
              <a:t>The Deep and Wide hypothesis of the positive potentials of adversities is based on the ABCDE model.</a:t>
            </a:r>
          </a:p>
          <a:p>
            <a:pPr>
              <a:spcBef>
                <a:spcPts val="2400"/>
              </a:spcBef>
            </a:pPr>
            <a:r>
              <a:rPr lang="en-CA" dirty="0" smtClean="0"/>
              <a:t>Students trained in PURE and ABCDE will be well equipped to live a fulfilling, responsible and productive life in the midst of uncertainties and challenges.</a:t>
            </a:r>
          </a:p>
          <a:p>
            <a:endParaRPr lang="en-CA" dirty="0"/>
          </a:p>
        </p:txBody>
      </p:sp>
    </p:spTree>
    <p:extLst>
      <p:ext uri="{BB962C8B-B14F-4D97-AF65-F5344CB8AC3E}">
        <p14:creationId xmlns:p14="http://schemas.microsoft.com/office/powerpoint/2010/main" val="1264709938"/>
      </p:ext>
    </p:extLst>
  </p:cSld>
  <p:clrMapOvr>
    <a:masterClrMapping/>
  </p:clrMapOvr>
</p:sld>
</file>

<file path=ppt/theme/theme1.xml><?xml version="1.0" encoding="utf-8"?>
<a:theme xmlns:a="http://schemas.openxmlformats.org/drawingml/2006/main" name="Thatch">
  <a:themeElements>
    <a:clrScheme name="Thatch">
      <a:dk1>
        <a:sysClr val="windowText" lastClr="000000"/>
      </a:dk1>
      <a:lt1>
        <a:sysClr val="window" lastClr="FFFFFF"/>
      </a:lt1>
      <a:dk2>
        <a:srgbClr val="1D3641"/>
      </a:dk2>
      <a:lt2>
        <a:srgbClr val="DFE6D0"/>
      </a:lt2>
      <a:accent1>
        <a:srgbClr val="759AA5"/>
      </a:accent1>
      <a:accent2>
        <a:srgbClr val="CFC60D"/>
      </a:accent2>
      <a:accent3>
        <a:srgbClr val="99987F"/>
      </a:accent3>
      <a:accent4>
        <a:srgbClr val="90AC97"/>
      </a:accent4>
      <a:accent5>
        <a:srgbClr val="FFAD1C"/>
      </a:accent5>
      <a:accent6>
        <a:srgbClr val="B9AB6F"/>
      </a:accent6>
      <a:hlink>
        <a:srgbClr val="66AACD"/>
      </a:hlink>
      <a:folHlink>
        <a:srgbClr val="809DB3"/>
      </a:folHlink>
    </a:clrScheme>
    <a:fontScheme name="Median">
      <a:majorFont>
        <a:latin typeface="Tw Cen MT"/>
        <a:ea typeface=""/>
        <a:cs typeface=""/>
        <a:font script="Grek" typeface="Calibri"/>
        <a:font script="Cyrl" typeface="Calibri"/>
        <a:font script="Jpan" typeface="HG創英角ｺﾞｼｯｸUB"/>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創英角ｺﾞｼｯｸUB"/>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hatch">
      <a:fillStyleLst>
        <a:solidFill>
          <a:schemeClr val="phClr"/>
        </a:solidFill>
        <a:gradFill rotWithShape="1">
          <a:gsLst>
            <a:gs pos="0">
              <a:schemeClr val="phClr">
                <a:tint val="79000"/>
                <a:satMod val="180000"/>
              </a:schemeClr>
            </a:gs>
            <a:gs pos="65000">
              <a:schemeClr val="phClr">
                <a:tint val="52000"/>
                <a:satMod val="250000"/>
              </a:schemeClr>
            </a:gs>
            <a:gs pos="100000">
              <a:schemeClr val="phClr">
                <a:tint val="29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15875" cap="flat" cmpd="sng" algn="ctr">
          <a:solidFill>
            <a:schemeClr val="phClr"/>
          </a:solidFill>
          <a:prstDash val="solid"/>
        </a:ln>
        <a:ln w="38100" cap="flat" cmpd="sng" algn="ctr">
          <a:solidFill>
            <a:schemeClr val="phClr"/>
          </a:solidFill>
          <a:prstDash val="solid"/>
        </a:ln>
      </a:lnStyleLst>
      <a:effectStyleLst>
        <a:effectStyle>
          <a:effectLst>
            <a:outerShdw blurRad="63500" dist="25400" dir="5400000" rotWithShape="0">
              <a:srgbClr val="000000">
                <a:alpha val="43000"/>
              </a:srgbClr>
            </a:outerShdw>
          </a:effectLst>
        </a:effectStyle>
        <a:effectStyle>
          <a:effectLst>
            <a:outerShdw blurRad="63500" dist="25400" dir="5400000" rotWithShape="0">
              <a:srgbClr val="000000">
                <a:alpha val="43000"/>
              </a:srgbClr>
            </a:outerShdw>
          </a:effectLst>
          <a:scene3d>
            <a:camera prst="orthographicFront">
              <a:rot lat="0" lon="0" rev="0"/>
            </a:camera>
            <a:lightRig rig="brightRoom" dir="t">
              <a:rot lat="0" lon="0" rev="8700000"/>
            </a:lightRig>
          </a:scene3d>
          <a:sp3d contourW="12700" prstMaterial="dkEdge">
            <a:bevelT w="0" h="0" prst="relaxedInset"/>
            <a:contourClr>
              <a:schemeClr val="phClr">
                <a:shade val="65000"/>
                <a:satMod val="150000"/>
              </a:schemeClr>
            </a:contourClr>
          </a:sp3d>
        </a:effectStyle>
        <a:effectStyle>
          <a:effectLst>
            <a:outerShdw blurRad="63500" dist="25400" dir="5400000" rotWithShape="0">
              <a:srgbClr val="000000">
                <a:alpha val="43000"/>
              </a:srgbClr>
            </a:outerShdw>
          </a:effectLst>
          <a:scene3d>
            <a:camera prst="orthographicFront">
              <a:rot lat="0" lon="0" rev="0"/>
            </a:camera>
            <a:lightRig rig="glow" dir="t">
              <a:rot lat="0" lon="0" rev="13200000"/>
            </a:lightRig>
          </a:scene3d>
          <a:sp3d prstMaterial="dkEdge">
            <a:bevelT w="63500" h="50800" prst="relaxedInset"/>
          </a:sp3d>
        </a:effectStyle>
      </a:effectStyleLst>
      <a:bgFillStyleLst>
        <a:solidFill>
          <a:schemeClr val="phClr"/>
        </a:solidFill>
        <a:gradFill rotWithShape="1">
          <a:gsLst>
            <a:gs pos="0">
              <a:schemeClr val="phClr">
                <a:tint val="85000"/>
                <a:shade val="95000"/>
                <a:satMod val="200000"/>
              </a:schemeClr>
            </a:gs>
            <a:gs pos="53000">
              <a:schemeClr val="phClr">
                <a:shade val="60000"/>
                <a:satMod val="220000"/>
              </a:schemeClr>
            </a:gs>
            <a:gs pos="100000">
              <a:schemeClr val="phClr">
                <a:shade val="45000"/>
                <a:satMod val="220000"/>
              </a:schemeClr>
            </a:gs>
          </a:gsLst>
          <a:lin ang="16200000" scaled="0"/>
        </a:gradFill>
        <a:gradFill rotWithShape="1">
          <a:gsLst>
            <a:gs pos="0">
              <a:schemeClr val="phClr">
                <a:tint val="83000"/>
                <a:shade val="97000"/>
                <a:satMod val="230000"/>
              </a:schemeClr>
            </a:gs>
            <a:gs pos="100000">
              <a:schemeClr val="phClr">
                <a:shade val="35000"/>
                <a:satMod val="250000"/>
              </a:schemeClr>
            </a:gs>
          </a:gsLst>
          <a:path path="circle">
            <a:fillToRect l="15000" t="50000" r="85000" b="6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Thatch</Template>
  <TotalTime>187</TotalTime>
  <Words>2051</Words>
  <Application>Microsoft Office PowerPoint</Application>
  <PresentationFormat>On-screen Show (4:3)</PresentationFormat>
  <Paragraphs>242</Paragraphs>
  <Slides>27</Slides>
  <Notes>2</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Thatch</vt:lpstr>
      <vt:lpstr>Positive Education: An Alternative Vision </vt:lpstr>
      <vt:lpstr>Traditional approach to education</vt:lpstr>
      <vt:lpstr>An Alternative Vision of Positive Education</vt:lpstr>
      <vt:lpstr>Caring and competent teachers</vt:lpstr>
      <vt:lpstr>A Sense of Calling: Who Teaches and Why.  A Report from Public Agenda (2000)</vt:lpstr>
      <vt:lpstr>The need for personal growth in teachers</vt:lpstr>
      <vt:lpstr>What the Administrators can do to build positive schools</vt:lpstr>
      <vt:lpstr>Adler’s 3 R’s of Good Citizenship</vt:lpstr>
      <vt:lpstr>Adler on Responsibility</vt:lpstr>
      <vt:lpstr>Enhancing academic motivation </vt:lpstr>
      <vt:lpstr>There are different conceptions of values</vt:lpstr>
      <vt:lpstr>   Weiner’s Attribution Theory of Achievement (Weiner, 1979, 1985)</vt:lpstr>
      <vt:lpstr>Feather’s Interactionist Approach to Values</vt:lpstr>
      <vt:lpstr>Dweck on Mastery Values</vt:lpstr>
      <vt:lpstr>Wong’s (1998) Academic Attitude Scale</vt:lpstr>
      <vt:lpstr>Focusing on student strengths rather than weaknesses</vt:lpstr>
      <vt:lpstr>PURE as a definition of meaning in life</vt:lpstr>
      <vt:lpstr>Purpose</vt:lpstr>
      <vt:lpstr>Understanding</vt:lpstr>
      <vt:lpstr>Responsibility</vt:lpstr>
      <vt:lpstr>Enjoyment/Evaluation</vt:lpstr>
      <vt:lpstr>The PURE Test</vt:lpstr>
      <vt:lpstr>The PURE Test</vt:lpstr>
      <vt:lpstr>The PURE Test (continued)</vt:lpstr>
      <vt:lpstr>Advantages of PURE</vt:lpstr>
      <vt:lpstr>ABCDE Model of  Resilience &amp; Resourcefulness</vt:lpstr>
      <vt:lpstr>Conclusion</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Positive Education</dc:title>
  <dc:creator>Paul T. P. Wong</dc:creator>
  <cp:lastModifiedBy>Paul T. P. Wong</cp:lastModifiedBy>
  <cp:revision>52</cp:revision>
  <dcterms:created xsi:type="dcterms:W3CDTF">2012-03-15T18:42:41Z</dcterms:created>
  <dcterms:modified xsi:type="dcterms:W3CDTF">2012-04-02T20:15:33Z</dcterms:modified>
</cp:coreProperties>
</file>