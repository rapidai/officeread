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activeX/activeX1.xml" ContentType="application/vnd.ms-office.activeX+xml"/>
  <Override PartName="/ppt/activeX/activeX2.xml" ContentType="application/vnd.ms-office.activeX+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activeX/activeX3.xml" ContentType="application/vnd.ms-office.activeX+xml"/>
  <Override PartName="/ppt/activeX/activeX4.xml" ContentType="application/vnd.ms-office.activeX+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activeX/activeX5.xml" ContentType="application/vnd.ms-office.activeX+xml"/>
  <Override PartName="/ppt/activeX/activeX6.xml" ContentType="application/vnd.ms-office.activeX+xml"/>
  <Override PartName="/ppt/activeX/activeX7.xml" ContentType="application/vnd.ms-office.activeX+xml"/>
  <Override PartName="/ppt/activeX/activeX8.xml" ContentType="application/vnd.ms-office.activeX+xml"/>
  <Override PartName="/ppt/activeX/activeX9.xml" ContentType="application/vnd.ms-office.activeX+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4" r:id="rId2"/>
  </p:sldMasterIdLst>
  <p:notesMasterIdLst>
    <p:notesMasterId r:id="rId33"/>
  </p:notesMasterIdLst>
  <p:sldIdLst>
    <p:sldId id="256" r:id="rId3"/>
    <p:sldId id="257" r:id="rId4"/>
    <p:sldId id="329" r:id="rId5"/>
    <p:sldId id="258" r:id="rId6"/>
    <p:sldId id="261" r:id="rId7"/>
    <p:sldId id="263" r:id="rId8"/>
    <p:sldId id="267" r:id="rId9"/>
    <p:sldId id="268" r:id="rId10"/>
    <p:sldId id="331" r:id="rId11"/>
    <p:sldId id="269" r:id="rId12"/>
    <p:sldId id="274" r:id="rId13"/>
    <p:sldId id="277" r:id="rId14"/>
    <p:sldId id="325" r:id="rId15"/>
    <p:sldId id="279" r:id="rId16"/>
    <p:sldId id="324" r:id="rId17"/>
    <p:sldId id="330" r:id="rId18"/>
    <p:sldId id="309" r:id="rId19"/>
    <p:sldId id="311" r:id="rId20"/>
    <p:sldId id="310" r:id="rId21"/>
    <p:sldId id="312" r:id="rId22"/>
    <p:sldId id="313" r:id="rId23"/>
    <p:sldId id="319" r:id="rId24"/>
    <p:sldId id="291" r:id="rId25"/>
    <p:sldId id="292" r:id="rId26"/>
    <p:sldId id="328" r:id="rId27"/>
    <p:sldId id="332" r:id="rId28"/>
    <p:sldId id="294" r:id="rId29"/>
    <p:sldId id="296" r:id="rId30"/>
    <p:sldId id="297" r:id="rId31"/>
    <p:sldId id="302" r:id="rId3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603" autoAdjust="0"/>
  </p:normalViewPr>
  <p:slideViewPr>
    <p:cSldViewPr>
      <p:cViewPr varScale="1">
        <p:scale>
          <a:sx n="67" d="100"/>
          <a:sy n="67" d="100"/>
        </p:scale>
        <p:origin x="-1254"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s>
</file>

<file path=ppt/activeX/activeX1.xml><?xml version="1.0" encoding="utf-8"?>
<ax:ocx xmlns:ax="http://schemas.microsoft.com/office/2006/activeX" xmlns:r="http://schemas.openxmlformats.org/officeDocument/2006/relationships" ax:classid="{6BF52A52-394A-11D3-B153-00C04F79FAA6}" ax:persistence="persistPropertyBag">
  <ax:ocxPr ax:name="URL" ax:value="AGlimpseAhead09_3000k.wmv"/>
  <ax:ocxPr ax:name="rate" ax:value="1"/>
  <ax:ocxPr ax:name="balance" ax:value="0"/>
  <ax:ocxPr ax:name="currentPosition" ax:value="0"/>
  <ax:ocxPr ax:name="defaultFrame" ax:value=""/>
  <ax:ocxPr ax:name="playCount" ax:value="1"/>
  <ax:ocxPr ax:name="autoStart" ax:value="0"/>
  <ax:ocxPr ax:name="currentMarker" ax:value="0"/>
  <ax:ocxPr ax:name="invokeURLs" ax:value="-1"/>
  <ax:ocxPr ax:name="baseURL" ax:value=""/>
  <ax:ocxPr ax:name="volume" ax:value="50"/>
  <ax:ocxPr ax:name="mute" ax:value="0"/>
  <ax:ocxPr ax:name="uiMode" ax:value="full"/>
  <ax:ocxPr ax:name="stretchToFit" ax:value="0"/>
  <ax:ocxPr ax:name="windowlessVideo" ax:value="0"/>
  <ax:ocxPr ax:name="enabled" ax:value="-1"/>
  <ax:ocxPr ax:name="enableContextMenu" ax:value="-1"/>
  <ax:ocxPr ax:name="fullScreen" ax:value="0"/>
  <ax:ocxPr ax:name="SAMIStyle" ax:value=""/>
  <ax:ocxPr ax:name="SAMILang" ax:value=""/>
  <ax:ocxPr ax:name="SAMIFilename" ax:value=""/>
  <ax:ocxPr ax:name="captioningID" ax:value=""/>
  <ax:ocxPr ax:name="enableErrorDialogs" ax:value="0"/>
  <ax:ocxPr ax:name="_cx" ax:value="6350"/>
  <ax:ocxPr ax:name="_cy" ax:value="4233"/>
</ax:ocx>
</file>

<file path=ppt/activeX/activeX2.xml><?xml version="1.0" encoding="utf-8"?>
<ax:ocx xmlns:ax="http://schemas.microsoft.com/office/2006/activeX" xmlns:r="http://schemas.openxmlformats.org/officeDocument/2006/relationships" ax:classid="{6BF52A52-394A-11D3-B153-00C04F79FAA6}" ax:persistence="persistPropertyBag">
  <ax:ocxPr ax:name="URL" ax:value="Aldebaran Robotics_#39; Nao.wmv"/>
  <ax:ocxPr ax:name="rate" ax:value="1"/>
  <ax:ocxPr ax:name="balance" ax:value="0"/>
  <ax:ocxPr ax:name="currentPosition" ax:value="0"/>
  <ax:ocxPr ax:name="defaultFrame" ax:value=""/>
  <ax:ocxPr ax:name="playCount" ax:value="1"/>
  <ax:ocxPr ax:name="autoStart" ax:value="0"/>
  <ax:ocxPr ax:name="currentMarker" ax:value="0"/>
  <ax:ocxPr ax:name="invokeURLs" ax:value="-1"/>
  <ax:ocxPr ax:name="baseURL" ax:value=""/>
  <ax:ocxPr ax:name="volume" ax:value="50"/>
  <ax:ocxPr ax:name="mute" ax:value="0"/>
  <ax:ocxPr ax:name="uiMode" ax:value="full"/>
  <ax:ocxPr ax:name="stretchToFit" ax:value="0"/>
  <ax:ocxPr ax:name="windowlessVideo" ax:value="0"/>
  <ax:ocxPr ax:name="enabled" ax:value="-1"/>
  <ax:ocxPr ax:name="enableContextMenu" ax:value="-1"/>
  <ax:ocxPr ax:name="fullScreen" ax:value="0"/>
  <ax:ocxPr ax:name="SAMIStyle" ax:value=""/>
  <ax:ocxPr ax:name="SAMILang" ax:value=""/>
  <ax:ocxPr ax:name="SAMIFilename" ax:value=""/>
  <ax:ocxPr ax:name="captioningID" ax:value=""/>
  <ax:ocxPr ax:name="enableErrorDialogs" ax:value="0"/>
  <ax:ocxPr ax:name="_cx" ax:value="6350"/>
  <ax:ocxPr ax:name="_cy" ax:value="4233"/>
</ax:ocx>
</file>

<file path=ppt/activeX/activeX3.xml><?xml version="1.0" encoding="utf-8"?>
<ax:ocx xmlns:ax="http://schemas.microsoft.com/office/2006/activeX" xmlns:r="http://schemas.openxmlformats.org/officeDocument/2006/relationships" ax:classid="{6BF52A52-394A-11D3-B153-00C04F79FAA6}" ax:persistence="persistPropertyBag">
  <ax:ocxPr ax:name="URL" ax:value="intro.mp3"/>
  <ax:ocxPr ax:name="rate" ax:value="1"/>
  <ax:ocxPr ax:name="balance" ax:value="0"/>
  <ax:ocxPr ax:name="currentPosition" ax:value="0"/>
  <ax:ocxPr ax:name="defaultFrame" ax:value=""/>
  <ax:ocxPr ax:name="playCount" ax:value="1"/>
  <ax:ocxPr ax:name="autoStart" ax:value="0"/>
  <ax:ocxPr ax:name="currentMarker" ax:value="0"/>
  <ax:ocxPr ax:name="invokeURLs" ax:value="-1"/>
  <ax:ocxPr ax:name="baseURL" ax:value=""/>
  <ax:ocxPr ax:name="volume" ax:value="50"/>
  <ax:ocxPr ax:name="mute" ax:value="0"/>
  <ax:ocxPr ax:name="uiMode" ax:value="mini"/>
  <ax:ocxPr ax:name="stretchToFit" ax:value="0"/>
  <ax:ocxPr ax:name="windowlessVideo" ax:value="0"/>
  <ax:ocxPr ax:name="enabled" ax:value="-1"/>
  <ax:ocxPr ax:name="enableContextMenu" ax:value="-1"/>
  <ax:ocxPr ax:name="fullScreen" ax:value="0"/>
  <ax:ocxPr ax:name="SAMIStyle" ax:value=""/>
  <ax:ocxPr ax:name="SAMILang" ax:value=""/>
  <ax:ocxPr ax:name="SAMIFilename" ax:value=""/>
  <ax:ocxPr ax:name="captioningID" ax:value=""/>
  <ax:ocxPr ax:name="enableErrorDialogs" ax:value="0"/>
  <ax:ocxPr ax:name="_cx" ax:value="7620"/>
  <ax:ocxPr ax:name="_cy" ax:value="1058"/>
</ax:ocx>
</file>

<file path=ppt/activeX/activeX4.xml><?xml version="1.0" encoding="utf-8"?>
<ax:ocx xmlns:ax="http://schemas.microsoft.com/office/2006/activeX" xmlns:r="http://schemas.openxmlformats.org/officeDocument/2006/relationships" ax:classid="{6BF52A52-394A-11D3-B153-00C04F79FAA6}" ax:persistence="persistPropertyBag">
  <ax:ocxPr ax:name="URL" ax:value="mynameisalice.mp3"/>
  <ax:ocxPr ax:name="rate" ax:value="1"/>
  <ax:ocxPr ax:name="balance" ax:value="0"/>
  <ax:ocxPr ax:name="currentPosition" ax:value="0"/>
  <ax:ocxPr ax:name="defaultFrame" ax:value=""/>
  <ax:ocxPr ax:name="playCount" ax:value="1"/>
  <ax:ocxPr ax:name="autoStart" ax:value="0"/>
  <ax:ocxPr ax:name="currentMarker" ax:value="0"/>
  <ax:ocxPr ax:name="invokeURLs" ax:value="-1"/>
  <ax:ocxPr ax:name="baseURL" ax:value=""/>
  <ax:ocxPr ax:name="volume" ax:value="50"/>
  <ax:ocxPr ax:name="mute" ax:value="0"/>
  <ax:ocxPr ax:name="uiMode" ax:value="mini"/>
  <ax:ocxPr ax:name="stretchToFit" ax:value="0"/>
  <ax:ocxPr ax:name="windowlessVideo" ax:value="0"/>
  <ax:ocxPr ax:name="enabled" ax:value="-1"/>
  <ax:ocxPr ax:name="enableContextMenu" ax:value="-1"/>
  <ax:ocxPr ax:name="fullScreen" ax:value="0"/>
  <ax:ocxPr ax:name="SAMIStyle" ax:value=""/>
  <ax:ocxPr ax:name="SAMILang" ax:value=""/>
  <ax:ocxPr ax:name="SAMIFilename" ax:value=""/>
  <ax:ocxPr ax:name="captioningID" ax:value=""/>
  <ax:ocxPr ax:name="enableErrorDialogs" ax:value="0"/>
  <ax:ocxPr ax:name="_cx" ax:value="7620"/>
  <ax:ocxPr ax:name="_cy" ax:value="1058"/>
</ax:ocx>
</file>

<file path=ppt/activeX/activeX5.xml><?xml version="1.0" encoding="utf-8"?>
<ax:ocx xmlns:ax="http://schemas.microsoft.com/office/2006/activeX" xmlns:r="http://schemas.openxmlformats.org/officeDocument/2006/relationships" ax:classid="{6BF52A52-394A-11D3-B153-00C04F79FAA6}" ax:persistence="persistPropertyBag">
  <ax:ocxPr ax:name="URL" ax:value="s1.wmv"/>
  <ax:ocxPr ax:name="rate" ax:value="1"/>
  <ax:ocxPr ax:name="balance" ax:value="0"/>
  <ax:ocxPr ax:name="currentPosition" ax:value="0"/>
  <ax:ocxPr ax:name="defaultFrame" ax:value=""/>
  <ax:ocxPr ax:name="playCount" ax:value="1"/>
  <ax:ocxPr ax:name="autoStart" ax:value="0"/>
  <ax:ocxPr ax:name="currentMarker" ax:value="0"/>
  <ax:ocxPr ax:name="invokeURLs" ax:value="-1"/>
  <ax:ocxPr ax:name="baseURL" ax:value=""/>
  <ax:ocxPr ax:name="volume" ax:value="50"/>
  <ax:ocxPr ax:name="mute" ax:value="0"/>
  <ax:ocxPr ax:name="uiMode" ax:value="full"/>
  <ax:ocxPr ax:name="stretchToFit" ax:value="0"/>
  <ax:ocxPr ax:name="windowlessVideo" ax:value="0"/>
  <ax:ocxPr ax:name="enabled" ax:value="-1"/>
  <ax:ocxPr ax:name="enableContextMenu" ax:value="-1"/>
  <ax:ocxPr ax:name="fullScreen" ax:value="0"/>
  <ax:ocxPr ax:name="SAMIStyle" ax:value=""/>
  <ax:ocxPr ax:name="SAMILang" ax:value=""/>
  <ax:ocxPr ax:name="SAMIFilename" ax:value=""/>
  <ax:ocxPr ax:name="captioningID" ax:value=""/>
  <ax:ocxPr ax:name="enableErrorDialogs" ax:value="0"/>
  <ax:ocxPr ax:name="_cx" ax:value="7620"/>
  <ax:ocxPr ax:name="_cy" ax:value="5080"/>
</ax:ocx>
</file>

<file path=ppt/activeX/activeX6.xml><?xml version="1.0" encoding="utf-8"?>
<ax:ocx xmlns:ax="http://schemas.microsoft.com/office/2006/activeX" xmlns:r="http://schemas.openxmlformats.org/officeDocument/2006/relationships" ax:classid="{6BF52A52-394A-11D3-B153-00C04F79FAA6}" ax:persistence="persistPropertyBag">
  <ax:ocxPr ax:name="URL" ax:value="email.mp3"/>
  <ax:ocxPr ax:name="rate" ax:value="1"/>
  <ax:ocxPr ax:name="balance" ax:value="0"/>
  <ax:ocxPr ax:name="currentPosition" ax:value="0"/>
  <ax:ocxPr ax:name="defaultFrame" ax:value=""/>
  <ax:ocxPr ax:name="playCount" ax:value="1"/>
  <ax:ocxPr ax:name="autoStart" ax:value="0"/>
  <ax:ocxPr ax:name="currentMarker" ax:value="0"/>
  <ax:ocxPr ax:name="invokeURLs" ax:value="-1"/>
  <ax:ocxPr ax:name="baseURL" ax:value=""/>
  <ax:ocxPr ax:name="volume" ax:value="50"/>
  <ax:ocxPr ax:name="mute" ax:value="0"/>
  <ax:ocxPr ax:name="uiMode" ax:value="mini"/>
  <ax:ocxPr ax:name="stretchToFit" ax:value="0"/>
  <ax:ocxPr ax:name="windowlessVideo" ax:value="0"/>
  <ax:ocxPr ax:name="enabled" ax:value="-1"/>
  <ax:ocxPr ax:name="enableContextMenu" ax:value="-1"/>
  <ax:ocxPr ax:name="fullScreen" ax:value="0"/>
  <ax:ocxPr ax:name="SAMIStyle" ax:value=""/>
  <ax:ocxPr ax:name="SAMILang" ax:value=""/>
  <ax:ocxPr ax:name="SAMIFilename" ax:value=""/>
  <ax:ocxPr ax:name="captioningID" ax:value=""/>
  <ax:ocxPr ax:name="enableErrorDialogs" ax:value="0"/>
  <ax:ocxPr ax:name="_cx" ax:value="7620"/>
  <ax:ocxPr ax:name="_cy" ax:value="1058"/>
</ax:ocx>
</file>

<file path=ppt/activeX/activeX7.xml><?xml version="1.0" encoding="utf-8"?>
<ax:ocx xmlns:ax="http://schemas.microsoft.com/office/2006/activeX" xmlns:r="http://schemas.openxmlformats.org/officeDocument/2006/relationships" ax:classid="{6BF52A52-394A-11D3-B153-00C04F79FAA6}" ax:persistence="persistPropertyBag">
  <ax:ocxPr ax:name="URL" ax:value="monthly.mp3"/>
  <ax:ocxPr ax:name="rate" ax:value="1"/>
  <ax:ocxPr ax:name="balance" ax:value="0"/>
  <ax:ocxPr ax:name="currentPosition" ax:value="0"/>
  <ax:ocxPr ax:name="defaultFrame" ax:value=""/>
  <ax:ocxPr ax:name="playCount" ax:value="1"/>
  <ax:ocxPr ax:name="autoStart" ax:value="0"/>
  <ax:ocxPr ax:name="currentMarker" ax:value="0"/>
  <ax:ocxPr ax:name="invokeURLs" ax:value="-1"/>
  <ax:ocxPr ax:name="baseURL" ax:value=""/>
  <ax:ocxPr ax:name="volume" ax:value="50"/>
  <ax:ocxPr ax:name="mute" ax:value="0"/>
  <ax:ocxPr ax:name="uiMode" ax:value="mini"/>
  <ax:ocxPr ax:name="stretchToFit" ax:value="0"/>
  <ax:ocxPr ax:name="windowlessVideo" ax:value="0"/>
  <ax:ocxPr ax:name="enabled" ax:value="-1"/>
  <ax:ocxPr ax:name="enableContextMenu" ax:value="-1"/>
  <ax:ocxPr ax:name="fullScreen" ax:value="0"/>
  <ax:ocxPr ax:name="SAMIStyle" ax:value=""/>
  <ax:ocxPr ax:name="SAMILang" ax:value=""/>
  <ax:ocxPr ax:name="SAMIFilename" ax:value=""/>
  <ax:ocxPr ax:name="captioningID" ax:value=""/>
  <ax:ocxPr ax:name="enableErrorDialogs" ax:value="0"/>
  <ax:ocxPr ax:name="_cx" ax:value="7620"/>
  <ax:ocxPr ax:name="_cy" ax:value="1058"/>
</ax:ocx>
</file>

<file path=ppt/activeX/activeX8.xml><?xml version="1.0" encoding="utf-8"?>
<ax:ocx xmlns:ax="http://schemas.microsoft.com/office/2006/activeX" xmlns:r="http://schemas.openxmlformats.org/officeDocument/2006/relationships" ax:classid="{6BF52A52-394A-11D3-B153-00C04F79FAA6}" ax:persistence="persistPropertyBag">
  <ax:ocxPr ax:name="URL" ax:value="phone.mp3"/>
  <ax:ocxPr ax:name="rate" ax:value="1"/>
  <ax:ocxPr ax:name="balance" ax:value="0"/>
  <ax:ocxPr ax:name="currentPosition" ax:value="0"/>
  <ax:ocxPr ax:name="defaultFrame" ax:value=""/>
  <ax:ocxPr ax:name="playCount" ax:value="1"/>
  <ax:ocxPr ax:name="autoStart" ax:value="0"/>
  <ax:ocxPr ax:name="currentMarker" ax:value="0"/>
  <ax:ocxPr ax:name="invokeURLs" ax:value="-1"/>
  <ax:ocxPr ax:name="baseURL" ax:value=""/>
  <ax:ocxPr ax:name="volume" ax:value="50"/>
  <ax:ocxPr ax:name="mute" ax:value="0"/>
  <ax:ocxPr ax:name="uiMode" ax:value="mini"/>
  <ax:ocxPr ax:name="stretchToFit" ax:value="0"/>
  <ax:ocxPr ax:name="windowlessVideo" ax:value="0"/>
  <ax:ocxPr ax:name="enabled" ax:value="-1"/>
  <ax:ocxPr ax:name="enableContextMenu" ax:value="-1"/>
  <ax:ocxPr ax:name="fullScreen" ax:value="0"/>
  <ax:ocxPr ax:name="SAMIStyle" ax:value=""/>
  <ax:ocxPr ax:name="SAMILang" ax:value=""/>
  <ax:ocxPr ax:name="SAMIFilename" ax:value=""/>
  <ax:ocxPr ax:name="captioningID" ax:value=""/>
  <ax:ocxPr ax:name="enableErrorDialogs" ax:value="0"/>
  <ax:ocxPr ax:name="_cx" ax:value="7620"/>
  <ax:ocxPr ax:name="_cy" ax:value="1058"/>
</ax:ocx>
</file>

<file path=ppt/activeX/activeX9.xml><?xml version="1.0" encoding="utf-8"?>
<ax:ocx xmlns:ax="http://schemas.microsoft.com/office/2006/activeX" xmlns:r="http://schemas.openxmlformats.org/officeDocument/2006/relationships" ax:classid="{6BF52A52-394A-11D3-B153-00C04F79FAA6}" ax:persistence="persistPropertyBag">
  <ax:ocxPr ax:name="URL" ax:value="address.mp3"/>
  <ax:ocxPr ax:name="rate" ax:value="1"/>
  <ax:ocxPr ax:name="balance" ax:value="0"/>
  <ax:ocxPr ax:name="currentPosition" ax:value="0"/>
  <ax:ocxPr ax:name="defaultFrame" ax:value=""/>
  <ax:ocxPr ax:name="playCount" ax:value="1"/>
  <ax:ocxPr ax:name="autoStart" ax:value="0"/>
  <ax:ocxPr ax:name="currentMarker" ax:value="0"/>
  <ax:ocxPr ax:name="invokeURLs" ax:value="-1"/>
  <ax:ocxPr ax:name="baseURL" ax:value=""/>
  <ax:ocxPr ax:name="volume" ax:value="50"/>
  <ax:ocxPr ax:name="mute" ax:value="0"/>
  <ax:ocxPr ax:name="uiMode" ax:value="mini"/>
  <ax:ocxPr ax:name="stretchToFit" ax:value="0"/>
  <ax:ocxPr ax:name="windowlessVideo" ax:value="0"/>
  <ax:ocxPr ax:name="enabled" ax:value="-1"/>
  <ax:ocxPr ax:name="enableContextMenu" ax:value="-1"/>
  <ax:ocxPr ax:name="fullScreen" ax:value="0"/>
  <ax:ocxPr ax:name="SAMIStyle" ax:value=""/>
  <ax:ocxPr ax:name="SAMILang" ax:value=""/>
  <ax:ocxPr ax:name="SAMIFilename" ax:value=""/>
  <ax:ocxPr ax:name="captioningID" ax:value=""/>
  <ax:ocxPr ax:name="enableErrorDialogs" ax:value="0"/>
  <ax:ocxPr ax:name="_cx" ax:value="7620"/>
  <ax:ocxPr ax:name="_cy" ax:value="1058"/>
</ax:ocx>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DAFAF69-652D-4EA5-8591-068DAF203B2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7B9D4834-822D-4792-9B55-17A24F66523A}">
      <dgm:prSet/>
      <dgm:spPr/>
      <dgm:t>
        <a:bodyPr/>
        <a:lstStyle/>
        <a:p>
          <a:pPr rtl="0"/>
          <a:r>
            <a:rPr lang="en-US" b="1" dirty="0" smtClean="0"/>
            <a:t>Pervasive Computing Environment</a:t>
          </a:r>
          <a:endParaRPr lang="en-US" dirty="0"/>
        </a:p>
      </dgm:t>
    </dgm:pt>
    <dgm:pt modelId="{0B8B611C-4724-4028-B91D-FC5961C8273F}" type="parTrans" cxnId="{527D8330-FAB4-4790-8B7A-BDF417101A77}">
      <dgm:prSet/>
      <dgm:spPr/>
      <dgm:t>
        <a:bodyPr/>
        <a:lstStyle/>
        <a:p>
          <a:endParaRPr lang="en-US"/>
        </a:p>
      </dgm:t>
    </dgm:pt>
    <dgm:pt modelId="{582A91E9-11D0-4EC2-8CA6-A9EA01CB24AA}" type="sibTrans" cxnId="{527D8330-FAB4-4790-8B7A-BDF417101A77}">
      <dgm:prSet/>
      <dgm:spPr/>
      <dgm:t>
        <a:bodyPr/>
        <a:lstStyle/>
        <a:p>
          <a:endParaRPr lang="en-US"/>
        </a:p>
      </dgm:t>
    </dgm:pt>
    <dgm:pt modelId="{7CF80E15-15F0-42AD-92FA-D3167FC0A948}" type="pres">
      <dgm:prSet presAssocID="{9DAFAF69-652D-4EA5-8591-068DAF203B22}" presName="linear" presStyleCnt="0">
        <dgm:presLayoutVars>
          <dgm:animLvl val="lvl"/>
          <dgm:resizeHandles val="exact"/>
        </dgm:presLayoutVars>
      </dgm:prSet>
      <dgm:spPr/>
      <dgm:t>
        <a:bodyPr/>
        <a:lstStyle/>
        <a:p>
          <a:endParaRPr lang="en-US"/>
        </a:p>
      </dgm:t>
    </dgm:pt>
    <dgm:pt modelId="{0117B0A6-5842-4A0B-85BE-05733976813A}" type="pres">
      <dgm:prSet presAssocID="{7B9D4834-822D-4792-9B55-17A24F66523A}" presName="parentText" presStyleLbl="node1" presStyleIdx="0" presStyleCnt="1" custLinFactNeighborX="-1786" custLinFactNeighborY="15659">
        <dgm:presLayoutVars>
          <dgm:chMax val="0"/>
          <dgm:bulletEnabled val="1"/>
        </dgm:presLayoutVars>
      </dgm:prSet>
      <dgm:spPr/>
      <dgm:t>
        <a:bodyPr/>
        <a:lstStyle/>
        <a:p>
          <a:endParaRPr lang="en-US"/>
        </a:p>
      </dgm:t>
    </dgm:pt>
  </dgm:ptLst>
  <dgm:cxnLst>
    <dgm:cxn modelId="{527D8330-FAB4-4790-8B7A-BDF417101A77}" srcId="{9DAFAF69-652D-4EA5-8591-068DAF203B22}" destId="{7B9D4834-822D-4792-9B55-17A24F66523A}" srcOrd="0" destOrd="0" parTransId="{0B8B611C-4724-4028-B91D-FC5961C8273F}" sibTransId="{582A91E9-11D0-4EC2-8CA6-A9EA01CB24AA}"/>
    <dgm:cxn modelId="{C977F218-7478-4D46-B2A5-CA9B4D0A4053}" type="presOf" srcId="{9DAFAF69-652D-4EA5-8591-068DAF203B22}" destId="{7CF80E15-15F0-42AD-92FA-D3167FC0A948}" srcOrd="0" destOrd="0" presId="urn:microsoft.com/office/officeart/2005/8/layout/vList2"/>
    <dgm:cxn modelId="{311624A7-A876-40D2-A776-A2B55EE5529C}" type="presOf" srcId="{7B9D4834-822D-4792-9B55-17A24F66523A}" destId="{0117B0A6-5842-4A0B-85BE-05733976813A}" srcOrd="0" destOrd="0" presId="urn:microsoft.com/office/officeart/2005/8/layout/vList2"/>
    <dgm:cxn modelId="{62766802-5219-4995-9CCA-C7E3885A97D6}" type="presParOf" srcId="{7CF80E15-15F0-42AD-92FA-D3167FC0A948}" destId="{0117B0A6-5842-4A0B-85BE-05733976813A}"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5B60DFF-5DA7-43E6-92CA-FADFD7A19C78}" type="doc">
      <dgm:prSet loTypeId="urn:microsoft.com/office/officeart/2005/8/layout/hProcess9" loCatId="process" qsTypeId="urn:microsoft.com/office/officeart/2005/8/quickstyle/simple1" qsCatId="simple" csTypeId="urn:microsoft.com/office/officeart/2005/8/colors/colorful5" csCatId="colorful"/>
      <dgm:spPr/>
      <dgm:t>
        <a:bodyPr/>
        <a:lstStyle/>
        <a:p>
          <a:endParaRPr lang="en-US"/>
        </a:p>
      </dgm:t>
    </dgm:pt>
    <dgm:pt modelId="{0115A864-8C38-4C7F-95CB-0575665A92DC}">
      <dgm:prSet/>
      <dgm:spPr/>
      <dgm:t>
        <a:bodyPr/>
        <a:lstStyle/>
        <a:p>
          <a:pPr rtl="0"/>
          <a:r>
            <a:rPr lang="en-US" dirty="0" smtClean="0"/>
            <a:t>Reciprocity Attack</a:t>
          </a:r>
          <a:endParaRPr lang="en-US" dirty="0"/>
        </a:p>
      </dgm:t>
    </dgm:pt>
    <dgm:pt modelId="{A20AF361-6217-466D-B72F-FF07BA1AFBC2}" type="parTrans" cxnId="{6A769080-D5C0-4B94-9DE3-422B04278DD5}">
      <dgm:prSet/>
      <dgm:spPr/>
      <dgm:t>
        <a:bodyPr/>
        <a:lstStyle/>
        <a:p>
          <a:endParaRPr lang="en-US"/>
        </a:p>
      </dgm:t>
    </dgm:pt>
    <dgm:pt modelId="{91DB1292-41E9-4287-9FD7-9A07A230D711}" type="sibTrans" cxnId="{6A769080-D5C0-4B94-9DE3-422B04278DD5}">
      <dgm:prSet/>
      <dgm:spPr/>
      <dgm:t>
        <a:bodyPr/>
        <a:lstStyle/>
        <a:p>
          <a:endParaRPr lang="en-US"/>
        </a:p>
      </dgm:t>
    </dgm:pt>
    <dgm:pt modelId="{42691011-2201-4CD6-B3A2-1A76BC37BFE1}" type="pres">
      <dgm:prSet presAssocID="{75B60DFF-5DA7-43E6-92CA-FADFD7A19C78}" presName="CompostProcess" presStyleCnt="0">
        <dgm:presLayoutVars>
          <dgm:dir/>
          <dgm:resizeHandles val="exact"/>
        </dgm:presLayoutVars>
      </dgm:prSet>
      <dgm:spPr/>
      <dgm:t>
        <a:bodyPr/>
        <a:lstStyle/>
        <a:p>
          <a:endParaRPr lang="en-US"/>
        </a:p>
      </dgm:t>
    </dgm:pt>
    <dgm:pt modelId="{A91BDCC6-9C05-4F8D-8D53-DD3A70DF4782}" type="pres">
      <dgm:prSet presAssocID="{75B60DFF-5DA7-43E6-92CA-FADFD7A19C78}" presName="arrow" presStyleLbl="bgShp" presStyleIdx="0" presStyleCnt="1"/>
      <dgm:spPr/>
    </dgm:pt>
    <dgm:pt modelId="{211FB9F1-7232-4D72-85B9-A0EEF2FD24FF}" type="pres">
      <dgm:prSet presAssocID="{75B60DFF-5DA7-43E6-92CA-FADFD7A19C78}" presName="linearProcess" presStyleCnt="0"/>
      <dgm:spPr/>
    </dgm:pt>
    <dgm:pt modelId="{81F17A25-72EF-40EB-B193-B9B60FE00188}" type="pres">
      <dgm:prSet presAssocID="{0115A864-8C38-4C7F-95CB-0575665A92DC}" presName="textNode" presStyleLbl="node1" presStyleIdx="0" presStyleCnt="1">
        <dgm:presLayoutVars>
          <dgm:bulletEnabled val="1"/>
        </dgm:presLayoutVars>
      </dgm:prSet>
      <dgm:spPr/>
      <dgm:t>
        <a:bodyPr/>
        <a:lstStyle/>
        <a:p>
          <a:endParaRPr lang="en-US"/>
        </a:p>
      </dgm:t>
    </dgm:pt>
  </dgm:ptLst>
  <dgm:cxnLst>
    <dgm:cxn modelId="{E5413764-6B61-429F-8256-6CD9F18D2255}" type="presOf" srcId="{0115A864-8C38-4C7F-95CB-0575665A92DC}" destId="{81F17A25-72EF-40EB-B193-B9B60FE00188}" srcOrd="0" destOrd="0" presId="urn:microsoft.com/office/officeart/2005/8/layout/hProcess9"/>
    <dgm:cxn modelId="{6A769080-D5C0-4B94-9DE3-422B04278DD5}" srcId="{75B60DFF-5DA7-43E6-92CA-FADFD7A19C78}" destId="{0115A864-8C38-4C7F-95CB-0575665A92DC}" srcOrd="0" destOrd="0" parTransId="{A20AF361-6217-466D-B72F-FF07BA1AFBC2}" sibTransId="{91DB1292-41E9-4287-9FD7-9A07A230D711}"/>
    <dgm:cxn modelId="{F52F2163-DE9D-49F8-994C-E2AA52403BAD}" type="presOf" srcId="{75B60DFF-5DA7-43E6-92CA-FADFD7A19C78}" destId="{42691011-2201-4CD6-B3A2-1A76BC37BFE1}" srcOrd="0" destOrd="0" presId="urn:microsoft.com/office/officeart/2005/8/layout/hProcess9"/>
    <dgm:cxn modelId="{CD02263C-2C75-41A8-A178-BFA0C256173E}" type="presParOf" srcId="{42691011-2201-4CD6-B3A2-1A76BC37BFE1}" destId="{A91BDCC6-9C05-4F8D-8D53-DD3A70DF4782}" srcOrd="0" destOrd="0" presId="urn:microsoft.com/office/officeart/2005/8/layout/hProcess9"/>
    <dgm:cxn modelId="{5623213E-565D-45DA-AC2A-2BFEE240B9B8}" type="presParOf" srcId="{42691011-2201-4CD6-B3A2-1A76BC37BFE1}" destId="{211FB9F1-7232-4D72-85B9-A0EEF2FD24FF}" srcOrd="1" destOrd="0" presId="urn:microsoft.com/office/officeart/2005/8/layout/hProcess9"/>
    <dgm:cxn modelId="{5C410C8E-D6CD-448F-8093-80D935FB2608}" type="presParOf" srcId="{211FB9F1-7232-4D72-85B9-A0EEF2FD24FF}" destId="{81F17A25-72EF-40EB-B193-B9B60FE00188}" srcOrd="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956BEFF-B799-48FD-A9B9-82846C718EA2}" type="doc">
      <dgm:prSet loTypeId="urn:microsoft.com/office/officeart/2005/8/layout/process1" loCatId="process" qsTypeId="urn:microsoft.com/office/officeart/2005/8/quickstyle/simple1" qsCatId="simple" csTypeId="urn:microsoft.com/office/officeart/2005/8/colors/colorful4" csCatId="colorful"/>
      <dgm:spPr/>
      <dgm:t>
        <a:bodyPr/>
        <a:lstStyle/>
        <a:p>
          <a:endParaRPr lang="en-US"/>
        </a:p>
      </dgm:t>
    </dgm:pt>
    <dgm:pt modelId="{1A6205A1-6AF3-45EC-9A9B-36260655F605}">
      <dgm:prSet/>
      <dgm:spPr/>
      <dgm:t>
        <a:bodyPr/>
        <a:lstStyle/>
        <a:p>
          <a:pPr rtl="0"/>
          <a:r>
            <a:rPr lang="en-US" dirty="0" smtClean="0"/>
            <a:t>Birthday Exchange Example</a:t>
          </a:r>
          <a:endParaRPr lang="en-US" dirty="0"/>
        </a:p>
      </dgm:t>
    </dgm:pt>
    <dgm:pt modelId="{BC014D18-FF9D-416F-A8B5-760B5D3F46DA}" type="parTrans" cxnId="{83D42104-DB1D-4B4A-B032-EE549AF0E799}">
      <dgm:prSet/>
      <dgm:spPr/>
      <dgm:t>
        <a:bodyPr/>
        <a:lstStyle/>
        <a:p>
          <a:endParaRPr lang="en-US"/>
        </a:p>
      </dgm:t>
    </dgm:pt>
    <dgm:pt modelId="{000FD223-D9D3-4CD5-834E-D7FCBAAFA140}" type="sibTrans" cxnId="{83D42104-DB1D-4B4A-B032-EE549AF0E799}">
      <dgm:prSet/>
      <dgm:spPr/>
      <dgm:t>
        <a:bodyPr/>
        <a:lstStyle/>
        <a:p>
          <a:endParaRPr lang="en-US"/>
        </a:p>
      </dgm:t>
    </dgm:pt>
    <dgm:pt modelId="{FE97F50A-E470-4656-A136-402FA3524522}" type="pres">
      <dgm:prSet presAssocID="{B956BEFF-B799-48FD-A9B9-82846C718EA2}" presName="Name0" presStyleCnt="0">
        <dgm:presLayoutVars>
          <dgm:dir/>
          <dgm:resizeHandles val="exact"/>
        </dgm:presLayoutVars>
      </dgm:prSet>
      <dgm:spPr/>
      <dgm:t>
        <a:bodyPr/>
        <a:lstStyle/>
        <a:p>
          <a:endParaRPr lang="en-US"/>
        </a:p>
      </dgm:t>
    </dgm:pt>
    <dgm:pt modelId="{21CD0B52-B1E9-4B77-A4DB-232038DC04F9}" type="pres">
      <dgm:prSet presAssocID="{1A6205A1-6AF3-45EC-9A9B-36260655F605}" presName="node" presStyleLbl="node1" presStyleIdx="0" presStyleCnt="1">
        <dgm:presLayoutVars>
          <dgm:bulletEnabled val="1"/>
        </dgm:presLayoutVars>
      </dgm:prSet>
      <dgm:spPr/>
      <dgm:t>
        <a:bodyPr/>
        <a:lstStyle/>
        <a:p>
          <a:endParaRPr lang="en-US"/>
        </a:p>
      </dgm:t>
    </dgm:pt>
  </dgm:ptLst>
  <dgm:cxnLst>
    <dgm:cxn modelId="{83D42104-DB1D-4B4A-B032-EE549AF0E799}" srcId="{B956BEFF-B799-48FD-A9B9-82846C718EA2}" destId="{1A6205A1-6AF3-45EC-9A9B-36260655F605}" srcOrd="0" destOrd="0" parTransId="{BC014D18-FF9D-416F-A8B5-760B5D3F46DA}" sibTransId="{000FD223-D9D3-4CD5-834E-D7FCBAAFA140}"/>
    <dgm:cxn modelId="{3EC63BE4-91B8-42CA-AEC8-B7219689A75C}" type="presOf" srcId="{B956BEFF-B799-48FD-A9B9-82846C718EA2}" destId="{FE97F50A-E470-4656-A136-402FA3524522}" srcOrd="0" destOrd="0" presId="urn:microsoft.com/office/officeart/2005/8/layout/process1"/>
    <dgm:cxn modelId="{2E123DFE-0D3D-4F39-9326-F7D554E94F66}" type="presOf" srcId="{1A6205A1-6AF3-45EC-9A9B-36260655F605}" destId="{21CD0B52-B1E9-4B77-A4DB-232038DC04F9}" srcOrd="0" destOrd="0" presId="urn:microsoft.com/office/officeart/2005/8/layout/process1"/>
    <dgm:cxn modelId="{8F420E53-9879-422D-A932-F65041C71DE4}" type="presParOf" srcId="{FE97F50A-E470-4656-A136-402FA3524522}" destId="{21CD0B52-B1E9-4B77-A4DB-232038DC04F9}" srcOrd="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44DAEEE-2260-4A47-A94B-25D4B8F37520}" type="doc">
      <dgm:prSet loTypeId="urn:microsoft.com/office/officeart/2005/8/layout/process1" loCatId="process" qsTypeId="urn:microsoft.com/office/officeart/2005/8/quickstyle/simple1" qsCatId="simple" csTypeId="urn:microsoft.com/office/officeart/2005/8/colors/accent1_2" csCatId="accent1"/>
      <dgm:spPr/>
      <dgm:t>
        <a:bodyPr/>
        <a:lstStyle/>
        <a:p>
          <a:endParaRPr lang="en-US"/>
        </a:p>
      </dgm:t>
    </dgm:pt>
    <dgm:pt modelId="{659EEA8B-A5F5-47D1-9BB8-260B70ABD1BA}">
      <dgm:prSet/>
      <dgm:spPr/>
      <dgm:t>
        <a:bodyPr/>
        <a:lstStyle/>
        <a:p>
          <a:pPr rtl="0"/>
          <a:r>
            <a:rPr lang="en-US" dirty="0" smtClean="0"/>
            <a:t>Phone Number Exchange Example</a:t>
          </a:r>
          <a:endParaRPr lang="en-US" dirty="0"/>
        </a:p>
      </dgm:t>
    </dgm:pt>
    <dgm:pt modelId="{BD77F62D-96C8-4F71-A937-357C493B4846}" type="parTrans" cxnId="{743517E2-CC11-458A-A4D6-96117CCA009F}">
      <dgm:prSet/>
      <dgm:spPr/>
      <dgm:t>
        <a:bodyPr/>
        <a:lstStyle/>
        <a:p>
          <a:endParaRPr lang="en-US"/>
        </a:p>
      </dgm:t>
    </dgm:pt>
    <dgm:pt modelId="{B6D9FBDB-31E2-4051-A3B0-863FC90F0476}" type="sibTrans" cxnId="{743517E2-CC11-458A-A4D6-96117CCA009F}">
      <dgm:prSet/>
      <dgm:spPr/>
      <dgm:t>
        <a:bodyPr/>
        <a:lstStyle/>
        <a:p>
          <a:endParaRPr lang="en-US"/>
        </a:p>
      </dgm:t>
    </dgm:pt>
    <dgm:pt modelId="{C627C3DA-E205-4F2C-8A27-279C68FEDD8B}" type="pres">
      <dgm:prSet presAssocID="{D44DAEEE-2260-4A47-A94B-25D4B8F37520}" presName="Name0" presStyleCnt="0">
        <dgm:presLayoutVars>
          <dgm:dir/>
          <dgm:resizeHandles val="exact"/>
        </dgm:presLayoutVars>
      </dgm:prSet>
      <dgm:spPr/>
      <dgm:t>
        <a:bodyPr/>
        <a:lstStyle/>
        <a:p>
          <a:endParaRPr lang="en-US"/>
        </a:p>
      </dgm:t>
    </dgm:pt>
    <dgm:pt modelId="{768FEF3A-9427-45A3-A332-1EC10BD53048}" type="pres">
      <dgm:prSet presAssocID="{659EEA8B-A5F5-47D1-9BB8-260B70ABD1BA}" presName="node" presStyleLbl="node1" presStyleIdx="0" presStyleCnt="1">
        <dgm:presLayoutVars>
          <dgm:bulletEnabled val="1"/>
        </dgm:presLayoutVars>
      </dgm:prSet>
      <dgm:spPr/>
      <dgm:t>
        <a:bodyPr/>
        <a:lstStyle/>
        <a:p>
          <a:endParaRPr lang="en-US"/>
        </a:p>
      </dgm:t>
    </dgm:pt>
  </dgm:ptLst>
  <dgm:cxnLst>
    <dgm:cxn modelId="{743517E2-CC11-458A-A4D6-96117CCA009F}" srcId="{D44DAEEE-2260-4A47-A94B-25D4B8F37520}" destId="{659EEA8B-A5F5-47D1-9BB8-260B70ABD1BA}" srcOrd="0" destOrd="0" parTransId="{BD77F62D-96C8-4F71-A937-357C493B4846}" sibTransId="{B6D9FBDB-31E2-4051-A3B0-863FC90F0476}"/>
    <dgm:cxn modelId="{44AECEB1-B6B5-4751-886B-16975B32D760}" type="presOf" srcId="{D44DAEEE-2260-4A47-A94B-25D4B8F37520}" destId="{C627C3DA-E205-4F2C-8A27-279C68FEDD8B}" srcOrd="0" destOrd="0" presId="urn:microsoft.com/office/officeart/2005/8/layout/process1"/>
    <dgm:cxn modelId="{3F1556C8-BD2B-4050-9C32-8440BE32EC41}" type="presOf" srcId="{659EEA8B-A5F5-47D1-9BB8-260B70ABD1BA}" destId="{768FEF3A-9427-45A3-A332-1EC10BD53048}" srcOrd="0" destOrd="0" presId="urn:microsoft.com/office/officeart/2005/8/layout/process1"/>
    <dgm:cxn modelId="{AEF04CF0-D636-48D9-ADD9-29774336D965}" type="presParOf" srcId="{C627C3DA-E205-4F2C-8A27-279C68FEDD8B}" destId="{768FEF3A-9427-45A3-A332-1EC10BD53048}" srcOrd="0"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8A4660B-6657-43A1-A780-2E9D145946D6}" type="doc">
      <dgm:prSet loTypeId="urn:microsoft.com/office/officeart/2005/8/layout/cycle2" loCatId="cycle" qsTypeId="urn:microsoft.com/office/officeart/2005/8/quickstyle/3d1" qsCatId="3D" csTypeId="urn:microsoft.com/office/officeart/2005/8/colors/colorful5" csCatId="colorful"/>
      <dgm:spPr/>
      <dgm:t>
        <a:bodyPr/>
        <a:lstStyle/>
        <a:p>
          <a:endParaRPr lang="en-US"/>
        </a:p>
      </dgm:t>
    </dgm:pt>
    <dgm:pt modelId="{7D5A9601-DC60-4703-BDF8-5F0FED03F0AF}" type="pres">
      <dgm:prSet presAssocID="{18A4660B-6657-43A1-A780-2E9D145946D6}" presName="cycle" presStyleCnt="0">
        <dgm:presLayoutVars>
          <dgm:dir/>
          <dgm:resizeHandles val="exact"/>
        </dgm:presLayoutVars>
      </dgm:prSet>
      <dgm:spPr/>
      <dgm:t>
        <a:bodyPr/>
        <a:lstStyle/>
        <a:p>
          <a:endParaRPr lang="en-US"/>
        </a:p>
      </dgm:t>
    </dgm:pt>
  </dgm:ptLst>
  <dgm:cxnLst>
    <dgm:cxn modelId="{43A89D83-66CD-4996-A26D-8B8BF169F2F6}" type="presOf" srcId="{18A4660B-6657-43A1-A780-2E9D145946D6}" destId="{7D5A9601-DC60-4703-BDF8-5F0FED03F0AF}" srcOrd="0" destOrd="0" presId="urn:microsoft.com/office/officeart/2005/8/layout/cycle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1235A9C-8362-4A52-B8CC-BA08D524F90E}" type="doc">
      <dgm:prSet loTypeId="urn:microsoft.com/office/officeart/2005/8/layout/hProcess9" loCatId="process" qsTypeId="urn:microsoft.com/office/officeart/2005/8/quickstyle/simple1" qsCatId="simple" csTypeId="urn:microsoft.com/office/officeart/2005/8/colors/colorful5" csCatId="colorful"/>
      <dgm:spPr/>
      <dgm:t>
        <a:bodyPr/>
        <a:lstStyle/>
        <a:p>
          <a:endParaRPr lang="en-US"/>
        </a:p>
      </dgm:t>
    </dgm:pt>
    <dgm:pt modelId="{D964A5FD-6B69-4827-AA6B-1CB1114A6831}">
      <dgm:prSet/>
      <dgm:spPr/>
      <dgm:t>
        <a:bodyPr/>
        <a:lstStyle/>
        <a:p>
          <a:pPr rtl="0"/>
          <a:r>
            <a:rPr lang="en-US" dirty="0" smtClean="0"/>
            <a:t>The Script Used in the Experiment</a:t>
          </a:r>
          <a:endParaRPr lang="en-US" dirty="0"/>
        </a:p>
      </dgm:t>
    </dgm:pt>
    <dgm:pt modelId="{FDE29E87-CE1F-48A8-96A8-E0C88E21B58E}" type="parTrans" cxnId="{6EB8DDD5-15C2-4940-9387-7CE0D41F4B3E}">
      <dgm:prSet/>
      <dgm:spPr/>
      <dgm:t>
        <a:bodyPr/>
        <a:lstStyle/>
        <a:p>
          <a:endParaRPr lang="en-US"/>
        </a:p>
      </dgm:t>
    </dgm:pt>
    <dgm:pt modelId="{CE9FC917-8DC8-48E9-907C-B9DD2B687EEF}" type="sibTrans" cxnId="{6EB8DDD5-15C2-4940-9387-7CE0D41F4B3E}">
      <dgm:prSet/>
      <dgm:spPr/>
      <dgm:t>
        <a:bodyPr/>
        <a:lstStyle/>
        <a:p>
          <a:endParaRPr lang="en-US"/>
        </a:p>
      </dgm:t>
    </dgm:pt>
    <dgm:pt modelId="{D093A34F-E6BB-4988-8508-E0F7347B761C}" type="pres">
      <dgm:prSet presAssocID="{61235A9C-8362-4A52-B8CC-BA08D524F90E}" presName="CompostProcess" presStyleCnt="0">
        <dgm:presLayoutVars>
          <dgm:dir/>
          <dgm:resizeHandles val="exact"/>
        </dgm:presLayoutVars>
      </dgm:prSet>
      <dgm:spPr/>
      <dgm:t>
        <a:bodyPr/>
        <a:lstStyle/>
        <a:p>
          <a:endParaRPr lang="en-US"/>
        </a:p>
      </dgm:t>
    </dgm:pt>
    <dgm:pt modelId="{DAF3E6E9-098F-4973-B229-3D463DAF4291}" type="pres">
      <dgm:prSet presAssocID="{61235A9C-8362-4A52-B8CC-BA08D524F90E}" presName="arrow" presStyleLbl="bgShp" presStyleIdx="0" presStyleCnt="1"/>
      <dgm:spPr/>
    </dgm:pt>
    <dgm:pt modelId="{0E458B4C-E1AB-4928-B733-80402773B503}" type="pres">
      <dgm:prSet presAssocID="{61235A9C-8362-4A52-B8CC-BA08D524F90E}" presName="linearProcess" presStyleCnt="0"/>
      <dgm:spPr/>
    </dgm:pt>
    <dgm:pt modelId="{32A42D60-1F33-49DD-A5A5-C2797A32BE52}" type="pres">
      <dgm:prSet presAssocID="{D964A5FD-6B69-4827-AA6B-1CB1114A6831}" presName="textNode" presStyleLbl="node1" presStyleIdx="0" presStyleCnt="1">
        <dgm:presLayoutVars>
          <dgm:bulletEnabled val="1"/>
        </dgm:presLayoutVars>
      </dgm:prSet>
      <dgm:spPr/>
      <dgm:t>
        <a:bodyPr/>
        <a:lstStyle/>
        <a:p>
          <a:endParaRPr lang="en-US"/>
        </a:p>
      </dgm:t>
    </dgm:pt>
  </dgm:ptLst>
  <dgm:cxnLst>
    <dgm:cxn modelId="{6EB8DDD5-15C2-4940-9387-7CE0D41F4B3E}" srcId="{61235A9C-8362-4A52-B8CC-BA08D524F90E}" destId="{D964A5FD-6B69-4827-AA6B-1CB1114A6831}" srcOrd="0" destOrd="0" parTransId="{FDE29E87-CE1F-48A8-96A8-E0C88E21B58E}" sibTransId="{CE9FC917-8DC8-48E9-907C-B9DD2B687EEF}"/>
    <dgm:cxn modelId="{8BECE220-3F9F-40DB-B26F-6D465ADC2521}" type="presOf" srcId="{D964A5FD-6B69-4827-AA6B-1CB1114A6831}" destId="{32A42D60-1F33-49DD-A5A5-C2797A32BE52}" srcOrd="0" destOrd="0" presId="urn:microsoft.com/office/officeart/2005/8/layout/hProcess9"/>
    <dgm:cxn modelId="{E88CDA58-EE4D-4BE7-ACC1-CC491E2FA6C5}" type="presOf" srcId="{61235A9C-8362-4A52-B8CC-BA08D524F90E}" destId="{D093A34F-E6BB-4988-8508-E0F7347B761C}" srcOrd="0" destOrd="0" presId="urn:microsoft.com/office/officeart/2005/8/layout/hProcess9"/>
    <dgm:cxn modelId="{2173D5A1-2507-4333-A2D9-1B9D50C84851}" type="presParOf" srcId="{D093A34F-E6BB-4988-8508-E0F7347B761C}" destId="{DAF3E6E9-098F-4973-B229-3D463DAF4291}" srcOrd="0" destOrd="0" presId="urn:microsoft.com/office/officeart/2005/8/layout/hProcess9"/>
    <dgm:cxn modelId="{324AEE5C-F3A9-4106-8078-A12F246BB2A6}" type="presParOf" srcId="{D093A34F-E6BB-4988-8508-E0F7347B761C}" destId="{0E458B4C-E1AB-4928-B733-80402773B503}" srcOrd="1" destOrd="0" presId="urn:microsoft.com/office/officeart/2005/8/layout/hProcess9"/>
    <dgm:cxn modelId="{1DE8E9F5-5CEA-4625-8D40-944079B747D1}" type="presParOf" srcId="{0E458B4C-E1AB-4928-B733-80402773B503}" destId="{32A42D60-1F33-49DD-A5A5-C2797A32BE52}" srcOrd="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A0949FD-60A9-4CF8-83D9-E0B9E302593B}" type="doc">
      <dgm:prSet loTypeId="urn:microsoft.com/office/officeart/2005/8/layout/hProcess9" loCatId="process" qsTypeId="urn:microsoft.com/office/officeart/2005/8/quickstyle/simple1" qsCatId="simple" csTypeId="urn:microsoft.com/office/officeart/2005/8/colors/colorful5" csCatId="colorful" phldr="1"/>
      <dgm:spPr/>
      <dgm:t>
        <a:bodyPr/>
        <a:lstStyle/>
        <a:p>
          <a:endParaRPr lang="en-US"/>
        </a:p>
      </dgm:t>
    </dgm:pt>
    <dgm:pt modelId="{4840BDC2-92EA-4F02-A0C4-96373568E18C}">
      <dgm:prSet custT="1"/>
      <dgm:spPr/>
      <dgm:t>
        <a:bodyPr anchor="t"/>
        <a:lstStyle/>
        <a:p>
          <a:pPr rtl="0"/>
          <a:r>
            <a:rPr lang="en-US" sz="2000" b="0" dirty="0" smtClean="0"/>
            <a:t>Other Findings and Lessons Learned</a:t>
          </a:r>
          <a:br>
            <a:rPr lang="en-US" sz="2000" b="0" dirty="0" smtClean="0"/>
          </a:br>
          <a:endParaRPr lang="en-US" sz="2000" b="0" dirty="0"/>
        </a:p>
      </dgm:t>
    </dgm:pt>
    <dgm:pt modelId="{D8690010-0F48-41D7-85D1-7B0781DF384B}" type="parTrans" cxnId="{7C197259-6D53-47C9-AD71-486C456643C0}">
      <dgm:prSet/>
      <dgm:spPr/>
      <dgm:t>
        <a:bodyPr/>
        <a:lstStyle/>
        <a:p>
          <a:endParaRPr lang="en-US"/>
        </a:p>
      </dgm:t>
    </dgm:pt>
    <dgm:pt modelId="{F090DAE9-557F-4722-807E-9E9BE4D70E58}" type="sibTrans" cxnId="{7C197259-6D53-47C9-AD71-486C456643C0}">
      <dgm:prSet/>
      <dgm:spPr/>
      <dgm:t>
        <a:bodyPr/>
        <a:lstStyle/>
        <a:p>
          <a:endParaRPr lang="en-US"/>
        </a:p>
      </dgm:t>
    </dgm:pt>
    <dgm:pt modelId="{A66E6DF3-962D-4E01-A1F6-BAD8DD93C158}" type="pres">
      <dgm:prSet presAssocID="{7A0949FD-60A9-4CF8-83D9-E0B9E302593B}" presName="CompostProcess" presStyleCnt="0">
        <dgm:presLayoutVars>
          <dgm:dir/>
          <dgm:resizeHandles val="exact"/>
        </dgm:presLayoutVars>
      </dgm:prSet>
      <dgm:spPr/>
      <dgm:t>
        <a:bodyPr/>
        <a:lstStyle/>
        <a:p>
          <a:endParaRPr lang="en-US"/>
        </a:p>
      </dgm:t>
    </dgm:pt>
    <dgm:pt modelId="{4A05C2D9-FD9F-4A7A-8916-1EFE41B2A93E}" type="pres">
      <dgm:prSet presAssocID="{7A0949FD-60A9-4CF8-83D9-E0B9E302593B}" presName="arrow" presStyleLbl="bgShp" presStyleIdx="0" presStyleCnt="1"/>
      <dgm:spPr/>
    </dgm:pt>
    <dgm:pt modelId="{2C8D7129-8068-4F73-A252-C61398FDF248}" type="pres">
      <dgm:prSet presAssocID="{7A0949FD-60A9-4CF8-83D9-E0B9E302593B}" presName="linearProcess" presStyleCnt="0"/>
      <dgm:spPr/>
    </dgm:pt>
    <dgm:pt modelId="{8EB50C79-2EAE-49BD-8421-FFEBFFB7540B}" type="pres">
      <dgm:prSet presAssocID="{4840BDC2-92EA-4F02-A0C4-96373568E18C}" presName="textNode" presStyleLbl="node1" presStyleIdx="0" presStyleCnt="1" custScaleY="116666">
        <dgm:presLayoutVars>
          <dgm:bulletEnabled val="1"/>
        </dgm:presLayoutVars>
      </dgm:prSet>
      <dgm:spPr/>
      <dgm:t>
        <a:bodyPr/>
        <a:lstStyle/>
        <a:p>
          <a:endParaRPr lang="en-US"/>
        </a:p>
      </dgm:t>
    </dgm:pt>
  </dgm:ptLst>
  <dgm:cxnLst>
    <dgm:cxn modelId="{FBF79C8B-AE76-42B0-B890-C000D412C170}" type="presOf" srcId="{4840BDC2-92EA-4F02-A0C4-96373568E18C}" destId="{8EB50C79-2EAE-49BD-8421-FFEBFFB7540B}" srcOrd="0" destOrd="0" presId="urn:microsoft.com/office/officeart/2005/8/layout/hProcess9"/>
    <dgm:cxn modelId="{7C197259-6D53-47C9-AD71-486C456643C0}" srcId="{7A0949FD-60A9-4CF8-83D9-E0B9E302593B}" destId="{4840BDC2-92EA-4F02-A0C4-96373568E18C}" srcOrd="0" destOrd="0" parTransId="{D8690010-0F48-41D7-85D1-7B0781DF384B}" sibTransId="{F090DAE9-557F-4722-807E-9E9BE4D70E58}"/>
    <dgm:cxn modelId="{F785DBAB-07E2-41FC-B662-CB6A78353BC9}" type="presOf" srcId="{7A0949FD-60A9-4CF8-83D9-E0B9E302593B}" destId="{A66E6DF3-962D-4E01-A1F6-BAD8DD93C158}" srcOrd="0" destOrd="0" presId="urn:microsoft.com/office/officeart/2005/8/layout/hProcess9"/>
    <dgm:cxn modelId="{7DE6BCD2-423A-4641-835E-F43135AED203}" type="presParOf" srcId="{A66E6DF3-962D-4E01-A1F6-BAD8DD93C158}" destId="{4A05C2D9-FD9F-4A7A-8916-1EFE41B2A93E}" srcOrd="0" destOrd="0" presId="urn:microsoft.com/office/officeart/2005/8/layout/hProcess9"/>
    <dgm:cxn modelId="{A4D3728F-7EAE-4781-B954-F91294024424}" type="presParOf" srcId="{A66E6DF3-962D-4E01-A1F6-BAD8DD93C158}" destId="{2C8D7129-8068-4F73-A252-C61398FDF248}" srcOrd="1" destOrd="0" presId="urn:microsoft.com/office/officeart/2005/8/layout/hProcess9"/>
    <dgm:cxn modelId="{DB020E25-6D4C-49A6-8650-D50CC5D145F7}" type="presParOf" srcId="{2C8D7129-8068-4F73-A252-C61398FDF248}" destId="{8EB50C79-2EAE-49BD-8421-FFEBFFB7540B}" srcOrd="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17B0A6-5842-4A0B-85BE-05733976813A}">
      <dsp:nvSpPr>
        <dsp:cNvPr id="0" name=""/>
        <dsp:cNvSpPr/>
      </dsp:nvSpPr>
      <dsp:spPr>
        <a:xfrm>
          <a:off x="0" y="220406"/>
          <a:ext cx="4267200" cy="45571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l" defTabSz="844550" rtl="0">
            <a:lnSpc>
              <a:spcPct val="90000"/>
            </a:lnSpc>
            <a:spcBef>
              <a:spcPct val="0"/>
            </a:spcBef>
            <a:spcAft>
              <a:spcPct val="35000"/>
            </a:spcAft>
          </a:pPr>
          <a:r>
            <a:rPr lang="en-US" sz="1900" b="1" kern="1200" dirty="0" smtClean="0"/>
            <a:t>Pervasive Computing Environment</a:t>
          </a:r>
          <a:endParaRPr lang="en-US" sz="1900" kern="1200" dirty="0"/>
        </a:p>
      </dsp:txBody>
      <dsp:txXfrm>
        <a:off x="22246" y="242652"/>
        <a:ext cx="4222708" cy="4112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1BDCC6-9C05-4F8D-8D53-DD3A70DF4782}">
      <dsp:nvSpPr>
        <dsp:cNvPr id="0" name=""/>
        <dsp:cNvSpPr/>
      </dsp:nvSpPr>
      <dsp:spPr>
        <a:xfrm>
          <a:off x="617219" y="0"/>
          <a:ext cx="6995160" cy="1143000"/>
        </a:xfrm>
        <a:prstGeom prst="rightArrow">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F17A25-72EF-40EB-B193-B9B60FE00188}">
      <dsp:nvSpPr>
        <dsp:cNvPr id="0" name=""/>
        <dsp:cNvSpPr/>
      </dsp:nvSpPr>
      <dsp:spPr>
        <a:xfrm>
          <a:off x="2880359" y="342899"/>
          <a:ext cx="2468880" cy="45720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en-US" sz="1900" kern="1200" dirty="0" smtClean="0"/>
            <a:t>Reciprocity Attack</a:t>
          </a:r>
          <a:endParaRPr lang="en-US" sz="1900" kern="1200" dirty="0"/>
        </a:p>
      </dsp:txBody>
      <dsp:txXfrm>
        <a:off x="2902678" y="365218"/>
        <a:ext cx="2424242" cy="4125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CD0B52-B1E9-4B77-A4DB-232038DC04F9}">
      <dsp:nvSpPr>
        <dsp:cNvPr id="0" name=""/>
        <dsp:cNvSpPr/>
      </dsp:nvSpPr>
      <dsp:spPr>
        <a:xfrm>
          <a:off x="1491" y="0"/>
          <a:ext cx="3051367" cy="366713"/>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en-US" sz="1600" kern="1200" dirty="0" smtClean="0"/>
            <a:t>Birthday Exchange Example</a:t>
          </a:r>
          <a:endParaRPr lang="en-US" sz="1600" kern="1200" dirty="0"/>
        </a:p>
      </dsp:txBody>
      <dsp:txXfrm>
        <a:off x="12232" y="10741"/>
        <a:ext cx="3029885" cy="34523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8FEF3A-9427-45A3-A332-1EC10BD53048}">
      <dsp:nvSpPr>
        <dsp:cNvPr id="0" name=""/>
        <dsp:cNvSpPr/>
      </dsp:nvSpPr>
      <dsp:spPr>
        <a:xfrm>
          <a:off x="1832" y="0"/>
          <a:ext cx="3749185" cy="36671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en-US" sz="1600" kern="1200" dirty="0" smtClean="0"/>
            <a:t>Phone Number Exchange Example</a:t>
          </a:r>
          <a:endParaRPr lang="en-US" sz="1600" kern="1200" dirty="0"/>
        </a:p>
      </dsp:txBody>
      <dsp:txXfrm>
        <a:off x="12573" y="10741"/>
        <a:ext cx="3727703" cy="34523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F3E6E9-098F-4973-B229-3D463DAF4291}">
      <dsp:nvSpPr>
        <dsp:cNvPr id="0" name=""/>
        <dsp:cNvSpPr/>
      </dsp:nvSpPr>
      <dsp:spPr>
        <a:xfrm>
          <a:off x="617219" y="0"/>
          <a:ext cx="6995160" cy="1143000"/>
        </a:xfrm>
        <a:prstGeom prst="rightArrow">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A42D60-1F33-49DD-A5A5-C2797A32BE52}">
      <dsp:nvSpPr>
        <dsp:cNvPr id="0" name=""/>
        <dsp:cNvSpPr/>
      </dsp:nvSpPr>
      <dsp:spPr>
        <a:xfrm>
          <a:off x="2160269" y="342899"/>
          <a:ext cx="3909060" cy="45720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en-US" sz="1900" kern="1200" dirty="0" smtClean="0"/>
            <a:t>The Script Used in the Experiment</a:t>
          </a:r>
          <a:endParaRPr lang="en-US" sz="1900" kern="1200" dirty="0"/>
        </a:p>
      </dsp:txBody>
      <dsp:txXfrm>
        <a:off x="2182588" y="365218"/>
        <a:ext cx="3864422" cy="41256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05C2D9-FD9F-4A7A-8916-1EFE41B2A93E}">
      <dsp:nvSpPr>
        <dsp:cNvPr id="0" name=""/>
        <dsp:cNvSpPr/>
      </dsp:nvSpPr>
      <dsp:spPr>
        <a:xfrm>
          <a:off x="502919" y="0"/>
          <a:ext cx="5699760" cy="1143000"/>
        </a:xfrm>
        <a:prstGeom prst="rightArrow">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B50C79-2EAE-49BD-8421-FFEBFFB7540B}">
      <dsp:nvSpPr>
        <dsp:cNvPr id="0" name=""/>
        <dsp:cNvSpPr/>
      </dsp:nvSpPr>
      <dsp:spPr>
        <a:xfrm>
          <a:off x="1173479" y="304801"/>
          <a:ext cx="4358640" cy="533396"/>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lvl="0" algn="ctr" defTabSz="889000" rtl="0">
            <a:lnSpc>
              <a:spcPct val="90000"/>
            </a:lnSpc>
            <a:spcBef>
              <a:spcPct val="0"/>
            </a:spcBef>
            <a:spcAft>
              <a:spcPct val="35000"/>
            </a:spcAft>
          </a:pPr>
          <a:r>
            <a:rPr lang="en-US" sz="2000" b="0" kern="1200" dirty="0" smtClean="0"/>
            <a:t>Other Findings and Lessons Learned</a:t>
          </a:r>
          <a:br>
            <a:rPr lang="en-US" sz="2000" b="0" kern="1200" dirty="0" smtClean="0"/>
          </a:br>
          <a:endParaRPr lang="en-US" sz="2000" b="0" kern="1200" dirty="0"/>
        </a:p>
      </dsp:txBody>
      <dsp:txXfrm>
        <a:off x="1199517" y="330839"/>
        <a:ext cx="4306564" cy="48132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7.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0.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51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Constantia" pitchFamily="18" charset="0"/>
              </a:defRPr>
            </a:lvl1pPr>
          </a:lstStyle>
          <a:p>
            <a:pPr>
              <a:defRPr/>
            </a:pPr>
            <a:endParaRPr lang="en-US"/>
          </a:p>
        </p:txBody>
      </p:sp>
      <p:sp>
        <p:nvSpPr>
          <p:cNvPr id="13517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Constantia" pitchFamily="18" charset="0"/>
              </a:defRPr>
            </a:lvl1pPr>
          </a:lstStyle>
          <a:p>
            <a:pPr>
              <a:defRPr/>
            </a:pPr>
            <a:fld id="{F90A19DA-CA55-4E91-8FD4-B8B492504DFB}" type="datetimeFigureOut">
              <a:rPr lang="en-US"/>
              <a:pPr>
                <a:defRPr/>
              </a:pPr>
              <a:t>7/21/2011</a:t>
            </a:fld>
            <a:endParaRPr lang="en-US"/>
          </a:p>
        </p:txBody>
      </p:sp>
      <p:sp>
        <p:nvSpPr>
          <p:cNvPr id="368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3517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Constantia" pitchFamily="18" charset="0"/>
              </a:defRPr>
            </a:lvl1pPr>
          </a:lstStyle>
          <a:p>
            <a:pPr>
              <a:defRPr/>
            </a:pPr>
            <a:endParaRPr lang="en-US"/>
          </a:p>
        </p:txBody>
      </p:sp>
      <p:sp>
        <p:nvSpPr>
          <p:cNvPr id="13517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Constantia" pitchFamily="18" charset="0"/>
              </a:defRPr>
            </a:lvl1pPr>
          </a:lstStyle>
          <a:p>
            <a:pPr>
              <a:defRPr/>
            </a:pPr>
            <a:fld id="{F90512E1-8E89-4536-AF44-2B98F7E58710}" type="slidenum">
              <a:rPr lang="en-US"/>
              <a:pPr>
                <a:defRPr/>
              </a:pPr>
              <a:t>‹#›</a:t>
            </a:fld>
            <a:endParaRPr lang="en-US"/>
          </a:p>
        </p:txBody>
      </p:sp>
    </p:spTree>
    <p:extLst>
      <p:ext uri="{BB962C8B-B14F-4D97-AF65-F5344CB8AC3E}">
        <p14:creationId xmlns:p14="http://schemas.microsoft.com/office/powerpoint/2010/main" val="38855461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Arial" charset="0"/>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Arial" charset="0"/>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ln/>
        </p:spPr>
      </p:sp>
      <p:sp>
        <p:nvSpPr>
          <p:cNvPr id="378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900" dirty="0"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smtClean="0"/>
              <a:t>Click to edit Master title style</a:t>
            </a:r>
            <a:endParaRPr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4" name="Date Placeholder 29"/>
          <p:cNvSpPr>
            <a:spLocks noGrp="1"/>
          </p:cNvSpPr>
          <p:nvPr>
            <p:ph type="dt" sz="half" idx="10"/>
          </p:nvPr>
        </p:nvSpPr>
        <p:spPr/>
        <p:txBody>
          <a:bodyPr/>
          <a:lstStyle>
            <a:lvl1pPr>
              <a:defRPr/>
            </a:lvl1pPr>
          </a:lstStyle>
          <a:p>
            <a:pPr>
              <a:defRPr/>
            </a:pPr>
            <a:fld id="{30706676-3569-4B96-8124-303A9E7BCADF}" type="datetimeFigureOut">
              <a:rPr lang="en-US"/>
              <a:pPr>
                <a:defRPr/>
              </a:pPr>
              <a:t>7/21/2011</a:t>
            </a:fld>
            <a:endParaRPr lang="en-US"/>
          </a:p>
        </p:txBody>
      </p:sp>
      <p:sp>
        <p:nvSpPr>
          <p:cNvPr id="5" name="Footer Placeholder 18"/>
          <p:cNvSpPr>
            <a:spLocks noGrp="1"/>
          </p:cNvSpPr>
          <p:nvPr>
            <p:ph type="ftr" sz="quarter" idx="11"/>
          </p:nvPr>
        </p:nvSpPr>
        <p:spPr/>
        <p:txBody>
          <a:bodyPr/>
          <a:lstStyle>
            <a:lvl1pPr>
              <a:defRPr/>
            </a:lvl1pPr>
          </a:lstStyle>
          <a:p>
            <a:pPr>
              <a:defRPr/>
            </a:pPr>
            <a:endParaRPr lang="en-US"/>
          </a:p>
        </p:txBody>
      </p:sp>
      <p:sp>
        <p:nvSpPr>
          <p:cNvPr id="6" name="Slide Number Placeholder 26"/>
          <p:cNvSpPr>
            <a:spLocks noGrp="1"/>
          </p:cNvSpPr>
          <p:nvPr>
            <p:ph type="sldNum" sz="quarter" idx="12"/>
          </p:nvPr>
        </p:nvSpPr>
        <p:spPr/>
        <p:txBody>
          <a:bodyPr/>
          <a:lstStyle>
            <a:lvl1pPr>
              <a:defRPr/>
            </a:lvl1pPr>
          </a:lstStyle>
          <a:p>
            <a:pPr>
              <a:defRPr/>
            </a:pPr>
            <a:fld id="{90CBDA11-97C5-45C8-A894-CFF43CC7D966}" type="slidenum">
              <a:rPr lang="en-US"/>
              <a:pPr>
                <a:defRPr/>
              </a:pPr>
              <a:t>‹#›</a:t>
            </a:fld>
            <a:endParaRPr lang="en-US"/>
          </a:p>
        </p:txBody>
      </p:sp>
    </p:spTree>
    <p:extLst>
      <p:ext uri="{BB962C8B-B14F-4D97-AF65-F5344CB8AC3E}">
        <p14:creationId xmlns:p14="http://schemas.microsoft.com/office/powerpoint/2010/main" val="423243913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5A1223AD-3073-4E82-B50D-81B7CF204AA0}" type="datetimeFigureOut">
              <a:rPr lang="en-US"/>
              <a:pPr>
                <a:defRPr/>
              </a:pPr>
              <a:t>7/21/2011</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7FD21C61-CC29-4723-AAB7-F98F14298A68}" type="slidenum">
              <a:rPr lang="en-US"/>
              <a:pPr>
                <a:defRPr/>
              </a:pPr>
              <a:t>‹#›</a:t>
            </a:fld>
            <a:endParaRPr lang="en-US"/>
          </a:p>
        </p:txBody>
      </p:sp>
    </p:spTree>
    <p:extLst>
      <p:ext uri="{BB962C8B-B14F-4D97-AF65-F5344CB8AC3E}">
        <p14:creationId xmlns:p14="http://schemas.microsoft.com/office/powerpoint/2010/main" val="1118495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smtClean="0"/>
              <a:t>Click to edit Master title style</a:t>
            </a:r>
            <a:endParaRPr lang="en-US"/>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CDA55A68-737F-43B5-A268-1A20AB0E8E6F}" type="datetimeFigureOut">
              <a:rPr lang="en-US"/>
              <a:pPr>
                <a:defRPr/>
              </a:pPr>
              <a:t>7/21/2011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8976880-14DC-4373-96F6-C828F8731709}" type="slidenum">
              <a:rPr lang="en-US"/>
              <a:pPr>
                <a:defRPr/>
              </a:pPr>
              <a:t>‹#›</a:t>
            </a:fld>
            <a:endParaRPr lang="en-US"/>
          </a:p>
        </p:txBody>
      </p:sp>
    </p:spTree>
    <p:extLst>
      <p:ext uri="{BB962C8B-B14F-4D97-AF65-F5344CB8AC3E}">
        <p14:creationId xmlns:p14="http://schemas.microsoft.com/office/powerpoint/2010/main" val="108184417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9"/>
          <p:cNvSpPr>
            <a:spLocks noGrp="1"/>
          </p:cNvSpPr>
          <p:nvPr>
            <p:ph type="dt" sz="half" idx="10"/>
          </p:nvPr>
        </p:nvSpPr>
        <p:spPr/>
        <p:txBody>
          <a:bodyPr/>
          <a:lstStyle>
            <a:lvl1pPr>
              <a:defRPr/>
            </a:lvl1pPr>
          </a:lstStyle>
          <a:p>
            <a:pPr>
              <a:defRPr/>
            </a:pPr>
            <a:fld id="{27653E55-97B3-4B67-BEFA-B671FA1F8C3E}" type="datetimeFigureOut">
              <a:rPr lang="en-US"/>
              <a:pPr>
                <a:defRPr/>
              </a:pPr>
              <a:t>7/21/2011</a:t>
            </a:fld>
            <a:endParaRPr lang="en-US"/>
          </a:p>
        </p:txBody>
      </p:sp>
      <p:sp>
        <p:nvSpPr>
          <p:cNvPr id="6" name="Footer Placeholder 21"/>
          <p:cNvSpPr>
            <a:spLocks noGrp="1"/>
          </p:cNvSpPr>
          <p:nvPr>
            <p:ph type="ftr" sz="quarter" idx="11"/>
          </p:nvPr>
        </p:nvSpPr>
        <p:spPr/>
        <p:txBody>
          <a:bodyPr/>
          <a:lstStyle>
            <a:lvl1pPr>
              <a:defRPr/>
            </a:lvl1pPr>
          </a:lstStyle>
          <a:p>
            <a:pPr>
              <a:defRPr/>
            </a:pPr>
            <a:endParaRPr lang="en-US"/>
          </a:p>
        </p:txBody>
      </p:sp>
      <p:sp>
        <p:nvSpPr>
          <p:cNvPr id="7" name="Slide Number Placeholder 17"/>
          <p:cNvSpPr>
            <a:spLocks noGrp="1"/>
          </p:cNvSpPr>
          <p:nvPr>
            <p:ph type="sldNum" sz="quarter" idx="12"/>
          </p:nvPr>
        </p:nvSpPr>
        <p:spPr/>
        <p:txBody>
          <a:bodyPr/>
          <a:lstStyle>
            <a:lvl1pPr>
              <a:defRPr/>
            </a:lvl1pPr>
          </a:lstStyle>
          <a:p>
            <a:pPr>
              <a:defRPr/>
            </a:pPr>
            <a:fld id="{65710EEF-4FB5-4A35-8A0F-DA514EE5F6FE}" type="slidenum">
              <a:rPr lang="en-US"/>
              <a:pPr>
                <a:defRPr/>
              </a:pPr>
              <a:t>‹#›</a:t>
            </a:fld>
            <a:endParaRPr lang="en-US"/>
          </a:p>
        </p:txBody>
      </p:sp>
    </p:spTree>
    <p:extLst>
      <p:ext uri="{BB962C8B-B14F-4D97-AF65-F5344CB8AC3E}">
        <p14:creationId xmlns:p14="http://schemas.microsoft.com/office/powerpoint/2010/main" val="32148476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9"/>
          <p:cNvSpPr>
            <a:spLocks noGrp="1"/>
          </p:cNvSpPr>
          <p:nvPr>
            <p:ph type="dt" sz="half" idx="10"/>
          </p:nvPr>
        </p:nvSpPr>
        <p:spPr/>
        <p:txBody>
          <a:bodyPr/>
          <a:lstStyle>
            <a:lvl1pPr>
              <a:defRPr/>
            </a:lvl1pPr>
          </a:lstStyle>
          <a:p>
            <a:pPr>
              <a:defRPr/>
            </a:pPr>
            <a:fld id="{1C050A8E-CD85-4B18-A9DC-BF20BAE691DF}" type="datetimeFigureOut">
              <a:rPr lang="en-US"/>
              <a:pPr>
                <a:defRPr/>
              </a:pPr>
              <a:t>7/21/2011</a:t>
            </a:fld>
            <a:endParaRPr lang="en-US"/>
          </a:p>
        </p:txBody>
      </p:sp>
      <p:sp>
        <p:nvSpPr>
          <p:cNvPr id="8" name="Footer Placeholder 21"/>
          <p:cNvSpPr>
            <a:spLocks noGrp="1"/>
          </p:cNvSpPr>
          <p:nvPr>
            <p:ph type="ftr" sz="quarter" idx="11"/>
          </p:nvPr>
        </p:nvSpPr>
        <p:spPr/>
        <p:txBody>
          <a:bodyPr/>
          <a:lstStyle>
            <a:lvl1pPr>
              <a:defRPr/>
            </a:lvl1pPr>
          </a:lstStyle>
          <a:p>
            <a:pPr>
              <a:defRPr/>
            </a:pPr>
            <a:endParaRPr lang="en-US"/>
          </a:p>
        </p:txBody>
      </p:sp>
      <p:sp>
        <p:nvSpPr>
          <p:cNvPr id="9" name="Slide Number Placeholder 17"/>
          <p:cNvSpPr>
            <a:spLocks noGrp="1"/>
          </p:cNvSpPr>
          <p:nvPr>
            <p:ph type="sldNum" sz="quarter" idx="12"/>
          </p:nvPr>
        </p:nvSpPr>
        <p:spPr/>
        <p:txBody>
          <a:bodyPr/>
          <a:lstStyle>
            <a:lvl1pPr>
              <a:defRPr/>
            </a:lvl1pPr>
          </a:lstStyle>
          <a:p>
            <a:pPr>
              <a:defRPr/>
            </a:pPr>
            <a:fld id="{FDD3AC65-5C39-46B4-852F-DC3182DC1EAF}" type="slidenum">
              <a:rPr lang="en-US"/>
              <a:pPr>
                <a:defRPr/>
              </a:pPr>
              <a:t>‹#›</a:t>
            </a:fld>
            <a:endParaRPr lang="en-US"/>
          </a:p>
        </p:txBody>
      </p:sp>
    </p:spTree>
    <p:extLst>
      <p:ext uri="{BB962C8B-B14F-4D97-AF65-F5344CB8AC3E}">
        <p14:creationId xmlns:p14="http://schemas.microsoft.com/office/powerpoint/2010/main" val="17547781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smtClean="0"/>
              <a:t>Click to edit Master title style</a:t>
            </a:r>
            <a:endParaRPr lang="en-US"/>
          </a:p>
        </p:txBody>
      </p:sp>
      <p:sp>
        <p:nvSpPr>
          <p:cNvPr id="3" name="Date Placeholder 9"/>
          <p:cNvSpPr>
            <a:spLocks noGrp="1"/>
          </p:cNvSpPr>
          <p:nvPr>
            <p:ph type="dt" sz="half" idx="10"/>
          </p:nvPr>
        </p:nvSpPr>
        <p:spPr/>
        <p:txBody>
          <a:bodyPr/>
          <a:lstStyle>
            <a:lvl1pPr>
              <a:defRPr/>
            </a:lvl1pPr>
          </a:lstStyle>
          <a:p>
            <a:pPr>
              <a:defRPr/>
            </a:pPr>
            <a:fld id="{1758C770-D3B4-48CC-8897-E5F4A7BE7977}" type="datetimeFigureOut">
              <a:rPr lang="en-US"/>
              <a:pPr>
                <a:defRPr/>
              </a:pPr>
              <a:t>7/21/2011</a:t>
            </a:fld>
            <a:endParaRPr lang="en-US"/>
          </a:p>
        </p:txBody>
      </p:sp>
      <p:sp>
        <p:nvSpPr>
          <p:cNvPr id="4" name="Footer Placeholder 21"/>
          <p:cNvSpPr>
            <a:spLocks noGrp="1"/>
          </p:cNvSpPr>
          <p:nvPr>
            <p:ph type="ftr" sz="quarter" idx="11"/>
          </p:nvPr>
        </p:nvSpPr>
        <p:spPr/>
        <p:txBody>
          <a:bodyPr/>
          <a:lstStyle>
            <a:lvl1pPr>
              <a:defRPr/>
            </a:lvl1pPr>
          </a:lstStyle>
          <a:p>
            <a:pPr>
              <a:defRPr/>
            </a:pPr>
            <a:endParaRPr lang="en-US"/>
          </a:p>
        </p:txBody>
      </p:sp>
      <p:sp>
        <p:nvSpPr>
          <p:cNvPr id="5" name="Slide Number Placeholder 17"/>
          <p:cNvSpPr>
            <a:spLocks noGrp="1"/>
          </p:cNvSpPr>
          <p:nvPr>
            <p:ph type="sldNum" sz="quarter" idx="12"/>
          </p:nvPr>
        </p:nvSpPr>
        <p:spPr/>
        <p:txBody>
          <a:bodyPr/>
          <a:lstStyle>
            <a:lvl1pPr>
              <a:defRPr/>
            </a:lvl1pPr>
          </a:lstStyle>
          <a:p>
            <a:pPr>
              <a:defRPr/>
            </a:pPr>
            <a:fld id="{14EF0E04-EF4B-429E-BEAD-66043509AFC6}" type="slidenum">
              <a:rPr lang="en-US"/>
              <a:pPr>
                <a:defRPr/>
              </a:pPr>
              <a:t>‹#›</a:t>
            </a:fld>
            <a:endParaRPr lang="en-US"/>
          </a:p>
        </p:txBody>
      </p:sp>
    </p:spTree>
    <p:extLst>
      <p:ext uri="{BB962C8B-B14F-4D97-AF65-F5344CB8AC3E}">
        <p14:creationId xmlns:p14="http://schemas.microsoft.com/office/powerpoint/2010/main" val="836292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7A41DED4-65BA-47DA-ABB8-F658ACD29654}" type="datetimeFigureOut">
              <a:rPr lang="en-US"/>
              <a:pPr>
                <a:defRPr/>
              </a:pPr>
              <a:t>7/21/2011</a:t>
            </a:fld>
            <a:endParaRPr lang="en-US"/>
          </a:p>
        </p:txBody>
      </p:sp>
      <p:sp>
        <p:nvSpPr>
          <p:cNvPr id="3" name="Footer Placeholder 21"/>
          <p:cNvSpPr>
            <a:spLocks noGrp="1"/>
          </p:cNvSpPr>
          <p:nvPr>
            <p:ph type="ftr" sz="quarter" idx="11"/>
          </p:nvPr>
        </p:nvSpPr>
        <p:spPr/>
        <p:txBody>
          <a:bodyPr/>
          <a:lstStyle>
            <a:lvl1pPr>
              <a:defRPr/>
            </a:lvl1pPr>
          </a:lstStyle>
          <a:p>
            <a:pPr>
              <a:defRPr/>
            </a:pPr>
            <a:endParaRPr lang="en-US"/>
          </a:p>
        </p:txBody>
      </p:sp>
      <p:sp>
        <p:nvSpPr>
          <p:cNvPr id="4" name="Slide Number Placeholder 17"/>
          <p:cNvSpPr>
            <a:spLocks noGrp="1"/>
          </p:cNvSpPr>
          <p:nvPr>
            <p:ph type="sldNum" sz="quarter" idx="12"/>
          </p:nvPr>
        </p:nvSpPr>
        <p:spPr/>
        <p:txBody>
          <a:bodyPr/>
          <a:lstStyle>
            <a:lvl1pPr>
              <a:defRPr/>
            </a:lvl1pPr>
          </a:lstStyle>
          <a:p>
            <a:pPr>
              <a:defRPr/>
            </a:pPr>
            <a:fld id="{B0CBC3B5-DE39-41FF-9891-0A122CC66D2D}" type="slidenum">
              <a:rPr lang="en-US"/>
              <a:pPr>
                <a:defRPr/>
              </a:pPr>
              <a:t>‹#›</a:t>
            </a:fld>
            <a:endParaRPr lang="en-US"/>
          </a:p>
        </p:txBody>
      </p:sp>
    </p:spTree>
    <p:extLst>
      <p:ext uri="{BB962C8B-B14F-4D97-AF65-F5344CB8AC3E}">
        <p14:creationId xmlns:p14="http://schemas.microsoft.com/office/powerpoint/2010/main" val="1189144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smtClean="0"/>
              <a:t>Click to edit Master title style</a:t>
            </a:r>
            <a:endParaRPr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9"/>
          <p:cNvSpPr>
            <a:spLocks noGrp="1"/>
          </p:cNvSpPr>
          <p:nvPr>
            <p:ph type="dt" sz="half" idx="10"/>
          </p:nvPr>
        </p:nvSpPr>
        <p:spPr/>
        <p:txBody>
          <a:bodyPr/>
          <a:lstStyle>
            <a:lvl1pPr>
              <a:defRPr/>
            </a:lvl1pPr>
          </a:lstStyle>
          <a:p>
            <a:pPr>
              <a:defRPr/>
            </a:pPr>
            <a:fld id="{1DAB8D22-F0FE-4D2E-B3C7-BB27CE1CDEAB}" type="datetimeFigureOut">
              <a:rPr lang="en-US"/>
              <a:pPr>
                <a:defRPr/>
              </a:pPr>
              <a:t>7/21/2011</a:t>
            </a:fld>
            <a:endParaRPr lang="en-US"/>
          </a:p>
        </p:txBody>
      </p:sp>
      <p:sp>
        <p:nvSpPr>
          <p:cNvPr id="6" name="Footer Placeholder 21"/>
          <p:cNvSpPr>
            <a:spLocks noGrp="1"/>
          </p:cNvSpPr>
          <p:nvPr>
            <p:ph type="ftr" sz="quarter" idx="11"/>
          </p:nvPr>
        </p:nvSpPr>
        <p:spPr/>
        <p:txBody>
          <a:bodyPr/>
          <a:lstStyle>
            <a:lvl1pPr>
              <a:defRPr/>
            </a:lvl1pPr>
          </a:lstStyle>
          <a:p>
            <a:pPr>
              <a:defRPr/>
            </a:pPr>
            <a:endParaRPr lang="en-US"/>
          </a:p>
        </p:txBody>
      </p:sp>
      <p:sp>
        <p:nvSpPr>
          <p:cNvPr id="7" name="Slide Number Placeholder 17"/>
          <p:cNvSpPr>
            <a:spLocks noGrp="1"/>
          </p:cNvSpPr>
          <p:nvPr>
            <p:ph type="sldNum" sz="quarter" idx="12"/>
          </p:nvPr>
        </p:nvSpPr>
        <p:spPr/>
        <p:txBody>
          <a:bodyPr/>
          <a:lstStyle>
            <a:lvl1pPr>
              <a:defRPr/>
            </a:lvl1pPr>
          </a:lstStyle>
          <a:p>
            <a:pPr>
              <a:defRPr/>
            </a:pPr>
            <a:fld id="{F5C24AA9-9A42-45AB-960F-7166BDB608D5}" type="slidenum">
              <a:rPr lang="en-US"/>
              <a:pPr>
                <a:defRPr/>
              </a:pPr>
              <a:t>‹#›</a:t>
            </a:fld>
            <a:endParaRPr lang="en-US"/>
          </a:p>
        </p:txBody>
      </p:sp>
    </p:spTree>
    <p:extLst>
      <p:ext uri="{BB962C8B-B14F-4D97-AF65-F5344CB8AC3E}">
        <p14:creationId xmlns:p14="http://schemas.microsoft.com/office/powerpoint/2010/main" val="3963540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8"/>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ight Triangle 11"/>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8"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smtClean="0"/>
              <a:t>Click to edit Master title style</a:t>
            </a:r>
            <a:endParaRPr lang="en-US"/>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smtClean="0"/>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smtClean="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pPr>
              <a:defRPr/>
            </a:pPr>
            <a:fld id="{028F7D41-2CC8-44B7-B076-393FC707A801}" type="datetimeFigureOut">
              <a:rPr lang="en-US"/>
              <a:pPr>
                <a:defRPr/>
              </a:pPr>
              <a:t>7/21/2011</a:t>
            </a:fld>
            <a:endParaRPr lang="en-US"/>
          </a:p>
        </p:txBody>
      </p:sp>
      <p:sp>
        <p:nvSpPr>
          <p:cNvPr id="10" name="Footer Placeholder 5"/>
          <p:cNvSpPr>
            <a:spLocks noGrp="1"/>
          </p:cNvSpPr>
          <p:nvPr>
            <p:ph type="ftr" sz="quarter" idx="11"/>
          </p:nvPr>
        </p:nvSpPr>
        <p:spPr/>
        <p:txBody>
          <a:bodyPr/>
          <a:lstStyle>
            <a:lvl1pPr>
              <a:defRPr/>
            </a:lvl1pPr>
          </a:lstStyle>
          <a:p>
            <a:pPr>
              <a:defRPr/>
            </a:pPr>
            <a:endParaRPr lang="en-US"/>
          </a:p>
        </p:txBody>
      </p:sp>
      <p:sp>
        <p:nvSpPr>
          <p:cNvPr id="11" name="Slide Number Placeholder 6"/>
          <p:cNvSpPr>
            <a:spLocks noGrp="1"/>
          </p:cNvSpPr>
          <p:nvPr>
            <p:ph type="sldNum" sz="quarter" idx="12"/>
          </p:nvPr>
        </p:nvSpPr>
        <p:spPr>
          <a:xfrm>
            <a:off x="8077200" y="6356350"/>
            <a:ext cx="609600" cy="365125"/>
          </a:xfrm>
        </p:spPr>
        <p:txBody>
          <a:bodyPr/>
          <a:lstStyle>
            <a:lvl1pPr>
              <a:defRPr/>
            </a:lvl1pPr>
          </a:lstStyle>
          <a:p>
            <a:pPr>
              <a:defRPr/>
            </a:pPr>
            <a:fld id="{9B0FE590-7414-4152-947E-B81FF2736761}" type="slidenum">
              <a:rPr lang="en-US"/>
              <a:pPr>
                <a:defRPr/>
              </a:pPr>
              <a:t>‹#›</a:t>
            </a:fld>
            <a:endParaRPr lang="en-US"/>
          </a:p>
        </p:txBody>
      </p:sp>
    </p:spTree>
    <p:extLst>
      <p:ext uri="{BB962C8B-B14F-4D97-AF65-F5344CB8AC3E}">
        <p14:creationId xmlns:p14="http://schemas.microsoft.com/office/powerpoint/2010/main" val="1239698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A9C9F577-1577-483E-8E2C-627E19E38F07}" type="datetimeFigureOut">
              <a:rPr lang="en-US"/>
              <a:pPr>
                <a:defRPr/>
              </a:pPr>
              <a:t>7/21/2011</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9DFD226D-15FC-49BC-8B41-8009CB1A0194}" type="slidenum">
              <a:rPr lang="en-US"/>
              <a:pPr>
                <a:defRPr/>
              </a:pPr>
              <a:t>‹#›</a:t>
            </a:fld>
            <a:endParaRPr lang="en-US"/>
          </a:p>
        </p:txBody>
      </p:sp>
    </p:spTree>
    <p:extLst>
      <p:ext uri="{BB962C8B-B14F-4D97-AF65-F5344CB8AC3E}">
        <p14:creationId xmlns:p14="http://schemas.microsoft.com/office/powerpoint/2010/main" val="3819797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F59A4F73-0518-450E-99E5-37C79D6CCC93}" type="datetimeFigureOut">
              <a:rPr lang="en-US"/>
              <a:pPr>
                <a:defRPr/>
              </a:pPr>
              <a:t>7/21/2011</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50B40DA0-45AF-44B0-8E08-2208B1193848}" type="slidenum">
              <a:rPr lang="en-US"/>
              <a:pPr>
                <a:defRPr/>
              </a:pPr>
              <a:t>‹#›</a:t>
            </a:fld>
            <a:endParaRPr lang="en-US"/>
          </a:p>
        </p:txBody>
      </p:sp>
    </p:spTree>
    <p:extLst>
      <p:ext uri="{BB962C8B-B14F-4D97-AF65-F5344CB8AC3E}">
        <p14:creationId xmlns:p14="http://schemas.microsoft.com/office/powerpoint/2010/main" val="13950089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9"/>
          <p:cNvSpPr>
            <a:spLocks noGrp="1"/>
          </p:cNvSpPr>
          <p:nvPr>
            <p:ph type="dt" sz="half" idx="10"/>
          </p:nvPr>
        </p:nvSpPr>
        <p:spPr/>
        <p:txBody>
          <a:bodyPr/>
          <a:lstStyle>
            <a:lvl1pPr>
              <a:defRPr/>
            </a:lvl1pPr>
          </a:lstStyle>
          <a:p>
            <a:pPr>
              <a:defRPr/>
            </a:pPr>
            <a:fld id="{0339F5C0-D6BF-480E-8D78-A9FD652B3AA1}" type="datetimeFigureOut">
              <a:rPr lang="en-US"/>
              <a:pPr>
                <a:defRPr/>
              </a:pPr>
              <a:t>7/21/2011</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E6CC21C6-B0E5-447F-9B08-6076D7919001}" type="slidenum">
              <a:rPr lang="en-US"/>
              <a:pPr>
                <a:defRPr/>
              </a:pPr>
              <a:t>‹#›</a:t>
            </a:fld>
            <a:endParaRPr lang="en-US"/>
          </a:p>
        </p:txBody>
      </p:sp>
    </p:spTree>
    <p:extLst>
      <p:ext uri="{BB962C8B-B14F-4D97-AF65-F5344CB8AC3E}">
        <p14:creationId xmlns:p14="http://schemas.microsoft.com/office/powerpoint/2010/main" val="25910414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6638F221-2855-4997-BD3A-DC8FEF3DF39F}" type="datetimeFigureOut">
              <a:rPr lang="en-US"/>
              <a:pPr>
                <a:defRPr/>
              </a:pPr>
              <a:t>7/21/2011</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289D5FEE-F728-452B-A9E7-7394FEB2BC9C}" type="slidenum">
              <a:rPr lang="en-US"/>
              <a:pPr>
                <a:defRPr/>
              </a:pPr>
              <a:t>‹#›</a:t>
            </a:fld>
            <a:endParaRPr lang="en-US"/>
          </a:p>
        </p:txBody>
      </p:sp>
    </p:spTree>
    <p:extLst>
      <p:ext uri="{BB962C8B-B14F-4D97-AF65-F5344CB8AC3E}">
        <p14:creationId xmlns:p14="http://schemas.microsoft.com/office/powerpoint/2010/main" val="18993277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9"/>
          <p:cNvSpPr>
            <a:spLocks noGrp="1"/>
          </p:cNvSpPr>
          <p:nvPr>
            <p:ph type="dt" sz="half" idx="10"/>
          </p:nvPr>
        </p:nvSpPr>
        <p:spPr/>
        <p:txBody>
          <a:bodyPr/>
          <a:lstStyle>
            <a:lvl1pPr>
              <a:defRPr/>
            </a:lvl1pPr>
          </a:lstStyle>
          <a:p>
            <a:pPr>
              <a:defRPr/>
            </a:pPr>
            <a:fld id="{14835DA7-52E9-4382-8E9C-E65F165C394B}" type="datetimeFigureOut">
              <a:rPr lang="en-US"/>
              <a:pPr>
                <a:defRPr/>
              </a:pPr>
              <a:t>7/21/2011</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E0EC5CD8-CB96-417A-8174-89E372B8A0CB}" type="slidenum">
              <a:rPr lang="en-US"/>
              <a:pPr>
                <a:defRPr/>
              </a:pPr>
              <a:t>‹#›</a:t>
            </a:fld>
            <a:endParaRPr lang="en-US"/>
          </a:p>
        </p:txBody>
      </p:sp>
    </p:spTree>
    <p:extLst>
      <p:ext uri="{BB962C8B-B14F-4D97-AF65-F5344CB8AC3E}">
        <p14:creationId xmlns:p14="http://schemas.microsoft.com/office/powerpoint/2010/main" val="37276789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35163"/>
            <a:ext cx="4038600" cy="43894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35163"/>
            <a:ext cx="4038600" cy="43894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9"/>
          <p:cNvSpPr>
            <a:spLocks noGrp="1"/>
          </p:cNvSpPr>
          <p:nvPr>
            <p:ph type="dt" sz="half" idx="10"/>
          </p:nvPr>
        </p:nvSpPr>
        <p:spPr/>
        <p:txBody>
          <a:bodyPr/>
          <a:lstStyle>
            <a:lvl1pPr>
              <a:defRPr/>
            </a:lvl1pPr>
          </a:lstStyle>
          <a:p>
            <a:pPr>
              <a:defRPr/>
            </a:pPr>
            <a:fld id="{6DC32D71-1889-4DF8-BAC3-751D6629D339}" type="datetimeFigureOut">
              <a:rPr lang="en-US"/>
              <a:pPr>
                <a:defRPr/>
              </a:pPr>
              <a:t>7/21/2011</a:t>
            </a:fld>
            <a:endParaRPr lang="en-US"/>
          </a:p>
        </p:txBody>
      </p:sp>
      <p:sp>
        <p:nvSpPr>
          <p:cNvPr id="6" name="Footer Placeholder 21"/>
          <p:cNvSpPr>
            <a:spLocks noGrp="1"/>
          </p:cNvSpPr>
          <p:nvPr>
            <p:ph type="ftr" sz="quarter" idx="11"/>
          </p:nvPr>
        </p:nvSpPr>
        <p:spPr/>
        <p:txBody>
          <a:bodyPr/>
          <a:lstStyle>
            <a:lvl1pPr>
              <a:defRPr/>
            </a:lvl1pPr>
          </a:lstStyle>
          <a:p>
            <a:pPr>
              <a:defRPr/>
            </a:pPr>
            <a:endParaRPr lang="en-US"/>
          </a:p>
        </p:txBody>
      </p:sp>
      <p:sp>
        <p:nvSpPr>
          <p:cNvPr id="7" name="Slide Number Placeholder 17"/>
          <p:cNvSpPr>
            <a:spLocks noGrp="1"/>
          </p:cNvSpPr>
          <p:nvPr>
            <p:ph type="sldNum" sz="quarter" idx="12"/>
          </p:nvPr>
        </p:nvSpPr>
        <p:spPr/>
        <p:txBody>
          <a:bodyPr/>
          <a:lstStyle>
            <a:lvl1pPr>
              <a:defRPr/>
            </a:lvl1pPr>
          </a:lstStyle>
          <a:p>
            <a:pPr>
              <a:defRPr/>
            </a:pPr>
            <a:fld id="{4B38C4D6-663F-4ABB-96E6-2E5C3B622601}" type="slidenum">
              <a:rPr lang="en-US"/>
              <a:pPr>
                <a:defRPr/>
              </a:pPr>
              <a:t>‹#›</a:t>
            </a:fld>
            <a:endParaRPr lang="en-US"/>
          </a:p>
        </p:txBody>
      </p:sp>
    </p:spTree>
    <p:extLst>
      <p:ext uri="{BB962C8B-B14F-4D97-AF65-F5344CB8AC3E}">
        <p14:creationId xmlns:p14="http://schemas.microsoft.com/office/powerpoint/2010/main" val="19022844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9"/>
          <p:cNvSpPr>
            <a:spLocks noGrp="1"/>
          </p:cNvSpPr>
          <p:nvPr>
            <p:ph type="dt" sz="half" idx="10"/>
          </p:nvPr>
        </p:nvSpPr>
        <p:spPr/>
        <p:txBody>
          <a:bodyPr/>
          <a:lstStyle>
            <a:lvl1pPr>
              <a:defRPr/>
            </a:lvl1pPr>
          </a:lstStyle>
          <a:p>
            <a:pPr>
              <a:defRPr/>
            </a:pPr>
            <a:fld id="{1255F1EC-4CEE-4767-BBD0-F7EC3FDFEDA2}" type="datetimeFigureOut">
              <a:rPr lang="en-US"/>
              <a:pPr>
                <a:defRPr/>
              </a:pPr>
              <a:t>7/21/2011</a:t>
            </a:fld>
            <a:endParaRPr lang="en-US"/>
          </a:p>
        </p:txBody>
      </p:sp>
      <p:sp>
        <p:nvSpPr>
          <p:cNvPr id="8" name="Footer Placeholder 21"/>
          <p:cNvSpPr>
            <a:spLocks noGrp="1"/>
          </p:cNvSpPr>
          <p:nvPr>
            <p:ph type="ftr" sz="quarter" idx="11"/>
          </p:nvPr>
        </p:nvSpPr>
        <p:spPr/>
        <p:txBody>
          <a:bodyPr/>
          <a:lstStyle>
            <a:lvl1pPr>
              <a:defRPr/>
            </a:lvl1pPr>
          </a:lstStyle>
          <a:p>
            <a:pPr>
              <a:defRPr/>
            </a:pPr>
            <a:endParaRPr lang="en-US"/>
          </a:p>
        </p:txBody>
      </p:sp>
      <p:sp>
        <p:nvSpPr>
          <p:cNvPr id="9" name="Slide Number Placeholder 17"/>
          <p:cNvSpPr>
            <a:spLocks noGrp="1"/>
          </p:cNvSpPr>
          <p:nvPr>
            <p:ph type="sldNum" sz="quarter" idx="12"/>
          </p:nvPr>
        </p:nvSpPr>
        <p:spPr/>
        <p:txBody>
          <a:bodyPr/>
          <a:lstStyle>
            <a:lvl1pPr>
              <a:defRPr/>
            </a:lvl1pPr>
          </a:lstStyle>
          <a:p>
            <a:pPr>
              <a:defRPr/>
            </a:pPr>
            <a:fld id="{CAEE7FF9-A37C-4353-BC37-60DD5D25E63F}" type="slidenum">
              <a:rPr lang="en-US"/>
              <a:pPr>
                <a:defRPr/>
              </a:pPr>
              <a:t>‹#›</a:t>
            </a:fld>
            <a:endParaRPr lang="en-US"/>
          </a:p>
        </p:txBody>
      </p:sp>
    </p:spTree>
    <p:extLst>
      <p:ext uri="{BB962C8B-B14F-4D97-AF65-F5344CB8AC3E}">
        <p14:creationId xmlns:p14="http://schemas.microsoft.com/office/powerpoint/2010/main" val="22783489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9"/>
          <p:cNvSpPr>
            <a:spLocks noGrp="1"/>
          </p:cNvSpPr>
          <p:nvPr>
            <p:ph type="dt" sz="half" idx="10"/>
          </p:nvPr>
        </p:nvSpPr>
        <p:spPr/>
        <p:txBody>
          <a:bodyPr/>
          <a:lstStyle>
            <a:lvl1pPr>
              <a:defRPr/>
            </a:lvl1pPr>
          </a:lstStyle>
          <a:p>
            <a:pPr>
              <a:defRPr/>
            </a:pPr>
            <a:fld id="{4C47243D-E082-4DEE-B631-F11BD6ABC701}" type="datetimeFigureOut">
              <a:rPr lang="en-US"/>
              <a:pPr>
                <a:defRPr/>
              </a:pPr>
              <a:t>7/21/2011</a:t>
            </a:fld>
            <a:endParaRPr lang="en-US"/>
          </a:p>
        </p:txBody>
      </p:sp>
      <p:sp>
        <p:nvSpPr>
          <p:cNvPr id="4" name="Footer Placeholder 21"/>
          <p:cNvSpPr>
            <a:spLocks noGrp="1"/>
          </p:cNvSpPr>
          <p:nvPr>
            <p:ph type="ftr" sz="quarter" idx="11"/>
          </p:nvPr>
        </p:nvSpPr>
        <p:spPr/>
        <p:txBody>
          <a:bodyPr/>
          <a:lstStyle>
            <a:lvl1pPr>
              <a:defRPr/>
            </a:lvl1pPr>
          </a:lstStyle>
          <a:p>
            <a:pPr>
              <a:defRPr/>
            </a:pPr>
            <a:endParaRPr lang="en-US"/>
          </a:p>
        </p:txBody>
      </p:sp>
      <p:sp>
        <p:nvSpPr>
          <p:cNvPr id="5" name="Slide Number Placeholder 17"/>
          <p:cNvSpPr>
            <a:spLocks noGrp="1"/>
          </p:cNvSpPr>
          <p:nvPr>
            <p:ph type="sldNum" sz="quarter" idx="12"/>
          </p:nvPr>
        </p:nvSpPr>
        <p:spPr/>
        <p:txBody>
          <a:bodyPr/>
          <a:lstStyle>
            <a:lvl1pPr>
              <a:defRPr/>
            </a:lvl1pPr>
          </a:lstStyle>
          <a:p>
            <a:pPr>
              <a:defRPr/>
            </a:pPr>
            <a:fld id="{C23BD458-406B-45AF-A471-00CA921327CC}" type="slidenum">
              <a:rPr lang="en-US"/>
              <a:pPr>
                <a:defRPr/>
              </a:pPr>
              <a:t>‹#›</a:t>
            </a:fld>
            <a:endParaRPr lang="en-US"/>
          </a:p>
        </p:txBody>
      </p:sp>
    </p:spTree>
    <p:extLst>
      <p:ext uri="{BB962C8B-B14F-4D97-AF65-F5344CB8AC3E}">
        <p14:creationId xmlns:p14="http://schemas.microsoft.com/office/powerpoint/2010/main" val="20862621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AFD520F9-3CE9-49E8-AC35-46D8C422679F}" type="datetimeFigureOut">
              <a:rPr lang="en-US"/>
              <a:pPr>
                <a:defRPr/>
              </a:pPr>
              <a:t>7/21/2011</a:t>
            </a:fld>
            <a:endParaRPr lang="en-US"/>
          </a:p>
        </p:txBody>
      </p:sp>
      <p:sp>
        <p:nvSpPr>
          <p:cNvPr id="3" name="Footer Placeholder 21"/>
          <p:cNvSpPr>
            <a:spLocks noGrp="1"/>
          </p:cNvSpPr>
          <p:nvPr>
            <p:ph type="ftr" sz="quarter" idx="11"/>
          </p:nvPr>
        </p:nvSpPr>
        <p:spPr/>
        <p:txBody>
          <a:bodyPr/>
          <a:lstStyle>
            <a:lvl1pPr>
              <a:defRPr/>
            </a:lvl1pPr>
          </a:lstStyle>
          <a:p>
            <a:pPr>
              <a:defRPr/>
            </a:pPr>
            <a:endParaRPr lang="en-US"/>
          </a:p>
        </p:txBody>
      </p:sp>
      <p:sp>
        <p:nvSpPr>
          <p:cNvPr id="4" name="Slide Number Placeholder 17"/>
          <p:cNvSpPr>
            <a:spLocks noGrp="1"/>
          </p:cNvSpPr>
          <p:nvPr>
            <p:ph type="sldNum" sz="quarter" idx="12"/>
          </p:nvPr>
        </p:nvSpPr>
        <p:spPr/>
        <p:txBody>
          <a:bodyPr/>
          <a:lstStyle>
            <a:lvl1pPr>
              <a:defRPr/>
            </a:lvl1pPr>
          </a:lstStyle>
          <a:p>
            <a:pPr>
              <a:defRPr/>
            </a:pPr>
            <a:fld id="{97ED478F-C672-4D40-B653-DD4DDC396627}" type="slidenum">
              <a:rPr lang="en-US"/>
              <a:pPr>
                <a:defRPr/>
              </a:pPr>
              <a:t>‹#›</a:t>
            </a:fld>
            <a:endParaRPr lang="en-US"/>
          </a:p>
        </p:txBody>
      </p:sp>
    </p:spTree>
    <p:extLst>
      <p:ext uri="{BB962C8B-B14F-4D97-AF65-F5344CB8AC3E}">
        <p14:creationId xmlns:p14="http://schemas.microsoft.com/office/powerpoint/2010/main" val="21036750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9"/>
          <p:cNvSpPr>
            <a:spLocks noGrp="1"/>
          </p:cNvSpPr>
          <p:nvPr>
            <p:ph type="dt" sz="half" idx="10"/>
          </p:nvPr>
        </p:nvSpPr>
        <p:spPr/>
        <p:txBody>
          <a:bodyPr/>
          <a:lstStyle>
            <a:lvl1pPr>
              <a:defRPr/>
            </a:lvl1pPr>
          </a:lstStyle>
          <a:p>
            <a:pPr>
              <a:defRPr/>
            </a:pPr>
            <a:fld id="{A8B4666D-9103-479C-AC02-88ADA758FF94}" type="datetimeFigureOut">
              <a:rPr lang="en-US"/>
              <a:pPr>
                <a:defRPr/>
              </a:pPr>
              <a:t>7/21/2011</a:t>
            </a:fld>
            <a:endParaRPr lang="en-US"/>
          </a:p>
        </p:txBody>
      </p:sp>
      <p:sp>
        <p:nvSpPr>
          <p:cNvPr id="6" name="Footer Placeholder 21"/>
          <p:cNvSpPr>
            <a:spLocks noGrp="1"/>
          </p:cNvSpPr>
          <p:nvPr>
            <p:ph type="ftr" sz="quarter" idx="11"/>
          </p:nvPr>
        </p:nvSpPr>
        <p:spPr/>
        <p:txBody>
          <a:bodyPr/>
          <a:lstStyle>
            <a:lvl1pPr>
              <a:defRPr/>
            </a:lvl1pPr>
          </a:lstStyle>
          <a:p>
            <a:pPr>
              <a:defRPr/>
            </a:pPr>
            <a:endParaRPr lang="en-US"/>
          </a:p>
        </p:txBody>
      </p:sp>
      <p:sp>
        <p:nvSpPr>
          <p:cNvPr id="7" name="Slide Number Placeholder 17"/>
          <p:cNvSpPr>
            <a:spLocks noGrp="1"/>
          </p:cNvSpPr>
          <p:nvPr>
            <p:ph type="sldNum" sz="quarter" idx="12"/>
          </p:nvPr>
        </p:nvSpPr>
        <p:spPr/>
        <p:txBody>
          <a:bodyPr/>
          <a:lstStyle>
            <a:lvl1pPr>
              <a:defRPr/>
            </a:lvl1pPr>
          </a:lstStyle>
          <a:p>
            <a:pPr>
              <a:defRPr/>
            </a:pPr>
            <a:fld id="{33C251B3-7EC2-43C9-ABFC-BD0182EDDCFF}" type="slidenum">
              <a:rPr lang="en-US"/>
              <a:pPr>
                <a:defRPr/>
              </a:pPr>
              <a:t>‹#›</a:t>
            </a:fld>
            <a:endParaRPr lang="en-US"/>
          </a:p>
        </p:txBody>
      </p:sp>
    </p:spTree>
    <p:extLst>
      <p:ext uri="{BB962C8B-B14F-4D97-AF65-F5344CB8AC3E}">
        <p14:creationId xmlns:p14="http://schemas.microsoft.com/office/powerpoint/2010/main" val="18236521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9"/>
          <p:cNvSpPr>
            <a:spLocks noGrp="1"/>
          </p:cNvSpPr>
          <p:nvPr>
            <p:ph type="dt" sz="half" idx="10"/>
          </p:nvPr>
        </p:nvSpPr>
        <p:spPr/>
        <p:txBody>
          <a:bodyPr/>
          <a:lstStyle>
            <a:lvl1pPr>
              <a:defRPr/>
            </a:lvl1pPr>
          </a:lstStyle>
          <a:p>
            <a:pPr>
              <a:defRPr/>
            </a:pPr>
            <a:fld id="{0C378ACF-D6A3-4314-9AAE-89495CE4BAEB}" type="datetimeFigureOut">
              <a:rPr lang="en-US"/>
              <a:pPr>
                <a:defRPr/>
              </a:pPr>
              <a:t>7/21/2011</a:t>
            </a:fld>
            <a:endParaRPr lang="en-US"/>
          </a:p>
        </p:txBody>
      </p:sp>
      <p:sp>
        <p:nvSpPr>
          <p:cNvPr id="6" name="Footer Placeholder 21"/>
          <p:cNvSpPr>
            <a:spLocks noGrp="1"/>
          </p:cNvSpPr>
          <p:nvPr>
            <p:ph type="ftr" sz="quarter" idx="11"/>
          </p:nvPr>
        </p:nvSpPr>
        <p:spPr/>
        <p:txBody>
          <a:bodyPr/>
          <a:lstStyle>
            <a:lvl1pPr>
              <a:defRPr/>
            </a:lvl1pPr>
          </a:lstStyle>
          <a:p>
            <a:pPr>
              <a:defRPr/>
            </a:pPr>
            <a:endParaRPr lang="en-US"/>
          </a:p>
        </p:txBody>
      </p:sp>
      <p:sp>
        <p:nvSpPr>
          <p:cNvPr id="7" name="Slide Number Placeholder 17"/>
          <p:cNvSpPr>
            <a:spLocks noGrp="1"/>
          </p:cNvSpPr>
          <p:nvPr>
            <p:ph type="sldNum" sz="quarter" idx="12"/>
          </p:nvPr>
        </p:nvSpPr>
        <p:spPr/>
        <p:txBody>
          <a:bodyPr/>
          <a:lstStyle>
            <a:lvl1pPr>
              <a:defRPr/>
            </a:lvl1pPr>
          </a:lstStyle>
          <a:p>
            <a:pPr>
              <a:defRPr/>
            </a:pPr>
            <a:fld id="{5A6ED7EB-A551-4B3A-BA5A-7B6205466067}" type="slidenum">
              <a:rPr lang="en-US"/>
              <a:pPr>
                <a:defRPr/>
              </a:pPr>
              <a:t>‹#›</a:t>
            </a:fld>
            <a:endParaRPr lang="en-US"/>
          </a:p>
        </p:txBody>
      </p:sp>
    </p:spTree>
    <p:extLst>
      <p:ext uri="{BB962C8B-B14F-4D97-AF65-F5344CB8AC3E}">
        <p14:creationId xmlns:p14="http://schemas.microsoft.com/office/powerpoint/2010/main" val="43669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CD18DFDB-321E-44BF-96C7-2EA9698E0E3C}" type="datetimeFigureOut">
              <a:rPr lang="en-US"/>
              <a:pPr>
                <a:defRPr/>
              </a:pPr>
              <a:t>7/21/2011</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A81B6F96-5431-4646-84DE-A9ED37861971}" type="slidenum">
              <a:rPr lang="en-US"/>
              <a:pPr>
                <a:defRPr/>
              </a:pPr>
              <a:t>‹#›</a:t>
            </a:fld>
            <a:endParaRPr lang="en-US"/>
          </a:p>
        </p:txBody>
      </p:sp>
    </p:spTree>
    <p:extLst>
      <p:ext uri="{BB962C8B-B14F-4D97-AF65-F5344CB8AC3E}">
        <p14:creationId xmlns:p14="http://schemas.microsoft.com/office/powerpoint/2010/main" val="4661223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704850"/>
            <a:ext cx="2057400" cy="56197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704850"/>
            <a:ext cx="6019800" cy="56197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F294566C-B9D8-4A1C-B8A3-B20867599A81}" type="datetimeFigureOut">
              <a:rPr lang="en-US"/>
              <a:pPr>
                <a:defRPr/>
              </a:pPr>
              <a:t>7/21/2011</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7D8BC3B8-8FBA-491D-93E5-ABAB68F1F2C8}" type="slidenum">
              <a:rPr lang="en-US"/>
              <a:pPr>
                <a:defRPr/>
              </a:pPr>
              <a:t>‹#›</a:t>
            </a:fld>
            <a:endParaRPr lang="en-US"/>
          </a:p>
        </p:txBody>
      </p:sp>
    </p:spTree>
    <p:extLst>
      <p:ext uri="{BB962C8B-B14F-4D97-AF65-F5344CB8AC3E}">
        <p14:creationId xmlns:p14="http://schemas.microsoft.com/office/powerpoint/2010/main" val="3055978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9220" name="Title Placeholder 8"/>
          <p:cNvSpPr>
            <a:spLocks noGrp="1"/>
          </p:cNvSpPr>
          <p:nvPr>
            <p:ph type="title"/>
          </p:nvPr>
        </p:nvSpPr>
        <p:spPr bwMode="auto">
          <a:xfrm>
            <a:off x="457200" y="7048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en-US" smtClean="0"/>
              <a:t>Click to edit Master title style</a:t>
            </a:r>
          </a:p>
        </p:txBody>
      </p:sp>
      <p:sp>
        <p:nvSpPr>
          <p:cNvPr id="9221" name="Text Placeholder 29"/>
          <p:cNvSpPr>
            <a:spLocks noGrp="1"/>
          </p:cNvSpPr>
          <p:nvPr>
            <p:ph type="body" idx="1"/>
          </p:nvPr>
        </p:nvSpPr>
        <p:spPr bwMode="auto">
          <a:xfrm>
            <a:off x="457200" y="1935163"/>
            <a:ext cx="82296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fld id="{B53F0ACE-AE7D-43F5-BA6D-4E8C6BF3700F}" type="datetimeFigureOut">
              <a:rPr lang="en-US"/>
              <a:pPr>
                <a:defRPr/>
              </a:pPr>
              <a:t>7/21/2011</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fld id="{1A5B5399-922B-4DE6-9262-DA7A598F98B3}" type="slidenum">
              <a:rPr lang="en-US"/>
              <a:pPr>
                <a:defRPr/>
              </a:pPr>
              <a:t>‹#›</a:t>
            </a:fld>
            <a:endParaRPr lang="en-US"/>
          </a:p>
        </p:txBody>
      </p:sp>
      <p:grpSp>
        <p:nvGrpSpPr>
          <p:cNvPr id="9225"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grpSp>
    </p:spTree>
  </p:cSld>
  <p:clrMap bg1="lt1" tx1="dk1" bg2="lt2" tx2="dk2" accent1="accent1" accent2="accent2" accent3="accent3" accent4="accent4" accent5="accent5" accent6="accent6" hlink="hlink" folHlink="folHlink"/>
  <p:sldLayoutIdLst>
    <p:sldLayoutId id="2147483859" r:id="rId1"/>
    <p:sldLayoutId id="2147483840" r:id="rId2"/>
    <p:sldLayoutId id="2147483860" r:id="rId3"/>
    <p:sldLayoutId id="2147483841" r:id="rId4"/>
    <p:sldLayoutId id="2147483842" r:id="rId5"/>
    <p:sldLayoutId id="2147483843" r:id="rId6"/>
    <p:sldLayoutId id="2147483844" r:id="rId7"/>
    <p:sldLayoutId id="2147483845" r:id="rId8"/>
    <p:sldLayoutId id="2147483861" r:id="rId9"/>
    <p:sldLayoutId id="2147483846" r:id="rId10"/>
    <p:sldLayoutId id="2147483847" r:id="rId11"/>
  </p:sldLayoutIdLst>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defRPr>
      </a:lvl2pPr>
      <a:lvl3pPr algn="l" rtl="0" eaLnBrk="0" fontAlgn="base" hangingPunct="0">
        <a:spcBef>
          <a:spcPct val="0"/>
        </a:spcBef>
        <a:spcAft>
          <a:spcPct val="0"/>
        </a:spcAft>
        <a:defRPr sz="5000">
          <a:solidFill>
            <a:schemeClr val="tx2"/>
          </a:solidFill>
          <a:latin typeface="Calibri" pitchFamily="34" charset="0"/>
        </a:defRPr>
      </a:lvl3pPr>
      <a:lvl4pPr algn="l" rtl="0" eaLnBrk="0" fontAlgn="base" hangingPunct="0">
        <a:spcBef>
          <a:spcPct val="0"/>
        </a:spcBef>
        <a:spcAft>
          <a:spcPct val="0"/>
        </a:spcAft>
        <a:defRPr sz="5000">
          <a:solidFill>
            <a:schemeClr val="tx2"/>
          </a:solidFill>
          <a:latin typeface="Calibri" pitchFamily="34" charset="0"/>
        </a:defRPr>
      </a:lvl4pPr>
      <a:lvl5pPr algn="l" rtl="0" eaLnBrk="0" fontAlgn="base" hangingPunct="0">
        <a:spcBef>
          <a:spcPct val="0"/>
        </a:spcBef>
        <a:spcAft>
          <a:spcPct val="0"/>
        </a:spcAft>
        <a:defRPr sz="5000">
          <a:solidFill>
            <a:schemeClr val="tx2"/>
          </a:solidFill>
          <a:latin typeface="Calibri" pitchFamily="34" charset="0"/>
        </a:defRPr>
      </a:lvl5pPr>
      <a:lvl6pPr marL="457200" algn="l" rtl="0" fontAlgn="base">
        <a:spcBef>
          <a:spcPct val="0"/>
        </a:spcBef>
        <a:spcAft>
          <a:spcPct val="0"/>
        </a:spcAft>
        <a:defRPr sz="5000">
          <a:solidFill>
            <a:schemeClr val="tx2"/>
          </a:solidFill>
          <a:latin typeface="Calibri" pitchFamily="34" charset="0"/>
        </a:defRPr>
      </a:lvl6pPr>
      <a:lvl7pPr marL="914400" algn="l" rtl="0" fontAlgn="base">
        <a:spcBef>
          <a:spcPct val="0"/>
        </a:spcBef>
        <a:spcAft>
          <a:spcPct val="0"/>
        </a:spcAft>
        <a:defRPr sz="5000">
          <a:solidFill>
            <a:schemeClr val="tx2"/>
          </a:solidFill>
          <a:latin typeface="Calibri" pitchFamily="34" charset="0"/>
        </a:defRPr>
      </a:lvl7pPr>
      <a:lvl8pPr marL="1371600" algn="l" rtl="0" fontAlgn="base">
        <a:spcBef>
          <a:spcPct val="0"/>
        </a:spcBef>
        <a:spcAft>
          <a:spcPct val="0"/>
        </a:spcAft>
        <a:defRPr sz="5000">
          <a:solidFill>
            <a:schemeClr val="tx2"/>
          </a:solidFill>
          <a:latin typeface="Calibri" pitchFamily="34" charset="0"/>
        </a:defRPr>
      </a:lvl8pPr>
      <a:lvl9pPr marL="1828800" algn="l" rtl="0" fontAlgn="base">
        <a:spcBef>
          <a:spcPct val="0"/>
        </a:spcBef>
        <a:spcAft>
          <a:spcPct val="0"/>
        </a:spcAft>
        <a:defRPr sz="5000">
          <a:solidFill>
            <a:schemeClr val="tx2"/>
          </a:solidFill>
          <a:latin typeface="Calibri" pitchFamily="34" charset="0"/>
        </a:defRPr>
      </a:lvl9pPr>
    </p:titleStyle>
    <p:bodyStyle>
      <a:lvl1pPr marL="273050" indent="-273050" algn="l" rtl="0" eaLnBrk="0" fontAlgn="base" hangingPunct="0">
        <a:spcBef>
          <a:spcPct val="20000"/>
        </a:spcBef>
        <a:spcAft>
          <a:spcPct val="0"/>
        </a:spcAft>
        <a:buClr>
          <a:srgbClr val="E7BC2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E7BC2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D092A7"/>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0244" name="Title Placeholder 8"/>
          <p:cNvSpPr>
            <a:spLocks noGrp="1"/>
          </p:cNvSpPr>
          <p:nvPr>
            <p:ph type="title"/>
          </p:nvPr>
        </p:nvSpPr>
        <p:spPr bwMode="auto">
          <a:xfrm>
            <a:off x="457200" y="7048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en-US" smtClean="0"/>
              <a:t>Click to edit Master title style</a:t>
            </a:r>
          </a:p>
        </p:txBody>
      </p:sp>
      <p:sp>
        <p:nvSpPr>
          <p:cNvPr id="10245" name="Text Placeholder 29"/>
          <p:cNvSpPr>
            <a:spLocks noGrp="1"/>
          </p:cNvSpPr>
          <p:nvPr>
            <p:ph type="body" idx="1"/>
          </p:nvPr>
        </p:nvSpPr>
        <p:spPr bwMode="auto">
          <a:xfrm>
            <a:off x="457200" y="1935163"/>
            <a:ext cx="82296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fld id="{5C78BFFB-BAE8-4E69-AC4F-71F8696AFB76}" type="datetimeFigureOut">
              <a:rPr lang="en-US"/>
              <a:pPr>
                <a:defRPr/>
              </a:pPr>
              <a:t>7/21/2011</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fld id="{8492ADE7-3B3A-4FF9-9CC3-B3A8955AC295}" type="slidenum">
              <a:rPr lang="en-US"/>
              <a:pPr>
                <a:defRPr/>
              </a:pPr>
              <a:t>‹#›</a:t>
            </a:fld>
            <a:endParaRPr lang="en-US"/>
          </a:p>
        </p:txBody>
      </p:sp>
      <p:grpSp>
        <p:nvGrpSpPr>
          <p:cNvPr id="10249"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grpSp>
    </p:spTree>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 id="2147483853" r:id="rId6"/>
    <p:sldLayoutId id="2147483854" r:id="rId7"/>
    <p:sldLayoutId id="2147483855" r:id="rId8"/>
    <p:sldLayoutId id="2147483856" r:id="rId9"/>
    <p:sldLayoutId id="2147483857" r:id="rId10"/>
    <p:sldLayoutId id="2147483858" r:id="rId11"/>
  </p:sldLayoutIdLst>
  <p:txStyles>
    <p:titleStyle>
      <a:lvl1pPr algn="l" rtl="0" eaLnBrk="0" fontAlgn="base" hangingPunct="0">
        <a:spcBef>
          <a:spcPct val="0"/>
        </a:spcBef>
        <a:spcAft>
          <a:spcPct val="0"/>
        </a:spcAft>
        <a:defRPr sz="50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cs typeface="Arial" charset="0"/>
        </a:defRPr>
      </a:lvl2pPr>
      <a:lvl3pPr algn="l" rtl="0" eaLnBrk="0" fontAlgn="base" hangingPunct="0">
        <a:spcBef>
          <a:spcPct val="0"/>
        </a:spcBef>
        <a:spcAft>
          <a:spcPct val="0"/>
        </a:spcAft>
        <a:defRPr sz="5000">
          <a:solidFill>
            <a:schemeClr val="tx2"/>
          </a:solidFill>
          <a:latin typeface="Calibri" pitchFamily="34" charset="0"/>
          <a:cs typeface="Arial" charset="0"/>
        </a:defRPr>
      </a:lvl3pPr>
      <a:lvl4pPr algn="l" rtl="0" eaLnBrk="0" fontAlgn="base" hangingPunct="0">
        <a:spcBef>
          <a:spcPct val="0"/>
        </a:spcBef>
        <a:spcAft>
          <a:spcPct val="0"/>
        </a:spcAft>
        <a:defRPr sz="5000">
          <a:solidFill>
            <a:schemeClr val="tx2"/>
          </a:solidFill>
          <a:latin typeface="Calibri" pitchFamily="34" charset="0"/>
          <a:cs typeface="Arial" charset="0"/>
        </a:defRPr>
      </a:lvl4pPr>
      <a:lvl5pPr algn="l" rtl="0" eaLnBrk="0" fontAlgn="base" hangingPunct="0">
        <a:spcBef>
          <a:spcPct val="0"/>
        </a:spcBef>
        <a:spcAft>
          <a:spcPct val="0"/>
        </a:spcAft>
        <a:defRPr sz="5000">
          <a:solidFill>
            <a:schemeClr val="tx2"/>
          </a:solidFill>
          <a:latin typeface="Calibri" pitchFamily="34" charset="0"/>
          <a:cs typeface="Arial" charset="0"/>
        </a:defRPr>
      </a:lvl5pPr>
      <a:lvl6pPr marL="457200" algn="l" rtl="0" fontAlgn="base">
        <a:spcBef>
          <a:spcPct val="0"/>
        </a:spcBef>
        <a:spcAft>
          <a:spcPct val="0"/>
        </a:spcAft>
        <a:defRPr sz="5000">
          <a:solidFill>
            <a:schemeClr val="tx2"/>
          </a:solidFill>
          <a:latin typeface="Calibri" pitchFamily="34" charset="0"/>
          <a:cs typeface="Arial" charset="0"/>
        </a:defRPr>
      </a:lvl6pPr>
      <a:lvl7pPr marL="914400" algn="l" rtl="0" fontAlgn="base">
        <a:spcBef>
          <a:spcPct val="0"/>
        </a:spcBef>
        <a:spcAft>
          <a:spcPct val="0"/>
        </a:spcAft>
        <a:defRPr sz="5000">
          <a:solidFill>
            <a:schemeClr val="tx2"/>
          </a:solidFill>
          <a:latin typeface="Calibri" pitchFamily="34" charset="0"/>
          <a:cs typeface="Arial" charset="0"/>
        </a:defRPr>
      </a:lvl7pPr>
      <a:lvl8pPr marL="1371600" algn="l" rtl="0" fontAlgn="base">
        <a:spcBef>
          <a:spcPct val="0"/>
        </a:spcBef>
        <a:spcAft>
          <a:spcPct val="0"/>
        </a:spcAft>
        <a:defRPr sz="5000">
          <a:solidFill>
            <a:schemeClr val="tx2"/>
          </a:solidFill>
          <a:latin typeface="Calibri" pitchFamily="34" charset="0"/>
          <a:cs typeface="Arial" charset="0"/>
        </a:defRPr>
      </a:lvl8pPr>
      <a:lvl9pPr marL="1828800" algn="l" rtl="0" fontAlgn="base">
        <a:spcBef>
          <a:spcPct val="0"/>
        </a:spcBef>
        <a:spcAft>
          <a:spcPct val="0"/>
        </a:spcAft>
        <a:defRPr sz="5000">
          <a:solidFill>
            <a:schemeClr val="tx2"/>
          </a:solidFill>
          <a:latin typeface="Calibri" pitchFamily="34" charset="0"/>
          <a:cs typeface="Arial" charset="0"/>
        </a:defRPr>
      </a:lvl9pPr>
    </p:titleStyle>
    <p:bodyStyle>
      <a:lvl1pPr marL="273050" indent="-273050" algn="l" rtl="0" eaLnBrk="0" fontAlgn="base" hangingPunct="0">
        <a:spcBef>
          <a:spcPct val="20000"/>
        </a:spcBef>
        <a:spcAft>
          <a:spcPct val="0"/>
        </a:spcAft>
        <a:buClr>
          <a:srgbClr val="E7BC29"/>
        </a:buClr>
        <a:buSzPct val="95000"/>
        <a:buFont typeface="Wingdings 2" pitchFamily="18" charset="2"/>
        <a:buChar char=""/>
        <a:defRPr sz="26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a:solidFill>
            <a:schemeClr val="tx1"/>
          </a:solidFill>
          <a:latin typeface="+mn-lt"/>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a:solidFill>
            <a:schemeClr val="tx1"/>
          </a:solidFill>
          <a:latin typeface="+mn-lt"/>
          <a:cs typeface="+mn-cs"/>
        </a:defRPr>
      </a:lvl3pPr>
      <a:lvl4pPr marL="1187450" indent="-209550" algn="l" rtl="0" eaLnBrk="0" fontAlgn="base" hangingPunct="0">
        <a:spcBef>
          <a:spcPct val="20000"/>
        </a:spcBef>
        <a:spcAft>
          <a:spcPct val="0"/>
        </a:spcAft>
        <a:buClr>
          <a:srgbClr val="E7BC29"/>
        </a:buClr>
        <a:buSzPct val="65000"/>
        <a:buFont typeface="Wingdings 2" pitchFamily="18" charset="2"/>
        <a:buChar char=""/>
        <a:defRPr sz="2000">
          <a:solidFill>
            <a:schemeClr val="tx1"/>
          </a:solidFill>
          <a:latin typeface="+mn-lt"/>
          <a:cs typeface="+mn-cs"/>
        </a:defRPr>
      </a:lvl4pPr>
      <a:lvl5pPr marL="1462088" indent="-209550" algn="l" rtl="0" eaLnBrk="0" fontAlgn="base" hangingPunct="0">
        <a:spcBef>
          <a:spcPct val="20000"/>
        </a:spcBef>
        <a:spcAft>
          <a:spcPct val="0"/>
        </a:spcAft>
        <a:buClr>
          <a:srgbClr val="D092A7"/>
        </a:buClr>
        <a:buSzPct val="65000"/>
        <a:buFont typeface="Wingdings 2" pitchFamily="18" charset="2"/>
        <a:buChar char=""/>
        <a:defRPr sz="2000">
          <a:solidFill>
            <a:schemeClr val="tx1"/>
          </a:solidFill>
          <a:latin typeface="+mn-lt"/>
          <a:cs typeface="+mn-cs"/>
        </a:defRPr>
      </a:lvl5pPr>
      <a:lvl6pPr marL="1919288" indent="-209550" algn="l" rtl="0" fontAlgn="base">
        <a:spcBef>
          <a:spcPct val="20000"/>
        </a:spcBef>
        <a:spcAft>
          <a:spcPct val="0"/>
        </a:spcAft>
        <a:buClr>
          <a:srgbClr val="D092A7"/>
        </a:buClr>
        <a:buSzPct val="65000"/>
        <a:buFont typeface="Wingdings 2" pitchFamily="18" charset="2"/>
        <a:buChar char=""/>
        <a:defRPr sz="2000">
          <a:solidFill>
            <a:schemeClr val="tx1"/>
          </a:solidFill>
          <a:latin typeface="+mn-lt"/>
          <a:cs typeface="+mn-cs"/>
        </a:defRPr>
      </a:lvl6pPr>
      <a:lvl7pPr marL="2376488" indent="-209550" algn="l" rtl="0" fontAlgn="base">
        <a:spcBef>
          <a:spcPct val="20000"/>
        </a:spcBef>
        <a:spcAft>
          <a:spcPct val="0"/>
        </a:spcAft>
        <a:buClr>
          <a:srgbClr val="D092A7"/>
        </a:buClr>
        <a:buSzPct val="65000"/>
        <a:buFont typeface="Wingdings 2" pitchFamily="18" charset="2"/>
        <a:buChar char=""/>
        <a:defRPr sz="2000">
          <a:solidFill>
            <a:schemeClr val="tx1"/>
          </a:solidFill>
          <a:latin typeface="+mn-lt"/>
          <a:cs typeface="+mn-cs"/>
        </a:defRPr>
      </a:lvl7pPr>
      <a:lvl8pPr marL="2833688" indent="-209550" algn="l" rtl="0" fontAlgn="base">
        <a:spcBef>
          <a:spcPct val="20000"/>
        </a:spcBef>
        <a:spcAft>
          <a:spcPct val="0"/>
        </a:spcAft>
        <a:buClr>
          <a:srgbClr val="D092A7"/>
        </a:buClr>
        <a:buSzPct val="65000"/>
        <a:buFont typeface="Wingdings 2" pitchFamily="18" charset="2"/>
        <a:buChar char=""/>
        <a:defRPr sz="2000">
          <a:solidFill>
            <a:schemeClr val="tx1"/>
          </a:solidFill>
          <a:latin typeface="+mn-lt"/>
          <a:cs typeface="+mn-cs"/>
        </a:defRPr>
      </a:lvl8pPr>
      <a:lvl9pPr marL="3290888" indent="-209550" algn="l" rtl="0" fontAlgn="base">
        <a:spcBef>
          <a:spcPct val="20000"/>
        </a:spcBef>
        <a:spcAft>
          <a:spcPct val="0"/>
        </a:spcAft>
        <a:buClr>
          <a:srgbClr val="D092A7"/>
        </a:buClr>
        <a:buSzPct val="65000"/>
        <a:buFont typeface="Wingdings 2" pitchFamily="18"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slideLayout" Target="../slideLayouts/slideLayout2.xml"/><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control" Target="../activeX/activeX1.xml"/><Relationship Id="rId1" Type="http://schemas.openxmlformats.org/officeDocument/2006/relationships/vmlDrawing" Target="../drawings/vmlDrawing1.v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jpeg"/><Relationship Id="rId10" Type="http://schemas.openxmlformats.org/officeDocument/2006/relationships/image" Target="../media/image10.png"/><Relationship Id="rId4" Type="http://schemas.openxmlformats.org/officeDocument/2006/relationships/image" Target="../media/image4.jpeg"/><Relationship Id="rId9" Type="http://schemas.openxmlformats.org/officeDocument/2006/relationships/image" Target="../media/image9.png"/><Relationship Id="rId1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control" Target="../activeX/activeX2.xml"/><Relationship Id="rId1" Type="http://schemas.openxmlformats.org/officeDocument/2006/relationships/vmlDrawing" Target="../drawings/vmlDrawing2.vml"/><Relationship Id="rId5" Type="http://schemas.openxmlformats.org/officeDocument/2006/relationships/image" Target="../media/image14.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image" Target="../media/image18.jpeg"/><Relationship Id="rId7" Type="http://schemas.openxmlformats.org/officeDocument/2006/relationships/diagramQuickStyle" Target="../diagrams/quickStyle5.xml"/><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image19.jpeg"/><Relationship Id="rId9" Type="http://schemas.microsoft.com/office/2007/relationships/diagramDrawing" Target="../diagrams/drawing5.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control" Target="../activeX/activeX3.xml"/><Relationship Id="rId1" Type="http://schemas.openxmlformats.org/officeDocument/2006/relationships/vmlDrawing" Target="../drawings/vmlDrawing3.vml"/><Relationship Id="rId6" Type="http://schemas.openxmlformats.org/officeDocument/2006/relationships/image" Target="../media/image23.png"/><Relationship Id="rId5" Type="http://schemas.openxmlformats.org/officeDocument/2006/relationships/image" Target="../media/image22.jpeg"/><Relationship Id="rId4" Type="http://schemas.openxmlformats.org/officeDocument/2006/relationships/image" Target="../media/image21.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control" Target="../activeX/activeX4.xml"/><Relationship Id="rId1" Type="http://schemas.openxmlformats.org/officeDocument/2006/relationships/vmlDrawing" Target="../drawings/vmlDrawing4.vml"/><Relationship Id="rId6" Type="http://schemas.openxmlformats.org/officeDocument/2006/relationships/image" Target="../media/image23.png"/><Relationship Id="rId5" Type="http://schemas.openxmlformats.org/officeDocument/2006/relationships/image" Target="../media/image25.jpeg"/><Relationship Id="rId4" Type="http://schemas.openxmlformats.org/officeDocument/2006/relationships/image" Target="../media/image24.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control" Target="../activeX/activeX5.xml"/><Relationship Id="rId1" Type="http://schemas.openxmlformats.org/officeDocument/2006/relationships/vmlDrawing" Target="../drawings/vmlDrawing5.v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control" Target="../activeX/activeX6.xml"/><Relationship Id="rId1" Type="http://schemas.openxmlformats.org/officeDocument/2006/relationships/vmlDrawing" Target="../drawings/vmlDrawing6.v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control" Target="../activeX/activeX7.xml"/><Relationship Id="rId1" Type="http://schemas.openxmlformats.org/officeDocument/2006/relationships/vmlDrawing" Target="../drawings/vmlDrawing7.v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control" Target="../activeX/activeX8.xml"/><Relationship Id="rId1" Type="http://schemas.openxmlformats.org/officeDocument/2006/relationships/vmlDrawing" Target="../drawings/vmlDrawing8.v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control" Target="../activeX/activeX9.xml"/><Relationship Id="rId1" Type="http://schemas.openxmlformats.org/officeDocument/2006/relationships/vmlDrawing" Target="../drawings/vmlDrawing9.v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6.xml.rels><?xml version="1.0" encoding="UTF-8" standalone="yes"?>
<Relationships xmlns="http://schemas.openxmlformats.org/package/2006/relationships"><Relationship Id="rId3" Type="http://schemas.openxmlformats.org/officeDocument/2006/relationships/image" Target="../media/image34.jpeg"/><Relationship Id="rId7" Type="http://schemas.openxmlformats.org/officeDocument/2006/relationships/image" Target="../media/image38.jpeg"/><Relationship Id="rId2" Type="http://schemas.openxmlformats.org/officeDocument/2006/relationships/image" Target="../media/image33.jpeg"/><Relationship Id="rId1" Type="http://schemas.openxmlformats.org/officeDocument/2006/relationships/slideLayout" Target="../slideLayouts/slideLayout2.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www.ajinkyakulkarni.com/" TargetMode="External"/><Relationship Id="rId2" Type="http://schemas.openxmlformats.org/officeDocument/2006/relationships/hyperlink" Target="http://www.tinyurl.com/reciprocitySOUPS11"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ubtitle 2"/>
          <p:cNvSpPr>
            <a:spLocks noGrp="1"/>
          </p:cNvSpPr>
          <p:nvPr>
            <p:ph type="subTitle" idx="1"/>
          </p:nvPr>
        </p:nvSpPr>
        <p:spPr>
          <a:xfrm>
            <a:off x="533400" y="3228975"/>
            <a:ext cx="7854950" cy="1752600"/>
          </a:xfrm>
        </p:spPr>
        <p:txBody>
          <a:bodyPr/>
          <a:lstStyle/>
          <a:p>
            <a:pPr marR="0" algn="ctr" eaLnBrk="1" hangingPunct="1">
              <a:defRPr/>
            </a:pPr>
            <a:r>
              <a:rPr lang="en-US" dirty="0" smtClean="0"/>
              <a:t> </a:t>
            </a:r>
          </a:p>
          <a:p>
            <a:pPr marR="0" algn="ctr" eaLnBrk="1" hangingPunct="1">
              <a:defRPr/>
            </a:pPr>
            <a:r>
              <a:rPr lang="en-US" dirty="0" smtClean="0"/>
              <a:t>By</a:t>
            </a:r>
          </a:p>
          <a:p>
            <a:pPr marR="0" algn="ctr" eaLnBrk="1" hangingPunct="1">
              <a:defRPr/>
            </a:pPr>
            <a:r>
              <a:rPr lang="en-US" b="1" dirty="0" err="1" smtClean="0">
                <a:solidFill>
                  <a:srgbClr val="FFC000"/>
                </a:solidFill>
              </a:rPr>
              <a:t>Feng</a:t>
            </a:r>
            <a:r>
              <a:rPr lang="en-US" b="1" dirty="0" smtClean="0">
                <a:solidFill>
                  <a:srgbClr val="FFC000"/>
                </a:solidFill>
              </a:rPr>
              <a:t> Zhu</a:t>
            </a:r>
            <a:r>
              <a:rPr lang="en-US" b="1" baseline="30000" dirty="0" smtClean="0">
                <a:solidFill>
                  <a:srgbClr val="FFC000"/>
                </a:solidFill>
              </a:rPr>
              <a:t>1</a:t>
            </a:r>
            <a:r>
              <a:rPr lang="en-US" b="1" dirty="0" smtClean="0">
                <a:solidFill>
                  <a:srgbClr val="FFC000"/>
                </a:solidFill>
              </a:rPr>
              <a:t>, Sandra Carpenter</a:t>
            </a:r>
            <a:r>
              <a:rPr lang="en-US" b="1" baseline="30000" dirty="0" smtClean="0">
                <a:solidFill>
                  <a:srgbClr val="FFC000"/>
                </a:solidFill>
              </a:rPr>
              <a:t>2</a:t>
            </a:r>
            <a:r>
              <a:rPr lang="en-US" b="1" dirty="0" smtClean="0">
                <a:solidFill>
                  <a:srgbClr val="FFC000"/>
                </a:solidFill>
              </a:rPr>
              <a:t>, </a:t>
            </a:r>
            <a:r>
              <a:rPr lang="en-US" b="1" u="sng" dirty="0" err="1" smtClean="0">
                <a:solidFill>
                  <a:schemeClr val="tx1">
                    <a:lumMod val="95000"/>
                  </a:schemeClr>
                </a:solidFill>
              </a:rPr>
              <a:t>Ajinkya</a:t>
            </a:r>
            <a:r>
              <a:rPr lang="en-US" b="1" u="sng" dirty="0" smtClean="0">
                <a:solidFill>
                  <a:schemeClr val="tx1">
                    <a:lumMod val="95000"/>
                  </a:schemeClr>
                </a:solidFill>
              </a:rPr>
              <a:t> Kulkarni</a:t>
            </a:r>
            <a:r>
              <a:rPr lang="en-US" b="1" u="sng" baseline="30000" dirty="0" smtClean="0">
                <a:solidFill>
                  <a:schemeClr val="tx1">
                    <a:lumMod val="95000"/>
                  </a:schemeClr>
                </a:solidFill>
              </a:rPr>
              <a:t>1</a:t>
            </a:r>
            <a:r>
              <a:rPr lang="en-US" b="1" dirty="0" smtClean="0">
                <a:solidFill>
                  <a:srgbClr val="FFC000"/>
                </a:solidFill>
              </a:rPr>
              <a:t>, </a:t>
            </a:r>
            <a:r>
              <a:rPr lang="en-US" b="1" dirty="0" err="1" smtClean="0">
                <a:solidFill>
                  <a:srgbClr val="FFC000"/>
                </a:solidFill>
              </a:rPr>
              <a:t>Swapna</a:t>
            </a:r>
            <a:r>
              <a:rPr lang="en-US" b="1" dirty="0" smtClean="0">
                <a:solidFill>
                  <a:srgbClr val="FFC000"/>
                </a:solidFill>
              </a:rPr>
              <a:t> Kolimi</a:t>
            </a:r>
            <a:r>
              <a:rPr lang="en-US" b="1" baseline="30000" dirty="0" smtClean="0">
                <a:solidFill>
                  <a:srgbClr val="FFC000"/>
                </a:solidFill>
              </a:rPr>
              <a:t>1</a:t>
            </a:r>
            <a:endParaRPr lang="en-US" b="1" dirty="0" smtClean="0">
              <a:solidFill>
                <a:srgbClr val="FFC000"/>
              </a:solidFill>
            </a:endParaRPr>
          </a:p>
        </p:txBody>
      </p:sp>
      <p:sp>
        <p:nvSpPr>
          <p:cNvPr id="14339" name="Subtitle 2"/>
          <p:cNvSpPr txBox="1">
            <a:spLocks/>
          </p:cNvSpPr>
          <p:nvPr/>
        </p:nvSpPr>
        <p:spPr bwMode="auto">
          <a:xfrm>
            <a:off x="381000" y="5562600"/>
            <a:ext cx="3886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18288"/>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20000"/>
              </a:spcBef>
              <a:buClr>
                <a:srgbClr val="E7BC29"/>
              </a:buClr>
              <a:buSzPct val="95000"/>
              <a:buFont typeface="Wingdings 2" pitchFamily="18" charset="2"/>
              <a:buNone/>
            </a:pPr>
            <a:r>
              <a:rPr lang="en-US" sz="1400" baseline="30000" dirty="0">
                <a:solidFill>
                  <a:srgbClr val="FFFF00"/>
                </a:solidFill>
                <a:latin typeface="Constantia" pitchFamily="18" charset="0"/>
              </a:rPr>
              <a:t>1</a:t>
            </a:r>
            <a:r>
              <a:rPr lang="en-US" sz="1400" dirty="0">
                <a:solidFill>
                  <a:srgbClr val="FFFF00"/>
                </a:solidFill>
                <a:latin typeface="Constantia" pitchFamily="18" charset="0"/>
              </a:rPr>
              <a:t>Department of Computer Science</a:t>
            </a:r>
          </a:p>
          <a:p>
            <a:pPr algn="ctr" eaLnBrk="1" hangingPunct="1">
              <a:spcBef>
                <a:spcPct val="20000"/>
              </a:spcBef>
              <a:buClr>
                <a:srgbClr val="E7BC29"/>
              </a:buClr>
              <a:buSzPct val="95000"/>
              <a:buFont typeface="Wingdings 2" pitchFamily="18" charset="2"/>
              <a:buNone/>
            </a:pPr>
            <a:r>
              <a:rPr lang="en-US" sz="1400" dirty="0">
                <a:solidFill>
                  <a:srgbClr val="FFFF00"/>
                </a:solidFill>
                <a:latin typeface="Constantia" pitchFamily="18" charset="0"/>
              </a:rPr>
              <a:t>University of Alabama in Huntsville</a:t>
            </a:r>
          </a:p>
          <a:p>
            <a:pPr algn="ctr" eaLnBrk="1" hangingPunct="1">
              <a:spcBef>
                <a:spcPct val="20000"/>
              </a:spcBef>
              <a:buClr>
                <a:srgbClr val="E7BC29"/>
              </a:buClr>
              <a:buSzPct val="95000"/>
              <a:buFont typeface="Wingdings 2" pitchFamily="18" charset="2"/>
              <a:buNone/>
            </a:pPr>
            <a:r>
              <a:rPr lang="en-US" sz="1400" dirty="0">
                <a:solidFill>
                  <a:srgbClr val="FFFF00"/>
                </a:solidFill>
                <a:latin typeface="Constantia" pitchFamily="18" charset="0"/>
              </a:rPr>
              <a:t>Huntsville, AL, USA</a:t>
            </a:r>
          </a:p>
          <a:p>
            <a:pPr algn="ctr" eaLnBrk="1" hangingPunct="1">
              <a:spcBef>
                <a:spcPct val="20000"/>
              </a:spcBef>
              <a:buClr>
                <a:srgbClr val="E7BC29"/>
              </a:buClr>
              <a:buSzPct val="95000"/>
              <a:buFont typeface="Wingdings 2" pitchFamily="18" charset="2"/>
              <a:buNone/>
            </a:pPr>
            <a:r>
              <a:rPr lang="en-US" sz="1400" dirty="0">
                <a:solidFill>
                  <a:srgbClr val="FFFF00"/>
                </a:solidFill>
                <a:latin typeface="Constantia" pitchFamily="18" charset="0"/>
              </a:rPr>
              <a:t>{fzhu@cs.uah.edu, </a:t>
            </a:r>
            <a:r>
              <a:rPr lang="en-US" sz="1400" b="1" dirty="0" smtClean="0">
                <a:latin typeface="Constantia" pitchFamily="18" charset="0"/>
              </a:rPr>
              <a:t>akulkarni@itsc.uah.edu</a:t>
            </a:r>
            <a:r>
              <a:rPr lang="en-US" sz="1400" dirty="0" smtClean="0">
                <a:solidFill>
                  <a:srgbClr val="FFFF00"/>
                </a:solidFill>
                <a:latin typeface="Constantia" pitchFamily="18" charset="0"/>
              </a:rPr>
              <a:t>, </a:t>
            </a:r>
            <a:r>
              <a:rPr lang="en-US" sz="1400" dirty="0">
                <a:solidFill>
                  <a:srgbClr val="FFFF00"/>
                </a:solidFill>
                <a:latin typeface="Constantia" pitchFamily="18" charset="0"/>
              </a:rPr>
              <a:t>spk0006@cs.uah.edu} </a:t>
            </a:r>
          </a:p>
        </p:txBody>
      </p:sp>
      <p:sp>
        <p:nvSpPr>
          <p:cNvPr id="14340" name="Text Box 5"/>
          <p:cNvSpPr txBox="1">
            <a:spLocks noChangeArrowheads="1"/>
          </p:cNvSpPr>
          <p:nvPr/>
        </p:nvSpPr>
        <p:spPr bwMode="auto">
          <a:xfrm>
            <a:off x="2057400" y="1219200"/>
            <a:ext cx="49291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4000" b="1"/>
              <a:t>Reciprocity Attacks</a:t>
            </a:r>
          </a:p>
        </p:txBody>
      </p:sp>
      <p:sp>
        <p:nvSpPr>
          <p:cNvPr id="5" name="TextBox 4"/>
          <p:cNvSpPr txBox="1"/>
          <p:nvPr/>
        </p:nvSpPr>
        <p:spPr>
          <a:xfrm>
            <a:off x="1447800" y="2293938"/>
            <a:ext cx="6629400" cy="830262"/>
          </a:xfrm>
          <a:prstGeom prst="rect">
            <a:avLst/>
          </a:prstGeom>
          <a:noFill/>
        </p:spPr>
        <p:txBody>
          <a:bodyPr>
            <a:spAutoFit/>
          </a:bodyPr>
          <a:lstStyle/>
          <a:p>
            <a:pPr algn="ctr">
              <a:defRPr/>
            </a:pPr>
            <a:r>
              <a:rPr lang="en-US" sz="1600" dirty="0">
                <a:solidFill>
                  <a:schemeClr val="tx2">
                    <a:lumMod val="50000"/>
                  </a:schemeClr>
                </a:solidFill>
              </a:rPr>
              <a:t>Presented at “Symposium On Usable Privacy and Security 2011”, Carnegie Mellon University campus, Pittsburgh, PA</a:t>
            </a:r>
          </a:p>
          <a:p>
            <a:pPr algn="ctr">
              <a:defRPr/>
            </a:pPr>
            <a:endParaRPr lang="en-US" sz="1600" dirty="0">
              <a:solidFill>
                <a:schemeClr val="tx2">
                  <a:lumMod val="50000"/>
                </a:schemeClr>
              </a:solidFill>
            </a:endParaRPr>
          </a:p>
        </p:txBody>
      </p:sp>
      <p:sp>
        <p:nvSpPr>
          <p:cNvPr id="14342" name="Subtitle 2"/>
          <p:cNvSpPr txBox="1">
            <a:spLocks/>
          </p:cNvSpPr>
          <p:nvPr/>
        </p:nvSpPr>
        <p:spPr bwMode="auto">
          <a:xfrm>
            <a:off x="5181600" y="5562600"/>
            <a:ext cx="37401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18288"/>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20000"/>
              </a:spcBef>
              <a:buClr>
                <a:srgbClr val="E7BC29"/>
              </a:buClr>
              <a:buSzPct val="95000"/>
              <a:buFont typeface="Wingdings 2" pitchFamily="18" charset="2"/>
              <a:buNone/>
            </a:pPr>
            <a:r>
              <a:rPr lang="en-US" sz="1400" baseline="30000">
                <a:solidFill>
                  <a:srgbClr val="FFFF00"/>
                </a:solidFill>
                <a:latin typeface="Constantia" pitchFamily="18" charset="0"/>
              </a:rPr>
              <a:t>2</a:t>
            </a:r>
            <a:r>
              <a:rPr lang="en-US" sz="1400">
                <a:solidFill>
                  <a:srgbClr val="FFFF00"/>
                </a:solidFill>
                <a:latin typeface="Constantia" pitchFamily="18" charset="0"/>
              </a:rPr>
              <a:t>Department of Psychology</a:t>
            </a:r>
          </a:p>
          <a:p>
            <a:pPr algn="ctr" eaLnBrk="1" hangingPunct="1">
              <a:spcBef>
                <a:spcPct val="20000"/>
              </a:spcBef>
              <a:buClr>
                <a:srgbClr val="E7BC29"/>
              </a:buClr>
              <a:buSzPct val="95000"/>
              <a:buFont typeface="Wingdings 2" pitchFamily="18" charset="2"/>
              <a:buNone/>
            </a:pPr>
            <a:r>
              <a:rPr lang="en-US" sz="1400">
                <a:solidFill>
                  <a:srgbClr val="FFFF00"/>
                </a:solidFill>
                <a:latin typeface="Constantia" pitchFamily="18" charset="0"/>
              </a:rPr>
              <a:t>University of Alabama in Huntsville</a:t>
            </a:r>
          </a:p>
          <a:p>
            <a:pPr algn="ctr" eaLnBrk="1" hangingPunct="1">
              <a:spcBef>
                <a:spcPct val="20000"/>
              </a:spcBef>
              <a:buClr>
                <a:srgbClr val="E7BC29"/>
              </a:buClr>
              <a:buSzPct val="95000"/>
              <a:buFont typeface="Wingdings 2" pitchFamily="18" charset="2"/>
              <a:buNone/>
            </a:pPr>
            <a:r>
              <a:rPr lang="en-US" sz="1400">
                <a:solidFill>
                  <a:srgbClr val="FFFF00"/>
                </a:solidFill>
                <a:latin typeface="Constantia" pitchFamily="18" charset="0"/>
              </a:rPr>
              <a:t>Huntsville, AL, USA</a:t>
            </a:r>
          </a:p>
          <a:p>
            <a:pPr algn="ctr" eaLnBrk="1" hangingPunct="1">
              <a:spcBef>
                <a:spcPct val="20000"/>
              </a:spcBef>
              <a:buClr>
                <a:srgbClr val="E7BC29"/>
              </a:buClr>
              <a:buSzPct val="95000"/>
              <a:buFont typeface="Wingdings 2" pitchFamily="18" charset="2"/>
              <a:buNone/>
            </a:pPr>
            <a:r>
              <a:rPr lang="en-US" sz="1400">
                <a:solidFill>
                  <a:srgbClr val="FFFF00"/>
                </a:solidFill>
                <a:latin typeface="Constantia" pitchFamily="18" charset="0"/>
              </a:rPr>
              <a:t>carpens@uah.edu </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457200" y="704850"/>
            <a:ext cx="8229600" cy="742950"/>
          </a:xfrm>
        </p:spPr>
        <p:txBody>
          <a:bodyPr/>
          <a:lstStyle/>
          <a:p>
            <a:pPr eaLnBrk="1" hangingPunct="1"/>
            <a:r>
              <a:rPr lang="en-US" sz="4000" smtClean="0"/>
              <a:t>Outline</a:t>
            </a:r>
          </a:p>
        </p:txBody>
      </p:sp>
      <p:sp>
        <p:nvSpPr>
          <p:cNvPr id="15363" name="Content Placeholder 2"/>
          <p:cNvSpPr>
            <a:spLocks noGrp="1"/>
          </p:cNvSpPr>
          <p:nvPr>
            <p:ph idx="1"/>
          </p:nvPr>
        </p:nvSpPr>
        <p:spPr/>
        <p:txBody>
          <a:bodyPr/>
          <a:lstStyle/>
          <a:p>
            <a:pPr eaLnBrk="1" hangingPunct="1">
              <a:lnSpc>
                <a:spcPct val="80000"/>
              </a:lnSpc>
            </a:pPr>
            <a:r>
              <a:rPr lang="en-US" sz="2100" smtClean="0">
                <a:latin typeface="Arial" charset="0"/>
                <a:cs typeface="Arial" charset="0"/>
              </a:rPr>
              <a:t>Experiment’s Goals</a:t>
            </a:r>
          </a:p>
          <a:p>
            <a:pPr eaLnBrk="1" hangingPunct="1">
              <a:lnSpc>
                <a:spcPct val="80000"/>
              </a:lnSpc>
            </a:pPr>
            <a:r>
              <a:rPr lang="en-US" sz="2200" smtClean="0">
                <a:latin typeface="Arial" charset="0"/>
                <a:cs typeface="Arial" charset="0"/>
              </a:rPr>
              <a:t>Introduction to</a:t>
            </a:r>
          </a:p>
          <a:p>
            <a:pPr lvl="2" eaLnBrk="1" hangingPunct="1">
              <a:lnSpc>
                <a:spcPct val="80000"/>
              </a:lnSpc>
            </a:pPr>
            <a:r>
              <a:rPr lang="en-US" sz="1700" smtClean="0">
                <a:latin typeface="Arial" charset="0"/>
                <a:cs typeface="Arial" charset="0"/>
              </a:rPr>
              <a:t>Pervasive Computing Environment</a:t>
            </a:r>
          </a:p>
          <a:p>
            <a:pPr lvl="2" eaLnBrk="1" hangingPunct="1">
              <a:lnSpc>
                <a:spcPct val="80000"/>
              </a:lnSpc>
            </a:pPr>
            <a:r>
              <a:rPr lang="en-US" sz="1700" smtClean="0">
                <a:latin typeface="Arial" charset="0"/>
                <a:cs typeface="Arial" charset="0"/>
              </a:rPr>
              <a:t>Importance of Identity Elements </a:t>
            </a:r>
          </a:p>
          <a:p>
            <a:pPr lvl="2" eaLnBrk="1" hangingPunct="1">
              <a:lnSpc>
                <a:spcPct val="80000"/>
              </a:lnSpc>
            </a:pPr>
            <a:r>
              <a:rPr lang="en-US" sz="1600" smtClean="0">
                <a:latin typeface="Arial" charset="0"/>
                <a:cs typeface="Arial" charset="0"/>
              </a:rPr>
              <a:t>Norm of Reciprocity</a:t>
            </a:r>
            <a:endParaRPr lang="en-US" sz="1700" smtClean="0">
              <a:latin typeface="Arial" charset="0"/>
              <a:cs typeface="Arial" charset="0"/>
            </a:endParaRPr>
          </a:p>
          <a:p>
            <a:pPr eaLnBrk="1" hangingPunct="1">
              <a:lnSpc>
                <a:spcPct val="80000"/>
              </a:lnSpc>
            </a:pPr>
            <a:r>
              <a:rPr lang="en-US" sz="2200" smtClean="0">
                <a:latin typeface="Arial" charset="0"/>
                <a:cs typeface="Arial" charset="0"/>
              </a:rPr>
              <a:t>Reciprocity Attack</a:t>
            </a:r>
          </a:p>
          <a:p>
            <a:pPr eaLnBrk="1" hangingPunct="1">
              <a:lnSpc>
                <a:spcPct val="80000"/>
              </a:lnSpc>
            </a:pPr>
            <a:r>
              <a:rPr lang="en-US" sz="2100" smtClean="0">
                <a:latin typeface="Arial" charset="0"/>
                <a:cs typeface="Arial" charset="0"/>
              </a:rPr>
              <a:t>Experiment’s Details</a:t>
            </a:r>
          </a:p>
          <a:p>
            <a:pPr eaLnBrk="1" hangingPunct="1">
              <a:lnSpc>
                <a:spcPct val="80000"/>
              </a:lnSpc>
            </a:pPr>
            <a:r>
              <a:rPr lang="en-US" sz="2100" smtClean="0">
                <a:latin typeface="Arial" charset="0"/>
                <a:cs typeface="Arial" charset="0"/>
              </a:rPr>
              <a:t>Results and Lessons Learned</a:t>
            </a:r>
          </a:p>
          <a:p>
            <a:pPr eaLnBrk="1" hangingPunct="1">
              <a:lnSpc>
                <a:spcPct val="80000"/>
              </a:lnSpc>
            </a:pPr>
            <a:r>
              <a:rPr lang="en-US" sz="2100" smtClean="0">
                <a:latin typeface="Arial" charset="0"/>
                <a:cs typeface="Arial" charset="0"/>
              </a:rPr>
              <a:t>Conclusion and Future Work</a:t>
            </a:r>
          </a:p>
          <a:p>
            <a:pPr eaLnBrk="1" hangingPunct="1"/>
            <a:endParaRPr lang="en-US"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ChangeArrowheads="1"/>
          </p:cNvSpPr>
          <p:nvPr/>
        </p:nvSpPr>
        <p:spPr bwMode="auto">
          <a:xfrm>
            <a:off x="227013" y="1736725"/>
            <a:ext cx="2058987" cy="396875"/>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000" b="1">
                <a:latin typeface="Constantia" pitchFamily="18" charset="0"/>
              </a:rPr>
              <a:t>Understanding </a:t>
            </a:r>
          </a:p>
        </p:txBody>
      </p:sp>
      <p:sp>
        <p:nvSpPr>
          <p:cNvPr id="5" name="Rectangle 6"/>
          <p:cNvSpPr>
            <a:spLocks noChangeArrowheads="1"/>
          </p:cNvSpPr>
          <p:nvPr/>
        </p:nvSpPr>
        <p:spPr bwMode="auto">
          <a:xfrm>
            <a:off x="1219200" y="2549525"/>
            <a:ext cx="2352675" cy="422275"/>
          </a:xfrm>
          <a:prstGeom prst="rect">
            <a:avLst/>
          </a:prstGeom>
          <a:ln/>
          <a:extLst/>
        </p:spPr>
        <p:style>
          <a:lnRef idx="2">
            <a:schemeClr val="accent4"/>
          </a:lnRef>
          <a:fillRef idx="1">
            <a:schemeClr val="lt1"/>
          </a:fillRef>
          <a:effectRef idx="0">
            <a:schemeClr val="accent4"/>
          </a:effectRef>
          <a:fontRef idx="minor">
            <a:schemeClr val="dk1"/>
          </a:fontRef>
        </p:style>
        <p:txBody>
          <a:bodyPr wrap="none">
            <a:spAutoFit/>
          </a:bodyPr>
          <a:lstStyle/>
          <a:p>
            <a:pPr fontAlgn="auto">
              <a:spcBef>
                <a:spcPts val="0"/>
              </a:spcBef>
              <a:spcAft>
                <a:spcPts val="0"/>
              </a:spcAft>
              <a:defRPr/>
            </a:pPr>
            <a:r>
              <a:rPr lang="en-US" sz="2000" b="1" dirty="0"/>
              <a:t>Identity Exposure</a:t>
            </a:r>
          </a:p>
        </p:txBody>
      </p:sp>
      <p:sp>
        <p:nvSpPr>
          <p:cNvPr id="6" name="Rectangle 7"/>
          <p:cNvSpPr>
            <a:spLocks noChangeArrowheads="1"/>
          </p:cNvSpPr>
          <p:nvPr/>
        </p:nvSpPr>
        <p:spPr bwMode="auto">
          <a:xfrm>
            <a:off x="1123950" y="3921125"/>
            <a:ext cx="2546350" cy="422275"/>
          </a:xfrm>
          <a:prstGeom prst="rect">
            <a:avLst/>
          </a:prstGeom>
          <a:ln/>
          <a:extLst/>
        </p:spPr>
        <p:style>
          <a:lnRef idx="2">
            <a:schemeClr val="accent2"/>
          </a:lnRef>
          <a:fillRef idx="1">
            <a:schemeClr val="lt1"/>
          </a:fillRef>
          <a:effectRef idx="0">
            <a:schemeClr val="accent2"/>
          </a:effectRef>
          <a:fontRef idx="minor">
            <a:schemeClr val="dk1"/>
          </a:fontRef>
        </p:style>
        <p:txBody>
          <a:bodyPr wrap="none">
            <a:spAutoFit/>
          </a:bodyPr>
          <a:lstStyle/>
          <a:p>
            <a:pPr fontAlgn="auto">
              <a:spcBef>
                <a:spcPts val="0"/>
              </a:spcBef>
              <a:spcAft>
                <a:spcPts val="0"/>
              </a:spcAft>
              <a:defRPr/>
            </a:pPr>
            <a:r>
              <a:rPr lang="en-US" sz="2000" b="1"/>
              <a:t>Reciprocity Attacks</a:t>
            </a:r>
          </a:p>
        </p:txBody>
      </p:sp>
      <p:sp>
        <p:nvSpPr>
          <p:cNvPr id="14" name="Text Box 26"/>
          <p:cNvSpPr txBox="1">
            <a:spLocks noChangeArrowheads="1"/>
          </p:cNvSpPr>
          <p:nvPr/>
        </p:nvSpPr>
        <p:spPr bwMode="auto">
          <a:xfrm>
            <a:off x="4191000" y="3732213"/>
            <a:ext cx="4724400" cy="915987"/>
          </a:xfrm>
          <a:prstGeom prst="rect">
            <a:avLst/>
          </a:prstGeom>
          <a:noFill/>
          <a:ln w="9525">
            <a:noFill/>
            <a:miter lim="800000"/>
            <a:headEnd/>
            <a:tailEnd/>
          </a:ln>
        </p:spPr>
        <p:txBody>
          <a:bodyPr>
            <a:spAutoFit/>
          </a:bodyPr>
          <a:lstStyle/>
          <a:p>
            <a:pPr>
              <a:buFontTx/>
              <a:buChar char="•"/>
              <a:defRPr/>
            </a:pPr>
            <a:r>
              <a:rPr lang="en-US" dirty="0">
                <a:latin typeface="+mj-lt"/>
              </a:rPr>
              <a:t>69 students participated in the reciprocity lab experiment.</a:t>
            </a:r>
          </a:p>
          <a:p>
            <a:pPr>
              <a:buFontTx/>
              <a:buChar char="•"/>
              <a:defRPr/>
            </a:pPr>
            <a:r>
              <a:rPr lang="en-US" dirty="0">
                <a:latin typeface="+mj-lt"/>
              </a:rPr>
              <a:t>78 students participated in the pilot studies.</a:t>
            </a:r>
          </a:p>
        </p:txBody>
      </p:sp>
      <p:sp>
        <p:nvSpPr>
          <p:cNvPr id="16390" name="Text Box 27"/>
          <p:cNvSpPr txBox="1">
            <a:spLocks noChangeArrowheads="1"/>
          </p:cNvSpPr>
          <p:nvPr/>
        </p:nvSpPr>
        <p:spPr bwMode="auto">
          <a:xfrm>
            <a:off x="5029200" y="5334000"/>
            <a:ext cx="1524000" cy="106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buFont typeface="Wingdings" pitchFamily="2" charset="2"/>
              <a:buNone/>
            </a:pPr>
            <a:r>
              <a:rPr lang="en-US" sz="2800" b="1">
                <a:solidFill>
                  <a:srgbClr val="FF0000"/>
                </a:solidFill>
                <a:latin typeface="Constantia" pitchFamily="18" charset="0"/>
              </a:rPr>
              <a:t>&gt;375</a:t>
            </a:r>
            <a:r>
              <a:rPr lang="en-US">
                <a:latin typeface="Constantia" pitchFamily="18" charset="0"/>
              </a:rPr>
              <a:t> </a:t>
            </a:r>
          </a:p>
          <a:p>
            <a:pPr eaLnBrk="1" hangingPunct="1">
              <a:buFont typeface="Wingdings" pitchFamily="2" charset="2"/>
              <a:buNone/>
            </a:pPr>
            <a:r>
              <a:rPr lang="en-US">
                <a:latin typeface="Constantia" pitchFamily="18" charset="0"/>
              </a:rPr>
              <a:t>students</a:t>
            </a:r>
          </a:p>
          <a:p>
            <a:pPr eaLnBrk="1" hangingPunct="1"/>
            <a:r>
              <a:rPr lang="en-US">
                <a:latin typeface="Constantia" pitchFamily="18" charset="0"/>
              </a:rPr>
              <a:t>participated</a:t>
            </a:r>
          </a:p>
        </p:txBody>
      </p:sp>
      <p:sp>
        <p:nvSpPr>
          <p:cNvPr id="133127" name="Rectangle 7"/>
          <p:cNvSpPr>
            <a:spLocks noChangeArrowheads="1"/>
          </p:cNvSpPr>
          <p:nvPr/>
        </p:nvSpPr>
        <p:spPr bwMode="auto">
          <a:xfrm>
            <a:off x="3810000" y="2514600"/>
            <a:ext cx="5181600" cy="646113"/>
          </a:xfrm>
          <a:prstGeom prst="rect">
            <a:avLst/>
          </a:prstGeom>
          <a:noFill/>
          <a:ln w="9525">
            <a:noFill/>
            <a:miter lim="800000"/>
            <a:headEnd/>
            <a:tailEnd/>
          </a:ln>
          <a:effectLst/>
        </p:spPr>
        <p:txBody>
          <a:bodyPr>
            <a:spAutoFit/>
          </a:bodyPr>
          <a:lstStyle/>
          <a:p>
            <a:pPr algn="ctr">
              <a:buFont typeface="Arial" pitchFamily="34" charset="0"/>
              <a:buChar char="•"/>
              <a:defRPr/>
            </a:pPr>
            <a:r>
              <a:rPr lang="en-US" dirty="0">
                <a:latin typeface="+mj-lt"/>
              </a:rPr>
              <a:t>229 students participated in an online survey.</a:t>
            </a:r>
          </a:p>
          <a:p>
            <a:pPr>
              <a:defRPr/>
            </a:pPr>
            <a:endParaRPr lang="en-US" dirty="0">
              <a:latin typeface="+mj-lt"/>
            </a:endParaRPr>
          </a:p>
        </p:txBody>
      </p:sp>
      <p:sp>
        <p:nvSpPr>
          <p:cNvPr id="16392" name="Rectangle 5"/>
          <p:cNvSpPr>
            <a:spLocks noChangeArrowheads="1"/>
          </p:cNvSpPr>
          <p:nvPr/>
        </p:nvSpPr>
        <p:spPr bwMode="auto">
          <a:xfrm>
            <a:off x="304800" y="3184525"/>
            <a:ext cx="1203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000" b="1">
                <a:latin typeface="Constantia" pitchFamily="18" charset="0"/>
              </a:rPr>
              <a:t>Identify </a:t>
            </a:r>
          </a:p>
        </p:txBody>
      </p:sp>
      <p:cxnSp>
        <p:nvCxnSpPr>
          <p:cNvPr id="16393" name="AutoShape 9"/>
          <p:cNvCxnSpPr>
            <a:cxnSpLocks noChangeShapeType="1"/>
            <a:stCxn id="16386" idx="3"/>
            <a:endCxn id="5" idx="0"/>
          </p:cNvCxnSpPr>
          <p:nvPr/>
        </p:nvCxnSpPr>
        <p:spPr bwMode="auto">
          <a:xfrm>
            <a:off x="2286000" y="1935163"/>
            <a:ext cx="109538" cy="614362"/>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6394" name="AutoShape 10"/>
          <p:cNvCxnSpPr>
            <a:cxnSpLocks noChangeShapeType="1"/>
            <a:stCxn id="16392" idx="3"/>
            <a:endCxn id="6" idx="0"/>
          </p:cNvCxnSpPr>
          <p:nvPr/>
        </p:nvCxnSpPr>
        <p:spPr bwMode="auto">
          <a:xfrm>
            <a:off x="1508125" y="3382963"/>
            <a:ext cx="889000" cy="538162"/>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6395" name="AutoShape 12"/>
          <p:cNvCxnSpPr>
            <a:cxnSpLocks noChangeShapeType="1"/>
            <a:stCxn id="5" idx="2"/>
            <a:endCxn id="6" idx="0"/>
          </p:cNvCxnSpPr>
          <p:nvPr/>
        </p:nvCxnSpPr>
        <p:spPr bwMode="auto">
          <a:xfrm rot="16200000" flipH="1">
            <a:off x="1921669" y="3445669"/>
            <a:ext cx="949325" cy="1587"/>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6396" name="Title 1"/>
          <p:cNvSpPr>
            <a:spLocks/>
          </p:cNvSpPr>
          <p:nvPr/>
        </p:nvSpPr>
        <p:spPr bwMode="auto">
          <a:xfrm>
            <a:off x="381000" y="228600"/>
            <a:ext cx="822960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bIns="0" anchor="b"/>
          <a:lstStyle/>
          <a:p>
            <a:r>
              <a:rPr lang="en-US" sz="4000">
                <a:solidFill>
                  <a:schemeClr val="tx2"/>
                </a:solidFill>
                <a:latin typeface="Calibri" pitchFamily="34" charset="0"/>
              </a:rPr>
              <a:t>Experiment’s Goals</a:t>
            </a:r>
          </a:p>
        </p:txBody>
      </p:sp>
      <p:graphicFrame>
        <p:nvGraphicFramePr>
          <p:cNvPr id="21" name="Diagram 20"/>
          <p:cNvGraphicFramePr/>
          <p:nvPr/>
        </p:nvGraphicFramePr>
        <p:xfrm>
          <a:off x="381000" y="5418393"/>
          <a:ext cx="4267200" cy="7538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36" name="Straight Arrow Connector 35"/>
          <p:cNvCxnSpPr>
            <a:stCxn id="6" idx="2"/>
          </p:cNvCxnSpPr>
          <p:nvPr/>
        </p:nvCxnSpPr>
        <p:spPr>
          <a:xfrm rot="5400000">
            <a:off x="1747838" y="4991100"/>
            <a:ext cx="1296988" cy="15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 name="TextBox 2"/>
          <p:cNvSpPr txBox="1"/>
          <p:nvPr/>
        </p:nvSpPr>
        <p:spPr>
          <a:xfrm>
            <a:off x="2604302" y="4935735"/>
            <a:ext cx="2024913" cy="307777"/>
          </a:xfrm>
          <a:prstGeom prst="rect">
            <a:avLst/>
          </a:prstGeom>
          <a:solidFill>
            <a:schemeClr val="bg2">
              <a:lumMod val="90000"/>
            </a:schemeClr>
          </a:solidFill>
        </p:spPr>
        <p:txBody>
          <a:bodyPr wrap="none" rtlCol="0">
            <a:spAutoFit/>
          </a:bodyPr>
          <a:lstStyle/>
          <a:p>
            <a:r>
              <a:rPr lang="en-US" sz="1400" dirty="0"/>
              <a:t>t</a:t>
            </a:r>
            <a:r>
              <a:rPr lang="en-US" sz="1400" dirty="0" smtClean="0"/>
              <a:t>o get identity elements</a:t>
            </a:r>
            <a:endParaRPr lang="en-US" sz="1400" dirty="0"/>
          </a:p>
        </p:txBody>
      </p:sp>
      <p:sp>
        <p:nvSpPr>
          <p:cNvPr id="2" name="Freeform 1"/>
          <p:cNvSpPr/>
          <p:nvPr/>
        </p:nvSpPr>
        <p:spPr>
          <a:xfrm>
            <a:off x="2786063" y="4414838"/>
            <a:ext cx="933943" cy="564973"/>
          </a:xfrm>
          <a:custGeom>
            <a:avLst/>
            <a:gdLst>
              <a:gd name="connsiteX0" fmla="*/ 885825 w 933943"/>
              <a:gd name="connsiteY0" fmla="*/ 0 h 564973"/>
              <a:gd name="connsiteX1" fmla="*/ 885825 w 933943"/>
              <a:gd name="connsiteY1" fmla="*/ 542925 h 564973"/>
              <a:gd name="connsiteX2" fmla="*/ 385762 w 933943"/>
              <a:gd name="connsiteY2" fmla="*/ 414337 h 564973"/>
              <a:gd name="connsiteX3" fmla="*/ 0 w 933943"/>
              <a:gd name="connsiteY3" fmla="*/ 0 h 564973"/>
            </a:gdLst>
            <a:ahLst/>
            <a:cxnLst>
              <a:cxn ang="0">
                <a:pos x="connsiteX0" y="connsiteY0"/>
              </a:cxn>
              <a:cxn ang="0">
                <a:pos x="connsiteX1" y="connsiteY1"/>
              </a:cxn>
              <a:cxn ang="0">
                <a:pos x="connsiteX2" y="connsiteY2"/>
              </a:cxn>
              <a:cxn ang="0">
                <a:pos x="connsiteX3" y="connsiteY3"/>
              </a:cxn>
            </a:cxnLst>
            <a:rect l="l" t="t" r="r" b="b"/>
            <a:pathLst>
              <a:path w="933943" h="564973">
                <a:moveTo>
                  <a:pt x="885825" y="0"/>
                </a:moveTo>
                <a:cubicBezTo>
                  <a:pt x="927497" y="236934"/>
                  <a:pt x="969169" y="473869"/>
                  <a:pt x="885825" y="542925"/>
                </a:cubicBezTo>
                <a:cubicBezTo>
                  <a:pt x="802481" y="611981"/>
                  <a:pt x="533399" y="504824"/>
                  <a:pt x="385762" y="414337"/>
                </a:cubicBezTo>
                <a:cubicBezTo>
                  <a:pt x="238125" y="323850"/>
                  <a:pt x="119062" y="161925"/>
                  <a:pt x="0" y="0"/>
                </a:cubicBezTo>
              </a:path>
            </a:pathLst>
          </a:custGeom>
          <a:ln>
            <a:solidFill>
              <a:srgbClr val="FF0000"/>
            </a:solidFill>
            <a:tailEnd type="triangle"/>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le 1"/>
          <p:cNvSpPr>
            <a:spLocks noGrp="1"/>
          </p:cNvSpPr>
          <p:nvPr>
            <p:ph type="title"/>
          </p:nvPr>
        </p:nvSpPr>
        <p:spPr>
          <a:xfrm>
            <a:off x="457200" y="704850"/>
            <a:ext cx="8229600" cy="819150"/>
          </a:xfrm>
        </p:spPr>
        <p:txBody>
          <a:bodyPr/>
          <a:lstStyle/>
          <a:p>
            <a:pPr eaLnBrk="1" hangingPunct="1"/>
            <a:r>
              <a:rPr lang="en-US" sz="4000" smtClean="0">
                <a:cs typeface="Arial" charset="0"/>
              </a:rPr>
              <a:t>Pervasive Computing Environment</a:t>
            </a:r>
            <a:endParaRPr lang="en-US" sz="4000" smtClean="0"/>
          </a:p>
        </p:txBody>
      </p:sp>
      <p:sp>
        <p:nvSpPr>
          <p:cNvPr id="1028" name="Content Placeholder 2"/>
          <p:cNvSpPr>
            <a:spLocks noGrp="1"/>
          </p:cNvSpPr>
          <p:nvPr>
            <p:ph idx="1"/>
          </p:nvPr>
        </p:nvSpPr>
        <p:spPr>
          <a:xfrm>
            <a:off x="533400" y="1905000"/>
            <a:ext cx="8229600" cy="1295400"/>
          </a:xfrm>
        </p:spPr>
        <p:txBody>
          <a:bodyPr/>
          <a:lstStyle/>
          <a:p>
            <a:pPr eaLnBrk="1" hangingPunct="1"/>
            <a:r>
              <a:rPr lang="en-US" sz="2000" smtClean="0">
                <a:cs typeface="Arial" charset="0"/>
              </a:rPr>
              <a:t>Pervasive Computing Environment integrates </a:t>
            </a:r>
            <a:r>
              <a:rPr lang="en-US" sz="2000" b="1" smtClean="0">
                <a:solidFill>
                  <a:srgbClr val="0070C0"/>
                </a:solidFill>
                <a:cs typeface="Arial" charset="0"/>
              </a:rPr>
              <a:t>networked computing devices</a:t>
            </a:r>
            <a:r>
              <a:rPr lang="en-US" sz="2000" smtClean="0">
                <a:solidFill>
                  <a:srgbClr val="002060"/>
                </a:solidFill>
                <a:cs typeface="Arial" charset="0"/>
              </a:rPr>
              <a:t> </a:t>
            </a:r>
            <a:r>
              <a:rPr lang="en-US" sz="2000" smtClean="0">
                <a:cs typeface="Arial" charset="0"/>
              </a:rPr>
              <a:t>with </a:t>
            </a:r>
            <a:r>
              <a:rPr lang="en-US" sz="2000" b="1" smtClean="0">
                <a:solidFill>
                  <a:srgbClr val="0070C0"/>
                </a:solidFill>
                <a:cs typeface="Arial" charset="0"/>
              </a:rPr>
              <a:t>people</a:t>
            </a:r>
            <a:r>
              <a:rPr lang="en-US" sz="2000" smtClean="0">
                <a:cs typeface="Arial" charset="0"/>
              </a:rPr>
              <a:t> and their ambient environments enabling the device and the service to communicate with each other. </a:t>
            </a:r>
          </a:p>
          <a:p>
            <a:pPr eaLnBrk="1" hangingPunct="1"/>
            <a:endParaRPr lang="en-US" sz="2000" smtClean="0"/>
          </a:p>
        </p:txBody>
      </p:sp>
      <p:grpSp>
        <p:nvGrpSpPr>
          <p:cNvPr id="1029" name="Group 33"/>
          <p:cNvGrpSpPr>
            <a:grpSpLocks/>
          </p:cNvGrpSpPr>
          <p:nvPr/>
        </p:nvGrpSpPr>
        <p:grpSpPr bwMode="auto">
          <a:xfrm>
            <a:off x="533400" y="3028950"/>
            <a:ext cx="5146675" cy="3752850"/>
            <a:chOff x="533400" y="3029263"/>
            <a:chExt cx="5146675" cy="3752537"/>
          </a:xfrm>
        </p:grpSpPr>
        <p:pic>
          <p:nvPicPr>
            <p:cNvPr id="1031" name="Picture 2" descr="Nao humanoid robo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8600" y="3029263"/>
              <a:ext cx="606681" cy="85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2" name="Group 10"/>
            <p:cNvGrpSpPr>
              <a:grpSpLocks/>
            </p:cNvGrpSpPr>
            <p:nvPr/>
          </p:nvGrpSpPr>
          <p:grpSpPr bwMode="auto">
            <a:xfrm>
              <a:off x="533400" y="3200400"/>
              <a:ext cx="5146675" cy="3581400"/>
              <a:chOff x="1654175" y="1676400"/>
              <a:chExt cx="6464300" cy="5029200"/>
            </a:xfrm>
          </p:grpSpPr>
          <p:pic>
            <p:nvPicPr>
              <p:cNvPr id="1033"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92575" y="3505200"/>
                <a:ext cx="99695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71650" y="2438400"/>
                <a:ext cx="419100"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Text Box 7"/>
              <p:cNvSpPr txBox="1">
                <a:spLocks noChangeArrowheads="1"/>
              </p:cNvSpPr>
              <p:nvPr/>
            </p:nvSpPr>
            <p:spPr bwMode="auto">
              <a:xfrm>
                <a:off x="1730375" y="3092450"/>
                <a:ext cx="860425" cy="561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000" b="1"/>
                  <a:t>Flood Sensors</a:t>
                </a:r>
              </a:p>
            </p:txBody>
          </p:sp>
          <p:pic>
            <p:nvPicPr>
              <p:cNvPr id="1036"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28925" y="1905000"/>
                <a:ext cx="430213"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7" name="Text Box 10"/>
              <p:cNvSpPr txBox="1">
                <a:spLocks noChangeArrowheads="1"/>
              </p:cNvSpPr>
              <p:nvPr/>
            </p:nvSpPr>
            <p:spPr bwMode="auto">
              <a:xfrm>
                <a:off x="2667000" y="2514600"/>
                <a:ext cx="1454075" cy="345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000" b="1"/>
                  <a:t>Smoke Detector</a:t>
                </a:r>
              </a:p>
            </p:txBody>
          </p:sp>
          <p:pic>
            <p:nvPicPr>
              <p:cNvPr id="1038" name="Picture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54175" y="3810000"/>
                <a:ext cx="465138"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9" name="Text Box 13"/>
              <p:cNvSpPr txBox="1">
                <a:spLocks noChangeArrowheads="1"/>
              </p:cNvSpPr>
              <p:nvPr/>
            </p:nvSpPr>
            <p:spPr bwMode="auto">
              <a:xfrm>
                <a:off x="1684338" y="4768850"/>
                <a:ext cx="830262" cy="561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000" b="1"/>
                  <a:t>Mobile Devices</a:t>
                </a:r>
              </a:p>
            </p:txBody>
          </p:sp>
          <p:pic>
            <p:nvPicPr>
              <p:cNvPr id="1040" name="Picture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46338" y="5334000"/>
                <a:ext cx="533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1" name="Text Box 16"/>
              <p:cNvSpPr txBox="1">
                <a:spLocks noChangeArrowheads="1"/>
              </p:cNvSpPr>
              <p:nvPr/>
            </p:nvSpPr>
            <p:spPr bwMode="auto">
              <a:xfrm>
                <a:off x="2339975" y="6027738"/>
                <a:ext cx="1592999" cy="345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000" b="1"/>
                  <a:t>Pressure Sensors</a:t>
                </a:r>
              </a:p>
            </p:txBody>
          </p:sp>
          <p:pic>
            <p:nvPicPr>
              <p:cNvPr id="1042" name="Picture 20"/>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251325" y="1676400"/>
                <a:ext cx="58261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 Box 21"/>
              <p:cNvSpPr txBox="1">
                <a:spLocks noChangeArrowheads="1"/>
              </p:cNvSpPr>
              <p:nvPr/>
            </p:nvSpPr>
            <p:spPr bwMode="auto">
              <a:xfrm>
                <a:off x="4092744" y="2428017"/>
                <a:ext cx="1333934" cy="367796"/>
              </a:xfrm>
              <a:prstGeom prst="rect">
                <a:avLst/>
              </a:prstGeom>
              <a:noFill/>
              <a:ln w="9525">
                <a:noFill/>
                <a:miter lim="800000"/>
                <a:headEnd/>
                <a:tailEnd/>
              </a:ln>
            </p:spPr>
            <p:txBody>
              <a:bodyPr wrap="none">
                <a:spAutoFit/>
              </a:bodyPr>
              <a:lstStyle/>
              <a:p>
                <a:pPr>
                  <a:defRPr/>
                </a:pPr>
                <a:r>
                  <a:rPr lang="en-US" sz="1050" b="1" dirty="0"/>
                  <a:t>Gas Detector</a:t>
                </a:r>
              </a:p>
            </p:txBody>
          </p:sp>
          <p:pic>
            <p:nvPicPr>
              <p:cNvPr id="1044" name="Picture 27"/>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781800" y="2667000"/>
                <a:ext cx="1336675" cy="1331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5" name="Picture 3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29200" y="5410200"/>
                <a:ext cx="98425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6" name="Picture 3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629400" y="4572000"/>
                <a:ext cx="936625" cy="130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Lightning Bolt 25"/>
              <p:cNvSpPr/>
              <p:nvPr/>
            </p:nvSpPr>
            <p:spPr>
              <a:xfrm rot="9089512">
                <a:off x="3305144" y="3105654"/>
                <a:ext cx="400779" cy="633056"/>
              </a:xfrm>
              <a:prstGeom prst="lightningBol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Arial" pitchFamily="34" charset="0"/>
                  <a:cs typeface="Arial" pitchFamily="34" charset="0"/>
                </a:endParaRPr>
              </a:p>
            </p:txBody>
          </p:sp>
          <p:sp>
            <p:nvSpPr>
              <p:cNvPr id="27" name="Lightning Bolt 26"/>
              <p:cNvSpPr/>
              <p:nvPr/>
            </p:nvSpPr>
            <p:spPr>
              <a:xfrm rot="5225464">
                <a:off x="3456455" y="4320987"/>
                <a:ext cx="401232" cy="632074"/>
              </a:xfrm>
              <a:prstGeom prst="lightningBol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Arial" pitchFamily="34" charset="0"/>
                  <a:cs typeface="Arial" pitchFamily="34" charset="0"/>
                </a:endParaRPr>
              </a:p>
            </p:txBody>
          </p:sp>
          <p:sp>
            <p:nvSpPr>
              <p:cNvPr id="28" name="Lightning Bolt 27"/>
              <p:cNvSpPr/>
              <p:nvPr/>
            </p:nvSpPr>
            <p:spPr>
              <a:xfrm rot="12618719">
                <a:off x="4447662" y="2800271"/>
                <a:ext cx="402773" cy="633056"/>
              </a:xfrm>
              <a:prstGeom prst="lightningBol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Arial" pitchFamily="34" charset="0"/>
                  <a:cs typeface="Arial" pitchFamily="34" charset="0"/>
                </a:endParaRPr>
              </a:p>
            </p:txBody>
          </p:sp>
          <p:sp>
            <p:nvSpPr>
              <p:cNvPr id="29" name="Lightning Bolt 28"/>
              <p:cNvSpPr/>
              <p:nvPr/>
            </p:nvSpPr>
            <p:spPr>
              <a:xfrm rot="15077970">
                <a:off x="5549957" y="3099574"/>
                <a:ext cx="403462" cy="634068"/>
              </a:xfrm>
              <a:prstGeom prst="lightningBol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Arial" pitchFamily="34" charset="0"/>
                  <a:cs typeface="Arial" pitchFamily="34" charset="0"/>
                </a:endParaRPr>
              </a:p>
            </p:txBody>
          </p:sp>
          <p:sp>
            <p:nvSpPr>
              <p:cNvPr id="30" name="Lightning Bolt 29"/>
              <p:cNvSpPr/>
              <p:nvPr/>
            </p:nvSpPr>
            <p:spPr>
              <a:xfrm rot="367077">
                <a:off x="4758715" y="4668231"/>
                <a:ext cx="400778" cy="633056"/>
              </a:xfrm>
              <a:prstGeom prst="lightningBol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Arial" pitchFamily="34" charset="0"/>
                  <a:cs typeface="Arial" pitchFamily="34" charset="0"/>
                </a:endParaRPr>
              </a:p>
            </p:txBody>
          </p:sp>
          <p:sp>
            <p:nvSpPr>
              <p:cNvPr id="31" name="Lightning Bolt 30"/>
              <p:cNvSpPr/>
              <p:nvPr/>
            </p:nvSpPr>
            <p:spPr>
              <a:xfrm rot="19786799">
                <a:off x="5412721" y="4095361"/>
                <a:ext cx="400778" cy="633056"/>
              </a:xfrm>
              <a:prstGeom prst="lightningBol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Arial" pitchFamily="34" charset="0"/>
                  <a:cs typeface="Arial" pitchFamily="34" charset="0"/>
                </a:endParaRPr>
              </a:p>
            </p:txBody>
          </p:sp>
          <p:sp>
            <p:nvSpPr>
              <p:cNvPr id="1053" name="TextBox 40"/>
              <p:cNvSpPr txBox="1">
                <a:spLocks noChangeArrowheads="1"/>
              </p:cNvSpPr>
              <p:nvPr/>
            </p:nvSpPr>
            <p:spPr bwMode="auto">
              <a:xfrm>
                <a:off x="5857874" y="2590801"/>
                <a:ext cx="1099718" cy="367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100" b="1"/>
                  <a:t>Humanoid</a:t>
                </a:r>
              </a:p>
            </p:txBody>
          </p:sp>
          <p:sp>
            <p:nvSpPr>
              <p:cNvPr id="1054" name="TextBox 41"/>
              <p:cNvSpPr txBox="1">
                <a:spLocks noChangeArrowheads="1"/>
              </p:cNvSpPr>
              <p:nvPr/>
            </p:nvSpPr>
            <p:spPr bwMode="auto">
              <a:xfrm>
                <a:off x="7086600" y="3962400"/>
                <a:ext cx="801734" cy="367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100" b="1"/>
                  <a:t>Printer</a:t>
                </a:r>
              </a:p>
            </p:txBody>
          </p:sp>
        </p:grpSp>
      </p:grpSp>
      <p:sp>
        <p:nvSpPr>
          <p:cNvPr id="1030" name="Rectangle 34"/>
          <p:cNvSpPr>
            <a:spLocks noChangeArrowheads="1"/>
          </p:cNvSpPr>
          <p:nvPr/>
        </p:nvSpPr>
        <p:spPr bwMode="auto">
          <a:xfrm>
            <a:off x="6477000" y="4648200"/>
            <a:ext cx="1981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1400"/>
              <a:t>Microsoft’s Vision for 2019 Video (2 Min)</a:t>
            </a:r>
          </a:p>
        </p:txBody>
      </p:sp>
    </p:spTree>
    <p:controls>
      <mc:AlternateContent xmlns:mc="http://schemas.openxmlformats.org/markup-compatibility/2006">
        <mc:Choice xmlns:v="urn:schemas-microsoft-com:vml" Requires="v">
          <p:control spid="1032" name="WindowsMediaPlayer2" r:id="rId2" imgW="2285714" imgH="1523810"/>
        </mc:Choice>
        <mc:Fallback>
          <p:control name="WindowsMediaPlayer2" r:id="rId2" imgW="2285714" imgH="1523810">
            <p:pic>
              <p:nvPicPr>
                <p:cNvPr id="0" name="WindowsMediaPlayer2"/>
                <p:cNvPicPr preferRelativeResize="0">
                  <a:picLocks noChangeArrowheads="1" noChangeShapeType="1"/>
                </p:cNvPicPr>
                <p:nvPr/>
              </p:nvPicPr>
              <p:blipFill>
                <a:blip r:embed="rId14">
                  <a:extLst>
                    <a:ext uri="{28A0092B-C50C-407E-A947-70E740481C1C}">
                      <a14:useLocalDpi xmlns:a14="http://schemas.microsoft.com/office/drawing/2010/main" val="0"/>
                    </a:ext>
                  </a:extLst>
                </a:blip>
                <a:srcRect/>
                <a:stretch>
                  <a:fillRect/>
                </a:stretch>
              </p:blipFill>
              <p:spPr bwMode="auto">
                <a:xfrm>
                  <a:off x="6324600" y="3048000"/>
                  <a:ext cx="2286000" cy="1524000"/>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itle 1"/>
          <p:cNvSpPr>
            <a:spLocks noGrp="1"/>
          </p:cNvSpPr>
          <p:nvPr>
            <p:ph type="title"/>
          </p:nvPr>
        </p:nvSpPr>
        <p:spPr>
          <a:xfrm>
            <a:off x="457200" y="704850"/>
            <a:ext cx="8229600" cy="819150"/>
          </a:xfrm>
        </p:spPr>
        <p:txBody>
          <a:bodyPr/>
          <a:lstStyle/>
          <a:p>
            <a:pPr eaLnBrk="1" hangingPunct="1"/>
            <a:endParaRPr lang="en-US" sz="4000" smtClean="0"/>
          </a:p>
        </p:txBody>
      </p:sp>
      <p:pic>
        <p:nvPicPr>
          <p:cNvPr id="2052" name="Picture 4" descr="Nao in dailymai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 y="914400"/>
            <a:ext cx="8077200" cy="560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ontrols>
      <mc:AlternateContent xmlns:mc="http://schemas.openxmlformats.org/markup-compatibility/2006">
        <mc:Choice xmlns:v="urn:schemas-microsoft-com:vml" Requires="v">
          <p:control spid="2056" name="WindowsMediaPlayer1" r:id="rId2" imgW="2285714" imgH="1523810"/>
        </mc:Choice>
        <mc:Fallback>
          <p:control name="WindowsMediaPlayer1" r:id="rId2" imgW="2285714" imgH="1523810">
            <p:pic>
              <p:nvPicPr>
                <p:cNvPr id="0" name="WindowsMediaPlayer1"/>
                <p:cNvPicPr preferRelativeResize="0">
                  <a:picLocks noChangeArrowheads="1" noChangeShapeType="1"/>
                </p:cNvPicPr>
                <p:nvPr/>
              </p:nvPicPr>
              <p:blipFill>
                <a:blip r:embed="rId5">
                  <a:extLst>
                    <a:ext uri="{28A0092B-C50C-407E-A947-70E740481C1C}">
                      <a14:useLocalDpi xmlns:a14="http://schemas.microsoft.com/office/drawing/2010/main" val="0"/>
                    </a:ext>
                  </a:extLst>
                </a:blip>
                <a:srcRect/>
                <a:stretch>
                  <a:fillRect/>
                </a:stretch>
              </p:blipFill>
              <p:spPr bwMode="auto">
                <a:xfrm>
                  <a:off x="5715000" y="2590800"/>
                  <a:ext cx="2362200" cy="1524000"/>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457200" y="704850"/>
            <a:ext cx="8229600" cy="819150"/>
          </a:xfrm>
        </p:spPr>
        <p:txBody>
          <a:bodyPr/>
          <a:lstStyle/>
          <a:p>
            <a:pPr eaLnBrk="1" hangingPunct="1"/>
            <a:r>
              <a:rPr lang="en-US" sz="4000" smtClean="0">
                <a:cs typeface="Arial" charset="0"/>
              </a:rPr>
              <a:t>Importance of Identity Elements</a:t>
            </a:r>
            <a:endParaRPr lang="en-US" sz="4000" smtClean="0"/>
          </a:p>
        </p:txBody>
      </p:sp>
      <p:sp>
        <p:nvSpPr>
          <p:cNvPr id="14339" name="Content Placeholder 2"/>
          <p:cNvSpPr>
            <a:spLocks noGrp="1"/>
          </p:cNvSpPr>
          <p:nvPr>
            <p:ph idx="1"/>
          </p:nvPr>
        </p:nvSpPr>
        <p:spPr>
          <a:xfrm>
            <a:off x="457200" y="1752600"/>
            <a:ext cx="8229600" cy="4800600"/>
          </a:xfrm>
        </p:spPr>
        <p:txBody>
          <a:bodyPr/>
          <a:lstStyle/>
          <a:p>
            <a:pPr eaLnBrk="1" hangingPunct="1">
              <a:lnSpc>
                <a:spcPct val="80000"/>
              </a:lnSpc>
              <a:buFont typeface="Wingdings" pitchFamily="2" charset="2"/>
              <a:buNone/>
              <a:defRPr/>
            </a:pPr>
            <a:endParaRPr lang="en-US" sz="2000" dirty="0" smtClean="0">
              <a:cs typeface="Arial" charset="0"/>
            </a:endParaRPr>
          </a:p>
          <a:p>
            <a:pPr eaLnBrk="1" hangingPunct="1">
              <a:lnSpc>
                <a:spcPct val="80000"/>
              </a:lnSpc>
              <a:defRPr/>
            </a:pPr>
            <a:r>
              <a:rPr lang="en-US" sz="2000" dirty="0" smtClean="0">
                <a:cs typeface="Arial" charset="0"/>
              </a:rPr>
              <a:t>A study shows that the combination of </a:t>
            </a:r>
            <a:r>
              <a:rPr lang="en-US" sz="2000" b="1" u="sng" dirty="0" smtClean="0">
                <a:solidFill>
                  <a:srgbClr val="0070C0"/>
                </a:solidFill>
                <a:cs typeface="Arial" charset="0"/>
              </a:rPr>
              <a:t>zip code</a:t>
            </a:r>
            <a:r>
              <a:rPr lang="en-US" sz="2000" dirty="0" smtClean="0">
                <a:cs typeface="Arial" charset="0"/>
              </a:rPr>
              <a:t>, </a:t>
            </a:r>
            <a:r>
              <a:rPr lang="en-US" sz="2000" b="1" u="sng" dirty="0" smtClean="0">
                <a:solidFill>
                  <a:srgbClr val="0070C0"/>
                </a:solidFill>
                <a:cs typeface="Arial" charset="0"/>
              </a:rPr>
              <a:t>birth  date</a:t>
            </a:r>
            <a:r>
              <a:rPr lang="en-US" sz="2000" dirty="0" smtClean="0">
                <a:cs typeface="Arial" charset="0"/>
              </a:rPr>
              <a:t>,  and  </a:t>
            </a:r>
            <a:r>
              <a:rPr lang="en-US" sz="2000" b="1" u="sng" dirty="0" smtClean="0">
                <a:solidFill>
                  <a:srgbClr val="0070C0"/>
                </a:solidFill>
                <a:cs typeface="Arial" charset="0"/>
              </a:rPr>
              <a:t>gender</a:t>
            </a:r>
            <a:r>
              <a:rPr lang="en-US" sz="2000" u="sng" dirty="0" smtClean="0">
                <a:cs typeface="Arial" charset="0"/>
              </a:rPr>
              <a:t> </a:t>
            </a:r>
            <a:r>
              <a:rPr lang="en-US" sz="2000" dirty="0" smtClean="0">
                <a:cs typeface="Arial" charset="0"/>
              </a:rPr>
              <a:t> can  uniquely  identify  87%  individuals  in  the  United  States.</a:t>
            </a:r>
          </a:p>
          <a:p>
            <a:pPr eaLnBrk="1" hangingPunct="1">
              <a:lnSpc>
                <a:spcPct val="80000"/>
              </a:lnSpc>
              <a:defRPr/>
            </a:pPr>
            <a:endParaRPr lang="en-US" sz="2000" dirty="0" smtClean="0">
              <a:cs typeface="Arial" charset="0"/>
            </a:endParaRPr>
          </a:p>
          <a:p>
            <a:pPr eaLnBrk="1" hangingPunct="1">
              <a:lnSpc>
                <a:spcPct val="80000"/>
              </a:lnSpc>
              <a:defRPr/>
            </a:pPr>
            <a:r>
              <a:rPr lang="en-US" sz="2000" dirty="0" smtClean="0">
                <a:cs typeface="Arial" charset="0"/>
              </a:rPr>
              <a:t>According  to  study,  36%  of  ID  theft  victims  had  their </a:t>
            </a:r>
            <a:r>
              <a:rPr lang="en-US" sz="2000" dirty="0" smtClean="0">
                <a:solidFill>
                  <a:srgbClr val="00B0F0"/>
                </a:solidFill>
                <a:cs typeface="Arial" charset="0"/>
              </a:rPr>
              <a:t> </a:t>
            </a:r>
            <a:r>
              <a:rPr lang="en-US" sz="2000" b="1" u="sng" dirty="0" smtClean="0">
                <a:solidFill>
                  <a:srgbClr val="0070C0"/>
                </a:solidFill>
                <a:cs typeface="Arial" charset="0"/>
              </a:rPr>
              <a:t>name</a:t>
            </a:r>
            <a:r>
              <a:rPr lang="en-US" sz="2000" dirty="0" smtClean="0">
                <a:solidFill>
                  <a:srgbClr val="00B0F0"/>
                </a:solidFill>
                <a:cs typeface="Arial" charset="0"/>
              </a:rPr>
              <a:t>  </a:t>
            </a:r>
            <a:r>
              <a:rPr lang="en-US" sz="2000" dirty="0" smtClean="0">
                <a:cs typeface="Arial" charset="0"/>
              </a:rPr>
              <a:t>and  </a:t>
            </a:r>
            <a:r>
              <a:rPr lang="en-US" sz="2000" b="1" u="sng" dirty="0" smtClean="0">
                <a:solidFill>
                  <a:srgbClr val="0070C0"/>
                </a:solidFill>
                <a:cs typeface="Arial" charset="0"/>
              </a:rPr>
              <a:t>phone  number</a:t>
            </a:r>
            <a:r>
              <a:rPr lang="en-US" sz="2000" b="1" dirty="0" smtClean="0">
                <a:solidFill>
                  <a:srgbClr val="0070C0"/>
                </a:solidFill>
                <a:cs typeface="Arial" charset="0"/>
              </a:rPr>
              <a:t> </a:t>
            </a:r>
            <a:r>
              <a:rPr lang="en-US" sz="2000" dirty="0" smtClean="0">
                <a:cs typeface="Arial" charset="0"/>
              </a:rPr>
              <a:t>compromised.</a:t>
            </a:r>
          </a:p>
          <a:p>
            <a:pPr eaLnBrk="1" hangingPunct="1">
              <a:lnSpc>
                <a:spcPct val="80000"/>
              </a:lnSpc>
              <a:defRPr/>
            </a:pPr>
            <a:endParaRPr lang="en-US" sz="2000" dirty="0" smtClean="0">
              <a:cs typeface="Arial" charset="0"/>
            </a:endParaRPr>
          </a:p>
          <a:p>
            <a:pPr eaLnBrk="1" hangingPunct="1">
              <a:lnSpc>
                <a:spcPct val="80000"/>
              </a:lnSpc>
              <a:defRPr/>
            </a:pPr>
            <a:r>
              <a:rPr lang="en-US" sz="2000" dirty="0" smtClean="0">
                <a:cs typeface="Arial" pitchFamily="34" charset="0"/>
              </a:rPr>
              <a:t>Identity theft is </a:t>
            </a:r>
            <a:r>
              <a:rPr lang="en-US" sz="2000" b="1" dirty="0" smtClean="0">
                <a:solidFill>
                  <a:srgbClr val="0070C0"/>
                </a:solidFill>
                <a:cs typeface="Arial" pitchFamily="34" charset="0"/>
              </a:rPr>
              <a:t>increased by 11% </a:t>
            </a:r>
            <a:r>
              <a:rPr lang="en-US" sz="2000" dirty="0" smtClean="0">
                <a:cs typeface="Arial" pitchFamily="34" charset="0"/>
              </a:rPr>
              <a:t>from 2008  to  2009  affecting  the  lives  of  11  million  people in U.S. </a:t>
            </a:r>
            <a:r>
              <a:rPr lang="en-US" sz="2000" b="1" dirty="0" smtClean="0">
                <a:solidFill>
                  <a:srgbClr val="0070C0"/>
                </a:solidFill>
                <a:cs typeface="Arial" pitchFamily="34" charset="0"/>
              </a:rPr>
              <a:t>1 in every 10 </a:t>
            </a:r>
            <a:r>
              <a:rPr lang="en-US" sz="2000" dirty="0" smtClean="0">
                <a:cs typeface="Arial" pitchFamily="34" charset="0"/>
              </a:rPr>
              <a:t>U.S consumer has already experienced some sort of identity theft.</a:t>
            </a:r>
          </a:p>
          <a:p>
            <a:pPr marL="274320" indent="-274320" eaLnBrk="1" fontAlgn="auto" hangingPunct="1">
              <a:spcAft>
                <a:spcPts val="0"/>
              </a:spcAft>
              <a:buClr>
                <a:schemeClr val="accent3"/>
              </a:buClr>
              <a:buFont typeface="Wingdings 2"/>
              <a:buChar char=""/>
              <a:defRPr/>
            </a:pPr>
            <a:endParaRPr lang="en-US" sz="2000" dirty="0" smtClean="0">
              <a:cs typeface="Arial" pitchFamily="34" charset="0"/>
            </a:endParaRPr>
          </a:p>
          <a:p>
            <a:pPr eaLnBrk="1" hangingPunct="1">
              <a:lnSpc>
                <a:spcPct val="90000"/>
              </a:lnSpc>
              <a:defRPr/>
            </a:pPr>
            <a:r>
              <a:rPr lang="en-US" sz="2000" dirty="0" smtClean="0">
                <a:cs typeface="Arial" charset="0"/>
              </a:rPr>
              <a:t>Studies indicate that information about an individual’s </a:t>
            </a:r>
            <a:r>
              <a:rPr lang="en-US" sz="2000" b="1" dirty="0" smtClean="0">
                <a:solidFill>
                  <a:srgbClr val="FF0000"/>
                </a:solidFill>
                <a:cs typeface="Arial" charset="0"/>
              </a:rPr>
              <a:t>state</a:t>
            </a:r>
            <a:r>
              <a:rPr lang="en-US" sz="2000" dirty="0" smtClean="0">
                <a:cs typeface="Arial" charset="0"/>
              </a:rPr>
              <a:t> and </a:t>
            </a:r>
            <a:r>
              <a:rPr lang="en-US" sz="2000" b="1" dirty="0" smtClean="0">
                <a:solidFill>
                  <a:srgbClr val="FF0000"/>
                </a:solidFill>
                <a:cs typeface="Arial" charset="0"/>
              </a:rPr>
              <a:t>date of birth</a:t>
            </a:r>
            <a:r>
              <a:rPr lang="en-US" sz="2000" dirty="0" smtClean="0">
                <a:cs typeface="Arial" charset="0"/>
              </a:rPr>
              <a:t> can be sufficient to statistically infer narrow ranges of values wherein that individual's SSN is likely to fall.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57200" y="704850"/>
            <a:ext cx="8229600" cy="819150"/>
          </a:xfrm>
        </p:spPr>
        <p:txBody>
          <a:bodyPr/>
          <a:lstStyle/>
          <a:p>
            <a:pPr eaLnBrk="1" hangingPunct="1"/>
            <a:r>
              <a:rPr lang="en-US" sz="4000" smtClean="0"/>
              <a:t>Identity Exposure Behavior</a:t>
            </a:r>
          </a:p>
        </p:txBody>
      </p:sp>
      <p:sp>
        <p:nvSpPr>
          <p:cNvPr id="18435" name="Content Placeholder 2"/>
          <p:cNvSpPr>
            <a:spLocks noGrp="1"/>
          </p:cNvSpPr>
          <p:nvPr>
            <p:ph idx="1"/>
          </p:nvPr>
        </p:nvSpPr>
        <p:spPr>
          <a:xfrm>
            <a:off x="457200" y="1935163"/>
            <a:ext cx="8229600" cy="1417637"/>
          </a:xfrm>
        </p:spPr>
        <p:txBody>
          <a:bodyPr/>
          <a:lstStyle/>
          <a:p>
            <a:pPr eaLnBrk="1" hangingPunct="1"/>
            <a:r>
              <a:rPr lang="en-US" sz="2000" smtClean="0">
                <a:cs typeface="Arial" charset="0"/>
              </a:rPr>
              <a:t>Studies show that people are  very concerned about their privacy,  but they may not protect their personal information well and may unnecessarily expose their information  on  the  Internet. </a:t>
            </a:r>
          </a:p>
          <a:p>
            <a:pPr eaLnBrk="1" hangingPunct="1"/>
            <a:endParaRPr lang="en-US" sz="2000" smtClean="0">
              <a:cs typeface="Arial" charset="0"/>
            </a:endParaRPr>
          </a:p>
        </p:txBody>
      </p:sp>
      <p:pic>
        <p:nvPicPr>
          <p:cNvPr id="1843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971800"/>
            <a:ext cx="8153400" cy="378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Oval 4"/>
          <p:cNvSpPr/>
          <p:nvPr/>
        </p:nvSpPr>
        <p:spPr>
          <a:xfrm>
            <a:off x="685800" y="4343400"/>
            <a:ext cx="2895600" cy="914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457200" y="704850"/>
            <a:ext cx="8229600" cy="819150"/>
          </a:xfrm>
        </p:spPr>
        <p:txBody>
          <a:bodyPr/>
          <a:lstStyle/>
          <a:p>
            <a:pPr eaLnBrk="1" hangingPunct="1"/>
            <a:r>
              <a:rPr lang="en-US" sz="4000" dirty="0" smtClean="0"/>
              <a:t>Norm of Reciprocity</a:t>
            </a:r>
          </a:p>
        </p:txBody>
      </p:sp>
      <p:grpSp>
        <p:nvGrpSpPr>
          <p:cNvPr id="19459" name="Group 4"/>
          <p:cNvGrpSpPr>
            <a:grpSpLocks/>
          </p:cNvGrpSpPr>
          <p:nvPr/>
        </p:nvGrpSpPr>
        <p:grpSpPr bwMode="auto">
          <a:xfrm>
            <a:off x="762000" y="1828800"/>
            <a:ext cx="2743200" cy="1793875"/>
            <a:chOff x="381000" y="2373868"/>
            <a:chExt cx="3352800" cy="2483549"/>
          </a:xfrm>
        </p:grpSpPr>
        <p:sp>
          <p:nvSpPr>
            <p:cNvPr id="6" name="Oval 4"/>
            <p:cNvSpPr>
              <a:spLocks noChangeArrowheads="1"/>
            </p:cNvSpPr>
            <p:nvPr/>
          </p:nvSpPr>
          <p:spPr bwMode="auto">
            <a:xfrm>
              <a:off x="381000" y="3212068"/>
              <a:ext cx="838200" cy="838200"/>
            </a:xfrm>
            <a:prstGeom prst="ellipse">
              <a:avLst/>
            </a:prstGeom>
            <a:ln>
              <a:headEnd/>
              <a:tailEnd/>
            </a:ln>
          </p:spPr>
          <p:style>
            <a:lnRef idx="0">
              <a:schemeClr val="accent2"/>
            </a:lnRef>
            <a:fillRef idx="3">
              <a:schemeClr val="accent2"/>
            </a:fillRef>
            <a:effectRef idx="3">
              <a:schemeClr val="accent2"/>
            </a:effectRef>
            <a:fontRef idx="minor">
              <a:schemeClr val="lt1"/>
            </a:fontRef>
          </p:style>
          <p:txBody>
            <a:bodyPr wrap="none" anchor="ctr">
              <a:scene3d>
                <a:camera prst="orthographicFront"/>
                <a:lightRig rig="flat" dir="tl">
                  <a:rot lat="0" lon="0" rev="6600000"/>
                </a:lightRig>
              </a:scene3d>
              <a:sp3d extrusionH="25400" contourW="8890">
                <a:bevelT w="38100" h="31750"/>
                <a:contourClr>
                  <a:schemeClr val="accent2">
                    <a:shade val="75000"/>
                  </a:schemeClr>
                </a:contourClr>
              </a:sp3d>
            </a:bodyPr>
            <a:lstStyle/>
            <a:p>
              <a:pPr algn="ctr" fontAlgn="auto">
                <a:spcBef>
                  <a:spcPts val="0"/>
                </a:spcBef>
                <a:spcAft>
                  <a:spcPts val="0"/>
                </a:spcAft>
                <a:defRPr/>
              </a:pPr>
              <a:r>
                <a:rPr lang="en-US" sz="4000" b="1" dirty="0">
                  <a:ln w="11430"/>
                  <a:solidFill>
                    <a:schemeClr val="bg1"/>
                  </a:solidFill>
                  <a:effectLst>
                    <a:outerShdw blurRad="50800" dist="39000" dir="5460000" algn="tl">
                      <a:srgbClr val="000000">
                        <a:alpha val="38000"/>
                      </a:srgbClr>
                    </a:outerShdw>
                  </a:effectLst>
                </a:rPr>
                <a:t>A</a:t>
              </a:r>
            </a:p>
          </p:txBody>
        </p:sp>
        <p:sp>
          <p:nvSpPr>
            <p:cNvPr id="7" name="Oval 5"/>
            <p:cNvSpPr>
              <a:spLocks noChangeArrowheads="1"/>
            </p:cNvSpPr>
            <p:nvPr/>
          </p:nvSpPr>
          <p:spPr bwMode="auto">
            <a:xfrm>
              <a:off x="2895600" y="3212068"/>
              <a:ext cx="838200" cy="838200"/>
            </a:xfrm>
            <a:prstGeom prst="ellipse">
              <a:avLst/>
            </a:prstGeom>
            <a:ln>
              <a:headEnd/>
              <a:tailEnd/>
            </a:ln>
          </p:spPr>
          <p:style>
            <a:lnRef idx="0">
              <a:schemeClr val="accent6"/>
            </a:lnRef>
            <a:fillRef idx="3">
              <a:schemeClr val="accent6"/>
            </a:fillRef>
            <a:effectRef idx="3">
              <a:schemeClr val="accent6"/>
            </a:effectRef>
            <a:fontRef idx="minor">
              <a:schemeClr val="lt1"/>
            </a:fontRef>
          </p:style>
          <p:txBody>
            <a:bodyPr wrap="none" anchor="ctr"/>
            <a:lstStyle/>
            <a:p>
              <a:pPr algn="ctr" fontAlgn="auto">
                <a:spcBef>
                  <a:spcPts val="0"/>
                </a:spcBef>
                <a:spcAft>
                  <a:spcPts val="0"/>
                </a:spcAft>
                <a:defRPr/>
              </a:pPr>
              <a:r>
                <a:rPr lang="en-US" sz="4000" dirty="0"/>
                <a:t>B</a:t>
              </a:r>
            </a:p>
          </p:txBody>
        </p:sp>
        <p:sp>
          <p:nvSpPr>
            <p:cNvPr id="19477" name="Text Box 6"/>
            <p:cNvSpPr txBox="1">
              <a:spLocks noChangeArrowheads="1"/>
            </p:cNvSpPr>
            <p:nvPr/>
          </p:nvSpPr>
          <p:spPr bwMode="auto">
            <a:xfrm>
              <a:off x="1447800" y="2373868"/>
              <a:ext cx="1226554" cy="426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b="1"/>
                <a:t>A helps B</a:t>
              </a:r>
            </a:p>
          </p:txBody>
        </p:sp>
        <p:sp>
          <p:nvSpPr>
            <p:cNvPr id="19478" name="Text Box 7"/>
            <p:cNvSpPr txBox="1">
              <a:spLocks noChangeArrowheads="1"/>
            </p:cNvSpPr>
            <p:nvPr/>
          </p:nvSpPr>
          <p:spPr bwMode="auto">
            <a:xfrm>
              <a:off x="1219200" y="4431269"/>
              <a:ext cx="1784933" cy="426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b="1"/>
                <a:t>B helps back A</a:t>
              </a:r>
            </a:p>
          </p:txBody>
        </p:sp>
        <p:sp>
          <p:nvSpPr>
            <p:cNvPr id="10" name="Freeform 9"/>
            <p:cNvSpPr/>
            <p:nvPr/>
          </p:nvSpPr>
          <p:spPr>
            <a:xfrm>
              <a:off x="1065919" y="2831017"/>
              <a:ext cx="1967442" cy="415391"/>
            </a:xfrm>
            <a:custGeom>
              <a:avLst/>
              <a:gdLst>
                <a:gd name="connsiteX0" fmla="*/ 0 w 1967346"/>
                <a:gd name="connsiteY0" fmla="*/ 644236 h 644236"/>
                <a:gd name="connsiteX1" fmla="*/ 969819 w 1967346"/>
                <a:gd name="connsiteY1" fmla="*/ 6927 h 644236"/>
                <a:gd name="connsiteX2" fmla="*/ 1967346 w 1967346"/>
                <a:gd name="connsiteY2" fmla="*/ 602672 h 644236"/>
              </a:gdLst>
              <a:ahLst/>
              <a:cxnLst>
                <a:cxn ang="0">
                  <a:pos x="connsiteX0" y="connsiteY0"/>
                </a:cxn>
                <a:cxn ang="0">
                  <a:pos x="connsiteX1" y="connsiteY1"/>
                </a:cxn>
                <a:cxn ang="0">
                  <a:pos x="connsiteX2" y="connsiteY2"/>
                </a:cxn>
              </a:cxnLst>
              <a:rect l="l" t="t" r="r" b="b"/>
              <a:pathLst>
                <a:path w="1967346" h="644236">
                  <a:moveTo>
                    <a:pt x="0" y="644236"/>
                  </a:moveTo>
                  <a:cubicBezTo>
                    <a:pt x="320964" y="329045"/>
                    <a:pt x="641928" y="13854"/>
                    <a:pt x="969819" y="6927"/>
                  </a:cubicBezTo>
                  <a:cubicBezTo>
                    <a:pt x="1297710" y="0"/>
                    <a:pt x="1632528" y="301336"/>
                    <a:pt x="1967346" y="602672"/>
                  </a:cubicBezTo>
                </a:path>
              </a:pathLst>
            </a:custGeom>
            <a:ln>
              <a:tailEnd type="triangle"/>
            </a:ln>
          </p:spPr>
          <p:style>
            <a:lnRef idx="3">
              <a:schemeClr val="accent5"/>
            </a:lnRef>
            <a:fillRef idx="0">
              <a:schemeClr val="accent5"/>
            </a:fillRef>
            <a:effectRef idx="2">
              <a:schemeClr val="accent5"/>
            </a:effectRef>
            <a:fontRef idx="minor">
              <a:schemeClr val="tx1"/>
            </a:fontRef>
          </p:style>
          <p:txBody>
            <a:bodyPr anchor="ctr"/>
            <a:lstStyle/>
            <a:p>
              <a:pPr algn="ctr" fontAlgn="auto">
                <a:spcBef>
                  <a:spcPts val="0"/>
                </a:spcBef>
                <a:spcAft>
                  <a:spcPts val="0"/>
                </a:spcAft>
                <a:defRPr/>
              </a:pPr>
              <a:endParaRPr lang="en-US"/>
            </a:p>
          </p:txBody>
        </p:sp>
        <p:sp>
          <p:nvSpPr>
            <p:cNvPr id="11" name="Freeform 10"/>
            <p:cNvSpPr/>
            <p:nvPr/>
          </p:nvSpPr>
          <p:spPr>
            <a:xfrm rot="10800000">
              <a:off x="1065919" y="3973889"/>
              <a:ext cx="1967442" cy="415391"/>
            </a:xfrm>
            <a:custGeom>
              <a:avLst/>
              <a:gdLst>
                <a:gd name="connsiteX0" fmla="*/ 0 w 1967346"/>
                <a:gd name="connsiteY0" fmla="*/ 644236 h 644236"/>
                <a:gd name="connsiteX1" fmla="*/ 969819 w 1967346"/>
                <a:gd name="connsiteY1" fmla="*/ 6927 h 644236"/>
                <a:gd name="connsiteX2" fmla="*/ 1967346 w 1967346"/>
                <a:gd name="connsiteY2" fmla="*/ 602672 h 644236"/>
              </a:gdLst>
              <a:ahLst/>
              <a:cxnLst>
                <a:cxn ang="0">
                  <a:pos x="connsiteX0" y="connsiteY0"/>
                </a:cxn>
                <a:cxn ang="0">
                  <a:pos x="connsiteX1" y="connsiteY1"/>
                </a:cxn>
                <a:cxn ang="0">
                  <a:pos x="connsiteX2" y="connsiteY2"/>
                </a:cxn>
              </a:cxnLst>
              <a:rect l="l" t="t" r="r" b="b"/>
              <a:pathLst>
                <a:path w="1967346" h="644236">
                  <a:moveTo>
                    <a:pt x="0" y="644236"/>
                  </a:moveTo>
                  <a:cubicBezTo>
                    <a:pt x="320964" y="329045"/>
                    <a:pt x="641928" y="13854"/>
                    <a:pt x="969819" y="6927"/>
                  </a:cubicBezTo>
                  <a:cubicBezTo>
                    <a:pt x="1297710" y="0"/>
                    <a:pt x="1632528" y="301336"/>
                    <a:pt x="1967346" y="602672"/>
                  </a:cubicBezTo>
                </a:path>
              </a:pathLst>
            </a:custGeom>
            <a:ln>
              <a:tailEnd type="triangle"/>
            </a:ln>
          </p:spPr>
          <p:style>
            <a:lnRef idx="3">
              <a:schemeClr val="accent5"/>
            </a:lnRef>
            <a:fillRef idx="0">
              <a:schemeClr val="accent5"/>
            </a:fillRef>
            <a:effectRef idx="2">
              <a:schemeClr val="accent5"/>
            </a:effectRef>
            <a:fontRef idx="minor">
              <a:schemeClr val="tx1"/>
            </a:fontRef>
          </p:style>
          <p:txBody>
            <a:bodyPr anchor="ctr"/>
            <a:lstStyle/>
            <a:p>
              <a:pPr algn="ctr" fontAlgn="auto">
                <a:spcBef>
                  <a:spcPts val="0"/>
                </a:spcBef>
                <a:spcAft>
                  <a:spcPts val="0"/>
                </a:spcAft>
                <a:defRPr/>
              </a:pPr>
              <a:endParaRPr lang="en-US"/>
            </a:p>
          </p:txBody>
        </p:sp>
      </p:grpSp>
      <p:grpSp>
        <p:nvGrpSpPr>
          <p:cNvPr id="19460" name="Group 11"/>
          <p:cNvGrpSpPr>
            <a:grpSpLocks/>
          </p:cNvGrpSpPr>
          <p:nvPr/>
        </p:nvGrpSpPr>
        <p:grpSpPr bwMode="auto">
          <a:xfrm>
            <a:off x="5410200" y="1828800"/>
            <a:ext cx="2667000" cy="1804988"/>
            <a:chOff x="5029200" y="2450068"/>
            <a:chExt cx="3352800" cy="2502919"/>
          </a:xfrm>
        </p:grpSpPr>
        <p:sp>
          <p:nvSpPr>
            <p:cNvPr id="13" name="Oval 4"/>
            <p:cNvSpPr>
              <a:spLocks noChangeArrowheads="1"/>
            </p:cNvSpPr>
            <p:nvPr/>
          </p:nvSpPr>
          <p:spPr bwMode="auto">
            <a:xfrm>
              <a:off x="5029200" y="3288268"/>
              <a:ext cx="838200" cy="838200"/>
            </a:xfrm>
            <a:prstGeom prst="ellipse">
              <a:avLst/>
            </a:prstGeom>
            <a:ln>
              <a:headEnd/>
              <a:tailEnd/>
            </a:ln>
          </p:spPr>
          <p:style>
            <a:lnRef idx="0">
              <a:schemeClr val="accent2"/>
            </a:lnRef>
            <a:fillRef idx="3">
              <a:schemeClr val="accent2"/>
            </a:fillRef>
            <a:effectRef idx="3">
              <a:schemeClr val="accent2"/>
            </a:effectRef>
            <a:fontRef idx="minor">
              <a:schemeClr val="lt1"/>
            </a:fontRef>
          </p:style>
          <p:txBody>
            <a:bodyPr wrap="none" anchor="ctr">
              <a:scene3d>
                <a:camera prst="orthographicFront"/>
                <a:lightRig rig="flat" dir="tl">
                  <a:rot lat="0" lon="0" rev="6600000"/>
                </a:lightRig>
              </a:scene3d>
              <a:sp3d extrusionH="25400" contourW="8890">
                <a:bevelT w="38100" h="31750"/>
                <a:contourClr>
                  <a:schemeClr val="accent2">
                    <a:shade val="75000"/>
                  </a:schemeClr>
                </a:contourClr>
              </a:sp3d>
            </a:bodyPr>
            <a:lstStyle/>
            <a:p>
              <a:pPr algn="ctr" fontAlgn="auto">
                <a:spcBef>
                  <a:spcPts val="0"/>
                </a:spcBef>
                <a:spcAft>
                  <a:spcPts val="0"/>
                </a:spcAft>
                <a:defRPr/>
              </a:pPr>
              <a:r>
                <a:rPr lang="en-US" sz="4000" b="1" dirty="0">
                  <a:ln w="11430"/>
                  <a:solidFill>
                    <a:schemeClr val="bg1"/>
                  </a:solidFill>
                  <a:effectLst>
                    <a:outerShdw blurRad="50800" dist="39000" dir="5460000" algn="tl">
                      <a:srgbClr val="000000">
                        <a:alpha val="38000"/>
                      </a:srgbClr>
                    </a:outerShdw>
                  </a:effectLst>
                </a:rPr>
                <a:t>A</a:t>
              </a:r>
            </a:p>
          </p:txBody>
        </p:sp>
        <p:sp>
          <p:nvSpPr>
            <p:cNvPr id="14" name="Oval 5"/>
            <p:cNvSpPr>
              <a:spLocks noChangeArrowheads="1"/>
            </p:cNvSpPr>
            <p:nvPr/>
          </p:nvSpPr>
          <p:spPr bwMode="auto">
            <a:xfrm>
              <a:off x="7543800" y="3288268"/>
              <a:ext cx="838200" cy="838200"/>
            </a:xfrm>
            <a:prstGeom prst="ellipse">
              <a:avLst/>
            </a:prstGeom>
            <a:ln>
              <a:headEnd/>
              <a:tailEnd/>
            </a:ln>
          </p:spPr>
          <p:style>
            <a:lnRef idx="0">
              <a:schemeClr val="accent6"/>
            </a:lnRef>
            <a:fillRef idx="3">
              <a:schemeClr val="accent6"/>
            </a:fillRef>
            <a:effectRef idx="3">
              <a:schemeClr val="accent6"/>
            </a:effectRef>
            <a:fontRef idx="minor">
              <a:schemeClr val="lt1"/>
            </a:fontRef>
          </p:style>
          <p:txBody>
            <a:bodyPr wrap="none" anchor="ctr"/>
            <a:lstStyle/>
            <a:p>
              <a:pPr algn="ctr" fontAlgn="auto">
                <a:spcBef>
                  <a:spcPts val="0"/>
                </a:spcBef>
                <a:spcAft>
                  <a:spcPts val="0"/>
                </a:spcAft>
                <a:defRPr/>
              </a:pPr>
              <a:r>
                <a:rPr lang="en-US" sz="4000" dirty="0"/>
                <a:t>B</a:t>
              </a:r>
            </a:p>
          </p:txBody>
        </p:sp>
        <p:sp>
          <p:nvSpPr>
            <p:cNvPr id="19469" name="Text Box 6"/>
            <p:cNvSpPr txBox="1">
              <a:spLocks noChangeArrowheads="1"/>
            </p:cNvSpPr>
            <p:nvPr/>
          </p:nvSpPr>
          <p:spPr bwMode="auto">
            <a:xfrm>
              <a:off x="6096001" y="2450068"/>
              <a:ext cx="1366648" cy="445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b="1"/>
                <a:t>A gives B</a:t>
              </a:r>
            </a:p>
          </p:txBody>
        </p:sp>
        <p:sp>
          <p:nvSpPr>
            <p:cNvPr id="19470" name="Text Box 7"/>
            <p:cNvSpPr txBox="1">
              <a:spLocks noChangeArrowheads="1"/>
            </p:cNvSpPr>
            <p:nvPr/>
          </p:nvSpPr>
          <p:spPr bwMode="auto">
            <a:xfrm>
              <a:off x="5867400" y="4507469"/>
              <a:ext cx="1994825" cy="445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b="1"/>
                <a:t>B gives back A</a:t>
              </a:r>
            </a:p>
          </p:txBody>
        </p:sp>
        <p:sp>
          <p:nvSpPr>
            <p:cNvPr id="17" name="Freeform 16"/>
            <p:cNvSpPr/>
            <p:nvPr/>
          </p:nvSpPr>
          <p:spPr>
            <a:xfrm>
              <a:off x="5715726" y="2907946"/>
              <a:ext cx="1965779" cy="416053"/>
            </a:xfrm>
            <a:custGeom>
              <a:avLst/>
              <a:gdLst>
                <a:gd name="connsiteX0" fmla="*/ 0 w 1967346"/>
                <a:gd name="connsiteY0" fmla="*/ 644236 h 644236"/>
                <a:gd name="connsiteX1" fmla="*/ 969819 w 1967346"/>
                <a:gd name="connsiteY1" fmla="*/ 6927 h 644236"/>
                <a:gd name="connsiteX2" fmla="*/ 1967346 w 1967346"/>
                <a:gd name="connsiteY2" fmla="*/ 602672 h 644236"/>
              </a:gdLst>
              <a:ahLst/>
              <a:cxnLst>
                <a:cxn ang="0">
                  <a:pos x="connsiteX0" y="connsiteY0"/>
                </a:cxn>
                <a:cxn ang="0">
                  <a:pos x="connsiteX1" y="connsiteY1"/>
                </a:cxn>
                <a:cxn ang="0">
                  <a:pos x="connsiteX2" y="connsiteY2"/>
                </a:cxn>
              </a:cxnLst>
              <a:rect l="l" t="t" r="r" b="b"/>
              <a:pathLst>
                <a:path w="1967346" h="644236">
                  <a:moveTo>
                    <a:pt x="0" y="644236"/>
                  </a:moveTo>
                  <a:cubicBezTo>
                    <a:pt x="320964" y="329045"/>
                    <a:pt x="641928" y="13854"/>
                    <a:pt x="969819" y="6927"/>
                  </a:cubicBezTo>
                  <a:cubicBezTo>
                    <a:pt x="1297710" y="0"/>
                    <a:pt x="1632528" y="301336"/>
                    <a:pt x="1967346" y="602672"/>
                  </a:cubicBezTo>
                </a:path>
              </a:pathLst>
            </a:custGeom>
            <a:ln>
              <a:tailEnd type="triangle"/>
            </a:ln>
          </p:spPr>
          <p:style>
            <a:lnRef idx="3">
              <a:schemeClr val="accent5"/>
            </a:lnRef>
            <a:fillRef idx="0">
              <a:schemeClr val="accent5"/>
            </a:fillRef>
            <a:effectRef idx="2">
              <a:schemeClr val="accent5"/>
            </a:effectRef>
            <a:fontRef idx="minor">
              <a:schemeClr val="tx1"/>
            </a:fontRef>
          </p:style>
          <p:txBody>
            <a:bodyPr anchor="ctr"/>
            <a:lstStyle/>
            <a:p>
              <a:pPr algn="ctr" fontAlgn="auto">
                <a:spcBef>
                  <a:spcPts val="0"/>
                </a:spcBef>
                <a:spcAft>
                  <a:spcPts val="0"/>
                </a:spcAft>
                <a:defRPr/>
              </a:pPr>
              <a:endParaRPr lang="en-US"/>
            </a:p>
          </p:txBody>
        </p:sp>
        <p:sp>
          <p:nvSpPr>
            <p:cNvPr id="18" name="Freeform 17"/>
            <p:cNvSpPr/>
            <p:nvPr/>
          </p:nvSpPr>
          <p:spPr>
            <a:xfrm rot="10800000">
              <a:off x="5715726" y="4050440"/>
              <a:ext cx="1965779" cy="416052"/>
            </a:xfrm>
            <a:custGeom>
              <a:avLst/>
              <a:gdLst>
                <a:gd name="connsiteX0" fmla="*/ 0 w 1967346"/>
                <a:gd name="connsiteY0" fmla="*/ 644236 h 644236"/>
                <a:gd name="connsiteX1" fmla="*/ 969819 w 1967346"/>
                <a:gd name="connsiteY1" fmla="*/ 6927 h 644236"/>
                <a:gd name="connsiteX2" fmla="*/ 1967346 w 1967346"/>
                <a:gd name="connsiteY2" fmla="*/ 602672 h 644236"/>
              </a:gdLst>
              <a:ahLst/>
              <a:cxnLst>
                <a:cxn ang="0">
                  <a:pos x="connsiteX0" y="connsiteY0"/>
                </a:cxn>
                <a:cxn ang="0">
                  <a:pos x="connsiteX1" y="connsiteY1"/>
                </a:cxn>
                <a:cxn ang="0">
                  <a:pos x="connsiteX2" y="connsiteY2"/>
                </a:cxn>
              </a:cxnLst>
              <a:rect l="l" t="t" r="r" b="b"/>
              <a:pathLst>
                <a:path w="1967346" h="644236">
                  <a:moveTo>
                    <a:pt x="0" y="644236"/>
                  </a:moveTo>
                  <a:cubicBezTo>
                    <a:pt x="320964" y="329045"/>
                    <a:pt x="641928" y="13854"/>
                    <a:pt x="969819" y="6927"/>
                  </a:cubicBezTo>
                  <a:cubicBezTo>
                    <a:pt x="1297710" y="0"/>
                    <a:pt x="1632528" y="301336"/>
                    <a:pt x="1967346" y="602672"/>
                  </a:cubicBezTo>
                </a:path>
              </a:pathLst>
            </a:custGeom>
            <a:ln>
              <a:tailEnd type="triangle"/>
            </a:ln>
          </p:spPr>
          <p:style>
            <a:lnRef idx="3">
              <a:schemeClr val="accent5"/>
            </a:lnRef>
            <a:fillRef idx="0">
              <a:schemeClr val="accent5"/>
            </a:fillRef>
            <a:effectRef idx="2">
              <a:schemeClr val="accent5"/>
            </a:effectRef>
            <a:fontRef idx="minor">
              <a:schemeClr val="tx1"/>
            </a:fontRef>
          </p:style>
          <p:txBody>
            <a:bodyPr anchor="ctr"/>
            <a:lstStyle/>
            <a:p>
              <a:pPr algn="ctr" fontAlgn="auto">
                <a:spcBef>
                  <a:spcPts val="0"/>
                </a:spcBef>
                <a:spcAft>
                  <a:spcPts val="0"/>
                </a:spcAft>
                <a:defRPr/>
              </a:pPr>
              <a:endParaRPr lang="en-US"/>
            </a:p>
          </p:txBody>
        </p:sp>
      </p:grpSp>
      <p:sp>
        <p:nvSpPr>
          <p:cNvPr id="19461" name="Rectangle 20"/>
          <p:cNvSpPr>
            <a:spLocks noChangeArrowheads="1"/>
          </p:cNvSpPr>
          <p:nvPr/>
        </p:nvSpPr>
        <p:spPr bwMode="auto">
          <a:xfrm>
            <a:off x="533400" y="4648200"/>
            <a:ext cx="2784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u="sng"/>
              <a:t>Reciprocity Related Work</a:t>
            </a:r>
          </a:p>
        </p:txBody>
      </p:sp>
      <p:sp>
        <p:nvSpPr>
          <p:cNvPr id="19462" name="Content Placeholder 2"/>
          <p:cNvSpPr>
            <a:spLocks noGrp="1"/>
          </p:cNvSpPr>
          <p:nvPr>
            <p:ph idx="1"/>
          </p:nvPr>
        </p:nvSpPr>
        <p:spPr>
          <a:xfrm>
            <a:off x="457200" y="5105400"/>
            <a:ext cx="4191000" cy="1417638"/>
          </a:xfrm>
        </p:spPr>
        <p:txBody>
          <a:bodyPr/>
          <a:lstStyle/>
          <a:p>
            <a:pPr marL="457200" indent="-457200" eaLnBrk="1" hangingPunct="1">
              <a:lnSpc>
                <a:spcPct val="90000"/>
              </a:lnSpc>
              <a:buFont typeface="Calibri" pitchFamily="34" charset="0"/>
              <a:buAutoNum type="arabicPeriod"/>
            </a:pPr>
            <a:r>
              <a:rPr lang="en-US" sz="1900" b="1" smtClean="0"/>
              <a:t>The Moon’s study.</a:t>
            </a:r>
          </a:p>
          <a:p>
            <a:pPr marL="457200" indent="-457200" eaLnBrk="1" hangingPunct="1">
              <a:lnSpc>
                <a:spcPct val="90000"/>
              </a:lnSpc>
              <a:buFont typeface="Calibri" pitchFamily="34" charset="0"/>
              <a:buAutoNum type="arabicPeriod"/>
            </a:pPr>
            <a:r>
              <a:rPr lang="en-US" sz="1900" smtClean="0"/>
              <a:t>A greeting  card study.</a:t>
            </a:r>
          </a:p>
          <a:p>
            <a:pPr marL="457200" indent="-457200" eaLnBrk="1" hangingPunct="1">
              <a:lnSpc>
                <a:spcPct val="90000"/>
              </a:lnSpc>
              <a:buFont typeface="Calibri" pitchFamily="34" charset="0"/>
              <a:buAutoNum type="arabicPeriod"/>
            </a:pPr>
            <a:r>
              <a:rPr lang="en-US" sz="1800" smtClean="0"/>
              <a:t>The Regan’s Coca-Cola experiment.</a:t>
            </a:r>
          </a:p>
          <a:p>
            <a:pPr marL="457200" indent="-457200" eaLnBrk="1" hangingPunct="1">
              <a:lnSpc>
                <a:spcPct val="90000"/>
              </a:lnSpc>
              <a:buFont typeface="Calibri" pitchFamily="34" charset="0"/>
              <a:buAutoNum type="arabicPeriod"/>
            </a:pPr>
            <a:r>
              <a:rPr lang="en-US" sz="1900" smtClean="0"/>
              <a:t>Others.</a:t>
            </a:r>
          </a:p>
          <a:p>
            <a:pPr marL="457200" indent="-457200" eaLnBrk="1" hangingPunct="1">
              <a:lnSpc>
                <a:spcPct val="90000"/>
              </a:lnSpc>
              <a:buFont typeface="Calibri" pitchFamily="34" charset="0"/>
              <a:buAutoNum type="arabicPeriod"/>
            </a:pPr>
            <a:endParaRPr lang="en-US" sz="1900" smtClean="0"/>
          </a:p>
        </p:txBody>
      </p:sp>
      <p:sp>
        <p:nvSpPr>
          <p:cNvPr id="23" name="Content Placeholder 2"/>
          <p:cNvSpPr txBox="1">
            <a:spLocks/>
          </p:cNvSpPr>
          <p:nvPr/>
        </p:nvSpPr>
        <p:spPr bwMode="auto">
          <a:xfrm>
            <a:off x="4876800" y="4419600"/>
            <a:ext cx="3962400" cy="2332038"/>
          </a:xfrm>
          <a:prstGeom prst="rect">
            <a:avLst/>
          </a:prstGeom>
          <a:solidFill>
            <a:schemeClr val="accent3">
              <a:lumMod val="40000"/>
              <a:lumOff val="60000"/>
            </a:schemeClr>
          </a:solidFill>
          <a:ln w="9525">
            <a:noFill/>
            <a:miter lim="800000"/>
            <a:headEnd/>
            <a:tailEnd/>
          </a:ln>
        </p:spPr>
        <p:txBody>
          <a:bodyPr/>
          <a:lstStyle/>
          <a:p>
            <a:pPr marL="273050" indent="-273050">
              <a:lnSpc>
                <a:spcPct val="80000"/>
              </a:lnSpc>
              <a:spcBef>
                <a:spcPct val="20000"/>
              </a:spcBef>
              <a:buClr>
                <a:srgbClr val="E7BC29"/>
              </a:buClr>
              <a:buSzPct val="95000"/>
              <a:buFont typeface="Wingdings 2" pitchFamily="18" charset="2"/>
              <a:buChar char=""/>
              <a:defRPr/>
            </a:pPr>
            <a:r>
              <a:rPr lang="en-US" sz="1600" dirty="0">
                <a:latin typeface="+mn-lt"/>
              </a:rPr>
              <a:t>Reciprocity  </a:t>
            </a:r>
            <a:r>
              <a:rPr lang="en-US" sz="1600" b="1" dirty="0">
                <a:solidFill>
                  <a:srgbClr val="0070C0"/>
                </a:solidFill>
                <a:latin typeface="+mn-lt"/>
              </a:rPr>
              <a:t>makes people say ‘yes’</a:t>
            </a:r>
            <a:r>
              <a:rPr lang="en-US" sz="1600" b="1" dirty="0">
                <a:solidFill>
                  <a:srgbClr val="00B0F0"/>
                </a:solidFill>
                <a:latin typeface="+mn-lt"/>
              </a:rPr>
              <a:t> </a:t>
            </a:r>
            <a:r>
              <a:rPr lang="en-US" sz="1600" dirty="0">
                <a:latin typeface="+mn-lt"/>
              </a:rPr>
              <a:t>without thinking first. </a:t>
            </a:r>
          </a:p>
          <a:p>
            <a:pPr marL="273050" indent="-273050">
              <a:lnSpc>
                <a:spcPct val="80000"/>
              </a:lnSpc>
              <a:spcBef>
                <a:spcPct val="20000"/>
              </a:spcBef>
              <a:buClr>
                <a:srgbClr val="E7BC29"/>
              </a:buClr>
              <a:buSzPct val="95000"/>
              <a:buFont typeface="Wingdings 2" pitchFamily="18" charset="2"/>
              <a:buChar char=""/>
              <a:defRPr/>
            </a:pPr>
            <a:endParaRPr lang="en-US" sz="1600" dirty="0">
              <a:latin typeface="+mn-lt"/>
            </a:endParaRPr>
          </a:p>
          <a:p>
            <a:pPr marL="273050" indent="-273050">
              <a:lnSpc>
                <a:spcPct val="80000"/>
              </a:lnSpc>
              <a:spcBef>
                <a:spcPct val="20000"/>
              </a:spcBef>
              <a:buClr>
                <a:srgbClr val="E7BC29"/>
              </a:buClr>
              <a:buSzPct val="95000"/>
              <a:buFont typeface="Wingdings 2" pitchFamily="18" charset="2"/>
              <a:buChar char=""/>
              <a:defRPr/>
            </a:pPr>
            <a:r>
              <a:rPr lang="en-US" sz="1600" dirty="0">
                <a:latin typeface="+mn-lt"/>
              </a:rPr>
              <a:t>Reciprocity can </a:t>
            </a:r>
            <a:r>
              <a:rPr lang="en-US" sz="1600" b="1" dirty="0">
                <a:solidFill>
                  <a:srgbClr val="0070C0"/>
                </a:solidFill>
                <a:latin typeface="+mn-lt"/>
              </a:rPr>
              <a:t>trigger</a:t>
            </a:r>
            <a:r>
              <a:rPr lang="en-US" sz="1600" dirty="0">
                <a:latin typeface="+mn-lt"/>
              </a:rPr>
              <a:t> </a:t>
            </a:r>
            <a:r>
              <a:rPr lang="en-US" sz="1600" b="1" dirty="0">
                <a:solidFill>
                  <a:srgbClr val="0070C0"/>
                </a:solidFill>
                <a:latin typeface="+mn-lt"/>
              </a:rPr>
              <a:t>unfair exchanges</a:t>
            </a:r>
            <a:r>
              <a:rPr lang="en-US" sz="1600" b="1" dirty="0">
                <a:latin typeface="+mn-lt"/>
              </a:rPr>
              <a:t>. </a:t>
            </a:r>
          </a:p>
          <a:p>
            <a:pPr marL="273050" indent="-273050">
              <a:lnSpc>
                <a:spcPct val="80000"/>
              </a:lnSpc>
              <a:spcBef>
                <a:spcPct val="20000"/>
              </a:spcBef>
              <a:buClr>
                <a:srgbClr val="E7BC29"/>
              </a:buClr>
              <a:buSzPct val="95000"/>
              <a:buFont typeface="Wingdings 2" pitchFamily="18" charset="2"/>
              <a:buChar char=""/>
              <a:defRPr/>
            </a:pPr>
            <a:endParaRPr lang="en-US" sz="1600" dirty="0">
              <a:latin typeface="+mn-lt"/>
            </a:endParaRPr>
          </a:p>
          <a:p>
            <a:pPr marL="273050" indent="-273050">
              <a:lnSpc>
                <a:spcPct val="80000"/>
              </a:lnSpc>
              <a:spcBef>
                <a:spcPct val="20000"/>
              </a:spcBef>
              <a:buClr>
                <a:srgbClr val="E7BC29"/>
              </a:buClr>
              <a:buSzPct val="95000"/>
              <a:buFont typeface="Wingdings 2" pitchFamily="18" charset="2"/>
              <a:buChar char=""/>
              <a:defRPr/>
            </a:pPr>
            <a:r>
              <a:rPr lang="en-US" sz="1600" b="1" dirty="0">
                <a:solidFill>
                  <a:srgbClr val="0070C0"/>
                </a:solidFill>
                <a:latin typeface="+mn-lt"/>
              </a:rPr>
              <a:t>It does not matter whether second person liked first one or not</a:t>
            </a:r>
            <a:r>
              <a:rPr lang="en-US" sz="1600" dirty="0">
                <a:solidFill>
                  <a:srgbClr val="0070C0"/>
                </a:solidFill>
                <a:latin typeface="+mn-lt"/>
              </a:rPr>
              <a:t>;</a:t>
            </a:r>
            <a:r>
              <a:rPr lang="en-US" sz="1600" dirty="0">
                <a:latin typeface="+mn-lt"/>
              </a:rPr>
              <a:t> sense of indebtedness  makes  second  person  repay  the  favor. </a:t>
            </a:r>
          </a:p>
        </p:txBody>
      </p:sp>
      <p:sp>
        <p:nvSpPr>
          <p:cNvPr id="19464" name="Rectangle 23"/>
          <p:cNvSpPr>
            <a:spLocks noChangeArrowheads="1"/>
          </p:cNvSpPr>
          <p:nvPr/>
        </p:nvSpPr>
        <p:spPr bwMode="auto">
          <a:xfrm>
            <a:off x="4876800" y="3962400"/>
            <a:ext cx="26209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u="sng"/>
              <a:t>Reciprocity in a nutshell</a:t>
            </a:r>
          </a:p>
        </p:txBody>
      </p:sp>
    </p:spTree>
  </p:cSld>
  <p:clrMapOvr>
    <a:masterClrMapping/>
  </p:clrMapOvr>
  <p:transition spd="slow">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nvGraphicFramePr>
        <p:xfrm>
          <a:off x="533400" y="3048000"/>
          <a:ext cx="8229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457200" y="704850"/>
            <a:ext cx="8229600" cy="819150"/>
          </a:xfrm>
        </p:spPr>
        <p:txBody>
          <a:bodyPr/>
          <a:lstStyle/>
          <a:p>
            <a:pPr eaLnBrk="1" hangingPunct="1"/>
            <a:r>
              <a:rPr lang="en-US" sz="4000" smtClean="0"/>
              <a:t>“Reciprocity Attack”</a:t>
            </a:r>
          </a:p>
        </p:txBody>
      </p:sp>
      <p:sp>
        <p:nvSpPr>
          <p:cNvPr id="5" name="Oval 4"/>
          <p:cNvSpPr>
            <a:spLocks noChangeArrowheads="1"/>
          </p:cNvSpPr>
          <p:nvPr/>
        </p:nvSpPr>
        <p:spPr bwMode="auto">
          <a:xfrm>
            <a:off x="304800" y="2918437"/>
            <a:ext cx="1200150" cy="1089637"/>
          </a:xfrm>
          <a:prstGeom prst="ellipse">
            <a:avLst/>
          </a:prstGeom>
          <a:ln>
            <a:headEnd/>
            <a:tailEnd/>
          </a:ln>
        </p:spPr>
        <p:style>
          <a:lnRef idx="0">
            <a:schemeClr val="accent2"/>
          </a:lnRef>
          <a:fillRef idx="3">
            <a:schemeClr val="accent2"/>
          </a:fillRef>
          <a:effectRef idx="3">
            <a:schemeClr val="accent2"/>
          </a:effectRef>
          <a:fontRef idx="minor">
            <a:schemeClr val="lt1"/>
          </a:fontRef>
        </p:style>
        <p:txBody>
          <a:bodyPr wrap="none" anchor="ctr">
            <a:scene3d>
              <a:camera prst="orthographicFront"/>
              <a:lightRig rig="flat" dir="tl">
                <a:rot lat="0" lon="0" rev="6600000"/>
              </a:lightRig>
            </a:scene3d>
            <a:sp3d extrusionH="25400" contourW="8890">
              <a:bevelT w="38100" h="31750"/>
              <a:contourClr>
                <a:schemeClr val="accent2">
                  <a:shade val="75000"/>
                </a:schemeClr>
              </a:contourClr>
            </a:sp3d>
          </a:bodyPr>
          <a:lstStyle/>
          <a:p>
            <a:pPr algn="ctr" fontAlgn="auto">
              <a:spcBef>
                <a:spcPts val="0"/>
              </a:spcBef>
              <a:spcAft>
                <a:spcPts val="0"/>
              </a:spcAft>
              <a:defRPr/>
            </a:pPr>
            <a:r>
              <a:rPr lang="en-US" sz="4000" b="1" dirty="0">
                <a:ln w="11430"/>
                <a:solidFill>
                  <a:schemeClr val="bg1"/>
                </a:solidFill>
                <a:effectLst>
                  <a:outerShdw blurRad="50800" dist="39000" dir="5460000" algn="tl">
                    <a:srgbClr val="000000">
                      <a:alpha val="38000"/>
                    </a:srgbClr>
                  </a:outerShdw>
                </a:effectLst>
              </a:rPr>
              <a:t>A</a:t>
            </a:r>
          </a:p>
        </p:txBody>
      </p:sp>
      <p:sp>
        <p:nvSpPr>
          <p:cNvPr id="6" name="Oval 5"/>
          <p:cNvSpPr>
            <a:spLocks noChangeArrowheads="1"/>
          </p:cNvSpPr>
          <p:nvPr/>
        </p:nvSpPr>
        <p:spPr bwMode="auto">
          <a:xfrm>
            <a:off x="3905250" y="2918437"/>
            <a:ext cx="1200150" cy="1089637"/>
          </a:xfrm>
          <a:prstGeom prst="ellipse">
            <a:avLst/>
          </a:prstGeom>
          <a:ln>
            <a:headEnd/>
            <a:tailEnd/>
          </a:ln>
        </p:spPr>
        <p:style>
          <a:lnRef idx="0">
            <a:schemeClr val="accent6"/>
          </a:lnRef>
          <a:fillRef idx="3">
            <a:schemeClr val="accent6"/>
          </a:fillRef>
          <a:effectRef idx="3">
            <a:schemeClr val="accent6"/>
          </a:effectRef>
          <a:fontRef idx="minor">
            <a:schemeClr val="lt1"/>
          </a:fontRef>
        </p:style>
        <p:txBody>
          <a:bodyPr wrap="none" anchor="ctr"/>
          <a:lstStyle/>
          <a:p>
            <a:pPr algn="ctr" fontAlgn="auto">
              <a:spcBef>
                <a:spcPts val="0"/>
              </a:spcBef>
              <a:spcAft>
                <a:spcPts val="0"/>
              </a:spcAft>
              <a:defRPr/>
            </a:pPr>
            <a:r>
              <a:rPr lang="en-US" sz="4000" dirty="0"/>
              <a:t>B</a:t>
            </a:r>
          </a:p>
        </p:txBody>
      </p:sp>
      <p:sp>
        <p:nvSpPr>
          <p:cNvPr id="7" name="Text Box 6"/>
          <p:cNvSpPr txBox="1">
            <a:spLocks noChangeArrowheads="1"/>
          </p:cNvSpPr>
          <p:nvPr/>
        </p:nvSpPr>
        <p:spPr bwMode="auto">
          <a:xfrm>
            <a:off x="1089025" y="1828800"/>
            <a:ext cx="3711575" cy="366713"/>
          </a:xfrm>
          <a:prstGeom prst="rect">
            <a:avLst/>
          </a:prstGeom>
          <a:noFill/>
          <a:ln w="9525">
            <a:noFill/>
            <a:miter lim="800000"/>
            <a:headEnd/>
            <a:tailEnd/>
          </a:ln>
          <a:effectLst/>
        </p:spPr>
        <p:txBody>
          <a:bodyPr wrap="none">
            <a:spAutoFit/>
          </a:bodyPr>
          <a:lstStyle/>
          <a:p>
            <a:pPr algn="ctr" fontAlgn="auto">
              <a:spcBef>
                <a:spcPts val="0"/>
              </a:spcBef>
              <a:spcAft>
                <a:spcPts val="0"/>
              </a:spcAft>
              <a:defRPr/>
            </a:pPr>
            <a:r>
              <a:rPr lang="en-US" b="1" dirty="0">
                <a:latin typeface="+mn-lt"/>
                <a:cs typeface="+mn-cs"/>
              </a:rPr>
              <a:t>A gives </a:t>
            </a:r>
            <a:r>
              <a:rPr lang="en-US" b="1" dirty="0">
                <a:solidFill>
                  <a:schemeClr val="accent6">
                    <a:lumMod val="75000"/>
                  </a:schemeClr>
                </a:solidFill>
                <a:latin typeface="+mn-lt"/>
                <a:cs typeface="+mn-cs"/>
              </a:rPr>
              <a:t>identity information </a:t>
            </a:r>
            <a:r>
              <a:rPr lang="en-US" b="1" dirty="0">
                <a:latin typeface="+mn-lt"/>
                <a:cs typeface="+mn-cs"/>
              </a:rPr>
              <a:t>to B</a:t>
            </a:r>
          </a:p>
        </p:txBody>
      </p:sp>
      <p:sp>
        <p:nvSpPr>
          <p:cNvPr id="8" name="Text Box 7"/>
          <p:cNvSpPr txBox="1">
            <a:spLocks noChangeArrowheads="1"/>
          </p:cNvSpPr>
          <p:nvPr/>
        </p:nvSpPr>
        <p:spPr bwMode="auto">
          <a:xfrm>
            <a:off x="1004888" y="4724400"/>
            <a:ext cx="3711575" cy="366713"/>
          </a:xfrm>
          <a:prstGeom prst="rect">
            <a:avLst/>
          </a:prstGeom>
          <a:noFill/>
          <a:ln w="9525">
            <a:noFill/>
            <a:miter lim="800000"/>
            <a:headEnd/>
            <a:tailEnd/>
          </a:ln>
          <a:effectLst/>
        </p:spPr>
        <p:txBody>
          <a:bodyPr wrap="none">
            <a:spAutoFit/>
          </a:bodyPr>
          <a:lstStyle/>
          <a:p>
            <a:pPr algn="ctr" fontAlgn="auto">
              <a:spcBef>
                <a:spcPts val="0"/>
              </a:spcBef>
              <a:spcAft>
                <a:spcPts val="0"/>
              </a:spcAft>
              <a:defRPr/>
            </a:pPr>
            <a:r>
              <a:rPr lang="en-US" b="1" dirty="0">
                <a:latin typeface="+mn-lt"/>
                <a:cs typeface="+mn-cs"/>
              </a:rPr>
              <a:t>B gives </a:t>
            </a:r>
            <a:r>
              <a:rPr lang="en-US" b="1" dirty="0">
                <a:solidFill>
                  <a:schemeClr val="accent6">
                    <a:lumMod val="75000"/>
                  </a:schemeClr>
                </a:solidFill>
                <a:latin typeface="+mn-lt"/>
                <a:cs typeface="+mn-cs"/>
              </a:rPr>
              <a:t>identity information</a:t>
            </a:r>
            <a:r>
              <a:rPr lang="en-US" b="1" dirty="0">
                <a:latin typeface="+mn-lt"/>
                <a:cs typeface="+mn-cs"/>
              </a:rPr>
              <a:t> to A</a:t>
            </a:r>
          </a:p>
        </p:txBody>
      </p:sp>
      <p:sp>
        <p:nvSpPr>
          <p:cNvPr id="9" name="Freeform 8"/>
          <p:cNvSpPr/>
          <p:nvPr/>
        </p:nvSpPr>
        <p:spPr>
          <a:xfrm>
            <a:off x="1287463" y="2422525"/>
            <a:ext cx="2816225" cy="541338"/>
          </a:xfrm>
          <a:custGeom>
            <a:avLst/>
            <a:gdLst>
              <a:gd name="connsiteX0" fmla="*/ 0 w 1967346"/>
              <a:gd name="connsiteY0" fmla="*/ 644236 h 644236"/>
              <a:gd name="connsiteX1" fmla="*/ 969819 w 1967346"/>
              <a:gd name="connsiteY1" fmla="*/ 6927 h 644236"/>
              <a:gd name="connsiteX2" fmla="*/ 1967346 w 1967346"/>
              <a:gd name="connsiteY2" fmla="*/ 602672 h 644236"/>
            </a:gdLst>
            <a:ahLst/>
            <a:cxnLst>
              <a:cxn ang="0">
                <a:pos x="connsiteX0" y="connsiteY0"/>
              </a:cxn>
              <a:cxn ang="0">
                <a:pos x="connsiteX1" y="connsiteY1"/>
              </a:cxn>
              <a:cxn ang="0">
                <a:pos x="connsiteX2" y="connsiteY2"/>
              </a:cxn>
            </a:cxnLst>
            <a:rect l="l" t="t" r="r" b="b"/>
            <a:pathLst>
              <a:path w="1967346" h="644236">
                <a:moveTo>
                  <a:pt x="0" y="644236"/>
                </a:moveTo>
                <a:cubicBezTo>
                  <a:pt x="320964" y="329045"/>
                  <a:pt x="641928" y="13854"/>
                  <a:pt x="969819" y="6927"/>
                </a:cubicBezTo>
                <a:cubicBezTo>
                  <a:pt x="1297710" y="0"/>
                  <a:pt x="1632528" y="301336"/>
                  <a:pt x="1967346" y="602672"/>
                </a:cubicBezTo>
              </a:path>
            </a:pathLst>
          </a:custGeom>
          <a:ln>
            <a:tailEnd type="triangle"/>
          </a:ln>
        </p:spPr>
        <p:style>
          <a:lnRef idx="3">
            <a:schemeClr val="accent5"/>
          </a:lnRef>
          <a:fillRef idx="0">
            <a:schemeClr val="accent5"/>
          </a:fillRef>
          <a:effectRef idx="2">
            <a:schemeClr val="accent5"/>
          </a:effectRef>
          <a:fontRef idx="minor">
            <a:schemeClr val="tx1"/>
          </a:fontRef>
        </p:style>
        <p:txBody>
          <a:bodyPr anchor="ctr"/>
          <a:lstStyle/>
          <a:p>
            <a:pPr algn="ctr" fontAlgn="auto">
              <a:spcBef>
                <a:spcPts val="0"/>
              </a:spcBef>
              <a:spcAft>
                <a:spcPts val="0"/>
              </a:spcAft>
              <a:defRPr/>
            </a:pPr>
            <a:endParaRPr lang="en-US"/>
          </a:p>
        </p:txBody>
      </p:sp>
      <p:sp>
        <p:nvSpPr>
          <p:cNvPr id="10" name="Freeform 9"/>
          <p:cNvSpPr/>
          <p:nvPr/>
        </p:nvSpPr>
        <p:spPr>
          <a:xfrm rot="10800000">
            <a:off x="1287463" y="3908425"/>
            <a:ext cx="2816225" cy="541338"/>
          </a:xfrm>
          <a:custGeom>
            <a:avLst/>
            <a:gdLst>
              <a:gd name="connsiteX0" fmla="*/ 0 w 1967346"/>
              <a:gd name="connsiteY0" fmla="*/ 644236 h 644236"/>
              <a:gd name="connsiteX1" fmla="*/ 969819 w 1967346"/>
              <a:gd name="connsiteY1" fmla="*/ 6927 h 644236"/>
              <a:gd name="connsiteX2" fmla="*/ 1967346 w 1967346"/>
              <a:gd name="connsiteY2" fmla="*/ 602672 h 644236"/>
            </a:gdLst>
            <a:ahLst/>
            <a:cxnLst>
              <a:cxn ang="0">
                <a:pos x="connsiteX0" y="connsiteY0"/>
              </a:cxn>
              <a:cxn ang="0">
                <a:pos x="connsiteX1" y="connsiteY1"/>
              </a:cxn>
              <a:cxn ang="0">
                <a:pos x="connsiteX2" y="connsiteY2"/>
              </a:cxn>
            </a:cxnLst>
            <a:rect l="l" t="t" r="r" b="b"/>
            <a:pathLst>
              <a:path w="1967346" h="644236">
                <a:moveTo>
                  <a:pt x="0" y="644236"/>
                </a:moveTo>
                <a:cubicBezTo>
                  <a:pt x="320964" y="329045"/>
                  <a:pt x="641928" y="13854"/>
                  <a:pt x="969819" y="6927"/>
                </a:cubicBezTo>
                <a:cubicBezTo>
                  <a:pt x="1297710" y="0"/>
                  <a:pt x="1632528" y="301336"/>
                  <a:pt x="1967346" y="602672"/>
                </a:cubicBezTo>
              </a:path>
            </a:pathLst>
          </a:custGeom>
          <a:ln>
            <a:tailEnd type="triangle"/>
          </a:ln>
        </p:spPr>
        <p:style>
          <a:lnRef idx="3">
            <a:schemeClr val="accent5"/>
          </a:lnRef>
          <a:fillRef idx="0">
            <a:schemeClr val="accent5"/>
          </a:fillRef>
          <a:effectRef idx="2">
            <a:schemeClr val="accent5"/>
          </a:effectRef>
          <a:fontRef idx="minor">
            <a:schemeClr val="tx1"/>
          </a:fontRef>
        </p:style>
        <p:txBody>
          <a:bodyPr anchor="ctr"/>
          <a:lstStyle/>
          <a:p>
            <a:pPr algn="ctr" fontAlgn="auto">
              <a:spcBef>
                <a:spcPts val="0"/>
              </a:spcBef>
              <a:spcAft>
                <a:spcPts val="0"/>
              </a:spcAft>
              <a:defRPr/>
            </a:pPr>
            <a:endParaRPr lang="en-US"/>
          </a:p>
        </p:txBody>
      </p:sp>
      <p:graphicFrame>
        <p:nvGraphicFramePr>
          <p:cNvPr id="12" name="Diagram 11"/>
          <p:cNvGraphicFramePr/>
          <p:nvPr/>
        </p:nvGraphicFramePr>
        <p:xfrm>
          <a:off x="1514475" y="6034087"/>
          <a:ext cx="3054350" cy="3667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1" name="Diagram 10"/>
          <p:cNvGraphicFramePr/>
          <p:nvPr/>
        </p:nvGraphicFramePr>
        <p:xfrm>
          <a:off x="1133475" y="5653087"/>
          <a:ext cx="3752850" cy="36671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1517" name="Content Placeholder 2"/>
          <p:cNvSpPr>
            <a:spLocks noGrp="1"/>
          </p:cNvSpPr>
          <p:nvPr>
            <p:ph idx="1"/>
          </p:nvPr>
        </p:nvSpPr>
        <p:spPr>
          <a:xfrm>
            <a:off x="5486400" y="1600200"/>
            <a:ext cx="3124200" cy="3627438"/>
          </a:xfrm>
        </p:spPr>
        <p:txBody>
          <a:bodyPr/>
          <a:lstStyle/>
          <a:p>
            <a:pPr eaLnBrk="1" hangingPunct="1"/>
            <a:r>
              <a:rPr lang="en-US" sz="2000" smtClean="0">
                <a:cs typeface="Arial" charset="0"/>
              </a:rPr>
              <a:t>This  study is  the  </a:t>
            </a:r>
            <a:r>
              <a:rPr lang="en-US" sz="2000" b="1" smtClean="0">
                <a:solidFill>
                  <a:srgbClr val="0070C0"/>
                </a:solidFill>
                <a:cs typeface="Arial" charset="0"/>
              </a:rPr>
              <a:t>first  attempt  </a:t>
            </a:r>
            <a:r>
              <a:rPr lang="en-US" sz="2000" smtClean="0">
                <a:cs typeface="Arial" charset="0"/>
              </a:rPr>
              <a:t>to understand  the  impact  of  the  norm  of  reciprocity  as  an  attack  in  pervasive  computing environments. </a:t>
            </a:r>
          </a:p>
          <a:p>
            <a:pPr eaLnBrk="1" hangingPunct="1"/>
            <a:endParaRPr lang="en-US" sz="2000" smtClean="0">
              <a:cs typeface="Arial" charset="0"/>
            </a:endParaRPr>
          </a:p>
          <a:p>
            <a:pPr eaLnBrk="1" hangingPunct="1"/>
            <a:r>
              <a:rPr lang="en-US" sz="2000" smtClean="0">
                <a:cs typeface="Arial" charset="0"/>
              </a:rPr>
              <a:t>We did an </a:t>
            </a:r>
            <a:r>
              <a:rPr lang="en-US" sz="2000" b="1" smtClean="0">
                <a:solidFill>
                  <a:srgbClr val="0070C0"/>
                </a:solidFill>
                <a:cs typeface="Arial" charset="0"/>
              </a:rPr>
              <a:t>in-depth</a:t>
            </a:r>
            <a:r>
              <a:rPr lang="en-US" sz="2000" smtClean="0">
                <a:cs typeface="Arial" charset="0"/>
              </a:rPr>
              <a:t> study  and </a:t>
            </a:r>
            <a:r>
              <a:rPr lang="en-US" sz="2000" b="1" smtClean="0">
                <a:solidFill>
                  <a:srgbClr val="0070C0"/>
                </a:solidFill>
                <a:cs typeface="Arial" charset="0"/>
              </a:rPr>
              <a:t>quantitative analysis </a:t>
            </a:r>
            <a:r>
              <a:rPr lang="en-US" sz="2000" smtClean="0">
                <a:cs typeface="Arial" charset="0"/>
              </a:rPr>
              <a:t>of impact  of  the  norm  of  reciprocity  as  an  attack  in  pervasive  computing environments. </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457200" y="704850"/>
            <a:ext cx="8229600" cy="819150"/>
          </a:xfrm>
        </p:spPr>
        <p:txBody>
          <a:bodyPr/>
          <a:lstStyle/>
          <a:p>
            <a:pPr eaLnBrk="1" hangingPunct="1"/>
            <a:r>
              <a:rPr lang="en-US" sz="4000" smtClean="0">
                <a:cs typeface="Arial" charset="0"/>
              </a:rPr>
              <a:t>InfoSource Technology</a:t>
            </a:r>
            <a:endParaRPr lang="en-US" sz="4000" smtClean="0"/>
          </a:p>
        </p:txBody>
      </p:sp>
      <p:sp>
        <p:nvSpPr>
          <p:cNvPr id="22531" name="Content Placeholder 2"/>
          <p:cNvSpPr>
            <a:spLocks noGrp="1"/>
          </p:cNvSpPr>
          <p:nvPr>
            <p:ph idx="1"/>
          </p:nvPr>
        </p:nvSpPr>
        <p:spPr>
          <a:xfrm>
            <a:off x="533400" y="1828800"/>
            <a:ext cx="8229600" cy="1417638"/>
          </a:xfrm>
        </p:spPr>
        <p:txBody>
          <a:bodyPr/>
          <a:lstStyle/>
          <a:p>
            <a:pPr eaLnBrk="1" hangingPunct="1">
              <a:lnSpc>
                <a:spcPct val="80000"/>
              </a:lnSpc>
            </a:pPr>
            <a:r>
              <a:rPr lang="en-US" sz="2000" smtClean="0">
                <a:cs typeface="Arial" charset="0"/>
              </a:rPr>
              <a:t>InfoSource  software  technology  consists  of  following  3  software  components: </a:t>
            </a:r>
          </a:p>
          <a:p>
            <a:pPr lvl="1" eaLnBrk="1" hangingPunct="1">
              <a:lnSpc>
                <a:spcPct val="80000"/>
              </a:lnSpc>
            </a:pPr>
            <a:r>
              <a:rPr lang="en-US" sz="2000" smtClean="0">
                <a:cs typeface="Arial" charset="0"/>
              </a:rPr>
              <a:t>InfoSource  Music  Store  App</a:t>
            </a:r>
          </a:p>
          <a:p>
            <a:pPr lvl="1" eaLnBrk="1" hangingPunct="1">
              <a:lnSpc>
                <a:spcPct val="80000"/>
              </a:lnSpc>
            </a:pPr>
            <a:r>
              <a:rPr lang="en-US" sz="2000" smtClean="0">
                <a:cs typeface="Arial" charset="0"/>
              </a:rPr>
              <a:t>InfoSource  Survey  </a:t>
            </a:r>
          </a:p>
          <a:p>
            <a:pPr lvl="1" eaLnBrk="1" hangingPunct="1">
              <a:lnSpc>
                <a:spcPct val="80000"/>
              </a:lnSpc>
            </a:pPr>
            <a:r>
              <a:rPr lang="en-US" sz="2000" smtClean="0">
                <a:cs typeface="Arial" charset="0"/>
              </a:rPr>
              <a:t>InfoSource  Server</a:t>
            </a:r>
          </a:p>
          <a:p>
            <a:pPr eaLnBrk="1" hangingPunct="1">
              <a:lnSpc>
                <a:spcPct val="80000"/>
              </a:lnSpc>
            </a:pPr>
            <a:endParaRPr lang="en-US" sz="2000" smtClean="0">
              <a:cs typeface="Arial" charset="0"/>
            </a:endParaRPr>
          </a:p>
          <a:p>
            <a:pPr lvl="2" eaLnBrk="1" hangingPunct="1">
              <a:lnSpc>
                <a:spcPct val="80000"/>
              </a:lnSpc>
              <a:buFont typeface="Wingdings" pitchFamily="2" charset="2"/>
              <a:buNone/>
            </a:pPr>
            <a:r>
              <a:rPr lang="en-US" sz="2000" smtClean="0">
                <a:cs typeface="Arial" charset="0"/>
              </a:rPr>
              <a:t> </a:t>
            </a:r>
          </a:p>
        </p:txBody>
      </p:sp>
      <p:pic>
        <p:nvPicPr>
          <p:cNvPr id="5" name="Picture 2" descr="C:\Ajinkya\PervasiveLab\InfoSource\Other Files\Projects Screen shots\TrueReciprocity Screenshots\development environment.png"/>
          <p:cNvPicPr>
            <a:picLocks noChangeAspect="1" noChangeArrowheads="1"/>
          </p:cNvPicPr>
          <p:nvPr/>
        </p:nvPicPr>
        <p:blipFill>
          <a:blip r:embed="rId2"/>
          <a:srcRect/>
          <a:stretch>
            <a:fillRect/>
          </a:stretch>
        </p:blipFill>
        <p:spPr bwMode="auto">
          <a:xfrm>
            <a:off x="457200" y="4038600"/>
            <a:ext cx="3568700" cy="2133600"/>
          </a:xfrm>
          <a:prstGeom prst="rect">
            <a:avLst/>
          </a:prstGeom>
          <a:ln>
            <a:noFill/>
          </a:ln>
          <a:effectLst>
            <a:outerShdw blurRad="292100" dist="139700" dir="2700000" algn="tl" rotWithShape="0">
              <a:srgbClr val="333333">
                <a:alpha val="65000"/>
              </a:srgbClr>
            </a:outerShdw>
          </a:effectLst>
        </p:spPr>
      </p:pic>
      <p:sp>
        <p:nvSpPr>
          <p:cNvPr id="22533" name="Rectangle 7"/>
          <p:cNvSpPr>
            <a:spLocks noChangeArrowheads="1"/>
          </p:cNvSpPr>
          <p:nvPr/>
        </p:nvSpPr>
        <p:spPr bwMode="auto">
          <a:xfrm>
            <a:off x="1143000" y="6248400"/>
            <a:ext cx="23526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t>Development of Alice</a:t>
            </a:r>
          </a:p>
        </p:txBody>
      </p:sp>
      <p:pic>
        <p:nvPicPr>
          <p:cNvPr id="22534" name="Picture 6" descr="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2438400"/>
            <a:ext cx="2514600" cy="15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5" name="Picture 5" descr="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4038600"/>
            <a:ext cx="2601913"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 name="Diagram 11"/>
          <p:cNvGraphicFramePr/>
          <p:nvPr/>
        </p:nvGraphicFramePr>
        <p:xfrm>
          <a:off x="4114800" y="4114800"/>
          <a:ext cx="2057400" cy="19812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2537" name="Rectangle 12"/>
          <p:cNvSpPr>
            <a:spLocks noChangeArrowheads="1"/>
          </p:cNvSpPr>
          <p:nvPr/>
        </p:nvSpPr>
        <p:spPr bwMode="auto">
          <a:xfrm>
            <a:off x="6553200" y="5715000"/>
            <a:ext cx="24955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600"/>
              <a:t>Music playback capability</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itle 1"/>
          <p:cNvSpPr>
            <a:spLocks noGrp="1"/>
          </p:cNvSpPr>
          <p:nvPr>
            <p:ph type="title"/>
          </p:nvPr>
        </p:nvSpPr>
        <p:spPr>
          <a:xfrm>
            <a:off x="457200" y="704850"/>
            <a:ext cx="8229600" cy="819150"/>
          </a:xfrm>
        </p:spPr>
        <p:txBody>
          <a:bodyPr/>
          <a:lstStyle/>
          <a:p>
            <a:pPr eaLnBrk="1" hangingPunct="1"/>
            <a:r>
              <a:rPr lang="en-US" sz="4000" smtClean="0"/>
              <a:t>A Welcome Screen</a:t>
            </a:r>
          </a:p>
        </p:txBody>
      </p:sp>
      <p:pic>
        <p:nvPicPr>
          <p:cNvPr id="3076" name="Picture 7" descr="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600200"/>
            <a:ext cx="4924425"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Picture 6" descr="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43375" y="3143250"/>
            <a:ext cx="4924425"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78" name="Group 9"/>
          <p:cNvGrpSpPr>
            <a:grpSpLocks/>
          </p:cNvGrpSpPr>
          <p:nvPr/>
        </p:nvGrpSpPr>
        <p:grpSpPr bwMode="auto">
          <a:xfrm>
            <a:off x="6577013" y="5343525"/>
            <a:ext cx="1042987" cy="1133475"/>
            <a:chOff x="6424612" y="5105400"/>
            <a:chExt cx="1042988" cy="1133475"/>
          </a:xfrm>
        </p:grpSpPr>
        <p:sp>
          <p:nvSpPr>
            <p:cNvPr id="3" name="Rectangle 2"/>
            <p:cNvSpPr/>
            <p:nvPr/>
          </p:nvSpPr>
          <p:spPr>
            <a:xfrm>
              <a:off x="6424612" y="5105400"/>
              <a:ext cx="1042988" cy="495300"/>
            </a:xfrm>
            <a:prstGeom prst="rect">
              <a:avLst/>
            </a:prstGeom>
            <a:solidFill>
              <a:schemeClr val="lt1">
                <a:alpha val="0"/>
              </a:schemeClr>
            </a:solidFill>
            <a:ln>
              <a:solidFill>
                <a:srgbClr val="FF0000"/>
              </a:solidFill>
            </a:ln>
          </p:spPr>
          <p:style>
            <a:lnRef idx="2">
              <a:schemeClr val="accent2"/>
            </a:lnRef>
            <a:fillRef idx="1">
              <a:schemeClr val="lt1"/>
            </a:fillRef>
            <a:effectRef idx="0">
              <a:schemeClr val="accent2"/>
            </a:effectRef>
            <a:fontRef idx="minor">
              <a:schemeClr val="dk1"/>
            </a:fontRef>
          </p:style>
          <p:txBody>
            <a:bodyPr anchor="ctr"/>
            <a:lstStyle/>
            <a:p>
              <a:pPr algn="ctr" fontAlgn="auto">
                <a:spcBef>
                  <a:spcPts val="0"/>
                </a:spcBef>
                <a:spcAft>
                  <a:spcPts val="0"/>
                </a:spcAft>
                <a:defRPr/>
              </a:pPr>
              <a:endParaRPr lang="en-US"/>
            </a:p>
          </p:txBody>
        </p:sp>
        <p:cxnSp>
          <p:nvCxnSpPr>
            <p:cNvPr id="8" name="Straight Arrow Connector 7"/>
            <p:cNvCxnSpPr/>
            <p:nvPr/>
          </p:nvCxnSpPr>
          <p:spPr>
            <a:xfrm flipV="1">
              <a:off x="6958013" y="5610225"/>
              <a:ext cx="1587" cy="628650"/>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grpSp>
      <p:grpSp>
        <p:nvGrpSpPr>
          <p:cNvPr id="4" name="Group 8"/>
          <p:cNvGrpSpPr/>
          <p:nvPr/>
        </p:nvGrpSpPr>
        <p:grpSpPr>
          <a:xfrm>
            <a:off x="6781800" y="838200"/>
            <a:ext cx="1981051" cy="1981051"/>
            <a:chOff x="38174" y="74"/>
            <a:chExt cx="1981051" cy="1981051"/>
          </a:xfrm>
          <a:scene3d>
            <a:camera prst="orthographicFront"/>
            <a:lightRig rig="flat" dir="t"/>
          </a:scene3d>
        </p:grpSpPr>
        <p:sp>
          <p:nvSpPr>
            <p:cNvPr id="10" name="Oval 9"/>
            <p:cNvSpPr/>
            <p:nvPr/>
          </p:nvSpPr>
          <p:spPr>
            <a:xfrm>
              <a:off x="38174" y="74"/>
              <a:ext cx="1981051" cy="1981051"/>
            </a:xfrm>
            <a:prstGeom prst="ellipse">
              <a:avLst/>
            </a:prstGeom>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sp>
        <p:sp>
          <p:nvSpPr>
            <p:cNvPr id="11" name="Oval 4"/>
            <p:cNvSpPr/>
            <p:nvPr/>
          </p:nvSpPr>
          <p:spPr>
            <a:xfrm>
              <a:off x="328292" y="290192"/>
              <a:ext cx="1400815" cy="1400815"/>
            </a:xfrm>
            <a:prstGeom prst="rect">
              <a:avLst/>
            </a:prstGeom>
            <a:sp3d/>
          </p:spPr>
          <p:style>
            <a:lnRef idx="0">
              <a:scrgbClr r="0" g="0" b="0"/>
            </a:lnRef>
            <a:fillRef idx="0">
              <a:scrgbClr r="0" g="0" b="0"/>
            </a:fillRef>
            <a:effectRef idx="0">
              <a:scrgbClr r="0" g="0" b="0"/>
            </a:effectRef>
            <a:fontRef idx="minor">
              <a:schemeClr val="lt1"/>
            </a:fontRef>
          </p:style>
          <p:txBody>
            <a:bodyPr lIns="17780" tIns="17780" rIns="17780" bIns="17780" spcCol="1270" anchor="ctr"/>
            <a:lstStyle/>
            <a:p>
              <a:pPr algn="ctr" defTabSz="622300">
                <a:lnSpc>
                  <a:spcPct val="90000"/>
                </a:lnSpc>
                <a:spcAft>
                  <a:spcPct val="35000"/>
                </a:spcAft>
                <a:defRPr/>
              </a:pPr>
              <a:r>
                <a:rPr lang="en-US" sz="1400" dirty="0"/>
                <a:t>Studies shows that an animated  interface  agents  </a:t>
              </a:r>
              <a:r>
                <a:rPr lang="en-US" sz="1400" b="1" dirty="0">
                  <a:solidFill>
                    <a:schemeClr val="accent3">
                      <a:lumMod val="60000"/>
                      <a:lumOff val="40000"/>
                    </a:schemeClr>
                  </a:solidFill>
                </a:rPr>
                <a:t>increase a sense of social presence </a:t>
              </a:r>
            </a:p>
          </p:txBody>
        </p:sp>
      </p:grpSp>
    </p:spTree>
    <p:controls>
      <mc:AlternateContent xmlns:mc="http://schemas.openxmlformats.org/markup-compatibility/2006">
        <mc:Choice xmlns:v="urn:schemas-microsoft-com:vml" Requires="v">
          <p:control spid="3080" name="WindowsMediaPlayer2" r:id="rId2" imgW="2742857" imgH="380852"/>
        </mc:Choice>
        <mc:Fallback>
          <p:control name="WindowsMediaPlayer2" r:id="rId2" imgW="2742857" imgH="380852">
            <p:pic>
              <p:nvPicPr>
                <p:cNvPr id="0" name="WindowsMediaPlayer2"/>
                <p:cNvPicPr preferRelativeResize="0">
                  <a:picLocks noChangeArrowheads="1" noChangeShapeType="1"/>
                </p:cNvPicPr>
                <p:nvPr/>
              </p:nvPicPr>
              <p:blipFill>
                <a:blip r:embed="rId6">
                  <a:extLst>
                    <a:ext uri="{28A0092B-C50C-407E-A947-70E740481C1C}">
                      <a14:useLocalDpi xmlns:a14="http://schemas.microsoft.com/office/drawing/2010/main" val="0"/>
                    </a:ext>
                  </a:extLst>
                </a:blip>
                <a:srcRect/>
                <a:stretch>
                  <a:fillRect/>
                </a:stretch>
              </p:blipFill>
              <p:spPr bwMode="auto">
                <a:xfrm>
                  <a:off x="3352800" y="6172200"/>
                  <a:ext cx="2743200" cy="381000"/>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idx="4294967295"/>
          </p:nvPr>
        </p:nvSpPr>
        <p:spPr>
          <a:xfrm>
            <a:off x="457200" y="704850"/>
            <a:ext cx="8229600" cy="819150"/>
          </a:xfrm>
        </p:spPr>
        <p:txBody>
          <a:bodyPr/>
          <a:lstStyle/>
          <a:p>
            <a:pPr eaLnBrk="1" hangingPunct="1"/>
            <a:r>
              <a:rPr lang="en-US" sz="4000" smtClean="0"/>
              <a:t>A Reciprocity Example  </a:t>
            </a:r>
          </a:p>
        </p:txBody>
      </p:sp>
      <p:pic>
        <p:nvPicPr>
          <p:cNvPr id="23555" name="Picture 4" descr="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524000"/>
            <a:ext cx="4924425"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6" name="Picture 5" descr="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9575" y="3581400"/>
            <a:ext cx="4924425"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557" name="Group 7"/>
          <p:cNvGrpSpPr>
            <a:grpSpLocks/>
          </p:cNvGrpSpPr>
          <p:nvPr/>
        </p:nvGrpSpPr>
        <p:grpSpPr bwMode="auto">
          <a:xfrm>
            <a:off x="6781800" y="5495925"/>
            <a:ext cx="1042988" cy="1133475"/>
            <a:chOff x="6424612" y="5105400"/>
            <a:chExt cx="1042988" cy="1133475"/>
          </a:xfrm>
        </p:grpSpPr>
        <p:sp>
          <p:nvSpPr>
            <p:cNvPr id="6" name="Rectangle 5"/>
            <p:cNvSpPr/>
            <p:nvPr/>
          </p:nvSpPr>
          <p:spPr>
            <a:xfrm>
              <a:off x="6424612" y="5105400"/>
              <a:ext cx="1042988" cy="495300"/>
            </a:xfrm>
            <a:prstGeom prst="rect">
              <a:avLst/>
            </a:prstGeom>
            <a:solidFill>
              <a:schemeClr val="lt1">
                <a:alpha val="0"/>
              </a:schemeClr>
            </a:solidFill>
            <a:ln>
              <a:solidFill>
                <a:srgbClr val="FF0000"/>
              </a:solidFill>
            </a:ln>
          </p:spPr>
          <p:style>
            <a:lnRef idx="2">
              <a:schemeClr val="accent2"/>
            </a:lnRef>
            <a:fillRef idx="1">
              <a:schemeClr val="lt1"/>
            </a:fillRef>
            <a:effectRef idx="0">
              <a:schemeClr val="accent2"/>
            </a:effectRef>
            <a:fontRef idx="minor">
              <a:schemeClr val="dk1"/>
            </a:fontRef>
          </p:style>
          <p:txBody>
            <a:bodyPr anchor="ctr"/>
            <a:lstStyle/>
            <a:p>
              <a:pPr algn="ctr" fontAlgn="auto">
                <a:spcBef>
                  <a:spcPts val="0"/>
                </a:spcBef>
                <a:spcAft>
                  <a:spcPts val="0"/>
                </a:spcAft>
                <a:defRPr/>
              </a:pPr>
              <a:endParaRPr lang="en-US"/>
            </a:p>
          </p:txBody>
        </p:sp>
        <p:cxnSp>
          <p:nvCxnSpPr>
            <p:cNvPr id="7" name="Straight Arrow Connector 6"/>
            <p:cNvCxnSpPr/>
            <p:nvPr/>
          </p:nvCxnSpPr>
          <p:spPr>
            <a:xfrm flipV="1">
              <a:off x="6958012" y="5610225"/>
              <a:ext cx="1588" cy="628650"/>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grpSp>
    </p:spTree>
    <p:controls>
      <mc:AlternateContent xmlns:mc="http://schemas.openxmlformats.org/markup-compatibility/2006">
        <mc:Choice xmlns:v="urn:schemas-microsoft-com:vml" Requires="v">
          <p:control spid="9220" name="WindowsMediaPlayer2" r:id="rId2" imgW="2742857" imgH="380852"/>
        </mc:Choice>
        <mc:Fallback>
          <p:control name="WindowsMediaPlayer2" r:id="rId2" imgW="2742857" imgH="380852">
            <p:pic>
              <p:nvPicPr>
                <p:cNvPr id="0" name="WindowsMediaPlayer2"/>
                <p:cNvPicPr preferRelativeResize="0">
                  <a:picLocks noChangeArrowheads="1" noChangeShapeType="1"/>
                </p:cNvPicPr>
                <p:nvPr/>
              </p:nvPicPr>
              <p:blipFill>
                <a:blip r:embed="rId6">
                  <a:extLst>
                    <a:ext uri="{28A0092B-C50C-407E-A947-70E740481C1C}">
                      <a14:useLocalDpi xmlns:a14="http://schemas.microsoft.com/office/drawing/2010/main" val="0"/>
                    </a:ext>
                  </a:extLst>
                </a:blip>
                <a:srcRect/>
                <a:stretch>
                  <a:fillRect/>
                </a:stretch>
              </p:blipFill>
              <p:spPr bwMode="auto">
                <a:xfrm>
                  <a:off x="762000" y="6019800"/>
                  <a:ext cx="2743200" cy="381000"/>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457200" y="704850"/>
            <a:ext cx="8229600" cy="819150"/>
          </a:xfrm>
        </p:spPr>
        <p:txBody>
          <a:bodyPr/>
          <a:lstStyle/>
          <a:p>
            <a:pPr eaLnBrk="1" hangingPunct="1"/>
            <a:r>
              <a:rPr lang="en-US" sz="4000" smtClean="0">
                <a:cs typeface="Arial" charset="0"/>
              </a:rPr>
              <a:t>Participants &amp; Experiment Procedure</a:t>
            </a:r>
            <a:endParaRPr lang="en-US" sz="4000" smtClean="0"/>
          </a:p>
        </p:txBody>
      </p:sp>
      <p:sp>
        <p:nvSpPr>
          <p:cNvPr id="24579" name="Content Placeholder 2"/>
          <p:cNvSpPr>
            <a:spLocks noGrp="1"/>
          </p:cNvSpPr>
          <p:nvPr>
            <p:ph idx="1"/>
          </p:nvPr>
        </p:nvSpPr>
        <p:spPr>
          <a:xfrm>
            <a:off x="457200" y="1935163"/>
            <a:ext cx="8229600" cy="1493837"/>
          </a:xfrm>
        </p:spPr>
        <p:txBody>
          <a:bodyPr/>
          <a:lstStyle/>
          <a:p>
            <a:pPr eaLnBrk="1" hangingPunct="1">
              <a:lnSpc>
                <a:spcPct val="90000"/>
              </a:lnSpc>
            </a:pPr>
            <a:r>
              <a:rPr lang="en-US" sz="2000" b="1" smtClean="0">
                <a:cs typeface="Arial" charset="0"/>
              </a:rPr>
              <a:t>Participants:</a:t>
            </a:r>
          </a:p>
          <a:p>
            <a:pPr lvl="1" eaLnBrk="1" hangingPunct="1">
              <a:lnSpc>
                <a:spcPct val="90000"/>
              </a:lnSpc>
            </a:pPr>
            <a:r>
              <a:rPr lang="en-US" sz="1800" b="1" smtClean="0">
                <a:solidFill>
                  <a:srgbClr val="0070C0"/>
                </a:solidFill>
                <a:cs typeface="Arial" charset="0"/>
              </a:rPr>
              <a:t>Sixty-nine </a:t>
            </a:r>
            <a:r>
              <a:rPr lang="en-US" sz="1800" smtClean="0">
                <a:cs typeface="Arial" charset="0"/>
              </a:rPr>
              <a:t>participants attended our main experiment  (</a:t>
            </a:r>
            <a:r>
              <a:rPr lang="en-US" sz="1800" b="1" smtClean="0">
                <a:solidFill>
                  <a:srgbClr val="0070C0"/>
                </a:solidFill>
                <a:cs typeface="Arial" charset="0"/>
              </a:rPr>
              <a:t>Seventy-eight</a:t>
            </a:r>
            <a:r>
              <a:rPr lang="en-US" sz="1800" smtClean="0">
                <a:cs typeface="Arial" charset="0"/>
              </a:rPr>
              <a:t>  participants attended our pilot studies). </a:t>
            </a:r>
          </a:p>
          <a:p>
            <a:pPr lvl="2" eaLnBrk="1" hangingPunct="1">
              <a:lnSpc>
                <a:spcPct val="90000"/>
              </a:lnSpc>
            </a:pPr>
            <a:r>
              <a:rPr lang="en-US" sz="1500" smtClean="0">
                <a:cs typeface="Arial" charset="0"/>
              </a:rPr>
              <a:t>About 68% of the participants were female students.</a:t>
            </a:r>
          </a:p>
          <a:p>
            <a:pPr lvl="2" eaLnBrk="1" hangingPunct="1">
              <a:lnSpc>
                <a:spcPct val="90000"/>
              </a:lnSpc>
            </a:pPr>
            <a:r>
              <a:rPr lang="en-US" sz="1500" smtClean="0">
                <a:cs typeface="Arial" charset="0"/>
              </a:rPr>
              <a:t>Their ages ranged from 18 to 40, with an average of 22.  </a:t>
            </a:r>
          </a:p>
          <a:p>
            <a:pPr eaLnBrk="1" hangingPunct="1">
              <a:lnSpc>
                <a:spcPct val="90000"/>
              </a:lnSpc>
            </a:pPr>
            <a:endParaRPr lang="en-US" sz="2000" smtClean="0">
              <a:cs typeface="Arial" charset="0"/>
            </a:endParaRPr>
          </a:p>
        </p:txBody>
      </p:sp>
      <p:sp>
        <p:nvSpPr>
          <p:cNvPr id="4" name="Content Placeholder 2"/>
          <p:cNvSpPr txBox="1">
            <a:spLocks/>
          </p:cNvSpPr>
          <p:nvPr/>
        </p:nvSpPr>
        <p:spPr bwMode="auto">
          <a:xfrm>
            <a:off x="457200" y="4038600"/>
            <a:ext cx="8382000" cy="1905000"/>
          </a:xfrm>
          <a:prstGeom prst="rect">
            <a:avLst/>
          </a:prstGeom>
          <a:solidFill>
            <a:schemeClr val="accent4">
              <a:lumMod val="20000"/>
              <a:lumOff val="80000"/>
            </a:schemeClr>
          </a:solidFill>
          <a:ln w="9525">
            <a:noFill/>
            <a:miter lim="800000"/>
            <a:headEnd/>
            <a:tailEnd/>
          </a:ln>
        </p:spPr>
        <p:txBody>
          <a:bodyPr/>
          <a:lstStyle/>
          <a:p>
            <a:pPr marL="273050" indent="-273050">
              <a:lnSpc>
                <a:spcPct val="80000"/>
              </a:lnSpc>
              <a:spcBef>
                <a:spcPct val="20000"/>
              </a:spcBef>
              <a:buClr>
                <a:srgbClr val="E7BC29"/>
              </a:buClr>
              <a:buSzPct val="95000"/>
              <a:buFont typeface="Wingdings 2" pitchFamily="18" charset="2"/>
              <a:buChar char=""/>
              <a:defRPr/>
            </a:pPr>
            <a:r>
              <a:rPr lang="en-US" sz="2000" b="1" dirty="0">
                <a:latin typeface="+mn-lt"/>
              </a:rPr>
              <a:t>Procedure:</a:t>
            </a:r>
          </a:p>
          <a:p>
            <a:pPr marL="730250" lvl="1" indent="-273050">
              <a:lnSpc>
                <a:spcPct val="80000"/>
              </a:lnSpc>
              <a:spcBef>
                <a:spcPct val="20000"/>
              </a:spcBef>
              <a:buClr>
                <a:srgbClr val="E7BC29"/>
              </a:buClr>
              <a:buSzPct val="95000"/>
              <a:buFont typeface="Wingdings 2" pitchFamily="18" charset="2"/>
              <a:buChar char=""/>
              <a:defRPr/>
            </a:pPr>
            <a:r>
              <a:rPr lang="en-US" dirty="0">
                <a:latin typeface="+mn-lt"/>
              </a:rPr>
              <a:t>We posted signup sheets in Psychology Department.</a:t>
            </a:r>
          </a:p>
          <a:p>
            <a:pPr marL="730250" lvl="1" indent="-273050">
              <a:lnSpc>
                <a:spcPct val="80000"/>
              </a:lnSpc>
              <a:spcBef>
                <a:spcPct val="20000"/>
              </a:spcBef>
              <a:buClr>
                <a:srgbClr val="E7BC29"/>
              </a:buClr>
              <a:buSzPct val="95000"/>
              <a:buFont typeface="Wingdings 2" pitchFamily="18" charset="2"/>
              <a:buChar char=""/>
              <a:defRPr/>
            </a:pPr>
            <a:r>
              <a:rPr lang="en-US" dirty="0">
                <a:latin typeface="+mn-lt"/>
              </a:rPr>
              <a:t>Students came to CS lab and signed a consent form.</a:t>
            </a:r>
          </a:p>
          <a:p>
            <a:pPr marL="730250" lvl="1" indent="-273050">
              <a:lnSpc>
                <a:spcPct val="80000"/>
              </a:lnSpc>
              <a:spcBef>
                <a:spcPct val="20000"/>
              </a:spcBef>
              <a:buClr>
                <a:srgbClr val="E7BC29"/>
              </a:buClr>
              <a:buSzPct val="95000"/>
              <a:buFont typeface="Wingdings 2" pitchFamily="18" charset="2"/>
              <a:buChar char=""/>
              <a:defRPr/>
            </a:pPr>
            <a:r>
              <a:rPr lang="en-US" dirty="0">
                <a:latin typeface="+mn-lt"/>
              </a:rPr>
              <a:t>We gave them introduction about the experiment and handed over a PDA.</a:t>
            </a:r>
          </a:p>
          <a:p>
            <a:pPr marL="730250" lvl="1" indent="-273050">
              <a:lnSpc>
                <a:spcPct val="80000"/>
              </a:lnSpc>
              <a:spcBef>
                <a:spcPct val="20000"/>
              </a:spcBef>
              <a:buClr>
                <a:srgbClr val="E7BC29"/>
              </a:buClr>
              <a:buSzPct val="95000"/>
              <a:buFont typeface="Wingdings 2" pitchFamily="18" charset="2"/>
              <a:buChar char=""/>
              <a:defRPr/>
            </a:pPr>
            <a:r>
              <a:rPr lang="en-US" dirty="0">
                <a:latin typeface="+mn-lt"/>
              </a:rPr>
              <a:t>Experiment lasted for approximately 20 minutes.</a:t>
            </a:r>
          </a:p>
          <a:p>
            <a:pPr marL="730250" lvl="1" indent="-273050">
              <a:lnSpc>
                <a:spcPct val="80000"/>
              </a:lnSpc>
              <a:spcBef>
                <a:spcPct val="20000"/>
              </a:spcBef>
              <a:buClr>
                <a:srgbClr val="E7BC29"/>
              </a:buClr>
              <a:buSzPct val="95000"/>
              <a:buFont typeface="Wingdings 2" pitchFamily="18" charset="2"/>
              <a:buChar char=""/>
              <a:defRPr/>
            </a:pPr>
            <a:r>
              <a:rPr lang="en-US" dirty="0">
                <a:latin typeface="+mn-lt"/>
              </a:rPr>
              <a:t>Students completed a survey in approximately in 15 minutes.</a:t>
            </a:r>
            <a:endParaRPr lang="en-US" sz="2000" dirty="0">
              <a:latin typeface="+mn-lt"/>
            </a:endParaRPr>
          </a:p>
          <a:p>
            <a:pPr marL="273050" indent="-273050">
              <a:lnSpc>
                <a:spcPct val="80000"/>
              </a:lnSpc>
              <a:spcBef>
                <a:spcPct val="20000"/>
              </a:spcBef>
              <a:buClr>
                <a:srgbClr val="E7BC29"/>
              </a:buClr>
              <a:buSzPct val="95000"/>
              <a:buFont typeface="Wingdings 2" pitchFamily="18" charset="2"/>
              <a:buChar char=""/>
              <a:defRPr/>
            </a:pPr>
            <a:endParaRPr lang="en-US" sz="2000" dirty="0">
              <a:latin typeface="+mn-lt"/>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idx="4294967295"/>
          </p:nvPr>
        </p:nvSpPr>
        <p:spPr>
          <a:xfrm>
            <a:off x="457200" y="704850"/>
            <a:ext cx="8229600" cy="819150"/>
          </a:xfrm>
        </p:spPr>
        <p:txBody>
          <a:bodyPr/>
          <a:lstStyle/>
          <a:p>
            <a:pPr eaLnBrk="1" hangingPunct="1"/>
            <a:r>
              <a:rPr lang="en-US" sz="4000" smtClean="0">
                <a:cs typeface="Arial" charset="0"/>
              </a:rPr>
              <a:t>Selection of the Identity Elements</a:t>
            </a:r>
            <a:endParaRPr lang="en-US" sz="4000" smtClean="0"/>
          </a:p>
        </p:txBody>
      </p:sp>
      <p:pic>
        <p:nvPicPr>
          <p:cNvPr id="30723" name="Picture 2" descr="C:\Ajinkya\PervasiveLab\InfoSource\Other Files\Projects Screen shots\importance of identity elements.png"/>
          <p:cNvPicPr>
            <a:picLocks noChangeAspect="1" noChangeArrowheads="1"/>
          </p:cNvPicPr>
          <p:nvPr/>
        </p:nvPicPr>
        <p:blipFill>
          <a:blip r:embed="rId2"/>
          <a:srcRect/>
          <a:stretch>
            <a:fillRect/>
          </a:stretch>
        </p:blipFill>
        <p:spPr bwMode="auto">
          <a:xfrm>
            <a:off x="228600" y="1600200"/>
            <a:ext cx="4281488" cy="4953000"/>
          </a:xfrm>
          <a:prstGeom prst="rect">
            <a:avLst/>
          </a:prstGeom>
          <a:ln>
            <a:noFill/>
          </a:ln>
          <a:effectLst>
            <a:outerShdw blurRad="292100" dist="139700" dir="2700000" algn="tl" rotWithShape="0">
              <a:srgbClr val="333333">
                <a:alpha val="65000"/>
              </a:srgbClr>
            </a:outerShdw>
          </a:effectLst>
        </p:spPr>
      </p:pic>
      <p:sp>
        <p:nvSpPr>
          <p:cNvPr id="25604" name="Rectangle 3"/>
          <p:cNvSpPr>
            <a:spLocks noGrp="1" noChangeArrowheads="1"/>
          </p:cNvSpPr>
          <p:nvPr>
            <p:ph idx="4294967295"/>
          </p:nvPr>
        </p:nvSpPr>
        <p:spPr>
          <a:xfrm>
            <a:off x="4724400" y="1643063"/>
            <a:ext cx="3886200" cy="2090737"/>
          </a:xfrm>
        </p:spPr>
        <p:txBody>
          <a:bodyPr/>
          <a:lstStyle/>
          <a:p>
            <a:pPr eaLnBrk="1" hangingPunct="1">
              <a:lnSpc>
                <a:spcPct val="80000"/>
              </a:lnSpc>
            </a:pPr>
            <a:r>
              <a:rPr lang="en-US" sz="2000" smtClean="0">
                <a:cs typeface="Arial" charset="0"/>
              </a:rPr>
              <a:t>In  one  of  our  previous  research  projects,  we  asked  229  participants  to rate how important it is to keep 26 identity elements private. </a:t>
            </a:r>
          </a:p>
        </p:txBody>
      </p:sp>
      <p:sp>
        <p:nvSpPr>
          <p:cNvPr id="30725" name="Rectangle 5"/>
          <p:cNvSpPr>
            <a:spLocks noChangeArrowheads="1"/>
          </p:cNvSpPr>
          <p:nvPr/>
        </p:nvSpPr>
        <p:spPr bwMode="auto">
          <a:xfrm>
            <a:off x="5105400" y="3810000"/>
            <a:ext cx="3429000" cy="2014538"/>
          </a:xfrm>
          <a:prstGeom prst="rect">
            <a:avLst/>
          </a:prstGeom>
          <a:noFill/>
          <a:ln w="9525">
            <a:noFill/>
            <a:miter lim="800000"/>
            <a:headEnd/>
            <a:tailEnd/>
          </a:ln>
        </p:spPr>
        <p:txBody>
          <a:bodyPr>
            <a:spAutoFit/>
          </a:bodyPr>
          <a:lstStyle/>
          <a:p>
            <a:pPr marL="342900" indent="-342900">
              <a:defRPr/>
            </a:pPr>
            <a:r>
              <a:rPr lang="en-US" b="1" dirty="0">
                <a:solidFill>
                  <a:srgbClr val="0070C0"/>
                </a:solidFill>
                <a:latin typeface="+mn-lt"/>
              </a:rPr>
              <a:t>Selected Identity Elements:</a:t>
            </a:r>
          </a:p>
          <a:p>
            <a:pPr marL="342900" indent="-342900">
              <a:buFontTx/>
              <a:buChar char="•"/>
              <a:defRPr/>
            </a:pPr>
            <a:endParaRPr lang="en-US" dirty="0">
              <a:latin typeface="+mn-lt"/>
            </a:endParaRPr>
          </a:p>
          <a:p>
            <a:pPr marL="342900" indent="-342900">
              <a:buFont typeface="Calibri" pitchFamily="34" charset="0"/>
              <a:buAutoNum type="arabicPeriod"/>
              <a:defRPr/>
            </a:pPr>
            <a:r>
              <a:rPr lang="en-US" dirty="0">
                <a:latin typeface="+mn-lt"/>
              </a:rPr>
              <a:t>Birthday</a:t>
            </a:r>
          </a:p>
          <a:p>
            <a:pPr marL="342900" indent="-342900">
              <a:buFont typeface="Calibri" pitchFamily="34" charset="0"/>
              <a:buAutoNum type="arabicPeriod"/>
              <a:defRPr/>
            </a:pPr>
            <a:r>
              <a:rPr lang="en-US" dirty="0">
                <a:latin typeface="+mn-lt"/>
              </a:rPr>
              <a:t>Email</a:t>
            </a:r>
          </a:p>
          <a:p>
            <a:pPr marL="342900" indent="-342900">
              <a:buFont typeface="Calibri" pitchFamily="34" charset="0"/>
              <a:buAutoNum type="arabicPeriod"/>
              <a:defRPr/>
            </a:pPr>
            <a:r>
              <a:rPr lang="en-US" dirty="0">
                <a:latin typeface="+mn-lt"/>
              </a:rPr>
              <a:t>Monthly Income</a:t>
            </a:r>
          </a:p>
          <a:p>
            <a:pPr marL="342900" indent="-342900">
              <a:buFont typeface="Calibri" pitchFamily="34" charset="0"/>
              <a:buAutoNum type="arabicPeriod"/>
              <a:defRPr/>
            </a:pPr>
            <a:r>
              <a:rPr lang="en-US" dirty="0">
                <a:latin typeface="+mn-lt"/>
              </a:rPr>
              <a:t>Phone Number</a:t>
            </a:r>
          </a:p>
          <a:p>
            <a:pPr marL="342900" indent="-342900">
              <a:buFont typeface="Calibri" pitchFamily="34" charset="0"/>
              <a:buAutoNum type="arabicPeriod"/>
              <a:defRPr/>
            </a:pPr>
            <a:r>
              <a:rPr lang="en-US" dirty="0">
                <a:latin typeface="+mn-lt"/>
              </a:rPr>
              <a:t>Home Address</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nvGraphicFramePr>
        <p:xfrm>
          <a:off x="609600" y="2819400"/>
          <a:ext cx="8229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p:cNvSpPr>
          <p:nvPr>
            <p:ph type="title"/>
          </p:nvPr>
        </p:nvSpPr>
        <p:spPr/>
        <p:txBody>
          <a:bodyPr/>
          <a:lstStyle/>
          <a:p>
            <a:pPr eaLnBrk="1" hangingPunct="1"/>
            <a:r>
              <a:rPr lang="en-US" sz="4600" b="1" smtClean="0"/>
              <a:t>1. Birthday </a:t>
            </a:r>
            <a:r>
              <a:rPr lang="en-US" sz="4600" smtClean="0"/>
              <a:t/>
            </a:r>
            <a:br>
              <a:rPr lang="en-US" sz="4600" smtClean="0"/>
            </a:br>
            <a:endParaRPr lang="en-US" sz="4600" smtClean="0"/>
          </a:p>
        </p:txBody>
      </p:sp>
      <p:sp>
        <p:nvSpPr>
          <p:cNvPr id="4100" name="Rectangle 3"/>
          <p:cNvSpPr>
            <a:spLocks noGrp="1"/>
          </p:cNvSpPr>
          <p:nvPr>
            <p:ph type="body" idx="1"/>
          </p:nvPr>
        </p:nvSpPr>
        <p:spPr>
          <a:xfrm>
            <a:off x="457200" y="1935163"/>
            <a:ext cx="8229600" cy="2713037"/>
          </a:xfrm>
        </p:spPr>
        <p:txBody>
          <a:bodyPr/>
          <a:lstStyle/>
          <a:p>
            <a:pPr eaLnBrk="1" hangingPunct="1"/>
            <a:r>
              <a:rPr lang="en-US" b="1" smtClean="0">
                <a:solidFill>
                  <a:srgbClr val="0070C0"/>
                </a:solidFill>
              </a:rPr>
              <a:t>Reciprocity Attack:  </a:t>
            </a:r>
            <a:r>
              <a:rPr lang="en-US" sz="2200" smtClean="0"/>
              <a:t>Country pop music album </a:t>
            </a:r>
            <a:r>
              <a:rPr lang="en-US" sz="2200" i="1" smtClean="0"/>
              <a:t>Fearless </a:t>
            </a:r>
            <a:r>
              <a:rPr lang="en-US" sz="2200" smtClean="0"/>
              <a:t>has its roots in soft pop which is usually popular with people born under the zodiac sign of Aquarius (born in between Jan 21 and Feb 19) as they are known to be sensitive, gentle and patient.</a:t>
            </a:r>
            <a:r>
              <a:rPr lang="en-US" smtClean="0"/>
              <a:t>  </a:t>
            </a:r>
          </a:p>
          <a:p>
            <a:pPr eaLnBrk="1" hangingPunct="1"/>
            <a:endParaRPr lang="en-US" smtClean="0"/>
          </a:p>
          <a:p>
            <a:pPr eaLnBrk="1" hangingPunct="1"/>
            <a:r>
              <a:rPr lang="en-US" b="1" smtClean="0">
                <a:solidFill>
                  <a:srgbClr val="0070C0"/>
                </a:solidFill>
              </a:rPr>
              <a:t>Question</a:t>
            </a:r>
            <a:r>
              <a:rPr lang="en-US" smtClean="0">
                <a:solidFill>
                  <a:srgbClr val="0070C0"/>
                </a:solidFill>
              </a:rPr>
              <a:t>: </a:t>
            </a:r>
            <a:r>
              <a:rPr lang="en-US" sz="2200" smtClean="0"/>
              <a:t>What is your date of birth?</a:t>
            </a:r>
            <a:r>
              <a:rPr lang="en-US" smtClean="0"/>
              <a:t> </a:t>
            </a:r>
          </a:p>
          <a:p>
            <a:pPr lvl="1" eaLnBrk="1" hangingPunct="1"/>
            <a:endParaRPr lang="en-US" smtClean="0"/>
          </a:p>
        </p:txBody>
      </p:sp>
    </p:spTree>
    <p:controls>
      <mc:AlternateContent xmlns:mc="http://schemas.openxmlformats.org/markup-compatibility/2006">
        <mc:Choice xmlns:v="urn:schemas-microsoft-com:vml" Requires="v">
          <p:control spid="4104" name="WindowsMediaPlayer2" r:id="rId2" imgW="2742857" imgH="1828571"/>
        </mc:Choice>
        <mc:Fallback>
          <p:control name="WindowsMediaPlayer2" r:id="rId2" imgW="2742857" imgH="1828571">
            <p:pic>
              <p:nvPicPr>
                <p:cNvPr id="0" name="WindowsMediaPlayer2"/>
                <p:cNvPicPr preferRelativeResize="0">
                  <a:picLocks noChangeArrowheads="1" noChangeShapeType="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4724400"/>
                  <a:ext cx="2743200" cy="1828800"/>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p:cNvSpPr>
          <p:nvPr>
            <p:ph type="title"/>
          </p:nvPr>
        </p:nvSpPr>
        <p:spPr/>
        <p:txBody>
          <a:bodyPr/>
          <a:lstStyle/>
          <a:p>
            <a:pPr eaLnBrk="1" hangingPunct="1"/>
            <a:r>
              <a:rPr lang="en-US" sz="4600" b="1" smtClean="0"/>
              <a:t>2. Email </a:t>
            </a:r>
            <a:r>
              <a:rPr lang="en-US" sz="4600" smtClean="0"/>
              <a:t/>
            </a:r>
            <a:br>
              <a:rPr lang="en-US" sz="4600" smtClean="0"/>
            </a:br>
            <a:endParaRPr lang="en-US" sz="4600" smtClean="0"/>
          </a:p>
        </p:txBody>
      </p:sp>
      <p:sp>
        <p:nvSpPr>
          <p:cNvPr id="5124" name="Rectangle 3"/>
          <p:cNvSpPr>
            <a:spLocks noGrp="1"/>
          </p:cNvSpPr>
          <p:nvPr>
            <p:ph type="body" idx="1"/>
          </p:nvPr>
        </p:nvSpPr>
        <p:spPr>
          <a:xfrm>
            <a:off x="381000" y="1524000"/>
            <a:ext cx="8229600" cy="4389438"/>
          </a:xfrm>
        </p:spPr>
        <p:txBody>
          <a:bodyPr/>
          <a:lstStyle/>
          <a:p>
            <a:pPr eaLnBrk="1" hangingPunct="1">
              <a:lnSpc>
                <a:spcPct val="90000"/>
              </a:lnSpc>
            </a:pPr>
            <a:r>
              <a:rPr lang="en-US" b="1" smtClean="0">
                <a:solidFill>
                  <a:srgbClr val="0070C0"/>
                </a:solidFill>
              </a:rPr>
              <a:t>Reciprocity Attack:  </a:t>
            </a:r>
            <a:r>
              <a:rPr lang="en-US" sz="2400" smtClean="0"/>
              <a:t>Tune-Nation maintains a fan club website. The current screen shows one of the web pages. It can be viewed via your computer, a smart phone such as iPhone, or a handheld device such as iPod Touch.</a:t>
            </a:r>
          </a:p>
          <a:p>
            <a:pPr eaLnBrk="1" hangingPunct="1">
              <a:lnSpc>
                <a:spcPct val="90000"/>
              </a:lnSpc>
              <a:buFont typeface="Wingdings 2" pitchFamily="18" charset="2"/>
              <a:buNone/>
            </a:pPr>
            <a:r>
              <a:rPr lang="en-US" sz="2400" smtClean="0"/>
              <a:t>            Unlike other fan club sites, our website focuses on new releases, customer ratings, and their recommendations. We will use your email addresses as your identification, while you specify your own display name to be displayed on the website. We will not send you any email unless you explicitly request it. </a:t>
            </a:r>
          </a:p>
          <a:p>
            <a:pPr eaLnBrk="1" hangingPunct="1">
              <a:lnSpc>
                <a:spcPct val="90000"/>
              </a:lnSpc>
            </a:pPr>
            <a:endParaRPr lang="en-US" sz="2400" smtClean="0"/>
          </a:p>
          <a:p>
            <a:pPr eaLnBrk="1" hangingPunct="1">
              <a:lnSpc>
                <a:spcPct val="90000"/>
              </a:lnSpc>
            </a:pPr>
            <a:r>
              <a:rPr lang="en-US" b="1" smtClean="0">
                <a:solidFill>
                  <a:srgbClr val="0070C0"/>
                </a:solidFill>
              </a:rPr>
              <a:t>Question</a:t>
            </a:r>
            <a:r>
              <a:rPr lang="en-US" smtClean="0">
                <a:solidFill>
                  <a:srgbClr val="0070C0"/>
                </a:solidFill>
              </a:rPr>
              <a:t>: </a:t>
            </a:r>
            <a:r>
              <a:rPr lang="en-US" sz="2200" smtClean="0"/>
              <a:t>Type your email address and your display name. </a:t>
            </a:r>
          </a:p>
        </p:txBody>
      </p:sp>
    </p:spTree>
    <p:controls>
      <mc:AlternateContent xmlns:mc="http://schemas.openxmlformats.org/markup-compatibility/2006">
        <mc:Choice xmlns:v="urn:schemas-microsoft-com:vml" Requires="v">
          <p:control spid="5128" name="WindowsMediaPlayer2" r:id="rId2" imgW="2742857" imgH="380852"/>
        </mc:Choice>
        <mc:Fallback>
          <p:control name="WindowsMediaPlayer2" r:id="rId2" imgW="2742857" imgH="380852">
            <p:pic>
              <p:nvPicPr>
                <p:cNvPr id="0" name="WindowsMediaPlayer2"/>
                <p:cNvPicPr preferRelativeResize="0">
                  <a:picLocks noChangeArrowheads="1" noChangeShapeType="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6172200"/>
                  <a:ext cx="2743200" cy="381000"/>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p:cNvSpPr>
          <p:nvPr>
            <p:ph type="title"/>
          </p:nvPr>
        </p:nvSpPr>
        <p:spPr/>
        <p:txBody>
          <a:bodyPr/>
          <a:lstStyle/>
          <a:p>
            <a:pPr eaLnBrk="1" hangingPunct="1"/>
            <a:r>
              <a:rPr lang="en-US" sz="4600" b="1" smtClean="0"/>
              <a:t>3. Monthly Income </a:t>
            </a:r>
            <a:r>
              <a:rPr lang="en-US" sz="4600" smtClean="0"/>
              <a:t/>
            </a:r>
            <a:br>
              <a:rPr lang="en-US" sz="4600" smtClean="0"/>
            </a:br>
            <a:endParaRPr lang="en-US" sz="4600" smtClean="0"/>
          </a:p>
        </p:txBody>
      </p:sp>
      <p:sp>
        <p:nvSpPr>
          <p:cNvPr id="6148" name="Rectangle 3"/>
          <p:cNvSpPr>
            <a:spLocks noGrp="1"/>
          </p:cNvSpPr>
          <p:nvPr>
            <p:ph type="body" idx="1"/>
          </p:nvPr>
        </p:nvSpPr>
        <p:spPr/>
        <p:txBody>
          <a:bodyPr/>
          <a:lstStyle/>
          <a:p>
            <a:pPr eaLnBrk="1" hangingPunct="1"/>
            <a:r>
              <a:rPr lang="en-US" b="1" smtClean="0">
                <a:solidFill>
                  <a:srgbClr val="0070C0"/>
                </a:solidFill>
              </a:rPr>
              <a:t>Reciprocity Attack: </a:t>
            </a:r>
            <a:r>
              <a:rPr lang="en-US" sz="2200" smtClean="0"/>
              <a:t>At Tune-Nation, we seek to provide great customer satisfaction by accurately recommending songs and music CD albums that our customers are going to love. </a:t>
            </a:r>
          </a:p>
          <a:p>
            <a:pPr eaLnBrk="1" hangingPunct="1">
              <a:buFont typeface="Wingdings 2" pitchFamily="18" charset="2"/>
              <a:buNone/>
            </a:pPr>
            <a:r>
              <a:rPr lang="en-US" sz="2200" smtClean="0"/>
              <a:t>             We are building a world class music genre recommendation system to bring you great value and accuracy. More than 75% of the customers like the CD albums that we suggested. I would like to recommend another CD album for you.</a:t>
            </a:r>
            <a:r>
              <a:rPr lang="en-US" smtClean="0"/>
              <a:t> </a:t>
            </a:r>
          </a:p>
          <a:p>
            <a:pPr eaLnBrk="1" hangingPunct="1"/>
            <a:endParaRPr lang="en-US" smtClean="0"/>
          </a:p>
          <a:p>
            <a:pPr eaLnBrk="1" hangingPunct="1"/>
            <a:r>
              <a:rPr lang="en-US" b="1" smtClean="0">
                <a:solidFill>
                  <a:srgbClr val="0070C0"/>
                </a:solidFill>
              </a:rPr>
              <a:t>Question: </a:t>
            </a:r>
            <a:r>
              <a:rPr lang="en-US" sz="2200" smtClean="0"/>
              <a:t>Select one of your favorite genres and please select your monthly income  or monthly expenses. </a:t>
            </a:r>
          </a:p>
        </p:txBody>
      </p:sp>
    </p:spTree>
    <p:controls>
      <mc:AlternateContent xmlns:mc="http://schemas.openxmlformats.org/markup-compatibility/2006">
        <mc:Choice xmlns:v="urn:schemas-microsoft-com:vml" Requires="v">
          <p:control spid="6152" name="WindowsMediaPlayer2" r:id="rId2" imgW="2742857" imgH="380852"/>
        </mc:Choice>
        <mc:Fallback>
          <p:control name="WindowsMediaPlayer2" r:id="rId2" imgW="2742857" imgH="380852">
            <p:pic>
              <p:nvPicPr>
                <p:cNvPr id="0" name="WindowsMediaPlayer2"/>
                <p:cNvPicPr preferRelativeResize="0">
                  <a:picLocks noChangeArrowheads="1" noChangeShapeType="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6172200"/>
                  <a:ext cx="2743200" cy="381000"/>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p:cNvSpPr>
          <p:nvPr>
            <p:ph type="title"/>
          </p:nvPr>
        </p:nvSpPr>
        <p:spPr/>
        <p:txBody>
          <a:bodyPr/>
          <a:lstStyle/>
          <a:p>
            <a:pPr eaLnBrk="1" hangingPunct="1"/>
            <a:r>
              <a:rPr lang="en-US" sz="4600" b="1" smtClean="0"/>
              <a:t>4. Phone Number </a:t>
            </a:r>
            <a:r>
              <a:rPr lang="en-US" sz="4600" smtClean="0"/>
              <a:t/>
            </a:r>
            <a:br>
              <a:rPr lang="en-US" sz="4600" smtClean="0"/>
            </a:br>
            <a:endParaRPr lang="en-US" sz="4600" smtClean="0"/>
          </a:p>
        </p:txBody>
      </p:sp>
      <p:sp>
        <p:nvSpPr>
          <p:cNvPr id="7172" name="Rectangle 3"/>
          <p:cNvSpPr>
            <a:spLocks noGrp="1"/>
          </p:cNvSpPr>
          <p:nvPr>
            <p:ph type="body" idx="1"/>
          </p:nvPr>
        </p:nvSpPr>
        <p:spPr/>
        <p:txBody>
          <a:bodyPr/>
          <a:lstStyle/>
          <a:p>
            <a:pPr eaLnBrk="1" hangingPunct="1"/>
            <a:r>
              <a:rPr lang="en-US" b="1" smtClean="0">
                <a:solidFill>
                  <a:srgbClr val="0070C0"/>
                </a:solidFill>
              </a:rPr>
              <a:t>Reciprocity Attack: </a:t>
            </a:r>
            <a:r>
              <a:rPr lang="en-US" sz="2200" smtClean="0"/>
              <a:t>You may choose to maintain your purchase records within Tune-Nation. Any songs, CD albums, and movies that you purchase at Tune-Nation stores may be downloaded from Tune-Nation website to your smart phone or cell phone. </a:t>
            </a:r>
          </a:p>
          <a:p>
            <a:pPr eaLnBrk="1" hangingPunct="1">
              <a:buFont typeface="Wingdings 2" pitchFamily="18" charset="2"/>
              <a:buNone/>
            </a:pPr>
            <a:r>
              <a:rPr lang="en-US" sz="2200" smtClean="0"/>
              <a:t>             Your phone number is your identification. You may switch to another phone number later. Remember Tune-Nation does not make any sales calls to the phone number that you provide. </a:t>
            </a:r>
          </a:p>
          <a:p>
            <a:pPr eaLnBrk="1" hangingPunct="1"/>
            <a:endParaRPr lang="en-US" sz="2200" smtClean="0"/>
          </a:p>
          <a:p>
            <a:pPr eaLnBrk="1" hangingPunct="1"/>
            <a:r>
              <a:rPr lang="en-US" b="1" smtClean="0">
                <a:solidFill>
                  <a:srgbClr val="0070C0"/>
                </a:solidFill>
              </a:rPr>
              <a:t>Question: </a:t>
            </a:r>
            <a:r>
              <a:rPr lang="en-US" sz="2200" smtClean="0"/>
              <a:t>Provide your phone number to maintain your purchase records with Tune-Nation. </a:t>
            </a:r>
          </a:p>
        </p:txBody>
      </p:sp>
    </p:spTree>
    <p:controls>
      <mc:AlternateContent xmlns:mc="http://schemas.openxmlformats.org/markup-compatibility/2006">
        <mc:Choice xmlns:v="urn:schemas-microsoft-com:vml" Requires="v">
          <p:control spid="7176" name="WindowsMediaPlayer2" r:id="rId2" imgW="2742857" imgH="380852"/>
        </mc:Choice>
        <mc:Fallback>
          <p:control name="WindowsMediaPlayer2" r:id="rId2" imgW="2742857" imgH="380852">
            <p:pic>
              <p:nvPicPr>
                <p:cNvPr id="0" name="WindowsMediaPlayer2"/>
                <p:cNvPicPr preferRelativeResize="0">
                  <a:picLocks noChangeArrowheads="1" noChangeShapeType="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6172200"/>
                  <a:ext cx="2743200" cy="381000"/>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p:cNvSpPr>
          <p:nvPr>
            <p:ph type="title"/>
          </p:nvPr>
        </p:nvSpPr>
        <p:spPr/>
        <p:txBody>
          <a:bodyPr/>
          <a:lstStyle/>
          <a:p>
            <a:pPr eaLnBrk="1" hangingPunct="1"/>
            <a:r>
              <a:rPr lang="en-US" sz="4600" b="1" smtClean="0"/>
              <a:t>5. Home Address </a:t>
            </a:r>
            <a:r>
              <a:rPr lang="en-US" sz="4600" smtClean="0"/>
              <a:t/>
            </a:r>
            <a:br>
              <a:rPr lang="en-US" sz="4600" smtClean="0"/>
            </a:br>
            <a:endParaRPr lang="en-US" sz="4600" smtClean="0"/>
          </a:p>
        </p:txBody>
      </p:sp>
      <p:sp>
        <p:nvSpPr>
          <p:cNvPr id="8196" name="Rectangle 3"/>
          <p:cNvSpPr>
            <a:spLocks noGrp="1"/>
          </p:cNvSpPr>
          <p:nvPr>
            <p:ph type="body" idx="1"/>
          </p:nvPr>
        </p:nvSpPr>
        <p:spPr/>
        <p:txBody>
          <a:bodyPr/>
          <a:lstStyle/>
          <a:p>
            <a:pPr eaLnBrk="1" hangingPunct="1"/>
            <a:r>
              <a:rPr lang="en-US" b="1" smtClean="0">
                <a:solidFill>
                  <a:srgbClr val="0070C0"/>
                </a:solidFill>
              </a:rPr>
              <a:t>Reciprocity Attack:  </a:t>
            </a:r>
            <a:r>
              <a:rPr lang="en-US" sz="2200" smtClean="0"/>
              <a:t>Throughout the year, we mail coupons to our customers. You will save 20% - 30% on any regular or “on sale” music and video products in store or online. On your birthday, you will receive an exclusive 40% off coupon.</a:t>
            </a:r>
          </a:p>
          <a:p>
            <a:pPr eaLnBrk="1" hangingPunct="1">
              <a:buFont typeface="Wingdings 2" pitchFamily="18" charset="2"/>
              <a:buNone/>
            </a:pPr>
            <a:endParaRPr lang="en-US" smtClean="0"/>
          </a:p>
          <a:p>
            <a:pPr eaLnBrk="1" hangingPunct="1"/>
            <a:r>
              <a:rPr lang="en-US" b="1" smtClean="0">
                <a:solidFill>
                  <a:srgbClr val="0070C0"/>
                </a:solidFill>
              </a:rPr>
              <a:t>Question: </a:t>
            </a:r>
            <a:r>
              <a:rPr lang="en-US" sz="2200" smtClean="0"/>
              <a:t>What is your home address? </a:t>
            </a:r>
          </a:p>
          <a:p>
            <a:pPr eaLnBrk="1" hangingPunct="1">
              <a:buFont typeface="Wingdings 2" pitchFamily="18" charset="2"/>
              <a:buNone/>
            </a:pPr>
            <a:endParaRPr lang="en-US" smtClean="0"/>
          </a:p>
        </p:txBody>
      </p:sp>
    </p:spTree>
    <p:controls>
      <mc:AlternateContent xmlns:mc="http://schemas.openxmlformats.org/markup-compatibility/2006">
        <mc:Choice xmlns:v="urn:schemas-microsoft-com:vml" Requires="v">
          <p:control spid="8200" name="WindowsMediaPlayer2" r:id="rId2" imgW="2742857" imgH="380852"/>
        </mc:Choice>
        <mc:Fallback>
          <p:control name="WindowsMediaPlayer2" r:id="rId2" imgW="2742857" imgH="380852">
            <p:pic>
              <p:nvPicPr>
                <p:cNvPr id="0" name="WindowsMediaPlayer2"/>
                <p:cNvPicPr preferRelativeResize="0">
                  <a:picLocks noChangeArrowheads="1" noChangeShapeType="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6172200"/>
                  <a:ext cx="2743200" cy="381000"/>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3" name="Picture 5" descr="birthday coupon"/>
          <p:cNvPicPr>
            <a:picLocks noChangeAspect="1" noChangeArrowheads="1"/>
          </p:cNvPicPr>
          <p:nvPr/>
        </p:nvPicPr>
        <p:blipFill>
          <a:blip r:embed="rId2" cstate="print"/>
          <a:srcRect/>
          <a:stretch>
            <a:fillRect/>
          </a:stretch>
        </p:blipFill>
        <p:spPr bwMode="auto">
          <a:xfrm>
            <a:off x="4876800" y="1066800"/>
            <a:ext cx="2428165" cy="36576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7651" name="Title 1"/>
          <p:cNvSpPr>
            <a:spLocks noGrp="1"/>
          </p:cNvSpPr>
          <p:nvPr>
            <p:ph type="title" idx="4294967295"/>
          </p:nvPr>
        </p:nvSpPr>
        <p:spPr>
          <a:xfrm>
            <a:off x="5029200" y="4953000"/>
            <a:ext cx="2971800" cy="685800"/>
          </a:xfrm>
        </p:spPr>
        <p:txBody>
          <a:bodyPr/>
          <a:lstStyle/>
          <a:p>
            <a:pPr eaLnBrk="1" hangingPunct="1"/>
            <a:r>
              <a:rPr lang="en-US" sz="1800" smtClean="0">
                <a:cs typeface="Arial" charset="0"/>
              </a:rPr>
              <a:t>Screenshot for Home Address Question</a:t>
            </a:r>
            <a:endParaRPr lang="en-US" sz="1800" smtClean="0"/>
          </a:p>
        </p:txBody>
      </p:sp>
      <p:pic>
        <p:nvPicPr>
          <p:cNvPr id="4" name="Picture 4" descr="monthly income"/>
          <p:cNvPicPr>
            <a:picLocks noChangeAspect="1" noChangeArrowheads="1"/>
          </p:cNvPicPr>
          <p:nvPr/>
        </p:nvPicPr>
        <p:blipFill>
          <a:blip r:embed="rId3" cstate="print"/>
          <a:srcRect/>
          <a:stretch>
            <a:fillRect/>
          </a:stretch>
        </p:blipFill>
        <p:spPr bwMode="auto">
          <a:xfrm>
            <a:off x="1266687" y="1066800"/>
            <a:ext cx="2543313" cy="37338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 name="Title 1"/>
          <p:cNvSpPr txBox="1">
            <a:spLocks/>
          </p:cNvSpPr>
          <p:nvPr/>
        </p:nvSpPr>
        <p:spPr bwMode="auto">
          <a:xfrm>
            <a:off x="1495425" y="4800600"/>
            <a:ext cx="2286000" cy="838200"/>
          </a:xfrm>
          <a:prstGeom prst="rect">
            <a:avLst/>
          </a:prstGeom>
          <a:noFill/>
          <a:ln w="9525">
            <a:noFill/>
            <a:miter lim="800000"/>
            <a:headEnd/>
            <a:tailEnd/>
          </a:ln>
        </p:spPr>
        <p:txBody>
          <a:bodyPr lIns="0" rIns="0" bIns="0" anchor="b"/>
          <a:lstStyle/>
          <a:p>
            <a:pPr>
              <a:defRPr/>
            </a:pPr>
            <a:r>
              <a:rPr lang="en-US" dirty="0">
                <a:solidFill>
                  <a:schemeClr val="tx2"/>
                </a:solidFill>
                <a:latin typeface="+mj-lt"/>
                <a:ea typeface="+mj-ea"/>
              </a:rPr>
              <a:t>Screenshot for Monthly Income Question</a:t>
            </a:r>
            <a:endParaRPr lang="en-US" dirty="0">
              <a:solidFill>
                <a:schemeClr val="tx2"/>
              </a:solidFill>
              <a:latin typeface="+mj-lt"/>
              <a:ea typeface="+mj-ea"/>
              <a:cs typeface="+mj-cs"/>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457200" y="704850"/>
            <a:ext cx="8229600" cy="819150"/>
          </a:xfrm>
        </p:spPr>
        <p:txBody>
          <a:bodyPr/>
          <a:lstStyle/>
          <a:p>
            <a:pPr eaLnBrk="1" hangingPunct="1"/>
            <a:r>
              <a:rPr lang="en-US" sz="4000" smtClean="0"/>
              <a:t>Questionnaire</a:t>
            </a:r>
          </a:p>
        </p:txBody>
      </p:sp>
      <p:sp>
        <p:nvSpPr>
          <p:cNvPr id="28675" name="Content Placeholder 2"/>
          <p:cNvSpPr>
            <a:spLocks noGrp="1"/>
          </p:cNvSpPr>
          <p:nvPr>
            <p:ph idx="1"/>
          </p:nvPr>
        </p:nvSpPr>
        <p:spPr>
          <a:xfrm>
            <a:off x="457200" y="1935163"/>
            <a:ext cx="8229600" cy="1417637"/>
          </a:xfrm>
        </p:spPr>
        <p:txBody>
          <a:bodyPr/>
          <a:lstStyle/>
          <a:p>
            <a:pPr eaLnBrk="1" hangingPunct="1">
              <a:lnSpc>
                <a:spcPct val="90000"/>
              </a:lnSpc>
            </a:pPr>
            <a:r>
              <a:rPr lang="en-US" sz="2000" smtClean="0"/>
              <a:t>The questionnaire had three sections: </a:t>
            </a:r>
          </a:p>
          <a:p>
            <a:pPr lvl="1" eaLnBrk="1" hangingPunct="1">
              <a:lnSpc>
                <a:spcPct val="90000"/>
              </a:lnSpc>
            </a:pPr>
            <a:r>
              <a:rPr lang="en-US" sz="2000" b="1" smtClean="0"/>
              <a:t>Demographic data</a:t>
            </a:r>
          </a:p>
          <a:p>
            <a:pPr lvl="1" eaLnBrk="1" hangingPunct="1">
              <a:lnSpc>
                <a:spcPct val="90000"/>
              </a:lnSpc>
            </a:pPr>
            <a:r>
              <a:rPr lang="en-US" sz="2000" b="1" smtClean="0"/>
              <a:t>Users’  feedback on our software</a:t>
            </a:r>
          </a:p>
          <a:p>
            <a:pPr lvl="1" eaLnBrk="1" hangingPunct="1">
              <a:lnSpc>
                <a:spcPct val="90000"/>
              </a:lnSpc>
            </a:pPr>
            <a:r>
              <a:rPr lang="en-US" sz="2000" b="1" smtClean="0"/>
              <a:t>Dedicated to privacy-related questions</a:t>
            </a:r>
          </a:p>
          <a:p>
            <a:pPr lvl="2" eaLnBrk="1" hangingPunct="1">
              <a:lnSpc>
                <a:spcPct val="90000"/>
              </a:lnSpc>
              <a:buFont typeface="Wingdings 2" pitchFamily="18" charset="2"/>
              <a:buNone/>
            </a:pPr>
            <a:r>
              <a:rPr lang="en-US" sz="2000" smtClean="0"/>
              <a:t>    </a:t>
            </a:r>
          </a:p>
          <a:p>
            <a:pPr lvl="2" eaLnBrk="1" hangingPunct="1">
              <a:lnSpc>
                <a:spcPct val="90000"/>
              </a:lnSpc>
            </a:pPr>
            <a:endParaRPr lang="en-US" sz="2000" smtClean="0"/>
          </a:p>
        </p:txBody>
      </p:sp>
      <p:pic>
        <p:nvPicPr>
          <p:cNvPr id="4" name="Picture 6" descr="infosource survey 1"/>
          <p:cNvPicPr>
            <a:picLocks noChangeAspect="1" noChangeArrowheads="1"/>
          </p:cNvPicPr>
          <p:nvPr/>
        </p:nvPicPr>
        <p:blipFill>
          <a:blip r:embed="rId2"/>
          <a:srcRect/>
          <a:stretch>
            <a:fillRect/>
          </a:stretch>
        </p:blipFill>
        <p:spPr bwMode="auto">
          <a:xfrm>
            <a:off x="1752600" y="3429000"/>
            <a:ext cx="5156200" cy="32004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457200" y="704850"/>
            <a:ext cx="8229600" cy="819150"/>
          </a:xfrm>
        </p:spPr>
        <p:txBody>
          <a:bodyPr/>
          <a:lstStyle/>
          <a:p>
            <a:pPr eaLnBrk="1" hangingPunct="1"/>
            <a:r>
              <a:rPr lang="en-US" sz="4000" smtClean="0"/>
              <a:t>Experimental Results</a:t>
            </a:r>
          </a:p>
        </p:txBody>
      </p:sp>
      <p:graphicFrame>
        <p:nvGraphicFramePr>
          <p:cNvPr id="5" name="Group 149"/>
          <p:cNvGraphicFramePr>
            <a:graphicFrameLocks noGrp="1"/>
          </p:cNvGraphicFramePr>
          <p:nvPr>
            <p:extLst>
              <p:ext uri="{D42A27DB-BD31-4B8C-83A1-F6EECF244321}">
                <p14:modId xmlns:p14="http://schemas.microsoft.com/office/powerpoint/2010/main" val="2013320837"/>
              </p:ext>
            </p:extLst>
          </p:nvPr>
        </p:nvGraphicFramePr>
        <p:xfrm>
          <a:off x="9677400" y="2057400"/>
          <a:ext cx="7924800" cy="4114803"/>
        </p:xfrm>
        <a:graphic>
          <a:graphicData uri="http://schemas.openxmlformats.org/drawingml/2006/table">
            <a:tbl>
              <a:tblPr firstRow="1" firstCol="1">
                <a:tableStyleId>{08FB837D-C827-4EFA-A057-4D05807E0F7C}</a:tableStyleId>
              </a:tblPr>
              <a:tblGrid>
                <a:gridCol w="2852738"/>
                <a:gridCol w="1081087"/>
                <a:gridCol w="1117600"/>
                <a:gridCol w="1317625"/>
                <a:gridCol w="1555750"/>
              </a:tblGrid>
              <a:tr h="611188">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dirty="0" smtClean="0">
                          <a:ln>
                            <a:noFill/>
                          </a:ln>
                          <a:effectLst/>
                        </a:rPr>
                        <a:t> </a:t>
                      </a:r>
                      <a:endParaRPr kumimoji="0" lang="en-US" sz="2000" b="0" i="0" u="none" strike="noStrike" cap="none" normalizeH="0" baseline="0" dirty="0" smtClean="0">
                        <a:ln>
                          <a:noFill/>
                        </a:ln>
                        <a:solidFill>
                          <a:schemeClr val="tx1"/>
                        </a:solidFill>
                        <a:effectLst/>
                        <a:latin typeface="Arial" charset="0"/>
                        <a:cs typeface="Arial" charset="0"/>
                      </a:endParaRPr>
                    </a:p>
                  </a:txBody>
                  <a:tcPr horzOverflow="overflow"/>
                </a:tc>
                <a:tc gridSpan="2">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dirty="0" smtClean="0">
                          <a:ln>
                            <a:noFill/>
                          </a:ln>
                          <a:effectLst/>
                        </a:rPr>
                        <a:t>Control</a:t>
                      </a:r>
                      <a:endParaRPr kumimoji="0" lang="en-US" sz="2000" b="0" i="0" u="none" strike="noStrike" cap="none" normalizeH="0" baseline="0" dirty="0" smtClean="0">
                        <a:ln>
                          <a:noFill/>
                        </a:ln>
                        <a:solidFill>
                          <a:schemeClr val="tx1"/>
                        </a:solidFill>
                        <a:effectLst/>
                        <a:latin typeface="Arial" charset="0"/>
                        <a:cs typeface="Arial" charset="0"/>
                      </a:endParaRPr>
                    </a:p>
                  </a:txBody>
                  <a:tcPr horzOverflow="overflow"/>
                </a:tc>
                <a:tc hMerge="1">
                  <a:txBody>
                    <a:bodyPr/>
                    <a:lstStyle/>
                    <a:p>
                      <a:endParaRPr lang="en-US"/>
                    </a:p>
                  </a:txBody>
                  <a:tcPr/>
                </a:tc>
                <a:tc gridSpan="2">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Reciprocity </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hMerge="1">
                  <a:txBody>
                    <a:bodyPr/>
                    <a:lstStyle/>
                    <a:p>
                      <a:endParaRPr lang="en-US"/>
                    </a:p>
                  </a:txBody>
                  <a:tcPr/>
                </a:tc>
              </a:tr>
              <a:tr h="674688">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Income</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dirty="0" smtClean="0">
                          <a:ln>
                            <a:noFill/>
                          </a:ln>
                          <a:effectLst/>
                        </a:rPr>
                        <a:t>12</a:t>
                      </a:r>
                      <a:endParaRPr kumimoji="0" lang="en-US" sz="2000" b="0" i="0" u="none" strike="noStrike" cap="none" normalizeH="0" baseline="0" dirty="0" smtClean="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dirty="0" smtClean="0">
                          <a:ln>
                            <a:noFill/>
                          </a:ln>
                          <a:effectLst/>
                        </a:rPr>
                        <a:t>26%</a:t>
                      </a:r>
                      <a:endParaRPr kumimoji="0" lang="en-US" sz="2000" b="0" i="0" u="none" strike="noStrike" cap="none" normalizeH="0" baseline="0" dirty="0" smtClean="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13</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57%</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r>
              <a:tr h="611188">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DoB</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31</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67%</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21</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91%</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r>
              <a:tr h="611188">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Phone</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19</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41%</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7</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30%</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r>
              <a:tr h="611188">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Address </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18</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39%</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7</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30%</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r>
              <a:tr h="995363">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b="1" u="none" strike="noStrike" cap="none" normalizeH="0" baseline="0" dirty="0" smtClean="0">
                          <a:ln>
                            <a:noFill/>
                          </a:ln>
                          <a:effectLst/>
                        </a:rPr>
                        <a:t>No. of Participants</a:t>
                      </a:r>
                      <a:endParaRPr kumimoji="0" lang="en-US" sz="2000" b="1" i="0" u="none" strike="noStrike" cap="none" normalizeH="0" baseline="0" dirty="0" smtClean="0">
                        <a:ln>
                          <a:noFill/>
                        </a:ln>
                        <a:solidFill>
                          <a:schemeClr val="tx1"/>
                        </a:solidFill>
                        <a:effectLst/>
                        <a:latin typeface="Arial" charset="0"/>
                        <a:cs typeface="Arial" charset="0"/>
                      </a:endParaRPr>
                    </a:p>
                  </a:txBody>
                  <a:tcPr horzOverflow="overflow"/>
                </a:tc>
                <a:tc gridSpan="2">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Tx/>
                        <a:buNone/>
                        <a:tabLst/>
                      </a:pPr>
                      <a:r>
                        <a:rPr kumimoji="0" lang="en-US" sz="2000" b="0" u="none" strike="noStrike" cap="none" normalizeH="0" baseline="0" dirty="0" smtClean="0">
                          <a:ln>
                            <a:noFill/>
                          </a:ln>
                          <a:effectLst/>
                        </a:rPr>
                        <a:t>46</a:t>
                      </a:r>
                      <a:endParaRPr kumimoji="0" lang="en-US" sz="2000" b="0" i="0" u="none" strike="noStrike" cap="none" normalizeH="0" baseline="0" dirty="0" smtClean="0">
                        <a:ln>
                          <a:noFill/>
                        </a:ln>
                        <a:solidFill>
                          <a:schemeClr val="tx1"/>
                        </a:solidFill>
                        <a:effectLst/>
                        <a:latin typeface="Arial" charset="0"/>
                        <a:cs typeface="Arial" charset="0"/>
                      </a:endParaRPr>
                    </a:p>
                  </a:txBody>
                  <a:tcPr horzOverflow="overflow"/>
                </a:tc>
                <a:tc hMerge="1">
                  <a:txBody>
                    <a:bodyPr/>
                    <a:lstStyle/>
                    <a:p>
                      <a:endParaRPr lang="en-US"/>
                    </a:p>
                  </a:txBody>
                  <a:tcPr/>
                </a:tc>
                <a:tc gridSpan="2">
                  <a:txBody>
                    <a:bodyPr/>
                    <a:lstStyle/>
                    <a:p>
                      <a:pPr marL="0" marR="0" lvl="0" indent="0" algn="ctr" defTabSz="914400" rtl="0" eaLnBrk="1" fontAlgn="base" latinLnBrk="0" hangingPunct="1">
                        <a:lnSpc>
                          <a:spcPct val="100000"/>
                        </a:lnSpc>
                        <a:spcBef>
                          <a:spcPct val="0"/>
                        </a:spcBef>
                        <a:spcAft>
                          <a:spcPct val="0"/>
                        </a:spcAft>
                        <a:buClr>
                          <a:schemeClr val="tx2"/>
                        </a:buClr>
                        <a:buSzPct val="70000"/>
                        <a:buFontTx/>
                        <a:buNone/>
                        <a:tabLst/>
                      </a:pPr>
                      <a:r>
                        <a:rPr kumimoji="0" lang="en-US" sz="2000" b="0" u="none" strike="noStrike" cap="none" normalizeH="0" baseline="0" dirty="0" smtClean="0">
                          <a:ln>
                            <a:noFill/>
                          </a:ln>
                          <a:effectLst/>
                        </a:rPr>
                        <a:t>23</a:t>
                      </a:r>
                      <a:endParaRPr kumimoji="0" lang="en-US" sz="2000" b="0" i="0" u="none" strike="noStrike" cap="none" normalizeH="0" baseline="0" dirty="0" smtClean="0">
                        <a:ln>
                          <a:noFill/>
                        </a:ln>
                        <a:solidFill>
                          <a:schemeClr val="tx1"/>
                        </a:solidFill>
                        <a:effectLst/>
                        <a:latin typeface="Arial" charset="0"/>
                        <a:cs typeface="Arial" charset="0"/>
                      </a:endParaRPr>
                    </a:p>
                  </a:txBody>
                  <a:tcPr horzOverflow="overflow"/>
                </a:tc>
                <a:tc hMerge="1">
                  <a:txBody>
                    <a:bodyPr/>
                    <a:lstStyle/>
                    <a:p>
                      <a:endParaRPr lang="en-US"/>
                    </a:p>
                  </a:txBody>
                  <a:tcPr/>
                </a:tc>
              </a:tr>
            </a:tbl>
          </a:graphicData>
        </a:graphic>
      </p:graphicFrame>
      <p:pic>
        <p:nvPicPr>
          <p:cNvPr id="29700" name="Picture 4" descr="C:\Users\Ajinkya\Documents\result1.png"/>
          <p:cNvPicPr>
            <a:picLocks noChangeAspect="1" noChangeArrowheads="1"/>
          </p:cNvPicPr>
          <p:nvPr/>
        </p:nvPicPr>
        <p:blipFill>
          <a:blip r:embed="rId2">
            <a:extLst>
              <a:ext uri="{28A0092B-C50C-407E-A947-70E740481C1C}">
                <a14:useLocalDpi xmlns:a14="http://schemas.microsoft.com/office/drawing/2010/main" val="0"/>
              </a:ext>
            </a:extLst>
          </a:blip>
          <a:srcRect t="1543"/>
          <a:stretch>
            <a:fillRect/>
          </a:stretch>
        </p:blipFill>
        <p:spPr bwMode="auto">
          <a:xfrm>
            <a:off x="152400" y="1600200"/>
            <a:ext cx="8818563" cy="486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p:cNvGraphicFramePr/>
          <p:nvPr/>
        </p:nvGraphicFramePr>
        <p:xfrm>
          <a:off x="1295400" y="2743200"/>
          <a:ext cx="6705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5" descr="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762000"/>
            <a:ext cx="31242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7" name="Picture 4" descr="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762000"/>
            <a:ext cx="32004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8" name="Picture 4" descr="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2674938"/>
            <a:ext cx="3068638"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9" name="Picture 5" descr="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9200" y="2738438"/>
            <a:ext cx="3124200" cy="183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0" name="Picture 4" descr="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0" y="4648200"/>
            <a:ext cx="3048000" cy="187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1" name="Picture 5" descr="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29200" y="4724400"/>
            <a:ext cx="2971800" cy="182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Arrow Connector 10"/>
          <p:cNvCxnSpPr/>
          <p:nvPr/>
        </p:nvCxnSpPr>
        <p:spPr>
          <a:xfrm flipV="1">
            <a:off x="3810000" y="1714500"/>
            <a:ext cx="1219200" cy="793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2" name="Straight Arrow Connector 11"/>
          <p:cNvCxnSpPr/>
          <p:nvPr/>
        </p:nvCxnSpPr>
        <p:spPr>
          <a:xfrm>
            <a:off x="3759200" y="3505200"/>
            <a:ext cx="12954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3" name="Straight Arrow Connector 12"/>
          <p:cNvCxnSpPr/>
          <p:nvPr/>
        </p:nvCxnSpPr>
        <p:spPr>
          <a:xfrm>
            <a:off x="3802063" y="5562600"/>
            <a:ext cx="12192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457200" y="704850"/>
            <a:ext cx="8229600" cy="819150"/>
          </a:xfrm>
        </p:spPr>
        <p:txBody>
          <a:bodyPr/>
          <a:lstStyle/>
          <a:p>
            <a:pPr eaLnBrk="1" hangingPunct="1"/>
            <a:r>
              <a:rPr lang="en-US" sz="4000" smtClean="0"/>
              <a:t>Other Findings and Lessons Learned </a:t>
            </a:r>
          </a:p>
        </p:txBody>
      </p:sp>
      <p:graphicFrame>
        <p:nvGraphicFramePr>
          <p:cNvPr id="5" name="Group 5"/>
          <p:cNvGraphicFramePr>
            <a:graphicFrameLocks/>
          </p:cNvGraphicFramePr>
          <p:nvPr>
            <p:extLst>
              <p:ext uri="{D42A27DB-BD31-4B8C-83A1-F6EECF244321}">
                <p14:modId xmlns:p14="http://schemas.microsoft.com/office/powerpoint/2010/main" val="2270835462"/>
              </p:ext>
            </p:extLst>
          </p:nvPr>
        </p:nvGraphicFramePr>
        <p:xfrm>
          <a:off x="9601200" y="1913062"/>
          <a:ext cx="8229600" cy="4411666"/>
        </p:xfrm>
        <a:graphic>
          <a:graphicData uri="http://schemas.openxmlformats.org/drawingml/2006/table">
            <a:tbl>
              <a:tblPr firstRow="1" firstCol="1">
                <a:tableStyleId>{69C7853C-536D-4A76-A0AE-DD22124D55A5}</a:tableStyleId>
              </a:tblPr>
              <a:tblGrid>
                <a:gridCol w="2701925"/>
                <a:gridCol w="903288"/>
                <a:gridCol w="904875"/>
                <a:gridCol w="793750"/>
                <a:gridCol w="896937"/>
                <a:gridCol w="896938"/>
                <a:gridCol w="1131887"/>
              </a:tblGrid>
              <a:tr h="1014413">
                <a:tc>
                  <a:txBody>
                    <a:bodyPr/>
                    <a:lstStyle/>
                    <a:p>
                      <a:pPr marL="0" marR="0" lvl="0" indent="0" algn="just"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dirty="0" smtClean="0">
                          <a:ln>
                            <a:noFill/>
                          </a:ln>
                          <a:effectLst/>
                        </a:rPr>
                        <a:t> </a:t>
                      </a:r>
                      <a:endParaRPr kumimoji="0" lang="en-US" sz="2000" b="0" i="0" u="none" strike="noStrike" cap="none" normalizeH="0" baseline="0" dirty="0" smtClean="0">
                        <a:ln>
                          <a:noFill/>
                        </a:ln>
                        <a:solidFill>
                          <a:schemeClr val="tx1"/>
                        </a:solidFill>
                        <a:effectLst/>
                        <a:latin typeface="Arial" charset="0"/>
                        <a:cs typeface="Arial" charset="0"/>
                      </a:endParaRPr>
                    </a:p>
                  </a:txBody>
                  <a:tcPr horzOverflow="overflow"/>
                </a:tc>
                <a:tc gridSpan="2">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dirty="0" smtClean="0">
                          <a:ln>
                            <a:noFill/>
                          </a:ln>
                          <a:effectLst/>
                        </a:rPr>
                        <a:t>High Trust Reciprocity</a:t>
                      </a:r>
                      <a:endParaRPr kumimoji="0" lang="en-US" sz="2000" b="0" i="0" u="none" strike="noStrike" cap="none" normalizeH="0" baseline="0" dirty="0" smtClean="0">
                        <a:ln>
                          <a:noFill/>
                        </a:ln>
                        <a:solidFill>
                          <a:schemeClr val="tx1"/>
                        </a:solidFill>
                        <a:effectLst/>
                        <a:latin typeface="Arial" charset="0"/>
                        <a:cs typeface="Arial" charset="0"/>
                      </a:endParaRPr>
                    </a:p>
                  </a:txBody>
                  <a:tcPr horzOverflow="overflow"/>
                </a:tc>
                <a:tc hMerge="1">
                  <a:txBody>
                    <a:bodyPr/>
                    <a:lstStyle/>
                    <a:p>
                      <a:endParaRPr lang="en-US"/>
                    </a:p>
                  </a:txBody>
                  <a:tcPr/>
                </a:tc>
                <a:tc gridSpan="2">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High Trust Control</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hMerge="1">
                  <a:txBody>
                    <a:bodyPr/>
                    <a:lstStyle/>
                    <a:p>
                      <a:endParaRPr lang="en-US"/>
                    </a:p>
                  </a:txBody>
                  <a:tcPr/>
                </a:tc>
                <a:tc gridSpan="2">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Low Trust Control</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hMerge="1">
                  <a:txBody>
                    <a:bodyPr/>
                    <a:lstStyle/>
                    <a:p>
                      <a:endParaRPr lang="en-US"/>
                    </a:p>
                  </a:txBody>
                  <a:tcPr/>
                </a:tc>
              </a:tr>
              <a:tr h="534988">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Name</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21</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88%</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25</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100%</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28</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97%</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r>
              <a:tr h="534988">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Gender</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24</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100%</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24</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96%</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28</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97%</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r>
              <a:tr h="534988">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Age</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24</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100%</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25</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100%</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29</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100%</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r>
              <a:tr h="534988">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Birthday</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24</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100%</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24</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96%</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26</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90%</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r>
              <a:tr h="534988">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Zip code</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21</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88%</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23</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92%</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23</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u="none" strike="noStrike" cap="none" normalizeH="0" baseline="0" smtClean="0">
                          <a:ln>
                            <a:noFill/>
                          </a:ln>
                          <a:effectLst/>
                        </a:rPr>
                        <a:t>79%</a:t>
                      </a:r>
                      <a:endParaRPr kumimoji="0" lang="en-US" sz="2000" b="0" i="0" u="none" strike="noStrike" cap="none" normalizeH="0" baseline="0" smtClean="0">
                        <a:ln>
                          <a:noFill/>
                        </a:ln>
                        <a:solidFill>
                          <a:schemeClr val="tx1"/>
                        </a:solidFill>
                        <a:effectLst/>
                        <a:latin typeface="Arial" charset="0"/>
                        <a:cs typeface="Arial" charset="0"/>
                      </a:endParaRPr>
                    </a:p>
                  </a:txBody>
                  <a:tcPr horzOverflow="overflow"/>
                </a:tc>
              </a:tr>
              <a:tr h="722313">
                <a:tc>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b="1" u="none" strike="noStrike" cap="none" normalizeH="0" baseline="0" dirty="0" smtClean="0">
                          <a:ln>
                            <a:noFill/>
                          </a:ln>
                          <a:effectLst/>
                        </a:rPr>
                        <a:t>No. of Participants</a:t>
                      </a:r>
                      <a:endParaRPr kumimoji="0" lang="en-US" sz="2000" b="1" i="0" u="none" strike="noStrike" cap="none" normalizeH="0" baseline="0" dirty="0" smtClean="0">
                        <a:ln>
                          <a:noFill/>
                        </a:ln>
                        <a:solidFill>
                          <a:schemeClr val="tx1"/>
                        </a:solidFill>
                        <a:effectLst/>
                        <a:latin typeface="Arial" charset="0"/>
                        <a:cs typeface="Arial" charset="0"/>
                      </a:endParaRPr>
                    </a:p>
                  </a:txBody>
                  <a:tcPr horzOverflow="overflow"/>
                </a:tc>
                <a:tc gridSpan="2">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b="1" u="none" strike="noStrike" cap="none" normalizeH="0" baseline="0" dirty="0" smtClean="0">
                          <a:ln>
                            <a:noFill/>
                          </a:ln>
                          <a:effectLst/>
                        </a:rPr>
                        <a:t>24</a:t>
                      </a:r>
                      <a:endParaRPr kumimoji="0" lang="en-US" sz="2000" b="1" i="0" u="none" strike="noStrike" cap="none" normalizeH="0" baseline="0" dirty="0" smtClean="0">
                        <a:ln>
                          <a:noFill/>
                        </a:ln>
                        <a:solidFill>
                          <a:schemeClr val="tx1"/>
                        </a:solidFill>
                        <a:effectLst/>
                        <a:latin typeface="Arial" charset="0"/>
                        <a:cs typeface="Arial" charset="0"/>
                      </a:endParaRPr>
                    </a:p>
                  </a:txBody>
                  <a:tcPr horzOverflow="overflow"/>
                </a:tc>
                <a:tc hMerge="1">
                  <a:txBody>
                    <a:bodyPr/>
                    <a:lstStyle/>
                    <a:p>
                      <a:endParaRPr lang="en-US"/>
                    </a:p>
                  </a:txBody>
                  <a:tcPr/>
                </a:tc>
                <a:tc gridSpan="2">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b="1" u="none" strike="noStrike" cap="none" normalizeH="0" baseline="0" smtClean="0">
                          <a:ln>
                            <a:noFill/>
                          </a:ln>
                          <a:effectLst/>
                        </a:rPr>
                        <a:t>25</a:t>
                      </a:r>
                      <a:endParaRPr kumimoji="0" lang="en-US" sz="2000" b="1" i="0" u="none" strike="noStrike" cap="none" normalizeH="0" baseline="0" smtClean="0">
                        <a:ln>
                          <a:noFill/>
                        </a:ln>
                        <a:solidFill>
                          <a:schemeClr val="tx1"/>
                        </a:solidFill>
                        <a:effectLst/>
                        <a:latin typeface="Arial" charset="0"/>
                        <a:cs typeface="Arial" charset="0"/>
                      </a:endParaRPr>
                    </a:p>
                  </a:txBody>
                  <a:tcPr horzOverflow="overflow"/>
                </a:tc>
                <a:tc hMerge="1">
                  <a:txBody>
                    <a:bodyPr/>
                    <a:lstStyle/>
                    <a:p>
                      <a:endParaRPr lang="en-US"/>
                    </a:p>
                  </a:txBody>
                  <a:tcPr/>
                </a:tc>
                <a:tc gridSpan="2">
                  <a:txBody>
                    <a:bodyPr/>
                    <a:lstStyle/>
                    <a:p>
                      <a:pPr marL="0" marR="0" lvl="0" indent="0" algn="l" defTabSz="914400" rtl="0" eaLnBrk="1" fontAlgn="base" latinLnBrk="0" hangingPunct="1">
                        <a:lnSpc>
                          <a:spcPct val="100000"/>
                        </a:lnSpc>
                        <a:spcBef>
                          <a:spcPct val="0"/>
                        </a:spcBef>
                        <a:spcAft>
                          <a:spcPct val="0"/>
                        </a:spcAft>
                        <a:buClr>
                          <a:schemeClr val="tx2"/>
                        </a:buClr>
                        <a:buSzPct val="70000"/>
                        <a:buFontTx/>
                        <a:buNone/>
                        <a:tabLst/>
                      </a:pPr>
                      <a:r>
                        <a:rPr kumimoji="0" lang="en-US" sz="2000" b="1" u="none" strike="noStrike" cap="none" normalizeH="0" baseline="0" dirty="0" smtClean="0">
                          <a:ln>
                            <a:noFill/>
                          </a:ln>
                          <a:effectLst/>
                        </a:rPr>
                        <a:t>29</a:t>
                      </a:r>
                      <a:endParaRPr kumimoji="0" lang="en-US" sz="2000" b="1" i="0" u="none" strike="noStrike" cap="none" normalizeH="0" baseline="0" dirty="0" smtClean="0">
                        <a:ln>
                          <a:noFill/>
                        </a:ln>
                        <a:solidFill>
                          <a:schemeClr val="tx1"/>
                        </a:solidFill>
                        <a:effectLst/>
                        <a:latin typeface="Arial" charset="0"/>
                        <a:cs typeface="Arial" charset="0"/>
                      </a:endParaRPr>
                    </a:p>
                  </a:txBody>
                  <a:tcPr horzOverflow="overflow"/>
                </a:tc>
                <a:tc hMerge="1">
                  <a:txBody>
                    <a:bodyPr/>
                    <a:lstStyle/>
                    <a:p>
                      <a:endParaRPr lang="en-US"/>
                    </a:p>
                  </a:txBody>
                  <a:tcPr/>
                </a:tc>
              </a:tr>
            </a:tbl>
          </a:graphicData>
        </a:graphic>
      </p:graphicFrame>
      <p:pic>
        <p:nvPicPr>
          <p:cNvPr id="32772" name="Picture 4" descr="C:\Users\Ajinkya\Documents\result2.png"/>
          <p:cNvPicPr>
            <a:picLocks noChangeAspect="1" noChangeArrowheads="1"/>
          </p:cNvPicPr>
          <p:nvPr/>
        </p:nvPicPr>
        <p:blipFill>
          <a:blip r:embed="rId2">
            <a:extLst>
              <a:ext uri="{28A0092B-C50C-407E-A947-70E740481C1C}">
                <a14:useLocalDpi xmlns:a14="http://schemas.microsoft.com/office/drawing/2010/main" val="0"/>
              </a:ext>
            </a:extLst>
          </a:blip>
          <a:srcRect l="870" t="1511" r="2609"/>
          <a:stretch>
            <a:fillRect/>
          </a:stretch>
        </p:blipFill>
        <p:spPr bwMode="auto">
          <a:xfrm>
            <a:off x="302342" y="1676400"/>
            <a:ext cx="8458200" cy="497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457200" y="704850"/>
            <a:ext cx="8229600" cy="819150"/>
          </a:xfrm>
        </p:spPr>
        <p:txBody>
          <a:bodyPr/>
          <a:lstStyle/>
          <a:p>
            <a:pPr eaLnBrk="1" hangingPunct="1"/>
            <a:r>
              <a:rPr lang="en-US" sz="4000" smtClean="0"/>
              <a:t>Conclusion </a:t>
            </a:r>
          </a:p>
        </p:txBody>
      </p:sp>
      <p:sp>
        <p:nvSpPr>
          <p:cNvPr id="33795" name="Content Placeholder 2"/>
          <p:cNvSpPr>
            <a:spLocks noGrp="1"/>
          </p:cNvSpPr>
          <p:nvPr>
            <p:ph idx="1"/>
          </p:nvPr>
        </p:nvSpPr>
        <p:spPr>
          <a:xfrm>
            <a:off x="457200" y="1935163"/>
            <a:ext cx="8229600" cy="4541837"/>
          </a:xfrm>
        </p:spPr>
        <p:txBody>
          <a:bodyPr/>
          <a:lstStyle/>
          <a:p>
            <a:pPr eaLnBrk="1" hangingPunct="1">
              <a:lnSpc>
                <a:spcPct val="80000"/>
              </a:lnSpc>
            </a:pPr>
            <a:r>
              <a:rPr lang="en-US" sz="2000" b="1" smtClean="0">
                <a:solidFill>
                  <a:srgbClr val="0070C0"/>
                </a:solidFill>
                <a:cs typeface="Arial" charset="0"/>
              </a:rPr>
              <a:t>Reciprocity attacks can be successfully </a:t>
            </a:r>
            <a:r>
              <a:rPr lang="en-US" sz="2000" smtClean="0">
                <a:solidFill>
                  <a:srgbClr val="0070C0"/>
                </a:solidFill>
                <a:cs typeface="Arial" charset="0"/>
              </a:rPr>
              <a:t> </a:t>
            </a:r>
            <a:r>
              <a:rPr lang="en-US" sz="2000" smtClean="0">
                <a:cs typeface="Arial" charset="0"/>
              </a:rPr>
              <a:t>used to get Identity elements from customers.</a:t>
            </a:r>
          </a:p>
          <a:p>
            <a:pPr eaLnBrk="1" hangingPunct="1">
              <a:lnSpc>
                <a:spcPct val="80000"/>
              </a:lnSpc>
            </a:pPr>
            <a:endParaRPr lang="en-US" sz="2000" smtClean="0">
              <a:cs typeface="Arial" charset="0"/>
            </a:endParaRPr>
          </a:p>
          <a:p>
            <a:pPr eaLnBrk="1" hangingPunct="1">
              <a:lnSpc>
                <a:spcPct val="80000"/>
              </a:lnSpc>
            </a:pPr>
            <a:r>
              <a:rPr lang="en-US" sz="2000" smtClean="0">
                <a:cs typeface="Arial" charset="0"/>
              </a:rPr>
              <a:t>Results show that when participants are under reciprocity attack they are </a:t>
            </a:r>
            <a:r>
              <a:rPr lang="en-US" sz="2000" b="1" smtClean="0">
                <a:solidFill>
                  <a:srgbClr val="0070C0"/>
                </a:solidFill>
                <a:cs typeface="Arial" charset="0"/>
              </a:rPr>
              <a:t>more likely to expose </a:t>
            </a:r>
            <a:r>
              <a:rPr lang="en-US" sz="2000" smtClean="0">
                <a:cs typeface="Arial" charset="0"/>
              </a:rPr>
              <a:t>their sensitive identity information.</a:t>
            </a:r>
          </a:p>
          <a:p>
            <a:pPr eaLnBrk="1" hangingPunct="1">
              <a:lnSpc>
                <a:spcPct val="80000"/>
              </a:lnSpc>
            </a:pPr>
            <a:endParaRPr lang="en-US" sz="2000" smtClean="0">
              <a:cs typeface="Arial" charset="0"/>
            </a:endParaRPr>
          </a:p>
          <a:p>
            <a:pPr eaLnBrk="1" hangingPunct="1">
              <a:lnSpc>
                <a:spcPct val="80000"/>
              </a:lnSpc>
            </a:pPr>
            <a:r>
              <a:rPr lang="en-US" sz="2000" smtClean="0">
                <a:cs typeface="Arial" charset="0"/>
              </a:rPr>
              <a:t>Our study confirm that </a:t>
            </a:r>
            <a:r>
              <a:rPr lang="en-US" sz="2000" b="1" smtClean="0">
                <a:solidFill>
                  <a:srgbClr val="0070C0"/>
                </a:solidFill>
                <a:cs typeface="Arial" charset="0"/>
              </a:rPr>
              <a:t>trust is a leading factor </a:t>
            </a:r>
            <a:r>
              <a:rPr lang="en-US" sz="2000" smtClean="0">
                <a:cs typeface="Arial" charset="0"/>
              </a:rPr>
              <a:t>that make people expose identity elements and reciprocity can be used to increase the trust between service providers and customers.</a:t>
            </a:r>
          </a:p>
          <a:p>
            <a:pPr eaLnBrk="1" hangingPunct="1">
              <a:lnSpc>
                <a:spcPct val="80000"/>
              </a:lnSpc>
            </a:pPr>
            <a:endParaRPr lang="en-US" sz="2000" smtClean="0">
              <a:cs typeface="Arial" charset="0"/>
            </a:endParaRPr>
          </a:p>
          <a:p>
            <a:pPr eaLnBrk="1" hangingPunct="1">
              <a:lnSpc>
                <a:spcPct val="80000"/>
              </a:lnSpc>
            </a:pPr>
            <a:r>
              <a:rPr lang="en-US" sz="2000" smtClean="0">
                <a:cs typeface="Arial" charset="0"/>
              </a:rPr>
              <a:t>We also learned that </a:t>
            </a:r>
            <a:r>
              <a:rPr lang="en-US" sz="2000" b="1" smtClean="0">
                <a:solidFill>
                  <a:srgbClr val="0070C0"/>
                </a:solidFill>
                <a:cs typeface="Arial" charset="0"/>
              </a:rPr>
              <a:t>the way questions are phrased </a:t>
            </a:r>
            <a:r>
              <a:rPr lang="en-US" sz="2000" smtClean="0">
                <a:cs typeface="Arial" charset="0"/>
              </a:rPr>
              <a:t>affects the people’s behavior towards revealing the sensitive identity information.  </a:t>
            </a:r>
          </a:p>
          <a:p>
            <a:pPr eaLnBrk="1" hangingPunct="1">
              <a:lnSpc>
                <a:spcPct val="80000"/>
              </a:lnSpc>
            </a:pPr>
            <a:endParaRPr lang="en-US" sz="2000" smtClean="0">
              <a:cs typeface="Arial" charset="0"/>
            </a:endParaRPr>
          </a:p>
          <a:p>
            <a:pPr eaLnBrk="1" hangingPunct="1">
              <a:lnSpc>
                <a:spcPct val="80000"/>
              </a:lnSpc>
            </a:pPr>
            <a:r>
              <a:rPr lang="en-US" sz="2000" smtClean="0">
                <a:cs typeface="Arial" charset="0"/>
              </a:rPr>
              <a:t>We learned that experimental research on privacy is </a:t>
            </a:r>
            <a:r>
              <a:rPr lang="en-US" sz="2000" b="1" smtClean="0">
                <a:solidFill>
                  <a:srgbClr val="0070C0"/>
                </a:solidFill>
                <a:cs typeface="Arial" charset="0"/>
              </a:rPr>
              <a:t>inherently challenging</a:t>
            </a:r>
            <a:r>
              <a:rPr lang="en-US" sz="2000" smtClean="0">
                <a:cs typeface="Arial" charset="0"/>
              </a:rPr>
              <a:t>. A number of different factors may affect one’s privacy protection decisions.   </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457200" y="704850"/>
            <a:ext cx="8229600" cy="819150"/>
          </a:xfrm>
        </p:spPr>
        <p:txBody>
          <a:bodyPr/>
          <a:lstStyle/>
          <a:p>
            <a:pPr eaLnBrk="1" hangingPunct="1"/>
            <a:r>
              <a:rPr lang="en-US" sz="4000" smtClean="0"/>
              <a:t>Future Work</a:t>
            </a:r>
          </a:p>
        </p:txBody>
      </p:sp>
      <p:sp>
        <p:nvSpPr>
          <p:cNvPr id="3" name="Content Placeholder 2"/>
          <p:cNvSpPr>
            <a:spLocks noGrp="1"/>
          </p:cNvSpPr>
          <p:nvPr>
            <p:ph idx="1"/>
          </p:nvPr>
        </p:nvSpPr>
        <p:spPr>
          <a:xfrm>
            <a:off x="457200" y="1447800"/>
            <a:ext cx="8229600" cy="4237038"/>
          </a:xfrm>
        </p:spPr>
        <p:txBody>
          <a:bodyPr>
            <a:noAutofit/>
          </a:bodyPr>
          <a:lstStyle/>
          <a:p>
            <a:pPr marL="274320" indent="-274320" eaLnBrk="1" fontAlgn="auto" hangingPunct="1">
              <a:lnSpc>
                <a:spcPct val="80000"/>
              </a:lnSpc>
              <a:spcAft>
                <a:spcPts val="0"/>
              </a:spcAft>
              <a:buClr>
                <a:schemeClr val="accent3"/>
              </a:buClr>
              <a:buFont typeface="Wingdings 2"/>
              <a:buChar char=""/>
              <a:defRPr/>
            </a:pPr>
            <a:endParaRPr lang="en-US" sz="2000" dirty="0">
              <a:cs typeface="Arial" pitchFamily="34" charset="0"/>
            </a:endParaRPr>
          </a:p>
          <a:p>
            <a:pPr marL="274320" indent="-274320" eaLnBrk="1" fontAlgn="auto" hangingPunct="1">
              <a:spcAft>
                <a:spcPts val="0"/>
              </a:spcAft>
              <a:buClr>
                <a:schemeClr val="accent3"/>
              </a:buClr>
              <a:buFont typeface="Wingdings 2"/>
              <a:buChar char=""/>
              <a:defRPr/>
            </a:pPr>
            <a:r>
              <a:rPr lang="en-US" sz="2000" dirty="0" smtClean="0">
                <a:cs typeface="Arial" pitchFamily="34" charset="0"/>
              </a:rPr>
              <a:t>Reciprocity </a:t>
            </a:r>
            <a:r>
              <a:rPr lang="en-US" sz="2000" dirty="0">
                <a:cs typeface="Arial" pitchFamily="34" charset="0"/>
              </a:rPr>
              <a:t>attacks may be designed for </a:t>
            </a:r>
            <a:r>
              <a:rPr lang="en-US" sz="2000" b="1" dirty="0">
                <a:solidFill>
                  <a:srgbClr val="0070C0"/>
                </a:solidFill>
                <a:cs typeface="Arial" pitchFamily="34" charset="0"/>
              </a:rPr>
              <a:t>phone number </a:t>
            </a:r>
            <a:r>
              <a:rPr lang="en-US" sz="2000" dirty="0">
                <a:cs typeface="Arial" pitchFamily="34" charset="0"/>
              </a:rPr>
              <a:t>and </a:t>
            </a:r>
            <a:r>
              <a:rPr lang="en-US" sz="2000" b="1" dirty="0">
                <a:solidFill>
                  <a:srgbClr val="0070C0"/>
                </a:solidFill>
                <a:cs typeface="Arial" pitchFamily="34" charset="0"/>
              </a:rPr>
              <a:t>home address </a:t>
            </a:r>
            <a:r>
              <a:rPr lang="en-US" sz="2000" dirty="0">
                <a:cs typeface="Arial" pitchFamily="34" charset="0"/>
              </a:rPr>
              <a:t>that are more compelling than ours. </a:t>
            </a:r>
            <a:endParaRPr lang="en-US" sz="2000" dirty="0" smtClean="0">
              <a:cs typeface="Arial" pitchFamily="34" charset="0"/>
            </a:endParaRPr>
          </a:p>
          <a:p>
            <a:pPr marL="274320" indent="-274320" eaLnBrk="1" fontAlgn="auto" hangingPunct="1">
              <a:spcAft>
                <a:spcPts val="0"/>
              </a:spcAft>
              <a:buClr>
                <a:schemeClr val="accent3"/>
              </a:buClr>
              <a:buFont typeface="Wingdings 2"/>
              <a:buChar char=""/>
              <a:defRPr/>
            </a:pPr>
            <a:r>
              <a:rPr lang="en-US" sz="2000" b="1" dirty="0" smtClean="0">
                <a:solidFill>
                  <a:srgbClr val="0070C0"/>
                </a:solidFill>
                <a:cs typeface="Arial" pitchFamily="34" charset="0"/>
              </a:rPr>
              <a:t>Increase awareness </a:t>
            </a:r>
            <a:r>
              <a:rPr lang="en-US" sz="2000" dirty="0" smtClean="0">
                <a:cs typeface="Arial" pitchFamily="34" charset="0"/>
              </a:rPr>
              <a:t>of the sensitivity of Identity elements.</a:t>
            </a:r>
          </a:p>
          <a:p>
            <a:pPr marL="274320" indent="-274320" eaLnBrk="1" fontAlgn="auto" hangingPunct="1">
              <a:spcAft>
                <a:spcPts val="0"/>
              </a:spcAft>
              <a:buClr>
                <a:schemeClr val="accent3"/>
              </a:buClr>
              <a:buFont typeface="Wingdings 2"/>
              <a:buChar char=""/>
              <a:defRPr/>
            </a:pPr>
            <a:r>
              <a:rPr lang="en-US" sz="2000" dirty="0" smtClean="0">
                <a:cs typeface="Arial" pitchFamily="34" charset="0"/>
              </a:rPr>
              <a:t>Help people to understand the </a:t>
            </a:r>
            <a:r>
              <a:rPr lang="en-US" sz="2000" b="1" dirty="0" smtClean="0">
                <a:solidFill>
                  <a:srgbClr val="0070C0"/>
                </a:solidFill>
                <a:cs typeface="Arial" pitchFamily="34" charset="0"/>
              </a:rPr>
              <a:t>Identity exposure consequences  </a:t>
            </a:r>
            <a:r>
              <a:rPr lang="en-US" sz="2000" dirty="0" smtClean="0">
                <a:cs typeface="Arial" pitchFamily="34" charset="0"/>
              </a:rPr>
              <a:t>and </a:t>
            </a:r>
            <a:r>
              <a:rPr lang="en-US" sz="2000" b="1" dirty="0" smtClean="0">
                <a:solidFill>
                  <a:srgbClr val="0070C0"/>
                </a:solidFill>
                <a:cs typeface="Arial" pitchFamily="34" charset="0"/>
              </a:rPr>
              <a:t>technologies.</a:t>
            </a:r>
          </a:p>
          <a:p>
            <a:pPr marL="274320" indent="-274320" eaLnBrk="1" fontAlgn="auto" hangingPunct="1">
              <a:spcAft>
                <a:spcPts val="0"/>
              </a:spcAft>
              <a:buClr>
                <a:schemeClr val="accent3"/>
              </a:buClr>
              <a:buFont typeface="Wingdings 2"/>
              <a:buChar char=""/>
              <a:defRPr/>
            </a:pPr>
            <a:r>
              <a:rPr lang="en-US" sz="2000" dirty="0" smtClean="0">
                <a:cs typeface="Arial" pitchFamily="34" charset="0"/>
              </a:rPr>
              <a:t>Develop the mitigation approach.</a:t>
            </a:r>
          </a:p>
          <a:p>
            <a:pPr marL="274320" indent="-274320" eaLnBrk="1" fontAlgn="auto" hangingPunct="1">
              <a:lnSpc>
                <a:spcPct val="90000"/>
              </a:lnSpc>
              <a:spcAft>
                <a:spcPts val="0"/>
              </a:spcAft>
              <a:buClr>
                <a:schemeClr val="accent3"/>
              </a:buClr>
              <a:buFont typeface="Wingdings 2"/>
              <a:buChar char=""/>
              <a:defRPr/>
            </a:pPr>
            <a:endParaRPr lang="en-US" sz="2000" dirty="0">
              <a:cs typeface="Arial" pitchFamily="34" charset="0"/>
            </a:endParaRPr>
          </a:p>
          <a:p>
            <a:pPr marL="0" indent="0" eaLnBrk="1" fontAlgn="auto" hangingPunct="1">
              <a:lnSpc>
                <a:spcPct val="90000"/>
              </a:lnSpc>
              <a:spcAft>
                <a:spcPts val="0"/>
              </a:spcAft>
              <a:buClr>
                <a:schemeClr val="accent3"/>
              </a:buClr>
              <a:buFont typeface="Wingdings 2"/>
              <a:buNone/>
              <a:defRPr/>
            </a:pPr>
            <a:endParaRPr lang="en-US" sz="2000" dirty="0">
              <a:cs typeface="Arial" pitchFamily="34" charset="0"/>
            </a:endParaRPr>
          </a:p>
        </p:txBody>
      </p:sp>
      <p:pic>
        <p:nvPicPr>
          <p:cNvPr id="34820" name="Picture 4" descr="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4456113"/>
            <a:ext cx="3657600" cy="224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1" name="Picture 5" descr="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4495800"/>
            <a:ext cx="35814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p:cNvSpPr>
            <a:spLocks noGrp="1" noChangeArrowheads="1"/>
          </p:cNvSpPr>
          <p:nvPr>
            <p:ph idx="1"/>
          </p:nvPr>
        </p:nvSpPr>
        <p:spPr>
          <a:xfrm>
            <a:off x="3048000" y="3124200"/>
            <a:ext cx="3505200" cy="762000"/>
          </a:xfrm>
        </p:spPr>
        <p:txBody>
          <a:bodyPr/>
          <a:lstStyle/>
          <a:p>
            <a:pPr eaLnBrk="1" hangingPunct="1">
              <a:buFont typeface="Wingdings" pitchFamily="2" charset="2"/>
              <a:buNone/>
            </a:pPr>
            <a:r>
              <a:rPr lang="en-US" sz="4000" smtClean="0"/>
              <a:t>Questions?</a:t>
            </a:r>
          </a:p>
        </p:txBody>
      </p:sp>
      <p:sp>
        <p:nvSpPr>
          <p:cNvPr id="2" name="TextBox 1"/>
          <p:cNvSpPr txBox="1"/>
          <p:nvPr/>
        </p:nvSpPr>
        <p:spPr>
          <a:xfrm>
            <a:off x="381000" y="5421868"/>
            <a:ext cx="8802346" cy="369332"/>
          </a:xfrm>
          <a:prstGeom prst="rect">
            <a:avLst/>
          </a:prstGeom>
          <a:noFill/>
        </p:spPr>
        <p:txBody>
          <a:bodyPr wrap="none" rtlCol="0">
            <a:spAutoFit/>
          </a:bodyPr>
          <a:lstStyle/>
          <a:p>
            <a:r>
              <a:rPr lang="en-US" dirty="0" smtClean="0"/>
              <a:t>This presentation can be downloaded from </a:t>
            </a:r>
            <a:r>
              <a:rPr lang="en-US" b="1" dirty="0" smtClean="0">
                <a:hlinkClick r:id="rId2"/>
              </a:rPr>
              <a:t>www.tinyurl.com/reciprocitySOUPS</a:t>
            </a:r>
            <a:r>
              <a:rPr lang="en-US" dirty="0" smtClean="0">
                <a:hlinkClick r:id="rId2"/>
              </a:rPr>
              <a:t>11</a:t>
            </a:r>
            <a:r>
              <a:rPr lang="en-US" dirty="0" smtClean="0"/>
              <a:t> </a:t>
            </a:r>
            <a:r>
              <a:rPr lang="en-US" dirty="0" smtClean="0"/>
              <a:t> </a:t>
            </a:r>
            <a:endParaRPr lang="en-US" dirty="0"/>
          </a:p>
        </p:txBody>
      </p:sp>
      <p:sp>
        <p:nvSpPr>
          <p:cNvPr id="4" name="TextBox 3"/>
          <p:cNvSpPr txBox="1"/>
          <p:nvPr/>
        </p:nvSpPr>
        <p:spPr>
          <a:xfrm>
            <a:off x="2771775" y="6231969"/>
            <a:ext cx="3929345" cy="369332"/>
          </a:xfrm>
          <a:prstGeom prst="rect">
            <a:avLst/>
          </a:prstGeom>
          <a:noFill/>
        </p:spPr>
        <p:txBody>
          <a:bodyPr wrap="none" rtlCol="0">
            <a:spAutoFit/>
          </a:bodyPr>
          <a:lstStyle/>
          <a:p>
            <a:r>
              <a:rPr lang="en-US" dirty="0" smtClean="0"/>
              <a:t>About me: </a:t>
            </a:r>
            <a:r>
              <a:rPr lang="en-US" dirty="0" smtClean="0">
                <a:hlinkClick r:id="rId3"/>
              </a:rPr>
              <a:t>www.ajinkyakulkarni.com</a:t>
            </a:r>
            <a:r>
              <a:rPr lang="en-US" dirty="0" smtClean="0"/>
              <a:t> </a:t>
            </a: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1_Flow">
  <a:themeElements>
    <a:clrScheme name="1_Flow 1">
      <a:dk1>
        <a:srgbClr val="000000"/>
      </a:dk1>
      <a:lt1>
        <a:srgbClr val="FFFFFF"/>
      </a:lt1>
      <a:dk2>
        <a:srgbClr val="444D26"/>
      </a:dk2>
      <a:lt2>
        <a:srgbClr val="FEFAC9"/>
      </a:lt2>
      <a:accent1>
        <a:srgbClr val="A5B592"/>
      </a:accent1>
      <a:accent2>
        <a:srgbClr val="F3A447"/>
      </a:accent2>
      <a:accent3>
        <a:srgbClr val="FFFFFF"/>
      </a:accent3>
      <a:accent4>
        <a:srgbClr val="000000"/>
      </a:accent4>
      <a:accent5>
        <a:srgbClr val="CFD7C7"/>
      </a:accent5>
      <a:accent6>
        <a:srgbClr val="DC943F"/>
      </a:accent6>
      <a:hlink>
        <a:srgbClr val="8E58B6"/>
      </a:hlink>
      <a:folHlink>
        <a:srgbClr val="7F6F6F"/>
      </a:folHlink>
    </a:clrScheme>
    <a:fontScheme name="1_Flow">
      <a:majorFont>
        <a:latin typeface="Calibri"/>
        <a:ea typeface=""/>
        <a:cs typeface="Arial"/>
      </a:majorFont>
      <a:minorFont>
        <a:latin typeface="Constanti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Flow 1">
        <a:dk1>
          <a:srgbClr val="000000"/>
        </a:dk1>
        <a:lt1>
          <a:srgbClr val="FFFFFF"/>
        </a:lt1>
        <a:dk2>
          <a:srgbClr val="444D26"/>
        </a:dk2>
        <a:lt2>
          <a:srgbClr val="FEFAC9"/>
        </a:lt2>
        <a:accent1>
          <a:srgbClr val="A5B592"/>
        </a:accent1>
        <a:accent2>
          <a:srgbClr val="F3A447"/>
        </a:accent2>
        <a:accent3>
          <a:srgbClr val="FFFFFF"/>
        </a:accent3>
        <a:accent4>
          <a:srgbClr val="000000"/>
        </a:accent4>
        <a:accent5>
          <a:srgbClr val="CFD7C7"/>
        </a:accent5>
        <a:accent6>
          <a:srgbClr val="DC943F"/>
        </a:accent6>
        <a:hlink>
          <a:srgbClr val="8E58B6"/>
        </a:hlink>
        <a:folHlink>
          <a:srgbClr val="7F6F6F"/>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themeOverride>
</file>

<file path=ppt/theme/themeOverride2.xml><?xml version="1.0" encoding="utf-8"?>
<a:themeOverride xmlns:a="http://schemas.openxmlformats.org/drawingml/2006/main">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themeOverride>
</file>

<file path=docProps/app.xml><?xml version="1.0" encoding="utf-8"?>
<Properties xmlns="http://schemas.openxmlformats.org/officeDocument/2006/extended-properties" xmlns:vt="http://schemas.openxmlformats.org/officeDocument/2006/docPropsVTypes">
  <Template>Flow</Template>
  <TotalTime>4738</TotalTime>
  <Words>1401</Words>
  <Application>Microsoft Office PowerPoint</Application>
  <PresentationFormat>On-screen Show (4:3)</PresentationFormat>
  <Paragraphs>243</Paragraphs>
  <Slides>30</Slides>
  <Notes>1</Notes>
  <HiddenSlides>0</HiddenSlides>
  <MMClips>0</MMClips>
  <ScaleCrop>false</ScaleCrop>
  <HeadingPairs>
    <vt:vector size="4" baseType="variant">
      <vt:variant>
        <vt:lpstr>Theme</vt:lpstr>
      </vt:variant>
      <vt:variant>
        <vt:i4>2</vt:i4>
      </vt:variant>
      <vt:variant>
        <vt:lpstr>Slide Titles</vt:lpstr>
      </vt:variant>
      <vt:variant>
        <vt:i4>30</vt:i4>
      </vt:variant>
    </vt:vector>
  </HeadingPairs>
  <TitlesOfParts>
    <vt:vector size="32" baseType="lpstr">
      <vt:lpstr>Flow</vt:lpstr>
      <vt:lpstr>1_Flow</vt:lpstr>
      <vt:lpstr>PowerPoint Presentation</vt:lpstr>
      <vt:lpstr>Outline</vt:lpstr>
      <vt:lpstr>PowerPoint Presentation</vt:lpstr>
      <vt:lpstr>Pervasive Computing Environment</vt:lpstr>
      <vt:lpstr>PowerPoint Presentation</vt:lpstr>
      <vt:lpstr>Importance of Identity Elements</vt:lpstr>
      <vt:lpstr>Identity Exposure Behavior</vt:lpstr>
      <vt:lpstr>Norm of Reciprocity</vt:lpstr>
      <vt:lpstr>PowerPoint Presentation</vt:lpstr>
      <vt:lpstr>“Reciprocity Attack”</vt:lpstr>
      <vt:lpstr>InfoSource Technology</vt:lpstr>
      <vt:lpstr>A Welcome Screen</vt:lpstr>
      <vt:lpstr>A Reciprocity Example  </vt:lpstr>
      <vt:lpstr>Participants &amp; Experiment Procedure</vt:lpstr>
      <vt:lpstr>Selection of the Identity Elements</vt:lpstr>
      <vt:lpstr>PowerPoint Presentation</vt:lpstr>
      <vt:lpstr>1. Birthday  </vt:lpstr>
      <vt:lpstr>2. Email  </vt:lpstr>
      <vt:lpstr>3. Monthly Income  </vt:lpstr>
      <vt:lpstr>4. Phone Number  </vt:lpstr>
      <vt:lpstr>5. Home Address  </vt:lpstr>
      <vt:lpstr>Screenshot for Home Address Question</vt:lpstr>
      <vt:lpstr>Questionnaire</vt:lpstr>
      <vt:lpstr>Experimental Results</vt:lpstr>
      <vt:lpstr>PowerPoint Presentation</vt:lpstr>
      <vt:lpstr>PowerPoint Presentation</vt:lpstr>
      <vt:lpstr>Other Findings and Lessons Learned </vt:lpstr>
      <vt:lpstr>Conclusion </vt:lpstr>
      <vt:lpstr>Future Work</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Reciprocity Attacks</dc:title>
  <dc:creator>Ajinkya</dc:creator>
  <cp:lastModifiedBy>ajinkya</cp:lastModifiedBy>
  <cp:revision>123</cp:revision>
  <dcterms:created xsi:type="dcterms:W3CDTF">2010-10-10T21:28:47Z</dcterms:created>
  <dcterms:modified xsi:type="dcterms:W3CDTF">2011-07-21T13:14:32Z</dcterms:modified>
</cp:coreProperties>
</file>