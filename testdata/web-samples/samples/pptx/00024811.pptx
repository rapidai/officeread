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drawings/drawing2.xml" ContentType="application/vnd.openxmlformats-officedocument.drawingml.chartshapes+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charts/chart13.xml" ContentType="application/vnd.openxmlformats-officedocument.drawingml.chart+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9.xml" ContentType="application/vnd.openxmlformats-officedocument.presentationml.notesSlide+xml"/>
  <Override PartName="/ppt/charts/chart7.xml" ContentType="application/vnd.openxmlformats-officedocument.drawingml.chart+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diagrams/layout1.xml" ContentType="application/vnd.openxmlformats-officedocument.drawingml.diagramLayout+xml"/>
  <Override PartName="/ppt/charts/chart5.xml" ContentType="application/vnd.openxmlformats-officedocument.drawingml.chart+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charts/chart1.xml" ContentType="application/vnd.openxmlformats-officedocument.drawingml.chart+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theme/theme4.xml" ContentType="application/vnd.openxmlformats-officedocument.theme+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drawings/drawing1.xml" ContentType="application/vnd.openxmlformats-officedocument.drawingml.chartshapes+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Default Extension="jpeg" ContentType="image/jpeg"/>
  <Override PartName="/ppt/slideLayouts/slideLayout3.xml" ContentType="application/vnd.openxmlformats-officedocument.presentationml.slideLayout+xml"/>
  <Override PartName="/ppt/diagrams/quickStyle1.xml" ContentType="application/vnd.openxmlformats-officedocument.drawingml.diagramStyle+xml"/>
  <Default Extension="emf" ContentType="image/x-emf"/>
  <Override PartName="/ppt/notesSlides/notesSlide17.xml" ContentType="application/vnd.openxmlformats-officedocument.presentationml.notesSlide+xml"/>
  <Override PartName="/ppt/notesSlides/notesSlide28.xml" ContentType="application/vnd.openxmlformats-officedocument.presentationml.notesSlide+xml"/>
  <Override PartName="/ppt/charts/chart16.xml" ContentType="application/vnd.openxmlformats-officedocument.drawingml.char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charts/chart14.xml" ContentType="application/vnd.openxmlformats-officedocument.drawingml.chart+xml"/>
  <Override PartName="/ppt/notesSlides/notesSlide26.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charts/chart8.xml" ContentType="application/vnd.openxmlformats-officedocument.drawingml.chart+xml"/>
  <Override PartName="/ppt/notesSlides/notesSlide13.xml" ContentType="application/vnd.openxmlformats-officedocument.presentationml.notesSlide+xml"/>
  <Override PartName="/ppt/charts/chart12.xml" ContentType="application/vnd.openxmlformats-officedocument.drawingml.chart+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8.xml" ContentType="application/vnd.openxmlformats-officedocument.presentationml.notesSlide+xml"/>
  <Override PartName="/ppt/charts/chart6.xml" ContentType="application/vnd.openxmlformats-officedocument.drawingml.chart+xml"/>
  <Override PartName="/ppt/notesSlides/notesSlide11.xml" ContentType="application/vnd.openxmlformats-officedocument.presentationml.notesSlide+xml"/>
  <Default Extension="vml" ContentType="application/vnd.openxmlformats-officedocument.vmlDrawing"/>
  <Override PartName="/ppt/charts/chart10.xml" ContentType="application/vnd.openxmlformats-officedocument.drawingml.chart+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6.xml" ContentType="application/vnd.openxmlformats-officedocument.presentationml.notesSlide+xml"/>
  <Override PartName="/ppt/charts/chart4.xml" ContentType="application/vnd.openxmlformats-officedocument.drawingml.chart+xml"/>
  <Override PartName="/ppt/slides/slide8.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ppt/charts/chart2.xml" ContentType="application/vnd.openxmlformats-officedocument.drawingml.chart+xml"/>
  <Override PartName="/ppt/diagrams/data1.xml" ContentType="application/vnd.openxmlformats-officedocument.drawingml.diagramData+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Default Extension="xls" ContentType="application/vnd.ms-excel"/>
  <Override PartName="/ppt/notesSlides/notesSlide18.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notesSlides/notesSlide25.xml" ContentType="application/vnd.openxmlformats-officedocument.presentationml.notesSlide+xml"/>
  <Override PartName="/ppt/charts/chart15.xml" ContentType="application/vnd.openxmlformats-officedocument.drawingml.chart+xml"/>
  <Override PartName="/ppt/slides/slide12.xml" ContentType="application/vnd.openxmlformats-officedocument.presentationml.slide+xml"/>
  <Override PartName="/ppt/slides/slide30.xml" ContentType="application/vnd.openxmlformats-officedocument.presentationml.slide+xml"/>
  <Override PartName="/ppt/charts/chart9.xml" ContentType="application/vnd.openxmlformats-officedocument.drawingml.chart+xml"/>
  <Override PartName="/ppt/notesSlides/notesSlide14.xml" ContentType="application/vnd.openxmlformats-officedocument.presentationml.notesSlide+xml"/>
  <Override PartName="/ppt/charts/chart11.xml" ContentType="application/vnd.openxmlformats-officedocument.drawingml.chart+xml"/>
  <Override PartName="/ppt/notesSlides/notesSlide32.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75" r:id="rId2"/>
  </p:sldMasterIdLst>
  <p:notesMasterIdLst>
    <p:notesMasterId r:id="rId42"/>
  </p:notesMasterIdLst>
  <p:handoutMasterIdLst>
    <p:handoutMasterId r:id="rId43"/>
  </p:handoutMasterIdLst>
  <p:sldIdLst>
    <p:sldId id="314" r:id="rId3"/>
    <p:sldId id="298" r:id="rId4"/>
    <p:sldId id="312" r:id="rId5"/>
    <p:sldId id="318" r:id="rId6"/>
    <p:sldId id="274" r:id="rId7"/>
    <p:sldId id="277" r:id="rId8"/>
    <p:sldId id="307" r:id="rId9"/>
    <p:sldId id="269" r:id="rId10"/>
    <p:sldId id="296" r:id="rId11"/>
    <p:sldId id="327" r:id="rId12"/>
    <p:sldId id="276" r:id="rId13"/>
    <p:sldId id="320" r:id="rId14"/>
    <p:sldId id="321" r:id="rId15"/>
    <p:sldId id="324" r:id="rId16"/>
    <p:sldId id="322" r:id="rId17"/>
    <p:sldId id="329" r:id="rId18"/>
    <p:sldId id="300" r:id="rId19"/>
    <p:sldId id="306" r:id="rId20"/>
    <p:sldId id="283" r:id="rId21"/>
    <p:sldId id="326" r:id="rId22"/>
    <p:sldId id="280" r:id="rId23"/>
    <p:sldId id="319" r:id="rId24"/>
    <p:sldId id="284" r:id="rId25"/>
    <p:sldId id="286" r:id="rId26"/>
    <p:sldId id="313" r:id="rId27"/>
    <p:sldId id="285" r:id="rId28"/>
    <p:sldId id="310" r:id="rId29"/>
    <p:sldId id="288" r:id="rId30"/>
    <p:sldId id="289" r:id="rId31"/>
    <p:sldId id="330" r:id="rId32"/>
    <p:sldId id="290" r:id="rId33"/>
    <p:sldId id="291" r:id="rId34"/>
    <p:sldId id="292" r:id="rId35"/>
    <p:sldId id="293" r:id="rId36"/>
    <p:sldId id="294" r:id="rId37"/>
    <p:sldId id="295" r:id="rId38"/>
    <p:sldId id="266" r:id="rId39"/>
    <p:sldId id="308" r:id="rId40"/>
    <p:sldId id="267" r:id="rId41"/>
  </p:sldIdLst>
  <p:sldSz cx="9144000" cy="6858000" type="screen4x3"/>
  <p:notesSz cx="6858000" cy="9144000"/>
  <p:custShowLst>
    <p:custShow name="p20council" id="0">
      <p:sldLst>
        <p:sld r:id="rId5"/>
        <p:sld r:id="rId4"/>
        <p:sld r:id="rId40"/>
        <p:sld r:id="rId10"/>
        <p:sld r:id="rId11"/>
        <p:sld r:id="rId13"/>
        <p:sld r:id="rId7"/>
        <p:sld r:id="rId8"/>
        <p:sld r:id="rId20"/>
        <p:sld r:id="rId21"/>
        <p:sld r:id="rId26"/>
        <p:sld r:id="rId28"/>
        <p:sld r:id="rId30"/>
        <p:sld r:id="rId31"/>
        <p:sld r:id="rId34"/>
        <p:sld r:id="rId35"/>
        <p:sld r:id="rId36"/>
        <p:sld r:id="rId38"/>
        <p:sld r:id="rId41"/>
      </p:sldLst>
    </p:custShow>
    <p:custShow name="Area Offices" id="1">
      <p:sldLst>
        <p:sld r:id="rId4"/>
        <p:sld r:id="rId5"/>
        <p:sld r:id="rId10"/>
        <p:sld r:id="rId11"/>
        <p:sld r:id="rId13"/>
        <p:sld r:id="rId7"/>
        <p:sld r:id="rId9"/>
        <p:sld r:id="rId8"/>
        <p:sld r:id="rId19"/>
        <p:sld r:id="rId20"/>
        <p:sld r:id="rId21"/>
        <p:sld r:id="rId23"/>
        <p:sld r:id="rId25"/>
        <p:sld r:id="rId26"/>
        <p:sld r:id="rId28"/>
        <p:sld r:id="rId29"/>
        <p:sld r:id="rId30"/>
        <p:sld r:id="rId31"/>
        <p:sld r:id="rId33"/>
        <p:sld r:id="rId34"/>
        <p:sld r:id="rId35"/>
        <p:sld r:id="rId36"/>
        <p:sld r:id="rId37"/>
        <p:sld r:id="rId38"/>
        <p:sld r:id="rId39"/>
        <p:sld r:id="rId40"/>
        <p:sld r:id="rId41"/>
      </p:sldLst>
    </p:custShow>
    <p:custShow name="Recession Story" id="2">
      <p:sldLst>
        <p:sld r:id="rId3"/>
        <p:sld r:id="rId4"/>
        <p:sld r:id="rId7"/>
        <p:sld r:id="rId8"/>
        <p:sld r:id="rId9"/>
        <p:sld r:id="rId6"/>
        <p:sld r:id="rId10"/>
        <p:sld r:id="rId11"/>
        <p:sld r:id="rId13"/>
        <p:sld r:id="rId14"/>
        <p:sld r:id="rId19"/>
        <p:sld r:id="rId20"/>
        <p:sld r:id="rId15"/>
        <p:sld r:id="rId21"/>
        <p:sld r:id="rId23"/>
        <p:sld r:id="rId25"/>
        <p:sld r:id="rId26"/>
        <p:sld r:id="rId27"/>
        <p:sld r:id="rId28"/>
        <p:sld r:id="rId29"/>
        <p:sld r:id="rId30"/>
        <p:sld r:id="rId31"/>
        <p:sld r:id="rId33"/>
        <p:sld r:id="rId34"/>
        <p:sld r:id="rId35"/>
        <p:sld r:id="rId36"/>
        <p:sld r:id="rId37"/>
        <p:sld r:id="rId38"/>
        <p:sld r:id="rId39"/>
        <p:sld r:id="rId40"/>
        <p:sld r:id="rId41"/>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showPr>
  <p:clrMru>
    <a:srgbClr val="2F8C99"/>
    <a:srgbClr val="329691"/>
    <a:srgbClr val="D45C26"/>
    <a:srgbClr val="B4C745"/>
    <a:srgbClr val="FFCC66"/>
    <a:srgbClr val="CB922B"/>
    <a:srgbClr val="009999"/>
    <a:srgbClr val="FFCC00"/>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457" autoAdjust="0"/>
  </p:normalViewPr>
  <p:slideViewPr>
    <p:cSldViewPr>
      <p:cViewPr varScale="1">
        <p:scale>
          <a:sx n="86" d="100"/>
          <a:sy n="86" d="100"/>
        </p:scale>
        <p:origin x="-1354" y="-8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1" Type="http://schemas.openxmlformats.org/officeDocument/2006/relationships/oleObject" Target="file:///C:\Users\ER&amp;A\Documents\PowerPointworkFiles\cesSeries.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Documents%20and%20Settings\SReagan\My%20Documents\excel\RecesionCES07-10.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Users\sreagan\Documents\My%20PowerPoints\IndustryProj.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C:\Users\sreagan\Documents\My%20PowerPoints\Projections-suppressedWidDataExtract%20-%20New%20Mexico%20-%202020%20charts.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C:\Users\sreagan\Documents\My%20PowerPoints\DatafilesGraphs\EmptoPopGraph.xlsx" TargetMode="External"/></Relationships>
</file>

<file path=ppt/charts/_rels/chart6.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file:///C:\Users\sreagan\Documents\My%20PowerPoints\Duration%20Long-Term%20Unemployment%20Charts%20for%20June%20LMR%20and%20Ashley's%20Quarterly%20%20(2).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C:\Users\sreagan\Documents\My%20PowerPoints\URdemographics.xlsx" TargetMode="External"/></Relationships>
</file>

<file path=ppt/charts/_rels/chart8.xml.rels><?xml version="1.0" encoding="UTF-8" standalone="yes"?>
<Relationships xmlns="http://schemas.openxmlformats.org/package/2006/relationships"><Relationship Id="rId1" Type="http://schemas.openxmlformats.org/officeDocument/2006/relationships/oleObject" Target="file:///C:\Users\sreagan\Documents\My%20PowerPoints\UIbyAge2011.xlsx" TargetMode="External"/></Relationships>
</file>

<file path=ppt/charts/_rels/chart9.xml.rels><?xml version="1.0" encoding="UTF-8" standalone="yes"?>
<Relationships xmlns="http://schemas.openxmlformats.org/package/2006/relationships"><Relationship Id="rId1" Type="http://schemas.openxmlformats.org/officeDocument/2006/relationships/oleObject" Target="file:///C:\Users\sreagan\Documents\My%20PowerPoints\ACS_10_1YR_S2301urByRace.xlsx" TargetMode="External"/></Relationships>
</file>

<file path=ppt/charts/_rels/chart10.xml.rels><?xml version="1.0" encoding="UTF-8" standalone="yes"?>
<Relationships xmlns="http://schemas.openxmlformats.org/package/2006/relationships"><Relationship Id="rId1" Type="http://schemas.openxmlformats.org/officeDocument/2006/relationships/oleObject" Target="file:///C:\Users\sreagan\Documents\My%20PowerPoints\TotalAllProjections2010-20.xlsx" TargetMode="External"/></Relationships>
</file>

<file path=ppt/charts/_rels/chart11.xml.rels><?xml version="1.0" encoding="UTF-8" standalone="yes"?>
<Relationships xmlns="http://schemas.openxmlformats.org/package/2006/relationships"><Relationship Id="rId1" Type="http://schemas.openxmlformats.org/officeDocument/2006/relationships/oleObject" Target="file:///C:\Users\sreagan\Documents\My%20PowerPoints\TotalAllProjections2010-20.xlsx" TargetMode="External"/></Relationships>
</file>

<file path=ppt/charts/_rels/chart12.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oleObject" Target="file:///C:\Users\sreagan\Documents\My%20PowerPoints\DatafilesGraphs\cesSeries.xlsx" TargetMode="External"/></Relationships>
</file>

<file path=ppt/charts/_rels/chart13.xml.rels><?xml version="1.0" encoding="UTF-8" standalone="yes"?>
<Relationships xmlns="http://schemas.openxmlformats.org/package/2006/relationships"><Relationship Id="rId1" Type="http://schemas.openxmlformats.org/officeDocument/2006/relationships/oleObject" Target="file:///C:\Users\ER&amp;A\Documents\PowerPointworkFiles\ChartDataIndustryEducation2010-2020.xlsx" TargetMode="External"/></Relationships>
</file>

<file path=ppt/charts/_rels/chart14.xml.rels><?xml version="1.0" encoding="UTF-8" standalone="yes"?>
<Relationships xmlns="http://schemas.openxmlformats.org/package/2006/relationships"><Relationship Id="rId1" Type="http://schemas.openxmlformats.org/officeDocument/2006/relationships/oleObject" Target="http://laser.state.nm.us/admin/gsipub/htmlarea/uploads/NM_EDUC-Clean.xls" TargetMode="External"/></Relationships>
</file>

<file path=ppt/charts/_rels/chart15.xml.rels><?xml version="1.0" encoding="UTF-8" standalone="yes"?>
<Relationships xmlns="http://schemas.openxmlformats.org/package/2006/relationships"><Relationship Id="rId1" Type="http://schemas.openxmlformats.org/officeDocument/2006/relationships/oleObject" Target="file:///C:\Users\sreagan\Documents\WorkGroups\HEDtaskforce\SuppressedWidDataExtract%20-%20New%20Mexico%20-%202020%20Charts.xlsx" TargetMode="External"/></Relationships>
</file>

<file path=ppt/charts/_rels/chart16.xml.rels><?xml version="1.0" encoding="UTF-8" standalone="yes"?>
<Relationships xmlns="http://schemas.openxmlformats.org/package/2006/relationships"><Relationship Id="rId1" Type="http://schemas.openxmlformats.org/officeDocument/2006/relationships/oleObject" Target="file:///C:\Users\sreagan\Documents\My%20PowerPoints\DatafilesGraphs\ChartDataIndustryEducation2010-2020.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lang val="en-US"/>
  <c:chart>
    <c:plotArea>
      <c:layout>
        <c:manualLayout>
          <c:layoutTarget val="inner"/>
          <c:xMode val="edge"/>
          <c:yMode val="edge"/>
          <c:x val="9.3352396739881785E-2"/>
          <c:y val="2.9048978767764078E-2"/>
          <c:w val="0.79398811990606233"/>
          <c:h val="0.80002843051212236"/>
        </c:manualLayout>
      </c:layout>
      <c:lineChart>
        <c:grouping val="standard"/>
        <c:ser>
          <c:idx val="0"/>
          <c:order val="0"/>
          <c:tx>
            <c:strRef>
              <c:f>'NM&amp;US'!$B$1</c:f>
              <c:strCache>
                <c:ptCount val="1"/>
                <c:pt idx="0">
                  <c:v>NM</c:v>
                </c:pt>
              </c:strCache>
            </c:strRef>
          </c:tx>
          <c:marker>
            <c:symbol val="none"/>
          </c:marker>
          <c:cat>
            <c:strRef>
              <c:f>'NM&amp;US'!$A$2:$A$273</c:f>
              <c:strCache>
                <c:ptCount val="272"/>
                <c:pt idx="0">
                  <c:v>1990-01</c:v>
                </c:pt>
                <c:pt idx="1">
                  <c:v>1990-02</c:v>
                </c:pt>
                <c:pt idx="2">
                  <c:v>1990-03</c:v>
                </c:pt>
                <c:pt idx="3">
                  <c:v>1990-04</c:v>
                </c:pt>
                <c:pt idx="4">
                  <c:v>1990-05</c:v>
                </c:pt>
                <c:pt idx="5">
                  <c:v>1990-06</c:v>
                </c:pt>
                <c:pt idx="6">
                  <c:v>1990-07</c:v>
                </c:pt>
                <c:pt idx="7">
                  <c:v>1990-08</c:v>
                </c:pt>
                <c:pt idx="8">
                  <c:v>1990-09</c:v>
                </c:pt>
                <c:pt idx="9">
                  <c:v>1990-10</c:v>
                </c:pt>
                <c:pt idx="10">
                  <c:v>1990-11</c:v>
                </c:pt>
                <c:pt idx="11">
                  <c:v>1990-12</c:v>
                </c:pt>
                <c:pt idx="12">
                  <c:v>1991-01</c:v>
                </c:pt>
                <c:pt idx="13">
                  <c:v>1991-02</c:v>
                </c:pt>
                <c:pt idx="14">
                  <c:v>1991-03</c:v>
                </c:pt>
                <c:pt idx="15">
                  <c:v>1991-04</c:v>
                </c:pt>
                <c:pt idx="16">
                  <c:v>1991-05</c:v>
                </c:pt>
                <c:pt idx="17">
                  <c:v>1991-06</c:v>
                </c:pt>
                <c:pt idx="18">
                  <c:v>1991-07</c:v>
                </c:pt>
                <c:pt idx="19">
                  <c:v>1991-08</c:v>
                </c:pt>
                <c:pt idx="20">
                  <c:v>1991-09</c:v>
                </c:pt>
                <c:pt idx="21">
                  <c:v>1991-10</c:v>
                </c:pt>
                <c:pt idx="22">
                  <c:v>1991-11</c:v>
                </c:pt>
                <c:pt idx="23">
                  <c:v>1991-12</c:v>
                </c:pt>
                <c:pt idx="24">
                  <c:v>1992-01</c:v>
                </c:pt>
                <c:pt idx="25">
                  <c:v>1992-02</c:v>
                </c:pt>
                <c:pt idx="26">
                  <c:v>1992-03</c:v>
                </c:pt>
                <c:pt idx="27">
                  <c:v>1992-04</c:v>
                </c:pt>
                <c:pt idx="28">
                  <c:v>1992-05</c:v>
                </c:pt>
                <c:pt idx="29">
                  <c:v>1992-06</c:v>
                </c:pt>
                <c:pt idx="30">
                  <c:v>1992-07</c:v>
                </c:pt>
                <c:pt idx="31">
                  <c:v>1992-08</c:v>
                </c:pt>
                <c:pt idx="32">
                  <c:v>1992-09</c:v>
                </c:pt>
                <c:pt idx="33">
                  <c:v>1992-10</c:v>
                </c:pt>
                <c:pt idx="34">
                  <c:v>1992-11</c:v>
                </c:pt>
                <c:pt idx="35">
                  <c:v>1992-12</c:v>
                </c:pt>
                <c:pt idx="36">
                  <c:v>1993-01</c:v>
                </c:pt>
                <c:pt idx="37">
                  <c:v>1993-02</c:v>
                </c:pt>
                <c:pt idx="38">
                  <c:v>1993-03</c:v>
                </c:pt>
                <c:pt idx="39">
                  <c:v>1993-04</c:v>
                </c:pt>
                <c:pt idx="40">
                  <c:v>1993-05</c:v>
                </c:pt>
                <c:pt idx="41">
                  <c:v>1993-06</c:v>
                </c:pt>
                <c:pt idx="42">
                  <c:v>1993-07</c:v>
                </c:pt>
                <c:pt idx="43">
                  <c:v>1993-08</c:v>
                </c:pt>
                <c:pt idx="44">
                  <c:v>1993-09</c:v>
                </c:pt>
                <c:pt idx="45">
                  <c:v>1993-10</c:v>
                </c:pt>
                <c:pt idx="46">
                  <c:v>1993-11</c:v>
                </c:pt>
                <c:pt idx="47">
                  <c:v>1993-12</c:v>
                </c:pt>
                <c:pt idx="48">
                  <c:v>1994-01</c:v>
                </c:pt>
                <c:pt idx="49">
                  <c:v>1994-02</c:v>
                </c:pt>
                <c:pt idx="50">
                  <c:v>1994-03</c:v>
                </c:pt>
                <c:pt idx="51">
                  <c:v>1994-04</c:v>
                </c:pt>
                <c:pt idx="52">
                  <c:v>1994-05</c:v>
                </c:pt>
                <c:pt idx="53">
                  <c:v>1994-06</c:v>
                </c:pt>
                <c:pt idx="54">
                  <c:v>1994-07</c:v>
                </c:pt>
                <c:pt idx="55">
                  <c:v>1994-08</c:v>
                </c:pt>
                <c:pt idx="56">
                  <c:v>1994-09</c:v>
                </c:pt>
                <c:pt idx="57">
                  <c:v>1994-10</c:v>
                </c:pt>
                <c:pt idx="58">
                  <c:v>1994-11</c:v>
                </c:pt>
                <c:pt idx="59">
                  <c:v>1994-12</c:v>
                </c:pt>
                <c:pt idx="60">
                  <c:v>1995-01</c:v>
                </c:pt>
                <c:pt idx="61">
                  <c:v>1995-02</c:v>
                </c:pt>
                <c:pt idx="62">
                  <c:v>1995-03</c:v>
                </c:pt>
                <c:pt idx="63">
                  <c:v>1995-04</c:v>
                </c:pt>
                <c:pt idx="64">
                  <c:v>1995-05</c:v>
                </c:pt>
                <c:pt idx="65">
                  <c:v>1995-06</c:v>
                </c:pt>
                <c:pt idx="66">
                  <c:v>1995-07</c:v>
                </c:pt>
                <c:pt idx="67">
                  <c:v>1995-08</c:v>
                </c:pt>
                <c:pt idx="68">
                  <c:v>1995-09</c:v>
                </c:pt>
                <c:pt idx="69">
                  <c:v>1995-10</c:v>
                </c:pt>
                <c:pt idx="70">
                  <c:v>1995-11</c:v>
                </c:pt>
                <c:pt idx="71">
                  <c:v>1995-12</c:v>
                </c:pt>
                <c:pt idx="72">
                  <c:v>1996-01</c:v>
                </c:pt>
                <c:pt idx="73">
                  <c:v>1996-02</c:v>
                </c:pt>
                <c:pt idx="74">
                  <c:v>1996-03</c:v>
                </c:pt>
                <c:pt idx="75">
                  <c:v>1996-04</c:v>
                </c:pt>
                <c:pt idx="76">
                  <c:v>1996-05</c:v>
                </c:pt>
                <c:pt idx="77">
                  <c:v>1996-06</c:v>
                </c:pt>
                <c:pt idx="78">
                  <c:v>1996-07</c:v>
                </c:pt>
                <c:pt idx="79">
                  <c:v>1996-08</c:v>
                </c:pt>
                <c:pt idx="80">
                  <c:v>1996-09</c:v>
                </c:pt>
                <c:pt idx="81">
                  <c:v>1996-10</c:v>
                </c:pt>
                <c:pt idx="82">
                  <c:v>1996-11</c:v>
                </c:pt>
                <c:pt idx="83">
                  <c:v>1996-12</c:v>
                </c:pt>
                <c:pt idx="84">
                  <c:v>1997-01</c:v>
                </c:pt>
                <c:pt idx="85">
                  <c:v>1997-02</c:v>
                </c:pt>
                <c:pt idx="86">
                  <c:v>1997-03</c:v>
                </c:pt>
                <c:pt idx="87">
                  <c:v>1997-04</c:v>
                </c:pt>
                <c:pt idx="88">
                  <c:v>1997-05</c:v>
                </c:pt>
                <c:pt idx="89">
                  <c:v>1997-06</c:v>
                </c:pt>
                <c:pt idx="90">
                  <c:v>1997-07</c:v>
                </c:pt>
                <c:pt idx="91">
                  <c:v>1997-08</c:v>
                </c:pt>
                <c:pt idx="92">
                  <c:v>1997-09</c:v>
                </c:pt>
                <c:pt idx="93">
                  <c:v>1997-10</c:v>
                </c:pt>
                <c:pt idx="94">
                  <c:v>1997-11</c:v>
                </c:pt>
                <c:pt idx="95">
                  <c:v>1997-12</c:v>
                </c:pt>
                <c:pt idx="96">
                  <c:v>1998-01</c:v>
                </c:pt>
                <c:pt idx="97">
                  <c:v>1998-02</c:v>
                </c:pt>
                <c:pt idx="98">
                  <c:v>1998-03</c:v>
                </c:pt>
                <c:pt idx="99">
                  <c:v>1998-04</c:v>
                </c:pt>
                <c:pt idx="100">
                  <c:v>1998-05</c:v>
                </c:pt>
                <c:pt idx="101">
                  <c:v>1998-06</c:v>
                </c:pt>
                <c:pt idx="102">
                  <c:v>1998-07</c:v>
                </c:pt>
                <c:pt idx="103">
                  <c:v>1998-08</c:v>
                </c:pt>
                <c:pt idx="104">
                  <c:v>1998-09</c:v>
                </c:pt>
                <c:pt idx="105">
                  <c:v>1998-10</c:v>
                </c:pt>
                <c:pt idx="106">
                  <c:v>1998-11</c:v>
                </c:pt>
                <c:pt idx="107">
                  <c:v>1998-12</c:v>
                </c:pt>
                <c:pt idx="108">
                  <c:v>1999-01</c:v>
                </c:pt>
                <c:pt idx="109">
                  <c:v>1999-02</c:v>
                </c:pt>
                <c:pt idx="110">
                  <c:v>1999-03</c:v>
                </c:pt>
                <c:pt idx="111">
                  <c:v>1999-04</c:v>
                </c:pt>
                <c:pt idx="112">
                  <c:v>1999-05</c:v>
                </c:pt>
                <c:pt idx="113">
                  <c:v>1999-06</c:v>
                </c:pt>
                <c:pt idx="114">
                  <c:v>1999-07</c:v>
                </c:pt>
                <c:pt idx="115">
                  <c:v>1999-08</c:v>
                </c:pt>
                <c:pt idx="116">
                  <c:v>1999-09</c:v>
                </c:pt>
                <c:pt idx="117">
                  <c:v>1999-10</c:v>
                </c:pt>
                <c:pt idx="118">
                  <c:v>1999-11</c:v>
                </c:pt>
                <c:pt idx="119">
                  <c:v>1999-12</c:v>
                </c:pt>
                <c:pt idx="120">
                  <c:v>2000-01</c:v>
                </c:pt>
                <c:pt idx="121">
                  <c:v>2000-02</c:v>
                </c:pt>
                <c:pt idx="122">
                  <c:v>2000-03</c:v>
                </c:pt>
                <c:pt idx="123">
                  <c:v>2000-04</c:v>
                </c:pt>
                <c:pt idx="124">
                  <c:v>2000-05</c:v>
                </c:pt>
                <c:pt idx="125">
                  <c:v>2000-06</c:v>
                </c:pt>
                <c:pt idx="126">
                  <c:v>2000-07</c:v>
                </c:pt>
                <c:pt idx="127">
                  <c:v>2000-08</c:v>
                </c:pt>
                <c:pt idx="128">
                  <c:v>2000-09</c:v>
                </c:pt>
                <c:pt idx="129">
                  <c:v>2000-10</c:v>
                </c:pt>
                <c:pt idx="130">
                  <c:v>2000-11</c:v>
                </c:pt>
                <c:pt idx="131">
                  <c:v>2000-12</c:v>
                </c:pt>
                <c:pt idx="132">
                  <c:v>2001-01</c:v>
                </c:pt>
                <c:pt idx="133">
                  <c:v>2001-02</c:v>
                </c:pt>
                <c:pt idx="134">
                  <c:v>2001-03</c:v>
                </c:pt>
                <c:pt idx="135">
                  <c:v>2001-04</c:v>
                </c:pt>
                <c:pt idx="136">
                  <c:v>2001-05</c:v>
                </c:pt>
                <c:pt idx="137">
                  <c:v>2001-06</c:v>
                </c:pt>
                <c:pt idx="138">
                  <c:v>2001-07</c:v>
                </c:pt>
                <c:pt idx="139">
                  <c:v>2001-08</c:v>
                </c:pt>
                <c:pt idx="140">
                  <c:v>2001-09</c:v>
                </c:pt>
                <c:pt idx="141">
                  <c:v>2001-10</c:v>
                </c:pt>
                <c:pt idx="142">
                  <c:v>2001-11</c:v>
                </c:pt>
                <c:pt idx="143">
                  <c:v>2001-12</c:v>
                </c:pt>
                <c:pt idx="144">
                  <c:v>2002-01</c:v>
                </c:pt>
                <c:pt idx="145">
                  <c:v>2002-02</c:v>
                </c:pt>
                <c:pt idx="146">
                  <c:v>2002-03</c:v>
                </c:pt>
                <c:pt idx="147">
                  <c:v>2002-04</c:v>
                </c:pt>
                <c:pt idx="148">
                  <c:v>2002-05</c:v>
                </c:pt>
                <c:pt idx="149">
                  <c:v>2002-06</c:v>
                </c:pt>
                <c:pt idx="150">
                  <c:v>2002-07</c:v>
                </c:pt>
                <c:pt idx="151">
                  <c:v>2002-08</c:v>
                </c:pt>
                <c:pt idx="152">
                  <c:v>2002-09</c:v>
                </c:pt>
                <c:pt idx="153">
                  <c:v>2002-10</c:v>
                </c:pt>
                <c:pt idx="154">
                  <c:v>2002-11</c:v>
                </c:pt>
                <c:pt idx="155">
                  <c:v>2002-12</c:v>
                </c:pt>
                <c:pt idx="156">
                  <c:v>2003-01</c:v>
                </c:pt>
                <c:pt idx="157">
                  <c:v>2003-02</c:v>
                </c:pt>
                <c:pt idx="158">
                  <c:v>2003-03</c:v>
                </c:pt>
                <c:pt idx="159">
                  <c:v>2003-04</c:v>
                </c:pt>
                <c:pt idx="160">
                  <c:v>2003-05</c:v>
                </c:pt>
                <c:pt idx="161">
                  <c:v>2003-06</c:v>
                </c:pt>
                <c:pt idx="162">
                  <c:v>2003-07</c:v>
                </c:pt>
                <c:pt idx="163">
                  <c:v>2003-08</c:v>
                </c:pt>
                <c:pt idx="164">
                  <c:v>2003-09</c:v>
                </c:pt>
                <c:pt idx="165">
                  <c:v>2003-10</c:v>
                </c:pt>
                <c:pt idx="166">
                  <c:v>2003-11</c:v>
                </c:pt>
                <c:pt idx="167">
                  <c:v>2003-12</c:v>
                </c:pt>
                <c:pt idx="168">
                  <c:v>2004-01</c:v>
                </c:pt>
                <c:pt idx="169">
                  <c:v>2004-02</c:v>
                </c:pt>
                <c:pt idx="170">
                  <c:v>2004-03</c:v>
                </c:pt>
                <c:pt idx="171">
                  <c:v>2004-04</c:v>
                </c:pt>
                <c:pt idx="172">
                  <c:v>2004-05</c:v>
                </c:pt>
                <c:pt idx="173">
                  <c:v>2004-06</c:v>
                </c:pt>
                <c:pt idx="174">
                  <c:v>2004-07</c:v>
                </c:pt>
                <c:pt idx="175">
                  <c:v>2004-08</c:v>
                </c:pt>
                <c:pt idx="176">
                  <c:v>2004-09</c:v>
                </c:pt>
                <c:pt idx="177">
                  <c:v>2004-10</c:v>
                </c:pt>
                <c:pt idx="178">
                  <c:v>2004-11</c:v>
                </c:pt>
                <c:pt idx="179">
                  <c:v>2004-12</c:v>
                </c:pt>
                <c:pt idx="180">
                  <c:v>2005-01</c:v>
                </c:pt>
                <c:pt idx="181">
                  <c:v>2005-02</c:v>
                </c:pt>
                <c:pt idx="182">
                  <c:v>2005-03</c:v>
                </c:pt>
                <c:pt idx="183">
                  <c:v>2005-04</c:v>
                </c:pt>
                <c:pt idx="184">
                  <c:v>2005-05</c:v>
                </c:pt>
                <c:pt idx="185">
                  <c:v>2005-06</c:v>
                </c:pt>
                <c:pt idx="186">
                  <c:v>2005-07</c:v>
                </c:pt>
                <c:pt idx="187">
                  <c:v>2005-08</c:v>
                </c:pt>
                <c:pt idx="188">
                  <c:v>2005-09</c:v>
                </c:pt>
                <c:pt idx="189">
                  <c:v>2005-10</c:v>
                </c:pt>
                <c:pt idx="190">
                  <c:v>2005-11</c:v>
                </c:pt>
                <c:pt idx="191">
                  <c:v>2005-12</c:v>
                </c:pt>
                <c:pt idx="192">
                  <c:v>2006-01</c:v>
                </c:pt>
                <c:pt idx="193">
                  <c:v>2006-02</c:v>
                </c:pt>
                <c:pt idx="194">
                  <c:v>2006-03</c:v>
                </c:pt>
                <c:pt idx="195">
                  <c:v>2006-04</c:v>
                </c:pt>
                <c:pt idx="196">
                  <c:v>2006-05</c:v>
                </c:pt>
                <c:pt idx="197">
                  <c:v>2006-06</c:v>
                </c:pt>
                <c:pt idx="198">
                  <c:v>2006-07</c:v>
                </c:pt>
                <c:pt idx="199">
                  <c:v>2006-08</c:v>
                </c:pt>
                <c:pt idx="200">
                  <c:v>2006-09</c:v>
                </c:pt>
                <c:pt idx="201">
                  <c:v>2006-10</c:v>
                </c:pt>
                <c:pt idx="202">
                  <c:v>2006-11</c:v>
                </c:pt>
                <c:pt idx="203">
                  <c:v>2006-12</c:v>
                </c:pt>
                <c:pt idx="204">
                  <c:v>2007-01</c:v>
                </c:pt>
                <c:pt idx="205">
                  <c:v>2007-02</c:v>
                </c:pt>
                <c:pt idx="206">
                  <c:v>2007-03</c:v>
                </c:pt>
                <c:pt idx="207">
                  <c:v>2007-04</c:v>
                </c:pt>
                <c:pt idx="208">
                  <c:v>2007-05</c:v>
                </c:pt>
                <c:pt idx="209">
                  <c:v>2007-06</c:v>
                </c:pt>
                <c:pt idx="210">
                  <c:v>2007-07</c:v>
                </c:pt>
                <c:pt idx="211">
                  <c:v>2007-08</c:v>
                </c:pt>
                <c:pt idx="212">
                  <c:v>2007-09</c:v>
                </c:pt>
                <c:pt idx="213">
                  <c:v>2007-10</c:v>
                </c:pt>
                <c:pt idx="214">
                  <c:v>2007-11</c:v>
                </c:pt>
                <c:pt idx="215">
                  <c:v>2007-12</c:v>
                </c:pt>
                <c:pt idx="216">
                  <c:v>2008-01</c:v>
                </c:pt>
                <c:pt idx="217">
                  <c:v>2008-02</c:v>
                </c:pt>
                <c:pt idx="218">
                  <c:v>2008-03</c:v>
                </c:pt>
                <c:pt idx="219">
                  <c:v>2008-04</c:v>
                </c:pt>
                <c:pt idx="220">
                  <c:v>2008-05</c:v>
                </c:pt>
                <c:pt idx="221">
                  <c:v>2008-06</c:v>
                </c:pt>
                <c:pt idx="222">
                  <c:v>2008-07</c:v>
                </c:pt>
                <c:pt idx="223">
                  <c:v>2008-08</c:v>
                </c:pt>
                <c:pt idx="224">
                  <c:v>2008-09</c:v>
                </c:pt>
                <c:pt idx="225">
                  <c:v>2008-10</c:v>
                </c:pt>
                <c:pt idx="226">
                  <c:v>2008-11</c:v>
                </c:pt>
                <c:pt idx="227">
                  <c:v>2008-12</c:v>
                </c:pt>
                <c:pt idx="228">
                  <c:v>2009-01</c:v>
                </c:pt>
                <c:pt idx="229">
                  <c:v>2009-02</c:v>
                </c:pt>
                <c:pt idx="230">
                  <c:v>2009-03</c:v>
                </c:pt>
                <c:pt idx="231">
                  <c:v>2009-04</c:v>
                </c:pt>
                <c:pt idx="232">
                  <c:v>2009-05</c:v>
                </c:pt>
                <c:pt idx="233">
                  <c:v>2009-06</c:v>
                </c:pt>
                <c:pt idx="234">
                  <c:v>2009-07</c:v>
                </c:pt>
                <c:pt idx="235">
                  <c:v>2009-08</c:v>
                </c:pt>
                <c:pt idx="236">
                  <c:v>2009-09</c:v>
                </c:pt>
                <c:pt idx="237">
                  <c:v>2009-10</c:v>
                </c:pt>
                <c:pt idx="238">
                  <c:v>2009-11</c:v>
                </c:pt>
                <c:pt idx="239">
                  <c:v>2009-12</c:v>
                </c:pt>
                <c:pt idx="240">
                  <c:v>2010-01</c:v>
                </c:pt>
                <c:pt idx="241">
                  <c:v>2010-02</c:v>
                </c:pt>
                <c:pt idx="242">
                  <c:v>2010-03</c:v>
                </c:pt>
                <c:pt idx="243">
                  <c:v>2010-04</c:v>
                </c:pt>
                <c:pt idx="244">
                  <c:v>2010-05</c:v>
                </c:pt>
                <c:pt idx="245">
                  <c:v>2010-06</c:v>
                </c:pt>
                <c:pt idx="246">
                  <c:v>2010-07</c:v>
                </c:pt>
                <c:pt idx="247">
                  <c:v>2010-08</c:v>
                </c:pt>
                <c:pt idx="248">
                  <c:v>2010-09</c:v>
                </c:pt>
                <c:pt idx="249">
                  <c:v>2010-10</c:v>
                </c:pt>
                <c:pt idx="250">
                  <c:v>2010-11</c:v>
                </c:pt>
                <c:pt idx="251">
                  <c:v>2010-12</c:v>
                </c:pt>
                <c:pt idx="252">
                  <c:v>2011-01</c:v>
                </c:pt>
                <c:pt idx="253">
                  <c:v>2011-02</c:v>
                </c:pt>
                <c:pt idx="254">
                  <c:v>2011-03</c:v>
                </c:pt>
                <c:pt idx="255">
                  <c:v>2011-04</c:v>
                </c:pt>
                <c:pt idx="256">
                  <c:v>2011-05</c:v>
                </c:pt>
                <c:pt idx="257">
                  <c:v>2011-06</c:v>
                </c:pt>
                <c:pt idx="258">
                  <c:v>2011-07</c:v>
                </c:pt>
                <c:pt idx="259">
                  <c:v>2011-08</c:v>
                </c:pt>
                <c:pt idx="260">
                  <c:v>2011-09</c:v>
                </c:pt>
                <c:pt idx="261">
                  <c:v>2011-10</c:v>
                </c:pt>
                <c:pt idx="262">
                  <c:v>2011-11</c:v>
                </c:pt>
                <c:pt idx="263">
                  <c:v>2011-12</c:v>
                </c:pt>
                <c:pt idx="264">
                  <c:v>2012-1</c:v>
                </c:pt>
                <c:pt idx="265">
                  <c:v>2012-2</c:v>
                </c:pt>
                <c:pt idx="266">
                  <c:v>2012-3</c:v>
                </c:pt>
                <c:pt idx="267">
                  <c:v>2012-4</c:v>
                </c:pt>
                <c:pt idx="268">
                  <c:v>2012-5</c:v>
                </c:pt>
                <c:pt idx="269">
                  <c:v>2012-6</c:v>
                </c:pt>
                <c:pt idx="270">
                  <c:v>2012-7</c:v>
                </c:pt>
                <c:pt idx="271">
                  <c:v>2012-8</c:v>
                </c:pt>
              </c:strCache>
            </c:strRef>
          </c:cat>
          <c:val>
            <c:numRef>
              <c:f>'NM&amp;US'!$B$2:$B$273</c:f>
              <c:numCache>
                <c:formatCode>_(* #,##0_);_(* \(#,##0\);_(* "-"??_);_(@_)</c:formatCode>
                <c:ptCount val="272"/>
                <c:pt idx="0">
                  <c:v>572500</c:v>
                </c:pt>
                <c:pt idx="1">
                  <c:v>573300</c:v>
                </c:pt>
                <c:pt idx="2">
                  <c:v>575400</c:v>
                </c:pt>
                <c:pt idx="3">
                  <c:v>580100</c:v>
                </c:pt>
                <c:pt idx="4">
                  <c:v>581800</c:v>
                </c:pt>
                <c:pt idx="5">
                  <c:v>585800</c:v>
                </c:pt>
                <c:pt idx="6">
                  <c:v>581700</c:v>
                </c:pt>
                <c:pt idx="7">
                  <c:v>582000</c:v>
                </c:pt>
                <c:pt idx="8">
                  <c:v>581400</c:v>
                </c:pt>
                <c:pt idx="9">
                  <c:v>581600</c:v>
                </c:pt>
                <c:pt idx="10">
                  <c:v>586200</c:v>
                </c:pt>
                <c:pt idx="11">
                  <c:v>582500</c:v>
                </c:pt>
                <c:pt idx="12">
                  <c:v>582300</c:v>
                </c:pt>
                <c:pt idx="13">
                  <c:v>583100</c:v>
                </c:pt>
                <c:pt idx="14">
                  <c:v>582000</c:v>
                </c:pt>
                <c:pt idx="15">
                  <c:v>583300</c:v>
                </c:pt>
                <c:pt idx="16">
                  <c:v>583700</c:v>
                </c:pt>
                <c:pt idx="17">
                  <c:v>584300</c:v>
                </c:pt>
                <c:pt idx="18">
                  <c:v>587300</c:v>
                </c:pt>
                <c:pt idx="19">
                  <c:v>587500</c:v>
                </c:pt>
                <c:pt idx="20">
                  <c:v>589000</c:v>
                </c:pt>
                <c:pt idx="21">
                  <c:v>586300</c:v>
                </c:pt>
                <c:pt idx="22">
                  <c:v>587300</c:v>
                </c:pt>
                <c:pt idx="23">
                  <c:v>589200</c:v>
                </c:pt>
                <c:pt idx="24">
                  <c:v>591000</c:v>
                </c:pt>
                <c:pt idx="25">
                  <c:v>592000</c:v>
                </c:pt>
                <c:pt idx="26">
                  <c:v>593600</c:v>
                </c:pt>
                <c:pt idx="27">
                  <c:v>595700</c:v>
                </c:pt>
                <c:pt idx="28">
                  <c:v>597900</c:v>
                </c:pt>
                <c:pt idx="29">
                  <c:v>602200</c:v>
                </c:pt>
                <c:pt idx="30">
                  <c:v>603300</c:v>
                </c:pt>
                <c:pt idx="31">
                  <c:v>603900</c:v>
                </c:pt>
                <c:pt idx="32">
                  <c:v>605600</c:v>
                </c:pt>
                <c:pt idx="33">
                  <c:v>607700</c:v>
                </c:pt>
                <c:pt idx="34">
                  <c:v>613700</c:v>
                </c:pt>
                <c:pt idx="35">
                  <c:v>610600</c:v>
                </c:pt>
                <c:pt idx="36">
                  <c:v>611400</c:v>
                </c:pt>
                <c:pt idx="37">
                  <c:v>614200</c:v>
                </c:pt>
                <c:pt idx="38">
                  <c:v>616700</c:v>
                </c:pt>
                <c:pt idx="39">
                  <c:v>621200</c:v>
                </c:pt>
                <c:pt idx="40">
                  <c:v>621200</c:v>
                </c:pt>
                <c:pt idx="41">
                  <c:v>624300</c:v>
                </c:pt>
                <c:pt idx="42">
                  <c:v>625400</c:v>
                </c:pt>
                <c:pt idx="43">
                  <c:v>627700</c:v>
                </c:pt>
                <c:pt idx="44">
                  <c:v>632900</c:v>
                </c:pt>
                <c:pt idx="45">
                  <c:v>637700</c:v>
                </c:pt>
                <c:pt idx="46">
                  <c:v>638700</c:v>
                </c:pt>
                <c:pt idx="47">
                  <c:v>642300</c:v>
                </c:pt>
                <c:pt idx="48">
                  <c:v>642500</c:v>
                </c:pt>
                <c:pt idx="49">
                  <c:v>645200</c:v>
                </c:pt>
                <c:pt idx="50">
                  <c:v>647200</c:v>
                </c:pt>
                <c:pt idx="51">
                  <c:v>648900</c:v>
                </c:pt>
                <c:pt idx="52">
                  <c:v>650900</c:v>
                </c:pt>
                <c:pt idx="53">
                  <c:v>656200</c:v>
                </c:pt>
                <c:pt idx="54">
                  <c:v>661000</c:v>
                </c:pt>
                <c:pt idx="55">
                  <c:v>660400</c:v>
                </c:pt>
                <c:pt idx="56">
                  <c:v>663300</c:v>
                </c:pt>
                <c:pt idx="57">
                  <c:v>664700</c:v>
                </c:pt>
                <c:pt idx="58">
                  <c:v>671800</c:v>
                </c:pt>
                <c:pt idx="59">
                  <c:v>674300</c:v>
                </c:pt>
                <c:pt idx="60">
                  <c:v>677700</c:v>
                </c:pt>
                <c:pt idx="61">
                  <c:v>679500</c:v>
                </c:pt>
                <c:pt idx="62">
                  <c:v>679600</c:v>
                </c:pt>
                <c:pt idx="63">
                  <c:v>678500</c:v>
                </c:pt>
                <c:pt idx="64">
                  <c:v>680300</c:v>
                </c:pt>
                <c:pt idx="65">
                  <c:v>683500</c:v>
                </c:pt>
                <c:pt idx="66">
                  <c:v>681700</c:v>
                </c:pt>
                <c:pt idx="67">
                  <c:v>683800</c:v>
                </c:pt>
                <c:pt idx="68">
                  <c:v>685500</c:v>
                </c:pt>
                <c:pt idx="69">
                  <c:v>684700</c:v>
                </c:pt>
                <c:pt idx="70">
                  <c:v>686700</c:v>
                </c:pt>
                <c:pt idx="71">
                  <c:v>687600</c:v>
                </c:pt>
                <c:pt idx="72">
                  <c:v>688400</c:v>
                </c:pt>
                <c:pt idx="73">
                  <c:v>690000</c:v>
                </c:pt>
                <c:pt idx="74">
                  <c:v>689900</c:v>
                </c:pt>
                <c:pt idx="75">
                  <c:v>692500</c:v>
                </c:pt>
                <c:pt idx="76">
                  <c:v>693500</c:v>
                </c:pt>
                <c:pt idx="77">
                  <c:v>694400</c:v>
                </c:pt>
                <c:pt idx="78">
                  <c:v>695200</c:v>
                </c:pt>
                <c:pt idx="79">
                  <c:v>694400</c:v>
                </c:pt>
                <c:pt idx="80">
                  <c:v>696100</c:v>
                </c:pt>
                <c:pt idx="81">
                  <c:v>698400</c:v>
                </c:pt>
                <c:pt idx="82">
                  <c:v>700200</c:v>
                </c:pt>
                <c:pt idx="83">
                  <c:v>701800</c:v>
                </c:pt>
                <c:pt idx="84">
                  <c:v>699800</c:v>
                </c:pt>
                <c:pt idx="85">
                  <c:v>701600</c:v>
                </c:pt>
                <c:pt idx="86">
                  <c:v>701400</c:v>
                </c:pt>
                <c:pt idx="87">
                  <c:v>704300</c:v>
                </c:pt>
                <c:pt idx="88">
                  <c:v>706600</c:v>
                </c:pt>
                <c:pt idx="89">
                  <c:v>707800</c:v>
                </c:pt>
                <c:pt idx="90">
                  <c:v>710900</c:v>
                </c:pt>
                <c:pt idx="91">
                  <c:v>710700</c:v>
                </c:pt>
                <c:pt idx="92">
                  <c:v>711900</c:v>
                </c:pt>
                <c:pt idx="93">
                  <c:v>714100</c:v>
                </c:pt>
                <c:pt idx="94">
                  <c:v>716100</c:v>
                </c:pt>
                <c:pt idx="95">
                  <c:v>718000</c:v>
                </c:pt>
                <c:pt idx="96">
                  <c:v>716100</c:v>
                </c:pt>
                <c:pt idx="97">
                  <c:v>718300</c:v>
                </c:pt>
                <c:pt idx="98">
                  <c:v>718800</c:v>
                </c:pt>
                <c:pt idx="99">
                  <c:v>718700</c:v>
                </c:pt>
                <c:pt idx="100">
                  <c:v>720100</c:v>
                </c:pt>
                <c:pt idx="101">
                  <c:v>720800</c:v>
                </c:pt>
                <c:pt idx="102">
                  <c:v>720700</c:v>
                </c:pt>
                <c:pt idx="103">
                  <c:v>720300</c:v>
                </c:pt>
                <c:pt idx="104">
                  <c:v>721200</c:v>
                </c:pt>
                <c:pt idx="105">
                  <c:v>719400</c:v>
                </c:pt>
                <c:pt idx="106">
                  <c:v>721700</c:v>
                </c:pt>
                <c:pt idx="107">
                  <c:v>723300</c:v>
                </c:pt>
                <c:pt idx="108">
                  <c:v>724200</c:v>
                </c:pt>
                <c:pt idx="109">
                  <c:v>723600</c:v>
                </c:pt>
                <c:pt idx="110">
                  <c:v>724900</c:v>
                </c:pt>
                <c:pt idx="111">
                  <c:v>725800</c:v>
                </c:pt>
                <c:pt idx="112">
                  <c:v>727000</c:v>
                </c:pt>
                <c:pt idx="113">
                  <c:v>729500</c:v>
                </c:pt>
                <c:pt idx="114">
                  <c:v>730100</c:v>
                </c:pt>
                <c:pt idx="115">
                  <c:v>732700</c:v>
                </c:pt>
                <c:pt idx="116">
                  <c:v>734000</c:v>
                </c:pt>
                <c:pt idx="117">
                  <c:v>734600</c:v>
                </c:pt>
                <c:pt idx="118">
                  <c:v>735200</c:v>
                </c:pt>
                <c:pt idx="119">
                  <c:v>735200</c:v>
                </c:pt>
                <c:pt idx="120">
                  <c:v>735700</c:v>
                </c:pt>
                <c:pt idx="121">
                  <c:v>737500</c:v>
                </c:pt>
                <c:pt idx="122">
                  <c:v>740300</c:v>
                </c:pt>
                <c:pt idx="123">
                  <c:v>741600</c:v>
                </c:pt>
                <c:pt idx="124">
                  <c:v>743700</c:v>
                </c:pt>
                <c:pt idx="125">
                  <c:v>742600</c:v>
                </c:pt>
                <c:pt idx="126">
                  <c:v>745600</c:v>
                </c:pt>
                <c:pt idx="127">
                  <c:v>747400</c:v>
                </c:pt>
                <c:pt idx="128">
                  <c:v>748600</c:v>
                </c:pt>
                <c:pt idx="129">
                  <c:v>749000</c:v>
                </c:pt>
                <c:pt idx="130">
                  <c:v>752100</c:v>
                </c:pt>
                <c:pt idx="131">
                  <c:v>753900</c:v>
                </c:pt>
                <c:pt idx="132">
                  <c:v>752700</c:v>
                </c:pt>
                <c:pt idx="133">
                  <c:v>755000</c:v>
                </c:pt>
                <c:pt idx="134">
                  <c:v>757000</c:v>
                </c:pt>
                <c:pt idx="135">
                  <c:v>756600</c:v>
                </c:pt>
                <c:pt idx="136">
                  <c:v>758200</c:v>
                </c:pt>
                <c:pt idx="137">
                  <c:v>759300</c:v>
                </c:pt>
                <c:pt idx="138">
                  <c:v>758200</c:v>
                </c:pt>
                <c:pt idx="139">
                  <c:v>758900</c:v>
                </c:pt>
                <c:pt idx="140">
                  <c:v>759000</c:v>
                </c:pt>
                <c:pt idx="141">
                  <c:v>756600</c:v>
                </c:pt>
                <c:pt idx="142">
                  <c:v>757600</c:v>
                </c:pt>
                <c:pt idx="143">
                  <c:v>757600</c:v>
                </c:pt>
                <c:pt idx="144">
                  <c:v>760600</c:v>
                </c:pt>
                <c:pt idx="145">
                  <c:v>760600</c:v>
                </c:pt>
                <c:pt idx="146">
                  <c:v>762500</c:v>
                </c:pt>
                <c:pt idx="147">
                  <c:v>764400</c:v>
                </c:pt>
                <c:pt idx="148">
                  <c:v>765700</c:v>
                </c:pt>
                <c:pt idx="149">
                  <c:v>767200</c:v>
                </c:pt>
                <c:pt idx="150">
                  <c:v>767600</c:v>
                </c:pt>
                <c:pt idx="151">
                  <c:v>767800</c:v>
                </c:pt>
                <c:pt idx="152">
                  <c:v>769500</c:v>
                </c:pt>
                <c:pt idx="153">
                  <c:v>767400</c:v>
                </c:pt>
                <c:pt idx="154">
                  <c:v>769700</c:v>
                </c:pt>
                <c:pt idx="155">
                  <c:v>770900</c:v>
                </c:pt>
                <c:pt idx="156">
                  <c:v>772100</c:v>
                </c:pt>
                <c:pt idx="157">
                  <c:v>772100</c:v>
                </c:pt>
                <c:pt idx="158">
                  <c:v>771700</c:v>
                </c:pt>
                <c:pt idx="159">
                  <c:v>772600</c:v>
                </c:pt>
                <c:pt idx="160">
                  <c:v>773000</c:v>
                </c:pt>
                <c:pt idx="161">
                  <c:v>774600</c:v>
                </c:pt>
                <c:pt idx="162">
                  <c:v>776300</c:v>
                </c:pt>
                <c:pt idx="163">
                  <c:v>777100</c:v>
                </c:pt>
                <c:pt idx="164">
                  <c:v>777300</c:v>
                </c:pt>
                <c:pt idx="165">
                  <c:v>779100</c:v>
                </c:pt>
                <c:pt idx="166">
                  <c:v>781100</c:v>
                </c:pt>
                <c:pt idx="167">
                  <c:v>781800</c:v>
                </c:pt>
                <c:pt idx="168">
                  <c:v>782500</c:v>
                </c:pt>
                <c:pt idx="169">
                  <c:v>784400</c:v>
                </c:pt>
                <c:pt idx="170">
                  <c:v>785500</c:v>
                </c:pt>
                <c:pt idx="171">
                  <c:v>786500</c:v>
                </c:pt>
                <c:pt idx="172">
                  <c:v>788400</c:v>
                </c:pt>
                <c:pt idx="173">
                  <c:v>789600</c:v>
                </c:pt>
                <c:pt idx="174">
                  <c:v>791100</c:v>
                </c:pt>
                <c:pt idx="175">
                  <c:v>791300</c:v>
                </c:pt>
                <c:pt idx="176">
                  <c:v>790100</c:v>
                </c:pt>
                <c:pt idx="177">
                  <c:v>797100</c:v>
                </c:pt>
                <c:pt idx="178">
                  <c:v>798400</c:v>
                </c:pt>
                <c:pt idx="179">
                  <c:v>799800</c:v>
                </c:pt>
                <c:pt idx="180">
                  <c:v>798600</c:v>
                </c:pt>
                <c:pt idx="181">
                  <c:v>799900</c:v>
                </c:pt>
                <c:pt idx="182">
                  <c:v>800300</c:v>
                </c:pt>
                <c:pt idx="183">
                  <c:v>804800</c:v>
                </c:pt>
                <c:pt idx="184">
                  <c:v>806000</c:v>
                </c:pt>
                <c:pt idx="185">
                  <c:v>805900</c:v>
                </c:pt>
                <c:pt idx="186">
                  <c:v>809900</c:v>
                </c:pt>
                <c:pt idx="187">
                  <c:v>811800</c:v>
                </c:pt>
                <c:pt idx="188">
                  <c:v>813200</c:v>
                </c:pt>
                <c:pt idx="189">
                  <c:v>813700</c:v>
                </c:pt>
                <c:pt idx="190">
                  <c:v>817700</c:v>
                </c:pt>
                <c:pt idx="191">
                  <c:v>818900</c:v>
                </c:pt>
                <c:pt idx="192">
                  <c:v>821300</c:v>
                </c:pt>
                <c:pt idx="193">
                  <c:v>825800</c:v>
                </c:pt>
                <c:pt idx="194">
                  <c:v>828600</c:v>
                </c:pt>
                <c:pt idx="195">
                  <c:v>829300</c:v>
                </c:pt>
                <c:pt idx="196">
                  <c:v>831100</c:v>
                </c:pt>
                <c:pt idx="197">
                  <c:v>835000</c:v>
                </c:pt>
                <c:pt idx="198">
                  <c:v>833000</c:v>
                </c:pt>
                <c:pt idx="199">
                  <c:v>834200</c:v>
                </c:pt>
                <c:pt idx="200">
                  <c:v>836700</c:v>
                </c:pt>
                <c:pt idx="201">
                  <c:v>834400</c:v>
                </c:pt>
                <c:pt idx="202">
                  <c:v>836900</c:v>
                </c:pt>
                <c:pt idx="203">
                  <c:v>838400</c:v>
                </c:pt>
                <c:pt idx="204">
                  <c:v>837000</c:v>
                </c:pt>
                <c:pt idx="205">
                  <c:v>840200</c:v>
                </c:pt>
                <c:pt idx="206">
                  <c:v>844200</c:v>
                </c:pt>
                <c:pt idx="207">
                  <c:v>841100</c:v>
                </c:pt>
                <c:pt idx="208">
                  <c:v>841400</c:v>
                </c:pt>
                <c:pt idx="209">
                  <c:v>843700</c:v>
                </c:pt>
                <c:pt idx="210">
                  <c:v>843400</c:v>
                </c:pt>
                <c:pt idx="211">
                  <c:v>844400</c:v>
                </c:pt>
                <c:pt idx="212">
                  <c:v>844700</c:v>
                </c:pt>
                <c:pt idx="213">
                  <c:v>846400</c:v>
                </c:pt>
                <c:pt idx="214">
                  <c:v>847900</c:v>
                </c:pt>
                <c:pt idx="215">
                  <c:v>849100</c:v>
                </c:pt>
                <c:pt idx="216">
                  <c:v>846600</c:v>
                </c:pt>
                <c:pt idx="217">
                  <c:v>849700</c:v>
                </c:pt>
                <c:pt idx="218">
                  <c:v>849600</c:v>
                </c:pt>
                <c:pt idx="219">
                  <c:v>850200</c:v>
                </c:pt>
                <c:pt idx="220">
                  <c:v>849300</c:v>
                </c:pt>
                <c:pt idx="221">
                  <c:v>849700</c:v>
                </c:pt>
                <c:pt idx="222">
                  <c:v>847600</c:v>
                </c:pt>
                <c:pt idx="223">
                  <c:v>847600</c:v>
                </c:pt>
                <c:pt idx="224">
                  <c:v>849000</c:v>
                </c:pt>
                <c:pt idx="225">
                  <c:v>845100</c:v>
                </c:pt>
                <c:pt idx="226">
                  <c:v>842100</c:v>
                </c:pt>
                <c:pt idx="227">
                  <c:v>836000</c:v>
                </c:pt>
                <c:pt idx="228">
                  <c:v>829300</c:v>
                </c:pt>
                <c:pt idx="229">
                  <c:v>824500</c:v>
                </c:pt>
                <c:pt idx="230">
                  <c:v>818700</c:v>
                </c:pt>
                <c:pt idx="231">
                  <c:v>814000</c:v>
                </c:pt>
                <c:pt idx="232">
                  <c:v>813000</c:v>
                </c:pt>
                <c:pt idx="233">
                  <c:v>811000</c:v>
                </c:pt>
                <c:pt idx="234">
                  <c:v>808700</c:v>
                </c:pt>
                <c:pt idx="235">
                  <c:v>809400</c:v>
                </c:pt>
                <c:pt idx="236">
                  <c:v>806900</c:v>
                </c:pt>
                <c:pt idx="237">
                  <c:v>804300</c:v>
                </c:pt>
                <c:pt idx="238">
                  <c:v>803800</c:v>
                </c:pt>
                <c:pt idx="239">
                  <c:v>802300</c:v>
                </c:pt>
                <c:pt idx="240">
                  <c:v>801700</c:v>
                </c:pt>
                <c:pt idx="241">
                  <c:v>802300</c:v>
                </c:pt>
                <c:pt idx="242">
                  <c:v>803400</c:v>
                </c:pt>
                <c:pt idx="243">
                  <c:v>805200</c:v>
                </c:pt>
                <c:pt idx="244">
                  <c:v>806700</c:v>
                </c:pt>
                <c:pt idx="245">
                  <c:v>806400</c:v>
                </c:pt>
                <c:pt idx="246">
                  <c:v>805000</c:v>
                </c:pt>
                <c:pt idx="247">
                  <c:v>803100</c:v>
                </c:pt>
                <c:pt idx="248">
                  <c:v>799500</c:v>
                </c:pt>
                <c:pt idx="249">
                  <c:v>801600</c:v>
                </c:pt>
                <c:pt idx="250">
                  <c:v>801300</c:v>
                </c:pt>
                <c:pt idx="251">
                  <c:v>801200</c:v>
                </c:pt>
                <c:pt idx="252">
                  <c:v>800100</c:v>
                </c:pt>
                <c:pt idx="253">
                  <c:v>802400</c:v>
                </c:pt>
                <c:pt idx="254">
                  <c:v>802600</c:v>
                </c:pt>
                <c:pt idx="255">
                  <c:v>805500</c:v>
                </c:pt>
                <c:pt idx="256">
                  <c:v>805200</c:v>
                </c:pt>
                <c:pt idx="257">
                  <c:v>804400</c:v>
                </c:pt>
                <c:pt idx="258">
                  <c:v>803200</c:v>
                </c:pt>
                <c:pt idx="259">
                  <c:v>805600</c:v>
                </c:pt>
                <c:pt idx="260">
                  <c:v>805200</c:v>
                </c:pt>
                <c:pt idx="261">
                  <c:v>804800</c:v>
                </c:pt>
                <c:pt idx="262">
                  <c:v>803600</c:v>
                </c:pt>
                <c:pt idx="263">
                  <c:v>804100</c:v>
                </c:pt>
                <c:pt idx="264">
                  <c:v>806700</c:v>
                </c:pt>
                <c:pt idx="265">
                  <c:v>807500</c:v>
                </c:pt>
                <c:pt idx="266">
                  <c:v>807400</c:v>
                </c:pt>
                <c:pt idx="267">
                  <c:v>809700</c:v>
                </c:pt>
                <c:pt idx="268">
                  <c:v>806100</c:v>
                </c:pt>
                <c:pt idx="269">
                  <c:v>800100</c:v>
                </c:pt>
                <c:pt idx="270">
                  <c:v>794400</c:v>
                </c:pt>
                <c:pt idx="271">
                  <c:v>792300</c:v>
                </c:pt>
              </c:numCache>
            </c:numRef>
          </c:val>
        </c:ser>
        <c:marker val="1"/>
        <c:axId val="102738944"/>
        <c:axId val="102746752"/>
      </c:lineChart>
      <c:lineChart>
        <c:grouping val="standard"/>
        <c:ser>
          <c:idx val="1"/>
          <c:order val="1"/>
          <c:tx>
            <c:strRef>
              <c:f>'NM&amp;US'!$C$1</c:f>
              <c:strCache>
                <c:ptCount val="1"/>
                <c:pt idx="0">
                  <c:v>US</c:v>
                </c:pt>
              </c:strCache>
            </c:strRef>
          </c:tx>
          <c:marker>
            <c:symbol val="none"/>
          </c:marker>
          <c:cat>
            <c:strRef>
              <c:f>'NM&amp;US'!$A$2:$A$273</c:f>
              <c:strCache>
                <c:ptCount val="272"/>
                <c:pt idx="0">
                  <c:v>1990-01</c:v>
                </c:pt>
                <c:pt idx="1">
                  <c:v>1990-02</c:v>
                </c:pt>
                <c:pt idx="2">
                  <c:v>1990-03</c:v>
                </c:pt>
                <c:pt idx="3">
                  <c:v>1990-04</c:v>
                </c:pt>
                <c:pt idx="4">
                  <c:v>1990-05</c:v>
                </c:pt>
                <c:pt idx="5">
                  <c:v>1990-06</c:v>
                </c:pt>
                <c:pt idx="6">
                  <c:v>1990-07</c:v>
                </c:pt>
                <c:pt idx="7">
                  <c:v>1990-08</c:v>
                </c:pt>
                <c:pt idx="8">
                  <c:v>1990-09</c:v>
                </c:pt>
                <c:pt idx="9">
                  <c:v>1990-10</c:v>
                </c:pt>
                <c:pt idx="10">
                  <c:v>1990-11</c:v>
                </c:pt>
                <c:pt idx="11">
                  <c:v>1990-12</c:v>
                </c:pt>
                <c:pt idx="12">
                  <c:v>1991-01</c:v>
                </c:pt>
                <c:pt idx="13">
                  <c:v>1991-02</c:v>
                </c:pt>
                <c:pt idx="14">
                  <c:v>1991-03</c:v>
                </c:pt>
                <c:pt idx="15">
                  <c:v>1991-04</c:v>
                </c:pt>
                <c:pt idx="16">
                  <c:v>1991-05</c:v>
                </c:pt>
                <c:pt idx="17">
                  <c:v>1991-06</c:v>
                </c:pt>
                <c:pt idx="18">
                  <c:v>1991-07</c:v>
                </c:pt>
                <c:pt idx="19">
                  <c:v>1991-08</c:v>
                </c:pt>
                <c:pt idx="20">
                  <c:v>1991-09</c:v>
                </c:pt>
                <c:pt idx="21">
                  <c:v>1991-10</c:v>
                </c:pt>
                <c:pt idx="22">
                  <c:v>1991-11</c:v>
                </c:pt>
                <c:pt idx="23">
                  <c:v>1991-12</c:v>
                </c:pt>
                <c:pt idx="24">
                  <c:v>1992-01</c:v>
                </c:pt>
                <c:pt idx="25">
                  <c:v>1992-02</c:v>
                </c:pt>
                <c:pt idx="26">
                  <c:v>1992-03</c:v>
                </c:pt>
                <c:pt idx="27">
                  <c:v>1992-04</c:v>
                </c:pt>
                <c:pt idx="28">
                  <c:v>1992-05</c:v>
                </c:pt>
                <c:pt idx="29">
                  <c:v>1992-06</c:v>
                </c:pt>
                <c:pt idx="30">
                  <c:v>1992-07</c:v>
                </c:pt>
                <c:pt idx="31">
                  <c:v>1992-08</c:v>
                </c:pt>
                <c:pt idx="32">
                  <c:v>1992-09</c:v>
                </c:pt>
                <c:pt idx="33">
                  <c:v>1992-10</c:v>
                </c:pt>
                <c:pt idx="34">
                  <c:v>1992-11</c:v>
                </c:pt>
                <c:pt idx="35">
                  <c:v>1992-12</c:v>
                </c:pt>
                <c:pt idx="36">
                  <c:v>1993-01</c:v>
                </c:pt>
                <c:pt idx="37">
                  <c:v>1993-02</c:v>
                </c:pt>
                <c:pt idx="38">
                  <c:v>1993-03</c:v>
                </c:pt>
                <c:pt idx="39">
                  <c:v>1993-04</c:v>
                </c:pt>
                <c:pt idx="40">
                  <c:v>1993-05</c:v>
                </c:pt>
                <c:pt idx="41">
                  <c:v>1993-06</c:v>
                </c:pt>
                <c:pt idx="42">
                  <c:v>1993-07</c:v>
                </c:pt>
                <c:pt idx="43">
                  <c:v>1993-08</c:v>
                </c:pt>
                <c:pt idx="44">
                  <c:v>1993-09</c:v>
                </c:pt>
                <c:pt idx="45">
                  <c:v>1993-10</c:v>
                </c:pt>
                <c:pt idx="46">
                  <c:v>1993-11</c:v>
                </c:pt>
                <c:pt idx="47">
                  <c:v>1993-12</c:v>
                </c:pt>
                <c:pt idx="48">
                  <c:v>1994-01</c:v>
                </c:pt>
                <c:pt idx="49">
                  <c:v>1994-02</c:v>
                </c:pt>
                <c:pt idx="50">
                  <c:v>1994-03</c:v>
                </c:pt>
                <c:pt idx="51">
                  <c:v>1994-04</c:v>
                </c:pt>
                <c:pt idx="52">
                  <c:v>1994-05</c:v>
                </c:pt>
                <c:pt idx="53">
                  <c:v>1994-06</c:v>
                </c:pt>
                <c:pt idx="54">
                  <c:v>1994-07</c:v>
                </c:pt>
                <c:pt idx="55">
                  <c:v>1994-08</c:v>
                </c:pt>
                <c:pt idx="56">
                  <c:v>1994-09</c:v>
                </c:pt>
                <c:pt idx="57">
                  <c:v>1994-10</c:v>
                </c:pt>
                <c:pt idx="58">
                  <c:v>1994-11</c:v>
                </c:pt>
                <c:pt idx="59">
                  <c:v>1994-12</c:v>
                </c:pt>
                <c:pt idx="60">
                  <c:v>1995-01</c:v>
                </c:pt>
                <c:pt idx="61">
                  <c:v>1995-02</c:v>
                </c:pt>
                <c:pt idx="62">
                  <c:v>1995-03</c:v>
                </c:pt>
                <c:pt idx="63">
                  <c:v>1995-04</c:v>
                </c:pt>
                <c:pt idx="64">
                  <c:v>1995-05</c:v>
                </c:pt>
                <c:pt idx="65">
                  <c:v>1995-06</c:v>
                </c:pt>
                <c:pt idx="66">
                  <c:v>1995-07</c:v>
                </c:pt>
                <c:pt idx="67">
                  <c:v>1995-08</c:v>
                </c:pt>
                <c:pt idx="68">
                  <c:v>1995-09</c:v>
                </c:pt>
                <c:pt idx="69">
                  <c:v>1995-10</c:v>
                </c:pt>
                <c:pt idx="70">
                  <c:v>1995-11</c:v>
                </c:pt>
                <c:pt idx="71">
                  <c:v>1995-12</c:v>
                </c:pt>
                <c:pt idx="72">
                  <c:v>1996-01</c:v>
                </c:pt>
                <c:pt idx="73">
                  <c:v>1996-02</c:v>
                </c:pt>
                <c:pt idx="74">
                  <c:v>1996-03</c:v>
                </c:pt>
                <c:pt idx="75">
                  <c:v>1996-04</c:v>
                </c:pt>
                <c:pt idx="76">
                  <c:v>1996-05</c:v>
                </c:pt>
                <c:pt idx="77">
                  <c:v>1996-06</c:v>
                </c:pt>
                <c:pt idx="78">
                  <c:v>1996-07</c:v>
                </c:pt>
                <c:pt idx="79">
                  <c:v>1996-08</c:v>
                </c:pt>
                <c:pt idx="80">
                  <c:v>1996-09</c:v>
                </c:pt>
                <c:pt idx="81">
                  <c:v>1996-10</c:v>
                </c:pt>
                <c:pt idx="82">
                  <c:v>1996-11</c:v>
                </c:pt>
                <c:pt idx="83">
                  <c:v>1996-12</c:v>
                </c:pt>
                <c:pt idx="84">
                  <c:v>1997-01</c:v>
                </c:pt>
                <c:pt idx="85">
                  <c:v>1997-02</c:v>
                </c:pt>
                <c:pt idx="86">
                  <c:v>1997-03</c:v>
                </c:pt>
                <c:pt idx="87">
                  <c:v>1997-04</c:v>
                </c:pt>
                <c:pt idx="88">
                  <c:v>1997-05</c:v>
                </c:pt>
                <c:pt idx="89">
                  <c:v>1997-06</c:v>
                </c:pt>
                <c:pt idx="90">
                  <c:v>1997-07</c:v>
                </c:pt>
                <c:pt idx="91">
                  <c:v>1997-08</c:v>
                </c:pt>
                <c:pt idx="92">
                  <c:v>1997-09</c:v>
                </c:pt>
                <c:pt idx="93">
                  <c:v>1997-10</c:v>
                </c:pt>
                <c:pt idx="94">
                  <c:v>1997-11</c:v>
                </c:pt>
                <c:pt idx="95">
                  <c:v>1997-12</c:v>
                </c:pt>
                <c:pt idx="96">
                  <c:v>1998-01</c:v>
                </c:pt>
                <c:pt idx="97">
                  <c:v>1998-02</c:v>
                </c:pt>
                <c:pt idx="98">
                  <c:v>1998-03</c:v>
                </c:pt>
                <c:pt idx="99">
                  <c:v>1998-04</c:v>
                </c:pt>
                <c:pt idx="100">
                  <c:v>1998-05</c:v>
                </c:pt>
                <c:pt idx="101">
                  <c:v>1998-06</c:v>
                </c:pt>
                <c:pt idx="102">
                  <c:v>1998-07</c:v>
                </c:pt>
                <c:pt idx="103">
                  <c:v>1998-08</c:v>
                </c:pt>
                <c:pt idx="104">
                  <c:v>1998-09</c:v>
                </c:pt>
                <c:pt idx="105">
                  <c:v>1998-10</c:v>
                </c:pt>
                <c:pt idx="106">
                  <c:v>1998-11</c:v>
                </c:pt>
                <c:pt idx="107">
                  <c:v>1998-12</c:v>
                </c:pt>
                <c:pt idx="108">
                  <c:v>1999-01</c:v>
                </c:pt>
                <c:pt idx="109">
                  <c:v>1999-02</c:v>
                </c:pt>
                <c:pt idx="110">
                  <c:v>1999-03</c:v>
                </c:pt>
                <c:pt idx="111">
                  <c:v>1999-04</c:v>
                </c:pt>
                <c:pt idx="112">
                  <c:v>1999-05</c:v>
                </c:pt>
                <c:pt idx="113">
                  <c:v>1999-06</c:v>
                </c:pt>
                <c:pt idx="114">
                  <c:v>1999-07</c:v>
                </c:pt>
                <c:pt idx="115">
                  <c:v>1999-08</c:v>
                </c:pt>
                <c:pt idx="116">
                  <c:v>1999-09</c:v>
                </c:pt>
                <c:pt idx="117">
                  <c:v>1999-10</c:v>
                </c:pt>
                <c:pt idx="118">
                  <c:v>1999-11</c:v>
                </c:pt>
                <c:pt idx="119">
                  <c:v>1999-12</c:v>
                </c:pt>
                <c:pt idx="120">
                  <c:v>2000-01</c:v>
                </c:pt>
                <c:pt idx="121">
                  <c:v>2000-02</c:v>
                </c:pt>
                <c:pt idx="122">
                  <c:v>2000-03</c:v>
                </c:pt>
                <c:pt idx="123">
                  <c:v>2000-04</c:v>
                </c:pt>
                <c:pt idx="124">
                  <c:v>2000-05</c:v>
                </c:pt>
                <c:pt idx="125">
                  <c:v>2000-06</c:v>
                </c:pt>
                <c:pt idx="126">
                  <c:v>2000-07</c:v>
                </c:pt>
                <c:pt idx="127">
                  <c:v>2000-08</c:v>
                </c:pt>
                <c:pt idx="128">
                  <c:v>2000-09</c:v>
                </c:pt>
                <c:pt idx="129">
                  <c:v>2000-10</c:v>
                </c:pt>
                <c:pt idx="130">
                  <c:v>2000-11</c:v>
                </c:pt>
                <c:pt idx="131">
                  <c:v>2000-12</c:v>
                </c:pt>
                <c:pt idx="132">
                  <c:v>2001-01</c:v>
                </c:pt>
                <c:pt idx="133">
                  <c:v>2001-02</c:v>
                </c:pt>
                <c:pt idx="134">
                  <c:v>2001-03</c:v>
                </c:pt>
                <c:pt idx="135">
                  <c:v>2001-04</c:v>
                </c:pt>
                <c:pt idx="136">
                  <c:v>2001-05</c:v>
                </c:pt>
                <c:pt idx="137">
                  <c:v>2001-06</c:v>
                </c:pt>
                <c:pt idx="138">
                  <c:v>2001-07</c:v>
                </c:pt>
                <c:pt idx="139">
                  <c:v>2001-08</c:v>
                </c:pt>
                <c:pt idx="140">
                  <c:v>2001-09</c:v>
                </c:pt>
                <c:pt idx="141">
                  <c:v>2001-10</c:v>
                </c:pt>
                <c:pt idx="142">
                  <c:v>2001-11</c:v>
                </c:pt>
                <c:pt idx="143">
                  <c:v>2001-12</c:v>
                </c:pt>
                <c:pt idx="144">
                  <c:v>2002-01</c:v>
                </c:pt>
                <c:pt idx="145">
                  <c:v>2002-02</c:v>
                </c:pt>
                <c:pt idx="146">
                  <c:v>2002-03</c:v>
                </c:pt>
                <c:pt idx="147">
                  <c:v>2002-04</c:v>
                </c:pt>
                <c:pt idx="148">
                  <c:v>2002-05</c:v>
                </c:pt>
                <c:pt idx="149">
                  <c:v>2002-06</c:v>
                </c:pt>
                <c:pt idx="150">
                  <c:v>2002-07</c:v>
                </c:pt>
                <c:pt idx="151">
                  <c:v>2002-08</c:v>
                </c:pt>
                <c:pt idx="152">
                  <c:v>2002-09</c:v>
                </c:pt>
                <c:pt idx="153">
                  <c:v>2002-10</c:v>
                </c:pt>
                <c:pt idx="154">
                  <c:v>2002-11</c:v>
                </c:pt>
                <c:pt idx="155">
                  <c:v>2002-12</c:v>
                </c:pt>
                <c:pt idx="156">
                  <c:v>2003-01</c:v>
                </c:pt>
                <c:pt idx="157">
                  <c:v>2003-02</c:v>
                </c:pt>
                <c:pt idx="158">
                  <c:v>2003-03</c:v>
                </c:pt>
                <c:pt idx="159">
                  <c:v>2003-04</c:v>
                </c:pt>
                <c:pt idx="160">
                  <c:v>2003-05</c:v>
                </c:pt>
                <c:pt idx="161">
                  <c:v>2003-06</c:v>
                </c:pt>
                <c:pt idx="162">
                  <c:v>2003-07</c:v>
                </c:pt>
                <c:pt idx="163">
                  <c:v>2003-08</c:v>
                </c:pt>
                <c:pt idx="164">
                  <c:v>2003-09</c:v>
                </c:pt>
                <c:pt idx="165">
                  <c:v>2003-10</c:v>
                </c:pt>
                <c:pt idx="166">
                  <c:v>2003-11</c:v>
                </c:pt>
                <c:pt idx="167">
                  <c:v>2003-12</c:v>
                </c:pt>
                <c:pt idx="168">
                  <c:v>2004-01</c:v>
                </c:pt>
                <c:pt idx="169">
                  <c:v>2004-02</c:v>
                </c:pt>
                <c:pt idx="170">
                  <c:v>2004-03</c:v>
                </c:pt>
                <c:pt idx="171">
                  <c:v>2004-04</c:v>
                </c:pt>
                <c:pt idx="172">
                  <c:v>2004-05</c:v>
                </c:pt>
                <c:pt idx="173">
                  <c:v>2004-06</c:v>
                </c:pt>
                <c:pt idx="174">
                  <c:v>2004-07</c:v>
                </c:pt>
                <c:pt idx="175">
                  <c:v>2004-08</c:v>
                </c:pt>
                <c:pt idx="176">
                  <c:v>2004-09</c:v>
                </c:pt>
                <c:pt idx="177">
                  <c:v>2004-10</c:v>
                </c:pt>
                <c:pt idx="178">
                  <c:v>2004-11</c:v>
                </c:pt>
                <c:pt idx="179">
                  <c:v>2004-12</c:v>
                </c:pt>
                <c:pt idx="180">
                  <c:v>2005-01</c:v>
                </c:pt>
                <c:pt idx="181">
                  <c:v>2005-02</c:v>
                </c:pt>
                <c:pt idx="182">
                  <c:v>2005-03</c:v>
                </c:pt>
                <c:pt idx="183">
                  <c:v>2005-04</c:v>
                </c:pt>
                <c:pt idx="184">
                  <c:v>2005-05</c:v>
                </c:pt>
                <c:pt idx="185">
                  <c:v>2005-06</c:v>
                </c:pt>
                <c:pt idx="186">
                  <c:v>2005-07</c:v>
                </c:pt>
                <c:pt idx="187">
                  <c:v>2005-08</c:v>
                </c:pt>
                <c:pt idx="188">
                  <c:v>2005-09</c:v>
                </c:pt>
                <c:pt idx="189">
                  <c:v>2005-10</c:v>
                </c:pt>
                <c:pt idx="190">
                  <c:v>2005-11</c:v>
                </c:pt>
                <c:pt idx="191">
                  <c:v>2005-12</c:v>
                </c:pt>
                <c:pt idx="192">
                  <c:v>2006-01</c:v>
                </c:pt>
                <c:pt idx="193">
                  <c:v>2006-02</c:v>
                </c:pt>
                <c:pt idx="194">
                  <c:v>2006-03</c:v>
                </c:pt>
                <c:pt idx="195">
                  <c:v>2006-04</c:v>
                </c:pt>
                <c:pt idx="196">
                  <c:v>2006-05</c:v>
                </c:pt>
                <c:pt idx="197">
                  <c:v>2006-06</c:v>
                </c:pt>
                <c:pt idx="198">
                  <c:v>2006-07</c:v>
                </c:pt>
                <c:pt idx="199">
                  <c:v>2006-08</c:v>
                </c:pt>
                <c:pt idx="200">
                  <c:v>2006-09</c:v>
                </c:pt>
                <c:pt idx="201">
                  <c:v>2006-10</c:v>
                </c:pt>
                <c:pt idx="202">
                  <c:v>2006-11</c:v>
                </c:pt>
                <c:pt idx="203">
                  <c:v>2006-12</c:v>
                </c:pt>
                <c:pt idx="204">
                  <c:v>2007-01</c:v>
                </c:pt>
                <c:pt idx="205">
                  <c:v>2007-02</c:v>
                </c:pt>
                <c:pt idx="206">
                  <c:v>2007-03</c:v>
                </c:pt>
                <c:pt idx="207">
                  <c:v>2007-04</c:v>
                </c:pt>
                <c:pt idx="208">
                  <c:v>2007-05</c:v>
                </c:pt>
                <c:pt idx="209">
                  <c:v>2007-06</c:v>
                </c:pt>
                <c:pt idx="210">
                  <c:v>2007-07</c:v>
                </c:pt>
                <c:pt idx="211">
                  <c:v>2007-08</c:v>
                </c:pt>
                <c:pt idx="212">
                  <c:v>2007-09</c:v>
                </c:pt>
                <c:pt idx="213">
                  <c:v>2007-10</c:v>
                </c:pt>
                <c:pt idx="214">
                  <c:v>2007-11</c:v>
                </c:pt>
                <c:pt idx="215">
                  <c:v>2007-12</c:v>
                </c:pt>
                <c:pt idx="216">
                  <c:v>2008-01</c:v>
                </c:pt>
                <c:pt idx="217">
                  <c:v>2008-02</c:v>
                </c:pt>
                <c:pt idx="218">
                  <c:v>2008-03</c:v>
                </c:pt>
                <c:pt idx="219">
                  <c:v>2008-04</c:v>
                </c:pt>
                <c:pt idx="220">
                  <c:v>2008-05</c:v>
                </c:pt>
                <c:pt idx="221">
                  <c:v>2008-06</c:v>
                </c:pt>
                <c:pt idx="222">
                  <c:v>2008-07</c:v>
                </c:pt>
                <c:pt idx="223">
                  <c:v>2008-08</c:v>
                </c:pt>
                <c:pt idx="224">
                  <c:v>2008-09</c:v>
                </c:pt>
                <c:pt idx="225">
                  <c:v>2008-10</c:v>
                </c:pt>
                <c:pt idx="226">
                  <c:v>2008-11</c:v>
                </c:pt>
                <c:pt idx="227">
                  <c:v>2008-12</c:v>
                </c:pt>
                <c:pt idx="228">
                  <c:v>2009-01</c:v>
                </c:pt>
                <c:pt idx="229">
                  <c:v>2009-02</c:v>
                </c:pt>
                <c:pt idx="230">
                  <c:v>2009-03</c:v>
                </c:pt>
                <c:pt idx="231">
                  <c:v>2009-04</c:v>
                </c:pt>
                <c:pt idx="232">
                  <c:v>2009-05</c:v>
                </c:pt>
                <c:pt idx="233">
                  <c:v>2009-06</c:v>
                </c:pt>
                <c:pt idx="234">
                  <c:v>2009-07</c:v>
                </c:pt>
                <c:pt idx="235">
                  <c:v>2009-08</c:v>
                </c:pt>
                <c:pt idx="236">
                  <c:v>2009-09</c:v>
                </c:pt>
                <c:pt idx="237">
                  <c:v>2009-10</c:v>
                </c:pt>
                <c:pt idx="238">
                  <c:v>2009-11</c:v>
                </c:pt>
                <c:pt idx="239">
                  <c:v>2009-12</c:v>
                </c:pt>
                <c:pt idx="240">
                  <c:v>2010-01</c:v>
                </c:pt>
                <c:pt idx="241">
                  <c:v>2010-02</c:v>
                </c:pt>
                <c:pt idx="242">
                  <c:v>2010-03</c:v>
                </c:pt>
                <c:pt idx="243">
                  <c:v>2010-04</c:v>
                </c:pt>
                <c:pt idx="244">
                  <c:v>2010-05</c:v>
                </c:pt>
                <c:pt idx="245">
                  <c:v>2010-06</c:v>
                </c:pt>
                <c:pt idx="246">
                  <c:v>2010-07</c:v>
                </c:pt>
                <c:pt idx="247">
                  <c:v>2010-08</c:v>
                </c:pt>
                <c:pt idx="248">
                  <c:v>2010-09</c:v>
                </c:pt>
                <c:pt idx="249">
                  <c:v>2010-10</c:v>
                </c:pt>
                <c:pt idx="250">
                  <c:v>2010-11</c:v>
                </c:pt>
                <c:pt idx="251">
                  <c:v>2010-12</c:v>
                </c:pt>
                <c:pt idx="252">
                  <c:v>2011-01</c:v>
                </c:pt>
                <c:pt idx="253">
                  <c:v>2011-02</c:v>
                </c:pt>
                <c:pt idx="254">
                  <c:v>2011-03</c:v>
                </c:pt>
                <c:pt idx="255">
                  <c:v>2011-04</c:v>
                </c:pt>
                <c:pt idx="256">
                  <c:v>2011-05</c:v>
                </c:pt>
                <c:pt idx="257">
                  <c:v>2011-06</c:v>
                </c:pt>
                <c:pt idx="258">
                  <c:v>2011-07</c:v>
                </c:pt>
                <c:pt idx="259">
                  <c:v>2011-08</c:v>
                </c:pt>
                <c:pt idx="260">
                  <c:v>2011-09</c:v>
                </c:pt>
                <c:pt idx="261">
                  <c:v>2011-10</c:v>
                </c:pt>
                <c:pt idx="262">
                  <c:v>2011-11</c:v>
                </c:pt>
                <c:pt idx="263">
                  <c:v>2011-12</c:v>
                </c:pt>
                <c:pt idx="264">
                  <c:v>2012-1</c:v>
                </c:pt>
                <c:pt idx="265">
                  <c:v>2012-2</c:v>
                </c:pt>
                <c:pt idx="266">
                  <c:v>2012-3</c:v>
                </c:pt>
                <c:pt idx="267">
                  <c:v>2012-4</c:v>
                </c:pt>
                <c:pt idx="268">
                  <c:v>2012-5</c:v>
                </c:pt>
                <c:pt idx="269">
                  <c:v>2012-6</c:v>
                </c:pt>
                <c:pt idx="270">
                  <c:v>2012-7</c:v>
                </c:pt>
                <c:pt idx="271">
                  <c:v>2012-8</c:v>
                </c:pt>
              </c:strCache>
            </c:strRef>
          </c:cat>
          <c:val>
            <c:numRef>
              <c:f>'NM&amp;US'!$C$2:$C$273</c:f>
              <c:numCache>
                <c:formatCode>_(* #,##0_);_(* \(#,##0\);_(* "-"??_);_(@_)</c:formatCode>
                <c:ptCount val="272"/>
                <c:pt idx="0">
                  <c:v>109151</c:v>
                </c:pt>
                <c:pt idx="1">
                  <c:v>109396</c:v>
                </c:pt>
                <c:pt idx="2">
                  <c:v>109611</c:v>
                </c:pt>
                <c:pt idx="3">
                  <c:v>109651</c:v>
                </c:pt>
                <c:pt idx="4">
                  <c:v>109800</c:v>
                </c:pt>
                <c:pt idx="5">
                  <c:v>109817</c:v>
                </c:pt>
                <c:pt idx="6">
                  <c:v>109775</c:v>
                </c:pt>
                <c:pt idx="7">
                  <c:v>109567</c:v>
                </c:pt>
                <c:pt idx="8">
                  <c:v>109485</c:v>
                </c:pt>
                <c:pt idx="9">
                  <c:v>109324</c:v>
                </c:pt>
                <c:pt idx="10">
                  <c:v>109180</c:v>
                </c:pt>
                <c:pt idx="11">
                  <c:v>109120</c:v>
                </c:pt>
                <c:pt idx="12">
                  <c:v>109001</c:v>
                </c:pt>
                <c:pt idx="13">
                  <c:v>108695</c:v>
                </c:pt>
                <c:pt idx="14">
                  <c:v>108535</c:v>
                </c:pt>
                <c:pt idx="15">
                  <c:v>108324</c:v>
                </c:pt>
                <c:pt idx="16">
                  <c:v>108196</c:v>
                </c:pt>
                <c:pt idx="17">
                  <c:v>108283</c:v>
                </c:pt>
                <c:pt idx="18">
                  <c:v>108236</c:v>
                </c:pt>
                <c:pt idx="19">
                  <c:v>108251</c:v>
                </c:pt>
                <c:pt idx="20">
                  <c:v>108286</c:v>
                </c:pt>
                <c:pt idx="21">
                  <c:v>108298</c:v>
                </c:pt>
                <c:pt idx="22">
                  <c:v>108240</c:v>
                </c:pt>
                <c:pt idx="23">
                  <c:v>108263</c:v>
                </c:pt>
                <c:pt idx="24">
                  <c:v>108312</c:v>
                </c:pt>
                <c:pt idx="25">
                  <c:v>108246</c:v>
                </c:pt>
                <c:pt idx="26">
                  <c:v>108296</c:v>
                </c:pt>
                <c:pt idx="27">
                  <c:v>108454</c:v>
                </c:pt>
                <c:pt idx="28">
                  <c:v>108580</c:v>
                </c:pt>
                <c:pt idx="29">
                  <c:v>108640</c:v>
                </c:pt>
                <c:pt idx="30">
                  <c:v>108711</c:v>
                </c:pt>
                <c:pt idx="31">
                  <c:v>108852</c:v>
                </c:pt>
                <c:pt idx="32">
                  <c:v>108887</c:v>
                </c:pt>
                <c:pt idx="33">
                  <c:v>109064</c:v>
                </c:pt>
                <c:pt idx="34">
                  <c:v>109204</c:v>
                </c:pt>
                <c:pt idx="35">
                  <c:v>109415</c:v>
                </c:pt>
                <c:pt idx="36">
                  <c:v>109725</c:v>
                </c:pt>
                <c:pt idx="37">
                  <c:v>109967</c:v>
                </c:pt>
                <c:pt idx="38">
                  <c:v>109916</c:v>
                </c:pt>
                <c:pt idx="39">
                  <c:v>110225</c:v>
                </c:pt>
                <c:pt idx="40">
                  <c:v>110490</c:v>
                </c:pt>
                <c:pt idx="41">
                  <c:v>110663</c:v>
                </c:pt>
                <c:pt idx="42">
                  <c:v>110958</c:v>
                </c:pt>
                <c:pt idx="43">
                  <c:v>111119</c:v>
                </c:pt>
                <c:pt idx="44">
                  <c:v>111360</c:v>
                </c:pt>
                <c:pt idx="45">
                  <c:v>111637</c:v>
                </c:pt>
                <c:pt idx="46">
                  <c:v>111898</c:v>
                </c:pt>
                <c:pt idx="47">
                  <c:v>112206</c:v>
                </c:pt>
                <c:pt idx="48">
                  <c:v>112474</c:v>
                </c:pt>
                <c:pt idx="49">
                  <c:v>112675</c:v>
                </c:pt>
                <c:pt idx="50">
                  <c:v>113137</c:v>
                </c:pt>
                <c:pt idx="51">
                  <c:v>113490</c:v>
                </c:pt>
                <c:pt idx="52">
                  <c:v>113821</c:v>
                </c:pt>
                <c:pt idx="53">
                  <c:v>114136</c:v>
                </c:pt>
                <c:pt idx="54">
                  <c:v>114499</c:v>
                </c:pt>
                <c:pt idx="55">
                  <c:v>114799</c:v>
                </c:pt>
                <c:pt idx="56">
                  <c:v>115153</c:v>
                </c:pt>
                <c:pt idx="57">
                  <c:v>115360</c:v>
                </c:pt>
                <c:pt idx="58">
                  <c:v>115783</c:v>
                </c:pt>
                <c:pt idx="59">
                  <c:v>116057</c:v>
                </c:pt>
                <c:pt idx="60">
                  <c:v>116378</c:v>
                </c:pt>
                <c:pt idx="61">
                  <c:v>116587</c:v>
                </c:pt>
                <c:pt idx="62">
                  <c:v>116809</c:v>
                </c:pt>
                <c:pt idx="63">
                  <c:v>116971</c:v>
                </c:pt>
                <c:pt idx="64">
                  <c:v>116955</c:v>
                </c:pt>
                <c:pt idx="65">
                  <c:v>117186</c:v>
                </c:pt>
                <c:pt idx="66">
                  <c:v>117265</c:v>
                </c:pt>
                <c:pt idx="67">
                  <c:v>117536</c:v>
                </c:pt>
                <c:pt idx="68">
                  <c:v>117781</c:v>
                </c:pt>
                <c:pt idx="69">
                  <c:v>117928</c:v>
                </c:pt>
                <c:pt idx="70">
                  <c:v>118076</c:v>
                </c:pt>
                <c:pt idx="71">
                  <c:v>118207</c:v>
                </c:pt>
                <c:pt idx="72">
                  <c:v>118188</c:v>
                </c:pt>
                <c:pt idx="73">
                  <c:v>118622</c:v>
                </c:pt>
                <c:pt idx="74">
                  <c:v>118885</c:v>
                </c:pt>
                <c:pt idx="75">
                  <c:v>119046</c:v>
                </c:pt>
                <c:pt idx="76">
                  <c:v>119369</c:v>
                </c:pt>
                <c:pt idx="77">
                  <c:v>119647</c:v>
                </c:pt>
                <c:pt idx="78">
                  <c:v>119879</c:v>
                </c:pt>
                <c:pt idx="79">
                  <c:v>120075</c:v>
                </c:pt>
                <c:pt idx="80">
                  <c:v>120295</c:v>
                </c:pt>
                <c:pt idx="81">
                  <c:v>120538</c:v>
                </c:pt>
                <c:pt idx="82">
                  <c:v>120834</c:v>
                </c:pt>
                <c:pt idx="83">
                  <c:v>121001</c:v>
                </c:pt>
                <c:pt idx="84">
                  <c:v>121231</c:v>
                </c:pt>
                <c:pt idx="85">
                  <c:v>121532</c:v>
                </c:pt>
                <c:pt idx="86">
                  <c:v>121844</c:v>
                </c:pt>
                <c:pt idx="87">
                  <c:v>122135</c:v>
                </c:pt>
                <c:pt idx="88">
                  <c:v>122391</c:v>
                </c:pt>
                <c:pt idx="89">
                  <c:v>122644</c:v>
                </c:pt>
                <c:pt idx="90">
                  <c:v>122927</c:v>
                </c:pt>
                <c:pt idx="91">
                  <c:v>122909</c:v>
                </c:pt>
                <c:pt idx="92">
                  <c:v>123417</c:v>
                </c:pt>
                <c:pt idx="93">
                  <c:v>123756</c:v>
                </c:pt>
                <c:pt idx="94">
                  <c:v>124059</c:v>
                </c:pt>
                <c:pt idx="95">
                  <c:v>124358</c:v>
                </c:pt>
                <c:pt idx="96">
                  <c:v>124628</c:v>
                </c:pt>
                <c:pt idx="97">
                  <c:v>124817</c:v>
                </c:pt>
                <c:pt idx="98">
                  <c:v>124961</c:v>
                </c:pt>
                <c:pt idx="99">
                  <c:v>125238</c:v>
                </c:pt>
                <c:pt idx="100">
                  <c:v>125639</c:v>
                </c:pt>
                <c:pt idx="101">
                  <c:v>125851</c:v>
                </c:pt>
                <c:pt idx="102">
                  <c:v>125970</c:v>
                </c:pt>
                <c:pt idx="103">
                  <c:v>126322</c:v>
                </c:pt>
                <c:pt idx="104">
                  <c:v>126540</c:v>
                </c:pt>
                <c:pt idx="105">
                  <c:v>126733</c:v>
                </c:pt>
                <c:pt idx="106">
                  <c:v>127017</c:v>
                </c:pt>
                <c:pt idx="107">
                  <c:v>127359</c:v>
                </c:pt>
                <c:pt idx="108">
                  <c:v>127480</c:v>
                </c:pt>
                <c:pt idx="109">
                  <c:v>127890</c:v>
                </c:pt>
                <c:pt idx="110">
                  <c:v>127996</c:v>
                </c:pt>
                <c:pt idx="111">
                  <c:v>128372</c:v>
                </c:pt>
                <c:pt idx="112">
                  <c:v>128585</c:v>
                </c:pt>
                <c:pt idx="113">
                  <c:v>128851</c:v>
                </c:pt>
                <c:pt idx="114">
                  <c:v>129142</c:v>
                </c:pt>
                <c:pt idx="115">
                  <c:v>129334</c:v>
                </c:pt>
                <c:pt idx="116">
                  <c:v>129536</c:v>
                </c:pt>
                <c:pt idx="117">
                  <c:v>129944</c:v>
                </c:pt>
                <c:pt idx="118">
                  <c:v>130238</c:v>
                </c:pt>
                <c:pt idx="119">
                  <c:v>130532</c:v>
                </c:pt>
                <c:pt idx="120">
                  <c:v>130781</c:v>
                </c:pt>
                <c:pt idx="121">
                  <c:v>130902</c:v>
                </c:pt>
                <c:pt idx="122">
                  <c:v>131374</c:v>
                </c:pt>
                <c:pt idx="123">
                  <c:v>131660</c:v>
                </c:pt>
                <c:pt idx="124">
                  <c:v>131885</c:v>
                </c:pt>
                <c:pt idx="125">
                  <c:v>131839</c:v>
                </c:pt>
                <c:pt idx="126">
                  <c:v>132002</c:v>
                </c:pt>
                <c:pt idx="127">
                  <c:v>132005</c:v>
                </c:pt>
                <c:pt idx="128">
                  <c:v>132127</c:v>
                </c:pt>
                <c:pt idx="129">
                  <c:v>132116</c:v>
                </c:pt>
                <c:pt idx="130">
                  <c:v>132347</c:v>
                </c:pt>
                <c:pt idx="131">
                  <c:v>132485</c:v>
                </c:pt>
                <c:pt idx="132">
                  <c:v>132469</c:v>
                </c:pt>
                <c:pt idx="133">
                  <c:v>132530</c:v>
                </c:pt>
                <c:pt idx="134">
                  <c:v>132500</c:v>
                </c:pt>
                <c:pt idx="135">
                  <c:v>132219</c:v>
                </c:pt>
                <c:pt idx="136">
                  <c:v>132175</c:v>
                </c:pt>
                <c:pt idx="137">
                  <c:v>132047</c:v>
                </c:pt>
                <c:pt idx="138">
                  <c:v>131922</c:v>
                </c:pt>
                <c:pt idx="139">
                  <c:v>131762</c:v>
                </c:pt>
                <c:pt idx="140">
                  <c:v>131518</c:v>
                </c:pt>
                <c:pt idx="141">
                  <c:v>131193</c:v>
                </c:pt>
                <c:pt idx="142">
                  <c:v>130901</c:v>
                </c:pt>
                <c:pt idx="143">
                  <c:v>130723</c:v>
                </c:pt>
                <c:pt idx="144" formatCode="#0">
                  <c:v>130591</c:v>
                </c:pt>
                <c:pt idx="145" formatCode="#0">
                  <c:v>130445</c:v>
                </c:pt>
                <c:pt idx="146" formatCode="#0">
                  <c:v>130421</c:v>
                </c:pt>
                <c:pt idx="147" formatCode="#0">
                  <c:v>130337</c:v>
                </c:pt>
                <c:pt idx="148" formatCode="#0">
                  <c:v>130328</c:v>
                </c:pt>
                <c:pt idx="149" formatCode="#0">
                  <c:v>130375</c:v>
                </c:pt>
                <c:pt idx="150" formatCode="#0">
                  <c:v>130275</c:v>
                </c:pt>
                <c:pt idx="151" formatCode="#0">
                  <c:v>130264</c:v>
                </c:pt>
                <c:pt idx="152" formatCode="#0">
                  <c:v>130209</c:v>
                </c:pt>
                <c:pt idx="153" formatCode="#0">
                  <c:v>130330</c:v>
                </c:pt>
                <c:pt idx="154" formatCode="#0">
                  <c:v>130338</c:v>
                </c:pt>
                <c:pt idx="155" formatCode="#0">
                  <c:v>130175</c:v>
                </c:pt>
                <c:pt idx="156" formatCode="#0">
                  <c:v>130270</c:v>
                </c:pt>
                <c:pt idx="157" formatCode="#0">
                  <c:v>130111</c:v>
                </c:pt>
                <c:pt idx="158" formatCode="#0">
                  <c:v>129898</c:v>
                </c:pt>
                <c:pt idx="159" formatCode="#0">
                  <c:v>129849</c:v>
                </c:pt>
                <c:pt idx="160" formatCode="#0">
                  <c:v>129840</c:v>
                </c:pt>
                <c:pt idx="161" formatCode="#0">
                  <c:v>129840</c:v>
                </c:pt>
                <c:pt idx="162" formatCode="#0">
                  <c:v>129865</c:v>
                </c:pt>
                <c:pt idx="163" formatCode="#0">
                  <c:v>129820</c:v>
                </c:pt>
                <c:pt idx="164" formatCode="#0">
                  <c:v>129929</c:v>
                </c:pt>
                <c:pt idx="165" formatCode="#0">
                  <c:v>130126</c:v>
                </c:pt>
                <c:pt idx="166" formatCode="#0">
                  <c:v>130140</c:v>
                </c:pt>
                <c:pt idx="167" formatCode="#0">
                  <c:v>130259</c:v>
                </c:pt>
                <c:pt idx="168" formatCode="#0">
                  <c:v>130421</c:v>
                </c:pt>
                <c:pt idx="169" formatCode="#0">
                  <c:v>130465</c:v>
                </c:pt>
                <c:pt idx="170" formatCode="#0">
                  <c:v>130802</c:v>
                </c:pt>
                <c:pt idx="171" formatCode="#0">
                  <c:v>131051</c:v>
                </c:pt>
                <c:pt idx="172" formatCode="#0">
                  <c:v>131361</c:v>
                </c:pt>
                <c:pt idx="173" formatCode="#0">
                  <c:v>131442</c:v>
                </c:pt>
                <c:pt idx="174" formatCode="#0">
                  <c:v>131488</c:v>
                </c:pt>
                <c:pt idx="175" formatCode="#0">
                  <c:v>131610</c:v>
                </c:pt>
                <c:pt idx="176" formatCode="#0">
                  <c:v>131771</c:v>
                </c:pt>
                <c:pt idx="177" formatCode="#0">
                  <c:v>132119</c:v>
                </c:pt>
                <c:pt idx="178" formatCode="#0">
                  <c:v>132182</c:v>
                </c:pt>
                <c:pt idx="179" formatCode="#0">
                  <c:v>132316</c:v>
                </c:pt>
                <c:pt idx="180" formatCode="#0">
                  <c:v>132453</c:v>
                </c:pt>
                <c:pt idx="181" formatCode="#0">
                  <c:v>132693</c:v>
                </c:pt>
                <c:pt idx="182" formatCode="#0">
                  <c:v>132834</c:v>
                </c:pt>
                <c:pt idx="183" formatCode="#0">
                  <c:v>133194</c:v>
                </c:pt>
                <c:pt idx="184" formatCode="#0">
                  <c:v>133364</c:v>
                </c:pt>
                <c:pt idx="185" formatCode="#0">
                  <c:v>133607</c:v>
                </c:pt>
                <c:pt idx="186" formatCode="#0">
                  <c:v>133981</c:v>
                </c:pt>
                <c:pt idx="187" formatCode="#0">
                  <c:v>134174</c:v>
                </c:pt>
                <c:pt idx="188" formatCode="#0">
                  <c:v>134240</c:v>
                </c:pt>
                <c:pt idx="189" formatCode="#0">
                  <c:v>134320</c:v>
                </c:pt>
                <c:pt idx="190" formatCode="#0">
                  <c:v>134654</c:v>
                </c:pt>
                <c:pt idx="191" formatCode="#0">
                  <c:v>134814</c:v>
                </c:pt>
                <c:pt idx="192" formatCode="#0">
                  <c:v>135097</c:v>
                </c:pt>
                <c:pt idx="193" formatCode="#0">
                  <c:v>135413</c:v>
                </c:pt>
                <c:pt idx="194" formatCode="#0">
                  <c:v>135696</c:v>
                </c:pt>
                <c:pt idx="195" formatCode="#0">
                  <c:v>135877</c:v>
                </c:pt>
                <c:pt idx="196" formatCode="#0">
                  <c:v>135891</c:v>
                </c:pt>
                <c:pt idx="197" formatCode="#0">
                  <c:v>135967</c:v>
                </c:pt>
                <c:pt idx="198" formatCode="#0">
                  <c:v>136176</c:v>
                </c:pt>
                <c:pt idx="199" formatCode="#0">
                  <c:v>136359</c:v>
                </c:pt>
                <c:pt idx="200" formatCode="#0">
                  <c:v>136516</c:v>
                </c:pt>
                <c:pt idx="201" formatCode="#0">
                  <c:v>136507</c:v>
                </c:pt>
                <c:pt idx="202" formatCode="#0">
                  <c:v>136711</c:v>
                </c:pt>
                <c:pt idx="203" formatCode="#0">
                  <c:v>136882</c:v>
                </c:pt>
                <c:pt idx="204" formatCode="#0">
                  <c:v>137118</c:v>
                </c:pt>
                <c:pt idx="205" formatCode="#0">
                  <c:v>137211</c:v>
                </c:pt>
                <c:pt idx="206" formatCode="#0">
                  <c:v>137401</c:v>
                </c:pt>
                <c:pt idx="207" formatCode="#0">
                  <c:v>137473</c:v>
                </c:pt>
                <c:pt idx="208" formatCode="#0">
                  <c:v>137612</c:v>
                </c:pt>
                <c:pt idx="209" formatCode="#0">
                  <c:v>137687</c:v>
                </c:pt>
                <c:pt idx="210" formatCode="#0">
                  <c:v>137647</c:v>
                </c:pt>
                <c:pt idx="211" formatCode="#0">
                  <c:v>137629</c:v>
                </c:pt>
                <c:pt idx="212" formatCode="#0">
                  <c:v>137702</c:v>
                </c:pt>
                <c:pt idx="213" formatCode="#0">
                  <c:v>137781</c:v>
                </c:pt>
                <c:pt idx="214" formatCode="#0">
                  <c:v>137893</c:v>
                </c:pt>
                <c:pt idx="215" formatCode="#0">
                  <c:v>137982</c:v>
                </c:pt>
                <c:pt idx="216" formatCode="#0">
                  <c:v>138023</c:v>
                </c:pt>
                <c:pt idx="217" formatCode="#0">
                  <c:v>137939</c:v>
                </c:pt>
                <c:pt idx="218" formatCode="#0">
                  <c:v>137844</c:v>
                </c:pt>
                <c:pt idx="219" formatCode="#0">
                  <c:v>137636</c:v>
                </c:pt>
                <c:pt idx="220" formatCode="#0">
                  <c:v>137446</c:v>
                </c:pt>
                <c:pt idx="221" formatCode="#0">
                  <c:v>137248</c:v>
                </c:pt>
                <c:pt idx="222" formatCode="#0">
                  <c:v>137038</c:v>
                </c:pt>
                <c:pt idx="223" formatCode="#0">
                  <c:v>136764</c:v>
                </c:pt>
                <c:pt idx="224" formatCode="#0">
                  <c:v>136332</c:v>
                </c:pt>
                <c:pt idx="225" formatCode="#0">
                  <c:v>135843</c:v>
                </c:pt>
                <c:pt idx="226" formatCode="#0">
                  <c:v>135040</c:v>
                </c:pt>
                <c:pt idx="227" formatCode="#0">
                  <c:v>134379</c:v>
                </c:pt>
                <c:pt idx="228" formatCode="#0">
                  <c:v>133561</c:v>
                </c:pt>
                <c:pt idx="229" formatCode="#0">
                  <c:v>132837</c:v>
                </c:pt>
                <c:pt idx="230" formatCode="#0">
                  <c:v>132038</c:v>
                </c:pt>
                <c:pt idx="231" formatCode="#0">
                  <c:v>131346</c:v>
                </c:pt>
                <c:pt idx="232" formatCode="#0">
                  <c:v>130985</c:v>
                </c:pt>
                <c:pt idx="233" formatCode="#0">
                  <c:v>130503</c:v>
                </c:pt>
                <c:pt idx="234" formatCode="#0">
                  <c:v>130164</c:v>
                </c:pt>
                <c:pt idx="235" formatCode="#0">
                  <c:v>129933</c:v>
                </c:pt>
                <c:pt idx="236" formatCode="#0">
                  <c:v>129734</c:v>
                </c:pt>
                <c:pt idx="237" formatCode="#0">
                  <c:v>129532</c:v>
                </c:pt>
                <c:pt idx="238" formatCode="#0">
                  <c:v>129490</c:v>
                </c:pt>
                <c:pt idx="239" formatCode="#0">
                  <c:v>129319</c:v>
                </c:pt>
                <c:pt idx="240" formatCode="#0">
                  <c:v>129279</c:v>
                </c:pt>
                <c:pt idx="241" formatCode="#0">
                  <c:v>129244</c:v>
                </c:pt>
                <c:pt idx="242" formatCode="#0">
                  <c:v>129433</c:v>
                </c:pt>
                <c:pt idx="243" formatCode="#0">
                  <c:v>129672</c:v>
                </c:pt>
                <c:pt idx="244" formatCode="#0">
                  <c:v>130188</c:v>
                </c:pt>
                <c:pt idx="245" formatCode="#0">
                  <c:v>130021</c:v>
                </c:pt>
                <c:pt idx="246" formatCode="#0">
                  <c:v>129963</c:v>
                </c:pt>
                <c:pt idx="247" formatCode="#0">
                  <c:v>129912</c:v>
                </c:pt>
                <c:pt idx="248" formatCode="#0">
                  <c:v>129885</c:v>
                </c:pt>
                <c:pt idx="249" formatCode="#0">
                  <c:v>130105</c:v>
                </c:pt>
                <c:pt idx="250" formatCode="#0">
                  <c:v>130226</c:v>
                </c:pt>
                <c:pt idx="251" formatCode="#0">
                  <c:v>130346</c:v>
                </c:pt>
                <c:pt idx="252" formatCode="#0">
                  <c:v>130456</c:v>
                </c:pt>
                <c:pt idx="253" formatCode="#0">
                  <c:v>130676</c:v>
                </c:pt>
                <c:pt idx="254" formatCode="#0">
                  <c:v>130922</c:v>
                </c:pt>
                <c:pt idx="255" formatCode="#0">
                  <c:v>131173</c:v>
                </c:pt>
                <c:pt idx="256" formatCode="#0">
                  <c:v>131227</c:v>
                </c:pt>
                <c:pt idx="257" formatCode="#0">
                  <c:v>131311</c:v>
                </c:pt>
                <c:pt idx="258" formatCode="#0">
                  <c:v>131407</c:v>
                </c:pt>
                <c:pt idx="259" formatCode="#0">
                  <c:v>131492</c:v>
                </c:pt>
                <c:pt idx="260" formatCode="#0">
                  <c:v>131694</c:v>
                </c:pt>
                <c:pt idx="261" formatCode="#0">
                  <c:v>131806</c:v>
                </c:pt>
                <c:pt idx="262" formatCode="#0">
                  <c:v>131963</c:v>
                </c:pt>
                <c:pt idx="263" formatCode="#0">
                  <c:v>132186</c:v>
                </c:pt>
                <c:pt idx="264" formatCode="#0">
                  <c:v>132461</c:v>
                </c:pt>
                <c:pt idx="265" formatCode="#0">
                  <c:v>132720</c:v>
                </c:pt>
                <c:pt idx="266" formatCode="General">
                  <c:v>132863</c:v>
                </c:pt>
                <c:pt idx="267" formatCode="#0">
                  <c:v>132931</c:v>
                </c:pt>
                <c:pt idx="268" formatCode="General">
                  <c:v>133018</c:v>
                </c:pt>
                <c:pt idx="269" formatCode="General">
                  <c:v>133063</c:v>
                </c:pt>
                <c:pt idx="270" formatCode="General">
                  <c:v>133204</c:v>
                </c:pt>
                <c:pt idx="271" formatCode="General">
                  <c:v>133300</c:v>
                </c:pt>
              </c:numCache>
            </c:numRef>
          </c:val>
        </c:ser>
        <c:marker val="1"/>
        <c:axId val="103888768"/>
        <c:axId val="103887232"/>
      </c:lineChart>
      <c:dateAx>
        <c:axId val="102738944"/>
        <c:scaling>
          <c:orientation val="minMax"/>
        </c:scaling>
        <c:axPos val="b"/>
        <c:numFmt formatCode="mmm\-yy" sourceLinked="1"/>
        <c:tickLblPos val="nextTo"/>
        <c:txPr>
          <a:bodyPr/>
          <a:lstStyle/>
          <a:p>
            <a:pPr>
              <a:defRPr baseline="0">
                <a:latin typeface="Arial Narrow" pitchFamily="34" charset="0"/>
              </a:defRPr>
            </a:pPr>
            <a:endParaRPr lang="en-US"/>
          </a:p>
        </c:txPr>
        <c:crossAx val="102746752"/>
        <c:crosses val="autoZero"/>
        <c:lblOffset val="100"/>
        <c:baseTimeUnit val="months"/>
        <c:majorUnit val="7"/>
        <c:majorTimeUnit val="months"/>
      </c:dateAx>
      <c:valAx>
        <c:axId val="102746752"/>
        <c:scaling>
          <c:orientation val="minMax"/>
          <c:min val="500000"/>
        </c:scaling>
        <c:axPos val="l"/>
        <c:majorGridlines/>
        <c:numFmt formatCode="_(* #,##0_);_(* \(#,##0\);_(* &quot;-&quot;??_);_(@_)" sourceLinked="1"/>
        <c:tickLblPos val="nextTo"/>
        <c:crossAx val="102738944"/>
        <c:crosses val="autoZero"/>
        <c:crossBetween val="between"/>
      </c:valAx>
      <c:valAx>
        <c:axId val="103887232"/>
        <c:scaling>
          <c:orientation val="minMax"/>
          <c:max val="145000"/>
          <c:min val="100000"/>
        </c:scaling>
        <c:axPos val="r"/>
        <c:numFmt formatCode="_(* #,##0_);_(* \(#,##0\);_(* &quot;-&quot;??_);_(@_)" sourceLinked="1"/>
        <c:tickLblPos val="nextTo"/>
        <c:crossAx val="103888768"/>
        <c:crosses val="max"/>
        <c:crossBetween val="between"/>
      </c:valAx>
      <c:catAx>
        <c:axId val="103888768"/>
        <c:scaling>
          <c:orientation val="minMax"/>
        </c:scaling>
        <c:delete val="1"/>
        <c:axPos val="b"/>
        <c:numFmt formatCode="mmm\-yy" sourceLinked="1"/>
        <c:tickLblPos val="none"/>
        <c:crossAx val="103887232"/>
        <c:crosses val="autoZero"/>
        <c:auto val="1"/>
        <c:lblAlgn val="ctr"/>
        <c:lblOffset val="100"/>
      </c:catAx>
      <c:spPr>
        <a:solidFill>
          <a:schemeClr val="accent6">
            <a:lumMod val="20000"/>
            <a:lumOff val="80000"/>
          </a:schemeClr>
        </a:solidFill>
      </c:spPr>
    </c:plotArea>
    <c:legend>
      <c:legendPos val="r"/>
      <c:layout>
        <c:manualLayout>
          <c:xMode val="edge"/>
          <c:yMode val="edge"/>
          <c:x val="0.34560519408758117"/>
          <c:y val="0.93577320692056365"/>
          <c:w val="0.17720182345627891"/>
          <c:h val="6.061179165791112E-2"/>
        </c:manualLayout>
      </c:layout>
    </c:legend>
    <c:plotVisOnly val="1"/>
  </c:chart>
  <c:externalData r:id="rId1"/>
</c:chartSpace>
</file>

<file path=ppt/charts/chart2.xml><?xml version="1.0" encoding="utf-8"?>
<c:chartSpace xmlns:c="http://schemas.openxmlformats.org/drawingml/2006/chart" xmlns:a="http://schemas.openxmlformats.org/drawingml/2006/main" xmlns:r="http://schemas.openxmlformats.org/officeDocument/2006/relationships">
  <c:date1904 val="1"/>
  <c:lang val="en-US"/>
  <c:chart>
    <c:title>
      <c:tx>
        <c:rich>
          <a:bodyPr/>
          <a:lstStyle/>
          <a:p>
            <a:pPr>
              <a:defRPr/>
            </a:pPr>
            <a:r>
              <a:rPr lang="en-US" sz="1400"/>
              <a:t>Difference from 1st Quarter 2007 to 1st Quarter 2011</a:t>
            </a:r>
          </a:p>
        </c:rich>
      </c:tx>
      <c:layout/>
    </c:title>
    <c:plotArea>
      <c:layout/>
      <c:barChart>
        <c:barDir val="bar"/>
        <c:grouping val="clustered"/>
        <c:ser>
          <c:idx val="0"/>
          <c:order val="0"/>
          <c:tx>
            <c:strRef>
              <c:f>Industryloss!$B$3</c:f>
              <c:strCache>
                <c:ptCount val="1"/>
                <c:pt idx="0">
                  <c:v>Difference from 1st Quarter 2007 to 1st Quarter 2011 (QCEW)</c:v>
                </c:pt>
              </c:strCache>
            </c:strRef>
          </c:tx>
          <c:spPr>
            <a:solidFill>
              <a:srgbClr val="D45C26"/>
            </a:solidFill>
          </c:spPr>
          <c:dPt>
            <c:idx val="14"/>
            <c:spPr>
              <a:solidFill>
                <a:schemeClr val="accent3">
                  <a:lumMod val="75000"/>
                </a:schemeClr>
              </a:solidFill>
            </c:spPr>
          </c:dPt>
          <c:dPt>
            <c:idx val="15"/>
            <c:spPr>
              <a:solidFill>
                <a:schemeClr val="accent3">
                  <a:lumMod val="75000"/>
                </a:schemeClr>
              </a:solidFill>
            </c:spPr>
          </c:dPt>
          <c:dPt>
            <c:idx val="19"/>
            <c:spPr>
              <a:solidFill>
                <a:schemeClr val="accent3">
                  <a:lumMod val="75000"/>
                </a:schemeClr>
              </a:solidFill>
            </c:spPr>
          </c:dPt>
          <c:cat>
            <c:strRef>
              <c:f>Industryloss!$A$4:$A$24</c:f>
              <c:strCache>
                <c:ptCount val="20"/>
                <c:pt idx="0">
                  <c:v>Agriculture</c:v>
                </c:pt>
                <c:pt idx="1">
                  <c:v>Mining</c:v>
                </c:pt>
                <c:pt idx="2">
                  <c:v>Utilities</c:v>
                </c:pt>
                <c:pt idx="3">
                  <c:v>Construction</c:v>
                </c:pt>
                <c:pt idx="4">
                  <c:v>Manufacturing</c:v>
                </c:pt>
                <c:pt idx="5">
                  <c:v>Wholesale Trade</c:v>
                </c:pt>
                <c:pt idx="6">
                  <c:v>Retail Trade</c:v>
                </c:pt>
                <c:pt idx="7">
                  <c:v>Transportation &amp; Warehousing</c:v>
                </c:pt>
                <c:pt idx="8">
                  <c:v>Information</c:v>
                </c:pt>
                <c:pt idx="9">
                  <c:v>Finance and Insurance</c:v>
                </c:pt>
                <c:pt idx="10">
                  <c:v>Real Estate</c:v>
                </c:pt>
                <c:pt idx="11">
                  <c:v>Professional &amp; Technical Services</c:v>
                </c:pt>
                <c:pt idx="12">
                  <c:v>Management Companies &amp;  Enterprises</c:v>
                </c:pt>
                <c:pt idx="13">
                  <c:v>Administrative &amp; Waste Services</c:v>
                </c:pt>
                <c:pt idx="14">
                  <c:v>Educational Services</c:v>
                </c:pt>
                <c:pt idx="15">
                  <c:v>Health Care and Social Assistance</c:v>
                </c:pt>
                <c:pt idx="16">
                  <c:v>Arts, Entertainment, &amp; Recreation</c:v>
                </c:pt>
                <c:pt idx="17">
                  <c:v>Accommodation &amp; Food Services</c:v>
                </c:pt>
                <c:pt idx="18">
                  <c:v>Other Services, Ex. Public Admin</c:v>
                </c:pt>
                <c:pt idx="19">
                  <c:v>Public Administration</c:v>
                </c:pt>
              </c:strCache>
            </c:strRef>
          </c:cat>
          <c:val>
            <c:numRef>
              <c:f>Industryloss!$B$4:$B$24</c:f>
              <c:numCache>
                <c:formatCode>General</c:formatCode>
                <c:ptCount val="21"/>
                <c:pt idx="0">
                  <c:v>-267</c:v>
                </c:pt>
                <c:pt idx="1">
                  <c:v>-742</c:v>
                </c:pt>
                <c:pt idx="2">
                  <c:v>-348</c:v>
                </c:pt>
                <c:pt idx="3">
                  <c:v>-15958</c:v>
                </c:pt>
                <c:pt idx="4">
                  <c:v>-8520</c:v>
                </c:pt>
                <c:pt idx="5">
                  <c:v>-2827</c:v>
                </c:pt>
                <c:pt idx="6">
                  <c:v>-6419</c:v>
                </c:pt>
                <c:pt idx="7">
                  <c:v>-3665</c:v>
                </c:pt>
                <c:pt idx="8">
                  <c:v>-1848</c:v>
                </c:pt>
                <c:pt idx="9">
                  <c:v>-1605</c:v>
                </c:pt>
                <c:pt idx="10">
                  <c:v>-1926</c:v>
                </c:pt>
                <c:pt idx="11">
                  <c:v>-1177</c:v>
                </c:pt>
                <c:pt idx="12">
                  <c:v>-1041</c:v>
                </c:pt>
                <c:pt idx="13">
                  <c:v>-5066</c:v>
                </c:pt>
                <c:pt idx="14">
                  <c:v>652</c:v>
                </c:pt>
                <c:pt idx="15">
                  <c:v>12897</c:v>
                </c:pt>
                <c:pt idx="16">
                  <c:v>-2685</c:v>
                </c:pt>
                <c:pt idx="17">
                  <c:v>-609</c:v>
                </c:pt>
                <c:pt idx="18">
                  <c:v>-1427</c:v>
                </c:pt>
                <c:pt idx="19">
                  <c:v>2183</c:v>
                </c:pt>
              </c:numCache>
            </c:numRef>
          </c:val>
        </c:ser>
        <c:gapWidth val="44"/>
        <c:axId val="101762176"/>
        <c:axId val="101965824"/>
      </c:barChart>
      <c:catAx>
        <c:axId val="101762176"/>
        <c:scaling>
          <c:orientation val="maxMin"/>
        </c:scaling>
        <c:axPos val="l"/>
        <c:majorTickMark val="cross"/>
        <c:tickLblPos val="nextTo"/>
        <c:txPr>
          <a:bodyPr/>
          <a:lstStyle/>
          <a:p>
            <a:pPr>
              <a:defRPr sz="1250" baseline="0"/>
            </a:pPr>
            <a:endParaRPr lang="en-US"/>
          </a:p>
        </c:txPr>
        <c:crossAx val="101965824"/>
        <c:crosses val="autoZero"/>
        <c:auto val="1"/>
        <c:lblAlgn val="ctr"/>
        <c:lblOffset val="300"/>
      </c:catAx>
      <c:valAx>
        <c:axId val="101965824"/>
        <c:scaling>
          <c:orientation val="minMax"/>
        </c:scaling>
        <c:axPos val="t"/>
        <c:majorGridlines/>
        <c:numFmt formatCode="General" sourceLinked="1"/>
        <c:majorTickMark val="none"/>
        <c:tickLblPos val="nextTo"/>
        <c:crossAx val="101762176"/>
        <c:crossesAt val="1"/>
        <c:crossBetween val="midCat"/>
      </c:valAx>
    </c:plotArea>
    <c:plotVisOnly val="1"/>
  </c:chart>
  <c:externalData r:id="rId1"/>
</c:chartSpace>
</file>

<file path=ppt/charts/chart3.xml><?xml version="1.0" encoding="utf-8"?>
<c:chartSpace xmlns:c="http://schemas.openxmlformats.org/drawingml/2006/chart" xmlns:a="http://schemas.openxmlformats.org/drawingml/2006/main" xmlns:r="http://schemas.openxmlformats.org/officeDocument/2006/relationships">
  <c:date1904 val="1"/>
  <c:lang val="en-US"/>
  <c:style val="31"/>
  <c:chart>
    <c:autoTitleDeleted val="1"/>
    <c:plotArea>
      <c:layout/>
      <c:pieChart>
        <c:varyColors val="1"/>
        <c:dLbls>
          <c:showCatName val="1"/>
        </c:dLbls>
        <c:firstSliceAng val="0"/>
      </c:pieChart>
    </c:plotArea>
    <c:plotVisOnly val="1"/>
  </c:chart>
  <c:spPr>
    <a:effectLst>
      <a:glow rad="228600">
        <a:schemeClr val="accent3">
          <a:satMod val="175000"/>
          <a:alpha val="40000"/>
        </a:schemeClr>
      </a:glow>
    </a:effectLst>
  </c:spPr>
  <c:txPr>
    <a:bodyPr/>
    <a:lstStyle/>
    <a:p>
      <a:pPr>
        <a:defRPr sz="1800"/>
      </a:pPr>
      <a:endParaRPr lang="en-US"/>
    </a:p>
  </c:txPr>
  <c:externalData r:id="rId1"/>
</c:chartSpace>
</file>

<file path=ppt/charts/chart4.xml><?xml version="1.0" encoding="utf-8"?>
<c:chartSpace xmlns:c="http://schemas.openxmlformats.org/drawingml/2006/chart" xmlns:a="http://schemas.openxmlformats.org/drawingml/2006/main" xmlns:r="http://schemas.openxmlformats.org/officeDocument/2006/relationships">
  <c:lang val="en-US"/>
  <c:style val="31"/>
  <c:chart>
    <c:title>
      <c:tx>
        <c:rich>
          <a:bodyPr/>
          <a:lstStyle/>
          <a:p>
            <a:pPr>
              <a:defRPr/>
            </a:pPr>
            <a:r>
              <a:rPr lang="en-US"/>
              <a:t>2010 Emp. Est.</a:t>
            </a:r>
          </a:p>
        </c:rich>
      </c:tx>
      <c:layout>
        <c:manualLayout>
          <c:xMode val="edge"/>
          <c:yMode val="edge"/>
          <c:x val="1.0192046306711659E-2"/>
          <c:y val="0.13663704561780671"/>
        </c:manualLayout>
      </c:layout>
    </c:title>
    <c:plotArea>
      <c:layout/>
      <c:pieChart>
        <c:varyColors val="1"/>
        <c:ser>
          <c:idx val="0"/>
          <c:order val="0"/>
          <c:tx>
            <c:strRef>
              <c:f>'Industry Emplyment Pie'!$B$1</c:f>
              <c:strCache>
                <c:ptCount val="1"/>
                <c:pt idx="0">
                  <c:v>2010 Employment Estimate</c:v>
                </c:pt>
              </c:strCache>
            </c:strRef>
          </c:tx>
          <c:dLbls>
            <c:dLbl>
              <c:idx val="0"/>
              <c:layout>
                <c:manualLayout>
                  <c:x val="-0.33473190851143603"/>
                  <c:y val="-9.7467687314433601E-3"/>
                </c:manualLayout>
              </c:layout>
              <c:showCatName val="1"/>
              <c:showPercent val="1"/>
            </c:dLbl>
            <c:dLbl>
              <c:idx val="1"/>
              <c:layout>
                <c:manualLayout>
                  <c:x val="-0.16842648575178168"/>
                  <c:y val="-2.7081061982636802E-2"/>
                </c:manualLayout>
              </c:layout>
              <c:tx>
                <c:rich>
                  <a:bodyPr/>
                  <a:lstStyle/>
                  <a:p>
                    <a:r>
                      <a:rPr lang="en-US" dirty="0" smtClean="0"/>
                      <a:t>Mgmt </a:t>
                    </a:r>
                    <a:r>
                      <a:rPr lang="en-US" dirty="0"/>
                      <a:t>of </a:t>
                    </a:r>
                    <a:r>
                      <a:rPr lang="en-US" dirty="0" smtClean="0"/>
                      <a:t>Co.</a:t>
                    </a:r>
                    <a:r>
                      <a:rPr lang="en-US" dirty="0"/>
                      <a:t>
1%</a:t>
                    </a:r>
                  </a:p>
                </c:rich>
              </c:tx>
              <c:showCatName val="1"/>
              <c:showPercent val="1"/>
            </c:dLbl>
            <c:dLbl>
              <c:idx val="3"/>
              <c:layout>
                <c:manualLayout>
                  <c:x val="4.2465609767529063E-2"/>
                  <c:y val="-4.8235917625681413E-2"/>
                </c:manualLayout>
              </c:layout>
              <c:showCatName val="1"/>
              <c:showPercent val="1"/>
            </c:dLbl>
            <c:dLbl>
              <c:idx val="4"/>
              <c:layout>
                <c:manualLayout>
                  <c:x val="0.1586812195350582"/>
                  <c:y val="-4.4465307221212814E-2"/>
                </c:manualLayout>
              </c:layout>
              <c:tx>
                <c:rich>
                  <a:bodyPr/>
                  <a:lstStyle/>
                  <a:p>
                    <a:r>
                      <a:rPr lang="en-US" dirty="0"/>
                      <a:t>Arts &amp; </a:t>
                    </a:r>
                    <a:r>
                      <a:rPr lang="en-US" dirty="0" smtClean="0"/>
                      <a:t>Rec.</a:t>
                    </a:r>
                    <a:r>
                      <a:rPr lang="en-US" dirty="0"/>
                      <a:t>
2%</a:t>
                    </a:r>
                  </a:p>
                </c:rich>
              </c:tx>
              <c:showCatName val="1"/>
              <c:showPercent val="1"/>
            </c:dLbl>
            <c:dLbl>
              <c:idx val="5"/>
              <c:layout>
                <c:manualLayout>
                  <c:x val="0.24777828552681014"/>
                  <c:y val="-2.1678275792449159E-2"/>
                </c:manualLayout>
              </c:layout>
              <c:showCatName val="1"/>
              <c:showPercent val="1"/>
            </c:dLbl>
            <c:dLbl>
              <c:idx val="6"/>
              <c:layout>
                <c:manualLayout>
                  <c:x val="7.3171751968503937E-2"/>
                  <c:y val="4.6403694730466571E-2"/>
                </c:manualLayout>
              </c:layout>
              <c:showCatName val="1"/>
              <c:showPercent val="1"/>
            </c:dLbl>
            <c:dLbl>
              <c:idx val="7"/>
              <c:layout>
                <c:manualLayout>
                  <c:x val="0.23733701256093048"/>
                  <c:y val="5.2586984319267914E-2"/>
                </c:manualLayout>
              </c:layout>
              <c:showCatName val="1"/>
              <c:showPercent val="1"/>
            </c:dLbl>
            <c:dLbl>
              <c:idx val="8"/>
              <c:layout>
                <c:manualLayout>
                  <c:x val="4.4109720659917522E-2"/>
                  <c:y val="2.6203815869170408E-2"/>
                </c:manualLayout>
              </c:layout>
              <c:tx>
                <c:rich>
                  <a:bodyPr/>
                  <a:lstStyle/>
                  <a:p>
                    <a:r>
                      <a:rPr lang="en-US"/>
                      <a:t>Other </a:t>
                    </a:r>
                    <a:r>
                      <a:rPr lang="en-US" smtClean="0"/>
                      <a:t>Svcs 3%</a:t>
                    </a:r>
                    <a:endParaRPr lang="en-US"/>
                  </a:p>
                </c:rich>
              </c:tx>
              <c:showCatName val="1"/>
              <c:showPercent val="1"/>
            </c:dLbl>
            <c:dLbl>
              <c:idx val="9"/>
              <c:layout>
                <c:manualLayout>
                  <c:x val="0.17271911323584554"/>
                  <c:y val="5.6240998721313676E-2"/>
                </c:manualLayout>
              </c:layout>
              <c:showCatName val="1"/>
              <c:showPercent val="1"/>
            </c:dLbl>
            <c:dLbl>
              <c:idx val="12"/>
              <c:layout>
                <c:manualLayout>
                  <c:x val="6.2548626734158334E-3"/>
                  <c:y val="5.8244583244191891E-2"/>
                </c:manualLayout>
              </c:layout>
              <c:tx>
                <c:rich>
                  <a:bodyPr/>
                  <a:lstStyle/>
                  <a:p>
                    <a:r>
                      <a:rPr lang="en-US" dirty="0"/>
                      <a:t>Admin. &amp; </a:t>
                    </a:r>
                    <a:r>
                      <a:rPr lang="en-US" dirty="0" smtClean="0"/>
                      <a:t> </a:t>
                    </a:r>
                    <a:r>
                      <a:rPr lang="en-US" dirty="0"/>
                      <a:t>Waste Mgmt
5%</a:t>
                    </a:r>
                  </a:p>
                </c:rich>
              </c:tx>
              <c:showCatName val="1"/>
              <c:showPercent val="1"/>
            </c:dLbl>
            <c:dLbl>
              <c:idx val="14"/>
              <c:layout>
                <c:manualLayout>
                  <c:x val="-3.7686070491188606E-2"/>
                  <c:y val="0"/>
                </c:manualLayout>
              </c:layout>
              <c:showCatName val="1"/>
              <c:showPercent val="1"/>
            </c:dLbl>
            <c:dLbl>
              <c:idx val="15"/>
              <c:layout>
                <c:manualLayout>
                  <c:x val="-6.8519755343082106E-2"/>
                  <c:y val="0"/>
                </c:manualLayout>
              </c:layout>
              <c:showCatName val="1"/>
              <c:showPercent val="1"/>
            </c:dLbl>
            <c:dLbl>
              <c:idx val="16"/>
              <c:layout>
                <c:manualLayout>
                  <c:x val="2.7903367547806698E-2"/>
                  <c:y val="-5.0599636583888573E-2"/>
                </c:manualLayout>
              </c:layout>
              <c:showCatName val="1"/>
              <c:showPercent val="1"/>
            </c:dLbl>
            <c:showCatName val="1"/>
            <c:showPercent val="1"/>
            <c:showLeaderLines val="1"/>
          </c:dLbls>
          <c:cat>
            <c:strRef>
              <c:f>'Industry Emplyment Pie'!$A$2:$A$21</c:f>
              <c:strCache>
                <c:ptCount val="20"/>
                <c:pt idx="0">
                  <c:v>Utilities</c:v>
                </c:pt>
                <c:pt idx="1">
                  <c:v>Mgmt of Companies</c:v>
                </c:pt>
                <c:pt idx="2">
                  <c:v>Real Estate</c:v>
                </c:pt>
                <c:pt idx="3">
                  <c:v>Agriculture</c:v>
                </c:pt>
                <c:pt idx="4">
                  <c:v>Arts &amp; Recreation</c:v>
                </c:pt>
                <c:pt idx="5">
                  <c:v>Information</c:v>
                </c:pt>
                <c:pt idx="6">
                  <c:v>Transportation</c:v>
                </c:pt>
                <c:pt idx="7">
                  <c:v>Mining</c:v>
                </c:pt>
                <c:pt idx="8">
                  <c:v>Other Services (Ex Gov)</c:v>
                </c:pt>
                <c:pt idx="9">
                  <c:v>Finance</c:v>
                </c:pt>
                <c:pt idx="10">
                  <c:v>Wholesale</c:v>
                </c:pt>
                <c:pt idx="11">
                  <c:v>Manufacturing</c:v>
                </c:pt>
                <c:pt idx="12">
                  <c:v>Admin. &amp; Support &amp; Waste Mgmt</c:v>
                </c:pt>
                <c:pt idx="13">
                  <c:v>Construction</c:v>
                </c:pt>
                <c:pt idx="14">
                  <c:v>Professional, Scientific, &amp; Tech Svcs</c:v>
                </c:pt>
                <c:pt idx="15">
                  <c:v>Accommodation &amp; Food Services</c:v>
                </c:pt>
                <c:pt idx="16">
                  <c:v>Educational Svcs</c:v>
                </c:pt>
                <c:pt idx="17">
                  <c:v>Retail Trade</c:v>
                </c:pt>
                <c:pt idx="18">
                  <c:v>Government (Ex. Health &amp; Ed)</c:v>
                </c:pt>
                <c:pt idx="19">
                  <c:v>Health Care &amp; Social Assistance</c:v>
                </c:pt>
              </c:strCache>
            </c:strRef>
          </c:cat>
          <c:val>
            <c:numRef>
              <c:f>'Industry Emplyment Pie'!$B$2:$B$21</c:f>
              <c:numCache>
                <c:formatCode>General</c:formatCode>
                <c:ptCount val="20"/>
                <c:pt idx="0">
                  <c:v>4374</c:v>
                </c:pt>
                <c:pt idx="1">
                  <c:v>4956</c:v>
                </c:pt>
                <c:pt idx="2">
                  <c:v>9689</c:v>
                </c:pt>
                <c:pt idx="3">
                  <c:v>10650</c:v>
                </c:pt>
                <c:pt idx="4">
                  <c:v>12661</c:v>
                </c:pt>
                <c:pt idx="5">
                  <c:v>14273</c:v>
                </c:pt>
                <c:pt idx="6">
                  <c:v>17420</c:v>
                </c:pt>
                <c:pt idx="7">
                  <c:v>18432</c:v>
                </c:pt>
                <c:pt idx="8">
                  <c:v>20896</c:v>
                </c:pt>
                <c:pt idx="9">
                  <c:v>21426</c:v>
                </c:pt>
                <c:pt idx="10">
                  <c:v>21904</c:v>
                </c:pt>
                <c:pt idx="11">
                  <c:v>29029</c:v>
                </c:pt>
                <c:pt idx="12">
                  <c:v>41133</c:v>
                </c:pt>
                <c:pt idx="13">
                  <c:v>46356</c:v>
                </c:pt>
                <c:pt idx="14">
                  <c:v>53984</c:v>
                </c:pt>
                <c:pt idx="15">
                  <c:v>79114</c:v>
                </c:pt>
                <c:pt idx="16">
                  <c:v>80949</c:v>
                </c:pt>
                <c:pt idx="17">
                  <c:v>89815</c:v>
                </c:pt>
                <c:pt idx="18">
                  <c:v>93356</c:v>
                </c:pt>
                <c:pt idx="19">
                  <c:v>115457</c:v>
                </c:pt>
              </c:numCache>
            </c:numRef>
          </c:val>
        </c:ser>
        <c:dLbls>
          <c:showCatName val="1"/>
          <c:showPercent val="1"/>
        </c:dLbls>
        <c:firstSliceAng val="0"/>
      </c:pieChart>
    </c:plotArea>
    <c:plotVisOnly val="1"/>
  </c:chart>
  <c:txPr>
    <a:bodyPr/>
    <a:lstStyle/>
    <a:p>
      <a:pPr>
        <a:defRPr sz="1800"/>
      </a:pPr>
      <a:endParaRPr lang="en-US"/>
    </a:p>
  </c:txPr>
  <c:externalData r:id="rId1"/>
</c:chartSpace>
</file>

<file path=ppt/charts/chart5.xml><?xml version="1.0" encoding="utf-8"?>
<c:chartSpace xmlns:c="http://schemas.openxmlformats.org/drawingml/2006/chart" xmlns:a="http://schemas.openxmlformats.org/drawingml/2006/main" xmlns:r="http://schemas.openxmlformats.org/officeDocument/2006/relationships">
  <c:lang val="en-US"/>
  <c:style val="7"/>
  <c:chart>
    <c:title>
      <c:tx>
        <c:rich>
          <a:bodyPr/>
          <a:lstStyle/>
          <a:p>
            <a:pPr>
              <a:defRPr/>
            </a:pPr>
            <a:r>
              <a:rPr lang="en-US"/>
              <a:t>New Mexico </a:t>
            </a:r>
          </a:p>
          <a:p>
            <a:pPr>
              <a:defRPr/>
            </a:pPr>
            <a:r>
              <a:rPr lang="en-US"/>
              <a:t>Not Seasonally Adjusted </a:t>
            </a:r>
          </a:p>
          <a:p>
            <a:pPr>
              <a:defRPr/>
            </a:pPr>
            <a:r>
              <a:rPr lang="en-US"/>
              <a:t>Monthly 1976-2012</a:t>
            </a:r>
          </a:p>
        </c:rich>
      </c:tx>
      <c:layout/>
    </c:title>
    <c:plotArea>
      <c:layout/>
      <c:lineChart>
        <c:grouping val="standard"/>
        <c:ser>
          <c:idx val="0"/>
          <c:order val="0"/>
          <c:tx>
            <c:strRef>
              <c:f>'New Mexico'!$I$1</c:f>
              <c:strCache>
                <c:ptCount val="1"/>
                <c:pt idx="0">
                  <c:v>Employed as a percent of population</c:v>
                </c:pt>
              </c:strCache>
            </c:strRef>
          </c:tx>
          <c:marker>
            <c:symbol val="none"/>
          </c:marker>
          <c:cat>
            <c:strRef>
              <c:f>'New Mexico'!$A$2:$A$442</c:f>
              <c:strCache>
                <c:ptCount val="441"/>
                <c:pt idx="0">
                  <c:v>1-1976</c:v>
                </c:pt>
                <c:pt idx="1">
                  <c:v>2-1976</c:v>
                </c:pt>
                <c:pt idx="2">
                  <c:v>3-1976</c:v>
                </c:pt>
                <c:pt idx="3">
                  <c:v>4-1976</c:v>
                </c:pt>
                <c:pt idx="4">
                  <c:v>5-1976</c:v>
                </c:pt>
                <c:pt idx="5">
                  <c:v>6-1976</c:v>
                </c:pt>
                <c:pt idx="6">
                  <c:v>7-1976</c:v>
                </c:pt>
                <c:pt idx="7">
                  <c:v>8-1976</c:v>
                </c:pt>
                <c:pt idx="8">
                  <c:v>9-1976</c:v>
                </c:pt>
                <c:pt idx="9">
                  <c:v>10-1976</c:v>
                </c:pt>
                <c:pt idx="10">
                  <c:v>11-1976</c:v>
                </c:pt>
                <c:pt idx="11">
                  <c:v>12-1976</c:v>
                </c:pt>
                <c:pt idx="12">
                  <c:v>1-1977</c:v>
                </c:pt>
                <c:pt idx="13">
                  <c:v>2-1977</c:v>
                </c:pt>
                <c:pt idx="14">
                  <c:v>3-1977</c:v>
                </c:pt>
                <c:pt idx="15">
                  <c:v>4-1977</c:v>
                </c:pt>
                <c:pt idx="16">
                  <c:v>5-1977</c:v>
                </c:pt>
                <c:pt idx="17">
                  <c:v>6-1977</c:v>
                </c:pt>
                <c:pt idx="18">
                  <c:v>7-1977</c:v>
                </c:pt>
                <c:pt idx="19">
                  <c:v>8-1977</c:v>
                </c:pt>
                <c:pt idx="20">
                  <c:v>9-1977</c:v>
                </c:pt>
                <c:pt idx="21">
                  <c:v>10-1977</c:v>
                </c:pt>
                <c:pt idx="22">
                  <c:v>11-1977</c:v>
                </c:pt>
                <c:pt idx="23">
                  <c:v>12-1977</c:v>
                </c:pt>
                <c:pt idx="24">
                  <c:v>1-1978</c:v>
                </c:pt>
                <c:pt idx="25">
                  <c:v>2-1978</c:v>
                </c:pt>
                <c:pt idx="26">
                  <c:v>3-1978</c:v>
                </c:pt>
                <c:pt idx="27">
                  <c:v>4-1978</c:v>
                </c:pt>
                <c:pt idx="28">
                  <c:v>5-1978</c:v>
                </c:pt>
                <c:pt idx="29">
                  <c:v>6-1978</c:v>
                </c:pt>
                <c:pt idx="30">
                  <c:v>7-1978</c:v>
                </c:pt>
                <c:pt idx="31">
                  <c:v>8-1978</c:v>
                </c:pt>
                <c:pt idx="32">
                  <c:v>9-1978</c:v>
                </c:pt>
                <c:pt idx="33">
                  <c:v>10-1978</c:v>
                </c:pt>
                <c:pt idx="34">
                  <c:v>11-1978</c:v>
                </c:pt>
                <c:pt idx="35">
                  <c:v>12-1978</c:v>
                </c:pt>
                <c:pt idx="36">
                  <c:v>1-1979</c:v>
                </c:pt>
                <c:pt idx="37">
                  <c:v>2-1979</c:v>
                </c:pt>
                <c:pt idx="38">
                  <c:v>3-1979</c:v>
                </c:pt>
                <c:pt idx="39">
                  <c:v>4-1979</c:v>
                </c:pt>
                <c:pt idx="40">
                  <c:v>5-1979</c:v>
                </c:pt>
                <c:pt idx="41">
                  <c:v>6-1979</c:v>
                </c:pt>
                <c:pt idx="42">
                  <c:v>7-1979</c:v>
                </c:pt>
                <c:pt idx="43">
                  <c:v>8-1979</c:v>
                </c:pt>
                <c:pt idx="44">
                  <c:v>9-1979</c:v>
                </c:pt>
                <c:pt idx="45">
                  <c:v>10-1979</c:v>
                </c:pt>
                <c:pt idx="46">
                  <c:v>11-1979</c:v>
                </c:pt>
                <c:pt idx="47">
                  <c:v>12-1979</c:v>
                </c:pt>
                <c:pt idx="48">
                  <c:v>1-1980</c:v>
                </c:pt>
                <c:pt idx="49">
                  <c:v>2-1980</c:v>
                </c:pt>
                <c:pt idx="50">
                  <c:v>3-1980</c:v>
                </c:pt>
                <c:pt idx="51">
                  <c:v>4-1980</c:v>
                </c:pt>
                <c:pt idx="52">
                  <c:v>5-1980</c:v>
                </c:pt>
                <c:pt idx="53">
                  <c:v>6-1980</c:v>
                </c:pt>
                <c:pt idx="54">
                  <c:v>7-1980</c:v>
                </c:pt>
                <c:pt idx="55">
                  <c:v>8-1980</c:v>
                </c:pt>
                <c:pt idx="56">
                  <c:v>9-1980</c:v>
                </c:pt>
                <c:pt idx="57">
                  <c:v>10-1980</c:v>
                </c:pt>
                <c:pt idx="58">
                  <c:v>11-1980</c:v>
                </c:pt>
                <c:pt idx="59">
                  <c:v>12-1980</c:v>
                </c:pt>
                <c:pt idx="60">
                  <c:v>1-1981</c:v>
                </c:pt>
                <c:pt idx="61">
                  <c:v>2-1981</c:v>
                </c:pt>
                <c:pt idx="62">
                  <c:v>3-1981</c:v>
                </c:pt>
                <c:pt idx="63">
                  <c:v>4-1981</c:v>
                </c:pt>
                <c:pt idx="64">
                  <c:v>5-1981</c:v>
                </c:pt>
                <c:pt idx="65">
                  <c:v>6-1981</c:v>
                </c:pt>
                <c:pt idx="66">
                  <c:v>7-1981</c:v>
                </c:pt>
                <c:pt idx="67">
                  <c:v>8-1981</c:v>
                </c:pt>
                <c:pt idx="68">
                  <c:v>9-1981</c:v>
                </c:pt>
                <c:pt idx="69">
                  <c:v>10-1981</c:v>
                </c:pt>
                <c:pt idx="70">
                  <c:v>11-1981</c:v>
                </c:pt>
                <c:pt idx="71">
                  <c:v>12-1981</c:v>
                </c:pt>
                <c:pt idx="72">
                  <c:v>1-1982</c:v>
                </c:pt>
                <c:pt idx="73">
                  <c:v>2-1982</c:v>
                </c:pt>
                <c:pt idx="74">
                  <c:v>3-1982</c:v>
                </c:pt>
                <c:pt idx="75">
                  <c:v>4-1982</c:v>
                </c:pt>
                <c:pt idx="76">
                  <c:v>5-1982</c:v>
                </c:pt>
                <c:pt idx="77">
                  <c:v>6-1982</c:v>
                </c:pt>
                <c:pt idx="78">
                  <c:v>7-1982</c:v>
                </c:pt>
                <c:pt idx="79">
                  <c:v>8-1982</c:v>
                </c:pt>
                <c:pt idx="80">
                  <c:v>9-1982</c:v>
                </c:pt>
                <c:pt idx="81">
                  <c:v>10-1982</c:v>
                </c:pt>
                <c:pt idx="82">
                  <c:v>11-1982</c:v>
                </c:pt>
                <c:pt idx="83">
                  <c:v>12-1982</c:v>
                </c:pt>
                <c:pt idx="84">
                  <c:v>1-1983</c:v>
                </c:pt>
                <c:pt idx="85">
                  <c:v>2-1983</c:v>
                </c:pt>
                <c:pt idx="86">
                  <c:v>3-1983</c:v>
                </c:pt>
                <c:pt idx="87">
                  <c:v>4-1983</c:v>
                </c:pt>
                <c:pt idx="88">
                  <c:v>5-1983</c:v>
                </c:pt>
                <c:pt idx="89">
                  <c:v>6-1983</c:v>
                </c:pt>
                <c:pt idx="90">
                  <c:v>7-1983</c:v>
                </c:pt>
                <c:pt idx="91">
                  <c:v>8-1983</c:v>
                </c:pt>
                <c:pt idx="92">
                  <c:v>9-1983</c:v>
                </c:pt>
                <c:pt idx="93">
                  <c:v>10-1983</c:v>
                </c:pt>
                <c:pt idx="94">
                  <c:v>11-1983</c:v>
                </c:pt>
                <c:pt idx="95">
                  <c:v>12-1983</c:v>
                </c:pt>
                <c:pt idx="96">
                  <c:v>1-1984</c:v>
                </c:pt>
                <c:pt idx="97">
                  <c:v>2-1984</c:v>
                </c:pt>
                <c:pt idx="98">
                  <c:v>3-1984</c:v>
                </c:pt>
                <c:pt idx="99">
                  <c:v>4-1984</c:v>
                </c:pt>
                <c:pt idx="100">
                  <c:v>5-1984</c:v>
                </c:pt>
                <c:pt idx="101">
                  <c:v>6-1984</c:v>
                </c:pt>
                <c:pt idx="102">
                  <c:v>7-1984</c:v>
                </c:pt>
                <c:pt idx="103">
                  <c:v>8-1984</c:v>
                </c:pt>
                <c:pt idx="104">
                  <c:v>9-1984</c:v>
                </c:pt>
                <c:pt idx="105">
                  <c:v>10-1984</c:v>
                </c:pt>
                <c:pt idx="106">
                  <c:v>11-1984</c:v>
                </c:pt>
                <c:pt idx="107">
                  <c:v>12-1984</c:v>
                </c:pt>
                <c:pt idx="108">
                  <c:v>1-1985</c:v>
                </c:pt>
                <c:pt idx="109">
                  <c:v>2-1985</c:v>
                </c:pt>
                <c:pt idx="110">
                  <c:v>3-1985</c:v>
                </c:pt>
                <c:pt idx="111">
                  <c:v>4-1985</c:v>
                </c:pt>
                <c:pt idx="112">
                  <c:v>5-1985</c:v>
                </c:pt>
                <c:pt idx="113">
                  <c:v>6-1985</c:v>
                </c:pt>
                <c:pt idx="114">
                  <c:v>7-1985</c:v>
                </c:pt>
                <c:pt idx="115">
                  <c:v>8-1985</c:v>
                </c:pt>
                <c:pt idx="116">
                  <c:v>9-1985</c:v>
                </c:pt>
                <c:pt idx="117">
                  <c:v>10-1985</c:v>
                </c:pt>
                <c:pt idx="118">
                  <c:v>11-1985</c:v>
                </c:pt>
                <c:pt idx="119">
                  <c:v>12-1985</c:v>
                </c:pt>
                <c:pt idx="120">
                  <c:v>1-1986</c:v>
                </c:pt>
                <c:pt idx="121">
                  <c:v>2-1986</c:v>
                </c:pt>
                <c:pt idx="122">
                  <c:v>3-1986</c:v>
                </c:pt>
                <c:pt idx="123">
                  <c:v>4-1986</c:v>
                </c:pt>
                <c:pt idx="124">
                  <c:v>5-1986</c:v>
                </c:pt>
                <c:pt idx="125">
                  <c:v>6-1986</c:v>
                </c:pt>
                <c:pt idx="126">
                  <c:v>7-1986</c:v>
                </c:pt>
                <c:pt idx="127">
                  <c:v>8-1986</c:v>
                </c:pt>
                <c:pt idx="128">
                  <c:v>9-1986</c:v>
                </c:pt>
                <c:pt idx="129">
                  <c:v>10-1986</c:v>
                </c:pt>
                <c:pt idx="130">
                  <c:v>11-1986</c:v>
                </c:pt>
                <c:pt idx="131">
                  <c:v>12-1986</c:v>
                </c:pt>
                <c:pt idx="132">
                  <c:v>1-1987</c:v>
                </c:pt>
                <c:pt idx="133">
                  <c:v>2-1987</c:v>
                </c:pt>
                <c:pt idx="134">
                  <c:v>3-1987</c:v>
                </c:pt>
                <c:pt idx="135">
                  <c:v>4-1987</c:v>
                </c:pt>
                <c:pt idx="136">
                  <c:v>5-1987</c:v>
                </c:pt>
                <c:pt idx="137">
                  <c:v>6-1987</c:v>
                </c:pt>
                <c:pt idx="138">
                  <c:v>7-1987</c:v>
                </c:pt>
                <c:pt idx="139">
                  <c:v>8-1987</c:v>
                </c:pt>
                <c:pt idx="140">
                  <c:v>9-1987</c:v>
                </c:pt>
                <c:pt idx="141">
                  <c:v>10-1987</c:v>
                </c:pt>
                <c:pt idx="142">
                  <c:v>11-1987</c:v>
                </c:pt>
                <c:pt idx="143">
                  <c:v>12-1987</c:v>
                </c:pt>
                <c:pt idx="144">
                  <c:v>1-1988</c:v>
                </c:pt>
                <c:pt idx="145">
                  <c:v>2-1988</c:v>
                </c:pt>
                <c:pt idx="146">
                  <c:v>3-1988</c:v>
                </c:pt>
                <c:pt idx="147">
                  <c:v>4-1988</c:v>
                </c:pt>
                <c:pt idx="148">
                  <c:v>5-1988</c:v>
                </c:pt>
                <c:pt idx="149">
                  <c:v>6-1988</c:v>
                </c:pt>
                <c:pt idx="150">
                  <c:v>7-1988</c:v>
                </c:pt>
                <c:pt idx="151">
                  <c:v>8-1988</c:v>
                </c:pt>
                <c:pt idx="152">
                  <c:v>9-1988</c:v>
                </c:pt>
                <c:pt idx="153">
                  <c:v>10-1988</c:v>
                </c:pt>
                <c:pt idx="154">
                  <c:v>11-1988</c:v>
                </c:pt>
                <c:pt idx="155">
                  <c:v>12-1988</c:v>
                </c:pt>
                <c:pt idx="156">
                  <c:v>1-1989</c:v>
                </c:pt>
                <c:pt idx="157">
                  <c:v>2-1989</c:v>
                </c:pt>
                <c:pt idx="158">
                  <c:v>3-1989</c:v>
                </c:pt>
                <c:pt idx="159">
                  <c:v>4-1989</c:v>
                </c:pt>
                <c:pt idx="160">
                  <c:v>5-1989</c:v>
                </c:pt>
                <c:pt idx="161">
                  <c:v>6-1989</c:v>
                </c:pt>
                <c:pt idx="162">
                  <c:v>7-1989</c:v>
                </c:pt>
                <c:pt idx="163">
                  <c:v>8-1989</c:v>
                </c:pt>
                <c:pt idx="164">
                  <c:v>9-1989</c:v>
                </c:pt>
                <c:pt idx="165">
                  <c:v>10-1989</c:v>
                </c:pt>
                <c:pt idx="166">
                  <c:v>11-1989</c:v>
                </c:pt>
                <c:pt idx="167">
                  <c:v>12-1989</c:v>
                </c:pt>
                <c:pt idx="168">
                  <c:v>1-1990</c:v>
                </c:pt>
                <c:pt idx="169">
                  <c:v>2-1990</c:v>
                </c:pt>
                <c:pt idx="170">
                  <c:v>3-1990</c:v>
                </c:pt>
                <c:pt idx="171">
                  <c:v>4-1990</c:v>
                </c:pt>
                <c:pt idx="172">
                  <c:v>5-1990</c:v>
                </c:pt>
                <c:pt idx="173">
                  <c:v>6-1990</c:v>
                </c:pt>
                <c:pt idx="174">
                  <c:v>7-1990</c:v>
                </c:pt>
                <c:pt idx="175">
                  <c:v>8-1990</c:v>
                </c:pt>
                <c:pt idx="176">
                  <c:v>9-1990</c:v>
                </c:pt>
                <c:pt idx="177">
                  <c:v>10-1990</c:v>
                </c:pt>
                <c:pt idx="178">
                  <c:v>11-1990</c:v>
                </c:pt>
                <c:pt idx="179">
                  <c:v>12-1990</c:v>
                </c:pt>
                <c:pt idx="180">
                  <c:v>1-1991</c:v>
                </c:pt>
                <c:pt idx="181">
                  <c:v>2-1991</c:v>
                </c:pt>
                <c:pt idx="182">
                  <c:v>3-1991</c:v>
                </c:pt>
                <c:pt idx="183">
                  <c:v>4-1991</c:v>
                </c:pt>
                <c:pt idx="184">
                  <c:v>5-1991</c:v>
                </c:pt>
                <c:pt idx="185">
                  <c:v>6-1991</c:v>
                </c:pt>
                <c:pt idx="186">
                  <c:v>7-1991</c:v>
                </c:pt>
                <c:pt idx="187">
                  <c:v>8-1991</c:v>
                </c:pt>
                <c:pt idx="188">
                  <c:v>9-1991</c:v>
                </c:pt>
                <c:pt idx="189">
                  <c:v>10-1991</c:v>
                </c:pt>
                <c:pt idx="190">
                  <c:v>11-1991</c:v>
                </c:pt>
                <c:pt idx="191">
                  <c:v>12-1991</c:v>
                </c:pt>
                <c:pt idx="192">
                  <c:v>1-1992</c:v>
                </c:pt>
                <c:pt idx="193">
                  <c:v>2-1992</c:v>
                </c:pt>
                <c:pt idx="194">
                  <c:v>3-1992</c:v>
                </c:pt>
                <c:pt idx="195">
                  <c:v>4-1992</c:v>
                </c:pt>
                <c:pt idx="196">
                  <c:v>5-1992</c:v>
                </c:pt>
                <c:pt idx="197">
                  <c:v>6-1992</c:v>
                </c:pt>
                <c:pt idx="198">
                  <c:v>7-1992</c:v>
                </c:pt>
                <c:pt idx="199">
                  <c:v>8-1992</c:v>
                </c:pt>
                <c:pt idx="200">
                  <c:v>9-1992</c:v>
                </c:pt>
                <c:pt idx="201">
                  <c:v>10-1992</c:v>
                </c:pt>
                <c:pt idx="202">
                  <c:v>11-1992</c:v>
                </c:pt>
                <c:pt idx="203">
                  <c:v>12-1992</c:v>
                </c:pt>
                <c:pt idx="204">
                  <c:v>1-1993</c:v>
                </c:pt>
                <c:pt idx="205">
                  <c:v>2-1993</c:v>
                </c:pt>
                <c:pt idx="206">
                  <c:v>3-1993</c:v>
                </c:pt>
                <c:pt idx="207">
                  <c:v>4-1993</c:v>
                </c:pt>
                <c:pt idx="208">
                  <c:v>5-1993</c:v>
                </c:pt>
                <c:pt idx="209">
                  <c:v>6-1993</c:v>
                </c:pt>
                <c:pt idx="210">
                  <c:v>7-1993</c:v>
                </c:pt>
                <c:pt idx="211">
                  <c:v>8-1993</c:v>
                </c:pt>
                <c:pt idx="212">
                  <c:v>9-1993</c:v>
                </c:pt>
                <c:pt idx="213">
                  <c:v>10-1993</c:v>
                </c:pt>
                <c:pt idx="214">
                  <c:v>11-1993</c:v>
                </c:pt>
                <c:pt idx="215">
                  <c:v>12-1993</c:v>
                </c:pt>
                <c:pt idx="216">
                  <c:v>1-1994</c:v>
                </c:pt>
                <c:pt idx="217">
                  <c:v>2-1994</c:v>
                </c:pt>
                <c:pt idx="218">
                  <c:v>3-1994</c:v>
                </c:pt>
                <c:pt idx="219">
                  <c:v>4-1994</c:v>
                </c:pt>
                <c:pt idx="220">
                  <c:v>5-1994</c:v>
                </c:pt>
                <c:pt idx="221">
                  <c:v>6-1994</c:v>
                </c:pt>
                <c:pt idx="222">
                  <c:v>7-1994</c:v>
                </c:pt>
                <c:pt idx="223">
                  <c:v>8-1994</c:v>
                </c:pt>
                <c:pt idx="224">
                  <c:v>9-1994</c:v>
                </c:pt>
                <c:pt idx="225">
                  <c:v>10-1994</c:v>
                </c:pt>
                <c:pt idx="226">
                  <c:v>11-1994</c:v>
                </c:pt>
                <c:pt idx="227">
                  <c:v>12-1994</c:v>
                </c:pt>
                <c:pt idx="228">
                  <c:v>1-1995</c:v>
                </c:pt>
                <c:pt idx="229">
                  <c:v>2-1995</c:v>
                </c:pt>
                <c:pt idx="230">
                  <c:v>3-1995</c:v>
                </c:pt>
                <c:pt idx="231">
                  <c:v>4-1995</c:v>
                </c:pt>
                <c:pt idx="232">
                  <c:v>5-1995</c:v>
                </c:pt>
                <c:pt idx="233">
                  <c:v>6-1995</c:v>
                </c:pt>
                <c:pt idx="234">
                  <c:v>7-1995</c:v>
                </c:pt>
                <c:pt idx="235">
                  <c:v>8-1995</c:v>
                </c:pt>
                <c:pt idx="236">
                  <c:v>9-1995</c:v>
                </c:pt>
                <c:pt idx="237">
                  <c:v>10-1995</c:v>
                </c:pt>
                <c:pt idx="238">
                  <c:v>11-1995</c:v>
                </c:pt>
                <c:pt idx="239">
                  <c:v>12-1995</c:v>
                </c:pt>
                <c:pt idx="240">
                  <c:v>1-1996</c:v>
                </c:pt>
                <c:pt idx="241">
                  <c:v>2-1996</c:v>
                </c:pt>
                <c:pt idx="242">
                  <c:v>3-1996</c:v>
                </c:pt>
                <c:pt idx="243">
                  <c:v>4-1996</c:v>
                </c:pt>
                <c:pt idx="244">
                  <c:v>5-1996</c:v>
                </c:pt>
                <c:pt idx="245">
                  <c:v>6-1996</c:v>
                </c:pt>
                <c:pt idx="246">
                  <c:v>7-1996</c:v>
                </c:pt>
                <c:pt idx="247">
                  <c:v>8-1996</c:v>
                </c:pt>
                <c:pt idx="248">
                  <c:v>9-1996</c:v>
                </c:pt>
                <c:pt idx="249">
                  <c:v>10-1996</c:v>
                </c:pt>
                <c:pt idx="250">
                  <c:v>11-1996</c:v>
                </c:pt>
                <c:pt idx="251">
                  <c:v>12-1996</c:v>
                </c:pt>
                <c:pt idx="252">
                  <c:v>1-1997</c:v>
                </c:pt>
                <c:pt idx="253">
                  <c:v>2-1997</c:v>
                </c:pt>
                <c:pt idx="254">
                  <c:v>3-1997</c:v>
                </c:pt>
                <c:pt idx="255">
                  <c:v>4-1997</c:v>
                </c:pt>
                <c:pt idx="256">
                  <c:v>5-1997</c:v>
                </c:pt>
                <c:pt idx="257">
                  <c:v>6-1997</c:v>
                </c:pt>
                <c:pt idx="258">
                  <c:v>7-1997</c:v>
                </c:pt>
                <c:pt idx="259">
                  <c:v>8-1997</c:v>
                </c:pt>
                <c:pt idx="260">
                  <c:v>9-1997</c:v>
                </c:pt>
                <c:pt idx="261">
                  <c:v>10-1997</c:v>
                </c:pt>
                <c:pt idx="262">
                  <c:v>11-1997</c:v>
                </c:pt>
                <c:pt idx="263">
                  <c:v>12-1997</c:v>
                </c:pt>
                <c:pt idx="264">
                  <c:v>1-1998</c:v>
                </c:pt>
                <c:pt idx="265">
                  <c:v>2-1998</c:v>
                </c:pt>
                <c:pt idx="266">
                  <c:v>3-1998</c:v>
                </c:pt>
                <c:pt idx="267">
                  <c:v>4-1998</c:v>
                </c:pt>
                <c:pt idx="268">
                  <c:v>5-1998</c:v>
                </c:pt>
                <c:pt idx="269">
                  <c:v>6-1998</c:v>
                </c:pt>
                <c:pt idx="270">
                  <c:v>7-1998</c:v>
                </c:pt>
                <c:pt idx="271">
                  <c:v>8-1998</c:v>
                </c:pt>
                <c:pt idx="272">
                  <c:v>9-1998</c:v>
                </c:pt>
                <c:pt idx="273">
                  <c:v>10-1998</c:v>
                </c:pt>
                <c:pt idx="274">
                  <c:v>11-1998</c:v>
                </c:pt>
                <c:pt idx="275">
                  <c:v>12-1998</c:v>
                </c:pt>
                <c:pt idx="276">
                  <c:v>1-1999</c:v>
                </c:pt>
                <c:pt idx="277">
                  <c:v>2-1999</c:v>
                </c:pt>
                <c:pt idx="278">
                  <c:v>3-1999</c:v>
                </c:pt>
                <c:pt idx="279">
                  <c:v>4-1999</c:v>
                </c:pt>
                <c:pt idx="280">
                  <c:v>5-1999</c:v>
                </c:pt>
                <c:pt idx="281">
                  <c:v>6-1999</c:v>
                </c:pt>
                <c:pt idx="282">
                  <c:v>7-1999</c:v>
                </c:pt>
                <c:pt idx="283">
                  <c:v>8-1999</c:v>
                </c:pt>
                <c:pt idx="284">
                  <c:v>9-1999</c:v>
                </c:pt>
                <c:pt idx="285">
                  <c:v>10-1999</c:v>
                </c:pt>
                <c:pt idx="286">
                  <c:v>11-1999</c:v>
                </c:pt>
                <c:pt idx="287">
                  <c:v>12-1999</c:v>
                </c:pt>
                <c:pt idx="288">
                  <c:v>1-2000</c:v>
                </c:pt>
                <c:pt idx="289">
                  <c:v>2-2000</c:v>
                </c:pt>
                <c:pt idx="290">
                  <c:v>3-2000</c:v>
                </c:pt>
                <c:pt idx="291">
                  <c:v>4-2000</c:v>
                </c:pt>
                <c:pt idx="292">
                  <c:v>5-2000</c:v>
                </c:pt>
                <c:pt idx="293">
                  <c:v>6-2000</c:v>
                </c:pt>
                <c:pt idx="294">
                  <c:v>7-2000</c:v>
                </c:pt>
                <c:pt idx="295">
                  <c:v>8-2000</c:v>
                </c:pt>
                <c:pt idx="296">
                  <c:v>9-2000</c:v>
                </c:pt>
                <c:pt idx="297">
                  <c:v>10-2000</c:v>
                </c:pt>
                <c:pt idx="298">
                  <c:v>11-2000</c:v>
                </c:pt>
                <c:pt idx="299">
                  <c:v>12-2000</c:v>
                </c:pt>
                <c:pt idx="300">
                  <c:v>1-2001</c:v>
                </c:pt>
                <c:pt idx="301">
                  <c:v>2-2001</c:v>
                </c:pt>
                <c:pt idx="302">
                  <c:v>3-2001</c:v>
                </c:pt>
                <c:pt idx="303">
                  <c:v>4-2001</c:v>
                </c:pt>
                <c:pt idx="304">
                  <c:v>5-2001</c:v>
                </c:pt>
                <c:pt idx="305">
                  <c:v>6-2001</c:v>
                </c:pt>
                <c:pt idx="306">
                  <c:v>7-2001</c:v>
                </c:pt>
                <c:pt idx="307">
                  <c:v>8-2001</c:v>
                </c:pt>
                <c:pt idx="308">
                  <c:v>9-2001</c:v>
                </c:pt>
                <c:pt idx="309">
                  <c:v>10-2001</c:v>
                </c:pt>
                <c:pt idx="310">
                  <c:v>11-2001</c:v>
                </c:pt>
                <c:pt idx="311">
                  <c:v>12-2001</c:v>
                </c:pt>
                <c:pt idx="312">
                  <c:v>1-2002</c:v>
                </c:pt>
                <c:pt idx="313">
                  <c:v>2-2002</c:v>
                </c:pt>
                <c:pt idx="314">
                  <c:v>3-2002</c:v>
                </c:pt>
                <c:pt idx="315">
                  <c:v>4-2002</c:v>
                </c:pt>
                <c:pt idx="316">
                  <c:v>5-2002</c:v>
                </c:pt>
                <c:pt idx="317">
                  <c:v>6-2002</c:v>
                </c:pt>
                <c:pt idx="318">
                  <c:v>7-2002</c:v>
                </c:pt>
                <c:pt idx="319">
                  <c:v>8-2002</c:v>
                </c:pt>
                <c:pt idx="320">
                  <c:v>9-2002</c:v>
                </c:pt>
                <c:pt idx="321">
                  <c:v>10-2002</c:v>
                </c:pt>
                <c:pt idx="322">
                  <c:v>11-2002</c:v>
                </c:pt>
                <c:pt idx="323">
                  <c:v>12-2002</c:v>
                </c:pt>
                <c:pt idx="324">
                  <c:v>1-2003</c:v>
                </c:pt>
                <c:pt idx="325">
                  <c:v>2-2003</c:v>
                </c:pt>
                <c:pt idx="326">
                  <c:v>3-2003</c:v>
                </c:pt>
                <c:pt idx="327">
                  <c:v>4-2003</c:v>
                </c:pt>
                <c:pt idx="328">
                  <c:v>5-2003</c:v>
                </c:pt>
                <c:pt idx="329">
                  <c:v>6-2003</c:v>
                </c:pt>
                <c:pt idx="330">
                  <c:v>7-2003</c:v>
                </c:pt>
                <c:pt idx="331">
                  <c:v>8-2003</c:v>
                </c:pt>
                <c:pt idx="332">
                  <c:v>9-2003</c:v>
                </c:pt>
                <c:pt idx="333">
                  <c:v>10-2003</c:v>
                </c:pt>
                <c:pt idx="334">
                  <c:v>11-2003</c:v>
                </c:pt>
                <c:pt idx="335">
                  <c:v>12-2003</c:v>
                </c:pt>
                <c:pt idx="336">
                  <c:v>1-2004</c:v>
                </c:pt>
                <c:pt idx="337">
                  <c:v>2-2004</c:v>
                </c:pt>
                <c:pt idx="338">
                  <c:v>3-2004</c:v>
                </c:pt>
                <c:pt idx="339">
                  <c:v>4-2004</c:v>
                </c:pt>
                <c:pt idx="340">
                  <c:v>5-2004</c:v>
                </c:pt>
                <c:pt idx="341">
                  <c:v>6-2004</c:v>
                </c:pt>
                <c:pt idx="342">
                  <c:v>7-2004</c:v>
                </c:pt>
                <c:pt idx="343">
                  <c:v>8-2004</c:v>
                </c:pt>
                <c:pt idx="344">
                  <c:v>9-2004</c:v>
                </c:pt>
                <c:pt idx="345">
                  <c:v>10-2004</c:v>
                </c:pt>
                <c:pt idx="346">
                  <c:v>11-2004</c:v>
                </c:pt>
                <c:pt idx="347">
                  <c:v>12-2004</c:v>
                </c:pt>
                <c:pt idx="348">
                  <c:v>1-2005</c:v>
                </c:pt>
                <c:pt idx="349">
                  <c:v>2-2005</c:v>
                </c:pt>
                <c:pt idx="350">
                  <c:v>3-2005</c:v>
                </c:pt>
                <c:pt idx="351">
                  <c:v>4-2005</c:v>
                </c:pt>
                <c:pt idx="352">
                  <c:v>5-2005</c:v>
                </c:pt>
                <c:pt idx="353">
                  <c:v>6-2005</c:v>
                </c:pt>
                <c:pt idx="354">
                  <c:v>7-2005</c:v>
                </c:pt>
                <c:pt idx="355">
                  <c:v>8-2005</c:v>
                </c:pt>
                <c:pt idx="356">
                  <c:v>9-2005</c:v>
                </c:pt>
                <c:pt idx="357">
                  <c:v>10-2005</c:v>
                </c:pt>
                <c:pt idx="358">
                  <c:v>11-2005</c:v>
                </c:pt>
                <c:pt idx="359">
                  <c:v>12-2005</c:v>
                </c:pt>
                <c:pt idx="360">
                  <c:v>1-2006</c:v>
                </c:pt>
                <c:pt idx="361">
                  <c:v>2-2006</c:v>
                </c:pt>
                <c:pt idx="362">
                  <c:v>3-2006</c:v>
                </c:pt>
                <c:pt idx="363">
                  <c:v>4-2006</c:v>
                </c:pt>
                <c:pt idx="364">
                  <c:v>5-2006</c:v>
                </c:pt>
                <c:pt idx="365">
                  <c:v>6-2006</c:v>
                </c:pt>
                <c:pt idx="366">
                  <c:v>7-2006</c:v>
                </c:pt>
                <c:pt idx="367">
                  <c:v>8-2006</c:v>
                </c:pt>
                <c:pt idx="368">
                  <c:v>9-2006</c:v>
                </c:pt>
                <c:pt idx="369">
                  <c:v>10-2006</c:v>
                </c:pt>
                <c:pt idx="370">
                  <c:v>11-2006</c:v>
                </c:pt>
                <c:pt idx="371">
                  <c:v>12-2006</c:v>
                </c:pt>
                <c:pt idx="372">
                  <c:v>1-2007</c:v>
                </c:pt>
                <c:pt idx="373">
                  <c:v>2-2007</c:v>
                </c:pt>
                <c:pt idx="374">
                  <c:v>3-2007</c:v>
                </c:pt>
                <c:pt idx="375">
                  <c:v>4-2007</c:v>
                </c:pt>
                <c:pt idx="376">
                  <c:v>5-2007</c:v>
                </c:pt>
                <c:pt idx="377">
                  <c:v>6-2007</c:v>
                </c:pt>
                <c:pt idx="378">
                  <c:v>7-2007</c:v>
                </c:pt>
                <c:pt idx="379">
                  <c:v>8-2007</c:v>
                </c:pt>
                <c:pt idx="380">
                  <c:v>9-2007</c:v>
                </c:pt>
                <c:pt idx="381">
                  <c:v>10-2007</c:v>
                </c:pt>
                <c:pt idx="382">
                  <c:v>11-2007</c:v>
                </c:pt>
                <c:pt idx="383">
                  <c:v>12-2007</c:v>
                </c:pt>
                <c:pt idx="384">
                  <c:v>1-2008</c:v>
                </c:pt>
                <c:pt idx="385">
                  <c:v>2-2008</c:v>
                </c:pt>
                <c:pt idx="386">
                  <c:v>3-2008</c:v>
                </c:pt>
                <c:pt idx="387">
                  <c:v>4-2008</c:v>
                </c:pt>
                <c:pt idx="388">
                  <c:v>5-2008</c:v>
                </c:pt>
                <c:pt idx="389">
                  <c:v>6-2008</c:v>
                </c:pt>
                <c:pt idx="390">
                  <c:v>7-2008</c:v>
                </c:pt>
                <c:pt idx="391">
                  <c:v>8-2008</c:v>
                </c:pt>
                <c:pt idx="392">
                  <c:v>9-2008</c:v>
                </c:pt>
                <c:pt idx="393">
                  <c:v>10-2008</c:v>
                </c:pt>
                <c:pt idx="394">
                  <c:v>11-2008</c:v>
                </c:pt>
                <c:pt idx="395">
                  <c:v>12-2008</c:v>
                </c:pt>
                <c:pt idx="396">
                  <c:v>1-2009</c:v>
                </c:pt>
                <c:pt idx="397">
                  <c:v>2-2009</c:v>
                </c:pt>
                <c:pt idx="398">
                  <c:v>3-2009</c:v>
                </c:pt>
                <c:pt idx="399">
                  <c:v>4-2009</c:v>
                </c:pt>
                <c:pt idx="400">
                  <c:v>5-2009</c:v>
                </c:pt>
                <c:pt idx="401">
                  <c:v>6-2009</c:v>
                </c:pt>
                <c:pt idx="402">
                  <c:v>7-2009</c:v>
                </c:pt>
                <c:pt idx="403">
                  <c:v>8-2009</c:v>
                </c:pt>
                <c:pt idx="404">
                  <c:v>9-2009</c:v>
                </c:pt>
                <c:pt idx="405">
                  <c:v>10-2009</c:v>
                </c:pt>
                <c:pt idx="406">
                  <c:v>11-2009</c:v>
                </c:pt>
                <c:pt idx="407">
                  <c:v>12-2009</c:v>
                </c:pt>
                <c:pt idx="408">
                  <c:v>1-2010</c:v>
                </c:pt>
                <c:pt idx="409">
                  <c:v>2-2010</c:v>
                </c:pt>
                <c:pt idx="410">
                  <c:v>3-2010</c:v>
                </c:pt>
                <c:pt idx="411">
                  <c:v>4-2010</c:v>
                </c:pt>
                <c:pt idx="412">
                  <c:v>5-2010</c:v>
                </c:pt>
                <c:pt idx="413">
                  <c:v>6-2010</c:v>
                </c:pt>
                <c:pt idx="414">
                  <c:v>7-2010</c:v>
                </c:pt>
                <c:pt idx="415">
                  <c:v>8-2010</c:v>
                </c:pt>
                <c:pt idx="416">
                  <c:v>9-2010</c:v>
                </c:pt>
                <c:pt idx="417">
                  <c:v>10-2010</c:v>
                </c:pt>
                <c:pt idx="418">
                  <c:v>11-2010</c:v>
                </c:pt>
                <c:pt idx="419">
                  <c:v>12-2010</c:v>
                </c:pt>
                <c:pt idx="420">
                  <c:v>1-2011</c:v>
                </c:pt>
                <c:pt idx="421">
                  <c:v>2-2011</c:v>
                </c:pt>
                <c:pt idx="422">
                  <c:v>3-2011</c:v>
                </c:pt>
                <c:pt idx="423">
                  <c:v>4-2011</c:v>
                </c:pt>
                <c:pt idx="424">
                  <c:v>5-2011</c:v>
                </c:pt>
                <c:pt idx="425">
                  <c:v>6-2011</c:v>
                </c:pt>
                <c:pt idx="426">
                  <c:v>7-2011</c:v>
                </c:pt>
                <c:pt idx="427">
                  <c:v>8-2011</c:v>
                </c:pt>
                <c:pt idx="428">
                  <c:v>9-2011</c:v>
                </c:pt>
                <c:pt idx="429">
                  <c:v>10-2011</c:v>
                </c:pt>
                <c:pt idx="430">
                  <c:v>11-2011</c:v>
                </c:pt>
                <c:pt idx="431">
                  <c:v>12-2011</c:v>
                </c:pt>
                <c:pt idx="432">
                  <c:v>1-2012</c:v>
                </c:pt>
                <c:pt idx="433">
                  <c:v>2-2012</c:v>
                </c:pt>
                <c:pt idx="434">
                  <c:v>3-2012</c:v>
                </c:pt>
                <c:pt idx="435">
                  <c:v>4-2012</c:v>
                </c:pt>
                <c:pt idx="436">
                  <c:v>5-2012</c:v>
                </c:pt>
                <c:pt idx="437">
                  <c:v>6-2012</c:v>
                </c:pt>
                <c:pt idx="438">
                  <c:v>7-2012</c:v>
                </c:pt>
                <c:pt idx="439">
                  <c:v>8-2012</c:v>
                </c:pt>
                <c:pt idx="440">
                  <c:v>9-2012</c:v>
                </c:pt>
              </c:strCache>
            </c:strRef>
          </c:cat>
          <c:val>
            <c:numRef>
              <c:f>'New Mexico'!$I$2:$I$442</c:f>
              <c:numCache>
                <c:formatCode>General</c:formatCode>
                <c:ptCount val="441"/>
                <c:pt idx="0">
                  <c:v>53.4</c:v>
                </c:pt>
                <c:pt idx="1">
                  <c:v>53.7</c:v>
                </c:pt>
                <c:pt idx="2">
                  <c:v>53.7</c:v>
                </c:pt>
                <c:pt idx="3">
                  <c:v>54.4</c:v>
                </c:pt>
                <c:pt idx="4">
                  <c:v>54.4</c:v>
                </c:pt>
                <c:pt idx="5">
                  <c:v>55.2</c:v>
                </c:pt>
                <c:pt idx="6">
                  <c:v>56</c:v>
                </c:pt>
                <c:pt idx="7">
                  <c:v>55.2</c:v>
                </c:pt>
                <c:pt idx="8">
                  <c:v>54.8</c:v>
                </c:pt>
                <c:pt idx="9">
                  <c:v>55.5</c:v>
                </c:pt>
                <c:pt idx="10">
                  <c:v>55.7</c:v>
                </c:pt>
                <c:pt idx="11">
                  <c:v>55.6</c:v>
                </c:pt>
                <c:pt idx="12">
                  <c:v>53.8</c:v>
                </c:pt>
                <c:pt idx="13">
                  <c:v>54.4</c:v>
                </c:pt>
                <c:pt idx="14">
                  <c:v>54.6</c:v>
                </c:pt>
                <c:pt idx="15">
                  <c:v>55.2</c:v>
                </c:pt>
                <c:pt idx="16">
                  <c:v>55.7</c:v>
                </c:pt>
                <c:pt idx="17">
                  <c:v>56.8</c:v>
                </c:pt>
                <c:pt idx="18">
                  <c:v>57.5</c:v>
                </c:pt>
                <c:pt idx="19">
                  <c:v>56.7</c:v>
                </c:pt>
                <c:pt idx="20">
                  <c:v>56.4</c:v>
                </c:pt>
                <c:pt idx="21">
                  <c:v>57.3</c:v>
                </c:pt>
                <c:pt idx="22">
                  <c:v>57.6</c:v>
                </c:pt>
                <c:pt idx="23">
                  <c:v>57.4</c:v>
                </c:pt>
                <c:pt idx="24">
                  <c:v>55.6</c:v>
                </c:pt>
                <c:pt idx="25">
                  <c:v>55.9</c:v>
                </c:pt>
                <c:pt idx="26">
                  <c:v>56.2</c:v>
                </c:pt>
                <c:pt idx="27">
                  <c:v>57</c:v>
                </c:pt>
                <c:pt idx="28">
                  <c:v>57</c:v>
                </c:pt>
                <c:pt idx="29">
                  <c:v>58.3</c:v>
                </c:pt>
                <c:pt idx="30">
                  <c:v>58.6</c:v>
                </c:pt>
                <c:pt idx="31">
                  <c:v>58.1</c:v>
                </c:pt>
                <c:pt idx="32">
                  <c:v>57.6</c:v>
                </c:pt>
                <c:pt idx="33">
                  <c:v>58.3</c:v>
                </c:pt>
                <c:pt idx="34">
                  <c:v>58.1</c:v>
                </c:pt>
                <c:pt idx="35">
                  <c:v>58</c:v>
                </c:pt>
                <c:pt idx="36">
                  <c:v>56.1</c:v>
                </c:pt>
                <c:pt idx="37">
                  <c:v>56.5</c:v>
                </c:pt>
                <c:pt idx="38">
                  <c:v>56.7</c:v>
                </c:pt>
                <c:pt idx="39">
                  <c:v>56.7</c:v>
                </c:pt>
                <c:pt idx="40">
                  <c:v>56.8</c:v>
                </c:pt>
                <c:pt idx="41">
                  <c:v>58</c:v>
                </c:pt>
                <c:pt idx="42">
                  <c:v>58.7</c:v>
                </c:pt>
                <c:pt idx="43">
                  <c:v>57.8</c:v>
                </c:pt>
                <c:pt idx="44">
                  <c:v>57.8</c:v>
                </c:pt>
                <c:pt idx="45">
                  <c:v>58.4</c:v>
                </c:pt>
                <c:pt idx="46">
                  <c:v>58.2</c:v>
                </c:pt>
                <c:pt idx="47">
                  <c:v>58.1</c:v>
                </c:pt>
                <c:pt idx="48">
                  <c:v>56</c:v>
                </c:pt>
                <c:pt idx="49">
                  <c:v>56.4</c:v>
                </c:pt>
                <c:pt idx="50">
                  <c:v>56.4</c:v>
                </c:pt>
                <c:pt idx="51">
                  <c:v>56.2</c:v>
                </c:pt>
                <c:pt idx="52">
                  <c:v>55.9</c:v>
                </c:pt>
                <c:pt idx="53">
                  <c:v>56.4</c:v>
                </c:pt>
                <c:pt idx="54">
                  <c:v>57.1</c:v>
                </c:pt>
                <c:pt idx="55">
                  <c:v>56.5</c:v>
                </c:pt>
                <c:pt idx="56">
                  <c:v>56.3</c:v>
                </c:pt>
                <c:pt idx="57">
                  <c:v>56.8</c:v>
                </c:pt>
                <c:pt idx="58">
                  <c:v>56.7</c:v>
                </c:pt>
                <c:pt idx="59">
                  <c:v>56.7</c:v>
                </c:pt>
                <c:pt idx="60">
                  <c:v>55.3</c:v>
                </c:pt>
                <c:pt idx="61">
                  <c:v>55.7</c:v>
                </c:pt>
                <c:pt idx="62">
                  <c:v>56</c:v>
                </c:pt>
                <c:pt idx="63">
                  <c:v>56.6</c:v>
                </c:pt>
                <c:pt idx="64">
                  <c:v>56.6</c:v>
                </c:pt>
                <c:pt idx="65">
                  <c:v>57</c:v>
                </c:pt>
                <c:pt idx="66">
                  <c:v>57.8</c:v>
                </c:pt>
                <c:pt idx="67">
                  <c:v>57.4</c:v>
                </c:pt>
                <c:pt idx="68">
                  <c:v>56.8</c:v>
                </c:pt>
                <c:pt idx="69">
                  <c:v>57.3</c:v>
                </c:pt>
                <c:pt idx="70">
                  <c:v>57.2</c:v>
                </c:pt>
                <c:pt idx="71">
                  <c:v>56.7</c:v>
                </c:pt>
                <c:pt idx="72">
                  <c:v>55.1</c:v>
                </c:pt>
                <c:pt idx="73">
                  <c:v>55.3</c:v>
                </c:pt>
                <c:pt idx="74">
                  <c:v>55.2</c:v>
                </c:pt>
                <c:pt idx="75">
                  <c:v>55.4</c:v>
                </c:pt>
                <c:pt idx="76">
                  <c:v>55.6</c:v>
                </c:pt>
                <c:pt idx="77">
                  <c:v>56.1</c:v>
                </c:pt>
                <c:pt idx="78">
                  <c:v>56.8</c:v>
                </c:pt>
                <c:pt idx="79">
                  <c:v>56.2</c:v>
                </c:pt>
                <c:pt idx="80">
                  <c:v>55.8</c:v>
                </c:pt>
                <c:pt idx="81">
                  <c:v>55.9</c:v>
                </c:pt>
                <c:pt idx="82">
                  <c:v>55.7</c:v>
                </c:pt>
                <c:pt idx="83">
                  <c:v>55.4</c:v>
                </c:pt>
                <c:pt idx="84">
                  <c:v>53.8</c:v>
                </c:pt>
                <c:pt idx="85">
                  <c:v>54</c:v>
                </c:pt>
                <c:pt idx="86">
                  <c:v>53.9</c:v>
                </c:pt>
                <c:pt idx="87">
                  <c:v>54.3</c:v>
                </c:pt>
                <c:pt idx="88">
                  <c:v>54.4</c:v>
                </c:pt>
                <c:pt idx="89">
                  <c:v>55.7</c:v>
                </c:pt>
                <c:pt idx="90">
                  <c:v>56.7</c:v>
                </c:pt>
                <c:pt idx="91">
                  <c:v>56.2</c:v>
                </c:pt>
                <c:pt idx="92">
                  <c:v>56.1</c:v>
                </c:pt>
                <c:pt idx="93">
                  <c:v>56.5</c:v>
                </c:pt>
                <c:pt idx="94">
                  <c:v>56.8</c:v>
                </c:pt>
                <c:pt idx="95">
                  <c:v>56.7</c:v>
                </c:pt>
                <c:pt idx="96">
                  <c:v>55.3</c:v>
                </c:pt>
                <c:pt idx="97">
                  <c:v>55.9</c:v>
                </c:pt>
                <c:pt idx="98">
                  <c:v>55.9</c:v>
                </c:pt>
                <c:pt idx="99">
                  <c:v>56.4</c:v>
                </c:pt>
                <c:pt idx="100">
                  <c:v>56.8</c:v>
                </c:pt>
                <c:pt idx="101">
                  <c:v>58</c:v>
                </c:pt>
                <c:pt idx="102">
                  <c:v>58.3</c:v>
                </c:pt>
                <c:pt idx="103">
                  <c:v>57.8</c:v>
                </c:pt>
                <c:pt idx="104">
                  <c:v>57.6</c:v>
                </c:pt>
                <c:pt idx="105">
                  <c:v>58</c:v>
                </c:pt>
                <c:pt idx="106">
                  <c:v>58.1</c:v>
                </c:pt>
                <c:pt idx="107">
                  <c:v>57.9</c:v>
                </c:pt>
                <c:pt idx="108">
                  <c:v>56.4</c:v>
                </c:pt>
                <c:pt idx="109">
                  <c:v>56.8</c:v>
                </c:pt>
                <c:pt idx="110">
                  <c:v>57.1</c:v>
                </c:pt>
                <c:pt idx="111">
                  <c:v>57.3</c:v>
                </c:pt>
                <c:pt idx="112">
                  <c:v>57.3</c:v>
                </c:pt>
                <c:pt idx="113">
                  <c:v>57.9</c:v>
                </c:pt>
                <c:pt idx="114">
                  <c:v>58.5</c:v>
                </c:pt>
                <c:pt idx="115">
                  <c:v>57.9</c:v>
                </c:pt>
                <c:pt idx="116">
                  <c:v>58</c:v>
                </c:pt>
                <c:pt idx="117">
                  <c:v>58.6</c:v>
                </c:pt>
                <c:pt idx="118">
                  <c:v>58.6</c:v>
                </c:pt>
                <c:pt idx="119">
                  <c:v>58.4</c:v>
                </c:pt>
                <c:pt idx="120">
                  <c:v>56.8</c:v>
                </c:pt>
                <c:pt idx="121">
                  <c:v>56.9</c:v>
                </c:pt>
                <c:pt idx="122">
                  <c:v>56.8</c:v>
                </c:pt>
                <c:pt idx="123">
                  <c:v>57</c:v>
                </c:pt>
                <c:pt idx="124">
                  <c:v>56.9</c:v>
                </c:pt>
                <c:pt idx="125">
                  <c:v>57.7</c:v>
                </c:pt>
                <c:pt idx="126">
                  <c:v>58.2</c:v>
                </c:pt>
                <c:pt idx="127">
                  <c:v>57.8</c:v>
                </c:pt>
                <c:pt idx="128">
                  <c:v>57.3</c:v>
                </c:pt>
                <c:pt idx="129">
                  <c:v>57.8</c:v>
                </c:pt>
                <c:pt idx="130">
                  <c:v>57.8</c:v>
                </c:pt>
                <c:pt idx="131">
                  <c:v>57.7</c:v>
                </c:pt>
                <c:pt idx="132">
                  <c:v>55.9</c:v>
                </c:pt>
                <c:pt idx="133">
                  <c:v>56.1</c:v>
                </c:pt>
                <c:pt idx="134">
                  <c:v>56.2</c:v>
                </c:pt>
                <c:pt idx="135">
                  <c:v>56.5</c:v>
                </c:pt>
                <c:pt idx="136">
                  <c:v>56.9</c:v>
                </c:pt>
                <c:pt idx="137">
                  <c:v>57.3</c:v>
                </c:pt>
                <c:pt idx="138">
                  <c:v>58.1</c:v>
                </c:pt>
                <c:pt idx="139">
                  <c:v>57.7</c:v>
                </c:pt>
                <c:pt idx="140">
                  <c:v>57.3</c:v>
                </c:pt>
                <c:pt idx="141">
                  <c:v>58</c:v>
                </c:pt>
                <c:pt idx="142">
                  <c:v>58</c:v>
                </c:pt>
                <c:pt idx="143">
                  <c:v>57.9</c:v>
                </c:pt>
                <c:pt idx="144">
                  <c:v>56.7</c:v>
                </c:pt>
                <c:pt idx="145">
                  <c:v>57.1</c:v>
                </c:pt>
                <c:pt idx="146">
                  <c:v>57</c:v>
                </c:pt>
                <c:pt idx="147">
                  <c:v>57.6</c:v>
                </c:pt>
                <c:pt idx="148">
                  <c:v>57.4</c:v>
                </c:pt>
                <c:pt idx="149">
                  <c:v>58.6</c:v>
                </c:pt>
                <c:pt idx="150">
                  <c:v>59.2</c:v>
                </c:pt>
                <c:pt idx="151">
                  <c:v>58.7</c:v>
                </c:pt>
                <c:pt idx="152">
                  <c:v>58.5</c:v>
                </c:pt>
                <c:pt idx="153">
                  <c:v>59</c:v>
                </c:pt>
                <c:pt idx="154">
                  <c:v>59.2</c:v>
                </c:pt>
                <c:pt idx="155">
                  <c:v>58.8</c:v>
                </c:pt>
                <c:pt idx="156">
                  <c:v>57.5</c:v>
                </c:pt>
                <c:pt idx="157">
                  <c:v>57.8</c:v>
                </c:pt>
                <c:pt idx="158">
                  <c:v>57.9</c:v>
                </c:pt>
                <c:pt idx="159">
                  <c:v>58.2</c:v>
                </c:pt>
                <c:pt idx="160">
                  <c:v>58.4</c:v>
                </c:pt>
                <c:pt idx="161">
                  <c:v>59.3</c:v>
                </c:pt>
                <c:pt idx="162">
                  <c:v>59.8</c:v>
                </c:pt>
                <c:pt idx="163">
                  <c:v>59.4</c:v>
                </c:pt>
                <c:pt idx="164">
                  <c:v>59.1</c:v>
                </c:pt>
                <c:pt idx="165">
                  <c:v>59.8</c:v>
                </c:pt>
                <c:pt idx="166">
                  <c:v>59.9</c:v>
                </c:pt>
                <c:pt idx="167">
                  <c:v>59.8</c:v>
                </c:pt>
                <c:pt idx="168">
                  <c:v>58</c:v>
                </c:pt>
                <c:pt idx="169">
                  <c:v>58.3</c:v>
                </c:pt>
                <c:pt idx="170">
                  <c:v>58.6</c:v>
                </c:pt>
                <c:pt idx="171">
                  <c:v>58.9</c:v>
                </c:pt>
                <c:pt idx="172">
                  <c:v>59.3</c:v>
                </c:pt>
                <c:pt idx="173">
                  <c:v>60.2</c:v>
                </c:pt>
                <c:pt idx="174">
                  <c:v>60.3</c:v>
                </c:pt>
                <c:pt idx="175">
                  <c:v>59.7</c:v>
                </c:pt>
                <c:pt idx="176">
                  <c:v>59.6</c:v>
                </c:pt>
                <c:pt idx="177">
                  <c:v>59.9</c:v>
                </c:pt>
                <c:pt idx="178">
                  <c:v>59.8</c:v>
                </c:pt>
                <c:pt idx="179">
                  <c:v>59.5</c:v>
                </c:pt>
                <c:pt idx="180">
                  <c:v>57.7</c:v>
                </c:pt>
                <c:pt idx="181">
                  <c:v>58</c:v>
                </c:pt>
                <c:pt idx="182">
                  <c:v>57.9</c:v>
                </c:pt>
                <c:pt idx="183">
                  <c:v>58.5</c:v>
                </c:pt>
                <c:pt idx="184">
                  <c:v>58.3</c:v>
                </c:pt>
                <c:pt idx="185">
                  <c:v>59.1</c:v>
                </c:pt>
                <c:pt idx="186">
                  <c:v>59.6</c:v>
                </c:pt>
                <c:pt idx="187">
                  <c:v>59</c:v>
                </c:pt>
                <c:pt idx="188">
                  <c:v>58.9</c:v>
                </c:pt>
                <c:pt idx="189">
                  <c:v>59</c:v>
                </c:pt>
                <c:pt idx="190">
                  <c:v>58.8</c:v>
                </c:pt>
                <c:pt idx="191">
                  <c:v>58.5</c:v>
                </c:pt>
                <c:pt idx="192">
                  <c:v>57.4</c:v>
                </c:pt>
                <c:pt idx="193">
                  <c:v>57.5</c:v>
                </c:pt>
                <c:pt idx="194">
                  <c:v>57.7</c:v>
                </c:pt>
                <c:pt idx="195">
                  <c:v>58.1</c:v>
                </c:pt>
                <c:pt idx="196">
                  <c:v>58.1</c:v>
                </c:pt>
                <c:pt idx="197">
                  <c:v>58.8</c:v>
                </c:pt>
                <c:pt idx="198">
                  <c:v>59.3</c:v>
                </c:pt>
                <c:pt idx="199">
                  <c:v>58.8</c:v>
                </c:pt>
                <c:pt idx="200">
                  <c:v>58.5</c:v>
                </c:pt>
                <c:pt idx="201">
                  <c:v>59</c:v>
                </c:pt>
                <c:pt idx="202">
                  <c:v>59.1</c:v>
                </c:pt>
                <c:pt idx="203">
                  <c:v>58.8</c:v>
                </c:pt>
                <c:pt idx="204">
                  <c:v>57.3</c:v>
                </c:pt>
                <c:pt idx="205">
                  <c:v>57.7</c:v>
                </c:pt>
                <c:pt idx="206">
                  <c:v>57.8</c:v>
                </c:pt>
                <c:pt idx="207">
                  <c:v>58.2</c:v>
                </c:pt>
                <c:pt idx="208">
                  <c:v>58.5</c:v>
                </c:pt>
                <c:pt idx="209">
                  <c:v>59.3</c:v>
                </c:pt>
                <c:pt idx="210">
                  <c:v>59.8</c:v>
                </c:pt>
                <c:pt idx="211">
                  <c:v>59.2</c:v>
                </c:pt>
                <c:pt idx="212">
                  <c:v>58.9</c:v>
                </c:pt>
                <c:pt idx="213">
                  <c:v>59.4</c:v>
                </c:pt>
                <c:pt idx="214">
                  <c:v>59.4</c:v>
                </c:pt>
                <c:pt idx="215">
                  <c:v>59.3</c:v>
                </c:pt>
                <c:pt idx="216">
                  <c:v>58</c:v>
                </c:pt>
                <c:pt idx="217">
                  <c:v>58.5</c:v>
                </c:pt>
                <c:pt idx="218">
                  <c:v>58.3</c:v>
                </c:pt>
                <c:pt idx="219">
                  <c:v>58.6</c:v>
                </c:pt>
                <c:pt idx="220">
                  <c:v>58.9</c:v>
                </c:pt>
                <c:pt idx="221">
                  <c:v>59.4</c:v>
                </c:pt>
                <c:pt idx="222">
                  <c:v>59.9</c:v>
                </c:pt>
                <c:pt idx="223">
                  <c:v>59.5</c:v>
                </c:pt>
                <c:pt idx="224">
                  <c:v>59.5</c:v>
                </c:pt>
                <c:pt idx="225">
                  <c:v>59.9</c:v>
                </c:pt>
                <c:pt idx="226">
                  <c:v>60.2</c:v>
                </c:pt>
                <c:pt idx="227">
                  <c:v>60.1</c:v>
                </c:pt>
                <c:pt idx="228">
                  <c:v>58.8</c:v>
                </c:pt>
                <c:pt idx="229">
                  <c:v>59.2</c:v>
                </c:pt>
                <c:pt idx="230">
                  <c:v>59.1</c:v>
                </c:pt>
                <c:pt idx="231">
                  <c:v>59.1</c:v>
                </c:pt>
                <c:pt idx="232">
                  <c:v>59</c:v>
                </c:pt>
                <c:pt idx="233">
                  <c:v>59.6</c:v>
                </c:pt>
                <c:pt idx="234">
                  <c:v>59.9</c:v>
                </c:pt>
                <c:pt idx="235">
                  <c:v>59.4</c:v>
                </c:pt>
                <c:pt idx="236">
                  <c:v>59.3</c:v>
                </c:pt>
                <c:pt idx="237">
                  <c:v>59.7</c:v>
                </c:pt>
                <c:pt idx="238">
                  <c:v>59.6</c:v>
                </c:pt>
                <c:pt idx="239">
                  <c:v>59.3</c:v>
                </c:pt>
                <c:pt idx="240">
                  <c:v>57.8</c:v>
                </c:pt>
                <c:pt idx="241">
                  <c:v>58.3</c:v>
                </c:pt>
                <c:pt idx="242">
                  <c:v>58.3</c:v>
                </c:pt>
                <c:pt idx="243">
                  <c:v>58.3</c:v>
                </c:pt>
                <c:pt idx="244">
                  <c:v>58.4</c:v>
                </c:pt>
                <c:pt idx="245">
                  <c:v>58.9</c:v>
                </c:pt>
                <c:pt idx="246">
                  <c:v>59.2</c:v>
                </c:pt>
                <c:pt idx="247">
                  <c:v>58.7</c:v>
                </c:pt>
                <c:pt idx="248">
                  <c:v>58.6</c:v>
                </c:pt>
                <c:pt idx="249">
                  <c:v>59.2</c:v>
                </c:pt>
                <c:pt idx="250">
                  <c:v>59.2</c:v>
                </c:pt>
                <c:pt idx="251">
                  <c:v>59.1</c:v>
                </c:pt>
                <c:pt idx="252">
                  <c:v>57.7</c:v>
                </c:pt>
                <c:pt idx="253">
                  <c:v>58.1</c:v>
                </c:pt>
                <c:pt idx="254">
                  <c:v>58.4</c:v>
                </c:pt>
                <c:pt idx="255">
                  <c:v>58.7</c:v>
                </c:pt>
                <c:pt idx="256">
                  <c:v>58.9</c:v>
                </c:pt>
                <c:pt idx="257">
                  <c:v>59.4</c:v>
                </c:pt>
                <c:pt idx="258">
                  <c:v>60</c:v>
                </c:pt>
                <c:pt idx="259">
                  <c:v>59.5</c:v>
                </c:pt>
                <c:pt idx="260">
                  <c:v>59.3</c:v>
                </c:pt>
                <c:pt idx="261">
                  <c:v>59.8</c:v>
                </c:pt>
                <c:pt idx="262">
                  <c:v>60</c:v>
                </c:pt>
                <c:pt idx="263">
                  <c:v>59.9</c:v>
                </c:pt>
                <c:pt idx="264">
                  <c:v>58.6</c:v>
                </c:pt>
                <c:pt idx="265">
                  <c:v>59</c:v>
                </c:pt>
                <c:pt idx="266">
                  <c:v>59.1</c:v>
                </c:pt>
                <c:pt idx="267">
                  <c:v>59.3</c:v>
                </c:pt>
                <c:pt idx="268">
                  <c:v>59.4</c:v>
                </c:pt>
                <c:pt idx="269">
                  <c:v>59.7</c:v>
                </c:pt>
                <c:pt idx="270">
                  <c:v>60</c:v>
                </c:pt>
                <c:pt idx="271">
                  <c:v>59.5</c:v>
                </c:pt>
                <c:pt idx="272">
                  <c:v>59.5</c:v>
                </c:pt>
                <c:pt idx="273">
                  <c:v>59.9</c:v>
                </c:pt>
                <c:pt idx="274">
                  <c:v>60</c:v>
                </c:pt>
                <c:pt idx="275">
                  <c:v>60.1</c:v>
                </c:pt>
                <c:pt idx="276">
                  <c:v>58.9</c:v>
                </c:pt>
                <c:pt idx="277">
                  <c:v>59.1</c:v>
                </c:pt>
                <c:pt idx="278">
                  <c:v>59.2</c:v>
                </c:pt>
                <c:pt idx="279">
                  <c:v>59.3</c:v>
                </c:pt>
                <c:pt idx="280">
                  <c:v>59.3</c:v>
                </c:pt>
                <c:pt idx="281">
                  <c:v>59.8</c:v>
                </c:pt>
                <c:pt idx="282">
                  <c:v>60</c:v>
                </c:pt>
                <c:pt idx="283">
                  <c:v>59.7</c:v>
                </c:pt>
                <c:pt idx="284">
                  <c:v>59.5</c:v>
                </c:pt>
                <c:pt idx="285">
                  <c:v>60</c:v>
                </c:pt>
                <c:pt idx="286">
                  <c:v>60.2</c:v>
                </c:pt>
                <c:pt idx="287">
                  <c:v>60.2</c:v>
                </c:pt>
                <c:pt idx="288">
                  <c:v>59.7</c:v>
                </c:pt>
                <c:pt idx="289">
                  <c:v>59.9</c:v>
                </c:pt>
                <c:pt idx="290">
                  <c:v>60.3</c:v>
                </c:pt>
                <c:pt idx="291">
                  <c:v>60.4</c:v>
                </c:pt>
                <c:pt idx="292">
                  <c:v>60</c:v>
                </c:pt>
                <c:pt idx="293">
                  <c:v>60.4</c:v>
                </c:pt>
                <c:pt idx="294">
                  <c:v>60.4</c:v>
                </c:pt>
                <c:pt idx="295">
                  <c:v>59.7</c:v>
                </c:pt>
                <c:pt idx="296">
                  <c:v>60.4</c:v>
                </c:pt>
                <c:pt idx="297">
                  <c:v>60.7</c:v>
                </c:pt>
                <c:pt idx="298">
                  <c:v>61.2</c:v>
                </c:pt>
                <c:pt idx="299">
                  <c:v>61.3</c:v>
                </c:pt>
                <c:pt idx="300">
                  <c:v>60.3</c:v>
                </c:pt>
                <c:pt idx="301">
                  <c:v>60.5</c:v>
                </c:pt>
                <c:pt idx="302">
                  <c:v>60.5</c:v>
                </c:pt>
                <c:pt idx="303">
                  <c:v>60.9</c:v>
                </c:pt>
                <c:pt idx="304">
                  <c:v>60.7</c:v>
                </c:pt>
                <c:pt idx="305">
                  <c:v>61</c:v>
                </c:pt>
                <c:pt idx="306">
                  <c:v>61.3</c:v>
                </c:pt>
                <c:pt idx="307">
                  <c:v>60.1</c:v>
                </c:pt>
                <c:pt idx="308">
                  <c:v>60.6</c:v>
                </c:pt>
                <c:pt idx="309">
                  <c:v>60.6</c:v>
                </c:pt>
                <c:pt idx="310">
                  <c:v>60.7</c:v>
                </c:pt>
                <c:pt idx="311">
                  <c:v>60.8</c:v>
                </c:pt>
                <c:pt idx="312">
                  <c:v>58.8</c:v>
                </c:pt>
                <c:pt idx="313">
                  <c:v>60.1</c:v>
                </c:pt>
                <c:pt idx="314">
                  <c:v>60</c:v>
                </c:pt>
                <c:pt idx="315">
                  <c:v>59.7</c:v>
                </c:pt>
                <c:pt idx="316">
                  <c:v>60</c:v>
                </c:pt>
                <c:pt idx="317">
                  <c:v>60.2</c:v>
                </c:pt>
                <c:pt idx="318">
                  <c:v>59.9</c:v>
                </c:pt>
                <c:pt idx="319">
                  <c:v>60.3</c:v>
                </c:pt>
                <c:pt idx="320">
                  <c:v>60.1</c:v>
                </c:pt>
                <c:pt idx="321">
                  <c:v>60.4</c:v>
                </c:pt>
                <c:pt idx="322">
                  <c:v>59.9</c:v>
                </c:pt>
                <c:pt idx="323">
                  <c:v>60.2</c:v>
                </c:pt>
                <c:pt idx="324">
                  <c:v>59.5</c:v>
                </c:pt>
                <c:pt idx="325">
                  <c:v>59.9</c:v>
                </c:pt>
                <c:pt idx="326">
                  <c:v>59.8</c:v>
                </c:pt>
                <c:pt idx="327">
                  <c:v>60</c:v>
                </c:pt>
                <c:pt idx="328">
                  <c:v>59.9</c:v>
                </c:pt>
                <c:pt idx="329">
                  <c:v>60.2</c:v>
                </c:pt>
                <c:pt idx="330">
                  <c:v>60.2</c:v>
                </c:pt>
                <c:pt idx="331">
                  <c:v>59.8</c:v>
                </c:pt>
                <c:pt idx="332">
                  <c:v>59.8</c:v>
                </c:pt>
                <c:pt idx="333">
                  <c:v>60.4</c:v>
                </c:pt>
                <c:pt idx="334">
                  <c:v>60.5</c:v>
                </c:pt>
                <c:pt idx="335">
                  <c:v>60.5</c:v>
                </c:pt>
                <c:pt idx="336">
                  <c:v>59.4</c:v>
                </c:pt>
                <c:pt idx="337">
                  <c:v>59.8</c:v>
                </c:pt>
                <c:pt idx="338">
                  <c:v>59.7</c:v>
                </c:pt>
                <c:pt idx="339">
                  <c:v>60</c:v>
                </c:pt>
                <c:pt idx="340">
                  <c:v>59.9</c:v>
                </c:pt>
                <c:pt idx="341">
                  <c:v>60.2</c:v>
                </c:pt>
                <c:pt idx="342">
                  <c:v>60.5</c:v>
                </c:pt>
                <c:pt idx="343">
                  <c:v>60.1</c:v>
                </c:pt>
                <c:pt idx="344">
                  <c:v>60</c:v>
                </c:pt>
                <c:pt idx="345">
                  <c:v>60.6</c:v>
                </c:pt>
                <c:pt idx="346">
                  <c:v>60.8</c:v>
                </c:pt>
                <c:pt idx="347">
                  <c:v>60.7</c:v>
                </c:pt>
                <c:pt idx="348">
                  <c:v>59.4</c:v>
                </c:pt>
                <c:pt idx="349">
                  <c:v>59.7</c:v>
                </c:pt>
                <c:pt idx="350">
                  <c:v>59.6</c:v>
                </c:pt>
                <c:pt idx="351">
                  <c:v>60.2</c:v>
                </c:pt>
                <c:pt idx="352">
                  <c:v>60.1</c:v>
                </c:pt>
                <c:pt idx="353">
                  <c:v>60.3</c:v>
                </c:pt>
                <c:pt idx="354">
                  <c:v>60.7</c:v>
                </c:pt>
                <c:pt idx="355">
                  <c:v>60.5</c:v>
                </c:pt>
                <c:pt idx="356">
                  <c:v>60.5</c:v>
                </c:pt>
                <c:pt idx="357">
                  <c:v>60.9</c:v>
                </c:pt>
                <c:pt idx="358">
                  <c:v>60.9</c:v>
                </c:pt>
                <c:pt idx="359">
                  <c:v>60.8</c:v>
                </c:pt>
                <c:pt idx="360">
                  <c:v>59.6</c:v>
                </c:pt>
                <c:pt idx="361">
                  <c:v>60.1</c:v>
                </c:pt>
                <c:pt idx="362">
                  <c:v>60.1</c:v>
                </c:pt>
                <c:pt idx="363">
                  <c:v>60.3</c:v>
                </c:pt>
                <c:pt idx="364">
                  <c:v>60.4</c:v>
                </c:pt>
                <c:pt idx="365">
                  <c:v>60.9</c:v>
                </c:pt>
                <c:pt idx="366">
                  <c:v>60.9</c:v>
                </c:pt>
                <c:pt idx="367">
                  <c:v>60.6</c:v>
                </c:pt>
                <c:pt idx="368">
                  <c:v>60.8</c:v>
                </c:pt>
                <c:pt idx="369">
                  <c:v>61.3</c:v>
                </c:pt>
                <c:pt idx="370">
                  <c:v>61.4</c:v>
                </c:pt>
                <c:pt idx="371">
                  <c:v>61.5</c:v>
                </c:pt>
                <c:pt idx="372">
                  <c:v>60.6</c:v>
                </c:pt>
                <c:pt idx="373">
                  <c:v>60.8</c:v>
                </c:pt>
                <c:pt idx="374">
                  <c:v>60.8</c:v>
                </c:pt>
                <c:pt idx="375">
                  <c:v>60.8</c:v>
                </c:pt>
                <c:pt idx="376">
                  <c:v>60.8</c:v>
                </c:pt>
                <c:pt idx="377">
                  <c:v>61.1</c:v>
                </c:pt>
                <c:pt idx="378">
                  <c:v>61.2</c:v>
                </c:pt>
                <c:pt idx="379">
                  <c:v>60.7</c:v>
                </c:pt>
                <c:pt idx="380">
                  <c:v>60.9</c:v>
                </c:pt>
                <c:pt idx="381">
                  <c:v>61.1</c:v>
                </c:pt>
                <c:pt idx="382">
                  <c:v>61.4</c:v>
                </c:pt>
                <c:pt idx="383">
                  <c:v>61.2</c:v>
                </c:pt>
                <c:pt idx="384">
                  <c:v>60.3</c:v>
                </c:pt>
                <c:pt idx="385">
                  <c:v>60.4</c:v>
                </c:pt>
                <c:pt idx="386">
                  <c:v>60.3</c:v>
                </c:pt>
                <c:pt idx="387">
                  <c:v>60.7</c:v>
                </c:pt>
                <c:pt idx="388">
                  <c:v>60.4</c:v>
                </c:pt>
                <c:pt idx="389">
                  <c:v>60.6</c:v>
                </c:pt>
                <c:pt idx="390">
                  <c:v>60.7</c:v>
                </c:pt>
                <c:pt idx="391">
                  <c:v>60.1</c:v>
                </c:pt>
                <c:pt idx="392">
                  <c:v>60</c:v>
                </c:pt>
                <c:pt idx="393">
                  <c:v>60.3</c:v>
                </c:pt>
                <c:pt idx="394">
                  <c:v>60.1</c:v>
                </c:pt>
                <c:pt idx="395">
                  <c:v>59.6</c:v>
                </c:pt>
                <c:pt idx="396">
                  <c:v>58.2</c:v>
                </c:pt>
                <c:pt idx="397">
                  <c:v>58.3</c:v>
                </c:pt>
                <c:pt idx="398">
                  <c:v>57.9</c:v>
                </c:pt>
                <c:pt idx="399">
                  <c:v>58.2</c:v>
                </c:pt>
                <c:pt idx="400">
                  <c:v>57.8</c:v>
                </c:pt>
                <c:pt idx="401">
                  <c:v>57.8</c:v>
                </c:pt>
                <c:pt idx="402">
                  <c:v>57.8</c:v>
                </c:pt>
                <c:pt idx="403">
                  <c:v>57.3</c:v>
                </c:pt>
                <c:pt idx="404">
                  <c:v>57</c:v>
                </c:pt>
                <c:pt idx="405">
                  <c:v>57</c:v>
                </c:pt>
                <c:pt idx="406">
                  <c:v>57.1</c:v>
                </c:pt>
                <c:pt idx="407">
                  <c:v>56.6</c:v>
                </c:pt>
                <c:pt idx="408">
                  <c:v>55.7</c:v>
                </c:pt>
                <c:pt idx="409">
                  <c:v>55.9</c:v>
                </c:pt>
                <c:pt idx="410">
                  <c:v>55.9</c:v>
                </c:pt>
                <c:pt idx="411">
                  <c:v>55.2</c:v>
                </c:pt>
                <c:pt idx="412">
                  <c:v>54.9</c:v>
                </c:pt>
                <c:pt idx="413">
                  <c:v>55</c:v>
                </c:pt>
                <c:pt idx="414">
                  <c:v>55</c:v>
                </c:pt>
                <c:pt idx="415">
                  <c:v>54.8</c:v>
                </c:pt>
                <c:pt idx="416">
                  <c:v>54.8</c:v>
                </c:pt>
                <c:pt idx="417">
                  <c:v>54.8</c:v>
                </c:pt>
                <c:pt idx="418">
                  <c:v>54.8</c:v>
                </c:pt>
                <c:pt idx="419">
                  <c:v>54.7</c:v>
                </c:pt>
                <c:pt idx="420">
                  <c:v>53.7</c:v>
                </c:pt>
                <c:pt idx="421">
                  <c:v>54.1</c:v>
                </c:pt>
                <c:pt idx="422">
                  <c:v>54.1</c:v>
                </c:pt>
                <c:pt idx="423">
                  <c:v>54.3</c:v>
                </c:pt>
                <c:pt idx="424">
                  <c:v>54.2</c:v>
                </c:pt>
                <c:pt idx="425">
                  <c:v>54.2</c:v>
                </c:pt>
                <c:pt idx="426">
                  <c:v>54.3</c:v>
                </c:pt>
                <c:pt idx="427">
                  <c:v>54.1</c:v>
                </c:pt>
                <c:pt idx="428">
                  <c:v>54.2</c:v>
                </c:pt>
                <c:pt idx="429">
                  <c:v>54.5</c:v>
                </c:pt>
                <c:pt idx="430">
                  <c:v>54.7</c:v>
                </c:pt>
                <c:pt idx="431">
                  <c:v>54.6</c:v>
                </c:pt>
                <c:pt idx="432">
                  <c:v>53.7</c:v>
                </c:pt>
                <c:pt idx="433">
                  <c:v>54.1</c:v>
                </c:pt>
                <c:pt idx="434">
                  <c:v>54.1</c:v>
                </c:pt>
                <c:pt idx="435">
                  <c:v>54.5</c:v>
                </c:pt>
                <c:pt idx="436">
                  <c:v>54.4</c:v>
                </c:pt>
                <c:pt idx="437">
                  <c:v>54.3</c:v>
                </c:pt>
                <c:pt idx="438">
                  <c:v>54.1</c:v>
                </c:pt>
                <c:pt idx="439">
                  <c:v>54.2</c:v>
                </c:pt>
                <c:pt idx="440">
                  <c:v>54.6</c:v>
                </c:pt>
              </c:numCache>
            </c:numRef>
          </c:val>
        </c:ser>
        <c:marker val="1"/>
        <c:axId val="103865344"/>
        <c:axId val="103957248"/>
      </c:lineChart>
      <c:catAx>
        <c:axId val="103865344"/>
        <c:scaling>
          <c:orientation val="minMax"/>
        </c:scaling>
        <c:axPos val="b"/>
        <c:majorTickMark val="none"/>
        <c:tickLblPos val="nextTo"/>
        <c:crossAx val="103957248"/>
        <c:crosses val="autoZero"/>
        <c:auto val="1"/>
        <c:lblAlgn val="ctr"/>
        <c:lblOffset val="100"/>
      </c:catAx>
      <c:valAx>
        <c:axId val="103957248"/>
        <c:scaling>
          <c:orientation val="minMax"/>
        </c:scaling>
        <c:axPos val="l"/>
        <c:majorGridlines/>
        <c:numFmt formatCode="General" sourceLinked="1"/>
        <c:majorTickMark val="none"/>
        <c:tickLblPos val="nextTo"/>
        <c:crossAx val="103865344"/>
        <c:crosses val="autoZero"/>
        <c:crossBetween val="between"/>
      </c:valAx>
    </c:plotArea>
    <c:legend>
      <c:legendPos val="b"/>
      <c:layout/>
    </c:legend>
    <c:plotVisOnly val="1"/>
  </c:chart>
  <c:externalData r:id="rId1"/>
</c:chartSpace>
</file>

<file path=ppt/charts/chart6.xml><?xml version="1.0" encoding="utf-8"?>
<c:chartSpace xmlns:c="http://schemas.openxmlformats.org/drawingml/2006/chart" xmlns:a="http://schemas.openxmlformats.org/drawingml/2006/main" xmlns:r="http://schemas.openxmlformats.org/officeDocument/2006/relationships">
  <c:lang val="en-US"/>
  <c:chart>
    <c:title>
      <c:tx>
        <c:rich>
          <a:bodyPr/>
          <a:lstStyle/>
          <a:p>
            <a:pPr>
              <a:defRPr/>
            </a:pPr>
            <a:r>
              <a:rPr lang="en-US" sz="1100" b="1" i="0" baseline="0"/>
              <a:t>New Mexico: Number of Statewide Unemployed by Duration (in Weeks of Unemployment) </a:t>
            </a:r>
            <a:endParaRPr lang="en-US" sz="1100"/>
          </a:p>
        </c:rich>
      </c:tx>
      <c:layout>
        <c:manualLayout>
          <c:xMode val="edge"/>
          <c:yMode val="edge"/>
          <c:x val="4.5409566430831091E-2"/>
          <c:y val="8.0672273177914283E-3"/>
        </c:manualLayout>
      </c:layout>
    </c:title>
    <c:plotArea>
      <c:layout>
        <c:manualLayout>
          <c:layoutTarget val="inner"/>
          <c:xMode val="edge"/>
          <c:yMode val="edge"/>
          <c:x val="8.9182602174728162E-2"/>
          <c:y val="5.6419725703301171E-2"/>
          <c:w val="0.84044616759376078"/>
          <c:h val="0.78376114782034756"/>
        </c:manualLayout>
      </c:layout>
      <c:barChart>
        <c:barDir val="col"/>
        <c:grouping val="stacked"/>
        <c:ser>
          <c:idx val="0"/>
          <c:order val="0"/>
          <c:tx>
            <c:strRef>
              <c:f>duration!$B$106</c:f>
              <c:strCache>
                <c:ptCount val="1"/>
                <c:pt idx="0">
                  <c:v>&lt;5</c:v>
                </c:pt>
              </c:strCache>
            </c:strRef>
          </c:tx>
          <c:cat>
            <c:strRef>
              <c:f>duration!$K$105:$AB$105</c:f>
              <c:strCache>
                <c:ptCount val="18"/>
                <c:pt idx="0">
                  <c:v>071-074</c:v>
                </c:pt>
                <c:pt idx="1">
                  <c:v>072-081</c:v>
                </c:pt>
                <c:pt idx="2">
                  <c:v>073-082</c:v>
                </c:pt>
                <c:pt idx="3">
                  <c:v>074-083</c:v>
                </c:pt>
                <c:pt idx="4">
                  <c:v>081-084</c:v>
                </c:pt>
                <c:pt idx="5">
                  <c:v>082-091</c:v>
                </c:pt>
                <c:pt idx="6">
                  <c:v>083-092</c:v>
                </c:pt>
                <c:pt idx="7">
                  <c:v>084-093</c:v>
                </c:pt>
                <c:pt idx="8">
                  <c:v>091-094</c:v>
                </c:pt>
                <c:pt idx="9">
                  <c:v>092-101</c:v>
                </c:pt>
                <c:pt idx="10">
                  <c:v>093-102</c:v>
                </c:pt>
                <c:pt idx="11">
                  <c:v>094-103</c:v>
                </c:pt>
                <c:pt idx="12">
                  <c:v>101-104</c:v>
                </c:pt>
                <c:pt idx="13">
                  <c:v>102-111</c:v>
                </c:pt>
                <c:pt idx="14">
                  <c:v>103-112</c:v>
                </c:pt>
                <c:pt idx="15">
                  <c:v>104-113</c:v>
                </c:pt>
                <c:pt idx="16">
                  <c:v>111-114</c:v>
                </c:pt>
                <c:pt idx="17">
                  <c:v>112-121</c:v>
                </c:pt>
              </c:strCache>
            </c:strRef>
          </c:cat>
          <c:val>
            <c:numRef>
              <c:f>duration!$K$106:$AB$106</c:f>
              <c:numCache>
                <c:formatCode>0.0</c:formatCode>
                <c:ptCount val="18"/>
                <c:pt idx="0">
                  <c:v>15.2</c:v>
                </c:pt>
                <c:pt idx="1">
                  <c:v>15.925000000000001</c:v>
                </c:pt>
                <c:pt idx="2">
                  <c:v>16.399999999999999</c:v>
                </c:pt>
                <c:pt idx="3">
                  <c:v>17</c:v>
                </c:pt>
                <c:pt idx="4">
                  <c:v>18.850000000000001</c:v>
                </c:pt>
                <c:pt idx="5">
                  <c:v>19.625</c:v>
                </c:pt>
                <c:pt idx="6">
                  <c:v>20.824999999999999</c:v>
                </c:pt>
                <c:pt idx="7">
                  <c:v>21.75</c:v>
                </c:pt>
                <c:pt idx="8">
                  <c:v>21.05</c:v>
                </c:pt>
                <c:pt idx="9">
                  <c:v>20.399999999999999</c:v>
                </c:pt>
                <c:pt idx="10">
                  <c:v>18.074999999999999</c:v>
                </c:pt>
                <c:pt idx="11">
                  <c:v>17.450000000000003</c:v>
                </c:pt>
                <c:pt idx="12">
                  <c:v>16.05</c:v>
                </c:pt>
                <c:pt idx="13">
                  <c:v>13.975000000000001</c:v>
                </c:pt>
                <c:pt idx="14">
                  <c:v>15.999999999999998</c:v>
                </c:pt>
                <c:pt idx="15">
                  <c:v>14.45</c:v>
                </c:pt>
                <c:pt idx="16">
                  <c:v>14.424999999999999</c:v>
                </c:pt>
                <c:pt idx="17">
                  <c:v>15.95</c:v>
                </c:pt>
              </c:numCache>
            </c:numRef>
          </c:val>
        </c:ser>
        <c:ser>
          <c:idx val="1"/>
          <c:order val="1"/>
          <c:tx>
            <c:strRef>
              <c:f>duration!$B$107</c:f>
              <c:strCache>
                <c:ptCount val="1"/>
                <c:pt idx="0">
                  <c:v>5-14</c:v>
                </c:pt>
              </c:strCache>
            </c:strRef>
          </c:tx>
          <c:cat>
            <c:strRef>
              <c:f>duration!$K$105:$AB$105</c:f>
              <c:strCache>
                <c:ptCount val="18"/>
                <c:pt idx="0">
                  <c:v>071-074</c:v>
                </c:pt>
                <c:pt idx="1">
                  <c:v>072-081</c:v>
                </c:pt>
                <c:pt idx="2">
                  <c:v>073-082</c:v>
                </c:pt>
                <c:pt idx="3">
                  <c:v>074-083</c:v>
                </c:pt>
                <c:pt idx="4">
                  <c:v>081-084</c:v>
                </c:pt>
                <c:pt idx="5">
                  <c:v>082-091</c:v>
                </c:pt>
                <c:pt idx="6">
                  <c:v>083-092</c:v>
                </c:pt>
                <c:pt idx="7">
                  <c:v>084-093</c:v>
                </c:pt>
                <c:pt idx="8">
                  <c:v>091-094</c:v>
                </c:pt>
                <c:pt idx="9">
                  <c:v>092-101</c:v>
                </c:pt>
                <c:pt idx="10">
                  <c:v>093-102</c:v>
                </c:pt>
                <c:pt idx="11">
                  <c:v>094-103</c:v>
                </c:pt>
                <c:pt idx="12">
                  <c:v>101-104</c:v>
                </c:pt>
                <c:pt idx="13">
                  <c:v>102-111</c:v>
                </c:pt>
                <c:pt idx="14">
                  <c:v>103-112</c:v>
                </c:pt>
                <c:pt idx="15">
                  <c:v>104-113</c:v>
                </c:pt>
                <c:pt idx="16">
                  <c:v>111-114</c:v>
                </c:pt>
                <c:pt idx="17">
                  <c:v>112-121</c:v>
                </c:pt>
              </c:strCache>
            </c:strRef>
          </c:cat>
          <c:val>
            <c:numRef>
              <c:f>duration!$K$107:$AB$107</c:f>
              <c:numCache>
                <c:formatCode>0.0</c:formatCode>
                <c:ptCount val="18"/>
                <c:pt idx="0">
                  <c:v>9.9500000000000011</c:v>
                </c:pt>
                <c:pt idx="1">
                  <c:v>10.574999999999999</c:v>
                </c:pt>
                <c:pt idx="2">
                  <c:v>12.125</c:v>
                </c:pt>
                <c:pt idx="3">
                  <c:v>12.624999999999998</c:v>
                </c:pt>
                <c:pt idx="4">
                  <c:v>14.6</c:v>
                </c:pt>
                <c:pt idx="5">
                  <c:v>17.250000000000004</c:v>
                </c:pt>
                <c:pt idx="6">
                  <c:v>19.325000000000003</c:v>
                </c:pt>
                <c:pt idx="7">
                  <c:v>19.849999999999998</c:v>
                </c:pt>
                <c:pt idx="8">
                  <c:v>19.799999999999997</c:v>
                </c:pt>
                <c:pt idx="9">
                  <c:v>19.8</c:v>
                </c:pt>
                <c:pt idx="10">
                  <c:v>18.074999999999999</c:v>
                </c:pt>
                <c:pt idx="11">
                  <c:v>17.100000000000001</c:v>
                </c:pt>
                <c:pt idx="12">
                  <c:v>17</c:v>
                </c:pt>
                <c:pt idx="13">
                  <c:v>15.525</c:v>
                </c:pt>
                <c:pt idx="14">
                  <c:v>14.424999999999999</c:v>
                </c:pt>
                <c:pt idx="15">
                  <c:v>14.799999999999999</c:v>
                </c:pt>
                <c:pt idx="16">
                  <c:v>14</c:v>
                </c:pt>
                <c:pt idx="17">
                  <c:v>13.475</c:v>
                </c:pt>
              </c:numCache>
            </c:numRef>
          </c:val>
        </c:ser>
        <c:ser>
          <c:idx val="2"/>
          <c:order val="2"/>
          <c:tx>
            <c:strRef>
              <c:f>duration!$B$108</c:f>
              <c:strCache>
                <c:ptCount val="1"/>
                <c:pt idx="0">
                  <c:v>15-26</c:v>
                </c:pt>
              </c:strCache>
            </c:strRef>
          </c:tx>
          <c:cat>
            <c:strRef>
              <c:f>duration!$K$105:$AB$105</c:f>
              <c:strCache>
                <c:ptCount val="18"/>
                <c:pt idx="0">
                  <c:v>071-074</c:v>
                </c:pt>
                <c:pt idx="1">
                  <c:v>072-081</c:v>
                </c:pt>
                <c:pt idx="2">
                  <c:v>073-082</c:v>
                </c:pt>
                <c:pt idx="3">
                  <c:v>074-083</c:v>
                </c:pt>
                <c:pt idx="4">
                  <c:v>081-084</c:v>
                </c:pt>
                <c:pt idx="5">
                  <c:v>082-091</c:v>
                </c:pt>
                <c:pt idx="6">
                  <c:v>083-092</c:v>
                </c:pt>
                <c:pt idx="7">
                  <c:v>084-093</c:v>
                </c:pt>
                <c:pt idx="8">
                  <c:v>091-094</c:v>
                </c:pt>
                <c:pt idx="9">
                  <c:v>092-101</c:v>
                </c:pt>
                <c:pt idx="10">
                  <c:v>093-102</c:v>
                </c:pt>
                <c:pt idx="11">
                  <c:v>094-103</c:v>
                </c:pt>
                <c:pt idx="12">
                  <c:v>101-104</c:v>
                </c:pt>
                <c:pt idx="13">
                  <c:v>102-111</c:v>
                </c:pt>
                <c:pt idx="14">
                  <c:v>103-112</c:v>
                </c:pt>
                <c:pt idx="15">
                  <c:v>104-113</c:v>
                </c:pt>
                <c:pt idx="16">
                  <c:v>111-114</c:v>
                </c:pt>
                <c:pt idx="17">
                  <c:v>112-121</c:v>
                </c:pt>
              </c:strCache>
            </c:strRef>
          </c:cat>
          <c:val>
            <c:numRef>
              <c:f>duration!$K$108:$AB$108</c:f>
              <c:numCache>
                <c:formatCode>0.0</c:formatCode>
                <c:ptCount val="18"/>
                <c:pt idx="0">
                  <c:v>5.4</c:v>
                </c:pt>
                <c:pt idx="1">
                  <c:v>5.3250000000000002</c:v>
                </c:pt>
                <c:pt idx="2">
                  <c:v>4.6499999999999995</c:v>
                </c:pt>
                <c:pt idx="3">
                  <c:v>4.0750000000000002</c:v>
                </c:pt>
                <c:pt idx="4">
                  <c:v>4.1999999999999993</c:v>
                </c:pt>
                <c:pt idx="5">
                  <c:v>5.4749999999999996</c:v>
                </c:pt>
                <c:pt idx="6">
                  <c:v>8.375</c:v>
                </c:pt>
                <c:pt idx="7">
                  <c:v>11.399999999999999</c:v>
                </c:pt>
                <c:pt idx="8">
                  <c:v>13.625</c:v>
                </c:pt>
                <c:pt idx="9">
                  <c:v>15.424999999999999</c:v>
                </c:pt>
                <c:pt idx="10">
                  <c:v>14.649999999999999</c:v>
                </c:pt>
                <c:pt idx="11">
                  <c:v>14.05</c:v>
                </c:pt>
                <c:pt idx="12">
                  <c:v>13.575000000000001</c:v>
                </c:pt>
                <c:pt idx="13">
                  <c:v>12.875</c:v>
                </c:pt>
                <c:pt idx="14">
                  <c:v>12.075000000000001</c:v>
                </c:pt>
                <c:pt idx="15">
                  <c:v>10.45</c:v>
                </c:pt>
                <c:pt idx="16">
                  <c:v>11.899999999999999</c:v>
                </c:pt>
                <c:pt idx="17">
                  <c:v>12.475</c:v>
                </c:pt>
              </c:numCache>
            </c:numRef>
          </c:val>
        </c:ser>
        <c:ser>
          <c:idx val="3"/>
          <c:order val="3"/>
          <c:tx>
            <c:strRef>
              <c:f>duration!$B$109</c:f>
              <c:strCache>
                <c:ptCount val="1"/>
                <c:pt idx="0">
                  <c:v>27-51</c:v>
                </c:pt>
              </c:strCache>
            </c:strRef>
          </c:tx>
          <c:cat>
            <c:strRef>
              <c:f>duration!$K$105:$AB$105</c:f>
              <c:strCache>
                <c:ptCount val="18"/>
                <c:pt idx="0">
                  <c:v>071-074</c:v>
                </c:pt>
                <c:pt idx="1">
                  <c:v>072-081</c:v>
                </c:pt>
                <c:pt idx="2">
                  <c:v>073-082</c:v>
                </c:pt>
                <c:pt idx="3">
                  <c:v>074-083</c:v>
                </c:pt>
                <c:pt idx="4">
                  <c:v>081-084</c:v>
                </c:pt>
                <c:pt idx="5">
                  <c:v>082-091</c:v>
                </c:pt>
                <c:pt idx="6">
                  <c:v>083-092</c:v>
                </c:pt>
                <c:pt idx="7">
                  <c:v>084-093</c:v>
                </c:pt>
                <c:pt idx="8">
                  <c:v>091-094</c:v>
                </c:pt>
                <c:pt idx="9">
                  <c:v>092-101</c:v>
                </c:pt>
                <c:pt idx="10">
                  <c:v>093-102</c:v>
                </c:pt>
                <c:pt idx="11">
                  <c:v>094-103</c:v>
                </c:pt>
                <c:pt idx="12">
                  <c:v>101-104</c:v>
                </c:pt>
                <c:pt idx="13">
                  <c:v>102-111</c:v>
                </c:pt>
                <c:pt idx="14">
                  <c:v>103-112</c:v>
                </c:pt>
                <c:pt idx="15">
                  <c:v>104-113</c:v>
                </c:pt>
                <c:pt idx="16">
                  <c:v>111-114</c:v>
                </c:pt>
                <c:pt idx="17">
                  <c:v>112-121</c:v>
                </c:pt>
              </c:strCache>
            </c:strRef>
          </c:cat>
          <c:val>
            <c:numRef>
              <c:f>duration!$K$109:$AB$109</c:f>
              <c:numCache>
                <c:formatCode>0.0</c:formatCode>
                <c:ptCount val="18"/>
                <c:pt idx="0">
                  <c:v>1.35</c:v>
                </c:pt>
                <c:pt idx="1">
                  <c:v>1.2749999999999999</c:v>
                </c:pt>
                <c:pt idx="2">
                  <c:v>1.5249999999999999</c:v>
                </c:pt>
                <c:pt idx="3">
                  <c:v>1.9750000000000001</c:v>
                </c:pt>
                <c:pt idx="4">
                  <c:v>1.9750000000000001</c:v>
                </c:pt>
                <c:pt idx="5">
                  <c:v>2.0249999999999999</c:v>
                </c:pt>
                <c:pt idx="6">
                  <c:v>3.05</c:v>
                </c:pt>
                <c:pt idx="7">
                  <c:v>6.1</c:v>
                </c:pt>
                <c:pt idx="8">
                  <c:v>10.225</c:v>
                </c:pt>
                <c:pt idx="9">
                  <c:v>13.149999999999999</c:v>
                </c:pt>
                <c:pt idx="10">
                  <c:v>13.925000000000001</c:v>
                </c:pt>
                <c:pt idx="11">
                  <c:v>13.975</c:v>
                </c:pt>
                <c:pt idx="12">
                  <c:v>13.074999999999999</c:v>
                </c:pt>
                <c:pt idx="13">
                  <c:v>12.125</c:v>
                </c:pt>
                <c:pt idx="14">
                  <c:v>11.524999999999999</c:v>
                </c:pt>
                <c:pt idx="15">
                  <c:v>9.2750000000000004</c:v>
                </c:pt>
                <c:pt idx="16">
                  <c:v>8.8250000000000011</c:v>
                </c:pt>
                <c:pt idx="17">
                  <c:v>8.875</c:v>
                </c:pt>
              </c:numCache>
            </c:numRef>
          </c:val>
        </c:ser>
        <c:ser>
          <c:idx val="4"/>
          <c:order val="4"/>
          <c:tx>
            <c:strRef>
              <c:f>duration!$B$110</c:f>
              <c:strCache>
                <c:ptCount val="1"/>
                <c:pt idx="0">
                  <c:v>52+</c:v>
                </c:pt>
              </c:strCache>
            </c:strRef>
          </c:tx>
          <c:spPr>
            <a:solidFill>
              <a:schemeClr val="bg2">
                <a:lumMod val="50000"/>
              </a:schemeClr>
            </a:solidFill>
          </c:spPr>
          <c:cat>
            <c:strRef>
              <c:f>duration!$K$105:$AB$105</c:f>
              <c:strCache>
                <c:ptCount val="18"/>
                <c:pt idx="0">
                  <c:v>071-074</c:v>
                </c:pt>
                <c:pt idx="1">
                  <c:v>072-081</c:v>
                </c:pt>
                <c:pt idx="2">
                  <c:v>073-082</c:v>
                </c:pt>
                <c:pt idx="3">
                  <c:v>074-083</c:v>
                </c:pt>
                <c:pt idx="4">
                  <c:v>081-084</c:v>
                </c:pt>
                <c:pt idx="5">
                  <c:v>082-091</c:v>
                </c:pt>
                <c:pt idx="6">
                  <c:v>083-092</c:v>
                </c:pt>
                <c:pt idx="7">
                  <c:v>084-093</c:v>
                </c:pt>
                <c:pt idx="8">
                  <c:v>091-094</c:v>
                </c:pt>
                <c:pt idx="9">
                  <c:v>092-101</c:v>
                </c:pt>
                <c:pt idx="10">
                  <c:v>093-102</c:v>
                </c:pt>
                <c:pt idx="11">
                  <c:v>094-103</c:v>
                </c:pt>
                <c:pt idx="12">
                  <c:v>101-104</c:v>
                </c:pt>
                <c:pt idx="13">
                  <c:v>102-111</c:v>
                </c:pt>
                <c:pt idx="14">
                  <c:v>103-112</c:v>
                </c:pt>
                <c:pt idx="15">
                  <c:v>104-113</c:v>
                </c:pt>
                <c:pt idx="16">
                  <c:v>111-114</c:v>
                </c:pt>
                <c:pt idx="17">
                  <c:v>112-121</c:v>
                </c:pt>
              </c:strCache>
            </c:strRef>
          </c:cat>
          <c:val>
            <c:numRef>
              <c:f>duration!$K$110:$AB$110</c:f>
              <c:numCache>
                <c:formatCode>0.0</c:formatCode>
                <c:ptCount val="18"/>
                <c:pt idx="0">
                  <c:v>3.0500000000000003</c:v>
                </c:pt>
                <c:pt idx="1">
                  <c:v>2.8</c:v>
                </c:pt>
                <c:pt idx="2">
                  <c:v>2.875</c:v>
                </c:pt>
                <c:pt idx="3">
                  <c:v>2.6500000000000004</c:v>
                </c:pt>
                <c:pt idx="4">
                  <c:v>3.4</c:v>
                </c:pt>
                <c:pt idx="5">
                  <c:v>4.6749999999999998</c:v>
                </c:pt>
                <c:pt idx="6">
                  <c:v>5.2999999999999989</c:v>
                </c:pt>
                <c:pt idx="7">
                  <c:v>6.0249999999999995</c:v>
                </c:pt>
                <c:pt idx="8">
                  <c:v>7.4</c:v>
                </c:pt>
                <c:pt idx="9">
                  <c:v>9.625</c:v>
                </c:pt>
                <c:pt idx="10">
                  <c:v>12.400000000000002</c:v>
                </c:pt>
                <c:pt idx="11">
                  <c:v>14.8</c:v>
                </c:pt>
                <c:pt idx="12">
                  <c:v>19.024999999999999</c:v>
                </c:pt>
                <c:pt idx="13">
                  <c:v>19.125</c:v>
                </c:pt>
                <c:pt idx="14">
                  <c:v>19.100000000000001</c:v>
                </c:pt>
                <c:pt idx="15">
                  <c:v>20.975000000000001</c:v>
                </c:pt>
                <c:pt idx="16">
                  <c:v>18.475000000000001</c:v>
                </c:pt>
                <c:pt idx="17">
                  <c:v>19.875</c:v>
                </c:pt>
              </c:numCache>
            </c:numRef>
          </c:val>
        </c:ser>
        <c:overlap val="100"/>
        <c:axId val="105313024"/>
        <c:axId val="105314944"/>
      </c:barChart>
      <c:catAx>
        <c:axId val="105313024"/>
        <c:scaling>
          <c:orientation val="minMax"/>
        </c:scaling>
        <c:axPos val="b"/>
        <c:title>
          <c:tx>
            <c:rich>
              <a:bodyPr/>
              <a:lstStyle/>
              <a:p>
                <a:pPr>
                  <a:defRPr/>
                </a:pPr>
                <a:r>
                  <a:rPr lang="en-US"/>
                  <a:t>Four-Quarter Period (Year/Quarter)</a:t>
                </a:r>
              </a:p>
            </c:rich>
          </c:tx>
          <c:layout/>
        </c:title>
        <c:tickLblPos val="nextTo"/>
        <c:crossAx val="105314944"/>
        <c:crosses val="autoZero"/>
        <c:auto val="1"/>
        <c:lblAlgn val="ctr"/>
        <c:lblOffset val="100"/>
      </c:catAx>
      <c:valAx>
        <c:axId val="105314944"/>
        <c:scaling>
          <c:orientation val="minMax"/>
        </c:scaling>
        <c:axPos val="l"/>
        <c:majorGridlines>
          <c:spPr>
            <a:ln>
              <a:solidFill>
                <a:schemeClr val="bg1">
                  <a:lumMod val="85000"/>
                </a:schemeClr>
              </a:solidFill>
            </a:ln>
          </c:spPr>
        </c:majorGridlines>
        <c:title>
          <c:tx>
            <c:rich>
              <a:bodyPr rot="-5400000" vert="horz"/>
              <a:lstStyle/>
              <a:p>
                <a:pPr>
                  <a:defRPr/>
                </a:pPr>
                <a:r>
                  <a:rPr lang="en-US"/>
                  <a:t>Total Unemployed (Thousands)</a:t>
                </a:r>
              </a:p>
            </c:rich>
          </c:tx>
          <c:layout>
            <c:manualLayout>
              <c:xMode val="edge"/>
              <c:yMode val="edge"/>
              <c:x val="1.5377573927383949E-2"/>
              <c:y val="0.32234099502897073"/>
            </c:manualLayout>
          </c:layout>
        </c:title>
        <c:numFmt formatCode="0" sourceLinked="0"/>
        <c:tickLblPos val="nextTo"/>
        <c:crossAx val="105313024"/>
        <c:crosses val="autoZero"/>
        <c:crossBetween val="between"/>
      </c:valAx>
      <c:spPr>
        <a:ln w="12700">
          <a:solidFill>
            <a:schemeClr val="tx1"/>
          </a:solidFill>
        </a:ln>
      </c:spPr>
    </c:plotArea>
    <c:legend>
      <c:legendPos val="r"/>
      <c:layout>
        <c:manualLayout>
          <c:xMode val="edge"/>
          <c:yMode val="edge"/>
          <c:x val="0.31998246253136464"/>
          <c:y val="8.0519662834363168E-2"/>
          <c:w val="0.35489168871823451"/>
          <c:h val="7.5457954103511124E-2"/>
        </c:manualLayout>
      </c:layout>
    </c:legend>
    <c:plotVisOnly val="1"/>
  </c:chart>
  <c:spPr>
    <a:ln w="19050">
      <a:solidFill>
        <a:schemeClr val="tx1"/>
      </a:solidFill>
    </a:ln>
  </c:spPr>
  <c:externalData r:id="rId1"/>
  <c:userShapes r:id="rId2"/>
</c:chartSpace>
</file>

<file path=ppt/charts/chart7.xml><?xml version="1.0" encoding="utf-8"?>
<c:chartSpace xmlns:c="http://schemas.openxmlformats.org/drawingml/2006/chart" xmlns:a="http://schemas.openxmlformats.org/drawingml/2006/main" xmlns:r="http://schemas.openxmlformats.org/officeDocument/2006/relationships">
  <c:date1904 val="1"/>
  <c:lang val="en-US"/>
  <c:chart>
    <c:plotArea>
      <c:layout/>
      <c:lineChart>
        <c:grouping val="standard"/>
        <c:ser>
          <c:idx val="3"/>
          <c:order val="0"/>
          <c:tx>
            <c:strRef>
              <c:f>Data!$E$3</c:f>
              <c:strCache>
                <c:ptCount val="1"/>
                <c:pt idx="0">
                  <c:v>   Men   </c:v>
                </c:pt>
              </c:strCache>
            </c:strRef>
          </c:tx>
          <c:marker>
            <c:symbol val="none"/>
          </c:marker>
          <c:cat>
            <c:numRef>
              <c:f>Data!$A$4:$A$772</c:f>
              <c:numCache>
                <c:formatCode>mmm\-yy</c:formatCode>
                <c:ptCount val="769"/>
                <c:pt idx="1">
                  <c:v>17533</c:v>
                </c:pt>
                <c:pt idx="2">
                  <c:v>17564</c:v>
                </c:pt>
                <c:pt idx="3">
                  <c:v>17593</c:v>
                </c:pt>
                <c:pt idx="4">
                  <c:v>17624</c:v>
                </c:pt>
                <c:pt idx="5">
                  <c:v>17654</c:v>
                </c:pt>
                <c:pt idx="6">
                  <c:v>17685</c:v>
                </c:pt>
                <c:pt idx="7">
                  <c:v>17715</c:v>
                </c:pt>
                <c:pt idx="8">
                  <c:v>17746</c:v>
                </c:pt>
                <c:pt idx="9">
                  <c:v>17777</c:v>
                </c:pt>
                <c:pt idx="10">
                  <c:v>17807</c:v>
                </c:pt>
                <c:pt idx="11">
                  <c:v>17838</c:v>
                </c:pt>
                <c:pt idx="12">
                  <c:v>17868</c:v>
                </c:pt>
                <c:pt idx="13">
                  <c:v>17899</c:v>
                </c:pt>
                <c:pt idx="14">
                  <c:v>17930</c:v>
                </c:pt>
                <c:pt idx="15">
                  <c:v>17958</c:v>
                </c:pt>
                <c:pt idx="16">
                  <c:v>17989</c:v>
                </c:pt>
                <c:pt idx="17">
                  <c:v>18019</c:v>
                </c:pt>
                <c:pt idx="18">
                  <c:v>18050</c:v>
                </c:pt>
                <c:pt idx="19">
                  <c:v>18080</c:v>
                </c:pt>
                <c:pt idx="20">
                  <c:v>18111</c:v>
                </c:pt>
                <c:pt idx="21">
                  <c:v>18142</c:v>
                </c:pt>
                <c:pt idx="22">
                  <c:v>18172</c:v>
                </c:pt>
                <c:pt idx="23">
                  <c:v>18203</c:v>
                </c:pt>
                <c:pt idx="24">
                  <c:v>18233</c:v>
                </c:pt>
                <c:pt idx="25">
                  <c:v>18264</c:v>
                </c:pt>
                <c:pt idx="26">
                  <c:v>18295</c:v>
                </c:pt>
                <c:pt idx="27">
                  <c:v>18323</c:v>
                </c:pt>
                <c:pt idx="28">
                  <c:v>18354</c:v>
                </c:pt>
                <c:pt idx="29">
                  <c:v>18384</c:v>
                </c:pt>
                <c:pt idx="30">
                  <c:v>18415</c:v>
                </c:pt>
                <c:pt idx="31">
                  <c:v>18445</c:v>
                </c:pt>
                <c:pt idx="32">
                  <c:v>18476</c:v>
                </c:pt>
                <c:pt idx="33">
                  <c:v>18507</c:v>
                </c:pt>
                <c:pt idx="34">
                  <c:v>18537</c:v>
                </c:pt>
                <c:pt idx="35">
                  <c:v>18568</c:v>
                </c:pt>
                <c:pt idx="36">
                  <c:v>18598</c:v>
                </c:pt>
                <c:pt idx="37">
                  <c:v>18629</c:v>
                </c:pt>
                <c:pt idx="38">
                  <c:v>18660</c:v>
                </c:pt>
                <c:pt idx="39">
                  <c:v>18688</c:v>
                </c:pt>
                <c:pt idx="40">
                  <c:v>18719</c:v>
                </c:pt>
                <c:pt idx="41">
                  <c:v>18749</c:v>
                </c:pt>
                <c:pt idx="42">
                  <c:v>18780</c:v>
                </c:pt>
                <c:pt idx="43">
                  <c:v>18810</c:v>
                </c:pt>
                <c:pt idx="44">
                  <c:v>18841</c:v>
                </c:pt>
                <c:pt idx="45">
                  <c:v>18872</c:v>
                </c:pt>
                <c:pt idx="46">
                  <c:v>18902</c:v>
                </c:pt>
                <c:pt idx="47">
                  <c:v>18933</c:v>
                </c:pt>
                <c:pt idx="48">
                  <c:v>18963</c:v>
                </c:pt>
                <c:pt idx="49">
                  <c:v>18994</c:v>
                </c:pt>
                <c:pt idx="50">
                  <c:v>19025</c:v>
                </c:pt>
                <c:pt idx="51">
                  <c:v>19054</c:v>
                </c:pt>
                <c:pt idx="52">
                  <c:v>19085</c:v>
                </c:pt>
                <c:pt idx="53">
                  <c:v>19115</c:v>
                </c:pt>
                <c:pt idx="54">
                  <c:v>19146</c:v>
                </c:pt>
                <c:pt idx="55">
                  <c:v>19176</c:v>
                </c:pt>
                <c:pt idx="56">
                  <c:v>19207</c:v>
                </c:pt>
                <c:pt idx="57">
                  <c:v>19238</c:v>
                </c:pt>
                <c:pt idx="58">
                  <c:v>19268</c:v>
                </c:pt>
                <c:pt idx="59">
                  <c:v>19299</c:v>
                </c:pt>
                <c:pt idx="60">
                  <c:v>19329</c:v>
                </c:pt>
                <c:pt idx="61">
                  <c:v>19360</c:v>
                </c:pt>
                <c:pt idx="62">
                  <c:v>19391</c:v>
                </c:pt>
                <c:pt idx="63">
                  <c:v>19419</c:v>
                </c:pt>
                <c:pt idx="64">
                  <c:v>19450</c:v>
                </c:pt>
                <c:pt idx="65">
                  <c:v>19480</c:v>
                </c:pt>
                <c:pt idx="66">
                  <c:v>19511</c:v>
                </c:pt>
                <c:pt idx="67">
                  <c:v>19541</c:v>
                </c:pt>
                <c:pt idx="68">
                  <c:v>19572</c:v>
                </c:pt>
                <c:pt idx="69">
                  <c:v>19603</c:v>
                </c:pt>
                <c:pt idx="70">
                  <c:v>19633</c:v>
                </c:pt>
                <c:pt idx="71">
                  <c:v>19664</c:v>
                </c:pt>
                <c:pt idx="72">
                  <c:v>19694</c:v>
                </c:pt>
                <c:pt idx="73">
                  <c:v>19725</c:v>
                </c:pt>
                <c:pt idx="74">
                  <c:v>19756</c:v>
                </c:pt>
                <c:pt idx="75">
                  <c:v>19784</c:v>
                </c:pt>
                <c:pt idx="76">
                  <c:v>19815</c:v>
                </c:pt>
                <c:pt idx="77">
                  <c:v>19845</c:v>
                </c:pt>
                <c:pt idx="78">
                  <c:v>19876</c:v>
                </c:pt>
                <c:pt idx="79">
                  <c:v>19906</c:v>
                </c:pt>
                <c:pt idx="80">
                  <c:v>19937</c:v>
                </c:pt>
                <c:pt idx="81">
                  <c:v>19968</c:v>
                </c:pt>
                <c:pt idx="82">
                  <c:v>19998</c:v>
                </c:pt>
                <c:pt idx="83">
                  <c:v>20029</c:v>
                </c:pt>
                <c:pt idx="84">
                  <c:v>20059</c:v>
                </c:pt>
                <c:pt idx="85">
                  <c:v>20090</c:v>
                </c:pt>
                <c:pt idx="86">
                  <c:v>20121</c:v>
                </c:pt>
                <c:pt idx="87">
                  <c:v>20149</c:v>
                </c:pt>
                <c:pt idx="88">
                  <c:v>20180</c:v>
                </c:pt>
                <c:pt idx="89">
                  <c:v>20210</c:v>
                </c:pt>
                <c:pt idx="90">
                  <c:v>20241</c:v>
                </c:pt>
                <c:pt idx="91">
                  <c:v>20271</c:v>
                </c:pt>
                <c:pt idx="92">
                  <c:v>20302</c:v>
                </c:pt>
                <c:pt idx="93">
                  <c:v>20333</c:v>
                </c:pt>
                <c:pt idx="94">
                  <c:v>20363</c:v>
                </c:pt>
                <c:pt idx="95">
                  <c:v>20394</c:v>
                </c:pt>
                <c:pt idx="96">
                  <c:v>20424</c:v>
                </c:pt>
                <c:pt idx="97">
                  <c:v>20455</c:v>
                </c:pt>
                <c:pt idx="98">
                  <c:v>20486</c:v>
                </c:pt>
                <c:pt idx="99">
                  <c:v>20515</c:v>
                </c:pt>
                <c:pt idx="100">
                  <c:v>20546</c:v>
                </c:pt>
                <c:pt idx="101">
                  <c:v>20576</c:v>
                </c:pt>
                <c:pt idx="102">
                  <c:v>20607</c:v>
                </c:pt>
                <c:pt idx="103">
                  <c:v>20637</c:v>
                </c:pt>
                <c:pt idx="104">
                  <c:v>20668</c:v>
                </c:pt>
                <c:pt idx="105">
                  <c:v>20699</c:v>
                </c:pt>
                <c:pt idx="106">
                  <c:v>20729</c:v>
                </c:pt>
                <c:pt idx="107">
                  <c:v>20760</c:v>
                </c:pt>
                <c:pt idx="108">
                  <c:v>20790</c:v>
                </c:pt>
                <c:pt idx="109">
                  <c:v>20821</c:v>
                </c:pt>
                <c:pt idx="110">
                  <c:v>20852</c:v>
                </c:pt>
                <c:pt idx="111">
                  <c:v>20880</c:v>
                </c:pt>
                <c:pt idx="112">
                  <c:v>20911</c:v>
                </c:pt>
                <c:pt idx="113">
                  <c:v>20941</c:v>
                </c:pt>
                <c:pt idx="114">
                  <c:v>20972</c:v>
                </c:pt>
                <c:pt idx="115">
                  <c:v>21002</c:v>
                </c:pt>
                <c:pt idx="116">
                  <c:v>21033</c:v>
                </c:pt>
                <c:pt idx="117">
                  <c:v>21064</c:v>
                </c:pt>
                <c:pt idx="118">
                  <c:v>21094</c:v>
                </c:pt>
                <c:pt idx="119">
                  <c:v>21125</c:v>
                </c:pt>
                <c:pt idx="120">
                  <c:v>21155</c:v>
                </c:pt>
                <c:pt idx="121">
                  <c:v>21186</c:v>
                </c:pt>
                <c:pt idx="122">
                  <c:v>21217</c:v>
                </c:pt>
                <c:pt idx="123">
                  <c:v>21245</c:v>
                </c:pt>
                <c:pt idx="124">
                  <c:v>21276</c:v>
                </c:pt>
                <c:pt idx="125">
                  <c:v>21306</c:v>
                </c:pt>
                <c:pt idx="126">
                  <c:v>21337</c:v>
                </c:pt>
                <c:pt idx="127">
                  <c:v>21367</c:v>
                </c:pt>
                <c:pt idx="128">
                  <c:v>21398</c:v>
                </c:pt>
                <c:pt idx="129">
                  <c:v>21429</c:v>
                </c:pt>
                <c:pt idx="130">
                  <c:v>21459</c:v>
                </c:pt>
                <c:pt idx="131">
                  <c:v>21490</c:v>
                </c:pt>
                <c:pt idx="132">
                  <c:v>21520</c:v>
                </c:pt>
                <c:pt idx="133">
                  <c:v>21551</c:v>
                </c:pt>
                <c:pt idx="134">
                  <c:v>21582</c:v>
                </c:pt>
                <c:pt idx="135">
                  <c:v>21610</c:v>
                </c:pt>
                <c:pt idx="136">
                  <c:v>21641</c:v>
                </c:pt>
                <c:pt idx="137">
                  <c:v>21671</c:v>
                </c:pt>
                <c:pt idx="138">
                  <c:v>21702</c:v>
                </c:pt>
                <c:pt idx="139">
                  <c:v>21732</c:v>
                </c:pt>
                <c:pt idx="140">
                  <c:v>21763</c:v>
                </c:pt>
                <c:pt idx="141">
                  <c:v>21794</c:v>
                </c:pt>
                <c:pt idx="142">
                  <c:v>21824</c:v>
                </c:pt>
                <c:pt idx="143">
                  <c:v>21855</c:v>
                </c:pt>
                <c:pt idx="144">
                  <c:v>21885</c:v>
                </c:pt>
                <c:pt idx="145">
                  <c:v>21916</c:v>
                </c:pt>
                <c:pt idx="146">
                  <c:v>21947</c:v>
                </c:pt>
                <c:pt idx="147">
                  <c:v>21976</c:v>
                </c:pt>
                <c:pt idx="148">
                  <c:v>22007</c:v>
                </c:pt>
                <c:pt idx="149">
                  <c:v>22037</c:v>
                </c:pt>
                <c:pt idx="150">
                  <c:v>22068</c:v>
                </c:pt>
                <c:pt idx="151">
                  <c:v>22098</c:v>
                </c:pt>
                <c:pt idx="152">
                  <c:v>22129</c:v>
                </c:pt>
                <c:pt idx="153">
                  <c:v>22160</c:v>
                </c:pt>
                <c:pt idx="154">
                  <c:v>22190</c:v>
                </c:pt>
                <c:pt idx="155">
                  <c:v>22221</c:v>
                </c:pt>
                <c:pt idx="156">
                  <c:v>22251</c:v>
                </c:pt>
                <c:pt idx="157">
                  <c:v>22282</c:v>
                </c:pt>
                <c:pt idx="158">
                  <c:v>22313</c:v>
                </c:pt>
                <c:pt idx="159">
                  <c:v>22341</c:v>
                </c:pt>
                <c:pt idx="160">
                  <c:v>22372</c:v>
                </c:pt>
                <c:pt idx="161">
                  <c:v>22402</c:v>
                </c:pt>
                <c:pt idx="162">
                  <c:v>22433</c:v>
                </c:pt>
                <c:pt idx="163">
                  <c:v>22463</c:v>
                </c:pt>
                <c:pt idx="164">
                  <c:v>22494</c:v>
                </c:pt>
                <c:pt idx="165">
                  <c:v>22525</c:v>
                </c:pt>
                <c:pt idx="166">
                  <c:v>22555</c:v>
                </c:pt>
                <c:pt idx="167">
                  <c:v>22586</c:v>
                </c:pt>
                <c:pt idx="168">
                  <c:v>22616</c:v>
                </c:pt>
                <c:pt idx="169">
                  <c:v>22647</c:v>
                </c:pt>
                <c:pt idx="170">
                  <c:v>22678</c:v>
                </c:pt>
                <c:pt idx="171">
                  <c:v>22706</c:v>
                </c:pt>
                <c:pt idx="172">
                  <c:v>22737</c:v>
                </c:pt>
                <c:pt idx="173">
                  <c:v>22767</c:v>
                </c:pt>
                <c:pt idx="174">
                  <c:v>22798</c:v>
                </c:pt>
                <c:pt idx="175">
                  <c:v>22828</c:v>
                </c:pt>
                <c:pt idx="176">
                  <c:v>22859</c:v>
                </c:pt>
                <c:pt idx="177">
                  <c:v>22890</c:v>
                </c:pt>
                <c:pt idx="178">
                  <c:v>22920</c:v>
                </c:pt>
                <c:pt idx="179">
                  <c:v>22951</c:v>
                </c:pt>
                <c:pt idx="180">
                  <c:v>22981</c:v>
                </c:pt>
                <c:pt idx="181">
                  <c:v>23012</c:v>
                </c:pt>
                <c:pt idx="182">
                  <c:v>23043</c:v>
                </c:pt>
                <c:pt idx="183">
                  <c:v>23071</c:v>
                </c:pt>
                <c:pt idx="184">
                  <c:v>23102</c:v>
                </c:pt>
                <c:pt idx="185">
                  <c:v>23132</c:v>
                </c:pt>
                <c:pt idx="186">
                  <c:v>23163</c:v>
                </c:pt>
                <c:pt idx="187">
                  <c:v>23193</c:v>
                </c:pt>
                <c:pt idx="188">
                  <c:v>23224</c:v>
                </c:pt>
                <c:pt idx="189">
                  <c:v>23255</c:v>
                </c:pt>
                <c:pt idx="190">
                  <c:v>23285</c:v>
                </c:pt>
                <c:pt idx="191">
                  <c:v>23316</c:v>
                </c:pt>
                <c:pt idx="192">
                  <c:v>23346</c:v>
                </c:pt>
                <c:pt idx="193">
                  <c:v>23377</c:v>
                </c:pt>
                <c:pt idx="194">
                  <c:v>23408</c:v>
                </c:pt>
                <c:pt idx="195">
                  <c:v>23437</c:v>
                </c:pt>
                <c:pt idx="196">
                  <c:v>23468</c:v>
                </c:pt>
                <c:pt idx="197">
                  <c:v>23498</c:v>
                </c:pt>
                <c:pt idx="198">
                  <c:v>23529</c:v>
                </c:pt>
                <c:pt idx="199">
                  <c:v>23559</c:v>
                </c:pt>
                <c:pt idx="200">
                  <c:v>23590</c:v>
                </c:pt>
                <c:pt idx="201">
                  <c:v>23621</c:v>
                </c:pt>
                <c:pt idx="202">
                  <c:v>23651</c:v>
                </c:pt>
                <c:pt idx="203">
                  <c:v>23682</c:v>
                </c:pt>
                <c:pt idx="204">
                  <c:v>23712</c:v>
                </c:pt>
                <c:pt idx="205">
                  <c:v>23743</c:v>
                </c:pt>
                <c:pt idx="206">
                  <c:v>23774</c:v>
                </c:pt>
                <c:pt idx="207">
                  <c:v>23802</c:v>
                </c:pt>
                <c:pt idx="208">
                  <c:v>23833</c:v>
                </c:pt>
                <c:pt idx="209">
                  <c:v>23863</c:v>
                </c:pt>
                <c:pt idx="210">
                  <c:v>23894</c:v>
                </c:pt>
                <c:pt idx="211">
                  <c:v>23924</c:v>
                </c:pt>
                <c:pt idx="212">
                  <c:v>23955</c:v>
                </c:pt>
                <c:pt idx="213">
                  <c:v>23986</c:v>
                </c:pt>
                <c:pt idx="214">
                  <c:v>24016</c:v>
                </c:pt>
                <c:pt idx="215">
                  <c:v>24047</c:v>
                </c:pt>
                <c:pt idx="216">
                  <c:v>24077</c:v>
                </c:pt>
                <c:pt idx="217">
                  <c:v>24108</c:v>
                </c:pt>
                <c:pt idx="218">
                  <c:v>24139</c:v>
                </c:pt>
                <c:pt idx="219">
                  <c:v>24167</c:v>
                </c:pt>
                <c:pt idx="220">
                  <c:v>24198</c:v>
                </c:pt>
                <c:pt idx="221">
                  <c:v>24228</c:v>
                </c:pt>
                <c:pt idx="222">
                  <c:v>24259</c:v>
                </c:pt>
                <c:pt idx="223">
                  <c:v>24289</c:v>
                </c:pt>
                <c:pt idx="224">
                  <c:v>24320</c:v>
                </c:pt>
                <c:pt idx="225">
                  <c:v>24351</c:v>
                </c:pt>
                <c:pt idx="226">
                  <c:v>24381</c:v>
                </c:pt>
                <c:pt idx="227">
                  <c:v>24412</c:v>
                </c:pt>
                <c:pt idx="228">
                  <c:v>24442</c:v>
                </c:pt>
                <c:pt idx="229">
                  <c:v>24473</c:v>
                </c:pt>
                <c:pt idx="230">
                  <c:v>24504</c:v>
                </c:pt>
                <c:pt idx="231">
                  <c:v>24532</c:v>
                </c:pt>
                <c:pt idx="232">
                  <c:v>24563</c:v>
                </c:pt>
                <c:pt idx="233">
                  <c:v>24593</c:v>
                </c:pt>
                <c:pt idx="234">
                  <c:v>24624</c:v>
                </c:pt>
                <c:pt idx="235">
                  <c:v>24654</c:v>
                </c:pt>
                <c:pt idx="236">
                  <c:v>24685</c:v>
                </c:pt>
                <c:pt idx="237">
                  <c:v>24716</c:v>
                </c:pt>
                <c:pt idx="238">
                  <c:v>24746</c:v>
                </c:pt>
                <c:pt idx="239">
                  <c:v>24777</c:v>
                </c:pt>
                <c:pt idx="240">
                  <c:v>24807</c:v>
                </c:pt>
                <c:pt idx="241">
                  <c:v>24838</c:v>
                </c:pt>
                <c:pt idx="242">
                  <c:v>24869</c:v>
                </c:pt>
                <c:pt idx="243">
                  <c:v>24898</c:v>
                </c:pt>
                <c:pt idx="244">
                  <c:v>24929</c:v>
                </c:pt>
                <c:pt idx="245">
                  <c:v>24959</c:v>
                </c:pt>
                <c:pt idx="246">
                  <c:v>24990</c:v>
                </c:pt>
                <c:pt idx="247">
                  <c:v>25020</c:v>
                </c:pt>
                <c:pt idx="248">
                  <c:v>25051</c:v>
                </c:pt>
                <c:pt idx="249">
                  <c:v>25082</c:v>
                </c:pt>
                <c:pt idx="250">
                  <c:v>25112</c:v>
                </c:pt>
                <c:pt idx="251">
                  <c:v>25143</c:v>
                </c:pt>
                <c:pt idx="252">
                  <c:v>25173</c:v>
                </c:pt>
                <c:pt idx="253">
                  <c:v>25204</c:v>
                </c:pt>
                <c:pt idx="254">
                  <c:v>25235</c:v>
                </c:pt>
                <c:pt idx="255">
                  <c:v>25263</c:v>
                </c:pt>
                <c:pt idx="256">
                  <c:v>25294</c:v>
                </c:pt>
                <c:pt idx="257">
                  <c:v>25324</c:v>
                </c:pt>
                <c:pt idx="258">
                  <c:v>25355</c:v>
                </c:pt>
                <c:pt idx="259">
                  <c:v>25385</c:v>
                </c:pt>
                <c:pt idx="260">
                  <c:v>25416</c:v>
                </c:pt>
                <c:pt idx="261">
                  <c:v>25447</c:v>
                </c:pt>
                <c:pt idx="262">
                  <c:v>25477</c:v>
                </c:pt>
                <c:pt idx="263">
                  <c:v>25508</c:v>
                </c:pt>
                <c:pt idx="264">
                  <c:v>25538</c:v>
                </c:pt>
                <c:pt idx="265">
                  <c:v>25569</c:v>
                </c:pt>
                <c:pt idx="266">
                  <c:v>25600</c:v>
                </c:pt>
                <c:pt idx="267">
                  <c:v>25628</c:v>
                </c:pt>
                <c:pt idx="268">
                  <c:v>25659</c:v>
                </c:pt>
                <c:pt idx="269">
                  <c:v>25689</c:v>
                </c:pt>
                <c:pt idx="270">
                  <c:v>25720</c:v>
                </c:pt>
                <c:pt idx="271">
                  <c:v>25750</c:v>
                </c:pt>
                <c:pt idx="272">
                  <c:v>25781</c:v>
                </c:pt>
                <c:pt idx="273">
                  <c:v>25812</c:v>
                </c:pt>
                <c:pt idx="274">
                  <c:v>25842</c:v>
                </c:pt>
                <c:pt idx="275">
                  <c:v>25873</c:v>
                </c:pt>
                <c:pt idx="276">
                  <c:v>25903</c:v>
                </c:pt>
                <c:pt idx="277">
                  <c:v>25934</c:v>
                </c:pt>
                <c:pt idx="278">
                  <c:v>25965</c:v>
                </c:pt>
                <c:pt idx="279">
                  <c:v>25993</c:v>
                </c:pt>
                <c:pt idx="280">
                  <c:v>26024</c:v>
                </c:pt>
                <c:pt idx="281">
                  <c:v>26054</c:v>
                </c:pt>
                <c:pt idx="282">
                  <c:v>26085</c:v>
                </c:pt>
                <c:pt idx="283">
                  <c:v>26115</c:v>
                </c:pt>
                <c:pt idx="284">
                  <c:v>26146</c:v>
                </c:pt>
                <c:pt idx="285">
                  <c:v>26177</c:v>
                </c:pt>
                <c:pt idx="286">
                  <c:v>26207</c:v>
                </c:pt>
                <c:pt idx="287">
                  <c:v>26238</c:v>
                </c:pt>
                <c:pt idx="288">
                  <c:v>26268</c:v>
                </c:pt>
                <c:pt idx="289">
                  <c:v>26299</c:v>
                </c:pt>
                <c:pt idx="290">
                  <c:v>26330</c:v>
                </c:pt>
                <c:pt idx="291">
                  <c:v>26359</c:v>
                </c:pt>
                <c:pt idx="292">
                  <c:v>26390</c:v>
                </c:pt>
                <c:pt idx="293">
                  <c:v>26420</c:v>
                </c:pt>
                <c:pt idx="294">
                  <c:v>26451</c:v>
                </c:pt>
                <c:pt idx="295">
                  <c:v>26481</c:v>
                </c:pt>
                <c:pt idx="296">
                  <c:v>26512</c:v>
                </c:pt>
                <c:pt idx="297">
                  <c:v>26543</c:v>
                </c:pt>
                <c:pt idx="298">
                  <c:v>26573</c:v>
                </c:pt>
                <c:pt idx="299">
                  <c:v>26604</c:v>
                </c:pt>
                <c:pt idx="300">
                  <c:v>26634</c:v>
                </c:pt>
                <c:pt idx="301">
                  <c:v>26665</c:v>
                </c:pt>
                <c:pt idx="302">
                  <c:v>26696</c:v>
                </c:pt>
                <c:pt idx="303">
                  <c:v>26724</c:v>
                </c:pt>
                <c:pt idx="304">
                  <c:v>26755</c:v>
                </c:pt>
                <c:pt idx="305">
                  <c:v>26785</c:v>
                </c:pt>
                <c:pt idx="306">
                  <c:v>26816</c:v>
                </c:pt>
                <c:pt idx="307">
                  <c:v>26846</c:v>
                </c:pt>
                <c:pt idx="308">
                  <c:v>26877</c:v>
                </c:pt>
                <c:pt idx="309">
                  <c:v>26908</c:v>
                </c:pt>
                <c:pt idx="310">
                  <c:v>26938</c:v>
                </c:pt>
                <c:pt idx="311">
                  <c:v>26969</c:v>
                </c:pt>
                <c:pt idx="312">
                  <c:v>26999</c:v>
                </c:pt>
                <c:pt idx="313">
                  <c:v>27030</c:v>
                </c:pt>
                <c:pt idx="314">
                  <c:v>27061</c:v>
                </c:pt>
                <c:pt idx="315">
                  <c:v>27089</c:v>
                </c:pt>
                <c:pt idx="316">
                  <c:v>27120</c:v>
                </c:pt>
                <c:pt idx="317">
                  <c:v>27150</c:v>
                </c:pt>
                <c:pt idx="318">
                  <c:v>27181</c:v>
                </c:pt>
                <c:pt idx="319">
                  <c:v>27211</c:v>
                </c:pt>
                <c:pt idx="320">
                  <c:v>27242</c:v>
                </c:pt>
                <c:pt idx="321">
                  <c:v>27273</c:v>
                </c:pt>
                <c:pt idx="322">
                  <c:v>27303</c:v>
                </c:pt>
                <c:pt idx="323">
                  <c:v>27334</c:v>
                </c:pt>
                <c:pt idx="324">
                  <c:v>27364</c:v>
                </c:pt>
                <c:pt idx="325">
                  <c:v>27395</c:v>
                </c:pt>
                <c:pt idx="326">
                  <c:v>27426</c:v>
                </c:pt>
                <c:pt idx="327">
                  <c:v>27454</c:v>
                </c:pt>
                <c:pt idx="328">
                  <c:v>27485</c:v>
                </c:pt>
                <c:pt idx="329">
                  <c:v>27515</c:v>
                </c:pt>
                <c:pt idx="330">
                  <c:v>27546</c:v>
                </c:pt>
                <c:pt idx="331">
                  <c:v>27576</c:v>
                </c:pt>
                <c:pt idx="332">
                  <c:v>27607</c:v>
                </c:pt>
                <c:pt idx="333">
                  <c:v>27638</c:v>
                </c:pt>
                <c:pt idx="334">
                  <c:v>27668</c:v>
                </c:pt>
                <c:pt idx="335">
                  <c:v>27699</c:v>
                </c:pt>
                <c:pt idx="336">
                  <c:v>27729</c:v>
                </c:pt>
                <c:pt idx="337">
                  <c:v>27760</c:v>
                </c:pt>
                <c:pt idx="338">
                  <c:v>27791</c:v>
                </c:pt>
                <c:pt idx="339">
                  <c:v>27820</c:v>
                </c:pt>
                <c:pt idx="340">
                  <c:v>27851</c:v>
                </c:pt>
                <c:pt idx="341">
                  <c:v>27881</c:v>
                </c:pt>
                <c:pt idx="342">
                  <c:v>27912</c:v>
                </c:pt>
                <c:pt idx="343">
                  <c:v>27942</c:v>
                </c:pt>
                <c:pt idx="344">
                  <c:v>27973</c:v>
                </c:pt>
                <c:pt idx="345">
                  <c:v>28004</c:v>
                </c:pt>
                <c:pt idx="346">
                  <c:v>28034</c:v>
                </c:pt>
                <c:pt idx="347">
                  <c:v>28065</c:v>
                </c:pt>
                <c:pt idx="348">
                  <c:v>28095</c:v>
                </c:pt>
                <c:pt idx="349">
                  <c:v>28126</c:v>
                </c:pt>
                <c:pt idx="350">
                  <c:v>28157</c:v>
                </c:pt>
                <c:pt idx="351">
                  <c:v>28185</c:v>
                </c:pt>
                <c:pt idx="352">
                  <c:v>28216</c:v>
                </c:pt>
                <c:pt idx="353">
                  <c:v>28246</c:v>
                </c:pt>
                <c:pt idx="354">
                  <c:v>28277</c:v>
                </c:pt>
                <c:pt idx="355">
                  <c:v>28307</c:v>
                </c:pt>
                <c:pt idx="356">
                  <c:v>28338</c:v>
                </c:pt>
                <c:pt idx="357">
                  <c:v>28369</c:v>
                </c:pt>
                <c:pt idx="358">
                  <c:v>28399</c:v>
                </c:pt>
                <c:pt idx="359">
                  <c:v>28430</c:v>
                </c:pt>
                <c:pt idx="360">
                  <c:v>28460</c:v>
                </c:pt>
                <c:pt idx="361">
                  <c:v>28491</c:v>
                </c:pt>
                <c:pt idx="362">
                  <c:v>28522</c:v>
                </c:pt>
                <c:pt idx="363">
                  <c:v>28550</c:v>
                </c:pt>
                <c:pt idx="364">
                  <c:v>28581</c:v>
                </c:pt>
                <c:pt idx="365">
                  <c:v>28611</c:v>
                </c:pt>
                <c:pt idx="366">
                  <c:v>28642</c:v>
                </c:pt>
                <c:pt idx="367">
                  <c:v>28672</c:v>
                </c:pt>
                <c:pt idx="368">
                  <c:v>28703</c:v>
                </c:pt>
                <c:pt idx="369">
                  <c:v>28734</c:v>
                </c:pt>
                <c:pt idx="370">
                  <c:v>28764</c:v>
                </c:pt>
                <c:pt idx="371">
                  <c:v>28795</c:v>
                </c:pt>
                <c:pt idx="372">
                  <c:v>28825</c:v>
                </c:pt>
                <c:pt idx="373">
                  <c:v>28856</c:v>
                </c:pt>
                <c:pt idx="374">
                  <c:v>28887</c:v>
                </c:pt>
                <c:pt idx="375">
                  <c:v>28915</c:v>
                </c:pt>
                <c:pt idx="376">
                  <c:v>28946</c:v>
                </c:pt>
                <c:pt idx="377">
                  <c:v>28976</c:v>
                </c:pt>
                <c:pt idx="378">
                  <c:v>29007</c:v>
                </c:pt>
                <c:pt idx="379">
                  <c:v>29037</c:v>
                </c:pt>
                <c:pt idx="380">
                  <c:v>29068</c:v>
                </c:pt>
                <c:pt idx="381">
                  <c:v>29099</c:v>
                </c:pt>
                <c:pt idx="382">
                  <c:v>29129</c:v>
                </c:pt>
                <c:pt idx="383">
                  <c:v>29160</c:v>
                </c:pt>
                <c:pt idx="384">
                  <c:v>29190</c:v>
                </c:pt>
                <c:pt idx="385">
                  <c:v>29221</c:v>
                </c:pt>
                <c:pt idx="386">
                  <c:v>29252</c:v>
                </c:pt>
                <c:pt idx="387">
                  <c:v>29281</c:v>
                </c:pt>
                <c:pt idx="388">
                  <c:v>29312</c:v>
                </c:pt>
                <c:pt idx="389">
                  <c:v>29342</c:v>
                </c:pt>
                <c:pt idx="390">
                  <c:v>29373</c:v>
                </c:pt>
                <c:pt idx="391">
                  <c:v>29403</c:v>
                </c:pt>
                <c:pt idx="392">
                  <c:v>29434</c:v>
                </c:pt>
                <c:pt idx="393">
                  <c:v>29465</c:v>
                </c:pt>
                <c:pt idx="394">
                  <c:v>29495</c:v>
                </c:pt>
                <c:pt idx="395">
                  <c:v>29526</c:v>
                </c:pt>
                <c:pt idx="396">
                  <c:v>29556</c:v>
                </c:pt>
                <c:pt idx="397">
                  <c:v>29587</c:v>
                </c:pt>
                <c:pt idx="398">
                  <c:v>29618</c:v>
                </c:pt>
                <c:pt idx="399">
                  <c:v>29646</c:v>
                </c:pt>
                <c:pt idx="400">
                  <c:v>29677</c:v>
                </c:pt>
                <c:pt idx="401">
                  <c:v>29707</c:v>
                </c:pt>
                <c:pt idx="402">
                  <c:v>29738</c:v>
                </c:pt>
                <c:pt idx="403">
                  <c:v>29768</c:v>
                </c:pt>
                <c:pt idx="404">
                  <c:v>29799</c:v>
                </c:pt>
                <c:pt idx="405">
                  <c:v>29830</c:v>
                </c:pt>
                <c:pt idx="406">
                  <c:v>29860</c:v>
                </c:pt>
                <c:pt idx="407">
                  <c:v>29891</c:v>
                </c:pt>
                <c:pt idx="408">
                  <c:v>29921</c:v>
                </c:pt>
                <c:pt idx="409">
                  <c:v>29952</c:v>
                </c:pt>
                <c:pt idx="410">
                  <c:v>29983</c:v>
                </c:pt>
                <c:pt idx="411">
                  <c:v>30011</c:v>
                </c:pt>
                <c:pt idx="412">
                  <c:v>30042</c:v>
                </c:pt>
                <c:pt idx="413">
                  <c:v>30072</c:v>
                </c:pt>
                <c:pt idx="414">
                  <c:v>30103</c:v>
                </c:pt>
                <c:pt idx="415">
                  <c:v>30133</c:v>
                </c:pt>
                <c:pt idx="416">
                  <c:v>30164</c:v>
                </c:pt>
                <c:pt idx="417">
                  <c:v>30195</c:v>
                </c:pt>
                <c:pt idx="418">
                  <c:v>30225</c:v>
                </c:pt>
                <c:pt idx="419">
                  <c:v>30256</c:v>
                </c:pt>
                <c:pt idx="420">
                  <c:v>30286</c:v>
                </c:pt>
                <c:pt idx="421">
                  <c:v>30317</c:v>
                </c:pt>
                <c:pt idx="422">
                  <c:v>30348</c:v>
                </c:pt>
                <c:pt idx="423">
                  <c:v>30376</c:v>
                </c:pt>
                <c:pt idx="424">
                  <c:v>30407</c:v>
                </c:pt>
                <c:pt idx="425">
                  <c:v>30437</c:v>
                </c:pt>
                <c:pt idx="426">
                  <c:v>30468</c:v>
                </c:pt>
                <c:pt idx="427">
                  <c:v>30498</c:v>
                </c:pt>
                <c:pt idx="428">
                  <c:v>30529</c:v>
                </c:pt>
                <c:pt idx="429">
                  <c:v>30560</c:v>
                </c:pt>
                <c:pt idx="430">
                  <c:v>30590</c:v>
                </c:pt>
                <c:pt idx="431">
                  <c:v>30621</c:v>
                </c:pt>
                <c:pt idx="432">
                  <c:v>30651</c:v>
                </c:pt>
                <c:pt idx="433">
                  <c:v>30682</c:v>
                </c:pt>
                <c:pt idx="434">
                  <c:v>30713</c:v>
                </c:pt>
                <c:pt idx="435">
                  <c:v>30742</c:v>
                </c:pt>
                <c:pt idx="436">
                  <c:v>30773</c:v>
                </c:pt>
                <c:pt idx="437">
                  <c:v>30803</c:v>
                </c:pt>
                <c:pt idx="438">
                  <c:v>30834</c:v>
                </c:pt>
                <c:pt idx="439">
                  <c:v>30864</c:v>
                </c:pt>
                <c:pt idx="440">
                  <c:v>30895</c:v>
                </c:pt>
                <c:pt idx="441">
                  <c:v>30926</c:v>
                </c:pt>
                <c:pt idx="442">
                  <c:v>30956</c:v>
                </c:pt>
                <c:pt idx="443">
                  <c:v>30987</c:v>
                </c:pt>
                <c:pt idx="444">
                  <c:v>31017</c:v>
                </c:pt>
                <c:pt idx="445">
                  <c:v>31048</c:v>
                </c:pt>
                <c:pt idx="446">
                  <c:v>31079</c:v>
                </c:pt>
                <c:pt idx="447">
                  <c:v>31107</c:v>
                </c:pt>
                <c:pt idx="448">
                  <c:v>31138</c:v>
                </c:pt>
                <c:pt idx="449">
                  <c:v>31168</c:v>
                </c:pt>
                <c:pt idx="450">
                  <c:v>31199</c:v>
                </c:pt>
                <c:pt idx="451">
                  <c:v>31229</c:v>
                </c:pt>
                <c:pt idx="452">
                  <c:v>31260</c:v>
                </c:pt>
                <c:pt idx="453">
                  <c:v>31291</c:v>
                </c:pt>
                <c:pt idx="454">
                  <c:v>31321</c:v>
                </c:pt>
                <c:pt idx="455">
                  <c:v>31352</c:v>
                </c:pt>
                <c:pt idx="456">
                  <c:v>31382</c:v>
                </c:pt>
                <c:pt idx="457">
                  <c:v>31413</c:v>
                </c:pt>
                <c:pt idx="458">
                  <c:v>31444</c:v>
                </c:pt>
                <c:pt idx="459">
                  <c:v>31472</c:v>
                </c:pt>
                <c:pt idx="460">
                  <c:v>31503</c:v>
                </c:pt>
                <c:pt idx="461">
                  <c:v>31533</c:v>
                </c:pt>
                <c:pt idx="462">
                  <c:v>31564</c:v>
                </c:pt>
                <c:pt idx="463">
                  <c:v>31594</c:v>
                </c:pt>
                <c:pt idx="464">
                  <c:v>31625</c:v>
                </c:pt>
                <c:pt idx="465">
                  <c:v>31656</c:v>
                </c:pt>
                <c:pt idx="466">
                  <c:v>31686</c:v>
                </c:pt>
                <c:pt idx="467">
                  <c:v>31717</c:v>
                </c:pt>
                <c:pt idx="468">
                  <c:v>31747</c:v>
                </c:pt>
                <c:pt idx="469">
                  <c:v>31778</c:v>
                </c:pt>
                <c:pt idx="470">
                  <c:v>31809</c:v>
                </c:pt>
                <c:pt idx="471">
                  <c:v>31837</c:v>
                </c:pt>
                <c:pt idx="472">
                  <c:v>31868</c:v>
                </c:pt>
                <c:pt idx="473">
                  <c:v>31898</c:v>
                </c:pt>
                <c:pt idx="474">
                  <c:v>31929</c:v>
                </c:pt>
                <c:pt idx="475">
                  <c:v>31959</c:v>
                </c:pt>
                <c:pt idx="476">
                  <c:v>31990</c:v>
                </c:pt>
                <c:pt idx="477">
                  <c:v>32021</c:v>
                </c:pt>
                <c:pt idx="478">
                  <c:v>32051</c:v>
                </c:pt>
                <c:pt idx="479">
                  <c:v>32082</c:v>
                </c:pt>
                <c:pt idx="480">
                  <c:v>32112</c:v>
                </c:pt>
                <c:pt idx="481">
                  <c:v>32143</c:v>
                </c:pt>
                <c:pt idx="482">
                  <c:v>32174</c:v>
                </c:pt>
                <c:pt idx="483">
                  <c:v>32203</c:v>
                </c:pt>
                <c:pt idx="484">
                  <c:v>32234</c:v>
                </c:pt>
                <c:pt idx="485">
                  <c:v>32264</c:v>
                </c:pt>
                <c:pt idx="486">
                  <c:v>32295</c:v>
                </c:pt>
                <c:pt idx="487">
                  <c:v>32325</c:v>
                </c:pt>
                <c:pt idx="488">
                  <c:v>32356</c:v>
                </c:pt>
                <c:pt idx="489">
                  <c:v>32387</c:v>
                </c:pt>
                <c:pt idx="490">
                  <c:v>32417</c:v>
                </c:pt>
                <c:pt idx="491">
                  <c:v>32448</c:v>
                </c:pt>
                <c:pt idx="492">
                  <c:v>32478</c:v>
                </c:pt>
                <c:pt idx="493">
                  <c:v>32509</c:v>
                </c:pt>
                <c:pt idx="494">
                  <c:v>32540</c:v>
                </c:pt>
                <c:pt idx="495">
                  <c:v>32568</c:v>
                </c:pt>
                <c:pt idx="496">
                  <c:v>32599</c:v>
                </c:pt>
                <c:pt idx="497">
                  <c:v>32629</c:v>
                </c:pt>
                <c:pt idx="498">
                  <c:v>32660</c:v>
                </c:pt>
                <c:pt idx="499">
                  <c:v>32690</c:v>
                </c:pt>
                <c:pt idx="500">
                  <c:v>32721</c:v>
                </c:pt>
                <c:pt idx="501">
                  <c:v>32752</c:v>
                </c:pt>
                <c:pt idx="502">
                  <c:v>32782</c:v>
                </c:pt>
                <c:pt idx="503">
                  <c:v>32813</c:v>
                </c:pt>
                <c:pt idx="504">
                  <c:v>32843</c:v>
                </c:pt>
                <c:pt idx="505">
                  <c:v>32874</c:v>
                </c:pt>
                <c:pt idx="506">
                  <c:v>32905</c:v>
                </c:pt>
                <c:pt idx="507">
                  <c:v>32933</c:v>
                </c:pt>
                <c:pt idx="508">
                  <c:v>32964</c:v>
                </c:pt>
                <c:pt idx="509">
                  <c:v>32994</c:v>
                </c:pt>
                <c:pt idx="510">
                  <c:v>33025</c:v>
                </c:pt>
                <c:pt idx="511">
                  <c:v>33055</c:v>
                </c:pt>
                <c:pt idx="512">
                  <c:v>33086</c:v>
                </c:pt>
                <c:pt idx="513">
                  <c:v>33117</c:v>
                </c:pt>
                <c:pt idx="514">
                  <c:v>33147</c:v>
                </c:pt>
                <c:pt idx="515">
                  <c:v>33178</c:v>
                </c:pt>
                <c:pt idx="516">
                  <c:v>33208</c:v>
                </c:pt>
                <c:pt idx="517">
                  <c:v>33239</c:v>
                </c:pt>
                <c:pt idx="518">
                  <c:v>33270</c:v>
                </c:pt>
                <c:pt idx="519">
                  <c:v>33298</c:v>
                </c:pt>
                <c:pt idx="520">
                  <c:v>33329</c:v>
                </c:pt>
                <c:pt idx="521">
                  <c:v>33359</c:v>
                </c:pt>
                <c:pt idx="522">
                  <c:v>33390</c:v>
                </c:pt>
                <c:pt idx="523">
                  <c:v>33420</c:v>
                </c:pt>
                <c:pt idx="524">
                  <c:v>33451</c:v>
                </c:pt>
                <c:pt idx="525">
                  <c:v>33482</c:v>
                </c:pt>
                <c:pt idx="526">
                  <c:v>33512</c:v>
                </c:pt>
                <c:pt idx="527">
                  <c:v>33543</c:v>
                </c:pt>
                <c:pt idx="528">
                  <c:v>33573</c:v>
                </c:pt>
                <c:pt idx="529">
                  <c:v>33604</c:v>
                </c:pt>
                <c:pt idx="530">
                  <c:v>33635</c:v>
                </c:pt>
                <c:pt idx="531">
                  <c:v>33664</c:v>
                </c:pt>
                <c:pt idx="532">
                  <c:v>33695</c:v>
                </c:pt>
                <c:pt idx="533">
                  <c:v>33725</c:v>
                </c:pt>
                <c:pt idx="534">
                  <c:v>33756</c:v>
                </c:pt>
                <c:pt idx="535">
                  <c:v>33786</c:v>
                </c:pt>
                <c:pt idx="536">
                  <c:v>33817</c:v>
                </c:pt>
                <c:pt idx="537">
                  <c:v>33848</c:v>
                </c:pt>
                <c:pt idx="538">
                  <c:v>33878</c:v>
                </c:pt>
                <c:pt idx="539">
                  <c:v>33909</c:v>
                </c:pt>
                <c:pt idx="540">
                  <c:v>33939</c:v>
                </c:pt>
                <c:pt idx="541">
                  <c:v>33970</c:v>
                </c:pt>
                <c:pt idx="542">
                  <c:v>34001</c:v>
                </c:pt>
                <c:pt idx="543">
                  <c:v>34029</c:v>
                </c:pt>
                <c:pt idx="544">
                  <c:v>34060</c:v>
                </c:pt>
                <c:pt idx="545">
                  <c:v>34090</c:v>
                </c:pt>
                <c:pt idx="546">
                  <c:v>34121</c:v>
                </c:pt>
                <c:pt idx="547">
                  <c:v>34151</c:v>
                </c:pt>
                <c:pt idx="548">
                  <c:v>34182</c:v>
                </c:pt>
                <c:pt idx="549">
                  <c:v>34213</c:v>
                </c:pt>
                <c:pt idx="550">
                  <c:v>34243</c:v>
                </c:pt>
                <c:pt idx="551">
                  <c:v>34274</c:v>
                </c:pt>
                <c:pt idx="552">
                  <c:v>34304</c:v>
                </c:pt>
                <c:pt idx="553">
                  <c:v>34335</c:v>
                </c:pt>
                <c:pt idx="554">
                  <c:v>34366</c:v>
                </c:pt>
                <c:pt idx="555">
                  <c:v>34394</c:v>
                </c:pt>
                <c:pt idx="556">
                  <c:v>34425</c:v>
                </c:pt>
                <c:pt idx="557">
                  <c:v>34455</c:v>
                </c:pt>
                <c:pt idx="558">
                  <c:v>34486</c:v>
                </c:pt>
                <c:pt idx="559">
                  <c:v>34516</c:v>
                </c:pt>
                <c:pt idx="560">
                  <c:v>34547</c:v>
                </c:pt>
                <c:pt idx="561">
                  <c:v>34578</c:v>
                </c:pt>
                <c:pt idx="562">
                  <c:v>34608</c:v>
                </c:pt>
                <c:pt idx="563">
                  <c:v>34639</c:v>
                </c:pt>
                <c:pt idx="564">
                  <c:v>34669</c:v>
                </c:pt>
                <c:pt idx="565">
                  <c:v>34700</c:v>
                </c:pt>
                <c:pt idx="566">
                  <c:v>34731</c:v>
                </c:pt>
                <c:pt idx="567">
                  <c:v>34759</c:v>
                </c:pt>
                <c:pt idx="568">
                  <c:v>34790</c:v>
                </c:pt>
                <c:pt idx="569">
                  <c:v>34820</c:v>
                </c:pt>
                <c:pt idx="570">
                  <c:v>34851</c:v>
                </c:pt>
                <c:pt idx="571">
                  <c:v>34881</c:v>
                </c:pt>
                <c:pt idx="572">
                  <c:v>34912</c:v>
                </c:pt>
                <c:pt idx="573">
                  <c:v>34943</c:v>
                </c:pt>
                <c:pt idx="574">
                  <c:v>34973</c:v>
                </c:pt>
                <c:pt idx="575">
                  <c:v>35004</c:v>
                </c:pt>
                <c:pt idx="576">
                  <c:v>35034</c:v>
                </c:pt>
                <c:pt idx="577">
                  <c:v>35065</c:v>
                </c:pt>
                <c:pt idx="578">
                  <c:v>35096</c:v>
                </c:pt>
                <c:pt idx="579">
                  <c:v>35125</c:v>
                </c:pt>
                <c:pt idx="580">
                  <c:v>35156</c:v>
                </c:pt>
                <c:pt idx="581">
                  <c:v>35186</c:v>
                </c:pt>
                <c:pt idx="582">
                  <c:v>35217</c:v>
                </c:pt>
                <c:pt idx="583">
                  <c:v>35247</c:v>
                </c:pt>
                <c:pt idx="584">
                  <c:v>35278</c:v>
                </c:pt>
                <c:pt idx="585">
                  <c:v>35309</c:v>
                </c:pt>
                <c:pt idx="586">
                  <c:v>35339</c:v>
                </c:pt>
                <c:pt idx="587">
                  <c:v>35370</c:v>
                </c:pt>
                <c:pt idx="588">
                  <c:v>35400</c:v>
                </c:pt>
                <c:pt idx="589">
                  <c:v>35431</c:v>
                </c:pt>
                <c:pt idx="590">
                  <c:v>35462</c:v>
                </c:pt>
                <c:pt idx="591">
                  <c:v>35490</c:v>
                </c:pt>
                <c:pt idx="592">
                  <c:v>35521</c:v>
                </c:pt>
                <c:pt idx="593">
                  <c:v>35551</c:v>
                </c:pt>
                <c:pt idx="594">
                  <c:v>35582</c:v>
                </c:pt>
                <c:pt idx="595">
                  <c:v>35612</c:v>
                </c:pt>
                <c:pt idx="596">
                  <c:v>35643</c:v>
                </c:pt>
                <c:pt idx="597">
                  <c:v>35674</c:v>
                </c:pt>
                <c:pt idx="598">
                  <c:v>35704</c:v>
                </c:pt>
                <c:pt idx="599">
                  <c:v>35735</c:v>
                </c:pt>
                <c:pt idx="600">
                  <c:v>35765</c:v>
                </c:pt>
                <c:pt idx="601">
                  <c:v>35796</c:v>
                </c:pt>
                <c:pt idx="602">
                  <c:v>35827</c:v>
                </c:pt>
                <c:pt idx="603">
                  <c:v>35855</c:v>
                </c:pt>
                <c:pt idx="604">
                  <c:v>35886</c:v>
                </c:pt>
                <c:pt idx="605">
                  <c:v>35916</c:v>
                </c:pt>
                <c:pt idx="606">
                  <c:v>35947</c:v>
                </c:pt>
                <c:pt idx="607">
                  <c:v>35977</c:v>
                </c:pt>
                <c:pt idx="608">
                  <c:v>36008</c:v>
                </c:pt>
                <c:pt idx="609">
                  <c:v>36039</c:v>
                </c:pt>
                <c:pt idx="610">
                  <c:v>36069</c:v>
                </c:pt>
                <c:pt idx="611">
                  <c:v>36100</c:v>
                </c:pt>
                <c:pt idx="612">
                  <c:v>36130</c:v>
                </c:pt>
                <c:pt idx="613">
                  <c:v>36161</c:v>
                </c:pt>
                <c:pt idx="614">
                  <c:v>36192</c:v>
                </c:pt>
                <c:pt idx="615">
                  <c:v>36220</c:v>
                </c:pt>
                <c:pt idx="616">
                  <c:v>36251</c:v>
                </c:pt>
                <c:pt idx="617">
                  <c:v>36281</c:v>
                </c:pt>
                <c:pt idx="618">
                  <c:v>36312</c:v>
                </c:pt>
                <c:pt idx="619">
                  <c:v>36342</c:v>
                </c:pt>
                <c:pt idx="620">
                  <c:v>36373</c:v>
                </c:pt>
                <c:pt idx="621">
                  <c:v>36404</c:v>
                </c:pt>
                <c:pt idx="622">
                  <c:v>36434</c:v>
                </c:pt>
                <c:pt idx="623">
                  <c:v>36465</c:v>
                </c:pt>
                <c:pt idx="624">
                  <c:v>36495</c:v>
                </c:pt>
                <c:pt idx="625">
                  <c:v>36526</c:v>
                </c:pt>
                <c:pt idx="626">
                  <c:v>36557</c:v>
                </c:pt>
                <c:pt idx="627">
                  <c:v>36586</c:v>
                </c:pt>
                <c:pt idx="628">
                  <c:v>36617</c:v>
                </c:pt>
                <c:pt idx="629">
                  <c:v>36647</c:v>
                </c:pt>
                <c:pt idx="630">
                  <c:v>36678</c:v>
                </c:pt>
                <c:pt idx="631">
                  <c:v>36708</c:v>
                </c:pt>
                <c:pt idx="632">
                  <c:v>36739</c:v>
                </c:pt>
                <c:pt idx="633">
                  <c:v>36770</c:v>
                </c:pt>
                <c:pt idx="634">
                  <c:v>36800</c:v>
                </c:pt>
                <c:pt idx="635">
                  <c:v>36831</c:v>
                </c:pt>
                <c:pt idx="636">
                  <c:v>36861</c:v>
                </c:pt>
                <c:pt idx="637">
                  <c:v>36892</c:v>
                </c:pt>
                <c:pt idx="638">
                  <c:v>36923</c:v>
                </c:pt>
                <c:pt idx="639">
                  <c:v>36951</c:v>
                </c:pt>
                <c:pt idx="640">
                  <c:v>36982</c:v>
                </c:pt>
                <c:pt idx="641">
                  <c:v>37012</c:v>
                </c:pt>
                <c:pt idx="642">
                  <c:v>37043</c:v>
                </c:pt>
                <c:pt idx="643">
                  <c:v>37073</c:v>
                </c:pt>
                <c:pt idx="644">
                  <c:v>37104</c:v>
                </c:pt>
                <c:pt idx="645">
                  <c:v>37135</c:v>
                </c:pt>
                <c:pt idx="646">
                  <c:v>37165</c:v>
                </c:pt>
                <c:pt idx="647">
                  <c:v>37196</c:v>
                </c:pt>
                <c:pt idx="648">
                  <c:v>37226</c:v>
                </c:pt>
                <c:pt idx="649">
                  <c:v>37257</c:v>
                </c:pt>
                <c:pt idx="650">
                  <c:v>37288</c:v>
                </c:pt>
                <c:pt idx="651">
                  <c:v>37316</c:v>
                </c:pt>
                <c:pt idx="652">
                  <c:v>37347</c:v>
                </c:pt>
                <c:pt idx="653">
                  <c:v>37377</c:v>
                </c:pt>
                <c:pt idx="654">
                  <c:v>37408</c:v>
                </c:pt>
                <c:pt idx="655">
                  <c:v>37438</c:v>
                </c:pt>
                <c:pt idx="656">
                  <c:v>37469</c:v>
                </c:pt>
                <c:pt idx="657">
                  <c:v>37500</c:v>
                </c:pt>
                <c:pt idx="658">
                  <c:v>37530</c:v>
                </c:pt>
                <c:pt idx="659">
                  <c:v>37561</c:v>
                </c:pt>
                <c:pt idx="660">
                  <c:v>37591</c:v>
                </c:pt>
                <c:pt idx="661">
                  <c:v>37622</c:v>
                </c:pt>
                <c:pt idx="662">
                  <c:v>37653</c:v>
                </c:pt>
                <c:pt idx="663">
                  <c:v>37681</c:v>
                </c:pt>
                <c:pt idx="664">
                  <c:v>37712</c:v>
                </c:pt>
                <c:pt idx="665">
                  <c:v>37742</c:v>
                </c:pt>
                <c:pt idx="666">
                  <c:v>37773</c:v>
                </c:pt>
                <c:pt idx="667">
                  <c:v>37803</c:v>
                </c:pt>
                <c:pt idx="668">
                  <c:v>37834</c:v>
                </c:pt>
                <c:pt idx="669">
                  <c:v>37865</c:v>
                </c:pt>
                <c:pt idx="670">
                  <c:v>37895</c:v>
                </c:pt>
                <c:pt idx="671">
                  <c:v>37926</c:v>
                </c:pt>
                <c:pt idx="672">
                  <c:v>37956</c:v>
                </c:pt>
                <c:pt idx="673">
                  <c:v>37987</c:v>
                </c:pt>
                <c:pt idx="674">
                  <c:v>38018</c:v>
                </c:pt>
                <c:pt idx="675">
                  <c:v>38047</c:v>
                </c:pt>
                <c:pt idx="676">
                  <c:v>38078</c:v>
                </c:pt>
                <c:pt idx="677">
                  <c:v>38108</c:v>
                </c:pt>
                <c:pt idx="678">
                  <c:v>38139</c:v>
                </c:pt>
                <c:pt idx="679">
                  <c:v>38169</c:v>
                </c:pt>
                <c:pt idx="680">
                  <c:v>38200</c:v>
                </c:pt>
                <c:pt idx="681">
                  <c:v>38231</c:v>
                </c:pt>
                <c:pt idx="682">
                  <c:v>38261</c:v>
                </c:pt>
                <c:pt idx="683">
                  <c:v>38292</c:v>
                </c:pt>
                <c:pt idx="684">
                  <c:v>38322</c:v>
                </c:pt>
                <c:pt idx="685">
                  <c:v>38353</c:v>
                </c:pt>
                <c:pt idx="686">
                  <c:v>38384</c:v>
                </c:pt>
                <c:pt idx="687">
                  <c:v>38412</c:v>
                </c:pt>
                <c:pt idx="688">
                  <c:v>38443</c:v>
                </c:pt>
                <c:pt idx="689">
                  <c:v>38473</c:v>
                </c:pt>
                <c:pt idx="690">
                  <c:v>38504</c:v>
                </c:pt>
                <c:pt idx="691">
                  <c:v>38534</c:v>
                </c:pt>
                <c:pt idx="692">
                  <c:v>38565</c:v>
                </c:pt>
                <c:pt idx="693">
                  <c:v>38596</c:v>
                </c:pt>
                <c:pt idx="694">
                  <c:v>38626</c:v>
                </c:pt>
                <c:pt idx="695">
                  <c:v>38657</c:v>
                </c:pt>
                <c:pt idx="696">
                  <c:v>38687</c:v>
                </c:pt>
                <c:pt idx="697">
                  <c:v>38718</c:v>
                </c:pt>
                <c:pt idx="698">
                  <c:v>38749</c:v>
                </c:pt>
                <c:pt idx="699">
                  <c:v>38777</c:v>
                </c:pt>
                <c:pt idx="700">
                  <c:v>38808</c:v>
                </c:pt>
                <c:pt idx="701">
                  <c:v>38838</c:v>
                </c:pt>
                <c:pt idx="702">
                  <c:v>38869</c:v>
                </c:pt>
                <c:pt idx="703">
                  <c:v>38899</c:v>
                </c:pt>
                <c:pt idx="704">
                  <c:v>38930</c:v>
                </c:pt>
                <c:pt idx="705">
                  <c:v>38961</c:v>
                </c:pt>
                <c:pt idx="706">
                  <c:v>38991</c:v>
                </c:pt>
                <c:pt idx="707">
                  <c:v>39022</c:v>
                </c:pt>
                <c:pt idx="708">
                  <c:v>39052</c:v>
                </c:pt>
                <c:pt idx="709">
                  <c:v>39083</c:v>
                </c:pt>
                <c:pt idx="710">
                  <c:v>39114</c:v>
                </c:pt>
                <c:pt idx="711">
                  <c:v>39142</c:v>
                </c:pt>
                <c:pt idx="712">
                  <c:v>39173</c:v>
                </c:pt>
                <c:pt idx="713">
                  <c:v>39203</c:v>
                </c:pt>
                <c:pt idx="714">
                  <c:v>39234</c:v>
                </c:pt>
                <c:pt idx="715">
                  <c:v>39264</c:v>
                </c:pt>
                <c:pt idx="716">
                  <c:v>39295</c:v>
                </c:pt>
                <c:pt idx="717">
                  <c:v>39326</c:v>
                </c:pt>
                <c:pt idx="718">
                  <c:v>39356</c:v>
                </c:pt>
                <c:pt idx="719">
                  <c:v>39387</c:v>
                </c:pt>
                <c:pt idx="720">
                  <c:v>39417</c:v>
                </c:pt>
                <c:pt idx="721">
                  <c:v>39448</c:v>
                </c:pt>
                <c:pt idx="722">
                  <c:v>39479</c:v>
                </c:pt>
                <c:pt idx="723">
                  <c:v>39508</c:v>
                </c:pt>
                <c:pt idx="724">
                  <c:v>39539</c:v>
                </c:pt>
                <c:pt idx="725">
                  <c:v>39569</c:v>
                </c:pt>
                <c:pt idx="726">
                  <c:v>39600</c:v>
                </c:pt>
                <c:pt idx="727">
                  <c:v>39630</c:v>
                </c:pt>
                <c:pt idx="728">
                  <c:v>39661</c:v>
                </c:pt>
                <c:pt idx="729">
                  <c:v>39692</c:v>
                </c:pt>
                <c:pt idx="730">
                  <c:v>39722</c:v>
                </c:pt>
                <c:pt idx="731">
                  <c:v>39753</c:v>
                </c:pt>
                <c:pt idx="732">
                  <c:v>39783</c:v>
                </c:pt>
                <c:pt idx="733">
                  <c:v>39814</c:v>
                </c:pt>
                <c:pt idx="734">
                  <c:v>39845</c:v>
                </c:pt>
                <c:pt idx="735">
                  <c:v>39873</c:v>
                </c:pt>
                <c:pt idx="736">
                  <c:v>39904</c:v>
                </c:pt>
                <c:pt idx="737">
                  <c:v>39934</c:v>
                </c:pt>
                <c:pt idx="738">
                  <c:v>39965</c:v>
                </c:pt>
                <c:pt idx="739">
                  <c:v>39995</c:v>
                </c:pt>
                <c:pt idx="740">
                  <c:v>40026</c:v>
                </c:pt>
                <c:pt idx="741">
                  <c:v>40057</c:v>
                </c:pt>
                <c:pt idx="742">
                  <c:v>40087</c:v>
                </c:pt>
                <c:pt idx="743">
                  <c:v>40118</c:v>
                </c:pt>
                <c:pt idx="744">
                  <c:v>40148</c:v>
                </c:pt>
                <c:pt idx="745">
                  <c:v>40179</c:v>
                </c:pt>
                <c:pt idx="746">
                  <c:v>40210</c:v>
                </c:pt>
                <c:pt idx="747">
                  <c:v>40238</c:v>
                </c:pt>
                <c:pt idx="748">
                  <c:v>40269</c:v>
                </c:pt>
                <c:pt idx="749">
                  <c:v>40299</c:v>
                </c:pt>
                <c:pt idx="750">
                  <c:v>40330</c:v>
                </c:pt>
                <c:pt idx="751">
                  <c:v>40360</c:v>
                </c:pt>
                <c:pt idx="752">
                  <c:v>40391</c:v>
                </c:pt>
                <c:pt idx="753">
                  <c:v>40422</c:v>
                </c:pt>
                <c:pt idx="754">
                  <c:v>40452</c:v>
                </c:pt>
                <c:pt idx="755">
                  <c:v>40483</c:v>
                </c:pt>
                <c:pt idx="756">
                  <c:v>40513</c:v>
                </c:pt>
                <c:pt idx="757">
                  <c:v>40544</c:v>
                </c:pt>
                <c:pt idx="758">
                  <c:v>40575</c:v>
                </c:pt>
                <c:pt idx="759">
                  <c:v>40603</c:v>
                </c:pt>
                <c:pt idx="760">
                  <c:v>40634</c:v>
                </c:pt>
                <c:pt idx="761">
                  <c:v>40664</c:v>
                </c:pt>
                <c:pt idx="762">
                  <c:v>40695</c:v>
                </c:pt>
                <c:pt idx="763">
                  <c:v>40725</c:v>
                </c:pt>
                <c:pt idx="764">
                  <c:v>40756</c:v>
                </c:pt>
                <c:pt idx="765">
                  <c:v>40787</c:v>
                </c:pt>
                <c:pt idx="766">
                  <c:v>40817</c:v>
                </c:pt>
                <c:pt idx="767">
                  <c:v>40848</c:v>
                </c:pt>
                <c:pt idx="768">
                  <c:v>40878</c:v>
                </c:pt>
              </c:numCache>
            </c:numRef>
          </c:cat>
          <c:val>
            <c:numRef>
              <c:f>Data!$E$4:$E$772</c:f>
              <c:numCache>
                <c:formatCode>General</c:formatCode>
                <c:ptCount val="769"/>
                <c:pt idx="1">
                  <c:v>3.4</c:v>
                </c:pt>
                <c:pt idx="2">
                  <c:v>3.6</c:v>
                </c:pt>
                <c:pt idx="3">
                  <c:v>3.8</c:v>
                </c:pt>
                <c:pt idx="4">
                  <c:v>3.8</c:v>
                </c:pt>
                <c:pt idx="5">
                  <c:v>3.5</c:v>
                </c:pt>
                <c:pt idx="6">
                  <c:v>3.3</c:v>
                </c:pt>
                <c:pt idx="7">
                  <c:v>3.4</c:v>
                </c:pt>
                <c:pt idx="8">
                  <c:v>3.6</c:v>
                </c:pt>
                <c:pt idx="9">
                  <c:v>3.7</c:v>
                </c:pt>
                <c:pt idx="10">
                  <c:v>3.6</c:v>
                </c:pt>
                <c:pt idx="11">
                  <c:v>3.7</c:v>
                </c:pt>
                <c:pt idx="12">
                  <c:v>3.9</c:v>
                </c:pt>
                <c:pt idx="13">
                  <c:v>4.2</c:v>
                </c:pt>
                <c:pt idx="14">
                  <c:v>4.5999999999999996</c:v>
                </c:pt>
                <c:pt idx="15">
                  <c:v>5.0999999999999996</c:v>
                </c:pt>
                <c:pt idx="16">
                  <c:v>5.3</c:v>
                </c:pt>
                <c:pt idx="17">
                  <c:v>6.1</c:v>
                </c:pt>
                <c:pt idx="18">
                  <c:v>6.2</c:v>
                </c:pt>
                <c:pt idx="19">
                  <c:v>6.7</c:v>
                </c:pt>
                <c:pt idx="20">
                  <c:v>6.8</c:v>
                </c:pt>
                <c:pt idx="21">
                  <c:v>6.5</c:v>
                </c:pt>
                <c:pt idx="22">
                  <c:v>8.4</c:v>
                </c:pt>
                <c:pt idx="23">
                  <c:v>6.5</c:v>
                </c:pt>
                <c:pt idx="24">
                  <c:v>6.5</c:v>
                </c:pt>
                <c:pt idx="25">
                  <c:v>6.4</c:v>
                </c:pt>
                <c:pt idx="26">
                  <c:v>6.2</c:v>
                </c:pt>
                <c:pt idx="27">
                  <c:v>6.1</c:v>
                </c:pt>
                <c:pt idx="28">
                  <c:v>5.9</c:v>
                </c:pt>
                <c:pt idx="29">
                  <c:v>5.4</c:v>
                </c:pt>
                <c:pt idx="30">
                  <c:v>5.0999999999999996</c:v>
                </c:pt>
                <c:pt idx="31">
                  <c:v>4.8</c:v>
                </c:pt>
                <c:pt idx="32">
                  <c:v>4.3</c:v>
                </c:pt>
                <c:pt idx="33">
                  <c:v>4.2</c:v>
                </c:pt>
                <c:pt idx="34">
                  <c:v>3.9</c:v>
                </c:pt>
                <c:pt idx="35">
                  <c:v>3.7</c:v>
                </c:pt>
                <c:pt idx="36">
                  <c:v>3.8</c:v>
                </c:pt>
                <c:pt idx="37">
                  <c:v>3.3</c:v>
                </c:pt>
                <c:pt idx="38">
                  <c:v>3</c:v>
                </c:pt>
                <c:pt idx="39">
                  <c:v>2.7</c:v>
                </c:pt>
                <c:pt idx="40">
                  <c:v>2.5</c:v>
                </c:pt>
                <c:pt idx="41">
                  <c:v>2.5</c:v>
                </c:pt>
                <c:pt idx="42">
                  <c:v>2.8</c:v>
                </c:pt>
                <c:pt idx="43">
                  <c:v>2.7</c:v>
                </c:pt>
                <c:pt idx="44">
                  <c:v>2.8</c:v>
                </c:pt>
                <c:pt idx="45">
                  <c:v>2.8</c:v>
                </c:pt>
                <c:pt idx="46">
                  <c:v>3.1</c:v>
                </c:pt>
                <c:pt idx="47">
                  <c:v>3.1</c:v>
                </c:pt>
                <c:pt idx="48">
                  <c:v>2.7</c:v>
                </c:pt>
                <c:pt idx="49">
                  <c:v>2.8</c:v>
                </c:pt>
                <c:pt idx="50">
                  <c:v>2.8</c:v>
                </c:pt>
                <c:pt idx="51">
                  <c:v>2.7</c:v>
                </c:pt>
                <c:pt idx="52">
                  <c:v>2.7</c:v>
                </c:pt>
                <c:pt idx="53">
                  <c:v>2.6</c:v>
                </c:pt>
                <c:pt idx="54">
                  <c:v>2.8</c:v>
                </c:pt>
                <c:pt idx="55">
                  <c:v>3</c:v>
                </c:pt>
                <c:pt idx="56">
                  <c:v>3.2</c:v>
                </c:pt>
                <c:pt idx="57">
                  <c:v>3</c:v>
                </c:pt>
                <c:pt idx="58">
                  <c:v>2.6</c:v>
                </c:pt>
                <c:pt idx="59">
                  <c:v>2.5</c:v>
                </c:pt>
                <c:pt idx="60">
                  <c:v>2.5</c:v>
                </c:pt>
                <c:pt idx="61">
                  <c:v>2.8</c:v>
                </c:pt>
                <c:pt idx="62">
                  <c:v>2.4</c:v>
                </c:pt>
                <c:pt idx="63">
                  <c:v>2.2999999999999998</c:v>
                </c:pt>
                <c:pt idx="64">
                  <c:v>2.6</c:v>
                </c:pt>
                <c:pt idx="65">
                  <c:v>2.5</c:v>
                </c:pt>
                <c:pt idx="66">
                  <c:v>2.4</c:v>
                </c:pt>
                <c:pt idx="67">
                  <c:v>2.5</c:v>
                </c:pt>
                <c:pt idx="68">
                  <c:v>2.5</c:v>
                </c:pt>
                <c:pt idx="69">
                  <c:v>2.7</c:v>
                </c:pt>
                <c:pt idx="70">
                  <c:v>2.9</c:v>
                </c:pt>
                <c:pt idx="71">
                  <c:v>3.4</c:v>
                </c:pt>
                <c:pt idx="72">
                  <c:v>4.2</c:v>
                </c:pt>
                <c:pt idx="73">
                  <c:v>4.4000000000000004</c:v>
                </c:pt>
                <c:pt idx="74">
                  <c:v>4.9000000000000004</c:v>
                </c:pt>
                <c:pt idx="75">
                  <c:v>5.3</c:v>
                </c:pt>
                <c:pt idx="76">
                  <c:v>5.6</c:v>
                </c:pt>
                <c:pt idx="77">
                  <c:v>5.7</c:v>
                </c:pt>
                <c:pt idx="78">
                  <c:v>5.3</c:v>
                </c:pt>
                <c:pt idx="79">
                  <c:v>5.6</c:v>
                </c:pt>
                <c:pt idx="80">
                  <c:v>6</c:v>
                </c:pt>
                <c:pt idx="81">
                  <c:v>6</c:v>
                </c:pt>
                <c:pt idx="82">
                  <c:v>5.7</c:v>
                </c:pt>
                <c:pt idx="83">
                  <c:v>5.2</c:v>
                </c:pt>
                <c:pt idx="84">
                  <c:v>5</c:v>
                </c:pt>
                <c:pt idx="85">
                  <c:v>4.8</c:v>
                </c:pt>
                <c:pt idx="86">
                  <c:v>4.5</c:v>
                </c:pt>
                <c:pt idx="87">
                  <c:v>4.5</c:v>
                </c:pt>
                <c:pt idx="88">
                  <c:v>4.7</c:v>
                </c:pt>
                <c:pt idx="89">
                  <c:v>4</c:v>
                </c:pt>
                <c:pt idx="90">
                  <c:v>3.9</c:v>
                </c:pt>
                <c:pt idx="91">
                  <c:v>3.8</c:v>
                </c:pt>
                <c:pt idx="92">
                  <c:v>3.9</c:v>
                </c:pt>
                <c:pt idx="93">
                  <c:v>3.7</c:v>
                </c:pt>
                <c:pt idx="94">
                  <c:v>3.9</c:v>
                </c:pt>
                <c:pt idx="95">
                  <c:v>3.9</c:v>
                </c:pt>
                <c:pt idx="96">
                  <c:v>3.8</c:v>
                </c:pt>
                <c:pt idx="97">
                  <c:v>3.8</c:v>
                </c:pt>
                <c:pt idx="98">
                  <c:v>3.8</c:v>
                </c:pt>
                <c:pt idx="99">
                  <c:v>3.8</c:v>
                </c:pt>
                <c:pt idx="100">
                  <c:v>3.6</c:v>
                </c:pt>
                <c:pt idx="101">
                  <c:v>3.9</c:v>
                </c:pt>
                <c:pt idx="102">
                  <c:v>4</c:v>
                </c:pt>
                <c:pt idx="103">
                  <c:v>3.8</c:v>
                </c:pt>
                <c:pt idx="104">
                  <c:v>3.7</c:v>
                </c:pt>
                <c:pt idx="105">
                  <c:v>3.6</c:v>
                </c:pt>
                <c:pt idx="106">
                  <c:v>3.5</c:v>
                </c:pt>
                <c:pt idx="107">
                  <c:v>4</c:v>
                </c:pt>
                <c:pt idx="108">
                  <c:v>3.9</c:v>
                </c:pt>
                <c:pt idx="109">
                  <c:v>3.9</c:v>
                </c:pt>
                <c:pt idx="110">
                  <c:v>3.6</c:v>
                </c:pt>
                <c:pt idx="111">
                  <c:v>3.5</c:v>
                </c:pt>
                <c:pt idx="112">
                  <c:v>3.8</c:v>
                </c:pt>
                <c:pt idx="113">
                  <c:v>3.8</c:v>
                </c:pt>
                <c:pt idx="114">
                  <c:v>4</c:v>
                </c:pt>
                <c:pt idx="115">
                  <c:v>3.8</c:v>
                </c:pt>
                <c:pt idx="116">
                  <c:v>3.9</c:v>
                </c:pt>
                <c:pt idx="117">
                  <c:v>4.3</c:v>
                </c:pt>
                <c:pt idx="118">
                  <c:v>4.4000000000000004</c:v>
                </c:pt>
                <c:pt idx="119">
                  <c:v>5.2</c:v>
                </c:pt>
                <c:pt idx="120">
                  <c:v>5.2</c:v>
                </c:pt>
                <c:pt idx="121">
                  <c:v>5.7</c:v>
                </c:pt>
                <c:pt idx="122">
                  <c:v>6.3</c:v>
                </c:pt>
                <c:pt idx="123">
                  <c:v>6.7</c:v>
                </c:pt>
                <c:pt idx="124">
                  <c:v>7.3</c:v>
                </c:pt>
                <c:pt idx="125">
                  <c:v>7.5</c:v>
                </c:pt>
                <c:pt idx="126">
                  <c:v>7.4</c:v>
                </c:pt>
                <c:pt idx="127">
                  <c:v>7.6</c:v>
                </c:pt>
                <c:pt idx="128">
                  <c:v>7.5</c:v>
                </c:pt>
                <c:pt idx="129">
                  <c:v>7.1</c:v>
                </c:pt>
                <c:pt idx="130">
                  <c:v>6.7</c:v>
                </c:pt>
                <c:pt idx="131">
                  <c:v>6.3</c:v>
                </c:pt>
                <c:pt idx="132">
                  <c:v>6.2</c:v>
                </c:pt>
                <c:pt idx="133">
                  <c:v>5.9</c:v>
                </c:pt>
                <c:pt idx="134">
                  <c:v>5.8</c:v>
                </c:pt>
                <c:pt idx="135">
                  <c:v>5.3</c:v>
                </c:pt>
                <c:pt idx="136">
                  <c:v>4.8</c:v>
                </c:pt>
                <c:pt idx="137">
                  <c:v>4.8</c:v>
                </c:pt>
                <c:pt idx="138">
                  <c:v>4.7</c:v>
                </c:pt>
                <c:pt idx="139">
                  <c:v>4.9000000000000004</c:v>
                </c:pt>
                <c:pt idx="140">
                  <c:v>5.0999999999999996</c:v>
                </c:pt>
                <c:pt idx="141">
                  <c:v>5.5</c:v>
                </c:pt>
                <c:pt idx="142">
                  <c:v>5.5</c:v>
                </c:pt>
                <c:pt idx="143">
                  <c:v>5.9</c:v>
                </c:pt>
                <c:pt idx="144">
                  <c:v>5</c:v>
                </c:pt>
                <c:pt idx="145">
                  <c:v>5</c:v>
                </c:pt>
                <c:pt idx="146">
                  <c:v>4.5999999999999996</c:v>
                </c:pt>
                <c:pt idx="147">
                  <c:v>5.3</c:v>
                </c:pt>
                <c:pt idx="148">
                  <c:v>5</c:v>
                </c:pt>
                <c:pt idx="149">
                  <c:v>5</c:v>
                </c:pt>
                <c:pt idx="150">
                  <c:v>5.2</c:v>
                </c:pt>
                <c:pt idx="151">
                  <c:v>5.3</c:v>
                </c:pt>
                <c:pt idx="152">
                  <c:v>5.6</c:v>
                </c:pt>
                <c:pt idx="153">
                  <c:v>5.5</c:v>
                </c:pt>
                <c:pt idx="154">
                  <c:v>5.9</c:v>
                </c:pt>
                <c:pt idx="155">
                  <c:v>6</c:v>
                </c:pt>
                <c:pt idx="156">
                  <c:v>6.3</c:v>
                </c:pt>
                <c:pt idx="157">
                  <c:v>6.5</c:v>
                </c:pt>
                <c:pt idx="158">
                  <c:v>6.6</c:v>
                </c:pt>
                <c:pt idx="159">
                  <c:v>6.6</c:v>
                </c:pt>
                <c:pt idx="160">
                  <c:v>6.8</c:v>
                </c:pt>
                <c:pt idx="161">
                  <c:v>6.9</c:v>
                </c:pt>
                <c:pt idx="162">
                  <c:v>6.5</c:v>
                </c:pt>
                <c:pt idx="163">
                  <c:v>6.6</c:v>
                </c:pt>
                <c:pt idx="164">
                  <c:v>6.4</c:v>
                </c:pt>
                <c:pt idx="165">
                  <c:v>6.3</c:v>
                </c:pt>
                <c:pt idx="166">
                  <c:v>6.1</c:v>
                </c:pt>
                <c:pt idx="167">
                  <c:v>5.8</c:v>
                </c:pt>
                <c:pt idx="168">
                  <c:v>5.7</c:v>
                </c:pt>
                <c:pt idx="169">
                  <c:v>5.4</c:v>
                </c:pt>
                <c:pt idx="170">
                  <c:v>5.2</c:v>
                </c:pt>
                <c:pt idx="171">
                  <c:v>5.2</c:v>
                </c:pt>
                <c:pt idx="172">
                  <c:v>5.2</c:v>
                </c:pt>
                <c:pt idx="173">
                  <c:v>5.2</c:v>
                </c:pt>
                <c:pt idx="174">
                  <c:v>5.3</c:v>
                </c:pt>
                <c:pt idx="175">
                  <c:v>5.0999999999999996</c:v>
                </c:pt>
                <c:pt idx="176">
                  <c:v>5.3</c:v>
                </c:pt>
                <c:pt idx="177">
                  <c:v>5.2</c:v>
                </c:pt>
                <c:pt idx="178">
                  <c:v>5</c:v>
                </c:pt>
                <c:pt idx="179">
                  <c:v>5.3</c:v>
                </c:pt>
                <c:pt idx="180">
                  <c:v>5.0999999999999996</c:v>
                </c:pt>
                <c:pt idx="181">
                  <c:v>5.4</c:v>
                </c:pt>
                <c:pt idx="182">
                  <c:v>5.7</c:v>
                </c:pt>
                <c:pt idx="183">
                  <c:v>5.4</c:v>
                </c:pt>
                <c:pt idx="184">
                  <c:v>5.4</c:v>
                </c:pt>
                <c:pt idx="185">
                  <c:v>5.4</c:v>
                </c:pt>
                <c:pt idx="186">
                  <c:v>5.0999999999999996</c:v>
                </c:pt>
                <c:pt idx="187">
                  <c:v>5.0999999999999996</c:v>
                </c:pt>
                <c:pt idx="188">
                  <c:v>4.9000000000000004</c:v>
                </c:pt>
                <c:pt idx="189">
                  <c:v>4.9000000000000004</c:v>
                </c:pt>
                <c:pt idx="190">
                  <c:v>5</c:v>
                </c:pt>
                <c:pt idx="191">
                  <c:v>5.3</c:v>
                </c:pt>
                <c:pt idx="192">
                  <c:v>5</c:v>
                </c:pt>
                <c:pt idx="193">
                  <c:v>5</c:v>
                </c:pt>
                <c:pt idx="194">
                  <c:v>4.8</c:v>
                </c:pt>
                <c:pt idx="195">
                  <c:v>4.8</c:v>
                </c:pt>
                <c:pt idx="196">
                  <c:v>4.8</c:v>
                </c:pt>
                <c:pt idx="197">
                  <c:v>4.5</c:v>
                </c:pt>
                <c:pt idx="198">
                  <c:v>4.7</c:v>
                </c:pt>
                <c:pt idx="199">
                  <c:v>4.4000000000000004</c:v>
                </c:pt>
                <c:pt idx="200">
                  <c:v>4.5</c:v>
                </c:pt>
                <c:pt idx="201">
                  <c:v>4.5999999999999996</c:v>
                </c:pt>
                <c:pt idx="202">
                  <c:v>4.5</c:v>
                </c:pt>
                <c:pt idx="203">
                  <c:v>4.3</c:v>
                </c:pt>
                <c:pt idx="204">
                  <c:v>4.3</c:v>
                </c:pt>
                <c:pt idx="205">
                  <c:v>4.3</c:v>
                </c:pt>
                <c:pt idx="206">
                  <c:v>4.3</c:v>
                </c:pt>
                <c:pt idx="207">
                  <c:v>4.0999999999999996</c:v>
                </c:pt>
                <c:pt idx="208">
                  <c:v>4.3</c:v>
                </c:pt>
                <c:pt idx="209">
                  <c:v>4.0999999999999996</c:v>
                </c:pt>
                <c:pt idx="210">
                  <c:v>3.9</c:v>
                </c:pt>
                <c:pt idx="211">
                  <c:v>3.9</c:v>
                </c:pt>
                <c:pt idx="212">
                  <c:v>3.9</c:v>
                </c:pt>
                <c:pt idx="213">
                  <c:v>3.7</c:v>
                </c:pt>
                <c:pt idx="214">
                  <c:v>3.7</c:v>
                </c:pt>
                <c:pt idx="215">
                  <c:v>3.4</c:v>
                </c:pt>
                <c:pt idx="216">
                  <c:v>3.4</c:v>
                </c:pt>
                <c:pt idx="217">
                  <c:v>3.4</c:v>
                </c:pt>
                <c:pt idx="218">
                  <c:v>3.3</c:v>
                </c:pt>
                <c:pt idx="219">
                  <c:v>3.3</c:v>
                </c:pt>
                <c:pt idx="220">
                  <c:v>3.1</c:v>
                </c:pt>
                <c:pt idx="221">
                  <c:v>3.2</c:v>
                </c:pt>
                <c:pt idx="222">
                  <c:v>3.2</c:v>
                </c:pt>
                <c:pt idx="223">
                  <c:v>3.2</c:v>
                </c:pt>
                <c:pt idx="224">
                  <c:v>3.2</c:v>
                </c:pt>
                <c:pt idx="225">
                  <c:v>3.1</c:v>
                </c:pt>
                <c:pt idx="226">
                  <c:v>3</c:v>
                </c:pt>
                <c:pt idx="227">
                  <c:v>3.1</c:v>
                </c:pt>
                <c:pt idx="228">
                  <c:v>3.2</c:v>
                </c:pt>
                <c:pt idx="229">
                  <c:v>3</c:v>
                </c:pt>
                <c:pt idx="230">
                  <c:v>3</c:v>
                </c:pt>
                <c:pt idx="231">
                  <c:v>3</c:v>
                </c:pt>
                <c:pt idx="232">
                  <c:v>3.1</c:v>
                </c:pt>
                <c:pt idx="233">
                  <c:v>3.2</c:v>
                </c:pt>
                <c:pt idx="234">
                  <c:v>3.2</c:v>
                </c:pt>
                <c:pt idx="235">
                  <c:v>3</c:v>
                </c:pt>
                <c:pt idx="236">
                  <c:v>3.1</c:v>
                </c:pt>
                <c:pt idx="237">
                  <c:v>2.9</c:v>
                </c:pt>
                <c:pt idx="238">
                  <c:v>3.1</c:v>
                </c:pt>
                <c:pt idx="239">
                  <c:v>3.1</c:v>
                </c:pt>
                <c:pt idx="240">
                  <c:v>3.1</c:v>
                </c:pt>
                <c:pt idx="241">
                  <c:v>3</c:v>
                </c:pt>
                <c:pt idx="242">
                  <c:v>3.1</c:v>
                </c:pt>
                <c:pt idx="243">
                  <c:v>3</c:v>
                </c:pt>
                <c:pt idx="244">
                  <c:v>2.8</c:v>
                </c:pt>
                <c:pt idx="245">
                  <c:v>2.7</c:v>
                </c:pt>
                <c:pt idx="246">
                  <c:v>3</c:v>
                </c:pt>
                <c:pt idx="247">
                  <c:v>2.9</c:v>
                </c:pt>
                <c:pt idx="248">
                  <c:v>2.8</c:v>
                </c:pt>
                <c:pt idx="249">
                  <c:v>2.7</c:v>
                </c:pt>
                <c:pt idx="250">
                  <c:v>2.7</c:v>
                </c:pt>
                <c:pt idx="251">
                  <c:v>2.7</c:v>
                </c:pt>
                <c:pt idx="252">
                  <c:v>2.7</c:v>
                </c:pt>
                <c:pt idx="253">
                  <c:v>2.7</c:v>
                </c:pt>
                <c:pt idx="254">
                  <c:v>2.6</c:v>
                </c:pt>
                <c:pt idx="255">
                  <c:v>2.7</c:v>
                </c:pt>
                <c:pt idx="256">
                  <c:v>2.6</c:v>
                </c:pt>
                <c:pt idx="257">
                  <c:v>2.6</c:v>
                </c:pt>
                <c:pt idx="258">
                  <c:v>2.7</c:v>
                </c:pt>
                <c:pt idx="259">
                  <c:v>2.9</c:v>
                </c:pt>
                <c:pt idx="260">
                  <c:v>2.8</c:v>
                </c:pt>
                <c:pt idx="261">
                  <c:v>3.1</c:v>
                </c:pt>
                <c:pt idx="262">
                  <c:v>3</c:v>
                </c:pt>
                <c:pt idx="263">
                  <c:v>2.9</c:v>
                </c:pt>
                <c:pt idx="264">
                  <c:v>3</c:v>
                </c:pt>
                <c:pt idx="265">
                  <c:v>3.3</c:v>
                </c:pt>
                <c:pt idx="266">
                  <c:v>3.6</c:v>
                </c:pt>
                <c:pt idx="267">
                  <c:v>3.7</c:v>
                </c:pt>
                <c:pt idx="268">
                  <c:v>4</c:v>
                </c:pt>
                <c:pt idx="269">
                  <c:v>4.2</c:v>
                </c:pt>
                <c:pt idx="270">
                  <c:v>4.5</c:v>
                </c:pt>
                <c:pt idx="271">
                  <c:v>4.5999999999999996</c:v>
                </c:pt>
                <c:pt idx="272">
                  <c:v>4.5999999999999996</c:v>
                </c:pt>
                <c:pt idx="273">
                  <c:v>4.8</c:v>
                </c:pt>
                <c:pt idx="274">
                  <c:v>5</c:v>
                </c:pt>
                <c:pt idx="275">
                  <c:v>5.2</c:v>
                </c:pt>
                <c:pt idx="276">
                  <c:v>5.6</c:v>
                </c:pt>
                <c:pt idx="277">
                  <c:v>5.4</c:v>
                </c:pt>
                <c:pt idx="278">
                  <c:v>5.3</c:v>
                </c:pt>
                <c:pt idx="279">
                  <c:v>5.3</c:v>
                </c:pt>
                <c:pt idx="280">
                  <c:v>5.2</c:v>
                </c:pt>
                <c:pt idx="281">
                  <c:v>5.3</c:v>
                </c:pt>
                <c:pt idx="282">
                  <c:v>5.3</c:v>
                </c:pt>
                <c:pt idx="283">
                  <c:v>5.4</c:v>
                </c:pt>
                <c:pt idx="284">
                  <c:v>5.5</c:v>
                </c:pt>
                <c:pt idx="285">
                  <c:v>5.4</c:v>
                </c:pt>
                <c:pt idx="286">
                  <c:v>5.2</c:v>
                </c:pt>
                <c:pt idx="287">
                  <c:v>5.4</c:v>
                </c:pt>
                <c:pt idx="288">
                  <c:v>5.5</c:v>
                </c:pt>
                <c:pt idx="289">
                  <c:v>5.3</c:v>
                </c:pt>
                <c:pt idx="290">
                  <c:v>5.3</c:v>
                </c:pt>
                <c:pt idx="291">
                  <c:v>5.3</c:v>
                </c:pt>
                <c:pt idx="292">
                  <c:v>5.0999999999999996</c:v>
                </c:pt>
                <c:pt idx="293">
                  <c:v>5.0999999999999996</c:v>
                </c:pt>
                <c:pt idx="294">
                  <c:v>4.9000000000000004</c:v>
                </c:pt>
                <c:pt idx="295">
                  <c:v>4.8</c:v>
                </c:pt>
                <c:pt idx="296">
                  <c:v>4.9000000000000004</c:v>
                </c:pt>
                <c:pt idx="297">
                  <c:v>4.8</c:v>
                </c:pt>
                <c:pt idx="298">
                  <c:v>4.8</c:v>
                </c:pt>
                <c:pt idx="299">
                  <c:v>4.5999999999999996</c:v>
                </c:pt>
                <c:pt idx="300">
                  <c:v>4.5</c:v>
                </c:pt>
                <c:pt idx="301">
                  <c:v>4.2</c:v>
                </c:pt>
                <c:pt idx="302">
                  <c:v>4.3</c:v>
                </c:pt>
                <c:pt idx="303">
                  <c:v>4.3</c:v>
                </c:pt>
                <c:pt idx="304">
                  <c:v>4.3</c:v>
                </c:pt>
                <c:pt idx="305">
                  <c:v>4.3</c:v>
                </c:pt>
                <c:pt idx="306">
                  <c:v>4.0999999999999996</c:v>
                </c:pt>
                <c:pt idx="307">
                  <c:v>4</c:v>
                </c:pt>
                <c:pt idx="308">
                  <c:v>4.0999999999999996</c:v>
                </c:pt>
                <c:pt idx="309">
                  <c:v>4</c:v>
                </c:pt>
                <c:pt idx="310">
                  <c:v>3.9</c:v>
                </c:pt>
                <c:pt idx="311">
                  <c:v>4.0999999999999996</c:v>
                </c:pt>
                <c:pt idx="312">
                  <c:v>4.2</c:v>
                </c:pt>
                <c:pt idx="313">
                  <c:v>4.4000000000000004</c:v>
                </c:pt>
                <c:pt idx="314">
                  <c:v>4.5</c:v>
                </c:pt>
                <c:pt idx="315">
                  <c:v>4.4000000000000004</c:v>
                </c:pt>
                <c:pt idx="316">
                  <c:v>4.5</c:v>
                </c:pt>
                <c:pt idx="317">
                  <c:v>4.4000000000000004</c:v>
                </c:pt>
                <c:pt idx="318">
                  <c:v>4.5999999999999996</c:v>
                </c:pt>
                <c:pt idx="319">
                  <c:v>4.7</c:v>
                </c:pt>
                <c:pt idx="320">
                  <c:v>4.8</c:v>
                </c:pt>
                <c:pt idx="321">
                  <c:v>5</c:v>
                </c:pt>
                <c:pt idx="322">
                  <c:v>5.3</c:v>
                </c:pt>
                <c:pt idx="323">
                  <c:v>5.8</c:v>
                </c:pt>
                <c:pt idx="324">
                  <c:v>6.4</c:v>
                </c:pt>
                <c:pt idx="325">
                  <c:v>7.3</c:v>
                </c:pt>
                <c:pt idx="326">
                  <c:v>7.4</c:v>
                </c:pt>
                <c:pt idx="327">
                  <c:v>7.9</c:v>
                </c:pt>
                <c:pt idx="328">
                  <c:v>8.2000000000000011</c:v>
                </c:pt>
                <c:pt idx="329">
                  <c:v>8.4</c:v>
                </c:pt>
                <c:pt idx="330">
                  <c:v>8.3000000000000007</c:v>
                </c:pt>
                <c:pt idx="331">
                  <c:v>8.2000000000000011</c:v>
                </c:pt>
                <c:pt idx="332">
                  <c:v>7.9</c:v>
                </c:pt>
                <c:pt idx="333">
                  <c:v>8</c:v>
                </c:pt>
                <c:pt idx="334">
                  <c:v>7.8</c:v>
                </c:pt>
                <c:pt idx="335">
                  <c:v>7.8</c:v>
                </c:pt>
                <c:pt idx="336">
                  <c:v>7.6</c:v>
                </c:pt>
                <c:pt idx="337">
                  <c:v>7.3</c:v>
                </c:pt>
                <c:pt idx="338">
                  <c:v>7</c:v>
                </c:pt>
                <c:pt idx="339">
                  <c:v>6.9</c:v>
                </c:pt>
                <c:pt idx="340">
                  <c:v>7</c:v>
                </c:pt>
                <c:pt idx="341">
                  <c:v>6.9</c:v>
                </c:pt>
                <c:pt idx="342">
                  <c:v>7.1</c:v>
                </c:pt>
                <c:pt idx="343">
                  <c:v>7.1</c:v>
                </c:pt>
                <c:pt idx="344">
                  <c:v>6.9</c:v>
                </c:pt>
                <c:pt idx="345">
                  <c:v>7</c:v>
                </c:pt>
                <c:pt idx="346">
                  <c:v>7</c:v>
                </c:pt>
                <c:pt idx="347">
                  <c:v>7.3</c:v>
                </c:pt>
                <c:pt idx="348">
                  <c:v>7.2</c:v>
                </c:pt>
                <c:pt idx="349">
                  <c:v>6.8</c:v>
                </c:pt>
                <c:pt idx="350">
                  <c:v>7</c:v>
                </c:pt>
                <c:pt idx="351">
                  <c:v>6.6</c:v>
                </c:pt>
                <c:pt idx="352">
                  <c:v>6.4</c:v>
                </c:pt>
                <c:pt idx="353">
                  <c:v>6.4</c:v>
                </c:pt>
                <c:pt idx="354">
                  <c:v>6.4</c:v>
                </c:pt>
                <c:pt idx="355">
                  <c:v>6.1</c:v>
                </c:pt>
                <c:pt idx="356">
                  <c:v>6.2</c:v>
                </c:pt>
                <c:pt idx="357">
                  <c:v>5.8</c:v>
                </c:pt>
                <c:pt idx="358">
                  <c:v>6</c:v>
                </c:pt>
                <c:pt idx="359">
                  <c:v>5.8</c:v>
                </c:pt>
                <c:pt idx="360">
                  <c:v>5.5</c:v>
                </c:pt>
                <c:pt idx="361">
                  <c:v>5.6</c:v>
                </c:pt>
                <c:pt idx="362">
                  <c:v>5.6</c:v>
                </c:pt>
                <c:pt idx="363">
                  <c:v>5.6</c:v>
                </c:pt>
                <c:pt idx="364">
                  <c:v>5.3</c:v>
                </c:pt>
                <c:pt idx="365">
                  <c:v>5.2</c:v>
                </c:pt>
                <c:pt idx="366">
                  <c:v>4.9000000000000004</c:v>
                </c:pt>
                <c:pt idx="367">
                  <c:v>5.0999999999999996</c:v>
                </c:pt>
                <c:pt idx="368">
                  <c:v>5</c:v>
                </c:pt>
                <c:pt idx="369">
                  <c:v>5.0999999999999996</c:v>
                </c:pt>
                <c:pt idx="370">
                  <c:v>5.0999999999999996</c:v>
                </c:pt>
                <c:pt idx="371">
                  <c:v>5</c:v>
                </c:pt>
                <c:pt idx="372">
                  <c:v>5.3</c:v>
                </c:pt>
                <c:pt idx="373">
                  <c:v>5.0999999999999996</c:v>
                </c:pt>
                <c:pt idx="374">
                  <c:v>5.2</c:v>
                </c:pt>
                <c:pt idx="375">
                  <c:v>5.0999999999999996</c:v>
                </c:pt>
                <c:pt idx="376">
                  <c:v>5.0999999999999996</c:v>
                </c:pt>
                <c:pt idx="377">
                  <c:v>4.8</c:v>
                </c:pt>
                <c:pt idx="378">
                  <c:v>4.9000000000000004</c:v>
                </c:pt>
                <c:pt idx="379">
                  <c:v>5.0999999999999996</c:v>
                </c:pt>
                <c:pt idx="380">
                  <c:v>5.2</c:v>
                </c:pt>
                <c:pt idx="381">
                  <c:v>5.2</c:v>
                </c:pt>
                <c:pt idx="382">
                  <c:v>5.3</c:v>
                </c:pt>
                <c:pt idx="383">
                  <c:v>5.3</c:v>
                </c:pt>
                <c:pt idx="384">
                  <c:v>5.3</c:v>
                </c:pt>
                <c:pt idx="385">
                  <c:v>5.8</c:v>
                </c:pt>
                <c:pt idx="386">
                  <c:v>5.8</c:v>
                </c:pt>
                <c:pt idx="387">
                  <c:v>5.9</c:v>
                </c:pt>
                <c:pt idx="388">
                  <c:v>6.7</c:v>
                </c:pt>
                <c:pt idx="389">
                  <c:v>7.4</c:v>
                </c:pt>
                <c:pt idx="390">
                  <c:v>7.6</c:v>
                </c:pt>
                <c:pt idx="391">
                  <c:v>7.8</c:v>
                </c:pt>
                <c:pt idx="392">
                  <c:v>7.7</c:v>
                </c:pt>
                <c:pt idx="393">
                  <c:v>7.6</c:v>
                </c:pt>
                <c:pt idx="394">
                  <c:v>7.4</c:v>
                </c:pt>
                <c:pt idx="395">
                  <c:v>7.3</c:v>
                </c:pt>
                <c:pt idx="396">
                  <c:v>6.9</c:v>
                </c:pt>
                <c:pt idx="397">
                  <c:v>7.2</c:v>
                </c:pt>
                <c:pt idx="398">
                  <c:v>7.3</c:v>
                </c:pt>
                <c:pt idx="399">
                  <c:v>7.1</c:v>
                </c:pt>
                <c:pt idx="400">
                  <c:v>6.9</c:v>
                </c:pt>
                <c:pt idx="401">
                  <c:v>7.3</c:v>
                </c:pt>
                <c:pt idx="402">
                  <c:v>7.3</c:v>
                </c:pt>
                <c:pt idx="403">
                  <c:v>6.9</c:v>
                </c:pt>
                <c:pt idx="404">
                  <c:v>7.2</c:v>
                </c:pt>
                <c:pt idx="405">
                  <c:v>7.2</c:v>
                </c:pt>
                <c:pt idx="406">
                  <c:v>7.7</c:v>
                </c:pt>
                <c:pt idx="407">
                  <c:v>8.1</c:v>
                </c:pt>
                <c:pt idx="408">
                  <c:v>8.5</c:v>
                </c:pt>
                <c:pt idx="409">
                  <c:v>8.7000000000000011</c:v>
                </c:pt>
                <c:pt idx="410">
                  <c:v>8.8000000000000007</c:v>
                </c:pt>
                <c:pt idx="411">
                  <c:v>9.1</c:v>
                </c:pt>
                <c:pt idx="412">
                  <c:v>9.4</c:v>
                </c:pt>
                <c:pt idx="413">
                  <c:v>9.4</c:v>
                </c:pt>
                <c:pt idx="414">
                  <c:v>9.8000000000000007</c:v>
                </c:pt>
                <c:pt idx="415">
                  <c:v>10</c:v>
                </c:pt>
                <c:pt idx="416">
                  <c:v>10.200000000000001</c:v>
                </c:pt>
                <c:pt idx="417">
                  <c:v>10.6</c:v>
                </c:pt>
                <c:pt idx="418">
                  <c:v>10.9</c:v>
                </c:pt>
                <c:pt idx="419">
                  <c:v>11.1</c:v>
                </c:pt>
                <c:pt idx="420">
                  <c:v>11.2</c:v>
                </c:pt>
                <c:pt idx="421">
                  <c:v>10.7</c:v>
                </c:pt>
                <c:pt idx="422">
                  <c:v>10.9</c:v>
                </c:pt>
                <c:pt idx="423">
                  <c:v>10.7</c:v>
                </c:pt>
                <c:pt idx="424">
                  <c:v>10.7</c:v>
                </c:pt>
                <c:pt idx="425">
                  <c:v>10.5</c:v>
                </c:pt>
                <c:pt idx="426">
                  <c:v>10.1</c:v>
                </c:pt>
                <c:pt idx="427">
                  <c:v>9.8000000000000007</c:v>
                </c:pt>
                <c:pt idx="428">
                  <c:v>9.8000000000000007</c:v>
                </c:pt>
                <c:pt idx="429">
                  <c:v>9.5</c:v>
                </c:pt>
                <c:pt idx="430">
                  <c:v>9.1</c:v>
                </c:pt>
                <c:pt idx="431">
                  <c:v>8.6</c:v>
                </c:pt>
                <c:pt idx="432">
                  <c:v>8.3000000000000007</c:v>
                </c:pt>
                <c:pt idx="433">
                  <c:v>8.1</c:v>
                </c:pt>
                <c:pt idx="434">
                  <c:v>7.8</c:v>
                </c:pt>
                <c:pt idx="435">
                  <c:v>7.7</c:v>
                </c:pt>
                <c:pt idx="436">
                  <c:v>7.7</c:v>
                </c:pt>
                <c:pt idx="437">
                  <c:v>7.3</c:v>
                </c:pt>
                <c:pt idx="438">
                  <c:v>7.1</c:v>
                </c:pt>
                <c:pt idx="439">
                  <c:v>7.4</c:v>
                </c:pt>
                <c:pt idx="440">
                  <c:v>7.3</c:v>
                </c:pt>
                <c:pt idx="441">
                  <c:v>7.3</c:v>
                </c:pt>
                <c:pt idx="442">
                  <c:v>7.1</c:v>
                </c:pt>
                <c:pt idx="443">
                  <c:v>7</c:v>
                </c:pt>
                <c:pt idx="444">
                  <c:v>7.2</c:v>
                </c:pt>
                <c:pt idx="445">
                  <c:v>7.1</c:v>
                </c:pt>
                <c:pt idx="446">
                  <c:v>7.1</c:v>
                </c:pt>
                <c:pt idx="447">
                  <c:v>7</c:v>
                </c:pt>
                <c:pt idx="448">
                  <c:v>7.1</c:v>
                </c:pt>
                <c:pt idx="449">
                  <c:v>6.9</c:v>
                </c:pt>
                <c:pt idx="450">
                  <c:v>7.2</c:v>
                </c:pt>
                <c:pt idx="451">
                  <c:v>7.2</c:v>
                </c:pt>
                <c:pt idx="452">
                  <c:v>6.9</c:v>
                </c:pt>
                <c:pt idx="453">
                  <c:v>6.9</c:v>
                </c:pt>
                <c:pt idx="454">
                  <c:v>7.1</c:v>
                </c:pt>
                <c:pt idx="455">
                  <c:v>6.9</c:v>
                </c:pt>
                <c:pt idx="456">
                  <c:v>6.8</c:v>
                </c:pt>
                <c:pt idx="457">
                  <c:v>6.5</c:v>
                </c:pt>
                <c:pt idx="458">
                  <c:v>7</c:v>
                </c:pt>
                <c:pt idx="459">
                  <c:v>7</c:v>
                </c:pt>
                <c:pt idx="460">
                  <c:v>6.9</c:v>
                </c:pt>
                <c:pt idx="461">
                  <c:v>7.1</c:v>
                </c:pt>
                <c:pt idx="462">
                  <c:v>7.1</c:v>
                </c:pt>
                <c:pt idx="463">
                  <c:v>7.1</c:v>
                </c:pt>
                <c:pt idx="464">
                  <c:v>6.9</c:v>
                </c:pt>
                <c:pt idx="465">
                  <c:v>7.1</c:v>
                </c:pt>
                <c:pt idx="466">
                  <c:v>7</c:v>
                </c:pt>
                <c:pt idx="467">
                  <c:v>6.9</c:v>
                </c:pt>
                <c:pt idx="468">
                  <c:v>6.7</c:v>
                </c:pt>
                <c:pt idx="469">
                  <c:v>6.7</c:v>
                </c:pt>
                <c:pt idx="470">
                  <c:v>6.6</c:v>
                </c:pt>
                <c:pt idx="471">
                  <c:v>6.5</c:v>
                </c:pt>
                <c:pt idx="472">
                  <c:v>6.3</c:v>
                </c:pt>
                <c:pt idx="473">
                  <c:v>6.4</c:v>
                </c:pt>
                <c:pt idx="474">
                  <c:v>6.3</c:v>
                </c:pt>
                <c:pt idx="475">
                  <c:v>6.1</c:v>
                </c:pt>
                <c:pt idx="476">
                  <c:v>6.1</c:v>
                </c:pt>
                <c:pt idx="477">
                  <c:v>5.8</c:v>
                </c:pt>
                <c:pt idx="478">
                  <c:v>5.9</c:v>
                </c:pt>
                <c:pt idx="479">
                  <c:v>5.7</c:v>
                </c:pt>
                <c:pt idx="480">
                  <c:v>5.7</c:v>
                </c:pt>
                <c:pt idx="481">
                  <c:v>5.7</c:v>
                </c:pt>
                <c:pt idx="482">
                  <c:v>5.6</c:v>
                </c:pt>
                <c:pt idx="483">
                  <c:v>5.7</c:v>
                </c:pt>
                <c:pt idx="484">
                  <c:v>5.3</c:v>
                </c:pt>
                <c:pt idx="485">
                  <c:v>5.6</c:v>
                </c:pt>
                <c:pt idx="486">
                  <c:v>5.4</c:v>
                </c:pt>
                <c:pt idx="487">
                  <c:v>5.3</c:v>
                </c:pt>
                <c:pt idx="488">
                  <c:v>5.6</c:v>
                </c:pt>
                <c:pt idx="489">
                  <c:v>5.3</c:v>
                </c:pt>
                <c:pt idx="490">
                  <c:v>5.4</c:v>
                </c:pt>
                <c:pt idx="491">
                  <c:v>5.3</c:v>
                </c:pt>
                <c:pt idx="492">
                  <c:v>5.3</c:v>
                </c:pt>
                <c:pt idx="493">
                  <c:v>5.4</c:v>
                </c:pt>
                <c:pt idx="494">
                  <c:v>5.2</c:v>
                </c:pt>
                <c:pt idx="495">
                  <c:v>4.9000000000000004</c:v>
                </c:pt>
                <c:pt idx="496">
                  <c:v>5.2</c:v>
                </c:pt>
                <c:pt idx="497">
                  <c:v>5</c:v>
                </c:pt>
                <c:pt idx="498">
                  <c:v>5.0999999999999996</c:v>
                </c:pt>
                <c:pt idx="499">
                  <c:v>5</c:v>
                </c:pt>
                <c:pt idx="500">
                  <c:v>5.0999999999999996</c:v>
                </c:pt>
                <c:pt idx="501">
                  <c:v>5.4</c:v>
                </c:pt>
                <c:pt idx="502">
                  <c:v>5.3</c:v>
                </c:pt>
                <c:pt idx="503">
                  <c:v>5.4</c:v>
                </c:pt>
                <c:pt idx="504">
                  <c:v>5.3</c:v>
                </c:pt>
                <c:pt idx="505">
                  <c:v>5.4</c:v>
                </c:pt>
                <c:pt idx="506">
                  <c:v>5.2</c:v>
                </c:pt>
                <c:pt idx="507">
                  <c:v>5.2</c:v>
                </c:pt>
                <c:pt idx="508">
                  <c:v>5.4</c:v>
                </c:pt>
                <c:pt idx="509">
                  <c:v>5.3</c:v>
                </c:pt>
                <c:pt idx="510">
                  <c:v>5.3</c:v>
                </c:pt>
                <c:pt idx="511">
                  <c:v>5.6</c:v>
                </c:pt>
                <c:pt idx="512">
                  <c:v>5.8</c:v>
                </c:pt>
                <c:pt idx="513">
                  <c:v>5.9</c:v>
                </c:pt>
                <c:pt idx="514">
                  <c:v>6.1</c:v>
                </c:pt>
                <c:pt idx="515">
                  <c:v>6.4</c:v>
                </c:pt>
                <c:pt idx="516">
                  <c:v>6.5</c:v>
                </c:pt>
                <c:pt idx="517">
                  <c:v>6.5</c:v>
                </c:pt>
                <c:pt idx="518">
                  <c:v>6.9</c:v>
                </c:pt>
                <c:pt idx="519">
                  <c:v>7.2</c:v>
                </c:pt>
                <c:pt idx="520">
                  <c:v>7.1</c:v>
                </c:pt>
                <c:pt idx="521">
                  <c:v>7.2</c:v>
                </c:pt>
                <c:pt idx="522">
                  <c:v>7.2</c:v>
                </c:pt>
                <c:pt idx="523">
                  <c:v>7.2</c:v>
                </c:pt>
                <c:pt idx="524">
                  <c:v>7.2</c:v>
                </c:pt>
                <c:pt idx="525">
                  <c:v>7.3</c:v>
                </c:pt>
                <c:pt idx="526">
                  <c:v>7.3</c:v>
                </c:pt>
                <c:pt idx="527">
                  <c:v>7.4</c:v>
                </c:pt>
                <c:pt idx="528">
                  <c:v>7.6</c:v>
                </c:pt>
                <c:pt idx="529">
                  <c:v>7.8</c:v>
                </c:pt>
                <c:pt idx="530">
                  <c:v>7.9</c:v>
                </c:pt>
                <c:pt idx="531">
                  <c:v>7.9</c:v>
                </c:pt>
                <c:pt idx="532">
                  <c:v>7.7</c:v>
                </c:pt>
                <c:pt idx="533">
                  <c:v>8.1</c:v>
                </c:pt>
                <c:pt idx="534">
                  <c:v>8.3000000000000007</c:v>
                </c:pt>
                <c:pt idx="535">
                  <c:v>8</c:v>
                </c:pt>
                <c:pt idx="536">
                  <c:v>8</c:v>
                </c:pt>
                <c:pt idx="537">
                  <c:v>8</c:v>
                </c:pt>
                <c:pt idx="538">
                  <c:v>7.8</c:v>
                </c:pt>
                <c:pt idx="539">
                  <c:v>7.8</c:v>
                </c:pt>
                <c:pt idx="540">
                  <c:v>7.6</c:v>
                </c:pt>
                <c:pt idx="541">
                  <c:v>7.4</c:v>
                </c:pt>
                <c:pt idx="542">
                  <c:v>7.4</c:v>
                </c:pt>
                <c:pt idx="543">
                  <c:v>7.5</c:v>
                </c:pt>
                <c:pt idx="544">
                  <c:v>7.4</c:v>
                </c:pt>
                <c:pt idx="545">
                  <c:v>7.3</c:v>
                </c:pt>
                <c:pt idx="546">
                  <c:v>7.4</c:v>
                </c:pt>
                <c:pt idx="547">
                  <c:v>7.2</c:v>
                </c:pt>
                <c:pt idx="548">
                  <c:v>7.1</c:v>
                </c:pt>
                <c:pt idx="549">
                  <c:v>7</c:v>
                </c:pt>
                <c:pt idx="550">
                  <c:v>6.9</c:v>
                </c:pt>
                <c:pt idx="551">
                  <c:v>6.7</c:v>
                </c:pt>
                <c:pt idx="552">
                  <c:v>6.6</c:v>
                </c:pt>
                <c:pt idx="553">
                  <c:v>6.8</c:v>
                </c:pt>
                <c:pt idx="554">
                  <c:v>6.7</c:v>
                </c:pt>
                <c:pt idx="555">
                  <c:v>6.5</c:v>
                </c:pt>
                <c:pt idx="556">
                  <c:v>6.4</c:v>
                </c:pt>
                <c:pt idx="557">
                  <c:v>6.1</c:v>
                </c:pt>
                <c:pt idx="558">
                  <c:v>6.1</c:v>
                </c:pt>
                <c:pt idx="559">
                  <c:v>6.3</c:v>
                </c:pt>
                <c:pt idx="560">
                  <c:v>6.1</c:v>
                </c:pt>
                <c:pt idx="561">
                  <c:v>5.8</c:v>
                </c:pt>
                <c:pt idx="562">
                  <c:v>5.8</c:v>
                </c:pt>
                <c:pt idx="563">
                  <c:v>5.6</c:v>
                </c:pt>
                <c:pt idx="564">
                  <c:v>5.5</c:v>
                </c:pt>
                <c:pt idx="565">
                  <c:v>5.6</c:v>
                </c:pt>
                <c:pt idx="566">
                  <c:v>5.4</c:v>
                </c:pt>
                <c:pt idx="567">
                  <c:v>5.3</c:v>
                </c:pt>
                <c:pt idx="568">
                  <c:v>5.6</c:v>
                </c:pt>
                <c:pt idx="569">
                  <c:v>5.8</c:v>
                </c:pt>
                <c:pt idx="570">
                  <c:v>5.6</c:v>
                </c:pt>
                <c:pt idx="571">
                  <c:v>5.6</c:v>
                </c:pt>
                <c:pt idx="572">
                  <c:v>5.7</c:v>
                </c:pt>
                <c:pt idx="573">
                  <c:v>5.6</c:v>
                </c:pt>
                <c:pt idx="574">
                  <c:v>5.4</c:v>
                </c:pt>
                <c:pt idx="575">
                  <c:v>5.7</c:v>
                </c:pt>
                <c:pt idx="576">
                  <c:v>5.7</c:v>
                </c:pt>
                <c:pt idx="577">
                  <c:v>5.6</c:v>
                </c:pt>
                <c:pt idx="578">
                  <c:v>5.6</c:v>
                </c:pt>
                <c:pt idx="579">
                  <c:v>5.6</c:v>
                </c:pt>
                <c:pt idx="580">
                  <c:v>5.6</c:v>
                </c:pt>
                <c:pt idx="581">
                  <c:v>5.6</c:v>
                </c:pt>
                <c:pt idx="582">
                  <c:v>5.3</c:v>
                </c:pt>
                <c:pt idx="583">
                  <c:v>5.5</c:v>
                </c:pt>
                <c:pt idx="584">
                  <c:v>5</c:v>
                </c:pt>
                <c:pt idx="585">
                  <c:v>5.2</c:v>
                </c:pt>
                <c:pt idx="586">
                  <c:v>5.0999999999999996</c:v>
                </c:pt>
                <c:pt idx="587">
                  <c:v>5.3</c:v>
                </c:pt>
                <c:pt idx="588">
                  <c:v>5</c:v>
                </c:pt>
                <c:pt idx="589">
                  <c:v>5.3</c:v>
                </c:pt>
                <c:pt idx="590">
                  <c:v>5.0999999999999996</c:v>
                </c:pt>
                <c:pt idx="591">
                  <c:v>5.0999999999999996</c:v>
                </c:pt>
                <c:pt idx="592">
                  <c:v>5.0999999999999996</c:v>
                </c:pt>
                <c:pt idx="593">
                  <c:v>4.5999999999999996</c:v>
                </c:pt>
                <c:pt idx="594">
                  <c:v>5</c:v>
                </c:pt>
                <c:pt idx="595">
                  <c:v>4.8</c:v>
                </c:pt>
                <c:pt idx="596">
                  <c:v>4.8</c:v>
                </c:pt>
                <c:pt idx="597">
                  <c:v>4.7</c:v>
                </c:pt>
                <c:pt idx="598">
                  <c:v>4.7</c:v>
                </c:pt>
                <c:pt idx="599">
                  <c:v>4.5999999999999996</c:v>
                </c:pt>
                <c:pt idx="600">
                  <c:v>4.7</c:v>
                </c:pt>
                <c:pt idx="601">
                  <c:v>4.5</c:v>
                </c:pt>
                <c:pt idx="602">
                  <c:v>4.5</c:v>
                </c:pt>
                <c:pt idx="603">
                  <c:v>4.5999999999999996</c:v>
                </c:pt>
                <c:pt idx="604">
                  <c:v>4.0999999999999996</c:v>
                </c:pt>
                <c:pt idx="605">
                  <c:v>4.3</c:v>
                </c:pt>
                <c:pt idx="606">
                  <c:v>4.4000000000000004</c:v>
                </c:pt>
                <c:pt idx="607">
                  <c:v>4.5999999999999996</c:v>
                </c:pt>
                <c:pt idx="608">
                  <c:v>4.4000000000000004</c:v>
                </c:pt>
                <c:pt idx="609">
                  <c:v>4.5999999999999996</c:v>
                </c:pt>
                <c:pt idx="610">
                  <c:v>4.4000000000000004</c:v>
                </c:pt>
                <c:pt idx="611">
                  <c:v>4.3</c:v>
                </c:pt>
                <c:pt idx="612">
                  <c:v>4.3</c:v>
                </c:pt>
                <c:pt idx="613">
                  <c:v>4.2</c:v>
                </c:pt>
                <c:pt idx="614">
                  <c:v>4.3</c:v>
                </c:pt>
                <c:pt idx="615">
                  <c:v>3.9</c:v>
                </c:pt>
                <c:pt idx="616">
                  <c:v>4.0999999999999996</c:v>
                </c:pt>
                <c:pt idx="617">
                  <c:v>4.2</c:v>
                </c:pt>
                <c:pt idx="618">
                  <c:v>4.2</c:v>
                </c:pt>
                <c:pt idx="619">
                  <c:v>4.2</c:v>
                </c:pt>
                <c:pt idx="620">
                  <c:v>4.0999999999999996</c:v>
                </c:pt>
                <c:pt idx="621">
                  <c:v>4.0999999999999996</c:v>
                </c:pt>
                <c:pt idx="622">
                  <c:v>4.0999999999999996</c:v>
                </c:pt>
                <c:pt idx="623">
                  <c:v>4</c:v>
                </c:pt>
                <c:pt idx="624">
                  <c:v>4</c:v>
                </c:pt>
                <c:pt idx="625">
                  <c:v>3.9</c:v>
                </c:pt>
                <c:pt idx="626">
                  <c:v>4.0999999999999996</c:v>
                </c:pt>
                <c:pt idx="627">
                  <c:v>3.8</c:v>
                </c:pt>
                <c:pt idx="628">
                  <c:v>3.7</c:v>
                </c:pt>
                <c:pt idx="629">
                  <c:v>3.9</c:v>
                </c:pt>
                <c:pt idx="630">
                  <c:v>3.8</c:v>
                </c:pt>
                <c:pt idx="631">
                  <c:v>3.9</c:v>
                </c:pt>
                <c:pt idx="632">
                  <c:v>3.9</c:v>
                </c:pt>
                <c:pt idx="633">
                  <c:v>3.9</c:v>
                </c:pt>
                <c:pt idx="634">
                  <c:v>3.9</c:v>
                </c:pt>
                <c:pt idx="635">
                  <c:v>3.9</c:v>
                </c:pt>
                <c:pt idx="636">
                  <c:v>4</c:v>
                </c:pt>
                <c:pt idx="637">
                  <c:v>4.2</c:v>
                </c:pt>
                <c:pt idx="638">
                  <c:v>4.3</c:v>
                </c:pt>
                <c:pt idx="639">
                  <c:v>4.3</c:v>
                </c:pt>
                <c:pt idx="640">
                  <c:v>4.5</c:v>
                </c:pt>
                <c:pt idx="641">
                  <c:v>4.4000000000000004</c:v>
                </c:pt>
                <c:pt idx="642">
                  <c:v>4.5999999999999996</c:v>
                </c:pt>
                <c:pt idx="643">
                  <c:v>4.5999999999999996</c:v>
                </c:pt>
                <c:pt idx="644">
                  <c:v>5</c:v>
                </c:pt>
                <c:pt idx="645">
                  <c:v>4.9000000000000004</c:v>
                </c:pt>
                <c:pt idx="646">
                  <c:v>5.4</c:v>
                </c:pt>
                <c:pt idx="647">
                  <c:v>5.7</c:v>
                </c:pt>
                <c:pt idx="648">
                  <c:v>5.8</c:v>
                </c:pt>
                <c:pt idx="649">
                  <c:v>5.8</c:v>
                </c:pt>
                <c:pt idx="650">
                  <c:v>5.8</c:v>
                </c:pt>
                <c:pt idx="651">
                  <c:v>5.9</c:v>
                </c:pt>
                <c:pt idx="652">
                  <c:v>6</c:v>
                </c:pt>
                <c:pt idx="653">
                  <c:v>5.8</c:v>
                </c:pt>
                <c:pt idx="654">
                  <c:v>6</c:v>
                </c:pt>
                <c:pt idx="655">
                  <c:v>5.9</c:v>
                </c:pt>
                <c:pt idx="656">
                  <c:v>5.9</c:v>
                </c:pt>
                <c:pt idx="657">
                  <c:v>5.9</c:v>
                </c:pt>
                <c:pt idx="658">
                  <c:v>5.8</c:v>
                </c:pt>
                <c:pt idx="659">
                  <c:v>6.1</c:v>
                </c:pt>
                <c:pt idx="660">
                  <c:v>6.2</c:v>
                </c:pt>
                <c:pt idx="661">
                  <c:v>6.2</c:v>
                </c:pt>
                <c:pt idx="662">
                  <c:v>6.1</c:v>
                </c:pt>
                <c:pt idx="663">
                  <c:v>6.1</c:v>
                </c:pt>
                <c:pt idx="664">
                  <c:v>6.4</c:v>
                </c:pt>
                <c:pt idx="665">
                  <c:v>6.4</c:v>
                </c:pt>
                <c:pt idx="666">
                  <c:v>6.7</c:v>
                </c:pt>
                <c:pt idx="667">
                  <c:v>6.6</c:v>
                </c:pt>
                <c:pt idx="668">
                  <c:v>6.3</c:v>
                </c:pt>
                <c:pt idx="669">
                  <c:v>6.4</c:v>
                </c:pt>
                <c:pt idx="670">
                  <c:v>6.2</c:v>
                </c:pt>
                <c:pt idx="671">
                  <c:v>6.2</c:v>
                </c:pt>
                <c:pt idx="672">
                  <c:v>5.8</c:v>
                </c:pt>
                <c:pt idx="673">
                  <c:v>5.7</c:v>
                </c:pt>
                <c:pt idx="674">
                  <c:v>5.6</c:v>
                </c:pt>
                <c:pt idx="675">
                  <c:v>5.8</c:v>
                </c:pt>
                <c:pt idx="676">
                  <c:v>5.7</c:v>
                </c:pt>
                <c:pt idx="677">
                  <c:v>5.8</c:v>
                </c:pt>
                <c:pt idx="678">
                  <c:v>5.7</c:v>
                </c:pt>
                <c:pt idx="679">
                  <c:v>5.5</c:v>
                </c:pt>
                <c:pt idx="680">
                  <c:v>5.6</c:v>
                </c:pt>
                <c:pt idx="681">
                  <c:v>5.6</c:v>
                </c:pt>
                <c:pt idx="682">
                  <c:v>5.6</c:v>
                </c:pt>
                <c:pt idx="683">
                  <c:v>5.5</c:v>
                </c:pt>
                <c:pt idx="684">
                  <c:v>5.5</c:v>
                </c:pt>
                <c:pt idx="685">
                  <c:v>5.4</c:v>
                </c:pt>
                <c:pt idx="686">
                  <c:v>5.5</c:v>
                </c:pt>
                <c:pt idx="687">
                  <c:v>5.3</c:v>
                </c:pt>
                <c:pt idx="688">
                  <c:v>5.0999999999999996</c:v>
                </c:pt>
                <c:pt idx="689">
                  <c:v>5</c:v>
                </c:pt>
                <c:pt idx="690">
                  <c:v>5</c:v>
                </c:pt>
                <c:pt idx="691">
                  <c:v>4.9000000000000004</c:v>
                </c:pt>
                <c:pt idx="692">
                  <c:v>4.9000000000000004</c:v>
                </c:pt>
                <c:pt idx="693">
                  <c:v>5</c:v>
                </c:pt>
                <c:pt idx="694">
                  <c:v>4.8</c:v>
                </c:pt>
                <c:pt idx="695">
                  <c:v>5</c:v>
                </c:pt>
                <c:pt idx="696">
                  <c:v>4.8</c:v>
                </c:pt>
                <c:pt idx="697">
                  <c:v>4.5999999999999996</c:v>
                </c:pt>
                <c:pt idx="698">
                  <c:v>4.8</c:v>
                </c:pt>
                <c:pt idx="699">
                  <c:v>4.7</c:v>
                </c:pt>
                <c:pt idx="700">
                  <c:v>4.7</c:v>
                </c:pt>
                <c:pt idx="701">
                  <c:v>4.7</c:v>
                </c:pt>
                <c:pt idx="702">
                  <c:v>4.5999999999999996</c:v>
                </c:pt>
                <c:pt idx="703">
                  <c:v>4.7</c:v>
                </c:pt>
                <c:pt idx="704">
                  <c:v>4.7</c:v>
                </c:pt>
                <c:pt idx="705">
                  <c:v>4.4000000000000004</c:v>
                </c:pt>
                <c:pt idx="706">
                  <c:v>4.4000000000000004</c:v>
                </c:pt>
                <c:pt idx="707">
                  <c:v>4.5</c:v>
                </c:pt>
                <c:pt idx="708">
                  <c:v>4.5</c:v>
                </c:pt>
                <c:pt idx="709">
                  <c:v>4.7</c:v>
                </c:pt>
                <c:pt idx="710">
                  <c:v>4.7</c:v>
                </c:pt>
                <c:pt idx="711">
                  <c:v>4.5</c:v>
                </c:pt>
                <c:pt idx="712">
                  <c:v>4.5999999999999996</c:v>
                </c:pt>
                <c:pt idx="713">
                  <c:v>4.5999999999999996</c:v>
                </c:pt>
                <c:pt idx="714">
                  <c:v>4.7</c:v>
                </c:pt>
                <c:pt idx="715">
                  <c:v>4.7</c:v>
                </c:pt>
                <c:pt idx="716">
                  <c:v>4.7</c:v>
                </c:pt>
                <c:pt idx="717">
                  <c:v>4.8</c:v>
                </c:pt>
                <c:pt idx="718">
                  <c:v>4.8</c:v>
                </c:pt>
                <c:pt idx="719">
                  <c:v>4.8</c:v>
                </c:pt>
                <c:pt idx="720">
                  <c:v>5.0999999999999996</c:v>
                </c:pt>
                <c:pt idx="721">
                  <c:v>5.2</c:v>
                </c:pt>
                <c:pt idx="722">
                  <c:v>5</c:v>
                </c:pt>
                <c:pt idx="723">
                  <c:v>5.2</c:v>
                </c:pt>
                <c:pt idx="724">
                  <c:v>5.0999999999999996</c:v>
                </c:pt>
                <c:pt idx="725">
                  <c:v>5.6</c:v>
                </c:pt>
                <c:pt idx="726">
                  <c:v>5.8</c:v>
                </c:pt>
                <c:pt idx="727">
                  <c:v>6.2</c:v>
                </c:pt>
                <c:pt idx="728">
                  <c:v>6.3</c:v>
                </c:pt>
                <c:pt idx="729">
                  <c:v>6.7</c:v>
                </c:pt>
                <c:pt idx="730">
                  <c:v>7.1</c:v>
                </c:pt>
                <c:pt idx="731">
                  <c:v>7.4</c:v>
                </c:pt>
                <c:pt idx="732">
                  <c:v>8</c:v>
                </c:pt>
                <c:pt idx="733">
                  <c:v>8.6</c:v>
                </c:pt>
                <c:pt idx="734">
                  <c:v>9.2000000000000011</c:v>
                </c:pt>
                <c:pt idx="735">
                  <c:v>9.7000000000000011</c:v>
                </c:pt>
                <c:pt idx="736">
                  <c:v>10.1</c:v>
                </c:pt>
                <c:pt idx="737">
                  <c:v>10.6</c:v>
                </c:pt>
                <c:pt idx="738">
                  <c:v>10.6</c:v>
                </c:pt>
                <c:pt idx="739">
                  <c:v>10.5</c:v>
                </c:pt>
                <c:pt idx="740">
                  <c:v>10.8</c:v>
                </c:pt>
                <c:pt idx="741">
                  <c:v>10.9</c:v>
                </c:pt>
                <c:pt idx="742">
                  <c:v>11.2</c:v>
                </c:pt>
                <c:pt idx="743">
                  <c:v>11.1</c:v>
                </c:pt>
                <c:pt idx="744">
                  <c:v>10.9</c:v>
                </c:pt>
                <c:pt idx="745">
                  <c:v>10.9</c:v>
                </c:pt>
                <c:pt idx="746">
                  <c:v>10.8</c:v>
                </c:pt>
                <c:pt idx="747">
                  <c:v>10.9</c:v>
                </c:pt>
                <c:pt idx="748">
                  <c:v>10.8</c:v>
                </c:pt>
                <c:pt idx="749">
                  <c:v>10.4</c:v>
                </c:pt>
                <c:pt idx="750">
                  <c:v>10.4</c:v>
                </c:pt>
                <c:pt idx="751">
                  <c:v>10.4</c:v>
                </c:pt>
                <c:pt idx="752">
                  <c:v>10.4</c:v>
                </c:pt>
                <c:pt idx="753">
                  <c:v>10.3</c:v>
                </c:pt>
                <c:pt idx="754">
                  <c:v>10.200000000000001</c:v>
                </c:pt>
                <c:pt idx="755">
                  <c:v>10.5</c:v>
                </c:pt>
                <c:pt idx="756">
                  <c:v>10</c:v>
                </c:pt>
                <c:pt idx="757">
                  <c:v>9.6</c:v>
                </c:pt>
                <c:pt idx="758">
                  <c:v>9.4</c:v>
                </c:pt>
                <c:pt idx="759">
                  <c:v>9.4</c:v>
                </c:pt>
                <c:pt idx="760">
                  <c:v>9.5</c:v>
                </c:pt>
                <c:pt idx="761">
                  <c:v>9.5</c:v>
                </c:pt>
                <c:pt idx="762">
                  <c:v>9.7000000000000011</c:v>
                </c:pt>
                <c:pt idx="763">
                  <c:v>9.6</c:v>
                </c:pt>
                <c:pt idx="764">
                  <c:v>9.5</c:v>
                </c:pt>
                <c:pt idx="765">
                  <c:v>9.4</c:v>
                </c:pt>
                <c:pt idx="766">
                  <c:v>9.4</c:v>
                </c:pt>
                <c:pt idx="767">
                  <c:v>8.9</c:v>
                </c:pt>
                <c:pt idx="768">
                  <c:v>8.7000000000000011</c:v>
                </c:pt>
              </c:numCache>
            </c:numRef>
          </c:val>
        </c:ser>
        <c:ser>
          <c:idx val="4"/>
          <c:order val="1"/>
          <c:tx>
            <c:strRef>
              <c:f>Data!$F$3</c:f>
              <c:strCache>
                <c:ptCount val="1"/>
                <c:pt idx="0">
                  <c:v>Women</c:v>
                </c:pt>
              </c:strCache>
            </c:strRef>
          </c:tx>
          <c:marker>
            <c:symbol val="none"/>
          </c:marker>
          <c:cat>
            <c:numRef>
              <c:f>Data!$A$4:$A$772</c:f>
              <c:numCache>
                <c:formatCode>mmm\-yy</c:formatCode>
                <c:ptCount val="769"/>
                <c:pt idx="1">
                  <c:v>17533</c:v>
                </c:pt>
                <c:pt idx="2">
                  <c:v>17564</c:v>
                </c:pt>
                <c:pt idx="3">
                  <c:v>17593</c:v>
                </c:pt>
                <c:pt idx="4">
                  <c:v>17624</c:v>
                </c:pt>
                <c:pt idx="5">
                  <c:v>17654</c:v>
                </c:pt>
                <c:pt idx="6">
                  <c:v>17685</c:v>
                </c:pt>
                <c:pt idx="7">
                  <c:v>17715</c:v>
                </c:pt>
                <c:pt idx="8">
                  <c:v>17746</c:v>
                </c:pt>
                <c:pt idx="9">
                  <c:v>17777</c:v>
                </c:pt>
                <c:pt idx="10">
                  <c:v>17807</c:v>
                </c:pt>
                <c:pt idx="11">
                  <c:v>17838</c:v>
                </c:pt>
                <c:pt idx="12">
                  <c:v>17868</c:v>
                </c:pt>
                <c:pt idx="13">
                  <c:v>17899</c:v>
                </c:pt>
                <c:pt idx="14">
                  <c:v>17930</c:v>
                </c:pt>
                <c:pt idx="15">
                  <c:v>17958</c:v>
                </c:pt>
                <c:pt idx="16">
                  <c:v>17989</c:v>
                </c:pt>
                <c:pt idx="17">
                  <c:v>18019</c:v>
                </c:pt>
                <c:pt idx="18">
                  <c:v>18050</c:v>
                </c:pt>
                <c:pt idx="19">
                  <c:v>18080</c:v>
                </c:pt>
                <c:pt idx="20">
                  <c:v>18111</c:v>
                </c:pt>
                <c:pt idx="21">
                  <c:v>18142</c:v>
                </c:pt>
                <c:pt idx="22">
                  <c:v>18172</c:v>
                </c:pt>
                <c:pt idx="23">
                  <c:v>18203</c:v>
                </c:pt>
                <c:pt idx="24">
                  <c:v>18233</c:v>
                </c:pt>
                <c:pt idx="25">
                  <c:v>18264</c:v>
                </c:pt>
                <c:pt idx="26">
                  <c:v>18295</c:v>
                </c:pt>
                <c:pt idx="27">
                  <c:v>18323</c:v>
                </c:pt>
                <c:pt idx="28">
                  <c:v>18354</c:v>
                </c:pt>
                <c:pt idx="29">
                  <c:v>18384</c:v>
                </c:pt>
                <c:pt idx="30">
                  <c:v>18415</c:v>
                </c:pt>
                <c:pt idx="31">
                  <c:v>18445</c:v>
                </c:pt>
                <c:pt idx="32">
                  <c:v>18476</c:v>
                </c:pt>
                <c:pt idx="33">
                  <c:v>18507</c:v>
                </c:pt>
                <c:pt idx="34">
                  <c:v>18537</c:v>
                </c:pt>
                <c:pt idx="35">
                  <c:v>18568</c:v>
                </c:pt>
                <c:pt idx="36">
                  <c:v>18598</c:v>
                </c:pt>
                <c:pt idx="37">
                  <c:v>18629</c:v>
                </c:pt>
                <c:pt idx="38">
                  <c:v>18660</c:v>
                </c:pt>
                <c:pt idx="39">
                  <c:v>18688</c:v>
                </c:pt>
                <c:pt idx="40">
                  <c:v>18719</c:v>
                </c:pt>
                <c:pt idx="41">
                  <c:v>18749</c:v>
                </c:pt>
                <c:pt idx="42">
                  <c:v>18780</c:v>
                </c:pt>
                <c:pt idx="43">
                  <c:v>18810</c:v>
                </c:pt>
                <c:pt idx="44">
                  <c:v>18841</c:v>
                </c:pt>
                <c:pt idx="45">
                  <c:v>18872</c:v>
                </c:pt>
                <c:pt idx="46">
                  <c:v>18902</c:v>
                </c:pt>
                <c:pt idx="47">
                  <c:v>18933</c:v>
                </c:pt>
                <c:pt idx="48">
                  <c:v>18963</c:v>
                </c:pt>
                <c:pt idx="49">
                  <c:v>18994</c:v>
                </c:pt>
                <c:pt idx="50">
                  <c:v>19025</c:v>
                </c:pt>
                <c:pt idx="51">
                  <c:v>19054</c:v>
                </c:pt>
                <c:pt idx="52">
                  <c:v>19085</c:v>
                </c:pt>
                <c:pt idx="53">
                  <c:v>19115</c:v>
                </c:pt>
                <c:pt idx="54">
                  <c:v>19146</c:v>
                </c:pt>
                <c:pt idx="55">
                  <c:v>19176</c:v>
                </c:pt>
                <c:pt idx="56">
                  <c:v>19207</c:v>
                </c:pt>
                <c:pt idx="57">
                  <c:v>19238</c:v>
                </c:pt>
                <c:pt idx="58">
                  <c:v>19268</c:v>
                </c:pt>
                <c:pt idx="59">
                  <c:v>19299</c:v>
                </c:pt>
                <c:pt idx="60">
                  <c:v>19329</c:v>
                </c:pt>
                <c:pt idx="61">
                  <c:v>19360</c:v>
                </c:pt>
                <c:pt idx="62">
                  <c:v>19391</c:v>
                </c:pt>
                <c:pt idx="63">
                  <c:v>19419</c:v>
                </c:pt>
                <c:pt idx="64">
                  <c:v>19450</c:v>
                </c:pt>
                <c:pt idx="65">
                  <c:v>19480</c:v>
                </c:pt>
                <c:pt idx="66">
                  <c:v>19511</c:v>
                </c:pt>
                <c:pt idx="67">
                  <c:v>19541</c:v>
                </c:pt>
                <c:pt idx="68">
                  <c:v>19572</c:v>
                </c:pt>
                <c:pt idx="69">
                  <c:v>19603</c:v>
                </c:pt>
                <c:pt idx="70">
                  <c:v>19633</c:v>
                </c:pt>
                <c:pt idx="71">
                  <c:v>19664</c:v>
                </c:pt>
                <c:pt idx="72">
                  <c:v>19694</c:v>
                </c:pt>
                <c:pt idx="73">
                  <c:v>19725</c:v>
                </c:pt>
                <c:pt idx="74">
                  <c:v>19756</c:v>
                </c:pt>
                <c:pt idx="75">
                  <c:v>19784</c:v>
                </c:pt>
                <c:pt idx="76">
                  <c:v>19815</c:v>
                </c:pt>
                <c:pt idx="77">
                  <c:v>19845</c:v>
                </c:pt>
                <c:pt idx="78">
                  <c:v>19876</c:v>
                </c:pt>
                <c:pt idx="79">
                  <c:v>19906</c:v>
                </c:pt>
                <c:pt idx="80">
                  <c:v>19937</c:v>
                </c:pt>
                <c:pt idx="81">
                  <c:v>19968</c:v>
                </c:pt>
                <c:pt idx="82">
                  <c:v>19998</c:v>
                </c:pt>
                <c:pt idx="83">
                  <c:v>20029</c:v>
                </c:pt>
                <c:pt idx="84">
                  <c:v>20059</c:v>
                </c:pt>
                <c:pt idx="85">
                  <c:v>20090</c:v>
                </c:pt>
                <c:pt idx="86">
                  <c:v>20121</c:v>
                </c:pt>
                <c:pt idx="87">
                  <c:v>20149</c:v>
                </c:pt>
                <c:pt idx="88">
                  <c:v>20180</c:v>
                </c:pt>
                <c:pt idx="89">
                  <c:v>20210</c:v>
                </c:pt>
                <c:pt idx="90">
                  <c:v>20241</c:v>
                </c:pt>
                <c:pt idx="91">
                  <c:v>20271</c:v>
                </c:pt>
                <c:pt idx="92">
                  <c:v>20302</c:v>
                </c:pt>
                <c:pt idx="93">
                  <c:v>20333</c:v>
                </c:pt>
                <c:pt idx="94">
                  <c:v>20363</c:v>
                </c:pt>
                <c:pt idx="95">
                  <c:v>20394</c:v>
                </c:pt>
                <c:pt idx="96">
                  <c:v>20424</c:v>
                </c:pt>
                <c:pt idx="97">
                  <c:v>20455</c:v>
                </c:pt>
                <c:pt idx="98">
                  <c:v>20486</c:v>
                </c:pt>
                <c:pt idx="99">
                  <c:v>20515</c:v>
                </c:pt>
                <c:pt idx="100">
                  <c:v>20546</c:v>
                </c:pt>
                <c:pt idx="101">
                  <c:v>20576</c:v>
                </c:pt>
                <c:pt idx="102">
                  <c:v>20607</c:v>
                </c:pt>
                <c:pt idx="103">
                  <c:v>20637</c:v>
                </c:pt>
                <c:pt idx="104">
                  <c:v>20668</c:v>
                </c:pt>
                <c:pt idx="105">
                  <c:v>20699</c:v>
                </c:pt>
                <c:pt idx="106">
                  <c:v>20729</c:v>
                </c:pt>
                <c:pt idx="107">
                  <c:v>20760</c:v>
                </c:pt>
                <c:pt idx="108">
                  <c:v>20790</c:v>
                </c:pt>
                <c:pt idx="109">
                  <c:v>20821</c:v>
                </c:pt>
                <c:pt idx="110">
                  <c:v>20852</c:v>
                </c:pt>
                <c:pt idx="111">
                  <c:v>20880</c:v>
                </c:pt>
                <c:pt idx="112">
                  <c:v>20911</c:v>
                </c:pt>
                <c:pt idx="113">
                  <c:v>20941</c:v>
                </c:pt>
                <c:pt idx="114">
                  <c:v>20972</c:v>
                </c:pt>
                <c:pt idx="115">
                  <c:v>21002</c:v>
                </c:pt>
                <c:pt idx="116">
                  <c:v>21033</c:v>
                </c:pt>
                <c:pt idx="117">
                  <c:v>21064</c:v>
                </c:pt>
                <c:pt idx="118">
                  <c:v>21094</c:v>
                </c:pt>
                <c:pt idx="119">
                  <c:v>21125</c:v>
                </c:pt>
                <c:pt idx="120">
                  <c:v>21155</c:v>
                </c:pt>
                <c:pt idx="121">
                  <c:v>21186</c:v>
                </c:pt>
                <c:pt idx="122">
                  <c:v>21217</c:v>
                </c:pt>
                <c:pt idx="123">
                  <c:v>21245</c:v>
                </c:pt>
                <c:pt idx="124">
                  <c:v>21276</c:v>
                </c:pt>
                <c:pt idx="125">
                  <c:v>21306</c:v>
                </c:pt>
                <c:pt idx="126">
                  <c:v>21337</c:v>
                </c:pt>
                <c:pt idx="127">
                  <c:v>21367</c:v>
                </c:pt>
                <c:pt idx="128">
                  <c:v>21398</c:v>
                </c:pt>
                <c:pt idx="129">
                  <c:v>21429</c:v>
                </c:pt>
                <c:pt idx="130">
                  <c:v>21459</c:v>
                </c:pt>
                <c:pt idx="131">
                  <c:v>21490</c:v>
                </c:pt>
                <c:pt idx="132">
                  <c:v>21520</c:v>
                </c:pt>
                <c:pt idx="133">
                  <c:v>21551</c:v>
                </c:pt>
                <c:pt idx="134">
                  <c:v>21582</c:v>
                </c:pt>
                <c:pt idx="135">
                  <c:v>21610</c:v>
                </c:pt>
                <c:pt idx="136">
                  <c:v>21641</c:v>
                </c:pt>
                <c:pt idx="137">
                  <c:v>21671</c:v>
                </c:pt>
                <c:pt idx="138">
                  <c:v>21702</c:v>
                </c:pt>
                <c:pt idx="139">
                  <c:v>21732</c:v>
                </c:pt>
                <c:pt idx="140">
                  <c:v>21763</c:v>
                </c:pt>
                <c:pt idx="141">
                  <c:v>21794</c:v>
                </c:pt>
                <c:pt idx="142">
                  <c:v>21824</c:v>
                </c:pt>
                <c:pt idx="143">
                  <c:v>21855</c:v>
                </c:pt>
                <c:pt idx="144">
                  <c:v>21885</c:v>
                </c:pt>
                <c:pt idx="145">
                  <c:v>21916</c:v>
                </c:pt>
                <c:pt idx="146">
                  <c:v>21947</c:v>
                </c:pt>
                <c:pt idx="147">
                  <c:v>21976</c:v>
                </c:pt>
                <c:pt idx="148">
                  <c:v>22007</c:v>
                </c:pt>
                <c:pt idx="149">
                  <c:v>22037</c:v>
                </c:pt>
                <c:pt idx="150">
                  <c:v>22068</c:v>
                </c:pt>
                <c:pt idx="151">
                  <c:v>22098</c:v>
                </c:pt>
                <c:pt idx="152">
                  <c:v>22129</c:v>
                </c:pt>
                <c:pt idx="153">
                  <c:v>22160</c:v>
                </c:pt>
                <c:pt idx="154">
                  <c:v>22190</c:v>
                </c:pt>
                <c:pt idx="155">
                  <c:v>22221</c:v>
                </c:pt>
                <c:pt idx="156">
                  <c:v>22251</c:v>
                </c:pt>
                <c:pt idx="157">
                  <c:v>22282</c:v>
                </c:pt>
                <c:pt idx="158">
                  <c:v>22313</c:v>
                </c:pt>
                <c:pt idx="159">
                  <c:v>22341</c:v>
                </c:pt>
                <c:pt idx="160">
                  <c:v>22372</c:v>
                </c:pt>
                <c:pt idx="161">
                  <c:v>22402</c:v>
                </c:pt>
                <c:pt idx="162">
                  <c:v>22433</c:v>
                </c:pt>
                <c:pt idx="163">
                  <c:v>22463</c:v>
                </c:pt>
                <c:pt idx="164">
                  <c:v>22494</c:v>
                </c:pt>
                <c:pt idx="165">
                  <c:v>22525</c:v>
                </c:pt>
                <c:pt idx="166">
                  <c:v>22555</c:v>
                </c:pt>
                <c:pt idx="167">
                  <c:v>22586</c:v>
                </c:pt>
                <c:pt idx="168">
                  <c:v>22616</c:v>
                </c:pt>
                <c:pt idx="169">
                  <c:v>22647</c:v>
                </c:pt>
                <c:pt idx="170">
                  <c:v>22678</c:v>
                </c:pt>
                <c:pt idx="171">
                  <c:v>22706</c:v>
                </c:pt>
                <c:pt idx="172">
                  <c:v>22737</c:v>
                </c:pt>
                <c:pt idx="173">
                  <c:v>22767</c:v>
                </c:pt>
                <c:pt idx="174">
                  <c:v>22798</c:v>
                </c:pt>
                <c:pt idx="175">
                  <c:v>22828</c:v>
                </c:pt>
                <c:pt idx="176">
                  <c:v>22859</c:v>
                </c:pt>
                <c:pt idx="177">
                  <c:v>22890</c:v>
                </c:pt>
                <c:pt idx="178">
                  <c:v>22920</c:v>
                </c:pt>
                <c:pt idx="179">
                  <c:v>22951</c:v>
                </c:pt>
                <c:pt idx="180">
                  <c:v>22981</c:v>
                </c:pt>
                <c:pt idx="181">
                  <c:v>23012</c:v>
                </c:pt>
                <c:pt idx="182">
                  <c:v>23043</c:v>
                </c:pt>
                <c:pt idx="183">
                  <c:v>23071</c:v>
                </c:pt>
                <c:pt idx="184">
                  <c:v>23102</c:v>
                </c:pt>
                <c:pt idx="185">
                  <c:v>23132</c:v>
                </c:pt>
                <c:pt idx="186">
                  <c:v>23163</c:v>
                </c:pt>
                <c:pt idx="187">
                  <c:v>23193</c:v>
                </c:pt>
                <c:pt idx="188">
                  <c:v>23224</c:v>
                </c:pt>
                <c:pt idx="189">
                  <c:v>23255</c:v>
                </c:pt>
                <c:pt idx="190">
                  <c:v>23285</c:v>
                </c:pt>
                <c:pt idx="191">
                  <c:v>23316</c:v>
                </c:pt>
                <c:pt idx="192">
                  <c:v>23346</c:v>
                </c:pt>
                <c:pt idx="193">
                  <c:v>23377</c:v>
                </c:pt>
                <c:pt idx="194">
                  <c:v>23408</c:v>
                </c:pt>
                <c:pt idx="195">
                  <c:v>23437</c:v>
                </c:pt>
                <c:pt idx="196">
                  <c:v>23468</c:v>
                </c:pt>
                <c:pt idx="197">
                  <c:v>23498</c:v>
                </c:pt>
                <c:pt idx="198">
                  <c:v>23529</c:v>
                </c:pt>
                <c:pt idx="199">
                  <c:v>23559</c:v>
                </c:pt>
                <c:pt idx="200">
                  <c:v>23590</c:v>
                </c:pt>
                <c:pt idx="201">
                  <c:v>23621</c:v>
                </c:pt>
                <c:pt idx="202">
                  <c:v>23651</c:v>
                </c:pt>
                <c:pt idx="203">
                  <c:v>23682</c:v>
                </c:pt>
                <c:pt idx="204">
                  <c:v>23712</c:v>
                </c:pt>
                <c:pt idx="205">
                  <c:v>23743</c:v>
                </c:pt>
                <c:pt idx="206">
                  <c:v>23774</c:v>
                </c:pt>
                <c:pt idx="207">
                  <c:v>23802</c:v>
                </c:pt>
                <c:pt idx="208">
                  <c:v>23833</c:v>
                </c:pt>
                <c:pt idx="209">
                  <c:v>23863</c:v>
                </c:pt>
                <c:pt idx="210">
                  <c:v>23894</c:v>
                </c:pt>
                <c:pt idx="211">
                  <c:v>23924</c:v>
                </c:pt>
                <c:pt idx="212">
                  <c:v>23955</c:v>
                </c:pt>
                <c:pt idx="213">
                  <c:v>23986</c:v>
                </c:pt>
                <c:pt idx="214">
                  <c:v>24016</c:v>
                </c:pt>
                <c:pt idx="215">
                  <c:v>24047</c:v>
                </c:pt>
                <c:pt idx="216">
                  <c:v>24077</c:v>
                </c:pt>
                <c:pt idx="217">
                  <c:v>24108</c:v>
                </c:pt>
                <c:pt idx="218">
                  <c:v>24139</c:v>
                </c:pt>
                <c:pt idx="219">
                  <c:v>24167</c:v>
                </c:pt>
                <c:pt idx="220">
                  <c:v>24198</c:v>
                </c:pt>
                <c:pt idx="221">
                  <c:v>24228</c:v>
                </c:pt>
                <c:pt idx="222">
                  <c:v>24259</c:v>
                </c:pt>
                <c:pt idx="223">
                  <c:v>24289</c:v>
                </c:pt>
                <c:pt idx="224">
                  <c:v>24320</c:v>
                </c:pt>
                <c:pt idx="225">
                  <c:v>24351</c:v>
                </c:pt>
                <c:pt idx="226">
                  <c:v>24381</c:v>
                </c:pt>
                <c:pt idx="227">
                  <c:v>24412</c:v>
                </c:pt>
                <c:pt idx="228">
                  <c:v>24442</c:v>
                </c:pt>
                <c:pt idx="229">
                  <c:v>24473</c:v>
                </c:pt>
                <c:pt idx="230">
                  <c:v>24504</c:v>
                </c:pt>
                <c:pt idx="231">
                  <c:v>24532</c:v>
                </c:pt>
                <c:pt idx="232">
                  <c:v>24563</c:v>
                </c:pt>
                <c:pt idx="233">
                  <c:v>24593</c:v>
                </c:pt>
                <c:pt idx="234">
                  <c:v>24624</c:v>
                </c:pt>
                <c:pt idx="235">
                  <c:v>24654</c:v>
                </c:pt>
                <c:pt idx="236">
                  <c:v>24685</c:v>
                </c:pt>
                <c:pt idx="237">
                  <c:v>24716</c:v>
                </c:pt>
                <c:pt idx="238">
                  <c:v>24746</c:v>
                </c:pt>
                <c:pt idx="239">
                  <c:v>24777</c:v>
                </c:pt>
                <c:pt idx="240">
                  <c:v>24807</c:v>
                </c:pt>
                <c:pt idx="241">
                  <c:v>24838</c:v>
                </c:pt>
                <c:pt idx="242">
                  <c:v>24869</c:v>
                </c:pt>
                <c:pt idx="243">
                  <c:v>24898</c:v>
                </c:pt>
                <c:pt idx="244">
                  <c:v>24929</c:v>
                </c:pt>
                <c:pt idx="245">
                  <c:v>24959</c:v>
                </c:pt>
                <c:pt idx="246">
                  <c:v>24990</c:v>
                </c:pt>
                <c:pt idx="247">
                  <c:v>25020</c:v>
                </c:pt>
                <c:pt idx="248">
                  <c:v>25051</c:v>
                </c:pt>
                <c:pt idx="249">
                  <c:v>25082</c:v>
                </c:pt>
                <c:pt idx="250">
                  <c:v>25112</c:v>
                </c:pt>
                <c:pt idx="251">
                  <c:v>25143</c:v>
                </c:pt>
                <c:pt idx="252">
                  <c:v>25173</c:v>
                </c:pt>
                <c:pt idx="253">
                  <c:v>25204</c:v>
                </c:pt>
                <c:pt idx="254">
                  <c:v>25235</c:v>
                </c:pt>
                <c:pt idx="255">
                  <c:v>25263</c:v>
                </c:pt>
                <c:pt idx="256">
                  <c:v>25294</c:v>
                </c:pt>
                <c:pt idx="257">
                  <c:v>25324</c:v>
                </c:pt>
                <c:pt idx="258">
                  <c:v>25355</c:v>
                </c:pt>
                <c:pt idx="259">
                  <c:v>25385</c:v>
                </c:pt>
                <c:pt idx="260">
                  <c:v>25416</c:v>
                </c:pt>
                <c:pt idx="261">
                  <c:v>25447</c:v>
                </c:pt>
                <c:pt idx="262">
                  <c:v>25477</c:v>
                </c:pt>
                <c:pt idx="263">
                  <c:v>25508</c:v>
                </c:pt>
                <c:pt idx="264">
                  <c:v>25538</c:v>
                </c:pt>
                <c:pt idx="265">
                  <c:v>25569</c:v>
                </c:pt>
                <c:pt idx="266">
                  <c:v>25600</c:v>
                </c:pt>
                <c:pt idx="267">
                  <c:v>25628</c:v>
                </c:pt>
                <c:pt idx="268">
                  <c:v>25659</c:v>
                </c:pt>
                <c:pt idx="269">
                  <c:v>25689</c:v>
                </c:pt>
                <c:pt idx="270">
                  <c:v>25720</c:v>
                </c:pt>
                <c:pt idx="271">
                  <c:v>25750</c:v>
                </c:pt>
                <c:pt idx="272">
                  <c:v>25781</c:v>
                </c:pt>
                <c:pt idx="273">
                  <c:v>25812</c:v>
                </c:pt>
                <c:pt idx="274">
                  <c:v>25842</c:v>
                </c:pt>
                <c:pt idx="275">
                  <c:v>25873</c:v>
                </c:pt>
                <c:pt idx="276">
                  <c:v>25903</c:v>
                </c:pt>
                <c:pt idx="277">
                  <c:v>25934</c:v>
                </c:pt>
                <c:pt idx="278">
                  <c:v>25965</c:v>
                </c:pt>
                <c:pt idx="279">
                  <c:v>25993</c:v>
                </c:pt>
                <c:pt idx="280">
                  <c:v>26024</c:v>
                </c:pt>
                <c:pt idx="281">
                  <c:v>26054</c:v>
                </c:pt>
                <c:pt idx="282">
                  <c:v>26085</c:v>
                </c:pt>
                <c:pt idx="283">
                  <c:v>26115</c:v>
                </c:pt>
                <c:pt idx="284">
                  <c:v>26146</c:v>
                </c:pt>
                <c:pt idx="285">
                  <c:v>26177</c:v>
                </c:pt>
                <c:pt idx="286">
                  <c:v>26207</c:v>
                </c:pt>
                <c:pt idx="287">
                  <c:v>26238</c:v>
                </c:pt>
                <c:pt idx="288">
                  <c:v>26268</c:v>
                </c:pt>
                <c:pt idx="289">
                  <c:v>26299</c:v>
                </c:pt>
                <c:pt idx="290">
                  <c:v>26330</c:v>
                </c:pt>
                <c:pt idx="291">
                  <c:v>26359</c:v>
                </c:pt>
                <c:pt idx="292">
                  <c:v>26390</c:v>
                </c:pt>
                <c:pt idx="293">
                  <c:v>26420</c:v>
                </c:pt>
                <c:pt idx="294">
                  <c:v>26451</c:v>
                </c:pt>
                <c:pt idx="295">
                  <c:v>26481</c:v>
                </c:pt>
                <c:pt idx="296">
                  <c:v>26512</c:v>
                </c:pt>
                <c:pt idx="297">
                  <c:v>26543</c:v>
                </c:pt>
                <c:pt idx="298">
                  <c:v>26573</c:v>
                </c:pt>
                <c:pt idx="299">
                  <c:v>26604</c:v>
                </c:pt>
                <c:pt idx="300">
                  <c:v>26634</c:v>
                </c:pt>
                <c:pt idx="301">
                  <c:v>26665</c:v>
                </c:pt>
                <c:pt idx="302">
                  <c:v>26696</c:v>
                </c:pt>
                <c:pt idx="303">
                  <c:v>26724</c:v>
                </c:pt>
                <c:pt idx="304">
                  <c:v>26755</c:v>
                </c:pt>
                <c:pt idx="305">
                  <c:v>26785</c:v>
                </c:pt>
                <c:pt idx="306">
                  <c:v>26816</c:v>
                </c:pt>
                <c:pt idx="307">
                  <c:v>26846</c:v>
                </c:pt>
                <c:pt idx="308">
                  <c:v>26877</c:v>
                </c:pt>
                <c:pt idx="309">
                  <c:v>26908</c:v>
                </c:pt>
                <c:pt idx="310">
                  <c:v>26938</c:v>
                </c:pt>
                <c:pt idx="311">
                  <c:v>26969</c:v>
                </c:pt>
                <c:pt idx="312">
                  <c:v>26999</c:v>
                </c:pt>
                <c:pt idx="313">
                  <c:v>27030</c:v>
                </c:pt>
                <c:pt idx="314">
                  <c:v>27061</c:v>
                </c:pt>
                <c:pt idx="315">
                  <c:v>27089</c:v>
                </c:pt>
                <c:pt idx="316">
                  <c:v>27120</c:v>
                </c:pt>
                <c:pt idx="317">
                  <c:v>27150</c:v>
                </c:pt>
                <c:pt idx="318">
                  <c:v>27181</c:v>
                </c:pt>
                <c:pt idx="319">
                  <c:v>27211</c:v>
                </c:pt>
                <c:pt idx="320">
                  <c:v>27242</c:v>
                </c:pt>
                <c:pt idx="321">
                  <c:v>27273</c:v>
                </c:pt>
                <c:pt idx="322">
                  <c:v>27303</c:v>
                </c:pt>
                <c:pt idx="323">
                  <c:v>27334</c:v>
                </c:pt>
                <c:pt idx="324">
                  <c:v>27364</c:v>
                </c:pt>
                <c:pt idx="325">
                  <c:v>27395</c:v>
                </c:pt>
                <c:pt idx="326">
                  <c:v>27426</c:v>
                </c:pt>
                <c:pt idx="327">
                  <c:v>27454</c:v>
                </c:pt>
                <c:pt idx="328">
                  <c:v>27485</c:v>
                </c:pt>
                <c:pt idx="329">
                  <c:v>27515</c:v>
                </c:pt>
                <c:pt idx="330">
                  <c:v>27546</c:v>
                </c:pt>
                <c:pt idx="331">
                  <c:v>27576</c:v>
                </c:pt>
                <c:pt idx="332">
                  <c:v>27607</c:v>
                </c:pt>
                <c:pt idx="333">
                  <c:v>27638</c:v>
                </c:pt>
                <c:pt idx="334">
                  <c:v>27668</c:v>
                </c:pt>
                <c:pt idx="335">
                  <c:v>27699</c:v>
                </c:pt>
                <c:pt idx="336">
                  <c:v>27729</c:v>
                </c:pt>
                <c:pt idx="337">
                  <c:v>27760</c:v>
                </c:pt>
                <c:pt idx="338">
                  <c:v>27791</c:v>
                </c:pt>
                <c:pt idx="339">
                  <c:v>27820</c:v>
                </c:pt>
                <c:pt idx="340">
                  <c:v>27851</c:v>
                </c:pt>
                <c:pt idx="341">
                  <c:v>27881</c:v>
                </c:pt>
                <c:pt idx="342">
                  <c:v>27912</c:v>
                </c:pt>
                <c:pt idx="343">
                  <c:v>27942</c:v>
                </c:pt>
                <c:pt idx="344">
                  <c:v>27973</c:v>
                </c:pt>
                <c:pt idx="345">
                  <c:v>28004</c:v>
                </c:pt>
                <c:pt idx="346">
                  <c:v>28034</c:v>
                </c:pt>
                <c:pt idx="347">
                  <c:v>28065</c:v>
                </c:pt>
                <c:pt idx="348">
                  <c:v>28095</c:v>
                </c:pt>
                <c:pt idx="349">
                  <c:v>28126</c:v>
                </c:pt>
                <c:pt idx="350">
                  <c:v>28157</c:v>
                </c:pt>
                <c:pt idx="351">
                  <c:v>28185</c:v>
                </c:pt>
                <c:pt idx="352">
                  <c:v>28216</c:v>
                </c:pt>
                <c:pt idx="353">
                  <c:v>28246</c:v>
                </c:pt>
                <c:pt idx="354">
                  <c:v>28277</c:v>
                </c:pt>
                <c:pt idx="355">
                  <c:v>28307</c:v>
                </c:pt>
                <c:pt idx="356">
                  <c:v>28338</c:v>
                </c:pt>
                <c:pt idx="357">
                  <c:v>28369</c:v>
                </c:pt>
                <c:pt idx="358">
                  <c:v>28399</c:v>
                </c:pt>
                <c:pt idx="359">
                  <c:v>28430</c:v>
                </c:pt>
                <c:pt idx="360">
                  <c:v>28460</c:v>
                </c:pt>
                <c:pt idx="361">
                  <c:v>28491</c:v>
                </c:pt>
                <c:pt idx="362">
                  <c:v>28522</c:v>
                </c:pt>
                <c:pt idx="363">
                  <c:v>28550</c:v>
                </c:pt>
                <c:pt idx="364">
                  <c:v>28581</c:v>
                </c:pt>
                <c:pt idx="365">
                  <c:v>28611</c:v>
                </c:pt>
                <c:pt idx="366">
                  <c:v>28642</c:v>
                </c:pt>
                <c:pt idx="367">
                  <c:v>28672</c:v>
                </c:pt>
                <c:pt idx="368">
                  <c:v>28703</c:v>
                </c:pt>
                <c:pt idx="369">
                  <c:v>28734</c:v>
                </c:pt>
                <c:pt idx="370">
                  <c:v>28764</c:v>
                </c:pt>
                <c:pt idx="371">
                  <c:v>28795</c:v>
                </c:pt>
                <c:pt idx="372">
                  <c:v>28825</c:v>
                </c:pt>
                <c:pt idx="373">
                  <c:v>28856</c:v>
                </c:pt>
                <c:pt idx="374">
                  <c:v>28887</c:v>
                </c:pt>
                <c:pt idx="375">
                  <c:v>28915</c:v>
                </c:pt>
                <c:pt idx="376">
                  <c:v>28946</c:v>
                </c:pt>
                <c:pt idx="377">
                  <c:v>28976</c:v>
                </c:pt>
                <c:pt idx="378">
                  <c:v>29007</c:v>
                </c:pt>
                <c:pt idx="379">
                  <c:v>29037</c:v>
                </c:pt>
                <c:pt idx="380">
                  <c:v>29068</c:v>
                </c:pt>
                <c:pt idx="381">
                  <c:v>29099</c:v>
                </c:pt>
                <c:pt idx="382">
                  <c:v>29129</c:v>
                </c:pt>
                <c:pt idx="383">
                  <c:v>29160</c:v>
                </c:pt>
                <c:pt idx="384">
                  <c:v>29190</c:v>
                </c:pt>
                <c:pt idx="385">
                  <c:v>29221</c:v>
                </c:pt>
                <c:pt idx="386">
                  <c:v>29252</c:v>
                </c:pt>
                <c:pt idx="387">
                  <c:v>29281</c:v>
                </c:pt>
                <c:pt idx="388">
                  <c:v>29312</c:v>
                </c:pt>
                <c:pt idx="389">
                  <c:v>29342</c:v>
                </c:pt>
                <c:pt idx="390">
                  <c:v>29373</c:v>
                </c:pt>
                <c:pt idx="391">
                  <c:v>29403</c:v>
                </c:pt>
                <c:pt idx="392">
                  <c:v>29434</c:v>
                </c:pt>
                <c:pt idx="393">
                  <c:v>29465</c:v>
                </c:pt>
                <c:pt idx="394">
                  <c:v>29495</c:v>
                </c:pt>
                <c:pt idx="395">
                  <c:v>29526</c:v>
                </c:pt>
                <c:pt idx="396">
                  <c:v>29556</c:v>
                </c:pt>
                <c:pt idx="397">
                  <c:v>29587</c:v>
                </c:pt>
                <c:pt idx="398">
                  <c:v>29618</c:v>
                </c:pt>
                <c:pt idx="399">
                  <c:v>29646</c:v>
                </c:pt>
                <c:pt idx="400">
                  <c:v>29677</c:v>
                </c:pt>
                <c:pt idx="401">
                  <c:v>29707</c:v>
                </c:pt>
                <c:pt idx="402">
                  <c:v>29738</c:v>
                </c:pt>
                <c:pt idx="403">
                  <c:v>29768</c:v>
                </c:pt>
                <c:pt idx="404">
                  <c:v>29799</c:v>
                </c:pt>
                <c:pt idx="405">
                  <c:v>29830</c:v>
                </c:pt>
                <c:pt idx="406">
                  <c:v>29860</c:v>
                </c:pt>
                <c:pt idx="407">
                  <c:v>29891</c:v>
                </c:pt>
                <c:pt idx="408">
                  <c:v>29921</c:v>
                </c:pt>
                <c:pt idx="409">
                  <c:v>29952</c:v>
                </c:pt>
                <c:pt idx="410">
                  <c:v>29983</c:v>
                </c:pt>
                <c:pt idx="411">
                  <c:v>30011</c:v>
                </c:pt>
                <c:pt idx="412">
                  <c:v>30042</c:v>
                </c:pt>
                <c:pt idx="413">
                  <c:v>30072</c:v>
                </c:pt>
                <c:pt idx="414">
                  <c:v>30103</c:v>
                </c:pt>
                <c:pt idx="415">
                  <c:v>30133</c:v>
                </c:pt>
                <c:pt idx="416">
                  <c:v>30164</c:v>
                </c:pt>
                <c:pt idx="417">
                  <c:v>30195</c:v>
                </c:pt>
                <c:pt idx="418">
                  <c:v>30225</c:v>
                </c:pt>
                <c:pt idx="419">
                  <c:v>30256</c:v>
                </c:pt>
                <c:pt idx="420">
                  <c:v>30286</c:v>
                </c:pt>
                <c:pt idx="421">
                  <c:v>30317</c:v>
                </c:pt>
                <c:pt idx="422">
                  <c:v>30348</c:v>
                </c:pt>
                <c:pt idx="423">
                  <c:v>30376</c:v>
                </c:pt>
                <c:pt idx="424">
                  <c:v>30407</c:v>
                </c:pt>
                <c:pt idx="425">
                  <c:v>30437</c:v>
                </c:pt>
                <c:pt idx="426">
                  <c:v>30468</c:v>
                </c:pt>
                <c:pt idx="427">
                  <c:v>30498</c:v>
                </c:pt>
                <c:pt idx="428">
                  <c:v>30529</c:v>
                </c:pt>
                <c:pt idx="429">
                  <c:v>30560</c:v>
                </c:pt>
                <c:pt idx="430">
                  <c:v>30590</c:v>
                </c:pt>
                <c:pt idx="431">
                  <c:v>30621</c:v>
                </c:pt>
                <c:pt idx="432">
                  <c:v>30651</c:v>
                </c:pt>
                <c:pt idx="433">
                  <c:v>30682</c:v>
                </c:pt>
                <c:pt idx="434">
                  <c:v>30713</c:v>
                </c:pt>
                <c:pt idx="435">
                  <c:v>30742</c:v>
                </c:pt>
                <c:pt idx="436">
                  <c:v>30773</c:v>
                </c:pt>
                <c:pt idx="437">
                  <c:v>30803</c:v>
                </c:pt>
                <c:pt idx="438">
                  <c:v>30834</c:v>
                </c:pt>
                <c:pt idx="439">
                  <c:v>30864</c:v>
                </c:pt>
                <c:pt idx="440">
                  <c:v>30895</c:v>
                </c:pt>
                <c:pt idx="441">
                  <c:v>30926</c:v>
                </c:pt>
                <c:pt idx="442">
                  <c:v>30956</c:v>
                </c:pt>
                <c:pt idx="443">
                  <c:v>30987</c:v>
                </c:pt>
                <c:pt idx="444">
                  <c:v>31017</c:v>
                </c:pt>
                <c:pt idx="445">
                  <c:v>31048</c:v>
                </c:pt>
                <c:pt idx="446">
                  <c:v>31079</c:v>
                </c:pt>
                <c:pt idx="447">
                  <c:v>31107</c:v>
                </c:pt>
                <c:pt idx="448">
                  <c:v>31138</c:v>
                </c:pt>
                <c:pt idx="449">
                  <c:v>31168</c:v>
                </c:pt>
                <c:pt idx="450">
                  <c:v>31199</c:v>
                </c:pt>
                <c:pt idx="451">
                  <c:v>31229</c:v>
                </c:pt>
                <c:pt idx="452">
                  <c:v>31260</c:v>
                </c:pt>
                <c:pt idx="453">
                  <c:v>31291</c:v>
                </c:pt>
                <c:pt idx="454">
                  <c:v>31321</c:v>
                </c:pt>
                <c:pt idx="455">
                  <c:v>31352</c:v>
                </c:pt>
                <c:pt idx="456">
                  <c:v>31382</c:v>
                </c:pt>
                <c:pt idx="457">
                  <c:v>31413</c:v>
                </c:pt>
                <c:pt idx="458">
                  <c:v>31444</c:v>
                </c:pt>
                <c:pt idx="459">
                  <c:v>31472</c:v>
                </c:pt>
                <c:pt idx="460">
                  <c:v>31503</c:v>
                </c:pt>
                <c:pt idx="461">
                  <c:v>31533</c:v>
                </c:pt>
                <c:pt idx="462">
                  <c:v>31564</c:v>
                </c:pt>
                <c:pt idx="463">
                  <c:v>31594</c:v>
                </c:pt>
                <c:pt idx="464">
                  <c:v>31625</c:v>
                </c:pt>
                <c:pt idx="465">
                  <c:v>31656</c:v>
                </c:pt>
                <c:pt idx="466">
                  <c:v>31686</c:v>
                </c:pt>
                <c:pt idx="467">
                  <c:v>31717</c:v>
                </c:pt>
                <c:pt idx="468">
                  <c:v>31747</c:v>
                </c:pt>
                <c:pt idx="469">
                  <c:v>31778</c:v>
                </c:pt>
                <c:pt idx="470">
                  <c:v>31809</c:v>
                </c:pt>
                <c:pt idx="471">
                  <c:v>31837</c:v>
                </c:pt>
                <c:pt idx="472">
                  <c:v>31868</c:v>
                </c:pt>
                <c:pt idx="473">
                  <c:v>31898</c:v>
                </c:pt>
                <c:pt idx="474">
                  <c:v>31929</c:v>
                </c:pt>
                <c:pt idx="475">
                  <c:v>31959</c:v>
                </c:pt>
                <c:pt idx="476">
                  <c:v>31990</c:v>
                </c:pt>
                <c:pt idx="477">
                  <c:v>32021</c:v>
                </c:pt>
                <c:pt idx="478">
                  <c:v>32051</c:v>
                </c:pt>
                <c:pt idx="479">
                  <c:v>32082</c:v>
                </c:pt>
                <c:pt idx="480">
                  <c:v>32112</c:v>
                </c:pt>
                <c:pt idx="481">
                  <c:v>32143</c:v>
                </c:pt>
                <c:pt idx="482">
                  <c:v>32174</c:v>
                </c:pt>
                <c:pt idx="483">
                  <c:v>32203</c:v>
                </c:pt>
                <c:pt idx="484">
                  <c:v>32234</c:v>
                </c:pt>
                <c:pt idx="485">
                  <c:v>32264</c:v>
                </c:pt>
                <c:pt idx="486">
                  <c:v>32295</c:v>
                </c:pt>
                <c:pt idx="487">
                  <c:v>32325</c:v>
                </c:pt>
                <c:pt idx="488">
                  <c:v>32356</c:v>
                </c:pt>
                <c:pt idx="489">
                  <c:v>32387</c:v>
                </c:pt>
                <c:pt idx="490">
                  <c:v>32417</c:v>
                </c:pt>
                <c:pt idx="491">
                  <c:v>32448</c:v>
                </c:pt>
                <c:pt idx="492">
                  <c:v>32478</c:v>
                </c:pt>
                <c:pt idx="493">
                  <c:v>32509</c:v>
                </c:pt>
                <c:pt idx="494">
                  <c:v>32540</c:v>
                </c:pt>
                <c:pt idx="495">
                  <c:v>32568</c:v>
                </c:pt>
                <c:pt idx="496">
                  <c:v>32599</c:v>
                </c:pt>
                <c:pt idx="497">
                  <c:v>32629</c:v>
                </c:pt>
                <c:pt idx="498">
                  <c:v>32660</c:v>
                </c:pt>
                <c:pt idx="499">
                  <c:v>32690</c:v>
                </c:pt>
                <c:pt idx="500">
                  <c:v>32721</c:v>
                </c:pt>
                <c:pt idx="501">
                  <c:v>32752</c:v>
                </c:pt>
                <c:pt idx="502">
                  <c:v>32782</c:v>
                </c:pt>
                <c:pt idx="503">
                  <c:v>32813</c:v>
                </c:pt>
                <c:pt idx="504">
                  <c:v>32843</c:v>
                </c:pt>
                <c:pt idx="505">
                  <c:v>32874</c:v>
                </c:pt>
                <c:pt idx="506">
                  <c:v>32905</c:v>
                </c:pt>
                <c:pt idx="507">
                  <c:v>32933</c:v>
                </c:pt>
                <c:pt idx="508">
                  <c:v>32964</c:v>
                </c:pt>
                <c:pt idx="509">
                  <c:v>32994</c:v>
                </c:pt>
                <c:pt idx="510">
                  <c:v>33025</c:v>
                </c:pt>
                <c:pt idx="511">
                  <c:v>33055</c:v>
                </c:pt>
                <c:pt idx="512">
                  <c:v>33086</c:v>
                </c:pt>
                <c:pt idx="513">
                  <c:v>33117</c:v>
                </c:pt>
                <c:pt idx="514">
                  <c:v>33147</c:v>
                </c:pt>
                <c:pt idx="515">
                  <c:v>33178</c:v>
                </c:pt>
                <c:pt idx="516">
                  <c:v>33208</c:v>
                </c:pt>
                <c:pt idx="517">
                  <c:v>33239</c:v>
                </c:pt>
                <c:pt idx="518">
                  <c:v>33270</c:v>
                </c:pt>
                <c:pt idx="519">
                  <c:v>33298</c:v>
                </c:pt>
                <c:pt idx="520">
                  <c:v>33329</c:v>
                </c:pt>
                <c:pt idx="521">
                  <c:v>33359</c:v>
                </c:pt>
                <c:pt idx="522">
                  <c:v>33390</c:v>
                </c:pt>
                <c:pt idx="523">
                  <c:v>33420</c:v>
                </c:pt>
                <c:pt idx="524">
                  <c:v>33451</c:v>
                </c:pt>
                <c:pt idx="525">
                  <c:v>33482</c:v>
                </c:pt>
                <c:pt idx="526">
                  <c:v>33512</c:v>
                </c:pt>
                <c:pt idx="527">
                  <c:v>33543</c:v>
                </c:pt>
                <c:pt idx="528">
                  <c:v>33573</c:v>
                </c:pt>
                <c:pt idx="529">
                  <c:v>33604</c:v>
                </c:pt>
                <c:pt idx="530">
                  <c:v>33635</c:v>
                </c:pt>
                <c:pt idx="531">
                  <c:v>33664</c:v>
                </c:pt>
                <c:pt idx="532">
                  <c:v>33695</c:v>
                </c:pt>
                <c:pt idx="533">
                  <c:v>33725</c:v>
                </c:pt>
                <c:pt idx="534">
                  <c:v>33756</c:v>
                </c:pt>
                <c:pt idx="535">
                  <c:v>33786</c:v>
                </c:pt>
                <c:pt idx="536">
                  <c:v>33817</c:v>
                </c:pt>
                <c:pt idx="537">
                  <c:v>33848</c:v>
                </c:pt>
                <c:pt idx="538">
                  <c:v>33878</c:v>
                </c:pt>
                <c:pt idx="539">
                  <c:v>33909</c:v>
                </c:pt>
                <c:pt idx="540">
                  <c:v>33939</c:v>
                </c:pt>
                <c:pt idx="541">
                  <c:v>33970</c:v>
                </c:pt>
                <c:pt idx="542">
                  <c:v>34001</c:v>
                </c:pt>
                <c:pt idx="543">
                  <c:v>34029</c:v>
                </c:pt>
                <c:pt idx="544">
                  <c:v>34060</c:v>
                </c:pt>
                <c:pt idx="545">
                  <c:v>34090</c:v>
                </c:pt>
                <c:pt idx="546">
                  <c:v>34121</c:v>
                </c:pt>
                <c:pt idx="547">
                  <c:v>34151</c:v>
                </c:pt>
                <c:pt idx="548">
                  <c:v>34182</c:v>
                </c:pt>
                <c:pt idx="549">
                  <c:v>34213</c:v>
                </c:pt>
                <c:pt idx="550">
                  <c:v>34243</c:v>
                </c:pt>
                <c:pt idx="551">
                  <c:v>34274</c:v>
                </c:pt>
                <c:pt idx="552">
                  <c:v>34304</c:v>
                </c:pt>
                <c:pt idx="553">
                  <c:v>34335</c:v>
                </c:pt>
                <c:pt idx="554">
                  <c:v>34366</c:v>
                </c:pt>
                <c:pt idx="555">
                  <c:v>34394</c:v>
                </c:pt>
                <c:pt idx="556">
                  <c:v>34425</c:v>
                </c:pt>
                <c:pt idx="557">
                  <c:v>34455</c:v>
                </c:pt>
                <c:pt idx="558">
                  <c:v>34486</c:v>
                </c:pt>
                <c:pt idx="559">
                  <c:v>34516</c:v>
                </c:pt>
                <c:pt idx="560">
                  <c:v>34547</c:v>
                </c:pt>
                <c:pt idx="561">
                  <c:v>34578</c:v>
                </c:pt>
                <c:pt idx="562">
                  <c:v>34608</c:v>
                </c:pt>
                <c:pt idx="563">
                  <c:v>34639</c:v>
                </c:pt>
                <c:pt idx="564">
                  <c:v>34669</c:v>
                </c:pt>
                <c:pt idx="565">
                  <c:v>34700</c:v>
                </c:pt>
                <c:pt idx="566">
                  <c:v>34731</c:v>
                </c:pt>
                <c:pt idx="567">
                  <c:v>34759</c:v>
                </c:pt>
                <c:pt idx="568">
                  <c:v>34790</c:v>
                </c:pt>
                <c:pt idx="569">
                  <c:v>34820</c:v>
                </c:pt>
                <c:pt idx="570">
                  <c:v>34851</c:v>
                </c:pt>
                <c:pt idx="571">
                  <c:v>34881</c:v>
                </c:pt>
                <c:pt idx="572">
                  <c:v>34912</c:v>
                </c:pt>
                <c:pt idx="573">
                  <c:v>34943</c:v>
                </c:pt>
                <c:pt idx="574">
                  <c:v>34973</c:v>
                </c:pt>
                <c:pt idx="575">
                  <c:v>35004</c:v>
                </c:pt>
                <c:pt idx="576">
                  <c:v>35034</c:v>
                </c:pt>
                <c:pt idx="577">
                  <c:v>35065</c:v>
                </c:pt>
                <c:pt idx="578">
                  <c:v>35096</c:v>
                </c:pt>
                <c:pt idx="579">
                  <c:v>35125</c:v>
                </c:pt>
                <c:pt idx="580">
                  <c:v>35156</c:v>
                </c:pt>
                <c:pt idx="581">
                  <c:v>35186</c:v>
                </c:pt>
                <c:pt idx="582">
                  <c:v>35217</c:v>
                </c:pt>
                <c:pt idx="583">
                  <c:v>35247</c:v>
                </c:pt>
                <c:pt idx="584">
                  <c:v>35278</c:v>
                </c:pt>
                <c:pt idx="585">
                  <c:v>35309</c:v>
                </c:pt>
                <c:pt idx="586">
                  <c:v>35339</c:v>
                </c:pt>
                <c:pt idx="587">
                  <c:v>35370</c:v>
                </c:pt>
                <c:pt idx="588">
                  <c:v>35400</c:v>
                </c:pt>
                <c:pt idx="589">
                  <c:v>35431</c:v>
                </c:pt>
                <c:pt idx="590">
                  <c:v>35462</c:v>
                </c:pt>
                <c:pt idx="591">
                  <c:v>35490</c:v>
                </c:pt>
                <c:pt idx="592">
                  <c:v>35521</c:v>
                </c:pt>
                <c:pt idx="593">
                  <c:v>35551</c:v>
                </c:pt>
                <c:pt idx="594">
                  <c:v>35582</c:v>
                </c:pt>
                <c:pt idx="595">
                  <c:v>35612</c:v>
                </c:pt>
                <c:pt idx="596">
                  <c:v>35643</c:v>
                </c:pt>
                <c:pt idx="597">
                  <c:v>35674</c:v>
                </c:pt>
                <c:pt idx="598">
                  <c:v>35704</c:v>
                </c:pt>
                <c:pt idx="599">
                  <c:v>35735</c:v>
                </c:pt>
                <c:pt idx="600">
                  <c:v>35765</c:v>
                </c:pt>
                <c:pt idx="601">
                  <c:v>35796</c:v>
                </c:pt>
                <c:pt idx="602">
                  <c:v>35827</c:v>
                </c:pt>
                <c:pt idx="603">
                  <c:v>35855</c:v>
                </c:pt>
                <c:pt idx="604">
                  <c:v>35886</c:v>
                </c:pt>
                <c:pt idx="605">
                  <c:v>35916</c:v>
                </c:pt>
                <c:pt idx="606">
                  <c:v>35947</c:v>
                </c:pt>
                <c:pt idx="607">
                  <c:v>35977</c:v>
                </c:pt>
                <c:pt idx="608">
                  <c:v>36008</c:v>
                </c:pt>
                <c:pt idx="609">
                  <c:v>36039</c:v>
                </c:pt>
                <c:pt idx="610">
                  <c:v>36069</c:v>
                </c:pt>
                <c:pt idx="611">
                  <c:v>36100</c:v>
                </c:pt>
                <c:pt idx="612">
                  <c:v>36130</c:v>
                </c:pt>
                <c:pt idx="613">
                  <c:v>36161</c:v>
                </c:pt>
                <c:pt idx="614">
                  <c:v>36192</c:v>
                </c:pt>
                <c:pt idx="615">
                  <c:v>36220</c:v>
                </c:pt>
                <c:pt idx="616">
                  <c:v>36251</c:v>
                </c:pt>
                <c:pt idx="617">
                  <c:v>36281</c:v>
                </c:pt>
                <c:pt idx="618">
                  <c:v>36312</c:v>
                </c:pt>
                <c:pt idx="619">
                  <c:v>36342</c:v>
                </c:pt>
                <c:pt idx="620">
                  <c:v>36373</c:v>
                </c:pt>
                <c:pt idx="621">
                  <c:v>36404</c:v>
                </c:pt>
                <c:pt idx="622">
                  <c:v>36434</c:v>
                </c:pt>
                <c:pt idx="623">
                  <c:v>36465</c:v>
                </c:pt>
                <c:pt idx="624">
                  <c:v>36495</c:v>
                </c:pt>
                <c:pt idx="625">
                  <c:v>36526</c:v>
                </c:pt>
                <c:pt idx="626">
                  <c:v>36557</c:v>
                </c:pt>
                <c:pt idx="627">
                  <c:v>36586</c:v>
                </c:pt>
                <c:pt idx="628">
                  <c:v>36617</c:v>
                </c:pt>
                <c:pt idx="629">
                  <c:v>36647</c:v>
                </c:pt>
                <c:pt idx="630">
                  <c:v>36678</c:v>
                </c:pt>
                <c:pt idx="631">
                  <c:v>36708</c:v>
                </c:pt>
                <c:pt idx="632">
                  <c:v>36739</c:v>
                </c:pt>
                <c:pt idx="633">
                  <c:v>36770</c:v>
                </c:pt>
                <c:pt idx="634">
                  <c:v>36800</c:v>
                </c:pt>
                <c:pt idx="635">
                  <c:v>36831</c:v>
                </c:pt>
                <c:pt idx="636">
                  <c:v>36861</c:v>
                </c:pt>
                <c:pt idx="637">
                  <c:v>36892</c:v>
                </c:pt>
                <c:pt idx="638">
                  <c:v>36923</c:v>
                </c:pt>
                <c:pt idx="639">
                  <c:v>36951</c:v>
                </c:pt>
                <c:pt idx="640">
                  <c:v>36982</c:v>
                </c:pt>
                <c:pt idx="641">
                  <c:v>37012</c:v>
                </c:pt>
                <c:pt idx="642">
                  <c:v>37043</c:v>
                </c:pt>
                <c:pt idx="643">
                  <c:v>37073</c:v>
                </c:pt>
                <c:pt idx="644">
                  <c:v>37104</c:v>
                </c:pt>
                <c:pt idx="645">
                  <c:v>37135</c:v>
                </c:pt>
                <c:pt idx="646">
                  <c:v>37165</c:v>
                </c:pt>
                <c:pt idx="647">
                  <c:v>37196</c:v>
                </c:pt>
                <c:pt idx="648">
                  <c:v>37226</c:v>
                </c:pt>
                <c:pt idx="649">
                  <c:v>37257</c:v>
                </c:pt>
                <c:pt idx="650">
                  <c:v>37288</c:v>
                </c:pt>
                <c:pt idx="651">
                  <c:v>37316</c:v>
                </c:pt>
                <c:pt idx="652">
                  <c:v>37347</c:v>
                </c:pt>
                <c:pt idx="653">
                  <c:v>37377</c:v>
                </c:pt>
                <c:pt idx="654">
                  <c:v>37408</c:v>
                </c:pt>
                <c:pt idx="655">
                  <c:v>37438</c:v>
                </c:pt>
                <c:pt idx="656">
                  <c:v>37469</c:v>
                </c:pt>
                <c:pt idx="657">
                  <c:v>37500</c:v>
                </c:pt>
                <c:pt idx="658">
                  <c:v>37530</c:v>
                </c:pt>
                <c:pt idx="659">
                  <c:v>37561</c:v>
                </c:pt>
                <c:pt idx="660">
                  <c:v>37591</c:v>
                </c:pt>
                <c:pt idx="661">
                  <c:v>37622</c:v>
                </c:pt>
                <c:pt idx="662">
                  <c:v>37653</c:v>
                </c:pt>
                <c:pt idx="663">
                  <c:v>37681</c:v>
                </c:pt>
                <c:pt idx="664">
                  <c:v>37712</c:v>
                </c:pt>
                <c:pt idx="665">
                  <c:v>37742</c:v>
                </c:pt>
                <c:pt idx="666">
                  <c:v>37773</c:v>
                </c:pt>
                <c:pt idx="667">
                  <c:v>37803</c:v>
                </c:pt>
                <c:pt idx="668">
                  <c:v>37834</c:v>
                </c:pt>
                <c:pt idx="669">
                  <c:v>37865</c:v>
                </c:pt>
                <c:pt idx="670">
                  <c:v>37895</c:v>
                </c:pt>
                <c:pt idx="671">
                  <c:v>37926</c:v>
                </c:pt>
                <c:pt idx="672">
                  <c:v>37956</c:v>
                </c:pt>
                <c:pt idx="673">
                  <c:v>37987</c:v>
                </c:pt>
                <c:pt idx="674">
                  <c:v>38018</c:v>
                </c:pt>
                <c:pt idx="675">
                  <c:v>38047</c:v>
                </c:pt>
                <c:pt idx="676">
                  <c:v>38078</c:v>
                </c:pt>
                <c:pt idx="677">
                  <c:v>38108</c:v>
                </c:pt>
                <c:pt idx="678">
                  <c:v>38139</c:v>
                </c:pt>
                <c:pt idx="679">
                  <c:v>38169</c:v>
                </c:pt>
                <c:pt idx="680">
                  <c:v>38200</c:v>
                </c:pt>
                <c:pt idx="681">
                  <c:v>38231</c:v>
                </c:pt>
                <c:pt idx="682">
                  <c:v>38261</c:v>
                </c:pt>
                <c:pt idx="683">
                  <c:v>38292</c:v>
                </c:pt>
                <c:pt idx="684">
                  <c:v>38322</c:v>
                </c:pt>
                <c:pt idx="685">
                  <c:v>38353</c:v>
                </c:pt>
                <c:pt idx="686">
                  <c:v>38384</c:v>
                </c:pt>
                <c:pt idx="687">
                  <c:v>38412</c:v>
                </c:pt>
                <c:pt idx="688">
                  <c:v>38443</c:v>
                </c:pt>
                <c:pt idx="689">
                  <c:v>38473</c:v>
                </c:pt>
                <c:pt idx="690">
                  <c:v>38504</c:v>
                </c:pt>
                <c:pt idx="691">
                  <c:v>38534</c:v>
                </c:pt>
                <c:pt idx="692">
                  <c:v>38565</c:v>
                </c:pt>
                <c:pt idx="693">
                  <c:v>38596</c:v>
                </c:pt>
                <c:pt idx="694">
                  <c:v>38626</c:v>
                </c:pt>
                <c:pt idx="695">
                  <c:v>38657</c:v>
                </c:pt>
                <c:pt idx="696">
                  <c:v>38687</c:v>
                </c:pt>
                <c:pt idx="697">
                  <c:v>38718</c:v>
                </c:pt>
                <c:pt idx="698">
                  <c:v>38749</c:v>
                </c:pt>
                <c:pt idx="699">
                  <c:v>38777</c:v>
                </c:pt>
                <c:pt idx="700">
                  <c:v>38808</c:v>
                </c:pt>
                <c:pt idx="701">
                  <c:v>38838</c:v>
                </c:pt>
                <c:pt idx="702">
                  <c:v>38869</c:v>
                </c:pt>
                <c:pt idx="703">
                  <c:v>38899</c:v>
                </c:pt>
                <c:pt idx="704">
                  <c:v>38930</c:v>
                </c:pt>
                <c:pt idx="705">
                  <c:v>38961</c:v>
                </c:pt>
                <c:pt idx="706">
                  <c:v>38991</c:v>
                </c:pt>
                <c:pt idx="707">
                  <c:v>39022</c:v>
                </c:pt>
                <c:pt idx="708">
                  <c:v>39052</c:v>
                </c:pt>
                <c:pt idx="709">
                  <c:v>39083</c:v>
                </c:pt>
                <c:pt idx="710">
                  <c:v>39114</c:v>
                </c:pt>
                <c:pt idx="711">
                  <c:v>39142</c:v>
                </c:pt>
                <c:pt idx="712">
                  <c:v>39173</c:v>
                </c:pt>
                <c:pt idx="713">
                  <c:v>39203</c:v>
                </c:pt>
                <c:pt idx="714">
                  <c:v>39234</c:v>
                </c:pt>
                <c:pt idx="715">
                  <c:v>39264</c:v>
                </c:pt>
                <c:pt idx="716">
                  <c:v>39295</c:v>
                </c:pt>
                <c:pt idx="717">
                  <c:v>39326</c:v>
                </c:pt>
                <c:pt idx="718">
                  <c:v>39356</c:v>
                </c:pt>
                <c:pt idx="719">
                  <c:v>39387</c:v>
                </c:pt>
                <c:pt idx="720">
                  <c:v>39417</c:v>
                </c:pt>
                <c:pt idx="721">
                  <c:v>39448</c:v>
                </c:pt>
                <c:pt idx="722">
                  <c:v>39479</c:v>
                </c:pt>
                <c:pt idx="723">
                  <c:v>39508</c:v>
                </c:pt>
                <c:pt idx="724">
                  <c:v>39539</c:v>
                </c:pt>
                <c:pt idx="725">
                  <c:v>39569</c:v>
                </c:pt>
                <c:pt idx="726">
                  <c:v>39600</c:v>
                </c:pt>
                <c:pt idx="727">
                  <c:v>39630</c:v>
                </c:pt>
                <c:pt idx="728">
                  <c:v>39661</c:v>
                </c:pt>
                <c:pt idx="729">
                  <c:v>39692</c:v>
                </c:pt>
                <c:pt idx="730">
                  <c:v>39722</c:v>
                </c:pt>
                <c:pt idx="731">
                  <c:v>39753</c:v>
                </c:pt>
                <c:pt idx="732">
                  <c:v>39783</c:v>
                </c:pt>
                <c:pt idx="733">
                  <c:v>39814</c:v>
                </c:pt>
                <c:pt idx="734">
                  <c:v>39845</c:v>
                </c:pt>
                <c:pt idx="735">
                  <c:v>39873</c:v>
                </c:pt>
                <c:pt idx="736">
                  <c:v>39904</c:v>
                </c:pt>
                <c:pt idx="737">
                  <c:v>39934</c:v>
                </c:pt>
                <c:pt idx="738">
                  <c:v>39965</c:v>
                </c:pt>
                <c:pt idx="739">
                  <c:v>39995</c:v>
                </c:pt>
                <c:pt idx="740">
                  <c:v>40026</c:v>
                </c:pt>
                <c:pt idx="741">
                  <c:v>40057</c:v>
                </c:pt>
                <c:pt idx="742">
                  <c:v>40087</c:v>
                </c:pt>
                <c:pt idx="743">
                  <c:v>40118</c:v>
                </c:pt>
                <c:pt idx="744">
                  <c:v>40148</c:v>
                </c:pt>
                <c:pt idx="745">
                  <c:v>40179</c:v>
                </c:pt>
                <c:pt idx="746">
                  <c:v>40210</c:v>
                </c:pt>
                <c:pt idx="747">
                  <c:v>40238</c:v>
                </c:pt>
                <c:pt idx="748">
                  <c:v>40269</c:v>
                </c:pt>
                <c:pt idx="749">
                  <c:v>40299</c:v>
                </c:pt>
                <c:pt idx="750">
                  <c:v>40330</c:v>
                </c:pt>
                <c:pt idx="751">
                  <c:v>40360</c:v>
                </c:pt>
                <c:pt idx="752">
                  <c:v>40391</c:v>
                </c:pt>
                <c:pt idx="753">
                  <c:v>40422</c:v>
                </c:pt>
                <c:pt idx="754">
                  <c:v>40452</c:v>
                </c:pt>
                <c:pt idx="755">
                  <c:v>40483</c:v>
                </c:pt>
                <c:pt idx="756">
                  <c:v>40513</c:v>
                </c:pt>
                <c:pt idx="757">
                  <c:v>40544</c:v>
                </c:pt>
                <c:pt idx="758">
                  <c:v>40575</c:v>
                </c:pt>
                <c:pt idx="759">
                  <c:v>40603</c:v>
                </c:pt>
                <c:pt idx="760">
                  <c:v>40634</c:v>
                </c:pt>
                <c:pt idx="761">
                  <c:v>40664</c:v>
                </c:pt>
                <c:pt idx="762">
                  <c:v>40695</c:v>
                </c:pt>
                <c:pt idx="763">
                  <c:v>40725</c:v>
                </c:pt>
                <c:pt idx="764">
                  <c:v>40756</c:v>
                </c:pt>
                <c:pt idx="765">
                  <c:v>40787</c:v>
                </c:pt>
                <c:pt idx="766">
                  <c:v>40817</c:v>
                </c:pt>
                <c:pt idx="767">
                  <c:v>40848</c:v>
                </c:pt>
                <c:pt idx="768">
                  <c:v>40878</c:v>
                </c:pt>
              </c:numCache>
            </c:numRef>
          </c:cat>
          <c:val>
            <c:numRef>
              <c:f>Data!$F$4:$F$772</c:f>
              <c:numCache>
                <c:formatCode>General</c:formatCode>
                <c:ptCount val="769"/>
                <c:pt idx="1">
                  <c:v>3.3</c:v>
                </c:pt>
                <c:pt idx="2">
                  <c:v>4.5</c:v>
                </c:pt>
                <c:pt idx="3">
                  <c:v>4.4000000000000004</c:v>
                </c:pt>
                <c:pt idx="4">
                  <c:v>4.3</c:v>
                </c:pt>
                <c:pt idx="5">
                  <c:v>3.7</c:v>
                </c:pt>
                <c:pt idx="6">
                  <c:v>4.3</c:v>
                </c:pt>
                <c:pt idx="7">
                  <c:v>4.2</c:v>
                </c:pt>
                <c:pt idx="8">
                  <c:v>4.4000000000000004</c:v>
                </c:pt>
                <c:pt idx="9">
                  <c:v>4.0999999999999996</c:v>
                </c:pt>
                <c:pt idx="10">
                  <c:v>4</c:v>
                </c:pt>
                <c:pt idx="11">
                  <c:v>3.9</c:v>
                </c:pt>
                <c:pt idx="12">
                  <c:v>4.2</c:v>
                </c:pt>
                <c:pt idx="13">
                  <c:v>4.4000000000000004</c:v>
                </c:pt>
                <c:pt idx="14">
                  <c:v>4.8</c:v>
                </c:pt>
                <c:pt idx="15">
                  <c:v>4.5999999999999996</c:v>
                </c:pt>
                <c:pt idx="16">
                  <c:v>5.5</c:v>
                </c:pt>
                <c:pt idx="17">
                  <c:v>6</c:v>
                </c:pt>
                <c:pt idx="18">
                  <c:v>6.2</c:v>
                </c:pt>
                <c:pt idx="19">
                  <c:v>6.8</c:v>
                </c:pt>
                <c:pt idx="20">
                  <c:v>6.8</c:v>
                </c:pt>
                <c:pt idx="21">
                  <c:v>6.8</c:v>
                </c:pt>
                <c:pt idx="22">
                  <c:v>6.8</c:v>
                </c:pt>
                <c:pt idx="23">
                  <c:v>6.3</c:v>
                </c:pt>
                <c:pt idx="24">
                  <c:v>6.8</c:v>
                </c:pt>
                <c:pt idx="25">
                  <c:v>6.9</c:v>
                </c:pt>
                <c:pt idx="26">
                  <c:v>6.8</c:v>
                </c:pt>
                <c:pt idx="27">
                  <c:v>6.7</c:v>
                </c:pt>
                <c:pt idx="28">
                  <c:v>5.4</c:v>
                </c:pt>
                <c:pt idx="29">
                  <c:v>5.8</c:v>
                </c:pt>
                <c:pt idx="30">
                  <c:v>6.1</c:v>
                </c:pt>
                <c:pt idx="31">
                  <c:v>5.6</c:v>
                </c:pt>
                <c:pt idx="32">
                  <c:v>4.8</c:v>
                </c:pt>
                <c:pt idx="33">
                  <c:v>5.0999999999999996</c:v>
                </c:pt>
                <c:pt idx="34">
                  <c:v>4.8</c:v>
                </c:pt>
                <c:pt idx="35">
                  <c:v>5.2</c:v>
                </c:pt>
                <c:pt idx="36">
                  <c:v>5.2</c:v>
                </c:pt>
                <c:pt idx="37">
                  <c:v>4.5999999999999996</c:v>
                </c:pt>
                <c:pt idx="38">
                  <c:v>4.5</c:v>
                </c:pt>
                <c:pt idx="39">
                  <c:v>4.9000000000000004</c:v>
                </c:pt>
                <c:pt idx="40">
                  <c:v>4.4000000000000004</c:v>
                </c:pt>
                <c:pt idx="41">
                  <c:v>4.2</c:v>
                </c:pt>
                <c:pt idx="42">
                  <c:v>4.3</c:v>
                </c:pt>
                <c:pt idx="43">
                  <c:v>4</c:v>
                </c:pt>
                <c:pt idx="44">
                  <c:v>3.9</c:v>
                </c:pt>
                <c:pt idx="45">
                  <c:v>4.5999999999999996</c:v>
                </c:pt>
                <c:pt idx="46">
                  <c:v>4.5</c:v>
                </c:pt>
                <c:pt idx="47">
                  <c:v>4.5</c:v>
                </c:pt>
                <c:pt idx="48">
                  <c:v>4.2</c:v>
                </c:pt>
                <c:pt idx="49">
                  <c:v>3.9</c:v>
                </c:pt>
                <c:pt idx="50">
                  <c:v>3.8</c:v>
                </c:pt>
                <c:pt idx="51">
                  <c:v>3.5</c:v>
                </c:pt>
                <c:pt idx="52">
                  <c:v>3.5</c:v>
                </c:pt>
                <c:pt idx="53">
                  <c:v>3.9</c:v>
                </c:pt>
                <c:pt idx="54">
                  <c:v>3.5</c:v>
                </c:pt>
                <c:pt idx="55">
                  <c:v>3.7</c:v>
                </c:pt>
                <c:pt idx="56">
                  <c:v>3.8</c:v>
                </c:pt>
                <c:pt idx="57">
                  <c:v>3.3</c:v>
                </c:pt>
                <c:pt idx="58">
                  <c:v>3.8</c:v>
                </c:pt>
                <c:pt idx="59">
                  <c:v>3.4</c:v>
                </c:pt>
                <c:pt idx="60">
                  <c:v>3.1</c:v>
                </c:pt>
                <c:pt idx="61">
                  <c:v>3.1</c:v>
                </c:pt>
                <c:pt idx="62">
                  <c:v>2.9</c:v>
                </c:pt>
                <c:pt idx="63">
                  <c:v>3.2</c:v>
                </c:pt>
                <c:pt idx="64">
                  <c:v>3</c:v>
                </c:pt>
                <c:pt idx="65">
                  <c:v>2.7</c:v>
                </c:pt>
                <c:pt idx="66">
                  <c:v>2.8</c:v>
                </c:pt>
                <c:pt idx="67">
                  <c:v>2.9</c:v>
                </c:pt>
                <c:pt idx="68">
                  <c:v>3</c:v>
                </c:pt>
                <c:pt idx="69">
                  <c:v>3.4</c:v>
                </c:pt>
                <c:pt idx="70">
                  <c:v>3.6</c:v>
                </c:pt>
                <c:pt idx="71">
                  <c:v>3.7</c:v>
                </c:pt>
                <c:pt idx="72">
                  <c:v>5.0999999999999996</c:v>
                </c:pt>
                <c:pt idx="73">
                  <c:v>5.9</c:v>
                </c:pt>
                <c:pt idx="74">
                  <c:v>5.9</c:v>
                </c:pt>
                <c:pt idx="75">
                  <c:v>6.4</c:v>
                </c:pt>
                <c:pt idx="76">
                  <c:v>6.4</c:v>
                </c:pt>
                <c:pt idx="77">
                  <c:v>6.3</c:v>
                </c:pt>
                <c:pt idx="78">
                  <c:v>6.2</c:v>
                </c:pt>
                <c:pt idx="79">
                  <c:v>6.3</c:v>
                </c:pt>
                <c:pt idx="80">
                  <c:v>6.2</c:v>
                </c:pt>
                <c:pt idx="81">
                  <c:v>6.4</c:v>
                </c:pt>
                <c:pt idx="82">
                  <c:v>5.8</c:v>
                </c:pt>
                <c:pt idx="83">
                  <c:v>5.6</c:v>
                </c:pt>
                <c:pt idx="84">
                  <c:v>5.2</c:v>
                </c:pt>
                <c:pt idx="85">
                  <c:v>5.3</c:v>
                </c:pt>
                <c:pt idx="86">
                  <c:v>5</c:v>
                </c:pt>
                <c:pt idx="87">
                  <c:v>4.8</c:v>
                </c:pt>
                <c:pt idx="88">
                  <c:v>4.7</c:v>
                </c:pt>
                <c:pt idx="89">
                  <c:v>4.7</c:v>
                </c:pt>
                <c:pt idx="90">
                  <c:v>4.7</c:v>
                </c:pt>
                <c:pt idx="91">
                  <c:v>4.5999999999999996</c:v>
                </c:pt>
                <c:pt idx="92">
                  <c:v>4.9000000000000004</c:v>
                </c:pt>
                <c:pt idx="93">
                  <c:v>5</c:v>
                </c:pt>
                <c:pt idx="94">
                  <c:v>5.0999999999999996</c:v>
                </c:pt>
                <c:pt idx="95">
                  <c:v>4.9000000000000004</c:v>
                </c:pt>
                <c:pt idx="96">
                  <c:v>4.9000000000000004</c:v>
                </c:pt>
                <c:pt idx="97">
                  <c:v>4.5</c:v>
                </c:pt>
                <c:pt idx="98">
                  <c:v>4.3</c:v>
                </c:pt>
                <c:pt idx="99">
                  <c:v>5.0999999999999996</c:v>
                </c:pt>
                <c:pt idx="100">
                  <c:v>4.8</c:v>
                </c:pt>
                <c:pt idx="101">
                  <c:v>5</c:v>
                </c:pt>
                <c:pt idx="102">
                  <c:v>5.0999999999999996</c:v>
                </c:pt>
                <c:pt idx="103">
                  <c:v>5.7</c:v>
                </c:pt>
                <c:pt idx="104">
                  <c:v>4.8</c:v>
                </c:pt>
                <c:pt idx="105">
                  <c:v>4.5999999999999996</c:v>
                </c:pt>
                <c:pt idx="106">
                  <c:v>4.7</c:v>
                </c:pt>
                <c:pt idx="107">
                  <c:v>4.9000000000000004</c:v>
                </c:pt>
                <c:pt idx="108">
                  <c:v>4.7</c:v>
                </c:pt>
                <c:pt idx="109">
                  <c:v>4.8</c:v>
                </c:pt>
                <c:pt idx="110">
                  <c:v>4.5</c:v>
                </c:pt>
                <c:pt idx="111">
                  <c:v>4.3</c:v>
                </c:pt>
                <c:pt idx="112">
                  <c:v>4.2</c:v>
                </c:pt>
                <c:pt idx="113">
                  <c:v>4.7</c:v>
                </c:pt>
                <c:pt idx="114">
                  <c:v>4.8</c:v>
                </c:pt>
                <c:pt idx="115">
                  <c:v>4.8</c:v>
                </c:pt>
                <c:pt idx="116">
                  <c:v>4.7</c:v>
                </c:pt>
                <c:pt idx="117">
                  <c:v>4.5999999999999996</c:v>
                </c:pt>
                <c:pt idx="118">
                  <c:v>4.5999999999999996</c:v>
                </c:pt>
                <c:pt idx="119">
                  <c:v>5.0999999999999996</c:v>
                </c:pt>
                <c:pt idx="120">
                  <c:v>5.0999999999999996</c:v>
                </c:pt>
                <c:pt idx="121">
                  <c:v>5.9</c:v>
                </c:pt>
                <c:pt idx="122">
                  <c:v>6.6</c:v>
                </c:pt>
                <c:pt idx="123">
                  <c:v>6.6</c:v>
                </c:pt>
                <c:pt idx="124">
                  <c:v>7.6</c:v>
                </c:pt>
                <c:pt idx="125">
                  <c:v>7.3</c:v>
                </c:pt>
                <c:pt idx="126">
                  <c:v>7.1</c:v>
                </c:pt>
                <c:pt idx="127">
                  <c:v>7.3</c:v>
                </c:pt>
                <c:pt idx="128">
                  <c:v>7.2</c:v>
                </c:pt>
                <c:pt idx="129">
                  <c:v>7</c:v>
                </c:pt>
                <c:pt idx="130">
                  <c:v>6.7</c:v>
                </c:pt>
                <c:pt idx="131">
                  <c:v>6</c:v>
                </c:pt>
                <c:pt idx="132">
                  <c:v>6.2</c:v>
                </c:pt>
                <c:pt idx="133">
                  <c:v>6.2</c:v>
                </c:pt>
                <c:pt idx="134">
                  <c:v>6</c:v>
                </c:pt>
                <c:pt idx="135">
                  <c:v>6.2</c:v>
                </c:pt>
                <c:pt idx="136">
                  <c:v>6.1</c:v>
                </c:pt>
                <c:pt idx="137">
                  <c:v>5.8</c:v>
                </c:pt>
                <c:pt idx="138">
                  <c:v>5.6</c:v>
                </c:pt>
                <c:pt idx="139">
                  <c:v>5.7</c:v>
                </c:pt>
                <c:pt idx="140">
                  <c:v>5.6</c:v>
                </c:pt>
                <c:pt idx="141">
                  <c:v>5.6</c:v>
                </c:pt>
                <c:pt idx="142">
                  <c:v>6.1</c:v>
                </c:pt>
                <c:pt idx="143">
                  <c:v>5.8</c:v>
                </c:pt>
                <c:pt idx="144">
                  <c:v>5.8</c:v>
                </c:pt>
                <c:pt idx="145">
                  <c:v>5.7</c:v>
                </c:pt>
                <c:pt idx="146">
                  <c:v>5.4</c:v>
                </c:pt>
                <c:pt idx="147">
                  <c:v>5.8</c:v>
                </c:pt>
                <c:pt idx="148">
                  <c:v>5.5</c:v>
                </c:pt>
                <c:pt idx="149">
                  <c:v>5.5</c:v>
                </c:pt>
                <c:pt idx="150">
                  <c:v>5.7</c:v>
                </c:pt>
                <c:pt idx="151">
                  <c:v>5.8</c:v>
                </c:pt>
                <c:pt idx="152">
                  <c:v>5.8</c:v>
                </c:pt>
                <c:pt idx="153">
                  <c:v>5.7</c:v>
                </c:pt>
                <c:pt idx="154">
                  <c:v>6.4</c:v>
                </c:pt>
                <c:pt idx="155">
                  <c:v>6.5</c:v>
                </c:pt>
                <c:pt idx="156">
                  <c:v>7</c:v>
                </c:pt>
                <c:pt idx="157">
                  <c:v>6.9</c:v>
                </c:pt>
                <c:pt idx="158">
                  <c:v>7.3</c:v>
                </c:pt>
                <c:pt idx="159">
                  <c:v>7.4</c:v>
                </c:pt>
                <c:pt idx="160">
                  <c:v>7.4</c:v>
                </c:pt>
                <c:pt idx="161">
                  <c:v>7.4</c:v>
                </c:pt>
                <c:pt idx="162">
                  <c:v>7.6</c:v>
                </c:pt>
                <c:pt idx="163">
                  <c:v>7.7</c:v>
                </c:pt>
                <c:pt idx="164">
                  <c:v>7</c:v>
                </c:pt>
                <c:pt idx="165">
                  <c:v>7.3</c:v>
                </c:pt>
                <c:pt idx="166">
                  <c:v>7.2</c:v>
                </c:pt>
                <c:pt idx="167">
                  <c:v>6.6</c:v>
                </c:pt>
                <c:pt idx="168">
                  <c:v>6.4</c:v>
                </c:pt>
                <c:pt idx="169">
                  <c:v>6.7</c:v>
                </c:pt>
                <c:pt idx="170">
                  <c:v>6.2</c:v>
                </c:pt>
                <c:pt idx="171">
                  <c:v>6.3</c:v>
                </c:pt>
                <c:pt idx="172">
                  <c:v>6.2</c:v>
                </c:pt>
                <c:pt idx="173">
                  <c:v>6</c:v>
                </c:pt>
                <c:pt idx="174">
                  <c:v>5.8</c:v>
                </c:pt>
                <c:pt idx="175">
                  <c:v>6.1</c:v>
                </c:pt>
                <c:pt idx="176">
                  <c:v>6.4</c:v>
                </c:pt>
                <c:pt idx="177">
                  <c:v>6.3</c:v>
                </c:pt>
                <c:pt idx="178">
                  <c:v>6.1</c:v>
                </c:pt>
                <c:pt idx="179">
                  <c:v>6.3</c:v>
                </c:pt>
                <c:pt idx="180">
                  <c:v>6.2</c:v>
                </c:pt>
                <c:pt idx="181">
                  <c:v>6.4</c:v>
                </c:pt>
                <c:pt idx="182">
                  <c:v>6.5</c:v>
                </c:pt>
                <c:pt idx="183">
                  <c:v>6.2</c:v>
                </c:pt>
                <c:pt idx="184">
                  <c:v>6.2</c:v>
                </c:pt>
                <c:pt idx="185">
                  <c:v>6.7</c:v>
                </c:pt>
                <c:pt idx="186">
                  <c:v>6.4</c:v>
                </c:pt>
                <c:pt idx="187">
                  <c:v>6.6</c:v>
                </c:pt>
                <c:pt idx="188">
                  <c:v>6.3</c:v>
                </c:pt>
                <c:pt idx="189">
                  <c:v>6.6</c:v>
                </c:pt>
                <c:pt idx="190">
                  <c:v>6.6</c:v>
                </c:pt>
                <c:pt idx="191">
                  <c:v>6.6</c:v>
                </c:pt>
                <c:pt idx="192">
                  <c:v>6.4</c:v>
                </c:pt>
                <c:pt idx="193">
                  <c:v>6.6</c:v>
                </c:pt>
                <c:pt idx="194">
                  <c:v>6.5</c:v>
                </c:pt>
                <c:pt idx="195">
                  <c:v>6.6</c:v>
                </c:pt>
                <c:pt idx="196">
                  <c:v>6.4</c:v>
                </c:pt>
                <c:pt idx="197">
                  <c:v>6.3</c:v>
                </c:pt>
                <c:pt idx="198">
                  <c:v>6.2</c:v>
                </c:pt>
                <c:pt idx="199">
                  <c:v>6</c:v>
                </c:pt>
                <c:pt idx="200">
                  <c:v>5.9</c:v>
                </c:pt>
                <c:pt idx="201">
                  <c:v>6</c:v>
                </c:pt>
                <c:pt idx="202">
                  <c:v>6.1</c:v>
                </c:pt>
                <c:pt idx="203">
                  <c:v>5.9</c:v>
                </c:pt>
                <c:pt idx="204">
                  <c:v>6.2</c:v>
                </c:pt>
                <c:pt idx="205">
                  <c:v>5.9</c:v>
                </c:pt>
                <c:pt idx="206">
                  <c:v>6.4</c:v>
                </c:pt>
                <c:pt idx="207">
                  <c:v>5.9</c:v>
                </c:pt>
                <c:pt idx="208">
                  <c:v>5.9</c:v>
                </c:pt>
                <c:pt idx="209">
                  <c:v>5.5</c:v>
                </c:pt>
                <c:pt idx="210">
                  <c:v>5.7</c:v>
                </c:pt>
                <c:pt idx="211">
                  <c:v>5.3</c:v>
                </c:pt>
                <c:pt idx="212">
                  <c:v>5.2</c:v>
                </c:pt>
                <c:pt idx="213">
                  <c:v>5.4</c:v>
                </c:pt>
                <c:pt idx="214">
                  <c:v>5.0999999999999996</c:v>
                </c:pt>
                <c:pt idx="215">
                  <c:v>5.4</c:v>
                </c:pt>
                <c:pt idx="216">
                  <c:v>5.0999999999999996</c:v>
                </c:pt>
                <c:pt idx="217">
                  <c:v>5</c:v>
                </c:pt>
                <c:pt idx="218">
                  <c:v>4.7</c:v>
                </c:pt>
                <c:pt idx="219">
                  <c:v>4.8</c:v>
                </c:pt>
                <c:pt idx="220">
                  <c:v>4.8</c:v>
                </c:pt>
                <c:pt idx="221">
                  <c:v>5.2</c:v>
                </c:pt>
                <c:pt idx="222">
                  <c:v>4.9000000000000004</c:v>
                </c:pt>
                <c:pt idx="223">
                  <c:v>4.8</c:v>
                </c:pt>
                <c:pt idx="224">
                  <c:v>4.9000000000000004</c:v>
                </c:pt>
                <c:pt idx="225">
                  <c:v>4.7</c:v>
                </c:pt>
                <c:pt idx="226">
                  <c:v>4.9000000000000004</c:v>
                </c:pt>
                <c:pt idx="227">
                  <c:v>4.5999999999999996</c:v>
                </c:pt>
                <c:pt idx="228">
                  <c:v>4.8</c:v>
                </c:pt>
                <c:pt idx="229">
                  <c:v>5.4</c:v>
                </c:pt>
                <c:pt idx="230">
                  <c:v>5.2</c:v>
                </c:pt>
                <c:pt idx="231">
                  <c:v>5.0999999999999996</c:v>
                </c:pt>
                <c:pt idx="232">
                  <c:v>4.9000000000000004</c:v>
                </c:pt>
                <c:pt idx="233">
                  <c:v>5</c:v>
                </c:pt>
                <c:pt idx="234">
                  <c:v>5.0999999999999996</c:v>
                </c:pt>
                <c:pt idx="235">
                  <c:v>5.0999999999999996</c:v>
                </c:pt>
                <c:pt idx="236">
                  <c:v>4.9000000000000004</c:v>
                </c:pt>
                <c:pt idx="237">
                  <c:v>5.3</c:v>
                </c:pt>
                <c:pt idx="238">
                  <c:v>5.6</c:v>
                </c:pt>
                <c:pt idx="239">
                  <c:v>5.2</c:v>
                </c:pt>
                <c:pt idx="240">
                  <c:v>5.0999999999999996</c:v>
                </c:pt>
                <c:pt idx="241">
                  <c:v>5</c:v>
                </c:pt>
                <c:pt idx="242">
                  <c:v>5.0999999999999996</c:v>
                </c:pt>
                <c:pt idx="243">
                  <c:v>4.8</c:v>
                </c:pt>
                <c:pt idx="244">
                  <c:v>4.7</c:v>
                </c:pt>
                <c:pt idx="245">
                  <c:v>4.7</c:v>
                </c:pt>
                <c:pt idx="246">
                  <c:v>4.9000000000000004</c:v>
                </c:pt>
                <c:pt idx="247">
                  <c:v>5</c:v>
                </c:pt>
                <c:pt idx="248">
                  <c:v>4.7</c:v>
                </c:pt>
                <c:pt idx="249">
                  <c:v>4.5</c:v>
                </c:pt>
                <c:pt idx="250">
                  <c:v>4.5</c:v>
                </c:pt>
                <c:pt idx="251">
                  <c:v>4.5999999999999996</c:v>
                </c:pt>
                <c:pt idx="252">
                  <c:v>4.5999999999999996</c:v>
                </c:pt>
                <c:pt idx="253">
                  <c:v>4.5999999999999996</c:v>
                </c:pt>
                <c:pt idx="254">
                  <c:v>4.5999999999999996</c:v>
                </c:pt>
                <c:pt idx="255">
                  <c:v>4.5999999999999996</c:v>
                </c:pt>
                <c:pt idx="256">
                  <c:v>4.7</c:v>
                </c:pt>
                <c:pt idx="257">
                  <c:v>4.5999999999999996</c:v>
                </c:pt>
                <c:pt idx="258">
                  <c:v>4.8</c:v>
                </c:pt>
                <c:pt idx="259">
                  <c:v>4.5999999999999996</c:v>
                </c:pt>
                <c:pt idx="260">
                  <c:v>4.8</c:v>
                </c:pt>
                <c:pt idx="261">
                  <c:v>4.9000000000000004</c:v>
                </c:pt>
                <c:pt idx="262">
                  <c:v>5</c:v>
                </c:pt>
                <c:pt idx="263">
                  <c:v>4.5</c:v>
                </c:pt>
                <c:pt idx="264">
                  <c:v>4.5</c:v>
                </c:pt>
                <c:pt idx="265">
                  <c:v>4.9000000000000004</c:v>
                </c:pt>
                <c:pt idx="266">
                  <c:v>5.0999999999999996</c:v>
                </c:pt>
                <c:pt idx="267">
                  <c:v>5.6</c:v>
                </c:pt>
                <c:pt idx="268">
                  <c:v>5.5</c:v>
                </c:pt>
                <c:pt idx="269">
                  <c:v>5.7</c:v>
                </c:pt>
                <c:pt idx="270">
                  <c:v>5.7</c:v>
                </c:pt>
                <c:pt idx="271">
                  <c:v>5.8</c:v>
                </c:pt>
                <c:pt idx="272">
                  <c:v>6</c:v>
                </c:pt>
                <c:pt idx="273">
                  <c:v>6.3</c:v>
                </c:pt>
                <c:pt idx="274">
                  <c:v>6.4</c:v>
                </c:pt>
                <c:pt idx="275">
                  <c:v>6.9</c:v>
                </c:pt>
                <c:pt idx="276">
                  <c:v>6.9</c:v>
                </c:pt>
                <c:pt idx="277">
                  <c:v>6.8</c:v>
                </c:pt>
                <c:pt idx="278">
                  <c:v>6.8</c:v>
                </c:pt>
                <c:pt idx="279">
                  <c:v>7.1</c:v>
                </c:pt>
                <c:pt idx="280">
                  <c:v>7</c:v>
                </c:pt>
                <c:pt idx="281">
                  <c:v>6.9</c:v>
                </c:pt>
                <c:pt idx="282">
                  <c:v>6.9</c:v>
                </c:pt>
                <c:pt idx="283">
                  <c:v>7</c:v>
                </c:pt>
                <c:pt idx="284">
                  <c:v>7</c:v>
                </c:pt>
                <c:pt idx="285">
                  <c:v>6.9</c:v>
                </c:pt>
                <c:pt idx="286">
                  <c:v>6.8</c:v>
                </c:pt>
                <c:pt idx="287">
                  <c:v>7</c:v>
                </c:pt>
                <c:pt idx="288">
                  <c:v>6.8</c:v>
                </c:pt>
                <c:pt idx="289">
                  <c:v>6.7</c:v>
                </c:pt>
                <c:pt idx="290">
                  <c:v>6.4</c:v>
                </c:pt>
                <c:pt idx="291">
                  <c:v>6.7</c:v>
                </c:pt>
                <c:pt idx="292">
                  <c:v>6.7</c:v>
                </c:pt>
                <c:pt idx="293">
                  <c:v>6.6</c:v>
                </c:pt>
                <c:pt idx="294">
                  <c:v>6.8</c:v>
                </c:pt>
                <c:pt idx="295">
                  <c:v>7</c:v>
                </c:pt>
                <c:pt idx="296">
                  <c:v>6.9</c:v>
                </c:pt>
                <c:pt idx="297">
                  <c:v>6.7</c:v>
                </c:pt>
                <c:pt idx="298">
                  <c:v>6.8</c:v>
                </c:pt>
                <c:pt idx="299">
                  <c:v>6.2</c:v>
                </c:pt>
                <c:pt idx="300">
                  <c:v>6.2</c:v>
                </c:pt>
                <c:pt idx="301">
                  <c:v>6.1</c:v>
                </c:pt>
                <c:pt idx="302">
                  <c:v>6.2</c:v>
                </c:pt>
                <c:pt idx="303">
                  <c:v>6</c:v>
                </c:pt>
                <c:pt idx="304">
                  <c:v>6.1</c:v>
                </c:pt>
                <c:pt idx="305">
                  <c:v>5.7</c:v>
                </c:pt>
                <c:pt idx="306">
                  <c:v>6</c:v>
                </c:pt>
                <c:pt idx="307">
                  <c:v>6</c:v>
                </c:pt>
                <c:pt idx="308">
                  <c:v>6</c:v>
                </c:pt>
                <c:pt idx="309">
                  <c:v>6.1</c:v>
                </c:pt>
                <c:pt idx="310">
                  <c:v>5.7</c:v>
                </c:pt>
                <c:pt idx="311">
                  <c:v>6</c:v>
                </c:pt>
                <c:pt idx="312">
                  <c:v>6.1</c:v>
                </c:pt>
                <c:pt idx="313">
                  <c:v>6.2</c:v>
                </c:pt>
                <c:pt idx="314">
                  <c:v>6.2</c:v>
                </c:pt>
                <c:pt idx="315">
                  <c:v>6.1</c:v>
                </c:pt>
                <c:pt idx="316">
                  <c:v>6</c:v>
                </c:pt>
                <c:pt idx="317">
                  <c:v>6.3</c:v>
                </c:pt>
                <c:pt idx="318">
                  <c:v>6.5</c:v>
                </c:pt>
                <c:pt idx="319">
                  <c:v>6.8</c:v>
                </c:pt>
                <c:pt idx="320">
                  <c:v>6.5</c:v>
                </c:pt>
                <c:pt idx="321">
                  <c:v>7.1</c:v>
                </c:pt>
                <c:pt idx="322">
                  <c:v>7.1</c:v>
                </c:pt>
                <c:pt idx="323">
                  <c:v>7.9</c:v>
                </c:pt>
                <c:pt idx="324">
                  <c:v>8.3000000000000007</c:v>
                </c:pt>
                <c:pt idx="325">
                  <c:v>9.2000000000000011</c:v>
                </c:pt>
                <c:pt idx="326">
                  <c:v>9.1</c:v>
                </c:pt>
                <c:pt idx="327">
                  <c:v>9.6</c:v>
                </c:pt>
                <c:pt idx="328">
                  <c:v>9.6</c:v>
                </c:pt>
                <c:pt idx="329">
                  <c:v>9.8000000000000007</c:v>
                </c:pt>
                <c:pt idx="330">
                  <c:v>9.4</c:v>
                </c:pt>
                <c:pt idx="331">
                  <c:v>9.3000000000000007</c:v>
                </c:pt>
                <c:pt idx="332">
                  <c:v>9.2000000000000011</c:v>
                </c:pt>
                <c:pt idx="333">
                  <c:v>9</c:v>
                </c:pt>
                <c:pt idx="334">
                  <c:v>9.2000000000000011</c:v>
                </c:pt>
                <c:pt idx="335">
                  <c:v>9</c:v>
                </c:pt>
                <c:pt idx="336">
                  <c:v>9.1</c:v>
                </c:pt>
                <c:pt idx="337">
                  <c:v>8.9</c:v>
                </c:pt>
                <c:pt idx="338">
                  <c:v>8.8000000000000007</c:v>
                </c:pt>
                <c:pt idx="339">
                  <c:v>8.6</c:v>
                </c:pt>
                <c:pt idx="340">
                  <c:v>8.6</c:v>
                </c:pt>
                <c:pt idx="341">
                  <c:v>8.1</c:v>
                </c:pt>
                <c:pt idx="342">
                  <c:v>8.4</c:v>
                </c:pt>
                <c:pt idx="343">
                  <c:v>8.8000000000000007</c:v>
                </c:pt>
                <c:pt idx="344">
                  <c:v>9</c:v>
                </c:pt>
                <c:pt idx="345">
                  <c:v>8.7000000000000011</c:v>
                </c:pt>
                <c:pt idx="346">
                  <c:v>8.7000000000000011</c:v>
                </c:pt>
                <c:pt idx="347">
                  <c:v>8.7000000000000011</c:v>
                </c:pt>
                <c:pt idx="348">
                  <c:v>8.5</c:v>
                </c:pt>
                <c:pt idx="349">
                  <c:v>8.5</c:v>
                </c:pt>
                <c:pt idx="350">
                  <c:v>8.6</c:v>
                </c:pt>
                <c:pt idx="351">
                  <c:v>8.6</c:v>
                </c:pt>
                <c:pt idx="352">
                  <c:v>8.4</c:v>
                </c:pt>
                <c:pt idx="353">
                  <c:v>7.9</c:v>
                </c:pt>
                <c:pt idx="354">
                  <c:v>8.4</c:v>
                </c:pt>
                <c:pt idx="355">
                  <c:v>8</c:v>
                </c:pt>
                <c:pt idx="356">
                  <c:v>8.1</c:v>
                </c:pt>
                <c:pt idx="357">
                  <c:v>8.1</c:v>
                </c:pt>
                <c:pt idx="358">
                  <c:v>7.9</c:v>
                </c:pt>
                <c:pt idx="359">
                  <c:v>8.1</c:v>
                </c:pt>
                <c:pt idx="360">
                  <c:v>7.5</c:v>
                </c:pt>
                <c:pt idx="361">
                  <c:v>7.6</c:v>
                </c:pt>
                <c:pt idx="362">
                  <c:v>7.2</c:v>
                </c:pt>
                <c:pt idx="363">
                  <c:v>7.2</c:v>
                </c:pt>
                <c:pt idx="364">
                  <c:v>7.1</c:v>
                </c:pt>
                <c:pt idx="365">
                  <c:v>7.2</c:v>
                </c:pt>
                <c:pt idx="366">
                  <c:v>7.2</c:v>
                </c:pt>
                <c:pt idx="367">
                  <c:v>7.6</c:v>
                </c:pt>
                <c:pt idx="368">
                  <c:v>7.2</c:v>
                </c:pt>
                <c:pt idx="369">
                  <c:v>7.2</c:v>
                </c:pt>
                <c:pt idx="370">
                  <c:v>6.7</c:v>
                </c:pt>
                <c:pt idx="371">
                  <c:v>7</c:v>
                </c:pt>
                <c:pt idx="372">
                  <c:v>7</c:v>
                </c:pt>
                <c:pt idx="373">
                  <c:v>6.9</c:v>
                </c:pt>
                <c:pt idx="374">
                  <c:v>6.9</c:v>
                </c:pt>
                <c:pt idx="375">
                  <c:v>6.8</c:v>
                </c:pt>
                <c:pt idx="376">
                  <c:v>6.8</c:v>
                </c:pt>
                <c:pt idx="377">
                  <c:v>6.7</c:v>
                </c:pt>
                <c:pt idx="378">
                  <c:v>6.8</c:v>
                </c:pt>
                <c:pt idx="379">
                  <c:v>6.6</c:v>
                </c:pt>
                <c:pt idx="380">
                  <c:v>7.1</c:v>
                </c:pt>
                <c:pt idx="381">
                  <c:v>6.7</c:v>
                </c:pt>
                <c:pt idx="382">
                  <c:v>6.9</c:v>
                </c:pt>
                <c:pt idx="383">
                  <c:v>6.7</c:v>
                </c:pt>
                <c:pt idx="384">
                  <c:v>6.8</c:v>
                </c:pt>
                <c:pt idx="385">
                  <c:v>6.9</c:v>
                </c:pt>
                <c:pt idx="386">
                  <c:v>7</c:v>
                </c:pt>
                <c:pt idx="387">
                  <c:v>6.9</c:v>
                </c:pt>
                <c:pt idx="388">
                  <c:v>7.2</c:v>
                </c:pt>
                <c:pt idx="389">
                  <c:v>7.5</c:v>
                </c:pt>
                <c:pt idx="390">
                  <c:v>7.6</c:v>
                </c:pt>
                <c:pt idx="391">
                  <c:v>7.8</c:v>
                </c:pt>
                <c:pt idx="392">
                  <c:v>7.8</c:v>
                </c:pt>
                <c:pt idx="393">
                  <c:v>7.3</c:v>
                </c:pt>
                <c:pt idx="394">
                  <c:v>7.7</c:v>
                </c:pt>
                <c:pt idx="395">
                  <c:v>7.6</c:v>
                </c:pt>
                <c:pt idx="396">
                  <c:v>7.6</c:v>
                </c:pt>
                <c:pt idx="397">
                  <c:v>7.8</c:v>
                </c:pt>
                <c:pt idx="398">
                  <c:v>7.7</c:v>
                </c:pt>
                <c:pt idx="399">
                  <c:v>7.7</c:v>
                </c:pt>
                <c:pt idx="400">
                  <c:v>7.6</c:v>
                </c:pt>
                <c:pt idx="401">
                  <c:v>7.8</c:v>
                </c:pt>
                <c:pt idx="402">
                  <c:v>7.8</c:v>
                </c:pt>
                <c:pt idx="403">
                  <c:v>7.7</c:v>
                </c:pt>
                <c:pt idx="404">
                  <c:v>7.7</c:v>
                </c:pt>
                <c:pt idx="405">
                  <c:v>8.1</c:v>
                </c:pt>
                <c:pt idx="406">
                  <c:v>8.3000000000000007</c:v>
                </c:pt>
                <c:pt idx="407">
                  <c:v>8.4</c:v>
                </c:pt>
                <c:pt idx="408">
                  <c:v>8.5</c:v>
                </c:pt>
                <c:pt idx="409">
                  <c:v>8.5</c:v>
                </c:pt>
                <c:pt idx="410">
                  <c:v>8.9</c:v>
                </c:pt>
                <c:pt idx="411">
                  <c:v>8.9</c:v>
                </c:pt>
                <c:pt idx="412">
                  <c:v>9.3000000000000007</c:v>
                </c:pt>
                <c:pt idx="413">
                  <c:v>9.3000000000000007</c:v>
                </c:pt>
                <c:pt idx="414">
                  <c:v>9.2000000000000011</c:v>
                </c:pt>
                <c:pt idx="415">
                  <c:v>9.6</c:v>
                </c:pt>
                <c:pt idx="416">
                  <c:v>9.4</c:v>
                </c:pt>
                <c:pt idx="417">
                  <c:v>9.5</c:v>
                </c:pt>
                <c:pt idx="418">
                  <c:v>9.8000000000000007</c:v>
                </c:pt>
                <c:pt idx="419">
                  <c:v>10.200000000000001</c:v>
                </c:pt>
                <c:pt idx="420">
                  <c:v>10.4</c:v>
                </c:pt>
                <c:pt idx="421">
                  <c:v>10.1</c:v>
                </c:pt>
                <c:pt idx="422">
                  <c:v>9.9</c:v>
                </c:pt>
                <c:pt idx="423">
                  <c:v>9.8000000000000007</c:v>
                </c:pt>
                <c:pt idx="424">
                  <c:v>9.5</c:v>
                </c:pt>
                <c:pt idx="425">
                  <c:v>9.5</c:v>
                </c:pt>
                <c:pt idx="426">
                  <c:v>9.9</c:v>
                </c:pt>
                <c:pt idx="427">
                  <c:v>9</c:v>
                </c:pt>
                <c:pt idx="428">
                  <c:v>9</c:v>
                </c:pt>
                <c:pt idx="429">
                  <c:v>8.7000000000000011</c:v>
                </c:pt>
                <c:pt idx="430">
                  <c:v>8.5</c:v>
                </c:pt>
                <c:pt idx="431">
                  <c:v>8.2000000000000011</c:v>
                </c:pt>
                <c:pt idx="432">
                  <c:v>8.3000000000000007</c:v>
                </c:pt>
                <c:pt idx="433">
                  <c:v>7.9</c:v>
                </c:pt>
                <c:pt idx="434">
                  <c:v>7.8</c:v>
                </c:pt>
                <c:pt idx="435">
                  <c:v>7.8</c:v>
                </c:pt>
                <c:pt idx="436">
                  <c:v>7.8</c:v>
                </c:pt>
                <c:pt idx="437">
                  <c:v>7.6</c:v>
                </c:pt>
                <c:pt idx="438">
                  <c:v>7.4</c:v>
                </c:pt>
                <c:pt idx="439">
                  <c:v>7.6</c:v>
                </c:pt>
                <c:pt idx="440">
                  <c:v>7.8</c:v>
                </c:pt>
                <c:pt idx="441">
                  <c:v>7.4</c:v>
                </c:pt>
                <c:pt idx="442">
                  <c:v>7.7</c:v>
                </c:pt>
                <c:pt idx="443">
                  <c:v>7.4</c:v>
                </c:pt>
                <c:pt idx="444">
                  <c:v>7.4</c:v>
                </c:pt>
                <c:pt idx="445">
                  <c:v>7.6</c:v>
                </c:pt>
                <c:pt idx="446">
                  <c:v>7.4</c:v>
                </c:pt>
                <c:pt idx="447">
                  <c:v>7.5</c:v>
                </c:pt>
                <c:pt idx="448">
                  <c:v>7.5</c:v>
                </c:pt>
                <c:pt idx="449">
                  <c:v>7.6</c:v>
                </c:pt>
                <c:pt idx="450">
                  <c:v>7.5</c:v>
                </c:pt>
                <c:pt idx="451">
                  <c:v>7.6</c:v>
                </c:pt>
                <c:pt idx="452">
                  <c:v>7.3</c:v>
                </c:pt>
                <c:pt idx="453">
                  <c:v>7.4</c:v>
                </c:pt>
                <c:pt idx="454">
                  <c:v>7.3</c:v>
                </c:pt>
                <c:pt idx="455">
                  <c:v>7.2</c:v>
                </c:pt>
                <c:pt idx="456">
                  <c:v>7.2</c:v>
                </c:pt>
                <c:pt idx="457">
                  <c:v>6.9</c:v>
                </c:pt>
                <c:pt idx="458">
                  <c:v>7.4</c:v>
                </c:pt>
                <c:pt idx="459">
                  <c:v>7.4</c:v>
                </c:pt>
                <c:pt idx="460">
                  <c:v>7.4</c:v>
                </c:pt>
                <c:pt idx="461">
                  <c:v>7.3</c:v>
                </c:pt>
                <c:pt idx="462">
                  <c:v>7.3</c:v>
                </c:pt>
                <c:pt idx="463">
                  <c:v>7</c:v>
                </c:pt>
                <c:pt idx="464">
                  <c:v>6.9</c:v>
                </c:pt>
                <c:pt idx="465">
                  <c:v>6.9</c:v>
                </c:pt>
                <c:pt idx="466">
                  <c:v>6.9</c:v>
                </c:pt>
                <c:pt idx="467">
                  <c:v>6.9</c:v>
                </c:pt>
                <c:pt idx="468">
                  <c:v>6.5</c:v>
                </c:pt>
                <c:pt idx="469">
                  <c:v>6.6</c:v>
                </c:pt>
                <c:pt idx="470">
                  <c:v>6.6</c:v>
                </c:pt>
                <c:pt idx="471">
                  <c:v>6.7</c:v>
                </c:pt>
                <c:pt idx="472">
                  <c:v>6.3</c:v>
                </c:pt>
                <c:pt idx="473">
                  <c:v>6.2</c:v>
                </c:pt>
                <c:pt idx="474">
                  <c:v>6</c:v>
                </c:pt>
                <c:pt idx="475">
                  <c:v>6</c:v>
                </c:pt>
                <c:pt idx="476">
                  <c:v>6</c:v>
                </c:pt>
                <c:pt idx="477">
                  <c:v>6</c:v>
                </c:pt>
                <c:pt idx="478">
                  <c:v>6.1</c:v>
                </c:pt>
                <c:pt idx="479">
                  <c:v>6</c:v>
                </c:pt>
                <c:pt idx="480">
                  <c:v>5.8</c:v>
                </c:pt>
                <c:pt idx="481">
                  <c:v>5.8</c:v>
                </c:pt>
                <c:pt idx="482">
                  <c:v>5.9</c:v>
                </c:pt>
                <c:pt idx="483">
                  <c:v>5.7</c:v>
                </c:pt>
                <c:pt idx="484">
                  <c:v>5.6</c:v>
                </c:pt>
                <c:pt idx="485">
                  <c:v>5.6</c:v>
                </c:pt>
                <c:pt idx="486">
                  <c:v>5.4</c:v>
                </c:pt>
                <c:pt idx="487">
                  <c:v>5.5</c:v>
                </c:pt>
                <c:pt idx="488">
                  <c:v>5.6</c:v>
                </c:pt>
                <c:pt idx="489">
                  <c:v>5.5</c:v>
                </c:pt>
                <c:pt idx="490">
                  <c:v>5.4</c:v>
                </c:pt>
                <c:pt idx="491">
                  <c:v>5.3</c:v>
                </c:pt>
                <c:pt idx="492">
                  <c:v>5.3</c:v>
                </c:pt>
                <c:pt idx="493">
                  <c:v>5.4</c:v>
                </c:pt>
                <c:pt idx="494">
                  <c:v>5.0999999999999996</c:v>
                </c:pt>
                <c:pt idx="495">
                  <c:v>5.2</c:v>
                </c:pt>
                <c:pt idx="496">
                  <c:v>5.3</c:v>
                </c:pt>
                <c:pt idx="497">
                  <c:v>5.4</c:v>
                </c:pt>
                <c:pt idx="498">
                  <c:v>5.6</c:v>
                </c:pt>
                <c:pt idx="499">
                  <c:v>5.6</c:v>
                </c:pt>
                <c:pt idx="500">
                  <c:v>5.4</c:v>
                </c:pt>
                <c:pt idx="501">
                  <c:v>5.2</c:v>
                </c:pt>
                <c:pt idx="502">
                  <c:v>5.4</c:v>
                </c:pt>
                <c:pt idx="503">
                  <c:v>5.4</c:v>
                </c:pt>
                <c:pt idx="504">
                  <c:v>5.4</c:v>
                </c:pt>
                <c:pt idx="505">
                  <c:v>5.3</c:v>
                </c:pt>
                <c:pt idx="506">
                  <c:v>5.4</c:v>
                </c:pt>
                <c:pt idx="507">
                  <c:v>5.3</c:v>
                </c:pt>
                <c:pt idx="508">
                  <c:v>5.4</c:v>
                </c:pt>
                <c:pt idx="509">
                  <c:v>5.4</c:v>
                </c:pt>
                <c:pt idx="510">
                  <c:v>5.2</c:v>
                </c:pt>
                <c:pt idx="511">
                  <c:v>5.4</c:v>
                </c:pt>
                <c:pt idx="512">
                  <c:v>5.6</c:v>
                </c:pt>
                <c:pt idx="513">
                  <c:v>5.8</c:v>
                </c:pt>
                <c:pt idx="514">
                  <c:v>5.7</c:v>
                </c:pt>
                <c:pt idx="515">
                  <c:v>5.9</c:v>
                </c:pt>
                <c:pt idx="516">
                  <c:v>5.9</c:v>
                </c:pt>
                <c:pt idx="517">
                  <c:v>6.2</c:v>
                </c:pt>
                <c:pt idx="518">
                  <c:v>6.1</c:v>
                </c:pt>
                <c:pt idx="519">
                  <c:v>6.3</c:v>
                </c:pt>
                <c:pt idx="520">
                  <c:v>6.2</c:v>
                </c:pt>
                <c:pt idx="521">
                  <c:v>6.6</c:v>
                </c:pt>
                <c:pt idx="522">
                  <c:v>6.5</c:v>
                </c:pt>
                <c:pt idx="523">
                  <c:v>6.3</c:v>
                </c:pt>
                <c:pt idx="524">
                  <c:v>6.5</c:v>
                </c:pt>
                <c:pt idx="525">
                  <c:v>6.4</c:v>
                </c:pt>
                <c:pt idx="526">
                  <c:v>6.6</c:v>
                </c:pt>
                <c:pt idx="527">
                  <c:v>6.7</c:v>
                </c:pt>
                <c:pt idx="528">
                  <c:v>6.9</c:v>
                </c:pt>
                <c:pt idx="529">
                  <c:v>6.7</c:v>
                </c:pt>
                <c:pt idx="530">
                  <c:v>6.9</c:v>
                </c:pt>
                <c:pt idx="531">
                  <c:v>6.9</c:v>
                </c:pt>
                <c:pt idx="532">
                  <c:v>6.9</c:v>
                </c:pt>
                <c:pt idx="533">
                  <c:v>7.1</c:v>
                </c:pt>
                <c:pt idx="534">
                  <c:v>7.3</c:v>
                </c:pt>
                <c:pt idx="535">
                  <c:v>7.3</c:v>
                </c:pt>
                <c:pt idx="536">
                  <c:v>7.2</c:v>
                </c:pt>
                <c:pt idx="537">
                  <c:v>7.2</c:v>
                </c:pt>
                <c:pt idx="538">
                  <c:v>6.8</c:v>
                </c:pt>
                <c:pt idx="539">
                  <c:v>7</c:v>
                </c:pt>
                <c:pt idx="540">
                  <c:v>7.2</c:v>
                </c:pt>
                <c:pt idx="541">
                  <c:v>7</c:v>
                </c:pt>
                <c:pt idx="542">
                  <c:v>6.9</c:v>
                </c:pt>
                <c:pt idx="543">
                  <c:v>6.5</c:v>
                </c:pt>
                <c:pt idx="544">
                  <c:v>6.7</c:v>
                </c:pt>
                <c:pt idx="545">
                  <c:v>6.8</c:v>
                </c:pt>
                <c:pt idx="546">
                  <c:v>6.7</c:v>
                </c:pt>
                <c:pt idx="547">
                  <c:v>6.5</c:v>
                </c:pt>
                <c:pt idx="548">
                  <c:v>6.4</c:v>
                </c:pt>
                <c:pt idx="549">
                  <c:v>6.4</c:v>
                </c:pt>
                <c:pt idx="550">
                  <c:v>6.5</c:v>
                </c:pt>
                <c:pt idx="551">
                  <c:v>6.5</c:v>
                </c:pt>
                <c:pt idx="552">
                  <c:v>6.4</c:v>
                </c:pt>
                <c:pt idx="553">
                  <c:v>6.4</c:v>
                </c:pt>
                <c:pt idx="554">
                  <c:v>6.4</c:v>
                </c:pt>
                <c:pt idx="555">
                  <c:v>6.5</c:v>
                </c:pt>
                <c:pt idx="556">
                  <c:v>6.3</c:v>
                </c:pt>
                <c:pt idx="557">
                  <c:v>6</c:v>
                </c:pt>
                <c:pt idx="558">
                  <c:v>6.1</c:v>
                </c:pt>
                <c:pt idx="559">
                  <c:v>5.9</c:v>
                </c:pt>
                <c:pt idx="560">
                  <c:v>6</c:v>
                </c:pt>
                <c:pt idx="561">
                  <c:v>5.9</c:v>
                </c:pt>
                <c:pt idx="562">
                  <c:v>5.7</c:v>
                </c:pt>
                <c:pt idx="563">
                  <c:v>5.6</c:v>
                </c:pt>
                <c:pt idx="564">
                  <c:v>5.5</c:v>
                </c:pt>
                <c:pt idx="565">
                  <c:v>5.6</c:v>
                </c:pt>
                <c:pt idx="566">
                  <c:v>5.5</c:v>
                </c:pt>
                <c:pt idx="567">
                  <c:v>5.5</c:v>
                </c:pt>
                <c:pt idx="568">
                  <c:v>5.9</c:v>
                </c:pt>
                <c:pt idx="569">
                  <c:v>5.5</c:v>
                </c:pt>
                <c:pt idx="570">
                  <c:v>5.7</c:v>
                </c:pt>
                <c:pt idx="571">
                  <c:v>5.8</c:v>
                </c:pt>
                <c:pt idx="572">
                  <c:v>5.6</c:v>
                </c:pt>
                <c:pt idx="573">
                  <c:v>5.7</c:v>
                </c:pt>
                <c:pt idx="574">
                  <c:v>5.7</c:v>
                </c:pt>
                <c:pt idx="575">
                  <c:v>5.5</c:v>
                </c:pt>
                <c:pt idx="576">
                  <c:v>5.5</c:v>
                </c:pt>
                <c:pt idx="577">
                  <c:v>5.8</c:v>
                </c:pt>
                <c:pt idx="578">
                  <c:v>5.4</c:v>
                </c:pt>
                <c:pt idx="579">
                  <c:v>5.3</c:v>
                </c:pt>
                <c:pt idx="580">
                  <c:v>5.5</c:v>
                </c:pt>
                <c:pt idx="581">
                  <c:v>5.5</c:v>
                </c:pt>
                <c:pt idx="582">
                  <c:v>5.3</c:v>
                </c:pt>
                <c:pt idx="583">
                  <c:v>5.4</c:v>
                </c:pt>
                <c:pt idx="584">
                  <c:v>5.3</c:v>
                </c:pt>
                <c:pt idx="585">
                  <c:v>5.2</c:v>
                </c:pt>
                <c:pt idx="586">
                  <c:v>5.4</c:v>
                </c:pt>
                <c:pt idx="587">
                  <c:v>5.4</c:v>
                </c:pt>
                <c:pt idx="588">
                  <c:v>5.7</c:v>
                </c:pt>
                <c:pt idx="589">
                  <c:v>5.3</c:v>
                </c:pt>
                <c:pt idx="590">
                  <c:v>5.4</c:v>
                </c:pt>
                <c:pt idx="591">
                  <c:v>5.2</c:v>
                </c:pt>
                <c:pt idx="592">
                  <c:v>5</c:v>
                </c:pt>
                <c:pt idx="593">
                  <c:v>5.2</c:v>
                </c:pt>
                <c:pt idx="594">
                  <c:v>5</c:v>
                </c:pt>
                <c:pt idx="595">
                  <c:v>5</c:v>
                </c:pt>
                <c:pt idx="596">
                  <c:v>4.9000000000000004</c:v>
                </c:pt>
                <c:pt idx="597">
                  <c:v>5</c:v>
                </c:pt>
                <c:pt idx="598">
                  <c:v>4.7</c:v>
                </c:pt>
                <c:pt idx="599">
                  <c:v>4.7</c:v>
                </c:pt>
                <c:pt idx="600">
                  <c:v>4.8</c:v>
                </c:pt>
                <c:pt idx="601">
                  <c:v>4.8</c:v>
                </c:pt>
                <c:pt idx="602">
                  <c:v>4.8</c:v>
                </c:pt>
                <c:pt idx="603">
                  <c:v>4.8</c:v>
                </c:pt>
                <c:pt idx="604">
                  <c:v>4.5999999999999996</c:v>
                </c:pt>
                <c:pt idx="605">
                  <c:v>4.5</c:v>
                </c:pt>
                <c:pt idx="606">
                  <c:v>4.5999999999999996</c:v>
                </c:pt>
                <c:pt idx="607">
                  <c:v>4.5</c:v>
                </c:pt>
                <c:pt idx="608">
                  <c:v>4.5999999999999996</c:v>
                </c:pt>
                <c:pt idx="609">
                  <c:v>4.5999999999999996</c:v>
                </c:pt>
                <c:pt idx="610">
                  <c:v>4.7</c:v>
                </c:pt>
                <c:pt idx="611">
                  <c:v>4.5999999999999996</c:v>
                </c:pt>
                <c:pt idx="612">
                  <c:v>4.4000000000000004</c:v>
                </c:pt>
                <c:pt idx="613">
                  <c:v>4.4000000000000004</c:v>
                </c:pt>
                <c:pt idx="614">
                  <c:v>4.5</c:v>
                </c:pt>
                <c:pt idx="615">
                  <c:v>4.4000000000000004</c:v>
                </c:pt>
                <c:pt idx="616">
                  <c:v>4.5999999999999996</c:v>
                </c:pt>
                <c:pt idx="617">
                  <c:v>4.2</c:v>
                </c:pt>
                <c:pt idx="618">
                  <c:v>4.4000000000000004</c:v>
                </c:pt>
                <c:pt idx="619">
                  <c:v>4.5</c:v>
                </c:pt>
                <c:pt idx="620">
                  <c:v>4.3</c:v>
                </c:pt>
                <c:pt idx="621">
                  <c:v>4.4000000000000004</c:v>
                </c:pt>
                <c:pt idx="622">
                  <c:v>4.0999999999999996</c:v>
                </c:pt>
                <c:pt idx="623">
                  <c:v>4.2</c:v>
                </c:pt>
                <c:pt idx="624">
                  <c:v>4.0999999999999996</c:v>
                </c:pt>
                <c:pt idx="625">
                  <c:v>4.0999999999999996</c:v>
                </c:pt>
                <c:pt idx="626">
                  <c:v>4.0999999999999996</c:v>
                </c:pt>
                <c:pt idx="627">
                  <c:v>4.3</c:v>
                </c:pt>
                <c:pt idx="628">
                  <c:v>4</c:v>
                </c:pt>
                <c:pt idx="629">
                  <c:v>4.2</c:v>
                </c:pt>
                <c:pt idx="630">
                  <c:v>4.0999999999999996</c:v>
                </c:pt>
                <c:pt idx="631">
                  <c:v>4.2</c:v>
                </c:pt>
                <c:pt idx="632">
                  <c:v>4.3</c:v>
                </c:pt>
                <c:pt idx="633">
                  <c:v>4</c:v>
                </c:pt>
                <c:pt idx="634">
                  <c:v>3.9</c:v>
                </c:pt>
                <c:pt idx="635">
                  <c:v>4</c:v>
                </c:pt>
                <c:pt idx="636">
                  <c:v>3.8</c:v>
                </c:pt>
                <c:pt idx="637">
                  <c:v>4.0999999999999996</c:v>
                </c:pt>
                <c:pt idx="638">
                  <c:v>4.2</c:v>
                </c:pt>
                <c:pt idx="639">
                  <c:v>4.2</c:v>
                </c:pt>
                <c:pt idx="640">
                  <c:v>4.3</c:v>
                </c:pt>
                <c:pt idx="641">
                  <c:v>4.2</c:v>
                </c:pt>
                <c:pt idx="642">
                  <c:v>4.4000000000000004</c:v>
                </c:pt>
                <c:pt idx="643">
                  <c:v>4.5</c:v>
                </c:pt>
                <c:pt idx="644">
                  <c:v>4.8</c:v>
                </c:pt>
                <c:pt idx="645">
                  <c:v>5</c:v>
                </c:pt>
                <c:pt idx="646">
                  <c:v>5.2</c:v>
                </c:pt>
                <c:pt idx="647">
                  <c:v>5.4</c:v>
                </c:pt>
                <c:pt idx="648">
                  <c:v>5.7</c:v>
                </c:pt>
                <c:pt idx="649">
                  <c:v>5.5</c:v>
                </c:pt>
                <c:pt idx="650">
                  <c:v>5.5</c:v>
                </c:pt>
                <c:pt idx="651">
                  <c:v>5.6</c:v>
                </c:pt>
                <c:pt idx="652">
                  <c:v>5.9</c:v>
                </c:pt>
                <c:pt idx="653">
                  <c:v>5.7</c:v>
                </c:pt>
                <c:pt idx="654">
                  <c:v>5.6</c:v>
                </c:pt>
                <c:pt idx="655">
                  <c:v>5.7</c:v>
                </c:pt>
                <c:pt idx="656">
                  <c:v>5.5</c:v>
                </c:pt>
                <c:pt idx="657">
                  <c:v>5.5</c:v>
                </c:pt>
                <c:pt idx="658">
                  <c:v>5.6</c:v>
                </c:pt>
                <c:pt idx="659">
                  <c:v>5.6</c:v>
                </c:pt>
                <c:pt idx="660">
                  <c:v>5.7</c:v>
                </c:pt>
                <c:pt idx="661">
                  <c:v>5.4</c:v>
                </c:pt>
                <c:pt idx="662">
                  <c:v>5.6</c:v>
                </c:pt>
                <c:pt idx="663">
                  <c:v>5.7</c:v>
                </c:pt>
                <c:pt idx="664">
                  <c:v>5.7</c:v>
                </c:pt>
                <c:pt idx="665">
                  <c:v>5.7</c:v>
                </c:pt>
                <c:pt idx="666">
                  <c:v>5.9</c:v>
                </c:pt>
                <c:pt idx="667">
                  <c:v>5.7</c:v>
                </c:pt>
                <c:pt idx="668">
                  <c:v>5.8</c:v>
                </c:pt>
                <c:pt idx="669">
                  <c:v>5.8</c:v>
                </c:pt>
                <c:pt idx="670">
                  <c:v>5.7</c:v>
                </c:pt>
                <c:pt idx="671">
                  <c:v>5.4</c:v>
                </c:pt>
                <c:pt idx="672">
                  <c:v>5.6</c:v>
                </c:pt>
                <c:pt idx="673">
                  <c:v>5.7</c:v>
                </c:pt>
                <c:pt idx="674">
                  <c:v>5.5</c:v>
                </c:pt>
                <c:pt idx="675">
                  <c:v>5.8</c:v>
                </c:pt>
                <c:pt idx="676">
                  <c:v>5.4</c:v>
                </c:pt>
                <c:pt idx="677">
                  <c:v>5.4</c:v>
                </c:pt>
                <c:pt idx="678">
                  <c:v>5.6</c:v>
                </c:pt>
                <c:pt idx="679">
                  <c:v>5.5</c:v>
                </c:pt>
                <c:pt idx="680">
                  <c:v>5.2</c:v>
                </c:pt>
                <c:pt idx="681">
                  <c:v>5.2</c:v>
                </c:pt>
                <c:pt idx="682">
                  <c:v>5.3</c:v>
                </c:pt>
                <c:pt idx="683">
                  <c:v>5.2</c:v>
                </c:pt>
                <c:pt idx="684">
                  <c:v>5.0999999999999996</c:v>
                </c:pt>
                <c:pt idx="685">
                  <c:v>5.0999999999999996</c:v>
                </c:pt>
                <c:pt idx="686">
                  <c:v>5.3</c:v>
                </c:pt>
                <c:pt idx="687">
                  <c:v>5.0999999999999996</c:v>
                </c:pt>
                <c:pt idx="688">
                  <c:v>5.2</c:v>
                </c:pt>
                <c:pt idx="689">
                  <c:v>5.2</c:v>
                </c:pt>
                <c:pt idx="690">
                  <c:v>5.0999999999999996</c:v>
                </c:pt>
                <c:pt idx="691">
                  <c:v>5.0999999999999996</c:v>
                </c:pt>
                <c:pt idx="692">
                  <c:v>4.9000000000000004</c:v>
                </c:pt>
                <c:pt idx="693">
                  <c:v>5.0999999999999996</c:v>
                </c:pt>
                <c:pt idx="694">
                  <c:v>5.0999999999999996</c:v>
                </c:pt>
                <c:pt idx="695">
                  <c:v>5.0999999999999996</c:v>
                </c:pt>
                <c:pt idx="696">
                  <c:v>4.9000000000000004</c:v>
                </c:pt>
                <c:pt idx="697">
                  <c:v>4.8</c:v>
                </c:pt>
                <c:pt idx="698">
                  <c:v>4.8</c:v>
                </c:pt>
                <c:pt idx="699">
                  <c:v>4.7</c:v>
                </c:pt>
                <c:pt idx="700">
                  <c:v>4.7</c:v>
                </c:pt>
                <c:pt idx="701">
                  <c:v>4.5</c:v>
                </c:pt>
                <c:pt idx="702">
                  <c:v>4.5999999999999996</c:v>
                </c:pt>
                <c:pt idx="703">
                  <c:v>4.7</c:v>
                </c:pt>
                <c:pt idx="704">
                  <c:v>4.5999999999999996</c:v>
                </c:pt>
                <c:pt idx="705">
                  <c:v>4.7</c:v>
                </c:pt>
                <c:pt idx="706">
                  <c:v>4.4000000000000004</c:v>
                </c:pt>
                <c:pt idx="707">
                  <c:v>4.5</c:v>
                </c:pt>
                <c:pt idx="708">
                  <c:v>4.4000000000000004</c:v>
                </c:pt>
                <c:pt idx="709">
                  <c:v>4.5</c:v>
                </c:pt>
                <c:pt idx="710">
                  <c:v>4.3</c:v>
                </c:pt>
                <c:pt idx="711">
                  <c:v>4.3</c:v>
                </c:pt>
                <c:pt idx="712">
                  <c:v>4.4000000000000004</c:v>
                </c:pt>
                <c:pt idx="713">
                  <c:v>4.3</c:v>
                </c:pt>
                <c:pt idx="714">
                  <c:v>4.4000000000000004</c:v>
                </c:pt>
                <c:pt idx="715">
                  <c:v>4.5999999999999996</c:v>
                </c:pt>
                <c:pt idx="716">
                  <c:v>4.5999999999999996</c:v>
                </c:pt>
                <c:pt idx="717">
                  <c:v>4.5</c:v>
                </c:pt>
                <c:pt idx="718">
                  <c:v>4.5999999999999996</c:v>
                </c:pt>
                <c:pt idx="719">
                  <c:v>4.5999999999999996</c:v>
                </c:pt>
                <c:pt idx="720">
                  <c:v>4.9000000000000004</c:v>
                </c:pt>
                <c:pt idx="721">
                  <c:v>4.8</c:v>
                </c:pt>
                <c:pt idx="722">
                  <c:v>4.7</c:v>
                </c:pt>
                <c:pt idx="723">
                  <c:v>5</c:v>
                </c:pt>
                <c:pt idx="724">
                  <c:v>4.8</c:v>
                </c:pt>
                <c:pt idx="725">
                  <c:v>5.2</c:v>
                </c:pt>
                <c:pt idx="726">
                  <c:v>5.3</c:v>
                </c:pt>
                <c:pt idx="727">
                  <c:v>5.3</c:v>
                </c:pt>
                <c:pt idx="728">
                  <c:v>5.9</c:v>
                </c:pt>
                <c:pt idx="729">
                  <c:v>5.5</c:v>
                </c:pt>
                <c:pt idx="730">
                  <c:v>5.9</c:v>
                </c:pt>
                <c:pt idx="731">
                  <c:v>6.2</c:v>
                </c:pt>
                <c:pt idx="732">
                  <c:v>6.5</c:v>
                </c:pt>
                <c:pt idx="733">
                  <c:v>7</c:v>
                </c:pt>
                <c:pt idx="734">
                  <c:v>7.3</c:v>
                </c:pt>
                <c:pt idx="735">
                  <c:v>7.6</c:v>
                </c:pt>
                <c:pt idx="736">
                  <c:v>7.6</c:v>
                </c:pt>
                <c:pt idx="737">
                  <c:v>8</c:v>
                </c:pt>
                <c:pt idx="738">
                  <c:v>8.3000000000000007</c:v>
                </c:pt>
                <c:pt idx="739">
                  <c:v>8.3000000000000007</c:v>
                </c:pt>
                <c:pt idx="740">
                  <c:v>8.3000000000000007</c:v>
                </c:pt>
                <c:pt idx="741">
                  <c:v>8.4</c:v>
                </c:pt>
                <c:pt idx="742">
                  <c:v>8.7000000000000011</c:v>
                </c:pt>
                <c:pt idx="743">
                  <c:v>8.6</c:v>
                </c:pt>
                <c:pt idx="744">
                  <c:v>8.7000000000000011</c:v>
                </c:pt>
                <c:pt idx="745">
                  <c:v>8.4</c:v>
                </c:pt>
                <c:pt idx="746">
                  <c:v>8.6</c:v>
                </c:pt>
                <c:pt idx="747">
                  <c:v>8.6</c:v>
                </c:pt>
                <c:pt idx="748">
                  <c:v>8.8000000000000007</c:v>
                </c:pt>
                <c:pt idx="749">
                  <c:v>8.8000000000000007</c:v>
                </c:pt>
                <c:pt idx="750">
                  <c:v>8.3000000000000007</c:v>
                </c:pt>
                <c:pt idx="751">
                  <c:v>8.5</c:v>
                </c:pt>
                <c:pt idx="752">
                  <c:v>8.6</c:v>
                </c:pt>
                <c:pt idx="753">
                  <c:v>8.5</c:v>
                </c:pt>
                <c:pt idx="754">
                  <c:v>8.8000000000000007</c:v>
                </c:pt>
                <c:pt idx="755">
                  <c:v>9</c:v>
                </c:pt>
                <c:pt idx="756">
                  <c:v>8.6</c:v>
                </c:pt>
                <c:pt idx="757">
                  <c:v>8.5</c:v>
                </c:pt>
                <c:pt idx="758">
                  <c:v>8.5</c:v>
                </c:pt>
                <c:pt idx="759">
                  <c:v>8.3000000000000007</c:v>
                </c:pt>
                <c:pt idx="760">
                  <c:v>8.4</c:v>
                </c:pt>
                <c:pt idx="761">
                  <c:v>8.5</c:v>
                </c:pt>
                <c:pt idx="762">
                  <c:v>8.5</c:v>
                </c:pt>
                <c:pt idx="763">
                  <c:v>8.5</c:v>
                </c:pt>
                <c:pt idx="764">
                  <c:v>8.5</c:v>
                </c:pt>
                <c:pt idx="765">
                  <c:v>8.6</c:v>
                </c:pt>
                <c:pt idx="766">
                  <c:v>8.4</c:v>
                </c:pt>
                <c:pt idx="767">
                  <c:v>8.3000000000000007</c:v>
                </c:pt>
                <c:pt idx="768">
                  <c:v>8.3000000000000007</c:v>
                </c:pt>
              </c:numCache>
            </c:numRef>
          </c:val>
        </c:ser>
        <c:marker val="1"/>
        <c:axId val="105117952"/>
        <c:axId val="105164800"/>
      </c:lineChart>
      <c:dateAx>
        <c:axId val="105117952"/>
        <c:scaling>
          <c:orientation val="minMax"/>
          <c:max val="40878"/>
          <c:min val="17533"/>
        </c:scaling>
        <c:axPos val="b"/>
        <c:numFmt formatCode="yyyy;@" sourceLinked="0"/>
        <c:tickLblPos val="nextTo"/>
        <c:txPr>
          <a:bodyPr/>
          <a:lstStyle/>
          <a:p>
            <a:pPr>
              <a:defRPr>
                <a:latin typeface="Arial" pitchFamily="34" charset="0"/>
                <a:cs typeface="Arial" pitchFamily="34" charset="0"/>
              </a:defRPr>
            </a:pPr>
            <a:endParaRPr lang="en-US"/>
          </a:p>
        </c:txPr>
        <c:crossAx val="105164800"/>
        <c:crosses val="autoZero"/>
        <c:lblOffset val="100"/>
        <c:baseTimeUnit val="months"/>
        <c:majorUnit val="12"/>
        <c:majorTimeUnit val="months"/>
      </c:dateAx>
      <c:valAx>
        <c:axId val="105164800"/>
        <c:scaling>
          <c:orientation val="minMax"/>
        </c:scaling>
        <c:axPos val="l"/>
        <c:majorGridlines/>
        <c:numFmt formatCode="#,##0.0" sourceLinked="0"/>
        <c:tickLblPos val="nextTo"/>
        <c:crossAx val="105117952"/>
        <c:crosses val="autoZero"/>
        <c:crossBetween val="between"/>
      </c:valAx>
    </c:plotArea>
    <c:legend>
      <c:legendPos val="b"/>
      <c:layout>
        <c:manualLayout>
          <c:xMode val="edge"/>
          <c:yMode val="edge"/>
          <c:x val="0.39546494188227116"/>
          <c:y val="0.90715150189559635"/>
          <c:w val="0.2258767286442121"/>
          <c:h val="9.2848498104403765E-2"/>
        </c:manualLayout>
      </c:layout>
    </c:legend>
    <c:plotVisOnly val="1"/>
  </c:chart>
  <c:externalData r:id="rId1"/>
</c:chartSpace>
</file>

<file path=ppt/charts/chart8.xml><?xml version="1.0" encoding="utf-8"?>
<c:chartSpace xmlns:c="http://schemas.openxmlformats.org/drawingml/2006/chart" xmlns:a="http://schemas.openxmlformats.org/drawingml/2006/main" xmlns:r="http://schemas.openxmlformats.org/officeDocument/2006/relationships">
  <c:date1904 val="1"/>
  <c:lang val="en-US"/>
  <c:style val="8"/>
  <c:chart>
    <c:autoTitleDeleted val="1"/>
    <c:plotArea>
      <c:layout>
        <c:manualLayout>
          <c:layoutTarget val="inner"/>
          <c:xMode val="edge"/>
          <c:yMode val="edge"/>
          <c:x val="6.3380408870909483E-2"/>
          <c:y val="5.2998687664042463E-2"/>
          <c:w val="0.91980001926364763"/>
          <c:h val="0.80337349876719955"/>
        </c:manualLayout>
      </c:layout>
      <c:barChart>
        <c:barDir val="col"/>
        <c:grouping val="clustered"/>
        <c:ser>
          <c:idx val="0"/>
          <c:order val="0"/>
          <c:tx>
            <c:strRef>
              <c:f>Data!$B$2</c:f>
              <c:strCache>
                <c:ptCount val="1"/>
                <c:pt idx="0">
                  <c:v>Unemployment Rate</c:v>
                </c:pt>
              </c:strCache>
            </c:strRef>
          </c:tx>
          <c:cat>
            <c:strRef>
              <c:f>Data!$A$3:$A$9</c:f>
              <c:strCache>
                <c:ptCount val="7"/>
                <c:pt idx="0">
                  <c:v>16 to 19 yrs</c:v>
                </c:pt>
                <c:pt idx="1">
                  <c:v>20 to 24 yrs</c:v>
                </c:pt>
                <c:pt idx="2">
                  <c:v>25 to 34 yrs</c:v>
                </c:pt>
                <c:pt idx="3">
                  <c:v>35 to 44 yrs</c:v>
                </c:pt>
                <c:pt idx="4">
                  <c:v>45 to 54 yrs</c:v>
                </c:pt>
                <c:pt idx="5">
                  <c:v>55 to 64 yrs</c:v>
                </c:pt>
                <c:pt idx="6">
                  <c:v>65 years and over</c:v>
                </c:pt>
              </c:strCache>
            </c:strRef>
          </c:cat>
          <c:val>
            <c:numRef>
              <c:f>Data!$B$3:$B$9</c:f>
              <c:numCache>
                <c:formatCode>General</c:formatCode>
                <c:ptCount val="7"/>
                <c:pt idx="0">
                  <c:v>22.9</c:v>
                </c:pt>
                <c:pt idx="1">
                  <c:v>12.5</c:v>
                </c:pt>
                <c:pt idx="2">
                  <c:v>8.7000000000000011</c:v>
                </c:pt>
                <c:pt idx="3">
                  <c:v>6.5</c:v>
                </c:pt>
                <c:pt idx="4">
                  <c:v>5.5</c:v>
                </c:pt>
                <c:pt idx="5">
                  <c:v>3.9</c:v>
                </c:pt>
                <c:pt idx="6">
                  <c:v>4.4000000000000004</c:v>
                </c:pt>
              </c:numCache>
            </c:numRef>
          </c:val>
        </c:ser>
        <c:dLbls>
          <c:showVal val="1"/>
        </c:dLbls>
        <c:gapWidth val="75"/>
        <c:axId val="105172352"/>
        <c:axId val="105333888"/>
      </c:barChart>
      <c:catAx>
        <c:axId val="105172352"/>
        <c:scaling>
          <c:orientation val="minMax"/>
        </c:scaling>
        <c:axPos val="b"/>
        <c:numFmt formatCode="@" sourceLinked="0"/>
        <c:majorTickMark val="none"/>
        <c:tickLblPos val="nextTo"/>
        <c:txPr>
          <a:bodyPr rot="0" vert="horz"/>
          <a:lstStyle/>
          <a:p>
            <a:pPr>
              <a:defRPr sz="1600"/>
            </a:pPr>
            <a:endParaRPr lang="en-US"/>
          </a:p>
        </c:txPr>
        <c:crossAx val="105333888"/>
        <c:crosses val="autoZero"/>
        <c:auto val="1"/>
        <c:lblAlgn val="ctr"/>
        <c:lblOffset val="100"/>
      </c:catAx>
      <c:valAx>
        <c:axId val="105333888"/>
        <c:scaling>
          <c:orientation val="minMax"/>
        </c:scaling>
        <c:axPos val="l"/>
        <c:numFmt formatCode="General" sourceLinked="1"/>
        <c:majorTickMark val="none"/>
        <c:tickLblPos val="nextTo"/>
        <c:crossAx val="105172352"/>
        <c:crosses val="autoZero"/>
        <c:crossBetween val="between"/>
      </c:valAx>
    </c:plotArea>
    <c:plotVisOnly val="1"/>
  </c:chart>
  <c:txPr>
    <a:bodyPr/>
    <a:lstStyle/>
    <a:p>
      <a:pPr>
        <a:defRPr sz="1800"/>
      </a:pPr>
      <a:endParaRPr lang="en-US"/>
    </a:p>
  </c:txPr>
  <c:externalData r:id="rId1"/>
</c:chartSpace>
</file>

<file path=ppt/charts/chart9.xml><?xml version="1.0" encoding="utf-8"?>
<c:chartSpace xmlns:c="http://schemas.openxmlformats.org/drawingml/2006/chart" xmlns:a="http://schemas.openxmlformats.org/drawingml/2006/main" xmlns:r="http://schemas.openxmlformats.org/officeDocument/2006/relationships">
  <c:lang val="en-US"/>
  <c:style val="7"/>
  <c:chart>
    <c:title>
      <c:tx>
        <c:rich>
          <a:bodyPr/>
          <a:lstStyle/>
          <a:p>
            <a:pPr>
              <a:defRPr/>
            </a:pPr>
            <a:r>
              <a:rPr lang="en-US" dirty="0"/>
              <a:t> Race and Hispanic or </a:t>
            </a:r>
            <a:r>
              <a:rPr lang="en-US" dirty="0" smtClean="0"/>
              <a:t>Latino </a:t>
            </a:r>
            <a:r>
              <a:rPr lang="en-US" dirty="0"/>
              <a:t>Origin</a:t>
            </a:r>
          </a:p>
        </c:rich>
      </c:tx>
      <c:layout/>
    </c:title>
    <c:plotArea>
      <c:layout/>
      <c:barChart>
        <c:barDir val="bar"/>
        <c:grouping val="clustered"/>
        <c:ser>
          <c:idx val="0"/>
          <c:order val="0"/>
          <c:tx>
            <c:strRef>
              <c:f>Chart!$A$1</c:f>
              <c:strCache>
                <c:ptCount val="1"/>
                <c:pt idx="0">
                  <c:v>Race and Hispanic or Lationo Origin</c:v>
                </c:pt>
              </c:strCache>
            </c:strRef>
          </c:tx>
          <c:spPr>
            <a:solidFill>
              <a:srgbClr val="009999"/>
            </a:solidFill>
          </c:spPr>
          <c:dLbls>
            <c:numFmt formatCode="0.0%" sourceLinked="0"/>
            <c:txPr>
              <a:bodyPr/>
              <a:lstStyle/>
              <a:p>
                <a:pPr>
                  <a:defRPr sz="1200" baseline="0"/>
                </a:pPr>
                <a:endParaRPr lang="en-US"/>
              </a:p>
            </c:txPr>
            <c:showVal val="1"/>
          </c:dLbls>
          <c:cat>
            <c:strRef>
              <c:f>Chart!$A$2:$A$10</c:f>
              <c:strCache>
                <c:ptCount val="9"/>
                <c:pt idx="0">
                  <c:v>White, one race</c:v>
                </c:pt>
                <c:pt idx="1">
                  <c:v>Black or African American, one race</c:v>
                </c:pt>
                <c:pt idx="2">
                  <c:v>American Indian and Alaska Native, one race</c:v>
                </c:pt>
                <c:pt idx="3">
                  <c:v>Asian, one race</c:v>
                </c:pt>
                <c:pt idx="4">
                  <c:v>Some other race</c:v>
                </c:pt>
                <c:pt idx="5">
                  <c:v>Two or more races</c:v>
                </c:pt>
                <c:pt idx="6">
                  <c:v>Hispanic or Latino origin (of any race)</c:v>
                </c:pt>
                <c:pt idx="7">
                  <c:v>White alone, not Hispanic or Latino</c:v>
                </c:pt>
                <c:pt idx="8">
                  <c:v>Population 20 to 64 years</c:v>
                </c:pt>
              </c:strCache>
            </c:strRef>
          </c:cat>
          <c:val>
            <c:numRef>
              <c:f>Chart!$B$2:$B$10</c:f>
              <c:numCache>
                <c:formatCode>0.0%</c:formatCode>
                <c:ptCount val="9"/>
                <c:pt idx="0">
                  <c:v>0.1</c:v>
                </c:pt>
                <c:pt idx="1">
                  <c:v>0.11700000000000001</c:v>
                </c:pt>
                <c:pt idx="2">
                  <c:v>0.19400000000000001</c:v>
                </c:pt>
                <c:pt idx="3">
                  <c:v>0.108</c:v>
                </c:pt>
                <c:pt idx="4">
                  <c:v>0.122</c:v>
                </c:pt>
                <c:pt idx="5">
                  <c:v>0.14899999999999999</c:v>
                </c:pt>
                <c:pt idx="6">
                  <c:v>0.13100000000000001</c:v>
                </c:pt>
                <c:pt idx="7">
                  <c:v>7.6999999999999999E-2</c:v>
                </c:pt>
                <c:pt idx="8">
                  <c:v>0.10199999999999999</c:v>
                </c:pt>
              </c:numCache>
            </c:numRef>
          </c:val>
        </c:ser>
        <c:dLbls>
          <c:showVal val="1"/>
        </c:dLbls>
        <c:gapWidth val="75"/>
        <c:axId val="105378944"/>
        <c:axId val="105380480"/>
      </c:barChart>
      <c:catAx>
        <c:axId val="105378944"/>
        <c:scaling>
          <c:orientation val="maxMin"/>
        </c:scaling>
        <c:axPos val="l"/>
        <c:majorTickMark val="none"/>
        <c:tickLblPos val="nextTo"/>
        <c:txPr>
          <a:bodyPr/>
          <a:lstStyle/>
          <a:p>
            <a:pPr>
              <a:defRPr sz="1200"/>
            </a:pPr>
            <a:endParaRPr lang="en-US"/>
          </a:p>
        </c:txPr>
        <c:crossAx val="105380480"/>
        <c:crosses val="autoZero"/>
        <c:auto val="1"/>
        <c:lblAlgn val="ctr"/>
        <c:lblOffset val="100"/>
        <c:tickLblSkip val="1"/>
      </c:catAx>
      <c:valAx>
        <c:axId val="105380480"/>
        <c:scaling>
          <c:orientation val="minMax"/>
        </c:scaling>
        <c:delete val="1"/>
        <c:axPos val="t"/>
        <c:numFmt formatCode="0.0%" sourceLinked="1"/>
        <c:majorTickMark val="none"/>
        <c:tickLblPos val="none"/>
        <c:crossAx val="105378944"/>
        <c:crossesAt val="1"/>
        <c:crossBetween val="between"/>
      </c:valAx>
    </c:plotArea>
    <c:plotVisOnly val="1"/>
  </c:chart>
  <c:externalData r:id="rId1"/>
</c:chartSpace>
</file>

<file path=ppt/charts/chart10.xml><?xml version="1.0" encoding="utf-8"?>
<c:chartSpace xmlns:c="http://schemas.openxmlformats.org/drawingml/2006/chart" xmlns:a="http://schemas.openxmlformats.org/drawingml/2006/main" xmlns:r="http://schemas.openxmlformats.org/officeDocument/2006/relationships">
  <c:date1904 val="1"/>
  <c:lang val="en-US"/>
  <c:style val="23"/>
  <c:chart>
    <c:autoTitleDeleted val="1"/>
    <c:plotArea>
      <c:layout/>
      <c:barChart>
        <c:barDir val="col"/>
        <c:grouping val="clustered"/>
        <c:ser>
          <c:idx val="0"/>
          <c:order val="0"/>
          <c:tx>
            <c:strRef>
              <c:f>Sheet1!$B$1</c:f>
              <c:strCache>
                <c:ptCount val="1"/>
                <c:pt idx="0">
                  <c:v>New Mexico</c:v>
                </c:pt>
              </c:strCache>
            </c:strRef>
          </c:tx>
          <c:spPr>
            <a:solidFill>
              <a:srgbClr val="2F8C99"/>
            </a:solidFill>
            <a:effectLst>
              <a:outerShdw blurRad="50800" dist="38100" algn="l" rotWithShape="0">
                <a:prstClr val="black">
                  <a:alpha val="40000"/>
                </a:prstClr>
              </a:outerShdw>
            </a:effectLst>
          </c:spPr>
          <c:cat>
            <c:strRef>
              <c:f>Sheet1!$A$2:$A$3</c:f>
              <c:strCache>
                <c:ptCount val="2"/>
                <c:pt idx="0">
                  <c:v>2010 Estimated Employment</c:v>
                </c:pt>
                <c:pt idx="1">
                  <c:v>2020 Projected Employment</c:v>
                </c:pt>
              </c:strCache>
            </c:strRef>
          </c:cat>
          <c:val>
            <c:numRef>
              <c:f>Sheet1!$B$2:$B$3</c:f>
              <c:numCache>
                <c:formatCode>_(* #,##0_);_(* \(#,##0\);_(* "-"??_);_(@_)</c:formatCode>
                <c:ptCount val="2"/>
                <c:pt idx="0">
                  <c:v>855296</c:v>
                </c:pt>
                <c:pt idx="1">
                  <c:v>991600</c:v>
                </c:pt>
              </c:numCache>
            </c:numRef>
          </c:val>
        </c:ser>
        <c:dLbls>
          <c:showVal val="1"/>
        </c:dLbls>
        <c:gapWidth val="75"/>
        <c:axId val="105443328"/>
        <c:axId val="105444864"/>
      </c:barChart>
      <c:catAx>
        <c:axId val="105443328"/>
        <c:scaling>
          <c:orientation val="minMax"/>
        </c:scaling>
        <c:axPos val="b"/>
        <c:majorTickMark val="none"/>
        <c:tickLblPos val="nextTo"/>
        <c:crossAx val="105444864"/>
        <c:crosses val="autoZero"/>
        <c:auto val="1"/>
        <c:lblAlgn val="ctr"/>
        <c:lblOffset val="100"/>
      </c:catAx>
      <c:valAx>
        <c:axId val="105444864"/>
        <c:scaling>
          <c:orientation val="minMax"/>
        </c:scaling>
        <c:axPos val="l"/>
        <c:numFmt formatCode="_(* #,##0_);_(* \(#,##0\);_(* &quot;-&quot;??_);_(@_)" sourceLinked="1"/>
        <c:majorTickMark val="none"/>
        <c:tickLblPos val="nextTo"/>
        <c:crossAx val="105443328"/>
        <c:crosses val="autoZero"/>
        <c:crossBetween val="between"/>
      </c:valAx>
    </c:plotArea>
    <c:plotVisOnly val="1"/>
  </c:chart>
  <c:txPr>
    <a:bodyPr/>
    <a:lstStyle/>
    <a:p>
      <a:pPr>
        <a:defRPr sz="1800"/>
      </a:pPr>
      <a:endParaRPr lang="en-US"/>
    </a:p>
  </c:txPr>
  <c:externalData r:id="rId1"/>
</c:chartSpace>
</file>

<file path=ppt/charts/chart11.xml><?xml version="1.0" encoding="utf-8"?>
<c:chartSpace xmlns:c="http://schemas.openxmlformats.org/drawingml/2006/chart" xmlns:a="http://schemas.openxmlformats.org/drawingml/2006/main" xmlns:r="http://schemas.openxmlformats.org/officeDocument/2006/relationships">
  <c:lang val="en-US"/>
  <c:chart>
    <c:autoTitleDeleted val="1"/>
    <c:plotArea>
      <c:layout/>
      <c:barChart>
        <c:barDir val="col"/>
        <c:grouping val="stacked"/>
        <c:ser>
          <c:idx val="0"/>
          <c:order val="0"/>
          <c:tx>
            <c:strRef>
              <c:f>Sheet1!$C$1</c:f>
              <c:strCache>
                <c:ptCount val="1"/>
                <c:pt idx="0">
                  <c:v>Central</c:v>
                </c:pt>
              </c:strCache>
            </c:strRef>
          </c:tx>
          <c:spPr>
            <a:solidFill>
              <a:srgbClr val="FFCC66"/>
            </a:solidFill>
            <a:effectLst>
              <a:outerShdw blurRad="50800" dist="38100" dir="2700000" algn="tl" rotWithShape="0">
                <a:prstClr val="black">
                  <a:alpha val="40000"/>
                </a:prstClr>
              </a:outerShdw>
            </a:effectLst>
          </c:spPr>
          <c:cat>
            <c:strRef>
              <c:f>Sheet1!$A$2:$A$3</c:f>
              <c:strCache>
                <c:ptCount val="2"/>
                <c:pt idx="0">
                  <c:v>2010 Estimated Employment</c:v>
                </c:pt>
                <c:pt idx="1">
                  <c:v>2020 Projected Employment</c:v>
                </c:pt>
              </c:strCache>
            </c:strRef>
          </c:cat>
          <c:val>
            <c:numRef>
              <c:f>Sheet1!$C$2:$C$3</c:f>
              <c:numCache>
                <c:formatCode>_(* #,##0_);_(* \(#,##0\);_(* "-"??_);_(@_)</c:formatCode>
                <c:ptCount val="2"/>
                <c:pt idx="0">
                  <c:v>388115</c:v>
                </c:pt>
                <c:pt idx="1">
                  <c:v>447136</c:v>
                </c:pt>
              </c:numCache>
            </c:numRef>
          </c:val>
        </c:ser>
        <c:ser>
          <c:idx val="1"/>
          <c:order val="1"/>
          <c:tx>
            <c:strRef>
              <c:f>Sheet1!$D$1</c:f>
              <c:strCache>
                <c:ptCount val="1"/>
                <c:pt idx="0">
                  <c:v>Eastern</c:v>
                </c:pt>
              </c:strCache>
            </c:strRef>
          </c:tx>
          <c:spPr>
            <a:solidFill>
              <a:srgbClr val="CB922B"/>
            </a:solidFill>
            <a:effectLst>
              <a:outerShdw blurRad="50800" dist="38100" dir="2700000" algn="tl" rotWithShape="0">
                <a:prstClr val="black">
                  <a:alpha val="40000"/>
                </a:prstClr>
              </a:outerShdw>
            </a:effectLst>
          </c:spPr>
          <c:cat>
            <c:strRef>
              <c:f>Sheet1!$A$2:$A$3</c:f>
              <c:strCache>
                <c:ptCount val="2"/>
                <c:pt idx="0">
                  <c:v>2010 Estimated Employment</c:v>
                </c:pt>
                <c:pt idx="1">
                  <c:v>2020 Projected Employment</c:v>
                </c:pt>
              </c:strCache>
            </c:strRef>
          </c:cat>
          <c:val>
            <c:numRef>
              <c:f>Sheet1!$D$2:$D$3</c:f>
              <c:numCache>
                <c:formatCode>_(* #,##0_);_(* \(#,##0\);_(* "-"??_);_(@_)</c:formatCode>
                <c:ptCount val="2"/>
                <c:pt idx="0">
                  <c:v>137945</c:v>
                </c:pt>
                <c:pt idx="1">
                  <c:v>160133</c:v>
                </c:pt>
              </c:numCache>
            </c:numRef>
          </c:val>
        </c:ser>
        <c:ser>
          <c:idx val="2"/>
          <c:order val="2"/>
          <c:tx>
            <c:strRef>
              <c:f>Sheet1!$E$1</c:f>
              <c:strCache>
                <c:ptCount val="1"/>
                <c:pt idx="0">
                  <c:v>Northern</c:v>
                </c:pt>
              </c:strCache>
            </c:strRef>
          </c:tx>
          <c:spPr>
            <a:solidFill>
              <a:schemeClr val="accent6">
                <a:lumMod val="75000"/>
              </a:schemeClr>
            </a:solidFill>
            <a:effectLst>
              <a:outerShdw blurRad="50800" dist="38100" dir="2700000" algn="tl" rotWithShape="0">
                <a:prstClr val="black">
                  <a:alpha val="40000"/>
                </a:prstClr>
              </a:outerShdw>
            </a:effectLst>
          </c:spPr>
          <c:cat>
            <c:strRef>
              <c:f>Sheet1!$A$2:$A$3</c:f>
              <c:strCache>
                <c:ptCount val="2"/>
                <c:pt idx="0">
                  <c:v>2010 Estimated Employment</c:v>
                </c:pt>
                <c:pt idx="1">
                  <c:v>2020 Projected Employment</c:v>
                </c:pt>
              </c:strCache>
            </c:strRef>
          </c:cat>
          <c:val>
            <c:numRef>
              <c:f>Sheet1!$E$2:$E$3</c:f>
              <c:numCache>
                <c:formatCode>_(* #,##0_);_(* \(#,##0\);_(* "-"??_);_(@_)</c:formatCode>
                <c:ptCount val="2"/>
                <c:pt idx="0">
                  <c:v>204724</c:v>
                </c:pt>
                <c:pt idx="1">
                  <c:v>236713</c:v>
                </c:pt>
              </c:numCache>
            </c:numRef>
          </c:val>
        </c:ser>
        <c:ser>
          <c:idx val="3"/>
          <c:order val="3"/>
          <c:tx>
            <c:strRef>
              <c:f>Sheet1!$F$1</c:f>
              <c:strCache>
                <c:ptCount val="1"/>
                <c:pt idx="0">
                  <c:v>Southwestern</c:v>
                </c:pt>
              </c:strCache>
            </c:strRef>
          </c:tx>
          <c:spPr>
            <a:solidFill>
              <a:srgbClr val="B4C745"/>
            </a:solidFill>
            <a:effectLst>
              <a:outerShdw blurRad="50800" dist="38100" dir="2700000" algn="tl" rotWithShape="0">
                <a:prstClr val="black">
                  <a:alpha val="40000"/>
                </a:prstClr>
              </a:outerShdw>
            </a:effectLst>
          </c:spPr>
          <c:cat>
            <c:strRef>
              <c:f>Sheet1!$A$2:$A$3</c:f>
              <c:strCache>
                <c:ptCount val="2"/>
                <c:pt idx="0">
                  <c:v>2010 Estimated Employment</c:v>
                </c:pt>
                <c:pt idx="1">
                  <c:v>2020 Projected Employment</c:v>
                </c:pt>
              </c:strCache>
            </c:strRef>
          </c:cat>
          <c:val>
            <c:numRef>
              <c:f>Sheet1!$F$2:$F$3</c:f>
              <c:numCache>
                <c:formatCode>_(* #,##0_);_(* \(#,##0\);_(* "-"??_);_(@_)</c:formatCode>
                <c:ptCount val="2"/>
                <c:pt idx="0">
                  <c:v>106089</c:v>
                </c:pt>
                <c:pt idx="1">
                  <c:v>121917</c:v>
                </c:pt>
              </c:numCache>
            </c:numRef>
          </c:val>
        </c:ser>
        <c:gapWidth val="300"/>
        <c:overlap val="100"/>
        <c:serLines/>
        <c:axId val="105525632"/>
        <c:axId val="105527168"/>
      </c:barChart>
      <c:catAx>
        <c:axId val="105525632"/>
        <c:scaling>
          <c:orientation val="minMax"/>
        </c:scaling>
        <c:axPos val="b"/>
        <c:majorTickMark val="none"/>
        <c:tickLblPos val="nextTo"/>
        <c:txPr>
          <a:bodyPr/>
          <a:lstStyle/>
          <a:p>
            <a:pPr>
              <a:defRPr sz="1400"/>
            </a:pPr>
            <a:endParaRPr lang="en-US"/>
          </a:p>
        </c:txPr>
        <c:crossAx val="105527168"/>
        <c:crosses val="autoZero"/>
        <c:auto val="1"/>
        <c:lblAlgn val="ctr"/>
        <c:lblOffset val="100"/>
      </c:catAx>
      <c:valAx>
        <c:axId val="105527168"/>
        <c:scaling>
          <c:orientation val="minMax"/>
        </c:scaling>
        <c:axPos val="l"/>
        <c:majorGridlines/>
        <c:numFmt formatCode="_(* #,##0_);_(* \(#,##0\);_(* &quot;-&quot;??_);_(@_)" sourceLinked="1"/>
        <c:tickLblPos val="nextTo"/>
        <c:crossAx val="105525632"/>
        <c:crosses val="autoZero"/>
        <c:crossBetween val="between"/>
      </c:valAx>
    </c:plotArea>
    <c:legend>
      <c:legendPos val="r"/>
      <c:layout>
        <c:manualLayout>
          <c:xMode val="edge"/>
          <c:yMode val="edge"/>
          <c:x val="0.81303352544849461"/>
          <c:y val="0.58531946006749158"/>
          <c:w val="0.17837540925940959"/>
          <c:h val="0.28650393700787502"/>
        </c:manualLayout>
      </c:layout>
      <c:txPr>
        <a:bodyPr/>
        <a:lstStyle/>
        <a:p>
          <a:pPr>
            <a:defRPr sz="1400"/>
          </a:pPr>
          <a:endParaRPr lang="en-US"/>
        </a:p>
      </c:txPr>
    </c:legend>
    <c:plotVisOnly val="1"/>
  </c:chart>
  <c:externalData r:id="rId1"/>
</c:chartSpace>
</file>

<file path=ppt/charts/chart12.xml><?xml version="1.0" encoding="utf-8"?>
<c:chartSpace xmlns:c="http://schemas.openxmlformats.org/drawingml/2006/chart" xmlns:a="http://schemas.openxmlformats.org/drawingml/2006/main" xmlns:r="http://schemas.openxmlformats.org/officeDocument/2006/relationships">
  <c:lang val="en-US"/>
  <c:chart>
    <c:autoTitleDeleted val="1"/>
    <c:plotArea>
      <c:layout>
        <c:manualLayout>
          <c:layoutTarget val="inner"/>
          <c:xMode val="edge"/>
          <c:yMode val="edge"/>
          <c:x val="9.6267507490767207E-2"/>
          <c:y val="3.9618844814209547E-2"/>
          <c:w val="0.89319248826290809"/>
          <c:h val="0.840899795501025"/>
        </c:manualLayout>
      </c:layout>
      <c:lineChart>
        <c:grouping val="standard"/>
        <c:ser>
          <c:idx val="2"/>
          <c:order val="0"/>
          <c:tx>
            <c:v>Straight Line Projection</c:v>
          </c:tx>
          <c:marker>
            <c:symbol val="none"/>
          </c:marker>
          <c:cat>
            <c:numRef>
              <c:f>'ces, projected chart data'!$A$1:$A$121</c:f>
              <c:numCache>
                <c:formatCode>mmm\-yy</c:formatCode>
                <c:ptCount val="121"/>
                <c:pt idx="0">
                  <c:v>39417</c:v>
                </c:pt>
                <c:pt idx="1">
                  <c:v>39448</c:v>
                </c:pt>
                <c:pt idx="2">
                  <c:v>39479</c:v>
                </c:pt>
                <c:pt idx="3">
                  <c:v>39508</c:v>
                </c:pt>
                <c:pt idx="4">
                  <c:v>39539</c:v>
                </c:pt>
                <c:pt idx="5">
                  <c:v>39569</c:v>
                </c:pt>
                <c:pt idx="6">
                  <c:v>39600</c:v>
                </c:pt>
                <c:pt idx="7">
                  <c:v>39630</c:v>
                </c:pt>
                <c:pt idx="8">
                  <c:v>39661</c:v>
                </c:pt>
                <c:pt idx="9">
                  <c:v>39692</c:v>
                </c:pt>
                <c:pt idx="10">
                  <c:v>39722</c:v>
                </c:pt>
                <c:pt idx="11">
                  <c:v>39753</c:v>
                </c:pt>
                <c:pt idx="12">
                  <c:v>39783</c:v>
                </c:pt>
                <c:pt idx="13">
                  <c:v>39814</c:v>
                </c:pt>
                <c:pt idx="14">
                  <c:v>39845</c:v>
                </c:pt>
                <c:pt idx="15">
                  <c:v>39873</c:v>
                </c:pt>
                <c:pt idx="16">
                  <c:v>39904</c:v>
                </c:pt>
                <c:pt idx="17">
                  <c:v>39934</c:v>
                </c:pt>
                <c:pt idx="18">
                  <c:v>39965</c:v>
                </c:pt>
                <c:pt idx="19">
                  <c:v>39995</c:v>
                </c:pt>
                <c:pt idx="20">
                  <c:v>40026</c:v>
                </c:pt>
                <c:pt idx="21">
                  <c:v>40057</c:v>
                </c:pt>
                <c:pt idx="22">
                  <c:v>40087</c:v>
                </c:pt>
                <c:pt idx="23">
                  <c:v>40118</c:v>
                </c:pt>
                <c:pt idx="24">
                  <c:v>40148</c:v>
                </c:pt>
                <c:pt idx="25">
                  <c:v>40179</c:v>
                </c:pt>
                <c:pt idx="26">
                  <c:v>40210</c:v>
                </c:pt>
                <c:pt idx="27">
                  <c:v>40238</c:v>
                </c:pt>
                <c:pt idx="28">
                  <c:v>40269</c:v>
                </c:pt>
                <c:pt idx="29">
                  <c:v>40299</c:v>
                </c:pt>
                <c:pt idx="30">
                  <c:v>40330</c:v>
                </c:pt>
                <c:pt idx="31">
                  <c:v>40360</c:v>
                </c:pt>
                <c:pt idx="32">
                  <c:v>40391</c:v>
                </c:pt>
                <c:pt idx="33">
                  <c:v>40422</c:v>
                </c:pt>
                <c:pt idx="34">
                  <c:v>40452</c:v>
                </c:pt>
                <c:pt idx="35">
                  <c:v>40483</c:v>
                </c:pt>
                <c:pt idx="36">
                  <c:v>40513</c:v>
                </c:pt>
                <c:pt idx="37">
                  <c:v>40544</c:v>
                </c:pt>
                <c:pt idx="38">
                  <c:v>40575</c:v>
                </c:pt>
                <c:pt idx="39">
                  <c:v>40603</c:v>
                </c:pt>
                <c:pt idx="40">
                  <c:v>40634</c:v>
                </c:pt>
                <c:pt idx="41">
                  <c:v>40664</c:v>
                </c:pt>
                <c:pt idx="42">
                  <c:v>40695</c:v>
                </c:pt>
                <c:pt idx="43">
                  <c:v>40725</c:v>
                </c:pt>
                <c:pt idx="44">
                  <c:v>40756</c:v>
                </c:pt>
                <c:pt idx="45">
                  <c:v>40787</c:v>
                </c:pt>
                <c:pt idx="46">
                  <c:v>40817</c:v>
                </c:pt>
                <c:pt idx="47">
                  <c:v>40848</c:v>
                </c:pt>
                <c:pt idx="48">
                  <c:v>40878</c:v>
                </c:pt>
                <c:pt idx="49">
                  <c:v>40909</c:v>
                </c:pt>
                <c:pt idx="50">
                  <c:v>40940</c:v>
                </c:pt>
                <c:pt idx="51">
                  <c:v>40969</c:v>
                </c:pt>
                <c:pt idx="52">
                  <c:v>41000</c:v>
                </c:pt>
                <c:pt idx="53">
                  <c:v>41030</c:v>
                </c:pt>
                <c:pt idx="54">
                  <c:v>41061</c:v>
                </c:pt>
                <c:pt idx="55">
                  <c:v>41091</c:v>
                </c:pt>
                <c:pt idx="56">
                  <c:v>41122</c:v>
                </c:pt>
                <c:pt idx="57">
                  <c:v>41153</c:v>
                </c:pt>
                <c:pt idx="58">
                  <c:v>41183</c:v>
                </c:pt>
                <c:pt idx="59">
                  <c:v>41214</c:v>
                </c:pt>
                <c:pt idx="60">
                  <c:v>41244</c:v>
                </c:pt>
                <c:pt idx="61">
                  <c:v>41275</c:v>
                </c:pt>
                <c:pt idx="62">
                  <c:v>41306</c:v>
                </c:pt>
                <c:pt idx="63">
                  <c:v>41334</c:v>
                </c:pt>
                <c:pt idx="64">
                  <c:v>41365</c:v>
                </c:pt>
                <c:pt idx="65">
                  <c:v>41395</c:v>
                </c:pt>
                <c:pt idx="66">
                  <c:v>41426</c:v>
                </c:pt>
                <c:pt idx="67">
                  <c:v>41456</c:v>
                </c:pt>
                <c:pt idx="68">
                  <c:v>41487</c:v>
                </c:pt>
                <c:pt idx="69">
                  <c:v>41518</c:v>
                </c:pt>
                <c:pt idx="70">
                  <c:v>41548</c:v>
                </c:pt>
                <c:pt idx="71">
                  <c:v>41579</c:v>
                </c:pt>
                <c:pt idx="72">
                  <c:v>41609</c:v>
                </c:pt>
                <c:pt idx="73">
                  <c:v>41640</c:v>
                </c:pt>
                <c:pt idx="74">
                  <c:v>41671</c:v>
                </c:pt>
                <c:pt idx="75">
                  <c:v>41699</c:v>
                </c:pt>
                <c:pt idx="76">
                  <c:v>41730</c:v>
                </c:pt>
                <c:pt idx="77">
                  <c:v>41760</c:v>
                </c:pt>
                <c:pt idx="78">
                  <c:v>41791</c:v>
                </c:pt>
                <c:pt idx="79">
                  <c:v>41821</c:v>
                </c:pt>
                <c:pt idx="80">
                  <c:v>41852</c:v>
                </c:pt>
                <c:pt idx="81">
                  <c:v>41883</c:v>
                </c:pt>
                <c:pt idx="82">
                  <c:v>41913</c:v>
                </c:pt>
                <c:pt idx="83">
                  <c:v>41944</c:v>
                </c:pt>
                <c:pt idx="84">
                  <c:v>41974</c:v>
                </c:pt>
                <c:pt idx="85">
                  <c:v>42005</c:v>
                </c:pt>
                <c:pt idx="86">
                  <c:v>42036</c:v>
                </c:pt>
                <c:pt idx="87">
                  <c:v>42064</c:v>
                </c:pt>
                <c:pt idx="88">
                  <c:v>42095</c:v>
                </c:pt>
                <c:pt idx="89">
                  <c:v>42125</c:v>
                </c:pt>
                <c:pt idx="90">
                  <c:v>42156</c:v>
                </c:pt>
                <c:pt idx="91">
                  <c:v>42186</c:v>
                </c:pt>
                <c:pt idx="92">
                  <c:v>42217</c:v>
                </c:pt>
                <c:pt idx="93">
                  <c:v>42248</c:v>
                </c:pt>
                <c:pt idx="94">
                  <c:v>42278</c:v>
                </c:pt>
                <c:pt idx="95">
                  <c:v>42309</c:v>
                </c:pt>
                <c:pt idx="96">
                  <c:v>42339</c:v>
                </c:pt>
                <c:pt idx="97">
                  <c:v>42370</c:v>
                </c:pt>
                <c:pt idx="98">
                  <c:v>42401</c:v>
                </c:pt>
                <c:pt idx="99">
                  <c:v>42430</c:v>
                </c:pt>
                <c:pt idx="100">
                  <c:v>42461</c:v>
                </c:pt>
                <c:pt idx="101">
                  <c:v>42491</c:v>
                </c:pt>
                <c:pt idx="102">
                  <c:v>42522</c:v>
                </c:pt>
                <c:pt idx="103">
                  <c:v>42552</c:v>
                </c:pt>
                <c:pt idx="104">
                  <c:v>42583</c:v>
                </c:pt>
                <c:pt idx="105">
                  <c:v>42614</c:v>
                </c:pt>
                <c:pt idx="106">
                  <c:v>42644</c:v>
                </c:pt>
                <c:pt idx="107">
                  <c:v>42675</c:v>
                </c:pt>
                <c:pt idx="108">
                  <c:v>42705</c:v>
                </c:pt>
                <c:pt idx="109">
                  <c:v>42736</c:v>
                </c:pt>
                <c:pt idx="110">
                  <c:v>42767</c:v>
                </c:pt>
                <c:pt idx="111">
                  <c:v>42795</c:v>
                </c:pt>
                <c:pt idx="112">
                  <c:v>42826</c:v>
                </c:pt>
                <c:pt idx="113">
                  <c:v>42856</c:v>
                </c:pt>
                <c:pt idx="114">
                  <c:v>42887</c:v>
                </c:pt>
                <c:pt idx="115">
                  <c:v>42917</c:v>
                </c:pt>
                <c:pt idx="116">
                  <c:v>42948</c:v>
                </c:pt>
                <c:pt idx="117">
                  <c:v>42979</c:v>
                </c:pt>
                <c:pt idx="118">
                  <c:v>43009</c:v>
                </c:pt>
                <c:pt idx="119">
                  <c:v>43040</c:v>
                </c:pt>
                <c:pt idx="120">
                  <c:v>43070</c:v>
                </c:pt>
              </c:numCache>
            </c:numRef>
          </c:cat>
          <c:val>
            <c:numRef>
              <c:f>'ces, projected chart data'!$D$1:$D$157</c:f>
              <c:numCache>
                <c:formatCode>_(* #,##0_);_(* \(#,##0\);_(* "-"??_);_(@_)</c:formatCode>
                <c:ptCount val="157"/>
                <c:pt idx="0">
                  <c:v>849100</c:v>
                </c:pt>
                <c:pt idx="1">
                  <c:v>846600</c:v>
                </c:pt>
                <c:pt idx="2">
                  <c:v>849700</c:v>
                </c:pt>
                <c:pt idx="3">
                  <c:v>849600</c:v>
                </c:pt>
                <c:pt idx="4">
                  <c:v>850200</c:v>
                </c:pt>
                <c:pt idx="5">
                  <c:v>849300</c:v>
                </c:pt>
                <c:pt idx="6">
                  <c:v>849700</c:v>
                </c:pt>
                <c:pt idx="7">
                  <c:v>847600</c:v>
                </c:pt>
                <c:pt idx="8">
                  <c:v>847600</c:v>
                </c:pt>
                <c:pt idx="9">
                  <c:v>849000</c:v>
                </c:pt>
                <c:pt idx="10">
                  <c:v>845100</c:v>
                </c:pt>
                <c:pt idx="11">
                  <c:v>842100</c:v>
                </c:pt>
                <c:pt idx="12">
                  <c:v>836000</c:v>
                </c:pt>
                <c:pt idx="13">
                  <c:v>829300</c:v>
                </c:pt>
                <c:pt idx="14">
                  <c:v>824500</c:v>
                </c:pt>
                <c:pt idx="15">
                  <c:v>818700</c:v>
                </c:pt>
                <c:pt idx="16">
                  <c:v>814000</c:v>
                </c:pt>
                <c:pt idx="17">
                  <c:v>813000</c:v>
                </c:pt>
                <c:pt idx="18">
                  <c:v>811000</c:v>
                </c:pt>
                <c:pt idx="19">
                  <c:v>808700</c:v>
                </c:pt>
                <c:pt idx="20">
                  <c:v>809400</c:v>
                </c:pt>
                <c:pt idx="21">
                  <c:v>806900</c:v>
                </c:pt>
                <c:pt idx="22">
                  <c:v>804300</c:v>
                </c:pt>
                <c:pt idx="23">
                  <c:v>803800</c:v>
                </c:pt>
                <c:pt idx="24">
                  <c:v>802300</c:v>
                </c:pt>
                <c:pt idx="25">
                  <c:v>801700</c:v>
                </c:pt>
                <c:pt idx="26">
                  <c:v>802300</c:v>
                </c:pt>
                <c:pt idx="27">
                  <c:v>803400</c:v>
                </c:pt>
                <c:pt idx="28">
                  <c:v>805200</c:v>
                </c:pt>
                <c:pt idx="29">
                  <c:v>806700</c:v>
                </c:pt>
                <c:pt idx="30">
                  <c:v>806400</c:v>
                </c:pt>
                <c:pt idx="31">
                  <c:v>805000</c:v>
                </c:pt>
                <c:pt idx="32">
                  <c:v>803100</c:v>
                </c:pt>
                <c:pt idx="33">
                  <c:v>799500</c:v>
                </c:pt>
                <c:pt idx="34">
                  <c:v>801600</c:v>
                </c:pt>
                <c:pt idx="35">
                  <c:v>801300</c:v>
                </c:pt>
                <c:pt idx="36">
                  <c:v>801200</c:v>
                </c:pt>
                <c:pt idx="37" formatCode="0">
                  <c:v>802201.5</c:v>
                </c:pt>
                <c:pt idx="38" formatCode="0">
                  <c:v>803204.25187499996</c:v>
                </c:pt>
                <c:pt idx="39" formatCode="0">
                  <c:v>804208.25718984369</c:v>
                </c:pt>
                <c:pt idx="40" formatCode="0">
                  <c:v>805213.51751133101</c:v>
                </c:pt>
                <c:pt idx="41" formatCode="0">
                  <c:v>806220.03440822021</c:v>
                </c:pt>
                <c:pt idx="42" formatCode="0">
                  <c:v>807227.80945123045</c:v>
                </c:pt>
                <c:pt idx="43" formatCode="0">
                  <c:v>808236.8442130445</c:v>
                </c:pt>
                <c:pt idx="44" formatCode="0">
                  <c:v>809247.14026831079</c:v>
                </c:pt>
                <c:pt idx="45" formatCode="0">
                  <c:v>810258.6991936462</c:v>
                </c:pt>
                <c:pt idx="46" formatCode="0">
                  <c:v>811271.52256763831</c:v>
                </c:pt>
                <c:pt idx="47" formatCode="0">
                  <c:v>812285.61197084782</c:v>
                </c:pt>
                <c:pt idx="48" formatCode="0">
                  <c:v>813300.96898581134</c:v>
                </c:pt>
                <c:pt idx="49" formatCode="0">
                  <c:v>814317.59519704361</c:v>
                </c:pt>
                <c:pt idx="50" formatCode="0">
                  <c:v>815335.49219103996</c:v>
                </c:pt>
                <c:pt idx="51" formatCode="0">
                  <c:v>816354.6615562787</c:v>
                </c:pt>
                <c:pt idx="52" formatCode="0">
                  <c:v>817375.104883224</c:v>
                </c:pt>
                <c:pt idx="53" formatCode="0">
                  <c:v>818396.82376432803</c:v>
                </c:pt>
                <c:pt idx="54" formatCode="0">
                  <c:v>819419.81979403342</c:v>
                </c:pt>
                <c:pt idx="55" formatCode="0">
                  <c:v>820444.09456877597</c:v>
                </c:pt>
                <c:pt idx="56" formatCode="0">
                  <c:v>821469.64968698693</c:v>
                </c:pt>
                <c:pt idx="57" formatCode="0">
                  <c:v>822496.48674909561</c:v>
                </c:pt>
                <c:pt idx="58" formatCode="0">
                  <c:v>823524.60735753202</c:v>
                </c:pt>
                <c:pt idx="59" formatCode="0">
                  <c:v>824554.01311672898</c:v>
                </c:pt>
                <c:pt idx="60" formatCode="0">
                  <c:v>825584.70563312492</c:v>
                </c:pt>
                <c:pt idx="61" formatCode="0">
                  <c:v>826616.68651516631</c:v>
                </c:pt>
                <c:pt idx="62" formatCode="0">
                  <c:v>827649.95737331023</c:v>
                </c:pt>
                <c:pt idx="63" formatCode="0">
                  <c:v>828684.51982002682</c:v>
                </c:pt>
                <c:pt idx="64" formatCode="0">
                  <c:v>829720.37546980183</c:v>
                </c:pt>
                <c:pt idx="65" formatCode="0">
                  <c:v>830757.52593913907</c:v>
                </c:pt>
                <c:pt idx="66" formatCode="0">
                  <c:v>831795.97284656297</c:v>
                </c:pt>
                <c:pt idx="67" formatCode="0">
                  <c:v>832835.71781262115</c:v>
                </c:pt>
                <c:pt idx="68" formatCode="0">
                  <c:v>833876.76245988696</c:v>
                </c:pt>
                <c:pt idx="69" formatCode="0">
                  <c:v>834919.10841296182</c:v>
                </c:pt>
                <c:pt idx="70" formatCode="0">
                  <c:v>835962.75729847804</c:v>
                </c:pt>
                <c:pt idx="71" formatCode="0">
                  <c:v>837007.7107451011</c:v>
                </c:pt>
                <c:pt idx="72" formatCode="0">
                  <c:v>838053.97038353246</c:v>
                </c:pt>
                <c:pt idx="73" formatCode="0">
                  <c:v>839101.53784651193</c:v>
                </c:pt>
                <c:pt idx="74" formatCode="0">
                  <c:v>840150.41476882005</c:v>
                </c:pt>
                <c:pt idx="75" formatCode="0">
                  <c:v>841200.60278728104</c:v>
                </c:pt>
                <c:pt idx="76" formatCode="0">
                  <c:v>842252.10354076512</c:v>
                </c:pt>
                <c:pt idx="77" formatCode="0">
                  <c:v>843304.91867019108</c:v>
                </c:pt>
                <c:pt idx="78" formatCode="0">
                  <c:v>844359.04981852882</c:v>
                </c:pt>
                <c:pt idx="79" formatCode="0">
                  <c:v>845414.49863080203</c:v>
                </c:pt>
                <c:pt idx="80" formatCode="0">
                  <c:v>846471.26675409055</c:v>
                </c:pt>
                <c:pt idx="81" formatCode="0">
                  <c:v>847529.35583753313</c:v>
                </c:pt>
                <c:pt idx="82" formatCode="0">
                  <c:v>848588.76753233001</c:v>
                </c:pt>
                <c:pt idx="83" formatCode="0">
                  <c:v>849649.50349174545</c:v>
                </c:pt>
                <c:pt idx="84" formatCode="0">
                  <c:v>850711.5653711101</c:v>
                </c:pt>
                <c:pt idx="85" formatCode="0">
                  <c:v>851774.95482782403</c:v>
                </c:pt>
                <c:pt idx="86" formatCode="0">
                  <c:v>852839.67352135875</c:v>
                </c:pt>
                <c:pt idx="87" formatCode="0">
                  <c:v>853905.72311326046</c:v>
                </c:pt>
                <c:pt idx="88" formatCode="0">
                  <c:v>854973.10526715207</c:v>
                </c:pt>
                <c:pt idx="89" formatCode="0">
                  <c:v>856041.82164873602</c:v>
                </c:pt>
                <c:pt idx="90" formatCode="0">
                  <c:v>857111.87392579694</c:v>
                </c:pt>
                <c:pt idx="91" formatCode="0">
                  <c:v>858183.26376820414</c:v>
                </c:pt>
                <c:pt idx="92" formatCode="0">
                  <c:v>859255.99284791434</c:v>
                </c:pt>
                <c:pt idx="93" formatCode="0">
                  <c:v>860330.06283897429</c:v>
                </c:pt>
                <c:pt idx="94" formatCode="0">
                  <c:v>861405.47541752306</c:v>
                </c:pt>
                <c:pt idx="95" formatCode="0">
                  <c:v>862482.23226179497</c:v>
                </c:pt>
                <c:pt idx="96" formatCode="0">
                  <c:v>863560.33505212225</c:v>
                </c:pt>
                <c:pt idx="97" formatCode="0">
                  <c:v>864639.78547093738</c:v>
                </c:pt>
                <c:pt idx="98" formatCode="0">
                  <c:v>865720.58520277601</c:v>
                </c:pt>
                <c:pt idx="99" formatCode="0">
                  <c:v>866802.73593427951</c:v>
                </c:pt>
                <c:pt idx="100" formatCode="0">
                  <c:v>867886.2393541974</c:v>
                </c:pt>
                <c:pt idx="101" formatCode="0">
                  <c:v>868971.09715339018</c:v>
                </c:pt>
                <c:pt idx="102" formatCode="0">
                  <c:v>870057.31102483196</c:v>
                </c:pt>
                <c:pt idx="103" formatCode="0">
                  <c:v>871144.88266361295</c:v>
                </c:pt>
                <c:pt idx="104" formatCode="0">
                  <c:v>872233.81376694248</c:v>
                </c:pt>
                <c:pt idx="105" formatCode="0">
                  <c:v>873324.10603415116</c:v>
                </c:pt>
                <c:pt idx="106" formatCode="0">
                  <c:v>874415.76116669388</c:v>
                </c:pt>
                <c:pt idx="107" formatCode="0">
                  <c:v>875508.78086815227</c:v>
                </c:pt>
                <c:pt idx="108" formatCode="0">
                  <c:v>876603.16684423748</c:v>
                </c:pt>
                <c:pt idx="109" formatCode="0">
                  <c:v>877698.92080279277</c:v>
                </c:pt>
                <c:pt idx="110" formatCode="0">
                  <c:v>878796.04445379623</c:v>
                </c:pt>
                <c:pt idx="111" formatCode="0">
                  <c:v>879894.53950936347</c:v>
                </c:pt>
                <c:pt idx="112" formatCode="0">
                  <c:v>880994.40768375015</c:v>
                </c:pt>
                <c:pt idx="113" formatCode="0">
                  <c:v>882095.65069335478</c:v>
                </c:pt>
                <c:pt idx="114" formatCode="0">
                  <c:v>883198.27025672141</c:v>
                </c:pt>
                <c:pt idx="115" formatCode="0">
                  <c:v>884302.26809454232</c:v>
                </c:pt>
                <c:pt idx="116" formatCode="0">
                  <c:v>885407.64592966053</c:v>
                </c:pt>
                <c:pt idx="117" formatCode="0">
                  <c:v>886514.40548707265</c:v>
                </c:pt>
                <c:pt idx="118" formatCode="0">
                  <c:v>887622.54849393154</c:v>
                </c:pt>
                <c:pt idx="119" formatCode="0">
                  <c:v>888732.07667954895</c:v>
                </c:pt>
                <c:pt idx="120" formatCode="0">
                  <c:v>889842.99177539838</c:v>
                </c:pt>
                <c:pt idx="121" formatCode="0">
                  <c:v>890955.29551511758</c:v>
                </c:pt>
                <c:pt idx="122" formatCode="0">
                  <c:v>892068.98963451153</c:v>
                </c:pt>
                <c:pt idx="123" formatCode="0">
                  <c:v>893184.07587155467</c:v>
                </c:pt>
                <c:pt idx="124" formatCode="0">
                  <c:v>894300.55596639414</c:v>
                </c:pt>
                <c:pt idx="125" formatCode="0">
                  <c:v>895418.43166135217</c:v>
                </c:pt>
                <c:pt idx="126" formatCode="0">
                  <c:v>896537.70470092888</c:v>
                </c:pt>
                <c:pt idx="127" formatCode="0">
                  <c:v>897658.37683180498</c:v>
                </c:pt>
                <c:pt idx="128" formatCode="0">
                  <c:v>898780.44980284479</c:v>
                </c:pt>
                <c:pt idx="129" formatCode="0">
                  <c:v>899903.92536509829</c:v>
                </c:pt>
                <c:pt idx="130" formatCode="0">
                  <c:v>901028.80527180468</c:v>
                </c:pt>
                <c:pt idx="131" formatCode="0">
                  <c:v>902155.09127839445</c:v>
                </c:pt>
                <c:pt idx="132" formatCode="0">
                  <c:v>903282.78514249239</c:v>
                </c:pt>
                <c:pt idx="133" formatCode="0">
                  <c:v>904411.8886239205</c:v>
                </c:pt>
                <c:pt idx="134" formatCode="0">
                  <c:v>905542.40348470036</c:v>
                </c:pt>
                <c:pt idx="135" formatCode="0">
                  <c:v>906674.33148905623</c:v>
                </c:pt>
                <c:pt idx="136" formatCode="0">
                  <c:v>907807.67440341751</c:v>
                </c:pt>
                <c:pt idx="137" formatCode="0">
                  <c:v>908942.43399642175</c:v>
                </c:pt>
                <c:pt idx="138" formatCode="0">
                  <c:v>910078.61203891726</c:v>
                </c:pt>
                <c:pt idx="139" formatCode="0">
                  <c:v>911216.21030396596</c:v>
                </c:pt>
                <c:pt idx="140" formatCode="0">
                  <c:v>912355.23056684586</c:v>
                </c:pt>
                <c:pt idx="141" formatCode="0">
                  <c:v>913495.67460505443</c:v>
                </c:pt>
                <c:pt idx="142" formatCode="0">
                  <c:v>914637.5441983107</c:v>
                </c:pt>
                <c:pt idx="143" formatCode="0">
                  <c:v>915780.84112855862</c:v>
                </c:pt>
                <c:pt idx="144" formatCode="0">
                  <c:v>916925.56717996928</c:v>
                </c:pt>
                <c:pt idx="145" formatCode="0">
                  <c:v>918071.72413894429</c:v>
                </c:pt>
                <c:pt idx="146" formatCode="0">
                  <c:v>919219.313794118</c:v>
                </c:pt>
                <c:pt idx="147" formatCode="0">
                  <c:v>920368.33793636062</c:v>
                </c:pt>
                <c:pt idx="148" formatCode="0">
                  <c:v>921518.79835878103</c:v>
                </c:pt>
                <c:pt idx="149" formatCode="0">
                  <c:v>922670.69685672945</c:v>
                </c:pt>
                <c:pt idx="150" formatCode="0">
                  <c:v>923824.03522780037</c:v>
                </c:pt>
                <c:pt idx="151" formatCode="0">
                  <c:v>924978.81527183508</c:v>
                </c:pt>
                <c:pt idx="152" formatCode="0">
                  <c:v>926135.03879092482</c:v>
                </c:pt>
                <c:pt idx="153" formatCode="0">
                  <c:v>927292.70758941351</c:v>
                </c:pt>
                <c:pt idx="154" formatCode="0">
                  <c:v>928451.82347390032</c:v>
                </c:pt>
                <c:pt idx="155" formatCode="0">
                  <c:v>929612.38825324271</c:v>
                </c:pt>
                <c:pt idx="156" formatCode="General">
                  <c:v>991600</c:v>
                </c:pt>
              </c:numCache>
            </c:numRef>
          </c:val>
        </c:ser>
        <c:ser>
          <c:idx val="0"/>
          <c:order val="1"/>
          <c:tx>
            <c:v>Total Employment</c:v>
          </c:tx>
          <c:marker>
            <c:symbol val="none"/>
          </c:marker>
          <c:cat>
            <c:numRef>
              <c:f>'ces, projected chart data'!$A$1:$A$121</c:f>
              <c:numCache>
                <c:formatCode>mmm\-yy</c:formatCode>
                <c:ptCount val="121"/>
                <c:pt idx="0">
                  <c:v>39417</c:v>
                </c:pt>
                <c:pt idx="1">
                  <c:v>39448</c:v>
                </c:pt>
                <c:pt idx="2">
                  <c:v>39479</c:v>
                </c:pt>
                <c:pt idx="3">
                  <c:v>39508</c:v>
                </c:pt>
                <c:pt idx="4">
                  <c:v>39539</c:v>
                </c:pt>
                <c:pt idx="5">
                  <c:v>39569</c:v>
                </c:pt>
                <c:pt idx="6">
                  <c:v>39600</c:v>
                </c:pt>
                <c:pt idx="7">
                  <c:v>39630</c:v>
                </c:pt>
                <c:pt idx="8">
                  <c:v>39661</c:v>
                </c:pt>
                <c:pt idx="9">
                  <c:v>39692</c:v>
                </c:pt>
                <c:pt idx="10">
                  <c:v>39722</c:v>
                </c:pt>
                <c:pt idx="11">
                  <c:v>39753</c:v>
                </c:pt>
                <c:pt idx="12">
                  <c:v>39783</c:v>
                </c:pt>
                <c:pt idx="13">
                  <c:v>39814</c:v>
                </c:pt>
                <c:pt idx="14">
                  <c:v>39845</c:v>
                </c:pt>
                <c:pt idx="15">
                  <c:v>39873</c:v>
                </c:pt>
                <c:pt idx="16">
                  <c:v>39904</c:v>
                </c:pt>
                <c:pt idx="17">
                  <c:v>39934</c:v>
                </c:pt>
                <c:pt idx="18">
                  <c:v>39965</c:v>
                </c:pt>
                <c:pt idx="19">
                  <c:v>39995</c:v>
                </c:pt>
                <c:pt idx="20">
                  <c:v>40026</c:v>
                </c:pt>
                <c:pt idx="21">
                  <c:v>40057</c:v>
                </c:pt>
                <c:pt idx="22">
                  <c:v>40087</c:v>
                </c:pt>
                <c:pt idx="23">
                  <c:v>40118</c:v>
                </c:pt>
                <c:pt idx="24">
                  <c:v>40148</c:v>
                </c:pt>
                <c:pt idx="25">
                  <c:v>40179</c:v>
                </c:pt>
                <c:pt idx="26">
                  <c:v>40210</c:v>
                </c:pt>
                <c:pt idx="27">
                  <c:v>40238</c:v>
                </c:pt>
                <c:pt idx="28">
                  <c:v>40269</c:v>
                </c:pt>
                <c:pt idx="29">
                  <c:v>40299</c:v>
                </c:pt>
                <c:pt idx="30">
                  <c:v>40330</c:v>
                </c:pt>
                <c:pt idx="31">
                  <c:v>40360</c:v>
                </c:pt>
                <c:pt idx="32">
                  <c:v>40391</c:v>
                </c:pt>
                <c:pt idx="33">
                  <c:v>40422</c:v>
                </c:pt>
                <c:pt idx="34">
                  <c:v>40452</c:v>
                </c:pt>
                <c:pt idx="35">
                  <c:v>40483</c:v>
                </c:pt>
                <c:pt idx="36">
                  <c:v>40513</c:v>
                </c:pt>
                <c:pt idx="37">
                  <c:v>40544</c:v>
                </c:pt>
                <c:pt idx="38">
                  <c:v>40575</c:v>
                </c:pt>
                <c:pt idx="39">
                  <c:v>40603</c:v>
                </c:pt>
                <c:pt idx="40">
                  <c:v>40634</c:v>
                </c:pt>
                <c:pt idx="41">
                  <c:v>40664</c:v>
                </c:pt>
                <c:pt idx="42">
                  <c:v>40695</c:v>
                </c:pt>
                <c:pt idx="43">
                  <c:v>40725</c:v>
                </c:pt>
                <c:pt idx="44">
                  <c:v>40756</c:v>
                </c:pt>
                <c:pt idx="45">
                  <c:v>40787</c:v>
                </c:pt>
                <c:pt idx="46">
                  <c:v>40817</c:v>
                </c:pt>
                <c:pt idx="47">
                  <c:v>40848</c:v>
                </c:pt>
                <c:pt idx="48">
                  <c:v>40878</c:v>
                </c:pt>
                <c:pt idx="49">
                  <c:v>40909</c:v>
                </c:pt>
                <c:pt idx="50">
                  <c:v>40940</c:v>
                </c:pt>
                <c:pt idx="51">
                  <c:v>40969</c:v>
                </c:pt>
                <c:pt idx="52">
                  <c:v>41000</c:v>
                </c:pt>
                <c:pt idx="53">
                  <c:v>41030</c:v>
                </c:pt>
                <c:pt idx="54">
                  <c:v>41061</c:v>
                </c:pt>
                <c:pt idx="55">
                  <c:v>41091</c:v>
                </c:pt>
                <c:pt idx="56">
                  <c:v>41122</c:v>
                </c:pt>
                <c:pt idx="57">
                  <c:v>41153</c:v>
                </c:pt>
                <c:pt idx="58">
                  <c:v>41183</c:v>
                </c:pt>
                <c:pt idx="59">
                  <c:v>41214</c:v>
                </c:pt>
                <c:pt idx="60">
                  <c:v>41244</c:v>
                </c:pt>
                <c:pt idx="61">
                  <c:v>41275</c:v>
                </c:pt>
                <c:pt idx="62">
                  <c:v>41306</c:v>
                </c:pt>
                <c:pt idx="63">
                  <c:v>41334</c:v>
                </c:pt>
                <c:pt idx="64">
                  <c:v>41365</c:v>
                </c:pt>
                <c:pt idx="65">
                  <c:v>41395</c:v>
                </c:pt>
                <c:pt idx="66">
                  <c:v>41426</c:v>
                </c:pt>
                <c:pt idx="67">
                  <c:v>41456</c:v>
                </c:pt>
                <c:pt idx="68">
                  <c:v>41487</c:v>
                </c:pt>
                <c:pt idx="69">
                  <c:v>41518</c:v>
                </c:pt>
                <c:pt idx="70">
                  <c:v>41548</c:v>
                </c:pt>
                <c:pt idx="71">
                  <c:v>41579</c:v>
                </c:pt>
                <c:pt idx="72">
                  <c:v>41609</c:v>
                </c:pt>
                <c:pt idx="73">
                  <c:v>41640</c:v>
                </c:pt>
                <c:pt idx="74">
                  <c:v>41671</c:v>
                </c:pt>
                <c:pt idx="75">
                  <c:v>41699</c:v>
                </c:pt>
                <c:pt idx="76">
                  <c:v>41730</c:v>
                </c:pt>
                <c:pt idx="77">
                  <c:v>41760</c:v>
                </c:pt>
                <c:pt idx="78">
                  <c:v>41791</c:v>
                </c:pt>
                <c:pt idx="79">
                  <c:v>41821</c:v>
                </c:pt>
                <c:pt idx="80">
                  <c:v>41852</c:v>
                </c:pt>
                <c:pt idx="81">
                  <c:v>41883</c:v>
                </c:pt>
                <c:pt idx="82">
                  <c:v>41913</c:v>
                </c:pt>
                <c:pt idx="83">
                  <c:v>41944</c:v>
                </c:pt>
                <c:pt idx="84">
                  <c:v>41974</c:v>
                </c:pt>
                <c:pt idx="85">
                  <c:v>42005</c:v>
                </c:pt>
                <c:pt idx="86">
                  <c:v>42036</c:v>
                </c:pt>
                <c:pt idx="87">
                  <c:v>42064</c:v>
                </c:pt>
                <c:pt idx="88">
                  <c:v>42095</c:v>
                </c:pt>
                <c:pt idx="89">
                  <c:v>42125</c:v>
                </c:pt>
                <c:pt idx="90">
                  <c:v>42156</c:v>
                </c:pt>
                <c:pt idx="91">
                  <c:v>42186</c:v>
                </c:pt>
                <c:pt idx="92">
                  <c:v>42217</c:v>
                </c:pt>
                <c:pt idx="93">
                  <c:v>42248</c:v>
                </c:pt>
                <c:pt idx="94">
                  <c:v>42278</c:v>
                </c:pt>
                <c:pt idx="95">
                  <c:v>42309</c:v>
                </c:pt>
                <c:pt idx="96">
                  <c:v>42339</c:v>
                </c:pt>
                <c:pt idx="97">
                  <c:v>42370</c:v>
                </c:pt>
                <c:pt idx="98">
                  <c:v>42401</c:v>
                </c:pt>
                <c:pt idx="99">
                  <c:v>42430</c:v>
                </c:pt>
                <c:pt idx="100">
                  <c:v>42461</c:v>
                </c:pt>
                <c:pt idx="101">
                  <c:v>42491</c:v>
                </c:pt>
                <c:pt idx="102">
                  <c:v>42522</c:v>
                </c:pt>
                <c:pt idx="103">
                  <c:v>42552</c:v>
                </c:pt>
                <c:pt idx="104">
                  <c:v>42583</c:v>
                </c:pt>
                <c:pt idx="105">
                  <c:v>42614</c:v>
                </c:pt>
                <c:pt idx="106">
                  <c:v>42644</c:v>
                </c:pt>
                <c:pt idx="107">
                  <c:v>42675</c:v>
                </c:pt>
                <c:pt idx="108">
                  <c:v>42705</c:v>
                </c:pt>
                <c:pt idx="109">
                  <c:v>42736</c:v>
                </c:pt>
                <c:pt idx="110">
                  <c:v>42767</c:v>
                </c:pt>
                <c:pt idx="111">
                  <c:v>42795</c:v>
                </c:pt>
                <c:pt idx="112">
                  <c:v>42826</c:v>
                </c:pt>
                <c:pt idx="113">
                  <c:v>42856</c:v>
                </c:pt>
                <c:pt idx="114">
                  <c:v>42887</c:v>
                </c:pt>
                <c:pt idx="115">
                  <c:v>42917</c:v>
                </c:pt>
                <c:pt idx="116">
                  <c:v>42948</c:v>
                </c:pt>
                <c:pt idx="117">
                  <c:v>42979</c:v>
                </c:pt>
                <c:pt idx="118">
                  <c:v>43009</c:v>
                </c:pt>
                <c:pt idx="119">
                  <c:v>43040</c:v>
                </c:pt>
                <c:pt idx="120">
                  <c:v>43070</c:v>
                </c:pt>
              </c:numCache>
            </c:numRef>
          </c:cat>
          <c:val>
            <c:numRef>
              <c:f>'ces, projected chart data'!$B$1:$B$58</c:f>
              <c:numCache>
                <c:formatCode>_(* #,##0_);_(* \(#,##0\);_(* "-"??_);_(@_)</c:formatCode>
                <c:ptCount val="58"/>
                <c:pt idx="0">
                  <c:v>849100</c:v>
                </c:pt>
                <c:pt idx="1">
                  <c:v>846600</c:v>
                </c:pt>
                <c:pt idx="2">
                  <c:v>849700</c:v>
                </c:pt>
                <c:pt idx="3">
                  <c:v>849600</c:v>
                </c:pt>
                <c:pt idx="4">
                  <c:v>850200</c:v>
                </c:pt>
                <c:pt idx="5">
                  <c:v>849300</c:v>
                </c:pt>
                <c:pt idx="6">
                  <c:v>849700</c:v>
                </c:pt>
                <c:pt idx="7">
                  <c:v>847600</c:v>
                </c:pt>
                <c:pt idx="8">
                  <c:v>847600</c:v>
                </c:pt>
                <c:pt idx="9">
                  <c:v>849000</c:v>
                </c:pt>
                <c:pt idx="10">
                  <c:v>845100</c:v>
                </c:pt>
                <c:pt idx="11">
                  <c:v>842100</c:v>
                </c:pt>
                <c:pt idx="12">
                  <c:v>836000</c:v>
                </c:pt>
                <c:pt idx="13">
                  <c:v>829300</c:v>
                </c:pt>
                <c:pt idx="14">
                  <c:v>824500</c:v>
                </c:pt>
                <c:pt idx="15">
                  <c:v>818700</c:v>
                </c:pt>
                <c:pt idx="16">
                  <c:v>814000</c:v>
                </c:pt>
                <c:pt idx="17">
                  <c:v>813000</c:v>
                </c:pt>
                <c:pt idx="18">
                  <c:v>811000</c:v>
                </c:pt>
                <c:pt idx="19">
                  <c:v>808700</c:v>
                </c:pt>
                <c:pt idx="20">
                  <c:v>809400</c:v>
                </c:pt>
                <c:pt idx="21">
                  <c:v>806900</c:v>
                </c:pt>
                <c:pt idx="22">
                  <c:v>804300</c:v>
                </c:pt>
                <c:pt idx="23">
                  <c:v>803800</c:v>
                </c:pt>
                <c:pt idx="24">
                  <c:v>802300</c:v>
                </c:pt>
                <c:pt idx="25">
                  <c:v>801700</c:v>
                </c:pt>
                <c:pt idx="26">
                  <c:v>802300</c:v>
                </c:pt>
                <c:pt idx="27">
                  <c:v>803400</c:v>
                </c:pt>
                <c:pt idx="28">
                  <c:v>805200</c:v>
                </c:pt>
                <c:pt idx="29">
                  <c:v>806700</c:v>
                </c:pt>
                <c:pt idx="30">
                  <c:v>806400</c:v>
                </c:pt>
                <c:pt idx="31">
                  <c:v>805000</c:v>
                </c:pt>
                <c:pt idx="32">
                  <c:v>803100</c:v>
                </c:pt>
                <c:pt idx="33">
                  <c:v>799500</c:v>
                </c:pt>
                <c:pt idx="34">
                  <c:v>801600</c:v>
                </c:pt>
                <c:pt idx="35">
                  <c:v>801300</c:v>
                </c:pt>
                <c:pt idx="36">
                  <c:v>801200</c:v>
                </c:pt>
                <c:pt idx="37">
                  <c:v>800100</c:v>
                </c:pt>
                <c:pt idx="38">
                  <c:v>802400</c:v>
                </c:pt>
                <c:pt idx="39">
                  <c:v>802600</c:v>
                </c:pt>
                <c:pt idx="40">
                  <c:v>805500</c:v>
                </c:pt>
                <c:pt idx="41">
                  <c:v>805200</c:v>
                </c:pt>
                <c:pt idx="42">
                  <c:v>804400</c:v>
                </c:pt>
                <c:pt idx="43">
                  <c:v>803200</c:v>
                </c:pt>
                <c:pt idx="44">
                  <c:v>805600</c:v>
                </c:pt>
                <c:pt idx="45">
                  <c:v>805200</c:v>
                </c:pt>
                <c:pt idx="46">
                  <c:v>804800</c:v>
                </c:pt>
                <c:pt idx="47">
                  <c:v>803600</c:v>
                </c:pt>
                <c:pt idx="48">
                  <c:v>804100</c:v>
                </c:pt>
                <c:pt idx="49">
                  <c:v>806700</c:v>
                </c:pt>
                <c:pt idx="50">
                  <c:v>807500</c:v>
                </c:pt>
                <c:pt idx="51">
                  <c:v>807400</c:v>
                </c:pt>
                <c:pt idx="52">
                  <c:v>809700</c:v>
                </c:pt>
                <c:pt idx="53">
                  <c:v>806100</c:v>
                </c:pt>
                <c:pt idx="54">
                  <c:v>800100</c:v>
                </c:pt>
                <c:pt idx="55">
                  <c:v>798200</c:v>
                </c:pt>
                <c:pt idx="56">
                  <c:v>794300</c:v>
                </c:pt>
                <c:pt idx="57">
                  <c:v>794600</c:v>
                </c:pt>
              </c:numCache>
            </c:numRef>
          </c:val>
        </c:ser>
        <c:ser>
          <c:idx val="1"/>
          <c:order val="2"/>
          <c:tx>
            <c:v>Employment Pre-Recession</c:v>
          </c:tx>
          <c:marker>
            <c:symbol val="none"/>
          </c:marker>
          <c:cat>
            <c:numRef>
              <c:f>'ces, projected chart data'!$A$1:$A$121</c:f>
              <c:numCache>
                <c:formatCode>mmm\-yy</c:formatCode>
                <c:ptCount val="121"/>
                <c:pt idx="0">
                  <c:v>39417</c:v>
                </c:pt>
                <c:pt idx="1">
                  <c:v>39448</c:v>
                </c:pt>
                <c:pt idx="2">
                  <c:v>39479</c:v>
                </c:pt>
                <c:pt idx="3">
                  <c:v>39508</c:v>
                </c:pt>
                <c:pt idx="4">
                  <c:v>39539</c:v>
                </c:pt>
                <c:pt idx="5">
                  <c:v>39569</c:v>
                </c:pt>
                <c:pt idx="6">
                  <c:v>39600</c:v>
                </c:pt>
                <c:pt idx="7">
                  <c:v>39630</c:v>
                </c:pt>
                <c:pt idx="8">
                  <c:v>39661</c:v>
                </c:pt>
                <c:pt idx="9">
                  <c:v>39692</c:v>
                </c:pt>
                <c:pt idx="10">
                  <c:v>39722</c:v>
                </c:pt>
                <c:pt idx="11">
                  <c:v>39753</c:v>
                </c:pt>
                <c:pt idx="12">
                  <c:v>39783</c:v>
                </c:pt>
                <c:pt idx="13">
                  <c:v>39814</c:v>
                </c:pt>
                <c:pt idx="14">
                  <c:v>39845</c:v>
                </c:pt>
                <c:pt idx="15">
                  <c:v>39873</c:v>
                </c:pt>
                <c:pt idx="16">
                  <c:v>39904</c:v>
                </c:pt>
                <c:pt idx="17">
                  <c:v>39934</c:v>
                </c:pt>
                <c:pt idx="18">
                  <c:v>39965</c:v>
                </c:pt>
                <c:pt idx="19">
                  <c:v>39995</c:v>
                </c:pt>
                <c:pt idx="20">
                  <c:v>40026</c:v>
                </c:pt>
                <c:pt idx="21">
                  <c:v>40057</c:v>
                </c:pt>
                <c:pt idx="22">
                  <c:v>40087</c:v>
                </c:pt>
                <c:pt idx="23">
                  <c:v>40118</c:v>
                </c:pt>
                <c:pt idx="24">
                  <c:v>40148</c:v>
                </c:pt>
                <c:pt idx="25">
                  <c:v>40179</c:v>
                </c:pt>
                <c:pt idx="26">
                  <c:v>40210</c:v>
                </c:pt>
                <c:pt idx="27">
                  <c:v>40238</c:v>
                </c:pt>
                <c:pt idx="28">
                  <c:v>40269</c:v>
                </c:pt>
                <c:pt idx="29">
                  <c:v>40299</c:v>
                </c:pt>
                <c:pt idx="30">
                  <c:v>40330</c:v>
                </c:pt>
                <c:pt idx="31">
                  <c:v>40360</c:v>
                </c:pt>
                <c:pt idx="32">
                  <c:v>40391</c:v>
                </c:pt>
                <c:pt idx="33">
                  <c:v>40422</c:v>
                </c:pt>
                <c:pt idx="34">
                  <c:v>40452</c:v>
                </c:pt>
                <c:pt idx="35">
                  <c:v>40483</c:v>
                </c:pt>
                <c:pt idx="36">
                  <c:v>40513</c:v>
                </c:pt>
                <c:pt idx="37">
                  <c:v>40544</c:v>
                </c:pt>
                <c:pt idx="38">
                  <c:v>40575</c:v>
                </c:pt>
                <c:pt idx="39">
                  <c:v>40603</c:v>
                </c:pt>
                <c:pt idx="40">
                  <c:v>40634</c:v>
                </c:pt>
                <c:pt idx="41">
                  <c:v>40664</c:v>
                </c:pt>
                <c:pt idx="42">
                  <c:v>40695</c:v>
                </c:pt>
                <c:pt idx="43">
                  <c:v>40725</c:v>
                </c:pt>
                <c:pt idx="44">
                  <c:v>40756</c:v>
                </c:pt>
                <c:pt idx="45">
                  <c:v>40787</c:v>
                </c:pt>
                <c:pt idx="46">
                  <c:v>40817</c:v>
                </c:pt>
                <c:pt idx="47">
                  <c:v>40848</c:v>
                </c:pt>
                <c:pt idx="48">
                  <c:v>40878</c:v>
                </c:pt>
                <c:pt idx="49">
                  <c:v>40909</c:v>
                </c:pt>
                <c:pt idx="50">
                  <c:v>40940</c:v>
                </c:pt>
                <c:pt idx="51">
                  <c:v>40969</c:v>
                </c:pt>
                <c:pt idx="52">
                  <c:v>41000</c:v>
                </c:pt>
                <c:pt idx="53">
                  <c:v>41030</c:v>
                </c:pt>
                <c:pt idx="54">
                  <c:v>41061</c:v>
                </c:pt>
                <c:pt idx="55">
                  <c:v>41091</c:v>
                </c:pt>
                <c:pt idx="56">
                  <c:v>41122</c:v>
                </c:pt>
                <c:pt idx="57">
                  <c:v>41153</c:v>
                </c:pt>
                <c:pt idx="58">
                  <c:v>41183</c:v>
                </c:pt>
                <c:pt idx="59">
                  <c:v>41214</c:v>
                </c:pt>
                <c:pt idx="60">
                  <c:v>41244</c:v>
                </c:pt>
                <c:pt idx="61">
                  <c:v>41275</c:v>
                </c:pt>
                <c:pt idx="62">
                  <c:v>41306</c:v>
                </c:pt>
                <c:pt idx="63">
                  <c:v>41334</c:v>
                </c:pt>
                <c:pt idx="64">
                  <c:v>41365</c:v>
                </c:pt>
                <c:pt idx="65">
                  <c:v>41395</c:v>
                </c:pt>
                <c:pt idx="66">
                  <c:v>41426</c:v>
                </c:pt>
                <c:pt idx="67">
                  <c:v>41456</c:v>
                </c:pt>
                <c:pt idx="68">
                  <c:v>41487</c:v>
                </c:pt>
                <c:pt idx="69">
                  <c:v>41518</c:v>
                </c:pt>
                <c:pt idx="70">
                  <c:v>41548</c:v>
                </c:pt>
                <c:pt idx="71">
                  <c:v>41579</c:v>
                </c:pt>
                <c:pt idx="72">
                  <c:v>41609</c:v>
                </c:pt>
                <c:pt idx="73">
                  <c:v>41640</c:v>
                </c:pt>
                <c:pt idx="74">
                  <c:v>41671</c:v>
                </c:pt>
                <c:pt idx="75">
                  <c:v>41699</c:v>
                </c:pt>
                <c:pt idx="76">
                  <c:v>41730</c:v>
                </c:pt>
                <c:pt idx="77">
                  <c:v>41760</c:v>
                </c:pt>
                <c:pt idx="78">
                  <c:v>41791</c:v>
                </c:pt>
                <c:pt idx="79">
                  <c:v>41821</c:v>
                </c:pt>
                <c:pt idx="80">
                  <c:v>41852</c:v>
                </c:pt>
                <c:pt idx="81">
                  <c:v>41883</c:v>
                </c:pt>
                <c:pt idx="82">
                  <c:v>41913</c:v>
                </c:pt>
                <c:pt idx="83">
                  <c:v>41944</c:v>
                </c:pt>
                <c:pt idx="84">
                  <c:v>41974</c:v>
                </c:pt>
                <c:pt idx="85">
                  <c:v>42005</c:v>
                </c:pt>
                <c:pt idx="86">
                  <c:v>42036</c:v>
                </c:pt>
                <c:pt idx="87">
                  <c:v>42064</c:v>
                </c:pt>
                <c:pt idx="88">
                  <c:v>42095</c:v>
                </c:pt>
                <c:pt idx="89">
                  <c:v>42125</c:v>
                </c:pt>
                <c:pt idx="90">
                  <c:v>42156</c:v>
                </c:pt>
                <c:pt idx="91">
                  <c:v>42186</c:v>
                </c:pt>
                <c:pt idx="92">
                  <c:v>42217</c:v>
                </c:pt>
                <c:pt idx="93">
                  <c:v>42248</c:v>
                </c:pt>
                <c:pt idx="94">
                  <c:v>42278</c:v>
                </c:pt>
                <c:pt idx="95">
                  <c:v>42309</c:v>
                </c:pt>
                <c:pt idx="96">
                  <c:v>42339</c:v>
                </c:pt>
                <c:pt idx="97">
                  <c:v>42370</c:v>
                </c:pt>
                <c:pt idx="98">
                  <c:v>42401</c:v>
                </c:pt>
                <c:pt idx="99">
                  <c:v>42430</c:v>
                </c:pt>
                <c:pt idx="100">
                  <c:v>42461</c:v>
                </c:pt>
                <c:pt idx="101">
                  <c:v>42491</c:v>
                </c:pt>
                <c:pt idx="102">
                  <c:v>42522</c:v>
                </c:pt>
                <c:pt idx="103">
                  <c:v>42552</c:v>
                </c:pt>
                <c:pt idx="104">
                  <c:v>42583</c:v>
                </c:pt>
                <c:pt idx="105">
                  <c:v>42614</c:v>
                </c:pt>
                <c:pt idx="106">
                  <c:v>42644</c:v>
                </c:pt>
                <c:pt idx="107">
                  <c:v>42675</c:v>
                </c:pt>
                <c:pt idx="108">
                  <c:v>42705</c:v>
                </c:pt>
                <c:pt idx="109">
                  <c:v>42736</c:v>
                </c:pt>
                <c:pt idx="110">
                  <c:v>42767</c:v>
                </c:pt>
                <c:pt idx="111">
                  <c:v>42795</c:v>
                </c:pt>
                <c:pt idx="112">
                  <c:v>42826</c:v>
                </c:pt>
                <c:pt idx="113">
                  <c:v>42856</c:v>
                </c:pt>
                <c:pt idx="114">
                  <c:v>42887</c:v>
                </c:pt>
                <c:pt idx="115">
                  <c:v>42917</c:v>
                </c:pt>
                <c:pt idx="116">
                  <c:v>42948</c:v>
                </c:pt>
                <c:pt idx="117">
                  <c:v>42979</c:v>
                </c:pt>
                <c:pt idx="118">
                  <c:v>43009</c:v>
                </c:pt>
                <c:pt idx="119">
                  <c:v>43040</c:v>
                </c:pt>
                <c:pt idx="120">
                  <c:v>43070</c:v>
                </c:pt>
              </c:numCache>
            </c:numRef>
          </c:cat>
          <c:val>
            <c:numRef>
              <c:f>'ces, projected chart data'!$C$1:$C$122</c:f>
              <c:numCache>
                <c:formatCode>_(* #,##0_);_(* \(#,##0\);_(* "-"??_);_(@_)</c:formatCode>
                <c:ptCount val="122"/>
                <c:pt idx="0">
                  <c:v>850200</c:v>
                </c:pt>
                <c:pt idx="1">
                  <c:v>850200</c:v>
                </c:pt>
                <c:pt idx="2">
                  <c:v>850200</c:v>
                </c:pt>
                <c:pt idx="3">
                  <c:v>850200</c:v>
                </c:pt>
                <c:pt idx="4">
                  <c:v>850200</c:v>
                </c:pt>
                <c:pt idx="5">
                  <c:v>850200</c:v>
                </c:pt>
                <c:pt idx="6">
                  <c:v>850200</c:v>
                </c:pt>
                <c:pt idx="7">
                  <c:v>850200</c:v>
                </c:pt>
                <c:pt idx="8">
                  <c:v>850200</c:v>
                </c:pt>
                <c:pt idx="9">
                  <c:v>850200</c:v>
                </c:pt>
                <c:pt idx="10">
                  <c:v>850200</c:v>
                </c:pt>
                <c:pt idx="11">
                  <c:v>850200</c:v>
                </c:pt>
                <c:pt idx="12">
                  <c:v>850200</c:v>
                </c:pt>
                <c:pt idx="13">
                  <c:v>850200</c:v>
                </c:pt>
                <c:pt idx="14">
                  <c:v>850200</c:v>
                </c:pt>
                <c:pt idx="15">
                  <c:v>850200</c:v>
                </c:pt>
                <c:pt idx="16">
                  <c:v>850200</c:v>
                </c:pt>
                <c:pt idx="17">
                  <c:v>850200</c:v>
                </c:pt>
                <c:pt idx="18">
                  <c:v>850200</c:v>
                </c:pt>
                <c:pt idx="19">
                  <c:v>850200</c:v>
                </c:pt>
                <c:pt idx="20">
                  <c:v>850200</c:v>
                </c:pt>
                <c:pt idx="21">
                  <c:v>850200</c:v>
                </c:pt>
                <c:pt idx="22">
                  <c:v>850200</c:v>
                </c:pt>
                <c:pt idx="23">
                  <c:v>850200</c:v>
                </c:pt>
                <c:pt idx="24">
                  <c:v>850200</c:v>
                </c:pt>
                <c:pt idx="25">
                  <c:v>850200</c:v>
                </c:pt>
                <c:pt idx="26">
                  <c:v>850200</c:v>
                </c:pt>
                <c:pt idx="27">
                  <c:v>850200</c:v>
                </c:pt>
                <c:pt idx="28">
                  <c:v>850200</c:v>
                </c:pt>
                <c:pt idx="29">
                  <c:v>850200</c:v>
                </c:pt>
                <c:pt idx="30">
                  <c:v>850200</c:v>
                </c:pt>
                <c:pt idx="31">
                  <c:v>850200</c:v>
                </c:pt>
                <c:pt idx="32">
                  <c:v>850200</c:v>
                </c:pt>
                <c:pt idx="33">
                  <c:v>850200</c:v>
                </c:pt>
                <c:pt idx="34">
                  <c:v>850200</c:v>
                </c:pt>
                <c:pt idx="35">
                  <c:v>850200</c:v>
                </c:pt>
                <c:pt idx="36">
                  <c:v>850200</c:v>
                </c:pt>
                <c:pt idx="37">
                  <c:v>850200</c:v>
                </c:pt>
                <c:pt idx="38">
                  <c:v>850200</c:v>
                </c:pt>
                <c:pt idx="39">
                  <c:v>850200</c:v>
                </c:pt>
                <c:pt idx="40">
                  <c:v>850200</c:v>
                </c:pt>
                <c:pt idx="41">
                  <c:v>850200</c:v>
                </c:pt>
                <c:pt idx="42">
                  <c:v>850200</c:v>
                </c:pt>
                <c:pt idx="43">
                  <c:v>850200</c:v>
                </c:pt>
                <c:pt idx="44">
                  <c:v>850200</c:v>
                </c:pt>
                <c:pt idx="45">
                  <c:v>850200</c:v>
                </c:pt>
                <c:pt idx="46">
                  <c:v>850200</c:v>
                </c:pt>
                <c:pt idx="47">
                  <c:v>850200</c:v>
                </c:pt>
                <c:pt idx="48">
                  <c:v>850200</c:v>
                </c:pt>
                <c:pt idx="49">
                  <c:v>850200</c:v>
                </c:pt>
                <c:pt idx="50">
                  <c:v>850200</c:v>
                </c:pt>
                <c:pt idx="51">
                  <c:v>850200</c:v>
                </c:pt>
                <c:pt idx="52">
                  <c:v>850200</c:v>
                </c:pt>
                <c:pt idx="53">
                  <c:v>850200</c:v>
                </c:pt>
                <c:pt idx="54">
                  <c:v>850200</c:v>
                </c:pt>
                <c:pt idx="55">
                  <c:v>850200</c:v>
                </c:pt>
                <c:pt idx="56">
                  <c:v>850200</c:v>
                </c:pt>
                <c:pt idx="57">
                  <c:v>850200</c:v>
                </c:pt>
                <c:pt idx="58">
                  <c:v>850200</c:v>
                </c:pt>
                <c:pt idx="59">
                  <c:v>850200</c:v>
                </c:pt>
                <c:pt idx="60">
                  <c:v>850200</c:v>
                </c:pt>
                <c:pt idx="61">
                  <c:v>850200</c:v>
                </c:pt>
                <c:pt idx="62">
                  <c:v>850200</c:v>
                </c:pt>
                <c:pt idx="63">
                  <c:v>850200</c:v>
                </c:pt>
                <c:pt idx="64">
                  <c:v>850200</c:v>
                </c:pt>
                <c:pt idx="65">
                  <c:v>850200</c:v>
                </c:pt>
                <c:pt idx="66">
                  <c:v>850200</c:v>
                </c:pt>
                <c:pt idx="67">
                  <c:v>850200</c:v>
                </c:pt>
                <c:pt idx="68">
                  <c:v>850200</c:v>
                </c:pt>
                <c:pt idx="69">
                  <c:v>850200</c:v>
                </c:pt>
                <c:pt idx="70">
                  <c:v>850200</c:v>
                </c:pt>
                <c:pt idx="71">
                  <c:v>850200</c:v>
                </c:pt>
                <c:pt idx="72">
                  <c:v>850200</c:v>
                </c:pt>
                <c:pt idx="73">
                  <c:v>850200</c:v>
                </c:pt>
                <c:pt idx="74">
                  <c:v>850200</c:v>
                </c:pt>
                <c:pt idx="75">
                  <c:v>850200</c:v>
                </c:pt>
                <c:pt idx="76">
                  <c:v>850200</c:v>
                </c:pt>
                <c:pt idx="77">
                  <c:v>850200</c:v>
                </c:pt>
                <c:pt idx="78">
                  <c:v>850200</c:v>
                </c:pt>
                <c:pt idx="79">
                  <c:v>850200</c:v>
                </c:pt>
                <c:pt idx="80">
                  <c:v>850200</c:v>
                </c:pt>
                <c:pt idx="81">
                  <c:v>850200</c:v>
                </c:pt>
                <c:pt idx="82">
                  <c:v>850200</c:v>
                </c:pt>
                <c:pt idx="83">
                  <c:v>850200</c:v>
                </c:pt>
                <c:pt idx="84">
                  <c:v>850200</c:v>
                </c:pt>
                <c:pt idx="85">
                  <c:v>850200</c:v>
                </c:pt>
                <c:pt idx="86">
                  <c:v>850200</c:v>
                </c:pt>
                <c:pt idx="87">
                  <c:v>850200</c:v>
                </c:pt>
                <c:pt idx="88">
                  <c:v>850200</c:v>
                </c:pt>
                <c:pt idx="89">
                  <c:v>850200</c:v>
                </c:pt>
                <c:pt idx="90">
                  <c:v>850200</c:v>
                </c:pt>
                <c:pt idx="91">
                  <c:v>850200</c:v>
                </c:pt>
                <c:pt idx="92">
                  <c:v>850200</c:v>
                </c:pt>
                <c:pt idx="93">
                  <c:v>850200</c:v>
                </c:pt>
                <c:pt idx="94">
                  <c:v>850200</c:v>
                </c:pt>
                <c:pt idx="95">
                  <c:v>850200</c:v>
                </c:pt>
                <c:pt idx="96">
                  <c:v>850200</c:v>
                </c:pt>
                <c:pt idx="97">
                  <c:v>850200</c:v>
                </c:pt>
                <c:pt idx="98">
                  <c:v>850200</c:v>
                </c:pt>
                <c:pt idx="99">
                  <c:v>850200</c:v>
                </c:pt>
                <c:pt idx="100">
                  <c:v>850200</c:v>
                </c:pt>
                <c:pt idx="101">
                  <c:v>850200</c:v>
                </c:pt>
                <c:pt idx="102">
                  <c:v>850200</c:v>
                </c:pt>
                <c:pt idx="103">
                  <c:v>850200</c:v>
                </c:pt>
                <c:pt idx="104">
                  <c:v>850200</c:v>
                </c:pt>
                <c:pt idx="105">
                  <c:v>850200</c:v>
                </c:pt>
                <c:pt idx="106">
                  <c:v>850200</c:v>
                </c:pt>
                <c:pt idx="107">
                  <c:v>850200</c:v>
                </c:pt>
                <c:pt idx="108">
                  <c:v>850200</c:v>
                </c:pt>
                <c:pt idx="109">
                  <c:v>850200</c:v>
                </c:pt>
                <c:pt idx="110">
                  <c:v>850200</c:v>
                </c:pt>
                <c:pt idx="111">
                  <c:v>850200</c:v>
                </c:pt>
                <c:pt idx="112">
                  <c:v>850200</c:v>
                </c:pt>
                <c:pt idx="113">
                  <c:v>850200</c:v>
                </c:pt>
                <c:pt idx="114">
                  <c:v>850200</c:v>
                </c:pt>
                <c:pt idx="115">
                  <c:v>850200</c:v>
                </c:pt>
                <c:pt idx="116">
                  <c:v>850200</c:v>
                </c:pt>
                <c:pt idx="117">
                  <c:v>850200</c:v>
                </c:pt>
                <c:pt idx="118">
                  <c:v>850200</c:v>
                </c:pt>
                <c:pt idx="119">
                  <c:v>850200</c:v>
                </c:pt>
                <c:pt idx="120">
                  <c:v>850200</c:v>
                </c:pt>
                <c:pt idx="121">
                  <c:v>850200</c:v>
                </c:pt>
              </c:numCache>
            </c:numRef>
          </c:val>
        </c:ser>
        <c:marker val="1"/>
        <c:axId val="126535936"/>
        <c:axId val="148451328"/>
      </c:lineChart>
      <c:dateAx>
        <c:axId val="126535936"/>
        <c:scaling>
          <c:orientation val="minMax"/>
        </c:scaling>
        <c:axPos val="b"/>
        <c:numFmt formatCode="mmm\-yy" sourceLinked="0"/>
        <c:tickLblPos val="nextTo"/>
        <c:crossAx val="148451328"/>
        <c:crosses val="autoZero"/>
        <c:auto val="1"/>
        <c:lblOffset val="100"/>
      </c:dateAx>
      <c:valAx>
        <c:axId val="148451328"/>
        <c:scaling>
          <c:orientation val="minMax"/>
        </c:scaling>
        <c:axPos val="l"/>
        <c:majorGridlines/>
        <c:numFmt formatCode="_(* #,##0_);_(* \(#,##0\);_(* &quot;-&quot;??_);_(@_)" sourceLinked="1"/>
        <c:tickLblPos val="nextTo"/>
        <c:crossAx val="126535936"/>
        <c:crosses val="autoZero"/>
        <c:crossBetween val="between"/>
      </c:valAx>
    </c:plotArea>
    <c:legend>
      <c:legendPos val="r"/>
      <c:layout>
        <c:manualLayout>
          <c:xMode val="edge"/>
          <c:yMode val="edge"/>
          <c:x val="0.75135809351264715"/>
          <c:y val="0.76595024678518964"/>
          <c:w val="0.20685891926361308"/>
          <c:h val="0.11093811893145258"/>
        </c:manualLayout>
      </c:layout>
    </c:legend>
    <c:plotVisOnly val="1"/>
    <c:dispBlanksAs val="gap"/>
  </c:chart>
  <c:externalData r:id="rId1"/>
  <c:userShapes r:id="rId2"/>
</c:chartSpace>
</file>

<file path=ppt/charts/chart13.xml><?xml version="1.0" encoding="utf-8"?>
<c:chartSpace xmlns:c="http://schemas.openxmlformats.org/drawingml/2006/chart" xmlns:a="http://schemas.openxmlformats.org/drawingml/2006/main" xmlns:r="http://schemas.openxmlformats.org/officeDocument/2006/relationships">
  <c:lang val="en-US"/>
  <c:style val="5"/>
  <c:chart>
    <c:title>
      <c:tx>
        <c:rich>
          <a:bodyPr/>
          <a:lstStyle/>
          <a:p>
            <a:pPr>
              <a:defRPr/>
            </a:pPr>
            <a:r>
              <a:rPr lang="en-US" baseline="0" dirty="0" smtClean="0"/>
              <a:t> </a:t>
            </a:r>
            <a:endParaRPr lang="en-US" baseline="0" dirty="0"/>
          </a:p>
          <a:p>
            <a:pPr>
              <a:defRPr/>
            </a:pPr>
            <a:r>
              <a:rPr lang="en-US" baseline="0" dirty="0"/>
              <a:t>Employment 2010 - 2020</a:t>
            </a:r>
            <a:endParaRPr lang="en-US" dirty="0"/>
          </a:p>
        </c:rich>
      </c:tx>
      <c:layout/>
    </c:title>
    <c:plotArea>
      <c:layout/>
      <c:barChart>
        <c:barDir val="bar"/>
        <c:grouping val="clustered"/>
        <c:ser>
          <c:idx val="0"/>
          <c:order val="0"/>
          <c:tx>
            <c:strRef>
              <c:f>'Occupational Group Charts'!$C$1</c:f>
              <c:strCache>
                <c:ptCount val="1"/>
                <c:pt idx="0">
                  <c:v>2010 Estimated Employment</c:v>
                </c:pt>
              </c:strCache>
            </c:strRef>
          </c:tx>
          <c:cat>
            <c:strRef>
              <c:f>'Occupational Group Charts'!$B$2:$B$23</c:f>
              <c:strCache>
                <c:ptCount val="22"/>
                <c:pt idx="0">
                  <c:v>Office &amp; Administrative Support</c:v>
                </c:pt>
                <c:pt idx="1">
                  <c:v>Sales &amp; Related </c:v>
                </c:pt>
                <c:pt idx="2">
                  <c:v>Food Preparation &amp; Serving Related</c:v>
                </c:pt>
                <c:pt idx="3">
                  <c:v>Construction &amp; Extraction</c:v>
                </c:pt>
                <c:pt idx="4">
                  <c:v>Education, Training, &amp; Library</c:v>
                </c:pt>
                <c:pt idx="5">
                  <c:v>Management</c:v>
                </c:pt>
                <c:pt idx="6">
                  <c:v>Healthcare Practitioners &amp; Technical*</c:v>
                </c:pt>
                <c:pt idx="7">
                  <c:v>Personal Care &amp; Service*</c:v>
                </c:pt>
                <c:pt idx="8">
                  <c:v>Transportation &amp; Material Moving</c:v>
                </c:pt>
                <c:pt idx="9">
                  <c:v>Installation, Maintenance, &amp; Repair</c:v>
                </c:pt>
                <c:pt idx="10">
                  <c:v>Building &amp; Grounds Cleaning &amp; Maintenance</c:v>
                </c:pt>
                <c:pt idx="11">
                  <c:v>Healthcare Support*</c:v>
                </c:pt>
                <c:pt idx="12">
                  <c:v>Business &amp; Financial Operations </c:v>
                </c:pt>
                <c:pt idx="13">
                  <c:v>Production</c:v>
                </c:pt>
                <c:pt idx="14">
                  <c:v>Protective Service </c:v>
                </c:pt>
                <c:pt idx="15">
                  <c:v>Architecture &amp; Engineering </c:v>
                </c:pt>
                <c:pt idx="16">
                  <c:v>Community &amp; Social Services </c:v>
                </c:pt>
                <c:pt idx="17">
                  <c:v>Computer &amp; Mathematical *</c:v>
                </c:pt>
                <c:pt idx="18">
                  <c:v>Life, Physical, &amp; Social Science </c:v>
                </c:pt>
                <c:pt idx="19">
                  <c:v>Arts, Entertainment, Sports, &amp; Media </c:v>
                </c:pt>
                <c:pt idx="20">
                  <c:v>Farming, Fishing, &amp; Forestry </c:v>
                </c:pt>
                <c:pt idx="21">
                  <c:v>Legal </c:v>
                </c:pt>
              </c:strCache>
            </c:strRef>
          </c:cat>
          <c:val>
            <c:numRef>
              <c:f>'Occupational Group Charts'!$C$2:$C$23</c:f>
              <c:numCache>
                <c:formatCode>_(* #,##0_);_(* \(#,##0\);_(* "-"??_);_(@_)</c:formatCode>
                <c:ptCount val="22"/>
                <c:pt idx="0">
                  <c:v>124430</c:v>
                </c:pt>
                <c:pt idx="1">
                  <c:v>83243</c:v>
                </c:pt>
                <c:pt idx="2">
                  <c:v>73032</c:v>
                </c:pt>
                <c:pt idx="3">
                  <c:v>64260</c:v>
                </c:pt>
                <c:pt idx="4">
                  <c:v>54605</c:v>
                </c:pt>
                <c:pt idx="5">
                  <c:v>56058</c:v>
                </c:pt>
                <c:pt idx="6">
                  <c:v>46007</c:v>
                </c:pt>
                <c:pt idx="7">
                  <c:v>42048</c:v>
                </c:pt>
                <c:pt idx="8">
                  <c:v>45822</c:v>
                </c:pt>
                <c:pt idx="9">
                  <c:v>34383</c:v>
                </c:pt>
                <c:pt idx="10">
                  <c:v>33659</c:v>
                </c:pt>
                <c:pt idx="11">
                  <c:v>27022</c:v>
                </c:pt>
                <c:pt idx="12">
                  <c:v>28525</c:v>
                </c:pt>
                <c:pt idx="13">
                  <c:v>29168</c:v>
                </c:pt>
                <c:pt idx="14">
                  <c:v>23621</c:v>
                </c:pt>
                <c:pt idx="15">
                  <c:v>21343</c:v>
                </c:pt>
                <c:pt idx="16">
                  <c:v>16228</c:v>
                </c:pt>
                <c:pt idx="17">
                  <c:v>13869</c:v>
                </c:pt>
                <c:pt idx="18">
                  <c:v>14191</c:v>
                </c:pt>
                <c:pt idx="19">
                  <c:v>10929</c:v>
                </c:pt>
                <c:pt idx="20">
                  <c:v>7461</c:v>
                </c:pt>
                <c:pt idx="21">
                  <c:v>5392</c:v>
                </c:pt>
              </c:numCache>
            </c:numRef>
          </c:val>
        </c:ser>
        <c:ser>
          <c:idx val="1"/>
          <c:order val="1"/>
          <c:tx>
            <c:strRef>
              <c:f>'Occupational Group Charts'!$D$1</c:f>
              <c:strCache>
                <c:ptCount val="1"/>
                <c:pt idx="0">
                  <c:v>2020 Projected Employment</c:v>
                </c:pt>
              </c:strCache>
            </c:strRef>
          </c:tx>
          <c:cat>
            <c:strRef>
              <c:f>'Occupational Group Charts'!$B$2:$B$23</c:f>
              <c:strCache>
                <c:ptCount val="22"/>
                <c:pt idx="0">
                  <c:v>Office &amp; Administrative Support</c:v>
                </c:pt>
                <c:pt idx="1">
                  <c:v>Sales &amp; Related </c:v>
                </c:pt>
                <c:pt idx="2">
                  <c:v>Food Preparation &amp; Serving Related</c:v>
                </c:pt>
                <c:pt idx="3">
                  <c:v>Construction &amp; Extraction</c:v>
                </c:pt>
                <c:pt idx="4">
                  <c:v>Education, Training, &amp; Library</c:v>
                </c:pt>
                <c:pt idx="5">
                  <c:v>Management</c:v>
                </c:pt>
                <c:pt idx="6">
                  <c:v>Healthcare Practitioners &amp; Technical*</c:v>
                </c:pt>
                <c:pt idx="7">
                  <c:v>Personal Care &amp; Service*</c:v>
                </c:pt>
                <c:pt idx="8">
                  <c:v>Transportation &amp; Material Moving</c:v>
                </c:pt>
                <c:pt idx="9">
                  <c:v>Installation, Maintenance, &amp; Repair</c:v>
                </c:pt>
                <c:pt idx="10">
                  <c:v>Building &amp; Grounds Cleaning &amp; Maintenance</c:v>
                </c:pt>
                <c:pt idx="11">
                  <c:v>Healthcare Support*</c:v>
                </c:pt>
                <c:pt idx="12">
                  <c:v>Business &amp; Financial Operations </c:v>
                </c:pt>
                <c:pt idx="13">
                  <c:v>Production</c:v>
                </c:pt>
                <c:pt idx="14">
                  <c:v>Protective Service </c:v>
                </c:pt>
                <c:pt idx="15">
                  <c:v>Architecture &amp; Engineering </c:v>
                </c:pt>
                <c:pt idx="16">
                  <c:v>Community &amp; Social Services </c:v>
                </c:pt>
                <c:pt idx="17">
                  <c:v>Computer &amp; Mathematical *</c:v>
                </c:pt>
                <c:pt idx="18">
                  <c:v>Life, Physical, &amp; Social Science </c:v>
                </c:pt>
                <c:pt idx="19">
                  <c:v>Arts, Entertainment, Sports, &amp; Media </c:v>
                </c:pt>
                <c:pt idx="20">
                  <c:v>Farming, Fishing, &amp; Forestry </c:v>
                </c:pt>
                <c:pt idx="21">
                  <c:v>Legal </c:v>
                </c:pt>
              </c:strCache>
            </c:strRef>
          </c:cat>
          <c:val>
            <c:numRef>
              <c:f>'Occupational Group Charts'!$D$2:$D$23</c:f>
              <c:numCache>
                <c:formatCode>_(* #,##0_);_(* \(#,##0\);_(* "-"??_);_(@_)</c:formatCode>
                <c:ptCount val="22"/>
                <c:pt idx="0">
                  <c:v>137133</c:v>
                </c:pt>
                <c:pt idx="1">
                  <c:v>95245</c:v>
                </c:pt>
                <c:pt idx="2">
                  <c:v>89950</c:v>
                </c:pt>
                <c:pt idx="3">
                  <c:v>72219</c:v>
                </c:pt>
                <c:pt idx="4">
                  <c:v>68779</c:v>
                </c:pt>
                <c:pt idx="5">
                  <c:v>59981</c:v>
                </c:pt>
                <c:pt idx="6">
                  <c:v>55978</c:v>
                </c:pt>
                <c:pt idx="7">
                  <c:v>54986</c:v>
                </c:pt>
                <c:pt idx="8">
                  <c:v>52377</c:v>
                </c:pt>
                <c:pt idx="9">
                  <c:v>39059</c:v>
                </c:pt>
                <c:pt idx="10">
                  <c:v>38415</c:v>
                </c:pt>
                <c:pt idx="11">
                  <c:v>35599</c:v>
                </c:pt>
                <c:pt idx="12">
                  <c:v>33359</c:v>
                </c:pt>
                <c:pt idx="13">
                  <c:v>30755</c:v>
                </c:pt>
                <c:pt idx="14">
                  <c:v>26780</c:v>
                </c:pt>
                <c:pt idx="15">
                  <c:v>23801</c:v>
                </c:pt>
                <c:pt idx="16">
                  <c:v>19042</c:v>
                </c:pt>
                <c:pt idx="17">
                  <c:v>16865</c:v>
                </c:pt>
                <c:pt idx="18">
                  <c:v>16258</c:v>
                </c:pt>
                <c:pt idx="19">
                  <c:v>11702</c:v>
                </c:pt>
                <c:pt idx="20">
                  <c:v>7712</c:v>
                </c:pt>
                <c:pt idx="21">
                  <c:v>5605</c:v>
                </c:pt>
              </c:numCache>
            </c:numRef>
          </c:val>
        </c:ser>
        <c:gapWidth val="75"/>
        <c:overlap val="-25"/>
        <c:axId val="105616128"/>
        <c:axId val="105617664"/>
      </c:barChart>
      <c:catAx>
        <c:axId val="105616128"/>
        <c:scaling>
          <c:orientation val="maxMin"/>
        </c:scaling>
        <c:axPos val="l"/>
        <c:majorTickMark val="none"/>
        <c:tickLblPos val="nextTo"/>
        <c:crossAx val="105617664"/>
        <c:crosses val="autoZero"/>
        <c:auto val="1"/>
        <c:lblAlgn val="ctr"/>
        <c:lblOffset val="100"/>
      </c:catAx>
      <c:valAx>
        <c:axId val="105617664"/>
        <c:scaling>
          <c:orientation val="minMax"/>
        </c:scaling>
        <c:axPos val="t"/>
        <c:majorGridlines/>
        <c:numFmt formatCode="_(* #,##0_);_(* \(#,##0\);_(* &quot;-&quot;??_);_(@_)" sourceLinked="1"/>
        <c:majorTickMark val="none"/>
        <c:tickLblPos val="nextTo"/>
        <c:spPr>
          <a:ln w="9525">
            <a:noFill/>
          </a:ln>
        </c:spPr>
        <c:crossAx val="105616128"/>
        <c:crosses val="autoZero"/>
        <c:crossBetween val="between"/>
      </c:valAx>
    </c:plotArea>
    <c:legend>
      <c:legendPos val="b"/>
      <c:layout/>
    </c:legend>
    <c:plotVisOnly val="1"/>
  </c:chart>
  <c:externalData r:id="rId1"/>
</c:chartSpace>
</file>

<file path=ppt/charts/chart14.xml><?xml version="1.0" encoding="utf-8"?>
<c:chartSpace xmlns:c="http://schemas.openxmlformats.org/drawingml/2006/chart" xmlns:a="http://schemas.openxmlformats.org/drawingml/2006/main" xmlns:r="http://schemas.openxmlformats.org/officeDocument/2006/relationships">
  <c:date1904 val="1"/>
  <c:lang val="en-US"/>
  <c:chart>
    <c:autoTitleDeleted val="1"/>
    <c:plotArea>
      <c:layout/>
      <c:pieChart>
        <c:varyColors val="1"/>
        <c:dLbls>
          <c:showCatName val="1"/>
          <c:showPercent val="1"/>
        </c:dLbls>
        <c:firstSliceAng val="0"/>
      </c:pieChart>
      <c:spPr>
        <a:noFill/>
        <a:ln w="25400">
          <a:noFill/>
        </a:ln>
      </c:spPr>
    </c:plotArea>
    <c:plotVisOnly val="1"/>
    <c:dispBlanksAs val="zero"/>
  </c:chart>
  <c:externalData r:id="rId1"/>
</c:chartSpace>
</file>

<file path=ppt/charts/chart15.xml><?xml version="1.0" encoding="utf-8"?>
<c:chartSpace xmlns:c="http://schemas.openxmlformats.org/drawingml/2006/chart" xmlns:a="http://schemas.openxmlformats.org/drawingml/2006/main" xmlns:r="http://schemas.openxmlformats.org/officeDocument/2006/relationships">
  <c:lang val="en-US"/>
  <c:chart>
    <c:autoTitleDeleted val="1"/>
    <c:plotArea>
      <c:layout/>
      <c:pieChart>
        <c:varyColors val="1"/>
        <c:ser>
          <c:idx val="0"/>
          <c:order val="0"/>
          <c:tx>
            <c:strRef>
              <c:f>'education Charts'!$M$1</c:f>
              <c:strCache>
                <c:ptCount val="1"/>
                <c:pt idx="0">
                  <c:v>Occupational Employment by Education Needed</c:v>
                </c:pt>
              </c:strCache>
            </c:strRef>
          </c:tx>
          <c:dLbls>
            <c:dLbl>
              <c:idx val="1"/>
              <c:layout>
                <c:manualLayout>
                  <c:x val="0.14180079762756928"/>
                  <c:y val="-0.10304598450016443"/>
                </c:manualLayout>
              </c:layout>
              <c:showCatName val="1"/>
              <c:showPercent val="1"/>
            </c:dLbl>
            <c:dLbl>
              <c:idx val="4"/>
              <c:layout>
                <c:manualLayout>
                  <c:x val="7.2440604015407306E-2"/>
                  <c:y val="7.9182876963074703E-2"/>
                </c:manualLayout>
              </c:layout>
              <c:showCatName val="1"/>
              <c:showPercent val="1"/>
            </c:dLbl>
            <c:txPr>
              <a:bodyPr/>
              <a:lstStyle/>
              <a:p>
                <a:pPr>
                  <a:defRPr sz="1200"/>
                </a:pPr>
                <a:endParaRPr lang="en-US"/>
              </a:p>
            </c:txPr>
            <c:showCatName val="1"/>
            <c:showPercent val="1"/>
            <c:showLeaderLines val="1"/>
          </c:dLbls>
          <c:cat>
            <c:strRef>
              <c:f>'education Charts'!$M$2:$M$9</c:f>
              <c:strCache>
                <c:ptCount val="8"/>
                <c:pt idx="0">
                  <c:v>Some College, no degree</c:v>
                </c:pt>
                <c:pt idx="1">
                  <c:v>Master's degree</c:v>
                </c:pt>
                <c:pt idx="2">
                  <c:v>Doctoral or professional degree</c:v>
                </c:pt>
                <c:pt idx="3">
                  <c:v>Postsecondary non-degree award</c:v>
                </c:pt>
                <c:pt idx="4">
                  <c:v>Associate's degree</c:v>
                </c:pt>
                <c:pt idx="5">
                  <c:v>Bachelor's degree</c:v>
                </c:pt>
                <c:pt idx="6">
                  <c:v>Less than high school</c:v>
                </c:pt>
                <c:pt idx="7">
                  <c:v>High school diploma or equivalent</c:v>
                </c:pt>
              </c:strCache>
            </c:strRef>
          </c:cat>
          <c:val>
            <c:numRef>
              <c:f>'education Charts'!$N$2:$N$9</c:f>
              <c:numCache>
                <c:formatCode>General</c:formatCode>
                <c:ptCount val="8"/>
                <c:pt idx="0">
                  <c:v>5192</c:v>
                </c:pt>
                <c:pt idx="1">
                  <c:v>16340</c:v>
                </c:pt>
                <c:pt idx="2">
                  <c:v>22718</c:v>
                </c:pt>
                <c:pt idx="3">
                  <c:v>35322</c:v>
                </c:pt>
                <c:pt idx="4">
                  <c:v>54502</c:v>
                </c:pt>
                <c:pt idx="5">
                  <c:v>112789</c:v>
                </c:pt>
                <c:pt idx="6">
                  <c:v>253085</c:v>
                </c:pt>
                <c:pt idx="7">
                  <c:v>355227</c:v>
                </c:pt>
              </c:numCache>
            </c:numRef>
          </c:val>
        </c:ser>
        <c:dLbls>
          <c:showCatName val="1"/>
          <c:showPercent val="1"/>
        </c:dLbls>
        <c:firstSliceAng val="0"/>
      </c:pieChart>
    </c:plotArea>
    <c:plotVisOnly val="1"/>
  </c:chart>
  <c:externalData r:id="rId1"/>
</c:chartSpace>
</file>

<file path=ppt/charts/chart16.xml><?xml version="1.0" encoding="utf-8"?>
<c:chartSpace xmlns:c="http://schemas.openxmlformats.org/drawingml/2006/chart" xmlns:a="http://schemas.openxmlformats.org/drawingml/2006/main" xmlns:r="http://schemas.openxmlformats.org/officeDocument/2006/relationships">
  <c:lang val="en-US"/>
  <c:style val="5"/>
  <c:chart>
    <c:autoTitleDeleted val="1"/>
    <c:plotArea>
      <c:layout>
        <c:manualLayout>
          <c:layoutTarget val="inner"/>
          <c:xMode val="edge"/>
          <c:yMode val="edge"/>
          <c:x val="0.46580938505568192"/>
          <c:y val="0.12192313170156067"/>
          <c:w val="0.5106501253021335"/>
          <c:h val="0.85777417357714059"/>
        </c:manualLayout>
      </c:layout>
      <c:barChart>
        <c:barDir val="bar"/>
        <c:grouping val="stacked"/>
        <c:ser>
          <c:idx val="0"/>
          <c:order val="0"/>
          <c:tx>
            <c:strRef>
              <c:f>'Occupational Group Charts'!$H$1</c:f>
              <c:strCache>
                <c:ptCount val="1"/>
                <c:pt idx="0">
                  <c:v>Growth</c:v>
                </c:pt>
              </c:strCache>
            </c:strRef>
          </c:tx>
          <c:dLbls>
            <c:delete val="1"/>
          </c:dLbls>
          <c:cat>
            <c:strRef>
              <c:f>'Occupational Group Charts'!$B$2:$B$23</c:f>
              <c:strCache>
                <c:ptCount val="22"/>
                <c:pt idx="0">
                  <c:v>Office &amp; Administrative Support</c:v>
                </c:pt>
                <c:pt idx="1">
                  <c:v>Sales &amp; Related </c:v>
                </c:pt>
                <c:pt idx="2">
                  <c:v>Food Preparation &amp; Serving Related</c:v>
                </c:pt>
                <c:pt idx="3">
                  <c:v>Construction &amp; Extraction</c:v>
                </c:pt>
                <c:pt idx="4">
                  <c:v>Education, Training, &amp; Library</c:v>
                </c:pt>
                <c:pt idx="5">
                  <c:v>Management</c:v>
                </c:pt>
                <c:pt idx="6">
                  <c:v>Healthcare Practitioners &amp; Technical</c:v>
                </c:pt>
                <c:pt idx="7">
                  <c:v>Personal Care &amp; Service</c:v>
                </c:pt>
                <c:pt idx="8">
                  <c:v>Transportation &amp; Material Moving</c:v>
                </c:pt>
                <c:pt idx="9">
                  <c:v>Installation, Maintenance, &amp; Repair</c:v>
                </c:pt>
                <c:pt idx="10">
                  <c:v>Building &amp; Grounds Cleaning &amp; Maintenance</c:v>
                </c:pt>
                <c:pt idx="11">
                  <c:v>Healthcare Support</c:v>
                </c:pt>
                <c:pt idx="12">
                  <c:v>Business &amp; Financial Operations </c:v>
                </c:pt>
                <c:pt idx="13">
                  <c:v>Production</c:v>
                </c:pt>
                <c:pt idx="14">
                  <c:v>Protective Service </c:v>
                </c:pt>
                <c:pt idx="15">
                  <c:v>Architecture &amp; Engineering </c:v>
                </c:pt>
                <c:pt idx="16">
                  <c:v>Community &amp; Social Services </c:v>
                </c:pt>
                <c:pt idx="17">
                  <c:v>Computer &amp; Mathematical </c:v>
                </c:pt>
                <c:pt idx="18">
                  <c:v>Life, Physical, &amp; Social Science </c:v>
                </c:pt>
                <c:pt idx="19">
                  <c:v>Arts, Entertainment, Sports, &amp; Media </c:v>
                </c:pt>
                <c:pt idx="20">
                  <c:v>Farming, Fishing, &amp; Forestry </c:v>
                </c:pt>
                <c:pt idx="21">
                  <c:v>Legal </c:v>
                </c:pt>
              </c:strCache>
            </c:strRef>
          </c:cat>
          <c:val>
            <c:numRef>
              <c:f>'Occupational Group Charts'!$H$2:$H$23</c:f>
              <c:numCache>
                <c:formatCode>_(* #,##0_);_(* \(#,##0\);_(* "-"??_);_(@_)</c:formatCode>
                <c:ptCount val="22"/>
                <c:pt idx="0">
                  <c:v>1400</c:v>
                </c:pt>
                <c:pt idx="1">
                  <c:v>1212</c:v>
                </c:pt>
                <c:pt idx="2">
                  <c:v>1692</c:v>
                </c:pt>
                <c:pt idx="3">
                  <c:v>807</c:v>
                </c:pt>
                <c:pt idx="4">
                  <c:v>1417</c:v>
                </c:pt>
                <c:pt idx="5">
                  <c:v>423</c:v>
                </c:pt>
                <c:pt idx="6">
                  <c:v>997</c:v>
                </c:pt>
                <c:pt idx="7">
                  <c:v>1296</c:v>
                </c:pt>
                <c:pt idx="8">
                  <c:v>657</c:v>
                </c:pt>
                <c:pt idx="9">
                  <c:v>469</c:v>
                </c:pt>
                <c:pt idx="10">
                  <c:v>476</c:v>
                </c:pt>
                <c:pt idx="11">
                  <c:v>858</c:v>
                </c:pt>
                <c:pt idx="12">
                  <c:v>484</c:v>
                </c:pt>
                <c:pt idx="13">
                  <c:v>230</c:v>
                </c:pt>
                <c:pt idx="14">
                  <c:v>317</c:v>
                </c:pt>
                <c:pt idx="15">
                  <c:v>252</c:v>
                </c:pt>
                <c:pt idx="16">
                  <c:v>281</c:v>
                </c:pt>
                <c:pt idx="17">
                  <c:v>300</c:v>
                </c:pt>
                <c:pt idx="18">
                  <c:v>207</c:v>
                </c:pt>
                <c:pt idx="19">
                  <c:v>110</c:v>
                </c:pt>
                <c:pt idx="20">
                  <c:v>26</c:v>
                </c:pt>
                <c:pt idx="21">
                  <c:v>26</c:v>
                </c:pt>
              </c:numCache>
            </c:numRef>
          </c:val>
        </c:ser>
        <c:ser>
          <c:idx val="1"/>
          <c:order val="1"/>
          <c:tx>
            <c:strRef>
              <c:f>'Occupational Group Charts'!$I$1</c:f>
              <c:strCache>
                <c:ptCount val="1"/>
                <c:pt idx="0">
                  <c:v>Replacement</c:v>
                </c:pt>
              </c:strCache>
            </c:strRef>
          </c:tx>
          <c:dLbls>
            <c:delete val="1"/>
          </c:dLbls>
          <c:cat>
            <c:strRef>
              <c:f>'Occupational Group Charts'!$B$2:$B$23</c:f>
              <c:strCache>
                <c:ptCount val="22"/>
                <c:pt idx="0">
                  <c:v>Office &amp; Administrative Support</c:v>
                </c:pt>
                <c:pt idx="1">
                  <c:v>Sales &amp; Related </c:v>
                </c:pt>
                <c:pt idx="2">
                  <c:v>Food Preparation &amp; Serving Related</c:v>
                </c:pt>
                <c:pt idx="3">
                  <c:v>Construction &amp; Extraction</c:v>
                </c:pt>
                <c:pt idx="4">
                  <c:v>Education, Training, &amp; Library</c:v>
                </c:pt>
                <c:pt idx="5">
                  <c:v>Management</c:v>
                </c:pt>
                <c:pt idx="6">
                  <c:v>Healthcare Practitioners &amp; Technical</c:v>
                </c:pt>
                <c:pt idx="7">
                  <c:v>Personal Care &amp; Service</c:v>
                </c:pt>
                <c:pt idx="8">
                  <c:v>Transportation &amp; Material Moving</c:v>
                </c:pt>
                <c:pt idx="9">
                  <c:v>Installation, Maintenance, &amp; Repair</c:v>
                </c:pt>
                <c:pt idx="10">
                  <c:v>Building &amp; Grounds Cleaning &amp; Maintenance</c:v>
                </c:pt>
                <c:pt idx="11">
                  <c:v>Healthcare Support</c:v>
                </c:pt>
                <c:pt idx="12">
                  <c:v>Business &amp; Financial Operations </c:v>
                </c:pt>
                <c:pt idx="13">
                  <c:v>Production</c:v>
                </c:pt>
                <c:pt idx="14">
                  <c:v>Protective Service </c:v>
                </c:pt>
                <c:pt idx="15">
                  <c:v>Architecture &amp; Engineering </c:v>
                </c:pt>
                <c:pt idx="16">
                  <c:v>Community &amp; Social Services </c:v>
                </c:pt>
                <c:pt idx="17">
                  <c:v>Computer &amp; Mathematical </c:v>
                </c:pt>
                <c:pt idx="18">
                  <c:v>Life, Physical, &amp; Social Science </c:v>
                </c:pt>
                <c:pt idx="19">
                  <c:v>Arts, Entertainment, Sports, &amp; Media </c:v>
                </c:pt>
                <c:pt idx="20">
                  <c:v>Farming, Fishing, &amp; Forestry </c:v>
                </c:pt>
                <c:pt idx="21">
                  <c:v>Legal </c:v>
                </c:pt>
              </c:strCache>
            </c:strRef>
          </c:cat>
          <c:val>
            <c:numRef>
              <c:f>'Occupational Group Charts'!$I$2:$I$23</c:f>
              <c:numCache>
                <c:formatCode>_(* #,##0_);_(* \(#,##0\);_(* "-"??_);_(@_)</c:formatCode>
                <c:ptCount val="22"/>
                <c:pt idx="0">
                  <c:v>2707</c:v>
                </c:pt>
                <c:pt idx="1">
                  <c:v>2580</c:v>
                </c:pt>
                <c:pt idx="2">
                  <c:v>2608</c:v>
                </c:pt>
                <c:pt idx="3">
                  <c:v>1334</c:v>
                </c:pt>
                <c:pt idx="4">
                  <c:v>1202</c:v>
                </c:pt>
                <c:pt idx="5">
                  <c:v>1140</c:v>
                </c:pt>
                <c:pt idx="6">
                  <c:v>937</c:v>
                </c:pt>
                <c:pt idx="7">
                  <c:v>794</c:v>
                </c:pt>
                <c:pt idx="8">
                  <c:v>1138</c:v>
                </c:pt>
                <c:pt idx="9">
                  <c:v>794</c:v>
                </c:pt>
                <c:pt idx="10">
                  <c:v>598</c:v>
                </c:pt>
                <c:pt idx="11">
                  <c:v>388</c:v>
                </c:pt>
                <c:pt idx="12">
                  <c:v>574</c:v>
                </c:pt>
                <c:pt idx="13">
                  <c:v>633</c:v>
                </c:pt>
                <c:pt idx="14">
                  <c:v>574</c:v>
                </c:pt>
                <c:pt idx="15">
                  <c:v>464</c:v>
                </c:pt>
                <c:pt idx="16">
                  <c:v>362</c:v>
                </c:pt>
                <c:pt idx="17">
                  <c:v>265</c:v>
                </c:pt>
                <c:pt idx="18">
                  <c:v>467</c:v>
                </c:pt>
                <c:pt idx="19">
                  <c:v>284</c:v>
                </c:pt>
                <c:pt idx="20">
                  <c:v>223</c:v>
                </c:pt>
                <c:pt idx="21">
                  <c:v>93</c:v>
                </c:pt>
              </c:numCache>
            </c:numRef>
          </c:val>
        </c:ser>
        <c:dLbls>
          <c:showVal val="1"/>
        </c:dLbls>
        <c:gapWidth val="95"/>
        <c:overlap val="100"/>
        <c:axId val="105820544"/>
        <c:axId val="105822080"/>
      </c:barChart>
      <c:barChart>
        <c:barDir val="bar"/>
        <c:grouping val="stacked"/>
        <c:ser>
          <c:idx val="2"/>
          <c:order val="2"/>
          <c:tx>
            <c:strRef>
              <c:f>'Occupational Group Charts'!$J$1</c:f>
              <c:strCache>
                <c:ptCount val="1"/>
                <c:pt idx="0">
                  <c:v>Total Annual Average Openings</c:v>
                </c:pt>
              </c:strCache>
            </c:strRef>
          </c:tx>
          <c:spPr>
            <a:noFill/>
            <a:ln>
              <a:noFill/>
            </a:ln>
          </c:spPr>
          <c:dLbls>
            <c:dLbl>
              <c:idx val="0"/>
              <c:layout>
                <c:manualLayout>
                  <c:x val="0.25558688108901673"/>
                  <c:y val="-0.81861367739202739"/>
                </c:manualLayout>
              </c:layout>
              <c:dLblPos val="ctr"/>
              <c:showVal val="1"/>
            </c:dLbl>
            <c:dLbl>
              <c:idx val="1"/>
              <c:layout>
                <c:manualLayout>
                  <c:x val="0.23714726337173964"/>
                  <c:y val="-0.74371432431495277"/>
                </c:manualLayout>
              </c:layout>
              <c:dLblPos val="ctr"/>
              <c:showVal val="1"/>
            </c:dLbl>
            <c:dLbl>
              <c:idx val="2"/>
              <c:layout>
                <c:manualLayout>
                  <c:x val="0.26073427791865017"/>
                  <c:y val="-0.66329635020827238"/>
                </c:manualLayout>
              </c:layout>
              <c:dLblPos val="ctr"/>
              <c:showVal val="1"/>
            </c:dLbl>
            <c:dLbl>
              <c:idx val="3"/>
              <c:layout>
                <c:manualLayout>
                  <c:x val="0.15990109287186585"/>
                  <c:y val="-0.58656973445844751"/>
                </c:manualLayout>
              </c:layout>
              <c:dLblPos val="ctr"/>
              <c:showVal val="1"/>
            </c:dLbl>
            <c:dLbl>
              <c:idx val="4"/>
              <c:layout>
                <c:manualLayout>
                  <c:x val="0.18195612201017244"/>
                  <c:y val="-0.50799758340914569"/>
                </c:manualLayout>
              </c:layout>
              <c:dLblPos val="ctr"/>
              <c:showVal val="1"/>
            </c:dLbl>
            <c:dLbl>
              <c:idx val="5"/>
              <c:layout>
                <c:manualLayout>
                  <c:x val="0.13509368002728481"/>
                  <c:y val="-0.43123399076901431"/>
                </c:manualLayout>
              </c:layout>
              <c:dLblPos val="ctr"/>
              <c:showVal val="1"/>
            </c:dLbl>
            <c:dLbl>
              <c:idx val="6"/>
              <c:layout>
                <c:manualLayout>
                  <c:x val="0.15874686744665401"/>
                  <c:y val="-0.3526616958407619"/>
                </c:manualLayout>
              </c:layout>
              <c:tx>
                <c:rich>
                  <a:bodyPr/>
                  <a:lstStyle/>
                  <a:p>
                    <a:r>
                      <a:rPr lang="en-US"/>
                      <a:t> 1,934</a:t>
                    </a:r>
                    <a:r>
                      <a:rPr lang="en-US" sz="1600">
                        <a:solidFill>
                          <a:schemeClr val="accent6">
                            <a:lumMod val="75000"/>
                          </a:schemeClr>
                        </a:solidFill>
                      </a:rPr>
                      <a:t>*</a:t>
                    </a:r>
                    <a:r>
                      <a:rPr lang="en-US"/>
                      <a:t> </a:t>
                    </a:r>
                  </a:p>
                </c:rich>
              </c:tx>
              <c:dLblPos val="ctr"/>
              <c:showVal val="1"/>
            </c:dLbl>
            <c:dLbl>
              <c:idx val="7"/>
              <c:layout>
                <c:manualLayout>
                  <c:x val="0.15729681035633275"/>
                  <c:y val="-0.27591666358525957"/>
                </c:manualLayout>
              </c:layout>
              <c:tx>
                <c:rich>
                  <a:bodyPr/>
                  <a:lstStyle/>
                  <a:p>
                    <a:r>
                      <a:rPr lang="en-US"/>
                      <a:t> 2,090</a:t>
                    </a:r>
                    <a:r>
                      <a:rPr lang="en-US" sz="1600" b="0" i="0" u="none" strike="noStrike" baseline="0">
                        <a:solidFill>
                          <a:schemeClr val="accent6">
                            <a:lumMod val="75000"/>
                          </a:schemeClr>
                        </a:solidFill>
                      </a:rPr>
                      <a:t>*</a:t>
                    </a:r>
                    <a:r>
                      <a:rPr lang="en-US"/>
                      <a:t> </a:t>
                    </a:r>
                  </a:p>
                </c:rich>
              </c:tx>
              <c:dLblPos val="ctr"/>
              <c:showVal val="1"/>
            </c:dLbl>
            <c:dLbl>
              <c:idx val="8"/>
              <c:layout>
                <c:manualLayout>
                  <c:x val="0.13987833088660537"/>
                  <c:y val="-0.19734436865700661"/>
                </c:manualLayout>
              </c:layout>
              <c:dLblPos val="ctr"/>
              <c:showVal val="1"/>
            </c:dLbl>
            <c:dLbl>
              <c:idx val="9"/>
              <c:layout>
                <c:manualLayout>
                  <c:x val="0.11506609872918427"/>
                  <c:y val="-0.11511754838325387"/>
                </c:manualLayout>
              </c:layout>
              <c:dLblPos val="ctr"/>
              <c:showVal val="1"/>
            </c:dLbl>
            <c:dLbl>
              <c:idx val="10"/>
              <c:layout>
                <c:manualLayout>
                  <c:x val="0.11012278126251185"/>
                  <c:y val="-4.0199778800501351E-2"/>
                </c:manualLayout>
              </c:layout>
              <c:dLblPos val="ctr"/>
              <c:showVal val="1"/>
            </c:dLbl>
            <c:dLbl>
              <c:idx val="11"/>
              <c:layout>
                <c:manualLayout>
                  <c:x val="0.11655192994943439"/>
                  <c:y val="3.6545253455001231E-2"/>
                </c:manualLayout>
              </c:layout>
              <c:tx>
                <c:rich>
                  <a:bodyPr/>
                  <a:lstStyle/>
                  <a:p>
                    <a:r>
                      <a:rPr lang="en-US"/>
                      <a:t> 1,246 </a:t>
                    </a:r>
                    <a:r>
                      <a:rPr lang="en-US" sz="1600">
                        <a:solidFill>
                          <a:schemeClr val="accent6">
                            <a:lumMod val="75000"/>
                          </a:schemeClr>
                        </a:solidFill>
                      </a:rPr>
                      <a:t>*</a:t>
                    </a:r>
                    <a:r>
                      <a:rPr lang="en-US"/>
                      <a:t> </a:t>
                    </a:r>
                  </a:p>
                </c:rich>
              </c:tx>
              <c:dLblPos val="ctr"/>
              <c:showVal val="1"/>
            </c:dLbl>
            <c:dLbl>
              <c:idx val="12"/>
              <c:layout>
                <c:manualLayout>
                  <c:x val="0.11636786927057845"/>
                  <c:y val="0.11692639455032575"/>
                </c:manualLayout>
              </c:layout>
              <c:dLblPos val="ctr"/>
              <c:showVal val="1"/>
            </c:dLbl>
            <c:dLbl>
              <c:idx val="13"/>
              <c:layout>
                <c:manualLayout>
                  <c:x val="8.2357793199578866E-2"/>
                  <c:y val="0.19184416413307825"/>
                </c:manualLayout>
              </c:layout>
              <c:dLblPos val="ctr"/>
              <c:showVal val="1"/>
            </c:dLbl>
            <c:dLbl>
              <c:idx val="14"/>
              <c:layout>
                <c:manualLayout>
                  <c:x val="9.5557891068701217E-2"/>
                  <c:y val="0.2722621382397592"/>
                </c:manualLayout>
              </c:layout>
              <c:dLblPos val="ctr"/>
              <c:showVal val="1"/>
            </c:dLbl>
            <c:dLbl>
              <c:idx val="15"/>
              <c:layout>
                <c:manualLayout>
                  <c:x val="9.6037598054480561E-2"/>
                  <c:y val="0.3508160166623337"/>
                </c:manualLayout>
              </c:layout>
              <c:dLblPos val="ctr"/>
              <c:showVal val="1"/>
            </c:dLbl>
            <c:dLbl>
              <c:idx val="16"/>
              <c:layout>
                <c:manualLayout>
                  <c:x val="7.5831516823109013E-2"/>
                  <c:y val="0.43123399076901431"/>
                </c:manualLayout>
              </c:layout>
              <c:dLblPos val="ctr"/>
              <c:showVal val="1"/>
            </c:dLbl>
            <c:dLbl>
              <c:idx val="17"/>
              <c:layout>
                <c:manualLayout>
                  <c:x val="6.9494491154707433E-2"/>
                  <c:y val="0.5079788791455665"/>
                </c:manualLayout>
              </c:layout>
              <c:tx>
                <c:rich>
                  <a:bodyPr/>
                  <a:lstStyle/>
                  <a:p>
                    <a:r>
                      <a:rPr lang="en-US"/>
                      <a:t> 565 </a:t>
                    </a:r>
                    <a:r>
                      <a:rPr lang="en-US" sz="1600">
                        <a:solidFill>
                          <a:schemeClr val="accent6">
                            <a:lumMod val="75000"/>
                          </a:schemeClr>
                        </a:solidFill>
                      </a:rPr>
                      <a:t>*</a:t>
                    </a:r>
                    <a:r>
                      <a:rPr lang="en-US"/>
                      <a:t>  </a:t>
                    </a:r>
                  </a:p>
                </c:rich>
              </c:tx>
              <c:dLblPos val="ctr"/>
              <c:showVal val="1"/>
            </c:dLbl>
            <c:dLbl>
              <c:idx val="18"/>
              <c:layout>
                <c:manualLayout>
                  <c:x val="7.9768710055310971E-2"/>
                  <c:y val="0.58472405528001969"/>
                </c:manualLayout>
              </c:layout>
              <c:dLblPos val="ctr"/>
              <c:showVal val="1"/>
            </c:dLbl>
            <c:dLbl>
              <c:idx val="19"/>
              <c:layout>
                <c:manualLayout>
                  <c:x val="6.5470364933196953E-2"/>
                  <c:y val="0.66327793370259425"/>
                </c:manualLayout>
              </c:layout>
              <c:dLblPos val="ctr"/>
              <c:showVal val="1"/>
            </c:dLbl>
            <c:dLbl>
              <c:idx val="20"/>
              <c:layout>
                <c:manualLayout>
                  <c:x val="5.1003899936236829E-2"/>
                  <c:y val="0.74369590780927508"/>
                </c:manualLayout>
              </c:layout>
              <c:dLblPos val="ctr"/>
              <c:showVal val="1"/>
            </c:dLbl>
            <c:dLbl>
              <c:idx val="21"/>
              <c:layout>
                <c:manualLayout>
                  <c:x val="5.1427628749796103E-2"/>
                  <c:y val="0.81861367739202751"/>
                </c:manualLayout>
              </c:layout>
              <c:dLblPos val="ctr"/>
              <c:showVal val="1"/>
            </c:dLbl>
            <c:dLblPos val="inEnd"/>
            <c:showVal val="1"/>
          </c:dLbls>
          <c:cat>
            <c:strRef>
              <c:f>'Occupational Group Charts'!$B$2:$B$23</c:f>
              <c:strCache>
                <c:ptCount val="22"/>
                <c:pt idx="0">
                  <c:v>Office &amp; Administrative Support</c:v>
                </c:pt>
                <c:pt idx="1">
                  <c:v>Sales &amp; Related </c:v>
                </c:pt>
                <c:pt idx="2">
                  <c:v>Food Preparation &amp; Serving Related</c:v>
                </c:pt>
                <c:pt idx="3">
                  <c:v>Construction &amp; Extraction</c:v>
                </c:pt>
                <c:pt idx="4">
                  <c:v>Education, Training, &amp; Library</c:v>
                </c:pt>
                <c:pt idx="5">
                  <c:v>Management</c:v>
                </c:pt>
                <c:pt idx="6">
                  <c:v>Healthcare Practitioners &amp; Technical</c:v>
                </c:pt>
                <c:pt idx="7">
                  <c:v>Personal Care &amp; Service</c:v>
                </c:pt>
                <c:pt idx="8">
                  <c:v>Transportation &amp; Material Moving</c:v>
                </c:pt>
                <c:pt idx="9">
                  <c:v>Installation, Maintenance, &amp; Repair</c:v>
                </c:pt>
                <c:pt idx="10">
                  <c:v>Building &amp; Grounds Cleaning &amp; Maintenance</c:v>
                </c:pt>
                <c:pt idx="11">
                  <c:v>Healthcare Support</c:v>
                </c:pt>
                <c:pt idx="12">
                  <c:v>Business &amp; Financial Operations </c:v>
                </c:pt>
                <c:pt idx="13">
                  <c:v>Production</c:v>
                </c:pt>
                <c:pt idx="14">
                  <c:v>Protective Service </c:v>
                </c:pt>
                <c:pt idx="15">
                  <c:v>Architecture &amp; Engineering </c:v>
                </c:pt>
                <c:pt idx="16">
                  <c:v>Community &amp; Social Services </c:v>
                </c:pt>
                <c:pt idx="17">
                  <c:v>Computer &amp; Mathematical </c:v>
                </c:pt>
                <c:pt idx="18">
                  <c:v>Life, Physical, &amp; Social Science </c:v>
                </c:pt>
                <c:pt idx="19">
                  <c:v>Arts, Entertainment, Sports, &amp; Media </c:v>
                </c:pt>
                <c:pt idx="20">
                  <c:v>Farming, Fishing, &amp; Forestry </c:v>
                </c:pt>
                <c:pt idx="21">
                  <c:v>Legal </c:v>
                </c:pt>
              </c:strCache>
            </c:strRef>
          </c:cat>
          <c:val>
            <c:numRef>
              <c:f>'Occupational Group Charts'!$J$2:$J$23</c:f>
              <c:numCache>
                <c:formatCode>_(* #,##0_);_(* \(#,##0\);_(* "-"??_);_(@_)</c:formatCode>
                <c:ptCount val="22"/>
                <c:pt idx="0">
                  <c:v>4107</c:v>
                </c:pt>
                <c:pt idx="1">
                  <c:v>3792</c:v>
                </c:pt>
                <c:pt idx="2">
                  <c:v>4300</c:v>
                </c:pt>
                <c:pt idx="3">
                  <c:v>2141</c:v>
                </c:pt>
                <c:pt idx="4">
                  <c:v>2619</c:v>
                </c:pt>
                <c:pt idx="5">
                  <c:v>1563</c:v>
                </c:pt>
                <c:pt idx="6">
                  <c:v>1934</c:v>
                </c:pt>
                <c:pt idx="7">
                  <c:v>2090</c:v>
                </c:pt>
                <c:pt idx="8">
                  <c:v>1795</c:v>
                </c:pt>
                <c:pt idx="9">
                  <c:v>1263</c:v>
                </c:pt>
                <c:pt idx="10">
                  <c:v>1074</c:v>
                </c:pt>
                <c:pt idx="11">
                  <c:v>1246</c:v>
                </c:pt>
                <c:pt idx="12">
                  <c:v>1058</c:v>
                </c:pt>
                <c:pt idx="13">
                  <c:v>863</c:v>
                </c:pt>
                <c:pt idx="14">
                  <c:v>891</c:v>
                </c:pt>
                <c:pt idx="15">
                  <c:v>716</c:v>
                </c:pt>
                <c:pt idx="16">
                  <c:v>643</c:v>
                </c:pt>
                <c:pt idx="17">
                  <c:v>565</c:v>
                </c:pt>
                <c:pt idx="18">
                  <c:v>674</c:v>
                </c:pt>
                <c:pt idx="19">
                  <c:v>394</c:v>
                </c:pt>
                <c:pt idx="20">
                  <c:v>249</c:v>
                </c:pt>
                <c:pt idx="21">
                  <c:v>119</c:v>
                </c:pt>
              </c:numCache>
            </c:numRef>
          </c:val>
        </c:ser>
        <c:dLbls>
          <c:showVal val="1"/>
        </c:dLbls>
        <c:gapWidth val="95"/>
        <c:overlap val="100"/>
        <c:axId val="105723008"/>
        <c:axId val="105823616"/>
      </c:barChart>
      <c:catAx>
        <c:axId val="105820544"/>
        <c:scaling>
          <c:orientation val="maxMin"/>
        </c:scaling>
        <c:axPos val="l"/>
        <c:majorTickMark val="none"/>
        <c:tickLblPos val="nextTo"/>
        <c:crossAx val="105822080"/>
        <c:crosses val="autoZero"/>
        <c:auto val="1"/>
        <c:lblAlgn val="ctr"/>
        <c:lblOffset val="100"/>
        <c:tickLblSkip val="1"/>
      </c:catAx>
      <c:valAx>
        <c:axId val="105822080"/>
        <c:scaling>
          <c:orientation val="minMax"/>
        </c:scaling>
        <c:delete val="1"/>
        <c:axPos val="t"/>
        <c:numFmt formatCode="_(* #,##0_);_(* \(#,##0\);_(* &quot;-&quot;??_);_(@_)" sourceLinked="1"/>
        <c:majorTickMark val="none"/>
        <c:tickLblPos val="none"/>
        <c:crossAx val="105820544"/>
        <c:crosses val="autoZero"/>
        <c:crossBetween val="between"/>
      </c:valAx>
      <c:valAx>
        <c:axId val="105823616"/>
        <c:scaling>
          <c:orientation val="minMax"/>
        </c:scaling>
        <c:delete val="1"/>
        <c:axPos val="t"/>
        <c:numFmt formatCode="_(* #,##0_);_(* \(#,##0\);_(* &quot;-&quot;??_);_(@_)" sourceLinked="1"/>
        <c:tickLblPos val="none"/>
        <c:crossAx val="105723008"/>
        <c:crosses val="max"/>
        <c:crossBetween val="between"/>
      </c:valAx>
      <c:catAx>
        <c:axId val="105723008"/>
        <c:scaling>
          <c:orientation val="minMax"/>
        </c:scaling>
        <c:delete val="1"/>
        <c:axPos val="l"/>
        <c:tickLblPos val="none"/>
        <c:crossAx val="105823616"/>
        <c:crosses val="autoZero"/>
        <c:auto val="1"/>
        <c:lblAlgn val="ctr"/>
        <c:lblOffset val="100"/>
      </c:catAx>
    </c:plotArea>
    <c:legend>
      <c:legendPos val="t"/>
      <c:legendEntry>
        <c:idx val="2"/>
        <c:delete val="1"/>
      </c:legendEntry>
      <c:layout>
        <c:manualLayout>
          <c:xMode val="edge"/>
          <c:yMode val="edge"/>
          <c:x val="0.69588412147634082"/>
          <c:y val="0.61461678587560231"/>
          <c:w val="0.30032196716935822"/>
          <c:h val="3.562199392456334E-2"/>
        </c:manualLayout>
      </c:layout>
    </c:legend>
    <c:plotVisOnly val="1"/>
  </c:chart>
  <c:externalData r:id="rId1"/>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4A93ACF-D32D-4471-920F-FCB1A5CDF0AB}" type="doc">
      <dgm:prSet loTypeId="urn:microsoft.com/office/officeart/2005/8/layout/venn1" loCatId="relationship" qsTypeId="urn:microsoft.com/office/officeart/2005/8/quickstyle/simple1" qsCatId="simple" csTypeId="urn:microsoft.com/office/officeart/2005/8/colors/accent1_2" csCatId="accent1" phldr="1"/>
      <dgm:spPr/>
    </dgm:pt>
    <dgm:pt modelId="{725192D8-DC54-462E-926C-F3264D3AC2FB}">
      <dgm:prSet phldrT="[Text]"/>
      <dgm:spPr>
        <a:solidFill>
          <a:schemeClr val="accent5">
            <a:lumMod val="60000"/>
            <a:lumOff val="40000"/>
            <a:alpha val="50000"/>
          </a:schemeClr>
        </a:solidFill>
      </dgm:spPr>
      <dgm:t>
        <a:bodyPr/>
        <a:lstStyle/>
        <a:p>
          <a:pPr algn="r"/>
          <a:r>
            <a:rPr lang="en-US" dirty="0" smtClean="0"/>
            <a:t>Part time but would work full time</a:t>
          </a:r>
          <a:endParaRPr lang="en-US" dirty="0"/>
        </a:p>
      </dgm:t>
    </dgm:pt>
    <dgm:pt modelId="{311CDB25-8C62-49E1-8F13-CD09C0B6E094}" type="parTrans" cxnId="{A3290CF0-19E3-412B-8480-72EA84F2CC89}">
      <dgm:prSet/>
      <dgm:spPr/>
      <dgm:t>
        <a:bodyPr/>
        <a:lstStyle/>
        <a:p>
          <a:endParaRPr lang="en-US"/>
        </a:p>
      </dgm:t>
    </dgm:pt>
    <dgm:pt modelId="{65D5F6FD-2043-4752-9937-852F5942AAC4}" type="sibTrans" cxnId="{A3290CF0-19E3-412B-8480-72EA84F2CC89}">
      <dgm:prSet/>
      <dgm:spPr/>
      <dgm:t>
        <a:bodyPr/>
        <a:lstStyle/>
        <a:p>
          <a:endParaRPr lang="en-US"/>
        </a:p>
      </dgm:t>
    </dgm:pt>
    <dgm:pt modelId="{9C80EB23-12FF-4219-8F05-F570B7CD05D8}">
      <dgm:prSet phldrT="[Text]"/>
      <dgm:spPr>
        <a:solidFill>
          <a:schemeClr val="accent5">
            <a:lumMod val="50000"/>
            <a:alpha val="50000"/>
          </a:schemeClr>
        </a:solidFill>
      </dgm:spPr>
      <dgm:t>
        <a:bodyPr anchor="t"/>
        <a:lstStyle/>
        <a:p>
          <a:pPr algn="l"/>
          <a:r>
            <a:rPr lang="en-US" dirty="0" smtClean="0"/>
            <a:t>Discouraged unemployed workers</a:t>
          </a:r>
          <a:endParaRPr lang="en-US" dirty="0"/>
        </a:p>
      </dgm:t>
    </dgm:pt>
    <dgm:pt modelId="{ABBC24C8-A895-43B6-9E38-BF9EBAA87747}" type="parTrans" cxnId="{0304A749-8F65-478D-B85B-2EE6874F4A05}">
      <dgm:prSet/>
      <dgm:spPr/>
      <dgm:t>
        <a:bodyPr/>
        <a:lstStyle/>
        <a:p>
          <a:endParaRPr lang="en-US"/>
        </a:p>
      </dgm:t>
    </dgm:pt>
    <dgm:pt modelId="{EC1A0598-A7B4-49EA-BFE4-4116D0B3BF07}" type="sibTrans" cxnId="{0304A749-8F65-478D-B85B-2EE6874F4A05}">
      <dgm:prSet/>
      <dgm:spPr/>
      <dgm:t>
        <a:bodyPr/>
        <a:lstStyle/>
        <a:p>
          <a:endParaRPr lang="en-US"/>
        </a:p>
      </dgm:t>
    </dgm:pt>
    <dgm:pt modelId="{F3399D2B-2A06-4F3F-9838-08A8DB8A4761}">
      <dgm:prSet phldrT="[Text]"/>
      <dgm:spPr>
        <a:solidFill>
          <a:schemeClr val="accent5">
            <a:lumMod val="75000"/>
            <a:alpha val="50000"/>
          </a:schemeClr>
        </a:solidFill>
      </dgm:spPr>
      <dgm:t>
        <a:bodyPr/>
        <a:lstStyle/>
        <a:p>
          <a:pPr algn="r"/>
          <a:r>
            <a:rPr lang="en-US" dirty="0" smtClean="0"/>
            <a:t>Multiple job holders</a:t>
          </a:r>
          <a:endParaRPr lang="en-US" dirty="0"/>
        </a:p>
      </dgm:t>
    </dgm:pt>
    <dgm:pt modelId="{64F5CA80-7EEC-44B2-838F-DFEA2AAB13BD}" type="parTrans" cxnId="{277C0B1C-65F5-4B1F-88B2-3881FAB2E003}">
      <dgm:prSet/>
      <dgm:spPr/>
      <dgm:t>
        <a:bodyPr/>
        <a:lstStyle/>
        <a:p>
          <a:endParaRPr lang="en-US"/>
        </a:p>
      </dgm:t>
    </dgm:pt>
    <dgm:pt modelId="{1AFEF156-2752-4DB1-8431-2665BB1A76F5}" type="sibTrans" cxnId="{277C0B1C-65F5-4B1F-88B2-3881FAB2E003}">
      <dgm:prSet/>
      <dgm:spPr/>
      <dgm:t>
        <a:bodyPr/>
        <a:lstStyle/>
        <a:p>
          <a:endParaRPr lang="en-US"/>
        </a:p>
      </dgm:t>
    </dgm:pt>
    <dgm:pt modelId="{226E3DA3-FDA8-4732-B764-B1B03473C422}" type="pres">
      <dgm:prSet presAssocID="{14A93ACF-D32D-4471-920F-FCB1A5CDF0AB}" presName="compositeShape" presStyleCnt="0">
        <dgm:presLayoutVars>
          <dgm:chMax val="7"/>
          <dgm:dir/>
          <dgm:resizeHandles val="exact"/>
        </dgm:presLayoutVars>
      </dgm:prSet>
      <dgm:spPr/>
    </dgm:pt>
    <dgm:pt modelId="{1A9FEF2B-0B32-4B49-838E-207A07782579}" type="pres">
      <dgm:prSet presAssocID="{725192D8-DC54-462E-926C-F3264D3AC2FB}" presName="circ1" presStyleLbl="vennNode1" presStyleIdx="0" presStyleCnt="3" custLinFactNeighborX="34013" custLinFactNeighborY="-2083"/>
      <dgm:spPr/>
      <dgm:t>
        <a:bodyPr/>
        <a:lstStyle/>
        <a:p>
          <a:endParaRPr lang="en-US"/>
        </a:p>
      </dgm:t>
    </dgm:pt>
    <dgm:pt modelId="{74405372-A767-4B37-AAA8-AFA7D12BA521}" type="pres">
      <dgm:prSet presAssocID="{725192D8-DC54-462E-926C-F3264D3AC2FB}" presName="circ1Tx" presStyleLbl="revTx" presStyleIdx="0" presStyleCnt="0">
        <dgm:presLayoutVars>
          <dgm:chMax val="0"/>
          <dgm:chPref val="0"/>
          <dgm:bulletEnabled val="1"/>
        </dgm:presLayoutVars>
      </dgm:prSet>
      <dgm:spPr/>
      <dgm:t>
        <a:bodyPr/>
        <a:lstStyle/>
        <a:p>
          <a:endParaRPr lang="en-US"/>
        </a:p>
      </dgm:t>
    </dgm:pt>
    <dgm:pt modelId="{7CFC3FAB-DA08-4EEE-83BD-D925F32E956E}" type="pres">
      <dgm:prSet presAssocID="{9C80EB23-12FF-4219-8F05-F570B7CD05D8}" presName="circ2" presStyleLbl="vennNode1" presStyleIdx="1" presStyleCnt="3" custScaleX="117686" custLinFactX="-2071" custLinFactNeighborX="-100000" custLinFactNeighborY="-50978"/>
      <dgm:spPr/>
      <dgm:t>
        <a:bodyPr/>
        <a:lstStyle/>
        <a:p>
          <a:endParaRPr lang="en-US"/>
        </a:p>
      </dgm:t>
    </dgm:pt>
    <dgm:pt modelId="{B1A50F44-2DC5-4B25-9A0D-F2BF4F5B8204}" type="pres">
      <dgm:prSet presAssocID="{9C80EB23-12FF-4219-8F05-F570B7CD05D8}" presName="circ2Tx" presStyleLbl="revTx" presStyleIdx="0" presStyleCnt="0">
        <dgm:presLayoutVars>
          <dgm:chMax val="0"/>
          <dgm:chPref val="0"/>
          <dgm:bulletEnabled val="1"/>
        </dgm:presLayoutVars>
      </dgm:prSet>
      <dgm:spPr/>
      <dgm:t>
        <a:bodyPr/>
        <a:lstStyle/>
        <a:p>
          <a:endParaRPr lang="en-US"/>
        </a:p>
      </dgm:t>
    </dgm:pt>
    <dgm:pt modelId="{F1C3FE10-930B-4B01-B09E-C1C5D1FAD693}" type="pres">
      <dgm:prSet presAssocID="{F3399D2B-2A06-4F3F-9838-08A8DB8A4761}" presName="circ3" presStyleLbl="vennNode1" presStyleIdx="2" presStyleCnt="3" custLinFactNeighborX="39484" custLinFactNeighborY="6845"/>
      <dgm:spPr/>
      <dgm:t>
        <a:bodyPr/>
        <a:lstStyle/>
        <a:p>
          <a:endParaRPr lang="en-US"/>
        </a:p>
      </dgm:t>
    </dgm:pt>
    <dgm:pt modelId="{26915C0F-1E39-4871-BC15-7B6BD95A152E}" type="pres">
      <dgm:prSet presAssocID="{F3399D2B-2A06-4F3F-9838-08A8DB8A4761}" presName="circ3Tx" presStyleLbl="revTx" presStyleIdx="0" presStyleCnt="0">
        <dgm:presLayoutVars>
          <dgm:chMax val="0"/>
          <dgm:chPref val="0"/>
          <dgm:bulletEnabled val="1"/>
        </dgm:presLayoutVars>
      </dgm:prSet>
      <dgm:spPr/>
      <dgm:t>
        <a:bodyPr/>
        <a:lstStyle/>
        <a:p>
          <a:endParaRPr lang="en-US"/>
        </a:p>
      </dgm:t>
    </dgm:pt>
  </dgm:ptLst>
  <dgm:cxnLst>
    <dgm:cxn modelId="{B2AA39BA-FFEA-4404-B97A-4AEAA352584E}" type="presOf" srcId="{9C80EB23-12FF-4219-8F05-F570B7CD05D8}" destId="{7CFC3FAB-DA08-4EEE-83BD-D925F32E956E}" srcOrd="0" destOrd="0" presId="urn:microsoft.com/office/officeart/2005/8/layout/venn1"/>
    <dgm:cxn modelId="{29570926-CDC4-4C3F-A91C-5AFDD6DA276B}" type="presOf" srcId="{725192D8-DC54-462E-926C-F3264D3AC2FB}" destId="{1A9FEF2B-0B32-4B49-838E-207A07782579}" srcOrd="0" destOrd="0" presId="urn:microsoft.com/office/officeart/2005/8/layout/venn1"/>
    <dgm:cxn modelId="{0304A749-8F65-478D-B85B-2EE6874F4A05}" srcId="{14A93ACF-D32D-4471-920F-FCB1A5CDF0AB}" destId="{9C80EB23-12FF-4219-8F05-F570B7CD05D8}" srcOrd="1" destOrd="0" parTransId="{ABBC24C8-A895-43B6-9E38-BF9EBAA87747}" sibTransId="{EC1A0598-A7B4-49EA-BFE4-4116D0B3BF07}"/>
    <dgm:cxn modelId="{5D589FCD-A5AC-4EBD-952B-F0D2DDACB72E}" type="presOf" srcId="{9C80EB23-12FF-4219-8F05-F570B7CD05D8}" destId="{B1A50F44-2DC5-4B25-9A0D-F2BF4F5B8204}" srcOrd="1" destOrd="0" presId="urn:microsoft.com/office/officeart/2005/8/layout/venn1"/>
    <dgm:cxn modelId="{A3290CF0-19E3-412B-8480-72EA84F2CC89}" srcId="{14A93ACF-D32D-4471-920F-FCB1A5CDF0AB}" destId="{725192D8-DC54-462E-926C-F3264D3AC2FB}" srcOrd="0" destOrd="0" parTransId="{311CDB25-8C62-49E1-8F13-CD09C0B6E094}" sibTransId="{65D5F6FD-2043-4752-9937-852F5942AAC4}"/>
    <dgm:cxn modelId="{954F08DB-1C87-4076-BF63-220C8B5894AF}" type="presOf" srcId="{F3399D2B-2A06-4F3F-9838-08A8DB8A4761}" destId="{F1C3FE10-930B-4B01-B09E-C1C5D1FAD693}" srcOrd="0" destOrd="0" presId="urn:microsoft.com/office/officeart/2005/8/layout/venn1"/>
    <dgm:cxn modelId="{60B7D846-45EB-4E34-81A3-242884D2A571}" type="presOf" srcId="{F3399D2B-2A06-4F3F-9838-08A8DB8A4761}" destId="{26915C0F-1E39-4871-BC15-7B6BD95A152E}" srcOrd="1" destOrd="0" presId="urn:microsoft.com/office/officeart/2005/8/layout/venn1"/>
    <dgm:cxn modelId="{493C08E0-80A3-479E-8F8E-8CDBA17EDF4E}" type="presOf" srcId="{725192D8-DC54-462E-926C-F3264D3AC2FB}" destId="{74405372-A767-4B37-AAA8-AFA7D12BA521}" srcOrd="1" destOrd="0" presId="urn:microsoft.com/office/officeart/2005/8/layout/venn1"/>
    <dgm:cxn modelId="{277C0B1C-65F5-4B1F-88B2-3881FAB2E003}" srcId="{14A93ACF-D32D-4471-920F-FCB1A5CDF0AB}" destId="{F3399D2B-2A06-4F3F-9838-08A8DB8A4761}" srcOrd="2" destOrd="0" parTransId="{64F5CA80-7EEC-44B2-838F-DFEA2AAB13BD}" sibTransId="{1AFEF156-2752-4DB1-8431-2665BB1A76F5}"/>
    <dgm:cxn modelId="{0B1D78A2-6062-40B7-B5D6-010178AB733A}" type="presOf" srcId="{14A93ACF-D32D-4471-920F-FCB1A5CDF0AB}" destId="{226E3DA3-FDA8-4732-B764-B1B03473C422}" srcOrd="0" destOrd="0" presId="urn:microsoft.com/office/officeart/2005/8/layout/venn1"/>
    <dgm:cxn modelId="{55BB4F51-8438-49ED-AC3F-E93136B7CACC}" type="presParOf" srcId="{226E3DA3-FDA8-4732-B764-B1B03473C422}" destId="{1A9FEF2B-0B32-4B49-838E-207A07782579}" srcOrd="0" destOrd="0" presId="urn:microsoft.com/office/officeart/2005/8/layout/venn1"/>
    <dgm:cxn modelId="{B8A18EBE-1F21-4F24-A656-DAF51F173D28}" type="presParOf" srcId="{226E3DA3-FDA8-4732-B764-B1B03473C422}" destId="{74405372-A767-4B37-AAA8-AFA7D12BA521}" srcOrd="1" destOrd="0" presId="urn:microsoft.com/office/officeart/2005/8/layout/venn1"/>
    <dgm:cxn modelId="{6C0AC06E-30A0-4D52-AF51-6B5CC7FAA287}" type="presParOf" srcId="{226E3DA3-FDA8-4732-B764-B1B03473C422}" destId="{7CFC3FAB-DA08-4EEE-83BD-D925F32E956E}" srcOrd="2" destOrd="0" presId="urn:microsoft.com/office/officeart/2005/8/layout/venn1"/>
    <dgm:cxn modelId="{25DB98EC-196A-4DC3-9FCD-C9B4EE14CC16}" type="presParOf" srcId="{226E3DA3-FDA8-4732-B764-B1B03473C422}" destId="{B1A50F44-2DC5-4B25-9A0D-F2BF4F5B8204}" srcOrd="3" destOrd="0" presId="urn:microsoft.com/office/officeart/2005/8/layout/venn1"/>
    <dgm:cxn modelId="{00C528F3-0D99-4353-A37E-FE1A7EB3D15A}" type="presParOf" srcId="{226E3DA3-FDA8-4732-B764-B1B03473C422}" destId="{F1C3FE10-930B-4B01-B09E-C1C5D1FAD693}" srcOrd="4" destOrd="0" presId="urn:microsoft.com/office/officeart/2005/8/layout/venn1"/>
    <dgm:cxn modelId="{B14A4F37-6EE7-46A8-A724-44763D12DBCD}" type="presParOf" srcId="{226E3DA3-FDA8-4732-B764-B1B03473C422}" destId="{26915C0F-1E39-4871-BC15-7B6BD95A152E}" srcOrd="5" destOrd="0" presId="urn:microsoft.com/office/officeart/2005/8/layout/venn1"/>
  </dgm:cxnLst>
  <dgm:bg/>
  <dgm:whole/>
  <dgm:extLst>
    <a:ext uri="http://schemas.microsoft.com/office/drawing/2008/diagram">
      <dsp:dataModelExt xmlns:dsp="http://schemas.microsoft.com/office/drawing/2008/diagram" xmlns="" relId="rId8"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1A9FEF2B-0B32-4B49-838E-207A07782579}">
      <dsp:nvSpPr>
        <dsp:cNvPr id="0" name=""/>
        <dsp:cNvSpPr/>
      </dsp:nvSpPr>
      <dsp:spPr>
        <a:xfrm>
          <a:off x="3047992" y="7"/>
          <a:ext cx="2240280" cy="2240280"/>
        </a:xfrm>
        <a:prstGeom prst="ellipse">
          <a:avLst/>
        </a:prstGeom>
        <a:solidFill>
          <a:schemeClr val="accent5">
            <a:lumMod val="60000"/>
            <a:lumOff val="40000"/>
            <a:alpha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lvl="0" algn="r" defTabSz="1022350">
            <a:lnSpc>
              <a:spcPct val="90000"/>
            </a:lnSpc>
            <a:spcBef>
              <a:spcPct val="0"/>
            </a:spcBef>
            <a:spcAft>
              <a:spcPct val="35000"/>
            </a:spcAft>
          </a:pPr>
          <a:r>
            <a:rPr lang="en-US" sz="2300" kern="1200" dirty="0" smtClean="0"/>
            <a:t>Part time but would work full time</a:t>
          </a:r>
          <a:endParaRPr lang="en-US" sz="2300" kern="1200" dirty="0"/>
        </a:p>
      </dsp:txBody>
      <dsp:txXfrm>
        <a:off x="3346696" y="392056"/>
        <a:ext cx="1642872" cy="1008126"/>
      </dsp:txXfrm>
    </dsp:sp>
    <dsp:sp modelId="{7CFC3FAB-DA08-4EEE-83BD-D925F32E956E}">
      <dsp:nvSpPr>
        <dsp:cNvPr id="0" name=""/>
        <dsp:cNvSpPr/>
      </dsp:nvSpPr>
      <dsp:spPr>
        <a:xfrm>
          <a:off x="609589" y="304797"/>
          <a:ext cx="2636495" cy="2240280"/>
        </a:xfrm>
        <a:prstGeom prst="ellipse">
          <a:avLst/>
        </a:prstGeom>
        <a:solidFill>
          <a:schemeClr val="accent5">
            <a:lumMod val="50000"/>
            <a:alpha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t" anchorCtr="0">
          <a:noAutofit/>
        </a:bodyPr>
        <a:lstStyle/>
        <a:p>
          <a:pPr lvl="0" algn="l" defTabSz="1022350">
            <a:lnSpc>
              <a:spcPct val="90000"/>
            </a:lnSpc>
            <a:spcBef>
              <a:spcPct val="0"/>
            </a:spcBef>
            <a:spcAft>
              <a:spcPct val="35000"/>
            </a:spcAft>
          </a:pPr>
          <a:r>
            <a:rPr lang="en-US" sz="2300" kern="1200" dirty="0" smtClean="0"/>
            <a:t>Discouraged unemployed workers</a:t>
          </a:r>
          <a:endParaRPr lang="en-US" sz="2300" kern="1200" dirty="0"/>
        </a:p>
      </dsp:txBody>
      <dsp:txXfrm>
        <a:off x="1415917" y="883536"/>
        <a:ext cx="1581897" cy="1232154"/>
      </dsp:txXfrm>
    </dsp:sp>
    <dsp:sp modelId="{F1C3FE10-930B-4B01-B09E-C1C5D1FAD693}">
      <dsp:nvSpPr>
        <dsp:cNvPr id="0" name=""/>
        <dsp:cNvSpPr/>
      </dsp:nvSpPr>
      <dsp:spPr>
        <a:xfrm>
          <a:off x="2362190" y="1493519"/>
          <a:ext cx="2240280" cy="2240280"/>
        </a:xfrm>
        <a:prstGeom prst="ellipse">
          <a:avLst/>
        </a:prstGeom>
        <a:solidFill>
          <a:schemeClr val="accent5">
            <a:lumMod val="75000"/>
            <a:alpha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lvl="0" algn="r" defTabSz="1022350">
            <a:lnSpc>
              <a:spcPct val="90000"/>
            </a:lnSpc>
            <a:spcBef>
              <a:spcPct val="0"/>
            </a:spcBef>
            <a:spcAft>
              <a:spcPct val="35000"/>
            </a:spcAft>
          </a:pPr>
          <a:r>
            <a:rPr lang="en-US" sz="2300" kern="1200" dirty="0" smtClean="0"/>
            <a:t>Multiple job holders</a:t>
          </a:r>
          <a:endParaRPr lang="en-US" sz="2300" kern="1200" dirty="0"/>
        </a:p>
      </dsp:txBody>
      <dsp:txXfrm>
        <a:off x="2573150" y="2072258"/>
        <a:ext cx="1344168" cy="1232154"/>
      </dsp:txXfrm>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9.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emf"/></Relationships>
</file>

<file path=ppt/drawings/drawing1.xml><?xml version="1.0" encoding="utf-8"?>
<c:userShapes xmlns:c="http://schemas.openxmlformats.org/drawingml/2006/chart">
  <cdr:relSizeAnchor xmlns:cdr="http://schemas.openxmlformats.org/drawingml/2006/chartDrawing">
    <cdr:from>
      <cdr:x>0.05602</cdr:x>
      <cdr:y>0.94084</cdr:y>
    </cdr:from>
    <cdr:to>
      <cdr:x>0.31414</cdr:x>
      <cdr:y>0.98622</cdr:y>
    </cdr:to>
    <cdr:sp macro="" textlink="">
      <cdr:nvSpPr>
        <cdr:cNvPr id="2" name="TextBox 1"/>
        <cdr:cNvSpPr txBox="1"/>
      </cdr:nvSpPr>
      <cdr:spPr>
        <a:xfrm xmlns:a="http://schemas.openxmlformats.org/drawingml/2006/main">
          <a:off x="485774" y="5924550"/>
          <a:ext cx="2238375" cy="28575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000"/>
            <a:t>Source:</a:t>
          </a:r>
          <a:r>
            <a:rPr lang="en-US" sz="1000" baseline="0"/>
            <a:t> Current Population Survey</a:t>
          </a:r>
          <a:endParaRPr lang="en-US" sz="1000"/>
        </a:p>
      </cdr:txBody>
    </cdr:sp>
  </cdr:relSizeAnchor>
</c:userShapes>
</file>

<file path=ppt/drawings/drawing2.xml><?xml version="1.0" encoding="utf-8"?>
<c:userShapes xmlns:c="http://schemas.openxmlformats.org/drawingml/2006/chart">
  <cdr:relSizeAnchor xmlns:cdr="http://schemas.openxmlformats.org/drawingml/2006/chartDrawing">
    <cdr:from>
      <cdr:x>0.10389</cdr:x>
      <cdr:y>0.15974</cdr:y>
    </cdr:from>
    <cdr:to>
      <cdr:x>0.31005</cdr:x>
      <cdr:y>0.25923</cdr:y>
    </cdr:to>
    <cdr:sp macro="" textlink="">
      <cdr:nvSpPr>
        <cdr:cNvPr id="2" name="TextBox 1"/>
        <cdr:cNvSpPr txBox="1"/>
      </cdr:nvSpPr>
      <cdr:spPr>
        <a:xfrm xmlns:a="http://schemas.openxmlformats.org/drawingml/2006/main">
          <a:off x="899305" y="992033"/>
          <a:ext cx="1784628" cy="617863"/>
        </a:xfrm>
        <a:prstGeom xmlns:a="http://schemas.openxmlformats.org/drawingml/2006/main" prst="rect">
          <a:avLst/>
        </a:prstGeom>
      </cdr:spPr>
      <cdr:txBody>
        <a:bodyPr xmlns:a="http://schemas.openxmlformats.org/drawingml/2006/main" wrap="non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0.64602</cdr:x>
      <cdr:y>0.21268</cdr:y>
    </cdr:from>
    <cdr:to>
      <cdr:x>0.77876</cdr:x>
      <cdr:y>0.25423</cdr:y>
    </cdr:to>
    <cdr:sp macro="" textlink="">
      <cdr:nvSpPr>
        <cdr:cNvPr id="4" name="TextBox 3"/>
        <cdr:cNvSpPr txBox="1"/>
      </cdr:nvSpPr>
      <cdr:spPr>
        <a:xfrm xmlns:a="http://schemas.openxmlformats.org/drawingml/2006/main">
          <a:off x="5562601" y="1288394"/>
          <a:ext cx="1142999" cy="251706"/>
        </a:xfrm>
        <a:prstGeom xmlns:a="http://schemas.openxmlformats.org/drawingml/2006/main" prst="rect">
          <a:avLst/>
        </a:prstGeom>
      </cdr:spPr>
      <cdr:txBody>
        <a:bodyPr xmlns:a="http://schemas.openxmlformats.org/drawingml/2006/main" wrap="none" rtlCol="0"/>
        <a:lstStyle xmlns:a="http://schemas.openxmlformats.org/drawingml/2006/main"/>
        <a:p xmlns:a="http://schemas.openxmlformats.org/drawingml/2006/main">
          <a:r>
            <a:rPr lang="en-US" sz="1100" dirty="0"/>
            <a:t>Intersect in  </a:t>
          </a:r>
          <a:r>
            <a:rPr lang="en-US" sz="1100" baseline="0" dirty="0"/>
            <a:t>2015.</a:t>
          </a:r>
          <a:endParaRPr lang="en-US" sz="1100" dirty="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2B62F85-FF66-44D1-82D7-559506E0E185}" type="datetimeFigureOut">
              <a:rPr lang="en-US" smtClean="0"/>
              <a:pPr/>
              <a:t>11/13/2012</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654A1AD-A4FD-4EBB-8741-6B8D1E67573F}" type="slidenum">
              <a:rPr lang="en-US" smtClean="0"/>
              <a:pPr/>
              <a:t>‹#›</a:t>
            </a:fld>
            <a:endParaRPr lang="en-US"/>
          </a:p>
        </p:txBody>
      </p:sp>
    </p:spTree>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02EAC50-3C0D-4845-9B0E-EDD316AC15E4}" type="datetimeFigureOut">
              <a:rPr lang="en-US" smtClean="0"/>
              <a:pPr/>
              <a:t>11/13/2012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14D0FF3-EC67-4475-B578-C8903820EFDA}" type="slidenum">
              <a:rPr lang="en-US" smtClean="0"/>
              <a:pPr/>
              <a:t>‹#›</a:t>
            </a:fld>
            <a:endParaRPr lang="en-US"/>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www.bls.gov/lau/stalt.htm"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blogs.wsj.com/economics/2011/11/14/a-state-by-state-look-at-long-road-to-jobs-recovery/tab/interactive/"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The Labor Market is like the Stock Market. In the stock market people buy,</a:t>
            </a:r>
            <a:r>
              <a:rPr lang="en-US" baseline="0" dirty="0" smtClean="0"/>
              <a:t> sale and trade stocks. In the Labor Market anyone with a job or looking for a job participates. Workers trade time, knowledge, skills and abilities for wages. LMI is anything that is related to work.</a:t>
            </a:r>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Agenda</a:t>
            </a:r>
            <a:endParaRPr lang="en-US" dirty="0"/>
          </a:p>
        </p:txBody>
      </p:sp>
      <p:sp>
        <p:nvSpPr>
          <p:cNvPr id="4" name="Slide Number Placeholder 3"/>
          <p:cNvSpPr>
            <a:spLocks noGrp="1"/>
          </p:cNvSpPr>
          <p:nvPr>
            <p:ph type="sldNum" sz="quarter" idx="10"/>
          </p:nvPr>
        </p:nvSpPr>
        <p:spPr/>
        <p:txBody>
          <a:bodyPr/>
          <a:lstStyle/>
          <a:p>
            <a:fld id="{614D0FF3-EC67-4475-B578-C8903820EFDA}" type="slidenum">
              <a:rPr lang="en-US" smtClean="0"/>
              <a:pPr/>
              <a:t>3</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The US economy stopped</a:t>
            </a:r>
            <a:r>
              <a:rPr lang="en-US" baseline="0" dirty="0" smtClean="0"/>
              <a:t> contracting June 2009 and showed an increase in July 2009. </a:t>
            </a:r>
            <a:r>
              <a:rPr lang="en-US" dirty="0" smtClean="0"/>
              <a:t>Employment</a:t>
            </a:r>
            <a:r>
              <a:rPr lang="en-US" baseline="0" dirty="0" smtClean="0"/>
              <a:t> will be slower to recover which is a characteristic that makes this recession different from other recent ones.</a:t>
            </a:r>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p:spPr>
      </p:sp>
      <p:sp>
        <p:nvSpPr>
          <p:cNvPr id="37891"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smtClean="0"/>
              <a:t>You can see the dips the US took thru previous recessions…Because we have </a:t>
            </a:r>
            <a:r>
              <a:rPr lang="en-US" dirty="0" err="1" smtClean="0"/>
              <a:t>gov’t</a:t>
            </a:r>
            <a:r>
              <a:rPr lang="en-US" dirty="0" smtClean="0"/>
              <a:t> and energy jobs, NM did better until this one. Also note how deep this recession has been compared to the earlier</a:t>
            </a:r>
            <a:r>
              <a:rPr lang="en-US" baseline="0" dirty="0" smtClean="0"/>
              <a:t> ones. While the US now appears to be on the road to recovery NM has not yet show strong signs of recovery. Data can be found at http://laser.state.nm.us under CES.</a:t>
            </a:r>
            <a:endParaRPr lang="en-US" dirty="0" smtClean="0"/>
          </a:p>
          <a:p>
            <a:endParaRPr lang="en-US" dirty="0"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bwMode="auto">
          <a:noFill/>
          <a:ln>
            <a:solidFill>
              <a:srgbClr val="000000"/>
            </a:solidFill>
            <a:miter lim="800000"/>
            <a:headEnd/>
            <a:tailEnd/>
          </a:ln>
        </p:spPr>
      </p:sp>
      <p:sp>
        <p:nvSpPr>
          <p:cNvPr id="5529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smtClean="0"/>
              <a:t>The reason health care</a:t>
            </a:r>
            <a:r>
              <a:rPr lang="en-US" baseline="0" dirty="0" smtClean="0"/>
              <a:t> is given so much focus is because they have significantly added jobs during this recession. Not all industries lost jobs at the same rate. Construction was the hardest hit.</a:t>
            </a:r>
            <a:endParaRPr lang="en-US" dirty="0"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Gov employment in Health and Ed. – Healthcare is the largest sector</a:t>
            </a:r>
            <a:r>
              <a:rPr lang="en-US" baseline="0" dirty="0" smtClean="0"/>
              <a:t> by employment. Small slices by employment Utilities, Real Estate &amp; Agriculture, still have large monetary impact on the economy.</a:t>
            </a:r>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Unemployed and actively</a:t>
            </a:r>
            <a:r>
              <a:rPr lang="en-US" baseline="0" dirty="0" smtClean="0"/>
              <a:t> seeking employment in the last month. A very narrow definition of economic hardship. We expect a spike in unemployment as employers begin advertise job openings and add more jobs again.</a:t>
            </a:r>
          </a:p>
          <a:p>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hlinkClick r:id="rId3"/>
              </a:rPr>
              <a:t>http://www.bls.gov/lau/stalt.htm</a:t>
            </a:r>
            <a:r>
              <a:rPr lang="en-US" dirty="0" smtClean="0"/>
              <a:t> broader</a:t>
            </a:r>
            <a:r>
              <a:rPr lang="en-US" baseline="0" dirty="0" smtClean="0"/>
              <a:t> measure of “unemployment” that fits closer with perceptions of the difficult economy and the hardships experienced by workers.</a:t>
            </a:r>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Late 90’ to</a:t>
            </a:r>
            <a:r>
              <a:rPr lang="en-US" baseline="0" dirty="0" smtClean="0"/>
              <a:t> the recession begins saw the highest ratio’s of employment. Now we’ve fallen back to levels seen during the 70’s. One difference now is that men and women’s participation rates remain about equal. http://www.bls.gov/lau/rdscnp16.htm</a:t>
            </a:r>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Prior to this recession duration of claims in</a:t>
            </a:r>
            <a:r>
              <a:rPr lang="en-US" baseline="0" dirty="0" smtClean="0"/>
              <a:t> the 52+ was a very small percentage. </a:t>
            </a:r>
            <a:r>
              <a:rPr lang="en-US" dirty="0" smtClean="0"/>
              <a:t>Workers</a:t>
            </a:r>
            <a:r>
              <a:rPr lang="en-US" baseline="0" dirty="0" smtClean="0"/>
              <a:t> who have been out of the workforce for big blocks of time have to overcome employers questions on work skills being current. http://www.workforcesecurity.doleta.gov/unemploy/content/data.asp for Average Duration by State.</a:t>
            </a:r>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fontAlgn="t"/>
            <a:r>
              <a:rPr lang="en-US" sz="1200" kern="1200" dirty="0" smtClean="0">
                <a:solidFill>
                  <a:schemeClr val="tx1"/>
                </a:solidFill>
                <a:latin typeface="+mn-lt"/>
                <a:ea typeface="+mn-ea"/>
                <a:cs typeface="+mn-cs"/>
              </a:rPr>
              <a:t>For many years, men's unemployment rates were generally lower than women's both during and between recessions. However, since the early 1980s when labor force participation rates evened out between men and women, men's unemployment rates have been higher than women's during or immediately after recessions, and the rates for men and women have been quite similar in other periods. Higher unemployment among men was especially notable during and immediately after the recent recession. </a:t>
            </a:r>
            <a:endParaRPr lang="en-US" sz="1200" kern="1200" dirty="0">
              <a:solidFill>
                <a:schemeClr val="tx1"/>
              </a:solidFill>
              <a:latin typeface="+mn-lt"/>
              <a:ea typeface="+mn-ea"/>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During recessions youth tend to have higher</a:t>
            </a:r>
            <a:r>
              <a:rPr lang="en-US" baseline="0" dirty="0" smtClean="0"/>
              <a:t> unemployment rates and this one has not been an exception. Mom and Dad they really can’t find a job. Annual Average UR was 7.4% From pdf at http://www.bls.gov/lau/ptable14full2011.pdf  or http://www.bls.gov/gps/tables.htm</a:t>
            </a:r>
          </a:p>
          <a:p>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Unemployment rates very by race</a:t>
            </a:r>
            <a:r>
              <a:rPr lang="en-US" baseline="0" dirty="0" smtClean="0"/>
              <a:t> in which minority groups tending to have higher unemployment.</a:t>
            </a:r>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Source is mapping</a:t>
            </a:r>
            <a:r>
              <a:rPr lang="en-US" baseline="0" dirty="0" smtClean="0"/>
              <a:t> at http://laser.state.nm.us</a:t>
            </a:r>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Projections uses the existing long running trends to show what is expected if nothing</a:t>
            </a:r>
            <a:r>
              <a:rPr lang="en-US" baseline="0" dirty="0" smtClean="0"/>
              <a:t> changes.</a:t>
            </a:r>
            <a:r>
              <a:rPr lang="en-US" dirty="0" smtClean="0"/>
              <a:t> </a:t>
            </a:r>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The demographic shift is 65 and over nationwide.</a:t>
            </a:r>
            <a:r>
              <a:rPr lang="en-US" baseline="0" dirty="0" smtClean="0"/>
              <a:t> Only marginal changes in 25-64 with little to no change in 18-24.</a:t>
            </a:r>
            <a:r>
              <a:rPr lang="en-US" sz="1200" b="0" i="0" kern="1200" dirty="0" smtClean="0">
                <a:solidFill>
                  <a:schemeClr val="tx1"/>
                </a:solidFill>
                <a:latin typeface="+mn-lt"/>
                <a:ea typeface="+mn-ea"/>
                <a:cs typeface="+mn-cs"/>
              </a:rPr>
              <a:t> According to the 2010 Census, there were 40.3 million people 65 and older on April 1, 2010, increasing by 5.3 million since the 2000 Census when this population numbered 35.0 million. The percentage of the population 65 and older also increased during the previous decade. In 2010, the older population represented 13.0 percent of the total population, an increase from 12.4 percent in 2000.</a:t>
            </a:r>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NM</a:t>
            </a:r>
            <a:r>
              <a:rPr lang="en-US" baseline="0" dirty="0" smtClean="0"/>
              <a:t> has an out-migration during the 25-44 working years but then it reverses to in-migration 45-64.</a:t>
            </a:r>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The different regions in the state</a:t>
            </a:r>
            <a:r>
              <a:rPr lang="en-US" baseline="0" dirty="0" smtClean="0"/>
              <a:t> are expected to grow at different rates.</a:t>
            </a:r>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bwMode="auto">
          <a:noFill/>
          <a:ln>
            <a:solidFill>
              <a:srgbClr val="000000"/>
            </a:solidFill>
            <a:miter lim="800000"/>
            <a:headEnd/>
            <a:tailEnd/>
          </a:ln>
        </p:spPr>
      </p:sp>
      <p:sp>
        <p:nvSpPr>
          <p:cNvPr id="4198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smtClean="0"/>
              <a:t>We may have seen the bottom in jobs losses.</a:t>
            </a:r>
            <a:r>
              <a:rPr lang="en-US" baseline="0" dirty="0" smtClean="0"/>
              <a:t> W</a:t>
            </a:r>
            <a:r>
              <a:rPr lang="en-US" dirty="0" smtClean="0"/>
              <a:t>hen we do, we’ll be talking in terms of job recovery more so than job growth. The new term for this is growth recession. </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hlinkClick r:id="rId3"/>
              </a:rPr>
              <a:t>http://blogs.wsj.com/economics/2011/11/14/a-state-by-state-look-at-long-road-to-jobs-recovery/tab/interactive/</a:t>
            </a:r>
            <a:endParaRPr lang="en-US" dirty="0" smtClean="0"/>
          </a:p>
          <a:p>
            <a:r>
              <a:rPr lang="en-US" dirty="0" smtClean="0"/>
              <a:t>Some states</a:t>
            </a:r>
            <a:r>
              <a:rPr lang="en-US" baseline="0" dirty="0" smtClean="0"/>
              <a:t> have already recovered and are above pre-recession employment. Other states are not expected to recover until well after 2016. New Mexico may recover a little earlier depending on Oil and Gas recovery and if Arizona lags effect areas in NM.  </a:t>
            </a:r>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bwMode="auto">
          <a:noFill/>
          <a:ln>
            <a:solidFill>
              <a:srgbClr val="000000"/>
            </a:solidFill>
            <a:miter lim="800000"/>
            <a:headEnd/>
            <a:tailEnd/>
          </a:ln>
        </p:spPr>
      </p:sp>
      <p:sp>
        <p:nvSpPr>
          <p:cNvPr id="5939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t>Tigger Economics beats all the others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Given the industry data and the</a:t>
            </a:r>
            <a:r>
              <a:rPr lang="en-US" baseline="0" dirty="0" smtClean="0"/>
              <a:t> current economic situation how do we direct students and others on career choices?</a:t>
            </a:r>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Occupations</a:t>
            </a:r>
            <a:r>
              <a:rPr lang="en-US" baseline="0" dirty="0" smtClean="0"/>
              <a:t> groups as only an economist would organize them. </a:t>
            </a:r>
            <a:r>
              <a:rPr lang="en-US" baseline="0" dirty="0" err="1" smtClean="0"/>
              <a:t>O*net</a:t>
            </a:r>
            <a:r>
              <a:rPr lang="en-US" baseline="0" dirty="0" smtClean="0"/>
              <a:t> is the coding system that determines how data is collected for occupations. </a:t>
            </a:r>
            <a:r>
              <a:rPr lang="en-US" baseline="0" dirty="0" err="1" smtClean="0"/>
              <a:t>O*net</a:t>
            </a:r>
            <a:r>
              <a:rPr lang="en-US" baseline="0" dirty="0" smtClean="0"/>
              <a:t> is based on Knowledge, Skills, Abilities and Tasks.</a:t>
            </a:r>
            <a:endParaRPr lang="en-US" dirty="0"/>
          </a:p>
        </p:txBody>
      </p:sp>
      <p:sp>
        <p:nvSpPr>
          <p:cNvPr id="4" name="Slide Number Placeholder 3"/>
          <p:cNvSpPr>
            <a:spLocks noGrp="1"/>
          </p:cNvSpPr>
          <p:nvPr>
            <p:ph type="sldNum" sz="quarter" idx="10"/>
          </p:nvPr>
        </p:nvSpPr>
        <p:spPr/>
        <p:txBody>
          <a:bodyPr/>
          <a:lstStyle/>
          <a:p>
            <a:fld id="{614D0FF3-EC67-4475-B578-C8903820EFDA}" type="slidenum">
              <a:rPr lang="en-US" smtClean="0"/>
              <a:pPr/>
              <a:t>25</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bwMode="auto">
          <a:noFill/>
          <a:ln>
            <a:solidFill>
              <a:srgbClr val="000000"/>
            </a:solidFill>
            <a:miter lim="800000"/>
            <a:headEnd/>
            <a:tailEnd/>
          </a:ln>
        </p:spPr>
      </p:sp>
      <p:sp>
        <p:nvSpPr>
          <p:cNvPr id="6041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smtClean="0"/>
              <a:t>The order of the occupations did not change from 2010 despite the large losses in construction &amp; mining. Education gains didn’t catch them up.</a:t>
            </a:r>
          </a:p>
          <a:p>
            <a:pPr eaLnBrk="1" hangingPunct="1">
              <a:spcBef>
                <a:spcPct val="0"/>
              </a:spcBef>
            </a:pPr>
            <a:r>
              <a:rPr lang="en-US" dirty="0" smtClean="0"/>
              <a:t>Note that Healthcare Practitioners</a:t>
            </a:r>
            <a:r>
              <a:rPr lang="en-US" baseline="0" dirty="0" smtClean="0"/>
              <a:t> &amp; Healthcare support add together are close to the top.</a:t>
            </a:r>
            <a:endParaRPr lang="en-US" dirty="0"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Some college and above account for 29% of employment. Examples of occupations in High school or less are Retail Sales clerk, Cashiers, Food Preparation workers, Waiters &amp; Waitresses, Personal and Home Care Aides, Janitors and Cleaners, Office Clerks etc. What is missing is work experience which would include apprenticeship occupations.</a:t>
            </a:r>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bwMode="auto">
          <a:noFill/>
          <a:ln>
            <a:solidFill>
              <a:srgbClr val="000000"/>
            </a:solidFill>
            <a:miter lim="800000"/>
            <a:headEnd/>
            <a:tailEnd/>
          </a:ln>
        </p:spPr>
      </p:sp>
      <p:sp>
        <p:nvSpPr>
          <p:cNvPr id="6144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smtClean="0"/>
              <a:t>More informative to look at detailed occupations. These are all entry level positions. Source</a:t>
            </a:r>
            <a:r>
              <a:rPr lang="en-US" baseline="0" dirty="0" smtClean="0"/>
              <a:t> NMDWS Projections unit.</a:t>
            </a:r>
            <a:endParaRPr lang="en-US" dirty="0"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Most of these are entry level positions. </a:t>
            </a:r>
            <a:r>
              <a:rPr lang="en-US" dirty="0" smtClean="0"/>
              <a:t>Bright spots for wages are 7 and 11. Home Health Aides can be an</a:t>
            </a:r>
            <a:r>
              <a:rPr lang="en-US" baseline="0" dirty="0" smtClean="0"/>
              <a:t> entry level to healthcare jobs if paired with education. </a:t>
            </a:r>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 Occupations</a:t>
            </a:r>
            <a:r>
              <a:rPr lang="en-US" baseline="0" dirty="0" smtClean="0"/>
              <a:t> that have higher number of openings due to growth instead of replacement rates.</a:t>
            </a:r>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Note the number of healthcare</a:t>
            </a:r>
            <a:r>
              <a:rPr lang="en-US" baseline="0" dirty="0" smtClean="0"/>
              <a:t> jobs on this list. Actuaries are small numbers.</a:t>
            </a:r>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Note Oil</a:t>
            </a:r>
            <a:r>
              <a:rPr lang="en-US" baseline="0" dirty="0" smtClean="0"/>
              <a:t> &amp; Gas related and Healthcare fields.</a:t>
            </a:r>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Family and General Practitioners</a:t>
            </a:r>
            <a:r>
              <a:rPr lang="en-US" baseline="0" dirty="0" smtClean="0"/>
              <a:t> are Doctors. All these occupations involve specialized training. </a:t>
            </a:r>
            <a:r>
              <a:rPr lang="en-US" dirty="0" smtClean="0"/>
              <a:t>Any surprises? Source is the Occupational</a:t>
            </a:r>
            <a:r>
              <a:rPr lang="en-US" baseline="0" dirty="0" smtClean="0"/>
              <a:t> Employment Survey (OES) New Mexico Department of Workforce Solutions found at laser.state.nm.us .</a:t>
            </a:r>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One can argue</a:t>
            </a:r>
            <a:r>
              <a:rPr lang="en-US" baseline="0" dirty="0" smtClean="0"/>
              <a:t> that tipped occupations shouldn’t be on this list. I would argue that tipped occupations might not involve a 40 hour work week.</a:t>
            </a:r>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Note the declines in Postal workers is due to</a:t>
            </a:r>
            <a:r>
              <a:rPr lang="en-US" baseline="0" dirty="0" smtClean="0"/>
              <a:t> decrease in mail services, the internet has caused changes in the way business is conducted. Even while there are significant decreases job openings will still occur in these occupations. Source is Projections Unit NMDWS</a:t>
            </a:r>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No occupation</a:t>
            </a:r>
            <a:r>
              <a:rPr lang="en-US" baseline="0" dirty="0" smtClean="0"/>
              <a:t> </a:t>
            </a:r>
            <a:r>
              <a:rPr lang="en-US" dirty="0" smtClean="0"/>
              <a:t>county data for</a:t>
            </a:r>
            <a:r>
              <a:rPr lang="en-US" baseline="0" dirty="0" smtClean="0"/>
              <a:t> wages or projections because of confidentiality. </a:t>
            </a:r>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Statistics that support why career exploration is so important</a:t>
            </a:r>
            <a:r>
              <a:rPr lang="en-US" baseline="0" dirty="0" smtClean="0"/>
              <a:t> to ones current and future financial security. http://www.bls.gov/emp/ep_chart_001.htm</a:t>
            </a:r>
          </a:p>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9" name="Text Placeholder 8"/>
          <p:cNvSpPr>
            <a:spLocks noGrp="1"/>
          </p:cNvSpPr>
          <p:nvPr>
            <p:ph type="body" sz="quarter" idx="10"/>
          </p:nvPr>
        </p:nvSpPr>
        <p:spPr>
          <a:xfrm>
            <a:off x="3200400" y="4648200"/>
            <a:ext cx="4495800" cy="1600200"/>
          </a:xfrm>
          <a:prstGeom prst="rect">
            <a:avLst/>
          </a:prstGeom>
        </p:spPr>
        <p:txBody>
          <a:bodyPr/>
          <a:lstStyle>
            <a:lvl1pPr>
              <a:defRPr/>
            </a:lvl1pPr>
          </a:lstStyle>
          <a:p>
            <a:pPr lvl="0"/>
            <a:r>
              <a:rPr lang="en-US" smtClean="0"/>
              <a:t>Click to edit Master text styles</a:t>
            </a:r>
          </a:p>
          <a:p>
            <a:pPr lvl="1"/>
            <a:r>
              <a:rPr lang="en-US" smtClean="0"/>
              <a:t>Second level</a:t>
            </a:r>
          </a:p>
          <a:p>
            <a:pPr lvl="2"/>
            <a:r>
              <a:rPr lang="en-US" smtClean="0"/>
              <a:t>Third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066800"/>
            <a:ext cx="4038600" cy="4906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066800"/>
            <a:ext cx="4038600" cy="4906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265238"/>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1905000"/>
            <a:ext cx="4040188" cy="41910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265238"/>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1905000"/>
            <a:ext cx="4041775" cy="41910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 No Footer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userDrawn="1">
  <p:cSld name="Blank">
    <p:spTree>
      <p:nvGrpSpPr>
        <p:cNvPr id="1" name=""/>
        <p:cNvGrpSpPr/>
        <p:nvPr/>
      </p:nvGrpSpPr>
      <p:grpSpPr>
        <a:xfrm>
          <a:off x="0" y="0"/>
          <a:ext cx="0" cy="0"/>
          <a:chOff x="0" y="0"/>
          <a:chExt cx="0" cy="0"/>
        </a:xfrm>
      </p:grpSpPr>
      <p:pic>
        <p:nvPicPr>
          <p:cNvPr id="2" name="Picture 13" descr="ERA-logo150.jpg"/>
          <p:cNvPicPr>
            <a:picLocks noChangeAspect="1"/>
          </p:cNvPicPr>
          <p:nvPr userDrawn="1"/>
        </p:nvPicPr>
        <p:blipFill>
          <a:blip r:embed="rId2" cstate="print"/>
          <a:srcRect/>
          <a:stretch>
            <a:fillRect/>
          </a:stretch>
        </p:blipFill>
        <p:spPr bwMode="auto">
          <a:xfrm>
            <a:off x="381000" y="6235700"/>
            <a:ext cx="1303338" cy="469900"/>
          </a:xfrm>
          <a:prstGeom prst="rect">
            <a:avLst/>
          </a:prstGeom>
          <a:noFill/>
          <a:ln w="9525">
            <a:noFill/>
            <a:miter lim="800000"/>
            <a:headEnd/>
            <a:tailEnd/>
          </a:ln>
        </p:spPr>
      </p:pic>
      <p:sp>
        <p:nvSpPr>
          <p:cNvPr id="6" name="Title 1"/>
          <p:cNvSpPr>
            <a:spLocks noGrp="1"/>
          </p:cNvSpPr>
          <p:nvPr>
            <p:ph type="title"/>
          </p:nvPr>
        </p:nvSpPr>
        <p:spPr>
          <a:xfrm>
            <a:off x="457200" y="274638"/>
            <a:ext cx="8229600" cy="792162"/>
          </a:xfrm>
        </p:spPr>
        <p:txBody>
          <a:bodyPr/>
          <a:lstStyle/>
          <a:p>
            <a:r>
              <a:rPr lang="en-US" smtClean="0"/>
              <a:t>Click to edit Master title style</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slideLayout" Target="../slideLayouts/slideLayout4.xml"/><Relationship Id="rId7"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5" Type="http://schemas.openxmlformats.org/officeDocument/2006/relationships/slideLayout" Target="../slideLayouts/slideLayout6.xml"/><Relationship Id="rId4"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50" name="Picture 7" descr="LFCPresentation3.jpg"/>
          <p:cNvPicPr>
            <a:picLocks noChangeAspect="1"/>
          </p:cNvPicPr>
          <p:nvPr/>
        </p:nvPicPr>
        <p:blipFill>
          <a:blip r:embed="rId3" cstate="print"/>
          <a:srcRect/>
          <a:stretch>
            <a:fillRect/>
          </a:stretch>
        </p:blipFill>
        <p:spPr bwMode="auto">
          <a:xfrm>
            <a:off x="222250" y="1414463"/>
            <a:ext cx="8921750" cy="5062537"/>
          </a:xfrm>
          <a:prstGeom prst="rect">
            <a:avLst/>
          </a:prstGeom>
          <a:noFill/>
          <a:ln w="9525">
            <a:noFill/>
            <a:miter lim="800000"/>
            <a:headEnd/>
            <a:tailEnd/>
          </a:ln>
        </p:spPr>
      </p:pic>
      <p:sp>
        <p:nvSpPr>
          <p:cNvPr id="2051" name="Title Placeholder 1"/>
          <p:cNvSpPr>
            <a:spLocks noGrp="1"/>
          </p:cNvSpPr>
          <p:nvPr>
            <p:ph type="title"/>
          </p:nvPr>
        </p:nvSpPr>
        <p:spPr bwMode="auto">
          <a:xfrm>
            <a:off x="914400" y="1905000"/>
            <a:ext cx="7924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Name of Presentation Here</a:t>
            </a:r>
          </a:p>
        </p:txBody>
      </p:sp>
    </p:spTree>
  </p:cSld>
  <p:clrMap bg1="lt1" tx1="dk1" bg2="lt2" tx2="dk2" accent1="accent1" accent2="accent2" accent3="accent3" accent4="accent4" accent5="accent5" accent6="accent6" hlink="hlink" folHlink="folHlink"/>
  <p:sldLayoutIdLst>
    <p:sldLayoutId id="2147483673" r:id="rId1"/>
  </p:sldLayoutIdLst>
  <p:txStyles>
    <p:titleStyle>
      <a:lvl1pPr algn="ctr" rtl="0" eaLnBrk="1" fontAlgn="base" hangingPunct="1">
        <a:spcBef>
          <a:spcPct val="0"/>
        </a:spcBef>
        <a:spcAft>
          <a:spcPct val="0"/>
        </a:spcAft>
        <a:defRPr sz="4400" b="1" kern="1200">
          <a:solidFill>
            <a:srgbClr val="31859C"/>
          </a:solidFill>
          <a:latin typeface="Times New Roman" pitchFamily="18" charset="0"/>
          <a:ea typeface="+mj-ea"/>
          <a:cs typeface="Times New Roman" pitchFamily="18" charset="0"/>
        </a:defRPr>
      </a:lvl1pPr>
      <a:lvl2pPr algn="ctr" rtl="0" eaLnBrk="1" fontAlgn="base" hangingPunct="1">
        <a:spcBef>
          <a:spcPct val="0"/>
        </a:spcBef>
        <a:spcAft>
          <a:spcPct val="0"/>
        </a:spcAft>
        <a:defRPr sz="4400" b="1">
          <a:solidFill>
            <a:srgbClr val="31859C"/>
          </a:solidFill>
          <a:latin typeface="Times New Roman" pitchFamily="18" charset="0"/>
          <a:cs typeface="Times New Roman" pitchFamily="18" charset="0"/>
        </a:defRPr>
      </a:lvl2pPr>
      <a:lvl3pPr algn="ctr" rtl="0" eaLnBrk="1" fontAlgn="base" hangingPunct="1">
        <a:spcBef>
          <a:spcPct val="0"/>
        </a:spcBef>
        <a:spcAft>
          <a:spcPct val="0"/>
        </a:spcAft>
        <a:defRPr sz="4400" b="1">
          <a:solidFill>
            <a:srgbClr val="31859C"/>
          </a:solidFill>
          <a:latin typeface="Times New Roman" pitchFamily="18" charset="0"/>
          <a:cs typeface="Times New Roman" pitchFamily="18" charset="0"/>
        </a:defRPr>
      </a:lvl3pPr>
      <a:lvl4pPr algn="ctr" rtl="0" eaLnBrk="1" fontAlgn="base" hangingPunct="1">
        <a:spcBef>
          <a:spcPct val="0"/>
        </a:spcBef>
        <a:spcAft>
          <a:spcPct val="0"/>
        </a:spcAft>
        <a:defRPr sz="4400" b="1">
          <a:solidFill>
            <a:srgbClr val="31859C"/>
          </a:solidFill>
          <a:latin typeface="Times New Roman" pitchFamily="18" charset="0"/>
          <a:cs typeface="Times New Roman" pitchFamily="18" charset="0"/>
        </a:defRPr>
      </a:lvl4pPr>
      <a:lvl5pPr algn="ctr" rtl="0" eaLnBrk="1" fontAlgn="base" hangingPunct="1">
        <a:spcBef>
          <a:spcPct val="0"/>
        </a:spcBef>
        <a:spcAft>
          <a:spcPct val="0"/>
        </a:spcAft>
        <a:defRPr sz="4400" b="1">
          <a:solidFill>
            <a:srgbClr val="31859C"/>
          </a:solidFill>
          <a:latin typeface="Times New Roman" pitchFamily="18" charset="0"/>
          <a:cs typeface="Times New Roman" pitchFamily="18" charset="0"/>
        </a:defRPr>
      </a:lvl5pPr>
      <a:lvl6pPr marL="457200" algn="ctr" rtl="0" eaLnBrk="1" fontAlgn="base" hangingPunct="1">
        <a:spcBef>
          <a:spcPct val="0"/>
        </a:spcBef>
        <a:spcAft>
          <a:spcPct val="0"/>
        </a:spcAft>
        <a:defRPr sz="4400" b="1">
          <a:solidFill>
            <a:srgbClr val="31859C"/>
          </a:solidFill>
          <a:latin typeface="Times New Roman" pitchFamily="18" charset="0"/>
          <a:cs typeface="Times New Roman" pitchFamily="18" charset="0"/>
        </a:defRPr>
      </a:lvl6pPr>
      <a:lvl7pPr marL="914400" algn="ctr" rtl="0" eaLnBrk="1" fontAlgn="base" hangingPunct="1">
        <a:spcBef>
          <a:spcPct val="0"/>
        </a:spcBef>
        <a:spcAft>
          <a:spcPct val="0"/>
        </a:spcAft>
        <a:defRPr sz="4400" b="1">
          <a:solidFill>
            <a:srgbClr val="31859C"/>
          </a:solidFill>
          <a:latin typeface="Times New Roman" pitchFamily="18" charset="0"/>
          <a:cs typeface="Times New Roman" pitchFamily="18" charset="0"/>
        </a:defRPr>
      </a:lvl7pPr>
      <a:lvl8pPr marL="1371600" algn="ctr" rtl="0" eaLnBrk="1" fontAlgn="base" hangingPunct="1">
        <a:spcBef>
          <a:spcPct val="0"/>
        </a:spcBef>
        <a:spcAft>
          <a:spcPct val="0"/>
        </a:spcAft>
        <a:defRPr sz="4400" b="1">
          <a:solidFill>
            <a:srgbClr val="31859C"/>
          </a:solidFill>
          <a:latin typeface="Times New Roman" pitchFamily="18" charset="0"/>
          <a:cs typeface="Times New Roman" pitchFamily="18" charset="0"/>
        </a:defRPr>
      </a:lvl8pPr>
      <a:lvl9pPr marL="1828800" algn="ctr" rtl="0" eaLnBrk="1" fontAlgn="base" hangingPunct="1">
        <a:spcBef>
          <a:spcPct val="0"/>
        </a:spcBef>
        <a:spcAft>
          <a:spcPct val="0"/>
        </a:spcAft>
        <a:defRPr sz="4400" b="1">
          <a:solidFill>
            <a:srgbClr val="31859C"/>
          </a:solidFill>
          <a:latin typeface="Times New Roman" pitchFamily="18" charset="0"/>
          <a:cs typeface="Times New Roman" pitchFamily="18" charset="0"/>
        </a:defRPr>
      </a:lvl9pPr>
    </p:titleStyle>
    <p:bodyStyle>
      <a:lvl1pPr marL="342900" indent="-342900" algn="l" rtl="0" eaLnBrk="1" fontAlgn="base" hangingPunct="1">
        <a:spcBef>
          <a:spcPct val="20000"/>
        </a:spcBef>
        <a:spcAft>
          <a:spcPct val="0"/>
        </a:spcAft>
        <a:buFont typeface="Arial" charset="0"/>
        <a:buChar char="•"/>
        <a:defRPr sz="1600" b="1" kern="1200">
          <a:solidFill>
            <a:schemeClr val="tx1"/>
          </a:solidFill>
          <a:latin typeface="Arial" pitchFamily="34" charset="0"/>
          <a:ea typeface="+mn-ea"/>
          <a:cs typeface="Arial" pitchFamily="34" charset="0"/>
        </a:defRPr>
      </a:lvl1pPr>
      <a:lvl2pPr marL="742950" indent="-285750" algn="l" rtl="0" eaLnBrk="1" fontAlgn="base" hangingPunct="1">
        <a:spcBef>
          <a:spcPct val="20000"/>
        </a:spcBef>
        <a:spcAft>
          <a:spcPct val="0"/>
        </a:spcAft>
        <a:buFont typeface="Arial" charset="0"/>
        <a:buChar char="–"/>
        <a:defRPr sz="1600" kern="1200">
          <a:solidFill>
            <a:schemeClr val="tx1"/>
          </a:solidFill>
          <a:latin typeface="+mn-lt"/>
          <a:ea typeface="+mn-ea"/>
          <a:cs typeface="Arial" charset="0"/>
        </a:defRPr>
      </a:lvl2pPr>
      <a:lvl3pPr marL="1143000" indent="-228600" algn="l" rtl="0" eaLnBrk="1" fontAlgn="base" hangingPunct="1">
        <a:spcBef>
          <a:spcPct val="20000"/>
        </a:spcBef>
        <a:spcAft>
          <a:spcPct val="0"/>
        </a:spcAft>
        <a:buFont typeface="Arial" charset="0"/>
        <a:buChar char="•"/>
        <a:defRPr sz="1600" kern="1200">
          <a:solidFill>
            <a:schemeClr val="tx1"/>
          </a:solidFill>
          <a:latin typeface="+mn-lt"/>
          <a:ea typeface="+mn-ea"/>
          <a:cs typeface="Arial" charset="0"/>
        </a:defRPr>
      </a:lvl3pPr>
      <a:lvl4pPr marL="1600200" indent="-228600" algn="l" rtl="0" eaLnBrk="1" fontAlgn="base" hangingPunct="1">
        <a:spcBef>
          <a:spcPct val="20000"/>
        </a:spcBef>
        <a:spcAft>
          <a:spcPct val="0"/>
        </a:spcAft>
        <a:buFont typeface="Arial" charset="0"/>
        <a:buChar char="–"/>
        <a:defRPr sz="1600" kern="1200">
          <a:solidFill>
            <a:schemeClr val="tx1"/>
          </a:solidFill>
          <a:latin typeface="+mn-lt"/>
          <a:ea typeface="+mn-ea"/>
          <a:cs typeface="Arial" charset="0"/>
        </a:defRPr>
      </a:lvl4pPr>
      <a:lvl5pPr marL="2057400" indent="-228600" algn="l" rtl="0" eaLnBrk="1" fontAlgn="base" hangingPunct="1">
        <a:spcBef>
          <a:spcPct val="20000"/>
        </a:spcBef>
        <a:spcAft>
          <a:spcPct val="0"/>
        </a:spcAft>
        <a:buFont typeface="Arial" charset="0"/>
        <a:buChar char="»"/>
        <a:defRPr sz="1600" kern="1200">
          <a:solidFill>
            <a:schemeClr val="tx1"/>
          </a:solidFill>
          <a:latin typeface="+mn-lt"/>
          <a:ea typeface="+mn-ea"/>
          <a:cs typeface="Arial"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26" name="Picture 5" descr="bottom.jpg"/>
          <p:cNvPicPr>
            <a:picLocks noChangeAspect="1"/>
          </p:cNvPicPr>
          <p:nvPr/>
        </p:nvPicPr>
        <p:blipFill>
          <a:blip r:embed="rId8" cstate="print"/>
          <a:srcRect/>
          <a:stretch>
            <a:fillRect/>
          </a:stretch>
        </p:blipFill>
        <p:spPr bwMode="auto">
          <a:xfrm>
            <a:off x="152400" y="6049963"/>
            <a:ext cx="8763000" cy="700087"/>
          </a:xfrm>
          <a:prstGeom prst="rect">
            <a:avLst/>
          </a:prstGeom>
          <a:noFill/>
          <a:ln w="9525">
            <a:noFill/>
            <a:miter lim="800000"/>
            <a:headEnd/>
            <a:tailEnd/>
          </a:ln>
        </p:spPr>
      </p:pic>
      <p:sp>
        <p:nvSpPr>
          <p:cNvPr id="1027" name="Title Placeholder 1"/>
          <p:cNvSpPr>
            <a:spLocks noGrp="1"/>
          </p:cNvSpPr>
          <p:nvPr>
            <p:ph type="title"/>
          </p:nvPr>
        </p:nvSpPr>
        <p:spPr bwMode="auto">
          <a:xfrm>
            <a:off x="457200" y="274638"/>
            <a:ext cx="8229600" cy="7921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8" name="Text Placeholder 2"/>
          <p:cNvSpPr>
            <a:spLocks noGrp="1"/>
          </p:cNvSpPr>
          <p:nvPr>
            <p:ph type="body" idx="1"/>
          </p:nvPr>
        </p:nvSpPr>
        <p:spPr bwMode="auto">
          <a:xfrm>
            <a:off x="457200" y="10668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1" r:id="rId5"/>
    <p:sldLayoutId id="2147483680" r:id="rId6"/>
  </p:sldLayoutIdLst>
  <p:hf hdr="0" ftr="0" dt="0"/>
  <p:txStyles>
    <p:titleStyle>
      <a:lvl1pPr algn="l" rtl="0" eaLnBrk="1" fontAlgn="base" hangingPunct="1">
        <a:spcBef>
          <a:spcPct val="0"/>
        </a:spcBef>
        <a:spcAft>
          <a:spcPct val="0"/>
        </a:spcAft>
        <a:defRPr sz="3600" b="1" kern="1200">
          <a:solidFill>
            <a:srgbClr val="31859C"/>
          </a:solidFill>
          <a:latin typeface="Times New Roman" pitchFamily="18" charset="0"/>
          <a:ea typeface="+mj-ea"/>
          <a:cs typeface="Times New Roman" pitchFamily="18" charset="0"/>
        </a:defRPr>
      </a:lvl1pPr>
      <a:lvl2pPr algn="l" rtl="0" eaLnBrk="1" fontAlgn="base" hangingPunct="1">
        <a:spcBef>
          <a:spcPct val="0"/>
        </a:spcBef>
        <a:spcAft>
          <a:spcPct val="0"/>
        </a:spcAft>
        <a:defRPr sz="3600" b="1">
          <a:solidFill>
            <a:srgbClr val="31859C"/>
          </a:solidFill>
          <a:latin typeface="Times New Roman" pitchFamily="18" charset="0"/>
          <a:cs typeface="Times New Roman" pitchFamily="18" charset="0"/>
        </a:defRPr>
      </a:lvl2pPr>
      <a:lvl3pPr algn="l" rtl="0" eaLnBrk="1" fontAlgn="base" hangingPunct="1">
        <a:spcBef>
          <a:spcPct val="0"/>
        </a:spcBef>
        <a:spcAft>
          <a:spcPct val="0"/>
        </a:spcAft>
        <a:defRPr sz="3600" b="1">
          <a:solidFill>
            <a:srgbClr val="31859C"/>
          </a:solidFill>
          <a:latin typeface="Times New Roman" pitchFamily="18" charset="0"/>
          <a:cs typeface="Times New Roman" pitchFamily="18" charset="0"/>
        </a:defRPr>
      </a:lvl3pPr>
      <a:lvl4pPr algn="l" rtl="0" eaLnBrk="1" fontAlgn="base" hangingPunct="1">
        <a:spcBef>
          <a:spcPct val="0"/>
        </a:spcBef>
        <a:spcAft>
          <a:spcPct val="0"/>
        </a:spcAft>
        <a:defRPr sz="3600" b="1">
          <a:solidFill>
            <a:srgbClr val="31859C"/>
          </a:solidFill>
          <a:latin typeface="Times New Roman" pitchFamily="18" charset="0"/>
          <a:cs typeface="Times New Roman" pitchFamily="18" charset="0"/>
        </a:defRPr>
      </a:lvl4pPr>
      <a:lvl5pPr algn="l" rtl="0" eaLnBrk="1" fontAlgn="base" hangingPunct="1">
        <a:spcBef>
          <a:spcPct val="0"/>
        </a:spcBef>
        <a:spcAft>
          <a:spcPct val="0"/>
        </a:spcAft>
        <a:defRPr sz="3600" b="1">
          <a:solidFill>
            <a:srgbClr val="31859C"/>
          </a:solidFill>
          <a:latin typeface="Times New Roman" pitchFamily="18" charset="0"/>
          <a:cs typeface="Times New Roman" pitchFamily="18" charset="0"/>
        </a:defRPr>
      </a:lvl5pPr>
      <a:lvl6pPr marL="457200" algn="l" rtl="0" eaLnBrk="1" fontAlgn="base" hangingPunct="1">
        <a:spcBef>
          <a:spcPct val="0"/>
        </a:spcBef>
        <a:spcAft>
          <a:spcPct val="0"/>
        </a:spcAft>
        <a:defRPr sz="3600" b="1">
          <a:solidFill>
            <a:srgbClr val="31859C"/>
          </a:solidFill>
          <a:latin typeface="Times New Roman" pitchFamily="18" charset="0"/>
          <a:cs typeface="Times New Roman" pitchFamily="18" charset="0"/>
        </a:defRPr>
      </a:lvl6pPr>
      <a:lvl7pPr marL="914400" algn="l" rtl="0" eaLnBrk="1" fontAlgn="base" hangingPunct="1">
        <a:spcBef>
          <a:spcPct val="0"/>
        </a:spcBef>
        <a:spcAft>
          <a:spcPct val="0"/>
        </a:spcAft>
        <a:defRPr sz="3600" b="1">
          <a:solidFill>
            <a:srgbClr val="31859C"/>
          </a:solidFill>
          <a:latin typeface="Times New Roman" pitchFamily="18" charset="0"/>
          <a:cs typeface="Times New Roman" pitchFamily="18" charset="0"/>
        </a:defRPr>
      </a:lvl7pPr>
      <a:lvl8pPr marL="1371600" algn="l" rtl="0" eaLnBrk="1" fontAlgn="base" hangingPunct="1">
        <a:spcBef>
          <a:spcPct val="0"/>
        </a:spcBef>
        <a:spcAft>
          <a:spcPct val="0"/>
        </a:spcAft>
        <a:defRPr sz="3600" b="1">
          <a:solidFill>
            <a:srgbClr val="31859C"/>
          </a:solidFill>
          <a:latin typeface="Times New Roman" pitchFamily="18" charset="0"/>
          <a:cs typeface="Times New Roman" pitchFamily="18" charset="0"/>
        </a:defRPr>
      </a:lvl8pPr>
      <a:lvl9pPr marL="1828800" algn="l" rtl="0" eaLnBrk="1" fontAlgn="base" hangingPunct="1">
        <a:spcBef>
          <a:spcPct val="0"/>
        </a:spcBef>
        <a:spcAft>
          <a:spcPct val="0"/>
        </a:spcAft>
        <a:defRPr sz="3600" b="1">
          <a:solidFill>
            <a:srgbClr val="31859C"/>
          </a:solidFill>
          <a:latin typeface="Times New Roman" pitchFamily="18" charset="0"/>
          <a:cs typeface="Times New Roman" pitchFamily="18"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pitchFamily="34" charset="0"/>
          <a:ea typeface="+mn-ea"/>
          <a:cs typeface="Arial" pitchFamily="34" charset="0"/>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pitchFamily="34" charset="0"/>
          <a:ea typeface="+mn-ea"/>
          <a:cs typeface="Arial" pitchFamily="34" charset="0"/>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chart" Target="../charts/chart4.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www.bls.gov/lau/stalt.htm" TargetMode="External"/><Relationship Id="rId7" Type="http://schemas.openxmlformats.org/officeDocument/2006/relationships/diagramColors" Target="../diagrams/colors1.xml"/><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7.jpeg"/></Relationships>
</file>

<file path=ppt/slides/_rels/slide14.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vmlDrawing" Target="../drawings/vmlDrawing1.vml"/><Relationship Id="rId4" Type="http://schemas.openxmlformats.org/officeDocument/2006/relationships/oleObject" Target="../embeddings/Microsoft_Office_Excel_97-2003_Worksheet1.xls"/></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vmlDrawing" Target="../drawings/vmlDrawing2.vml"/><Relationship Id="rId4" Type="http://schemas.openxmlformats.org/officeDocument/2006/relationships/oleObject" Target="../embeddings/Microsoft_Office_Excel_97-2003_Worksheet2.xls"/></Relationships>
</file>

<file path=ppt/slides/_rels/slide19.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chart" Target="../charts/chart11.xml"/></Relationships>
</file>

<file path=ppt/slides/_rels/slide21.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notesSlide" Target="../notesSlides/notesSlide25.xml"/><Relationship Id="rId1" Type="http://schemas.openxmlformats.org/officeDocument/2006/relationships/slideLayout" Target="../slideLayouts/slideLayout5.xml"/><Relationship Id="rId4" Type="http://schemas.openxmlformats.org/officeDocument/2006/relationships/chart" Target="../charts/chart15.xml"/></Relationships>
</file>

<file path=ppt/slides/_rels/slide2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hyperlink" Target="http://www.onetacademy.org/" TargetMode="External"/><Relationship Id="rId3" Type="http://schemas.openxmlformats.org/officeDocument/2006/relationships/hyperlink" Target="http://laser.state.nm.us/" TargetMode="External"/><Relationship Id="rId7" Type="http://schemas.openxmlformats.org/officeDocument/2006/relationships/hyperlink" Target="http://www.onetonline.org/" TargetMode="External"/><Relationship Id="rId2" Type="http://schemas.openxmlformats.org/officeDocument/2006/relationships/hyperlink" Target="http://www.dws.state.nm.us/careersolutions/" TargetMode="External"/><Relationship Id="rId1" Type="http://schemas.openxmlformats.org/officeDocument/2006/relationships/slideLayout" Target="../slideLayouts/slideLayout5.xml"/><Relationship Id="rId6" Type="http://schemas.openxmlformats.org/officeDocument/2006/relationships/hyperlink" Target="http://careeronestop.org/" TargetMode="External"/><Relationship Id="rId5" Type="http://schemas.openxmlformats.org/officeDocument/2006/relationships/hyperlink" Target="http://www.greenjobs.state.nm.us/" TargetMode="External"/><Relationship Id="rId4" Type="http://schemas.openxmlformats.org/officeDocument/2006/relationships/hyperlink" Target="https://www.jobs.state.nm.us/" TargetMode="External"/><Relationship Id="rId9" Type="http://schemas.openxmlformats.org/officeDocument/2006/relationships/image" Target="../media/image22.jpeg"/></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hyperlink" Target="mailto:suzan.reagan@state.nm.us"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905000"/>
            <a:ext cx="9144000" cy="1143000"/>
          </a:xfrm>
        </p:spPr>
        <p:txBody>
          <a:bodyPr/>
          <a:lstStyle/>
          <a:p>
            <a:r>
              <a:rPr lang="en-US" dirty="0" smtClean="0"/>
              <a:t>2010 – 2020 Occupations</a:t>
            </a:r>
            <a:endParaRPr lang="en-US" dirty="0"/>
          </a:p>
        </p:txBody>
      </p:sp>
      <p:sp>
        <p:nvSpPr>
          <p:cNvPr id="3" name="Text Placeholder 2"/>
          <p:cNvSpPr>
            <a:spLocks noGrp="1"/>
          </p:cNvSpPr>
          <p:nvPr>
            <p:ph type="body" sz="quarter" idx="10"/>
          </p:nvPr>
        </p:nvSpPr>
        <p:spPr>
          <a:xfrm>
            <a:off x="3200400" y="4648200"/>
            <a:ext cx="4495800" cy="685800"/>
          </a:xfrm>
        </p:spPr>
        <p:txBody>
          <a:bodyPr/>
          <a:lstStyle/>
          <a:p>
            <a:pPr algn="ctr">
              <a:buNone/>
            </a:pPr>
            <a:r>
              <a:rPr lang="en-US" dirty="0" smtClean="0">
                <a:latin typeface="+mj-lt"/>
              </a:rPr>
              <a:t>November </a:t>
            </a:r>
            <a:r>
              <a:rPr lang="en-US" dirty="0" smtClean="0">
                <a:latin typeface="+mj-lt"/>
              </a:rPr>
              <a:t>2012</a:t>
            </a:r>
          </a:p>
          <a:p>
            <a:pPr algn="ctr">
              <a:buNone/>
            </a:pPr>
            <a:r>
              <a:rPr lang="en-US" dirty="0" smtClean="0">
                <a:latin typeface="+mj-lt"/>
              </a:rPr>
              <a:t>Suzan Reagan, Labor Economist</a:t>
            </a:r>
          </a:p>
          <a:p>
            <a:endParaRPr lang="en-US" dirty="0"/>
          </a:p>
        </p:txBody>
      </p:sp>
      <p:sp>
        <p:nvSpPr>
          <p:cNvPr id="4" name="TextBox 3"/>
          <p:cNvSpPr txBox="1"/>
          <p:nvPr/>
        </p:nvSpPr>
        <p:spPr>
          <a:xfrm>
            <a:off x="2818767" y="2971800"/>
            <a:ext cx="4319902" cy="369332"/>
          </a:xfrm>
          <a:prstGeom prst="rect">
            <a:avLst/>
          </a:prstGeom>
          <a:noFill/>
        </p:spPr>
        <p:txBody>
          <a:bodyPr wrap="none" rtlCol="0">
            <a:spAutoFit/>
          </a:bodyPr>
          <a:lstStyle/>
          <a:p>
            <a:pPr algn="ctr"/>
            <a:r>
              <a:rPr lang="en-US" dirty="0" smtClean="0"/>
              <a:t>What jobs will have the best future outlook!</a:t>
            </a:r>
            <a:endParaRPr lang="en-US" dirty="0" smtClean="0"/>
          </a:p>
        </p:txBody>
      </p:sp>
      <p:pic>
        <p:nvPicPr>
          <p:cNvPr id="6" name="Picture 5" descr="ERA-logo3.jpg"/>
          <p:cNvPicPr>
            <a:picLocks noChangeAspect="1"/>
          </p:cNvPicPr>
          <p:nvPr/>
        </p:nvPicPr>
        <p:blipFill>
          <a:blip r:embed="rId2" cstate="print"/>
          <a:stretch>
            <a:fillRect/>
          </a:stretch>
        </p:blipFill>
        <p:spPr>
          <a:xfrm>
            <a:off x="7145866" y="6096000"/>
            <a:ext cx="1769533" cy="637032"/>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Labor Market Information</a:t>
            </a:r>
            <a:endParaRPr lang="en-US" dirty="0"/>
          </a:p>
        </p:txBody>
      </p:sp>
      <p:pic>
        <p:nvPicPr>
          <p:cNvPr id="4" name="Picture 2" descr="http://www.mclellan.info/images/stock_market.jpg"/>
          <p:cNvPicPr>
            <a:picLocks noChangeAspect="1" noChangeArrowheads="1"/>
          </p:cNvPicPr>
          <p:nvPr/>
        </p:nvPicPr>
        <p:blipFill>
          <a:blip r:embed="rId3" cstate="print"/>
          <a:srcRect/>
          <a:stretch>
            <a:fillRect/>
          </a:stretch>
        </p:blipFill>
        <p:spPr bwMode="auto">
          <a:xfrm>
            <a:off x="-3523" y="1143000"/>
            <a:ext cx="9147523" cy="4876800"/>
          </a:xfrm>
          <a:prstGeom prst="rect">
            <a:avLst/>
          </a:prstGeom>
          <a:noFill/>
        </p:spPr>
      </p:pic>
      <p:sp>
        <p:nvSpPr>
          <p:cNvPr id="5" name="TextBox 4"/>
          <p:cNvSpPr txBox="1"/>
          <p:nvPr/>
        </p:nvSpPr>
        <p:spPr>
          <a:xfrm>
            <a:off x="1752600" y="990600"/>
            <a:ext cx="2037417" cy="1754326"/>
          </a:xfrm>
          <a:prstGeom prst="rect">
            <a:avLst/>
          </a:prstGeom>
          <a:noFill/>
        </p:spPr>
        <p:txBody>
          <a:bodyPr wrap="none" rtlCol="0">
            <a:spAutoFit/>
          </a:bodyPr>
          <a:lstStyle/>
          <a:p>
            <a:pPr>
              <a:buFont typeface="Arial" pitchFamily="34" charset="0"/>
              <a:buChar char="•"/>
            </a:pPr>
            <a:r>
              <a:rPr lang="en-US" dirty="0" smtClean="0"/>
              <a:t>Job Descriptions</a:t>
            </a:r>
          </a:p>
          <a:p>
            <a:pPr>
              <a:buFont typeface="Arial" pitchFamily="34" charset="0"/>
              <a:buChar char="•"/>
            </a:pPr>
            <a:r>
              <a:rPr lang="en-US" dirty="0" smtClean="0"/>
              <a:t>Education</a:t>
            </a:r>
          </a:p>
          <a:p>
            <a:pPr>
              <a:buFont typeface="Arial" pitchFamily="34" charset="0"/>
              <a:buChar char="•"/>
            </a:pPr>
            <a:r>
              <a:rPr lang="en-US" dirty="0" smtClean="0"/>
              <a:t>Wages</a:t>
            </a:r>
          </a:p>
          <a:p>
            <a:pPr>
              <a:buFont typeface="Arial" pitchFamily="34" charset="0"/>
              <a:buChar char="•"/>
            </a:pPr>
            <a:r>
              <a:rPr lang="en-US" dirty="0" smtClean="0"/>
              <a:t>Employment levels</a:t>
            </a:r>
          </a:p>
          <a:p>
            <a:pPr>
              <a:buFont typeface="Arial" pitchFamily="34" charset="0"/>
              <a:buChar char="•"/>
            </a:pPr>
            <a:r>
              <a:rPr lang="en-US" dirty="0" smtClean="0"/>
              <a:t>Future Growth</a:t>
            </a:r>
            <a:endParaRPr lang="en-US" dirty="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2000"/>
                                        <p:tgtEl>
                                          <p:spTgt spid="5">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2000"/>
                                        <p:tgtEl>
                                          <p:spTgt spid="5">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fade">
                                      <p:cBhvr>
                                        <p:cTn id="16" dur="2000"/>
                                        <p:tgtEl>
                                          <p:spTgt spid="5">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Effect transition="in" filter="fade">
                                      <p:cBhvr>
                                        <p:cTn id="19" dur="20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Content Placeholder 2"/>
          <p:cNvSpPr>
            <a:spLocks noGrp="1"/>
          </p:cNvSpPr>
          <p:nvPr>
            <p:ph idx="1"/>
          </p:nvPr>
        </p:nvSpPr>
        <p:spPr>
          <a:xfrm>
            <a:off x="228600" y="1371600"/>
            <a:ext cx="4953000" cy="4343400"/>
          </a:xfrm>
        </p:spPr>
        <p:txBody>
          <a:bodyPr numCol="1"/>
          <a:lstStyle/>
          <a:p>
            <a:pPr marL="514350" indent="-514350">
              <a:buNone/>
            </a:pPr>
            <a:r>
              <a:rPr lang="en-US" dirty="0" smtClean="0">
                <a:latin typeface="Arial" charset="0"/>
                <a:cs typeface="Arial" charset="0"/>
              </a:rPr>
              <a:t>1</a:t>
            </a:r>
            <a:r>
              <a:rPr lang="en-US" dirty="0" smtClean="0">
                <a:latin typeface="Arial" charset="0"/>
                <a:cs typeface="Arial" charset="0"/>
              </a:rPr>
              <a:t>) NM </a:t>
            </a:r>
            <a:r>
              <a:rPr lang="en-US" dirty="0" smtClean="0">
                <a:latin typeface="Arial" charset="0"/>
                <a:cs typeface="Arial" charset="0"/>
              </a:rPr>
              <a:t>Economic Situation</a:t>
            </a:r>
          </a:p>
          <a:p>
            <a:pPr marL="971550" lvl="1" indent="-514350">
              <a:buNone/>
            </a:pPr>
            <a:r>
              <a:rPr lang="en-US" dirty="0" smtClean="0">
                <a:latin typeface="Arial" charset="0"/>
                <a:cs typeface="Arial" charset="0"/>
              </a:rPr>
              <a:t>Industry </a:t>
            </a:r>
          </a:p>
          <a:p>
            <a:pPr marL="1371600" lvl="2" indent="-457200">
              <a:buNone/>
            </a:pPr>
            <a:r>
              <a:rPr lang="en-US" dirty="0" smtClean="0">
                <a:latin typeface="Arial" charset="0"/>
                <a:cs typeface="Arial" charset="0"/>
              </a:rPr>
              <a:t>Recession </a:t>
            </a:r>
            <a:r>
              <a:rPr lang="en-US" dirty="0" smtClean="0">
                <a:latin typeface="Arial" charset="0"/>
                <a:cs typeface="Arial" charset="0"/>
              </a:rPr>
              <a:t>Impact </a:t>
            </a:r>
            <a:endParaRPr lang="en-US" dirty="0" smtClean="0">
              <a:latin typeface="Arial" charset="0"/>
              <a:cs typeface="Arial" charset="0"/>
            </a:endParaRPr>
          </a:p>
          <a:p>
            <a:pPr marL="1371600" lvl="2" indent="-457200">
              <a:buNone/>
            </a:pPr>
            <a:r>
              <a:rPr lang="en-US" dirty="0" smtClean="0">
                <a:latin typeface="Arial" charset="0"/>
                <a:cs typeface="Arial" charset="0"/>
              </a:rPr>
              <a:t>Current Situation</a:t>
            </a:r>
          </a:p>
          <a:p>
            <a:pPr marL="1371600" lvl="2" indent="-457200">
              <a:buNone/>
            </a:pPr>
            <a:r>
              <a:rPr lang="en-US" dirty="0" smtClean="0">
                <a:latin typeface="Arial" charset="0"/>
                <a:cs typeface="Arial" charset="0"/>
              </a:rPr>
              <a:t>What’s Next (2010-2020)</a:t>
            </a:r>
          </a:p>
          <a:p>
            <a:pPr marL="971550" lvl="1" indent="-514350">
              <a:buNone/>
            </a:pPr>
            <a:r>
              <a:rPr lang="en-US" dirty="0" smtClean="0">
                <a:latin typeface="Arial" charset="0"/>
                <a:cs typeface="Arial" charset="0"/>
              </a:rPr>
              <a:t>Occupations </a:t>
            </a:r>
          </a:p>
          <a:p>
            <a:pPr marL="1371600" lvl="2" indent="-457200">
              <a:buNone/>
            </a:pPr>
            <a:r>
              <a:rPr lang="en-US" dirty="0" smtClean="0">
                <a:latin typeface="Arial" charset="0"/>
                <a:cs typeface="Arial" charset="0"/>
              </a:rPr>
              <a:t>Hot Jobs</a:t>
            </a:r>
          </a:p>
          <a:p>
            <a:pPr marL="1371600" lvl="2" indent="-457200">
              <a:buNone/>
            </a:pPr>
            <a:r>
              <a:rPr lang="en-US" dirty="0" smtClean="0">
                <a:latin typeface="Arial" charset="0"/>
                <a:cs typeface="Arial" charset="0"/>
              </a:rPr>
              <a:t>Clusters</a:t>
            </a:r>
          </a:p>
          <a:p>
            <a:pPr marL="1371600" lvl="2" indent="-457200">
              <a:buNone/>
            </a:pPr>
            <a:r>
              <a:rPr lang="en-US" dirty="0" smtClean="0">
                <a:latin typeface="Arial" charset="0"/>
                <a:cs typeface="Arial" charset="0"/>
              </a:rPr>
              <a:t>STEM &amp; Healthcare</a:t>
            </a:r>
          </a:p>
          <a:p>
            <a:pPr marL="1371600" lvl="2" indent="-457200">
              <a:buNone/>
            </a:pPr>
            <a:endParaRPr lang="en-US" dirty="0" smtClean="0">
              <a:latin typeface="Arial" charset="0"/>
              <a:cs typeface="Arial" charset="0"/>
            </a:endParaRPr>
          </a:p>
          <a:p>
            <a:pPr marL="514350" indent="-514350">
              <a:buNone/>
            </a:pPr>
            <a:endParaRPr lang="en-US" dirty="0" smtClean="0">
              <a:latin typeface="Arial" charset="0"/>
              <a:cs typeface="Arial" charset="0"/>
            </a:endParaRPr>
          </a:p>
          <a:p>
            <a:pPr lvl="1" eaLnBrk="1" hangingPunct="1">
              <a:lnSpc>
                <a:spcPct val="150000"/>
              </a:lnSpc>
              <a:buNone/>
            </a:pPr>
            <a:endParaRPr lang="en-US" sz="2400" dirty="0" smtClean="0">
              <a:latin typeface="Arial" charset="0"/>
              <a:cs typeface="Arial" charset="0"/>
            </a:endParaRPr>
          </a:p>
        </p:txBody>
      </p:sp>
      <p:sp>
        <p:nvSpPr>
          <p:cNvPr id="24578" name="Title 1"/>
          <p:cNvSpPr>
            <a:spLocks noGrp="1"/>
          </p:cNvSpPr>
          <p:nvPr>
            <p:ph type="title"/>
          </p:nvPr>
        </p:nvSpPr>
        <p:spPr>
          <a:xfrm>
            <a:off x="304800" y="304800"/>
            <a:ext cx="8458200" cy="792162"/>
          </a:xfrm>
          <a:solidFill>
            <a:schemeClr val="bg1"/>
          </a:solidFill>
          <a:ln w="3175">
            <a:solidFill>
              <a:srgbClr val="FFCC00"/>
            </a:solidFill>
          </a:ln>
          <a:effectLst>
            <a:innerShdw blurRad="63500" dist="50800" dir="13500000">
              <a:srgbClr val="FFCC00">
                <a:alpha val="50000"/>
              </a:srgbClr>
            </a:innerShdw>
            <a:softEdge rad="12700"/>
          </a:effectLst>
        </p:spPr>
        <p:style>
          <a:lnRef idx="0">
            <a:scrgbClr r="0" g="0" b="0"/>
          </a:lnRef>
          <a:fillRef idx="1002">
            <a:schemeClr val="lt2"/>
          </a:fillRef>
          <a:effectRef idx="0">
            <a:scrgbClr r="0" g="0" b="0"/>
          </a:effectRef>
          <a:fontRef idx="major"/>
        </p:style>
        <p:txBody>
          <a:bodyPr/>
          <a:lstStyle/>
          <a:p>
            <a:pPr algn="ctr" eaLnBrk="1" hangingPunct="1"/>
            <a:r>
              <a:rPr lang="en-US" dirty="0" smtClean="0"/>
              <a:t>Agenda</a:t>
            </a:r>
          </a:p>
        </p:txBody>
      </p:sp>
      <p:sp>
        <p:nvSpPr>
          <p:cNvPr id="4" name="TextBox 3"/>
          <p:cNvSpPr txBox="1"/>
          <p:nvPr/>
        </p:nvSpPr>
        <p:spPr>
          <a:xfrm>
            <a:off x="5486400" y="1295400"/>
            <a:ext cx="3898050" cy="2646878"/>
          </a:xfrm>
          <a:prstGeom prst="rect">
            <a:avLst/>
          </a:prstGeom>
          <a:noFill/>
        </p:spPr>
        <p:txBody>
          <a:bodyPr wrap="square" rtlCol="0">
            <a:spAutoFit/>
          </a:bodyPr>
          <a:lstStyle/>
          <a:p>
            <a:pPr marL="514350" indent="-514350">
              <a:buNone/>
            </a:pPr>
            <a:r>
              <a:rPr lang="en-US" sz="3200" dirty="0" smtClean="0">
                <a:latin typeface="Arial" charset="0"/>
                <a:cs typeface="Arial" charset="0"/>
              </a:rPr>
              <a:t>2</a:t>
            </a:r>
            <a:r>
              <a:rPr lang="en-US" sz="3200" dirty="0" smtClean="0">
                <a:latin typeface="Arial" charset="0"/>
                <a:cs typeface="Arial" charset="0"/>
              </a:rPr>
              <a:t>) Sources &amp; Tools</a:t>
            </a:r>
            <a:endParaRPr lang="en-US" sz="3200" dirty="0" smtClean="0">
              <a:latin typeface="Arial" charset="0"/>
              <a:cs typeface="Arial" charset="0"/>
            </a:endParaRPr>
          </a:p>
          <a:p>
            <a:pPr marL="514350" indent="-514350">
              <a:buNone/>
            </a:pPr>
            <a:endParaRPr lang="en-US" sz="3200" dirty="0" smtClean="0">
              <a:latin typeface="Arial" charset="0"/>
              <a:cs typeface="Arial" charset="0"/>
            </a:endParaRPr>
          </a:p>
          <a:p>
            <a:pPr marL="971550" lvl="1" indent="-514350">
              <a:buNone/>
            </a:pPr>
            <a:r>
              <a:rPr lang="en-US" sz="2800" dirty="0" smtClean="0">
                <a:latin typeface="Arial" charset="0"/>
                <a:cs typeface="Arial" charset="0"/>
              </a:rPr>
              <a:t>Career Solutions </a:t>
            </a:r>
          </a:p>
          <a:p>
            <a:pPr marL="971550" lvl="1" indent="-514350">
              <a:buNone/>
            </a:pPr>
            <a:r>
              <a:rPr lang="en-US" sz="2800" dirty="0" smtClean="0">
                <a:latin typeface="Arial" charset="0"/>
                <a:cs typeface="Arial" charset="0"/>
              </a:rPr>
              <a:t>LASER</a:t>
            </a:r>
          </a:p>
          <a:p>
            <a:pPr marL="971550" lvl="1" indent="-514350">
              <a:buNone/>
            </a:pPr>
            <a:r>
              <a:rPr lang="en-US" sz="2800" dirty="0" smtClean="0">
                <a:latin typeface="Arial" charset="0"/>
                <a:cs typeface="Arial" charset="0"/>
              </a:rPr>
              <a:t>CareerOnestop.org</a:t>
            </a:r>
          </a:p>
          <a:p>
            <a:endParaRPr lang="en-US" dirty="0"/>
          </a:p>
        </p:txBody>
      </p:sp>
      <p:cxnSp>
        <p:nvCxnSpPr>
          <p:cNvPr id="6" name="Straight Connector 5"/>
          <p:cNvCxnSpPr/>
          <p:nvPr/>
        </p:nvCxnSpPr>
        <p:spPr>
          <a:xfrm>
            <a:off x="5257800" y="1295400"/>
            <a:ext cx="0" cy="4724400"/>
          </a:xfrm>
          <a:prstGeom prst="line">
            <a:avLst/>
          </a:prstGeom>
          <a:ln>
            <a:solidFill>
              <a:srgbClr val="2F8C99"/>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92162"/>
          </a:xfrm>
        </p:spPr>
        <p:txBody>
          <a:bodyPr/>
          <a:lstStyle/>
          <a:p>
            <a:r>
              <a:rPr lang="en-US" dirty="0" smtClean="0"/>
              <a:t>The Great Recession Ended July 2009?</a:t>
            </a:r>
            <a:endParaRPr lang="en-US" dirty="0"/>
          </a:p>
        </p:txBody>
      </p:sp>
      <p:sp>
        <p:nvSpPr>
          <p:cNvPr id="4" name="Slide Number Placeholder 3"/>
          <p:cNvSpPr>
            <a:spLocks noGrp="1"/>
          </p:cNvSpPr>
          <p:nvPr>
            <p:ph type="sldNum" sz="quarter" idx="4294967295"/>
          </p:nvPr>
        </p:nvSpPr>
        <p:spPr>
          <a:xfrm>
            <a:off x="6553200" y="6356350"/>
            <a:ext cx="2133600" cy="365125"/>
          </a:xfrm>
          <a:prstGeom prst="rect">
            <a:avLst/>
          </a:prstGeom>
        </p:spPr>
        <p:txBody>
          <a:bodyPr/>
          <a:lstStyle/>
          <a:p>
            <a:pPr>
              <a:defRPr/>
            </a:pPr>
            <a:fld id="{C915C977-463E-4808-8AA9-59432EEEA65E}" type="slidenum">
              <a:rPr lang="en-US" smtClean="0"/>
              <a:pPr>
                <a:defRPr/>
              </a:pPr>
              <a:t>4</a:t>
            </a:fld>
            <a:endParaRPr lang="en-US" dirty="0"/>
          </a:p>
        </p:txBody>
      </p:sp>
      <p:pic>
        <p:nvPicPr>
          <p:cNvPr id="110594" name="Picture 2" descr="C:\Users\sreagan\Pictures\recessionCartoon.jpg"/>
          <p:cNvPicPr>
            <a:picLocks noChangeAspect="1" noChangeArrowheads="1"/>
          </p:cNvPicPr>
          <p:nvPr/>
        </p:nvPicPr>
        <p:blipFill>
          <a:blip r:embed="rId3" cstate="print"/>
          <a:srcRect/>
          <a:stretch>
            <a:fillRect/>
          </a:stretch>
        </p:blipFill>
        <p:spPr bwMode="auto">
          <a:xfrm>
            <a:off x="0" y="1752600"/>
            <a:ext cx="9144000" cy="5105400"/>
          </a:xfrm>
          <a:prstGeom prst="rect">
            <a:avLst/>
          </a:prstGeom>
          <a:noFill/>
        </p:spPr>
      </p:pic>
      <p:sp>
        <p:nvSpPr>
          <p:cNvPr id="5" name="TextBox 4"/>
          <p:cNvSpPr txBox="1"/>
          <p:nvPr/>
        </p:nvSpPr>
        <p:spPr>
          <a:xfrm>
            <a:off x="3124200" y="1066800"/>
            <a:ext cx="4854214" cy="923330"/>
          </a:xfrm>
          <a:prstGeom prst="rect">
            <a:avLst/>
          </a:prstGeom>
          <a:noFill/>
        </p:spPr>
        <p:txBody>
          <a:bodyPr wrap="none" rtlCol="0">
            <a:spAutoFit/>
          </a:bodyPr>
          <a:lstStyle/>
          <a:p>
            <a:r>
              <a:rPr lang="en-US" dirty="0" smtClean="0"/>
              <a:t> September 2012:		794,300</a:t>
            </a:r>
          </a:p>
          <a:p>
            <a:r>
              <a:rPr lang="en-US" dirty="0" smtClean="0"/>
              <a:t> September 2011:  		805,200 </a:t>
            </a:r>
          </a:p>
          <a:p>
            <a:r>
              <a:rPr lang="en-US" dirty="0" smtClean="0"/>
              <a:t>Over -the-year change:	  -10,900		 </a:t>
            </a:r>
          </a:p>
        </p:txBody>
      </p:sp>
      <p:sp>
        <p:nvSpPr>
          <p:cNvPr id="7" name="TextBox 6"/>
          <p:cNvSpPr txBox="1"/>
          <p:nvPr/>
        </p:nvSpPr>
        <p:spPr>
          <a:xfrm>
            <a:off x="3124200" y="838200"/>
            <a:ext cx="3973652" cy="276999"/>
          </a:xfrm>
          <a:prstGeom prst="rect">
            <a:avLst/>
          </a:prstGeom>
          <a:noFill/>
        </p:spPr>
        <p:txBody>
          <a:bodyPr wrap="none" rtlCol="0">
            <a:spAutoFit/>
          </a:bodyPr>
          <a:lstStyle/>
          <a:p>
            <a:r>
              <a:rPr lang="en-US" sz="1200" i="1" dirty="0" smtClean="0"/>
              <a:t>New Mexico Total Non-farm Seasonally Adjusted Employment</a:t>
            </a:r>
            <a:endParaRPr lang="en-US" sz="1200" i="1"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305800" y="0"/>
            <a:ext cx="917239" cy="538609"/>
          </a:xfrm>
          <a:prstGeom prst="rect">
            <a:avLst/>
          </a:prstGeom>
          <a:noFill/>
        </p:spPr>
        <p:txBody>
          <a:bodyPr wrap="none" rtlCol="0">
            <a:spAutoFit/>
          </a:bodyPr>
          <a:lstStyle/>
          <a:p>
            <a:r>
              <a:rPr lang="en-US" dirty="0" smtClean="0">
                <a:solidFill>
                  <a:schemeClr val="accent2">
                    <a:lumMod val="75000"/>
                  </a:schemeClr>
                </a:solidFill>
              </a:rPr>
              <a:t>US</a:t>
            </a:r>
          </a:p>
          <a:p>
            <a:r>
              <a:rPr lang="en-US" sz="1100" dirty="0" smtClean="0">
                <a:solidFill>
                  <a:schemeClr val="accent2">
                    <a:lumMod val="75000"/>
                  </a:schemeClr>
                </a:solidFill>
              </a:rPr>
              <a:t>In thousands</a:t>
            </a:r>
            <a:endParaRPr lang="en-US" sz="1100" dirty="0">
              <a:solidFill>
                <a:schemeClr val="accent2">
                  <a:lumMod val="75000"/>
                </a:schemeClr>
              </a:solidFill>
            </a:endParaRPr>
          </a:p>
        </p:txBody>
      </p:sp>
      <p:sp>
        <p:nvSpPr>
          <p:cNvPr id="5" name="TextBox 4"/>
          <p:cNvSpPr txBox="1"/>
          <p:nvPr/>
        </p:nvSpPr>
        <p:spPr>
          <a:xfrm>
            <a:off x="228600" y="76200"/>
            <a:ext cx="530915" cy="369332"/>
          </a:xfrm>
          <a:prstGeom prst="rect">
            <a:avLst/>
          </a:prstGeom>
          <a:noFill/>
        </p:spPr>
        <p:txBody>
          <a:bodyPr wrap="none" rtlCol="0">
            <a:spAutoFit/>
          </a:bodyPr>
          <a:lstStyle/>
          <a:p>
            <a:r>
              <a:rPr lang="en-US" dirty="0" smtClean="0">
                <a:solidFill>
                  <a:schemeClr val="accent1">
                    <a:lumMod val="75000"/>
                  </a:schemeClr>
                </a:solidFill>
              </a:rPr>
              <a:t>NM</a:t>
            </a:r>
            <a:endParaRPr lang="en-US" dirty="0">
              <a:solidFill>
                <a:schemeClr val="accent1">
                  <a:lumMod val="75000"/>
                </a:schemeClr>
              </a:solidFill>
            </a:endParaRPr>
          </a:p>
        </p:txBody>
      </p:sp>
      <p:sp>
        <p:nvSpPr>
          <p:cNvPr id="6" name="TextBox 5"/>
          <p:cNvSpPr txBox="1"/>
          <p:nvPr/>
        </p:nvSpPr>
        <p:spPr>
          <a:xfrm>
            <a:off x="2438400" y="6248400"/>
            <a:ext cx="5555813" cy="369332"/>
          </a:xfrm>
          <a:prstGeom prst="rect">
            <a:avLst/>
          </a:prstGeom>
          <a:noFill/>
        </p:spPr>
        <p:txBody>
          <a:bodyPr wrap="square" rtlCol="0">
            <a:spAutoFit/>
          </a:bodyPr>
          <a:lstStyle/>
          <a:p>
            <a:r>
              <a:rPr lang="en-US" dirty="0" smtClean="0"/>
              <a:t>Total Non-Farm Employment Seasonally Adjusted</a:t>
            </a:r>
            <a:endParaRPr lang="en-US" dirty="0"/>
          </a:p>
        </p:txBody>
      </p:sp>
      <p:sp>
        <p:nvSpPr>
          <p:cNvPr id="7" name="Title 6"/>
          <p:cNvSpPr>
            <a:spLocks noGrp="1"/>
          </p:cNvSpPr>
          <p:nvPr>
            <p:ph type="title"/>
          </p:nvPr>
        </p:nvSpPr>
        <p:spPr>
          <a:xfrm>
            <a:off x="9372600" y="152400"/>
            <a:ext cx="8229600" cy="792162"/>
          </a:xfrm>
        </p:spPr>
        <p:txBody>
          <a:bodyPr/>
          <a:lstStyle/>
          <a:p>
            <a:r>
              <a:rPr lang="en-US" dirty="0" smtClean="0"/>
              <a:t>NM vs. US Employment</a:t>
            </a:r>
            <a:endParaRPr lang="en-US" dirty="0"/>
          </a:p>
        </p:txBody>
      </p:sp>
      <p:sp>
        <p:nvSpPr>
          <p:cNvPr id="9" name="TextBox 8"/>
          <p:cNvSpPr txBox="1"/>
          <p:nvPr/>
        </p:nvSpPr>
        <p:spPr>
          <a:xfrm>
            <a:off x="2362200" y="152400"/>
            <a:ext cx="4428392" cy="369332"/>
          </a:xfrm>
          <a:prstGeom prst="rect">
            <a:avLst/>
          </a:prstGeom>
          <a:noFill/>
        </p:spPr>
        <p:txBody>
          <a:bodyPr wrap="none" rtlCol="0">
            <a:spAutoFit/>
          </a:bodyPr>
          <a:lstStyle/>
          <a:p>
            <a:r>
              <a:rPr lang="en-US" dirty="0" smtClean="0"/>
              <a:t>NM vs. US Employment from 1990 to Present</a:t>
            </a:r>
            <a:endParaRPr lang="en-US" dirty="0"/>
          </a:p>
        </p:txBody>
      </p:sp>
      <p:graphicFrame>
        <p:nvGraphicFramePr>
          <p:cNvPr id="10" name="Chart 9"/>
          <p:cNvGraphicFramePr/>
          <p:nvPr/>
        </p:nvGraphicFramePr>
        <p:xfrm>
          <a:off x="-76200" y="533400"/>
          <a:ext cx="9372600" cy="59436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457200" y="0"/>
            <a:ext cx="8229600" cy="792162"/>
          </a:xfrm>
        </p:spPr>
        <p:txBody>
          <a:bodyPr/>
          <a:lstStyle/>
          <a:p>
            <a:pPr algn="ctr" eaLnBrk="1" hangingPunct="1"/>
            <a:r>
              <a:rPr lang="en-US" dirty="0" smtClean="0"/>
              <a:t>NM Industries Change</a:t>
            </a:r>
          </a:p>
        </p:txBody>
      </p:sp>
      <p:sp>
        <p:nvSpPr>
          <p:cNvPr id="4" name="TextBox 3"/>
          <p:cNvSpPr txBox="1"/>
          <p:nvPr/>
        </p:nvSpPr>
        <p:spPr>
          <a:xfrm>
            <a:off x="0" y="1371601"/>
            <a:ext cx="3581400" cy="984885"/>
          </a:xfrm>
          <a:prstGeom prst="rect">
            <a:avLst/>
          </a:prstGeom>
          <a:noFill/>
        </p:spPr>
        <p:txBody>
          <a:bodyPr wrap="square" rtlCol="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r>
              <a:rPr lang="en-US" sz="2000" b="1" cap="all" dirty="0" smtClean="0">
                <a:ln w="0"/>
                <a:solidFill>
                  <a:schemeClr val="accent5">
                    <a:lumMod val="75000"/>
                  </a:schemeClr>
                </a:solidFill>
                <a:effectLst>
                  <a:reflection blurRad="12700" stA="50000" endPos="50000" dist="5000" dir="5400000" sy="-100000" rotWithShape="0"/>
                </a:effectLst>
              </a:rPr>
              <a:t>How Did New Mexico Handle the Recession?</a:t>
            </a:r>
          </a:p>
          <a:p>
            <a:endParaRPr lang="en-US" b="1" cap="all" dirty="0"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endParaRPr>
          </a:p>
        </p:txBody>
      </p:sp>
      <p:sp>
        <p:nvSpPr>
          <p:cNvPr id="7" name="TextBox 6"/>
          <p:cNvSpPr txBox="1"/>
          <p:nvPr/>
        </p:nvSpPr>
        <p:spPr>
          <a:xfrm>
            <a:off x="0" y="2362200"/>
            <a:ext cx="3866134" cy="3831818"/>
          </a:xfrm>
          <a:prstGeom prst="rect">
            <a:avLst/>
          </a:prstGeom>
          <a:noFill/>
        </p:spPr>
        <p:txBody>
          <a:bodyPr wrap="square" rtlCol="0">
            <a:spAutoFit/>
          </a:bodyPr>
          <a:lstStyle/>
          <a:p>
            <a:pPr>
              <a:lnSpc>
                <a:spcPct val="150000"/>
              </a:lnSpc>
              <a:buFont typeface="Arial" pitchFamily="34" charset="0"/>
              <a:buChar char="•"/>
            </a:pPr>
            <a:r>
              <a:rPr lang="en-US" dirty="0" smtClean="0"/>
              <a:t>Mining lost over 500</a:t>
            </a:r>
          </a:p>
          <a:p>
            <a:pPr>
              <a:lnSpc>
                <a:spcPct val="150000"/>
              </a:lnSpc>
              <a:buFont typeface="Arial" pitchFamily="34" charset="0"/>
              <a:buChar char="•"/>
            </a:pPr>
            <a:r>
              <a:rPr lang="en-US" dirty="0" smtClean="0"/>
              <a:t>Construction shed about 16,000</a:t>
            </a:r>
          </a:p>
          <a:p>
            <a:pPr>
              <a:lnSpc>
                <a:spcPct val="150000"/>
              </a:lnSpc>
              <a:buFont typeface="Arial" pitchFamily="34" charset="0"/>
              <a:buChar char="•"/>
            </a:pPr>
            <a:r>
              <a:rPr lang="en-US" dirty="0" smtClean="0"/>
              <a:t>Manufacturing lost another 8,000</a:t>
            </a:r>
          </a:p>
          <a:p>
            <a:pPr>
              <a:lnSpc>
                <a:spcPct val="150000"/>
              </a:lnSpc>
              <a:buFont typeface="Arial" pitchFamily="34" charset="0"/>
              <a:buChar char="•"/>
            </a:pPr>
            <a:r>
              <a:rPr lang="en-US" dirty="0" smtClean="0"/>
              <a:t>Retail took a hit with 6,000</a:t>
            </a:r>
          </a:p>
          <a:p>
            <a:pPr>
              <a:lnSpc>
                <a:spcPct val="150000"/>
              </a:lnSpc>
              <a:buFont typeface="Arial" pitchFamily="34" charset="0"/>
              <a:buChar char="•"/>
            </a:pPr>
            <a:r>
              <a:rPr lang="en-US" dirty="0" smtClean="0"/>
              <a:t>Admin &amp; Waste </a:t>
            </a:r>
            <a:r>
              <a:rPr lang="en-US" dirty="0" err="1" smtClean="0"/>
              <a:t>Svs</a:t>
            </a:r>
            <a:r>
              <a:rPr lang="en-US" dirty="0" smtClean="0"/>
              <a:t> 5,000</a:t>
            </a:r>
          </a:p>
          <a:p>
            <a:pPr>
              <a:buFont typeface="Arial" pitchFamily="34" charset="0"/>
              <a:buChar char="•"/>
            </a:pPr>
            <a:endParaRPr lang="en-US" dirty="0" smtClean="0"/>
          </a:p>
          <a:p>
            <a:pPr>
              <a:buFont typeface="Arial" pitchFamily="34" charset="0"/>
              <a:buChar char="•"/>
            </a:pPr>
            <a:endParaRPr lang="en-US" dirty="0" smtClean="0"/>
          </a:p>
          <a:p>
            <a:pPr>
              <a:buFont typeface="Arial" pitchFamily="34" charset="0"/>
              <a:buChar char="•"/>
            </a:pPr>
            <a:r>
              <a:rPr lang="en-US" dirty="0" smtClean="0"/>
              <a:t>Bright spot Health Care +12,000</a:t>
            </a:r>
          </a:p>
          <a:p>
            <a:pPr>
              <a:buFont typeface="Arial" pitchFamily="34" charset="0"/>
              <a:buChar char="•"/>
            </a:pPr>
            <a:endParaRPr lang="en-US" dirty="0" smtClean="0"/>
          </a:p>
          <a:p>
            <a:endParaRPr lang="en-US" dirty="0" smtClean="0"/>
          </a:p>
          <a:p>
            <a:endParaRPr lang="en-US" dirty="0"/>
          </a:p>
        </p:txBody>
      </p:sp>
      <p:graphicFrame>
        <p:nvGraphicFramePr>
          <p:cNvPr id="9" name="Chart 8"/>
          <p:cNvGraphicFramePr/>
          <p:nvPr/>
        </p:nvGraphicFramePr>
        <p:xfrm>
          <a:off x="2971800" y="533400"/>
          <a:ext cx="6019800" cy="587502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1828800" y="6477000"/>
            <a:ext cx="3719288" cy="261610"/>
          </a:xfrm>
          <a:prstGeom prst="rect">
            <a:avLst/>
          </a:prstGeom>
          <a:noFill/>
        </p:spPr>
        <p:txBody>
          <a:bodyPr wrap="none" rtlCol="0">
            <a:spAutoFit/>
          </a:bodyPr>
          <a:lstStyle/>
          <a:p>
            <a:r>
              <a:rPr lang="en-US" sz="1100" dirty="0" smtClean="0"/>
              <a:t>Source: Quarterly Census of Employment and Wages NMDWS</a:t>
            </a:r>
            <a:endParaRPr lang="en-US" sz="1100" dirty="0"/>
          </a:p>
        </p:txBody>
      </p:sp>
      <p:sp>
        <p:nvSpPr>
          <p:cNvPr id="8" name="TextBox 7"/>
          <p:cNvSpPr txBox="1"/>
          <p:nvPr/>
        </p:nvSpPr>
        <p:spPr>
          <a:xfrm>
            <a:off x="7391400" y="914400"/>
            <a:ext cx="1458476" cy="5262979"/>
          </a:xfrm>
          <a:prstGeom prst="rect">
            <a:avLst/>
          </a:prstGeom>
        </p:spPr>
        <p:style>
          <a:lnRef idx="1">
            <a:schemeClr val="accent5"/>
          </a:lnRef>
          <a:fillRef idx="2">
            <a:schemeClr val="accent5"/>
          </a:fillRef>
          <a:effectRef idx="1">
            <a:schemeClr val="accent5"/>
          </a:effectRef>
          <a:fontRef idx="minor">
            <a:schemeClr val="dk1"/>
          </a:fontRef>
        </p:style>
        <p:txBody>
          <a:bodyPr wrap="none" rtlCol="0">
            <a:spAutoFit/>
          </a:bodyPr>
          <a:lstStyle/>
          <a:p>
            <a:r>
              <a:rPr lang="en-US" sz="1600" dirty="0" smtClean="0"/>
              <a:t>To 1st Qtr 2012</a:t>
            </a:r>
          </a:p>
          <a:p>
            <a:pPr algn="r"/>
            <a:r>
              <a:rPr lang="en-US" sz="1600" dirty="0" smtClean="0"/>
              <a:t>562  Ag</a:t>
            </a:r>
          </a:p>
          <a:p>
            <a:pPr algn="r"/>
            <a:r>
              <a:rPr lang="en-US" sz="1600" dirty="0" smtClean="0"/>
              <a:t>3,398  Mining</a:t>
            </a:r>
          </a:p>
          <a:p>
            <a:pPr algn="r"/>
            <a:r>
              <a:rPr lang="en-US" sz="1600" dirty="0" smtClean="0">
                <a:solidFill>
                  <a:srgbClr val="D45C26"/>
                </a:solidFill>
              </a:rPr>
              <a:t>-27 </a:t>
            </a:r>
            <a:r>
              <a:rPr lang="en-US" sz="1600" dirty="0" err="1" smtClean="0">
                <a:solidFill>
                  <a:srgbClr val="D45C26"/>
                </a:solidFill>
              </a:rPr>
              <a:t>Utils</a:t>
            </a:r>
            <a:r>
              <a:rPr lang="en-US" sz="1600" dirty="0" smtClean="0">
                <a:solidFill>
                  <a:srgbClr val="D45C26"/>
                </a:solidFill>
              </a:rPr>
              <a:t>.</a:t>
            </a:r>
          </a:p>
          <a:p>
            <a:pPr algn="r"/>
            <a:r>
              <a:rPr lang="en-US" sz="1600" dirty="0" smtClean="0">
                <a:solidFill>
                  <a:srgbClr val="D45C26"/>
                </a:solidFill>
              </a:rPr>
              <a:t>-1,843 Const.</a:t>
            </a:r>
          </a:p>
          <a:p>
            <a:pPr algn="r"/>
            <a:r>
              <a:rPr lang="en-US" sz="1600" dirty="0" smtClean="0"/>
              <a:t> 532 Manuf.</a:t>
            </a:r>
          </a:p>
          <a:p>
            <a:pPr algn="r"/>
            <a:r>
              <a:rPr lang="en-US" sz="1600" dirty="0" smtClean="0"/>
              <a:t> 459 Whole.</a:t>
            </a:r>
          </a:p>
          <a:p>
            <a:pPr algn="r"/>
            <a:r>
              <a:rPr lang="en-US" sz="1600" dirty="0" smtClean="0"/>
              <a:t> 1,111 Retail</a:t>
            </a:r>
          </a:p>
          <a:p>
            <a:pPr algn="r"/>
            <a:r>
              <a:rPr lang="en-US" sz="1600" dirty="0" smtClean="0"/>
              <a:t> 955 Trans.</a:t>
            </a:r>
          </a:p>
          <a:p>
            <a:pPr algn="r"/>
            <a:r>
              <a:rPr lang="en-US" sz="1600" dirty="0" smtClean="0"/>
              <a:t> 12 Info.</a:t>
            </a:r>
          </a:p>
          <a:p>
            <a:pPr algn="r"/>
            <a:r>
              <a:rPr lang="en-US" sz="1600" dirty="0" smtClean="0">
                <a:solidFill>
                  <a:srgbClr val="D45C26"/>
                </a:solidFill>
              </a:rPr>
              <a:t>-368 Fin.</a:t>
            </a:r>
          </a:p>
          <a:p>
            <a:pPr algn="r"/>
            <a:r>
              <a:rPr lang="en-US" sz="1600" dirty="0" smtClean="0">
                <a:solidFill>
                  <a:srgbClr val="D45C26"/>
                </a:solidFill>
              </a:rPr>
              <a:t> -116 RE</a:t>
            </a:r>
          </a:p>
          <a:p>
            <a:pPr algn="r"/>
            <a:r>
              <a:rPr lang="en-US" sz="1600" dirty="0" smtClean="0">
                <a:solidFill>
                  <a:srgbClr val="D45C26"/>
                </a:solidFill>
              </a:rPr>
              <a:t>-945 Prof.</a:t>
            </a:r>
          </a:p>
          <a:p>
            <a:pPr algn="r"/>
            <a:r>
              <a:rPr lang="en-US" sz="1600" dirty="0" smtClean="0"/>
              <a:t> 0  Mgmt.</a:t>
            </a:r>
          </a:p>
          <a:p>
            <a:pPr algn="r"/>
            <a:r>
              <a:rPr lang="en-US" sz="1600" dirty="0" smtClean="0">
                <a:solidFill>
                  <a:srgbClr val="D45C26"/>
                </a:solidFill>
              </a:rPr>
              <a:t>-1,922 Admin.</a:t>
            </a:r>
          </a:p>
          <a:p>
            <a:pPr algn="r"/>
            <a:r>
              <a:rPr lang="en-US" sz="1600" dirty="0" smtClean="0">
                <a:solidFill>
                  <a:srgbClr val="D45C26"/>
                </a:solidFill>
              </a:rPr>
              <a:t>-961  Ed.</a:t>
            </a:r>
          </a:p>
          <a:p>
            <a:pPr algn="r"/>
            <a:r>
              <a:rPr lang="en-US" sz="1600" dirty="0" smtClean="0"/>
              <a:t>2,223 Health</a:t>
            </a:r>
          </a:p>
          <a:p>
            <a:pPr algn="r"/>
            <a:r>
              <a:rPr lang="en-US" sz="1600" dirty="0" smtClean="0"/>
              <a:t>526 Arts</a:t>
            </a:r>
          </a:p>
          <a:p>
            <a:pPr algn="r"/>
            <a:r>
              <a:rPr lang="en-US" sz="1600" dirty="0" smtClean="0"/>
              <a:t>151 </a:t>
            </a:r>
            <a:r>
              <a:rPr lang="en-US" sz="1600" dirty="0" err="1" smtClean="0"/>
              <a:t>Accom</a:t>
            </a:r>
            <a:r>
              <a:rPr lang="en-US" sz="1600" dirty="0" smtClean="0"/>
              <a:t>.</a:t>
            </a:r>
          </a:p>
          <a:p>
            <a:pPr algn="r"/>
            <a:r>
              <a:rPr lang="en-US" sz="1600" dirty="0" smtClean="0"/>
              <a:t>111 Other</a:t>
            </a:r>
          </a:p>
          <a:p>
            <a:pPr algn="r"/>
            <a:r>
              <a:rPr lang="en-US" sz="1600" dirty="0" smtClean="0">
                <a:solidFill>
                  <a:srgbClr val="D45C26"/>
                </a:solidFill>
              </a:rPr>
              <a:t>-1,670 PA</a:t>
            </a:r>
            <a:endParaRPr lang="en-US" sz="1600" dirty="0">
              <a:solidFill>
                <a:srgbClr val="D45C26"/>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bg/>
                                          </p:spTgt>
                                        </p:tgtEl>
                                        <p:attrNameLst>
                                          <p:attrName>style.visibility</p:attrName>
                                        </p:attrNameLst>
                                      </p:cBhvr>
                                      <p:to>
                                        <p:strVal val="visible"/>
                                      </p:to>
                                    </p:set>
                                    <p:anim calcmode="lin" valueType="num">
                                      <p:cBhvr additive="base">
                                        <p:cTn id="7" dur="500" fill="hold"/>
                                        <p:tgtEl>
                                          <p:spTgt spid="8">
                                            <p:bg/>
                                          </p:spTgt>
                                        </p:tgtEl>
                                        <p:attrNameLst>
                                          <p:attrName>ppt_x</p:attrName>
                                        </p:attrNameLst>
                                      </p:cBhvr>
                                      <p:tavLst>
                                        <p:tav tm="0">
                                          <p:val>
                                            <p:strVal val="#ppt_x"/>
                                          </p:val>
                                        </p:tav>
                                        <p:tav tm="100000">
                                          <p:val>
                                            <p:strVal val="#ppt_x"/>
                                          </p:val>
                                        </p:tav>
                                      </p:tavLst>
                                    </p:anim>
                                    <p:anim calcmode="lin" valueType="num">
                                      <p:cBhvr additive="base">
                                        <p:cTn id="8" dur="500" fill="hold"/>
                                        <p:tgtEl>
                                          <p:spTgt spid="8">
                                            <p:bg/>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anim calcmode="lin" valueType="num">
                                      <p:cBhvr additive="base">
                                        <p:cTn id="11"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anim calcmode="lin" valueType="num">
                                      <p:cBhvr additive="base">
                                        <p:cTn id="15"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8">
                                            <p:txEl>
                                              <p:pRg st="1" end="1"/>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 calcmode="lin" valueType="num">
                                      <p:cBhvr additive="base">
                                        <p:cTn id="19"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8">
                                            <p:txEl>
                                              <p:pRg st="3" end="3"/>
                                            </p:txEl>
                                          </p:spTgt>
                                        </p:tgtEl>
                                        <p:attrNameLst>
                                          <p:attrName>style.visibility</p:attrName>
                                        </p:attrNameLst>
                                      </p:cBhvr>
                                      <p:to>
                                        <p:strVal val="visible"/>
                                      </p:to>
                                    </p:set>
                                    <p:anim calcmode="lin" valueType="num">
                                      <p:cBhvr additive="base">
                                        <p:cTn id="23"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8">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 calcmode="lin" valueType="num">
                                      <p:cBhvr additive="base">
                                        <p:cTn id="27"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8">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8">
                                            <p:txEl>
                                              <p:pRg st="5" end="5"/>
                                            </p:txEl>
                                          </p:spTgt>
                                        </p:tgtEl>
                                        <p:attrNameLst>
                                          <p:attrName>style.visibility</p:attrName>
                                        </p:attrNameLst>
                                      </p:cBhvr>
                                      <p:to>
                                        <p:strVal val="visible"/>
                                      </p:to>
                                    </p:set>
                                    <p:anim calcmode="lin" valueType="num">
                                      <p:cBhvr additive="base">
                                        <p:cTn id="31"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8">
                                            <p:txEl>
                                              <p:pRg st="6" end="6"/>
                                            </p:txEl>
                                          </p:spTgt>
                                        </p:tgtEl>
                                        <p:attrNameLst>
                                          <p:attrName>style.visibility</p:attrName>
                                        </p:attrNameLst>
                                      </p:cBhvr>
                                      <p:to>
                                        <p:strVal val="visible"/>
                                      </p:to>
                                    </p:set>
                                    <p:anim calcmode="lin" valueType="num">
                                      <p:cBhvr additive="base">
                                        <p:cTn id="35"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8">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8">
                                            <p:txEl>
                                              <p:pRg st="7" end="7"/>
                                            </p:txEl>
                                          </p:spTgt>
                                        </p:tgtEl>
                                        <p:attrNameLst>
                                          <p:attrName>style.visibility</p:attrName>
                                        </p:attrNameLst>
                                      </p:cBhvr>
                                      <p:to>
                                        <p:strVal val="visible"/>
                                      </p:to>
                                    </p:set>
                                    <p:anim calcmode="lin" valueType="num">
                                      <p:cBhvr additive="base">
                                        <p:cTn id="39" dur="500" fill="hold"/>
                                        <p:tgtEl>
                                          <p:spTgt spid="8">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8">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8">
                                            <p:txEl>
                                              <p:pRg st="8" end="8"/>
                                            </p:txEl>
                                          </p:spTgt>
                                        </p:tgtEl>
                                        <p:attrNameLst>
                                          <p:attrName>style.visibility</p:attrName>
                                        </p:attrNameLst>
                                      </p:cBhvr>
                                      <p:to>
                                        <p:strVal val="visible"/>
                                      </p:to>
                                    </p:set>
                                    <p:anim calcmode="lin" valueType="num">
                                      <p:cBhvr additive="base">
                                        <p:cTn id="43" dur="500" fill="hold"/>
                                        <p:tgtEl>
                                          <p:spTgt spid="8">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
                                            <p:txEl>
                                              <p:pRg st="8" end="8"/>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8">
                                            <p:txEl>
                                              <p:pRg st="9" end="9"/>
                                            </p:txEl>
                                          </p:spTgt>
                                        </p:tgtEl>
                                        <p:attrNameLst>
                                          <p:attrName>style.visibility</p:attrName>
                                        </p:attrNameLst>
                                      </p:cBhvr>
                                      <p:to>
                                        <p:strVal val="visible"/>
                                      </p:to>
                                    </p:set>
                                    <p:anim calcmode="lin" valueType="num">
                                      <p:cBhvr additive="base">
                                        <p:cTn id="47" dur="500" fill="hold"/>
                                        <p:tgtEl>
                                          <p:spTgt spid="8">
                                            <p:txEl>
                                              <p:pRg st="9" end="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8">
                                            <p:txEl>
                                              <p:pRg st="9" end="9"/>
                                            </p:tx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8">
                                            <p:txEl>
                                              <p:pRg st="10" end="10"/>
                                            </p:txEl>
                                          </p:spTgt>
                                        </p:tgtEl>
                                        <p:attrNameLst>
                                          <p:attrName>style.visibility</p:attrName>
                                        </p:attrNameLst>
                                      </p:cBhvr>
                                      <p:to>
                                        <p:strVal val="visible"/>
                                      </p:to>
                                    </p:set>
                                    <p:anim calcmode="lin" valueType="num">
                                      <p:cBhvr additive="base">
                                        <p:cTn id="51" dur="500" fill="hold"/>
                                        <p:tgtEl>
                                          <p:spTgt spid="8">
                                            <p:txEl>
                                              <p:pRg st="10" end="10"/>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8">
                                            <p:txEl>
                                              <p:pRg st="10" end="10"/>
                                            </p:txEl>
                                          </p:spTgt>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8">
                                            <p:txEl>
                                              <p:pRg st="11" end="11"/>
                                            </p:txEl>
                                          </p:spTgt>
                                        </p:tgtEl>
                                        <p:attrNameLst>
                                          <p:attrName>style.visibility</p:attrName>
                                        </p:attrNameLst>
                                      </p:cBhvr>
                                      <p:to>
                                        <p:strVal val="visible"/>
                                      </p:to>
                                    </p:set>
                                    <p:anim calcmode="lin" valueType="num">
                                      <p:cBhvr additive="base">
                                        <p:cTn id="55" dur="500" fill="hold"/>
                                        <p:tgtEl>
                                          <p:spTgt spid="8">
                                            <p:txEl>
                                              <p:pRg st="11" end="11"/>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8">
                                            <p:txEl>
                                              <p:pRg st="11" end="11"/>
                                            </p:txEl>
                                          </p:spTgt>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8">
                                            <p:txEl>
                                              <p:pRg st="12" end="12"/>
                                            </p:txEl>
                                          </p:spTgt>
                                        </p:tgtEl>
                                        <p:attrNameLst>
                                          <p:attrName>style.visibility</p:attrName>
                                        </p:attrNameLst>
                                      </p:cBhvr>
                                      <p:to>
                                        <p:strVal val="visible"/>
                                      </p:to>
                                    </p:set>
                                    <p:anim calcmode="lin" valueType="num">
                                      <p:cBhvr additive="base">
                                        <p:cTn id="59" dur="500" fill="hold"/>
                                        <p:tgtEl>
                                          <p:spTgt spid="8">
                                            <p:txEl>
                                              <p:pRg st="12" end="12"/>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8">
                                            <p:txEl>
                                              <p:pRg st="12" end="12"/>
                                            </p:txEl>
                                          </p:spTgt>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8">
                                            <p:txEl>
                                              <p:pRg st="13" end="13"/>
                                            </p:txEl>
                                          </p:spTgt>
                                        </p:tgtEl>
                                        <p:attrNameLst>
                                          <p:attrName>style.visibility</p:attrName>
                                        </p:attrNameLst>
                                      </p:cBhvr>
                                      <p:to>
                                        <p:strVal val="visible"/>
                                      </p:to>
                                    </p:set>
                                    <p:anim calcmode="lin" valueType="num">
                                      <p:cBhvr additive="base">
                                        <p:cTn id="63" dur="500" fill="hold"/>
                                        <p:tgtEl>
                                          <p:spTgt spid="8">
                                            <p:txEl>
                                              <p:pRg st="13" end="13"/>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8">
                                            <p:txEl>
                                              <p:pRg st="13" end="13"/>
                                            </p:txEl>
                                          </p:spTgt>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8">
                                            <p:txEl>
                                              <p:pRg st="14" end="14"/>
                                            </p:txEl>
                                          </p:spTgt>
                                        </p:tgtEl>
                                        <p:attrNameLst>
                                          <p:attrName>style.visibility</p:attrName>
                                        </p:attrNameLst>
                                      </p:cBhvr>
                                      <p:to>
                                        <p:strVal val="visible"/>
                                      </p:to>
                                    </p:set>
                                    <p:anim calcmode="lin" valueType="num">
                                      <p:cBhvr additive="base">
                                        <p:cTn id="67" dur="500" fill="hold"/>
                                        <p:tgtEl>
                                          <p:spTgt spid="8">
                                            <p:txEl>
                                              <p:pRg st="14" end="14"/>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8">
                                            <p:txEl>
                                              <p:pRg st="14" end="14"/>
                                            </p:txEl>
                                          </p:spTgt>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8">
                                            <p:txEl>
                                              <p:pRg st="15" end="15"/>
                                            </p:txEl>
                                          </p:spTgt>
                                        </p:tgtEl>
                                        <p:attrNameLst>
                                          <p:attrName>style.visibility</p:attrName>
                                        </p:attrNameLst>
                                      </p:cBhvr>
                                      <p:to>
                                        <p:strVal val="visible"/>
                                      </p:to>
                                    </p:set>
                                    <p:anim calcmode="lin" valueType="num">
                                      <p:cBhvr additive="base">
                                        <p:cTn id="71" dur="500" fill="hold"/>
                                        <p:tgtEl>
                                          <p:spTgt spid="8">
                                            <p:txEl>
                                              <p:pRg st="15" end="15"/>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8">
                                            <p:txEl>
                                              <p:pRg st="15" end="15"/>
                                            </p:txEl>
                                          </p:spTgt>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8">
                                            <p:txEl>
                                              <p:pRg st="16" end="16"/>
                                            </p:txEl>
                                          </p:spTgt>
                                        </p:tgtEl>
                                        <p:attrNameLst>
                                          <p:attrName>style.visibility</p:attrName>
                                        </p:attrNameLst>
                                      </p:cBhvr>
                                      <p:to>
                                        <p:strVal val="visible"/>
                                      </p:to>
                                    </p:set>
                                    <p:anim calcmode="lin" valueType="num">
                                      <p:cBhvr additive="base">
                                        <p:cTn id="75" dur="500" fill="hold"/>
                                        <p:tgtEl>
                                          <p:spTgt spid="8">
                                            <p:txEl>
                                              <p:pRg st="16" end="16"/>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8">
                                            <p:txEl>
                                              <p:pRg st="16" end="16"/>
                                            </p:txEl>
                                          </p:spTgt>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8">
                                            <p:txEl>
                                              <p:pRg st="17" end="17"/>
                                            </p:txEl>
                                          </p:spTgt>
                                        </p:tgtEl>
                                        <p:attrNameLst>
                                          <p:attrName>style.visibility</p:attrName>
                                        </p:attrNameLst>
                                      </p:cBhvr>
                                      <p:to>
                                        <p:strVal val="visible"/>
                                      </p:to>
                                    </p:set>
                                    <p:anim calcmode="lin" valueType="num">
                                      <p:cBhvr additive="base">
                                        <p:cTn id="79" dur="500" fill="hold"/>
                                        <p:tgtEl>
                                          <p:spTgt spid="8">
                                            <p:txEl>
                                              <p:pRg st="17" end="17"/>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8">
                                            <p:txEl>
                                              <p:pRg st="17" end="17"/>
                                            </p:txEl>
                                          </p:spTgt>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8">
                                            <p:txEl>
                                              <p:pRg st="18" end="18"/>
                                            </p:txEl>
                                          </p:spTgt>
                                        </p:tgtEl>
                                        <p:attrNameLst>
                                          <p:attrName>style.visibility</p:attrName>
                                        </p:attrNameLst>
                                      </p:cBhvr>
                                      <p:to>
                                        <p:strVal val="visible"/>
                                      </p:to>
                                    </p:set>
                                    <p:anim calcmode="lin" valueType="num">
                                      <p:cBhvr additive="base">
                                        <p:cTn id="83" dur="500" fill="hold"/>
                                        <p:tgtEl>
                                          <p:spTgt spid="8">
                                            <p:txEl>
                                              <p:pRg st="18" end="18"/>
                                            </p:txEl>
                                          </p:spTgt>
                                        </p:tgtEl>
                                        <p:attrNameLst>
                                          <p:attrName>ppt_x</p:attrName>
                                        </p:attrNameLst>
                                      </p:cBhvr>
                                      <p:tavLst>
                                        <p:tav tm="0">
                                          <p:val>
                                            <p:strVal val="#ppt_x"/>
                                          </p:val>
                                        </p:tav>
                                        <p:tav tm="100000">
                                          <p:val>
                                            <p:strVal val="#ppt_x"/>
                                          </p:val>
                                        </p:tav>
                                      </p:tavLst>
                                    </p:anim>
                                    <p:anim calcmode="lin" valueType="num">
                                      <p:cBhvr additive="base">
                                        <p:cTn id="84" dur="500" fill="hold"/>
                                        <p:tgtEl>
                                          <p:spTgt spid="8">
                                            <p:txEl>
                                              <p:pRg st="18" end="18"/>
                                            </p:txEl>
                                          </p:spTgt>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8">
                                            <p:txEl>
                                              <p:pRg st="19" end="19"/>
                                            </p:txEl>
                                          </p:spTgt>
                                        </p:tgtEl>
                                        <p:attrNameLst>
                                          <p:attrName>style.visibility</p:attrName>
                                        </p:attrNameLst>
                                      </p:cBhvr>
                                      <p:to>
                                        <p:strVal val="visible"/>
                                      </p:to>
                                    </p:set>
                                    <p:anim calcmode="lin" valueType="num">
                                      <p:cBhvr additive="base">
                                        <p:cTn id="87" dur="500" fill="hold"/>
                                        <p:tgtEl>
                                          <p:spTgt spid="8">
                                            <p:txEl>
                                              <p:pRg st="19" end="19"/>
                                            </p:txEl>
                                          </p:spTgt>
                                        </p:tgtEl>
                                        <p:attrNameLst>
                                          <p:attrName>ppt_x</p:attrName>
                                        </p:attrNameLst>
                                      </p:cBhvr>
                                      <p:tavLst>
                                        <p:tav tm="0">
                                          <p:val>
                                            <p:strVal val="#ppt_x"/>
                                          </p:val>
                                        </p:tav>
                                        <p:tav tm="100000">
                                          <p:val>
                                            <p:strVal val="#ppt_x"/>
                                          </p:val>
                                        </p:tav>
                                      </p:tavLst>
                                    </p:anim>
                                    <p:anim calcmode="lin" valueType="num">
                                      <p:cBhvr additive="base">
                                        <p:cTn id="88" dur="500" fill="hold"/>
                                        <p:tgtEl>
                                          <p:spTgt spid="8">
                                            <p:txEl>
                                              <p:pRg st="19" end="19"/>
                                            </p:txEl>
                                          </p:spTgt>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8">
                                            <p:txEl>
                                              <p:pRg st="20" end="20"/>
                                            </p:txEl>
                                          </p:spTgt>
                                        </p:tgtEl>
                                        <p:attrNameLst>
                                          <p:attrName>style.visibility</p:attrName>
                                        </p:attrNameLst>
                                      </p:cBhvr>
                                      <p:to>
                                        <p:strVal val="visible"/>
                                      </p:to>
                                    </p:set>
                                    <p:anim calcmode="lin" valueType="num">
                                      <p:cBhvr additive="base">
                                        <p:cTn id="91" dur="500" fill="hold"/>
                                        <p:tgtEl>
                                          <p:spTgt spid="8">
                                            <p:txEl>
                                              <p:pRg st="20" end="20"/>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8">
                                            <p:txEl>
                                              <p:pRg st="20" end="2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8229600" cy="792162"/>
          </a:xfrm>
        </p:spPr>
        <p:txBody>
          <a:bodyPr/>
          <a:lstStyle/>
          <a:p>
            <a:pPr algn="ctr"/>
            <a:r>
              <a:rPr lang="en-US" dirty="0" smtClean="0"/>
              <a:t>NM Employment Industry Mix</a:t>
            </a:r>
            <a:endParaRPr lang="en-US" dirty="0"/>
          </a:p>
        </p:txBody>
      </p:sp>
      <p:graphicFrame>
        <p:nvGraphicFramePr>
          <p:cNvPr id="4" name="Chart 3"/>
          <p:cNvGraphicFramePr/>
          <p:nvPr/>
        </p:nvGraphicFramePr>
        <p:xfrm>
          <a:off x="0" y="533400"/>
          <a:ext cx="9144000" cy="60960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3505200" y="6596390"/>
            <a:ext cx="4343400" cy="261610"/>
          </a:xfrm>
          <a:prstGeom prst="rect">
            <a:avLst/>
          </a:prstGeom>
          <a:noFill/>
        </p:spPr>
        <p:txBody>
          <a:bodyPr wrap="square" rtlCol="0">
            <a:spAutoFit/>
          </a:bodyPr>
          <a:lstStyle/>
          <a:p>
            <a:r>
              <a:rPr lang="en-US" sz="1100" dirty="0" smtClean="0"/>
              <a:t>Source:  Projections unit 2010-2020, NM Dept. of Workforce Solutions</a:t>
            </a:r>
            <a:endParaRPr lang="en-US" sz="1100" dirty="0"/>
          </a:p>
        </p:txBody>
      </p:sp>
      <p:graphicFrame>
        <p:nvGraphicFramePr>
          <p:cNvPr id="5" name="Chart 4"/>
          <p:cNvGraphicFramePr/>
          <p:nvPr/>
        </p:nvGraphicFramePr>
        <p:xfrm>
          <a:off x="304800" y="609600"/>
          <a:ext cx="8534400" cy="594360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Current Employment Situation</a:t>
            </a:r>
            <a:endParaRPr lang="en-US" dirty="0"/>
          </a:p>
        </p:txBody>
      </p:sp>
      <p:sp>
        <p:nvSpPr>
          <p:cNvPr id="5" name="TextBox 4"/>
          <p:cNvSpPr txBox="1"/>
          <p:nvPr/>
        </p:nvSpPr>
        <p:spPr>
          <a:xfrm>
            <a:off x="228600" y="1143000"/>
            <a:ext cx="4335869" cy="5139869"/>
          </a:xfrm>
          <a:prstGeom prst="rect">
            <a:avLst/>
          </a:prstGeom>
          <a:noFill/>
        </p:spPr>
        <p:txBody>
          <a:bodyPr wrap="square" rtlCol="0">
            <a:spAutoFit/>
          </a:bodyPr>
          <a:lstStyle/>
          <a:p>
            <a:pPr algn="ctr"/>
            <a:r>
              <a:rPr lang="en-US" sz="2000" dirty="0" smtClean="0"/>
              <a:t>The unemployment rate for:</a:t>
            </a:r>
          </a:p>
          <a:p>
            <a:pPr algn="ctr"/>
            <a:endParaRPr lang="en-US" sz="2000" dirty="0" smtClean="0"/>
          </a:p>
          <a:p>
            <a:pPr algn="ctr"/>
            <a:r>
              <a:rPr lang="en-US" dirty="0" smtClean="0"/>
              <a:t>        September 2012      September  </a:t>
            </a:r>
            <a:r>
              <a:rPr lang="en-US" dirty="0" smtClean="0"/>
              <a:t>2011</a:t>
            </a:r>
          </a:p>
          <a:p>
            <a:pPr algn="ctr"/>
            <a:endParaRPr lang="en-US" dirty="0" smtClean="0"/>
          </a:p>
          <a:p>
            <a:pPr algn="ctr"/>
            <a:r>
              <a:rPr lang="en-US" dirty="0" smtClean="0"/>
              <a:t>The US is at   </a:t>
            </a:r>
            <a:r>
              <a:rPr lang="en-US" dirty="0" smtClean="0"/>
              <a:t>7.8 %       9.0 </a:t>
            </a:r>
            <a:r>
              <a:rPr lang="en-US" dirty="0" smtClean="0"/>
              <a:t>%</a:t>
            </a:r>
          </a:p>
          <a:p>
            <a:pPr algn="ctr"/>
            <a:endParaRPr lang="en-US" dirty="0" smtClean="0"/>
          </a:p>
          <a:p>
            <a:pPr algn="ctr"/>
            <a:r>
              <a:rPr lang="en-US" dirty="0" smtClean="0"/>
              <a:t>New Mexico   </a:t>
            </a:r>
            <a:r>
              <a:rPr lang="en-US" dirty="0" smtClean="0"/>
              <a:t>6.4 %       7.4 </a:t>
            </a:r>
            <a:r>
              <a:rPr lang="en-US" dirty="0" smtClean="0"/>
              <a:t>% </a:t>
            </a:r>
          </a:p>
          <a:p>
            <a:pPr algn="ctr"/>
            <a:endParaRPr lang="en-US" dirty="0" smtClean="0"/>
          </a:p>
          <a:p>
            <a:pPr algn="ctr"/>
            <a:r>
              <a:rPr lang="en-US" dirty="0" smtClean="0"/>
              <a:t>Albuquerque   6.6%        7.8%</a:t>
            </a:r>
            <a:endParaRPr lang="en-US" dirty="0" smtClean="0"/>
          </a:p>
          <a:p>
            <a:pPr algn="ctr"/>
            <a:endParaRPr lang="en-US" dirty="0" smtClean="0"/>
          </a:p>
          <a:p>
            <a:pPr algn="ctr"/>
            <a:r>
              <a:rPr lang="en-US" dirty="0" smtClean="0"/>
              <a:t>Farmington      6</a:t>
            </a:r>
            <a:r>
              <a:rPr lang="en-US" dirty="0" smtClean="0"/>
              <a:t>.4%       7.4%</a:t>
            </a:r>
            <a:endParaRPr lang="en-US" dirty="0" smtClean="0"/>
          </a:p>
          <a:p>
            <a:pPr algn="ctr"/>
            <a:endParaRPr lang="en-US" dirty="0" smtClean="0"/>
          </a:p>
          <a:p>
            <a:pPr algn="ctr"/>
            <a:r>
              <a:rPr lang="en-US" dirty="0" smtClean="0"/>
              <a:t>Las </a:t>
            </a:r>
            <a:r>
              <a:rPr lang="en-US" dirty="0" smtClean="0"/>
              <a:t>Cruces     6.7</a:t>
            </a:r>
            <a:r>
              <a:rPr lang="en-US" dirty="0" smtClean="0"/>
              <a:t>%        6.9%</a:t>
            </a:r>
            <a:endParaRPr lang="en-US" dirty="0" smtClean="0"/>
          </a:p>
          <a:p>
            <a:pPr algn="ctr"/>
            <a:endParaRPr lang="en-US" dirty="0" smtClean="0"/>
          </a:p>
          <a:p>
            <a:pPr algn="ctr"/>
            <a:r>
              <a:rPr lang="en-US" dirty="0" smtClean="0"/>
              <a:t>Santa </a:t>
            </a:r>
            <a:r>
              <a:rPr lang="en-US" dirty="0" smtClean="0"/>
              <a:t>Fe        5.0</a:t>
            </a:r>
            <a:r>
              <a:rPr lang="en-US" dirty="0" smtClean="0"/>
              <a:t>%        6.0%</a:t>
            </a:r>
            <a:endParaRPr lang="en-US" dirty="0" smtClean="0"/>
          </a:p>
          <a:p>
            <a:pPr algn="ctr"/>
            <a:endParaRPr lang="en-US" dirty="0" smtClean="0"/>
          </a:p>
          <a:p>
            <a:pPr algn="ctr"/>
            <a:r>
              <a:rPr lang="en-US" dirty="0" smtClean="0"/>
              <a:t>                </a:t>
            </a:r>
          </a:p>
          <a:p>
            <a:endParaRPr lang="en-US" dirty="0"/>
          </a:p>
        </p:txBody>
      </p:sp>
      <p:sp>
        <p:nvSpPr>
          <p:cNvPr id="6" name="Right Arrow 5"/>
          <p:cNvSpPr/>
          <p:nvPr/>
        </p:nvSpPr>
        <p:spPr>
          <a:xfrm flipH="1">
            <a:off x="2514600" y="1828800"/>
            <a:ext cx="152400" cy="228600"/>
          </a:xfrm>
          <a:prstGeom prst="rightArrow">
            <a:avLst/>
          </a:prstGeom>
          <a:solidFill>
            <a:srgbClr val="0099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Arrow 6"/>
          <p:cNvSpPr/>
          <p:nvPr/>
        </p:nvSpPr>
        <p:spPr>
          <a:xfrm flipH="1">
            <a:off x="2971800" y="5105400"/>
            <a:ext cx="152400" cy="228600"/>
          </a:xfrm>
          <a:prstGeom prst="rightArrow">
            <a:avLst/>
          </a:prstGeom>
          <a:solidFill>
            <a:srgbClr val="0099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p:cNvSpPr/>
          <p:nvPr/>
        </p:nvSpPr>
        <p:spPr>
          <a:xfrm flipH="1">
            <a:off x="2971800" y="4038600"/>
            <a:ext cx="152400" cy="228600"/>
          </a:xfrm>
          <a:prstGeom prst="rightArrow">
            <a:avLst/>
          </a:prstGeom>
          <a:solidFill>
            <a:srgbClr val="0099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p:cNvSpPr/>
          <p:nvPr/>
        </p:nvSpPr>
        <p:spPr>
          <a:xfrm flipH="1">
            <a:off x="2971800" y="3429000"/>
            <a:ext cx="152400" cy="228600"/>
          </a:xfrm>
          <a:prstGeom prst="rightArrow">
            <a:avLst/>
          </a:prstGeom>
          <a:solidFill>
            <a:srgbClr val="0099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Arrow 10"/>
          <p:cNvSpPr/>
          <p:nvPr/>
        </p:nvSpPr>
        <p:spPr>
          <a:xfrm flipH="1">
            <a:off x="2971800" y="2895600"/>
            <a:ext cx="152400" cy="228600"/>
          </a:xfrm>
          <a:prstGeom prst="rightArrow">
            <a:avLst/>
          </a:prstGeom>
          <a:solidFill>
            <a:srgbClr val="0099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Arrow 11"/>
          <p:cNvSpPr/>
          <p:nvPr/>
        </p:nvSpPr>
        <p:spPr>
          <a:xfrm flipH="1">
            <a:off x="2971800" y="2362200"/>
            <a:ext cx="152400" cy="228600"/>
          </a:xfrm>
          <a:prstGeom prst="rightArrow">
            <a:avLst/>
          </a:prstGeom>
          <a:solidFill>
            <a:srgbClr val="0099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Arrow 12"/>
          <p:cNvSpPr/>
          <p:nvPr/>
        </p:nvSpPr>
        <p:spPr>
          <a:xfrm flipH="1">
            <a:off x="2971800" y="4572000"/>
            <a:ext cx="152400" cy="228600"/>
          </a:xfrm>
          <a:prstGeom prst="rightArrow">
            <a:avLst/>
          </a:prstGeom>
          <a:solidFill>
            <a:srgbClr val="0099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waitingforinterview_660x480.jpg"/>
          <p:cNvPicPr>
            <a:picLocks noChangeAspect="1"/>
          </p:cNvPicPr>
          <p:nvPr/>
        </p:nvPicPr>
        <p:blipFill>
          <a:blip r:embed="rId3" cstate="print"/>
          <a:stretch>
            <a:fillRect/>
          </a:stretch>
        </p:blipFill>
        <p:spPr>
          <a:xfrm>
            <a:off x="4219575" y="2438400"/>
            <a:ext cx="4924425" cy="3581400"/>
          </a:xfrm>
          <a:prstGeom prst="rect">
            <a:avLst/>
          </a:prstGeom>
        </p:spPr>
      </p:pic>
      <p:sp>
        <p:nvSpPr>
          <p:cNvPr id="16" name="TextBox 15"/>
          <p:cNvSpPr txBox="1"/>
          <p:nvPr/>
        </p:nvSpPr>
        <p:spPr>
          <a:xfrm>
            <a:off x="5791200" y="1447800"/>
            <a:ext cx="1837362" cy="646331"/>
          </a:xfrm>
          <a:prstGeom prst="rect">
            <a:avLst/>
          </a:prstGeom>
          <a:noFill/>
        </p:spPr>
        <p:txBody>
          <a:bodyPr wrap="none" rtlCol="0">
            <a:spAutoFit/>
          </a:bodyPr>
          <a:lstStyle/>
          <a:p>
            <a:r>
              <a:rPr lang="en-US" dirty="0" smtClean="0">
                <a:solidFill>
                  <a:schemeClr val="accent6">
                    <a:lumMod val="50000"/>
                  </a:schemeClr>
                </a:solidFill>
              </a:rPr>
              <a:t>The bad news is…</a:t>
            </a:r>
          </a:p>
          <a:p>
            <a:endParaRPr lang="en-US" dirty="0"/>
          </a:p>
        </p:txBody>
      </p:sp>
      <p:sp>
        <p:nvSpPr>
          <p:cNvPr id="14" name="TextBox 13"/>
          <p:cNvSpPr txBox="1"/>
          <p:nvPr/>
        </p:nvSpPr>
        <p:spPr>
          <a:xfrm>
            <a:off x="1905000" y="6324600"/>
            <a:ext cx="1642694" cy="307777"/>
          </a:xfrm>
          <a:prstGeom prst="rect">
            <a:avLst/>
          </a:prstGeom>
          <a:noFill/>
        </p:spPr>
        <p:txBody>
          <a:bodyPr wrap="none" rtlCol="0">
            <a:spAutoFit/>
          </a:bodyPr>
          <a:lstStyle/>
          <a:p>
            <a:r>
              <a:rPr lang="en-US" sz="1400" dirty="0" smtClean="0"/>
              <a:t>Seasonally Adjusted</a:t>
            </a:r>
            <a:endParaRPr lang="en-US" sz="14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92162"/>
          </a:xfrm>
        </p:spPr>
        <p:txBody>
          <a:bodyPr/>
          <a:lstStyle/>
          <a:p>
            <a:r>
              <a:rPr lang="en-US" dirty="0" smtClean="0"/>
              <a:t>What about… </a:t>
            </a:r>
            <a:endParaRPr lang="en-US" dirty="0"/>
          </a:p>
        </p:txBody>
      </p:sp>
      <p:sp>
        <p:nvSpPr>
          <p:cNvPr id="3" name="Slide Number Placeholder 2"/>
          <p:cNvSpPr>
            <a:spLocks noGrp="1"/>
          </p:cNvSpPr>
          <p:nvPr>
            <p:ph type="sldNum" sz="quarter" idx="4294967295"/>
          </p:nvPr>
        </p:nvSpPr>
        <p:spPr>
          <a:xfrm>
            <a:off x="6553200" y="6356350"/>
            <a:ext cx="2133600" cy="365125"/>
          </a:xfrm>
          <a:prstGeom prst="rect">
            <a:avLst/>
          </a:prstGeom>
        </p:spPr>
        <p:txBody>
          <a:bodyPr/>
          <a:lstStyle/>
          <a:p>
            <a:pPr>
              <a:defRPr/>
            </a:pPr>
            <a:fld id="{7E8DF409-D00C-42D6-B5A6-E7A8C04ACE0B}" type="slidenum">
              <a:rPr lang="en-US" smtClean="0"/>
              <a:pPr>
                <a:defRPr/>
              </a:pPr>
              <a:t>9</a:t>
            </a:fld>
            <a:endParaRPr lang="en-US" dirty="0"/>
          </a:p>
        </p:txBody>
      </p:sp>
      <p:sp>
        <p:nvSpPr>
          <p:cNvPr id="5" name="TextBox 4"/>
          <p:cNvSpPr txBox="1"/>
          <p:nvPr/>
        </p:nvSpPr>
        <p:spPr>
          <a:xfrm>
            <a:off x="0" y="4419600"/>
            <a:ext cx="6705600" cy="2031325"/>
          </a:xfrm>
          <a:prstGeom prst="rect">
            <a:avLst/>
          </a:prstGeom>
          <a:noFill/>
        </p:spPr>
        <p:txBody>
          <a:bodyPr wrap="square" rtlCol="0">
            <a:spAutoFit/>
          </a:bodyPr>
          <a:lstStyle/>
          <a:p>
            <a:r>
              <a:rPr lang="en-US" sz="2400" b="1" dirty="0" smtClean="0"/>
              <a:t>Alternative Measures of Labor Underutilization U-6</a:t>
            </a:r>
          </a:p>
          <a:p>
            <a:pPr algn="ctr"/>
            <a:r>
              <a:rPr lang="en-US" sz="4000" dirty="0" smtClean="0"/>
              <a:t>NM      </a:t>
            </a:r>
            <a:r>
              <a:rPr lang="en-US" sz="4000" dirty="0" smtClean="0"/>
              <a:t>14.8%</a:t>
            </a:r>
          </a:p>
          <a:p>
            <a:pPr algn="ctr"/>
            <a:r>
              <a:rPr lang="en-US" sz="4000" dirty="0" smtClean="0"/>
              <a:t>US  	    15.0%</a:t>
            </a:r>
            <a:endParaRPr lang="en-US" sz="4000" dirty="0" smtClean="0"/>
          </a:p>
          <a:p>
            <a:pPr algn="ctr"/>
            <a:endParaRPr lang="en-US" sz="1100" dirty="0" smtClean="0"/>
          </a:p>
          <a:p>
            <a:pPr algn="ctr"/>
            <a:r>
              <a:rPr lang="en-US" sz="1100" dirty="0" smtClean="0"/>
              <a:t>Third Quarter of 2011 through </a:t>
            </a:r>
            <a:r>
              <a:rPr lang="en-US" sz="1100" dirty="0" smtClean="0"/>
              <a:t>Third</a:t>
            </a:r>
            <a:r>
              <a:rPr lang="en-US" sz="1100" dirty="0" smtClean="0"/>
              <a:t> </a:t>
            </a:r>
            <a:r>
              <a:rPr lang="en-US" sz="1100" dirty="0" smtClean="0"/>
              <a:t>Quarter of 2012 Averages. </a:t>
            </a:r>
            <a:endParaRPr lang="en-US" sz="1100" dirty="0"/>
          </a:p>
        </p:txBody>
      </p:sp>
      <p:sp>
        <p:nvSpPr>
          <p:cNvPr id="6" name="Rounded Rectangle 5"/>
          <p:cNvSpPr/>
          <p:nvPr/>
        </p:nvSpPr>
        <p:spPr>
          <a:xfrm>
            <a:off x="6400800" y="4648200"/>
            <a:ext cx="2743200" cy="2209800"/>
          </a:xfrm>
          <a:prstGeom prst="roundRect">
            <a:avLst/>
          </a:prstGeom>
          <a:ln>
            <a:solidFill>
              <a:schemeClr val="accent5">
                <a:lumMod val="60000"/>
                <a:lumOff val="40000"/>
              </a:schemeClr>
            </a:solidFill>
          </a:ln>
        </p:spPr>
        <p:style>
          <a:lnRef idx="2">
            <a:schemeClr val="accent5"/>
          </a:lnRef>
          <a:fillRef idx="1">
            <a:schemeClr val="lt1"/>
          </a:fillRef>
          <a:effectRef idx="0">
            <a:schemeClr val="accent5"/>
          </a:effectRef>
          <a:fontRef idx="minor">
            <a:schemeClr val="dk1"/>
          </a:fontRef>
        </p:style>
        <p:txBody>
          <a:bodyPr rtlCol="0" anchor="ctr"/>
          <a:lstStyle/>
          <a:p>
            <a:pPr>
              <a:lnSpc>
                <a:spcPct val="150000"/>
              </a:lnSpc>
              <a:buFont typeface="Arial" pitchFamily="34" charset="0"/>
              <a:buChar char="•"/>
            </a:pPr>
            <a:r>
              <a:rPr lang="en-US" sz="1200" dirty="0" smtClean="0"/>
              <a:t> Unemployed </a:t>
            </a:r>
          </a:p>
          <a:p>
            <a:pPr>
              <a:lnSpc>
                <a:spcPct val="150000"/>
              </a:lnSpc>
              <a:buFont typeface="Arial" pitchFamily="34" charset="0"/>
              <a:buChar char="•"/>
            </a:pPr>
            <a:r>
              <a:rPr lang="en-US" sz="1200" dirty="0" smtClean="0"/>
              <a:t> Part time for economic reasons</a:t>
            </a:r>
          </a:p>
          <a:p>
            <a:pPr>
              <a:lnSpc>
                <a:spcPct val="150000"/>
              </a:lnSpc>
              <a:buFont typeface="Arial" pitchFamily="34" charset="0"/>
              <a:buChar char="•"/>
            </a:pPr>
            <a:r>
              <a:rPr lang="en-US" sz="1200" dirty="0" smtClean="0"/>
              <a:t> Multiple Jobs holders</a:t>
            </a:r>
          </a:p>
          <a:p>
            <a:pPr>
              <a:lnSpc>
                <a:spcPct val="150000"/>
              </a:lnSpc>
              <a:buFont typeface="Arial" pitchFamily="34" charset="0"/>
              <a:buChar char="•"/>
            </a:pPr>
            <a:r>
              <a:rPr lang="en-US" sz="1200" dirty="0" smtClean="0"/>
              <a:t>Marginally attached workers</a:t>
            </a:r>
          </a:p>
          <a:p>
            <a:pPr>
              <a:lnSpc>
                <a:spcPct val="150000"/>
              </a:lnSpc>
              <a:buFont typeface="Arial" pitchFamily="34" charset="0"/>
              <a:buChar char="•"/>
            </a:pPr>
            <a:r>
              <a:rPr lang="en-US" sz="1200" dirty="0" smtClean="0"/>
              <a:t>Bureau of Labor Statistics</a:t>
            </a:r>
          </a:p>
          <a:p>
            <a:pPr>
              <a:lnSpc>
                <a:spcPct val="150000"/>
              </a:lnSpc>
              <a:buFont typeface="Arial" pitchFamily="34" charset="0"/>
              <a:buChar char="•"/>
            </a:pPr>
            <a:r>
              <a:rPr lang="en-US" sz="1200" dirty="0" smtClean="0"/>
              <a:t>4 QTR Moving Average </a:t>
            </a:r>
          </a:p>
          <a:p>
            <a:pPr>
              <a:lnSpc>
                <a:spcPct val="150000"/>
              </a:lnSpc>
              <a:buFont typeface="Arial" pitchFamily="34" charset="0"/>
              <a:buChar char="•"/>
            </a:pPr>
            <a:r>
              <a:rPr lang="en-US" sz="1200" dirty="0" smtClean="0">
                <a:hlinkClick r:id="rId3"/>
              </a:rPr>
              <a:t>http://www.bls.gov/lau/stalt.htm</a:t>
            </a:r>
            <a:endParaRPr lang="en-US" sz="1200" dirty="0" smtClean="0"/>
          </a:p>
          <a:p>
            <a:pPr algn="ctr"/>
            <a:endParaRPr lang="en-US" dirty="0"/>
          </a:p>
        </p:txBody>
      </p:sp>
      <p:graphicFrame>
        <p:nvGraphicFramePr>
          <p:cNvPr id="7" name="Diagram 6"/>
          <p:cNvGraphicFramePr/>
          <p:nvPr/>
        </p:nvGraphicFramePr>
        <p:xfrm>
          <a:off x="838200" y="609600"/>
          <a:ext cx="7010400" cy="37338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0"/>
                                        <p:tgtEl>
                                          <p:spTgt spid="5">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0"/>
                                        <p:tgtEl>
                                          <p:spTgt spid="5">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xEl>
                                              <p:pRg st="4" end="4"/>
                                            </p:txEl>
                                          </p:spTgt>
                                        </p:tgtEl>
                                        <p:attrNameLst>
                                          <p:attrName>style.visibility</p:attrName>
                                        </p:attrNameLst>
                                      </p:cBhvr>
                                      <p:to>
                                        <p:strVal val="visible"/>
                                      </p:to>
                                    </p:set>
                                    <p:animEffect transition="in" filter="fade">
                                      <p:cBhvr>
                                        <p:cTn id="16" dur="50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0"/>
            <a:ext cx="6781800" cy="792162"/>
          </a:xfrm>
        </p:spPr>
        <p:txBody>
          <a:bodyPr/>
          <a:lstStyle/>
          <a:p>
            <a:r>
              <a:rPr lang="en-US" dirty="0" smtClean="0"/>
              <a:t>Employment to Population Ratio</a:t>
            </a:r>
            <a:endParaRPr lang="en-US" dirty="0"/>
          </a:p>
        </p:txBody>
      </p:sp>
      <p:sp>
        <p:nvSpPr>
          <p:cNvPr id="4" name="TextBox 3"/>
          <p:cNvSpPr txBox="1"/>
          <p:nvPr/>
        </p:nvSpPr>
        <p:spPr>
          <a:xfrm>
            <a:off x="1752600" y="6324600"/>
            <a:ext cx="4521622" cy="276999"/>
          </a:xfrm>
          <a:prstGeom prst="rect">
            <a:avLst/>
          </a:prstGeom>
          <a:noFill/>
        </p:spPr>
        <p:txBody>
          <a:bodyPr wrap="none" rtlCol="0">
            <a:spAutoFit/>
          </a:bodyPr>
          <a:lstStyle/>
          <a:p>
            <a:r>
              <a:rPr lang="en-US" sz="1200" i="1" dirty="0" smtClean="0"/>
              <a:t>Source: Bureau of Labor Statistics Local Area Unemployment Statistics</a:t>
            </a:r>
            <a:endParaRPr lang="en-US" sz="1200" i="1" dirty="0"/>
          </a:p>
        </p:txBody>
      </p:sp>
      <p:graphicFrame>
        <p:nvGraphicFramePr>
          <p:cNvPr id="5" name="Chart 4"/>
          <p:cNvGraphicFramePr/>
          <p:nvPr/>
        </p:nvGraphicFramePr>
        <p:xfrm>
          <a:off x="0" y="762000"/>
          <a:ext cx="9144000" cy="51816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92162"/>
          </a:xfrm>
        </p:spPr>
        <p:txBody>
          <a:bodyPr/>
          <a:lstStyle/>
          <a:p>
            <a:r>
              <a:rPr lang="en-US" dirty="0" smtClean="0"/>
              <a:t>NM UI Continued Claims Duration</a:t>
            </a:r>
            <a:endParaRPr lang="en-US" dirty="0"/>
          </a:p>
        </p:txBody>
      </p:sp>
      <p:sp>
        <p:nvSpPr>
          <p:cNvPr id="7" name="TextBox 6"/>
          <p:cNvSpPr txBox="1"/>
          <p:nvPr/>
        </p:nvSpPr>
        <p:spPr>
          <a:xfrm>
            <a:off x="1905000" y="6324600"/>
            <a:ext cx="7239000" cy="369332"/>
          </a:xfrm>
          <a:prstGeom prst="rect">
            <a:avLst/>
          </a:prstGeom>
          <a:noFill/>
        </p:spPr>
        <p:txBody>
          <a:bodyPr wrap="square" rtlCol="0">
            <a:spAutoFit/>
          </a:bodyPr>
          <a:lstStyle/>
          <a:p>
            <a:r>
              <a:rPr lang="en-US" sz="1200" dirty="0" smtClean="0"/>
              <a:t>Based on UI Summary Data 1st  Qtr 2012: </a:t>
            </a:r>
            <a:r>
              <a:rPr lang="en-US" dirty="0" smtClean="0"/>
              <a:t>Average Duration 20.3 weeks in 2011</a:t>
            </a:r>
            <a:endParaRPr lang="en-US" dirty="0"/>
          </a:p>
        </p:txBody>
      </p:sp>
      <p:graphicFrame>
        <p:nvGraphicFramePr>
          <p:cNvPr id="6" name="Chart 5"/>
          <p:cNvGraphicFramePr>
            <a:graphicFrameLocks noGrp="1"/>
          </p:cNvGraphicFramePr>
          <p:nvPr/>
        </p:nvGraphicFramePr>
        <p:xfrm>
          <a:off x="381000" y="838200"/>
          <a:ext cx="8534400" cy="54102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763000" cy="944562"/>
          </a:xfrm>
        </p:spPr>
        <p:txBody>
          <a:bodyPr/>
          <a:lstStyle/>
          <a:p>
            <a:pPr algn="ctr"/>
            <a:r>
              <a:rPr lang="en-US" dirty="0" smtClean="0"/>
              <a:t>US Unemployment Rates for </a:t>
            </a:r>
            <a:br>
              <a:rPr lang="en-US" dirty="0" smtClean="0"/>
            </a:br>
            <a:r>
              <a:rPr lang="en-US" dirty="0" smtClean="0"/>
              <a:t>Men and Women</a:t>
            </a:r>
            <a:endParaRPr lang="en-US" dirty="0"/>
          </a:p>
        </p:txBody>
      </p:sp>
      <p:graphicFrame>
        <p:nvGraphicFramePr>
          <p:cNvPr id="3" name="Chart 2"/>
          <p:cNvGraphicFramePr/>
          <p:nvPr/>
        </p:nvGraphicFramePr>
        <p:xfrm>
          <a:off x="76200" y="1676400"/>
          <a:ext cx="906780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p:cNvSpPr txBox="1"/>
          <p:nvPr/>
        </p:nvSpPr>
        <p:spPr>
          <a:xfrm>
            <a:off x="1676400" y="6400800"/>
            <a:ext cx="4154407" cy="276999"/>
          </a:xfrm>
          <a:prstGeom prst="rect">
            <a:avLst/>
          </a:prstGeom>
          <a:noFill/>
        </p:spPr>
        <p:txBody>
          <a:bodyPr wrap="none" rtlCol="0">
            <a:spAutoFit/>
          </a:bodyPr>
          <a:lstStyle/>
          <a:p>
            <a:r>
              <a:rPr lang="en-US" sz="1200" i="1" dirty="0" smtClean="0"/>
              <a:t>Source: US Bureau of Labor Statistics, Current Population Survey</a:t>
            </a:r>
            <a:endParaRPr lang="en-US" sz="1200" i="1"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92162"/>
          </a:xfrm>
        </p:spPr>
        <p:txBody>
          <a:bodyPr/>
          <a:lstStyle/>
          <a:p>
            <a:r>
              <a:rPr lang="en-US" b="0" dirty="0" smtClean="0"/>
              <a:t>New Mexico Unemployment Rate by Age</a:t>
            </a:r>
            <a:endParaRPr lang="en-US" dirty="0"/>
          </a:p>
        </p:txBody>
      </p:sp>
      <p:sp>
        <p:nvSpPr>
          <p:cNvPr id="4" name="TextBox 3"/>
          <p:cNvSpPr txBox="1"/>
          <p:nvPr/>
        </p:nvSpPr>
        <p:spPr>
          <a:xfrm>
            <a:off x="3352800" y="990600"/>
            <a:ext cx="2291076" cy="369332"/>
          </a:xfrm>
          <a:prstGeom prst="rect">
            <a:avLst/>
          </a:prstGeom>
          <a:noFill/>
        </p:spPr>
        <p:txBody>
          <a:bodyPr wrap="none" rtlCol="0">
            <a:spAutoFit/>
          </a:bodyPr>
          <a:lstStyle/>
          <a:p>
            <a:r>
              <a:rPr lang="en-US" dirty="0" smtClean="0"/>
              <a:t>2011 annual averages</a:t>
            </a:r>
            <a:endParaRPr lang="en-US" dirty="0"/>
          </a:p>
        </p:txBody>
      </p:sp>
      <p:graphicFrame>
        <p:nvGraphicFramePr>
          <p:cNvPr id="5" name="Chart 4"/>
          <p:cNvGraphicFramePr/>
          <p:nvPr/>
        </p:nvGraphicFramePr>
        <p:xfrm>
          <a:off x="533400" y="990600"/>
          <a:ext cx="8305800" cy="50292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1752600" y="6400800"/>
            <a:ext cx="5450403" cy="307777"/>
          </a:xfrm>
          <a:prstGeom prst="rect">
            <a:avLst/>
          </a:prstGeom>
          <a:noFill/>
        </p:spPr>
        <p:txBody>
          <a:bodyPr wrap="none" rtlCol="0">
            <a:spAutoFit/>
          </a:bodyPr>
          <a:lstStyle/>
          <a:p>
            <a:r>
              <a:rPr lang="en-US" sz="1400" i="1" dirty="0" smtClean="0"/>
              <a:t>Source: Census Geographic Profile of Employment and Unemployment</a:t>
            </a:r>
            <a:endParaRPr lang="en-US" sz="1400" i="1" dirty="0"/>
          </a:p>
        </p:txBody>
      </p:sp>
      <p:pic>
        <p:nvPicPr>
          <p:cNvPr id="7" name="Picture 6" descr="youthJobless.jpg"/>
          <p:cNvPicPr>
            <a:picLocks noChangeAspect="1"/>
          </p:cNvPicPr>
          <p:nvPr/>
        </p:nvPicPr>
        <p:blipFill>
          <a:blip r:embed="rId4" cstate="print"/>
          <a:stretch>
            <a:fillRect/>
          </a:stretch>
        </p:blipFill>
        <p:spPr>
          <a:xfrm>
            <a:off x="5715000" y="838200"/>
            <a:ext cx="3124200" cy="3124200"/>
          </a:xfrm>
          <a:prstGeom prst="rect">
            <a:avLst/>
          </a:prstGeom>
          <a:noFill/>
          <a:ln>
            <a:noFill/>
          </a:ln>
        </p:spPr>
      </p:pic>
      <p:sp>
        <p:nvSpPr>
          <p:cNvPr id="8" name="TextBox 7"/>
          <p:cNvSpPr txBox="1"/>
          <p:nvPr/>
        </p:nvSpPr>
        <p:spPr>
          <a:xfrm>
            <a:off x="5410200" y="990600"/>
            <a:ext cx="641522" cy="369332"/>
          </a:xfrm>
          <a:prstGeom prst="rect">
            <a:avLst/>
          </a:prstGeom>
          <a:noFill/>
        </p:spPr>
        <p:txBody>
          <a:bodyPr wrap="none" rtlCol="0">
            <a:spAutoFit/>
          </a:bodyPr>
          <a:lstStyle/>
          <a:p>
            <a:r>
              <a:rPr lang="en-US" dirty="0" smtClean="0"/>
              <a:t>7.4%</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New Mexico </a:t>
            </a:r>
            <a:r>
              <a:rPr lang="en-US" dirty="0" smtClean="0"/>
              <a:t>2011 </a:t>
            </a:r>
            <a:r>
              <a:rPr lang="en-US" dirty="0" smtClean="0"/>
              <a:t>Unemployment Rate</a:t>
            </a:r>
            <a:endParaRPr lang="en-US" dirty="0"/>
          </a:p>
        </p:txBody>
      </p:sp>
      <p:graphicFrame>
        <p:nvGraphicFramePr>
          <p:cNvPr id="3" name="Chart 2"/>
          <p:cNvGraphicFramePr/>
          <p:nvPr/>
        </p:nvGraphicFramePr>
        <p:xfrm>
          <a:off x="228600" y="990600"/>
          <a:ext cx="8534400" cy="495300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p:cNvSpPr txBox="1"/>
          <p:nvPr/>
        </p:nvSpPr>
        <p:spPr>
          <a:xfrm>
            <a:off x="1828800" y="6248400"/>
            <a:ext cx="6875408" cy="307777"/>
          </a:xfrm>
          <a:prstGeom prst="rect">
            <a:avLst/>
          </a:prstGeom>
          <a:noFill/>
        </p:spPr>
        <p:txBody>
          <a:bodyPr wrap="none" rtlCol="0">
            <a:spAutoFit/>
          </a:bodyPr>
          <a:lstStyle/>
          <a:p>
            <a:r>
              <a:rPr lang="en-US" sz="1400" i="1" dirty="0" smtClean="0"/>
              <a:t>Source: </a:t>
            </a:r>
            <a:r>
              <a:rPr lang="en-US" sz="1400" i="1" dirty="0" smtClean="0"/>
              <a:t>2011 </a:t>
            </a:r>
            <a:r>
              <a:rPr lang="en-US" sz="1400" i="1" dirty="0" smtClean="0"/>
              <a:t>American Community Survey 1-Year Estimates, Table S2301 Employment Status</a:t>
            </a:r>
            <a:endParaRPr lang="en-US" sz="1400" i="1"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10600" cy="792162"/>
          </a:xfrm>
        </p:spPr>
        <p:txBody>
          <a:bodyPr/>
          <a:lstStyle/>
          <a:p>
            <a:r>
              <a:rPr lang="en-US" sz="3200" dirty="0" smtClean="0"/>
              <a:t>County Unemployment Rates </a:t>
            </a:r>
            <a:r>
              <a:rPr lang="en-US" sz="3200" dirty="0" smtClean="0"/>
              <a:t>September </a:t>
            </a:r>
            <a:r>
              <a:rPr lang="en-US" sz="3200" dirty="0" smtClean="0"/>
              <a:t>2012 </a:t>
            </a:r>
            <a:endParaRPr lang="en-US" sz="3200" dirty="0"/>
          </a:p>
        </p:txBody>
      </p:sp>
      <p:sp>
        <p:nvSpPr>
          <p:cNvPr id="4" name="TextBox 3"/>
          <p:cNvSpPr txBox="1"/>
          <p:nvPr/>
        </p:nvSpPr>
        <p:spPr>
          <a:xfrm>
            <a:off x="3429000" y="2819400"/>
            <a:ext cx="476412" cy="369332"/>
          </a:xfrm>
          <a:prstGeom prst="rect">
            <a:avLst/>
          </a:prstGeom>
          <a:noFill/>
        </p:spPr>
        <p:txBody>
          <a:bodyPr wrap="none" rtlCol="0">
            <a:spAutoFit/>
          </a:bodyPr>
          <a:lstStyle/>
          <a:p>
            <a:r>
              <a:rPr lang="en-US" dirty="0" smtClean="0">
                <a:solidFill>
                  <a:schemeClr val="bg1"/>
                </a:solidFill>
              </a:rPr>
              <a:t>6.5</a:t>
            </a:r>
            <a:endParaRPr lang="en-US" dirty="0">
              <a:solidFill>
                <a:schemeClr val="bg1"/>
              </a:solidFill>
            </a:endParaRPr>
          </a:p>
        </p:txBody>
      </p:sp>
      <p:sp>
        <p:nvSpPr>
          <p:cNvPr id="5" name="TextBox 4"/>
          <p:cNvSpPr txBox="1"/>
          <p:nvPr/>
        </p:nvSpPr>
        <p:spPr>
          <a:xfrm>
            <a:off x="2590800" y="2895600"/>
            <a:ext cx="476412" cy="369332"/>
          </a:xfrm>
          <a:prstGeom prst="rect">
            <a:avLst/>
          </a:prstGeom>
          <a:noFill/>
        </p:spPr>
        <p:txBody>
          <a:bodyPr wrap="none" rtlCol="0">
            <a:spAutoFit/>
          </a:bodyPr>
          <a:lstStyle/>
          <a:p>
            <a:r>
              <a:rPr lang="en-US" dirty="0" smtClean="0">
                <a:solidFill>
                  <a:schemeClr val="bg1"/>
                </a:solidFill>
              </a:rPr>
              <a:t>7.8</a:t>
            </a:r>
            <a:endParaRPr lang="en-US" dirty="0">
              <a:solidFill>
                <a:schemeClr val="bg1"/>
              </a:solidFill>
            </a:endParaRPr>
          </a:p>
        </p:txBody>
      </p:sp>
      <p:sp>
        <p:nvSpPr>
          <p:cNvPr id="6" name="TextBox 5"/>
          <p:cNvSpPr txBox="1"/>
          <p:nvPr/>
        </p:nvSpPr>
        <p:spPr>
          <a:xfrm>
            <a:off x="5029200" y="4267200"/>
            <a:ext cx="476412" cy="369332"/>
          </a:xfrm>
          <a:prstGeom prst="rect">
            <a:avLst/>
          </a:prstGeom>
          <a:noFill/>
        </p:spPr>
        <p:txBody>
          <a:bodyPr wrap="none" rtlCol="0">
            <a:spAutoFit/>
          </a:bodyPr>
          <a:lstStyle/>
          <a:p>
            <a:r>
              <a:rPr lang="en-US" dirty="0" smtClean="0">
                <a:solidFill>
                  <a:schemeClr val="bg1"/>
                </a:solidFill>
              </a:rPr>
              <a:t>6.2</a:t>
            </a:r>
            <a:endParaRPr lang="en-US" dirty="0">
              <a:solidFill>
                <a:schemeClr val="bg1"/>
              </a:solidFill>
            </a:endParaRPr>
          </a:p>
        </p:txBody>
      </p:sp>
      <p:sp>
        <p:nvSpPr>
          <p:cNvPr id="7" name="TextBox 6"/>
          <p:cNvSpPr txBox="1"/>
          <p:nvPr/>
        </p:nvSpPr>
        <p:spPr>
          <a:xfrm>
            <a:off x="2133600" y="3733800"/>
            <a:ext cx="476412" cy="369332"/>
          </a:xfrm>
          <a:prstGeom prst="rect">
            <a:avLst/>
          </a:prstGeom>
          <a:noFill/>
        </p:spPr>
        <p:txBody>
          <a:bodyPr wrap="none" rtlCol="0">
            <a:spAutoFit/>
          </a:bodyPr>
          <a:lstStyle/>
          <a:p>
            <a:r>
              <a:rPr lang="en-US" dirty="0" smtClean="0">
                <a:solidFill>
                  <a:schemeClr val="bg1"/>
                </a:solidFill>
              </a:rPr>
              <a:t>6.0</a:t>
            </a:r>
            <a:endParaRPr lang="en-US" dirty="0">
              <a:solidFill>
                <a:schemeClr val="bg1"/>
              </a:solidFill>
            </a:endParaRPr>
          </a:p>
        </p:txBody>
      </p:sp>
      <p:sp>
        <p:nvSpPr>
          <p:cNvPr id="8" name="TextBox 7"/>
          <p:cNvSpPr txBox="1"/>
          <p:nvPr/>
        </p:nvSpPr>
        <p:spPr>
          <a:xfrm>
            <a:off x="4724400" y="1447800"/>
            <a:ext cx="476412" cy="369332"/>
          </a:xfrm>
          <a:prstGeom prst="rect">
            <a:avLst/>
          </a:prstGeom>
          <a:noFill/>
        </p:spPr>
        <p:txBody>
          <a:bodyPr wrap="none" rtlCol="0">
            <a:spAutoFit/>
          </a:bodyPr>
          <a:lstStyle/>
          <a:p>
            <a:r>
              <a:rPr lang="en-US" dirty="0" smtClean="0">
                <a:solidFill>
                  <a:schemeClr val="bg1"/>
                </a:solidFill>
              </a:rPr>
              <a:t>7.4</a:t>
            </a:r>
            <a:endParaRPr lang="en-US" dirty="0">
              <a:solidFill>
                <a:schemeClr val="bg1"/>
              </a:solidFill>
            </a:endParaRPr>
          </a:p>
        </p:txBody>
      </p:sp>
      <p:sp>
        <p:nvSpPr>
          <p:cNvPr id="9" name="TextBox 8"/>
          <p:cNvSpPr txBox="1"/>
          <p:nvPr/>
        </p:nvSpPr>
        <p:spPr>
          <a:xfrm>
            <a:off x="5562600" y="3200400"/>
            <a:ext cx="476412" cy="369332"/>
          </a:xfrm>
          <a:prstGeom prst="rect">
            <a:avLst/>
          </a:prstGeom>
          <a:noFill/>
        </p:spPr>
        <p:txBody>
          <a:bodyPr wrap="none" rtlCol="0">
            <a:spAutoFit/>
          </a:bodyPr>
          <a:lstStyle/>
          <a:p>
            <a:r>
              <a:rPr lang="en-US" dirty="0" smtClean="0">
                <a:solidFill>
                  <a:schemeClr val="bg1"/>
                </a:solidFill>
              </a:rPr>
              <a:t>4.4</a:t>
            </a:r>
            <a:endParaRPr lang="en-US" dirty="0">
              <a:solidFill>
                <a:schemeClr val="bg1"/>
              </a:solidFill>
            </a:endParaRPr>
          </a:p>
        </p:txBody>
      </p:sp>
      <p:sp>
        <p:nvSpPr>
          <p:cNvPr id="10" name="TextBox 9"/>
          <p:cNvSpPr txBox="1"/>
          <p:nvPr/>
        </p:nvSpPr>
        <p:spPr>
          <a:xfrm>
            <a:off x="4876800" y="3429000"/>
            <a:ext cx="476412" cy="369332"/>
          </a:xfrm>
          <a:prstGeom prst="rect">
            <a:avLst/>
          </a:prstGeom>
          <a:noFill/>
        </p:spPr>
        <p:txBody>
          <a:bodyPr wrap="none" rtlCol="0">
            <a:spAutoFit/>
          </a:bodyPr>
          <a:lstStyle/>
          <a:p>
            <a:r>
              <a:rPr lang="en-US" dirty="0" smtClean="0">
                <a:solidFill>
                  <a:schemeClr val="bg1"/>
                </a:solidFill>
              </a:rPr>
              <a:t>4.2</a:t>
            </a:r>
            <a:endParaRPr lang="en-US" dirty="0">
              <a:solidFill>
                <a:schemeClr val="bg1"/>
              </a:solidFill>
            </a:endParaRPr>
          </a:p>
        </p:txBody>
      </p:sp>
      <p:sp>
        <p:nvSpPr>
          <p:cNvPr id="11" name="TextBox 10"/>
          <p:cNvSpPr txBox="1"/>
          <p:nvPr/>
        </p:nvSpPr>
        <p:spPr>
          <a:xfrm>
            <a:off x="3200400" y="5105400"/>
            <a:ext cx="476412" cy="369332"/>
          </a:xfrm>
          <a:prstGeom prst="rect">
            <a:avLst/>
          </a:prstGeom>
          <a:noFill/>
        </p:spPr>
        <p:txBody>
          <a:bodyPr wrap="none" rtlCol="0">
            <a:spAutoFit/>
          </a:bodyPr>
          <a:lstStyle/>
          <a:p>
            <a:r>
              <a:rPr lang="en-US" dirty="0" smtClean="0">
                <a:solidFill>
                  <a:schemeClr val="bg1"/>
                </a:solidFill>
              </a:rPr>
              <a:t>6.6</a:t>
            </a:r>
            <a:endParaRPr lang="en-US" dirty="0">
              <a:solidFill>
                <a:schemeClr val="bg1"/>
              </a:solidFill>
            </a:endParaRPr>
          </a:p>
        </p:txBody>
      </p:sp>
      <p:sp>
        <p:nvSpPr>
          <p:cNvPr id="12" name="TextBox 11"/>
          <p:cNvSpPr txBox="1"/>
          <p:nvPr/>
        </p:nvSpPr>
        <p:spPr>
          <a:xfrm>
            <a:off x="5029200" y="5181600"/>
            <a:ext cx="476412" cy="369332"/>
          </a:xfrm>
          <a:prstGeom prst="rect">
            <a:avLst/>
          </a:prstGeom>
          <a:noFill/>
        </p:spPr>
        <p:txBody>
          <a:bodyPr wrap="none" rtlCol="0">
            <a:spAutoFit/>
          </a:bodyPr>
          <a:lstStyle/>
          <a:p>
            <a:r>
              <a:rPr lang="en-US" dirty="0" smtClean="0">
                <a:solidFill>
                  <a:schemeClr val="bg1"/>
                </a:solidFill>
              </a:rPr>
              <a:t>4.0</a:t>
            </a:r>
            <a:endParaRPr lang="en-US" dirty="0">
              <a:solidFill>
                <a:schemeClr val="bg1"/>
              </a:solidFill>
            </a:endParaRPr>
          </a:p>
        </p:txBody>
      </p:sp>
      <p:sp>
        <p:nvSpPr>
          <p:cNvPr id="13" name="TextBox 12"/>
          <p:cNvSpPr txBox="1"/>
          <p:nvPr/>
        </p:nvSpPr>
        <p:spPr>
          <a:xfrm>
            <a:off x="2133600" y="4648200"/>
            <a:ext cx="476412" cy="369332"/>
          </a:xfrm>
          <a:prstGeom prst="rect">
            <a:avLst/>
          </a:prstGeom>
          <a:noFill/>
        </p:spPr>
        <p:txBody>
          <a:bodyPr wrap="none" rtlCol="0">
            <a:spAutoFit/>
          </a:bodyPr>
          <a:lstStyle/>
          <a:p>
            <a:r>
              <a:rPr lang="en-US" dirty="0" smtClean="0">
                <a:solidFill>
                  <a:schemeClr val="bg1"/>
                </a:solidFill>
              </a:rPr>
              <a:t>7.1</a:t>
            </a:r>
            <a:endParaRPr lang="en-US" dirty="0">
              <a:solidFill>
                <a:schemeClr val="bg1"/>
              </a:solidFill>
            </a:endParaRPr>
          </a:p>
        </p:txBody>
      </p:sp>
      <p:sp>
        <p:nvSpPr>
          <p:cNvPr id="14" name="TextBox 13"/>
          <p:cNvSpPr txBox="1"/>
          <p:nvPr/>
        </p:nvSpPr>
        <p:spPr>
          <a:xfrm>
            <a:off x="4648200" y="2895600"/>
            <a:ext cx="476412" cy="369332"/>
          </a:xfrm>
          <a:prstGeom prst="rect">
            <a:avLst/>
          </a:prstGeom>
          <a:noFill/>
        </p:spPr>
        <p:txBody>
          <a:bodyPr wrap="none" rtlCol="0">
            <a:spAutoFit/>
          </a:bodyPr>
          <a:lstStyle/>
          <a:p>
            <a:r>
              <a:rPr lang="en-US" dirty="0" smtClean="0">
                <a:solidFill>
                  <a:schemeClr val="bg1"/>
                </a:solidFill>
              </a:rPr>
              <a:t>8.9</a:t>
            </a:r>
            <a:endParaRPr lang="en-US" dirty="0">
              <a:solidFill>
                <a:schemeClr val="bg1"/>
              </a:solidFill>
            </a:endParaRPr>
          </a:p>
        </p:txBody>
      </p:sp>
      <p:sp>
        <p:nvSpPr>
          <p:cNvPr id="15" name="TextBox 14"/>
          <p:cNvSpPr txBox="1"/>
          <p:nvPr/>
        </p:nvSpPr>
        <p:spPr>
          <a:xfrm>
            <a:off x="5334000" y="2133600"/>
            <a:ext cx="476412" cy="369332"/>
          </a:xfrm>
          <a:prstGeom prst="rect">
            <a:avLst/>
          </a:prstGeom>
          <a:noFill/>
        </p:spPr>
        <p:txBody>
          <a:bodyPr wrap="none" rtlCol="0">
            <a:spAutoFit/>
          </a:bodyPr>
          <a:lstStyle/>
          <a:p>
            <a:r>
              <a:rPr lang="en-US" dirty="0" smtClean="0">
                <a:solidFill>
                  <a:schemeClr val="bg1"/>
                </a:solidFill>
              </a:rPr>
              <a:t>3.8</a:t>
            </a:r>
            <a:endParaRPr lang="en-US" dirty="0">
              <a:solidFill>
                <a:schemeClr val="bg1"/>
              </a:solidFill>
            </a:endParaRPr>
          </a:p>
        </p:txBody>
      </p:sp>
      <p:sp>
        <p:nvSpPr>
          <p:cNvPr id="16" name="TextBox 15"/>
          <p:cNvSpPr txBox="1"/>
          <p:nvPr/>
        </p:nvSpPr>
        <p:spPr>
          <a:xfrm>
            <a:off x="5638800" y="4800600"/>
            <a:ext cx="476412" cy="369332"/>
          </a:xfrm>
          <a:prstGeom prst="rect">
            <a:avLst/>
          </a:prstGeom>
          <a:noFill/>
        </p:spPr>
        <p:txBody>
          <a:bodyPr wrap="none" rtlCol="0">
            <a:spAutoFit/>
          </a:bodyPr>
          <a:lstStyle/>
          <a:p>
            <a:r>
              <a:rPr lang="en-US" dirty="0" smtClean="0">
                <a:solidFill>
                  <a:schemeClr val="bg1"/>
                </a:solidFill>
              </a:rPr>
              <a:t>4.2</a:t>
            </a:r>
            <a:endParaRPr lang="en-US" dirty="0">
              <a:solidFill>
                <a:schemeClr val="bg1"/>
              </a:solidFill>
            </a:endParaRPr>
          </a:p>
        </p:txBody>
      </p:sp>
      <p:sp>
        <p:nvSpPr>
          <p:cNvPr id="17" name="TextBox 16"/>
          <p:cNvSpPr txBox="1"/>
          <p:nvPr/>
        </p:nvSpPr>
        <p:spPr>
          <a:xfrm>
            <a:off x="4191000" y="3962400"/>
            <a:ext cx="476412" cy="369332"/>
          </a:xfrm>
          <a:prstGeom prst="rect">
            <a:avLst/>
          </a:prstGeom>
          <a:noFill/>
        </p:spPr>
        <p:txBody>
          <a:bodyPr wrap="none" rtlCol="0">
            <a:spAutoFit/>
          </a:bodyPr>
          <a:lstStyle/>
          <a:p>
            <a:r>
              <a:rPr lang="en-US" dirty="0" smtClean="0">
                <a:solidFill>
                  <a:schemeClr val="bg1"/>
                </a:solidFill>
              </a:rPr>
              <a:t>5.3</a:t>
            </a:r>
            <a:endParaRPr lang="en-US" dirty="0">
              <a:solidFill>
                <a:schemeClr val="bg1"/>
              </a:solidFill>
            </a:endParaRPr>
          </a:p>
        </p:txBody>
      </p:sp>
      <p:sp>
        <p:nvSpPr>
          <p:cNvPr id="18" name="TextBox 17"/>
          <p:cNvSpPr txBox="1"/>
          <p:nvPr/>
        </p:nvSpPr>
        <p:spPr>
          <a:xfrm>
            <a:off x="3657600" y="2057400"/>
            <a:ext cx="476412" cy="369332"/>
          </a:xfrm>
          <a:prstGeom prst="rect">
            <a:avLst/>
          </a:prstGeom>
          <a:noFill/>
        </p:spPr>
        <p:txBody>
          <a:bodyPr wrap="none" rtlCol="0">
            <a:spAutoFit/>
          </a:bodyPr>
          <a:lstStyle/>
          <a:p>
            <a:r>
              <a:rPr lang="en-US" dirty="0" smtClean="0">
                <a:solidFill>
                  <a:schemeClr val="bg1"/>
                </a:solidFill>
              </a:rPr>
              <a:t>3.1</a:t>
            </a:r>
            <a:endParaRPr lang="en-US" dirty="0">
              <a:solidFill>
                <a:schemeClr val="bg1"/>
              </a:solidFill>
            </a:endParaRPr>
          </a:p>
        </p:txBody>
      </p:sp>
      <p:sp>
        <p:nvSpPr>
          <p:cNvPr id="19" name="TextBox 18"/>
          <p:cNvSpPr txBox="1"/>
          <p:nvPr/>
        </p:nvSpPr>
        <p:spPr>
          <a:xfrm>
            <a:off x="2514600" y="5257800"/>
            <a:ext cx="593432" cy="369332"/>
          </a:xfrm>
          <a:prstGeom prst="rect">
            <a:avLst/>
          </a:prstGeom>
          <a:noFill/>
        </p:spPr>
        <p:txBody>
          <a:bodyPr wrap="none" rtlCol="0">
            <a:spAutoFit/>
          </a:bodyPr>
          <a:lstStyle/>
          <a:p>
            <a:r>
              <a:rPr lang="en-US" dirty="0" smtClean="0">
                <a:solidFill>
                  <a:schemeClr val="bg1"/>
                </a:solidFill>
              </a:rPr>
              <a:t>16.9</a:t>
            </a:r>
            <a:endParaRPr lang="en-US" dirty="0">
              <a:solidFill>
                <a:schemeClr val="bg1"/>
              </a:solidFill>
            </a:endParaRPr>
          </a:p>
        </p:txBody>
      </p:sp>
      <p:sp>
        <p:nvSpPr>
          <p:cNvPr id="20" name="TextBox 19"/>
          <p:cNvSpPr txBox="1"/>
          <p:nvPr/>
        </p:nvSpPr>
        <p:spPr>
          <a:xfrm>
            <a:off x="2209800" y="2286000"/>
            <a:ext cx="476412" cy="369332"/>
          </a:xfrm>
          <a:prstGeom prst="rect">
            <a:avLst/>
          </a:prstGeom>
          <a:noFill/>
        </p:spPr>
        <p:txBody>
          <a:bodyPr wrap="none" rtlCol="0">
            <a:spAutoFit/>
          </a:bodyPr>
          <a:lstStyle/>
          <a:p>
            <a:r>
              <a:rPr lang="en-US" dirty="0" smtClean="0">
                <a:solidFill>
                  <a:schemeClr val="bg1"/>
                </a:solidFill>
              </a:rPr>
              <a:t>7.9</a:t>
            </a:r>
            <a:endParaRPr lang="en-US" dirty="0">
              <a:solidFill>
                <a:schemeClr val="bg1"/>
              </a:solidFill>
            </a:endParaRPr>
          </a:p>
        </p:txBody>
      </p:sp>
      <p:sp>
        <p:nvSpPr>
          <p:cNvPr id="21" name="TextBox 20"/>
          <p:cNvSpPr txBox="1"/>
          <p:nvPr/>
        </p:nvSpPr>
        <p:spPr>
          <a:xfrm>
            <a:off x="4495800" y="2057400"/>
            <a:ext cx="593432" cy="369332"/>
          </a:xfrm>
          <a:prstGeom prst="rect">
            <a:avLst/>
          </a:prstGeom>
          <a:noFill/>
        </p:spPr>
        <p:txBody>
          <a:bodyPr wrap="none" rtlCol="0">
            <a:spAutoFit/>
          </a:bodyPr>
          <a:lstStyle/>
          <a:p>
            <a:r>
              <a:rPr lang="en-US" dirty="0" smtClean="0">
                <a:solidFill>
                  <a:schemeClr val="bg1"/>
                </a:solidFill>
              </a:rPr>
              <a:t>13.6</a:t>
            </a:r>
            <a:endParaRPr lang="en-US" dirty="0">
              <a:solidFill>
                <a:schemeClr val="bg1"/>
              </a:solidFill>
            </a:endParaRPr>
          </a:p>
        </p:txBody>
      </p:sp>
      <p:sp>
        <p:nvSpPr>
          <p:cNvPr id="22" name="TextBox 21"/>
          <p:cNvSpPr txBox="1"/>
          <p:nvPr/>
        </p:nvSpPr>
        <p:spPr>
          <a:xfrm>
            <a:off x="3886200" y="4800600"/>
            <a:ext cx="476412" cy="369332"/>
          </a:xfrm>
          <a:prstGeom prst="rect">
            <a:avLst/>
          </a:prstGeom>
          <a:noFill/>
        </p:spPr>
        <p:txBody>
          <a:bodyPr wrap="none" rtlCol="0">
            <a:spAutoFit/>
          </a:bodyPr>
          <a:lstStyle/>
          <a:p>
            <a:r>
              <a:rPr lang="en-US" dirty="0" smtClean="0">
                <a:solidFill>
                  <a:schemeClr val="bg1"/>
                </a:solidFill>
              </a:rPr>
              <a:t>5.8</a:t>
            </a:r>
            <a:endParaRPr lang="en-US" dirty="0">
              <a:solidFill>
                <a:schemeClr val="bg1"/>
              </a:solidFill>
            </a:endParaRPr>
          </a:p>
        </p:txBody>
      </p:sp>
      <p:sp>
        <p:nvSpPr>
          <p:cNvPr id="23" name="TextBox 22"/>
          <p:cNvSpPr txBox="1"/>
          <p:nvPr/>
        </p:nvSpPr>
        <p:spPr>
          <a:xfrm>
            <a:off x="5486400" y="2743200"/>
            <a:ext cx="476412" cy="369332"/>
          </a:xfrm>
          <a:prstGeom prst="rect">
            <a:avLst/>
          </a:prstGeom>
          <a:noFill/>
        </p:spPr>
        <p:txBody>
          <a:bodyPr wrap="none" rtlCol="0">
            <a:spAutoFit/>
          </a:bodyPr>
          <a:lstStyle/>
          <a:p>
            <a:r>
              <a:rPr lang="en-US" dirty="0" smtClean="0">
                <a:solidFill>
                  <a:schemeClr val="bg1"/>
                </a:solidFill>
              </a:rPr>
              <a:t>7.1</a:t>
            </a:r>
            <a:endParaRPr lang="en-US" dirty="0">
              <a:solidFill>
                <a:schemeClr val="bg1"/>
              </a:solidFill>
            </a:endParaRPr>
          </a:p>
        </p:txBody>
      </p:sp>
      <p:sp>
        <p:nvSpPr>
          <p:cNvPr id="24" name="TextBox 23"/>
          <p:cNvSpPr txBox="1"/>
          <p:nvPr/>
        </p:nvSpPr>
        <p:spPr>
          <a:xfrm>
            <a:off x="3352800" y="1447800"/>
            <a:ext cx="476412" cy="369332"/>
          </a:xfrm>
          <a:prstGeom prst="rect">
            <a:avLst/>
          </a:prstGeom>
          <a:noFill/>
        </p:spPr>
        <p:txBody>
          <a:bodyPr wrap="none" rtlCol="0">
            <a:spAutoFit/>
          </a:bodyPr>
          <a:lstStyle/>
          <a:p>
            <a:r>
              <a:rPr lang="en-US" dirty="0" smtClean="0">
                <a:solidFill>
                  <a:schemeClr val="bg1"/>
                </a:solidFill>
              </a:rPr>
              <a:t>7.2</a:t>
            </a:r>
            <a:endParaRPr lang="en-US" dirty="0">
              <a:solidFill>
                <a:schemeClr val="bg1"/>
              </a:solidFill>
            </a:endParaRPr>
          </a:p>
        </p:txBody>
      </p:sp>
      <p:sp>
        <p:nvSpPr>
          <p:cNvPr id="25" name="TextBox 24"/>
          <p:cNvSpPr txBox="1"/>
          <p:nvPr/>
        </p:nvSpPr>
        <p:spPr>
          <a:xfrm>
            <a:off x="5562600" y="3657600"/>
            <a:ext cx="476412" cy="369332"/>
          </a:xfrm>
          <a:prstGeom prst="rect">
            <a:avLst/>
          </a:prstGeom>
          <a:noFill/>
        </p:spPr>
        <p:txBody>
          <a:bodyPr wrap="none" rtlCol="0">
            <a:spAutoFit/>
          </a:bodyPr>
          <a:lstStyle/>
          <a:p>
            <a:r>
              <a:rPr lang="en-US" dirty="0" smtClean="0">
                <a:solidFill>
                  <a:schemeClr val="bg1"/>
                </a:solidFill>
              </a:rPr>
              <a:t>4.4</a:t>
            </a:r>
            <a:endParaRPr lang="en-US" dirty="0">
              <a:solidFill>
                <a:schemeClr val="bg1"/>
              </a:solidFill>
            </a:endParaRPr>
          </a:p>
        </p:txBody>
      </p:sp>
      <p:sp>
        <p:nvSpPr>
          <p:cNvPr id="26" name="TextBox 25"/>
          <p:cNvSpPr txBox="1"/>
          <p:nvPr/>
        </p:nvSpPr>
        <p:spPr>
          <a:xfrm>
            <a:off x="2209800" y="1524000"/>
            <a:ext cx="476412" cy="369332"/>
          </a:xfrm>
          <a:prstGeom prst="rect">
            <a:avLst/>
          </a:prstGeom>
          <a:noFill/>
        </p:spPr>
        <p:txBody>
          <a:bodyPr wrap="none" rtlCol="0">
            <a:spAutoFit/>
          </a:bodyPr>
          <a:lstStyle/>
          <a:p>
            <a:r>
              <a:rPr lang="en-US" dirty="0" smtClean="0">
                <a:solidFill>
                  <a:schemeClr val="bg1"/>
                </a:solidFill>
              </a:rPr>
              <a:t>6.5</a:t>
            </a:r>
            <a:endParaRPr lang="en-US" dirty="0">
              <a:solidFill>
                <a:schemeClr val="bg1"/>
              </a:solidFill>
            </a:endParaRPr>
          </a:p>
        </p:txBody>
      </p:sp>
      <p:sp>
        <p:nvSpPr>
          <p:cNvPr id="27" name="TextBox 26"/>
          <p:cNvSpPr txBox="1"/>
          <p:nvPr/>
        </p:nvSpPr>
        <p:spPr>
          <a:xfrm>
            <a:off x="4648200" y="2438400"/>
            <a:ext cx="476412" cy="369332"/>
          </a:xfrm>
          <a:prstGeom prst="rect">
            <a:avLst/>
          </a:prstGeom>
          <a:noFill/>
        </p:spPr>
        <p:txBody>
          <a:bodyPr wrap="none" rtlCol="0">
            <a:spAutoFit/>
          </a:bodyPr>
          <a:lstStyle/>
          <a:p>
            <a:r>
              <a:rPr lang="en-US" dirty="0" smtClean="0">
                <a:solidFill>
                  <a:schemeClr val="bg1"/>
                </a:solidFill>
              </a:rPr>
              <a:t>6.7</a:t>
            </a:r>
            <a:endParaRPr lang="en-US" dirty="0">
              <a:solidFill>
                <a:schemeClr val="bg1"/>
              </a:solidFill>
            </a:endParaRPr>
          </a:p>
        </p:txBody>
      </p:sp>
      <p:sp>
        <p:nvSpPr>
          <p:cNvPr id="29" name="TextBox 28"/>
          <p:cNvSpPr txBox="1"/>
          <p:nvPr/>
        </p:nvSpPr>
        <p:spPr>
          <a:xfrm>
            <a:off x="3810000" y="2590800"/>
            <a:ext cx="476412" cy="369332"/>
          </a:xfrm>
          <a:prstGeom prst="rect">
            <a:avLst/>
          </a:prstGeom>
          <a:noFill/>
        </p:spPr>
        <p:txBody>
          <a:bodyPr wrap="none" rtlCol="0">
            <a:spAutoFit/>
          </a:bodyPr>
          <a:lstStyle/>
          <a:p>
            <a:r>
              <a:rPr lang="en-US" dirty="0" smtClean="0">
                <a:solidFill>
                  <a:schemeClr val="bg1"/>
                </a:solidFill>
              </a:rPr>
              <a:t>5.2</a:t>
            </a:r>
            <a:endParaRPr lang="en-US" dirty="0">
              <a:solidFill>
                <a:schemeClr val="bg1"/>
              </a:solidFill>
            </a:endParaRPr>
          </a:p>
        </p:txBody>
      </p:sp>
      <p:sp>
        <p:nvSpPr>
          <p:cNvPr id="30" name="TextBox 29"/>
          <p:cNvSpPr txBox="1"/>
          <p:nvPr/>
        </p:nvSpPr>
        <p:spPr>
          <a:xfrm>
            <a:off x="2971800" y="4495800"/>
            <a:ext cx="476412" cy="369332"/>
          </a:xfrm>
          <a:prstGeom prst="rect">
            <a:avLst/>
          </a:prstGeom>
          <a:noFill/>
        </p:spPr>
        <p:txBody>
          <a:bodyPr wrap="none" rtlCol="0">
            <a:spAutoFit/>
          </a:bodyPr>
          <a:lstStyle/>
          <a:p>
            <a:r>
              <a:rPr lang="en-US" dirty="0" smtClean="0">
                <a:solidFill>
                  <a:schemeClr val="bg1"/>
                </a:solidFill>
              </a:rPr>
              <a:t>6.1</a:t>
            </a:r>
            <a:endParaRPr lang="en-US" dirty="0">
              <a:solidFill>
                <a:schemeClr val="bg1"/>
              </a:solidFill>
            </a:endParaRPr>
          </a:p>
        </p:txBody>
      </p:sp>
      <p:sp>
        <p:nvSpPr>
          <p:cNvPr id="31" name="TextBox 30"/>
          <p:cNvSpPr txBox="1"/>
          <p:nvPr/>
        </p:nvSpPr>
        <p:spPr>
          <a:xfrm>
            <a:off x="3200400" y="3810000"/>
            <a:ext cx="476412" cy="369332"/>
          </a:xfrm>
          <a:prstGeom prst="rect">
            <a:avLst/>
          </a:prstGeom>
          <a:noFill/>
        </p:spPr>
        <p:txBody>
          <a:bodyPr wrap="none" rtlCol="0">
            <a:spAutoFit/>
          </a:bodyPr>
          <a:lstStyle/>
          <a:p>
            <a:r>
              <a:rPr lang="en-US" dirty="0" smtClean="0">
                <a:solidFill>
                  <a:schemeClr val="bg1"/>
                </a:solidFill>
              </a:rPr>
              <a:t>4.8</a:t>
            </a:r>
            <a:endParaRPr lang="en-US" dirty="0">
              <a:solidFill>
                <a:schemeClr val="bg1"/>
              </a:solidFill>
            </a:endParaRPr>
          </a:p>
        </p:txBody>
      </p:sp>
      <p:sp>
        <p:nvSpPr>
          <p:cNvPr id="32" name="TextBox 31"/>
          <p:cNvSpPr txBox="1"/>
          <p:nvPr/>
        </p:nvSpPr>
        <p:spPr>
          <a:xfrm>
            <a:off x="4038600" y="1600200"/>
            <a:ext cx="476412" cy="369332"/>
          </a:xfrm>
          <a:prstGeom prst="rect">
            <a:avLst/>
          </a:prstGeom>
          <a:noFill/>
        </p:spPr>
        <p:txBody>
          <a:bodyPr wrap="none" rtlCol="0">
            <a:spAutoFit/>
          </a:bodyPr>
          <a:lstStyle/>
          <a:p>
            <a:r>
              <a:rPr lang="en-US" dirty="0" smtClean="0">
                <a:solidFill>
                  <a:schemeClr val="bg1"/>
                </a:solidFill>
              </a:rPr>
              <a:t>7.9</a:t>
            </a:r>
            <a:endParaRPr lang="en-US" dirty="0">
              <a:solidFill>
                <a:schemeClr val="bg1"/>
              </a:solidFill>
            </a:endParaRPr>
          </a:p>
        </p:txBody>
      </p:sp>
      <p:sp>
        <p:nvSpPr>
          <p:cNvPr id="33" name="TextBox 32"/>
          <p:cNvSpPr txBox="1"/>
          <p:nvPr/>
        </p:nvSpPr>
        <p:spPr>
          <a:xfrm>
            <a:off x="3962400" y="3352800"/>
            <a:ext cx="476412" cy="369332"/>
          </a:xfrm>
          <a:prstGeom prst="rect">
            <a:avLst/>
          </a:prstGeom>
          <a:noFill/>
        </p:spPr>
        <p:txBody>
          <a:bodyPr wrap="none" rtlCol="0">
            <a:spAutoFit/>
          </a:bodyPr>
          <a:lstStyle/>
          <a:p>
            <a:r>
              <a:rPr lang="en-US" dirty="0" smtClean="0">
                <a:solidFill>
                  <a:schemeClr val="bg1"/>
                </a:solidFill>
              </a:rPr>
              <a:t>7.9</a:t>
            </a:r>
            <a:endParaRPr lang="en-US" dirty="0">
              <a:solidFill>
                <a:schemeClr val="bg1"/>
              </a:solidFill>
            </a:endParaRPr>
          </a:p>
        </p:txBody>
      </p:sp>
      <p:sp>
        <p:nvSpPr>
          <p:cNvPr id="34" name="TextBox 33"/>
          <p:cNvSpPr txBox="1"/>
          <p:nvPr/>
        </p:nvSpPr>
        <p:spPr>
          <a:xfrm>
            <a:off x="5486400" y="1524000"/>
            <a:ext cx="476412" cy="369332"/>
          </a:xfrm>
          <a:prstGeom prst="rect">
            <a:avLst/>
          </a:prstGeom>
          <a:noFill/>
        </p:spPr>
        <p:txBody>
          <a:bodyPr wrap="none" rtlCol="0">
            <a:spAutoFit/>
          </a:bodyPr>
          <a:lstStyle/>
          <a:p>
            <a:r>
              <a:rPr lang="en-US" dirty="0" smtClean="0">
                <a:solidFill>
                  <a:schemeClr val="bg1"/>
                </a:solidFill>
              </a:rPr>
              <a:t>4.3</a:t>
            </a:r>
            <a:endParaRPr lang="en-US" dirty="0">
              <a:solidFill>
                <a:schemeClr val="bg1"/>
              </a:solidFill>
            </a:endParaRPr>
          </a:p>
        </p:txBody>
      </p:sp>
      <p:sp>
        <p:nvSpPr>
          <p:cNvPr id="35" name="TextBox 34"/>
          <p:cNvSpPr txBox="1"/>
          <p:nvPr/>
        </p:nvSpPr>
        <p:spPr>
          <a:xfrm>
            <a:off x="3276600" y="3124200"/>
            <a:ext cx="476412" cy="369332"/>
          </a:xfrm>
          <a:prstGeom prst="rect">
            <a:avLst/>
          </a:prstGeom>
          <a:noFill/>
        </p:spPr>
        <p:txBody>
          <a:bodyPr wrap="none" rtlCol="0">
            <a:spAutoFit/>
          </a:bodyPr>
          <a:lstStyle/>
          <a:p>
            <a:r>
              <a:rPr lang="en-US" dirty="0" smtClean="0">
                <a:solidFill>
                  <a:schemeClr val="bg1"/>
                </a:solidFill>
              </a:rPr>
              <a:t>7.8</a:t>
            </a:r>
            <a:endParaRPr lang="en-US" dirty="0">
              <a:solidFill>
                <a:schemeClr val="bg1"/>
              </a:solidFill>
            </a:endParaRPr>
          </a:p>
        </p:txBody>
      </p:sp>
      <p:sp>
        <p:nvSpPr>
          <p:cNvPr id="36" name="TextBox 35"/>
          <p:cNvSpPr txBox="1"/>
          <p:nvPr/>
        </p:nvSpPr>
        <p:spPr>
          <a:xfrm>
            <a:off x="1981200" y="5715000"/>
            <a:ext cx="476412" cy="369332"/>
          </a:xfrm>
          <a:prstGeom prst="rect">
            <a:avLst/>
          </a:prstGeom>
          <a:noFill/>
        </p:spPr>
        <p:txBody>
          <a:bodyPr wrap="none" rtlCol="0">
            <a:spAutoFit/>
          </a:bodyPr>
          <a:lstStyle/>
          <a:p>
            <a:r>
              <a:rPr lang="en-US" dirty="0" smtClean="0">
                <a:solidFill>
                  <a:schemeClr val="bg1"/>
                </a:solidFill>
              </a:rPr>
              <a:t>5.4</a:t>
            </a:r>
            <a:endParaRPr lang="en-US" dirty="0">
              <a:solidFill>
                <a:schemeClr val="bg1"/>
              </a:solidFill>
            </a:endParaRPr>
          </a:p>
        </p:txBody>
      </p:sp>
      <p:sp>
        <p:nvSpPr>
          <p:cNvPr id="38" name="TextBox 37"/>
          <p:cNvSpPr txBox="1"/>
          <p:nvPr/>
        </p:nvSpPr>
        <p:spPr>
          <a:xfrm>
            <a:off x="3048000" y="2895600"/>
            <a:ext cx="476412" cy="369332"/>
          </a:xfrm>
          <a:prstGeom prst="rect">
            <a:avLst/>
          </a:prstGeom>
          <a:noFill/>
        </p:spPr>
        <p:txBody>
          <a:bodyPr wrap="none" rtlCol="0">
            <a:spAutoFit/>
          </a:bodyPr>
          <a:lstStyle/>
          <a:p>
            <a:r>
              <a:rPr lang="en-US" dirty="0" smtClean="0">
                <a:solidFill>
                  <a:schemeClr val="bg1"/>
                </a:solidFill>
              </a:rPr>
              <a:t>7.2</a:t>
            </a:r>
            <a:endParaRPr lang="en-US" dirty="0">
              <a:solidFill>
                <a:schemeClr val="bg1"/>
              </a:solidFill>
            </a:endParaRPr>
          </a:p>
        </p:txBody>
      </p:sp>
      <p:sp>
        <p:nvSpPr>
          <p:cNvPr id="39" name="TextBox 38"/>
          <p:cNvSpPr txBox="1"/>
          <p:nvPr/>
        </p:nvSpPr>
        <p:spPr>
          <a:xfrm>
            <a:off x="1676400" y="3733800"/>
            <a:ext cx="476412" cy="369332"/>
          </a:xfrm>
          <a:prstGeom prst="rect">
            <a:avLst/>
          </a:prstGeom>
          <a:noFill/>
        </p:spPr>
        <p:txBody>
          <a:bodyPr wrap="none" rtlCol="0">
            <a:spAutoFit/>
          </a:bodyPr>
          <a:lstStyle/>
          <a:p>
            <a:r>
              <a:rPr lang="en-US" dirty="0" smtClean="0">
                <a:solidFill>
                  <a:schemeClr val="bg1"/>
                </a:solidFill>
              </a:rPr>
              <a:t>8.2</a:t>
            </a:r>
            <a:endParaRPr lang="en-US" dirty="0">
              <a:solidFill>
                <a:schemeClr val="bg1"/>
              </a:solidFill>
            </a:endParaRPr>
          </a:p>
        </p:txBody>
      </p:sp>
      <p:sp>
        <p:nvSpPr>
          <p:cNvPr id="40" name="TextBox 39"/>
          <p:cNvSpPr txBox="1"/>
          <p:nvPr/>
        </p:nvSpPr>
        <p:spPr>
          <a:xfrm>
            <a:off x="4724400" y="4343400"/>
            <a:ext cx="476412" cy="369332"/>
          </a:xfrm>
          <a:prstGeom prst="rect">
            <a:avLst/>
          </a:prstGeom>
          <a:noFill/>
        </p:spPr>
        <p:txBody>
          <a:bodyPr wrap="none" rtlCol="0">
            <a:spAutoFit/>
          </a:bodyPr>
          <a:lstStyle/>
          <a:p>
            <a:r>
              <a:rPr lang="en-US" dirty="0" smtClean="0">
                <a:solidFill>
                  <a:schemeClr val="bg1"/>
                </a:solidFill>
              </a:rPr>
              <a:t>6.6</a:t>
            </a:r>
            <a:endParaRPr lang="en-US" dirty="0">
              <a:solidFill>
                <a:schemeClr val="bg1"/>
              </a:solidFill>
            </a:endParaRPr>
          </a:p>
        </p:txBody>
      </p:sp>
      <p:sp>
        <p:nvSpPr>
          <p:cNvPr id="41" name="TextBox 40"/>
          <p:cNvSpPr txBox="1"/>
          <p:nvPr/>
        </p:nvSpPr>
        <p:spPr>
          <a:xfrm>
            <a:off x="2133600" y="2971800"/>
            <a:ext cx="476412" cy="369332"/>
          </a:xfrm>
          <a:prstGeom prst="rect">
            <a:avLst/>
          </a:prstGeom>
          <a:noFill/>
        </p:spPr>
        <p:txBody>
          <a:bodyPr wrap="none" rtlCol="0">
            <a:spAutoFit/>
          </a:bodyPr>
          <a:lstStyle/>
          <a:p>
            <a:r>
              <a:rPr lang="en-US" dirty="0" smtClean="0">
                <a:solidFill>
                  <a:schemeClr val="bg1"/>
                </a:solidFill>
              </a:rPr>
              <a:t>6.2</a:t>
            </a:r>
            <a:endParaRPr lang="en-US" dirty="0">
              <a:solidFill>
                <a:schemeClr val="bg1"/>
              </a:solidFill>
            </a:endParaRPr>
          </a:p>
        </p:txBody>
      </p:sp>
      <p:sp>
        <p:nvSpPr>
          <p:cNvPr id="42" name="TextBox 41"/>
          <p:cNvSpPr txBox="1"/>
          <p:nvPr/>
        </p:nvSpPr>
        <p:spPr>
          <a:xfrm>
            <a:off x="4419600" y="1600200"/>
            <a:ext cx="476412" cy="369332"/>
          </a:xfrm>
          <a:prstGeom prst="rect">
            <a:avLst/>
          </a:prstGeom>
          <a:noFill/>
        </p:spPr>
        <p:txBody>
          <a:bodyPr wrap="none" rtlCol="0">
            <a:spAutoFit/>
          </a:bodyPr>
          <a:lstStyle/>
          <a:p>
            <a:r>
              <a:rPr lang="en-US" dirty="0" smtClean="0">
                <a:solidFill>
                  <a:schemeClr val="bg1"/>
                </a:solidFill>
              </a:rPr>
              <a:t>7.8</a:t>
            </a:r>
            <a:endParaRPr lang="en-US" dirty="0">
              <a:solidFill>
                <a:schemeClr val="bg1"/>
              </a:solidFill>
            </a:endParaRPr>
          </a:p>
        </p:txBody>
      </p:sp>
      <p:sp>
        <p:nvSpPr>
          <p:cNvPr id="43" name="TextBox 42"/>
          <p:cNvSpPr txBox="1"/>
          <p:nvPr/>
        </p:nvSpPr>
        <p:spPr>
          <a:xfrm>
            <a:off x="5410200" y="3276600"/>
            <a:ext cx="609600" cy="369332"/>
          </a:xfrm>
          <a:prstGeom prst="rect">
            <a:avLst/>
          </a:prstGeom>
          <a:noFill/>
        </p:spPr>
        <p:txBody>
          <a:bodyPr wrap="square" rtlCol="0">
            <a:spAutoFit/>
          </a:bodyPr>
          <a:lstStyle/>
          <a:p>
            <a:r>
              <a:rPr lang="en-US" dirty="0" smtClean="0">
                <a:solidFill>
                  <a:schemeClr val="bg1"/>
                </a:solidFill>
              </a:rPr>
              <a:t>4.6</a:t>
            </a:r>
            <a:endParaRPr lang="en-US" dirty="0">
              <a:solidFill>
                <a:schemeClr val="bg1"/>
              </a:solidFill>
            </a:endParaRPr>
          </a:p>
        </p:txBody>
      </p:sp>
      <p:sp>
        <p:nvSpPr>
          <p:cNvPr id="44" name="TextBox 43"/>
          <p:cNvSpPr txBox="1"/>
          <p:nvPr/>
        </p:nvSpPr>
        <p:spPr>
          <a:xfrm>
            <a:off x="4648200" y="3505200"/>
            <a:ext cx="476412" cy="369332"/>
          </a:xfrm>
          <a:prstGeom prst="rect">
            <a:avLst/>
          </a:prstGeom>
          <a:noFill/>
        </p:spPr>
        <p:txBody>
          <a:bodyPr wrap="none" rtlCol="0">
            <a:spAutoFit/>
          </a:bodyPr>
          <a:lstStyle/>
          <a:p>
            <a:r>
              <a:rPr lang="en-US" dirty="0" smtClean="0">
                <a:solidFill>
                  <a:schemeClr val="bg1"/>
                </a:solidFill>
              </a:rPr>
              <a:t>3.8</a:t>
            </a:r>
            <a:endParaRPr lang="en-US" dirty="0">
              <a:solidFill>
                <a:schemeClr val="bg1"/>
              </a:solidFill>
            </a:endParaRPr>
          </a:p>
        </p:txBody>
      </p:sp>
      <p:sp>
        <p:nvSpPr>
          <p:cNvPr id="45" name="TextBox 44"/>
          <p:cNvSpPr txBox="1"/>
          <p:nvPr/>
        </p:nvSpPr>
        <p:spPr>
          <a:xfrm>
            <a:off x="2971800" y="5257800"/>
            <a:ext cx="476412" cy="369332"/>
          </a:xfrm>
          <a:prstGeom prst="rect">
            <a:avLst/>
          </a:prstGeom>
          <a:noFill/>
        </p:spPr>
        <p:txBody>
          <a:bodyPr wrap="none" rtlCol="0">
            <a:spAutoFit/>
          </a:bodyPr>
          <a:lstStyle/>
          <a:p>
            <a:r>
              <a:rPr lang="en-US" dirty="0" smtClean="0">
                <a:solidFill>
                  <a:schemeClr val="bg1"/>
                </a:solidFill>
              </a:rPr>
              <a:t>7.2</a:t>
            </a:r>
            <a:endParaRPr lang="en-US" dirty="0">
              <a:solidFill>
                <a:schemeClr val="bg1"/>
              </a:solidFill>
            </a:endParaRPr>
          </a:p>
        </p:txBody>
      </p:sp>
      <p:sp>
        <p:nvSpPr>
          <p:cNvPr id="46" name="TextBox 45"/>
          <p:cNvSpPr txBox="1"/>
          <p:nvPr/>
        </p:nvSpPr>
        <p:spPr>
          <a:xfrm>
            <a:off x="4724400" y="5257800"/>
            <a:ext cx="476412" cy="369332"/>
          </a:xfrm>
          <a:prstGeom prst="rect">
            <a:avLst/>
          </a:prstGeom>
          <a:noFill/>
        </p:spPr>
        <p:txBody>
          <a:bodyPr wrap="none" rtlCol="0">
            <a:spAutoFit/>
          </a:bodyPr>
          <a:lstStyle/>
          <a:p>
            <a:r>
              <a:rPr lang="en-US" dirty="0" smtClean="0">
                <a:solidFill>
                  <a:schemeClr val="bg1"/>
                </a:solidFill>
              </a:rPr>
              <a:t>4.1</a:t>
            </a:r>
            <a:endParaRPr lang="en-US" dirty="0">
              <a:solidFill>
                <a:schemeClr val="bg1"/>
              </a:solidFill>
            </a:endParaRPr>
          </a:p>
        </p:txBody>
      </p:sp>
      <p:sp>
        <p:nvSpPr>
          <p:cNvPr id="47" name="TextBox 46"/>
          <p:cNvSpPr txBox="1"/>
          <p:nvPr/>
        </p:nvSpPr>
        <p:spPr>
          <a:xfrm>
            <a:off x="1752600" y="4876800"/>
            <a:ext cx="476412" cy="369332"/>
          </a:xfrm>
          <a:prstGeom prst="rect">
            <a:avLst/>
          </a:prstGeom>
          <a:noFill/>
        </p:spPr>
        <p:txBody>
          <a:bodyPr wrap="none" rtlCol="0">
            <a:spAutoFit/>
          </a:bodyPr>
          <a:lstStyle/>
          <a:p>
            <a:r>
              <a:rPr lang="en-US" dirty="0" smtClean="0">
                <a:solidFill>
                  <a:schemeClr val="bg1"/>
                </a:solidFill>
              </a:rPr>
              <a:t>7.2</a:t>
            </a:r>
            <a:endParaRPr lang="en-US" dirty="0">
              <a:solidFill>
                <a:schemeClr val="bg1"/>
              </a:solidFill>
            </a:endParaRPr>
          </a:p>
        </p:txBody>
      </p:sp>
      <p:sp>
        <p:nvSpPr>
          <p:cNvPr id="48" name="TextBox 47"/>
          <p:cNvSpPr txBox="1"/>
          <p:nvPr/>
        </p:nvSpPr>
        <p:spPr>
          <a:xfrm>
            <a:off x="4343400" y="3048000"/>
            <a:ext cx="593432" cy="369332"/>
          </a:xfrm>
          <a:prstGeom prst="rect">
            <a:avLst/>
          </a:prstGeom>
          <a:noFill/>
        </p:spPr>
        <p:txBody>
          <a:bodyPr wrap="none" rtlCol="0">
            <a:spAutoFit/>
          </a:bodyPr>
          <a:lstStyle/>
          <a:p>
            <a:r>
              <a:rPr lang="en-US" dirty="0" smtClean="0">
                <a:solidFill>
                  <a:schemeClr val="bg1"/>
                </a:solidFill>
              </a:rPr>
              <a:t>11.2</a:t>
            </a:r>
            <a:endParaRPr lang="en-US" dirty="0">
              <a:solidFill>
                <a:schemeClr val="bg1"/>
              </a:solidFill>
            </a:endParaRPr>
          </a:p>
        </p:txBody>
      </p:sp>
      <p:sp>
        <p:nvSpPr>
          <p:cNvPr id="49" name="TextBox 48"/>
          <p:cNvSpPr txBox="1"/>
          <p:nvPr/>
        </p:nvSpPr>
        <p:spPr>
          <a:xfrm>
            <a:off x="5105400" y="2209800"/>
            <a:ext cx="609600" cy="369332"/>
          </a:xfrm>
          <a:prstGeom prst="rect">
            <a:avLst/>
          </a:prstGeom>
          <a:noFill/>
        </p:spPr>
        <p:txBody>
          <a:bodyPr wrap="square" rtlCol="0">
            <a:spAutoFit/>
          </a:bodyPr>
          <a:lstStyle/>
          <a:p>
            <a:r>
              <a:rPr lang="en-US" dirty="0" smtClean="0">
                <a:solidFill>
                  <a:schemeClr val="bg1"/>
                </a:solidFill>
              </a:rPr>
              <a:t>4.2</a:t>
            </a:r>
            <a:endParaRPr lang="en-US" dirty="0">
              <a:solidFill>
                <a:schemeClr val="bg1"/>
              </a:solidFill>
            </a:endParaRPr>
          </a:p>
        </p:txBody>
      </p:sp>
      <p:sp>
        <p:nvSpPr>
          <p:cNvPr id="50" name="TextBox 49"/>
          <p:cNvSpPr txBox="1"/>
          <p:nvPr/>
        </p:nvSpPr>
        <p:spPr>
          <a:xfrm>
            <a:off x="1524000" y="5867400"/>
            <a:ext cx="476412" cy="369332"/>
          </a:xfrm>
          <a:prstGeom prst="rect">
            <a:avLst/>
          </a:prstGeom>
          <a:noFill/>
        </p:spPr>
        <p:txBody>
          <a:bodyPr wrap="none" rtlCol="0">
            <a:spAutoFit/>
          </a:bodyPr>
          <a:lstStyle/>
          <a:p>
            <a:r>
              <a:rPr lang="en-US" dirty="0" smtClean="0">
                <a:solidFill>
                  <a:schemeClr val="bg1"/>
                </a:solidFill>
              </a:rPr>
              <a:t>5.9</a:t>
            </a:r>
            <a:endParaRPr lang="en-US" dirty="0">
              <a:solidFill>
                <a:schemeClr val="bg1"/>
              </a:solidFill>
            </a:endParaRPr>
          </a:p>
        </p:txBody>
      </p:sp>
      <p:sp>
        <p:nvSpPr>
          <p:cNvPr id="51" name="TextBox 50"/>
          <p:cNvSpPr txBox="1"/>
          <p:nvPr/>
        </p:nvSpPr>
        <p:spPr>
          <a:xfrm>
            <a:off x="5410200" y="5029200"/>
            <a:ext cx="476412" cy="369332"/>
          </a:xfrm>
          <a:prstGeom prst="rect">
            <a:avLst/>
          </a:prstGeom>
          <a:noFill/>
        </p:spPr>
        <p:txBody>
          <a:bodyPr wrap="none" rtlCol="0">
            <a:spAutoFit/>
          </a:bodyPr>
          <a:lstStyle/>
          <a:p>
            <a:r>
              <a:rPr lang="en-US" dirty="0" smtClean="0">
                <a:solidFill>
                  <a:schemeClr val="bg1"/>
                </a:solidFill>
              </a:rPr>
              <a:t>4.3</a:t>
            </a:r>
            <a:endParaRPr lang="en-US" dirty="0">
              <a:solidFill>
                <a:schemeClr val="bg1"/>
              </a:solidFill>
            </a:endParaRPr>
          </a:p>
        </p:txBody>
      </p:sp>
      <p:sp>
        <p:nvSpPr>
          <p:cNvPr id="52" name="TextBox 51"/>
          <p:cNvSpPr txBox="1"/>
          <p:nvPr/>
        </p:nvSpPr>
        <p:spPr>
          <a:xfrm>
            <a:off x="3962400" y="4191000"/>
            <a:ext cx="476412" cy="369332"/>
          </a:xfrm>
          <a:prstGeom prst="rect">
            <a:avLst/>
          </a:prstGeom>
          <a:noFill/>
        </p:spPr>
        <p:txBody>
          <a:bodyPr wrap="none" rtlCol="0">
            <a:spAutoFit/>
          </a:bodyPr>
          <a:lstStyle/>
          <a:p>
            <a:r>
              <a:rPr lang="en-US" dirty="0" smtClean="0">
                <a:solidFill>
                  <a:schemeClr val="bg1"/>
                </a:solidFill>
              </a:rPr>
              <a:t>5.5</a:t>
            </a:r>
            <a:endParaRPr lang="en-US" dirty="0">
              <a:solidFill>
                <a:schemeClr val="bg1"/>
              </a:solidFill>
            </a:endParaRPr>
          </a:p>
        </p:txBody>
      </p:sp>
      <p:sp>
        <p:nvSpPr>
          <p:cNvPr id="53" name="TextBox 52"/>
          <p:cNvSpPr txBox="1"/>
          <p:nvPr/>
        </p:nvSpPr>
        <p:spPr>
          <a:xfrm>
            <a:off x="3276600" y="2209800"/>
            <a:ext cx="476412" cy="369332"/>
          </a:xfrm>
          <a:prstGeom prst="rect">
            <a:avLst/>
          </a:prstGeom>
          <a:noFill/>
        </p:spPr>
        <p:txBody>
          <a:bodyPr wrap="none" rtlCol="0">
            <a:spAutoFit/>
          </a:bodyPr>
          <a:lstStyle/>
          <a:p>
            <a:r>
              <a:rPr lang="en-US" dirty="0" smtClean="0">
                <a:solidFill>
                  <a:schemeClr val="bg1"/>
                </a:solidFill>
              </a:rPr>
              <a:t>3.1</a:t>
            </a:r>
            <a:endParaRPr lang="en-US" dirty="0">
              <a:solidFill>
                <a:schemeClr val="bg1"/>
              </a:solidFill>
            </a:endParaRPr>
          </a:p>
        </p:txBody>
      </p:sp>
      <p:sp>
        <p:nvSpPr>
          <p:cNvPr id="54" name="TextBox 53"/>
          <p:cNvSpPr txBox="1"/>
          <p:nvPr/>
        </p:nvSpPr>
        <p:spPr>
          <a:xfrm>
            <a:off x="2133600" y="5410200"/>
            <a:ext cx="593432" cy="369332"/>
          </a:xfrm>
          <a:prstGeom prst="rect">
            <a:avLst/>
          </a:prstGeom>
          <a:noFill/>
        </p:spPr>
        <p:txBody>
          <a:bodyPr wrap="none" rtlCol="0">
            <a:spAutoFit/>
          </a:bodyPr>
          <a:lstStyle/>
          <a:p>
            <a:r>
              <a:rPr lang="en-US" dirty="0" smtClean="0">
                <a:solidFill>
                  <a:schemeClr val="bg1"/>
                </a:solidFill>
              </a:rPr>
              <a:t>19.9</a:t>
            </a:r>
            <a:endParaRPr lang="en-US" dirty="0">
              <a:solidFill>
                <a:schemeClr val="bg1"/>
              </a:solidFill>
            </a:endParaRPr>
          </a:p>
        </p:txBody>
      </p:sp>
      <p:sp>
        <p:nvSpPr>
          <p:cNvPr id="55" name="TextBox 54"/>
          <p:cNvSpPr txBox="1"/>
          <p:nvPr/>
        </p:nvSpPr>
        <p:spPr>
          <a:xfrm>
            <a:off x="1905000" y="2362200"/>
            <a:ext cx="476412" cy="369332"/>
          </a:xfrm>
          <a:prstGeom prst="rect">
            <a:avLst/>
          </a:prstGeom>
          <a:noFill/>
        </p:spPr>
        <p:txBody>
          <a:bodyPr wrap="none" rtlCol="0">
            <a:spAutoFit/>
          </a:bodyPr>
          <a:lstStyle/>
          <a:p>
            <a:r>
              <a:rPr lang="en-US" dirty="0" smtClean="0">
                <a:solidFill>
                  <a:schemeClr val="bg1"/>
                </a:solidFill>
              </a:rPr>
              <a:t>8.7</a:t>
            </a:r>
            <a:endParaRPr lang="en-US" dirty="0">
              <a:solidFill>
                <a:schemeClr val="bg1"/>
              </a:solidFill>
            </a:endParaRPr>
          </a:p>
        </p:txBody>
      </p:sp>
      <p:sp>
        <p:nvSpPr>
          <p:cNvPr id="56" name="TextBox 55"/>
          <p:cNvSpPr txBox="1"/>
          <p:nvPr/>
        </p:nvSpPr>
        <p:spPr>
          <a:xfrm>
            <a:off x="4191000" y="2133600"/>
            <a:ext cx="593432" cy="369332"/>
          </a:xfrm>
          <a:prstGeom prst="rect">
            <a:avLst/>
          </a:prstGeom>
          <a:noFill/>
        </p:spPr>
        <p:txBody>
          <a:bodyPr wrap="none" rtlCol="0">
            <a:spAutoFit/>
          </a:bodyPr>
          <a:lstStyle/>
          <a:p>
            <a:r>
              <a:rPr lang="en-US" dirty="0" smtClean="0">
                <a:solidFill>
                  <a:schemeClr val="bg1"/>
                </a:solidFill>
              </a:rPr>
              <a:t>13.9</a:t>
            </a:r>
            <a:endParaRPr lang="en-US" dirty="0">
              <a:solidFill>
                <a:schemeClr val="bg1"/>
              </a:solidFill>
            </a:endParaRPr>
          </a:p>
        </p:txBody>
      </p:sp>
      <p:sp>
        <p:nvSpPr>
          <p:cNvPr id="57" name="TextBox 56"/>
          <p:cNvSpPr txBox="1"/>
          <p:nvPr/>
        </p:nvSpPr>
        <p:spPr>
          <a:xfrm>
            <a:off x="3657600" y="5105400"/>
            <a:ext cx="476412" cy="369332"/>
          </a:xfrm>
          <a:prstGeom prst="rect">
            <a:avLst/>
          </a:prstGeom>
          <a:noFill/>
        </p:spPr>
        <p:txBody>
          <a:bodyPr wrap="none" rtlCol="0">
            <a:spAutoFit/>
          </a:bodyPr>
          <a:lstStyle/>
          <a:p>
            <a:r>
              <a:rPr lang="en-US" dirty="0" smtClean="0">
                <a:solidFill>
                  <a:schemeClr val="bg1"/>
                </a:solidFill>
              </a:rPr>
              <a:t>7.2</a:t>
            </a:r>
            <a:endParaRPr lang="en-US" dirty="0">
              <a:solidFill>
                <a:schemeClr val="bg1"/>
              </a:solidFill>
            </a:endParaRPr>
          </a:p>
        </p:txBody>
      </p:sp>
      <p:sp>
        <p:nvSpPr>
          <p:cNvPr id="58" name="TextBox 57"/>
          <p:cNvSpPr txBox="1"/>
          <p:nvPr/>
        </p:nvSpPr>
        <p:spPr>
          <a:xfrm>
            <a:off x="5257800" y="2895600"/>
            <a:ext cx="476412" cy="369332"/>
          </a:xfrm>
          <a:prstGeom prst="rect">
            <a:avLst/>
          </a:prstGeom>
          <a:noFill/>
        </p:spPr>
        <p:txBody>
          <a:bodyPr wrap="none" rtlCol="0">
            <a:spAutoFit/>
          </a:bodyPr>
          <a:lstStyle/>
          <a:p>
            <a:r>
              <a:rPr lang="en-US" dirty="0" smtClean="0">
                <a:solidFill>
                  <a:schemeClr val="bg1"/>
                </a:solidFill>
              </a:rPr>
              <a:t>7.2</a:t>
            </a:r>
            <a:endParaRPr lang="en-US" dirty="0">
              <a:solidFill>
                <a:schemeClr val="bg1"/>
              </a:solidFill>
            </a:endParaRPr>
          </a:p>
        </p:txBody>
      </p:sp>
      <p:sp>
        <p:nvSpPr>
          <p:cNvPr id="59" name="TextBox 58"/>
          <p:cNvSpPr txBox="1"/>
          <p:nvPr/>
        </p:nvSpPr>
        <p:spPr>
          <a:xfrm>
            <a:off x="2971800" y="1676400"/>
            <a:ext cx="476412" cy="369332"/>
          </a:xfrm>
          <a:prstGeom prst="rect">
            <a:avLst/>
          </a:prstGeom>
          <a:noFill/>
        </p:spPr>
        <p:txBody>
          <a:bodyPr wrap="none" rtlCol="0">
            <a:spAutoFit/>
          </a:bodyPr>
          <a:lstStyle/>
          <a:p>
            <a:r>
              <a:rPr lang="en-US" dirty="0" smtClean="0">
                <a:solidFill>
                  <a:schemeClr val="bg1"/>
                </a:solidFill>
              </a:rPr>
              <a:t>8.4</a:t>
            </a:r>
            <a:endParaRPr lang="en-US" dirty="0">
              <a:solidFill>
                <a:schemeClr val="bg1"/>
              </a:solidFill>
            </a:endParaRPr>
          </a:p>
        </p:txBody>
      </p:sp>
      <p:sp>
        <p:nvSpPr>
          <p:cNvPr id="60" name="TextBox 59"/>
          <p:cNvSpPr txBox="1"/>
          <p:nvPr/>
        </p:nvSpPr>
        <p:spPr>
          <a:xfrm>
            <a:off x="5410200" y="3886200"/>
            <a:ext cx="476412" cy="369332"/>
          </a:xfrm>
          <a:prstGeom prst="rect">
            <a:avLst/>
          </a:prstGeom>
          <a:noFill/>
        </p:spPr>
        <p:txBody>
          <a:bodyPr wrap="none" rtlCol="0">
            <a:spAutoFit/>
          </a:bodyPr>
          <a:lstStyle/>
          <a:p>
            <a:r>
              <a:rPr lang="en-US" dirty="0" smtClean="0">
                <a:solidFill>
                  <a:schemeClr val="bg1"/>
                </a:solidFill>
              </a:rPr>
              <a:t>4.6</a:t>
            </a:r>
            <a:endParaRPr lang="en-US" dirty="0">
              <a:solidFill>
                <a:schemeClr val="bg1"/>
              </a:solidFill>
            </a:endParaRPr>
          </a:p>
        </p:txBody>
      </p:sp>
      <p:sp>
        <p:nvSpPr>
          <p:cNvPr id="61" name="TextBox 60"/>
          <p:cNvSpPr txBox="1"/>
          <p:nvPr/>
        </p:nvSpPr>
        <p:spPr>
          <a:xfrm>
            <a:off x="1828800" y="1600200"/>
            <a:ext cx="476412" cy="369332"/>
          </a:xfrm>
          <a:prstGeom prst="rect">
            <a:avLst/>
          </a:prstGeom>
          <a:noFill/>
        </p:spPr>
        <p:txBody>
          <a:bodyPr wrap="none" rtlCol="0">
            <a:spAutoFit/>
          </a:bodyPr>
          <a:lstStyle/>
          <a:p>
            <a:r>
              <a:rPr lang="en-US" dirty="0" smtClean="0">
                <a:solidFill>
                  <a:schemeClr val="bg1"/>
                </a:solidFill>
              </a:rPr>
              <a:t>7.1</a:t>
            </a:r>
            <a:endParaRPr lang="en-US" dirty="0">
              <a:solidFill>
                <a:schemeClr val="bg1"/>
              </a:solidFill>
            </a:endParaRPr>
          </a:p>
        </p:txBody>
      </p:sp>
      <p:sp>
        <p:nvSpPr>
          <p:cNvPr id="62" name="TextBox 61"/>
          <p:cNvSpPr txBox="1"/>
          <p:nvPr/>
        </p:nvSpPr>
        <p:spPr>
          <a:xfrm>
            <a:off x="4343400" y="2514600"/>
            <a:ext cx="476412" cy="369332"/>
          </a:xfrm>
          <a:prstGeom prst="rect">
            <a:avLst/>
          </a:prstGeom>
          <a:noFill/>
        </p:spPr>
        <p:txBody>
          <a:bodyPr wrap="none" rtlCol="0">
            <a:spAutoFit/>
          </a:bodyPr>
          <a:lstStyle/>
          <a:p>
            <a:r>
              <a:rPr lang="en-US" dirty="0" smtClean="0">
                <a:solidFill>
                  <a:schemeClr val="bg1"/>
                </a:solidFill>
              </a:rPr>
              <a:t>7.3</a:t>
            </a:r>
            <a:endParaRPr lang="en-US" dirty="0">
              <a:solidFill>
                <a:schemeClr val="bg1"/>
              </a:solidFill>
            </a:endParaRPr>
          </a:p>
        </p:txBody>
      </p:sp>
      <p:sp>
        <p:nvSpPr>
          <p:cNvPr id="63" name="TextBox 62"/>
          <p:cNvSpPr txBox="1"/>
          <p:nvPr/>
        </p:nvSpPr>
        <p:spPr>
          <a:xfrm>
            <a:off x="2819400" y="2514600"/>
            <a:ext cx="476412" cy="369332"/>
          </a:xfrm>
          <a:prstGeom prst="rect">
            <a:avLst/>
          </a:prstGeom>
          <a:noFill/>
        </p:spPr>
        <p:txBody>
          <a:bodyPr wrap="none" rtlCol="0">
            <a:spAutoFit/>
          </a:bodyPr>
          <a:lstStyle/>
          <a:p>
            <a:r>
              <a:rPr lang="en-US" dirty="0" smtClean="0">
                <a:solidFill>
                  <a:schemeClr val="bg1"/>
                </a:solidFill>
              </a:rPr>
              <a:t>8.1</a:t>
            </a:r>
            <a:endParaRPr lang="en-US" dirty="0">
              <a:solidFill>
                <a:schemeClr val="bg1"/>
              </a:solidFill>
            </a:endParaRPr>
          </a:p>
        </p:txBody>
      </p:sp>
      <p:sp>
        <p:nvSpPr>
          <p:cNvPr id="64" name="TextBox 63"/>
          <p:cNvSpPr txBox="1"/>
          <p:nvPr/>
        </p:nvSpPr>
        <p:spPr>
          <a:xfrm>
            <a:off x="3505200" y="2667000"/>
            <a:ext cx="476412" cy="369332"/>
          </a:xfrm>
          <a:prstGeom prst="rect">
            <a:avLst/>
          </a:prstGeom>
          <a:noFill/>
        </p:spPr>
        <p:txBody>
          <a:bodyPr wrap="none" rtlCol="0">
            <a:spAutoFit/>
          </a:bodyPr>
          <a:lstStyle/>
          <a:p>
            <a:r>
              <a:rPr lang="en-US" dirty="0" smtClean="0">
                <a:solidFill>
                  <a:schemeClr val="bg1"/>
                </a:solidFill>
              </a:rPr>
              <a:t>5.5</a:t>
            </a:r>
            <a:endParaRPr lang="en-US" dirty="0">
              <a:solidFill>
                <a:schemeClr val="bg1"/>
              </a:solidFill>
            </a:endParaRPr>
          </a:p>
        </p:txBody>
      </p:sp>
      <p:sp>
        <p:nvSpPr>
          <p:cNvPr id="65" name="TextBox 64"/>
          <p:cNvSpPr txBox="1"/>
          <p:nvPr/>
        </p:nvSpPr>
        <p:spPr>
          <a:xfrm>
            <a:off x="2514600" y="4648200"/>
            <a:ext cx="476412" cy="369332"/>
          </a:xfrm>
          <a:prstGeom prst="rect">
            <a:avLst/>
          </a:prstGeom>
          <a:noFill/>
        </p:spPr>
        <p:txBody>
          <a:bodyPr wrap="none" rtlCol="0">
            <a:spAutoFit/>
          </a:bodyPr>
          <a:lstStyle/>
          <a:p>
            <a:r>
              <a:rPr lang="en-US" dirty="0" smtClean="0">
                <a:solidFill>
                  <a:schemeClr val="bg1"/>
                </a:solidFill>
              </a:rPr>
              <a:t>6.7</a:t>
            </a:r>
            <a:endParaRPr lang="en-US" dirty="0">
              <a:solidFill>
                <a:schemeClr val="bg1"/>
              </a:solidFill>
            </a:endParaRPr>
          </a:p>
        </p:txBody>
      </p:sp>
      <p:sp>
        <p:nvSpPr>
          <p:cNvPr id="66" name="TextBox 65"/>
          <p:cNvSpPr txBox="1"/>
          <p:nvPr/>
        </p:nvSpPr>
        <p:spPr>
          <a:xfrm>
            <a:off x="2743200" y="3886200"/>
            <a:ext cx="476412" cy="369332"/>
          </a:xfrm>
          <a:prstGeom prst="rect">
            <a:avLst/>
          </a:prstGeom>
          <a:noFill/>
        </p:spPr>
        <p:txBody>
          <a:bodyPr wrap="none" rtlCol="0">
            <a:spAutoFit/>
          </a:bodyPr>
          <a:lstStyle/>
          <a:p>
            <a:r>
              <a:rPr lang="en-US" dirty="0" smtClean="0">
                <a:solidFill>
                  <a:schemeClr val="bg1"/>
                </a:solidFill>
              </a:rPr>
              <a:t>5.0</a:t>
            </a:r>
            <a:endParaRPr lang="en-US" dirty="0">
              <a:solidFill>
                <a:schemeClr val="bg1"/>
              </a:solidFill>
            </a:endParaRPr>
          </a:p>
        </p:txBody>
      </p:sp>
      <p:sp>
        <p:nvSpPr>
          <p:cNvPr id="67" name="TextBox 66"/>
          <p:cNvSpPr txBox="1"/>
          <p:nvPr/>
        </p:nvSpPr>
        <p:spPr>
          <a:xfrm>
            <a:off x="3810000" y="1676400"/>
            <a:ext cx="476412" cy="369332"/>
          </a:xfrm>
          <a:prstGeom prst="rect">
            <a:avLst/>
          </a:prstGeom>
          <a:noFill/>
        </p:spPr>
        <p:txBody>
          <a:bodyPr wrap="none" rtlCol="0">
            <a:spAutoFit/>
          </a:bodyPr>
          <a:lstStyle/>
          <a:p>
            <a:r>
              <a:rPr lang="en-US" dirty="0" smtClean="0">
                <a:solidFill>
                  <a:schemeClr val="bg1"/>
                </a:solidFill>
              </a:rPr>
              <a:t>9.1</a:t>
            </a:r>
            <a:endParaRPr lang="en-US" dirty="0">
              <a:solidFill>
                <a:schemeClr val="bg1"/>
              </a:solidFill>
            </a:endParaRPr>
          </a:p>
        </p:txBody>
      </p:sp>
      <p:sp>
        <p:nvSpPr>
          <p:cNvPr id="68" name="TextBox 67"/>
          <p:cNvSpPr txBox="1"/>
          <p:nvPr/>
        </p:nvSpPr>
        <p:spPr>
          <a:xfrm>
            <a:off x="3733800" y="3200400"/>
            <a:ext cx="476412" cy="369332"/>
          </a:xfrm>
          <a:prstGeom prst="rect">
            <a:avLst/>
          </a:prstGeom>
          <a:noFill/>
        </p:spPr>
        <p:txBody>
          <a:bodyPr wrap="none" rtlCol="0">
            <a:spAutoFit/>
          </a:bodyPr>
          <a:lstStyle/>
          <a:p>
            <a:r>
              <a:rPr lang="en-US" dirty="0" smtClean="0">
                <a:solidFill>
                  <a:schemeClr val="bg1"/>
                </a:solidFill>
              </a:rPr>
              <a:t>7.7</a:t>
            </a:r>
            <a:endParaRPr lang="en-US" dirty="0">
              <a:solidFill>
                <a:schemeClr val="bg1"/>
              </a:solidFill>
            </a:endParaRPr>
          </a:p>
        </p:txBody>
      </p:sp>
      <p:sp>
        <p:nvSpPr>
          <p:cNvPr id="69" name="TextBox 68"/>
          <p:cNvSpPr txBox="1"/>
          <p:nvPr/>
        </p:nvSpPr>
        <p:spPr>
          <a:xfrm>
            <a:off x="5257800" y="1752600"/>
            <a:ext cx="476412" cy="369332"/>
          </a:xfrm>
          <a:prstGeom prst="rect">
            <a:avLst/>
          </a:prstGeom>
          <a:noFill/>
        </p:spPr>
        <p:txBody>
          <a:bodyPr wrap="none" rtlCol="0">
            <a:spAutoFit/>
          </a:bodyPr>
          <a:lstStyle/>
          <a:p>
            <a:r>
              <a:rPr lang="en-US" dirty="0" smtClean="0">
                <a:solidFill>
                  <a:schemeClr val="bg1"/>
                </a:solidFill>
              </a:rPr>
              <a:t>4.5</a:t>
            </a:r>
            <a:endParaRPr lang="en-US" dirty="0">
              <a:solidFill>
                <a:schemeClr val="bg1"/>
              </a:solidFill>
            </a:endParaRPr>
          </a:p>
        </p:txBody>
      </p:sp>
      <p:sp>
        <p:nvSpPr>
          <p:cNvPr id="70" name="TextBox 69"/>
          <p:cNvSpPr txBox="1"/>
          <p:nvPr/>
        </p:nvSpPr>
        <p:spPr>
          <a:xfrm>
            <a:off x="2971800" y="3200400"/>
            <a:ext cx="476412" cy="369332"/>
          </a:xfrm>
          <a:prstGeom prst="rect">
            <a:avLst/>
          </a:prstGeom>
          <a:noFill/>
        </p:spPr>
        <p:txBody>
          <a:bodyPr wrap="none" rtlCol="0">
            <a:spAutoFit/>
          </a:bodyPr>
          <a:lstStyle/>
          <a:p>
            <a:r>
              <a:rPr lang="en-US" dirty="0" smtClean="0">
                <a:solidFill>
                  <a:schemeClr val="bg1"/>
                </a:solidFill>
              </a:rPr>
              <a:t>8.2</a:t>
            </a:r>
            <a:endParaRPr lang="en-US" dirty="0">
              <a:solidFill>
                <a:schemeClr val="bg1"/>
              </a:solidFill>
            </a:endParaRPr>
          </a:p>
        </p:txBody>
      </p:sp>
      <p:sp>
        <p:nvSpPr>
          <p:cNvPr id="73" name="TextBox 72"/>
          <p:cNvSpPr txBox="1"/>
          <p:nvPr/>
        </p:nvSpPr>
        <p:spPr>
          <a:xfrm>
            <a:off x="2286000" y="6396335"/>
            <a:ext cx="4873706" cy="461665"/>
          </a:xfrm>
          <a:prstGeom prst="rect">
            <a:avLst/>
          </a:prstGeom>
          <a:noFill/>
        </p:spPr>
        <p:txBody>
          <a:bodyPr wrap="none" rtlCol="0">
            <a:spAutoFit/>
          </a:bodyPr>
          <a:lstStyle/>
          <a:p>
            <a:r>
              <a:rPr lang="en-US" sz="1200" i="1" dirty="0" smtClean="0"/>
              <a:t>Not seasonally adjusted</a:t>
            </a:r>
          </a:p>
          <a:p>
            <a:r>
              <a:rPr lang="en-US" sz="1200" i="1" dirty="0" smtClean="0"/>
              <a:t>Source: NMDWS LAUS unit in conjunction with US Bureau of Labor Statistics</a:t>
            </a:r>
            <a:endParaRPr lang="en-US" sz="1200" i="1" dirty="0"/>
          </a:p>
        </p:txBody>
      </p:sp>
      <p:pic>
        <p:nvPicPr>
          <p:cNvPr id="71" name="Picture 70" descr="URateSept2012County.jpg"/>
          <p:cNvPicPr>
            <a:picLocks noChangeAspect="1"/>
          </p:cNvPicPr>
          <p:nvPr/>
        </p:nvPicPr>
        <p:blipFill>
          <a:blip r:embed="rId3" cstate="print"/>
          <a:stretch>
            <a:fillRect/>
          </a:stretch>
        </p:blipFill>
        <p:spPr>
          <a:xfrm>
            <a:off x="1676400" y="926253"/>
            <a:ext cx="5638799" cy="5388185"/>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What’s Next : </a:t>
            </a:r>
            <a:br>
              <a:rPr lang="en-US" dirty="0" smtClean="0"/>
            </a:br>
            <a:r>
              <a:rPr lang="en-US" dirty="0" smtClean="0"/>
              <a:t>Employment Projections 2010-2020</a:t>
            </a:r>
            <a:endParaRPr lang="en-US" dirty="0"/>
          </a:p>
        </p:txBody>
      </p:sp>
      <p:sp>
        <p:nvSpPr>
          <p:cNvPr id="4" name="Rounded Rectangle 3"/>
          <p:cNvSpPr/>
          <p:nvPr/>
        </p:nvSpPr>
        <p:spPr>
          <a:xfrm>
            <a:off x="762000" y="1981200"/>
            <a:ext cx="7696200" cy="1981200"/>
          </a:xfrm>
          <a:prstGeom prst="roundRect">
            <a:avLst/>
          </a:prstGeom>
          <a:solidFill>
            <a:srgbClr val="2F8C99"/>
          </a:solidFill>
          <a:effectLst>
            <a:outerShdw blurRad="50800" dist="38100" dir="2700000" algn="tl" rotWithShape="0">
              <a:prstClr val="black">
                <a:alpha val="40000"/>
              </a:prstClr>
            </a:outerShdw>
            <a:reflection blurRad="6350" stA="50000" endA="300" endPos="90000" dist="50800" dir="5400000" sy="-100000" algn="bl" rotWithShape="0"/>
            <a:softEdge rad="12700"/>
          </a:effectLst>
        </p:spPr>
        <p:style>
          <a:lnRef idx="1">
            <a:schemeClr val="accent5"/>
          </a:lnRef>
          <a:fillRef idx="2">
            <a:schemeClr val="accent5"/>
          </a:fillRef>
          <a:effectRef idx="1">
            <a:schemeClr val="accent5"/>
          </a:effectRef>
          <a:fontRef idx="minor">
            <a:schemeClr val="dk1"/>
          </a:fontRef>
        </p:style>
        <p:txBody>
          <a:bodyPr rtlCol="0" anchor="ctr"/>
          <a:lstStyle/>
          <a:p>
            <a:r>
              <a:rPr lang="en-US" sz="3200" dirty="0" smtClean="0">
                <a:solidFill>
                  <a:schemeClr val="bg1"/>
                </a:solidFill>
              </a:rPr>
              <a:t>Future</a:t>
            </a:r>
          </a:p>
          <a:p>
            <a:r>
              <a:rPr lang="en-US" sz="1600" i="1" dirty="0" smtClean="0">
                <a:solidFill>
                  <a:schemeClr val="bg1"/>
                </a:solidFill>
              </a:rPr>
              <a:t>From Wikipedia, the free encyclopedia</a:t>
            </a:r>
          </a:p>
          <a:p>
            <a:endParaRPr lang="en-US" dirty="0" smtClean="0">
              <a:solidFill>
                <a:schemeClr val="bg1"/>
              </a:solidFill>
            </a:endParaRPr>
          </a:p>
          <a:p>
            <a:r>
              <a:rPr lang="en-US" dirty="0" smtClean="0">
                <a:solidFill>
                  <a:schemeClr val="bg1"/>
                </a:solidFill>
              </a:rPr>
              <a:t>The </a:t>
            </a:r>
            <a:r>
              <a:rPr lang="en-US" b="1" dirty="0" smtClean="0">
                <a:solidFill>
                  <a:schemeClr val="bg1"/>
                </a:solidFill>
              </a:rPr>
              <a:t>future</a:t>
            </a:r>
            <a:r>
              <a:rPr lang="en-US" dirty="0" smtClean="0">
                <a:solidFill>
                  <a:schemeClr val="bg1"/>
                </a:solidFill>
              </a:rPr>
              <a:t> is the indefinite time period after the present. Its arrival is considered inevitable due to the existence of time and the laws of physics.</a:t>
            </a:r>
          </a:p>
          <a:p>
            <a:pPr algn="ct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National Trends – </a:t>
            </a:r>
            <a:r>
              <a:rPr lang="en-US" sz="2400" dirty="0" smtClean="0"/>
              <a:t>projected population by age</a:t>
            </a:r>
            <a:endParaRPr lang="en-US" sz="2400" dirty="0"/>
          </a:p>
        </p:txBody>
      </p:sp>
      <p:graphicFrame>
        <p:nvGraphicFramePr>
          <p:cNvPr id="44034" name="Content Placeholder 4"/>
          <p:cNvGraphicFramePr>
            <a:graphicFrameLocks noGrp="1"/>
          </p:cNvGraphicFramePr>
          <p:nvPr/>
        </p:nvGraphicFramePr>
        <p:xfrm>
          <a:off x="228600" y="1143000"/>
          <a:ext cx="8763000" cy="4953000"/>
        </p:xfrm>
        <a:graphic>
          <a:graphicData uri="http://schemas.openxmlformats.org/presentationml/2006/ole">
            <p:oleObj spid="_x0000_s44034" r:id="rId4" imgW="8760711" imgH="4956478" progId="Excel.Sheet.8">
              <p:embed/>
            </p:oleObj>
          </a:graphicData>
        </a:graphic>
      </p:graphicFrame>
      <p:sp>
        <p:nvSpPr>
          <p:cNvPr id="5" name="Rectangle 4"/>
          <p:cNvSpPr/>
          <p:nvPr/>
        </p:nvSpPr>
        <p:spPr>
          <a:xfrm>
            <a:off x="1905000" y="6096000"/>
            <a:ext cx="4876800" cy="307777"/>
          </a:xfrm>
          <a:prstGeom prst="rect">
            <a:avLst/>
          </a:prstGeom>
        </p:spPr>
        <p:txBody>
          <a:bodyPr wrap="square">
            <a:spAutoFit/>
          </a:bodyPr>
          <a:lstStyle/>
          <a:p>
            <a:r>
              <a:rPr lang="fr-FR" sz="1400" i="1" dirty="0" smtClean="0">
                <a:latin typeface="Calibri" pitchFamily="34" charset="0"/>
              </a:rPr>
              <a:t>Source: Population Division, U.S. Census Bureau</a:t>
            </a:r>
            <a:endParaRPr lang="en-US" sz="1400" i="1" dirty="0">
              <a:latin typeface="Calibri"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itle 1"/>
          <p:cNvSpPr>
            <a:spLocks noGrp="1"/>
          </p:cNvSpPr>
          <p:nvPr>
            <p:ph type="title"/>
          </p:nvPr>
        </p:nvSpPr>
        <p:spPr/>
        <p:txBody>
          <a:bodyPr/>
          <a:lstStyle/>
          <a:p>
            <a:pPr eaLnBrk="1" hangingPunct="1"/>
            <a:r>
              <a:rPr lang="en-US" dirty="0" smtClean="0"/>
              <a:t>NM Population Projections by Age</a:t>
            </a:r>
          </a:p>
        </p:txBody>
      </p:sp>
      <p:graphicFrame>
        <p:nvGraphicFramePr>
          <p:cNvPr id="7170" name="Chart 3"/>
          <p:cNvGraphicFramePr>
            <a:graphicFrameLocks/>
          </p:cNvGraphicFramePr>
          <p:nvPr/>
        </p:nvGraphicFramePr>
        <p:xfrm>
          <a:off x="0" y="685800"/>
          <a:ext cx="9144000" cy="5638800"/>
        </p:xfrm>
        <a:graphic>
          <a:graphicData uri="http://schemas.openxmlformats.org/presentationml/2006/ole">
            <p:oleObj spid="_x0000_s86018" name="Worksheet" r:id="rId4" imgW="8641012" imgH="3863376" progId="Excel.Sheet.8">
              <p:embed/>
            </p:oleObj>
          </a:graphicData>
        </a:graphic>
      </p:graphicFrame>
      <p:sp>
        <p:nvSpPr>
          <p:cNvPr id="7172" name="TextBox 4"/>
          <p:cNvSpPr txBox="1">
            <a:spLocks noChangeArrowheads="1"/>
          </p:cNvSpPr>
          <p:nvPr/>
        </p:nvSpPr>
        <p:spPr bwMode="auto">
          <a:xfrm>
            <a:off x="1371600" y="6096000"/>
            <a:ext cx="7543800" cy="461665"/>
          </a:xfrm>
          <a:prstGeom prst="rect">
            <a:avLst/>
          </a:prstGeom>
          <a:noFill/>
          <a:ln w="9525">
            <a:noFill/>
            <a:miter lim="800000"/>
            <a:headEnd/>
            <a:tailEnd/>
          </a:ln>
        </p:spPr>
        <p:txBody>
          <a:bodyPr>
            <a:spAutoFit/>
          </a:bodyPr>
          <a:lstStyle/>
          <a:p>
            <a:r>
              <a:rPr lang="fr-FR" sz="1200" dirty="0">
                <a:latin typeface="Calibri" pitchFamily="34" charset="0"/>
              </a:rPr>
              <a:t>Source: U.S.Census Bureau, Population Division, Interim State Population</a:t>
            </a:r>
          </a:p>
          <a:p>
            <a:r>
              <a:rPr lang="fr-FR" sz="1200" dirty="0">
                <a:latin typeface="Calibri" pitchFamily="34" charset="0"/>
              </a:rPr>
              <a:t> Projections, 2005</a:t>
            </a:r>
            <a:endParaRPr lang="en-US" sz="1200" dirty="0">
              <a:latin typeface="Calibri"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itle 1"/>
          <p:cNvSpPr>
            <a:spLocks noGrp="1"/>
          </p:cNvSpPr>
          <p:nvPr>
            <p:ph type="title"/>
          </p:nvPr>
        </p:nvSpPr>
        <p:spPr/>
        <p:txBody>
          <a:bodyPr/>
          <a:lstStyle/>
          <a:p>
            <a:r>
              <a:rPr lang="en-US" dirty="0" smtClean="0"/>
              <a:t>NM Employment Projections 2010-2020</a:t>
            </a:r>
          </a:p>
        </p:txBody>
      </p:sp>
      <p:graphicFrame>
        <p:nvGraphicFramePr>
          <p:cNvPr id="6" name="Content Placeholder 5"/>
          <p:cNvGraphicFramePr>
            <a:graphicFrameLocks noGrp="1"/>
          </p:cNvGraphicFramePr>
          <p:nvPr>
            <p:ph idx="4294967295"/>
          </p:nvPr>
        </p:nvGraphicFramePr>
        <p:xfrm>
          <a:off x="0" y="2209800"/>
          <a:ext cx="6324600" cy="3810000"/>
        </p:xfrm>
        <a:graphic>
          <a:graphicData uri="http://schemas.openxmlformats.org/drawingml/2006/chart">
            <c:chart xmlns:c="http://schemas.openxmlformats.org/drawingml/2006/chart" xmlns:r="http://schemas.openxmlformats.org/officeDocument/2006/relationships" r:id="rId2"/>
          </a:graphicData>
        </a:graphic>
      </p:graphicFrame>
      <p:sp>
        <p:nvSpPr>
          <p:cNvPr id="9220" name="TextBox 5"/>
          <p:cNvSpPr txBox="1">
            <a:spLocks noChangeArrowheads="1"/>
          </p:cNvSpPr>
          <p:nvPr/>
        </p:nvSpPr>
        <p:spPr bwMode="auto">
          <a:xfrm>
            <a:off x="5867400" y="1524000"/>
            <a:ext cx="3124200" cy="1200329"/>
          </a:xfrm>
          <a:prstGeom prst="rect">
            <a:avLst/>
          </a:prstGeom>
          <a:solidFill>
            <a:srgbClr val="2F8C99"/>
          </a:solidFill>
          <a:ln>
            <a:headEnd/>
            <a:tailEnd/>
          </a:ln>
          <a:effectLst>
            <a:outerShdw blurRad="50800" dist="38100" algn="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wrap="square">
            <a:spAutoFit/>
          </a:bodyPr>
          <a:lstStyle/>
          <a:p>
            <a:r>
              <a:rPr lang="en-US" dirty="0" smtClean="0">
                <a:latin typeface="Calibri" pitchFamily="34" charset="0"/>
              </a:rPr>
              <a:t>Growth of  136,304</a:t>
            </a:r>
          </a:p>
          <a:p>
            <a:r>
              <a:rPr lang="en-US" dirty="0" smtClean="0">
                <a:latin typeface="Calibri" pitchFamily="34" charset="0"/>
              </a:rPr>
              <a:t>Total  Change 15.9%</a:t>
            </a:r>
          </a:p>
          <a:p>
            <a:r>
              <a:rPr lang="en-US" dirty="0" smtClean="0">
                <a:latin typeface="Calibri" pitchFamily="34" charset="0"/>
              </a:rPr>
              <a:t>Annual </a:t>
            </a:r>
            <a:r>
              <a:rPr lang="en-US" dirty="0">
                <a:latin typeface="Calibri" pitchFamily="34" charset="0"/>
              </a:rPr>
              <a:t>Average </a:t>
            </a:r>
            <a:r>
              <a:rPr lang="en-US" dirty="0" smtClean="0">
                <a:latin typeface="Calibri" pitchFamily="34" charset="0"/>
              </a:rPr>
              <a:t>Change 1.49%</a:t>
            </a:r>
          </a:p>
          <a:p>
            <a:endParaRPr lang="en-US" dirty="0">
              <a:latin typeface="Calibri" pitchFamily="34" charset="0"/>
            </a:endParaRPr>
          </a:p>
        </p:txBody>
      </p:sp>
      <p:sp>
        <p:nvSpPr>
          <p:cNvPr id="5" name="TextBox 4"/>
          <p:cNvSpPr txBox="1"/>
          <p:nvPr/>
        </p:nvSpPr>
        <p:spPr>
          <a:xfrm>
            <a:off x="5943600" y="6400800"/>
            <a:ext cx="2643544" cy="276999"/>
          </a:xfrm>
          <a:prstGeom prst="rect">
            <a:avLst/>
          </a:prstGeom>
          <a:noFill/>
        </p:spPr>
        <p:txBody>
          <a:bodyPr wrap="none" rtlCol="0">
            <a:spAutoFit/>
          </a:bodyPr>
          <a:lstStyle/>
          <a:p>
            <a:r>
              <a:rPr lang="en-US" sz="1200" i="1" dirty="0" smtClean="0"/>
              <a:t>Source: NMDWS ER&amp;A Projections Unit</a:t>
            </a:r>
            <a:endParaRPr lang="en-US" sz="1200" i="1"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2010-2020 Projections </a:t>
            </a:r>
            <a:br>
              <a:rPr lang="en-US" dirty="0" smtClean="0"/>
            </a:br>
            <a:r>
              <a:rPr lang="en-US" dirty="0" smtClean="0"/>
              <a:t>Workforce Investment Areas</a:t>
            </a:r>
            <a:endParaRPr lang="en-US" dirty="0"/>
          </a:p>
        </p:txBody>
      </p:sp>
      <p:pic>
        <p:nvPicPr>
          <p:cNvPr id="3" name="Picture 2" descr="WIAmapsm.JPG"/>
          <p:cNvPicPr>
            <a:picLocks noChangeAspect="1"/>
          </p:cNvPicPr>
          <p:nvPr/>
        </p:nvPicPr>
        <p:blipFill>
          <a:blip r:embed="rId3" cstate="print"/>
          <a:stretch>
            <a:fillRect/>
          </a:stretch>
        </p:blipFill>
        <p:spPr>
          <a:xfrm>
            <a:off x="6629400" y="152400"/>
            <a:ext cx="2392680" cy="2537460"/>
          </a:xfrm>
          <a:prstGeom prst="rect">
            <a:avLst/>
          </a:prstGeom>
          <a:effectLst>
            <a:outerShdw blurRad="50800" dist="38100" dir="2700000" algn="tl" rotWithShape="0">
              <a:prstClr val="black">
                <a:alpha val="40000"/>
              </a:prstClr>
            </a:outerShdw>
          </a:effectLst>
        </p:spPr>
      </p:pic>
      <p:graphicFrame>
        <p:nvGraphicFramePr>
          <p:cNvPr id="4" name="Chart 3"/>
          <p:cNvGraphicFramePr/>
          <p:nvPr/>
        </p:nvGraphicFramePr>
        <p:xfrm>
          <a:off x="381000" y="1143000"/>
          <a:ext cx="7391400" cy="5334000"/>
        </p:xfrm>
        <a:graphic>
          <a:graphicData uri="http://schemas.openxmlformats.org/drawingml/2006/chart">
            <c:chart xmlns:c="http://schemas.openxmlformats.org/drawingml/2006/chart" xmlns:r="http://schemas.openxmlformats.org/officeDocument/2006/relationships" r:id="rId4"/>
          </a:graphicData>
        </a:graphic>
      </p:graphicFrame>
      <p:sp>
        <p:nvSpPr>
          <p:cNvPr id="5" name="TextBox 4"/>
          <p:cNvSpPr txBox="1"/>
          <p:nvPr/>
        </p:nvSpPr>
        <p:spPr>
          <a:xfrm>
            <a:off x="7696200" y="3144322"/>
            <a:ext cx="990600" cy="2646878"/>
          </a:xfrm>
          <a:prstGeom prst="rect">
            <a:avLst/>
          </a:prstGeom>
          <a:noFill/>
        </p:spPr>
        <p:txBody>
          <a:bodyPr wrap="square" rtlCol="0">
            <a:spAutoFit/>
          </a:bodyPr>
          <a:lstStyle/>
          <a:p>
            <a:r>
              <a:rPr lang="en-US" sz="1400" dirty="0" smtClean="0"/>
              <a:t>Annual </a:t>
            </a:r>
          </a:p>
          <a:p>
            <a:r>
              <a:rPr lang="en-US" sz="1400" dirty="0" smtClean="0"/>
              <a:t>Average </a:t>
            </a:r>
          </a:p>
          <a:p>
            <a:r>
              <a:rPr lang="en-US" sz="1400" dirty="0" smtClean="0"/>
              <a:t>Percent Change</a:t>
            </a:r>
          </a:p>
          <a:p>
            <a:endParaRPr lang="en-US" sz="1400" dirty="0" smtClean="0"/>
          </a:p>
          <a:p>
            <a:pPr>
              <a:lnSpc>
                <a:spcPct val="150000"/>
              </a:lnSpc>
            </a:pPr>
            <a:r>
              <a:rPr lang="en-US" sz="1600" dirty="0" smtClean="0"/>
              <a:t>1.40</a:t>
            </a:r>
          </a:p>
          <a:p>
            <a:pPr>
              <a:lnSpc>
                <a:spcPct val="150000"/>
              </a:lnSpc>
            </a:pPr>
            <a:r>
              <a:rPr lang="en-US" sz="1600" dirty="0" smtClean="0"/>
              <a:t>1.46</a:t>
            </a:r>
          </a:p>
          <a:p>
            <a:pPr>
              <a:lnSpc>
                <a:spcPct val="150000"/>
              </a:lnSpc>
            </a:pPr>
            <a:r>
              <a:rPr lang="en-US" sz="1600" dirty="0" smtClean="0"/>
              <a:t>1.50</a:t>
            </a:r>
          </a:p>
          <a:p>
            <a:pPr>
              <a:lnSpc>
                <a:spcPct val="150000"/>
              </a:lnSpc>
            </a:pPr>
            <a:r>
              <a:rPr lang="en-US" sz="1600" dirty="0" smtClean="0"/>
              <a:t>1.43</a:t>
            </a:r>
            <a:endParaRPr lang="en-US" sz="1600" dirty="0"/>
          </a:p>
        </p:txBody>
      </p:sp>
      <p:sp>
        <p:nvSpPr>
          <p:cNvPr id="6" name="TextBox 5"/>
          <p:cNvSpPr txBox="1"/>
          <p:nvPr/>
        </p:nvSpPr>
        <p:spPr>
          <a:xfrm>
            <a:off x="6500456" y="6581001"/>
            <a:ext cx="2643544" cy="276999"/>
          </a:xfrm>
          <a:prstGeom prst="rect">
            <a:avLst/>
          </a:prstGeom>
          <a:noFill/>
        </p:spPr>
        <p:txBody>
          <a:bodyPr wrap="none" rtlCol="0">
            <a:spAutoFit/>
          </a:bodyPr>
          <a:lstStyle/>
          <a:p>
            <a:r>
              <a:rPr lang="en-US" sz="1200" i="1" dirty="0" smtClean="0"/>
              <a:t>Source: NMDWS ER&amp;A Projections Unit</a:t>
            </a:r>
            <a:endParaRPr lang="en-US" sz="1200" i="1"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5-Point Star 4"/>
          <p:cNvSpPr/>
          <p:nvPr/>
        </p:nvSpPr>
        <p:spPr>
          <a:xfrm>
            <a:off x="8229600" y="304800"/>
            <a:ext cx="914400" cy="762000"/>
          </a:xfrm>
          <a:prstGeom prst="star5">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p:cNvSpPr txBox="1"/>
          <p:nvPr/>
        </p:nvSpPr>
        <p:spPr>
          <a:xfrm>
            <a:off x="8153400" y="304800"/>
            <a:ext cx="990600" cy="584775"/>
          </a:xfrm>
          <a:prstGeom prst="rect">
            <a:avLst/>
          </a:prstGeom>
          <a:noFill/>
        </p:spPr>
        <p:txBody>
          <a:bodyPr wrap="square" rtlCol="0">
            <a:spAutoFit/>
          </a:bodyPr>
          <a:lstStyle/>
          <a:p>
            <a:pPr algn="r"/>
            <a:r>
              <a:rPr lang="en-US" sz="1600" dirty="0" smtClean="0"/>
              <a:t>Projected </a:t>
            </a:r>
          </a:p>
          <a:p>
            <a:pPr algn="r"/>
            <a:r>
              <a:rPr lang="en-US" sz="1600" dirty="0" smtClean="0"/>
              <a:t>991,600</a:t>
            </a:r>
            <a:endParaRPr lang="en-US" sz="1600" dirty="0"/>
          </a:p>
        </p:txBody>
      </p:sp>
      <p:sp>
        <p:nvSpPr>
          <p:cNvPr id="6" name="Title 5"/>
          <p:cNvSpPr>
            <a:spLocks noGrp="1"/>
          </p:cNvSpPr>
          <p:nvPr>
            <p:ph type="title"/>
          </p:nvPr>
        </p:nvSpPr>
        <p:spPr>
          <a:xfrm>
            <a:off x="2667000" y="0"/>
            <a:ext cx="3962400" cy="838200"/>
          </a:xfrm>
        </p:spPr>
        <p:txBody>
          <a:bodyPr/>
          <a:lstStyle/>
          <a:p>
            <a:r>
              <a:rPr lang="en-US" dirty="0" smtClean="0"/>
              <a:t>NM Job Recovery</a:t>
            </a:r>
            <a:endParaRPr lang="en-US" dirty="0"/>
          </a:p>
        </p:txBody>
      </p:sp>
      <p:sp>
        <p:nvSpPr>
          <p:cNvPr id="10" name="TextBox 9"/>
          <p:cNvSpPr txBox="1"/>
          <p:nvPr/>
        </p:nvSpPr>
        <p:spPr>
          <a:xfrm>
            <a:off x="914400" y="1295400"/>
            <a:ext cx="1676400" cy="461665"/>
          </a:xfrm>
          <a:prstGeom prst="rect">
            <a:avLst/>
          </a:prstGeom>
          <a:noFill/>
        </p:spPr>
        <p:txBody>
          <a:bodyPr wrap="square" rtlCol="0">
            <a:spAutoFit/>
          </a:bodyPr>
          <a:lstStyle/>
          <a:p>
            <a:r>
              <a:rPr lang="en-US" sz="1200" dirty="0" smtClean="0"/>
              <a:t>Max Employment  CES</a:t>
            </a:r>
          </a:p>
          <a:p>
            <a:r>
              <a:rPr lang="en-US" sz="1200" dirty="0" smtClean="0"/>
              <a:t> April 2008  at 852,000</a:t>
            </a:r>
            <a:endParaRPr lang="en-US" sz="1200" dirty="0"/>
          </a:p>
        </p:txBody>
      </p:sp>
      <p:graphicFrame>
        <p:nvGraphicFramePr>
          <p:cNvPr id="8" name="Chart 7"/>
          <p:cNvGraphicFramePr>
            <a:graphicFrameLocks noGrp="1"/>
          </p:cNvGraphicFramePr>
          <p:nvPr/>
        </p:nvGraphicFramePr>
        <p:xfrm>
          <a:off x="76200" y="381000"/>
          <a:ext cx="8610600" cy="605790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4191000" y="4038600"/>
            <a:ext cx="1670714" cy="461665"/>
          </a:xfrm>
          <a:prstGeom prst="rect">
            <a:avLst/>
          </a:prstGeom>
          <a:noFill/>
        </p:spPr>
        <p:txBody>
          <a:bodyPr wrap="none" rtlCol="0">
            <a:spAutoFit/>
          </a:bodyPr>
          <a:lstStyle/>
          <a:p>
            <a:r>
              <a:rPr lang="en-US" sz="1200" dirty="0" smtClean="0"/>
              <a:t>Min. Employment</a:t>
            </a:r>
          </a:p>
          <a:p>
            <a:r>
              <a:rPr lang="en-US" sz="1200" dirty="0" smtClean="0"/>
              <a:t>August 2012 at 794,300</a:t>
            </a:r>
            <a:endParaRPr lang="en-US" sz="12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594" name="Picture 2"/>
          <p:cNvPicPr>
            <a:picLocks noChangeAspect="1" noChangeArrowheads="1"/>
          </p:cNvPicPr>
          <p:nvPr/>
        </p:nvPicPr>
        <p:blipFill>
          <a:blip r:embed="rId3" cstate="print"/>
          <a:srcRect/>
          <a:stretch>
            <a:fillRect/>
          </a:stretch>
        </p:blipFill>
        <p:spPr bwMode="auto">
          <a:xfrm>
            <a:off x="152400" y="228600"/>
            <a:ext cx="8832850" cy="5772150"/>
          </a:xfrm>
          <a:prstGeom prst="rect">
            <a:avLst/>
          </a:prstGeom>
          <a:noFill/>
          <a:ln w="9525">
            <a:noFill/>
            <a:miter lim="800000"/>
            <a:headEnd/>
            <a:tailEnd/>
          </a:ln>
        </p:spPr>
      </p:pic>
      <p:sp>
        <p:nvSpPr>
          <p:cNvPr id="5" name="TextBox 4"/>
          <p:cNvSpPr txBox="1"/>
          <p:nvPr/>
        </p:nvSpPr>
        <p:spPr>
          <a:xfrm>
            <a:off x="471" y="6211669"/>
            <a:ext cx="9143529" cy="646331"/>
          </a:xfrm>
          <a:prstGeom prst="rect">
            <a:avLst/>
          </a:prstGeom>
          <a:noFill/>
        </p:spPr>
        <p:txBody>
          <a:bodyPr wrap="square" rtlCol="0">
            <a:spAutoFit/>
          </a:bodyPr>
          <a:lstStyle/>
          <a:p>
            <a:r>
              <a:rPr lang="en-US" dirty="0" smtClean="0"/>
              <a:t>Casselman, Ben. “A State-by-State Look at Long Road to Jobs Recovery.”  Wall Street Journal Blog, November 14, 2011 </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smtClean="0"/>
              <a:t>Tigger</a:t>
            </a:r>
            <a:r>
              <a:rPr lang="en-US" dirty="0" smtClean="0"/>
              <a:t> Slide</a:t>
            </a:r>
            <a:endParaRPr lang="en-US" dirty="0"/>
          </a:p>
        </p:txBody>
      </p:sp>
      <p:pic>
        <p:nvPicPr>
          <p:cNvPr id="37890" name="Content Placeholder 3" descr="tigger_economics.jpg"/>
          <p:cNvPicPr>
            <a:picLocks noGrp="1" noChangeAspect="1"/>
          </p:cNvPicPr>
          <p:nvPr>
            <p:ph idx="4294967295"/>
          </p:nvPr>
        </p:nvPicPr>
        <p:blipFill>
          <a:blip r:embed="rId3" cstate="print"/>
          <a:srcRect/>
          <a:stretch>
            <a:fillRect/>
          </a:stretch>
        </p:blipFill>
        <p:spPr bwMode="auto">
          <a:xfrm>
            <a:off x="0" y="0"/>
            <a:ext cx="9144000" cy="6934200"/>
          </a:xfrm>
          <a:prstGeom prst="rect">
            <a:avLst/>
          </a:prstGeom>
          <a:noFill/>
          <a:ln>
            <a:miter lim="800000"/>
            <a:headEnd/>
            <a:tailEnd/>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792162"/>
          </a:xfrm>
        </p:spPr>
        <p:txBody>
          <a:bodyPr/>
          <a:lstStyle/>
          <a:p>
            <a:r>
              <a:rPr lang="en-US" dirty="0" smtClean="0"/>
              <a:t>Occupations</a:t>
            </a:r>
            <a:endParaRPr lang="en-US" dirty="0"/>
          </a:p>
        </p:txBody>
      </p:sp>
      <p:sp>
        <p:nvSpPr>
          <p:cNvPr id="3" name="Slide Number Placeholder 2"/>
          <p:cNvSpPr>
            <a:spLocks noGrp="1"/>
          </p:cNvSpPr>
          <p:nvPr>
            <p:ph type="sldNum" sz="quarter" idx="4294967295"/>
          </p:nvPr>
        </p:nvSpPr>
        <p:spPr>
          <a:xfrm>
            <a:off x="6553200" y="6356350"/>
            <a:ext cx="2133600" cy="365125"/>
          </a:xfrm>
          <a:prstGeom prst="rect">
            <a:avLst/>
          </a:prstGeom>
        </p:spPr>
        <p:txBody>
          <a:bodyPr/>
          <a:lstStyle/>
          <a:p>
            <a:pPr>
              <a:defRPr/>
            </a:pPr>
            <a:fld id="{7E8DF409-D00C-42D6-B5A6-E7A8C04ACE0B}" type="slidenum">
              <a:rPr lang="en-US" smtClean="0"/>
              <a:pPr>
                <a:defRPr/>
              </a:pPr>
              <a:t>24</a:t>
            </a:fld>
            <a:endParaRPr lang="en-US" dirty="0"/>
          </a:p>
        </p:txBody>
      </p:sp>
      <p:pic>
        <p:nvPicPr>
          <p:cNvPr id="3075" name="Picture 3" descr="C:\Users\sreagan\AppData\Local\Microsoft\Windows\Temporary Internet Files\Content.IE5\EXFYB66G\MC910215892[1].jpg"/>
          <p:cNvPicPr>
            <a:picLocks noChangeAspect="1" noChangeArrowheads="1"/>
          </p:cNvPicPr>
          <p:nvPr/>
        </p:nvPicPr>
        <p:blipFill>
          <a:blip r:embed="rId3" cstate="print"/>
          <a:srcRect/>
          <a:stretch>
            <a:fillRect/>
          </a:stretch>
        </p:blipFill>
        <p:spPr bwMode="auto">
          <a:xfrm>
            <a:off x="0" y="838200"/>
            <a:ext cx="9144000" cy="6019800"/>
          </a:xfrm>
          <a:prstGeom prst="rect">
            <a:avLst/>
          </a:prstGeom>
          <a:noFill/>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152400"/>
            <a:ext cx="8229600" cy="792162"/>
          </a:xfrm>
        </p:spPr>
        <p:txBody>
          <a:bodyPr/>
          <a:lstStyle/>
          <a:p>
            <a:r>
              <a:rPr lang="en-US" dirty="0" smtClean="0"/>
              <a:t>O*NET / SOC  2010  Code Structure</a:t>
            </a:r>
            <a:endParaRPr lang="en-US" dirty="0"/>
          </a:p>
        </p:txBody>
      </p:sp>
      <p:sp>
        <p:nvSpPr>
          <p:cNvPr id="4" name="TextBox 3"/>
          <p:cNvSpPr txBox="1"/>
          <p:nvPr/>
        </p:nvSpPr>
        <p:spPr>
          <a:xfrm>
            <a:off x="914400" y="914400"/>
            <a:ext cx="6873292" cy="369332"/>
          </a:xfrm>
          <a:prstGeom prst="rect">
            <a:avLst/>
          </a:prstGeom>
          <a:solidFill>
            <a:srgbClr val="2F8C99"/>
          </a:solidFill>
        </p:spPr>
        <p:style>
          <a:lnRef idx="1">
            <a:schemeClr val="accent5"/>
          </a:lnRef>
          <a:fillRef idx="2">
            <a:schemeClr val="accent5"/>
          </a:fillRef>
          <a:effectRef idx="1">
            <a:schemeClr val="accent5"/>
          </a:effectRef>
          <a:fontRef idx="minor">
            <a:schemeClr val="dk1"/>
          </a:fontRef>
        </p:style>
        <p:txBody>
          <a:bodyPr wrap="none" rtlCol="0">
            <a:spAutoFit/>
          </a:bodyPr>
          <a:lstStyle/>
          <a:p>
            <a:r>
              <a:rPr lang="en-US" dirty="0" smtClean="0">
                <a:solidFill>
                  <a:schemeClr val="bg1"/>
                </a:solidFill>
              </a:rPr>
              <a:t>Sample code : 15-1152.00   Title: Computer Network Support Specialists</a:t>
            </a:r>
            <a:endParaRPr lang="en-US" dirty="0">
              <a:solidFill>
                <a:schemeClr val="bg1"/>
              </a:solidFill>
            </a:endParaRPr>
          </a:p>
        </p:txBody>
      </p:sp>
      <p:sp>
        <p:nvSpPr>
          <p:cNvPr id="5" name="TextBox 4"/>
          <p:cNvSpPr txBox="1"/>
          <p:nvPr/>
        </p:nvSpPr>
        <p:spPr>
          <a:xfrm>
            <a:off x="-64617" y="2362200"/>
            <a:ext cx="4941417" cy="3139321"/>
          </a:xfrm>
          <a:prstGeom prst="rect">
            <a:avLst/>
          </a:prstGeom>
          <a:noFill/>
        </p:spPr>
        <p:txBody>
          <a:bodyPr wrap="none" rtlCol="0">
            <a:spAutoFit/>
          </a:bodyPr>
          <a:lstStyle/>
          <a:p>
            <a:r>
              <a:rPr lang="en-US" dirty="0" smtClean="0"/>
              <a:t>11- Management Occupations</a:t>
            </a:r>
          </a:p>
          <a:p>
            <a:r>
              <a:rPr lang="en-US" dirty="0" smtClean="0"/>
              <a:t>13- Business &amp; Financial Operations Occupations</a:t>
            </a:r>
          </a:p>
          <a:p>
            <a:r>
              <a:rPr lang="en-US" dirty="0" smtClean="0"/>
              <a:t>15- Computer and Mathematical Occupations</a:t>
            </a:r>
          </a:p>
          <a:p>
            <a:r>
              <a:rPr lang="en-US" dirty="0" smtClean="0"/>
              <a:t>17-Architecture and engineering Occupations</a:t>
            </a:r>
          </a:p>
          <a:p>
            <a:r>
              <a:rPr lang="en-US" dirty="0" smtClean="0"/>
              <a:t>19- Life, Physical, and Social Science Occupations</a:t>
            </a:r>
          </a:p>
          <a:p>
            <a:r>
              <a:rPr lang="en-US" dirty="0" smtClean="0"/>
              <a:t>21- Community and Social services Occupations</a:t>
            </a:r>
          </a:p>
          <a:p>
            <a:r>
              <a:rPr lang="en-US" dirty="0" smtClean="0"/>
              <a:t>23- Legal Occupations</a:t>
            </a:r>
          </a:p>
          <a:p>
            <a:r>
              <a:rPr lang="en-US" dirty="0" smtClean="0"/>
              <a:t>25- Education, Training, and Library Occupations</a:t>
            </a:r>
          </a:p>
          <a:p>
            <a:r>
              <a:rPr lang="en-US" dirty="0" smtClean="0"/>
              <a:t>27- Arts, Design, Entertainment, Sports &amp; Related</a:t>
            </a:r>
          </a:p>
          <a:p>
            <a:r>
              <a:rPr lang="en-US" dirty="0" smtClean="0"/>
              <a:t>29- Healthcare Practitioners and Technical </a:t>
            </a:r>
            <a:r>
              <a:rPr lang="en-US" dirty="0" err="1" smtClean="0"/>
              <a:t>Occs</a:t>
            </a:r>
            <a:r>
              <a:rPr lang="en-US" dirty="0" smtClean="0"/>
              <a:t>.</a:t>
            </a:r>
          </a:p>
          <a:p>
            <a:r>
              <a:rPr lang="en-US" dirty="0" smtClean="0"/>
              <a:t>31- Healthcare Support Occupations</a:t>
            </a:r>
          </a:p>
        </p:txBody>
      </p:sp>
      <p:sp>
        <p:nvSpPr>
          <p:cNvPr id="6" name="TextBox 5"/>
          <p:cNvSpPr txBox="1"/>
          <p:nvPr/>
        </p:nvSpPr>
        <p:spPr>
          <a:xfrm>
            <a:off x="4572000" y="2362200"/>
            <a:ext cx="4688784" cy="3693319"/>
          </a:xfrm>
          <a:prstGeom prst="rect">
            <a:avLst/>
          </a:prstGeom>
          <a:noFill/>
        </p:spPr>
        <p:txBody>
          <a:bodyPr wrap="square" rtlCol="0">
            <a:spAutoFit/>
          </a:bodyPr>
          <a:lstStyle/>
          <a:p>
            <a:r>
              <a:rPr lang="en-US" dirty="0" smtClean="0"/>
              <a:t>33- Protective Service Occupations</a:t>
            </a:r>
          </a:p>
          <a:p>
            <a:r>
              <a:rPr lang="en-US" dirty="0" smtClean="0"/>
              <a:t>35- Food Preparation &amp; Serving Related </a:t>
            </a:r>
            <a:r>
              <a:rPr lang="en-US" dirty="0" err="1" smtClean="0"/>
              <a:t>Occs</a:t>
            </a:r>
            <a:r>
              <a:rPr lang="en-US" dirty="0" smtClean="0"/>
              <a:t>.</a:t>
            </a:r>
          </a:p>
          <a:p>
            <a:r>
              <a:rPr lang="en-US" dirty="0" smtClean="0"/>
              <a:t>37- Building &amp; Grounds Cleaning &amp; Maintenance</a:t>
            </a:r>
          </a:p>
          <a:p>
            <a:r>
              <a:rPr lang="en-US" dirty="0" smtClean="0"/>
              <a:t>39- Personal Care and Service Occupations</a:t>
            </a:r>
          </a:p>
          <a:p>
            <a:r>
              <a:rPr lang="en-US" dirty="0" smtClean="0"/>
              <a:t>41- Sales and Related Occupations</a:t>
            </a:r>
          </a:p>
          <a:p>
            <a:r>
              <a:rPr lang="en-US" dirty="0" smtClean="0"/>
              <a:t>43- Office &amp;Administrative Support </a:t>
            </a:r>
            <a:r>
              <a:rPr lang="en-US" dirty="0" err="1" smtClean="0"/>
              <a:t>Wkrs</a:t>
            </a:r>
            <a:endParaRPr lang="en-US" dirty="0" smtClean="0"/>
          </a:p>
          <a:p>
            <a:r>
              <a:rPr lang="en-US" dirty="0" smtClean="0"/>
              <a:t>45- Farming, Fishing, and Forestry </a:t>
            </a:r>
            <a:r>
              <a:rPr lang="en-US" dirty="0" err="1" smtClean="0"/>
              <a:t>Occs</a:t>
            </a:r>
            <a:r>
              <a:rPr lang="en-US" dirty="0" smtClean="0"/>
              <a:t>.</a:t>
            </a:r>
          </a:p>
          <a:p>
            <a:r>
              <a:rPr lang="en-US" dirty="0" smtClean="0"/>
              <a:t>47- Construction and Extraction </a:t>
            </a:r>
            <a:r>
              <a:rPr lang="en-US" dirty="0" err="1" smtClean="0"/>
              <a:t>Occs</a:t>
            </a:r>
            <a:r>
              <a:rPr lang="en-US" dirty="0" smtClean="0"/>
              <a:t>.</a:t>
            </a:r>
          </a:p>
          <a:p>
            <a:r>
              <a:rPr lang="en-US" dirty="0" smtClean="0"/>
              <a:t>49- Installation, Maintenance, and Repair</a:t>
            </a:r>
          </a:p>
          <a:p>
            <a:r>
              <a:rPr lang="en-US" dirty="0" smtClean="0"/>
              <a:t>51- Production Occupations</a:t>
            </a:r>
          </a:p>
          <a:p>
            <a:r>
              <a:rPr lang="en-US" dirty="0" smtClean="0"/>
              <a:t>53- Transportation and Material Moving</a:t>
            </a:r>
          </a:p>
          <a:p>
            <a:r>
              <a:rPr lang="en-US" dirty="0" smtClean="0"/>
              <a:t>55- Military Specific Occupations</a:t>
            </a:r>
          </a:p>
          <a:p>
            <a:endParaRPr lang="en-US" dirty="0"/>
          </a:p>
        </p:txBody>
      </p:sp>
      <p:sp>
        <p:nvSpPr>
          <p:cNvPr id="7" name="TextBox 6"/>
          <p:cNvSpPr txBox="1"/>
          <p:nvPr/>
        </p:nvSpPr>
        <p:spPr>
          <a:xfrm>
            <a:off x="228600" y="1828800"/>
            <a:ext cx="2667000" cy="369332"/>
          </a:xfrm>
          <a:prstGeom prst="rect">
            <a:avLst/>
          </a:prstGeom>
          <a:ln>
            <a:solidFill>
              <a:srgbClr val="2F8C99"/>
            </a:solidFill>
          </a:ln>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dirty="0" smtClean="0"/>
              <a:t>Organized into Groups:</a:t>
            </a:r>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itle 1"/>
          <p:cNvSpPr>
            <a:spLocks noGrp="1"/>
          </p:cNvSpPr>
          <p:nvPr>
            <p:ph type="title"/>
          </p:nvPr>
        </p:nvSpPr>
        <p:spPr>
          <a:xfrm>
            <a:off x="0" y="0"/>
            <a:ext cx="9144000" cy="533400"/>
          </a:xfrm>
        </p:spPr>
        <p:txBody>
          <a:bodyPr/>
          <a:lstStyle/>
          <a:p>
            <a:pPr algn="ctr" eaLnBrk="1" hangingPunct="1"/>
            <a:r>
              <a:rPr lang="en-US" sz="3200" dirty="0" smtClean="0"/>
              <a:t>New Mexico Occupational Group</a:t>
            </a:r>
          </a:p>
        </p:txBody>
      </p:sp>
      <p:sp>
        <p:nvSpPr>
          <p:cNvPr id="5" name="TextBox 4"/>
          <p:cNvSpPr txBox="1"/>
          <p:nvPr/>
        </p:nvSpPr>
        <p:spPr>
          <a:xfrm>
            <a:off x="1600200" y="6400800"/>
            <a:ext cx="5163786" cy="307777"/>
          </a:xfrm>
          <a:prstGeom prst="rect">
            <a:avLst/>
          </a:prstGeom>
          <a:noFill/>
        </p:spPr>
        <p:txBody>
          <a:bodyPr wrap="none" rtlCol="0">
            <a:spAutoFit/>
          </a:bodyPr>
          <a:lstStyle/>
          <a:p>
            <a:r>
              <a:rPr lang="en-US" sz="1400" i="1" dirty="0" smtClean="0"/>
              <a:t>Source: 2010-2020 Estimated Employment Projections Unit NMDW</a:t>
            </a:r>
            <a:r>
              <a:rPr lang="en-US" sz="1400" dirty="0" smtClean="0"/>
              <a:t>S</a:t>
            </a:r>
            <a:endParaRPr lang="en-US" sz="1400" dirty="0"/>
          </a:p>
        </p:txBody>
      </p:sp>
      <p:graphicFrame>
        <p:nvGraphicFramePr>
          <p:cNvPr id="8" name="Content Placeholder 7"/>
          <p:cNvGraphicFramePr>
            <a:graphicFrameLocks noGrp="1"/>
          </p:cNvGraphicFramePr>
          <p:nvPr>
            <p:ph idx="1"/>
          </p:nvPr>
        </p:nvGraphicFramePr>
        <p:xfrm>
          <a:off x="457200" y="228600"/>
          <a:ext cx="8229600" cy="61722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0" y="0"/>
            <a:ext cx="6553200" cy="1143000"/>
          </a:xfrm>
        </p:spPr>
        <p:txBody>
          <a:bodyPr/>
          <a:lstStyle/>
          <a:p>
            <a:r>
              <a:rPr lang="en-US" dirty="0" smtClean="0"/>
              <a:t>Occupational Employment </a:t>
            </a:r>
            <a:br>
              <a:rPr lang="en-US" dirty="0" smtClean="0"/>
            </a:br>
            <a:r>
              <a:rPr lang="en-US" dirty="0" smtClean="0"/>
              <a:t>by Education Needed</a:t>
            </a:r>
            <a:endParaRPr lang="en-US" dirty="0"/>
          </a:p>
        </p:txBody>
      </p:sp>
      <p:graphicFrame>
        <p:nvGraphicFramePr>
          <p:cNvPr id="5" name="Content Placeholder 4"/>
          <p:cNvGraphicFramePr>
            <a:graphicFrameLocks noGrp="1"/>
          </p:cNvGraphicFramePr>
          <p:nvPr>
            <p:ph idx="4294967295"/>
          </p:nvPr>
        </p:nvGraphicFramePr>
        <p:xfrm>
          <a:off x="0" y="685800"/>
          <a:ext cx="9144000" cy="57150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1600200" y="6400800"/>
            <a:ext cx="5163786" cy="307777"/>
          </a:xfrm>
          <a:prstGeom prst="rect">
            <a:avLst/>
          </a:prstGeom>
          <a:noFill/>
        </p:spPr>
        <p:txBody>
          <a:bodyPr wrap="none" rtlCol="0">
            <a:spAutoFit/>
          </a:bodyPr>
          <a:lstStyle/>
          <a:p>
            <a:r>
              <a:rPr lang="en-US" sz="1400" i="1" dirty="0" smtClean="0"/>
              <a:t>Source: 2010-2020 Estimated Employment Projections Unit NMDW</a:t>
            </a:r>
            <a:r>
              <a:rPr lang="en-US" sz="1400" dirty="0" smtClean="0"/>
              <a:t>S</a:t>
            </a:r>
            <a:endParaRPr lang="en-US" sz="1400" dirty="0"/>
          </a:p>
        </p:txBody>
      </p:sp>
      <p:graphicFrame>
        <p:nvGraphicFramePr>
          <p:cNvPr id="8" name="Chart 7"/>
          <p:cNvGraphicFramePr/>
          <p:nvPr/>
        </p:nvGraphicFramePr>
        <p:xfrm>
          <a:off x="0" y="990600"/>
          <a:ext cx="8915400" cy="556260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Title 1"/>
          <p:cNvSpPr>
            <a:spLocks noGrp="1"/>
          </p:cNvSpPr>
          <p:nvPr>
            <p:ph type="title"/>
          </p:nvPr>
        </p:nvSpPr>
        <p:spPr>
          <a:xfrm>
            <a:off x="533400" y="0"/>
            <a:ext cx="8229600" cy="792162"/>
          </a:xfrm>
        </p:spPr>
        <p:txBody>
          <a:bodyPr/>
          <a:lstStyle/>
          <a:p>
            <a:pPr eaLnBrk="1" hangingPunct="1"/>
            <a:r>
              <a:rPr lang="en-US" sz="2800" dirty="0" smtClean="0"/>
              <a:t>NM 10 Occupations with the Highest Employment </a:t>
            </a:r>
          </a:p>
        </p:txBody>
      </p:sp>
      <p:graphicFrame>
        <p:nvGraphicFramePr>
          <p:cNvPr id="5" name="Content Placeholder 4"/>
          <p:cNvGraphicFramePr>
            <a:graphicFrameLocks noGrp="1"/>
          </p:cNvGraphicFramePr>
          <p:nvPr>
            <p:ph idx="1"/>
          </p:nvPr>
        </p:nvGraphicFramePr>
        <p:xfrm>
          <a:off x="1905000" y="914400"/>
          <a:ext cx="7239000" cy="5105399"/>
        </p:xfrm>
        <a:graphic>
          <a:graphicData uri="http://schemas.openxmlformats.org/drawingml/2006/table">
            <a:tbl>
              <a:tblPr firstRow="1" bandRow="1">
                <a:tableStyleId>{7DF18680-E054-41AD-8BC1-D1AEF772440D}</a:tableStyleId>
              </a:tblPr>
              <a:tblGrid>
                <a:gridCol w="5943600"/>
                <a:gridCol w="1295400"/>
              </a:tblGrid>
              <a:tr h="960263">
                <a:tc>
                  <a:txBody>
                    <a:bodyPr/>
                    <a:lstStyle/>
                    <a:p>
                      <a:endParaRPr lang="en-US" dirty="0" smtClean="0"/>
                    </a:p>
                    <a:p>
                      <a:endParaRPr lang="en-US" dirty="0" smtClean="0"/>
                    </a:p>
                    <a:p>
                      <a:r>
                        <a:rPr lang="en-US" dirty="0" smtClean="0"/>
                        <a:t>Occupation</a:t>
                      </a:r>
                      <a:endParaRPr lang="en-US" dirty="0"/>
                    </a:p>
                  </a:txBody>
                  <a:tcPr/>
                </a:tc>
                <a:tc>
                  <a:txBody>
                    <a:bodyPr/>
                    <a:lstStyle/>
                    <a:p>
                      <a:pPr algn="r"/>
                      <a:r>
                        <a:rPr lang="en-US" sz="1600" dirty="0" smtClean="0"/>
                        <a:t>2010 Estimated</a:t>
                      </a:r>
                      <a:r>
                        <a:rPr lang="en-US" sz="1600" baseline="0" dirty="0" smtClean="0"/>
                        <a:t> Employment</a:t>
                      </a:r>
                      <a:endParaRPr lang="en-US" sz="1600" dirty="0"/>
                    </a:p>
                  </a:txBody>
                  <a:tcPr/>
                </a:tc>
              </a:tr>
              <a:tr h="3894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Retail Salespersons </a:t>
                      </a:r>
                    </a:p>
                  </a:txBody>
                  <a:tcPr anchor="ct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dirty="0" smtClean="0"/>
                        <a:t>29,637</a:t>
                      </a:r>
                    </a:p>
                  </a:txBody>
                  <a:tcPr/>
                </a:tc>
              </a:tr>
              <a:tr h="389440">
                <a:tc>
                  <a:txBody>
                    <a:bodyPr/>
                    <a:lstStyle/>
                    <a:p>
                      <a:r>
                        <a:rPr lang="en-US" dirty="0"/>
                        <a:t>Cashiers </a:t>
                      </a:r>
                    </a:p>
                  </a:txBody>
                  <a:tcPr marL="30480" marR="30480" marT="30480" marB="30480" anchor="ctr"/>
                </a:tc>
                <a:tc>
                  <a:txBody>
                    <a:bodyPr/>
                    <a:lstStyle/>
                    <a:p>
                      <a:pPr algn="r"/>
                      <a:r>
                        <a:rPr lang="en-US"/>
                        <a:t>19,001</a:t>
                      </a:r>
                    </a:p>
                  </a:txBody>
                  <a:tcPr marL="30480" marR="30480" marT="30480" marB="30480" anchor="ctr"/>
                </a:tc>
              </a:tr>
              <a:tr h="389440">
                <a:tc>
                  <a:txBody>
                    <a:bodyPr/>
                    <a:lstStyle/>
                    <a:p>
                      <a:r>
                        <a:rPr lang="en-US" dirty="0"/>
                        <a:t>Personal and Home Care Aides </a:t>
                      </a:r>
                    </a:p>
                  </a:txBody>
                  <a:tcPr marL="30480" marR="30480" marT="30480" marB="30480" anchor="ctr"/>
                </a:tc>
                <a:tc>
                  <a:txBody>
                    <a:bodyPr/>
                    <a:lstStyle/>
                    <a:p>
                      <a:pPr algn="r"/>
                      <a:r>
                        <a:rPr lang="en-US" dirty="0"/>
                        <a:t>17,778</a:t>
                      </a:r>
                    </a:p>
                  </a:txBody>
                  <a:tcPr marL="30480" marR="30480" marT="30480" marB="30480" anchor="ctr"/>
                </a:tc>
              </a:tr>
              <a:tr h="389440">
                <a:tc>
                  <a:txBody>
                    <a:bodyPr/>
                    <a:lstStyle/>
                    <a:p>
                      <a:r>
                        <a:rPr lang="en-US"/>
                        <a:t>Secretaries, Except Legal, Medical, and Executive </a:t>
                      </a:r>
                    </a:p>
                  </a:txBody>
                  <a:tcPr marL="30480" marR="30480" marT="30480" marB="30480" anchor="ctr"/>
                </a:tc>
                <a:tc>
                  <a:txBody>
                    <a:bodyPr/>
                    <a:lstStyle/>
                    <a:p>
                      <a:pPr algn="r"/>
                      <a:r>
                        <a:rPr lang="en-US" dirty="0"/>
                        <a:t>17,486</a:t>
                      </a:r>
                    </a:p>
                  </a:txBody>
                  <a:tcPr marL="30480" marR="30480" marT="30480" marB="30480" anchor="ctr"/>
                </a:tc>
              </a:tr>
              <a:tr h="389440">
                <a:tc>
                  <a:txBody>
                    <a:bodyPr/>
                    <a:lstStyle/>
                    <a:p>
                      <a:r>
                        <a:rPr lang="en-US"/>
                        <a:t>Registered Nurses </a:t>
                      </a:r>
                    </a:p>
                  </a:txBody>
                  <a:tcPr marL="30480" marR="30480" marT="30480" marB="30480" anchor="ctr"/>
                </a:tc>
                <a:tc>
                  <a:txBody>
                    <a:bodyPr/>
                    <a:lstStyle/>
                    <a:p>
                      <a:pPr algn="r"/>
                      <a:r>
                        <a:rPr lang="en-US" dirty="0"/>
                        <a:t>15,146</a:t>
                      </a:r>
                    </a:p>
                  </a:txBody>
                  <a:tcPr marL="30480" marR="30480" marT="30480" marB="30480" anchor="ctr"/>
                </a:tc>
              </a:tr>
              <a:tr h="389440">
                <a:tc>
                  <a:txBody>
                    <a:bodyPr/>
                    <a:lstStyle/>
                    <a:p>
                      <a:r>
                        <a:rPr lang="en-US"/>
                        <a:t>Waiters and Waitresses </a:t>
                      </a:r>
                    </a:p>
                  </a:txBody>
                  <a:tcPr marL="30480" marR="30480" marT="30480" marB="30480" anchor="ctr"/>
                </a:tc>
                <a:tc>
                  <a:txBody>
                    <a:bodyPr/>
                    <a:lstStyle/>
                    <a:p>
                      <a:pPr algn="r"/>
                      <a:r>
                        <a:rPr lang="en-US" dirty="0"/>
                        <a:t>15,141</a:t>
                      </a:r>
                    </a:p>
                  </a:txBody>
                  <a:tcPr marL="30480" marR="30480" marT="30480" marB="30480" anchor="ctr"/>
                </a:tc>
              </a:tr>
              <a:tr h="389440">
                <a:tc>
                  <a:txBody>
                    <a:bodyPr/>
                    <a:lstStyle/>
                    <a:p>
                      <a:r>
                        <a:rPr lang="en-US"/>
                        <a:t>General and Operations Managers </a:t>
                      </a:r>
                    </a:p>
                  </a:txBody>
                  <a:tcPr marL="30480" marR="30480" marT="30480" marB="30480" anchor="ctr"/>
                </a:tc>
                <a:tc>
                  <a:txBody>
                    <a:bodyPr/>
                    <a:lstStyle/>
                    <a:p>
                      <a:pPr algn="r"/>
                      <a:r>
                        <a:rPr lang="en-US" dirty="0"/>
                        <a:t>13,993</a:t>
                      </a:r>
                    </a:p>
                  </a:txBody>
                  <a:tcPr marL="30480" marR="30480" marT="30480" marB="30480" anchor="ctr"/>
                </a:tc>
              </a:tr>
              <a:tr h="389440">
                <a:tc>
                  <a:txBody>
                    <a:bodyPr/>
                    <a:lstStyle/>
                    <a:p>
                      <a:r>
                        <a:rPr lang="en-US" dirty="0"/>
                        <a:t>Bookkeeping, Accounting, </a:t>
                      </a:r>
                      <a:r>
                        <a:rPr lang="en-US" dirty="0" smtClean="0"/>
                        <a:t>&amp; </a:t>
                      </a:r>
                      <a:r>
                        <a:rPr lang="en-US" dirty="0"/>
                        <a:t>Auditing Clerks </a:t>
                      </a:r>
                    </a:p>
                  </a:txBody>
                  <a:tcPr marL="30480" marR="30480" marT="30480" marB="30480" anchor="ctr"/>
                </a:tc>
                <a:tc>
                  <a:txBody>
                    <a:bodyPr/>
                    <a:lstStyle/>
                    <a:p>
                      <a:pPr algn="r"/>
                      <a:r>
                        <a:rPr lang="en-US" dirty="0"/>
                        <a:t>13,692</a:t>
                      </a:r>
                    </a:p>
                  </a:txBody>
                  <a:tcPr marL="30480" marR="30480" marT="30480" marB="30480" anchor="ctr"/>
                </a:tc>
              </a:tr>
              <a:tr h="389440">
                <a:tc>
                  <a:txBody>
                    <a:bodyPr/>
                    <a:lstStyle/>
                    <a:p>
                      <a:r>
                        <a:rPr lang="en-US" dirty="0"/>
                        <a:t>Combined Food Preparation </a:t>
                      </a:r>
                      <a:r>
                        <a:rPr lang="en-US" dirty="0" smtClean="0"/>
                        <a:t>&amp; </a:t>
                      </a:r>
                      <a:r>
                        <a:rPr lang="en-US" dirty="0"/>
                        <a:t>Serving Workers, </a:t>
                      </a:r>
                      <a:r>
                        <a:rPr lang="en-US" dirty="0" smtClean="0"/>
                        <a:t>Inc. </a:t>
                      </a:r>
                      <a:r>
                        <a:rPr lang="en-US" dirty="0"/>
                        <a:t>Fast Food </a:t>
                      </a:r>
                    </a:p>
                  </a:txBody>
                  <a:tcPr marL="30480" marR="30480" marT="30480" marB="30480" anchor="ctr"/>
                </a:tc>
                <a:tc>
                  <a:txBody>
                    <a:bodyPr/>
                    <a:lstStyle/>
                    <a:p>
                      <a:pPr algn="r"/>
                      <a:r>
                        <a:rPr lang="en-US" dirty="0"/>
                        <a:t>13,489</a:t>
                      </a:r>
                    </a:p>
                  </a:txBody>
                  <a:tcPr marL="30480" marR="30480" marT="30480" marB="30480" anchor="ctr"/>
                </a:tc>
              </a:tr>
              <a:tr h="640176">
                <a:tc>
                  <a:txBody>
                    <a:bodyPr/>
                    <a:lstStyle/>
                    <a:p>
                      <a:r>
                        <a:rPr lang="en-US" dirty="0"/>
                        <a:t>Janitors </a:t>
                      </a:r>
                      <a:r>
                        <a:rPr lang="en-US" dirty="0" smtClean="0"/>
                        <a:t>&amp; </a:t>
                      </a:r>
                      <a:r>
                        <a:rPr lang="en-US" dirty="0"/>
                        <a:t>Cleaners, Except Maids </a:t>
                      </a:r>
                      <a:r>
                        <a:rPr lang="en-US" dirty="0" smtClean="0"/>
                        <a:t>&amp; </a:t>
                      </a:r>
                      <a:r>
                        <a:rPr lang="en-US" dirty="0"/>
                        <a:t>Housekeeping Cleaners </a:t>
                      </a:r>
                    </a:p>
                  </a:txBody>
                  <a:tcPr marL="30480" marR="30480" marT="30480" marB="30480" anchor="ctr"/>
                </a:tc>
                <a:tc>
                  <a:txBody>
                    <a:bodyPr/>
                    <a:lstStyle/>
                    <a:p>
                      <a:pPr algn="r"/>
                      <a:r>
                        <a:rPr lang="en-US" dirty="0"/>
                        <a:t>13,168</a:t>
                      </a:r>
                    </a:p>
                  </a:txBody>
                  <a:tcPr marL="30480" marR="30480" marT="30480" marB="30480" anchor="ctr"/>
                </a:tc>
              </a:tr>
            </a:tbl>
          </a:graphicData>
        </a:graphic>
      </p:graphicFrame>
      <p:sp>
        <p:nvSpPr>
          <p:cNvPr id="7" name="TextBox 6"/>
          <p:cNvSpPr txBox="1"/>
          <p:nvPr/>
        </p:nvSpPr>
        <p:spPr>
          <a:xfrm>
            <a:off x="0" y="3429000"/>
            <a:ext cx="1981200" cy="1846659"/>
          </a:xfrm>
          <a:prstGeom prst="rect">
            <a:avLst/>
          </a:prstGeom>
          <a:noFill/>
        </p:spPr>
        <p:txBody>
          <a:bodyPr wrap="square" rtlCol="0">
            <a:spAutoFit/>
          </a:bodyPr>
          <a:lstStyle/>
          <a:p>
            <a:r>
              <a:rPr lang="en-US" dirty="0" smtClean="0"/>
              <a:t>Nationally –</a:t>
            </a:r>
            <a:r>
              <a:rPr lang="en-US" sz="1600" dirty="0" smtClean="0"/>
              <a:t> </a:t>
            </a:r>
          </a:p>
          <a:p>
            <a:r>
              <a:rPr lang="en-US" sz="1600" dirty="0" smtClean="0"/>
              <a:t>Retail Salespersons and Cashiers make up nearly 6 percent of total US Employment,</a:t>
            </a:r>
          </a:p>
          <a:p>
            <a:r>
              <a:rPr lang="en-US" sz="1600" dirty="0" smtClean="0"/>
              <a:t>  OES 2011.</a:t>
            </a:r>
            <a:endParaRPr lang="en-US" sz="1600" dirty="0"/>
          </a:p>
        </p:txBody>
      </p:sp>
      <p:pic>
        <p:nvPicPr>
          <p:cNvPr id="6" name="Picture 5" descr="cashier-career-guide1.jpg"/>
          <p:cNvPicPr>
            <a:picLocks noChangeAspect="1"/>
          </p:cNvPicPr>
          <p:nvPr/>
        </p:nvPicPr>
        <p:blipFill>
          <a:blip r:embed="rId3" cstate="print"/>
          <a:srcRect l="43529"/>
          <a:stretch>
            <a:fillRect/>
          </a:stretch>
        </p:blipFill>
        <p:spPr>
          <a:xfrm>
            <a:off x="0" y="914400"/>
            <a:ext cx="1828800" cy="2148840"/>
          </a:xfrm>
          <a:prstGeom prst="rect">
            <a:avLst/>
          </a:prstGeom>
          <a:noFill/>
          <a:ln>
            <a:noFill/>
          </a:ln>
        </p:spPr>
      </p:pic>
      <p:sp>
        <p:nvSpPr>
          <p:cNvPr id="8" name="TextBox 7"/>
          <p:cNvSpPr txBox="1"/>
          <p:nvPr/>
        </p:nvSpPr>
        <p:spPr>
          <a:xfrm>
            <a:off x="1600200" y="6400800"/>
            <a:ext cx="5163786" cy="307777"/>
          </a:xfrm>
          <a:prstGeom prst="rect">
            <a:avLst/>
          </a:prstGeom>
          <a:noFill/>
        </p:spPr>
        <p:txBody>
          <a:bodyPr wrap="none" rtlCol="0">
            <a:spAutoFit/>
          </a:bodyPr>
          <a:lstStyle/>
          <a:p>
            <a:r>
              <a:rPr lang="en-US" sz="1400" i="1" dirty="0" smtClean="0"/>
              <a:t>Source: 2010-2020 Estimated Employment Projections Unit NMDW</a:t>
            </a:r>
            <a:r>
              <a:rPr lang="en-US" sz="1400" dirty="0" smtClean="0"/>
              <a:t>S</a:t>
            </a:r>
            <a:endParaRPr lang="en-US" sz="1400"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a:xfrm>
            <a:off x="381000" y="0"/>
            <a:ext cx="8229600" cy="792163"/>
          </a:xfrm>
        </p:spPr>
        <p:txBody>
          <a:bodyPr/>
          <a:lstStyle/>
          <a:p>
            <a:pPr eaLnBrk="1" hangingPunct="1"/>
            <a:r>
              <a:rPr lang="en-US" smtClean="0"/>
              <a:t>NM Occupations, Most Annual Openings</a:t>
            </a:r>
          </a:p>
        </p:txBody>
      </p:sp>
      <p:graphicFrame>
        <p:nvGraphicFramePr>
          <p:cNvPr id="4" name="Content Placeholder 3"/>
          <p:cNvGraphicFramePr>
            <a:graphicFrameLocks noGrp="1"/>
          </p:cNvGraphicFramePr>
          <p:nvPr>
            <p:ph idx="1"/>
          </p:nvPr>
        </p:nvGraphicFramePr>
        <p:xfrm>
          <a:off x="1" y="802064"/>
          <a:ext cx="6400799" cy="5291606"/>
        </p:xfrm>
        <a:graphic>
          <a:graphicData uri="http://schemas.openxmlformats.org/drawingml/2006/table">
            <a:tbl>
              <a:tblPr firstRow="1" bandRow="1">
                <a:tableStyleId>{7DF18680-E054-41AD-8BC1-D1AEF772440D}</a:tableStyleId>
              </a:tblPr>
              <a:tblGrid>
                <a:gridCol w="517236"/>
                <a:gridCol w="3927763"/>
                <a:gridCol w="948267"/>
                <a:gridCol w="1007533"/>
              </a:tblGrid>
              <a:tr h="657649">
                <a:tc>
                  <a:txBody>
                    <a:bodyPr/>
                    <a:lstStyle/>
                    <a:p>
                      <a:pPr algn="ctr" fontAlgn="b"/>
                      <a:r>
                        <a:rPr lang="en-US" sz="1600" u="none" strike="noStrike" dirty="0"/>
                        <a:t>Rank</a:t>
                      </a:r>
                      <a:endParaRPr lang="en-US" sz="1600" b="1" i="0" u="none" strike="noStrike" dirty="0">
                        <a:solidFill>
                          <a:srgbClr val="000000"/>
                        </a:solidFill>
                        <a:latin typeface="Arial"/>
                      </a:endParaRPr>
                    </a:p>
                  </a:txBody>
                  <a:tcPr marL="0" marR="0" marT="0" marB="0" anchor="b"/>
                </a:tc>
                <a:tc>
                  <a:txBody>
                    <a:bodyPr/>
                    <a:lstStyle/>
                    <a:p>
                      <a:pPr algn="ctr" fontAlgn="b"/>
                      <a:r>
                        <a:rPr lang="en-US" sz="1600" u="none" strike="noStrike" dirty="0"/>
                        <a:t>Occupational </a:t>
                      </a:r>
                      <a:endParaRPr lang="en-US" sz="1600" b="1" i="0" u="none" strike="noStrike" dirty="0">
                        <a:solidFill>
                          <a:srgbClr val="000000"/>
                        </a:solidFill>
                        <a:latin typeface="Arial"/>
                      </a:endParaRPr>
                    </a:p>
                  </a:txBody>
                  <a:tcPr marL="0" marR="0" marT="0" marB="0" anchor="b"/>
                </a:tc>
                <a:tc>
                  <a:txBody>
                    <a:bodyPr/>
                    <a:lstStyle/>
                    <a:p>
                      <a:pPr algn="ctr" fontAlgn="b"/>
                      <a:r>
                        <a:rPr lang="en-US" sz="1200" u="none" strike="noStrike" dirty="0" smtClean="0"/>
                        <a:t>2010-2020</a:t>
                      </a:r>
                    </a:p>
                    <a:p>
                      <a:pPr algn="ctr" fontAlgn="b"/>
                      <a:r>
                        <a:rPr lang="en-US" sz="1200" u="none" strike="noStrike" dirty="0" smtClean="0"/>
                        <a:t>Annual  Average Job </a:t>
                      </a:r>
                      <a:r>
                        <a:rPr lang="en-US" sz="1200" u="none" strike="noStrike" dirty="0"/>
                        <a:t>Openings </a:t>
                      </a:r>
                      <a:endParaRPr lang="en-US" sz="1200" b="1" i="0" u="none" strike="noStrike" dirty="0">
                        <a:solidFill>
                          <a:srgbClr val="000000"/>
                        </a:solidFill>
                        <a:latin typeface="Arial"/>
                      </a:endParaRPr>
                    </a:p>
                  </a:txBody>
                  <a:tcPr marL="0" marR="0" marT="0" marB="0" anchor="b"/>
                </a:tc>
                <a:tc>
                  <a:txBody>
                    <a:bodyPr/>
                    <a:lstStyle/>
                    <a:p>
                      <a:pPr algn="ctr" fontAlgn="b"/>
                      <a:r>
                        <a:rPr lang="en-US" sz="1200" u="none" strike="noStrike" dirty="0" smtClean="0"/>
                        <a:t>2011</a:t>
                      </a:r>
                    </a:p>
                    <a:p>
                      <a:pPr algn="ctr" fontAlgn="b"/>
                      <a:r>
                        <a:rPr lang="en-US" sz="1200" u="none" strike="noStrike" dirty="0" smtClean="0"/>
                        <a:t>Entry</a:t>
                      </a:r>
                      <a:r>
                        <a:rPr lang="en-US" sz="1200" u="none" strike="noStrike" baseline="0" dirty="0" smtClean="0"/>
                        <a:t> Level Wage (OES)</a:t>
                      </a:r>
                      <a:endParaRPr lang="en-US" sz="1200" b="1" i="0" u="none" strike="noStrike" dirty="0">
                        <a:solidFill>
                          <a:srgbClr val="000000"/>
                        </a:solidFill>
                        <a:latin typeface="Arial"/>
                      </a:endParaRPr>
                    </a:p>
                  </a:txBody>
                  <a:tcPr marL="0" marR="0" marT="0" marB="0" anchor="b"/>
                </a:tc>
              </a:tr>
              <a:tr h="347091">
                <a:tc>
                  <a:txBody>
                    <a:bodyPr/>
                    <a:lstStyle/>
                    <a:p>
                      <a:pPr algn="ctr" fontAlgn="b"/>
                      <a:r>
                        <a:rPr lang="en-US" sz="1600" kern="1200" dirty="0"/>
                        <a:t>1</a:t>
                      </a:r>
                      <a:endParaRPr lang="en-US" sz="1600" kern="1200" dirty="0">
                        <a:solidFill>
                          <a:schemeClr val="dk1"/>
                        </a:solidFill>
                        <a:latin typeface="Arial" pitchFamily="34" charset="0"/>
                        <a:ea typeface="+mn-ea"/>
                        <a:cs typeface="Arial" pitchFamily="34" charset="0"/>
                      </a:endParaRPr>
                    </a:p>
                  </a:txBody>
                  <a:tcPr marL="0" marR="0" marT="0" marB="0" anchor="b"/>
                </a:tc>
                <a:tc>
                  <a:txBody>
                    <a:bodyPr/>
                    <a:lstStyle/>
                    <a:p>
                      <a:pPr marL="0" algn="l" defTabSz="914400" rtl="0" eaLnBrk="1" fontAlgn="b" latinLnBrk="0" hangingPunct="1"/>
                      <a:r>
                        <a:rPr lang="en-US" sz="1600" u="none" strike="noStrike" kern="1200" dirty="0"/>
                        <a:t>Retail Salespersons</a:t>
                      </a:r>
                      <a:endParaRPr lang="en-US" sz="1600" b="0" i="0" u="none" strike="noStrike" kern="1200" dirty="0">
                        <a:solidFill>
                          <a:srgbClr val="000000"/>
                        </a:solidFill>
                        <a:latin typeface="Arial"/>
                        <a:ea typeface="+mn-ea"/>
                        <a:cs typeface="+mn-cs"/>
                      </a:endParaRPr>
                    </a:p>
                  </a:txBody>
                  <a:tcPr marL="0" marR="0" marT="0" marB="0" anchor="b"/>
                </a:tc>
                <a:tc>
                  <a:txBody>
                    <a:bodyPr/>
                    <a:lstStyle/>
                    <a:p>
                      <a:pPr marL="0" algn="r" defTabSz="914400" rtl="0" eaLnBrk="1" fontAlgn="b" latinLnBrk="0" hangingPunct="1"/>
                      <a:r>
                        <a:rPr lang="en-US" sz="1600" u="none" strike="noStrike" kern="1200" dirty="0" smtClean="0"/>
                        <a:t>1,435 </a:t>
                      </a:r>
                      <a:endParaRPr lang="en-US" sz="1600" b="0" i="0" u="none" strike="noStrike" kern="1200" dirty="0">
                        <a:solidFill>
                          <a:srgbClr val="000000"/>
                        </a:solidFill>
                        <a:latin typeface="Arial"/>
                        <a:ea typeface="+mn-ea"/>
                        <a:cs typeface="+mn-cs"/>
                      </a:endParaRPr>
                    </a:p>
                  </a:txBody>
                  <a:tcPr marL="0" marR="0" marT="0" marB="0" anchor="b"/>
                </a:tc>
                <a:tc>
                  <a:txBody>
                    <a:bodyPr/>
                    <a:lstStyle/>
                    <a:p>
                      <a:pPr marL="0" algn="r" defTabSz="914400" rtl="0" eaLnBrk="1" fontAlgn="b" latinLnBrk="0" hangingPunct="1"/>
                      <a:r>
                        <a:rPr lang="en-US" sz="1600" u="none" strike="noStrike" kern="1200" dirty="0" smtClean="0">
                          <a:solidFill>
                            <a:schemeClr val="dk1"/>
                          </a:solidFill>
                          <a:latin typeface="+mn-lt"/>
                          <a:ea typeface="+mn-ea"/>
                          <a:cs typeface="+mn-cs"/>
                        </a:rPr>
                        <a:t>$17,320</a:t>
                      </a:r>
                      <a:endParaRPr lang="en-US" sz="1600" u="none" strike="noStrike" kern="1200" dirty="0">
                        <a:solidFill>
                          <a:schemeClr val="dk1"/>
                        </a:solidFill>
                        <a:latin typeface="+mn-lt"/>
                        <a:ea typeface="+mn-ea"/>
                        <a:cs typeface="+mn-cs"/>
                      </a:endParaRPr>
                    </a:p>
                  </a:txBody>
                  <a:tcPr marL="0" marR="0" marT="0" marB="0" anchor="b"/>
                </a:tc>
              </a:tr>
              <a:tr h="365361">
                <a:tc>
                  <a:txBody>
                    <a:bodyPr/>
                    <a:lstStyle/>
                    <a:p>
                      <a:pPr algn="ctr" fontAlgn="b"/>
                      <a:r>
                        <a:rPr lang="en-US" sz="1600" kern="1200" dirty="0"/>
                        <a:t>2</a:t>
                      </a:r>
                      <a:endParaRPr lang="en-US" sz="1600" kern="1200" dirty="0">
                        <a:solidFill>
                          <a:schemeClr val="dk1"/>
                        </a:solidFill>
                        <a:latin typeface="Arial" pitchFamily="34" charset="0"/>
                        <a:ea typeface="+mn-ea"/>
                        <a:cs typeface="Arial" pitchFamily="34" charset="0"/>
                      </a:endParaRPr>
                    </a:p>
                  </a:txBody>
                  <a:tcPr marL="0" marR="0" marT="0" marB="0" anchor="b"/>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600" u="none" strike="noStrike" kern="1200" dirty="0" smtClean="0"/>
                        <a:t>Waiters and Waitresses</a:t>
                      </a:r>
                      <a:endParaRPr lang="en-US" sz="1600" b="0" i="0" u="none" strike="noStrike" kern="1200" dirty="0" smtClean="0">
                        <a:solidFill>
                          <a:srgbClr val="000000"/>
                        </a:solidFill>
                        <a:latin typeface="Arial"/>
                        <a:ea typeface="+mn-ea"/>
                        <a:cs typeface="+mn-cs"/>
                      </a:endParaRPr>
                    </a:p>
                  </a:txBody>
                  <a:tcPr marL="0" marR="0" marT="0" marB="0" anchor="b"/>
                </a:tc>
                <a:tc>
                  <a:txBody>
                    <a:bodyPr/>
                    <a:lstStyle/>
                    <a:p>
                      <a:pPr marL="0" algn="r" defTabSz="914400" rtl="0" eaLnBrk="1" fontAlgn="b" latinLnBrk="0" hangingPunct="1"/>
                      <a:r>
                        <a:rPr lang="en-US" sz="1600" u="none" strike="noStrike" kern="1200" dirty="0" smtClean="0">
                          <a:solidFill>
                            <a:schemeClr val="dk1"/>
                          </a:solidFill>
                          <a:latin typeface="+mn-lt"/>
                          <a:ea typeface="+mn-ea"/>
                          <a:cs typeface="+mn-cs"/>
                        </a:rPr>
                        <a:t>1,114</a:t>
                      </a:r>
                      <a:endParaRPr lang="en-US" sz="1600" u="none" strike="noStrike" kern="1200" dirty="0">
                        <a:solidFill>
                          <a:schemeClr val="dk1"/>
                        </a:solidFill>
                        <a:latin typeface="+mn-lt"/>
                        <a:ea typeface="+mn-ea"/>
                        <a:cs typeface="+mn-cs"/>
                      </a:endParaRPr>
                    </a:p>
                  </a:txBody>
                  <a:tcPr marL="0" marR="0" marT="0" marB="0" anchor="b"/>
                </a:tc>
                <a:tc>
                  <a:txBody>
                    <a:bodyPr/>
                    <a:lstStyle/>
                    <a:p>
                      <a:pPr marL="0" algn="r" defTabSz="914400" rtl="0" eaLnBrk="1" fontAlgn="b" latinLnBrk="0" hangingPunct="1"/>
                      <a:r>
                        <a:rPr lang="en-US" sz="1600" u="none" strike="noStrike" kern="1200" dirty="0" smtClean="0">
                          <a:solidFill>
                            <a:schemeClr val="dk1"/>
                          </a:solidFill>
                          <a:latin typeface="+mn-lt"/>
                          <a:ea typeface="+mn-ea"/>
                          <a:cs typeface="+mn-cs"/>
                        </a:rPr>
                        <a:t>$17,260</a:t>
                      </a:r>
                      <a:endParaRPr lang="en-US" sz="1600" u="none" strike="noStrike" kern="1200" dirty="0">
                        <a:solidFill>
                          <a:schemeClr val="dk1"/>
                        </a:solidFill>
                        <a:latin typeface="+mn-lt"/>
                        <a:ea typeface="+mn-ea"/>
                        <a:cs typeface="+mn-cs"/>
                      </a:endParaRPr>
                    </a:p>
                  </a:txBody>
                  <a:tcPr marL="0" marR="0" marT="0" marB="0" anchor="b"/>
                </a:tc>
              </a:tr>
              <a:tr h="365361">
                <a:tc>
                  <a:txBody>
                    <a:bodyPr/>
                    <a:lstStyle/>
                    <a:p>
                      <a:pPr algn="ctr" fontAlgn="b"/>
                      <a:r>
                        <a:rPr lang="en-US" sz="1600" kern="1200" dirty="0"/>
                        <a:t>3</a:t>
                      </a:r>
                      <a:endParaRPr lang="en-US" sz="1600" kern="1200" dirty="0">
                        <a:solidFill>
                          <a:schemeClr val="dk1"/>
                        </a:solidFill>
                        <a:latin typeface="Arial" pitchFamily="34" charset="0"/>
                        <a:ea typeface="+mn-ea"/>
                        <a:cs typeface="Arial" pitchFamily="34" charset="0"/>
                      </a:endParaRPr>
                    </a:p>
                  </a:txBody>
                  <a:tcPr marL="0" marR="0" marT="0" marB="0" anchor="b"/>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600" u="none" strike="noStrike" kern="1200" dirty="0" smtClean="0"/>
                        <a:t>Cashiers</a:t>
                      </a:r>
                      <a:endParaRPr lang="en-US" sz="1600" b="0" i="0" u="none" strike="noStrike" kern="1200" dirty="0" smtClean="0">
                        <a:solidFill>
                          <a:srgbClr val="000000"/>
                        </a:solidFill>
                        <a:latin typeface="Arial"/>
                        <a:ea typeface="+mn-ea"/>
                        <a:cs typeface="+mn-cs"/>
                      </a:endParaRPr>
                    </a:p>
                  </a:txBody>
                  <a:tcPr marL="0" marR="0" marT="0" marB="0" anchor="b"/>
                </a:tc>
                <a:tc>
                  <a:txBody>
                    <a:bodyPr/>
                    <a:lstStyle/>
                    <a:p>
                      <a:pPr marL="0" algn="r" defTabSz="914400" rtl="0" eaLnBrk="1" fontAlgn="b" latinLnBrk="0" hangingPunct="1"/>
                      <a:r>
                        <a:rPr lang="en-US" sz="1600" u="none" strike="noStrike" kern="1200" dirty="0" smtClean="0">
                          <a:solidFill>
                            <a:schemeClr val="dk1"/>
                          </a:solidFill>
                          <a:latin typeface="+mn-lt"/>
                          <a:ea typeface="+mn-ea"/>
                          <a:cs typeface="+mn-cs"/>
                        </a:rPr>
                        <a:t>1,112</a:t>
                      </a:r>
                      <a:endParaRPr lang="en-US" sz="1600" u="none" strike="noStrike" kern="1200" dirty="0">
                        <a:solidFill>
                          <a:schemeClr val="dk1"/>
                        </a:solidFill>
                        <a:latin typeface="+mn-lt"/>
                        <a:ea typeface="+mn-ea"/>
                        <a:cs typeface="+mn-cs"/>
                      </a:endParaRPr>
                    </a:p>
                  </a:txBody>
                  <a:tcPr marL="0" marR="0" marT="0" marB="0" anchor="b"/>
                </a:tc>
                <a:tc>
                  <a:txBody>
                    <a:bodyPr/>
                    <a:lstStyle/>
                    <a:p>
                      <a:pPr marL="0" algn="r" defTabSz="914400" rtl="0" eaLnBrk="1" fontAlgn="b" latinLnBrk="0" hangingPunct="1"/>
                      <a:r>
                        <a:rPr lang="en-US" sz="1600" u="none" strike="noStrike" kern="1200" dirty="0" smtClean="0">
                          <a:solidFill>
                            <a:schemeClr val="dk1"/>
                          </a:solidFill>
                          <a:latin typeface="+mn-lt"/>
                          <a:ea typeface="+mn-ea"/>
                          <a:cs typeface="+mn-cs"/>
                        </a:rPr>
                        <a:t>$17,330</a:t>
                      </a:r>
                      <a:endParaRPr lang="en-US" sz="1600" u="none" strike="noStrike" kern="1200" dirty="0">
                        <a:solidFill>
                          <a:schemeClr val="dk1"/>
                        </a:solidFill>
                        <a:latin typeface="+mn-lt"/>
                        <a:ea typeface="+mn-ea"/>
                        <a:cs typeface="+mn-cs"/>
                      </a:endParaRPr>
                    </a:p>
                  </a:txBody>
                  <a:tcPr marL="0" marR="0" marT="0" marB="0" anchor="b"/>
                </a:tc>
              </a:tr>
              <a:tr h="456701">
                <a:tc>
                  <a:txBody>
                    <a:bodyPr/>
                    <a:lstStyle/>
                    <a:p>
                      <a:pPr algn="ctr" fontAlgn="b"/>
                      <a:r>
                        <a:rPr lang="en-US" sz="1600" kern="1200" dirty="0"/>
                        <a:t>4</a:t>
                      </a:r>
                      <a:endParaRPr lang="en-US" sz="1600" kern="1200" dirty="0">
                        <a:solidFill>
                          <a:schemeClr val="dk1"/>
                        </a:solidFill>
                        <a:latin typeface="Arial" pitchFamily="34" charset="0"/>
                        <a:ea typeface="+mn-ea"/>
                        <a:cs typeface="Arial" pitchFamily="34" charset="0"/>
                      </a:endParaRPr>
                    </a:p>
                  </a:txBody>
                  <a:tcPr marL="0" marR="0" marT="0" marB="0" anchor="b"/>
                </a:tc>
                <a:tc>
                  <a:txBody>
                    <a:bodyPr/>
                    <a:lstStyle/>
                    <a:p>
                      <a:pPr marL="0" algn="l" defTabSz="914400" rtl="0" eaLnBrk="1" fontAlgn="b" latinLnBrk="0" hangingPunct="1"/>
                      <a:r>
                        <a:rPr lang="en-US" sz="1600" u="none" strike="noStrike" kern="1200" dirty="0"/>
                        <a:t>Personal and Home Care Aides</a:t>
                      </a:r>
                      <a:endParaRPr lang="en-US" sz="1600" b="0" i="0" u="none" strike="noStrike" kern="1200" dirty="0">
                        <a:solidFill>
                          <a:srgbClr val="000000"/>
                        </a:solidFill>
                        <a:latin typeface="Arial"/>
                        <a:ea typeface="+mn-ea"/>
                        <a:cs typeface="+mn-cs"/>
                      </a:endParaRPr>
                    </a:p>
                  </a:txBody>
                  <a:tcPr marL="0" marR="0" marT="0" marB="0" anchor="b"/>
                </a:tc>
                <a:tc>
                  <a:txBody>
                    <a:bodyPr/>
                    <a:lstStyle/>
                    <a:p>
                      <a:pPr marL="0" algn="r" defTabSz="914400" rtl="0" eaLnBrk="1" fontAlgn="b" latinLnBrk="0" hangingPunct="1"/>
                      <a:r>
                        <a:rPr lang="en-US" sz="1600" u="none" strike="noStrike" kern="1200" dirty="0" smtClean="0">
                          <a:solidFill>
                            <a:schemeClr val="dk1"/>
                          </a:solidFill>
                          <a:latin typeface="+mn-lt"/>
                          <a:ea typeface="+mn-ea"/>
                          <a:cs typeface="+mn-cs"/>
                        </a:rPr>
                        <a:t>1,083</a:t>
                      </a:r>
                      <a:endParaRPr lang="en-US" sz="1600" u="none" strike="noStrike" kern="1200" dirty="0">
                        <a:solidFill>
                          <a:schemeClr val="dk1"/>
                        </a:solidFill>
                        <a:latin typeface="+mn-lt"/>
                        <a:ea typeface="+mn-ea"/>
                        <a:cs typeface="+mn-cs"/>
                      </a:endParaRPr>
                    </a:p>
                  </a:txBody>
                  <a:tcPr marL="0" marR="0" marT="0" marB="0" anchor="b"/>
                </a:tc>
                <a:tc>
                  <a:txBody>
                    <a:bodyPr/>
                    <a:lstStyle/>
                    <a:p>
                      <a:pPr marL="0" algn="r" defTabSz="914400" rtl="0" eaLnBrk="1" fontAlgn="b" latinLnBrk="0" hangingPunct="1"/>
                      <a:r>
                        <a:rPr lang="en-US" sz="1600" u="none" strike="noStrike" kern="1200" dirty="0" smtClean="0">
                          <a:solidFill>
                            <a:schemeClr val="dk1"/>
                          </a:solidFill>
                          <a:latin typeface="+mn-lt"/>
                          <a:ea typeface="+mn-ea"/>
                          <a:cs typeface="+mn-cs"/>
                        </a:rPr>
                        <a:t>$17,290</a:t>
                      </a:r>
                      <a:endParaRPr lang="en-US" sz="1600" u="none" strike="noStrike" kern="1200" dirty="0">
                        <a:solidFill>
                          <a:schemeClr val="dk1"/>
                        </a:solidFill>
                        <a:latin typeface="+mn-lt"/>
                        <a:ea typeface="+mn-ea"/>
                        <a:cs typeface="+mn-cs"/>
                      </a:endParaRPr>
                    </a:p>
                  </a:txBody>
                  <a:tcPr marL="0" marR="0" marT="0" marB="0" anchor="b"/>
                </a:tc>
              </a:tr>
              <a:tr h="734912">
                <a:tc>
                  <a:txBody>
                    <a:bodyPr/>
                    <a:lstStyle/>
                    <a:p>
                      <a:pPr algn="ctr" fontAlgn="b"/>
                      <a:r>
                        <a:rPr lang="en-US" sz="1600" kern="1200" dirty="0"/>
                        <a:t>5</a:t>
                      </a:r>
                      <a:endParaRPr lang="en-US" sz="1600" kern="1200" dirty="0">
                        <a:solidFill>
                          <a:schemeClr val="dk1"/>
                        </a:solidFill>
                        <a:latin typeface="Arial" pitchFamily="34" charset="0"/>
                        <a:ea typeface="+mn-ea"/>
                        <a:cs typeface="Arial" pitchFamily="34" charset="0"/>
                      </a:endParaRPr>
                    </a:p>
                  </a:txBody>
                  <a:tcPr marL="0" marR="0" marT="0" marB="0" anchor="b"/>
                </a:tc>
                <a:tc>
                  <a:txBody>
                    <a:bodyPr/>
                    <a:lstStyle/>
                    <a:p>
                      <a:pPr marL="0" algn="l" defTabSz="914400" rtl="0" eaLnBrk="1" fontAlgn="b" latinLnBrk="0" hangingPunct="1"/>
                      <a:r>
                        <a:rPr lang="en-US" sz="1600" u="none" strike="noStrike" kern="1200" dirty="0"/>
                        <a:t>Combined Food Preparation </a:t>
                      </a:r>
                      <a:r>
                        <a:rPr lang="en-US" sz="1600" u="none" strike="noStrike" kern="1200" dirty="0" smtClean="0"/>
                        <a:t>&amp; </a:t>
                      </a:r>
                      <a:r>
                        <a:rPr lang="en-US" sz="1600" u="none" strike="noStrike" kern="1200" dirty="0"/>
                        <a:t>Serving Workers, </a:t>
                      </a:r>
                      <a:r>
                        <a:rPr lang="en-US" sz="1600" u="none" strike="noStrike" kern="1200" dirty="0" smtClean="0"/>
                        <a:t>Inc.  </a:t>
                      </a:r>
                      <a:r>
                        <a:rPr lang="en-US" sz="1600" u="none" strike="noStrike" kern="1200" dirty="0"/>
                        <a:t>Fast Food</a:t>
                      </a:r>
                      <a:endParaRPr lang="en-US" sz="1600" b="0" i="0" u="none" strike="noStrike" kern="1200" dirty="0">
                        <a:solidFill>
                          <a:srgbClr val="000000"/>
                        </a:solidFill>
                        <a:latin typeface="Arial"/>
                        <a:ea typeface="+mn-ea"/>
                        <a:cs typeface="+mn-cs"/>
                      </a:endParaRPr>
                    </a:p>
                  </a:txBody>
                  <a:tcPr marL="0" marR="0" marT="0" marB="0" anchor="b"/>
                </a:tc>
                <a:tc>
                  <a:txBody>
                    <a:bodyPr/>
                    <a:lstStyle/>
                    <a:p>
                      <a:pPr marL="0" algn="r" defTabSz="914400" rtl="0" eaLnBrk="1" fontAlgn="b" latinLnBrk="0" hangingPunct="1"/>
                      <a:r>
                        <a:rPr lang="en-US" sz="1600" u="none" strike="noStrike" kern="1200" dirty="0" smtClean="0">
                          <a:solidFill>
                            <a:schemeClr val="dk1"/>
                          </a:solidFill>
                          <a:latin typeface="+mn-lt"/>
                          <a:ea typeface="+mn-ea"/>
                          <a:cs typeface="+mn-cs"/>
                        </a:rPr>
                        <a:t>809</a:t>
                      </a:r>
                      <a:endParaRPr lang="en-US" sz="1600" u="none" strike="noStrike" kern="1200" dirty="0">
                        <a:solidFill>
                          <a:schemeClr val="dk1"/>
                        </a:solidFill>
                        <a:latin typeface="+mn-lt"/>
                        <a:ea typeface="+mn-ea"/>
                        <a:cs typeface="+mn-cs"/>
                      </a:endParaRPr>
                    </a:p>
                  </a:txBody>
                  <a:tcPr marL="0" marR="0" marT="0" marB="0" anchor="b"/>
                </a:tc>
                <a:tc>
                  <a:txBody>
                    <a:bodyPr/>
                    <a:lstStyle/>
                    <a:p>
                      <a:pPr marL="0" algn="r" defTabSz="914400" rtl="0" eaLnBrk="1" fontAlgn="b" latinLnBrk="0" hangingPunct="1"/>
                      <a:r>
                        <a:rPr lang="en-US" sz="1600" u="none" strike="noStrike" kern="1200" dirty="0" smtClean="0">
                          <a:solidFill>
                            <a:schemeClr val="dk1"/>
                          </a:solidFill>
                          <a:latin typeface="+mn-lt"/>
                          <a:ea typeface="+mn-ea"/>
                          <a:cs typeface="+mn-cs"/>
                        </a:rPr>
                        <a:t>$17,200</a:t>
                      </a:r>
                      <a:endParaRPr lang="en-US" sz="1600" u="none" strike="noStrike" kern="1200" dirty="0">
                        <a:solidFill>
                          <a:schemeClr val="dk1"/>
                        </a:solidFill>
                        <a:latin typeface="+mn-lt"/>
                        <a:ea typeface="+mn-ea"/>
                        <a:cs typeface="+mn-cs"/>
                      </a:endParaRPr>
                    </a:p>
                  </a:txBody>
                  <a:tcPr marL="0" marR="0" marT="0" marB="0" anchor="b"/>
                </a:tc>
              </a:tr>
              <a:tr h="420165">
                <a:tc>
                  <a:txBody>
                    <a:bodyPr/>
                    <a:lstStyle/>
                    <a:p>
                      <a:pPr algn="ctr" fontAlgn="b"/>
                      <a:r>
                        <a:rPr lang="en-US" sz="1600" kern="1200" dirty="0"/>
                        <a:t>6</a:t>
                      </a:r>
                      <a:endParaRPr lang="en-US" sz="1600" kern="1200" dirty="0">
                        <a:solidFill>
                          <a:schemeClr val="dk1"/>
                        </a:solidFill>
                        <a:latin typeface="Arial" pitchFamily="34" charset="0"/>
                        <a:ea typeface="+mn-ea"/>
                        <a:cs typeface="Arial" pitchFamily="34" charset="0"/>
                      </a:endParaRPr>
                    </a:p>
                  </a:txBody>
                  <a:tcPr marL="0" marR="0" marT="0" marB="0" anchor="b"/>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600" u="none" strike="noStrike" kern="1200" dirty="0" smtClean="0"/>
                        <a:t>Registered Nurses</a:t>
                      </a:r>
                      <a:endParaRPr lang="en-US" sz="1600" b="0" i="0" u="none" strike="noStrike" kern="1200" dirty="0">
                        <a:solidFill>
                          <a:srgbClr val="000000"/>
                        </a:solidFill>
                        <a:latin typeface="Arial"/>
                        <a:ea typeface="+mn-ea"/>
                        <a:cs typeface="+mn-cs"/>
                      </a:endParaRPr>
                    </a:p>
                  </a:txBody>
                  <a:tcPr marL="0" marR="0" marT="0" marB="0" anchor="b"/>
                </a:tc>
                <a:tc>
                  <a:txBody>
                    <a:bodyPr/>
                    <a:lstStyle/>
                    <a:p>
                      <a:pPr marL="0" algn="r" defTabSz="914400" rtl="0" eaLnBrk="1" fontAlgn="b" latinLnBrk="0" hangingPunct="1"/>
                      <a:r>
                        <a:rPr lang="en-US" sz="1600" u="none" strike="noStrike" kern="1200" dirty="0" smtClean="0">
                          <a:solidFill>
                            <a:schemeClr val="dk1"/>
                          </a:solidFill>
                          <a:latin typeface="+mn-lt"/>
                          <a:ea typeface="+mn-ea"/>
                          <a:cs typeface="+mn-cs"/>
                        </a:rPr>
                        <a:t>667</a:t>
                      </a:r>
                    </a:p>
                  </a:txBody>
                  <a:tcPr marL="0" marR="0" marT="0" marB="0" anchor="b"/>
                </a:tc>
                <a:tc>
                  <a:txBody>
                    <a:bodyPr/>
                    <a:lstStyle/>
                    <a:p>
                      <a:pPr marL="0" marR="0" indent="0" algn="r" defTabSz="914400" rtl="0" eaLnBrk="1" fontAlgn="b" latinLnBrk="0" hangingPunct="1">
                        <a:lnSpc>
                          <a:spcPct val="100000"/>
                        </a:lnSpc>
                        <a:spcBef>
                          <a:spcPts val="0"/>
                        </a:spcBef>
                        <a:spcAft>
                          <a:spcPts val="0"/>
                        </a:spcAft>
                        <a:buClrTx/>
                        <a:buSzTx/>
                        <a:buFontTx/>
                        <a:buNone/>
                        <a:tabLst/>
                        <a:defRPr/>
                      </a:pPr>
                      <a:r>
                        <a:rPr lang="en-US" sz="1600" u="none" strike="noStrike" kern="1200" dirty="0" smtClean="0">
                          <a:solidFill>
                            <a:schemeClr val="dk1"/>
                          </a:solidFill>
                          <a:latin typeface="+mn-lt"/>
                          <a:ea typeface="+mn-ea"/>
                          <a:cs typeface="+mn-cs"/>
                        </a:rPr>
                        <a:t>$50,290</a:t>
                      </a:r>
                    </a:p>
                  </a:txBody>
                  <a:tcPr marL="0" marR="0" marT="0" marB="0" anchor="b"/>
                </a:tc>
              </a:tr>
              <a:tr h="456701">
                <a:tc>
                  <a:txBody>
                    <a:bodyPr/>
                    <a:lstStyle/>
                    <a:p>
                      <a:pPr algn="ctr" fontAlgn="b"/>
                      <a:r>
                        <a:rPr lang="en-US" sz="1600" kern="1200" dirty="0" smtClean="0"/>
                        <a:t>7</a:t>
                      </a:r>
                      <a:endParaRPr lang="en-US" sz="1600" kern="1200" dirty="0">
                        <a:solidFill>
                          <a:schemeClr val="dk1"/>
                        </a:solidFill>
                        <a:latin typeface="Arial" pitchFamily="34" charset="0"/>
                        <a:ea typeface="+mn-ea"/>
                        <a:cs typeface="Arial" pitchFamily="34" charset="0"/>
                      </a:endParaRPr>
                    </a:p>
                  </a:txBody>
                  <a:tcPr marL="0" marR="0" marT="0" marB="0" anchor="b"/>
                </a:tc>
                <a:tc>
                  <a:txBody>
                    <a:bodyPr/>
                    <a:lstStyle/>
                    <a:p>
                      <a:pPr marL="0" algn="l" defTabSz="914400" rtl="0" eaLnBrk="1" fontAlgn="b" latinLnBrk="0" hangingPunct="1"/>
                      <a:r>
                        <a:rPr lang="en-US" sz="1600" u="none" strike="noStrike" kern="1200" dirty="0" smtClean="0"/>
                        <a:t>Home Health Aides </a:t>
                      </a:r>
                      <a:endParaRPr lang="en-US" sz="1600" b="0" i="0" u="none" strike="noStrike" kern="1200" dirty="0">
                        <a:solidFill>
                          <a:srgbClr val="000000"/>
                        </a:solidFill>
                        <a:latin typeface="Arial"/>
                        <a:ea typeface="+mn-ea"/>
                        <a:cs typeface="+mn-cs"/>
                      </a:endParaRPr>
                    </a:p>
                  </a:txBody>
                  <a:tcPr marL="0" marR="0" marT="0" marB="0" anchor="b"/>
                </a:tc>
                <a:tc>
                  <a:txBody>
                    <a:bodyPr/>
                    <a:lstStyle/>
                    <a:p>
                      <a:pPr marL="0" algn="r" defTabSz="914400" rtl="0" eaLnBrk="1" fontAlgn="b" latinLnBrk="0" hangingPunct="1"/>
                      <a:r>
                        <a:rPr lang="en-US" sz="1600" u="none" strike="noStrike" kern="1200" dirty="0" smtClean="0">
                          <a:solidFill>
                            <a:schemeClr val="dk1"/>
                          </a:solidFill>
                          <a:latin typeface="+mn-lt"/>
                          <a:ea typeface="+mn-ea"/>
                          <a:cs typeface="+mn-cs"/>
                        </a:rPr>
                        <a:t>600</a:t>
                      </a:r>
                    </a:p>
                  </a:txBody>
                  <a:tcPr marL="0" marR="0" marT="0" marB="0" anchor="b"/>
                </a:tc>
                <a:tc>
                  <a:txBody>
                    <a:bodyPr/>
                    <a:lstStyle/>
                    <a:p>
                      <a:pPr marL="0" marR="0" indent="0" algn="r" defTabSz="914400" rtl="0" eaLnBrk="1" fontAlgn="b" latinLnBrk="0" hangingPunct="1">
                        <a:lnSpc>
                          <a:spcPct val="100000"/>
                        </a:lnSpc>
                        <a:spcBef>
                          <a:spcPts val="0"/>
                        </a:spcBef>
                        <a:spcAft>
                          <a:spcPts val="0"/>
                        </a:spcAft>
                        <a:buClrTx/>
                        <a:buSzTx/>
                        <a:buFontTx/>
                        <a:buNone/>
                        <a:tabLst/>
                        <a:defRPr/>
                      </a:pPr>
                      <a:r>
                        <a:rPr lang="en-US" sz="1600" u="none" strike="noStrike" kern="1200" dirty="0" smtClean="0">
                          <a:solidFill>
                            <a:schemeClr val="dk1"/>
                          </a:solidFill>
                          <a:latin typeface="+mn-lt"/>
                          <a:ea typeface="+mn-ea"/>
                          <a:cs typeface="+mn-cs"/>
                        </a:rPr>
                        <a:t>$20,110</a:t>
                      </a:r>
                    </a:p>
                  </a:txBody>
                  <a:tcPr marL="0" marR="0" marT="0" marB="0" anchor="b"/>
                </a:tc>
              </a:tr>
              <a:tr h="365361">
                <a:tc>
                  <a:txBody>
                    <a:bodyPr/>
                    <a:lstStyle/>
                    <a:p>
                      <a:pPr algn="ctr" fontAlgn="b"/>
                      <a:r>
                        <a:rPr lang="en-US" sz="1600" kern="1200" dirty="0"/>
                        <a:t>8</a:t>
                      </a:r>
                      <a:endParaRPr lang="en-US" sz="1600" kern="1200" dirty="0">
                        <a:solidFill>
                          <a:schemeClr val="dk1"/>
                        </a:solidFill>
                        <a:latin typeface="Arial" pitchFamily="34" charset="0"/>
                        <a:ea typeface="+mn-ea"/>
                        <a:cs typeface="Arial" pitchFamily="34" charset="0"/>
                      </a:endParaRPr>
                    </a:p>
                  </a:txBody>
                  <a:tcPr marL="0" marR="0" marT="0" marB="0" anchor="b"/>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600" u="none" strike="noStrike" kern="1200" dirty="0" smtClean="0"/>
                        <a:t>Customer Service Representatives</a:t>
                      </a:r>
                      <a:endParaRPr lang="en-US" sz="1600" b="0" i="0" u="none" strike="noStrike" kern="1200" dirty="0" smtClean="0">
                        <a:solidFill>
                          <a:srgbClr val="000000"/>
                        </a:solidFill>
                        <a:latin typeface="Arial"/>
                        <a:ea typeface="+mn-ea"/>
                        <a:cs typeface="+mn-cs"/>
                      </a:endParaRPr>
                    </a:p>
                  </a:txBody>
                  <a:tcPr marL="0" marR="0" marT="0" marB="0" anchor="b"/>
                </a:tc>
                <a:tc>
                  <a:txBody>
                    <a:bodyPr/>
                    <a:lstStyle/>
                    <a:p>
                      <a:pPr marL="0" algn="r" defTabSz="914400" rtl="0" eaLnBrk="1" fontAlgn="b" latinLnBrk="0" hangingPunct="1"/>
                      <a:r>
                        <a:rPr lang="en-US" sz="1600" u="none" strike="noStrike" kern="1200" dirty="0" smtClean="0">
                          <a:solidFill>
                            <a:schemeClr val="dk1"/>
                          </a:solidFill>
                          <a:latin typeface="+mn-lt"/>
                          <a:ea typeface="+mn-ea"/>
                          <a:cs typeface="+mn-cs"/>
                        </a:rPr>
                        <a:t>501</a:t>
                      </a:r>
                    </a:p>
                  </a:txBody>
                  <a:tcPr marL="0" marR="0" marT="0" marB="0" anchor="b"/>
                </a:tc>
                <a:tc>
                  <a:txBody>
                    <a:bodyPr/>
                    <a:lstStyle/>
                    <a:p>
                      <a:pPr marL="0" algn="r" defTabSz="914400" rtl="0" eaLnBrk="1" fontAlgn="b" latinLnBrk="0" hangingPunct="1"/>
                      <a:r>
                        <a:rPr lang="en-US" sz="1600" u="none" strike="noStrike" kern="1200" dirty="0" smtClean="0">
                          <a:solidFill>
                            <a:schemeClr val="dk1"/>
                          </a:solidFill>
                          <a:latin typeface="+mn-lt"/>
                          <a:ea typeface="+mn-ea"/>
                          <a:cs typeface="+mn-cs"/>
                        </a:rPr>
                        <a:t>$20,850</a:t>
                      </a:r>
                    </a:p>
                  </a:txBody>
                  <a:tcPr marL="0" marR="0" marT="0" marB="0" anchor="b"/>
                </a:tc>
              </a:tr>
              <a:tr h="607411">
                <a:tc>
                  <a:txBody>
                    <a:bodyPr/>
                    <a:lstStyle/>
                    <a:p>
                      <a:pPr algn="ctr" fontAlgn="b"/>
                      <a:r>
                        <a:rPr lang="en-US" sz="1600" kern="1200" dirty="0"/>
                        <a:t>9</a:t>
                      </a:r>
                      <a:endParaRPr lang="en-US" sz="1600" kern="1200" dirty="0">
                        <a:solidFill>
                          <a:schemeClr val="dk1"/>
                        </a:solidFill>
                        <a:latin typeface="Arial" pitchFamily="34" charset="0"/>
                        <a:ea typeface="+mn-ea"/>
                        <a:cs typeface="Arial" pitchFamily="34" charset="0"/>
                      </a:endParaRPr>
                    </a:p>
                  </a:txBody>
                  <a:tcPr marL="0" marR="0" marT="0" marB="0" anchor="b"/>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600" u="none" strike="noStrike" kern="1200" dirty="0" smtClean="0">
                          <a:solidFill>
                            <a:schemeClr val="dk1"/>
                          </a:solidFill>
                          <a:latin typeface="+mn-lt"/>
                          <a:ea typeface="+mn-ea"/>
                          <a:cs typeface="+mn-cs"/>
                        </a:rPr>
                        <a:t>Elementary School Teachers, Ex Special Education</a:t>
                      </a:r>
                    </a:p>
                  </a:txBody>
                  <a:tcPr marL="0" marR="0" marT="0" marB="0" anchor="b"/>
                </a:tc>
                <a:tc>
                  <a:txBody>
                    <a:bodyPr/>
                    <a:lstStyle/>
                    <a:p>
                      <a:pPr marL="0" algn="r" defTabSz="914400" rtl="0" eaLnBrk="1" fontAlgn="b" latinLnBrk="0" hangingPunct="1"/>
                      <a:r>
                        <a:rPr lang="en-US" sz="1600" u="none" strike="noStrike" kern="1200" dirty="0" smtClean="0">
                          <a:solidFill>
                            <a:schemeClr val="dk1"/>
                          </a:solidFill>
                          <a:latin typeface="+mn-lt"/>
                          <a:ea typeface="+mn-ea"/>
                          <a:cs typeface="+mn-cs"/>
                        </a:rPr>
                        <a:t>500</a:t>
                      </a:r>
                    </a:p>
                  </a:txBody>
                  <a:tcPr marL="0" marR="0" marT="0" marB="0" anchor="b"/>
                </a:tc>
                <a:tc>
                  <a:txBody>
                    <a:bodyPr/>
                    <a:lstStyle/>
                    <a:p>
                      <a:pPr marL="0" algn="r" defTabSz="914400" rtl="0" eaLnBrk="1" fontAlgn="b" latinLnBrk="0" hangingPunct="1"/>
                      <a:r>
                        <a:rPr lang="en-US" sz="1600" u="none" strike="noStrike" kern="1200" dirty="0" smtClean="0">
                          <a:solidFill>
                            <a:schemeClr val="dk1"/>
                          </a:solidFill>
                          <a:latin typeface="+mn-lt"/>
                          <a:ea typeface="+mn-ea"/>
                          <a:cs typeface="+mn-cs"/>
                        </a:rPr>
                        <a:t>$38,410</a:t>
                      </a:r>
                    </a:p>
                  </a:txBody>
                  <a:tcPr marL="0" marR="0" marT="0" marB="0" anchor="b"/>
                </a:tc>
              </a:tr>
              <a:tr h="441022">
                <a:tc>
                  <a:txBody>
                    <a:bodyPr/>
                    <a:lstStyle/>
                    <a:p>
                      <a:pPr algn="ctr" fontAlgn="b"/>
                      <a:r>
                        <a:rPr lang="en-US" sz="1600" kern="1200" dirty="0"/>
                        <a:t>10</a:t>
                      </a:r>
                      <a:endParaRPr lang="en-US" sz="1600" kern="1200" dirty="0">
                        <a:solidFill>
                          <a:schemeClr val="dk1"/>
                        </a:solidFill>
                        <a:latin typeface="Arial" pitchFamily="34" charset="0"/>
                        <a:ea typeface="+mn-ea"/>
                        <a:cs typeface="Arial" pitchFamily="34" charset="0"/>
                      </a:endParaRPr>
                    </a:p>
                  </a:txBody>
                  <a:tcPr marL="0" marR="0" marT="0" marB="0" anchor="b"/>
                </a:tc>
                <a:tc>
                  <a:txBody>
                    <a:bodyPr/>
                    <a:lstStyle/>
                    <a:p>
                      <a:pPr marL="0" algn="l" defTabSz="914400" rtl="0" eaLnBrk="1" fontAlgn="b" latinLnBrk="0" hangingPunct="1"/>
                      <a:r>
                        <a:rPr lang="en-US" sz="1600" u="none" strike="noStrike" kern="1200" dirty="0" smtClean="0">
                          <a:solidFill>
                            <a:schemeClr val="dk1"/>
                          </a:solidFill>
                          <a:latin typeface="+mn-lt"/>
                          <a:ea typeface="+mn-ea"/>
                          <a:cs typeface="+mn-cs"/>
                        </a:rPr>
                        <a:t>Laborers &amp; Freight, Stock, &amp; Material Movers</a:t>
                      </a:r>
                      <a:endParaRPr lang="en-US" sz="1600" u="none" strike="noStrike" kern="1200" dirty="0">
                        <a:solidFill>
                          <a:schemeClr val="dk1"/>
                        </a:solidFill>
                        <a:latin typeface="+mn-lt"/>
                        <a:ea typeface="+mn-ea"/>
                        <a:cs typeface="+mn-cs"/>
                      </a:endParaRPr>
                    </a:p>
                  </a:txBody>
                  <a:tcPr marL="0" marR="0" marT="0" marB="0" anchor="b"/>
                </a:tc>
                <a:tc>
                  <a:txBody>
                    <a:bodyPr/>
                    <a:lstStyle/>
                    <a:p>
                      <a:pPr marL="0" algn="r" defTabSz="914400" rtl="0" eaLnBrk="1" fontAlgn="b" latinLnBrk="0" hangingPunct="1"/>
                      <a:r>
                        <a:rPr lang="en-US" sz="1600" u="none" strike="noStrike" kern="1200" dirty="0" smtClean="0">
                          <a:solidFill>
                            <a:schemeClr val="dk1"/>
                          </a:solidFill>
                          <a:latin typeface="+mn-lt"/>
                          <a:ea typeface="+mn-ea"/>
                          <a:cs typeface="+mn-cs"/>
                        </a:rPr>
                        <a:t>494</a:t>
                      </a:r>
                      <a:endParaRPr lang="en-US" sz="1600" u="none" strike="noStrike" kern="1200" dirty="0">
                        <a:solidFill>
                          <a:schemeClr val="dk1"/>
                        </a:solidFill>
                        <a:latin typeface="+mn-lt"/>
                        <a:ea typeface="+mn-ea"/>
                        <a:cs typeface="+mn-cs"/>
                      </a:endParaRPr>
                    </a:p>
                  </a:txBody>
                  <a:tcPr marL="0" marR="0" marT="0" marB="0" anchor="b"/>
                </a:tc>
                <a:tc>
                  <a:txBody>
                    <a:bodyPr/>
                    <a:lstStyle/>
                    <a:p>
                      <a:pPr marL="0" algn="r" defTabSz="914400" rtl="0" eaLnBrk="1" fontAlgn="b" latinLnBrk="0" hangingPunct="1"/>
                      <a:r>
                        <a:rPr lang="en-US" sz="1600" u="none" strike="noStrike" kern="1200" dirty="0" smtClean="0">
                          <a:solidFill>
                            <a:schemeClr val="dk1"/>
                          </a:solidFill>
                          <a:latin typeface="+mn-lt"/>
                          <a:ea typeface="+mn-ea"/>
                          <a:cs typeface="+mn-cs"/>
                        </a:rPr>
                        <a:t>$17,510</a:t>
                      </a:r>
                      <a:endParaRPr lang="en-US" sz="1600" u="none" strike="noStrike" kern="1200" dirty="0">
                        <a:solidFill>
                          <a:schemeClr val="dk1"/>
                        </a:solidFill>
                        <a:latin typeface="+mn-lt"/>
                        <a:ea typeface="+mn-ea"/>
                        <a:cs typeface="+mn-cs"/>
                      </a:endParaRPr>
                    </a:p>
                  </a:txBody>
                  <a:tcPr marL="0" marR="0" marT="0" marB="0" anchor="b"/>
                </a:tc>
              </a:tr>
            </a:tbl>
          </a:graphicData>
        </a:graphic>
      </p:graphicFrame>
      <p:pic>
        <p:nvPicPr>
          <p:cNvPr id="6" name="Picture 5" descr="waitresses431x280.jpg"/>
          <p:cNvPicPr>
            <a:picLocks noChangeAspect="1"/>
          </p:cNvPicPr>
          <p:nvPr/>
        </p:nvPicPr>
        <p:blipFill>
          <a:blip r:embed="rId3" cstate="print"/>
          <a:srcRect l="10828" r="38644"/>
          <a:stretch>
            <a:fillRect/>
          </a:stretch>
        </p:blipFill>
        <p:spPr>
          <a:xfrm>
            <a:off x="6400800" y="816429"/>
            <a:ext cx="2743200" cy="3526971"/>
          </a:xfrm>
          <a:prstGeom prst="rect">
            <a:avLst/>
          </a:prstGeom>
        </p:spPr>
      </p:pic>
      <p:sp>
        <p:nvSpPr>
          <p:cNvPr id="5" name="TextBox 4"/>
          <p:cNvSpPr txBox="1"/>
          <p:nvPr/>
        </p:nvSpPr>
        <p:spPr>
          <a:xfrm>
            <a:off x="1600200" y="6397823"/>
            <a:ext cx="5163786" cy="307777"/>
          </a:xfrm>
          <a:prstGeom prst="rect">
            <a:avLst/>
          </a:prstGeom>
          <a:noFill/>
        </p:spPr>
        <p:txBody>
          <a:bodyPr wrap="none" rtlCol="0">
            <a:spAutoFit/>
          </a:bodyPr>
          <a:lstStyle/>
          <a:p>
            <a:r>
              <a:rPr lang="en-US" sz="1400" i="1" dirty="0" smtClean="0"/>
              <a:t>Source: 2010-2020 Estimated Employment Projections Unit NMDW</a:t>
            </a:r>
            <a:r>
              <a:rPr lang="en-US" sz="1400" dirty="0" smtClean="0"/>
              <a:t>S</a:t>
            </a:r>
            <a:endParaRPr lang="en-US" sz="1400"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0"/>
            <a:ext cx="5715000" cy="792162"/>
          </a:xfrm>
        </p:spPr>
        <p:txBody>
          <a:bodyPr/>
          <a:lstStyle/>
          <a:p>
            <a:r>
              <a:rPr lang="en-US" dirty="0" smtClean="0"/>
              <a:t>Annual Average Openings</a:t>
            </a:r>
            <a:endParaRPr lang="en-US" dirty="0"/>
          </a:p>
        </p:txBody>
      </p:sp>
      <p:graphicFrame>
        <p:nvGraphicFramePr>
          <p:cNvPr id="4" name="Chart 3"/>
          <p:cNvGraphicFramePr/>
          <p:nvPr/>
        </p:nvGraphicFramePr>
        <p:xfrm>
          <a:off x="1828800" y="0"/>
          <a:ext cx="5821680" cy="6446944"/>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p:cNvSpPr txBox="1"/>
          <p:nvPr/>
        </p:nvSpPr>
        <p:spPr>
          <a:xfrm>
            <a:off x="228600" y="1828800"/>
            <a:ext cx="1905000" cy="1292662"/>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sz="2400" dirty="0" smtClean="0">
                <a:solidFill>
                  <a:srgbClr val="FF0000"/>
                </a:solidFill>
              </a:rPr>
              <a:t>* Note:</a:t>
            </a:r>
          </a:p>
          <a:p>
            <a:r>
              <a:rPr lang="en-US" dirty="0" smtClean="0"/>
              <a:t>Four </a:t>
            </a:r>
            <a:r>
              <a:rPr lang="en-US" dirty="0" smtClean="0"/>
              <a:t>groups </a:t>
            </a:r>
            <a:r>
              <a:rPr lang="en-US" dirty="0" smtClean="0"/>
              <a:t>with higher  </a:t>
            </a:r>
            <a:r>
              <a:rPr lang="en-US" dirty="0" smtClean="0"/>
              <a:t>Openings due to growth </a:t>
            </a:r>
            <a:endParaRPr lang="en-US" dirty="0"/>
          </a:p>
        </p:txBody>
      </p:sp>
      <p:sp>
        <p:nvSpPr>
          <p:cNvPr id="6" name="TextBox 5"/>
          <p:cNvSpPr txBox="1"/>
          <p:nvPr/>
        </p:nvSpPr>
        <p:spPr>
          <a:xfrm>
            <a:off x="2438400" y="6400800"/>
            <a:ext cx="6172200" cy="307777"/>
          </a:xfrm>
          <a:prstGeom prst="rect">
            <a:avLst/>
          </a:prstGeom>
          <a:noFill/>
        </p:spPr>
        <p:txBody>
          <a:bodyPr wrap="square" rtlCol="0">
            <a:spAutoFit/>
          </a:bodyPr>
          <a:lstStyle/>
          <a:p>
            <a:r>
              <a:rPr lang="en-US" sz="1400" i="1" dirty="0" smtClean="0"/>
              <a:t>Source: 2010-2020 Estimated Employment Projections Unit NMDW</a:t>
            </a:r>
            <a:r>
              <a:rPr lang="en-US" sz="1400" dirty="0" smtClean="0"/>
              <a:t>S</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a:xfrm>
            <a:off x="457200" y="0"/>
            <a:ext cx="8229600" cy="792162"/>
          </a:xfrm>
        </p:spPr>
        <p:txBody>
          <a:bodyPr/>
          <a:lstStyle/>
          <a:p>
            <a:pPr eaLnBrk="1" hangingPunct="1"/>
            <a:r>
              <a:rPr lang="en-US" dirty="0" smtClean="0"/>
              <a:t>Highest Growth Jobs in NM</a:t>
            </a:r>
          </a:p>
        </p:txBody>
      </p:sp>
      <p:graphicFrame>
        <p:nvGraphicFramePr>
          <p:cNvPr id="5" name="Content Placeholder 4"/>
          <p:cNvGraphicFramePr>
            <a:graphicFrameLocks noGrp="1"/>
          </p:cNvGraphicFramePr>
          <p:nvPr>
            <p:ph idx="1"/>
          </p:nvPr>
        </p:nvGraphicFramePr>
        <p:xfrm>
          <a:off x="3733800" y="685800"/>
          <a:ext cx="5334000" cy="5291292"/>
        </p:xfrm>
        <a:graphic>
          <a:graphicData uri="http://schemas.openxmlformats.org/drawingml/2006/table">
            <a:tbl>
              <a:tblPr firstRow="1" bandRow="1">
                <a:tableStyleId>{7DF18680-E054-41AD-8BC1-D1AEF772440D}</a:tableStyleId>
              </a:tblPr>
              <a:tblGrid>
                <a:gridCol w="4114800"/>
                <a:gridCol w="1219200"/>
              </a:tblGrid>
              <a:tr h="609600">
                <a:tc>
                  <a:txBody>
                    <a:bodyPr/>
                    <a:lstStyle/>
                    <a:p>
                      <a:r>
                        <a:rPr lang="en-US" sz="1200" dirty="0" smtClean="0"/>
                        <a:t>Occupations</a:t>
                      </a:r>
                      <a:endParaRPr lang="en-US" sz="1200" dirty="0"/>
                    </a:p>
                  </a:txBody>
                  <a:tcPr/>
                </a:tc>
                <a:tc>
                  <a:txBody>
                    <a:bodyPr/>
                    <a:lstStyle/>
                    <a:p>
                      <a:pPr algn="r"/>
                      <a:r>
                        <a:rPr lang="en-US" sz="1200" dirty="0" smtClean="0"/>
                        <a:t>2010-2020 Annual Percent Change</a:t>
                      </a:r>
                      <a:endParaRPr lang="en-US" sz="1200" dirty="0"/>
                    </a:p>
                  </a:txBody>
                  <a:tcPr/>
                </a:tc>
              </a:tr>
              <a:tr h="387601">
                <a:tc>
                  <a:txBody>
                    <a:bodyPr/>
                    <a:lstStyle/>
                    <a:p>
                      <a:pPr algn="l" fontAlgn="b"/>
                      <a:r>
                        <a:rPr lang="en-US" sz="1600" b="0" i="0" u="none" strike="noStrike" dirty="0">
                          <a:solidFill>
                            <a:srgbClr val="000000"/>
                          </a:solidFill>
                          <a:latin typeface="Arial"/>
                        </a:rPr>
                        <a:t>Home Health Aides</a:t>
                      </a:r>
                    </a:p>
                  </a:txBody>
                  <a:tcPr marL="0" marR="0" marT="0" marB="0" anchor="b"/>
                </a:tc>
                <a:tc>
                  <a:txBody>
                    <a:bodyPr/>
                    <a:lstStyle/>
                    <a:p>
                      <a:pPr algn="r" fontAlgn="b"/>
                      <a:r>
                        <a:rPr lang="en-US" sz="1600" b="0" i="0" u="none" strike="noStrike" dirty="0" smtClean="0">
                          <a:solidFill>
                            <a:srgbClr val="000000"/>
                          </a:solidFill>
                          <a:latin typeface="Arial"/>
                        </a:rPr>
                        <a:t>4.8%</a:t>
                      </a:r>
                      <a:endParaRPr lang="en-US" sz="1600" b="0" i="0" u="none" strike="noStrike" dirty="0">
                        <a:solidFill>
                          <a:srgbClr val="000000"/>
                        </a:solidFill>
                        <a:latin typeface="Arial"/>
                      </a:endParaRPr>
                    </a:p>
                  </a:txBody>
                  <a:tcPr marL="0" marR="0" marT="0" marB="0" anchor="b"/>
                </a:tc>
              </a:tr>
              <a:tr h="387601">
                <a:tc>
                  <a:txBody>
                    <a:bodyPr/>
                    <a:lstStyle/>
                    <a:p>
                      <a:pPr algn="l" fontAlgn="b"/>
                      <a:r>
                        <a:rPr lang="en-US" sz="1600" b="0" i="0" u="none" strike="noStrike" dirty="0">
                          <a:solidFill>
                            <a:srgbClr val="000000"/>
                          </a:solidFill>
                          <a:latin typeface="Arial"/>
                        </a:rPr>
                        <a:t>Personal and Home Care Aides</a:t>
                      </a:r>
                    </a:p>
                  </a:txBody>
                  <a:tcPr marL="0" marR="0" marT="0" marB="0" anchor="b"/>
                </a:tc>
                <a:tc>
                  <a:txBody>
                    <a:bodyPr/>
                    <a:lstStyle/>
                    <a:p>
                      <a:pPr algn="r" fontAlgn="b"/>
                      <a:r>
                        <a:rPr lang="en-US" sz="1600" b="0" i="0" u="none" strike="noStrike" dirty="0" smtClean="0">
                          <a:solidFill>
                            <a:srgbClr val="000000"/>
                          </a:solidFill>
                          <a:latin typeface="Arial"/>
                        </a:rPr>
                        <a:t>4.3%</a:t>
                      </a:r>
                      <a:endParaRPr lang="en-US" sz="1600" b="0" i="0" u="none" strike="noStrike" dirty="0">
                        <a:solidFill>
                          <a:srgbClr val="000000"/>
                        </a:solidFill>
                        <a:latin typeface="Arial"/>
                      </a:endParaRPr>
                    </a:p>
                  </a:txBody>
                  <a:tcPr marL="0" marR="0" marT="0" marB="0" anchor="b"/>
                </a:tc>
              </a:tr>
              <a:tr h="387601">
                <a:tc>
                  <a:txBody>
                    <a:bodyPr/>
                    <a:lstStyle/>
                    <a:p>
                      <a:pPr algn="l" fontAlgn="b"/>
                      <a:r>
                        <a:rPr lang="en-US" sz="1600" b="0" i="0" u="none" strike="noStrike" dirty="0">
                          <a:solidFill>
                            <a:srgbClr val="000000"/>
                          </a:solidFill>
                          <a:latin typeface="Arial"/>
                        </a:rPr>
                        <a:t>Coaches and Scouts</a:t>
                      </a:r>
                    </a:p>
                  </a:txBody>
                  <a:tcPr marL="0" marR="0" marT="0" marB="0" anchor="b"/>
                </a:tc>
                <a:tc>
                  <a:txBody>
                    <a:bodyPr/>
                    <a:lstStyle/>
                    <a:p>
                      <a:pPr algn="r" fontAlgn="b"/>
                      <a:r>
                        <a:rPr lang="en-US" sz="1600" b="0" i="0" u="none" strike="noStrike" dirty="0" smtClean="0">
                          <a:solidFill>
                            <a:srgbClr val="000000"/>
                          </a:solidFill>
                          <a:latin typeface="Arial"/>
                        </a:rPr>
                        <a:t>3.9%</a:t>
                      </a:r>
                      <a:endParaRPr lang="en-US" sz="1600" b="0" i="0" u="none" strike="noStrike" dirty="0">
                        <a:solidFill>
                          <a:srgbClr val="000000"/>
                        </a:solidFill>
                        <a:latin typeface="Arial"/>
                      </a:endParaRPr>
                    </a:p>
                  </a:txBody>
                  <a:tcPr marL="0" marR="0" marT="0" marB="0" anchor="b"/>
                </a:tc>
              </a:tr>
              <a:tr h="387601">
                <a:tc>
                  <a:txBody>
                    <a:bodyPr/>
                    <a:lstStyle/>
                    <a:p>
                      <a:pPr algn="l" fontAlgn="b"/>
                      <a:r>
                        <a:rPr lang="en-US" sz="1600" b="0" i="0" u="none" strike="noStrike" dirty="0">
                          <a:solidFill>
                            <a:srgbClr val="000000"/>
                          </a:solidFill>
                          <a:latin typeface="Arial"/>
                        </a:rPr>
                        <a:t>Helpers--Carpenters</a:t>
                      </a:r>
                    </a:p>
                  </a:txBody>
                  <a:tcPr marL="0" marR="0" marT="0" marB="0" anchor="b"/>
                </a:tc>
                <a:tc>
                  <a:txBody>
                    <a:bodyPr/>
                    <a:lstStyle/>
                    <a:p>
                      <a:pPr algn="r" fontAlgn="b"/>
                      <a:r>
                        <a:rPr lang="en-US" sz="1600" b="0" i="0" u="none" strike="noStrike" dirty="0" smtClean="0">
                          <a:solidFill>
                            <a:srgbClr val="000000"/>
                          </a:solidFill>
                          <a:latin typeface="Arial"/>
                        </a:rPr>
                        <a:t>3.6%</a:t>
                      </a:r>
                      <a:endParaRPr lang="en-US" sz="1600" b="0" i="0" u="none" strike="noStrike" dirty="0">
                        <a:solidFill>
                          <a:srgbClr val="000000"/>
                        </a:solidFill>
                        <a:latin typeface="Arial"/>
                      </a:endParaRPr>
                    </a:p>
                  </a:txBody>
                  <a:tcPr marL="0" marR="0" marT="0" marB="0" anchor="b"/>
                </a:tc>
              </a:tr>
              <a:tr h="387601">
                <a:tc>
                  <a:txBody>
                    <a:bodyPr/>
                    <a:lstStyle/>
                    <a:p>
                      <a:pPr algn="l" fontAlgn="b"/>
                      <a:r>
                        <a:rPr lang="en-US" sz="1600" b="0" i="0" u="none" strike="noStrike" dirty="0">
                          <a:solidFill>
                            <a:srgbClr val="000000"/>
                          </a:solidFill>
                          <a:latin typeface="Arial"/>
                        </a:rPr>
                        <a:t>Interpreters and Translators</a:t>
                      </a:r>
                    </a:p>
                  </a:txBody>
                  <a:tcPr marL="0" marR="0" marT="0" marB="0" anchor="b"/>
                </a:tc>
                <a:tc>
                  <a:txBody>
                    <a:bodyPr/>
                    <a:lstStyle/>
                    <a:p>
                      <a:pPr algn="r" fontAlgn="b"/>
                      <a:r>
                        <a:rPr lang="en-US" sz="1600" b="0" i="0" u="none" strike="noStrike" dirty="0" smtClean="0">
                          <a:solidFill>
                            <a:srgbClr val="000000"/>
                          </a:solidFill>
                          <a:latin typeface="Arial"/>
                        </a:rPr>
                        <a:t>3.6%</a:t>
                      </a:r>
                      <a:endParaRPr lang="en-US" sz="1600" b="0" i="0" u="none" strike="noStrike" dirty="0">
                        <a:solidFill>
                          <a:srgbClr val="000000"/>
                        </a:solidFill>
                        <a:latin typeface="Arial"/>
                      </a:endParaRPr>
                    </a:p>
                  </a:txBody>
                  <a:tcPr marL="0" marR="0" marT="0" marB="0" anchor="b"/>
                </a:tc>
              </a:tr>
              <a:tr h="387601">
                <a:tc>
                  <a:txBody>
                    <a:bodyPr/>
                    <a:lstStyle/>
                    <a:p>
                      <a:pPr algn="l" fontAlgn="b"/>
                      <a:r>
                        <a:rPr lang="en-US" sz="1600" b="0" i="0" u="none" strike="noStrike" dirty="0">
                          <a:solidFill>
                            <a:srgbClr val="000000"/>
                          </a:solidFill>
                          <a:latin typeface="Arial"/>
                        </a:rPr>
                        <a:t>Meeting and Convention Planners</a:t>
                      </a:r>
                    </a:p>
                  </a:txBody>
                  <a:tcPr marL="0" marR="0" marT="0" marB="0" anchor="b"/>
                </a:tc>
                <a:tc>
                  <a:txBody>
                    <a:bodyPr/>
                    <a:lstStyle/>
                    <a:p>
                      <a:pPr algn="r" fontAlgn="b"/>
                      <a:r>
                        <a:rPr lang="en-US" sz="1600" b="0" i="0" u="none" strike="noStrike" dirty="0" smtClean="0">
                          <a:solidFill>
                            <a:srgbClr val="000000"/>
                          </a:solidFill>
                          <a:latin typeface="Arial"/>
                        </a:rPr>
                        <a:t>3.6%</a:t>
                      </a:r>
                      <a:endParaRPr lang="en-US" sz="1600" b="0" i="0" u="none" strike="noStrike" dirty="0">
                        <a:solidFill>
                          <a:srgbClr val="000000"/>
                        </a:solidFill>
                        <a:latin typeface="Arial"/>
                      </a:endParaRPr>
                    </a:p>
                  </a:txBody>
                  <a:tcPr marL="0" marR="0" marT="0" marB="0" anchor="b"/>
                </a:tc>
              </a:tr>
              <a:tr h="387601">
                <a:tc>
                  <a:txBody>
                    <a:bodyPr/>
                    <a:lstStyle/>
                    <a:p>
                      <a:pPr algn="l" fontAlgn="b"/>
                      <a:r>
                        <a:rPr lang="en-US" sz="1600" b="0" i="0" u="none" strike="noStrike" dirty="0">
                          <a:solidFill>
                            <a:srgbClr val="000000"/>
                          </a:solidFill>
                          <a:latin typeface="Arial"/>
                        </a:rPr>
                        <a:t>Roustabouts, Oil and Gas</a:t>
                      </a:r>
                    </a:p>
                  </a:txBody>
                  <a:tcPr marL="0" marR="0" marT="0" marB="0" anchor="b"/>
                </a:tc>
                <a:tc>
                  <a:txBody>
                    <a:bodyPr/>
                    <a:lstStyle/>
                    <a:p>
                      <a:pPr algn="r" fontAlgn="b"/>
                      <a:r>
                        <a:rPr lang="en-US" sz="1600" b="0" i="0" u="none" strike="noStrike" dirty="0" smtClean="0">
                          <a:solidFill>
                            <a:srgbClr val="000000"/>
                          </a:solidFill>
                          <a:latin typeface="Arial"/>
                        </a:rPr>
                        <a:t>3.4%</a:t>
                      </a:r>
                      <a:endParaRPr lang="en-US" sz="1600" b="0" i="0" u="none" strike="noStrike" dirty="0">
                        <a:solidFill>
                          <a:srgbClr val="000000"/>
                        </a:solidFill>
                        <a:latin typeface="Arial"/>
                      </a:endParaRPr>
                    </a:p>
                  </a:txBody>
                  <a:tcPr marL="0" marR="0" marT="0" marB="0" anchor="b"/>
                </a:tc>
              </a:tr>
              <a:tr h="387601">
                <a:tc>
                  <a:txBody>
                    <a:bodyPr/>
                    <a:lstStyle/>
                    <a:p>
                      <a:pPr algn="l" fontAlgn="b"/>
                      <a:r>
                        <a:rPr lang="en-US" sz="1600" b="0" i="0" u="none" strike="noStrike" dirty="0">
                          <a:solidFill>
                            <a:srgbClr val="000000"/>
                          </a:solidFill>
                          <a:latin typeface="Arial"/>
                        </a:rPr>
                        <a:t>Diagnostic Medical Sonographers</a:t>
                      </a:r>
                    </a:p>
                  </a:txBody>
                  <a:tcPr marL="0" marR="0" marT="0" marB="0" anchor="b"/>
                </a:tc>
                <a:tc>
                  <a:txBody>
                    <a:bodyPr/>
                    <a:lstStyle/>
                    <a:p>
                      <a:pPr algn="r" fontAlgn="b"/>
                      <a:r>
                        <a:rPr lang="en-US" sz="1600" b="0" i="0" u="none" strike="noStrike" dirty="0" smtClean="0">
                          <a:solidFill>
                            <a:srgbClr val="000000"/>
                          </a:solidFill>
                          <a:latin typeface="Arial"/>
                        </a:rPr>
                        <a:t>3.3%</a:t>
                      </a:r>
                      <a:endParaRPr lang="en-US" sz="1600" b="0" i="0" u="none" strike="noStrike" dirty="0">
                        <a:solidFill>
                          <a:srgbClr val="000000"/>
                        </a:solidFill>
                        <a:latin typeface="Arial"/>
                      </a:endParaRPr>
                    </a:p>
                  </a:txBody>
                  <a:tcPr marL="0" marR="0" marT="0" marB="0" anchor="b"/>
                </a:tc>
              </a:tr>
              <a:tr h="387601">
                <a:tc>
                  <a:txBody>
                    <a:bodyPr/>
                    <a:lstStyle/>
                    <a:p>
                      <a:pPr algn="l" fontAlgn="b"/>
                      <a:r>
                        <a:rPr lang="en-US" sz="1600" b="0" i="0" u="none" strike="noStrike" dirty="0">
                          <a:solidFill>
                            <a:srgbClr val="000000"/>
                          </a:solidFill>
                          <a:latin typeface="Arial"/>
                        </a:rPr>
                        <a:t>Derrick Operators, Oil and Gas</a:t>
                      </a:r>
                    </a:p>
                  </a:txBody>
                  <a:tcPr marL="0" marR="0" marT="0" marB="0" anchor="b"/>
                </a:tc>
                <a:tc>
                  <a:txBody>
                    <a:bodyPr/>
                    <a:lstStyle/>
                    <a:p>
                      <a:pPr algn="r" fontAlgn="b"/>
                      <a:r>
                        <a:rPr lang="en-US" sz="1600" b="0" i="0" u="none" strike="noStrike" dirty="0" smtClean="0">
                          <a:solidFill>
                            <a:srgbClr val="000000"/>
                          </a:solidFill>
                          <a:latin typeface="Arial"/>
                        </a:rPr>
                        <a:t>3.3%</a:t>
                      </a:r>
                      <a:endParaRPr lang="en-US" sz="1600" b="0" i="0" u="none" strike="noStrike" dirty="0">
                        <a:solidFill>
                          <a:srgbClr val="000000"/>
                        </a:solidFill>
                        <a:latin typeface="Arial"/>
                      </a:endParaRPr>
                    </a:p>
                  </a:txBody>
                  <a:tcPr marL="0" marR="0" marT="0" marB="0" anchor="b"/>
                </a:tc>
              </a:tr>
              <a:tr h="387601">
                <a:tc>
                  <a:txBody>
                    <a:bodyPr/>
                    <a:lstStyle/>
                    <a:p>
                      <a:pPr algn="l" fontAlgn="b"/>
                      <a:r>
                        <a:rPr lang="en-US" sz="1600" b="0" i="0" u="none" strike="noStrike" dirty="0">
                          <a:solidFill>
                            <a:srgbClr val="000000"/>
                          </a:solidFill>
                          <a:latin typeface="Arial"/>
                        </a:rPr>
                        <a:t>Rotary Drill Operators, Oil and Gas</a:t>
                      </a:r>
                    </a:p>
                  </a:txBody>
                  <a:tcPr marL="0" marR="0" marT="0" marB="0" anchor="b"/>
                </a:tc>
                <a:tc>
                  <a:txBody>
                    <a:bodyPr/>
                    <a:lstStyle/>
                    <a:p>
                      <a:pPr algn="r" fontAlgn="b"/>
                      <a:r>
                        <a:rPr lang="en-US" sz="1600" b="0" i="0" u="none" strike="noStrike" dirty="0" smtClean="0">
                          <a:solidFill>
                            <a:srgbClr val="000000"/>
                          </a:solidFill>
                          <a:latin typeface="Arial"/>
                        </a:rPr>
                        <a:t>3.2%</a:t>
                      </a:r>
                      <a:endParaRPr lang="en-US" sz="1600" b="0" i="0" u="none" strike="noStrike" dirty="0">
                        <a:solidFill>
                          <a:srgbClr val="000000"/>
                        </a:solidFill>
                        <a:latin typeface="Arial"/>
                      </a:endParaRPr>
                    </a:p>
                  </a:txBody>
                  <a:tcPr marL="0" marR="0" marT="0" marB="0" anchor="b"/>
                </a:tc>
              </a:tr>
              <a:tr h="387601">
                <a:tc>
                  <a:txBody>
                    <a:bodyPr/>
                    <a:lstStyle/>
                    <a:p>
                      <a:pPr algn="l" fontAlgn="b"/>
                      <a:r>
                        <a:rPr lang="en-US" sz="1600" b="0" i="0" u="none" strike="noStrike" dirty="0">
                          <a:solidFill>
                            <a:srgbClr val="000000"/>
                          </a:solidFill>
                          <a:latin typeface="Arial"/>
                        </a:rPr>
                        <a:t>Veterinary Technologists and Technicians</a:t>
                      </a:r>
                    </a:p>
                  </a:txBody>
                  <a:tcPr marL="0" marR="0" marT="0" marB="0" anchor="b"/>
                </a:tc>
                <a:tc>
                  <a:txBody>
                    <a:bodyPr/>
                    <a:lstStyle/>
                    <a:p>
                      <a:pPr algn="r" fontAlgn="b"/>
                      <a:r>
                        <a:rPr lang="en-US" sz="1600" b="0" i="0" u="none" strike="noStrike" dirty="0" smtClean="0">
                          <a:solidFill>
                            <a:srgbClr val="000000"/>
                          </a:solidFill>
                          <a:latin typeface="Arial"/>
                        </a:rPr>
                        <a:t>3.2%</a:t>
                      </a:r>
                      <a:endParaRPr lang="en-US" sz="1600" b="0" i="0" u="none" strike="noStrike" dirty="0">
                        <a:solidFill>
                          <a:srgbClr val="000000"/>
                        </a:solidFill>
                        <a:latin typeface="Arial"/>
                      </a:endParaRPr>
                    </a:p>
                  </a:txBody>
                  <a:tcPr marL="0" marR="0" marT="0" marB="0" anchor="b"/>
                </a:tc>
              </a:tr>
              <a:tr h="387601">
                <a:tc>
                  <a:txBody>
                    <a:bodyPr/>
                    <a:lstStyle/>
                    <a:p>
                      <a:pPr algn="l" fontAlgn="b"/>
                      <a:r>
                        <a:rPr lang="en-US" sz="1600" b="0" i="0" u="none" strike="noStrike" dirty="0">
                          <a:solidFill>
                            <a:srgbClr val="000000"/>
                          </a:solidFill>
                          <a:latin typeface="Arial"/>
                        </a:rPr>
                        <a:t>Physical Therapist Assistants</a:t>
                      </a:r>
                    </a:p>
                  </a:txBody>
                  <a:tcPr marL="0" marR="0" marT="0" marB="0" anchor="b"/>
                </a:tc>
                <a:tc>
                  <a:txBody>
                    <a:bodyPr/>
                    <a:lstStyle/>
                    <a:p>
                      <a:pPr marL="0" marR="0" indent="0" algn="r" defTabSz="914400" rtl="0" eaLnBrk="1" fontAlgn="b" latinLnBrk="0" hangingPunct="1">
                        <a:lnSpc>
                          <a:spcPct val="100000"/>
                        </a:lnSpc>
                        <a:spcBef>
                          <a:spcPts val="0"/>
                        </a:spcBef>
                        <a:spcAft>
                          <a:spcPts val="0"/>
                        </a:spcAft>
                        <a:buClrTx/>
                        <a:buSzTx/>
                        <a:buFontTx/>
                        <a:buNone/>
                        <a:tabLst/>
                        <a:defRPr/>
                      </a:pPr>
                      <a:r>
                        <a:rPr lang="en-US" sz="1600" b="0" i="0" u="none" strike="noStrike" kern="1200" dirty="0" smtClean="0">
                          <a:solidFill>
                            <a:srgbClr val="000000"/>
                          </a:solidFill>
                          <a:latin typeface="Arial"/>
                          <a:ea typeface="+mn-ea"/>
                          <a:cs typeface="+mn-cs"/>
                        </a:rPr>
                        <a:t>3.1%</a:t>
                      </a:r>
                      <a:endParaRPr lang="en-US" sz="1600" b="0" i="0" u="none" strike="noStrike" kern="1200" dirty="0">
                        <a:solidFill>
                          <a:srgbClr val="000000"/>
                        </a:solidFill>
                        <a:latin typeface="Arial"/>
                        <a:ea typeface="+mn-ea"/>
                        <a:cs typeface="+mn-cs"/>
                      </a:endParaRPr>
                    </a:p>
                  </a:txBody>
                  <a:tcPr/>
                </a:tc>
              </a:tr>
            </a:tbl>
          </a:graphicData>
        </a:graphic>
      </p:graphicFrame>
      <p:pic>
        <p:nvPicPr>
          <p:cNvPr id="4" name="Picture 3" descr="MD_Medication_Nurse.jpg"/>
          <p:cNvPicPr>
            <a:picLocks noChangeAspect="1"/>
          </p:cNvPicPr>
          <p:nvPr/>
        </p:nvPicPr>
        <p:blipFill>
          <a:blip r:embed="rId3" cstate="print"/>
          <a:srcRect t="4082" r="4082" b="4082"/>
          <a:stretch>
            <a:fillRect/>
          </a:stretch>
        </p:blipFill>
        <p:spPr>
          <a:xfrm>
            <a:off x="0" y="1524000"/>
            <a:ext cx="3657600" cy="3574915"/>
          </a:xfrm>
          <a:prstGeom prst="rect">
            <a:avLst/>
          </a:prstGeom>
        </p:spPr>
      </p:pic>
      <p:sp>
        <p:nvSpPr>
          <p:cNvPr id="6" name="TextBox 5"/>
          <p:cNvSpPr txBox="1"/>
          <p:nvPr/>
        </p:nvSpPr>
        <p:spPr>
          <a:xfrm>
            <a:off x="1600200" y="6400800"/>
            <a:ext cx="5163786" cy="307777"/>
          </a:xfrm>
          <a:prstGeom prst="rect">
            <a:avLst/>
          </a:prstGeom>
          <a:noFill/>
        </p:spPr>
        <p:txBody>
          <a:bodyPr wrap="none" rtlCol="0">
            <a:spAutoFit/>
          </a:bodyPr>
          <a:lstStyle/>
          <a:p>
            <a:r>
              <a:rPr lang="en-US" sz="1400" i="1" dirty="0" smtClean="0"/>
              <a:t>Source: 2010-2020 Estimated Employment Projections Unit NMDW</a:t>
            </a:r>
            <a:r>
              <a:rPr lang="en-US" sz="1400" dirty="0" smtClean="0"/>
              <a:t>S</a:t>
            </a:r>
            <a:endParaRPr lang="en-US" sz="140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a:xfrm>
            <a:off x="6019800" y="0"/>
            <a:ext cx="3276600" cy="2743200"/>
          </a:xfrm>
        </p:spPr>
        <p:txBody>
          <a:bodyPr/>
          <a:lstStyle/>
          <a:p>
            <a:pPr eaLnBrk="1" hangingPunct="1"/>
            <a:r>
              <a:rPr lang="en-US" dirty="0" smtClean="0"/>
              <a:t>NM Occupations – High Wage &amp; Growth</a:t>
            </a:r>
          </a:p>
        </p:txBody>
      </p:sp>
      <p:graphicFrame>
        <p:nvGraphicFramePr>
          <p:cNvPr id="4" name="Content Placeholder 3"/>
          <p:cNvGraphicFramePr>
            <a:graphicFrameLocks noGrp="1"/>
          </p:cNvGraphicFramePr>
          <p:nvPr>
            <p:ph idx="1"/>
          </p:nvPr>
        </p:nvGraphicFramePr>
        <p:xfrm>
          <a:off x="0" y="0"/>
          <a:ext cx="5410200" cy="6019803"/>
        </p:xfrm>
        <a:graphic>
          <a:graphicData uri="http://schemas.openxmlformats.org/drawingml/2006/table">
            <a:tbl>
              <a:tblPr firstRow="1" bandRow="1">
                <a:tableStyleId>{7DF18680-E054-41AD-8BC1-D1AEF772440D}</a:tableStyleId>
              </a:tblPr>
              <a:tblGrid>
                <a:gridCol w="342417"/>
                <a:gridCol w="3559209"/>
                <a:gridCol w="851809"/>
                <a:gridCol w="656765"/>
              </a:tblGrid>
              <a:tr h="786574">
                <a:tc>
                  <a:txBody>
                    <a:bodyPr/>
                    <a:lstStyle/>
                    <a:p>
                      <a:pPr algn="l" fontAlgn="b"/>
                      <a:r>
                        <a:rPr lang="en-US" sz="1200" u="none" strike="noStrike" dirty="0"/>
                        <a:t>Rank</a:t>
                      </a:r>
                      <a:endParaRPr lang="en-US" sz="1200" b="1" i="0" u="none" strike="noStrike" dirty="0">
                        <a:solidFill>
                          <a:srgbClr val="000000"/>
                        </a:solidFill>
                        <a:latin typeface="Arial"/>
                      </a:endParaRPr>
                    </a:p>
                  </a:txBody>
                  <a:tcPr marL="0" marR="0" marT="0" marB="0" anchor="b"/>
                </a:tc>
                <a:tc>
                  <a:txBody>
                    <a:bodyPr/>
                    <a:lstStyle/>
                    <a:p>
                      <a:pPr algn="l" fontAlgn="b"/>
                      <a:r>
                        <a:rPr lang="en-US" sz="1200" u="none" strike="noStrike" dirty="0" smtClean="0"/>
                        <a:t>Occupational Title</a:t>
                      </a:r>
                      <a:endParaRPr lang="en-US" sz="1200" b="1" i="0" u="none" strike="noStrike" dirty="0">
                        <a:solidFill>
                          <a:srgbClr val="000000"/>
                        </a:solidFill>
                        <a:latin typeface="Arial"/>
                      </a:endParaRPr>
                    </a:p>
                  </a:txBody>
                  <a:tcPr marL="0" marR="0" marT="0" marB="0" anchor="b"/>
                </a:tc>
                <a:tc>
                  <a:txBody>
                    <a:bodyPr/>
                    <a:lstStyle/>
                    <a:p>
                      <a:pPr algn="r" fontAlgn="b"/>
                      <a:r>
                        <a:rPr lang="en-US" sz="1050" u="none" strike="noStrike" dirty="0" smtClean="0"/>
                        <a:t>2011</a:t>
                      </a:r>
                    </a:p>
                    <a:p>
                      <a:pPr algn="r" fontAlgn="b"/>
                      <a:r>
                        <a:rPr lang="en-US" sz="1050" u="none" strike="noStrike" dirty="0" smtClean="0"/>
                        <a:t>Annual Average  Wage (O</a:t>
                      </a:r>
                      <a:r>
                        <a:rPr lang="en-US" sz="1000" u="none" strike="noStrike" dirty="0" smtClean="0"/>
                        <a:t>ES)</a:t>
                      </a:r>
                      <a:endParaRPr lang="en-US" sz="1000" b="1" i="0" u="none" strike="noStrike" dirty="0">
                        <a:solidFill>
                          <a:srgbClr val="000000"/>
                        </a:solidFill>
                        <a:latin typeface="Arial"/>
                      </a:endParaRPr>
                    </a:p>
                  </a:txBody>
                  <a:tcPr marL="0" marR="0" marT="0" marB="0" anchor="b"/>
                </a:tc>
                <a:tc>
                  <a:txBody>
                    <a:bodyPr/>
                    <a:lstStyle/>
                    <a:p>
                      <a:pPr algn="r" fontAlgn="b"/>
                      <a:r>
                        <a:rPr lang="en-US" sz="1100" u="none" strike="noStrike" dirty="0" smtClean="0"/>
                        <a:t>2010-20</a:t>
                      </a:r>
                    </a:p>
                    <a:p>
                      <a:pPr algn="r" fontAlgn="b"/>
                      <a:r>
                        <a:rPr lang="en-US" sz="1100" u="none" strike="noStrike" dirty="0" smtClean="0"/>
                        <a:t>Annual </a:t>
                      </a:r>
                      <a:r>
                        <a:rPr lang="en-US" sz="1100" u="none" strike="noStrike" dirty="0"/>
                        <a:t>Job Growth </a:t>
                      </a:r>
                      <a:endParaRPr lang="en-US" sz="1100" b="1" i="0" u="none" strike="noStrike" dirty="0">
                        <a:solidFill>
                          <a:srgbClr val="000000"/>
                        </a:solidFill>
                        <a:latin typeface="Arial"/>
                      </a:endParaRPr>
                    </a:p>
                  </a:txBody>
                  <a:tcPr marL="0" marR="0" marT="0" marB="0" anchor="b"/>
                </a:tc>
              </a:tr>
              <a:tr h="424580">
                <a:tc>
                  <a:txBody>
                    <a:bodyPr/>
                    <a:lstStyle/>
                    <a:p>
                      <a:pPr algn="ctr" fontAlgn="b"/>
                      <a:r>
                        <a:rPr lang="en-US" sz="1800" b="0" i="0" u="none" strike="noStrike" dirty="0">
                          <a:solidFill>
                            <a:srgbClr val="000000"/>
                          </a:solidFill>
                          <a:latin typeface="Calibri"/>
                        </a:rPr>
                        <a:t>1</a:t>
                      </a:r>
                    </a:p>
                  </a:txBody>
                  <a:tcPr marL="0" marR="0" marT="0" marB="0" anchor="b"/>
                </a:tc>
                <a:tc>
                  <a:txBody>
                    <a:bodyPr/>
                    <a:lstStyle/>
                    <a:p>
                      <a:pPr algn="l" fontAlgn="b"/>
                      <a:r>
                        <a:rPr lang="en-US" sz="1800" b="0" i="0" u="none" strike="noStrike" dirty="0">
                          <a:solidFill>
                            <a:srgbClr val="000000"/>
                          </a:solidFill>
                          <a:latin typeface="Calibri"/>
                        </a:rPr>
                        <a:t>Radio Mechanics</a:t>
                      </a:r>
                    </a:p>
                  </a:txBody>
                  <a:tcPr marL="0" marR="0" marT="0" marB="0" anchor="b"/>
                </a:tc>
                <a:tc>
                  <a:txBody>
                    <a:bodyPr/>
                    <a:lstStyle/>
                    <a:p>
                      <a:pPr algn="r" fontAlgn="b"/>
                      <a:r>
                        <a:rPr lang="en-US" sz="1800" b="0" i="0" u="none" strike="noStrike">
                          <a:solidFill>
                            <a:srgbClr val="000000"/>
                          </a:solidFill>
                          <a:latin typeface="Calibri"/>
                        </a:rPr>
                        <a:t>$46,290 </a:t>
                      </a:r>
                    </a:p>
                  </a:txBody>
                  <a:tcPr marL="0" marR="0" marT="0" marB="0" anchor="b"/>
                </a:tc>
                <a:tc>
                  <a:txBody>
                    <a:bodyPr/>
                    <a:lstStyle/>
                    <a:p>
                      <a:pPr algn="r" fontAlgn="b"/>
                      <a:r>
                        <a:rPr lang="en-US" sz="1800" b="0" i="0" u="none" strike="noStrike" dirty="0" smtClean="0">
                          <a:solidFill>
                            <a:srgbClr val="000000"/>
                          </a:solidFill>
                          <a:latin typeface="Calibri"/>
                        </a:rPr>
                        <a:t>5.1%</a:t>
                      </a:r>
                      <a:endParaRPr lang="en-US" sz="1800" b="0" i="0" u="none" strike="noStrike" dirty="0">
                        <a:solidFill>
                          <a:srgbClr val="000000"/>
                        </a:solidFill>
                        <a:latin typeface="Calibri"/>
                      </a:endParaRPr>
                    </a:p>
                  </a:txBody>
                  <a:tcPr marL="0" marR="0" marT="0" marB="0" anchor="b"/>
                </a:tc>
              </a:tr>
              <a:tr h="601597">
                <a:tc>
                  <a:txBody>
                    <a:bodyPr/>
                    <a:lstStyle/>
                    <a:p>
                      <a:pPr algn="ctr" fontAlgn="b"/>
                      <a:r>
                        <a:rPr lang="en-US" sz="1800" b="0" i="0" u="none" strike="noStrike" dirty="0">
                          <a:solidFill>
                            <a:srgbClr val="000000"/>
                          </a:solidFill>
                          <a:latin typeface="Calibri"/>
                        </a:rPr>
                        <a:t>2</a:t>
                      </a:r>
                    </a:p>
                  </a:txBody>
                  <a:tcPr marL="0" marR="0" marT="0" marB="0" anchor="b"/>
                </a:tc>
                <a:tc>
                  <a:txBody>
                    <a:bodyPr/>
                    <a:lstStyle/>
                    <a:p>
                      <a:pPr algn="l" fontAlgn="b"/>
                      <a:r>
                        <a:rPr lang="en-US" sz="1800" b="0" i="0" u="none" strike="noStrike" dirty="0">
                          <a:solidFill>
                            <a:srgbClr val="000000"/>
                          </a:solidFill>
                          <a:latin typeface="Calibri"/>
                        </a:rPr>
                        <a:t>Interpreters and Translators</a:t>
                      </a:r>
                    </a:p>
                  </a:txBody>
                  <a:tcPr marL="0" marR="0" marT="0" marB="0" anchor="b"/>
                </a:tc>
                <a:tc>
                  <a:txBody>
                    <a:bodyPr/>
                    <a:lstStyle/>
                    <a:p>
                      <a:pPr algn="r" fontAlgn="b"/>
                      <a:r>
                        <a:rPr lang="en-US" sz="1800" b="0" i="0" u="none" strike="noStrike">
                          <a:solidFill>
                            <a:srgbClr val="000000"/>
                          </a:solidFill>
                          <a:latin typeface="Calibri"/>
                        </a:rPr>
                        <a:t>$53,200 </a:t>
                      </a:r>
                    </a:p>
                  </a:txBody>
                  <a:tcPr marL="0" marR="0" marT="0" marB="0" anchor="b"/>
                </a:tc>
                <a:tc>
                  <a:txBody>
                    <a:bodyPr/>
                    <a:lstStyle/>
                    <a:p>
                      <a:pPr algn="r" fontAlgn="b"/>
                      <a:r>
                        <a:rPr lang="en-US" sz="1800" b="0" i="0" u="none" strike="noStrike" dirty="0" smtClean="0">
                          <a:solidFill>
                            <a:srgbClr val="000000"/>
                          </a:solidFill>
                          <a:latin typeface="Calibri"/>
                        </a:rPr>
                        <a:t>3.6%</a:t>
                      </a:r>
                      <a:endParaRPr lang="en-US" sz="1800" b="0" i="0" u="none" strike="noStrike" dirty="0">
                        <a:solidFill>
                          <a:srgbClr val="000000"/>
                        </a:solidFill>
                        <a:latin typeface="Calibri"/>
                      </a:endParaRPr>
                    </a:p>
                  </a:txBody>
                  <a:tcPr marL="0" marR="0" marT="0" marB="0" anchor="b"/>
                </a:tc>
              </a:tr>
              <a:tr h="363338">
                <a:tc>
                  <a:txBody>
                    <a:bodyPr/>
                    <a:lstStyle/>
                    <a:p>
                      <a:pPr algn="ctr" fontAlgn="b"/>
                      <a:r>
                        <a:rPr lang="en-US" sz="1800" b="0" i="0" u="none" strike="noStrike" dirty="0">
                          <a:solidFill>
                            <a:srgbClr val="000000"/>
                          </a:solidFill>
                          <a:latin typeface="Calibri"/>
                        </a:rPr>
                        <a:t>3</a:t>
                      </a:r>
                    </a:p>
                  </a:txBody>
                  <a:tcPr marL="0" marR="0" marT="0" marB="0" anchor="b"/>
                </a:tc>
                <a:tc>
                  <a:txBody>
                    <a:bodyPr/>
                    <a:lstStyle/>
                    <a:p>
                      <a:pPr algn="l" fontAlgn="b"/>
                      <a:r>
                        <a:rPr lang="en-US" sz="1800" b="0" i="0" u="none" strike="noStrike" dirty="0">
                          <a:solidFill>
                            <a:srgbClr val="000000"/>
                          </a:solidFill>
                          <a:latin typeface="Calibri"/>
                        </a:rPr>
                        <a:t>Meeting and Convention Planners</a:t>
                      </a:r>
                    </a:p>
                  </a:txBody>
                  <a:tcPr marL="0" marR="0" marT="0" marB="0" anchor="b"/>
                </a:tc>
                <a:tc>
                  <a:txBody>
                    <a:bodyPr/>
                    <a:lstStyle/>
                    <a:p>
                      <a:pPr algn="r" fontAlgn="b"/>
                      <a:r>
                        <a:rPr lang="en-US" sz="1800" b="0" i="0" u="none" strike="noStrike">
                          <a:solidFill>
                            <a:srgbClr val="000000"/>
                          </a:solidFill>
                          <a:latin typeface="Calibri"/>
                        </a:rPr>
                        <a:t>$49,500 </a:t>
                      </a:r>
                    </a:p>
                  </a:txBody>
                  <a:tcPr marL="0" marR="0" marT="0" marB="0" anchor="b"/>
                </a:tc>
                <a:tc>
                  <a:txBody>
                    <a:bodyPr/>
                    <a:lstStyle/>
                    <a:p>
                      <a:pPr algn="r" fontAlgn="b"/>
                      <a:r>
                        <a:rPr lang="en-US" sz="1800" b="0" i="0" u="none" strike="noStrike" dirty="0" smtClean="0">
                          <a:solidFill>
                            <a:srgbClr val="000000"/>
                          </a:solidFill>
                          <a:latin typeface="Calibri"/>
                        </a:rPr>
                        <a:t>3.6%</a:t>
                      </a:r>
                      <a:endParaRPr lang="en-US" sz="1800" b="0" i="0" u="none" strike="noStrike" dirty="0">
                        <a:solidFill>
                          <a:srgbClr val="000000"/>
                        </a:solidFill>
                        <a:latin typeface="Calibri"/>
                      </a:endParaRPr>
                    </a:p>
                  </a:txBody>
                  <a:tcPr marL="0" marR="0" marT="0" marB="0" anchor="b"/>
                </a:tc>
              </a:tr>
              <a:tr h="449303">
                <a:tc>
                  <a:txBody>
                    <a:bodyPr/>
                    <a:lstStyle/>
                    <a:p>
                      <a:pPr algn="ctr" fontAlgn="b"/>
                      <a:r>
                        <a:rPr lang="en-US" sz="1800" b="0" i="0" u="none" strike="noStrike" dirty="0">
                          <a:solidFill>
                            <a:srgbClr val="000000"/>
                          </a:solidFill>
                          <a:latin typeface="Calibri"/>
                        </a:rPr>
                        <a:t>4</a:t>
                      </a:r>
                    </a:p>
                  </a:txBody>
                  <a:tcPr marL="0" marR="0" marT="0" marB="0" anchor="b"/>
                </a:tc>
                <a:tc>
                  <a:txBody>
                    <a:bodyPr/>
                    <a:lstStyle/>
                    <a:p>
                      <a:pPr algn="l" fontAlgn="b"/>
                      <a:r>
                        <a:rPr lang="en-US" sz="1800" b="0" i="0" u="none" strike="noStrike" dirty="0">
                          <a:solidFill>
                            <a:srgbClr val="000000"/>
                          </a:solidFill>
                          <a:latin typeface="Calibri"/>
                        </a:rPr>
                        <a:t>Roustabouts, Oil and Gas</a:t>
                      </a:r>
                    </a:p>
                  </a:txBody>
                  <a:tcPr marL="0" marR="0" marT="0" marB="0" anchor="b"/>
                </a:tc>
                <a:tc>
                  <a:txBody>
                    <a:bodyPr/>
                    <a:lstStyle/>
                    <a:p>
                      <a:pPr algn="r" fontAlgn="b"/>
                      <a:r>
                        <a:rPr lang="en-US" sz="1800" b="0" i="0" u="none" strike="noStrike">
                          <a:solidFill>
                            <a:srgbClr val="000000"/>
                          </a:solidFill>
                          <a:latin typeface="Calibri"/>
                        </a:rPr>
                        <a:t>$34,150 </a:t>
                      </a:r>
                    </a:p>
                  </a:txBody>
                  <a:tcPr marL="0" marR="0" marT="0" marB="0" anchor="b"/>
                </a:tc>
                <a:tc>
                  <a:txBody>
                    <a:bodyPr/>
                    <a:lstStyle/>
                    <a:p>
                      <a:pPr algn="r" fontAlgn="b"/>
                      <a:r>
                        <a:rPr lang="en-US" sz="1800" b="0" i="0" u="none" strike="noStrike" dirty="0" smtClean="0">
                          <a:solidFill>
                            <a:srgbClr val="000000"/>
                          </a:solidFill>
                          <a:latin typeface="Calibri"/>
                        </a:rPr>
                        <a:t>3.4%</a:t>
                      </a:r>
                      <a:endParaRPr lang="en-US" sz="1800" b="0" i="0" u="none" strike="noStrike" dirty="0">
                        <a:solidFill>
                          <a:srgbClr val="000000"/>
                        </a:solidFill>
                        <a:latin typeface="Calibri"/>
                      </a:endParaRPr>
                    </a:p>
                  </a:txBody>
                  <a:tcPr marL="0" marR="0" marT="0" marB="0" anchor="b"/>
                </a:tc>
              </a:tr>
              <a:tr h="601597">
                <a:tc>
                  <a:txBody>
                    <a:bodyPr/>
                    <a:lstStyle/>
                    <a:p>
                      <a:pPr algn="ctr" fontAlgn="b"/>
                      <a:r>
                        <a:rPr lang="en-US" sz="1800" b="0" i="0" u="none" strike="noStrike" dirty="0">
                          <a:solidFill>
                            <a:srgbClr val="000000"/>
                          </a:solidFill>
                          <a:latin typeface="Calibri"/>
                        </a:rPr>
                        <a:t>5</a:t>
                      </a:r>
                    </a:p>
                  </a:txBody>
                  <a:tcPr marL="0" marR="0" marT="0" marB="0" anchor="b"/>
                </a:tc>
                <a:tc>
                  <a:txBody>
                    <a:bodyPr/>
                    <a:lstStyle/>
                    <a:p>
                      <a:pPr algn="l" fontAlgn="b"/>
                      <a:r>
                        <a:rPr lang="en-US" sz="1800" b="0" i="0" u="none" strike="noStrike" dirty="0">
                          <a:solidFill>
                            <a:srgbClr val="000000"/>
                          </a:solidFill>
                          <a:latin typeface="Calibri"/>
                        </a:rPr>
                        <a:t>Diagnostic Medical </a:t>
                      </a:r>
                      <a:r>
                        <a:rPr lang="en-US" sz="1800" b="0" i="0" u="none" strike="noStrike" dirty="0" err="1">
                          <a:solidFill>
                            <a:srgbClr val="000000"/>
                          </a:solidFill>
                          <a:latin typeface="Calibri"/>
                        </a:rPr>
                        <a:t>Sonographers</a:t>
                      </a:r>
                      <a:endParaRPr lang="en-US" sz="1800" b="0" i="0" u="none" strike="noStrike" dirty="0">
                        <a:solidFill>
                          <a:srgbClr val="000000"/>
                        </a:solidFill>
                        <a:latin typeface="Calibri"/>
                      </a:endParaRPr>
                    </a:p>
                  </a:txBody>
                  <a:tcPr marL="0" marR="0" marT="0" marB="0" anchor="b"/>
                </a:tc>
                <a:tc>
                  <a:txBody>
                    <a:bodyPr/>
                    <a:lstStyle/>
                    <a:p>
                      <a:pPr algn="r" fontAlgn="b"/>
                      <a:r>
                        <a:rPr lang="en-US" sz="1800" b="0" i="0" u="none" strike="noStrike" dirty="0">
                          <a:solidFill>
                            <a:srgbClr val="000000"/>
                          </a:solidFill>
                          <a:latin typeface="Calibri"/>
                        </a:rPr>
                        <a:t>$67,240 </a:t>
                      </a:r>
                    </a:p>
                  </a:txBody>
                  <a:tcPr marL="0" marR="0" marT="0" marB="0" anchor="b"/>
                </a:tc>
                <a:tc>
                  <a:txBody>
                    <a:bodyPr/>
                    <a:lstStyle/>
                    <a:p>
                      <a:pPr algn="r" fontAlgn="b"/>
                      <a:r>
                        <a:rPr lang="en-US" sz="1800" b="0" i="0" u="none" strike="noStrike" dirty="0" smtClean="0">
                          <a:solidFill>
                            <a:srgbClr val="000000"/>
                          </a:solidFill>
                          <a:latin typeface="Calibri"/>
                        </a:rPr>
                        <a:t>3.3%</a:t>
                      </a:r>
                      <a:endParaRPr lang="en-US" sz="1800" b="0" i="0" u="none" strike="noStrike" dirty="0">
                        <a:solidFill>
                          <a:srgbClr val="000000"/>
                        </a:solidFill>
                        <a:latin typeface="Calibri"/>
                      </a:endParaRPr>
                    </a:p>
                  </a:txBody>
                  <a:tcPr marL="0" marR="0" marT="0" marB="0" anchor="b"/>
                </a:tc>
              </a:tr>
              <a:tr h="550602">
                <a:tc>
                  <a:txBody>
                    <a:bodyPr/>
                    <a:lstStyle/>
                    <a:p>
                      <a:pPr algn="ctr" fontAlgn="b"/>
                      <a:r>
                        <a:rPr lang="en-US" sz="1800" b="0" i="0" u="none" strike="noStrike" dirty="0">
                          <a:solidFill>
                            <a:srgbClr val="000000"/>
                          </a:solidFill>
                          <a:latin typeface="Calibri"/>
                        </a:rPr>
                        <a:t>6</a:t>
                      </a:r>
                    </a:p>
                  </a:txBody>
                  <a:tcPr marL="0" marR="0" marT="0" marB="0" anchor="b"/>
                </a:tc>
                <a:tc>
                  <a:txBody>
                    <a:bodyPr/>
                    <a:lstStyle/>
                    <a:p>
                      <a:pPr algn="l" fontAlgn="b"/>
                      <a:r>
                        <a:rPr lang="en-US" sz="1800" b="0" i="0" u="none" strike="noStrike" dirty="0">
                          <a:solidFill>
                            <a:srgbClr val="000000"/>
                          </a:solidFill>
                          <a:latin typeface="Calibri"/>
                        </a:rPr>
                        <a:t>Derrick Operators, Oil and Gas</a:t>
                      </a:r>
                    </a:p>
                  </a:txBody>
                  <a:tcPr marL="0" marR="0" marT="0" marB="0" anchor="b"/>
                </a:tc>
                <a:tc>
                  <a:txBody>
                    <a:bodyPr/>
                    <a:lstStyle/>
                    <a:p>
                      <a:pPr algn="r" fontAlgn="b"/>
                      <a:r>
                        <a:rPr lang="en-US" sz="1800" b="0" i="0" u="none" strike="noStrike" dirty="0">
                          <a:solidFill>
                            <a:srgbClr val="000000"/>
                          </a:solidFill>
                          <a:latin typeface="Calibri"/>
                        </a:rPr>
                        <a:t>$49,910 </a:t>
                      </a:r>
                    </a:p>
                  </a:txBody>
                  <a:tcPr marL="0" marR="0" marT="0" marB="0" anchor="b"/>
                </a:tc>
                <a:tc>
                  <a:txBody>
                    <a:bodyPr/>
                    <a:lstStyle/>
                    <a:p>
                      <a:pPr algn="r" fontAlgn="b"/>
                      <a:r>
                        <a:rPr lang="en-US" sz="1800" b="0" i="0" u="none" strike="noStrike" dirty="0" smtClean="0">
                          <a:solidFill>
                            <a:srgbClr val="000000"/>
                          </a:solidFill>
                          <a:latin typeface="Calibri"/>
                        </a:rPr>
                        <a:t>3.3%</a:t>
                      </a:r>
                      <a:endParaRPr lang="en-US" sz="1800" b="0" i="0" u="none" strike="noStrike" dirty="0">
                        <a:solidFill>
                          <a:srgbClr val="000000"/>
                        </a:solidFill>
                        <a:latin typeface="Calibri"/>
                      </a:endParaRPr>
                    </a:p>
                  </a:txBody>
                  <a:tcPr marL="0" marR="0" marT="0" marB="0" anchor="b"/>
                </a:tc>
              </a:tr>
              <a:tr h="363338">
                <a:tc>
                  <a:txBody>
                    <a:bodyPr/>
                    <a:lstStyle/>
                    <a:p>
                      <a:pPr algn="ctr" fontAlgn="b"/>
                      <a:r>
                        <a:rPr lang="en-US" sz="1800" b="0" i="0" u="none" strike="noStrike" dirty="0">
                          <a:solidFill>
                            <a:srgbClr val="000000"/>
                          </a:solidFill>
                          <a:latin typeface="Calibri"/>
                        </a:rPr>
                        <a:t>7</a:t>
                      </a:r>
                    </a:p>
                  </a:txBody>
                  <a:tcPr marL="0" marR="0" marT="0" marB="0" anchor="b"/>
                </a:tc>
                <a:tc>
                  <a:txBody>
                    <a:bodyPr/>
                    <a:lstStyle/>
                    <a:p>
                      <a:pPr algn="l" fontAlgn="b"/>
                      <a:r>
                        <a:rPr lang="en-US" sz="1800" b="0" i="0" u="none" strike="noStrike" dirty="0">
                          <a:solidFill>
                            <a:srgbClr val="000000"/>
                          </a:solidFill>
                          <a:latin typeface="Calibri"/>
                        </a:rPr>
                        <a:t>Rotary Drill Operators, Oil and Gas</a:t>
                      </a:r>
                    </a:p>
                  </a:txBody>
                  <a:tcPr marL="0" marR="0" marT="0" marB="0" anchor="b"/>
                </a:tc>
                <a:tc>
                  <a:txBody>
                    <a:bodyPr/>
                    <a:lstStyle/>
                    <a:p>
                      <a:pPr algn="r" fontAlgn="b"/>
                      <a:r>
                        <a:rPr lang="en-US" sz="1800" b="0" i="0" u="none" strike="noStrike">
                          <a:solidFill>
                            <a:srgbClr val="000000"/>
                          </a:solidFill>
                          <a:latin typeface="Calibri"/>
                        </a:rPr>
                        <a:t>$63,980 </a:t>
                      </a:r>
                    </a:p>
                  </a:txBody>
                  <a:tcPr marL="0" marR="0" marT="0" marB="0" anchor="b"/>
                </a:tc>
                <a:tc>
                  <a:txBody>
                    <a:bodyPr/>
                    <a:lstStyle/>
                    <a:p>
                      <a:pPr algn="r" fontAlgn="b"/>
                      <a:r>
                        <a:rPr lang="en-US" sz="1800" b="0" i="0" u="none" strike="noStrike" dirty="0" smtClean="0">
                          <a:solidFill>
                            <a:srgbClr val="000000"/>
                          </a:solidFill>
                          <a:latin typeface="Calibri"/>
                        </a:rPr>
                        <a:t>3.2%</a:t>
                      </a:r>
                      <a:endParaRPr lang="en-US" sz="1800" b="0" i="0" u="none" strike="noStrike" dirty="0">
                        <a:solidFill>
                          <a:srgbClr val="000000"/>
                        </a:solidFill>
                        <a:latin typeface="Calibri"/>
                      </a:endParaRPr>
                    </a:p>
                  </a:txBody>
                  <a:tcPr marL="0" marR="0" marT="0" marB="0" anchor="b"/>
                </a:tc>
              </a:tr>
              <a:tr h="726675">
                <a:tc>
                  <a:txBody>
                    <a:bodyPr/>
                    <a:lstStyle/>
                    <a:p>
                      <a:pPr algn="ctr" fontAlgn="b"/>
                      <a:r>
                        <a:rPr lang="en-US" sz="1800" b="0" i="0" u="none" strike="noStrike" dirty="0">
                          <a:solidFill>
                            <a:srgbClr val="000000"/>
                          </a:solidFill>
                          <a:latin typeface="Calibri"/>
                        </a:rPr>
                        <a:t>8</a:t>
                      </a:r>
                    </a:p>
                  </a:txBody>
                  <a:tcPr marL="0" marR="0" marT="0" marB="0" anchor="b"/>
                </a:tc>
                <a:tc>
                  <a:txBody>
                    <a:bodyPr/>
                    <a:lstStyle/>
                    <a:p>
                      <a:pPr algn="l" fontAlgn="b"/>
                      <a:r>
                        <a:rPr lang="en-US" sz="1800" b="0" i="0" u="none" strike="noStrike">
                          <a:solidFill>
                            <a:srgbClr val="000000"/>
                          </a:solidFill>
                          <a:latin typeface="Calibri"/>
                        </a:rPr>
                        <a:t>Philosophy and Religion Teachers, Postsecondary</a:t>
                      </a:r>
                    </a:p>
                  </a:txBody>
                  <a:tcPr marL="0" marR="0" marT="0" marB="0" anchor="b"/>
                </a:tc>
                <a:tc>
                  <a:txBody>
                    <a:bodyPr/>
                    <a:lstStyle/>
                    <a:p>
                      <a:pPr algn="r" fontAlgn="b"/>
                      <a:r>
                        <a:rPr lang="en-US" sz="1800" b="0" i="0" u="none" strike="noStrike">
                          <a:solidFill>
                            <a:srgbClr val="000000"/>
                          </a:solidFill>
                          <a:latin typeface="Calibri"/>
                        </a:rPr>
                        <a:t>$60,870 </a:t>
                      </a:r>
                    </a:p>
                  </a:txBody>
                  <a:tcPr marL="0" marR="0" marT="0" marB="0" anchor="b"/>
                </a:tc>
                <a:tc>
                  <a:txBody>
                    <a:bodyPr/>
                    <a:lstStyle/>
                    <a:p>
                      <a:pPr algn="r" fontAlgn="b"/>
                      <a:r>
                        <a:rPr lang="en-US" sz="1800" b="0" i="0" u="none" strike="noStrike" dirty="0" smtClean="0">
                          <a:solidFill>
                            <a:srgbClr val="000000"/>
                          </a:solidFill>
                          <a:latin typeface="Calibri"/>
                        </a:rPr>
                        <a:t>3.2%</a:t>
                      </a:r>
                      <a:endParaRPr lang="en-US" sz="1800" b="0" i="0" u="none" strike="noStrike" dirty="0">
                        <a:solidFill>
                          <a:srgbClr val="000000"/>
                        </a:solidFill>
                        <a:latin typeface="Calibri"/>
                      </a:endParaRPr>
                    </a:p>
                  </a:txBody>
                  <a:tcPr marL="0" marR="0" marT="0" marB="0" anchor="b"/>
                </a:tc>
              </a:tr>
              <a:tr h="601597">
                <a:tc>
                  <a:txBody>
                    <a:bodyPr/>
                    <a:lstStyle/>
                    <a:p>
                      <a:pPr algn="ctr" fontAlgn="b"/>
                      <a:r>
                        <a:rPr lang="en-US" sz="1800" b="0" i="0" u="none" strike="noStrike" dirty="0">
                          <a:solidFill>
                            <a:srgbClr val="000000"/>
                          </a:solidFill>
                          <a:latin typeface="Calibri"/>
                        </a:rPr>
                        <a:t>9</a:t>
                      </a:r>
                    </a:p>
                  </a:txBody>
                  <a:tcPr marL="0" marR="0" marT="0" marB="0" anchor="b"/>
                </a:tc>
                <a:tc>
                  <a:txBody>
                    <a:bodyPr/>
                    <a:lstStyle/>
                    <a:p>
                      <a:pPr algn="l" fontAlgn="b"/>
                      <a:r>
                        <a:rPr lang="en-US" sz="1800" b="0" i="0" u="none" strike="noStrike">
                          <a:solidFill>
                            <a:srgbClr val="000000"/>
                          </a:solidFill>
                          <a:latin typeface="Calibri"/>
                        </a:rPr>
                        <a:t>Physical Therapist Assistants</a:t>
                      </a:r>
                    </a:p>
                  </a:txBody>
                  <a:tcPr marL="0" marR="0" marT="0" marB="0" anchor="b"/>
                </a:tc>
                <a:tc>
                  <a:txBody>
                    <a:bodyPr/>
                    <a:lstStyle/>
                    <a:p>
                      <a:pPr algn="r" fontAlgn="b"/>
                      <a:r>
                        <a:rPr lang="en-US" sz="1800" b="0" i="0" u="none" strike="noStrike">
                          <a:solidFill>
                            <a:srgbClr val="000000"/>
                          </a:solidFill>
                          <a:latin typeface="Calibri"/>
                        </a:rPr>
                        <a:t>$37,730 </a:t>
                      </a:r>
                    </a:p>
                  </a:txBody>
                  <a:tcPr marL="0" marR="0" marT="0" marB="0" anchor="b"/>
                </a:tc>
                <a:tc>
                  <a:txBody>
                    <a:bodyPr/>
                    <a:lstStyle/>
                    <a:p>
                      <a:pPr algn="r" fontAlgn="b"/>
                      <a:r>
                        <a:rPr lang="en-US" sz="1800" b="0" i="0" u="none" strike="noStrike" dirty="0" smtClean="0">
                          <a:solidFill>
                            <a:srgbClr val="000000"/>
                          </a:solidFill>
                          <a:latin typeface="Calibri"/>
                        </a:rPr>
                        <a:t>3.1%</a:t>
                      </a:r>
                      <a:endParaRPr lang="en-US" sz="1800" b="0" i="0" u="none" strike="noStrike" dirty="0">
                        <a:solidFill>
                          <a:srgbClr val="000000"/>
                        </a:solidFill>
                        <a:latin typeface="Calibri"/>
                      </a:endParaRPr>
                    </a:p>
                  </a:txBody>
                  <a:tcPr marL="0" marR="0" marT="0" marB="0" anchor="b"/>
                </a:tc>
              </a:tr>
              <a:tr h="550602">
                <a:tc>
                  <a:txBody>
                    <a:bodyPr/>
                    <a:lstStyle/>
                    <a:p>
                      <a:pPr algn="ctr" fontAlgn="b"/>
                      <a:r>
                        <a:rPr lang="en-US" sz="1800" b="0" i="0" u="none" strike="noStrike" dirty="0">
                          <a:solidFill>
                            <a:srgbClr val="000000"/>
                          </a:solidFill>
                          <a:latin typeface="Calibri"/>
                        </a:rPr>
                        <a:t>10</a:t>
                      </a:r>
                    </a:p>
                  </a:txBody>
                  <a:tcPr marL="0" marR="0" marT="0" marB="0" anchor="b"/>
                </a:tc>
                <a:tc>
                  <a:txBody>
                    <a:bodyPr/>
                    <a:lstStyle/>
                    <a:p>
                      <a:pPr algn="l" fontAlgn="b"/>
                      <a:r>
                        <a:rPr lang="en-US" sz="1800" b="0" i="0" u="none" strike="noStrike">
                          <a:solidFill>
                            <a:srgbClr val="000000"/>
                          </a:solidFill>
                          <a:latin typeface="Calibri"/>
                        </a:rPr>
                        <a:t>Financial Examiners</a:t>
                      </a:r>
                    </a:p>
                  </a:txBody>
                  <a:tcPr marL="0" marR="0" marT="0" marB="0" anchor="b"/>
                </a:tc>
                <a:tc>
                  <a:txBody>
                    <a:bodyPr/>
                    <a:lstStyle/>
                    <a:p>
                      <a:pPr algn="r" fontAlgn="b"/>
                      <a:r>
                        <a:rPr lang="en-US" sz="1800" b="0" i="0" u="none" strike="noStrike">
                          <a:solidFill>
                            <a:srgbClr val="000000"/>
                          </a:solidFill>
                          <a:latin typeface="Calibri"/>
                        </a:rPr>
                        <a:t>$79,940 </a:t>
                      </a:r>
                    </a:p>
                  </a:txBody>
                  <a:tcPr marL="0" marR="0" marT="0" marB="0" anchor="b"/>
                </a:tc>
                <a:tc>
                  <a:txBody>
                    <a:bodyPr/>
                    <a:lstStyle/>
                    <a:p>
                      <a:pPr algn="r" fontAlgn="b"/>
                      <a:r>
                        <a:rPr lang="en-US" sz="1800" b="0" i="0" u="none" strike="noStrike" dirty="0" smtClean="0">
                          <a:solidFill>
                            <a:srgbClr val="000000"/>
                          </a:solidFill>
                          <a:latin typeface="Calibri"/>
                        </a:rPr>
                        <a:t>3.0%</a:t>
                      </a:r>
                      <a:endParaRPr lang="en-US" sz="1800" b="0" i="0" u="none" strike="noStrike" dirty="0">
                        <a:solidFill>
                          <a:srgbClr val="000000"/>
                        </a:solidFill>
                        <a:latin typeface="Calibri"/>
                      </a:endParaRPr>
                    </a:p>
                  </a:txBody>
                  <a:tcPr marL="0" marR="0" marT="0" marB="0" anchor="b"/>
                </a:tc>
              </a:tr>
            </a:tbl>
          </a:graphicData>
        </a:graphic>
      </p:graphicFrame>
      <p:pic>
        <p:nvPicPr>
          <p:cNvPr id="5" name="Picture 4" descr="oil-and-gas-derrick-operators-19-decline.jpg"/>
          <p:cNvPicPr>
            <a:picLocks noChangeAspect="1"/>
          </p:cNvPicPr>
          <p:nvPr/>
        </p:nvPicPr>
        <p:blipFill>
          <a:blip r:embed="rId3" cstate="print"/>
          <a:stretch>
            <a:fillRect/>
          </a:stretch>
        </p:blipFill>
        <p:spPr>
          <a:xfrm>
            <a:off x="5486400" y="2743200"/>
            <a:ext cx="3657600" cy="2743200"/>
          </a:xfrm>
          <a:prstGeom prst="rect">
            <a:avLst/>
          </a:prstGeom>
        </p:spPr>
      </p:pic>
      <p:sp>
        <p:nvSpPr>
          <p:cNvPr id="6" name="TextBox 5"/>
          <p:cNvSpPr txBox="1"/>
          <p:nvPr/>
        </p:nvSpPr>
        <p:spPr>
          <a:xfrm>
            <a:off x="1371600" y="6400800"/>
            <a:ext cx="7883697" cy="307777"/>
          </a:xfrm>
          <a:prstGeom prst="rect">
            <a:avLst/>
          </a:prstGeom>
          <a:noFill/>
        </p:spPr>
        <p:txBody>
          <a:bodyPr wrap="none" rtlCol="0">
            <a:spAutoFit/>
          </a:bodyPr>
          <a:lstStyle/>
          <a:p>
            <a:r>
              <a:rPr lang="en-US" sz="1400" i="1" dirty="0" smtClean="0"/>
              <a:t>Source: 2010-2020 Estimated Employment Projections  &amp; Occupational Employment Survey Units NMDW</a:t>
            </a:r>
            <a:r>
              <a:rPr lang="en-US" sz="1400" dirty="0" smtClean="0"/>
              <a:t>S</a:t>
            </a:r>
            <a:endParaRPr lang="en-US" sz="140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pPr eaLnBrk="1" hangingPunct="1"/>
            <a:r>
              <a:rPr lang="en-US" dirty="0" smtClean="0"/>
              <a:t>Show me the money!</a:t>
            </a:r>
          </a:p>
        </p:txBody>
      </p:sp>
      <p:graphicFrame>
        <p:nvGraphicFramePr>
          <p:cNvPr id="5" name="Content Placeholder 4"/>
          <p:cNvGraphicFramePr>
            <a:graphicFrameLocks noGrp="1"/>
          </p:cNvGraphicFramePr>
          <p:nvPr>
            <p:ph idx="1"/>
          </p:nvPr>
        </p:nvGraphicFramePr>
        <p:xfrm>
          <a:off x="2362200" y="1066800"/>
          <a:ext cx="6553200" cy="5581807"/>
        </p:xfrm>
        <a:graphic>
          <a:graphicData uri="http://schemas.openxmlformats.org/drawingml/2006/table">
            <a:tbl>
              <a:tblPr firstRow="1" bandRow="1">
                <a:tableStyleId>{7DF18680-E054-41AD-8BC1-D1AEF772440D}</a:tableStyleId>
              </a:tblPr>
              <a:tblGrid>
                <a:gridCol w="5156200"/>
                <a:gridCol w="1397000"/>
              </a:tblGrid>
              <a:tr h="875434">
                <a:tc>
                  <a:txBody>
                    <a:bodyPr/>
                    <a:lstStyle/>
                    <a:p>
                      <a:r>
                        <a:rPr lang="en-US" dirty="0" smtClean="0"/>
                        <a:t>12 Highest</a:t>
                      </a:r>
                      <a:r>
                        <a:rPr lang="en-US" baseline="0" dirty="0" smtClean="0"/>
                        <a:t> paying jobs in New Mexico 2011</a:t>
                      </a:r>
                    </a:p>
                    <a:p>
                      <a:endParaRPr lang="en-US" baseline="0" dirty="0" smtClean="0"/>
                    </a:p>
                    <a:p>
                      <a:r>
                        <a:rPr lang="en-US" dirty="0" smtClean="0"/>
                        <a:t>Occupation</a:t>
                      </a:r>
                      <a:endParaRPr lang="en-US" dirty="0"/>
                    </a:p>
                  </a:txBody>
                  <a:tcPr/>
                </a:tc>
                <a:tc>
                  <a:txBody>
                    <a:bodyPr/>
                    <a:lstStyle/>
                    <a:p>
                      <a:pPr algn="r"/>
                      <a:r>
                        <a:rPr lang="en-US" baseline="0" dirty="0" smtClean="0"/>
                        <a:t>Annual Median Wage (OES )</a:t>
                      </a:r>
                      <a:endParaRPr lang="en-US" dirty="0"/>
                    </a:p>
                  </a:txBody>
                  <a:tcPr/>
                </a:tc>
              </a:tr>
              <a:tr h="381000">
                <a:tc>
                  <a:txBody>
                    <a:bodyPr/>
                    <a:lstStyle/>
                    <a:p>
                      <a:pPr algn="l" fontAlgn="b"/>
                      <a:r>
                        <a:rPr lang="en-US" sz="1800" b="0" i="0" u="none" strike="noStrike" dirty="0">
                          <a:solidFill>
                            <a:srgbClr val="000000"/>
                          </a:solidFill>
                          <a:latin typeface="Calibri"/>
                        </a:rPr>
                        <a:t>Psychiatrists</a:t>
                      </a:r>
                    </a:p>
                  </a:txBody>
                  <a:tcPr marL="7620" marR="7620" marT="7620" marB="0" anchor="b"/>
                </a:tc>
                <a:tc>
                  <a:txBody>
                    <a:bodyPr/>
                    <a:lstStyle/>
                    <a:p>
                      <a:pPr algn="r" fontAlgn="b"/>
                      <a:r>
                        <a:rPr lang="en-US" sz="1800" b="0" i="0" u="none" strike="noStrike" dirty="0">
                          <a:solidFill>
                            <a:srgbClr val="000000"/>
                          </a:solidFill>
                          <a:latin typeface="Calibri"/>
                        </a:rPr>
                        <a:t>$</a:t>
                      </a:r>
                      <a:r>
                        <a:rPr lang="en-US" sz="1800" b="0" i="0" u="none" strike="noStrike" dirty="0" smtClean="0">
                          <a:solidFill>
                            <a:srgbClr val="000000"/>
                          </a:solidFill>
                          <a:latin typeface="Calibri"/>
                        </a:rPr>
                        <a:t>180,740 </a:t>
                      </a:r>
                      <a:endParaRPr lang="en-US" sz="1800" b="0" i="0" u="none" strike="noStrike" dirty="0">
                        <a:solidFill>
                          <a:srgbClr val="000000"/>
                        </a:solidFill>
                        <a:latin typeface="Calibri"/>
                      </a:endParaRPr>
                    </a:p>
                  </a:txBody>
                  <a:tcPr marL="7620" marR="7620" marT="7620" marB="0" anchor="b"/>
                </a:tc>
              </a:tr>
              <a:tr h="381000">
                <a:tc>
                  <a:txBody>
                    <a:bodyPr/>
                    <a:lstStyle/>
                    <a:p>
                      <a:pPr algn="l" fontAlgn="b"/>
                      <a:r>
                        <a:rPr lang="en-US" sz="1800" b="0" i="0" u="none" strike="noStrike" dirty="0">
                          <a:solidFill>
                            <a:srgbClr val="000000"/>
                          </a:solidFill>
                          <a:latin typeface="Calibri"/>
                        </a:rPr>
                        <a:t>Family and General Practitioners</a:t>
                      </a:r>
                    </a:p>
                  </a:txBody>
                  <a:tcPr marL="7620" marR="7620" marT="7620" marB="0" anchor="b"/>
                </a:tc>
                <a:tc>
                  <a:txBody>
                    <a:bodyPr/>
                    <a:lstStyle/>
                    <a:p>
                      <a:pPr algn="r" fontAlgn="b"/>
                      <a:r>
                        <a:rPr lang="en-US" sz="1800" b="0" i="0" u="none" strike="noStrike" dirty="0">
                          <a:solidFill>
                            <a:srgbClr val="000000"/>
                          </a:solidFill>
                          <a:latin typeface="Calibri"/>
                        </a:rPr>
                        <a:t>$</a:t>
                      </a:r>
                      <a:r>
                        <a:rPr lang="en-US" sz="1800" b="0" i="0" u="none" strike="noStrike" dirty="0" smtClean="0">
                          <a:solidFill>
                            <a:srgbClr val="000000"/>
                          </a:solidFill>
                          <a:latin typeface="Calibri"/>
                        </a:rPr>
                        <a:t>174,990 </a:t>
                      </a:r>
                      <a:endParaRPr lang="en-US" sz="1800" b="0" i="0" u="none" strike="noStrike" dirty="0">
                        <a:solidFill>
                          <a:srgbClr val="000000"/>
                        </a:solidFill>
                        <a:latin typeface="Calibri"/>
                      </a:endParaRPr>
                    </a:p>
                  </a:txBody>
                  <a:tcPr marL="7620" marR="7620" marT="7620" marB="0" anchor="b"/>
                </a:tc>
              </a:tr>
              <a:tr h="355037">
                <a:tc>
                  <a:txBody>
                    <a:bodyPr/>
                    <a:lstStyle/>
                    <a:p>
                      <a:pPr algn="l" fontAlgn="b"/>
                      <a:r>
                        <a:rPr lang="en-US" sz="1800" b="0" i="0" u="none" strike="noStrike" dirty="0">
                          <a:solidFill>
                            <a:srgbClr val="000000"/>
                          </a:solidFill>
                          <a:latin typeface="Calibri"/>
                        </a:rPr>
                        <a:t>Pediatricians, General</a:t>
                      </a:r>
                    </a:p>
                  </a:txBody>
                  <a:tcPr marL="7620" marR="7620" marT="7620" marB="0" anchor="b"/>
                </a:tc>
                <a:tc>
                  <a:txBody>
                    <a:bodyPr/>
                    <a:lstStyle/>
                    <a:p>
                      <a:pPr algn="r" fontAlgn="b"/>
                      <a:r>
                        <a:rPr lang="en-US" sz="1800" b="0" i="0" u="none" strike="noStrike" dirty="0">
                          <a:solidFill>
                            <a:srgbClr val="000000"/>
                          </a:solidFill>
                          <a:latin typeface="Calibri"/>
                        </a:rPr>
                        <a:t>$</a:t>
                      </a:r>
                      <a:r>
                        <a:rPr lang="en-US" sz="1800" b="0" i="0" u="none" strike="noStrike" dirty="0" smtClean="0">
                          <a:solidFill>
                            <a:srgbClr val="000000"/>
                          </a:solidFill>
                          <a:latin typeface="Calibri"/>
                        </a:rPr>
                        <a:t>166,810 </a:t>
                      </a:r>
                      <a:endParaRPr lang="en-US" sz="1800" b="0" i="0" u="none" strike="noStrike" dirty="0">
                        <a:solidFill>
                          <a:srgbClr val="000000"/>
                        </a:solidFill>
                        <a:latin typeface="Calibri"/>
                      </a:endParaRPr>
                    </a:p>
                  </a:txBody>
                  <a:tcPr marL="7620" marR="7620" marT="7620" marB="0" anchor="b"/>
                </a:tc>
              </a:tr>
              <a:tr h="355037">
                <a:tc>
                  <a:txBody>
                    <a:bodyPr/>
                    <a:lstStyle/>
                    <a:p>
                      <a:pPr algn="l" fontAlgn="b"/>
                      <a:r>
                        <a:rPr lang="en-US" sz="1800" b="0" i="0" u="none" strike="noStrike" dirty="0">
                          <a:solidFill>
                            <a:srgbClr val="000000"/>
                          </a:solidFill>
                          <a:latin typeface="Calibri"/>
                        </a:rPr>
                        <a:t>Dentists, General</a:t>
                      </a:r>
                    </a:p>
                  </a:txBody>
                  <a:tcPr marL="7620" marR="7620" marT="7620" marB="0" anchor="b"/>
                </a:tc>
                <a:tc>
                  <a:txBody>
                    <a:bodyPr/>
                    <a:lstStyle/>
                    <a:p>
                      <a:pPr algn="r" fontAlgn="b"/>
                      <a:r>
                        <a:rPr lang="en-US" sz="1800" b="0" i="0" u="none" strike="noStrike" dirty="0">
                          <a:solidFill>
                            <a:srgbClr val="000000"/>
                          </a:solidFill>
                          <a:latin typeface="Calibri"/>
                        </a:rPr>
                        <a:t>$</a:t>
                      </a:r>
                      <a:r>
                        <a:rPr lang="en-US" sz="1800" b="0" i="0" u="none" strike="noStrike" dirty="0" smtClean="0">
                          <a:solidFill>
                            <a:srgbClr val="000000"/>
                          </a:solidFill>
                          <a:latin typeface="Calibri"/>
                        </a:rPr>
                        <a:t>157,380 </a:t>
                      </a:r>
                      <a:endParaRPr lang="en-US" sz="1800" b="0" i="0" u="none" strike="noStrike" dirty="0">
                        <a:solidFill>
                          <a:srgbClr val="000000"/>
                        </a:solidFill>
                        <a:latin typeface="Calibri"/>
                      </a:endParaRPr>
                    </a:p>
                  </a:txBody>
                  <a:tcPr marL="7620" marR="7620" marT="7620" marB="0" anchor="b"/>
                </a:tc>
              </a:tr>
              <a:tr h="355037">
                <a:tc>
                  <a:txBody>
                    <a:bodyPr/>
                    <a:lstStyle/>
                    <a:p>
                      <a:pPr algn="l" fontAlgn="b"/>
                      <a:r>
                        <a:rPr lang="en-US" sz="1800" b="0" i="0" u="none" strike="noStrike" dirty="0">
                          <a:solidFill>
                            <a:srgbClr val="000000"/>
                          </a:solidFill>
                          <a:latin typeface="Calibri"/>
                        </a:rPr>
                        <a:t>Dentists, All Other Specialists</a:t>
                      </a:r>
                    </a:p>
                  </a:txBody>
                  <a:tcPr marL="7620" marR="7620" marT="7620" marB="0" anchor="b"/>
                </a:tc>
                <a:tc>
                  <a:txBody>
                    <a:bodyPr/>
                    <a:lstStyle/>
                    <a:p>
                      <a:pPr algn="r" fontAlgn="b"/>
                      <a:r>
                        <a:rPr lang="en-US" sz="1800" b="0" i="0" u="none" strike="noStrike" dirty="0">
                          <a:solidFill>
                            <a:srgbClr val="000000"/>
                          </a:solidFill>
                          <a:latin typeface="Calibri"/>
                        </a:rPr>
                        <a:t>$</a:t>
                      </a:r>
                      <a:r>
                        <a:rPr lang="en-US" sz="1800" b="0" i="0" u="none" strike="noStrike" dirty="0" smtClean="0">
                          <a:solidFill>
                            <a:srgbClr val="000000"/>
                          </a:solidFill>
                          <a:latin typeface="Calibri"/>
                        </a:rPr>
                        <a:t>141,600 </a:t>
                      </a:r>
                      <a:endParaRPr lang="en-US" sz="1800" b="0" i="0" u="none" strike="noStrike" dirty="0">
                        <a:solidFill>
                          <a:srgbClr val="000000"/>
                        </a:solidFill>
                        <a:latin typeface="Calibri"/>
                      </a:endParaRPr>
                    </a:p>
                  </a:txBody>
                  <a:tcPr marL="7620" marR="7620" marT="7620" marB="0" anchor="b"/>
                </a:tc>
              </a:tr>
              <a:tr h="355037">
                <a:tc>
                  <a:txBody>
                    <a:bodyPr/>
                    <a:lstStyle/>
                    <a:p>
                      <a:pPr algn="l" fontAlgn="b"/>
                      <a:r>
                        <a:rPr lang="en-US" sz="1800" b="0" i="0" u="none" strike="noStrike">
                          <a:solidFill>
                            <a:srgbClr val="000000"/>
                          </a:solidFill>
                          <a:latin typeface="Calibri"/>
                        </a:rPr>
                        <a:t>Health Specialties Teachers, Postsecondary</a:t>
                      </a:r>
                    </a:p>
                  </a:txBody>
                  <a:tcPr marL="7620" marR="7620" marT="7620" marB="0" anchor="b"/>
                </a:tc>
                <a:tc>
                  <a:txBody>
                    <a:bodyPr/>
                    <a:lstStyle/>
                    <a:p>
                      <a:pPr algn="r" fontAlgn="b"/>
                      <a:r>
                        <a:rPr lang="en-US" sz="1800" b="0" i="0" u="none" strike="noStrike" dirty="0">
                          <a:solidFill>
                            <a:srgbClr val="000000"/>
                          </a:solidFill>
                          <a:latin typeface="Calibri"/>
                        </a:rPr>
                        <a:t>$</a:t>
                      </a:r>
                      <a:r>
                        <a:rPr lang="en-US" sz="1800" b="0" i="0" u="none" strike="noStrike" dirty="0" smtClean="0">
                          <a:solidFill>
                            <a:srgbClr val="000000"/>
                          </a:solidFill>
                          <a:latin typeface="Calibri"/>
                        </a:rPr>
                        <a:t>134,610 </a:t>
                      </a:r>
                      <a:endParaRPr lang="en-US" sz="1800" b="0" i="0" u="none" strike="noStrike" dirty="0">
                        <a:solidFill>
                          <a:srgbClr val="000000"/>
                        </a:solidFill>
                        <a:latin typeface="Calibri"/>
                      </a:endParaRPr>
                    </a:p>
                  </a:txBody>
                  <a:tcPr marL="7620" marR="7620" marT="7620" marB="0" anchor="b"/>
                </a:tc>
              </a:tr>
              <a:tr h="355037">
                <a:tc>
                  <a:txBody>
                    <a:bodyPr/>
                    <a:lstStyle/>
                    <a:p>
                      <a:pPr algn="l" fontAlgn="b"/>
                      <a:r>
                        <a:rPr lang="en-US" sz="1800" b="0" i="0" u="none" strike="noStrike">
                          <a:solidFill>
                            <a:srgbClr val="000000"/>
                          </a:solidFill>
                          <a:latin typeface="Calibri"/>
                        </a:rPr>
                        <a:t>Engineering Managers</a:t>
                      </a:r>
                    </a:p>
                  </a:txBody>
                  <a:tcPr marL="7620" marR="7620" marT="7620" marB="0" anchor="b"/>
                </a:tc>
                <a:tc>
                  <a:txBody>
                    <a:bodyPr/>
                    <a:lstStyle/>
                    <a:p>
                      <a:pPr algn="r" fontAlgn="b"/>
                      <a:r>
                        <a:rPr lang="en-US" sz="1800" b="0" i="0" u="none" strike="noStrike" dirty="0">
                          <a:solidFill>
                            <a:srgbClr val="000000"/>
                          </a:solidFill>
                          <a:latin typeface="Calibri"/>
                        </a:rPr>
                        <a:t>$</a:t>
                      </a:r>
                      <a:r>
                        <a:rPr lang="en-US" sz="1800" b="0" i="0" u="none" strike="noStrike" dirty="0" smtClean="0">
                          <a:solidFill>
                            <a:srgbClr val="000000"/>
                          </a:solidFill>
                          <a:latin typeface="Calibri"/>
                        </a:rPr>
                        <a:t>131,290 </a:t>
                      </a:r>
                      <a:endParaRPr lang="en-US" sz="1800" b="0" i="0" u="none" strike="noStrike" dirty="0">
                        <a:solidFill>
                          <a:srgbClr val="000000"/>
                        </a:solidFill>
                        <a:latin typeface="Calibri"/>
                      </a:endParaRPr>
                    </a:p>
                  </a:txBody>
                  <a:tcPr marL="7620" marR="7620" marT="7620" marB="0" anchor="b"/>
                </a:tc>
              </a:tr>
              <a:tr h="355037">
                <a:tc>
                  <a:txBody>
                    <a:bodyPr/>
                    <a:lstStyle/>
                    <a:p>
                      <a:pPr algn="l" fontAlgn="b"/>
                      <a:r>
                        <a:rPr lang="en-US" sz="1800" b="0" i="0" u="none" strike="noStrike">
                          <a:solidFill>
                            <a:srgbClr val="000000"/>
                          </a:solidFill>
                          <a:latin typeface="Calibri"/>
                        </a:rPr>
                        <a:t>Pharmacists</a:t>
                      </a:r>
                    </a:p>
                  </a:txBody>
                  <a:tcPr marL="7620" marR="7620" marT="7620" marB="0" anchor="b"/>
                </a:tc>
                <a:tc>
                  <a:txBody>
                    <a:bodyPr/>
                    <a:lstStyle/>
                    <a:p>
                      <a:pPr algn="r" fontAlgn="b"/>
                      <a:r>
                        <a:rPr lang="en-US" sz="1800" b="0" i="0" u="none" strike="noStrike" dirty="0">
                          <a:solidFill>
                            <a:srgbClr val="000000"/>
                          </a:solidFill>
                          <a:latin typeface="Calibri"/>
                        </a:rPr>
                        <a:t>$</a:t>
                      </a:r>
                      <a:r>
                        <a:rPr lang="en-US" sz="1800" b="0" i="0" u="none" strike="noStrike" dirty="0" smtClean="0">
                          <a:solidFill>
                            <a:srgbClr val="000000"/>
                          </a:solidFill>
                          <a:latin typeface="Calibri"/>
                        </a:rPr>
                        <a:t>117,040 </a:t>
                      </a:r>
                      <a:endParaRPr lang="en-US" sz="1800" b="0" i="0" u="none" strike="noStrike" dirty="0">
                        <a:solidFill>
                          <a:srgbClr val="000000"/>
                        </a:solidFill>
                        <a:latin typeface="Calibri"/>
                      </a:endParaRPr>
                    </a:p>
                  </a:txBody>
                  <a:tcPr marL="7620" marR="7620" marT="7620" marB="0" anchor="b"/>
                </a:tc>
              </a:tr>
              <a:tr h="355037">
                <a:tc>
                  <a:txBody>
                    <a:bodyPr/>
                    <a:lstStyle/>
                    <a:p>
                      <a:pPr algn="l" fontAlgn="b"/>
                      <a:r>
                        <a:rPr lang="en-US" sz="1800" b="0" i="0" u="none" strike="noStrike">
                          <a:solidFill>
                            <a:srgbClr val="000000"/>
                          </a:solidFill>
                          <a:latin typeface="Calibri"/>
                        </a:rPr>
                        <a:t>Air Traffic Controllers</a:t>
                      </a:r>
                    </a:p>
                  </a:txBody>
                  <a:tcPr marL="7620" marR="7620" marT="7620" marB="0" anchor="b"/>
                </a:tc>
                <a:tc>
                  <a:txBody>
                    <a:bodyPr/>
                    <a:lstStyle/>
                    <a:p>
                      <a:pPr algn="r" fontAlgn="b"/>
                      <a:r>
                        <a:rPr lang="en-US" sz="1800" b="0" i="0" u="none" strike="noStrike" dirty="0">
                          <a:solidFill>
                            <a:srgbClr val="000000"/>
                          </a:solidFill>
                          <a:latin typeface="Calibri"/>
                        </a:rPr>
                        <a:t>$</a:t>
                      </a:r>
                      <a:r>
                        <a:rPr lang="en-US" sz="1800" b="0" i="0" u="none" strike="noStrike" dirty="0" smtClean="0">
                          <a:solidFill>
                            <a:srgbClr val="000000"/>
                          </a:solidFill>
                          <a:latin typeface="Calibri"/>
                        </a:rPr>
                        <a:t>114,050 </a:t>
                      </a:r>
                      <a:endParaRPr lang="en-US" sz="1800" b="0" i="0" u="none" strike="noStrike" dirty="0">
                        <a:solidFill>
                          <a:srgbClr val="000000"/>
                        </a:solidFill>
                        <a:latin typeface="Calibri"/>
                      </a:endParaRPr>
                    </a:p>
                  </a:txBody>
                  <a:tcPr marL="7620" marR="7620" marT="7620" marB="0" anchor="b"/>
                </a:tc>
              </a:tr>
              <a:tr h="355037">
                <a:tc>
                  <a:txBody>
                    <a:bodyPr/>
                    <a:lstStyle/>
                    <a:p>
                      <a:pPr algn="l" fontAlgn="b"/>
                      <a:r>
                        <a:rPr lang="en-US" sz="1800" b="0" i="0" u="none" strike="noStrike">
                          <a:solidFill>
                            <a:srgbClr val="000000"/>
                          </a:solidFill>
                          <a:latin typeface="Calibri"/>
                        </a:rPr>
                        <a:t>Engineers, All Other</a:t>
                      </a:r>
                    </a:p>
                  </a:txBody>
                  <a:tcPr marL="7620" marR="7620" marT="7620" marB="0" anchor="b"/>
                </a:tc>
                <a:tc>
                  <a:txBody>
                    <a:bodyPr/>
                    <a:lstStyle/>
                    <a:p>
                      <a:pPr algn="r" fontAlgn="b"/>
                      <a:r>
                        <a:rPr lang="en-US" sz="1800" b="0" i="0" u="none" strike="noStrike" dirty="0">
                          <a:solidFill>
                            <a:srgbClr val="000000"/>
                          </a:solidFill>
                          <a:latin typeface="Calibri"/>
                        </a:rPr>
                        <a:t>$</a:t>
                      </a:r>
                      <a:r>
                        <a:rPr lang="en-US" sz="1800" b="0" i="0" u="none" strike="noStrike" dirty="0" smtClean="0">
                          <a:solidFill>
                            <a:srgbClr val="000000"/>
                          </a:solidFill>
                          <a:latin typeface="Calibri"/>
                        </a:rPr>
                        <a:t>111,100 </a:t>
                      </a:r>
                      <a:endParaRPr lang="en-US" sz="1800" b="0" i="0" u="none" strike="noStrike" dirty="0">
                        <a:solidFill>
                          <a:srgbClr val="000000"/>
                        </a:solidFill>
                        <a:latin typeface="Calibri"/>
                      </a:endParaRPr>
                    </a:p>
                  </a:txBody>
                  <a:tcPr marL="7620" marR="7620" marT="7620" marB="0" anchor="b"/>
                </a:tc>
              </a:tr>
              <a:tr h="355037">
                <a:tc>
                  <a:txBody>
                    <a:bodyPr/>
                    <a:lstStyle/>
                    <a:p>
                      <a:pPr algn="l" fontAlgn="b"/>
                      <a:r>
                        <a:rPr lang="en-US" sz="1800" b="0" i="0" u="none" strike="noStrike">
                          <a:solidFill>
                            <a:srgbClr val="000000"/>
                          </a:solidFill>
                          <a:latin typeface="Calibri"/>
                        </a:rPr>
                        <a:t>Materials Scientists</a:t>
                      </a:r>
                    </a:p>
                  </a:txBody>
                  <a:tcPr marL="7620" marR="7620" marT="7620" marB="0" anchor="b"/>
                </a:tc>
                <a:tc>
                  <a:txBody>
                    <a:bodyPr/>
                    <a:lstStyle/>
                    <a:p>
                      <a:pPr algn="r" fontAlgn="b"/>
                      <a:r>
                        <a:rPr lang="en-US" sz="1800" b="0" i="0" u="none" strike="noStrike" dirty="0">
                          <a:solidFill>
                            <a:srgbClr val="000000"/>
                          </a:solidFill>
                          <a:latin typeface="Calibri"/>
                        </a:rPr>
                        <a:t>$</a:t>
                      </a:r>
                      <a:r>
                        <a:rPr lang="en-US" sz="1800" b="0" i="0" u="none" strike="noStrike" dirty="0" smtClean="0">
                          <a:solidFill>
                            <a:srgbClr val="000000"/>
                          </a:solidFill>
                          <a:latin typeface="Calibri"/>
                        </a:rPr>
                        <a:t>111,090 </a:t>
                      </a:r>
                      <a:endParaRPr lang="en-US" sz="1800" b="0" i="0" u="none" strike="noStrike" dirty="0">
                        <a:solidFill>
                          <a:srgbClr val="000000"/>
                        </a:solidFill>
                        <a:latin typeface="Calibri"/>
                      </a:endParaRPr>
                    </a:p>
                  </a:txBody>
                  <a:tcPr marL="7620" marR="7620" marT="7620" marB="0" anchor="b"/>
                </a:tc>
              </a:tr>
              <a:tr h="355037">
                <a:tc>
                  <a:txBody>
                    <a:bodyPr/>
                    <a:lstStyle/>
                    <a:p>
                      <a:pPr algn="l" fontAlgn="b"/>
                      <a:r>
                        <a:rPr lang="en-US" sz="1800" b="0" i="0" u="none" strike="noStrike">
                          <a:solidFill>
                            <a:srgbClr val="000000"/>
                          </a:solidFill>
                          <a:latin typeface="Calibri"/>
                        </a:rPr>
                        <a:t>Natural Sciences Managers</a:t>
                      </a:r>
                    </a:p>
                  </a:txBody>
                  <a:tcPr marL="7620" marR="7620" marT="7620" marB="0" anchor="b"/>
                </a:tc>
                <a:tc>
                  <a:txBody>
                    <a:bodyPr/>
                    <a:lstStyle/>
                    <a:p>
                      <a:pPr algn="r" fontAlgn="b"/>
                      <a:r>
                        <a:rPr lang="en-US" sz="1800" b="0" i="0" u="none" strike="noStrike" dirty="0">
                          <a:solidFill>
                            <a:srgbClr val="000000"/>
                          </a:solidFill>
                          <a:latin typeface="Calibri"/>
                        </a:rPr>
                        <a:t>$</a:t>
                      </a:r>
                      <a:r>
                        <a:rPr lang="en-US" sz="1800" b="0" i="0" u="none" strike="noStrike" dirty="0" smtClean="0">
                          <a:solidFill>
                            <a:srgbClr val="000000"/>
                          </a:solidFill>
                          <a:latin typeface="Calibri"/>
                        </a:rPr>
                        <a:t>106,360 </a:t>
                      </a:r>
                      <a:endParaRPr lang="en-US" sz="1800" b="0" i="0" u="none" strike="noStrike" dirty="0">
                        <a:solidFill>
                          <a:srgbClr val="000000"/>
                        </a:solidFill>
                        <a:latin typeface="Calibri"/>
                      </a:endParaRPr>
                    </a:p>
                  </a:txBody>
                  <a:tcPr marL="7620" marR="7620" marT="7620" marB="0" anchor="b"/>
                </a:tc>
              </a:tr>
              <a:tr h="355037">
                <a:tc>
                  <a:txBody>
                    <a:bodyPr/>
                    <a:lstStyle/>
                    <a:p>
                      <a:pPr algn="l" fontAlgn="b"/>
                      <a:r>
                        <a:rPr lang="en-US" sz="1800" b="0" i="0" u="none" strike="noStrike">
                          <a:solidFill>
                            <a:srgbClr val="000000"/>
                          </a:solidFill>
                          <a:latin typeface="Calibri"/>
                        </a:rPr>
                        <a:t>Podiatrists</a:t>
                      </a:r>
                    </a:p>
                  </a:txBody>
                  <a:tcPr marL="7620" marR="7620" marT="7620" marB="0" anchor="b"/>
                </a:tc>
                <a:tc>
                  <a:txBody>
                    <a:bodyPr/>
                    <a:lstStyle/>
                    <a:p>
                      <a:pPr algn="r" fontAlgn="b"/>
                      <a:r>
                        <a:rPr lang="en-US" sz="1800" b="0" i="0" u="none" strike="noStrike" dirty="0">
                          <a:solidFill>
                            <a:srgbClr val="000000"/>
                          </a:solidFill>
                          <a:latin typeface="Calibri"/>
                        </a:rPr>
                        <a:t>$</a:t>
                      </a:r>
                      <a:r>
                        <a:rPr lang="en-US" sz="1800" b="0" i="0" u="none" strike="noStrike" dirty="0" smtClean="0">
                          <a:solidFill>
                            <a:srgbClr val="000000"/>
                          </a:solidFill>
                          <a:latin typeface="Calibri"/>
                        </a:rPr>
                        <a:t>104,210 </a:t>
                      </a:r>
                      <a:endParaRPr lang="en-US" sz="1800" b="0" i="0" u="none" strike="noStrike" dirty="0">
                        <a:solidFill>
                          <a:srgbClr val="000000"/>
                        </a:solidFill>
                        <a:latin typeface="Calibri"/>
                      </a:endParaRPr>
                    </a:p>
                  </a:txBody>
                  <a:tcPr marL="7620" marR="7620" marT="7620" marB="0" anchor="b"/>
                </a:tc>
              </a:tr>
            </a:tbl>
          </a:graphicData>
        </a:graphic>
      </p:graphicFrame>
      <p:pic>
        <p:nvPicPr>
          <p:cNvPr id="44079" name="Picture 2" descr="http://www.washingtonwatch.com/blog/wp-content/uploads/2009/02/stack-of-money.jpg"/>
          <p:cNvPicPr>
            <a:picLocks noChangeAspect="1" noChangeArrowheads="1"/>
          </p:cNvPicPr>
          <p:nvPr/>
        </p:nvPicPr>
        <p:blipFill>
          <a:blip r:embed="rId3" cstate="print"/>
          <a:srcRect/>
          <a:stretch>
            <a:fillRect/>
          </a:stretch>
        </p:blipFill>
        <p:spPr bwMode="auto">
          <a:xfrm>
            <a:off x="0" y="990600"/>
            <a:ext cx="2362200" cy="5105400"/>
          </a:xfrm>
          <a:prstGeom prst="rect">
            <a:avLst/>
          </a:prstGeom>
          <a:noFill/>
          <a:ln w="9525">
            <a:noFill/>
            <a:miter lim="800000"/>
            <a:headEnd/>
            <a:tailEnd/>
          </a:ln>
        </p:spPr>
      </p:pic>
      <p:sp>
        <p:nvSpPr>
          <p:cNvPr id="7" name="TextBox 6"/>
          <p:cNvSpPr txBox="1"/>
          <p:nvPr/>
        </p:nvSpPr>
        <p:spPr>
          <a:xfrm>
            <a:off x="3707506" y="6626423"/>
            <a:ext cx="4646465" cy="307777"/>
          </a:xfrm>
          <a:prstGeom prst="rect">
            <a:avLst/>
          </a:prstGeom>
          <a:noFill/>
        </p:spPr>
        <p:txBody>
          <a:bodyPr wrap="none" rtlCol="0">
            <a:spAutoFit/>
          </a:bodyPr>
          <a:lstStyle/>
          <a:p>
            <a:r>
              <a:rPr lang="en-US" sz="1400" i="1" dirty="0" smtClean="0"/>
              <a:t>Source: Occupational Employment Survey (OES) Unit NMDWS</a:t>
            </a:r>
            <a:endParaRPr lang="en-US" sz="1400" i="1"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a:xfrm>
            <a:off x="152400" y="152400"/>
            <a:ext cx="8229600" cy="792162"/>
          </a:xfrm>
        </p:spPr>
        <p:txBody>
          <a:bodyPr/>
          <a:lstStyle/>
          <a:p>
            <a:pPr eaLnBrk="1" hangingPunct="1"/>
            <a:r>
              <a:rPr lang="en-US" dirty="0" smtClean="0"/>
              <a:t>Lowest Paying Jobs in New Mexico</a:t>
            </a:r>
          </a:p>
        </p:txBody>
      </p:sp>
      <p:graphicFrame>
        <p:nvGraphicFramePr>
          <p:cNvPr id="5" name="Content Placeholder 4"/>
          <p:cNvGraphicFramePr>
            <a:graphicFrameLocks noGrp="1"/>
          </p:cNvGraphicFramePr>
          <p:nvPr>
            <p:ph idx="1"/>
          </p:nvPr>
        </p:nvGraphicFramePr>
        <p:xfrm>
          <a:off x="152400" y="990600"/>
          <a:ext cx="7543800" cy="4906941"/>
        </p:xfrm>
        <a:graphic>
          <a:graphicData uri="http://schemas.openxmlformats.org/drawingml/2006/table">
            <a:tbl>
              <a:tblPr firstRow="1" bandRow="1">
                <a:tableStyleId>{7DF18680-E054-41AD-8BC1-D1AEF772440D}</a:tableStyleId>
              </a:tblPr>
              <a:tblGrid>
                <a:gridCol w="6007100"/>
                <a:gridCol w="1536700"/>
              </a:tblGrid>
              <a:tr h="1188720">
                <a:tc>
                  <a:txBody>
                    <a:bodyPr/>
                    <a:lstStyle/>
                    <a:p>
                      <a:endParaRPr lang="en-US" dirty="0" smtClean="0"/>
                    </a:p>
                    <a:p>
                      <a:endParaRPr lang="en-US" dirty="0" smtClean="0"/>
                    </a:p>
                    <a:p>
                      <a:r>
                        <a:rPr lang="en-US" dirty="0" smtClean="0"/>
                        <a:t>Occupation</a:t>
                      </a:r>
                      <a:endParaRPr lang="en-US" dirty="0"/>
                    </a:p>
                  </a:txBody>
                  <a:tcPr/>
                </a:tc>
                <a:tc>
                  <a:txBody>
                    <a:bodyPr/>
                    <a:lstStyle/>
                    <a:p>
                      <a:pPr algn="r"/>
                      <a:r>
                        <a:rPr lang="en-US" dirty="0" smtClean="0"/>
                        <a:t>2011 </a:t>
                      </a:r>
                      <a:r>
                        <a:rPr lang="en-US" baseline="0" dirty="0" smtClean="0"/>
                        <a:t> Average Annual Wage (OES)</a:t>
                      </a:r>
                      <a:endParaRPr lang="en-US" dirty="0"/>
                    </a:p>
                  </a:txBody>
                  <a:tcPr/>
                </a:tc>
              </a:tr>
              <a:tr h="368204">
                <a:tc>
                  <a:txBody>
                    <a:bodyPr/>
                    <a:lstStyle/>
                    <a:p>
                      <a:pPr algn="l" fontAlgn="b"/>
                      <a:r>
                        <a:rPr lang="en-US" sz="1600" b="0" i="0" u="none" strike="noStrike" dirty="0">
                          <a:solidFill>
                            <a:srgbClr val="000000"/>
                          </a:solidFill>
                          <a:latin typeface="Calibri"/>
                        </a:rPr>
                        <a:t>Baggage Porters and Bellhops</a:t>
                      </a:r>
                    </a:p>
                  </a:txBody>
                  <a:tcPr marL="7620" marR="7620" marT="7620" marB="0" anchor="b"/>
                </a:tc>
                <a:tc>
                  <a:txBody>
                    <a:bodyPr/>
                    <a:lstStyle/>
                    <a:p>
                      <a:pPr algn="r" fontAlgn="b"/>
                      <a:r>
                        <a:rPr lang="en-US" sz="1600" b="0" i="0" u="none" strike="noStrike" dirty="0">
                          <a:solidFill>
                            <a:srgbClr val="000000"/>
                          </a:solidFill>
                          <a:latin typeface="Calibri"/>
                        </a:rPr>
                        <a:t>$</a:t>
                      </a:r>
                      <a:r>
                        <a:rPr lang="en-US" sz="1600" b="0" i="0" u="none" strike="noStrike" dirty="0" smtClean="0">
                          <a:solidFill>
                            <a:srgbClr val="000000"/>
                          </a:solidFill>
                          <a:latin typeface="Calibri"/>
                        </a:rPr>
                        <a:t>18,580 </a:t>
                      </a:r>
                      <a:endParaRPr lang="en-US" sz="1600" b="0" i="0" u="none" strike="noStrike" dirty="0">
                        <a:solidFill>
                          <a:srgbClr val="000000"/>
                        </a:solidFill>
                        <a:latin typeface="Calibri"/>
                      </a:endParaRPr>
                    </a:p>
                  </a:txBody>
                  <a:tcPr marL="7620" marR="7620" marT="7620" marB="0" anchor="b"/>
                </a:tc>
              </a:tr>
              <a:tr h="368204">
                <a:tc>
                  <a:txBody>
                    <a:bodyPr/>
                    <a:lstStyle/>
                    <a:p>
                      <a:pPr algn="l" fontAlgn="b"/>
                      <a:r>
                        <a:rPr lang="en-US" sz="1600" b="0" i="0" u="none" strike="noStrike" dirty="0">
                          <a:solidFill>
                            <a:srgbClr val="000000"/>
                          </a:solidFill>
                          <a:latin typeface="Calibri"/>
                        </a:rPr>
                        <a:t>Maids and Housekeeping Cleaners</a:t>
                      </a:r>
                    </a:p>
                  </a:txBody>
                  <a:tcPr marL="7620" marR="7620" marT="7620" marB="0" anchor="b"/>
                </a:tc>
                <a:tc>
                  <a:txBody>
                    <a:bodyPr/>
                    <a:lstStyle/>
                    <a:p>
                      <a:pPr algn="r" fontAlgn="b"/>
                      <a:r>
                        <a:rPr lang="en-US" sz="1600" b="0" i="0" u="none" strike="noStrike" dirty="0">
                          <a:solidFill>
                            <a:srgbClr val="000000"/>
                          </a:solidFill>
                          <a:latin typeface="Calibri"/>
                        </a:rPr>
                        <a:t>$</a:t>
                      </a:r>
                      <a:r>
                        <a:rPr lang="en-US" sz="1600" b="0" i="0" u="none" strike="noStrike" dirty="0" smtClean="0">
                          <a:solidFill>
                            <a:srgbClr val="000000"/>
                          </a:solidFill>
                          <a:latin typeface="Calibri"/>
                        </a:rPr>
                        <a:t>18,570 </a:t>
                      </a:r>
                      <a:endParaRPr lang="en-US" sz="1600" b="0" i="0" u="none" strike="noStrike" dirty="0">
                        <a:solidFill>
                          <a:srgbClr val="000000"/>
                        </a:solidFill>
                        <a:latin typeface="Calibri"/>
                      </a:endParaRPr>
                    </a:p>
                  </a:txBody>
                  <a:tcPr marL="7620" marR="7620" marT="7620" marB="0" anchor="b"/>
                </a:tc>
              </a:tr>
              <a:tr h="368204">
                <a:tc>
                  <a:txBody>
                    <a:bodyPr/>
                    <a:lstStyle/>
                    <a:p>
                      <a:pPr algn="l" fontAlgn="b"/>
                      <a:r>
                        <a:rPr lang="en-US" sz="1600" b="0" i="0" u="none" strike="noStrike">
                          <a:solidFill>
                            <a:srgbClr val="000000"/>
                          </a:solidFill>
                          <a:latin typeface="Calibri"/>
                        </a:rPr>
                        <a:t>Graders and Sorters, Agricultural Products</a:t>
                      </a:r>
                    </a:p>
                  </a:txBody>
                  <a:tcPr marL="7620" marR="7620" marT="7620" marB="0" anchor="b"/>
                </a:tc>
                <a:tc>
                  <a:txBody>
                    <a:bodyPr/>
                    <a:lstStyle/>
                    <a:p>
                      <a:pPr algn="r" fontAlgn="b"/>
                      <a:r>
                        <a:rPr lang="en-US" sz="1600" b="0" i="0" u="none" strike="noStrike" dirty="0">
                          <a:solidFill>
                            <a:srgbClr val="000000"/>
                          </a:solidFill>
                          <a:latin typeface="Calibri"/>
                        </a:rPr>
                        <a:t>$</a:t>
                      </a:r>
                      <a:r>
                        <a:rPr lang="en-US" sz="1600" b="0" i="0" u="none" strike="noStrike" dirty="0" smtClean="0">
                          <a:solidFill>
                            <a:srgbClr val="000000"/>
                          </a:solidFill>
                          <a:latin typeface="Calibri"/>
                        </a:rPr>
                        <a:t>18,560 </a:t>
                      </a:r>
                      <a:endParaRPr lang="en-US" sz="1600" b="0" i="0" u="none" strike="noStrike" dirty="0">
                        <a:solidFill>
                          <a:srgbClr val="000000"/>
                        </a:solidFill>
                        <a:latin typeface="Calibri"/>
                      </a:endParaRPr>
                    </a:p>
                  </a:txBody>
                  <a:tcPr marL="7620" marR="7620" marT="7620" marB="0" anchor="b"/>
                </a:tc>
              </a:tr>
              <a:tr h="368204">
                <a:tc>
                  <a:txBody>
                    <a:bodyPr/>
                    <a:lstStyle/>
                    <a:p>
                      <a:pPr algn="l" fontAlgn="b"/>
                      <a:r>
                        <a:rPr lang="en-US" sz="1600" b="0" i="0" u="none" strike="noStrike">
                          <a:solidFill>
                            <a:srgbClr val="000000"/>
                          </a:solidFill>
                          <a:latin typeface="Calibri"/>
                        </a:rPr>
                        <a:t>Umpires, Referees, and Other Sports Officials</a:t>
                      </a:r>
                    </a:p>
                  </a:txBody>
                  <a:tcPr marL="7620" marR="7620" marT="7620" marB="0" anchor="b"/>
                </a:tc>
                <a:tc>
                  <a:txBody>
                    <a:bodyPr/>
                    <a:lstStyle/>
                    <a:p>
                      <a:pPr algn="r" fontAlgn="b"/>
                      <a:r>
                        <a:rPr lang="en-US" sz="1600" b="0" i="0" u="none" strike="noStrike" dirty="0">
                          <a:solidFill>
                            <a:srgbClr val="000000"/>
                          </a:solidFill>
                          <a:latin typeface="Calibri"/>
                        </a:rPr>
                        <a:t>$</a:t>
                      </a:r>
                      <a:r>
                        <a:rPr lang="en-US" sz="1600" b="0" i="0" u="none" strike="noStrike" dirty="0" smtClean="0">
                          <a:solidFill>
                            <a:srgbClr val="000000"/>
                          </a:solidFill>
                          <a:latin typeface="Calibri"/>
                        </a:rPr>
                        <a:t>18,390 </a:t>
                      </a:r>
                      <a:endParaRPr lang="en-US" sz="1600" b="0" i="0" u="none" strike="noStrike" dirty="0">
                        <a:solidFill>
                          <a:srgbClr val="000000"/>
                        </a:solidFill>
                        <a:latin typeface="Calibri"/>
                      </a:endParaRPr>
                    </a:p>
                  </a:txBody>
                  <a:tcPr marL="7620" marR="7620" marT="7620" marB="0" anchor="b"/>
                </a:tc>
              </a:tr>
              <a:tr h="386464">
                <a:tc>
                  <a:txBody>
                    <a:bodyPr/>
                    <a:lstStyle/>
                    <a:p>
                      <a:pPr algn="l" fontAlgn="b"/>
                      <a:r>
                        <a:rPr lang="en-US" sz="1600" b="0" i="0" u="none" strike="noStrike" dirty="0" err="1">
                          <a:solidFill>
                            <a:srgbClr val="000000"/>
                          </a:solidFill>
                          <a:latin typeface="Calibri"/>
                        </a:rPr>
                        <a:t>Farmworkers</a:t>
                      </a:r>
                      <a:r>
                        <a:rPr lang="en-US" sz="1600" b="0" i="0" u="none" strike="noStrike" dirty="0">
                          <a:solidFill>
                            <a:srgbClr val="000000"/>
                          </a:solidFill>
                          <a:latin typeface="Calibri"/>
                        </a:rPr>
                        <a:t> and Laborers, Crop, Nursery, and Greenhouse</a:t>
                      </a:r>
                    </a:p>
                  </a:txBody>
                  <a:tcPr marL="7620" marR="7620" marT="7620" marB="0" anchor="b"/>
                </a:tc>
                <a:tc>
                  <a:txBody>
                    <a:bodyPr/>
                    <a:lstStyle/>
                    <a:p>
                      <a:pPr algn="r" fontAlgn="b"/>
                      <a:r>
                        <a:rPr lang="en-US" sz="1600" b="0" i="0" u="none" strike="noStrike" dirty="0">
                          <a:solidFill>
                            <a:srgbClr val="000000"/>
                          </a:solidFill>
                          <a:latin typeface="Calibri"/>
                        </a:rPr>
                        <a:t>$</a:t>
                      </a:r>
                      <a:r>
                        <a:rPr lang="en-US" sz="1600" b="0" i="0" u="none" strike="noStrike" dirty="0" smtClean="0">
                          <a:solidFill>
                            <a:srgbClr val="000000"/>
                          </a:solidFill>
                          <a:latin typeface="Calibri"/>
                        </a:rPr>
                        <a:t>18,350 </a:t>
                      </a:r>
                      <a:endParaRPr lang="en-US" sz="1600" b="0" i="0" u="none" strike="noStrike" dirty="0">
                        <a:solidFill>
                          <a:srgbClr val="000000"/>
                        </a:solidFill>
                        <a:latin typeface="Calibri"/>
                      </a:endParaRPr>
                    </a:p>
                  </a:txBody>
                  <a:tcPr marL="7620" marR="7620" marT="7620" marB="0" anchor="b"/>
                </a:tc>
              </a:tr>
              <a:tr h="360533">
                <a:tc>
                  <a:txBody>
                    <a:bodyPr/>
                    <a:lstStyle/>
                    <a:p>
                      <a:pPr algn="l" fontAlgn="b"/>
                      <a:r>
                        <a:rPr lang="en-US" sz="1600" b="0" i="0" u="none" strike="noStrike" dirty="0">
                          <a:solidFill>
                            <a:srgbClr val="000000"/>
                          </a:solidFill>
                          <a:latin typeface="Calibri"/>
                        </a:rPr>
                        <a:t>Food Preparation and Serving Related Workers, </a:t>
                      </a:r>
                      <a:r>
                        <a:rPr lang="en-US" sz="1600" b="0" i="0" u="none" strike="noStrike" dirty="0" smtClean="0">
                          <a:solidFill>
                            <a:srgbClr val="000000"/>
                          </a:solidFill>
                          <a:latin typeface="Calibri"/>
                        </a:rPr>
                        <a:t>All Other</a:t>
                      </a:r>
                      <a:endParaRPr lang="en-US" sz="1600" b="0" i="0" u="none" strike="noStrike" dirty="0">
                        <a:solidFill>
                          <a:srgbClr val="000000"/>
                        </a:solidFill>
                        <a:latin typeface="Calibri"/>
                      </a:endParaRPr>
                    </a:p>
                  </a:txBody>
                  <a:tcPr marL="7620" marR="7620" marT="7620" marB="0" anchor="b"/>
                </a:tc>
                <a:tc>
                  <a:txBody>
                    <a:bodyPr/>
                    <a:lstStyle/>
                    <a:p>
                      <a:pPr algn="r" fontAlgn="b"/>
                      <a:r>
                        <a:rPr lang="en-US" sz="1600" b="0" i="0" u="none" strike="noStrike" dirty="0">
                          <a:solidFill>
                            <a:srgbClr val="000000"/>
                          </a:solidFill>
                          <a:latin typeface="Calibri"/>
                        </a:rPr>
                        <a:t>$</a:t>
                      </a:r>
                      <a:r>
                        <a:rPr lang="en-US" sz="1600" b="0" i="0" u="none" strike="noStrike" dirty="0" smtClean="0">
                          <a:solidFill>
                            <a:srgbClr val="000000"/>
                          </a:solidFill>
                          <a:latin typeface="Calibri"/>
                        </a:rPr>
                        <a:t>18,310 </a:t>
                      </a:r>
                      <a:endParaRPr lang="en-US" sz="1600" b="0" i="0" u="none" strike="noStrike" dirty="0">
                        <a:solidFill>
                          <a:srgbClr val="000000"/>
                        </a:solidFill>
                        <a:latin typeface="Calibri"/>
                      </a:endParaRPr>
                    </a:p>
                  </a:txBody>
                  <a:tcPr marL="7620" marR="7620" marT="7620" marB="0" anchor="b"/>
                </a:tc>
              </a:tr>
              <a:tr h="368204">
                <a:tc>
                  <a:txBody>
                    <a:bodyPr/>
                    <a:lstStyle/>
                    <a:p>
                      <a:pPr algn="l" fontAlgn="b"/>
                      <a:r>
                        <a:rPr lang="en-US" sz="1600" b="0" i="0" u="none" strike="noStrike" dirty="0">
                          <a:solidFill>
                            <a:srgbClr val="000000"/>
                          </a:solidFill>
                          <a:latin typeface="Calibri"/>
                        </a:rPr>
                        <a:t>Pressers, Textile, Garment, and Related Materials</a:t>
                      </a:r>
                    </a:p>
                  </a:txBody>
                  <a:tcPr marL="7620" marR="7620" marT="7620" marB="0" anchor="b"/>
                </a:tc>
                <a:tc>
                  <a:txBody>
                    <a:bodyPr/>
                    <a:lstStyle/>
                    <a:p>
                      <a:pPr algn="r" fontAlgn="b"/>
                      <a:r>
                        <a:rPr lang="en-US" sz="1600" b="0" i="0" u="none" strike="noStrike" dirty="0">
                          <a:solidFill>
                            <a:srgbClr val="000000"/>
                          </a:solidFill>
                          <a:latin typeface="Calibri"/>
                        </a:rPr>
                        <a:t>$</a:t>
                      </a:r>
                      <a:r>
                        <a:rPr lang="en-US" sz="1600" b="0" i="0" u="none" strike="noStrike" dirty="0" smtClean="0">
                          <a:solidFill>
                            <a:srgbClr val="000000"/>
                          </a:solidFill>
                          <a:latin typeface="Calibri"/>
                        </a:rPr>
                        <a:t>18,310 </a:t>
                      </a:r>
                      <a:endParaRPr lang="en-US" sz="1600" b="0" i="0" u="none" strike="noStrike" dirty="0">
                        <a:solidFill>
                          <a:srgbClr val="000000"/>
                        </a:solidFill>
                        <a:latin typeface="Calibri"/>
                      </a:endParaRPr>
                    </a:p>
                  </a:txBody>
                  <a:tcPr marL="7620" marR="7620" marT="7620" marB="0" anchor="b"/>
                </a:tc>
              </a:tr>
              <a:tr h="393796">
                <a:tc>
                  <a:txBody>
                    <a:bodyPr/>
                    <a:lstStyle/>
                    <a:p>
                      <a:pPr algn="l" fontAlgn="b"/>
                      <a:r>
                        <a:rPr lang="en-US" sz="1600" b="0" i="0" u="none" strike="noStrike" dirty="0">
                          <a:solidFill>
                            <a:srgbClr val="000000"/>
                          </a:solidFill>
                          <a:latin typeface="Calibri"/>
                        </a:rPr>
                        <a:t>Counter Attendants, Cafeteria, Food Concession, and Coffee Shop</a:t>
                      </a:r>
                    </a:p>
                  </a:txBody>
                  <a:tcPr marL="7620" marR="7620" marT="7620" marB="0" anchor="b"/>
                </a:tc>
                <a:tc>
                  <a:txBody>
                    <a:bodyPr/>
                    <a:lstStyle/>
                    <a:p>
                      <a:pPr algn="r" fontAlgn="b"/>
                      <a:r>
                        <a:rPr lang="en-US" sz="1600" b="0" i="0" u="none" strike="noStrike" dirty="0">
                          <a:solidFill>
                            <a:srgbClr val="000000"/>
                          </a:solidFill>
                          <a:latin typeface="Calibri"/>
                        </a:rPr>
                        <a:t>$</a:t>
                      </a:r>
                      <a:r>
                        <a:rPr lang="en-US" sz="1600" b="0" i="0" u="none" strike="noStrike" dirty="0" smtClean="0">
                          <a:solidFill>
                            <a:srgbClr val="000000"/>
                          </a:solidFill>
                          <a:latin typeface="Calibri"/>
                        </a:rPr>
                        <a:t>18,300 </a:t>
                      </a:r>
                      <a:endParaRPr lang="en-US" sz="1600" b="0" i="0" u="none" strike="noStrike" dirty="0">
                        <a:solidFill>
                          <a:srgbClr val="000000"/>
                        </a:solidFill>
                        <a:latin typeface="Calibri"/>
                      </a:endParaRPr>
                    </a:p>
                  </a:txBody>
                  <a:tcPr marL="7620" marR="7620" marT="7620" marB="0" anchor="b"/>
                </a:tc>
              </a:tr>
              <a:tr h="368204">
                <a:tc>
                  <a:txBody>
                    <a:bodyPr/>
                    <a:lstStyle/>
                    <a:p>
                      <a:pPr algn="l" fontAlgn="b"/>
                      <a:r>
                        <a:rPr lang="en-US" sz="1600" b="0" i="0" u="none" strike="noStrike">
                          <a:solidFill>
                            <a:srgbClr val="000000"/>
                          </a:solidFill>
                          <a:latin typeface="Calibri"/>
                        </a:rPr>
                        <a:t>Dishwashers</a:t>
                      </a:r>
                    </a:p>
                  </a:txBody>
                  <a:tcPr marL="7620" marR="7620" marT="7620" marB="0" anchor="b"/>
                </a:tc>
                <a:tc>
                  <a:txBody>
                    <a:bodyPr/>
                    <a:lstStyle/>
                    <a:p>
                      <a:pPr algn="r" fontAlgn="b"/>
                      <a:r>
                        <a:rPr lang="en-US" sz="1600" b="0" i="0" u="none" strike="noStrike" dirty="0">
                          <a:solidFill>
                            <a:srgbClr val="000000"/>
                          </a:solidFill>
                          <a:latin typeface="Calibri"/>
                        </a:rPr>
                        <a:t>$</a:t>
                      </a:r>
                      <a:r>
                        <a:rPr lang="en-US" sz="1600" b="0" i="0" u="none" strike="noStrike" dirty="0" smtClean="0">
                          <a:solidFill>
                            <a:srgbClr val="000000"/>
                          </a:solidFill>
                          <a:latin typeface="Calibri"/>
                        </a:rPr>
                        <a:t>18,270 </a:t>
                      </a:r>
                      <a:endParaRPr lang="en-US" sz="1600" b="0" i="0" u="none" strike="noStrike" dirty="0">
                        <a:solidFill>
                          <a:srgbClr val="000000"/>
                        </a:solidFill>
                        <a:latin typeface="Calibri"/>
                      </a:endParaRPr>
                    </a:p>
                  </a:txBody>
                  <a:tcPr marL="7620" marR="7620" marT="7620" marB="0" anchor="b"/>
                </a:tc>
              </a:tr>
              <a:tr h="368204">
                <a:tc>
                  <a:txBody>
                    <a:bodyPr/>
                    <a:lstStyle/>
                    <a:p>
                      <a:pPr algn="l" fontAlgn="b"/>
                      <a:r>
                        <a:rPr lang="en-US" sz="1600" b="0" i="0" u="none" strike="noStrike">
                          <a:solidFill>
                            <a:srgbClr val="000000"/>
                          </a:solidFill>
                          <a:latin typeface="Calibri"/>
                        </a:rPr>
                        <a:t>Child Care Workers</a:t>
                      </a:r>
                    </a:p>
                  </a:txBody>
                  <a:tcPr marL="7620" marR="7620" marT="7620" marB="0" anchor="b"/>
                </a:tc>
                <a:tc>
                  <a:txBody>
                    <a:bodyPr/>
                    <a:lstStyle/>
                    <a:p>
                      <a:pPr algn="r" fontAlgn="b"/>
                      <a:r>
                        <a:rPr lang="en-US" sz="1600" b="0" i="0" u="none" strike="noStrike" dirty="0">
                          <a:solidFill>
                            <a:srgbClr val="000000"/>
                          </a:solidFill>
                          <a:latin typeface="Calibri"/>
                        </a:rPr>
                        <a:t>$</a:t>
                      </a:r>
                      <a:r>
                        <a:rPr lang="en-US" sz="1600" b="0" i="0" u="none" strike="noStrike" dirty="0" smtClean="0">
                          <a:solidFill>
                            <a:srgbClr val="000000"/>
                          </a:solidFill>
                          <a:latin typeface="Calibri"/>
                        </a:rPr>
                        <a:t>18,260 </a:t>
                      </a:r>
                      <a:endParaRPr lang="en-US" sz="1600" b="0" i="0" u="none" strike="noStrike" dirty="0">
                        <a:solidFill>
                          <a:srgbClr val="000000"/>
                        </a:solidFill>
                        <a:latin typeface="Calibri"/>
                      </a:endParaRPr>
                    </a:p>
                  </a:txBody>
                  <a:tcPr marL="7620" marR="7620" marT="7620" marB="0" anchor="b"/>
                </a:tc>
              </a:tr>
            </a:tbl>
          </a:graphicData>
        </a:graphic>
      </p:graphicFrame>
      <p:pic>
        <p:nvPicPr>
          <p:cNvPr id="45105" name="Picture 5" descr="pumpkin.bmp"/>
          <p:cNvPicPr>
            <a:picLocks noChangeAspect="1"/>
          </p:cNvPicPr>
          <p:nvPr/>
        </p:nvPicPr>
        <p:blipFill>
          <a:blip r:embed="rId3" cstate="print"/>
          <a:srcRect/>
          <a:stretch>
            <a:fillRect/>
          </a:stretch>
        </p:blipFill>
        <p:spPr bwMode="auto">
          <a:xfrm>
            <a:off x="7696200" y="0"/>
            <a:ext cx="1447800" cy="990600"/>
          </a:xfrm>
          <a:prstGeom prst="rect">
            <a:avLst/>
          </a:prstGeom>
          <a:noFill/>
          <a:ln w="9525">
            <a:noFill/>
            <a:miter lim="800000"/>
            <a:headEnd/>
            <a:tailEnd/>
          </a:ln>
        </p:spPr>
      </p:pic>
      <p:sp>
        <p:nvSpPr>
          <p:cNvPr id="6" name="TextBox 5"/>
          <p:cNvSpPr txBox="1"/>
          <p:nvPr/>
        </p:nvSpPr>
        <p:spPr>
          <a:xfrm>
            <a:off x="1600200" y="6400800"/>
            <a:ext cx="4647234" cy="307777"/>
          </a:xfrm>
          <a:prstGeom prst="rect">
            <a:avLst/>
          </a:prstGeom>
          <a:noFill/>
        </p:spPr>
        <p:txBody>
          <a:bodyPr wrap="none" rtlCol="0">
            <a:spAutoFit/>
          </a:bodyPr>
          <a:lstStyle/>
          <a:p>
            <a:r>
              <a:rPr lang="en-US" sz="1400" i="1" dirty="0" smtClean="0"/>
              <a:t>Source: Occupational Employment Survey (OES) Unit NMDW</a:t>
            </a:r>
            <a:r>
              <a:rPr lang="en-US" sz="1400" dirty="0" smtClean="0"/>
              <a:t>S</a:t>
            </a:r>
            <a:endParaRPr lang="en-US" sz="1400"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descr="http://cache.thephoenix.com/secure/uploadedImages/The_Phoenix/News/This_Just_In/TJI_ClearChannel_Falling.jpg"/>
          <p:cNvPicPr>
            <a:picLocks noChangeAspect="1" noChangeArrowheads="1"/>
          </p:cNvPicPr>
          <p:nvPr/>
        </p:nvPicPr>
        <p:blipFill>
          <a:blip r:embed="rId3" cstate="print"/>
          <a:srcRect l="28632" r="17474"/>
          <a:stretch>
            <a:fillRect/>
          </a:stretch>
        </p:blipFill>
        <p:spPr bwMode="auto">
          <a:xfrm>
            <a:off x="6705600" y="2895600"/>
            <a:ext cx="2438400" cy="3276600"/>
          </a:xfrm>
          <a:prstGeom prst="rect">
            <a:avLst/>
          </a:prstGeom>
          <a:noFill/>
          <a:ln w="9525">
            <a:noFill/>
            <a:miter lim="800000"/>
            <a:headEnd/>
            <a:tailEnd/>
          </a:ln>
        </p:spPr>
      </p:pic>
      <p:sp>
        <p:nvSpPr>
          <p:cNvPr id="46083" name="Title 1"/>
          <p:cNvSpPr>
            <a:spLocks noGrp="1"/>
          </p:cNvSpPr>
          <p:nvPr>
            <p:ph type="title"/>
          </p:nvPr>
        </p:nvSpPr>
        <p:spPr>
          <a:xfrm>
            <a:off x="381000" y="0"/>
            <a:ext cx="8229600" cy="944563"/>
          </a:xfrm>
        </p:spPr>
        <p:txBody>
          <a:bodyPr/>
          <a:lstStyle/>
          <a:p>
            <a:pPr eaLnBrk="1" hangingPunct="1"/>
            <a:r>
              <a:rPr lang="en-US" sz="2800" dirty="0" smtClean="0"/>
              <a:t>The Top 15 NM Occupations in Decline 2010-2020</a:t>
            </a:r>
          </a:p>
        </p:txBody>
      </p:sp>
      <p:graphicFrame>
        <p:nvGraphicFramePr>
          <p:cNvPr id="5" name="Content Placeholder 4"/>
          <p:cNvGraphicFramePr>
            <a:graphicFrameLocks noGrp="1"/>
          </p:cNvGraphicFramePr>
          <p:nvPr>
            <p:ph idx="1"/>
          </p:nvPr>
        </p:nvGraphicFramePr>
        <p:xfrm>
          <a:off x="152400" y="702500"/>
          <a:ext cx="6553200" cy="6155500"/>
        </p:xfrm>
        <a:graphic>
          <a:graphicData uri="http://schemas.openxmlformats.org/drawingml/2006/table">
            <a:tbl>
              <a:tblPr firstRow="1" bandRow="1">
                <a:tableStyleId>{7DF18680-E054-41AD-8BC1-D1AEF772440D}</a:tableStyleId>
              </a:tblPr>
              <a:tblGrid>
                <a:gridCol w="5228637"/>
                <a:gridCol w="1324563"/>
              </a:tblGrid>
              <a:tr h="549275">
                <a:tc>
                  <a:txBody>
                    <a:bodyPr/>
                    <a:lstStyle/>
                    <a:p>
                      <a:r>
                        <a:rPr lang="en-US" sz="1400" dirty="0" smtClean="0"/>
                        <a:t>Occupation Title</a:t>
                      </a:r>
                      <a:endParaRPr lang="en-US" sz="1400" dirty="0"/>
                    </a:p>
                  </a:txBody>
                  <a:tcPr/>
                </a:tc>
                <a:tc>
                  <a:txBody>
                    <a:bodyPr/>
                    <a:lstStyle/>
                    <a:p>
                      <a:pPr algn="r"/>
                      <a:r>
                        <a:rPr lang="en-US" sz="1400" dirty="0" smtClean="0"/>
                        <a:t>Annual Percent Change</a:t>
                      </a:r>
                      <a:endParaRPr lang="en-US" sz="1400" dirty="0"/>
                    </a:p>
                  </a:txBody>
                  <a:tcPr/>
                </a:tc>
              </a:tr>
              <a:tr h="457200">
                <a:tc>
                  <a:txBody>
                    <a:bodyPr/>
                    <a:lstStyle/>
                    <a:p>
                      <a:pPr algn="l" fontAlgn="b"/>
                      <a:r>
                        <a:rPr lang="en-US" sz="1600" b="0" i="0" u="none" strike="noStrike" dirty="0" smtClean="0">
                          <a:solidFill>
                            <a:srgbClr val="000000"/>
                          </a:solidFill>
                          <a:latin typeface="Calibri"/>
                        </a:rPr>
                        <a:t>Postal </a:t>
                      </a:r>
                      <a:r>
                        <a:rPr lang="en-US" sz="1600" b="0" i="0" u="none" strike="noStrike" dirty="0">
                          <a:solidFill>
                            <a:srgbClr val="000000"/>
                          </a:solidFill>
                          <a:latin typeface="Calibri"/>
                        </a:rPr>
                        <a:t>Service Clerks</a:t>
                      </a:r>
                    </a:p>
                  </a:txBody>
                  <a:tcPr marL="0" marR="0" marT="0" marB="0" anchor="b"/>
                </a:tc>
                <a:tc>
                  <a:txBody>
                    <a:bodyPr/>
                    <a:lstStyle/>
                    <a:p>
                      <a:pPr algn="r" fontAlgn="b"/>
                      <a:r>
                        <a:rPr lang="en-US" sz="1600" b="0" i="0" u="none" strike="noStrike" dirty="0">
                          <a:solidFill>
                            <a:srgbClr val="000000"/>
                          </a:solidFill>
                          <a:latin typeface="Calibri"/>
                        </a:rPr>
                        <a:t>-</a:t>
                      </a:r>
                      <a:r>
                        <a:rPr lang="en-US" sz="1600" b="0" i="0" u="none" strike="noStrike" dirty="0" smtClean="0">
                          <a:solidFill>
                            <a:srgbClr val="000000"/>
                          </a:solidFill>
                          <a:latin typeface="Calibri"/>
                        </a:rPr>
                        <a:t>6.0%</a:t>
                      </a:r>
                      <a:endParaRPr lang="en-US" sz="1600" b="0" i="0" u="none" strike="noStrike" dirty="0">
                        <a:solidFill>
                          <a:srgbClr val="000000"/>
                        </a:solidFill>
                        <a:latin typeface="Calibri"/>
                      </a:endParaRPr>
                    </a:p>
                  </a:txBody>
                  <a:tcPr marL="0" marR="0" marT="0" marB="0" anchor="b"/>
                </a:tc>
              </a:tr>
              <a:tr h="358565">
                <a:tc>
                  <a:txBody>
                    <a:bodyPr/>
                    <a:lstStyle/>
                    <a:p>
                      <a:pPr algn="l" fontAlgn="b"/>
                      <a:r>
                        <a:rPr lang="en-US" sz="1600" b="0" i="0" u="none" strike="noStrike" dirty="0">
                          <a:solidFill>
                            <a:srgbClr val="000000"/>
                          </a:solidFill>
                          <a:latin typeface="Calibri"/>
                        </a:rPr>
                        <a:t>Postal Service Mail Sorters, Processors, </a:t>
                      </a:r>
                      <a:r>
                        <a:rPr lang="en-US" sz="1600" b="0" i="0" u="none" strike="noStrike" baseline="0" dirty="0" smtClean="0">
                          <a:solidFill>
                            <a:srgbClr val="000000"/>
                          </a:solidFill>
                          <a:latin typeface="Calibri"/>
                        </a:rPr>
                        <a:t> and</a:t>
                      </a:r>
                      <a:r>
                        <a:rPr lang="en-US" sz="1600" b="0" i="0" u="none" strike="noStrike" dirty="0" smtClean="0">
                          <a:solidFill>
                            <a:srgbClr val="000000"/>
                          </a:solidFill>
                          <a:latin typeface="Calibri"/>
                        </a:rPr>
                        <a:t> </a:t>
                      </a:r>
                      <a:r>
                        <a:rPr lang="en-US" sz="1600" b="0" i="0" u="none" strike="noStrike" dirty="0">
                          <a:solidFill>
                            <a:srgbClr val="000000"/>
                          </a:solidFill>
                          <a:latin typeface="Calibri"/>
                        </a:rPr>
                        <a:t>Processing Machine Operators</a:t>
                      </a:r>
                    </a:p>
                  </a:txBody>
                  <a:tcPr marL="0" marR="0" marT="0" marB="0" anchor="b"/>
                </a:tc>
                <a:tc>
                  <a:txBody>
                    <a:bodyPr/>
                    <a:lstStyle/>
                    <a:p>
                      <a:pPr algn="r" fontAlgn="b"/>
                      <a:r>
                        <a:rPr lang="en-US" sz="1600" b="0" i="0" u="none" strike="noStrike" dirty="0">
                          <a:solidFill>
                            <a:srgbClr val="000000"/>
                          </a:solidFill>
                          <a:latin typeface="Calibri"/>
                        </a:rPr>
                        <a:t>-</a:t>
                      </a:r>
                      <a:r>
                        <a:rPr lang="en-US" sz="1600" b="0" i="0" u="none" strike="noStrike" dirty="0" smtClean="0">
                          <a:solidFill>
                            <a:srgbClr val="000000"/>
                          </a:solidFill>
                          <a:latin typeface="Calibri"/>
                        </a:rPr>
                        <a:t>6.0%</a:t>
                      </a:r>
                      <a:endParaRPr lang="en-US" sz="1600" b="0" i="0" u="none" strike="noStrike" dirty="0">
                        <a:solidFill>
                          <a:srgbClr val="000000"/>
                        </a:solidFill>
                        <a:latin typeface="Calibri"/>
                      </a:endParaRPr>
                    </a:p>
                  </a:txBody>
                  <a:tcPr marL="0" marR="0" marT="0" marB="0" anchor="b"/>
                </a:tc>
              </a:tr>
              <a:tr h="358565">
                <a:tc>
                  <a:txBody>
                    <a:bodyPr/>
                    <a:lstStyle/>
                    <a:p>
                      <a:pPr algn="l" fontAlgn="b"/>
                      <a:r>
                        <a:rPr lang="en-US" sz="1600" b="0" i="0" u="none" strike="noStrike" dirty="0">
                          <a:solidFill>
                            <a:srgbClr val="000000"/>
                          </a:solidFill>
                          <a:latin typeface="Calibri"/>
                        </a:rPr>
                        <a:t>Prepress Technicians and Workers</a:t>
                      </a:r>
                    </a:p>
                  </a:txBody>
                  <a:tcPr marL="0" marR="0" marT="0" marB="0" anchor="b"/>
                </a:tc>
                <a:tc>
                  <a:txBody>
                    <a:bodyPr/>
                    <a:lstStyle/>
                    <a:p>
                      <a:pPr algn="r" fontAlgn="b"/>
                      <a:r>
                        <a:rPr lang="en-US" sz="1600" b="0" i="0" u="none" strike="noStrike" dirty="0">
                          <a:solidFill>
                            <a:srgbClr val="000000"/>
                          </a:solidFill>
                          <a:latin typeface="Calibri"/>
                        </a:rPr>
                        <a:t>-</a:t>
                      </a:r>
                      <a:r>
                        <a:rPr lang="en-US" sz="1600" b="0" i="0" u="none" strike="noStrike" dirty="0" smtClean="0">
                          <a:solidFill>
                            <a:srgbClr val="000000"/>
                          </a:solidFill>
                          <a:latin typeface="Calibri"/>
                        </a:rPr>
                        <a:t>3.6%</a:t>
                      </a:r>
                      <a:endParaRPr lang="en-US" sz="1600" b="0" i="0" u="none" strike="noStrike" dirty="0">
                        <a:solidFill>
                          <a:srgbClr val="000000"/>
                        </a:solidFill>
                        <a:latin typeface="Calibri"/>
                      </a:endParaRPr>
                    </a:p>
                  </a:txBody>
                  <a:tcPr marL="0" marR="0" marT="0" marB="0" anchor="b"/>
                </a:tc>
              </a:tr>
              <a:tr h="358565">
                <a:tc>
                  <a:txBody>
                    <a:bodyPr/>
                    <a:lstStyle/>
                    <a:p>
                      <a:pPr algn="l" fontAlgn="b"/>
                      <a:r>
                        <a:rPr lang="en-US" sz="1600" b="0" i="0" u="none" strike="noStrike" dirty="0">
                          <a:solidFill>
                            <a:srgbClr val="000000"/>
                          </a:solidFill>
                          <a:latin typeface="Calibri"/>
                        </a:rPr>
                        <a:t>Postmasters and Mail Superintendents</a:t>
                      </a:r>
                    </a:p>
                  </a:txBody>
                  <a:tcPr marL="0" marR="0" marT="0" marB="0" anchor="b"/>
                </a:tc>
                <a:tc>
                  <a:txBody>
                    <a:bodyPr/>
                    <a:lstStyle/>
                    <a:p>
                      <a:pPr algn="r" fontAlgn="b"/>
                      <a:r>
                        <a:rPr lang="en-US" sz="1600" b="0" i="0" u="none" strike="noStrike" dirty="0">
                          <a:solidFill>
                            <a:srgbClr val="000000"/>
                          </a:solidFill>
                          <a:latin typeface="Calibri"/>
                        </a:rPr>
                        <a:t>-</a:t>
                      </a:r>
                      <a:r>
                        <a:rPr lang="en-US" sz="1600" b="0" i="0" u="none" strike="noStrike" dirty="0" smtClean="0">
                          <a:solidFill>
                            <a:srgbClr val="000000"/>
                          </a:solidFill>
                          <a:latin typeface="Calibri"/>
                        </a:rPr>
                        <a:t>2.7%</a:t>
                      </a:r>
                      <a:endParaRPr lang="en-US" sz="1600" b="0" i="0" u="none" strike="noStrike" dirty="0">
                        <a:solidFill>
                          <a:srgbClr val="000000"/>
                        </a:solidFill>
                        <a:latin typeface="Calibri"/>
                      </a:endParaRPr>
                    </a:p>
                  </a:txBody>
                  <a:tcPr marL="0" marR="0" marT="0" marB="0" anchor="b"/>
                </a:tc>
              </a:tr>
              <a:tr h="358565">
                <a:tc>
                  <a:txBody>
                    <a:bodyPr/>
                    <a:lstStyle/>
                    <a:p>
                      <a:pPr algn="l" fontAlgn="b"/>
                      <a:r>
                        <a:rPr lang="en-US" sz="1600" b="0" i="0" u="none" strike="noStrike" dirty="0">
                          <a:solidFill>
                            <a:srgbClr val="000000"/>
                          </a:solidFill>
                          <a:latin typeface="Calibri"/>
                        </a:rPr>
                        <a:t>Switchboard Operators, Including Answering Service</a:t>
                      </a:r>
                    </a:p>
                  </a:txBody>
                  <a:tcPr marL="0" marR="0" marT="0" marB="0" anchor="b"/>
                </a:tc>
                <a:tc>
                  <a:txBody>
                    <a:bodyPr/>
                    <a:lstStyle/>
                    <a:p>
                      <a:pPr algn="r" fontAlgn="b"/>
                      <a:r>
                        <a:rPr lang="en-US" sz="1600" b="0" i="0" u="none" strike="noStrike" dirty="0">
                          <a:solidFill>
                            <a:srgbClr val="000000"/>
                          </a:solidFill>
                          <a:latin typeface="Calibri"/>
                        </a:rPr>
                        <a:t>-</a:t>
                      </a:r>
                      <a:r>
                        <a:rPr lang="en-US" sz="1600" b="0" i="0" u="none" strike="noStrike" dirty="0" smtClean="0">
                          <a:solidFill>
                            <a:srgbClr val="000000"/>
                          </a:solidFill>
                          <a:latin typeface="Calibri"/>
                        </a:rPr>
                        <a:t>2.7%</a:t>
                      </a:r>
                      <a:endParaRPr lang="en-US" sz="1600" b="0" i="0" u="none" strike="noStrike" dirty="0">
                        <a:solidFill>
                          <a:srgbClr val="000000"/>
                        </a:solidFill>
                        <a:latin typeface="Calibri"/>
                      </a:endParaRPr>
                    </a:p>
                  </a:txBody>
                  <a:tcPr marL="0" marR="0" marT="0" marB="0" anchor="b"/>
                </a:tc>
              </a:tr>
              <a:tr h="358565">
                <a:tc>
                  <a:txBody>
                    <a:bodyPr/>
                    <a:lstStyle/>
                    <a:p>
                      <a:pPr algn="l" fontAlgn="b"/>
                      <a:r>
                        <a:rPr lang="en-US" sz="1600" b="0" i="0" u="none" strike="noStrike" dirty="0">
                          <a:solidFill>
                            <a:srgbClr val="000000"/>
                          </a:solidFill>
                          <a:latin typeface="Calibri"/>
                        </a:rPr>
                        <a:t>Desktop Publishers</a:t>
                      </a:r>
                    </a:p>
                  </a:txBody>
                  <a:tcPr marL="0" marR="0" marT="0" marB="0" anchor="b"/>
                </a:tc>
                <a:tc>
                  <a:txBody>
                    <a:bodyPr/>
                    <a:lstStyle/>
                    <a:p>
                      <a:pPr algn="r" fontAlgn="b"/>
                      <a:r>
                        <a:rPr lang="en-US" sz="1600" b="0" i="0" u="none" strike="noStrike" dirty="0">
                          <a:solidFill>
                            <a:srgbClr val="000000"/>
                          </a:solidFill>
                          <a:latin typeface="Calibri"/>
                        </a:rPr>
                        <a:t>-</a:t>
                      </a:r>
                      <a:r>
                        <a:rPr lang="en-US" sz="1600" b="0" i="0" u="none" strike="noStrike" dirty="0" smtClean="0">
                          <a:solidFill>
                            <a:srgbClr val="000000"/>
                          </a:solidFill>
                          <a:latin typeface="Calibri"/>
                        </a:rPr>
                        <a:t>2.5%</a:t>
                      </a:r>
                      <a:endParaRPr lang="en-US" sz="1600" b="0" i="0" u="none" strike="noStrike" dirty="0">
                        <a:solidFill>
                          <a:srgbClr val="000000"/>
                        </a:solidFill>
                        <a:latin typeface="Calibri"/>
                      </a:endParaRPr>
                    </a:p>
                  </a:txBody>
                  <a:tcPr marL="0" marR="0" marT="0" marB="0" anchor="b"/>
                </a:tc>
              </a:tr>
              <a:tr h="358565">
                <a:tc>
                  <a:txBody>
                    <a:bodyPr/>
                    <a:lstStyle/>
                    <a:p>
                      <a:pPr algn="l" fontAlgn="b"/>
                      <a:r>
                        <a:rPr lang="en-US" sz="1600" b="0" i="0" u="none" strike="noStrike" dirty="0">
                          <a:solidFill>
                            <a:srgbClr val="000000"/>
                          </a:solidFill>
                          <a:latin typeface="Calibri"/>
                        </a:rPr>
                        <a:t>Office Machine Operators, Except Computer</a:t>
                      </a:r>
                    </a:p>
                  </a:txBody>
                  <a:tcPr marL="0" marR="0" marT="0" marB="0" anchor="b"/>
                </a:tc>
                <a:tc>
                  <a:txBody>
                    <a:bodyPr/>
                    <a:lstStyle/>
                    <a:p>
                      <a:pPr algn="r" fontAlgn="b"/>
                      <a:r>
                        <a:rPr lang="en-US" sz="1600" b="0" i="0" u="none" strike="noStrike" dirty="0">
                          <a:solidFill>
                            <a:srgbClr val="000000"/>
                          </a:solidFill>
                          <a:latin typeface="Calibri"/>
                        </a:rPr>
                        <a:t>-</a:t>
                      </a:r>
                      <a:r>
                        <a:rPr lang="en-US" sz="1600" b="0" i="0" u="none" strike="noStrike" dirty="0" smtClean="0">
                          <a:solidFill>
                            <a:srgbClr val="000000"/>
                          </a:solidFill>
                          <a:latin typeface="Calibri"/>
                        </a:rPr>
                        <a:t>1.9%</a:t>
                      </a:r>
                      <a:endParaRPr lang="en-US" sz="1600" b="0" i="0" u="none" strike="noStrike" dirty="0">
                        <a:solidFill>
                          <a:srgbClr val="000000"/>
                        </a:solidFill>
                        <a:latin typeface="Calibri"/>
                      </a:endParaRPr>
                    </a:p>
                  </a:txBody>
                  <a:tcPr marL="0" marR="0" marT="0" marB="0" anchor="b"/>
                </a:tc>
              </a:tr>
              <a:tr h="358565">
                <a:tc>
                  <a:txBody>
                    <a:bodyPr/>
                    <a:lstStyle/>
                    <a:p>
                      <a:pPr algn="l" fontAlgn="b"/>
                      <a:r>
                        <a:rPr lang="en-US" sz="1600" b="0" i="0" u="none" strike="noStrike" dirty="0">
                          <a:solidFill>
                            <a:srgbClr val="000000"/>
                          </a:solidFill>
                          <a:latin typeface="Calibri"/>
                        </a:rPr>
                        <a:t>Jewelers and Precious Stone and Metal Workers</a:t>
                      </a:r>
                    </a:p>
                  </a:txBody>
                  <a:tcPr marL="0" marR="0" marT="0" marB="0" anchor="b"/>
                </a:tc>
                <a:tc>
                  <a:txBody>
                    <a:bodyPr/>
                    <a:lstStyle/>
                    <a:p>
                      <a:pPr algn="r" fontAlgn="b"/>
                      <a:r>
                        <a:rPr lang="en-US" sz="1600" b="0" i="0" u="none" strike="noStrike" dirty="0">
                          <a:solidFill>
                            <a:srgbClr val="000000"/>
                          </a:solidFill>
                          <a:latin typeface="Calibri"/>
                        </a:rPr>
                        <a:t>-</a:t>
                      </a:r>
                      <a:r>
                        <a:rPr lang="en-US" sz="1600" b="0" i="0" u="none" strike="noStrike" dirty="0" smtClean="0">
                          <a:solidFill>
                            <a:srgbClr val="000000"/>
                          </a:solidFill>
                          <a:latin typeface="Calibri"/>
                        </a:rPr>
                        <a:t>1.7%</a:t>
                      </a:r>
                      <a:endParaRPr lang="en-US" sz="1600" b="0" i="0" u="none" strike="noStrike" dirty="0">
                        <a:solidFill>
                          <a:srgbClr val="000000"/>
                        </a:solidFill>
                        <a:latin typeface="Calibri"/>
                      </a:endParaRPr>
                    </a:p>
                  </a:txBody>
                  <a:tcPr marL="0" marR="0" marT="0" marB="0" anchor="b"/>
                </a:tc>
              </a:tr>
              <a:tr h="358565">
                <a:tc>
                  <a:txBody>
                    <a:bodyPr/>
                    <a:lstStyle/>
                    <a:p>
                      <a:pPr algn="l" fontAlgn="b"/>
                      <a:r>
                        <a:rPr lang="en-US" sz="1600" b="0" i="0" u="none" strike="noStrike" dirty="0">
                          <a:solidFill>
                            <a:srgbClr val="000000"/>
                          </a:solidFill>
                          <a:latin typeface="Calibri"/>
                        </a:rPr>
                        <a:t>Camera Operators, Television, Video, and Motion Picture</a:t>
                      </a:r>
                    </a:p>
                  </a:txBody>
                  <a:tcPr marL="0" marR="0" marT="0" marB="0" anchor="b"/>
                </a:tc>
                <a:tc>
                  <a:txBody>
                    <a:bodyPr/>
                    <a:lstStyle/>
                    <a:p>
                      <a:pPr algn="r" fontAlgn="b"/>
                      <a:r>
                        <a:rPr lang="en-US" sz="1600" b="0" i="0" u="none" strike="noStrike" dirty="0">
                          <a:solidFill>
                            <a:srgbClr val="000000"/>
                          </a:solidFill>
                          <a:latin typeface="Calibri"/>
                        </a:rPr>
                        <a:t>-</a:t>
                      </a:r>
                      <a:r>
                        <a:rPr lang="en-US" sz="1600" b="0" i="0" u="none" strike="noStrike" dirty="0" smtClean="0">
                          <a:solidFill>
                            <a:srgbClr val="000000"/>
                          </a:solidFill>
                          <a:latin typeface="Calibri"/>
                        </a:rPr>
                        <a:t>1.5%</a:t>
                      </a:r>
                      <a:endParaRPr lang="en-US" sz="1600" b="0" i="0" u="none" strike="noStrike" dirty="0">
                        <a:solidFill>
                          <a:srgbClr val="000000"/>
                        </a:solidFill>
                        <a:latin typeface="Calibri"/>
                      </a:endParaRPr>
                    </a:p>
                  </a:txBody>
                  <a:tcPr marL="0" marR="0" marT="0" marB="0" anchor="b"/>
                </a:tc>
              </a:tr>
              <a:tr h="358565">
                <a:tc>
                  <a:txBody>
                    <a:bodyPr/>
                    <a:lstStyle/>
                    <a:p>
                      <a:pPr algn="l" fontAlgn="b"/>
                      <a:r>
                        <a:rPr lang="en-US" sz="1600" b="0" i="0" u="none" strike="noStrike" dirty="0">
                          <a:solidFill>
                            <a:srgbClr val="000000"/>
                          </a:solidFill>
                          <a:latin typeface="Calibri"/>
                        </a:rPr>
                        <a:t>Radio and Television Announcers</a:t>
                      </a:r>
                    </a:p>
                  </a:txBody>
                  <a:tcPr marL="0" marR="0" marT="0" marB="0" anchor="b"/>
                </a:tc>
                <a:tc>
                  <a:txBody>
                    <a:bodyPr/>
                    <a:lstStyle/>
                    <a:p>
                      <a:pPr algn="r" fontAlgn="b"/>
                      <a:r>
                        <a:rPr lang="en-US" sz="1600" b="0" i="0" u="none" strike="noStrike" dirty="0">
                          <a:solidFill>
                            <a:srgbClr val="000000"/>
                          </a:solidFill>
                          <a:latin typeface="Calibri"/>
                        </a:rPr>
                        <a:t>-</a:t>
                      </a:r>
                      <a:r>
                        <a:rPr lang="en-US" sz="1600" b="0" i="0" u="none" strike="noStrike" dirty="0" smtClean="0">
                          <a:solidFill>
                            <a:srgbClr val="000000"/>
                          </a:solidFill>
                          <a:latin typeface="Calibri"/>
                        </a:rPr>
                        <a:t>1.4%</a:t>
                      </a:r>
                      <a:endParaRPr lang="en-US" sz="1600" b="0" i="0" u="none" strike="noStrike" dirty="0">
                        <a:solidFill>
                          <a:srgbClr val="000000"/>
                        </a:solidFill>
                        <a:latin typeface="Calibri"/>
                      </a:endParaRPr>
                    </a:p>
                  </a:txBody>
                  <a:tcPr marL="0" marR="0" marT="0" marB="0" anchor="b"/>
                </a:tc>
              </a:tr>
              <a:tr h="358565">
                <a:tc>
                  <a:txBody>
                    <a:bodyPr/>
                    <a:lstStyle/>
                    <a:p>
                      <a:pPr algn="l" fontAlgn="b"/>
                      <a:r>
                        <a:rPr lang="en-US" sz="1600" b="0" i="0" u="none" strike="noStrike" dirty="0">
                          <a:solidFill>
                            <a:srgbClr val="000000"/>
                          </a:solidFill>
                          <a:latin typeface="Calibri"/>
                        </a:rPr>
                        <a:t>Pressers, Textile, Garment, and Related Materials</a:t>
                      </a:r>
                    </a:p>
                  </a:txBody>
                  <a:tcPr marL="0" marR="0" marT="0" marB="0" anchor="b"/>
                </a:tc>
                <a:tc>
                  <a:txBody>
                    <a:bodyPr/>
                    <a:lstStyle/>
                    <a:p>
                      <a:pPr algn="r" fontAlgn="b"/>
                      <a:r>
                        <a:rPr lang="en-US" sz="1600" b="0" i="0" u="none" strike="noStrike" dirty="0">
                          <a:solidFill>
                            <a:srgbClr val="000000"/>
                          </a:solidFill>
                          <a:latin typeface="Calibri"/>
                        </a:rPr>
                        <a:t>-</a:t>
                      </a:r>
                      <a:r>
                        <a:rPr lang="en-US" sz="1600" b="0" i="0" u="none" strike="noStrike" dirty="0" smtClean="0">
                          <a:solidFill>
                            <a:srgbClr val="000000"/>
                          </a:solidFill>
                          <a:latin typeface="Calibri"/>
                        </a:rPr>
                        <a:t>1.4%</a:t>
                      </a:r>
                      <a:endParaRPr lang="en-US" sz="1600" b="0" i="0" u="none" strike="noStrike" dirty="0">
                        <a:solidFill>
                          <a:srgbClr val="000000"/>
                        </a:solidFill>
                        <a:latin typeface="Calibri"/>
                      </a:endParaRPr>
                    </a:p>
                  </a:txBody>
                  <a:tcPr marL="0" marR="0" marT="0" marB="0" anchor="b"/>
                </a:tc>
              </a:tr>
              <a:tr h="358565">
                <a:tc>
                  <a:txBody>
                    <a:bodyPr/>
                    <a:lstStyle/>
                    <a:p>
                      <a:pPr algn="l" fontAlgn="b"/>
                      <a:r>
                        <a:rPr lang="en-US" sz="1600" b="0" i="0" u="none" strike="noStrike" dirty="0">
                          <a:solidFill>
                            <a:srgbClr val="000000"/>
                          </a:solidFill>
                          <a:latin typeface="Calibri"/>
                        </a:rPr>
                        <a:t>Motion Picture Projectionists</a:t>
                      </a:r>
                    </a:p>
                  </a:txBody>
                  <a:tcPr marL="0" marR="0" marT="0" marB="0" anchor="b"/>
                </a:tc>
                <a:tc>
                  <a:txBody>
                    <a:bodyPr/>
                    <a:lstStyle/>
                    <a:p>
                      <a:pPr algn="r" fontAlgn="b"/>
                      <a:r>
                        <a:rPr lang="en-US" sz="1600" b="0" i="0" u="none" strike="noStrike" dirty="0">
                          <a:solidFill>
                            <a:srgbClr val="000000"/>
                          </a:solidFill>
                          <a:latin typeface="Calibri"/>
                        </a:rPr>
                        <a:t>-</a:t>
                      </a:r>
                      <a:r>
                        <a:rPr lang="en-US" sz="1600" b="0" i="0" u="none" strike="noStrike" dirty="0" smtClean="0">
                          <a:solidFill>
                            <a:srgbClr val="000000"/>
                          </a:solidFill>
                          <a:latin typeface="Calibri"/>
                        </a:rPr>
                        <a:t>1.3%</a:t>
                      </a:r>
                      <a:endParaRPr lang="en-US" sz="1600" b="0" i="0" u="none" strike="noStrike" dirty="0">
                        <a:solidFill>
                          <a:srgbClr val="000000"/>
                        </a:solidFill>
                        <a:latin typeface="Calibri"/>
                      </a:endParaRPr>
                    </a:p>
                  </a:txBody>
                  <a:tcPr marL="0" marR="0" marT="0" marB="0" anchor="b"/>
                </a:tc>
              </a:tr>
              <a:tr h="358565">
                <a:tc>
                  <a:txBody>
                    <a:bodyPr/>
                    <a:lstStyle/>
                    <a:p>
                      <a:pPr algn="l" fontAlgn="b"/>
                      <a:r>
                        <a:rPr lang="en-US" sz="1600" b="0" i="0" u="none" strike="noStrike" dirty="0">
                          <a:solidFill>
                            <a:srgbClr val="000000"/>
                          </a:solidFill>
                          <a:latin typeface="Calibri"/>
                        </a:rPr>
                        <a:t>Gaming Change Persons and Booth Cashiers</a:t>
                      </a:r>
                    </a:p>
                  </a:txBody>
                  <a:tcPr marL="0" marR="0" marT="0" marB="0" anchor="b"/>
                </a:tc>
                <a:tc>
                  <a:txBody>
                    <a:bodyPr/>
                    <a:lstStyle/>
                    <a:p>
                      <a:pPr algn="r" fontAlgn="b"/>
                      <a:r>
                        <a:rPr lang="en-US" sz="1600" b="0" i="0" u="none" strike="noStrike" dirty="0">
                          <a:solidFill>
                            <a:srgbClr val="000000"/>
                          </a:solidFill>
                          <a:latin typeface="Calibri"/>
                        </a:rPr>
                        <a:t>-</a:t>
                      </a:r>
                      <a:r>
                        <a:rPr lang="en-US" sz="1600" b="0" i="0" u="none" strike="noStrike" dirty="0" smtClean="0">
                          <a:solidFill>
                            <a:srgbClr val="000000"/>
                          </a:solidFill>
                          <a:latin typeface="Calibri"/>
                        </a:rPr>
                        <a:t>1.3%</a:t>
                      </a:r>
                      <a:endParaRPr lang="en-US" sz="1600" b="0" i="0" u="none" strike="noStrike" dirty="0">
                        <a:solidFill>
                          <a:srgbClr val="000000"/>
                        </a:solidFill>
                        <a:latin typeface="Calibri"/>
                      </a:endParaRPr>
                    </a:p>
                  </a:txBody>
                  <a:tcPr marL="0" marR="0" marT="0" marB="0" anchor="b"/>
                </a:tc>
              </a:tr>
              <a:tr h="358565">
                <a:tc>
                  <a:txBody>
                    <a:bodyPr/>
                    <a:lstStyle/>
                    <a:p>
                      <a:pPr algn="l" fontAlgn="b"/>
                      <a:r>
                        <a:rPr lang="en-US" sz="1600" b="0" i="0" u="none" strike="noStrike" dirty="0">
                          <a:solidFill>
                            <a:srgbClr val="000000"/>
                          </a:solidFill>
                          <a:latin typeface="Calibri"/>
                        </a:rPr>
                        <a:t>Reporters and Correspondents</a:t>
                      </a:r>
                    </a:p>
                  </a:txBody>
                  <a:tcPr marL="0" marR="0" marT="0" marB="0" anchor="b"/>
                </a:tc>
                <a:tc>
                  <a:txBody>
                    <a:bodyPr/>
                    <a:lstStyle/>
                    <a:p>
                      <a:pPr algn="r" fontAlgn="b"/>
                      <a:r>
                        <a:rPr lang="en-US" sz="1600" b="0" i="0" u="none" strike="noStrike" dirty="0">
                          <a:solidFill>
                            <a:srgbClr val="000000"/>
                          </a:solidFill>
                          <a:latin typeface="Calibri"/>
                        </a:rPr>
                        <a:t>-</a:t>
                      </a:r>
                      <a:r>
                        <a:rPr lang="en-US" sz="1600" b="0" i="0" u="none" strike="noStrike" dirty="0" smtClean="0">
                          <a:solidFill>
                            <a:srgbClr val="000000"/>
                          </a:solidFill>
                          <a:latin typeface="Calibri"/>
                        </a:rPr>
                        <a:t>1.3%</a:t>
                      </a:r>
                      <a:endParaRPr lang="en-US" sz="1600" b="0" i="0" u="none" strike="noStrike" dirty="0">
                        <a:solidFill>
                          <a:srgbClr val="000000"/>
                        </a:solidFill>
                        <a:latin typeface="Calibri"/>
                      </a:endParaRPr>
                    </a:p>
                  </a:txBody>
                  <a:tcPr marL="0" marR="0" marT="0" marB="0" anchor="b"/>
                </a:tc>
              </a:tr>
              <a:tr h="358565">
                <a:tc>
                  <a:txBody>
                    <a:bodyPr/>
                    <a:lstStyle/>
                    <a:p>
                      <a:pPr algn="l" fontAlgn="b"/>
                      <a:r>
                        <a:rPr lang="en-US" sz="1600" b="0" i="0" u="none" strike="noStrike" dirty="0">
                          <a:solidFill>
                            <a:srgbClr val="000000"/>
                          </a:solidFill>
                          <a:latin typeface="Calibri"/>
                        </a:rPr>
                        <a:t>Floral Designers</a:t>
                      </a:r>
                    </a:p>
                  </a:txBody>
                  <a:tcPr marL="0" marR="0" marT="0" marB="0" anchor="b"/>
                </a:tc>
                <a:tc>
                  <a:txBody>
                    <a:bodyPr/>
                    <a:lstStyle/>
                    <a:p>
                      <a:pPr algn="r" fontAlgn="b"/>
                      <a:r>
                        <a:rPr lang="en-US" sz="1600" b="0" i="0" u="none" strike="noStrike" dirty="0">
                          <a:solidFill>
                            <a:srgbClr val="000000"/>
                          </a:solidFill>
                          <a:latin typeface="Calibri"/>
                        </a:rPr>
                        <a:t>-</a:t>
                      </a:r>
                      <a:r>
                        <a:rPr lang="en-US" sz="1600" b="0" i="0" u="none" strike="noStrike" dirty="0" smtClean="0">
                          <a:solidFill>
                            <a:srgbClr val="000000"/>
                          </a:solidFill>
                          <a:latin typeface="Calibri"/>
                        </a:rPr>
                        <a:t>1.2%</a:t>
                      </a:r>
                      <a:endParaRPr lang="en-US" sz="1600" b="0" i="0" u="none" strike="noStrike" dirty="0">
                        <a:solidFill>
                          <a:srgbClr val="000000"/>
                        </a:solidFill>
                        <a:latin typeface="Calibri"/>
                      </a:endParaRPr>
                    </a:p>
                  </a:txBody>
                  <a:tcPr marL="0" marR="0" marT="0" marB="0" anchor="b"/>
                </a:tc>
              </a:tr>
            </a:tbl>
          </a:graphicData>
        </a:graphic>
      </p:graphicFrame>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a:xfrm>
            <a:off x="0" y="0"/>
            <a:ext cx="9144000" cy="792162"/>
          </a:xfrm>
          <a:ln w="9525">
            <a:solidFill>
              <a:srgbClr val="FFCC00"/>
            </a:solidFill>
          </a:ln>
          <a:effectLst>
            <a:softEdge rad="12700"/>
          </a:effectLst>
        </p:spPr>
        <p:txBody>
          <a:bodyPr/>
          <a:lstStyle/>
          <a:p>
            <a:pPr eaLnBrk="1" hangingPunct="1"/>
            <a:r>
              <a:rPr lang="en-US" sz="3200" dirty="0" smtClean="0"/>
              <a:t>Detailed job profile for nearly 800 occupations </a:t>
            </a:r>
          </a:p>
        </p:txBody>
      </p:sp>
      <p:sp>
        <p:nvSpPr>
          <p:cNvPr id="47107" name="Content Placeholder 2"/>
          <p:cNvSpPr>
            <a:spLocks noGrp="1"/>
          </p:cNvSpPr>
          <p:nvPr>
            <p:ph idx="1"/>
          </p:nvPr>
        </p:nvSpPr>
        <p:spPr>
          <a:xfrm>
            <a:off x="457200" y="914400"/>
            <a:ext cx="8229600" cy="5029200"/>
          </a:xfrm>
        </p:spPr>
        <p:txBody>
          <a:bodyPr/>
          <a:lstStyle/>
          <a:p>
            <a:pPr eaLnBrk="1" hangingPunct="1"/>
            <a:r>
              <a:rPr lang="en-US" sz="2400" dirty="0" smtClean="0">
                <a:latin typeface="Arial" charset="0"/>
                <a:cs typeface="Arial" charset="0"/>
              </a:rPr>
              <a:t>Job Description +knowledge, skills, tasks, abilities</a:t>
            </a:r>
          </a:p>
          <a:p>
            <a:pPr marL="742950" lvl="2" indent="-342900"/>
            <a:r>
              <a:rPr lang="en-US" sz="2000" dirty="0" smtClean="0">
                <a:latin typeface="Arial" charset="0"/>
                <a:cs typeface="Arial" charset="0"/>
              </a:rPr>
              <a:t>SOC and O*NET</a:t>
            </a:r>
          </a:p>
          <a:p>
            <a:pPr marL="342900" lvl="1" indent="-342900">
              <a:buFont typeface="Arial" charset="0"/>
              <a:buChar char="•"/>
            </a:pPr>
            <a:r>
              <a:rPr lang="en-US" sz="2400" dirty="0" smtClean="0">
                <a:latin typeface="Arial" charset="0"/>
                <a:cs typeface="Arial" charset="0"/>
              </a:rPr>
              <a:t>Training Program Completers</a:t>
            </a:r>
          </a:p>
          <a:p>
            <a:pPr marL="742950" lvl="2" indent="-342900"/>
            <a:r>
              <a:rPr lang="en-US" sz="1600" b="1" dirty="0" smtClean="0">
                <a:latin typeface="Arial" charset="0"/>
                <a:cs typeface="Arial" charset="0"/>
              </a:rPr>
              <a:t>Classification </a:t>
            </a:r>
            <a:r>
              <a:rPr lang="en-US" sz="1200" b="1" dirty="0" smtClean="0">
                <a:latin typeface="Arial" charset="0"/>
                <a:cs typeface="Arial" charset="0"/>
              </a:rPr>
              <a:t>of Instructional Programs (CIP) </a:t>
            </a:r>
            <a:r>
              <a:rPr lang="en-US" sz="1200" dirty="0" smtClean="0">
                <a:latin typeface="Arial" charset="0"/>
                <a:cs typeface="Arial" charset="0"/>
              </a:rPr>
              <a:t>crosswalk Many-to-Many</a:t>
            </a:r>
          </a:p>
          <a:p>
            <a:pPr eaLnBrk="1" hangingPunct="1"/>
            <a:r>
              <a:rPr lang="en-US" sz="2400" dirty="0" smtClean="0">
                <a:latin typeface="Arial" charset="0"/>
                <a:cs typeface="Arial" charset="0"/>
              </a:rPr>
              <a:t>Typical Education Requirements</a:t>
            </a:r>
          </a:p>
          <a:p>
            <a:pPr eaLnBrk="1" hangingPunct="1"/>
            <a:r>
              <a:rPr lang="en-US" sz="2400" dirty="0" smtClean="0">
                <a:latin typeface="Arial" charset="0"/>
                <a:cs typeface="Arial" charset="0"/>
              </a:rPr>
              <a:t>Wage Statistics by area and industry</a:t>
            </a:r>
          </a:p>
          <a:p>
            <a:pPr eaLnBrk="1" hangingPunct="1"/>
            <a:r>
              <a:rPr lang="en-US" sz="2400" dirty="0" smtClean="0">
                <a:latin typeface="Arial" charset="0"/>
                <a:cs typeface="Arial" charset="0"/>
              </a:rPr>
              <a:t>Employment Projections</a:t>
            </a:r>
          </a:p>
          <a:p>
            <a:pPr eaLnBrk="1" hangingPunct="1"/>
            <a:r>
              <a:rPr lang="en-US" sz="2400" dirty="0" smtClean="0">
                <a:latin typeface="Arial" charset="0"/>
                <a:cs typeface="Arial" charset="0"/>
              </a:rPr>
              <a:t>Employment by Industry</a:t>
            </a:r>
          </a:p>
          <a:p>
            <a:pPr eaLnBrk="1" hangingPunct="1"/>
            <a:r>
              <a:rPr lang="en-US" sz="2400" dirty="0" smtClean="0">
                <a:latin typeface="Arial" charset="0"/>
                <a:cs typeface="Arial" charset="0"/>
              </a:rPr>
              <a:t>Area’s available:</a:t>
            </a:r>
          </a:p>
          <a:p>
            <a:pPr lvl="1"/>
            <a:r>
              <a:rPr lang="en-US" sz="2000" dirty="0" smtClean="0">
                <a:latin typeface="Arial" charset="0"/>
                <a:cs typeface="Arial" charset="0"/>
              </a:rPr>
              <a:t> Statewide, </a:t>
            </a:r>
          </a:p>
          <a:p>
            <a:pPr lvl="1"/>
            <a:r>
              <a:rPr lang="en-US" sz="2000" dirty="0" smtClean="0">
                <a:latin typeface="Arial" charset="0"/>
                <a:cs typeface="Arial" charset="0"/>
              </a:rPr>
              <a:t>4 MSA’s, </a:t>
            </a:r>
          </a:p>
          <a:p>
            <a:pPr lvl="1"/>
            <a:r>
              <a:rPr lang="en-US" sz="2000" dirty="0" smtClean="0">
                <a:latin typeface="Arial" charset="0"/>
                <a:cs typeface="Arial" charset="0"/>
              </a:rPr>
              <a:t>4 Workforce Investment Regions</a:t>
            </a:r>
          </a:p>
          <a:p>
            <a:pPr>
              <a:buNone/>
            </a:pPr>
            <a:r>
              <a:rPr lang="en-US" dirty="0" smtClean="0">
                <a:latin typeface="Arial" charset="0"/>
                <a:cs typeface="Arial" charset="0"/>
              </a:rPr>
              <a:t> </a:t>
            </a:r>
          </a:p>
          <a:p>
            <a:pPr eaLnBrk="1" hangingPunct="1"/>
            <a:endParaRPr lang="en-US" dirty="0" smtClean="0">
              <a:latin typeface="Arial" charset="0"/>
              <a:cs typeface="Arial" charset="0"/>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5638800" cy="792162"/>
          </a:xfrm>
        </p:spPr>
        <p:txBody>
          <a:bodyPr/>
          <a:lstStyle/>
          <a:p>
            <a:r>
              <a:rPr lang="en-US" dirty="0" smtClean="0"/>
              <a:t>Tools for LMI</a:t>
            </a:r>
            <a:endParaRPr lang="en-US" dirty="0"/>
          </a:p>
        </p:txBody>
      </p:sp>
      <p:sp>
        <p:nvSpPr>
          <p:cNvPr id="4" name="TextBox 3"/>
          <p:cNvSpPr txBox="1"/>
          <p:nvPr/>
        </p:nvSpPr>
        <p:spPr>
          <a:xfrm>
            <a:off x="1371600" y="914400"/>
            <a:ext cx="7086600" cy="3970318"/>
          </a:xfrm>
          <a:prstGeom prst="rect">
            <a:avLst/>
          </a:prstGeom>
          <a:noFill/>
        </p:spPr>
        <p:txBody>
          <a:bodyPr wrap="square" rtlCol="0">
            <a:spAutoFit/>
          </a:bodyPr>
          <a:lstStyle/>
          <a:p>
            <a:pPr>
              <a:lnSpc>
                <a:spcPct val="200000"/>
              </a:lnSpc>
              <a:buFont typeface="Arial" pitchFamily="34" charset="0"/>
              <a:buChar char="•"/>
            </a:pPr>
            <a:r>
              <a:rPr lang="en-US" dirty="0" smtClean="0"/>
              <a:t> Career Solutions : </a:t>
            </a:r>
            <a:r>
              <a:rPr lang="en-US" dirty="0" smtClean="0">
                <a:hlinkClick r:id="rId2"/>
              </a:rPr>
              <a:t>http://www.dws.state.nm.us/careersolutions/</a:t>
            </a:r>
            <a:endParaRPr lang="en-US" dirty="0" smtClean="0"/>
          </a:p>
          <a:p>
            <a:pPr>
              <a:lnSpc>
                <a:spcPct val="200000"/>
              </a:lnSpc>
              <a:buFont typeface="Arial" pitchFamily="34" charset="0"/>
              <a:buChar char="•"/>
            </a:pPr>
            <a:r>
              <a:rPr lang="en-US" dirty="0" smtClean="0"/>
              <a:t> LASER: </a:t>
            </a:r>
            <a:r>
              <a:rPr lang="en-US" dirty="0" smtClean="0">
                <a:hlinkClick r:id="rId3"/>
              </a:rPr>
              <a:t>http://laser.state.nm.us/</a:t>
            </a:r>
            <a:endParaRPr lang="en-US" dirty="0" smtClean="0"/>
          </a:p>
          <a:p>
            <a:pPr>
              <a:lnSpc>
                <a:spcPct val="200000"/>
              </a:lnSpc>
              <a:buFont typeface="Arial" pitchFamily="34" charset="0"/>
              <a:buChar char="•"/>
            </a:pPr>
            <a:r>
              <a:rPr lang="en-US" dirty="0" smtClean="0"/>
              <a:t> NM Workforce Connection: </a:t>
            </a:r>
            <a:r>
              <a:rPr lang="en-US" dirty="0" smtClean="0">
                <a:hlinkClick r:id="rId4"/>
              </a:rPr>
              <a:t>https://www.jobs.state.nm.us/</a:t>
            </a:r>
            <a:endParaRPr lang="en-US" dirty="0" smtClean="0"/>
          </a:p>
          <a:p>
            <a:pPr>
              <a:lnSpc>
                <a:spcPct val="200000"/>
              </a:lnSpc>
              <a:buFont typeface="Arial" pitchFamily="34" charset="0"/>
              <a:buChar char="•"/>
            </a:pPr>
            <a:r>
              <a:rPr lang="en-US" dirty="0" smtClean="0"/>
              <a:t> Green Jobs: </a:t>
            </a:r>
            <a:r>
              <a:rPr lang="en-US" dirty="0" smtClean="0">
                <a:hlinkClick r:id="rId5"/>
              </a:rPr>
              <a:t>http://www.greenjobs.state.nm.us</a:t>
            </a:r>
            <a:endParaRPr lang="en-US" dirty="0" smtClean="0"/>
          </a:p>
          <a:p>
            <a:pPr>
              <a:lnSpc>
                <a:spcPct val="200000"/>
              </a:lnSpc>
              <a:buFont typeface="Arial" pitchFamily="34" charset="0"/>
              <a:buChar char="•"/>
            </a:pPr>
            <a:r>
              <a:rPr lang="en-US" dirty="0" smtClean="0"/>
              <a:t> National </a:t>
            </a:r>
            <a:r>
              <a:rPr lang="en-US" dirty="0" smtClean="0">
                <a:hlinkClick r:id="rId6"/>
              </a:rPr>
              <a:t>http://careeronestop.org/</a:t>
            </a:r>
            <a:endParaRPr lang="en-US" dirty="0" smtClean="0"/>
          </a:p>
          <a:p>
            <a:pPr>
              <a:lnSpc>
                <a:spcPct val="200000"/>
              </a:lnSpc>
              <a:buFont typeface="Arial" pitchFamily="34" charset="0"/>
              <a:buChar char="•"/>
            </a:pPr>
            <a:r>
              <a:rPr lang="en-US" dirty="0" smtClean="0"/>
              <a:t> O*NET lookup </a:t>
            </a:r>
            <a:r>
              <a:rPr lang="en-US" dirty="0" smtClean="0">
                <a:hlinkClick r:id="rId7"/>
              </a:rPr>
              <a:t>http://www.onetonline.org/</a:t>
            </a:r>
            <a:r>
              <a:rPr lang="en-US" dirty="0" smtClean="0"/>
              <a:t> </a:t>
            </a:r>
          </a:p>
          <a:p>
            <a:pPr>
              <a:lnSpc>
                <a:spcPct val="200000"/>
              </a:lnSpc>
              <a:buFont typeface="Arial" pitchFamily="34" charset="0"/>
              <a:buChar char="•"/>
            </a:pPr>
            <a:r>
              <a:rPr lang="en-US" dirty="0" smtClean="0"/>
              <a:t>O*NET Academy </a:t>
            </a:r>
            <a:r>
              <a:rPr lang="en-US" dirty="0" smtClean="0">
                <a:hlinkClick r:id="rId8"/>
              </a:rPr>
              <a:t>http://www.onetacademy.org/</a:t>
            </a:r>
            <a:r>
              <a:rPr lang="en-US" dirty="0" smtClean="0"/>
              <a:t>  </a:t>
            </a:r>
          </a:p>
        </p:txBody>
      </p:sp>
      <p:pic>
        <p:nvPicPr>
          <p:cNvPr id="18434" name="Picture 2" descr="http://www.idealaunch.com/blog/wp-content/uploads/2009/12/internet-marketing-strategy-traffic1.jpg"/>
          <p:cNvPicPr>
            <a:picLocks noChangeAspect="1" noChangeArrowheads="1"/>
          </p:cNvPicPr>
          <p:nvPr/>
        </p:nvPicPr>
        <p:blipFill>
          <a:blip r:embed="rId9" cstate="print"/>
          <a:srcRect/>
          <a:stretch>
            <a:fillRect/>
          </a:stretch>
        </p:blipFill>
        <p:spPr bwMode="auto">
          <a:xfrm>
            <a:off x="1143000" y="4800600"/>
            <a:ext cx="7772401" cy="1213218"/>
          </a:xfrm>
          <a:prstGeom prst="rect">
            <a:avLst/>
          </a:prstGeom>
          <a:noFill/>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Education Pays</a:t>
            </a:r>
            <a:endParaRPr lang="en-US" dirty="0"/>
          </a:p>
        </p:txBody>
      </p:sp>
      <p:pic>
        <p:nvPicPr>
          <p:cNvPr id="121858" name="Picture 2"/>
          <p:cNvPicPr>
            <a:picLocks noChangeAspect="1" noChangeArrowheads="1"/>
          </p:cNvPicPr>
          <p:nvPr/>
        </p:nvPicPr>
        <p:blipFill>
          <a:blip r:embed="rId3" cstate="print"/>
          <a:srcRect/>
          <a:stretch>
            <a:fillRect/>
          </a:stretch>
        </p:blipFill>
        <p:spPr bwMode="auto">
          <a:xfrm>
            <a:off x="0" y="1218556"/>
            <a:ext cx="9144000" cy="411544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Thank You!</a:t>
            </a:r>
            <a:endParaRPr lang="en-US" dirty="0"/>
          </a:p>
        </p:txBody>
      </p:sp>
      <p:sp>
        <p:nvSpPr>
          <p:cNvPr id="3" name="Text Placeholder 2"/>
          <p:cNvSpPr>
            <a:spLocks noGrp="1"/>
          </p:cNvSpPr>
          <p:nvPr>
            <p:ph type="body" sz="quarter" idx="10"/>
          </p:nvPr>
        </p:nvSpPr>
        <p:spPr/>
        <p:txBody>
          <a:bodyPr/>
          <a:lstStyle/>
          <a:p>
            <a:pPr>
              <a:buNone/>
            </a:pPr>
            <a:r>
              <a:rPr lang="en-US" dirty="0" smtClean="0">
                <a:latin typeface="Arial" charset="0"/>
                <a:cs typeface="Arial" charset="0"/>
              </a:rPr>
              <a:t>Suzan Reagan</a:t>
            </a:r>
          </a:p>
          <a:p>
            <a:pPr>
              <a:buNone/>
            </a:pPr>
            <a:r>
              <a:rPr lang="en-US" dirty="0" smtClean="0">
                <a:latin typeface="Arial" charset="0"/>
                <a:cs typeface="Arial" charset="0"/>
              </a:rPr>
              <a:t>E-mail </a:t>
            </a:r>
            <a:r>
              <a:rPr lang="en-US" dirty="0" smtClean="0">
                <a:latin typeface="Arial" charset="0"/>
                <a:cs typeface="Arial" charset="0"/>
                <a:hlinkClick r:id="rId2"/>
              </a:rPr>
              <a:t>suzan.reagan@state.nm.us</a:t>
            </a:r>
            <a:endParaRPr lang="en-US" dirty="0" smtClean="0">
              <a:latin typeface="Arial" charset="0"/>
              <a:cs typeface="Arial" charset="0"/>
            </a:endParaRPr>
          </a:p>
          <a:p>
            <a:pPr>
              <a:buNone/>
            </a:pPr>
            <a:r>
              <a:rPr lang="en-US" dirty="0" smtClean="0">
                <a:latin typeface="Arial" charset="0"/>
                <a:cs typeface="Arial" charset="0"/>
              </a:rPr>
              <a:t>Phone (505) 383-2731</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LMI info-201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LMI info-2011</Template>
  <TotalTime>8110</TotalTime>
  <Words>3071</Words>
  <Application>Microsoft Office PowerPoint</Application>
  <PresentationFormat>On-screen Show (4:3)</PresentationFormat>
  <Paragraphs>620</Paragraphs>
  <Slides>39</Slides>
  <Notes>35</Notes>
  <HiddenSlides>0</HiddenSlides>
  <MMClips>0</MMClips>
  <ScaleCrop>false</ScaleCrop>
  <HeadingPairs>
    <vt:vector size="8" baseType="variant">
      <vt:variant>
        <vt:lpstr>Theme</vt:lpstr>
      </vt:variant>
      <vt:variant>
        <vt:i4>2</vt:i4>
      </vt:variant>
      <vt:variant>
        <vt:lpstr>Embedded OLE Servers</vt:lpstr>
      </vt:variant>
      <vt:variant>
        <vt:i4>2</vt:i4>
      </vt:variant>
      <vt:variant>
        <vt:lpstr>Slide Titles</vt:lpstr>
      </vt:variant>
      <vt:variant>
        <vt:i4>39</vt:i4>
      </vt:variant>
      <vt:variant>
        <vt:lpstr>Custom Shows</vt:lpstr>
      </vt:variant>
      <vt:variant>
        <vt:i4>3</vt:i4>
      </vt:variant>
    </vt:vector>
  </HeadingPairs>
  <TitlesOfParts>
    <vt:vector size="46" baseType="lpstr">
      <vt:lpstr>LMI info-2011</vt:lpstr>
      <vt:lpstr>1_Custom Design</vt:lpstr>
      <vt:lpstr>Microsoft Office Excel 97-2003 Worksheet</vt:lpstr>
      <vt:lpstr>Worksheet</vt:lpstr>
      <vt:lpstr>2010 – 2020 Occupations</vt:lpstr>
      <vt:lpstr>Labor Market Information</vt:lpstr>
      <vt:lpstr>Agenda</vt:lpstr>
      <vt:lpstr>The Great Recession Ended July 2009?</vt:lpstr>
      <vt:lpstr>NM vs. US Employment</vt:lpstr>
      <vt:lpstr>NM Industries Change</vt:lpstr>
      <vt:lpstr>NM Employment Industry Mix</vt:lpstr>
      <vt:lpstr>Current Employment Situation</vt:lpstr>
      <vt:lpstr>What about… </vt:lpstr>
      <vt:lpstr>Employment to Population Ratio</vt:lpstr>
      <vt:lpstr>NM UI Continued Claims Duration</vt:lpstr>
      <vt:lpstr>US Unemployment Rates for  Men and Women</vt:lpstr>
      <vt:lpstr>New Mexico Unemployment Rate by Age</vt:lpstr>
      <vt:lpstr>New Mexico 2011 Unemployment Rate</vt:lpstr>
      <vt:lpstr>County Unemployment Rates September 2012 </vt:lpstr>
      <vt:lpstr>What’s Next :  Employment Projections 2010-2020</vt:lpstr>
      <vt:lpstr>National Trends – projected population by age</vt:lpstr>
      <vt:lpstr>NM Population Projections by Age</vt:lpstr>
      <vt:lpstr>NM Employment Projections 2010-2020</vt:lpstr>
      <vt:lpstr>2010-2020 Projections  Workforce Investment Areas</vt:lpstr>
      <vt:lpstr>NM Job Recovery</vt:lpstr>
      <vt:lpstr>Slide 22</vt:lpstr>
      <vt:lpstr>Tigger Slide</vt:lpstr>
      <vt:lpstr>Occupations</vt:lpstr>
      <vt:lpstr>O*NET / SOC  2010  Code Structure</vt:lpstr>
      <vt:lpstr>New Mexico Occupational Group</vt:lpstr>
      <vt:lpstr>Occupational Employment  by Education Needed</vt:lpstr>
      <vt:lpstr>NM 10 Occupations with the Highest Employment </vt:lpstr>
      <vt:lpstr>NM Occupations, Most Annual Openings</vt:lpstr>
      <vt:lpstr>Annual Average Openings</vt:lpstr>
      <vt:lpstr>Highest Growth Jobs in NM</vt:lpstr>
      <vt:lpstr>NM Occupations – High Wage &amp; Growth</vt:lpstr>
      <vt:lpstr>Show me the money!</vt:lpstr>
      <vt:lpstr>Lowest Paying Jobs in New Mexico</vt:lpstr>
      <vt:lpstr>The Top 15 NM Occupations in Decline 2010-2020</vt:lpstr>
      <vt:lpstr>Detailed job profile for nearly 800 occupations </vt:lpstr>
      <vt:lpstr>Tools for LMI</vt:lpstr>
      <vt:lpstr>Education Pays</vt:lpstr>
      <vt:lpstr>Thank You!</vt:lpstr>
      <vt:lpstr>p20council</vt:lpstr>
      <vt:lpstr>Area Offices</vt:lpstr>
      <vt:lpstr>Recession Story</vt:lpstr>
    </vt:vector>
  </TitlesOfParts>
  <Company>Hewlett-Packard Company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Labor Market Information</dc:title>
  <dc:creator>ER&amp;A</dc:creator>
  <cp:lastModifiedBy>ER&amp;A</cp:lastModifiedBy>
  <cp:revision>738</cp:revision>
  <dcterms:created xsi:type="dcterms:W3CDTF">2011-08-11T15:35:24Z</dcterms:created>
  <dcterms:modified xsi:type="dcterms:W3CDTF">2012-11-13T21:35:56Z</dcterms:modified>
</cp:coreProperties>
</file>