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vml" ContentType="application/vnd.openxmlformats-officedocument.vmlDrawing"/>
  <Default Extension="docx" ContentType="application/vnd.openxmlformats-officedocument.wordprocessingml.document"/>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embeddings/oleObject1.bin" ContentType="application/vnd.openxmlformats-officedocument.oleObject"/>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9" r:id="rId1"/>
  </p:sldMasterIdLst>
  <p:notesMasterIdLst>
    <p:notesMasterId r:id="rId55"/>
  </p:notesMasterIdLst>
  <p:sldIdLst>
    <p:sldId id="290" r:id="rId2"/>
    <p:sldId id="313" r:id="rId3"/>
    <p:sldId id="364" r:id="rId4"/>
    <p:sldId id="555" r:id="rId5"/>
    <p:sldId id="481" r:id="rId6"/>
    <p:sldId id="477" r:id="rId7"/>
    <p:sldId id="482" r:id="rId8"/>
    <p:sldId id="388" r:id="rId9"/>
    <p:sldId id="371" r:id="rId10"/>
    <p:sldId id="572" r:id="rId11"/>
    <p:sldId id="548" r:id="rId12"/>
    <p:sldId id="483" r:id="rId13"/>
    <p:sldId id="484" r:id="rId14"/>
    <p:sldId id="485" r:id="rId15"/>
    <p:sldId id="429" r:id="rId16"/>
    <p:sldId id="372" r:id="rId17"/>
    <p:sldId id="535" r:id="rId18"/>
    <p:sldId id="536" r:id="rId19"/>
    <p:sldId id="534" r:id="rId20"/>
    <p:sldId id="374" r:id="rId21"/>
    <p:sldId id="375" r:id="rId22"/>
    <p:sldId id="428" r:id="rId23"/>
    <p:sldId id="373" r:id="rId24"/>
    <p:sldId id="479" r:id="rId25"/>
    <p:sldId id="549" r:id="rId26"/>
    <p:sldId id="486" r:id="rId27"/>
    <p:sldId id="366" r:id="rId28"/>
    <p:sldId id="487" r:id="rId29"/>
    <p:sldId id="550" r:id="rId30"/>
    <p:sldId id="488" r:id="rId31"/>
    <p:sldId id="489" r:id="rId32"/>
    <p:sldId id="490" r:id="rId33"/>
    <p:sldId id="480" r:id="rId34"/>
    <p:sldId id="491" r:id="rId35"/>
    <p:sldId id="492" r:id="rId36"/>
    <p:sldId id="551" r:id="rId37"/>
    <p:sldId id="493" r:id="rId38"/>
    <p:sldId id="494" r:id="rId39"/>
    <p:sldId id="556" r:id="rId40"/>
    <p:sldId id="558" r:id="rId41"/>
    <p:sldId id="559" r:id="rId42"/>
    <p:sldId id="560" r:id="rId43"/>
    <p:sldId id="561" r:id="rId44"/>
    <p:sldId id="562" r:id="rId45"/>
    <p:sldId id="563" r:id="rId46"/>
    <p:sldId id="564" r:id="rId47"/>
    <p:sldId id="565" r:id="rId48"/>
    <p:sldId id="566" r:id="rId49"/>
    <p:sldId id="567" r:id="rId50"/>
    <p:sldId id="568" r:id="rId51"/>
    <p:sldId id="569" r:id="rId52"/>
    <p:sldId id="570" r:id="rId53"/>
    <p:sldId id="571" r:id="rId5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ＭＳ Ｐゴシック"/>
        <a:cs typeface="ＭＳ Ｐゴシック"/>
      </a:defRPr>
    </a:lvl1pPr>
    <a:lvl2pPr marL="457200" algn="l" rtl="0" fontAlgn="base">
      <a:spcBef>
        <a:spcPct val="0"/>
      </a:spcBef>
      <a:spcAft>
        <a:spcPct val="0"/>
      </a:spcAft>
      <a:defRPr kern="1200">
        <a:solidFill>
          <a:schemeClr val="tx1"/>
        </a:solidFill>
        <a:latin typeface="Arial" pitchFamily="34" charset="0"/>
        <a:ea typeface="ＭＳ Ｐゴシック"/>
        <a:cs typeface="ＭＳ Ｐゴシック"/>
      </a:defRPr>
    </a:lvl2pPr>
    <a:lvl3pPr marL="914400" algn="l" rtl="0" fontAlgn="base">
      <a:spcBef>
        <a:spcPct val="0"/>
      </a:spcBef>
      <a:spcAft>
        <a:spcPct val="0"/>
      </a:spcAft>
      <a:defRPr kern="1200">
        <a:solidFill>
          <a:schemeClr val="tx1"/>
        </a:solidFill>
        <a:latin typeface="Arial" pitchFamily="34" charset="0"/>
        <a:ea typeface="ＭＳ Ｐゴシック"/>
        <a:cs typeface="ＭＳ Ｐゴシック"/>
      </a:defRPr>
    </a:lvl3pPr>
    <a:lvl4pPr marL="1371600" algn="l" rtl="0" fontAlgn="base">
      <a:spcBef>
        <a:spcPct val="0"/>
      </a:spcBef>
      <a:spcAft>
        <a:spcPct val="0"/>
      </a:spcAft>
      <a:defRPr kern="1200">
        <a:solidFill>
          <a:schemeClr val="tx1"/>
        </a:solidFill>
        <a:latin typeface="Arial" pitchFamily="34" charset="0"/>
        <a:ea typeface="ＭＳ Ｐゴシック"/>
        <a:cs typeface="ＭＳ Ｐゴシック"/>
      </a:defRPr>
    </a:lvl4pPr>
    <a:lvl5pPr marL="1828800" algn="l" rtl="0" fontAlgn="base">
      <a:spcBef>
        <a:spcPct val="0"/>
      </a:spcBef>
      <a:spcAft>
        <a:spcPct val="0"/>
      </a:spcAft>
      <a:defRPr kern="1200">
        <a:solidFill>
          <a:schemeClr val="tx1"/>
        </a:solidFill>
        <a:latin typeface="Arial" pitchFamily="34" charset="0"/>
        <a:ea typeface="ＭＳ Ｐゴシック"/>
        <a:cs typeface="ＭＳ Ｐゴシック"/>
      </a:defRPr>
    </a:lvl5pPr>
    <a:lvl6pPr marL="2286000" algn="l" defTabSz="914400" rtl="0" eaLnBrk="1" latinLnBrk="0" hangingPunct="1">
      <a:defRPr kern="1200">
        <a:solidFill>
          <a:schemeClr val="tx1"/>
        </a:solidFill>
        <a:latin typeface="Arial" pitchFamily="34" charset="0"/>
        <a:ea typeface="ＭＳ Ｐゴシック"/>
        <a:cs typeface="ＭＳ Ｐゴシック"/>
      </a:defRPr>
    </a:lvl6pPr>
    <a:lvl7pPr marL="2743200" algn="l" defTabSz="914400" rtl="0" eaLnBrk="1" latinLnBrk="0" hangingPunct="1">
      <a:defRPr kern="1200">
        <a:solidFill>
          <a:schemeClr val="tx1"/>
        </a:solidFill>
        <a:latin typeface="Arial" pitchFamily="34" charset="0"/>
        <a:ea typeface="ＭＳ Ｐゴシック"/>
        <a:cs typeface="ＭＳ Ｐゴシック"/>
      </a:defRPr>
    </a:lvl7pPr>
    <a:lvl8pPr marL="3200400" algn="l" defTabSz="914400" rtl="0" eaLnBrk="1" latinLnBrk="0" hangingPunct="1">
      <a:defRPr kern="1200">
        <a:solidFill>
          <a:schemeClr val="tx1"/>
        </a:solidFill>
        <a:latin typeface="Arial" pitchFamily="34" charset="0"/>
        <a:ea typeface="ＭＳ Ｐゴシック"/>
        <a:cs typeface="ＭＳ Ｐゴシック"/>
      </a:defRPr>
    </a:lvl8pPr>
    <a:lvl9pPr marL="3657600" algn="l" defTabSz="914400" rtl="0" eaLnBrk="1" latinLnBrk="0" hangingPunct="1">
      <a:defRPr kern="1200">
        <a:solidFill>
          <a:schemeClr val="tx1"/>
        </a:solidFill>
        <a:latin typeface="Arial" pitchFamily="34" charset="0"/>
        <a:ea typeface="ＭＳ Ｐゴシック"/>
        <a:cs typeface="ＭＳ Ｐゴシック"/>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clrMode="bw"/>
  <p:clrMru>
    <a:srgbClr val="FECF00"/>
    <a:srgbClr val="95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79" d="100"/>
          <a:sy n="179" d="100"/>
        </p:scale>
        <p:origin x="-552" y="-112"/>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notesViewPr>
    <p:cSldViewPr>
      <p:cViewPr varScale="1">
        <p:scale>
          <a:sx n="147" d="100"/>
          <a:sy n="147" d="100"/>
        </p:scale>
        <p:origin x="-3640" y="-11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interSettings" Target="printerSettings/printerSettings1.bin"/><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charset="0"/>
                <a:ea typeface="ＭＳ Ｐゴシック" charset="-128"/>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ea typeface="ＭＳ Ｐゴシック" charset="-128"/>
                <a:cs typeface="+mn-cs"/>
              </a:defRPr>
            </a:lvl1pPr>
          </a:lstStyle>
          <a:p>
            <a:pPr>
              <a:defRPr/>
            </a:pPr>
            <a:fld id="{F0207C80-34A1-4017-B494-0AF346DD9412}" type="datetime1">
              <a:rPr lang="en-US"/>
              <a:pPr>
                <a:defRPr/>
              </a:pPr>
              <a:t>12-07-24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charset="0"/>
                <a:ea typeface="ＭＳ Ｐゴシック" charset="-128"/>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ea typeface="ＭＳ Ｐゴシック" charset="-128"/>
                <a:cs typeface="+mn-cs"/>
              </a:defRPr>
            </a:lvl1pPr>
          </a:lstStyle>
          <a:p>
            <a:pPr>
              <a:defRPr/>
            </a:pPr>
            <a:fld id="{5D8565E5-52ED-43E9-9CEA-86BBF1F90557}" type="slidenum">
              <a:rPr lang="en-US"/>
              <a:pPr>
                <a:defRPr/>
              </a:pPr>
              <a:t>‹#›</a:t>
            </a:fld>
            <a:endParaRPr lang="en-US"/>
          </a:p>
        </p:txBody>
      </p:sp>
    </p:spTree>
    <p:extLst>
      <p:ext uri="{BB962C8B-B14F-4D97-AF65-F5344CB8AC3E}">
        <p14:creationId xmlns:p14="http://schemas.microsoft.com/office/powerpoint/2010/main" val="12508892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ＭＳ Ｐゴシック"/>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ＭＳ Ｐゴシック"/>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ＭＳ Ｐゴシック"/>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ＭＳ Ｐゴシック"/>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ＭＳ Ｐゴシック"/>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www.facebook.com/WeAllEssamAtta"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p:spPr>
      </p:sp>
      <p:sp>
        <p:nvSpPr>
          <p:cNvPr id="51203" name="Notes Placeholder 2"/>
          <p:cNvSpPr>
            <a:spLocks noGrp="1"/>
          </p:cNvSpPr>
          <p:nvPr>
            <p:ph type="body" idx="1"/>
          </p:nvPr>
        </p:nvSpPr>
        <p:spPr bwMode="auto">
          <a:noFill/>
        </p:spPr>
        <p:txBody>
          <a:bodyPr/>
          <a:lstStyle/>
          <a:p>
            <a:endParaRPr lang="en-US" smtClean="0">
              <a:ea typeface="ＭＳ Ｐゴシック"/>
            </a:endParaRPr>
          </a:p>
        </p:txBody>
      </p:sp>
      <p:sp>
        <p:nvSpPr>
          <p:cNvPr id="51204" name="Slide Number Placeholder 3"/>
          <p:cNvSpPr>
            <a:spLocks noGrp="1"/>
          </p:cNvSpPr>
          <p:nvPr>
            <p:ph type="sldNum" sz="quarter" idx="5"/>
          </p:nvPr>
        </p:nvSpPr>
        <p:spPr bwMode="auto">
          <a:noFill/>
          <a:ln>
            <a:miter lim="800000"/>
            <a:headEnd/>
            <a:tailEnd/>
          </a:ln>
        </p:spPr>
        <p:txBody>
          <a:bodyPr/>
          <a:lstStyle/>
          <a:p>
            <a:fld id="{1C4D0848-5651-4F3C-A3AB-D454CB29AB41}" type="slidenum">
              <a:rPr lang="en-US" smtClean="0">
                <a:latin typeface="Calibri" pitchFamily="34" charset="0"/>
                <a:ea typeface="ＭＳ Ｐゴシック"/>
                <a:cs typeface="ＭＳ Ｐゴシック"/>
              </a:rPr>
              <a:pPr/>
              <a:t>1</a:t>
            </a:fld>
            <a:endParaRPr lang="en-US" smtClean="0">
              <a:latin typeface="Calibri" pitchFamily="34" charset="0"/>
              <a:ea typeface="ＭＳ Ｐゴシック"/>
              <a:cs typeface="ＭＳ Ｐゴシック"/>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Deleuze uses the term 'becoming' (</a:t>
            </a:r>
            <a:r>
              <a:rPr lang="en-US" sz="1200" kern="1200" dirty="0" err="1" smtClean="0">
                <a:solidFill>
                  <a:schemeClr val="tx1"/>
                </a:solidFill>
                <a:effectLst/>
                <a:latin typeface="+mn-lt"/>
                <a:ea typeface="+mn-ea"/>
                <a:cs typeface="+mn-cs"/>
              </a:rPr>
              <a:t>devenir</a:t>
            </a:r>
            <a:r>
              <a:rPr lang="en-US" sz="1200" kern="1200" dirty="0" smtClean="0">
                <a:solidFill>
                  <a:schemeClr val="tx1"/>
                </a:solidFill>
                <a:effectLst/>
                <a:latin typeface="+mn-lt"/>
                <a:ea typeface="+mn-ea"/>
                <a:cs typeface="+mn-cs"/>
              </a:rPr>
              <a:t>) to describe the continual production (or 'return') of difference immanent within the constitution of events, whether physical or otherwise. Becoming is the pure movement evident in changes between particular events. This is n~ to say that becoming represents a phase between two states, or a range of terms or states through which something might pass on its journey to another state. Rather than a product, final or interim, becoming is the very dynamism of change, situated between heterogeneous terms and tending towards no particular goal or end-state. Becoming is most often conceived by comparing a start-point and an end-point and deducing the set of differences between them.</a:t>
            </a:r>
            <a:r>
              <a:rPr lang="en-US" dirty="0" smtClean="0">
                <a:effectLst/>
              </a:rPr>
              <a:t> </a:t>
            </a:r>
          </a:p>
          <a:p>
            <a:r>
              <a:rPr lang="en-US" sz="1200" kern="1200" dirty="0" smtClean="0">
                <a:solidFill>
                  <a:schemeClr val="tx1"/>
                </a:solidFill>
                <a:effectLst/>
                <a:latin typeface="+mn-lt"/>
                <a:ea typeface="+mn-ea"/>
                <a:cs typeface="+mn-cs"/>
              </a:rPr>
              <a:t>For him, becoming is neither merely an attribute of, nor an intermediary between events, but a characteristic of the l__ very production of events. It is not that the time of change exists between one event and another, but that every event is but a unique instant of production in a continual flow of changes evident in the cosmos. The only thing 'shared' by events is their having become different in the course of their production. The continual production of unique events entails a special kind of continuity: they are unified in their very becoming. It is not that becoming 'envelops' them (since their production is wholly immanent) but that becoming 'moves through' every event, such that each is simultaneously start-point, end-point and mid-point of an ongoing cycle of production. </a:t>
            </a:r>
            <a:r>
              <a:rPr lang="en-US" dirty="0" smtClean="0">
                <a:effectLst/>
              </a:rPr>
              <a:t> </a:t>
            </a:r>
            <a:endParaRPr lang="en-US" dirty="0"/>
          </a:p>
        </p:txBody>
      </p:sp>
      <p:sp>
        <p:nvSpPr>
          <p:cNvPr id="4" name="Slide Number Placeholder 3"/>
          <p:cNvSpPr>
            <a:spLocks noGrp="1"/>
          </p:cNvSpPr>
          <p:nvPr>
            <p:ph type="sldNum" sz="quarter" idx="10"/>
          </p:nvPr>
        </p:nvSpPr>
        <p:spPr/>
        <p:txBody>
          <a:bodyPr/>
          <a:lstStyle/>
          <a:p>
            <a:fld id="{73DFA363-69F9-7D40-9AD8-4B240D8D6123}" type="slidenum">
              <a:rPr lang="en-US" smtClean="0"/>
              <a:t>6</a:t>
            </a:fld>
            <a:endParaRPr lang="en-US"/>
          </a:p>
        </p:txBody>
      </p:sp>
    </p:spTree>
    <p:extLst>
      <p:ext uri="{BB962C8B-B14F-4D97-AF65-F5344CB8AC3E}">
        <p14:creationId xmlns:p14="http://schemas.microsoft.com/office/powerpoint/2010/main" val="411865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p:spPr>
      </p:sp>
      <p:sp>
        <p:nvSpPr>
          <p:cNvPr id="60419" name="Notes Placeholder 2"/>
          <p:cNvSpPr>
            <a:spLocks noGrp="1"/>
          </p:cNvSpPr>
          <p:nvPr>
            <p:ph type="body" idx="1"/>
          </p:nvPr>
        </p:nvSpPr>
        <p:spPr bwMode="auto">
          <a:noFill/>
        </p:spPr>
        <p:txBody>
          <a:bodyPr/>
          <a:lstStyle/>
          <a:p>
            <a:r>
              <a:rPr lang="en-US" smtClean="0"/>
              <a:t>popular uprising that began on Tuesday, 25 January 2011</a:t>
            </a:r>
            <a:endParaRPr lang="en-US" smtClean="0">
              <a:ea typeface="ＭＳ Ｐゴシック"/>
            </a:endParaRPr>
          </a:p>
        </p:txBody>
      </p:sp>
      <p:sp>
        <p:nvSpPr>
          <p:cNvPr id="60420" name="Slide Number Placeholder 3"/>
          <p:cNvSpPr>
            <a:spLocks noGrp="1"/>
          </p:cNvSpPr>
          <p:nvPr>
            <p:ph type="sldNum" sz="quarter" idx="5"/>
          </p:nvPr>
        </p:nvSpPr>
        <p:spPr bwMode="auto">
          <a:noFill/>
          <a:ln>
            <a:miter lim="800000"/>
            <a:headEnd/>
            <a:tailEnd/>
          </a:ln>
        </p:spPr>
        <p:txBody>
          <a:bodyPr/>
          <a:lstStyle/>
          <a:p>
            <a:fld id="{6A9FFAE0-B8F7-461A-99BA-9065551471DD}" type="slidenum">
              <a:rPr lang="en-US" smtClean="0">
                <a:latin typeface="Calibri" pitchFamily="34" charset="0"/>
                <a:ea typeface="ＭＳ Ｐゴシック"/>
                <a:cs typeface="ＭＳ Ｐゴシック"/>
              </a:rPr>
              <a:pPr/>
              <a:t>7</a:t>
            </a:fld>
            <a:endParaRPr lang="en-US" smtClean="0">
              <a:latin typeface="Calibri" pitchFamily="34" charset="0"/>
              <a:ea typeface="ＭＳ Ｐゴシック"/>
              <a:cs typeface="ＭＳ Ｐゴシック"/>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For Deleuze, the present is merely the productive moment of becoming, the moment correlating to the productive threshold of forces. As such, it represents the disjunction between a past in which forces have had some effect and a future in which new arrangements of forces will constitute new events. In other words, becoming per se is Deleuze's version of pure and empty time. Such a view of the world has important implications for concepts traditionally considered central to philosophy. It undercuts any Platonic theory that privileges being, originality and essence. For Deleuze, there is no world 'behind appearances', as it were. Instead of being about transitions that something initiates or goes through, Deleuze's theory holds that things and states are products of becoming. The human subject, for example, ought not to be conceived as a stable, rational individual, experiencing changes but remaining, principally, the same person. Rather, for Deleuze, one's self must be conceived as a constantly changing assemblage of forces, an epiphenomenon arising from chance confluences of languages, organisms, societies, expectations, laws and so on. </a:t>
            </a:r>
          </a:p>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For him, becoming is neither merely an attribute of, nor an intermediary between events, but a characteristic of the l__ very production of events. It is not that the time of change exists between one event and another, but that every event is but a unique instant of production in a continual flow of changes evident in the cosmos. The only thing 'shared' by events is their having become different in the course of their production. The continual production of unique events entails a special kind of continuity: they are unified in their very becoming. It is not that becoming 'envelops' them (since their production is wholly immanent) but that becoming 'moves through' every event, such that each is simultaneously start-point, end-point and mid-point of an ongoing cycle of production.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73DFA363-69F9-7D40-9AD8-4B240D8D6123}" type="slidenum">
              <a:rPr lang="en-US" smtClean="0"/>
              <a:t>12</a:t>
            </a:fld>
            <a:endParaRPr lang="en-US"/>
          </a:p>
        </p:txBody>
      </p:sp>
    </p:spTree>
    <p:extLst>
      <p:ext uri="{BB962C8B-B14F-4D97-AF65-F5344CB8AC3E}">
        <p14:creationId xmlns:p14="http://schemas.microsoft.com/office/powerpoint/2010/main" val="2811799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shot of that neat service that Egyptians were using to send voice messages to Twitter after the Internet was shut down</a:t>
            </a:r>
            <a:r>
              <a:rPr lang="en-US" baseline="0" dirty="0" smtClean="0"/>
              <a:t> on 28 Jan 2011.  Feb 2, 2011 it was restored- 5 days blackout.</a:t>
            </a:r>
            <a:endParaRPr lang="en-US" dirty="0"/>
          </a:p>
        </p:txBody>
      </p:sp>
      <p:sp>
        <p:nvSpPr>
          <p:cNvPr id="4" name="Slide Number Placeholder 3"/>
          <p:cNvSpPr>
            <a:spLocks noGrp="1"/>
          </p:cNvSpPr>
          <p:nvPr>
            <p:ph type="sldNum" sz="quarter" idx="10"/>
          </p:nvPr>
        </p:nvSpPr>
        <p:spPr/>
        <p:txBody>
          <a:bodyPr/>
          <a:lstStyle/>
          <a:p>
            <a:pPr>
              <a:defRPr/>
            </a:pPr>
            <a:fld id="{5D8565E5-52ED-43E9-9CEA-86BBF1F90557}" type="slidenum">
              <a:rPr lang="en-US" smtClean="0"/>
              <a:pPr>
                <a:defRPr/>
              </a:pPr>
              <a:t>19</a:t>
            </a:fld>
            <a:endParaRPr lang="en-US"/>
          </a:p>
        </p:txBody>
      </p:sp>
    </p:spTree>
    <p:extLst>
      <p:ext uri="{BB962C8B-B14F-4D97-AF65-F5344CB8AC3E}">
        <p14:creationId xmlns:p14="http://schemas.microsoft.com/office/powerpoint/2010/main" val="17138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Mubarak resigns11  </a:t>
            </a:r>
            <a:r>
              <a:rPr lang="en-US" dirty="0" err="1" smtClean="0"/>
              <a:t>feb</a:t>
            </a:r>
            <a:r>
              <a:rPr lang="en-US" dirty="0" smtClean="0"/>
              <a:t> 2011</a:t>
            </a:r>
            <a:endParaRPr lang="en-US" dirty="0"/>
          </a:p>
        </p:txBody>
      </p:sp>
      <p:sp>
        <p:nvSpPr>
          <p:cNvPr id="4" name="Slide Number Placeholder 3"/>
          <p:cNvSpPr>
            <a:spLocks noGrp="1"/>
          </p:cNvSpPr>
          <p:nvPr>
            <p:ph type="sldNum" sz="quarter" idx="10"/>
          </p:nvPr>
        </p:nvSpPr>
        <p:spPr/>
        <p:txBody>
          <a:bodyPr/>
          <a:lstStyle/>
          <a:p>
            <a:pPr>
              <a:defRPr/>
            </a:pPr>
            <a:fld id="{5D8565E5-52ED-43E9-9CEA-86BBF1F90557}" type="slidenum">
              <a:rPr lang="en-US" smtClean="0"/>
              <a:pPr>
                <a:defRPr/>
              </a:pPr>
              <a:t>20</a:t>
            </a:fld>
            <a:endParaRPr lang="en-US"/>
          </a:p>
        </p:txBody>
      </p:sp>
    </p:spTree>
    <p:extLst>
      <p:ext uri="{BB962C8B-B14F-4D97-AF65-F5344CB8AC3E}">
        <p14:creationId xmlns:p14="http://schemas.microsoft.com/office/powerpoint/2010/main" val="3021824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3DFA363-69F9-7D40-9AD8-4B240D8D6123}" type="slidenum">
              <a:rPr lang="en-US" smtClean="0"/>
              <a:t>24</a:t>
            </a:fld>
            <a:endParaRPr lang="en-US"/>
          </a:p>
        </p:txBody>
      </p:sp>
    </p:spTree>
    <p:extLst>
      <p:ext uri="{BB962C8B-B14F-4D97-AF65-F5344CB8AC3E}">
        <p14:creationId xmlns:p14="http://schemas.microsoft.com/office/powerpoint/2010/main" val="3623892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Ikhwan</a:t>
            </a:r>
            <a:r>
              <a:rPr lang="en-US" dirty="0" smtClean="0"/>
              <a:t> means brother</a:t>
            </a:r>
            <a:endParaRPr lang="en-US" dirty="0"/>
          </a:p>
        </p:txBody>
      </p:sp>
      <p:sp>
        <p:nvSpPr>
          <p:cNvPr id="4" name="Slide Number Placeholder 3"/>
          <p:cNvSpPr>
            <a:spLocks noGrp="1"/>
          </p:cNvSpPr>
          <p:nvPr>
            <p:ph type="sldNum" sz="quarter" idx="10"/>
          </p:nvPr>
        </p:nvSpPr>
        <p:spPr/>
        <p:txBody>
          <a:bodyPr/>
          <a:lstStyle/>
          <a:p>
            <a:fld id="{73DFA363-69F9-7D40-9AD8-4B240D8D6123}" type="slidenum">
              <a:rPr lang="en-US" smtClean="0"/>
              <a:t>26</a:t>
            </a:fld>
            <a:endParaRPr lang="en-US"/>
          </a:p>
        </p:txBody>
      </p:sp>
    </p:spTree>
    <p:extLst>
      <p:ext uri="{BB962C8B-B14F-4D97-AF65-F5344CB8AC3E}">
        <p14:creationId xmlns:p14="http://schemas.microsoft.com/office/powerpoint/2010/main" val="30895068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u="sng" kern="1200" dirty="0" smtClean="0">
                <a:solidFill>
                  <a:schemeClr val="tx1"/>
                </a:solidFill>
                <a:effectLst/>
                <a:latin typeface="+mn-lt"/>
                <a:ea typeface="ＭＳ Ｐゴシック" charset="-128"/>
                <a:cs typeface="ＭＳ Ｐゴシック"/>
                <a:hlinkClick r:id="rId3"/>
              </a:rPr>
              <a:t>We are all Essam Atta</a:t>
            </a:r>
            <a:r>
              <a:rPr lang="en-US" dirty="0" smtClean="0">
                <a:effectLst/>
              </a:rPr>
              <a:t>    </a:t>
            </a:r>
            <a:r>
              <a:rPr lang="en-US" dirty="0" err="1" smtClean="0">
                <a:effectLst/>
              </a:rPr>
              <a:t>weareall</a:t>
            </a:r>
            <a:r>
              <a:rPr lang="en-US" dirty="0" smtClean="0">
                <a:effectLst/>
              </a:rPr>
              <a:t> </a:t>
            </a:r>
            <a:r>
              <a:rPr lang="en-US" dirty="0" err="1" smtClean="0">
                <a:effectLst/>
              </a:rPr>
              <a:t>Kalid</a:t>
            </a:r>
            <a:r>
              <a:rPr lang="en-US" dirty="0" smtClean="0">
                <a:effectLst/>
              </a:rPr>
              <a:t> Said FB</a:t>
            </a:r>
            <a:r>
              <a:rPr lang="en-US" baseline="0" dirty="0" smtClean="0">
                <a:effectLst/>
              </a:rPr>
              <a:t> pages</a:t>
            </a:r>
            <a:endParaRPr lang="en-US" dirty="0"/>
          </a:p>
        </p:txBody>
      </p:sp>
      <p:sp>
        <p:nvSpPr>
          <p:cNvPr id="4" name="Slide Number Placeholder 3"/>
          <p:cNvSpPr>
            <a:spLocks noGrp="1"/>
          </p:cNvSpPr>
          <p:nvPr>
            <p:ph type="sldNum" sz="quarter" idx="10"/>
          </p:nvPr>
        </p:nvSpPr>
        <p:spPr/>
        <p:txBody>
          <a:bodyPr/>
          <a:lstStyle/>
          <a:p>
            <a:pPr>
              <a:defRPr/>
            </a:pPr>
            <a:fld id="{5D8565E5-52ED-43E9-9CEA-86BBF1F90557}" type="slidenum">
              <a:rPr lang="en-US" smtClean="0"/>
              <a:pPr>
                <a:defRPr/>
              </a:pPr>
              <a:t>28</a:t>
            </a:fld>
            <a:endParaRPr lang="en-US"/>
          </a:p>
        </p:txBody>
      </p:sp>
    </p:spTree>
    <p:extLst>
      <p:ext uri="{BB962C8B-B14F-4D97-AF65-F5344CB8AC3E}">
        <p14:creationId xmlns:p14="http://schemas.microsoft.com/office/powerpoint/2010/main" val="2488931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Gilles </a:t>
            </a:r>
            <a:r>
              <a:rPr lang="en-US" dirty="0" err="1" smtClean="0"/>
              <a:t>Deleuze</a:t>
            </a:r>
            <a:r>
              <a:rPr lang="en-US" dirty="0" smtClean="0"/>
              <a:t> introduces the idea of humans as “</a:t>
            </a:r>
            <a:r>
              <a:rPr lang="en-US" dirty="0" err="1" smtClean="0"/>
              <a:t>dividuals</a:t>
            </a:r>
            <a:r>
              <a:rPr lang="en-US" dirty="0" smtClean="0"/>
              <a:t>,” entities comprised of multiple parcels of data that can be bought, sold, and traded in the new marketplace. In previous centuries, the individual was “one of many,” a member of a larger mass. Today’s </a:t>
            </a:r>
            <a:r>
              <a:rPr lang="en-US" dirty="0" err="1" smtClean="0"/>
              <a:t>dividual</a:t>
            </a:r>
            <a:r>
              <a:rPr lang="en-US" dirty="0" smtClean="0"/>
              <a:t> is known by his password, a code that can grant or restrict access to information</a:t>
            </a:r>
            <a:r>
              <a:rPr lang="en-US" b="1" baseline="30000" dirty="0" smtClean="0"/>
              <a:t>1</a:t>
            </a:r>
            <a:r>
              <a:rPr lang="en-US" dirty="0" smtClean="0"/>
              <a:t>. This new conceptualization recasts the each of us as a user, an aggregate of recorded preferences, histories, and proclivities. Every interaction with the market is thus mediated by the password: the human existence is constantly reconfigured in accordance to the user’s associated dataset. </a:t>
            </a:r>
            <a:endParaRPr lang="en-US" dirty="0"/>
          </a:p>
        </p:txBody>
      </p:sp>
      <p:sp>
        <p:nvSpPr>
          <p:cNvPr id="4" name="Slide Number Placeholder 3"/>
          <p:cNvSpPr>
            <a:spLocks noGrp="1"/>
          </p:cNvSpPr>
          <p:nvPr>
            <p:ph type="sldNum" sz="quarter" idx="10"/>
          </p:nvPr>
        </p:nvSpPr>
        <p:spPr/>
        <p:txBody>
          <a:bodyPr/>
          <a:lstStyle/>
          <a:p>
            <a:pPr>
              <a:defRPr/>
            </a:pPr>
            <a:fld id="{5D8565E5-52ED-43E9-9CEA-86BBF1F90557}" type="slidenum">
              <a:rPr lang="en-US" smtClean="0"/>
              <a:pPr>
                <a:defRPr/>
              </a:pPr>
              <a:t>32</a:t>
            </a:fld>
            <a:endParaRPr lang="en-US"/>
          </a:p>
        </p:txBody>
      </p:sp>
    </p:spTree>
    <p:extLst>
      <p:ext uri="{BB962C8B-B14F-4D97-AF65-F5344CB8AC3E}">
        <p14:creationId xmlns:p14="http://schemas.microsoft.com/office/powerpoint/2010/main" val="614515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ＭＳ Ｐゴシック" charset="-128"/>
                <a:cs typeface="ＭＳ Ｐゴシック"/>
              </a:rPr>
              <a:t>"[The] archaeological level -- the level of what made [an event or a situation] possible." (The</a:t>
            </a:r>
          </a:p>
          <a:p>
            <a:r>
              <a:rPr lang="en-US" sz="1200" b="0" i="0" u="none" strike="noStrike" kern="1200" baseline="0" dirty="0" smtClean="0">
                <a:solidFill>
                  <a:schemeClr val="tx1"/>
                </a:solidFill>
                <a:latin typeface="+mn-lt"/>
                <a:ea typeface="ＭＳ Ｐゴシック" charset="-128"/>
                <a:cs typeface="ＭＳ Ｐゴシック"/>
              </a:rPr>
              <a:t>Order of Things, p.31)</a:t>
            </a:r>
            <a:endParaRPr lang="en-US" dirty="0"/>
          </a:p>
        </p:txBody>
      </p:sp>
      <p:sp>
        <p:nvSpPr>
          <p:cNvPr id="4" name="Slide Number Placeholder 3"/>
          <p:cNvSpPr>
            <a:spLocks noGrp="1"/>
          </p:cNvSpPr>
          <p:nvPr>
            <p:ph type="sldNum" sz="quarter" idx="10"/>
          </p:nvPr>
        </p:nvSpPr>
        <p:spPr/>
        <p:txBody>
          <a:bodyPr/>
          <a:lstStyle/>
          <a:p>
            <a:pPr>
              <a:defRPr/>
            </a:pPr>
            <a:fld id="{5D8565E5-52ED-43E9-9CEA-86BBF1F90557}" type="slidenum">
              <a:rPr lang="en-US" smtClean="0"/>
              <a:pPr>
                <a:defRPr/>
              </a:pPr>
              <a:t>46</a:t>
            </a:fld>
            <a:endParaRPr lang="en-US"/>
          </a:p>
        </p:txBody>
      </p:sp>
    </p:spTree>
    <p:extLst>
      <p:ext uri="{BB962C8B-B14F-4D97-AF65-F5344CB8AC3E}">
        <p14:creationId xmlns:p14="http://schemas.microsoft.com/office/powerpoint/2010/main" val="978703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effectLst/>
                <a:latin typeface="+mn-lt"/>
                <a:ea typeface="ＭＳ Ｐゴシック" charset="-128"/>
                <a:cs typeface="ＭＳ Ｐゴシック"/>
              </a:rPr>
              <a:t>the Suez Canal was the central route for oil tankers moving oil from the Arabian Gulf oil fields to Europe. In fact, I would expect, at that time at least, it was the majority of Europe's oil would've been traveling through the Suez. So it had enormous strategic interests for England and France, but also for the United States, who wants to start to control the world by controlling the Middle East oil supply.</a:t>
            </a:r>
          </a:p>
          <a:p>
            <a:endParaRPr lang="en-US" dirty="0"/>
          </a:p>
        </p:txBody>
      </p:sp>
      <p:sp>
        <p:nvSpPr>
          <p:cNvPr id="4" name="Slide Number Placeholder 3"/>
          <p:cNvSpPr>
            <a:spLocks noGrp="1"/>
          </p:cNvSpPr>
          <p:nvPr>
            <p:ph type="sldNum" sz="quarter" idx="10"/>
          </p:nvPr>
        </p:nvSpPr>
        <p:spPr/>
        <p:txBody>
          <a:bodyPr/>
          <a:lstStyle/>
          <a:p>
            <a:pPr>
              <a:defRPr/>
            </a:pPr>
            <a:fld id="{5D8565E5-52ED-43E9-9CEA-86BBF1F90557}" type="slidenum">
              <a:rPr lang="en-US" smtClean="0"/>
              <a:pPr>
                <a:defRPr/>
              </a:pPr>
              <a:t>47</a:t>
            </a:fld>
            <a:endParaRPr lang="en-US"/>
          </a:p>
        </p:txBody>
      </p:sp>
    </p:spTree>
    <p:extLst>
      <p:ext uri="{BB962C8B-B14F-4D97-AF65-F5344CB8AC3E}">
        <p14:creationId xmlns:p14="http://schemas.microsoft.com/office/powerpoint/2010/main" val="4175675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p:spPr>
      </p:sp>
      <p:sp>
        <p:nvSpPr>
          <p:cNvPr id="59395" name="Notes Placeholder 2"/>
          <p:cNvSpPr>
            <a:spLocks noGrp="1"/>
          </p:cNvSpPr>
          <p:nvPr>
            <p:ph type="body" idx="1"/>
          </p:nvPr>
        </p:nvSpPr>
        <p:spPr bwMode="auto">
          <a:noFill/>
        </p:spPr>
        <p:txBody>
          <a:bodyPr/>
          <a:lstStyle/>
          <a:p>
            <a:pPr eaLnBrk="1" hangingPunct="1">
              <a:spcBef>
                <a:spcPct val="0"/>
              </a:spcBef>
            </a:pPr>
            <a:r>
              <a:rPr lang="en-US" smtClean="0">
                <a:ea typeface="ＭＳ Ｐゴシック"/>
              </a:rPr>
              <a:t>Pierre Bourdieu, refer to as a "re-membering" of the body. In such contexts, "attempts to remake habit tend to treat the body as a `memory' in which are lodged, in mnemonic form, the organizing principles of an embracing context. Scrambling this code (that is, erasing the messages carried in banal physical practice) is a prerequisite for retraining the memory, either to deschool the deviant or to shape new subjects, as the bearers of new worlds" (Comaroff and Comaroff 1992:70). </a:t>
            </a:r>
          </a:p>
          <a:p>
            <a:pPr eaLnBrk="1" hangingPunct="1">
              <a:spcBef>
                <a:spcPct val="0"/>
              </a:spcBef>
            </a:pPr>
            <a:r>
              <a:rPr lang="en-US" smtClean="0">
                <a:ea typeface="ＭＳ Ｐゴシック"/>
              </a:rPr>
              <a:t>Taussig (1992:84), like the Comaroffs (1991:62), points out that colonization tends to bring with it pressures for a new kind of person; one that will be amenable to the modernizing forms of discipline required for life within a very different social milieu than the kind that previously existed. "At its core was the modernist self: the familiar figure of the right-bearing, responsible, `free' individual whose very condition of possibility was the nation-state itself" (Comaroff and Comaroff 1997:365). Pressures for the creation of a modern self were neither one sided nor limited to situations of colonization; they were exerted against both peasants and the newly emerging working class in Europe (Frykman and Lofgren 1987) and rebounded from these colonial and noncolonial "others" to affect the consciousness of the European middle classes themselves. That is, the European middle classes were fashioning their conceptions of modern life at home at the same time as they were trying to create it elsewhere (Frykman and Lofgren 1987; Comaroff and Comaroff 1997). </a:t>
            </a:r>
          </a:p>
        </p:txBody>
      </p:sp>
      <p:sp>
        <p:nvSpPr>
          <p:cNvPr id="59396" name="Slide Number Placeholder 3"/>
          <p:cNvSpPr>
            <a:spLocks noGrp="1"/>
          </p:cNvSpPr>
          <p:nvPr>
            <p:ph type="sldNum" sz="quarter" idx="5"/>
          </p:nvPr>
        </p:nvSpPr>
        <p:spPr bwMode="auto">
          <a:noFill/>
          <a:ln>
            <a:miter lim="800000"/>
            <a:headEnd/>
            <a:tailEnd/>
          </a:ln>
        </p:spPr>
        <p:txBody>
          <a:bodyPr/>
          <a:lstStyle/>
          <a:p>
            <a:fld id="{24DF56A6-0A37-4A0B-922D-AFEB1D15B951}" type="slidenum">
              <a:rPr lang="en-US" smtClean="0">
                <a:latin typeface="Calibri" pitchFamily="34" charset="0"/>
                <a:ea typeface="ＭＳ Ｐゴシック"/>
                <a:cs typeface="ＭＳ Ｐゴシック"/>
              </a:rPr>
              <a:pPr/>
              <a:t>50</a:t>
            </a:fld>
            <a:endParaRPr lang="en-US" smtClean="0">
              <a:latin typeface="Calibri" pitchFamily="34" charset="0"/>
              <a:ea typeface="ＭＳ Ｐゴシック"/>
              <a:cs typeface="ＭＳ Ｐゴシック"/>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3DFA363-69F9-7D40-9AD8-4B240D8D6123}" type="slidenum">
              <a:rPr lang="en-US" smtClean="0"/>
              <a:t>52</a:t>
            </a:fld>
            <a:endParaRPr lang="en-US"/>
          </a:p>
        </p:txBody>
      </p:sp>
    </p:spTree>
    <p:extLst>
      <p:ext uri="{BB962C8B-B14F-4D97-AF65-F5344CB8AC3E}">
        <p14:creationId xmlns:p14="http://schemas.microsoft.com/office/powerpoint/2010/main" val="882619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bwMode="ltGray">
          <a:xfrm>
            <a:off x="0" y="0"/>
            <a:ext cx="9144000" cy="513556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128"/>
            </a:endParaRPr>
          </a:p>
        </p:txBody>
      </p:sp>
      <p:sp>
        <p:nvSpPr>
          <p:cNvPr id="5" name="Rectangle 4"/>
          <p:cNvSpPr>
            <a:spLocks noChangeArrowheads="1"/>
          </p:cNvSpPr>
          <p:nvPr/>
        </p:nvSpPr>
        <p:spPr bwMode="invGray">
          <a:xfrm>
            <a:off x="0" y="5127625"/>
            <a:ext cx="9144000" cy="46038"/>
          </a:xfrm>
          <a:prstGeom prst="rect">
            <a:avLst/>
          </a:prstGeom>
          <a:solidFill>
            <a:srgbClr val="FFFFFF"/>
          </a:solidFill>
          <a:ln w="48000" cmpd="thickThin">
            <a:noFill/>
            <a:miter lim="800000"/>
            <a:headEnd/>
            <a:tailEnd/>
          </a:ln>
          <a:effectLst>
            <a:outerShdw dist="10160" dir="5400000" algn="tl" rotWithShape="0">
              <a:srgbClr val="808080">
                <a:alpha val="59999"/>
              </a:srgbClr>
            </a:outerShdw>
          </a:effectLst>
        </p:spPr>
        <p:txBody>
          <a:bodyPr anchor="ctr"/>
          <a:lstStyle/>
          <a:p>
            <a:pPr algn="ctr">
              <a:defRPr/>
            </a:pPr>
            <a:endParaRPr lang="en-US">
              <a:solidFill>
                <a:srgbClr val="FFFFFF"/>
              </a:solidFill>
              <a:latin typeface="Corbel" charset="0"/>
              <a:ea typeface="ＭＳ Ｐゴシック" charset="-128"/>
              <a:cs typeface="+mn-cs"/>
            </a:endParaRPr>
          </a:p>
        </p:txBody>
      </p:sp>
      <p:sp>
        <p:nvSpPr>
          <p:cNvPr id="2" name="Title 1"/>
          <p:cNvSpPr>
            <a:spLocks noGrp="1"/>
          </p:cNvSpPr>
          <p:nvPr>
            <p:ph type="ctrTitle"/>
          </p:nvPr>
        </p:nvSpPr>
        <p:spPr>
          <a:xfrm>
            <a:off x="685800" y="3355848"/>
            <a:ext cx="8077200" cy="1673352"/>
          </a:xfrm>
        </p:spPr>
        <p:txBody>
          <a:bodyPr tIns="0" bIns="0" rtlCol="0" anchor="t">
            <a:scene3d>
              <a:camera prst="orthographicFront"/>
              <a:lightRig rig="threePt" dir="t">
                <a:rot lat="0" lon="0" rev="4800000"/>
              </a:lightRig>
            </a:scene3d>
            <a:sp3d prstMaterial="matte">
              <a:bevelT w="50800" h="10160"/>
            </a:sp3d>
          </a:bodyPr>
          <a:lstStyle>
            <a:lvl1pPr algn="l">
              <a:defRPr sz="4700" b="1"/>
            </a:lvl1pPr>
          </a:lstStyle>
          <a:p>
            <a:r>
              <a:rPr lang="en-CA" smtClean="0"/>
              <a:t>Click to edit Master title style</a:t>
            </a:r>
            <a:endParaRPr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smtClean="0"/>
              <a:t>Click to edit Master subtitle style</a:t>
            </a:r>
            <a:endParaRPr lang="en-US"/>
          </a:p>
        </p:txBody>
      </p:sp>
      <p:sp>
        <p:nvSpPr>
          <p:cNvPr id="6" name="Date Placeholder 3"/>
          <p:cNvSpPr>
            <a:spLocks noGrp="1"/>
          </p:cNvSpPr>
          <p:nvPr>
            <p:ph type="dt" sz="half" idx="10"/>
          </p:nvPr>
        </p:nvSpPr>
        <p:spPr/>
        <p:txBody>
          <a:bodyPr/>
          <a:lstStyle>
            <a:lvl1pPr>
              <a:defRPr/>
            </a:lvl1pPr>
          </a:lstStyle>
          <a:p>
            <a:pPr>
              <a:defRPr/>
            </a:pPr>
            <a:fld id="{9D50E3F0-3D28-4E05-BC2E-EC8DB6FAD40B}" type="datetime1">
              <a:rPr lang="en-US"/>
              <a:pPr>
                <a:defRPr/>
              </a:pPr>
              <a:t>12-07-24</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
              </a:t>
            </a:r>
          </a:p>
        </p:txBody>
      </p:sp>
      <p:sp>
        <p:nvSpPr>
          <p:cNvPr id="8" name="Slide Number Placeholder 5"/>
          <p:cNvSpPr>
            <a:spLocks noGrp="1"/>
          </p:cNvSpPr>
          <p:nvPr>
            <p:ph type="sldNum" sz="quarter" idx="12"/>
          </p:nvPr>
        </p:nvSpPr>
        <p:spPr/>
        <p:txBody>
          <a:bodyPr/>
          <a:lstStyle>
            <a:lvl1pPr>
              <a:defRPr/>
            </a:lvl1pPr>
          </a:lstStyle>
          <a:p>
            <a:pPr>
              <a:defRPr/>
            </a:pPr>
            <a:fld id="{1218F75A-A3A0-474C-9F55-BF398C94737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lang="en-CA" smtClean="0"/>
              <a:t>Click to edit Master title style</a:t>
            </a:r>
            <a:endParaRPr lang="en-US"/>
          </a:p>
        </p:txBody>
      </p:sp>
      <p:sp>
        <p:nvSpPr>
          <p:cNvPr id="3" name="Content Placeholder 2"/>
          <p:cNvSpPr>
            <a:spLocks noGrp="1"/>
          </p:cNvSpPr>
          <p:nvPr>
            <p:ph idx="1"/>
          </p:nvPr>
        </p:nvSpPr>
        <p:spPr/>
        <p:txBody>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32918D7A-AC4C-4D3B-8917-1165440E0C85}" type="datetime1">
              <a:rPr lang="en-US"/>
              <a:pPr>
                <a:defRPr/>
              </a:pPr>
              <a:t>12-07-24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27CF26B-C922-4A1F-AE7E-5E408C77F9E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bwMode="ltGray">
          <a:xfrm>
            <a:off x="0" y="0"/>
            <a:ext cx="9144000" cy="260191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128"/>
            </a:endParaRPr>
          </a:p>
        </p:txBody>
      </p:sp>
      <p:sp>
        <p:nvSpPr>
          <p:cNvPr id="5" name="Rectangle 4"/>
          <p:cNvSpPr>
            <a:spLocks noChangeArrowheads="1"/>
          </p:cNvSpPr>
          <p:nvPr/>
        </p:nvSpPr>
        <p:spPr bwMode="invGray">
          <a:xfrm>
            <a:off x="0" y="2601913"/>
            <a:ext cx="9144000" cy="46037"/>
          </a:xfrm>
          <a:prstGeom prst="rect">
            <a:avLst/>
          </a:prstGeom>
          <a:solidFill>
            <a:srgbClr val="FFFFFF"/>
          </a:solidFill>
          <a:ln w="48000" cmpd="thickThin">
            <a:noFill/>
            <a:miter lim="800000"/>
            <a:headEnd/>
            <a:tailEnd/>
          </a:ln>
          <a:effectLst>
            <a:outerShdw dist="10160" dir="5400000" algn="tl" rotWithShape="0">
              <a:srgbClr val="808080">
                <a:alpha val="59999"/>
              </a:srgbClr>
            </a:outerShdw>
          </a:effectLst>
        </p:spPr>
        <p:txBody>
          <a:bodyPr anchor="ctr"/>
          <a:lstStyle/>
          <a:p>
            <a:pPr algn="ctr">
              <a:defRPr/>
            </a:pPr>
            <a:endParaRPr lang="en-US">
              <a:solidFill>
                <a:srgbClr val="FFFFFF"/>
              </a:solidFill>
              <a:latin typeface="Corbel" charset="0"/>
              <a:ea typeface="ＭＳ Ｐゴシック" charset="-128"/>
              <a:cs typeface="+mn-cs"/>
            </a:endParaRPr>
          </a:p>
        </p:txBody>
      </p:sp>
      <p:sp>
        <p:nvSpPr>
          <p:cNvPr id="2" name="Title 1"/>
          <p:cNvSpPr>
            <a:spLocks noGrp="1"/>
          </p:cNvSpPr>
          <p:nvPr>
            <p:ph type="title"/>
          </p:nvPr>
        </p:nvSpPr>
        <p:spPr>
          <a:xfrm>
            <a:off x="749808" y="118872"/>
            <a:ext cx="8013192" cy="1636776"/>
          </a:xfrm>
        </p:spPr>
        <p:txBody>
          <a:bodyPr tIns="0" rIns="91440" bIns="0" rtlCol="0" anchor="b">
            <a:scene3d>
              <a:camera prst="orthographicFront"/>
              <a:lightRig rig="threePt" dir="t">
                <a:rot lat="0" lon="0" rev="4800000"/>
              </a:lightRig>
            </a:scene3d>
            <a:sp3d prstMaterial="matte">
              <a:bevelT w="50800" h="10160"/>
            </a:sp3d>
          </a:bodyPr>
          <a:lstStyle>
            <a:lvl1pPr algn="l">
              <a:defRPr sz="4700" b="1" cap="none" baseline="0"/>
            </a:lvl1pPr>
          </a:lstStyle>
          <a:p>
            <a:r>
              <a:rPr lang="en-CA" smtClean="0"/>
              <a:t>Click to edit Master title style</a:t>
            </a:r>
            <a:endParaRPr lang="en-US"/>
          </a:p>
        </p:txBody>
      </p:sp>
      <p:sp>
        <p:nvSpPr>
          <p:cNvPr id="3" name="Text Placeholder 2"/>
          <p:cNvSpPr>
            <a:spLocks noGrp="1"/>
          </p:cNvSpPr>
          <p:nvPr>
            <p:ph type="body" idx="1"/>
          </p:nvPr>
        </p:nvSpPr>
        <p:spPr>
          <a:xfrm>
            <a:off x="740664" y="1828800"/>
            <a:ext cx="8022336" cy="685800"/>
          </a:xfrm>
        </p:spPr>
        <p:txBody>
          <a:bodyPr lIns="146304" tIns="0" rIns="45720" bIns="0"/>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CA" smtClean="0"/>
              <a:t>Click to edit Master text styles</a:t>
            </a:r>
          </a:p>
        </p:txBody>
      </p:sp>
      <p:sp>
        <p:nvSpPr>
          <p:cNvPr id="6" name="Date Placeholder 3"/>
          <p:cNvSpPr>
            <a:spLocks noGrp="1"/>
          </p:cNvSpPr>
          <p:nvPr>
            <p:ph type="dt" sz="half" idx="10"/>
          </p:nvPr>
        </p:nvSpPr>
        <p:spPr/>
        <p:txBody>
          <a:bodyPr/>
          <a:lstStyle>
            <a:lvl1pPr>
              <a:defRPr/>
            </a:lvl1pPr>
          </a:lstStyle>
          <a:p>
            <a:pPr>
              <a:defRPr/>
            </a:pPr>
            <a:fld id="{AC3E06C5-E14C-4DA5-8B6D-017151B25A98}" type="datetime1">
              <a:rPr lang="en-US"/>
              <a:pPr>
                <a:defRPr/>
              </a:pPr>
              <a:t>12-07-24</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
              </a:t>
            </a:r>
          </a:p>
        </p:txBody>
      </p:sp>
      <p:sp>
        <p:nvSpPr>
          <p:cNvPr id="8" name="Slide Number Placeholder 5"/>
          <p:cNvSpPr>
            <a:spLocks noGrp="1"/>
          </p:cNvSpPr>
          <p:nvPr>
            <p:ph type="sldNum" sz="quarter" idx="12"/>
          </p:nvPr>
        </p:nvSpPr>
        <p:spPr/>
        <p:txBody>
          <a:bodyPr/>
          <a:lstStyle>
            <a:lvl1pPr>
              <a:defRPr/>
            </a:lvl1pPr>
          </a:lstStyle>
          <a:p>
            <a:pPr>
              <a:defRPr/>
            </a:pPr>
            <a:fld id="{04439DCC-E972-4FB0-B180-0438F542774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291AD0D8-25CE-42E0-BB97-7842E03311BC}" type="datetime1">
              <a:rPr lang="en-US"/>
              <a:pPr>
                <a:defRPr/>
              </a:pPr>
              <a:t>12-07-24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5A82E21-9849-474A-AF4D-BE293D4D4D5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CA" smtClean="0"/>
              <a:t>Click to edit Master title style</a:t>
            </a:r>
            <a:endParaRPr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3E6CC63E-99DE-4F32-87F2-C70CCC4269CB}" type="datetime1">
              <a:rPr lang="en-US"/>
              <a:pPr>
                <a:defRPr/>
              </a:pPr>
              <a:t>12-07-24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3E2807E1-48AB-40A6-92A1-3DE26DCDDB6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2883166D-82DD-4C09-9D71-576270E7659B}" type="datetime1">
              <a:rPr lang="en-US"/>
              <a:pPr>
                <a:defRPr/>
              </a:pPr>
              <a:t>12-07-24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E7163B4F-A1D8-4096-9572-C00F6C59DD2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7EB9A006-D29D-47A4-BE9D-A7F14B3D1ECA}" type="datetime1">
              <a:rPr lang="en-US"/>
              <a:pPr>
                <a:defRPr/>
              </a:pPr>
              <a:t>12-07-24</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p:txBody>
          <a:bodyPr/>
          <a:lstStyle>
            <a:lvl1pPr>
              <a:defRPr/>
            </a:lvl1pPr>
          </a:lstStyle>
          <a:p>
            <a:pPr>
              <a:defRPr/>
            </a:pPr>
            <a:fld id="{6F887A10-8856-4BD1-A468-0B3A7DDAB985}"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bwMode="invGray">
          <a:xfrm>
            <a:off x="2855913" y="0"/>
            <a:ext cx="46037" cy="145415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128"/>
            </a:endParaRPr>
          </a:p>
        </p:txBody>
      </p:sp>
      <p:sp>
        <p:nvSpPr>
          <p:cNvPr id="6" name="Rectangle 5"/>
          <p:cNvSpPr/>
          <p:nvPr/>
        </p:nvSpPr>
        <p:spPr bwMode="invGray">
          <a:xfrm>
            <a:off x="2855913" y="0"/>
            <a:ext cx="46037" cy="145415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128"/>
            </a:endParaRPr>
          </a:p>
        </p:txBody>
      </p:sp>
      <p:sp>
        <p:nvSpPr>
          <p:cNvPr id="2" name="Title 1"/>
          <p:cNvSpPr>
            <a:spLocks noGrp="1"/>
          </p:cNvSpPr>
          <p:nvPr>
            <p:ph type="title"/>
          </p:nvPr>
        </p:nvSpPr>
        <p:spPr>
          <a:xfrm>
            <a:off x="167838" y="152400"/>
            <a:ext cx="2523744" cy="978408"/>
          </a:xfrm>
        </p:spPr>
        <p:txBody>
          <a:bodyPr lIns="73152" bIns="0" rtlCol="0" anchor="b">
            <a:sp3d prstMaterial="matte"/>
          </a:bodyPr>
          <a:lstStyle>
            <a:lvl1pPr algn="l">
              <a:defRPr sz="2000" b="0"/>
            </a:lvl1pPr>
          </a:lstStyle>
          <a:p>
            <a:r>
              <a:rPr lang="en-CA" smtClean="0"/>
              <a:t>Click to edit Master title style</a:t>
            </a:r>
            <a:endParaRPr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7" name="Date Placeholder 4"/>
          <p:cNvSpPr>
            <a:spLocks noGrp="1"/>
          </p:cNvSpPr>
          <p:nvPr>
            <p:ph type="dt" sz="half" idx="10"/>
          </p:nvPr>
        </p:nvSpPr>
        <p:spPr/>
        <p:txBody>
          <a:bodyPr/>
          <a:lstStyle>
            <a:lvl1pPr>
              <a:defRPr/>
            </a:lvl1pPr>
          </a:lstStyle>
          <a:p>
            <a:pPr>
              <a:defRPr/>
            </a:pPr>
            <a:fld id="{0AD7E814-6BA9-48FB-B374-81E70E0A8F10}" type="datetime1">
              <a:rPr lang="en-US"/>
              <a:pPr>
                <a:defRPr/>
              </a:pPr>
              <a:t>12-07-24</a:t>
            </a:fld>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F417FEEF-68F2-4C89-989C-7EF4DDEF4B8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2855913" y="0"/>
            <a:ext cx="46037"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128"/>
            </a:endParaRPr>
          </a:p>
        </p:txBody>
      </p:sp>
      <p:sp>
        <p:nvSpPr>
          <p:cNvPr id="6" name="Rectangle 5"/>
          <p:cNvSpPr/>
          <p:nvPr/>
        </p:nvSpPr>
        <p:spPr bwMode="invGray">
          <a:xfrm>
            <a:off x="2855913" y="0"/>
            <a:ext cx="46037"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128"/>
            </a:endParaRPr>
          </a:p>
        </p:txBody>
      </p:sp>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lstStyle>
          <a:p>
            <a:r>
              <a:rPr lang="en-CA" smtClean="0"/>
              <a:t>Click to edit Master title style</a:t>
            </a:r>
            <a:endParaRPr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CA" noProof="0" smtClean="0"/>
              <a:t>Click icon to add picture</a:t>
            </a:r>
            <a:endParaRPr lang="en-US" noProof="0"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7" name="Date Placeholder 4"/>
          <p:cNvSpPr>
            <a:spLocks noGrp="1"/>
          </p:cNvSpPr>
          <p:nvPr>
            <p:ph type="dt" sz="half" idx="10"/>
          </p:nvPr>
        </p:nvSpPr>
        <p:spPr>
          <a:xfrm>
            <a:off x="165100" y="1169988"/>
            <a:ext cx="2522538" cy="201612"/>
          </a:xfrm>
        </p:spPr>
        <p:txBody>
          <a:bodyPr/>
          <a:lstStyle>
            <a:lvl1pPr>
              <a:defRPr/>
            </a:lvl1pPr>
          </a:lstStyle>
          <a:p>
            <a:pPr>
              <a:defRPr/>
            </a:pPr>
            <a:fld id="{6AC5BD9D-344C-479E-A618-A7357493C3A7}" type="datetime1">
              <a:rPr lang="en-US"/>
              <a:pPr>
                <a:defRPr/>
              </a:pPr>
              <a:t>12-07-24</a:t>
            </a:fld>
            <a:endParaRPr lang="en-US"/>
          </a:p>
        </p:txBody>
      </p:sp>
      <p:sp>
        <p:nvSpPr>
          <p:cNvPr id="8" name="Footer Placeholder 5"/>
          <p:cNvSpPr>
            <a:spLocks noGrp="1"/>
          </p:cNvSpPr>
          <p:nvPr>
            <p:ph type="ftr" sz="quarter" idx="11"/>
          </p:nvPr>
        </p:nvSpPr>
        <p:spPr>
          <a:xfrm>
            <a:off x="3035300" y="1169988"/>
            <a:ext cx="5194300" cy="201612"/>
          </a:xfrm>
        </p:spPr>
        <p:txBody>
          <a:bodyPr/>
          <a:lstStyle>
            <a:lvl1pPr>
              <a:defRPr>
                <a:solidFill>
                  <a:srgbClr val="000000"/>
                </a:solidFill>
              </a:defRPr>
            </a:lvl1pPr>
          </a:lstStyle>
          <a:p>
            <a:pPr>
              <a:defRPr/>
            </a:pPr>
            <a:endParaRPr lang="en-US"/>
          </a:p>
        </p:txBody>
      </p:sp>
      <p:sp>
        <p:nvSpPr>
          <p:cNvPr id="9" name="Slide Number Placeholder 6"/>
          <p:cNvSpPr>
            <a:spLocks noGrp="1"/>
          </p:cNvSpPr>
          <p:nvPr>
            <p:ph type="sldNum" sz="quarter" idx="12"/>
          </p:nvPr>
        </p:nvSpPr>
        <p:spPr>
          <a:xfrm>
            <a:off x="8339138" y="1169988"/>
            <a:ext cx="733425" cy="201612"/>
          </a:xfrm>
        </p:spPr>
        <p:txBody>
          <a:bodyPr/>
          <a:lstStyle>
            <a:lvl1pPr>
              <a:defRPr/>
            </a:lvl1pPr>
          </a:lstStyle>
          <a:p>
            <a:pPr>
              <a:defRPr/>
            </a:pPr>
            <a:fld id="{D46A6D95-C276-460D-BF64-D99408BF5D78}"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8A0CBCF-D6CB-4DA4-97D2-FC5DC9553573}" type="datetime1">
              <a:rPr lang="en-US"/>
              <a:pPr>
                <a:defRPr/>
              </a:pPr>
              <a:t>12-07-24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8E16F2B-2800-4269-83FB-0E44928A917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a:spLocks noChangeArrowheads="1"/>
          </p:cNvSpPr>
          <p:nvPr/>
        </p:nvSpPr>
        <p:spPr bwMode="invGray">
          <a:xfrm>
            <a:off x="6599238" y="0"/>
            <a:ext cx="46037" cy="6858000"/>
          </a:xfrm>
          <a:prstGeom prst="rect">
            <a:avLst/>
          </a:prstGeom>
          <a:solidFill>
            <a:srgbClr val="FFFFFF"/>
          </a:solidFill>
          <a:ln w="48000" cmpd="thickThin">
            <a:noFill/>
            <a:miter lim="800000"/>
            <a:headEnd/>
            <a:tailEnd/>
          </a:ln>
          <a:effectLst>
            <a:outerShdw dist="10160" dir="10800000" algn="tl" rotWithShape="0">
              <a:srgbClr val="808080">
                <a:alpha val="59999"/>
              </a:srgbClr>
            </a:outerShdw>
          </a:effectLst>
        </p:spPr>
        <p:txBody>
          <a:bodyPr anchor="ctr"/>
          <a:lstStyle/>
          <a:p>
            <a:pPr algn="ctr">
              <a:defRPr/>
            </a:pPr>
            <a:endParaRPr lang="en-US">
              <a:solidFill>
                <a:srgbClr val="FFFFFF"/>
              </a:solidFill>
              <a:latin typeface="Corbel" charset="0"/>
              <a:ea typeface="ＭＳ Ｐゴシック" charset="-128"/>
              <a:cs typeface="+mn-cs"/>
            </a:endParaRPr>
          </a:p>
        </p:txBody>
      </p:sp>
      <p:sp>
        <p:nvSpPr>
          <p:cNvPr id="5" name="Rectangle 4"/>
          <p:cNvSpPr/>
          <p:nvPr/>
        </p:nvSpPr>
        <p:spPr bwMode="ltGray">
          <a:xfrm>
            <a:off x="6648450" y="0"/>
            <a:ext cx="2514600"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128"/>
            </a:endParaRPr>
          </a:p>
        </p:txBody>
      </p:sp>
      <p:sp>
        <p:nvSpPr>
          <p:cNvPr id="2" name="Vertical Title 1"/>
          <p:cNvSpPr>
            <a:spLocks noGrp="1"/>
          </p:cNvSpPr>
          <p:nvPr>
            <p:ph type="title" orient="vert"/>
          </p:nvPr>
        </p:nvSpPr>
        <p:spPr>
          <a:xfrm>
            <a:off x="6781800" y="274640"/>
            <a:ext cx="1905000" cy="5851525"/>
          </a:xfrm>
        </p:spPr>
        <p:txBody>
          <a:bodyPr vert="eaVert"/>
          <a:lstStyle/>
          <a:p>
            <a:r>
              <a:rPr lang="en-CA" smtClean="0"/>
              <a:t>Click to edit Master title style</a:t>
            </a:r>
            <a:endParaRPr lang="en-US"/>
          </a:p>
        </p:txBody>
      </p:sp>
      <p:sp>
        <p:nvSpPr>
          <p:cNvPr id="3" name="Vertical Text Placeholder 2"/>
          <p:cNvSpPr>
            <a:spLocks noGrp="1"/>
          </p:cNvSpPr>
          <p:nvPr>
            <p:ph type="body" orient="vert" idx="1"/>
          </p:nvPr>
        </p:nvSpPr>
        <p:spPr>
          <a:xfrm>
            <a:off x="457200" y="304800"/>
            <a:ext cx="6019800" cy="5851525"/>
          </a:xfrm>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6" name="Date Placeholder 3"/>
          <p:cNvSpPr>
            <a:spLocks noGrp="1"/>
          </p:cNvSpPr>
          <p:nvPr>
            <p:ph type="dt" sz="half" idx="10"/>
          </p:nvPr>
        </p:nvSpPr>
        <p:spPr/>
        <p:txBody>
          <a:bodyPr/>
          <a:lstStyle>
            <a:lvl1pPr>
              <a:defRPr/>
            </a:lvl1pPr>
          </a:lstStyle>
          <a:p>
            <a:pPr>
              <a:defRPr/>
            </a:pPr>
            <a:fld id="{A0487657-14E6-4941-BB8E-A62981A99FF4}" type="datetime1">
              <a:rPr lang="en-US"/>
              <a:pPr>
                <a:defRPr/>
              </a:pPr>
              <a:t>12-07-24</a:t>
            </a:fld>
            <a:endParaRPr lang="en-US"/>
          </a:p>
        </p:txBody>
      </p:sp>
      <p:sp>
        <p:nvSpPr>
          <p:cNvPr id="7" name="Footer Placeholder 4"/>
          <p:cNvSpPr>
            <a:spLocks noGrp="1"/>
          </p:cNvSpPr>
          <p:nvPr>
            <p:ph type="ftr" sz="quarter" idx="11"/>
          </p:nvPr>
        </p:nvSpPr>
        <p:spPr>
          <a:xfrm>
            <a:off x="2640013" y="6376988"/>
            <a:ext cx="3836987" cy="365125"/>
          </a:xfrm>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3EB6CE91-B248-4406-8BD8-109BA3C91C5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a:spLocks noChangeArrowheads="1"/>
          </p:cNvSpPr>
          <p:nvPr/>
        </p:nvSpPr>
        <p:spPr bwMode="invGray">
          <a:xfrm>
            <a:off x="0" y="1436688"/>
            <a:ext cx="9144000" cy="44450"/>
          </a:xfrm>
          <a:prstGeom prst="rect">
            <a:avLst/>
          </a:prstGeom>
          <a:solidFill>
            <a:srgbClr val="FFFFFF"/>
          </a:solidFill>
          <a:ln w="48000" cmpd="thickThin">
            <a:noFill/>
            <a:miter lim="800000"/>
            <a:headEnd/>
            <a:tailEnd/>
          </a:ln>
          <a:effectLst>
            <a:outerShdw dist="10160" dir="5400000" algn="tl" rotWithShape="0">
              <a:srgbClr val="808080">
                <a:alpha val="59999"/>
              </a:srgbClr>
            </a:outerShdw>
          </a:effectLst>
        </p:spPr>
        <p:txBody>
          <a:bodyPr anchor="ctr"/>
          <a:lstStyle/>
          <a:p>
            <a:pPr algn="ctr">
              <a:defRPr/>
            </a:pPr>
            <a:endParaRPr lang="en-US">
              <a:solidFill>
                <a:srgbClr val="FFFFFF"/>
              </a:solidFill>
              <a:latin typeface="Corbel" charset="0"/>
              <a:ea typeface="ＭＳ Ｐゴシック" charset="-128"/>
              <a:cs typeface="+mn-cs"/>
            </a:endParaRPr>
          </a:p>
        </p:txBody>
      </p:sp>
      <p:sp>
        <p:nvSpPr>
          <p:cNvPr id="7" name="Rectangle 6"/>
          <p:cNvSpPr/>
          <p:nvPr/>
        </p:nvSpPr>
        <p:spPr bwMode="ltGray">
          <a:xfrm>
            <a:off x="0" y="0"/>
            <a:ext cx="9144000" cy="143351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128"/>
            </a:endParaRPr>
          </a:p>
        </p:txBody>
      </p:sp>
      <p:sp>
        <p:nvSpPr>
          <p:cNvPr id="1028" name="Title Placeholder 1"/>
          <p:cNvSpPr>
            <a:spLocks noGrp="1"/>
          </p:cNvSpPr>
          <p:nvPr>
            <p:ph type="title"/>
          </p:nvPr>
        </p:nvSpPr>
        <p:spPr bwMode="auto">
          <a:xfrm>
            <a:off x="457200" y="152400"/>
            <a:ext cx="8229600" cy="1250950"/>
          </a:xfrm>
          <a:prstGeom prst="rect">
            <a:avLst/>
          </a:prstGeom>
          <a:noFill/>
          <a:ln w="9525">
            <a:noFill/>
            <a:miter lim="800000"/>
            <a:headEnd/>
            <a:tailEnd/>
          </a:ln>
        </p:spPr>
        <p:txBody>
          <a:bodyPr vert="horz" wrap="square" lIns="91440" tIns="45720" rIns="45720" bIns="45720" numCol="1" anchor="ctr" anchorCtr="0" compatLnSpc="1">
            <a:prstTxWarp prst="textNoShape">
              <a:avLst/>
            </a:prstTxWarp>
          </a:bodyPr>
          <a:lstStyle/>
          <a:p>
            <a:pPr lvl="0"/>
            <a:r>
              <a:rPr lang="en-CA" smtClean="0"/>
              <a:t>Click to edit Master title style</a:t>
            </a:r>
            <a:endParaRPr lang="en-US" smtClean="0"/>
          </a:p>
        </p:txBody>
      </p:sp>
      <p:sp>
        <p:nvSpPr>
          <p:cNvPr id="1029" name="Text Placeholder 2"/>
          <p:cNvSpPr>
            <a:spLocks noGrp="1"/>
          </p:cNvSpPr>
          <p:nvPr>
            <p:ph type="body" idx="1"/>
          </p:nvPr>
        </p:nvSpPr>
        <p:spPr bwMode="auto">
          <a:xfrm>
            <a:off x="457200" y="1774825"/>
            <a:ext cx="8229600" cy="4625975"/>
          </a:xfrm>
          <a:prstGeom prst="rect">
            <a:avLst/>
          </a:prstGeom>
          <a:noFill/>
          <a:ln w="9525">
            <a:noFill/>
            <a:miter lim="800000"/>
            <a:headEnd/>
            <a:tailEnd/>
          </a:ln>
        </p:spPr>
        <p:txBody>
          <a:bodyPr vert="horz" wrap="square" lIns="54864" tIns="91440" rIns="91440" bIns="45720" numCol="1" anchor="t" anchorCtr="0" compatLnSpc="1">
            <a:prstTxWarp prst="textNoShape">
              <a:avLst/>
            </a:prstTxWarp>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smtClean="0"/>
          </a:p>
        </p:txBody>
      </p:sp>
      <p:sp>
        <p:nvSpPr>
          <p:cNvPr id="4" name="Date Placeholder 3"/>
          <p:cNvSpPr>
            <a:spLocks noGrp="1"/>
          </p:cNvSpPr>
          <p:nvPr>
            <p:ph type="dt" sz="half" idx="2"/>
          </p:nvPr>
        </p:nvSpPr>
        <p:spPr>
          <a:xfrm>
            <a:off x="457200" y="6477000"/>
            <a:ext cx="2133600" cy="274638"/>
          </a:xfrm>
          <a:prstGeom prst="rect">
            <a:avLst/>
          </a:prstGeom>
        </p:spPr>
        <p:txBody>
          <a:bodyPr vert="horz" wrap="square" lIns="109728" tIns="45720" rIns="45720" bIns="0" numCol="1" anchor="b" anchorCtr="0" compatLnSpc="1">
            <a:prstTxWarp prst="textNoShape">
              <a:avLst/>
            </a:prstTxWarp>
          </a:bodyPr>
          <a:lstStyle>
            <a:lvl1pPr>
              <a:defRPr sz="1200">
                <a:solidFill>
                  <a:srgbClr val="FFFFFF"/>
                </a:solidFill>
                <a:latin typeface="Arial" charset="0"/>
                <a:ea typeface="ＭＳ Ｐゴシック" charset="-128"/>
                <a:cs typeface="+mn-cs"/>
              </a:defRPr>
            </a:lvl1pPr>
          </a:lstStyle>
          <a:p>
            <a:pPr>
              <a:defRPr/>
            </a:pPr>
            <a:fld id="{B21137A5-8867-4478-B4AB-1573D2F4D744}" type="datetime1">
              <a:rPr lang="en-US"/>
              <a:pPr>
                <a:defRPr/>
              </a:pPr>
              <a:t>12-07-24</a:t>
            </a:fld>
            <a:endParaRPr lang="en-US"/>
          </a:p>
        </p:txBody>
      </p:sp>
      <p:sp>
        <p:nvSpPr>
          <p:cNvPr id="5" name="Footer Placeholder 4"/>
          <p:cNvSpPr>
            <a:spLocks noGrp="1"/>
          </p:cNvSpPr>
          <p:nvPr>
            <p:ph type="ftr" sz="quarter" idx="3"/>
          </p:nvPr>
        </p:nvSpPr>
        <p:spPr>
          <a:xfrm>
            <a:off x="2640013" y="6477000"/>
            <a:ext cx="5508625" cy="274638"/>
          </a:xfrm>
          <a:prstGeom prst="rect">
            <a:avLst/>
          </a:prstGeom>
        </p:spPr>
        <p:txBody>
          <a:bodyPr vert="horz" wrap="square" lIns="45720" tIns="45720" rIns="45720" bIns="0" numCol="1" anchor="b" anchorCtr="0" compatLnSpc="1">
            <a:prstTxWarp prst="textNoShape">
              <a:avLst/>
            </a:prstTxWarp>
          </a:bodyPr>
          <a:lstStyle>
            <a:lvl1pPr>
              <a:defRPr sz="1200">
                <a:solidFill>
                  <a:srgbClr val="FFFFFF"/>
                </a:solidFill>
                <a:latin typeface="Arial" charset="0"/>
                <a:ea typeface="ＭＳ Ｐゴシック" charset="-128"/>
                <a:cs typeface="+mn-cs"/>
              </a:defRPr>
            </a:lvl1pPr>
          </a:lstStyle>
          <a:p>
            <a:pPr>
              <a:defRPr/>
            </a:pPr>
            <a:endParaRPr lang="en-US"/>
          </a:p>
        </p:txBody>
      </p:sp>
      <p:sp>
        <p:nvSpPr>
          <p:cNvPr id="6" name="Slide Number Placeholder 5"/>
          <p:cNvSpPr>
            <a:spLocks noGrp="1"/>
          </p:cNvSpPr>
          <p:nvPr>
            <p:ph type="sldNum" sz="quarter" idx="4"/>
          </p:nvPr>
        </p:nvSpPr>
        <p:spPr>
          <a:xfrm>
            <a:off x="8204200" y="6477000"/>
            <a:ext cx="733425" cy="274638"/>
          </a:xfrm>
          <a:prstGeom prst="rect">
            <a:avLst/>
          </a:prstGeom>
        </p:spPr>
        <p:txBody>
          <a:bodyPr vert="horz" wrap="square" lIns="91440" tIns="45720" rIns="91440" bIns="0" numCol="1" anchor="b" anchorCtr="0" compatLnSpc="1">
            <a:prstTxWarp prst="textNoShape">
              <a:avLst/>
            </a:prstTxWarp>
          </a:bodyPr>
          <a:lstStyle>
            <a:lvl1pPr algn="r">
              <a:defRPr sz="1200">
                <a:solidFill>
                  <a:srgbClr val="FFFFFF"/>
                </a:solidFill>
                <a:latin typeface="Arial" charset="0"/>
                <a:ea typeface="ＭＳ Ｐゴシック" charset="-128"/>
                <a:cs typeface="+mn-cs"/>
              </a:defRPr>
            </a:lvl1pPr>
          </a:lstStyle>
          <a:p>
            <a:pPr>
              <a:defRPr/>
            </a:pPr>
            <a:fld id="{76C907FD-9D26-4C4D-BF93-D66C2A0F5808}"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4063" r:id="rId1"/>
    <p:sldLayoutId id="2147484058" r:id="rId2"/>
    <p:sldLayoutId id="2147484064" r:id="rId3"/>
    <p:sldLayoutId id="2147484059" r:id="rId4"/>
    <p:sldLayoutId id="2147484060" r:id="rId5"/>
    <p:sldLayoutId id="2147484061" r:id="rId6"/>
    <p:sldLayoutId id="2147484065" r:id="rId7"/>
    <p:sldLayoutId id="2147484066" r:id="rId8"/>
    <p:sldLayoutId id="2147484067" r:id="rId9"/>
    <p:sldLayoutId id="2147484062" r:id="rId10"/>
    <p:sldLayoutId id="2147484068" r:id="rId11"/>
  </p:sldLayoutIdLst>
  <p:txStyles>
    <p:titleStyle>
      <a:lvl1pPr algn="l" rtl="0" eaLnBrk="0" fontAlgn="base" hangingPunct="0">
        <a:spcBef>
          <a:spcPct val="0"/>
        </a:spcBef>
        <a:spcAft>
          <a:spcPct val="0"/>
        </a:spcAft>
        <a:defRPr sz="4500" b="1" kern="1200">
          <a:solidFill>
            <a:srgbClr val="FFC800"/>
          </a:solidFill>
          <a:latin typeface="+mj-lt"/>
          <a:ea typeface="ＭＳ Ｐゴシック" charset="-128"/>
          <a:cs typeface="ＭＳ Ｐゴシック"/>
        </a:defRPr>
      </a:lvl1pPr>
      <a:lvl2pPr algn="l" rtl="0" eaLnBrk="0" fontAlgn="base" hangingPunct="0">
        <a:spcBef>
          <a:spcPct val="0"/>
        </a:spcBef>
        <a:spcAft>
          <a:spcPct val="0"/>
        </a:spcAft>
        <a:defRPr sz="4500" b="1">
          <a:solidFill>
            <a:srgbClr val="FFC800"/>
          </a:solidFill>
          <a:latin typeface="Corbel" charset="0"/>
          <a:ea typeface="ＭＳ Ｐゴシック" charset="-128"/>
          <a:cs typeface="ＭＳ Ｐゴシック"/>
        </a:defRPr>
      </a:lvl2pPr>
      <a:lvl3pPr algn="l" rtl="0" eaLnBrk="0" fontAlgn="base" hangingPunct="0">
        <a:spcBef>
          <a:spcPct val="0"/>
        </a:spcBef>
        <a:spcAft>
          <a:spcPct val="0"/>
        </a:spcAft>
        <a:defRPr sz="4500" b="1">
          <a:solidFill>
            <a:srgbClr val="FFC800"/>
          </a:solidFill>
          <a:latin typeface="Corbel" charset="0"/>
          <a:ea typeface="ＭＳ Ｐゴシック" charset="-128"/>
          <a:cs typeface="ＭＳ Ｐゴシック"/>
        </a:defRPr>
      </a:lvl3pPr>
      <a:lvl4pPr algn="l" rtl="0" eaLnBrk="0" fontAlgn="base" hangingPunct="0">
        <a:spcBef>
          <a:spcPct val="0"/>
        </a:spcBef>
        <a:spcAft>
          <a:spcPct val="0"/>
        </a:spcAft>
        <a:defRPr sz="4500" b="1">
          <a:solidFill>
            <a:srgbClr val="FFC800"/>
          </a:solidFill>
          <a:latin typeface="Corbel" charset="0"/>
          <a:ea typeface="ＭＳ Ｐゴシック" charset="-128"/>
          <a:cs typeface="ＭＳ Ｐゴシック"/>
        </a:defRPr>
      </a:lvl4pPr>
      <a:lvl5pPr algn="l" rtl="0" eaLnBrk="0" fontAlgn="base" hangingPunct="0">
        <a:spcBef>
          <a:spcPct val="0"/>
        </a:spcBef>
        <a:spcAft>
          <a:spcPct val="0"/>
        </a:spcAft>
        <a:defRPr sz="4500" b="1">
          <a:solidFill>
            <a:srgbClr val="FFC800"/>
          </a:solidFill>
          <a:latin typeface="Corbel" charset="0"/>
          <a:ea typeface="ＭＳ Ｐゴシック" charset="-128"/>
          <a:cs typeface="ＭＳ Ｐゴシック"/>
        </a:defRPr>
      </a:lvl5pPr>
      <a:lvl6pPr marL="457200" algn="l" rtl="0" fontAlgn="base">
        <a:spcBef>
          <a:spcPct val="0"/>
        </a:spcBef>
        <a:spcAft>
          <a:spcPct val="0"/>
        </a:spcAft>
        <a:defRPr sz="4500" b="1">
          <a:solidFill>
            <a:srgbClr val="FFC800"/>
          </a:solidFill>
          <a:latin typeface="Corbel" charset="0"/>
          <a:ea typeface="ＭＳ Ｐゴシック" charset="-128"/>
        </a:defRPr>
      </a:lvl6pPr>
      <a:lvl7pPr marL="914400" algn="l" rtl="0" fontAlgn="base">
        <a:spcBef>
          <a:spcPct val="0"/>
        </a:spcBef>
        <a:spcAft>
          <a:spcPct val="0"/>
        </a:spcAft>
        <a:defRPr sz="4500" b="1">
          <a:solidFill>
            <a:srgbClr val="FFC800"/>
          </a:solidFill>
          <a:latin typeface="Corbel" charset="0"/>
          <a:ea typeface="ＭＳ Ｐゴシック" charset="-128"/>
        </a:defRPr>
      </a:lvl7pPr>
      <a:lvl8pPr marL="1371600" algn="l" rtl="0" fontAlgn="base">
        <a:spcBef>
          <a:spcPct val="0"/>
        </a:spcBef>
        <a:spcAft>
          <a:spcPct val="0"/>
        </a:spcAft>
        <a:defRPr sz="4500" b="1">
          <a:solidFill>
            <a:srgbClr val="FFC800"/>
          </a:solidFill>
          <a:latin typeface="Corbel" charset="0"/>
          <a:ea typeface="ＭＳ Ｐゴシック" charset="-128"/>
        </a:defRPr>
      </a:lvl8pPr>
      <a:lvl9pPr marL="1828800" algn="l" rtl="0" fontAlgn="base">
        <a:spcBef>
          <a:spcPct val="0"/>
        </a:spcBef>
        <a:spcAft>
          <a:spcPct val="0"/>
        </a:spcAft>
        <a:defRPr sz="4500" b="1">
          <a:solidFill>
            <a:srgbClr val="FFC800"/>
          </a:solidFill>
          <a:latin typeface="Corbel" charset="0"/>
          <a:ea typeface="ＭＳ Ｐゴシック" charset="-128"/>
        </a:defRPr>
      </a:lvl9pPr>
    </p:titleStyle>
    <p:bodyStyle>
      <a:lvl1pPr marL="438150" indent="-319088" algn="l" rtl="0" eaLnBrk="0" fontAlgn="base" hangingPunct="0">
        <a:spcBef>
          <a:spcPct val="0"/>
        </a:spcBef>
        <a:spcAft>
          <a:spcPct val="0"/>
        </a:spcAft>
        <a:buClr>
          <a:schemeClr val="accent1"/>
        </a:buClr>
        <a:buSzPct val="80000"/>
        <a:buFont typeface="Wingdings 2" pitchFamily="18" charset="2"/>
        <a:buChar char=""/>
        <a:defRPr sz="3200" kern="1200">
          <a:solidFill>
            <a:schemeClr val="tx1"/>
          </a:solidFill>
          <a:latin typeface="+mn-lt"/>
          <a:ea typeface="ＭＳ Ｐゴシック" charset="-128"/>
          <a:cs typeface="ＭＳ Ｐゴシック"/>
        </a:defRPr>
      </a:lvl1pPr>
      <a:lvl2pPr marL="730250" indent="-273050" algn="l" rtl="0" eaLnBrk="0" fontAlgn="base" hangingPunct="0">
        <a:spcBef>
          <a:spcPct val="20000"/>
        </a:spcBef>
        <a:spcAft>
          <a:spcPct val="0"/>
        </a:spcAft>
        <a:buClr>
          <a:schemeClr val="accent2"/>
        </a:buClr>
        <a:buSzPct val="90000"/>
        <a:buFont typeface="Wingdings" pitchFamily="2" charset="2"/>
        <a:buChar char=""/>
        <a:defRPr sz="2800" kern="1200">
          <a:solidFill>
            <a:schemeClr val="tx1"/>
          </a:solidFill>
          <a:latin typeface="+mn-lt"/>
          <a:ea typeface="ＭＳ Ｐゴシック" charset="-128"/>
          <a:cs typeface="ＭＳ Ｐゴシック"/>
        </a:defRPr>
      </a:lvl2pPr>
      <a:lvl3pPr marL="995363" indent="-228600" algn="l" rtl="0" eaLnBrk="0" fontAlgn="base" hangingPunct="0">
        <a:spcBef>
          <a:spcPct val="20000"/>
        </a:spcBef>
        <a:spcAft>
          <a:spcPct val="0"/>
        </a:spcAft>
        <a:buClr>
          <a:srgbClr val="E66C7D"/>
        </a:buClr>
        <a:buFont typeface="Arial" pitchFamily="34" charset="0"/>
        <a:buChar char="▪"/>
        <a:defRPr sz="2400" kern="1200">
          <a:solidFill>
            <a:schemeClr val="tx1"/>
          </a:solidFill>
          <a:latin typeface="+mn-lt"/>
          <a:ea typeface="ＭＳ Ｐゴシック" charset="-128"/>
          <a:cs typeface="ＭＳ Ｐゴシック"/>
        </a:defRPr>
      </a:lvl3pPr>
      <a:lvl4pPr marL="1216025" indent="-182563" algn="l" rtl="0" eaLnBrk="0" fontAlgn="base" hangingPunct="0">
        <a:spcBef>
          <a:spcPct val="20000"/>
        </a:spcBef>
        <a:spcAft>
          <a:spcPct val="0"/>
        </a:spcAft>
        <a:buClr>
          <a:srgbClr val="6BB76D"/>
        </a:buClr>
        <a:buFont typeface="Arial" pitchFamily="34" charset="0"/>
        <a:buChar char="▪"/>
        <a:defRPr sz="2000" kern="1200">
          <a:solidFill>
            <a:schemeClr val="tx1"/>
          </a:solidFill>
          <a:latin typeface="+mn-lt"/>
          <a:ea typeface="ＭＳ Ｐゴシック" charset="-128"/>
          <a:cs typeface="ＭＳ Ｐゴシック"/>
        </a:defRPr>
      </a:lvl4pPr>
      <a:lvl5pPr marL="1425575" indent="-182563" algn="l" rtl="0" eaLnBrk="0" fontAlgn="base" hangingPunct="0">
        <a:spcBef>
          <a:spcPct val="20000"/>
        </a:spcBef>
        <a:spcAft>
          <a:spcPct val="0"/>
        </a:spcAft>
        <a:buClr>
          <a:srgbClr val="E88651"/>
        </a:buClr>
        <a:buFont typeface="Wingdings 3" pitchFamily="18" charset="2"/>
        <a:buChar char=""/>
        <a:defRPr lang="en-US" sz="2000" kern="1200">
          <a:solidFill>
            <a:schemeClr val="tx1"/>
          </a:solidFill>
          <a:latin typeface="+mn-lt"/>
          <a:ea typeface="ＭＳ Ｐゴシック" charset="-128"/>
          <a:cs typeface="ＭＳ Ｐゴシック"/>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package" Target="../embeddings/Microsoft_Word_Document1.docx"/><Relationship Id="rId5" Type="http://schemas.openxmlformats.org/officeDocument/2006/relationships/image" Target="../media/image2.emf"/><Relationship Id="rId1" Type="http://schemas.openxmlformats.org/officeDocument/2006/relationships/vmlDrawing" Target="../drawings/vmlDrawing1.vml"/><Relationship Id="rId2"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www.computerworld.com/s/article/9209159/Social_networks_credited_with_role_in_toppling_Egypt_s_Mubarak"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hyperlink" Target="http://www.computerworld.com/s/article/9209159/Social_networks_credited_with_role_in_toppling_Egypt_s_Mubarak"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www.computerworld.com/s/article/9209159/Social_networks_credited_with_role_in_toppling_Egypt_s_Mubara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hyperlink" Target="http://www.computerworld.com/s/article/9209159/Social_networks_credited_with_role_in_toppling_Egypt_s_Mubarak" TargetMode="External"/><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attentionscan.com/2009/07/social-media-timeline/"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676400" y="609600"/>
            <a:ext cx="7315200" cy="2667000"/>
          </a:xfrm>
        </p:spPr>
        <p:txBody>
          <a:bodyPr>
            <a:normAutofit fontScale="90000"/>
          </a:bodyPr>
          <a:lstStyle/>
          <a:p>
            <a:pPr algn="r" eaLnBrk="1" fontAlgn="auto" hangingPunct="1">
              <a:spcAft>
                <a:spcPts val="0"/>
              </a:spcAft>
              <a:defRPr/>
            </a:pPr>
            <a:r>
              <a:rPr lang="en-US" sz="4800" b="0" dirty="0" smtClean="0">
                <a:solidFill>
                  <a:schemeClr val="tx2"/>
                </a:solidFill>
                <a:ea typeface="Times New Roman" charset="0"/>
                <a:cs typeface="Corbel"/>
              </a:rPr>
              <a:t>Foucault &amp; Deleuze</a:t>
            </a:r>
            <a:r>
              <a:rPr lang="en-US" sz="4800" b="0" dirty="0">
                <a:solidFill>
                  <a:schemeClr val="tx2"/>
                </a:solidFill>
                <a:ea typeface="Times New Roman" charset="0"/>
                <a:cs typeface="Corbel"/>
              </a:rPr>
              <a:t> </a:t>
            </a:r>
            <a:r>
              <a:rPr lang="en-US" sz="4800" b="0" dirty="0" smtClean="0">
                <a:solidFill>
                  <a:schemeClr val="tx2"/>
                </a:solidFill>
                <a:ea typeface="Times New Roman" charset="0"/>
                <a:cs typeface="Corbel"/>
              </a:rPr>
              <a:t>: The Docile Body Becoming a Protester in the Arab Spring:</a:t>
            </a:r>
            <a:br>
              <a:rPr lang="en-US" sz="4800" b="0" dirty="0" smtClean="0">
                <a:solidFill>
                  <a:schemeClr val="tx2"/>
                </a:solidFill>
                <a:ea typeface="Times New Roman" charset="0"/>
                <a:cs typeface="Corbel"/>
              </a:rPr>
            </a:br>
            <a:r>
              <a:rPr lang="en-US" sz="4800" b="0" dirty="0" smtClean="0">
                <a:solidFill>
                  <a:srgbClr val="FECF00"/>
                </a:solidFill>
                <a:ea typeface="Times New Roman" charset="0"/>
                <a:cs typeface="Corbel"/>
              </a:rPr>
              <a:t> The role of Social Media  </a:t>
            </a:r>
            <a:r>
              <a:rPr lang="en-US" sz="4800" dirty="0" smtClean="0">
                <a:solidFill>
                  <a:srgbClr val="950000"/>
                </a:solidFill>
                <a:ea typeface="+mj-ea"/>
                <a:cs typeface="Corbel"/>
              </a:rPr>
              <a:t/>
            </a:r>
            <a:br>
              <a:rPr lang="en-US" sz="4800" dirty="0" smtClean="0">
                <a:solidFill>
                  <a:srgbClr val="950000"/>
                </a:solidFill>
                <a:ea typeface="+mj-ea"/>
                <a:cs typeface="Corbel"/>
              </a:rPr>
            </a:br>
            <a:r>
              <a:rPr lang="en-US" sz="4800" b="0" dirty="0" smtClean="0">
                <a:solidFill>
                  <a:schemeClr val="tx2"/>
                </a:solidFill>
                <a:latin typeface="Cambria"/>
                <a:ea typeface="Times New Roman" charset="0"/>
                <a:cs typeface="Cambria"/>
              </a:rPr>
              <a:t> </a:t>
            </a:r>
            <a:br>
              <a:rPr lang="en-US" sz="4800" b="0" dirty="0" smtClean="0">
                <a:solidFill>
                  <a:schemeClr val="tx2"/>
                </a:solidFill>
                <a:latin typeface="Cambria"/>
                <a:ea typeface="Times New Roman" charset="0"/>
                <a:cs typeface="Cambria"/>
              </a:rPr>
            </a:br>
            <a:endParaRPr lang="en-US" b="0" dirty="0">
              <a:solidFill>
                <a:schemeClr val="tx2"/>
              </a:solidFill>
              <a:latin typeface="Cambria"/>
              <a:ea typeface="+mj-ea"/>
              <a:cs typeface="Cambria"/>
            </a:endParaRPr>
          </a:p>
        </p:txBody>
      </p:sp>
      <p:sp>
        <p:nvSpPr>
          <p:cNvPr id="8195" name="TextBox 4"/>
          <p:cNvSpPr txBox="1">
            <a:spLocks noChangeArrowheads="1"/>
          </p:cNvSpPr>
          <p:nvPr/>
        </p:nvSpPr>
        <p:spPr bwMode="auto">
          <a:xfrm>
            <a:off x="1295400" y="5486400"/>
            <a:ext cx="6400800" cy="954088"/>
          </a:xfrm>
          <a:prstGeom prst="rect">
            <a:avLst/>
          </a:prstGeom>
          <a:noFill/>
          <a:ln w="9525">
            <a:noFill/>
            <a:miter lim="800000"/>
            <a:headEnd/>
            <a:tailEnd/>
          </a:ln>
        </p:spPr>
        <p:txBody>
          <a:bodyPr>
            <a:spAutoFit/>
          </a:bodyPr>
          <a:lstStyle/>
          <a:p>
            <a:pPr algn="ctr"/>
            <a:r>
              <a:rPr lang="en-US" sz="2800" dirty="0">
                <a:latin typeface="Corbel" pitchFamily="34" charset="0"/>
              </a:rPr>
              <a:t>Professor Indhu Rajagopal, PhD. </a:t>
            </a:r>
          </a:p>
          <a:p>
            <a:pPr algn="ctr"/>
            <a:r>
              <a:rPr lang="en-US" sz="2800" dirty="0">
                <a:latin typeface="Corbel" pitchFamily="34" charset="0"/>
              </a:rPr>
              <a:t>York University, </a:t>
            </a:r>
            <a:r>
              <a:rPr lang="en-US" sz="2800" dirty="0" smtClean="0">
                <a:latin typeface="Corbel" pitchFamily="34" charset="0"/>
              </a:rPr>
              <a:t>2012</a:t>
            </a:r>
            <a:endParaRPr lang="en-US" sz="2800" dirty="0">
              <a:latin typeface="Corbel" pitchFamily="34" charset="0"/>
            </a:endParaRPr>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ChangeArrowheads="1"/>
          </p:cNvSpPr>
          <p:nvPr/>
        </p:nvSpPr>
        <p:spPr bwMode="auto">
          <a:xfrm>
            <a:off x="457200" y="304800"/>
            <a:ext cx="8382000" cy="5940088"/>
          </a:xfrm>
          <a:prstGeom prst="rect">
            <a:avLst/>
          </a:prstGeom>
          <a:noFill/>
          <a:ln w="9525">
            <a:noFill/>
            <a:miter lim="800000"/>
            <a:headEnd/>
            <a:tailEnd/>
          </a:ln>
        </p:spPr>
        <p:txBody>
          <a:bodyPr>
            <a:spAutoFit/>
          </a:bodyPr>
          <a:lstStyle/>
          <a:p>
            <a:r>
              <a:rPr lang="en-US" sz="2000" dirty="0">
                <a:latin typeface="Cambria" pitchFamily="18" charset="0"/>
              </a:rPr>
              <a:t>Thesis: </a:t>
            </a:r>
            <a:endParaRPr lang="en-US" sz="2000" dirty="0" smtClean="0">
              <a:latin typeface="Cambria" pitchFamily="18" charset="0"/>
            </a:endParaRPr>
          </a:p>
          <a:p>
            <a:pPr marL="342900" indent="-342900">
              <a:buFont typeface="Arial"/>
              <a:buChar char="•"/>
            </a:pPr>
            <a:r>
              <a:rPr lang="en-US" sz="2000" dirty="0" smtClean="0">
                <a:latin typeface="Cambria" pitchFamily="18" charset="0"/>
              </a:rPr>
              <a:t>Foucault’s </a:t>
            </a:r>
            <a:r>
              <a:rPr lang="en-US" sz="2000" dirty="0">
                <a:latin typeface="Cambria" pitchFamily="18" charset="0"/>
              </a:rPr>
              <a:t>‘Power’ in </a:t>
            </a:r>
            <a:r>
              <a:rPr lang="en-US" sz="2000" i="1" dirty="0">
                <a:latin typeface="Cambria" pitchFamily="18" charset="0"/>
              </a:rPr>
              <a:t>Discipline and Punish</a:t>
            </a:r>
            <a:r>
              <a:rPr lang="en-US" sz="2000" dirty="0">
                <a:latin typeface="Cambria" pitchFamily="18" charset="0"/>
              </a:rPr>
              <a:t> oppresses and manipulates human bodies to become subjected and </a:t>
            </a:r>
            <a:r>
              <a:rPr lang="en-US" sz="2000" dirty="0" smtClean="0">
                <a:latin typeface="Cambria" pitchFamily="18" charset="0"/>
              </a:rPr>
              <a:t>practiced </a:t>
            </a:r>
            <a:r>
              <a:rPr lang="en-US" sz="2000" dirty="0">
                <a:latin typeface="Cambria" pitchFamily="18" charset="0"/>
              </a:rPr>
              <a:t>bodies; the exercise of power is through a calculated policy and action of coercions and surveillance of the body. </a:t>
            </a:r>
            <a:endParaRPr lang="en-US" sz="2000" dirty="0" smtClean="0">
              <a:latin typeface="Cambria" pitchFamily="18" charset="0"/>
            </a:endParaRPr>
          </a:p>
          <a:p>
            <a:pPr marL="342900" indent="-342900">
              <a:buFont typeface="Arial"/>
              <a:buChar char="•"/>
            </a:pPr>
            <a:r>
              <a:rPr lang="en-US" sz="2000" dirty="0" smtClean="0">
                <a:latin typeface="Cambria" pitchFamily="18" charset="0"/>
              </a:rPr>
              <a:t>Arabs rejected </a:t>
            </a:r>
            <a:r>
              <a:rPr lang="en-US" sz="2000" dirty="0">
                <a:latin typeface="Cambria" pitchFamily="18" charset="0"/>
              </a:rPr>
              <a:t>the </a:t>
            </a:r>
            <a:r>
              <a:rPr lang="en-US" sz="2000" dirty="0" smtClean="0">
                <a:latin typeface="Cambria" pitchFamily="18" charset="0"/>
              </a:rPr>
              <a:t>despotic </a:t>
            </a:r>
            <a:r>
              <a:rPr lang="en-US" sz="2000" dirty="0">
                <a:latin typeface="Cambria" pitchFamily="18" charset="0"/>
              </a:rPr>
              <a:t>power relations based on </a:t>
            </a:r>
            <a:r>
              <a:rPr lang="en-US" sz="2000" dirty="0" smtClean="0">
                <a:latin typeface="Cambria" pitchFamily="18" charset="0"/>
              </a:rPr>
              <a:t>autocratic power, political and military control to </a:t>
            </a:r>
            <a:r>
              <a:rPr lang="en-US" sz="2000" dirty="0">
                <a:latin typeface="Cambria" pitchFamily="18" charset="0"/>
              </a:rPr>
              <a:t>liberate </a:t>
            </a:r>
            <a:r>
              <a:rPr lang="en-US" sz="2000" dirty="0" smtClean="0">
                <a:latin typeface="Cambria" pitchFamily="18" charset="0"/>
              </a:rPr>
              <a:t>themselves. </a:t>
            </a:r>
            <a:r>
              <a:rPr lang="en-US" sz="2000" dirty="0">
                <a:latin typeface="Cambria" pitchFamily="18" charset="0"/>
              </a:rPr>
              <a:t>Challenging the inferiority of the </a:t>
            </a:r>
            <a:r>
              <a:rPr lang="en-US" sz="2000" dirty="0" smtClean="0">
                <a:latin typeface="Cambria" pitchFamily="18" charset="0"/>
              </a:rPr>
              <a:t>ordinary citizens’  </a:t>
            </a:r>
            <a:r>
              <a:rPr lang="en-US" sz="2000" dirty="0">
                <a:latin typeface="Cambria" pitchFamily="18" charset="0"/>
              </a:rPr>
              <a:t>body, </a:t>
            </a:r>
            <a:r>
              <a:rPr lang="en-US" sz="2000" dirty="0" smtClean="0">
                <a:latin typeface="Cambria" pitchFamily="18" charset="0"/>
              </a:rPr>
              <a:t>protesters refuted </a:t>
            </a:r>
            <a:r>
              <a:rPr lang="en-US" sz="2000" dirty="0">
                <a:latin typeface="Cambria" pitchFamily="18" charset="0"/>
              </a:rPr>
              <a:t>the </a:t>
            </a:r>
            <a:r>
              <a:rPr lang="en-US" sz="2000" dirty="0" smtClean="0">
                <a:latin typeface="Cambria" pitchFamily="18" charset="0"/>
              </a:rPr>
              <a:t>autocrats’ despotic paternalism and </a:t>
            </a:r>
            <a:r>
              <a:rPr lang="en-US" sz="2000" dirty="0">
                <a:latin typeface="Cambria" pitchFamily="18" charset="0"/>
              </a:rPr>
              <a:t>exposed the realities of </a:t>
            </a:r>
            <a:r>
              <a:rPr lang="en-US" sz="2000" dirty="0" smtClean="0">
                <a:latin typeface="Cambria" pitchFamily="18" charset="0"/>
              </a:rPr>
              <a:t>docility, a result  </a:t>
            </a:r>
            <a:r>
              <a:rPr lang="en-US" sz="2000" dirty="0">
                <a:latin typeface="Cambria" pitchFamily="18" charset="0"/>
              </a:rPr>
              <a:t>of the </a:t>
            </a:r>
            <a:r>
              <a:rPr lang="en-US" sz="2000" dirty="0" smtClean="0">
                <a:latin typeface="Cambria" pitchFamily="18" charset="0"/>
              </a:rPr>
              <a:t>political and military control and oppression</a:t>
            </a:r>
            <a:r>
              <a:rPr lang="en-US" sz="2000" dirty="0">
                <a:latin typeface="Cambria" pitchFamily="18" charset="0"/>
              </a:rPr>
              <a:t>. </a:t>
            </a:r>
            <a:endParaRPr lang="en-US" sz="2000" dirty="0" smtClean="0">
              <a:latin typeface="Cambria" pitchFamily="18" charset="0"/>
            </a:endParaRPr>
          </a:p>
          <a:p>
            <a:pPr marL="342900" indent="-342900">
              <a:buFont typeface="Arial"/>
              <a:buChar char="•"/>
            </a:pPr>
            <a:r>
              <a:rPr lang="en-US" sz="2000" dirty="0" smtClean="0">
                <a:latin typeface="Cambria" pitchFamily="18" charset="0"/>
              </a:rPr>
              <a:t>Foucault and Deleuze argue that the power to turn bodies docile, has been constructed to subjugate the populations. If they were to become ‘free’ individuals/people, then their dominated bodies have to be liberated.  </a:t>
            </a:r>
          </a:p>
          <a:p>
            <a:pPr marL="342900" indent="-342900">
              <a:buFont typeface="Arial"/>
              <a:buChar char="•"/>
            </a:pPr>
            <a:r>
              <a:rPr lang="en-US" sz="2000" dirty="0" smtClean="0">
                <a:latin typeface="Cambria" pitchFamily="18" charset="0"/>
              </a:rPr>
              <a:t>The Egyptian youth  constructed their liberation by kindling and harnessing the latent power of resistance through social media. However, social media fell short of provoking a confluence of ‘desires’ in the social body to pursue the Deleuzian ‘line of flight’ to reach freedom as the limit.</a:t>
            </a:r>
            <a:endParaRPr lang="en-US" sz="2000" dirty="0">
              <a:latin typeface="Cambria" pitchFamily="18" charset="0"/>
            </a:endParaRPr>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2160710066"/>
              </p:ext>
            </p:extLst>
          </p:nvPr>
        </p:nvGraphicFramePr>
        <p:xfrm>
          <a:off x="1828800" y="228600"/>
          <a:ext cx="5486400" cy="6464300"/>
        </p:xfrm>
        <a:graphic>
          <a:graphicData uri="http://schemas.openxmlformats.org/presentationml/2006/ole">
            <mc:AlternateContent xmlns:mc="http://schemas.openxmlformats.org/markup-compatibility/2006">
              <mc:Choice xmlns:v="urn:schemas-microsoft-com:vml" Requires="v">
                <p:oleObj spid="_x0000_s1102" name="Document" r:id="rId4" imgW="5486400" imgH="6464300" progId="Word.Document.12">
                  <p:embed/>
                </p:oleObj>
              </mc:Choice>
              <mc:Fallback>
                <p:oleObj name="Document" r:id="rId4" imgW="5486400" imgH="6464300" progId="Word.Document.12">
                  <p:embed/>
                  <p:pic>
                    <p:nvPicPr>
                      <p:cNvPr id="0" name=""/>
                      <p:cNvPicPr/>
                      <p:nvPr/>
                    </p:nvPicPr>
                    <p:blipFill>
                      <a:blip r:embed="rId5"/>
                      <a:stretch>
                        <a:fillRect/>
                      </a:stretch>
                    </p:blipFill>
                    <p:spPr>
                      <a:xfrm>
                        <a:off x="1828800" y="228600"/>
                        <a:ext cx="5486400" cy="6464300"/>
                      </a:xfrm>
                      <a:prstGeom prst="rect">
                        <a:avLst/>
                      </a:prstGeom>
                    </p:spPr>
                  </p:pic>
                </p:oleObj>
              </mc:Fallback>
            </mc:AlternateContent>
          </a:graphicData>
        </a:graphic>
      </p:graphicFrame>
    </p:spTree>
    <p:extLst>
      <p:ext uri="{BB962C8B-B14F-4D97-AF65-F5344CB8AC3E}">
        <p14:creationId xmlns:p14="http://schemas.microsoft.com/office/powerpoint/2010/main" val="1002335201"/>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onf pres-July 8-omnigraf.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37627"/>
            <a:ext cx="9144000" cy="5818188"/>
          </a:xfrm>
          <a:prstGeom prst="rect">
            <a:avLst/>
          </a:prstGeom>
        </p:spPr>
      </p:pic>
    </p:spTree>
    <p:extLst>
      <p:ext uri="{BB962C8B-B14F-4D97-AF65-F5344CB8AC3E}">
        <p14:creationId xmlns:p14="http://schemas.microsoft.com/office/powerpoint/2010/main" val="1070561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III. Active Force against Docility</a:t>
            </a:r>
            <a:endParaRPr lang="en-US" dirty="0"/>
          </a:p>
        </p:txBody>
      </p:sp>
      <p:sp>
        <p:nvSpPr>
          <p:cNvPr id="3" name="Content Placeholder 2"/>
          <p:cNvSpPr>
            <a:spLocks noGrp="1"/>
          </p:cNvSpPr>
          <p:nvPr>
            <p:ph idx="1"/>
          </p:nvPr>
        </p:nvSpPr>
        <p:spPr/>
        <p:txBody>
          <a:bodyPr/>
          <a:lstStyle/>
          <a:p>
            <a:r>
              <a:rPr lang="en-US" dirty="0" smtClean="0">
                <a:solidFill>
                  <a:srgbClr val="F0A7B1"/>
                </a:solidFill>
              </a:rPr>
              <a:t>Becoming a Protester to reject the dominance: the Role of Social Media (SM)</a:t>
            </a:r>
          </a:p>
          <a:p>
            <a:pPr lvl="1"/>
            <a:r>
              <a:rPr lang="en-US" dirty="0" smtClean="0"/>
              <a:t>SM as a Strategy of Resistance</a:t>
            </a:r>
          </a:p>
          <a:p>
            <a:pPr lvl="1"/>
            <a:r>
              <a:rPr lang="en-US" dirty="0" smtClean="0"/>
              <a:t>SM as a Weapon of Control</a:t>
            </a:r>
          </a:p>
          <a:p>
            <a:r>
              <a:rPr lang="en-US" dirty="0" smtClean="0"/>
              <a:t>Deleuze’s Control Societies</a:t>
            </a:r>
          </a:p>
          <a:p>
            <a:r>
              <a:rPr lang="en-US" dirty="0" smtClean="0"/>
              <a:t>Deleuze’s ‘What the body can do?’</a:t>
            </a:r>
          </a:p>
          <a:p>
            <a:pPr marL="119062" indent="0">
              <a:buNone/>
            </a:pPr>
            <a:endParaRPr lang="en-US" dirty="0" smtClean="0"/>
          </a:p>
          <a:p>
            <a:endParaRPr lang="en-US" dirty="0"/>
          </a:p>
        </p:txBody>
      </p:sp>
      <p:sp>
        <p:nvSpPr>
          <p:cNvPr id="4" name="Right Arrow 3"/>
          <p:cNvSpPr/>
          <p:nvPr/>
        </p:nvSpPr>
        <p:spPr>
          <a:xfrm>
            <a:off x="-228600" y="2057400"/>
            <a:ext cx="609600" cy="228600"/>
          </a:xfrm>
          <a:prstGeom prst="rightArrow">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141371"/>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Becoming</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'becoming</a:t>
            </a:r>
            <a:r>
              <a:rPr lang="en-US" dirty="0"/>
              <a:t>' (</a:t>
            </a:r>
            <a:r>
              <a:rPr lang="en-US" dirty="0" err="1"/>
              <a:t>devenir</a:t>
            </a:r>
            <a:r>
              <a:rPr lang="en-US" dirty="0"/>
              <a:t>) </a:t>
            </a:r>
            <a:r>
              <a:rPr lang="en-US" dirty="0" smtClean="0"/>
              <a:t>describes “the </a:t>
            </a:r>
            <a:r>
              <a:rPr lang="en-US" dirty="0"/>
              <a:t>continual production (or 'return') of difference immanent within the constitution of events, whether physical or </a:t>
            </a:r>
            <a:r>
              <a:rPr lang="en-US" dirty="0" smtClean="0"/>
              <a:t>otherwise”(Parr, 2005). </a:t>
            </a:r>
          </a:p>
          <a:p>
            <a:r>
              <a:rPr lang="en-US" dirty="0" smtClean="0">
                <a:solidFill>
                  <a:schemeClr val="accent3">
                    <a:lumMod val="60000"/>
                    <a:lumOff val="40000"/>
                  </a:schemeClr>
                </a:solidFill>
              </a:rPr>
              <a:t>When an individual changes from a docile body to become a resisting body, becoming is a range of changes one goes through in becoming a protester. </a:t>
            </a:r>
          </a:p>
          <a:p>
            <a:r>
              <a:rPr lang="en-US" dirty="0" smtClean="0"/>
              <a:t>It is not the outcome, i.e., of turning into protesters but the very dynamic process of change from docility to activity without knowing what the end state of the body (social body) will be.</a:t>
            </a:r>
            <a:r>
              <a:rPr lang="en-US" dirty="0"/>
              <a:t> </a:t>
            </a:r>
            <a:endParaRPr lang="en-US" dirty="0" smtClean="0"/>
          </a:p>
          <a:p>
            <a:r>
              <a:rPr lang="en-US" dirty="0" smtClean="0"/>
              <a:t>Becoming protesters as an event, shares the process of becoming different from docile bodies in the continual production of  resisting body, which is a special dynamic process. The protesters are </a:t>
            </a:r>
            <a:r>
              <a:rPr lang="en-US" dirty="0"/>
              <a:t>unified in their very becoming. </a:t>
            </a:r>
          </a:p>
        </p:txBody>
      </p:sp>
    </p:spTree>
    <p:extLst>
      <p:ext uri="{BB962C8B-B14F-4D97-AF65-F5344CB8AC3E}">
        <p14:creationId xmlns:p14="http://schemas.microsoft.com/office/powerpoint/2010/main" val="2152571848"/>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2818" y="21262"/>
            <a:ext cx="9067800" cy="1524000"/>
          </a:xfrm>
        </p:spPr>
        <p:txBody>
          <a:bodyPr>
            <a:normAutofit/>
          </a:bodyPr>
          <a:lstStyle/>
          <a:p>
            <a:pPr eaLnBrk="1" hangingPunct="1">
              <a:defRPr/>
            </a:pPr>
            <a:r>
              <a:rPr lang="en-US" sz="4400" dirty="0" smtClean="0">
                <a:solidFill>
                  <a:schemeClr val="accent1">
                    <a:satMod val="150000"/>
                  </a:schemeClr>
                </a:solidFill>
              </a:rPr>
              <a:t>Becoming Protesters : Role of Social media  in  Reclaiming </a:t>
            </a:r>
            <a:r>
              <a:rPr lang="en-US" sz="4400" dirty="0">
                <a:solidFill>
                  <a:schemeClr val="accent1">
                    <a:satMod val="150000"/>
                  </a:schemeClr>
                </a:solidFill>
              </a:rPr>
              <a:t>the </a:t>
            </a:r>
            <a:r>
              <a:rPr lang="en-US" sz="4400" dirty="0" smtClean="0">
                <a:solidFill>
                  <a:schemeClr val="accent1">
                    <a:satMod val="150000"/>
                  </a:schemeClr>
                </a:solidFill>
              </a:rPr>
              <a:t>Body</a:t>
            </a:r>
            <a:endParaRPr lang="en-US" dirty="0" smtClean="0">
              <a:cs typeface="+mj-cs"/>
            </a:endParaRPr>
          </a:p>
        </p:txBody>
      </p:sp>
      <p:sp>
        <p:nvSpPr>
          <p:cNvPr id="5" name="Rectangle 4"/>
          <p:cNvSpPr/>
          <p:nvPr/>
        </p:nvSpPr>
        <p:spPr>
          <a:xfrm>
            <a:off x="152400" y="2743200"/>
            <a:ext cx="8610600" cy="1569660"/>
          </a:xfrm>
          <a:prstGeom prst="rect">
            <a:avLst/>
          </a:prstGeom>
        </p:spPr>
        <p:txBody>
          <a:bodyPr wrap="square">
            <a:spAutoFit/>
          </a:bodyPr>
          <a:lstStyle/>
          <a:p>
            <a:pPr marL="457200" indent="-457200">
              <a:buFont typeface="Arial"/>
              <a:buChar char="•"/>
            </a:pPr>
            <a:r>
              <a:rPr lang="en-US" sz="3200" dirty="0">
                <a:solidFill>
                  <a:srgbClr val="FFFFFF"/>
                </a:solidFill>
              </a:rPr>
              <a:t>Social Media as a Strategy of </a:t>
            </a:r>
            <a:r>
              <a:rPr lang="en-US" sz="3200" dirty="0" smtClean="0">
                <a:solidFill>
                  <a:srgbClr val="FFFFFF"/>
                </a:solidFill>
              </a:rPr>
              <a:t> Resistance</a:t>
            </a:r>
          </a:p>
          <a:p>
            <a:endParaRPr lang="en-US" sz="3200" dirty="0" smtClean="0">
              <a:solidFill>
                <a:srgbClr val="FFFFFF"/>
              </a:solidFill>
            </a:endParaRPr>
          </a:p>
          <a:p>
            <a:pPr marL="457200" indent="-457200">
              <a:buFont typeface="Arial"/>
              <a:buChar char="•"/>
            </a:pPr>
            <a:r>
              <a:rPr lang="en-US" sz="3200" dirty="0" smtClean="0">
                <a:solidFill>
                  <a:srgbClr val="FFFFFF"/>
                </a:solidFill>
              </a:rPr>
              <a:t>Social Media as a Weapon of Control</a:t>
            </a:r>
            <a:endParaRPr lang="en-US" sz="3200" dirty="0">
              <a:solidFill>
                <a:srgbClr val="FFFFFF"/>
              </a:solidFill>
            </a:endParaRPr>
          </a:p>
        </p:txBody>
      </p:sp>
    </p:spTree>
    <p:extLst>
      <p:ext uri="{BB962C8B-B14F-4D97-AF65-F5344CB8AC3E}">
        <p14:creationId xmlns:p14="http://schemas.microsoft.com/office/powerpoint/2010/main" val="1376162295"/>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44700" y="0"/>
            <a:ext cx="5049078" cy="6858000"/>
          </a:xfrm>
          <a:prstGeom prst="rect">
            <a:avLst/>
          </a:prstGeom>
        </p:spPr>
      </p:pic>
      <p:sp>
        <p:nvSpPr>
          <p:cNvPr id="3" name="Rectangle 2"/>
          <p:cNvSpPr/>
          <p:nvPr/>
        </p:nvSpPr>
        <p:spPr>
          <a:xfrm>
            <a:off x="4343400" y="6211669"/>
            <a:ext cx="4572000" cy="646331"/>
          </a:xfrm>
          <a:prstGeom prst="rect">
            <a:avLst/>
          </a:prstGeom>
        </p:spPr>
        <p:txBody>
          <a:bodyPr>
            <a:spAutoFit/>
          </a:bodyPr>
          <a:lstStyle/>
          <a:p>
            <a:r>
              <a:rPr lang="en-US" sz="1200" dirty="0">
                <a:hlinkClick r:id="rId3"/>
              </a:rPr>
              <a:t>http://www.computerworld.com/s/article/9209159/Social_networks_credited_with_role_in_toppling_Egypt_s_Mubarak</a:t>
            </a:r>
            <a:endParaRPr lang="en-US" sz="1200" dirty="0"/>
          </a:p>
        </p:txBody>
      </p:sp>
    </p:spTree>
    <p:extLst>
      <p:ext uri="{BB962C8B-B14F-4D97-AF65-F5344CB8AC3E}">
        <p14:creationId xmlns:p14="http://schemas.microsoft.com/office/powerpoint/2010/main" val="3455493709"/>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witter-egypt-revolution.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2007" y="1187293"/>
            <a:ext cx="4089400" cy="4572000"/>
          </a:xfrm>
          <a:prstGeom prst="rect">
            <a:avLst/>
          </a:prstGeom>
        </p:spPr>
      </p:pic>
      <p:sp>
        <p:nvSpPr>
          <p:cNvPr id="3" name="Rectangle 2"/>
          <p:cNvSpPr/>
          <p:nvPr/>
        </p:nvSpPr>
        <p:spPr>
          <a:xfrm>
            <a:off x="1600200" y="5867400"/>
            <a:ext cx="4572000" cy="461665"/>
          </a:xfrm>
          <a:prstGeom prst="rect">
            <a:avLst/>
          </a:prstGeom>
        </p:spPr>
        <p:txBody>
          <a:bodyPr>
            <a:spAutoFit/>
          </a:bodyPr>
          <a:lstStyle/>
          <a:p>
            <a:r>
              <a:rPr lang="en-US" sz="1200" dirty="0">
                <a:hlinkClick r:id="rId3"/>
              </a:rPr>
              <a:t>http://selnadeem.wordpress.com/2011/03/01/how-social-media-sparked-a-revolution-2/</a:t>
            </a:r>
            <a:endParaRPr lang="en-US" sz="1200" dirty="0"/>
          </a:p>
        </p:txBody>
      </p:sp>
    </p:spTree>
    <p:extLst>
      <p:ext uri="{BB962C8B-B14F-4D97-AF65-F5344CB8AC3E}">
        <p14:creationId xmlns:p14="http://schemas.microsoft.com/office/powerpoint/2010/main" val="3406660115"/>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76400" y="381000"/>
            <a:ext cx="6400800" cy="5779032"/>
          </a:xfrm>
          <a:prstGeom prst="rect">
            <a:avLst/>
          </a:prstGeom>
        </p:spPr>
      </p:pic>
    </p:spTree>
    <p:extLst>
      <p:ext uri="{BB962C8B-B14F-4D97-AF65-F5344CB8AC3E}">
        <p14:creationId xmlns:p14="http://schemas.microsoft.com/office/powerpoint/2010/main" val="1073020964"/>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III. Active Force against Docility</a:t>
            </a:r>
            <a:endParaRPr lang="en-US" dirty="0"/>
          </a:p>
        </p:txBody>
      </p:sp>
      <p:sp>
        <p:nvSpPr>
          <p:cNvPr id="3" name="Content Placeholder 2"/>
          <p:cNvSpPr>
            <a:spLocks noGrp="1"/>
          </p:cNvSpPr>
          <p:nvPr>
            <p:ph idx="1"/>
          </p:nvPr>
        </p:nvSpPr>
        <p:spPr/>
        <p:txBody>
          <a:bodyPr/>
          <a:lstStyle/>
          <a:p>
            <a:r>
              <a:rPr lang="en-US" dirty="0" smtClean="0"/>
              <a:t>Becoming a Protester to reject the dominance: the Role of Social Media (SM)</a:t>
            </a:r>
          </a:p>
          <a:p>
            <a:pPr lvl="1"/>
            <a:r>
              <a:rPr lang="en-US" dirty="0" smtClean="0"/>
              <a:t>SM as a Strategy of Resistance</a:t>
            </a:r>
          </a:p>
          <a:p>
            <a:pPr lvl="1"/>
            <a:r>
              <a:rPr lang="en-US" dirty="0" smtClean="0"/>
              <a:t>SM as a Weapon of Control</a:t>
            </a:r>
          </a:p>
          <a:p>
            <a:r>
              <a:rPr lang="en-US" dirty="0" smtClean="0"/>
              <a:t>Deleuze’s Control Societies</a:t>
            </a:r>
          </a:p>
          <a:p>
            <a:r>
              <a:rPr lang="en-US" dirty="0" smtClean="0"/>
              <a:t>Deleuze’s ‘What the body can do’</a:t>
            </a:r>
          </a:p>
          <a:p>
            <a:pPr marL="119062" indent="0">
              <a:buNone/>
            </a:pPr>
            <a:endParaRPr lang="en-US" dirty="0" smtClean="0"/>
          </a:p>
          <a:p>
            <a:endParaRPr lang="en-US" dirty="0"/>
          </a:p>
        </p:txBody>
      </p:sp>
      <p:sp>
        <p:nvSpPr>
          <p:cNvPr id="4" name="Right Arrow 3"/>
          <p:cNvSpPr/>
          <p:nvPr/>
        </p:nvSpPr>
        <p:spPr>
          <a:xfrm>
            <a:off x="228600" y="3048000"/>
            <a:ext cx="609600" cy="228600"/>
          </a:xfrm>
          <a:prstGeom prst="rightArrow">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0891749"/>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Media: A Strategy of Resistance</a:t>
            </a:r>
            <a:endParaRPr lang="en-US" dirty="0"/>
          </a:p>
        </p:txBody>
      </p:sp>
      <p:sp>
        <p:nvSpPr>
          <p:cNvPr id="3" name="Content Placeholder 2"/>
          <p:cNvSpPr>
            <a:spLocks noGrp="1"/>
          </p:cNvSpPr>
          <p:nvPr>
            <p:ph idx="1"/>
          </p:nvPr>
        </p:nvSpPr>
        <p:spPr/>
        <p:txBody>
          <a:bodyPr>
            <a:normAutofit/>
          </a:bodyPr>
          <a:lstStyle/>
          <a:p>
            <a:pPr marL="0" indent="0">
              <a:buNone/>
            </a:pPr>
            <a:r>
              <a:rPr lang="en-US" dirty="0"/>
              <a:t> </a:t>
            </a:r>
          </a:p>
          <a:p>
            <a:pPr marL="0" indent="0">
              <a:buNone/>
            </a:pPr>
            <a:r>
              <a:rPr lang="en-US" dirty="0" smtClean="0"/>
              <a:t> </a:t>
            </a:r>
            <a:r>
              <a:rPr lang="en-US" dirty="0"/>
              <a:t>  </a:t>
            </a:r>
          </a:p>
        </p:txBody>
      </p:sp>
      <p:sp>
        <p:nvSpPr>
          <p:cNvPr id="4" name="Rectangle 3"/>
          <p:cNvSpPr/>
          <p:nvPr/>
        </p:nvSpPr>
        <p:spPr>
          <a:xfrm>
            <a:off x="914400" y="2690336"/>
            <a:ext cx="7543800" cy="2554545"/>
          </a:xfrm>
          <a:prstGeom prst="rect">
            <a:avLst/>
          </a:prstGeom>
        </p:spPr>
        <p:txBody>
          <a:bodyPr wrap="square">
            <a:spAutoFit/>
          </a:bodyPr>
          <a:lstStyle/>
          <a:p>
            <a:pPr marL="457200" indent="-457200">
              <a:buFont typeface="Arial"/>
              <a:buChar char="•"/>
            </a:pPr>
            <a:r>
              <a:rPr lang="en-US" sz="3200" dirty="0"/>
              <a:t>SM as scaffolding for organizing a virtual public sphere outside of the State</a:t>
            </a:r>
          </a:p>
          <a:p>
            <a:pPr marL="457200" indent="-457200">
              <a:buFont typeface="Arial"/>
              <a:buChar char="•"/>
            </a:pPr>
            <a:r>
              <a:rPr lang="en-US" sz="3200" dirty="0"/>
              <a:t>Embraced by all social groups that joined the protest movements </a:t>
            </a:r>
          </a:p>
        </p:txBody>
      </p:sp>
    </p:spTree>
    <p:extLst>
      <p:ext uri="{BB962C8B-B14F-4D97-AF65-F5344CB8AC3E}">
        <p14:creationId xmlns:p14="http://schemas.microsoft.com/office/powerpoint/2010/main" val="4131397016"/>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SM’s architecture </a:t>
            </a:r>
          </a:p>
        </p:txBody>
      </p:sp>
      <p:sp>
        <p:nvSpPr>
          <p:cNvPr id="3" name="Content Placeholder 2"/>
          <p:cNvSpPr>
            <a:spLocks noGrp="1"/>
          </p:cNvSpPr>
          <p:nvPr>
            <p:ph idx="1"/>
          </p:nvPr>
        </p:nvSpPr>
        <p:spPr/>
        <p:txBody>
          <a:bodyPr/>
          <a:lstStyle/>
          <a:p>
            <a:pPr marL="457200" indent="-457200"/>
            <a:r>
              <a:rPr lang="en-US" dirty="0"/>
              <a:t>SM facilitated mechanisms for popular framing of the resistance to appeal to the public.</a:t>
            </a:r>
          </a:p>
          <a:p>
            <a:pPr marL="457200" indent="-457200"/>
            <a:r>
              <a:rPr lang="en-US" dirty="0"/>
              <a:t>No feasibility to falsify one’s identity or preference on the Facebook  allowed the participants to know that the general public was involved in the protests – this attracted the ordinary citizens to join the resistance</a:t>
            </a:r>
          </a:p>
          <a:p>
            <a:pPr marL="457200" indent="-457200"/>
            <a:r>
              <a:rPr lang="en-US" dirty="0"/>
              <a:t>Low cost medium of popular mobilization</a:t>
            </a:r>
          </a:p>
          <a:p>
            <a:endParaRPr lang="en-US" dirty="0"/>
          </a:p>
        </p:txBody>
      </p:sp>
    </p:spTree>
    <p:extLst>
      <p:ext uri="{BB962C8B-B14F-4D97-AF65-F5344CB8AC3E}">
        <p14:creationId xmlns:p14="http://schemas.microsoft.com/office/powerpoint/2010/main" val="1834268631"/>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SM as the tool of public interactivity</a:t>
            </a:r>
            <a:endParaRPr lang="en-US" dirty="0"/>
          </a:p>
        </p:txBody>
      </p:sp>
      <p:sp>
        <p:nvSpPr>
          <p:cNvPr id="3" name="Content Placeholder 2"/>
          <p:cNvSpPr>
            <a:spLocks noGrp="1"/>
          </p:cNvSpPr>
          <p:nvPr>
            <p:ph idx="1"/>
          </p:nvPr>
        </p:nvSpPr>
        <p:spPr/>
        <p:txBody>
          <a:bodyPr>
            <a:normAutofit fontScale="92500" lnSpcReduction="20000"/>
          </a:bodyPr>
          <a:lstStyle/>
          <a:p>
            <a:r>
              <a:rPr lang="en-US" dirty="0"/>
              <a:t>Expanded information dissemination</a:t>
            </a:r>
          </a:p>
          <a:p>
            <a:r>
              <a:rPr lang="en-US" dirty="0"/>
              <a:t>Popularized the resistance by framing of issues to appeal to the public</a:t>
            </a:r>
          </a:p>
          <a:p>
            <a:r>
              <a:rPr lang="en-US" dirty="0"/>
              <a:t>Created a climate against the dictator</a:t>
            </a:r>
          </a:p>
          <a:p>
            <a:r>
              <a:rPr lang="en-US" dirty="0"/>
              <a:t>Diverted the State’s attention away from major demonstrations</a:t>
            </a:r>
          </a:p>
          <a:p>
            <a:r>
              <a:rPr lang="en-US" dirty="0"/>
              <a:t>Created Protesters’ oppositional identity </a:t>
            </a:r>
          </a:p>
          <a:p>
            <a:r>
              <a:rPr lang="en-US" dirty="0"/>
              <a:t>Expanded networks nationally and internationally </a:t>
            </a:r>
          </a:p>
          <a:p>
            <a:r>
              <a:rPr lang="en-US" dirty="0"/>
              <a:t>Turned popular frustration into a cause</a:t>
            </a:r>
          </a:p>
          <a:p>
            <a:r>
              <a:rPr lang="en-US" dirty="0"/>
              <a:t>Provided a Locational Identity (</a:t>
            </a:r>
            <a:r>
              <a:rPr lang="en-US" dirty="0" err="1"/>
              <a:t>Tahrir</a:t>
            </a:r>
            <a:r>
              <a:rPr lang="en-US" dirty="0"/>
              <a:t> Square)</a:t>
            </a:r>
          </a:p>
        </p:txBody>
      </p:sp>
    </p:spTree>
    <p:extLst>
      <p:ext uri="{BB962C8B-B14F-4D97-AF65-F5344CB8AC3E}">
        <p14:creationId xmlns:p14="http://schemas.microsoft.com/office/powerpoint/2010/main" val="2758613761"/>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71600" y="914400"/>
            <a:ext cx="6540500" cy="5105400"/>
          </a:xfrm>
          <a:prstGeom prst="rect">
            <a:avLst/>
          </a:prstGeom>
        </p:spPr>
      </p:pic>
      <p:sp>
        <p:nvSpPr>
          <p:cNvPr id="3" name="Rectangle 2"/>
          <p:cNvSpPr/>
          <p:nvPr/>
        </p:nvSpPr>
        <p:spPr>
          <a:xfrm>
            <a:off x="2209800" y="152400"/>
            <a:ext cx="4572000" cy="400110"/>
          </a:xfrm>
          <a:prstGeom prst="rect">
            <a:avLst/>
          </a:prstGeom>
        </p:spPr>
        <p:txBody>
          <a:bodyPr>
            <a:spAutoFit/>
          </a:bodyPr>
          <a:lstStyle/>
          <a:p>
            <a:r>
              <a:rPr lang="en-US" sz="1000" dirty="0">
                <a:hlinkClick r:id="rId3"/>
              </a:rPr>
              <a:t>http://www.computerworld.com/s/article/9209159/Social_networks_credited_with_role_in_toppling_Egypt_s_Mubarak</a:t>
            </a:r>
            <a:endParaRPr lang="en-US" sz="1000" dirty="0"/>
          </a:p>
        </p:txBody>
      </p:sp>
    </p:spTree>
    <p:extLst>
      <p:ext uri="{BB962C8B-B14F-4D97-AF65-F5344CB8AC3E}">
        <p14:creationId xmlns:p14="http://schemas.microsoft.com/office/powerpoint/2010/main" val="2616409626"/>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82700" y="1409700"/>
            <a:ext cx="6565900" cy="4025900"/>
          </a:xfrm>
          <a:prstGeom prst="rect">
            <a:avLst/>
          </a:prstGeom>
        </p:spPr>
      </p:pic>
    </p:spTree>
    <p:extLst>
      <p:ext uri="{BB962C8B-B14F-4D97-AF65-F5344CB8AC3E}">
        <p14:creationId xmlns:p14="http://schemas.microsoft.com/office/powerpoint/2010/main" val="3079923316"/>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71600" y="914400"/>
            <a:ext cx="6717447" cy="4800599"/>
          </a:xfrm>
          <a:prstGeom prst="rect">
            <a:avLst/>
          </a:prstGeom>
        </p:spPr>
      </p:pic>
    </p:spTree>
    <p:extLst>
      <p:ext uri="{BB962C8B-B14F-4D97-AF65-F5344CB8AC3E}">
        <p14:creationId xmlns:p14="http://schemas.microsoft.com/office/powerpoint/2010/main" val="2304590352"/>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28800" y="685800"/>
            <a:ext cx="5791200" cy="4682557"/>
          </a:xfrm>
          <a:prstGeom prst="rect">
            <a:avLst/>
          </a:prstGeom>
        </p:spPr>
      </p:pic>
    </p:spTree>
    <p:extLst>
      <p:ext uri="{BB962C8B-B14F-4D97-AF65-F5344CB8AC3E}">
        <p14:creationId xmlns:p14="http://schemas.microsoft.com/office/powerpoint/2010/main" val="3890441055"/>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952500"/>
            <a:ext cx="9144000" cy="4943707"/>
          </a:xfrm>
          <a:prstGeom prst="rect">
            <a:avLst/>
          </a:prstGeom>
        </p:spPr>
      </p:pic>
      <p:sp>
        <p:nvSpPr>
          <p:cNvPr id="3" name="Rectangle 2"/>
          <p:cNvSpPr/>
          <p:nvPr/>
        </p:nvSpPr>
        <p:spPr>
          <a:xfrm>
            <a:off x="990600" y="5943600"/>
            <a:ext cx="7924800" cy="246221"/>
          </a:xfrm>
          <a:prstGeom prst="rect">
            <a:avLst/>
          </a:prstGeom>
        </p:spPr>
        <p:txBody>
          <a:bodyPr wrap="square">
            <a:spAutoFit/>
          </a:bodyPr>
          <a:lstStyle/>
          <a:p>
            <a:r>
              <a:rPr lang="en-US" sz="1000" dirty="0">
                <a:hlinkClick r:id="rId4"/>
              </a:rPr>
              <a:t>http://www.computerworld.com/s/article/9209159/Social_networks_credited_with_role_in_toppling_Egypt_s_Mubarak</a:t>
            </a:r>
            <a:endParaRPr lang="en-US" sz="1000" dirty="0"/>
          </a:p>
        </p:txBody>
      </p:sp>
    </p:spTree>
    <p:extLst>
      <p:ext uri="{BB962C8B-B14F-4D97-AF65-F5344CB8AC3E}">
        <p14:creationId xmlns:p14="http://schemas.microsoft.com/office/powerpoint/2010/main" val="1545625074"/>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71600" y="1727200"/>
            <a:ext cx="6400800" cy="3403600"/>
          </a:xfrm>
          <a:prstGeom prst="rect">
            <a:avLst/>
          </a:prstGeom>
        </p:spPr>
      </p:pic>
    </p:spTree>
    <p:extLst>
      <p:ext uri="{BB962C8B-B14F-4D97-AF65-F5344CB8AC3E}">
        <p14:creationId xmlns:p14="http://schemas.microsoft.com/office/powerpoint/2010/main" val="2768287159"/>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46200" y="1308100"/>
            <a:ext cx="6451600" cy="4229100"/>
          </a:xfrm>
          <a:prstGeom prst="rect">
            <a:avLst/>
          </a:prstGeom>
        </p:spPr>
      </p:pic>
    </p:spTree>
    <p:extLst>
      <p:ext uri="{BB962C8B-B14F-4D97-AF65-F5344CB8AC3E}">
        <p14:creationId xmlns:p14="http://schemas.microsoft.com/office/powerpoint/2010/main" val="2981765642"/>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58900" y="1409700"/>
            <a:ext cx="6413500" cy="4025900"/>
          </a:xfrm>
          <a:prstGeom prst="rect">
            <a:avLst/>
          </a:prstGeom>
        </p:spPr>
      </p:pic>
    </p:spTree>
    <p:extLst>
      <p:ext uri="{BB962C8B-B14F-4D97-AF65-F5344CB8AC3E}">
        <p14:creationId xmlns:p14="http://schemas.microsoft.com/office/powerpoint/2010/main" val="371913165"/>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71600" y="1562100"/>
            <a:ext cx="6400800" cy="3721100"/>
          </a:xfrm>
          <a:prstGeom prst="rect">
            <a:avLst/>
          </a:prstGeom>
        </p:spPr>
      </p:pic>
    </p:spTree>
    <p:extLst>
      <p:ext uri="{BB962C8B-B14F-4D97-AF65-F5344CB8AC3E}">
        <p14:creationId xmlns:p14="http://schemas.microsoft.com/office/powerpoint/2010/main" val="1976723514"/>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a:bodyPr>
          <a:lstStyle/>
          <a:p>
            <a:r>
              <a:rPr lang="en-US" dirty="0"/>
              <a:t>Deterritorialization </a:t>
            </a:r>
          </a:p>
        </p:txBody>
      </p:sp>
      <p:sp>
        <p:nvSpPr>
          <p:cNvPr id="3" name="Content Placeholder 2"/>
          <p:cNvSpPr>
            <a:spLocks noGrp="1"/>
          </p:cNvSpPr>
          <p:nvPr>
            <p:ph idx="1"/>
          </p:nvPr>
        </p:nvSpPr>
        <p:spPr/>
        <p:txBody>
          <a:bodyPr>
            <a:normAutofit fontScale="92500" lnSpcReduction="10000"/>
          </a:bodyPr>
          <a:lstStyle/>
          <a:p>
            <a:r>
              <a:rPr lang="en-US" dirty="0">
                <a:solidFill>
                  <a:srgbClr val="FF6600"/>
                </a:solidFill>
              </a:rPr>
              <a:t>A process of becoming free </a:t>
            </a:r>
            <a:r>
              <a:rPr lang="en-US" dirty="0"/>
              <a:t>from an imposed rigid organization of hierarchic units or discrete categories with singular coded meaning or identities </a:t>
            </a:r>
          </a:p>
          <a:p>
            <a:r>
              <a:rPr lang="en-US" dirty="0"/>
              <a:t>The process </a:t>
            </a:r>
            <a:r>
              <a:rPr lang="en-US" dirty="0">
                <a:solidFill>
                  <a:srgbClr val="FF6600"/>
                </a:solidFill>
              </a:rPr>
              <a:t>releases one from the relations that constrain individuals/groups from the actualization of their potential</a:t>
            </a:r>
            <a:r>
              <a:rPr lang="en-US" dirty="0"/>
              <a:t>. </a:t>
            </a:r>
          </a:p>
          <a:p>
            <a:r>
              <a:rPr lang="en-US" dirty="0"/>
              <a:t>It unfolds the bodies’ virtual dimensions leading to a </a:t>
            </a:r>
            <a:r>
              <a:rPr lang="en-US" dirty="0">
                <a:solidFill>
                  <a:srgbClr val="FF6600"/>
                </a:solidFill>
              </a:rPr>
              <a:t>dynamic set of interconnected identities with permeable individual boundaries</a:t>
            </a:r>
            <a:r>
              <a:rPr lang="en-US" dirty="0"/>
              <a:t>.  </a:t>
            </a:r>
          </a:p>
          <a:p>
            <a:pPr marL="0" indent="0">
              <a:buNone/>
            </a:pPr>
            <a:endParaRPr lang="en-US" dirty="0"/>
          </a:p>
        </p:txBody>
      </p:sp>
    </p:spTree>
    <p:extLst>
      <p:ext uri="{BB962C8B-B14F-4D97-AF65-F5344CB8AC3E}">
        <p14:creationId xmlns:p14="http://schemas.microsoft.com/office/powerpoint/2010/main" val="114603983"/>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III. Active Force against Docility</a:t>
            </a:r>
            <a:endParaRPr lang="en-US" dirty="0"/>
          </a:p>
        </p:txBody>
      </p:sp>
      <p:sp>
        <p:nvSpPr>
          <p:cNvPr id="3" name="Content Placeholder 2"/>
          <p:cNvSpPr>
            <a:spLocks noGrp="1"/>
          </p:cNvSpPr>
          <p:nvPr>
            <p:ph idx="1"/>
          </p:nvPr>
        </p:nvSpPr>
        <p:spPr/>
        <p:txBody>
          <a:bodyPr/>
          <a:lstStyle/>
          <a:p>
            <a:r>
              <a:rPr lang="en-US" dirty="0" smtClean="0"/>
              <a:t>Becoming a Protester to reject the dominance: the Role of Social Media (SM)</a:t>
            </a:r>
          </a:p>
          <a:p>
            <a:pPr lvl="1"/>
            <a:r>
              <a:rPr lang="en-US" dirty="0" smtClean="0"/>
              <a:t>SM as a Strategy of Resistance</a:t>
            </a:r>
          </a:p>
          <a:p>
            <a:pPr lvl="1"/>
            <a:r>
              <a:rPr lang="en-US" dirty="0" smtClean="0"/>
              <a:t>SM as a Weapon of Control</a:t>
            </a:r>
          </a:p>
          <a:p>
            <a:r>
              <a:rPr lang="en-US" dirty="0" smtClean="0"/>
              <a:t>Deleuze’s Control Societies</a:t>
            </a:r>
          </a:p>
          <a:p>
            <a:r>
              <a:rPr lang="en-US" dirty="0" smtClean="0"/>
              <a:t>Deleuze’s ‘What the body can do?’</a:t>
            </a:r>
          </a:p>
          <a:p>
            <a:pPr marL="119062" indent="0">
              <a:buNone/>
            </a:pPr>
            <a:endParaRPr lang="en-US" dirty="0" smtClean="0"/>
          </a:p>
          <a:p>
            <a:endParaRPr lang="en-US" dirty="0"/>
          </a:p>
        </p:txBody>
      </p:sp>
      <p:sp>
        <p:nvSpPr>
          <p:cNvPr id="4" name="Right Arrow 3"/>
          <p:cNvSpPr/>
          <p:nvPr/>
        </p:nvSpPr>
        <p:spPr>
          <a:xfrm>
            <a:off x="228600" y="3581400"/>
            <a:ext cx="609600" cy="228600"/>
          </a:xfrm>
          <a:prstGeom prst="rightArrow">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199967"/>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Muslim Brotherhood’s use of Social Media</a:t>
            </a:r>
            <a:endParaRPr lang="en-US" dirty="0"/>
          </a:p>
        </p:txBody>
      </p:sp>
      <p:sp>
        <p:nvSpPr>
          <p:cNvPr id="3" name="Content Placeholder 2"/>
          <p:cNvSpPr>
            <a:spLocks noGrp="1"/>
          </p:cNvSpPr>
          <p:nvPr>
            <p:ph idx="1"/>
          </p:nvPr>
        </p:nvSpPr>
        <p:spPr/>
        <p:txBody>
          <a:bodyPr>
            <a:normAutofit fontScale="92500" lnSpcReduction="10000"/>
          </a:bodyPr>
          <a:lstStyle/>
          <a:p>
            <a:pPr marL="457200" indent="-457200"/>
            <a:r>
              <a:rPr lang="en-US" dirty="0"/>
              <a:t>Muslim Brotherhood pragmatically separated its religious ideological platform from the political interests the protest movement presented to it </a:t>
            </a:r>
          </a:p>
          <a:p>
            <a:pPr marL="457200" indent="-457200"/>
            <a:r>
              <a:rPr lang="en-US" dirty="0"/>
              <a:t>SM in conjunction with  Dot com (.com) webpage was aimed at uniting world Muslims of different languages and races</a:t>
            </a:r>
          </a:p>
          <a:p>
            <a:r>
              <a:rPr lang="en-US" dirty="0"/>
              <a:t>MB party accused SM as </a:t>
            </a:r>
            <a:r>
              <a:rPr lang="en-US" dirty="0" err="1"/>
              <a:t>Islamphobic</a:t>
            </a:r>
            <a:r>
              <a:rPr lang="en-US" dirty="0"/>
              <a:t> &amp; as being biased against Muslims </a:t>
            </a:r>
          </a:p>
          <a:p>
            <a:r>
              <a:rPr lang="en-US" dirty="0"/>
              <a:t>But, MB party exploited the Facebook to advertise its </a:t>
            </a:r>
            <a:r>
              <a:rPr lang="en-US" dirty="0" err="1"/>
              <a:t>Ikhwanbook.com</a:t>
            </a:r>
            <a:r>
              <a:rPr lang="en-US" dirty="0"/>
              <a:t>.</a:t>
            </a:r>
          </a:p>
        </p:txBody>
      </p:sp>
    </p:spTree>
    <p:extLst>
      <p:ext uri="{BB962C8B-B14F-4D97-AF65-F5344CB8AC3E}">
        <p14:creationId xmlns:p14="http://schemas.microsoft.com/office/powerpoint/2010/main" val="3253998369"/>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133600" y="0"/>
            <a:ext cx="4886325" cy="6858000"/>
          </a:xfrm>
          <a:prstGeom prst="rect">
            <a:avLst/>
          </a:prstGeom>
        </p:spPr>
      </p:pic>
      <p:sp>
        <p:nvSpPr>
          <p:cNvPr id="4" name="Rectangle 3"/>
          <p:cNvSpPr/>
          <p:nvPr/>
        </p:nvSpPr>
        <p:spPr>
          <a:xfrm>
            <a:off x="2057400" y="6477000"/>
            <a:ext cx="5791200" cy="246221"/>
          </a:xfrm>
          <a:prstGeom prst="rect">
            <a:avLst/>
          </a:prstGeom>
        </p:spPr>
        <p:txBody>
          <a:bodyPr wrap="square">
            <a:spAutoFit/>
          </a:bodyPr>
          <a:lstStyle/>
          <a:p>
            <a:r>
              <a:rPr lang="en-US" sz="1000" dirty="0">
                <a:solidFill>
                  <a:srgbClr val="000000"/>
                </a:solidFill>
              </a:rPr>
              <a:t>http://</a:t>
            </a:r>
            <a:r>
              <a:rPr lang="en-US" sz="1000" dirty="0" err="1">
                <a:solidFill>
                  <a:srgbClr val="000000"/>
                </a:solidFill>
              </a:rPr>
              <a:t>www.juancole.com</a:t>
            </a:r>
            <a:r>
              <a:rPr lang="en-US" sz="1000" dirty="0">
                <a:solidFill>
                  <a:srgbClr val="000000"/>
                </a:solidFill>
              </a:rPr>
              <a:t>/2012/07/flow-chart-of-authority-in-todays-</a:t>
            </a:r>
            <a:r>
              <a:rPr lang="en-US" sz="1000" dirty="0" err="1">
                <a:solidFill>
                  <a:srgbClr val="000000"/>
                </a:solidFill>
              </a:rPr>
              <a:t>egypt.html</a:t>
            </a:r>
            <a:r>
              <a:rPr lang="en-US" sz="1000" dirty="0">
                <a:solidFill>
                  <a:srgbClr val="000000"/>
                </a:solidFill>
              </a:rPr>
              <a:t>/egypt-flow-chart-2</a:t>
            </a:r>
          </a:p>
        </p:txBody>
      </p:sp>
    </p:spTree>
    <p:extLst>
      <p:ext uri="{BB962C8B-B14F-4D97-AF65-F5344CB8AC3E}">
        <p14:creationId xmlns:p14="http://schemas.microsoft.com/office/powerpoint/2010/main" val="3125705947"/>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 as a Weapon of Control </a:t>
            </a:r>
            <a:endParaRPr lang="en-US" dirty="0"/>
          </a:p>
        </p:txBody>
      </p:sp>
      <p:sp>
        <p:nvSpPr>
          <p:cNvPr id="3" name="Content Placeholder 2"/>
          <p:cNvSpPr>
            <a:spLocks noGrp="1"/>
          </p:cNvSpPr>
          <p:nvPr>
            <p:ph idx="1"/>
          </p:nvPr>
        </p:nvSpPr>
        <p:spPr/>
        <p:txBody>
          <a:bodyPr>
            <a:normAutofit/>
          </a:bodyPr>
          <a:lstStyle/>
          <a:p>
            <a:r>
              <a:rPr lang="en-US" dirty="0" smtClean="0"/>
              <a:t>SM increases control over the dissidents</a:t>
            </a:r>
          </a:p>
          <a:p>
            <a:r>
              <a:rPr lang="en-US" dirty="0" smtClean="0"/>
              <a:t>The Internet helps authoritarian regimes than harming them</a:t>
            </a:r>
          </a:p>
          <a:p>
            <a:r>
              <a:rPr lang="en-US" dirty="0" smtClean="0"/>
              <a:t>The Internet mobilizes and organizes espionage networks and political and religious extremists</a:t>
            </a:r>
          </a:p>
          <a:p>
            <a:r>
              <a:rPr lang="en-US" dirty="0" smtClean="0"/>
              <a:t>Going beyond technological control, the internet fosters social engineering aimed at disrupting dissenters’ networks</a:t>
            </a:r>
            <a:endParaRPr lang="en-US" dirty="0"/>
          </a:p>
        </p:txBody>
      </p:sp>
    </p:spTree>
    <p:extLst>
      <p:ext uri="{BB962C8B-B14F-4D97-AF65-F5344CB8AC3E}">
        <p14:creationId xmlns:p14="http://schemas.microsoft.com/office/powerpoint/2010/main" val="1240012484"/>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III. Active Force against Docility</a:t>
            </a:r>
            <a:endParaRPr lang="en-US" dirty="0"/>
          </a:p>
        </p:txBody>
      </p:sp>
      <p:sp>
        <p:nvSpPr>
          <p:cNvPr id="3" name="Content Placeholder 2"/>
          <p:cNvSpPr>
            <a:spLocks noGrp="1"/>
          </p:cNvSpPr>
          <p:nvPr>
            <p:ph idx="1"/>
          </p:nvPr>
        </p:nvSpPr>
        <p:spPr/>
        <p:txBody>
          <a:bodyPr/>
          <a:lstStyle/>
          <a:p>
            <a:r>
              <a:rPr lang="en-US" dirty="0" smtClean="0"/>
              <a:t>Becoming a Protester to reject the dominance: the Role of Social Media (SM)</a:t>
            </a:r>
          </a:p>
          <a:p>
            <a:pPr lvl="1"/>
            <a:r>
              <a:rPr lang="en-US" dirty="0" smtClean="0"/>
              <a:t>SM as a Strategy of Resistance</a:t>
            </a:r>
          </a:p>
          <a:p>
            <a:pPr lvl="1"/>
            <a:r>
              <a:rPr lang="en-US" dirty="0" smtClean="0"/>
              <a:t>SM as a Weapon of Control</a:t>
            </a:r>
          </a:p>
          <a:p>
            <a:r>
              <a:rPr lang="en-US" dirty="0" smtClean="0"/>
              <a:t>Deleuze’s Control Societies</a:t>
            </a:r>
          </a:p>
          <a:p>
            <a:r>
              <a:rPr lang="en-US" dirty="0" smtClean="0"/>
              <a:t>Deleuze’s ‘What the body can do?’</a:t>
            </a:r>
          </a:p>
          <a:p>
            <a:pPr marL="119062" indent="0">
              <a:buNone/>
            </a:pPr>
            <a:endParaRPr lang="en-US" dirty="0" smtClean="0"/>
          </a:p>
          <a:p>
            <a:endParaRPr lang="en-US" dirty="0"/>
          </a:p>
        </p:txBody>
      </p:sp>
      <p:sp>
        <p:nvSpPr>
          <p:cNvPr id="4" name="Right Arrow 3"/>
          <p:cNvSpPr/>
          <p:nvPr/>
        </p:nvSpPr>
        <p:spPr>
          <a:xfrm>
            <a:off x="-76200" y="4038600"/>
            <a:ext cx="609600" cy="228600"/>
          </a:xfrm>
          <a:prstGeom prst="rightArrow">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199967"/>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Deleuze’s Control societies</a:t>
            </a:r>
            <a:endParaRPr lang="en-US" dirty="0"/>
          </a:p>
        </p:txBody>
      </p:sp>
      <p:sp>
        <p:nvSpPr>
          <p:cNvPr id="3" name="Content Placeholder 2"/>
          <p:cNvSpPr>
            <a:spLocks noGrp="1"/>
          </p:cNvSpPr>
          <p:nvPr>
            <p:ph idx="1"/>
          </p:nvPr>
        </p:nvSpPr>
        <p:spPr>
          <a:xfrm>
            <a:off x="457200" y="1676400"/>
            <a:ext cx="8229600" cy="5105400"/>
          </a:xfrm>
        </p:spPr>
        <p:txBody>
          <a:bodyPr/>
          <a:lstStyle/>
          <a:p>
            <a:r>
              <a:rPr lang="en-US" dirty="0"/>
              <a:t>Free floating control through Internet as the  operating system</a:t>
            </a:r>
          </a:p>
          <a:p>
            <a:r>
              <a:rPr lang="en-US" dirty="0"/>
              <a:t>The Internet provides new weapons of control over the individual.</a:t>
            </a:r>
          </a:p>
          <a:p>
            <a:r>
              <a:rPr lang="en-US" dirty="0"/>
              <a:t>Corporate dominance over commercial &amp; technological productions</a:t>
            </a:r>
          </a:p>
          <a:p>
            <a:r>
              <a:rPr lang="en-US" dirty="0"/>
              <a:t>A universal system of deformation (change for the worse) works endlessly</a:t>
            </a:r>
          </a:p>
          <a:p>
            <a:r>
              <a:rPr lang="en-US" dirty="0"/>
              <a:t>Codes or numerical systems control everyone and everything</a:t>
            </a:r>
          </a:p>
          <a:p>
            <a:pPr marL="0" indent="0">
              <a:buNone/>
            </a:pPr>
            <a:endParaRPr lang="en-US" dirty="0"/>
          </a:p>
        </p:txBody>
      </p:sp>
    </p:spTree>
    <p:extLst>
      <p:ext uri="{BB962C8B-B14F-4D97-AF65-F5344CB8AC3E}">
        <p14:creationId xmlns:p14="http://schemas.microsoft.com/office/powerpoint/2010/main" val="2914034172"/>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Deleuze’s Control </a:t>
            </a:r>
            <a:r>
              <a:rPr lang="en-US" dirty="0"/>
              <a:t>societies (cont’d)</a:t>
            </a:r>
          </a:p>
        </p:txBody>
      </p:sp>
      <p:sp>
        <p:nvSpPr>
          <p:cNvPr id="3" name="Content Placeholder 2"/>
          <p:cNvSpPr>
            <a:spLocks noGrp="1"/>
          </p:cNvSpPr>
          <p:nvPr>
            <p:ph idx="1"/>
          </p:nvPr>
        </p:nvSpPr>
        <p:spPr/>
        <p:txBody>
          <a:bodyPr/>
          <a:lstStyle/>
          <a:p>
            <a:r>
              <a:rPr lang="en-US" dirty="0"/>
              <a:t>Computers track e-ach </a:t>
            </a:r>
            <a:r>
              <a:rPr lang="en-US" dirty="0" smtClean="0"/>
              <a:t>individual’s </a:t>
            </a:r>
            <a:r>
              <a:rPr lang="en-US" dirty="0"/>
              <a:t>position </a:t>
            </a:r>
            <a:r>
              <a:rPr lang="en-US" dirty="0" smtClean="0"/>
              <a:t>and effects a universal modulation</a:t>
            </a:r>
            <a:endParaRPr lang="en-US" dirty="0"/>
          </a:p>
          <a:p>
            <a:r>
              <a:rPr lang="en-US" dirty="0" smtClean="0"/>
              <a:t>A progressive and dispersed installation of a new system of domination</a:t>
            </a:r>
            <a:endParaRPr lang="en-US" dirty="0"/>
          </a:p>
        </p:txBody>
      </p:sp>
    </p:spTree>
    <p:extLst>
      <p:ext uri="{BB962C8B-B14F-4D97-AF65-F5344CB8AC3E}">
        <p14:creationId xmlns:p14="http://schemas.microsoft.com/office/powerpoint/2010/main" val="3723530198"/>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Control societies (cont’d)</a:t>
            </a:r>
            <a:endParaRPr lang="en-US" dirty="0"/>
          </a:p>
        </p:txBody>
      </p:sp>
      <p:sp>
        <p:nvSpPr>
          <p:cNvPr id="3" name="Content Placeholder 2"/>
          <p:cNvSpPr>
            <a:spLocks noGrp="1"/>
          </p:cNvSpPr>
          <p:nvPr>
            <p:ph idx="1"/>
          </p:nvPr>
        </p:nvSpPr>
        <p:spPr>
          <a:xfrm>
            <a:off x="457200" y="1329382"/>
            <a:ext cx="8229600" cy="4974141"/>
          </a:xfrm>
        </p:spPr>
        <p:txBody>
          <a:bodyPr>
            <a:normAutofit/>
          </a:bodyPr>
          <a:lstStyle/>
          <a:p>
            <a:r>
              <a:rPr lang="en-US" dirty="0" smtClean="0"/>
              <a:t>No longer mass/individual pair, but individual becomes ‘</a:t>
            </a:r>
            <a:r>
              <a:rPr lang="en-US" dirty="0" err="1" smtClean="0"/>
              <a:t>dividuals</a:t>
            </a:r>
            <a:r>
              <a:rPr lang="en-US" dirty="0" smtClean="0"/>
              <a:t>’, masses, samples, data, markets or data banks</a:t>
            </a:r>
          </a:p>
          <a:p>
            <a:r>
              <a:rPr lang="en-US" dirty="0" smtClean="0"/>
              <a:t>Passwords regulate the society</a:t>
            </a:r>
          </a:p>
          <a:p>
            <a:r>
              <a:rPr lang="en-US" dirty="0" smtClean="0"/>
              <a:t>Man of control is in undulating orbit , in continuous network of control</a:t>
            </a:r>
          </a:p>
          <a:p>
            <a:r>
              <a:rPr lang="en-US" dirty="0" smtClean="0"/>
              <a:t>Control is short term, of rapid rates of turnover, is continuous and unlimited</a:t>
            </a:r>
          </a:p>
          <a:p>
            <a:endParaRPr lang="en-US" dirty="0"/>
          </a:p>
        </p:txBody>
      </p:sp>
    </p:spTree>
    <p:extLst>
      <p:ext uri="{BB962C8B-B14F-4D97-AF65-F5344CB8AC3E}">
        <p14:creationId xmlns:p14="http://schemas.microsoft.com/office/powerpoint/2010/main" val="2408690112"/>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Reterritorialization</a:t>
            </a:r>
            <a:endParaRPr lang="en-US" dirty="0"/>
          </a:p>
        </p:txBody>
      </p:sp>
      <p:sp>
        <p:nvSpPr>
          <p:cNvPr id="3" name="Content Placeholder 2"/>
          <p:cNvSpPr>
            <a:spLocks noGrp="1"/>
          </p:cNvSpPr>
          <p:nvPr>
            <p:ph idx="1"/>
          </p:nvPr>
        </p:nvSpPr>
        <p:spPr>
          <a:xfrm>
            <a:off x="457199" y="1600200"/>
            <a:ext cx="8394995" cy="4525963"/>
          </a:xfrm>
        </p:spPr>
        <p:txBody>
          <a:bodyPr>
            <a:normAutofit fontScale="92500" lnSpcReduction="10000"/>
          </a:bodyPr>
          <a:lstStyle/>
          <a:p>
            <a:r>
              <a:rPr lang="en-US" dirty="0" smtClean="0"/>
              <a:t>In reality, as absolute deterritoriaization is not easily achieved, often only relative deterritorialization can occur since complete flight to freedom while being a part of a society is a fallacy.</a:t>
            </a:r>
          </a:p>
          <a:p>
            <a:r>
              <a:rPr lang="en-US" dirty="0" smtClean="0">
                <a:solidFill>
                  <a:srgbClr val="F0A7B1"/>
                </a:solidFill>
              </a:rPr>
              <a:t>After a regime falls, the new power reterritorializes the individuals/ groups </a:t>
            </a:r>
          </a:p>
          <a:p>
            <a:r>
              <a:rPr lang="en-US" dirty="0" smtClean="0"/>
              <a:t>The new rulers enforce their own beliefs and practices through their rules and information in order to control the people</a:t>
            </a:r>
            <a:endParaRPr lang="en-US" dirty="0"/>
          </a:p>
        </p:txBody>
      </p:sp>
    </p:spTree>
    <p:extLst>
      <p:ext uri="{BB962C8B-B14F-4D97-AF65-F5344CB8AC3E}">
        <p14:creationId xmlns:p14="http://schemas.microsoft.com/office/powerpoint/2010/main" val="573889867"/>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
            </a:r>
            <a:r>
              <a:rPr lang="en-US" dirty="0" smtClean="0"/>
              <a:t>eterritorialization</a:t>
            </a:r>
            <a:endParaRPr lang="en-US" dirty="0"/>
          </a:p>
        </p:txBody>
      </p:sp>
      <p:sp>
        <p:nvSpPr>
          <p:cNvPr id="3" name="Content Placeholder 2"/>
          <p:cNvSpPr>
            <a:spLocks noGrp="1"/>
          </p:cNvSpPr>
          <p:nvPr>
            <p:ph idx="1"/>
          </p:nvPr>
        </p:nvSpPr>
        <p:spPr/>
        <p:txBody>
          <a:bodyPr/>
          <a:lstStyle/>
          <a:p>
            <a:r>
              <a:rPr lang="en-US" dirty="0" smtClean="0"/>
              <a:t>Computer tracks protesters</a:t>
            </a:r>
          </a:p>
          <a:p>
            <a:r>
              <a:rPr lang="en-US" dirty="0" smtClean="0"/>
              <a:t>No Preference falsification: lack of anonymity on SM</a:t>
            </a:r>
          </a:p>
          <a:p>
            <a:r>
              <a:rPr lang="en-US" dirty="0" smtClean="0"/>
              <a:t>SM fosters looser coordination - ties for action are weaker rather than stronger</a:t>
            </a:r>
          </a:p>
          <a:p>
            <a:r>
              <a:rPr lang="en-US" dirty="0" smtClean="0"/>
              <a:t>Low cost of SM allows the state to combine it with their sophisticated older methods of surveillance to control the protesters </a:t>
            </a:r>
          </a:p>
          <a:p>
            <a:endParaRPr lang="en-US" dirty="0"/>
          </a:p>
        </p:txBody>
      </p:sp>
    </p:spTree>
    <p:extLst>
      <p:ext uri="{BB962C8B-B14F-4D97-AF65-F5344CB8AC3E}">
        <p14:creationId xmlns:p14="http://schemas.microsoft.com/office/powerpoint/2010/main" val="1558355705"/>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Reterritorialization (</a:t>
            </a:r>
            <a:r>
              <a:rPr lang="en-US" dirty="0"/>
              <a:t>cont’d)</a:t>
            </a:r>
          </a:p>
        </p:txBody>
      </p:sp>
      <p:sp>
        <p:nvSpPr>
          <p:cNvPr id="3" name="Content Placeholder 2"/>
          <p:cNvSpPr>
            <a:spLocks noGrp="1"/>
          </p:cNvSpPr>
          <p:nvPr>
            <p:ph idx="1"/>
          </p:nvPr>
        </p:nvSpPr>
        <p:spPr/>
        <p:txBody>
          <a:bodyPr/>
          <a:lstStyle/>
          <a:p>
            <a:r>
              <a:rPr lang="en-US" dirty="0" smtClean="0"/>
              <a:t>Coalesce ‘</a:t>
            </a:r>
            <a:r>
              <a:rPr lang="en-US" dirty="0" err="1" smtClean="0"/>
              <a:t>dividuals</a:t>
            </a:r>
            <a:r>
              <a:rPr lang="en-US" dirty="0" smtClean="0"/>
              <a:t>’ through SM’s facilitation of </a:t>
            </a:r>
            <a:r>
              <a:rPr lang="en-US" dirty="0" err="1" smtClean="0"/>
              <a:t>homophily</a:t>
            </a:r>
            <a:r>
              <a:rPr lang="en-US" dirty="0" smtClean="0"/>
              <a:t> and create divisions among the ideologues </a:t>
            </a:r>
            <a:endParaRPr lang="en-US" dirty="0"/>
          </a:p>
        </p:txBody>
      </p:sp>
    </p:spTree>
    <p:extLst>
      <p:ext uri="{BB962C8B-B14F-4D97-AF65-F5344CB8AC3E}">
        <p14:creationId xmlns:p14="http://schemas.microsoft.com/office/powerpoint/2010/main" val="2023860996"/>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III. Active Force against Docility</a:t>
            </a:r>
            <a:endParaRPr lang="en-US" dirty="0"/>
          </a:p>
        </p:txBody>
      </p:sp>
      <p:sp>
        <p:nvSpPr>
          <p:cNvPr id="3" name="Content Placeholder 2"/>
          <p:cNvSpPr>
            <a:spLocks noGrp="1"/>
          </p:cNvSpPr>
          <p:nvPr>
            <p:ph idx="1"/>
          </p:nvPr>
        </p:nvSpPr>
        <p:spPr/>
        <p:txBody>
          <a:bodyPr/>
          <a:lstStyle/>
          <a:p>
            <a:r>
              <a:rPr lang="en-US" dirty="0" smtClean="0"/>
              <a:t>Becoming a Protester to reject the dominance: the Role of Social Media (SM)</a:t>
            </a:r>
          </a:p>
          <a:p>
            <a:pPr lvl="1"/>
            <a:r>
              <a:rPr lang="en-US" dirty="0" smtClean="0"/>
              <a:t>SM as a Strategy of Resistance</a:t>
            </a:r>
          </a:p>
          <a:p>
            <a:pPr lvl="1"/>
            <a:r>
              <a:rPr lang="en-US" dirty="0" smtClean="0"/>
              <a:t>SM as a Weapon of Control</a:t>
            </a:r>
          </a:p>
          <a:p>
            <a:r>
              <a:rPr lang="en-US" dirty="0" smtClean="0"/>
              <a:t>Deleuze’s Control Societies</a:t>
            </a:r>
          </a:p>
          <a:p>
            <a:r>
              <a:rPr lang="en-US" dirty="0" smtClean="0"/>
              <a:t>Deleuze’s ‘What the body can do?’</a:t>
            </a:r>
          </a:p>
          <a:p>
            <a:pPr marL="119062" indent="0">
              <a:buNone/>
            </a:pPr>
            <a:endParaRPr lang="en-US" dirty="0" smtClean="0"/>
          </a:p>
          <a:p>
            <a:endParaRPr lang="en-US" dirty="0"/>
          </a:p>
        </p:txBody>
      </p:sp>
      <p:sp>
        <p:nvSpPr>
          <p:cNvPr id="4" name="Right Arrow 3"/>
          <p:cNvSpPr/>
          <p:nvPr/>
        </p:nvSpPr>
        <p:spPr>
          <a:xfrm>
            <a:off x="-76200" y="4495800"/>
            <a:ext cx="609600" cy="228600"/>
          </a:xfrm>
          <a:prstGeom prst="rightArrow">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199967"/>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Deleuze’s ‘What a body can do?’</a:t>
            </a:r>
            <a:endParaRPr lang="en-US" dirty="0"/>
          </a:p>
        </p:txBody>
      </p:sp>
      <p:sp>
        <p:nvSpPr>
          <p:cNvPr id="3" name="Content Placeholder 2"/>
          <p:cNvSpPr>
            <a:spLocks noGrp="1"/>
          </p:cNvSpPr>
          <p:nvPr>
            <p:ph idx="1"/>
          </p:nvPr>
        </p:nvSpPr>
        <p:spPr/>
        <p:txBody>
          <a:bodyPr/>
          <a:lstStyle/>
          <a:p>
            <a:r>
              <a:rPr lang="en-US" dirty="0" smtClean="0"/>
              <a:t>Virtual body’s potential for action outside and against the determinate state </a:t>
            </a:r>
          </a:p>
          <a:p>
            <a:r>
              <a:rPr lang="en-US" dirty="0" smtClean="0"/>
              <a:t>Not any one organ has power over the body</a:t>
            </a:r>
          </a:p>
          <a:p>
            <a:r>
              <a:rPr lang="en-US" dirty="0" smtClean="0"/>
              <a:t>Dismantling of the social body</a:t>
            </a:r>
          </a:p>
          <a:p>
            <a:r>
              <a:rPr lang="en-US" dirty="0" smtClean="0"/>
              <a:t>Deterritorialization vs. </a:t>
            </a:r>
            <a:r>
              <a:rPr lang="en-US" dirty="0"/>
              <a:t>R</a:t>
            </a:r>
            <a:r>
              <a:rPr lang="en-US" dirty="0" smtClean="0"/>
              <a:t>eterritorialization </a:t>
            </a:r>
            <a:endParaRPr lang="en-US" dirty="0"/>
          </a:p>
        </p:txBody>
      </p:sp>
    </p:spTree>
    <p:extLst>
      <p:ext uri="{BB962C8B-B14F-4D97-AF65-F5344CB8AC3E}">
        <p14:creationId xmlns:p14="http://schemas.microsoft.com/office/powerpoint/2010/main" val="1924236868"/>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Freeing the Social Body</a:t>
            </a:r>
            <a:endParaRPr lang="en-US" dirty="0"/>
          </a:p>
        </p:txBody>
      </p:sp>
      <p:sp>
        <p:nvSpPr>
          <p:cNvPr id="3" name="Content Placeholder 2"/>
          <p:cNvSpPr>
            <a:spLocks noGrp="1"/>
          </p:cNvSpPr>
          <p:nvPr>
            <p:ph idx="1"/>
          </p:nvPr>
        </p:nvSpPr>
        <p:spPr/>
        <p:txBody>
          <a:bodyPr/>
          <a:lstStyle/>
          <a:p>
            <a:r>
              <a:rPr lang="en-US" dirty="0" smtClean="0"/>
              <a:t>Desiring to use the potentials of their virtual bodies to ‘Become’ a </a:t>
            </a:r>
            <a:r>
              <a:rPr lang="en-US" dirty="0" err="1" smtClean="0"/>
              <a:t>BwO</a:t>
            </a:r>
            <a:r>
              <a:rPr lang="en-US" dirty="0" smtClean="0"/>
              <a:t> to achieve true freedom </a:t>
            </a:r>
          </a:p>
          <a:p>
            <a:r>
              <a:rPr lang="en-US" dirty="0" smtClean="0"/>
              <a:t>Taking a ‘line of Flight’ to shed constraints on the social body</a:t>
            </a:r>
            <a:endParaRPr lang="en-US" dirty="0"/>
          </a:p>
        </p:txBody>
      </p:sp>
    </p:spTree>
    <p:extLst>
      <p:ext uri="{BB962C8B-B14F-4D97-AF65-F5344CB8AC3E}">
        <p14:creationId xmlns:p14="http://schemas.microsoft.com/office/powerpoint/2010/main" val="565107252"/>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181100" y="1231900"/>
            <a:ext cx="6781800" cy="4381500"/>
          </a:xfrm>
          <a:prstGeom prst="rect">
            <a:avLst/>
          </a:prstGeom>
        </p:spPr>
      </p:pic>
      <p:sp>
        <p:nvSpPr>
          <p:cNvPr id="4" name="Rectangle 3"/>
          <p:cNvSpPr/>
          <p:nvPr/>
        </p:nvSpPr>
        <p:spPr>
          <a:xfrm>
            <a:off x="574674" y="5666472"/>
            <a:ext cx="6969125" cy="461665"/>
          </a:xfrm>
          <a:prstGeom prst="rect">
            <a:avLst/>
          </a:prstGeom>
        </p:spPr>
        <p:txBody>
          <a:bodyPr wrap="square">
            <a:spAutoFit/>
          </a:bodyPr>
          <a:lstStyle/>
          <a:p>
            <a:r>
              <a:rPr lang="en-US" sz="1200" dirty="0">
                <a:solidFill>
                  <a:srgbClr val="FFFFFF"/>
                </a:solidFill>
                <a:hlinkClick r:id="rId3" tooltip="Read more about Sean Carton "/>
              </a:rPr>
              <a:t>by graphic designer Sean </a:t>
            </a:r>
            <a:r>
              <a:rPr lang="en-US" sz="1200" dirty="0" smtClean="0">
                <a:solidFill>
                  <a:srgbClr val="FFFFFF"/>
                </a:solidFill>
                <a:hlinkClick r:id="rId3" tooltip="Read more about Sean Carton "/>
              </a:rPr>
              <a:t>Carton</a:t>
            </a:r>
            <a:endParaRPr lang="en-US" sz="1200" dirty="0" smtClean="0">
              <a:solidFill>
                <a:srgbClr val="FFFFFF"/>
              </a:solidFill>
            </a:endParaRPr>
          </a:p>
          <a:p>
            <a:r>
              <a:rPr lang="en-US" sz="1200" dirty="0" smtClean="0"/>
              <a:t>http</a:t>
            </a:r>
            <a:r>
              <a:rPr lang="en-US" sz="1200" dirty="0"/>
              <a:t>://</a:t>
            </a:r>
            <a:r>
              <a:rPr lang="en-US" sz="1200" dirty="0" err="1"/>
              <a:t>mindymcadams.com</a:t>
            </a:r>
            <a:r>
              <a:rPr lang="en-US" sz="1200" dirty="0"/>
              <a:t>/</a:t>
            </a:r>
            <a:r>
              <a:rPr lang="en-US" sz="1200" dirty="0" err="1"/>
              <a:t>tojou</a:t>
            </a:r>
            <a:r>
              <a:rPr lang="en-US" sz="1200" dirty="0"/>
              <a:t>/2011/timelines-in-journalism-a-closer-look/</a:t>
            </a:r>
          </a:p>
        </p:txBody>
      </p:sp>
      <p:sp>
        <p:nvSpPr>
          <p:cNvPr id="2" name="TextBox 1"/>
          <p:cNvSpPr txBox="1"/>
          <p:nvPr/>
        </p:nvSpPr>
        <p:spPr>
          <a:xfrm>
            <a:off x="228600" y="533400"/>
            <a:ext cx="8156800" cy="461665"/>
          </a:xfrm>
          <a:prstGeom prst="rect">
            <a:avLst/>
          </a:prstGeom>
          <a:noFill/>
        </p:spPr>
        <p:txBody>
          <a:bodyPr wrap="none" rtlCol="0">
            <a:spAutoFit/>
          </a:bodyPr>
          <a:lstStyle/>
          <a:p>
            <a:r>
              <a:rPr lang="en-US" sz="2400" dirty="0" smtClean="0"/>
              <a:t>Chronology of the Development of Communications Media</a:t>
            </a:r>
            <a:endParaRPr lang="en-US" sz="2400" dirty="0"/>
          </a:p>
        </p:txBody>
      </p:sp>
    </p:spTree>
    <p:extLst>
      <p:ext uri="{BB962C8B-B14F-4D97-AF65-F5344CB8AC3E}">
        <p14:creationId xmlns:p14="http://schemas.microsoft.com/office/powerpoint/2010/main" val="1316613800"/>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Theoretical Themes:  Part I Foucault</a:t>
            </a:r>
            <a:endParaRPr lang="en-US" dirty="0"/>
          </a:p>
        </p:txBody>
      </p:sp>
      <p:sp>
        <p:nvSpPr>
          <p:cNvPr id="3" name="Content Placeholder 2"/>
          <p:cNvSpPr>
            <a:spLocks noGrp="1"/>
          </p:cNvSpPr>
          <p:nvPr>
            <p:ph idx="1"/>
          </p:nvPr>
        </p:nvSpPr>
        <p:spPr/>
        <p:txBody>
          <a:bodyPr/>
          <a:lstStyle/>
          <a:p>
            <a:r>
              <a:rPr lang="en-US" dirty="0" smtClean="0"/>
              <a:t>Part I : Foucault and Disciplinary Society</a:t>
            </a:r>
          </a:p>
          <a:p>
            <a:endParaRPr lang="en-US" dirty="0" smtClean="0"/>
          </a:p>
          <a:p>
            <a:pPr lvl="1"/>
            <a:r>
              <a:rPr lang="en-US" dirty="0" smtClean="0"/>
              <a:t>Disciplinary Society </a:t>
            </a:r>
          </a:p>
          <a:p>
            <a:pPr lvl="1"/>
            <a:endParaRPr lang="en-US" dirty="0" smtClean="0"/>
          </a:p>
          <a:p>
            <a:pPr lvl="1"/>
            <a:r>
              <a:rPr lang="en-US" dirty="0" smtClean="0"/>
              <a:t> Docile body</a:t>
            </a:r>
          </a:p>
          <a:p>
            <a:pPr lvl="1"/>
            <a:endParaRPr lang="en-US" dirty="0" smtClean="0"/>
          </a:p>
          <a:p>
            <a:pPr lvl="1"/>
            <a:r>
              <a:rPr lang="en-US" dirty="0" smtClean="0"/>
              <a:t>Archeology of Power </a:t>
            </a:r>
          </a:p>
          <a:p>
            <a:pPr lvl="1"/>
            <a:endParaRPr lang="en-US" dirty="0" smtClean="0"/>
          </a:p>
        </p:txBody>
      </p:sp>
    </p:spTree>
    <p:extLst>
      <p:ext uri="{BB962C8B-B14F-4D97-AF65-F5344CB8AC3E}">
        <p14:creationId xmlns:p14="http://schemas.microsoft.com/office/powerpoint/2010/main" val="102432999"/>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Theoretical Themes: Part II</a:t>
            </a:r>
            <a:endParaRPr lang="en-US" dirty="0"/>
          </a:p>
        </p:txBody>
      </p:sp>
      <p:sp>
        <p:nvSpPr>
          <p:cNvPr id="3" name="Content Placeholder 2"/>
          <p:cNvSpPr>
            <a:spLocks noGrp="1"/>
          </p:cNvSpPr>
          <p:nvPr>
            <p:ph idx="1"/>
          </p:nvPr>
        </p:nvSpPr>
        <p:spPr>
          <a:xfrm>
            <a:off x="76200" y="1774825"/>
            <a:ext cx="8991600" cy="4625975"/>
          </a:xfrm>
        </p:spPr>
        <p:txBody>
          <a:bodyPr/>
          <a:lstStyle/>
          <a:p>
            <a:r>
              <a:rPr lang="en-US" sz="3600" dirty="0" smtClean="0"/>
              <a:t> </a:t>
            </a:r>
            <a:r>
              <a:rPr lang="en-US" sz="3800" dirty="0" err="1" smtClean="0"/>
              <a:t>Deleuze’s</a:t>
            </a:r>
            <a:r>
              <a:rPr lang="en-US" sz="3800" dirty="0" smtClean="0"/>
              <a:t> Conceptualization of the Body</a:t>
            </a:r>
          </a:p>
          <a:p>
            <a:endParaRPr lang="en-US" sz="3800" dirty="0" smtClean="0"/>
          </a:p>
          <a:p>
            <a:pPr lvl="1"/>
            <a:r>
              <a:rPr lang="en-US" sz="3600" dirty="0" smtClean="0"/>
              <a:t>The Body</a:t>
            </a:r>
          </a:p>
          <a:p>
            <a:pPr lvl="1"/>
            <a:endParaRPr lang="en-US" sz="3600" dirty="0" smtClean="0"/>
          </a:p>
          <a:p>
            <a:pPr lvl="1"/>
            <a:r>
              <a:rPr lang="en-US" sz="3600" dirty="0" smtClean="0"/>
              <a:t>Body without Organs</a:t>
            </a:r>
          </a:p>
          <a:p>
            <a:pPr lvl="1"/>
            <a:endParaRPr lang="en-US" sz="3600" dirty="0" smtClean="0"/>
          </a:p>
          <a:p>
            <a:pPr lvl="1"/>
            <a:r>
              <a:rPr lang="en-US" sz="3600" dirty="0" err="1" smtClean="0"/>
              <a:t>Deleuze’s</a:t>
            </a:r>
            <a:r>
              <a:rPr lang="en-US" sz="3600" dirty="0" smtClean="0"/>
              <a:t> Concepts </a:t>
            </a:r>
          </a:p>
          <a:p>
            <a:pPr marL="457200" lvl="1" indent="0">
              <a:buNone/>
            </a:pPr>
            <a:r>
              <a:rPr lang="en-US" dirty="0" smtClean="0"/>
              <a:t> </a:t>
            </a:r>
          </a:p>
          <a:p>
            <a:pPr marL="766763" lvl="2" indent="0">
              <a:buNone/>
            </a:pPr>
            <a:endParaRPr lang="en-US" dirty="0"/>
          </a:p>
          <a:p>
            <a:endParaRPr lang="en-US" dirty="0"/>
          </a:p>
        </p:txBody>
      </p:sp>
    </p:spTree>
    <p:extLst>
      <p:ext uri="{BB962C8B-B14F-4D97-AF65-F5344CB8AC3E}">
        <p14:creationId xmlns:p14="http://schemas.microsoft.com/office/powerpoint/2010/main" val="3998537238"/>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Theoretical Themes : Part III</a:t>
            </a:r>
            <a:endParaRPr lang="en-US" dirty="0"/>
          </a:p>
        </p:txBody>
      </p:sp>
      <p:sp>
        <p:nvSpPr>
          <p:cNvPr id="3" name="Content Placeholder 2"/>
          <p:cNvSpPr>
            <a:spLocks noGrp="1"/>
          </p:cNvSpPr>
          <p:nvPr>
            <p:ph idx="1"/>
          </p:nvPr>
        </p:nvSpPr>
        <p:spPr/>
        <p:txBody>
          <a:bodyPr/>
          <a:lstStyle/>
          <a:p>
            <a:r>
              <a:rPr lang="en-US" dirty="0" smtClean="0"/>
              <a:t>Part III: Active Force against Docility</a:t>
            </a:r>
          </a:p>
          <a:p>
            <a:endParaRPr lang="en-US" dirty="0" smtClean="0"/>
          </a:p>
          <a:p>
            <a:pPr lvl="1"/>
            <a:r>
              <a:rPr lang="en-US" dirty="0" smtClean="0"/>
              <a:t>Becoming a Protester : Role of  Social Media (SM)</a:t>
            </a:r>
          </a:p>
          <a:p>
            <a:pPr lvl="1"/>
            <a:endParaRPr lang="en-US" dirty="0" smtClean="0"/>
          </a:p>
          <a:p>
            <a:pPr lvl="2"/>
            <a:r>
              <a:rPr lang="en-US" dirty="0" smtClean="0"/>
              <a:t>SM as a Strategy of Resistance</a:t>
            </a:r>
          </a:p>
          <a:p>
            <a:pPr marL="766763" lvl="2" indent="0">
              <a:buNone/>
            </a:pPr>
            <a:endParaRPr lang="en-US" dirty="0" smtClean="0"/>
          </a:p>
          <a:p>
            <a:pPr lvl="2"/>
            <a:r>
              <a:rPr lang="en-US" dirty="0" smtClean="0"/>
              <a:t>SM as a Weapon of Control</a:t>
            </a:r>
            <a:endParaRPr lang="en-US" dirty="0"/>
          </a:p>
        </p:txBody>
      </p:sp>
    </p:spTree>
    <p:extLst>
      <p:ext uri="{BB962C8B-B14F-4D97-AF65-F5344CB8AC3E}">
        <p14:creationId xmlns:p14="http://schemas.microsoft.com/office/powerpoint/2010/main" val="976914952"/>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Theoretical Themes:  Part I Foucault</a:t>
            </a:r>
            <a:endParaRPr lang="en-US" dirty="0"/>
          </a:p>
        </p:txBody>
      </p:sp>
      <p:sp>
        <p:nvSpPr>
          <p:cNvPr id="3" name="Content Placeholder 2"/>
          <p:cNvSpPr>
            <a:spLocks noGrp="1"/>
          </p:cNvSpPr>
          <p:nvPr>
            <p:ph idx="1"/>
          </p:nvPr>
        </p:nvSpPr>
        <p:spPr/>
        <p:txBody>
          <a:bodyPr/>
          <a:lstStyle/>
          <a:p>
            <a:r>
              <a:rPr lang="en-US" dirty="0" smtClean="0"/>
              <a:t>Part I : Foucault and Disciplinary Society</a:t>
            </a:r>
          </a:p>
          <a:p>
            <a:endParaRPr lang="en-US" dirty="0" smtClean="0"/>
          </a:p>
          <a:p>
            <a:pPr lvl="1"/>
            <a:r>
              <a:rPr lang="en-US" dirty="0" smtClean="0"/>
              <a:t>Disciplinary Society </a:t>
            </a:r>
          </a:p>
          <a:p>
            <a:pPr lvl="1"/>
            <a:endParaRPr lang="en-US" dirty="0" smtClean="0"/>
          </a:p>
          <a:p>
            <a:pPr lvl="1"/>
            <a:r>
              <a:rPr lang="en-US" dirty="0" smtClean="0"/>
              <a:t> Docile body</a:t>
            </a:r>
          </a:p>
          <a:p>
            <a:pPr lvl="1"/>
            <a:endParaRPr lang="en-US" dirty="0" smtClean="0"/>
          </a:p>
          <a:p>
            <a:pPr lvl="1"/>
            <a:r>
              <a:rPr lang="en-US" dirty="0" smtClean="0"/>
              <a:t>Archeology of Power </a:t>
            </a:r>
          </a:p>
          <a:p>
            <a:pPr lvl="1"/>
            <a:endParaRPr lang="en-US" dirty="0" smtClean="0"/>
          </a:p>
        </p:txBody>
      </p:sp>
    </p:spTree>
    <p:extLst>
      <p:ext uri="{BB962C8B-B14F-4D97-AF65-F5344CB8AC3E}">
        <p14:creationId xmlns:p14="http://schemas.microsoft.com/office/powerpoint/2010/main" val="3364825981"/>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Disciplinary Society</a:t>
            </a:r>
            <a:endParaRPr lang="en-US" dirty="0"/>
          </a:p>
        </p:txBody>
      </p:sp>
      <p:sp>
        <p:nvSpPr>
          <p:cNvPr id="3" name="Content Placeholder 2"/>
          <p:cNvSpPr>
            <a:spLocks noGrp="1"/>
          </p:cNvSpPr>
          <p:nvPr>
            <p:ph idx="1"/>
          </p:nvPr>
        </p:nvSpPr>
        <p:spPr/>
        <p:txBody>
          <a:bodyPr/>
          <a:lstStyle/>
          <a:p>
            <a:r>
              <a:rPr lang="en-US" dirty="0" smtClean="0"/>
              <a:t>Power</a:t>
            </a:r>
          </a:p>
          <a:p>
            <a:r>
              <a:rPr lang="en-US" dirty="0" smtClean="0"/>
              <a:t>Surveillance</a:t>
            </a:r>
          </a:p>
          <a:p>
            <a:r>
              <a:rPr lang="en-US" dirty="0" smtClean="0"/>
              <a:t>Discipline</a:t>
            </a:r>
          </a:p>
          <a:p>
            <a:r>
              <a:rPr lang="en-US" dirty="0" smtClean="0"/>
              <a:t>Control</a:t>
            </a:r>
            <a:endParaRPr lang="en-US" dirty="0"/>
          </a:p>
        </p:txBody>
      </p:sp>
    </p:spTree>
    <p:extLst>
      <p:ext uri="{BB962C8B-B14F-4D97-AF65-F5344CB8AC3E}">
        <p14:creationId xmlns:p14="http://schemas.microsoft.com/office/powerpoint/2010/main" val="1011761020"/>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ChangeArrowheads="1"/>
          </p:cNvSpPr>
          <p:nvPr/>
        </p:nvSpPr>
        <p:spPr bwMode="auto">
          <a:xfrm>
            <a:off x="457200" y="2971800"/>
            <a:ext cx="8534400" cy="2246769"/>
          </a:xfrm>
          <a:prstGeom prst="rect">
            <a:avLst/>
          </a:prstGeom>
          <a:noFill/>
          <a:ln w="9525">
            <a:noFill/>
            <a:miter lim="800000"/>
            <a:headEnd/>
            <a:tailEnd/>
          </a:ln>
        </p:spPr>
        <p:txBody>
          <a:bodyPr>
            <a:spAutoFit/>
          </a:bodyPr>
          <a:lstStyle/>
          <a:p>
            <a:r>
              <a:rPr lang="en-US" sz="2800" dirty="0">
                <a:latin typeface="Garamond" pitchFamily="18" charset="0"/>
              </a:rPr>
              <a:t> </a:t>
            </a:r>
          </a:p>
          <a:p>
            <a:r>
              <a:rPr lang="en-US" sz="2800" dirty="0" smtClean="0"/>
              <a:t>A body “that </a:t>
            </a:r>
            <a:r>
              <a:rPr lang="en-US" sz="2800" dirty="0"/>
              <a:t>may be subjected, used, transformed, and improved and that this docile body can only be achieved through strict regimen of disciplinary </a:t>
            </a:r>
            <a:r>
              <a:rPr lang="en-US" sz="2800" dirty="0" smtClean="0"/>
              <a:t>acts” Foucault, </a:t>
            </a:r>
            <a:r>
              <a:rPr lang="en-US" sz="2800" i="1" dirty="0" smtClean="0"/>
              <a:t>Discipline and Punish </a:t>
            </a:r>
            <a:r>
              <a:rPr lang="en-US" sz="2800" dirty="0" smtClean="0"/>
              <a:t>(1995)</a:t>
            </a:r>
            <a:endParaRPr lang="en-US" dirty="0">
              <a:latin typeface="Cambria" pitchFamily="18" charset="0"/>
            </a:endParaRPr>
          </a:p>
        </p:txBody>
      </p:sp>
      <p:sp>
        <p:nvSpPr>
          <p:cNvPr id="3" name="Title 2"/>
          <p:cNvSpPr>
            <a:spLocks noGrp="1"/>
          </p:cNvSpPr>
          <p:nvPr>
            <p:ph type="title"/>
          </p:nvPr>
        </p:nvSpPr>
        <p:spPr/>
        <p:txBody>
          <a:bodyPr>
            <a:normAutofit/>
          </a:bodyPr>
          <a:lstStyle/>
          <a:p>
            <a:pPr eaLnBrk="1" fontAlgn="auto" hangingPunct="1">
              <a:spcAft>
                <a:spcPts val="0"/>
              </a:spcAft>
              <a:defRPr/>
            </a:pPr>
            <a:r>
              <a:rPr lang="en-US" dirty="0" smtClean="0">
                <a:solidFill>
                  <a:schemeClr val="accent1">
                    <a:satMod val="150000"/>
                  </a:schemeClr>
                </a:solidFill>
                <a:ea typeface="+mj-ea"/>
                <a:cs typeface="+mj-cs"/>
              </a:rPr>
              <a:t>Docile Body</a:t>
            </a:r>
            <a:endParaRPr lang="en-US" dirty="0">
              <a:solidFill>
                <a:schemeClr val="accent1">
                  <a:satMod val="150000"/>
                </a:schemeClr>
              </a:solidFill>
              <a:ea typeface="+mj-ea"/>
              <a:cs typeface="+mj-cs"/>
            </a:endParaRPr>
          </a:p>
        </p:txBody>
      </p:sp>
    </p:spTree>
    <p:extLst>
      <p:ext uri="{BB962C8B-B14F-4D97-AF65-F5344CB8AC3E}">
        <p14:creationId xmlns:p14="http://schemas.microsoft.com/office/powerpoint/2010/main" val="1301960536"/>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ChangeArrowheads="1"/>
          </p:cNvSpPr>
          <p:nvPr/>
        </p:nvSpPr>
        <p:spPr bwMode="auto">
          <a:xfrm>
            <a:off x="2286000" y="5129213"/>
            <a:ext cx="4572000" cy="368300"/>
          </a:xfrm>
          <a:prstGeom prst="rect">
            <a:avLst/>
          </a:prstGeom>
          <a:noFill/>
          <a:ln w="9525">
            <a:noFill/>
            <a:miter lim="800000"/>
            <a:headEnd/>
            <a:tailEnd/>
          </a:ln>
        </p:spPr>
        <p:txBody>
          <a:bodyPr>
            <a:spAutoFit/>
          </a:bodyPr>
          <a:lstStyle/>
          <a:p>
            <a:r>
              <a:rPr lang="en-US">
                <a:latin typeface="Calibri" pitchFamily="34" charset="0"/>
              </a:rPr>
              <a:t> </a:t>
            </a:r>
          </a:p>
        </p:txBody>
      </p:sp>
      <p:sp>
        <p:nvSpPr>
          <p:cNvPr id="11267" name="Rectangle 5"/>
          <p:cNvSpPr>
            <a:spLocks noChangeArrowheads="1"/>
          </p:cNvSpPr>
          <p:nvPr/>
        </p:nvSpPr>
        <p:spPr bwMode="auto">
          <a:xfrm>
            <a:off x="609600" y="3048000"/>
            <a:ext cx="8305800" cy="3108544"/>
          </a:xfrm>
          <a:prstGeom prst="rect">
            <a:avLst/>
          </a:prstGeom>
          <a:noFill/>
          <a:ln w="9525">
            <a:noFill/>
            <a:miter lim="800000"/>
            <a:headEnd/>
            <a:tailEnd/>
          </a:ln>
        </p:spPr>
        <p:txBody>
          <a:bodyPr>
            <a:spAutoFit/>
          </a:bodyPr>
          <a:lstStyle/>
          <a:p>
            <a:r>
              <a:rPr lang="en-US" sz="2800" dirty="0" smtClean="0">
                <a:solidFill>
                  <a:srgbClr val="FFFFFF"/>
                </a:solidFill>
                <a:latin typeface="Cambria" pitchFamily="18" charset="0"/>
              </a:rPr>
              <a:t>Construction </a:t>
            </a:r>
            <a:r>
              <a:rPr lang="en-US" sz="2800" dirty="0">
                <a:solidFill>
                  <a:srgbClr val="FFFFFF"/>
                </a:solidFill>
                <a:latin typeface="Cambria" pitchFamily="18" charset="0"/>
              </a:rPr>
              <a:t>of a Docile Body</a:t>
            </a:r>
          </a:p>
          <a:p>
            <a:pPr marL="1428750" lvl="2" indent="-514350">
              <a:buFont typeface="Calibri" pitchFamily="34" charset="0"/>
              <a:buAutoNum type="arabicPeriod"/>
            </a:pPr>
            <a:r>
              <a:rPr lang="en-US" sz="2800" dirty="0">
                <a:solidFill>
                  <a:srgbClr val="FFFFFF"/>
                </a:solidFill>
                <a:latin typeface="Cambria" pitchFamily="18" charset="0"/>
              </a:rPr>
              <a:t> Objectified Body  </a:t>
            </a:r>
          </a:p>
          <a:p>
            <a:pPr marL="1428750" lvl="2" indent="-514350">
              <a:buFont typeface="Calibri" pitchFamily="34" charset="0"/>
              <a:buAutoNum type="arabicPeriod"/>
            </a:pPr>
            <a:r>
              <a:rPr lang="en-US" sz="2800" dirty="0">
                <a:solidFill>
                  <a:srgbClr val="FFFFFF"/>
                </a:solidFill>
                <a:latin typeface="Cambria" pitchFamily="18" charset="0"/>
              </a:rPr>
              <a:t> Controlled Body</a:t>
            </a:r>
          </a:p>
          <a:p>
            <a:pPr marL="1428750" lvl="2" indent="-514350">
              <a:buFont typeface="Calibri" pitchFamily="34" charset="0"/>
              <a:buAutoNum type="arabicPeriod"/>
            </a:pPr>
            <a:r>
              <a:rPr lang="en-US" sz="2800" dirty="0">
                <a:solidFill>
                  <a:srgbClr val="FFFFFF"/>
                </a:solidFill>
                <a:latin typeface="Cambria" pitchFamily="18" charset="0"/>
              </a:rPr>
              <a:t> Disciplined body</a:t>
            </a:r>
          </a:p>
          <a:p>
            <a:pPr lvl="1">
              <a:buFont typeface="Arial" pitchFamily="34" charset="0"/>
              <a:buChar char="•"/>
            </a:pPr>
            <a:endParaRPr lang="en-US" sz="2800" dirty="0">
              <a:solidFill>
                <a:srgbClr val="FFFFFF"/>
              </a:solidFill>
              <a:latin typeface="Cambria" pitchFamily="18" charset="0"/>
            </a:endParaRPr>
          </a:p>
          <a:p>
            <a:pPr lvl="1"/>
            <a:r>
              <a:rPr lang="en-US" sz="2800" dirty="0">
                <a:solidFill>
                  <a:srgbClr val="FFFFFF"/>
                </a:solidFill>
                <a:latin typeface="Cambria" pitchFamily="18" charset="0"/>
              </a:rPr>
              <a:t>Discipline is the Technology of Power over the Docile Body</a:t>
            </a:r>
          </a:p>
        </p:txBody>
      </p:sp>
      <p:sp>
        <p:nvSpPr>
          <p:cNvPr id="5" name="Title 4"/>
          <p:cNvSpPr>
            <a:spLocks noGrp="1"/>
          </p:cNvSpPr>
          <p:nvPr>
            <p:ph type="title"/>
          </p:nvPr>
        </p:nvSpPr>
        <p:spPr>
          <a:xfrm>
            <a:off x="76200" y="118872"/>
            <a:ext cx="8686800" cy="1636776"/>
          </a:xfrm>
        </p:spPr>
        <p:txBody>
          <a:bodyPr>
            <a:normAutofit/>
          </a:bodyPr>
          <a:lstStyle/>
          <a:p>
            <a:pPr eaLnBrk="1" fontAlgn="auto" hangingPunct="1">
              <a:spcAft>
                <a:spcPts val="0"/>
              </a:spcAft>
              <a:defRPr/>
            </a:pPr>
            <a:r>
              <a:rPr lang="en-US" dirty="0" smtClean="0">
                <a:solidFill>
                  <a:schemeClr val="accent1">
                    <a:satMod val="150000"/>
                  </a:schemeClr>
                </a:solidFill>
                <a:ea typeface="+mj-ea"/>
                <a:cs typeface="+mj-cs"/>
              </a:rPr>
              <a:t>Foucault’s Archeology of Power</a:t>
            </a:r>
            <a:endParaRPr lang="en-US" dirty="0">
              <a:solidFill>
                <a:schemeClr val="accent1">
                  <a:satMod val="150000"/>
                </a:schemeClr>
              </a:solidFill>
              <a:ea typeface="+mj-ea"/>
              <a:cs typeface="+mj-cs"/>
            </a:endParaRPr>
          </a:p>
        </p:txBody>
      </p:sp>
    </p:spTree>
    <p:extLst>
      <p:ext uri="{BB962C8B-B14F-4D97-AF65-F5344CB8AC3E}">
        <p14:creationId xmlns:p14="http://schemas.microsoft.com/office/powerpoint/2010/main" val="3736637103"/>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ChangeArrowheads="1"/>
          </p:cNvSpPr>
          <p:nvPr/>
        </p:nvSpPr>
        <p:spPr bwMode="auto">
          <a:xfrm>
            <a:off x="762000" y="1752600"/>
            <a:ext cx="7543800" cy="4893647"/>
          </a:xfrm>
          <a:prstGeom prst="rect">
            <a:avLst/>
          </a:prstGeom>
          <a:noFill/>
          <a:ln w="9525">
            <a:noFill/>
            <a:miter lim="800000"/>
            <a:headEnd/>
            <a:tailEnd/>
          </a:ln>
        </p:spPr>
        <p:txBody>
          <a:bodyPr>
            <a:spAutoFit/>
          </a:bodyPr>
          <a:lstStyle/>
          <a:p>
            <a:pPr marL="342900" indent="-342900" eaLnBrk="0" hangingPunct="0">
              <a:buFont typeface="Arial"/>
              <a:buChar char="•"/>
            </a:pPr>
            <a:r>
              <a:rPr lang="en-US" sz="2400" dirty="0" smtClean="0">
                <a:solidFill>
                  <a:srgbClr val="FFFFFF"/>
                </a:solidFill>
                <a:latin typeface="Cambria" pitchFamily="18" charset="0"/>
              </a:rPr>
              <a:t>West’s Oil Burden: Colonialism -  racial </a:t>
            </a:r>
            <a:r>
              <a:rPr lang="en-US" sz="2400" dirty="0">
                <a:solidFill>
                  <a:srgbClr val="FFFFFF"/>
                </a:solidFill>
                <a:latin typeface="Cambria" pitchFamily="18" charset="0"/>
              </a:rPr>
              <a:t>superiority </a:t>
            </a:r>
            <a:r>
              <a:rPr lang="en-US" sz="2400" dirty="0" smtClean="0">
                <a:solidFill>
                  <a:srgbClr val="FFFFFF"/>
                </a:solidFill>
                <a:latin typeface="Cambria" pitchFamily="18" charset="0"/>
              </a:rPr>
              <a:t> &amp; economic interest camouflaged as the benevolent </a:t>
            </a:r>
            <a:r>
              <a:rPr lang="en-US" sz="2400" dirty="0">
                <a:solidFill>
                  <a:srgbClr val="FFFFFF"/>
                </a:solidFill>
                <a:latin typeface="Cambria" pitchFamily="18" charset="0"/>
              </a:rPr>
              <a:t>civilizing force</a:t>
            </a:r>
          </a:p>
          <a:p>
            <a:pPr marL="342900" indent="-342900" eaLnBrk="0" hangingPunct="0"/>
            <a:endParaRPr lang="en-US" sz="2400" dirty="0">
              <a:solidFill>
                <a:srgbClr val="FFFFFF"/>
              </a:solidFill>
              <a:latin typeface="Cambria" pitchFamily="18" charset="0"/>
            </a:endParaRPr>
          </a:p>
          <a:p>
            <a:pPr marL="342900" indent="-342900" eaLnBrk="0" hangingPunct="0">
              <a:buFont typeface="Arial"/>
              <a:buChar char="•"/>
            </a:pPr>
            <a:r>
              <a:rPr lang="en-US" sz="2400" dirty="0">
                <a:solidFill>
                  <a:srgbClr val="FFFFFF"/>
                </a:solidFill>
                <a:latin typeface="Cambria" pitchFamily="18" charset="0"/>
              </a:rPr>
              <a:t>Alliance with Pro-West Saudi Arabia’s dictatorship to fight socialism in Egypt </a:t>
            </a:r>
            <a:r>
              <a:rPr lang="en-US" sz="2400" dirty="0" smtClean="0">
                <a:latin typeface="Garamond" pitchFamily="18" charset="0"/>
                <a:ea typeface="Calibri" pitchFamily="34" charset="0"/>
                <a:cs typeface="Times New Roman" pitchFamily="18" charset="0"/>
              </a:rPr>
              <a:t> </a:t>
            </a:r>
            <a:endParaRPr lang="en-US" sz="2400" dirty="0"/>
          </a:p>
          <a:p>
            <a:pPr marL="1257300" lvl="2" indent="-342900" eaLnBrk="0" hangingPunct="0"/>
            <a:r>
              <a:rPr lang="en-US" sz="2400" dirty="0" smtClean="0"/>
              <a:t>Nasser’s </a:t>
            </a:r>
            <a:r>
              <a:rPr lang="en-US" sz="2400" dirty="0"/>
              <a:t>Arab Socialist Union, State </a:t>
            </a:r>
            <a:r>
              <a:rPr lang="en-US" sz="2400" dirty="0" smtClean="0"/>
              <a:t>capitalism </a:t>
            </a:r>
          </a:p>
          <a:p>
            <a:pPr marL="1257300" lvl="2" indent="-342900" eaLnBrk="0" hangingPunct="0"/>
            <a:r>
              <a:rPr lang="en-US" sz="2400" dirty="0" smtClean="0"/>
              <a:t>&amp; nationalization </a:t>
            </a:r>
            <a:r>
              <a:rPr lang="en-US" sz="2400" dirty="0"/>
              <a:t>of foreign capital and local </a:t>
            </a:r>
            <a:endParaRPr lang="en-US" sz="2400" dirty="0" smtClean="0"/>
          </a:p>
          <a:p>
            <a:pPr marL="1257300" lvl="2" indent="-342900" eaLnBrk="0" hangingPunct="0"/>
            <a:r>
              <a:rPr lang="en-US" sz="2400" dirty="0" smtClean="0"/>
              <a:t>capital</a:t>
            </a:r>
            <a:endParaRPr lang="en-US" sz="2400" dirty="0"/>
          </a:p>
          <a:p>
            <a:pPr marL="342900" indent="-342900" eaLnBrk="0" hangingPunct="0">
              <a:buFont typeface="Arial"/>
              <a:buChar char="•"/>
            </a:pPr>
            <a:endParaRPr lang="en-US" sz="2400" dirty="0" smtClean="0">
              <a:solidFill>
                <a:srgbClr val="FFFFFF"/>
              </a:solidFill>
              <a:latin typeface="Cambria" pitchFamily="18" charset="0"/>
            </a:endParaRPr>
          </a:p>
          <a:p>
            <a:pPr marL="342900" indent="-342900" eaLnBrk="0" hangingPunct="0">
              <a:buFont typeface="Arial"/>
              <a:buChar char="•"/>
            </a:pPr>
            <a:r>
              <a:rPr lang="en-US" sz="2400" dirty="0" smtClean="0">
                <a:solidFill>
                  <a:srgbClr val="FFFFFF"/>
                </a:solidFill>
                <a:latin typeface="Cambria" pitchFamily="18" charset="0"/>
              </a:rPr>
              <a:t>US Backing of Egypt’s pro-West military dictatorships – </a:t>
            </a:r>
            <a:r>
              <a:rPr lang="en-US" sz="2400" dirty="0" smtClean="0"/>
              <a:t>a </a:t>
            </a:r>
            <a:r>
              <a:rPr lang="en-US" sz="2400" dirty="0"/>
              <a:t>client </a:t>
            </a:r>
            <a:r>
              <a:rPr lang="en-US" sz="2400" dirty="0" smtClean="0"/>
              <a:t>military of the West’s oil consuming countries</a:t>
            </a:r>
            <a:endParaRPr lang="en-US" dirty="0">
              <a:latin typeface="Times New Roman" pitchFamily="18" charset="0"/>
              <a:cs typeface="Times New Roman" pitchFamily="18" charset="0"/>
            </a:endParaRPr>
          </a:p>
        </p:txBody>
      </p:sp>
      <p:sp>
        <p:nvSpPr>
          <p:cNvPr id="3" name="Title 2"/>
          <p:cNvSpPr>
            <a:spLocks noGrp="1"/>
          </p:cNvSpPr>
          <p:nvPr>
            <p:ph type="title"/>
          </p:nvPr>
        </p:nvSpPr>
        <p:spPr>
          <a:xfrm>
            <a:off x="457200" y="152400"/>
            <a:ext cx="8229600" cy="1251062"/>
          </a:xfrm>
        </p:spPr>
        <p:txBody>
          <a:bodyPr rtlCol="0">
            <a:normAutofit fontScale="90000"/>
            <a:scene3d>
              <a:camera prst="orthographicFront"/>
              <a:lightRig rig="threePt" dir="t">
                <a:rot lat="0" lon="0" rev="4800000"/>
              </a:lightRig>
            </a:scene3d>
            <a:sp3d prstMaterial="matte">
              <a:bevelT w="50800" h="10160"/>
            </a:sp3d>
          </a:bodyPr>
          <a:lstStyle/>
          <a:p>
            <a:pPr eaLnBrk="1" fontAlgn="auto" hangingPunct="1">
              <a:spcAft>
                <a:spcPts val="0"/>
              </a:spcAft>
              <a:defRPr/>
            </a:pPr>
            <a:r>
              <a:rPr lang="en-US" dirty="0" smtClean="0">
                <a:solidFill>
                  <a:schemeClr val="accent1">
                    <a:satMod val="150000"/>
                  </a:schemeClr>
                </a:solidFill>
                <a:ea typeface="+mj-ea"/>
                <a:cs typeface="+mj-cs"/>
              </a:rPr>
              <a:t>1.Objectified Social Body  (Egypt)</a:t>
            </a:r>
            <a:endParaRPr lang="en-US" dirty="0">
              <a:solidFill>
                <a:schemeClr val="accent1">
                  <a:satMod val="150000"/>
                </a:schemeClr>
              </a:solidFill>
              <a:ea typeface="+mj-ea"/>
              <a:cs typeface="+mj-cs"/>
            </a:endParaRPr>
          </a:p>
        </p:txBody>
      </p:sp>
    </p:spTree>
    <p:extLst>
      <p:ext uri="{BB962C8B-B14F-4D97-AF65-F5344CB8AC3E}">
        <p14:creationId xmlns:p14="http://schemas.microsoft.com/office/powerpoint/2010/main" val="786364529"/>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1251062"/>
          </a:xfrm>
        </p:spPr>
        <p:txBody>
          <a:bodyPr rtlCol="0">
            <a:normAutofit/>
            <a:scene3d>
              <a:camera prst="orthographicFront"/>
              <a:lightRig rig="threePt" dir="t">
                <a:rot lat="0" lon="0" rev="4800000"/>
              </a:lightRig>
            </a:scene3d>
            <a:sp3d prstMaterial="matte">
              <a:bevelT w="50800" h="10160"/>
            </a:sp3d>
          </a:bodyPr>
          <a:lstStyle/>
          <a:p>
            <a:pPr eaLnBrk="1" fontAlgn="auto" hangingPunct="1">
              <a:spcAft>
                <a:spcPts val="0"/>
              </a:spcAft>
              <a:defRPr/>
            </a:pPr>
            <a:r>
              <a:rPr lang="en-US" dirty="0" smtClean="0">
                <a:solidFill>
                  <a:schemeClr val="accent1">
                    <a:satMod val="150000"/>
                  </a:schemeClr>
                </a:solidFill>
                <a:ea typeface="+mj-ea"/>
                <a:cs typeface="+mj-cs"/>
              </a:rPr>
              <a:t>2. Controlled Social Body (Egypt)</a:t>
            </a:r>
            <a:endParaRPr lang="en-US" dirty="0">
              <a:solidFill>
                <a:schemeClr val="accent1">
                  <a:satMod val="150000"/>
                </a:schemeClr>
              </a:solidFill>
              <a:ea typeface="+mj-ea"/>
              <a:cs typeface="+mj-cs"/>
            </a:endParaRPr>
          </a:p>
        </p:txBody>
      </p:sp>
      <p:sp>
        <p:nvSpPr>
          <p:cNvPr id="4" name="TextBox 3"/>
          <p:cNvSpPr txBox="1"/>
          <p:nvPr/>
        </p:nvSpPr>
        <p:spPr>
          <a:xfrm>
            <a:off x="304801" y="2743200"/>
            <a:ext cx="7772400" cy="3539431"/>
          </a:xfrm>
          <a:prstGeom prst="rect">
            <a:avLst/>
          </a:prstGeom>
          <a:noFill/>
        </p:spPr>
        <p:txBody>
          <a:bodyPr wrap="square" rtlCol="0">
            <a:spAutoFit/>
          </a:bodyPr>
          <a:lstStyle/>
          <a:p>
            <a:r>
              <a:rPr lang="en-US" sz="2800" dirty="0" smtClean="0"/>
              <a:t>Military control of the State </a:t>
            </a:r>
          </a:p>
          <a:p>
            <a:endParaRPr lang="en-US" sz="2800" dirty="0" smtClean="0"/>
          </a:p>
          <a:p>
            <a:r>
              <a:rPr lang="en-US" sz="2800" dirty="0" smtClean="0"/>
              <a:t>Nationalization of the Economy and the Industrial capital </a:t>
            </a:r>
          </a:p>
          <a:p>
            <a:endParaRPr lang="en-US" sz="2800" dirty="0" smtClean="0"/>
          </a:p>
          <a:p>
            <a:r>
              <a:rPr lang="en-US" sz="2800" dirty="0" smtClean="0"/>
              <a:t>Creation &amp; control of an uniform public with few pluralistic interest  groups: i.e., class, religion, </a:t>
            </a:r>
            <a:r>
              <a:rPr lang="en-US" sz="2800" dirty="0" err="1" smtClean="0"/>
              <a:t>labour</a:t>
            </a:r>
            <a:r>
              <a:rPr lang="en-US" sz="2800" dirty="0"/>
              <a:t>.</a:t>
            </a:r>
          </a:p>
        </p:txBody>
      </p:sp>
    </p:spTree>
    <p:extLst>
      <p:ext uri="{BB962C8B-B14F-4D97-AF65-F5344CB8AC3E}">
        <p14:creationId xmlns:p14="http://schemas.microsoft.com/office/powerpoint/2010/main" val="3564169011"/>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ChangeArrowheads="1"/>
          </p:cNvSpPr>
          <p:nvPr/>
        </p:nvSpPr>
        <p:spPr bwMode="auto">
          <a:xfrm>
            <a:off x="2286000" y="2690813"/>
            <a:ext cx="4572000" cy="369887"/>
          </a:xfrm>
          <a:prstGeom prst="rect">
            <a:avLst/>
          </a:prstGeom>
          <a:noFill/>
          <a:ln w="9525">
            <a:noFill/>
            <a:miter lim="800000"/>
            <a:headEnd/>
            <a:tailEnd/>
          </a:ln>
        </p:spPr>
        <p:txBody>
          <a:bodyPr>
            <a:spAutoFit/>
          </a:bodyPr>
          <a:lstStyle/>
          <a:p>
            <a:r>
              <a:rPr lang="en-US">
                <a:latin typeface="Calibri" pitchFamily="34" charset="0"/>
              </a:rPr>
              <a:t> . </a:t>
            </a:r>
          </a:p>
        </p:txBody>
      </p:sp>
      <p:sp>
        <p:nvSpPr>
          <p:cNvPr id="18435" name="Rectangle 2"/>
          <p:cNvSpPr>
            <a:spLocks noChangeArrowheads="1"/>
          </p:cNvSpPr>
          <p:nvPr/>
        </p:nvSpPr>
        <p:spPr bwMode="auto">
          <a:xfrm>
            <a:off x="609600" y="1600200"/>
            <a:ext cx="7772400" cy="5262979"/>
          </a:xfrm>
          <a:prstGeom prst="rect">
            <a:avLst/>
          </a:prstGeom>
          <a:noFill/>
          <a:ln w="9525">
            <a:noFill/>
            <a:miter lim="800000"/>
            <a:headEnd/>
            <a:tailEnd/>
          </a:ln>
        </p:spPr>
        <p:txBody>
          <a:bodyPr>
            <a:spAutoFit/>
          </a:bodyPr>
          <a:lstStyle/>
          <a:p>
            <a:pPr eaLnBrk="0" hangingPunct="0"/>
            <a:r>
              <a:rPr lang="en-US" sz="2400" dirty="0">
                <a:solidFill>
                  <a:srgbClr val="FFFFFF"/>
                </a:solidFill>
                <a:latin typeface="Cambria" pitchFamily="18" charset="0"/>
              </a:rPr>
              <a:t>Created through the Technologies of Power: </a:t>
            </a:r>
          </a:p>
          <a:p>
            <a:pPr marL="914400" lvl="1" indent="-457200" eaLnBrk="0" hangingPunct="0">
              <a:buFont typeface="Arial" pitchFamily="34" charset="0"/>
              <a:buChar char="•"/>
            </a:pPr>
            <a:r>
              <a:rPr lang="en-US" sz="2400" dirty="0" smtClean="0">
                <a:solidFill>
                  <a:srgbClr val="FFFFFF"/>
                </a:solidFill>
                <a:latin typeface="Cambria" pitchFamily="18" charset="0"/>
              </a:rPr>
              <a:t>Influence of Saudi Arabian </a:t>
            </a:r>
            <a:r>
              <a:rPr lang="en-US" sz="2400" dirty="0" err="1">
                <a:solidFill>
                  <a:srgbClr val="FFFFFF"/>
                </a:solidFill>
                <a:latin typeface="Cambria" pitchFamily="18" charset="0"/>
              </a:rPr>
              <a:t>W</a:t>
            </a:r>
            <a:r>
              <a:rPr lang="en-US" sz="2400" dirty="0" err="1" smtClean="0">
                <a:solidFill>
                  <a:srgbClr val="FFFFFF"/>
                </a:solidFill>
                <a:latin typeface="Cambria" pitchFamily="18" charset="0"/>
              </a:rPr>
              <a:t>ahhabisim</a:t>
            </a:r>
            <a:r>
              <a:rPr lang="en-US" sz="2400" dirty="0" smtClean="0">
                <a:solidFill>
                  <a:srgbClr val="FFFFFF"/>
                </a:solidFill>
                <a:latin typeface="Cambria" pitchFamily="18" charset="0"/>
              </a:rPr>
              <a:t> enforced social discipline </a:t>
            </a:r>
            <a:r>
              <a:rPr lang="en-US" sz="2400" dirty="0">
                <a:solidFill>
                  <a:srgbClr val="FFFFFF"/>
                </a:solidFill>
                <a:latin typeface="Cambria" pitchFamily="18" charset="0"/>
              </a:rPr>
              <a:t>on </a:t>
            </a:r>
            <a:r>
              <a:rPr lang="en-US" sz="2400" dirty="0" smtClean="0">
                <a:solidFill>
                  <a:srgbClr val="FFFFFF"/>
                </a:solidFill>
                <a:latin typeface="Cambria" pitchFamily="18" charset="0"/>
              </a:rPr>
              <a:t>individual </a:t>
            </a:r>
            <a:r>
              <a:rPr lang="en-US" sz="2400" dirty="0">
                <a:solidFill>
                  <a:srgbClr val="FFFFFF"/>
                </a:solidFill>
                <a:latin typeface="Cambria" pitchFamily="18" charset="0"/>
              </a:rPr>
              <a:t>bodies </a:t>
            </a:r>
          </a:p>
          <a:p>
            <a:pPr marL="914400" lvl="1" indent="-457200" eaLnBrk="0" hangingPunct="0">
              <a:buFont typeface="Arial" pitchFamily="34" charset="0"/>
              <a:buChar char="•"/>
            </a:pPr>
            <a:r>
              <a:rPr lang="en-US" sz="2400" dirty="0">
                <a:solidFill>
                  <a:srgbClr val="FFFFFF"/>
                </a:solidFill>
                <a:latin typeface="Cambria" pitchFamily="18" charset="0"/>
              </a:rPr>
              <a:t>Local </a:t>
            </a:r>
            <a:r>
              <a:rPr lang="en-US" sz="2400" dirty="0" smtClean="0">
                <a:solidFill>
                  <a:srgbClr val="FFFFFF"/>
                </a:solidFill>
                <a:latin typeface="Cambria" pitchFamily="18" charset="0"/>
              </a:rPr>
              <a:t>plurality </a:t>
            </a:r>
            <a:r>
              <a:rPr lang="en-US" sz="2400" dirty="0">
                <a:solidFill>
                  <a:srgbClr val="FFFFFF"/>
                </a:solidFill>
                <a:latin typeface="Cambria" pitchFamily="18" charset="0"/>
              </a:rPr>
              <a:t>o</a:t>
            </a:r>
            <a:r>
              <a:rPr lang="en-US" sz="2400" dirty="0" smtClean="0">
                <a:solidFill>
                  <a:srgbClr val="FFFFFF"/>
                </a:solidFill>
                <a:latin typeface="Cambria" pitchFamily="18" charset="0"/>
              </a:rPr>
              <a:t>f interests and knowledge were erased </a:t>
            </a:r>
            <a:r>
              <a:rPr lang="en-US" sz="2400" dirty="0">
                <a:solidFill>
                  <a:srgbClr val="FFFFFF"/>
                </a:solidFill>
                <a:latin typeface="Cambria" pitchFamily="18" charset="0"/>
              </a:rPr>
              <a:t>through </a:t>
            </a:r>
            <a:r>
              <a:rPr lang="en-US" sz="2400" dirty="0" smtClean="0">
                <a:solidFill>
                  <a:srgbClr val="FFFFFF"/>
                </a:solidFill>
                <a:latin typeface="Cambria" pitchFamily="18" charset="0"/>
              </a:rPr>
              <a:t>the Muslim Brotherhood’s (MB) power of religious indoctrination </a:t>
            </a:r>
          </a:p>
          <a:p>
            <a:pPr marL="914400" lvl="1" indent="-457200" eaLnBrk="0" hangingPunct="0">
              <a:buFont typeface="Arial" pitchFamily="34" charset="0"/>
              <a:buChar char="•"/>
            </a:pPr>
            <a:r>
              <a:rPr lang="en-US" sz="2400" dirty="0" smtClean="0">
                <a:solidFill>
                  <a:srgbClr val="FFFFFF"/>
                </a:solidFill>
                <a:latin typeface="Cambria" pitchFamily="18" charset="0"/>
              </a:rPr>
              <a:t>MB’s constructed new </a:t>
            </a:r>
            <a:r>
              <a:rPr lang="en-US" sz="2400" dirty="0">
                <a:solidFill>
                  <a:srgbClr val="FFFFFF"/>
                </a:solidFill>
                <a:latin typeface="Cambria" pitchFamily="18" charset="0"/>
              </a:rPr>
              <a:t>knowledge based on </a:t>
            </a:r>
            <a:r>
              <a:rPr lang="en-US" sz="2400" dirty="0" smtClean="0">
                <a:solidFill>
                  <a:srgbClr val="FFFFFF"/>
                </a:solidFill>
                <a:latin typeface="Cambria" pitchFamily="18" charset="0"/>
              </a:rPr>
              <a:t>Islamic power </a:t>
            </a:r>
            <a:r>
              <a:rPr lang="en-US" sz="2400" dirty="0">
                <a:solidFill>
                  <a:srgbClr val="FFFFFF"/>
                </a:solidFill>
                <a:latin typeface="Cambria" pitchFamily="18" charset="0"/>
              </a:rPr>
              <a:t>and </a:t>
            </a:r>
            <a:r>
              <a:rPr lang="en-US" sz="2400" dirty="0" smtClean="0">
                <a:solidFill>
                  <a:srgbClr val="FFFFFF"/>
                </a:solidFill>
                <a:latin typeface="Cambria" pitchFamily="18" charset="0"/>
              </a:rPr>
              <a:t>anti-Western ideologies </a:t>
            </a:r>
          </a:p>
          <a:p>
            <a:pPr marL="914400" lvl="1" indent="-457200" eaLnBrk="0" hangingPunct="0">
              <a:buFont typeface="Arial" pitchFamily="34" charset="0"/>
              <a:buChar char="•"/>
            </a:pPr>
            <a:r>
              <a:rPr lang="en-US" sz="2400" dirty="0" smtClean="0">
                <a:solidFill>
                  <a:srgbClr val="FFFFFF"/>
                </a:solidFill>
                <a:latin typeface="Cambria" pitchFamily="18" charset="0"/>
              </a:rPr>
              <a:t>Military Dictatorship’s control disciplined the society and diverted public attention through fear of war</a:t>
            </a:r>
            <a:endParaRPr lang="en-US" sz="2400" dirty="0">
              <a:solidFill>
                <a:srgbClr val="FFFFFF"/>
              </a:solidFill>
              <a:latin typeface="Cambria" pitchFamily="18" charset="0"/>
            </a:endParaRPr>
          </a:p>
          <a:p>
            <a:pPr marL="914400" lvl="1" indent="-457200" eaLnBrk="0" hangingPunct="0">
              <a:buFont typeface="Arial" pitchFamily="34" charset="0"/>
              <a:buChar char="•"/>
            </a:pPr>
            <a:r>
              <a:rPr lang="en-US" sz="2400" dirty="0" smtClean="0">
                <a:solidFill>
                  <a:srgbClr val="FFFFFF"/>
                </a:solidFill>
                <a:latin typeface="Cambria" pitchFamily="18" charset="0"/>
              </a:rPr>
              <a:t>Ideology </a:t>
            </a:r>
            <a:r>
              <a:rPr lang="en-US" sz="2400" dirty="0">
                <a:solidFill>
                  <a:srgbClr val="FFFFFF"/>
                </a:solidFill>
                <a:latin typeface="Cambria" pitchFamily="18" charset="0"/>
              </a:rPr>
              <a:t>of </a:t>
            </a:r>
            <a:r>
              <a:rPr lang="en-US" sz="2400" dirty="0" smtClean="0">
                <a:solidFill>
                  <a:srgbClr val="FFFFFF"/>
                </a:solidFill>
                <a:latin typeface="Cambria" pitchFamily="18" charset="0"/>
              </a:rPr>
              <a:t>Arab unity, Mecca as the </a:t>
            </a:r>
            <a:r>
              <a:rPr lang="en-US" sz="2400" dirty="0" err="1" smtClean="0">
                <a:solidFill>
                  <a:srgbClr val="FFFFFF"/>
                </a:solidFill>
                <a:latin typeface="Cambria" pitchFamily="18" charset="0"/>
              </a:rPr>
              <a:t>centre</a:t>
            </a:r>
            <a:r>
              <a:rPr lang="en-US" sz="2400" dirty="0" smtClean="0">
                <a:solidFill>
                  <a:srgbClr val="FFFFFF"/>
                </a:solidFill>
                <a:latin typeface="Cambria" pitchFamily="18" charset="0"/>
              </a:rPr>
              <a:t> of Islam in a conflict-ridden Middle </a:t>
            </a:r>
            <a:r>
              <a:rPr lang="en-US" sz="2400" dirty="0">
                <a:solidFill>
                  <a:srgbClr val="FFFFFF"/>
                </a:solidFill>
                <a:latin typeface="Cambria" pitchFamily="18" charset="0"/>
              </a:rPr>
              <a:t>E</a:t>
            </a:r>
            <a:r>
              <a:rPr lang="en-US" sz="2400" dirty="0" smtClean="0">
                <a:solidFill>
                  <a:srgbClr val="FFFFFF"/>
                </a:solidFill>
                <a:latin typeface="Cambria" pitchFamily="18" charset="0"/>
              </a:rPr>
              <a:t>ast, disciplined </a:t>
            </a:r>
            <a:r>
              <a:rPr lang="en-US" sz="2400" dirty="0">
                <a:solidFill>
                  <a:srgbClr val="FFFFFF"/>
                </a:solidFill>
                <a:latin typeface="Cambria" pitchFamily="18" charset="0"/>
              </a:rPr>
              <a:t>the objectified </a:t>
            </a:r>
            <a:r>
              <a:rPr lang="en-US" sz="2400" dirty="0" smtClean="0">
                <a:solidFill>
                  <a:srgbClr val="FFFFFF"/>
                </a:solidFill>
                <a:latin typeface="Cambria" pitchFamily="18" charset="0"/>
              </a:rPr>
              <a:t>bodies</a:t>
            </a:r>
            <a:endParaRPr lang="en-US" sz="2400" dirty="0">
              <a:solidFill>
                <a:srgbClr val="000000"/>
              </a:solidFill>
              <a:latin typeface="Garamond" pitchFamily="18" charset="0"/>
              <a:ea typeface="Calibri" pitchFamily="34" charset="0"/>
              <a:cs typeface="Times New Roman" pitchFamily="18" charset="0"/>
            </a:endParaRPr>
          </a:p>
        </p:txBody>
      </p:sp>
      <p:sp>
        <p:nvSpPr>
          <p:cNvPr id="4" name="Title 3"/>
          <p:cNvSpPr>
            <a:spLocks noGrp="1"/>
          </p:cNvSpPr>
          <p:nvPr>
            <p:ph type="title"/>
          </p:nvPr>
        </p:nvSpPr>
        <p:spPr>
          <a:xfrm>
            <a:off x="457200" y="152400"/>
            <a:ext cx="8229600" cy="1251062"/>
          </a:xfrm>
        </p:spPr>
        <p:txBody>
          <a:bodyPr rtlCol="0">
            <a:normAutofit/>
            <a:scene3d>
              <a:camera prst="orthographicFront"/>
              <a:lightRig rig="threePt" dir="t">
                <a:rot lat="0" lon="0" rev="4800000"/>
              </a:lightRig>
            </a:scene3d>
            <a:sp3d prstMaterial="matte">
              <a:bevelT w="50800" h="10160"/>
            </a:sp3d>
          </a:bodyPr>
          <a:lstStyle/>
          <a:p>
            <a:pPr eaLnBrk="1" fontAlgn="auto" hangingPunct="1">
              <a:spcAft>
                <a:spcPts val="0"/>
              </a:spcAft>
              <a:defRPr/>
            </a:pPr>
            <a:r>
              <a:rPr lang="en-US" dirty="0" smtClean="0">
                <a:solidFill>
                  <a:schemeClr val="accent1">
                    <a:satMod val="150000"/>
                  </a:schemeClr>
                </a:solidFill>
                <a:ea typeface="+mj-ea"/>
                <a:cs typeface="+mj-cs"/>
              </a:rPr>
              <a:t>3.Disciplined Social Body</a:t>
            </a:r>
            <a:endParaRPr lang="en-US" dirty="0">
              <a:solidFill>
                <a:schemeClr val="accent1">
                  <a:satMod val="150000"/>
                </a:schemeClr>
              </a:solidFill>
              <a:ea typeface="+mj-ea"/>
              <a:cs typeface="+mj-cs"/>
            </a:endParaRPr>
          </a:p>
        </p:txBody>
      </p:sp>
    </p:spTree>
    <p:extLst>
      <p:ext uri="{BB962C8B-B14F-4D97-AF65-F5344CB8AC3E}">
        <p14:creationId xmlns:p14="http://schemas.microsoft.com/office/powerpoint/2010/main" val="3937040635"/>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685800" y="2057400"/>
            <a:ext cx="8153400" cy="3539431"/>
          </a:xfrm>
          <a:prstGeom prst="rect">
            <a:avLst/>
          </a:prstGeom>
          <a:noFill/>
          <a:ln w="9525">
            <a:noFill/>
            <a:miter lim="800000"/>
            <a:headEnd/>
            <a:tailEnd/>
          </a:ln>
        </p:spPr>
        <p:txBody>
          <a:bodyPr>
            <a:spAutoFit/>
          </a:bodyPr>
          <a:lstStyle/>
          <a:p>
            <a:pPr>
              <a:defRPr/>
            </a:pPr>
            <a:r>
              <a:rPr lang="en-US" sz="2800" dirty="0" smtClean="0">
                <a:solidFill>
                  <a:srgbClr val="FFFFFF"/>
                </a:solidFill>
                <a:latin typeface="Cambria" charset="0"/>
                <a:ea typeface="ＭＳ Ｐゴシック" charset="-128"/>
                <a:cs typeface="+mn-cs"/>
              </a:rPr>
              <a:t>Protesters’ Actions to </a:t>
            </a:r>
            <a:r>
              <a:rPr lang="en-US" sz="2800" dirty="0">
                <a:solidFill>
                  <a:srgbClr val="FFFFFF"/>
                </a:solidFill>
                <a:latin typeface="Cambria" charset="0"/>
                <a:ea typeface="ＭＳ Ｐゴシック" charset="-128"/>
                <a:cs typeface="+mn-cs"/>
              </a:rPr>
              <a:t>Reclaim the Docile body as a Site for Resistance</a:t>
            </a:r>
          </a:p>
          <a:p>
            <a:pPr>
              <a:defRPr/>
            </a:pPr>
            <a:endParaRPr lang="en-US" sz="2800" dirty="0">
              <a:solidFill>
                <a:srgbClr val="FFFFFF"/>
              </a:solidFill>
              <a:latin typeface="Cambria" charset="0"/>
              <a:ea typeface="ＭＳ Ｐゴシック" charset="-128"/>
              <a:cs typeface="+mn-cs"/>
            </a:endParaRPr>
          </a:p>
          <a:p>
            <a:pPr marL="514350" indent="-514350">
              <a:buFont typeface="Arial" pitchFamily="34" charset="0"/>
              <a:buChar char="•"/>
              <a:defRPr/>
            </a:pPr>
            <a:r>
              <a:rPr lang="en-US" sz="2800" dirty="0">
                <a:solidFill>
                  <a:srgbClr val="FFFFFF"/>
                </a:solidFill>
                <a:latin typeface="Cambria" charset="0"/>
                <a:ea typeface="ＭＳ Ｐゴシック" charset="-128"/>
                <a:cs typeface="+mn-cs"/>
              </a:rPr>
              <a:t>Deconstruction of the Disciplined body</a:t>
            </a:r>
          </a:p>
          <a:p>
            <a:pPr marL="514350" indent="-514350">
              <a:buFont typeface="Arial" pitchFamily="34" charset="0"/>
              <a:buChar char="•"/>
              <a:defRPr/>
            </a:pPr>
            <a:r>
              <a:rPr lang="en-US" sz="2800" dirty="0">
                <a:solidFill>
                  <a:srgbClr val="FFFFFF"/>
                </a:solidFill>
                <a:latin typeface="Cambria" charset="0"/>
                <a:ea typeface="ＭＳ Ｐゴシック" charset="-128"/>
                <a:cs typeface="+mn-cs"/>
              </a:rPr>
              <a:t>Expose the dimensions of power over the </a:t>
            </a:r>
            <a:r>
              <a:rPr lang="en-US" sz="2800" dirty="0" smtClean="0">
                <a:solidFill>
                  <a:srgbClr val="FFFFFF"/>
                </a:solidFill>
                <a:latin typeface="Cambria" charset="0"/>
                <a:ea typeface="ＭＳ Ｐゴシック" charset="-128"/>
                <a:cs typeface="+mn-cs"/>
              </a:rPr>
              <a:t>oppressed </a:t>
            </a:r>
            <a:r>
              <a:rPr lang="en-US" sz="2800" dirty="0">
                <a:solidFill>
                  <a:srgbClr val="FFFFFF"/>
                </a:solidFill>
                <a:latin typeface="Cambria" charset="0"/>
                <a:ea typeface="ＭＳ Ｐゴシック" charset="-128"/>
                <a:cs typeface="+mn-cs"/>
              </a:rPr>
              <a:t>body </a:t>
            </a:r>
          </a:p>
          <a:p>
            <a:pPr marL="514350" indent="-514350">
              <a:buFont typeface="Arial" pitchFamily="34" charset="0"/>
              <a:buChar char="•"/>
              <a:defRPr/>
            </a:pPr>
            <a:r>
              <a:rPr lang="en-US" sz="2800" dirty="0">
                <a:solidFill>
                  <a:srgbClr val="FFFFFF"/>
                </a:solidFill>
                <a:latin typeface="Cambria" charset="0"/>
                <a:ea typeface="ＭＳ Ｐゴシック" charset="-128"/>
                <a:cs typeface="+mn-cs"/>
              </a:rPr>
              <a:t>Resistance against </a:t>
            </a:r>
            <a:r>
              <a:rPr lang="en-US" sz="2800" dirty="0" smtClean="0">
                <a:solidFill>
                  <a:srgbClr val="FFFFFF"/>
                </a:solidFill>
                <a:latin typeface="Cambria" charset="0"/>
                <a:ea typeface="ＭＳ Ｐゴシック" charset="-128"/>
                <a:cs typeface="+mn-cs"/>
              </a:rPr>
              <a:t>dictatorial </a:t>
            </a:r>
            <a:r>
              <a:rPr lang="en-US" sz="2800" dirty="0">
                <a:solidFill>
                  <a:srgbClr val="FFFFFF"/>
                </a:solidFill>
                <a:latin typeface="Cambria" charset="0"/>
                <a:ea typeface="ＭＳ Ｐゴシック" charset="-128"/>
                <a:cs typeface="+mn-cs"/>
              </a:rPr>
              <a:t>subjugation</a:t>
            </a:r>
          </a:p>
          <a:p>
            <a:pPr marL="514350" indent="-514350">
              <a:buFont typeface="Arial" pitchFamily="34" charset="0"/>
              <a:buChar char="•"/>
              <a:defRPr/>
            </a:pPr>
            <a:r>
              <a:rPr lang="en-US" sz="2800" dirty="0">
                <a:solidFill>
                  <a:srgbClr val="FFFFFF"/>
                </a:solidFill>
                <a:latin typeface="Cambria" charset="0"/>
                <a:ea typeface="ＭＳ Ｐゴシック" charset="-128"/>
                <a:cs typeface="+mn-cs"/>
              </a:rPr>
              <a:t>Transform the body as a site for agency</a:t>
            </a:r>
            <a:endParaRPr lang="en-US" dirty="0">
              <a:solidFill>
                <a:srgbClr val="FFFFFF"/>
              </a:solidFill>
              <a:latin typeface="Cambria" charset="0"/>
              <a:ea typeface="ＭＳ Ｐゴシック" charset="-128"/>
              <a:cs typeface="+mn-cs"/>
            </a:endParaRPr>
          </a:p>
        </p:txBody>
      </p:sp>
      <p:sp>
        <p:nvSpPr>
          <p:cNvPr id="3" name="Title 2"/>
          <p:cNvSpPr>
            <a:spLocks noGrp="1"/>
          </p:cNvSpPr>
          <p:nvPr>
            <p:ph type="title"/>
          </p:nvPr>
        </p:nvSpPr>
        <p:spPr>
          <a:xfrm>
            <a:off x="457200" y="152400"/>
            <a:ext cx="8229600" cy="1251062"/>
          </a:xfrm>
        </p:spPr>
        <p:txBody>
          <a:bodyPr rtlCol="0">
            <a:normAutofit/>
            <a:scene3d>
              <a:camera prst="orthographicFront"/>
              <a:lightRig rig="threePt" dir="t">
                <a:rot lat="0" lon="0" rev="4800000"/>
              </a:lightRig>
            </a:scene3d>
            <a:sp3d prstMaterial="matte">
              <a:bevelT w="50800" h="10160"/>
            </a:sp3d>
          </a:bodyPr>
          <a:lstStyle/>
          <a:p>
            <a:pPr eaLnBrk="1" fontAlgn="auto" hangingPunct="1">
              <a:spcAft>
                <a:spcPts val="0"/>
              </a:spcAft>
              <a:defRPr/>
            </a:pPr>
            <a:r>
              <a:rPr lang="en-US" sz="4600" dirty="0" smtClean="0">
                <a:solidFill>
                  <a:schemeClr val="accent1">
                    <a:satMod val="150000"/>
                  </a:schemeClr>
                </a:solidFill>
                <a:ea typeface="+mj-ea"/>
                <a:cs typeface="+mj-cs"/>
              </a:rPr>
              <a:t>Docile Body: Site of Resistance</a:t>
            </a:r>
            <a:endParaRPr lang="en-US" sz="4600" dirty="0">
              <a:solidFill>
                <a:schemeClr val="accent1">
                  <a:satMod val="150000"/>
                </a:schemeClr>
              </a:solidFill>
              <a:ea typeface="+mj-ea"/>
              <a:cs typeface="+mj-cs"/>
            </a:endParaRPr>
          </a:p>
        </p:txBody>
      </p:sp>
    </p:spTree>
    <p:extLst>
      <p:ext uri="{BB962C8B-B14F-4D97-AF65-F5344CB8AC3E}">
        <p14:creationId xmlns:p14="http://schemas.microsoft.com/office/powerpoint/2010/main" val="3630686225"/>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55448"/>
            <a:ext cx="9067800" cy="1252728"/>
          </a:xfrm>
        </p:spPr>
        <p:txBody>
          <a:bodyPr/>
          <a:lstStyle/>
          <a:p>
            <a:r>
              <a:rPr lang="en-US" dirty="0" smtClean="0"/>
              <a:t>Theoretical Themes Part II: </a:t>
            </a:r>
            <a:r>
              <a:rPr lang="en-US" dirty="0" err="1" smtClean="0"/>
              <a:t>Deleuze</a:t>
            </a:r>
            <a:endParaRPr lang="en-US" dirty="0"/>
          </a:p>
        </p:txBody>
      </p:sp>
      <p:sp>
        <p:nvSpPr>
          <p:cNvPr id="3" name="Content Placeholder 2"/>
          <p:cNvSpPr>
            <a:spLocks noGrp="1"/>
          </p:cNvSpPr>
          <p:nvPr>
            <p:ph idx="1"/>
          </p:nvPr>
        </p:nvSpPr>
        <p:spPr>
          <a:xfrm>
            <a:off x="76200" y="1774825"/>
            <a:ext cx="8991600" cy="4625975"/>
          </a:xfrm>
        </p:spPr>
        <p:txBody>
          <a:bodyPr/>
          <a:lstStyle/>
          <a:p>
            <a:r>
              <a:rPr lang="en-US" sz="3600" dirty="0" smtClean="0"/>
              <a:t> </a:t>
            </a:r>
            <a:r>
              <a:rPr lang="en-US" sz="3800" dirty="0" err="1" smtClean="0"/>
              <a:t>Deleuze’s</a:t>
            </a:r>
            <a:r>
              <a:rPr lang="en-US" sz="3800" dirty="0" smtClean="0"/>
              <a:t> Conceptualization of the Body</a:t>
            </a:r>
          </a:p>
          <a:p>
            <a:pPr marL="119062" indent="0">
              <a:buNone/>
            </a:pPr>
            <a:endParaRPr lang="en-US" sz="4000" dirty="0" smtClean="0"/>
          </a:p>
          <a:p>
            <a:pPr lvl="1"/>
            <a:r>
              <a:rPr lang="en-US" sz="3600" dirty="0" smtClean="0"/>
              <a:t>The Body</a:t>
            </a:r>
          </a:p>
          <a:p>
            <a:pPr lvl="1"/>
            <a:endParaRPr lang="en-US" sz="3600" dirty="0" smtClean="0"/>
          </a:p>
          <a:p>
            <a:pPr lvl="1"/>
            <a:r>
              <a:rPr lang="en-US" sz="3600" dirty="0" smtClean="0"/>
              <a:t>Body without Organs</a:t>
            </a:r>
          </a:p>
          <a:p>
            <a:pPr lvl="1"/>
            <a:endParaRPr lang="en-US" sz="3600" dirty="0" smtClean="0"/>
          </a:p>
          <a:p>
            <a:pPr lvl="1"/>
            <a:r>
              <a:rPr lang="en-US" sz="3600" dirty="0" err="1" smtClean="0"/>
              <a:t>Deleuze’s</a:t>
            </a:r>
            <a:r>
              <a:rPr lang="en-US" sz="3600" dirty="0" smtClean="0"/>
              <a:t> Concepts </a:t>
            </a:r>
          </a:p>
          <a:p>
            <a:pPr marL="457200" lvl="1" indent="0">
              <a:buNone/>
            </a:pPr>
            <a:r>
              <a:rPr lang="en-US" dirty="0" smtClean="0"/>
              <a:t> </a:t>
            </a:r>
          </a:p>
          <a:p>
            <a:pPr marL="766763" lvl="2" indent="0">
              <a:buNone/>
            </a:pPr>
            <a:endParaRPr lang="en-US" dirty="0"/>
          </a:p>
          <a:p>
            <a:endParaRPr lang="en-US" dirty="0"/>
          </a:p>
        </p:txBody>
      </p:sp>
    </p:spTree>
    <p:extLst>
      <p:ext uri="{BB962C8B-B14F-4D97-AF65-F5344CB8AC3E}">
        <p14:creationId xmlns:p14="http://schemas.microsoft.com/office/powerpoint/2010/main" val="2298864119"/>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Body without Organs (</a:t>
            </a:r>
            <a:r>
              <a:rPr lang="en-US" dirty="0" err="1"/>
              <a:t>BwO</a:t>
            </a:r>
            <a:r>
              <a:rPr lang="en-US" dirty="0"/>
              <a:t>)</a:t>
            </a:r>
          </a:p>
        </p:txBody>
      </p:sp>
      <p:sp>
        <p:nvSpPr>
          <p:cNvPr id="3" name="Content Placeholder 2"/>
          <p:cNvSpPr>
            <a:spLocks noGrp="1"/>
          </p:cNvSpPr>
          <p:nvPr>
            <p:ph idx="1"/>
          </p:nvPr>
        </p:nvSpPr>
        <p:spPr/>
        <p:txBody>
          <a:bodyPr>
            <a:normAutofit/>
          </a:bodyPr>
          <a:lstStyle/>
          <a:p>
            <a:r>
              <a:rPr lang="en-US" dirty="0" smtClean="0"/>
              <a:t>Deleuze refers to the ‘virtual’ dimension of the body as </a:t>
            </a:r>
            <a:r>
              <a:rPr lang="en-US" dirty="0" err="1" smtClean="0"/>
              <a:t>BwO</a:t>
            </a:r>
            <a:r>
              <a:rPr lang="en-US" dirty="0" smtClean="0"/>
              <a:t> </a:t>
            </a:r>
          </a:p>
          <a:p>
            <a:r>
              <a:rPr lang="en-US" dirty="0" smtClean="0"/>
              <a:t>Every ‘actual’ </a:t>
            </a:r>
            <a:r>
              <a:rPr lang="en-US" dirty="0"/>
              <a:t>body has </a:t>
            </a:r>
            <a:r>
              <a:rPr lang="en-US" dirty="0" smtClean="0"/>
              <a:t>or embodies a </a:t>
            </a:r>
            <a:r>
              <a:rPr lang="en-US" dirty="0"/>
              <a:t>set of traits, habits, movements, </a:t>
            </a:r>
            <a:r>
              <a:rPr lang="en-US" dirty="0" smtClean="0"/>
              <a:t>emotions, </a:t>
            </a:r>
            <a:r>
              <a:rPr lang="en-US" dirty="0"/>
              <a:t>etc</a:t>
            </a:r>
            <a:r>
              <a:rPr lang="en-US" dirty="0" smtClean="0"/>
              <a:t>.</a:t>
            </a:r>
          </a:p>
          <a:p>
            <a:r>
              <a:rPr lang="en-US" dirty="0" smtClean="0"/>
              <a:t>Every ‘actual’ </a:t>
            </a:r>
            <a:r>
              <a:rPr lang="en-US" dirty="0"/>
              <a:t>body also has a </a:t>
            </a:r>
            <a:r>
              <a:rPr lang="en-US" dirty="0" smtClean="0"/>
              <a:t>‘virtual’ dimension: i.e.,  an immense pool of  potential  of characteristics, connections</a:t>
            </a:r>
            <a:r>
              <a:rPr lang="en-US" dirty="0"/>
              <a:t>, affects, movements, etc. </a:t>
            </a:r>
          </a:p>
        </p:txBody>
      </p:sp>
    </p:spTree>
    <p:extLst>
      <p:ext uri="{BB962C8B-B14F-4D97-AF65-F5344CB8AC3E}">
        <p14:creationId xmlns:p14="http://schemas.microsoft.com/office/powerpoint/2010/main" val="1571034770"/>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Body without Organs </a:t>
            </a:r>
            <a:r>
              <a:rPr lang="en-US" dirty="0" smtClean="0"/>
              <a:t>(cont’d)</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Deleuze’s </a:t>
            </a:r>
            <a:r>
              <a:rPr lang="en-US" dirty="0" err="1" smtClean="0"/>
              <a:t>BwO</a:t>
            </a:r>
            <a:r>
              <a:rPr lang="en-US" dirty="0" smtClean="0"/>
              <a:t> is the ‘virtual’ body with a reservoir </a:t>
            </a:r>
            <a:r>
              <a:rPr lang="en-US" dirty="0"/>
              <a:t>of </a:t>
            </a:r>
            <a:r>
              <a:rPr lang="en-US" dirty="0" smtClean="0"/>
              <a:t>potentials. </a:t>
            </a:r>
          </a:p>
          <a:p>
            <a:r>
              <a:rPr lang="en-US" dirty="0" smtClean="0"/>
              <a:t>To attain freedom, one must unleash these potentials and push towards becoming a </a:t>
            </a:r>
            <a:r>
              <a:rPr lang="en-US" dirty="0" err="1" smtClean="0"/>
              <a:t>BwO</a:t>
            </a:r>
            <a:endParaRPr lang="en-US" dirty="0" smtClean="0"/>
          </a:p>
          <a:p>
            <a:r>
              <a:rPr lang="en-US" dirty="0" smtClean="0"/>
              <a:t>This requires one to engage in active experimentation with oneself to realize these virtual potentials </a:t>
            </a:r>
          </a:p>
          <a:p>
            <a:r>
              <a:rPr lang="en-US" dirty="0" smtClean="0"/>
              <a:t>Actualization or activation of these virtual potentials occur mostly in conjunction with other bodies (</a:t>
            </a:r>
            <a:r>
              <a:rPr lang="en-US" dirty="0" err="1" smtClean="0"/>
              <a:t>BwOs</a:t>
            </a:r>
            <a:r>
              <a:rPr lang="en-US" dirty="0" smtClean="0"/>
              <a:t>).</a:t>
            </a:r>
          </a:p>
          <a:p>
            <a:r>
              <a:rPr lang="en-US" dirty="0" smtClean="0"/>
              <a:t>This process is  called ‘</a:t>
            </a:r>
            <a:r>
              <a:rPr lang="en-US" dirty="0" err="1" smtClean="0"/>
              <a:t>becomings</a:t>
            </a:r>
            <a:r>
              <a:rPr lang="en-US" dirty="0" smtClean="0"/>
              <a:t>’</a:t>
            </a:r>
            <a:endParaRPr lang="en-US" dirty="0"/>
          </a:p>
        </p:txBody>
      </p:sp>
    </p:spTree>
    <p:extLst>
      <p:ext uri="{BB962C8B-B14F-4D97-AF65-F5344CB8AC3E}">
        <p14:creationId xmlns:p14="http://schemas.microsoft.com/office/powerpoint/2010/main" val="3126847210"/>
      </p:ext>
    </p:extLst>
  </p:cSld>
  <p:clrMapOvr>
    <a:masterClrMapping/>
  </p:clrMapOvr>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ＭＳ ゴシック"/>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ＭＳ ゴシック"/>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Module.thmx</Template>
  <TotalTime>6911</TotalTime>
  <Words>2509</Words>
  <Application>Microsoft Macintosh PowerPoint</Application>
  <PresentationFormat>On-screen Show (4:3)</PresentationFormat>
  <Paragraphs>247</Paragraphs>
  <Slides>53</Slides>
  <Notes>14</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53</vt:i4>
      </vt:variant>
    </vt:vector>
  </HeadingPairs>
  <TitlesOfParts>
    <vt:vector size="55" baseType="lpstr">
      <vt:lpstr>Module</vt:lpstr>
      <vt:lpstr>Document</vt:lpstr>
      <vt:lpstr>Foucault &amp; Deleuze : The Docile Body Becoming a Protester in the Arab Spring:  The role of Social Media     </vt:lpstr>
      <vt:lpstr>PowerPoint Presentation</vt:lpstr>
      <vt:lpstr>PowerPoint Presentation</vt:lpstr>
      <vt:lpstr>PowerPoint Presentation</vt:lpstr>
      <vt:lpstr>III. Active Force against Docility</vt:lpstr>
      <vt:lpstr>Becoming</vt:lpstr>
      <vt:lpstr>Becoming Protesters : Role of Social media  in  Reclaiming the Body</vt:lpstr>
      <vt:lpstr>PowerPoint Presentation</vt:lpstr>
      <vt:lpstr>PowerPoint Presentation</vt:lpstr>
      <vt:lpstr>PowerPoint Presentation</vt:lpstr>
      <vt:lpstr>III. Active Force against Docility</vt:lpstr>
      <vt:lpstr>Social Media: A Strategy of Resistance</vt:lpstr>
      <vt:lpstr>SM’s architecture </vt:lpstr>
      <vt:lpstr>SM as the tool of public interactivity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Deterritorialization </vt:lpstr>
      <vt:lpstr>III. Active Force against Docility</vt:lpstr>
      <vt:lpstr>Muslim Brotherhood’s use of Social Media</vt:lpstr>
      <vt:lpstr>PowerPoint Presentation</vt:lpstr>
      <vt:lpstr>SM as a Weapon of Control </vt:lpstr>
      <vt:lpstr>III. Active Force against Docility</vt:lpstr>
      <vt:lpstr>Deleuze’s Control societies</vt:lpstr>
      <vt:lpstr>Deleuze’s Control societies (cont’d)</vt:lpstr>
      <vt:lpstr>Control societies (cont’d)</vt:lpstr>
      <vt:lpstr>Reterritorialization</vt:lpstr>
      <vt:lpstr>Reterritorialization</vt:lpstr>
      <vt:lpstr>Reterritorialization (cont’d)</vt:lpstr>
      <vt:lpstr>III. Active Force against Docility</vt:lpstr>
      <vt:lpstr>Deleuze’s ‘What a body can do?’</vt:lpstr>
      <vt:lpstr>Freeing the Social Body</vt:lpstr>
      <vt:lpstr>PowerPoint Presentation</vt:lpstr>
      <vt:lpstr>Theoretical Themes:  Part I Foucault</vt:lpstr>
      <vt:lpstr>Theoretical Themes: Part II</vt:lpstr>
      <vt:lpstr>Theoretical Themes : Part III</vt:lpstr>
      <vt:lpstr>Theoretical Themes:  Part I Foucault</vt:lpstr>
      <vt:lpstr>Disciplinary Society</vt:lpstr>
      <vt:lpstr>Docile Body</vt:lpstr>
      <vt:lpstr>Foucault’s Archeology of Power</vt:lpstr>
      <vt:lpstr>1.Objectified Social Body  (Egypt)</vt:lpstr>
      <vt:lpstr>2. Controlled Social Body (Egypt)</vt:lpstr>
      <vt:lpstr>3.Disciplined Social Body</vt:lpstr>
      <vt:lpstr>Docile Body: Site of Resistance</vt:lpstr>
      <vt:lpstr>Theoretical Themes Part II: Deleuze</vt:lpstr>
      <vt:lpstr>Body without Organs (BwO)</vt:lpstr>
      <vt:lpstr>Body without Organs (cont’d)</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Indhu Rajagopal</dc:creator>
  <cp:lastModifiedBy>Indhu Rajagopal</cp:lastModifiedBy>
  <cp:revision>425</cp:revision>
  <cp:lastPrinted>2012-07-19T19:07:41Z</cp:lastPrinted>
  <dcterms:created xsi:type="dcterms:W3CDTF">2009-07-19T09:19:59Z</dcterms:created>
  <dcterms:modified xsi:type="dcterms:W3CDTF">2012-07-24T21:09:49Z</dcterms:modified>
</cp:coreProperties>
</file>