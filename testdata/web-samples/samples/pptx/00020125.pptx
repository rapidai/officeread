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sldIdLst>
    <p:sldId id="795" r:id="rId2"/>
    <p:sldId id="796" r:id="rId3"/>
    <p:sldId id="855" r:id="rId4"/>
    <p:sldId id="797" r:id="rId5"/>
    <p:sldId id="798" r:id="rId6"/>
    <p:sldId id="802" r:id="rId7"/>
    <p:sldId id="803" r:id="rId8"/>
    <p:sldId id="806" r:id="rId9"/>
    <p:sldId id="799" r:id="rId10"/>
    <p:sldId id="804" r:id="rId11"/>
    <p:sldId id="805" r:id="rId12"/>
    <p:sldId id="800" r:id="rId13"/>
    <p:sldId id="807" r:id="rId14"/>
    <p:sldId id="814" r:id="rId15"/>
    <p:sldId id="815" r:id="rId16"/>
    <p:sldId id="816" r:id="rId17"/>
    <p:sldId id="808" r:id="rId18"/>
    <p:sldId id="809" r:id="rId19"/>
    <p:sldId id="810" r:id="rId20"/>
    <p:sldId id="820" r:id="rId21"/>
    <p:sldId id="821" r:id="rId22"/>
    <p:sldId id="822" r:id="rId23"/>
    <p:sldId id="823" r:id="rId24"/>
    <p:sldId id="817" r:id="rId25"/>
    <p:sldId id="818" r:id="rId26"/>
    <p:sldId id="811" r:id="rId27"/>
    <p:sldId id="819" r:id="rId28"/>
    <p:sldId id="825" r:id="rId29"/>
    <p:sldId id="826" r:id="rId30"/>
    <p:sldId id="824" r:id="rId31"/>
    <p:sldId id="827" r:id="rId32"/>
    <p:sldId id="831" r:id="rId33"/>
    <p:sldId id="830" r:id="rId34"/>
    <p:sldId id="828" r:id="rId35"/>
    <p:sldId id="832" r:id="rId36"/>
    <p:sldId id="833" r:id="rId37"/>
    <p:sldId id="834" r:id="rId38"/>
    <p:sldId id="829" r:id="rId39"/>
    <p:sldId id="835" r:id="rId40"/>
    <p:sldId id="836" r:id="rId41"/>
    <p:sldId id="838" r:id="rId42"/>
    <p:sldId id="837" r:id="rId43"/>
    <p:sldId id="839" r:id="rId44"/>
    <p:sldId id="840" r:id="rId45"/>
    <p:sldId id="845" r:id="rId46"/>
    <p:sldId id="846" r:id="rId47"/>
    <p:sldId id="842" r:id="rId48"/>
    <p:sldId id="843" r:id="rId49"/>
    <p:sldId id="844" r:id="rId50"/>
    <p:sldId id="841" r:id="rId51"/>
    <p:sldId id="812" r:id="rId52"/>
    <p:sldId id="847" r:id="rId53"/>
    <p:sldId id="848" r:id="rId54"/>
    <p:sldId id="853" r:id="rId55"/>
    <p:sldId id="849" r:id="rId56"/>
    <p:sldId id="854" r:id="rId57"/>
    <p:sldId id="856" r:id="rId58"/>
    <p:sldId id="857" r:id="rId59"/>
    <p:sldId id="858" r:id="rId60"/>
    <p:sldId id="859" r:id="rId61"/>
    <p:sldId id="860" r:id="rId62"/>
    <p:sldId id="861" r:id="rId63"/>
    <p:sldId id="862" r:id="rId64"/>
    <p:sldId id="863" r:id="rId65"/>
    <p:sldId id="864" r:id="rId66"/>
    <p:sldId id="865" r:id="rId67"/>
    <p:sldId id="866" r:id="rId68"/>
    <p:sldId id="867" r:id="rId69"/>
    <p:sldId id="868" r:id="rId70"/>
    <p:sldId id="869" r:id="rId71"/>
    <p:sldId id="870" r:id="rId72"/>
    <p:sldId id="871" r:id="rId73"/>
    <p:sldId id="872" r:id="rId74"/>
    <p:sldId id="873" r:id="rId75"/>
    <p:sldId id="874" r:id="rId7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66"/>
    <a:srgbClr val="01652E"/>
    <a:srgbClr val="663300"/>
    <a:srgbClr val="A00C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72" autoAdjust="0"/>
    <p:restoredTop sz="89225" autoAdjust="0"/>
  </p:normalViewPr>
  <p:slideViewPr>
    <p:cSldViewPr>
      <p:cViewPr varScale="1">
        <p:scale>
          <a:sx n="86" d="100"/>
          <a:sy n="86" d="100"/>
        </p:scale>
        <p:origin x="-78" y="-45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52048-2DDB-4686-9920-613F5575315A}" type="datetimeFigureOut">
              <a:rPr lang="en-US" smtClean="0"/>
              <a:t>2011-09-12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43F99F-FCDF-47B5-92C8-2949D7583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792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itle - AC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685800" y="530352"/>
            <a:ext cx="7772400" cy="765175"/>
          </a:xfrm>
          <a:prstGeom prst="rect">
            <a:avLst/>
          </a:prstGeom>
        </p:spPr>
        <p:txBody>
          <a:bodyPr/>
          <a:lstStyle>
            <a:lvl1pPr>
              <a:defRPr sz="4400" b="1">
                <a:solidFill>
                  <a:schemeClr val="bg1"/>
                </a:solidFill>
                <a:latin typeface="Acid" pitchFamily="50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10" name="Picture 1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3544" y="1481656"/>
            <a:ext cx="7306056" cy="4215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0457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- AC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A00C0C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85800" y="533400"/>
            <a:ext cx="7772400" cy="765175"/>
          </a:xfrm>
          <a:prstGeom prst="rect">
            <a:avLst/>
          </a:prstGeom>
        </p:spPr>
        <p:txBody>
          <a:bodyPr/>
          <a:lstStyle>
            <a:lvl1pPr>
              <a:defRPr sz="4400" b="1">
                <a:solidFill>
                  <a:schemeClr val="bg1"/>
                </a:solidFill>
                <a:latin typeface="Acid" pitchFamily="50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9745" y="1477963"/>
            <a:ext cx="7302923" cy="4213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9192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ical Slide - AC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9220" y="0"/>
            <a:ext cx="9019520" cy="685800"/>
          </a:xfrm>
          <a:prstGeom prst="rect">
            <a:avLst/>
          </a:prstGeom>
        </p:spPr>
        <p:txBody>
          <a:bodyPr/>
          <a:lstStyle>
            <a:lvl1pPr algn="l">
              <a:defRPr sz="3500" b="1">
                <a:latin typeface="Acid" pitchFamily="50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257800"/>
          </a:xfrm>
          <a:prstGeom prst="rect">
            <a:avLst/>
          </a:prstGeom>
        </p:spPr>
        <p:txBody>
          <a:bodyPr/>
          <a:lstStyle>
            <a:lvl1pPr marL="233363" indent="-227013">
              <a:defRPr>
                <a:latin typeface="Acid" pitchFamily="50" charset="0"/>
              </a:defRPr>
            </a:lvl1pPr>
            <a:lvl2pPr marL="568325" indent="-284163">
              <a:defRPr>
                <a:latin typeface="Acid" pitchFamily="50" charset="0"/>
              </a:defRPr>
            </a:lvl2pPr>
            <a:lvl3pPr marL="796925" indent="-228600">
              <a:defRPr>
                <a:latin typeface="Acid" pitchFamily="50" charset="0"/>
              </a:defRPr>
            </a:lvl3pPr>
            <a:lvl4pPr marL="1089025" indent="-228600">
              <a:defRPr>
                <a:latin typeface="Acid" pitchFamily="50" charset="0"/>
              </a:defRPr>
            </a:lvl4pPr>
            <a:lvl5pPr marL="1373188" indent="-228600">
              <a:defRPr>
                <a:latin typeface="Acid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69220" y="609600"/>
            <a:ext cx="901952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6477000"/>
            <a:ext cx="91440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toool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00" y="6477000"/>
            <a:ext cx="1047023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 userDrawn="1"/>
        </p:nvSpPr>
        <p:spPr>
          <a:xfrm>
            <a:off x="6703702" y="6559233"/>
            <a:ext cx="2438400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600"/>
              </a:lnSpc>
            </a:pPr>
            <a:r>
              <a:rPr lang="en-US" sz="3200" b="1" dirty="0" smtClean="0">
                <a:solidFill>
                  <a:schemeClr val="bg1">
                    <a:lumMod val="85000"/>
                  </a:schemeClr>
                </a:solidFill>
                <a:latin typeface="Acid" pitchFamily="50" charset="0"/>
              </a:rPr>
              <a:t>http://toool.us</a:t>
            </a:r>
            <a:endParaRPr lang="en-US" sz="3200" b="1" dirty="0">
              <a:solidFill>
                <a:schemeClr val="bg1">
                  <a:lumMod val="85000"/>
                </a:schemeClr>
              </a:solidFill>
              <a:latin typeface="Aci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536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85800" y="533400"/>
            <a:ext cx="7772400" cy="76517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cid" pitchFamily="50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9745" y="1477963"/>
            <a:ext cx="7302923" cy="421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0104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85800" y="533400"/>
            <a:ext cx="7772400" cy="76517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cid" pitchFamily="50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9745" y="1477963"/>
            <a:ext cx="7302923" cy="421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6413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0340046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54185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660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49" r:id="rId2"/>
    <p:sldLayoutId id="2147483650" r:id="rId3"/>
    <p:sldLayoutId id="2147483662" r:id="rId4"/>
    <p:sldLayoutId id="2147483663" r:id="rId5"/>
    <p:sldLayoutId id="2147483664" r:id="rId6"/>
    <p:sldLayoutId id="214748366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10" Type="http://schemas.openxmlformats.org/officeDocument/2006/relationships/image" Target="../media/image14.jpeg"/><Relationship Id="rId4" Type="http://schemas.openxmlformats.org/officeDocument/2006/relationships/image" Target="../media/image8.jpeg"/><Relationship Id="rId9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jpeg"/><Relationship Id="rId4" Type="http://schemas.openxmlformats.org/officeDocument/2006/relationships/image" Target="../media/image2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jpeg"/><Relationship Id="rId4" Type="http://schemas.openxmlformats.org/officeDocument/2006/relationships/image" Target="../media/image49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jpeg"/><Relationship Id="rId4" Type="http://schemas.openxmlformats.org/officeDocument/2006/relationships/image" Target="../media/image49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jpeg"/><Relationship Id="rId4" Type="http://schemas.openxmlformats.org/officeDocument/2006/relationships/image" Target="../media/image49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7" Type="http://schemas.openxmlformats.org/officeDocument/2006/relationships/image" Target="../media/image66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5.jpeg"/><Relationship Id="rId5" Type="http://schemas.openxmlformats.org/officeDocument/2006/relationships/image" Target="../media/image64.jpeg"/><Relationship Id="rId4" Type="http://schemas.openxmlformats.org/officeDocument/2006/relationships/image" Target="../media/image63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7" Type="http://schemas.openxmlformats.org/officeDocument/2006/relationships/image" Target="../media/image66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5.jpeg"/><Relationship Id="rId5" Type="http://schemas.openxmlformats.org/officeDocument/2006/relationships/image" Target="../media/image64.jpeg"/><Relationship Id="rId4" Type="http://schemas.openxmlformats.org/officeDocument/2006/relationships/image" Target="../media/image63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7.jpeg"/><Relationship Id="rId5" Type="http://schemas.openxmlformats.org/officeDocument/2006/relationships/image" Target="../media/image76.jpeg"/><Relationship Id="rId4" Type="http://schemas.openxmlformats.org/officeDocument/2006/relationships/image" Target="../media/image75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8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1.jpeg"/><Relationship Id="rId5" Type="http://schemas.openxmlformats.org/officeDocument/2006/relationships/image" Target="../media/image90.jpeg"/><Relationship Id="rId4" Type="http://schemas.openxmlformats.org/officeDocument/2006/relationships/image" Target="../media/image89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7" Type="http://schemas.openxmlformats.org/officeDocument/2006/relationships/image" Target="../media/image92.jpeg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1.jpeg"/><Relationship Id="rId5" Type="http://schemas.openxmlformats.org/officeDocument/2006/relationships/image" Target="../media/image90.jpeg"/><Relationship Id="rId4" Type="http://schemas.openxmlformats.org/officeDocument/2006/relationships/image" Target="../media/image89.jpe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jpeg"/><Relationship Id="rId3" Type="http://schemas.openxmlformats.org/officeDocument/2006/relationships/image" Target="../media/image87.jpeg"/><Relationship Id="rId7" Type="http://schemas.openxmlformats.org/officeDocument/2006/relationships/image" Target="../media/image92.jpeg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1.jpeg"/><Relationship Id="rId5" Type="http://schemas.openxmlformats.org/officeDocument/2006/relationships/image" Target="../media/image90.jpeg"/><Relationship Id="rId4" Type="http://schemas.openxmlformats.org/officeDocument/2006/relationships/image" Target="../media/image89.jpeg"/><Relationship Id="rId9" Type="http://schemas.openxmlformats.org/officeDocument/2006/relationships/image" Target="../media/image94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jpeg"/><Relationship Id="rId5" Type="http://schemas.openxmlformats.org/officeDocument/2006/relationships/image" Target="../media/image44.jpeg"/><Relationship Id="rId4" Type="http://schemas.openxmlformats.org/officeDocument/2006/relationships/image" Target="../media/image45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eg"/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2.jpeg"/><Relationship Id="rId5" Type="http://schemas.openxmlformats.org/officeDocument/2006/relationships/image" Target="../media/image101.jpeg"/><Relationship Id="rId4" Type="http://schemas.openxmlformats.org/officeDocument/2006/relationships/image" Target="../media/image100.jpe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e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jpeg"/><Relationship Id="rId2" Type="http://schemas.openxmlformats.org/officeDocument/2006/relationships/image" Target="../media/image108.jpe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jpe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jpe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e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e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"/>
            <a:ext cx="7772400" cy="765175"/>
          </a:xfrm>
        </p:spPr>
        <p:txBody>
          <a:bodyPr/>
          <a:lstStyle/>
          <a:p>
            <a:r>
              <a:rPr lang="en-US" dirty="0" smtClean="0"/>
              <a:t>Distinguishing Picks</a:t>
            </a:r>
            <a:endParaRPr lang="en-US" dirty="0"/>
          </a:p>
        </p:txBody>
      </p:sp>
      <p:pic>
        <p:nvPicPr>
          <p:cNvPr id="3" name="Picture 13" descr="picks - on bla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63" y="1023938"/>
            <a:ext cx="7239000" cy="4849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685800" y="6016625"/>
            <a:ext cx="7772400" cy="76517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Acid" pitchFamily="50" charset="0"/>
                <a:ea typeface="+mj-ea"/>
                <a:cs typeface="+mj-cs"/>
              </a:defRPr>
            </a:lvl1pPr>
          </a:lstStyle>
          <a:p>
            <a:r>
              <a:rPr lang="en-US" sz="2400" dirty="0" smtClean="0"/>
              <a:t>Deviant Ollam</a:t>
            </a:r>
          </a:p>
        </p:txBody>
      </p:sp>
    </p:spTree>
    <p:extLst>
      <p:ext uri="{BB962C8B-B14F-4D97-AF65-F5344CB8AC3E}">
        <p14:creationId xmlns:p14="http://schemas.microsoft.com/office/powerpoint/2010/main" val="3101402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4" name="Rectangle 6"/>
          <p:cNvSpPr>
            <a:spLocks noChangeArrowheads="1"/>
          </p:cNvSpPr>
          <p:nvPr/>
        </p:nvSpPr>
        <p:spPr bwMode="auto">
          <a:xfrm>
            <a:off x="152400" y="914400"/>
            <a:ext cx="6096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Lockpicking Tools Can Be Confusing</a:t>
            </a:r>
            <a:endParaRPr lang="en-US" dirty="0"/>
          </a:p>
        </p:txBody>
      </p:sp>
      <p:pic>
        <p:nvPicPr>
          <p:cNvPr id="8" name="Picture 3" descr="confus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838200"/>
            <a:ext cx="5167313" cy="546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4017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4" name="Rectangle 6"/>
          <p:cNvSpPr>
            <a:spLocks noChangeArrowheads="1"/>
          </p:cNvSpPr>
          <p:nvPr/>
        </p:nvSpPr>
        <p:spPr bwMode="auto">
          <a:xfrm>
            <a:off x="152400" y="914400"/>
            <a:ext cx="6096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There are many </a:t>
            </a:r>
            <a:r>
              <a:rPr lang="en-US" dirty="0" err="1" smtClean="0"/>
              <a:t>lockpick</a:t>
            </a:r>
            <a:r>
              <a:rPr lang="en-US" dirty="0" smtClean="0"/>
              <a:t> vendors…</a:t>
            </a:r>
            <a:endParaRPr lang="en-US" dirty="0"/>
          </a:p>
        </p:txBody>
      </p:sp>
      <p:pic>
        <p:nvPicPr>
          <p:cNvPr id="5" name="Picture 3" descr="web_0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66800"/>
            <a:ext cx="2770188" cy="1963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web_0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338" y="1066800"/>
            <a:ext cx="2760662" cy="195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web_0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288" y="1066800"/>
            <a:ext cx="2760662" cy="195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061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4" name="Rectangle 6"/>
          <p:cNvSpPr>
            <a:spLocks noChangeArrowheads="1"/>
          </p:cNvSpPr>
          <p:nvPr/>
        </p:nvSpPr>
        <p:spPr bwMode="auto">
          <a:xfrm>
            <a:off x="152400" y="914400"/>
            <a:ext cx="6096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There are many </a:t>
            </a:r>
            <a:r>
              <a:rPr lang="en-US" dirty="0" err="1" smtClean="0"/>
              <a:t>lockpick</a:t>
            </a:r>
            <a:r>
              <a:rPr lang="en-US" dirty="0" smtClean="0"/>
              <a:t> vendors…</a:t>
            </a:r>
            <a:endParaRPr lang="en-US" dirty="0"/>
          </a:p>
        </p:txBody>
      </p:sp>
      <p:pic>
        <p:nvPicPr>
          <p:cNvPr id="5" name="Picture 3" descr="web_0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66800"/>
            <a:ext cx="2770188" cy="1963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web_0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338" y="1066800"/>
            <a:ext cx="2760662" cy="195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web_0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288" y="1066800"/>
            <a:ext cx="2760662" cy="195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web_0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38" y="2538413"/>
            <a:ext cx="2760662" cy="1957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7" descr="web_0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538413"/>
            <a:ext cx="2760663" cy="1957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web_0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0938" y="2538413"/>
            <a:ext cx="2760662" cy="1957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7270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4" name="Rectangle 6"/>
          <p:cNvSpPr>
            <a:spLocks noChangeArrowheads="1"/>
          </p:cNvSpPr>
          <p:nvPr/>
        </p:nvSpPr>
        <p:spPr bwMode="auto">
          <a:xfrm>
            <a:off x="152400" y="914400"/>
            <a:ext cx="6096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There are many </a:t>
            </a:r>
            <a:r>
              <a:rPr lang="en-US" dirty="0" err="1" smtClean="0"/>
              <a:t>lockpick</a:t>
            </a:r>
            <a:r>
              <a:rPr lang="en-US" dirty="0" smtClean="0"/>
              <a:t> vendors…</a:t>
            </a:r>
            <a:endParaRPr lang="en-US" dirty="0"/>
          </a:p>
        </p:txBody>
      </p:sp>
      <p:pic>
        <p:nvPicPr>
          <p:cNvPr id="5" name="Picture 3" descr="web_0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66800"/>
            <a:ext cx="2770188" cy="1963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web_0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338" y="1066800"/>
            <a:ext cx="2760662" cy="195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web_0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288" y="1066800"/>
            <a:ext cx="2760662" cy="195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web_0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38" y="2538413"/>
            <a:ext cx="2760662" cy="1957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7" descr="web_0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538413"/>
            <a:ext cx="2760663" cy="1957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web_0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0938" y="2538413"/>
            <a:ext cx="2760662" cy="1957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9" descr="web_07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138613"/>
            <a:ext cx="2760663" cy="1957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 descr="web_08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4138613"/>
            <a:ext cx="2760663" cy="1957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1" descr="web_09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138613"/>
            <a:ext cx="2760663" cy="1957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7270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4" name="Rectangle 6"/>
          <p:cNvSpPr>
            <a:spLocks noChangeArrowheads="1"/>
          </p:cNvSpPr>
          <p:nvPr/>
        </p:nvSpPr>
        <p:spPr bwMode="auto">
          <a:xfrm>
            <a:off x="152400" y="914400"/>
            <a:ext cx="6096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Selling many lockpicking tools</a:t>
            </a:r>
            <a:endParaRPr lang="en-US" dirty="0"/>
          </a:p>
        </p:txBody>
      </p:sp>
      <p:pic>
        <p:nvPicPr>
          <p:cNvPr id="4" name="Picture 3" descr="lots of pic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1168400"/>
            <a:ext cx="6337300" cy="485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247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4" name="Rectangle 6"/>
          <p:cNvSpPr>
            <a:spLocks noChangeArrowheads="1"/>
          </p:cNvSpPr>
          <p:nvPr/>
        </p:nvSpPr>
        <p:spPr bwMode="auto">
          <a:xfrm>
            <a:off x="152400" y="914400"/>
            <a:ext cx="6096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First, let</a:t>
            </a:r>
            <a:r>
              <a:rPr lang="en-US" sz="3000" b="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’</a:t>
            </a:r>
            <a:r>
              <a:rPr lang="en-US" dirty="0" smtClean="0"/>
              <a:t>s talk about metal…</a:t>
            </a:r>
            <a:endParaRPr lang="en-US" dirty="0"/>
          </a:p>
        </p:txBody>
      </p:sp>
      <p:pic>
        <p:nvPicPr>
          <p:cNvPr id="5" name="Picture 4" descr="blacksmit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388" y="1023938"/>
            <a:ext cx="4456112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2945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4" name="Rectangle 6"/>
          <p:cNvSpPr>
            <a:spLocks noChangeArrowheads="1"/>
          </p:cNvSpPr>
          <p:nvPr/>
        </p:nvSpPr>
        <p:spPr bwMode="auto">
          <a:xfrm>
            <a:off x="152400" y="914400"/>
            <a:ext cx="6096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Spring Steel</a:t>
            </a:r>
            <a:endParaRPr lang="en-US" dirty="0"/>
          </a:p>
        </p:txBody>
      </p:sp>
      <p:pic>
        <p:nvPicPr>
          <p:cNvPr id="14" name="Picture 3" descr="metal - spring stee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1098"/>
            <a:ext cx="2860675" cy="555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4636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4" name="Rectangle 6"/>
          <p:cNvSpPr>
            <a:spLocks noChangeArrowheads="1"/>
          </p:cNvSpPr>
          <p:nvPr/>
        </p:nvSpPr>
        <p:spPr bwMode="auto">
          <a:xfrm>
            <a:off x="152400" y="914400"/>
            <a:ext cx="6096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Stainless Steel</a:t>
            </a:r>
            <a:endParaRPr lang="en-US" dirty="0"/>
          </a:p>
        </p:txBody>
      </p:sp>
      <p:pic>
        <p:nvPicPr>
          <p:cNvPr id="14" name="Picture 3" descr="metal - spring stee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1098"/>
            <a:ext cx="2860675" cy="555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metal - stainless steel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911098"/>
            <a:ext cx="2860675" cy="555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6155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4" name="Rectangle 6"/>
          <p:cNvSpPr>
            <a:spLocks noChangeArrowheads="1"/>
          </p:cNvSpPr>
          <p:nvPr/>
        </p:nvSpPr>
        <p:spPr bwMode="auto">
          <a:xfrm>
            <a:off x="152400" y="914400"/>
            <a:ext cx="6096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Titanium</a:t>
            </a:r>
            <a:endParaRPr lang="en-US" dirty="0"/>
          </a:p>
        </p:txBody>
      </p:sp>
      <p:pic>
        <p:nvPicPr>
          <p:cNvPr id="14" name="Picture 3" descr="metal - spring stee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1098"/>
            <a:ext cx="2860675" cy="555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metal - stainless steel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911098"/>
            <a:ext cx="2860675" cy="555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5" descr="metal - titanium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909510"/>
            <a:ext cx="2860675" cy="5551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4636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4" name="Rectangle 6"/>
          <p:cNvSpPr>
            <a:spLocks noChangeArrowheads="1"/>
          </p:cNvSpPr>
          <p:nvPr/>
        </p:nvSpPr>
        <p:spPr bwMode="auto">
          <a:xfrm>
            <a:off x="152400" y="914400"/>
            <a:ext cx="6096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Metals</a:t>
            </a:r>
            <a:r>
              <a:rPr lang="en-US" sz="1000" dirty="0" smtClean="0"/>
              <a:t> </a:t>
            </a:r>
            <a:r>
              <a:rPr lang="en-US" sz="3000" b="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?</a:t>
            </a:r>
            <a:endParaRPr lang="en-US" sz="30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4" name="Picture 3" descr="metal - spring stee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1098"/>
            <a:ext cx="2860675" cy="555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metal - stainless steel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911098"/>
            <a:ext cx="2860675" cy="555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5" descr="metal - titanium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909510"/>
            <a:ext cx="2860675" cy="5551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metal - beryllium copper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8525" y="911098"/>
            <a:ext cx="2860675" cy="555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4636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4" name="Rectangle 6"/>
          <p:cNvSpPr>
            <a:spLocks noChangeArrowheads="1"/>
          </p:cNvSpPr>
          <p:nvPr/>
        </p:nvSpPr>
        <p:spPr bwMode="auto">
          <a:xfrm>
            <a:off x="152400" y="914400"/>
            <a:ext cx="6096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Thickness</a:t>
            </a:r>
            <a:endParaRPr lang="en-US" dirty="0"/>
          </a:p>
        </p:txBody>
      </p:sp>
      <p:pic>
        <p:nvPicPr>
          <p:cNvPr id="4" name="Picture 5" descr="calip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25" y="912813"/>
            <a:ext cx="6773863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097428" y="3758514"/>
            <a:ext cx="59436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>
                    <a:lumMod val="75000"/>
                  </a:schemeClr>
                </a:solidFill>
                <a:latin typeface="Acid" pitchFamily="50" charset="0"/>
              </a:rPr>
              <a:t>0.</a:t>
            </a:r>
            <a:r>
              <a:rPr lang="en-US" sz="3200" b="1" dirty="0">
                <a:latin typeface="Acid" pitchFamily="50" charset="0"/>
              </a:rPr>
              <a:t>0</a:t>
            </a:r>
            <a:r>
              <a:rPr lang="en-US" sz="1000" b="1" dirty="0">
                <a:latin typeface="Acid" pitchFamily="50" charset="0"/>
              </a:rPr>
              <a:t> </a:t>
            </a:r>
            <a:r>
              <a:rPr lang="en-US" sz="3200" b="1" dirty="0">
                <a:latin typeface="Acid" pitchFamily="50" charset="0"/>
              </a:rPr>
              <a:t>1</a:t>
            </a:r>
            <a:r>
              <a:rPr lang="en-US" sz="1000" b="1" dirty="0">
                <a:latin typeface="Acid" pitchFamily="50" charset="0"/>
              </a:rPr>
              <a:t> </a:t>
            </a:r>
            <a:r>
              <a:rPr lang="en-US" sz="3200" b="1" dirty="0">
                <a:latin typeface="Acid" pitchFamily="50" charset="0"/>
              </a:rPr>
              <a:t>5</a:t>
            </a:r>
            <a:r>
              <a:rPr lang="en-US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”</a:t>
            </a:r>
            <a:r>
              <a:rPr lang="en-US" sz="3200" b="1" dirty="0">
                <a:latin typeface="Acid" pitchFamily="50" charset="0"/>
              </a:rPr>
              <a:t> </a:t>
            </a:r>
            <a:r>
              <a:rPr lang="en-US" sz="1000" b="1" dirty="0">
                <a:latin typeface="Acid" pitchFamily="50" charset="0"/>
              </a:rPr>
              <a:t> </a:t>
            </a:r>
            <a:r>
              <a:rPr lang="en-US" sz="2400" b="1" dirty="0">
                <a:latin typeface="Acid" pitchFamily="50" charset="0"/>
              </a:rPr>
              <a:t>– Peterson </a:t>
            </a:r>
            <a:r>
              <a:rPr lang="en-US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“</a:t>
            </a:r>
            <a:r>
              <a:rPr lang="en-US" sz="2400" b="1" dirty="0">
                <a:latin typeface="Acid" pitchFamily="50" charset="0"/>
              </a:rPr>
              <a:t>Government Steel</a:t>
            </a:r>
            <a:r>
              <a:rPr lang="en-US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”</a:t>
            </a:r>
          </a:p>
          <a:p>
            <a:r>
              <a:rPr lang="en-US" sz="3200" b="1" dirty="0">
                <a:solidFill>
                  <a:schemeClr val="bg1">
                    <a:lumMod val="75000"/>
                  </a:schemeClr>
                </a:solidFill>
                <a:latin typeface="Acid" pitchFamily="50" charset="0"/>
              </a:rPr>
              <a:t>0.</a:t>
            </a:r>
            <a:r>
              <a:rPr lang="en-US" sz="3200" b="1" dirty="0">
                <a:latin typeface="Acid" pitchFamily="50" charset="0"/>
              </a:rPr>
              <a:t>020</a:t>
            </a:r>
            <a:r>
              <a:rPr lang="en-US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”</a:t>
            </a:r>
            <a:r>
              <a:rPr lang="en-US" sz="3200" b="1" dirty="0">
                <a:latin typeface="Acid" pitchFamily="50" charset="0"/>
              </a:rPr>
              <a:t> </a:t>
            </a:r>
            <a:r>
              <a:rPr lang="en-US" sz="2400" b="1" dirty="0">
                <a:latin typeface="Acid" pitchFamily="50" charset="0"/>
              </a:rPr>
              <a:t>– </a:t>
            </a:r>
            <a:r>
              <a:rPr lang="en-US" sz="2400" b="1" dirty="0" err="1">
                <a:latin typeface="Acid" pitchFamily="50" charset="0"/>
              </a:rPr>
              <a:t>SouthOrd</a:t>
            </a:r>
            <a:r>
              <a:rPr lang="en-US" sz="2400" b="1" dirty="0">
                <a:latin typeface="Acid" pitchFamily="50" charset="0"/>
              </a:rPr>
              <a:t>, </a:t>
            </a:r>
            <a:r>
              <a:rPr lang="en-US" sz="2400" b="1" dirty="0" err="1">
                <a:latin typeface="Acid" pitchFamily="50" charset="0"/>
              </a:rPr>
              <a:t>Rytan</a:t>
            </a:r>
            <a:r>
              <a:rPr lang="en-US" sz="2400" b="1" dirty="0">
                <a:latin typeface="Acid" pitchFamily="50" charset="0"/>
              </a:rPr>
              <a:t>, Southern </a:t>
            </a:r>
            <a:r>
              <a:rPr lang="en-US" sz="2400" b="1" dirty="0" smtClean="0">
                <a:latin typeface="Acid" pitchFamily="50" charset="0"/>
              </a:rPr>
              <a:t>Specialties, TOOOL</a:t>
            </a:r>
            <a:endParaRPr lang="en-US" sz="2400" b="1" dirty="0">
              <a:latin typeface="Acid" pitchFamily="50" charset="0"/>
            </a:endParaRPr>
          </a:p>
          <a:p>
            <a:r>
              <a:rPr lang="en-US" sz="3200" b="1" dirty="0">
                <a:solidFill>
                  <a:schemeClr val="bg1">
                    <a:lumMod val="75000"/>
                  </a:schemeClr>
                </a:solidFill>
                <a:latin typeface="Acid" pitchFamily="50" charset="0"/>
              </a:rPr>
              <a:t>0.</a:t>
            </a:r>
            <a:r>
              <a:rPr lang="en-US" sz="3200" b="1" dirty="0">
                <a:latin typeface="Acid" pitchFamily="50" charset="0"/>
              </a:rPr>
              <a:t>022</a:t>
            </a:r>
            <a:r>
              <a:rPr lang="en-US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”</a:t>
            </a:r>
            <a:r>
              <a:rPr lang="en-US" sz="3200" b="1" dirty="0">
                <a:latin typeface="Acid" pitchFamily="50" charset="0"/>
              </a:rPr>
              <a:t> </a:t>
            </a:r>
            <a:r>
              <a:rPr lang="en-US" sz="2400" b="1" dirty="0">
                <a:latin typeface="Acid" pitchFamily="50" charset="0"/>
              </a:rPr>
              <a:t>– HPC Stainless</a:t>
            </a:r>
          </a:p>
          <a:p>
            <a:r>
              <a:rPr lang="en-US" sz="3200" b="1" dirty="0">
                <a:solidFill>
                  <a:schemeClr val="bg1">
                    <a:lumMod val="75000"/>
                  </a:schemeClr>
                </a:solidFill>
                <a:latin typeface="Acid" pitchFamily="50" charset="0"/>
              </a:rPr>
              <a:t>0.</a:t>
            </a:r>
            <a:r>
              <a:rPr lang="en-US" sz="3200" b="1" dirty="0">
                <a:latin typeface="Acid" pitchFamily="50" charset="0"/>
              </a:rPr>
              <a:t>025</a:t>
            </a:r>
            <a:r>
              <a:rPr lang="en-US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”</a:t>
            </a:r>
            <a:r>
              <a:rPr lang="en-US" sz="3200" b="1" dirty="0">
                <a:latin typeface="Acid" pitchFamily="50" charset="0"/>
              </a:rPr>
              <a:t> </a:t>
            </a:r>
            <a:r>
              <a:rPr lang="en-US" sz="2400" b="1" dirty="0">
                <a:latin typeface="Acid" pitchFamily="50" charset="0"/>
              </a:rPr>
              <a:t>– original TOOOL kits</a:t>
            </a:r>
          </a:p>
          <a:p>
            <a:r>
              <a:rPr lang="en-US" sz="3200" b="1" dirty="0">
                <a:solidFill>
                  <a:schemeClr val="bg1">
                    <a:lumMod val="75000"/>
                  </a:schemeClr>
                </a:solidFill>
                <a:latin typeface="Acid" pitchFamily="50" charset="0"/>
              </a:rPr>
              <a:t>0.</a:t>
            </a:r>
            <a:r>
              <a:rPr lang="en-US" sz="3200" b="1" dirty="0">
                <a:latin typeface="Acid" pitchFamily="50" charset="0"/>
              </a:rPr>
              <a:t>028</a:t>
            </a:r>
            <a:r>
              <a:rPr lang="en-US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”</a:t>
            </a:r>
            <a:r>
              <a:rPr lang="en-US" sz="3200" b="1" dirty="0">
                <a:latin typeface="Acid" pitchFamily="50" charset="0"/>
              </a:rPr>
              <a:t> </a:t>
            </a:r>
            <a:r>
              <a:rPr lang="en-US" sz="2400" b="1" dirty="0">
                <a:latin typeface="Acid" pitchFamily="50" charset="0"/>
              </a:rPr>
              <a:t>– HPC Spring Steel</a:t>
            </a:r>
          </a:p>
        </p:txBody>
      </p:sp>
    </p:spTree>
    <p:extLst>
      <p:ext uri="{BB962C8B-B14F-4D97-AF65-F5344CB8AC3E}">
        <p14:creationId xmlns:p14="http://schemas.microsoft.com/office/powerpoint/2010/main" val="325247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4" name="Rectangle 6"/>
          <p:cNvSpPr>
            <a:spLocks noChangeArrowheads="1"/>
          </p:cNvSpPr>
          <p:nvPr/>
        </p:nvSpPr>
        <p:spPr bwMode="auto">
          <a:xfrm>
            <a:off x="152400" y="914400"/>
            <a:ext cx="6096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“</a:t>
            </a:r>
            <a:r>
              <a:rPr lang="en-US" dirty="0" smtClean="0"/>
              <a:t>Standard</a:t>
            </a:r>
            <a:r>
              <a:rPr lang="en-US" sz="3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”</a:t>
            </a:r>
            <a:r>
              <a:rPr lang="en-US" dirty="0" smtClean="0"/>
              <a:t> vs. </a:t>
            </a:r>
            <a:r>
              <a:rPr lang="en-US" sz="3000" b="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“</a:t>
            </a:r>
            <a:r>
              <a:rPr lang="en-US" dirty="0" smtClean="0"/>
              <a:t>Euro</a:t>
            </a:r>
            <a:r>
              <a:rPr lang="en-US" sz="3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”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1941"/>
            <a:ext cx="9144000" cy="403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490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4" name="Rectangle 6"/>
          <p:cNvSpPr>
            <a:spLocks noChangeArrowheads="1"/>
          </p:cNvSpPr>
          <p:nvPr/>
        </p:nvSpPr>
        <p:spPr bwMode="auto">
          <a:xfrm>
            <a:off x="152400" y="914400"/>
            <a:ext cx="6096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“</a:t>
            </a:r>
            <a:r>
              <a:rPr lang="en-US" dirty="0" smtClean="0"/>
              <a:t>Standard</a:t>
            </a:r>
            <a:r>
              <a:rPr lang="en-US" sz="3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”</a:t>
            </a:r>
            <a:r>
              <a:rPr lang="en-US" dirty="0" smtClean="0"/>
              <a:t> vs. </a:t>
            </a:r>
            <a:r>
              <a:rPr lang="en-US" sz="3000" b="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“</a:t>
            </a:r>
            <a:r>
              <a:rPr lang="en-US" dirty="0" smtClean="0"/>
              <a:t>Euro</a:t>
            </a:r>
            <a:r>
              <a:rPr lang="en-US" sz="3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”</a:t>
            </a:r>
          </a:p>
        </p:txBody>
      </p:sp>
      <p:pic>
        <p:nvPicPr>
          <p:cNvPr id="5" name="Picture 3" descr="thickness - standar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16075"/>
            <a:ext cx="8410575" cy="105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thickness - eur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816475"/>
            <a:ext cx="8410575" cy="105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6039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4" name="Rectangle 6"/>
          <p:cNvSpPr>
            <a:spLocks noChangeArrowheads="1"/>
          </p:cNvSpPr>
          <p:nvPr/>
        </p:nvSpPr>
        <p:spPr bwMode="auto">
          <a:xfrm>
            <a:off x="152400" y="914400"/>
            <a:ext cx="6096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“</a:t>
            </a:r>
            <a:r>
              <a:rPr lang="en-US" dirty="0" smtClean="0"/>
              <a:t>Standard</a:t>
            </a:r>
            <a:r>
              <a:rPr lang="en-US" sz="3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”</a:t>
            </a:r>
            <a:r>
              <a:rPr lang="en-US" dirty="0" smtClean="0"/>
              <a:t> vs. </a:t>
            </a:r>
            <a:r>
              <a:rPr lang="en-US" sz="3000" b="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“</a:t>
            </a:r>
            <a:r>
              <a:rPr lang="en-US" dirty="0" smtClean="0"/>
              <a:t>Euro</a:t>
            </a:r>
            <a:r>
              <a:rPr lang="en-US" sz="3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”</a:t>
            </a:r>
          </a:p>
        </p:txBody>
      </p:sp>
      <p:pic>
        <p:nvPicPr>
          <p:cNvPr id="5" name="Picture 3" descr="thickness - standar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16075"/>
            <a:ext cx="8410575" cy="105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thickness - eur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816475"/>
            <a:ext cx="8410575" cy="105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thickness - sid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88" y="2776538"/>
            <a:ext cx="8335962" cy="347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7" descr="thickness - sid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376738"/>
            <a:ext cx="8335963" cy="347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7071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4" name="Rectangle 6"/>
          <p:cNvSpPr>
            <a:spLocks noChangeArrowheads="1"/>
          </p:cNvSpPr>
          <p:nvPr/>
        </p:nvSpPr>
        <p:spPr bwMode="auto">
          <a:xfrm>
            <a:off x="152400" y="914400"/>
            <a:ext cx="6096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“</a:t>
            </a:r>
            <a:r>
              <a:rPr lang="en-US" dirty="0" smtClean="0"/>
              <a:t>Standard</a:t>
            </a:r>
            <a:r>
              <a:rPr lang="en-US" sz="3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”</a:t>
            </a:r>
            <a:r>
              <a:rPr lang="en-US" dirty="0" smtClean="0"/>
              <a:t> vs. </a:t>
            </a:r>
            <a:r>
              <a:rPr lang="en-US" sz="3000" b="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“</a:t>
            </a:r>
            <a:r>
              <a:rPr lang="en-US" dirty="0" smtClean="0"/>
              <a:t>Euro</a:t>
            </a:r>
            <a:r>
              <a:rPr lang="en-US" sz="3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”</a:t>
            </a:r>
          </a:p>
        </p:txBody>
      </p:sp>
      <p:pic>
        <p:nvPicPr>
          <p:cNvPr id="5" name="Picture 3" descr="thickness - standar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16075"/>
            <a:ext cx="8410575" cy="105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thickness - eur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816475"/>
            <a:ext cx="8410575" cy="105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thickness - differenc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186113"/>
            <a:ext cx="8410575" cy="105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thickness - sid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88" y="2776538"/>
            <a:ext cx="8335962" cy="347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7" descr="thickness - sid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376738"/>
            <a:ext cx="8335963" cy="347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7071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4" name="Rectangle 6"/>
          <p:cNvSpPr>
            <a:spLocks noChangeArrowheads="1"/>
          </p:cNvSpPr>
          <p:nvPr/>
        </p:nvSpPr>
        <p:spPr bwMode="auto">
          <a:xfrm>
            <a:off x="152400" y="914400"/>
            <a:ext cx="6096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i="1" dirty="0" smtClean="0"/>
              <a:t>real </a:t>
            </a:r>
            <a:r>
              <a:rPr lang="en-US" dirty="0" smtClean="0"/>
              <a:t>confusing mess… Categories &amp; Names</a:t>
            </a:r>
            <a:endParaRPr lang="en-US" dirty="0"/>
          </a:p>
        </p:txBody>
      </p:sp>
      <p:pic>
        <p:nvPicPr>
          <p:cNvPr id="4" name="Picture 3" descr="categori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90600"/>
            <a:ext cx="76200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8490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4" name="Rectangle 6"/>
          <p:cNvSpPr>
            <a:spLocks noChangeArrowheads="1"/>
          </p:cNvSpPr>
          <p:nvPr/>
        </p:nvSpPr>
        <p:spPr bwMode="auto">
          <a:xfrm>
            <a:off x="152400" y="914400"/>
            <a:ext cx="6096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would you call these</a:t>
            </a:r>
            <a:r>
              <a:rPr lang="en-US" sz="1000" b="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3000" b="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?</a:t>
            </a:r>
            <a:endParaRPr lang="en-US" sz="30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4" name="Picture 3" descr="picks - 01 - hoo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90600"/>
            <a:ext cx="76200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8490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Hooks </a:t>
            </a:r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(a.k.a. Lifters)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9" name="Picture 3" descr="picks - 0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12192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picks - 0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22098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5" descr="picks - 0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32004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picks - 0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41910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7" descr="picks - 0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51816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8490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4" name="Rectangle 6"/>
          <p:cNvSpPr>
            <a:spLocks noChangeArrowheads="1"/>
          </p:cNvSpPr>
          <p:nvPr/>
        </p:nvSpPr>
        <p:spPr bwMode="auto">
          <a:xfrm>
            <a:off x="152400" y="914400"/>
            <a:ext cx="6096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Hooks </a:t>
            </a:r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(a.k.a. Lifters)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9" name="Picture 3" descr="picks - 0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121443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picks - 0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221138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5" descr="picks - 0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32004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picks - 0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418623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7" descr="picks - 0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51816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575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4" name="Rectangle 6"/>
          <p:cNvSpPr>
            <a:spLocks noChangeArrowheads="1"/>
          </p:cNvSpPr>
          <p:nvPr/>
        </p:nvSpPr>
        <p:spPr bwMode="auto">
          <a:xfrm>
            <a:off x="152400" y="914400"/>
            <a:ext cx="6096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Hooks </a:t>
            </a:r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(a.k.a. Lifters)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9" name="Picture 3" descr="picks - 0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121443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picks - 0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221138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5" descr="picks - 0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32004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picks - 0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418623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7" descr="picks - 0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51816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809625" y="1400175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cid" pitchFamily="50" charset="0"/>
              </a:rPr>
              <a:t>Short Hook </a:t>
            </a:r>
            <a:r>
              <a:rPr lang="en-US" sz="2400" b="1" dirty="0">
                <a:solidFill>
                  <a:schemeClr val="bg2"/>
                </a:solidFill>
                <a:latin typeface="Acid" pitchFamily="50" charset="0"/>
              </a:rPr>
              <a:t>(flat)</a:t>
            </a: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804863" y="2390775"/>
            <a:ext cx="2471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cid" pitchFamily="50" charset="0"/>
              </a:rPr>
              <a:t>Short Hook </a:t>
            </a:r>
            <a:r>
              <a:rPr lang="en-US" sz="2400" b="1" dirty="0">
                <a:solidFill>
                  <a:schemeClr val="bg2"/>
                </a:solidFill>
                <a:latin typeface="Acid" pitchFamily="50" charset="0"/>
              </a:rPr>
              <a:t>(round)</a:t>
            </a:r>
          </a:p>
        </p:txBody>
      </p:sp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809625" y="3409950"/>
            <a:ext cx="24717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cid" pitchFamily="50" charset="0"/>
              </a:rPr>
              <a:t>Medium Hook</a:t>
            </a:r>
            <a:endParaRPr lang="en-US" sz="2400" b="1" dirty="0">
              <a:solidFill>
                <a:schemeClr val="bg1"/>
              </a:solidFill>
              <a:latin typeface="Acid" pitchFamily="50" charset="0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804863" y="4362450"/>
            <a:ext cx="2471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cid" pitchFamily="50" charset="0"/>
              </a:rPr>
              <a:t>Gonzo Hook</a:t>
            </a:r>
            <a:endParaRPr lang="en-US" sz="2400" b="1" dirty="0">
              <a:solidFill>
                <a:schemeClr val="bg1"/>
              </a:solidFill>
              <a:latin typeface="Acid" pitchFamily="50" charset="0"/>
            </a:endParaRPr>
          </a:p>
        </p:txBody>
      </p:sp>
      <p:sp>
        <p:nvSpPr>
          <p:cNvPr id="18" name="Text Box 12"/>
          <p:cNvSpPr txBox="1">
            <a:spLocks noChangeArrowheads="1"/>
          </p:cNvSpPr>
          <p:nvPr/>
        </p:nvSpPr>
        <p:spPr bwMode="auto">
          <a:xfrm>
            <a:off x="804863" y="5376863"/>
            <a:ext cx="24717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cid" pitchFamily="50" charset="0"/>
              </a:rPr>
              <a:t>Long Hook</a:t>
            </a:r>
            <a:endParaRPr lang="en-US" sz="2400" b="1" dirty="0">
              <a:solidFill>
                <a:schemeClr val="bg1"/>
              </a:solidFill>
              <a:latin typeface="Aci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150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4" name="Rectangle 6"/>
          <p:cNvSpPr>
            <a:spLocks noChangeArrowheads="1"/>
          </p:cNvSpPr>
          <p:nvPr/>
        </p:nvSpPr>
        <p:spPr bwMode="auto">
          <a:xfrm>
            <a:off x="152400" y="914400"/>
            <a:ext cx="6096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Hooks </a:t>
            </a:r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(a.k.a. Lifters)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9" name="Picture 3" descr="picks - 0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121443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picks - 0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221138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5" descr="picks - 0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32004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picks - 0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418623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7" descr="picks - 0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51816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809625" y="1400175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FFFF66"/>
                </a:solidFill>
                <a:latin typeface="Acid" pitchFamily="50" charset="0"/>
              </a:rPr>
              <a:t>Typical</a:t>
            </a:r>
            <a:endParaRPr lang="en-US" sz="2400" b="1" dirty="0">
              <a:solidFill>
                <a:srgbClr val="FFFF66"/>
              </a:solidFill>
              <a:latin typeface="Acid" pitchFamily="50" charset="0"/>
            </a:endParaRPr>
          </a:p>
        </p:txBody>
      </p:sp>
      <p:sp>
        <p:nvSpPr>
          <p:cNvPr id="20" name="Text Box 9"/>
          <p:cNvSpPr txBox="1">
            <a:spLocks noChangeArrowheads="1"/>
          </p:cNvSpPr>
          <p:nvPr/>
        </p:nvSpPr>
        <p:spPr bwMode="auto">
          <a:xfrm>
            <a:off x="804863" y="2390775"/>
            <a:ext cx="2471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99FF66"/>
                </a:solidFill>
                <a:latin typeface="Acid" pitchFamily="50" charset="0"/>
              </a:rPr>
              <a:t>Useful</a:t>
            </a:r>
            <a:endParaRPr lang="en-US" sz="2400" b="1" dirty="0">
              <a:solidFill>
                <a:srgbClr val="99FF66"/>
              </a:solidFill>
              <a:latin typeface="Acid" pitchFamily="50" charset="0"/>
            </a:endParaRPr>
          </a:p>
        </p:txBody>
      </p: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809625" y="3409950"/>
            <a:ext cx="24717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B2B2B2"/>
                </a:solidFill>
                <a:latin typeface="Acid" pitchFamily="50" charset="0"/>
              </a:rPr>
              <a:t>Meh</a:t>
            </a:r>
            <a:endParaRPr lang="en-US" sz="2400" b="1" dirty="0">
              <a:solidFill>
                <a:srgbClr val="B2B2B2"/>
              </a:solidFill>
              <a:latin typeface="Acid" pitchFamily="50" charset="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804863" y="4362450"/>
            <a:ext cx="2471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Acid" pitchFamily="50" charset="0"/>
              </a:rPr>
              <a:t>Awesome</a:t>
            </a:r>
            <a:endParaRPr lang="en-US" sz="2400" b="1" dirty="0">
              <a:solidFill>
                <a:srgbClr val="00FF00"/>
              </a:solidFill>
              <a:latin typeface="Acid" pitchFamily="50" charset="0"/>
            </a:endParaRPr>
          </a:p>
        </p:txBody>
      </p:sp>
      <p:sp>
        <p:nvSpPr>
          <p:cNvPr id="23" name="Text Box 12"/>
          <p:cNvSpPr txBox="1">
            <a:spLocks noChangeArrowheads="1"/>
          </p:cNvSpPr>
          <p:nvPr/>
        </p:nvSpPr>
        <p:spPr bwMode="auto">
          <a:xfrm>
            <a:off x="804863" y="5376863"/>
            <a:ext cx="24717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FF9933"/>
                </a:solidFill>
                <a:latin typeface="Acid" pitchFamily="50" charset="0"/>
              </a:rPr>
              <a:t>FAIL</a:t>
            </a:r>
            <a:endParaRPr lang="en-US" sz="2400" b="1" dirty="0">
              <a:solidFill>
                <a:srgbClr val="FF9933"/>
              </a:solidFill>
              <a:latin typeface="Aci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150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4" name="Rectangle 6"/>
          <p:cNvSpPr>
            <a:spLocks noChangeArrowheads="1"/>
          </p:cNvSpPr>
          <p:nvPr/>
        </p:nvSpPr>
        <p:spPr bwMode="auto">
          <a:xfrm>
            <a:off x="152400" y="914400"/>
            <a:ext cx="6096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would you call these</a:t>
            </a:r>
            <a:r>
              <a:rPr lang="en-US" sz="1000" b="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3000" b="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?</a:t>
            </a:r>
            <a:endParaRPr lang="en-US" sz="30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5" name="Picture 3" descr="picks - 02 - reac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90600"/>
            <a:ext cx="76200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5649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Reach Tools</a:t>
            </a:r>
            <a:endParaRPr lang="en-US" dirty="0"/>
          </a:p>
        </p:txBody>
      </p:sp>
      <p:pic>
        <p:nvPicPr>
          <p:cNvPr id="4" name="Picture 14" descr="picks - 0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35052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3" descr="picks - 0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19050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809625" y="2090738"/>
            <a:ext cx="220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cid" pitchFamily="50" charset="0"/>
              </a:rPr>
              <a:t>Deep Curve</a:t>
            </a:r>
            <a:endParaRPr lang="en-US" sz="2400" b="1" dirty="0">
              <a:solidFill>
                <a:schemeClr val="bg2"/>
              </a:solidFill>
              <a:latin typeface="Acid" pitchFamily="50" charset="0"/>
            </a:endParaRP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804863" y="3684588"/>
            <a:ext cx="24717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Acid" pitchFamily="50" charset="0"/>
              </a:rPr>
              <a:t>Hybrid</a:t>
            </a:r>
            <a:endParaRPr lang="en-US" sz="2400" b="1">
              <a:solidFill>
                <a:schemeClr val="bg2"/>
              </a:solidFill>
              <a:latin typeface="Aci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50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You</a:t>
            </a:r>
            <a:r>
              <a:rPr lang="en-US" sz="3000" b="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’</a:t>
            </a:r>
            <a:r>
              <a:rPr lang="en-US" dirty="0" smtClean="0"/>
              <a:t>ve all seen these…</a:t>
            </a:r>
            <a:endParaRPr lang="en-US" dirty="0"/>
          </a:p>
        </p:txBody>
      </p:sp>
      <p:pic>
        <p:nvPicPr>
          <p:cNvPr id="4" name="Picture 3" descr="picks - 03 - diamond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90600"/>
            <a:ext cx="76200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950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Diamonds</a:t>
            </a:r>
            <a:endParaRPr lang="en-US" dirty="0"/>
          </a:p>
        </p:txBody>
      </p:sp>
      <p:pic>
        <p:nvPicPr>
          <p:cNvPr id="4" name="Picture 16" descr="picks - 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418623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5" descr="picks - 0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320983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picks - 0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221138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3" descr="picks - 0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121443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8490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Diamonds</a:t>
            </a:r>
            <a:endParaRPr lang="en-US" dirty="0"/>
          </a:p>
        </p:txBody>
      </p:sp>
      <p:pic>
        <p:nvPicPr>
          <p:cNvPr id="4" name="Picture 2" descr="picks - 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32004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picks - 0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221138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icks - 0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121443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picks - 0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418623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950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Diamonds</a:t>
            </a:r>
            <a:endParaRPr lang="en-US" dirty="0"/>
          </a:p>
        </p:txBody>
      </p:sp>
      <p:pic>
        <p:nvPicPr>
          <p:cNvPr id="4" name="Picture 2" descr="picks - 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32004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picks - 0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221138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icks - 0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121443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picks - 0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418623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809625" y="1400175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cid" pitchFamily="50" charset="0"/>
              </a:rPr>
              <a:t>Small Diamond</a:t>
            </a:r>
            <a:endParaRPr lang="en-US" sz="2400" b="1" dirty="0">
              <a:solidFill>
                <a:schemeClr val="bg2"/>
              </a:solidFill>
              <a:latin typeface="Acid" pitchFamily="50" charset="0"/>
            </a:endParaRP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804863" y="2390775"/>
            <a:ext cx="2471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Acid" pitchFamily="50" charset="0"/>
              </a:rPr>
              <a:t>Medium Diamond</a:t>
            </a:r>
            <a:endParaRPr lang="en-US" sz="2400" b="1">
              <a:solidFill>
                <a:schemeClr val="bg2"/>
              </a:solidFill>
              <a:latin typeface="Acid" pitchFamily="50" charset="0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809625" y="3381375"/>
            <a:ext cx="24717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Acid" pitchFamily="50" charset="0"/>
              </a:rPr>
              <a:t>Large Diamond</a:t>
            </a:r>
            <a:endParaRPr lang="en-US" sz="2400" b="1">
              <a:solidFill>
                <a:schemeClr val="bg1"/>
              </a:solidFill>
              <a:latin typeface="Acid" pitchFamily="50" charset="0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804863" y="4362450"/>
            <a:ext cx="2471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Acid" pitchFamily="50" charset="0"/>
              </a:rPr>
              <a:t>Diamond Head</a:t>
            </a:r>
            <a:endParaRPr lang="en-US" sz="2400" b="1">
              <a:solidFill>
                <a:schemeClr val="bg1"/>
              </a:solidFill>
              <a:latin typeface="Aci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128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Diamonds</a:t>
            </a:r>
            <a:endParaRPr lang="en-US" dirty="0"/>
          </a:p>
        </p:txBody>
      </p:sp>
      <p:pic>
        <p:nvPicPr>
          <p:cNvPr id="4" name="Picture 2" descr="picks - 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32004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picks - 0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221138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icks - 0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121443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picks - 0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418623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809625" y="1400175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>
                <a:solidFill>
                  <a:srgbClr val="CCFF66"/>
                </a:solidFill>
                <a:latin typeface="Acid" pitchFamily="50" charset="0"/>
              </a:rPr>
              <a:t>Maybe</a:t>
            </a:r>
            <a:endParaRPr lang="en-US" sz="2400" b="1">
              <a:solidFill>
                <a:srgbClr val="CCFF66"/>
              </a:solidFill>
              <a:latin typeface="Acid" pitchFamily="50" charset="0"/>
            </a:endParaRP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804863" y="2390775"/>
            <a:ext cx="2471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>
                <a:solidFill>
                  <a:srgbClr val="00FF00"/>
                </a:solidFill>
                <a:latin typeface="Acid" pitchFamily="50" charset="0"/>
              </a:rPr>
              <a:t>Yes</a:t>
            </a:r>
            <a:endParaRPr lang="en-US" sz="2400" b="1">
              <a:solidFill>
                <a:srgbClr val="00FF00"/>
              </a:solidFill>
              <a:latin typeface="Acid" pitchFamily="50" charset="0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809625" y="3381375"/>
            <a:ext cx="24717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>
                <a:solidFill>
                  <a:srgbClr val="FF9933"/>
                </a:solidFill>
                <a:latin typeface="Acid" pitchFamily="50" charset="0"/>
              </a:rPr>
              <a:t>No</a:t>
            </a:r>
            <a:endParaRPr lang="en-US" sz="2400" b="1">
              <a:solidFill>
                <a:srgbClr val="FF9933"/>
              </a:solidFill>
              <a:latin typeface="Acid" pitchFamily="50" charset="0"/>
            </a:endParaRP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804863" y="4362450"/>
            <a:ext cx="2471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FF3300"/>
                </a:solidFill>
                <a:latin typeface="Acid" pitchFamily="50" charset="0"/>
              </a:rPr>
              <a:t>Dear God, Why</a:t>
            </a:r>
            <a:r>
              <a:rPr lang="en-US" sz="1000" b="1" dirty="0">
                <a:solidFill>
                  <a:srgbClr val="FF3300"/>
                </a:solidFill>
                <a:latin typeface="Acid" pitchFamily="50" charset="0"/>
              </a:rPr>
              <a:t> </a:t>
            </a:r>
            <a:r>
              <a:rPr lang="en-US" sz="2800" b="1" dirty="0">
                <a:solidFill>
                  <a:srgbClr val="FF3300"/>
                </a:solidFill>
                <a:latin typeface="Acid" pitchFamily="50" charset="0"/>
              </a:rPr>
              <a:t>??</a:t>
            </a:r>
            <a:endParaRPr lang="en-US" sz="2400" b="1" dirty="0">
              <a:solidFill>
                <a:srgbClr val="FF3300"/>
              </a:solidFill>
              <a:latin typeface="Aci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279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would you categorize </a:t>
            </a:r>
            <a:r>
              <a:rPr lang="en-US" i="1" dirty="0" smtClean="0"/>
              <a:t>these</a:t>
            </a:r>
            <a:r>
              <a:rPr lang="en-US" dirty="0" smtClean="0"/>
              <a:t>…</a:t>
            </a:r>
            <a:r>
              <a:rPr lang="en-US" sz="3000" b="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?</a:t>
            </a:r>
            <a:endParaRPr lang="en-US" sz="30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3" name="Picture 3" descr="picks - 04 - defore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90600"/>
            <a:ext cx="76200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4308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Offset Tools</a:t>
            </a:r>
            <a:endParaRPr lang="en-US" dirty="0"/>
          </a:p>
        </p:txBody>
      </p:sp>
      <p:pic>
        <p:nvPicPr>
          <p:cNvPr id="3" name="Picture 2" descr="picks - 0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39624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picks - 0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282098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cks - 0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167163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782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Offset Tools</a:t>
            </a:r>
            <a:endParaRPr lang="en-US" dirty="0"/>
          </a:p>
        </p:txBody>
      </p:sp>
      <p:pic>
        <p:nvPicPr>
          <p:cNvPr id="3" name="Picture 2" descr="picks - 0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39624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picks - 0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282098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cks - 0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167163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809625" y="1857375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cid" pitchFamily="50" charset="0"/>
              </a:rPr>
              <a:t>Offset Diamond</a:t>
            </a:r>
            <a:endParaRPr lang="en-US" sz="2400" b="1" dirty="0">
              <a:solidFill>
                <a:schemeClr val="bg2"/>
              </a:solidFill>
              <a:latin typeface="Acid" pitchFamily="50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804863" y="3000375"/>
            <a:ext cx="2471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Acid" pitchFamily="50" charset="0"/>
              </a:rPr>
              <a:t>Offset Ball</a:t>
            </a:r>
            <a:endParaRPr lang="en-US" sz="2400" b="1">
              <a:solidFill>
                <a:schemeClr val="bg2"/>
              </a:solidFill>
              <a:latin typeface="Acid" pitchFamily="50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809625" y="4143375"/>
            <a:ext cx="24717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Acid" pitchFamily="50" charset="0"/>
              </a:rPr>
              <a:t>Offset Snake</a:t>
            </a:r>
            <a:endParaRPr lang="en-US" sz="2400" b="1">
              <a:solidFill>
                <a:schemeClr val="bg1"/>
              </a:solidFill>
              <a:latin typeface="Aci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931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Offset Tools</a:t>
            </a:r>
            <a:endParaRPr lang="en-US" dirty="0"/>
          </a:p>
        </p:txBody>
      </p:sp>
      <p:pic>
        <p:nvPicPr>
          <p:cNvPr id="3" name="Picture 2" descr="picks - 0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39624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picks - 0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282098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cks - 0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167163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809625" y="1857375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CCFF66"/>
                </a:solidFill>
                <a:latin typeface="Acid" pitchFamily="50" charset="0"/>
              </a:rPr>
              <a:t>Yeah, sure.</a:t>
            </a:r>
            <a:endParaRPr lang="en-US" sz="2400" b="1" dirty="0">
              <a:solidFill>
                <a:srgbClr val="CCFF66"/>
              </a:solidFill>
              <a:latin typeface="Acid" pitchFamily="50" charset="0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804863" y="3000375"/>
            <a:ext cx="2471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FFFF66"/>
                </a:solidFill>
                <a:latin typeface="Acid" pitchFamily="50" charset="0"/>
              </a:rPr>
              <a:t>Meh, why not</a:t>
            </a:r>
            <a:r>
              <a:rPr lang="en-US" sz="1000" b="1" dirty="0">
                <a:solidFill>
                  <a:srgbClr val="FFFF66"/>
                </a:solidFill>
                <a:latin typeface="Acid" pitchFamily="50" charset="0"/>
              </a:rPr>
              <a:t> </a:t>
            </a:r>
            <a:r>
              <a:rPr lang="en-US" sz="2300" dirty="0" smtClean="0">
                <a:solidFill>
                  <a:srgbClr val="FFFF66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?</a:t>
            </a:r>
            <a:endParaRPr lang="en-US" sz="2300" dirty="0">
              <a:solidFill>
                <a:srgbClr val="FFFF66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809625" y="4143375"/>
            <a:ext cx="24717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 smtClean="0">
                <a:solidFill>
                  <a:srgbClr val="FF9933"/>
                </a:solidFill>
                <a:latin typeface="Acid" pitchFamily="50" charset="0"/>
              </a:rPr>
              <a:t>Really</a:t>
            </a:r>
            <a:r>
              <a:rPr lang="en-US" sz="1000" b="1" dirty="0" smtClean="0">
                <a:solidFill>
                  <a:srgbClr val="FF9933"/>
                </a:solidFill>
                <a:latin typeface="Acid" pitchFamily="50" charset="0"/>
              </a:rPr>
              <a:t> </a:t>
            </a:r>
            <a:r>
              <a:rPr lang="en-US" sz="2300" dirty="0" smtClean="0">
                <a:solidFill>
                  <a:srgbClr val="FF9933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?</a:t>
            </a:r>
            <a:endParaRPr lang="en-US" sz="2300" dirty="0">
              <a:solidFill>
                <a:srgbClr val="FF9933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931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Balls, balls, balls…</a:t>
            </a:r>
            <a:endParaRPr lang="en-US" dirty="0"/>
          </a:p>
        </p:txBody>
      </p:sp>
      <p:pic>
        <p:nvPicPr>
          <p:cNvPr id="3" name="Picture 3" descr="picks - 05 - bal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90600"/>
            <a:ext cx="76200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782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Balls, balls, balls…</a:t>
            </a:r>
            <a:endParaRPr lang="en-US" dirty="0"/>
          </a:p>
        </p:txBody>
      </p:sp>
      <p:pic>
        <p:nvPicPr>
          <p:cNvPr id="4" name="Picture 2" descr="picks - 0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418623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picks - 0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32004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icks - 0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221138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picks - 0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121443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9046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Balls, balls, balls…</a:t>
            </a:r>
            <a:endParaRPr lang="en-US" dirty="0"/>
          </a:p>
        </p:txBody>
      </p:sp>
      <p:pic>
        <p:nvPicPr>
          <p:cNvPr id="3" name="Picture 2" descr="picks - 0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418623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picks - 0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32004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cks - 0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221138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picks - 0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121443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809625" y="1400175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cid" pitchFamily="50" charset="0"/>
              </a:rPr>
              <a:t>Single Ball</a:t>
            </a:r>
            <a:endParaRPr lang="en-US" sz="2400" b="1" dirty="0">
              <a:solidFill>
                <a:schemeClr val="bg2"/>
              </a:solidFill>
              <a:latin typeface="Acid" pitchFamily="50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804863" y="2390775"/>
            <a:ext cx="2471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cid" pitchFamily="50" charset="0"/>
              </a:rPr>
              <a:t>Snowman</a:t>
            </a:r>
            <a:endParaRPr lang="en-US" sz="2400" b="1" dirty="0">
              <a:solidFill>
                <a:schemeClr val="bg2"/>
              </a:solidFill>
              <a:latin typeface="Acid" pitchFamily="50" charset="0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809625" y="3381375"/>
            <a:ext cx="24717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Acid" pitchFamily="50" charset="0"/>
              </a:rPr>
              <a:t>Half Snowman</a:t>
            </a:r>
            <a:endParaRPr lang="en-US" sz="2400" b="1">
              <a:solidFill>
                <a:schemeClr val="bg1"/>
              </a:solidFill>
              <a:latin typeface="Acid" pitchFamily="50" charset="0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804863" y="4362450"/>
            <a:ext cx="2471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Acid" pitchFamily="50" charset="0"/>
              </a:rPr>
              <a:t>Half Ball</a:t>
            </a:r>
            <a:endParaRPr lang="en-US" sz="2400" b="1">
              <a:solidFill>
                <a:schemeClr val="bg1"/>
              </a:solidFill>
              <a:latin typeface="Aci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99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Balls, balls, balls…</a:t>
            </a:r>
            <a:endParaRPr lang="en-US" dirty="0"/>
          </a:p>
        </p:txBody>
      </p:sp>
      <p:pic>
        <p:nvPicPr>
          <p:cNvPr id="3" name="Picture 2" descr="picks - 0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418623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picks - 0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32004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cks - 0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221138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picks - 0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121443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809625" y="1400175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FFFF66"/>
                </a:solidFill>
                <a:latin typeface="Acid" pitchFamily="50" charset="0"/>
              </a:rPr>
              <a:t>Pretty Useless</a:t>
            </a:r>
            <a:endParaRPr lang="en-US" sz="2400" b="1" dirty="0">
              <a:solidFill>
                <a:srgbClr val="FFFF66"/>
              </a:solidFill>
              <a:latin typeface="Acid" pitchFamily="50" charset="0"/>
            </a:endParaRPr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804863" y="2390775"/>
            <a:ext cx="2471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>
                <a:solidFill>
                  <a:srgbClr val="66FF33"/>
                </a:solidFill>
                <a:latin typeface="Acid" pitchFamily="50" charset="0"/>
              </a:rPr>
              <a:t>Can Be Useful</a:t>
            </a:r>
            <a:endParaRPr lang="en-US" sz="2400" b="1">
              <a:solidFill>
                <a:srgbClr val="66FF33"/>
              </a:solidFill>
              <a:latin typeface="Acid" pitchFamily="50" charset="0"/>
            </a:endParaRP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809625" y="3381375"/>
            <a:ext cx="24717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CCFF66"/>
                </a:solidFill>
                <a:latin typeface="Acid" pitchFamily="50" charset="0"/>
              </a:rPr>
              <a:t>Tight Spaces</a:t>
            </a:r>
            <a:r>
              <a:rPr lang="en-US" sz="1000" b="1" dirty="0">
                <a:solidFill>
                  <a:srgbClr val="CCFF66"/>
                </a:solidFill>
                <a:latin typeface="Acid" pitchFamily="50" charset="0"/>
              </a:rPr>
              <a:t> </a:t>
            </a:r>
            <a:r>
              <a:rPr lang="en-US" sz="2300" dirty="0">
                <a:solidFill>
                  <a:srgbClr val="CCFF66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?</a:t>
            </a: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804863" y="4362450"/>
            <a:ext cx="2471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>
                <a:solidFill>
                  <a:srgbClr val="FF9933"/>
                </a:solidFill>
                <a:latin typeface="Acid" pitchFamily="50" charset="0"/>
              </a:rPr>
              <a:t>We Will Mock You</a:t>
            </a:r>
            <a:endParaRPr lang="en-US" sz="2400" b="1">
              <a:solidFill>
                <a:srgbClr val="FF9933"/>
              </a:solidFill>
              <a:latin typeface="Aci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99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would you call these</a:t>
            </a:r>
            <a:r>
              <a:rPr lang="en-US" sz="1000" dirty="0" smtClean="0"/>
              <a:t> </a:t>
            </a:r>
            <a:r>
              <a:rPr lang="en-US" sz="3000" b="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?</a:t>
            </a:r>
            <a:endParaRPr lang="en-US" sz="30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3" name="Picture 3" descr="picks - 06 - rak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90600"/>
            <a:ext cx="76200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782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Raking tools… Welcome to Crazy Land</a:t>
            </a:r>
            <a:endParaRPr lang="en-US" dirty="0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813" y="1514475"/>
            <a:ext cx="6810375" cy="412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12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Raking Tools</a:t>
            </a:r>
            <a:endParaRPr lang="en-US" dirty="0"/>
          </a:p>
        </p:txBody>
      </p:sp>
      <p:pic>
        <p:nvPicPr>
          <p:cNvPr id="3" name="Picture 2" descr="picks - 0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8" y="517683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picks - 0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344988"/>
            <a:ext cx="7313613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cks - 0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505200"/>
            <a:ext cx="7313613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picks - 0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673350"/>
            <a:ext cx="7313613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picks - 0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831975"/>
            <a:ext cx="7313613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picks - 0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90600"/>
            <a:ext cx="7313613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95263" y="1231900"/>
            <a:ext cx="2209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200" b="1">
                <a:solidFill>
                  <a:schemeClr val="bg1"/>
                </a:solidFill>
                <a:latin typeface="Acid" pitchFamily="50" charset="0"/>
              </a:rPr>
              <a:t>Snake</a:t>
            </a:r>
            <a:endParaRPr lang="en-US" sz="2200" b="1">
              <a:solidFill>
                <a:schemeClr val="bg2"/>
              </a:solidFill>
              <a:latin typeface="Acid" pitchFamily="50" charset="0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90500" y="2068513"/>
            <a:ext cx="2471738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200" b="1">
                <a:solidFill>
                  <a:schemeClr val="bg1"/>
                </a:solidFill>
                <a:latin typeface="Acid" pitchFamily="50" charset="0"/>
              </a:rPr>
              <a:t>Three Quarter Snake</a:t>
            </a:r>
            <a:endParaRPr lang="en-US" sz="2200" b="1">
              <a:solidFill>
                <a:schemeClr val="bg2"/>
              </a:solidFill>
              <a:latin typeface="Acid" pitchFamily="50" charset="0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195263" y="2908300"/>
            <a:ext cx="2471737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200" b="1">
                <a:solidFill>
                  <a:schemeClr val="bg1"/>
                </a:solidFill>
                <a:latin typeface="Acid" pitchFamily="50" charset="0"/>
              </a:rPr>
              <a:t>Half Snake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190500" y="3727450"/>
            <a:ext cx="2471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Acid" pitchFamily="50" charset="0"/>
              </a:rPr>
              <a:t>Double Snake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190500" y="4570413"/>
            <a:ext cx="2471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Acid" pitchFamily="50" charset="0"/>
              </a:rPr>
              <a:t>Stretched Snake</a:t>
            </a: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188913" y="5389563"/>
            <a:ext cx="24717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Acid" pitchFamily="50" charset="0"/>
              </a:rPr>
              <a:t>Batarang</a:t>
            </a: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6096000" y="1231900"/>
            <a:ext cx="2933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sz="2000" b="1">
                <a:latin typeface="Acid" pitchFamily="50" charset="0"/>
              </a:rPr>
              <a:t>a.k.a.</a:t>
            </a:r>
            <a:r>
              <a:rPr lang="en-US" sz="2200" b="1">
                <a:latin typeface="Acid" pitchFamily="50" charset="0"/>
              </a:rPr>
              <a:t> </a:t>
            </a:r>
            <a:r>
              <a:rPr lang="en-US" sz="2400" b="1">
                <a:latin typeface="Acid" pitchFamily="50" charset="0"/>
              </a:rPr>
              <a:t>C Rake, Double Rake</a:t>
            </a:r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6554788" y="3727450"/>
            <a:ext cx="24717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sz="2000" b="1">
                <a:latin typeface="Acid" pitchFamily="50" charset="0"/>
              </a:rPr>
              <a:t>a.k.a.</a:t>
            </a:r>
            <a:r>
              <a:rPr lang="en-US" sz="2400" b="1">
                <a:latin typeface="Acid" pitchFamily="50" charset="0"/>
              </a:rPr>
              <a:t> Quad Rake</a:t>
            </a: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6554788" y="4570413"/>
            <a:ext cx="24717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sz="2000" b="1">
                <a:latin typeface="Acid" pitchFamily="50" charset="0"/>
              </a:rPr>
              <a:t>a.k.a.</a:t>
            </a:r>
            <a:r>
              <a:rPr lang="en-US" sz="2400" b="1">
                <a:latin typeface="Acid" pitchFamily="50" charset="0"/>
              </a:rPr>
              <a:t> S Rake</a:t>
            </a: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6019800" y="5389563"/>
            <a:ext cx="3005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sz="2000" b="1">
                <a:latin typeface="Acid" pitchFamily="50" charset="0"/>
              </a:rPr>
              <a:t>a.k.a.</a:t>
            </a:r>
            <a:r>
              <a:rPr lang="en-US" sz="2400" b="1">
                <a:latin typeface="Acid" pitchFamily="50" charset="0"/>
              </a:rPr>
              <a:t> S Rake, Camel Back</a:t>
            </a:r>
          </a:p>
        </p:txBody>
      </p:sp>
      <p:sp>
        <p:nvSpPr>
          <p:cNvPr id="19" name="Text Box 21"/>
          <p:cNvSpPr txBox="1">
            <a:spLocks noChangeArrowheads="1"/>
          </p:cNvSpPr>
          <p:nvPr/>
        </p:nvSpPr>
        <p:spPr bwMode="auto">
          <a:xfrm>
            <a:off x="6096000" y="1981200"/>
            <a:ext cx="2933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sz="2000" b="1">
                <a:latin typeface="Acid" pitchFamily="50" charset="0"/>
              </a:rPr>
              <a:t>a.k.a.</a:t>
            </a:r>
            <a:r>
              <a:rPr lang="en-US" sz="2200" b="1">
                <a:latin typeface="Acid" pitchFamily="50" charset="0"/>
              </a:rPr>
              <a:t> </a:t>
            </a:r>
            <a:r>
              <a:rPr lang="en-US" sz="2400" b="1">
                <a:latin typeface="Acid" pitchFamily="50" charset="0"/>
              </a:rPr>
              <a:t>Rake-and-a-Half</a:t>
            </a:r>
          </a:p>
        </p:txBody>
      </p:sp>
      <p:sp>
        <p:nvSpPr>
          <p:cNvPr id="20" name="Text Box 22"/>
          <p:cNvSpPr txBox="1">
            <a:spLocks noChangeArrowheads="1"/>
          </p:cNvSpPr>
          <p:nvPr/>
        </p:nvSpPr>
        <p:spPr bwMode="auto">
          <a:xfrm>
            <a:off x="6096000" y="2819400"/>
            <a:ext cx="2933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sz="2000" b="1">
                <a:latin typeface="Acid" pitchFamily="50" charset="0"/>
              </a:rPr>
              <a:t>a.k.a.</a:t>
            </a:r>
            <a:r>
              <a:rPr lang="en-US" sz="2200" b="1">
                <a:latin typeface="Acid" pitchFamily="50" charset="0"/>
              </a:rPr>
              <a:t> </a:t>
            </a:r>
            <a:r>
              <a:rPr lang="en-US" sz="2400" b="1">
                <a:latin typeface="Acid" pitchFamily="50" charset="0"/>
              </a:rPr>
              <a:t>Single Rake</a:t>
            </a:r>
          </a:p>
        </p:txBody>
      </p:sp>
    </p:spTree>
    <p:extLst>
      <p:ext uri="{BB962C8B-B14F-4D97-AF65-F5344CB8AC3E}">
        <p14:creationId xmlns:p14="http://schemas.microsoft.com/office/powerpoint/2010/main" val="6012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Raking Tools</a:t>
            </a:r>
            <a:endParaRPr lang="en-US" dirty="0"/>
          </a:p>
        </p:txBody>
      </p:sp>
      <p:pic>
        <p:nvPicPr>
          <p:cNvPr id="3" name="Picture 2" descr="picks - 0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8" y="517683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picks - 0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344988"/>
            <a:ext cx="7313613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cks - 0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505200"/>
            <a:ext cx="7313613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picks - 0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673350"/>
            <a:ext cx="7313613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picks - 0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831975"/>
            <a:ext cx="7313613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picks - 0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90600"/>
            <a:ext cx="7313613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95263" y="1231900"/>
            <a:ext cx="2209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200" b="1">
                <a:solidFill>
                  <a:schemeClr val="bg1"/>
                </a:solidFill>
                <a:latin typeface="Acid" pitchFamily="50" charset="0"/>
              </a:rPr>
              <a:t>Snake</a:t>
            </a:r>
            <a:endParaRPr lang="en-US" sz="2200" b="1">
              <a:solidFill>
                <a:schemeClr val="bg2"/>
              </a:solidFill>
              <a:latin typeface="Acid" pitchFamily="50" charset="0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90500" y="2068513"/>
            <a:ext cx="2471738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200" b="1">
                <a:solidFill>
                  <a:schemeClr val="bg1"/>
                </a:solidFill>
                <a:latin typeface="Acid" pitchFamily="50" charset="0"/>
              </a:rPr>
              <a:t>Three Quarter Snake</a:t>
            </a:r>
            <a:endParaRPr lang="en-US" sz="2200" b="1">
              <a:solidFill>
                <a:schemeClr val="bg2"/>
              </a:solidFill>
              <a:latin typeface="Acid" pitchFamily="50" charset="0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195263" y="2908300"/>
            <a:ext cx="2471737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200" b="1">
                <a:solidFill>
                  <a:schemeClr val="bg1"/>
                </a:solidFill>
                <a:latin typeface="Acid" pitchFamily="50" charset="0"/>
              </a:rPr>
              <a:t>Half Snake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190500" y="3727450"/>
            <a:ext cx="2471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Acid" pitchFamily="50" charset="0"/>
              </a:rPr>
              <a:t>Double Snake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190500" y="4570413"/>
            <a:ext cx="2471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Acid" pitchFamily="50" charset="0"/>
              </a:rPr>
              <a:t>Stretched Snake</a:t>
            </a: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188913" y="5389563"/>
            <a:ext cx="24717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Acid" pitchFamily="50" charset="0"/>
              </a:rPr>
              <a:t>Batarang</a:t>
            </a: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6096000" y="1231900"/>
            <a:ext cx="2933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sz="2000" b="1">
                <a:latin typeface="Acid" pitchFamily="50" charset="0"/>
              </a:rPr>
              <a:t>a.k.a.</a:t>
            </a:r>
            <a:r>
              <a:rPr lang="en-US" sz="2200" b="1">
                <a:latin typeface="Acid" pitchFamily="50" charset="0"/>
              </a:rPr>
              <a:t> </a:t>
            </a:r>
            <a:r>
              <a:rPr lang="en-US" sz="2400" b="1">
                <a:latin typeface="Acid" pitchFamily="50" charset="0"/>
              </a:rPr>
              <a:t>C Rake, Double Rake</a:t>
            </a:r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6554788" y="3727450"/>
            <a:ext cx="24717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sz="2000" b="1">
                <a:latin typeface="Acid" pitchFamily="50" charset="0"/>
              </a:rPr>
              <a:t>a.k.a.</a:t>
            </a:r>
            <a:r>
              <a:rPr lang="en-US" sz="2400" b="1">
                <a:latin typeface="Acid" pitchFamily="50" charset="0"/>
              </a:rPr>
              <a:t> Quad Rake</a:t>
            </a: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6554788" y="4570413"/>
            <a:ext cx="24717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sz="2000" b="1">
                <a:latin typeface="Acid" pitchFamily="50" charset="0"/>
              </a:rPr>
              <a:t>a.k.a.</a:t>
            </a:r>
            <a:r>
              <a:rPr lang="en-US" sz="2400" b="1">
                <a:latin typeface="Acid" pitchFamily="50" charset="0"/>
              </a:rPr>
              <a:t> S Rake</a:t>
            </a: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6019800" y="5389563"/>
            <a:ext cx="3005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sz="2000" b="1">
                <a:latin typeface="Acid" pitchFamily="50" charset="0"/>
              </a:rPr>
              <a:t>a.k.a.</a:t>
            </a:r>
            <a:r>
              <a:rPr lang="en-US" sz="2400" b="1">
                <a:latin typeface="Acid" pitchFamily="50" charset="0"/>
              </a:rPr>
              <a:t> S Rake, Camel Back</a:t>
            </a:r>
          </a:p>
        </p:txBody>
      </p:sp>
      <p:sp>
        <p:nvSpPr>
          <p:cNvPr id="19" name="Text Box 21"/>
          <p:cNvSpPr txBox="1">
            <a:spLocks noChangeArrowheads="1"/>
          </p:cNvSpPr>
          <p:nvPr/>
        </p:nvSpPr>
        <p:spPr bwMode="auto">
          <a:xfrm>
            <a:off x="6096000" y="1981200"/>
            <a:ext cx="2933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sz="2000" b="1">
                <a:latin typeface="Acid" pitchFamily="50" charset="0"/>
              </a:rPr>
              <a:t>a.k.a.</a:t>
            </a:r>
            <a:r>
              <a:rPr lang="en-US" sz="2200" b="1">
                <a:latin typeface="Acid" pitchFamily="50" charset="0"/>
              </a:rPr>
              <a:t> </a:t>
            </a:r>
            <a:r>
              <a:rPr lang="en-US" sz="2400" b="1">
                <a:latin typeface="Acid" pitchFamily="50" charset="0"/>
              </a:rPr>
              <a:t>Rake-and-a-Half</a:t>
            </a:r>
          </a:p>
        </p:txBody>
      </p:sp>
      <p:sp>
        <p:nvSpPr>
          <p:cNvPr id="20" name="Text Box 22"/>
          <p:cNvSpPr txBox="1">
            <a:spLocks noChangeArrowheads="1"/>
          </p:cNvSpPr>
          <p:nvPr/>
        </p:nvSpPr>
        <p:spPr bwMode="auto">
          <a:xfrm>
            <a:off x="6096000" y="2819400"/>
            <a:ext cx="2933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sz="2000" b="1">
                <a:latin typeface="Acid" pitchFamily="50" charset="0"/>
              </a:rPr>
              <a:t>a.k.a.</a:t>
            </a:r>
            <a:r>
              <a:rPr lang="en-US" sz="2200" b="1">
                <a:latin typeface="Acid" pitchFamily="50" charset="0"/>
              </a:rPr>
              <a:t> </a:t>
            </a:r>
            <a:r>
              <a:rPr lang="en-US" sz="2400" b="1">
                <a:latin typeface="Acid" pitchFamily="50" charset="0"/>
              </a:rPr>
              <a:t>Single Rake</a:t>
            </a:r>
          </a:p>
        </p:txBody>
      </p:sp>
      <p:sp>
        <p:nvSpPr>
          <p:cNvPr id="21" name="Line 19"/>
          <p:cNvSpPr>
            <a:spLocks noChangeShapeType="1"/>
          </p:cNvSpPr>
          <p:nvPr/>
        </p:nvSpPr>
        <p:spPr bwMode="auto">
          <a:xfrm flipV="1">
            <a:off x="4876800" y="5762625"/>
            <a:ext cx="681037" cy="409575"/>
          </a:xfrm>
          <a:prstGeom prst="line">
            <a:avLst/>
          </a:prstGeom>
          <a:noFill/>
          <a:ln w="57150">
            <a:solidFill>
              <a:srgbClr val="80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Acid" pitchFamily="50" charset="0"/>
            </a:endParaRPr>
          </a:p>
        </p:txBody>
      </p: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2757615" y="5970372"/>
            <a:ext cx="24717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 b="1" i="1" dirty="0">
                <a:solidFill>
                  <a:srgbClr val="800000"/>
                </a:solidFill>
                <a:latin typeface="Acid" pitchFamily="50" charset="0"/>
              </a:rPr>
              <a:t>Dangerous Weakness</a:t>
            </a:r>
          </a:p>
        </p:txBody>
      </p:sp>
    </p:spTree>
    <p:extLst>
      <p:ext uri="{BB962C8B-B14F-4D97-AF65-F5344CB8AC3E}">
        <p14:creationId xmlns:p14="http://schemas.microsoft.com/office/powerpoint/2010/main" val="307346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about something like </a:t>
            </a:r>
            <a:r>
              <a:rPr lang="en-US" i="1" dirty="0" smtClean="0"/>
              <a:t>this…</a:t>
            </a:r>
            <a:endParaRPr lang="en-US" i="1" dirty="0"/>
          </a:p>
        </p:txBody>
      </p:sp>
      <p:pic>
        <p:nvPicPr>
          <p:cNvPr id="3" name="Picture 3" descr="picks - 07 - lif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90600"/>
            <a:ext cx="76200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12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“</a:t>
            </a:r>
            <a:r>
              <a:rPr lang="en-US" dirty="0" smtClean="0"/>
              <a:t>Raking</a:t>
            </a:r>
            <a:r>
              <a:rPr lang="en-US" sz="3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”</a:t>
            </a:r>
            <a:r>
              <a:rPr lang="en-US" dirty="0" smtClean="0"/>
              <a:t> vs. </a:t>
            </a:r>
            <a:r>
              <a:rPr lang="en-US" sz="3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“</a:t>
            </a:r>
            <a:r>
              <a:rPr lang="en-US" dirty="0" smtClean="0"/>
              <a:t>Lifting</a:t>
            </a:r>
            <a:r>
              <a:rPr lang="en-US" sz="3000" b="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”</a:t>
            </a:r>
            <a:endParaRPr lang="en-US" sz="30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3" name="Picture 4" descr="contrast - rak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4140200" cy="414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5" descr="contrast - lif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524000"/>
            <a:ext cx="4195763" cy="419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0806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Raking</a:t>
            </a:r>
            <a:endParaRPr lang="en-US" dirty="0"/>
          </a:p>
        </p:txBody>
      </p:sp>
      <p:pic>
        <p:nvPicPr>
          <p:cNvPr id="3" name="Picture 5" descr="movement - 01 - horizontal rak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8" y="2490788"/>
            <a:ext cx="9004300" cy="1928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0806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Raking</a:t>
            </a:r>
            <a:endParaRPr lang="en-US" dirty="0"/>
          </a:p>
        </p:txBody>
      </p:sp>
      <p:pic>
        <p:nvPicPr>
          <p:cNvPr id="3" name="Picture 4" descr="movement - 02 - angled rak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2233613"/>
            <a:ext cx="8985250" cy="2566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6265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Lifting</a:t>
            </a:r>
            <a:endParaRPr lang="en-US" dirty="0"/>
          </a:p>
        </p:txBody>
      </p:sp>
      <p:pic>
        <p:nvPicPr>
          <p:cNvPr id="3" name="Picture 5" descr="movement - 03 - lift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57400"/>
            <a:ext cx="8958263" cy="295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4389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Jagged Lifters</a:t>
            </a:r>
            <a:endParaRPr lang="en-US" dirty="0"/>
          </a:p>
        </p:txBody>
      </p:sp>
      <p:pic>
        <p:nvPicPr>
          <p:cNvPr id="3" name="Picture 25" descr="picks - 0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8" y="5181600"/>
            <a:ext cx="78470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4" descr="picks - 0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8" y="4186238"/>
            <a:ext cx="78470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3" descr="picks - 0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8" y="3200400"/>
            <a:ext cx="78470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picks - 0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3" y="221138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3" descr="picks - 0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3" y="1214438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00025" y="1400175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Acid" pitchFamily="50" charset="0"/>
              </a:rPr>
              <a:t>Wedge Rake</a:t>
            </a:r>
            <a:endParaRPr lang="en-US" sz="2400" b="1">
              <a:solidFill>
                <a:schemeClr val="bg2"/>
              </a:solidFill>
              <a:latin typeface="Acid" pitchFamily="50" charset="0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195263" y="2390775"/>
            <a:ext cx="2471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Acid" pitchFamily="50" charset="0"/>
              </a:rPr>
              <a:t>Long Rake</a:t>
            </a:r>
            <a:endParaRPr lang="en-US" sz="2400" b="1">
              <a:solidFill>
                <a:schemeClr val="bg2"/>
              </a:solidFill>
              <a:latin typeface="Acid" pitchFamily="50" charset="0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00025" y="3409950"/>
            <a:ext cx="24717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Acid" pitchFamily="50" charset="0"/>
              </a:rPr>
              <a:t>Falle Slope</a:t>
            </a:r>
            <a:endParaRPr lang="en-US" sz="2400" b="1">
              <a:solidFill>
                <a:schemeClr val="bg1"/>
              </a:solidFill>
              <a:latin typeface="Acid" pitchFamily="50" charset="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195263" y="4362450"/>
            <a:ext cx="2471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Acid" pitchFamily="50" charset="0"/>
              </a:rPr>
              <a:t>Falle Valley</a:t>
            </a:r>
            <a:endParaRPr lang="en-US" sz="2400" b="1">
              <a:solidFill>
                <a:schemeClr val="bg1"/>
              </a:solidFill>
              <a:latin typeface="Acid" pitchFamily="50" charset="0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195263" y="5376863"/>
            <a:ext cx="24717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Acid" pitchFamily="50" charset="0"/>
              </a:rPr>
              <a:t>Falle Hump</a:t>
            </a:r>
            <a:endParaRPr lang="en-US" sz="2400" b="1">
              <a:solidFill>
                <a:schemeClr val="bg1"/>
              </a:solidFill>
              <a:latin typeface="Acid" pitchFamily="50" charset="0"/>
            </a:endParaRPr>
          </a:p>
        </p:txBody>
      </p:sp>
      <p:sp>
        <p:nvSpPr>
          <p:cNvPr id="13" name="Text Box 18"/>
          <p:cNvSpPr txBox="1">
            <a:spLocks noChangeArrowheads="1"/>
          </p:cNvSpPr>
          <p:nvPr/>
        </p:nvSpPr>
        <p:spPr bwMode="auto">
          <a:xfrm>
            <a:off x="6096000" y="1338263"/>
            <a:ext cx="29337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sz="2000" b="1">
                <a:latin typeface="Acid" pitchFamily="50" charset="0"/>
              </a:rPr>
              <a:t>a.k.a.</a:t>
            </a:r>
            <a:r>
              <a:rPr lang="en-US" sz="2200" b="1">
                <a:latin typeface="Acid" pitchFamily="50" charset="0"/>
              </a:rPr>
              <a:t> </a:t>
            </a:r>
            <a:r>
              <a:rPr lang="en-US" sz="2400" b="1">
                <a:latin typeface="Acid" pitchFamily="50" charset="0"/>
              </a:rPr>
              <a:t>W Rake,</a:t>
            </a:r>
            <a:r>
              <a:rPr lang="en-US" sz="2200" b="1">
                <a:latin typeface="Acid" pitchFamily="50" charset="0"/>
              </a:rPr>
              <a:t> </a:t>
            </a:r>
            <a:r>
              <a:rPr lang="en-US" sz="2400" b="1">
                <a:latin typeface="Acid" pitchFamily="50" charset="0"/>
              </a:rPr>
              <a:t>Short Jag,</a:t>
            </a:r>
            <a:br>
              <a:rPr lang="en-US" sz="2400" b="1">
                <a:latin typeface="Acid" pitchFamily="50" charset="0"/>
              </a:rPr>
            </a:br>
            <a:r>
              <a:rPr lang="en-US" sz="2400" b="1">
                <a:latin typeface="Acid" pitchFamily="50" charset="0"/>
              </a:rPr>
              <a:t>Ramped Tool, </a:t>
            </a:r>
            <a:r>
              <a:rPr lang="en-US" sz="1600" b="1">
                <a:latin typeface="Acid" pitchFamily="50" charset="0"/>
              </a:rPr>
              <a:t>&amp;</a:t>
            </a:r>
            <a:r>
              <a:rPr lang="en-US" sz="2400" b="1">
                <a:latin typeface="Acid" pitchFamily="50" charset="0"/>
              </a:rPr>
              <a:t> Stupid</a:t>
            </a:r>
          </a:p>
        </p:txBody>
      </p:sp>
      <p:sp>
        <p:nvSpPr>
          <p:cNvPr id="14" name="Text Box 21"/>
          <p:cNvSpPr txBox="1">
            <a:spLocks noChangeArrowheads="1"/>
          </p:cNvSpPr>
          <p:nvPr/>
        </p:nvSpPr>
        <p:spPr bwMode="auto">
          <a:xfrm>
            <a:off x="6019800" y="5529263"/>
            <a:ext cx="3005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sz="2000" b="1">
                <a:latin typeface="Acid" pitchFamily="50" charset="0"/>
              </a:rPr>
              <a:t>a.k.a.</a:t>
            </a:r>
            <a:r>
              <a:rPr lang="en-US" sz="2400" b="1">
                <a:latin typeface="Acid" pitchFamily="50" charset="0"/>
              </a:rPr>
              <a:t> Long Rimple</a:t>
            </a:r>
          </a:p>
        </p:txBody>
      </p:sp>
      <p:sp>
        <p:nvSpPr>
          <p:cNvPr id="15" name="Text Box 22"/>
          <p:cNvSpPr txBox="1">
            <a:spLocks noChangeArrowheads="1"/>
          </p:cNvSpPr>
          <p:nvPr/>
        </p:nvSpPr>
        <p:spPr bwMode="auto">
          <a:xfrm>
            <a:off x="6096000" y="2378075"/>
            <a:ext cx="29337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sz="2000" b="1">
                <a:latin typeface="Acid" pitchFamily="50" charset="0"/>
              </a:rPr>
              <a:t>a.k.a.</a:t>
            </a:r>
            <a:r>
              <a:rPr lang="en-US" sz="2200" b="1">
                <a:latin typeface="Acid" pitchFamily="50" charset="0"/>
              </a:rPr>
              <a:t> </a:t>
            </a:r>
            <a:r>
              <a:rPr lang="en-US" sz="2400" b="1">
                <a:latin typeface="Acid" pitchFamily="50" charset="0"/>
              </a:rPr>
              <a:t>L Rake, Long Jag,</a:t>
            </a:r>
          </a:p>
          <a:p>
            <a:pPr algn="r"/>
            <a:r>
              <a:rPr lang="en-US" sz="2400" b="1">
                <a:latin typeface="Acid" pitchFamily="50" charset="0"/>
              </a:rPr>
              <a:t>Ripple, </a:t>
            </a:r>
            <a:r>
              <a:rPr lang="en-US" sz="1600" b="1">
                <a:latin typeface="Acid" pitchFamily="50" charset="0"/>
              </a:rPr>
              <a:t>&amp;</a:t>
            </a:r>
            <a:r>
              <a:rPr lang="en-US" sz="2400" b="1">
                <a:latin typeface="Acid" pitchFamily="50" charset="0"/>
              </a:rPr>
              <a:t> Saw Tooth</a:t>
            </a:r>
          </a:p>
        </p:txBody>
      </p:sp>
    </p:spTree>
    <p:extLst>
      <p:ext uri="{BB962C8B-B14F-4D97-AF65-F5344CB8AC3E}">
        <p14:creationId xmlns:p14="http://schemas.microsoft.com/office/powerpoint/2010/main" val="412077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So, what on earth are </a:t>
            </a:r>
            <a:r>
              <a:rPr lang="en-US" i="1" dirty="0" smtClean="0"/>
              <a:t>these</a:t>
            </a:r>
            <a:r>
              <a:rPr lang="en-US" sz="1000" i="1" dirty="0" smtClean="0"/>
              <a:t> </a:t>
            </a:r>
            <a:r>
              <a:rPr lang="en-US" sz="3000" b="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?</a:t>
            </a:r>
            <a:endParaRPr lang="en-US" sz="3000" b="0" i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3" name="Picture 3" descr="picks - 08 - royal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90600"/>
            <a:ext cx="76200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077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King &amp; Queen</a:t>
            </a:r>
            <a:endParaRPr lang="en-US" dirty="0"/>
          </a:p>
        </p:txBody>
      </p:sp>
      <p:pic>
        <p:nvPicPr>
          <p:cNvPr id="3" name="Picture 13" descr="picks - 0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788" y="374015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1" descr="picks - 0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788" y="21336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263650" y="2319338"/>
            <a:ext cx="220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cid" pitchFamily="50" charset="0"/>
              </a:rPr>
              <a:t>King Pick</a:t>
            </a:r>
            <a:endParaRPr lang="en-US" sz="2400" b="1" dirty="0">
              <a:solidFill>
                <a:schemeClr val="bg2"/>
              </a:solidFill>
              <a:latin typeface="Acid" pitchFamily="50" charset="0"/>
            </a:endParaRP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1258888" y="3919538"/>
            <a:ext cx="24717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Acid" pitchFamily="50" charset="0"/>
              </a:rPr>
              <a:t>Queen Pick</a:t>
            </a:r>
            <a:endParaRPr lang="en-US" sz="2400" b="1">
              <a:solidFill>
                <a:schemeClr val="bg2"/>
              </a:solidFill>
              <a:latin typeface="Aci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77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major innovation in pick tools</a:t>
            </a:r>
            <a:endParaRPr lang="en-US" dirty="0"/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76200" y="1279525"/>
            <a:ext cx="9067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4000" b="1" i="1" dirty="0">
                <a:latin typeface="Acid" pitchFamily="50" charset="0"/>
              </a:rPr>
              <a:t>Thanks to </a:t>
            </a:r>
            <a:r>
              <a:rPr lang="en-US" sz="4000" b="1" i="1" dirty="0" smtClean="0">
                <a:latin typeface="Acid" pitchFamily="50" charset="0"/>
              </a:rPr>
              <a:t>Minnesota…</a:t>
            </a:r>
            <a:endParaRPr lang="en-US" sz="4000" b="1" i="1" dirty="0">
              <a:latin typeface="Acid" pitchFamily="50" charset="0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6200" y="4953000"/>
            <a:ext cx="8915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sz="4000" b="1" i="1" dirty="0">
                <a:latin typeface="Acid" pitchFamily="50" charset="0"/>
              </a:rPr>
              <a:t>… </a:t>
            </a:r>
            <a:r>
              <a:rPr lang="en-US" sz="4000" b="1" i="1" dirty="0" smtClean="0">
                <a:latin typeface="Acid" pitchFamily="50" charset="0"/>
              </a:rPr>
              <a:t>with </a:t>
            </a:r>
            <a:r>
              <a:rPr lang="en-US" sz="4000" b="1" i="1" dirty="0">
                <a:latin typeface="Acid" pitchFamily="50" charset="0"/>
              </a:rPr>
              <a:t>a </a:t>
            </a:r>
            <a:r>
              <a:rPr lang="en-US" sz="4000" b="1" i="1" dirty="0" smtClean="0">
                <a:latin typeface="Acid" pitchFamily="50" charset="0"/>
              </a:rPr>
              <a:t>nod </a:t>
            </a:r>
            <a:r>
              <a:rPr lang="en-US" sz="4000" b="1" i="1" dirty="0">
                <a:latin typeface="Acid" pitchFamily="50" charset="0"/>
              </a:rPr>
              <a:t>to Columbia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09800"/>
            <a:ext cx="36576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87" y="2209800"/>
            <a:ext cx="3633788" cy="242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0806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Raimundo</a:t>
            </a:r>
            <a:r>
              <a:rPr lang="en-US" sz="3000" b="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’</a:t>
            </a:r>
            <a:r>
              <a:rPr lang="en-US" dirty="0" err="1" smtClean="0"/>
              <a:t>s</a:t>
            </a:r>
            <a:r>
              <a:rPr lang="en-US" dirty="0" smtClean="0"/>
              <a:t> Family of Tools</a:t>
            </a:r>
            <a:endParaRPr lang="en-US" dirty="0"/>
          </a:p>
        </p:txBody>
      </p:sp>
      <p:pic>
        <p:nvPicPr>
          <p:cNvPr id="4" name="Picture 3" descr="raimundo famil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5" y="990600"/>
            <a:ext cx="680085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8490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 Started with Two Tools…</a:t>
            </a:r>
            <a:endParaRPr lang="en-US" dirty="0"/>
          </a:p>
        </p:txBody>
      </p:sp>
      <p:pic>
        <p:nvPicPr>
          <p:cNvPr id="3" name="Picture 4" descr="raimundo pai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1295400"/>
            <a:ext cx="7639050" cy="460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4876800" y="4419600"/>
            <a:ext cx="31242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“</a:t>
            </a:r>
            <a:r>
              <a:rPr lang="en-US" sz="4000" b="1" dirty="0">
                <a:latin typeface="Acid" pitchFamily="50" charset="0"/>
              </a:rPr>
              <a:t>Jiggler</a:t>
            </a:r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”</a:t>
            </a:r>
            <a:r>
              <a:rPr lang="en-US" sz="4000" b="1" dirty="0">
                <a:latin typeface="Acid" pitchFamily="50" charset="0"/>
              </a:rPr>
              <a:t> Tools</a:t>
            </a:r>
          </a:p>
        </p:txBody>
      </p:sp>
    </p:spTree>
    <p:extLst>
      <p:ext uri="{BB962C8B-B14F-4D97-AF65-F5344CB8AC3E}">
        <p14:creationId xmlns:p14="http://schemas.microsoft.com/office/powerpoint/2010/main" val="1980226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Jiggling</a:t>
            </a:r>
            <a:r>
              <a:rPr lang="en-US" sz="1500" dirty="0" smtClean="0"/>
              <a:t> </a:t>
            </a:r>
            <a:r>
              <a:rPr lang="en-US" sz="3000" b="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?</a:t>
            </a:r>
            <a:endParaRPr lang="en-US" sz="30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3" name="Picture 3" descr="movement - 01 - horizontal rak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8" y="838200"/>
            <a:ext cx="9004300" cy="1928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movement - 03 - lif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52800"/>
            <a:ext cx="8958263" cy="295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76200" y="2514600"/>
            <a:ext cx="9067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4000" b="1">
                <a:latin typeface="Acid" pitchFamily="50" charset="0"/>
              </a:rPr>
              <a:t>In Between Raking &amp; Lifting</a:t>
            </a:r>
            <a:r>
              <a:rPr lang="en-US" sz="2000" b="1">
                <a:latin typeface="Acid" pitchFamily="50" charset="0"/>
              </a:rPr>
              <a:t> </a:t>
            </a:r>
            <a:r>
              <a:rPr lang="en-US" sz="4000" b="1">
                <a:latin typeface="Acid" pitchFamily="50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80226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Jiggling</a:t>
            </a:r>
            <a:r>
              <a:rPr lang="en-US" sz="1500" dirty="0" smtClean="0"/>
              <a:t> </a:t>
            </a:r>
            <a:r>
              <a:rPr lang="en-US" sz="3000" b="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?</a:t>
            </a:r>
            <a:endParaRPr lang="en-US" sz="30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3" name="Picture 6" descr="movement - 04 - jiggling faux-got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0050"/>
            <a:ext cx="8391525" cy="259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76200" y="4784725"/>
            <a:ext cx="9067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4000" b="1" dirty="0">
                <a:latin typeface="Acid" pitchFamily="50" charset="0"/>
              </a:rPr>
              <a:t>… There is </a:t>
            </a:r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“</a:t>
            </a:r>
            <a:r>
              <a:rPr lang="en-US" sz="4000" b="1" dirty="0">
                <a:latin typeface="Acid" pitchFamily="50" charset="0"/>
              </a:rPr>
              <a:t>Jiggling</a:t>
            </a:r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357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Bogota Family</a:t>
            </a:r>
            <a:endParaRPr lang="en-US" dirty="0"/>
          </a:p>
        </p:txBody>
      </p:sp>
      <p:pic>
        <p:nvPicPr>
          <p:cNvPr id="4" name="Picture 3" descr="picks - 0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6800"/>
            <a:ext cx="3657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cks - 0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52600"/>
            <a:ext cx="3657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3733800" y="990600"/>
            <a:ext cx="2933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 smtClean="0">
                <a:latin typeface="Acid" pitchFamily="50" charset="0"/>
              </a:rPr>
              <a:t>Bogota</a:t>
            </a:r>
            <a:endParaRPr lang="en-US" sz="2800" b="1" dirty="0">
              <a:latin typeface="Acid" pitchFamily="50" charset="0"/>
            </a:endParaRP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3733800" y="1690688"/>
            <a:ext cx="4267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latin typeface="Acid" pitchFamily="50" charset="0"/>
              </a:rPr>
              <a:t>Single Hump </a:t>
            </a: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Acid" pitchFamily="50" charset="0"/>
              </a:rPr>
              <a:t> 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Acid" pitchFamily="50" charset="0"/>
              </a:rPr>
              <a:t>a.k.a. Hollow Half Diamond</a:t>
            </a: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4343400" y="1101813"/>
            <a:ext cx="762000" cy="3429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500" b="1" kern="1200">
                <a:solidFill>
                  <a:schemeClr val="tx1"/>
                </a:solidFill>
                <a:latin typeface="Acid" pitchFamily="50" charset="0"/>
                <a:ea typeface="+mj-ea"/>
                <a:cs typeface="+mj-cs"/>
              </a:defRPr>
            </a:lvl1pPr>
          </a:lstStyle>
          <a:p>
            <a:r>
              <a:rPr lang="en-US" sz="2000" b="0" dirty="0">
                <a:latin typeface="Verdana"/>
                <a:ea typeface="Verdana"/>
                <a:cs typeface="Verdana"/>
              </a:rPr>
              <a:t>´</a:t>
            </a:r>
            <a:endParaRPr lang="en-US" sz="2000" b="0" dirty="0"/>
          </a:p>
        </p:txBody>
      </p:sp>
      <p:pic>
        <p:nvPicPr>
          <p:cNvPr id="22" name="Picture 21" descr="classy bogota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550" y="2362200"/>
            <a:ext cx="5118100" cy="385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844041" y="112696"/>
            <a:ext cx="762000" cy="3429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500" b="1" kern="1200">
                <a:solidFill>
                  <a:schemeClr val="tx1"/>
                </a:solidFill>
                <a:latin typeface="Acid" pitchFamily="50" charset="0"/>
                <a:ea typeface="+mj-ea"/>
                <a:cs typeface="+mj-cs"/>
              </a:defRPr>
            </a:lvl1pPr>
          </a:lstStyle>
          <a:p>
            <a:r>
              <a:rPr lang="en-US" sz="2800" b="0" dirty="0">
                <a:latin typeface="Verdana"/>
                <a:ea typeface="Verdana"/>
                <a:cs typeface="Verdana"/>
              </a:rPr>
              <a:t>´</a:t>
            </a:r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1980226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Bogota Family</a:t>
            </a:r>
            <a:endParaRPr lang="en-US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844041" y="112696"/>
            <a:ext cx="762000" cy="3429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500" b="1" kern="1200">
                <a:solidFill>
                  <a:schemeClr val="tx1"/>
                </a:solidFill>
                <a:latin typeface="Acid" pitchFamily="50" charset="0"/>
                <a:ea typeface="+mj-ea"/>
                <a:cs typeface="+mj-cs"/>
              </a:defRPr>
            </a:lvl1pPr>
          </a:lstStyle>
          <a:p>
            <a:r>
              <a:rPr lang="en-US" sz="2800" b="0" dirty="0">
                <a:latin typeface="Verdana"/>
                <a:ea typeface="Verdana"/>
                <a:cs typeface="Verdana"/>
              </a:rPr>
              <a:t>´</a:t>
            </a:r>
            <a:endParaRPr lang="en-US" sz="2800" b="0" dirty="0"/>
          </a:p>
        </p:txBody>
      </p:sp>
      <p:pic>
        <p:nvPicPr>
          <p:cNvPr id="4" name="Picture 3" descr="picks - 0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6800"/>
            <a:ext cx="3657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cks - 0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52600"/>
            <a:ext cx="3657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picks - 0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38400"/>
            <a:ext cx="3657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picks - 0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24200"/>
            <a:ext cx="3657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picks - 0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00"/>
            <a:ext cx="3657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3733800" y="990600"/>
            <a:ext cx="2933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 smtClean="0">
                <a:latin typeface="Acid" pitchFamily="50" charset="0"/>
              </a:rPr>
              <a:t>Bogota</a:t>
            </a:r>
            <a:endParaRPr lang="en-US" sz="2800" b="1" dirty="0">
              <a:latin typeface="Acid" pitchFamily="50" charset="0"/>
            </a:endParaRP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3733800" y="1690688"/>
            <a:ext cx="4267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latin typeface="Acid" pitchFamily="50" charset="0"/>
              </a:rPr>
              <a:t>Single Hump </a:t>
            </a: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Acid" pitchFamily="50" charset="0"/>
              </a:rPr>
              <a:t> 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Acid" pitchFamily="50" charset="0"/>
              </a:rPr>
              <a:t>a.k.a. Hollow Half Diamond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3733800" y="2362200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latin typeface="Acid" pitchFamily="50" charset="0"/>
              </a:rPr>
              <a:t>Two Hump  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Acid" pitchFamily="50" charset="0"/>
              </a:rPr>
              <a:t>a.k.a. Camel</a:t>
            </a: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3733800" y="3062288"/>
            <a:ext cx="2819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>
                <a:latin typeface="Acid" pitchFamily="50" charset="0"/>
              </a:rPr>
              <a:t>Quad Hump</a:t>
            </a:r>
            <a:endParaRPr lang="en-US" sz="2000" b="1">
              <a:solidFill>
                <a:schemeClr val="bg2"/>
              </a:solidFill>
              <a:latin typeface="Acid" pitchFamily="50" charset="0"/>
            </a:endParaRP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3733800" y="3733800"/>
            <a:ext cx="373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>
                <a:latin typeface="Acid" pitchFamily="50" charset="0"/>
              </a:rPr>
              <a:t>Sabana</a:t>
            </a:r>
            <a:endParaRPr lang="en-US" sz="2000" b="1">
              <a:solidFill>
                <a:schemeClr val="bg2"/>
              </a:solidFill>
              <a:latin typeface="Acid" pitchFamily="50" charset="0"/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4343400" y="1101813"/>
            <a:ext cx="762000" cy="3429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500" b="1" kern="1200">
                <a:solidFill>
                  <a:schemeClr val="tx1"/>
                </a:solidFill>
                <a:latin typeface="Acid" pitchFamily="50" charset="0"/>
                <a:ea typeface="+mj-ea"/>
                <a:cs typeface="+mj-cs"/>
              </a:defRPr>
            </a:lvl1pPr>
          </a:lstStyle>
          <a:p>
            <a:r>
              <a:rPr lang="en-US" sz="2000" b="0" dirty="0">
                <a:latin typeface="Verdana"/>
                <a:ea typeface="Verdana"/>
                <a:cs typeface="Verdana"/>
              </a:rPr>
              <a:t>´</a:t>
            </a:r>
            <a:endParaRPr lang="en-US" sz="2000" b="0" dirty="0"/>
          </a:p>
        </p:txBody>
      </p:sp>
      <p:sp>
        <p:nvSpPr>
          <p:cNvPr id="22" name="Text Box 19"/>
          <p:cNvSpPr txBox="1">
            <a:spLocks noChangeArrowheads="1"/>
          </p:cNvSpPr>
          <p:nvPr/>
        </p:nvSpPr>
        <p:spPr bwMode="auto">
          <a:xfrm>
            <a:off x="1371600" y="4876800"/>
            <a:ext cx="64770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Acid" pitchFamily="50" charset="0"/>
              </a:rPr>
              <a:t>http://theamazingking.com/bogota.html</a:t>
            </a:r>
          </a:p>
        </p:txBody>
      </p:sp>
    </p:spTree>
    <p:extLst>
      <p:ext uri="{BB962C8B-B14F-4D97-AF65-F5344CB8AC3E}">
        <p14:creationId xmlns:p14="http://schemas.microsoft.com/office/powerpoint/2010/main" val="4089479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Bogota Family</a:t>
            </a:r>
            <a:endParaRPr lang="en-US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844041" y="112696"/>
            <a:ext cx="762000" cy="3429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500" b="1" kern="1200">
                <a:solidFill>
                  <a:schemeClr val="tx1"/>
                </a:solidFill>
                <a:latin typeface="Acid" pitchFamily="50" charset="0"/>
                <a:ea typeface="+mj-ea"/>
                <a:cs typeface="+mj-cs"/>
              </a:defRPr>
            </a:lvl1pPr>
          </a:lstStyle>
          <a:p>
            <a:r>
              <a:rPr lang="en-US" sz="2800" b="0" dirty="0">
                <a:latin typeface="Verdana"/>
                <a:ea typeface="Verdana"/>
                <a:cs typeface="Verdana"/>
              </a:rPr>
              <a:t>´</a:t>
            </a:r>
            <a:endParaRPr lang="en-US" sz="2800" b="0" dirty="0"/>
          </a:p>
        </p:txBody>
      </p:sp>
      <p:pic>
        <p:nvPicPr>
          <p:cNvPr id="4" name="Picture 3" descr="picks - 0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6800"/>
            <a:ext cx="3657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cks - 0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52600"/>
            <a:ext cx="3657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picks - 0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38400"/>
            <a:ext cx="3657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picks - 0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24200"/>
            <a:ext cx="3657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picks - 0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00"/>
            <a:ext cx="3657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3733800" y="990600"/>
            <a:ext cx="2933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 smtClean="0">
                <a:latin typeface="Acid" pitchFamily="50" charset="0"/>
              </a:rPr>
              <a:t>Bogota</a:t>
            </a:r>
            <a:endParaRPr lang="en-US" sz="2800" b="1" dirty="0">
              <a:latin typeface="Acid" pitchFamily="50" charset="0"/>
            </a:endParaRP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3733800" y="1690688"/>
            <a:ext cx="4267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latin typeface="Acid" pitchFamily="50" charset="0"/>
              </a:rPr>
              <a:t>Single Hump </a:t>
            </a: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Acid" pitchFamily="50" charset="0"/>
              </a:rPr>
              <a:t> 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Acid" pitchFamily="50" charset="0"/>
              </a:rPr>
              <a:t>a.k.a. Hollow Half Diamond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3733800" y="2362200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latin typeface="Acid" pitchFamily="50" charset="0"/>
              </a:rPr>
              <a:t>Two Hump  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Acid" pitchFamily="50" charset="0"/>
              </a:rPr>
              <a:t>a.k.a. Camel</a:t>
            </a: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3733800" y="3062288"/>
            <a:ext cx="2819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>
                <a:latin typeface="Acid" pitchFamily="50" charset="0"/>
              </a:rPr>
              <a:t>Quad Hump</a:t>
            </a:r>
            <a:endParaRPr lang="en-US" sz="2000" b="1">
              <a:solidFill>
                <a:schemeClr val="bg2"/>
              </a:solidFill>
              <a:latin typeface="Acid" pitchFamily="50" charset="0"/>
            </a:endParaRP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3733800" y="3733800"/>
            <a:ext cx="373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 err="1">
                <a:latin typeface="Acid" pitchFamily="50" charset="0"/>
              </a:rPr>
              <a:t>Sabana</a:t>
            </a:r>
            <a:endParaRPr lang="en-US" sz="2000" b="1" dirty="0">
              <a:solidFill>
                <a:schemeClr val="bg2"/>
              </a:solidFill>
              <a:latin typeface="Acid" pitchFamily="50" charset="0"/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4343400" y="1101813"/>
            <a:ext cx="762000" cy="3429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500" b="1" kern="1200">
                <a:solidFill>
                  <a:schemeClr val="tx1"/>
                </a:solidFill>
                <a:latin typeface="Acid" pitchFamily="50" charset="0"/>
                <a:ea typeface="+mj-ea"/>
                <a:cs typeface="+mj-cs"/>
              </a:defRPr>
            </a:lvl1pPr>
          </a:lstStyle>
          <a:p>
            <a:r>
              <a:rPr lang="en-US" sz="2000" b="0" dirty="0">
                <a:latin typeface="Verdana"/>
                <a:ea typeface="Verdana"/>
                <a:cs typeface="Verdana"/>
              </a:rPr>
              <a:t>´</a:t>
            </a:r>
            <a:endParaRPr lang="en-US" sz="2000" b="0" dirty="0"/>
          </a:p>
        </p:txBody>
      </p:sp>
      <p:pic>
        <p:nvPicPr>
          <p:cNvPr id="17" name="Picture 8" descr="picks - 09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95800"/>
            <a:ext cx="3657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3733800" y="4414838"/>
            <a:ext cx="3733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latin typeface="Acid" pitchFamily="50" charset="0"/>
              </a:rPr>
              <a:t>Wave Jiggler  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Acid" pitchFamily="50" charset="0"/>
              </a:rPr>
              <a:t>a.k.a. </a:t>
            </a:r>
            <a:r>
              <a:rPr lang="en-US" sz="2000" b="1" dirty="0" smtClean="0">
                <a:solidFill>
                  <a:schemeClr val="bg1">
                    <a:lumMod val="75000"/>
                  </a:schemeClr>
                </a:solidFill>
                <a:latin typeface="Acid" pitchFamily="50" charset="0"/>
              </a:rPr>
              <a:t>Faux-</a:t>
            </a:r>
            <a:r>
              <a:rPr lang="en-US" sz="2000" b="1" dirty="0" err="1" smtClean="0">
                <a:solidFill>
                  <a:schemeClr val="bg1">
                    <a:lumMod val="75000"/>
                  </a:schemeClr>
                </a:solidFill>
                <a:latin typeface="Acid" pitchFamily="50" charset="0"/>
              </a:rPr>
              <a:t>gota</a:t>
            </a:r>
            <a:endParaRPr lang="en-US" sz="2000" b="1" dirty="0">
              <a:solidFill>
                <a:schemeClr val="bg1">
                  <a:lumMod val="75000"/>
                </a:schemeClr>
              </a:solidFill>
              <a:latin typeface="Aci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307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Bogota Family</a:t>
            </a:r>
            <a:endParaRPr lang="en-US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844041" y="112696"/>
            <a:ext cx="762000" cy="3429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500" b="1" kern="1200">
                <a:solidFill>
                  <a:schemeClr val="tx1"/>
                </a:solidFill>
                <a:latin typeface="Acid" pitchFamily="50" charset="0"/>
                <a:ea typeface="+mj-ea"/>
                <a:cs typeface="+mj-cs"/>
              </a:defRPr>
            </a:lvl1pPr>
          </a:lstStyle>
          <a:p>
            <a:r>
              <a:rPr lang="en-US" sz="2800" b="0" dirty="0">
                <a:latin typeface="Verdana"/>
                <a:ea typeface="Verdana"/>
                <a:cs typeface="Verdana"/>
              </a:rPr>
              <a:t>´</a:t>
            </a:r>
            <a:endParaRPr lang="en-US" sz="2800" b="0" dirty="0"/>
          </a:p>
        </p:txBody>
      </p:sp>
      <p:pic>
        <p:nvPicPr>
          <p:cNvPr id="4" name="Picture 3" descr="picks - 0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6800"/>
            <a:ext cx="3657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cks - 0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52600"/>
            <a:ext cx="3657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picks - 0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38400"/>
            <a:ext cx="3657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picks - 0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24200"/>
            <a:ext cx="3657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picks - 0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00"/>
            <a:ext cx="3657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3733800" y="990600"/>
            <a:ext cx="2933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 smtClean="0">
                <a:latin typeface="Acid" pitchFamily="50" charset="0"/>
              </a:rPr>
              <a:t>Bogota</a:t>
            </a:r>
            <a:endParaRPr lang="en-US" sz="2800" b="1" dirty="0">
              <a:latin typeface="Acid" pitchFamily="50" charset="0"/>
            </a:endParaRP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3733800" y="1690688"/>
            <a:ext cx="4267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latin typeface="Acid" pitchFamily="50" charset="0"/>
              </a:rPr>
              <a:t>Single Hump </a:t>
            </a: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Acid" pitchFamily="50" charset="0"/>
              </a:rPr>
              <a:t> 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Acid" pitchFamily="50" charset="0"/>
              </a:rPr>
              <a:t>a.k.a. Hollow Half Diamond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3733800" y="2362200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latin typeface="Acid" pitchFamily="50" charset="0"/>
              </a:rPr>
              <a:t>Two Hump  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Acid" pitchFamily="50" charset="0"/>
              </a:rPr>
              <a:t>a.k.a. Camel</a:t>
            </a: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3733800" y="3062288"/>
            <a:ext cx="2819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>
                <a:latin typeface="Acid" pitchFamily="50" charset="0"/>
              </a:rPr>
              <a:t>Quad Hump</a:t>
            </a:r>
            <a:endParaRPr lang="en-US" sz="2000" b="1">
              <a:solidFill>
                <a:schemeClr val="bg2"/>
              </a:solidFill>
              <a:latin typeface="Acid" pitchFamily="50" charset="0"/>
            </a:endParaRP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3733800" y="3733800"/>
            <a:ext cx="373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 err="1">
                <a:latin typeface="Acid" pitchFamily="50" charset="0"/>
              </a:rPr>
              <a:t>Sabana</a:t>
            </a:r>
            <a:endParaRPr lang="en-US" sz="2000" b="1" dirty="0">
              <a:solidFill>
                <a:schemeClr val="bg2"/>
              </a:solidFill>
              <a:latin typeface="Acid" pitchFamily="50" charset="0"/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4343400" y="1101813"/>
            <a:ext cx="762000" cy="3429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500" b="1" kern="1200">
                <a:solidFill>
                  <a:schemeClr val="tx1"/>
                </a:solidFill>
                <a:latin typeface="Acid" pitchFamily="50" charset="0"/>
                <a:ea typeface="+mj-ea"/>
                <a:cs typeface="+mj-cs"/>
              </a:defRPr>
            </a:lvl1pPr>
          </a:lstStyle>
          <a:p>
            <a:r>
              <a:rPr lang="en-US" sz="2000" b="0" dirty="0">
                <a:latin typeface="Verdana"/>
                <a:ea typeface="Verdana"/>
                <a:cs typeface="Verdana"/>
              </a:rPr>
              <a:t>´</a:t>
            </a:r>
            <a:endParaRPr lang="en-US" sz="2000" b="0" dirty="0"/>
          </a:p>
        </p:txBody>
      </p:sp>
      <p:pic>
        <p:nvPicPr>
          <p:cNvPr id="17" name="Picture 8" descr="picks - 09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95800"/>
            <a:ext cx="3657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3733800" y="4414838"/>
            <a:ext cx="3733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latin typeface="Acid" pitchFamily="50" charset="0"/>
              </a:rPr>
              <a:t>Wave Jiggler  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Acid" pitchFamily="50" charset="0"/>
              </a:rPr>
              <a:t>a.k.a. </a:t>
            </a:r>
            <a:r>
              <a:rPr lang="en-US" sz="2000" b="1" dirty="0" smtClean="0">
                <a:solidFill>
                  <a:schemeClr val="bg1">
                    <a:lumMod val="75000"/>
                  </a:schemeClr>
                </a:solidFill>
                <a:latin typeface="Acid" pitchFamily="50" charset="0"/>
              </a:rPr>
              <a:t>Faux-</a:t>
            </a:r>
            <a:r>
              <a:rPr lang="en-US" sz="2000" b="1" dirty="0" err="1" smtClean="0">
                <a:solidFill>
                  <a:schemeClr val="bg1">
                    <a:lumMod val="75000"/>
                  </a:schemeClr>
                </a:solidFill>
                <a:latin typeface="Acid" pitchFamily="50" charset="0"/>
              </a:rPr>
              <a:t>gota</a:t>
            </a:r>
            <a:endParaRPr lang="en-US" sz="2000" b="1" dirty="0">
              <a:solidFill>
                <a:schemeClr val="bg1">
                  <a:lumMod val="75000"/>
                </a:schemeClr>
              </a:solidFill>
              <a:latin typeface="Acid" pitchFamily="50" charset="0"/>
            </a:endParaRPr>
          </a:p>
        </p:txBody>
      </p:sp>
      <p:pic>
        <p:nvPicPr>
          <p:cNvPr id="19" name="Picture 9" descr="picks - 09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81600"/>
            <a:ext cx="3657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0" descr="picks - 09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91200"/>
            <a:ext cx="3657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 Box 17"/>
          <p:cNvSpPr txBox="1">
            <a:spLocks noChangeArrowheads="1"/>
          </p:cNvSpPr>
          <p:nvPr/>
        </p:nvSpPr>
        <p:spPr bwMode="auto">
          <a:xfrm>
            <a:off x="3733800" y="5076825"/>
            <a:ext cx="373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 dirty="0" err="1">
                <a:latin typeface="Acid" pitchFamily="50" charset="0"/>
              </a:rPr>
              <a:t>Monserate</a:t>
            </a:r>
            <a:r>
              <a:rPr lang="en-US" sz="2800" b="1" dirty="0">
                <a:latin typeface="Acid" pitchFamily="50" charset="0"/>
              </a:rPr>
              <a:t>  </a:t>
            </a:r>
            <a:r>
              <a:rPr lang="en-US" sz="2000" b="1" dirty="0">
                <a:latin typeface="Acid" pitchFamily="50" charset="0"/>
              </a:rPr>
              <a:t>(fore)</a:t>
            </a:r>
          </a:p>
        </p:txBody>
      </p:sp>
      <p:sp>
        <p:nvSpPr>
          <p:cNvPr id="23" name="Text Box 18"/>
          <p:cNvSpPr txBox="1">
            <a:spLocks noChangeArrowheads="1"/>
          </p:cNvSpPr>
          <p:nvPr/>
        </p:nvSpPr>
        <p:spPr bwMode="auto">
          <a:xfrm>
            <a:off x="3733800" y="5743575"/>
            <a:ext cx="373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 b="1">
                <a:latin typeface="Acid" pitchFamily="50" charset="0"/>
              </a:rPr>
              <a:t>Monserate  </a:t>
            </a:r>
            <a:r>
              <a:rPr lang="en-US" sz="2000" b="1">
                <a:latin typeface="Acid" pitchFamily="50" charset="0"/>
              </a:rPr>
              <a:t>(aft)</a:t>
            </a:r>
          </a:p>
        </p:txBody>
      </p:sp>
    </p:spTree>
    <p:extLst>
      <p:ext uri="{BB962C8B-B14F-4D97-AF65-F5344CB8AC3E}">
        <p14:creationId xmlns:p14="http://schemas.microsoft.com/office/powerpoint/2010/main" val="3521663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9316" name="Picture 4" descr="serepi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488" y="1011238"/>
            <a:ext cx="5915025" cy="4265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9317" name="Text Box 5"/>
          <p:cNvSpPr txBox="1">
            <a:spLocks noChangeArrowheads="1"/>
          </p:cNvSpPr>
          <p:nvPr/>
        </p:nvSpPr>
        <p:spPr bwMode="auto">
          <a:xfrm>
            <a:off x="1452563" y="5330825"/>
            <a:ext cx="6248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800" b="1" dirty="0">
                <a:solidFill>
                  <a:schemeClr val="accent2"/>
                </a:solidFill>
                <a:latin typeface="Acid" pitchFamily="50" charset="0"/>
              </a:rPr>
              <a:t>http://serepick.com</a:t>
            </a:r>
          </a:p>
          <a:p>
            <a:pPr algn="ctr"/>
            <a:r>
              <a:rPr lang="en-US" sz="2800" b="1" dirty="0">
                <a:solidFill>
                  <a:schemeClr val="bg1">
                    <a:lumMod val="65000"/>
                  </a:schemeClr>
                </a:solidFill>
                <a:latin typeface="Acid" pitchFamily="50" charset="0"/>
              </a:rPr>
              <a:t>Titanium Alloy… almost zero Magnetic Footprint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Bogota Picks for Operators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235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339" name="Picture 3" descr="inspecting diamo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213" y="1268413"/>
            <a:ext cx="6496050" cy="4703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When is a Diamond Not a Diamond</a:t>
            </a:r>
            <a:r>
              <a:rPr lang="en-US" sz="1000" dirty="0" smtClean="0"/>
              <a:t> </a:t>
            </a:r>
            <a:r>
              <a:rPr lang="en-US" sz="2800" b="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?</a:t>
            </a:r>
            <a:endParaRPr lang="en-US" sz="2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268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63" name="Picture 3" descr="picks - 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638" y="11430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1369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838" y="2471738"/>
            <a:ext cx="47625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When It</a:t>
            </a:r>
            <a:r>
              <a:rPr lang="en-US" sz="2800" b="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’</a:t>
            </a:r>
            <a:r>
              <a:rPr lang="en-US" dirty="0" smtClean="0"/>
              <a:t>s an Extractor 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74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7507" name="Picture 3" descr="picks - 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638" y="11430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7508" name="Picture 4" descr="picks - 0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13" y="21336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7509" name="Picture 5" descr="picks - 0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13" y="31242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7510" name="Picture 6" descr="picks - 0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13" y="41148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7511" name="Picture 7" descr="picks - 0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13" y="51054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Tool May Look At Home Here…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3024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8531" name="Picture 3" descr="picks - 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638" y="1143000"/>
            <a:ext cx="7313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18549" name="Group 21"/>
          <p:cNvGrpSpPr>
            <a:grpSpLocks/>
          </p:cNvGrpSpPr>
          <p:nvPr/>
        </p:nvGrpSpPr>
        <p:grpSpPr bwMode="auto">
          <a:xfrm>
            <a:off x="912813" y="2128838"/>
            <a:ext cx="7831137" cy="914400"/>
            <a:chOff x="575" y="1341"/>
            <a:chExt cx="4933" cy="576"/>
          </a:xfrm>
        </p:grpSpPr>
        <p:pic>
          <p:nvPicPr>
            <p:cNvPr id="918536" name="Picture 8" descr="picks - 10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5" y="1341"/>
              <a:ext cx="4607" cy="5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18540" name="Picture 12" descr="picks - 10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1" y="1341"/>
              <a:ext cx="4607" cy="5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18543" name="Group 15"/>
          <p:cNvGrpSpPr>
            <a:grpSpLocks/>
          </p:cNvGrpSpPr>
          <p:nvPr/>
        </p:nvGrpSpPr>
        <p:grpSpPr bwMode="auto">
          <a:xfrm>
            <a:off x="912813" y="3124200"/>
            <a:ext cx="7696200" cy="915988"/>
            <a:chOff x="575" y="1968"/>
            <a:chExt cx="4848" cy="577"/>
          </a:xfrm>
        </p:grpSpPr>
        <p:pic>
          <p:nvPicPr>
            <p:cNvPr id="918537" name="Picture 9" descr="picks - 10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5" y="1969"/>
              <a:ext cx="4607" cy="5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18542" name="Picture 14" descr="picks - 10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" y="1968"/>
              <a:ext cx="4607" cy="5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18546" name="Group 18"/>
          <p:cNvGrpSpPr>
            <a:grpSpLocks/>
          </p:cNvGrpSpPr>
          <p:nvPr/>
        </p:nvGrpSpPr>
        <p:grpSpPr bwMode="auto">
          <a:xfrm>
            <a:off x="912813" y="4113213"/>
            <a:ext cx="7696200" cy="915987"/>
            <a:chOff x="575" y="2591"/>
            <a:chExt cx="4848" cy="577"/>
          </a:xfrm>
        </p:grpSpPr>
        <p:pic>
          <p:nvPicPr>
            <p:cNvPr id="918538" name="Picture 10" descr="picks - 10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5" y="2591"/>
              <a:ext cx="4607" cy="5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18544" name="Picture 16" descr="picks - 10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" y="2592"/>
              <a:ext cx="4607" cy="5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18548" name="Group 20"/>
          <p:cNvGrpSpPr>
            <a:grpSpLocks/>
          </p:cNvGrpSpPr>
          <p:nvPr/>
        </p:nvGrpSpPr>
        <p:grpSpPr bwMode="auto">
          <a:xfrm>
            <a:off x="912813" y="5108575"/>
            <a:ext cx="7621587" cy="915988"/>
            <a:chOff x="575" y="3218"/>
            <a:chExt cx="4801" cy="577"/>
          </a:xfrm>
        </p:grpSpPr>
        <p:pic>
          <p:nvPicPr>
            <p:cNvPr id="918539" name="Picture 11" descr="picks - 10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5" y="3218"/>
              <a:ext cx="4607" cy="5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18547" name="Picture 19" descr="picks - 10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" y="3219"/>
              <a:ext cx="4607" cy="5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… But Its Closest Relatives are </a:t>
            </a:r>
            <a:r>
              <a:rPr lang="en-US" i="1" dirty="0" smtClean="0"/>
              <a:t>Here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7225804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2387" name="Picture 3" descr="unecessary ki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01738"/>
            <a:ext cx="8077200" cy="490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Do You </a:t>
            </a:r>
            <a:r>
              <a:rPr lang="en-US" i="1" dirty="0" smtClean="0"/>
              <a:t>Really</a:t>
            </a:r>
            <a:r>
              <a:rPr lang="en-US" dirty="0" smtClean="0"/>
              <a:t> Need In Your Kit</a:t>
            </a:r>
            <a:r>
              <a:rPr lang="en-US" sz="1000" dirty="0" smtClean="0"/>
              <a:t> </a:t>
            </a:r>
            <a:r>
              <a:rPr lang="en-US" sz="2800" b="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?</a:t>
            </a:r>
            <a:endParaRPr lang="en-US" sz="2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5980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3411" name="Picture 3" descr="pick kit - 01 - basic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066800"/>
            <a:ext cx="670560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Typical Pick Kit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242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9555" name="Picture 3" descr="pick kit - 02 - basic suppli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028700"/>
            <a:ext cx="6781800" cy="508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Typical Pick Assortment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94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0579" name="Picture 3" descr="pick kit - 03 - smal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1042988"/>
            <a:ext cx="670560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Getting More Efficient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1991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03" name="Picture 3" descr="pick kit - 04 - hu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8" y="1714500"/>
            <a:ext cx="8915400" cy="334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Having a Place for Everything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992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3651" name="Picture 3" descr="pick kit - 05 - walle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2013"/>
            <a:ext cx="9144000" cy="421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652" name="Picture 4" descr="titanium bogota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3800" y="4957763"/>
            <a:ext cx="4441825" cy="141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Everyday Carry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0175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46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4238" y="1085850"/>
            <a:ext cx="4740275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</a:t>
            </a:r>
            <a:r>
              <a:rPr lang="en-US" sz="2800" b="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’</a:t>
            </a:r>
            <a:r>
              <a:rPr lang="en-US" dirty="0" smtClean="0"/>
              <a:t>m Not This Guy…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11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6723" name="Picture 3" descr="bruce_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1076325"/>
            <a:ext cx="5715000" cy="5110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Don</a:t>
            </a:r>
            <a:r>
              <a:rPr lang="en-US" sz="2800" b="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’</a:t>
            </a:r>
            <a:r>
              <a:rPr lang="en-US" dirty="0" smtClean="0"/>
              <a:t>t Take What I Say as Gospel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756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700" name="Picture 4" descr="bruce_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675" y="1077913"/>
            <a:ext cx="5749925" cy="514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“Don</a:t>
            </a:r>
            <a:r>
              <a:rPr lang="en-US" sz="2800" b="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’</a:t>
            </a:r>
            <a:r>
              <a:rPr lang="en-US" dirty="0" smtClean="0"/>
              <a:t>t Believe Everything I Say”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7150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628" name="Picture 4" descr="budd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0" y="1033463"/>
            <a:ext cx="508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</a:t>
            </a:r>
            <a:r>
              <a:rPr lang="en-US" sz="2800" b="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’</a:t>
            </a:r>
            <a:r>
              <a:rPr lang="en-US" dirty="0" smtClean="0"/>
              <a:t>s All About You…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7850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7747" name="Picture 3" descr="budd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0" y="1033463"/>
            <a:ext cx="508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8747125" algn="r"/>
              </a:tabLst>
            </a:pPr>
            <a:r>
              <a:rPr lang="en-US" dirty="0"/>
              <a:t>It</a:t>
            </a:r>
            <a:r>
              <a:rPr lang="en-US" sz="2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’</a:t>
            </a:r>
            <a:r>
              <a:rPr lang="en-US" dirty="0"/>
              <a:t>s All About You</a:t>
            </a:r>
            <a:r>
              <a:rPr lang="en-US" dirty="0" smtClean="0"/>
              <a:t>…	… and It</a:t>
            </a:r>
            <a:r>
              <a:rPr lang="en-US" sz="2800" b="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’</a:t>
            </a:r>
            <a:r>
              <a:rPr lang="en-US" dirty="0" smtClean="0"/>
              <a:t>s All Good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487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991" name="Text Box 15"/>
          <p:cNvSpPr txBox="1">
            <a:spLocks noChangeArrowheads="1"/>
          </p:cNvSpPr>
          <p:nvPr/>
        </p:nvSpPr>
        <p:spPr bwMode="auto">
          <a:xfrm>
            <a:off x="152400" y="5257800"/>
            <a:ext cx="8763000" cy="1062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Bef>
                <a:spcPct val="50000"/>
              </a:spcBef>
            </a:pPr>
            <a:r>
              <a:rPr lang="en-US" sz="2400" b="1" dirty="0">
                <a:solidFill>
                  <a:schemeClr val="accent2"/>
                </a:solidFill>
                <a:latin typeface="Acid" pitchFamily="50" charset="0"/>
              </a:rPr>
              <a:t>http://deviating.net          http://enterthecore.net           http://toool.us</a:t>
            </a:r>
          </a:p>
          <a:p>
            <a:pPr algn="ctr">
              <a:lnSpc>
                <a:spcPct val="130000"/>
              </a:lnSpc>
              <a:spcBef>
                <a:spcPct val="50000"/>
              </a:spcBef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Acid" pitchFamily="50" charset="0"/>
              </a:rPr>
              <a:t>thank you to TOOOL, John King, Schuyler, Matt Fiddler, </a:t>
            </a:r>
            <a:r>
              <a:rPr lang="en-US" b="1" dirty="0" err="1">
                <a:solidFill>
                  <a:schemeClr val="bg1">
                    <a:lumMod val="65000"/>
                  </a:schemeClr>
                </a:solidFill>
                <a:latin typeface="Acid" pitchFamily="50" charset="0"/>
              </a:rPr>
              <a:t>Raimundo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Acid" pitchFamily="50" charset="0"/>
              </a:rPr>
              <a:t>, &amp; the sport picking community</a:t>
            </a:r>
          </a:p>
        </p:txBody>
      </p:sp>
      <p:sp>
        <p:nvSpPr>
          <p:cNvPr id="766996" name="Rectangle 20"/>
          <p:cNvSpPr>
            <a:spLocks noChangeArrowheads="1"/>
          </p:cNvSpPr>
          <p:nvPr/>
        </p:nvSpPr>
        <p:spPr bwMode="auto">
          <a:xfrm>
            <a:off x="6281738" y="6491287"/>
            <a:ext cx="2819400" cy="366713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6993" name="Text Box 17"/>
          <p:cNvSpPr txBox="1">
            <a:spLocks noChangeArrowheads="1"/>
          </p:cNvSpPr>
          <p:nvPr/>
        </p:nvSpPr>
        <p:spPr bwMode="auto">
          <a:xfrm>
            <a:off x="2100263" y="6458237"/>
            <a:ext cx="4953000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95000"/>
              </a:lnSpc>
              <a:spcBef>
                <a:spcPct val="50000"/>
              </a:spcBef>
            </a:pPr>
            <a:r>
              <a:rPr lang="en-US" sz="1200" b="1" dirty="0">
                <a:solidFill>
                  <a:schemeClr val="bg2"/>
                </a:solidFill>
                <a:latin typeface="Acid" pitchFamily="50" charset="0"/>
              </a:rPr>
              <a:t>this </a:t>
            </a:r>
            <a:r>
              <a:rPr lang="en-US" sz="1200" b="1" dirty="0" smtClean="0">
                <a:solidFill>
                  <a:schemeClr val="bg2"/>
                </a:solidFill>
                <a:latin typeface="Acid" pitchFamily="50" charset="0"/>
              </a:rPr>
              <a:t>presentation </a:t>
            </a:r>
            <a:r>
              <a:rPr lang="en-US" sz="1200" b="1" dirty="0">
                <a:solidFill>
                  <a:schemeClr val="bg2"/>
                </a:solidFill>
                <a:latin typeface="Acid" pitchFamily="50" charset="0"/>
              </a:rPr>
              <a:t>is </a:t>
            </a:r>
            <a:r>
              <a:rPr lang="en-US" sz="1200" b="1" dirty="0" err="1">
                <a:solidFill>
                  <a:schemeClr val="bg2"/>
                </a:solidFill>
                <a:latin typeface="Acid" pitchFamily="50" charset="0"/>
              </a:rPr>
              <a:t>CopyLeft</a:t>
            </a:r>
            <a:r>
              <a:rPr lang="en-US" sz="1200" b="1" dirty="0">
                <a:solidFill>
                  <a:schemeClr val="bg2"/>
                </a:solidFill>
                <a:latin typeface="Acid" pitchFamily="50" charset="0"/>
              </a:rPr>
              <a:t> by Deviant Ollam.  you are free to reuse any or all of</a:t>
            </a:r>
            <a:br>
              <a:rPr lang="en-US" sz="1200" b="1" dirty="0">
                <a:solidFill>
                  <a:schemeClr val="bg2"/>
                </a:solidFill>
                <a:latin typeface="Acid" pitchFamily="50" charset="0"/>
              </a:rPr>
            </a:br>
            <a:r>
              <a:rPr lang="en-US" sz="1200" b="1" dirty="0">
                <a:solidFill>
                  <a:schemeClr val="bg2"/>
                </a:solidFill>
                <a:latin typeface="Acid" pitchFamily="50" charset="0"/>
              </a:rPr>
              <a:t>this material as long as it is attributed and freedom for other s to do the same is maintained</a:t>
            </a:r>
          </a:p>
        </p:txBody>
      </p:sp>
      <p:pic>
        <p:nvPicPr>
          <p:cNvPr id="766998" name="Picture 22" descr="open!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263" y="977900"/>
            <a:ext cx="7467600" cy="4148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 All Comes Down To “Open</a:t>
            </a:r>
            <a:r>
              <a:rPr lang="en-US" sz="2800" b="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!</a:t>
            </a:r>
            <a:r>
              <a:rPr lang="en-US" dirty="0" smtClean="0"/>
              <a:t>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2033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00000"/>
      </a:hlink>
      <a:folHlink>
        <a:srgbClr val="C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4558</TotalTime>
  <Words>745</Words>
  <Application>Microsoft Office PowerPoint</Application>
  <PresentationFormat>On-screen Show (4:3)</PresentationFormat>
  <Paragraphs>191</Paragraphs>
  <Slides>75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6" baseType="lpstr">
      <vt:lpstr>Office Theme</vt:lpstr>
      <vt:lpstr>Distinguishing Picks</vt:lpstr>
      <vt:lpstr>Lockpicking Tools Can Be Confusing</vt:lpstr>
      <vt:lpstr>There are many lockpick vendors…</vt:lpstr>
      <vt:lpstr>There are many lockpick vendors…</vt:lpstr>
      <vt:lpstr>There are many lockpick vendors…</vt:lpstr>
      <vt:lpstr>Selling many lockpicking tools</vt:lpstr>
      <vt:lpstr>First, let’s talk about metal…</vt:lpstr>
      <vt:lpstr>Spring Steel</vt:lpstr>
      <vt:lpstr>Stainless Steel</vt:lpstr>
      <vt:lpstr>Titanium</vt:lpstr>
      <vt:lpstr>Other Metals ?</vt:lpstr>
      <vt:lpstr>Thickness</vt:lpstr>
      <vt:lpstr>“Standard” vs. “Euro”</vt:lpstr>
      <vt:lpstr>“Standard” vs. “Euro”</vt:lpstr>
      <vt:lpstr>“Standard” vs. “Euro”</vt:lpstr>
      <vt:lpstr>“Standard” vs. “Euro”</vt:lpstr>
      <vt:lpstr>The real confusing mess… Categories &amp; Names</vt:lpstr>
      <vt:lpstr>What would you call these ?</vt:lpstr>
      <vt:lpstr>Hooks (a.k.a. Lifters)</vt:lpstr>
      <vt:lpstr>Hooks (a.k.a. Lifters)</vt:lpstr>
      <vt:lpstr>Hooks (a.k.a. Lifters)</vt:lpstr>
      <vt:lpstr>Hooks (a.k.a. Lifters)</vt:lpstr>
      <vt:lpstr>What would you call these ?</vt:lpstr>
      <vt:lpstr>Reach Tools</vt:lpstr>
      <vt:lpstr>You’ve all seen these…</vt:lpstr>
      <vt:lpstr>Diamonds</vt:lpstr>
      <vt:lpstr>Diamonds</vt:lpstr>
      <vt:lpstr>Diamonds</vt:lpstr>
      <vt:lpstr>Diamonds</vt:lpstr>
      <vt:lpstr>How would you categorize these…?</vt:lpstr>
      <vt:lpstr>Offset Tools</vt:lpstr>
      <vt:lpstr>Offset Tools</vt:lpstr>
      <vt:lpstr>Offset Tools</vt:lpstr>
      <vt:lpstr>Balls, balls, balls…</vt:lpstr>
      <vt:lpstr>Balls, balls, balls…</vt:lpstr>
      <vt:lpstr>Balls, balls, balls…</vt:lpstr>
      <vt:lpstr>Balls, balls, balls…</vt:lpstr>
      <vt:lpstr>What would you call these ?</vt:lpstr>
      <vt:lpstr>Raking tools… Welcome to Crazy Land</vt:lpstr>
      <vt:lpstr>Raking Tools</vt:lpstr>
      <vt:lpstr>Raking Tools</vt:lpstr>
      <vt:lpstr>What about something like this…</vt:lpstr>
      <vt:lpstr>“Raking” vs. “Lifting”</vt:lpstr>
      <vt:lpstr>Raking</vt:lpstr>
      <vt:lpstr>Raking</vt:lpstr>
      <vt:lpstr>Lifting</vt:lpstr>
      <vt:lpstr>Jagged Lifters</vt:lpstr>
      <vt:lpstr>So, what on earth are these ?</vt:lpstr>
      <vt:lpstr>King &amp; Queen</vt:lpstr>
      <vt:lpstr>A major innovation in pick tools</vt:lpstr>
      <vt:lpstr>Raimundo’s Family of Tools</vt:lpstr>
      <vt:lpstr>It Started with Two Tools…</vt:lpstr>
      <vt:lpstr>What is Jiggling ?</vt:lpstr>
      <vt:lpstr>What is Jiggling ?</vt:lpstr>
      <vt:lpstr>Bogota Family</vt:lpstr>
      <vt:lpstr>Bogota Family</vt:lpstr>
      <vt:lpstr>Bogota Family</vt:lpstr>
      <vt:lpstr>Bogota Family</vt:lpstr>
      <vt:lpstr>Bogota Picks for Operators</vt:lpstr>
      <vt:lpstr>When is a Diamond Not a Diamond ?</vt:lpstr>
      <vt:lpstr>When It’s an Extractor Tool</vt:lpstr>
      <vt:lpstr>This Tool May Look At Home Here…</vt:lpstr>
      <vt:lpstr>… But Its Closest Relatives are Here</vt:lpstr>
      <vt:lpstr>What Do You Really Need In Your Kit ?</vt:lpstr>
      <vt:lpstr>Typical Pick Kit</vt:lpstr>
      <vt:lpstr>Typical Pick Assortment</vt:lpstr>
      <vt:lpstr>Getting More Efficient</vt:lpstr>
      <vt:lpstr>Having a Place for Everything</vt:lpstr>
      <vt:lpstr>Everyday Carry</vt:lpstr>
      <vt:lpstr>I’m Not This Guy…</vt:lpstr>
      <vt:lpstr>Don’t Take What I Say as Gospel</vt:lpstr>
      <vt:lpstr>“Don’t Believe Everything I Say”</vt:lpstr>
      <vt:lpstr>It’s All About You…</vt:lpstr>
      <vt:lpstr>It’s All About You… … and It’s All Good</vt:lpstr>
      <vt:lpstr>It All Comes Down To “Open!”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Deviant</dc:creator>
  <cp:lastModifiedBy>Deviant</cp:lastModifiedBy>
  <cp:revision>167</cp:revision>
  <dcterms:created xsi:type="dcterms:W3CDTF">2011-01-16T19:27:14Z</dcterms:created>
  <dcterms:modified xsi:type="dcterms:W3CDTF">2011-09-12T08:42:53Z</dcterms:modified>
</cp:coreProperties>
</file>