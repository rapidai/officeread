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53" r:id="rId2"/>
    <p:sldMasterId id="2147483755" r:id="rId3"/>
    <p:sldMasterId id="2147483759" r:id="rId4"/>
  </p:sldMasterIdLst>
  <p:notesMasterIdLst>
    <p:notesMasterId r:id="rId23"/>
  </p:notesMasterIdLst>
  <p:handoutMasterIdLst>
    <p:handoutMasterId r:id="rId24"/>
  </p:handoutMasterIdLst>
  <p:sldIdLst>
    <p:sldId id="263" r:id="rId5"/>
    <p:sldId id="264" r:id="rId6"/>
    <p:sldId id="265" r:id="rId7"/>
    <p:sldId id="267" r:id="rId8"/>
    <p:sldId id="280" r:id="rId9"/>
    <p:sldId id="281" r:id="rId10"/>
    <p:sldId id="268" r:id="rId11"/>
    <p:sldId id="269" r:id="rId12"/>
    <p:sldId id="282" r:id="rId13"/>
    <p:sldId id="270" r:id="rId14"/>
    <p:sldId id="271" r:id="rId15"/>
    <p:sldId id="272" r:id="rId16"/>
    <p:sldId id="273" r:id="rId17"/>
    <p:sldId id="275" r:id="rId18"/>
    <p:sldId id="258" r:id="rId19"/>
    <p:sldId id="262" r:id="rId20"/>
    <p:sldId id="259" r:id="rId21"/>
    <p:sldId id="283" r:id="rId22"/>
  </p:sldIdLst>
  <p:sldSz cx="9144000" cy="6858000" type="screen4x3"/>
  <p:notesSz cx="7019925" cy="93059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99"/>
    <a:srgbClr val="DDDD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55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852"/>
    </p:cViewPr>
  </p:outlin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90" d="100"/>
          <a:sy n="90" d="100"/>
        </p:scale>
        <p:origin x="-960" y="-78"/>
      </p:cViewPr>
      <p:guideLst>
        <p:guide orient="horz" pos="2931"/>
        <p:guide pos="221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333" y="0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1881E719-62A3-484D-B3FD-A8C933FA614B}" type="datetimeFigureOut">
              <a:rPr lang="en-US" smtClean="0"/>
              <a:pPr/>
              <a:t>12/7/2010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333" y="8839014"/>
            <a:ext cx="3041968" cy="465296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01FA0287-9525-4813-94FB-E400C38EED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6333" y="0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993" y="4420315"/>
            <a:ext cx="5615940" cy="4187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6333" y="8839014"/>
            <a:ext cx="3041968" cy="46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F337BB7C-DC20-4BA3-A79D-454CB408E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0" y="4195762"/>
            <a:ext cx="7019925" cy="5110163"/>
          </a:xfrm>
        </p:spPr>
        <p:txBody>
          <a:bodyPr>
            <a:normAutofit/>
          </a:bodyPr>
          <a:lstStyle/>
          <a:p>
            <a:endParaRPr lang="en-US" sz="25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" y="4348162"/>
            <a:ext cx="7019924" cy="4724399"/>
          </a:xfrm>
        </p:spPr>
        <p:txBody>
          <a:bodyPr>
            <a:noAutofit/>
          </a:bodyPr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37BB7C-DC20-4BA3-A79D-454CB408EB1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FF7BC-0589-45B1-841D-7EDC6D08645F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10243" name="Rectangle 7"/>
          <p:cNvSpPr txBox="1">
            <a:spLocks noGrp="1" noChangeArrowheads="1"/>
          </p:cNvSpPr>
          <p:nvPr/>
        </p:nvSpPr>
        <p:spPr bwMode="auto">
          <a:xfrm>
            <a:off x="3977654" y="8838168"/>
            <a:ext cx="3040749" cy="466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540" tIns="46269" rIns="92540" bIns="46269" anchor="b"/>
          <a:lstStyle/>
          <a:p>
            <a:pPr algn="r" defTabSz="925253"/>
            <a:fld id="{FDB506B8-6AD6-4049-8585-47CCD1B42602}" type="slidenum">
              <a:rPr lang="en-US" sz="1300">
                <a:latin typeface="Times New Roman" pitchFamily="18" charset="0"/>
              </a:rPr>
              <a:pPr algn="r" defTabSz="925253"/>
              <a:t>18</a:t>
            </a:fld>
            <a:endParaRPr lang="en-US" sz="1300" dirty="0">
              <a:latin typeface="Times New Roman" pitchFamily="18" charset="0"/>
            </a:endParaRPr>
          </a:p>
        </p:txBody>
      </p:sp>
      <p:sp>
        <p:nvSpPr>
          <p:cNvPr id="102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698500"/>
            <a:ext cx="4649787" cy="3489325"/>
          </a:xfrm>
          <a:ln/>
        </p:spPr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774" y="4420624"/>
            <a:ext cx="5618377" cy="4186742"/>
          </a:xfrm>
          <a:noFill/>
          <a:ln/>
        </p:spPr>
        <p:txBody>
          <a:bodyPr lIns="92540" tIns="46269" rIns="92540" bIns="46269"/>
          <a:lstStyle/>
          <a:p>
            <a:r>
              <a:rPr lang="en-US" dirty="0" smtClean="0"/>
              <a:t>Ryan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verne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810000"/>
            <a:ext cx="4573588" cy="1295400"/>
          </a:xfrm>
        </p:spPr>
        <p:txBody>
          <a:bodyPr/>
          <a:lstStyle>
            <a:lvl1pPr marL="0" indent="5080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07975" y="2511425"/>
            <a:ext cx="4570413" cy="1143000"/>
          </a:xfrm>
        </p:spPr>
        <p:txBody>
          <a:bodyPr anchor="b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A27C6-AE53-48E8-ADB9-4CFF72E38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E132F-7EE8-4707-AA01-B4D081BB9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143000"/>
            <a:ext cx="43053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3053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8DEED-D474-4AF8-94CC-F37D86426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F0427-C742-4566-AFB3-6E8AF7FFDC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A3BB1-796A-4260-AC5E-318881A0DF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FE7F9-7A1A-42E7-BA39-DC726EB3E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323DB-24A7-4FD1-9EE1-2A19B90E3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D5752-2122-470F-BA45-50B4790F3B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705B0-A245-482B-A666-47005D0C4B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27BD2-6C29-4FD5-856B-12FF1F57F4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848600" cy="7842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143000"/>
            <a:ext cx="8763000" cy="5029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24B974-7B63-4FF3-94B8-C8606CC58C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-63500"/>
            <a:ext cx="5130800" cy="7334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977900"/>
            <a:ext cx="8763000" cy="5029200"/>
          </a:xfrm>
        </p:spPr>
        <p:txBody>
          <a:bodyPr/>
          <a:lstStyle>
            <a:lvl3pPr marL="1206500" indent="-295275">
              <a:defRPr/>
            </a:lvl3pPr>
            <a:lvl4pPr marL="1663700" indent="-292100">
              <a:defRPr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A27C6-AE53-48E8-ADB9-4CFF72E382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76200"/>
            <a:ext cx="4902200" cy="454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200" y="977900"/>
            <a:ext cx="4279900" cy="5029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977900"/>
            <a:ext cx="4305300" cy="5029200"/>
          </a:xfrm>
        </p:spPr>
        <p:txBody>
          <a:bodyPr/>
          <a:lstStyle>
            <a:lvl1pPr>
              <a:defRPr sz="2200"/>
            </a:lvl1pPr>
            <a:lvl2pPr marL="749300" indent="-292100">
              <a:defRPr sz="2000"/>
            </a:lvl2pPr>
            <a:lvl3pPr marL="1092200" indent="-295275">
              <a:defRPr sz="1800"/>
            </a:lvl3pPr>
            <a:lvl4pPr marL="1320800" indent="-292100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8DEED-D474-4AF8-94CC-F37D86426D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3810000"/>
            <a:ext cx="4573588" cy="1295400"/>
          </a:xfrm>
        </p:spPr>
        <p:txBody>
          <a:bodyPr/>
          <a:lstStyle>
            <a:lvl1pPr marL="0" indent="5080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07975" y="2511425"/>
            <a:ext cx="4570413" cy="1143000"/>
          </a:xfrm>
        </p:spPr>
        <p:txBody>
          <a:bodyPr anchor="b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-63500"/>
            <a:ext cx="5130800" cy="7334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977900"/>
            <a:ext cx="8763000" cy="5029200"/>
          </a:xfrm>
        </p:spPr>
        <p:txBody>
          <a:bodyPr/>
          <a:lstStyle>
            <a:lvl3pPr marL="1206500" indent="-295275">
              <a:defRPr/>
            </a:lvl3pPr>
            <a:lvl4pPr marL="1663700" indent="-292100">
              <a:defRPr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A27C6-AE53-48E8-ADB9-4CFF72E382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FE7F9-7A1A-42E7-BA39-DC726EB3EC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-63500"/>
            <a:ext cx="5130800" cy="7334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977900"/>
            <a:ext cx="8763000" cy="5029200"/>
          </a:xfrm>
        </p:spPr>
        <p:txBody>
          <a:bodyPr/>
          <a:lstStyle>
            <a:lvl3pPr marL="1206500" indent="-295275">
              <a:defRPr/>
            </a:lvl3pPr>
            <a:lvl4pPr marL="1663700" indent="-292100">
              <a:defRPr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A27C6-AE53-48E8-ADB9-4CFF72E382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76200"/>
            <a:ext cx="4902200" cy="454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200" y="977900"/>
            <a:ext cx="4279900" cy="50292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977900"/>
            <a:ext cx="4305300" cy="5029200"/>
          </a:xfrm>
        </p:spPr>
        <p:txBody>
          <a:bodyPr/>
          <a:lstStyle>
            <a:lvl1pPr>
              <a:defRPr sz="2200"/>
            </a:lvl1pPr>
            <a:lvl2pPr marL="749300" indent="-292100">
              <a:defRPr sz="2000"/>
            </a:lvl2pPr>
            <a:lvl3pPr marL="1092200" indent="-295275">
              <a:defRPr sz="1800"/>
            </a:lvl3pPr>
            <a:lvl4pPr marL="1320800" indent="-292100"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8DEED-D474-4AF8-94CC-F37D86426D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21599744" flipH="1"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78486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4008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1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58261C3D-4D6E-47D3-B606-78847A0CD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234363" y="152400"/>
            <a:ext cx="7397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+mj-lt"/>
          <a:ea typeface="+mj-ea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  <a:cs typeface="ＭＳ Ｐゴシック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9" charset="-128"/>
        </a:defRPr>
      </a:lvl9pPr>
    </p:titleStyle>
    <p:bodyStyle>
      <a:lvl1pPr marL="234950" indent="-1841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600">
          <a:solidFill>
            <a:schemeClr val="tx1"/>
          </a:solidFill>
          <a:latin typeface="+mn-lt"/>
          <a:ea typeface="+mn-ea"/>
          <a:cs typeface="ＭＳ Ｐゴシック"/>
        </a:defRPr>
      </a:lvl1pPr>
      <a:lvl2pPr marL="568325" indent="-2190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2400">
          <a:solidFill>
            <a:schemeClr val="tx1"/>
          </a:solidFill>
          <a:latin typeface="+mn-lt"/>
          <a:ea typeface="+mn-ea"/>
          <a:cs typeface="ＭＳ Ｐゴシック"/>
        </a:defRPr>
      </a:lvl2pPr>
      <a:lvl3pPr marL="914400" indent="-2317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  <a:ea typeface="+mn-ea"/>
          <a:cs typeface="ＭＳ Ｐゴシック"/>
        </a:defRPr>
      </a:lvl3pPr>
      <a:lvl4pPr marL="1262063" indent="-2317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>
          <a:solidFill>
            <a:schemeClr val="tx1"/>
          </a:solidFill>
          <a:latin typeface="+mn-lt"/>
          <a:ea typeface="+mn-ea"/>
          <a:cs typeface="ＭＳ Ｐゴシック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ＭＳ Ｐゴシック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58261C3D-4D6E-47D3-B606-78847A0CDBF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 flipV="1">
            <a:off x="279400" y="542925"/>
            <a:ext cx="7842250" cy="25400"/>
          </a:xfrm>
          <a:prstGeom prst="line">
            <a:avLst/>
          </a:prstGeom>
          <a:noFill/>
          <a:ln w="12700">
            <a:solidFill>
              <a:srgbClr val="00004D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pic>
        <p:nvPicPr>
          <p:cNvPr id="1032" name="Picture 12" descr="CMClogotype.eps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5413" y="701675"/>
            <a:ext cx="2794000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mariner's star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77213" y="150813"/>
            <a:ext cx="776287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2700000" rotWithShape="0">
              <a:srgbClr val="808080">
                <a:alpha val="42998"/>
              </a:srgbClr>
            </a:outerShdw>
          </a:effectLst>
        </p:spPr>
      </p:pic>
      <p:pic>
        <p:nvPicPr>
          <p:cNvPr id="10" name="Picture 10" descr="layerbe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599744" flipH="1"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34363" y="152400"/>
            <a:ext cx="7397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MS PGothic" pitchFamily="34" charset="-128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MS PGothic" pitchFamily="34" charset="-128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MS PGothic" pitchFamily="34" charset="-128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MS PGothic" pitchFamily="34" charset="-128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MS PGothic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layerbent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21599744" flipH="1">
            <a:off x="0" y="4216400"/>
            <a:ext cx="91535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72644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-88900"/>
            <a:ext cx="20574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 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00" y="62865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262626"/>
                </a:solidFill>
                <a:latin typeface="Arial" pitchFamily="34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58261C3D-4D6E-47D3-B606-78847A0CDBF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 flipV="1">
            <a:off x="279400" y="542925"/>
            <a:ext cx="7842250" cy="25400"/>
          </a:xfrm>
          <a:prstGeom prst="line">
            <a:avLst/>
          </a:prstGeom>
          <a:noFill/>
          <a:ln w="12700">
            <a:solidFill>
              <a:srgbClr val="00004D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  <p:pic>
        <p:nvPicPr>
          <p:cNvPr id="1032" name="Picture 12" descr="CMClogotype.eps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205413" y="701675"/>
            <a:ext cx="2794000" cy="20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mariner's star.png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77213" y="150813"/>
            <a:ext cx="776287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2700000" rotWithShape="0">
              <a:srgbClr val="808080">
                <a:alpha val="42998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+mj-lt"/>
          <a:ea typeface="MS PGothic" pitchFamily="34" charset="-128"/>
          <a:cs typeface="ＭＳ Ｐゴシック" pitchFamily="-11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4D"/>
          </a:solidFill>
          <a:latin typeface="Arial" pitchFamily="34" charset="0"/>
          <a:ea typeface="MS PGothic" pitchFamily="34" charset="-128"/>
          <a:cs typeface="ＭＳ Ｐゴシック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pitchFamily="34" charset="0"/>
          <a:ea typeface="ＭＳ Ｐゴシック" pitchFamily="34" charset="-128"/>
        </a:defRPr>
      </a:lvl9pPr>
    </p:titleStyle>
    <p:bodyStyle>
      <a:lvl1pPr marL="3429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 sz="2200">
          <a:solidFill>
            <a:srgbClr val="393939"/>
          </a:solidFill>
          <a:latin typeface="+mn-lt"/>
          <a:ea typeface="MS PGothic" pitchFamily="34" charset="-128"/>
          <a:cs typeface="ＭＳ Ｐゴシック" pitchFamily="-110" charset="-128"/>
        </a:defRPr>
      </a:lvl1pPr>
      <a:lvl2pPr marL="8636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2000">
          <a:solidFill>
            <a:srgbClr val="393939"/>
          </a:solidFill>
          <a:latin typeface="+mn-lt"/>
          <a:ea typeface="MS PGothic" pitchFamily="34" charset="-128"/>
        </a:defRPr>
      </a:lvl2pPr>
      <a:lvl3pPr marL="1206500" indent="-295275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Char char="•"/>
        <a:defRPr>
          <a:solidFill>
            <a:srgbClr val="393939"/>
          </a:solidFill>
          <a:latin typeface="+mn-lt"/>
          <a:ea typeface="MS PGothic" pitchFamily="34" charset="-128"/>
        </a:defRPr>
      </a:lvl3pPr>
      <a:lvl4pPr marL="1549400" indent="-292100" algn="l" rtl="0" eaLnBrk="1" fontAlgn="base" hangingPunct="1">
        <a:lnSpc>
          <a:spcPts val="2850"/>
        </a:lnSpc>
        <a:spcBef>
          <a:spcPct val="20000"/>
        </a:spcBef>
        <a:spcAft>
          <a:spcPct val="0"/>
        </a:spcAft>
        <a:buClr>
          <a:srgbClr val="393939"/>
        </a:buClr>
        <a:buFont typeface="Arial" charset="0"/>
        <a:buChar char="–"/>
        <a:defRPr sz="1600">
          <a:solidFill>
            <a:srgbClr val="393939"/>
          </a:solidFill>
          <a:latin typeface="+mn-lt"/>
          <a:ea typeface="MS PGothic" pitchFamily="34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0" descr="layerbent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21599744" flipH="1"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143000"/>
            <a:ext cx="8763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784860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" y="6248400"/>
            <a:ext cx="5105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400800"/>
            <a:ext cx="3810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1">
                <a:solidFill>
                  <a:schemeClr val="bg1"/>
                </a:solidFill>
                <a:ea typeface="+mn-ea"/>
              </a:defRPr>
            </a:lvl1pPr>
          </a:lstStyle>
          <a:p>
            <a:pPr>
              <a:defRPr/>
            </a:pPr>
            <a:fld id="{58261C3D-4D6E-47D3-B606-78847A0CDBF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175" name="Picture 6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34363" y="152400"/>
            <a:ext cx="7397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2" r:id="rId2"/>
    <p:sldLayoutId id="2147483763" r:id="rId3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113C9B"/>
          </a:solidFill>
          <a:latin typeface="Arial" charset="0"/>
          <a:ea typeface="ＭＳ Ｐゴシック" pitchFamily="-107" charset="-128"/>
        </a:defRPr>
      </a:lvl9pPr>
    </p:titleStyle>
    <p:bodyStyle>
      <a:lvl1pPr marL="234950" indent="-1841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68325" indent="-2190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914400" indent="-2317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  <a:ea typeface="+mn-ea"/>
        </a:defRPr>
      </a:lvl3pPr>
      <a:lvl4pPr marL="1262063" indent="-2317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ivicventures.org/" TargetMode="External"/><Relationship Id="rId13" Type="http://schemas.openxmlformats.org/officeDocument/2006/relationships/hyperlink" Target="http://www.soar-ma.org/" TargetMode="External"/><Relationship Id="rId3" Type="http://schemas.openxmlformats.org/officeDocument/2006/relationships/hyperlink" Target="http://www.encore.org/" TargetMode="External"/><Relationship Id="rId7" Type="http://schemas.openxmlformats.org/officeDocument/2006/relationships/hyperlink" Target="http://www.aarp.org/money" TargetMode="External"/><Relationship Id="rId12" Type="http://schemas.openxmlformats.org/officeDocument/2006/relationships/hyperlink" Target="http://www.unca.edu/ncccr/NCCCR/about.cf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www.aarp.org/careers" TargetMode="External"/><Relationship Id="rId11" Type="http://schemas.openxmlformats.org/officeDocument/2006/relationships/hyperlink" Target="http://www.workforce50.com/" TargetMode="External"/><Relationship Id="rId5" Type="http://schemas.openxmlformats.org/officeDocument/2006/relationships/hyperlink" Target="http://www.aarp.org/about%20aarp/community_service" TargetMode="External"/><Relationship Id="rId10" Type="http://schemas.openxmlformats.org/officeDocument/2006/relationships/hyperlink" Target="http://www.idealist.org/" TargetMode="External"/><Relationship Id="rId4" Type="http://schemas.openxmlformats.org/officeDocument/2006/relationships/hyperlink" Target="http://agingandwork.bc.edu/" TargetMode="External"/><Relationship Id="rId9" Type="http://schemas.openxmlformats.org/officeDocument/2006/relationships/hyperlink" Target="http://www.discoveringwhatsnext.org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irdagecenter.com/" TargetMode="External"/><Relationship Id="rId7" Type="http://schemas.openxmlformats.org/officeDocument/2006/relationships/hyperlink" Target="http://www.2young2retire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www.retirementoptions.com/" TargetMode="External"/><Relationship Id="rId5" Type="http://schemas.openxmlformats.org/officeDocument/2006/relationships/hyperlink" Target="http://www.inventuregroup.com/" TargetMode="External"/><Relationship Id="rId4" Type="http://schemas.openxmlformats.org/officeDocument/2006/relationships/hyperlink" Target="http://www.hudsoninstitute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Alumni-careers@duke.edu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04800" y="3657600"/>
            <a:ext cx="4573588" cy="1295400"/>
          </a:xfrm>
        </p:spPr>
        <p:txBody>
          <a:bodyPr/>
          <a:lstStyle/>
          <a:p>
            <a:pPr algn="ctr"/>
            <a:r>
              <a:rPr lang="en-US" sz="2000" dirty="0" smtClean="0"/>
              <a:t>Fuqua Career Management Center</a:t>
            </a:r>
          </a:p>
          <a:p>
            <a:pPr algn="ctr"/>
            <a:r>
              <a:rPr lang="en-US" sz="1700" dirty="0" smtClean="0"/>
              <a:t>November 18, 2010 </a:t>
            </a:r>
          </a:p>
          <a:p>
            <a:pPr algn="ctr"/>
            <a:endParaRPr lang="en-US" sz="1700" dirty="0" smtClean="0"/>
          </a:p>
          <a:p>
            <a:pPr algn="ctr"/>
            <a:r>
              <a:rPr lang="en-US" sz="2000" dirty="0" smtClean="0"/>
              <a:t>Lisa Schwartz</a:t>
            </a:r>
          </a:p>
          <a:p>
            <a:pPr algn="ctr"/>
            <a:r>
              <a:rPr lang="en-US" sz="2000" dirty="0" smtClean="0"/>
              <a:t>Associate Director</a:t>
            </a:r>
          </a:p>
          <a:p>
            <a:pPr algn="ctr"/>
            <a:r>
              <a:rPr lang="en-US" sz="2000" dirty="0" smtClean="0"/>
              <a:t>Student &amp; Alumni Career Services 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07975" y="2362200"/>
            <a:ext cx="5711825" cy="1143000"/>
          </a:xfrm>
        </p:spPr>
        <p:txBody>
          <a:bodyPr/>
          <a:lstStyle/>
          <a:p>
            <a:pPr algn="ctr"/>
            <a:r>
              <a:rPr lang="en-US" dirty="0" smtClean="0"/>
              <a:t>Career Change and Re-Invention During the Later Stages              of Your Work Life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Maintain or Reinvent?</a:t>
            </a:r>
            <a:endParaRPr lang="en-US" dirty="0"/>
          </a:p>
        </p:txBody>
      </p:sp>
      <p:pic>
        <p:nvPicPr>
          <p:cNvPr id="4" name="Picture 4" descr="C:\Program Files\Common Files\Microsoft Shared\Clipart\cagcat50\bd04912_.wmf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124200" y="1066800"/>
            <a:ext cx="3200400" cy="3997888"/>
          </a:xfrm>
        </p:spPr>
      </p:pic>
      <p:sp>
        <p:nvSpPr>
          <p:cNvPr id="8" name="TextBox 7"/>
          <p:cNvSpPr txBox="1"/>
          <p:nvPr/>
        </p:nvSpPr>
        <p:spPr>
          <a:xfrm>
            <a:off x="76200" y="5105400"/>
            <a:ext cx="899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/>
              <a:t>Change happens when Pain exceeds the Fear of Uncertainty</a:t>
            </a:r>
            <a:endParaRPr lang="en-US" b="1" dirty="0" smtClean="0"/>
          </a:p>
          <a:p>
            <a:pPr algn="ctr"/>
            <a:r>
              <a:rPr lang="en-US" b="1" dirty="0" smtClean="0"/>
              <a:t> 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6019800" cy="454025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Proactive Career Management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Picture 23" descr="j00787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1676400"/>
            <a:ext cx="1622425" cy="3933825"/>
          </a:xfrm>
          <a:prstGeom prst="rect">
            <a:avLst/>
          </a:prstGeom>
          <a:noFill/>
        </p:spPr>
      </p:pic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685800" y="1600200"/>
            <a:ext cx="24971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b="1" dirty="0">
                <a:latin typeface="Arial" pitchFamily="34" charset="0"/>
              </a:rPr>
              <a:t>Who Am I?</a:t>
            </a:r>
          </a:p>
        </p:txBody>
      </p:sp>
      <p:sp>
        <p:nvSpPr>
          <p:cNvPr id="7" name="Rectangle 21"/>
          <p:cNvSpPr txBox="1">
            <a:spLocks noChangeArrowheads="1"/>
          </p:cNvSpPr>
          <p:nvPr/>
        </p:nvSpPr>
        <p:spPr bwMode="auto">
          <a:xfrm>
            <a:off x="685800" y="4267200"/>
            <a:ext cx="2743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234950" marR="0" lvl="0" indent="-18415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What Do I Have </a:t>
            </a:r>
          </a:p>
          <a:p>
            <a:pPr marL="234950" marR="0" lvl="0" indent="-18415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To Offer?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Text Box 24"/>
          <p:cNvSpPr txBox="1">
            <a:spLocks noChangeArrowheads="1"/>
          </p:cNvSpPr>
          <p:nvPr/>
        </p:nvSpPr>
        <p:spPr bwMode="auto">
          <a:xfrm>
            <a:off x="6400800" y="4343400"/>
            <a:ext cx="154882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Arial" pitchFamily="34" charset="0"/>
              </a:rPr>
              <a:t>How do I </a:t>
            </a:r>
          </a:p>
          <a:p>
            <a:r>
              <a:rPr lang="en-US" sz="2400" b="1" dirty="0" smtClean="0">
                <a:latin typeface="Arial" pitchFamily="34" charset="0"/>
              </a:rPr>
              <a:t>decide?</a:t>
            </a:r>
            <a:endParaRPr lang="en-US" sz="2400" b="1" dirty="0"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350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Where do I find opportunities</a:t>
            </a:r>
            <a:r>
              <a:rPr lang="en-US" sz="2400" dirty="0" smtClean="0"/>
              <a:t>?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 descr="j007862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371600"/>
            <a:ext cx="1295400" cy="3933825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676400" y="1143000"/>
            <a:ext cx="7391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Communicate achievements clearly </a:t>
            </a:r>
          </a:p>
          <a:p>
            <a:pPr marL="182563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accent4"/>
              </a:solidFill>
            </a:endParaRPr>
          </a:p>
          <a:p>
            <a:pPr marL="182563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Maintain keen awareness of strengths, weaknesses, &amp; values  </a:t>
            </a:r>
          </a:p>
          <a:p>
            <a:pPr marL="182563" lvl="0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accent4"/>
              </a:solidFill>
            </a:endParaRPr>
          </a:p>
          <a:p>
            <a:pPr marL="182563" lvl="0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Know what skills transfer to a new career</a:t>
            </a:r>
          </a:p>
          <a:p>
            <a:pPr marL="182563" lvl="0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accent4"/>
              </a:solidFill>
            </a:endParaRPr>
          </a:p>
          <a:p>
            <a:pPr marL="182563" lvl="0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Stay knowledgeable about market trends</a:t>
            </a:r>
          </a:p>
          <a:p>
            <a:pPr marL="182563" lvl="0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accent4"/>
              </a:solidFill>
            </a:endParaRPr>
          </a:p>
          <a:p>
            <a:pPr marL="182563" lvl="0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Keep an updated resume and career plan</a:t>
            </a:r>
          </a:p>
          <a:p>
            <a:pPr marL="182563" lvl="0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accent4"/>
              </a:solidFill>
            </a:endParaRPr>
          </a:p>
          <a:p>
            <a:pPr marL="182563" lvl="0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Cultivate and build networks</a:t>
            </a:r>
          </a:p>
          <a:p>
            <a:pPr marL="182563" lvl="0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accent4"/>
              </a:solidFill>
            </a:endParaRPr>
          </a:p>
          <a:p>
            <a:pPr marL="182563" lvl="0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Maintain visibility</a:t>
            </a:r>
          </a:p>
          <a:p>
            <a:pPr marL="182563" lvl="0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accent4"/>
              </a:solidFill>
            </a:endParaRPr>
          </a:p>
          <a:p>
            <a:pPr marL="182563" lvl="0" indent="-18288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accent4"/>
                </a:solidFill>
              </a:rPr>
              <a:t>Remain persistent despite setbacks</a:t>
            </a:r>
          </a:p>
          <a:p>
            <a:pPr marL="182563" lvl="0" indent="-182880">
              <a:buFont typeface="Arial" pitchFamily="34" charset="0"/>
              <a:buChar char="•"/>
            </a:pPr>
            <a:endParaRPr lang="en-US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0">
              <a:buFont typeface="Arial" pitchFamily="34" charset="0"/>
              <a:buChar char="•"/>
            </a:pPr>
            <a:endParaRPr lang="en-US" sz="2000" dirty="0" smtClean="0"/>
          </a:p>
          <a:p>
            <a:pPr lvl="0"/>
            <a:endParaRPr lang="en-US" sz="2000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2400" y="102513"/>
            <a:ext cx="7848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 smtClean="0">
                <a:solidFill>
                  <a:schemeClr val="tx2">
                    <a:lumMod val="75000"/>
                  </a:schemeClr>
                </a:solidFill>
              </a:rPr>
              <a:t>Success in the 21st century will require that you: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76200"/>
            <a:ext cx="7848600" cy="784225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Trends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Picture 8" descr="j007862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881062"/>
            <a:ext cx="1857375" cy="3995738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304800" y="1905000"/>
            <a:ext cx="5105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 smtClean="0"/>
              <a:t>The key to career success today is quite different from what we were taught in the past. </a:t>
            </a:r>
          </a:p>
          <a:p>
            <a:pPr marL="0" lvl="1"/>
            <a:endParaRPr lang="en-US" dirty="0" smtClean="0"/>
          </a:p>
          <a:p>
            <a:pPr marL="0" lvl="1"/>
            <a:endParaRPr lang="en-US" dirty="0" smtClean="0"/>
          </a:p>
          <a:p>
            <a:pPr marL="0" lvl="1"/>
            <a:r>
              <a:rPr lang="en-US" dirty="0" smtClean="0"/>
              <a:t>It is not stability and specialization in one field…</a:t>
            </a:r>
          </a:p>
          <a:p>
            <a:pPr marL="0" lvl="1"/>
            <a:endParaRPr lang="en-US" dirty="0" smtClean="0"/>
          </a:p>
          <a:p>
            <a:pPr marL="0" lvl="1"/>
            <a:endParaRPr lang="en-US" dirty="0" smtClean="0"/>
          </a:p>
          <a:p>
            <a:pPr marL="0" lvl="1"/>
            <a:r>
              <a:rPr lang="en-US" dirty="0" smtClean="0"/>
              <a:t>Instead, flexibility, expertise, creativity and the ability to cross borders and boundaries are the new drivers!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257800" y="5162490"/>
            <a:ext cx="3688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smtClean="0"/>
              <a:t>What trends are you seeing?</a:t>
            </a:r>
            <a:endParaRPr lang="en-US" sz="20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-76200"/>
            <a:ext cx="7848600" cy="784225"/>
          </a:xfrm>
        </p:spPr>
        <p:txBody>
          <a:bodyPr/>
          <a:lstStyle/>
          <a:p>
            <a:r>
              <a:rPr lang="en-US" sz="2800" dirty="0" smtClean="0">
                <a:solidFill>
                  <a:srgbClr val="000066"/>
                </a:solidFill>
              </a:rPr>
              <a:t>Areas of opportunity and growth</a:t>
            </a:r>
            <a:endParaRPr lang="en-US" sz="2800" dirty="0">
              <a:solidFill>
                <a:srgbClr val="000066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0" y="1143000"/>
            <a:ext cx="2667000" cy="5029200"/>
          </a:xfrm>
        </p:spPr>
        <p:txBody>
          <a:bodyPr/>
          <a:lstStyle/>
          <a:p>
            <a:pPr lvl="0"/>
            <a:r>
              <a:rPr lang="en-US" sz="2800" b="1" dirty="0" smtClean="0"/>
              <a:t>Education</a:t>
            </a:r>
          </a:p>
          <a:p>
            <a:pPr lvl="0"/>
            <a:endParaRPr lang="en-US" sz="2800" b="1" dirty="0" smtClean="0"/>
          </a:p>
          <a:p>
            <a:pPr lvl="0"/>
            <a:r>
              <a:rPr lang="en-US" sz="2800" b="1" dirty="0" smtClean="0"/>
              <a:t>Health Care</a:t>
            </a:r>
          </a:p>
          <a:p>
            <a:pPr lvl="0"/>
            <a:endParaRPr lang="en-US" sz="2800" b="1" dirty="0" smtClean="0"/>
          </a:p>
          <a:p>
            <a:pPr lvl="0"/>
            <a:r>
              <a:rPr lang="en-US" sz="2800" b="1" dirty="0" smtClean="0"/>
              <a:t>Environment</a:t>
            </a:r>
          </a:p>
          <a:p>
            <a:pPr lvl="0"/>
            <a:endParaRPr lang="en-US" sz="2800" b="1" dirty="0" smtClean="0"/>
          </a:p>
          <a:p>
            <a:pPr lvl="0"/>
            <a:r>
              <a:rPr lang="en-US" sz="2800" b="1" dirty="0" smtClean="0"/>
              <a:t>Government </a:t>
            </a:r>
          </a:p>
          <a:p>
            <a:pPr lvl="0"/>
            <a:endParaRPr lang="en-US" sz="2800" b="1" dirty="0" smtClean="0"/>
          </a:p>
          <a:p>
            <a:pPr lvl="0"/>
            <a:r>
              <a:rPr lang="en-US" sz="2800" b="1" dirty="0" smtClean="0"/>
              <a:t>Non Profit</a:t>
            </a:r>
          </a:p>
          <a:p>
            <a:pPr>
              <a:buNone/>
            </a:pPr>
            <a:r>
              <a:rPr lang="en-US" sz="2800" b="1" dirty="0" smtClean="0"/>
              <a:t> 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9" name="Picture 4" descr="j00788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752600"/>
            <a:ext cx="27051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</a:rPr>
              <a:t>Reinvention requires a thoughtful and purposeful approach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029200"/>
          </a:xfrm>
        </p:spPr>
        <p:txBody>
          <a:bodyPr/>
          <a:lstStyle/>
          <a:p>
            <a:pPr lvl="0"/>
            <a:r>
              <a:rPr lang="en-US" dirty="0" smtClean="0"/>
              <a:t>Challenge limiting attitudes and assumptions about age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Prioritize and decide which balls are glass and which are rubber in the juggling act of life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Create a strategy.</a:t>
            </a:r>
          </a:p>
          <a:p>
            <a:endParaRPr lang="en-US" dirty="0"/>
          </a:p>
        </p:txBody>
      </p:sp>
      <p:pic>
        <p:nvPicPr>
          <p:cNvPr id="4" name="Picture 10" descr="j007873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1" y="3276600"/>
            <a:ext cx="1972660" cy="2971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848600" cy="784225"/>
          </a:xfrm>
        </p:spPr>
        <p:txBody>
          <a:bodyPr/>
          <a:lstStyle/>
          <a:p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</a:rPr>
              <a:t>Challenge limiting assumptions about age: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4343400"/>
          </a:xfrm>
        </p:spPr>
        <p:txBody>
          <a:bodyPr/>
          <a:lstStyle/>
          <a:p>
            <a:pPr lvl="0"/>
            <a:r>
              <a:rPr lang="en-US" sz="2000" dirty="0" smtClean="0"/>
              <a:t>No research has validated that chronological age is reliable in determining one’s “functional” age</a:t>
            </a:r>
          </a:p>
          <a:p>
            <a:pPr lvl="0"/>
            <a:endParaRPr lang="en-US" sz="2000" dirty="0" smtClean="0"/>
          </a:p>
          <a:p>
            <a:r>
              <a:rPr lang="en-US" sz="2000" dirty="0" smtClean="0"/>
              <a:t>Focus on functional age:</a:t>
            </a:r>
          </a:p>
          <a:p>
            <a:pPr lvl="1"/>
            <a:r>
              <a:rPr lang="en-US" sz="1800" dirty="0" smtClean="0"/>
              <a:t>Ask the following question…"Knowing what I know now about myself and the world, what would I do if I were 20 years younger?“</a:t>
            </a:r>
          </a:p>
          <a:p>
            <a:endParaRPr lang="en-US" sz="2000" dirty="0" smtClean="0"/>
          </a:p>
          <a:p>
            <a:r>
              <a:rPr lang="en-US" sz="2000" dirty="0" smtClean="0"/>
              <a:t>Use your age, skills and experience as the springboard </a:t>
            </a:r>
          </a:p>
          <a:p>
            <a:endParaRPr lang="en-US" sz="2000" dirty="0" smtClean="0"/>
          </a:p>
          <a:p>
            <a:r>
              <a:rPr lang="en-US" sz="2000" dirty="0" smtClean="0"/>
              <a:t>Ageism can be diminished or overcome… </a:t>
            </a:r>
          </a:p>
          <a:p>
            <a:pPr lvl="1"/>
            <a:r>
              <a:rPr lang="en-US" sz="1800" dirty="0" smtClean="0"/>
              <a:t>By developing a conscious and skillful self-marketing strategy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152400"/>
            <a:ext cx="7848600" cy="784225"/>
          </a:xfrm>
        </p:spPr>
        <p:txBody>
          <a:bodyPr/>
          <a:lstStyle/>
          <a:p>
            <a:r>
              <a:rPr lang="en-US" dirty="0" smtClean="0">
                <a:solidFill>
                  <a:srgbClr val="000066"/>
                </a:solidFill>
              </a:rPr>
              <a:t>Selling the Age Advantage</a:t>
            </a:r>
            <a:br>
              <a:rPr lang="en-US" dirty="0" smtClean="0">
                <a:solidFill>
                  <a:srgbClr val="000066"/>
                </a:solidFill>
              </a:rPr>
            </a:br>
            <a:endParaRPr lang="en-US" dirty="0">
              <a:solidFill>
                <a:srgbClr val="000066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029200"/>
          </a:xfrm>
        </p:spPr>
        <p:txBody>
          <a:bodyPr/>
          <a:lstStyle/>
          <a:p>
            <a:r>
              <a:rPr lang="en-US" b="1" dirty="0" smtClean="0"/>
              <a:t>Both depth and breadth of experience</a:t>
            </a:r>
          </a:p>
          <a:p>
            <a:endParaRPr lang="en-US" sz="800" b="1" dirty="0" smtClean="0"/>
          </a:p>
          <a:p>
            <a:r>
              <a:rPr lang="en-US" b="1" dirty="0" smtClean="0"/>
              <a:t>A sense of history to your profession</a:t>
            </a:r>
          </a:p>
          <a:p>
            <a:endParaRPr lang="en-US" sz="800" b="1" dirty="0" smtClean="0"/>
          </a:p>
          <a:p>
            <a:r>
              <a:rPr lang="en-US" b="1" dirty="0" smtClean="0"/>
              <a:t>A huge “bag of tricks.”</a:t>
            </a:r>
          </a:p>
          <a:p>
            <a:endParaRPr lang="en-US" sz="800" b="1" dirty="0" smtClean="0"/>
          </a:p>
          <a:p>
            <a:r>
              <a:rPr lang="en-US" b="1" dirty="0" smtClean="0"/>
              <a:t>A large network</a:t>
            </a:r>
          </a:p>
          <a:p>
            <a:endParaRPr lang="en-US" sz="800" b="1" dirty="0" smtClean="0"/>
          </a:p>
          <a:p>
            <a:r>
              <a:rPr lang="en-US" b="1" dirty="0" smtClean="0"/>
              <a:t>A strong work ethic</a:t>
            </a:r>
          </a:p>
          <a:p>
            <a:endParaRPr lang="en-US" sz="800" b="1" dirty="0" smtClean="0"/>
          </a:p>
          <a:p>
            <a:r>
              <a:rPr lang="en-US" b="1" dirty="0" smtClean="0"/>
              <a:t>Fewer distractions from work</a:t>
            </a:r>
          </a:p>
          <a:p>
            <a:endParaRPr lang="en-US" sz="800" b="1" dirty="0" smtClean="0"/>
          </a:p>
          <a:p>
            <a:r>
              <a:rPr lang="en-US" b="1" dirty="0" smtClean="0"/>
              <a:t>Experience working collaboratively </a:t>
            </a:r>
          </a:p>
          <a:p>
            <a:pPr lvl="1"/>
            <a:r>
              <a:rPr lang="en-US" b="1" dirty="0" smtClean="0"/>
              <a:t>Especially across generations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-76200"/>
            <a:ext cx="7848600" cy="784225"/>
          </a:xfrm>
        </p:spPr>
        <p:txBody>
          <a:bodyPr/>
          <a:lstStyle/>
          <a:p>
            <a:r>
              <a:rPr lang="en-US" dirty="0" smtClean="0">
                <a:solidFill>
                  <a:srgbClr val="000066"/>
                </a:solidFill>
              </a:rPr>
              <a:t>Prep for change</a:t>
            </a:r>
            <a:endParaRPr lang="en-US" dirty="0">
              <a:solidFill>
                <a:srgbClr val="000066"/>
              </a:solidFill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Plan Financially</a:t>
            </a:r>
          </a:p>
          <a:p>
            <a:endParaRPr lang="en-US" dirty="0" smtClean="0"/>
          </a:p>
          <a:p>
            <a:r>
              <a:rPr lang="en-US" dirty="0" smtClean="0"/>
              <a:t>Research</a:t>
            </a:r>
          </a:p>
          <a:p>
            <a:endParaRPr lang="en-US" dirty="0" smtClean="0"/>
          </a:p>
          <a:p>
            <a:r>
              <a:rPr lang="en-US" dirty="0" smtClean="0"/>
              <a:t>Learn Language of New Option</a:t>
            </a:r>
          </a:p>
          <a:p>
            <a:endParaRPr lang="en-US" dirty="0" smtClean="0"/>
          </a:p>
          <a:p>
            <a:r>
              <a:rPr lang="en-US" dirty="0" smtClean="0"/>
              <a:t>Assess Current Situation</a:t>
            </a:r>
          </a:p>
          <a:p>
            <a:endParaRPr lang="en-US" dirty="0" smtClean="0"/>
          </a:p>
          <a:p>
            <a:r>
              <a:rPr lang="en-US" dirty="0" smtClean="0"/>
              <a:t>Scope Out Training &amp; Development</a:t>
            </a:r>
            <a:endParaRPr lang="en-US" dirty="0"/>
          </a:p>
        </p:txBody>
      </p:sp>
      <p:pic>
        <p:nvPicPr>
          <p:cNvPr id="38921" name="Picture 9" descr="C:\Documents and Settings\Lisa\Local Settings\Temporary Internet Files\Content.IE5\3HGEPHKC\MP900382692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371600"/>
            <a:ext cx="2775857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28600" y="-76200"/>
            <a:ext cx="7848600" cy="784225"/>
          </a:xfrm>
        </p:spPr>
        <p:txBody>
          <a:bodyPr/>
          <a:lstStyle/>
          <a:p>
            <a:r>
              <a:rPr lang="en-US" dirty="0" smtClean="0">
                <a:solidFill>
                  <a:srgbClr val="000066"/>
                </a:solidFill>
              </a:rPr>
              <a:t>Create your strategy</a:t>
            </a:r>
            <a:endParaRPr lang="en-US" dirty="0">
              <a:solidFill>
                <a:srgbClr val="000066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447800"/>
            <a:ext cx="8763000" cy="5029200"/>
          </a:xfrm>
        </p:spPr>
        <p:txBody>
          <a:bodyPr/>
          <a:lstStyle/>
          <a:p>
            <a:pPr lvl="0"/>
            <a:r>
              <a:rPr lang="en-US" dirty="0" smtClean="0"/>
              <a:t>Set incremental goals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Communicate your interests and transferable value</a:t>
            </a:r>
          </a:p>
          <a:p>
            <a:pPr lvl="0"/>
            <a:endParaRPr lang="en-US" dirty="0" smtClean="0"/>
          </a:p>
          <a:p>
            <a:r>
              <a:rPr lang="en-US" dirty="0" smtClean="0"/>
              <a:t>Cultivate and build networks and new relationships </a:t>
            </a:r>
          </a:p>
          <a:p>
            <a:endParaRPr lang="en-US" dirty="0" smtClean="0"/>
          </a:p>
          <a:p>
            <a:r>
              <a:rPr lang="en-US" dirty="0" smtClean="0"/>
              <a:t>Update your resume and develop a robust LinkedIn profile</a:t>
            </a:r>
          </a:p>
          <a:p>
            <a:endParaRPr lang="en-US" dirty="0" smtClean="0"/>
          </a:p>
          <a:p>
            <a:r>
              <a:rPr lang="en-US" dirty="0" smtClean="0"/>
              <a:t>Volunteer  - community, projects, task forces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  <p:pic>
        <p:nvPicPr>
          <p:cNvPr id="39938" name="Picture 2" descr="C:\Documents and Settings\Lisa\Local Settings\Temporary Internet Files\Content.IE5\Y6HK0UJE\MC90007874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28600"/>
            <a:ext cx="2133600" cy="21258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81000" y="-76200"/>
            <a:ext cx="7848600" cy="784225"/>
          </a:xfrm>
        </p:spPr>
        <p:txBody>
          <a:bodyPr/>
          <a:lstStyle/>
          <a:p>
            <a:r>
              <a:rPr lang="en-US" dirty="0" smtClean="0">
                <a:solidFill>
                  <a:srgbClr val="000066"/>
                </a:solidFill>
              </a:rPr>
              <a:t>Pot Holes</a:t>
            </a:r>
            <a:endParaRPr lang="en-US" dirty="0">
              <a:solidFill>
                <a:srgbClr val="000066"/>
              </a:solidFill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idx="1"/>
          </p:nvPr>
        </p:nvSpPr>
        <p:spPr>
          <a:xfrm>
            <a:off x="152400" y="1295400"/>
            <a:ext cx="8763000" cy="5029200"/>
          </a:xfrm>
        </p:spPr>
        <p:txBody>
          <a:bodyPr/>
          <a:lstStyle/>
          <a:p>
            <a:r>
              <a:rPr lang="en-US" sz="2400" dirty="0" smtClean="0"/>
              <a:t>I'll just do what I was doing before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My experience speaks for itself</a:t>
            </a:r>
          </a:p>
          <a:p>
            <a:endParaRPr lang="en-US" sz="2400" dirty="0" smtClean="0"/>
          </a:p>
          <a:p>
            <a:r>
              <a:rPr lang="en-US" sz="2400" dirty="0" smtClean="0"/>
              <a:t>I'll become a consultant</a:t>
            </a:r>
          </a:p>
          <a:p>
            <a:endParaRPr lang="en-US" sz="2400" dirty="0" smtClean="0"/>
          </a:p>
          <a:p>
            <a:r>
              <a:rPr lang="en-US" sz="2400" dirty="0" smtClean="0"/>
              <a:t>I'll just use a recruiter for some career coaching</a:t>
            </a:r>
          </a:p>
          <a:p>
            <a:endParaRPr lang="en-US" sz="2400" dirty="0" smtClean="0"/>
          </a:p>
          <a:p>
            <a:r>
              <a:rPr lang="en-US" sz="2400" dirty="0" smtClean="0"/>
              <a:t> I've always been successful…</a:t>
            </a:r>
          </a:p>
          <a:p>
            <a:pPr lvl="1"/>
            <a:r>
              <a:rPr lang="en-US" sz="2200" dirty="0" smtClean="0"/>
              <a:t> So why should things be different now?</a:t>
            </a:r>
            <a:endParaRPr lang="en-US" sz="2200" dirty="0"/>
          </a:p>
        </p:txBody>
      </p:sp>
      <p:pic>
        <p:nvPicPr>
          <p:cNvPr id="40962" name="Picture 2" descr="C:\Documents and Settings\Lisa\Local Settings\Temporary Internet Files\Content.IE5\YE58G2LC\MC90030476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1462" y="1676400"/>
            <a:ext cx="3732538" cy="1600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04800" y="-76200"/>
            <a:ext cx="7848600" cy="784225"/>
          </a:xfrm>
        </p:spPr>
        <p:txBody>
          <a:bodyPr/>
          <a:lstStyle/>
          <a:p>
            <a:r>
              <a:rPr lang="en-US" dirty="0" smtClean="0">
                <a:solidFill>
                  <a:srgbClr val="000066"/>
                </a:solidFill>
              </a:rPr>
              <a:t>Box of Chocolates</a:t>
            </a:r>
            <a:endParaRPr lang="en-US" dirty="0">
              <a:solidFill>
                <a:srgbClr val="000066"/>
              </a:solidFill>
            </a:endParaRP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3200400"/>
          </a:xfrm>
        </p:spPr>
        <p:txBody>
          <a:bodyPr/>
          <a:lstStyle/>
          <a:p>
            <a:pPr lvl="0"/>
            <a:r>
              <a:rPr lang="en-US" sz="2000" dirty="0" smtClean="0"/>
              <a:t>I’m willing to act without certainty</a:t>
            </a:r>
          </a:p>
          <a:p>
            <a:pPr lvl="0"/>
            <a:endParaRPr lang="en-US" sz="1600" dirty="0" smtClean="0"/>
          </a:p>
          <a:p>
            <a:pPr lvl="0"/>
            <a:endParaRPr lang="en-US" sz="1600" dirty="0" smtClean="0"/>
          </a:p>
          <a:p>
            <a:pPr lvl="0"/>
            <a:r>
              <a:rPr lang="en-US" sz="2000" dirty="0" smtClean="0"/>
              <a:t>Engagement in an active life will increase my chances of new opportunities</a:t>
            </a:r>
          </a:p>
          <a:p>
            <a:pPr lvl="0"/>
            <a:endParaRPr lang="en-US" sz="1600" dirty="0" smtClean="0"/>
          </a:p>
          <a:p>
            <a:pPr lvl="0"/>
            <a:endParaRPr lang="en-US" sz="1600" dirty="0" smtClean="0"/>
          </a:p>
          <a:p>
            <a:pPr lvl="0"/>
            <a:r>
              <a:rPr lang="en-US" sz="2000" dirty="0" smtClean="0"/>
              <a:t>Sometimes you have to take a step back before taking a step forward</a:t>
            </a:r>
          </a:p>
          <a:p>
            <a:pPr lvl="0"/>
            <a:endParaRPr lang="en-US" sz="1600" dirty="0" smtClean="0"/>
          </a:p>
          <a:p>
            <a:pPr lvl="0"/>
            <a:endParaRPr lang="en-US" sz="1600" dirty="0" smtClean="0"/>
          </a:p>
          <a:p>
            <a:pPr lvl="0"/>
            <a:r>
              <a:rPr lang="en-US" sz="2000" dirty="0" smtClean="0"/>
              <a:t>Persistence, patience and diligence account for the majority of what goes into the process for a successful outcome</a:t>
            </a:r>
          </a:p>
          <a:p>
            <a:pPr>
              <a:buNone/>
            </a:pPr>
            <a:r>
              <a:rPr lang="en-US" sz="2000" dirty="0" smtClean="0"/>
              <a:t> </a:t>
            </a:r>
            <a:endParaRPr lang="en-US" sz="2000" dirty="0"/>
          </a:p>
        </p:txBody>
      </p:sp>
      <p:pic>
        <p:nvPicPr>
          <p:cNvPr id="10242" name="Picture 2" descr="http://t1.gstatic.com/images?q=tbn:ANd9GcRLvhsV4m0wVvQ4jApWiAa1rYNikwqXLxmxZPLztTun-LJ20js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762000"/>
            <a:ext cx="2647950" cy="1724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76200"/>
            <a:ext cx="7848600" cy="784225"/>
          </a:xfrm>
        </p:spPr>
        <p:txBody>
          <a:bodyPr/>
          <a:lstStyle/>
          <a:p>
            <a:r>
              <a:rPr lang="en-US" dirty="0" smtClean="0">
                <a:solidFill>
                  <a:srgbClr val="000066"/>
                </a:solidFill>
              </a:rPr>
              <a:t>If you find yourself in search mode</a:t>
            </a:r>
            <a:endParaRPr lang="en-US" dirty="0">
              <a:solidFill>
                <a:srgbClr val="000066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029200"/>
          </a:xfrm>
        </p:spPr>
        <p:txBody>
          <a:bodyPr/>
          <a:lstStyle/>
          <a:p>
            <a:r>
              <a:rPr lang="en-US" dirty="0" smtClean="0"/>
              <a:t>Tell people what you do &amp; why it is important</a:t>
            </a:r>
          </a:p>
          <a:p>
            <a:endParaRPr lang="en-US" sz="1200" dirty="0" smtClean="0"/>
          </a:p>
          <a:p>
            <a:r>
              <a:rPr lang="en-US" dirty="0" smtClean="0"/>
              <a:t>Network and stay on your contact’s radar screen</a:t>
            </a:r>
          </a:p>
          <a:p>
            <a:endParaRPr lang="en-US" sz="1200" dirty="0" smtClean="0"/>
          </a:p>
          <a:p>
            <a:r>
              <a:rPr lang="en-US" dirty="0" smtClean="0"/>
              <a:t>Adjust your resume for each situation</a:t>
            </a:r>
          </a:p>
          <a:p>
            <a:endParaRPr lang="en-US" sz="1200" dirty="0" smtClean="0"/>
          </a:p>
          <a:p>
            <a:r>
              <a:rPr lang="en-US" dirty="0" smtClean="0"/>
              <a:t>Create a target list and show it to your network</a:t>
            </a:r>
          </a:p>
          <a:p>
            <a:endParaRPr lang="en-US" sz="1200" dirty="0" smtClean="0"/>
          </a:p>
          <a:p>
            <a:r>
              <a:rPr lang="en-US" dirty="0" smtClean="0"/>
              <a:t>Consider taking a course and joining an association</a:t>
            </a:r>
          </a:p>
          <a:p>
            <a:endParaRPr lang="en-US" sz="1200" dirty="0" smtClean="0"/>
          </a:p>
          <a:p>
            <a:r>
              <a:rPr lang="en-US" dirty="0" smtClean="0"/>
              <a:t>Update your image if necessary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Online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990600"/>
            <a:ext cx="9004300" cy="4864100"/>
          </a:xfrm>
        </p:spPr>
        <p:txBody>
          <a:bodyPr/>
          <a:lstStyle/>
          <a:p>
            <a:r>
              <a:rPr lang="en-US" sz="1600" dirty="0" smtClean="0">
                <a:solidFill>
                  <a:schemeClr val="tx1"/>
                </a:solidFill>
              </a:rPr>
              <a:t>Finding work that matters in the second half of life: </a:t>
            </a:r>
            <a:r>
              <a:rPr lang="en-US" sz="1600" dirty="0" smtClean="0">
                <a:solidFill>
                  <a:srgbClr val="000099"/>
                </a:solidFill>
                <a:hlinkClick r:id="rId3"/>
              </a:rPr>
              <a:t>www.encore.org</a:t>
            </a:r>
            <a:r>
              <a:rPr lang="en-US" sz="1600" dirty="0" smtClean="0">
                <a:solidFill>
                  <a:srgbClr val="000099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Center on Aging and Work/Workplace Flexibility at Boston College: </a:t>
            </a:r>
            <a:r>
              <a:rPr lang="en-US" sz="1600" u="sng" dirty="0" smtClean="0">
                <a:solidFill>
                  <a:schemeClr val="tx1"/>
                </a:solidFill>
                <a:hlinkClick r:id="rId4"/>
              </a:rPr>
              <a:t>http://agingandwork.bc.edu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AARPs information on volunteering: </a:t>
            </a:r>
            <a:r>
              <a:rPr lang="en-US" sz="1600" u="sng" dirty="0" smtClean="0">
                <a:solidFill>
                  <a:schemeClr val="tx1"/>
                </a:solidFill>
                <a:hlinkClick r:id="rId5"/>
              </a:rPr>
              <a:t>www.aarp.org/about </a:t>
            </a:r>
            <a:r>
              <a:rPr lang="en-US" sz="1600" u="sng" dirty="0" err="1" smtClean="0">
                <a:solidFill>
                  <a:schemeClr val="tx1"/>
                </a:solidFill>
                <a:hlinkClick r:id="rId5"/>
              </a:rPr>
              <a:t>aarp</a:t>
            </a:r>
            <a:r>
              <a:rPr lang="en-US" sz="1600" u="sng" dirty="0" smtClean="0">
                <a:solidFill>
                  <a:schemeClr val="tx1"/>
                </a:solidFill>
                <a:hlinkClick r:id="rId5"/>
              </a:rPr>
              <a:t>/</a:t>
            </a:r>
            <a:r>
              <a:rPr lang="en-US" sz="1600" u="sng" dirty="0" err="1" smtClean="0">
                <a:solidFill>
                  <a:schemeClr val="tx1"/>
                </a:solidFill>
                <a:hlinkClick r:id="rId5"/>
              </a:rPr>
              <a:t>community_service</a:t>
            </a:r>
            <a:endParaRPr lang="en-US" sz="1600" u="sng" dirty="0" smtClean="0">
              <a:solidFill>
                <a:schemeClr val="tx1"/>
              </a:solidFill>
            </a:endParaRP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AARPs information on career transitions: </a:t>
            </a:r>
            <a:r>
              <a:rPr lang="en-US" sz="1600" u="sng" dirty="0" smtClean="0">
                <a:solidFill>
                  <a:schemeClr val="tx1"/>
                </a:solidFill>
                <a:hlinkClick r:id="rId6"/>
              </a:rPr>
              <a:t>www.aarp.org/careers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AARPs information on finances: </a:t>
            </a:r>
            <a:r>
              <a:rPr lang="en-US" sz="1600" u="sng" dirty="0" smtClean="0">
                <a:solidFill>
                  <a:schemeClr val="tx1"/>
                </a:solidFill>
                <a:hlinkClick r:id="rId7"/>
              </a:rPr>
              <a:t>www.aarp.org/money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Think tank and incubator for programs that harness energy and talents of Third Agers for civic and social renewal: </a:t>
            </a:r>
            <a:r>
              <a:rPr lang="en-US" sz="1600" u="sng" dirty="0" smtClean="0">
                <a:solidFill>
                  <a:schemeClr val="tx1"/>
                </a:solidFill>
                <a:hlinkClick r:id="rId8"/>
              </a:rPr>
              <a:t>www.civicventures.org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Newton Free Library program:</a:t>
            </a:r>
            <a:r>
              <a:rPr lang="en-US" sz="1600" b="1" dirty="0" smtClean="0">
                <a:solidFill>
                  <a:schemeClr val="tx1"/>
                </a:solidFill>
              </a:rPr>
              <a:t> </a:t>
            </a:r>
            <a:r>
              <a:rPr lang="en-US" sz="1600" u="sng" dirty="0" smtClean="0">
                <a:solidFill>
                  <a:schemeClr val="tx1"/>
                </a:solidFill>
                <a:hlinkClick r:id="rId9"/>
              </a:rPr>
              <a:t>www.discoveringwhatsnext.org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Action Without Borders, job and volunteer opportunities in nonprofit organizations: </a:t>
            </a:r>
            <a:r>
              <a:rPr lang="en-US" sz="1600" u="sng" dirty="0" smtClean="0">
                <a:solidFill>
                  <a:schemeClr val="tx1"/>
                </a:solidFill>
                <a:hlinkClick r:id="rId10"/>
              </a:rPr>
              <a:t>www.idealist.org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Online job site for job-seekers over 50: </a:t>
            </a:r>
            <a:r>
              <a:rPr lang="en-US" sz="1600" u="sng" dirty="0" smtClean="0">
                <a:solidFill>
                  <a:schemeClr val="tx1"/>
                </a:solidFill>
                <a:hlinkClick r:id="rId11"/>
              </a:rPr>
              <a:t>www.Workforce50.com</a:t>
            </a:r>
            <a:endParaRPr lang="en-US" sz="1600" u="sng" dirty="0" smtClean="0">
              <a:solidFill>
                <a:schemeClr val="tx1"/>
              </a:solidFill>
            </a:endParaRP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University of North Carolina Center for Creative Retirement: </a:t>
            </a:r>
            <a:r>
              <a:rPr lang="en-US" sz="1600" u="sng" dirty="0" smtClean="0">
                <a:solidFill>
                  <a:schemeClr val="tx1"/>
                </a:solidFill>
                <a:hlinkClick r:id="rId12"/>
              </a:rPr>
              <a:t>www.unca.edu/ncccr/NCCCR/about.cfm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endParaRPr lang="en-US" sz="500" dirty="0" smtClean="0">
              <a:solidFill>
                <a:schemeClr val="tx1"/>
              </a:solidFill>
            </a:endParaRPr>
          </a:p>
          <a:p>
            <a:r>
              <a:rPr lang="en-US" sz="1600" dirty="0" smtClean="0">
                <a:solidFill>
                  <a:schemeClr val="tx1"/>
                </a:solidFill>
              </a:rPr>
              <a:t>Service Opportunities after Retirement: </a:t>
            </a:r>
            <a:r>
              <a:rPr lang="en-US" sz="1600" u="sng" dirty="0" smtClean="0">
                <a:solidFill>
                  <a:srgbClr val="000099"/>
                </a:solidFill>
                <a:hlinkClick r:id="rId13"/>
              </a:rPr>
              <a:t>www.soar-ma.org</a:t>
            </a:r>
            <a:endParaRPr lang="en-US" sz="1600" dirty="0" smtClean="0">
              <a:solidFill>
                <a:srgbClr val="000099"/>
              </a:solidFill>
            </a:endParaRP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180975"/>
            <a:ext cx="5130800" cy="733425"/>
          </a:xfrm>
        </p:spPr>
        <p:txBody>
          <a:bodyPr/>
          <a:lstStyle/>
          <a:p>
            <a:r>
              <a:rPr lang="en-US" dirty="0" smtClean="0">
                <a:solidFill>
                  <a:srgbClr val="000066"/>
                </a:solidFill>
              </a:rPr>
              <a:t>Print Resources</a:t>
            </a:r>
            <a:br>
              <a:rPr lang="en-US" dirty="0" smtClean="0">
                <a:solidFill>
                  <a:srgbClr val="000066"/>
                </a:solidFill>
              </a:rPr>
            </a:br>
            <a:endParaRPr lang="en-US" dirty="0">
              <a:solidFill>
                <a:srgbClr val="00006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 smtClean="0"/>
              <a:t>		</a:t>
            </a:r>
          </a:p>
          <a:p>
            <a:pPr>
              <a:buNone/>
            </a:pPr>
            <a:r>
              <a:rPr lang="en-US" sz="1600" b="1" dirty="0" smtClean="0"/>
              <a:t>		</a:t>
            </a:r>
          </a:p>
          <a:p>
            <a:pPr>
              <a:buNone/>
            </a:pPr>
            <a:r>
              <a:rPr lang="en-US" sz="1600" b="1" dirty="0" smtClean="0"/>
              <a:t>		Don’t stop the Career Clock</a:t>
            </a:r>
          </a:p>
          <a:p>
            <a:pPr>
              <a:buNone/>
            </a:pPr>
            <a:r>
              <a:rPr lang="en-US" sz="1600" dirty="0" smtClean="0"/>
              <a:t>		By: Helen </a:t>
            </a:r>
            <a:r>
              <a:rPr lang="en-US" sz="1600" dirty="0" err="1" smtClean="0"/>
              <a:t>Harkness</a:t>
            </a:r>
            <a:endParaRPr lang="en-US" sz="16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600" b="1" dirty="0" smtClean="0"/>
              <a:t>		</a:t>
            </a:r>
          </a:p>
          <a:p>
            <a:pPr>
              <a:buNone/>
            </a:pPr>
            <a:r>
              <a:rPr lang="en-US" sz="1600" b="1" dirty="0" smtClean="0"/>
              <a:t>		Capitalizing on Career </a:t>
            </a:r>
          </a:p>
          <a:p>
            <a:pPr>
              <a:buNone/>
            </a:pPr>
            <a:r>
              <a:rPr lang="en-US" sz="1600" b="1" dirty="0" smtClean="0"/>
              <a:t>		Chaos </a:t>
            </a:r>
          </a:p>
          <a:p>
            <a:pPr>
              <a:buNone/>
            </a:pPr>
            <a:r>
              <a:rPr lang="en-US" sz="1600" dirty="0" smtClean="0"/>
              <a:t>		By: Helen </a:t>
            </a:r>
            <a:r>
              <a:rPr lang="en-US" sz="1600" dirty="0" err="1" smtClean="0"/>
              <a:t>Harkness</a:t>
            </a:r>
            <a:endParaRPr lang="en-US" sz="16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		</a:t>
            </a:r>
          </a:p>
          <a:p>
            <a:pPr>
              <a:buNone/>
            </a:pPr>
            <a:r>
              <a:rPr lang="en-US" sz="1600" b="1" dirty="0" smtClean="0"/>
              <a:t>		Now What? 90 Days to a </a:t>
            </a:r>
          </a:p>
          <a:p>
            <a:pPr>
              <a:buNone/>
            </a:pPr>
            <a:r>
              <a:rPr lang="en-US" sz="1600" b="1" dirty="0" smtClean="0"/>
              <a:t>		New Life Direction </a:t>
            </a:r>
            <a:r>
              <a:rPr lang="en-US" sz="1600" dirty="0" smtClean="0"/>
              <a:t>	</a:t>
            </a:r>
          </a:p>
          <a:p>
            <a:pPr>
              <a:buNone/>
            </a:pPr>
            <a:r>
              <a:rPr lang="en-US" sz="1600" dirty="0" smtClean="0"/>
              <a:t>		</a:t>
            </a:r>
            <a:r>
              <a:rPr lang="en-US" sz="1600" dirty="0" err="1" smtClean="0"/>
              <a:t>By:Laura</a:t>
            </a:r>
            <a:r>
              <a:rPr lang="en-US" sz="1600" dirty="0" smtClean="0"/>
              <a:t> Berman </a:t>
            </a:r>
            <a:r>
              <a:rPr lang="en-US" sz="1600" dirty="0" err="1" smtClean="0"/>
              <a:t>Fortgang</a:t>
            </a:r>
            <a:endParaRPr lang="en-US" sz="1600" dirty="0" smtClean="0"/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		</a:t>
            </a:r>
            <a:endParaRPr lang="en-US" sz="16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4838700" y="977900"/>
            <a:ext cx="4305300" cy="5029200"/>
          </a:xfrm>
        </p:spPr>
        <p:txBody>
          <a:bodyPr/>
          <a:lstStyle/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600" b="1" dirty="0" smtClean="0"/>
              <a:t>	</a:t>
            </a:r>
          </a:p>
          <a:p>
            <a:pPr>
              <a:buNone/>
            </a:pPr>
            <a:r>
              <a:rPr lang="en-US" sz="1600" b="1" dirty="0" smtClean="0"/>
              <a:t>	Working Identity: Unconventional Strategies for Re-inventing your career </a:t>
            </a:r>
          </a:p>
          <a:p>
            <a:pPr>
              <a:buNone/>
            </a:pPr>
            <a:r>
              <a:rPr lang="en-US" sz="1600" dirty="0" smtClean="0"/>
              <a:t>	By: </a:t>
            </a:r>
            <a:r>
              <a:rPr lang="en-US" sz="1600" dirty="0" err="1" smtClean="0"/>
              <a:t>Herminia</a:t>
            </a:r>
            <a:r>
              <a:rPr lang="en-US" sz="1600" dirty="0" smtClean="0"/>
              <a:t> Ibarra</a:t>
            </a:r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600" b="1" dirty="0" smtClean="0"/>
              <a:t>	</a:t>
            </a:r>
          </a:p>
          <a:p>
            <a:pPr>
              <a:buNone/>
            </a:pPr>
            <a:r>
              <a:rPr lang="en-US" sz="1600" b="1" dirty="0" smtClean="0"/>
              <a:t>	Something to Live For: Finding </a:t>
            </a:r>
          </a:p>
          <a:p>
            <a:pPr>
              <a:buNone/>
            </a:pPr>
            <a:r>
              <a:rPr lang="en-US" sz="1600" b="1" dirty="0" smtClean="0"/>
              <a:t>	Your Way in the Second Half of Life</a:t>
            </a:r>
          </a:p>
          <a:p>
            <a:pPr>
              <a:buNone/>
            </a:pPr>
            <a:r>
              <a:rPr lang="en-US" sz="1600" dirty="0" smtClean="0"/>
              <a:t>	By: Richard J. </a:t>
            </a:r>
            <a:r>
              <a:rPr lang="en-US" sz="1600" dirty="0" err="1" smtClean="0"/>
              <a:t>Leider</a:t>
            </a:r>
            <a:endParaRPr lang="en-US" sz="16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600" b="1" dirty="0" smtClean="0"/>
              <a:t>	</a:t>
            </a:r>
          </a:p>
          <a:p>
            <a:pPr>
              <a:buNone/>
            </a:pPr>
            <a:endParaRPr lang="en-US" sz="1600" b="1" dirty="0" smtClean="0"/>
          </a:p>
          <a:p>
            <a:pPr>
              <a:buNone/>
            </a:pPr>
            <a:r>
              <a:rPr lang="en-US" sz="1600" b="1" dirty="0" smtClean="0"/>
              <a:t>	What’s Next?</a:t>
            </a:r>
          </a:p>
          <a:p>
            <a:pPr>
              <a:buNone/>
            </a:pPr>
            <a:r>
              <a:rPr lang="en-US" sz="1600" dirty="0" smtClean="0"/>
              <a:t>	By: Hannon</a:t>
            </a:r>
          </a:p>
          <a:p>
            <a:pPr>
              <a:buNone/>
            </a:pPr>
            <a:endParaRPr lang="en-US" sz="1600" dirty="0" smtClean="0"/>
          </a:p>
          <a:p>
            <a:endParaRPr lang="en-US" sz="1600" dirty="0"/>
          </a:p>
        </p:txBody>
      </p:sp>
      <p:pic>
        <p:nvPicPr>
          <p:cNvPr id="5" name="il_fi" descr="--59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371600"/>
            <a:ext cx="88996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il_fi" descr="2608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1447800"/>
            <a:ext cx="762000" cy="1154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il_fi" descr="9780811871150_larg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8600" y="4648201"/>
            <a:ext cx="76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il_fi" descr="Capitalizing_CareerChao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" y="2971800"/>
            <a:ext cx="84908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l_fi" descr="now_what_cov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0" y="4724400"/>
            <a:ext cx="68579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il_fi" descr="000ed5c3_medium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114800" y="2971800"/>
            <a:ext cx="685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-63500"/>
            <a:ext cx="7797800" cy="733425"/>
          </a:xfrm>
        </p:spPr>
        <p:txBody>
          <a:bodyPr/>
          <a:lstStyle/>
          <a:p>
            <a:r>
              <a:rPr lang="en-US" dirty="0" smtClean="0"/>
              <a:t>Training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029200"/>
          </a:xfrm>
        </p:spPr>
        <p:txBody>
          <a:bodyPr/>
          <a:lstStyle/>
          <a:p>
            <a:endParaRPr lang="en-US" sz="1600" dirty="0" smtClean="0"/>
          </a:p>
          <a:p>
            <a:r>
              <a:rPr lang="en-US" sz="1600" dirty="0" smtClean="0"/>
              <a:t>The Center for Third Age Leadership (Bill Sadler) </a:t>
            </a:r>
          </a:p>
          <a:p>
            <a:pPr lvl="4">
              <a:buNone/>
            </a:pPr>
            <a:r>
              <a:rPr lang="en-US" sz="1600" dirty="0" smtClean="0">
                <a:solidFill>
                  <a:srgbClr val="000099"/>
                </a:solidFill>
                <a:hlinkClick r:id="rId3"/>
              </a:rPr>
              <a:t>www.thirdagecenter.com</a:t>
            </a:r>
            <a:endParaRPr lang="en-US" sz="1600" dirty="0" smtClean="0">
              <a:solidFill>
                <a:srgbClr val="000099"/>
              </a:solidFill>
            </a:endParaRPr>
          </a:p>
          <a:p>
            <a:endParaRPr lang="en-US" sz="1600" dirty="0" smtClean="0">
              <a:solidFill>
                <a:srgbClr val="000099"/>
              </a:solidFill>
            </a:endParaRPr>
          </a:p>
          <a:p>
            <a:r>
              <a:rPr lang="en-US" sz="1600" dirty="0" smtClean="0"/>
              <a:t>The Hudson Institute (Pam McLean) </a:t>
            </a:r>
          </a:p>
          <a:p>
            <a:pPr lvl="4">
              <a:buNone/>
            </a:pPr>
            <a:r>
              <a:rPr lang="en-US" sz="1600" dirty="0" smtClean="0">
                <a:solidFill>
                  <a:srgbClr val="000099"/>
                </a:solidFill>
                <a:hlinkClick r:id="rId4"/>
              </a:rPr>
              <a:t>www.hudsoninstitute.com</a:t>
            </a:r>
            <a:endParaRPr lang="en-US" sz="1600" dirty="0" smtClean="0">
              <a:solidFill>
                <a:srgbClr val="000099"/>
              </a:solidFill>
            </a:endParaRPr>
          </a:p>
          <a:p>
            <a:endParaRPr lang="en-US" sz="1600" dirty="0" smtClean="0">
              <a:solidFill>
                <a:srgbClr val="000099"/>
              </a:solidFill>
            </a:endParaRPr>
          </a:p>
          <a:p>
            <a:r>
              <a:rPr lang="en-US" sz="1600" dirty="0" smtClean="0"/>
              <a:t>The </a:t>
            </a:r>
            <a:r>
              <a:rPr lang="en-US" sz="1600" dirty="0" err="1" smtClean="0"/>
              <a:t>Inventure</a:t>
            </a:r>
            <a:r>
              <a:rPr lang="en-US" sz="1600" dirty="0" smtClean="0"/>
              <a:t> Group (Richard </a:t>
            </a:r>
            <a:r>
              <a:rPr lang="en-US" sz="1600" dirty="0" err="1" smtClean="0"/>
              <a:t>Leider</a:t>
            </a:r>
            <a:r>
              <a:rPr lang="en-US" sz="1600" dirty="0" smtClean="0"/>
              <a:t>) </a:t>
            </a:r>
          </a:p>
          <a:p>
            <a:pPr lvl="4">
              <a:buNone/>
            </a:pPr>
            <a:r>
              <a:rPr lang="en-US" sz="1600" dirty="0" smtClean="0">
                <a:solidFill>
                  <a:srgbClr val="000099"/>
                </a:solidFill>
                <a:hlinkClick r:id="rId5"/>
              </a:rPr>
              <a:t>www.inventuregroup.com</a:t>
            </a:r>
            <a:endParaRPr lang="en-US" sz="1600" dirty="0" smtClean="0">
              <a:solidFill>
                <a:srgbClr val="000099"/>
              </a:solidFill>
            </a:endParaRPr>
          </a:p>
          <a:p>
            <a:endParaRPr lang="en-US" sz="1600" dirty="0" smtClean="0">
              <a:solidFill>
                <a:srgbClr val="000099"/>
              </a:solidFill>
            </a:endParaRPr>
          </a:p>
          <a:p>
            <a:r>
              <a:rPr lang="en-US" sz="1600" dirty="0" smtClean="0"/>
              <a:t>Retirement Options (Richard Johnson) </a:t>
            </a:r>
          </a:p>
          <a:p>
            <a:pPr lvl="4">
              <a:buNone/>
            </a:pPr>
            <a:r>
              <a:rPr lang="en-US" sz="1600" dirty="0" smtClean="0">
                <a:solidFill>
                  <a:srgbClr val="000099"/>
                </a:solidFill>
                <a:hlinkClick r:id="rId6"/>
              </a:rPr>
              <a:t>www.retirementoptions.com</a:t>
            </a:r>
            <a:endParaRPr lang="en-US" sz="1600" dirty="0" smtClean="0">
              <a:solidFill>
                <a:srgbClr val="000099"/>
              </a:solidFill>
            </a:endParaRPr>
          </a:p>
          <a:p>
            <a:endParaRPr lang="en-US" sz="1600" dirty="0" smtClean="0">
              <a:solidFill>
                <a:srgbClr val="000099"/>
              </a:solidFill>
            </a:endParaRPr>
          </a:p>
          <a:p>
            <a:r>
              <a:rPr lang="en-US" sz="1600" dirty="0" smtClean="0"/>
              <a:t>2Young 2Retire Certification Program (Howard Stone)</a:t>
            </a:r>
          </a:p>
          <a:p>
            <a:pPr lvl="4">
              <a:buNone/>
            </a:pPr>
            <a:r>
              <a:rPr lang="en-US" sz="1600" dirty="0" smtClean="0">
                <a:solidFill>
                  <a:srgbClr val="000099"/>
                </a:solidFill>
                <a:hlinkClick r:id="rId7"/>
              </a:rPr>
              <a:t>www.2young2retire.com</a:t>
            </a:r>
            <a:endParaRPr lang="en-US" sz="1600" dirty="0" smtClean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6" name="Rectangle 4"/>
          <p:cNvSpPr>
            <a:spLocks noChangeArrowheads="1"/>
          </p:cNvSpPr>
          <p:nvPr/>
        </p:nvSpPr>
        <p:spPr bwMode="auto">
          <a:xfrm>
            <a:off x="0" y="881743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400" dirty="0" smtClean="0"/>
              <a:t>24-7 </a:t>
            </a:r>
            <a:r>
              <a:rPr lang="en-US" sz="2400" dirty="0"/>
              <a:t>Online Resources exclusive for Duke MBA Alumni</a:t>
            </a:r>
            <a:endParaRPr lang="en-US" sz="14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/>
              <a:t>Presentations, Job Postings, Databases, Resume Book, Samples and Tips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400" dirty="0"/>
              <a:t>Alumni Career Page Link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400" dirty="0"/>
              <a:t>Going Global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400" dirty="0"/>
              <a:t>Alumni Clubs and </a:t>
            </a:r>
            <a:r>
              <a:rPr lang="en-US" sz="1400" dirty="0" smtClean="0"/>
              <a:t>Database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400" dirty="0" smtClean="0">
                <a:hlinkClick r:id="rId3"/>
              </a:rPr>
              <a:t>Alumni-careers@duke.edu</a:t>
            </a:r>
            <a:r>
              <a:rPr lang="en-US" sz="1400" dirty="0" smtClean="0"/>
              <a:t> for questions, coaching requests…</a:t>
            </a:r>
            <a:endParaRPr lang="en-US" sz="1400" dirty="0"/>
          </a:p>
          <a:p>
            <a:pPr marL="342900" indent="-342900">
              <a:buFont typeface="Wingdings" pitchFamily="2" charset="2"/>
              <a:buChar char="ü"/>
            </a:pPr>
            <a:endParaRPr lang="en-US" sz="12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400" dirty="0"/>
              <a:t>Short-term Coaching (</a:t>
            </a:r>
            <a:r>
              <a:rPr lang="en-US" sz="2000" dirty="0"/>
              <a:t>3-4 sessions</a:t>
            </a:r>
            <a:r>
              <a:rPr lang="en-US" sz="2400" dirty="0"/>
              <a:t>) for those in current transition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/>
              <a:t>Executive Career Consultants at Duke</a:t>
            </a:r>
          </a:p>
          <a:p>
            <a:pPr marL="342900" indent="-342900">
              <a:buFont typeface="Wingdings" pitchFamily="2" charset="2"/>
              <a:buChar char="ü"/>
            </a:pPr>
            <a:endParaRPr lang="en-US" sz="12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400" dirty="0"/>
              <a:t>Regional and longer-term coaching options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/>
              <a:t>Partnership with Lee Hecht Harrison Offices</a:t>
            </a:r>
          </a:p>
          <a:p>
            <a:pPr marL="342900" indent="-342900">
              <a:buFont typeface="Wingdings" pitchFamily="2" charset="2"/>
              <a:buChar char="ü"/>
            </a:pPr>
            <a:endParaRPr lang="en-US" sz="1200" dirty="0">
              <a:latin typeface="Humnst777 Cn BT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sz="2400" dirty="0"/>
              <a:t>Regional and Virtual Workshops</a:t>
            </a:r>
            <a:r>
              <a:rPr lang="en-US" sz="2400" dirty="0">
                <a:latin typeface="Humnst777 Cn BT"/>
              </a:rPr>
              <a:t>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/>
              <a:t>Road shows brought to you in Partnership with Alumni Relations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28600" y="0"/>
            <a:ext cx="6019800" cy="563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MS PGothic" pitchFamily="34" charset="-128"/>
                <a:cs typeface="ＭＳ Ｐゴシック" pitchFamily="-110" charset="-128"/>
              </a:rPr>
              <a:t>Career Services for Alumni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MS PGothic" pitchFamily="34" charset="-128"/>
              <a:cs typeface="ＭＳ Ｐゴシック" pitchFamily="-110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56" grpId="0" build="p" bldLvl="2"/>
    </p:bldLst>
  </p:timing>
</p:sld>
</file>

<file path=ppt/theme/theme1.xml><?xml version="1.0" encoding="utf-8"?>
<a:theme xmlns:a="http://schemas.openxmlformats.org/drawingml/2006/main" name="Duke MBA - Rethinking Boundaries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011 FY CareerLeader Session - 8-25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2011 FY CareerLeader Session - 8-25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uke MBA - Rethinking Boundaries">
  <a:themeElements>
    <a:clrScheme name="Duke MBA - Rethinking Boundaries 14">
      <a:dk1>
        <a:srgbClr val="000000"/>
      </a:dk1>
      <a:lt1>
        <a:srgbClr val="FFFFFF"/>
      </a:lt1>
      <a:dk2>
        <a:srgbClr val="000099"/>
      </a:dk2>
      <a:lt2>
        <a:srgbClr val="666666"/>
      </a:lt2>
      <a:accent1>
        <a:srgbClr val="CCCCCC"/>
      </a:accent1>
      <a:accent2>
        <a:srgbClr val="FFFF00"/>
      </a:accent2>
      <a:accent3>
        <a:srgbClr val="FFFFFF"/>
      </a:accent3>
      <a:accent4>
        <a:srgbClr val="000000"/>
      </a:accent4>
      <a:accent5>
        <a:srgbClr val="E2E2E2"/>
      </a:accent5>
      <a:accent6>
        <a:srgbClr val="E7E700"/>
      </a:accent6>
      <a:hlink>
        <a:srgbClr val="3A4AA0"/>
      </a:hlink>
      <a:folHlink>
        <a:srgbClr val="929BC5"/>
      </a:folHlink>
    </a:clrScheme>
    <a:fontScheme name="Duke MBA - Rethinking Boundaries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uke MBA - Rethinking Boundari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uke MBA - Rethinking Boundaries 13">
        <a:dk1>
          <a:srgbClr val="000000"/>
        </a:dk1>
        <a:lt1>
          <a:srgbClr val="FFFFFF"/>
        </a:lt1>
        <a:dk2>
          <a:srgbClr val="000099"/>
        </a:dk2>
        <a:lt2>
          <a:srgbClr val="999999"/>
        </a:lt2>
        <a:accent1>
          <a:srgbClr val="6979B9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B9BED9"/>
        </a:accent5>
        <a:accent6>
          <a:srgbClr val="E7E700"/>
        </a:accent6>
        <a:hlink>
          <a:srgbClr val="000099"/>
        </a:hlink>
        <a:folHlink>
          <a:srgbClr val="00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uke MBA - Rethinking Boundaries 14">
        <a:dk1>
          <a:srgbClr val="000000"/>
        </a:dk1>
        <a:lt1>
          <a:srgbClr val="FFFFFF"/>
        </a:lt1>
        <a:dk2>
          <a:srgbClr val="000099"/>
        </a:dk2>
        <a:lt2>
          <a:srgbClr val="666666"/>
        </a:lt2>
        <a:accent1>
          <a:srgbClr val="CCCCCC"/>
        </a:accent1>
        <a:accent2>
          <a:srgbClr val="FFFF0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E7E700"/>
        </a:accent6>
        <a:hlink>
          <a:srgbClr val="3A4AA0"/>
        </a:hlink>
        <a:folHlink>
          <a:srgbClr val="929B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4642</TotalTime>
  <Words>810</Words>
  <Application>Microsoft Office PowerPoint</Application>
  <PresentationFormat>On-screen Show (4:3)</PresentationFormat>
  <Paragraphs>251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Duke MBA - Rethinking Boundaries</vt:lpstr>
      <vt:lpstr>2011 FY CareerLeader Session - 8-25</vt:lpstr>
      <vt:lpstr>1_2011 FY CareerLeader Session - 8-25</vt:lpstr>
      <vt:lpstr>1_Duke MBA - Rethinking Boundaries</vt:lpstr>
      <vt:lpstr>Career Change and Re-Invention During the Later Stages              of Your Work Life </vt:lpstr>
      <vt:lpstr>Maintain or Reinvent?</vt:lpstr>
      <vt:lpstr>Proactive Career Management</vt:lpstr>
      <vt:lpstr>Slide 4</vt:lpstr>
      <vt:lpstr>Trends</vt:lpstr>
      <vt:lpstr>Areas of opportunity and growth</vt:lpstr>
      <vt:lpstr>Reinvention requires a thoughtful and purposeful approach</vt:lpstr>
      <vt:lpstr>Challenge limiting assumptions about age: </vt:lpstr>
      <vt:lpstr>Selling the Age Advantage </vt:lpstr>
      <vt:lpstr>Prep for change</vt:lpstr>
      <vt:lpstr>Create your strategy</vt:lpstr>
      <vt:lpstr>Pot Holes</vt:lpstr>
      <vt:lpstr>Box of Chocolates</vt:lpstr>
      <vt:lpstr>If you find yourself in search mode</vt:lpstr>
      <vt:lpstr>Online Resources</vt:lpstr>
      <vt:lpstr>Print Resources </vt:lpstr>
      <vt:lpstr>Training Resources</vt:lpstr>
      <vt:lpstr>Slide 18</vt:lpstr>
    </vt:vector>
  </TitlesOfParts>
  <Company>Duke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Weekend '09 alumni services presentation</dc:title>
  <dc:creator>Erin Gasch</dc:creator>
  <cp:lastModifiedBy>CMC - Lisa Schwartz</cp:lastModifiedBy>
  <cp:revision>479</cp:revision>
  <dcterms:created xsi:type="dcterms:W3CDTF">2009-02-09T20:53:38Z</dcterms:created>
  <dcterms:modified xsi:type="dcterms:W3CDTF">2010-12-07T19:26:41Z</dcterms:modified>
</cp:coreProperties>
</file>