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ppt/notesSlides/notesSlide9.xml" ContentType="application/vnd.openxmlformats-officedocument.presentationml.notesSlide+xml"/>
  <Override PartName="/ppt/notesSlides/notesSlide7.xml" ContentType="application/vnd.openxmlformats-officedocument.presentationml.notesSlide+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Default Extension="vml" ContentType="application/vnd.openxmlformats-officedocument.vmlDrawing"/>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49" r:id="rId2"/>
    <p:sldMasterId id="2147483650" r:id="rId3"/>
    <p:sldMasterId id="2147483651" r:id="rId4"/>
  </p:sldMasterIdLst>
  <p:notesMasterIdLst>
    <p:notesMasterId r:id="rId30"/>
  </p:notesMasterIdLst>
  <p:handoutMasterIdLst>
    <p:handoutMasterId r:id="rId31"/>
  </p:handoutMasterIdLst>
  <p:sldIdLst>
    <p:sldId id="951" r:id="rId5"/>
    <p:sldId id="970" r:id="rId6"/>
    <p:sldId id="961" r:id="rId7"/>
    <p:sldId id="952" r:id="rId8"/>
    <p:sldId id="971" r:id="rId9"/>
    <p:sldId id="972" r:id="rId10"/>
    <p:sldId id="953" r:id="rId11"/>
    <p:sldId id="954" r:id="rId12"/>
    <p:sldId id="955" r:id="rId13"/>
    <p:sldId id="956" r:id="rId14"/>
    <p:sldId id="957" r:id="rId15"/>
    <p:sldId id="958" r:id="rId16"/>
    <p:sldId id="969" r:id="rId17"/>
    <p:sldId id="959" r:id="rId18"/>
    <p:sldId id="960" r:id="rId19"/>
    <p:sldId id="966" r:id="rId20"/>
    <p:sldId id="962" r:id="rId21"/>
    <p:sldId id="927" r:id="rId22"/>
    <p:sldId id="973" r:id="rId23"/>
    <p:sldId id="963" r:id="rId24"/>
    <p:sldId id="964" r:id="rId25"/>
    <p:sldId id="974" r:id="rId26"/>
    <p:sldId id="965" r:id="rId27"/>
    <p:sldId id="814" r:id="rId28"/>
    <p:sldId id="967" r:id="rId29"/>
  </p:sldIdLst>
  <p:sldSz cx="9144000" cy="6858000" type="screen4x3"/>
  <p:notesSz cx="7010400" cy="9296400"/>
  <p:defaultTextStyle>
    <a:defPPr>
      <a:defRPr lang="en-US"/>
    </a:defPPr>
    <a:lvl1pPr algn="l" rtl="0" fontAlgn="base">
      <a:spcBef>
        <a:spcPct val="0"/>
      </a:spcBef>
      <a:spcAft>
        <a:spcPct val="0"/>
      </a:spcAft>
      <a:defRPr sz="2400" b="1" kern="1200">
        <a:solidFill>
          <a:schemeClr val="tx1"/>
        </a:solidFill>
        <a:latin typeface="Times New Roman" pitchFamily="18" charset="0"/>
        <a:ea typeface="+mn-ea"/>
        <a:cs typeface="Arial" charset="0"/>
      </a:defRPr>
    </a:lvl1pPr>
    <a:lvl2pPr marL="457200" algn="l" rtl="0" fontAlgn="base">
      <a:spcBef>
        <a:spcPct val="0"/>
      </a:spcBef>
      <a:spcAft>
        <a:spcPct val="0"/>
      </a:spcAft>
      <a:defRPr sz="2400" b="1" kern="1200">
        <a:solidFill>
          <a:schemeClr val="tx1"/>
        </a:solidFill>
        <a:latin typeface="Times New Roman" pitchFamily="18" charset="0"/>
        <a:ea typeface="+mn-ea"/>
        <a:cs typeface="Arial" charset="0"/>
      </a:defRPr>
    </a:lvl2pPr>
    <a:lvl3pPr marL="914400" algn="l" rtl="0" fontAlgn="base">
      <a:spcBef>
        <a:spcPct val="0"/>
      </a:spcBef>
      <a:spcAft>
        <a:spcPct val="0"/>
      </a:spcAft>
      <a:defRPr sz="2400" b="1" kern="1200">
        <a:solidFill>
          <a:schemeClr val="tx1"/>
        </a:solidFill>
        <a:latin typeface="Times New Roman" pitchFamily="18" charset="0"/>
        <a:ea typeface="+mn-ea"/>
        <a:cs typeface="Arial" charset="0"/>
      </a:defRPr>
    </a:lvl3pPr>
    <a:lvl4pPr marL="1371600" algn="l" rtl="0" fontAlgn="base">
      <a:spcBef>
        <a:spcPct val="0"/>
      </a:spcBef>
      <a:spcAft>
        <a:spcPct val="0"/>
      </a:spcAft>
      <a:defRPr sz="2400" b="1" kern="1200">
        <a:solidFill>
          <a:schemeClr val="tx1"/>
        </a:solidFill>
        <a:latin typeface="Times New Roman" pitchFamily="18" charset="0"/>
        <a:ea typeface="+mn-ea"/>
        <a:cs typeface="Arial" charset="0"/>
      </a:defRPr>
    </a:lvl4pPr>
    <a:lvl5pPr marL="1828800" algn="l" rtl="0" fontAlgn="base">
      <a:spcBef>
        <a:spcPct val="0"/>
      </a:spcBef>
      <a:spcAft>
        <a:spcPct val="0"/>
      </a:spcAft>
      <a:defRPr sz="2400" b="1" kern="1200">
        <a:solidFill>
          <a:schemeClr val="tx1"/>
        </a:solidFill>
        <a:latin typeface="Times New Roman" pitchFamily="18" charset="0"/>
        <a:ea typeface="+mn-ea"/>
        <a:cs typeface="Arial" charset="0"/>
      </a:defRPr>
    </a:lvl5pPr>
    <a:lvl6pPr marL="2286000" algn="l" defTabSz="914400" rtl="0" eaLnBrk="1" latinLnBrk="0" hangingPunct="1">
      <a:defRPr sz="2400" b="1" kern="1200">
        <a:solidFill>
          <a:schemeClr val="tx1"/>
        </a:solidFill>
        <a:latin typeface="Times New Roman" pitchFamily="18" charset="0"/>
        <a:ea typeface="+mn-ea"/>
        <a:cs typeface="Arial" charset="0"/>
      </a:defRPr>
    </a:lvl6pPr>
    <a:lvl7pPr marL="2743200" algn="l" defTabSz="914400" rtl="0" eaLnBrk="1" latinLnBrk="0" hangingPunct="1">
      <a:defRPr sz="2400" b="1" kern="1200">
        <a:solidFill>
          <a:schemeClr val="tx1"/>
        </a:solidFill>
        <a:latin typeface="Times New Roman" pitchFamily="18" charset="0"/>
        <a:ea typeface="+mn-ea"/>
        <a:cs typeface="Arial" charset="0"/>
      </a:defRPr>
    </a:lvl7pPr>
    <a:lvl8pPr marL="3200400" algn="l" defTabSz="914400" rtl="0" eaLnBrk="1" latinLnBrk="0" hangingPunct="1">
      <a:defRPr sz="2400" b="1" kern="1200">
        <a:solidFill>
          <a:schemeClr val="tx1"/>
        </a:solidFill>
        <a:latin typeface="Times New Roman" pitchFamily="18" charset="0"/>
        <a:ea typeface="+mn-ea"/>
        <a:cs typeface="Arial" charset="0"/>
      </a:defRPr>
    </a:lvl8pPr>
    <a:lvl9pPr marL="3657600" algn="l" defTabSz="914400" rtl="0" eaLnBrk="1" latinLnBrk="0" hangingPunct="1">
      <a:defRPr sz="2400" b="1" kern="1200">
        <a:solidFill>
          <a:schemeClr val="tx1"/>
        </a:solidFill>
        <a:latin typeface="Times New Roman" pitchFamily="18"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0000"/>
    <a:srgbClr val="DDDDDD"/>
    <a:srgbClr val="FFFF00"/>
    <a:srgbClr val="009900"/>
    <a:srgbClr val="006600"/>
    <a:srgbClr val="CC6600"/>
    <a:srgbClr val="99FF66"/>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8922" autoAdjust="0"/>
    <p:restoredTop sz="90290" autoAdjust="0"/>
  </p:normalViewPr>
  <p:slideViewPr>
    <p:cSldViewPr>
      <p:cViewPr varScale="1">
        <p:scale>
          <a:sx n="71" d="100"/>
          <a:sy n="71" d="100"/>
        </p:scale>
        <p:origin x="-870"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66" d="100"/>
          <a:sy n="66" d="100"/>
        </p:scale>
        <p:origin x="-2256" y="-72"/>
      </p:cViewPr>
      <p:guideLst>
        <p:guide orient="horz" pos="2928"/>
        <p:guide pos="220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3040063" cy="463550"/>
          </a:xfrm>
          <a:prstGeom prst="rect">
            <a:avLst/>
          </a:prstGeom>
          <a:noFill/>
          <a:ln w="9525">
            <a:noFill/>
            <a:miter lim="800000"/>
            <a:headEnd/>
            <a:tailEnd/>
          </a:ln>
        </p:spPr>
        <p:txBody>
          <a:bodyPr vert="horz" wrap="square" lIns="93491" tIns="46746" rIns="93491" bIns="46746" numCol="1" anchor="t" anchorCtr="0" compatLnSpc="1">
            <a:prstTxWarp prst="textNoShape">
              <a:avLst/>
            </a:prstTxWarp>
          </a:bodyPr>
          <a:lstStyle>
            <a:lvl1pPr defTabSz="935038">
              <a:defRPr sz="1100" b="0">
                <a:cs typeface="+mn-cs"/>
              </a:defRPr>
            </a:lvl1pPr>
          </a:lstStyle>
          <a:p>
            <a:pPr>
              <a:defRPr/>
            </a:pPr>
            <a:endParaRPr lang="en-US"/>
          </a:p>
        </p:txBody>
      </p:sp>
      <p:sp>
        <p:nvSpPr>
          <p:cNvPr id="39939" name="Rectangle 3"/>
          <p:cNvSpPr>
            <a:spLocks noGrp="1" noChangeArrowheads="1"/>
          </p:cNvSpPr>
          <p:nvPr>
            <p:ph type="dt" idx="1"/>
          </p:nvPr>
        </p:nvSpPr>
        <p:spPr bwMode="auto">
          <a:xfrm>
            <a:off x="3968750" y="0"/>
            <a:ext cx="3040063" cy="463550"/>
          </a:xfrm>
          <a:prstGeom prst="rect">
            <a:avLst/>
          </a:prstGeom>
          <a:noFill/>
          <a:ln w="9525">
            <a:noFill/>
            <a:miter lim="800000"/>
            <a:headEnd/>
            <a:tailEnd/>
          </a:ln>
        </p:spPr>
        <p:txBody>
          <a:bodyPr vert="horz" wrap="square" lIns="93491" tIns="46746" rIns="93491" bIns="46746" numCol="1" anchor="t" anchorCtr="0" compatLnSpc="1">
            <a:prstTxWarp prst="textNoShape">
              <a:avLst/>
            </a:prstTxWarp>
          </a:bodyPr>
          <a:lstStyle>
            <a:lvl1pPr algn="r" defTabSz="935038">
              <a:defRPr sz="1100" b="0">
                <a:cs typeface="+mn-cs"/>
              </a:defRPr>
            </a:lvl1pPr>
          </a:lstStyle>
          <a:p>
            <a:pPr>
              <a:defRPr/>
            </a:pPr>
            <a:endParaRPr lang="en-US"/>
          </a:p>
        </p:txBody>
      </p:sp>
      <p:sp>
        <p:nvSpPr>
          <p:cNvPr id="52228" name="Rectangle 4"/>
          <p:cNvSpPr>
            <a:spLocks noGrp="1" noRot="1" noChangeAspect="1" noChangeArrowheads="1" noTextEdit="1"/>
          </p:cNvSpPr>
          <p:nvPr>
            <p:ph type="sldImg" idx="2"/>
          </p:nvPr>
        </p:nvSpPr>
        <p:spPr bwMode="auto">
          <a:xfrm>
            <a:off x="1182688" y="698500"/>
            <a:ext cx="4648200" cy="3486150"/>
          </a:xfrm>
          <a:prstGeom prst="rect">
            <a:avLst/>
          </a:prstGeom>
          <a:noFill/>
          <a:ln w="9525">
            <a:solidFill>
              <a:srgbClr val="000000"/>
            </a:solidFill>
            <a:miter lim="800000"/>
            <a:headEnd/>
            <a:tailEnd/>
          </a:ln>
        </p:spPr>
      </p:sp>
      <p:sp>
        <p:nvSpPr>
          <p:cNvPr id="39941" name="Rectangle 5"/>
          <p:cNvSpPr>
            <a:spLocks noGrp="1" noChangeArrowheads="1"/>
          </p:cNvSpPr>
          <p:nvPr>
            <p:ph type="body" sz="quarter" idx="3"/>
          </p:nvPr>
        </p:nvSpPr>
        <p:spPr bwMode="auto">
          <a:xfrm>
            <a:off x="701675" y="4414838"/>
            <a:ext cx="5607050" cy="4183062"/>
          </a:xfrm>
          <a:prstGeom prst="rect">
            <a:avLst/>
          </a:prstGeom>
          <a:noFill/>
          <a:ln w="9525">
            <a:noFill/>
            <a:miter lim="800000"/>
            <a:headEnd/>
            <a:tailEnd/>
          </a:ln>
        </p:spPr>
        <p:txBody>
          <a:bodyPr vert="horz" wrap="square" lIns="93491" tIns="46746" rIns="93491" bIns="46746"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9942" name="Rectangle 6"/>
          <p:cNvSpPr>
            <a:spLocks noGrp="1" noChangeArrowheads="1"/>
          </p:cNvSpPr>
          <p:nvPr>
            <p:ph type="ftr" sz="quarter" idx="4"/>
          </p:nvPr>
        </p:nvSpPr>
        <p:spPr bwMode="auto">
          <a:xfrm>
            <a:off x="0" y="8831263"/>
            <a:ext cx="3040063" cy="463550"/>
          </a:xfrm>
          <a:prstGeom prst="rect">
            <a:avLst/>
          </a:prstGeom>
          <a:noFill/>
          <a:ln w="9525">
            <a:noFill/>
            <a:miter lim="800000"/>
            <a:headEnd/>
            <a:tailEnd/>
          </a:ln>
        </p:spPr>
        <p:txBody>
          <a:bodyPr vert="horz" wrap="square" lIns="93491" tIns="46746" rIns="93491" bIns="46746" numCol="1" anchor="b" anchorCtr="0" compatLnSpc="1">
            <a:prstTxWarp prst="textNoShape">
              <a:avLst/>
            </a:prstTxWarp>
          </a:bodyPr>
          <a:lstStyle>
            <a:lvl1pPr defTabSz="935038">
              <a:defRPr sz="1100" b="0">
                <a:cs typeface="+mn-cs"/>
              </a:defRPr>
            </a:lvl1pPr>
          </a:lstStyle>
          <a:p>
            <a:pPr>
              <a:defRPr/>
            </a:pPr>
            <a:endParaRPr lang="en-US"/>
          </a:p>
        </p:txBody>
      </p:sp>
      <p:sp>
        <p:nvSpPr>
          <p:cNvPr id="39943" name="Rectangle 7"/>
          <p:cNvSpPr>
            <a:spLocks noGrp="1" noChangeArrowheads="1"/>
          </p:cNvSpPr>
          <p:nvPr>
            <p:ph type="sldNum" sz="quarter" idx="5"/>
          </p:nvPr>
        </p:nvSpPr>
        <p:spPr bwMode="auto">
          <a:xfrm>
            <a:off x="3968750" y="8831263"/>
            <a:ext cx="3040063" cy="463550"/>
          </a:xfrm>
          <a:prstGeom prst="rect">
            <a:avLst/>
          </a:prstGeom>
          <a:noFill/>
          <a:ln w="9525">
            <a:noFill/>
            <a:miter lim="800000"/>
            <a:headEnd/>
            <a:tailEnd/>
          </a:ln>
        </p:spPr>
        <p:txBody>
          <a:bodyPr vert="horz" wrap="square" lIns="93491" tIns="46746" rIns="93491" bIns="46746" numCol="1" anchor="b" anchorCtr="0" compatLnSpc="1">
            <a:prstTxWarp prst="textNoShape">
              <a:avLst/>
            </a:prstTxWarp>
          </a:bodyPr>
          <a:lstStyle>
            <a:lvl1pPr algn="r" defTabSz="935038">
              <a:defRPr sz="1100" b="0">
                <a:cs typeface="+mn-cs"/>
              </a:defRPr>
            </a:lvl1pPr>
          </a:lstStyle>
          <a:p>
            <a:pPr>
              <a:defRPr/>
            </a:pPr>
            <a:fld id="{B4E091E3-392C-4FA0-8B21-8925CB513FF7}"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Rot="1" noChangeAspect="1" noChangeArrowheads="1" noTextEdit="1"/>
          </p:cNvSpPr>
          <p:nvPr>
            <p:ph type="sldImg"/>
          </p:nvPr>
        </p:nvSpPr>
        <p:spPr>
          <a:xfrm>
            <a:off x="1181100" y="698500"/>
            <a:ext cx="4649788" cy="3486150"/>
          </a:xfrm>
          <a:ln/>
        </p:spPr>
      </p:sp>
      <p:sp>
        <p:nvSpPr>
          <p:cNvPr id="68610" name="Rectangle 3"/>
          <p:cNvSpPr>
            <a:spLocks noGrp="1" noChangeArrowheads="1"/>
          </p:cNvSpPr>
          <p:nvPr>
            <p:ph type="body" idx="1"/>
          </p:nvPr>
        </p:nvSpPr>
        <p:spPr>
          <a:noFill/>
          <a:ln/>
        </p:spPr>
        <p:txBody>
          <a:bodyPr/>
          <a:lstStyle/>
          <a:p>
            <a:pPr eaLnBrk="1" hangingPunct="1">
              <a:lnSpc>
                <a:spcPct val="80000"/>
              </a:lnSpc>
            </a:pPr>
            <a:r>
              <a:rPr lang="en-US" sz="900" b="1" smtClean="0">
                <a:latin typeface="Arial" charset="0"/>
              </a:rPr>
              <a:t>         </a:t>
            </a:r>
            <a:r>
              <a:rPr lang="en-US" sz="900" smtClean="0">
                <a:latin typeface="Arial" charset="0"/>
              </a:rPr>
              <a:t>                                                                                                                                                                                                                                                                                                                                                                                                                                                                                                                                                                                                                                                                                                                                                                                                          </a:t>
            </a:r>
            <a:r>
              <a:rPr lang="en-US" sz="900" b="1" smtClean="0">
                <a:latin typeface="Arial" charset="0"/>
              </a:rPr>
              <a:t>     </a:t>
            </a:r>
            <a:r>
              <a:rPr lang="en-US" sz="900" smtClean="0">
                <a:latin typeface="Arial" charset="0"/>
              </a:rPr>
              <a:t>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Rot="1" noChangeAspect="1" noChangeArrowheads="1" noTextEdit="1"/>
          </p:cNvSpPr>
          <p:nvPr>
            <p:ph type="sldImg"/>
          </p:nvPr>
        </p:nvSpPr>
        <p:spPr>
          <a:xfrm>
            <a:off x="1182688" y="700088"/>
            <a:ext cx="4648200" cy="3486150"/>
          </a:xfrm>
          <a:ln/>
        </p:spPr>
      </p:sp>
      <p:sp>
        <p:nvSpPr>
          <p:cNvPr id="71682" name="Rectangle 3"/>
          <p:cNvSpPr>
            <a:spLocks noGrp="1" noChangeArrowheads="1"/>
          </p:cNvSpPr>
          <p:nvPr>
            <p:ph type="body" idx="1"/>
          </p:nvPr>
        </p:nvSpPr>
        <p:spPr>
          <a:xfrm>
            <a:off x="701675" y="4414838"/>
            <a:ext cx="5607050" cy="4181475"/>
          </a:xfrm>
          <a:noFill/>
          <a:ln/>
        </p:spPr>
        <p:txBody>
          <a:bodyPr/>
          <a:lstStyle/>
          <a:p>
            <a:pPr eaLnBrk="1" hangingPunct="1">
              <a:lnSpc>
                <a:spcPct val="80000"/>
              </a:lnSpc>
            </a:pPr>
            <a:endParaRPr lang="en-US" sz="100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Rot="1" noChangeAspect="1" noChangeArrowheads="1" noTextEdit="1"/>
          </p:cNvSpPr>
          <p:nvPr>
            <p:ph type="sldImg"/>
          </p:nvPr>
        </p:nvSpPr>
        <p:spPr>
          <a:ln/>
        </p:spPr>
      </p:sp>
      <p:sp>
        <p:nvSpPr>
          <p:cNvPr id="7373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txBox="1">
            <a:spLocks noGrp="1" noChangeArrowheads="1"/>
          </p:cNvSpPr>
          <p:nvPr/>
        </p:nvSpPr>
        <p:spPr bwMode="auto">
          <a:xfrm>
            <a:off x="3970338" y="8831263"/>
            <a:ext cx="3038475" cy="463550"/>
          </a:xfrm>
          <a:prstGeom prst="rect">
            <a:avLst/>
          </a:prstGeom>
          <a:noFill/>
          <a:ln w="9525">
            <a:noFill/>
            <a:miter lim="800000"/>
            <a:headEnd/>
            <a:tailEnd/>
          </a:ln>
        </p:spPr>
        <p:txBody>
          <a:bodyPr lIns="93164" tIns="46582" rIns="93164" bIns="46582" anchor="b"/>
          <a:lstStyle/>
          <a:p>
            <a:pPr algn="r" defTabSz="881063"/>
            <a:fld id="{17F520A4-C1EA-4ABA-9F5A-9883D226A3C9}" type="slidenum">
              <a:rPr lang="en-US" sz="1200">
                <a:latin typeface="Calibri" pitchFamily="34" charset="0"/>
              </a:rPr>
              <a:pPr algn="r" defTabSz="881063"/>
              <a:t>18</a:t>
            </a:fld>
            <a:endParaRPr lang="en-US" sz="1200">
              <a:latin typeface="Calibri" pitchFamily="34" charset="0"/>
            </a:endParaRPr>
          </a:p>
        </p:txBody>
      </p:sp>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txBox="1">
            <a:spLocks noGrp="1" noChangeArrowheads="1"/>
          </p:cNvSpPr>
          <p:nvPr/>
        </p:nvSpPr>
        <p:spPr bwMode="auto">
          <a:xfrm>
            <a:off x="3970338" y="8831263"/>
            <a:ext cx="3038475" cy="463550"/>
          </a:xfrm>
          <a:prstGeom prst="rect">
            <a:avLst/>
          </a:prstGeom>
          <a:noFill/>
          <a:ln w="9525">
            <a:noFill/>
            <a:miter lim="800000"/>
            <a:headEnd/>
            <a:tailEnd/>
          </a:ln>
        </p:spPr>
        <p:txBody>
          <a:bodyPr lIns="93164" tIns="46582" rIns="93164" bIns="46582" anchor="b"/>
          <a:lstStyle/>
          <a:p>
            <a:pPr algn="r" defTabSz="881063"/>
            <a:fld id="{FCB6E5B5-EE64-4099-B83D-65431AAAA89C}" type="slidenum">
              <a:rPr lang="en-US" sz="1200">
                <a:latin typeface="Calibri" pitchFamily="34" charset="0"/>
              </a:rPr>
              <a:pPr algn="r" defTabSz="881063"/>
              <a:t>19</a:t>
            </a:fld>
            <a:endParaRPr lang="en-US" sz="1200">
              <a:latin typeface="Calibri" pitchFamily="34"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Rot="1" noChangeAspect="1" noChangeArrowheads="1" noTextEdit="1"/>
          </p:cNvSpPr>
          <p:nvPr>
            <p:ph type="sldImg"/>
          </p:nvPr>
        </p:nvSpPr>
        <p:spPr>
          <a:ln/>
        </p:spPr>
      </p:sp>
      <p:sp>
        <p:nvSpPr>
          <p:cNvPr id="7885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Rot="1" noChangeAspect="1" noChangeArrowheads="1" noTextEdit="1"/>
          </p:cNvSpPr>
          <p:nvPr>
            <p:ph type="sldImg"/>
          </p:nvPr>
        </p:nvSpPr>
        <p:spPr>
          <a:ln/>
        </p:spPr>
      </p:sp>
      <p:sp>
        <p:nvSpPr>
          <p:cNvPr id="8089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Rot="1" noChangeAspect="1" noChangeArrowheads="1" noTextEdit="1"/>
          </p:cNvSpPr>
          <p:nvPr>
            <p:ph type="sldImg"/>
          </p:nvPr>
        </p:nvSpPr>
        <p:spPr>
          <a:xfrm>
            <a:off x="1182688" y="700088"/>
            <a:ext cx="4648200" cy="3486150"/>
          </a:xfrm>
          <a:ln/>
        </p:spPr>
      </p:sp>
      <p:sp>
        <p:nvSpPr>
          <p:cNvPr id="82946" name="Rectangle 3"/>
          <p:cNvSpPr>
            <a:spLocks noGrp="1" noChangeArrowheads="1"/>
          </p:cNvSpPr>
          <p:nvPr>
            <p:ph type="body" idx="1"/>
          </p:nvPr>
        </p:nvSpPr>
        <p:spPr>
          <a:xfrm>
            <a:off x="701675" y="4414838"/>
            <a:ext cx="5607050" cy="4181475"/>
          </a:xfrm>
          <a:noFill/>
          <a:ln/>
        </p:spPr>
        <p:txBody>
          <a:bodyPr/>
          <a:lstStyle/>
          <a:p>
            <a:pPr eaLnBrk="1" hangingPunct="1">
              <a:lnSpc>
                <a:spcPct val="80000"/>
              </a:lnSpc>
            </a:pPr>
            <a:r>
              <a:rPr lang="en-US" sz="1000" b="1" smtClean="0"/>
              <a:t>         </a:t>
            </a:r>
            <a:r>
              <a:rPr lang="en-US" sz="1000" smtClean="0"/>
              <a:t>                                                                                                                                                                                                                                                                                                                                                                                                                                                                                                                                                                                                                                                                                                                                                                                                          </a:t>
            </a:r>
            <a:r>
              <a:rPr lang="en-US" sz="1000" b="1" smtClean="0"/>
              <a:t>     </a:t>
            </a:r>
            <a:r>
              <a:rPr lang="en-US" sz="1000" smtClean="0"/>
              <a:t>                                                                                                                                                                                                                                                                                                                                                                                                                                                                                                                                                                                                                  </a:t>
            </a:r>
            <a:r>
              <a:rPr lang="en-US" sz="1000" b="1" smtClean="0"/>
              <a:t>HUD VASH</a:t>
            </a:r>
          </a:p>
          <a:p>
            <a:pPr eaLnBrk="1" hangingPunct="1">
              <a:lnSpc>
                <a:spcPct val="80000"/>
              </a:lnSpc>
            </a:pPr>
            <a:r>
              <a:rPr lang="en-US" sz="1000" smtClean="0"/>
              <a:t>Replicate, partner with and learn from successful local scattered site supportive housing programs</a:t>
            </a:r>
          </a:p>
          <a:p>
            <a:pPr lvl="1" eaLnBrk="1" hangingPunct="1">
              <a:lnSpc>
                <a:spcPct val="80000"/>
              </a:lnSpc>
            </a:pPr>
            <a:r>
              <a:rPr lang="en-US" sz="1000" smtClean="0"/>
              <a:t>Shelter + Care</a:t>
            </a:r>
          </a:p>
          <a:p>
            <a:pPr lvl="1" eaLnBrk="1" hangingPunct="1">
              <a:lnSpc>
                <a:spcPct val="80000"/>
              </a:lnSpc>
            </a:pPr>
            <a:r>
              <a:rPr lang="en-US" sz="1000" smtClean="0"/>
              <a:t>Community Mental Health</a:t>
            </a:r>
          </a:p>
          <a:p>
            <a:pPr lvl="1" eaLnBrk="1" hangingPunct="1">
              <a:lnSpc>
                <a:spcPct val="80000"/>
              </a:lnSpc>
            </a:pPr>
            <a:r>
              <a:rPr lang="en-US" sz="1000" smtClean="0"/>
              <a:t>Replicate what has worked with experienced PSH for homeless Veterans across the country </a:t>
            </a:r>
          </a:p>
          <a:p>
            <a:pPr eaLnBrk="1" hangingPunct="1">
              <a:lnSpc>
                <a:spcPct val="80000"/>
              </a:lnSpc>
            </a:pPr>
            <a:r>
              <a:rPr lang="en-US" sz="1000" smtClean="0"/>
              <a:t>Use VASH vouchers to set aside units in new &amp; existing supportive housing projects </a:t>
            </a:r>
          </a:p>
          <a:p>
            <a:pPr lvl="1" eaLnBrk="1" hangingPunct="1">
              <a:lnSpc>
                <a:spcPct val="80000"/>
              </a:lnSpc>
            </a:pPr>
            <a:r>
              <a:rPr lang="en-US" sz="1000" smtClean="0"/>
              <a:t>Projects in development may need operating subsidies for units to serve homeless Veterans</a:t>
            </a:r>
          </a:p>
          <a:p>
            <a:pPr lvl="1" eaLnBrk="1" hangingPunct="1">
              <a:lnSpc>
                <a:spcPct val="80000"/>
              </a:lnSpc>
            </a:pPr>
            <a:r>
              <a:rPr lang="en-US" sz="1000" smtClean="0"/>
              <a:t>Local funding partnerships integrate capital, operating and services resources to produce supportive housing</a:t>
            </a:r>
          </a:p>
          <a:p>
            <a:pPr eaLnBrk="1" hangingPunct="1">
              <a:lnSpc>
                <a:spcPct val="80000"/>
              </a:lnSpc>
            </a:pPr>
            <a:r>
              <a:rPr lang="en-US" sz="1000" smtClean="0"/>
              <a:t>Partner with affordable housing providers who offer resident services to build healthy communities</a:t>
            </a:r>
          </a:p>
          <a:p>
            <a:pPr lvl="1" eaLnBrk="1" hangingPunct="1">
              <a:lnSpc>
                <a:spcPct val="80000"/>
              </a:lnSpc>
            </a:pPr>
            <a:r>
              <a:rPr lang="en-US" sz="1000" smtClean="0"/>
              <a:t>Integrated housing opportunities for families and people with disabilities</a:t>
            </a:r>
          </a:p>
          <a:p>
            <a:pPr eaLnBrk="1" hangingPunct="1">
              <a:lnSpc>
                <a:spcPct val="80000"/>
              </a:lnSpc>
            </a:pPr>
            <a:r>
              <a:rPr lang="en-US" sz="1000" smtClean="0"/>
              <a:t>Deliver effective supportive housing opportunities for homeless Veterans – invest in quality!</a:t>
            </a:r>
          </a:p>
          <a:p>
            <a:pPr eaLnBrk="1" hangingPunct="1">
              <a:lnSpc>
                <a:spcPct val="80000"/>
              </a:lnSpc>
            </a:pPr>
            <a:endParaRPr lang="en-US" sz="1000" b="1" smtClean="0"/>
          </a:p>
          <a:p>
            <a:pPr eaLnBrk="1" hangingPunct="1">
              <a:lnSpc>
                <a:spcPct val="80000"/>
              </a:lnSpc>
            </a:pPr>
            <a:r>
              <a:rPr lang="en-US" sz="1000" b="1" smtClean="0"/>
              <a:t>CTI</a:t>
            </a:r>
          </a:p>
          <a:p>
            <a:pPr eaLnBrk="1" hangingPunct="1">
              <a:lnSpc>
                <a:spcPct val="80000"/>
              </a:lnSpc>
            </a:pPr>
            <a:r>
              <a:rPr lang="en-US" sz="1000" smtClean="0"/>
              <a:t>- This is a time limited case management model to ensure housing stability through transitional services tiered to be reduced over time as individuals exit from institutional systems of care.</a:t>
            </a:r>
          </a:p>
          <a:p>
            <a:pPr eaLnBrk="1" hangingPunct="1">
              <a:lnSpc>
                <a:spcPct val="80000"/>
              </a:lnSpc>
            </a:pPr>
            <a:r>
              <a:rPr lang="en-US" sz="1000" smtClean="0"/>
              <a:t>- The premise is to strengthen an individual’s long-term ties to services, family, friends and other support networks to assist in reducing the possibility of an individual or family cycling out in to homelessness.</a:t>
            </a:r>
          </a:p>
          <a:p>
            <a:pPr eaLnBrk="1" hangingPunct="1">
              <a:lnSpc>
                <a:spcPct val="80000"/>
              </a:lnSpc>
            </a:pPr>
            <a:r>
              <a:rPr lang="en-US" sz="1000" smtClean="0"/>
              <a:t>-CTI ideally lasts no more than 9 months and is broken down in to 3 phases that each last approximately 3 months.</a:t>
            </a:r>
          </a:p>
          <a:p>
            <a:pPr eaLnBrk="1" hangingPunct="1">
              <a:lnSpc>
                <a:spcPct val="80000"/>
              </a:lnSpc>
            </a:pPr>
            <a:r>
              <a:rPr lang="en-US" sz="1000" smtClean="0"/>
              <a:t>- Consists of 3 phases</a:t>
            </a:r>
          </a:p>
          <a:p>
            <a:pPr lvl="1" eaLnBrk="1" hangingPunct="1">
              <a:lnSpc>
                <a:spcPct val="80000"/>
              </a:lnSpc>
            </a:pPr>
            <a:r>
              <a:rPr lang="en-US" sz="1000" smtClean="0"/>
              <a:t>Transition to Community</a:t>
            </a:r>
          </a:p>
          <a:p>
            <a:pPr lvl="1" eaLnBrk="1" hangingPunct="1">
              <a:lnSpc>
                <a:spcPct val="80000"/>
              </a:lnSpc>
            </a:pPr>
            <a:r>
              <a:rPr lang="en-US" sz="1000" smtClean="0"/>
              <a:t>Try-Out</a:t>
            </a:r>
          </a:p>
          <a:p>
            <a:pPr lvl="1" eaLnBrk="1" hangingPunct="1">
              <a:lnSpc>
                <a:spcPct val="80000"/>
              </a:lnSpc>
            </a:pPr>
            <a:r>
              <a:rPr lang="en-US" sz="1000" smtClean="0"/>
              <a:t>Transfer of Care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73DB7C54-116E-4001-9F70-F435BAE2F5D1}"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0B940ACD-F645-460A-B56A-BFBFB80B174C}"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pPr>
              <a:defRPr/>
            </a:pPr>
            <a:fld id="{EE134D74-5286-45EB-B2B1-4780E27C8D7C}"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7033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033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sldNum" sz="quarter" idx="10"/>
          </p:nvPr>
        </p:nvSpPr>
        <p:spPr>
          <a:ln/>
        </p:spPr>
        <p:txBody>
          <a:bodyPr/>
          <a:lstStyle>
            <a:lvl1pPr>
              <a:defRPr/>
            </a:lvl1pPr>
          </a:lstStyle>
          <a:p>
            <a:pPr>
              <a:defRPr/>
            </a:pPr>
            <a:fld id="{A6786640-5F39-490D-B603-A88635C4C6FF}"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
          <p:cNvSpPr>
            <a:spLocks noGrp="1" noChangeArrowheads="1"/>
          </p:cNvSpPr>
          <p:nvPr>
            <p:ph type="sldNum" sz="quarter" idx="10"/>
          </p:nvPr>
        </p:nvSpPr>
        <p:spPr>
          <a:ln/>
        </p:spPr>
        <p:txBody>
          <a:bodyPr/>
          <a:lstStyle>
            <a:lvl1pPr>
              <a:defRPr/>
            </a:lvl1pPr>
          </a:lstStyle>
          <a:p>
            <a:pPr>
              <a:defRPr/>
            </a:pPr>
            <a:fld id="{22A9650F-A136-4971-87E9-A762A0BD1844}"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
          <p:cNvSpPr>
            <a:spLocks noGrp="1" noChangeArrowheads="1"/>
          </p:cNvSpPr>
          <p:nvPr>
            <p:ph type="sldNum" sz="quarter" idx="10"/>
          </p:nvPr>
        </p:nvSpPr>
        <p:spPr>
          <a:ln/>
        </p:spPr>
        <p:txBody>
          <a:bodyPr/>
          <a:lstStyle>
            <a:lvl1pPr>
              <a:defRPr/>
            </a:lvl1pPr>
          </a:lstStyle>
          <a:p>
            <a:pPr>
              <a:defRPr/>
            </a:pPr>
            <a:fld id="{6BDF331D-A371-4A9B-9472-21AC43E4554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2299F9AE-F3F7-480F-9558-31947AADA47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E6DD9BE9-A445-4C5A-AE4A-8AA7290100D3}"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CB1F8A54-1FCD-4158-8B65-FDD4FB5C6BCE}"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51B46035-42C4-4E6F-B979-9F700990AA66}"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966788"/>
            <a:ext cx="1943100" cy="4851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966788"/>
            <a:ext cx="5676900" cy="4851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18FE9DE1-B586-4480-9976-F96578A50D16}"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966788"/>
            <a:ext cx="7772400" cy="485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6"/>
          <p:cNvSpPr>
            <a:spLocks noGrp="1" noChangeArrowheads="1"/>
          </p:cNvSpPr>
          <p:nvPr>
            <p:ph type="sldNum" sz="quarter" idx="10"/>
          </p:nvPr>
        </p:nvSpPr>
        <p:spPr>
          <a:ln/>
        </p:spPr>
        <p:txBody>
          <a:bodyPr/>
          <a:lstStyle>
            <a:lvl1pPr>
              <a:defRPr/>
            </a:lvl1pPr>
          </a:lstStyle>
          <a:p>
            <a:pPr>
              <a:defRPr/>
            </a:pPr>
            <a:fld id="{B521B5AB-2BC4-4FB6-97C0-8A737F91376C}"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966788"/>
            <a:ext cx="7772400" cy="8382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703388"/>
            <a:ext cx="7772400" cy="4114800"/>
          </a:xfrm>
        </p:spPr>
        <p:txBody>
          <a:bodyPr/>
          <a:lstStyle/>
          <a:p>
            <a:pPr lvl="0"/>
            <a:endParaRPr lang="en-US" noProof="0" smtClean="0"/>
          </a:p>
        </p:txBody>
      </p:sp>
      <p:sp>
        <p:nvSpPr>
          <p:cNvPr id="4" name="Rectangle 6"/>
          <p:cNvSpPr>
            <a:spLocks noGrp="1" noChangeArrowheads="1"/>
          </p:cNvSpPr>
          <p:nvPr>
            <p:ph type="sldNum" sz="quarter" idx="10"/>
          </p:nvPr>
        </p:nvSpPr>
        <p:spPr>
          <a:ln/>
        </p:spPr>
        <p:txBody>
          <a:bodyPr/>
          <a:lstStyle>
            <a:lvl1pPr>
              <a:defRPr/>
            </a:lvl1pPr>
          </a:lstStyle>
          <a:p>
            <a:pPr>
              <a:defRPr/>
            </a:pPr>
            <a:fld id="{63493F89-D941-4090-9D9E-639D9F2C3DA2}"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1371600"/>
            <a:ext cx="42291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371600"/>
            <a:ext cx="42291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16713" y="76200"/>
            <a:ext cx="2198687" cy="6477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17475" y="76200"/>
            <a:ext cx="6446838" cy="6477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1371600"/>
            <a:ext cx="42291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371600"/>
            <a:ext cx="42291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16713" y="76200"/>
            <a:ext cx="2198687" cy="6477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17475" y="76200"/>
            <a:ext cx="6446838" cy="6477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1371600"/>
            <a:ext cx="42291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371600"/>
            <a:ext cx="42291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16713" y="76200"/>
            <a:ext cx="2198687" cy="6477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17475" y="76200"/>
            <a:ext cx="6446838" cy="6477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2.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966788"/>
            <a:ext cx="7772400" cy="838200"/>
          </a:xfrm>
          <a:prstGeom prst="rect">
            <a:avLst/>
          </a:prstGeom>
          <a:noFill/>
          <a:ln w="9525">
            <a:noFill/>
            <a:miter lim="800000"/>
            <a:headEnd/>
            <a:tailEnd/>
          </a:ln>
          <a:effectLst/>
        </p:spPr>
        <p:txBody>
          <a:bodyPr vert="horz" wrap="square" lIns="91427" tIns="45713" rIns="91427" bIns="45713" numCol="1" anchor="ctr" anchorCtr="0" compatLnSpc="1">
            <a:prstTxWarp prst="textNoShape">
              <a:avLst/>
            </a:prstTxWarp>
          </a:bodyPr>
          <a:lstStyle/>
          <a:p>
            <a:pPr lvl="0"/>
            <a:r>
              <a:rPr lang="en-US" smtClean="0"/>
              <a:t>Energy Conservation Program</a:t>
            </a:r>
          </a:p>
        </p:txBody>
      </p:sp>
      <p:sp>
        <p:nvSpPr>
          <p:cNvPr id="84995" name="Rectangle 3"/>
          <p:cNvSpPr>
            <a:spLocks noGrp="1" noChangeArrowheads="1"/>
          </p:cNvSpPr>
          <p:nvPr>
            <p:ph type="body" idx="1"/>
          </p:nvPr>
        </p:nvSpPr>
        <p:spPr bwMode="auto">
          <a:xfrm>
            <a:off x="685800" y="1703388"/>
            <a:ext cx="7772400" cy="4114800"/>
          </a:xfrm>
          <a:prstGeom prst="rect">
            <a:avLst/>
          </a:prstGeom>
          <a:noFill/>
          <a:ln w="9525">
            <a:noFill/>
            <a:miter lim="800000"/>
            <a:headEnd/>
            <a:tailEnd/>
          </a:ln>
        </p:spPr>
        <p:txBody>
          <a:bodyPr vert="horz" wrap="square" lIns="91427" tIns="45713" rIns="91427" bIns="45713" numCol="1" anchor="t" anchorCtr="0" compatLnSpc="1">
            <a:prstTxWarp prst="textNoShape">
              <a:avLst/>
            </a:prstTxWarp>
          </a:bodyPr>
          <a:lstStyle/>
          <a:p>
            <a:pPr lvl="0"/>
            <a:r>
              <a:rPr lang="en-US" smtClean="0"/>
              <a:t>FIRST LEVEL</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30" name="Rectangle 6"/>
          <p:cNvSpPr>
            <a:spLocks noGrp="1" noChangeArrowheads="1"/>
          </p:cNvSpPr>
          <p:nvPr>
            <p:ph type="sldNum" sz="quarter" idx="4"/>
          </p:nvPr>
        </p:nvSpPr>
        <p:spPr bwMode="auto">
          <a:xfrm>
            <a:off x="7239000" y="6534150"/>
            <a:ext cx="1905000" cy="457200"/>
          </a:xfrm>
          <a:prstGeom prst="rect">
            <a:avLst/>
          </a:prstGeom>
          <a:noFill/>
          <a:ln w="9525">
            <a:noFill/>
            <a:miter lim="800000"/>
            <a:headEnd/>
            <a:tailEnd/>
          </a:ln>
          <a:effectLst/>
        </p:spPr>
        <p:txBody>
          <a:bodyPr vert="horz" wrap="square" lIns="91427" tIns="45713" rIns="91427" bIns="45713" numCol="1" anchor="t" anchorCtr="0" compatLnSpc="1">
            <a:prstTxWarp prst="textNoShape">
              <a:avLst/>
            </a:prstTxWarp>
          </a:bodyPr>
          <a:lstStyle>
            <a:lvl1pPr algn="r">
              <a:defRPr sz="1400" b="0">
                <a:latin typeface="Arial" charset="0"/>
                <a:cs typeface="+mn-cs"/>
              </a:defRPr>
            </a:lvl1pPr>
          </a:lstStyle>
          <a:p>
            <a:pPr>
              <a:defRPr/>
            </a:pPr>
            <a:fld id="{0A29AA93-931C-4F0E-83B0-4B5BF790269C}" type="slidenum">
              <a:rPr lang="en-US"/>
              <a:pPr>
                <a:defRPr/>
              </a:pPr>
              <a:t>‹#›</a:t>
            </a:fld>
            <a:endParaRPr lang="en-US"/>
          </a:p>
        </p:txBody>
      </p:sp>
      <p:sp>
        <p:nvSpPr>
          <p:cNvPr id="1032" name="Rectangle 8"/>
          <p:cNvSpPr>
            <a:spLocks noChangeArrowheads="1"/>
          </p:cNvSpPr>
          <p:nvPr userDrawn="1"/>
        </p:nvSpPr>
        <p:spPr bwMode="auto">
          <a:xfrm>
            <a:off x="0" y="0"/>
            <a:ext cx="9144000" cy="990600"/>
          </a:xfrm>
          <a:prstGeom prst="rect">
            <a:avLst/>
          </a:prstGeom>
          <a:gradFill rotWithShape="0">
            <a:gsLst>
              <a:gs pos="0">
                <a:srgbClr val="0000FF">
                  <a:gamma/>
                  <a:shade val="46275"/>
                  <a:invGamma/>
                </a:srgbClr>
              </a:gs>
              <a:gs pos="100000">
                <a:srgbClr val="0000FF"/>
              </a:gs>
            </a:gsLst>
            <a:lin ang="18900000" scaled="1"/>
          </a:gradFill>
          <a:ln w="9525">
            <a:solidFill>
              <a:schemeClr val="tx1"/>
            </a:solidFill>
            <a:miter lim="800000"/>
            <a:headEnd/>
            <a:tailEnd/>
          </a:ln>
          <a:effectLst/>
        </p:spPr>
        <p:txBody>
          <a:bodyPr wrap="none" lIns="91427" tIns="45713" rIns="91427" bIns="45713" anchor="ctr"/>
          <a:lstStyle/>
          <a:p>
            <a:pPr algn="ctr">
              <a:defRPr/>
            </a:pPr>
            <a:r>
              <a:rPr lang="en-US" b="0">
                <a:cs typeface="+mn-cs"/>
              </a:rPr>
              <a:t> </a:t>
            </a:r>
          </a:p>
        </p:txBody>
      </p:sp>
      <p:pic>
        <p:nvPicPr>
          <p:cNvPr id="84998" name="Picture 11" descr="Official_VA_Seal_embossed_web_1-25in"/>
          <p:cNvPicPr>
            <a:picLocks noChangeAspect="1" noChangeArrowheads="1"/>
          </p:cNvPicPr>
          <p:nvPr userDrawn="1"/>
        </p:nvPicPr>
        <p:blipFill>
          <a:blip r:embed="rId15" cstate="print"/>
          <a:srcRect/>
          <a:stretch>
            <a:fillRect/>
          </a:stretch>
        </p:blipFill>
        <p:spPr bwMode="auto">
          <a:xfrm>
            <a:off x="152400" y="228600"/>
            <a:ext cx="609600" cy="609600"/>
          </a:xfrm>
          <a:prstGeom prst="rect">
            <a:avLst/>
          </a:prstGeom>
          <a:noFill/>
          <a:ln w="9525">
            <a:noFill/>
            <a:miter lim="800000"/>
            <a:headEnd/>
            <a:tailEnd/>
          </a:ln>
        </p:spPr>
      </p:pic>
      <p:sp>
        <p:nvSpPr>
          <p:cNvPr id="1036" name="Text Box 12"/>
          <p:cNvSpPr txBox="1">
            <a:spLocks noChangeArrowheads="1"/>
          </p:cNvSpPr>
          <p:nvPr userDrawn="1"/>
        </p:nvSpPr>
        <p:spPr bwMode="auto">
          <a:xfrm>
            <a:off x="838200" y="304800"/>
            <a:ext cx="3657600" cy="549275"/>
          </a:xfrm>
          <a:prstGeom prst="rect">
            <a:avLst/>
          </a:prstGeom>
          <a:noFill/>
          <a:ln w="9525">
            <a:noFill/>
            <a:miter lim="800000"/>
            <a:headEnd/>
            <a:tailEnd/>
          </a:ln>
          <a:effectLst/>
        </p:spPr>
        <p:txBody>
          <a:bodyPr lIns="91427" tIns="45713" rIns="91427" bIns="45713">
            <a:spAutoFit/>
          </a:bodyPr>
          <a:lstStyle/>
          <a:p>
            <a:pPr>
              <a:spcBef>
                <a:spcPct val="50000"/>
              </a:spcBef>
              <a:defRPr/>
            </a:pPr>
            <a:r>
              <a:rPr lang="en-US" sz="1200">
                <a:solidFill>
                  <a:srgbClr val="6699FF"/>
                </a:solidFill>
                <a:latin typeface="AvantGarde" pitchFamily="34" charset="0"/>
                <a:cs typeface="+mn-cs"/>
              </a:rPr>
              <a:t>U.S. Department of Veterans Affairs</a:t>
            </a:r>
          </a:p>
          <a:p>
            <a:pPr>
              <a:spcBef>
                <a:spcPct val="50000"/>
              </a:spcBef>
              <a:defRPr/>
            </a:pPr>
            <a:r>
              <a:rPr lang="en-US" sz="1200" b="0">
                <a:solidFill>
                  <a:schemeClr val="bg1"/>
                </a:solidFill>
                <a:latin typeface="AvantGarde" pitchFamily="34" charset="0"/>
                <a:cs typeface="+mn-cs"/>
              </a:rPr>
              <a:t>Veterans Health Administration</a:t>
            </a:r>
          </a:p>
        </p:txBody>
      </p:sp>
      <p:sp>
        <p:nvSpPr>
          <p:cNvPr id="1039" name="Rectangle 15"/>
          <p:cNvSpPr>
            <a:spLocks noChangeArrowheads="1"/>
          </p:cNvSpPr>
          <p:nvPr/>
        </p:nvSpPr>
        <p:spPr bwMode="auto">
          <a:xfrm>
            <a:off x="3657600" y="152400"/>
            <a:ext cx="5486400" cy="838200"/>
          </a:xfrm>
          <a:prstGeom prst="rect">
            <a:avLst/>
          </a:prstGeom>
          <a:noFill/>
          <a:ln w="9525">
            <a:noFill/>
            <a:miter lim="800000"/>
            <a:headEnd/>
            <a:tailEnd/>
          </a:ln>
          <a:effectLst/>
        </p:spPr>
        <p:txBody>
          <a:bodyPr lIns="91427" tIns="45713" rIns="91427" bIns="45713" anchor="ctr"/>
          <a:lstStyle/>
          <a:p>
            <a:pPr>
              <a:defRPr/>
            </a:pPr>
            <a:endParaRPr lang="en-US" sz="3400" b="0" i="1">
              <a:solidFill>
                <a:schemeClr val="tx2"/>
              </a:solidFill>
              <a:effectLst>
                <a:outerShdw blurRad="38100" dist="38100" dir="2700000" algn="tl">
                  <a:srgbClr val="C0C0C0"/>
                </a:outerShdw>
              </a:effectLst>
              <a:latin typeface="AvantGarde" pitchFamily="34" charset="0"/>
              <a:cs typeface="+mn-cs"/>
            </a:endParaRPr>
          </a:p>
        </p:txBody>
      </p:sp>
    </p:spTree>
  </p:cSld>
  <p:clrMap bg1="lt1" tx1="dk1" bg2="lt2" tx2="dk2" accent1="accent1" accent2="accent2" accent3="accent3" accent4="accent4" accent5="accent5" accent6="accent6" hlink="hlink" folHlink="folHlink"/>
  <p:sldLayoutIdLst>
    <p:sldLayoutId id="2147483664" r:id="rId1"/>
    <p:sldLayoutId id="2147483663" r:id="rId2"/>
    <p:sldLayoutId id="2147483662" r:id="rId3"/>
    <p:sldLayoutId id="2147483661" r:id="rId4"/>
    <p:sldLayoutId id="2147483660" r:id="rId5"/>
    <p:sldLayoutId id="2147483659" r:id="rId6"/>
    <p:sldLayoutId id="2147483658" r:id="rId7"/>
    <p:sldLayoutId id="2147483657" r:id="rId8"/>
    <p:sldLayoutId id="2147483656" r:id="rId9"/>
    <p:sldLayoutId id="2147483655" r:id="rId10"/>
    <p:sldLayoutId id="2147483654" r:id="rId11"/>
    <p:sldLayoutId id="2147483653" r:id="rId12"/>
    <p:sldLayoutId id="2147483652" r:id="rId13"/>
  </p:sldLayoutIdLst>
  <p:hf sldNum="0" hdr="0" ftr="0" dt="0"/>
  <p:txStyles>
    <p:titleStyle>
      <a:lvl1pPr algn="l" rtl="0" eaLnBrk="0" fontAlgn="base" hangingPunct="0">
        <a:spcBef>
          <a:spcPct val="0"/>
        </a:spcBef>
        <a:spcAft>
          <a:spcPct val="0"/>
        </a:spcAft>
        <a:defRPr sz="3400" i="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400" i="1">
          <a:solidFill>
            <a:schemeClr val="tx2"/>
          </a:solidFill>
          <a:effectLst>
            <a:outerShdw blurRad="38100" dist="38100" dir="2700000" algn="tl">
              <a:srgbClr val="C0C0C0"/>
            </a:outerShdw>
          </a:effectLst>
          <a:latin typeface="AvantGarde" pitchFamily="34" charset="0"/>
        </a:defRPr>
      </a:lvl2pPr>
      <a:lvl3pPr algn="l" rtl="0" eaLnBrk="0" fontAlgn="base" hangingPunct="0">
        <a:spcBef>
          <a:spcPct val="0"/>
        </a:spcBef>
        <a:spcAft>
          <a:spcPct val="0"/>
        </a:spcAft>
        <a:defRPr sz="3400" i="1">
          <a:solidFill>
            <a:schemeClr val="tx2"/>
          </a:solidFill>
          <a:effectLst>
            <a:outerShdw blurRad="38100" dist="38100" dir="2700000" algn="tl">
              <a:srgbClr val="C0C0C0"/>
            </a:outerShdw>
          </a:effectLst>
          <a:latin typeface="AvantGarde" pitchFamily="34" charset="0"/>
        </a:defRPr>
      </a:lvl3pPr>
      <a:lvl4pPr algn="l" rtl="0" eaLnBrk="0" fontAlgn="base" hangingPunct="0">
        <a:spcBef>
          <a:spcPct val="0"/>
        </a:spcBef>
        <a:spcAft>
          <a:spcPct val="0"/>
        </a:spcAft>
        <a:defRPr sz="3400" i="1">
          <a:solidFill>
            <a:schemeClr val="tx2"/>
          </a:solidFill>
          <a:effectLst>
            <a:outerShdw blurRad="38100" dist="38100" dir="2700000" algn="tl">
              <a:srgbClr val="C0C0C0"/>
            </a:outerShdw>
          </a:effectLst>
          <a:latin typeface="AvantGarde" pitchFamily="34" charset="0"/>
        </a:defRPr>
      </a:lvl4pPr>
      <a:lvl5pPr algn="l" rtl="0" eaLnBrk="0" fontAlgn="base" hangingPunct="0">
        <a:spcBef>
          <a:spcPct val="0"/>
        </a:spcBef>
        <a:spcAft>
          <a:spcPct val="0"/>
        </a:spcAft>
        <a:defRPr sz="3400" i="1">
          <a:solidFill>
            <a:schemeClr val="tx2"/>
          </a:solidFill>
          <a:effectLst>
            <a:outerShdw blurRad="38100" dist="38100" dir="2700000" algn="tl">
              <a:srgbClr val="C0C0C0"/>
            </a:outerShdw>
          </a:effectLst>
          <a:latin typeface="AvantGarde" pitchFamily="34" charset="0"/>
        </a:defRPr>
      </a:lvl5pPr>
      <a:lvl6pPr marL="457200" algn="l" rtl="0" fontAlgn="base">
        <a:spcBef>
          <a:spcPct val="0"/>
        </a:spcBef>
        <a:spcAft>
          <a:spcPct val="0"/>
        </a:spcAft>
        <a:defRPr sz="3400" i="1">
          <a:solidFill>
            <a:schemeClr val="tx2"/>
          </a:solidFill>
          <a:effectLst>
            <a:outerShdw blurRad="38100" dist="38100" dir="2700000" algn="tl">
              <a:srgbClr val="C0C0C0"/>
            </a:outerShdw>
          </a:effectLst>
          <a:latin typeface="AvantGarde" pitchFamily="34" charset="0"/>
        </a:defRPr>
      </a:lvl6pPr>
      <a:lvl7pPr marL="914400" algn="l" rtl="0" fontAlgn="base">
        <a:spcBef>
          <a:spcPct val="0"/>
        </a:spcBef>
        <a:spcAft>
          <a:spcPct val="0"/>
        </a:spcAft>
        <a:defRPr sz="3400" i="1">
          <a:solidFill>
            <a:schemeClr val="tx2"/>
          </a:solidFill>
          <a:effectLst>
            <a:outerShdw blurRad="38100" dist="38100" dir="2700000" algn="tl">
              <a:srgbClr val="C0C0C0"/>
            </a:outerShdw>
          </a:effectLst>
          <a:latin typeface="AvantGarde" pitchFamily="34" charset="0"/>
        </a:defRPr>
      </a:lvl7pPr>
      <a:lvl8pPr marL="1371600" algn="l" rtl="0" fontAlgn="base">
        <a:spcBef>
          <a:spcPct val="0"/>
        </a:spcBef>
        <a:spcAft>
          <a:spcPct val="0"/>
        </a:spcAft>
        <a:defRPr sz="3400" i="1">
          <a:solidFill>
            <a:schemeClr val="tx2"/>
          </a:solidFill>
          <a:effectLst>
            <a:outerShdw blurRad="38100" dist="38100" dir="2700000" algn="tl">
              <a:srgbClr val="C0C0C0"/>
            </a:outerShdw>
          </a:effectLst>
          <a:latin typeface="AvantGarde" pitchFamily="34" charset="0"/>
        </a:defRPr>
      </a:lvl8pPr>
      <a:lvl9pPr marL="1828800" algn="l" rtl="0" fontAlgn="base">
        <a:spcBef>
          <a:spcPct val="0"/>
        </a:spcBef>
        <a:spcAft>
          <a:spcPct val="0"/>
        </a:spcAft>
        <a:defRPr sz="3400" i="1">
          <a:solidFill>
            <a:schemeClr val="tx2"/>
          </a:solidFill>
          <a:effectLst>
            <a:outerShdw blurRad="38100" dist="38100" dir="2700000" algn="tl">
              <a:srgbClr val="C0C0C0"/>
            </a:outerShdw>
          </a:effectLst>
          <a:latin typeface="AvantGarde" pitchFamily="34" charset="0"/>
        </a:defRPr>
      </a:lvl9pPr>
    </p:titleStyle>
    <p:bodyStyle>
      <a:lvl1pPr marL="342900" indent="-342900" algn="l" rtl="0" eaLnBrk="0" fontAlgn="base" hangingPunct="0">
        <a:spcBef>
          <a:spcPct val="20000"/>
        </a:spcBef>
        <a:spcAft>
          <a:spcPct val="0"/>
        </a:spcAft>
        <a:buClr>
          <a:srgbClr val="0000FF"/>
        </a:buClr>
        <a:buChar char="•"/>
        <a:defRPr sz="2800" b="1">
          <a:solidFill>
            <a:srgbClr val="0000FF"/>
          </a:solidFill>
          <a:latin typeface="+mn-lt"/>
          <a:ea typeface="+mn-ea"/>
          <a:cs typeface="+mn-cs"/>
        </a:defRPr>
      </a:lvl1pPr>
      <a:lvl2pPr marL="742950" indent="-285750" algn="l" rtl="0" eaLnBrk="0" fontAlgn="base" hangingPunct="0">
        <a:spcBef>
          <a:spcPct val="20000"/>
        </a:spcBef>
        <a:spcAft>
          <a:spcPct val="0"/>
        </a:spcAft>
        <a:buClr>
          <a:srgbClr val="0000FF"/>
        </a:buClr>
        <a:buChar char="–"/>
        <a:defRPr sz="2400">
          <a:solidFill>
            <a:schemeClr val="tx1"/>
          </a:solidFill>
          <a:latin typeface="+mn-lt"/>
        </a:defRPr>
      </a:lvl2pPr>
      <a:lvl3pPr marL="1143000" indent="-228600" algn="l" rtl="0" eaLnBrk="0" fontAlgn="base" hangingPunct="0">
        <a:spcBef>
          <a:spcPct val="20000"/>
        </a:spcBef>
        <a:spcAft>
          <a:spcPct val="0"/>
        </a:spcAft>
        <a:buClr>
          <a:srgbClr val="0000FF"/>
        </a:buClr>
        <a:buChar char="•"/>
        <a:defRPr sz="2000">
          <a:solidFill>
            <a:schemeClr val="tx1"/>
          </a:solidFill>
          <a:latin typeface="+mn-lt"/>
        </a:defRPr>
      </a:lvl3pPr>
      <a:lvl4pPr marL="1600200" indent="-228600" algn="l" rtl="0" eaLnBrk="0" fontAlgn="base" hangingPunct="0">
        <a:spcBef>
          <a:spcPct val="20000"/>
        </a:spcBef>
        <a:spcAft>
          <a:spcPct val="0"/>
        </a:spcAft>
        <a:buClr>
          <a:srgbClr val="0000FF"/>
        </a:buClr>
        <a:buChar char="–"/>
        <a:defRPr sz="2000">
          <a:solidFill>
            <a:schemeClr val="tx1"/>
          </a:solidFill>
          <a:latin typeface="+mn-lt"/>
        </a:defRPr>
      </a:lvl4pPr>
      <a:lvl5pPr marL="2057400" indent="-228600" algn="l" rtl="0" eaLnBrk="0" fontAlgn="base" hangingPunct="0">
        <a:spcBef>
          <a:spcPct val="20000"/>
        </a:spcBef>
        <a:spcAft>
          <a:spcPct val="0"/>
        </a:spcAft>
        <a:buClr>
          <a:srgbClr val="0000FF"/>
        </a:buClr>
        <a:buChar char="»"/>
        <a:defRPr sz="1600">
          <a:solidFill>
            <a:schemeClr val="tx1"/>
          </a:solidFill>
          <a:latin typeface="+mn-lt"/>
        </a:defRPr>
      </a:lvl5pPr>
      <a:lvl6pPr marL="2514600" indent="-228600" algn="l" rtl="0" fontAlgn="base">
        <a:spcBef>
          <a:spcPct val="20000"/>
        </a:spcBef>
        <a:spcAft>
          <a:spcPct val="0"/>
        </a:spcAft>
        <a:buClr>
          <a:srgbClr val="0000FF"/>
        </a:buClr>
        <a:buChar char="»"/>
        <a:defRPr sz="1600">
          <a:solidFill>
            <a:schemeClr val="tx1"/>
          </a:solidFill>
          <a:latin typeface="+mn-lt"/>
        </a:defRPr>
      </a:lvl6pPr>
      <a:lvl7pPr marL="2971800" indent="-228600" algn="l" rtl="0" fontAlgn="base">
        <a:spcBef>
          <a:spcPct val="20000"/>
        </a:spcBef>
        <a:spcAft>
          <a:spcPct val="0"/>
        </a:spcAft>
        <a:buClr>
          <a:srgbClr val="0000FF"/>
        </a:buClr>
        <a:buChar char="»"/>
        <a:defRPr sz="1600">
          <a:solidFill>
            <a:schemeClr val="tx1"/>
          </a:solidFill>
          <a:latin typeface="+mn-lt"/>
        </a:defRPr>
      </a:lvl7pPr>
      <a:lvl8pPr marL="3429000" indent="-228600" algn="l" rtl="0" fontAlgn="base">
        <a:spcBef>
          <a:spcPct val="20000"/>
        </a:spcBef>
        <a:spcAft>
          <a:spcPct val="0"/>
        </a:spcAft>
        <a:buClr>
          <a:srgbClr val="0000FF"/>
        </a:buClr>
        <a:buChar char="»"/>
        <a:defRPr sz="1600">
          <a:solidFill>
            <a:schemeClr val="tx1"/>
          </a:solidFill>
          <a:latin typeface="+mn-lt"/>
        </a:defRPr>
      </a:lvl8pPr>
      <a:lvl9pPr marL="3886200" indent="-228600" algn="l" rtl="0" fontAlgn="base">
        <a:spcBef>
          <a:spcPct val="20000"/>
        </a:spcBef>
        <a:spcAft>
          <a:spcPct val="0"/>
        </a:spcAft>
        <a:buClr>
          <a:srgbClr val="0000FF"/>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2"/>
          <p:cNvSpPr>
            <a:spLocks noChangeArrowheads="1"/>
          </p:cNvSpPr>
          <p:nvPr userDrawn="1"/>
        </p:nvSpPr>
        <p:spPr bwMode="auto">
          <a:xfrm>
            <a:off x="0" y="2057400"/>
            <a:ext cx="5715000" cy="4800600"/>
          </a:xfrm>
          <a:prstGeom prst="rect">
            <a:avLst/>
          </a:prstGeom>
          <a:solidFill>
            <a:schemeClr val="accent1"/>
          </a:solidFill>
          <a:ln w="9525">
            <a:noFill/>
            <a:miter lim="800000"/>
            <a:headEnd/>
            <a:tailEnd/>
          </a:ln>
          <a:effectLst/>
        </p:spPr>
        <p:txBody>
          <a:bodyPr wrap="none" anchor="ctr"/>
          <a:lstStyle/>
          <a:p>
            <a:pPr algn="ctr" eaLnBrk="0" hangingPunct="0">
              <a:defRPr/>
            </a:pPr>
            <a:endParaRPr lang="en-US" b="0">
              <a:latin typeface="Times" pitchFamily="18" charset="0"/>
              <a:cs typeface="+mn-cs"/>
            </a:endParaRPr>
          </a:p>
        </p:txBody>
      </p:sp>
      <p:sp>
        <p:nvSpPr>
          <p:cNvPr id="9" name="Rectangle 5"/>
          <p:cNvSpPr>
            <a:spLocks noChangeArrowheads="1"/>
          </p:cNvSpPr>
          <p:nvPr userDrawn="1"/>
        </p:nvSpPr>
        <p:spPr bwMode="auto">
          <a:xfrm>
            <a:off x="5791200" y="2057400"/>
            <a:ext cx="3352800" cy="4800600"/>
          </a:xfrm>
          <a:prstGeom prst="rect">
            <a:avLst/>
          </a:prstGeom>
          <a:solidFill>
            <a:schemeClr val="accent1">
              <a:alpha val="70000"/>
            </a:schemeClr>
          </a:solidFill>
          <a:ln w="9525">
            <a:noFill/>
            <a:miter lim="800000"/>
            <a:headEnd/>
            <a:tailEnd/>
          </a:ln>
          <a:effectLst/>
        </p:spPr>
        <p:txBody>
          <a:bodyPr wrap="none" anchor="ctr"/>
          <a:lstStyle/>
          <a:p>
            <a:pPr algn="r" eaLnBrk="0" hangingPunct="0">
              <a:defRPr/>
            </a:pPr>
            <a:endParaRPr lang="en-US" b="0">
              <a:latin typeface="Times" pitchFamily="18" charset="0"/>
              <a:cs typeface="+mn-cs"/>
            </a:endParaRPr>
          </a:p>
        </p:txBody>
      </p:sp>
      <p:pic>
        <p:nvPicPr>
          <p:cNvPr id="15364" name="Picture 15"/>
          <p:cNvPicPr>
            <a:picLocks noChangeAspect="1" noChangeArrowheads="1"/>
          </p:cNvPicPr>
          <p:nvPr userDrawn="1"/>
        </p:nvPicPr>
        <p:blipFill>
          <a:blip r:embed="rId13" cstate="print"/>
          <a:srcRect/>
          <a:stretch>
            <a:fillRect/>
          </a:stretch>
        </p:blipFill>
        <p:spPr bwMode="auto">
          <a:xfrm>
            <a:off x="3581400" y="523875"/>
            <a:ext cx="2124075" cy="1457325"/>
          </a:xfrm>
          <a:prstGeom prst="rect">
            <a:avLst/>
          </a:prstGeom>
          <a:noFill/>
          <a:ln w="9525">
            <a:noFill/>
            <a:miter lim="800000"/>
            <a:headEnd/>
            <a:tailEnd/>
          </a:ln>
        </p:spPr>
      </p:pic>
      <p:sp>
        <p:nvSpPr>
          <p:cNvPr id="11" name="Rectangle 14"/>
          <p:cNvSpPr>
            <a:spLocks noChangeArrowheads="1"/>
          </p:cNvSpPr>
          <p:nvPr/>
        </p:nvSpPr>
        <p:spPr bwMode="auto">
          <a:xfrm>
            <a:off x="685800" y="5715000"/>
            <a:ext cx="4953000" cy="1143000"/>
          </a:xfrm>
          <a:prstGeom prst="rect">
            <a:avLst/>
          </a:prstGeom>
          <a:noFill/>
          <a:ln w="9525">
            <a:noFill/>
            <a:miter lim="800000"/>
            <a:headEnd/>
            <a:tailEnd/>
          </a:ln>
          <a:effectLst/>
        </p:spPr>
        <p:txBody>
          <a:bodyPr/>
          <a:lstStyle/>
          <a:p>
            <a:pPr algn="r" eaLnBrk="0" hangingPunct="0">
              <a:defRPr/>
            </a:pPr>
            <a:endParaRPr lang="en-US" sz="4000">
              <a:solidFill>
                <a:schemeClr val="bg1"/>
              </a:solidFill>
              <a:latin typeface="Arial" charset="0"/>
              <a:cs typeface="+mn-cs"/>
            </a:endParaRPr>
          </a:p>
        </p:txBody>
      </p:sp>
      <p:sp>
        <p:nvSpPr>
          <p:cNvPr id="12" name="Text Box 8"/>
          <p:cNvSpPr txBox="1">
            <a:spLocks noChangeArrowheads="1"/>
          </p:cNvSpPr>
          <p:nvPr userDrawn="1"/>
        </p:nvSpPr>
        <p:spPr bwMode="auto">
          <a:xfrm>
            <a:off x="8661400" y="6557963"/>
            <a:ext cx="457200" cy="274637"/>
          </a:xfrm>
          <a:prstGeom prst="rect">
            <a:avLst/>
          </a:prstGeom>
          <a:noFill/>
          <a:ln w="9525">
            <a:noFill/>
            <a:miter lim="800000"/>
            <a:headEnd/>
            <a:tailEnd/>
          </a:ln>
          <a:effectLst/>
        </p:spPr>
        <p:txBody>
          <a:bodyPr>
            <a:spAutoFit/>
          </a:bodyPr>
          <a:lstStyle/>
          <a:p>
            <a:pPr algn="r">
              <a:spcBef>
                <a:spcPct val="50000"/>
              </a:spcBef>
              <a:defRPr/>
            </a:pPr>
            <a:fld id="{CBA7701F-932D-4F3A-87C5-80B8ECDBBF3B}" type="slidenum">
              <a:rPr lang="en-US" sz="1200" b="0">
                <a:latin typeface="Arial" charset="0"/>
                <a:cs typeface="+mn-cs"/>
              </a:rPr>
              <a:pPr algn="r">
                <a:spcBef>
                  <a:spcPct val="50000"/>
                </a:spcBef>
                <a:defRPr/>
              </a:pPr>
              <a:t>‹#›</a:t>
            </a:fld>
            <a:endParaRPr lang="en-US" sz="1200" b="0">
              <a:latin typeface="Arial" charset="0"/>
              <a:cs typeface="+mn-cs"/>
            </a:endParaRPr>
          </a:p>
        </p:txBody>
      </p:sp>
      <p:sp>
        <p:nvSpPr>
          <p:cNvPr id="15367" name="Rectangle 3"/>
          <p:cNvSpPr>
            <a:spLocks noGrp="1" noChangeArrowheads="1"/>
          </p:cNvSpPr>
          <p:nvPr>
            <p:ph type="title"/>
          </p:nvPr>
        </p:nvSpPr>
        <p:spPr bwMode="auto">
          <a:xfrm>
            <a:off x="117475" y="76200"/>
            <a:ext cx="57912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5368" name="Rectangle 4"/>
          <p:cNvSpPr>
            <a:spLocks noGrp="1" noChangeArrowheads="1"/>
          </p:cNvSpPr>
          <p:nvPr>
            <p:ph type="body" idx="1"/>
          </p:nvPr>
        </p:nvSpPr>
        <p:spPr bwMode="auto">
          <a:xfrm>
            <a:off x="304800" y="1371600"/>
            <a:ext cx="8610600" cy="5181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675" r:id="rId1"/>
    <p:sldLayoutId id="2147483674" r:id="rId2"/>
    <p:sldLayoutId id="2147483673" r:id="rId3"/>
    <p:sldLayoutId id="2147483672" r:id="rId4"/>
    <p:sldLayoutId id="2147483671" r:id="rId5"/>
    <p:sldLayoutId id="2147483670" r:id="rId6"/>
    <p:sldLayoutId id="2147483669" r:id="rId7"/>
    <p:sldLayoutId id="2147483668" r:id="rId8"/>
    <p:sldLayoutId id="2147483667" r:id="rId9"/>
    <p:sldLayoutId id="2147483666" r:id="rId10"/>
    <p:sldLayoutId id="2147483665" r:id="rId11"/>
  </p:sldLayoutIdLst>
  <p:hf sldNum="0" hdr="0" ftr="0" dt="0"/>
  <p:txStyles>
    <p:titleStyle>
      <a:lvl1pPr algn="l" rtl="0" eaLnBrk="0" fontAlgn="base" hangingPunct="0">
        <a:lnSpc>
          <a:spcPct val="110000"/>
        </a:lnSpc>
        <a:spcBef>
          <a:spcPct val="0"/>
        </a:spcBef>
        <a:spcAft>
          <a:spcPct val="0"/>
        </a:spcAft>
        <a:defRPr sz="2600" b="1">
          <a:solidFill>
            <a:schemeClr val="bg1"/>
          </a:solidFill>
          <a:latin typeface="+mj-lt"/>
          <a:ea typeface="+mj-ea"/>
          <a:cs typeface="+mj-cs"/>
        </a:defRPr>
      </a:lvl1pPr>
      <a:lvl2pPr algn="l" rtl="0" eaLnBrk="0" fontAlgn="base" hangingPunct="0">
        <a:lnSpc>
          <a:spcPct val="110000"/>
        </a:lnSpc>
        <a:spcBef>
          <a:spcPct val="0"/>
        </a:spcBef>
        <a:spcAft>
          <a:spcPct val="0"/>
        </a:spcAft>
        <a:defRPr sz="2600" b="1">
          <a:solidFill>
            <a:schemeClr val="bg1"/>
          </a:solidFill>
          <a:latin typeface="Arial" charset="0"/>
        </a:defRPr>
      </a:lvl2pPr>
      <a:lvl3pPr algn="l" rtl="0" eaLnBrk="0" fontAlgn="base" hangingPunct="0">
        <a:lnSpc>
          <a:spcPct val="110000"/>
        </a:lnSpc>
        <a:spcBef>
          <a:spcPct val="0"/>
        </a:spcBef>
        <a:spcAft>
          <a:spcPct val="0"/>
        </a:spcAft>
        <a:defRPr sz="2600" b="1">
          <a:solidFill>
            <a:schemeClr val="bg1"/>
          </a:solidFill>
          <a:latin typeface="Arial" charset="0"/>
        </a:defRPr>
      </a:lvl3pPr>
      <a:lvl4pPr algn="l" rtl="0" eaLnBrk="0" fontAlgn="base" hangingPunct="0">
        <a:lnSpc>
          <a:spcPct val="110000"/>
        </a:lnSpc>
        <a:spcBef>
          <a:spcPct val="0"/>
        </a:spcBef>
        <a:spcAft>
          <a:spcPct val="0"/>
        </a:spcAft>
        <a:defRPr sz="2600" b="1">
          <a:solidFill>
            <a:schemeClr val="bg1"/>
          </a:solidFill>
          <a:latin typeface="Arial" charset="0"/>
        </a:defRPr>
      </a:lvl4pPr>
      <a:lvl5pPr algn="l" rtl="0" eaLnBrk="0" fontAlgn="base" hangingPunct="0">
        <a:lnSpc>
          <a:spcPct val="110000"/>
        </a:lnSpc>
        <a:spcBef>
          <a:spcPct val="0"/>
        </a:spcBef>
        <a:spcAft>
          <a:spcPct val="0"/>
        </a:spcAft>
        <a:defRPr sz="2600" b="1">
          <a:solidFill>
            <a:schemeClr val="bg1"/>
          </a:solidFill>
          <a:latin typeface="Arial" charset="0"/>
        </a:defRPr>
      </a:lvl5pPr>
      <a:lvl6pPr marL="457200" algn="l" rtl="0" fontAlgn="base">
        <a:lnSpc>
          <a:spcPct val="110000"/>
        </a:lnSpc>
        <a:spcBef>
          <a:spcPct val="0"/>
        </a:spcBef>
        <a:spcAft>
          <a:spcPct val="0"/>
        </a:spcAft>
        <a:defRPr sz="2600" b="1">
          <a:solidFill>
            <a:schemeClr val="bg1"/>
          </a:solidFill>
          <a:latin typeface="Arial" charset="0"/>
        </a:defRPr>
      </a:lvl6pPr>
      <a:lvl7pPr marL="914400" algn="l" rtl="0" fontAlgn="base">
        <a:lnSpc>
          <a:spcPct val="110000"/>
        </a:lnSpc>
        <a:spcBef>
          <a:spcPct val="0"/>
        </a:spcBef>
        <a:spcAft>
          <a:spcPct val="0"/>
        </a:spcAft>
        <a:defRPr sz="2600" b="1">
          <a:solidFill>
            <a:schemeClr val="bg1"/>
          </a:solidFill>
          <a:latin typeface="Arial" charset="0"/>
        </a:defRPr>
      </a:lvl7pPr>
      <a:lvl8pPr marL="1371600" algn="l" rtl="0" fontAlgn="base">
        <a:lnSpc>
          <a:spcPct val="110000"/>
        </a:lnSpc>
        <a:spcBef>
          <a:spcPct val="0"/>
        </a:spcBef>
        <a:spcAft>
          <a:spcPct val="0"/>
        </a:spcAft>
        <a:defRPr sz="2600" b="1">
          <a:solidFill>
            <a:schemeClr val="bg1"/>
          </a:solidFill>
          <a:latin typeface="Arial" charset="0"/>
        </a:defRPr>
      </a:lvl8pPr>
      <a:lvl9pPr marL="1828800" algn="l" rtl="0" fontAlgn="base">
        <a:lnSpc>
          <a:spcPct val="110000"/>
        </a:lnSpc>
        <a:spcBef>
          <a:spcPct val="0"/>
        </a:spcBef>
        <a:spcAft>
          <a:spcPct val="0"/>
        </a:spcAft>
        <a:defRPr sz="2600" b="1">
          <a:solidFill>
            <a:schemeClr val="bg1"/>
          </a:solidFill>
          <a:latin typeface="Arial" charset="0"/>
        </a:defRPr>
      </a:lvl9pPr>
    </p:titleStyle>
    <p:bodyStyle>
      <a:lvl1pPr marL="342900" indent="-342900" algn="l" rtl="0" eaLnBrk="0" fontAlgn="base" hangingPunct="0">
        <a:spcBef>
          <a:spcPct val="20000"/>
        </a:spcBef>
        <a:spcAft>
          <a:spcPct val="0"/>
        </a:spcAft>
        <a:buClr>
          <a:schemeClr val="accent1"/>
        </a:buClr>
        <a:buSzPct val="50000"/>
        <a:buFont typeface="Wingdings" pitchFamily="2" charset="2"/>
        <a:buChar char="n"/>
        <a:defRPr sz="26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Times" pitchFamily="18" charset="0"/>
        </a:defRPr>
      </a:lvl5pPr>
      <a:lvl6pPr marL="2514600" indent="-228600" algn="l" rtl="0" fontAlgn="base">
        <a:spcBef>
          <a:spcPct val="20000"/>
        </a:spcBef>
        <a:spcAft>
          <a:spcPct val="0"/>
        </a:spcAft>
        <a:buChar char="»"/>
        <a:defRPr sz="2000">
          <a:solidFill>
            <a:schemeClr val="tx1"/>
          </a:solidFill>
          <a:latin typeface="Times" pitchFamily="18" charset="0"/>
        </a:defRPr>
      </a:lvl6pPr>
      <a:lvl7pPr marL="2971800" indent="-228600" algn="l" rtl="0" fontAlgn="base">
        <a:spcBef>
          <a:spcPct val="20000"/>
        </a:spcBef>
        <a:spcAft>
          <a:spcPct val="0"/>
        </a:spcAft>
        <a:buChar char="»"/>
        <a:defRPr sz="2000">
          <a:solidFill>
            <a:schemeClr val="tx1"/>
          </a:solidFill>
          <a:latin typeface="Times" pitchFamily="18" charset="0"/>
        </a:defRPr>
      </a:lvl7pPr>
      <a:lvl8pPr marL="3429000" indent="-228600" algn="l" rtl="0" fontAlgn="base">
        <a:spcBef>
          <a:spcPct val="20000"/>
        </a:spcBef>
        <a:spcAft>
          <a:spcPct val="0"/>
        </a:spcAft>
        <a:buChar char="»"/>
        <a:defRPr sz="2000">
          <a:solidFill>
            <a:schemeClr val="tx1"/>
          </a:solidFill>
          <a:latin typeface="Times" pitchFamily="18" charset="0"/>
        </a:defRPr>
      </a:lvl8pPr>
      <a:lvl9pPr marL="3886200" indent="-228600" algn="l" rtl="0" fontAlgn="base">
        <a:spcBef>
          <a:spcPct val="20000"/>
        </a:spcBef>
        <a:spcAft>
          <a:spcPct val="0"/>
        </a:spcAft>
        <a:buChar char="»"/>
        <a:defRPr sz="2000">
          <a:solidFill>
            <a:schemeClr val="tx1"/>
          </a:solidFill>
          <a:latin typeface="Times"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userDrawn="1"/>
        </p:nvSpPr>
        <p:spPr bwMode="auto">
          <a:xfrm>
            <a:off x="0" y="0"/>
            <a:ext cx="7315200" cy="1143000"/>
          </a:xfrm>
          <a:prstGeom prst="rect">
            <a:avLst/>
          </a:prstGeom>
          <a:solidFill>
            <a:schemeClr val="accent1"/>
          </a:solidFill>
          <a:ln w="9525">
            <a:noFill/>
            <a:miter lim="800000"/>
            <a:headEnd/>
            <a:tailEnd/>
          </a:ln>
          <a:effectLst/>
        </p:spPr>
        <p:txBody>
          <a:bodyPr wrap="none" anchor="ctr"/>
          <a:lstStyle/>
          <a:p>
            <a:pPr algn="r" eaLnBrk="0" hangingPunct="0">
              <a:defRPr/>
            </a:pPr>
            <a:endParaRPr lang="en-US" b="0">
              <a:latin typeface="Times" pitchFamily="18" charset="0"/>
              <a:cs typeface="+mn-cs"/>
            </a:endParaRPr>
          </a:p>
        </p:txBody>
      </p:sp>
      <p:sp>
        <p:nvSpPr>
          <p:cNvPr id="27651" name="Rectangle 3"/>
          <p:cNvSpPr>
            <a:spLocks noGrp="1" noChangeArrowheads="1"/>
          </p:cNvSpPr>
          <p:nvPr>
            <p:ph type="title"/>
          </p:nvPr>
        </p:nvSpPr>
        <p:spPr bwMode="auto">
          <a:xfrm>
            <a:off x="117475" y="76200"/>
            <a:ext cx="57912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7652" name="Rectangle 4"/>
          <p:cNvSpPr>
            <a:spLocks noGrp="1" noChangeArrowheads="1"/>
          </p:cNvSpPr>
          <p:nvPr>
            <p:ph type="body" idx="1"/>
          </p:nvPr>
        </p:nvSpPr>
        <p:spPr bwMode="auto">
          <a:xfrm>
            <a:off x="304800" y="1371600"/>
            <a:ext cx="8610600" cy="5181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33" name="Rectangle 9"/>
          <p:cNvSpPr>
            <a:spLocks noChangeArrowheads="1"/>
          </p:cNvSpPr>
          <p:nvPr userDrawn="1"/>
        </p:nvSpPr>
        <p:spPr bwMode="auto">
          <a:xfrm>
            <a:off x="7391400" y="0"/>
            <a:ext cx="1752600" cy="1143000"/>
          </a:xfrm>
          <a:prstGeom prst="rect">
            <a:avLst/>
          </a:prstGeom>
          <a:solidFill>
            <a:schemeClr val="accent1">
              <a:alpha val="70000"/>
            </a:schemeClr>
          </a:solidFill>
          <a:ln w="9525">
            <a:noFill/>
            <a:miter lim="800000"/>
            <a:headEnd/>
            <a:tailEnd/>
          </a:ln>
          <a:effectLst/>
        </p:spPr>
        <p:txBody>
          <a:bodyPr wrap="none" anchor="ctr"/>
          <a:lstStyle/>
          <a:p>
            <a:pPr algn="r" eaLnBrk="0" hangingPunct="0">
              <a:defRPr/>
            </a:pPr>
            <a:endParaRPr lang="en-US" b="0">
              <a:latin typeface="Times" pitchFamily="18" charset="0"/>
              <a:cs typeface="+mn-cs"/>
            </a:endParaRPr>
          </a:p>
        </p:txBody>
      </p:sp>
      <p:sp>
        <p:nvSpPr>
          <p:cNvPr id="1030" name="Text Box 6"/>
          <p:cNvSpPr txBox="1">
            <a:spLocks noChangeArrowheads="1"/>
          </p:cNvSpPr>
          <p:nvPr userDrawn="1"/>
        </p:nvSpPr>
        <p:spPr bwMode="auto">
          <a:xfrm>
            <a:off x="8661400" y="6557963"/>
            <a:ext cx="457200" cy="274637"/>
          </a:xfrm>
          <a:prstGeom prst="rect">
            <a:avLst/>
          </a:prstGeom>
          <a:noFill/>
          <a:ln w="9525">
            <a:noFill/>
            <a:miter lim="800000"/>
            <a:headEnd/>
            <a:tailEnd/>
          </a:ln>
          <a:effectLst/>
        </p:spPr>
        <p:txBody>
          <a:bodyPr>
            <a:spAutoFit/>
          </a:bodyPr>
          <a:lstStyle/>
          <a:p>
            <a:pPr algn="r">
              <a:spcBef>
                <a:spcPct val="50000"/>
              </a:spcBef>
              <a:defRPr/>
            </a:pPr>
            <a:fld id="{8903D1F8-AA1E-4A4A-9635-922676F0A851}" type="slidenum">
              <a:rPr lang="en-US" sz="1200" b="0">
                <a:latin typeface="Arial" charset="0"/>
                <a:cs typeface="+mn-cs"/>
              </a:rPr>
              <a:pPr algn="r">
                <a:spcBef>
                  <a:spcPct val="50000"/>
                </a:spcBef>
                <a:defRPr/>
              </a:pPr>
              <a:t>‹#›</a:t>
            </a:fld>
            <a:endParaRPr lang="en-US" sz="1200" b="0">
              <a:latin typeface="Arial" charset="0"/>
              <a:cs typeface="+mn-cs"/>
            </a:endParaRPr>
          </a:p>
        </p:txBody>
      </p:sp>
    </p:spTree>
  </p:cSld>
  <p:clrMap bg1="lt1" tx1="dk1" bg2="lt2" tx2="dk2" accent1="accent1" accent2="accent2" accent3="accent3" accent4="accent4" accent5="accent5" accent6="accent6" hlink="hlink" folHlink="folHlink"/>
  <p:sldLayoutIdLst>
    <p:sldLayoutId id="2147483686" r:id="rId1"/>
    <p:sldLayoutId id="2147483685" r:id="rId2"/>
    <p:sldLayoutId id="2147483684" r:id="rId3"/>
    <p:sldLayoutId id="2147483683" r:id="rId4"/>
    <p:sldLayoutId id="2147483682" r:id="rId5"/>
    <p:sldLayoutId id="2147483681" r:id="rId6"/>
    <p:sldLayoutId id="2147483680" r:id="rId7"/>
    <p:sldLayoutId id="2147483679" r:id="rId8"/>
    <p:sldLayoutId id="2147483678" r:id="rId9"/>
    <p:sldLayoutId id="2147483677" r:id="rId10"/>
    <p:sldLayoutId id="2147483676" r:id="rId11"/>
  </p:sldLayoutIdLst>
  <p:hf sldNum="0" hdr="0" ftr="0" dt="0"/>
  <p:txStyles>
    <p:titleStyle>
      <a:lvl1pPr algn="l" rtl="0" eaLnBrk="0" fontAlgn="base" hangingPunct="0">
        <a:lnSpc>
          <a:spcPct val="110000"/>
        </a:lnSpc>
        <a:spcBef>
          <a:spcPct val="0"/>
        </a:spcBef>
        <a:spcAft>
          <a:spcPct val="0"/>
        </a:spcAft>
        <a:defRPr sz="2600" b="1">
          <a:solidFill>
            <a:schemeClr val="bg1"/>
          </a:solidFill>
          <a:latin typeface="+mj-lt"/>
          <a:ea typeface="+mj-ea"/>
          <a:cs typeface="+mj-cs"/>
        </a:defRPr>
      </a:lvl1pPr>
      <a:lvl2pPr algn="l" rtl="0" eaLnBrk="0" fontAlgn="base" hangingPunct="0">
        <a:lnSpc>
          <a:spcPct val="110000"/>
        </a:lnSpc>
        <a:spcBef>
          <a:spcPct val="0"/>
        </a:spcBef>
        <a:spcAft>
          <a:spcPct val="0"/>
        </a:spcAft>
        <a:defRPr sz="2600" b="1">
          <a:solidFill>
            <a:schemeClr val="bg1"/>
          </a:solidFill>
          <a:latin typeface="Arial" charset="0"/>
        </a:defRPr>
      </a:lvl2pPr>
      <a:lvl3pPr algn="l" rtl="0" eaLnBrk="0" fontAlgn="base" hangingPunct="0">
        <a:lnSpc>
          <a:spcPct val="110000"/>
        </a:lnSpc>
        <a:spcBef>
          <a:spcPct val="0"/>
        </a:spcBef>
        <a:spcAft>
          <a:spcPct val="0"/>
        </a:spcAft>
        <a:defRPr sz="2600" b="1">
          <a:solidFill>
            <a:schemeClr val="bg1"/>
          </a:solidFill>
          <a:latin typeface="Arial" charset="0"/>
        </a:defRPr>
      </a:lvl3pPr>
      <a:lvl4pPr algn="l" rtl="0" eaLnBrk="0" fontAlgn="base" hangingPunct="0">
        <a:lnSpc>
          <a:spcPct val="110000"/>
        </a:lnSpc>
        <a:spcBef>
          <a:spcPct val="0"/>
        </a:spcBef>
        <a:spcAft>
          <a:spcPct val="0"/>
        </a:spcAft>
        <a:defRPr sz="2600" b="1">
          <a:solidFill>
            <a:schemeClr val="bg1"/>
          </a:solidFill>
          <a:latin typeface="Arial" charset="0"/>
        </a:defRPr>
      </a:lvl4pPr>
      <a:lvl5pPr algn="l" rtl="0" eaLnBrk="0" fontAlgn="base" hangingPunct="0">
        <a:lnSpc>
          <a:spcPct val="110000"/>
        </a:lnSpc>
        <a:spcBef>
          <a:spcPct val="0"/>
        </a:spcBef>
        <a:spcAft>
          <a:spcPct val="0"/>
        </a:spcAft>
        <a:defRPr sz="2600" b="1">
          <a:solidFill>
            <a:schemeClr val="bg1"/>
          </a:solidFill>
          <a:latin typeface="Arial" charset="0"/>
        </a:defRPr>
      </a:lvl5pPr>
      <a:lvl6pPr marL="457200" algn="l" rtl="0" eaLnBrk="0" fontAlgn="base" hangingPunct="0">
        <a:lnSpc>
          <a:spcPct val="110000"/>
        </a:lnSpc>
        <a:spcBef>
          <a:spcPct val="0"/>
        </a:spcBef>
        <a:spcAft>
          <a:spcPct val="0"/>
        </a:spcAft>
        <a:defRPr sz="2600" b="1">
          <a:solidFill>
            <a:schemeClr val="bg1"/>
          </a:solidFill>
          <a:latin typeface="Arial" charset="0"/>
        </a:defRPr>
      </a:lvl6pPr>
      <a:lvl7pPr marL="914400" algn="l" rtl="0" eaLnBrk="0" fontAlgn="base" hangingPunct="0">
        <a:lnSpc>
          <a:spcPct val="110000"/>
        </a:lnSpc>
        <a:spcBef>
          <a:spcPct val="0"/>
        </a:spcBef>
        <a:spcAft>
          <a:spcPct val="0"/>
        </a:spcAft>
        <a:defRPr sz="2600" b="1">
          <a:solidFill>
            <a:schemeClr val="bg1"/>
          </a:solidFill>
          <a:latin typeface="Arial" charset="0"/>
        </a:defRPr>
      </a:lvl7pPr>
      <a:lvl8pPr marL="1371600" algn="l" rtl="0" eaLnBrk="0" fontAlgn="base" hangingPunct="0">
        <a:lnSpc>
          <a:spcPct val="110000"/>
        </a:lnSpc>
        <a:spcBef>
          <a:spcPct val="0"/>
        </a:spcBef>
        <a:spcAft>
          <a:spcPct val="0"/>
        </a:spcAft>
        <a:defRPr sz="2600" b="1">
          <a:solidFill>
            <a:schemeClr val="bg1"/>
          </a:solidFill>
          <a:latin typeface="Arial" charset="0"/>
        </a:defRPr>
      </a:lvl8pPr>
      <a:lvl9pPr marL="1828800" algn="l" rtl="0" eaLnBrk="0" fontAlgn="base" hangingPunct="0">
        <a:lnSpc>
          <a:spcPct val="110000"/>
        </a:lnSpc>
        <a:spcBef>
          <a:spcPct val="0"/>
        </a:spcBef>
        <a:spcAft>
          <a:spcPct val="0"/>
        </a:spcAft>
        <a:defRPr sz="2600" b="1">
          <a:solidFill>
            <a:schemeClr val="bg1"/>
          </a:solidFill>
          <a:latin typeface="Arial" charset="0"/>
        </a:defRPr>
      </a:lvl9pPr>
    </p:titleStyle>
    <p:bodyStyle>
      <a:lvl1pPr marL="342900" indent="-342900" algn="l" rtl="0" eaLnBrk="0" fontAlgn="base" hangingPunct="0">
        <a:spcBef>
          <a:spcPct val="20000"/>
        </a:spcBef>
        <a:spcAft>
          <a:spcPct val="0"/>
        </a:spcAft>
        <a:buClr>
          <a:schemeClr val="accent1"/>
        </a:buClr>
        <a:buSzPct val="50000"/>
        <a:buFont typeface="Wingdings" pitchFamily="2" charset="2"/>
        <a:buChar char="n"/>
        <a:defRPr sz="26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Times" pitchFamily="18" charset="0"/>
        </a:defRPr>
      </a:lvl5pPr>
      <a:lvl6pPr marL="2514600" indent="-228600" algn="l" rtl="0" eaLnBrk="0" fontAlgn="base" hangingPunct="0">
        <a:spcBef>
          <a:spcPct val="20000"/>
        </a:spcBef>
        <a:spcAft>
          <a:spcPct val="0"/>
        </a:spcAft>
        <a:buChar char="»"/>
        <a:defRPr sz="2000">
          <a:solidFill>
            <a:schemeClr val="tx1"/>
          </a:solidFill>
          <a:latin typeface="Times" pitchFamily="18" charset="0"/>
        </a:defRPr>
      </a:lvl6pPr>
      <a:lvl7pPr marL="2971800" indent="-228600" algn="l" rtl="0" eaLnBrk="0" fontAlgn="base" hangingPunct="0">
        <a:spcBef>
          <a:spcPct val="20000"/>
        </a:spcBef>
        <a:spcAft>
          <a:spcPct val="0"/>
        </a:spcAft>
        <a:buChar char="»"/>
        <a:defRPr sz="2000">
          <a:solidFill>
            <a:schemeClr val="tx1"/>
          </a:solidFill>
          <a:latin typeface="Times" pitchFamily="18" charset="0"/>
        </a:defRPr>
      </a:lvl7pPr>
      <a:lvl8pPr marL="3429000" indent="-228600" algn="l" rtl="0" eaLnBrk="0" fontAlgn="base" hangingPunct="0">
        <a:spcBef>
          <a:spcPct val="20000"/>
        </a:spcBef>
        <a:spcAft>
          <a:spcPct val="0"/>
        </a:spcAft>
        <a:buChar char="»"/>
        <a:defRPr sz="2000">
          <a:solidFill>
            <a:schemeClr val="tx1"/>
          </a:solidFill>
          <a:latin typeface="Times" pitchFamily="18" charset="0"/>
        </a:defRPr>
      </a:lvl8pPr>
      <a:lvl9pPr marL="3886200" indent="-228600" algn="l" rtl="0" eaLnBrk="0" fontAlgn="base" hangingPunct="0">
        <a:spcBef>
          <a:spcPct val="20000"/>
        </a:spcBef>
        <a:spcAft>
          <a:spcPct val="0"/>
        </a:spcAft>
        <a:buChar char="»"/>
        <a:defRPr sz="2000">
          <a:solidFill>
            <a:schemeClr val="tx1"/>
          </a:solidFill>
          <a:latin typeface="Times"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userDrawn="1"/>
        </p:nvSpPr>
        <p:spPr bwMode="auto">
          <a:xfrm>
            <a:off x="0" y="0"/>
            <a:ext cx="7315200" cy="1143000"/>
          </a:xfrm>
          <a:prstGeom prst="rect">
            <a:avLst/>
          </a:prstGeom>
          <a:solidFill>
            <a:schemeClr val="accent1"/>
          </a:solidFill>
          <a:ln w="9525">
            <a:noFill/>
            <a:miter lim="800000"/>
            <a:headEnd/>
            <a:tailEnd/>
          </a:ln>
          <a:effectLst/>
        </p:spPr>
        <p:txBody>
          <a:bodyPr wrap="none" anchor="ctr"/>
          <a:lstStyle/>
          <a:p>
            <a:pPr algn="r" eaLnBrk="0" hangingPunct="0">
              <a:defRPr/>
            </a:pPr>
            <a:endParaRPr lang="en-US" b="0">
              <a:latin typeface="Times" pitchFamily="18" charset="0"/>
              <a:cs typeface="+mn-cs"/>
            </a:endParaRPr>
          </a:p>
        </p:txBody>
      </p:sp>
      <p:sp>
        <p:nvSpPr>
          <p:cNvPr id="39939" name="Rectangle 3"/>
          <p:cNvSpPr>
            <a:spLocks noGrp="1" noChangeArrowheads="1"/>
          </p:cNvSpPr>
          <p:nvPr>
            <p:ph type="title"/>
          </p:nvPr>
        </p:nvSpPr>
        <p:spPr bwMode="auto">
          <a:xfrm>
            <a:off x="117475" y="76200"/>
            <a:ext cx="57912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9940" name="Rectangle 4"/>
          <p:cNvSpPr>
            <a:spLocks noGrp="1" noChangeArrowheads="1"/>
          </p:cNvSpPr>
          <p:nvPr>
            <p:ph type="body" idx="1"/>
          </p:nvPr>
        </p:nvSpPr>
        <p:spPr bwMode="auto">
          <a:xfrm>
            <a:off x="304800" y="1371600"/>
            <a:ext cx="8610600" cy="5181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33" name="Rectangle 9"/>
          <p:cNvSpPr>
            <a:spLocks noChangeArrowheads="1"/>
          </p:cNvSpPr>
          <p:nvPr userDrawn="1"/>
        </p:nvSpPr>
        <p:spPr bwMode="auto">
          <a:xfrm>
            <a:off x="7391400" y="0"/>
            <a:ext cx="1752600" cy="1143000"/>
          </a:xfrm>
          <a:prstGeom prst="rect">
            <a:avLst/>
          </a:prstGeom>
          <a:solidFill>
            <a:schemeClr val="accent1">
              <a:alpha val="70000"/>
            </a:schemeClr>
          </a:solidFill>
          <a:ln w="9525">
            <a:noFill/>
            <a:miter lim="800000"/>
            <a:headEnd/>
            <a:tailEnd/>
          </a:ln>
          <a:effectLst/>
        </p:spPr>
        <p:txBody>
          <a:bodyPr wrap="none" anchor="ctr"/>
          <a:lstStyle/>
          <a:p>
            <a:pPr algn="r" eaLnBrk="0" hangingPunct="0">
              <a:defRPr/>
            </a:pPr>
            <a:endParaRPr lang="en-US" b="0">
              <a:latin typeface="Times" pitchFamily="18" charset="0"/>
              <a:cs typeface="+mn-cs"/>
            </a:endParaRPr>
          </a:p>
        </p:txBody>
      </p:sp>
      <p:sp>
        <p:nvSpPr>
          <p:cNvPr id="1030" name="Text Box 6"/>
          <p:cNvSpPr txBox="1">
            <a:spLocks noChangeArrowheads="1"/>
          </p:cNvSpPr>
          <p:nvPr userDrawn="1"/>
        </p:nvSpPr>
        <p:spPr bwMode="auto">
          <a:xfrm>
            <a:off x="8661400" y="6557963"/>
            <a:ext cx="457200" cy="274637"/>
          </a:xfrm>
          <a:prstGeom prst="rect">
            <a:avLst/>
          </a:prstGeom>
          <a:noFill/>
          <a:ln w="9525">
            <a:noFill/>
            <a:miter lim="800000"/>
            <a:headEnd/>
            <a:tailEnd/>
          </a:ln>
          <a:effectLst/>
        </p:spPr>
        <p:txBody>
          <a:bodyPr>
            <a:spAutoFit/>
          </a:bodyPr>
          <a:lstStyle/>
          <a:p>
            <a:pPr algn="r">
              <a:spcBef>
                <a:spcPct val="50000"/>
              </a:spcBef>
              <a:defRPr/>
            </a:pPr>
            <a:fld id="{D5B17A7D-009A-4101-8787-30F609A4DAD0}" type="slidenum">
              <a:rPr lang="en-US" sz="1200" b="0">
                <a:latin typeface="Arial" charset="0"/>
                <a:cs typeface="+mn-cs"/>
              </a:rPr>
              <a:pPr algn="r">
                <a:spcBef>
                  <a:spcPct val="50000"/>
                </a:spcBef>
                <a:defRPr/>
              </a:pPr>
              <a:t>‹#›</a:t>
            </a:fld>
            <a:endParaRPr lang="en-US" sz="1200" b="0">
              <a:latin typeface="Arial" charset="0"/>
              <a:cs typeface="+mn-cs"/>
            </a:endParaRPr>
          </a:p>
        </p:txBody>
      </p:sp>
      <p:sp>
        <p:nvSpPr>
          <p:cNvPr id="2" name="Text Box 7"/>
          <p:cNvSpPr txBox="1">
            <a:spLocks noChangeArrowheads="1"/>
          </p:cNvSpPr>
          <p:nvPr userDrawn="1"/>
        </p:nvSpPr>
        <p:spPr bwMode="auto">
          <a:xfrm>
            <a:off x="0" y="6583363"/>
            <a:ext cx="1066800" cy="274637"/>
          </a:xfrm>
          <a:prstGeom prst="rect">
            <a:avLst/>
          </a:prstGeom>
          <a:noFill/>
          <a:ln w="9525">
            <a:noFill/>
            <a:miter lim="800000"/>
            <a:headEnd/>
            <a:tailEnd/>
          </a:ln>
          <a:effectLst/>
        </p:spPr>
        <p:txBody>
          <a:bodyPr>
            <a:spAutoFit/>
          </a:bodyPr>
          <a:lstStyle/>
          <a:p>
            <a:pPr>
              <a:spcBef>
                <a:spcPct val="50000"/>
              </a:spcBef>
              <a:defRPr/>
            </a:pPr>
            <a:r>
              <a:rPr lang="en-US" sz="1200" b="0">
                <a:latin typeface="Arial" charset="0"/>
                <a:cs typeface="+mn-cs"/>
              </a:rPr>
              <a:t>DRAFT</a:t>
            </a:r>
          </a:p>
        </p:txBody>
      </p:sp>
    </p:spTree>
  </p:cSld>
  <p:clrMap bg1="lt1" tx1="dk1" bg2="lt2" tx2="dk2" accent1="accent1" accent2="accent2" accent3="accent3" accent4="accent4" accent5="accent5" accent6="accent6" hlink="hlink" folHlink="folHlink"/>
  <p:sldLayoutIdLst>
    <p:sldLayoutId id="2147483697" r:id="rId1"/>
    <p:sldLayoutId id="2147483696" r:id="rId2"/>
    <p:sldLayoutId id="2147483695" r:id="rId3"/>
    <p:sldLayoutId id="2147483694" r:id="rId4"/>
    <p:sldLayoutId id="2147483693" r:id="rId5"/>
    <p:sldLayoutId id="2147483692" r:id="rId6"/>
    <p:sldLayoutId id="2147483691" r:id="rId7"/>
    <p:sldLayoutId id="2147483690" r:id="rId8"/>
    <p:sldLayoutId id="2147483689" r:id="rId9"/>
    <p:sldLayoutId id="2147483688" r:id="rId10"/>
    <p:sldLayoutId id="2147483687" r:id="rId11"/>
  </p:sldLayoutIdLst>
  <p:hf sldNum="0" hdr="0" ftr="0" dt="0"/>
  <p:txStyles>
    <p:titleStyle>
      <a:lvl1pPr algn="l" rtl="0" eaLnBrk="0" fontAlgn="base" hangingPunct="0">
        <a:lnSpc>
          <a:spcPct val="110000"/>
        </a:lnSpc>
        <a:spcBef>
          <a:spcPct val="0"/>
        </a:spcBef>
        <a:spcAft>
          <a:spcPct val="0"/>
        </a:spcAft>
        <a:defRPr sz="2600" b="1">
          <a:solidFill>
            <a:schemeClr val="bg1"/>
          </a:solidFill>
          <a:latin typeface="+mj-lt"/>
          <a:ea typeface="+mj-ea"/>
          <a:cs typeface="+mj-cs"/>
        </a:defRPr>
      </a:lvl1pPr>
      <a:lvl2pPr algn="l" rtl="0" eaLnBrk="0" fontAlgn="base" hangingPunct="0">
        <a:lnSpc>
          <a:spcPct val="110000"/>
        </a:lnSpc>
        <a:spcBef>
          <a:spcPct val="0"/>
        </a:spcBef>
        <a:spcAft>
          <a:spcPct val="0"/>
        </a:spcAft>
        <a:defRPr sz="2600" b="1">
          <a:solidFill>
            <a:schemeClr val="bg1"/>
          </a:solidFill>
          <a:latin typeface="Arial" charset="0"/>
        </a:defRPr>
      </a:lvl2pPr>
      <a:lvl3pPr algn="l" rtl="0" eaLnBrk="0" fontAlgn="base" hangingPunct="0">
        <a:lnSpc>
          <a:spcPct val="110000"/>
        </a:lnSpc>
        <a:spcBef>
          <a:spcPct val="0"/>
        </a:spcBef>
        <a:spcAft>
          <a:spcPct val="0"/>
        </a:spcAft>
        <a:defRPr sz="2600" b="1">
          <a:solidFill>
            <a:schemeClr val="bg1"/>
          </a:solidFill>
          <a:latin typeface="Arial" charset="0"/>
        </a:defRPr>
      </a:lvl3pPr>
      <a:lvl4pPr algn="l" rtl="0" eaLnBrk="0" fontAlgn="base" hangingPunct="0">
        <a:lnSpc>
          <a:spcPct val="110000"/>
        </a:lnSpc>
        <a:spcBef>
          <a:spcPct val="0"/>
        </a:spcBef>
        <a:spcAft>
          <a:spcPct val="0"/>
        </a:spcAft>
        <a:defRPr sz="2600" b="1">
          <a:solidFill>
            <a:schemeClr val="bg1"/>
          </a:solidFill>
          <a:latin typeface="Arial" charset="0"/>
        </a:defRPr>
      </a:lvl4pPr>
      <a:lvl5pPr algn="l" rtl="0" eaLnBrk="0" fontAlgn="base" hangingPunct="0">
        <a:lnSpc>
          <a:spcPct val="110000"/>
        </a:lnSpc>
        <a:spcBef>
          <a:spcPct val="0"/>
        </a:spcBef>
        <a:spcAft>
          <a:spcPct val="0"/>
        </a:spcAft>
        <a:defRPr sz="2600" b="1">
          <a:solidFill>
            <a:schemeClr val="bg1"/>
          </a:solidFill>
          <a:latin typeface="Arial" charset="0"/>
        </a:defRPr>
      </a:lvl5pPr>
      <a:lvl6pPr marL="457200" algn="l" rtl="0" fontAlgn="base">
        <a:lnSpc>
          <a:spcPct val="110000"/>
        </a:lnSpc>
        <a:spcBef>
          <a:spcPct val="0"/>
        </a:spcBef>
        <a:spcAft>
          <a:spcPct val="0"/>
        </a:spcAft>
        <a:defRPr sz="2600" b="1">
          <a:solidFill>
            <a:schemeClr val="bg1"/>
          </a:solidFill>
          <a:latin typeface="Arial" charset="0"/>
        </a:defRPr>
      </a:lvl6pPr>
      <a:lvl7pPr marL="914400" algn="l" rtl="0" fontAlgn="base">
        <a:lnSpc>
          <a:spcPct val="110000"/>
        </a:lnSpc>
        <a:spcBef>
          <a:spcPct val="0"/>
        </a:spcBef>
        <a:spcAft>
          <a:spcPct val="0"/>
        </a:spcAft>
        <a:defRPr sz="2600" b="1">
          <a:solidFill>
            <a:schemeClr val="bg1"/>
          </a:solidFill>
          <a:latin typeface="Arial" charset="0"/>
        </a:defRPr>
      </a:lvl7pPr>
      <a:lvl8pPr marL="1371600" algn="l" rtl="0" fontAlgn="base">
        <a:lnSpc>
          <a:spcPct val="110000"/>
        </a:lnSpc>
        <a:spcBef>
          <a:spcPct val="0"/>
        </a:spcBef>
        <a:spcAft>
          <a:spcPct val="0"/>
        </a:spcAft>
        <a:defRPr sz="2600" b="1">
          <a:solidFill>
            <a:schemeClr val="bg1"/>
          </a:solidFill>
          <a:latin typeface="Arial" charset="0"/>
        </a:defRPr>
      </a:lvl8pPr>
      <a:lvl9pPr marL="1828800" algn="l" rtl="0" fontAlgn="base">
        <a:lnSpc>
          <a:spcPct val="110000"/>
        </a:lnSpc>
        <a:spcBef>
          <a:spcPct val="0"/>
        </a:spcBef>
        <a:spcAft>
          <a:spcPct val="0"/>
        </a:spcAft>
        <a:defRPr sz="2600" b="1">
          <a:solidFill>
            <a:schemeClr val="bg1"/>
          </a:solidFill>
          <a:latin typeface="Arial" charset="0"/>
        </a:defRPr>
      </a:lvl9pPr>
    </p:titleStyle>
    <p:bodyStyle>
      <a:lvl1pPr marL="342900" indent="-342900" algn="l" rtl="0" eaLnBrk="0" fontAlgn="base" hangingPunct="0">
        <a:spcBef>
          <a:spcPct val="20000"/>
        </a:spcBef>
        <a:spcAft>
          <a:spcPct val="0"/>
        </a:spcAft>
        <a:buClr>
          <a:schemeClr val="accent1"/>
        </a:buClr>
        <a:buSzPct val="50000"/>
        <a:buFont typeface="Wingdings" pitchFamily="2" charset="2"/>
        <a:buChar char="n"/>
        <a:defRPr sz="26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Times" pitchFamily="18" charset="0"/>
        </a:defRPr>
      </a:lvl5pPr>
      <a:lvl6pPr marL="2514600" indent="-228600" algn="l" rtl="0" fontAlgn="base">
        <a:spcBef>
          <a:spcPct val="20000"/>
        </a:spcBef>
        <a:spcAft>
          <a:spcPct val="0"/>
        </a:spcAft>
        <a:buChar char="»"/>
        <a:defRPr sz="2000">
          <a:solidFill>
            <a:schemeClr val="tx1"/>
          </a:solidFill>
          <a:latin typeface="Times" pitchFamily="18" charset="0"/>
        </a:defRPr>
      </a:lvl6pPr>
      <a:lvl7pPr marL="2971800" indent="-228600" algn="l" rtl="0" fontAlgn="base">
        <a:spcBef>
          <a:spcPct val="20000"/>
        </a:spcBef>
        <a:spcAft>
          <a:spcPct val="0"/>
        </a:spcAft>
        <a:buChar char="»"/>
        <a:defRPr sz="2000">
          <a:solidFill>
            <a:schemeClr val="tx1"/>
          </a:solidFill>
          <a:latin typeface="Times" pitchFamily="18" charset="0"/>
        </a:defRPr>
      </a:lvl7pPr>
      <a:lvl8pPr marL="3429000" indent="-228600" algn="l" rtl="0" fontAlgn="base">
        <a:spcBef>
          <a:spcPct val="20000"/>
        </a:spcBef>
        <a:spcAft>
          <a:spcPct val="0"/>
        </a:spcAft>
        <a:buChar char="»"/>
        <a:defRPr sz="2000">
          <a:solidFill>
            <a:schemeClr val="tx1"/>
          </a:solidFill>
          <a:latin typeface="Times" pitchFamily="18" charset="0"/>
        </a:defRPr>
      </a:lvl8pPr>
      <a:lvl9pPr marL="3886200" indent="-228600" algn="l" rtl="0" fontAlgn="base">
        <a:spcBef>
          <a:spcPct val="20000"/>
        </a:spcBef>
        <a:spcAft>
          <a:spcPct val="0"/>
        </a:spcAft>
        <a:buChar char="»"/>
        <a:defRPr sz="2000">
          <a:solidFill>
            <a:schemeClr val="tx1"/>
          </a:solidFill>
          <a:latin typeface="Times"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a.gov/homeless"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hyperlink" Target="http://www.huduser.org/"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www.va.gov/HOMELESS/Reentry_Guides.asp"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http://www.va.gov/HOMELESS/VJO.ASP"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hyperlink" Target="http://www.govbenefits.gov/" TargetMode="External"/><Relationship Id="rId3" Type="http://schemas.openxmlformats.org/officeDocument/2006/relationships/hyperlink" Target="http://www.nfcc.org/" TargetMode="External"/><Relationship Id="rId7" Type="http://schemas.openxmlformats.org/officeDocument/2006/relationships/hyperlink" Target="http://www.nationalresourcedirectory.gov/"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www.prainc.com/SOAR/soar101/states.asp" TargetMode="External"/><Relationship Id="rId5" Type="http://schemas.openxmlformats.org/officeDocument/2006/relationships/hyperlink" Target="http://statesidelegal.org/" TargetMode="External"/><Relationship Id="rId4" Type="http://schemas.openxmlformats.org/officeDocument/2006/relationships/hyperlink" Target="http://www.lawhelp.org/" TargetMode="Externa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rmAutofit fontScale="90000"/>
          </a:bodyPr>
          <a:lstStyle/>
          <a:p>
            <a:pPr algn="ctr">
              <a:defRPr/>
            </a:pPr>
            <a:r>
              <a:rPr lang="en-US" dirty="0" smtClean="0"/>
              <a:t>Supportive Services for Veteran Families (SSVF)</a:t>
            </a:r>
            <a:br>
              <a:rPr lang="en-US" dirty="0" smtClean="0"/>
            </a:br>
            <a:r>
              <a:rPr lang="en-US" dirty="0"/>
              <a:t/>
            </a:r>
            <a:br>
              <a:rPr lang="en-US" dirty="0"/>
            </a:br>
            <a:endParaRPr lang="en-US" dirty="0"/>
          </a:p>
        </p:txBody>
      </p:sp>
      <p:sp>
        <p:nvSpPr>
          <p:cNvPr id="54274" name="Subtitle 5"/>
          <p:cNvSpPr>
            <a:spLocks noGrp="1"/>
          </p:cNvSpPr>
          <p:nvPr>
            <p:ph type="subTitle" idx="1"/>
          </p:nvPr>
        </p:nvSpPr>
        <p:spPr>
          <a:xfrm>
            <a:off x="1544638" y="4446588"/>
            <a:ext cx="7253287" cy="1303337"/>
          </a:xfrm>
        </p:spPr>
        <p:txBody>
          <a:bodyPr/>
          <a:lstStyle/>
          <a:p>
            <a:pPr algn="l">
              <a:spcBef>
                <a:spcPct val="0"/>
              </a:spcBef>
            </a:pPr>
            <a:r>
              <a:rPr lang="en-US" sz="2400" smtClean="0">
                <a:solidFill>
                  <a:schemeClr val="tx1"/>
                </a:solidFill>
              </a:rPr>
              <a:t>                               </a:t>
            </a:r>
          </a:p>
          <a:p>
            <a:pPr algn="l">
              <a:spcBef>
                <a:spcPct val="0"/>
              </a:spcBef>
            </a:pPr>
            <a:r>
              <a:rPr lang="en-US" sz="2400" b="0" smtClean="0">
                <a:solidFill>
                  <a:schemeClr val="tx1"/>
                </a:solidFill>
              </a:rPr>
              <a:t>		         John Kuhn, LCSW, MPH</a:t>
            </a:r>
          </a:p>
          <a:p>
            <a:pPr algn="l">
              <a:spcBef>
                <a:spcPct val="0"/>
              </a:spcBef>
            </a:pPr>
            <a:r>
              <a:rPr lang="en-US" sz="2400" b="0" smtClean="0">
                <a:solidFill>
                  <a:schemeClr val="tx1"/>
                </a:solidFill>
              </a:rPr>
              <a:t>                               Acting National Director, SSVF</a:t>
            </a:r>
          </a:p>
        </p:txBody>
      </p:sp>
      <p:sp>
        <p:nvSpPr>
          <p:cNvPr id="7" name="Rectangle 6"/>
          <p:cNvSpPr/>
          <p:nvPr/>
        </p:nvSpPr>
        <p:spPr>
          <a:xfrm>
            <a:off x="1387475" y="3244850"/>
            <a:ext cx="6243638" cy="584200"/>
          </a:xfrm>
          <a:prstGeom prst="rect">
            <a:avLst/>
          </a:prstGeom>
        </p:spPr>
        <p:txBody>
          <a:bodyPr>
            <a:spAutoFit/>
          </a:bodyPr>
          <a:lstStyle/>
          <a:p>
            <a:pPr algn="ctr">
              <a:defRPr/>
            </a:pPr>
            <a:r>
              <a:rPr lang="en-US" sz="3200" dirty="0">
                <a:latin typeface="+mj-lt"/>
                <a:cs typeface="+mn-cs"/>
                <a:hlinkClick r:id="rId2"/>
              </a:rPr>
              <a:t>www.va.gov/homeless</a:t>
            </a:r>
            <a:r>
              <a:rPr lang="en-US" sz="3200" dirty="0">
                <a:latin typeface="+mj-lt"/>
                <a:cs typeface="+mn-cs"/>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Content Placeholder 2"/>
          <p:cNvSpPr>
            <a:spLocks noGrp="1"/>
          </p:cNvSpPr>
          <p:nvPr>
            <p:ph/>
          </p:nvPr>
        </p:nvSpPr>
        <p:spPr>
          <a:xfrm>
            <a:off x="685800" y="1371600"/>
            <a:ext cx="7772400" cy="4446588"/>
          </a:xfrm>
        </p:spPr>
        <p:txBody>
          <a:bodyPr/>
          <a:lstStyle/>
          <a:p>
            <a:pPr marL="514350" indent="-514350">
              <a:lnSpc>
                <a:spcPct val="150000"/>
              </a:lnSpc>
              <a:buClrTx/>
              <a:buFont typeface="AvantGarde"/>
              <a:buAutoNum type="arabicPeriod"/>
            </a:pPr>
            <a:r>
              <a:rPr lang="en-US" smtClean="0">
                <a:solidFill>
                  <a:schemeClr val="tx1"/>
                </a:solidFill>
              </a:rPr>
              <a:t>Who should SSVF serve?</a:t>
            </a:r>
          </a:p>
          <a:p>
            <a:pPr marL="514350" indent="-514350">
              <a:lnSpc>
                <a:spcPct val="150000"/>
              </a:lnSpc>
              <a:buClrTx/>
              <a:buFont typeface="AvantGarde"/>
              <a:buAutoNum type="arabicPeriod"/>
            </a:pPr>
            <a:r>
              <a:rPr lang="en-US" smtClean="0">
                <a:solidFill>
                  <a:schemeClr val="tx1"/>
                </a:solidFill>
              </a:rPr>
              <a:t>What do we know about population?</a:t>
            </a:r>
          </a:p>
          <a:p>
            <a:pPr marL="514350" indent="-514350">
              <a:lnSpc>
                <a:spcPct val="150000"/>
              </a:lnSpc>
              <a:buClrTx/>
              <a:buFont typeface="AvantGarde"/>
              <a:buAutoNum type="arabicPeriod"/>
            </a:pPr>
            <a:r>
              <a:rPr lang="en-US" smtClean="0">
                <a:solidFill>
                  <a:schemeClr val="tx1"/>
                </a:solidFill>
              </a:rPr>
              <a:t>Outreach.</a:t>
            </a:r>
          </a:p>
          <a:p>
            <a:pPr marL="514350" indent="-514350">
              <a:lnSpc>
                <a:spcPct val="150000"/>
              </a:lnSpc>
              <a:buClrTx/>
              <a:buFont typeface="AvantGarde"/>
              <a:buAutoNum type="arabicPeriod"/>
            </a:pPr>
            <a:r>
              <a:rPr lang="en-US" smtClean="0">
                <a:solidFill>
                  <a:schemeClr val="tx1"/>
                </a:solidFill>
              </a:rPr>
              <a:t>SSVF program features.</a:t>
            </a:r>
          </a:p>
        </p:txBody>
      </p:sp>
      <p:sp>
        <p:nvSpPr>
          <p:cNvPr id="4" name="TextBox 3"/>
          <p:cNvSpPr txBox="1"/>
          <p:nvPr/>
        </p:nvSpPr>
        <p:spPr>
          <a:xfrm>
            <a:off x="5181600" y="152400"/>
            <a:ext cx="3733800" cy="708025"/>
          </a:xfrm>
          <a:prstGeom prst="rect">
            <a:avLst/>
          </a:prstGeom>
          <a:noFill/>
        </p:spPr>
        <p:txBody>
          <a:bodyPr>
            <a:spAutoFit/>
          </a:bodyPr>
          <a:lstStyle/>
          <a:p>
            <a:pPr algn="r">
              <a:defRPr/>
            </a:pPr>
            <a:r>
              <a:rPr lang="en-US" sz="4000" i="1" dirty="0">
                <a:solidFill>
                  <a:schemeClr val="bg1"/>
                </a:solidFill>
                <a:effectLst>
                  <a:outerShdw blurRad="38100" dist="38100" dir="2700000" algn="tl">
                    <a:srgbClr val="000000">
                      <a:alpha val="43137"/>
                    </a:srgbClr>
                  </a:outerShdw>
                </a:effectLst>
                <a:latin typeface="+mj-lt"/>
                <a:cs typeface="+mn-cs"/>
              </a:rPr>
              <a:t>Presentation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581400" y="0"/>
            <a:ext cx="5029200" cy="1198563"/>
          </a:xfrm>
        </p:spPr>
        <p:txBody>
          <a:bodyPr/>
          <a:lstStyle/>
          <a:p>
            <a:pPr algn="r">
              <a:defRPr/>
            </a:pPr>
            <a:r>
              <a:rPr lang="en-US" b="1" dirty="0" smtClean="0">
                <a:solidFill>
                  <a:schemeClr val="bg1"/>
                </a:solidFill>
              </a:rPr>
              <a:t>Design of SSVF</a:t>
            </a:r>
            <a:endParaRPr lang="en-US" b="1" dirty="0">
              <a:solidFill>
                <a:schemeClr val="bg1"/>
              </a:solidFill>
            </a:endParaRPr>
          </a:p>
        </p:txBody>
      </p:sp>
      <p:sp>
        <p:nvSpPr>
          <p:cNvPr id="5" name="Content Placeholder 4"/>
          <p:cNvSpPr>
            <a:spLocks noGrp="1"/>
          </p:cNvSpPr>
          <p:nvPr>
            <p:ph idx="1"/>
          </p:nvPr>
        </p:nvSpPr>
        <p:spPr>
          <a:xfrm>
            <a:off x="685800" y="1371600"/>
            <a:ext cx="7772400" cy="4953000"/>
          </a:xfrm>
        </p:spPr>
        <p:txBody>
          <a:bodyPr>
            <a:normAutofit fontScale="70000" lnSpcReduction="20000"/>
          </a:bodyPr>
          <a:lstStyle/>
          <a:p>
            <a:pPr>
              <a:buClrTx/>
              <a:defRPr/>
            </a:pPr>
            <a:r>
              <a:rPr lang="en-US" sz="4000" i="1" dirty="0" smtClean="0">
                <a:solidFill>
                  <a:schemeClr val="tx1"/>
                </a:solidFill>
              </a:rPr>
              <a:t>Focus on housing stability </a:t>
            </a:r>
            <a:r>
              <a:rPr lang="en-US" sz="4000" b="0" dirty="0" smtClean="0">
                <a:solidFill>
                  <a:schemeClr val="tx1"/>
                </a:solidFill>
              </a:rPr>
              <a:t>with resources and services designed to produce immediate impact.</a:t>
            </a:r>
          </a:p>
          <a:p>
            <a:pPr>
              <a:buClrTx/>
              <a:defRPr/>
            </a:pPr>
            <a:r>
              <a:rPr lang="en-US" sz="4000" b="0" dirty="0" smtClean="0">
                <a:solidFill>
                  <a:schemeClr val="tx1"/>
                </a:solidFill>
              </a:rPr>
              <a:t>Efficient use of resources concentrates efforts on securing and maintaining housing.</a:t>
            </a:r>
          </a:p>
          <a:p>
            <a:pPr>
              <a:buClrTx/>
              <a:defRPr/>
            </a:pPr>
            <a:r>
              <a:rPr lang="en-US" sz="4000" b="0" dirty="0" smtClean="0">
                <a:solidFill>
                  <a:schemeClr val="tx1"/>
                </a:solidFill>
              </a:rPr>
              <a:t>Grant funding weighted towards rapid re-housing.</a:t>
            </a:r>
          </a:p>
          <a:p>
            <a:pPr>
              <a:buClrTx/>
              <a:defRPr/>
            </a:pPr>
            <a:r>
              <a:rPr lang="en-US" sz="4000" b="0" dirty="0" smtClean="0">
                <a:solidFill>
                  <a:schemeClr val="tx1"/>
                </a:solidFill>
              </a:rPr>
              <a:t>Case management will assist Veteran and family with employment and benefit resources that will promote long-term stability.</a:t>
            </a:r>
          </a:p>
          <a:p>
            <a:pPr>
              <a:buClrTx/>
              <a:defRPr/>
            </a:pPr>
            <a:r>
              <a:rPr lang="en-US" sz="4000" b="0" dirty="0" smtClean="0">
                <a:solidFill>
                  <a:schemeClr val="tx1"/>
                </a:solidFill>
              </a:rPr>
              <a:t>Program able to address critical barriers to housing: legal issues, transportation, child care, family issues.</a:t>
            </a:r>
          </a:p>
          <a:p>
            <a:pPr>
              <a:defRPr/>
            </a:pPr>
            <a:endParaRPr lang="en-US" dirty="0"/>
          </a:p>
        </p:txBody>
      </p:sp>
      <p:sp>
        <p:nvSpPr>
          <p:cNvPr id="56323" name="TextBox 5"/>
          <p:cNvSpPr txBox="1">
            <a:spLocks noChangeArrowheads="1"/>
          </p:cNvSpPr>
          <p:nvPr/>
        </p:nvSpPr>
        <p:spPr bwMode="auto">
          <a:xfrm>
            <a:off x="519113" y="355600"/>
            <a:ext cx="885825" cy="368300"/>
          </a:xfrm>
          <a:prstGeom prst="rect">
            <a:avLst/>
          </a:prstGeom>
          <a:noFill/>
          <a:ln w="9525">
            <a:noFill/>
            <a:miter lim="800000"/>
            <a:headEnd/>
            <a:tailEnd/>
          </a:ln>
        </p:spPr>
        <p:txBody>
          <a:bodyPr>
            <a:spAutoFit/>
          </a:bodyPr>
          <a:lstStyle/>
          <a:p>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997450"/>
          </a:xfrm>
        </p:spPr>
        <p:txBody>
          <a:bodyPr>
            <a:normAutofit fontScale="92500" lnSpcReduction="10000"/>
          </a:bodyPr>
          <a:lstStyle/>
          <a:p>
            <a:pPr>
              <a:buClrTx/>
              <a:defRPr/>
            </a:pPr>
            <a:r>
              <a:rPr lang="en-US" b="0" dirty="0" smtClean="0">
                <a:solidFill>
                  <a:schemeClr val="tx1"/>
                </a:solidFill>
              </a:rPr>
              <a:t>Targeting, who is at-risk of becoming homeless?</a:t>
            </a:r>
          </a:p>
          <a:p>
            <a:pPr>
              <a:buClrTx/>
              <a:defRPr/>
            </a:pPr>
            <a:r>
              <a:rPr lang="en-US" b="0" dirty="0" smtClean="0">
                <a:solidFill>
                  <a:schemeClr val="tx1"/>
                </a:solidFill>
              </a:rPr>
              <a:t>Once at-risk are identified, how do we determine who at-risk would become homeless “but for” intervention. Even rapid re-housing can be unnecessary; one-third of Veterans stay in shelters less than 1 week &amp; generally leave without special intervention.</a:t>
            </a:r>
          </a:p>
          <a:p>
            <a:pPr>
              <a:buClrTx/>
              <a:defRPr/>
            </a:pPr>
            <a:r>
              <a:rPr lang="en-US" b="0" dirty="0" smtClean="0">
                <a:solidFill>
                  <a:schemeClr val="tx1"/>
                </a:solidFill>
              </a:rPr>
              <a:t>Determining the appropriate (and efficient) response to support housing stability</a:t>
            </a:r>
          </a:p>
          <a:p>
            <a:pPr lvl="1">
              <a:buClrTx/>
              <a:defRPr/>
            </a:pPr>
            <a:r>
              <a:rPr lang="en-US" dirty="0" smtClean="0"/>
              <a:t>Mainstream services</a:t>
            </a:r>
          </a:p>
          <a:p>
            <a:pPr lvl="1">
              <a:buClrTx/>
              <a:defRPr/>
            </a:pPr>
            <a:r>
              <a:rPr lang="en-US" dirty="0" smtClean="0"/>
              <a:t>Intensive case management </a:t>
            </a:r>
          </a:p>
          <a:p>
            <a:pPr lvl="1">
              <a:buClrTx/>
              <a:defRPr/>
            </a:pPr>
            <a:r>
              <a:rPr lang="en-US" dirty="0" smtClean="0"/>
              <a:t>Financial supports</a:t>
            </a:r>
          </a:p>
          <a:p>
            <a:pPr lvl="1">
              <a:buClrTx/>
              <a:defRPr/>
            </a:pPr>
            <a:r>
              <a:rPr lang="en-US" dirty="0" smtClean="0"/>
              <a:t>Sustainability</a:t>
            </a:r>
            <a:endParaRPr lang="en-US" dirty="0"/>
          </a:p>
        </p:txBody>
      </p:sp>
      <p:sp>
        <p:nvSpPr>
          <p:cNvPr id="7" name="Title 6"/>
          <p:cNvSpPr>
            <a:spLocks noGrp="1"/>
          </p:cNvSpPr>
          <p:nvPr>
            <p:ph type="title"/>
          </p:nvPr>
        </p:nvSpPr>
        <p:spPr>
          <a:xfrm rot="10800000" flipV="1">
            <a:off x="3810000" y="228600"/>
            <a:ext cx="5105400" cy="738188"/>
          </a:xfrm>
        </p:spPr>
        <p:txBody>
          <a:bodyPr/>
          <a:lstStyle/>
          <a:p>
            <a:pPr algn="r">
              <a:defRPr/>
            </a:pPr>
            <a:r>
              <a:rPr lang="en-US" b="1" dirty="0" smtClean="0">
                <a:solidFill>
                  <a:schemeClr val="bg1"/>
                </a:solidFill>
                <a:effectLst>
                  <a:outerShdw blurRad="38100" dist="38100" dir="2700000" algn="tl">
                    <a:srgbClr val="000000">
                      <a:alpha val="43137"/>
                    </a:srgbClr>
                  </a:outerShdw>
                </a:effectLst>
              </a:rPr>
              <a:t>Who Is Served</a:t>
            </a:r>
            <a:endParaRPr lang="en-US" b="1" dirty="0">
              <a:solidFill>
                <a:schemeClr val="bg1"/>
              </a:solidFill>
              <a:effectLst>
                <a:outerShdw blurRad="38100" dist="38100" dir="2700000" algn="tl">
                  <a:srgbClr val="000000">
                    <a:alpha val="43137"/>
                  </a:srgbClr>
                </a:outerShdw>
              </a:effectLs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Content Placeholder 3"/>
          <p:cNvSpPr>
            <a:spLocks noGrp="1"/>
          </p:cNvSpPr>
          <p:nvPr>
            <p:ph/>
          </p:nvPr>
        </p:nvSpPr>
        <p:spPr>
          <a:xfrm>
            <a:off x="304800" y="1295400"/>
            <a:ext cx="8382000" cy="5257800"/>
          </a:xfrm>
        </p:spPr>
        <p:txBody>
          <a:bodyPr/>
          <a:lstStyle/>
          <a:p>
            <a:pPr>
              <a:buFontTx/>
              <a:buNone/>
            </a:pPr>
            <a:r>
              <a:rPr lang="en-US" sz="2400" b="0" smtClean="0">
                <a:solidFill>
                  <a:schemeClr val="tx1"/>
                </a:solidFill>
              </a:rPr>
              <a:t>Case mix has implications for service needs and cost.</a:t>
            </a:r>
          </a:p>
          <a:p>
            <a:pPr>
              <a:buClrTx/>
            </a:pPr>
            <a:r>
              <a:rPr lang="en-US" sz="2400" b="0" smtClean="0">
                <a:solidFill>
                  <a:schemeClr val="tx1"/>
                </a:solidFill>
              </a:rPr>
              <a:t>Primary Prevention</a:t>
            </a:r>
          </a:p>
          <a:p>
            <a:pPr lvl="1">
              <a:buClrTx/>
            </a:pPr>
            <a:r>
              <a:rPr lang="en-US" sz="2000" smtClean="0"/>
              <a:t>Veteran family still housed</a:t>
            </a:r>
          </a:p>
          <a:p>
            <a:pPr lvl="1">
              <a:buClrTx/>
            </a:pPr>
            <a:r>
              <a:rPr lang="en-US" sz="2000" smtClean="0"/>
              <a:t>Generally less costly to serve</a:t>
            </a:r>
          </a:p>
          <a:p>
            <a:pPr lvl="1">
              <a:buClrTx/>
            </a:pPr>
            <a:r>
              <a:rPr lang="en-US" sz="2000" smtClean="0"/>
              <a:t>May have no or few social service supports. Assess eligibility for mainstream entitlements, including those from VBA, and other income supports such as TANF</a:t>
            </a:r>
          </a:p>
          <a:p>
            <a:pPr>
              <a:buClrTx/>
            </a:pPr>
            <a:r>
              <a:rPr lang="en-US" sz="2400" b="0" smtClean="0">
                <a:solidFill>
                  <a:schemeClr val="tx1"/>
                </a:solidFill>
              </a:rPr>
              <a:t>Secondary or Tertiary Prevention</a:t>
            </a:r>
          </a:p>
          <a:p>
            <a:pPr lvl="1">
              <a:buClrTx/>
            </a:pPr>
            <a:r>
              <a:rPr lang="en-US" sz="2000" smtClean="0"/>
              <a:t>Homeless will likely have greater needs, particularly for tertiary (often chronically homeless) prevention</a:t>
            </a:r>
          </a:p>
          <a:p>
            <a:pPr lvl="1">
              <a:buClrTx/>
            </a:pPr>
            <a:r>
              <a:rPr lang="en-US" sz="2000" smtClean="0"/>
              <a:t>Higher demands for financial assistance and case management</a:t>
            </a:r>
          </a:p>
          <a:p>
            <a:pPr lvl="1">
              <a:buClrTx/>
            </a:pPr>
            <a:r>
              <a:rPr lang="en-US" sz="2000" smtClean="0"/>
              <a:t>Will generally have some community support and access to services which can be integrated into planning.</a:t>
            </a:r>
          </a:p>
        </p:txBody>
      </p:sp>
      <p:sp>
        <p:nvSpPr>
          <p:cNvPr id="5" name="TextBox 4"/>
          <p:cNvSpPr txBox="1"/>
          <p:nvPr/>
        </p:nvSpPr>
        <p:spPr>
          <a:xfrm>
            <a:off x="4876800" y="228600"/>
            <a:ext cx="3886200" cy="646113"/>
          </a:xfrm>
          <a:prstGeom prst="rect">
            <a:avLst/>
          </a:prstGeom>
          <a:noFill/>
        </p:spPr>
        <p:txBody>
          <a:bodyPr>
            <a:spAutoFit/>
          </a:bodyPr>
          <a:lstStyle/>
          <a:p>
            <a:pPr algn="r">
              <a:defRPr/>
            </a:pPr>
            <a:r>
              <a:rPr lang="en-US" sz="3600" i="1" dirty="0">
                <a:solidFill>
                  <a:schemeClr val="bg1"/>
                </a:solidFill>
                <a:effectLst>
                  <a:outerShdw blurRad="38100" dist="38100" dir="2700000" algn="tl">
                    <a:srgbClr val="000000">
                      <a:alpha val="43137"/>
                    </a:srgbClr>
                  </a:outerShdw>
                </a:effectLst>
                <a:latin typeface="+mj-lt"/>
                <a:cs typeface="+mn-cs"/>
              </a:rPr>
              <a:t>Who Is Served</a:t>
            </a:r>
            <a:endParaRPr lang="en-US" sz="3600" i="1" dirty="0">
              <a:latin typeface="+mj-lt"/>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Content Placeholder 3"/>
          <p:cNvSpPr>
            <a:spLocks noGrp="1"/>
          </p:cNvSpPr>
          <p:nvPr>
            <p:ph/>
          </p:nvPr>
        </p:nvSpPr>
        <p:spPr>
          <a:xfrm>
            <a:off x="304800" y="1295400"/>
            <a:ext cx="8382000" cy="5257800"/>
          </a:xfrm>
        </p:spPr>
        <p:txBody>
          <a:bodyPr/>
          <a:lstStyle/>
          <a:p>
            <a:pPr>
              <a:buClrTx/>
            </a:pPr>
            <a:r>
              <a:rPr lang="en-US" sz="2600" b="0" smtClean="0">
                <a:solidFill>
                  <a:schemeClr val="tx1"/>
                </a:solidFill>
              </a:rPr>
              <a:t>Assessment must address if SSVF is appropriate in the context of the range of available options in both VA (such as GPD &amp; HUD-VASH) and the community.</a:t>
            </a:r>
          </a:p>
          <a:p>
            <a:pPr>
              <a:buClrTx/>
            </a:pPr>
            <a:r>
              <a:rPr lang="en-US" sz="2600" b="0" smtClean="0">
                <a:solidFill>
                  <a:schemeClr val="tx1"/>
                </a:solidFill>
              </a:rPr>
              <a:t>Assessment based on Veteran’s needs, not program convenience.</a:t>
            </a:r>
          </a:p>
          <a:p>
            <a:pPr>
              <a:buClrTx/>
            </a:pPr>
            <a:r>
              <a:rPr lang="en-US" sz="2600" b="0" smtClean="0">
                <a:solidFill>
                  <a:schemeClr val="tx1"/>
                </a:solidFill>
              </a:rPr>
              <a:t>Resources need to be well targeted so they are available for those in need.</a:t>
            </a:r>
          </a:p>
          <a:p>
            <a:pPr>
              <a:buClrTx/>
            </a:pPr>
            <a:r>
              <a:rPr lang="en-US" sz="2600" b="0" smtClean="0">
                <a:solidFill>
                  <a:schemeClr val="tx1"/>
                </a:solidFill>
              </a:rPr>
              <a:t>SSVF has unique capacities to serve families and provide financial support.</a:t>
            </a:r>
          </a:p>
          <a:p>
            <a:pPr>
              <a:buClrTx/>
            </a:pPr>
            <a:endParaRPr lang="en-US" sz="2000" b="0" smtClean="0">
              <a:solidFill>
                <a:schemeClr val="tx1"/>
              </a:solidFill>
            </a:endParaRPr>
          </a:p>
        </p:txBody>
      </p:sp>
      <p:sp>
        <p:nvSpPr>
          <p:cNvPr id="5" name="TextBox 4"/>
          <p:cNvSpPr txBox="1"/>
          <p:nvPr/>
        </p:nvSpPr>
        <p:spPr>
          <a:xfrm>
            <a:off x="4876800" y="228600"/>
            <a:ext cx="3886200" cy="646113"/>
          </a:xfrm>
          <a:prstGeom prst="rect">
            <a:avLst/>
          </a:prstGeom>
          <a:noFill/>
        </p:spPr>
        <p:txBody>
          <a:bodyPr>
            <a:spAutoFit/>
          </a:bodyPr>
          <a:lstStyle/>
          <a:p>
            <a:pPr algn="r">
              <a:defRPr/>
            </a:pPr>
            <a:r>
              <a:rPr lang="en-US" sz="3600" i="1" dirty="0">
                <a:solidFill>
                  <a:schemeClr val="bg1"/>
                </a:solidFill>
                <a:effectLst>
                  <a:outerShdw blurRad="38100" dist="38100" dir="2700000" algn="tl">
                    <a:srgbClr val="000000">
                      <a:alpha val="43137"/>
                    </a:srgbClr>
                  </a:outerShdw>
                </a:effectLst>
                <a:latin typeface="+mj-lt"/>
                <a:cs typeface="+mn-cs"/>
              </a:rPr>
              <a:t>Who Is Served</a:t>
            </a:r>
            <a:endParaRPr lang="en-US" sz="3600" i="1" dirty="0">
              <a:latin typeface="+mj-lt"/>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3"/>
          <p:cNvSpPr>
            <a:spLocks noGrp="1"/>
          </p:cNvSpPr>
          <p:nvPr>
            <p:ph type="title"/>
          </p:nvPr>
        </p:nvSpPr>
        <p:spPr>
          <a:xfrm>
            <a:off x="3581400" y="0"/>
            <a:ext cx="5562600" cy="914400"/>
          </a:xfrm>
        </p:spPr>
        <p:txBody>
          <a:bodyPr>
            <a:normAutofit fontScale="90000"/>
          </a:bodyPr>
          <a:lstStyle/>
          <a:p>
            <a:pPr algn="r">
              <a:defRPr/>
            </a:pPr>
            <a:r>
              <a:rPr lang="en-US" sz="3200" dirty="0" smtClean="0">
                <a:solidFill>
                  <a:schemeClr val="tx1"/>
                </a:solidFill>
                <a:latin typeface="+mn-lt"/>
              </a:rPr>
              <a:t/>
            </a:r>
            <a:br>
              <a:rPr lang="en-US" sz="3200" dirty="0" smtClean="0">
                <a:solidFill>
                  <a:schemeClr val="tx1"/>
                </a:solidFill>
                <a:latin typeface="+mn-lt"/>
              </a:rPr>
            </a:br>
            <a:r>
              <a:rPr lang="en-US" sz="3200" dirty="0"/>
              <a:t> </a:t>
            </a:r>
            <a:r>
              <a:rPr lang="en-US" sz="3200" dirty="0" smtClean="0"/>
              <a:t/>
            </a:r>
            <a:br>
              <a:rPr lang="en-US" sz="3200" dirty="0" smtClean="0"/>
            </a:br>
            <a:r>
              <a:rPr lang="en-US" sz="3100" dirty="0" smtClean="0">
                <a:solidFill>
                  <a:schemeClr val="bg1"/>
                </a:solidFill>
              </a:rPr>
              <a:t>Federal </a:t>
            </a:r>
            <a:r>
              <a:rPr lang="en-US" sz="3100" dirty="0">
                <a:solidFill>
                  <a:schemeClr val="bg1"/>
                </a:solidFill>
              </a:rPr>
              <a:t>Strategic Plan </a:t>
            </a:r>
            <a:br>
              <a:rPr lang="en-US" sz="3100" dirty="0">
                <a:solidFill>
                  <a:schemeClr val="bg1"/>
                </a:solidFill>
              </a:rPr>
            </a:br>
            <a:r>
              <a:rPr lang="en-US" sz="3100" dirty="0">
                <a:solidFill>
                  <a:schemeClr val="bg1"/>
                </a:solidFill>
              </a:rPr>
              <a:t>to Prevent &amp; End </a:t>
            </a:r>
            <a:r>
              <a:rPr lang="en-US" sz="3100" dirty="0" smtClean="0">
                <a:solidFill>
                  <a:schemeClr val="bg1"/>
                </a:solidFill>
              </a:rPr>
              <a:t>Homelessness </a:t>
            </a:r>
            <a:r>
              <a:rPr lang="en-US" sz="3200" dirty="0" smtClean="0">
                <a:latin typeface="+mn-lt"/>
              </a:rPr>
              <a:t/>
            </a:r>
            <a:br>
              <a:rPr lang="en-US" sz="3200" dirty="0" smtClean="0">
                <a:latin typeface="+mn-lt"/>
              </a:rPr>
            </a:br>
            <a:r>
              <a:rPr lang="en-US" sz="3200" dirty="0" smtClean="0">
                <a:solidFill>
                  <a:schemeClr val="tx1"/>
                </a:solidFill>
                <a:latin typeface="+mn-lt"/>
              </a:rPr>
              <a:t/>
            </a:r>
            <a:br>
              <a:rPr lang="en-US" sz="3200" dirty="0" smtClean="0">
                <a:solidFill>
                  <a:schemeClr val="tx1"/>
                </a:solidFill>
                <a:latin typeface="+mn-lt"/>
              </a:rPr>
            </a:br>
            <a:endParaRPr lang="en-US" sz="3200" dirty="0" smtClean="0">
              <a:solidFill>
                <a:schemeClr val="tx1"/>
              </a:solidFill>
              <a:latin typeface="+mn-lt"/>
            </a:endParaRPr>
          </a:p>
        </p:txBody>
      </p:sp>
      <p:sp>
        <p:nvSpPr>
          <p:cNvPr id="60418" name="Content Placeholder 4"/>
          <p:cNvSpPr>
            <a:spLocks noGrp="1"/>
          </p:cNvSpPr>
          <p:nvPr>
            <p:ph idx="1"/>
          </p:nvPr>
        </p:nvSpPr>
        <p:spPr>
          <a:xfrm>
            <a:off x="685800" y="1524000"/>
            <a:ext cx="7772400" cy="4294188"/>
          </a:xfrm>
        </p:spPr>
        <p:txBody>
          <a:bodyPr/>
          <a:lstStyle/>
          <a:p>
            <a:pPr>
              <a:buFontTx/>
              <a:buNone/>
            </a:pPr>
            <a:r>
              <a:rPr lang="en-US" sz="2400" smtClean="0">
                <a:solidFill>
                  <a:schemeClr val="tx1"/>
                </a:solidFill>
              </a:rPr>
              <a:t>Interagency Council on Homelessness:</a:t>
            </a:r>
            <a:br>
              <a:rPr lang="en-US" sz="2400" smtClean="0">
                <a:solidFill>
                  <a:schemeClr val="tx1"/>
                </a:solidFill>
              </a:rPr>
            </a:br>
            <a:r>
              <a:rPr lang="en-US" sz="2400" i="1" smtClean="0">
                <a:solidFill>
                  <a:schemeClr val="tx1"/>
                </a:solidFill>
              </a:rPr>
              <a:t> Opening Doors</a:t>
            </a:r>
          </a:p>
          <a:p>
            <a:pPr>
              <a:buFontTx/>
              <a:buNone/>
            </a:pPr>
            <a:endParaRPr lang="en-US" sz="2400" smtClean="0">
              <a:solidFill>
                <a:schemeClr val="tx1"/>
              </a:solidFill>
              <a:ea typeface="MS PGothic" pitchFamily="34" charset="-128"/>
            </a:endParaRPr>
          </a:p>
          <a:p>
            <a:pPr>
              <a:buFontTx/>
              <a:buNone/>
            </a:pPr>
            <a:r>
              <a:rPr lang="en-US" sz="2400" b="0" smtClean="0">
                <a:solidFill>
                  <a:schemeClr val="tx1"/>
                </a:solidFill>
                <a:ea typeface="MS PGothic" pitchFamily="34" charset="-128"/>
              </a:rPr>
              <a:t>Knowledge Objective:</a:t>
            </a:r>
          </a:p>
          <a:p>
            <a:pPr>
              <a:buFontTx/>
              <a:buNone/>
            </a:pPr>
            <a:r>
              <a:rPr lang="en-US" sz="2400" b="0" smtClean="0">
                <a:solidFill>
                  <a:schemeClr val="tx1"/>
                </a:solidFill>
                <a:ea typeface="MS PGothic" pitchFamily="34" charset="-128"/>
              </a:rPr>
              <a:t>“</a:t>
            </a:r>
            <a:r>
              <a:rPr lang="en-US" b="0" smtClean="0">
                <a:solidFill>
                  <a:schemeClr val="tx1"/>
                </a:solidFill>
                <a:ea typeface="MS PGothic" pitchFamily="34" charset="-128"/>
              </a:rPr>
              <a:t>Strengthen the capacity of public and private organizations by increasing knowledge about collaboration, homelessness, and successful interventions to prevent and end homelessness.”</a:t>
            </a:r>
          </a:p>
          <a:p>
            <a:pPr>
              <a:buFontTx/>
              <a:buNone/>
            </a:pPr>
            <a:endParaRPr lang="en-US" smtClean="0">
              <a:ea typeface="MS PGothic" pitchFamily="34" charset="-128"/>
            </a:endParaRPr>
          </a:p>
          <a:p>
            <a:pPr marL="914400" lvl="1" indent="-457200">
              <a:buFontTx/>
              <a:buNone/>
            </a:pPr>
            <a:endParaRPr lang="en-US" sz="200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3733800" y="0"/>
            <a:ext cx="5410200" cy="990600"/>
          </a:xfrm>
        </p:spPr>
        <p:txBody>
          <a:bodyPr>
            <a:normAutofit fontScale="90000"/>
          </a:bodyPr>
          <a:lstStyle/>
          <a:p>
            <a:pPr algn="r">
              <a:defRPr/>
            </a:pPr>
            <a:r>
              <a:rPr lang="en-US" sz="4000" dirty="0" smtClean="0">
                <a:solidFill>
                  <a:schemeClr val="bg1"/>
                </a:solidFill>
              </a:rPr>
              <a:t>Location of Homeless Veterans*</a:t>
            </a:r>
          </a:p>
        </p:txBody>
      </p:sp>
      <p:sp>
        <p:nvSpPr>
          <p:cNvPr id="3" name="Content Placeholder 2"/>
          <p:cNvSpPr>
            <a:spLocks noGrp="1"/>
          </p:cNvSpPr>
          <p:nvPr>
            <p:ph idx="1"/>
          </p:nvPr>
        </p:nvSpPr>
        <p:spPr>
          <a:xfrm>
            <a:off x="457200" y="1600200"/>
            <a:ext cx="8229600" cy="4989513"/>
          </a:xfrm>
        </p:spPr>
        <p:txBody>
          <a:bodyPr rtlCol="0">
            <a:normAutofit fontScale="62500" lnSpcReduction="20000"/>
          </a:bodyPr>
          <a:lstStyle/>
          <a:p>
            <a:pPr fontAlgn="auto">
              <a:spcAft>
                <a:spcPts val="0"/>
              </a:spcAft>
              <a:buClrTx/>
              <a:buFont typeface="Arial" pitchFamily="34" charset="0"/>
              <a:buChar char="•"/>
              <a:defRPr/>
            </a:pPr>
            <a:r>
              <a:rPr lang="en-US" sz="3800" b="0" dirty="0" smtClean="0">
                <a:solidFill>
                  <a:schemeClr val="tx1"/>
                </a:solidFill>
              </a:rPr>
              <a:t>Almost half of homeless Veterans on a given night were located in four states: California, Florida, Texas, and New York. Only 28 percent of all Veterans were located in those same four states.</a:t>
            </a:r>
          </a:p>
          <a:p>
            <a:pPr fontAlgn="auto">
              <a:spcAft>
                <a:spcPts val="0"/>
              </a:spcAft>
              <a:buClrTx/>
              <a:buFont typeface="Arial" pitchFamily="34" charset="0"/>
              <a:buChar char="•"/>
              <a:defRPr/>
            </a:pPr>
            <a:r>
              <a:rPr lang="en-US" sz="3800" b="0" dirty="0" smtClean="0">
                <a:solidFill>
                  <a:schemeClr val="tx1"/>
                </a:solidFill>
              </a:rPr>
              <a:t>The share of homeless Veterans located in the densest urban areas (or principal cities) is more than twice that of all Veterans (72 percent compared to 31 percent).</a:t>
            </a:r>
          </a:p>
          <a:p>
            <a:pPr fontAlgn="auto">
              <a:spcAft>
                <a:spcPts val="0"/>
              </a:spcAft>
              <a:buClrTx/>
              <a:buFont typeface="Arial" pitchFamily="34" charset="0"/>
              <a:buChar char="•"/>
              <a:defRPr/>
            </a:pPr>
            <a:r>
              <a:rPr lang="en-US" sz="3800" b="0" dirty="0" smtClean="0">
                <a:solidFill>
                  <a:schemeClr val="tx1"/>
                </a:solidFill>
              </a:rPr>
              <a:t>During the course of the year, 33 percent of Veterans experiencing homelessness stayed in emergency shelter for less than one week, 61 percent stayed less than one month, and more than 84 percent Veterans stayed in emergency shelter for less than 3 months.</a:t>
            </a:r>
          </a:p>
          <a:p>
            <a:pPr fontAlgn="auto">
              <a:spcAft>
                <a:spcPts val="0"/>
              </a:spcAft>
              <a:buFont typeface="Arial" pitchFamily="34" charset="0"/>
              <a:buChar char="•"/>
              <a:defRPr/>
            </a:pPr>
            <a:endParaRPr lang="en-US" dirty="0" smtClean="0">
              <a:solidFill>
                <a:schemeClr val="tx1"/>
              </a:solidFill>
            </a:endParaRPr>
          </a:p>
          <a:p>
            <a:pPr fontAlgn="auto">
              <a:spcAft>
                <a:spcPts val="0"/>
              </a:spcAft>
              <a:buFontTx/>
              <a:buNone/>
              <a:defRPr/>
            </a:pPr>
            <a:endParaRPr lang="en-US" dirty="0" smtClean="0">
              <a:solidFill>
                <a:schemeClr val="tx1"/>
              </a:solidFill>
            </a:endParaRPr>
          </a:p>
          <a:p>
            <a:pPr>
              <a:buFontTx/>
              <a:buNone/>
              <a:defRPr/>
            </a:pPr>
            <a:r>
              <a:rPr lang="en-US" sz="2300" dirty="0">
                <a:solidFill>
                  <a:schemeClr val="tx1"/>
                </a:solidFill>
              </a:rPr>
              <a:t>U.S. Department of </a:t>
            </a:r>
            <a:r>
              <a:rPr lang="en-US" sz="2300" dirty="0" smtClean="0">
                <a:solidFill>
                  <a:schemeClr val="tx1"/>
                </a:solidFill>
              </a:rPr>
              <a:t>HUD and </a:t>
            </a:r>
            <a:r>
              <a:rPr lang="en-US" sz="2300" dirty="0">
                <a:solidFill>
                  <a:schemeClr val="tx1"/>
                </a:solidFill>
              </a:rPr>
              <a:t>U.S. Department of </a:t>
            </a:r>
            <a:r>
              <a:rPr lang="en-US" sz="2300" dirty="0" smtClean="0">
                <a:solidFill>
                  <a:schemeClr val="tx1"/>
                </a:solidFill>
              </a:rPr>
              <a:t>VA.  </a:t>
            </a:r>
            <a:r>
              <a:rPr lang="en-US" sz="2300" i="1" dirty="0">
                <a:solidFill>
                  <a:schemeClr val="tx1"/>
                </a:solidFill>
              </a:rPr>
              <a:t>Veteran Homelessness: A Supplemental Report to the </a:t>
            </a:r>
            <a:r>
              <a:rPr lang="en-US" sz="2300" i="1" dirty="0" err="1">
                <a:solidFill>
                  <a:schemeClr val="tx1"/>
                </a:solidFill>
              </a:rPr>
              <a:t>The</a:t>
            </a:r>
            <a:r>
              <a:rPr lang="en-US" sz="2300" i="1" dirty="0">
                <a:solidFill>
                  <a:schemeClr val="tx1"/>
                </a:solidFill>
              </a:rPr>
              <a:t> Annual Homeless Assessment Report to Congress</a:t>
            </a:r>
            <a:r>
              <a:rPr lang="en-US" sz="2300" dirty="0">
                <a:solidFill>
                  <a:schemeClr val="tx1"/>
                </a:solidFill>
              </a:rPr>
              <a:t>.  February 2011.</a:t>
            </a:r>
          </a:p>
          <a:p>
            <a:pPr fontAlgn="auto">
              <a:spcAft>
                <a:spcPts val="0"/>
              </a:spcAft>
              <a:buFont typeface="Arial" pitchFamily="34" charset="0"/>
              <a:buChar char="•"/>
              <a:defRPr/>
            </a:pPr>
            <a:endParaRPr lang="en-US"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0"/>
            <a:ext cx="5562600" cy="990600"/>
          </a:xfrm>
        </p:spPr>
        <p:txBody>
          <a:bodyPr rtlCol="0">
            <a:noAutofit/>
          </a:bodyPr>
          <a:lstStyle/>
          <a:p>
            <a:pPr algn="r" fontAlgn="auto">
              <a:spcAft>
                <a:spcPts val="0"/>
              </a:spcAft>
              <a:defRPr/>
            </a:pPr>
            <a:r>
              <a:rPr lang="en-US" sz="2400" dirty="0" smtClean="0">
                <a:solidFill>
                  <a:schemeClr val="bg1"/>
                </a:solidFill>
              </a:rPr>
              <a:t>Homeless Veterans are Older Than General Homeless Population</a:t>
            </a:r>
          </a:p>
        </p:txBody>
      </p:sp>
      <p:sp>
        <p:nvSpPr>
          <p:cNvPr id="3" name="Content Placeholder 2"/>
          <p:cNvSpPr>
            <a:spLocks noGrp="1"/>
          </p:cNvSpPr>
          <p:nvPr>
            <p:ph idx="1"/>
          </p:nvPr>
        </p:nvSpPr>
        <p:spPr/>
        <p:txBody>
          <a:bodyPr rtlCol="0">
            <a:normAutofit fontScale="92500" lnSpcReduction="10000"/>
          </a:bodyPr>
          <a:lstStyle/>
          <a:p>
            <a:pPr fontAlgn="auto">
              <a:spcAft>
                <a:spcPts val="0"/>
              </a:spcAft>
              <a:buClrTx/>
              <a:buFont typeface="Arial" pitchFamily="34" charset="0"/>
              <a:buChar char="•"/>
              <a:defRPr/>
            </a:pPr>
            <a:r>
              <a:rPr lang="en-US" b="0" dirty="0" smtClean="0">
                <a:solidFill>
                  <a:schemeClr val="tx1"/>
                </a:solidFill>
              </a:rPr>
              <a:t>39 percent of homeless Veterans are 51–61 years compared with 19 percent of homeless non-Veterans.</a:t>
            </a:r>
          </a:p>
          <a:p>
            <a:pPr fontAlgn="auto">
              <a:spcAft>
                <a:spcPts val="0"/>
              </a:spcAft>
              <a:buClrTx/>
              <a:buFont typeface="Arial" pitchFamily="34" charset="0"/>
              <a:buChar char="•"/>
              <a:defRPr/>
            </a:pPr>
            <a:r>
              <a:rPr lang="en-US" b="0" dirty="0" smtClean="0">
                <a:solidFill>
                  <a:schemeClr val="tx1"/>
                </a:solidFill>
              </a:rPr>
              <a:t>9 percent of homeless Veterans are 62 years and older compared with 4 percent of homeless non-Veterans.</a:t>
            </a:r>
          </a:p>
          <a:p>
            <a:pPr fontAlgn="auto">
              <a:spcAft>
                <a:spcPts val="0"/>
              </a:spcAft>
              <a:buClrTx/>
              <a:buFont typeface="Arial" pitchFamily="34" charset="0"/>
              <a:buChar char="•"/>
              <a:defRPr/>
            </a:pPr>
            <a:r>
              <a:rPr lang="en-US" b="0" dirty="0" smtClean="0">
                <a:solidFill>
                  <a:schemeClr val="tx1"/>
                </a:solidFill>
              </a:rPr>
              <a:t>Veterans are older and are more disabled. About 53 percent of individual homeless Veterans have disabilities, compared with 41 percent of sheltered homeless non-Veteran individuals. </a:t>
            </a:r>
          </a:p>
          <a:p>
            <a:pPr fontAlgn="auto">
              <a:spcAft>
                <a:spcPts val="0"/>
              </a:spcAft>
              <a:buFont typeface="Arial" pitchFamily="34" charset="0"/>
              <a:buChar char="•"/>
              <a:defRPr/>
            </a:pPr>
            <a:endParaRPr lang="en-US" dirty="0"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3886200" y="0"/>
            <a:ext cx="5105400" cy="1066800"/>
          </a:xfrm>
        </p:spPr>
        <p:txBody>
          <a:bodyPr>
            <a:normAutofit fontScale="90000"/>
          </a:bodyPr>
          <a:lstStyle/>
          <a:p>
            <a:pPr algn="r">
              <a:tabLst>
                <a:tab pos="4003675" algn="l"/>
              </a:tabLst>
              <a:defRPr/>
            </a:pPr>
            <a:r>
              <a:rPr lang="en-US" sz="4000" dirty="0" smtClean="0">
                <a:solidFill>
                  <a:schemeClr val="bg1"/>
                </a:solidFill>
              </a:rPr>
              <a:t>Populations at Higher Risk</a:t>
            </a:r>
          </a:p>
        </p:txBody>
      </p:sp>
      <p:sp>
        <p:nvSpPr>
          <p:cNvPr id="3" name="Content Placeholder 2"/>
          <p:cNvSpPr>
            <a:spLocks noGrp="1"/>
          </p:cNvSpPr>
          <p:nvPr>
            <p:ph idx="1"/>
          </p:nvPr>
        </p:nvSpPr>
        <p:spPr>
          <a:xfrm>
            <a:off x="685800" y="1295400"/>
            <a:ext cx="7772400" cy="5181600"/>
          </a:xfrm>
        </p:spPr>
        <p:txBody>
          <a:bodyPr rtlCol="0">
            <a:normAutofit fontScale="92500" lnSpcReduction="20000"/>
          </a:bodyPr>
          <a:lstStyle/>
          <a:p>
            <a:pPr fontAlgn="auto">
              <a:spcAft>
                <a:spcPts val="0"/>
              </a:spcAft>
              <a:buClrTx/>
              <a:buFont typeface="Arial" pitchFamily="34" charset="0"/>
              <a:buChar char="•"/>
              <a:defRPr/>
            </a:pPr>
            <a:r>
              <a:rPr lang="en-US" b="0" dirty="0" smtClean="0">
                <a:solidFill>
                  <a:schemeClr val="tx1"/>
                </a:solidFill>
              </a:rPr>
              <a:t>Ten percent of Veterans in poverty became homeless at some point during the year, compared to just over 5 percent of adults in poverty.</a:t>
            </a:r>
          </a:p>
          <a:p>
            <a:pPr fontAlgn="auto">
              <a:spcAft>
                <a:spcPts val="0"/>
              </a:spcAft>
              <a:buClrTx/>
              <a:buFont typeface="Arial" pitchFamily="34" charset="0"/>
              <a:buChar char="•"/>
              <a:defRPr/>
            </a:pPr>
            <a:r>
              <a:rPr lang="en-US" b="0" dirty="0" smtClean="0">
                <a:solidFill>
                  <a:schemeClr val="tx1"/>
                </a:solidFill>
              </a:rPr>
              <a:t>Rates of homelessness among Veterans living in poverty are particularly high for Veterans identifying as Hispanic/Latino (1 in 4) or African American (1 in 4).</a:t>
            </a:r>
          </a:p>
          <a:p>
            <a:pPr fontAlgn="auto">
              <a:spcAft>
                <a:spcPts val="0"/>
              </a:spcAft>
              <a:buClrTx/>
              <a:buFont typeface="Arial" pitchFamily="34" charset="0"/>
              <a:buChar char="•"/>
              <a:defRPr/>
            </a:pPr>
            <a:r>
              <a:rPr lang="en-US" b="0" dirty="0" smtClean="0">
                <a:solidFill>
                  <a:schemeClr val="tx1"/>
                </a:solidFill>
              </a:rPr>
              <a:t>Female Veterans are twice as likely to be in the homeless population as they are to be in the U.S. adult female population.</a:t>
            </a:r>
          </a:p>
          <a:p>
            <a:pPr fontAlgn="auto">
              <a:spcAft>
                <a:spcPts val="0"/>
              </a:spcAft>
              <a:buClrTx/>
              <a:buFont typeface="Arial" pitchFamily="34" charset="0"/>
              <a:buChar char="•"/>
              <a:defRPr/>
            </a:pPr>
            <a:r>
              <a:rPr lang="en-US" b="0" dirty="0" smtClean="0">
                <a:solidFill>
                  <a:schemeClr val="tx1"/>
                </a:solidFill>
              </a:rPr>
              <a:t>Younger Veterans, age 18-30, in poverty are 3.3 times more likely to be homeless that other adults of that age.</a:t>
            </a:r>
          </a:p>
          <a:p>
            <a:pPr fontAlgn="auto">
              <a:spcAft>
                <a:spcPts val="0"/>
              </a:spcAft>
              <a:buFont typeface="Arial" pitchFamily="34" charset="0"/>
              <a:buChar char="•"/>
              <a:defRPr/>
            </a:pPr>
            <a:endParaRPr lang="en-US" dirty="0" smtClean="0"/>
          </a:p>
          <a:p>
            <a:pPr fontAlgn="auto">
              <a:spcAft>
                <a:spcPts val="0"/>
              </a:spcAft>
              <a:buFont typeface="Arial" pitchFamily="34" charset="0"/>
              <a:buChar char="•"/>
              <a:defRPr/>
            </a:pPr>
            <a:endParaRPr lang="en-US"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3581400" y="0"/>
            <a:ext cx="5562600" cy="990600"/>
          </a:xfrm>
        </p:spPr>
        <p:txBody>
          <a:bodyPr anchor="t">
            <a:normAutofit fontScale="90000"/>
          </a:bodyPr>
          <a:lstStyle/>
          <a:p>
            <a:pPr>
              <a:defRPr/>
            </a:pPr>
            <a:r>
              <a:rPr lang="en-US" sz="3600" dirty="0" smtClean="0">
                <a:solidFill>
                  <a:schemeClr val="bg1"/>
                </a:solidFill>
              </a:rPr>
              <a:t>Distribution of the 1,356,610</a:t>
            </a:r>
            <a:br>
              <a:rPr lang="en-US" sz="3600" dirty="0" smtClean="0">
                <a:solidFill>
                  <a:schemeClr val="bg1"/>
                </a:solidFill>
              </a:rPr>
            </a:br>
            <a:r>
              <a:rPr lang="en-US" sz="3600" dirty="0" smtClean="0">
                <a:solidFill>
                  <a:schemeClr val="bg1"/>
                </a:solidFill>
              </a:rPr>
              <a:t>Veterans in Poverty</a:t>
            </a:r>
          </a:p>
        </p:txBody>
      </p:sp>
      <p:pic>
        <p:nvPicPr>
          <p:cNvPr id="64514" name="Content Placeholder 4" descr="AllPoorVets.jpg"/>
          <p:cNvPicPr>
            <a:picLocks noGrp="1" noChangeAspect="1"/>
          </p:cNvPicPr>
          <p:nvPr>
            <p:ph idx="1"/>
          </p:nvPr>
        </p:nvPicPr>
        <p:blipFill>
          <a:blip r:embed="rId2" cstate="print"/>
          <a:srcRect l="3165" t="21887" r="4466" b="20869"/>
          <a:stretch>
            <a:fillRect/>
          </a:stretch>
        </p:blipFill>
        <p:spPr>
          <a:xfrm>
            <a:off x="76200" y="1676400"/>
            <a:ext cx="8910638" cy="4800600"/>
          </a:xfr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7" name="Picture 1"/>
          <p:cNvPicPr>
            <a:picLocks noChangeAspect="1" noChangeArrowheads="1"/>
          </p:cNvPicPr>
          <p:nvPr/>
        </p:nvPicPr>
        <p:blipFill>
          <a:blip r:embed="rId2" cstate="print"/>
          <a:srcRect/>
          <a:stretch>
            <a:fillRect/>
          </a:stretch>
        </p:blipFill>
        <p:spPr bwMode="auto">
          <a:xfrm>
            <a:off x="0" y="1312863"/>
            <a:ext cx="9144000" cy="5545137"/>
          </a:xfrm>
          <a:prstGeom prst="rect">
            <a:avLst/>
          </a:prstGeom>
          <a:noFill/>
          <a:ln w="9525">
            <a:noFill/>
            <a:miter lim="800000"/>
            <a:headEnd/>
            <a:tailEnd/>
          </a:ln>
        </p:spPr>
      </p:pic>
      <p:sp>
        <p:nvSpPr>
          <p:cNvPr id="6" name="TextBox 5"/>
          <p:cNvSpPr txBox="1"/>
          <p:nvPr/>
        </p:nvSpPr>
        <p:spPr>
          <a:xfrm>
            <a:off x="3733800" y="0"/>
            <a:ext cx="5410200" cy="1077913"/>
          </a:xfrm>
          <a:prstGeom prst="rect">
            <a:avLst/>
          </a:prstGeom>
          <a:noFill/>
        </p:spPr>
        <p:txBody>
          <a:bodyPr>
            <a:spAutoFit/>
          </a:bodyPr>
          <a:lstStyle/>
          <a:p>
            <a:pPr algn="r">
              <a:defRPr/>
            </a:pPr>
            <a:r>
              <a:rPr lang="en-US" sz="3200" i="1" dirty="0">
                <a:solidFill>
                  <a:schemeClr val="bg1"/>
                </a:solidFill>
                <a:effectLst>
                  <a:outerShdw blurRad="38100" dist="38100" dir="2700000" algn="tl">
                    <a:srgbClr val="000000">
                      <a:alpha val="43137"/>
                    </a:srgbClr>
                  </a:outerShdw>
                </a:effectLst>
                <a:latin typeface="+mj-lt"/>
                <a:cs typeface="+mn-cs"/>
              </a:rPr>
              <a:t>Distribution of Homeless Veterans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33800" y="152400"/>
            <a:ext cx="5257800" cy="685800"/>
          </a:xfrm>
        </p:spPr>
        <p:txBody>
          <a:bodyPr>
            <a:noAutofit/>
          </a:bodyPr>
          <a:lstStyle/>
          <a:p>
            <a:pPr algn="r">
              <a:defRPr/>
            </a:pPr>
            <a:r>
              <a:rPr lang="en-US" sz="3600" b="1" dirty="0" smtClean="0">
                <a:solidFill>
                  <a:schemeClr val="bg1"/>
                </a:solidFill>
              </a:rPr>
              <a:t>Sites Awarded SSVF Grant Funds</a:t>
            </a:r>
            <a:endParaRPr lang="en-US" sz="3600" dirty="0">
              <a:solidFill>
                <a:schemeClr val="bg1"/>
              </a:solidFill>
            </a:endParaRPr>
          </a:p>
        </p:txBody>
      </p:sp>
      <p:grpSp>
        <p:nvGrpSpPr>
          <p:cNvPr id="66562" name="Group 94"/>
          <p:cNvGrpSpPr>
            <a:grpSpLocks noGrp="1"/>
          </p:cNvGrpSpPr>
          <p:nvPr>
            <p:ph idx="1"/>
          </p:nvPr>
        </p:nvGrpSpPr>
        <p:grpSpPr bwMode="auto">
          <a:xfrm>
            <a:off x="457200" y="1600200"/>
            <a:ext cx="8229600" cy="5257800"/>
            <a:chOff x="384" y="432"/>
            <a:chExt cx="4992" cy="3744"/>
          </a:xfrm>
        </p:grpSpPr>
        <p:pic>
          <p:nvPicPr>
            <p:cNvPr id="66563" name="Picture 9" descr="Veterans Affairs - Grant Review Maps_Page_1"/>
            <p:cNvPicPr>
              <a:picLocks noChangeAspect="1" noChangeArrowheads="1"/>
            </p:cNvPicPr>
            <p:nvPr/>
          </p:nvPicPr>
          <p:blipFill>
            <a:blip r:embed="rId2" cstate="print"/>
            <a:srcRect l="6061" t="7843" r="3030" b="3922"/>
            <a:stretch>
              <a:fillRect/>
            </a:stretch>
          </p:blipFill>
          <p:spPr bwMode="auto">
            <a:xfrm>
              <a:off x="384" y="432"/>
              <a:ext cx="4992" cy="3744"/>
            </a:xfrm>
            <a:prstGeom prst="rect">
              <a:avLst/>
            </a:prstGeom>
            <a:noFill/>
            <a:ln w="9525">
              <a:noFill/>
              <a:miter lim="800000"/>
              <a:headEnd/>
              <a:tailEnd/>
            </a:ln>
          </p:spPr>
        </p:pic>
        <p:sp>
          <p:nvSpPr>
            <p:cNvPr id="66564" name="Oval 10"/>
            <p:cNvSpPr>
              <a:spLocks noChangeArrowheads="1"/>
            </p:cNvSpPr>
            <p:nvPr/>
          </p:nvSpPr>
          <p:spPr bwMode="auto">
            <a:xfrm>
              <a:off x="576" y="1804"/>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65" name="Oval 11"/>
            <p:cNvSpPr>
              <a:spLocks noChangeArrowheads="1"/>
            </p:cNvSpPr>
            <p:nvPr/>
          </p:nvSpPr>
          <p:spPr bwMode="auto">
            <a:xfrm>
              <a:off x="528" y="1612"/>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66" name="Oval 12"/>
            <p:cNvSpPr>
              <a:spLocks noChangeArrowheads="1"/>
            </p:cNvSpPr>
            <p:nvPr/>
          </p:nvSpPr>
          <p:spPr bwMode="auto">
            <a:xfrm>
              <a:off x="576" y="1653"/>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67" name="Oval 13"/>
            <p:cNvSpPr>
              <a:spLocks noChangeArrowheads="1"/>
            </p:cNvSpPr>
            <p:nvPr/>
          </p:nvSpPr>
          <p:spPr bwMode="auto">
            <a:xfrm>
              <a:off x="4430" y="3161"/>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68" name="Oval 14"/>
            <p:cNvSpPr>
              <a:spLocks noChangeArrowheads="1"/>
            </p:cNvSpPr>
            <p:nvPr/>
          </p:nvSpPr>
          <p:spPr bwMode="auto">
            <a:xfrm>
              <a:off x="575" y="1694"/>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69" name="Oval 15"/>
            <p:cNvSpPr>
              <a:spLocks noChangeArrowheads="1"/>
            </p:cNvSpPr>
            <p:nvPr/>
          </p:nvSpPr>
          <p:spPr bwMode="auto">
            <a:xfrm>
              <a:off x="528" y="1646"/>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70" name="Oval 16"/>
            <p:cNvSpPr>
              <a:spLocks noChangeArrowheads="1"/>
            </p:cNvSpPr>
            <p:nvPr/>
          </p:nvSpPr>
          <p:spPr bwMode="auto">
            <a:xfrm>
              <a:off x="528" y="1728"/>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71" name="Oval 17"/>
            <p:cNvSpPr>
              <a:spLocks noChangeArrowheads="1"/>
            </p:cNvSpPr>
            <p:nvPr/>
          </p:nvSpPr>
          <p:spPr bwMode="auto">
            <a:xfrm>
              <a:off x="864" y="2352"/>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72" name="Oval 18"/>
            <p:cNvSpPr>
              <a:spLocks noChangeArrowheads="1"/>
            </p:cNvSpPr>
            <p:nvPr/>
          </p:nvSpPr>
          <p:spPr bwMode="auto">
            <a:xfrm>
              <a:off x="3703" y="2743"/>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73" name="Oval 19"/>
            <p:cNvSpPr>
              <a:spLocks noChangeArrowheads="1"/>
            </p:cNvSpPr>
            <p:nvPr/>
          </p:nvSpPr>
          <p:spPr bwMode="auto">
            <a:xfrm>
              <a:off x="3696" y="2469"/>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74" name="Oval 20"/>
            <p:cNvSpPr>
              <a:spLocks noChangeArrowheads="1"/>
            </p:cNvSpPr>
            <p:nvPr/>
          </p:nvSpPr>
          <p:spPr bwMode="auto">
            <a:xfrm>
              <a:off x="1069" y="3442"/>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75" name="Oval 21"/>
            <p:cNvSpPr>
              <a:spLocks noChangeArrowheads="1"/>
            </p:cNvSpPr>
            <p:nvPr/>
          </p:nvSpPr>
          <p:spPr bwMode="auto">
            <a:xfrm>
              <a:off x="576" y="1728"/>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76" name="Oval 23"/>
            <p:cNvSpPr>
              <a:spLocks noChangeArrowheads="1"/>
            </p:cNvSpPr>
            <p:nvPr/>
          </p:nvSpPr>
          <p:spPr bwMode="auto">
            <a:xfrm>
              <a:off x="528" y="1776"/>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77" name="Oval 24"/>
            <p:cNvSpPr>
              <a:spLocks noChangeArrowheads="1"/>
            </p:cNvSpPr>
            <p:nvPr/>
          </p:nvSpPr>
          <p:spPr bwMode="auto">
            <a:xfrm>
              <a:off x="1419" y="2462"/>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78" name="Oval 25"/>
            <p:cNvSpPr>
              <a:spLocks noChangeArrowheads="1"/>
            </p:cNvSpPr>
            <p:nvPr/>
          </p:nvSpPr>
          <p:spPr bwMode="auto">
            <a:xfrm>
              <a:off x="1248" y="2352"/>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79" name="Oval 26"/>
            <p:cNvSpPr>
              <a:spLocks noChangeArrowheads="1"/>
            </p:cNvSpPr>
            <p:nvPr/>
          </p:nvSpPr>
          <p:spPr bwMode="auto">
            <a:xfrm>
              <a:off x="789" y="2174"/>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80" name="Oval 27"/>
            <p:cNvSpPr>
              <a:spLocks noChangeArrowheads="1"/>
            </p:cNvSpPr>
            <p:nvPr/>
          </p:nvSpPr>
          <p:spPr bwMode="auto">
            <a:xfrm>
              <a:off x="816" y="2208"/>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81" name="Oval 28"/>
            <p:cNvSpPr>
              <a:spLocks noChangeArrowheads="1"/>
            </p:cNvSpPr>
            <p:nvPr/>
          </p:nvSpPr>
          <p:spPr bwMode="auto">
            <a:xfrm>
              <a:off x="884" y="2241"/>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82" name="Oval 29"/>
            <p:cNvSpPr>
              <a:spLocks noChangeArrowheads="1"/>
            </p:cNvSpPr>
            <p:nvPr/>
          </p:nvSpPr>
          <p:spPr bwMode="auto">
            <a:xfrm>
              <a:off x="843" y="2256"/>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83" name="Oval 30"/>
            <p:cNvSpPr>
              <a:spLocks noChangeArrowheads="1"/>
            </p:cNvSpPr>
            <p:nvPr/>
          </p:nvSpPr>
          <p:spPr bwMode="auto">
            <a:xfrm>
              <a:off x="817" y="2140"/>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84" name="Oval 31"/>
            <p:cNvSpPr>
              <a:spLocks noChangeArrowheads="1"/>
            </p:cNvSpPr>
            <p:nvPr/>
          </p:nvSpPr>
          <p:spPr bwMode="auto">
            <a:xfrm>
              <a:off x="809" y="2092"/>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85" name="Oval 32"/>
            <p:cNvSpPr>
              <a:spLocks noChangeArrowheads="1"/>
            </p:cNvSpPr>
            <p:nvPr/>
          </p:nvSpPr>
          <p:spPr bwMode="auto">
            <a:xfrm>
              <a:off x="897" y="2371"/>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86" name="Oval 33"/>
            <p:cNvSpPr>
              <a:spLocks noChangeArrowheads="1"/>
            </p:cNvSpPr>
            <p:nvPr/>
          </p:nvSpPr>
          <p:spPr bwMode="auto">
            <a:xfrm>
              <a:off x="3504" y="1488"/>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87" name="Oval 34"/>
            <p:cNvSpPr>
              <a:spLocks noChangeArrowheads="1"/>
            </p:cNvSpPr>
            <p:nvPr/>
          </p:nvSpPr>
          <p:spPr bwMode="auto">
            <a:xfrm>
              <a:off x="1200" y="1152"/>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88" name="Oval 35"/>
            <p:cNvSpPr>
              <a:spLocks noChangeArrowheads="1"/>
            </p:cNvSpPr>
            <p:nvPr/>
          </p:nvSpPr>
          <p:spPr bwMode="auto">
            <a:xfrm>
              <a:off x="2674" y="3922"/>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89" name="Oval 36"/>
            <p:cNvSpPr>
              <a:spLocks noChangeArrowheads="1"/>
            </p:cNvSpPr>
            <p:nvPr/>
          </p:nvSpPr>
          <p:spPr bwMode="auto">
            <a:xfrm>
              <a:off x="4738" y="1310"/>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90" name="Oval 37"/>
            <p:cNvSpPr>
              <a:spLocks noChangeArrowheads="1"/>
            </p:cNvSpPr>
            <p:nvPr/>
          </p:nvSpPr>
          <p:spPr bwMode="auto">
            <a:xfrm>
              <a:off x="2098" y="1762"/>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91" name="Oval 38"/>
            <p:cNvSpPr>
              <a:spLocks noChangeArrowheads="1"/>
            </p:cNvSpPr>
            <p:nvPr/>
          </p:nvSpPr>
          <p:spPr bwMode="auto">
            <a:xfrm>
              <a:off x="4416" y="3120"/>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92" name="Oval 39"/>
            <p:cNvSpPr>
              <a:spLocks noChangeArrowheads="1"/>
            </p:cNvSpPr>
            <p:nvPr/>
          </p:nvSpPr>
          <p:spPr bwMode="auto">
            <a:xfrm>
              <a:off x="4443" y="1666"/>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93" name="Oval 40"/>
            <p:cNvSpPr>
              <a:spLocks noChangeArrowheads="1"/>
            </p:cNvSpPr>
            <p:nvPr/>
          </p:nvSpPr>
          <p:spPr bwMode="auto">
            <a:xfrm>
              <a:off x="4225" y="2812"/>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94" name="Oval 41"/>
            <p:cNvSpPr>
              <a:spLocks noChangeArrowheads="1"/>
            </p:cNvSpPr>
            <p:nvPr/>
          </p:nvSpPr>
          <p:spPr bwMode="auto">
            <a:xfrm>
              <a:off x="4155" y="2963"/>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95" name="Oval 42"/>
            <p:cNvSpPr>
              <a:spLocks noChangeArrowheads="1"/>
            </p:cNvSpPr>
            <p:nvPr/>
          </p:nvSpPr>
          <p:spPr bwMode="auto">
            <a:xfrm>
              <a:off x="4204" y="3038"/>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96" name="Oval 43"/>
            <p:cNvSpPr>
              <a:spLocks noChangeArrowheads="1"/>
            </p:cNvSpPr>
            <p:nvPr/>
          </p:nvSpPr>
          <p:spPr bwMode="auto">
            <a:xfrm>
              <a:off x="3257" y="1529"/>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97" name="Oval 44"/>
            <p:cNvSpPr>
              <a:spLocks noChangeArrowheads="1"/>
            </p:cNvSpPr>
            <p:nvPr/>
          </p:nvSpPr>
          <p:spPr bwMode="auto">
            <a:xfrm>
              <a:off x="2482" y="953"/>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98" name="Oval 45"/>
            <p:cNvSpPr>
              <a:spLocks noChangeArrowheads="1"/>
            </p:cNvSpPr>
            <p:nvPr/>
          </p:nvSpPr>
          <p:spPr bwMode="auto">
            <a:xfrm>
              <a:off x="3470" y="1475"/>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599" name="Oval 46"/>
            <p:cNvSpPr>
              <a:spLocks noChangeArrowheads="1"/>
            </p:cNvSpPr>
            <p:nvPr/>
          </p:nvSpPr>
          <p:spPr bwMode="auto">
            <a:xfrm>
              <a:off x="3650" y="1640"/>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00" name="Oval 47"/>
            <p:cNvSpPr>
              <a:spLocks noChangeArrowheads="1"/>
            </p:cNvSpPr>
            <p:nvPr/>
          </p:nvSpPr>
          <p:spPr bwMode="auto">
            <a:xfrm>
              <a:off x="2819" y="1653"/>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01" name="Oval 48"/>
            <p:cNvSpPr>
              <a:spLocks noChangeArrowheads="1"/>
            </p:cNvSpPr>
            <p:nvPr/>
          </p:nvSpPr>
          <p:spPr bwMode="auto">
            <a:xfrm>
              <a:off x="3744" y="1872"/>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02" name="Oval 50"/>
            <p:cNvSpPr>
              <a:spLocks noChangeArrowheads="1"/>
            </p:cNvSpPr>
            <p:nvPr/>
          </p:nvSpPr>
          <p:spPr bwMode="auto">
            <a:xfrm>
              <a:off x="2606" y="1947"/>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03" name="Oval 51"/>
            <p:cNvSpPr>
              <a:spLocks noChangeArrowheads="1"/>
            </p:cNvSpPr>
            <p:nvPr/>
          </p:nvSpPr>
          <p:spPr bwMode="auto">
            <a:xfrm>
              <a:off x="4793" y="1193"/>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04" name="Oval 52"/>
            <p:cNvSpPr>
              <a:spLocks noChangeArrowheads="1"/>
            </p:cNvSpPr>
            <p:nvPr/>
          </p:nvSpPr>
          <p:spPr bwMode="auto">
            <a:xfrm>
              <a:off x="4848" y="1187"/>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05" name="Oval 53"/>
            <p:cNvSpPr>
              <a:spLocks noChangeArrowheads="1"/>
            </p:cNvSpPr>
            <p:nvPr/>
          </p:nvSpPr>
          <p:spPr bwMode="auto">
            <a:xfrm>
              <a:off x="3408" y="2784"/>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06" name="Oval 54"/>
            <p:cNvSpPr>
              <a:spLocks noChangeArrowheads="1"/>
            </p:cNvSpPr>
            <p:nvPr/>
          </p:nvSpPr>
          <p:spPr bwMode="auto">
            <a:xfrm>
              <a:off x="3155" y="2579"/>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07" name="Oval 55"/>
            <p:cNvSpPr>
              <a:spLocks noChangeArrowheads="1"/>
            </p:cNvSpPr>
            <p:nvPr/>
          </p:nvSpPr>
          <p:spPr bwMode="auto">
            <a:xfrm>
              <a:off x="4511" y="1611"/>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08" name="Oval 56"/>
            <p:cNvSpPr>
              <a:spLocks noChangeArrowheads="1"/>
            </p:cNvSpPr>
            <p:nvPr/>
          </p:nvSpPr>
          <p:spPr bwMode="auto">
            <a:xfrm>
              <a:off x="3655" y="2147"/>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09" name="Oval 57"/>
            <p:cNvSpPr>
              <a:spLocks noChangeArrowheads="1"/>
            </p:cNvSpPr>
            <p:nvPr/>
          </p:nvSpPr>
          <p:spPr bwMode="auto">
            <a:xfrm>
              <a:off x="4861" y="1008"/>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10" name="Oval 58"/>
            <p:cNvSpPr>
              <a:spLocks noChangeArrowheads="1"/>
            </p:cNvSpPr>
            <p:nvPr/>
          </p:nvSpPr>
          <p:spPr bwMode="auto">
            <a:xfrm>
              <a:off x="4280" y="2421"/>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11" name="Oval 59"/>
            <p:cNvSpPr>
              <a:spLocks noChangeArrowheads="1"/>
            </p:cNvSpPr>
            <p:nvPr/>
          </p:nvSpPr>
          <p:spPr bwMode="auto">
            <a:xfrm>
              <a:off x="3853" y="1385"/>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12" name="Oval 60"/>
            <p:cNvSpPr>
              <a:spLocks noChangeArrowheads="1"/>
            </p:cNvSpPr>
            <p:nvPr/>
          </p:nvSpPr>
          <p:spPr bwMode="auto">
            <a:xfrm>
              <a:off x="3072" y="1200"/>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13" name="Oval 61"/>
            <p:cNvSpPr>
              <a:spLocks noChangeArrowheads="1"/>
            </p:cNvSpPr>
            <p:nvPr/>
          </p:nvSpPr>
          <p:spPr bwMode="auto">
            <a:xfrm>
              <a:off x="3105" y="1830"/>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14" name="Oval 62"/>
            <p:cNvSpPr>
              <a:spLocks noChangeArrowheads="1"/>
            </p:cNvSpPr>
            <p:nvPr/>
          </p:nvSpPr>
          <p:spPr bwMode="auto">
            <a:xfrm>
              <a:off x="3305" y="1872"/>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15" name="Oval 63"/>
            <p:cNvSpPr>
              <a:spLocks noChangeArrowheads="1"/>
            </p:cNvSpPr>
            <p:nvPr/>
          </p:nvSpPr>
          <p:spPr bwMode="auto">
            <a:xfrm>
              <a:off x="3497" y="2771"/>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16" name="Oval 64"/>
            <p:cNvSpPr>
              <a:spLocks noChangeArrowheads="1"/>
            </p:cNvSpPr>
            <p:nvPr/>
          </p:nvSpPr>
          <p:spPr bwMode="auto">
            <a:xfrm>
              <a:off x="4375" y="2069"/>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17" name="Oval 65"/>
            <p:cNvSpPr>
              <a:spLocks noChangeArrowheads="1"/>
            </p:cNvSpPr>
            <p:nvPr/>
          </p:nvSpPr>
          <p:spPr bwMode="auto">
            <a:xfrm>
              <a:off x="4224" y="2064"/>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18" name="Oval 66"/>
            <p:cNvSpPr>
              <a:spLocks noChangeArrowheads="1"/>
            </p:cNvSpPr>
            <p:nvPr/>
          </p:nvSpPr>
          <p:spPr bwMode="auto">
            <a:xfrm>
              <a:off x="4622" y="1434"/>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19" name="Oval 67"/>
            <p:cNvSpPr>
              <a:spLocks noChangeArrowheads="1"/>
            </p:cNvSpPr>
            <p:nvPr/>
          </p:nvSpPr>
          <p:spPr bwMode="auto">
            <a:xfrm>
              <a:off x="1864" y="2229"/>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20" name="Oval 68"/>
            <p:cNvSpPr>
              <a:spLocks noChangeArrowheads="1"/>
            </p:cNvSpPr>
            <p:nvPr/>
          </p:nvSpPr>
          <p:spPr bwMode="auto">
            <a:xfrm>
              <a:off x="1104" y="2016"/>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21" name="Oval 69"/>
            <p:cNvSpPr>
              <a:spLocks noChangeArrowheads="1"/>
            </p:cNvSpPr>
            <p:nvPr/>
          </p:nvSpPr>
          <p:spPr bwMode="auto">
            <a:xfrm>
              <a:off x="1138" y="2016"/>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22" name="Oval 70"/>
            <p:cNvSpPr>
              <a:spLocks noChangeArrowheads="1"/>
            </p:cNvSpPr>
            <p:nvPr/>
          </p:nvSpPr>
          <p:spPr bwMode="auto">
            <a:xfrm>
              <a:off x="4622" y="1227"/>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23" name="Oval 71"/>
            <p:cNvSpPr>
              <a:spLocks noChangeArrowheads="1"/>
            </p:cNvSpPr>
            <p:nvPr/>
          </p:nvSpPr>
          <p:spPr bwMode="auto">
            <a:xfrm>
              <a:off x="4210" y="1310"/>
              <a:ext cx="48" cy="48"/>
            </a:xfrm>
            <a:prstGeom prst="ellipse">
              <a:avLst/>
            </a:prstGeom>
            <a:solidFill>
              <a:srgbClr val="FF0000"/>
            </a:solidFill>
            <a:ln w="9525">
              <a:solidFill>
                <a:schemeClr val="tx1"/>
              </a:solidFill>
              <a:round/>
              <a:headEnd/>
              <a:tailEnd/>
            </a:ln>
          </p:spPr>
          <p:txBody>
            <a:bodyPr wrap="none" anchor="ctr"/>
            <a:lstStyle/>
            <a:p>
              <a:pPr algn="ctr"/>
              <a:endParaRPr lang="en-US"/>
            </a:p>
          </p:txBody>
        </p:sp>
        <p:sp>
          <p:nvSpPr>
            <p:cNvPr id="66624" name="Oval 72"/>
            <p:cNvSpPr>
              <a:spLocks noChangeArrowheads="1"/>
            </p:cNvSpPr>
            <p:nvPr/>
          </p:nvSpPr>
          <p:spPr bwMode="auto">
            <a:xfrm>
              <a:off x="4005" y="1461"/>
              <a:ext cx="48" cy="48"/>
            </a:xfrm>
            <a:prstGeom prst="ellipse">
              <a:avLst/>
            </a:prstGeom>
            <a:solidFill>
              <a:srgbClr val="FF0000"/>
            </a:solidFill>
            <a:ln w="9525">
              <a:solidFill>
                <a:schemeClr val="tx1"/>
              </a:solidFill>
              <a:round/>
              <a:headEnd/>
              <a:tailEnd/>
            </a:ln>
          </p:spPr>
          <p:txBody>
            <a:bodyPr wrap="none" anchor="ctr"/>
            <a:lstStyle/>
            <a:p>
              <a:pPr algn="ctr"/>
              <a:endParaRPr lang="en-US"/>
            </a:p>
          </p:txBody>
        </p:sp>
        <p:sp>
          <p:nvSpPr>
            <p:cNvPr id="66625" name="Oval 73"/>
            <p:cNvSpPr>
              <a:spLocks noChangeArrowheads="1"/>
            </p:cNvSpPr>
            <p:nvPr/>
          </p:nvSpPr>
          <p:spPr bwMode="auto">
            <a:xfrm>
              <a:off x="4650" y="1330"/>
              <a:ext cx="48" cy="48"/>
            </a:xfrm>
            <a:prstGeom prst="ellipse">
              <a:avLst/>
            </a:prstGeom>
            <a:solidFill>
              <a:srgbClr val="FF0000"/>
            </a:solidFill>
            <a:ln w="9525">
              <a:solidFill>
                <a:schemeClr val="tx1"/>
              </a:solidFill>
              <a:round/>
              <a:headEnd/>
              <a:tailEnd/>
            </a:ln>
          </p:spPr>
          <p:txBody>
            <a:bodyPr wrap="none" anchor="ctr"/>
            <a:lstStyle/>
            <a:p>
              <a:pPr algn="ctr"/>
              <a:endParaRPr lang="en-US"/>
            </a:p>
          </p:txBody>
        </p:sp>
        <p:sp>
          <p:nvSpPr>
            <p:cNvPr id="66626" name="Oval 74"/>
            <p:cNvSpPr>
              <a:spLocks noChangeArrowheads="1"/>
            </p:cNvSpPr>
            <p:nvPr/>
          </p:nvSpPr>
          <p:spPr bwMode="auto">
            <a:xfrm>
              <a:off x="4300" y="1221"/>
              <a:ext cx="48" cy="48"/>
            </a:xfrm>
            <a:prstGeom prst="ellipse">
              <a:avLst/>
            </a:prstGeom>
            <a:solidFill>
              <a:srgbClr val="FF0000"/>
            </a:solidFill>
            <a:ln w="9525">
              <a:solidFill>
                <a:schemeClr val="tx1"/>
              </a:solidFill>
              <a:round/>
              <a:headEnd/>
              <a:tailEnd/>
            </a:ln>
          </p:spPr>
          <p:txBody>
            <a:bodyPr wrap="none" anchor="ctr"/>
            <a:lstStyle/>
            <a:p>
              <a:pPr algn="ctr"/>
              <a:endParaRPr lang="en-US"/>
            </a:p>
          </p:txBody>
        </p:sp>
        <p:sp>
          <p:nvSpPr>
            <p:cNvPr id="66627" name="Oval 75"/>
            <p:cNvSpPr>
              <a:spLocks noChangeArrowheads="1"/>
            </p:cNvSpPr>
            <p:nvPr/>
          </p:nvSpPr>
          <p:spPr bwMode="auto">
            <a:xfrm>
              <a:off x="4662" y="1378"/>
              <a:ext cx="48" cy="48"/>
            </a:xfrm>
            <a:prstGeom prst="ellipse">
              <a:avLst/>
            </a:prstGeom>
            <a:solidFill>
              <a:srgbClr val="FF0000"/>
            </a:solidFill>
            <a:ln w="9525">
              <a:solidFill>
                <a:schemeClr val="tx1"/>
              </a:solidFill>
              <a:round/>
              <a:headEnd/>
              <a:tailEnd/>
            </a:ln>
          </p:spPr>
          <p:txBody>
            <a:bodyPr wrap="none" anchor="ctr"/>
            <a:lstStyle/>
            <a:p>
              <a:pPr algn="ctr"/>
              <a:endParaRPr lang="en-US"/>
            </a:p>
          </p:txBody>
        </p:sp>
        <p:sp>
          <p:nvSpPr>
            <p:cNvPr id="66628" name="Oval 76"/>
            <p:cNvSpPr>
              <a:spLocks noChangeArrowheads="1"/>
            </p:cNvSpPr>
            <p:nvPr/>
          </p:nvSpPr>
          <p:spPr bwMode="auto">
            <a:xfrm>
              <a:off x="4660" y="1410"/>
              <a:ext cx="48" cy="48"/>
            </a:xfrm>
            <a:prstGeom prst="ellipse">
              <a:avLst/>
            </a:prstGeom>
            <a:solidFill>
              <a:srgbClr val="FF0000"/>
            </a:solidFill>
            <a:ln w="9525">
              <a:solidFill>
                <a:schemeClr val="tx1"/>
              </a:solidFill>
              <a:round/>
              <a:headEnd/>
              <a:tailEnd/>
            </a:ln>
          </p:spPr>
          <p:txBody>
            <a:bodyPr wrap="none" anchor="ctr"/>
            <a:lstStyle/>
            <a:p>
              <a:pPr algn="ctr"/>
              <a:endParaRPr lang="en-US"/>
            </a:p>
          </p:txBody>
        </p:sp>
        <p:sp>
          <p:nvSpPr>
            <p:cNvPr id="66629" name="Oval 77"/>
            <p:cNvSpPr>
              <a:spLocks noChangeArrowheads="1"/>
            </p:cNvSpPr>
            <p:nvPr/>
          </p:nvSpPr>
          <p:spPr bwMode="auto">
            <a:xfrm>
              <a:off x="4693" y="1401"/>
              <a:ext cx="48" cy="48"/>
            </a:xfrm>
            <a:prstGeom prst="ellipse">
              <a:avLst/>
            </a:prstGeom>
            <a:solidFill>
              <a:srgbClr val="FF0000"/>
            </a:solidFill>
            <a:ln w="9525">
              <a:solidFill>
                <a:schemeClr val="tx1"/>
              </a:solidFill>
              <a:round/>
              <a:headEnd/>
              <a:tailEnd/>
            </a:ln>
          </p:spPr>
          <p:txBody>
            <a:bodyPr wrap="none" anchor="ctr"/>
            <a:lstStyle/>
            <a:p>
              <a:pPr algn="ctr"/>
              <a:endParaRPr lang="en-US"/>
            </a:p>
          </p:txBody>
        </p:sp>
        <p:sp>
          <p:nvSpPr>
            <p:cNvPr id="66630" name="Oval 78"/>
            <p:cNvSpPr>
              <a:spLocks noChangeArrowheads="1"/>
            </p:cNvSpPr>
            <p:nvPr/>
          </p:nvSpPr>
          <p:spPr bwMode="auto">
            <a:xfrm>
              <a:off x="2832" y="2174"/>
              <a:ext cx="48" cy="48"/>
            </a:xfrm>
            <a:prstGeom prst="ellipse">
              <a:avLst/>
            </a:prstGeom>
            <a:solidFill>
              <a:srgbClr val="FF0000"/>
            </a:solidFill>
            <a:ln w="9525">
              <a:solidFill>
                <a:schemeClr val="tx1"/>
              </a:solidFill>
              <a:round/>
              <a:headEnd/>
              <a:tailEnd/>
            </a:ln>
          </p:spPr>
          <p:txBody>
            <a:bodyPr wrap="none" anchor="ctr"/>
            <a:lstStyle/>
            <a:p>
              <a:pPr algn="ctr"/>
              <a:endParaRPr lang="en-US"/>
            </a:p>
          </p:txBody>
        </p:sp>
        <p:sp>
          <p:nvSpPr>
            <p:cNvPr id="66631" name="Oval 79"/>
            <p:cNvSpPr>
              <a:spLocks noChangeArrowheads="1"/>
            </p:cNvSpPr>
            <p:nvPr/>
          </p:nvSpPr>
          <p:spPr bwMode="auto">
            <a:xfrm>
              <a:off x="603" y="1091"/>
              <a:ext cx="48" cy="48"/>
            </a:xfrm>
            <a:prstGeom prst="ellipse">
              <a:avLst/>
            </a:prstGeom>
            <a:solidFill>
              <a:srgbClr val="FF0000"/>
            </a:solidFill>
            <a:ln w="9525">
              <a:solidFill>
                <a:schemeClr val="tx1"/>
              </a:solidFill>
              <a:round/>
              <a:headEnd/>
              <a:tailEnd/>
            </a:ln>
          </p:spPr>
          <p:txBody>
            <a:bodyPr wrap="none" anchor="ctr"/>
            <a:lstStyle/>
            <a:p>
              <a:pPr algn="ctr"/>
              <a:endParaRPr lang="en-US"/>
            </a:p>
          </p:txBody>
        </p:sp>
        <p:sp>
          <p:nvSpPr>
            <p:cNvPr id="66632" name="Oval 80"/>
            <p:cNvSpPr>
              <a:spLocks noChangeArrowheads="1"/>
            </p:cNvSpPr>
            <p:nvPr/>
          </p:nvSpPr>
          <p:spPr bwMode="auto">
            <a:xfrm>
              <a:off x="4484" y="1385"/>
              <a:ext cx="48" cy="48"/>
            </a:xfrm>
            <a:prstGeom prst="ellipse">
              <a:avLst/>
            </a:prstGeom>
            <a:solidFill>
              <a:srgbClr val="FF0000"/>
            </a:solidFill>
            <a:ln w="9525">
              <a:solidFill>
                <a:schemeClr val="tx1"/>
              </a:solidFill>
              <a:round/>
              <a:headEnd/>
              <a:tailEnd/>
            </a:ln>
          </p:spPr>
          <p:txBody>
            <a:bodyPr wrap="none" anchor="ctr"/>
            <a:lstStyle/>
            <a:p>
              <a:pPr algn="ctr"/>
              <a:endParaRPr lang="en-US"/>
            </a:p>
          </p:txBody>
        </p:sp>
        <p:sp>
          <p:nvSpPr>
            <p:cNvPr id="66633" name="Oval 81"/>
            <p:cNvSpPr>
              <a:spLocks noChangeArrowheads="1"/>
            </p:cNvSpPr>
            <p:nvPr/>
          </p:nvSpPr>
          <p:spPr bwMode="auto">
            <a:xfrm>
              <a:off x="4574" y="1508"/>
              <a:ext cx="48" cy="48"/>
            </a:xfrm>
            <a:prstGeom prst="ellipse">
              <a:avLst/>
            </a:prstGeom>
            <a:solidFill>
              <a:srgbClr val="FF0000"/>
            </a:solidFill>
            <a:ln w="9525">
              <a:solidFill>
                <a:schemeClr val="tx1"/>
              </a:solidFill>
              <a:round/>
              <a:headEnd/>
              <a:tailEnd/>
            </a:ln>
          </p:spPr>
          <p:txBody>
            <a:bodyPr wrap="none" anchor="ctr"/>
            <a:lstStyle/>
            <a:p>
              <a:pPr algn="ctr"/>
              <a:endParaRPr lang="en-US"/>
            </a:p>
          </p:txBody>
        </p:sp>
        <p:sp>
          <p:nvSpPr>
            <p:cNvPr id="66634" name="Oval 82"/>
            <p:cNvSpPr>
              <a:spLocks noChangeArrowheads="1"/>
            </p:cNvSpPr>
            <p:nvPr/>
          </p:nvSpPr>
          <p:spPr bwMode="auto">
            <a:xfrm>
              <a:off x="3537" y="2167"/>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35" name="Oval 83"/>
            <p:cNvSpPr>
              <a:spLocks noChangeArrowheads="1"/>
            </p:cNvSpPr>
            <p:nvPr/>
          </p:nvSpPr>
          <p:spPr bwMode="auto">
            <a:xfrm>
              <a:off x="2935" y="2873"/>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36" name="Oval 84"/>
            <p:cNvSpPr>
              <a:spLocks noChangeArrowheads="1"/>
            </p:cNvSpPr>
            <p:nvPr/>
          </p:nvSpPr>
          <p:spPr bwMode="auto">
            <a:xfrm>
              <a:off x="2907" y="2853"/>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37" name="Oval 85"/>
            <p:cNvSpPr>
              <a:spLocks noChangeArrowheads="1"/>
            </p:cNvSpPr>
            <p:nvPr/>
          </p:nvSpPr>
          <p:spPr bwMode="auto">
            <a:xfrm>
              <a:off x="2784" y="2688"/>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38" name="Oval 86"/>
            <p:cNvSpPr>
              <a:spLocks noChangeArrowheads="1"/>
            </p:cNvSpPr>
            <p:nvPr/>
          </p:nvSpPr>
          <p:spPr bwMode="auto">
            <a:xfrm>
              <a:off x="2688" y="2832"/>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39" name="Oval 87"/>
            <p:cNvSpPr>
              <a:spLocks noChangeArrowheads="1"/>
            </p:cNvSpPr>
            <p:nvPr/>
          </p:nvSpPr>
          <p:spPr bwMode="auto">
            <a:xfrm>
              <a:off x="2667" y="2928"/>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40" name="Oval 88"/>
            <p:cNvSpPr>
              <a:spLocks noChangeArrowheads="1"/>
            </p:cNvSpPr>
            <p:nvPr/>
          </p:nvSpPr>
          <p:spPr bwMode="auto">
            <a:xfrm>
              <a:off x="1899" y="2655"/>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41" name="Oval 89"/>
            <p:cNvSpPr>
              <a:spLocks noChangeArrowheads="1"/>
            </p:cNvSpPr>
            <p:nvPr/>
          </p:nvSpPr>
          <p:spPr bwMode="auto">
            <a:xfrm>
              <a:off x="2736" y="2880"/>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42" name="Oval 90"/>
            <p:cNvSpPr>
              <a:spLocks noChangeArrowheads="1"/>
            </p:cNvSpPr>
            <p:nvPr/>
          </p:nvSpPr>
          <p:spPr bwMode="auto">
            <a:xfrm>
              <a:off x="4443" y="1842"/>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43" name="Oval 91"/>
            <p:cNvSpPr>
              <a:spLocks noChangeArrowheads="1"/>
            </p:cNvSpPr>
            <p:nvPr/>
          </p:nvSpPr>
          <p:spPr bwMode="auto">
            <a:xfrm>
              <a:off x="843" y="630"/>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44" name="Oval 92"/>
            <p:cNvSpPr>
              <a:spLocks noChangeArrowheads="1"/>
            </p:cNvSpPr>
            <p:nvPr/>
          </p:nvSpPr>
          <p:spPr bwMode="auto">
            <a:xfrm>
              <a:off x="864" y="528"/>
              <a:ext cx="48" cy="48"/>
            </a:xfrm>
            <a:prstGeom prst="ellipse">
              <a:avLst/>
            </a:prstGeom>
            <a:solidFill>
              <a:srgbClr val="FF0000"/>
            </a:solidFill>
            <a:ln w="9525">
              <a:solidFill>
                <a:schemeClr val="tx1"/>
              </a:solidFill>
              <a:round/>
              <a:headEnd/>
              <a:tailEnd/>
            </a:ln>
          </p:spPr>
          <p:txBody>
            <a:bodyPr wrap="none" anchor="ctr"/>
            <a:lstStyle/>
            <a:p>
              <a:endParaRPr lang="en-US"/>
            </a:p>
          </p:txBody>
        </p:sp>
        <p:sp>
          <p:nvSpPr>
            <p:cNvPr id="66645" name="Oval 93"/>
            <p:cNvSpPr>
              <a:spLocks noChangeArrowheads="1"/>
            </p:cNvSpPr>
            <p:nvPr/>
          </p:nvSpPr>
          <p:spPr bwMode="auto">
            <a:xfrm>
              <a:off x="4059" y="1865"/>
              <a:ext cx="48" cy="48"/>
            </a:xfrm>
            <a:prstGeom prst="ellipse">
              <a:avLst/>
            </a:prstGeom>
            <a:solidFill>
              <a:srgbClr val="FF0000"/>
            </a:solidFill>
            <a:ln w="9525">
              <a:solidFill>
                <a:schemeClr val="tx1"/>
              </a:solidFill>
              <a:round/>
              <a:headEnd/>
              <a:tailEnd/>
            </a:ln>
          </p:spPr>
          <p:txBody>
            <a:bodyPr wrap="none" anchor="ctr"/>
            <a:lstStyle/>
            <a:p>
              <a:endParaRPr 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38018" name="Group 2"/>
          <p:cNvGraphicFramePr>
            <a:graphicFrameLocks noGrp="1"/>
          </p:cNvGraphicFramePr>
          <p:nvPr>
            <p:ph/>
          </p:nvPr>
        </p:nvGraphicFramePr>
        <p:xfrm>
          <a:off x="1276350" y="4267200"/>
          <a:ext cx="7772400" cy="990600"/>
        </p:xfrm>
        <a:graphic>
          <a:graphicData uri="http://schemas.openxmlformats.org/drawingml/2006/table">
            <a:tbl>
              <a:tblPr/>
              <a:tblGrid>
                <a:gridCol w="4057650"/>
                <a:gridCol w="3714750"/>
              </a:tblGrid>
              <a:tr h="990600">
                <a:tc>
                  <a:txBody>
                    <a:bodyPr/>
                    <a:lstStyle/>
                    <a:p>
                      <a:pPr marL="228600" marR="0" lvl="0" indent="-228600" algn="l" defTabSz="914400" rtl="0" eaLnBrk="1" fontAlgn="base" latinLnBrk="0" hangingPunct="1">
                        <a:lnSpc>
                          <a:spcPct val="9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vantGarde" pitchFamily="34" charset="0"/>
                      </a:endParaRPr>
                    </a:p>
                  </a:txBody>
                  <a:tcPr horzOverflow="overflow">
                    <a:lnL cap="flat">
                      <a:noFill/>
                    </a:lnL>
                    <a:lnR>
                      <a:noFill/>
                    </a:lnR>
                    <a:lnT cap="flat">
                      <a:noFill/>
                    </a:lnT>
                    <a:lnB cap="flat">
                      <a:noFill/>
                    </a:lnB>
                    <a:lnTlToBr>
                      <a:noFill/>
                    </a:lnTlToBr>
                    <a:lnBlToTr>
                      <a:noFill/>
                    </a:lnBlToTr>
                    <a:noFill/>
                  </a:tcPr>
                </a:tc>
                <a:tc>
                  <a:txBody>
                    <a:bodyPr/>
                    <a:lstStyle/>
                    <a:p>
                      <a:pPr marL="228600" marR="0" lvl="0" indent="-228600" algn="l" defTabSz="914400" rtl="0" eaLnBrk="1" fontAlgn="base" latinLnBrk="0" hangingPunct="1">
                        <a:lnSpc>
                          <a:spcPct val="9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vantGarde" pitchFamily="34" charset="0"/>
                      </a:endParaRPr>
                    </a:p>
                  </a:txBody>
                  <a:tcPr horzOverflow="overflow">
                    <a:lnL>
                      <a:noFill/>
                    </a:lnL>
                    <a:lnR cap="flat">
                      <a:noFill/>
                    </a:lnR>
                    <a:lnT cap="flat">
                      <a:noFill/>
                    </a:lnT>
                    <a:lnB cap="flat">
                      <a:noFill/>
                    </a:lnB>
                    <a:lnTlToBr>
                      <a:noFill/>
                    </a:lnTlToBr>
                    <a:lnBlToTr>
                      <a:noFill/>
                    </a:lnBlToTr>
                    <a:noFill/>
                  </a:tcPr>
                </a:tc>
              </a:tr>
            </a:tbl>
          </a:graphicData>
        </a:graphic>
      </p:graphicFrame>
      <p:sp>
        <p:nvSpPr>
          <p:cNvPr id="10246" name="Rectangle 11"/>
          <p:cNvSpPr>
            <a:spLocks noChangeArrowheads="1"/>
          </p:cNvSpPr>
          <p:nvPr/>
        </p:nvSpPr>
        <p:spPr bwMode="auto">
          <a:xfrm>
            <a:off x="381000" y="1270000"/>
            <a:ext cx="8305800" cy="5970588"/>
          </a:xfrm>
          <a:prstGeom prst="rect">
            <a:avLst/>
          </a:prstGeom>
          <a:noFill/>
          <a:ln w="25400">
            <a:noFill/>
            <a:miter lim="800000"/>
            <a:headEnd/>
            <a:tailEnd type="none" w="lg" len="lg"/>
          </a:ln>
        </p:spPr>
        <p:txBody>
          <a:bodyPr>
            <a:spAutoFit/>
          </a:bodyPr>
          <a:lstStyle/>
          <a:p>
            <a:pPr marL="236538" indent="-236538">
              <a:defRPr/>
            </a:pPr>
            <a:r>
              <a:rPr lang="en-US" dirty="0">
                <a:latin typeface="+mn-lt"/>
                <a:cs typeface="+mn-cs"/>
              </a:rPr>
              <a:t>In many social service programs, recommendations for system designs have generally been made with little consumer input.</a:t>
            </a:r>
          </a:p>
          <a:p>
            <a:pPr marL="236538" indent="-236538">
              <a:defRPr/>
            </a:pPr>
            <a:endParaRPr lang="en-US" sz="2800" b="0" i="1" dirty="0">
              <a:latin typeface="Perpetua" pitchFamily="18" charset="0"/>
              <a:cs typeface="+mn-cs"/>
            </a:endParaRPr>
          </a:p>
          <a:p>
            <a:pPr marL="236538" indent="-236538">
              <a:buFontTx/>
              <a:buChar char="•"/>
              <a:defRPr/>
            </a:pPr>
            <a:r>
              <a:rPr lang="en-US" sz="2200" b="0" dirty="0">
                <a:latin typeface="+mn-lt"/>
                <a:cs typeface="+mn-cs"/>
              </a:rPr>
              <a:t>We begin with a recognition that every person/family who is homeless or at-risk has different concerns and needs to be addressed. These concerns may not match agency/provider interests.</a:t>
            </a:r>
          </a:p>
          <a:p>
            <a:pPr marL="236538" indent="-236538">
              <a:buFontTx/>
              <a:buChar char="•"/>
              <a:defRPr/>
            </a:pPr>
            <a:r>
              <a:rPr lang="en-US" sz="2200" b="0" dirty="0">
                <a:latin typeface="+mn-lt"/>
                <a:cs typeface="+mn-cs"/>
              </a:rPr>
              <a:t>Homelessness only describes living conditions, does not identify the individual needs and aspirations.</a:t>
            </a:r>
          </a:p>
          <a:p>
            <a:pPr marL="236538" indent="-236538">
              <a:buFontTx/>
              <a:buChar char="•"/>
              <a:defRPr/>
            </a:pPr>
            <a:r>
              <a:rPr lang="en-US" sz="2200" b="0" dirty="0">
                <a:latin typeface="+mn-lt"/>
                <a:cs typeface="+mn-cs"/>
              </a:rPr>
              <a:t>To get to Zero, must engage all Veterans - requires the development of a broad continuum of care that can address the needs identified by Veterans.</a:t>
            </a:r>
          </a:p>
          <a:p>
            <a:pPr marL="236538" indent="-236538">
              <a:buFontTx/>
              <a:buChar char="•"/>
              <a:defRPr/>
            </a:pPr>
            <a:r>
              <a:rPr lang="en-US" sz="2200" b="0" dirty="0">
                <a:latin typeface="+mn-lt"/>
                <a:cs typeface="+mn-cs"/>
              </a:rPr>
              <a:t>By making consumers active partners, clinicians are more likely to successfully engage them in care (Beck, 2010). </a:t>
            </a:r>
          </a:p>
          <a:p>
            <a:pPr marL="236538" indent="-236538">
              <a:defRPr/>
            </a:pPr>
            <a:endParaRPr lang="en-US" sz="2000" dirty="0">
              <a:latin typeface="AvantGarde"/>
              <a:cs typeface="+mn-cs"/>
            </a:endParaRPr>
          </a:p>
          <a:p>
            <a:pPr marL="236538" indent="-236538">
              <a:defRPr/>
            </a:pPr>
            <a:r>
              <a:rPr lang="en-US" sz="2000" dirty="0">
                <a:latin typeface="AvantGarde"/>
                <a:cs typeface="+mn-cs"/>
              </a:rPr>
              <a:t> </a:t>
            </a:r>
          </a:p>
        </p:txBody>
      </p:sp>
      <p:sp>
        <p:nvSpPr>
          <p:cNvPr id="1238028" name="Rectangle 12"/>
          <p:cNvSpPr>
            <a:spLocks noChangeArrowheads="1"/>
          </p:cNvSpPr>
          <p:nvPr/>
        </p:nvSpPr>
        <p:spPr bwMode="auto">
          <a:xfrm>
            <a:off x="3581400" y="177800"/>
            <a:ext cx="5334000" cy="695325"/>
          </a:xfrm>
          <a:prstGeom prst="rect">
            <a:avLst/>
          </a:prstGeom>
          <a:noFill/>
          <a:ln w="9525">
            <a:noFill/>
            <a:miter lim="800000"/>
            <a:headEnd/>
            <a:tailEnd/>
          </a:ln>
          <a:effectLst/>
        </p:spPr>
        <p:txBody>
          <a:bodyPr lIns="91427" tIns="45713" rIns="91427" bIns="45713" anchor="ctr"/>
          <a:lstStyle/>
          <a:p>
            <a:pPr algn="r">
              <a:defRPr/>
            </a:pPr>
            <a:r>
              <a:rPr lang="en-US" sz="3600" i="1" dirty="0">
                <a:solidFill>
                  <a:schemeClr val="bg1"/>
                </a:solidFill>
                <a:effectLst>
                  <a:outerShdw blurRad="38100" dist="38100" dir="2700000" algn="tl">
                    <a:srgbClr val="000000">
                      <a:alpha val="43137"/>
                    </a:srgbClr>
                  </a:outerShdw>
                </a:effectLst>
                <a:latin typeface="+mn-lt"/>
                <a:cs typeface="+mn-cs"/>
              </a:rPr>
              <a:t>Consumer Choice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2" name="Rectangle 1"/>
          <p:cNvSpPr>
            <a:spLocks noChangeArrowheads="1"/>
          </p:cNvSpPr>
          <p:nvPr/>
        </p:nvSpPr>
        <p:spPr bwMode="auto">
          <a:xfrm>
            <a:off x="3581400" y="114300"/>
            <a:ext cx="5562600" cy="830263"/>
          </a:xfrm>
          <a:prstGeom prst="rect">
            <a:avLst/>
          </a:prstGeom>
          <a:noFill/>
          <a:ln w="9525">
            <a:noFill/>
            <a:miter lim="800000"/>
            <a:headEnd/>
            <a:tailEnd/>
          </a:ln>
        </p:spPr>
        <p:txBody>
          <a:bodyPr anchor="ctr">
            <a:spAutoFit/>
          </a:bodyPr>
          <a:lstStyle/>
          <a:p>
            <a:pPr algn="r">
              <a:tabLst>
                <a:tab pos="228600" algn="l"/>
              </a:tabLst>
              <a:defRPr/>
            </a:pPr>
            <a:r>
              <a:rPr lang="en-US" i="1" dirty="0">
                <a:solidFill>
                  <a:schemeClr val="bg1"/>
                </a:solidFill>
                <a:effectLst>
                  <a:outerShdw blurRad="38100" dist="38100" dir="2700000" algn="tl">
                    <a:srgbClr val="000000">
                      <a:alpha val="43137"/>
                    </a:srgbClr>
                  </a:outerShdw>
                </a:effectLst>
                <a:latin typeface="+mn-lt"/>
                <a:cs typeface="Times New Roman" pitchFamily="18" charset="0"/>
              </a:rPr>
              <a:t>Top Ten Highest Unmet Needs as Ranked by Consumers (FY 2010)</a:t>
            </a:r>
            <a:endParaRPr lang="en-US" i="1" dirty="0">
              <a:solidFill>
                <a:schemeClr val="bg1"/>
              </a:solidFill>
              <a:effectLst>
                <a:outerShdw blurRad="38100" dist="38100" dir="2700000" algn="tl">
                  <a:srgbClr val="000000">
                    <a:alpha val="43137"/>
                  </a:srgbClr>
                </a:outerShdw>
              </a:effectLst>
              <a:latin typeface="+mn-lt"/>
              <a:cs typeface="+mn-cs"/>
            </a:endParaRPr>
          </a:p>
        </p:txBody>
      </p:sp>
      <p:graphicFrame>
        <p:nvGraphicFramePr>
          <p:cNvPr id="5" name="Table 4"/>
          <p:cNvGraphicFramePr>
            <a:graphicFrameLocks noGrp="1"/>
          </p:cNvGraphicFramePr>
          <p:nvPr/>
        </p:nvGraphicFramePr>
        <p:xfrm>
          <a:off x="0" y="1125538"/>
          <a:ext cx="9144000" cy="5655310"/>
        </p:xfrm>
        <a:graphic>
          <a:graphicData uri="http://schemas.openxmlformats.org/drawingml/2006/table">
            <a:tbl>
              <a:tblPr/>
              <a:tblGrid>
                <a:gridCol w="2859088"/>
                <a:gridCol w="3179762"/>
                <a:gridCol w="3105150"/>
              </a:tblGrid>
              <a:tr h="7810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vantGarde"/>
                          <a:cs typeface="Times New Roman" pitchFamily="18" charset="0"/>
                        </a:rPr>
                        <a:t>Veterans Literally Homeless (shelter, street,  unfit for habitation) (n=3,184)</a:t>
                      </a:r>
                      <a:endParaRPr kumimoji="0" lang="en-US" sz="1600" b="0" i="0" u="none" strike="noStrike" cap="none" normalizeH="0" baseline="0" smtClean="0">
                        <a:ln>
                          <a:noFill/>
                        </a:ln>
                        <a:solidFill>
                          <a:schemeClr val="tx1"/>
                        </a:solidFill>
                        <a:effectLst/>
                        <a:latin typeface="AvantGarde"/>
                        <a:cs typeface="Times New Roman" pitchFamily="18" charset="0"/>
                      </a:endParaRPr>
                    </a:p>
                  </a:txBody>
                  <a:tcPr marL="64851" marR="64851" marT="0" marB="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pattFill prst="pct5">
                      <a:fgClr>
                        <a:srgbClr val="FFFFFF"/>
                      </a:fgClr>
                      <a:bgClr>
                        <a:srgbClr val="F2F2F2"/>
                      </a:bgClr>
                    </a:patt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vantGarde"/>
                          <a:cs typeface="Times New Roman" pitchFamily="18" charset="0"/>
                        </a:rPr>
                        <a:t>Veterans in Transitional Housing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vantGarde"/>
                          <a:cs typeface="Times New Roman" pitchFamily="18" charset="0"/>
                        </a:rPr>
                        <a:t>(VA Grant and Per Diem and Domiciliary) (n=6,111)</a:t>
                      </a:r>
                      <a:endParaRPr kumimoji="0" lang="en-US" sz="1600" b="0" i="0" u="none" strike="noStrike" cap="none" normalizeH="0" baseline="0" smtClean="0">
                        <a:ln>
                          <a:noFill/>
                        </a:ln>
                        <a:solidFill>
                          <a:schemeClr val="tx1"/>
                        </a:solidFill>
                        <a:effectLst/>
                        <a:latin typeface="AvantGarde"/>
                        <a:cs typeface="Times New Roman" pitchFamily="18" charset="0"/>
                      </a:endParaRPr>
                    </a:p>
                  </a:txBody>
                  <a:tcPr marL="64851" marR="64851" marT="0" marB="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pattFill prst="pct5">
                      <a:fgClr>
                        <a:srgbClr val="FFFFFF"/>
                      </a:fgClr>
                      <a:bgClr>
                        <a:srgbClr val="F2F2F2"/>
                      </a:bgClr>
                    </a:patt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vantGarde"/>
                          <a:cs typeface="Times New Roman" pitchFamily="18" charset="0"/>
                        </a:rPr>
                        <a:t>Veterans in Permanent Housing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vantGarde"/>
                          <a:cs typeface="Times New Roman" pitchFamily="18" charset="0"/>
                        </a:rPr>
                        <a:t>(including HUD-VASH) (n=2,672)</a:t>
                      </a:r>
                      <a:endParaRPr kumimoji="0" lang="en-US" sz="1600" b="0" i="0" u="none" strike="noStrike" cap="none" normalizeH="0" baseline="0" smtClean="0">
                        <a:ln>
                          <a:noFill/>
                        </a:ln>
                        <a:solidFill>
                          <a:schemeClr val="tx1"/>
                        </a:solidFill>
                        <a:effectLst/>
                        <a:latin typeface="AvantGarde"/>
                        <a:cs typeface="Times New Roman" pitchFamily="18" charset="0"/>
                      </a:endParaRPr>
                    </a:p>
                  </a:txBody>
                  <a:tcPr marL="64851" marR="64851" marT="0" marB="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pattFill prst="pct5">
                      <a:fgClr>
                        <a:srgbClr val="FFFFFF"/>
                      </a:fgClr>
                      <a:bgClr>
                        <a:srgbClr val="F2F2F2"/>
                      </a:bgClr>
                    </a:pattFill>
                  </a:tcPr>
                </a:tc>
              </a:tr>
              <a:tr h="4679950">
                <a:tc>
                  <a:txBody>
                    <a:bodyPr/>
                    <a:lstStyle/>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Long-term, permanent housing</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Welfare payments</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Dental Care</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Guardianship (financial)</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Legal assistance for child support issues</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Job training</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Legal assistance for outstanding warrants/fines</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SSI/SSD process</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Family reconciliation assistance</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Job finding</a:t>
                      </a:r>
                    </a:p>
                  </a:txBody>
                  <a:tcPr marL="64851" marR="64851" marT="0" marB="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Welfare payments</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Child care</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Legal assistance for child support issues</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Family reconciliation assistance</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Guardianship (financial)</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SSI/SSD process</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Long-term, permanent housing</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Legal assistance for outstanding warrants/fines</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Discharge upgrade</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Women’s health care</a:t>
                      </a:r>
                    </a:p>
                  </a:txBody>
                  <a:tcPr marL="64851" marR="64851" marT="0" marB="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Dental care</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Legal assistance for child support issues</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Welfare payments</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Child care</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Legal assistance for outstanding warrants/fines</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Family reconciliation assistance</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Credit counseling</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Re-entry services for incarcerated Veterans</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Legal assistance to help restore a driver’s license</a:t>
                      </a:r>
                    </a:p>
                    <a:p>
                      <a:pPr marL="342900" marR="0" lvl="0" indent="-342900" algn="l" defTabSz="914400" rtl="0" eaLnBrk="1" fontAlgn="base" latinLnBrk="0" hangingPunct="1">
                        <a:lnSpc>
                          <a:spcPct val="100000"/>
                        </a:lnSpc>
                        <a:spcBef>
                          <a:spcPct val="0"/>
                        </a:spcBef>
                        <a:spcAft>
                          <a:spcPct val="0"/>
                        </a:spcAft>
                        <a:buClrTx/>
                        <a:buSzTx/>
                        <a:buFont typeface="AvantGarde"/>
                        <a:buAutoNum type="arabicPeriod"/>
                        <a:tabLst>
                          <a:tab pos="228600" algn="l"/>
                        </a:tabLst>
                      </a:pPr>
                      <a:r>
                        <a:rPr kumimoji="0" lang="en-US" sz="1800" b="0" i="0" u="none" strike="noStrike" cap="none" normalizeH="0" baseline="0" smtClean="0">
                          <a:ln>
                            <a:noFill/>
                          </a:ln>
                          <a:solidFill>
                            <a:schemeClr val="tx1"/>
                          </a:solidFill>
                          <a:effectLst/>
                          <a:latin typeface="AvantGarde"/>
                          <a:cs typeface="Times New Roman" pitchFamily="18" charset="0"/>
                        </a:rPr>
                        <a:t>Job training</a:t>
                      </a:r>
                    </a:p>
                  </a:txBody>
                  <a:tcPr marL="64851" marR="64851" marT="0" marB="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34938" y="1371600"/>
            <a:ext cx="8686800" cy="5754688"/>
          </a:xfrm>
          <a:prstGeom prst="rect">
            <a:avLst/>
          </a:prstGeom>
          <a:noFill/>
          <a:ln w="25400">
            <a:noFill/>
            <a:miter lim="800000"/>
            <a:headEnd/>
            <a:tailEnd type="none" w="lg" len="lg"/>
          </a:ln>
        </p:spPr>
        <p:txBody>
          <a:bodyPr>
            <a:spAutoFit/>
          </a:bodyPr>
          <a:lstStyle/>
          <a:p>
            <a:pPr marL="236538" indent="-236538">
              <a:defRPr/>
            </a:pPr>
            <a:r>
              <a:rPr lang="en-US" b="0" u="sng" dirty="0">
                <a:latin typeface="+mn-lt"/>
                <a:cs typeface="+mn-cs"/>
              </a:rPr>
              <a:t>How SSVF Differs from Other VA Programs</a:t>
            </a:r>
          </a:p>
          <a:p>
            <a:pPr marL="236538" indent="-236538">
              <a:defRPr/>
            </a:pPr>
            <a:endParaRPr lang="en-US" dirty="0">
              <a:solidFill>
                <a:srgbClr val="0000FF"/>
              </a:solidFill>
              <a:latin typeface="+mn-lt"/>
              <a:cs typeface="+mn-cs"/>
            </a:endParaRPr>
          </a:p>
          <a:p>
            <a:pPr marL="236538" indent="-236538">
              <a:buFontTx/>
              <a:buChar char="•"/>
              <a:defRPr/>
            </a:pPr>
            <a:r>
              <a:rPr lang="en-US" b="0" dirty="0">
                <a:latin typeface="+mn-lt"/>
                <a:cs typeface="+mn-cs"/>
              </a:rPr>
              <a:t>Remember the goal is </a:t>
            </a:r>
            <a:r>
              <a:rPr lang="en-US" dirty="0">
                <a:latin typeface="+mn-lt"/>
                <a:cs typeface="+mn-cs"/>
              </a:rPr>
              <a:t>Housing Stability</a:t>
            </a:r>
            <a:r>
              <a:rPr lang="en-US" b="0" dirty="0">
                <a:latin typeface="+mn-lt"/>
                <a:cs typeface="+mn-cs"/>
              </a:rPr>
              <a:t> and is not contingent on treatment. A Housing First philosophy is focus of both the homelessness prevention and rapid re-housing interventions.</a:t>
            </a:r>
          </a:p>
          <a:p>
            <a:pPr marL="236538" indent="-236538">
              <a:buFontTx/>
              <a:buChar char="•"/>
              <a:defRPr/>
            </a:pPr>
            <a:r>
              <a:rPr lang="en-US" b="0" dirty="0">
                <a:latin typeface="+mn-lt"/>
                <a:cs typeface="+mn-cs"/>
              </a:rPr>
              <a:t>Grantees will be community-based organizations</a:t>
            </a:r>
          </a:p>
          <a:p>
            <a:pPr marL="236538" indent="-236538">
              <a:buFontTx/>
              <a:buChar char="•"/>
              <a:defRPr/>
            </a:pPr>
            <a:r>
              <a:rPr lang="en-US" b="0" dirty="0">
                <a:latin typeface="+mn-lt"/>
                <a:cs typeface="+mn-cs"/>
              </a:rPr>
              <a:t>Grantees will serve Veterans </a:t>
            </a:r>
            <a:r>
              <a:rPr lang="en-US" b="0" i="1" dirty="0">
                <a:latin typeface="+mn-lt"/>
                <a:cs typeface="+mn-cs"/>
              </a:rPr>
              <a:t>and their families. </a:t>
            </a:r>
            <a:r>
              <a:rPr lang="en-US" b="0" dirty="0">
                <a:latin typeface="+mn-lt"/>
                <a:cs typeface="+mn-cs"/>
              </a:rPr>
              <a:t>Families can continue to receive services for up to a full year if the Veteran leaves due to institutionalization, death, or other causes.</a:t>
            </a:r>
            <a:endParaRPr lang="en-US" b="0" i="1" dirty="0">
              <a:latin typeface="+mn-lt"/>
              <a:cs typeface="+mn-cs"/>
            </a:endParaRPr>
          </a:p>
          <a:p>
            <a:pPr marL="236538" indent="-236538">
              <a:buFontTx/>
              <a:buChar char="•"/>
              <a:defRPr/>
            </a:pPr>
            <a:r>
              <a:rPr lang="en-US" b="0" dirty="0">
                <a:latin typeface="+mn-lt"/>
                <a:cs typeface="+mn-cs"/>
              </a:rPr>
              <a:t>Temporary financial assistance payments may be provided to third parties on behalf of participants</a:t>
            </a:r>
          </a:p>
          <a:p>
            <a:pPr marL="236538" indent="-236538">
              <a:buFontTx/>
              <a:buChar char="•"/>
              <a:defRPr/>
            </a:pPr>
            <a:endParaRPr lang="en-US" sz="2000" b="0" dirty="0">
              <a:latin typeface="AvantGarde" pitchFamily="34" charset="0"/>
              <a:cs typeface="+mn-cs"/>
            </a:endParaRPr>
          </a:p>
          <a:p>
            <a:pPr marL="236538" indent="-236538">
              <a:buFontTx/>
              <a:buChar char="•"/>
              <a:defRPr/>
            </a:pPr>
            <a:endParaRPr lang="en-US" sz="2000" b="0" dirty="0">
              <a:latin typeface="AvantGarde" pitchFamily="34" charset="0"/>
              <a:cs typeface="+mn-cs"/>
            </a:endParaRPr>
          </a:p>
          <a:p>
            <a:pPr marL="236538" indent="-236538">
              <a:buFontTx/>
              <a:buChar char="•"/>
              <a:defRPr/>
            </a:pPr>
            <a:endParaRPr lang="en-US" sz="2000" b="0" dirty="0">
              <a:latin typeface="AvantGarde" pitchFamily="34" charset="0"/>
              <a:cs typeface="+mn-cs"/>
            </a:endParaRPr>
          </a:p>
          <a:p>
            <a:pPr marL="236538" indent="-236538">
              <a:buFontTx/>
              <a:buChar char="•"/>
              <a:defRPr/>
            </a:pPr>
            <a:endParaRPr lang="en-US" sz="2000" b="0" dirty="0">
              <a:latin typeface="AvantGarde" pitchFamily="34" charset="0"/>
              <a:cs typeface="+mn-cs"/>
            </a:endParaRPr>
          </a:p>
        </p:txBody>
      </p:sp>
      <p:sp>
        <p:nvSpPr>
          <p:cNvPr id="1233924" name="Rectangle 4"/>
          <p:cNvSpPr>
            <a:spLocks noChangeArrowheads="1"/>
          </p:cNvSpPr>
          <p:nvPr/>
        </p:nvSpPr>
        <p:spPr bwMode="auto">
          <a:xfrm>
            <a:off x="3581400" y="0"/>
            <a:ext cx="5562600" cy="914400"/>
          </a:xfrm>
          <a:prstGeom prst="rect">
            <a:avLst/>
          </a:prstGeom>
          <a:noFill/>
          <a:ln w="9525">
            <a:noFill/>
            <a:miter lim="800000"/>
            <a:headEnd/>
            <a:tailEnd/>
          </a:ln>
          <a:effectLst/>
        </p:spPr>
        <p:txBody>
          <a:bodyPr lIns="91427" tIns="45713" rIns="91427" bIns="45713" anchor="ctr"/>
          <a:lstStyle/>
          <a:p>
            <a:pPr>
              <a:defRPr/>
            </a:pPr>
            <a:r>
              <a:rPr lang="en-US" sz="3200" i="1" dirty="0">
                <a:solidFill>
                  <a:schemeClr val="bg1"/>
                </a:solidFill>
                <a:effectLst>
                  <a:outerShdw blurRad="38100" dist="38100" dir="2700000" algn="tl">
                    <a:srgbClr val="000000">
                      <a:alpha val="43137"/>
                    </a:srgbClr>
                  </a:outerShdw>
                </a:effectLst>
                <a:latin typeface="+mj-lt"/>
                <a:cs typeface="+mn-cs"/>
              </a:rPr>
              <a:t>Overview of SSVF Program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ChangeArrowheads="1"/>
          </p:cNvSpPr>
          <p:nvPr/>
        </p:nvSpPr>
        <p:spPr bwMode="auto">
          <a:xfrm>
            <a:off x="152400" y="1512888"/>
            <a:ext cx="8839200" cy="4278312"/>
          </a:xfrm>
          <a:prstGeom prst="rect">
            <a:avLst/>
          </a:prstGeom>
          <a:noFill/>
          <a:ln w="9525">
            <a:noFill/>
            <a:miter lim="800000"/>
            <a:headEnd/>
            <a:tailEnd/>
          </a:ln>
        </p:spPr>
        <p:txBody>
          <a:bodyPr lIns="91427" tIns="45713" rIns="91427" bIns="45713"/>
          <a:lstStyle/>
          <a:p>
            <a:pPr marL="533400" indent="-533400">
              <a:spcBef>
                <a:spcPct val="25000"/>
              </a:spcBef>
              <a:buFont typeface="Wingdings" pitchFamily="2" charset="2"/>
              <a:buAutoNum type="arabicPeriod"/>
              <a:defRPr/>
            </a:pPr>
            <a:r>
              <a:rPr lang="en-US" sz="2000" dirty="0">
                <a:latin typeface="AvantGarde" pitchFamily="34" charset="0"/>
                <a:cs typeface="+mn-cs"/>
              </a:rPr>
              <a:t>Veteran Family:</a:t>
            </a:r>
            <a:r>
              <a:rPr lang="en-US" sz="2000" b="0" dirty="0">
                <a:latin typeface="AvantGarde" pitchFamily="34" charset="0"/>
                <a:cs typeface="+mn-cs"/>
              </a:rPr>
              <a:t>  </a:t>
            </a:r>
          </a:p>
          <a:p>
            <a:pPr marL="1035050" lvl="1" indent="-457200">
              <a:spcBef>
                <a:spcPct val="25000"/>
              </a:spcBef>
              <a:buFont typeface="Wingdings" pitchFamily="2" charset="2"/>
              <a:buAutoNum type="alphaLcParenR"/>
              <a:defRPr/>
            </a:pPr>
            <a:r>
              <a:rPr lang="en-US" sz="2000" b="0" dirty="0">
                <a:latin typeface="AvantGarde" pitchFamily="34" charset="0"/>
                <a:cs typeface="+mn-cs"/>
              </a:rPr>
              <a:t>Veteran* who is a single person,</a:t>
            </a:r>
            <a:r>
              <a:rPr lang="en-US" sz="2000" dirty="0">
                <a:latin typeface="AvantGarde" pitchFamily="34" charset="0"/>
                <a:cs typeface="+mn-cs"/>
              </a:rPr>
              <a:t> </a:t>
            </a:r>
            <a:r>
              <a:rPr lang="en-US" sz="2000" u="sng" dirty="0">
                <a:latin typeface="AvantGarde" pitchFamily="34" charset="0"/>
                <a:cs typeface="+mn-cs"/>
              </a:rPr>
              <a:t>or</a:t>
            </a:r>
          </a:p>
          <a:p>
            <a:pPr marL="1035050" lvl="1" indent="-457200">
              <a:spcBef>
                <a:spcPct val="25000"/>
              </a:spcBef>
              <a:buFont typeface="Wingdings" pitchFamily="2" charset="2"/>
              <a:buAutoNum type="alphaLcParenR"/>
              <a:defRPr/>
            </a:pPr>
            <a:r>
              <a:rPr lang="en-US" sz="2000" b="0" dirty="0">
                <a:latin typeface="AvantGarde" pitchFamily="34" charset="0"/>
                <a:cs typeface="+mn-cs"/>
              </a:rPr>
              <a:t>Family in which the head of household, or the spouse of the head of household, is a Veteran </a:t>
            </a:r>
            <a:endParaRPr lang="en-US" sz="1400" b="0" dirty="0">
              <a:latin typeface="AvantGarde" pitchFamily="34" charset="0"/>
              <a:cs typeface="+mn-cs"/>
            </a:endParaRPr>
          </a:p>
          <a:p>
            <a:pPr marL="533400" indent="-533400">
              <a:spcBef>
                <a:spcPct val="25000"/>
              </a:spcBef>
              <a:buFont typeface="Wingdings" pitchFamily="2" charset="2"/>
              <a:buAutoNum type="arabicPeriod"/>
              <a:defRPr/>
            </a:pPr>
            <a:r>
              <a:rPr lang="en-US" sz="2000" dirty="0">
                <a:latin typeface="AvantGarde" pitchFamily="34" charset="0"/>
                <a:cs typeface="+mn-cs"/>
              </a:rPr>
              <a:t>Very Low-Income:</a:t>
            </a:r>
            <a:r>
              <a:rPr lang="en-US" sz="2000" b="0" dirty="0">
                <a:latin typeface="AvantGarde" pitchFamily="34" charset="0"/>
                <a:cs typeface="+mn-cs"/>
              </a:rPr>
              <a:t> &lt;50% area median income</a:t>
            </a:r>
          </a:p>
          <a:p>
            <a:pPr marL="533400" indent="-533400">
              <a:spcBef>
                <a:spcPts val="600"/>
              </a:spcBef>
              <a:buFont typeface="Wingdings" pitchFamily="2" charset="2"/>
              <a:buAutoNum type="arabicPeriod"/>
              <a:defRPr/>
            </a:pPr>
            <a:r>
              <a:rPr lang="en-US" sz="2000" dirty="0">
                <a:latin typeface="AvantGarde" pitchFamily="34" charset="0"/>
                <a:cs typeface="+mn-cs"/>
              </a:rPr>
              <a:t>Additional Focus on serving</a:t>
            </a:r>
            <a:r>
              <a:rPr lang="en-US" sz="2000" b="0" dirty="0">
                <a:latin typeface="AvantGarde" pitchFamily="34" charset="0"/>
                <a:cs typeface="+mn-cs"/>
              </a:rPr>
              <a:t>:</a:t>
            </a:r>
          </a:p>
          <a:p>
            <a:pPr marL="804863" lvl="1" indent="-341313">
              <a:spcBef>
                <a:spcPts val="600"/>
              </a:spcBef>
              <a:buFont typeface="Arial" pitchFamily="34" charset="0"/>
              <a:buChar char="•"/>
              <a:defRPr/>
            </a:pPr>
            <a:r>
              <a:rPr lang="en-US" sz="2000" b="0" dirty="0">
                <a:latin typeface="Arial" pitchFamily="34" charset="0"/>
                <a:cs typeface="Arial" pitchFamily="34" charset="0"/>
              </a:rPr>
              <a:t>Veteran families earning less than 30% of area median income (AMI) as most recently published by HUD (</a:t>
            </a:r>
            <a:r>
              <a:rPr lang="en-US" sz="2000" b="0" dirty="0">
                <a:solidFill>
                  <a:schemeClr val="hlink"/>
                </a:solidFill>
                <a:latin typeface="Arial" pitchFamily="34" charset="0"/>
                <a:cs typeface="Arial" pitchFamily="34" charset="0"/>
                <a:hlinkClick r:id="rId3"/>
              </a:rPr>
              <a:t>http://www.huduser.org</a:t>
            </a:r>
            <a:r>
              <a:rPr lang="en-US" sz="2000" b="0" dirty="0">
                <a:latin typeface="Arial" pitchFamily="34" charset="0"/>
                <a:cs typeface="Arial" pitchFamily="34" charset="0"/>
              </a:rPr>
              <a:t>)   </a:t>
            </a:r>
          </a:p>
          <a:p>
            <a:pPr marL="804863" lvl="1" indent="-341313">
              <a:buFont typeface="Arial" pitchFamily="34" charset="0"/>
              <a:buChar char="•"/>
              <a:defRPr/>
            </a:pPr>
            <a:r>
              <a:rPr lang="en-US" sz="2000" b="0" dirty="0">
                <a:latin typeface="Arial" pitchFamily="34" charset="0"/>
                <a:cs typeface="Arial" pitchFamily="34" charset="0"/>
              </a:rPr>
              <a:t>Veterans with at least one dependent family member  </a:t>
            </a:r>
          </a:p>
          <a:p>
            <a:pPr marL="804863" lvl="1" indent="-341313">
              <a:buFont typeface="Arial" pitchFamily="34" charset="0"/>
              <a:buChar char="•"/>
              <a:defRPr/>
            </a:pPr>
            <a:r>
              <a:rPr lang="en-US" sz="2000" b="0" dirty="0">
                <a:latin typeface="Arial" pitchFamily="34" charset="0"/>
                <a:cs typeface="Arial" pitchFamily="34" charset="0"/>
              </a:rPr>
              <a:t>Chronically homeless Veteran families </a:t>
            </a:r>
          </a:p>
          <a:p>
            <a:pPr marL="804863" lvl="1" indent="-341313">
              <a:buFont typeface="Arial" pitchFamily="34" charset="0"/>
              <a:buChar char="•"/>
              <a:defRPr/>
            </a:pPr>
            <a:r>
              <a:rPr lang="en-US" sz="2000" b="0" dirty="0">
                <a:latin typeface="Arial" pitchFamily="34" charset="0"/>
                <a:cs typeface="Arial" pitchFamily="34" charset="0"/>
              </a:rPr>
              <a:t>Formerly chronically homeless Veteran families</a:t>
            </a:r>
          </a:p>
          <a:p>
            <a:pPr marL="533400" indent="-533400">
              <a:spcBef>
                <a:spcPct val="25000"/>
              </a:spcBef>
              <a:buClr>
                <a:srgbClr val="0000FF"/>
              </a:buClr>
              <a:buFont typeface="Wingdings" pitchFamily="2" charset="2"/>
              <a:buAutoNum type="arabicPeriod"/>
              <a:defRPr/>
            </a:pPr>
            <a:endParaRPr lang="en-US" sz="1400" b="0" dirty="0">
              <a:latin typeface="AvantGarde" pitchFamily="34" charset="0"/>
              <a:cs typeface="+mn-cs"/>
            </a:endParaRPr>
          </a:p>
          <a:p>
            <a:pPr marL="533400" indent="-533400">
              <a:spcBef>
                <a:spcPct val="10000"/>
              </a:spcBef>
              <a:buClr>
                <a:srgbClr val="0000FF"/>
              </a:buClr>
              <a:buFont typeface="Wingdings" pitchFamily="2" charset="2"/>
              <a:buNone/>
              <a:defRPr/>
            </a:pPr>
            <a:endParaRPr lang="en-US" sz="1600" b="0" dirty="0">
              <a:latin typeface="AvantGarde" pitchFamily="34" charset="0"/>
              <a:cs typeface="+mn-cs"/>
            </a:endParaRPr>
          </a:p>
        </p:txBody>
      </p:sp>
      <p:sp>
        <p:nvSpPr>
          <p:cNvPr id="1077252" name="Rectangle 4"/>
          <p:cNvSpPr>
            <a:spLocks noChangeArrowheads="1"/>
          </p:cNvSpPr>
          <p:nvPr/>
        </p:nvSpPr>
        <p:spPr bwMode="auto">
          <a:xfrm>
            <a:off x="3657600" y="0"/>
            <a:ext cx="5486400" cy="1055688"/>
          </a:xfrm>
          <a:prstGeom prst="rect">
            <a:avLst/>
          </a:prstGeom>
          <a:noFill/>
          <a:ln w="9525">
            <a:noFill/>
            <a:miter lim="800000"/>
            <a:headEnd/>
            <a:tailEnd/>
          </a:ln>
          <a:effectLst/>
        </p:spPr>
        <p:txBody>
          <a:bodyPr lIns="91427" tIns="45713" rIns="91427" bIns="45713" anchor="ctr"/>
          <a:lstStyle/>
          <a:p>
            <a:pPr algn="ctr"/>
            <a:endParaRPr lang="en-US" sz="3000">
              <a:latin typeface="AvantGarde"/>
            </a:endParaRPr>
          </a:p>
          <a:p>
            <a:pPr algn="r"/>
            <a:r>
              <a:rPr lang="en-US" sz="3000" i="1">
                <a:solidFill>
                  <a:schemeClr val="bg1"/>
                </a:solidFill>
                <a:effectLst>
                  <a:outerShdw blurRad="38100" dist="38100" dir="2700000" algn="tl">
                    <a:srgbClr val="C0C0C0"/>
                  </a:outerShdw>
                </a:effectLst>
                <a:latin typeface="AvantGarde"/>
              </a:rPr>
              <a:t>SSVF Program Participant Eligibility  </a:t>
            </a:r>
            <a:r>
              <a:rPr lang="en-US" sz="3000">
                <a:latin typeface="AvantGarde"/>
              </a:rPr>
              <a:t/>
            </a:r>
            <a:br>
              <a:rPr lang="en-US" sz="3000">
                <a:latin typeface="AvantGarde"/>
              </a:rPr>
            </a:br>
            <a:endParaRPr lang="en-US" sz="3000">
              <a:latin typeface="AvantGarde"/>
            </a:endParaRPr>
          </a:p>
        </p:txBody>
      </p:sp>
      <p:sp>
        <p:nvSpPr>
          <p:cNvPr id="72707" name="Text Box 8"/>
          <p:cNvSpPr txBox="1">
            <a:spLocks noChangeArrowheads="1"/>
          </p:cNvSpPr>
          <p:nvPr/>
        </p:nvSpPr>
        <p:spPr bwMode="auto">
          <a:xfrm>
            <a:off x="152400" y="5943600"/>
            <a:ext cx="8915400" cy="947738"/>
          </a:xfrm>
          <a:prstGeom prst="rect">
            <a:avLst/>
          </a:prstGeom>
          <a:noFill/>
          <a:ln w="25400">
            <a:noFill/>
            <a:miter lim="800000"/>
            <a:headEnd/>
            <a:tailEnd type="none" w="lg" len="lg"/>
          </a:ln>
        </p:spPr>
        <p:txBody>
          <a:bodyPr>
            <a:spAutoFit/>
          </a:bodyPr>
          <a:lstStyle/>
          <a:p>
            <a:pPr>
              <a:spcBef>
                <a:spcPct val="10000"/>
              </a:spcBef>
              <a:buClr>
                <a:srgbClr val="0000FF"/>
              </a:buClr>
              <a:buFont typeface="Wingdings" pitchFamily="2" charset="2"/>
              <a:buNone/>
            </a:pPr>
            <a:r>
              <a:rPr lang="en-US" sz="1600" b="0">
                <a:latin typeface="AvantGarde"/>
              </a:rPr>
              <a:t>*”Veteran” means a person who served in the active military, naval, or air service, and who was discharged or released under conditions other than dishonorable.</a:t>
            </a:r>
          </a:p>
          <a:p>
            <a:pPr>
              <a:spcBef>
                <a:spcPct val="50000"/>
              </a:spcBef>
            </a:pPr>
            <a:endParaRPr lang="en-US" sz="1600">
              <a:latin typeface="AvantGarde"/>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457200" y="152400"/>
            <a:ext cx="8382000" cy="762000"/>
          </a:xfrm>
        </p:spPr>
        <p:txBody>
          <a:bodyPr>
            <a:normAutofit/>
          </a:bodyPr>
          <a:lstStyle/>
          <a:p>
            <a:pPr algn="r">
              <a:defRPr/>
            </a:pPr>
            <a:r>
              <a:rPr lang="en-US" sz="3000" b="1" smtClean="0">
                <a:solidFill>
                  <a:schemeClr val="bg1"/>
                </a:solidFill>
              </a:rPr>
              <a:t>Outreach</a:t>
            </a:r>
          </a:p>
        </p:txBody>
      </p:sp>
      <p:sp>
        <p:nvSpPr>
          <p:cNvPr id="75778" name="Rectangle 3"/>
          <p:cNvSpPr>
            <a:spLocks noGrp="1" noChangeArrowheads="1"/>
          </p:cNvSpPr>
          <p:nvPr>
            <p:ph idx="4294967295"/>
          </p:nvPr>
        </p:nvSpPr>
        <p:spPr>
          <a:xfrm>
            <a:off x="228600" y="1143000"/>
            <a:ext cx="8534400" cy="5486400"/>
          </a:xfrm>
        </p:spPr>
        <p:txBody>
          <a:bodyPr/>
          <a:lstStyle/>
          <a:p>
            <a:pPr>
              <a:lnSpc>
                <a:spcPct val="90000"/>
              </a:lnSpc>
              <a:buFont typeface="Wingdings" pitchFamily="2" charset="2"/>
              <a:buNone/>
            </a:pPr>
            <a:r>
              <a:rPr lang="en-US" sz="2200" smtClean="0"/>
              <a:t>Healthcare for Homeless Veterans</a:t>
            </a:r>
          </a:p>
          <a:p>
            <a:pPr eaLnBrk="1" hangingPunct="1">
              <a:lnSpc>
                <a:spcPct val="90000"/>
              </a:lnSpc>
            </a:pPr>
            <a:r>
              <a:rPr lang="en-US" sz="2200" b="0" smtClean="0">
                <a:solidFill>
                  <a:schemeClr val="tx1"/>
                </a:solidFill>
              </a:rPr>
              <a:t>The Health Care for Homeless Veterans (HCHV) Program is designed to connect homeless Veterans to assistance through community outreach. </a:t>
            </a:r>
          </a:p>
          <a:p>
            <a:pPr eaLnBrk="1" hangingPunct="1">
              <a:lnSpc>
                <a:spcPct val="90000"/>
              </a:lnSpc>
            </a:pPr>
            <a:r>
              <a:rPr lang="en-US" sz="2200" b="0" smtClean="0">
                <a:solidFill>
                  <a:schemeClr val="tx1"/>
                </a:solidFill>
                <a:cs typeface="Arial" charset="0"/>
              </a:rPr>
              <a:t>HCHV’s central goal is to reduce homelessness among Veterans by conducting outreach to those who are the most vulnerable and are not currently receiving services and engaging them in treatment and rehabilitative programs. </a:t>
            </a:r>
            <a:r>
              <a:rPr lang="en-US" sz="2200" b="0" smtClean="0"/>
              <a:t> </a:t>
            </a:r>
          </a:p>
          <a:p>
            <a:pPr eaLnBrk="1" hangingPunct="1">
              <a:lnSpc>
                <a:spcPct val="90000"/>
              </a:lnSpc>
            </a:pPr>
            <a:endParaRPr lang="en-US" sz="2200" smtClean="0"/>
          </a:p>
          <a:p>
            <a:pPr>
              <a:lnSpc>
                <a:spcPct val="90000"/>
              </a:lnSpc>
              <a:buFont typeface="Wingdings" pitchFamily="2" charset="2"/>
              <a:buNone/>
            </a:pPr>
            <a:r>
              <a:rPr lang="en-US" sz="2200" smtClean="0"/>
              <a:t>Stand-Downs</a:t>
            </a:r>
          </a:p>
          <a:p>
            <a:pPr eaLnBrk="1" hangingPunct="1">
              <a:lnSpc>
                <a:spcPct val="90000"/>
              </a:lnSpc>
            </a:pPr>
            <a:r>
              <a:rPr lang="en-US" sz="2200" b="0" smtClean="0">
                <a:solidFill>
                  <a:schemeClr val="tx1"/>
                </a:solidFill>
              </a:rPr>
              <a:t>Collaborative, 1 to 3 day events </a:t>
            </a:r>
          </a:p>
          <a:p>
            <a:pPr eaLnBrk="1" hangingPunct="1">
              <a:lnSpc>
                <a:spcPct val="90000"/>
              </a:lnSpc>
              <a:buFontTx/>
              <a:buNone/>
            </a:pPr>
            <a:r>
              <a:rPr lang="en-US" sz="2200" b="0" smtClean="0">
                <a:solidFill>
                  <a:schemeClr val="tx1"/>
                </a:solidFill>
              </a:rPr>
              <a:t>     for homeless Veterans</a:t>
            </a:r>
          </a:p>
          <a:p>
            <a:pPr eaLnBrk="1" hangingPunct="1">
              <a:lnSpc>
                <a:spcPct val="90000"/>
              </a:lnSpc>
            </a:pPr>
            <a:r>
              <a:rPr lang="en-US" sz="2200" b="0" smtClean="0">
                <a:solidFill>
                  <a:schemeClr val="tx1"/>
                </a:solidFill>
              </a:rPr>
              <a:t>Coordinated with other government </a:t>
            </a:r>
          </a:p>
          <a:p>
            <a:pPr eaLnBrk="1" hangingPunct="1">
              <a:lnSpc>
                <a:spcPct val="90000"/>
              </a:lnSpc>
              <a:buFontTx/>
              <a:buNone/>
            </a:pPr>
            <a:r>
              <a:rPr lang="en-US" sz="2200" b="0" smtClean="0">
                <a:solidFill>
                  <a:schemeClr val="tx1"/>
                </a:solidFill>
              </a:rPr>
              <a:t>     &amp; community agencies</a:t>
            </a:r>
          </a:p>
          <a:p>
            <a:pPr eaLnBrk="1" hangingPunct="1">
              <a:lnSpc>
                <a:spcPct val="90000"/>
              </a:lnSpc>
            </a:pPr>
            <a:endParaRPr lang="en-US" sz="2200" smtClean="0"/>
          </a:p>
          <a:p>
            <a:pPr eaLnBrk="1" hangingPunct="1">
              <a:lnSpc>
                <a:spcPct val="90000"/>
              </a:lnSpc>
              <a:buFont typeface="Wingdings 2" pitchFamily="18" charset="2"/>
              <a:buNone/>
            </a:pPr>
            <a:endParaRPr lang="en-US" sz="2200" smtClean="0"/>
          </a:p>
          <a:p>
            <a:pPr eaLnBrk="1" hangingPunct="1">
              <a:lnSpc>
                <a:spcPct val="90000"/>
              </a:lnSpc>
              <a:buFont typeface="Wingdings 2" pitchFamily="18" charset="2"/>
              <a:buNone/>
            </a:pPr>
            <a:endParaRPr lang="en-US" sz="2200" smtClean="0"/>
          </a:p>
          <a:p>
            <a:pPr eaLnBrk="1" hangingPunct="1">
              <a:lnSpc>
                <a:spcPct val="90000"/>
              </a:lnSpc>
              <a:buFont typeface="Wingdings 2" pitchFamily="18" charset="2"/>
              <a:buNone/>
            </a:pPr>
            <a:endParaRPr lang="en-US" sz="2200" smtClean="0"/>
          </a:p>
        </p:txBody>
      </p:sp>
      <p:sp>
        <p:nvSpPr>
          <p:cNvPr id="75779" name="Slide Number Placeholder 5"/>
          <p:cNvSpPr txBox="1">
            <a:spLocks noGrp="1"/>
          </p:cNvSpPr>
          <p:nvPr/>
        </p:nvSpPr>
        <p:spPr bwMode="auto">
          <a:xfrm>
            <a:off x="8305800" y="1295400"/>
            <a:ext cx="741363" cy="228600"/>
          </a:xfrm>
          <a:prstGeom prst="rect">
            <a:avLst/>
          </a:prstGeom>
          <a:noFill/>
          <a:ln w="9525">
            <a:noFill/>
            <a:miter lim="800000"/>
            <a:headEnd/>
            <a:tailEnd/>
          </a:ln>
        </p:spPr>
        <p:txBody>
          <a:bodyPr lIns="0" tIns="0" rIns="0" bIns="0" anchor="b"/>
          <a:lstStyle/>
          <a:p>
            <a:pPr algn="ctr"/>
            <a:fld id="{C1CA9951-9ED1-4B23-B424-A8251247CDEA}" type="slidenum">
              <a:rPr lang="en-US" sz="1100">
                <a:solidFill>
                  <a:schemeClr val="bg1"/>
                </a:solidFill>
              </a:rPr>
              <a:pPr algn="ctr"/>
              <a:t>18</a:t>
            </a:fld>
            <a:endParaRPr lang="en-US" sz="1100">
              <a:solidFill>
                <a:schemeClr val="bg1"/>
              </a:solidFill>
            </a:endParaRPr>
          </a:p>
        </p:txBody>
      </p:sp>
      <p:pic>
        <p:nvPicPr>
          <p:cNvPr id="75780" name="Picture 4" descr="callcenter.png"/>
          <p:cNvPicPr>
            <a:picLocks noChangeAspect="1"/>
          </p:cNvPicPr>
          <p:nvPr/>
        </p:nvPicPr>
        <p:blipFill>
          <a:blip r:embed="rId3" cstate="print"/>
          <a:srcRect/>
          <a:stretch>
            <a:fillRect/>
          </a:stretch>
        </p:blipFill>
        <p:spPr bwMode="auto">
          <a:xfrm>
            <a:off x="5334000" y="4114800"/>
            <a:ext cx="3322638" cy="21336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457200" y="152400"/>
            <a:ext cx="8382000" cy="762000"/>
          </a:xfrm>
        </p:spPr>
        <p:txBody>
          <a:bodyPr>
            <a:normAutofit/>
          </a:bodyPr>
          <a:lstStyle/>
          <a:p>
            <a:pPr algn="r">
              <a:defRPr/>
            </a:pPr>
            <a:r>
              <a:rPr lang="en-US" sz="3000" b="1" smtClean="0">
                <a:solidFill>
                  <a:schemeClr val="bg1"/>
                </a:solidFill>
              </a:rPr>
              <a:t>Outreach</a:t>
            </a:r>
          </a:p>
        </p:txBody>
      </p:sp>
      <p:sp>
        <p:nvSpPr>
          <p:cNvPr id="88067" name="Rectangle 3"/>
          <p:cNvSpPr>
            <a:spLocks noGrp="1" noChangeArrowheads="1"/>
          </p:cNvSpPr>
          <p:nvPr>
            <p:ph idx="4294967295"/>
          </p:nvPr>
        </p:nvSpPr>
        <p:spPr>
          <a:xfrm>
            <a:off x="228600" y="1447800"/>
            <a:ext cx="8534400" cy="5181600"/>
          </a:xfrm>
        </p:spPr>
        <p:txBody>
          <a:bodyPr/>
          <a:lstStyle/>
          <a:p>
            <a:pPr>
              <a:lnSpc>
                <a:spcPct val="90000"/>
              </a:lnSpc>
              <a:buClrTx/>
            </a:pPr>
            <a:r>
              <a:rPr lang="en-US" sz="2400" b="0" dirty="0" smtClean="0">
                <a:solidFill>
                  <a:schemeClr val="tx1"/>
                </a:solidFill>
              </a:rPr>
              <a:t>9% of all inmates are Veterans; 200,000 nationwide</a:t>
            </a:r>
          </a:p>
          <a:p>
            <a:pPr>
              <a:lnSpc>
                <a:spcPct val="90000"/>
              </a:lnSpc>
              <a:buClrTx/>
            </a:pPr>
            <a:r>
              <a:rPr lang="en-US" sz="2400" b="0" dirty="0" smtClean="0">
                <a:solidFill>
                  <a:schemeClr val="tx1"/>
                </a:solidFill>
              </a:rPr>
              <a:t>15%+ of all inmates homeless; greater numbers at-risk</a:t>
            </a:r>
          </a:p>
          <a:p>
            <a:pPr>
              <a:lnSpc>
                <a:spcPct val="90000"/>
              </a:lnSpc>
              <a:buClrTx/>
            </a:pPr>
            <a:r>
              <a:rPr lang="en-US" sz="2400" b="0" dirty="0" smtClean="0">
                <a:solidFill>
                  <a:schemeClr val="tx1"/>
                </a:solidFill>
              </a:rPr>
              <a:t>VA criminal justice programs: Health Care for Re-Entry Veterans (HCRV) and Veterans Justice Outreach (VJO).</a:t>
            </a:r>
          </a:p>
          <a:p>
            <a:pPr>
              <a:lnSpc>
                <a:spcPct val="90000"/>
              </a:lnSpc>
              <a:buClrTx/>
            </a:pPr>
            <a:r>
              <a:rPr lang="en-US" sz="2400" b="0" dirty="0" smtClean="0">
                <a:solidFill>
                  <a:schemeClr val="tx1"/>
                </a:solidFill>
              </a:rPr>
              <a:t>HCRV designed to meet community re-entry needs. Resources are described in state guides </a:t>
            </a:r>
            <a:r>
              <a:rPr lang="en-US" sz="2400" b="0" dirty="0" smtClean="0">
                <a:solidFill>
                  <a:schemeClr val="tx1"/>
                </a:solidFill>
                <a:hlinkClick r:id="rId3"/>
              </a:rPr>
              <a:t>www.va.gov/HOMELESS/Reentry_Guides.asp</a:t>
            </a:r>
            <a:r>
              <a:rPr lang="en-US" sz="2400" b="0" dirty="0" smtClean="0">
                <a:solidFill>
                  <a:schemeClr val="tx1"/>
                </a:solidFill>
              </a:rPr>
              <a:t> </a:t>
            </a:r>
          </a:p>
          <a:p>
            <a:pPr>
              <a:lnSpc>
                <a:spcPct val="90000"/>
              </a:lnSpc>
              <a:buClrTx/>
            </a:pPr>
            <a:r>
              <a:rPr lang="en-US" sz="2400" b="0" dirty="0" smtClean="0">
                <a:solidFill>
                  <a:schemeClr val="tx1"/>
                </a:solidFill>
              </a:rPr>
              <a:t>VJO seeks to avoid unnecessary criminalization of mental illness by providing access to substance use treatment and mental health services. VA VJO contacts can be found at </a:t>
            </a:r>
            <a:r>
              <a:rPr lang="en-US" sz="2400" b="0" dirty="0" smtClean="0">
                <a:solidFill>
                  <a:schemeClr val="tx1"/>
                </a:solidFill>
                <a:hlinkClick r:id="rId4"/>
              </a:rPr>
              <a:t>www.va.gov/HOMELESS/VJO.ASP</a:t>
            </a:r>
            <a:r>
              <a:rPr lang="en-US" sz="2400" b="0" dirty="0" smtClean="0">
                <a:solidFill>
                  <a:schemeClr val="tx1"/>
                </a:solidFill>
              </a:rPr>
              <a:t> </a:t>
            </a:r>
          </a:p>
          <a:p>
            <a:pPr eaLnBrk="1" hangingPunct="1">
              <a:lnSpc>
                <a:spcPct val="90000"/>
              </a:lnSpc>
            </a:pPr>
            <a:endParaRPr lang="en-US" sz="2200" dirty="0" smtClean="0"/>
          </a:p>
          <a:p>
            <a:pPr eaLnBrk="1" hangingPunct="1">
              <a:lnSpc>
                <a:spcPct val="90000"/>
              </a:lnSpc>
              <a:buFont typeface="Wingdings 2" pitchFamily="18" charset="2"/>
              <a:buNone/>
            </a:pPr>
            <a:endParaRPr lang="en-US" sz="2200" dirty="0" smtClean="0"/>
          </a:p>
          <a:p>
            <a:pPr eaLnBrk="1" hangingPunct="1">
              <a:lnSpc>
                <a:spcPct val="90000"/>
              </a:lnSpc>
              <a:buFont typeface="Wingdings 2" pitchFamily="18" charset="2"/>
              <a:buNone/>
            </a:pPr>
            <a:endParaRPr lang="en-US" sz="2200" dirty="0" smtClean="0"/>
          </a:p>
          <a:p>
            <a:pPr eaLnBrk="1" hangingPunct="1">
              <a:lnSpc>
                <a:spcPct val="90000"/>
              </a:lnSpc>
              <a:buFont typeface="Wingdings 2" pitchFamily="18" charset="2"/>
              <a:buNone/>
            </a:pPr>
            <a:endParaRPr lang="en-US" sz="2200" dirty="0" smtClean="0"/>
          </a:p>
        </p:txBody>
      </p:sp>
      <p:sp>
        <p:nvSpPr>
          <p:cNvPr id="88068" name="Slide Number Placeholder 5"/>
          <p:cNvSpPr txBox="1">
            <a:spLocks noGrp="1"/>
          </p:cNvSpPr>
          <p:nvPr/>
        </p:nvSpPr>
        <p:spPr bwMode="auto">
          <a:xfrm>
            <a:off x="8305800" y="1295400"/>
            <a:ext cx="741363" cy="228600"/>
          </a:xfrm>
          <a:prstGeom prst="rect">
            <a:avLst/>
          </a:prstGeom>
          <a:noFill/>
          <a:ln w="9525">
            <a:noFill/>
            <a:miter lim="800000"/>
            <a:headEnd/>
            <a:tailEnd/>
          </a:ln>
        </p:spPr>
        <p:txBody>
          <a:bodyPr lIns="0" tIns="0" rIns="0" bIns="0" anchor="b"/>
          <a:lstStyle/>
          <a:p>
            <a:pPr algn="ctr"/>
            <a:fld id="{3CA264CE-2881-413F-8C94-382AEACA2944}" type="slidenum">
              <a:rPr lang="en-US" sz="1100">
                <a:solidFill>
                  <a:schemeClr val="bg1"/>
                </a:solidFill>
              </a:rPr>
              <a:pPr algn="ctr"/>
              <a:t>19</a:t>
            </a:fld>
            <a:endParaRPr lang="en-US" sz="1100">
              <a:solidFill>
                <a:schemeClr val="bg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Number Placeholder 3"/>
          <p:cNvSpPr txBox="1">
            <a:spLocks noGrp="1"/>
          </p:cNvSpPr>
          <p:nvPr/>
        </p:nvSpPr>
        <p:spPr bwMode="auto">
          <a:xfrm>
            <a:off x="7239000" y="6534150"/>
            <a:ext cx="1905000" cy="457200"/>
          </a:xfrm>
          <a:prstGeom prst="rect">
            <a:avLst/>
          </a:prstGeom>
          <a:noFill/>
          <a:ln w="9525">
            <a:noFill/>
            <a:miter lim="800000"/>
            <a:headEnd/>
            <a:tailEnd/>
          </a:ln>
        </p:spPr>
        <p:txBody>
          <a:bodyPr lIns="91427" tIns="45713" rIns="91427" bIns="45713"/>
          <a:lstStyle/>
          <a:p>
            <a:pPr algn="r"/>
            <a:endParaRPr lang="en-US" sz="1400" b="0">
              <a:latin typeface="Arial" charset="0"/>
            </a:endParaRPr>
          </a:p>
        </p:txBody>
      </p:sp>
      <p:sp>
        <p:nvSpPr>
          <p:cNvPr id="31748" name="Rectangle 2"/>
          <p:cNvSpPr>
            <a:spLocks noChangeArrowheads="1"/>
          </p:cNvSpPr>
          <p:nvPr/>
        </p:nvSpPr>
        <p:spPr bwMode="auto">
          <a:xfrm>
            <a:off x="63500" y="1230313"/>
            <a:ext cx="8915400" cy="4941887"/>
          </a:xfrm>
          <a:prstGeom prst="rect">
            <a:avLst/>
          </a:prstGeom>
          <a:noFill/>
          <a:ln w="9525">
            <a:noFill/>
            <a:miter lim="800000"/>
            <a:headEnd/>
            <a:tailEnd/>
          </a:ln>
        </p:spPr>
        <p:txBody>
          <a:bodyPr lIns="91427" tIns="45713" rIns="91427" bIns="45713"/>
          <a:lstStyle/>
          <a:p>
            <a:pPr marL="571500" lvl="1" indent="-457200">
              <a:lnSpc>
                <a:spcPct val="120000"/>
              </a:lnSpc>
              <a:buFont typeface="Wingdings" pitchFamily="2" charset="2"/>
              <a:buAutoNum type="arabicPeriod"/>
              <a:defRPr/>
            </a:pPr>
            <a:r>
              <a:rPr lang="en-US" sz="2000" b="0" dirty="0">
                <a:latin typeface="AvantGarde" pitchFamily="34" charset="0"/>
                <a:cs typeface="+mn-cs"/>
              </a:rPr>
              <a:t>Active outreach both in community and with local VA.</a:t>
            </a:r>
          </a:p>
          <a:p>
            <a:pPr marL="571500" lvl="1" indent="-457200">
              <a:lnSpc>
                <a:spcPct val="120000"/>
              </a:lnSpc>
              <a:buFont typeface="Wingdings" pitchFamily="2" charset="2"/>
              <a:buAutoNum type="arabicPeriod"/>
              <a:defRPr/>
            </a:pPr>
            <a:r>
              <a:rPr lang="en-US" sz="2000" b="0" dirty="0">
                <a:latin typeface="AvantGarde" pitchFamily="34" charset="0"/>
                <a:cs typeface="+mn-cs"/>
              </a:rPr>
              <a:t>Case management services</a:t>
            </a:r>
          </a:p>
          <a:p>
            <a:pPr marL="1143000" lvl="2" indent="-228600">
              <a:lnSpc>
                <a:spcPct val="120000"/>
              </a:lnSpc>
              <a:buFontTx/>
              <a:buChar char="•"/>
              <a:defRPr/>
            </a:pPr>
            <a:r>
              <a:rPr lang="en-US" sz="2000" b="0" dirty="0">
                <a:latin typeface="AvantGarde" pitchFamily="34" charset="0"/>
                <a:cs typeface="+mn-cs"/>
              </a:rPr>
              <a:t>Careful assessment of needs in developing plans</a:t>
            </a:r>
          </a:p>
          <a:p>
            <a:pPr marL="1143000" lvl="2" indent="-228600">
              <a:lnSpc>
                <a:spcPct val="120000"/>
              </a:lnSpc>
              <a:buFontTx/>
              <a:buChar char="•"/>
              <a:defRPr/>
            </a:pPr>
            <a:r>
              <a:rPr lang="en-US" sz="2000" b="0" dirty="0">
                <a:latin typeface="AvantGarde" pitchFamily="34" charset="0"/>
                <a:cs typeface="+mn-cs"/>
              </a:rPr>
              <a:t>Providing identified services directly or through referrals</a:t>
            </a:r>
          </a:p>
          <a:p>
            <a:pPr marL="1143000" lvl="2" indent="-228600">
              <a:lnSpc>
                <a:spcPct val="120000"/>
              </a:lnSpc>
              <a:buFontTx/>
              <a:buChar char="•"/>
              <a:defRPr/>
            </a:pPr>
            <a:r>
              <a:rPr lang="en-US" sz="2000" b="0" dirty="0">
                <a:latin typeface="AvantGarde" pitchFamily="34" charset="0"/>
                <a:cs typeface="+mn-cs"/>
              </a:rPr>
              <a:t>Deciding how resources are allocated to participants </a:t>
            </a:r>
          </a:p>
          <a:p>
            <a:pPr marL="571500" lvl="1" indent="-457200">
              <a:lnSpc>
                <a:spcPct val="120000"/>
              </a:lnSpc>
              <a:buFont typeface="Wingdings" pitchFamily="2" charset="2"/>
              <a:buAutoNum type="arabicPeriod" startAt="3"/>
              <a:defRPr/>
            </a:pPr>
            <a:r>
              <a:rPr lang="en-US" sz="2000" b="0" dirty="0">
                <a:latin typeface="AvantGarde" pitchFamily="34" charset="0"/>
                <a:cs typeface="+mn-cs"/>
              </a:rPr>
              <a:t>Assist participants to obtain VA benefits</a:t>
            </a:r>
          </a:p>
          <a:p>
            <a:pPr marL="1149350" lvl="3" indent="-234950">
              <a:lnSpc>
                <a:spcPct val="120000"/>
              </a:lnSpc>
              <a:buFont typeface="Arial" pitchFamily="34" charset="0"/>
              <a:buChar char="•"/>
              <a:defRPr/>
            </a:pPr>
            <a:r>
              <a:rPr lang="en-US" sz="2000" b="0" dirty="0">
                <a:latin typeface="AvantGarde" pitchFamily="34" charset="0"/>
                <a:cs typeface="+mn-cs"/>
              </a:rPr>
              <a:t>Service connected benefits and NSC pension</a:t>
            </a:r>
          </a:p>
          <a:p>
            <a:pPr marL="1149350" lvl="3" indent="-234950">
              <a:lnSpc>
                <a:spcPct val="120000"/>
              </a:lnSpc>
              <a:buFont typeface="Arial" pitchFamily="34" charset="0"/>
              <a:buChar char="•"/>
              <a:defRPr/>
            </a:pPr>
            <a:r>
              <a:rPr lang="en-US" sz="2000" b="0" dirty="0">
                <a:latin typeface="AvantGarde" pitchFamily="34" charset="0"/>
                <a:cs typeface="+mn-cs"/>
              </a:rPr>
              <a:t>Educational benefits and vocational services</a:t>
            </a:r>
          </a:p>
          <a:p>
            <a:pPr marL="1149350" lvl="3" indent="-234950">
              <a:lnSpc>
                <a:spcPct val="120000"/>
              </a:lnSpc>
              <a:buFont typeface="Arial" pitchFamily="34" charset="0"/>
              <a:buChar char="•"/>
              <a:defRPr/>
            </a:pPr>
            <a:r>
              <a:rPr lang="en-US" sz="2000" b="0" dirty="0">
                <a:latin typeface="AvantGarde" pitchFamily="34" charset="0"/>
                <a:cs typeface="+mn-cs"/>
              </a:rPr>
              <a:t>Health care</a:t>
            </a:r>
          </a:p>
          <a:p>
            <a:pPr marL="579438" lvl="1" indent="-457200">
              <a:lnSpc>
                <a:spcPct val="120000"/>
              </a:lnSpc>
              <a:buFont typeface="+mj-lt"/>
              <a:buAutoNum type="arabicPeriod" startAt="3"/>
              <a:defRPr/>
            </a:pPr>
            <a:r>
              <a:rPr lang="en-US" sz="2000" b="0" dirty="0">
                <a:latin typeface="AvantGarde" pitchFamily="34" charset="0"/>
                <a:cs typeface="+mn-cs"/>
              </a:rPr>
              <a:t>Obtaining mainstream entitlements and services</a:t>
            </a:r>
          </a:p>
          <a:p>
            <a:pPr marL="1143000" lvl="3" indent="-228600">
              <a:lnSpc>
                <a:spcPct val="120000"/>
              </a:lnSpc>
              <a:buFont typeface="Arial" pitchFamily="34" charset="0"/>
              <a:buChar char="•"/>
              <a:defRPr/>
            </a:pPr>
            <a:r>
              <a:rPr lang="en-US" sz="2000" b="0" dirty="0">
                <a:latin typeface="AvantGarde" pitchFamily="34" charset="0"/>
                <a:cs typeface="+mn-cs"/>
              </a:rPr>
              <a:t>Legal assistance</a:t>
            </a:r>
          </a:p>
          <a:p>
            <a:pPr marL="1143000" lvl="3" indent="-228600">
              <a:lnSpc>
                <a:spcPct val="120000"/>
              </a:lnSpc>
              <a:buFont typeface="Arial" pitchFamily="34" charset="0"/>
              <a:buChar char="•"/>
              <a:defRPr/>
            </a:pPr>
            <a:r>
              <a:rPr lang="en-US" sz="2000" b="0" dirty="0">
                <a:latin typeface="AvantGarde" pitchFamily="34" charset="0"/>
                <a:cs typeface="+mn-cs"/>
              </a:rPr>
              <a:t>Credit counseling &amp; financial planning</a:t>
            </a:r>
          </a:p>
          <a:p>
            <a:pPr marL="1143000" lvl="3" indent="-228600">
              <a:lnSpc>
                <a:spcPct val="120000"/>
              </a:lnSpc>
              <a:buFont typeface="Arial" pitchFamily="34" charset="0"/>
              <a:buChar char="•"/>
              <a:defRPr/>
            </a:pPr>
            <a:r>
              <a:rPr lang="en-US" sz="2000" b="0" dirty="0">
                <a:latin typeface="AvantGarde" pitchFamily="34" charset="0"/>
                <a:cs typeface="+mn-cs"/>
              </a:rPr>
              <a:t>Income assistance &amp; health insurance</a:t>
            </a:r>
          </a:p>
          <a:p>
            <a:pPr marL="1143000" lvl="3" indent="-228600">
              <a:lnSpc>
                <a:spcPct val="120000"/>
              </a:lnSpc>
              <a:buFont typeface="Arial" pitchFamily="34" charset="0"/>
              <a:buChar char="•"/>
              <a:defRPr/>
            </a:pPr>
            <a:r>
              <a:rPr lang="en-US" sz="2000" b="0" dirty="0">
                <a:latin typeface="AvantGarde" pitchFamily="34" charset="0"/>
                <a:cs typeface="+mn-cs"/>
              </a:rPr>
              <a:t>Housing counseling</a:t>
            </a:r>
          </a:p>
          <a:p>
            <a:pPr marL="1371600" lvl="2" indent="-457200">
              <a:lnSpc>
                <a:spcPct val="120000"/>
              </a:lnSpc>
              <a:buClr>
                <a:srgbClr val="0000FF"/>
              </a:buClr>
              <a:defRPr/>
            </a:pPr>
            <a:endParaRPr lang="en-US" sz="2000" b="0" dirty="0">
              <a:latin typeface="AvantGarde" pitchFamily="34" charset="0"/>
              <a:cs typeface="+mn-cs"/>
            </a:endParaRPr>
          </a:p>
          <a:p>
            <a:pPr marL="228600" indent="-228600">
              <a:lnSpc>
                <a:spcPct val="120000"/>
              </a:lnSpc>
              <a:buClr>
                <a:srgbClr val="0000FF"/>
              </a:buClr>
              <a:buFontTx/>
              <a:buChar char="•"/>
              <a:defRPr/>
            </a:pPr>
            <a:endParaRPr lang="en-US" sz="2000" b="0" dirty="0">
              <a:latin typeface="AvantGarde" pitchFamily="34" charset="0"/>
              <a:cs typeface="+mn-cs"/>
            </a:endParaRPr>
          </a:p>
        </p:txBody>
      </p:sp>
      <p:sp>
        <p:nvSpPr>
          <p:cNvPr id="1077252" name="Rectangle 4"/>
          <p:cNvSpPr>
            <a:spLocks noChangeArrowheads="1"/>
          </p:cNvSpPr>
          <p:nvPr/>
        </p:nvSpPr>
        <p:spPr bwMode="auto">
          <a:xfrm>
            <a:off x="3581400" y="0"/>
            <a:ext cx="5334000" cy="1119188"/>
          </a:xfrm>
          <a:prstGeom prst="rect">
            <a:avLst/>
          </a:prstGeom>
          <a:noFill/>
          <a:ln w="9525">
            <a:noFill/>
            <a:miter lim="800000"/>
            <a:headEnd/>
            <a:tailEnd/>
          </a:ln>
          <a:effectLst/>
        </p:spPr>
        <p:txBody>
          <a:bodyPr lIns="91427" tIns="45713" rIns="91427" bIns="45713" anchor="ctr"/>
          <a:lstStyle/>
          <a:p>
            <a:pPr algn="r">
              <a:defRPr/>
            </a:pPr>
            <a:r>
              <a:rPr lang="en-US" sz="2800" i="1" dirty="0">
                <a:solidFill>
                  <a:schemeClr val="bg1"/>
                </a:solidFill>
                <a:effectLst>
                  <a:outerShdw blurRad="38100" dist="38100" dir="2700000" algn="tl">
                    <a:srgbClr val="000000">
                      <a:alpha val="43137"/>
                    </a:srgbClr>
                  </a:outerShdw>
                </a:effectLst>
                <a:latin typeface="+mj-lt"/>
                <a:cs typeface="+mn-cs"/>
              </a:rPr>
              <a:t>SSVF Supportive Services (Universal)</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Number Placeholder 3"/>
          <p:cNvSpPr txBox="1">
            <a:spLocks noGrp="1"/>
          </p:cNvSpPr>
          <p:nvPr/>
        </p:nvSpPr>
        <p:spPr bwMode="auto">
          <a:xfrm>
            <a:off x="7239000" y="6534150"/>
            <a:ext cx="1905000" cy="457200"/>
          </a:xfrm>
          <a:prstGeom prst="rect">
            <a:avLst/>
          </a:prstGeom>
          <a:noFill/>
          <a:ln w="9525">
            <a:noFill/>
            <a:miter lim="800000"/>
            <a:headEnd/>
            <a:tailEnd/>
          </a:ln>
        </p:spPr>
        <p:txBody>
          <a:bodyPr lIns="91427" tIns="45713" rIns="91427" bIns="45713"/>
          <a:lstStyle/>
          <a:p>
            <a:pPr algn="r"/>
            <a:endParaRPr lang="en-US" sz="1400" b="0">
              <a:latin typeface="Arial" charset="0"/>
            </a:endParaRPr>
          </a:p>
        </p:txBody>
      </p:sp>
      <p:sp>
        <p:nvSpPr>
          <p:cNvPr id="1077252" name="Rectangle 4"/>
          <p:cNvSpPr>
            <a:spLocks noChangeArrowheads="1"/>
          </p:cNvSpPr>
          <p:nvPr/>
        </p:nvSpPr>
        <p:spPr bwMode="auto">
          <a:xfrm>
            <a:off x="3657600" y="188913"/>
            <a:ext cx="5486400" cy="801687"/>
          </a:xfrm>
          <a:prstGeom prst="rect">
            <a:avLst/>
          </a:prstGeom>
          <a:noFill/>
          <a:ln w="9525">
            <a:noFill/>
            <a:miter lim="800000"/>
            <a:headEnd/>
            <a:tailEnd/>
          </a:ln>
          <a:effectLst/>
        </p:spPr>
        <p:txBody>
          <a:bodyPr lIns="91427" tIns="45713" rIns="91427" bIns="45713" anchor="ctr"/>
          <a:lstStyle/>
          <a:p>
            <a:pPr>
              <a:defRPr/>
            </a:pPr>
            <a:r>
              <a:rPr lang="en-US" sz="3000" i="1" dirty="0">
                <a:solidFill>
                  <a:schemeClr val="bg1"/>
                </a:solidFill>
                <a:effectLst>
                  <a:outerShdw blurRad="38100" dist="38100" dir="2700000" algn="tl">
                    <a:srgbClr val="000000">
                      <a:alpha val="43137"/>
                    </a:srgbClr>
                  </a:outerShdw>
                </a:effectLst>
                <a:latin typeface="+mj-lt"/>
                <a:cs typeface="+mn-cs"/>
              </a:rPr>
              <a:t>SSVF Financial Assistance</a:t>
            </a:r>
          </a:p>
          <a:p>
            <a:pPr>
              <a:defRPr/>
            </a:pPr>
            <a:r>
              <a:rPr lang="en-US" sz="3000" i="1" dirty="0">
                <a:solidFill>
                  <a:schemeClr val="bg1"/>
                </a:solidFill>
                <a:effectLst>
                  <a:outerShdw blurRad="38100" dist="38100" dir="2700000" algn="tl">
                    <a:srgbClr val="000000">
                      <a:alpha val="43137"/>
                    </a:srgbClr>
                  </a:outerShdw>
                </a:effectLst>
                <a:latin typeface="+mj-lt"/>
                <a:cs typeface="+mn-cs"/>
              </a:rPr>
              <a:t>(limited to 30% of budget)</a:t>
            </a:r>
            <a:endParaRPr lang="en-US" sz="2000" i="1" dirty="0">
              <a:solidFill>
                <a:schemeClr val="bg1"/>
              </a:solidFill>
              <a:effectLst>
                <a:outerShdw blurRad="38100" dist="38100" dir="2700000" algn="tl">
                  <a:srgbClr val="000000">
                    <a:alpha val="43137"/>
                  </a:srgbClr>
                </a:outerShdw>
              </a:effectLst>
              <a:latin typeface="+mj-lt"/>
              <a:cs typeface="+mn-cs"/>
            </a:endParaRPr>
          </a:p>
        </p:txBody>
      </p:sp>
      <p:graphicFrame>
        <p:nvGraphicFramePr>
          <p:cNvPr id="306250" name="Group 74"/>
          <p:cNvGraphicFramePr>
            <a:graphicFrameLocks noGrp="1"/>
          </p:cNvGraphicFramePr>
          <p:nvPr/>
        </p:nvGraphicFramePr>
        <p:xfrm>
          <a:off x="228600" y="1198563"/>
          <a:ext cx="8686800" cy="4742713"/>
        </p:xfrm>
        <a:graphic>
          <a:graphicData uri="http://schemas.openxmlformats.org/drawingml/2006/table">
            <a:tbl>
              <a:tblPr/>
              <a:tblGrid>
                <a:gridCol w="2613025"/>
                <a:gridCol w="6073775"/>
              </a:tblGrid>
              <a:tr h="632659">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0" lang="en-US" sz="1800" b="1" i="0" u="none" strike="noStrike" cap="none" normalizeH="0" baseline="0" dirty="0" smtClean="0">
                          <a:ln>
                            <a:noFill/>
                          </a:ln>
                          <a:solidFill>
                            <a:schemeClr val="tx1"/>
                          </a:solidFill>
                          <a:effectLst/>
                          <a:latin typeface="AvantGarde" pitchFamily="34" charset="0"/>
                        </a:rPr>
                        <a:t>Type of Temporary Financial Assistance</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Tx/>
                        <a:buFontTx/>
                        <a:buNone/>
                        <a:tabLst/>
                      </a:pPr>
                      <a:r>
                        <a:rPr kumimoji="0" lang="en-US" sz="1800" b="1" i="0" u="none" strike="noStrike" cap="none" normalizeH="0" baseline="0" dirty="0" smtClean="0">
                          <a:ln>
                            <a:noFill/>
                          </a:ln>
                          <a:solidFill>
                            <a:schemeClr val="tx1"/>
                          </a:solidFill>
                          <a:effectLst/>
                          <a:latin typeface="AvantGarde" pitchFamily="34" charset="0"/>
                        </a:rPr>
                        <a:t>Time/Amount Limitation</a:t>
                      </a: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chemeClr val="bg1">
                        <a:lumMod val="95000"/>
                      </a:schemeClr>
                    </a:solidFill>
                  </a:tcPr>
                </a:tc>
              </a:tr>
              <a:tr h="648037">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0" lang="en-US" sz="1800" b="0" i="0" u="none" strike="noStrike" cap="none" normalizeH="0" baseline="0" dirty="0" smtClean="0">
                          <a:ln>
                            <a:noFill/>
                          </a:ln>
                          <a:solidFill>
                            <a:schemeClr val="tx1"/>
                          </a:solidFill>
                          <a:effectLst/>
                          <a:latin typeface="AvantGarde" pitchFamily="34" charset="0"/>
                        </a:rPr>
                        <a:t>Rental Assistance*</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0" lang="en-US" sz="1800" b="0" i="0" u="none" strike="noStrike" cap="none" normalizeH="0" baseline="0" dirty="0" smtClean="0">
                          <a:ln>
                            <a:noFill/>
                          </a:ln>
                          <a:solidFill>
                            <a:schemeClr val="tx1"/>
                          </a:solidFill>
                          <a:effectLst/>
                          <a:latin typeface="AvantGarde" pitchFamily="34" charset="0"/>
                        </a:rPr>
                        <a:t>Max. of 8 months in a 3-year period; no more than 5 months in any 12-month period</a:t>
                      </a: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632659">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0" lang="en-US" sz="1800" b="0" i="0" u="none" strike="noStrike" cap="none" normalizeH="0" baseline="0" dirty="0" smtClean="0">
                          <a:ln>
                            <a:noFill/>
                          </a:ln>
                          <a:solidFill>
                            <a:schemeClr val="tx1"/>
                          </a:solidFill>
                          <a:effectLst/>
                          <a:latin typeface="AvantGarde" pitchFamily="34" charset="0"/>
                        </a:rPr>
                        <a:t>Utility-Fee Payment* Assistance</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0" lang="en-US" sz="1800" b="0" i="0" u="none" strike="noStrike" cap="none" normalizeH="0" baseline="0" dirty="0" smtClean="0">
                          <a:ln>
                            <a:noFill/>
                          </a:ln>
                          <a:solidFill>
                            <a:schemeClr val="tx1"/>
                          </a:solidFill>
                          <a:effectLst/>
                          <a:latin typeface="AvantGarde" pitchFamily="34" charset="0"/>
                        </a:rPr>
                        <a:t>Max. of 4 months in a 3-year period; no more than 2 months in any 12-month period</a:t>
                      </a: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686887">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0" lang="en-US" sz="1800" b="0" i="0" u="none" strike="noStrike" cap="none" normalizeH="0" baseline="0" dirty="0" smtClean="0">
                          <a:ln>
                            <a:noFill/>
                          </a:ln>
                          <a:solidFill>
                            <a:schemeClr val="tx1"/>
                          </a:solidFill>
                          <a:effectLst/>
                          <a:latin typeface="AvantGarde" pitchFamily="34" charset="0"/>
                        </a:rPr>
                        <a:t>Security Deposits or Utility Deposits*</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0" lang="en-US" sz="1800" b="0" i="0" u="none" strike="noStrike" cap="none" normalizeH="0" baseline="0" dirty="0" smtClean="0">
                          <a:ln>
                            <a:noFill/>
                          </a:ln>
                          <a:solidFill>
                            <a:schemeClr val="tx1"/>
                          </a:solidFill>
                          <a:effectLst/>
                          <a:latin typeface="AvantGarde" pitchFamily="34" charset="0"/>
                        </a:rPr>
                        <a:t>Max. of 1 time in a 3-year period for security deposit; </a:t>
                      </a:r>
                    </a:p>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0" lang="en-US" sz="1800" b="0" i="0" u="none" strike="noStrike" cap="none" normalizeH="0" baseline="0" dirty="0" smtClean="0">
                          <a:ln>
                            <a:noFill/>
                          </a:ln>
                          <a:solidFill>
                            <a:schemeClr val="tx1"/>
                          </a:solidFill>
                          <a:effectLst/>
                          <a:latin typeface="AvantGarde" pitchFamily="34" charset="0"/>
                        </a:rPr>
                        <a:t>Max. of 1 time in a 3-year period for utility deposit</a:t>
                      </a: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361520">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0" lang="en-US" sz="1800" b="0" i="0" u="none" strike="noStrike" cap="none" normalizeH="0" baseline="0" dirty="0" smtClean="0">
                          <a:ln>
                            <a:noFill/>
                          </a:ln>
                          <a:solidFill>
                            <a:schemeClr val="tx1"/>
                          </a:solidFill>
                          <a:effectLst/>
                          <a:latin typeface="AvantGarde" pitchFamily="34" charset="0"/>
                        </a:rPr>
                        <a:t>Moving Costs*</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0" lang="en-US" sz="1800" b="0" i="0" u="none" strike="noStrike" cap="none" normalizeH="0" baseline="0" dirty="0" smtClean="0">
                          <a:ln>
                            <a:noFill/>
                          </a:ln>
                          <a:solidFill>
                            <a:schemeClr val="tx1"/>
                          </a:solidFill>
                          <a:effectLst/>
                          <a:latin typeface="AvantGarde" pitchFamily="34" charset="0"/>
                        </a:rPr>
                        <a:t>Max. of 1 time in a 3-year period</a:t>
                      </a: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407965">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0" lang="en-US" sz="1800" b="0" i="0" u="none" strike="noStrike" cap="none" normalizeH="0" baseline="0" dirty="0" smtClean="0">
                          <a:ln>
                            <a:noFill/>
                          </a:ln>
                          <a:solidFill>
                            <a:schemeClr val="tx1"/>
                          </a:solidFill>
                          <a:effectLst/>
                          <a:latin typeface="AvantGarde" pitchFamily="34" charset="0"/>
                        </a:rPr>
                        <a:t>Emergency Supplies*</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0" lang="en-US" sz="1800" b="0" i="0" u="none" strike="noStrike" cap="none" normalizeH="0" baseline="0" dirty="0" smtClean="0">
                          <a:ln>
                            <a:noFill/>
                          </a:ln>
                          <a:solidFill>
                            <a:schemeClr val="tx1"/>
                          </a:solidFill>
                          <a:effectLst/>
                          <a:latin typeface="AvantGarde" pitchFamily="34" charset="0"/>
                        </a:rPr>
                        <a:t>Max. $500 during a 3-year period</a:t>
                      </a: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376583">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0" lang="en-US" sz="1800" b="0" i="0" u="none" strike="noStrike" cap="none" normalizeH="0" baseline="0" dirty="0" smtClean="0">
                          <a:ln>
                            <a:noFill/>
                          </a:ln>
                          <a:solidFill>
                            <a:schemeClr val="tx1"/>
                          </a:solidFill>
                          <a:effectLst/>
                          <a:latin typeface="AvantGarde" pitchFamily="34" charset="0"/>
                        </a:rPr>
                        <a:t>Child Care**</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0" lang="en-US" sz="1800" b="0" i="0" u="none" strike="noStrike" cap="none" normalizeH="0" baseline="0" dirty="0" smtClean="0">
                          <a:ln>
                            <a:noFill/>
                          </a:ln>
                          <a:solidFill>
                            <a:schemeClr val="tx1"/>
                          </a:solidFill>
                          <a:effectLst/>
                          <a:latin typeface="AvantGarde" pitchFamily="34" charset="0"/>
                        </a:rPr>
                        <a:t>Max. of 4 months in a 12-month period</a:t>
                      </a: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958027">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0" lang="en-US" sz="1800" b="0" i="0" u="none" strike="noStrike" cap="none" normalizeH="0" baseline="0" dirty="0" smtClean="0">
                          <a:ln>
                            <a:noFill/>
                          </a:ln>
                          <a:solidFill>
                            <a:schemeClr val="tx1"/>
                          </a:solidFill>
                          <a:effectLst/>
                          <a:latin typeface="AvantGarde" pitchFamily="34" charset="0"/>
                        </a:rPr>
                        <a:t>Transportation**</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0" lang="en-US" sz="1800" b="0" i="0" u="none" strike="noStrike" cap="none" normalizeH="0" baseline="0" dirty="0" smtClean="0">
                          <a:ln>
                            <a:noFill/>
                          </a:ln>
                          <a:solidFill>
                            <a:schemeClr val="tx1"/>
                          </a:solidFill>
                          <a:effectLst/>
                          <a:latin typeface="AvantGarde" pitchFamily="34" charset="0"/>
                        </a:rPr>
                        <a:t>Tokens, vouchers, etc. – no time limit</a:t>
                      </a:r>
                    </a:p>
                    <a:p>
                      <a:pPr marL="0" marR="0" lvl="0" indent="0" algn="l" defTabSz="914400" rtl="0" eaLnBrk="0" fontAlgn="base" latinLnBrk="0" hangingPunct="0">
                        <a:lnSpc>
                          <a:spcPct val="100000"/>
                        </a:lnSpc>
                        <a:spcBef>
                          <a:spcPct val="20000"/>
                        </a:spcBef>
                        <a:spcAft>
                          <a:spcPct val="0"/>
                        </a:spcAft>
                        <a:buClr>
                          <a:srgbClr val="0000FF"/>
                        </a:buClr>
                        <a:buSzTx/>
                        <a:buFontTx/>
                        <a:buNone/>
                        <a:tabLst/>
                      </a:pPr>
                      <a:r>
                        <a:rPr kumimoji="0" lang="en-US" sz="1800" b="0" i="0" u="none" strike="noStrike" cap="none" normalizeH="0" baseline="0" dirty="0" smtClean="0">
                          <a:ln>
                            <a:noFill/>
                          </a:ln>
                          <a:solidFill>
                            <a:schemeClr val="tx1"/>
                          </a:solidFill>
                          <a:effectLst/>
                          <a:latin typeface="AvantGarde" pitchFamily="34" charset="0"/>
                        </a:rPr>
                        <a:t>Car repairs/maintenance – max. of $1,000 during 3-year period</a:t>
                      </a: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r>
            </a:tbl>
          </a:graphicData>
        </a:graphic>
      </p:graphicFrame>
      <p:sp>
        <p:nvSpPr>
          <p:cNvPr id="79904" name="Text Box 70"/>
          <p:cNvSpPr txBox="1">
            <a:spLocks noChangeArrowheads="1"/>
          </p:cNvSpPr>
          <p:nvPr/>
        </p:nvSpPr>
        <p:spPr bwMode="auto">
          <a:xfrm>
            <a:off x="381000" y="6116638"/>
            <a:ext cx="8534400" cy="546100"/>
          </a:xfrm>
          <a:prstGeom prst="rect">
            <a:avLst/>
          </a:prstGeom>
          <a:noFill/>
          <a:ln w="25400">
            <a:noFill/>
            <a:miter lim="800000"/>
            <a:headEnd/>
            <a:tailEnd type="none" w="lg" len="lg"/>
          </a:ln>
        </p:spPr>
        <p:txBody>
          <a:bodyPr>
            <a:spAutoFit/>
          </a:bodyPr>
          <a:lstStyle/>
          <a:p>
            <a:pPr>
              <a:lnSpc>
                <a:spcPct val="75000"/>
              </a:lnSpc>
              <a:spcBef>
                <a:spcPct val="25000"/>
              </a:spcBef>
            </a:pPr>
            <a:r>
              <a:rPr lang="en-US" sz="1600" b="0">
                <a:latin typeface="AvantGarde"/>
              </a:rPr>
              <a:t>*See §</a:t>
            </a:r>
            <a:r>
              <a:rPr lang="en-US" b="0">
                <a:latin typeface="AvantGarde"/>
              </a:rPr>
              <a:t> </a:t>
            </a:r>
            <a:r>
              <a:rPr lang="en-US" sz="1600" b="0">
                <a:latin typeface="AvantGarde"/>
              </a:rPr>
              <a:t>62.34 of Final Rule for additional requirements and restrictions.</a:t>
            </a:r>
          </a:p>
          <a:p>
            <a:pPr>
              <a:lnSpc>
                <a:spcPct val="75000"/>
              </a:lnSpc>
              <a:spcBef>
                <a:spcPct val="25000"/>
              </a:spcBef>
            </a:pPr>
            <a:r>
              <a:rPr lang="en-US" sz="1600" b="0">
                <a:latin typeface="AvantGarde"/>
              </a:rPr>
              <a:t>**See §</a:t>
            </a:r>
            <a:r>
              <a:rPr lang="en-US" sz="1600">
                <a:latin typeface="AvantGarde"/>
              </a:rPr>
              <a:t> </a:t>
            </a:r>
            <a:r>
              <a:rPr lang="en-US" sz="1600" b="0">
                <a:latin typeface="AvantGarde"/>
              </a:rPr>
              <a:t>62.33 of Final Rule for additional requirements and restrictions.</a:t>
            </a:r>
          </a:p>
        </p:txBody>
      </p:sp>
      <p:sp>
        <p:nvSpPr>
          <p:cNvPr id="79905" name="TextBox 6"/>
          <p:cNvSpPr txBox="1">
            <a:spLocks noChangeArrowheads="1"/>
          </p:cNvSpPr>
          <p:nvPr/>
        </p:nvSpPr>
        <p:spPr bwMode="auto">
          <a:xfrm>
            <a:off x="520700" y="236538"/>
            <a:ext cx="992188" cy="369887"/>
          </a:xfrm>
          <a:prstGeom prst="rect">
            <a:avLst/>
          </a:prstGeom>
          <a:noFill/>
          <a:ln w="9525">
            <a:noFill/>
            <a:miter lim="800000"/>
            <a:headEnd/>
            <a:tailEnd/>
          </a:ln>
        </p:spPr>
        <p:txBody>
          <a:bodyPr>
            <a:spAutoFit/>
          </a:bodyPr>
          <a:lstStyle/>
          <a:p>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3"/>
          <p:cNvSpPr txBox="1">
            <a:spLocks noGrp="1"/>
          </p:cNvSpPr>
          <p:nvPr/>
        </p:nvSpPr>
        <p:spPr bwMode="auto">
          <a:xfrm>
            <a:off x="7239000" y="6629400"/>
            <a:ext cx="1905000" cy="457200"/>
          </a:xfrm>
          <a:prstGeom prst="rect">
            <a:avLst/>
          </a:prstGeom>
          <a:noFill/>
          <a:ln w="9525">
            <a:noFill/>
            <a:miter lim="800000"/>
            <a:headEnd/>
            <a:tailEnd/>
          </a:ln>
        </p:spPr>
        <p:txBody>
          <a:bodyPr lIns="91427" tIns="45713" rIns="91427" bIns="45713"/>
          <a:lstStyle/>
          <a:p>
            <a:pPr algn="r"/>
            <a:endParaRPr lang="en-US" sz="1400" b="0">
              <a:latin typeface="Arial" charset="0"/>
            </a:endParaRPr>
          </a:p>
        </p:txBody>
      </p:sp>
      <p:sp>
        <p:nvSpPr>
          <p:cNvPr id="1077252" name="Rectangle 4"/>
          <p:cNvSpPr>
            <a:spLocks noChangeArrowheads="1"/>
          </p:cNvSpPr>
          <p:nvPr/>
        </p:nvSpPr>
        <p:spPr bwMode="auto">
          <a:xfrm>
            <a:off x="3657600" y="188913"/>
            <a:ext cx="5486400" cy="801687"/>
          </a:xfrm>
          <a:prstGeom prst="rect">
            <a:avLst/>
          </a:prstGeom>
          <a:noFill/>
          <a:ln w="9525">
            <a:noFill/>
            <a:miter lim="800000"/>
            <a:headEnd/>
            <a:tailEnd/>
          </a:ln>
          <a:effectLst/>
        </p:spPr>
        <p:txBody>
          <a:bodyPr lIns="91427" tIns="45713" rIns="91427" bIns="45713" anchor="ctr"/>
          <a:lstStyle/>
          <a:p>
            <a:r>
              <a:rPr lang="en-US" sz="3000" i="1">
                <a:solidFill>
                  <a:schemeClr val="bg1"/>
                </a:solidFill>
                <a:effectLst>
                  <a:outerShdw blurRad="38100" dist="38100" dir="2700000" algn="tl">
                    <a:srgbClr val="C0C0C0"/>
                  </a:outerShdw>
                </a:effectLst>
                <a:latin typeface="AvantGarde"/>
              </a:rPr>
              <a:t>SSVF Financial Assistance</a:t>
            </a:r>
          </a:p>
        </p:txBody>
      </p:sp>
      <p:sp>
        <p:nvSpPr>
          <p:cNvPr id="90146" name="TextBox 6"/>
          <p:cNvSpPr txBox="1">
            <a:spLocks noChangeArrowheads="1"/>
          </p:cNvSpPr>
          <p:nvPr/>
        </p:nvSpPr>
        <p:spPr bwMode="auto">
          <a:xfrm>
            <a:off x="520700" y="236538"/>
            <a:ext cx="992188" cy="369887"/>
          </a:xfrm>
          <a:prstGeom prst="rect">
            <a:avLst/>
          </a:prstGeom>
          <a:noFill/>
          <a:ln w="9525">
            <a:noFill/>
            <a:miter lim="800000"/>
            <a:headEnd/>
            <a:tailEnd/>
          </a:ln>
        </p:spPr>
        <p:txBody>
          <a:bodyPr>
            <a:spAutoFit/>
          </a:bodyPr>
          <a:lstStyle/>
          <a:p>
            <a:endParaRPr lang="en-US"/>
          </a:p>
        </p:txBody>
      </p:sp>
      <p:sp>
        <p:nvSpPr>
          <p:cNvPr id="90159" name="Rectangle 47"/>
          <p:cNvSpPr>
            <a:spLocks noGrp="1" noChangeArrowheads="1"/>
          </p:cNvSpPr>
          <p:nvPr>
            <p:ph type="body" idx="1"/>
          </p:nvPr>
        </p:nvSpPr>
        <p:spPr>
          <a:xfrm>
            <a:off x="685800" y="1295400"/>
            <a:ext cx="7772400" cy="5334000"/>
          </a:xfrm>
        </p:spPr>
        <p:txBody>
          <a:bodyPr/>
          <a:lstStyle/>
          <a:p>
            <a:pPr>
              <a:lnSpc>
                <a:spcPct val="90000"/>
              </a:lnSpc>
            </a:pPr>
            <a:r>
              <a:rPr lang="en-US" b="0" i="1" smtClean="0">
                <a:solidFill>
                  <a:schemeClr val="tx1"/>
                </a:solidFill>
              </a:rPr>
              <a:t>Funding is limited.</a:t>
            </a:r>
            <a:r>
              <a:rPr lang="en-US" b="0" smtClean="0">
                <a:solidFill>
                  <a:schemeClr val="tx1"/>
                </a:solidFill>
              </a:rPr>
              <a:t> Careful stewardship necessary for funds to last through the grant period.</a:t>
            </a:r>
          </a:p>
          <a:p>
            <a:pPr>
              <a:lnSpc>
                <a:spcPct val="90000"/>
              </a:lnSpc>
            </a:pPr>
            <a:r>
              <a:rPr lang="en-US" b="0" smtClean="0">
                <a:solidFill>
                  <a:schemeClr val="tx1"/>
                </a:solidFill>
              </a:rPr>
              <a:t>Develop clear criteria for eligibility.</a:t>
            </a:r>
          </a:p>
          <a:p>
            <a:pPr lvl="1">
              <a:lnSpc>
                <a:spcPct val="90000"/>
              </a:lnSpc>
            </a:pPr>
            <a:r>
              <a:rPr lang="en-US" smtClean="0"/>
              <a:t>Ad hoc decisions will create system where best case manager advocates get funds for clients.</a:t>
            </a:r>
          </a:p>
          <a:p>
            <a:pPr lvl="1">
              <a:lnSpc>
                <a:spcPct val="90000"/>
              </a:lnSpc>
            </a:pPr>
            <a:r>
              <a:rPr lang="en-US" smtClean="0"/>
              <a:t>Remember “but for” criteria.</a:t>
            </a:r>
          </a:p>
          <a:p>
            <a:pPr lvl="1">
              <a:lnSpc>
                <a:spcPct val="90000"/>
              </a:lnSpc>
            </a:pPr>
            <a:r>
              <a:rPr lang="en-US" smtClean="0"/>
              <a:t>Exhaust entitlements and community resources, such as TANF, first</a:t>
            </a:r>
          </a:p>
          <a:p>
            <a:pPr>
              <a:lnSpc>
                <a:spcPct val="90000"/>
              </a:lnSpc>
            </a:pPr>
            <a:r>
              <a:rPr lang="en-US" b="0" smtClean="0">
                <a:solidFill>
                  <a:schemeClr val="tx1"/>
                </a:solidFill>
              </a:rPr>
              <a:t>Support based on a sustainability plan</a:t>
            </a:r>
          </a:p>
          <a:p>
            <a:pPr lvl="1">
              <a:lnSpc>
                <a:spcPct val="90000"/>
              </a:lnSpc>
            </a:pPr>
            <a:r>
              <a:rPr lang="en-US" smtClean="0"/>
              <a:t>What happens when subsidies end?</a:t>
            </a:r>
          </a:p>
          <a:p>
            <a:pPr lvl="1">
              <a:lnSpc>
                <a:spcPct val="90000"/>
              </a:lnSpc>
            </a:pPr>
            <a:r>
              <a:rPr lang="en-US" smtClean="0"/>
              <a:t>What can Veteran contribute, even if modest amount?</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3505200" y="0"/>
            <a:ext cx="5638800" cy="990600"/>
          </a:xfrm>
        </p:spPr>
        <p:txBody>
          <a:bodyPr>
            <a:normAutofit/>
          </a:bodyPr>
          <a:lstStyle/>
          <a:p>
            <a:pPr>
              <a:defRPr/>
            </a:pPr>
            <a:r>
              <a:rPr lang="en-US" sz="3200" b="1" dirty="0" smtClean="0">
                <a:solidFill>
                  <a:schemeClr val="bg1"/>
                </a:solidFill>
              </a:rPr>
              <a:t>Overview of SSVF Program</a:t>
            </a:r>
            <a:endParaRPr lang="en-US" sz="3200" b="1" dirty="0">
              <a:solidFill>
                <a:schemeClr val="bg1"/>
              </a:solidFill>
            </a:endParaRPr>
          </a:p>
        </p:txBody>
      </p:sp>
      <p:graphicFrame>
        <p:nvGraphicFramePr>
          <p:cNvPr id="1231874" name="Group 2"/>
          <p:cNvGraphicFramePr>
            <a:graphicFrameLocks noGrp="1"/>
          </p:cNvGraphicFramePr>
          <p:nvPr>
            <p:ph idx="1"/>
          </p:nvPr>
        </p:nvGraphicFramePr>
        <p:xfrm>
          <a:off x="457200" y="1600200"/>
          <a:ext cx="8229600" cy="990600"/>
        </p:xfrm>
        <a:graphic>
          <a:graphicData uri="http://schemas.openxmlformats.org/drawingml/2006/table">
            <a:tbl>
              <a:tblPr/>
              <a:tblGrid>
                <a:gridCol w="4296335"/>
                <a:gridCol w="3933265"/>
              </a:tblGrid>
              <a:tr h="990600">
                <a:tc>
                  <a:txBody>
                    <a:bodyPr/>
                    <a:lstStyle/>
                    <a:p>
                      <a:pPr marL="228600" marR="0" lvl="0" indent="-228600" algn="l" defTabSz="914400" rtl="0" eaLnBrk="1" fontAlgn="base" latinLnBrk="0" hangingPunct="1">
                        <a:lnSpc>
                          <a:spcPct val="9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vantGarde" pitchFamily="34" charset="0"/>
                      </a:endParaRPr>
                    </a:p>
                  </a:txBody>
                  <a:tcPr marL="96819" marR="96819" horzOverflow="overflow">
                    <a:lnL cap="flat">
                      <a:noFill/>
                    </a:lnL>
                    <a:lnR>
                      <a:noFill/>
                    </a:lnR>
                    <a:lnT cap="flat">
                      <a:noFill/>
                    </a:lnT>
                    <a:lnB cap="flat">
                      <a:noFill/>
                    </a:lnB>
                    <a:lnTlToBr>
                      <a:noFill/>
                    </a:lnTlToBr>
                    <a:lnBlToTr>
                      <a:noFill/>
                    </a:lnBlToTr>
                    <a:noFill/>
                  </a:tcPr>
                </a:tc>
                <a:tc>
                  <a:txBody>
                    <a:bodyPr/>
                    <a:lstStyle/>
                    <a:p>
                      <a:pPr marL="228600" marR="0" lvl="0" indent="-228600" algn="l" defTabSz="914400" rtl="0" eaLnBrk="1" fontAlgn="base" latinLnBrk="0" hangingPunct="1">
                        <a:lnSpc>
                          <a:spcPct val="9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vantGarde" pitchFamily="34" charset="0"/>
                      </a:endParaRPr>
                    </a:p>
                  </a:txBody>
                  <a:tcPr marL="96819" marR="96819" horzOverflow="overflow">
                    <a:lnL>
                      <a:noFill/>
                    </a:lnL>
                    <a:lnR cap="flat">
                      <a:noFill/>
                    </a:lnR>
                    <a:lnT cap="flat">
                      <a:noFill/>
                    </a:lnT>
                    <a:lnB cap="flat">
                      <a:noFill/>
                    </a:lnB>
                    <a:lnTlToBr>
                      <a:noFill/>
                    </a:lnTlToBr>
                    <a:lnBlToTr>
                      <a:noFill/>
                    </a:lnBlToTr>
                    <a:noFill/>
                  </a:tcPr>
                </a:tc>
              </a:tr>
            </a:tbl>
          </a:graphicData>
        </a:graphic>
      </p:graphicFrame>
      <p:sp>
        <p:nvSpPr>
          <p:cNvPr id="8198" name="Rectangle 11"/>
          <p:cNvSpPr>
            <a:spLocks noChangeArrowheads="1"/>
          </p:cNvSpPr>
          <p:nvPr/>
        </p:nvSpPr>
        <p:spPr bwMode="auto">
          <a:xfrm>
            <a:off x="152400" y="1066800"/>
            <a:ext cx="8686800" cy="8372475"/>
          </a:xfrm>
          <a:prstGeom prst="rect">
            <a:avLst/>
          </a:prstGeom>
          <a:noFill/>
          <a:ln w="25400">
            <a:noFill/>
            <a:miter lim="800000"/>
            <a:headEnd/>
            <a:tailEnd type="none" w="lg" len="lg"/>
          </a:ln>
        </p:spPr>
        <p:txBody>
          <a:bodyPr>
            <a:spAutoFit/>
          </a:bodyPr>
          <a:lstStyle/>
          <a:p>
            <a:pPr marL="236538" indent="-236538"/>
            <a:r>
              <a:rPr lang="en-US" b="0" u="sng">
                <a:latin typeface="AvantGarde"/>
              </a:rPr>
              <a:t>How SSVF Complements Other Programs</a:t>
            </a:r>
          </a:p>
          <a:p>
            <a:pPr marL="236538" indent="-236538"/>
            <a:endParaRPr lang="en-US" b="0">
              <a:latin typeface="AvantGarde"/>
            </a:endParaRPr>
          </a:p>
          <a:p>
            <a:pPr marL="236538" indent="-236538"/>
            <a:r>
              <a:rPr lang="en-US" b="0">
                <a:latin typeface="AvantGarde"/>
              </a:rPr>
              <a:t>In addition to VA supports, SSVF grantees access universal prevention services, entitlements, and other available community resources.</a:t>
            </a:r>
          </a:p>
          <a:p>
            <a:pPr marL="236538" indent="-236538"/>
            <a:endParaRPr lang="en-US">
              <a:latin typeface="AvantGarde"/>
            </a:endParaRPr>
          </a:p>
          <a:p>
            <a:pPr marL="236538" indent="-236538">
              <a:buFont typeface="Arial" charset="0"/>
              <a:buChar char="•"/>
            </a:pPr>
            <a:r>
              <a:rPr lang="en-US">
                <a:latin typeface="AvantGarde"/>
              </a:rPr>
              <a:t>  </a:t>
            </a:r>
            <a:r>
              <a:rPr lang="en-US" b="0">
                <a:latin typeface="AvantGarde"/>
              </a:rPr>
              <a:t>National Foundation for Credit Counseling, </a:t>
            </a:r>
            <a:r>
              <a:rPr lang="en-US" b="0">
                <a:latin typeface="AvantGarde"/>
                <a:hlinkClick r:id="rId3"/>
              </a:rPr>
              <a:t>www.nfcc.org</a:t>
            </a:r>
            <a:r>
              <a:rPr lang="en-US" b="0">
                <a:latin typeface="AvantGarde"/>
              </a:rPr>
              <a:t>, a   </a:t>
            </a:r>
          </a:p>
          <a:p>
            <a:pPr marL="236538" indent="-236538"/>
            <a:r>
              <a:rPr lang="en-US" b="0">
                <a:latin typeface="AvantGarde"/>
              </a:rPr>
              <a:t>    counselor can be reached at (800)388-2227</a:t>
            </a:r>
          </a:p>
          <a:p>
            <a:pPr marL="236538" indent="-236538">
              <a:buFont typeface="Arial" charset="0"/>
              <a:buChar char="•"/>
            </a:pPr>
            <a:r>
              <a:rPr lang="en-US" b="0">
                <a:latin typeface="AvantGarde"/>
              </a:rPr>
              <a:t>  Legal Assistance: </a:t>
            </a:r>
            <a:r>
              <a:rPr lang="en-US" b="0">
                <a:latin typeface="AvantGarde"/>
                <a:hlinkClick r:id="rId4"/>
              </a:rPr>
              <a:t>www.lawhelp.org</a:t>
            </a:r>
            <a:r>
              <a:rPr lang="en-US" b="0">
                <a:latin typeface="AvantGarde"/>
              </a:rPr>
              <a:t> and   </a:t>
            </a:r>
          </a:p>
          <a:p>
            <a:pPr marL="236538" indent="-236538">
              <a:buFont typeface="Arial" charset="0"/>
              <a:buNone/>
            </a:pPr>
            <a:r>
              <a:rPr lang="en-US" b="0">
                <a:latin typeface="AvantGarde"/>
              </a:rPr>
              <a:t>     </a:t>
            </a:r>
            <a:r>
              <a:rPr lang="en-US" b="0">
                <a:latin typeface="AvantGarde"/>
                <a:hlinkClick r:id="rId5"/>
              </a:rPr>
              <a:t>http://statesidelegal.org</a:t>
            </a:r>
            <a:r>
              <a:rPr lang="en-US" b="0">
                <a:latin typeface="AvantGarde"/>
              </a:rPr>
              <a:t>  </a:t>
            </a:r>
          </a:p>
          <a:p>
            <a:pPr marL="236538" indent="-236538">
              <a:buFont typeface="Arial" charset="0"/>
              <a:buChar char="•"/>
            </a:pPr>
            <a:r>
              <a:rPr lang="en-US" b="0">
                <a:latin typeface="AvantGarde"/>
              </a:rPr>
              <a:t>  SOAR (SSI/SSD): </a:t>
            </a:r>
          </a:p>
          <a:p>
            <a:pPr marL="236538" indent="-236538">
              <a:buFont typeface="Arial" charset="0"/>
              <a:buNone/>
            </a:pPr>
            <a:r>
              <a:rPr lang="en-US" b="0">
                <a:latin typeface="AvantGarde"/>
              </a:rPr>
              <a:t>     </a:t>
            </a:r>
            <a:r>
              <a:rPr lang="en-US" b="0">
                <a:latin typeface="AvantGarde"/>
                <a:hlinkClick r:id="rId6"/>
              </a:rPr>
              <a:t>www.prainc.com/SOAR/soar101/states.asp</a:t>
            </a:r>
            <a:r>
              <a:rPr lang="en-US" b="0">
                <a:latin typeface="AvantGarde"/>
              </a:rPr>
              <a:t> </a:t>
            </a:r>
          </a:p>
          <a:p>
            <a:pPr marL="236538" indent="-236538">
              <a:buFont typeface="Arial" charset="0"/>
              <a:buChar char="•"/>
            </a:pPr>
            <a:r>
              <a:rPr lang="en-US" b="0">
                <a:latin typeface="AvantGarde"/>
              </a:rPr>
              <a:t>  Resource Directory: </a:t>
            </a:r>
            <a:r>
              <a:rPr lang="en-US" b="0">
                <a:latin typeface="AvantGarde"/>
                <a:hlinkClick r:id="rId7"/>
              </a:rPr>
              <a:t>www.nationalresourcedirectory.gov</a:t>
            </a:r>
            <a:endParaRPr lang="en-US" b="0">
              <a:latin typeface="AvantGarde"/>
            </a:endParaRPr>
          </a:p>
          <a:p>
            <a:pPr marL="236538" indent="-236538">
              <a:buFont typeface="Arial" charset="0"/>
              <a:buChar char="•"/>
            </a:pPr>
            <a:r>
              <a:rPr lang="en-US" b="0">
                <a:latin typeface="AvantGarde"/>
              </a:rPr>
              <a:t>  Available income, health, educational and other supportive</a:t>
            </a:r>
            <a:r>
              <a:rPr lang="en-US">
                <a:latin typeface="AvantGarde"/>
              </a:rPr>
              <a:t>  </a:t>
            </a:r>
          </a:p>
          <a:p>
            <a:pPr marL="236538" indent="-236538"/>
            <a:r>
              <a:rPr lang="en-US">
                <a:latin typeface="AvantGarde"/>
              </a:rPr>
              <a:t>     </a:t>
            </a:r>
            <a:r>
              <a:rPr lang="en-US" b="0">
                <a:latin typeface="AvantGarde"/>
              </a:rPr>
              <a:t>services benefits: </a:t>
            </a:r>
            <a:r>
              <a:rPr lang="en-US" b="0">
                <a:latin typeface="AvantGarde"/>
                <a:hlinkClick r:id="rId8"/>
              </a:rPr>
              <a:t>www.govbenefits.gov</a:t>
            </a:r>
            <a:r>
              <a:rPr lang="en-US" b="0">
                <a:latin typeface="AvantGarde"/>
              </a:rPr>
              <a:t> </a:t>
            </a:r>
          </a:p>
          <a:p>
            <a:pPr marL="236538" indent="-236538">
              <a:buFont typeface="Arial" charset="0"/>
              <a:buChar char="•"/>
            </a:pPr>
            <a:endParaRPr lang="en-US">
              <a:latin typeface="AvantGarde"/>
            </a:endParaRPr>
          </a:p>
          <a:p>
            <a:pPr marL="236538" indent="-236538">
              <a:buFont typeface="Arial" charset="0"/>
              <a:buChar char="•"/>
            </a:pPr>
            <a:endParaRPr lang="en-US" sz="2000" b="0">
              <a:latin typeface="AvantGarde"/>
            </a:endParaRPr>
          </a:p>
          <a:p>
            <a:pPr marL="236538" indent="-236538"/>
            <a:endParaRPr lang="en-US" sz="2000" b="0">
              <a:latin typeface="AvantGarde"/>
            </a:endParaRPr>
          </a:p>
          <a:p>
            <a:pPr marL="236538" indent="-236538"/>
            <a:endParaRPr lang="en-US" sz="2000" b="0">
              <a:latin typeface="AvantGarde"/>
            </a:endParaRPr>
          </a:p>
          <a:p>
            <a:pPr marL="236538" indent="-236538"/>
            <a:endParaRPr lang="en-US" sz="2000" b="0">
              <a:latin typeface="AvantGarde"/>
            </a:endParaRPr>
          </a:p>
          <a:p>
            <a:pPr marL="236538" indent="-236538"/>
            <a:endParaRPr lang="en-US" sz="2000" b="0">
              <a:latin typeface="AvantGarde"/>
            </a:endParaRPr>
          </a:p>
          <a:p>
            <a:pPr marL="236538" indent="-236538"/>
            <a:endParaRPr lang="en-US" sz="2000">
              <a:latin typeface="AvantGarde"/>
            </a:endParaRPr>
          </a:p>
          <a:p>
            <a:pPr marL="236538" indent="-236538"/>
            <a:endParaRPr lang="en-US" sz="2000" b="0">
              <a:latin typeface="AvantGarde"/>
            </a:endParaRPr>
          </a:p>
          <a:p>
            <a:pPr marL="236538" indent="-236538"/>
            <a:r>
              <a:rPr lang="en-US" sz="2000" b="0">
                <a:latin typeface="AvantGarde"/>
              </a:rPr>
              <a:t> </a:t>
            </a:r>
          </a:p>
        </p:txBody>
      </p:sp>
      <p:sp>
        <p:nvSpPr>
          <p:cNvPr id="1231885" name="Rectangle 13"/>
          <p:cNvSpPr>
            <a:spLocks noChangeArrowheads="1"/>
          </p:cNvSpPr>
          <p:nvPr/>
        </p:nvSpPr>
        <p:spPr bwMode="auto">
          <a:xfrm>
            <a:off x="533400" y="0"/>
            <a:ext cx="6259513" cy="1230313"/>
          </a:xfrm>
          <a:prstGeom prst="rect">
            <a:avLst/>
          </a:prstGeom>
          <a:noFill/>
          <a:ln w="9525">
            <a:noFill/>
            <a:miter lim="800000"/>
            <a:headEnd/>
            <a:tailEnd/>
          </a:ln>
          <a:effectLst/>
        </p:spPr>
        <p:txBody>
          <a:bodyPr lIns="91427" tIns="45713" rIns="91427" bIns="45713" anchor="ctr"/>
          <a:lstStyle/>
          <a:p>
            <a:pPr algn="r">
              <a:defRPr/>
            </a:pPr>
            <a:r>
              <a:rPr lang="en-US" sz="3000" i="1" dirty="0">
                <a:solidFill>
                  <a:schemeClr val="bg1"/>
                </a:solidFill>
                <a:effectLst>
                  <a:outerShdw blurRad="38100" dist="38100" dir="2700000" algn="tl">
                    <a:srgbClr val="C0C0C0"/>
                  </a:outerShdw>
                </a:effectLst>
                <a:latin typeface="AvantGarde" pitchFamily="34" charset="0"/>
                <a:cs typeface="+mn-cs"/>
              </a:rPr>
              <a:t>  </a:t>
            </a:r>
            <a:endParaRPr lang="en-US" sz="3600" dirty="0">
              <a:latin typeface="AvantGarde" pitchFamily="34" charset="0"/>
              <a:cs typeface="+mn-cs"/>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4"/>
          <p:cNvSpPr>
            <a:spLocks noGrp="1" noChangeArrowheads="1"/>
          </p:cNvSpPr>
          <p:nvPr>
            <p:ph type="title"/>
          </p:nvPr>
        </p:nvSpPr>
        <p:spPr>
          <a:xfrm>
            <a:off x="228600" y="966788"/>
            <a:ext cx="8610600" cy="838200"/>
          </a:xfrm>
        </p:spPr>
        <p:txBody>
          <a:bodyPr/>
          <a:lstStyle/>
          <a:p>
            <a:r>
              <a:rPr lang="en-US" sz="2000" b="1" i="0" smtClean="0">
                <a:solidFill>
                  <a:schemeClr val="hlink"/>
                </a:solidFill>
                <a:effectLst/>
              </a:rPr>
              <a:t>Requirements for the Use of SSVF Grant Funds</a:t>
            </a:r>
          </a:p>
        </p:txBody>
      </p:sp>
      <p:sp>
        <p:nvSpPr>
          <p:cNvPr id="1225732" name="Rectangle 4"/>
          <p:cNvSpPr>
            <a:spLocks noChangeArrowheads="1"/>
          </p:cNvSpPr>
          <p:nvPr/>
        </p:nvSpPr>
        <p:spPr bwMode="auto">
          <a:xfrm>
            <a:off x="3505200" y="0"/>
            <a:ext cx="5638800" cy="990600"/>
          </a:xfrm>
          <a:prstGeom prst="rect">
            <a:avLst/>
          </a:prstGeom>
          <a:noFill/>
          <a:ln w="9525">
            <a:noFill/>
            <a:miter lim="800000"/>
            <a:headEnd/>
            <a:tailEnd/>
          </a:ln>
          <a:effectLst/>
        </p:spPr>
        <p:txBody>
          <a:bodyPr lIns="91427" tIns="45713" rIns="91427" bIns="45713" anchor="ctr"/>
          <a:lstStyle/>
          <a:p>
            <a:pPr algn="r">
              <a:defRPr/>
            </a:pPr>
            <a:r>
              <a:rPr lang="en-US" sz="3000" i="1" dirty="0">
                <a:solidFill>
                  <a:schemeClr val="bg1"/>
                </a:solidFill>
                <a:effectLst>
                  <a:outerShdw blurRad="38100" dist="38100" dir="2700000" algn="tl">
                    <a:srgbClr val="C0C0C0"/>
                  </a:outerShdw>
                </a:effectLst>
                <a:latin typeface="AvantGarde" pitchFamily="34" charset="0"/>
                <a:cs typeface="+mn-cs"/>
              </a:rPr>
              <a:t>Uses of SSVF Grant Funds</a:t>
            </a:r>
          </a:p>
        </p:txBody>
      </p:sp>
      <p:sp>
        <p:nvSpPr>
          <p:cNvPr id="1029" name="Rectangle 7"/>
          <p:cNvSpPr>
            <a:spLocks noChangeArrowheads="1"/>
          </p:cNvSpPr>
          <p:nvPr/>
        </p:nvSpPr>
        <p:spPr bwMode="auto">
          <a:xfrm>
            <a:off x="304800" y="5715000"/>
            <a:ext cx="8458200" cy="730250"/>
          </a:xfrm>
          <a:prstGeom prst="rect">
            <a:avLst/>
          </a:prstGeom>
          <a:noFill/>
          <a:ln w="25400">
            <a:noFill/>
            <a:miter lim="800000"/>
            <a:headEnd/>
            <a:tailEnd type="none" w="lg" len="lg"/>
          </a:ln>
        </p:spPr>
        <p:txBody>
          <a:bodyPr>
            <a:spAutoFit/>
          </a:bodyPr>
          <a:lstStyle/>
          <a:p>
            <a:pPr eaLnBrk="0" hangingPunct="0">
              <a:spcBef>
                <a:spcPct val="20000"/>
              </a:spcBef>
              <a:buClr>
                <a:srgbClr val="0000FF"/>
              </a:buClr>
            </a:pPr>
            <a:r>
              <a:rPr lang="en-US" sz="1400" b="0">
                <a:solidFill>
                  <a:srgbClr val="000000"/>
                </a:solidFill>
                <a:latin typeface="AvantGarde"/>
              </a:rPr>
              <a:t>*Note: Once placed, a category 2 or 3 participant, becomes a category 1 participant. For budgeting purposes, there is a 30 day transition period where previously homeless Veterans</a:t>
            </a:r>
            <a:r>
              <a:rPr lang="en-US" sz="1400">
                <a:latin typeface="AvantGarde"/>
              </a:rPr>
              <a:t> </a:t>
            </a:r>
            <a:r>
              <a:rPr lang="en-US" sz="1400" b="0">
                <a:latin typeface="AvantGarde"/>
              </a:rPr>
              <a:t>can still be expensed as a category 2 or 3 participant before these expenses must be shifted to Category 1.</a:t>
            </a:r>
            <a:endParaRPr lang="en-US" sz="1400">
              <a:latin typeface="AvantGarde"/>
            </a:endParaRPr>
          </a:p>
        </p:txBody>
      </p:sp>
      <p:sp>
        <p:nvSpPr>
          <p:cNvPr id="1030" name="Text Box 9"/>
          <p:cNvSpPr txBox="1">
            <a:spLocks noChangeArrowheads="1"/>
          </p:cNvSpPr>
          <p:nvPr/>
        </p:nvSpPr>
        <p:spPr bwMode="auto">
          <a:xfrm>
            <a:off x="1219200" y="4267200"/>
            <a:ext cx="1371600" cy="427038"/>
          </a:xfrm>
          <a:prstGeom prst="rect">
            <a:avLst/>
          </a:prstGeom>
          <a:noFill/>
          <a:ln w="25400">
            <a:noFill/>
            <a:miter lim="800000"/>
            <a:headEnd/>
            <a:tailEnd type="none" w="lg" len="lg"/>
          </a:ln>
        </p:spPr>
        <p:txBody>
          <a:bodyPr>
            <a:spAutoFit/>
          </a:bodyPr>
          <a:lstStyle/>
          <a:p>
            <a:pPr>
              <a:spcBef>
                <a:spcPct val="50000"/>
              </a:spcBef>
            </a:pPr>
            <a:r>
              <a:rPr lang="en-US" sz="2200">
                <a:solidFill>
                  <a:schemeClr val="bg1"/>
                </a:solidFill>
                <a:latin typeface="AvantGarde"/>
              </a:rPr>
              <a:t>60-75%</a:t>
            </a:r>
          </a:p>
        </p:txBody>
      </p:sp>
      <p:sp>
        <p:nvSpPr>
          <p:cNvPr id="1031" name="Text Box 10"/>
          <p:cNvSpPr txBox="1">
            <a:spLocks noChangeArrowheads="1"/>
          </p:cNvSpPr>
          <p:nvPr/>
        </p:nvSpPr>
        <p:spPr bwMode="auto">
          <a:xfrm>
            <a:off x="1403350" y="2117725"/>
            <a:ext cx="1371600" cy="641350"/>
          </a:xfrm>
          <a:prstGeom prst="rect">
            <a:avLst/>
          </a:prstGeom>
          <a:noFill/>
          <a:ln w="25400">
            <a:noFill/>
            <a:miter lim="800000"/>
            <a:headEnd/>
            <a:tailEnd type="none" w="lg" len="lg"/>
          </a:ln>
        </p:spPr>
        <p:txBody>
          <a:bodyPr>
            <a:spAutoFit/>
          </a:bodyPr>
          <a:lstStyle/>
          <a:p>
            <a:r>
              <a:rPr lang="en-US" sz="2000">
                <a:solidFill>
                  <a:schemeClr val="bg1"/>
                </a:solidFill>
                <a:latin typeface="AvantGarde"/>
              </a:rPr>
              <a:t>&lt;10%</a:t>
            </a:r>
          </a:p>
          <a:p>
            <a:r>
              <a:rPr lang="en-US" sz="1600" b="0">
                <a:solidFill>
                  <a:schemeClr val="bg1"/>
                </a:solidFill>
                <a:latin typeface="AvantGarde"/>
              </a:rPr>
              <a:t>  Admin</a:t>
            </a:r>
          </a:p>
        </p:txBody>
      </p:sp>
      <p:graphicFrame>
        <p:nvGraphicFramePr>
          <p:cNvPr id="1026" name="Object 14"/>
          <p:cNvGraphicFramePr>
            <a:graphicFrameLocks noChangeAspect="1"/>
          </p:cNvGraphicFramePr>
          <p:nvPr>
            <p:ph idx="1"/>
          </p:nvPr>
        </p:nvGraphicFramePr>
        <p:xfrm>
          <a:off x="4763" y="1681163"/>
          <a:ext cx="8758237" cy="4049712"/>
        </p:xfrm>
        <a:graphic>
          <a:graphicData uri="http://schemas.openxmlformats.org/presentationml/2006/ole">
            <p:oleObj spid="_x0000_s1026" name="Chart" r:id="rId3" imgW="7705649" imgH="3562388" progId="MSGraph.Chart.8">
              <p:embed followColorScheme="full"/>
            </p:oleObj>
          </a:graphicData>
        </a:graphic>
      </p:graphicFrame>
      <p:sp>
        <p:nvSpPr>
          <p:cNvPr id="1032" name="Text Box 15"/>
          <p:cNvSpPr txBox="1">
            <a:spLocks noChangeArrowheads="1"/>
          </p:cNvSpPr>
          <p:nvPr/>
        </p:nvSpPr>
        <p:spPr bwMode="auto">
          <a:xfrm>
            <a:off x="2519363" y="2224088"/>
            <a:ext cx="1752600" cy="1495425"/>
          </a:xfrm>
          <a:prstGeom prst="rect">
            <a:avLst/>
          </a:prstGeom>
          <a:noFill/>
          <a:ln w="25400">
            <a:noFill/>
            <a:miter lim="800000"/>
            <a:headEnd/>
            <a:tailEnd type="none" w="lg" len="lg"/>
          </a:ln>
        </p:spPr>
        <p:txBody>
          <a:bodyPr>
            <a:spAutoFit/>
          </a:bodyPr>
          <a:lstStyle/>
          <a:p>
            <a:r>
              <a:rPr lang="en-US" sz="2000">
                <a:latin typeface="AvantGarde"/>
              </a:rPr>
              <a:t>20-35%</a:t>
            </a:r>
          </a:p>
          <a:p>
            <a:r>
              <a:rPr lang="en-US" sz="1800">
                <a:latin typeface="AvantGarde"/>
              </a:rPr>
              <a:t>(Categ. 1: Residing in Perm. Housing)</a:t>
            </a:r>
          </a:p>
        </p:txBody>
      </p:sp>
      <p:sp>
        <p:nvSpPr>
          <p:cNvPr id="1033" name="Text Box 16"/>
          <p:cNvSpPr txBox="1">
            <a:spLocks noChangeArrowheads="1"/>
          </p:cNvSpPr>
          <p:nvPr/>
        </p:nvSpPr>
        <p:spPr bwMode="auto">
          <a:xfrm>
            <a:off x="1168400" y="3495675"/>
            <a:ext cx="2971800" cy="1495425"/>
          </a:xfrm>
          <a:prstGeom prst="rect">
            <a:avLst/>
          </a:prstGeom>
          <a:noFill/>
          <a:ln w="25400">
            <a:noFill/>
            <a:miter lim="800000"/>
            <a:headEnd/>
            <a:tailEnd type="none" w="lg" len="lg"/>
          </a:ln>
        </p:spPr>
        <p:txBody>
          <a:bodyPr>
            <a:spAutoFit/>
          </a:bodyPr>
          <a:lstStyle/>
          <a:p>
            <a:pPr>
              <a:spcBef>
                <a:spcPct val="50000"/>
              </a:spcBef>
            </a:pPr>
            <a:r>
              <a:rPr lang="en-US" sz="2000">
                <a:solidFill>
                  <a:schemeClr val="bg1"/>
                </a:solidFill>
                <a:latin typeface="AvantGarde"/>
              </a:rPr>
              <a:t>60-75%</a:t>
            </a:r>
            <a:r>
              <a:rPr lang="en-US" sz="2200">
                <a:solidFill>
                  <a:schemeClr val="bg1"/>
                </a:solidFill>
                <a:latin typeface="AvantGarde"/>
              </a:rPr>
              <a:t/>
            </a:r>
            <a:br>
              <a:rPr lang="en-US" sz="2200">
                <a:solidFill>
                  <a:schemeClr val="bg1"/>
                </a:solidFill>
                <a:latin typeface="AvantGarde"/>
              </a:rPr>
            </a:br>
            <a:r>
              <a:rPr lang="en-US" sz="1800">
                <a:solidFill>
                  <a:schemeClr val="bg1"/>
                </a:solidFill>
                <a:latin typeface="AvantGarde"/>
              </a:rPr>
              <a:t>(Categs. 2 &amp; 3: </a:t>
            </a:r>
            <a:br>
              <a:rPr lang="en-US" sz="1800">
                <a:solidFill>
                  <a:schemeClr val="bg1"/>
                </a:solidFill>
                <a:latin typeface="AvantGarde"/>
              </a:rPr>
            </a:br>
            <a:r>
              <a:rPr lang="en-US" sz="1800">
                <a:solidFill>
                  <a:schemeClr val="bg1"/>
                </a:solidFill>
                <a:latin typeface="AvantGarde"/>
              </a:rPr>
              <a:t>Transitioning from Homelessness to </a:t>
            </a:r>
            <a:br>
              <a:rPr lang="en-US" sz="1800">
                <a:solidFill>
                  <a:schemeClr val="bg1"/>
                </a:solidFill>
                <a:latin typeface="AvantGarde"/>
              </a:rPr>
            </a:br>
            <a:r>
              <a:rPr lang="en-US" sz="1800">
                <a:solidFill>
                  <a:schemeClr val="bg1"/>
                </a:solidFill>
                <a:latin typeface="AvantGarde"/>
              </a:rPr>
              <a:t>Perm. Housing)</a:t>
            </a:r>
          </a:p>
        </p:txBody>
      </p:sp>
      <p:sp>
        <p:nvSpPr>
          <p:cNvPr id="1034" name="Text Box 17"/>
          <p:cNvSpPr txBox="1">
            <a:spLocks noChangeArrowheads="1"/>
          </p:cNvSpPr>
          <p:nvPr/>
        </p:nvSpPr>
        <p:spPr bwMode="auto">
          <a:xfrm>
            <a:off x="1647825" y="1990725"/>
            <a:ext cx="1295400" cy="641350"/>
          </a:xfrm>
          <a:prstGeom prst="rect">
            <a:avLst/>
          </a:prstGeom>
          <a:noFill/>
          <a:ln w="25400">
            <a:noFill/>
            <a:miter lim="800000"/>
            <a:headEnd/>
            <a:tailEnd type="none" w="lg" len="lg"/>
          </a:ln>
        </p:spPr>
        <p:txBody>
          <a:bodyPr>
            <a:spAutoFit/>
          </a:bodyPr>
          <a:lstStyle/>
          <a:p>
            <a:pPr>
              <a:spcBef>
                <a:spcPct val="50000"/>
              </a:spcBef>
            </a:pPr>
            <a:r>
              <a:rPr lang="en-US" sz="2000">
                <a:solidFill>
                  <a:schemeClr val="bg1"/>
                </a:solidFill>
                <a:latin typeface="AvantGarde"/>
              </a:rPr>
              <a:t>&lt;10%</a:t>
            </a:r>
            <a:r>
              <a:rPr lang="en-US" sz="1600">
                <a:solidFill>
                  <a:schemeClr val="bg1"/>
                </a:solidFill>
                <a:latin typeface="AvantGarde"/>
              </a:rPr>
              <a:t/>
            </a:r>
            <a:br>
              <a:rPr lang="en-US" sz="1600">
                <a:solidFill>
                  <a:schemeClr val="bg1"/>
                </a:solidFill>
                <a:latin typeface="AvantGarde"/>
              </a:rPr>
            </a:br>
            <a:r>
              <a:rPr lang="en-US" sz="1600">
                <a:solidFill>
                  <a:schemeClr val="bg1"/>
                </a:solidFill>
                <a:latin typeface="AvantGarde"/>
              </a:rPr>
              <a:t> Admin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00" y="0"/>
            <a:ext cx="5029200" cy="914400"/>
          </a:xfrm>
          <a:ln>
            <a:solidFill>
              <a:schemeClr val="accent1"/>
            </a:solidFill>
          </a:ln>
        </p:spPr>
        <p:txBody>
          <a:bodyPr/>
          <a:lstStyle/>
          <a:p>
            <a:pPr algn="r">
              <a:defRPr/>
            </a:pPr>
            <a:r>
              <a:rPr lang="en-US" b="1" dirty="0" smtClean="0">
                <a:solidFill>
                  <a:schemeClr val="bg1"/>
                </a:solidFill>
              </a:rPr>
              <a:t>Goals</a:t>
            </a:r>
            <a:endParaRPr lang="en-US" b="1" dirty="0">
              <a:solidFill>
                <a:schemeClr val="bg1"/>
              </a:solidFill>
            </a:endParaRPr>
          </a:p>
        </p:txBody>
      </p:sp>
      <p:sp>
        <p:nvSpPr>
          <p:cNvPr id="86018" name="Content Placeholder 4"/>
          <p:cNvSpPr>
            <a:spLocks noGrp="1"/>
          </p:cNvSpPr>
          <p:nvPr>
            <p:ph idx="1"/>
          </p:nvPr>
        </p:nvSpPr>
        <p:spPr>
          <a:xfrm>
            <a:off x="685800" y="1371600"/>
            <a:ext cx="7772400" cy="5105400"/>
          </a:xfrm>
        </p:spPr>
        <p:txBody>
          <a:bodyPr/>
          <a:lstStyle/>
          <a:p>
            <a:pPr>
              <a:buClrTx/>
            </a:pPr>
            <a:r>
              <a:rPr lang="en-US" b="0" smtClean="0">
                <a:solidFill>
                  <a:schemeClr val="tx1"/>
                </a:solidFill>
              </a:rPr>
              <a:t>Prevent and reduce homelessness </a:t>
            </a:r>
          </a:p>
          <a:p>
            <a:pPr>
              <a:buClrTx/>
            </a:pPr>
            <a:r>
              <a:rPr lang="en-US" b="0" smtClean="0">
                <a:solidFill>
                  <a:schemeClr val="tx1"/>
                </a:solidFill>
              </a:rPr>
              <a:t>Offer critical new element to continuum of care, a time-limited intervention focused on housing stability (not contingent on treatment &amp; rehabilitation).</a:t>
            </a:r>
          </a:p>
          <a:p>
            <a:pPr>
              <a:buClrTx/>
            </a:pPr>
            <a:r>
              <a:rPr lang="en-US" b="0" smtClean="0">
                <a:solidFill>
                  <a:schemeClr val="tx1"/>
                </a:solidFill>
              </a:rPr>
              <a:t>Identify best practices and promising approaches. Using HMIS to collect comparable data.  Implementation and impact assessed by National Center on Homelessness Among Veterans.</a:t>
            </a:r>
          </a:p>
          <a:p>
            <a:pPr>
              <a:buClrTx/>
            </a:pPr>
            <a:r>
              <a:rPr lang="en-US" b="0" smtClean="0">
                <a:solidFill>
                  <a:schemeClr val="tx1"/>
                </a:solidFill>
              </a:rPr>
              <a:t>Improve targeting.</a:t>
            </a:r>
          </a:p>
        </p:txBody>
      </p:sp>
    </p:spTree>
  </p:cSld>
  <p:clrMapOvr>
    <a:masterClrMapping/>
  </p:clrMapOvr>
</p:sld>
</file>

<file path=ppt/theme/theme1.xml><?xml version="1.0" encoding="utf-8"?>
<a:theme xmlns:a="http://schemas.openxmlformats.org/drawingml/2006/main" name="Default Design">
  <a:themeElements>
    <a:clrScheme name="Default Design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fontScheme name="Default Design">
      <a:majorFont>
        <a:latin typeface="AvantGarde"/>
        <a:ea typeface=""/>
        <a:cs typeface=""/>
      </a:majorFont>
      <a:minorFont>
        <a:latin typeface="AvantGard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triangle" w="lg" len="lg"/>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triangle" w="lg" len="lg"/>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NBBCpptTemplate">
  <a:themeElements>
    <a:clrScheme name="1_NBBCpptTemplate 8">
      <a:dk1>
        <a:srgbClr val="000000"/>
      </a:dk1>
      <a:lt1>
        <a:srgbClr val="FFFFFF"/>
      </a:lt1>
      <a:dk2>
        <a:srgbClr val="000000"/>
      </a:dk2>
      <a:lt2>
        <a:srgbClr val="808080"/>
      </a:lt2>
      <a:accent1>
        <a:srgbClr val="E65100"/>
      </a:accent1>
      <a:accent2>
        <a:srgbClr val="309E47"/>
      </a:accent2>
      <a:accent3>
        <a:srgbClr val="FFFFFF"/>
      </a:accent3>
      <a:accent4>
        <a:srgbClr val="000000"/>
      </a:accent4>
      <a:accent5>
        <a:srgbClr val="F0B3AA"/>
      </a:accent5>
      <a:accent6>
        <a:srgbClr val="2A8F3F"/>
      </a:accent6>
      <a:hlink>
        <a:srgbClr val="9CCF00"/>
      </a:hlink>
      <a:folHlink>
        <a:srgbClr val="CF0040"/>
      </a:folHlink>
    </a:clrScheme>
    <a:fontScheme name="1_NBBCpp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NBBCppt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NBBCppt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NBBCppt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NBBCppt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NBBCpp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NBBCpp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NBBCpp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NBBCpptTemplate 8">
        <a:dk1>
          <a:srgbClr val="000000"/>
        </a:dk1>
        <a:lt1>
          <a:srgbClr val="FFFFFF"/>
        </a:lt1>
        <a:dk2>
          <a:srgbClr val="000000"/>
        </a:dk2>
        <a:lt2>
          <a:srgbClr val="808080"/>
        </a:lt2>
        <a:accent1>
          <a:srgbClr val="E65100"/>
        </a:accent1>
        <a:accent2>
          <a:srgbClr val="309E47"/>
        </a:accent2>
        <a:accent3>
          <a:srgbClr val="FFFFFF"/>
        </a:accent3>
        <a:accent4>
          <a:srgbClr val="000000"/>
        </a:accent4>
        <a:accent5>
          <a:srgbClr val="F0B3AA"/>
        </a:accent5>
        <a:accent6>
          <a:srgbClr val="2A8F3F"/>
        </a:accent6>
        <a:hlink>
          <a:srgbClr val="9CCF00"/>
        </a:hlink>
        <a:folHlink>
          <a:srgbClr val="CF004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NBBCpptTemplate">
  <a:themeElements>
    <a:clrScheme name="NBBCpptTemplate 8">
      <a:dk1>
        <a:srgbClr val="000000"/>
      </a:dk1>
      <a:lt1>
        <a:srgbClr val="FFFFFF"/>
      </a:lt1>
      <a:dk2>
        <a:srgbClr val="000000"/>
      </a:dk2>
      <a:lt2>
        <a:srgbClr val="808080"/>
      </a:lt2>
      <a:accent1>
        <a:srgbClr val="E65100"/>
      </a:accent1>
      <a:accent2>
        <a:srgbClr val="309E47"/>
      </a:accent2>
      <a:accent3>
        <a:srgbClr val="FFFFFF"/>
      </a:accent3>
      <a:accent4>
        <a:srgbClr val="000000"/>
      </a:accent4>
      <a:accent5>
        <a:srgbClr val="F0B3AA"/>
      </a:accent5>
      <a:accent6>
        <a:srgbClr val="2A8F3F"/>
      </a:accent6>
      <a:hlink>
        <a:srgbClr val="9CCF00"/>
      </a:hlink>
      <a:folHlink>
        <a:srgbClr val="CF0040"/>
      </a:folHlink>
    </a:clrScheme>
    <a:fontScheme name="NBBCpp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BBCppt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NBBCppt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NBBCppt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NBBCppt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NBBCpp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NBBCpp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NBBCpp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NBBCpptTemplate 8">
        <a:dk1>
          <a:srgbClr val="000000"/>
        </a:dk1>
        <a:lt1>
          <a:srgbClr val="FFFFFF"/>
        </a:lt1>
        <a:dk2>
          <a:srgbClr val="000000"/>
        </a:dk2>
        <a:lt2>
          <a:srgbClr val="808080"/>
        </a:lt2>
        <a:accent1>
          <a:srgbClr val="E65100"/>
        </a:accent1>
        <a:accent2>
          <a:srgbClr val="309E47"/>
        </a:accent2>
        <a:accent3>
          <a:srgbClr val="FFFFFF"/>
        </a:accent3>
        <a:accent4>
          <a:srgbClr val="000000"/>
        </a:accent4>
        <a:accent5>
          <a:srgbClr val="F0B3AA"/>
        </a:accent5>
        <a:accent6>
          <a:srgbClr val="2A8F3F"/>
        </a:accent6>
        <a:hlink>
          <a:srgbClr val="9CCF00"/>
        </a:hlink>
        <a:folHlink>
          <a:srgbClr val="CF004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NBBCpptTemplate">
  <a:themeElements>
    <a:clrScheme name="3_NBBCpptTemplate 8">
      <a:dk1>
        <a:srgbClr val="000000"/>
      </a:dk1>
      <a:lt1>
        <a:srgbClr val="FFFFFF"/>
      </a:lt1>
      <a:dk2>
        <a:srgbClr val="000000"/>
      </a:dk2>
      <a:lt2>
        <a:srgbClr val="808080"/>
      </a:lt2>
      <a:accent1>
        <a:srgbClr val="E65100"/>
      </a:accent1>
      <a:accent2>
        <a:srgbClr val="309E47"/>
      </a:accent2>
      <a:accent3>
        <a:srgbClr val="FFFFFF"/>
      </a:accent3>
      <a:accent4>
        <a:srgbClr val="000000"/>
      </a:accent4>
      <a:accent5>
        <a:srgbClr val="F0B3AA"/>
      </a:accent5>
      <a:accent6>
        <a:srgbClr val="2A8F3F"/>
      </a:accent6>
      <a:hlink>
        <a:srgbClr val="9CCF00"/>
      </a:hlink>
      <a:folHlink>
        <a:srgbClr val="CF0040"/>
      </a:folHlink>
    </a:clrScheme>
    <a:fontScheme name="3_NBBCpp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NBBCppt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NBBCppt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NBBCppt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NBBCppt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NBBCpp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NBBCpp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NBBCpp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3_NBBCpptTemplate 8">
        <a:dk1>
          <a:srgbClr val="000000"/>
        </a:dk1>
        <a:lt1>
          <a:srgbClr val="FFFFFF"/>
        </a:lt1>
        <a:dk2>
          <a:srgbClr val="000000"/>
        </a:dk2>
        <a:lt2>
          <a:srgbClr val="808080"/>
        </a:lt2>
        <a:accent1>
          <a:srgbClr val="E65100"/>
        </a:accent1>
        <a:accent2>
          <a:srgbClr val="309E47"/>
        </a:accent2>
        <a:accent3>
          <a:srgbClr val="FFFFFF"/>
        </a:accent3>
        <a:accent4>
          <a:srgbClr val="000000"/>
        </a:accent4>
        <a:accent5>
          <a:srgbClr val="F0B3AA"/>
        </a:accent5>
        <a:accent6>
          <a:srgbClr val="2A8F3F"/>
        </a:accent6>
        <a:hlink>
          <a:srgbClr val="9CCF00"/>
        </a:hlink>
        <a:folHlink>
          <a:srgbClr val="CF004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337</TotalTime>
  <Words>2126</Words>
  <Application>Microsoft Office PowerPoint</Application>
  <PresentationFormat>On-screen Show (4:3)</PresentationFormat>
  <Paragraphs>259</Paragraphs>
  <Slides>25</Slides>
  <Notes>9</Notes>
  <HiddenSlides>0</HiddenSlides>
  <MMClips>0</MMClips>
  <ScaleCrop>false</ScaleCrop>
  <HeadingPairs>
    <vt:vector size="6" baseType="variant">
      <vt:variant>
        <vt:lpstr>Theme</vt:lpstr>
      </vt:variant>
      <vt:variant>
        <vt:i4>4</vt:i4>
      </vt:variant>
      <vt:variant>
        <vt:lpstr>Embedded OLE Servers</vt:lpstr>
      </vt:variant>
      <vt:variant>
        <vt:i4>1</vt:i4>
      </vt:variant>
      <vt:variant>
        <vt:lpstr>Slide Titles</vt:lpstr>
      </vt:variant>
      <vt:variant>
        <vt:i4>25</vt:i4>
      </vt:variant>
    </vt:vector>
  </HeadingPairs>
  <TitlesOfParts>
    <vt:vector size="30" baseType="lpstr">
      <vt:lpstr>Default Design</vt:lpstr>
      <vt:lpstr>1_NBBCpptTemplate</vt:lpstr>
      <vt:lpstr>NBBCpptTemplate</vt:lpstr>
      <vt:lpstr>3_NBBCpptTemplate</vt:lpstr>
      <vt:lpstr>Chart</vt:lpstr>
      <vt:lpstr>Supportive Services for Veteran Families (SSVF)  </vt:lpstr>
      <vt:lpstr>Slide 2</vt:lpstr>
      <vt:lpstr>Design of SSVF</vt:lpstr>
      <vt:lpstr>Who Is Served</vt:lpstr>
      <vt:lpstr>Slide 5</vt:lpstr>
      <vt:lpstr>Slide 6</vt:lpstr>
      <vt:lpstr>   Federal Strategic Plan  to Prevent &amp; End Homelessness   </vt:lpstr>
      <vt:lpstr>Location of Homeless Veterans*</vt:lpstr>
      <vt:lpstr>Homeless Veterans are Older Than General Homeless Population</vt:lpstr>
      <vt:lpstr>Populations at Higher Risk</vt:lpstr>
      <vt:lpstr>Distribution of the 1,356,610 Veterans in Poverty</vt:lpstr>
      <vt:lpstr>Slide 12</vt:lpstr>
      <vt:lpstr>Sites Awarded SSVF Grant Funds</vt:lpstr>
      <vt:lpstr>Slide 14</vt:lpstr>
      <vt:lpstr>Slide 15</vt:lpstr>
      <vt:lpstr>Slide 16</vt:lpstr>
      <vt:lpstr>Slide 17</vt:lpstr>
      <vt:lpstr>Outreach</vt:lpstr>
      <vt:lpstr>Outreach</vt:lpstr>
      <vt:lpstr>Slide 20</vt:lpstr>
      <vt:lpstr>Slide 21</vt:lpstr>
      <vt:lpstr>Slide 22</vt:lpstr>
      <vt:lpstr>Overview of SSVF Program</vt:lpstr>
      <vt:lpstr>Requirements for the Use of SSVF Grant Funds</vt:lpstr>
      <vt:lpstr>Goals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cp:lastModifiedBy>vhaphidonet</cp:lastModifiedBy>
  <cp:revision>27</cp:revision>
  <dcterms:modified xsi:type="dcterms:W3CDTF">2011-08-19T19:23:26Z</dcterms:modified>
</cp:coreProperties>
</file>