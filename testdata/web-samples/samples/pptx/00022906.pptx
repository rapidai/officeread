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9" r:id="rId1"/>
  </p:sldMasterIdLst>
  <p:notesMasterIdLst>
    <p:notesMasterId r:id="rId24"/>
  </p:notesMasterIdLst>
  <p:sldIdLst>
    <p:sldId id="256" r:id="rId2"/>
    <p:sldId id="313" r:id="rId3"/>
    <p:sldId id="308" r:id="rId4"/>
    <p:sldId id="272" r:id="rId5"/>
    <p:sldId id="309" r:id="rId6"/>
    <p:sldId id="314" r:id="rId7"/>
    <p:sldId id="315" r:id="rId8"/>
    <p:sldId id="316" r:id="rId9"/>
    <p:sldId id="317" r:id="rId10"/>
    <p:sldId id="286" r:id="rId11"/>
    <p:sldId id="320" r:id="rId12"/>
    <p:sldId id="322" r:id="rId13"/>
    <p:sldId id="323" r:id="rId14"/>
    <p:sldId id="324" r:id="rId15"/>
    <p:sldId id="325" r:id="rId16"/>
    <p:sldId id="318" r:id="rId17"/>
    <p:sldId id="326" r:id="rId18"/>
    <p:sldId id="327" r:id="rId19"/>
    <p:sldId id="319" r:id="rId20"/>
    <p:sldId id="312" r:id="rId21"/>
    <p:sldId id="311" r:id="rId22"/>
    <p:sldId id="310" r:id="rId23"/>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pitchFamily="18"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Times" pitchFamily="18"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Times" pitchFamily="18"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Times" pitchFamily="18"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Times" pitchFamily="18" charset="0"/>
        <a:ea typeface="ＭＳ Ｐゴシック" pitchFamily="34" charset="-128"/>
        <a:cs typeface="+mn-cs"/>
      </a:defRPr>
    </a:lvl5pPr>
    <a:lvl6pPr marL="2286000" algn="l" defTabSz="914400" rtl="0" eaLnBrk="1" latinLnBrk="0" hangingPunct="1">
      <a:defRPr sz="2400" kern="1200">
        <a:solidFill>
          <a:schemeClr val="tx1"/>
        </a:solidFill>
        <a:latin typeface="Times" pitchFamily="18" charset="0"/>
        <a:ea typeface="ＭＳ Ｐゴシック" pitchFamily="34" charset="-128"/>
        <a:cs typeface="+mn-cs"/>
      </a:defRPr>
    </a:lvl6pPr>
    <a:lvl7pPr marL="2743200" algn="l" defTabSz="914400" rtl="0" eaLnBrk="1" latinLnBrk="0" hangingPunct="1">
      <a:defRPr sz="2400" kern="1200">
        <a:solidFill>
          <a:schemeClr val="tx1"/>
        </a:solidFill>
        <a:latin typeface="Times" pitchFamily="18" charset="0"/>
        <a:ea typeface="ＭＳ Ｐゴシック" pitchFamily="34" charset="-128"/>
        <a:cs typeface="+mn-cs"/>
      </a:defRPr>
    </a:lvl7pPr>
    <a:lvl8pPr marL="3200400" algn="l" defTabSz="914400" rtl="0" eaLnBrk="1" latinLnBrk="0" hangingPunct="1">
      <a:defRPr sz="2400" kern="1200">
        <a:solidFill>
          <a:schemeClr val="tx1"/>
        </a:solidFill>
        <a:latin typeface="Times" pitchFamily="18" charset="0"/>
        <a:ea typeface="ＭＳ Ｐゴシック" pitchFamily="34" charset="-128"/>
        <a:cs typeface="+mn-cs"/>
      </a:defRPr>
    </a:lvl8pPr>
    <a:lvl9pPr marL="3657600" algn="l" defTabSz="914400" rtl="0" eaLnBrk="1" latinLnBrk="0" hangingPunct="1">
      <a:defRPr sz="2400" kern="1200">
        <a:solidFill>
          <a:schemeClr val="tx1"/>
        </a:solidFill>
        <a:latin typeface="Times" pitchFamily="18" charset="0"/>
        <a:ea typeface="ＭＳ Ｐゴシック"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509A"/>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2" autoAdjust="0"/>
    <p:restoredTop sz="55218" autoAdjust="0"/>
  </p:normalViewPr>
  <p:slideViewPr>
    <p:cSldViewPr>
      <p:cViewPr varScale="1">
        <p:scale>
          <a:sx n="55" d="100"/>
          <a:sy n="55" d="100"/>
        </p:scale>
        <p:origin x="-150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0" hangingPunct="0">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0" hangingPunct="0">
              <a:defRPr sz="1200"/>
            </a:lvl1pPr>
          </a:lstStyle>
          <a:p>
            <a:fld id="{7B229355-A4C2-4D42-9B5B-755FCD78F1A3}" type="datetimeFigureOut">
              <a:rPr lang="en-US"/>
              <a:pPr/>
              <a:t>11/8/2010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0" hangingPunct="0">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0" hangingPunct="0">
              <a:defRPr sz="1200"/>
            </a:lvl1pPr>
          </a:lstStyle>
          <a:p>
            <a:fld id="{3E367721-D1DD-4B62-BAEF-CC198A20698F}"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Char char="•"/>
            </a:pPr>
            <a:endParaRPr lang="en-US" dirty="0" smtClean="0"/>
          </a:p>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aseline="0" dirty="0" smtClean="0">
              <a:latin typeface="Arial" charset="0"/>
            </a:endParaRPr>
          </a:p>
          <a:p>
            <a:endParaRPr lang="en-US" dirty="0" smtClean="0">
              <a:latin typeface="Arial" charset="0"/>
            </a:endParaRPr>
          </a:p>
        </p:txBody>
      </p:sp>
      <p:sp>
        <p:nvSpPr>
          <p:cNvPr id="49156" name="Slide Number Placeholder 3"/>
          <p:cNvSpPr>
            <a:spLocks noGrp="1"/>
          </p:cNvSpPr>
          <p:nvPr>
            <p:ph type="sldNum" sz="quarter" idx="5"/>
          </p:nvPr>
        </p:nvSpPr>
        <p:spPr bwMode="auto">
          <a:noFill/>
          <a:ln>
            <a:miter lim="800000"/>
            <a:headEnd/>
            <a:tailEnd/>
          </a:ln>
        </p:spPr>
        <p:txBody>
          <a:bodyPr/>
          <a:lstStyle/>
          <a:p>
            <a:fld id="{0364F3AC-8507-46A0-A013-3B7516935168}" type="slidenum">
              <a:rPr lang="en-US"/>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Char char="•"/>
            </a:pPr>
            <a:endParaRPr lang="en-US" sz="1200"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latin typeface="Arial" charset="0"/>
            </a:endParaRPr>
          </a:p>
        </p:txBody>
      </p:sp>
      <p:sp>
        <p:nvSpPr>
          <p:cNvPr id="62468" name="Slide Number Placeholder 3"/>
          <p:cNvSpPr>
            <a:spLocks noGrp="1"/>
          </p:cNvSpPr>
          <p:nvPr>
            <p:ph type="sldNum" sz="quarter" idx="5"/>
          </p:nvPr>
        </p:nvSpPr>
        <p:spPr bwMode="auto">
          <a:noFill/>
          <a:ln>
            <a:miter lim="800000"/>
            <a:headEnd/>
            <a:tailEnd/>
          </a:ln>
        </p:spPr>
        <p:txBody>
          <a:bodyPr/>
          <a:lstStyle/>
          <a:p>
            <a:fld id="{EAC6BB9C-3120-46F8-84B8-94746F45601E}" type="slidenum">
              <a:rPr lang="en-US"/>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3E367721-D1DD-4B62-BAEF-CC198A20698F}"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baseline="0" dirty="0" smtClean="0"/>
          </a:p>
          <a:p>
            <a:endParaRPr lang="en-US" dirty="0" smtClean="0">
              <a:latin typeface="Arial" charset="0"/>
            </a:endParaRPr>
          </a:p>
        </p:txBody>
      </p:sp>
      <p:sp>
        <p:nvSpPr>
          <p:cNvPr id="62468" name="Slide Number Placeholder 3"/>
          <p:cNvSpPr>
            <a:spLocks noGrp="1"/>
          </p:cNvSpPr>
          <p:nvPr>
            <p:ph type="sldNum" sz="quarter" idx="5"/>
          </p:nvPr>
        </p:nvSpPr>
        <p:spPr bwMode="auto">
          <a:noFill/>
          <a:ln>
            <a:miter lim="800000"/>
            <a:headEnd/>
            <a:tailEnd/>
          </a:ln>
        </p:spPr>
        <p:txBody>
          <a:bodyPr/>
          <a:lstStyle/>
          <a:p>
            <a:fld id="{EAC6BB9C-3120-46F8-84B8-94746F45601E}" type="slidenum">
              <a:rPr lang="en-US"/>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latin typeface="Arial" charset="0"/>
            </a:endParaRPr>
          </a:p>
        </p:txBody>
      </p:sp>
      <p:sp>
        <p:nvSpPr>
          <p:cNvPr id="62468" name="Slide Number Placeholder 3"/>
          <p:cNvSpPr>
            <a:spLocks noGrp="1"/>
          </p:cNvSpPr>
          <p:nvPr>
            <p:ph type="sldNum" sz="quarter" idx="5"/>
          </p:nvPr>
        </p:nvSpPr>
        <p:spPr bwMode="auto">
          <a:noFill/>
          <a:ln>
            <a:miter lim="800000"/>
            <a:headEnd/>
            <a:tailEnd/>
          </a:ln>
        </p:spPr>
        <p:txBody>
          <a:bodyPr/>
          <a:lstStyle/>
          <a:p>
            <a:fld id="{EAC6BB9C-3120-46F8-84B8-94746F45601E}" type="slidenum">
              <a:rPr lang="en-US"/>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0" fontAlgn="base" latinLnBrk="0" hangingPunct="0">
              <a:lnSpc>
                <a:spcPct val="100000"/>
              </a:lnSpc>
              <a:spcBef>
                <a:spcPct val="30000"/>
              </a:spcBef>
              <a:spcAft>
                <a:spcPct val="0"/>
              </a:spcAft>
              <a:buClrTx/>
              <a:buSzTx/>
              <a:buFont typeface="Arial" pitchFamily="34" charset="0"/>
              <a:buChar char="•"/>
              <a:tabLst/>
              <a:defRPr/>
            </a:pPr>
            <a:endParaRPr lang="en-US" dirty="0" smtClean="0"/>
          </a:p>
        </p:txBody>
      </p:sp>
      <p:sp>
        <p:nvSpPr>
          <p:cNvPr id="4" name="Slide Number Placeholder 3"/>
          <p:cNvSpPr>
            <a:spLocks noGrp="1"/>
          </p:cNvSpPr>
          <p:nvPr>
            <p:ph type="sldNum" sz="quarter" idx="10"/>
          </p:nvPr>
        </p:nvSpPr>
        <p:spPr/>
        <p:txBody>
          <a:bodyPr/>
          <a:lstStyle/>
          <a:p>
            <a:fld id="{3E367721-D1DD-4B62-BAEF-CC198A20698F}"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
            </a:r>
            <a:br>
              <a:rPr lang="en-US" baseline="0" dirty="0" smtClean="0"/>
            </a:br>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fld id="{3E367721-D1DD-4B62-BAEF-CC198A20698F}"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 typeface="Arial" pitchFamily="34" charset="0"/>
              <a:buChar char="•"/>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3E367721-D1DD-4B62-BAEF-CC198A20698F}"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l" rtl="0" eaLnBrk="0" fontAlgn="base" hangingPunct="0">
        <a:spcBef>
          <a:spcPct val="0"/>
        </a:spcBef>
        <a:spcAft>
          <a:spcPct val="0"/>
        </a:spcAft>
        <a:defRPr sz="3600" b="1">
          <a:solidFill>
            <a:schemeClr val="tx2"/>
          </a:solidFill>
          <a:latin typeface="+mj-lt"/>
          <a:ea typeface="ＭＳ Ｐゴシック" charset="-128"/>
          <a:cs typeface="+mj-cs"/>
        </a:defRPr>
      </a:lvl1pPr>
      <a:lvl2pPr algn="l" rtl="0" eaLnBrk="0" fontAlgn="base" hangingPunct="0">
        <a:spcBef>
          <a:spcPct val="0"/>
        </a:spcBef>
        <a:spcAft>
          <a:spcPct val="0"/>
        </a:spcAft>
        <a:defRPr sz="3600" b="1">
          <a:solidFill>
            <a:schemeClr val="tx2"/>
          </a:solidFill>
          <a:latin typeface="Verdana" charset="0"/>
          <a:ea typeface="ＭＳ Ｐゴシック" charset="-128"/>
        </a:defRPr>
      </a:lvl2pPr>
      <a:lvl3pPr algn="l" rtl="0" eaLnBrk="0" fontAlgn="base" hangingPunct="0">
        <a:spcBef>
          <a:spcPct val="0"/>
        </a:spcBef>
        <a:spcAft>
          <a:spcPct val="0"/>
        </a:spcAft>
        <a:defRPr sz="3600" b="1">
          <a:solidFill>
            <a:schemeClr val="tx2"/>
          </a:solidFill>
          <a:latin typeface="Verdana" charset="0"/>
          <a:ea typeface="ＭＳ Ｐゴシック" charset="-128"/>
        </a:defRPr>
      </a:lvl3pPr>
      <a:lvl4pPr algn="l" rtl="0" eaLnBrk="0" fontAlgn="base" hangingPunct="0">
        <a:spcBef>
          <a:spcPct val="0"/>
        </a:spcBef>
        <a:spcAft>
          <a:spcPct val="0"/>
        </a:spcAft>
        <a:defRPr sz="3600" b="1">
          <a:solidFill>
            <a:schemeClr val="tx2"/>
          </a:solidFill>
          <a:latin typeface="Verdana" charset="0"/>
          <a:ea typeface="ＭＳ Ｐゴシック" charset="-128"/>
        </a:defRPr>
      </a:lvl4pPr>
      <a:lvl5pPr algn="l" rtl="0" eaLnBrk="0" fontAlgn="base" hangingPunct="0">
        <a:spcBef>
          <a:spcPct val="0"/>
        </a:spcBef>
        <a:spcAft>
          <a:spcPct val="0"/>
        </a:spcAft>
        <a:defRPr sz="3600" b="1">
          <a:solidFill>
            <a:schemeClr val="tx2"/>
          </a:solidFill>
          <a:latin typeface="Verdana" charset="0"/>
          <a:ea typeface="ＭＳ Ｐゴシック" charset="-128"/>
        </a:defRPr>
      </a:lvl5pPr>
      <a:lvl6pPr marL="457200" algn="l" rtl="0" fontAlgn="base">
        <a:spcBef>
          <a:spcPct val="0"/>
        </a:spcBef>
        <a:spcAft>
          <a:spcPct val="0"/>
        </a:spcAft>
        <a:defRPr sz="3600" b="1">
          <a:solidFill>
            <a:schemeClr val="tx2"/>
          </a:solidFill>
          <a:latin typeface="Verdana" charset="0"/>
        </a:defRPr>
      </a:lvl6pPr>
      <a:lvl7pPr marL="914400" algn="l" rtl="0" fontAlgn="base">
        <a:spcBef>
          <a:spcPct val="0"/>
        </a:spcBef>
        <a:spcAft>
          <a:spcPct val="0"/>
        </a:spcAft>
        <a:defRPr sz="3600" b="1">
          <a:solidFill>
            <a:schemeClr val="tx2"/>
          </a:solidFill>
          <a:latin typeface="Verdana" charset="0"/>
        </a:defRPr>
      </a:lvl7pPr>
      <a:lvl8pPr marL="1371600" algn="l" rtl="0" fontAlgn="base">
        <a:spcBef>
          <a:spcPct val="0"/>
        </a:spcBef>
        <a:spcAft>
          <a:spcPct val="0"/>
        </a:spcAft>
        <a:defRPr sz="3600" b="1">
          <a:solidFill>
            <a:schemeClr val="tx2"/>
          </a:solidFill>
          <a:latin typeface="Verdana" charset="0"/>
        </a:defRPr>
      </a:lvl8pPr>
      <a:lvl9pPr marL="1828800" algn="l" rtl="0" fontAlgn="base">
        <a:spcBef>
          <a:spcPct val="0"/>
        </a:spcBef>
        <a:spcAft>
          <a:spcPct val="0"/>
        </a:spcAft>
        <a:defRPr sz="3600" b="1">
          <a:solidFill>
            <a:schemeClr val="tx2"/>
          </a:solidFill>
          <a:latin typeface="Verdana" charset="0"/>
        </a:defRPr>
      </a:lvl9pPr>
    </p:titleStyle>
    <p:bodyStyle>
      <a:lvl1pPr marL="342900" indent="-342900" algn="l" rtl="0" eaLnBrk="0" fontAlgn="base" hangingPunct="0">
        <a:spcBef>
          <a:spcPct val="20000"/>
        </a:spcBef>
        <a:spcAft>
          <a:spcPct val="0"/>
        </a:spcAft>
        <a:buChar char="•"/>
        <a:defRPr sz="3000">
          <a:solidFill>
            <a:schemeClr val="tx1"/>
          </a:solidFill>
          <a:latin typeface="+mn-lt"/>
          <a:ea typeface="ＭＳ Ｐゴシック" charset="-128"/>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514600" indent="-228600" algn="l" rtl="0" fontAlgn="base">
        <a:spcBef>
          <a:spcPct val="20000"/>
        </a:spcBef>
        <a:spcAft>
          <a:spcPct val="0"/>
        </a:spcAft>
        <a:buChar char="»"/>
        <a:defRPr sz="2000">
          <a:solidFill>
            <a:schemeClr val="tx1"/>
          </a:solidFill>
          <a:latin typeface="+mn-lt"/>
          <a:ea typeface="ＭＳ Ｐゴシック" charset="-128"/>
        </a:defRPr>
      </a:lvl6pPr>
      <a:lvl7pPr marL="2971800" indent="-228600" algn="l" rtl="0" fontAlgn="base">
        <a:spcBef>
          <a:spcPct val="20000"/>
        </a:spcBef>
        <a:spcAft>
          <a:spcPct val="0"/>
        </a:spcAft>
        <a:buChar char="»"/>
        <a:defRPr sz="2000">
          <a:solidFill>
            <a:schemeClr val="tx1"/>
          </a:solidFill>
          <a:latin typeface="+mn-lt"/>
          <a:ea typeface="ＭＳ Ｐゴシック" charset="-128"/>
        </a:defRPr>
      </a:lvl7pPr>
      <a:lvl8pPr marL="3429000" indent="-228600" algn="l" rtl="0" fontAlgn="base">
        <a:spcBef>
          <a:spcPct val="20000"/>
        </a:spcBef>
        <a:spcAft>
          <a:spcPct val="0"/>
        </a:spcAft>
        <a:buChar char="»"/>
        <a:defRPr sz="2000">
          <a:solidFill>
            <a:schemeClr val="tx1"/>
          </a:solidFill>
          <a:latin typeface="+mn-lt"/>
          <a:ea typeface="ＭＳ Ｐゴシック" charset="-128"/>
        </a:defRPr>
      </a:lvl8pPr>
      <a:lvl9pPr marL="3886200" indent="-228600" algn="l" rtl="0" fontAlgn="base">
        <a:spcBef>
          <a:spcPct val="20000"/>
        </a:spcBef>
        <a:spcAft>
          <a:spcPct val="0"/>
        </a:spcAft>
        <a:buChar char="»"/>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frwebgate.access.gpo.gov/cgi-bin/getdoc.cgi?dbname=1999_register&amp;docid=99-26264-filed"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nsf.gov/bfa/dias/policy/dmp.jsp"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nsf.gov/sbe/ses/common/archive.jsp"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grants1.nih.gov/grants/policy/data_sharing/"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ojp.usdoj.gov/nij/funding/data-resources-program/welcome.ht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www.icpsr.umich.edu/NACJD/"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www.lib.umn.edu/datamanagement/funding"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www.dcc.ac.uk/resources/data-management-plans" TargetMode="External"/><Relationship Id="rId4" Type="http://schemas.openxmlformats.org/officeDocument/2006/relationships/hyperlink" Target="http://gking.harvard.edu/replication.s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icpsr.umich.edu/icpsrweb/ICPSR/dmp"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www.icpsr.umich.edu/icpsrweb/ICPSR/dmp/other-plans.jsp" TargetMode="External"/><Relationship Id="rId4" Type="http://schemas.openxmlformats.org/officeDocument/2006/relationships/hyperlink" Target="http://www.icpsr.umich.edu/icpsrweb/ICPSR/dmp/elements.jsp"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www.fsd.uta.fi/english/data_management_planning/index.html" TargetMode="External"/><Relationship Id="rId3" Type="http://schemas.openxmlformats.org/officeDocument/2006/relationships/hyperlink" Target="https://confluence.cornell.edu/display/datasupp/Home" TargetMode="External"/><Relationship Id="rId7" Type="http://schemas.openxmlformats.org/officeDocument/2006/relationships/hyperlink" Target="http://ands.org.au/guides/data-management-planning-awareness.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www.lib.umn.edu/datamanagement" TargetMode="External"/><Relationship Id="rId5" Type="http://schemas.openxmlformats.org/officeDocument/2006/relationships/hyperlink" Target="http://www.ed.ac.uk/is/data-management" TargetMode="External"/><Relationship Id="rId4" Type="http://schemas.openxmlformats.org/officeDocument/2006/relationships/hyperlink" Target="http://libraries.mit.edu/data-management" TargetMode="External"/><Relationship Id="rId9" Type="http://schemas.openxmlformats.org/officeDocument/2006/relationships/hyperlink" Target="http://www.data-archive.ac.uk/create-manage"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www.icpsr.umich.edu/files/ICPSR/access/dataprep.pdf" TargetMode="External"/><Relationship Id="rId7" Type="http://schemas.openxmlformats.org/officeDocument/2006/relationships/hyperlink" Target="http://daac.ornl.gov/PI/bestprac.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www.ciesin.columbia.edu/ger" TargetMode="External"/><Relationship Id="rId5" Type="http://schemas.openxmlformats.org/officeDocument/2006/relationships/hyperlink" Target="http://ilp.anu.edu.au/dm/ANU_DM_Manual_v10.09.17-63_2010-09-17.pdf" TargetMode="External"/><Relationship Id="rId4" Type="http://schemas.openxmlformats.org/officeDocument/2006/relationships/hyperlink" Target="http://www.data-archive.ac.uk/media/2894/managingsharing.pdf"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www.dcc.ac.uk/sites/default/files/documents/tools/dmpOnline/DMP_template_v1.2_100106.doc"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www.eresearch.unimelb.edu.au/__data/assets/word_doc/0007/163366/RDMS_2009-05-05_DMP_Template_v0_2.docx" TargetMode="External"/><Relationship Id="rId5" Type="http://schemas.openxmlformats.org/officeDocument/2006/relationships/hyperlink" Target="http://relu.data-archive.ac.uk/DMP2010.doc" TargetMode="External"/><Relationship Id="rId4" Type="http://schemas.openxmlformats.org/officeDocument/2006/relationships/hyperlink" Target="http://dmponline.hatii.arts.gla.ac.uk/"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ands.org.au/guides/data-management-planning-awareness.html" TargetMode="External"/><Relationship Id="rId7" Type="http://schemas.openxmlformats.org/officeDocument/2006/relationships/hyperlink" Target="http://www.iassistdata.org/about/committees.html#action"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data-donnees.gc.ca/eng" TargetMode="External"/><Relationship Id="rId5" Type="http://schemas.openxmlformats.org/officeDocument/2006/relationships/hyperlink" Target="http://www.drda.umich.edu/datasharing/" TargetMode="External"/><Relationship Id="rId4" Type="http://schemas.openxmlformats.org/officeDocument/2006/relationships/hyperlink" Target="http://www.data-archive.ac.uk/create-manag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nsf.gov/pubs/2005/nsb0540/" TargetMode="External"/><Relationship Id="rId7" Type="http://schemas.openxmlformats.org/officeDocument/2006/relationships/hyperlink" Target="http://www.lib.umn.edu/datamanagement/funding#What3"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www.arl.org/bm~doc/escience_report2010.pdf" TargetMode="External"/><Relationship Id="rId5" Type="http://schemas.openxmlformats.org/officeDocument/2006/relationships/hyperlink" Target="http://www.nap.edu/catalog.php?record_id=12615" TargetMode="External"/><Relationship Id="rId4" Type="http://schemas.openxmlformats.org/officeDocument/2006/relationships/hyperlink" Target="http://www.nsf.gov/od/oci/CI_Vision_March07.pdf"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304800" y="1600200"/>
            <a:ext cx="6096000" cy="1676400"/>
          </a:xfrm>
        </p:spPr>
        <p:txBody>
          <a:bodyPr/>
          <a:lstStyle/>
          <a:p>
            <a:pPr algn="ctr" eaLnBrk="1" hangingPunct="1"/>
            <a:r>
              <a:rPr lang="en-US" dirty="0" smtClean="0">
                <a:solidFill>
                  <a:schemeClr val="bg1"/>
                </a:solidFill>
                <a:ea typeface="ＭＳ Ｐゴシック" pitchFamily="34" charset="-128"/>
              </a:rPr>
              <a:t>Data Management Plans</a:t>
            </a:r>
            <a:endParaRPr lang="en-US" b="0" dirty="0" smtClean="0">
              <a:solidFill>
                <a:schemeClr val="bg1"/>
              </a:solidFill>
              <a:ea typeface="ＭＳ Ｐゴシック" pitchFamily="34" charset="-128"/>
            </a:endParaRPr>
          </a:p>
        </p:txBody>
      </p:sp>
      <p:sp>
        <p:nvSpPr>
          <p:cNvPr id="2051" name="Rectangle 3"/>
          <p:cNvSpPr>
            <a:spLocks noGrp="1" noChangeArrowheads="1"/>
          </p:cNvSpPr>
          <p:nvPr>
            <p:ph type="subTitle" idx="1"/>
          </p:nvPr>
        </p:nvSpPr>
        <p:spPr>
          <a:xfrm>
            <a:off x="838200" y="3733800"/>
            <a:ext cx="5715000" cy="2133600"/>
          </a:xfrm>
        </p:spPr>
        <p:txBody>
          <a:bodyPr/>
          <a:lstStyle/>
          <a:p>
            <a:pPr eaLnBrk="1" hangingPunct="1"/>
            <a:r>
              <a:rPr lang="en-US" sz="2400" dirty="0" smtClean="0">
                <a:solidFill>
                  <a:schemeClr val="bg1"/>
                </a:solidFill>
              </a:rPr>
              <a:t>ICPSR Data Fair</a:t>
            </a:r>
            <a:br>
              <a:rPr lang="en-US" sz="2400" dirty="0" smtClean="0">
                <a:solidFill>
                  <a:schemeClr val="bg1"/>
                </a:solidFill>
              </a:rPr>
            </a:br>
            <a:r>
              <a:rPr lang="en-US" sz="800" dirty="0" smtClean="0">
                <a:solidFill>
                  <a:schemeClr val="bg1"/>
                </a:solidFill>
              </a:rPr>
              <a:t/>
            </a:r>
            <a:br>
              <a:rPr lang="en-US" sz="800" dirty="0" smtClean="0">
                <a:solidFill>
                  <a:schemeClr val="bg1"/>
                </a:solidFill>
              </a:rPr>
            </a:br>
            <a:r>
              <a:rPr lang="en-US" sz="2400" dirty="0" smtClean="0">
                <a:solidFill>
                  <a:schemeClr val="bg1"/>
                </a:solidFill>
              </a:rPr>
              <a:t>November 8, 2010</a:t>
            </a:r>
            <a:br>
              <a:rPr lang="en-US" sz="2400" dirty="0" smtClean="0">
                <a:solidFill>
                  <a:schemeClr val="bg1"/>
                </a:solidFill>
              </a:rPr>
            </a:br>
            <a:endParaRPr lang="en-US" sz="800" dirty="0" smtClean="0">
              <a:solidFill>
                <a:schemeClr val="bg1"/>
              </a:solidFill>
            </a:endParaRPr>
          </a:p>
          <a:p>
            <a:pPr eaLnBrk="1" hangingPunct="1"/>
            <a:r>
              <a:rPr lang="en-US" sz="2400" dirty="0" smtClean="0">
                <a:solidFill>
                  <a:schemeClr val="bg1"/>
                </a:solidFill>
                <a:ea typeface="ＭＳ Ｐゴシック" pitchFamily="34" charset="-128"/>
              </a:rPr>
              <a:t>Katherine McNeill, MIT Libraries</a:t>
            </a:r>
          </a:p>
          <a:p>
            <a:pPr algn="l" eaLnBrk="1" hangingPunct="1"/>
            <a:r>
              <a:rPr lang="en-US" sz="2400" dirty="0" smtClean="0">
                <a:solidFill>
                  <a:schemeClr val="bg1"/>
                </a:solidFill>
                <a:ea typeface="ＭＳ Ｐゴシック" pitchFamily="34" charset="-128"/>
              </a:rPr>
              <a:t> </a:t>
            </a:r>
          </a:p>
          <a:p>
            <a:pPr algn="l" eaLnBrk="1" hangingPunct="1"/>
            <a:endParaRPr lang="en-US" dirty="0" smtClean="0">
              <a:solidFill>
                <a:schemeClr val="bg1"/>
              </a:solidFill>
              <a:ea typeface="ＭＳ Ｐゴシック" pitchFamily="34" charset="-12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1143000"/>
          </a:xfrm>
        </p:spPr>
        <p:txBody>
          <a:bodyPr/>
          <a:lstStyle/>
          <a:p>
            <a:pPr algn="ctr"/>
            <a:r>
              <a:rPr lang="en-US" dirty="0" smtClean="0">
                <a:solidFill>
                  <a:srgbClr val="36509A"/>
                </a:solidFill>
              </a:rPr>
              <a:t>Introduction</a:t>
            </a:r>
            <a:endParaRPr lang="en-US" dirty="0">
              <a:solidFill>
                <a:srgbClr val="36509A"/>
              </a:solidFill>
            </a:endParaRPr>
          </a:p>
        </p:txBody>
      </p:sp>
      <p:sp>
        <p:nvSpPr>
          <p:cNvPr id="3" name="Content Placeholder 2"/>
          <p:cNvSpPr>
            <a:spLocks noGrp="1"/>
          </p:cNvSpPr>
          <p:nvPr>
            <p:ph idx="1"/>
          </p:nvPr>
        </p:nvSpPr>
        <p:spPr>
          <a:xfrm>
            <a:off x="685800" y="1828800"/>
            <a:ext cx="7772400" cy="4114800"/>
          </a:xfrm>
        </p:spPr>
        <p:txBody>
          <a:bodyPr/>
          <a:lstStyle/>
          <a:p>
            <a:r>
              <a:rPr lang="en-US" sz="3200" dirty="0" smtClean="0"/>
              <a:t>Goals for the session:</a:t>
            </a:r>
          </a:p>
          <a:p>
            <a:pPr lvl="1"/>
            <a:r>
              <a:rPr lang="en-US" dirty="0" smtClean="0"/>
              <a:t>Major U.S. funder requirements</a:t>
            </a:r>
          </a:p>
          <a:p>
            <a:pPr lvl="1"/>
            <a:r>
              <a:rPr lang="en-US" dirty="0" smtClean="0"/>
              <a:t>Resources available</a:t>
            </a:r>
          </a:p>
          <a:p>
            <a:pPr lvl="1"/>
            <a:r>
              <a:rPr lang="en-US" dirty="0" smtClean="0"/>
              <a:t>Service models</a:t>
            </a:r>
          </a:p>
          <a:p>
            <a:r>
              <a:rPr lang="en-US" sz="3200" dirty="0" smtClean="0"/>
              <a:t>Caveats: selective, U.S.-focused</a:t>
            </a:r>
          </a:p>
          <a:p>
            <a:r>
              <a:rPr lang="en-US" sz="3200" dirty="0" smtClean="0"/>
              <a:t>Note: data sharing requirements  vs. data management plans       vs. data management activities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1143000"/>
          </a:xfrm>
        </p:spPr>
        <p:txBody>
          <a:bodyPr/>
          <a:lstStyle/>
          <a:p>
            <a:pPr algn="ctr"/>
            <a:r>
              <a:rPr lang="en-US" dirty="0" smtClean="0">
                <a:solidFill>
                  <a:srgbClr val="36509A"/>
                </a:solidFill>
              </a:rPr>
              <a:t>History</a:t>
            </a:r>
            <a:endParaRPr lang="en-US" dirty="0">
              <a:solidFill>
                <a:srgbClr val="36509A"/>
              </a:solidFill>
            </a:endParaRPr>
          </a:p>
        </p:txBody>
      </p:sp>
      <p:sp>
        <p:nvSpPr>
          <p:cNvPr id="3" name="Content Placeholder 2"/>
          <p:cNvSpPr>
            <a:spLocks noGrp="1"/>
          </p:cNvSpPr>
          <p:nvPr>
            <p:ph idx="1"/>
          </p:nvPr>
        </p:nvSpPr>
        <p:spPr>
          <a:xfrm>
            <a:off x="685800" y="1524000"/>
            <a:ext cx="7772400" cy="5181600"/>
          </a:xfrm>
        </p:spPr>
        <p:txBody>
          <a:bodyPr/>
          <a:lstStyle/>
          <a:p>
            <a:r>
              <a:rPr lang="en-US" sz="2800" kern="1200" dirty="0" smtClean="0"/>
              <a:t>Tradition of exchanging information for scientific progress</a:t>
            </a:r>
            <a:endParaRPr lang="en-US" sz="2800" dirty="0" smtClean="0"/>
          </a:p>
          <a:p>
            <a:r>
              <a:rPr lang="en-US" sz="2800" dirty="0" smtClean="0"/>
              <a:t>Sharing of social science electronic data files throughout the 20</a:t>
            </a:r>
            <a:r>
              <a:rPr lang="en-US" sz="2800" baseline="30000" dirty="0" smtClean="0"/>
              <a:t>th</a:t>
            </a:r>
            <a:r>
              <a:rPr lang="en-US" sz="2800" dirty="0" smtClean="0"/>
              <a:t> century (e.g. ICP[S]R founded in 1962)</a:t>
            </a:r>
          </a:p>
          <a:p>
            <a:r>
              <a:rPr lang="en-US" sz="2800" dirty="0" smtClean="0"/>
              <a:t>History of data professionals</a:t>
            </a:r>
          </a:p>
          <a:p>
            <a:r>
              <a:rPr lang="en-US" sz="2800" dirty="0" smtClean="0"/>
              <a:t>More recently increased attention to research data in other disciplines</a:t>
            </a:r>
          </a:p>
          <a:p>
            <a:r>
              <a:rPr lang="en-US" sz="2800" dirty="0" smtClean="0"/>
              <a:t>Funder desire to provide access to the products of funded research</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4"/>
          <p:cNvSpPr>
            <a:spLocks noGrp="1"/>
          </p:cNvSpPr>
          <p:nvPr>
            <p:ph idx="1"/>
          </p:nvPr>
        </p:nvSpPr>
        <p:spPr/>
        <p:txBody>
          <a:bodyPr/>
          <a:lstStyle/>
          <a:p>
            <a:endParaRPr lang="en-US" smtClean="0">
              <a:ea typeface="ＭＳ Ｐゴシック" pitchFamily="34" charset="-128"/>
            </a:endParaRPr>
          </a:p>
        </p:txBody>
      </p:sp>
      <p:pic>
        <p:nvPicPr>
          <p:cNvPr id="13315" name="Picture 3"/>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762000" y="4648200"/>
            <a:ext cx="7696200" cy="838200"/>
          </a:xfrm>
        </p:spPr>
        <p:txBody>
          <a:bodyPr/>
          <a:lstStyle/>
          <a:p>
            <a:pPr algn="ctr" eaLnBrk="1" hangingPunct="1">
              <a:defRPr/>
            </a:pPr>
            <a:r>
              <a:rPr lang="en-US" dirty="0" smtClean="0">
                <a:solidFill>
                  <a:schemeClr val="bg1">
                    <a:lumMod val="95000"/>
                  </a:schemeClr>
                </a:solidFill>
              </a:rPr>
              <a:t>Major U.S. Funder Requirements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36509A"/>
                </a:solidFill>
              </a:rPr>
              <a:t>U.S. Legal Foundation</a:t>
            </a:r>
            <a:endParaRPr lang="en-US" dirty="0">
              <a:solidFill>
                <a:srgbClr val="36509A"/>
              </a:solidFill>
            </a:endParaRPr>
          </a:p>
        </p:txBody>
      </p:sp>
      <p:sp>
        <p:nvSpPr>
          <p:cNvPr id="3" name="Content Placeholder 2"/>
          <p:cNvSpPr>
            <a:spLocks noGrp="1"/>
          </p:cNvSpPr>
          <p:nvPr>
            <p:ph idx="1"/>
          </p:nvPr>
        </p:nvSpPr>
        <p:spPr/>
        <p:txBody>
          <a:bodyPr/>
          <a:lstStyle/>
          <a:p>
            <a:pPr lvl="0"/>
            <a:r>
              <a:rPr lang="en-US" dirty="0" smtClean="0"/>
              <a:t>1999: U.S. Office of Management and Budget amended </a:t>
            </a:r>
            <a:r>
              <a:rPr lang="en-US" u="sng" dirty="0" smtClean="0">
                <a:hlinkClick r:id="rId3"/>
              </a:rPr>
              <a:t>OMB Circular A-110</a:t>
            </a:r>
            <a:r>
              <a:rPr lang="en-US" dirty="0" smtClean="0"/>
              <a:t> was amended to require Federal awarding agencies “to ensure that all data produced under an award will be made available to the public through the procedures established under the Freedom of Information Act”</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36509A"/>
                </a:solidFill>
              </a:rPr>
              <a:t>National Science Foundation</a:t>
            </a:r>
            <a:endParaRPr lang="en-US" dirty="0">
              <a:solidFill>
                <a:srgbClr val="36509A"/>
              </a:solidFill>
            </a:endParaRPr>
          </a:p>
        </p:txBody>
      </p:sp>
      <p:sp>
        <p:nvSpPr>
          <p:cNvPr id="3" name="Content Placeholder 2"/>
          <p:cNvSpPr>
            <a:spLocks noGrp="1"/>
          </p:cNvSpPr>
          <p:nvPr>
            <p:ph idx="1"/>
          </p:nvPr>
        </p:nvSpPr>
        <p:spPr>
          <a:xfrm>
            <a:off x="685800" y="1828800"/>
            <a:ext cx="8077200" cy="4114800"/>
          </a:xfrm>
        </p:spPr>
        <p:txBody>
          <a:bodyPr/>
          <a:lstStyle/>
          <a:p>
            <a:pPr lvl="0"/>
            <a:r>
              <a:rPr lang="en-US" sz="2600" u="sng" dirty="0" smtClean="0">
                <a:hlinkClick r:id="rId3"/>
              </a:rPr>
              <a:t>NSF: Dissemination and Sharing of Research Results</a:t>
            </a:r>
            <a:endParaRPr lang="en-US" sz="2600" u="sng" dirty="0" smtClean="0"/>
          </a:p>
          <a:p>
            <a:pPr lvl="0"/>
            <a:r>
              <a:rPr lang="en-US" sz="2600" dirty="0" smtClean="0"/>
              <a:t>New implementation of existing policy on data sharing: as of January 18, 2011</a:t>
            </a:r>
          </a:p>
          <a:p>
            <a:pPr lvl="0"/>
            <a:r>
              <a:rPr lang="en-US" sz="2600" dirty="0" smtClean="0"/>
              <a:t>Requires 2-page data management plan with possible components</a:t>
            </a:r>
          </a:p>
          <a:p>
            <a:pPr lvl="0"/>
            <a:r>
              <a:rPr lang="en-US" sz="2600" dirty="0" smtClean="0"/>
              <a:t>Further requirements for specific NSF Directorates or Divisions, e.g. </a:t>
            </a:r>
            <a:r>
              <a:rPr lang="en-US" sz="2600" dirty="0" smtClean="0">
                <a:hlinkClick r:id="rId4"/>
              </a:rPr>
              <a:t>Division        of Social and Economic Sciences (SES)    Data Archiving Policy</a:t>
            </a:r>
            <a:endParaRPr lang="en-US" sz="2600" dirty="0" smtClean="0"/>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36509A"/>
                </a:solidFill>
              </a:rPr>
              <a:t>National Institutes of Health</a:t>
            </a:r>
            <a:endParaRPr lang="en-US" dirty="0">
              <a:solidFill>
                <a:srgbClr val="36509A"/>
              </a:solidFill>
            </a:endParaRPr>
          </a:p>
        </p:txBody>
      </p:sp>
      <p:sp>
        <p:nvSpPr>
          <p:cNvPr id="3" name="Content Placeholder 2"/>
          <p:cNvSpPr>
            <a:spLocks noGrp="1"/>
          </p:cNvSpPr>
          <p:nvPr>
            <p:ph idx="1"/>
          </p:nvPr>
        </p:nvSpPr>
        <p:spPr/>
        <p:txBody>
          <a:bodyPr/>
          <a:lstStyle/>
          <a:p>
            <a:r>
              <a:rPr lang="en-US" u="sng" dirty="0" smtClean="0">
                <a:hlinkClick r:id="rId3"/>
              </a:rPr>
              <a:t>NIH Data Sharing Policy</a:t>
            </a:r>
            <a:endParaRPr lang="en-US" u="sng" dirty="0" smtClean="0"/>
          </a:p>
          <a:p>
            <a:r>
              <a:rPr lang="en-US" dirty="0" smtClean="0"/>
              <a:t>Most recent policy: 2003</a:t>
            </a:r>
          </a:p>
          <a:p>
            <a:r>
              <a:rPr lang="en-US" dirty="0" smtClean="0"/>
              <a:t>Researchers funded at ≥$500,000 expected to include a plan for data sharing</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36509A"/>
                </a:solidFill>
              </a:rPr>
              <a:t>National Institute of Justice</a:t>
            </a:r>
            <a:endParaRPr lang="en-US" dirty="0">
              <a:solidFill>
                <a:srgbClr val="36509A"/>
              </a:solidFill>
            </a:endParaRPr>
          </a:p>
        </p:txBody>
      </p:sp>
      <p:sp>
        <p:nvSpPr>
          <p:cNvPr id="3" name="Content Placeholder 2"/>
          <p:cNvSpPr>
            <a:spLocks noGrp="1"/>
          </p:cNvSpPr>
          <p:nvPr>
            <p:ph idx="1"/>
          </p:nvPr>
        </p:nvSpPr>
        <p:spPr/>
        <p:txBody>
          <a:bodyPr/>
          <a:lstStyle/>
          <a:p>
            <a:r>
              <a:rPr lang="en-US" u="sng" dirty="0" smtClean="0">
                <a:hlinkClick r:id="rId3"/>
              </a:rPr>
              <a:t>NIJ Data Resources Program</a:t>
            </a:r>
            <a:endParaRPr lang="en-US" u="sng" dirty="0" smtClean="0"/>
          </a:p>
          <a:p>
            <a:r>
              <a:rPr lang="en-US" dirty="0" smtClean="0"/>
              <a:t>Archive: </a:t>
            </a:r>
            <a:r>
              <a:rPr lang="en-US" dirty="0" smtClean="0">
                <a:hlinkClick r:id="rId4"/>
              </a:rPr>
              <a:t>National Archive of Criminal Justice Data at ICPSR</a:t>
            </a:r>
            <a:r>
              <a:rPr lang="en-US" dirty="0" smtClean="0"/>
              <a:t>:</a:t>
            </a:r>
          </a:p>
          <a:p>
            <a:r>
              <a:rPr lang="en-US" dirty="0" smtClean="0"/>
              <a:t>Applies to most grants but some exceptions are granted</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1143000"/>
          </a:xfrm>
        </p:spPr>
        <p:txBody>
          <a:bodyPr/>
          <a:lstStyle/>
          <a:p>
            <a:pPr algn="ctr"/>
            <a:r>
              <a:rPr lang="en-US" dirty="0" smtClean="0">
                <a:solidFill>
                  <a:srgbClr val="36509A"/>
                </a:solidFill>
              </a:rPr>
              <a:t>Other Funders</a:t>
            </a:r>
            <a:endParaRPr lang="en-US" dirty="0">
              <a:solidFill>
                <a:srgbClr val="36509A"/>
              </a:solidFill>
            </a:endParaRPr>
          </a:p>
        </p:txBody>
      </p:sp>
      <p:sp>
        <p:nvSpPr>
          <p:cNvPr id="3" name="Content Placeholder 2"/>
          <p:cNvSpPr>
            <a:spLocks noGrp="1"/>
          </p:cNvSpPr>
          <p:nvPr>
            <p:ph idx="1"/>
          </p:nvPr>
        </p:nvSpPr>
        <p:spPr>
          <a:xfrm>
            <a:off x="685800" y="1676400"/>
            <a:ext cx="8001000" cy="4114800"/>
          </a:xfrm>
        </p:spPr>
        <p:txBody>
          <a:bodyPr/>
          <a:lstStyle/>
          <a:p>
            <a:r>
              <a:rPr lang="en-US" dirty="0" smtClean="0"/>
              <a:t>U.S. Federal Agencies:</a:t>
            </a:r>
          </a:p>
          <a:p>
            <a:pPr lvl="1"/>
            <a:r>
              <a:rPr lang="en-US" u="sng" dirty="0" smtClean="0">
                <a:hlinkClick r:id="rId3"/>
              </a:rPr>
              <a:t>Funding Agency and Data Management Guidelines</a:t>
            </a:r>
            <a:r>
              <a:rPr lang="en-US" dirty="0" smtClean="0"/>
              <a:t> (U. of Minnesota Libraries)</a:t>
            </a:r>
          </a:p>
          <a:p>
            <a:pPr lvl="1"/>
            <a:r>
              <a:rPr lang="en-US" u="sng" dirty="0" smtClean="0">
                <a:hlinkClick r:id="rId4"/>
              </a:rPr>
              <a:t>Data Sharing and Replication</a:t>
            </a:r>
            <a:r>
              <a:rPr lang="en-US" dirty="0" smtClean="0"/>
              <a:t> </a:t>
            </a:r>
            <a:br>
              <a:rPr lang="en-US" dirty="0" smtClean="0"/>
            </a:br>
            <a:r>
              <a:rPr lang="en-US" dirty="0" smtClean="0"/>
              <a:t>(Gary King, Harvard University)</a:t>
            </a:r>
          </a:p>
          <a:p>
            <a:r>
              <a:rPr lang="en-US" dirty="0" smtClean="0"/>
              <a:t>U.K. Research Councils and </a:t>
            </a:r>
            <a:r>
              <a:rPr lang="en-US" dirty="0" err="1" smtClean="0"/>
              <a:t>Wellcome</a:t>
            </a:r>
            <a:r>
              <a:rPr lang="en-US" dirty="0" smtClean="0"/>
              <a:t> Trust: </a:t>
            </a:r>
            <a:r>
              <a:rPr lang="en-US" dirty="0" smtClean="0">
                <a:hlinkClick r:id="rId5"/>
              </a:rPr>
              <a:t>Data Management Plans</a:t>
            </a:r>
            <a:r>
              <a:rPr lang="en-US" dirty="0" smtClean="0"/>
              <a:t> </a:t>
            </a:r>
            <a:br>
              <a:rPr lang="en-US" dirty="0" smtClean="0"/>
            </a:br>
            <a:r>
              <a:rPr lang="en-US" dirty="0" smtClean="0"/>
              <a:t>(Digital Curation Centre)</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4"/>
          <p:cNvSpPr>
            <a:spLocks noGrp="1"/>
          </p:cNvSpPr>
          <p:nvPr>
            <p:ph idx="1"/>
          </p:nvPr>
        </p:nvSpPr>
        <p:spPr/>
        <p:txBody>
          <a:bodyPr/>
          <a:lstStyle/>
          <a:p>
            <a:endParaRPr lang="en-US" smtClean="0">
              <a:ea typeface="ＭＳ Ｐゴシック" pitchFamily="34" charset="-128"/>
            </a:endParaRPr>
          </a:p>
        </p:txBody>
      </p:sp>
      <p:pic>
        <p:nvPicPr>
          <p:cNvPr id="27651" name="Picture 3"/>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762000" y="4876800"/>
            <a:ext cx="7696200" cy="838200"/>
          </a:xfrm>
        </p:spPr>
        <p:txBody>
          <a:bodyPr/>
          <a:lstStyle/>
          <a:p>
            <a:pPr algn="ctr" eaLnBrk="1" hangingPunct="1">
              <a:defRPr/>
            </a:pPr>
            <a:r>
              <a:rPr lang="en-US" dirty="0" smtClean="0">
                <a:solidFill>
                  <a:schemeClr val="bg1">
                    <a:lumMod val="95000"/>
                  </a:schemeClr>
                </a:solidFill>
              </a:rPr>
              <a:t>Resources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1143000"/>
          </a:xfrm>
        </p:spPr>
        <p:txBody>
          <a:bodyPr/>
          <a:lstStyle/>
          <a:p>
            <a:pPr algn="ctr"/>
            <a:r>
              <a:rPr lang="en-US" dirty="0" smtClean="0">
                <a:solidFill>
                  <a:srgbClr val="36509A"/>
                </a:solidFill>
              </a:rPr>
              <a:t>What Should be in a Data Management Plan?</a:t>
            </a:r>
            <a:endParaRPr lang="en-US" dirty="0">
              <a:solidFill>
                <a:srgbClr val="36509A"/>
              </a:solidFill>
            </a:endParaRPr>
          </a:p>
        </p:txBody>
      </p:sp>
      <p:sp>
        <p:nvSpPr>
          <p:cNvPr id="3" name="Content Placeholder 2"/>
          <p:cNvSpPr>
            <a:spLocks noGrp="1"/>
          </p:cNvSpPr>
          <p:nvPr>
            <p:ph idx="1"/>
          </p:nvPr>
        </p:nvSpPr>
        <p:spPr>
          <a:xfrm>
            <a:off x="685800" y="1676400"/>
            <a:ext cx="8001000" cy="4114800"/>
          </a:xfrm>
        </p:spPr>
        <p:txBody>
          <a:bodyPr/>
          <a:lstStyle/>
          <a:p>
            <a:r>
              <a:rPr lang="en-US" sz="2400" dirty="0" smtClean="0"/>
              <a:t>Consult your requirements…otherwise:</a:t>
            </a:r>
          </a:p>
          <a:p>
            <a:r>
              <a:rPr lang="en-US" sz="2400" dirty="0" smtClean="0"/>
              <a:t>Description of project and data to be collected</a:t>
            </a:r>
          </a:p>
          <a:p>
            <a:r>
              <a:rPr lang="en-US" sz="2400" dirty="0" smtClean="0"/>
              <a:t>Standards to be applied</a:t>
            </a:r>
          </a:p>
          <a:p>
            <a:r>
              <a:rPr lang="en-US" sz="2400" dirty="0" smtClean="0"/>
              <a:t>Plans for short-term storage/data management</a:t>
            </a:r>
          </a:p>
          <a:p>
            <a:r>
              <a:rPr lang="en-US" sz="2400" dirty="0" smtClean="0"/>
              <a:t>Legal and ethical issues</a:t>
            </a:r>
          </a:p>
          <a:p>
            <a:r>
              <a:rPr lang="en-US" sz="2400" dirty="0" smtClean="0"/>
              <a:t>Access policies and provisions</a:t>
            </a:r>
          </a:p>
          <a:p>
            <a:r>
              <a:rPr lang="en-US" sz="2400" dirty="0" smtClean="0"/>
              <a:t>Provisions for long-term archiving</a:t>
            </a:r>
          </a:p>
          <a:p>
            <a:r>
              <a:rPr lang="en-US" sz="2400" dirty="0" smtClean="0"/>
              <a:t>Assigned data management responsibilities</a:t>
            </a:r>
          </a:p>
          <a:p>
            <a:r>
              <a:rPr lang="en-US" sz="2400" dirty="0" smtClean="0"/>
              <a:t>Note: Any funder requirements for content should prevail</a:t>
            </a:r>
            <a:endParaRPr 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1143000"/>
          </a:xfrm>
        </p:spPr>
        <p:txBody>
          <a:bodyPr/>
          <a:lstStyle/>
          <a:p>
            <a:pPr algn="ctr"/>
            <a:r>
              <a:rPr lang="en-US" sz="3200" dirty="0" smtClean="0">
                <a:hlinkClick r:id="rId3"/>
              </a:rPr>
              <a:t>ICPSR Guidelines for Effective Data Management Plans</a:t>
            </a:r>
            <a:endParaRPr lang="en-US" sz="3200" dirty="0"/>
          </a:p>
        </p:txBody>
      </p:sp>
      <p:sp>
        <p:nvSpPr>
          <p:cNvPr id="3" name="Content Placeholder 2"/>
          <p:cNvSpPr>
            <a:spLocks noGrp="1"/>
          </p:cNvSpPr>
          <p:nvPr>
            <p:ph idx="1"/>
          </p:nvPr>
        </p:nvSpPr>
        <p:spPr>
          <a:xfrm>
            <a:off x="685800" y="1676400"/>
            <a:ext cx="8001000" cy="4114800"/>
          </a:xfrm>
        </p:spPr>
        <p:txBody>
          <a:bodyPr/>
          <a:lstStyle/>
          <a:p>
            <a:r>
              <a:rPr lang="en-US" dirty="0" smtClean="0">
                <a:hlinkClick r:id="rId4"/>
              </a:rPr>
              <a:t>Elements of a data management plan</a:t>
            </a:r>
            <a:endParaRPr lang="en-US" dirty="0" smtClean="0"/>
          </a:p>
          <a:p>
            <a:r>
              <a:rPr lang="en-US" dirty="0" smtClean="0">
                <a:hlinkClick r:id="rId5"/>
              </a:rPr>
              <a:t>Other data management plan examples in various disciplines</a:t>
            </a:r>
            <a:endParaRPr lang="en-US" dirty="0" smtClean="0"/>
          </a:p>
          <a:p>
            <a:r>
              <a:rPr lang="en-US" dirty="0" smtClean="0"/>
              <a:t>Lists of resources and related sites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lstStyle/>
          <a:p>
            <a:pPr algn="ctr"/>
            <a:r>
              <a:rPr lang="en-US" dirty="0" smtClean="0">
                <a:solidFill>
                  <a:srgbClr val="36509A"/>
                </a:solidFill>
              </a:rPr>
              <a:t>Data Management Guides</a:t>
            </a:r>
            <a:endParaRPr lang="en-US" dirty="0">
              <a:solidFill>
                <a:srgbClr val="36509A"/>
              </a:solidFill>
            </a:endParaRPr>
          </a:p>
        </p:txBody>
      </p:sp>
      <p:sp>
        <p:nvSpPr>
          <p:cNvPr id="3" name="Content Placeholder 2"/>
          <p:cNvSpPr>
            <a:spLocks noGrp="1"/>
          </p:cNvSpPr>
          <p:nvPr>
            <p:ph idx="1"/>
          </p:nvPr>
        </p:nvSpPr>
        <p:spPr>
          <a:xfrm>
            <a:off x="685800" y="1219200"/>
            <a:ext cx="7772400" cy="4114800"/>
          </a:xfrm>
        </p:spPr>
        <p:txBody>
          <a:bodyPr/>
          <a:lstStyle/>
          <a:p>
            <a:r>
              <a:rPr lang="en-US" dirty="0" smtClean="0"/>
              <a:t>Academic libraries:</a:t>
            </a:r>
          </a:p>
          <a:p>
            <a:pPr lvl="1"/>
            <a:r>
              <a:rPr lang="en-US" sz="2400" dirty="0" smtClean="0">
                <a:hlinkClick r:id="rId3"/>
              </a:rPr>
              <a:t>Cornell</a:t>
            </a:r>
            <a:endParaRPr lang="en-US" sz="2400" dirty="0" smtClean="0"/>
          </a:p>
          <a:p>
            <a:pPr lvl="1"/>
            <a:r>
              <a:rPr lang="en-US" sz="2400" dirty="0" smtClean="0">
                <a:hlinkClick r:id="rId4"/>
              </a:rPr>
              <a:t>MIT</a:t>
            </a:r>
            <a:endParaRPr lang="en-US" sz="2400" dirty="0" smtClean="0"/>
          </a:p>
          <a:p>
            <a:pPr lvl="1"/>
            <a:r>
              <a:rPr lang="en-US" sz="2400" dirty="0" smtClean="0">
                <a:hlinkClick r:id="rId5"/>
              </a:rPr>
              <a:t>University of Edinburgh</a:t>
            </a:r>
            <a:endParaRPr lang="en-US" sz="2400" dirty="0" smtClean="0"/>
          </a:p>
          <a:p>
            <a:pPr lvl="1"/>
            <a:r>
              <a:rPr lang="en-US" sz="2400" dirty="0" smtClean="0">
                <a:hlinkClick r:id="rId6"/>
              </a:rPr>
              <a:t>University of Minnesota</a:t>
            </a:r>
            <a:endParaRPr lang="en-US" sz="2400" dirty="0" smtClean="0"/>
          </a:p>
          <a:p>
            <a:r>
              <a:rPr lang="en-US" dirty="0" smtClean="0"/>
              <a:t>Data Archives/Services:</a:t>
            </a:r>
          </a:p>
          <a:p>
            <a:pPr lvl="1"/>
            <a:r>
              <a:rPr lang="en-US" sz="2400" dirty="0" smtClean="0"/>
              <a:t>Australian National Data Service: </a:t>
            </a:r>
            <a:br>
              <a:rPr lang="en-US" sz="2400" dirty="0" smtClean="0"/>
            </a:br>
            <a:r>
              <a:rPr lang="en-US" sz="2400" dirty="0" smtClean="0">
                <a:hlinkClick r:id="rId7"/>
              </a:rPr>
              <a:t>Data Management Planning</a:t>
            </a:r>
            <a:endParaRPr lang="en-US" sz="2400" dirty="0" smtClean="0"/>
          </a:p>
          <a:p>
            <a:pPr lvl="1"/>
            <a:r>
              <a:rPr lang="en-US" sz="2400" dirty="0" smtClean="0"/>
              <a:t>Finnish Social Science Data Archive: </a:t>
            </a:r>
            <a:br>
              <a:rPr lang="en-US" sz="2400" dirty="0" smtClean="0"/>
            </a:br>
            <a:r>
              <a:rPr lang="en-US" sz="2400" u="sng" dirty="0" smtClean="0">
                <a:hlinkClick r:id="rId8"/>
              </a:rPr>
              <a:t>Data Management Planning</a:t>
            </a:r>
            <a:r>
              <a:rPr lang="en-US" sz="2400" dirty="0" smtClean="0"/>
              <a:t> </a:t>
            </a:r>
          </a:p>
          <a:p>
            <a:pPr lvl="1"/>
            <a:r>
              <a:rPr lang="en-US" sz="2400" dirty="0" smtClean="0"/>
              <a:t>U.K. Data Archive: </a:t>
            </a:r>
            <a:r>
              <a:rPr lang="en-US" sz="2400" dirty="0" smtClean="0">
                <a:hlinkClick r:id="rId9"/>
              </a:rPr>
              <a:t>Create &amp; Manage Data</a:t>
            </a:r>
            <a:endParaRPr lang="en-US" sz="24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lstStyle/>
          <a:p>
            <a:pPr algn="ctr"/>
            <a:r>
              <a:rPr lang="en-US" dirty="0" smtClean="0">
                <a:solidFill>
                  <a:srgbClr val="36509A"/>
                </a:solidFill>
              </a:rPr>
              <a:t>Manuals</a:t>
            </a:r>
            <a:endParaRPr lang="en-US" dirty="0">
              <a:solidFill>
                <a:srgbClr val="36509A"/>
              </a:solidFill>
            </a:endParaRPr>
          </a:p>
        </p:txBody>
      </p:sp>
      <p:sp>
        <p:nvSpPr>
          <p:cNvPr id="3" name="Content Placeholder 2"/>
          <p:cNvSpPr>
            <a:spLocks noGrp="1"/>
          </p:cNvSpPr>
          <p:nvPr>
            <p:ph idx="1"/>
          </p:nvPr>
        </p:nvSpPr>
        <p:spPr>
          <a:xfrm>
            <a:off x="685800" y="1447800"/>
            <a:ext cx="8458200" cy="4114800"/>
          </a:xfrm>
        </p:spPr>
        <p:txBody>
          <a:bodyPr/>
          <a:lstStyle/>
          <a:p>
            <a:r>
              <a:rPr lang="en-US" dirty="0" smtClean="0">
                <a:hlinkClick r:id="rId3"/>
              </a:rPr>
              <a:t>ICPSR Guide to Social Science Data Preparation and Archiving</a:t>
            </a:r>
            <a:r>
              <a:rPr lang="en-US" dirty="0" smtClean="0"/>
              <a:t> (</a:t>
            </a:r>
            <a:r>
              <a:rPr lang="en-US" dirty="0" err="1" smtClean="0"/>
              <a:t>pdf</a:t>
            </a:r>
            <a:r>
              <a:rPr lang="en-US" dirty="0" smtClean="0"/>
              <a:t>)</a:t>
            </a:r>
          </a:p>
          <a:p>
            <a:r>
              <a:rPr lang="en-US" dirty="0" smtClean="0"/>
              <a:t>UKDA: </a:t>
            </a:r>
            <a:r>
              <a:rPr lang="en-US" dirty="0" smtClean="0">
                <a:hlinkClick r:id="rId4"/>
              </a:rPr>
              <a:t>Managing and Sharing Data</a:t>
            </a:r>
            <a:r>
              <a:rPr lang="en-US" dirty="0" smtClean="0"/>
              <a:t> (</a:t>
            </a:r>
            <a:r>
              <a:rPr lang="en-US" dirty="0" err="1" smtClean="0"/>
              <a:t>pdf</a:t>
            </a:r>
            <a:r>
              <a:rPr lang="en-US" dirty="0" smtClean="0"/>
              <a:t>)</a:t>
            </a:r>
          </a:p>
          <a:p>
            <a:r>
              <a:rPr lang="en-US" smtClean="0"/>
              <a:t>Australian </a:t>
            </a:r>
            <a:r>
              <a:rPr lang="en-US" dirty="0" smtClean="0"/>
              <a:t>National University: </a:t>
            </a:r>
            <a:br>
              <a:rPr lang="en-US" dirty="0" smtClean="0"/>
            </a:br>
            <a:r>
              <a:rPr lang="en-US" dirty="0" smtClean="0">
                <a:hlinkClick r:id="rId5"/>
              </a:rPr>
              <a:t>Data Management Manual</a:t>
            </a:r>
            <a:r>
              <a:rPr lang="en-US" dirty="0" smtClean="0"/>
              <a:t> (</a:t>
            </a:r>
            <a:r>
              <a:rPr lang="en-US" dirty="0" err="1" smtClean="0"/>
              <a:t>pdf</a:t>
            </a:r>
            <a:r>
              <a:rPr lang="en-US" dirty="0" smtClean="0"/>
              <a:t>)</a:t>
            </a:r>
          </a:p>
          <a:p>
            <a:r>
              <a:rPr lang="en-US" dirty="0" smtClean="0"/>
              <a:t>CIESIN: </a:t>
            </a:r>
            <a:r>
              <a:rPr lang="en-US" dirty="0" smtClean="0">
                <a:hlinkClick r:id="rId6"/>
              </a:rPr>
              <a:t>Geospatial Electronic Records</a:t>
            </a:r>
            <a:endParaRPr lang="en-US" dirty="0" smtClean="0"/>
          </a:p>
          <a:p>
            <a:r>
              <a:rPr lang="en-US" dirty="0" smtClean="0"/>
              <a:t>Oak Ridge National Laboratory: </a:t>
            </a:r>
            <a:r>
              <a:rPr lang="en-US" dirty="0" smtClean="0">
                <a:hlinkClick r:id="rId7"/>
              </a:rPr>
              <a:t>Best Practices for Preparing Environmental Data Sets to Share and Archive</a:t>
            </a:r>
            <a:endParaRPr 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36509A"/>
                </a:solidFill>
              </a:rPr>
              <a:t>Templates for Plans</a:t>
            </a:r>
            <a:endParaRPr lang="en-US" dirty="0">
              <a:solidFill>
                <a:srgbClr val="36509A"/>
              </a:solidFill>
            </a:endParaRPr>
          </a:p>
        </p:txBody>
      </p:sp>
      <p:sp>
        <p:nvSpPr>
          <p:cNvPr id="3" name="Content Placeholder 2"/>
          <p:cNvSpPr>
            <a:spLocks noGrp="1"/>
          </p:cNvSpPr>
          <p:nvPr>
            <p:ph idx="1"/>
          </p:nvPr>
        </p:nvSpPr>
        <p:spPr>
          <a:xfrm>
            <a:off x="685800" y="1981200"/>
            <a:ext cx="8229600" cy="4114800"/>
          </a:xfrm>
        </p:spPr>
        <p:txBody>
          <a:bodyPr/>
          <a:lstStyle/>
          <a:p>
            <a:r>
              <a:rPr lang="en-US" dirty="0" smtClean="0"/>
              <a:t>Digital Curation Centre:</a:t>
            </a:r>
          </a:p>
          <a:p>
            <a:pPr lvl="1"/>
            <a:r>
              <a:rPr lang="en-GB" dirty="0" smtClean="0">
                <a:hlinkClick r:id="rId3"/>
              </a:rPr>
              <a:t>Template for a Data Management Plan</a:t>
            </a:r>
            <a:r>
              <a:rPr lang="en-GB" dirty="0" smtClean="0"/>
              <a:t> </a:t>
            </a:r>
            <a:r>
              <a:rPr lang="en-US" dirty="0" smtClean="0"/>
              <a:t>(Word)</a:t>
            </a:r>
          </a:p>
          <a:p>
            <a:pPr lvl="1"/>
            <a:r>
              <a:rPr lang="en-US" u="sng" dirty="0" smtClean="0">
                <a:hlinkClick r:id="rId4"/>
              </a:rPr>
              <a:t>DMP Online</a:t>
            </a:r>
            <a:r>
              <a:rPr lang="en-US" dirty="0" smtClean="0"/>
              <a:t> </a:t>
            </a:r>
          </a:p>
          <a:p>
            <a:r>
              <a:rPr lang="en-US" dirty="0" err="1" smtClean="0"/>
              <a:t>Relu</a:t>
            </a:r>
            <a:r>
              <a:rPr lang="en-US" dirty="0" smtClean="0"/>
              <a:t>-DSS: </a:t>
            </a:r>
            <a:r>
              <a:rPr lang="en-US" dirty="0" smtClean="0">
                <a:hlinkClick r:id="rId5" tooltip="project communication and data management plan"/>
              </a:rPr>
              <a:t>Project Communication and Data Management Plan</a:t>
            </a:r>
            <a:r>
              <a:rPr lang="en-US" dirty="0" smtClean="0"/>
              <a:t> (Word)</a:t>
            </a:r>
          </a:p>
          <a:p>
            <a:r>
              <a:rPr lang="en-US" dirty="0" smtClean="0"/>
              <a:t>University of Melbourne: </a:t>
            </a:r>
            <a:r>
              <a:rPr lang="en-US" u="sng" dirty="0" smtClean="0">
                <a:hlinkClick r:id="rId6"/>
              </a:rPr>
              <a:t>Research Data Management Plan Template</a:t>
            </a:r>
            <a:r>
              <a:rPr lang="en-US" dirty="0" smtClean="0"/>
              <a:t> </a:t>
            </a:r>
            <a:r>
              <a:rPr lang="en-US" sz="2400" dirty="0" smtClean="0"/>
              <a:t>(Word)</a:t>
            </a:r>
            <a:endParaRPr lang="en-US" sz="2400" u="sng"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4"/>
          <p:cNvSpPr>
            <a:spLocks noGrp="1"/>
          </p:cNvSpPr>
          <p:nvPr>
            <p:ph idx="1"/>
          </p:nvPr>
        </p:nvSpPr>
        <p:spPr/>
        <p:txBody>
          <a:bodyPr/>
          <a:lstStyle/>
          <a:p>
            <a:endParaRPr lang="en-US" smtClean="0">
              <a:ea typeface="ＭＳ Ｐゴシック" pitchFamily="34" charset="-128"/>
            </a:endParaRPr>
          </a:p>
        </p:txBody>
      </p:sp>
      <p:pic>
        <p:nvPicPr>
          <p:cNvPr id="27651" name="Picture 3"/>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762000" y="4876800"/>
            <a:ext cx="7696200" cy="838200"/>
          </a:xfrm>
        </p:spPr>
        <p:txBody>
          <a:bodyPr/>
          <a:lstStyle/>
          <a:p>
            <a:pPr algn="ctr" eaLnBrk="1" hangingPunct="1">
              <a:defRPr/>
            </a:pPr>
            <a:r>
              <a:rPr lang="en-US" dirty="0" smtClean="0">
                <a:solidFill>
                  <a:schemeClr val="bg1">
                    <a:lumMod val="95000"/>
                  </a:schemeClr>
                </a:solidFill>
              </a:rPr>
              <a:t>Service Models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1143000"/>
          </a:xfrm>
        </p:spPr>
        <p:txBody>
          <a:bodyPr/>
          <a:lstStyle/>
          <a:p>
            <a:pPr algn="ctr"/>
            <a:r>
              <a:rPr lang="en-US" dirty="0" smtClean="0">
                <a:solidFill>
                  <a:srgbClr val="36509A"/>
                </a:solidFill>
              </a:rPr>
              <a:t>Academic Library Support</a:t>
            </a:r>
            <a:endParaRPr lang="en-US" dirty="0">
              <a:solidFill>
                <a:srgbClr val="36509A"/>
              </a:solidFill>
            </a:endParaRPr>
          </a:p>
        </p:txBody>
      </p:sp>
      <p:sp>
        <p:nvSpPr>
          <p:cNvPr id="3" name="Content Placeholder 2"/>
          <p:cNvSpPr>
            <a:spLocks noGrp="1"/>
          </p:cNvSpPr>
          <p:nvPr>
            <p:ph idx="1"/>
          </p:nvPr>
        </p:nvSpPr>
        <p:spPr>
          <a:xfrm>
            <a:off x="685800" y="1676400"/>
            <a:ext cx="8153400" cy="4114800"/>
          </a:xfrm>
        </p:spPr>
        <p:txBody>
          <a:bodyPr/>
          <a:lstStyle/>
          <a:p>
            <a:r>
              <a:rPr lang="en-US" sz="2400" dirty="0" smtClean="0"/>
              <a:t>Interdisciplinary librarian group: web guide, workshops, and consulting (MIT and University of Minnesota)</a:t>
            </a:r>
          </a:p>
          <a:p>
            <a:r>
              <a:rPr lang="en-US" sz="2400" dirty="0" smtClean="0"/>
              <a:t>Dedicated Data Curation Center: (Purdue U.)</a:t>
            </a:r>
          </a:p>
          <a:p>
            <a:r>
              <a:rPr lang="en-US" sz="2400" dirty="0" smtClean="0"/>
              <a:t>Any librarian (UC Davis Health Science Libraries)</a:t>
            </a:r>
          </a:p>
          <a:p>
            <a:r>
              <a:rPr lang="en-US" sz="2400" dirty="0" smtClean="0"/>
              <a:t>Scholarly communication officer (Binghamton U.)</a:t>
            </a:r>
          </a:p>
          <a:p>
            <a:r>
              <a:rPr lang="en-US" sz="2400" dirty="0" smtClean="0"/>
              <a:t>Partnerships with various other campus service providers (Cornell)</a:t>
            </a:r>
          </a:p>
          <a:p>
            <a:r>
              <a:rPr lang="en-US" sz="2400" dirty="0" smtClean="0"/>
              <a:t>Partnership between Data Library and Research Computing (University of Edinburgh)</a:t>
            </a:r>
            <a:endParaRPr 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1143000"/>
          </a:xfrm>
        </p:spPr>
        <p:txBody>
          <a:bodyPr/>
          <a:lstStyle/>
          <a:p>
            <a:pPr algn="ctr"/>
            <a:r>
              <a:rPr lang="en-US" dirty="0" smtClean="0">
                <a:solidFill>
                  <a:srgbClr val="36509A"/>
                </a:solidFill>
              </a:rPr>
              <a:t>Other Models</a:t>
            </a:r>
            <a:endParaRPr lang="en-US" dirty="0">
              <a:solidFill>
                <a:srgbClr val="36509A"/>
              </a:solidFill>
            </a:endParaRPr>
          </a:p>
        </p:txBody>
      </p:sp>
      <p:sp>
        <p:nvSpPr>
          <p:cNvPr id="3" name="Content Placeholder 2"/>
          <p:cNvSpPr>
            <a:spLocks noGrp="1"/>
          </p:cNvSpPr>
          <p:nvPr>
            <p:ph idx="1"/>
          </p:nvPr>
        </p:nvSpPr>
        <p:spPr>
          <a:xfrm>
            <a:off x="685800" y="1676400"/>
            <a:ext cx="8001000" cy="4114800"/>
          </a:xfrm>
        </p:spPr>
        <p:txBody>
          <a:bodyPr/>
          <a:lstStyle/>
          <a:p>
            <a:r>
              <a:rPr lang="en-US" sz="2400" dirty="0" smtClean="0"/>
              <a:t>National Data Service: </a:t>
            </a:r>
            <a:br>
              <a:rPr lang="en-US" sz="2400" dirty="0" smtClean="0"/>
            </a:br>
            <a:r>
              <a:rPr lang="en-US" sz="2400" dirty="0" smtClean="0">
                <a:hlinkClick r:id="rId3"/>
              </a:rPr>
              <a:t>Australian National Data Service</a:t>
            </a:r>
            <a:endParaRPr lang="en-US" sz="2400" dirty="0" smtClean="0"/>
          </a:p>
          <a:p>
            <a:r>
              <a:rPr lang="en-US" sz="2400" dirty="0" smtClean="0"/>
              <a:t>Funder Support: </a:t>
            </a:r>
            <a:r>
              <a:rPr lang="en-US" sz="2400" dirty="0" smtClean="0">
                <a:hlinkClick r:id="rId4"/>
              </a:rPr>
              <a:t>U.K. Data Archive</a:t>
            </a:r>
            <a:endParaRPr lang="en-US" sz="2400" dirty="0" smtClean="0"/>
          </a:p>
          <a:p>
            <a:r>
              <a:rPr lang="en-US" sz="2400" dirty="0" smtClean="0"/>
              <a:t>Sponsored research administration: University of Michigan </a:t>
            </a:r>
            <a:r>
              <a:rPr lang="en-US" sz="2400" u="sng" dirty="0" smtClean="0">
                <a:hlinkClick r:id="rId5"/>
              </a:rPr>
              <a:t>Data Sharing Resource Center</a:t>
            </a:r>
            <a:r>
              <a:rPr lang="en-US" sz="2400" dirty="0" smtClean="0"/>
              <a:t> in partnership with the library</a:t>
            </a:r>
          </a:p>
          <a:p>
            <a:r>
              <a:rPr lang="en-US" sz="2400" dirty="0" smtClean="0"/>
              <a:t>Inter-university collaborations: </a:t>
            </a:r>
            <a:br>
              <a:rPr lang="en-US" sz="2400" dirty="0" smtClean="0"/>
            </a:br>
            <a:r>
              <a:rPr lang="en-US" sz="2400" dirty="0" smtClean="0">
                <a:hlinkClick r:id="rId6"/>
              </a:rPr>
              <a:t>Canadian Association of Research Libraries Data Management Working Group</a:t>
            </a:r>
            <a:endParaRPr lang="en-US" sz="2400" dirty="0" smtClean="0"/>
          </a:p>
          <a:p>
            <a:r>
              <a:rPr lang="en-US" sz="2400" dirty="0" smtClean="0"/>
              <a:t>Professional society: </a:t>
            </a:r>
            <a:r>
              <a:rPr lang="en-US" sz="2400" dirty="0" smtClean="0">
                <a:hlinkClick r:id="rId7"/>
              </a:rPr>
              <a:t>IASSIST Data Management &amp; Curation Good Practice Action Group</a:t>
            </a:r>
            <a:endParaRPr lang="en-US" sz="2400" dirty="0" smtClean="0"/>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4"/>
          <p:cNvSpPr>
            <a:spLocks noGrp="1"/>
          </p:cNvSpPr>
          <p:nvPr>
            <p:ph idx="1"/>
          </p:nvPr>
        </p:nvSpPr>
        <p:spPr/>
        <p:txBody>
          <a:bodyPr/>
          <a:lstStyle/>
          <a:p>
            <a:endParaRPr lang="en-US" smtClean="0">
              <a:ea typeface="ＭＳ Ｐゴシック" pitchFamily="34" charset="-128"/>
            </a:endParaRPr>
          </a:p>
        </p:txBody>
      </p:sp>
      <p:pic>
        <p:nvPicPr>
          <p:cNvPr id="27651" name="Picture 3"/>
          <p:cNvPicPr>
            <a:picLocks noChangeAspect="1" noChangeArrowheads="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762000" y="4876800"/>
            <a:ext cx="7696200" cy="838200"/>
          </a:xfrm>
        </p:spPr>
        <p:txBody>
          <a:bodyPr/>
          <a:lstStyle/>
          <a:p>
            <a:pPr algn="ctr" eaLnBrk="1" hangingPunct="1">
              <a:defRPr/>
            </a:pPr>
            <a:r>
              <a:rPr lang="en-US" dirty="0" smtClean="0">
                <a:solidFill>
                  <a:schemeClr val="bg1">
                    <a:lumMod val="95000"/>
                  </a:schemeClr>
                </a:solidFill>
              </a:rPr>
              <a:t>Conclusion</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772400" cy="1143000"/>
          </a:xfrm>
        </p:spPr>
        <p:txBody>
          <a:bodyPr/>
          <a:lstStyle/>
          <a:p>
            <a:pPr algn="ctr"/>
            <a:r>
              <a:rPr lang="en-US" dirty="0" smtClean="0">
                <a:solidFill>
                  <a:srgbClr val="36509A"/>
                </a:solidFill>
                <a:ea typeface="ＭＳ Ｐゴシック" pitchFamily="34" charset="-128"/>
              </a:rPr>
              <a:t>Discussion</a:t>
            </a:r>
            <a:endParaRPr lang="en-US" dirty="0"/>
          </a:p>
        </p:txBody>
      </p:sp>
      <p:sp>
        <p:nvSpPr>
          <p:cNvPr id="3" name="Content Placeholder 2"/>
          <p:cNvSpPr>
            <a:spLocks noGrp="1"/>
          </p:cNvSpPr>
          <p:nvPr>
            <p:ph idx="1"/>
          </p:nvPr>
        </p:nvSpPr>
        <p:spPr>
          <a:xfrm>
            <a:off x="685800" y="1524000"/>
            <a:ext cx="8001000" cy="4114800"/>
          </a:xfrm>
        </p:spPr>
        <p:txBody>
          <a:bodyPr/>
          <a:lstStyle/>
          <a:p>
            <a:pPr lvl="0"/>
            <a:r>
              <a:rPr lang="en-US" dirty="0" smtClean="0"/>
              <a:t>Opportunity to collaborate across disciplines and partner with other service domains</a:t>
            </a:r>
          </a:p>
          <a:p>
            <a:pPr lvl="0"/>
            <a:r>
              <a:rPr lang="en-US" dirty="0" smtClean="0"/>
              <a:t>Latitude vs. structure?</a:t>
            </a:r>
          </a:p>
          <a:p>
            <a:pPr lvl="0"/>
            <a:r>
              <a:rPr lang="en-US" dirty="0" smtClean="0"/>
              <a:t>Greater attention vs. clerical task?</a:t>
            </a:r>
          </a:p>
          <a:p>
            <a:pPr lvl="0"/>
            <a:r>
              <a:rPr lang="en-US" dirty="0" smtClean="0"/>
              <a:t>Who will be responsible for data management?</a:t>
            </a:r>
          </a:p>
          <a:p>
            <a:pPr lvl="0"/>
            <a:r>
              <a:rPr lang="en-US" dirty="0" smtClean="0"/>
              <a:t>How does support for a specific 			requirement fit into a broader 		data management service?</a:t>
            </a:r>
          </a:p>
          <a:p>
            <a:pPr lvl="0"/>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1143000"/>
          </a:xfrm>
        </p:spPr>
        <p:txBody>
          <a:bodyPr/>
          <a:lstStyle/>
          <a:p>
            <a:pPr algn="ctr"/>
            <a:r>
              <a:rPr lang="en-US" dirty="0" smtClean="0">
                <a:solidFill>
                  <a:srgbClr val="36509A"/>
                </a:solidFill>
                <a:ea typeface="ＭＳ Ｐゴシック" pitchFamily="34" charset="-128"/>
              </a:rPr>
              <a:t>Further Reading</a:t>
            </a:r>
            <a:endParaRPr lang="en-US" dirty="0"/>
          </a:p>
        </p:txBody>
      </p:sp>
      <p:sp>
        <p:nvSpPr>
          <p:cNvPr id="3" name="Content Placeholder 2"/>
          <p:cNvSpPr>
            <a:spLocks noGrp="1"/>
          </p:cNvSpPr>
          <p:nvPr>
            <p:ph idx="1"/>
          </p:nvPr>
        </p:nvSpPr>
        <p:spPr>
          <a:xfrm>
            <a:off x="685800" y="1676400"/>
            <a:ext cx="8001000" cy="4114800"/>
          </a:xfrm>
        </p:spPr>
        <p:txBody>
          <a:bodyPr/>
          <a:lstStyle/>
          <a:p>
            <a:r>
              <a:rPr lang="en-US" sz="2400" kern="1200" dirty="0" smtClean="0"/>
              <a:t>National Science Board's </a:t>
            </a:r>
            <a:r>
              <a:rPr lang="en-US" sz="2400" u="sng" kern="1200" dirty="0" smtClean="0">
                <a:hlinkClick r:id="rId3"/>
              </a:rPr>
              <a:t>Long-Lived Digital Data Collections Enabling Research and Education in the 21st Century</a:t>
            </a:r>
            <a:endParaRPr lang="en-US" sz="2400" u="sng" kern="1200" dirty="0" smtClean="0"/>
          </a:p>
          <a:p>
            <a:r>
              <a:rPr lang="en-US" sz="2400" dirty="0" smtClean="0"/>
              <a:t>NSF: </a:t>
            </a:r>
            <a:r>
              <a:rPr lang="en-US" sz="2400" dirty="0" err="1" smtClean="0">
                <a:hlinkClick r:id="rId4"/>
              </a:rPr>
              <a:t>Cyberinfrastructure</a:t>
            </a:r>
            <a:r>
              <a:rPr lang="en-US" sz="2400" dirty="0" smtClean="0">
                <a:hlinkClick r:id="rId4"/>
              </a:rPr>
              <a:t> Vision for 21st-Century Discovery</a:t>
            </a:r>
            <a:r>
              <a:rPr lang="en-US" sz="2400" dirty="0" smtClean="0"/>
              <a:t> (</a:t>
            </a:r>
            <a:r>
              <a:rPr lang="en-US" sz="2400" dirty="0" err="1" smtClean="0"/>
              <a:t>pdf</a:t>
            </a:r>
            <a:r>
              <a:rPr lang="en-US" sz="2400" dirty="0" smtClean="0"/>
              <a:t>)</a:t>
            </a:r>
            <a:endParaRPr lang="en-US" sz="2400" kern="1200" dirty="0" smtClean="0"/>
          </a:p>
          <a:p>
            <a:r>
              <a:rPr lang="en-US" sz="2400" dirty="0" smtClean="0"/>
              <a:t>National Academies: </a:t>
            </a:r>
            <a:r>
              <a:rPr lang="en-US" sz="2400" dirty="0" smtClean="0">
                <a:hlinkClick r:id="rId5"/>
              </a:rPr>
              <a:t>Ensuring the Integrity, Accessibility, and Stewardship of Research Data in the Digital Age</a:t>
            </a:r>
            <a:endParaRPr lang="en-US" sz="2400" dirty="0" smtClean="0"/>
          </a:p>
          <a:p>
            <a:r>
              <a:rPr lang="en-US" sz="2400" kern="1200" dirty="0" smtClean="0"/>
              <a:t>ARL: </a:t>
            </a:r>
            <a:r>
              <a:rPr lang="en-US" sz="2400" dirty="0" smtClean="0">
                <a:hlinkClick r:id="rId6"/>
              </a:rPr>
              <a:t>E-Science and Data Support Services</a:t>
            </a:r>
            <a:r>
              <a:rPr lang="en-US" sz="2400" dirty="0" smtClean="0"/>
              <a:t> (</a:t>
            </a:r>
            <a:r>
              <a:rPr lang="en-US" sz="2400" dirty="0" err="1" smtClean="0"/>
              <a:t>pdf</a:t>
            </a:r>
            <a:r>
              <a:rPr lang="en-US" sz="2400" dirty="0" smtClean="0"/>
              <a:t>)</a:t>
            </a:r>
          </a:p>
          <a:p>
            <a:r>
              <a:rPr lang="en-US" sz="2400" dirty="0" smtClean="0"/>
              <a:t>For more: </a:t>
            </a:r>
            <a:r>
              <a:rPr lang="en-US" sz="2400" dirty="0" smtClean="0">
                <a:hlinkClick r:id="rId7"/>
              </a:rPr>
              <a:t>National Data Management Reports</a:t>
            </a:r>
            <a:r>
              <a:rPr lang="en-US" sz="2400" dirty="0" smtClean="0"/>
              <a:t> (U. Minnesota Libraries)</a:t>
            </a:r>
          </a:p>
          <a:p>
            <a:endParaRPr lang="en-US" sz="3200" dirty="0" smtClean="0"/>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36509A"/>
                </a:solidFill>
                <a:ea typeface="ＭＳ Ｐゴシック" pitchFamily="34" charset="-128"/>
              </a:rPr>
              <a:t>Conclusion</a:t>
            </a:r>
            <a:endParaRPr lang="en-US" dirty="0"/>
          </a:p>
        </p:txBody>
      </p:sp>
      <p:sp>
        <p:nvSpPr>
          <p:cNvPr id="3" name="Content Placeholder 2"/>
          <p:cNvSpPr>
            <a:spLocks noGrp="1"/>
          </p:cNvSpPr>
          <p:nvPr>
            <p:ph idx="1"/>
          </p:nvPr>
        </p:nvSpPr>
        <p:spPr>
          <a:xfrm>
            <a:off x="685800" y="1828800"/>
            <a:ext cx="8001000" cy="4114800"/>
          </a:xfrm>
        </p:spPr>
        <p:txBody>
          <a:bodyPr/>
          <a:lstStyle/>
          <a:p>
            <a:r>
              <a:rPr lang="en-US" dirty="0" smtClean="0"/>
              <a:t>Use requirements as a jumping-off point for broader conversations about data management services</a:t>
            </a:r>
          </a:p>
          <a:p>
            <a:r>
              <a:rPr lang="en-US" dirty="0" smtClean="0"/>
              <a:t>Collaborate with others in and out of your department and institution</a:t>
            </a:r>
          </a:p>
          <a:p>
            <a:endParaRPr lang="en-US" dirty="0" smtClean="0"/>
          </a:p>
          <a:p>
            <a:r>
              <a:rPr lang="en-US" dirty="0" smtClean="0"/>
              <a:t>Thank you! Questions and comments?</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ICPSR_blue_text">
  <a:themeElements>
    <a:clrScheme name="ICPSR_blue_tex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CPSR_blue_tex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defRPr>
        </a:defPPr>
      </a:lstStyle>
    </a:lnDef>
  </a:objectDefaults>
  <a:extraClrSchemeLst>
    <a:extraClrScheme>
      <a:clrScheme name="ICPSR_blue_tex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CPSR_blue_tex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CPSR_blue_tex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CPSR_blue_tex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CPSR_blue_tex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CPSR_blue_tex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CPSR_blue_tex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CPSR_blue_tex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CPSR_blue_tex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CPSR_blue_tex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CPSR_blue_tex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CPSR_blue_tex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7215</TotalTime>
  <Words>697</Words>
  <Application>Microsoft Office PowerPoint</Application>
  <PresentationFormat>On-screen Show (4:3)</PresentationFormat>
  <Paragraphs>130</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ICPSR_blue_text</vt:lpstr>
      <vt:lpstr>Data Management Plans</vt:lpstr>
      <vt:lpstr>Introduction</vt:lpstr>
      <vt:lpstr>History</vt:lpstr>
      <vt:lpstr>Major U.S. Funder Requirements</vt:lpstr>
      <vt:lpstr>U.S. Legal Foundation</vt:lpstr>
      <vt:lpstr>National Science Foundation</vt:lpstr>
      <vt:lpstr>National Institutes of Health</vt:lpstr>
      <vt:lpstr>National Institute of Justice</vt:lpstr>
      <vt:lpstr>Other Funders</vt:lpstr>
      <vt:lpstr>Resources</vt:lpstr>
      <vt:lpstr>What Should be in a Data Management Plan?</vt:lpstr>
      <vt:lpstr>ICPSR Guidelines for Effective Data Management Plans</vt:lpstr>
      <vt:lpstr>Data Management Guides</vt:lpstr>
      <vt:lpstr>Manuals</vt:lpstr>
      <vt:lpstr>Templates for Plans</vt:lpstr>
      <vt:lpstr>Service Models</vt:lpstr>
      <vt:lpstr>Academic Library Support</vt:lpstr>
      <vt:lpstr>Other Models</vt:lpstr>
      <vt:lpstr>Conclusion</vt:lpstr>
      <vt:lpstr>Discussion</vt:lpstr>
      <vt:lpstr>Further Reading</vt:lpstr>
      <vt:lpstr>Conclusion</vt:lpstr>
    </vt:vector>
  </TitlesOfParts>
  <Company>Karen Moeller</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Karen Moeller</dc:creator>
  <cp:lastModifiedBy>mcneillh</cp:lastModifiedBy>
  <cp:revision>397</cp:revision>
  <dcterms:created xsi:type="dcterms:W3CDTF">2007-09-24T22:42:30Z</dcterms:created>
  <dcterms:modified xsi:type="dcterms:W3CDTF">2010-11-08T20:26:43Z</dcterms:modified>
</cp:coreProperties>
</file>