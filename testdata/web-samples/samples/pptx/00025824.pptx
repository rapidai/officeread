
<file path=[Content_Types].xml><?xml version="1.0" encoding="utf-8"?>
<Types xmlns="http://schemas.openxmlformats.org/package/2006/content-types">
  <Override PartName="/ppt/slides/slide6.xml" ContentType="application/vnd.openxmlformats-officedocument.presentationml.slide+xml"/>
  <Override PartName="/ppt/slideLayouts/slideLayout8.xml" ContentType="application/vnd.openxmlformats-officedocument.presentationml.slideLayout+xml"/>
  <Override PartName="/ppt/notesSlides/notesSlide2.xml" ContentType="application/vnd.openxmlformats-officedocument.presentationml.notesSlide+xml"/>
  <Override PartName="/ppt/slideMasters/slideMaster1.xml" ContentType="application/vnd.openxmlformats-officedocument.presentationml.slideMaster+xml"/>
  <Override PartName="/ppt/slides/slide4.xml" ContentType="application/vnd.openxmlformats-officedocument.presentationml.slide+xml"/>
  <Override PartName="/ppt/slides/slide18.xml" ContentType="application/vnd.openxmlformats-officedocument.presentationml.slide+xml"/>
  <Override PartName="/ppt/slideLayouts/slideLayout4.xml" ContentType="application/vnd.openxmlformats-officedocument.presentationml.slideLayout+xml"/>
  <Override PartName="/ppt/slideLayouts/slideLayout6.xml" ContentType="application/vnd.openxmlformats-officedocument.presentationml.slideLayout+xml"/>
  <Override PartName="/ppt/slides/slide2.xml" ContentType="application/vnd.openxmlformats-officedocument.presentationml.slide+xml"/>
  <Override PartName="/ppt/slides/slide16.xml" ContentType="application/vnd.openxmlformats-officedocument.presentationml.slide+xml"/>
  <Override PartName="/ppt/slides/slide25.xml" ContentType="application/vnd.openxmlformats-officedocument.presentationml.slide+xml"/>
  <Override PartName="/ppt/theme/theme1.xml" ContentType="application/vnd.openxmlformats-officedocument.theme+xml"/>
  <Override PartName="/ppt/slideLayouts/slideLayout2.xml" ContentType="application/vnd.openxmlformats-officedocument.presentationml.slideLayout+xml"/>
  <Override PartName="/ppt/notesSlides/notesSlide18.xml" ContentType="application/vnd.openxmlformats-officedocument.presentationml.notesSlide+xml"/>
  <Default Extension="rels" ContentType="application/vnd.openxmlformats-package.relationships+xml"/>
  <Default Extension="xml" ContentType="application/xml"/>
  <Override PartName="/ppt/slides/slide14.xml" ContentType="application/vnd.openxmlformats-officedocument.presentationml.slide+xml"/>
  <Override PartName="/ppt/slides/slide23.xml" ContentType="application/vnd.openxmlformats-officedocument.presentationml.slide+xml"/>
  <Override PartName="/ppt/notesMasters/notesMaster1.xml" ContentType="application/vnd.openxmlformats-officedocument.presentationml.notesMaster+xml"/>
  <Override PartName="/ppt/notesSlides/notesSlide16.xml" ContentType="application/vnd.openxmlformats-officedocument.presentationml.notes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tableStyles.xml" ContentType="application/vnd.openxmlformats-officedocument.presentationml.tableStyles+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commentAuthors.xml" ContentType="application/vnd.openxmlformats-officedocument.presentationml.commentAuthors+xml"/>
  <Override PartName="/ppt/slideLayouts/slideLayout10.xml" ContentType="application/vnd.openxmlformats-officedocument.presentationml.slideLayout+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10.xml" ContentType="application/vnd.openxmlformats-officedocument.presentationml.notes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viewProps.xml" ContentType="application/vnd.openxmlformats-officedocument.presentationml.viewProps+xml"/>
  <Override PartName="/ppt/slideLayouts/slideLayout9.xml" ContentType="application/vnd.openxmlformats-officedocument.presentationml.slideLayout+xml"/>
  <Override PartName="/ppt/notesSlides/notesSlide4.xml" ContentType="application/vnd.openxmlformats-officedocument.presentationml.notesSlide+xml"/>
  <Override PartName="/ppt/notesSlides/notesSlide5.xml" ContentType="application/vnd.openxmlformats-officedocument.presentationml.notesSlide+xml"/>
  <Override PartName="/docProps/core.xml" ContentType="application/vnd.openxmlformats-package.core-properties+xml"/>
  <Override PartName="/ppt/slides/slide5.xml" ContentType="application/vnd.openxmlformats-officedocument.presentationml.slide+xml"/>
  <Override PartName="/ppt/slides/slide19.xml" ContentType="application/vnd.openxmlformats-officedocument.presentationml.slide+xml"/>
  <Override PartName="/ppt/slideLayouts/slideLayout7.xml" ContentType="application/vnd.openxmlformats-officedocument.presentationml.slideLayout+xml"/>
  <Override PartName="/ppt/notesSlides/notesSlide1.xml" ContentType="application/vnd.openxmlformats-officedocument.presentationml.notesSlide+xml"/>
  <Override PartName="/ppt/notesSlides/notesSlide3.xml" ContentType="application/vnd.openxmlformats-officedocument.presentationml.notesSlide+xml"/>
  <Default Extension="png" ContentType="image/png"/>
  <Override PartName="/ppt/slides/slide3.xml" ContentType="application/vnd.openxmlformats-officedocument.presentationml.slide+xml"/>
  <Override PartName="/ppt/slides/slide17.xml" ContentType="application/vnd.openxmlformats-officedocument.presentationml.slide+xml"/>
  <Override PartName="/ppt/presProps.xml" ContentType="application/vnd.openxmlformats-officedocument.presentationml.presProps+xml"/>
  <Override PartName="/ppt/slideLayouts/slideLayout5.xml" ContentType="application/vnd.openxmlformats-officedocument.presentationml.slideLayout+xml"/>
  <Override PartName="/ppt/theme/theme2.xml" ContentType="application/vnd.openxmlformats-officedocument.theme+xml"/>
  <Override PartName="/ppt/slides/slide1.xml" ContentType="application/vnd.openxmlformats-officedocument.presentationml.slide+xml"/>
  <Override PartName="/ppt/slides/slide15.xml" ContentType="application/vnd.openxmlformats-officedocument.presentationml.slide+xml"/>
  <Override PartName="/ppt/slides/slide24.xml" ContentType="application/vnd.openxmlformats-officedocument.presentationml.slide+xml"/>
  <Default Extension="jpeg" ContentType="image/jpeg"/>
  <Override PartName="/ppt/slideLayouts/slideLayout3.xml" ContentType="application/vnd.openxmlformats-officedocument.presentationml.slideLayout+xml"/>
  <Default Extension="emf" ContentType="image/x-emf"/>
  <Override PartName="/ppt/notesSlides/notesSlide17.xml" ContentType="application/vnd.openxmlformats-officedocument.presentationml.notesSlide+xml"/>
  <Override PartName="/ppt/presentation.xml" ContentType="application/vnd.openxmlformats-officedocument.presentationml.presentation.main+xml"/>
  <Override PartName="/ppt/slides/slide13.xml" ContentType="application/vnd.openxmlformats-officedocument.presentationml.slide+xml"/>
  <Override PartName="/ppt/slides/slide22.xml" ContentType="application/vnd.openxmlformats-officedocument.presentationml.slide+xml"/>
  <Override PartName="/ppt/slideLayouts/slideLayout1.xml" ContentType="application/vnd.openxmlformats-officedocument.presentationml.slideLayout+xml"/>
  <Override PartName="/ppt/notesSlides/notesSlide15.xml" ContentType="application/vnd.openxmlformats-officedocument.presentationml.notesSlide+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60" r:id="rId1"/>
  </p:sldMasterIdLst>
  <p:notesMasterIdLst>
    <p:notesMasterId r:id="rId27"/>
  </p:notesMasterIdLst>
  <p:sldIdLst>
    <p:sldId id="256" r:id="rId2"/>
    <p:sldId id="258" r:id="rId3"/>
    <p:sldId id="259" r:id="rId4"/>
    <p:sldId id="257" r:id="rId5"/>
    <p:sldId id="277" r:id="rId6"/>
    <p:sldId id="269" r:id="rId7"/>
    <p:sldId id="272" r:id="rId8"/>
    <p:sldId id="278" r:id="rId9"/>
    <p:sldId id="260" r:id="rId10"/>
    <p:sldId id="262" r:id="rId11"/>
    <p:sldId id="261" r:id="rId12"/>
    <p:sldId id="263" r:id="rId13"/>
    <p:sldId id="264" r:id="rId14"/>
    <p:sldId id="265" r:id="rId15"/>
    <p:sldId id="282" r:id="rId16"/>
    <p:sldId id="279" r:id="rId17"/>
    <p:sldId id="273" r:id="rId18"/>
    <p:sldId id="274" r:id="rId19"/>
    <p:sldId id="275" r:id="rId20"/>
    <p:sldId id="280" r:id="rId21"/>
    <p:sldId id="268" r:id="rId22"/>
    <p:sldId id="276" r:id="rId23"/>
    <p:sldId id="270" r:id="rId24"/>
    <p:sldId id="271" r:id="rId25"/>
    <p:sldId id="281" r:id="rId26"/>
  </p:sldIdLst>
  <p:sldSz cx="9144000" cy="6858000" type="screen4x3"/>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commentAuthors.xml><?xml version="1.0" encoding="utf-8"?>
<p:cmAuthorLst xmlns:a="http://schemas.openxmlformats.org/drawingml/2006/main" xmlns:r="http://schemas.openxmlformats.org/officeDocument/2006/relationships" xmlns:p="http://schemas.openxmlformats.org/presentationml/2006/main">
  <p:cmAuthor id="0" name="rkadri2" initials="" lastIdx="0" clrIdx="0"/>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xmlns="" val="0"/>
    </p:ext>
    <p:ext uri="{D31A062A-798A-4329-ABDD-BBA856620510}">
      <p14:defaultImageDpi xmlns:p14="http://schemas.microsoft.com/office/powerpoint/2010/main" xmlns=""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646" autoAdjust="0"/>
    <p:restoredTop sz="60457" autoAdjust="0"/>
  </p:normalViewPr>
  <p:slideViewPr>
    <p:cSldViewPr>
      <p:cViewPr varScale="1">
        <p:scale>
          <a:sx n="41" d="100"/>
          <a:sy n="41" d="100"/>
        </p:scale>
        <p:origin x="-1350" y="-96"/>
      </p:cViewPr>
      <p:guideLst>
        <p:guide orient="horz" pos="2160"/>
        <p:guide pos="2880"/>
      </p:guideLst>
    </p:cSldViewPr>
  </p:slideViewPr>
  <p:outlineViewPr>
    <p:cViewPr>
      <p:scale>
        <a:sx n="33" d="100"/>
        <a:sy n="33" d="100"/>
      </p:scale>
      <p:origin x="0" y="0"/>
    </p:cViewPr>
  </p:outlineViewPr>
  <p:notesTextViewPr>
    <p:cViewPr>
      <p:scale>
        <a:sx n="1" d="1"/>
        <a:sy n="1" d="1"/>
      </p:scale>
      <p:origin x="0" y="0"/>
    </p:cViewPr>
  </p:notesTextViewPr>
  <p:notesViewPr>
    <p:cSldViewPr>
      <p:cViewPr varScale="1">
        <p:scale>
          <a:sx n="88" d="100"/>
          <a:sy n="88" d="100"/>
        </p:scale>
        <p:origin x="-3024" y="-120"/>
      </p:cViewPr>
      <p:guideLst>
        <p:guide orient="horz" pos="2880"/>
        <p:guide pos="2160"/>
      </p:guideLst>
    </p:cSldViewPr>
  </p:notesViewPr>
  <p:gridSpacing cx="73736200" cy="7373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commentAuthors" Target="commentAuthor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CA" dirty="0"/>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BDD07979-47AA-4524-A952-79DE8782A8C5}" type="datetimeFigureOut">
              <a:rPr lang="en-CA" smtClean="0"/>
              <a:pPr/>
              <a:t>01/12/2011</a:t>
            </a:fld>
            <a:endParaRPr lang="en-CA" dirty="0"/>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CA" dirty="0"/>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CA"/>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CA" dirty="0"/>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4E64E6E5-8A88-402E-B9A1-7A82100A0A83}" type="slidenum">
              <a:rPr lang="en-CA" smtClean="0"/>
              <a:pPr/>
              <a:t>‹#›</a:t>
            </a:fld>
            <a:endParaRPr lang="en-CA" dirty="0"/>
          </a:p>
        </p:txBody>
      </p:sp>
    </p:spTree>
    <p:extLst>
      <p:ext uri="{BB962C8B-B14F-4D97-AF65-F5344CB8AC3E}">
        <p14:creationId xmlns:p14="http://schemas.microsoft.com/office/powerpoint/2010/main" xmlns="" val="4228922393"/>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CA" noProof="0"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a:t>
            </a:fld>
            <a:endParaRPr lang="en-CA" dirty="0"/>
          </a:p>
        </p:txBody>
      </p:sp>
    </p:spTree>
    <p:extLst>
      <p:ext uri="{BB962C8B-B14F-4D97-AF65-F5344CB8AC3E}">
        <p14:creationId xmlns:p14="http://schemas.microsoft.com/office/powerpoint/2010/main" xmlns="" val="1929981768"/>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Presentation Purpose:</a:t>
            </a:r>
          </a:p>
          <a:p>
            <a:endParaRPr lang="en-CA" dirty="0"/>
          </a:p>
          <a:p>
            <a:pPr marL="171450" indent="-171450">
              <a:buFont typeface="Arial" pitchFamily="34" charset="0"/>
              <a:buChar char="•"/>
            </a:pPr>
            <a:r>
              <a:rPr lang="en-CA" dirty="0"/>
              <a:t>To examine the opportunities and benefits of leveraging the brainpower of highly qualified people and experts in various disciplines to broaden the impacts of innovation</a:t>
            </a:r>
            <a:r>
              <a:rPr lang="en-CA" dirty="0">
                <a:solidFill>
                  <a:srgbClr val="FF0000"/>
                </a:solidFill>
              </a:rPr>
              <a:t> to the benefit of Canada and to train the next generation of HQP as </a:t>
            </a:r>
            <a:r>
              <a:rPr lang="en-CA" dirty="0" smtClean="0">
                <a:solidFill>
                  <a:srgbClr val="FF0000"/>
                </a:solidFill>
              </a:rPr>
              <a:t>innovators</a:t>
            </a:r>
            <a:endParaRPr lang="en-CA" dirty="0"/>
          </a:p>
          <a:p>
            <a:pPr marL="171450" indent="-171450">
              <a:buFont typeface="Arial" pitchFamily="34" charset="0"/>
              <a:buChar char="•"/>
            </a:pPr>
            <a:r>
              <a:rPr lang="en-CA" dirty="0">
                <a:solidFill>
                  <a:srgbClr val="C00000"/>
                </a:solidFill>
              </a:rPr>
              <a:t>Fo</a:t>
            </a:r>
            <a:r>
              <a:rPr lang="en-CA" dirty="0"/>
              <a:t>cus on collaborative efforts to engage various NCEs, Industry Partners and Researchers to leverage available funding to increase research activities to the benefit of your network and to interact with individuals that are building a knowledge base in that field.  </a:t>
            </a:r>
          </a:p>
          <a:p>
            <a:pPr marL="171450" indent="-171450">
              <a:buFont typeface="Arial" pitchFamily="34" charset="0"/>
              <a:buChar char="•"/>
            </a:pPr>
            <a:r>
              <a:rPr lang="en-CA" dirty="0"/>
              <a:t>Learn about the funding programs available to help increase your impact of Innovation through research collaborations.</a:t>
            </a:r>
          </a:p>
          <a:p>
            <a:endParaRPr lang="en-CA" dirty="0"/>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2</a:t>
            </a:fld>
            <a:endParaRPr lang="en-CA" dirty="0"/>
          </a:p>
        </p:txBody>
      </p:sp>
    </p:spTree>
    <p:extLst>
      <p:ext uri="{BB962C8B-B14F-4D97-AF65-F5344CB8AC3E}">
        <p14:creationId xmlns:p14="http://schemas.microsoft.com/office/powerpoint/2010/main" xmlns="" val="710496052"/>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Our</a:t>
            </a:r>
            <a:r>
              <a:rPr lang="en-CA" baseline="0" dirty="0"/>
              <a:t> presentation today, will discuss the following:</a:t>
            </a:r>
          </a:p>
          <a:p>
            <a:endParaRPr lang="en-CA" baseline="0" dirty="0"/>
          </a:p>
          <a:p>
            <a:pPr marL="228600" indent="-228600">
              <a:buAutoNum type="arabicPeriod"/>
            </a:pPr>
            <a:r>
              <a:rPr lang="en-CA" baseline="0" dirty="0"/>
              <a:t>We will examine the IRDI program, and discuss the benefits </a:t>
            </a:r>
            <a:r>
              <a:rPr lang="en-CA" dirty="0"/>
              <a:t>to </a:t>
            </a:r>
            <a:r>
              <a:rPr lang="en-CA" baseline="0" dirty="0" smtClean="0"/>
              <a:t>NCE’s </a:t>
            </a:r>
            <a:r>
              <a:rPr lang="en-CA" dirty="0"/>
              <a:t>by  participating  by  participating  </a:t>
            </a:r>
            <a:r>
              <a:rPr lang="en-CA" baseline="0" dirty="0"/>
              <a:t>to </a:t>
            </a:r>
            <a:r>
              <a:rPr lang="en-CA" dirty="0"/>
              <a:t>develop applied research collaborations  develop applied research collaborations  </a:t>
            </a:r>
            <a:r>
              <a:rPr lang="en-CA" baseline="0" dirty="0"/>
              <a:t>to train and develop Highly Qualified People (HQP) within their networks.</a:t>
            </a:r>
          </a:p>
          <a:p>
            <a:pPr marL="228600" indent="-228600">
              <a:buAutoNum type="arabicPeriod"/>
            </a:pPr>
            <a:r>
              <a:rPr lang="en-CA" baseline="0" dirty="0"/>
              <a:t>We will also take some time to review some examples of successful internships to further highlight the benefits to participating in this type of funding.</a:t>
            </a:r>
          </a:p>
          <a:p>
            <a:pPr marL="228600" indent="-228600">
              <a:buAutoNum type="arabicPeriod"/>
            </a:pPr>
            <a:r>
              <a:rPr lang="en-CA" baseline="0" dirty="0"/>
              <a:t>WE will discuss how IRDI is currently being delivered and who you can contact to get started in the application process.</a:t>
            </a:r>
          </a:p>
          <a:p>
            <a:pPr marL="228600" indent="-228600">
              <a:buAutoNum type="arabicPeriod"/>
            </a:pPr>
            <a:r>
              <a:rPr lang="en-CA" baseline="0" dirty="0"/>
              <a:t>An opportunity to ask questions of the panel.</a:t>
            </a:r>
          </a:p>
          <a:p>
            <a:pPr marL="228600" indent="-228600">
              <a:buAutoNum type="arabicPeriod"/>
            </a:pPr>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3</a:t>
            </a:fld>
            <a:endParaRPr lang="en-CA" dirty="0"/>
          </a:p>
        </p:txBody>
      </p:sp>
    </p:spTree>
    <p:extLst>
      <p:ext uri="{BB962C8B-B14F-4D97-AF65-F5344CB8AC3E}">
        <p14:creationId xmlns:p14="http://schemas.microsoft.com/office/powerpoint/2010/main" xmlns="" val="75647738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indent="0" algn="l" defTabSz="914400" rtl="0" eaLnBrk="1" fontAlgn="auto" latinLnBrk="0" hangingPunct="1">
              <a:lnSpc>
                <a:spcPct val="100000"/>
              </a:lnSpc>
              <a:spcBef>
                <a:spcPts val="0"/>
              </a:spcBef>
              <a:spcAft>
                <a:spcPts val="0"/>
              </a:spcAft>
              <a:buClrTx/>
              <a:buSzTx/>
              <a:buFontTx/>
              <a:buNone/>
              <a:tabLst/>
              <a:defRPr/>
            </a:pPr>
            <a:r>
              <a:rPr lang="en-CA" dirty="0" smtClean="0"/>
              <a:t>The primary</a:t>
            </a:r>
            <a:r>
              <a:rPr lang="en-CA" baseline="0" dirty="0" smtClean="0"/>
              <a:t> </a:t>
            </a:r>
            <a:r>
              <a:rPr lang="en-CA" dirty="0" smtClean="0"/>
              <a:t>purpose of our Presentation today will be to answer the following Question:</a:t>
            </a:r>
            <a:r>
              <a:rPr lang="en-CA" baseline="0" dirty="0" smtClean="0"/>
              <a:t> Why would an NCE with Current Research Funding want to participate in the  IRDI internship  program outside of their existing NCE Funding?</a:t>
            </a:r>
          </a:p>
          <a:p>
            <a:pPr marL="0" marR="0" indent="0" algn="l" defTabSz="914400" rtl="0" eaLnBrk="1" fontAlgn="auto" latinLnBrk="0" hangingPunct="1">
              <a:lnSpc>
                <a:spcPct val="100000"/>
              </a:lnSpc>
              <a:spcBef>
                <a:spcPts val="0"/>
              </a:spcBef>
              <a:spcAft>
                <a:spcPts val="0"/>
              </a:spcAft>
              <a:buClrTx/>
              <a:buSzTx/>
              <a:buFontTx/>
              <a:buNone/>
              <a:tabLst/>
              <a:defRPr/>
            </a:pPr>
            <a:r>
              <a:rPr lang="en-CA" baseline="0" dirty="0" smtClean="0"/>
              <a:t> </a:t>
            </a:r>
            <a:endParaRPr lang="en-CA" baseline="0" dirty="0"/>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4</a:t>
            </a:fld>
            <a:endParaRPr lang="en-CA" dirty="0"/>
          </a:p>
        </p:txBody>
      </p:sp>
    </p:spTree>
    <p:extLst>
      <p:ext uri="{BB962C8B-B14F-4D97-AF65-F5344CB8AC3E}">
        <p14:creationId xmlns:p14="http://schemas.microsoft.com/office/powerpoint/2010/main" xmlns="" val="3400053078"/>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a:t>The Industrial</a:t>
            </a:r>
            <a:r>
              <a:rPr lang="en-CA" baseline="0" dirty="0"/>
              <a:t> Research and Development Internship program is a federally funded program through the Networks of Centres of Excellence which provides a mechanism for private sector hosts to received matched funding for a graduate level </a:t>
            </a:r>
            <a:r>
              <a:rPr lang="en-CA" dirty="0"/>
              <a:t>student </a:t>
            </a:r>
            <a:r>
              <a:rPr lang="en-CA" baseline="0" dirty="0"/>
              <a:t>or post-doctoral </a:t>
            </a:r>
            <a:r>
              <a:rPr lang="en-CA" dirty="0"/>
              <a:t>fellow </a:t>
            </a:r>
            <a:r>
              <a:rPr lang="en-CA" baseline="0" dirty="0" smtClean="0"/>
              <a:t>to </a:t>
            </a:r>
            <a:r>
              <a:rPr lang="en-CA" baseline="0" dirty="0"/>
              <a:t>work with them on a private sector research project</a:t>
            </a:r>
            <a:r>
              <a:rPr lang="en-CA" dirty="0"/>
              <a:t>– of mutual interest to the “intern” and their professor </a:t>
            </a:r>
            <a:endParaRPr lang="en-CA" baseline="0" dirty="0"/>
          </a:p>
          <a:p>
            <a:pPr marL="171450" indent="-171450">
              <a:buFont typeface="Arial" pitchFamily="34" charset="0"/>
              <a:buChar char="•"/>
            </a:pPr>
            <a:r>
              <a:rPr lang="en-CA" baseline="0" dirty="0"/>
              <a:t>The project will be jointly developed by the private sector host and the academic supervisor </a:t>
            </a:r>
            <a:r>
              <a:rPr lang="en-CA" dirty="0"/>
              <a:t>and will see the intern spending time on-site with the company away from the university</a:t>
            </a:r>
            <a:endParaRPr lang="en-CA" baseline="0" dirty="0"/>
          </a:p>
          <a:p>
            <a:pPr marL="171450" indent="-171450">
              <a:buFont typeface="Arial" pitchFamily="34" charset="0"/>
              <a:buChar char="•"/>
            </a:pPr>
            <a:r>
              <a:rPr lang="en-CA" baseline="0" dirty="0"/>
              <a:t>The program goal is to introduce graduate and post-doctoral level students to </a:t>
            </a:r>
            <a:r>
              <a:rPr lang="en-CA" dirty="0"/>
              <a:t>practical </a:t>
            </a:r>
            <a:r>
              <a:rPr lang="en-CA" baseline="0" dirty="0" smtClean="0"/>
              <a:t>business </a:t>
            </a:r>
            <a:r>
              <a:rPr lang="en-CA" baseline="0" dirty="0"/>
              <a:t>problems in which they are able to apply their scientific and technical expertise to solve private sector issues </a:t>
            </a:r>
            <a:r>
              <a:rPr lang="en-CA" dirty="0"/>
              <a:t>whilst gaining valuable experiential training</a:t>
            </a:r>
            <a:endParaRPr lang="en-CA" baseline="0" dirty="0"/>
          </a:p>
          <a:p>
            <a:pPr marL="171450" indent="-171450">
              <a:buFont typeface="Arial" pitchFamily="34" charset="0"/>
              <a:buChar char="•"/>
            </a:pPr>
            <a:r>
              <a:rPr lang="en-CA" baseline="0" dirty="0"/>
              <a:t>This program is structured to create a vehicle to increase private sector investments in Research and Development</a:t>
            </a:r>
          </a:p>
          <a:p>
            <a:pPr marL="171450" indent="-171450">
              <a:buFont typeface="Arial" pitchFamily="34" charset="0"/>
              <a:buChar char="•"/>
            </a:pPr>
            <a:r>
              <a:rPr lang="en-CA" baseline="0" dirty="0"/>
              <a:t>The model provides a one to one matching ratio with a minimum private sector </a:t>
            </a:r>
            <a:r>
              <a:rPr lang="en-CA" dirty="0"/>
              <a:t>contribution </a:t>
            </a:r>
            <a:r>
              <a:rPr lang="en-CA" baseline="0" dirty="0" smtClean="0"/>
              <a:t>level </a:t>
            </a:r>
            <a:r>
              <a:rPr lang="en-CA" baseline="0" dirty="0"/>
              <a:t>and a maximum level federal contribution</a:t>
            </a:r>
            <a:r>
              <a:rPr lang="en-CA" dirty="0"/>
              <a:t>. Awarded as a grant to the professor – a great way for junior faculty to show management of grants and provides valuable research funds to the professor</a:t>
            </a:r>
            <a:endParaRPr lang="en-CA" baseline="0" dirty="0"/>
          </a:p>
          <a:p>
            <a:pPr marL="171450" indent="-171450">
              <a:buFont typeface="Arial" pitchFamily="34" charset="0"/>
              <a:buChar char="•"/>
            </a:pPr>
            <a:r>
              <a:rPr lang="en-CA" baseline="0" dirty="0"/>
              <a:t>The IRDI program is non-sector specific, open to any for profit organization operating in Canada</a:t>
            </a:r>
          </a:p>
          <a:p>
            <a:pPr marL="171450" indent="-171450">
              <a:buFont typeface="Arial" pitchFamily="34" charset="0"/>
              <a:buChar char="•"/>
            </a:pPr>
            <a:r>
              <a:rPr lang="en-CA" baseline="0" dirty="0"/>
              <a:t>It is open to all </a:t>
            </a:r>
            <a:r>
              <a:rPr lang="en-CA" dirty="0"/>
              <a:t>Tri-council eligible </a:t>
            </a:r>
            <a:r>
              <a:rPr lang="en-CA" baseline="0" dirty="0"/>
              <a:t>Academic </a:t>
            </a:r>
            <a:r>
              <a:rPr lang="en-CA" dirty="0"/>
              <a:t>Institutions </a:t>
            </a:r>
            <a:r>
              <a:rPr lang="en-CA" baseline="0" dirty="0" smtClean="0"/>
              <a:t>in </a:t>
            </a:r>
            <a:r>
              <a:rPr lang="en-CA" baseline="0" dirty="0"/>
              <a:t>Canada that have a mandate for research</a:t>
            </a:r>
          </a:p>
          <a:p>
            <a:pPr marL="171450" indent="-171450">
              <a:buFont typeface="Arial" pitchFamily="34" charset="0"/>
              <a:buChar char="•"/>
            </a:pPr>
            <a:r>
              <a:rPr lang="en-CA" baseline="0" dirty="0"/>
              <a:t>Graduate level students (Masters and PhD) as well as Post-Doctoral Fellows are eligible to take part in the program, so long as they are attending a Canadian Academic Institution and are registered as a Graduate </a:t>
            </a:r>
            <a:r>
              <a:rPr lang="en-CA" dirty="0"/>
              <a:t>Student </a:t>
            </a:r>
            <a:r>
              <a:rPr lang="en-CA" baseline="0" dirty="0" smtClean="0"/>
              <a:t>or </a:t>
            </a:r>
            <a:r>
              <a:rPr lang="en-CA" baseline="0" dirty="0"/>
              <a:t>Post-Doctoral Fellow at that Institution through out the course of the internship</a:t>
            </a:r>
          </a:p>
          <a:p>
            <a:pPr marL="171450" indent="-171450">
              <a:buFont typeface="Arial" pitchFamily="34" charset="0"/>
              <a:buChar char="•"/>
            </a:pPr>
            <a:r>
              <a:rPr lang="en-CA" dirty="0"/>
              <a:t>No Citizenship requirements – one of few options available to foreign students and PDFs for funding</a:t>
            </a:r>
          </a:p>
          <a:p>
            <a:pPr marL="171450" indent="-171450">
              <a:buFont typeface="Arial" pitchFamily="34" charset="0"/>
              <a:buChar char="•"/>
            </a:pPr>
            <a:r>
              <a:rPr lang="en-CA" baseline="0" dirty="0"/>
              <a:t>Each intern is limited to receiving two IRDI grants through out the course of their Academic and Post-Academic career</a:t>
            </a:r>
          </a:p>
          <a:p>
            <a:pPr marL="171450" indent="-171450">
              <a:buFont typeface="Arial" pitchFamily="34" charset="0"/>
              <a:buChar char="•"/>
            </a:pPr>
            <a:r>
              <a:rPr lang="en-CA" dirty="0"/>
              <a:t>The goal</a:t>
            </a:r>
            <a:r>
              <a:rPr lang="en-CA" baseline="0" dirty="0"/>
              <a:t> of this program is to provide </a:t>
            </a:r>
            <a:r>
              <a:rPr lang="en-CA" dirty="0"/>
              <a:t>opportunities </a:t>
            </a:r>
            <a:r>
              <a:rPr lang="en-CA" baseline="0" dirty="0" smtClean="0"/>
              <a:t>for </a:t>
            </a:r>
            <a:r>
              <a:rPr lang="en-CA" baseline="0" dirty="0"/>
              <a:t>Graduate and Post-Doctoral Level interns to transition their expertise in order to provide viable solutions for private sector host issues.</a:t>
            </a:r>
          </a:p>
          <a:p>
            <a:pPr marL="171450" indent="-171450">
              <a:buFont typeface="Arial" pitchFamily="34" charset="0"/>
              <a:buChar char="•"/>
            </a:pPr>
            <a:r>
              <a:rPr lang="en-CA" baseline="0" dirty="0"/>
              <a:t>This provides a real world application for the expertise of the intern</a:t>
            </a:r>
          </a:p>
          <a:p>
            <a:pPr marL="171450" indent="-171450">
              <a:buFont typeface="Arial" pitchFamily="34" charset="0"/>
              <a:buChar char="•"/>
            </a:pPr>
            <a:endParaRPr lang="fr-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6</a:t>
            </a:fld>
            <a:endParaRPr lang="en-CA" dirty="0"/>
          </a:p>
        </p:txBody>
      </p:sp>
    </p:spTree>
    <p:extLst>
      <p:ext uri="{BB962C8B-B14F-4D97-AF65-F5344CB8AC3E}">
        <p14:creationId xmlns:p14="http://schemas.microsoft.com/office/powerpoint/2010/main" xmlns="" val="428606087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fr-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7</a:t>
            </a:fld>
            <a:endParaRPr lang="en-CA" dirty="0"/>
          </a:p>
        </p:txBody>
      </p:sp>
    </p:spTree>
    <p:extLst>
      <p:ext uri="{BB962C8B-B14F-4D97-AF65-F5344CB8AC3E}">
        <p14:creationId xmlns:p14="http://schemas.microsoft.com/office/powerpoint/2010/main" xmlns="" val="40862018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NCE’s will typically</a:t>
            </a:r>
            <a:r>
              <a:rPr lang="en-CA" baseline="0" dirty="0"/>
              <a:t> commit most or all of their funding within the fiscal year.  As new and innovative projects are identified throughout the year </a:t>
            </a:r>
            <a:r>
              <a:rPr lang="en-CA" dirty="0"/>
              <a:t>they </a:t>
            </a:r>
            <a:r>
              <a:rPr lang="en-CA" baseline="0" dirty="0" smtClean="0"/>
              <a:t>may </a:t>
            </a:r>
            <a:r>
              <a:rPr lang="en-CA" baseline="0" dirty="0"/>
              <a:t>not be </a:t>
            </a:r>
            <a:r>
              <a:rPr lang="en-CA" dirty="0"/>
              <a:t>supported as NCE funds are already committed / </a:t>
            </a:r>
            <a:r>
              <a:rPr lang="en-CA" baseline="0" dirty="0" smtClean="0"/>
              <a:t>these </a:t>
            </a:r>
            <a:r>
              <a:rPr lang="en-CA" baseline="0" dirty="0"/>
              <a:t>projects </a:t>
            </a:r>
            <a:r>
              <a:rPr lang="en-CA" dirty="0"/>
              <a:t>fall outside the NCE’s  funding deadlines </a:t>
            </a:r>
          </a:p>
          <a:p>
            <a:endParaRPr lang="en-CA" baseline="0" dirty="0"/>
          </a:p>
          <a:p>
            <a:r>
              <a:rPr lang="en-CA" baseline="0" dirty="0"/>
              <a:t>IRDI </a:t>
            </a:r>
            <a:r>
              <a:rPr lang="en-CA" dirty="0"/>
              <a:t>internships allow NCEs to draw upon additional </a:t>
            </a:r>
            <a:r>
              <a:rPr lang="en-CA" baseline="0" dirty="0"/>
              <a:t>funding </a:t>
            </a:r>
            <a:r>
              <a:rPr lang="en-CA" dirty="0"/>
              <a:t>sources, </a:t>
            </a:r>
          </a:p>
          <a:p>
            <a:endParaRPr lang="en-CA" dirty="0"/>
          </a:p>
          <a:p>
            <a:r>
              <a:rPr lang="en-CA" dirty="0"/>
              <a:t>Support projects outside of their normal deadlines </a:t>
            </a:r>
          </a:p>
          <a:p>
            <a:endParaRPr lang="en-CA" dirty="0"/>
          </a:p>
          <a:p>
            <a:r>
              <a:rPr lang="en-CA" dirty="0"/>
              <a:t>An easy </a:t>
            </a:r>
            <a:r>
              <a:rPr lang="en-CA" baseline="0" dirty="0" smtClean="0"/>
              <a:t>way </a:t>
            </a:r>
            <a:r>
              <a:rPr lang="en-CA" baseline="0" dirty="0"/>
              <a:t>to </a:t>
            </a:r>
            <a:r>
              <a:rPr lang="en-CA" dirty="0"/>
              <a:t>add extra students </a:t>
            </a:r>
            <a:r>
              <a:rPr lang="en-CA" baseline="0" dirty="0" smtClean="0"/>
              <a:t>to </a:t>
            </a:r>
            <a:r>
              <a:rPr lang="en-CA" dirty="0"/>
              <a:t>existing </a:t>
            </a:r>
            <a:r>
              <a:rPr lang="en-CA" dirty="0" smtClean="0"/>
              <a:t>projects </a:t>
            </a:r>
            <a:r>
              <a:rPr lang="en-CA" baseline="0" dirty="0" smtClean="0"/>
              <a:t>that </a:t>
            </a:r>
            <a:r>
              <a:rPr lang="en-CA" dirty="0" smtClean="0"/>
              <a:t>continue </a:t>
            </a:r>
            <a:r>
              <a:rPr lang="en-CA" baseline="0" dirty="0" smtClean="0"/>
              <a:t>to grow</a:t>
            </a:r>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9</a:t>
            </a:fld>
            <a:endParaRPr lang="en-CA" dirty="0"/>
          </a:p>
        </p:txBody>
      </p:sp>
    </p:spTree>
    <p:extLst>
      <p:ext uri="{BB962C8B-B14F-4D97-AF65-F5344CB8AC3E}">
        <p14:creationId xmlns:p14="http://schemas.microsoft.com/office/powerpoint/2010/main" xmlns="" val="1923572803"/>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Enables the NCE to be more responsive to the needs of its industry partners and academic members </a:t>
            </a:r>
          </a:p>
          <a:p>
            <a:pPr>
              <a:buFontTx/>
              <a:buChar char="-"/>
            </a:pPr>
            <a:r>
              <a:rPr lang="en-CA" dirty="0"/>
              <a:t>an </a:t>
            </a:r>
            <a:r>
              <a:rPr lang="en-CA" dirty="0" smtClean="0"/>
              <a:t>industry </a:t>
            </a:r>
            <a:r>
              <a:rPr lang="en-CA" dirty="0"/>
              <a:t>partners may have ideas for new research areas, but the NCE is unsure if it warrants a new research projects, </a:t>
            </a:r>
            <a:r>
              <a:rPr lang="en-CA" dirty="0" smtClean="0"/>
              <a:t>a </a:t>
            </a:r>
            <a:r>
              <a:rPr lang="en-CA" dirty="0"/>
              <a:t>“proof of concept” the  </a:t>
            </a:r>
            <a:r>
              <a:rPr lang="en-CA" dirty="0" smtClean="0"/>
              <a:t>IRDI </a:t>
            </a:r>
            <a:r>
              <a:rPr lang="en-CA" dirty="0"/>
              <a:t>internship can provide the initial information to make that determination.  </a:t>
            </a:r>
          </a:p>
          <a:p>
            <a:pPr>
              <a:buFontTx/>
              <a:buChar char="-"/>
            </a:pPr>
            <a:endParaRPr lang="en-CA" dirty="0"/>
          </a:p>
          <a:p>
            <a:pPr>
              <a:buFontTx/>
              <a:buChar char="-"/>
            </a:pPr>
            <a:r>
              <a:rPr lang="en-CA" dirty="0"/>
              <a:t>This allows </a:t>
            </a:r>
            <a:r>
              <a:rPr lang="en-CA" dirty="0" smtClean="0"/>
              <a:t>the NCE to be responsive to the desire of their industrial partners without disturbing their own research goals.</a:t>
            </a:r>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10</a:t>
            </a:fld>
            <a:endParaRPr lang="en-CA" dirty="0"/>
          </a:p>
        </p:txBody>
      </p:sp>
    </p:spTree>
    <p:extLst>
      <p:ext uri="{BB962C8B-B14F-4D97-AF65-F5344CB8AC3E}">
        <p14:creationId xmlns:p14="http://schemas.microsoft.com/office/powerpoint/2010/main" xmlns="" val="254740740"/>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a:t>At</a:t>
            </a:r>
            <a:r>
              <a:rPr lang="en-CA" baseline="0" dirty="0"/>
              <a:t> times, NCE’s may come across areas of research that are on the fringe of their mandate but may still be valuable to themselves or their Industry Partners.  </a:t>
            </a:r>
            <a:endParaRPr lang="en-CA" dirty="0"/>
          </a:p>
          <a:p>
            <a:endParaRPr lang="en-CA" dirty="0"/>
          </a:p>
          <a:p>
            <a:r>
              <a:rPr lang="en-CA" dirty="0"/>
              <a:t>Or the projects are too small for their normal programs  (“one time” projects)</a:t>
            </a:r>
          </a:p>
          <a:p>
            <a:endParaRPr lang="en-CA" dirty="0"/>
          </a:p>
          <a:p>
            <a:r>
              <a:rPr lang="en-CA" baseline="0" dirty="0"/>
              <a:t>IRDI internships can allow the NCE to explore those areas of research without circumventing their mandate.  </a:t>
            </a:r>
          </a:p>
          <a:p>
            <a:endParaRPr lang="en-CA" dirty="0"/>
          </a:p>
          <a:p>
            <a:r>
              <a:rPr lang="en-CA" baseline="0" dirty="0"/>
              <a:t>Also, the NCE’s may wish to engage multi-disciplinary research in those fringe areas that support their core research mandates</a:t>
            </a:r>
            <a:r>
              <a:rPr lang="en-CA" baseline="0" dirty="0" smtClean="0"/>
              <a:t>.</a:t>
            </a:r>
          </a:p>
          <a:p>
            <a:endParaRPr lang="en-CA" baseline="0" dirty="0" smtClean="0"/>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11</a:t>
            </a:fld>
            <a:endParaRPr lang="en-CA" dirty="0"/>
          </a:p>
        </p:txBody>
      </p:sp>
    </p:spTree>
    <p:extLst>
      <p:ext uri="{BB962C8B-B14F-4D97-AF65-F5344CB8AC3E}">
        <p14:creationId xmlns:p14="http://schemas.microsoft.com/office/powerpoint/2010/main" xmlns="" val="4124701467"/>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Requiring that the interns spend part of their project time undertaking applied research in an industry environment,</a:t>
            </a:r>
            <a:r>
              <a:rPr lang="en-CA" baseline="0" dirty="0" smtClean="0"/>
              <a:t> the IRDI program is an effective way to provide grad students and post-docs with valuable hands-on research training in an industrial environment</a:t>
            </a:r>
          </a:p>
          <a:p>
            <a:endParaRPr lang="en-CA" baseline="0" dirty="0" smtClean="0"/>
          </a:p>
          <a:p>
            <a:r>
              <a:rPr lang="en-CA" baseline="0" dirty="0" smtClean="0"/>
              <a:t>Exposing them to new ideas and concepts </a:t>
            </a:r>
          </a:p>
          <a:p>
            <a:endParaRPr lang="en-CA" baseline="0" dirty="0" smtClean="0"/>
          </a:p>
          <a:p>
            <a:r>
              <a:rPr lang="en-CA" baseline="0" dirty="0" smtClean="0"/>
              <a:t>Understanding how to conduct research in a business environment</a:t>
            </a:r>
          </a:p>
          <a:p>
            <a:r>
              <a:rPr lang="en-US" baseline="0" noProof="0" dirty="0" smtClean="0"/>
              <a:t>Bringing</a:t>
            </a:r>
            <a:r>
              <a:rPr lang="fr-CA" baseline="0" dirty="0" smtClean="0"/>
              <a:t> expertise back to the </a:t>
            </a:r>
            <a:r>
              <a:rPr lang="en-US" baseline="0" noProof="0" dirty="0" smtClean="0"/>
              <a:t>university</a:t>
            </a:r>
            <a:r>
              <a:rPr lang="fr-CA" baseline="0" dirty="0" smtClean="0"/>
              <a:t> to </a:t>
            </a:r>
            <a:r>
              <a:rPr lang="en-US" baseline="0" noProof="0" dirty="0" smtClean="0"/>
              <a:t>pass</a:t>
            </a:r>
            <a:r>
              <a:rPr lang="fr-CA" baseline="0" dirty="0" smtClean="0"/>
              <a:t> on</a:t>
            </a:r>
            <a:endParaRPr lang="fr-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12</a:t>
            </a:fld>
            <a:endParaRPr lang="en-CA" dirty="0"/>
          </a:p>
        </p:txBody>
      </p:sp>
    </p:spTree>
    <p:extLst>
      <p:ext uri="{BB962C8B-B14F-4D97-AF65-F5344CB8AC3E}">
        <p14:creationId xmlns:p14="http://schemas.microsoft.com/office/powerpoint/2010/main" xmlns="" val="2563513930"/>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171450" indent="-171450">
              <a:buFont typeface="Arial" pitchFamily="34" charset="0"/>
              <a:buChar char="•"/>
            </a:pPr>
            <a:r>
              <a:rPr lang="en-CA" dirty="0"/>
              <a:t>Growth and Partnerships have to begin somewhere.  Approaching new industrial partners for research support requires tact,</a:t>
            </a:r>
            <a:r>
              <a:rPr lang="en-CA" baseline="0" dirty="0"/>
              <a:t> utilizing IRDI funding with it’s low Industry Partner matching requirement </a:t>
            </a:r>
            <a:r>
              <a:rPr lang="en-CA" dirty="0"/>
              <a:t>and short term commitment </a:t>
            </a:r>
            <a:r>
              <a:rPr lang="en-CA" baseline="0" dirty="0"/>
              <a:t>can be a good way to begin a relationship with a new Industry Partner which can lead to larger more complex projects</a:t>
            </a:r>
          </a:p>
          <a:p>
            <a:pPr marL="171450" indent="-171450">
              <a:buFont typeface="Arial" pitchFamily="34" charset="0"/>
              <a:buChar char="•"/>
            </a:pPr>
            <a:r>
              <a:rPr lang="en-CA" baseline="0" dirty="0"/>
              <a:t>It can allow both parties to use IRDI funding to explore and develop the relationship that can lead to future programs with larger and more complex scopes.</a:t>
            </a:r>
            <a:endParaRPr lang="en-CA" dirty="0"/>
          </a:p>
          <a:p>
            <a:pPr marL="171450" indent="-171450">
              <a:buFont typeface="Arial" pitchFamily="34" charset="0"/>
              <a:buChar char="•"/>
            </a:pPr>
            <a:r>
              <a:rPr lang="en-CA" dirty="0"/>
              <a:t>IRDI is a means of commencing a new relationship with a potential industrial collaborator in a low-risk way, with an established and simple program.</a:t>
            </a:r>
          </a:p>
          <a:p>
            <a:endParaRPr lang="en-CA" dirty="0" smtClean="0"/>
          </a:p>
          <a:p>
            <a:endParaRPr lang="en-CA" dirty="0" smtClean="0"/>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13</a:t>
            </a:fld>
            <a:endParaRPr lang="en-CA" dirty="0"/>
          </a:p>
        </p:txBody>
      </p:sp>
    </p:spTree>
    <p:extLst>
      <p:ext uri="{BB962C8B-B14F-4D97-AF65-F5344CB8AC3E}">
        <p14:creationId xmlns:p14="http://schemas.microsoft.com/office/powerpoint/2010/main" xmlns="" val="705334379"/>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lvl="1"/>
            <a:r>
              <a:rPr lang="en-CA" dirty="0"/>
              <a:t>Intern acts as a vital link </a:t>
            </a:r>
            <a:r>
              <a:rPr lang="en-CA" dirty="0" smtClean="0"/>
              <a:t>between the university</a:t>
            </a:r>
            <a:r>
              <a:rPr lang="en-CA" baseline="0" dirty="0" smtClean="0"/>
              <a:t> </a:t>
            </a:r>
            <a:r>
              <a:rPr lang="en-CA" dirty="0" smtClean="0"/>
              <a:t>and </a:t>
            </a:r>
            <a:r>
              <a:rPr lang="en-CA" dirty="0"/>
              <a:t>company where they balance their time </a:t>
            </a:r>
            <a:r>
              <a:rPr lang="en-CA" dirty="0" smtClean="0"/>
              <a:t>on the </a:t>
            </a:r>
            <a:r>
              <a:rPr lang="en-CA" dirty="0"/>
              <a:t>project. </a:t>
            </a:r>
            <a:r>
              <a:rPr lang="en-CA" dirty="0" smtClean="0"/>
              <a:t>Enables a </a:t>
            </a:r>
            <a:r>
              <a:rPr lang="en-CA" dirty="0"/>
              <a:t>closer collaboration between the company and professor who both </a:t>
            </a:r>
            <a:r>
              <a:rPr lang="en-CA" dirty="0" smtClean="0"/>
              <a:t>become more </a:t>
            </a:r>
            <a:r>
              <a:rPr lang="en-CA" dirty="0"/>
              <a:t>engaged </a:t>
            </a:r>
            <a:r>
              <a:rPr lang="en-CA" dirty="0" smtClean="0"/>
              <a:t>on the </a:t>
            </a:r>
            <a:r>
              <a:rPr lang="en-CA" dirty="0"/>
              <a:t>project</a:t>
            </a:r>
          </a:p>
          <a:p>
            <a:pPr lvl="1"/>
            <a:endParaRPr lang="en-CA" dirty="0"/>
          </a:p>
          <a:p>
            <a:pPr lvl="1"/>
            <a:endParaRPr lang="en-CA" sz="1200" kern="1200" dirty="0">
              <a:solidFill>
                <a:schemeClr val="tx1"/>
              </a:solidFill>
              <a:effectLst/>
              <a:latin typeface="+mn-lt"/>
              <a:ea typeface="+mn-ea"/>
              <a:cs typeface="+mn-cs"/>
            </a:endParaRPr>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14</a:t>
            </a:fld>
            <a:endParaRPr lang="en-CA" dirty="0"/>
          </a:p>
        </p:txBody>
      </p:sp>
    </p:spTree>
    <p:extLst>
      <p:ext uri="{BB962C8B-B14F-4D97-AF65-F5344CB8AC3E}">
        <p14:creationId xmlns:p14="http://schemas.microsoft.com/office/powerpoint/2010/main" xmlns="" val="1068622600"/>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t>Finally, the</a:t>
            </a:r>
            <a:r>
              <a:rPr lang="en-CA" baseline="0" dirty="0" smtClean="0"/>
              <a:t> additional benefit of IRDI funding to NCE’s is the ability to add more Highly Qualified People (HQP’s) to projects in order to enhance collaboration and innovation.</a:t>
            </a:r>
          </a:p>
          <a:p>
            <a:pPr marL="628650" marR="0" lvl="1" indent="-171450" algn="l" defTabSz="914400" rtl="0" eaLnBrk="1" fontAlgn="auto" latinLnBrk="0" hangingPunct="1">
              <a:lnSpc>
                <a:spcPct val="100000"/>
              </a:lnSpc>
              <a:spcBef>
                <a:spcPts val="0"/>
              </a:spcBef>
              <a:spcAft>
                <a:spcPts val="0"/>
              </a:spcAft>
              <a:buClrTx/>
              <a:buSzTx/>
              <a:buFont typeface="Arial" pitchFamily="34" charset="0"/>
              <a:buChar char="•"/>
              <a:tabLst/>
              <a:defRPr/>
            </a:pPr>
            <a:r>
              <a:rPr lang="en-CA" baseline="0" dirty="0" smtClean="0"/>
              <a:t>The IRDI funding allows HQP’s to gain valuable hands on experience in Industry which in turn allows them to become more valuable to industry upon graduation</a:t>
            </a:r>
            <a:endParaRPr lang="en-CA" dirty="0" smtClean="0"/>
          </a:p>
          <a:p>
            <a:pPr marL="628650" lvl="1" indent="-171450">
              <a:buFont typeface="Arial" pitchFamily="34" charset="0"/>
              <a:buChar char="•"/>
            </a:pPr>
            <a:r>
              <a:rPr lang="en-CA" baseline="0" dirty="0" smtClean="0"/>
              <a:t>As the population of researchers moves closer to retirement, having trained researchers (HQP’s) that current researchers can transfer their experience and knowledge to means that the level and quality of research does not suffer in the long term</a:t>
            </a:r>
          </a:p>
          <a:p>
            <a:pPr marL="628650" lvl="1" indent="-171450">
              <a:buFont typeface="Arial" pitchFamily="34" charset="0"/>
              <a:buChar char="•"/>
            </a:pPr>
            <a:r>
              <a:rPr lang="en-CA" baseline="0" dirty="0" smtClean="0"/>
              <a:t>Industry Partners can utilize IRDI programs as a cost effective recruitment tool allowing them the time and ability to work closely with the HQP in their </a:t>
            </a:r>
            <a:r>
              <a:rPr lang="en-CA" baseline="0" smtClean="0"/>
              <a:t>own facility</a:t>
            </a:r>
            <a:endParaRPr lang="en-CA" baseline="0" dirty="0" smtClean="0"/>
          </a:p>
          <a:p>
            <a:pPr marL="628650" lvl="1" indent="-171450">
              <a:buFont typeface="Arial" pitchFamily="34" charset="0"/>
              <a:buChar char="•"/>
            </a:pPr>
            <a:r>
              <a:rPr lang="en-CA" baseline="0" dirty="0" smtClean="0"/>
              <a:t>HQPs add fresh new ideas and new ways to look at problems</a:t>
            </a:r>
          </a:p>
          <a:p>
            <a:pPr marL="628650" lvl="1" indent="-171450">
              <a:buFont typeface="Arial" pitchFamily="34" charset="0"/>
              <a:buChar char="•"/>
            </a:pPr>
            <a:endParaRPr lang="en-CA" baseline="0" dirty="0" smtClean="0"/>
          </a:p>
        </p:txBody>
      </p:sp>
      <p:sp>
        <p:nvSpPr>
          <p:cNvPr id="4" name="Slide Number Placeholder 3"/>
          <p:cNvSpPr>
            <a:spLocks noGrp="1"/>
          </p:cNvSpPr>
          <p:nvPr>
            <p:ph type="sldNum" sz="quarter" idx="10"/>
          </p:nvPr>
        </p:nvSpPr>
        <p:spPr/>
        <p:txBody>
          <a:bodyPr/>
          <a:lstStyle/>
          <a:p>
            <a:fld id="{4E64E6E5-8A88-402E-B9A1-7A82100A0A83}" type="slidenum">
              <a:rPr lang="en-CA" smtClean="0"/>
              <a:pPr/>
              <a:t>15</a:t>
            </a:fld>
            <a:endParaRPr lang="en-CA" dirty="0"/>
          </a:p>
        </p:txBody>
      </p:sp>
    </p:spTree>
    <p:extLst>
      <p:ext uri="{BB962C8B-B14F-4D97-AF65-F5344CB8AC3E}">
        <p14:creationId xmlns:p14="http://schemas.microsoft.com/office/powerpoint/2010/main" xmlns="" val="4251453948"/>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US" sz="1100" dirty="0" smtClean="0"/>
              <a:t>In this research, the current mobile augmented reality (AR) technologies will be surveyed and investigated to develop a prototype of a hybrid mobile augmented reality system for the location-ignited storytelling. Seamful design strategy will be utilized to compensate the limitations of different AR technologies (in particular, different sensors). The developed prototype system will track the user’s position, pose, and orientation and overlay 3D virtual elements onto the point of interest (POI) of the real-world environment. It will also trigger to download a video clip that matches the POI from the database on the server and play it, which enables the user to experience a rich storytelling</a:t>
            </a:r>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17</a:t>
            </a:fld>
            <a:endParaRPr lang="en-CA" dirty="0"/>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pPr defTabSz="864931">
              <a:defRPr/>
            </a:pPr>
            <a:r>
              <a:rPr lang="en-US" sz="1100" i="1" dirty="0" smtClean="0"/>
              <a:t>Listeria monocytogenes </a:t>
            </a:r>
            <a:r>
              <a:rPr lang="en-US" sz="1100" dirty="0" smtClean="0"/>
              <a:t>is a common food-borne pathogen that is the causative agent of listeriosis, a severe and potentially fatal condition. Current methods for detection of </a:t>
            </a:r>
            <a:r>
              <a:rPr lang="en-US" sz="1100" i="1" dirty="0" smtClean="0"/>
              <a:t>L. monocytogenes </a:t>
            </a:r>
            <a:r>
              <a:rPr lang="en-US" sz="1100" dirty="0" smtClean="0"/>
              <a:t>in food samples require multiple days due to lengthy amplification steps to aid in microbe detection. Due to the recent emergence of nanoparticle technology, however, new options are emerging for removing and concentrating microbes from complex samples and providing extremely sensitive detection. This project aims to make use of nanoparticle technology in combination with a customized fluorescence reader, to provide a rapid (&lt;8 hours), cost-effective method to detect </a:t>
            </a:r>
            <a:r>
              <a:rPr lang="en-US" sz="1100" i="1" dirty="0" smtClean="0"/>
              <a:t>L. monocytogenes </a:t>
            </a:r>
            <a:r>
              <a:rPr lang="en-US" sz="1100" dirty="0" smtClean="0"/>
              <a:t>that can be applied in a routine manner to samples from food sources. Specifically, </a:t>
            </a:r>
            <a:r>
              <a:rPr lang="en-US" sz="1100" i="1" dirty="0" smtClean="0"/>
              <a:t>L. monocytogenes </a:t>
            </a:r>
            <a:r>
              <a:rPr lang="en-US" sz="1100" dirty="0" smtClean="0"/>
              <a:t>will be targeted with both magnetic nanoparticles, to separate and concentrate them from food samples, as well as fluorescent nanoparticles for sensitive detection of single </a:t>
            </a:r>
            <a:r>
              <a:rPr lang="en-US" sz="1100" i="1" dirty="0" smtClean="0"/>
              <a:t>L. monocytogenes</a:t>
            </a:r>
            <a:r>
              <a:rPr lang="en-US" sz="1100" dirty="0" smtClean="0"/>
              <a:t> with a fluorescence reader equipped with customized image analysis software. This novel assay and customized fluorescent reader will represent a significant advancement in </a:t>
            </a:r>
            <a:r>
              <a:rPr lang="en-US" sz="1100" i="1" dirty="0" smtClean="0"/>
              <a:t>L. monocytogenes </a:t>
            </a:r>
            <a:r>
              <a:rPr lang="en-US" sz="1100" dirty="0" smtClean="0"/>
              <a:t>detection for real world applications. </a:t>
            </a:r>
            <a:endParaRPr lang="en-CA" sz="1100" dirty="0" smtClean="0"/>
          </a:p>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18</a:t>
            </a:fld>
            <a:endParaRPr lang="en-CA" dirty="0"/>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r>
              <a:rPr lang="en-CA" sz="1100" dirty="0" smtClean="0"/>
              <a:t>Example of a health based project using journalism expertise – an atypical health-based academic discipline</a:t>
            </a:r>
          </a:p>
          <a:p>
            <a:endParaRPr lang="en-CA" sz="1100" dirty="0" smtClean="0"/>
          </a:p>
          <a:p>
            <a:r>
              <a:rPr lang="en-CA" sz="1100" dirty="0" smtClean="0"/>
              <a:t>Many parents of children affected by neurodevelopmental disorders (NDDs) such as autism, rely on information found on well-known advocacy websites to make decisions regarding their child’s treatment.  </a:t>
            </a:r>
          </a:p>
          <a:p>
            <a:r>
              <a:rPr lang="en-CA" sz="1100" dirty="0" smtClean="0"/>
              <a:t>However, previous work has shown that advocacy websites tend to encourage a variety of treatments rather than objectively evaluate the plethora of available options.  </a:t>
            </a:r>
          </a:p>
          <a:p>
            <a:endParaRPr lang="en-CA" sz="1100" dirty="0" smtClean="0"/>
          </a:p>
          <a:p>
            <a:r>
              <a:rPr lang="en-CA" sz="1100" dirty="0" smtClean="0"/>
              <a:t>Using journalistic methods, this project looks at the extent to which parents rely on, and are influenced by information published on these websites.  The results of this research will be the basis of a 2000-2500 word feature to appear in the Vancouver Sun at the end of summer 2011.  </a:t>
            </a:r>
          </a:p>
          <a:p>
            <a:endParaRPr lang="en-CA" sz="1100" dirty="0" smtClean="0"/>
          </a:p>
          <a:p>
            <a:r>
              <a:rPr lang="en-CA" sz="1100" dirty="0" smtClean="0"/>
              <a:t>Additionally, on a weekly basis, 500-800 word articles about NDDs (including autism, fetal alcohol spectrum disorder and cerebral palsy) will be published in the newspaper, in order to familiarize its readership about relevant and current scientific and neuroethical issues.  Ultimately, this work will benefit the Vancouver Sun’s readership by distilling complex ethical and scientific concepts into terms the general public can appreciate.</a:t>
            </a:r>
            <a:endParaRPr lang="en-CA" sz="1100"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19</a:t>
            </a:fld>
            <a:endParaRPr lang="en-CA" dirty="0"/>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CA" dirty="0" smtClean="0">
                <a:solidFill>
                  <a:srgbClr val="FF0000"/>
                </a:solidFill>
              </a:rPr>
              <a:t>IRDI</a:t>
            </a:r>
            <a:r>
              <a:rPr lang="en-CA" baseline="0" dirty="0" smtClean="0">
                <a:solidFill>
                  <a:srgbClr val="FF0000"/>
                </a:solidFill>
              </a:rPr>
              <a:t> internships range between 4 and 6 months</a:t>
            </a:r>
          </a:p>
          <a:p>
            <a:r>
              <a:rPr lang="en-CA" baseline="0" dirty="0" smtClean="0">
                <a:solidFill>
                  <a:srgbClr val="FF0000"/>
                </a:solidFill>
              </a:rPr>
              <a:t>The programs are continuously rolling and there are no submission deadlines, a proposal may be submitted and approved any time through out the year</a:t>
            </a:r>
          </a:p>
          <a:p>
            <a:r>
              <a:rPr lang="en-CA" baseline="0" dirty="0" smtClean="0">
                <a:solidFill>
                  <a:srgbClr val="FF0000"/>
                </a:solidFill>
              </a:rPr>
              <a:t>Both programs provide step by step support to all stakeholders through the submission process</a:t>
            </a:r>
          </a:p>
          <a:p>
            <a:r>
              <a:rPr lang="en-CA" dirty="0" smtClean="0">
                <a:solidFill>
                  <a:srgbClr val="FF0000"/>
                </a:solidFill>
              </a:rPr>
              <a:t>These</a:t>
            </a:r>
            <a:r>
              <a:rPr lang="en-CA" baseline="0" dirty="0" smtClean="0">
                <a:solidFill>
                  <a:srgbClr val="FF0000"/>
                </a:solidFill>
              </a:rPr>
              <a:t> funding programs are non-competitive, they rely solely on the agreement of the stakeholders to take part in an internship and the strength of the proposal</a:t>
            </a:r>
          </a:p>
          <a:p>
            <a:r>
              <a:rPr lang="en-CA" baseline="0" dirty="0" smtClean="0">
                <a:solidFill>
                  <a:srgbClr val="FF0000"/>
                </a:solidFill>
              </a:rPr>
              <a:t>No overhead costs are deducted from the award, the full amounts are strictly for the interns stipend for the period of the internship</a:t>
            </a:r>
          </a:p>
          <a:p>
            <a:r>
              <a:rPr lang="en-CA" baseline="0" dirty="0" smtClean="0">
                <a:solidFill>
                  <a:srgbClr val="FF0000"/>
                </a:solidFill>
              </a:rPr>
              <a:t>There are travel subsidies available for the intern once their proposal has been approved</a:t>
            </a:r>
          </a:p>
          <a:p>
            <a:r>
              <a:rPr lang="en-CA" baseline="0" dirty="0" smtClean="0">
                <a:solidFill>
                  <a:srgbClr val="FF0000"/>
                </a:solidFill>
              </a:rPr>
              <a:t>All proposals are reviewed by a group of experts who provide a level of quality assurance for the proposed internship</a:t>
            </a:r>
          </a:p>
          <a:p>
            <a:r>
              <a:rPr lang="en-CA" baseline="0" dirty="0" smtClean="0">
                <a:solidFill>
                  <a:srgbClr val="FF0000"/>
                </a:solidFill>
              </a:rPr>
              <a:t>These individuals are external to both organizations and utilized to provide validation to the proposed approach and plan of action</a:t>
            </a:r>
          </a:p>
          <a:p>
            <a:r>
              <a:rPr lang="en-CA" baseline="0" dirty="0" smtClean="0">
                <a:solidFill>
                  <a:srgbClr val="FF0000"/>
                </a:solidFill>
              </a:rPr>
              <a:t>Through the review of these individuals there is an opportunity to receive suggestions to strengthen the proposed approach and plan of action contributing to the increased success of the project</a:t>
            </a:r>
          </a:p>
          <a:p>
            <a:r>
              <a:rPr lang="en-CA" baseline="0" dirty="0" smtClean="0">
                <a:solidFill>
                  <a:srgbClr val="FF0000"/>
                </a:solidFill>
              </a:rPr>
              <a:t>Both programs are have seen a high approval rate of proposed internships</a:t>
            </a:r>
          </a:p>
          <a:p>
            <a:r>
              <a:rPr lang="en-CA" baseline="0" dirty="0" smtClean="0">
                <a:solidFill>
                  <a:srgbClr val="FF0000"/>
                </a:solidFill>
              </a:rPr>
              <a:t>The entire process can be done fairly quickly, while being meticulous</a:t>
            </a:r>
            <a:endParaRPr lang="fr-CA" dirty="0">
              <a:solidFill>
                <a:srgbClr val="FF0000"/>
              </a:solidFill>
            </a:endParaRPr>
          </a:p>
        </p:txBody>
      </p:sp>
      <p:sp>
        <p:nvSpPr>
          <p:cNvPr id="4" name="Slide Number Placeholder 3"/>
          <p:cNvSpPr>
            <a:spLocks noGrp="1"/>
          </p:cNvSpPr>
          <p:nvPr>
            <p:ph type="sldNum" sz="quarter" idx="10"/>
          </p:nvPr>
        </p:nvSpPr>
        <p:spPr/>
        <p:txBody>
          <a:bodyPr/>
          <a:lstStyle/>
          <a:p>
            <a:fld id="{4E64E6E5-8A88-402E-B9A1-7A82100A0A83}" type="slidenum">
              <a:rPr lang="en-CA" smtClean="0"/>
              <a:pPr/>
              <a:t>21</a:t>
            </a:fld>
            <a:endParaRPr lang="en-CA" dirty="0"/>
          </a:p>
        </p:txBody>
      </p:sp>
    </p:spTree>
    <p:extLst>
      <p:ext uri="{BB962C8B-B14F-4D97-AF65-F5344CB8AC3E}">
        <p14:creationId xmlns:p14="http://schemas.microsoft.com/office/powerpoint/2010/main" xmlns="" val="169067710"/>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normAutofit/>
          </a:bodyPr>
          <a:lstStyle/>
          <a:p>
            <a:endParaRPr lang="en-CA" dirty="0"/>
          </a:p>
        </p:txBody>
      </p:sp>
      <p:sp>
        <p:nvSpPr>
          <p:cNvPr id="4" name="Slide Number Placeholder 3"/>
          <p:cNvSpPr>
            <a:spLocks noGrp="1"/>
          </p:cNvSpPr>
          <p:nvPr>
            <p:ph type="sldNum" sz="quarter" idx="10"/>
          </p:nvPr>
        </p:nvSpPr>
        <p:spPr/>
        <p:txBody>
          <a:bodyPr/>
          <a:lstStyle/>
          <a:p>
            <a:fld id="{4E64E6E5-8A88-402E-B9A1-7A82100A0A83}" type="slidenum">
              <a:rPr lang="en-CA" smtClean="0"/>
              <a:pPr/>
              <a:t>23</a:t>
            </a:fld>
            <a:endParaRPr lang="en-CA" dirty="0"/>
          </a:p>
        </p:txBody>
      </p:sp>
    </p:spTree>
  </p:cSld>
  <p:clrMapOvr>
    <a:masterClrMapping/>
  </p:clrMapOvr>
</p:notes>
</file>

<file path=ppt/slideLayouts/_rels/slideLayout1.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4.jpe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9" name="Title 8"/>
          <p:cNvSpPr>
            <a:spLocks noGrp="1"/>
          </p:cNvSpPr>
          <p:nvPr>
            <p:ph type="ctrTitle"/>
          </p:nvPr>
        </p:nvSpPr>
        <p:spPr>
          <a:xfrm>
            <a:off x="533400" y="1371600"/>
            <a:ext cx="7851648" cy="1828800"/>
          </a:xfrm>
          <a:ln>
            <a:noFill/>
          </a:ln>
        </p:spPr>
        <p:txBody>
          <a:bodyPr vert="horz" tIns="0" rIns="18288" bIns="0" anchor="b">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lvl1pPr algn="r" rtl="0">
              <a:spcBef>
                <a:spcPct val="0"/>
              </a:spcBef>
              <a:buNone/>
              <a:defRPr sz="5600" b="1" cap="all" spc="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latin typeface="+mj-lt"/>
                <a:ea typeface="+mj-ea"/>
                <a:cs typeface="+mj-cs"/>
              </a:defRPr>
            </a:lvl1pPr>
          </a:lstStyle>
          <a:p>
            <a:r>
              <a:rPr kumimoji="0" lang="en-US" dirty="0" smtClean="0"/>
              <a:t>Click to edit Master title style</a:t>
            </a:r>
            <a:endParaRPr kumimoji="0" lang="en-US" dirty="0"/>
          </a:p>
        </p:txBody>
      </p:sp>
      <p:sp>
        <p:nvSpPr>
          <p:cNvPr id="17" name="Subtitle 16"/>
          <p:cNvSpPr>
            <a:spLocks noGrp="1"/>
          </p:cNvSpPr>
          <p:nvPr>
            <p:ph type="subTitle" idx="1"/>
          </p:nvPr>
        </p:nvSpPr>
        <p:spPr>
          <a:xfrm>
            <a:off x="533400" y="3228536"/>
            <a:ext cx="7854696" cy="1752600"/>
          </a:xfrm>
        </p:spPr>
        <p:txBody>
          <a:bodyPr lIns="0" rIns="18288"/>
          <a:lstStyle>
            <a:lvl1pPr marL="0" marR="45720" indent="0" algn="r">
              <a:buNone/>
              <a:defRPr>
                <a:solidFill>
                  <a:schemeClr val="tx1"/>
                </a:solidFill>
              </a:defRPr>
            </a:lvl1pPr>
            <a:lvl2pPr marL="457200" indent="0" algn="ctr">
              <a:buNone/>
            </a:lvl2pPr>
            <a:lvl3pPr marL="914400" indent="0" algn="ctr">
              <a:buNone/>
            </a:lvl3pPr>
            <a:lvl4pPr marL="1371600" indent="0" algn="ctr">
              <a:buNone/>
            </a:lvl4pPr>
            <a:lvl5pPr marL="1828800" indent="0" algn="ctr">
              <a:buNone/>
            </a:lvl5pPr>
            <a:lvl6pPr marL="2286000" indent="0" algn="ctr">
              <a:buNone/>
            </a:lvl6pPr>
            <a:lvl7pPr marL="2743200" indent="0" algn="ctr">
              <a:buNone/>
            </a:lvl7pPr>
            <a:lvl8pPr marL="3200400" indent="0" algn="ctr">
              <a:buNone/>
            </a:lvl8pPr>
            <a:lvl9pPr marL="3657600" indent="0" algn="ctr">
              <a:buNone/>
            </a:lvl9pPr>
          </a:lstStyle>
          <a:p>
            <a:r>
              <a:rPr kumimoji="0" lang="en-US" smtClean="0"/>
              <a:t>Click to edit Master subtitle style</a:t>
            </a:r>
            <a:endParaRPr kumimoji="0" lang="en-US"/>
          </a:p>
        </p:txBody>
      </p:sp>
      <p:sp>
        <p:nvSpPr>
          <p:cNvPr id="30" name="Date Placeholder 29"/>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19" name="Footer Placeholder 18"/>
          <p:cNvSpPr>
            <a:spLocks noGrp="1"/>
          </p:cNvSpPr>
          <p:nvPr>
            <p:ph type="ftr" sz="quarter" idx="11"/>
          </p:nvPr>
        </p:nvSpPr>
        <p:spPr/>
        <p:txBody>
          <a:bodyPr/>
          <a:lstStyle/>
          <a:p>
            <a:endParaRPr lang="en-CA" dirty="0"/>
          </a:p>
        </p:txBody>
      </p:sp>
      <p:sp>
        <p:nvSpPr>
          <p:cNvPr id="27" name="Slide Number Placeholder 26"/>
          <p:cNvSpPr>
            <a:spLocks noGrp="1"/>
          </p:cNvSpPr>
          <p:nvPr>
            <p:ph type="sldNum" sz="quarter" idx="12"/>
          </p:nvPr>
        </p:nvSpPr>
        <p:spPr/>
        <p:txBody>
          <a:bodyPr/>
          <a:lstStyle/>
          <a:p>
            <a:fld id="{8922EF11-215A-46EF-AA85-48360AAD1A0B}" type="slidenum">
              <a:rPr lang="en-CA" smtClean="0"/>
              <a:pPr/>
              <a:t>‹#›</a:t>
            </a:fld>
            <a:endParaRPr lang="en-CA" dirty="0"/>
          </a:p>
        </p:txBody>
      </p:sp>
      <p:pic>
        <p:nvPicPr>
          <p:cNvPr id="2" name="Picture 1"/>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899592" y="6052356"/>
            <a:ext cx="1440160" cy="401960"/>
          </a:xfrm>
          <a:prstGeom prst="rect">
            <a:avLst/>
          </a:prstGeom>
        </p:spPr>
      </p:pic>
    </p:spTree>
  </p:cSld>
  <p:clrMapOvr>
    <a:masterClrMapping/>
  </p:clrMapOvr>
  <p:timing>
    <p:tnLst>
      <p:par>
        <p:cTn id="1" dur="indefinite" restart="never" nodeType="tmRoot"/>
      </p:par>
    </p:tnLst>
  </p:timing>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1_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Content Placeholder 2"/>
          <p:cNvSpPr>
            <a:spLocks noGrp="1"/>
          </p:cNvSpPr>
          <p:nvPr>
            <p:ph idx="1"/>
          </p:nvPr>
        </p:nvSpPr>
        <p:spPr/>
        <p:txBody>
          <a:body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8922EF11-215A-46EF-AA85-48360AAD1A0B}" type="slidenum">
              <a:rPr lang="en-CA" smtClean="0"/>
              <a:pPr/>
              <a:t>‹#›</a:t>
            </a:fld>
            <a:endParaRPr lang="en-CA"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899592" y="6052356"/>
            <a:ext cx="1440160" cy="401960"/>
          </a:xfrm>
          <a:prstGeom prst="rect">
            <a:avLst/>
          </a:prstGeom>
        </p:spPr>
      </p:pic>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530352" y="1316736"/>
            <a:ext cx="7772400" cy="1362456"/>
          </a:xfrm>
          <a:ln>
            <a:noFill/>
          </a:ln>
        </p:spPr>
        <p:txBody>
          <a:bodyPr vert="horz" lIns="0" tIns="0" rIns="18288" bIns="0" anchor="b">
            <a:normAutofit/>
            <a:scene3d>
              <a:camera prst="orthographicFront">
                <a:rot lat="0" lon="0" rev="0"/>
              </a:camera>
              <a:lightRig rig="contrasting" dir="t">
                <a:rot lat="0" lon="0" rev="4500000"/>
              </a:lightRig>
            </a:scene3d>
            <a:sp3d contourW="6350" prstMaterial="metal">
              <a:bevelT w="127000" h="31750" prst="relaxedInset"/>
              <a:contourClr>
                <a:schemeClr val="accent1">
                  <a:shade val="75000"/>
                </a:schemeClr>
              </a:contourClr>
            </a:sp3d>
          </a:bodyPr>
          <a:lstStyle>
            <a:lvl1pPr>
              <a:defRPr lang="en-US" sz="5600" b="1" cap="all" spc="0">
                <a:ln w="0"/>
                <a:gradFill flip="none">
                  <a:gsLst>
                    <a:gs pos="0">
                      <a:schemeClr val="accent1">
                        <a:tint val="75000"/>
                        <a:shade val="75000"/>
                        <a:satMod val="170000"/>
                      </a:schemeClr>
                    </a:gs>
                    <a:gs pos="49000">
                      <a:schemeClr val="accent1">
                        <a:tint val="88000"/>
                        <a:shade val="65000"/>
                        <a:satMod val="172000"/>
                      </a:schemeClr>
                    </a:gs>
                    <a:gs pos="50000">
                      <a:schemeClr val="accent1">
                        <a:shade val="65000"/>
                        <a:satMod val="130000"/>
                      </a:schemeClr>
                    </a:gs>
                    <a:gs pos="92000">
                      <a:schemeClr val="accent1">
                        <a:shade val="50000"/>
                        <a:satMod val="120000"/>
                      </a:schemeClr>
                    </a:gs>
                    <a:gs pos="100000">
                      <a:schemeClr val="accent1">
                        <a:shade val="48000"/>
                        <a:satMod val="120000"/>
                      </a:schemeClr>
                    </a:gs>
                  </a:gsLst>
                  <a:lin ang="5400000"/>
                </a:gradFill>
                <a:effectLst>
                  <a:reflection blurRad="12700" stA="50000" endPos="50000" dist="5000" dir="5400000" sy="-100000" rotWithShape="0"/>
                </a:effectLst>
              </a:defRPr>
            </a:lvl1pPr>
          </a:lstStyle>
          <a:p>
            <a:pPr lvl="0" algn="r"/>
            <a:r>
              <a:rPr kumimoji="0" lang="en-US" dirty="0" smtClean="0"/>
              <a:t>Click to edit Master title style</a:t>
            </a:r>
            <a:endParaRPr kumimoji="0" lang="en-US" dirty="0"/>
          </a:p>
        </p:txBody>
      </p:sp>
      <p:sp>
        <p:nvSpPr>
          <p:cNvPr id="3" name="Text Placeholder 2"/>
          <p:cNvSpPr>
            <a:spLocks noGrp="1"/>
          </p:cNvSpPr>
          <p:nvPr>
            <p:ph type="body" idx="1"/>
          </p:nvPr>
        </p:nvSpPr>
        <p:spPr>
          <a:xfrm>
            <a:off x="530352" y="2704664"/>
            <a:ext cx="7772400" cy="1509712"/>
          </a:xfrm>
        </p:spPr>
        <p:txBody>
          <a:bodyPr lIns="45720" rIns="45720" anchor="t"/>
          <a:lstStyle>
            <a:lvl1pPr marL="0" indent="0">
              <a:buNone/>
              <a:defRPr sz="2200">
                <a:solidFill>
                  <a:schemeClr val="tx1"/>
                </a:solidFill>
              </a:defRPr>
            </a:lvl1pPr>
            <a:lvl2pPr>
              <a:buNone/>
              <a:defRPr sz="1800">
                <a:solidFill>
                  <a:schemeClr val="tx1">
                    <a:tint val="75000"/>
                  </a:schemeClr>
                </a:solidFill>
              </a:defRPr>
            </a:lvl2pPr>
            <a:lvl3pPr>
              <a:buNone/>
              <a:defRPr sz="1600">
                <a:solidFill>
                  <a:schemeClr val="tx1">
                    <a:tint val="75000"/>
                  </a:schemeClr>
                </a:solidFill>
              </a:defRPr>
            </a:lvl3pPr>
            <a:lvl4pPr>
              <a:buNone/>
              <a:defRPr sz="1400">
                <a:solidFill>
                  <a:schemeClr val="tx1">
                    <a:tint val="75000"/>
                  </a:schemeClr>
                </a:solidFill>
              </a:defRPr>
            </a:lvl4pPr>
            <a:lvl5pPr>
              <a:buNone/>
              <a:defRPr sz="1400">
                <a:solidFill>
                  <a:schemeClr val="tx1">
                    <a:tint val="75000"/>
                  </a:schemeClr>
                </a:solidFill>
              </a:defRPr>
            </a:lvl5pPr>
          </a:lstStyle>
          <a:p>
            <a:pPr lvl="0" eaLnBrk="1" latinLnBrk="0" hangingPunct="1"/>
            <a:r>
              <a:rPr kumimoji="0" lang="en-US" smtClean="0"/>
              <a:t>Click to edit Master text styles</a:t>
            </a:r>
          </a:p>
        </p:txBody>
      </p:sp>
      <p:sp>
        <p:nvSpPr>
          <p:cNvPr id="4" name="Date Placeholder 3"/>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8922EF11-215A-46EF-AA85-48360AAD1A0B}" type="slidenum">
              <a:rPr lang="en-CA" smtClean="0"/>
              <a:pPr/>
              <a:t>‹#›</a:t>
            </a:fld>
            <a:endParaRPr lang="en-CA" dirty="0"/>
          </a:p>
        </p:txBody>
      </p:sp>
      <p:pic>
        <p:nvPicPr>
          <p:cNvPr id="7" name="Picture 6"/>
          <p:cNvPicPr>
            <a:picLocks noChangeAspect="1"/>
          </p:cNvPicPr>
          <p:nvPr userDrawn="1"/>
        </p:nvPicPr>
        <p:blipFill>
          <a:blip r:embed="rId2" cstate="print">
            <a:extLst>
              <a:ext uri="{28A0092B-C50C-407E-A947-70E740481C1C}">
                <a14:useLocalDpi xmlns:a14="http://schemas.microsoft.com/office/drawing/2010/main" xmlns="" val="0"/>
              </a:ext>
            </a:extLst>
          </a:blip>
          <a:stretch>
            <a:fillRect/>
          </a:stretch>
        </p:blipFill>
        <p:spPr>
          <a:xfrm>
            <a:off x="899592" y="6052356"/>
            <a:ext cx="1440160" cy="401960"/>
          </a:xfrm>
          <a:prstGeom prst="rect">
            <a:avLst/>
          </a:prstGeom>
        </p:spPr>
      </p:pic>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a:lstStyle/>
          <a:p>
            <a:r>
              <a:rPr kumimoji="0" lang="en-US" smtClean="0"/>
              <a:t>Click to edit Master title style</a:t>
            </a:r>
            <a:endParaRPr kumimoji="0" lang="en-US"/>
          </a:p>
        </p:txBody>
      </p:sp>
      <p:sp>
        <p:nvSpPr>
          <p:cNvPr id="3" name="Content Placeholder 2"/>
          <p:cNvSpPr>
            <a:spLocks noGrp="1"/>
          </p:cNvSpPr>
          <p:nvPr>
            <p:ph sz="half" idx="1"/>
          </p:nvPr>
        </p:nvSpPr>
        <p:spPr>
          <a:xfrm>
            <a:off x="457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Content Placeholder 3"/>
          <p:cNvSpPr>
            <a:spLocks noGrp="1"/>
          </p:cNvSpPr>
          <p:nvPr>
            <p:ph sz="half" idx="2"/>
          </p:nvPr>
        </p:nvSpPr>
        <p:spPr>
          <a:xfrm>
            <a:off x="4648200" y="1920085"/>
            <a:ext cx="4038600" cy="4434840"/>
          </a:xfrm>
        </p:spPr>
        <p:txBody>
          <a:bodyPr/>
          <a:lstStyle>
            <a:lvl1pPr>
              <a:defRPr sz="2600"/>
            </a:lvl1pPr>
            <a:lvl2pPr>
              <a:defRPr sz="2400"/>
            </a:lvl2pPr>
            <a:lvl3pPr>
              <a:defRPr sz="2000"/>
            </a:lvl3pPr>
            <a:lvl4pPr>
              <a:defRPr sz="18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229600" cy="1143000"/>
          </a:xfrm>
        </p:spPr>
        <p:txBody>
          <a:bodyPr tIns="45720" anchor="b"/>
          <a:lstStyle>
            <a:lvl1pPr>
              <a:defRPr/>
            </a:lvl1pPr>
          </a:lstStyle>
          <a:p>
            <a:r>
              <a:rPr kumimoji="0" lang="en-US" smtClean="0"/>
              <a:t>Click to edit Master title style</a:t>
            </a:r>
            <a:endParaRPr kumimoji="0" lang="en-US"/>
          </a:p>
        </p:txBody>
      </p:sp>
      <p:sp>
        <p:nvSpPr>
          <p:cNvPr id="3" name="Text Placeholder 2"/>
          <p:cNvSpPr>
            <a:spLocks noGrp="1"/>
          </p:cNvSpPr>
          <p:nvPr>
            <p:ph type="body" idx="1"/>
          </p:nvPr>
        </p:nvSpPr>
        <p:spPr>
          <a:xfrm>
            <a:off x="457200" y="1855248"/>
            <a:ext cx="4040188" cy="659352"/>
          </a:xfrm>
        </p:spPr>
        <p:txBody>
          <a:bodyPr lIns="45720" tIns="0" rIns="45720" bIns="0" anchor="ctr">
            <a:noAutofit/>
          </a:bodyP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4" name="Text Placeholder 3"/>
          <p:cNvSpPr>
            <a:spLocks noGrp="1"/>
          </p:cNvSpPr>
          <p:nvPr>
            <p:ph type="body" sz="half" idx="3"/>
          </p:nvPr>
        </p:nvSpPr>
        <p:spPr>
          <a:xfrm>
            <a:off x="4645025" y="1859757"/>
            <a:ext cx="4041775" cy="654843"/>
          </a:xfrm>
        </p:spPr>
        <p:txBody>
          <a:bodyPr lIns="45720" tIns="0" rIns="45720" bIns="0" anchor="ctr"/>
          <a:lstStyle>
            <a:lvl1pPr marL="0" indent="0">
              <a:buNone/>
              <a:defRPr sz="2400" b="1" cap="none" baseline="0">
                <a:solidFill>
                  <a:schemeClr val="tx2"/>
                </a:solidFill>
                <a:effectLst/>
              </a:defRPr>
            </a:lvl1pPr>
            <a:lvl2pPr>
              <a:buNone/>
              <a:defRPr sz="2000" b="1"/>
            </a:lvl2pPr>
            <a:lvl3pPr>
              <a:buNone/>
              <a:defRPr sz="1800" b="1"/>
            </a:lvl3pPr>
            <a:lvl4pPr>
              <a:buNone/>
              <a:defRPr sz="1600" b="1"/>
            </a:lvl4pPr>
            <a:lvl5pPr>
              <a:buNone/>
              <a:defRPr sz="1600" b="1"/>
            </a:lvl5pPr>
          </a:lstStyle>
          <a:p>
            <a:pPr lvl="0" eaLnBrk="1" latinLnBrk="0" hangingPunct="1"/>
            <a:r>
              <a:rPr kumimoji="0" lang="en-US" smtClean="0"/>
              <a:t>Click to edit Master text styles</a:t>
            </a:r>
          </a:p>
        </p:txBody>
      </p:sp>
      <p:sp>
        <p:nvSpPr>
          <p:cNvPr id="5" name="Content Placeholder 4"/>
          <p:cNvSpPr>
            <a:spLocks noGrp="1"/>
          </p:cNvSpPr>
          <p:nvPr>
            <p:ph sz="quarter" idx="2"/>
          </p:nvPr>
        </p:nvSpPr>
        <p:spPr>
          <a:xfrm>
            <a:off x="457200" y="2514600"/>
            <a:ext cx="4040188"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6" name="Content Placeholder 5"/>
          <p:cNvSpPr>
            <a:spLocks noGrp="1"/>
          </p:cNvSpPr>
          <p:nvPr>
            <p:ph sz="quarter" idx="4"/>
          </p:nvPr>
        </p:nvSpPr>
        <p:spPr>
          <a:xfrm>
            <a:off x="4645025" y="2514600"/>
            <a:ext cx="4041775" cy="3845720"/>
          </a:xfrm>
        </p:spPr>
        <p:txBody>
          <a:bodyPr tIns="0"/>
          <a:lstStyle>
            <a:lvl1pPr>
              <a:defRPr sz="2200"/>
            </a:lvl1pPr>
            <a:lvl2pPr>
              <a:defRPr sz="2000"/>
            </a:lvl2pPr>
            <a:lvl3pPr>
              <a:defRPr sz="1800"/>
            </a:lvl3pPr>
            <a:lvl4pPr>
              <a:defRPr sz="1600"/>
            </a:lvl4pPr>
            <a:lvl5pPr>
              <a:defRPr sz="16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7" name="Date Placeholder 6"/>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8" name="Footer Placeholder 7"/>
          <p:cNvSpPr>
            <a:spLocks noGrp="1"/>
          </p:cNvSpPr>
          <p:nvPr>
            <p:ph type="ftr" sz="quarter" idx="11"/>
          </p:nvPr>
        </p:nvSpPr>
        <p:spPr/>
        <p:txBody>
          <a:bodyPr/>
          <a:lstStyle/>
          <a:p>
            <a:endParaRPr lang="en-CA" dirty="0"/>
          </a:p>
        </p:txBody>
      </p:sp>
      <p:sp>
        <p:nvSpPr>
          <p:cNvPr id="9" name="Slide Number Placeholder 8"/>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a:xfrm>
            <a:off x="457200" y="704088"/>
            <a:ext cx="8305800" cy="1143000"/>
          </a:xfrm>
        </p:spPr>
        <p:txBody>
          <a:bodyPr vert="horz" tIns="45720" bIns="0" anchor="b">
            <a:normAutofit/>
            <a:scene3d>
              <a:camera prst="orthographicFront"/>
              <a:lightRig rig="freezing" dir="t">
                <a:rot lat="0" lon="0" rev="5640000"/>
              </a:lightRig>
            </a:scene3d>
            <a:sp3d prstMaterial="flat">
              <a:contourClr>
                <a:schemeClr val="tx2"/>
              </a:contourClr>
            </a:sp3d>
          </a:bodyPr>
          <a:lstStyle>
            <a:lvl1pPr algn="l" rtl="0">
              <a:spcBef>
                <a:spcPct val="0"/>
              </a:spcBef>
              <a:buNone/>
              <a:defRPr sz="50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Date Placeholder 2"/>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4" name="Footer Placeholder 3"/>
          <p:cNvSpPr>
            <a:spLocks noGrp="1"/>
          </p:cNvSpPr>
          <p:nvPr>
            <p:ph type="ftr" sz="quarter" idx="11"/>
          </p:nvPr>
        </p:nvSpPr>
        <p:spPr/>
        <p:txBody>
          <a:bodyPr/>
          <a:lstStyle/>
          <a:p>
            <a:endParaRPr lang="en-CA" dirty="0"/>
          </a:p>
        </p:txBody>
      </p:sp>
      <p:sp>
        <p:nvSpPr>
          <p:cNvPr id="5" name="Slide Number Placeholder 4"/>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3" name="Footer Placeholder 2"/>
          <p:cNvSpPr>
            <a:spLocks noGrp="1"/>
          </p:cNvSpPr>
          <p:nvPr>
            <p:ph type="ftr" sz="quarter" idx="11"/>
          </p:nvPr>
        </p:nvSpPr>
        <p:spPr/>
        <p:txBody>
          <a:bodyPr/>
          <a:lstStyle/>
          <a:p>
            <a:endParaRPr lang="en-CA" dirty="0"/>
          </a:p>
        </p:txBody>
      </p:sp>
      <p:sp>
        <p:nvSpPr>
          <p:cNvPr id="4" name="Slide Number Placeholder 3"/>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685800" y="514352"/>
            <a:ext cx="2743200" cy="1162050"/>
          </a:xfrm>
        </p:spPr>
        <p:txBody>
          <a:bodyPr lIns="0" anchor="b">
            <a:noAutofit/>
          </a:bodyPr>
          <a:lstStyle>
            <a:lvl1pPr algn="l" rtl="0">
              <a:spcBef>
                <a:spcPct val="0"/>
              </a:spcBef>
              <a:buNone/>
              <a:defRPr sz="2600" b="0">
                <a:ln>
                  <a:noFill/>
                </a:ln>
                <a:solidFill>
                  <a:schemeClr val="tx2"/>
                </a:solidFill>
                <a:effectLst/>
                <a:latin typeface="+mj-lt"/>
                <a:ea typeface="+mj-ea"/>
                <a:cs typeface="+mj-cs"/>
              </a:defRPr>
            </a:lvl1pPr>
          </a:lstStyle>
          <a:p>
            <a:r>
              <a:rPr kumimoji="0" lang="en-US" smtClean="0"/>
              <a:t>Click to edit Master title style</a:t>
            </a:r>
            <a:endParaRPr kumimoji="0" lang="en-US"/>
          </a:p>
        </p:txBody>
      </p:sp>
      <p:sp>
        <p:nvSpPr>
          <p:cNvPr id="3" name="Text Placeholder 2"/>
          <p:cNvSpPr>
            <a:spLocks noGrp="1"/>
          </p:cNvSpPr>
          <p:nvPr>
            <p:ph type="body" idx="2"/>
          </p:nvPr>
        </p:nvSpPr>
        <p:spPr>
          <a:xfrm>
            <a:off x="685800" y="1676400"/>
            <a:ext cx="2743200" cy="4572000"/>
          </a:xfrm>
        </p:spPr>
        <p:txBody>
          <a:bodyPr lIns="18288" rIns="18288"/>
          <a:lstStyle>
            <a:lvl1pPr marL="0" indent="0" algn="l">
              <a:buNone/>
              <a:defRPr sz="1400"/>
            </a:lvl1pPr>
            <a:lvl2pPr indent="0" algn="l">
              <a:buNone/>
              <a:defRPr sz="1200"/>
            </a:lvl2pPr>
            <a:lvl3pPr indent="0" algn="l">
              <a:buNone/>
              <a:defRPr sz="1000"/>
            </a:lvl3pPr>
            <a:lvl4pPr indent="0" algn="l">
              <a:buNone/>
              <a:defRPr sz="900"/>
            </a:lvl4pPr>
            <a:lvl5pPr indent="0" algn="l">
              <a:buNone/>
              <a:defRPr sz="900"/>
            </a:lvl5pPr>
          </a:lstStyle>
          <a:p>
            <a:pPr lvl="0" eaLnBrk="1" latinLnBrk="0" hangingPunct="1"/>
            <a:r>
              <a:rPr kumimoji="0" lang="en-US" smtClean="0"/>
              <a:t>Click to edit Master text styles</a:t>
            </a:r>
          </a:p>
        </p:txBody>
      </p:sp>
      <p:sp>
        <p:nvSpPr>
          <p:cNvPr id="4" name="Content Placeholder 3"/>
          <p:cNvSpPr>
            <a:spLocks noGrp="1"/>
          </p:cNvSpPr>
          <p:nvPr>
            <p:ph sz="half" idx="1"/>
          </p:nvPr>
        </p:nvSpPr>
        <p:spPr>
          <a:xfrm>
            <a:off x="3575050" y="1676400"/>
            <a:ext cx="5111750" cy="4572000"/>
          </a:xfrm>
        </p:spPr>
        <p:txBody>
          <a:bodyPr tIns="0"/>
          <a:lstStyle>
            <a:lvl1pPr>
              <a:defRPr sz="2800"/>
            </a:lvl1pPr>
            <a:lvl2pPr>
              <a:defRPr sz="2600"/>
            </a:lvl2pPr>
            <a:lvl3pPr>
              <a:defRPr sz="2400"/>
            </a:lvl3pPr>
            <a:lvl4pPr>
              <a:defRPr sz="2000"/>
            </a:lvl4pPr>
            <a:lvl5pPr>
              <a:defRPr sz="1800"/>
            </a:lvl5pPr>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5" name="Date Placeholder 4"/>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showMasterSp="0" type="picTx" preserve="1">
  <p:cSld name="Picture with Caption">
    <p:spTree>
      <p:nvGrpSpPr>
        <p:cNvPr id="1" name=""/>
        <p:cNvGrpSpPr/>
        <p:nvPr/>
      </p:nvGrpSpPr>
      <p:grpSpPr>
        <a:xfrm>
          <a:off x="0" y="0"/>
          <a:ext cx="0" cy="0"/>
          <a:chOff x="0" y="0"/>
          <a:chExt cx="0" cy="0"/>
        </a:xfrm>
      </p:grpSpPr>
      <p:sp>
        <p:nvSpPr>
          <p:cNvPr id="9" name="Snip and Round Single Corner Rectangle 8"/>
          <p:cNvSpPr/>
          <p:nvPr/>
        </p:nvSpPr>
        <p:spPr>
          <a:xfrm rot="420000" flipV="1">
            <a:off x="3165753" y="1108077"/>
            <a:ext cx="5257800" cy="4114800"/>
          </a:xfrm>
          <a:prstGeom prst="snipRoundRect">
            <a:avLst>
              <a:gd name="adj1" fmla="val 0"/>
              <a:gd name="adj2" fmla="val 3646"/>
            </a:avLst>
          </a:prstGeom>
          <a:solidFill>
            <a:srgbClr val="FFFFFF"/>
          </a:solidFill>
          <a:ln w="3175" cap="rnd" cmpd="sng" algn="ctr">
            <a:solidFill>
              <a:srgbClr val="C0C0C0"/>
            </a:solidFill>
            <a:prstDash val="solid"/>
          </a:ln>
          <a:effectLst>
            <a:outerShdw blurRad="63500" dist="38500" dir="7500000" sx="98500" sy="100080" kx="100000" algn="tl" rotWithShape="0">
              <a:srgbClr val="000000">
                <a:alpha val="25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12" name="Right Triangle 11"/>
          <p:cNvSpPr/>
          <p:nvPr/>
        </p:nvSpPr>
        <p:spPr>
          <a:xfrm rot="420000" flipV="1">
            <a:off x="8004134" y="5359769"/>
            <a:ext cx="155448" cy="155448"/>
          </a:xfrm>
          <a:prstGeom prst="rtTriangle">
            <a:avLst/>
          </a:prstGeom>
          <a:solidFill>
            <a:srgbClr val="FFFFFF"/>
          </a:solidFill>
          <a:ln w="12700" cap="flat" cmpd="sng" algn="ctr">
            <a:solidFill>
              <a:srgbClr val="FFFFFF"/>
            </a:solidFill>
            <a:prstDash val="solid"/>
            <a:bevel/>
          </a:ln>
          <a:effectLst>
            <a:outerShdw blurRad="19685" dist="6350" dir="12900000" algn="tl" rotWithShape="0">
              <a:srgbClr val="000000">
                <a:alpha val="47000"/>
              </a:srgbClr>
            </a:outerShdw>
          </a:effectLst>
        </p:spPr>
        <p:style>
          <a:lnRef idx="2">
            <a:schemeClr val="accent1"/>
          </a:lnRef>
          <a:fillRef idx="1">
            <a:schemeClr val="accent1"/>
          </a:fillRef>
          <a:effectRef idx="0">
            <a:schemeClr val="accent1"/>
          </a:effectRef>
          <a:fontRef idx="minor">
            <a:schemeClr val="lt1"/>
          </a:fontRef>
        </p:style>
        <p:txBody>
          <a:bodyPr rtlCol="0" anchor="ctr"/>
          <a:lstStyle/>
          <a:p>
            <a:pPr algn="ctr" eaLnBrk="1" latinLnBrk="0" hangingPunct="1"/>
            <a:endParaRPr kumimoji="0" lang="en-US" dirty="0"/>
          </a:p>
        </p:txBody>
      </p:sp>
      <p:sp>
        <p:nvSpPr>
          <p:cNvPr id="2" name="Title 1"/>
          <p:cNvSpPr>
            <a:spLocks noGrp="1"/>
          </p:cNvSpPr>
          <p:nvPr>
            <p:ph type="title"/>
          </p:nvPr>
        </p:nvSpPr>
        <p:spPr>
          <a:xfrm>
            <a:off x="609600" y="1176996"/>
            <a:ext cx="2212848" cy="1582621"/>
          </a:xfrm>
        </p:spPr>
        <p:txBody>
          <a:bodyPr vert="horz" lIns="45720" tIns="45720" rIns="45720" bIns="45720" anchor="b"/>
          <a:lstStyle>
            <a:lvl1pPr algn="l">
              <a:buNone/>
              <a:defRPr sz="2000" b="1">
                <a:solidFill>
                  <a:schemeClr val="tx2"/>
                </a:solidFill>
              </a:defRPr>
            </a:lvl1pPr>
          </a:lstStyle>
          <a:p>
            <a:r>
              <a:rPr kumimoji="0" lang="en-US" smtClean="0"/>
              <a:t>Click to edit Master title style</a:t>
            </a:r>
            <a:endParaRPr kumimoji="0" lang="en-US"/>
          </a:p>
        </p:txBody>
      </p:sp>
      <p:sp>
        <p:nvSpPr>
          <p:cNvPr id="4" name="Text Placeholder 3"/>
          <p:cNvSpPr>
            <a:spLocks noGrp="1"/>
          </p:cNvSpPr>
          <p:nvPr>
            <p:ph type="body" sz="half" idx="2"/>
          </p:nvPr>
        </p:nvSpPr>
        <p:spPr>
          <a:xfrm>
            <a:off x="609600" y="2828785"/>
            <a:ext cx="2209800" cy="2179320"/>
          </a:xfrm>
        </p:spPr>
        <p:txBody>
          <a:bodyPr lIns="64008" rIns="45720" bIns="45720" anchor="t"/>
          <a:lstStyle>
            <a:lvl1pPr marL="0" indent="0" algn="l">
              <a:spcBef>
                <a:spcPts val="250"/>
              </a:spcBef>
              <a:buFontTx/>
              <a:buNone/>
              <a:defRPr sz="1300"/>
            </a:lvl1pPr>
            <a:lvl2pPr>
              <a:defRPr sz="1200"/>
            </a:lvl2pPr>
            <a:lvl3pPr>
              <a:defRPr sz="1000"/>
            </a:lvl3pPr>
            <a:lvl4pPr>
              <a:defRPr sz="900"/>
            </a:lvl4pPr>
            <a:lvl5pPr>
              <a:defRPr sz="900"/>
            </a:lvl5pPr>
          </a:lstStyle>
          <a:p>
            <a:pPr lvl="0" eaLnBrk="1" latinLnBrk="0" hangingPunct="1"/>
            <a:r>
              <a:rPr kumimoji="0" lang="en-US" smtClean="0"/>
              <a:t>Click to edit Master text styles</a:t>
            </a:r>
          </a:p>
        </p:txBody>
      </p:sp>
      <p:sp>
        <p:nvSpPr>
          <p:cNvPr id="5" name="Date Placeholder 4"/>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6" name="Footer Placeholder 5"/>
          <p:cNvSpPr>
            <a:spLocks noGrp="1"/>
          </p:cNvSpPr>
          <p:nvPr>
            <p:ph type="ftr" sz="quarter" idx="11"/>
          </p:nvPr>
        </p:nvSpPr>
        <p:spPr/>
        <p:txBody>
          <a:bodyPr/>
          <a:lstStyle/>
          <a:p>
            <a:endParaRPr lang="en-CA" dirty="0"/>
          </a:p>
        </p:txBody>
      </p:sp>
      <p:sp>
        <p:nvSpPr>
          <p:cNvPr id="7" name="Slide Number Placeholder 6"/>
          <p:cNvSpPr>
            <a:spLocks noGrp="1"/>
          </p:cNvSpPr>
          <p:nvPr>
            <p:ph type="sldNum" sz="quarter" idx="12"/>
          </p:nvPr>
        </p:nvSpPr>
        <p:spPr>
          <a:xfrm>
            <a:off x="8077200" y="6356350"/>
            <a:ext cx="609600" cy="365125"/>
          </a:xfrm>
        </p:spPr>
        <p:txBody>
          <a:bodyPr/>
          <a:lstStyle/>
          <a:p>
            <a:fld id="{8922EF11-215A-46EF-AA85-48360AAD1A0B}" type="slidenum">
              <a:rPr lang="en-CA" smtClean="0"/>
              <a:pPr/>
              <a:t>‹#›</a:t>
            </a:fld>
            <a:endParaRPr lang="en-CA" dirty="0"/>
          </a:p>
        </p:txBody>
      </p:sp>
      <p:sp>
        <p:nvSpPr>
          <p:cNvPr id="3" name="Picture Placeholder 2"/>
          <p:cNvSpPr>
            <a:spLocks noGrp="1"/>
          </p:cNvSpPr>
          <p:nvPr>
            <p:ph type="pic" idx="1"/>
          </p:nvPr>
        </p:nvSpPr>
        <p:spPr>
          <a:xfrm rot="420000">
            <a:off x="3485793" y="1199517"/>
            <a:ext cx="4617720" cy="3931920"/>
          </a:xfrm>
          <a:prstGeom prst="rect">
            <a:avLst/>
          </a:prstGeom>
          <a:solidFill>
            <a:schemeClr val="bg2"/>
          </a:solidFill>
          <a:ln w="3000" cap="rnd">
            <a:solidFill>
              <a:srgbClr val="C0C0C0"/>
            </a:solidFill>
            <a:round/>
          </a:ln>
          <a:effectLst/>
        </p:spPr>
        <p:txBody>
          <a:bodyPr/>
          <a:lstStyle>
            <a:lvl1pPr marL="0" indent="0">
              <a:buNone/>
              <a:defRPr sz="3200"/>
            </a:lvl1pPr>
          </a:lstStyle>
          <a:p>
            <a:r>
              <a:rPr kumimoji="0" lang="en-US" dirty="0" smtClean="0"/>
              <a:t>Click icon to add picture</a:t>
            </a:r>
            <a:endParaRPr kumimoji="0" lang="en-US" dirty="0"/>
          </a:p>
        </p:txBody>
      </p:sp>
      <p:sp>
        <p:nvSpPr>
          <p:cNvPr id="10" name="Freeform 9"/>
          <p:cNvSpPr>
            <a:spLocks/>
          </p:cNvSpPr>
          <p:nvPr/>
        </p:nvSpPr>
        <p:spPr bwMode="auto">
          <a:xfrm flipV="1">
            <a:off x="-9525" y="5816600"/>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11" name="Freeform 10"/>
          <p:cNvSpPr>
            <a:spLocks/>
          </p:cNvSpPr>
          <p:nvPr/>
        </p:nvSpPr>
        <p:spPr bwMode="auto">
          <a:xfrm flipV="1">
            <a:off x="4381500" y="6219825"/>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914401"/>
            <a:ext cx="2057400" cy="5211763"/>
          </a:xfrm>
        </p:spPr>
        <p:txBody>
          <a:bodyPr vert="eaVert"/>
          <a:lstStyle/>
          <a:p>
            <a:r>
              <a:rPr kumimoji="0" lang="en-US" smtClean="0"/>
              <a:t>Click to edit Master title style</a:t>
            </a:r>
            <a:endParaRPr kumimoji="0" lang="en-US"/>
          </a:p>
        </p:txBody>
      </p:sp>
      <p:sp>
        <p:nvSpPr>
          <p:cNvPr id="3" name="Vertical Text Placeholder 2"/>
          <p:cNvSpPr>
            <a:spLocks noGrp="1"/>
          </p:cNvSpPr>
          <p:nvPr>
            <p:ph type="body" orient="vert" idx="1"/>
          </p:nvPr>
        </p:nvSpPr>
        <p:spPr>
          <a:xfrm>
            <a:off x="457200" y="914401"/>
            <a:ext cx="6019800" cy="5211763"/>
          </a:xfrm>
        </p:spPr>
        <p:txBody>
          <a:bodyPr vert="eaVert"/>
          <a:lstStyle/>
          <a:p>
            <a:pPr lvl="0" eaLnBrk="1" latinLnBrk="0" hangingPunct="1"/>
            <a:r>
              <a:rPr lang="en-US" smtClean="0"/>
              <a:t>Click to edit Master text styles</a:t>
            </a:r>
          </a:p>
          <a:p>
            <a:pPr lvl="1" eaLnBrk="1" latinLnBrk="0" hangingPunct="1"/>
            <a:r>
              <a:rPr lang="en-US" smtClean="0"/>
              <a:t>Second level</a:t>
            </a:r>
          </a:p>
          <a:p>
            <a:pPr lvl="2" eaLnBrk="1" latinLnBrk="0" hangingPunct="1"/>
            <a:r>
              <a:rPr lang="en-US" smtClean="0"/>
              <a:t>Third level</a:t>
            </a:r>
          </a:p>
          <a:p>
            <a:pPr lvl="3" eaLnBrk="1" latinLnBrk="0" hangingPunct="1"/>
            <a:r>
              <a:rPr lang="en-US" smtClean="0"/>
              <a:t>Fourth level</a:t>
            </a:r>
          </a:p>
          <a:p>
            <a:pPr lvl="4" eaLnBrk="1" latinLnBrk="0" hangingPunct="1"/>
            <a:r>
              <a:rPr lang="en-US" smtClean="0"/>
              <a:t>Fifth level</a:t>
            </a:r>
            <a:endParaRPr kumimoji="0" lang="en-US"/>
          </a:p>
        </p:txBody>
      </p:sp>
      <p:sp>
        <p:nvSpPr>
          <p:cNvPr id="4" name="Date Placeholder 3"/>
          <p:cNvSpPr>
            <a:spLocks noGrp="1"/>
          </p:cNvSpPr>
          <p:nvPr>
            <p:ph type="dt" sz="half" idx="10"/>
          </p:nvPr>
        </p:nvSpPr>
        <p:spPr/>
        <p:txBody>
          <a:bodyPr/>
          <a:lstStyle/>
          <a:p>
            <a:fld id="{63FBE538-5E84-4C6F-AAC4-9D8DBBE3A66F}" type="datetimeFigureOut">
              <a:rPr lang="en-CA" smtClean="0"/>
              <a:pPr/>
              <a:t>01/12/2011</a:t>
            </a:fld>
            <a:endParaRPr lang="en-CA" dirty="0"/>
          </a:p>
        </p:txBody>
      </p:sp>
      <p:sp>
        <p:nvSpPr>
          <p:cNvPr id="5" name="Footer Placeholder 4"/>
          <p:cNvSpPr>
            <a:spLocks noGrp="1"/>
          </p:cNvSpPr>
          <p:nvPr>
            <p:ph type="ftr" sz="quarter" idx="11"/>
          </p:nvPr>
        </p:nvSpPr>
        <p:spPr/>
        <p:txBody>
          <a:bodyPr/>
          <a:lstStyle/>
          <a:p>
            <a:endParaRPr lang="en-CA" dirty="0"/>
          </a:p>
        </p:txBody>
      </p:sp>
      <p:sp>
        <p:nvSpPr>
          <p:cNvPr id="6" name="Slide Number Placeholder 5"/>
          <p:cNvSpPr>
            <a:spLocks noGrp="1"/>
          </p:cNvSpPr>
          <p:nvPr>
            <p:ph type="sldNum" sz="quarter" idx="12"/>
          </p:nvPr>
        </p:nvSpPr>
        <p:spPr/>
        <p:txBody>
          <a:bodyPr/>
          <a:lstStyle/>
          <a:p>
            <a:fld id="{8922EF11-215A-46EF-AA85-48360AAD1A0B}" type="slidenum">
              <a:rPr lang="en-CA" smtClean="0"/>
              <a:pPr/>
              <a:t>‹#›</a:t>
            </a:fld>
            <a:endParaRPr lang="en-CA"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image" Target="../media/image3.jpeg"/><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image" Target="../media/image2.jpeg"/></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7" name="Freeform 6"/>
          <p:cNvSpPr>
            <a:spLocks/>
          </p:cNvSpPr>
          <p:nvPr/>
        </p:nvSpPr>
        <p:spPr bwMode="auto">
          <a:xfrm>
            <a:off x="-9525" y="-7144"/>
            <a:ext cx="9163050" cy="1041400"/>
          </a:xfrm>
          <a:custGeom>
            <a:avLst>
              <a:gd name="A1" fmla="val 0"/>
              <a:gd name="A2" fmla="val 0"/>
              <a:gd name="A3" fmla="val 0"/>
              <a:gd name="A4" fmla="val 0"/>
              <a:gd name="A5" fmla="val 0"/>
              <a:gd name="A6" fmla="val 0"/>
              <a:gd name="A7" fmla="val 0"/>
              <a:gd name="A8" fmla="val 0"/>
            </a:avLst>
            <a:gdLst/>
            <a:ahLst/>
            <a:cxnLst>
              <a:cxn ang="0">
                <a:pos x="6" y="2"/>
              </a:cxn>
              <a:cxn ang="0">
                <a:pos x="2542" y="0"/>
              </a:cxn>
              <a:cxn ang="0">
                <a:pos x="4374" y="367"/>
              </a:cxn>
              <a:cxn ang="0">
                <a:pos x="5766" y="55"/>
              </a:cxn>
              <a:cxn ang="0">
                <a:pos x="5772" y="213"/>
              </a:cxn>
              <a:cxn ang="0">
                <a:pos x="4302" y="439"/>
              </a:cxn>
              <a:cxn ang="0">
                <a:pos x="1488" y="201"/>
              </a:cxn>
              <a:cxn ang="0">
                <a:pos x="0" y="656"/>
              </a:cxn>
              <a:cxn ang="0">
                <a:pos x="6" y="2"/>
              </a:cxn>
            </a:cxnLst>
            <a:rect l="0" t="0" r="0" b="0"/>
            <a:pathLst>
              <a:path w="5772" h="656">
                <a:moveTo>
                  <a:pt x="6" y="2"/>
                </a:moveTo>
                <a:lnTo>
                  <a:pt x="2542" y="0"/>
                </a:lnTo>
                <a:cubicBezTo>
                  <a:pt x="2746" y="101"/>
                  <a:pt x="3828" y="367"/>
                  <a:pt x="4374" y="367"/>
                </a:cubicBezTo>
                <a:cubicBezTo>
                  <a:pt x="4920" y="367"/>
                  <a:pt x="5526" y="152"/>
                  <a:pt x="5766" y="55"/>
                </a:cubicBezTo>
                <a:lnTo>
                  <a:pt x="5772" y="213"/>
                </a:lnTo>
                <a:cubicBezTo>
                  <a:pt x="5670" y="257"/>
                  <a:pt x="5016" y="441"/>
                  <a:pt x="4302" y="439"/>
                </a:cubicBezTo>
                <a:cubicBezTo>
                  <a:pt x="3588" y="437"/>
                  <a:pt x="2205" y="165"/>
                  <a:pt x="1488" y="201"/>
                </a:cubicBezTo>
                <a:cubicBezTo>
                  <a:pt x="750" y="209"/>
                  <a:pt x="270" y="482"/>
                  <a:pt x="0" y="656"/>
                </a:cubicBezTo>
                <a:lnTo>
                  <a:pt x="6" y="2"/>
                </a:lnTo>
                <a:close/>
              </a:path>
            </a:pathLst>
          </a:custGeom>
          <a:gradFill>
            <a:gsLst>
              <a:gs pos="0">
                <a:schemeClr val="accent2">
                  <a:shade val="50000"/>
                  <a:alpha val="45000"/>
                  <a:satMod val="120000"/>
                </a:schemeClr>
              </a:gs>
              <a:gs pos="100000">
                <a:schemeClr val="accent3">
                  <a:shade val="80000"/>
                  <a:alpha val="55000"/>
                  <a:satMod val="155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8" name="Freeform 7"/>
          <p:cNvSpPr>
            <a:spLocks/>
          </p:cNvSpPr>
          <p:nvPr/>
        </p:nvSpPr>
        <p:spPr bwMode="auto">
          <a:xfrm>
            <a:off x="4381500" y="-7144"/>
            <a:ext cx="4762500" cy="638175"/>
          </a:xfrm>
          <a:custGeom>
            <a:avLst>
              <a:gd name="A1" fmla="val 0"/>
              <a:gd name="A2" fmla="val 0"/>
              <a:gd name="A3" fmla="val 0"/>
              <a:gd name="A4" fmla="val 0"/>
              <a:gd name="A5" fmla="val 0"/>
              <a:gd name="A6" fmla="val 0"/>
              <a:gd name="A7" fmla="val 0"/>
              <a:gd name="A8" fmla="val 0"/>
            </a:avLst>
            <a:gdLst/>
            <a:ahLst/>
            <a:cxnLst>
              <a:cxn ang="0">
                <a:pos x="0" y="0"/>
              </a:cxn>
              <a:cxn ang="0">
                <a:pos x="1668" y="564"/>
              </a:cxn>
              <a:cxn ang="0">
                <a:pos x="3000" y="186"/>
              </a:cxn>
              <a:cxn ang="0">
                <a:pos x="3000" y="6"/>
              </a:cxn>
              <a:cxn ang="0">
                <a:pos x="0" y="0"/>
              </a:cxn>
            </a:cxnLst>
            <a:rect l="0" t="0" r="0" b="0"/>
            <a:pathLst>
              <a:path w="3000" h="595">
                <a:moveTo>
                  <a:pt x="0" y="0"/>
                </a:moveTo>
                <a:cubicBezTo>
                  <a:pt x="174" y="102"/>
                  <a:pt x="1168" y="533"/>
                  <a:pt x="1668" y="564"/>
                </a:cubicBezTo>
                <a:cubicBezTo>
                  <a:pt x="2168" y="595"/>
                  <a:pt x="2778" y="279"/>
                  <a:pt x="3000" y="186"/>
                </a:cubicBezTo>
                <a:lnTo>
                  <a:pt x="3000" y="6"/>
                </a:lnTo>
                <a:lnTo>
                  <a:pt x="0" y="0"/>
                </a:lnTo>
                <a:close/>
              </a:path>
            </a:pathLst>
          </a:custGeom>
          <a:gradFill>
            <a:gsLst>
              <a:gs pos="0">
                <a:schemeClr val="accent3">
                  <a:shade val="50000"/>
                  <a:alpha val="30000"/>
                  <a:satMod val="130000"/>
                </a:schemeClr>
              </a:gs>
              <a:gs pos="80000">
                <a:schemeClr val="accent2">
                  <a:shade val="75000"/>
                  <a:alpha val="45000"/>
                  <a:satMod val="140000"/>
                </a:schemeClr>
              </a:gs>
            </a:gsLst>
            <a:lin ang="5400000" scaled="1"/>
          </a:gradFill>
          <a:ln w="9525" cap="flat" cmpd="sng" algn="ctr">
            <a:noFill/>
            <a:prstDash val="solid"/>
            <a:round/>
            <a:headEnd type="none" w="med" len="med"/>
            <a:tailEnd type="none" w="med" len="med"/>
          </a:ln>
          <a:effectLst/>
        </p:spPr>
        <p:txBody>
          <a:bodyPr vert="horz" wrap="square" lIns="91440" tIns="45720" rIns="91440" bIns="45720" anchor="t" compatLnSpc="1"/>
          <a:lstStyle/>
          <a:p>
            <a:pPr marL="0" algn="l" rtl="0" eaLnBrk="1" latinLnBrk="0" hangingPunct="1"/>
            <a:endParaRPr kumimoji="0" lang="en-US" dirty="0">
              <a:solidFill>
                <a:schemeClr val="tx1"/>
              </a:solidFill>
              <a:latin typeface="+mn-lt"/>
              <a:ea typeface="+mn-ea"/>
              <a:cs typeface="+mn-cs"/>
            </a:endParaRPr>
          </a:p>
        </p:txBody>
      </p:sp>
      <p:sp>
        <p:nvSpPr>
          <p:cNvPr id="9" name="Title Placeholder 8"/>
          <p:cNvSpPr>
            <a:spLocks noGrp="1"/>
          </p:cNvSpPr>
          <p:nvPr>
            <p:ph type="title"/>
          </p:nvPr>
        </p:nvSpPr>
        <p:spPr>
          <a:xfrm>
            <a:off x="457200" y="704088"/>
            <a:ext cx="8229600" cy="1143000"/>
          </a:xfrm>
          <a:prstGeom prst="rect">
            <a:avLst/>
          </a:prstGeom>
        </p:spPr>
        <p:txBody>
          <a:bodyPr vert="horz" lIns="0" rIns="0" bIns="0" anchor="b">
            <a:normAutofit/>
          </a:bodyPr>
          <a:lstStyle/>
          <a:p>
            <a:r>
              <a:rPr kumimoji="0" lang="en-US" smtClean="0"/>
              <a:t>Click to edit Master title style</a:t>
            </a:r>
            <a:endParaRPr kumimoji="0" lang="en-US"/>
          </a:p>
        </p:txBody>
      </p:sp>
      <p:sp>
        <p:nvSpPr>
          <p:cNvPr id="30" name="Text Placeholder 29"/>
          <p:cNvSpPr>
            <a:spLocks noGrp="1"/>
          </p:cNvSpPr>
          <p:nvPr>
            <p:ph type="body" idx="1"/>
          </p:nvPr>
        </p:nvSpPr>
        <p:spPr>
          <a:xfrm>
            <a:off x="457200" y="1935480"/>
            <a:ext cx="8229600" cy="4389120"/>
          </a:xfrm>
          <a:prstGeom prst="rect">
            <a:avLst/>
          </a:prstGeom>
        </p:spPr>
        <p:txBody>
          <a:bodyPr vert="horz">
            <a:normAutofit/>
          </a:bodyPr>
          <a:lstStyle/>
          <a:p>
            <a:pPr lvl="0" eaLnBrk="1" latinLnBrk="0" hangingPunct="1"/>
            <a:r>
              <a:rPr kumimoji="0" lang="en-US" smtClean="0"/>
              <a:t>Click to edit Master text styles</a:t>
            </a:r>
          </a:p>
          <a:p>
            <a:pPr lvl="1" eaLnBrk="1" latinLnBrk="0" hangingPunct="1"/>
            <a:r>
              <a:rPr kumimoji="0" lang="en-US" smtClean="0"/>
              <a:t>Second level</a:t>
            </a:r>
          </a:p>
          <a:p>
            <a:pPr lvl="2" eaLnBrk="1" latinLnBrk="0" hangingPunct="1"/>
            <a:r>
              <a:rPr kumimoji="0" lang="en-US" smtClean="0"/>
              <a:t>Third level</a:t>
            </a:r>
          </a:p>
          <a:p>
            <a:pPr lvl="3" eaLnBrk="1" latinLnBrk="0" hangingPunct="1"/>
            <a:r>
              <a:rPr kumimoji="0" lang="en-US" smtClean="0"/>
              <a:t>Fourth level</a:t>
            </a:r>
          </a:p>
          <a:p>
            <a:pPr lvl="4" eaLnBrk="1" latinLnBrk="0" hangingPunct="1"/>
            <a:r>
              <a:rPr kumimoji="0" lang="en-US" smtClean="0"/>
              <a:t>Fifth level</a:t>
            </a:r>
            <a:endParaRPr kumimoji="0" lang="en-US"/>
          </a:p>
        </p:txBody>
      </p:sp>
      <p:sp>
        <p:nvSpPr>
          <p:cNvPr id="10" name="Date Placeholder 9"/>
          <p:cNvSpPr>
            <a:spLocks noGrp="1"/>
          </p:cNvSpPr>
          <p:nvPr>
            <p:ph type="dt" sz="half" idx="2"/>
          </p:nvPr>
        </p:nvSpPr>
        <p:spPr>
          <a:xfrm>
            <a:off x="457200" y="6356350"/>
            <a:ext cx="21336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fld id="{63FBE538-5E84-4C6F-AAC4-9D8DBBE3A66F}" type="datetimeFigureOut">
              <a:rPr lang="en-CA" smtClean="0"/>
              <a:pPr/>
              <a:t>01/12/2011</a:t>
            </a:fld>
            <a:endParaRPr lang="en-CA" dirty="0"/>
          </a:p>
        </p:txBody>
      </p:sp>
      <p:sp>
        <p:nvSpPr>
          <p:cNvPr id="22" name="Footer Placeholder 21"/>
          <p:cNvSpPr>
            <a:spLocks noGrp="1"/>
          </p:cNvSpPr>
          <p:nvPr>
            <p:ph type="ftr" sz="quarter" idx="3"/>
          </p:nvPr>
        </p:nvSpPr>
        <p:spPr>
          <a:xfrm>
            <a:off x="2667000" y="6356350"/>
            <a:ext cx="3352800" cy="365125"/>
          </a:xfrm>
          <a:prstGeom prst="rect">
            <a:avLst/>
          </a:prstGeom>
        </p:spPr>
        <p:txBody>
          <a:bodyPr vert="horz" lIns="0" tIns="0" rIns="0" bIns="0" anchor="b"/>
          <a:lstStyle>
            <a:lvl1pPr algn="l" eaLnBrk="1" latinLnBrk="0" hangingPunct="1">
              <a:defRPr kumimoji="0" sz="1200">
                <a:solidFill>
                  <a:schemeClr val="tx2">
                    <a:shade val="90000"/>
                  </a:schemeClr>
                </a:solidFill>
              </a:defRPr>
            </a:lvl1pPr>
          </a:lstStyle>
          <a:p>
            <a:endParaRPr lang="en-CA" dirty="0"/>
          </a:p>
        </p:txBody>
      </p:sp>
      <p:sp>
        <p:nvSpPr>
          <p:cNvPr id="18" name="Slide Number Placeholder 17"/>
          <p:cNvSpPr>
            <a:spLocks noGrp="1"/>
          </p:cNvSpPr>
          <p:nvPr>
            <p:ph type="sldNum" sz="quarter" idx="4"/>
          </p:nvPr>
        </p:nvSpPr>
        <p:spPr>
          <a:xfrm>
            <a:off x="7924800" y="6356350"/>
            <a:ext cx="762000" cy="365125"/>
          </a:xfrm>
          <a:prstGeom prst="rect">
            <a:avLst/>
          </a:prstGeom>
        </p:spPr>
        <p:txBody>
          <a:bodyPr vert="horz" lIns="0" tIns="0" rIns="0" bIns="0" anchor="b"/>
          <a:lstStyle>
            <a:lvl1pPr algn="r" eaLnBrk="1" latinLnBrk="0" hangingPunct="1">
              <a:defRPr kumimoji="0" sz="1200">
                <a:solidFill>
                  <a:schemeClr val="tx2">
                    <a:shade val="90000"/>
                  </a:schemeClr>
                </a:solidFill>
              </a:defRPr>
            </a:lvl1pPr>
          </a:lstStyle>
          <a:p>
            <a:fld id="{8922EF11-215A-46EF-AA85-48360AAD1A0B}" type="slidenum">
              <a:rPr lang="en-CA" smtClean="0"/>
              <a:pPr/>
              <a:t>‹#›</a:t>
            </a:fld>
            <a:endParaRPr lang="en-CA" dirty="0"/>
          </a:p>
        </p:txBody>
      </p:sp>
      <p:grpSp>
        <p:nvGrpSpPr>
          <p:cNvPr id="2" name="Group 1"/>
          <p:cNvGrpSpPr/>
          <p:nvPr/>
        </p:nvGrpSpPr>
        <p:grpSpPr>
          <a:xfrm>
            <a:off x="-19017" y="202408"/>
            <a:ext cx="9180548" cy="649224"/>
            <a:chOff x="-19045" y="216550"/>
            <a:chExt cx="9180548" cy="649224"/>
          </a:xfrm>
        </p:grpSpPr>
        <p:sp>
          <p:nvSpPr>
            <p:cNvPr id="12" name="Freeform 11"/>
            <p:cNvSpPr>
              <a:spLocks/>
            </p:cNvSpPr>
            <p:nvPr/>
          </p:nvSpPr>
          <p:spPr bwMode="auto">
            <a:xfrm rot="21435692">
              <a:off x="-19045" y="216550"/>
              <a:ext cx="9163050" cy="649224"/>
            </a:xfrm>
            <a:custGeom>
              <a:avLst>
                <a:gd name="A1" fmla="val 0"/>
                <a:gd name="A2" fmla="val 0"/>
                <a:gd name="A3" fmla="val 0"/>
                <a:gd name="A4" fmla="val 0"/>
                <a:gd name="A5" fmla="val 0"/>
                <a:gd name="A6" fmla="val 0"/>
                <a:gd name="A7" fmla="val 0"/>
                <a:gd name="A8" fmla="val 0"/>
              </a:avLst>
              <a:gdLst/>
              <a:ahLst/>
              <a:cxnLst>
                <a:cxn ang="0">
                  <a:pos x="0" y="966"/>
                </a:cxn>
                <a:cxn ang="0">
                  <a:pos x="1608" y="282"/>
                </a:cxn>
                <a:cxn ang="0">
                  <a:pos x="4110" y="1008"/>
                </a:cxn>
                <a:cxn ang="0">
                  <a:pos x="5772" y="0"/>
                </a:cxn>
              </a:cxnLst>
              <a:rect l="0" t="0" r="0" b="0"/>
              <a:pathLst>
                <a:path w="5772" h="1055">
                  <a:moveTo>
                    <a:pt x="0" y="966"/>
                  </a:moveTo>
                  <a:cubicBezTo>
                    <a:pt x="282" y="738"/>
                    <a:pt x="923" y="275"/>
                    <a:pt x="1608" y="282"/>
                  </a:cubicBezTo>
                  <a:cubicBezTo>
                    <a:pt x="2293" y="289"/>
                    <a:pt x="3416" y="1055"/>
                    <a:pt x="4110" y="1008"/>
                  </a:cubicBezTo>
                  <a:cubicBezTo>
                    <a:pt x="4804" y="961"/>
                    <a:pt x="5426" y="210"/>
                    <a:pt x="5772" y="0"/>
                  </a:cubicBezTo>
                </a:path>
              </a:pathLst>
            </a:custGeom>
            <a:noFill/>
            <a:ln w="10795" cap="flat" cmpd="sng" algn="ctr">
              <a:gradFill>
                <a:gsLst>
                  <a:gs pos="74000">
                    <a:schemeClr val="accent3">
                      <a:shade val="75000"/>
                    </a:schemeClr>
                  </a:gs>
                  <a:gs pos="86000">
                    <a:schemeClr val="tx1">
                      <a:alpha val="29000"/>
                    </a:schemeClr>
                  </a:gs>
                  <a:gs pos="16000">
                    <a:schemeClr val="accent2">
                      <a:shade val="75000"/>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sp>
          <p:nvSpPr>
            <p:cNvPr id="13" name="Freeform 12"/>
            <p:cNvSpPr>
              <a:spLocks/>
            </p:cNvSpPr>
            <p:nvPr/>
          </p:nvSpPr>
          <p:spPr bwMode="auto">
            <a:xfrm rot="21435692">
              <a:off x="-14309" y="290003"/>
              <a:ext cx="9175812" cy="530352"/>
            </a:xfrm>
            <a:custGeom>
              <a:avLst>
                <a:gd name="A1" fmla="val 0"/>
                <a:gd name="A2" fmla="val 0"/>
                <a:gd name="A3" fmla="val 0"/>
                <a:gd name="A4" fmla="val 0"/>
                <a:gd name="A5" fmla="val 0"/>
                <a:gd name="A6" fmla="val 0"/>
                <a:gd name="A7" fmla="val 0"/>
                <a:gd name="A8" fmla="val 0"/>
              </a:avLst>
              <a:gdLst/>
              <a:ahLst/>
              <a:cxnLst>
                <a:cxn ang="0">
                  <a:pos x="0" y="732"/>
                </a:cxn>
                <a:cxn ang="0">
                  <a:pos x="1638" y="228"/>
                </a:cxn>
                <a:cxn ang="0">
                  <a:pos x="4122" y="816"/>
                </a:cxn>
                <a:cxn ang="0">
                  <a:pos x="5766" y="0"/>
                </a:cxn>
              </a:cxnLst>
              <a:rect l="0" t="0" r="0" b="0"/>
              <a:pathLst>
                <a:path w="5766" h="854">
                  <a:moveTo>
                    <a:pt x="0" y="732"/>
                  </a:moveTo>
                  <a:cubicBezTo>
                    <a:pt x="273" y="647"/>
                    <a:pt x="951" y="214"/>
                    <a:pt x="1638" y="228"/>
                  </a:cubicBezTo>
                  <a:cubicBezTo>
                    <a:pt x="2325" y="242"/>
                    <a:pt x="3434" y="854"/>
                    <a:pt x="4122" y="816"/>
                  </a:cubicBezTo>
                  <a:cubicBezTo>
                    <a:pt x="4810" y="778"/>
                    <a:pt x="5424" y="170"/>
                    <a:pt x="5766" y="0"/>
                  </a:cubicBezTo>
                </a:path>
              </a:pathLst>
            </a:custGeom>
            <a:noFill/>
            <a:ln w="9525" cap="flat" cmpd="sng" algn="ctr">
              <a:gradFill>
                <a:gsLst>
                  <a:gs pos="74000">
                    <a:schemeClr val="accent4"/>
                  </a:gs>
                  <a:gs pos="44000">
                    <a:schemeClr val="accent1"/>
                  </a:gs>
                  <a:gs pos="33000">
                    <a:schemeClr val="accent2">
                      <a:alpha val="56000"/>
                    </a:schemeClr>
                  </a:gs>
                </a:gsLst>
                <a:lin ang="5400000" scaled="1"/>
              </a:gradFill>
              <a:prstDash val="solid"/>
              <a:round/>
              <a:headEnd type="none" w="med" len="med"/>
              <a:tailEnd type="none" w="med" len="med"/>
            </a:ln>
            <a:effectLst/>
          </p:spPr>
          <p:txBody>
            <a:bodyPr vert="horz" wrap="square" lIns="91440" tIns="45720" rIns="91440" bIns="45720" anchor="t" compatLnSpc="1"/>
            <a:lstStyle/>
            <a:p>
              <a:endParaRPr kumimoji="0" lang="en-US" dirty="0"/>
            </a:p>
          </p:txBody>
        </p:sp>
      </p:grpSp>
      <p:pic>
        <p:nvPicPr>
          <p:cNvPr id="14" name="Picture 13"/>
          <p:cNvPicPr>
            <a:picLocks noChangeAspect="1"/>
          </p:cNvPicPr>
          <p:nvPr/>
        </p:nvPicPr>
        <p:blipFill>
          <a:blip r:embed="rId14" cstate="print">
            <a:extLst>
              <a:ext uri="{28A0092B-C50C-407E-A947-70E740481C1C}">
                <a14:useLocalDpi xmlns:a14="http://schemas.microsoft.com/office/drawing/2010/main" xmlns="" val="0"/>
              </a:ext>
            </a:extLst>
          </a:blip>
          <a:stretch>
            <a:fillRect/>
          </a:stretch>
        </p:blipFill>
        <p:spPr>
          <a:xfrm>
            <a:off x="6431502" y="6093296"/>
            <a:ext cx="2460978" cy="356056"/>
          </a:xfrm>
          <a:prstGeom prst="rect">
            <a:avLst/>
          </a:prstGeom>
        </p:spPr>
      </p:pic>
      <p:pic>
        <p:nvPicPr>
          <p:cNvPr id="15" name="Picture 14"/>
          <p:cNvPicPr>
            <a:picLocks noChangeAspect="1"/>
          </p:cNvPicPr>
          <p:nvPr/>
        </p:nvPicPr>
        <p:blipFill>
          <a:blip r:embed="rId15" cstate="print">
            <a:extLst>
              <a:ext uri="{28A0092B-C50C-407E-A947-70E740481C1C}">
                <a14:useLocalDpi xmlns:a14="http://schemas.microsoft.com/office/drawing/2010/main" xmlns="" val="0"/>
              </a:ext>
            </a:extLst>
          </a:blip>
          <a:stretch>
            <a:fillRect/>
          </a:stretch>
        </p:blipFill>
        <p:spPr>
          <a:xfrm>
            <a:off x="2979440" y="6099952"/>
            <a:ext cx="2888704" cy="353384"/>
          </a:xfrm>
          <a:prstGeom prst="rect">
            <a:avLst/>
          </a:prstGeom>
        </p:spPr>
      </p:pic>
    </p:spTree>
  </p:cSld>
  <p:clrMap bg1="lt1" tx1="dk1" bg2="lt2" tx2="dk2" accent1="accent1" accent2="accent2" accent3="accent3" accent4="accent4" accent5="accent5" accent6="accent6" hlink="hlink" folHlink="folHlink"/>
  <p:sldLayoutIdLst>
    <p:sldLayoutId id="2147483661" r:id="rId1"/>
    <p:sldLayoutId id="2147483662" r:id="rId2"/>
    <p:sldLayoutId id="2147483672" r:id="rId3"/>
    <p:sldLayoutId id="2147483663" r:id="rId4"/>
    <p:sldLayoutId id="2147483664" r:id="rId5"/>
    <p:sldLayoutId id="2147483665" r:id="rId6"/>
    <p:sldLayoutId id="2147483666" r:id="rId7"/>
    <p:sldLayoutId id="2147483667" r:id="rId8"/>
    <p:sldLayoutId id="2147483668" r:id="rId9"/>
    <p:sldLayoutId id="2147483669" r:id="rId10"/>
    <p:sldLayoutId id="2147483670" r:id="rId11"/>
    <p:sldLayoutId id="2147483671" r:id="rId12"/>
  </p:sldLayoutIdLst>
  <p:txStyles>
    <p:titleStyle>
      <a:lvl1pPr algn="l" rtl="0" eaLnBrk="1" latinLnBrk="0" hangingPunct="1">
        <a:spcBef>
          <a:spcPct val="0"/>
        </a:spcBef>
        <a:buNone/>
        <a:defRPr kumimoji="0" sz="5000" b="0" kern="1200">
          <a:ln>
            <a:noFill/>
          </a:ln>
          <a:solidFill>
            <a:schemeClr val="tx2"/>
          </a:solidFill>
          <a:effectLst/>
          <a:latin typeface="+mj-lt"/>
          <a:ea typeface="+mj-ea"/>
          <a:cs typeface="+mj-cs"/>
        </a:defRPr>
      </a:lvl1pPr>
    </p:titleStyle>
    <p:body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p:bodyStyle>
    <p:otherStyle>
      <a:lvl1pPr marL="0" algn="l" rtl="0" eaLnBrk="1" latinLnBrk="0" hangingPunct="1">
        <a:defRPr kumimoji="0" kern="1200">
          <a:solidFill>
            <a:schemeClr val="tx1"/>
          </a:solidFill>
          <a:latin typeface="+mn-lt"/>
          <a:ea typeface="+mn-ea"/>
          <a:cs typeface="+mn-cs"/>
        </a:defRPr>
      </a:lvl1pPr>
      <a:lvl2pPr marL="457200" algn="l" rtl="0" eaLnBrk="1" latinLnBrk="0" hangingPunct="1">
        <a:defRPr kumimoji="0" kern="1200">
          <a:solidFill>
            <a:schemeClr val="tx1"/>
          </a:solidFill>
          <a:latin typeface="+mn-lt"/>
          <a:ea typeface="+mn-ea"/>
          <a:cs typeface="+mn-cs"/>
        </a:defRPr>
      </a:lvl2pPr>
      <a:lvl3pPr marL="914400" algn="l" rtl="0" eaLnBrk="1" latinLnBrk="0" hangingPunct="1">
        <a:defRPr kumimoji="0" kern="1200">
          <a:solidFill>
            <a:schemeClr val="tx1"/>
          </a:solidFill>
          <a:latin typeface="+mn-lt"/>
          <a:ea typeface="+mn-ea"/>
          <a:cs typeface="+mn-cs"/>
        </a:defRPr>
      </a:lvl3pPr>
      <a:lvl4pPr marL="1371600" algn="l" rtl="0" eaLnBrk="1" latinLnBrk="0" hangingPunct="1">
        <a:defRPr kumimoji="0" kern="1200">
          <a:solidFill>
            <a:schemeClr val="tx1"/>
          </a:solidFill>
          <a:latin typeface="+mn-lt"/>
          <a:ea typeface="+mn-ea"/>
          <a:cs typeface="+mn-cs"/>
        </a:defRPr>
      </a:lvl4pPr>
      <a:lvl5pPr marL="1828800" algn="l" rtl="0" eaLnBrk="1" latinLnBrk="0" hangingPunct="1">
        <a:defRPr kumimoji="0" kern="1200">
          <a:solidFill>
            <a:schemeClr val="tx1"/>
          </a:solidFill>
          <a:latin typeface="+mn-lt"/>
          <a:ea typeface="+mn-ea"/>
          <a:cs typeface="+mn-cs"/>
        </a:defRPr>
      </a:lvl5pPr>
      <a:lvl6pPr marL="2286000" algn="l" rtl="0" eaLnBrk="1" latinLnBrk="0" hangingPunct="1">
        <a:defRPr kumimoji="0" kern="1200">
          <a:solidFill>
            <a:schemeClr val="tx1"/>
          </a:solidFill>
          <a:latin typeface="+mn-lt"/>
          <a:ea typeface="+mn-ea"/>
          <a:cs typeface="+mn-cs"/>
        </a:defRPr>
      </a:lvl6pPr>
      <a:lvl7pPr marL="2743200" algn="l" rtl="0" eaLnBrk="1" latinLnBrk="0" hangingPunct="1">
        <a:defRPr kumimoji="0" kern="1200">
          <a:solidFill>
            <a:schemeClr val="tx1"/>
          </a:solidFill>
          <a:latin typeface="+mn-lt"/>
          <a:ea typeface="+mn-ea"/>
          <a:cs typeface="+mn-cs"/>
        </a:defRPr>
      </a:lvl7pPr>
      <a:lvl8pPr marL="3200400" algn="l" rtl="0" eaLnBrk="1" latinLnBrk="0" hangingPunct="1">
        <a:defRPr kumimoji="0" kern="1200">
          <a:solidFill>
            <a:schemeClr val="tx1"/>
          </a:solidFill>
          <a:latin typeface="+mn-lt"/>
          <a:ea typeface="+mn-ea"/>
          <a:cs typeface="+mn-cs"/>
        </a:defRPr>
      </a:lvl8pPr>
      <a:lvl9pPr marL="3657600" algn="l" rtl="0" eaLnBrk="1" latinLnBrk="0" hangingPunct="1">
        <a:defRPr kumimoji="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5.jpeg"/><Relationship Id="rId7" Type="http://schemas.openxmlformats.org/officeDocument/2006/relationships/image" Target="../media/image3.jpeg"/><Relationship Id="rId2" Type="http://schemas.openxmlformats.org/officeDocument/2006/relationships/notesSlide" Target="../notesSlides/notesSlide2.xml"/><Relationship Id="rId1" Type="http://schemas.openxmlformats.org/officeDocument/2006/relationships/slideLayout" Target="../slideLayouts/slideLayout3.xml"/><Relationship Id="rId6" Type="http://schemas.openxmlformats.org/officeDocument/2006/relationships/image" Target="../media/image2.jpeg"/><Relationship Id="rId5" Type="http://schemas.openxmlformats.org/officeDocument/2006/relationships/image" Target="../media/image7.jpeg"/><Relationship Id="rId4" Type="http://schemas.openxmlformats.org/officeDocument/2006/relationships/image" Target="../media/image6.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9.xml.rels><?xml version="1.0" encoding="UTF-8" standalone="yes"?>
<Relationships xmlns="http://schemas.openxmlformats.org/package/2006/relationships"><Relationship Id="rId3" Type="http://schemas.openxmlformats.org/officeDocument/2006/relationships/image" Target="../media/image8.jpeg"/><Relationship Id="rId2" Type="http://schemas.openxmlformats.org/officeDocument/2006/relationships/notesSlide" Target="../notesSlides/notesSlide7.xml"/><Relationship Id="rId1" Type="http://schemas.openxmlformats.org/officeDocument/2006/relationships/slideLayout" Target="../slideLayouts/slideLayout3.xml"/></Relationships>
</file>

<file path=ppt/slides/_rels/slide10.xml.rels><?xml version="1.0" encoding="UTF-8" standalone="yes"?>
<Relationships xmlns="http://schemas.openxmlformats.org/package/2006/relationships"><Relationship Id="rId3" Type="http://schemas.openxmlformats.org/officeDocument/2006/relationships/image" Target="../media/image9.jpeg"/><Relationship Id="rId2" Type="http://schemas.openxmlformats.org/officeDocument/2006/relationships/notesSlide" Target="../notesSlides/notesSlide8.xml"/><Relationship Id="rId1" Type="http://schemas.openxmlformats.org/officeDocument/2006/relationships/slideLayout" Target="../slideLayouts/slideLayout2.xml"/><Relationship Id="rId4" Type="http://schemas.openxmlformats.org/officeDocument/2006/relationships/image" Target="../media/image4.jpeg"/></Relationships>
</file>

<file path=ppt/slides/_rels/slide11.xml.rels><?xml version="1.0" encoding="UTF-8" standalone="yes"?>
<Relationships xmlns="http://schemas.openxmlformats.org/package/2006/relationships"><Relationship Id="rId3" Type="http://schemas.openxmlformats.org/officeDocument/2006/relationships/image" Target="../media/image10.jpeg"/><Relationship Id="rId2" Type="http://schemas.openxmlformats.org/officeDocument/2006/relationships/notesSlide" Target="../notesSlides/notesSlide9.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3" Type="http://schemas.openxmlformats.org/officeDocument/2006/relationships/image" Target="../media/image11.jpeg"/><Relationship Id="rId2" Type="http://schemas.openxmlformats.org/officeDocument/2006/relationships/notesSlide" Target="../notesSlides/notesSlide10.xml"/><Relationship Id="rId1" Type="http://schemas.openxmlformats.org/officeDocument/2006/relationships/slideLayout" Target="../slideLayouts/slideLayout3.xml"/></Relationships>
</file>

<file path=ppt/slides/_rels/slide13.xml.rels><?xml version="1.0" encoding="UTF-8" standalone="yes"?>
<Relationships xmlns="http://schemas.openxmlformats.org/package/2006/relationships"><Relationship Id="rId3" Type="http://schemas.openxmlformats.org/officeDocument/2006/relationships/image" Target="../media/image12.jpeg"/><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4.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12.xml"/><Relationship Id="rId1" Type="http://schemas.openxmlformats.org/officeDocument/2006/relationships/slideLayout" Target="../slideLayouts/slideLayout3.xml"/></Relationships>
</file>

<file path=ppt/slides/_rels/slide15.xml.rels><?xml version="1.0" encoding="UTF-8" standalone="yes"?>
<Relationships xmlns="http://schemas.openxmlformats.org/package/2006/relationships"><Relationship Id="rId3" Type="http://schemas.openxmlformats.org/officeDocument/2006/relationships/image" Target="../media/image14.jpeg"/><Relationship Id="rId2" Type="http://schemas.openxmlformats.org/officeDocument/2006/relationships/notesSlide" Target="../notesSlides/notesSlide13.xml"/><Relationship Id="rId1" Type="http://schemas.openxmlformats.org/officeDocument/2006/relationships/slideLayout" Target="../slideLayouts/slideLayout3.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image" Target="../media/image15.emf"/><Relationship Id="rId2" Type="http://schemas.openxmlformats.org/officeDocument/2006/relationships/notesSlide" Target="../notesSlides/notesSlide14.xml"/><Relationship Id="rId1" Type="http://schemas.openxmlformats.org/officeDocument/2006/relationships/slideLayout" Target="../slideLayouts/slideLayout3.xml"/></Relationships>
</file>

<file path=ppt/slides/_rels/slide18.xml.rels><?xml version="1.0" encoding="UTF-8" standalone="yes"?>
<Relationships xmlns="http://schemas.openxmlformats.org/package/2006/relationships"><Relationship Id="rId3" Type="http://schemas.openxmlformats.org/officeDocument/2006/relationships/image" Target="../media/image16.jpeg"/><Relationship Id="rId2" Type="http://schemas.openxmlformats.org/officeDocument/2006/relationships/notesSlide" Target="../notesSlides/notesSlide15.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3" Type="http://schemas.openxmlformats.org/officeDocument/2006/relationships/image" Target="../media/image17.emf"/><Relationship Id="rId2" Type="http://schemas.openxmlformats.org/officeDocument/2006/relationships/notesSlide" Target="../notesSlides/notesSlide16.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21.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17.xml"/><Relationship Id="rId1" Type="http://schemas.openxmlformats.org/officeDocument/2006/relationships/slideLayout" Target="../slideLayouts/slideLayout3.xml"/></Relationships>
</file>

<file path=ppt/slides/_rels/slide22.xml.rels><?xml version="1.0" encoding="UTF-8" standalone="yes"?>
<Relationships xmlns="http://schemas.openxmlformats.org/package/2006/relationships"><Relationship Id="rId2" Type="http://schemas.openxmlformats.org/officeDocument/2006/relationships/image" Target="../media/image19.png"/><Relationship Id="rId1" Type="http://schemas.openxmlformats.org/officeDocument/2006/relationships/slideLayout" Target="../slideLayouts/slideLayout3.xml"/></Relationships>
</file>

<file path=ppt/slides/_rels/slide23.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24.xml.rels><?xml version="1.0" encoding="UTF-8" standalone="yes"?>
<Relationships xmlns="http://schemas.openxmlformats.org/package/2006/relationships"><Relationship Id="rId3" Type="http://schemas.openxmlformats.org/officeDocument/2006/relationships/hyperlink" Target="http://www.mitacs.ca/" TargetMode="External"/><Relationship Id="rId2" Type="http://schemas.openxmlformats.org/officeDocument/2006/relationships/hyperlink" Target="mailto:email@mitacs.ca" TargetMode="External"/><Relationship Id="rId1" Type="http://schemas.openxmlformats.org/officeDocument/2006/relationships/slideLayout" Target="../slideLayouts/slideLayout6.xml"/><Relationship Id="rId4" Type="http://schemas.openxmlformats.org/officeDocument/2006/relationships/image" Target="../media/image4.jpeg"/></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ctrTitle"/>
          </p:nvPr>
        </p:nvSpPr>
        <p:spPr/>
        <p:txBody>
          <a:bodyPr/>
          <a:lstStyle/>
          <a:p>
            <a:r>
              <a:rPr lang="en-CA" dirty="0" smtClean="0"/>
              <a:t>Innovation through Collaboration</a:t>
            </a:r>
            <a:endParaRPr lang="en-CA" dirty="0"/>
          </a:p>
        </p:txBody>
      </p:sp>
      <p:sp>
        <p:nvSpPr>
          <p:cNvPr id="5" name="Subtitle 4"/>
          <p:cNvSpPr>
            <a:spLocks noGrp="1"/>
          </p:cNvSpPr>
          <p:nvPr>
            <p:ph type="subTitle" idx="1"/>
          </p:nvPr>
        </p:nvSpPr>
        <p:spPr>
          <a:xfrm>
            <a:off x="467544" y="3886200"/>
            <a:ext cx="8064896" cy="1752600"/>
          </a:xfrm>
        </p:spPr>
        <p:txBody>
          <a:bodyPr>
            <a:normAutofit/>
          </a:bodyPr>
          <a:lstStyle/>
          <a:p>
            <a:pPr algn="l"/>
            <a:r>
              <a:rPr lang="en-CA" dirty="0" smtClean="0"/>
              <a:t>Examining opportunities to increase the impact of Innovations through Internships and other collaborative research programs</a:t>
            </a:r>
            <a:endParaRPr lang="en-CA" dirty="0"/>
          </a:p>
        </p:txBody>
      </p:sp>
    </p:spTree>
    <p:extLst>
      <p:ext uri="{BB962C8B-B14F-4D97-AF65-F5344CB8AC3E}">
        <p14:creationId xmlns:p14="http://schemas.microsoft.com/office/powerpoint/2010/main" xmlns="" val="1317774298"/>
      </p:ext>
    </p:extLst>
  </p:cSld>
  <p:clrMapOvr>
    <a:masterClrMapping/>
  </p:clrMapOvr>
  <p:timing>
    <p:tnLst>
      <p:par>
        <p:cTn id="1" dur="indefinite" restart="never" nodeType="tmRoot"/>
      </p:par>
    </p:tnLst>
  </p:timing>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457200" y="906456"/>
            <a:ext cx="8229600" cy="722344"/>
          </a:xfrm>
        </p:spPr>
        <p:txBody>
          <a:bodyPr>
            <a:normAutofit fontScale="90000"/>
          </a:bodyPr>
          <a:lstStyle/>
          <a:p>
            <a:r>
              <a:rPr lang="en-CA" dirty="0" smtClean="0"/>
              <a:t>Presentation Purpose</a:t>
            </a:r>
            <a:endParaRPr lang="en-CA" dirty="0"/>
          </a:p>
        </p:txBody>
      </p:sp>
      <p:pic>
        <p:nvPicPr>
          <p:cNvPr id="5" name="Picture 4"/>
          <p:cNvPicPr>
            <a:picLocks noChangeAspect="1"/>
          </p:cNvPicPr>
          <p:nvPr/>
        </p:nvPicPr>
        <p:blipFill rotWithShape="1">
          <a:blip r:embed="rId3" cstate="print">
            <a:extLst>
              <a:ext uri="{28A0092B-C50C-407E-A947-70E740481C1C}">
                <a14:useLocalDpi xmlns:a14="http://schemas.microsoft.com/office/drawing/2010/main" xmlns="" val="0"/>
              </a:ext>
            </a:extLst>
          </a:blip>
          <a:srcRect t="32345"/>
          <a:stretch/>
        </p:blipFill>
        <p:spPr>
          <a:xfrm>
            <a:off x="296387" y="2719386"/>
            <a:ext cx="2306180" cy="1541890"/>
          </a:xfrm>
          <a:prstGeom prst="rect">
            <a:avLst/>
          </a:prstGeom>
        </p:spPr>
      </p:pic>
      <p:pic>
        <p:nvPicPr>
          <p:cNvPr id="6" name="Picture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3502019" y="4159454"/>
            <a:ext cx="1812494" cy="1440160"/>
          </a:xfrm>
          <a:prstGeom prst="rect">
            <a:avLst/>
          </a:prstGeom>
        </p:spPr>
      </p:pic>
      <p:pic>
        <p:nvPicPr>
          <p:cNvPr id="1026" name="Picture 2" descr="C:\Users\user\AppData\Local\Microsoft\Windows\Temporary Internet Files\Content.IE5\JAMGH9A4\MP900438620[1].jpg"/>
          <p:cNvPicPr>
            <a:picLocks noChangeAspect="1" noChangeArrowheads="1"/>
          </p:cNvPicPr>
          <p:nvPr/>
        </p:nvPicPr>
        <p:blipFill>
          <a:blip r:embed="rId5" cstate="print">
            <a:extLst>
              <a:ext uri="{28A0092B-C50C-407E-A947-70E740481C1C}">
                <a14:useLocalDpi xmlns:a14="http://schemas.microsoft.com/office/drawing/2010/main" xmlns="" val="0"/>
              </a:ext>
            </a:extLst>
          </a:blip>
          <a:srcRect/>
          <a:stretch>
            <a:fillRect/>
          </a:stretch>
        </p:blipFill>
        <p:spPr bwMode="auto">
          <a:xfrm>
            <a:off x="6191230" y="2964919"/>
            <a:ext cx="2549538" cy="1692408"/>
          </a:xfrm>
          <a:prstGeom prst="rect">
            <a:avLst/>
          </a:prstGeom>
          <a:noFill/>
          <a:extLst>
            <a:ext uri="{909E8E84-426E-40DD-AFC4-6F175D3DCCD1}">
              <a14:hiddenFill xmlns:a14="http://schemas.microsoft.com/office/drawing/2010/main" xmlns="">
                <a:solidFill>
                  <a:srgbClr val="FFFFFF"/>
                </a:solidFill>
              </a14:hiddenFill>
            </a:ext>
          </a:extLst>
        </p:spPr>
      </p:pic>
      <p:sp>
        <p:nvSpPr>
          <p:cNvPr id="7" name="Content Placeholder 6"/>
          <p:cNvSpPr>
            <a:spLocks noGrp="1"/>
          </p:cNvSpPr>
          <p:nvPr>
            <p:ph idx="1"/>
          </p:nvPr>
        </p:nvSpPr>
        <p:spPr>
          <a:xfrm>
            <a:off x="440403" y="2245052"/>
            <a:ext cx="1773610" cy="557416"/>
          </a:xfrm>
        </p:spPr>
        <p:txBody>
          <a:bodyPr/>
          <a:lstStyle/>
          <a:p>
            <a:r>
              <a:rPr lang="en-CA" dirty="0" smtClean="0"/>
              <a:t>Leverage</a:t>
            </a:r>
            <a:endParaRPr lang="en-CA" dirty="0"/>
          </a:p>
        </p:txBody>
      </p:sp>
      <p:sp>
        <p:nvSpPr>
          <p:cNvPr id="10" name="Content Placeholder 6"/>
          <p:cNvSpPr txBox="1">
            <a:spLocks/>
          </p:cNvSpPr>
          <p:nvPr/>
        </p:nvSpPr>
        <p:spPr>
          <a:xfrm>
            <a:off x="3157557" y="3650408"/>
            <a:ext cx="2300972" cy="557416"/>
          </a:xfrm>
          <a:prstGeom prst="rect">
            <a:avLst/>
          </a:prstGeom>
        </p:spPr>
        <p:txBody>
          <a:bodyPr vert="horz">
            <a:no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CA" dirty="0"/>
              <a:t>Collaborate</a:t>
            </a:r>
          </a:p>
        </p:txBody>
      </p:sp>
      <p:sp>
        <p:nvSpPr>
          <p:cNvPr id="11" name="Content Placeholder 6"/>
          <p:cNvSpPr txBox="1">
            <a:spLocks/>
          </p:cNvSpPr>
          <p:nvPr/>
        </p:nvSpPr>
        <p:spPr>
          <a:xfrm>
            <a:off x="6703219" y="2276872"/>
            <a:ext cx="1773610" cy="557416"/>
          </a:xfrm>
          <a:prstGeom prst="rect">
            <a:avLst/>
          </a:prstGeom>
        </p:spPr>
        <p:txBody>
          <a:bodyPr vert="horz">
            <a:normAutofit/>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CA" dirty="0" smtClean="0"/>
              <a:t>Learn</a:t>
            </a:r>
            <a:endParaRPr lang="en-CA" dirty="0"/>
          </a:p>
        </p:txBody>
      </p:sp>
      <p:pic>
        <p:nvPicPr>
          <p:cNvPr id="12" name="Picture 11"/>
          <p:cNvPicPr>
            <a:picLocks noChangeAspect="1"/>
          </p:cNvPicPr>
          <p:nvPr/>
        </p:nvPicPr>
        <p:blipFill>
          <a:blip r:embed="rId6" cstate="print">
            <a:extLst>
              <a:ext uri="{28A0092B-C50C-407E-A947-70E740481C1C}">
                <a14:useLocalDpi xmlns:a14="http://schemas.microsoft.com/office/drawing/2010/main" xmlns="" val="0"/>
              </a:ext>
            </a:extLst>
          </a:blip>
          <a:stretch>
            <a:fillRect/>
          </a:stretch>
        </p:blipFill>
        <p:spPr>
          <a:xfrm>
            <a:off x="6431502" y="6093296"/>
            <a:ext cx="2460978" cy="356056"/>
          </a:xfrm>
          <a:prstGeom prst="rect">
            <a:avLst/>
          </a:prstGeom>
        </p:spPr>
      </p:pic>
      <p:pic>
        <p:nvPicPr>
          <p:cNvPr id="9" name="Picture 8"/>
          <p:cNvPicPr>
            <a:picLocks noChangeAspect="1"/>
          </p:cNvPicPr>
          <p:nvPr/>
        </p:nvPicPr>
        <p:blipFill>
          <a:blip r:embed="rId7" cstate="print">
            <a:extLst>
              <a:ext uri="{28A0092B-C50C-407E-A947-70E740481C1C}">
                <a14:useLocalDpi xmlns:a14="http://schemas.microsoft.com/office/drawing/2010/main" xmlns="" val="0"/>
              </a:ext>
            </a:extLst>
          </a:blip>
          <a:stretch>
            <a:fillRect/>
          </a:stretch>
        </p:blipFill>
        <p:spPr>
          <a:xfrm>
            <a:off x="2979440" y="6099952"/>
            <a:ext cx="2888704" cy="353384"/>
          </a:xfrm>
          <a:prstGeom prst="rect">
            <a:avLst/>
          </a:prstGeom>
        </p:spPr>
      </p:pic>
    </p:spTree>
    <p:extLst>
      <p:ext uri="{BB962C8B-B14F-4D97-AF65-F5344CB8AC3E}">
        <p14:creationId xmlns:p14="http://schemas.microsoft.com/office/powerpoint/2010/main" xmlns="" val="2263225272"/>
      </p:ext>
    </p:extLst>
  </p:cSld>
  <p:clrMapOvr>
    <a:masterClrMapping/>
  </p:clrMapOvr>
  <p:timing>
    <p:tnLst>
      <p:par>
        <p:cTn id="1" dur="indefinite" restart="never" nodeType="tmRoot"/>
      </p:par>
    </p:tn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Summary of the Presentation</a:t>
            </a:r>
            <a:endParaRPr lang="en-CA" dirty="0"/>
          </a:p>
        </p:txBody>
      </p:sp>
      <p:sp>
        <p:nvSpPr>
          <p:cNvPr id="3" name="Content Placeholder 2"/>
          <p:cNvSpPr>
            <a:spLocks noGrp="1"/>
          </p:cNvSpPr>
          <p:nvPr>
            <p:ph idx="1"/>
          </p:nvPr>
        </p:nvSpPr>
        <p:spPr>
          <a:xfrm>
            <a:off x="457200" y="2208232"/>
            <a:ext cx="8229600" cy="4389120"/>
          </a:xfrm>
        </p:spPr>
        <p:txBody>
          <a:bodyPr/>
          <a:lstStyle/>
          <a:p>
            <a:pPr marL="514350" indent="-514350">
              <a:spcBef>
                <a:spcPts val="0"/>
              </a:spcBef>
              <a:spcAft>
                <a:spcPts val="1200"/>
              </a:spcAft>
              <a:buFont typeface="+mj-lt"/>
              <a:buAutoNum type="arabicPeriod"/>
            </a:pPr>
            <a:r>
              <a:rPr lang="en-CA" dirty="0"/>
              <a:t>IRDI Program Overview</a:t>
            </a:r>
          </a:p>
          <a:p>
            <a:pPr marL="514350" indent="-514350">
              <a:spcBef>
                <a:spcPts val="0"/>
              </a:spcBef>
              <a:spcAft>
                <a:spcPts val="1200"/>
              </a:spcAft>
              <a:buFont typeface="+mj-lt"/>
              <a:buAutoNum type="arabicPeriod"/>
            </a:pPr>
            <a:r>
              <a:rPr lang="en-CA" dirty="0"/>
              <a:t>Examining the benefits to using IRDI funding for NCE’s</a:t>
            </a:r>
          </a:p>
          <a:p>
            <a:pPr marL="514350" indent="-514350">
              <a:spcBef>
                <a:spcPts val="0"/>
              </a:spcBef>
              <a:spcAft>
                <a:spcPts val="1200"/>
              </a:spcAft>
              <a:buFont typeface="+mj-lt"/>
              <a:buAutoNum type="arabicPeriod"/>
            </a:pPr>
            <a:r>
              <a:rPr lang="en-CA" dirty="0"/>
              <a:t>Examples of Successful IRDI </a:t>
            </a:r>
            <a:r>
              <a:rPr lang="en-CA" dirty="0" smtClean="0"/>
              <a:t>Internships</a:t>
            </a:r>
            <a:endParaRPr lang="en-CA" dirty="0"/>
          </a:p>
          <a:p>
            <a:pPr marL="514350" indent="-514350">
              <a:spcBef>
                <a:spcPts val="0"/>
              </a:spcBef>
              <a:spcAft>
                <a:spcPts val="1200"/>
              </a:spcAft>
              <a:buFont typeface="+mj-lt"/>
              <a:buAutoNum type="arabicPeriod"/>
            </a:pPr>
            <a:r>
              <a:rPr lang="en-CA" dirty="0"/>
              <a:t>Program Delivery Models – Connect Canada, Mitacs- Accelerate</a:t>
            </a:r>
          </a:p>
          <a:p>
            <a:pPr marL="514350" indent="-514350">
              <a:spcBef>
                <a:spcPts val="0"/>
              </a:spcBef>
              <a:spcAft>
                <a:spcPts val="1200"/>
              </a:spcAft>
              <a:buFont typeface="+mj-lt"/>
              <a:buAutoNum type="arabicPeriod"/>
            </a:pPr>
            <a:r>
              <a:rPr lang="en-CA" dirty="0"/>
              <a:t>Questions</a:t>
            </a:r>
          </a:p>
        </p:txBody>
      </p:sp>
    </p:spTree>
    <p:extLst>
      <p:ext uri="{BB962C8B-B14F-4D97-AF65-F5344CB8AC3E}">
        <p14:creationId xmlns:p14="http://schemas.microsoft.com/office/powerpoint/2010/main" xmlns="" val="1923035715"/>
      </p:ext>
    </p:extLst>
  </p:cSld>
  <p:clrMapOvr>
    <a:masterClrMapping/>
  </p:clrMapOvr>
  <p:timing>
    <p:tnLst>
      <p:par>
        <p:cTn id="1" dur="indefinite" restart="never" nodeType="tmRoot"/>
      </p:par>
    </p:tnLst>
  </p:timing>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The Question</a:t>
            </a:r>
            <a:endParaRPr lang="en-CA" dirty="0"/>
          </a:p>
        </p:txBody>
      </p:sp>
      <p:sp>
        <p:nvSpPr>
          <p:cNvPr id="3" name="Content Placeholder 2"/>
          <p:cNvSpPr>
            <a:spLocks noGrp="1"/>
          </p:cNvSpPr>
          <p:nvPr>
            <p:ph idx="1"/>
          </p:nvPr>
        </p:nvSpPr>
        <p:spPr/>
        <p:txBody>
          <a:bodyPr>
            <a:normAutofit/>
          </a:bodyPr>
          <a:lstStyle/>
          <a:p>
            <a:r>
              <a:rPr lang="en-CA" dirty="0" smtClean="0"/>
              <a:t>Why would an NCE with Current Research Funding want to participate in an IRDI internship outside of their NCE Funding?</a:t>
            </a:r>
          </a:p>
          <a:p>
            <a:endParaRPr lang="en-CA" dirty="0"/>
          </a:p>
          <a:p>
            <a:endParaRPr lang="en-CA" dirty="0"/>
          </a:p>
        </p:txBody>
      </p:sp>
    </p:spTree>
    <p:extLst>
      <p:ext uri="{BB962C8B-B14F-4D97-AF65-F5344CB8AC3E}">
        <p14:creationId xmlns:p14="http://schemas.microsoft.com/office/powerpoint/2010/main" xmlns="" val="2270228565"/>
      </p:ext>
    </p:extLst>
  </p:cSld>
  <p:clrMapOvr>
    <a:masterClrMapping/>
  </p:clrMapOvr>
  <p:timing>
    <p:tnLst>
      <p:par>
        <p:cTn id="1" dur="indefinite" restart="never" nodeType="tmRoot"/>
      </p:par>
    </p:tnLst>
  </p:timing>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060848"/>
            <a:ext cx="7772400" cy="1362456"/>
          </a:xfrm>
        </p:spPr>
        <p:txBody>
          <a:bodyPr>
            <a:normAutofit/>
          </a:bodyPr>
          <a:lstStyle/>
          <a:p>
            <a:pPr algn="ctr"/>
            <a:r>
              <a:rPr lang="en-CA" sz="8000" dirty="0" smtClean="0"/>
              <a:t>IRDI Overview</a:t>
            </a:r>
            <a:endParaRPr lang="en-CA" sz="8000" dirty="0"/>
          </a:p>
        </p:txBody>
      </p:sp>
    </p:spTree>
    <p:extLst>
      <p:ext uri="{BB962C8B-B14F-4D97-AF65-F5344CB8AC3E}">
        <p14:creationId xmlns:p14="http://schemas.microsoft.com/office/powerpoint/2010/main" xmlns="" val="39887339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IRDI Program Overview</a:t>
            </a:r>
            <a:endParaRPr lang="en-CA" dirty="0"/>
          </a:p>
        </p:txBody>
      </p:sp>
      <p:sp>
        <p:nvSpPr>
          <p:cNvPr id="3" name="Content Placeholder 2"/>
          <p:cNvSpPr>
            <a:spLocks noGrp="1"/>
          </p:cNvSpPr>
          <p:nvPr>
            <p:ph idx="1"/>
          </p:nvPr>
        </p:nvSpPr>
        <p:spPr/>
        <p:txBody>
          <a:bodyPr/>
          <a:lstStyle/>
          <a:p>
            <a:r>
              <a:rPr lang="en-CA" dirty="0" smtClean="0"/>
              <a:t>Federally funded R&amp;D Internships</a:t>
            </a:r>
          </a:p>
          <a:p>
            <a:r>
              <a:rPr lang="en-CA" dirty="0" smtClean="0"/>
              <a:t>One-to-One Matching</a:t>
            </a:r>
          </a:p>
          <a:p>
            <a:r>
              <a:rPr lang="en-CA" dirty="0" smtClean="0"/>
              <a:t>All industry sectors, all academic fields, Canada-wide </a:t>
            </a:r>
          </a:p>
          <a:p>
            <a:r>
              <a:rPr lang="en-CA" dirty="0" smtClean="0"/>
              <a:t>Graduate and Post-doctoral level candidates</a:t>
            </a:r>
          </a:p>
          <a:p>
            <a:r>
              <a:rPr lang="en-CA" dirty="0" smtClean="0"/>
              <a:t>Goal</a:t>
            </a:r>
          </a:p>
          <a:p>
            <a:pPr lvl="1"/>
            <a:r>
              <a:rPr lang="en-CA" dirty="0" smtClean="0"/>
              <a:t>Introduce graduate students and post-doctoral fellows to practical business problems</a:t>
            </a:r>
          </a:p>
          <a:p>
            <a:pPr lvl="1"/>
            <a:r>
              <a:rPr lang="en-CA" dirty="0" smtClean="0"/>
              <a:t>Increase private investment in research and development</a:t>
            </a:r>
          </a:p>
          <a:p>
            <a:pPr lvl="1"/>
            <a:endParaRPr lang="en-CA" dirty="0"/>
          </a:p>
        </p:txBody>
      </p:sp>
    </p:spTree>
    <p:extLst>
      <p:ext uri="{BB962C8B-B14F-4D97-AF65-F5344CB8AC3E}">
        <p14:creationId xmlns:p14="http://schemas.microsoft.com/office/powerpoint/2010/main" xmlns="" val="1976407436"/>
      </p:ext>
    </p:extLst>
  </p:cSld>
  <p:clrMapOvr>
    <a:masterClrMapping/>
  </p:clrMapOvr>
  <p:timing>
    <p:tnLst>
      <p:par>
        <p:cTn id="1" dur="indefinite" restart="never" nodeType="tmRoot"/>
      </p:par>
    </p:tn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fr-CA" dirty="0"/>
              <a:t>IRDI Program </a:t>
            </a:r>
            <a:r>
              <a:rPr lang="fr-CA" dirty="0" smtClean="0"/>
              <a:t>Overview (Cont’d)</a:t>
            </a:r>
            <a:endParaRPr lang="fr-CA" dirty="0"/>
          </a:p>
        </p:txBody>
      </p:sp>
      <p:sp>
        <p:nvSpPr>
          <p:cNvPr id="3" name="Content Placeholder 2"/>
          <p:cNvSpPr>
            <a:spLocks noGrp="1"/>
          </p:cNvSpPr>
          <p:nvPr>
            <p:ph idx="1"/>
          </p:nvPr>
        </p:nvSpPr>
        <p:spPr/>
        <p:txBody>
          <a:bodyPr/>
          <a:lstStyle/>
          <a:p>
            <a:pPr marL="484632" indent="-457200"/>
            <a:r>
              <a:rPr lang="en-CA" dirty="0" smtClean="0"/>
              <a:t>Outcomes</a:t>
            </a:r>
            <a:endParaRPr lang="en-CA" dirty="0"/>
          </a:p>
          <a:p>
            <a:pPr marL="850392" lvl="1" indent="-457200"/>
            <a:r>
              <a:rPr lang="en-CA" dirty="0"/>
              <a:t>Increased private sector investment in S&amp;T</a:t>
            </a:r>
          </a:p>
          <a:p>
            <a:pPr marL="850392" lvl="1" indent="-457200"/>
            <a:r>
              <a:rPr lang="en-CA" dirty="0"/>
              <a:t>Increased funding to Canadian universities</a:t>
            </a:r>
          </a:p>
          <a:p>
            <a:pPr marL="850392" lvl="1" indent="-457200"/>
            <a:r>
              <a:rPr lang="en-CA" dirty="0"/>
              <a:t>Increased opportunities </a:t>
            </a:r>
            <a:r>
              <a:rPr lang="en-CA" dirty="0" smtClean="0"/>
              <a:t>in </a:t>
            </a:r>
            <a:r>
              <a:rPr lang="en-CA" dirty="0"/>
              <a:t>the Canadian job market</a:t>
            </a:r>
          </a:p>
          <a:p>
            <a:pPr marL="850392" lvl="1" indent="-457200"/>
            <a:r>
              <a:rPr lang="en-CA" dirty="0"/>
              <a:t>Change in business culture towards increased long term R&amp;D </a:t>
            </a:r>
            <a:r>
              <a:rPr lang="en-CA" dirty="0" smtClean="0"/>
              <a:t>endeavours</a:t>
            </a:r>
            <a:endParaRPr lang="en-CA" dirty="0"/>
          </a:p>
          <a:p>
            <a:pPr marL="850392" lvl="1" indent="-457200"/>
            <a:r>
              <a:rPr lang="en-CA" dirty="0"/>
              <a:t>Strengthened relationship between Academia and Industry</a:t>
            </a:r>
            <a:endParaRPr lang="fr-CA" dirty="0"/>
          </a:p>
        </p:txBody>
      </p:sp>
    </p:spTree>
    <p:extLst>
      <p:ext uri="{BB962C8B-B14F-4D97-AF65-F5344CB8AC3E}">
        <p14:creationId xmlns:p14="http://schemas.microsoft.com/office/powerpoint/2010/main" xmlns="" val="1197957604"/>
      </p:ext>
    </p:extLst>
  </p:cSld>
  <p:clrMapOvr>
    <a:masterClrMapping/>
  </p:clrMapOvr>
  <p:timing>
    <p:tnLst>
      <p:par>
        <p:cTn id="1" dur="indefinite" restart="never" nodeType="tmRoot"/>
      </p:par>
    </p:tnLst>
  </p:timing>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3362688"/>
            <a:ext cx="7772400" cy="1362456"/>
          </a:xfrm>
        </p:spPr>
        <p:txBody>
          <a:bodyPr>
            <a:normAutofit fontScale="90000"/>
          </a:bodyPr>
          <a:lstStyle/>
          <a:p>
            <a:pPr algn="ctr"/>
            <a:r>
              <a:rPr lang="en-CA" sz="8000" dirty="0" smtClean="0"/>
              <a:t>Examining the Benefits of IRDI Funding</a:t>
            </a:r>
            <a:endParaRPr lang="en-CA" sz="8000" dirty="0"/>
          </a:p>
        </p:txBody>
      </p:sp>
    </p:spTree>
    <p:extLst>
      <p:ext uri="{BB962C8B-B14F-4D97-AF65-F5344CB8AC3E}">
        <p14:creationId xmlns:p14="http://schemas.microsoft.com/office/powerpoint/2010/main" xmlns="" val="176776177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sz="4400" dirty="0" smtClean="0"/>
              <a:t>Benefits of IRDI funding for NCE’s</a:t>
            </a:r>
            <a:endParaRPr lang="en-CA" sz="4400" dirty="0"/>
          </a:p>
        </p:txBody>
      </p:sp>
      <p:sp>
        <p:nvSpPr>
          <p:cNvPr id="3" name="Content Placeholder 2"/>
          <p:cNvSpPr>
            <a:spLocks noGrp="1"/>
          </p:cNvSpPr>
          <p:nvPr>
            <p:ph idx="1"/>
          </p:nvPr>
        </p:nvSpPr>
        <p:spPr/>
        <p:txBody>
          <a:bodyPr/>
          <a:lstStyle/>
          <a:p>
            <a:pPr marL="514350" indent="-514350">
              <a:buFont typeface="+mj-lt"/>
              <a:buAutoNum type="arabicPeriod"/>
            </a:pPr>
            <a:r>
              <a:rPr lang="en-CA" dirty="0" smtClean="0"/>
              <a:t>Expanding Current Funding</a:t>
            </a:r>
            <a:endParaRPr lang="en-CA" dirty="0"/>
          </a:p>
        </p:txBody>
      </p:sp>
      <p:pic>
        <p:nvPicPr>
          <p:cNvPr id="5" name="Picture 4"/>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1979712" y="2564904"/>
            <a:ext cx="4320478" cy="3236190"/>
          </a:xfrm>
          <a:prstGeom prst="rect">
            <a:avLst/>
          </a:prstGeom>
        </p:spPr>
      </p:pic>
    </p:spTree>
    <p:extLst>
      <p:ext uri="{BB962C8B-B14F-4D97-AF65-F5344CB8AC3E}">
        <p14:creationId xmlns:p14="http://schemas.microsoft.com/office/powerpoint/2010/main" xmlns="" val="3835542672"/>
      </p:ext>
    </p:extLst>
  </p:cSld>
  <p:clrMapOvr>
    <a:masterClrMapping/>
  </p:clrMapOvr>
  <p:timing>
    <p:tnLst>
      <p:par>
        <p:cTn id="1" dur="indefinite" restart="never" nodeType="tmRoot"/>
      </p:par>
    </p:tnLst>
  </p:timing>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startAt="2"/>
            </a:pPr>
            <a:r>
              <a:rPr lang="en-CA" dirty="0" smtClean="0"/>
              <a:t>Explore</a:t>
            </a:r>
            <a:endParaRPr lang="en-CA" dirty="0"/>
          </a:p>
        </p:txBody>
      </p:sp>
      <p:sp>
        <p:nvSpPr>
          <p:cNvPr id="5" name="Title 1"/>
          <p:cNvSpPr>
            <a:spLocks noGrp="1"/>
          </p:cNvSpPr>
          <p:nvPr>
            <p:ph type="title"/>
          </p:nvPr>
        </p:nvSpPr>
        <p:spPr>
          <a:xfrm>
            <a:off x="323528" y="704088"/>
            <a:ext cx="8363272" cy="1143000"/>
          </a:xfrm>
        </p:spPr>
        <p:txBody>
          <a:bodyPr>
            <a:noAutofit/>
          </a:bodyPr>
          <a:lstStyle/>
          <a:p>
            <a:r>
              <a:rPr lang="en-CA" sz="4000" dirty="0" smtClean="0"/>
              <a:t>Benefits of IRDI funding for NCE’s cont’d</a:t>
            </a:r>
            <a:endParaRPr lang="en-CA" sz="4000" dirty="0"/>
          </a:p>
        </p:txBody>
      </p:sp>
      <p:pic>
        <p:nvPicPr>
          <p:cNvPr id="2054" name="Picture 6" descr="C:\Users\user\AppData\Local\Microsoft\Windows\Temporary Internet Files\Content.IE5\RT5PZ32P\MP900425473[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990783" y="2420888"/>
            <a:ext cx="5184576" cy="3442882"/>
          </a:xfrm>
          <a:prstGeom prst="rect">
            <a:avLst/>
          </a:prstGeom>
          <a:noFill/>
          <a:extLst>
            <a:ext uri="{909E8E84-426E-40DD-AFC4-6F175D3DCCD1}">
              <a14:hiddenFill xmlns:a14="http://schemas.microsoft.com/office/drawing/2010/main" xmlns="">
                <a:solidFill>
                  <a:srgbClr val="FFFFFF"/>
                </a:solidFill>
              </a14:hiddenFill>
            </a:ext>
          </a:extLst>
        </p:spPr>
      </p:pic>
      <p:pic>
        <p:nvPicPr>
          <p:cNvPr id="6" name="Picture 5"/>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899592" y="6052356"/>
            <a:ext cx="1440160" cy="401960"/>
          </a:xfrm>
          <a:prstGeom prst="rect">
            <a:avLst/>
          </a:prstGeom>
        </p:spPr>
      </p:pic>
    </p:spTree>
    <p:extLst>
      <p:ext uri="{BB962C8B-B14F-4D97-AF65-F5344CB8AC3E}">
        <p14:creationId xmlns:p14="http://schemas.microsoft.com/office/powerpoint/2010/main" xmlns="" val="2571889146"/>
      </p:ext>
    </p:extLst>
  </p:cSld>
  <p:clrMapOvr>
    <a:masterClrMapping/>
  </p:clrMapOvr>
  <p:timing>
    <p:tnLst>
      <p:par>
        <p:cTn id="1" dur="indefinite" restart="never" nodeType="tmRoot"/>
      </p:par>
    </p:tnLst>
  </p:timing>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startAt="3"/>
            </a:pPr>
            <a:r>
              <a:rPr lang="en-CA" dirty="0" smtClean="0"/>
              <a:t>Complement</a:t>
            </a:r>
            <a:endParaRPr lang="en-CA" dirty="0"/>
          </a:p>
        </p:txBody>
      </p:sp>
      <p:sp>
        <p:nvSpPr>
          <p:cNvPr id="5" name="Title 1"/>
          <p:cNvSpPr txBox="1">
            <a:spLocks/>
          </p:cNvSpPr>
          <p:nvPr/>
        </p:nvSpPr>
        <p:spPr>
          <a:xfrm>
            <a:off x="323528" y="704088"/>
            <a:ext cx="8363272"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CA" sz="4000" dirty="0" smtClean="0"/>
              <a:t>Benefits of IRDI funding for NCE’s cont’d</a:t>
            </a:r>
            <a:endParaRPr lang="en-CA" sz="4000" dirty="0"/>
          </a:p>
        </p:txBody>
      </p:sp>
      <p:pic>
        <p:nvPicPr>
          <p:cNvPr id="3074" name="Picture 2" descr="C:\Users\user\AppData\Local\Microsoft\Windows\Temporary Internet Files\Content.IE5\F6W25KCP\MP900433169[2].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1259632" y="2420888"/>
            <a:ext cx="6400800" cy="3444240"/>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141008303"/>
      </p:ext>
    </p:extLst>
  </p:cSld>
  <p:clrMapOvr>
    <a:masterClrMapping/>
  </p:clrMapOvr>
  <p:timing>
    <p:tnLst>
      <p:par>
        <p:cTn id="1" dur="indefinite" restart="never" nodeType="tmRoot"/>
      </p:par>
    </p:tnLst>
  </p:timing>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lstStyle/>
          <a:p>
            <a:pPr marL="514350" indent="-514350">
              <a:buFont typeface="+mj-lt"/>
              <a:buAutoNum type="arabicPeriod" startAt="4"/>
            </a:pPr>
            <a:r>
              <a:rPr lang="en-CA" dirty="0" smtClean="0"/>
              <a:t>Train</a:t>
            </a:r>
            <a:endParaRPr lang="en-CA" dirty="0"/>
          </a:p>
        </p:txBody>
      </p:sp>
      <p:sp>
        <p:nvSpPr>
          <p:cNvPr id="7" name="Title 1"/>
          <p:cNvSpPr txBox="1">
            <a:spLocks/>
          </p:cNvSpPr>
          <p:nvPr/>
        </p:nvSpPr>
        <p:spPr>
          <a:xfrm>
            <a:off x="323528" y="704088"/>
            <a:ext cx="8363272"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CA" sz="4000" dirty="0" smtClean="0"/>
              <a:t>Benefits of IRDI funding for NCE’s cont’d</a:t>
            </a:r>
            <a:endParaRPr lang="en-CA" sz="4000" dirty="0"/>
          </a:p>
        </p:txBody>
      </p:sp>
      <p:pic>
        <p:nvPicPr>
          <p:cNvPr id="9" name="Picture 8"/>
          <p:cNvPicPr>
            <a:picLocks noChangeAspect="1"/>
          </p:cNvPicPr>
          <p:nvPr/>
        </p:nvPicPr>
        <p:blipFill>
          <a:blip r:embed="rId3" cstate="print">
            <a:extLst>
              <a:ext uri="{28A0092B-C50C-407E-A947-70E740481C1C}">
                <a14:useLocalDpi xmlns:a14="http://schemas.microsoft.com/office/drawing/2010/main" xmlns="" val="0"/>
              </a:ext>
            </a:extLst>
          </a:blip>
          <a:stretch>
            <a:fillRect/>
          </a:stretch>
        </p:blipFill>
        <p:spPr>
          <a:xfrm>
            <a:off x="2004525" y="2420887"/>
            <a:ext cx="5001277" cy="3454119"/>
          </a:xfrm>
          <a:prstGeom prst="rect">
            <a:avLst/>
          </a:prstGeom>
        </p:spPr>
      </p:pic>
    </p:spTree>
    <p:extLst>
      <p:ext uri="{BB962C8B-B14F-4D97-AF65-F5344CB8AC3E}">
        <p14:creationId xmlns:p14="http://schemas.microsoft.com/office/powerpoint/2010/main" xmlns="" val="4041506469"/>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p:txBody>
          <a:bodyPr>
            <a:normAutofit/>
          </a:bodyPr>
          <a:lstStyle/>
          <a:p>
            <a:pPr marL="514350" indent="-514350">
              <a:buFont typeface="+mj-lt"/>
              <a:buAutoNum type="arabicPeriod" startAt="5"/>
            </a:pPr>
            <a:r>
              <a:rPr lang="en-CA" dirty="0" smtClean="0"/>
              <a:t>Commence</a:t>
            </a:r>
            <a:endParaRPr lang="en-CA" dirty="0"/>
          </a:p>
        </p:txBody>
      </p:sp>
      <p:sp>
        <p:nvSpPr>
          <p:cNvPr id="5" name="Title 1"/>
          <p:cNvSpPr txBox="1">
            <a:spLocks/>
          </p:cNvSpPr>
          <p:nvPr/>
        </p:nvSpPr>
        <p:spPr>
          <a:xfrm>
            <a:off x="323528" y="704088"/>
            <a:ext cx="8363272"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CA" sz="4000" dirty="0" smtClean="0"/>
              <a:t>Benefits of IRDI funding for NCE’s cont’d</a:t>
            </a:r>
            <a:endParaRPr lang="en-CA" sz="4000" dirty="0"/>
          </a:p>
        </p:txBody>
      </p:sp>
      <p:pic>
        <p:nvPicPr>
          <p:cNvPr id="4098" name="Picture 2"/>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3131840" y="2348880"/>
            <a:ext cx="2216646" cy="3170174"/>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38046964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Content Placeholder 2"/>
          <p:cNvSpPr>
            <a:spLocks noGrp="1"/>
          </p:cNvSpPr>
          <p:nvPr>
            <p:ph idx="1"/>
          </p:nvPr>
        </p:nvSpPr>
        <p:spPr>
          <a:xfrm>
            <a:off x="457200" y="1935480"/>
            <a:ext cx="8229600" cy="485408"/>
          </a:xfrm>
        </p:spPr>
        <p:txBody>
          <a:bodyPr>
            <a:normAutofit lnSpcReduction="10000"/>
          </a:bodyPr>
          <a:lstStyle/>
          <a:p>
            <a:r>
              <a:rPr lang="en-CA" dirty="0" smtClean="0"/>
              <a:t>Connect</a:t>
            </a:r>
            <a:endParaRPr lang="en-CA" dirty="0"/>
          </a:p>
        </p:txBody>
      </p:sp>
      <p:sp>
        <p:nvSpPr>
          <p:cNvPr id="6" name="Title 1"/>
          <p:cNvSpPr txBox="1">
            <a:spLocks/>
          </p:cNvSpPr>
          <p:nvPr/>
        </p:nvSpPr>
        <p:spPr>
          <a:xfrm>
            <a:off x="323528" y="692696"/>
            <a:ext cx="8363272"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CA" sz="4000" dirty="0" smtClean="0"/>
              <a:t>Benefits of IRDI funding for NCE’s cont’d</a:t>
            </a:r>
            <a:endParaRPr lang="en-CA" sz="4000" dirty="0"/>
          </a:p>
        </p:txBody>
      </p:sp>
      <p:pic>
        <p:nvPicPr>
          <p:cNvPr id="5123" name="Picture 3"/>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543807" y="2057672"/>
            <a:ext cx="3922714" cy="3747592"/>
          </a:xfrm>
          <a:prstGeom prst="rect">
            <a:avLst/>
          </a:prstGeom>
          <a:noFill/>
          <a:ln>
            <a:noFill/>
          </a:ln>
          <a:effectLst/>
          <a:extLst>
            <a:ext uri="{909E8E84-426E-40DD-AFC4-6F175D3DCCD1}">
              <a14:hiddenFill xmlns:a14="http://schemas.microsoft.com/office/drawing/2010/main" xmlns="">
                <a:solidFill>
                  <a:schemeClr val="accent1"/>
                </a:solidFill>
              </a14:hiddenFill>
            </a:ext>
            <a:ext uri="{91240B29-F687-4F45-9708-019B960494DF}">
              <a14:hiddenLine xmlns:a14="http://schemas.microsoft.com/office/drawing/2010/main" xmlns="" w="9525">
                <a:solidFill>
                  <a:schemeClr val="tx1"/>
                </a:solidFill>
                <a:miter lim="800000"/>
                <a:headEnd/>
                <a:tailEnd/>
              </a14:hiddenLine>
            </a:ext>
            <a:ext uri="{AF507438-7753-43E0-B8FC-AC1667EBCBE1}">
              <a14:hiddenEffects xmlns:a14="http://schemas.microsoft.com/office/drawing/2010/main" xmlns="">
                <a:effectLst>
                  <a:outerShdw dist="35921" dir="2700000" algn="ctr" rotWithShape="0">
                    <a:schemeClr val="bg2"/>
                  </a:outerShdw>
                </a:effectLst>
              </a14:hiddenEffects>
            </a:ext>
          </a:extLst>
        </p:spPr>
      </p:pic>
    </p:spTree>
    <p:extLst>
      <p:ext uri="{BB962C8B-B14F-4D97-AF65-F5344CB8AC3E}">
        <p14:creationId xmlns:p14="http://schemas.microsoft.com/office/powerpoint/2010/main" xmlns="" val="1925189866"/>
      </p:ext>
    </p:extLst>
  </p:cSld>
  <p:clrMapOvr>
    <a:masterClrMapping/>
  </p:clrMapOvr>
  <p:timing>
    <p:tnLst>
      <p:par>
        <p:cTn id="1" dur="indefinite" restart="never" nodeType="tmRoot"/>
      </p:par>
    </p:tn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1"/>
          <p:cNvSpPr txBox="1">
            <a:spLocks/>
          </p:cNvSpPr>
          <p:nvPr/>
        </p:nvSpPr>
        <p:spPr>
          <a:xfrm>
            <a:off x="323528" y="704088"/>
            <a:ext cx="8363272" cy="1143000"/>
          </a:xfrm>
          <a:prstGeom prst="rect">
            <a:avLst/>
          </a:prstGeom>
        </p:spPr>
        <p:txBody>
          <a:bodyPr vert="horz" lIns="0" rIns="0" bIns="0" anchor="b">
            <a:noAutofit/>
          </a:bodyPr>
          <a:lstStyle>
            <a:lvl1pPr algn="l" rtl="0" eaLnBrk="1" latinLnBrk="0" hangingPunct="1">
              <a:spcBef>
                <a:spcPct val="0"/>
              </a:spcBef>
              <a:buNone/>
              <a:defRPr kumimoji="0" sz="5000" b="0" kern="1200">
                <a:ln>
                  <a:noFill/>
                </a:ln>
                <a:solidFill>
                  <a:schemeClr val="tx2"/>
                </a:solidFill>
                <a:effectLst/>
                <a:latin typeface="+mj-lt"/>
                <a:ea typeface="+mj-ea"/>
                <a:cs typeface="+mj-cs"/>
              </a:defRPr>
            </a:lvl1pPr>
          </a:lstStyle>
          <a:p>
            <a:r>
              <a:rPr lang="en-CA" sz="4000" dirty="0" smtClean="0"/>
              <a:t>Benefits of IRDI funding for NCE’s cont’d</a:t>
            </a:r>
            <a:endParaRPr lang="en-CA" sz="4000" dirty="0"/>
          </a:p>
        </p:txBody>
      </p:sp>
      <p:sp>
        <p:nvSpPr>
          <p:cNvPr id="5" name="Content Placeholder 2"/>
          <p:cNvSpPr txBox="1">
            <a:spLocks/>
          </p:cNvSpPr>
          <p:nvPr/>
        </p:nvSpPr>
        <p:spPr>
          <a:xfrm>
            <a:off x="457200" y="1935480"/>
            <a:ext cx="8229600" cy="485408"/>
          </a:xfrm>
          <a:prstGeom prst="rect">
            <a:avLst/>
          </a:prstGeom>
        </p:spPr>
        <p:txBody>
          <a:bodyPr vert="horz">
            <a:normAutofit lnSpcReduction="10000"/>
          </a:bodyPr>
          <a:lstStyle>
            <a:lvl1pPr marL="274320" indent="-274320" algn="l" rtl="0" eaLnBrk="1" latinLnBrk="0" hangingPunct="1">
              <a:spcBef>
                <a:spcPct val="20000"/>
              </a:spcBef>
              <a:buClr>
                <a:schemeClr val="accent3"/>
              </a:buClr>
              <a:buSzPct val="95000"/>
              <a:buFont typeface="Wingdings 2"/>
              <a:buChar char=""/>
              <a:defRPr kumimoji="0" sz="2600" kern="1200">
                <a:solidFill>
                  <a:schemeClr val="tx1"/>
                </a:solidFill>
                <a:latin typeface="+mn-lt"/>
                <a:ea typeface="+mn-ea"/>
                <a:cs typeface="+mn-cs"/>
              </a:defRPr>
            </a:lvl1pPr>
            <a:lvl2pPr marL="640080" indent="-246888" algn="l" rtl="0" eaLnBrk="1" latinLnBrk="0" hangingPunct="1">
              <a:spcBef>
                <a:spcPct val="20000"/>
              </a:spcBef>
              <a:buClr>
                <a:schemeClr val="accent1"/>
              </a:buClr>
              <a:buSzPct val="85000"/>
              <a:buFont typeface="Wingdings 2"/>
              <a:buChar char=""/>
              <a:defRPr kumimoji="0" sz="2400" kern="1200">
                <a:solidFill>
                  <a:schemeClr val="tx1"/>
                </a:solidFill>
                <a:latin typeface="+mn-lt"/>
                <a:ea typeface="+mn-ea"/>
                <a:cs typeface="+mn-cs"/>
              </a:defRPr>
            </a:lvl2pPr>
            <a:lvl3pPr marL="914400" indent="-246888" algn="l" rtl="0" eaLnBrk="1" latinLnBrk="0" hangingPunct="1">
              <a:spcBef>
                <a:spcPct val="20000"/>
              </a:spcBef>
              <a:buClr>
                <a:schemeClr val="accent2"/>
              </a:buClr>
              <a:buSzPct val="70000"/>
              <a:buFont typeface="Wingdings 2"/>
              <a:buChar char=""/>
              <a:defRPr kumimoji="0" sz="2100" kern="1200">
                <a:solidFill>
                  <a:schemeClr val="tx1"/>
                </a:solidFill>
                <a:latin typeface="+mn-lt"/>
                <a:ea typeface="+mn-ea"/>
                <a:cs typeface="+mn-cs"/>
              </a:defRPr>
            </a:lvl3pPr>
            <a:lvl4pPr marL="1188720" indent="-210312" algn="l" rtl="0" eaLnBrk="1" latinLnBrk="0" hangingPunct="1">
              <a:spcBef>
                <a:spcPct val="20000"/>
              </a:spcBef>
              <a:buClr>
                <a:schemeClr val="accent3"/>
              </a:buClr>
              <a:buSzPct val="65000"/>
              <a:buFont typeface="Wingdings 2"/>
              <a:buChar char=""/>
              <a:defRPr kumimoji="0" sz="2000" kern="1200">
                <a:solidFill>
                  <a:schemeClr val="tx1"/>
                </a:solidFill>
                <a:latin typeface="+mn-lt"/>
                <a:ea typeface="+mn-ea"/>
                <a:cs typeface="+mn-cs"/>
              </a:defRPr>
            </a:lvl4pPr>
            <a:lvl5pPr marL="1463040" indent="-210312" algn="l" rtl="0" eaLnBrk="1" latinLnBrk="0" hangingPunct="1">
              <a:spcBef>
                <a:spcPct val="20000"/>
              </a:spcBef>
              <a:buClr>
                <a:schemeClr val="accent4"/>
              </a:buClr>
              <a:buSzPct val="65000"/>
              <a:buFont typeface="Wingdings 2"/>
              <a:buChar char=""/>
              <a:defRPr kumimoji="0" sz="2000" kern="1200">
                <a:solidFill>
                  <a:schemeClr val="tx1"/>
                </a:solidFill>
                <a:latin typeface="+mn-lt"/>
                <a:ea typeface="+mn-ea"/>
                <a:cs typeface="+mn-cs"/>
              </a:defRPr>
            </a:lvl5pPr>
            <a:lvl6pPr marL="1737360" indent="-210312" algn="l" rtl="0" eaLnBrk="1" latinLnBrk="0" hangingPunct="1">
              <a:spcBef>
                <a:spcPct val="20000"/>
              </a:spcBef>
              <a:buClr>
                <a:schemeClr val="accent5"/>
              </a:buClr>
              <a:buSzPct val="80000"/>
              <a:buFont typeface="Wingdings 2"/>
              <a:buChar char=""/>
              <a:defRPr kumimoji="0" sz="1800" kern="1200">
                <a:solidFill>
                  <a:schemeClr val="tx1"/>
                </a:solidFill>
                <a:latin typeface="+mn-lt"/>
                <a:ea typeface="+mn-ea"/>
                <a:cs typeface="+mn-cs"/>
              </a:defRPr>
            </a:lvl6pPr>
            <a:lvl7pPr marL="1920240" indent="-182880" algn="l" rtl="0" eaLnBrk="1" latinLnBrk="0" hangingPunct="1">
              <a:spcBef>
                <a:spcPct val="20000"/>
              </a:spcBef>
              <a:buClr>
                <a:schemeClr val="accent6"/>
              </a:buClr>
              <a:buSzPct val="80000"/>
              <a:buFont typeface="Wingdings 2"/>
              <a:buChar char=""/>
              <a:defRPr kumimoji="0" sz="1600" kern="1200" baseline="0">
                <a:solidFill>
                  <a:schemeClr val="tx1"/>
                </a:solidFill>
                <a:latin typeface="+mn-lt"/>
                <a:ea typeface="+mn-ea"/>
                <a:cs typeface="+mn-cs"/>
              </a:defRPr>
            </a:lvl7pPr>
            <a:lvl8pPr marL="2194560" indent="-182880" algn="l" rtl="0" eaLnBrk="1" latinLnBrk="0" hangingPunct="1">
              <a:spcBef>
                <a:spcPct val="20000"/>
              </a:spcBef>
              <a:buClr>
                <a:schemeClr val="tx2"/>
              </a:buClr>
              <a:buChar char="•"/>
              <a:defRPr kumimoji="0" sz="1600" kern="1200">
                <a:solidFill>
                  <a:schemeClr val="tx1"/>
                </a:solidFill>
                <a:latin typeface="+mn-lt"/>
                <a:ea typeface="+mn-ea"/>
                <a:cs typeface="+mn-cs"/>
              </a:defRPr>
            </a:lvl8pPr>
            <a:lvl9pPr marL="2468880" indent="-182880" algn="l" rtl="0" eaLnBrk="1" latinLnBrk="0" hangingPunct="1">
              <a:spcBef>
                <a:spcPct val="20000"/>
              </a:spcBef>
              <a:buClr>
                <a:schemeClr val="tx2"/>
              </a:buClr>
              <a:buFontTx/>
              <a:buChar char="•"/>
              <a:defRPr kumimoji="0" sz="1400" kern="1200" baseline="0">
                <a:solidFill>
                  <a:schemeClr val="tx1"/>
                </a:solidFill>
                <a:latin typeface="+mn-lt"/>
                <a:ea typeface="+mn-ea"/>
                <a:cs typeface="+mn-cs"/>
              </a:defRPr>
            </a:lvl9pPr>
          </a:lstStyle>
          <a:p>
            <a:r>
              <a:rPr lang="en-CA" dirty="0" smtClean="0"/>
              <a:t>Benefits of Interns in Industry - Innovation</a:t>
            </a:r>
            <a:endParaRPr lang="en-CA" dirty="0"/>
          </a:p>
        </p:txBody>
      </p:sp>
      <p:pic>
        <p:nvPicPr>
          <p:cNvPr id="1026" name="Picture 2" descr="C:\Users\user\AppData\Local\Microsoft\Windows\Temporary Internet Files\Content.IE5\6QB5CVES\MP900431248[1].jpg"/>
          <p:cNvPicPr>
            <a:picLocks noChangeAspect="1" noChangeArrowheads="1"/>
          </p:cNvPicPr>
          <p:nvPr/>
        </p:nvPicPr>
        <p:blipFill>
          <a:blip r:embed="rId3" cstate="print">
            <a:extLst>
              <a:ext uri="{28A0092B-C50C-407E-A947-70E740481C1C}">
                <a14:useLocalDpi xmlns:a14="http://schemas.microsoft.com/office/drawing/2010/main" xmlns="" val="0"/>
              </a:ext>
            </a:extLst>
          </a:blip>
          <a:srcRect/>
          <a:stretch>
            <a:fillRect/>
          </a:stretch>
        </p:blipFill>
        <p:spPr bwMode="auto">
          <a:xfrm>
            <a:off x="2771800" y="2564904"/>
            <a:ext cx="3061393" cy="3061393"/>
          </a:xfrm>
          <a:prstGeom prst="rect">
            <a:avLst/>
          </a:prstGeom>
          <a:noFill/>
          <a:extLst>
            <a:ext uri="{909E8E84-426E-40DD-AFC4-6F175D3DCCD1}">
              <a14:hiddenFill xmlns:a14="http://schemas.microsoft.com/office/drawing/2010/main" xmlns="">
                <a:solidFill>
                  <a:srgbClr val="FFFFFF"/>
                </a:solidFill>
              </a14:hiddenFill>
            </a:ext>
          </a:extLst>
        </p:spPr>
      </p:pic>
    </p:spTree>
    <p:extLst>
      <p:ext uri="{BB962C8B-B14F-4D97-AF65-F5344CB8AC3E}">
        <p14:creationId xmlns:p14="http://schemas.microsoft.com/office/powerpoint/2010/main" xmlns="" val="42266670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492896"/>
            <a:ext cx="7772400" cy="1362456"/>
          </a:xfrm>
        </p:spPr>
        <p:txBody>
          <a:bodyPr>
            <a:normAutofit fontScale="90000"/>
          </a:bodyPr>
          <a:lstStyle/>
          <a:p>
            <a:pPr algn="ctr"/>
            <a:r>
              <a:rPr lang="en-CA" sz="8000" dirty="0" smtClean="0"/>
              <a:t>Successful IRDI Internships</a:t>
            </a:r>
            <a:endParaRPr lang="en-CA" sz="8000" dirty="0"/>
          </a:p>
        </p:txBody>
      </p:sp>
    </p:spTree>
    <p:extLst>
      <p:ext uri="{BB962C8B-B14F-4D97-AF65-F5344CB8AC3E}">
        <p14:creationId xmlns:p14="http://schemas.microsoft.com/office/powerpoint/2010/main" xmlns="" val="2563444698"/>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Past Projects: GRAND NCE</a:t>
            </a:r>
            <a:endParaRPr lang="en-CA" dirty="0"/>
          </a:p>
        </p:txBody>
      </p:sp>
      <p:sp>
        <p:nvSpPr>
          <p:cNvPr id="3" name="Content Placeholder 2"/>
          <p:cNvSpPr>
            <a:spLocks noGrp="1"/>
          </p:cNvSpPr>
          <p:nvPr>
            <p:ph idx="1"/>
          </p:nvPr>
        </p:nvSpPr>
        <p:spPr/>
        <p:txBody>
          <a:bodyPr>
            <a:normAutofit fontScale="92500" lnSpcReduction="20000"/>
          </a:bodyPr>
          <a:lstStyle/>
          <a:p>
            <a:r>
              <a:rPr lang="en-US" b="1" dirty="0" smtClean="0"/>
              <a:t>The Burn: Location - Ignited Storytelling using Augmented Reality</a:t>
            </a:r>
          </a:p>
          <a:p>
            <a:endParaRPr lang="en-US" b="1" dirty="0" smtClean="0"/>
          </a:p>
          <a:p>
            <a:r>
              <a:rPr lang="en-US" b="1" dirty="0"/>
              <a:t>Industry Partner:  WithWonder</a:t>
            </a:r>
            <a:endParaRPr lang="en-US" b="1" dirty="0" smtClean="0"/>
          </a:p>
          <a:p>
            <a:endParaRPr lang="en-US" dirty="0" smtClean="0"/>
          </a:p>
          <a:p>
            <a:r>
              <a:rPr lang="en-US" dirty="0" smtClean="0"/>
              <a:t>Current mobile augmented reality  (AR) technologies  were surveyed and investigated . This helped the intern to develop a prototype of a hybrid mobile AR system for location-based storytelling in mobile games. </a:t>
            </a:r>
            <a:endParaRPr lang="en-US" b="1" dirty="0" smtClean="0"/>
          </a:p>
          <a:p>
            <a:endParaRPr lang="en-US" b="1" dirty="0" smtClean="0"/>
          </a:p>
          <a:p>
            <a:r>
              <a:rPr lang="en-US" b="1" dirty="0" smtClean="0"/>
              <a:t>Prototype was successfully developed </a:t>
            </a:r>
          </a:p>
          <a:p>
            <a:r>
              <a:rPr lang="en-US" b="1" dirty="0" smtClean="0"/>
              <a:t>$800, 000 funding  secured by company  to continue</a:t>
            </a:r>
            <a:endParaRPr lang="en-CA" dirty="0"/>
          </a:p>
        </p:txBody>
      </p:sp>
      <p:pic>
        <p:nvPicPr>
          <p:cNvPr id="4" name="Picture 3"/>
          <p:cNvPicPr/>
          <p:nvPr/>
        </p:nvPicPr>
        <p:blipFill>
          <a:blip r:embed="rId3" cstate="print"/>
          <a:srcRect/>
          <a:stretch>
            <a:fillRect/>
          </a:stretch>
        </p:blipFill>
        <p:spPr bwMode="auto">
          <a:xfrm>
            <a:off x="7308304" y="0"/>
            <a:ext cx="1835697" cy="1700808"/>
          </a:xfrm>
          <a:prstGeom prst="rect">
            <a:avLst/>
          </a:prstGeom>
          <a:noFill/>
          <a:ln w="9525">
            <a:noFill/>
            <a:miter lim="800000"/>
            <a:headEnd/>
            <a:tailEnd/>
          </a:ln>
        </p:spPr>
      </p:pic>
    </p:spTree>
    <p:extLst>
      <p:ext uri="{BB962C8B-B14F-4D97-AF65-F5344CB8AC3E}">
        <p14:creationId xmlns:p14="http://schemas.microsoft.com/office/powerpoint/2010/main" xmlns="" val="3798201180"/>
      </p:ext>
    </p:extLst>
  </p:cSld>
  <p:clrMapOvr>
    <a:masterClrMapping/>
  </p:clrMapOvr>
  <p:timing>
    <p:tnLst>
      <p:par>
        <p:cTn id="1" dur="indefinite" restart="never" nodeType="tmRoot"/>
      </p:par>
    </p:tnLst>
  </p:timing>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Past Projects: AFM Net</a:t>
            </a:r>
            <a:endParaRPr lang="en-CA" dirty="0"/>
          </a:p>
        </p:txBody>
      </p:sp>
      <p:sp>
        <p:nvSpPr>
          <p:cNvPr id="3" name="Content Placeholder 2"/>
          <p:cNvSpPr>
            <a:spLocks noGrp="1"/>
          </p:cNvSpPr>
          <p:nvPr>
            <p:ph idx="1"/>
          </p:nvPr>
        </p:nvSpPr>
        <p:spPr/>
        <p:txBody>
          <a:bodyPr>
            <a:normAutofit fontScale="85000" lnSpcReduction="20000"/>
          </a:bodyPr>
          <a:lstStyle/>
          <a:p>
            <a:r>
              <a:rPr lang="en-US" b="1" dirty="0" smtClean="0"/>
              <a:t>Detection of Listeria by nanoparticle-based technology coupled with a novel fluorescence device</a:t>
            </a:r>
          </a:p>
          <a:p>
            <a:endParaRPr lang="en-US" b="1" dirty="0" smtClean="0"/>
          </a:p>
          <a:p>
            <a:r>
              <a:rPr lang="en-CA" b="1" dirty="0" smtClean="0"/>
              <a:t>Industry </a:t>
            </a:r>
            <a:r>
              <a:rPr lang="en-CA" b="1" dirty="0"/>
              <a:t>Partner:  INO Medical Devices </a:t>
            </a:r>
            <a:endParaRPr lang="en-CA" b="1" dirty="0" smtClean="0"/>
          </a:p>
          <a:p>
            <a:endParaRPr lang="en-US" sz="2800" i="1" dirty="0" smtClean="0"/>
          </a:p>
          <a:p>
            <a:r>
              <a:rPr lang="en-US" sz="2800" i="1" dirty="0" smtClean="0"/>
              <a:t>Listeria monocytogenes </a:t>
            </a:r>
            <a:r>
              <a:rPr lang="en-US" sz="2800" dirty="0" smtClean="0"/>
              <a:t>is a common food-borne pathogen that is the causative agent of listeriosis, a severe and potentially fatal condition. </a:t>
            </a:r>
          </a:p>
          <a:p>
            <a:endParaRPr lang="en-US" sz="2800" dirty="0" smtClean="0"/>
          </a:p>
          <a:p>
            <a:r>
              <a:rPr lang="en-US" sz="2800" dirty="0" smtClean="0"/>
              <a:t>This project aimed  to make use of  new nanoparticle technology to provide a faster, more sensitive and  cost-effective method to  detect </a:t>
            </a:r>
            <a:r>
              <a:rPr lang="en-US" sz="2800" i="1" dirty="0" smtClean="0"/>
              <a:t>L. monocytogenes  </a:t>
            </a:r>
            <a:r>
              <a:rPr lang="en-US" sz="2800" dirty="0" smtClean="0"/>
              <a:t>in food samples</a:t>
            </a:r>
            <a:endParaRPr lang="en-CA" dirty="0" smtClean="0"/>
          </a:p>
          <a:p>
            <a:endParaRPr lang="en-CA" dirty="0"/>
          </a:p>
        </p:txBody>
      </p:sp>
      <p:pic>
        <p:nvPicPr>
          <p:cNvPr id="2050" name="Picture 2" descr="http://t3.gstatic.com/images?q=tbn:ANd9GcRvLk-6HH-FK5f_MQOrqnjSdgNWUNesARLr4BEW0x0J2wzj4Y37AQ"/>
          <p:cNvPicPr>
            <a:picLocks noChangeAspect="1" noChangeArrowheads="1"/>
          </p:cNvPicPr>
          <p:nvPr/>
        </p:nvPicPr>
        <p:blipFill>
          <a:blip r:embed="rId3" cstate="print"/>
          <a:srcRect/>
          <a:stretch>
            <a:fillRect/>
          </a:stretch>
        </p:blipFill>
        <p:spPr bwMode="auto">
          <a:xfrm>
            <a:off x="6553200" y="0"/>
            <a:ext cx="2590800" cy="1762126"/>
          </a:xfrm>
          <a:prstGeom prst="rect">
            <a:avLst/>
          </a:prstGeom>
          <a:noFill/>
        </p:spPr>
      </p:pic>
    </p:spTree>
    <p:extLst>
      <p:ext uri="{BB962C8B-B14F-4D97-AF65-F5344CB8AC3E}">
        <p14:creationId xmlns:p14="http://schemas.microsoft.com/office/powerpoint/2010/main" xmlns="" val="3798201180"/>
      </p:ext>
    </p:extLst>
  </p:cSld>
  <p:clrMapOvr>
    <a:masterClrMapping/>
  </p:clrMapOvr>
  <p:timing>
    <p:tnLst>
      <p:par>
        <p:cTn id="1" dur="indefinite" restart="never" nodeType="tmRoot"/>
      </p:par>
    </p:tnLst>
  </p:timing>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Past Project: NeuroDevNet</a:t>
            </a:r>
            <a:endParaRPr lang="en-CA" dirty="0"/>
          </a:p>
        </p:txBody>
      </p:sp>
      <p:sp>
        <p:nvSpPr>
          <p:cNvPr id="3" name="Content Placeholder 2"/>
          <p:cNvSpPr>
            <a:spLocks noGrp="1"/>
          </p:cNvSpPr>
          <p:nvPr>
            <p:ph idx="1"/>
          </p:nvPr>
        </p:nvSpPr>
        <p:spPr>
          <a:xfrm>
            <a:off x="457200" y="1935480"/>
            <a:ext cx="8507288" cy="4389120"/>
          </a:xfrm>
        </p:spPr>
        <p:txBody>
          <a:bodyPr>
            <a:normAutofit/>
          </a:bodyPr>
          <a:lstStyle/>
          <a:p>
            <a:r>
              <a:rPr lang="en-CA" sz="2000" b="1" dirty="0" smtClean="0"/>
              <a:t>A Link or a Tangle: The Internet at the Intersection of Parents, Advocacy &amp; Health Information for Neurodevelopmental Disorders</a:t>
            </a:r>
          </a:p>
          <a:p>
            <a:endParaRPr lang="en-CA" sz="2000" b="1" dirty="0"/>
          </a:p>
          <a:p>
            <a:r>
              <a:rPr lang="en-CA" sz="2000" b="1" dirty="0"/>
              <a:t>Industry Partner:  The Vancouver Sun</a:t>
            </a:r>
            <a:endParaRPr lang="en-CA" sz="2000" b="1" dirty="0" smtClean="0"/>
          </a:p>
          <a:p>
            <a:endParaRPr lang="en-CA" sz="2000" b="1" dirty="0" smtClean="0"/>
          </a:p>
          <a:p>
            <a:r>
              <a:rPr lang="en-CA" sz="2000" dirty="0" smtClean="0"/>
              <a:t>Using journalistic methods, the project  examined how  parents rely on, &amp; are influenced by information published on  health advocacy websites.  </a:t>
            </a:r>
          </a:p>
          <a:p>
            <a:endParaRPr lang="en-CA" sz="2000" dirty="0" smtClean="0"/>
          </a:p>
          <a:p>
            <a:r>
              <a:rPr lang="en-CA" sz="2000" dirty="0" smtClean="0"/>
              <a:t>Articles  were published in the Vancouver Sun on disorders including autism, fetal alcohol spectrum disorder and cerebral palsy. Using terms the general public could  appreciate  the readership became more  familiar  &amp;  better informed about  scientific and neuroethical issues.</a:t>
            </a:r>
            <a:endParaRPr lang="en-CA" sz="2000" dirty="0"/>
          </a:p>
        </p:txBody>
      </p:sp>
      <p:pic>
        <p:nvPicPr>
          <p:cNvPr id="4" name="Picture 3"/>
          <p:cNvPicPr/>
          <p:nvPr/>
        </p:nvPicPr>
        <p:blipFill>
          <a:blip r:embed="rId3" cstate="print"/>
          <a:srcRect/>
          <a:stretch>
            <a:fillRect/>
          </a:stretch>
        </p:blipFill>
        <p:spPr bwMode="auto">
          <a:xfrm>
            <a:off x="7446684" y="0"/>
            <a:ext cx="1697316" cy="1656184"/>
          </a:xfrm>
          <a:prstGeom prst="rect">
            <a:avLst/>
          </a:prstGeom>
          <a:noFill/>
          <a:ln w="9525">
            <a:noFill/>
            <a:miter lim="800000"/>
            <a:headEnd/>
            <a:tailEnd/>
          </a:ln>
        </p:spPr>
      </p:pic>
    </p:spTree>
    <p:extLst>
      <p:ext uri="{BB962C8B-B14F-4D97-AF65-F5344CB8AC3E}">
        <p14:creationId xmlns:p14="http://schemas.microsoft.com/office/powerpoint/2010/main" xmlns="" val="3798201180"/>
      </p:ext>
    </p:extLst>
  </p:cSld>
  <p:clrMapOvr>
    <a:masterClrMapping/>
  </p:clrMapOvr>
  <p:timing>
    <p:tnLst>
      <p:par>
        <p:cTn id="1" dur="indefinite" restart="never" nodeType="tmRoot"/>
      </p:par>
    </p:tnLst>
  </p:timing>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42608"/>
            <a:ext cx="7772400" cy="1362456"/>
          </a:xfrm>
        </p:spPr>
        <p:txBody>
          <a:bodyPr>
            <a:normAutofit fontScale="90000"/>
          </a:bodyPr>
          <a:lstStyle/>
          <a:p>
            <a:pPr algn="ctr"/>
            <a:r>
              <a:rPr lang="en-CA" sz="8000" dirty="0" smtClean="0"/>
              <a:t>IRDI Delivery Models</a:t>
            </a:r>
            <a:endParaRPr lang="en-CA" sz="8000" dirty="0"/>
          </a:p>
        </p:txBody>
      </p:sp>
    </p:spTree>
    <p:extLst>
      <p:ext uri="{BB962C8B-B14F-4D97-AF65-F5344CB8AC3E}">
        <p14:creationId xmlns:p14="http://schemas.microsoft.com/office/powerpoint/2010/main" xmlns="" val="1019562083"/>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normAutofit/>
          </a:bodyPr>
          <a:lstStyle/>
          <a:p>
            <a:r>
              <a:rPr lang="en-CA" dirty="0" smtClean="0"/>
              <a:t>Delivery Model Commonalities</a:t>
            </a:r>
            <a:endParaRPr lang="en-CA" dirty="0"/>
          </a:p>
        </p:txBody>
      </p:sp>
      <p:sp>
        <p:nvSpPr>
          <p:cNvPr id="3" name="Content Placeholder 2"/>
          <p:cNvSpPr>
            <a:spLocks noGrp="1"/>
          </p:cNvSpPr>
          <p:nvPr>
            <p:ph idx="1"/>
          </p:nvPr>
        </p:nvSpPr>
        <p:spPr/>
        <p:txBody>
          <a:bodyPr/>
          <a:lstStyle/>
          <a:p>
            <a:r>
              <a:rPr lang="en-CA" dirty="0"/>
              <a:t>Internships run 4 to 6 months</a:t>
            </a:r>
          </a:p>
          <a:p>
            <a:r>
              <a:rPr lang="en-CA" dirty="0"/>
              <a:t>No deadlines</a:t>
            </a:r>
          </a:p>
          <a:p>
            <a:r>
              <a:rPr lang="en-CA" dirty="0" smtClean="0"/>
              <a:t>Support through process</a:t>
            </a:r>
            <a:endParaRPr lang="en-CA" dirty="0"/>
          </a:p>
          <a:p>
            <a:r>
              <a:rPr lang="en-CA" dirty="0"/>
              <a:t>Not a </a:t>
            </a:r>
            <a:r>
              <a:rPr lang="en-CA" dirty="0" smtClean="0"/>
              <a:t>competition</a:t>
            </a:r>
            <a:endParaRPr lang="en-CA" dirty="0"/>
          </a:p>
          <a:p>
            <a:r>
              <a:rPr lang="en-CA" dirty="0"/>
              <a:t>No overhead deducted</a:t>
            </a:r>
          </a:p>
          <a:p>
            <a:r>
              <a:rPr lang="en-CA" dirty="0"/>
              <a:t>Travel subsidies </a:t>
            </a:r>
            <a:r>
              <a:rPr lang="en-CA" dirty="0" smtClean="0"/>
              <a:t>available</a:t>
            </a:r>
          </a:p>
          <a:p>
            <a:r>
              <a:rPr lang="en-CA" dirty="0" smtClean="0"/>
              <a:t>Proposal reviewed by Experts</a:t>
            </a:r>
          </a:p>
          <a:p>
            <a:r>
              <a:rPr lang="en-CA" dirty="0" smtClean="0"/>
              <a:t>High approval rate &amp; Quick turnaround</a:t>
            </a:r>
            <a:endParaRPr lang="en-CA" dirty="0"/>
          </a:p>
          <a:p>
            <a:pPr marL="27432" indent="0">
              <a:buNone/>
            </a:pPr>
            <a:endParaRPr lang="en-CA" dirty="0"/>
          </a:p>
        </p:txBody>
      </p:sp>
      <p:grpSp>
        <p:nvGrpSpPr>
          <p:cNvPr id="5" name="Group 4"/>
          <p:cNvGrpSpPr/>
          <p:nvPr/>
        </p:nvGrpSpPr>
        <p:grpSpPr>
          <a:xfrm>
            <a:off x="5604938" y="1988840"/>
            <a:ext cx="2808312" cy="2436976"/>
            <a:chOff x="1642790" y="1121195"/>
            <a:chExt cx="1708899" cy="1561584"/>
          </a:xfrm>
          <a:scene3d>
            <a:camera prst="orthographicFront"/>
            <a:lightRig rig="threePt" dir="t">
              <a:rot lat="0" lon="0" rev="7500000"/>
            </a:lightRig>
          </a:scene3d>
        </p:grpSpPr>
        <p:sp>
          <p:nvSpPr>
            <p:cNvPr id="6" name="Oval 5"/>
            <p:cNvSpPr/>
            <p:nvPr/>
          </p:nvSpPr>
          <p:spPr>
            <a:xfrm>
              <a:off x="1642790" y="1121195"/>
              <a:ext cx="1708899" cy="1561584"/>
            </a:xfrm>
            <a:prstGeom prst="ellipse">
              <a:avLst/>
            </a:prstGeom>
            <a:blipFill rotWithShape="0">
              <a:blip r:embed="rId3" cstate="print"/>
              <a:stretch>
                <a:fillRect/>
              </a:stretch>
            </a:blipFill>
            <a:sp3d prstMaterial="plastic">
              <a:bevelT w="127000" h="25400" prst="relaxedInset"/>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7" name="Oval 4"/>
            <p:cNvSpPr/>
            <p:nvPr/>
          </p:nvSpPr>
          <p:spPr>
            <a:xfrm>
              <a:off x="1893052" y="1349884"/>
              <a:ext cx="1208375" cy="1104206"/>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CA" sz="1600" b="1" kern="1200" dirty="0">
                <a:solidFill>
                  <a:schemeClr val="accent3"/>
                </a:solidFill>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xmlns="" val="2846455709"/>
      </p:ext>
    </p:extLst>
  </p:cSld>
  <p:clrMapOvr>
    <a:masterClrMapping/>
  </p:clrMapOvr>
  <p:timing>
    <p:tnLst>
      <p:par>
        <p:cTn id="1" dur="indefinite" restart="never" nodeType="tmRoot"/>
      </p:par>
    </p:tnLst>
  </p:timing>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04088"/>
            <a:ext cx="8496944" cy="1143000"/>
          </a:xfrm>
        </p:spPr>
        <p:txBody>
          <a:bodyPr>
            <a:normAutofit/>
          </a:bodyPr>
          <a:lstStyle/>
          <a:p>
            <a:r>
              <a:rPr lang="en-CA" dirty="0" smtClean="0"/>
              <a:t>Delivery Models Variances</a:t>
            </a:r>
            <a:endParaRPr lang="en-CA" dirty="0"/>
          </a:p>
        </p:txBody>
      </p:sp>
      <p:sp>
        <p:nvSpPr>
          <p:cNvPr id="3" name="Content Placeholder 2"/>
          <p:cNvSpPr>
            <a:spLocks noGrp="1"/>
          </p:cNvSpPr>
          <p:nvPr>
            <p:ph idx="1"/>
          </p:nvPr>
        </p:nvSpPr>
        <p:spPr>
          <a:xfrm>
            <a:off x="457200" y="1935480"/>
            <a:ext cx="8229600" cy="4389120"/>
          </a:xfrm>
        </p:spPr>
        <p:txBody>
          <a:bodyPr>
            <a:normAutofit/>
          </a:bodyPr>
          <a:lstStyle/>
          <a:p>
            <a:r>
              <a:rPr lang="en-CA" dirty="0" smtClean="0"/>
              <a:t>Connect Canada </a:t>
            </a:r>
          </a:p>
          <a:p>
            <a:pPr lvl="1"/>
            <a:r>
              <a:rPr lang="en-CA" dirty="0" smtClean="0"/>
              <a:t>$10,000 stipend </a:t>
            </a:r>
          </a:p>
          <a:p>
            <a:pPr lvl="2"/>
            <a:r>
              <a:rPr lang="en-CA" dirty="0" smtClean="0"/>
              <a:t>$5,000 Industry Partner</a:t>
            </a:r>
          </a:p>
          <a:p>
            <a:pPr lvl="2"/>
            <a:r>
              <a:rPr lang="en-CA" dirty="0" smtClean="0"/>
              <a:t>$5,000 Connect Canada</a:t>
            </a:r>
          </a:p>
          <a:p>
            <a:pPr lvl="1"/>
            <a:r>
              <a:rPr lang="en-CA" dirty="0" smtClean="0"/>
              <a:t>Database to facilitate new collaborations</a:t>
            </a:r>
          </a:p>
          <a:p>
            <a:pPr lvl="1"/>
            <a:r>
              <a:rPr lang="en-CA" dirty="0" smtClean="0"/>
              <a:t>Continuous support throughout the process</a:t>
            </a:r>
          </a:p>
          <a:p>
            <a:pPr lvl="1"/>
            <a:r>
              <a:rPr lang="en-CA" dirty="0" smtClean="0"/>
              <a:t>Vetted by a panel of Industry and Academic experts</a:t>
            </a:r>
          </a:p>
          <a:p>
            <a:pPr lvl="1"/>
            <a:r>
              <a:rPr lang="en-CA" dirty="0" smtClean="0"/>
              <a:t>IP Protection</a:t>
            </a:r>
            <a:endParaRPr lang="en-CA" dirty="0"/>
          </a:p>
        </p:txBody>
      </p:sp>
      <p:grpSp>
        <p:nvGrpSpPr>
          <p:cNvPr id="4" name="Group 4"/>
          <p:cNvGrpSpPr/>
          <p:nvPr/>
        </p:nvGrpSpPr>
        <p:grpSpPr>
          <a:xfrm>
            <a:off x="4572000" y="1865258"/>
            <a:ext cx="2474585" cy="1800200"/>
            <a:chOff x="3528147" y="-72945"/>
            <a:chExt cx="1716663" cy="1185901"/>
          </a:xfrm>
          <a:scene3d>
            <a:camera prst="orthographicFront"/>
            <a:lightRig rig="threePt" dir="t">
              <a:rot lat="0" lon="0" rev="7500000"/>
            </a:lightRig>
          </a:scene3d>
        </p:grpSpPr>
        <p:sp>
          <p:nvSpPr>
            <p:cNvPr id="6" name="Oval 5"/>
            <p:cNvSpPr/>
            <p:nvPr/>
          </p:nvSpPr>
          <p:spPr>
            <a:xfrm>
              <a:off x="3528147" y="-72945"/>
              <a:ext cx="1716663" cy="1185901"/>
            </a:xfrm>
            <a:prstGeom prst="ellipse">
              <a:avLst/>
            </a:prstGeom>
            <a:blipFill rotWithShape="0">
              <a:blip r:embed="rId2" cstate="print"/>
              <a:stretch>
                <a:fillRect/>
              </a:stretch>
            </a:blipFill>
            <a:sp3d prstMaterial="plastic">
              <a:bevelT w="127000" h="25400" prst="relaxedInset"/>
            </a:sp3d>
          </p:spPr>
          <p:style>
            <a:lnRef idx="0">
              <a:schemeClr val="lt1">
                <a:hueOff val="0"/>
                <a:satOff val="0"/>
                <a:lumOff val="0"/>
                <a:alphaOff val="0"/>
              </a:schemeClr>
            </a:lnRef>
            <a:fillRef idx="3">
              <a:scrgbClr r="0" g="0" b="0"/>
            </a:fillRef>
            <a:effectRef idx="2">
              <a:schemeClr val="accent1">
                <a:hueOff val="0"/>
                <a:satOff val="0"/>
                <a:lumOff val="0"/>
                <a:alphaOff val="0"/>
              </a:schemeClr>
            </a:effectRef>
            <a:fontRef idx="minor">
              <a:schemeClr val="lt1"/>
            </a:fontRef>
          </p:style>
        </p:sp>
        <p:sp>
          <p:nvSpPr>
            <p:cNvPr id="7" name="Oval 4"/>
            <p:cNvSpPr/>
            <p:nvPr/>
          </p:nvSpPr>
          <p:spPr>
            <a:xfrm>
              <a:off x="3779546" y="100726"/>
              <a:ext cx="1213865" cy="838559"/>
            </a:xfrm>
            <a:prstGeom prst="rect">
              <a:avLst/>
            </a:prstGeom>
            <a:sp3d/>
          </p:spPr>
          <p:style>
            <a:lnRef idx="0">
              <a:scrgbClr r="0" g="0" b="0"/>
            </a:lnRef>
            <a:fillRef idx="0">
              <a:scrgbClr r="0" g="0" b="0"/>
            </a:fillRef>
            <a:effectRef idx="0">
              <a:scrgbClr r="0" g="0" b="0"/>
            </a:effectRef>
            <a:fontRef idx="minor">
              <a:schemeClr val="lt1"/>
            </a:fontRef>
          </p:style>
          <p:txBody>
            <a:bodyPr spcFirstLastPara="0" vert="horz" wrap="square" lIns="20320" tIns="20320" rIns="20320" bIns="20320" numCol="1" spcCol="1270" anchor="ctr" anchorCtr="0">
              <a:noAutofit/>
            </a:bodyPr>
            <a:lstStyle/>
            <a:p>
              <a:pPr lvl="0" algn="ctr" defTabSz="711200">
                <a:lnSpc>
                  <a:spcPct val="90000"/>
                </a:lnSpc>
                <a:spcBef>
                  <a:spcPct val="0"/>
                </a:spcBef>
                <a:spcAft>
                  <a:spcPct val="35000"/>
                </a:spcAft>
              </a:pPr>
              <a:endParaRPr lang="en-CA" sz="1600" b="1" kern="1200" dirty="0">
                <a:solidFill>
                  <a:schemeClr val="accent3"/>
                </a:solidFill>
                <a:effectLst>
                  <a:outerShdw blurRad="38100" dist="38100" dir="2700000" algn="tl">
                    <a:srgbClr val="000000">
                      <a:alpha val="43137"/>
                    </a:srgbClr>
                  </a:outerShdw>
                </a:effectLst>
              </a:endParaRPr>
            </a:p>
          </p:txBody>
        </p:sp>
      </p:grpSp>
    </p:spTree>
    <p:extLst>
      <p:ext uri="{BB962C8B-B14F-4D97-AF65-F5344CB8AC3E}">
        <p14:creationId xmlns:p14="http://schemas.microsoft.com/office/powerpoint/2010/main" xmlns="" val="2798841106"/>
      </p:ext>
    </p:extLst>
  </p:cSld>
  <p:clrMapOvr>
    <a:masterClrMapping/>
  </p:clrMapOvr>
  <p:timing>
    <p:tnLst>
      <p:par>
        <p:cTn id="1" dur="indefinite" restart="never" nodeType="tmRoot"/>
      </p:par>
    </p:tn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323528" y="704088"/>
            <a:ext cx="8496944" cy="1143000"/>
          </a:xfrm>
        </p:spPr>
        <p:txBody>
          <a:bodyPr>
            <a:normAutofit/>
          </a:bodyPr>
          <a:lstStyle/>
          <a:p>
            <a:r>
              <a:rPr lang="en-CA" dirty="0" smtClean="0"/>
              <a:t>Delivery Models Variances</a:t>
            </a:r>
            <a:endParaRPr lang="en-CA" dirty="0"/>
          </a:p>
        </p:txBody>
      </p:sp>
      <p:sp>
        <p:nvSpPr>
          <p:cNvPr id="3" name="Content Placeholder 2"/>
          <p:cNvSpPr>
            <a:spLocks noGrp="1"/>
          </p:cNvSpPr>
          <p:nvPr>
            <p:ph idx="1"/>
          </p:nvPr>
        </p:nvSpPr>
        <p:spPr>
          <a:xfrm>
            <a:off x="457200" y="1935480"/>
            <a:ext cx="8229600" cy="4389120"/>
          </a:xfrm>
        </p:spPr>
        <p:txBody>
          <a:bodyPr>
            <a:normAutofit/>
          </a:bodyPr>
          <a:lstStyle/>
          <a:p>
            <a:r>
              <a:rPr lang="en-CA" dirty="0" smtClean="0"/>
              <a:t>Mitacs </a:t>
            </a:r>
          </a:p>
          <a:p>
            <a:pPr lvl="1"/>
            <a:r>
              <a:rPr lang="en-CA" dirty="0" smtClean="0"/>
              <a:t>$7,500 each industry &amp; Mitacs</a:t>
            </a:r>
          </a:p>
          <a:p>
            <a:pPr lvl="1"/>
            <a:r>
              <a:rPr lang="en-CA" dirty="0" smtClean="0"/>
              <a:t>$5,000 in flexible funds</a:t>
            </a:r>
          </a:p>
          <a:p>
            <a:pPr lvl="2"/>
            <a:r>
              <a:rPr lang="en-CA" dirty="0" smtClean="0"/>
              <a:t>Extra stipend</a:t>
            </a:r>
          </a:p>
          <a:p>
            <a:pPr lvl="2"/>
            <a:r>
              <a:rPr lang="en-CA" dirty="0" smtClean="0"/>
              <a:t>Reagents / supplies</a:t>
            </a:r>
          </a:p>
          <a:p>
            <a:pPr lvl="2"/>
            <a:r>
              <a:rPr lang="en-CA" dirty="0" smtClean="0"/>
              <a:t>Prof/intern travel</a:t>
            </a:r>
            <a:endParaRPr lang="en-CA" dirty="0"/>
          </a:p>
          <a:p>
            <a:pPr lvl="1"/>
            <a:r>
              <a:rPr lang="en-CA" dirty="0" smtClean="0"/>
              <a:t>Peer-review (expert feedback)</a:t>
            </a:r>
          </a:p>
          <a:p>
            <a:pPr lvl="1"/>
            <a:r>
              <a:rPr lang="en-CA" dirty="0" smtClean="0"/>
              <a:t>We help with applications</a:t>
            </a:r>
          </a:p>
          <a:p>
            <a:pPr lvl="1">
              <a:buNone/>
            </a:pPr>
            <a:endParaRPr lang="en-CA" dirty="0" smtClean="0"/>
          </a:p>
        </p:txBody>
      </p:sp>
      <p:pic>
        <p:nvPicPr>
          <p:cNvPr id="8" name="Picture 5"/>
          <p:cNvPicPr>
            <a:picLocks noChangeAspect="1" noChangeArrowheads="1"/>
          </p:cNvPicPr>
          <p:nvPr/>
        </p:nvPicPr>
        <p:blipFill>
          <a:blip r:embed="rId3" cstate="print"/>
          <a:srcRect l="6377"/>
          <a:stretch>
            <a:fillRect/>
          </a:stretch>
        </p:blipFill>
        <p:spPr bwMode="auto">
          <a:xfrm>
            <a:off x="5436096" y="1916832"/>
            <a:ext cx="3168352" cy="3312368"/>
          </a:xfrm>
          <a:prstGeom prst="rect">
            <a:avLst/>
          </a:prstGeom>
          <a:noFill/>
          <a:ln w="9525">
            <a:noFill/>
            <a:miter lim="800000"/>
            <a:headEnd/>
            <a:tailEnd/>
          </a:ln>
        </p:spPr>
      </p:pic>
    </p:spTree>
    <p:extLst>
      <p:ext uri="{BB962C8B-B14F-4D97-AF65-F5344CB8AC3E}">
        <p14:creationId xmlns:p14="http://schemas.microsoft.com/office/powerpoint/2010/main" xmlns="" val="2798841106"/>
      </p:ext>
    </p:extLst>
  </p:cSld>
  <p:clrMapOvr>
    <a:masterClrMapping/>
  </p:clrMapOvr>
  <p:timing>
    <p:tnLst>
      <p:par>
        <p:cTn id="1" dur="indefinite" restart="never" nodeType="tmRoot"/>
      </p:par>
    </p:tnLst>
  </p:timing>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CA" dirty="0" smtClean="0"/>
              <a:t>Contact Us</a:t>
            </a:r>
            <a:endParaRPr lang="en-CA" dirty="0"/>
          </a:p>
        </p:txBody>
      </p:sp>
      <p:sp>
        <p:nvSpPr>
          <p:cNvPr id="4" name="Content Placeholder 3"/>
          <p:cNvSpPr>
            <a:spLocks noGrp="1"/>
          </p:cNvSpPr>
          <p:nvPr>
            <p:ph sz="quarter" idx="2"/>
          </p:nvPr>
        </p:nvSpPr>
        <p:spPr>
          <a:xfrm>
            <a:off x="457200" y="1916832"/>
            <a:ext cx="4042792" cy="4443488"/>
          </a:xfrm>
        </p:spPr>
        <p:txBody>
          <a:bodyPr>
            <a:normAutofit/>
          </a:bodyPr>
          <a:lstStyle/>
          <a:p>
            <a:pPr marL="0" indent="0">
              <a:buNone/>
            </a:pPr>
            <a:r>
              <a:rPr lang="en-CA" sz="1600" b="1" dirty="0" smtClean="0"/>
              <a:t>Laurence </a:t>
            </a:r>
            <a:r>
              <a:rPr lang="en-CA" sz="1600" b="1" dirty="0"/>
              <a:t>Meadows, Ph.D. </a:t>
            </a:r>
            <a:br>
              <a:rPr lang="en-CA" sz="1600" b="1" dirty="0"/>
            </a:br>
            <a:r>
              <a:rPr lang="en-CA" sz="1600" b="1" dirty="0"/>
              <a:t>Acting Director, Accelerate</a:t>
            </a:r>
            <a:endParaRPr lang="en-CA" sz="1600" dirty="0"/>
          </a:p>
          <a:p>
            <a:pPr marL="0" indent="0">
              <a:buNone/>
            </a:pPr>
            <a:endParaRPr lang="en-US" sz="1600" b="1" i="1" dirty="0" smtClean="0"/>
          </a:p>
          <a:p>
            <a:pPr marL="0" indent="0">
              <a:buNone/>
            </a:pPr>
            <a:r>
              <a:rPr lang="en-US" sz="1600" b="1" i="1" dirty="0" smtClean="0"/>
              <a:t>Mitacs</a:t>
            </a:r>
            <a:endParaRPr lang="en-CA" sz="1600" dirty="0"/>
          </a:p>
          <a:p>
            <a:pPr marL="0" indent="0">
              <a:buNone/>
            </a:pPr>
            <a:r>
              <a:rPr lang="en-US" sz="1600" dirty="0"/>
              <a:t>Suite 301, Technology Enterprise Facility</a:t>
            </a:r>
            <a:endParaRPr lang="en-CA" sz="1600" dirty="0"/>
          </a:p>
          <a:p>
            <a:pPr marL="0" indent="0">
              <a:buNone/>
            </a:pPr>
            <a:r>
              <a:rPr lang="en-US" sz="1600" dirty="0" smtClean="0"/>
              <a:t>6190 </a:t>
            </a:r>
            <a:r>
              <a:rPr lang="en-US" sz="1600" dirty="0"/>
              <a:t>Agronomy Road</a:t>
            </a:r>
            <a:endParaRPr lang="en-CA" sz="1600" dirty="0"/>
          </a:p>
          <a:p>
            <a:pPr marL="0" indent="0">
              <a:buNone/>
            </a:pPr>
            <a:r>
              <a:rPr lang="en-US" sz="1600" dirty="0"/>
              <a:t>Vancouver, BC, V6T 1Z3</a:t>
            </a:r>
            <a:endParaRPr lang="en-CA" sz="1600" dirty="0"/>
          </a:p>
          <a:p>
            <a:pPr marL="0" indent="0">
              <a:buNone/>
            </a:pPr>
            <a:endParaRPr lang="en-CA" sz="1600" dirty="0" smtClean="0"/>
          </a:p>
          <a:p>
            <a:pPr marL="0" indent="0">
              <a:buNone/>
            </a:pPr>
            <a:r>
              <a:rPr lang="en-CA" sz="1600" dirty="0" smtClean="0"/>
              <a:t>Cell</a:t>
            </a:r>
            <a:r>
              <a:rPr lang="en-CA" sz="1600" dirty="0"/>
              <a:t>: 778.878.0130 </a:t>
            </a:r>
            <a:br>
              <a:rPr lang="en-CA" sz="1600" dirty="0"/>
            </a:br>
            <a:endParaRPr lang="en-CA" sz="1600" dirty="0"/>
          </a:p>
          <a:p>
            <a:pPr marL="0" indent="0">
              <a:buNone/>
            </a:pPr>
            <a:r>
              <a:rPr lang="en-US" sz="1600" dirty="0"/>
              <a:t>Email: </a:t>
            </a:r>
            <a:r>
              <a:rPr lang="en-US" sz="1600" u="sng" dirty="0">
                <a:hlinkClick r:id="rId2"/>
              </a:rPr>
              <a:t>lmeadows@mitacs.ca</a:t>
            </a:r>
            <a:endParaRPr lang="en-CA" sz="1600" dirty="0"/>
          </a:p>
          <a:p>
            <a:pPr marL="0" indent="0">
              <a:buNone/>
            </a:pPr>
            <a:r>
              <a:rPr lang="en-US" sz="1600" dirty="0"/>
              <a:t>Web: </a:t>
            </a:r>
            <a:r>
              <a:rPr lang="en-US" sz="1600" u="sng" dirty="0">
                <a:hlinkClick r:id="rId3"/>
              </a:rPr>
              <a:t>www.mitacs.ca</a:t>
            </a:r>
            <a:endParaRPr lang="en-CA" sz="1600" dirty="0"/>
          </a:p>
          <a:p>
            <a:endParaRPr lang="fr-CA" dirty="0"/>
          </a:p>
        </p:txBody>
      </p:sp>
      <p:sp>
        <p:nvSpPr>
          <p:cNvPr id="7" name="Content Placeholder 6"/>
          <p:cNvSpPr>
            <a:spLocks noGrp="1"/>
          </p:cNvSpPr>
          <p:nvPr>
            <p:ph sz="quarter" idx="4"/>
          </p:nvPr>
        </p:nvSpPr>
        <p:spPr>
          <a:xfrm>
            <a:off x="4645025" y="1916832"/>
            <a:ext cx="3959423" cy="4443488"/>
          </a:xfrm>
        </p:spPr>
        <p:txBody>
          <a:bodyPr>
            <a:normAutofit/>
          </a:bodyPr>
          <a:lstStyle/>
          <a:p>
            <a:pPr marL="0" indent="0">
              <a:buNone/>
              <a:defRPr/>
            </a:pPr>
            <a:r>
              <a:rPr lang="en-CA" sz="1900" b="1" dirty="0">
                <a:sym typeface="Times New Roman" charset="0"/>
              </a:rPr>
              <a:t>Connect Canada</a:t>
            </a:r>
          </a:p>
          <a:p>
            <a:pPr marL="0" indent="0">
              <a:buNone/>
              <a:defRPr/>
            </a:pPr>
            <a:r>
              <a:rPr lang="en-CA" sz="1900" dirty="0">
                <a:sym typeface="Times New Roman" charset="0"/>
              </a:rPr>
              <a:t>401 Sunset Avenue</a:t>
            </a:r>
          </a:p>
          <a:p>
            <a:pPr marL="0" indent="0">
              <a:buNone/>
              <a:defRPr/>
            </a:pPr>
            <a:r>
              <a:rPr lang="en-CA" sz="1900" dirty="0">
                <a:sym typeface="Times New Roman" charset="0"/>
              </a:rPr>
              <a:t>Windsor, Ontario N9B 3P4</a:t>
            </a:r>
          </a:p>
          <a:p>
            <a:pPr marL="0" indent="0">
              <a:buNone/>
              <a:defRPr/>
            </a:pPr>
            <a:r>
              <a:rPr lang="en-CA" sz="1900" dirty="0">
                <a:sym typeface="Times New Roman" charset="0"/>
              </a:rPr>
              <a:t>Telephone: </a:t>
            </a:r>
            <a:r>
              <a:rPr lang="en-CA" sz="1900" dirty="0" smtClean="0">
                <a:sym typeface="Times New Roman" charset="0"/>
              </a:rPr>
              <a:t>519-253-3000 </a:t>
            </a:r>
            <a:r>
              <a:rPr lang="en-CA" sz="1900" dirty="0">
                <a:sym typeface="Times New Roman" charset="0"/>
              </a:rPr>
              <a:t>ext. 4130</a:t>
            </a:r>
          </a:p>
          <a:p>
            <a:pPr>
              <a:defRPr/>
            </a:pPr>
            <a:endParaRPr lang="en-CA" sz="1900" dirty="0" smtClean="0">
              <a:sym typeface="Times New Roman" charset="0"/>
            </a:endParaRPr>
          </a:p>
          <a:p>
            <a:pPr marL="0" indent="0">
              <a:buNone/>
              <a:defRPr/>
            </a:pPr>
            <a:r>
              <a:rPr lang="en-CA" sz="1900" dirty="0" smtClean="0">
                <a:sym typeface="Times New Roman" charset="0"/>
              </a:rPr>
              <a:t>Visit:</a:t>
            </a:r>
          </a:p>
          <a:p>
            <a:pPr marL="0" indent="0">
              <a:buNone/>
              <a:defRPr/>
            </a:pPr>
            <a:r>
              <a:rPr lang="en-CA" sz="1900" u="sng" dirty="0" smtClean="0">
                <a:solidFill>
                  <a:schemeClr val="accent1">
                    <a:lumMod val="50000"/>
                  </a:schemeClr>
                </a:solidFill>
                <a:sym typeface="Times New Roman" charset="0"/>
              </a:rPr>
              <a:t>www.connectcanadainternships.ca</a:t>
            </a:r>
            <a:endParaRPr lang="en-CA" sz="1900" u="sng" dirty="0">
              <a:solidFill>
                <a:schemeClr val="accent1">
                  <a:lumMod val="50000"/>
                </a:schemeClr>
              </a:solidFill>
              <a:sym typeface="Times New Roman" charset="0"/>
            </a:endParaRPr>
          </a:p>
          <a:p>
            <a:pPr>
              <a:defRPr/>
            </a:pPr>
            <a:endParaRPr lang="en-CA" sz="1900" dirty="0">
              <a:sym typeface="Times New Roman" charset="0"/>
            </a:endParaRPr>
          </a:p>
          <a:p>
            <a:pPr marL="0" indent="0">
              <a:buNone/>
              <a:defRPr/>
            </a:pPr>
            <a:r>
              <a:rPr lang="en-CA" sz="1900" dirty="0">
                <a:sym typeface="Times New Roman" charset="0"/>
              </a:rPr>
              <a:t>Email: </a:t>
            </a:r>
            <a:endParaRPr lang="en-CA" sz="1900" dirty="0" smtClean="0">
              <a:sym typeface="Times New Roman" charset="0"/>
            </a:endParaRPr>
          </a:p>
          <a:p>
            <a:pPr marL="0" indent="0">
              <a:buNone/>
              <a:defRPr/>
            </a:pPr>
            <a:r>
              <a:rPr lang="en-CA" sz="1900" u="sng" dirty="0" smtClean="0">
                <a:solidFill>
                  <a:srgbClr val="002776"/>
                </a:solidFill>
                <a:sym typeface="Times New Roman" charset="0"/>
              </a:rPr>
              <a:t>info@connectcanadainternships.ca</a:t>
            </a:r>
            <a:endParaRPr lang="en-CA" sz="1900" u="sng" dirty="0">
              <a:solidFill>
                <a:srgbClr val="002776"/>
              </a:solidFill>
              <a:sym typeface="Times New Roman" charset="0"/>
            </a:endParaRPr>
          </a:p>
          <a:p>
            <a:pPr marL="0" indent="0">
              <a:buNone/>
              <a:defRPr/>
            </a:pPr>
            <a:endParaRPr lang="en-CA" sz="1900" dirty="0">
              <a:sym typeface="Times New Roman" charset="0"/>
            </a:endParaRPr>
          </a:p>
        </p:txBody>
      </p:sp>
      <p:pic>
        <p:nvPicPr>
          <p:cNvPr id="8" name="Picture 7"/>
          <p:cNvPicPr>
            <a:picLocks noChangeAspect="1"/>
          </p:cNvPicPr>
          <p:nvPr/>
        </p:nvPicPr>
        <p:blipFill>
          <a:blip r:embed="rId4" cstate="print">
            <a:extLst>
              <a:ext uri="{28A0092B-C50C-407E-A947-70E740481C1C}">
                <a14:useLocalDpi xmlns:a14="http://schemas.microsoft.com/office/drawing/2010/main" xmlns="" val="0"/>
              </a:ext>
            </a:extLst>
          </a:blip>
          <a:stretch>
            <a:fillRect/>
          </a:stretch>
        </p:blipFill>
        <p:spPr>
          <a:xfrm>
            <a:off x="899592" y="6052356"/>
            <a:ext cx="1440160" cy="401960"/>
          </a:xfrm>
          <a:prstGeom prst="rect">
            <a:avLst/>
          </a:prstGeom>
        </p:spPr>
      </p:pic>
    </p:spTree>
    <p:extLst>
      <p:ext uri="{BB962C8B-B14F-4D97-AF65-F5344CB8AC3E}">
        <p14:creationId xmlns:p14="http://schemas.microsoft.com/office/powerpoint/2010/main" xmlns="" val="1204171049"/>
      </p:ext>
    </p:extLst>
  </p:cSld>
  <p:clrMapOvr>
    <a:masterClrMapping/>
  </p:clrMapOvr>
  <p:timing>
    <p:tnLst>
      <p:par>
        <p:cTn id="1" dur="indefinite" restart="never" nodeType="tmRoot"/>
      </p:par>
    </p:tnLst>
  </p:timing>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a:xfrm>
            <a:off x="611560" y="2642608"/>
            <a:ext cx="7772400" cy="1362456"/>
          </a:xfrm>
        </p:spPr>
        <p:txBody>
          <a:bodyPr>
            <a:normAutofit/>
          </a:bodyPr>
          <a:lstStyle/>
          <a:p>
            <a:pPr algn="ctr"/>
            <a:r>
              <a:rPr lang="en-CA" sz="8000" dirty="0" smtClean="0"/>
              <a:t>Questions</a:t>
            </a:r>
            <a:endParaRPr lang="en-CA" sz="8000" dirty="0"/>
          </a:p>
        </p:txBody>
      </p:sp>
    </p:spTree>
    <p:extLst>
      <p:ext uri="{BB962C8B-B14F-4D97-AF65-F5344CB8AC3E}">
        <p14:creationId xmlns:p14="http://schemas.microsoft.com/office/powerpoint/2010/main" xmlns="" val="94013615"/>
      </p:ext>
    </p:extLst>
  </p:cSld>
  <p:clrMapOvr>
    <a:masterClrMapping/>
  </p:clrMapOvr>
</p:sld>
</file>

<file path=ppt/theme/_rels/theme1.xml.rels><?xml version="1.0" encoding="UTF-8" standalone="yes"?>
<Relationships xmlns="http://schemas.openxmlformats.org/package/2006/relationships"><Relationship Id="rId1" Type="http://schemas.openxmlformats.org/officeDocument/2006/relationships/image" Target="../media/image1.jpeg"/></Relationships>
</file>

<file path=ppt/theme/theme1.xml><?xml version="1.0" encoding="utf-8"?>
<a:theme xmlns:a="http://schemas.openxmlformats.org/drawingml/2006/main" name="Flow">
  <a:themeElements>
    <a:clrScheme name="Flow">
      <a:dk1>
        <a:sysClr val="windowText" lastClr="000000"/>
      </a:dk1>
      <a:lt1>
        <a:sysClr val="window" lastClr="FFFFFF"/>
      </a:lt1>
      <a:dk2>
        <a:srgbClr val="04617B"/>
      </a:dk2>
      <a:lt2>
        <a:srgbClr val="DBF5F9"/>
      </a:lt2>
      <a:accent1>
        <a:srgbClr val="0F6FC6"/>
      </a:accent1>
      <a:accent2>
        <a:srgbClr val="009DD9"/>
      </a:accent2>
      <a:accent3>
        <a:srgbClr val="0BD0D9"/>
      </a:accent3>
      <a:accent4>
        <a:srgbClr val="10CF9B"/>
      </a:accent4>
      <a:accent5>
        <a:srgbClr val="7CCA62"/>
      </a:accent5>
      <a:accent6>
        <a:srgbClr val="A5C249"/>
      </a:accent6>
      <a:hlink>
        <a:srgbClr val="F49100"/>
      </a:hlink>
      <a:folHlink>
        <a:srgbClr val="85DFD0"/>
      </a:folHlink>
    </a:clrScheme>
    <a:fontScheme name="Flow">
      <a:majorFont>
        <a:latin typeface="Calibri"/>
        <a:ea typeface=""/>
        <a:cs typeface=""/>
        <a:font script="Jpan" typeface="ＭＳ Ｐゴシック"/>
        <a:font script="Hang" typeface="HY중고딕"/>
        <a:font script="Hans" typeface="隶书"/>
        <a:font script="Hant" typeface="微軟正黑體"/>
        <a:font script="Arab" typeface="Traditional Arabic"/>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ajorFont>
      <a:minorFont>
        <a:latin typeface="Constantia"/>
        <a:ea typeface=""/>
        <a:cs typeface=""/>
        <a:font script="Jpan" typeface="HGP明朝E"/>
        <a:font script="Hang" typeface="HY신명조"/>
        <a:font script="Hans" typeface="宋体"/>
        <a:font script="Hant" typeface="新細明體"/>
        <a:font script="Arab" typeface="Majalla UI"/>
        <a:font script="Hebr" typeface="David"/>
        <a:font script="Thai" typeface="Browalli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inorFont>
    </a:fontScheme>
    <a:fmtScheme name="Flow">
      <a:fillStyleLst>
        <a:solidFill>
          <a:schemeClr val="phClr"/>
        </a:solidFill>
        <a:gradFill rotWithShape="1">
          <a:gsLst>
            <a:gs pos="0">
              <a:schemeClr val="phClr">
                <a:tint val="70000"/>
                <a:satMod val="130000"/>
              </a:schemeClr>
            </a:gs>
            <a:gs pos="43000">
              <a:schemeClr val="phClr">
                <a:tint val="44000"/>
                <a:satMod val="165000"/>
              </a:schemeClr>
            </a:gs>
            <a:gs pos="93000">
              <a:schemeClr val="phClr">
                <a:tint val="15000"/>
                <a:satMod val="165000"/>
              </a:schemeClr>
            </a:gs>
            <a:gs pos="100000">
              <a:schemeClr val="phClr">
                <a:tint val="5000"/>
                <a:satMod val="250000"/>
              </a:schemeClr>
            </a:gs>
          </a:gsLst>
          <a:path path="circle">
            <a:fillToRect l="50000" t="130000" r="50000" b="-30000"/>
          </a:path>
        </a:gradFill>
        <a:gradFill rotWithShape="1">
          <a:gsLst>
            <a:gs pos="0">
              <a:schemeClr val="phClr">
                <a:tint val="98000"/>
                <a:shade val="25000"/>
                <a:satMod val="250000"/>
              </a:schemeClr>
            </a:gs>
            <a:gs pos="68000">
              <a:schemeClr val="phClr">
                <a:tint val="86000"/>
                <a:satMod val="115000"/>
              </a:schemeClr>
            </a:gs>
            <a:gs pos="100000">
              <a:schemeClr val="phClr">
                <a:tint val="50000"/>
                <a:satMod val="150000"/>
              </a:schemeClr>
            </a:gs>
          </a:gsLst>
          <a:path path="circle">
            <a:fillToRect l="50000" t="130000" r="50000" b="-30000"/>
          </a:path>
        </a:gradFill>
      </a:fillStyleLst>
      <a:lnStyleLst>
        <a:ln w="9525" cap="flat" cmpd="sng" algn="ctr">
          <a:solidFill>
            <a:schemeClr val="phClr">
              <a:shade val="50000"/>
              <a:satMod val="103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effectStyle>
        <a:effectStyle>
          <a:effectLst>
            <a:outerShdw blurRad="57150" dist="38100" dir="5400000" algn="ctr" rotWithShape="0">
              <a:schemeClr val="phClr">
                <a:shade val="9000"/>
                <a:alpha val="48000"/>
                <a:satMod val="105000"/>
              </a:schemeClr>
            </a:outerShdw>
          </a:effectLst>
          <a:scene3d>
            <a:camera prst="orthographicFront">
              <a:rot lat="0" lon="0" rev="0"/>
            </a:camera>
            <a:lightRig rig="glow" dir="tl">
              <a:rot lat="0" lon="0" rev="900000"/>
            </a:lightRig>
          </a:scene3d>
          <a:sp3d prstMaterial="powder">
            <a:bevelT w="25400" h="38100"/>
          </a:sp3d>
        </a:effectStyle>
      </a:effectStyleLst>
      <a:bgFillStyleLst>
        <a:solidFill>
          <a:schemeClr val="phClr"/>
        </a:solidFill>
        <a:gradFill rotWithShape="1">
          <a:gsLst>
            <a:gs pos="0">
              <a:schemeClr val="phClr">
                <a:tint val="80000"/>
                <a:satMod val="400000"/>
              </a:schemeClr>
            </a:gs>
            <a:gs pos="25000">
              <a:schemeClr val="phClr">
                <a:tint val="83000"/>
                <a:satMod val="320000"/>
              </a:schemeClr>
            </a:gs>
            <a:gs pos="100000">
              <a:schemeClr val="phClr">
                <a:shade val="15000"/>
                <a:satMod val="320000"/>
              </a:schemeClr>
            </a:gs>
          </a:gsLst>
          <a:path path="circle">
            <a:fillToRect l="10000" t="110000" r="10000" b="100000"/>
          </a:path>
        </a:gradFill>
        <a:blipFill>
          <a:blip xmlns:r="http://schemas.openxmlformats.org/officeDocument/2006/relationships" r:embed="rId1">
            <a:duotone>
              <a:schemeClr val="phClr">
                <a:shade val="90000"/>
                <a:satMod val="150000"/>
              </a:schemeClr>
              <a:schemeClr val="phClr">
                <a:tint val="88000"/>
                <a:satMod val="150000"/>
              </a:schemeClr>
            </a:duotone>
          </a:blip>
          <a:tile tx="0" ty="0" sx="65000" sy="65000" flip="none" algn="tl"/>
        </a:blipFill>
      </a:bgFillStyleLst>
    </a:fmtScheme>
  </a:themeElements>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Flow</Template>
  <TotalTime>806</TotalTime>
  <Words>2527</Words>
  <Application>Microsoft Office PowerPoint</Application>
  <PresentationFormat>On-screen Show (4:3)</PresentationFormat>
  <Paragraphs>220</Paragraphs>
  <Slides>25</Slides>
  <Notes>18</Notes>
  <HiddenSlides>0</HiddenSlides>
  <MMClips>0</MMClips>
  <ScaleCrop>false</ScaleCrop>
  <HeadingPairs>
    <vt:vector size="4" baseType="variant">
      <vt:variant>
        <vt:lpstr>Theme</vt:lpstr>
      </vt:variant>
      <vt:variant>
        <vt:i4>1</vt:i4>
      </vt:variant>
      <vt:variant>
        <vt:lpstr>Slide Titles</vt:lpstr>
      </vt:variant>
      <vt:variant>
        <vt:i4>25</vt:i4>
      </vt:variant>
    </vt:vector>
  </HeadingPairs>
  <TitlesOfParts>
    <vt:vector size="26" baseType="lpstr">
      <vt:lpstr>Flow</vt:lpstr>
      <vt:lpstr>Innovation through Collaboration</vt:lpstr>
      <vt:lpstr>Presentation Purpose</vt:lpstr>
      <vt:lpstr>Summary of the Presentation</vt:lpstr>
      <vt:lpstr>The Question</vt:lpstr>
      <vt:lpstr>IRDI Overview</vt:lpstr>
      <vt:lpstr>IRDI Program Overview</vt:lpstr>
      <vt:lpstr>IRDI Program Overview (Cont’d)</vt:lpstr>
      <vt:lpstr>Examining the Benefits of IRDI Funding</vt:lpstr>
      <vt:lpstr>Benefits of IRDI funding for NCE’s</vt:lpstr>
      <vt:lpstr>Benefits of IRDI funding for NCE’s cont’d</vt:lpstr>
      <vt:lpstr>Slide 11</vt:lpstr>
      <vt:lpstr>Slide 12</vt:lpstr>
      <vt:lpstr>Slide 13</vt:lpstr>
      <vt:lpstr>Slide 14</vt:lpstr>
      <vt:lpstr>Slide 15</vt:lpstr>
      <vt:lpstr>Successful IRDI Internships</vt:lpstr>
      <vt:lpstr>Past Projects: GRAND NCE</vt:lpstr>
      <vt:lpstr>Past Projects: AFM Net</vt:lpstr>
      <vt:lpstr>Past Project: NeuroDevNet</vt:lpstr>
      <vt:lpstr>IRDI Delivery Models</vt:lpstr>
      <vt:lpstr>Delivery Model Commonalities</vt:lpstr>
      <vt:lpstr>Delivery Models Variances</vt:lpstr>
      <vt:lpstr>Delivery Models Variances</vt:lpstr>
      <vt:lpstr>Contact Us</vt:lpstr>
      <vt:lpstr>Questions</vt:lpstr>
    </vt:vector>
  </TitlesOfParts>
  <Company>Microsoft</Company>
  <LinksUpToDate>false</LinksUpToDate>
  <SharedDoc>false</SharedDoc>
  <HyperlinksChanged>false</HyperlinksChanged>
  <AppVersion>12.0000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Innovation through Collaboration</dc:title>
  <dc:creator>user</dc:creator>
  <cp:lastModifiedBy>Amelia</cp:lastModifiedBy>
  <cp:revision>63</cp:revision>
  <dcterms:created xsi:type="dcterms:W3CDTF">2011-11-16T16:04:34Z</dcterms:created>
  <dcterms:modified xsi:type="dcterms:W3CDTF">2011-12-01T17:01:59Z</dcterms:modified>
</cp:coreProperties>
</file>