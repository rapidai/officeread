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3" r:id="rId8"/>
    <p:sldId id="266" r:id="rId9"/>
    <p:sldId id="267" r:id="rId10"/>
    <p:sldId id="275" r:id="rId11"/>
    <p:sldId id="269" r:id="rId12"/>
    <p:sldId id="270" r:id="rId13"/>
    <p:sldId id="271" r:id="rId14"/>
    <p:sldId id="272" r:id="rId15"/>
    <p:sldId id="265" r:id="rId16"/>
    <p:sldId id="274"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9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D626D48-5540-469E-9DE3-57F4A5927982}" type="datetimeFigureOut">
              <a:rPr lang="en-CA" smtClean="0"/>
              <a:t>27/09/2011</a:t>
            </a:fld>
            <a:endParaRPr lang="en-CA"/>
          </a:p>
        </p:txBody>
      </p:sp>
      <p:sp>
        <p:nvSpPr>
          <p:cNvPr id="17" name="Footer Placeholder 16"/>
          <p:cNvSpPr>
            <a:spLocks noGrp="1"/>
          </p:cNvSpPr>
          <p:nvPr>
            <p:ph type="ftr" sz="quarter" idx="11"/>
          </p:nvPr>
        </p:nvSpPr>
        <p:spPr/>
        <p:txBody>
          <a:bodyPr/>
          <a:lstStyle/>
          <a:p>
            <a:endParaRPr lang="en-CA"/>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6B09BD6-D58F-4E81-97DF-C01FC2A6506B}" type="slidenum">
              <a:rPr lang="en-CA" smtClean="0"/>
              <a:t>‹#›</a:t>
            </a:fld>
            <a:endParaRPr lang="en-CA"/>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D626D48-5540-469E-9DE3-57F4A5927982}" type="datetimeFigureOut">
              <a:rPr lang="en-CA" smtClean="0"/>
              <a:t>27/09/2011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6B09BD6-D58F-4E81-97DF-C01FC2A6506B}" type="slidenum">
              <a:rPr lang="en-CA" smtClean="0"/>
              <a:t>‹#›</a:t>
            </a:fld>
            <a:endParaRPr lang="en-CA"/>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D626D48-5540-469E-9DE3-57F4A5927982}" type="datetimeFigureOut">
              <a:rPr lang="en-CA" smtClean="0"/>
              <a:t>27/09/2011</a:t>
            </a:fld>
            <a:endParaRPr lang="en-CA"/>
          </a:p>
        </p:txBody>
      </p:sp>
      <p:sp>
        <p:nvSpPr>
          <p:cNvPr id="5" name="Footer Placeholder 4"/>
          <p:cNvSpPr>
            <a:spLocks noGrp="1"/>
          </p:cNvSpPr>
          <p:nvPr>
            <p:ph type="ftr" sz="quarter" idx="11"/>
          </p:nvPr>
        </p:nvSpPr>
        <p:spPr>
          <a:xfrm>
            <a:off x="800100" y="6172200"/>
            <a:ext cx="4000500" cy="457200"/>
          </a:xfrm>
        </p:spPr>
        <p:txBody>
          <a:bodyPr/>
          <a:lstStyle/>
          <a:p>
            <a:endParaRPr lang="en-CA"/>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6B09BD6-D58F-4E81-97DF-C01FC2A6506B}" type="slidenum">
              <a:rPr lang="en-CA" smtClean="0"/>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D626D48-5540-469E-9DE3-57F4A5927982}" type="datetimeFigureOut">
              <a:rPr lang="en-CA" smtClean="0"/>
              <a:t>27/09/2011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6B09BD6-D58F-4E81-97DF-C01FC2A6506B}" type="slidenum">
              <a:rPr lang="en-CA" smtClean="0"/>
              <a:t>‹#›</a:t>
            </a:fld>
            <a:endParaRPr lang="en-CA"/>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D626D48-5540-469E-9DE3-57F4A5927982}" type="datetimeFigureOut">
              <a:rPr lang="en-CA" smtClean="0"/>
              <a:t>27/09/2011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56B09BD6-D58F-4E81-97DF-C01FC2A6506B}" type="slidenum">
              <a:rPr lang="en-CA" smtClean="0"/>
              <a:t>‹#›</a:t>
            </a:fld>
            <a:endParaRPr lang="en-CA"/>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D626D48-5540-469E-9DE3-57F4A5927982}" type="datetimeFigureOut">
              <a:rPr lang="en-CA" smtClean="0"/>
              <a:t>27/09/2011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56B09BD6-D58F-4E81-97DF-C01FC2A6506B}" type="slidenum">
              <a:rPr lang="en-CA" smtClean="0"/>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626D48-5540-469E-9DE3-57F4A5927982}" type="datetimeFigureOut">
              <a:rPr lang="en-CA" smtClean="0"/>
              <a:t>27/09/2011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56B09BD6-D58F-4E81-97DF-C01FC2A6506B}" type="slidenum">
              <a:rPr lang="en-CA" smtClean="0"/>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D626D48-5540-469E-9DE3-57F4A5927982}" type="datetimeFigureOut">
              <a:rPr lang="en-CA" smtClean="0"/>
              <a:t>27/09/2011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6B09BD6-D58F-4E81-97DF-C01FC2A6506B}" type="slidenum">
              <a:rPr lang="en-CA" smtClean="0"/>
              <a:t>‹#›</a:t>
            </a:fld>
            <a:endParaRPr lang="en-CA"/>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D626D48-5540-469E-9DE3-57F4A5927982}" type="datetimeFigureOut">
              <a:rPr lang="en-CA" smtClean="0"/>
              <a:t>27/09/2011</a:t>
            </a:fld>
            <a:endParaRPr lang="en-CA"/>
          </a:p>
        </p:txBody>
      </p:sp>
      <p:sp>
        <p:nvSpPr>
          <p:cNvPr id="6" name="Footer Placeholder 5"/>
          <p:cNvSpPr>
            <a:spLocks noGrp="1"/>
          </p:cNvSpPr>
          <p:nvPr>
            <p:ph type="ftr" sz="quarter" idx="11"/>
          </p:nvPr>
        </p:nvSpPr>
        <p:spPr>
          <a:xfrm>
            <a:off x="914400" y="6172200"/>
            <a:ext cx="3886200" cy="457200"/>
          </a:xfrm>
        </p:spPr>
        <p:txBody>
          <a:bodyPr/>
          <a:lstStyle/>
          <a:p>
            <a:endParaRPr lang="en-CA"/>
          </a:p>
        </p:txBody>
      </p:sp>
      <p:sp>
        <p:nvSpPr>
          <p:cNvPr id="7" name="Slide Number Placeholder 6"/>
          <p:cNvSpPr>
            <a:spLocks noGrp="1"/>
          </p:cNvSpPr>
          <p:nvPr>
            <p:ph type="sldNum" sz="quarter" idx="12"/>
          </p:nvPr>
        </p:nvSpPr>
        <p:spPr>
          <a:xfrm>
            <a:off x="146304" y="6208776"/>
            <a:ext cx="457200" cy="457200"/>
          </a:xfrm>
        </p:spPr>
        <p:txBody>
          <a:bodyPr/>
          <a:lstStyle/>
          <a:p>
            <a:fld id="{56B09BD6-D58F-4E81-97DF-C01FC2A6506B}" type="slidenum">
              <a:rPr lang="en-CA" smtClean="0"/>
              <a:t>‹#›</a:t>
            </a:fld>
            <a:endParaRPr lang="en-CA"/>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D626D48-5540-469E-9DE3-57F4A5927982}" type="datetimeFigureOut">
              <a:rPr lang="en-CA" smtClean="0"/>
              <a:t>27/09/2011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6B09BD6-D58F-4E81-97DF-C01FC2A6506B}" type="slidenum">
              <a:rPr lang="en-CA" smtClean="0"/>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D626D48-5540-469E-9DE3-57F4A5927982}" type="datetimeFigureOut">
              <a:rPr lang="en-CA" smtClean="0"/>
              <a:t>27/09/2011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6B09BD6-D58F-4E81-97DF-C01FC2A6506B}" type="slidenum">
              <a:rPr lang="en-CA" smtClean="0"/>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D626D48-5540-469E-9DE3-57F4A5927982}" type="datetimeFigureOut">
              <a:rPr lang="en-CA" smtClean="0"/>
              <a:t>27/09/2011</a:t>
            </a:fld>
            <a:endParaRPr lang="en-CA"/>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CA"/>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6B09BD6-D58F-4E81-97DF-C01FC2A6506B}"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CA" sz="4000" dirty="0" smtClean="0"/>
              <a:t>Responsibility</a:t>
            </a:r>
            <a:r>
              <a:rPr lang="en-CA" sz="4000" dirty="0" smtClean="0"/>
              <a:t>: Do </a:t>
            </a:r>
            <a:r>
              <a:rPr lang="en-CA" sz="4000" dirty="0"/>
              <a:t>the Right Thing or Face the Consequences</a:t>
            </a:r>
          </a:p>
        </p:txBody>
      </p:sp>
      <p:sp>
        <p:nvSpPr>
          <p:cNvPr id="2" name="Title 1"/>
          <p:cNvSpPr>
            <a:spLocks noGrp="1"/>
          </p:cNvSpPr>
          <p:nvPr>
            <p:ph type="ctrTitle"/>
          </p:nvPr>
        </p:nvSpPr>
        <p:spPr/>
        <p:txBody>
          <a:bodyPr>
            <a:normAutofit/>
          </a:bodyPr>
          <a:lstStyle/>
          <a:p>
            <a:r>
              <a:rPr lang="en-CA" sz="6000" dirty="0" smtClean="0"/>
              <a:t>Lesson 9</a:t>
            </a:r>
            <a:endParaRPr lang="en-CA" sz="6000" dirty="0"/>
          </a:p>
        </p:txBody>
      </p:sp>
    </p:spTree>
    <p:extLst>
      <p:ext uri="{BB962C8B-B14F-4D97-AF65-F5344CB8AC3E}">
        <p14:creationId xmlns:p14="http://schemas.microsoft.com/office/powerpoint/2010/main" val="8484550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868958"/>
          </a:xfrm>
        </p:spPr>
        <p:txBody>
          <a:bodyPr anchor="t">
            <a:normAutofit/>
          </a:bodyPr>
          <a:lstStyle/>
          <a:p>
            <a:pPr algn="ctr"/>
            <a:r>
              <a:rPr lang="en-CA" sz="4800" dirty="0" smtClean="0"/>
              <a:t>Introduction</a:t>
            </a:r>
            <a:endParaRPr lang="en-CA" sz="4800" dirty="0"/>
          </a:p>
        </p:txBody>
      </p:sp>
      <p:sp>
        <p:nvSpPr>
          <p:cNvPr id="3" name="Content Placeholder 2"/>
          <p:cNvSpPr>
            <a:spLocks noGrp="1"/>
          </p:cNvSpPr>
          <p:nvPr>
            <p:ph sz="quarter" idx="1"/>
          </p:nvPr>
        </p:nvSpPr>
        <p:spPr/>
        <p:txBody>
          <a:bodyPr>
            <a:noAutofit/>
          </a:bodyPr>
          <a:lstStyle/>
          <a:p>
            <a:r>
              <a:rPr lang="en-US" sz="3000" dirty="0" smtClean="0"/>
              <a:t>According to the PURE model, responsible action </a:t>
            </a:r>
            <a:r>
              <a:rPr lang="en-US" sz="3000" dirty="0" smtClean="0"/>
              <a:t>or doing the </a:t>
            </a:r>
            <a:r>
              <a:rPr lang="en-US" sz="3000" smtClean="0"/>
              <a:t>right thing is </a:t>
            </a:r>
            <a:r>
              <a:rPr lang="en-US" sz="3000" dirty="0" smtClean="0"/>
              <a:t>the key to living the good life.</a:t>
            </a:r>
          </a:p>
          <a:p>
            <a:r>
              <a:rPr lang="en-US" sz="3000" dirty="0" smtClean="0"/>
              <a:t>Most problems can be resolved by accurately proportioning responsibility.</a:t>
            </a:r>
          </a:p>
          <a:p>
            <a:r>
              <a:rPr lang="en-US" sz="3000" dirty="0" smtClean="0"/>
              <a:t>Who is responsible for my marital problems?</a:t>
            </a:r>
          </a:p>
          <a:p>
            <a:r>
              <a:rPr lang="en-US" sz="3000" dirty="0" smtClean="0"/>
              <a:t>Who is responsible for addiction?</a:t>
            </a:r>
          </a:p>
          <a:p>
            <a:r>
              <a:rPr lang="en-US" sz="3000" dirty="0" smtClean="0"/>
              <a:t>Who </a:t>
            </a:r>
            <a:r>
              <a:rPr lang="en-US" sz="3000" dirty="0"/>
              <a:t>is responsible for </a:t>
            </a:r>
            <a:r>
              <a:rPr lang="en-US" sz="3000" dirty="0" smtClean="0"/>
              <a:t>date rape?</a:t>
            </a:r>
          </a:p>
          <a:p>
            <a:r>
              <a:rPr lang="en-US" sz="3000" dirty="0" smtClean="0"/>
              <a:t>Who is responsible for depression?</a:t>
            </a:r>
          </a:p>
          <a:p>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3206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1944216"/>
          </a:xfrm>
        </p:spPr>
        <p:txBody>
          <a:bodyPr anchor="t">
            <a:normAutofit/>
          </a:bodyPr>
          <a:lstStyle/>
          <a:p>
            <a:pPr algn="ctr"/>
            <a:r>
              <a:rPr lang="en-CA" sz="4800" dirty="0" smtClean="0"/>
              <a:t>The Negative Meanings of</a:t>
            </a:r>
            <a:br>
              <a:rPr lang="en-CA" sz="4800" dirty="0" smtClean="0"/>
            </a:br>
            <a:r>
              <a:rPr lang="en-CA" sz="4800" dirty="0" smtClean="0"/>
              <a:t>Responsibility</a:t>
            </a:r>
            <a:endParaRPr lang="en-CA" sz="4800" dirty="0"/>
          </a:p>
        </p:txBody>
      </p:sp>
      <p:sp>
        <p:nvSpPr>
          <p:cNvPr id="3" name="Content Placeholder 2"/>
          <p:cNvSpPr>
            <a:spLocks noGrp="1"/>
          </p:cNvSpPr>
          <p:nvPr>
            <p:ph sz="quarter" idx="1"/>
          </p:nvPr>
        </p:nvSpPr>
        <p:spPr/>
        <p:txBody>
          <a:bodyPr>
            <a:noAutofit/>
          </a:bodyPr>
          <a:lstStyle/>
          <a:p>
            <a:endParaRPr lang="en-CA" sz="3000" dirty="0" smtClean="0"/>
          </a:p>
          <a:p>
            <a:endParaRPr lang="en-CA" sz="3000" dirty="0"/>
          </a:p>
          <a:p>
            <a:r>
              <a:rPr lang="en-US" sz="3000" dirty="0"/>
              <a:t>Responsibility is an unwelcoming word.</a:t>
            </a:r>
            <a:endParaRPr lang="en-CA" sz="3000" dirty="0"/>
          </a:p>
          <a:p>
            <a:r>
              <a:rPr lang="en-US" sz="3000" dirty="0"/>
              <a:t>It implies </a:t>
            </a:r>
            <a:r>
              <a:rPr lang="en-US" sz="3000" dirty="0" smtClean="0"/>
              <a:t>finger-pointing and blaming.</a:t>
            </a:r>
            <a:endParaRPr lang="en-CA" sz="3000" dirty="0"/>
          </a:p>
          <a:p>
            <a:r>
              <a:rPr lang="en-US" sz="3000" dirty="0"/>
              <a:t>It implies guilt-trips.</a:t>
            </a:r>
            <a:endParaRPr lang="en-CA" sz="3000" dirty="0"/>
          </a:p>
          <a:p>
            <a:r>
              <a:rPr lang="en-US" sz="3000" dirty="0"/>
              <a:t>It means moral obligation and burden.</a:t>
            </a:r>
            <a:endParaRPr lang="en-CA" sz="3000" dirty="0"/>
          </a:p>
          <a:p>
            <a:r>
              <a:rPr lang="en-US" sz="3000" dirty="0"/>
              <a:t>It poses a threat to personal freedom.</a:t>
            </a:r>
            <a:endParaRPr lang="en-CA" sz="3000" dirty="0"/>
          </a:p>
          <a:p>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5143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1800200"/>
          </a:xfrm>
        </p:spPr>
        <p:txBody>
          <a:bodyPr anchor="t">
            <a:normAutofit/>
          </a:bodyPr>
          <a:lstStyle/>
          <a:p>
            <a:pPr algn="ctr"/>
            <a:r>
              <a:rPr lang="en-CA" sz="4800" dirty="0" smtClean="0"/>
              <a:t>The Positive Meanings of Responsibility</a:t>
            </a:r>
            <a:endParaRPr lang="en-CA" sz="4800" dirty="0"/>
          </a:p>
        </p:txBody>
      </p:sp>
      <p:sp>
        <p:nvSpPr>
          <p:cNvPr id="3" name="Content Placeholder 2"/>
          <p:cNvSpPr>
            <a:spLocks noGrp="1"/>
          </p:cNvSpPr>
          <p:nvPr>
            <p:ph sz="quarter" idx="1"/>
          </p:nvPr>
        </p:nvSpPr>
        <p:spPr/>
        <p:txBody>
          <a:bodyPr>
            <a:noAutofit/>
          </a:bodyPr>
          <a:lstStyle/>
          <a:p>
            <a:endParaRPr lang="en-CA" sz="3000" dirty="0" smtClean="0"/>
          </a:p>
          <a:p>
            <a:endParaRPr lang="en-CA" sz="3000" dirty="0"/>
          </a:p>
          <a:p>
            <a:r>
              <a:rPr lang="en-CA" sz="3000" dirty="0" smtClean="0"/>
              <a:t>A </a:t>
            </a:r>
            <a:r>
              <a:rPr lang="en-CA" sz="3000" dirty="0"/>
              <a:t>sense of moral agency.</a:t>
            </a:r>
          </a:p>
          <a:p>
            <a:r>
              <a:rPr lang="en-CA" sz="3000" dirty="0" smtClean="0"/>
              <a:t>A </a:t>
            </a:r>
            <a:r>
              <a:rPr lang="en-CA" sz="3000" dirty="0"/>
              <a:t>sense of </a:t>
            </a:r>
            <a:r>
              <a:rPr lang="en-CA" sz="3000" dirty="0" smtClean="0"/>
              <a:t>freedom &amp; </a:t>
            </a:r>
            <a:r>
              <a:rPr lang="en-CA" sz="3000" dirty="0"/>
              <a:t>self-efficacy.</a:t>
            </a:r>
          </a:p>
          <a:p>
            <a:r>
              <a:rPr lang="en-CA" sz="3000" dirty="0" smtClean="0"/>
              <a:t>A </a:t>
            </a:r>
            <a:r>
              <a:rPr lang="en-CA" sz="3000" dirty="0"/>
              <a:t>sense of </a:t>
            </a:r>
            <a:r>
              <a:rPr lang="en-CA" sz="3000" dirty="0" smtClean="0"/>
              <a:t>trust-worthiness</a:t>
            </a:r>
            <a:r>
              <a:rPr lang="en-CA" sz="3000" dirty="0"/>
              <a:t> </a:t>
            </a:r>
            <a:r>
              <a:rPr lang="en-CA" sz="3000" dirty="0" smtClean="0"/>
              <a:t>&amp; </a:t>
            </a:r>
            <a:r>
              <a:rPr lang="en-CA" sz="3000" dirty="0"/>
              <a:t>personal significance.</a:t>
            </a:r>
          </a:p>
          <a:p>
            <a:r>
              <a:rPr lang="en-CA" sz="3000" dirty="0" smtClean="0"/>
              <a:t>Being a worthy member of </a:t>
            </a:r>
            <a:r>
              <a:rPr lang="en-CA" sz="3000" dirty="0"/>
              <a:t>a group.</a:t>
            </a:r>
          </a:p>
          <a:p>
            <a:r>
              <a:rPr lang="en-CA" sz="3000" dirty="0" smtClean="0"/>
              <a:t>Having </a:t>
            </a:r>
            <a:r>
              <a:rPr lang="en-CA" sz="3000" dirty="0"/>
              <a:t>control over my future and destiny.</a:t>
            </a:r>
          </a:p>
          <a:p>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7584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868958"/>
          </a:xfrm>
        </p:spPr>
        <p:txBody>
          <a:bodyPr anchor="t">
            <a:normAutofit/>
          </a:bodyPr>
          <a:lstStyle/>
          <a:p>
            <a:pPr algn="ctr"/>
            <a:r>
              <a:rPr lang="en-CA" sz="4800" dirty="0" smtClean="0"/>
              <a:t>Freedom and Responsibility</a:t>
            </a:r>
            <a:endParaRPr lang="en-CA" sz="4800" dirty="0"/>
          </a:p>
        </p:txBody>
      </p:sp>
      <p:sp>
        <p:nvSpPr>
          <p:cNvPr id="3" name="Content Placeholder 2"/>
          <p:cNvSpPr>
            <a:spLocks noGrp="1"/>
          </p:cNvSpPr>
          <p:nvPr>
            <p:ph sz="quarter" idx="1"/>
          </p:nvPr>
        </p:nvSpPr>
        <p:spPr/>
        <p:txBody>
          <a:bodyPr>
            <a:noAutofit/>
          </a:bodyPr>
          <a:lstStyle/>
          <a:p>
            <a:endParaRPr lang="en-US" sz="3000" dirty="0" smtClean="0"/>
          </a:p>
          <a:p>
            <a:pPr marL="0" indent="0">
              <a:buNone/>
            </a:pPr>
            <a:r>
              <a:rPr lang="en-US" sz="3000" dirty="0" smtClean="0"/>
              <a:t>(We </a:t>
            </a:r>
            <a:r>
              <a:rPr lang="en-US" sz="3000" dirty="0"/>
              <a:t>covered this topic in lesson </a:t>
            </a:r>
            <a:r>
              <a:rPr lang="en-US" sz="3000" dirty="0" smtClean="0"/>
              <a:t>3)</a:t>
            </a:r>
            <a:endParaRPr lang="en-CA" sz="3000" dirty="0"/>
          </a:p>
          <a:p>
            <a:r>
              <a:rPr lang="en-US" sz="3000" dirty="0"/>
              <a:t>Without freedom, there’s no responsibility.</a:t>
            </a:r>
            <a:endParaRPr lang="en-CA" sz="3000" dirty="0"/>
          </a:p>
          <a:p>
            <a:r>
              <a:rPr lang="en-US" sz="3000" dirty="0"/>
              <a:t>Viktor Frankl maintains that we always have </a:t>
            </a:r>
            <a:r>
              <a:rPr lang="en-US" sz="3000" dirty="0" smtClean="0"/>
              <a:t>the </a:t>
            </a:r>
            <a:r>
              <a:rPr lang="en-US" sz="3000" dirty="0"/>
              <a:t>freedom of choice.</a:t>
            </a:r>
            <a:endParaRPr lang="en-CA" sz="3000" dirty="0"/>
          </a:p>
          <a:p>
            <a:r>
              <a:rPr lang="en-US" sz="3000" dirty="0"/>
              <a:t>We are condemned to </a:t>
            </a:r>
            <a:r>
              <a:rPr lang="en-US" sz="3000" dirty="0" smtClean="0"/>
              <a:t>freedom.</a:t>
            </a:r>
            <a:endParaRPr lang="en-CA" sz="3000" dirty="0"/>
          </a:p>
          <a:p>
            <a:r>
              <a:rPr lang="en-US" sz="3000" dirty="0"/>
              <a:t>We are blessed with the capacity for freedom and choice</a:t>
            </a:r>
            <a:r>
              <a:rPr lang="en-US" sz="3000" dirty="0" smtClean="0"/>
              <a:t>.</a:t>
            </a:r>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7584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022" y="-9128"/>
            <a:ext cx="7772400" cy="1728192"/>
          </a:xfrm>
        </p:spPr>
        <p:txBody>
          <a:bodyPr anchor="t">
            <a:normAutofit/>
          </a:bodyPr>
          <a:lstStyle/>
          <a:p>
            <a:pPr algn="ctr"/>
            <a:r>
              <a:rPr lang="en-CA" sz="4800" dirty="0" smtClean="0"/>
              <a:t>Existential Perspective</a:t>
            </a:r>
            <a:endParaRPr lang="en-CA" sz="4800" dirty="0"/>
          </a:p>
        </p:txBody>
      </p:sp>
      <p:sp>
        <p:nvSpPr>
          <p:cNvPr id="3" name="Content Placeholder 2"/>
          <p:cNvSpPr>
            <a:spLocks noGrp="1"/>
          </p:cNvSpPr>
          <p:nvPr>
            <p:ph sz="quarter" idx="1"/>
          </p:nvPr>
        </p:nvSpPr>
        <p:spPr/>
        <p:txBody>
          <a:bodyPr>
            <a:noAutofit/>
          </a:bodyPr>
          <a:lstStyle/>
          <a:p>
            <a:pPr marL="0" indent="0">
              <a:buNone/>
            </a:pPr>
            <a:endParaRPr lang="en-CA" sz="3000" dirty="0"/>
          </a:p>
          <a:p>
            <a:r>
              <a:rPr lang="en-CA" sz="3000" dirty="0"/>
              <a:t>To Frankl (1985), responsibility means “response-ability” to meet the demand of meaning unique in each </a:t>
            </a:r>
            <a:r>
              <a:rPr lang="en-CA" sz="3000" dirty="0" smtClean="0"/>
              <a:t>situation</a:t>
            </a:r>
            <a:r>
              <a:rPr lang="en-CA" sz="3000" dirty="0"/>
              <a:t> </a:t>
            </a:r>
            <a:r>
              <a:rPr lang="en-CA" sz="3000" dirty="0" smtClean="0"/>
              <a:t>as well as the demand of life.</a:t>
            </a:r>
            <a:endParaRPr lang="en-CA" sz="3000" dirty="0"/>
          </a:p>
          <a:p>
            <a:r>
              <a:rPr lang="en-CA" sz="3000" dirty="0"/>
              <a:t>According to Jean Paul Sartre (1973), “existence </a:t>
            </a:r>
            <a:r>
              <a:rPr lang="en-CA" sz="3000" dirty="0" smtClean="0"/>
              <a:t>precedes </a:t>
            </a:r>
            <a:r>
              <a:rPr lang="en-CA" sz="3000" dirty="0"/>
              <a:t>essence”. The responsibility to exercise freedom to choose how we exist determines what kind of people we become.</a:t>
            </a:r>
          </a:p>
          <a:p>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7584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1800200"/>
          </a:xfrm>
        </p:spPr>
        <p:txBody>
          <a:bodyPr anchor="t">
            <a:normAutofit/>
          </a:bodyPr>
          <a:lstStyle/>
          <a:p>
            <a:pPr algn="ctr"/>
            <a:r>
              <a:rPr lang="en-CA" sz="4800" dirty="0" smtClean="0"/>
              <a:t>Responsibility as a</a:t>
            </a:r>
            <a:br>
              <a:rPr lang="en-CA" sz="4800" dirty="0" smtClean="0"/>
            </a:br>
            <a:r>
              <a:rPr lang="en-CA" sz="4800" dirty="0" smtClean="0"/>
              <a:t>Moral Duty</a:t>
            </a:r>
            <a:endParaRPr lang="en-CA" sz="4800" dirty="0"/>
          </a:p>
        </p:txBody>
      </p:sp>
      <p:sp>
        <p:nvSpPr>
          <p:cNvPr id="3" name="Content Placeholder 2"/>
          <p:cNvSpPr>
            <a:spLocks noGrp="1"/>
          </p:cNvSpPr>
          <p:nvPr>
            <p:ph sz="quarter" idx="1"/>
          </p:nvPr>
        </p:nvSpPr>
        <p:spPr/>
        <p:txBody>
          <a:bodyPr>
            <a:noAutofit/>
          </a:bodyPr>
          <a:lstStyle/>
          <a:p>
            <a:endParaRPr lang="en-CA" sz="3000" dirty="0" smtClean="0"/>
          </a:p>
          <a:p>
            <a:endParaRPr lang="en-CA" sz="3000" dirty="0" smtClean="0"/>
          </a:p>
          <a:p>
            <a:r>
              <a:rPr lang="en-US" sz="3000" dirty="0"/>
              <a:t>Max Weber (1904) in the book </a:t>
            </a:r>
            <a:r>
              <a:rPr lang="en-US" sz="3000" i="1" dirty="0"/>
              <a:t>Protestant Ethic and the Spirit of Capitalism </a:t>
            </a:r>
            <a:r>
              <a:rPr lang="en-US" sz="3000" dirty="0"/>
              <a:t>argues that we have a moral duty to work hard and achieve material success.</a:t>
            </a:r>
            <a:endParaRPr lang="en-CA" sz="3000" dirty="0"/>
          </a:p>
          <a:p>
            <a:r>
              <a:rPr lang="en-US" sz="3000" dirty="0"/>
              <a:t>People who fail to put effort are held responsible or blamed for the poor outcome.</a:t>
            </a:r>
            <a:endParaRPr lang="en-CA" sz="3000" dirty="0"/>
          </a:p>
          <a:p>
            <a:r>
              <a:rPr lang="en-US" sz="3000" dirty="0"/>
              <a:t>Moral victory is achieved because of the </a:t>
            </a:r>
            <a:r>
              <a:rPr lang="en-US" sz="3000" dirty="0" smtClean="0"/>
              <a:t>effort </a:t>
            </a:r>
            <a:r>
              <a:rPr lang="en-US" sz="3000" dirty="0"/>
              <a:t>to overcome temptation</a:t>
            </a:r>
            <a:r>
              <a:rPr lang="en-US" sz="3000" dirty="0" smtClean="0"/>
              <a:t>.</a:t>
            </a:r>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7584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868958"/>
          </a:xfrm>
        </p:spPr>
        <p:txBody>
          <a:bodyPr anchor="t">
            <a:normAutofit/>
          </a:bodyPr>
          <a:lstStyle/>
          <a:p>
            <a:pPr algn="ctr"/>
            <a:r>
              <a:rPr lang="en-CA" sz="4800" dirty="0" smtClean="0"/>
              <a:t>Responsibility for Others</a:t>
            </a:r>
            <a:endParaRPr lang="en-CA" sz="4800" dirty="0"/>
          </a:p>
        </p:txBody>
      </p:sp>
      <p:sp>
        <p:nvSpPr>
          <p:cNvPr id="3" name="Content Placeholder 2"/>
          <p:cNvSpPr>
            <a:spLocks noGrp="1"/>
          </p:cNvSpPr>
          <p:nvPr>
            <p:ph sz="quarter" idx="1"/>
          </p:nvPr>
        </p:nvSpPr>
        <p:spPr/>
        <p:txBody>
          <a:bodyPr>
            <a:noAutofit/>
          </a:bodyPr>
          <a:lstStyle/>
          <a:p>
            <a:endParaRPr lang="en-US" sz="3000" dirty="0" smtClean="0"/>
          </a:p>
          <a:p>
            <a:r>
              <a:rPr lang="en-US" sz="3000" dirty="0" smtClean="0"/>
              <a:t>“</a:t>
            </a:r>
            <a:r>
              <a:rPr lang="en-US" sz="3000" dirty="0"/>
              <a:t>Responsibility includes the wisdom to be responsible for others…as well as for oneself” (Sternberg, 2003, p. 5).</a:t>
            </a:r>
            <a:endParaRPr lang="en-CA" sz="3000" dirty="0"/>
          </a:p>
          <a:p>
            <a:r>
              <a:rPr lang="en-US" sz="3000" dirty="0"/>
              <a:t>Jesus says, “Love your neighbor as yourself” (Luke 10: 27).</a:t>
            </a:r>
            <a:endParaRPr lang="en-CA" sz="3000" dirty="0"/>
          </a:p>
          <a:p>
            <a:r>
              <a:rPr lang="en-US" sz="3000" dirty="0"/>
              <a:t>“Who is my neighbor?” (Luke 10:29).</a:t>
            </a:r>
            <a:endParaRPr lang="en-CA" sz="3000" dirty="0"/>
          </a:p>
          <a:p>
            <a:r>
              <a:rPr lang="en-US" sz="3000" dirty="0" smtClean="0"/>
              <a:t>The story about the </a:t>
            </a:r>
            <a:r>
              <a:rPr lang="en-US" sz="3000" dirty="0"/>
              <a:t>Good Samaritan (Luke 10: 25-37</a:t>
            </a:r>
            <a:r>
              <a:rPr lang="en-US" sz="3000" dirty="0" smtClean="0"/>
              <a:t>).</a:t>
            </a:r>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741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868958"/>
          </a:xfrm>
        </p:spPr>
        <p:txBody>
          <a:bodyPr anchor="t">
            <a:normAutofit/>
          </a:bodyPr>
          <a:lstStyle/>
          <a:p>
            <a:pPr algn="ctr"/>
            <a:r>
              <a:rPr lang="en-CA" sz="4800" dirty="0" smtClean="0"/>
              <a:t>Jesus’ Ministry</a:t>
            </a:r>
            <a:endParaRPr lang="en-CA" sz="4800" dirty="0"/>
          </a:p>
        </p:txBody>
      </p:sp>
      <p:sp>
        <p:nvSpPr>
          <p:cNvPr id="3" name="Content Placeholder 2"/>
          <p:cNvSpPr>
            <a:spLocks noGrp="1"/>
          </p:cNvSpPr>
          <p:nvPr>
            <p:ph sz="quarter" idx="1"/>
          </p:nvPr>
        </p:nvSpPr>
        <p:spPr/>
        <p:txBody>
          <a:bodyPr>
            <a:noAutofit/>
          </a:bodyPr>
          <a:lstStyle/>
          <a:p>
            <a:endParaRPr lang="en-US" sz="3000" dirty="0" smtClean="0"/>
          </a:p>
          <a:p>
            <a:r>
              <a:rPr lang="en-US" sz="3000" dirty="0" smtClean="0"/>
              <a:t>Jesus </a:t>
            </a:r>
            <a:r>
              <a:rPr lang="en-US" sz="3000" dirty="0"/>
              <a:t>spent most of his time healing the sick and feeding the poor</a:t>
            </a:r>
            <a:r>
              <a:rPr lang="en-US" sz="3000" dirty="0" smtClean="0"/>
              <a:t>.</a:t>
            </a:r>
          </a:p>
          <a:p>
            <a:endParaRPr lang="en-CA" sz="3000" dirty="0"/>
          </a:p>
          <a:p>
            <a:r>
              <a:rPr lang="en-US" sz="3000" dirty="0"/>
              <a:t>“The Spirit of the Lord is on me, because he has anointed me to proclaim good news to the poor. He has sent me to proclaim freedom for the prisoners and recovery of sight for the blind, to set the oppressed free.” (Luke 4:18</a:t>
            </a:r>
            <a:r>
              <a:rPr lang="en-US" sz="3000" dirty="0" smtClean="0"/>
              <a:t>)</a:t>
            </a:r>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7412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Reasons for the decline of personal responsibility</a:t>
            </a:r>
            <a:endParaRPr lang="en-CA" dirty="0"/>
          </a:p>
        </p:txBody>
      </p:sp>
      <p:sp>
        <p:nvSpPr>
          <p:cNvPr id="4" name="Content Placeholder 3"/>
          <p:cNvSpPr>
            <a:spLocks noGrp="1"/>
          </p:cNvSpPr>
          <p:nvPr>
            <p:ph sz="quarter" idx="1"/>
          </p:nvPr>
        </p:nvSpPr>
        <p:spPr/>
        <p:txBody>
          <a:bodyPr/>
          <a:lstStyle/>
          <a:p>
            <a:r>
              <a:rPr lang="en-CA" dirty="0" smtClean="0"/>
              <a:t>Victim mentality</a:t>
            </a:r>
          </a:p>
          <a:p>
            <a:r>
              <a:rPr lang="en-CA" dirty="0" smtClean="0"/>
              <a:t>Entitlement </a:t>
            </a:r>
          </a:p>
          <a:p>
            <a:r>
              <a:rPr lang="en-CA" dirty="0" smtClean="0"/>
              <a:t>Dependence on others </a:t>
            </a:r>
          </a:p>
          <a:p>
            <a:r>
              <a:rPr lang="en-CA" dirty="0" smtClean="0"/>
              <a:t>Defense mechanisms</a:t>
            </a:r>
          </a:p>
          <a:p>
            <a:r>
              <a:rPr lang="en-CA" dirty="0" smtClean="0"/>
              <a:t>Self-serving bias (hedonic bias)</a:t>
            </a:r>
          </a:p>
          <a:p>
            <a:r>
              <a:rPr lang="en-CA" dirty="0" smtClean="0"/>
              <a:t>Fundamental attribution bias (actor-observer bias)</a:t>
            </a:r>
          </a:p>
          <a:p>
            <a:r>
              <a:rPr lang="en-CA" dirty="0" smtClean="0"/>
              <a:t>Scapegoating</a:t>
            </a:r>
          </a:p>
          <a:p>
            <a:endParaRPr lang="en-CA" dirty="0"/>
          </a:p>
        </p:txBody>
      </p:sp>
    </p:spTree>
    <p:extLst>
      <p:ext uri="{BB962C8B-B14F-4D97-AF65-F5344CB8AC3E}">
        <p14:creationId xmlns:p14="http://schemas.microsoft.com/office/powerpoint/2010/main" val="26941265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548680"/>
            <a:ext cx="7643192" cy="864096"/>
          </a:xfrm>
        </p:spPr>
        <p:txBody>
          <a:bodyPr anchor="t">
            <a:normAutofit fontScale="90000"/>
          </a:bodyPr>
          <a:lstStyle/>
          <a:p>
            <a:pPr algn="ctr"/>
            <a:r>
              <a:rPr lang="en-CA" sz="4800" dirty="0" smtClean="0"/>
              <a:t>Restoration of Responsibility</a:t>
            </a:r>
            <a:endParaRPr lang="en-CA" sz="4800" dirty="0"/>
          </a:p>
        </p:txBody>
      </p:sp>
      <p:sp>
        <p:nvSpPr>
          <p:cNvPr id="3" name="Content Placeholder 2"/>
          <p:cNvSpPr>
            <a:spLocks noGrp="1"/>
          </p:cNvSpPr>
          <p:nvPr>
            <p:ph sz="quarter" idx="1"/>
          </p:nvPr>
        </p:nvSpPr>
        <p:spPr>
          <a:xfrm>
            <a:off x="914400" y="1447800"/>
            <a:ext cx="7772400" cy="5221560"/>
          </a:xfrm>
        </p:spPr>
        <p:txBody>
          <a:bodyPr>
            <a:noAutofit/>
          </a:bodyPr>
          <a:lstStyle/>
          <a:p>
            <a:pPr marL="0" lvl="0" indent="0">
              <a:buNone/>
            </a:pPr>
            <a:endParaRPr lang="en-US" sz="3000" dirty="0" smtClean="0"/>
          </a:p>
          <a:p>
            <a:r>
              <a:rPr lang="en-US" sz="3000" dirty="0" smtClean="0"/>
              <a:t>Ultimately</a:t>
            </a:r>
            <a:r>
              <a:rPr lang="en-US" sz="3000" dirty="0"/>
              <a:t>, we are responsible for what we do with our own lives and what happens in society.</a:t>
            </a:r>
            <a:endParaRPr lang="en-CA" sz="3000" dirty="0"/>
          </a:p>
          <a:p>
            <a:r>
              <a:rPr lang="en-US" sz="3000" dirty="0"/>
              <a:t>The fundamental choice before us is:</a:t>
            </a:r>
            <a:endParaRPr lang="en-CA" sz="3000" dirty="0"/>
          </a:p>
          <a:p>
            <a:pPr marL="834390" lvl="1" indent="-514350">
              <a:buFont typeface="+mj-lt"/>
              <a:buAutoNum type="alphaLcParenR"/>
            </a:pPr>
            <a:r>
              <a:rPr lang="en-US" sz="3000" dirty="0"/>
              <a:t>Blame others for our miseries, OR</a:t>
            </a:r>
            <a:endParaRPr lang="en-CA" sz="3000" dirty="0"/>
          </a:p>
          <a:p>
            <a:pPr marL="834390" lvl="1" indent="-514350">
              <a:buFont typeface="+mj-lt"/>
              <a:buAutoNum type="alphaLcParenR"/>
            </a:pPr>
            <a:r>
              <a:rPr lang="en-US" sz="3000" dirty="0"/>
              <a:t>Assume full responsibility for our own existence and future.</a:t>
            </a:r>
            <a:endParaRPr lang="en-CA" sz="3000" dirty="0"/>
          </a:p>
          <a:p>
            <a:r>
              <a:rPr lang="en-US" sz="3000" dirty="0"/>
              <a:t>We may not be responsible for what happens to us but we are responsible for how we react to it.</a:t>
            </a:r>
            <a:endParaRPr lang="en-CA" sz="3000" dirty="0"/>
          </a:p>
          <a:p>
            <a:pPr lvl="0"/>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7412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1800200"/>
          </a:xfrm>
        </p:spPr>
        <p:txBody>
          <a:bodyPr anchor="t">
            <a:normAutofit/>
          </a:bodyPr>
          <a:lstStyle/>
          <a:p>
            <a:pPr algn="ctr"/>
            <a:r>
              <a:rPr lang="en-CA" sz="4800" dirty="0" smtClean="0"/>
              <a:t>Don’t Blame the Victim</a:t>
            </a:r>
            <a:endParaRPr lang="en-CA" sz="4800" dirty="0"/>
          </a:p>
        </p:txBody>
      </p:sp>
      <p:sp>
        <p:nvSpPr>
          <p:cNvPr id="3" name="Content Placeholder 2"/>
          <p:cNvSpPr>
            <a:spLocks noGrp="1"/>
          </p:cNvSpPr>
          <p:nvPr>
            <p:ph sz="quarter" idx="1"/>
          </p:nvPr>
        </p:nvSpPr>
        <p:spPr/>
        <p:txBody>
          <a:bodyPr>
            <a:noAutofit/>
          </a:bodyPr>
          <a:lstStyle/>
          <a:p>
            <a:endParaRPr lang="en-US" sz="3000" dirty="0"/>
          </a:p>
          <a:p>
            <a:endParaRPr lang="en-US" sz="3000" dirty="0" smtClean="0"/>
          </a:p>
          <a:p>
            <a:r>
              <a:rPr lang="en-US" sz="3000" dirty="0" smtClean="0"/>
              <a:t>Emphasizing </a:t>
            </a:r>
            <a:r>
              <a:rPr lang="en-US" sz="3000" dirty="0"/>
              <a:t>personal responsibility </a:t>
            </a:r>
            <a:r>
              <a:rPr lang="en-US" sz="3000" dirty="0" smtClean="0"/>
              <a:t>without blaming </a:t>
            </a:r>
            <a:r>
              <a:rPr lang="en-US" sz="3000" dirty="0"/>
              <a:t>the victim. It means empowering the victim to take control of their own future and rise above the </a:t>
            </a:r>
            <a:r>
              <a:rPr lang="en-US" sz="3000" dirty="0" smtClean="0"/>
              <a:t>trauma.</a:t>
            </a:r>
            <a:endParaRPr lang="en-CA" sz="3000" dirty="0"/>
          </a:p>
          <a:p>
            <a:r>
              <a:rPr lang="en-US" sz="3000" dirty="0"/>
              <a:t>Only in carrying out our responsibility for ourselves and others can we find fulfillment</a:t>
            </a:r>
            <a:r>
              <a:rPr lang="en-US" sz="3000" dirty="0" smtClean="0"/>
              <a:t>.</a:t>
            </a:r>
            <a:endParaRPr lang="en-CA" sz="3000" dirty="0"/>
          </a:p>
          <a:p>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7412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1944216"/>
          </a:xfrm>
        </p:spPr>
        <p:txBody>
          <a:bodyPr anchor="t">
            <a:normAutofit/>
          </a:bodyPr>
          <a:lstStyle/>
          <a:p>
            <a:pPr algn="ctr"/>
            <a:r>
              <a:rPr lang="en-CA" sz="4800" dirty="0" smtClean="0"/>
              <a:t>Developing Responsibility</a:t>
            </a:r>
            <a:endParaRPr lang="en-CA" sz="4800" dirty="0"/>
          </a:p>
        </p:txBody>
      </p:sp>
      <p:sp>
        <p:nvSpPr>
          <p:cNvPr id="3" name="Content Placeholder 2"/>
          <p:cNvSpPr>
            <a:spLocks noGrp="1"/>
          </p:cNvSpPr>
          <p:nvPr>
            <p:ph sz="quarter" idx="1"/>
          </p:nvPr>
        </p:nvSpPr>
        <p:spPr/>
        <p:txBody>
          <a:bodyPr>
            <a:noAutofit/>
          </a:bodyPr>
          <a:lstStyle/>
          <a:p>
            <a:pPr marL="0" indent="0">
              <a:buNone/>
            </a:pPr>
            <a:endParaRPr lang="en-US" sz="3000" dirty="0" smtClean="0"/>
          </a:p>
          <a:p>
            <a:r>
              <a:rPr lang="en-US" sz="3000" dirty="0" smtClean="0"/>
              <a:t>Recognize the </a:t>
            </a:r>
            <a:r>
              <a:rPr lang="en-US" sz="3000" dirty="0"/>
              <a:t>rippling </a:t>
            </a:r>
            <a:r>
              <a:rPr lang="en-US" sz="3000" dirty="0" smtClean="0"/>
              <a:t>effects of our choices and actions.</a:t>
            </a:r>
            <a:endParaRPr lang="en-CA" sz="3000" dirty="0"/>
          </a:p>
          <a:p>
            <a:r>
              <a:rPr lang="en-US" sz="3000" dirty="0" smtClean="0"/>
              <a:t>Exercise freedom within internal and external constraints.</a:t>
            </a:r>
            <a:endParaRPr lang="en-CA" sz="3000" dirty="0"/>
          </a:p>
          <a:p>
            <a:r>
              <a:rPr lang="en-US" sz="3000" dirty="0" smtClean="0"/>
              <a:t>Assume full </a:t>
            </a:r>
            <a:r>
              <a:rPr lang="en-CA" sz="3000" dirty="0" smtClean="0"/>
              <a:t>responsibility for our lives.</a:t>
            </a:r>
          </a:p>
          <a:p>
            <a:r>
              <a:rPr lang="en-CA" sz="3000" dirty="0" smtClean="0"/>
              <a:t>Have the courage to do the right thing regardless of personal costs.</a:t>
            </a:r>
            <a:endParaRPr lang="en-CA" sz="3000" dirty="0"/>
          </a:p>
          <a:p>
            <a:r>
              <a:rPr lang="en-US" sz="3000" dirty="0"/>
              <a:t>Hold ourselves accountable to others and God</a:t>
            </a:r>
            <a:r>
              <a:rPr lang="en-US" sz="3000" dirty="0" smtClean="0"/>
              <a:t>.</a:t>
            </a:r>
          </a:p>
          <a:p>
            <a:endParaRPr lang="en-CA" sz="3000" dirty="0"/>
          </a:p>
          <a:p>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7412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868958"/>
          </a:xfrm>
        </p:spPr>
        <p:txBody>
          <a:bodyPr anchor="t">
            <a:normAutofit/>
          </a:bodyPr>
          <a:lstStyle/>
          <a:p>
            <a:pPr algn="ctr"/>
            <a:r>
              <a:rPr lang="en-CA" sz="4800" dirty="0" smtClean="0"/>
              <a:t>The 3 R’s of Good Citizenship</a:t>
            </a:r>
            <a:endParaRPr lang="en-CA" sz="4800" dirty="0"/>
          </a:p>
        </p:txBody>
      </p:sp>
      <p:sp>
        <p:nvSpPr>
          <p:cNvPr id="3" name="Content Placeholder 2"/>
          <p:cNvSpPr>
            <a:spLocks noGrp="1"/>
          </p:cNvSpPr>
          <p:nvPr>
            <p:ph sz="quarter" idx="1"/>
          </p:nvPr>
        </p:nvSpPr>
        <p:spPr/>
        <p:txBody>
          <a:bodyPr>
            <a:noAutofit/>
          </a:bodyPr>
          <a:lstStyle/>
          <a:p>
            <a:pPr lvl="0"/>
            <a:endParaRPr lang="en-CA" sz="2800" dirty="0" smtClean="0"/>
          </a:p>
          <a:p>
            <a:pPr lvl="0"/>
            <a:endParaRPr lang="en-CA" sz="2800" dirty="0"/>
          </a:p>
          <a:p>
            <a:pPr lvl="0"/>
            <a:endParaRPr lang="en-CA" sz="2800" dirty="0" smtClean="0"/>
          </a:p>
          <a:p>
            <a:pPr marL="0" lvl="0" indent="0">
              <a:buNone/>
            </a:pPr>
            <a:endParaRPr lang="en-CA" sz="2800" dirty="0" smtClean="0"/>
          </a:p>
          <a:p>
            <a:pPr marL="0" lvl="0" indent="0">
              <a:buNone/>
            </a:pPr>
            <a:endParaRPr lang="en-CA" sz="2800" dirty="0"/>
          </a:p>
          <a:p>
            <a:pPr marL="0" lvl="0" indent="0">
              <a:buNone/>
            </a:pPr>
            <a:endParaRPr lang="en-CA" sz="2800" dirty="0"/>
          </a:p>
          <a:p>
            <a:pPr marL="0" indent="0">
              <a:buNone/>
            </a:pPr>
            <a:r>
              <a:rPr lang="en-US" sz="2800" dirty="0" smtClean="0"/>
              <a:t>Please </a:t>
            </a:r>
            <a:r>
              <a:rPr lang="en-US" sz="2800" dirty="0"/>
              <a:t>visit: </a:t>
            </a:r>
            <a:r>
              <a:rPr lang="en-US" sz="2800" u="sng" dirty="0">
                <a:solidFill>
                  <a:srgbClr val="0070C0"/>
                </a:solidFill>
              </a:rPr>
              <a:t>http://www.education.gov.za/LinkClick.aspx?fileticket=n76lN9ho8Ks%3D&amp;tabid=93&amp;mid=1130</a:t>
            </a:r>
            <a:endParaRPr lang="en-CA" sz="2800" dirty="0">
              <a:solidFill>
                <a:srgbClr val="0070C0"/>
              </a:solidFill>
            </a:endParaRPr>
          </a:p>
          <a:p>
            <a:pPr marL="0" lvl="0" indent="0">
              <a:buNone/>
            </a:pPr>
            <a:endParaRPr lang="en-CA" sz="3200" dirty="0"/>
          </a:p>
        </p:txBody>
      </p:sp>
      <p:sp>
        <p:nvSpPr>
          <p:cNvPr id="5" name="Content Placeholder 2"/>
          <p:cNvSpPr txBox="1">
            <a:spLocks/>
          </p:cNvSpPr>
          <p:nvPr/>
        </p:nvSpPr>
        <p:spPr>
          <a:xfrm>
            <a:off x="904056" y="1449288"/>
            <a:ext cx="3379912" cy="4572000"/>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endParaRPr lang="en-CA" sz="3200" b="1" dirty="0" smtClean="0"/>
          </a:p>
          <a:p>
            <a:r>
              <a:rPr lang="en-CA" sz="3200" b="1" dirty="0" smtClean="0"/>
              <a:t>R</a:t>
            </a:r>
            <a:r>
              <a:rPr lang="en-CA" sz="3200" dirty="0" smtClean="0"/>
              <a:t>esponsibility</a:t>
            </a:r>
          </a:p>
          <a:p>
            <a:r>
              <a:rPr lang="en-CA" sz="3200" b="1" dirty="0" smtClean="0"/>
              <a:t>R</a:t>
            </a:r>
            <a:r>
              <a:rPr lang="en-CA" sz="3200" dirty="0" smtClean="0"/>
              <a:t>espect</a:t>
            </a:r>
          </a:p>
          <a:p>
            <a:r>
              <a:rPr lang="en-CA" sz="3200" b="1" dirty="0" smtClean="0"/>
              <a:t>R</a:t>
            </a:r>
            <a:r>
              <a:rPr lang="en-CA" sz="3200" dirty="0" smtClean="0"/>
              <a:t>esourcefulness</a:t>
            </a: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960" y="1772816"/>
            <a:ext cx="4176464" cy="2818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395536" y="1556792"/>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7412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1872208"/>
          </a:xfrm>
        </p:spPr>
        <p:txBody>
          <a:bodyPr anchor="t">
            <a:normAutofit/>
          </a:bodyPr>
          <a:lstStyle/>
          <a:p>
            <a:pPr algn="ctr"/>
            <a:r>
              <a:rPr lang="en-CA" sz="4800" dirty="0" smtClean="0"/>
              <a:t>Teaching Responsibility</a:t>
            </a:r>
            <a:r>
              <a:rPr lang="en-CA" sz="4400" dirty="0" smtClean="0"/>
              <a:t/>
            </a:r>
            <a:br>
              <a:rPr lang="en-CA" sz="4400" dirty="0" smtClean="0"/>
            </a:br>
            <a:r>
              <a:rPr lang="en-CA" sz="4400" dirty="0" smtClean="0"/>
              <a:t>(According to Alfred Adler)</a:t>
            </a:r>
            <a:endParaRPr lang="en-CA" sz="4400" dirty="0"/>
          </a:p>
        </p:txBody>
      </p:sp>
      <p:sp>
        <p:nvSpPr>
          <p:cNvPr id="3" name="Content Placeholder 2"/>
          <p:cNvSpPr>
            <a:spLocks noGrp="1"/>
          </p:cNvSpPr>
          <p:nvPr>
            <p:ph sz="quarter" idx="1"/>
          </p:nvPr>
        </p:nvSpPr>
        <p:spPr/>
        <p:txBody>
          <a:bodyPr>
            <a:noAutofit/>
          </a:bodyPr>
          <a:lstStyle/>
          <a:p>
            <a:endParaRPr lang="en-CA" sz="3000" dirty="0" smtClean="0"/>
          </a:p>
          <a:p>
            <a:r>
              <a:rPr lang="en-US" sz="3000" dirty="0" smtClean="0"/>
              <a:t>Provide </a:t>
            </a:r>
            <a:r>
              <a:rPr lang="en-US" sz="3000" dirty="0"/>
              <a:t>an encouraging and democratic </a:t>
            </a:r>
            <a:r>
              <a:rPr lang="en-US" sz="3000" dirty="0" smtClean="0"/>
              <a:t>environment</a:t>
            </a:r>
          </a:p>
          <a:p>
            <a:r>
              <a:rPr lang="en-US" sz="3000" dirty="0" smtClean="0"/>
              <a:t>Encourage social interests &amp; cooperation.</a:t>
            </a:r>
          </a:p>
          <a:p>
            <a:r>
              <a:rPr lang="en-CA" sz="3000" dirty="0"/>
              <a:t>Discipline thru natural &amp; logical </a:t>
            </a:r>
            <a:r>
              <a:rPr lang="en-CA" sz="3000" dirty="0" smtClean="0"/>
              <a:t>consequences.</a:t>
            </a:r>
            <a:endParaRPr lang="en-CA" sz="3000" dirty="0"/>
          </a:p>
          <a:p>
            <a:r>
              <a:rPr lang="en-US" sz="3000" dirty="0"/>
              <a:t>Avoid putting children in a position of inferiority.</a:t>
            </a:r>
            <a:endParaRPr lang="en-CA" sz="3000" dirty="0"/>
          </a:p>
          <a:p>
            <a:r>
              <a:rPr lang="en-US" sz="3000" dirty="0"/>
              <a:t>Don’t do </a:t>
            </a:r>
            <a:r>
              <a:rPr lang="en-US" sz="3000" dirty="0" smtClean="0"/>
              <a:t>for </a:t>
            </a:r>
            <a:r>
              <a:rPr lang="en-US" sz="3000" dirty="0"/>
              <a:t>children </a:t>
            </a:r>
            <a:r>
              <a:rPr lang="en-US" sz="3000" dirty="0" smtClean="0"/>
              <a:t>what </a:t>
            </a:r>
            <a:r>
              <a:rPr lang="en-US" sz="3000" dirty="0"/>
              <a:t>they can do themselves.</a:t>
            </a:r>
            <a:endParaRPr lang="en-CA" sz="3000" dirty="0"/>
          </a:p>
          <a:p>
            <a:r>
              <a:rPr lang="en-US" sz="3000" dirty="0" smtClean="0"/>
              <a:t>Both </a:t>
            </a:r>
            <a:r>
              <a:rPr lang="en-US" sz="3000" dirty="0"/>
              <a:t>pampering and neglect can undermine the development of responsibility</a:t>
            </a:r>
            <a:r>
              <a:rPr lang="en-US" sz="3000" dirty="0" smtClean="0"/>
              <a:t>.</a:t>
            </a:r>
            <a:endParaRPr lang="en-CA" sz="3000" dirty="0"/>
          </a:p>
          <a:p>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7584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868958"/>
          </a:xfrm>
        </p:spPr>
        <p:txBody>
          <a:bodyPr anchor="t">
            <a:normAutofit/>
          </a:bodyPr>
          <a:lstStyle/>
          <a:p>
            <a:pPr algn="ctr"/>
            <a:r>
              <a:rPr lang="en-CA" sz="4800" dirty="0" smtClean="0"/>
              <a:t>Conclusion</a:t>
            </a:r>
            <a:endParaRPr lang="en-CA" sz="4800" dirty="0"/>
          </a:p>
        </p:txBody>
      </p:sp>
      <p:sp>
        <p:nvSpPr>
          <p:cNvPr id="3" name="Content Placeholder 2"/>
          <p:cNvSpPr>
            <a:spLocks noGrp="1"/>
          </p:cNvSpPr>
          <p:nvPr>
            <p:ph sz="quarter" idx="1"/>
          </p:nvPr>
        </p:nvSpPr>
        <p:spPr/>
        <p:txBody>
          <a:bodyPr>
            <a:noAutofit/>
          </a:bodyPr>
          <a:lstStyle/>
          <a:p>
            <a:pPr marL="0" indent="0">
              <a:buNone/>
            </a:pPr>
            <a:endParaRPr lang="en-CA" sz="3200" dirty="0"/>
          </a:p>
          <a:p>
            <a:r>
              <a:rPr lang="en-US" sz="3200" dirty="0"/>
              <a:t>No matter how legitimate, blaming never </a:t>
            </a:r>
            <a:r>
              <a:rPr lang="en-US" sz="3200" dirty="0" smtClean="0"/>
              <a:t>moves us forward.</a:t>
            </a:r>
          </a:p>
          <a:p>
            <a:r>
              <a:rPr lang="en-US" sz="3200" dirty="0" smtClean="0"/>
              <a:t>Responsible action is the key to flourishing.</a:t>
            </a:r>
            <a:endParaRPr lang="en-CA" sz="3200" dirty="0"/>
          </a:p>
          <a:p>
            <a:r>
              <a:rPr lang="en-US" sz="3200" dirty="0"/>
              <a:t>We all have the </a:t>
            </a:r>
            <a:r>
              <a:rPr lang="en-US" sz="3200" dirty="0" smtClean="0"/>
              <a:t>freedom </a:t>
            </a:r>
            <a:r>
              <a:rPr lang="en-US" sz="3200" dirty="0"/>
              <a:t>and responsibility to create a better future.</a:t>
            </a:r>
            <a:endParaRPr lang="en-CA" sz="3200" dirty="0"/>
          </a:p>
          <a:p>
            <a:r>
              <a:rPr lang="en-US" sz="3200" dirty="0"/>
              <a:t>Remember the rippling effect for </a:t>
            </a:r>
            <a:r>
              <a:rPr lang="en-US" sz="3200" dirty="0" smtClean="0"/>
              <a:t>our </a:t>
            </a:r>
            <a:r>
              <a:rPr lang="en-US" sz="3200" dirty="0"/>
              <a:t>words and actions.</a:t>
            </a:r>
            <a:endParaRPr lang="en-CA" sz="30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7703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868958"/>
          </a:xfrm>
        </p:spPr>
        <p:txBody>
          <a:bodyPr anchor="t">
            <a:normAutofit/>
          </a:bodyPr>
          <a:lstStyle/>
          <a:p>
            <a:pPr algn="ctr"/>
            <a:r>
              <a:rPr lang="en-CA" sz="4800" smtClean="0"/>
              <a:t>Inspiration Thoughts</a:t>
            </a:r>
            <a:endParaRPr lang="en-CA" sz="4800" dirty="0"/>
          </a:p>
        </p:txBody>
      </p:sp>
      <p:sp>
        <p:nvSpPr>
          <p:cNvPr id="3" name="Content Placeholder 2"/>
          <p:cNvSpPr>
            <a:spLocks noGrp="1"/>
          </p:cNvSpPr>
          <p:nvPr>
            <p:ph sz="quarter" idx="1"/>
          </p:nvPr>
        </p:nvSpPr>
        <p:spPr/>
        <p:txBody>
          <a:bodyPr>
            <a:noAutofit/>
          </a:bodyPr>
          <a:lstStyle/>
          <a:p>
            <a:pPr marL="0" indent="0">
              <a:buNone/>
            </a:pPr>
            <a:endParaRPr lang="en-CA" sz="3600" dirty="0" smtClean="0"/>
          </a:p>
          <a:p>
            <a:pPr marL="0" lvl="0" indent="0">
              <a:buNone/>
            </a:pPr>
            <a:r>
              <a:rPr lang="en-US" sz="3600" i="1" dirty="0" smtClean="0"/>
              <a:t>The price  </a:t>
            </a:r>
            <a:r>
              <a:rPr lang="en-US" sz="3600" i="1" dirty="0"/>
              <a:t>of greatness is </a:t>
            </a:r>
            <a:r>
              <a:rPr lang="en-US" sz="3600" i="1" dirty="0" smtClean="0"/>
              <a:t>responsibility</a:t>
            </a:r>
            <a:r>
              <a:rPr lang="en-US" sz="3600" i="1" dirty="0"/>
              <a:t>.</a:t>
            </a:r>
            <a:endParaRPr lang="en-US" sz="3600" i="1" dirty="0" smtClean="0"/>
          </a:p>
          <a:p>
            <a:pPr marL="0" lvl="0" indent="0" algn="r">
              <a:buNone/>
            </a:pPr>
            <a:r>
              <a:rPr lang="en-US" sz="3600" dirty="0"/>
              <a:t>—</a:t>
            </a:r>
            <a:r>
              <a:rPr lang="en-US" sz="3600" dirty="0" smtClean="0"/>
              <a:t>Winston Churchill</a:t>
            </a:r>
            <a:endParaRPr lang="en-CA" sz="3600" dirty="0"/>
          </a:p>
          <a:p>
            <a:pPr marL="0" indent="0">
              <a:buNone/>
            </a:pPr>
            <a:endParaRPr lang="en-CA" sz="3600" dirty="0" smtClean="0"/>
          </a:p>
          <a:p>
            <a:pPr marL="0" indent="0">
              <a:buNone/>
            </a:pPr>
            <a:r>
              <a:rPr lang="en-CA" sz="3600" i="1" dirty="0" smtClean="0"/>
              <a:t>Everything </a:t>
            </a:r>
            <a:r>
              <a:rPr lang="en-CA" sz="3600" i="1" dirty="0"/>
              <a:t>that is really great and inspiring is created by the individual who can labor in freedom</a:t>
            </a:r>
            <a:r>
              <a:rPr lang="en-CA" sz="3600" i="1" dirty="0" smtClean="0"/>
              <a:t>.</a:t>
            </a:r>
            <a:endParaRPr lang="en-CA" sz="3600" i="1" dirty="0"/>
          </a:p>
          <a:p>
            <a:pPr marL="0" indent="0" algn="r">
              <a:buNone/>
            </a:pPr>
            <a:r>
              <a:rPr lang="en-US" sz="3600" dirty="0"/>
              <a:t>— </a:t>
            </a:r>
            <a:r>
              <a:rPr lang="en-CA" sz="3600" dirty="0" smtClean="0"/>
              <a:t>Albert Einstein</a:t>
            </a:r>
            <a:endParaRPr lang="en-CA" sz="36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791661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2221</TotalTime>
  <Words>783</Words>
  <Application>Microsoft Office PowerPoint</Application>
  <PresentationFormat>On-screen Show (4:3)</PresentationFormat>
  <Paragraphs>113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Equity</vt:lpstr>
      <vt:lpstr>Lesson 9</vt:lpstr>
      <vt:lpstr>Introduction</vt:lpstr>
      <vt:lpstr>The Negative Meanings of Responsibility</vt:lpstr>
      <vt:lpstr>The Positive Meanings of Responsibility</vt:lpstr>
      <vt:lpstr>Freedom and Responsibility</vt:lpstr>
      <vt:lpstr>Existential Perspective</vt:lpstr>
      <vt:lpstr>Responsibility as a Moral Duty</vt:lpstr>
      <vt:lpstr>Responsibility for Others</vt:lpstr>
      <vt:lpstr>Jesus’ Ministry</vt:lpstr>
      <vt:lpstr>Reasons for the decline of personal responsibility</vt:lpstr>
      <vt:lpstr>Restoration of Responsibility</vt:lpstr>
      <vt:lpstr>Don’t Blame the Victim</vt:lpstr>
      <vt:lpstr>Developing Responsibility</vt:lpstr>
      <vt:lpstr>The 3 R’s of Good Citizenship</vt:lpstr>
      <vt:lpstr>Teaching Responsibility (According to Alfred Adler)</vt:lpstr>
      <vt:lpstr>Conclusion</vt:lpstr>
      <vt:lpstr>Inspiration Thoughts</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T. P. Wong</dc:creator>
  <cp:lastModifiedBy>Paul Wong</cp:lastModifiedBy>
  <cp:revision>16</cp:revision>
  <dcterms:created xsi:type="dcterms:W3CDTF">2011-09-23T18:44:59Z</dcterms:created>
  <dcterms:modified xsi:type="dcterms:W3CDTF">2011-09-27T22:04:59Z</dcterms:modified>
</cp:coreProperties>
</file>