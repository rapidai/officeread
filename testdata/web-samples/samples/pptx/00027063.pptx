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4" r:id="rId9"/>
    <p:sldId id="266" r:id="rId10"/>
    <p:sldId id="265" r:id="rId11"/>
    <p:sldId id="267" r:id="rId12"/>
    <p:sldId id="268" r:id="rId13"/>
    <p:sldId id="272" r:id="rId14"/>
    <p:sldId id="273" r:id="rId15"/>
    <p:sldId id="269" r:id="rId16"/>
    <p:sldId id="270" r:id="rId17"/>
    <p:sldId id="271" r:id="rId18"/>
    <p:sldId id="274" r:id="rId19"/>
    <p:sldId id="275"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09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787269D8-040C-43D8-8E20-F2414398C0E1}" type="datetimeFigureOut">
              <a:rPr lang="en-US" smtClean="0"/>
              <a:pPr/>
              <a:t>9/6/2011</a:t>
            </a:fld>
            <a:endParaRPr lang="en-AU" dirty="0"/>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AU" dirty="0"/>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3764143-5BBF-461F-856C-FDAB5EA9346F}" type="slidenum">
              <a:rPr lang="en-AU" smtClean="0"/>
              <a:pPr/>
              <a:t>‹#›</a:t>
            </a:fld>
            <a:endParaRPr lang="en-AU"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787269D8-040C-43D8-8E20-F2414398C0E1}" type="datetimeFigureOut">
              <a:rPr lang="en-US" smtClean="0"/>
              <a:pPr/>
              <a:t>9/6/2011</a:t>
            </a:fld>
            <a:endParaRPr lang="en-AU" dirty="0"/>
          </a:p>
        </p:txBody>
      </p:sp>
      <p:sp>
        <p:nvSpPr>
          <p:cNvPr id="9" name="Slide Number Placeholder 8"/>
          <p:cNvSpPr>
            <a:spLocks noGrp="1"/>
          </p:cNvSpPr>
          <p:nvPr>
            <p:ph type="sldNum" sz="quarter" idx="15"/>
          </p:nvPr>
        </p:nvSpPr>
        <p:spPr/>
        <p:txBody>
          <a:bodyPr rtlCol="0"/>
          <a:lstStyle/>
          <a:p>
            <a:fld id="{33764143-5BBF-461F-856C-FDAB5EA9346F}" type="slidenum">
              <a:rPr lang="en-AU" smtClean="0"/>
              <a:pPr/>
              <a:t>‹#›</a:t>
            </a:fld>
            <a:endParaRPr lang="en-AU" dirty="0"/>
          </a:p>
        </p:txBody>
      </p:sp>
      <p:sp>
        <p:nvSpPr>
          <p:cNvPr id="10" name="Footer Placeholder 9"/>
          <p:cNvSpPr>
            <a:spLocks noGrp="1"/>
          </p:cNvSpPr>
          <p:nvPr>
            <p:ph type="ftr" sz="quarter" idx="16"/>
          </p:nvPr>
        </p:nvSpPr>
        <p:spPr/>
        <p:txBody>
          <a:bodyPr rtlCol="0"/>
          <a:lstStyle/>
          <a:p>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787269D8-040C-43D8-8E20-F2414398C0E1}" type="datetimeFigureOut">
              <a:rPr lang="en-US" smtClean="0"/>
              <a:pPr/>
              <a:t>9/6/2011</a:t>
            </a:fld>
            <a:endParaRPr lang="en-AU" dirty="0"/>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AU" dirty="0"/>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6" name="Slide Number Placeholder 5"/>
          <p:cNvSpPr>
            <a:spLocks noGrp="1"/>
          </p:cNvSpPr>
          <p:nvPr>
            <p:ph type="sldNum" sz="quarter" idx="12"/>
          </p:nvPr>
        </p:nvSpPr>
        <p:spPr bwMode="auto">
          <a:xfrm>
            <a:off x="1340616" y="4928702"/>
            <a:ext cx="609600" cy="517524"/>
          </a:xfrm>
        </p:spPr>
        <p:txBody>
          <a:bodyPr/>
          <a:lstStyle/>
          <a:p>
            <a:fld id="{33764143-5BBF-461F-856C-FDAB5EA9346F}" type="slidenum">
              <a:rPr lang="en-AU" smtClean="0"/>
              <a:pPr/>
              <a:t>‹#›</a:t>
            </a:fld>
            <a:endParaRPr lang="en-AU"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87269D8-040C-43D8-8E20-F2414398C0E1}" type="datetimeFigureOut">
              <a:rPr lang="en-US" smtClean="0"/>
              <a:pPr/>
              <a:t>9/6/2011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33764143-5BBF-461F-856C-FDAB5EA9346F}" type="slidenum">
              <a:rPr lang="en-AU" smtClean="0"/>
              <a:pPr/>
              <a:t>‹#›</a:t>
            </a:fld>
            <a:endParaRPr lang="en-AU" dirty="0"/>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787269D8-040C-43D8-8E20-F2414398C0E1}" type="datetimeFigureOut">
              <a:rPr lang="en-US" smtClean="0"/>
              <a:pPr/>
              <a:t>9/6/2011</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33764143-5BBF-461F-856C-FDAB5EA9346F}" type="slidenum">
              <a:rPr lang="en-AU" smtClean="0"/>
              <a:pPr/>
              <a:t>‹#›</a:t>
            </a:fld>
            <a:endParaRPr lang="en-AU" dirty="0"/>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787269D8-040C-43D8-8E20-F2414398C0E1}" type="datetimeFigureOut">
              <a:rPr lang="en-US" smtClean="0"/>
              <a:pPr/>
              <a:t>9/6/2011</a:t>
            </a:fld>
            <a:endParaRPr lang="en-AU" dirty="0"/>
          </a:p>
        </p:txBody>
      </p:sp>
      <p:sp>
        <p:nvSpPr>
          <p:cNvPr id="7" name="Slide Number Placeholder 6"/>
          <p:cNvSpPr>
            <a:spLocks noGrp="1"/>
          </p:cNvSpPr>
          <p:nvPr>
            <p:ph type="sldNum" sz="quarter" idx="11"/>
          </p:nvPr>
        </p:nvSpPr>
        <p:spPr/>
        <p:txBody>
          <a:bodyPr rtlCol="0"/>
          <a:lstStyle/>
          <a:p>
            <a:fld id="{33764143-5BBF-461F-856C-FDAB5EA9346F}" type="slidenum">
              <a:rPr lang="en-AU" smtClean="0"/>
              <a:pPr/>
              <a:t>‹#›</a:t>
            </a:fld>
            <a:endParaRPr lang="en-AU" dirty="0"/>
          </a:p>
        </p:txBody>
      </p:sp>
      <p:sp>
        <p:nvSpPr>
          <p:cNvPr id="8" name="Footer Placeholder 7"/>
          <p:cNvSpPr>
            <a:spLocks noGrp="1"/>
          </p:cNvSpPr>
          <p:nvPr>
            <p:ph type="ftr" sz="quarter" idx="12"/>
          </p:nvPr>
        </p:nvSpPr>
        <p:spPr/>
        <p:txBody>
          <a:bodyPr rtlCol="0"/>
          <a:lstStyle/>
          <a:p>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7269D8-040C-43D8-8E20-F2414398C0E1}" type="datetimeFigureOut">
              <a:rPr lang="en-US" smtClean="0"/>
              <a:pPr/>
              <a:t>9/6/2011</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33764143-5BBF-461F-856C-FDAB5EA9346F}" type="slidenum">
              <a:rPr lang="en-AU" smtClean="0"/>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787269D8-040C-43D8-8E20-F2414398C0E1}" type="datetimeFigureOut">
              <a:rPr lang="en-US" smtClean="0"/>
              <a:pPr/>
              <a:t>9/6/2011</a:t>
            </a:fld>
            <a:endParaRPr lang="en-AU" dirty="0"/>
          </a:p>
        </p:txBody>
      </p:sp>
      <p:sp>
        <p:nvSpPr>
          <p:cNvPr id="22" name="Slide Number Placeholder 21"/>
          <p:cNvSpPr>
            <a:spLocks noGrp="1"/>
          </p:cNvSpPr>
          <p:nvPr>
            <p:ph type="sldNum" sz="quarter" idx="15"/>
          </p:nvPr>
        </p:nvSpPr>
        <p:spPr/>
        <p:txBody>
          <a:bodyPr rtlCol="0"/>
          <a:lstStyle/>
          <a:p>
            <a:fld id="{33764143-5BBF-461F-856C-FDAB5EA9346F}" type="slidenum">
              <a:rPr lang="en-AU" smtClean="0"/>
              <a:pPr/>
              <a:t>‹#›</a:t>
            </a:fld>
            <a:endParaRPr lang="en-AU" dirty="0"/>
          </a:p>
        </p:txBody>
      </p:sp>
      <p:sp>
        <p:nvSpPr>
          <p:cNvPr id="23" name="Footer Placeholder 22"/>
          <p:cNvSpPr>
            <a:spLocks noGrp="1"/>
          </p:cNvSpPr>
          <p:nvPr>
            <p:ph type="ftr" sz="quarter" idx="16"/>
          </p:nvPr>
        </p:nvSpPr>
        <p:spPr/>
        <p:txBody>
          <a:bodyPr rtlCol="0"/>
          <a:lstStyle/>
          <a:p>
            <a:endParaRPr lang="en-AU"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dirty="0"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787269D8-040C-43D8-8E20-F2414398C0E1}" type="datetimeFigureOut">
              <a:rPr lang="en-US" smtClean="0"/>
              <a:pPr/>
              <a:t>9/6/2011</a:t>
            </a:fld>
            <a:endParaRPr lang="en-AU" dirty="0"/>
          </a:p>
        </p:txBody>
      </p:sp>
      <p:sp>
        <p:nvSpPr>
          <p:cNvPr id="18" name="Slide Number Placeholder 17"/>
          <p:cNvSpPr>
            <a:spLocks noGrp="1"/>
          </p:cNvSpPr>
          <p:nvPr>
            <p:ph type="sldNum" sz="quarter" idx="11"/>
          </p:nvPr>
        </p:nvSpPr>
        <p:spPr/>
        <p:txBody>
          <a:bodyPr rtlCol="0"/>
          <a:lstStyle/>
          <a:p>
            <a:fld id="{33764143-5BBF-461F-856C-FDAB5EA9346F}" type="slidenum">
              <a:rPr lang="en-AU" smtClean="0"/>
              <a:pPr/>
              <a:t>‹#›</a:t>
            </a:fld>
            <a:endParaRPr lang="en-AU" dirty="0"/>
          </a:p>
        </p:txBody>
      </p:sp>
      <p:sp>
        <p:nvSpPr>
          <p:cNvPr id="21" name="Footer Placeholder 20"/>
          <p:cNvSpPr>
            <a:spLocks noGrp="1"/>
          </p:cNvSpPr>
          <p:nvPr>
            <p:ph type="ftr" sz="quarter" idx="12"/>
          </p:nvPr>
        </p:nvSpPr>
        <p:spPr/>
        <p:txBody>
          <a:bodyPr rtlCol="0"/>
          <a:lstStyle/>
          <a:p>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87269D8-040C-43D8-8E20-F2414398C0E1}" type="datetimeFigureOut">
              <a:rPr lang="en-US" smtClean="0"/>
              <a:pPr/>
              <a:t>9/6/2011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33764143-5BBF-461F-856C-FDAB5EA9346F}" type="slidenum">
              <a:rPr lang="en-AU" smtClean="0"/>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87269D8-040C-43D8-8E20-F2414398C0E1}" type="datetimeFigureOut">
              <a:rPr lang="en-US" smtClean="0"/>
              <a:pPr/>
              <a:t>9/6/2011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33764143-5BBF-461F-856C-FDAB5EA9346F}" type="slidenum">
              <a:rPr lang="en-AU" smtClean="0"/>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787269D8-040C-43D8-8E20-F2414398C0E1}" type="datetimeFigureOut">
              <a:rPr lang="en-US" smtClean="0"/>
              <a:pPr/>
              <a:t>9/6/2011</a:t>
            </a:fld>
            <a:endParaRPr lang="en-AU" dirty="0"/>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AU" dirty="0"/>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3764143-5BBF-461F-856C-FDAB5EA9346F}" type="slidenum">
              <a:rPr lang="en-AU" smtClean="0"/>
              <a:pPr/>
              <a:t>‹#›</a:t>
            </a:fld>
            <a:endParaRPr lang="en-AU"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ACL1002</a:t>
            </a:r>
            <a:br>
              <a:rPr lang="en-AU" dirty="0" smtClean="0"/>
            </a:br>
            <a:r>
              <a:rPr lang="en-AU" dirty="0" smtClean="0"/>
              <a:t>POETS AND THEIR POETRY</a:t>
            </a:r>
            <a:br>
              <a:rPr lang="en-AU" dirty="0" smtClean="0"/>
            </a:br>
            <a:r>
              <a:rPr lang="en-AU" dirty="0" smtClean="0"/>
              <a:t>GWEN HARWOOD</a:t>
            </a:r>
            <a:endParaRPr lang="en-AU" dirty="0"/>
          </a:p>
        </p:txBody>
      </p:sp>
      <p:sp>
        <p:nvSpPr>
          <p:cNvPr id="3" name="Subtitle 2"/>
          <p:cNvSpPr>
            <a:spLocks noGrp="1"/>
          </p:cNvSpPr>
          <p:nvPr>
            <p:ph type="subTitle" idx="1"/>
          </p:nvPr>
        </p:nvSpPr>
        <p:spPr/>
        <p:txBody>
          <a:bodyPr/>
          <a:lstStyle/>
          <a:p>
            <a:r>
              <a:rPr lang="en-AU" dirty="0" smtClean="0"/>
              <a:t>Dr Natalie Kon-yu</a:t>
            </a:r>
            <a:endParaRPr lang="en-A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Gwen Harwood</a:t>
            </a:r>
            <a:endParaRPr lang="en-AU" dirty="0"/>
          </a:p>
        </p:txBody>
      </p:sp>
      <p:sp>
        <p:nvSpPr>
          <p:cNvPr id="3" name="Content Placeholder 2"/>
          <p:cNvSpPr>
            <a:spLocks noGrp="1"/>
          </p:cNvSpPr>
          <p:nvPr>
            <p:ph sz="quarter" idx="1"/>
          </p:nvPr>
        </p:nvSpPr>
        <p:spPr>
          <a:xfrm>
            <a:off x="457200" y="1600200"/>
            <a:ext cx="7467600" cy="5043510"/>
          </a:xfrm>
        </p:spPr>
        <p:txBody>
          <a:bodyPr/>
          <a:lstStyle/>
          <a:p>
            <a:r>
              <a:rPr lang="en-AU" dirty="0" smtClean="0"/>
              <a:t>Born Gwendoline Foster in Brisbane in 1920, Gwen Harwood is recognised nationally and internationally as one of Australia’s finest poets.  </a:t>
            </a:r>
          </a:p>
          <a:p>
            <a:pPr>
              <a:buNone/>
            </a:pPr>
            <a:endParaRPr lang="en-AU" dirty="0" smtClean="0"/>
          </a:p>
          <a:p>
            <a:r>
              <a:rPr lang="en-AU" dirty="0" smtClean="0"/>
              <a:t>Part of this recognition comes from the fact that she writes poetry that is able to speak to a broad audience, yet that also is highly allusive, deeply metaphorical (as well as intertextual) and open to a variety of interpretations.</a:t>
            </a:r>
          </a:p>
          <a:p>
            <a:pPr>
              <a:buNone/>
            </a:pPr>
            <a:endParaRPr lang="en-AU" dirty="0" smtClean="0"/>
          </a:p>
          <a:p>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Gwen Harwood</a:t>
            </a:r>
            <a:endParaRPr lang="en-AU" dirty="0"/>
          </a:p>
        </p:txBody>
      </p:sp>
      <p:sp>
        <p:nvSpPr>
          <p:cNvPr id="3" name="Content Placeholder 2"/>
          <p:cNvSpPr>
            <a:spLocks noGrp="1"/>
          </p:cNvSpPr>
          <p:nvPr>
            <p:ph sz="quarter" idx="1"/>
          </p:nvPr>
        </p:nvSpPr>
        <p:spPr/>
        <p:txBody>
          <a:bodyPr>
            <a:normAutofit/>
          </a:bodyPr>
          <a:lstStyle/>
          <a:p>
            <a:r>
              <a:rPr lang="en-AU" sz="2800" dirty="0" smtClean="0"/>
              <a:t>Her experiences as a wife and mother growing up in conservative Australia in the 1950s also has a big impact on her work, with many poems touching upon themes that are domestic and ordinary.</a:t>
            </a:r>
          </a:p>
          <a:p>
            <a:endParaRPr lang="en-AU" sz="2800" dirty="0" smtClean="0"/>
          </a:p>
          <a:p>
            <a:r>
              <a:rPr lang="en-AU" sz="2800" dirty="0" smtClean="0"/>
              <a:t>It could be for this reason that her poetry continues to attract such a wide readership. </a:t>
            </a:r>
            <a:endParaRPr lang="en-AU"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Collections of Harwood’s Work</a:t>
            </a:r>
            <a:endParaRPr lang="en-AU" dirty="0"/>
          </a:p>
        </p:txBody>
      </p:sp>
      <p:sp>
        <p:nvSpPr>
          <p:cNvPr id="3" name="Content Placeholder 2"/>
          <p:cNvSpPr>
            <a:spLocks noGrp="1"/>
          </p:cNvSpPr>
          <p:nvPr>
            <p:ph sz="quarter" idx="1"/>
          </p:nvPr>
        </p:nvSpPr>
        <p:spPr/>
        <p:txBody>
          <a:bodyPr>
            <a:normAutofit fontScale="92500" lnSpcReduction="10000"/>
          </a:bodyPr>
          <a:lstStyle/>
          <a:p>
            <a:r>
              <a:rPr lang="en-AU" dirty="0" smtClean="0"/>
              <a:t>Harwood published six collections of her poetry in her life-time:</a:t>
            </a:r>
          </a:p>
          <a:p>
            <a:r>
              <a:rPr lang="en-AU" i="1" dirty="0" smtClean="0"/>
              <a:t>Poems </a:t>
            </a:r>
            <a:r>
              <a:rPr lang="en-AU" dirty="0" smtClean="0"/>
              <a:t>(1963)</a:t>
            </a:r>
          </a:p>
          <a:p>
            <a:r>
              <a:rPr lang="en-AU" i="1" dirty="0" smtClean="0"/>
              <a:t>Poems Volume II </a:t>
            </a:r>
            <a:r>
              <a:rPr lang="en-AU" dirty="0" smtClean="0"/>
              <a:t>(1968)</a:t>
            </a:r>
          </a:p>
          <a:p>
            <a:r>
              <a:rPr lang="en-AU" i="1" dirty="0" smtClean="0"/>
              <a:t>Selected Poems </a:t>
            </a:r>
            <a:r>
              <a:rPr lang="en-AU" dirty="0" smtClean="0"/>
              <a:t>or </a:t>
            </a:r>
            <a:r>
              <a:rPr lang="en-AU" i="1" dirty="0" smtClean="0"/>
              <a:t>Poems 1969-1974 </a:t>
            </a:r>
            <a:r>
              <a:rPr lang="en-AU" dirty="0" smtClean="0"/>
              <a:t>(1975)</a:t>
            </a:r>
          </a:p>
          <a:p>
            <a:r>
              <a:rPr lang="en-AU" i="1" dirty="0" smtClean="0"/>
              <a:t>The Lion’s Bride </a:t>
            </a:r>
            <a:r>
              <a:rPr lang="en-AU" dirty="0" smtClean="0"/>
              <a:t>(1981)</a:t>
            </a:r>
          </a:p>
          <a:p>
            <a:r>
              <a:rPr lang="en-AU" i="1" dirty="0" smtClean="0"/>
              <a:t>Bone Scan </a:t>
            </a:r>
            <a:r>
              <a:rPr lang="en-AU" dirty="0" smtClean="0"/>
              <a:t>(1988)</a:t>
            </a:r>
          </a:p>
          <a:p>
            <a:r>
              <a:rPr lang="en-AU" i="1" dirty="0" smtClean="0"/>
              <a:t>The Present Tense</a:t>
            </a:r>
            <a:r>
              <a:rPr lang="en-AU" dirty="0" smtClean="0"/>
              <a:t> (1995)</a:t>
            </a:r>
          </a:p>
          <a:p>
            <a:endParaRPr lang="en-AU" dirty="0" smtClean="0"/>
          </a:p>
          <a:p>
            <a:r>
              <a:rPr lang="en-AU" dirty="0" smtClean="0"/>
              <a:t>She died in 1995, and subsequent editions of her work have appeared with </a:t>
            </a:r>
            <a:r>
              <a:rPr lang="en-AU" i="1" dirty="0" smtClean="0"/>
              <a:t>Gwen Harwood – Collected Poems 1943-1995 </a:t>
            </a:r>
            <a:r>
              <a:rPr lang="en-AU" dirty="0" smtClean="0"/>
              <a:t>being the most comprehensive collection of her work</a:t>
            </a:r>
            <a:endParaRPr lang="en-AU" i="1" dirty="0" smtClean="0"/>
          </a:p>
          <a:p>
            <a:endParaRPr lang="en-A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Form in Harwood’s Poems</a:t>
            </a:r>
            <a:endParaRPr lang="en-AU" dirty="0"/>
          </a:p>
        </p:txBody>
      </p:sp>
      <p:sp>
        <p:nvSpPr>
          <p:cNvPr id="3" name="Content Placeholder 2"/>
          <p:cNvSpPr>
            <a:spLocks noGrp="1"/>
          </p:cNvSpPr>
          <p:nvPr>
            <p:ph sz="quarter" idx="1"/>
          </p:nvPr>
        </p:nvSpPr>
        <p:spPr/>
        <p:txBody>
          <a:bodyPr/>
          <a:lstStyle/>
          <a:p>
            <a:r>
              <a:rPr lang="en-AU" dirty="0" smtClean="0"/>
              <a:t>Although written in an era where Free Verse was commonly employed, Harwood’s work is highly formal.  </a:t>
            </a:r>
          </a:p>
          <a:p>
            <a:endParaRPr lang="en-AU" dirty="0" smtClean="0"/>
          </a:p>
          <a:p>
            <a:r>
              <a:rPr lang="en-AU" dirty="0" smtClean="0"/>
              <a:t>She writes many fourteen line poems, and experiments widely with topic, but also with metre, rhyme and rhythm.</a:t>
            </a:r>
          </a:p>
          <a:p>
            <a:endParaRPr lang="en-AU" dirty="0" smtClean="0"/>
          </a:p>
          <a:p>
            <a:r>
              <a:rPr lang="en-AU" dirty="0" smtClean="0"/>
              <a:t>She doesn’t always follow the rhyme scheme of the English (or Shakespearian) or the Italian (or Petrarchen) Sonnet, but deviates from these forms.</a:t>
            </a:r>
          </a:p>
          <a:p>
            <a:endParaRPr lang="en-AU"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Form in Harwood’s Poems</a:t>
            </a:r>
            <a:endParaRPr lang="en-AU" dirty="0"/>
          </a:p>
        </p:txBody>
      </p:sp>
      <p:sp>
        <p:nvSpPr>
          <p:cNvPr id="3" name="Content Placeholder 2"/>
          <p:cNvSpPr>
            <a:spLocks noGrp="1"/>
          </p:cNvSpPr>
          <p:nvPr>
            <p:ph sz="quarter" idx="1"/>
          </p:nvPr>
        </p:nvSpPr>
        <p:spPr/>
        <p:txBody>
          <a:bodyPr/>
          <a:lstStyle/>
          <a:p>
            <a:r>
              <a:rPr lang="en-AU" dirty="0" smtClean="0"/>
              <a:t>Harwood also experiments with rhyme and meter, often avoiding pentameter, and using less obvious feet such as tetrameter (</a:t>
            </a:r>
            <a:r>
              <a:rPr lang="en-AU" dirty="0" smtClean="0"/>
              <a:t>four </a:t>
            </a:r>
            <a:r>
              <a:rPr lang="en-AU" dirty="0" smtClean="0"/>
              <a:t>feet) and hexameter (six feet). </a:t>
            </a:r>
          </a:p>
          <a:p>
            <a:endParaRPr lang="en-AU" dirty="0" smtClean="0"/>
          </a:p>
          <a:p>
            <a:r>
              <a:rPr lang="en-AU" dirty="0" smtClean="0"/>
              <a:t>As Hodinott and Kratzmann write Harwood ‘plays with a traditional form such as the sonnet, the ballad or the fourteen line Pushkin stanza or invents her own variant of an intricately rhyming stanzaic form” (xxv)</a:t>
            </a:r>
          </a:p>
          <a:p>
            <a:endParaRPr lang="en-AU" dirty="0" smtClean="0"/>
          </a:p>
          <a:p>
            <a:endParaRPr lang="en-AU" dirty="0" smtClean="0"/>
          </a:p>
          <a:p>
            <a:endParaRPr lang="en-AU" dirty="0" smtClean="0"/>
          </a:p>
          <a:p>
            <a:endParaRPr lang="en-A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42852"/>
            <a:ext cx="8186766" cy="6500858"/>
          </a:xfrm>
        </p:spPr>
        <p:txBody>
          <a:bodyPr>
            <a:normAutofit fontScale="92500" lnSpcReduction="20000"/>
          </a:bodyPr>
          <a:lstStyle/>
          <a:p>
            <a:endParaRPr lang="en-AU" dirty="0" smtClean="0"/>
          </a:p>
          <a:p>
            <a:pPr>
              <a:buNone/>
            </a:pPr>
            <a:r>
              <a:rPr lang="en-AU" dirty="0" smtClean="0"/>
              <a:t>	</a:t>
            </a:r>
            <a:r>
              <a:rPr lang="en-AU" b="1" dirty="0" smtClean="0"/>
              <a:t>Home of Mercy (1963)</a:t>
            </a:r>
          </a:p>
          <a:p>
            <a:pPr>
              <a:buNone/>
            </a:pPr>
            <a:endParaRPr lang="en-AU" b="1" dirty="0" smtClean="0"/>
          </a:p>
          <a:p>
            <a:pPr>
              <a:buNone/>
            </a:pPr>
            <a:r>
              <a:rPr lang="en-AU" dirty="0" smtClean="0"/>
              <a:t>	By two and two the ruined girls are walking</a:t>
            </a:r>
            <a:br>
              <a:rPr lang="en-AU" dirty="0" smtClean="0"/>
            </a:br>
            <a:r>
              <a:rPr lang="en-AU" dirty="0" smtClean="0"/>
              <a:t>at the neat margin of the convent grass</a:t>
            </a:r>
            <a:br>
              <a:rPr lang="en-AU" dirty="0" smtClean="0"/>
            </a:br>
            <a:r>
              <a:rPr lang="en-AU" dirty="0" smtClean="0"/>
              <a:t>into the chapel, counted as they pass</a:t>
            </a:r>
            <a:br>
              <a:rPr lang="en-AU" dirty="0" smtClean="0"/>
            </a:br>
            <a:r>
              <a:rPr lang="en-AU" dirty="0" smtClean="0"/>
              <a:t>by an old nun who silences their talking.	</a:t>
            </a:r>
          </a:p>
          <a:p>
            <a:pPr>
              <a:buNone/>
            </a:pPr>
            <a:r>
              <a:rPr lang="en-AU" dirty="0" smtClean="0"/>
              <a:t>						</a:t>
            </a:r>
          </a:p>
          <a:p>
            <a:pPr>
              <a:buNone/>
            </a:pPr>
            <a:r>
              <a:rPr lang="en-AU" dirty="0" smtClean="0"/>
              <a:t>	They smooth with roughened hands the clumsy dress</a:t>
            </a:r>
            <a:br>
              <a:rPr lang="en-AU" dirty="0" smtClean="0"/>
            </a:br>
            <a:r>
              <a:rPr lang="en-AU" dirty="0" smtClean="0"/>
              <a:t>that hides their ripening bodies. Memories burn</a:t>
            </a:r>
            <a:br>
              <a:rPr lang="en-AU" dirty="0" smtClean="0"/>
            </a:br>
            <a:r>
              <a:rPr lang="en-AU" dirty="0" smtClean="0"/>
              <a:t>like incense as towards plaster saints they turn</a:t>
            </a:r>
            <a:br>
              <a:rPr lang="en-AU" dirty="0" smtClean="0"/>
            </a:br>
            <a:r>
              <a:rPr lang="en-AU" dirty="0" smtClean="0"/>
              <a:t>faces of mischievous children in distress.</a:t>
            </a:r>
          </a:p>
          <a:p>
            <a:pPr>
              <a:buNone/>
            </a:pPr>
            <a:endParaRPr lang="en-AU" dirty="0" smtClean="0"/>
          </a:p>
          <a:p>
            <a:pPr>
              <a:buNone/>
            </a:pPr>
            <a:r>
              <a:rPr lang="en-AU" dirty="0" smtClean="0"/>
              <a:t>	They kneel: time for the spirit to begin</a:t>
            </a:r>
            <a:br>
              <a:rPr lang="en-AU" dirty="0" smtClean="0"/>
            </a:br>
            <a:r>
              <a:rPr lang="en-AU" dirty="0" smtClean="0"/>
              <a:t>with prayer its sad recourse to dream and flight</a:t>
            </a:r>
            <a:br>
              <a:rPr lang="en-AU" dirty="0" smtClean="0"/>
            </a:br>
            <a:r>
              <a:rPr lang="en-AU" dirty="0" smtClean="0"/>
              <a:t>from their intolerable weekday rigour</a:t>
            </a:r>
          </a:p>
          <a:p>
            <a:pPr>
              <a:buNone/>
            </a:pPr>
            <a:r>
              <a:rPr lang="en-AU" dirty="0" smtClean="0"/>
              <a:t>	Each morning they will launder, for their sin,</a:t>
            </a:r>
            <a:br>
              <a:rPr lang="en-AU" dirty="0" smtClean="0"/>
            </a:br>
            <a:r>
              <a:rPr lang="en-AU" dirty="0" smtClean="0"/>
              <a:t>sheets soiled by other bodies, and at night</a:t>
            </a:r>
            <a:br>
              <a:rPr lang="en-AU" dirty="0" smtClean="0"/>
            </a:br>
            <a:r>
              <a:rPr lang="en-AU" dirty="0" smtClean="0"/>
              <a:t>angels will wrestle them with brutish vigour. </a:t>
            </a:r>
          </a:p>
          <a:p>
            <a:pPr>
              <a:buNone/>
            </a:pPr>
            <a:r>
              <a:rPr lang="en-AU" dirty="0" smtClean="0"/>
              <a:t> </a:t>
            </a:r>
          </a:p>
          <a:p>
            <a:endParaRPr lang="en-AU" dirty="0" smtClean="0"/>
          </a:p>
          <a:p>
            <a:endParaRPr lang="en-AU"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Reading the Poem</a:t>
            </a:r>
            <a:endParaRPr lang="en-AU" dirty="0"/>
          </a:p>
        </p:txBody>
      </p:sp>
      <p:sp>
        <p:nvSpPr>
          <p:cNvPr id="3" name="Content Placeholder 2"/>
          <p:cNvSpPr>
            <a:spLocks noGrp="1"/>
          </p:cNvSpPr>
          <p:nvPr>
            <p:ph sz="quarter" idx="1"/>
          </p:nvPr>
        </p:nvSpPr>
        <p:spPr/>
        <p:txBody>
          <a:bodyPr/>
          <a:lstStyle/>
          <a:p>
            <a:r>
              <a:rPr lang="en-AU" dirty="0" smtClean="0"/>
              <a:t>What is the tone of the poem?</a:t>
            </a:r>
          </a:p>
          <a:p>
            <a:endParaRPr lang="en-AU" dirty="0" smtClean="0"/>
          </a:p>
          <a:p>
            <a:r>
              <a:rPr lang="en-AU" dirty="0" smtClean="0"/>
              <a:t>What is the poem about?</a:t>
            </a:r>
          </a:p>
          <a:p>
            <a:endParaRPr lang="en-AU" dirty="0" smtClean="0"/>
          </a:p>
          <a:p>
            <a:r>
              <a:rPr lang="en-AU" dirty="0" smtClean="0"/>
              <a:t>How do we know?</a:t>
            </a:r>
          </a:p>
          <a:p>
            <a:endParaRPr lang="en-AU" dirty="0" smtClean="0"/>
          </a:p>
          <a:p>
            <a:r>
              <a:rPr lang="en-AU" dirty="0" smtClean="0"/>
              <a:t>Does the poem have a formal structure, and, if so, what is it?</a:t>
            </a:r>
          </a:p>
          <a:p>
            <a:endParaRPr lang="en-AU" dirty="0" smtClean="0"/>
          </a:p>
          <a:p>
            <a:r>
              <a:rPr lang="en-AU" dirty="0" smtClean="0"/>
              <a:t>How does the form influence the meaning of the poem?</a:t>
            </a:r>
            <a:endParaRPr lang="en-A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14290"/>
            <a:ext cx="7901014" cy="6357982"/>
          </a:xfrm>
        </p:spPr>
        <p:txBody>
          <a:bodyPr>
            <a:normAutofit fontScale="92500" lnSpcReduction="10000"/>
          </a:bodyPr>
          <a:lstStyle/>
          <a:p>
            <a:pPr>
              <a:buNone/>
            </a:pPr>
            <a:r>
              <a:rPr lang="en-AU" dirty="0" smtClean="0"/>
              <a:t>	</a:t>
            </a:r>
          </a:p>
          <a:p>
            <a:pPr>
              <a:buNone/>
            </a:pPr>
            <a:r>
              <a:rPr lang="en-AU" dirty="0" smtClean="0"/>
              <a:t>	</a:t>
            </a:r>
            <a:r>
              <a:rPr lang="en-AU" b="1" dirty="0" smtClean="0"/>
              <a:t>In the Park </a:t>
            </a:r>
            <a:r>
              <a:rPr lang="en-AU" dirty="0" smtClean="0"/>
              <a:t> </a:t>
            </a:r>
            <a:r>
              <a:rPr lang="en-AU" b="1" dirty="0" smtClean="0"/>
              <a:t>(1963)</a:t>
            </a:r>
          </a:p>
          <a:p>
            <a:pPr>
              <a:buNone/>
            </a:pPr>
            <a:endParaRPr lang="en-AU" dirty="0" smtClean="0"/>
          </a:p>
          <a:p>
            <a:pPr>
              <a:buNone/>
            </a:pPr>
            <a:r>
              <a:rPr lang="en-AU" dirty="0" smtClean="0"/>
              <a:t>	She sits in the park. Her clothes are out of date.</a:t>
            </a:r>
            <a:br>
              <a:rPr lang="en-AU" dirty="0" smtClean="0"/>
            </a:br>
            <a:r>
              <a:rPr lang="en-AU" dirty="0" smtClean="0"/>
              <a:t>Two children whine and bicker, tug her skirt.</a:t>
            </a:r>
            <a:br>
              <a:rPr lang="en-AU" dirty="0" smtClean="0"/>
            </a:br>
            <a:r>
              <a:rPr lang="en-AU" dirty="0" smtClean="0"/>
              <a:t>A third draws aimless patterns in the dirt</a:t>
            </a:r>
            <a:br>
              <a:rPr lang="en-AU" dirty="0" smtClean="0"/>
            </a:br>
            <a:r>
              <a:rPr lang="en-AU" dirty="0" smtClean="0"/>
              <a:t>Someone she loved once passed by – too late</a:t>
            </a:r>
            <a:br>
              <a:rPr lang="en-AU" dirty="0" smtClean="0"/>
            </a:br>
            <a:r>
              <a:rPr lang="en-AU" dirty="0" smtClean="0"/>
              <a:t/>
            </a:r>
            <a:br>
              <a:rPr lang="en-AU" dirty="0" smtClean="0"/>
            </a:br>
            <a:r>
              <a:rPr lang="en-AU" dirty="0" smtClean="0"/>
              <a:t>to feign indifference to that casual nod.</a:t>
            </a:r>
            <a:br>
              <a:rPr lang="en-AU" dirty="0" smtClean="0"/>
            </a:br>
            <a:r>
              <a:rPr lang="en-AU" dirty="0" smtClean="0"/>
              <a:t>“How nice” et cetera. “Time holds great surprises.”</a:t>
            </a:r>
            <a:br>
              <a:rPr lang="en-AU" dirty="0" smtClean="0"/>
            </a:br>
            <a:r>
              <a:rPr lang="en-AU" dirty="0" smtClean="0"/>
              <a:t>From his neat head unquestionably rises</a:t>
            </a:r>
            <a:br>
              <a:rPr lang="en-AU" dirty="0" smtClean="0"/>
            </a:br>
            <a:r>
              <a:rPr lang="en-AU" dirty="0" smtClean="0"/>
              <a:t>a small balloon…”but for the grace of God…”</a:t>
            </a:r>
            <a:br>
              <a:rPr lang="en-AU" dirty="0" smtClean="0"/>
            </a:br>
            <a:r>
              <a:rPr lang="en-AU" dirty="0" smtClean="0"/>
              <a:t/>
            </a:r>
            <a:br>
              <a:rPr lang="en-AU" dirty="0" smtClean="0"/>
            </a:br>
            <a:r>
              <a:rPr lang="en-AU" dirty="0" smtClean="0"/>
              <a:t>They stand a while in flickering light, rehearsing</a:t>
            </a:r>
            <a:br>
              <a:rPr lang="en-AU" dirty="0" smtClean="0"/>
            </a:br>
            <a:r>
              <a:rPr lang="en-AU" dirty="0" smtClean="0"/>
              <a:t>the children’s names and birthdays. “It’s so sweet</a:t>
            </a:r>
            <a:br>
              <a:rPr lang="en-AU" dirty="0" smtClean="0"/>
            </a:br>
            <a:r>
              <a:rPr lang="en-AU" dirty="0" smtClean="0"/>
              <a:t>to hear their chatter, watch them grow and thrive, ”</a:t>
            </a:r>
            <a:br>
              <a:rPr lang="en-AU" dirty="0" smtClean="0"/>
            </a:br>
            <a:r>
              <a:rPr lang="en-AU" dirty="0" smtClean="0"/>
              <a:t>she says to his departing smile. Then, nursing</a:t>
            </a:r>
            <a:br>
              <a:rPr lang="en-AU" dirty="0" smtClean="0"/>
            </a:br>
            <a:r>
              <a:rPr lang="en-AU" dirty="0" smtClean="0"/>
              <a:t>the youngest child, sits staring at her feet.</a:t>
            </a:r>
            <a:br>
              <a:rPr lang="en-AU" dirty="0" smtClean="0"/>
            </a:br>
            <a:r>
              <a:rPr lang="en-AU" dirty="0" smtClean="0"/>
              <a:t>To the wind she says, “They have eaten me alive.” </a:t>
            </a:r>
            <a:br>
              <a:rPr lang="en-AU" dirty="0" smtClean="0"/>
            </a:br>
            <a:endParaRPr lang="en-A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Reading the Poem</a:t>
            </a:r>
            <a:endParaRPr lang="en-AU" dirty="0"/>
          </a:p>
        </p:txBody>
      </p:sp>
      <p:sp>
        <p:nvSpPr>
          <p:cNvPr id="3" name="Content Placeholder 2"/>
          <p:cNvSpPr>
            <a:spLocks noGrp="1"/>
          </p:cNvSpPr>
          <p:nvPr>
            <p:ph sz="quarter" idx="1"/>
          </p:nvPr>
        </p:nvSpPr>
        <p:spPr/>
        <p:txBody>
          <a:bodyPr/>
          <a:lstStyle/>
          <a:p>
            <a:r>
              <a:rPr lang="en-AU" dirty="0" smtClean="0"/>
              <a:t>What is the tone of the poem?</a:t>
            </a:r>
          </a:p>
          <a:p>
            <a:endParaRPr lang="en-AU" dirty="0" smtClean="0"/>
          </a:p>
          <a:p>
            <a:r>
              <a:rPr lang="en-AU" dirty="0" smtClean="0"/>
              <a:t>What is the poem about?</a:t>
            </a:r>
          </a:p>
          <a:p>
            <a:endParaRPr lang="en-AU" dirty="0" smtClean="0"/>
          </a:p>
          <a:p>
            <a:r>
              <a:rPr lang="en-AU" dirty="0" smtClean="0"/>
              <a:t>How do we know?</a:t>
            </a:r>
          </a:p>
          <a:p>
            <a:endParaRPr lang="en-AU" dirty="0" smtClean="0"/>
          </a:p>
          <a:p>
            <a:r>
              <a:rPr lang="en-AU" dirty="0" smtClean="0"/>
              <a:t>Does the poem have a formal structure, and, if so, what is it?</a:t>
            </a:r>
          </a:p>
          <a:p>
            <a:endParaRPr lang="en-AU" dirty="0" smtClean="0"/>
          </a:p>
          <a:p>
            <a:r>
              <a:rPr lang="en-AU" dirty="0" smtClean="0"/>
              <a:t>How does the form influence the meaning of the poem?</a:t>
            </a:r>
          </a:p>
          <a:p>
            <a:endParaRPr lang="en-A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 note on the Poems</a:t>
            </a:r>
            <a:endParaRPr lang="en-AU" dirty="0"/>
          </a:p>
        </p:txBody>
      </p:sp>
      <p:sp>
        <p:nvSpPr>
          <p:cNvPr id="3" name="Content Placeholder 2"/>
          <p:cNvSpPr>
            <a:spLocks noGrp="1"/>
          </p:cNvSpPr>
          <p:nvPr>
            <p:ph sz="quarter" idx="1"/>
          </p:nvPr>
        </p:nvSpPr>
        <p:spPr/>
        <p:txBody>
          <a:bodyPr>
            <a:normAutofit lnSpcReduction="10000"/>
          </a:bodyPr>
          <a:lstStyle/>
          <a:p>
            <a:r>
              <a:rPr lang="en-AU" dirty="0" smtClean="0"/>
              <a:t>These poems are written in sonnet form – most obviously the Petrarchen form.  </a:t>
            </a:r>
          </a:p>
          <a:p>
            <a:endParaRPr lang="en-AU" dirty="0" smtClean="0"/>
          </a:p>
          <a:p>
            <a:r>
              <a:rPr lang="en-AU" dirty="0" smtClean="0"/>
              <a:t>The Petrarchen sonnet is usually reserved for poems of love and devotion; how do these two poems fit into that definition?  How do they challenge it?</a:t>
            </a:r>
          </a:p>
          <a:p>
            <a:endParaRPr lang="en-AU" dirty="0" smtClean="0"/>
          </a:p>
          <a:p>
            <a:r>
              <a:rPr lang="en-AU" dirty="0" smtClean="0"/>
              <a:t>These poems were not published under the name Gwen Harwood, but rather under one of Harwood’s pseudonyms, Walter Lehmann.  Why would Harwood use a false name for these two works?</a:t>
            </a:r>
            <a:endParaRPr lang="en-A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Walter Lehmann, Francis Geyer, Miriam Stone and Timothy Kline</a:t>
            </a:r>
            <a:endParaRPr lang="en-AU" dirty="0"/>
          </a:p>
        </p:txBody>
      </p:sp>
      <p:sp>
        <p:nvSpPr>
          <p:cNvPr id="3" name="Content Placeholder 2"/>
          <p:cNvSpPr>
            <a:spLocks noGrp="1"/>
          </p:cNvSpPr>
          <p:nvPr>
            <p:ph sz="quarter" idx="1"/>
          </p:nvPr>
        </p:nvSpPr>
        <p:spPr/>
        <p:txBody>
          <a:bodyPr>
            <a:normAutofit lnSpcReduction="10000"/>
          </a:bodyPr>
          <a:lstStyle/>
          <a:p>
            <a:r>
              <a:rPr lang="en-AU" dirty="0" smtClean="0"/>
              <a:t>The above names are all names under which Harwood sent out work for publication.</a:t>
            </a:r>
          </a:p>
          <a:p>
            <a:endParaRPr lang="en-AU" dirty="0" smtClean="0"/>
          </a:p>
          <a:p>
            <a:r>
              <a:rPr lang="en-AU" dirty="0" smtClean="0"/>
              <a:t>They list includes three male names and one female.  ‘In the Park’ was sent out under Lehman’s name in 1961.</a:t>
            </a:r>
          </a:p>
          <a:p>
            <a:endParaRPr lang="en-AU" dirty="0" smtClean="0"/>
          </a:p>
          <a:p>
            <a:r>
              <a:rPr lang="en-AU" dirty="0" smtClean="0"/>
              <a:t>When Harwood used her pseudonyms, she did so for good reason.  Part of her agenda was to show the ways in which poems by men, even bad ones, were often favoured by editors of literary magazines at the time.</a:t>
            </a:r>
          </a:p>
          <a:p>
            <a:pPr>
              <a:buNone/>
            </a:pPr>
            <a:r>
              <a:rPr lang="en-AU" dirty="0" smtClean="0"/>
              <a:t> </a:t>
            </a:r>
            <a:endParaRPr lang="en-AU"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214290"/>
            <a:ext cx="8358246" cy="6357982"/>
          </a:xfrm>
        </p:spPr>
        <p:txBody>
          <a:bodyPr>
            <a:normAutofit fontScale="92500" lnSpcReduction="20000"/>
          </a:bodyPr>
          <a:lstStyle/>
          <a:p>
            <a:pPr>
              <a:buNone/>
            </a:pPr>
            <a:r>
              <a:rPr lang="en-AU" dirty="0" smtClean="0"/>
              <a:t>	</a:t>
            </a:r>
            <a:r>
              <a:rPr lang="en-AU" b="1" dirty="0" smtClean="0"/>
              <a:t>Eloisa to Abelard (1961)</a:t>
            </a:r>
          </a:p>
          <a:p>
            <a:pPr>
              <a:buNone/>
            </a:pPr>
            <a:r>
              <a:rPr lang="en-AU" dirty="0" smtClean="0"/>
              <a:t>	</a:t>
            </a:r>
          </a:p>
          <a:p>
            <a:pPr>
              <a:buNone/>
            </a:pPr>
            <a:r>
              <a:rPr lang="en-AU" dirty="0" smtClean="0"/>
              <a:t>	Solace and hope depart.  God’s finger traces</a:t>
            </a:r>
          </a:p>
          <a:p>
            <a:pPr>
              <a:buNone/>
            </a:pPr>
            <a:r>
              <a:rPr lang="en-AU" dirty="0" smtClean="0"/>
              <a:t>	On fields of frozen darkness: You shall find</a:t>
            </a:r>
          </a:p>
          <a:p>
            <a:pPr>
              <a:buNone/>
            </a:pPr>
            <a:r>
              <a:rPr lang="en-AU" dirty="0" smtClean="0"/>
              <a:t>	Loss, absence, nothing.  Walking on the wind</a:t>
            </a:r>
          </a:p>
          <a:p>
            <a:pPr>
              <a:buNone/>
            </a:pPr>
            <a:r>
              <a:rPr lang="en-AU" dirty="0" smtClean="0"/>
              <a:t>	Our Lord speaks to a crowd of foolish faces,</a:t>
            </a:r>
          </a:p>
          <a:p>
            <a:pPr>
              <a:buNone/>
            </a:pPr>
            <a:endParaRPr lang="en-AU" dirty="0" smtClean="0"/>
          </a:p>
          <a:p>
            <a:pPr>
              <a:buNone/>
            </a:pPr>
            <a:r>
              <a:rPr lang="en-AU" dirty="0" smtClean="0"/>
              <a:t>	No face that is not mine, while filtering through</a:t>
            </a:r>
          </a:p>
          <a:p>
            <a:pPr>
              <a:buNone/>
            </a:pPr>
            <a:r>
              <a:rPr lang="en-AU" dirty="0" smtClean="0"/>
              <a:t>	Gaps, honeycombs of memories you seem</a:t>
            </a:r>
          </a:p>
          <a:p>
            <a:pPr>
              <a:buNone/>
            </a:pPr>
            <a:r>
              <a:rPr lang="en-AU" dirty="0" smtClean="0"/>
              <a:t>	But the faint ghost of a remembered dream.</a:t>
            </a:r>
          </a:p>
          <a:p>
            <a:pPr>
              <a:buNone/>
            </a:pPr>
            <a:r>
              <a:rPr lang="en-AU" dirty="0" smtClean="0"/>
              <a:t>	Unveiled by pain, I bleed.  My wound is you.</a:t>
            </a:r>
          </a:p>
          <a:p>
            <a:pPr>
              <a:buNone/>
            </a:pPr>
            <a:endParaRPr lang="en-AU" dirty="0" smtClean="0"/>
          </a:p>
          <a:p>
            <a:pPr>
              <a:buNone/>
            </a:pPr>
            <a:r>
              <a:rPr lang="en-AU" dirty="0" smtClean="0"/>
              <a:t>	Lost in the well of space, my spirit hears</a:t>
            </a:r>
          </a:p>
          <a:p>
            <a:pPr>
              <a:buNone/>
            </a:pPr>
            <a:r>
              <a:rPr lang="en-AU" dirty="0" smtClean="0"/>
              <a:t>	“</a:t>
            </a:r>
            <a:r>
              <a:rPr lang="en-AU" i="1" dirty="0" smtClean="0"/>
              <a:t>Lucis creator optime …”</a:t>
            </a:r>
            <a:r>
              <a:rPr lang="en-AU" dirty="0" smtClean="0"/>
              <a:t> The choir </a:t>
            </a:r>
          </a:p>
          <a:p>
            <a:pPr>
              <a:buNone/>
            </a:pPr>
            <a:r>
              <a:rPr lang="en-AU" dirty="0" smtClean="0"/>
              <a:t>	Entreats God, out of tune.  I join my voice </a:t>
            </a:r>
          </a:p>
          <a:p>
            <a:pPr>
              <a:buNone/>
            </a:pPr>
            <a:r>
              <a:rPr lang="en-AU" dirty="0" smtClean="0"/>
              <a:t>	To theirs.  Nightfall’s immense.  I taste my tears.</a:t>
            </a:r>
          </a:p>
          <a:p>
            <a:pPr>
              <a:buNone/>
            </a:pPr>
            <a:r>
              <a:rPr lang="en-AU" dirty="0" smtClean="0"/>
              <a:t>	I reap the harvest of my own desire.</a:t>
            </a:r>
          </a:p>
          <a:p>
            <a:pPr>
              <a:buNone/>
            </a:pPr>
            <a:r>
              <a:rPr lang="en-AU" dirty="0" smtClean="0"/>
              <a:t>	No heart escapes the torment of its choice.  </a:t>
            </a:r>
            <a:endParaRPr lang="en-AU"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214290"/>
            <a:ext cx="8286808" cy="6429420"/>
          </a:xfrm>
        </p:spPr>
        <p:txBody>
          <a:bodyPr>
            <a:normAutofit fontScale="92500" lnSpcReduction="20000"/>
          </a:bodyPr>
          <a:lstStyle/>
          <a:p>
            <a:pPr>
              <a:buNone/>
            </a:pPr>
            <a:r>
              <a:rPr lang="en-AU" b="1" dirty="0" smtClean="0"/>
              <a:t>	Abelard to Eloisa (1961)</a:t>
            </a:r>
          </a:p>
          <a:p>
            <a:pPr>
              <a:buNone/>
            </a:pPr>
            <a:endParaRPr lang="en-AU" b="1" dirty="0" smtClean="0"/>
          </a:p>
          <a:p>
            <a:pPr>
              <a:buNone/>
            </a:pPr>
            <a:r>
              <a:rPr lang="en-AU" b="1" dirty="0" smtClean="0"/>
              <a:t>	</a:t>
            </a:r>
            <a:r>
              <a:rPr lang="en-AU" dirty="0" smtClean="0"/>
              <a:t>Far above memory’s landscape let the fears</a:t>
            </a:r>
          </a:p>
          <a:p>
            <a:pPr>
              <a:buNone/>
            </a:pPr>
            <a:r>
              <a:rPr lang="en-AU" b="1" dirty="0" smtClean="0"/>
              <a:t>	</a:t>
            </a:r>
            <a:r>
              <a:rPr lang="en-AU" dirty="0" smtClean="0"/>
              <a:t>Unlatched from thundering valleys of your mind</a:t>
            </a:r>
          </a:p>
          <a:p>
            <a:pPr>
              <a:buNone/>
            </a:pPr>
            <a:r>
              <a:rPr lang="en-AU" dirty="0" smtClean="0"/>
              <a:t>	Carry their lightning.  Stare the sun up.  Find</a:t>
            </a:r>
          </a:p>
          <a:p>
            <a:pPr>
              <a:buNone/>
            </a:pPr>
            <a:r>
              <a:rPr lang="en-AU" dirty="0" smtClean="0"/>
              <a:t>	Kinetic heat to scorch your mist of tears.</a:t>
            </a:r>
          </a:p>
          <a:p>
            <a:pPr>
              <a:buNone/>
            </a:pPr>
            <a:endParaRPr lang="en-AU" dirty="0" smtClean="0"/>
          </a:p>
          <a:p>
            <a:pPr>
              <a:buNone/>
            </a:pPr>
            <a:r>
              <a:rPr lang="en-AU" dirty="0" smtClean="0"/>
              <a:t>	All that your vision limned by night appears</a:t>
            </a:r>
          </a:p>
          <a:p>
            <a:pPr>
              <a:buNone/>
            </a:pPr>
            <a:r>
              <a:rPr lang="en-AU" dirty="0" smtClean="0"/>
              <a:t>	Loose in dismembering air: think yourself blind.</a:t>
            </a:r>
          </a:p>
          <a:p>
            <a:pPr>
              <a:buNone/>
            </a:pPr>
            <a:r>
              <a:rPr lang="en-AU" dirty="0" smtClean="0"/>
              <a:t>	Louder that death in headlines the unkind</a:t>
            </a:r>
          </a:p>
          <a:p>
            <a:pPr>
              <a:buNone/>
            </a:pPr>
            <a:r>
              <a:rPr lang="en-AU" dirty="0" smtClean="0"/>
              <a:t>	Elements hawk my passion: stop your ears.</a:t>
            </a:r>
          </a:p>
          <a:p>
            <a:pPr>
              <a:buNone/>
            </a:pPr>
            <a:endParaRPr lang="en-AU" dirty="0" smtClean="0"/>
          </a:p>
          <a:p>
            <a:pPr>
              <a:buNone/>
            </a:pPr>
            <a:r>
              <a:rPr lang="en-AU" dirty="0" smtClean="0"/>
              <a:t>	Deny me now.  Be Doubting Thomas.  Thrust</a:t>
            </a:r>
          </a:p>
          <a:p>
            <a:pPr>
              <a:buNone/>
            </a:pPr>
            <a:r>
              <a:rPr lang="en-AU" dirty="0" smtClean="0"/>
              <a:t>	Into my side the finger of your grief.</a:t>
            </a:r>
          </a:p>
          <a:p>
            <a:pPr>
              <a:buNone/>
            </a:pPr>
            <a:r>
              <a:rPr lang="en-AU" dirty="0" smtClean="0"/>
              <a:t>	Tell me I’m an apparition frayed </a:t>
            </a:r>
          </a:p>
          <a:p>
            <a:pPr>
              <a:buNone/>
            </a:pPr>
            <a:r>
              <a:rPr lang="en-AU" dirty="0" smtClean="0"/>
              <a:t>	Out of the tattered winding sheet of lust	.</a:t>
            </a:r>
          </a:p>
          <a:p>
            <a:pPr>
              <a:buNone/>
            </a:pPr>
            <a:r>
              <a:rPr lang="en-AU" dirty="0" smtClean="0"/>
              <a:t>	Recall no ghost of love.  Let no belief	</a:t>
            </a:r>
          </a:p>
          <a:p>
            <a:pPr>
              <a:buNone/>
            </a:pPr>
            <a:r>
              <a:rPr lang="en-AU" dirty="0" smtClean="0"/>
              <a:t>	Summon me, fleshed and bleeding, from the shade.</a:t>
            </a:r>
          </a:p>
          <a:p>
            <a:pPr>
              <a:buNone/>
            </a:pPr>
            <a:endParaRPr lang="en-AU"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‘Tas Housewife Hoax of the Year’</a:t>
            </a:r>
            <a:endParaRPr lang="en-AU" dirty="0"/>
          </a:p>
        </p:txBody>
      </p:sp>
      <p:sp>
        <p:nvSpPr>
          <p:cNvPr id="3" name="Content Placeholder 2"/>
          <p:cNvSpPr>
            <a:spLocks noGrp="1"/>
          </p:cNvSpPr>
          <p:nvPr>
            <p:ph sz="quarter" idx="1"/>
          </p:nvPr>
        </p:nvSpPr>
        <p:spPr/>
        <p:txBody>
          <a:bodyPr>
            <a:normAutofit lnSpcReduction="10000"/>
          </a:bodyPr>
          <a:lstStyle/>
          <a:p>
            <a:r>
              <a:rPr lang="en-AU" dirty="0" smtClean="0"/>
              <a:t>Susan Sheridan writes that Harwood ‘had been waging a war with other male editors and fellow poets for some time . . .telling stories about how (editors) rejected poems she knew were good; or how they accepted and then lost poems; or kept them for months and then rejected them; or published them and neglected to send her the payment.’</a:t>
            </a:r>
          </a:p>
          <a:p>
            <a:r>
              <a:rPr lang="en-AU" dirty="0" smtClean="0"/>
              <a:t>‘Noting that poems of her male pseudonyms are welcomed more warmly – and sometimes paid at a better rate, Harwood’s complaint  . . . is most acute about the way women are excluded from informal networks.’</a:t>
            </a:r>
            <a:endParaRPr lang="en-A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‘Tas Housewife Hoax of the Year’</a:t>
            </a:r>
            <a:endParaRPr lang="en-AU" dirty="0"/>
          </a:p>
        </p:txBody>
      </p:sp>
      <p:sp>
        <p:nvSpPr>
          <p:cNvPr id="3" name="Content Placeholder 2"/>
          <p:cNvSpPr>
            <a:spLocks noGrp="1"/>
          </p:cNvSpPr>
          <p:nvPr>
            <p:ph sz="quarter" idx="1"/>
          </p:nvPr>
        </p:nvSpPr>
        <p:spPr>
          <a:xfrm>
            <a:off x="457200" y="1600200"/>
            <a:ext cx="8186766" cy="4900634"/>
          </a:xfrm>
        </p:spPr>
        <p:txBody>
          <a:bodyPr>
            <a:normAutofit fontScale="92500" lnSpcReduction="20000"/>
          </a:bodyPr>
          <a:lstStyle/>
          <a:p>
            <a:r>
              <a:rPr lang="en-AU" dirty="0" smtClean="0"/>
              <a:t>‘It was just a natural piece of mischief. I was talking to Hal Porter one day, and I said to him that a lot of people wouldn’t know a poem if it hit them. I bet him that I could drop a sonnet into the </a:t>
            </a:r>
            <a:r>
              <a:rPr lang="en-AU" i="1" dirty="0" smtClean="0"/>
              <a:t>Bulletin</a:t>
            </a:r>
            <a:r>
              <a:rPr lang="en-AU" dirty="0" smtClean="0"/>
              <a:t> with a foul acrostic in it, and they would publish it’ (Harwood).</a:t>
            </a:r>
          </a:p>
          <a:p>
            <a:endParaRPr lang="en-AU" dirty="0" smtClean="0"/>
          </a:p>
          <a:p>
            <a:r>
              <a:rPr lang="en-AU" dirty="0" smtClean="0"/>
              <a:t>‘The second reason is much more practical as Harwood believed that ‘lady poets’, as she called them, did not receive the same acceptance as males. She supported this statement by publishing under at least three male pseudonyms — Walter Lehmann, Francis Geyer and Timothy Kline — and claimed that she received far more invitations and favourable letters to her male pseudonyms than she ever did herself.’ (Atherton, 2002)</a:t>
            </a:r>
            <a:br>
              <a:rPr lang="en-AU" dirty="0" smtClean="0"/>
            </a:br>
            <a:r>
              <a:rPr lang="en-AU" dirty="0" smtClean="0"/>
              <a:t/>
            </a:r>
            <a:br>
              <a:rPr lang="en-AU" dirty="0" smtClean="0"/>
            </a:br>
            <a:endParaRPr lang="en-A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‘Tas Housewife Hoax of the Year’</a:t>
            </a:r>
            <a:endParaRPr lang="en-AU" dirty="0"/>
          </a:p>
        </p:txBody>
      </p:sp>
      <p:sp>
        <p:nvSpPr>
          <p:cNvPr id="3" name="Content Placeholder 2"/>
          <p:cNvSpPr>
            <a:spLocks noGrp="1"/>
          </p:cNvSpPr>
          <p:nvPr>
            <p:ph sz="quarter" idx="1"/>
          </p:nvPr>
        </p:nvSpPr>
        <p:spPr>
          <a:xfrm>
            <a:off x="457200" y="1600200"/>
            <a:ext cx="8186766" cy="4900634"/>
          </a:xfrm>
        </p:spPr>
        <p:txBody>
          <a:bodyPr>
            <a:normAutofit lnSpcReduction="10000"/>
          </a:bodyPr>
          <a:lstStyle/>
          <a:p>
            <a:r>
              <a:rPr lang="en-AU" dirty="0" smtClean="0"/>
              <a:t>‘The third reason’ Atherton writes ‘is much more calculated. Harwood had become disenchanted with her poetry being published in the </a:t>
            </a:r>
            <a:r>
              <a:rPr lang="en-AU" i="1" dirty="0" smtClean="0"/>
              <a:t>Bulletin</a:t>
            </a:r>
            <a:r>
              <a:rPr lang="en-AU" dirty="0" smtClean="0"/>
              <a:t> alongside poetry she considered of ‘marked inferior quality’ and her cunning hoax would both give her extensive publicity and prove her point. </a:t>
            </a:r>
          </a:p>
          <a:p>
            <a:r>
              <a:rPr lang="en-AU" dirty="0" smtClean="0"/>
              <a:t>It was not only considered a scandal because of the expletive but, to Harwood’s dismay, because it was attributed to a housewife. A staff correspondent responding to the hoax in a subsequent edition of the </a:t>
            </a:r>
            <a:r>
              <a:rPr lang="en-AU" i="1" dirty="0" smtClean="0"/>
              <a:t>Bulletin</a:t>
            </a:r>
            <a:r>
              <a:rPr lang="en-AU" dirty="0" smtClean="0"/>
              <a:t> condescending that Harwood had ‘apparently imagined that the acrostic would remain her private secret forever. Such are the fantasies of lady poets’. (Atherton, 2002).</a:t>
            </a:r>
          </a:p>
          <a:p>
            <a:endParaRPr lang="en-A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sz="quarter" idx="1"/>
          </p:nvPr>
        </p:nvSpPr>
        <p:spPr>
          <a:xfrm>
            <a:off x="285750" y="285750"/>
            <a:ext cx="8358188" cy="6286500"/>
          </a:xfrm>
        </p:spPr>
        <p:txBody>
          <a:bodyPr>
            <a:normAutofit fontScale="92500" lnSpcReduction="10000"/>
          </a:bodyPr>
          <a:lstStyle/>
          <a:p>
            <a:pPr>
              <a:buNone/>
            </a:pPr>
            <a:r>
              <a:rPr lang="en-AU" dirty="0" smtClean="0"/>
              <a:t>	</a:t>
            </a:r>
            <a:r>
              <a:rPr lang="en-AU" dirty="0" smtClean="0">
                <a:solidFill>
                  <a:srgbClr val="FF0000"/>
                </a:solidFill>
              </a:rPr>
              <a:t>S</a:t>
            </a:r>
            <a:r>
              <a:rPr lang="en-AU" dirty="0" smtClean="0"/>
              <a:t>olace and hope depart.  God’s finger traces</a:t>
            </a:r>
          </a:p>
          <a:p>
            <a:pPr>
              <a:buNone/>
            </a:pPr>
            <a:r>
              <a:rPr lang="en-AU" dirty="0" smtClean="0"/>
              <a:t>	</a:t>
            </a:r>
            <a:r>
              <a:rPr lang="en-AU" dirty="0" smtClean="0">
                <a:solidFill>
                  <a:srgbClr val="FF0000"/>
                </a:solidFill>
              </a:rPr>
              <a:t>O</a:t>
            </a:r>
            <a:r>
              <a:rPr lang="en-AU" dirty="0" smtClean="0"/>
              <a:t>n fields of frozen darkness: You shall find</a:t>
            </a:r>
          </a:p>
          <a:p>
            <a:pPr>
              <a:buNone/>
            </a:pPr>
            <a:r>
              <a:rPr lang="en-AU" dirty="0" smtClean="0"/>
              <a:t>	</a:t>
            </a:r>
            <a:r>
              <a:rPr lang="en-AU" dirty="0" smtClean="0">
                <a:solidFill>
                  <a:srgbClr val="FF0000"/>
                </a:solidFill>
              </a:rPr>
              <a:t>L</a:t>
            </a:r>
            <a:r>
              <a:rPr lang="en-AU" dirty="0" smtClean="0"/>
              <a:t>oss, absence, nothing.  Walking on the wind</a:t>
            </a:r>
          </a:p>
          <a:p>
            <a:pPr>
              <a:buNone/>
            </a:pPr>
            <a:r>
              <a:rPr lang="en-AU" dirty="0" smtClean="0"/>
              <a:t>	</a:t>
            </a:r>
            <a:r>
              <a:rPr lang="en-AU" dirty="0" smtClean="0">
                <a:solidFill>
                  <a:srgbClr val="FF0000"/>
                </a:solidFill>
              </a:rPr>
              <a:t>O</a:t>
            </a:r>
            <a:r>
              <a:rPr lang="en-AU" dirty="0" smtClean="0"/>
              <a:t>ur Lord speaks to a crowd of foolish faces,</a:t>
            </a:r>
          </a:p>
          <a:p>
            <a:pPr>
              <a:buNone/>
            </a:pPr>
            <a:endParaRPr lang="en-AU" dirty="0" smtClean="0"/>
          </a:p>
          <a:p>
            <a:pPr>
              <a:buNone/>
            </a:pPr>
            <a:r>
              <a:rPr lang="en-AU" dirty="0" smtClean="0"/>
              <a:t>	</a:t>
            </a:r>
            <a:r>
              <a:rPr lang="en-AU" dirty="0" smtClean="0">
                <a:solidFill>
                  <a:srgbClr val="FF0000"/>
                </a:solidFill>
              </a:rPr>
              <a:t>N</a:t>
            </a:r>
            <a:r>
              <a:rPr lang="en-AU" dirty="0" smtClean="0"/>
              <a:t>o face that is not mine, while filtering through</a:t>
            </a:r>
          </a:p>
          <a:p>
            <a:pPr>
              <a:buNone/>
            </a:pPr>
            <a:r>
              <a:rPr lang="en-AU" dirty="0" smtClean="0"/>
              <a:t>	</a:t>
            </a:r>
            <a:r>
              <a:rPr lang="en-AU" dirty="0" smtClean="0">
                <a:solidFill>
                  <a:srgbClr val="FF0000"/>
                </a:solidFill>
              </a:rPr>
              <a:t>G</a:t>
            </a:r>
            <a:r>
              <a:rPr lang="en-AU" dirty="0" smtClean="0"/>
              <a:t>aps, honeycombs of memories you seem</a:t>
            </a:r>
          </a:p>
          <a:p>
            <a:pPr>
              <a:buNone/>
            </a:pPr>
            <a:r>
              <a:rPr lang="en-AU" dirty="0" smtClean="0"/>
              <a:t>	</a:t>
            </a:r>
            <a:r>
              <a:rPr lang="en-AU" dirty="0" smtClean="0">
                <a:solidFill>
                  <a:srgbClr val="FF0000"/>
                </a:solidFill>
              </a:rPr>
              <a:t>B</a:t>
            </a:r>
            <a:r>
              <a:rPr lang="en-AU" dirty="0" smtClean="0"/>
              <a:t>ut the faint ghost of a remembered dream.</a:t>
            </a:r>
          </a:p>
          <a:p>
            <a:pPr>
              <a:buNone/>
            </a:pPr>
            <a:r>
              <a:rPr lang="en-AU" dirty="0" smtClean="0"/>
              <a:t>	</a:t>
            </a:r>
            <a:r>
              <a:rPr lang="en-AU" dirty="0" smtClean="0">
                <a:solidFill>
                  <a:srgbClr val="FF0000"/>
                </a:solidFill>
              </a:rPr>
              <a:t>U</a:t>
            </a:r>
            <a:r>
              <a:rPr lang="en-AU" dirty="0" smtClean="0"/>
              <a:t>nveiled by pain, I bleed.  My wound is you.</a:t>
            </a:r>
          </a:p>
          <a:p>
            <a:pPr>
              <a:buNone/>
            </a:pPr>
            <a:endParaRPr lang="en-AU" dirty="0" smtClean="0"/>
          </a:p>
          <a:p>
            <a:pPr>
              <a:buNone/>
            </a:pPr>
            <a:r>
              <a:rPr lang="en-AU" dirty="0" smtClean="0"/>
              <a:t>	</a:t>
            </a:r>
            <a:r>
              <a:rPr lang="en-AU" dirty="0" smtClean="0">
                <a:solidFill>
                  <a:srgbClr val="FF0000"/>
                </a:solidFill>
              </a:rPr>
              <a:t>L</a:t>
            </a:r>
            <a:r>
              <a:rPr lang="en-AU" dirty="0" smtClean="0"/>
              <a:t>ost in the well of space, my spirit hears</a:t>
            </a:r>
          </a:p>
          <a:p>
            <a:pPr>
              <a:buNone/>
            </a:pPr>
            <a:r>
              <a:rPr lang="en-AU" dirty="0" smtClean="0"/>
              <a:t>	“</a:t>
            </a:r>
            <a:r>
              <a:rPr lang="en-AU" i="1" dirty="0" smtClean="0">
                <a:solidFill>
                  <a:srgbClr val="FF0000"/>
                </a:solidFill>
              </a:rPr>
              <a:t>L</a:t>
            </a:r>
            <a:r>
              <a:rPr lang="en-AU" i="1" dirty="0" smtClean="0"/>
              <a:t>ucis creator optime …”</a:t>
            </a:r>
            <a:r>
              <a:rPr lang="en-AU" dirty="0" smtClean="0"/>
              <a:t> The choir </a:t>
            </a:r>
          </a:p>
          <a:p>
            <a:pPr>
              <a:buNone/>
            </a:pPr>
            <a:r>
              <a:rPr lang="en-AU" dirty="0" smtClean="0"/>
              <a:t>	</a:t>
            </a:r>
            <a:r>
              <a:rPr lang="en-AU" dirty="0" smtClean="0">
                <a:solidFill>
                  <a:srgbClr val="FF0000"/>
                </a:solidFill>
              </a:rPr>
              <a:t>E</a:t>
            </a:r>
            <a:r>
              <a:rPr lang="en-AU" dirty="0" smtClean="0"/>
              <a:t>ntreats God, out of tune.  I join my voice </a:t>
            </a:r>
          </a:p>
          <a:p>
            <a:pPr>
              <a:buNone/>
            </a:pPr>
            <a:r>
              <a:rPr lang="en-AU" dirty="0" smtClean="0"/>
              <a:t>	</a:t>
            </a:r>
            <a:r>
              <a:rPr lang="en-AU" dirty="0" smtClean="0">
                <a:solidFill>
                  <a:srgbClr val="FF0000"/>
                </a:solidFill>
              </a:rPr>
              <a:t>T</a:t>
            </a:r>
            <a:r>
              <a:rPr lang="en-AU" dirty="0" smtClean="0"/>
              <a:t>o theirs.  Nightfall’s immense.  I taste my tears.</a:t>
            </a:r>
          </a:p>
          <a:p>
            <a:pPr>
              <a:buNone/>
            </a:pPr>
            <a:r>
              <a:rPr lang="en-AU" dirty="0" smtClean="0"/>
              <a:t>	</a:t>
            </a:r>
            <a:r>
              <a:rPr lang="en-AU" dirty="0" smtClean="0">
                <a:solidFill>
                  <a:srgbClr val="FF0000"/>
                </a:solidFill>
              </a:rPr>
              <a:t>I</a:t>
            </a:r>
            <a:r>
              <a:rPr lang="en-AU" dirty="0" smtClean="0"/>
              <a:t> reap the harvest of my own desire.</a:t>
            </a:r>
          </a:p>
          <a:p>
            <a:pPr>
              <a:buNone/>
            </a:pPr>
            <a:r>
              <a:rPr lang="en-AU" dirty="0" smtClean="0"/>
              <a:t>	</a:t>
            </a:r>
            <a:r>
              <a:rPr lang="en-AU" dirty="0" smtClean="0">
                <a:solidFill>
                  <a:srgbClr val="FF0000"/>
                </a:solidFill>
              </a:rPr>
              <a:t>N</a:t>
            </a:r>
            <a:r>
              <a:rPr lang="en-AU" dirty="0" smtClean="0"/>
              <a:t>o heart escapes the torment of its choice.  </a:t>
            </a:r>
          </a:p>
          <a:p>
            <a:endParaRPr lang="en-A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sz="quarter" idx="1"/>
          </p:nvPr>
        </p:nvSpPr>
        <p:spPr>
          <a:xfrm>
            <a:off x="285750" y="214313"/>
            <a:ext cx="8215313" cy="6429375"/>
          </a:xfrm>
        </p:spPr>
        <p:txBody>
          <a:bodyPr>
            <a:normAutofit fontScale="92500" lnSpcReduction="10000"/>
          </a:bodyPr>
          <a:lstStyle/>
          <a:p>
            <a:pPr>
              <a:buNone/>
            </a:pPr>
            <a:r>
              <a:rPr lang="en-AU" dirty="0" smtClean="0"/>
              <a:t>	</a:t>
            </a:r>
            <a:r>
              <a:rPr lang="en-AU" dirty="0" smtClean="0">
                <a:solidFill>
                  <a:srgbClr val="FF0000"/>
                </a:solidFill>
              </a:rPr>
              <a:t>F</a:t>
            </a:r>
            <a:r>
              <a:rPr lang="en-AU" dirty="0" smtClean="0"/>
              <a:t>ar above memory’s landscape let the fears</a:t>
            </a:r>
          </a:p>
          <a:p>
            <a:pPr>
              <a:buNone/>
            </a:pPr>
            <a:r>
              <a:rPr lang="en-AU" b="1" dirty="0" smtClean="0"/>
              <a:t>	</a:t>
            </a:r>
            <a:r>
              <a:rPr lang="en-AU" dirty="0" smtClean="0">
                <a:solidFill>
                  <a:srgbClr val="FF0000"/>
                </a:solidFill>
              </a:rPr>
              <a:t>U</a:t>
            </a:r>
            <a:r>
              <a:rPr lang="en-AU" dirty="0" smtClean="0"/>
              <a:t>nlatched from thundering valleys of your mind</a:t>
            </a:r>
          </a:p>
          <a:p>
            <a:pPr>
              <a:buNone/>
            </a:pPr>
            <a:r>
              <a:rPr lang="en-AU" dirty="0" smtClean="0"/>
              <a:t>	</a:t>
            </a:r>
            <a:r>
              <a:rPr lang="en-AU" dirty="0" smtClean="0">
                <a:solidFill>
                  <a:srgbClr val="FF0000"/>
                </a:solidFill>
              </a:rPr>
              <a:t>C</a:t>
            </a:r>
            <a:r>
              <a:rPr lang="en-AU" dirty="0" smtClean="0"/>
              <a:t>arry their lightning.  Stare the sun up.  Find</a:t>
            </a:r>
          </a:p>
          <a:p>
            <a:pPr>
              <a:buNone/>
            </a:pPr>
            <a:r>
              <a:rPr lang="en-AU" dirty="0" smtClean="0"/>
              <a:t>	</a:t>
            </a:r>
            <a:r>
              <a:rPr lang="en-AU" dirty="0" smtClean="0">
                <a:solidFill>
                  <a:srgbClr val="FF0000"/>
                </a:solidFill>
              </a:rPr>
              <a:t>K</a:t>
            </a:r>
            <a:r>
              <a:rPr lang="en-AU" dirty="0" smtClean="0"/>
              <a:t>inetic heat to scorch your mist of tears.</a:t>
            </a:r>
          </a:p>
          <a:p>
            <a:pPr>
              <a:buNone/>
            </a:pPr>
            <a:endParaRPr lang="en-AU" dirty="0" smtClean="0"/>
          </a:p>
          <a:p>
            <a:pPr>
              <a:buNone/>
            </a:pPr>
            <a:r>
              <a:rPr lang="en-AU" dirty="0" smtClean="0"/>
              <a:t>	</a:t>
            </a:r>
            <a:r>
              <a:rPr lang="en-AU" dirty="0" smtClean="0">
                <a:solidFill>
                  <a:srgbClr val="FF0000"/>
                </a:solidFill>
              </a:rPr>
              <a:t>A</a:t>
            </a:r>
            <a:r>
              <a:rPr lang="en-AU" dirty="0" smtClean="0"/>
              <a:t>ll that your vision limned by night appears</a:t>
            </a:r>
          </a:p>
          <a:p>
            <a:pPr>
              <a:buNone/>
            </a:pPr>
            <a:r>
              <a:rPr lang="en-AU" dirty="0" smtClean="0"/>
              <a:t>	</a:t>
            </a:r>
            <a:r>
              <a:rPr lang="en-AU" dirty="0" smtClean="0">
                <a:solidFill>
                  <a:srgbClr val="FF0000"/>
                </a:solidFill>
              </a:rPr>
              <a:t>L</a:t>
            </a:r>
            <a:r>
              <a:rPr lang="en-AU" dirty="0" smtClean="0"/>
              <a:t>oose in dismembering air: think yourself blind.</a:t>
            </a:r>
          </a:p>
          <a:p>
            <a:pPr>
              <a:buNone/>
            </a:pPr>
            <a:r>
              <a:rPr lang="en-AU" dirty="0" smtClean="0"/>
              <a:t>	</a:t>
            </a:r>
            <a:r>
              <a:rPr lang="en-AU" dirty="0" smtClean="0">
                <a:solidFill>
                  <a:srgbClr val="FF0000"/>
                </a:solidFill>
              </a:rPr>
              <a:t>L</a:t>
            </a:r>
            <a:r>
              <a:rPr lang="en-AU" dirty="0" smtClean="0"/>
              <a:t>ouder that death in headlines the unkind</a:t>
            </a:r>
          </a:p>
          <a:p>
            <a:pPr>
              <a:buNone/>
            </a:pPr>
            <a:r>
              <a:rPr lang="en-AU" dirty="0" smtClean="0"/>
              <a:t>	</a:t>
            </a:r>
            <a:r>
              <a:rPr lang="en-AU" dirty="0" smtClean="0">
                <a:solidFill>
                  <a:srgbClr val="FF0000"/>
                </a:solidFill>
              </a:rPr>
              <a:t>E</a:t>
            </a:r>
            <a:r>
              <a:rPr lang="en-AU" dirty="0" smtClean="0"/>
              <a:t>lements hawk my passion: stop your ears.</a:t>
            </a:r>
          </a:p>
          <a:p>
            <a:pPr>
              <a:buNone/>
            </a:pPr>
            <a:endParaRPr lang="en-AU" dirty="0" smtClean="0"/>
          </a:p>
          <a:p>
            <a:pPr>
              <a:buNone/>
            </a:pPr>
            <a:r>
              <a:rPr lang="en-AU" dirty="0" smtClean="0"/>
              <a:t>	</a:t>
            </a:r>
            <a:r>
              <a:rPr lang="en-AU" dirty="0" smtClean="0">
                <a:solidFill>
                  <a:srgbClr val="FF0000"/>
                </a:solidFill>
              </a:rPr>
              <a:t>D</a:t>
            </a:r>
            <a:r>
              <a:rPr lang="en-AU" dirty="0" smtClean="0"/>
              <a:t>eny me now.  Be Doubting Thomas.  Thrust</a:t>
            </a:r>
          </a:p>
          <a:p>
            <a:pPr>
              <a:buNone/>
            </a:pPr>
            <a:r>
              <a:rPr lang="en-AU" dirty="0" smtClean="0"/>
              <a:t>	</a:t>
            </a:r>
            <a:r>
              <a:rPr lang="en-AU" dirty="0" smtClean="0">
                <a:solidFill>
                  <a:srgbClr val="FF0000"/>
                </a:solidFill>
              </a:rPr>
              <a:t>I</a:t>
            </a:r>
            <a:r>
              <a:rPr lang="en-AU" dirty="0" smtClean="0"/>
              <a:t>nto my side the finger of your grief.</a:t>
            </a:r>
          </a:p>
          <a:p>
            <a:pPr>
              <a:buNone/>
            </a:pPr>
            <a:r>
              <a:rPr lang="en-AU" dirty="0" smtClean="0"/>
              <a:t>	</a:t>
            </a:r>
            <a:r>
              <a:rPr lang="en-AU" dirty="0" smtClean="0">
                <a:solidFill>
                  <a:srgbClr val="FF0000"/>
                </a:solidFill>
              </a:rPr>
              <a:t>T</a:t>
            </a:r>
            <a:r>
              <a:rPr lang="en-AU" dirty="0" smtClean="0"/>
              <a:t>ell me I’m an apparition frayed </a:t>
            </a:r>
          </a:p>
          <a:p>
            <a:pPr>
              <a:buNone/>
            </a:pPr>
            <a:r>
              <a:rPr lang="en-AU" dirty="0" smtClean="0"/>
              <a:t>	</a:t>
            </a:r>
            <a:r>
              <a:rPr lang="en-AU" dirty="0" smtClean="0">
                <a:solidFill>
                  <a:srgbClr val="FF0000"/>
                </a:solidFill>
              </a:rPr>
              <a:t>O</a:t>
            </a:r>
            <a:r>
              <a:rPr lang="en-AU" dirty="0" smtClean="0"/>
              <a:t>ut of the tattered winding sheet of lust	.</a:t>
            </a:r>
          </a:p>
          <a:p>
            <a:pPr>
              <a:buNone/>
            </a:pPr>
            <a:r>
              <a:rPr lang="en-AU" dirty="0" smtClean="0"/>
              <a:t>	</a:t>
            </a:r>
            <a:r>
              <a:rPr lang="en-AU" dirty="0" smtClean="0">
                <a:solidFill>
                  <a:srgbClr val="FF0000"/>
                </a:solidFill>
              </a:rPr>
              <a:t>R</a:t>
            </a:r>
            <a:r>
              <a:rPr lang="en-AU" dirty="0" smtClean="0"/>
              <a:t>ecall no ghost of love.  Let no belief	</a:t>
            </a:r>
          </a:p>
          <a:p>
            <a:pPr>
              <a:buNone/>
            </a:pPr>
            <a:r>
              <a:rPr lang="en-AU" dirty="0" smtClean="0"/>
              <a:t>	</a:t>
            </a:r>
            <a:r>
              <a:rPr lang="en-AU" dirty="0" smtClean="0">
                <a:solidFill>
                  <a:srgbClr val="FF0000"/>
                </a:solidFill>
              </a:rPr>
              <a:t>S</a:t>
            </a:r>
            <a:r>
              <a:rPr lang="en-AU" dirty="0" smtClean="0"/>
              <a:t>ummon me, fleshed and bleeding, from the shade.</a:t>
            </a:r>
          </a:p>
          <a:p>
            <a:pPr>
              <a:buNone/>
            </a:pPr>
            <a:endParaRPr lang="en-AU" b="1" dirty="0" smtClean="0"/>
          </a:p>
          <a:p>
            <a:pPr>
              <a:buNone/>
            </a:pPr>
            <a:endParaRPr lang="en-A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6908"/>
          </a:xfrm>
        </p:spPr>
        <p:txBody>
          <a:bodyPr/>
          <a:lstStyle/>
          <a:p>
            <a:r>
              <a:rPr lang="en-AU" dirty="0" smtClean="0"/>
              <a:t>Tas Housewife Hoax of the Year</a:t>
            </a:r>
            <a:endParaRPr lang="en-AU" dirty="0"/>
          </a:p>
        </p:txBody>
      </p:sp>
      <p:sp>
        <p:nvSpPr>
          <p:cNvPr id="3" name="Content Placeholder 2"/>
          <p:cNvSpPr>
            <a:spLocks noGrp="1"/>
          </p:cNvSpPr>
          <p:nvPr>
            <p:ph sz="quarter" idx="1"/>
          </p:nvPr>
        </p:nvSpPr>
        <p:spPr/>
        <p:txBody>
          <a:bodyPr>
            <a:normAutofit lnSpcReduction="10000"/>
          </a:bodyPr>
          <a:lstStyle/>
          <a:p>
            <a:r>
              <a:rPr lang="en-AU" dirty="0" smtClean="0"/>
              <a:t>Not only did Harwood reveal the blind spot the editors of </a:t>
            </a:r>
            <a:r>
              <a:rPr lang="en-AU" i="1" dirty="0" smtClean="0"/>
              <a:t>The Bulletin </a:t>
            </a:r>
            <a:r>
              <a:rPr lang="en-AU" dirty="0" smtClean="0"/>
              <a:t>had in judging poems by male writers, but her hoax pointed to the way in which she detested being belittled as ‘the Tas Housewife’.</a:t>
            </a:r>
          </a:p>
          <a:p>
            <a:endParaRPr lang="en-AU" dirty="0" smtClean="0"/>
          </a:p>
          <a:p>
            <a:r>
              <a:rPr lang="en-AU" dirty="0" smtClean="0"/>
              <a:t>Interestingly, she reveals something about what is thought of as ‘high art’ (which poetry is accused of being).  </a:t>
            </a:r>
          </a:p>
          <a:p>
            <a:endParaRPr lang="en-AU" dirty="0" smtClean="0"/>
          </a:p>
          <a:p>
            <a:r>
              <a:rPr lang="en-AU" dirty="0" smtClean="0"/>
              <a:t>What do you think makes ‘In the Park’ and ‘House of Mercy’ good poems, and  the Abelard and Eloisa poems bad ones?</a:t>
            </a:r>
            <a:endParaRPr lang="en-AU"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214</TotalTime>
  <Words>1121</Words>
  <Application>Microsoft Office PowerPoint</Application>
  <PresentationFormat>On-screen Show (4:3)</PresentationFormat>
  <Paragraphs>163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Oriel</vt:lpstr>
      <vt:lpstr>ACL1002 POETS AND THEIR POETRY GWEN HARWOOD</vt:lpstr>
      <vt:lpstr>Gwen Harwood</vt:lpstr>
      <vt:lpstr>Gwen Harwood</vt:lpstr>
      <vt:lpstr>Collections of Harwood’s Work</vt:lpstr>
      <vt:lpstr>Form in Harwood’s Poems</vt:lpstr>
      <vt:lpstr>Form in Harwood’s Poems</vt:lpstr>
      <vt:lpstr>Slide 7</vt:lpstr>
      <vt:lpstr>Reading the Poem</vt:lpstr>
      <vt:lpstr>Slide 9</vt:lpstr>
      <vt:lpstr>Reading the Poem</vt:lpstr>
      <vt:lpstr>A note on the Poems</vt:lpstr>
      <vt:lpstr>Walter Lehmann, Francis Geyer, Miriam Stone and Timothy Kline</vt:lpstr>
      <vt:lpstr>Slide 13</vt:lpstr>
      <vt:lpstr>Slide 14</vt:lpstr>
      <vt:lpstr>‘Tas Housewife Hoax of the Year’</vt:lpstr>
      <vt:lpstr>‘Tas Housewife Hoax of the Year’</vt:lpstr>
      <vt:lpstr>‘Tas Housewife Hoax of the Year’</vt:lpstr>
      <vt:lpstr>Slide 18</vt:lpstr>
      <vt:lpstr>Slide 19</vt:lpstr>
      <vt:lpstr>Tas Housewife Hoax of the Year</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ACL1002 POETS AND THEIR POETRY GWEN HARWOOD</dc:title>
  <dc:creator>Natalie Kon-yu </dc:creator>
  <cp:lastModifiedBy>e5010855</cp:lastModifiedBy>
  <cp:revision>25</cp:revision>
  <dcterms:created xsi:type="dcterms:W3CDTF">2011-08-30T06:49:04Z</dcterms:created>
  <dcterms:modified xsi:type="dcterms:W3CDTF">2011-09-06T03:30:37Z</dcterms:modified>
</cp:coreProperties>
</file>