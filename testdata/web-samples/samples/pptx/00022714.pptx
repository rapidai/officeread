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Override PartName="/ppt/notesSlides/notesSlide1.xml" ContentType="application/vnd.openxmlformats-officedocument.presentationml.notesSlide+xml"/>
  <Default Extension="bin" ContentType="application/vnd.openxmlformats-officedocument.oleObject"/>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Default Extension="gif" ContentType="image/gif"/>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 id="2147483686" r:id="rId2"/>
  </p:sldMasterIdLst>
  <p:notesMasterIdLst>
    <p:notesMasterId r:id="rId42"/>
  </p:notesMasterIdLst>
  <p:handoutMasterIdLst>
    <p:handoutMasterId r:id="rId43"/>
  </p:handoutMasterIdLst>
  <p:sldIdLst>
    <p:sldId id="810" r:id="rId3"/>
    <p:sldId id="969" r:id="rId4"/>
    <p:sldId id="980" r:id="rId5"/>
    <p:sldId id="985" r:id="rId6"/>
    <p:sldId id="981" r:id="rId7"/>
    <p:sldId id="920" r:id="rId8"/>
    <p:sldId id="982" r:id="rId9"/>
    <p:sldId id="922" r:id="rId10"/>
    <p:sldId id="983" r:id="rId11"/>
    <p:sldId id="984" r:id="rId12"/>
    <p:sldId id="900" r:id="rId13"/>
    <p:sldId id="987" r:id="rId14"/>
    <p:sldId id="988" r:id="rId15"/>
    <p:sldId id="989" r:id="rId16"/>
    <p:sldId id="990" r:id="rId17"/>
    <p:sldId id="1005" r:id="rId18"/>
    <p:sldId id="1004" r:id="rId19"/>
    <p:sldId id="996" r:id="rId20"/>
    <p:sldId id="991" r:id="rId21"/>
    <p:sldId id="992" r:id="rId22"/>
    <p:sldId id="993" r:id="rId23"/>
    <p:sldId id="994" r:id="rId24"/>
    <p:sldId id="995" r:id="rId25"/>
    <p:sldId id="998" r:id="rId26"/>
    <p:sldId id="999" r:id="rId27"/>
    <p:sldId id="1000" r:id="rId28"/>
    <p:sldId id="1001" r:id="rId29"/>
    <p:sldId id="1002" r:id="rId30"/>
    <p:sldId id="986" r:id="rId31"/>
    <p:sldId id="976" r:id="rId32"/>
    <p:sldId id="978" r:id="rId33"/>
    <p:sldId id="979" r:id="rId34"/>
    <p:sldId id="941" r:id="rId35"/>
    <p:sldId id="1003" r:id="rId36"/>
    <p:sldId id="963" r:id="rId37"/>
    <p:sldId id="964" r:id="rId38"/>
    <p:sldId id="965" r:id="rId39"/>
    <p:sldId id="967" r:id="rId40"/>
    <p:sldId id="968" r:id="rId41"/>
  </p:sldIdLst>
  <p:sldSz cx="9144000" cy="6858000" type="screen4x3"/>
  <p:notesSz cx="6946900" cy="9232900"/>
  <p:defaultTextStyle>
    <a:defPPr>
      <a:defRPr lang="en-US"/>
    </a:defPPr>
    <a:lvl1pPr algn="l" rtl="0" fontAlgn="base">
      <a:spcBef>
        <a:spcPct val="0"/>
      </a:spcBef>
      <a:spcAft>
        <a:spcPct val="0"/>
      </a:spcAft>
      <a:defRPr sz="1600" i="1" kern="1200">
        <a:solidFill>
          <a:schemeClr val="tx1"/>
        </a:solidFill>
        <a:latin typeface="Arial" charset="0"/>
        <a:ea typeface="+mn-ea"/>
        <a:cs typeface="Arial" charset="0"/>
      </a:defRPr>
    </a:lvl1pPr>
    <a:lvl2pPr marL="457200" algn="l" rtl="0" fontAlgn="base">
      <a:spcBef>
        <a:spcPct val="0"/>
      </a:spcBef>
      <a:spcAft>
        <a:spcPct val="0"/>
      </a:spcAft>
      <a:defRPr sz="1600" i="1" kern="1200">
        <a:solidFill>
          <a:schemeClr val="tx1"/>
        </a:solidFill>
        <a:latin typeface="Arial" charset="0"/>
        <a:ea typeface="+mn-ea"/>
        <a:cs typeface="Arial" charset="0"/>
      </a:defRPr>
    </a:lvl2pPr>
    <a:lvl3pPr marL="914400" algn="l" rtl="0" fontAlgn="base">
      <a:spcBef>
        <a:spcPct val="0"/>
      </a:spcBef>
      <a:spcAft>
        <a:spcPct val="0"/>
      </a:spcAft>
      <a:defRPr sz="1600" i="1" kern="1200">
        <a:solidFill>
          <a:schemeClr val="tx1"/>
        </a:solidFill>
        <a:latin typeface="Arial" charset="0"/>
        <a:ea typeface="+mn-ea"/>
        <a:cs typeface="Arial" charset="0"/>
      </a:defRPr>
    </a:lvl3pPr>
    <a:lvl4pPr marL="1371600" algn="l" rtl="0" fontAlgn="base">
      <a:spcBef>
        <a:spcPct val="0"/>
      </a:spcBef>
      <a:spcAft>
        <a:spcPct val="0"/>
      </a:spcAft>
      <a:defRPr sz="1600" i="1" kern="1200">
        <a:solidFill>
          <a:schemeClr val="tx1"/>
        </a:solidFill>
        <a:latin typeface="Arial" charset="0"/>
        <a:ea typeface="+mn-ea"/>
        <a:cs typeface="Arial" charset="0"/>
      </a:defRPr>
    </a:lvl4pPr>
    <a:lvl5pPr marL="1828800" algn="l" rtl="0" fontAlgn="base">
      <a:spcBef>
        <a:spcPct val="0"/>
      </a:spcBef>
      <a:spcAft>
        <a:spcPct val="0"/>
      </a:spcAft>
      <a:defRPr sz="1600" i="1" kern="1200">
        <a:solidFill>
          <a:schemeClr val="tx1"/>
        </a:solidFill>
        <a:latin typeface="Arial" charset="0"/>
        <a:ea typeface="+mn-ea"/>
        <a:cs typeface="Arial" charset="0"/>
      </a:defRPr>
    </a:lvl5pPr>
    <a:lvl6pPr marL="2286000" algn="l" defTabSz="914400" rtl="0" eaLnBrk="1" latinLnBrk="0" hangingPunct="1">
      <a:defRPr sz="1600" i="1" kern="1200">
        <a:solidFill>
          <a:schemeClr val="tx1"/>
        </a:solidFill>
        <a:latin typeface="Arial" charset="0"/>
        <a:ea typeface="+mn-ea"/>
        <a:cs typeface="Arial" charset="0"/>
      </a:defRPr>
    </a:lvl6pPr>
    <a:lvl7pPr marL="2743200" algn="l" defTabSz="914400" rtl="0" eaLnBrk="1" latinLnBrk="0" hangingPunct="1">
      <a:defRPr sz="1600" i="1" kern="1200">
        <a:solidFill>
          <a:schemeClr val="tx1"/>
        </a:solidFill>
        <a:latin typeface="Arial" charset="0"/>
        <a:ea typeface="+mn-ea"/>
        <a:cs typeface="Arial" charset="0"/>
      </a:defRPr>
    </a:lvl7pPr>
    <a:lvl8pPr marL="3200400" algn="l" defTabSz="914400" rtl="0" eaLnBrk="1" latinLnBrk="0" hangingPunct="1">
      <a:defRPr sz="1600" i="1" kern="1200">
        <a:solidFill>
          <a:schemeClr val="tx1"/>
        </a:solidFill>
        <a:latin typeface="Arial" charset="0"/>
        <a:ea typeface="+mn-ea"/>
        <a:cs typeface="Arial" charset="0"/>
      </a:defRPr>
    </a:lvl8pPr>
    <a:lvl9pPr marL="3657600" algn="l" defTabSz="914400" rtl="0" eaLnBrk="1" latinLnBrk="0" hangingPunct="1">
      <a:defRPr sz="1600" i="1"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clrMru>
    <a:srgbClr val="00CC00"/>
    <a:srgbClr val="003399"/>
    <a:srgbClr val="0000FF"/>
    <a:srgbClr val="CC00FF"/>
    <a:srgbClr val="CC0000"/>
    <a:srgbClr val="CC99FF"/>
    <a:srgbClr val="CCFF99"/>
    <a:srgbClr val="FFFF66"/>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4" d="100"/>
          <a:sy n="74" d="100"/>
        </p:scale>
        <p:origin x="-714"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864"/>
    </p:cViewPr>
  </p:sorterViewPr>
  <p:notesViewPr>
    <p:cSldViewPr>
      <p:cViewPr>
        <p:scale>
          <a:sx n="100" d="100"/>
          <a:sy n="100" d="100"/>
        </p:scale>
        <p:origin x="-780" y="-60"/>
      </p:cViewPr>
      <p:guideLst>
        <p:guide orient="horz" pos="2908"/>
        <p:guide pos="2188"/>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 Id="rId5" Type="http://schemas.openxmlformats.org/officeDocument/2006/relationships/image" Target="../media/image33.wmf"/><Relationship Id="rId4" Type="http://schemas.openxmlformats.org/officeDocument/2006/relationships/image" Target="../media/image32.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2034" name="Rectangle 2"/>
          <p:cNvSpPr>
            <a:spLocks noGrp="1" noChangeArrowheads="1"/>
          </p:cNvSpPr>
          <p:nvPr>
            <p:ph type="hdr" sz="quarter"/>
          </p:nvPr>
        </p:nvSpPr>
        <p:spPr bwMode="auto">
          <a:xfrm>
            <a:off x="0" y="0"/>
            <a:ext cx="3009900" cy="461963"/>
          </a:xfrm>
          <a:prstGeom prst="rect">
            <a:avLst/>
          </a:prstGeom>
          <a:noFill/>
          <a:ln w="9525">
            <a:noFill/>
            <a:miter lim="800000"/>
            <a:headEnd/>
            <a:tailEnd/>
          </a:ln>
          <a:effectLst/>
        </p:spPr>
        <p:txBody>
          <a:bodyPr vert="horz" wrap="square" lIns="92455" tIns="46227" rIns="92455" bIns="46227" numCol="1" anchor="t" anchorCtr="0" compatLnSpc="1">
            <a:prstTxWarp prst="textNoShape">
              <a:avLst/>
            </a:prstTxWarp>
          </a:bodyPr>
          <a:lstStyle>
            <a:lvl1pPr defTabSz="923925">
              <a:spcBef>
                <a:spcPct val="20000"/>
              </a:spcBef>
              <a:buClr>
                <a:schemeClr val="tx1"/>
              </a:buClr>
              <a:buSzPct val="75000"/>
              <a:buFont typeface="Wingdings" pitchFamily="-106" charset="2"/>
              <a:buChar char="l"/>
              <a:defRPr sz="1200" i="0">
                <a:solidFill>
                  <a:srgbClr val="FF0000"/>
                </a:solidFill>
                <a:latin typeface="Arial" pitchFamily="-106" charset="0"/>
                <a:ea typeface="Arial" pitchFamily="-106" charset="0"/>
                <a:cs typeface="Arial" pitchFamily="-106" charset="0"/>
              </a:defRPr>
            </a:lvl1pPr>
          </a:lstStyle>
          <a:p>
            <a:pPr>
              <a:defRPr/>
            </a:pPr>
            <a:endParaRPr lang="en-US"/>
          </a:p>
        </p:txBody>
      </p:sp>
      <p:sp>
        <p:nvSpPr>
          <p:cNvPr id="172035" name="Rectangle 3"/>
          <p:cNvSpPr>
            <a:spLocks noGrp="1" noChangeArrowheads="1"/>
          </p:cNvSpPr>
          <p:nvPr>
            <p:ph type="dt" sz="quarter" idx="1"/>
          </p:nvPr>
        </p:nvSpPr>
        <p:spPr bwMode="auto">
          <a:xfrm>
            <a:off x="3937000" y="0"/>
            <a:ext cx="3009900" cy="461963"/>
          </a:xfrm>
          <a:prstGeom prst="rect">
            <a:avLst/>
          </a:prstGeom>
          <a:noFill/>
          <a:ln w="9525">
            <a:noFill/>
            <a:miter lim="800000"/>
            <a:headEnd/>
            <a:tailEnd/>
          </a:ln>
          <a:effectLst/>
        </p:spPr>
        <p:txBody>
          <a:bodyPr vert="horz" wrap="square" lIns="92455" tIns="46227" rIns="92455" bIns="46227" numCol="1" anchor="t" anchorCtr="0" compatLnSpc="1">
            <a:prstTxWarp prst="textNoShape">
              <a:avLst/>
            </a:prstTxWarp>
          </a:bodyPr>
          <a:lstStyle>
            <a:lvl1pPr algn="r" defTabSz="923925">
              <a:spcBef>
                <a:spcPct val="20000"/>
              </a:spcBef>
              <a:buClr>
                <a:schemeClr val="tx1"/>
              </a:buClr>
              <a:buSzPct val="75000"/>
              <a:buFont typeface="Wingdings" pitchFamily="-106" charset="2"/>
              <a:buChar char="l"/>
              <a:defRPr sz="1200" i="0">
                <a:solidFill>
                  <a:srgbClr val="FF0000"/>
                </a:solidFill>
                <a:latin typeface="Arial" pitchFamily="-106" charset="0"/>
                <a:ea typeface="Arial" pitchFamily="-106" charset="0"/>
                <a:cs typeface="Arial" pitchFamily="-106" charset="0"/>
              </a:defRPr>
            </a:lvl1pPr>
          </a:lstStyle>
          <a:p>
            <a:pPr>
              <a:defRPr/>
            </a:pPr>
            <a:endParaRPr lang="en-US"/>
          </a:p>
        </p:txBody>
      </p:sp>
      <p:sp>
        <p:nvSpPr>
          <p:cNvPr id="172036" name="Rectangle 4"/>
          <p:cNvSpPr>
            <a:spLocks noGrp="1" noChangeArrowheads="1"/>
          </p:cNvSpPr>
          <p:nvPr>
            <p:ph type="ftr" sz="quarter" idx="2"/>
          </p:nvPr>
        </p:nvSpPr>
        <p:spPr bwMode="auto">
          <a:xfrm>
            <a:off x="0" y="8770938"/>
            <a:ext cx="3009900" cy="461962"/>
          </a:xfrm>
          <a:prstGeom prst="rect">
            <a:avLst/>
          </a:prstGeom>
          <a:noFill/>
          <a:ln w="9525">
            <a:noFill/>
            <a:miter lim="800000"/>
            <a:headEnd/>
            <a:tailEnd/>
          </a:ln>
          <a:effectLst/>
        </p:spPr>
        <p:txBody>
          <a:bodyPr vert="horz" wrap="square" lIns="92455" tIns="46227" rIns="92455" bIns="46227" numCol="1" anchor="b" anchorCtr="0" compatLnSpc="1">
            <a:prstTxWarp prst="textNoShape">
              <a:avLst/>
            </a:prstTxWarp>
          </a:bodyPr>
          <a:lstStyle>
            <a:lvl1pPr defTabSz="923925">
              <a:spcBef>
                <a:spcPct val="20000"/>
              </a:spcBef>
              <a:buClr>
                <a:schemeClr val="tx1"/>
              </a:buClr>
              <a:buSzPct val="75000"/>
              <a:buFont typeface="Wingdings" pitchFamily="-106" charset="2"/>
              <a:buChar char="l"/>
              <a:defRPr sz="1200" i="0">
                <a:solidFill>
                  <a:srgbClr val="FF0000"/>
                </a:solidFill>
                <a:latin typeface="Arial" pitchFamily="-106" charset="0"/>
                <a:ea typeface="Arial" pitchFamily="-106" charset="0"/>
                <a:cs typeface="Arial" pitchFamily="-106" charset="0"/>
              </a:defRPr>
            </a:lvl1pPr>
          </a:lstStyle>
          <a:p>
            <a:pPr>
              <a:defRPr/>
            </a:pPr>
            <a:endParaRPr lang="en-US"/>
          </a:p>
        </p:txBody>
      </p:sp>
      <p:sp>
        <p:nvSpPr>
          <p:cNvPr id="172037" name="Rectangle 5"/>
          <p:cNvSpPr>
            <a:spLocks noGrp="1" noChangeArrowheads="1"/>
          </p:cNvSpPr>
          <p:nvPr>
            <p:ph type="sldNum" sz="quarter" idx="3"/>
          </p:nvPr>
        </p:nvSpPr>
        <p:spPr bwMode="auto">
          <a:xfrm>
            <a:off x="3937000" y="8770938"/>
            <a:ext cx="3009900" cy="461962"/>
          </a:xfrm>
          <a:prstGeom prst="rect">
            <a:avLst/>
          </a:prstGeom>
          <a:noFill/>
          <a:ln w="9525">
            <a:noFill/>
            <a:miter lim="800000"/>
            <a:headEnd/>
            <a:tailEnd/>
          </a:ln>
          <a:effectLst/>
        </p:spPr>
        <p:txBody>
          <a:bodyPr vert="horz" wrap="square" lIns="92455" tIns="46227" rIns="92455" bIns="46227" numCol="1" anchor="b" anchorCtr="0" compatLnSpc="1">
            <a:prstTxWarp prst="textNoShape">
              <a:avLst/>
            </a:prstTxWarp>
          </a:bodyPr>
          <a:lstStyle>
            <a:lvl1pPr algn="r" defTabSz="923925">
              <a:spcBef>
                <a:spcPct val="20000"/>
              </a:spcBef>
              <a:buClr>
                <a:schemeClr val="tx1"/>
              </a:buClr>
              <a:buSzPct val="75000"/>
              <a:buFont typeface="Wingdings" pitchFamily="-107" charset="2"/>
              <a:buChar char="l"/>
              <a:defRPr sz="1200" i="0">
                <a:solidFill>
                  <a:srgbClr val="FF0000"/>
                </a:solidFill>
              </a:defRPr>
            </a:lvl1pPr>
          </a:lstStyle>
          <a:p>
            <a:fld id="{534817D9-8662-4CEC-BA84-E0E041532F77}" type="slidenum">
              <a:rPr lang="en-US"/>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9570" name="Rectangle 2"/>
          <p:cNvSpPr>
            <a:spLocks noGrp="1" noChangeArrowheads="1"/>
          </p:cNvSpPr>
          <p:nvPr>
            <p:ph type="hdr" sz="quarter"/>
          </p:nvPr>
        </p:nvSpPr>
        <p:spPr bwMode="auto">
          <a:xfrm>
            <a:off x="0" y="0"/>
            <a:ext cx="3009900" cy="461963"/>
          </a:xfrm>
          <a:prstGeom prst="rect">
            <a:avLst/>
          </a:prstGeom>
          <a:noFill/>
          <a:ln w="9525">
            <a:noFill/>
            <a:miter lim="800000"/>
            <a:headEnd/>
            <a:tailEnd/>
          </a:ln>
          <a:effectLst/>
        </p:spPr>
        <p:txBody>
          <a:bodyPr vert="horz" wrap="square" lIns="92455" tIns="46227" rIns="92455" bIns="46227" numCol="1" anchor="t" anchorCtr="0" compatLnSpc="1">
            <a:prstTxWarp prst="textNoShape">
              <a:avLst/>
            </a:prstTxWarp>
          </a:bodyPr>
          <a:lstStyle>
            <a:lvl1pPr defTabSz="923925">
              <a:defRPr sz="1200" i="0">
                <a:latin typeface="Times New Roman" pitchFamily="-106" charset="0"/>
                <a:ea typeface="Arial" pitchFamily="-106" charset="0"/>
                <a:cs typeface="Arial" pitchFamily="-106" charset="0"/>
              </a:defRPr>
            </a:lvl1pPr>
          </a:lstStyle>
          <a:p>
            <a:pPr>
              <a:defRPr/>
            </a:pPr>
            <a:endParaRPr lang="en-US"/>
          </a:p>
        </p:txBody>
      </p:sp>
      <p:sp>
        <p:nvSpPr>
          <p:cNvPr id="109571" name="Rectangle 3"/>
          <p:cNvSpPr>
            <a:spLocks noGrp="1" noChangeArrowheads="1"/>
          </p:cNvSpPr>
          <p:nvPr>
            <p:ph type="dt" idx="1"/>
          </p:nvPr>
        </p:nvSpPr>
        <p:spPr bwMode="auto">
          <a:xfrm>
            <a:off x="3937000" y="0"/>
            <a:ext cx="3009900" cy="461963"/>
          </a:xfrm>
          <a:prstGeom prst="rect">
            <a:avLst/>
          </a:prstGeom>
          <a:noFill/>
          <a:ln w="9525">
            <a:noFill/>
            <a:miter lim="800000"/>
            <a:headEnd/>
            <a:tailEnd/>
          </a:ln>
          <a:effectLst/>
        </p:spPr>
        <p:txBody>
          <a:bodyPr vert="horz" wrap="square" lIns="92455" tIns="46227" rIns="92455" bIns="46227" numCol="1" anchor="t" anchorCtr="0" compatLnSpc="1">
            <a:prstTxWarp prst="textNoShape">
              <a:avLst/>
            </a:prstTxWarp>
          </a:bodyPr>
          <a:lstStyle>
            <a:lvl1pPr algn="r" defTabSz="923925">
              <a:defRPr sz="1200" i="0">
                <a:latin typeface="Times New Roman" pitchFamily="-106" charset="0"/>
                <a:ea typeface="Arial" pitchFamily="-106" charset="0"/>
                <a:cs typeface="Arial" pitchFamily="-106" charset="0"/>
              </a:defRPr>
            </a:lvl1pPr>
          </a:lstStyle>
          <a:p>
            <a:pPr>
              <a:defRPr/>
            </a:pPr>
            <a:endParaRPr lang="en-US"/>
          </a:p>
        </p:txBody>
      </p:sp>
      <p:sp>
        <p:nvSpPr>
          <p:cNvPr id="28676" name="Rectangle 4"/>
          <p:cNvSpPr>
            <a:spLocks noChangeArrowheads="1" noTextEdit="1"/>
          </p:cNvSpPr>
          <p:nvPr>
            <p:ph type="sldImg" idx="2"/>
          </p:nvPr>
        </p:nvSpPr>
        <p:spPr bwMode="auto">
          <a:xfrm>
            <a:off x="1165225" y="692150"/>
            <a:ext cx="4616450" cy="3462338"/>
          </a:xfrm>
          <a:prstGeom prst="rect">
            <a:avLst/>
          </a:prstGeom>
          <a:noFill/>
          <a:ln w="9525">
            <a:solidFill>
              <a:srgbClr val="000000"/>
            </a:solidFill>
            <a:miter lim="800000"/>
            <a:headEnd/>
            <a:tailEnd/>
          </a:ln>
        </p:spPr>
      </p:sp>
      <p:sp>
        <p:nvSpPr>
          <p:cNvPr id="109573" name="Rectangle 5"/>
          <p:cNvSpPr>
            <a:spLocks noGrp="1" noChangeArrowheads="1"/>
          </p:cNvSpPr>
          <p:nvPr>
            <p:ph type="body" sz="quarter" idx="3"/>
          </p:nvPr>
        </p:nvSpPr>
        <p:spPr bwMode="auto">
          <a:xfrm>
            <a:off x="925513" y="4386263"/>
            <a:ext cx="5095875" cy="4154487"/>
          </a:xfrm>
          <a:prstGeom prst="rect">
            <a:avLst/>
          </a:prstGeom>
          <a:noFill/>
          <a:ln w="9525">
            <a:noFill/>
            <a:miter lim="800000"/>
            <a:headEnd/>
            <a:tailEnd/>
          </a:ln>
          <a:effectLst/>
        </p:spPr>
        <p:txBody>
          <a:bodyPr vert="horz" wrap="square" lIns="92455" tIns="46227" rIns="92455" bIns="4622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9574" name="Rectangle 6"/>
          <p:cNvSpPr>
            <a:spLocks noGrp="1" noChangeArrowheads="1"/>
          </p:cNvSpPr>
          <p:nvPr>
            <p:ph type="ftr" sz="quarter" idx="4"/>
          </p:nvPr>
        </p:nvSpPr>
        <p:spPr bwMode="auto">
          <a:xfrm>
            <a:off x="0" y="8770938"/>
            <a:ext cx="3009900" cy="461962"/>
          </a:xfrm>
          <a:prstGeom prst="rect">
            <a:avLst/>
          </a:prstGeom>
          <a:noFill/>
          <a:ln w="9525">
            <a:noFill/>
            <a:miter lim="800000"/>
            <a:headEnd/>
            <a:tailEnd/>
          </a:ln>
          <a:effectLst/>
        </p:spPr>
        <p:txBody>
          <a:bodyPr vert="horz" wrap="square" lIns="92455" tIns="46227" rIns="92455" bIns="46227" numCol="1" anchor="b" anchorCtr="0" compatLnSpc="1">
            <a:prstTxWarp prst="textNoShape">
              <a:avLst/>
            </a:prstTxWarp>
          </a:bodyPr>
          <a:lstStyle>
            <a:lvl1pPr defTabSz="923925">
              <a:defRPr sz="1200" i="0">
                <a:latin typeface="Times New Roman" pitchFamily="-106" charset="0"/>
                <a:ea typeface="Arial" pitchFamily="-106" charset="0"/>
                <a:cs typeface="Arial" pitchFamily="-106" charset="0"/>
              </a:defRPr>
            </a:lvl1pPr>
          </a:lstStyle>
          <a:p>
            <a:pPr>
              <a:defRPr/>
            </a:pPr>
            <a:endParaRPr lang="en-US"/>
          </a:p>
        </p:txBody>
      </p:sp>
      <p:sp>
        <p:nvSpPr>
          <p:cNvPr id="109575" name="Rectangle 7"/>
          <p:cNvSpPr>
            <a:spLocks noGrp="1" noChangeArrowheads="1"/>
          </p:cNvSpPr>
          <p:nvPr>
            <p:ph type="sldNum" sz="quarter" idx="5"/>
          </p:nvPr>
        </p:nvSpPr>
        <p:spPr bwMode="auto">
          <a:xfrm>
            <a:off x="3937000" y="8770938"/>
            <a:ext cx="3009900" cy="461962"/>
          </a:xfrm>
          <a:prstGeom prst="rect">
            <a:avLst/>
          </a:prstGeom>
          <a:noFill/>
          <a:ln w="9525">
            <a:noFill/>
            <a:miter lim="800000"/>
            <a:headEnd/>
            <a:tailEnd/>
          </a:ln>
          <a:effectLst/>
        </p:spPr>
        <p:txBody>
          <a:bodyPr vert="horz" wrap="square" lIns="92455" tIns="46227" rIns="92455" bIns="46227" numCol="1" anchor="b" anchorCtr="0" compatLnSpc="1">
            <a:prstTxWarp prst="textNoShape">
              <a:avLst/>
            </a:prstTxWarp>
          </a:bodyPr>
          <a:lstStyle>
            <a:lvl1pPr algn="r" defTabSz="923925">
              <a:defRPr sz="1200" i="0">
                <a:latin typeface="Times New Roman" pitchFamily="-107" charset="0"/>
              </a:defRPr>
            </a:lvl1pPr>
          </a:lstStyle>
          <a:p>
            <a:fld id="{1E22F2E3-B4E8-4212-8B9E-886016D9F923}" type="slidenum">
              <a:rPr lang="en-US"/>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Arial" charset="0"/>
        <a:cs typeface="Arial" charset="0"/>
      </a:defRPr>
    </a:lvl1pPr>
    <a:lvl2pPr marL="457200" algn="l" rtl="0" eaLnBrk="0" fontAlgn="base" hangingPunct="0">
      <a:spcBef>
        <a:spcPct val="30000"/>
      </a:spcBef>
      <a:spcAft>
        <a:spcPct val="0"/>
      </a:spcAft>
      <a:defRPr kumimoji="1" sz="1200" kern="1200">
        <a:solidFill>
          <a:schemeClr val="tx1"/>
        </a:solidFill>
        <a:latin typeface="Arial" charset="0"/>
        <a:ea typeface="Arial" charset="0"/>
        <a:cs typeface="Arial" charset="0"/>
      </a:defRPr>
    </a:lvl2pPr>
    <a:lvl3pPr marL="914400" algn="l" rtl="0" eaLnBrk="0" fontAlgn="base" hangingPunct="0">
      <a:spcBef>
        <a:spcPct val="30000"/>
      </a:spcBef>
      <a:spcAft>
        <a:spcPct val="0"/>
      </a:spcAft>
      <a:defRPr kumimoji="1" sz="1200" kern="1200">
        <a:solidFill>
          <a:schemeClr val="tx1"/>
        </a:solidFill>
        <a:latin typeface="Arial" charset="0"/>
        <a:ea typeface="Arial" charset="0"/>
        <a:cs typeface="Arial" charset="0"/>
      </a:defRPr>
    </a:lvl3pPr>
    <a:lvl4pPr marL="1371600" algn="l" rtl="0" eaLnBrk="0" fontAlgn="base" hangingPunct="0">
      <a:spcBef>
        <a:spcPct val="30000"/>
      </a:spcBef>
      <a:spcAft>
        <a:spcPct val="0"/>
      </a:spcAft>
      <a:defRPr kumimoji="1" sz="1200" kern="1200">
        <a:solidFill>
          <a:schemeClr val="tx1"/>
        </a:solidFill>
        <a:latin typeface="Arial" charset="0"/>
        <a:ea typeface="Arial" charset="0"/>
        <a:cs typeface="Arial" charset="0"/>
      </a:defRPr>
    </a:lvl4pPr>
    <a:lvl5pPr marL="1828800" algn="l" rtl="0" eaLnBrk="0" fontAlgn="base" hangingPunct="0">
      <a:spcBef>
        <a:spcPct val="30000"/>
      </a:spcBef>
      <a:spcAft>
        <a:spcPct val="0"/>
      </a:spcAft>
      <a:defRPr kumimoji="1" sz="1200" kern="1200">
        <a:solidFill>
          <a:schemeClr val="tx1"/>
        </a:solidFill>
        <a:latin typeface="Arial" charset="0"/>
        <a:ea typeface="Arial" charset="0"/>
        <a:cs typeface="Arial"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5C6F38C9-005F-4839-A593-EA00DD671A2B}" type="slidenum">
              <a:rPr lang="en-US"/>
              <a:pPr/>
              <a:t>2</a:t>
            </a:fld>
            <a:endParaRPr lang="en-US"/>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xfrm>
            <a:off x="695325" y="4386263"/>
            <a:ext cx="5556250" cy="4154487"/>
          </a:xfrm>
          <a:noFill/>
          <a:ln/>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ChangeArrowheads="1" noTextEdit="1"/>
          </p:cNvSpPr>
          <p:nvPr>
            <p:ph type="sldImg"/>
          </p:nvPr>
        </p:nvSpPr>
        <p:spPr>
          <a:ln/>
        </p:spPr>
      </p:sp>
      <p:sp>
        <p:nvSpPr>
          <p:cNvPr id="33795"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fld id="{2A314D57-27CD-409E-AF3C-5C5DF13A5D75}" type="slidenum">
              <a:rPr lang="en-US"/>
              <a:pPr/>
              <a:t>6</a:t>
            </a:fld>
            <a:endParaRPr lang="en-US"/>
          </a:p>
        </p:txBody>
      </p:sp>
      <p:sp>
        <p:nvSpPr>
          <p:cNvPr id="37891" name="Rectangle 2"/>
          <p:cNvSpPr>
            <a:spLocks noChangeArrowheads="1" noTextEdit="1"/>
          </p:cNvSpPr>
          <p:nvPr>
            <p:ph type="sldImg"/>
          </p:nvPr>
        </p:nvSpPr>
        <p:spPr>
          <a:ln/>
        </p:spPr>
      </p:sp>
      <p:sp>
        <p:nvSpPr>
          <p:cNvPr id="37892" name="Rectangle 3"/>
          <p:cNvSpPr>
            <a:spLocks noGrp="1" noChangeArrowheads="1"/>
          </p:cNvSpPr>
          <p:nvPr>
            <p:ph type="body" idx="1"/>
          </p:nvPr>
        </p:nvSpPr>
        <p:spPr>
          <a:xfrm>
            <a:off x="695325" y="4386263"/>
            <a:ext cx="5556250" cy="4154487"/>
          </a:xfrm>
          <a:noFill/>
          <a:ln/>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7"/>
          <p:cNvSpPr>
            <a:spLocks noChangeShapeType="1"/>
          </p:cNvSpPr>
          <p:nvPr/>
        </p:nvSpPr>
        <p:spPr bwMode="auto">
          <a:xfrm>
            <a:off x="1905000" y="1219200"/>
            <a:ext cx="0" cy="2057400"/>
          </a:xfrm>
          <a:prstGeom prst="line">
            <a:avLst/>
          </a:prstGeom>
          <a:noFill/>
          <a:ln w="34925">
            <a:solidFill>
              <a:schemeClr val="tx2"/>
            </a:solidFill>
            <a:round/>
            <a:headEnd/>
            <a:tailEnd/>
          </a:ln>
          <a:effectLst/>
        </p:spPr>
        <p:txBody>
          <a:bodyPr/>
          <a:lstStyle/>
          <a:p>
            <a:pPr>
              <a:defRPr/>
            </a:pPr>
            <a:endParaRPr lang="en-US"/>
          </a:p>
        </p:txBody>
      </p:sp>
      <p:sp>
        <p:nvSpPr>
          <p:cNvPr id="5" name="Oval 8"/>
          <p:cNvSpPr>
            <a:spLocks noChangeArrowheads="1"/>
          </p:cNvSpPr>
          <p:nvPr/>
        </p:nvSpPr>
        <p:spPr bwMode="auto">
          <a:xfrm>
            <a:off x="163513" y="2103438"/>
            <a:ext cx="347662" cy="347662"/>
          </a:xfrm>
          <a:prstGeom prst="ellipse">
            <a:avLst/>
          </a:prstGeom>
          <a:solidFill>
            <a:schemeClr val="tx1"/>
          </a:solidFill>
          <a:ln w="9525">
            <a:noFill/>
            <a:round/>
            <a:headEnd/>
            <a:tailEnd/>
          </a:ln>
          <a:effectLst/>
        </p:spPr>
        <p:txBody>
          <a:bodyPr wrap="none" anchor="ctr"/>
          <a:lstStyle/>
          <a:p>
            <a:pPr algn="ctr">
              <a:defRPr/>
            </a:pPr>
            <a:endParaRPr lang="en-US" sz="2400" i="0">
              <a:latin typeface="Times New Roman" pitchFamily="-106" charset="0"/>
              <a:cs typeface="Arial" pitchFamily="-106" charset="0"/>
            </a:endParaRPr>
          </a:p>
        </p:txBody>
      </p:sp>
      <p:sp>
        <p:nvSpPr>
          <p:cNvPr id="6" name="Oval 9"/>
          <p:cNvSpPr>
            <a:spLocks noChangeArrowheads="1"/>
          </p:cNvSpPr>
          <p:nvPr/>
        </p:nvSpPr>
        <p:spPr bwMode="auto">
          <a:xfrm>
            <a:off x="739775" y="2105025"/>
            <a:ext cx="349250" cy="347663"/>
          </a:xfrm>
          <a:prstGeom prst="ellipse">
            <a:avLst/>
          </a:prstGeom>
          <a:solidFill>
            <a:schemeClr val="accent1"/>
          </a:solidFill>
          <a:ln w="9525">
            <a:noFill/>
            <a:round/>
            <a:headEnd/>
            <a:tailEnd/>
          </a:ln>
          <a:effectLst/>
        </p:spPr>
        <p:txBody>
          <a:bodyPr wrap="none" anchor="ctr"/>
          <a:lstStyle/>
          <a:p>
            <a:pPr algn="ctr">
              <a:defRPr/>
            </a:pPr>
            <a:endParaRPr lang="en-US" sz="2400" i="0">
              <a:latin typeface="Times New Roman" pitchFamily="-106" charset="0"/>
              <a:cs typeface="Arial" pitchFamily="-106" charset="0"/>
            </a:endParaRPr>
          </a:p>
        </p:txBody>
      </p:sp>
      <p:sp>
        <p:nvSpPr>
          <p:cNvPr id="7" name="Oval 10"/>
          <p:cNvSpPr>
            <a:spLocks noChangeArrowheads="1"/>
          </p:cNvSpPr>
          <p:nvPr/>
        </p:nvSpPr>
        <p:spPr bwMode="auto">
          <a:xfrm>
            <a:off x="1317625" y="2105025"/>
            <a:ext cx="347663" cy="347663"/>
          </a:xfrm>
          <a:prstGeom prst="ellipse">
            <a:avLst/>
          </a:prstGeom>
          <a:solidFill>
            <a:schemeClr val="accent2"/>
          </a:solidFill>
          <a:ln w="9525">
            <a:noFill/>
            <a:round/>
            <a:headEnd/>
            <a:tailEnd/>
          </a:ln>
          <a:effectLst/>
        </p:spPr>
        <p:txBody>
          <a:bodyPr wrap="none" anchor="ctr"/>
          <a:lstStyle/>
          <a:p>
            <a:pPr algn="ctr">
              <a:defRPr/>
            </a:pPr>
            <a:endParaRPr lang="en-US" sz="2400" i="0">
              <a:latin typeface="Times New Roman" pitchFamily="-106" charset="0"/>
              <a:cs typeface="Arial" pitchFamily="-106" charset="0"/>
            </a:endParaRPr>
          </a:p>
        </p:txBody>
      </p:sp>
      <p:pic>
        <p:nvPicPr>
          <p:cNvPr id="8" name="Picture 12" descr="campanileTransparent"/>
          <p:cNvPicPr>
            <a:picLocks noChangeAspect="1" noChangeArrowheads="1"/>
          </p:cNvPicPr>
          <p:nvPr userDrawn="1"/>
        </p:nvPicPr>
        <p:blipFill>
          <a:blip r:embed="rId2"/>
          <a:srcRect/>
          <a:stretch>
            <a:fillRect/>
          </a:stretch>
        </p:blipFill>
        <p:spPr bwMode="auto">
          <a:xfrm>
            <a:off x="155575" y="1981200"/>
            <a:ext cx="1673225" cy="4876800"/>
          </a:xfrm>
          <a:prstGeom prst="rect">
            <a:avLst/>
          </a:prstGeom>
          <a:noFill/>
          <a:ln w="9525">
            <a:noFill/>
            <a:miter lim="800000"/>
            <a:headEnd/>
            <a:tailEnd/>
          </a:ln>
        </p:spPr>
      </p:pic>
      <p:sp>
        <p:nvSpPr>
          <p:cNvPr id="237570" name="Rectangle 2"/>
          <p:cNvSpPr>
            <a:spLocks noGrp="1" noChangeArrowheads="1"/>
          </p:cNvSpPr>
          <p:nvPr>
            <p:ph type="ctrTitle"/>
          </p:nvPr>
        </p:nvSpPr>
        <p:spPr>
          <a:xfrm>
            <a:off x="2133600" y="1371600"/>
            <a:ext cx="6477000" cy="1752600"/>
          </a:xfrm>
        </p:spPr>
        <p:txBody>
          <a:bodyPr/>
          <a:lstStyle>
            <a:lvl1pPr>
              <a:defRPr sz="4100"/>
            </a:lvl1pPr>
          </a:lstStyle>
          <a:p>
            <a:r>
              <a:rPr lang="en-US"/>
              <a:t>Click to edit Master title style</a:t>
            </a:r>
          </a:p>
        </p:txBody>
      </p:sp>
      <p:sp>
        <p:nvSpPr>
          <p:cNvPr id="237571" name="Rectangle 3"/>
          <p:cNvSpPr>
            <a:spLocks noGrp="1" noChangeArrowheads="1"/>
          </p:cNvSpPr>
          <p:nvPr>
            <p:ph type="subTitle" idx="1"/>
          </p:nvPr>
        </p:nvSpPr>
        <p:spPr>
          <a:xfrm>
            <a:off x="2133600" y="3733800"/>
            <a:ext cx="6477000" cy="1981200"/>
          </a:xfrm>
        </p:spPr>
        <p:txBody>
          <a:bodyPr/>
          <a:lstStyle>
            <a:lvl1pPr marL="0" indent="0">
              <a:buFont typeface="Wingdings" charset="2"/>
              <a:buNone/>
              <a:defRPr/>
            </a:lvl1pPr>
          </a:lstStyle>
          <a:p>
            <a:r>
              <a:rPr lang="en-US"/>
              <a:t>Click to edit Master subtitle style</a:t>
            </a:r>
          </a:p>
        </p:txBody>
      </p:sp>
      <p:sp>
        <p:nvSpPr>
          <p:cNvPr id="9" name="Rectangle 4"/>
          <p:cNvSpPr>
            <a:spLocks noGrp="1" noChangeArrowheads="1"/>
          </p:cNvSpPr>
          <p:nvPr>
            <p:ph type="dt" sz="half" idx="10"/>
          </p:nvPr>
        </p:nvSpPr>
        <p:spPr bwMode="auto">
          <a:xfrm>
            <a:off x="7086600" y="6248400"/>
            <a:ext cx="15240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sz="1000" i="0">
                <a:latin typeface="Arial" pitchFamily="-106" charset="0"/>
                <a:ea typeface="Arial" pitchFamily="-106" charset="0"/>
                <a:cs typeface="Arial" pitchFamily="-106" charset="0"/>
              </a:defRPr>
            </a:lvl1pPr>
          </a:lstStyle>
          <a:p>
            <a:pPr>
              <a:defRPr/>
            </a:pPr>
            <a:endParaRPr lang="en-US"/>
          </a:p>
        </p:txBody>
      </p:sp>
      <p:sp>
        <p:nvSpPr>
          <p:cNvPr id="10" name="Rectangle 5"/>
          <p:cNvSpPr>
            <a:spLocks noGrp="1" noChangeArrowheads="1"/>
          </p:cNvSpPr>
          <p:nvPr>
            <p:ph type="ftr" sz="quarter" idx="11"/>
          </p:nvPr>
        </p:nvSpPr>
        <p:spPr bwMode="auto">
          <a:xfrm>
            <a:off x="3810000" y="6248400"/>
            <a:ext cx="28956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a:defRPr sz="1000" i="0">
                <a:latin typeface="Arial" pitchFamily="-106" charset="0"/>
                <a:ea typeface="Arial" pitchFamily="-106" charset="0"/>
                <a:cs typeface="Arial" pitchFamily="-106" charset="0"/>
              </a:defRPr>
            </a:lvl1pPr>
          </a:lstStyle>
          <a:p>
            <a:pPr>
              <a:defRPr/>
            </a:pPr>
            <a:endParaRPr lang="en-US"/>
          </a:p>
        </p:txBody>
      </p:sp>
      <p:sp>
        <p:nvSpPr>
          <p:cNvPr id="11" name="Rectangle 6"/>
          <p:cNvSpPr>
            <a:spLocks noGrp="1" noChangeArrowheads="1"/>
          </p:cNvSpPr>
          <p:nvPr>
            <p:ph type="sldNum" sz="quarter" idx="12"/>
          </p:nvPr>
        </p:nvSpPr>
        <p:spPr bwMode="auto">
          <a:xfrm>
            <a:off x="2209800" y="6248400"/>
            <a:ext cx="12192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defRPr sz="1400" i="0"/>
            </a:lvl1pPr>
          </a:lstStyle>
          <a:p>
            <a:fld id="{DC5AEB2F-E895-4D31-8B89-A20F969CB89F}"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524000" y="1905000"/>
            <a:ext cx="3619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295900" y="1905000"/>
            <a:ext cx="3619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67550" y="190500"/>
            <a:ext cx="1847850" cy="62865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524000" y="190500"/>
            <a:ext cx="5391150" cy="62865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Media" preserve="1">
  <p:cSld name="Title, Text and Media Clip">
    <p:spTree>
      <p:nvGrpSpPr>
        <p:cNvPr id="1" name=""/>
        <p:cNvGrpSpPr/>
        <p:nvPr/>
      </p:nvGrpSpPr>
      <p:grpSpPr>
        <a:xfrm>
          <a:off x="0" y="0"/>
          <a:ext cx="0" cy="0"/>
          <a:chOff x="0" y="0"/>
          <a:chExt cx="0" cy="0"/>
        </a:xfrm>
      </p:grpSpPr>
      <p:sp>
        <p:nvSpPr>
          <p:cNvPr id="2" name="Title 1"/>
          <p:cNvSpPr>
            <a:spLocks noGrp="1"/>
          </p:cNvSpPr>
          <p:nvPr>
            <p:ph type="title"/>
          </p:nvPr>
        </p:nvSpPr>
        <p:spPr>
          <a:xfrm>
            <a:off x="1524000" y="190500"/>
            <a:ext cx="7391400" cy="1527175"/>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1524000" y="1905000"/>
            <a:ext cx="36195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Media Placeholder 3"/>
          <p:cNvSpPr>
            <a:spLocks noGrp="1"/>
          </p:cNvSpPr>
          <p:nvPr>
            <p:ph type="media" sz="half" idx="2"/>
          </p:nvPr>
        </p:nvSpPr>
        <p:spPr>
          <a:xfrm>
            <a:off x="5295900" y="1905000"/>
            <a:ext cx="3619500" cy="4572000"/>
          </a:xfrm>
        </p:spPr>
        <p:txBody>
          <a:bodyPr/>
          <a:lstStyle/>
          <a:p>
            <a:pPr lvl="0"/>
            <a:endParaRPr lang="en-US" noProof="0" smtClean="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0" y="190500"/>
            <a:ext cx="7391400" cy="1527175"/>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1524000" y="1905000"/>
            <a:ext cx="36195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295900" y="1905000"/>
            <a:ext cx="36195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524000" y="1905000"/>
            <a:ext cx="3619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295900" y="1905000"/>
            <a:ext cx="3619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67550" y="190500"/>
            <a:ext cx="1847850" cy="62865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524000" y="190500"/>
            <a:ext cx="5391150" cy="62865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2.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524000" y="190500"/>
            <a:ext cx="7391400" cy="15271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1524000" y="1905000"/>
            <a:ext cx="7391400"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36551" name="Line 7"/>
          <p:cNvSpPr>
            <a:spLocks noChangeShapeType="1"/>
          </p:cNvSpPr>
          <p:nvPr/>
        </p:nvSpPr>
        <p:spPr bwMode="auto">
          <a:xfrm flipV="1">
            <a:off x="1371600" y="304800"/>
            <a:ext cx="0" cy="1295400"/>
          </a:xfrm>
          <a:prstGeom prst="line">
            <a:avLst/>
          </a:prstGeom>
          <a:noFill/>
          <a:ln w="38100">
            <a:solidFill>
              <a:schemeClr val="tx2"/>
            </a:solidFill>
            <a:round/>
            <a:headEnd/>
            <a:tailEnd/>
          </a:ln>
          <a:effectLst/>
        </p:spPr>
        <p:txBody>
          <a:bodyPr/>
          <a:lstStyle/>
          <a:p>
            <a:pPr>
              <a:defRPr/>
            </a:pPr>
            <a:endParaRPr lang="en-US"/>
          </a:p>
        </p:txBody>
      </p:sp>
      <p:sp>
        <p:nvSpPr>
          <p:cNvPr id="236552" name="Oval 8"/>
          <p:cNvSpPr>
            <a:spLocks noChangeArrowheads="1"/>
          </p:cNvSpPr>
          <p:nvPr/>
        </p:nvSpPr>
        <p:spPr bwMode="auto">
          <a:xfrm>
            <a:off x="152400" y="838200"/>
            <a:ext cx="228600" cy="228600"/>
          </a:xfrm>
          <a:prstGeom prst="ellipse">
            <a:avLst/>
          </a:prstGeom>
          <a:solidFill>
            <a:schemeClr val="tx1"/>
          </a:solidFill>
          <a:ln w="9525">
            <a:noFill/>
            <a:round/>
            <a:headEnd/>
            <a:tailEnd/>
          </a:ln>
          <a:effectLst/>
        </p:spPr>
        <p:txBody>
          <a:bodyPr wrap="none" anchor="ctr"/>
          <a:lstStyle/>
          <a:p>
            <a:pPr algn="ctr">
              <a:defRPr/>
            </a:pPr>
            <a:endParaRPr lang="en-US" sz="2400" i="0">
              <a:latin typeface="Times New Roman" pitchFamily="-106" charset="0"/>
              <a:cs typeface="Arial" pitchFamily="-106" charset="0"/>
            </a:endParaRPr>
          </a:p>
        </p:txBody>
      </p:sp>
      <p:sp>
        <p:nvSpPr>
          <p:cNvPr id="236553" name="Oval 9"/>
          <p:cNvSpPr>
            <a:spLocks noChangeArrowheads="1"/>
          </p:cNvSpPr>
          <p:nvPr/>
        </p:nvSpPr>
        <p:spPr bwMode="auto">
          <a:xfrm>
            <a:off x="539750" y="838200"/>
            <a:ext cx="228600" cy="228600"/>
          </a:xfrm>
          <a:prstGeom prst="ellipse">
            <a:avLst/>
          </a:prstGeom>
          <a:solidFill>
            <a:schemeClr val="accent1"/>
          </a:solidFill>
          <a:ln w="9525">
            <a:noFill/>
            <a:round/>
            <a:headEnd/>
            <a:tailEnd/>
          </a:ln>
          <a:effectLst/>
        </p:spPr>
        <p:txBody>
          <a:bodyPr wrap="none" anchor="ctr"/>
          <a:lstStyle/>
          <a:p>
            <a:pPr algn="ctr">
              <a:defRPr/>
            </a:pPr>
            <a:endParaRPr lang="en-US" sz="2400" i="0">
              <a:latin typeface="Times New Roman" pitchFamily="-106" charset="0"/>
              <a:cs typeface="Arial" pitchFamily="-106" charset="0"/>
            </a:endParaRPr>
          </a:p>
        </p:txBody>
      </p:sp>
      <p:sp>
        <p:nvSpPr>
          <p:cNvPr id="236554" name="Oval 10"/>
          <p:cNvSpPr>
            <a:spLocks noChangeArrowheads="1"/>
          </p:cNvSpPr>
          <p:nvPr/>
        </p:nvSpPr>
        <p:spPr bwMode="auto">
          <a:xfrm>
            <a:off x="927100" y="838200"/>
            <a:ext cx="228600" cy="228600"/>
          </a:xfrm>
          <a:prstGeom prst="ellipse">
            <a:avLst/>
          </a:prstGeom>
          <a:solidFill>
            <a:schemeClr val="accent2"/>
          </a:solidFill>
          <a:ln w="9525">
            <a:noFill/>
            <a:round/>
            <a:headEnd/>
            <a:tailEnd/>
          </a:ln>
          <a:effectLst/>
        </p:spPr>
        <p:txBody>
          <a:bodyPr wrap="none" anchor="ctr"/>
          <a:lstStyle/>
          <a:p>
            <a:pPr algn="ctr">
              <a:defRPr/>
            </a:pPr>
            <a:endParaRPr lang="en-US" sz="2400" i="0">
              <a:latin typeface="Times New Roman" pitchFamily="-106" charset="0"/>
              <a:cs typeface="Arial" pitchFamily="-106" charset="0"/>
            </a:endParaRPr>
          </a:p>
        </p:txBody>
      </p:sp>
      <p:sp>
        <p:nvSpPr>
          <p:cNvPr id="236556" name="Text Box 12"/>
          <p:cNvSpPr txBox="1">
            <a:spLocks noChangeArrowheads="1"/>
          </p:cNvSpPr>
          <p:nvPr userDrawn="1"/>
        </p:nvSpPr>
        <p:spPr bwMode="auto">
          <a:xfrm>
            <a:off x="7391400" y="6521450"/>
            <a:ext cx="1731963" cy="336550"/>
          </a:xfrm>
          <a:prstGeom prst="rect">
            <a:avLst/>
          </a:prstGeom>
          <a:noFill/>
          <a:ln w="9525">
            <a:noFill/>
            <a:miter lim="800000"/>
            <a:headEnd/>
            <a:tailEnd/>
          </a:ln>
          <a:effectLst/>
        </p:spPr>
        <p:txBody>
          <a:bodyPr wrap="none">
            <a:spAutoFit/>
          </a:bodyPr>
          <a:lstStyle/>
          <a:p>
            <a:r>
              <a:rPr lang="en-US" i="0"/>
              <a:t>Lee, Berkeley </a:t>
            </a:r>
            <a:fld id="{03977B2A-0DA7-4791-9000-432B124C4210}" type="slidenum">
              <a:rPr lang="en-US" i="0"/>
              <a:pPr/>
              <a:t>‹#›</a:t>
            </a:fld>
            <a:endParaRPr lang="en-US" i="0"/>
          </a:p>
        </p:txBody>
      </p:sp>
    </p:spTree>
  </p:cSld>
  <p:clrMap bg1="lt1" tx1="dk1" bg2="lt2" tx2="dk2" accent1="accent1" accent2="accent2" accent3="accent3" accent4="accent4" accent5="accent5" accent6="accent6" hlink="hlink" folHlink="folHlink"/>
  <p:sldLayoutIdLst>
    <p:sldLayoutId id="2147483821" r:id="rId1"/>
    <p:sldLayoutId id="2147483798" r:id="rId2"/>
    <p:sldLayoutId id="2147483799" r:id="rId3"/>
    <p:sldLayoutId id="2147483800" r:id="rId4"/>
    <p:sldLayoutId id="2147483801" r:id="rId5"/>
    <p:sldLayoutId id="2147483802" r:id="rId6"/>
    <p:sldLayoutId id="2147483803" r:id="rId7"/>
    <p:sldLayoutId id="2147483804" r:id="rId8"/>
    <p:sldLayoutId id="2147483805" r:id="rId9"/>
    <p:sldLayoutId id="2147483806" r:id="rId10"/>
    <p:sldLayoutId id="2147483807" r:id="rId11"/>
    <p:sldLayoutId id="2147483808" r:id="rId12"/>
    <p:sldLayoutId id="2147483809" r:id="rId13"/>
  </p:sldLayoutIdLst>
  <p:timing>
    <p:tnLst>
      <p:par>
        <p:cTn id="1" dur="indefinite" restart="never" nodeType="tmRoot"/>
      </p:par>
    </p:tnLst>
  </p:timing>
  <p:txStyles>
    <p:titleStyle>
      <a:lvl1pPr algn="l" rtl="0" eaLnBrk="0" fontAlgn="base" hangingPunct="0">
        <a:spcBef>
          <a:spcPct val="0"/>
        </a:spcBef>
        <a:spcAft>
          <a:spcPct val="0"/>
        </a:spcAft>
        <a:defRPr sz="3000">
          <a:solidFill>
            <a:schemeClr val="tx2"/>
          </a:solidFill>
          <a:latin typeface="+mj-lt"/>
          <a:ea typeface="+mj-ea"/>
          <a:cs typeface="+mj-cs"/>
        </a:defRPr>
      </a:lvl1pPr>
      <a:lvl2pPr algn="l" rtl="0" eaLnBrk="0" fontAlgn="base" hangingPunct="0">
        <a:spcBef>
          <a:spcPct val="0"/>
        </a:spcBef>
        <a:spcAft>
          <a:spcPct val="0"/>
        </a:spcAft>
        <a:defRPr sz="3000">
          <a:solidFill>
            <a:schemeClr val="tx2"/>
          </a:solidFill>
          <a:latin typeface="Arial" charset="0"/>
          <a:ea typeface="Arial" charset="0"/>
          <a:cs typeface="Arial" charset="0"/>
        </a:defRPr>
      </a:lvl2pPr>
      <a:lvl3pPr algn="l" rtl="0" eaLnBrk="0" fontAlgn="base" hangingPunct="0">
        <a:spcBef>
          <a:spcPct val="0"/>
        </a:spcBef>
        <a:spcAft>
          <a:spcPct val="0"/>
        </a:spcAft>
        <a:defRPr sz="3000">
          <a:solidFill>
            <a:schemeClr val="tx2"/>
          </a:solidFill>
          <a:latin typeface="Arial" charset="0"/>
          <a:ea typeface="Arial" charset="0"/>
          <a:cs typeface="Arial" charset="0"/>
        </a:defRPr>
      </a:lvl3pPr>
      <a:lvl4pPr algn="l" rtl="0" eaLnBrk="0" fontAlgn="base" hangingPunct="0">
        <a:spcBef>
          <a:spcPct val="0"/>
        </a:spcBef>
        <a:spcAft>
          <a:spcPct val="0"/>
        </a:spcAft>
        <a:defRPr sz="3000">
          <a:solidFill>
            <a:schemeClr val="tx2"/>
          </a:solidFill>
          <a:latin typeface="Arial" charset="0"/>
          <a:ea typeface="Arial" charset="0"/>
          <a:cs typeface="Arial" charset="0"/>
        </a:defRPr>
      </a:lvl4pPr>
      <a:lvl5pPr algn="l" rtl="0" eaLnBrk="0" fontAlgn="base" hangingPunct="0">
        <a:spcBef>
          <a:spcPct val="0"/>
        </a:spcBef>
        <a:spcAft>
          <a:spcPct val="0"/>
        </a:spcAft>
        <a:defRPr sz="3000">
          <a:solidFill>
            <a:schemeClr val="tx2"/>
          </a:solidFill>
          <a:latin typeface="Arial" charset="0"/>
          <a:ea typeface="Arial" charset="0"/>
          <a:cs typeface="Arial" charset="0"/>
        </a:defRPr>
      </a:lvl5pPr>
      <a:lvl6pPr marL="457200" algn="l" rtl="0" fontAlgn="base">
        <a:spcBef>
          <a:spcPct val="0"/>
        </a:spcBef>
        <a:spcAft>
          <a:spcPct val="0"/>
        </a:spcAft>
        <a:defRPr sz="3000">
          <a:solidFill>
            <a:schemeClr val="tx2"/>
          </a:solidFill>
          <a:latin typeface="Arial" charset="0"/>
          <a:ea typeface="Arial" charset="0"/>
          <a:cs typeface="Arial" charset="0"/>
        </a:defRPr>
      </a:lvl6pPr>
      <a:lvl7pPr marL="914400" algn="l" rtl="0" fontAlgn="base">
        <a:spcBef>
          <a:spcPct val="0"/>
        </a:spcBef>
        <a:spcAft>
          <a:spcPct val="0"/>
        </a:spcAft>
        <a:defRPr sz="3000">
          <a:solidFill>
            <a:schemeClr val="tx2"/>
          </a:solidFill>
          <a:latin typeface="Arial" charset="0"/>
          <a:ea typeface="Arial" charset="0"/>
          <a:cs typeface="Arial" charset="0"/>
        </a:defRPr>
      </a:lvl7pPr>
      <a:lvl8pPr marL="1371600" algn="l" rtl="0" fontAlgn="base">
        <a:spcBef>
          <a:spcPct val="0"/>
        </a:spcBef>
        <a:spcAft>
          <a:spcPct val="0"/>
        </a:spcAft>
        <a:defRPr sz="3000">
          <a:solidFill>
            <a:schemeClr val="tx2"/>
          </a:solidFill>
          <a:latin typeface="Arial" charset="0"/>
          <a:ea typeface="Arial" charset="0"/>
          <a:cs typeface="Arial" charset="0"/>
        </a:defRPr>
      </a:lvl8pPr>
      <a:lvl9pPr marL="1828800" algn="l" rtl="0" fontAlgn="base">
        <a:spcBef>
          <a:spcPct val="0"/>
        </a:spcBef>
        <a:spcAft>
          <a:spcPct val="0"/>
        </a:spcAft>
        <a:defRPr sz="3000">
          <a:solidFill>
            <a:schemeClr val="tx2"/>
          </a:solidFill>
          <a:latin typeface="Arial" charset="0"/>
          <a:ea typeface="Arial" charset="0"/>
          <a:cs typeface="Arial" charset="0"/>
        </a:defRPr>
      </a:lvl9pPr>
    </p:titleStyle>
    <p:bodyStyle>
      <a:lvl1pPr marL="342900" indent="-342900" algn="l" rtl="0" eaLnBrk="0" fontAlgn="base" hangingPunct="0">
        <a:spcBef>
          <a:spcPct val="20000"/>
        </a:spcBef>
        <a:spcAft>
          <a:spcPct val="0"/>
        </a:spcAft>
        <a:buClr>
          <a:schemeClr val="tx1"/>
        </a:buClr>
        <a:buSzPct val="70000"/>
        <a:buFont typeface="Wingdings" pitchFamily="-107" charset="2"/>
        <a:buChar char="¢"/>
        <a:defRPr sz="2600">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itchFamily="-107" charset="2"/>
        <a:buChar char="l"/>
        <a:defRPr sz="2400">
          <a:solidFill>
            <a:schemeClr val="tx2"/>
          </a:solidFill>
          <a:latin typeface="+mn-lt"/>
          <a:ea typeface="+mn-ea"/>
          <a:cs typeface="+mn-cs"/>
        </a:defRPr>
      </a:lvl2pPr>
      <a:lvl3pPr marL="1143000" indent="-228600" algn="l" rtl="0" eaLnBrk="0" fontAlgn="base" hangingPunct="0">
        <a:spcBef>
          <a:spcPct val="20000"/>
        </a:spcBef>
        <a:spcAft>
          <a:spcPct val="0"/>
        </a:spcAft>
        <a:buClr>
          <a:schemeClr val="accent2"/>
        </a:buClr>
        <a:buChar char="•"/>
        <a:defRPr sz="2000">
          <a:solidFill>
            <a:schemeClr val="tx2"/>
          </a:solidFill>
          <a:latin typeface="+mn-lt"/>
          <a:ea typeface="+mn-ea"/>
          <a:cs typeface="+mn-cs"/>
        </a:defRPr>
      </a:lvl3pPr>
      <a:lvl4pPr marL="1600200" indent="-228600" algn="l" rtl="0" eaLnBrk="0" fontAlgn="base" hangingPunct="0">
        <a:spcBef>
          <a:spcPct val="20000"/>
        </a:spcBef>
        <a:spcAft>
          <a:spcPct val="0"/>
        </a:spcAft>
        <a:buClr>
          <a:schemeClr val="tx1"/>
        </a:buClr>
        <a:buChar char="•"/>
        <a:defRPr>
          <a:solidFill>
            <a:schemeClr val="tx2"/>
          </a:solidFill>
          <a:latin typeface="+mn-lt"/>
          <a:ea typeface="+mn-ea"/>
          <a:cs typeface="+mn-cs"/>
        </a:defRPr>
      </a:lvl4pPr>
      <a:lvl5pPr marL="2057400" indent="-228600" algn="l" rtl="0" eaLnBrk="0" fontAlgn="base" hangingPunct="0">
        <a:spcBef>
          <a:spcPct val="20000"/>
        </a:spcBef>
        <a:spcAft>
          <a:spcPct val="0"/>
        </a:spcAft>
        <a:buChar char="•"/>
        <a:defRPr>
          <a:solidFill>
            <a:schemeClr val="tx2"/>
          </a:solidFill>
          <a:latin typeface="+mn-lt"/>
          <a:ea typeface="+mn-ea"/>
          <a:cs typeface="+mn-cs"/>
        </a:defRPr>
      </a:lvl5pPr>
      <a:lvl6pPr marL="2514600" indent="-228600" algn="l" rtl="0" fontAlgn="base">
        <a:spcBef>
          <a:spcPct val="20000"/>
        </a:spcBef>
        <a:spcAft>
          <a:spcPct val="0"/>
        </a:spcAft>
        <a:buChar char="•"/>
        <a:defRPr>
          <a:solidFill>
            <a:schemeClr val="tx2"/>
          </a:solidFill>
          <a:latin typeface="+mn-lt"/>
          <a:ea typeface="+mn-ea"/>
          <a:cs typeface="+mn-cs"/>
        </a:defRPr>
      </a:lvl6pPr>
      <a:lvl7pPr marL="2971800" indent="-228600" algn="l" rtl="0" fontAlgn="base">
        <a:spcBef>
          <a:spcPct val="20000"/>
        </a:spcBef>
        <a:spcAft>
          <a:spcPct val="0"/>
        </a:spcAft>
        <a:buChar char="•"/>
        <a:defRPr>
          <a:solidFill>
            <a:schemeClr val="tx2"/>
          </a:solidFill>
          <a:latin typeface="+mn-lt"/>
          <a:ea typeface="+mn-ea"/>
          <a:cs typeface="+mn-cs"/>
        </a:defRPr>
      </a:lvl7pPr>
      <a:lvl8pPr marL="3429000" indent="-228600" algn="l" rtl="0" fontAlgn="base">
        <a:spcBef>
          <a:spcPct val="20000"/>
        </a:spcBef>
        <a:spcAft>
          <a:spcPct val="0"/>
        </a:spcAft>
        <a:buChar char="•"/>
        <a:defRPr>
          <a:solidFill>
            <a:schemeClr val="tx2"/>
          </a:solidFill>
          <a:latin typeface="+mn-lt"/>
          <a:ea typeface="+mn-ea"/>
          <a:cs typeface="+mn-cs"/>
        </a:defRPr>
      </a:lvl8pPr>
      <a:lvl9pPr marL="3886200" indent="-228600" algn="l" rtl="0" fontAlgn="base">
        <a:spcBef>
          <a:spcPct val="20000"/>
        </a:spcBef>
        <a:spcAft>
          <a:spcPct val="0"/>
        </a:spcAft>
        <a:buChar char="•"/>
        <a:defRPr>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1524000" y="190500"/>
            <a:ext cx="7391400" cy="15271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5363" name="Rectangle 3"/>
          <p:cNvSpPr>
            <a:spLocks noGrp="1" noChangeArrowheads="1"/>
          </p:cNvSpPr>
          <p:nvPr>
            <p:ph type="body" idx="1"/>
          </p:nvPr>
        </p:nvSpPr>
        <p:spPr bwMode="auto">
          <a:xfrm>
            <a:off x="1524000" y="1905000"/>
            <a:ext cx="7391400"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657412" name="Line 4"/>
          <p:cNvSpPr>
            <a:spLocks noChangeShapeType="1"/>
          </p:cNvSpPr>
          <p:nvPr/>
        </p:nvSpPr>
        <p:spPr bwMode="auto">
          <a:xfrm flipV="1">
            <a:off x="1371600" y="304800"/>
            <a:ext cx="0" cy="1295400"/>
          </a:xfrm>
          <a:prstGeom prst="line">
            <a:avLst/>
          </a:prstGeom>
          <a:noFill/>
          <a:ln w="38100">
            <a:solidFill>
              <a:schemeClr val="tx2"/>
            </a:solidFill>
            <a:round/>
            <a:headEnd/>
            <a:tailEnd/>
          </a:ln>
          <a:effectLst/>
        </p:spPr>
        <p:txBody>
          <a:bodyPr/>
          <a:lstStyle/>
          <a:p>
            <a:pPr>
              <a:defRPr/>
            </a:pPr>
            <a:endParaRPr lang="en-US"/>
          </a:p>
        </p:txBody>
      </p:sp>
      <p:sp>
        <p:nvSpPr>
          <p:cNvPr id="657416" name="Text Box 8"/>
          <p:cNvSpPr txBox="1">
            <a:spLocks noChangeArrowheads="1"/>
          </p:cNvSpPr>
          <p:nvPr userDrawn="1"/>
        </p:nvSpPr>
        <p:spPr bwMode="auto">
          <a:xfrm>
            <a:off x="7391400" y="6521450"/>
            <a:ext cx="1731963" cy="336550"/>
          </a:xfrm>
          <a:prstGeom prst="rect">
            <a:avLst/>
          </a:prstGeom>
          <a:noFill/>
          <a:ln w="9525">
            <a:noFill/>
            <a:miter lim="800000"/>
            <a:headEnd/>
            <a:tailEnd/>
          </a:ln>
          <a:effectLst/>
        </p:spPr>
        <p:txBody>
          <a:bodyPr wrap="none">
            <a:spAutoFit/>
          </a:bodyPr>
          <a:lstStyle/>
          <a:p>
            <a:r>
              <a:rPr lang="en-US" i="0"/>
              <a:t>Lee, Berkeley </a:t>
            </a:r>
            <a:fld id="{7B846241-7177-4CE4-BCD3-2CA06DD005A4}" type="slidenum">
              <a:rPr lang="en-US" i="0"/>
              <a:pPr/>
              <a:t>‹#›</a:t>
            </a:fld>
            <a:endParaRPr lang="en-US" i="0"/>
          </a:p>
        </p:txBody>
      </p:sp>
      <p:pic>
        <p:nvPicPr>
          <p:cNvPr id="15366" name="Picture 12"/>
          <p:cNvPicPr>
            <a:picLocks noChangeAspect="1" noChangeArrowheads="1"/>
          </p:cNvPicPr>
          <p:nvPr userDrawn="1"/>
        </p:nvPicPr>
        <p:blipFill>
          <a:blip r:embed="rId13"/>
          <a:srcRect/>
          <a:stretch>
            <a:fillRect/>
          </a:stretch>
        </p:blipFill>
        <p:spPr bwMode="auto">
          <a:xfrm>
            <a:off x="47625" y="76200"/>
            <a:ext cx="1419225" cy="17526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810" r:id="rId1"/>
    <p:sldLayoutId id="2147483811" r:id="rId2"/>
    <p:sldLayoutId id="2147483812" r:id="rId3"/>
    <p:sldLayoutId id="2147483813" r:id="rId4"/>
    <p:sldLayoutId id="2147483814" r:id="rId5"/>
    <p:sldLayoutId id="2147483815" r:id="rId6"/>
    <p:sldLayoutId id="2147483816" r:id="rId7"/>
    <p:sldLayoutId id="2147483817" r:id="rId8"/>
    <p:sldLayoutId id="2147483818" r:id="rId9"/>
    <p:sldLayoutId id="2147483819" r:id="rId10"/>
    <p:sldLayoutId id="2147483820" r:id="rId11"/>
  </p:sldLayoutIdLst>
  <p:timing>
    <p:tnLst>
      <p:par>
        <p:cTn id="1" dur="indefinite" restart="never" nodeType="tmRoot"/>
      </p:par>
    </p:tnLst>
  </p:timing>
  <p:txStyles>
    <p:titleStyle>
      <a:lvl1pPr algn="l" rtl="0" eaLnBrk="0" fontAlgn="base" hangingPunct="0">
        <a:spcBef>
          <a:spcPct val="0"/>
        </a:spcBef>
        <a:spcAft>
          <a:spcPct val="0"/>
        </a:spcAft>
        <a:defRPr sz="3000">
          <a:solidFill>
            <a:schemeClr val="tx2"/>
          </a:solidFill>
          <a:latin typeface="+mj-lt"/>
          <a:ea typeface="+mj-ea"/>
          <a:cs typeface="+mj-cs"/>
        </a:defRPr>
      </a:lvl1pPr>
      <a:lvl2pPr algn="l" rtl="0" eaLnBrk="0" fontAlgn="base" hangingPunct="0">
        <a:spcBef>
          <a:spcPct val="0"/>
        </a:spcBef>
        <a:spcAft>
          <a:spcPct val="0"/>
        </a:spcAft>
        <a:defRPr sz="3000">
          <a:solidFill>
            <a:schemeClr val="tx2"/>
          </a:solidFill>
          <a:latin typeface="Arial" charset="0"/>
          <a:ea typeface="Arial" charset="0"/>
          <a:cs typeface="Arial" charset="0"/>
        </a:defRPr>
      </a:lvl2pPr>
      <a:lvl3pPr algn="l" rtl="0" eaLnBrk="0" fontAlgn="base" hangingPunct="0">
        <a:spcBef>
          <a:spcPct val="0"/>
        </a:spcBef>
        <a:spcAft>
          <a:spcPct val="0"/>
        </a:spcAft>
        <a:defRPr sz="3000">
          <a:solidFill>
            <a:schemeClr val="tx2"/>
          </a:solidFill>
          <a:latin typeface="Arial" charset="0"/>
          <a:ea typeface="Arial" charset="0"/>
          <a:cs typeface="Arial" charset="0"/>
        </a:defRPr>
      </a:lvl3pPr>
      <a:lvl4pPr algn="l" rtl="0" eaLnBrk="0" fontAlgn="base" hangingPunct="0">
        <a:spcBef>
          <a:spcPct val="0"/>
        </a:spcBef>
        <a:spcAft>
          <a:spcPct val="0"/>
        </a:spcAft>
        <a:defRPr sz="3000">
          <a:solidFill>
            <a:schemeClr val="tx2"/>
          </a:solidFill>
          <a:latin typeface="Arial" charset="0"/>
          <a:ea typeface="Arial" charset="0"/>
          <a:cs typeface="Arial" charset="0"/>
        </a:defRPr>
      </a:lvl4pPr>
      <a:lvl5pPr algn="l" rtl="0" eaLnBrk="0" fontAlgn="base" hangingPunct="0">
        <a:spcBef>
          <a:spcPct val="0"/>
        </a:spcBef>
        <a:spcAft>
          <a:spcPct val="0"/>
        </a:spcAft>
        <a:defRPr sz="3000">
          <a:solidFill>
            <a:schemeClr val="tx2"/>
          </a:solidFill>
          <a:latin typeface="Arial" charset="0"/>
          <a:ea typeface="Arial" charset="0"/>
          <a:cs typeface="Arial" charset="0"/>
        </a:defRPr>
      </a:lvl5pPr>
      <a:lvl6pPr marL="457200" algn="l" rtl="0" fontAlgn="base">
        <a:spcBef>
          <a:spcPct val="0"/>
        </a:spcBef>
        <a:spcAft>
          <a:spcPct val="0"/>
        </a:spcAft>
        <a:defRPr sz="3000">
          <a:solidFill>
            <a:schemeClr val="tx2"/>
          </a:solidFill>
          <a:latin typeface="Arial" charset="0"/>
          <a:ea typeface="Arial" charset="0"/>
          <a:cs typeface="Arial" charset="0"/>
        </a:defRPr>
      </a:lvl6pPr>
      <a:lvl7pPr marL="914400" algn="l" rtl="0" fontAlgn="base">
        <a:spcBef>
          <a:spcPct val="0"/>
        </a:spcBef>
        <a:spcAft>
          <a:spcPct val="0"/>
        </a:spcAft>
        <a:defRPr sz="3000">
          <a:solidFill>
            <a:schemeClr val="tx2"/>
          </a:solidFill>
          <a:latin typeface="Arial" charset="0"/>
          <a:ea typeface="Arial" charset="0"/>
          <a:cs typeface="Arial" charset="0"/>
        </a:defRPr>
      </a:lvl7pPr>
      <a:lvl8pPr marL="1371600" algn="l" rtl="0" fontAlgn="base">
        <a:spcBef>
          <a:spcPct val="0"/>
        </a:spcBef>
        <a:spcAft>
          <a:spcPct val="0"/>
        </a:spcAft>
        <a:defRPr sz="3000">
          <a:solidFill>
            <a:schemeClr val="tx2"/>
          </a:solidFill>
          <a:latin typeface="Arial" charset="0"/>
          <a:ea typeface="Arial" charset="0"/>
          <a:cs typeface="Arial" charset="0"/>
        </a:defRPr>
      </a:lvl8pPr>
      <a:lvl9pPr marL="1828800" algn="l" rtl="0" fontAlgn="base">
        <a:spcBef>
          <a:spcPct val="0"/>
        </a:spcBef>
        <a:spcAft>
          <a:spcPct val="0"/>
        </a:spcAft>
        <a:defRPr sz="3000">
          <a:solidFill>
            <a:schemeClr val="tx2"/>
          </a:solidFill>
          <a:latin typeface="Arial" charset="0"/>
          <a:ea typeface="Arial" charset="0"/>
          <a:cs typeface="Arial" charset="0"/>
        </a:defRPr>
      </a:lvl9pPr>
    </p:titleStyle>
    <p:bodyStyle>
      <a:lvl1pPr marL="342900" indent="-342900" algn="l" rtl="0" eaLnBrk="0" fontAlgn="base" hangingPunct="0">
        <a:spcBef>
          <a:spcPct val="20000"/>
        </a:spcBef>
        <a:spcAft>
          <a:spcPct val="0"/>
        </a:spcAft>
        <a:buClr>
          <a:schemeClr val="tx1"/>
        </a:buClr>
        <a:buSzPct val="70000"/>
        <a:buFont typeface="Wingdings" pitchFamily="-107" charset="2"/>
        <a:buChar char="¢"/>
        <a:defRPr sz="2600">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itchFamily="-107" charset="2"/>
        <a:buChar char="l"/>
        <a:defRPr sz="2400">
          <a:solidFill>
            <a:schemeClr val="tx2"/>
          </a:solidFill>
          <a:latin typeface="+mn-lt"/>
          <a:ea typeface="+mn-ea"/>
          <a:cs typeface="+mn-cs"/>
        </a:defRPr>
      </a:lvl2pPr>
      <a:lvl3pPr marL="1143000" indent="-228600" algn="l" rtl="0" eaLnBrk="0" fontAlgn="base" hangingPunct="0">
        <a:spcBef>
          <a:spcPct val="20000"/>
        </a:spcBef>
        <a:spcAft>
          <a:spcPct val="0"/>
        </a:spcAft>
        <a:buClr>
          <a:schemeClr val="accent2"/>
        </a:buClr>
        <a:buChar char="•"/>
        <a:defRPr sz="2000">
          <a:solidFill>
            <a:schemeClr val="tx2"/>
          </a:solidFill>
          <a:latin typeface="+mn-lt"/>
          <a:ea typeface="+mn-ea"/>
          <a:cs typeface="+mn-cs"/>
        </a:defRPr>
      </a:lvl3pPr>
      <a:lvl4pPr marL="1600200" indent="-228600" algn="l" rtl="0" eaLnBrk="0" fontAlgn="base" hangingPunct="0">
        <a:spcBef>
          <a:spcPct val="20000"/>
        </a:spcBef>
        <a:spcAft>
          <a:spcPct val="0"/>
        </a:spcAft>
        <a:buClr>
          <a:schemeClr val="tx1"/>
        </a:buClr>
        <a:buChar char="•"/>
        <a:defRPr>
          <a:solidFill>
            <a:schemeClr val="tx2"/>
          </a:solidFill>
          <a:latin typeface="+mn-lt"/>
          <a:ea typeface="+mn-ea"/>
          <a:cs typeface="+mn-cs"/>
        </a:defRPr>
      </a:lvl4pPr>
      <a:lvl5pPr marL="2057400" indent="-228600" algn="l" rtl="0" eaLnBrk="0" fontAlgn="base" hangingPunct="0">
        <a:spcBef>
          <a:spcPct val="20000"/>
        </a:spcBef>
        <a:spcAft>
          <a:spcPct val="0"/>
        </a:spcAft>
        <a:buChar char="•"/>
        <a:defRPr>
          <a:solidFill>
            <a:schemeClr val="tx2"/>
          </a:solidFill>
          <a:latin typeface="+mn-lt"/>
          <a:ea typeface="+mn-ea"/>
          <a:cs typeface="+mn-cs"/>
        </a:defRPr>
      </a:lvl5pPr>
      <a:lvl6pPr marL="2514600" indent="-228600" algn="l" rtl="0" fontAlgn="base">
        <a:spcBef>
          <a:spcPct val="20000"/>
        </a:spcBef>
        <a:spcAft>
          <a:spcPct val="0"/>
        </a:spcAft>
        <a:buChar char="•"/>
        <a:defRPr>
          <a:solidFill>
            <a:schemeClr val="tx2"/>
          </a:solidFill>
          <a:latin typeface="+mn-lt"/>
          <a:ea typeface="+mn-ea"/>
          <a:cs typeface="+mn-cs"/>
        </a:defRPr>
      </a:lvl6pPr>
      <a:lvl7pPr marL="2971800" indent="-228600" algn="l" rtl="0" fontAlgn="base">
        <a:spcBef>
          <a:spcPct val="20000"/>
        </a:spcBef>
        <a:spcAft>
          <a:spcPct val="0"/>
        </a:spcAft>
        <a:buChar char="•"/>
        <a:defRPr>
          <a:solidFill>
            <a:schemeClr val="tx2"/>
          </a:solidFill>
          <a:latin typeface="+mn-lt"/>
          <a:ea typeface="+mn-ea"/>
          <a:cs typeface="+mn-cs"/>
        </a:defRPr>
      </a:lvl7pPr>
      <a:lvl8pPr marL="3429000" indent="-228600" algn="l" rtl="0" fontAlgn="base">
        <a:spcBef>
          <a:spcPct val="20000"/>
        </a:spcBef>
        <a:spcAft>
          <a:spcPct val="0"/>
        </a:spcAft>
        <a:buChar char="•"/>
        <a:defRPr>
          <a:solidFill>
            <a:schemeClr val="tx2"/>
          </a:solidFill>
          <a:latin typeface="+mn-lt"/>
          <a:ea typeface="+mn-ea"/>
          <a:cs typeface="+mn-cs"/>
        </a:defRPr>
      </a:lvl8pPr>
      <a:lvl9pPr marL="3886200" indent="-228600" algn="l" rtl="0" fontAlgn="base">
        <a:spcBef>
          <a:spcPct val="20000"/>
        </a:spcBef>
        <a:spcAft>
          <a:spcPct val="0"/>
        </a:spcAft>
        <a:buChar char="•"/>
        <a:defRPr>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11.png"/><Relationship Id="rId3" Type="http://schemas.openxmlformats.org/officeDocument/2006/relationships/slideLayout" Target="../slideLayouts/slideLayout2.xml"/><Relationship Id="rId7" Type="http://schemas.openxmlformats.org/officeDocument/2006/relationships/image" Target="../media/image6.png"/><Relationship Id="rId12" Type="http://schemas.openxmlformats.org/officeDocument/2006/relationships/oleObject" Target="../embeddings/oleObject1.bin"/><Relationship Id="rId2" Type="http://schemas.openxmlformats.org/officeDocument/2006/relationships/video" Target="\Users\eal\Archive\talksbyothers\2009\ShortProcessRelative.wmv" TargetMode="External"/><Relationship Id="rId1" Type="http://schemas.openxmlformats.org/officeDocument/2006/relationships/vmlDrawing" Target="../drawings/vmlDrawing1.vml"/><Relationship Id="rId6" Type="http://schemas.openxmlformats.org/officeDocument/2006/relationships/image" Target="../media/image5.jpeg"/><Relationship Id="rId11" Type="http://schemas.openxmlformats.org/officeDocument/2006/relationships/image" Target="../media/image10.jpeg"/><Relationship Id="rId5" Type="http://schemas.openxmlformats.org/officeDocument/2006/relationships/image" Target="../media/image4.png"/><Relationship Id="rId15" Type="http://schemas.openxmlformats.org/officeDocument/2006/relationships/image" Target="../media/image13.png"/><Relationship Id="rId10" Type="http://schemas.openxmlformats.org/officeDocument/2006/relationships/image" Target="../media/image9.png"/><Relationship Id="rId4" Type="http://schemas.openxmlformats.org/officeDocument/2006/relationships/notesSlide" Target="../notesSlides/notesSlide1.xml"/><Relationship Id="rId9" Type="http://schemas.openxmlformats.org/officeDocument/2006/relationships/image" Target="../media/image8.jpeg"/><Relationship Id="rId14" Type="http://schemas.openxmlformats.org/officeDocument/2006/relationships/image" Target="../media/image1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oleObject" Target="../embeddings/oleObject2.bin"/></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12.xml"/><Relationship Id="rId1" Type="http://schemas.openxmlformats.org/officeDocument/2006/relationships/video" Target="file:///C:\cvsimages\eecs124\src\lectures\pictures\stickyMasses.avi" TargetMode="Externa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34.png"/><Relationship Id="rId7"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oleObject" Target="../embeddings/oleObject3.bin"/><Relationship Id="rId4" Type="http://schemas.openxmlformats.org/officeDocument/2006/relationships/image" Target="../media/image35.png"/><Relationship Id="rId9" Type="http://schemas.openxmlformats.org/officeDocument/2006/relationships/oleObject" Target="../embeddings/oleObject7.bin"/></Relationships>
</file>

<file path=ppt/slides/_rels/slide1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w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slideLayout" Target="../slideLayouts/slideLayout12.xml"/><Relationship Id="rId1" Type="http://schemas.openxmlformats.org/officeDocument/2006/relationships/video" Target="file:///C:\cvsimages\eecs124\src\lectures\pictures\springMass.avi" TargetMode="Externa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oleObject" Target="../embeddings/oleObject9.bin"/></Relationships>
</file>

<file path=ppt/slides/_rels/slide2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slideLayout" Target="../slideLayouts/slideLayout2.xml"/><Relationship Id="rId1" Type="http://schemas.openxmlformats.org/officeDocument/2006/relationships/video" Target="file:///D:\Archive\Videos\PATH\Kingvale-Blower_NEW.avi"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3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slideLayout" Target="../slideLayouts/slideLayout2.xml"/><Relationship Id="rId1" Type="http://schemas.openxmlformats.org/officeDocument/2006/relationships/video" Target="file:///D:\Archive\Videos\EECS124\Wiicegbot.wmv" TargetMode="External"/><Relationship Id="rId5" Type="http://schemas.openxmlformats.org/officeDocument/2006/relationships/image" Target="../media/image62.png"/><Relationship Id="rId4" Type="http://schemas.openxmlformats.org/officeDocument/2006/relationships/image" Target="../media/image61.wmf"/></Relationships>
</file>

<file path=ppt/slides/_rels/slide3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slideLayout" Target="../slideLayouts/slideLayout2.xml"/><Relationship Id="rId1" Type="http://schemas.openxmlformats.org/officeDocument/2006/relationships/video" Target="file:///D:\Archive\Videos\EECS124\iRobotMap.wmv" TargetMode="External"/><Relationship Id="rId5" Type="http://schemas.openxmlformats.org/officeDocument/2006/relationships/image" Target="../media/image65.wmf"/><Relationship Id="rId4" Type="http://schemas.openxmlformats.org/officeDocument/2006/relationships/image" Target="../media/image64.wmf"/></Relationships>
</file>

<file path=ppt/slides/_rels/slide3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ctrTitle"/>
          </p:nvPr>
        </p:nvSpPr>
        <p:spPr/>
        <p:txBody>
          <a:bodyPr/>
          <a:lstStyle/>
          <a:p>
            <a:pPr eaLnBrk="1" hangingPunct="1"/>
            <a:r>
              <a:rPr lang="en-US" sz="3200" smtClean="0"/>
              <a:t>Introducing Embedded Systems: </a:t>
            </a:r>
            <a:br>
              <a:rPr lang="en-US" sz="3200" smtClean="0"/>
            </a:br>
            <a:r>
              <a:rPr lang="en-US" sz="3200" smtClean="0"/>
              <a:t>A Cyber- Physical Approach</a:t>
            </a:r>
          </a:p>
        </p:txBody>
      </p:sp>
      <p:sp>
        <p:nvSpPr>
          <p:cNvPr id="29699" name="Rectangle 3"/>
          <p:cNvSpPr>
            <a:spLocks noGrp="1" noChangeArrowheads="1"/>
          </p:cNvSpPr>
          <p:nvPr>
            <p:ph type="subTitle" idx="1"/>
          </p:nvPr>
        </p:nvSpPr>
        <p:spPr>
          <a:xfrm>
            <a:off x="2133600" y="3505200"/>
            <a:ext cx="7010400" cy="3200400"/>
          </a:xfrm>
        </p:spPr>
        <p:txBody>
          <a:bodyPr/>
          <a:lstStyle/>
          <a:p>
            <a:pPr eaLnBrk="1" hangingPunct="1">
              <a:lnSpc>
                <a:spcPct val="80000"/>
              </a:lnSpc>
              <a:buFont typeface="Wingdings" pitchFamily="-107" charset="2"/>
              <a:buNone/>
            </a:pPr>
            <a:r>
              <a:rPr lang="en-US" smtClean="0">
                <a:solidFill>
                  <a:srgbClr val="CC0000"/>
                </a:solidFill>
              </a:rPr>
              <a:t>Edward A. Lee</a:t>
            </a:r>
          </a:p>
          <a:p>
            <a:pPr eaLnBrk="1" hangingPunct="1">
              <a:buFont typeface="Wingdings" pitchFamily="-107" charset="2"/>
              <a:buNone/>
            </a:pPr>
            <a:r>
              <a:rPr lang="en-US" sz="1800" i="1" smtClean="0"/>
              <a:t>Robert S. Pepper Distinguished Professor</a:t>
            </a:r>
            <a:br>
              <a:rPr lang="en-US" sz="1800" i="1" smtClean="0"/>
            </a:br>
            <a:r>
              <a:rPr lang="en-US" sz="1800" i="1" smtClean="0"/>
              <a:t>UC Berkeley</a:t>
            </a:r>
          </a:p>
          <a:p>
            <a:pPr eaLnBrk="1" hangingPunct="1">
              <a:buFont typeface="Wingdings" pitchFamily="-107" charset="2"/>
              <a:buNone/>
            </a:pPr>
            <a:endParaRPr lang="en-US" sz="1800" i="1" smtClean="0"/>
          </a:p>
          <a:p>
            <a:pPr eaLnBrk="1" hangingPunct="1">
              <a:buFont typeface="Wingdings" pitchFamily="-107" charset="2"/>
              <a:buNone/>
            </a:pPr>
            <a:endParaRPr lang="en-US" sz="1500" i="1" smtClean="0"/>
          </a:p>
          <a:p>
            <a:pPr eaLnBrk="1" hangingPunct="1">
              <a:buFont typeface="Wingdings" pitchFamily="-107" charset="2"/>
              <a:buNone/>
            </a:pPr>
            <a:r>
              <a:rPr lang="en-US" sz="1500" i="1" smtClean="0"/>
              <a:t>Invited Keynote Talk</a:t>
            </a:r>
          </a:p>
          <a:p>
            <a:pPr eaLnBrk="1" hangingPunct="1">
              <a:buFont typeface="Wingdings" pitchFamily="-107" charset="2"/>
              <a:buNone/>
            </a:pPr>
            <a:r>
              <a:rPr lang="en-US" sz="1500" i="1" smtClean="0"/>
              <a:t>Workshop on Embedded Systems Education (WESE)</a:t>
            </a:r>
          </a:p>
          <a:p>
            <a:pPr eaLnBrk="1" hangingPunct="1">
              <a:buFont typeface="Wingdings" pitchFamily="-107" charset="2"/>
              <a:buNone/>
            </a:pPr>
            <a:r>
              <a:rPr lang="en-US" sz="1500" i="1" smtClean="0"/>
              <a:t>ES Week</a:t>
            </a:r>
          </a:p>
          <a:p>
            <a:pPr eaLnBrk="1" hangingPunct="1">
              <a:buFont typeface="Wingdings" pitchFamily="-107" charset="2"/>
              <a:buNone/>
            </a:pPr>
            <a:endParaRPr lang="en-US" sz="1500" i="1" smtClean="0"/>
          </a:p>
          <a:p>
            <a:pPr eaLnBrk="1" hangingPunct="1">
              <a:buFont typeface="Wingdings" pitchFamily="-107" charset="2"/>
              <a:buNone/>
            </a:pPr>
            <a:r>
              <a:rPr lang="en-US" sz="1400" i="1" smtClean="0"/>
              <a:t>Grenoble, France</a:t>
            </a:r>
          </a:p>
          <a:p>
            <a:pPr eaLnBrk="1" hangingPunct="1">
              <a:buFont typeface="Wingdings" pitchFamily="-107" charset="2"/>
              <a:buNone/>
            </a:pPr>
            <a:r>
              <a:rPr lang="en-US" sz="1400" i="1" smtClean="0"/>
              <a:t>October 15, 2009</a:t>
            </a:r>
            <a:endParaRPr lang="en-US" sz="160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9"/>
          <p:cNvSpPr>
            <a:spLocks noChangeArrowheads="1"/>
          </p:cNvSpPr>
          <p:nvPr/>
        </p:nvSpPr>
        <p:spPr bwMode="auto">
          <a:xfrm>
            <a:off x="4267200" y="6477000"/>
            <a:ext cx="4876800" cy="381000"/>
          </a:xfrm>
          <a:prstGeom prst="rect">
            <a:avLst/>
          </a:prstGeom>
          <a:solidFill>
            <a:schemeClr val="bg1"/>
          </a:solidFill>
          <a:ln w="9525">
            <a:noFill/>
            <a:round/>
            <a:headEnd/>
            <a:tailEnd/>
          </a:ln>
        </p:spPr>
        <p:txBody>
          <a:bodyPr/>
          <a:lstStyle/>
          <a:p>
            <a:endParaRPr lang="en-US"/>
          </a:p>
        </p:txBody>
      </p:sp>
      <p:pic>
        <p:nvPicPr>
          <p:cNvPr id="30724" name="Picture 31"/>
          <p:cNvPicPr>
            <a:picLocks noChangeAspect="1"/>
          </p:cNvPicPr>
          <p:nvPr/>
        </p:nvPicPr>
        <p:blipFill>
          <a:blip r:embed="rId5"/>
          <a:srcRect/>
          <a:stretch>
            <a:fillRect/>
          </a:stretch>
        </p:blipFill>
        <p:spPr bwMode="auto">
          <a:xfrm>
            <a:off x="0" y="2590800"/>
            <a:ext cx="3689350" cy="2330450"/>
          </a:xfrm>
          <a:prstGeom prst="rect">
            <a:avLst/>
          </a:prstGeom>
          <a:noFill/>
          <a:ln w="9525">
            <a:noFill/>
            <a:miter lim="800000"/>
            <a:headEnd/>
            <a:tailEnd/>
          </a:ln>
        </p:spPr>
      </p:pic>
      <p:pic>
        <p:nvPicPr>
          <p:cNvPr id="30725" name="Picture 4" descr="aircraft_control"/>
          <p:cNvPicPr>
            <a:picLocks noChangeAspect="1" noChangeArrowheads="1"/>
          </p:cNvPicPr>
          <p:nvPr/>
        </p:nvPicPr>
        <p:blipFill>
          <a:blip r:embed="rId6"/>
          <a:srcRect/>
          <a:stretch>
            <a:fillRect/>
          </a:stretch>
        </p:blipFill>
        <p:spPr bwMode="auto">
          <a:xfrm>
            <a:off x="4800600" y="0"/>
            <a:ext cx="1333500" cy="1851025"/>
          </a:xfrm>
          <a:prstGeom prst="rect">
            <a:avLst/>
          </a:prstGeom>
          <a:noFill/>
          <a:ln w="9525">
            <a:noFill/>
            <a:miter lim="800000"/>
            <a:headEnd/>
            <a:tailEnd/>
          </a:ln>
        </p:spPr>
      </p:pic>
      <p:sp>
        <p:nvSpPr>
          <p:cNvPr id="30726" name="Text Box 3"/>
          <p:cNvSpPr txBox="1">
            <a:spLocks noChangeArrowheads="1"/>
          </p:cNvSpPr>
          <p:nvPr/>
        </p:nvSpPr>
        <p:spPr bwMode="auto">
          <a:xfrm>
            <a:off x="4724400" y="6581775"/>
            <a:ext cx="3479800" cy="276225"/>
          </a:xfrm>
          <a:prstGeom prst="rect">
            <a:avLst/>
          </a:prstGeom>
          <a:noFill/>
          <a:ln w="9525">
            <a:noFill/>
            <a:miter lim="800000"/>
            <a:headEnd/>
            <a:tailEnd/>
          </a:ln>
        </p:spPr>
        <p:txBody>
          <a:bodyPr>
            <a:spAutoFit/>
          </a:bodyPr>
          <a:lstStyle/>
          <a:p>
            <a:pPr eaLnBrk="0" hangingPunct="0"/>
            <a:r>
              <a:rPr lang="en-US" sz="1200">
                <a:solidFill>
                  <a:srgbClr val="336666"/>
                </a:solidFill>
                <a:latin typeface="Helvetica" pitchFamily="-107" charset="0"/>
              </a:rPr>
              <a:t>Courtesy of Kuka Robotics Corp.</a:t>
            </a:r>
          </a:p>
        </p:txBody>
      </p:sp>
      <p:pic>
        <p:nvPicPr>
          <p:cNvPr id="30727" name="Picture 8"/>
          <p:cNvPicPr>
            <a:picLocks noChangeAspect="1" noChangeArrowheads="1"/>
          </p:cNvPicPr>
          <p:nvPr/>
        </p:nvPicPr>
        <p:blipFill>
          <a:blip r:embed="rId7"/>
          <a:srcRect/>
          <a:stretch>
            <a:fillRect/>
          </a:stretch>
        </p:blipFill>
        <p:spPr bwMode="auto">
          <a:xfrm>
            <a:off x="-128588" y="4916488"/>
            <a:ext cx="2940051" cy="2017712"/>
          </a:xfrm>
          <a:prstGeom prst="rect">
            <a:avLst/>
          </a:prstGeom>
          <a:noFill/>
          <a:ln w="9525">
            <a:noFill/>
            <a:miter lim="800000"/>
            <a:headEnd/>
            <a:tailEnd/>
          </a:ln>
        </p:spPr>
      </p:pic>
      <p:sp>
        <p:nvSpPr>
          <p:cNvPr id="30728" name="Rectangle 21"/>
          <p:cNvSpPr>
            <a:spLocks noChangeArrowheads="1"/>
          </p:cNvSpPr>
          <p:nvPr/>
        </p:nvSpPr>
        <p:spPr bwMode="auto">
          <a:xfrm>
            <a:off x="2935288" y="3276600"/>
            <a:ext cx="1752600" cy="3581400"/>
          </a:xfrm>
          <a:prstGeom prst="rect">
            <a:avLst/>
          </a:prstGeom>
          <a:solidFill>
            <a:schemeClr val="accent1"/>
          </a:solidFill>
          <a:ln w="9525">
            <a:solidFill>
              <a:schemeClr val="tx1"/>
            </a:solidFill>
            <a:round/>
            <a:headEnd/>
            <a:tailEnd/>
          </a:ln>
        </p:spPr>
        <p:txBody>
          <a:bodyPr/>
          <a:lstStyle/>
          <a:p>
            <a:endParaRPr lang="en-US"/>
          </a:p>
        </p:txBody>
      </p:sp>
      <p:sp>
        <p:nvSpPr>
          <p:cNvPr id="30729" name="Rectangle 19"/>
          <p:cNvSpPr>
            <a:spLocks noChangeArrowheads="1"/>
          </p:cNvSpPr>
          <p:nvPr/>
        </p:nvSpPr>
        <p:spPr bwMode="auto">
          <a:xfrm>
            <a:off x="0" y="0"/>
            <a:ext cx="1905000" cy="1752600"/>
          </a:xfrm>
          <a:prstGeom prst="rect">
            <a:avLst/>
          </a:prstGeom>
          <a:solidFill>
            <a:srgbClr val="FFFFFF"/>
          </a:solidFill>
          <a:ln w="9525">
            <a:noFill/>
            <a:round/>
            <a:headEnd/>
            <a:tailEnd/>
          </a:ln>
        </p:spPr>
        <p:txBody>
          <a:bodyPr/>
          <a:lstStyle/>
          <a:p>
            <a:endParaRPr lang="en-US"/>
          </a:p>
        </p:txBody>
      </p:sp>
      <p:sp>
        <p:nvSpPr>
          <p:cNvPr id="30730" name="Rectangle 2"/>
          <p:cNvSpPr>
            <a:spLocks noGrp="1" noChangeArrowheads="1"/>
          </p:cNvSpPr>
          <p:nvPr>
            <p:ph type="title"/>
          </p:nvPr>
        </p:nvSpPr>
        <p:spPr>
          <a:xfrm>
            <a:off x="0" y="0"/>
            <a:ext cx="4800600" cy="914400"/>
          </a:xfrm>
          <a:solidFill>
            <a:schemeClr val="bg1"/>
          </a:solidFill>
        </p:spPr>
        <p:txBody>
          <a:bodyPr/>
          <a:lstStyle/>
          <a:p>
            <a:pPr eaLnBrk="1" hangingPunct="1"/>
            <a:r>
              <a:rPr lang="en-US" sz="2400" smtClean="0"/>
              <a:t>Cyber-Physical Systems (CPS):</a:t>
            </a:r>
            <a:r>
              <a:rPr lang="en-US" sz="2000" smtClean="0">
                <a:solidFill>
                  <a:srgbClr val="800000"/>
                </a:solidFill>
              </a:rPr>
              <a:t/>
            </a:r>
            <a:br>
              <a:rPr lang="en-US" sz="2000" smtClean="0">
                <a:solidFill>
                  <a:srgbClr val="800000"/>
                </a:solidFill>
              </a:rPr>
            </a:br>
            <a:r>
              <a:rPr lang="en-US" sz="2000" i="1" smtClean="0">
                <a:solidFill>
                  <a:srgbClr val="800000"/>
                </a:solidFill>
              </a:rPr>
              <a:t>Orchestrating networked computational </a:t>
            </a:r>
            <a:br>
              <a:rPr lang="en-US" sz="2000" i="1" smtClean="0">
                <a:solidFill>
                  <a:srgbClr val="800000"/>
                </a:solidFill>
              </a:rPr>
            </a:br>
            <a:r>
              <a:rPr lang="en-US" sz="2000" i="1" smtClean="0">
                <a:solidFill>
                  <a:srgbClr val="800000"/>
                </a:solidFill>
              </a:rPr>
              <a:t>resources with physical systems</a:t>
            </a:r>
            <a:endParaRPr lang="en-US" sz="2600" smtClean="0">
              <a:solidFill>
                <a:srgbClr val="800000"/>
              </a:solidFill>
            </a:endParaRPr>
          </a:p>
        </p:txBody>
      </p:sp>
      <p:pic>
        <p:nvPicPr>
          <p:cNvPr id="30731" name="Picture 6" descr="wind"/>
          <p:cNvPicPr>
            <a:picLocks noChangeAspect="1" noChangeArrowheads="1"/>
          </p:cNvPicPr>
          <p:nvPr/>
        </p:nvPicPr>
        <p:blipFill>
          <a:blip r:embed="rId8"/>
          <a:srcRect/>
          <a:stretch>
            <a:fillRect/>
          </a:stretch>
        </p:blipFill>
        <p:spPr bwMode="auto">
          <a:xfrm>
            <a:off x="3011488" y="5326063"/>
            <a:ext cx="1597025" cy="1127125"/>
          </a:xfrm>
          <a:prstGeom prst="rect">
            <a:avLst/>
          </a:prstGeom>
          <a:noFill/>
          <a:ln w="9525">
            <a:noFill/>
            <a:miter lim="800000"/>
            <a:headEnd/>
            <a:tailEnd/>
          </a:ln>
        </p:spPr>
      </p:pic>
      <p:pic>
        <p:nvPicPr>
          <p:cNvPr id="30732" name="Picture 8" descr="generator"/>
          <p:cNvPicPr>
            <a:picLocks noChangeAspect="1" noChangeArrowheads="1"/>
          </p:cNvPicPr>
          <p:nvPr/>
        </p:nvPicPr>
        <p:blipFill>
          <a:blip r:embed="rId9"/>
          <a:srcRect/>
          <a:stretch>
            <a:fillRect/>
          </a:stretch>
        </p:blipFill>
        <p:spPr bwMode="auto">
          <a:xfrm>
            <a:off x="3087688" y="4087813"/>
            <a:ext cx="1450975" cy="1169987"/>
          </a:xfrm>
          <a:prstGeom prst="rect">
            <a:avLst/>
          </a:prstGeom>
          <a:noFill/>
          <a:ln w="9525">
            <a:noFill/>
            <a:miter lim="800000"/>
            <a:headEnd/>
            <a:tailEnd/>
          </a:ln>
        </p:spPr>
      </p:pic>
      <p:sp>
        <p:nvSpPr>
          <p:cNvPr id="14" name="Text Box 3"/>
          <p:cNvSpPr txBox="1">
            <a:spLocks noChangeArrowheads="1"/>
          </p:cNvSpPr>
          <p:nvPr/>
        </p:nvSpPr>
        <p:spPr bwMode="auto">
          <a:xfrm>
            <a:off x="228600" y="6519863"/>
            <a:ext cx="3479800" cy="307975"/>
          </a:xfrm>
          <a:prstGeom prst="rect">
            <a:avLst/>
          </a:prstGeom>
          <a:noFill/>
          <a:ln w="9525">
            <a:noFill/>
            <a:miter lim="800000"/>
            <a:headEnd/>
            <a:tailEnd/>
          </a:ln>
          <a:effectLst/>
        </p:spPr>
        <p:txBody>
          <a:bodyPr>
            <a:spAutoFit/>
          </a:bodyPr>
          <a:lstStyle/>
          <a:p>
            <a:pPr eaLnBrk="0" hangingPunct="0">
              <a:defRPr/>
            </a:pPr>
            <a:r>
              <a:rPr lang="en-US" sz="1400" b="1">
                <a:solidFill>
                  <a:schemeClr val="bg1"/>
                </a:solidFill>
                <a:effectLst>
                  <a:outerShdw blurRad="38100" dist="38100" dir="2700000" algn="tl">
                    <a:srgbClr val="DDDDDD"/>
                  </a:outerShdw>
                </a:effectLst>
                <a:latin typeface="Helvetica" pitchFamily="-107" charset="0"/>
                <a:cs typeface="Arial" pitchFamily="-106" charset="0"/>
              </a:rPr>
              <a:t>Courtesy of Doug Schmidt</a:t>
            </a:r>
          </a:p>
        </p:txBody>
      </p:sp>
      <p:sp>
        <p:nvSpPr>
          <p:cNvPr id="30734" name="TextBox 15"/>
          <p:cNvSpPr txBox="1">
            <a:spLocks noChangeArrowheads="1"/>
          </p:cNvSpPr>
          <p:nvPr/>
        </p:nvSpPr>
        <p:spPr bwMode="auto">
          <a:xfrm>
            <a:off x="2935288" y="3284538"/>
            <a:ext cx="1600200" cy="830262"/>
          </a:xfrm>
          <a:prstGeom prst="rect">
            <a:avLst/>
          </a:prstGeom>
          <a:noFill/>
          <a:ln w="9525">
            <a:noFill/>
            <a:miter lim="800000"/>
            <a:headEnd/>
            <a:tailEnd/>
          </a:ln>
        </p:spPr>
        <p:txBody>
          <a:bodyPr>
            <a:spAutoFit/>
          </a:bodyPr>
          <a:lstStyle/>
          <a:p>
            <a:r>
              <a:rPr lang="en-US"/>
              <a:t>Power generation and distribution</a:t>
            </a:r>
          </a:p>
        </p:txBody>
      </p:sp>
      <p:sp>
        <p:nvSpPr>
          <p:cNvPr id="30735" name="TextBox 16"/>
          <p:cNvSpPr txBox="1">
            <a:spLocks noChangeArrowheads="1"/>
          </p:cNvSpPr>
          <p:nvPr/>
        </p:nvSpPr>
        <p:spPr bwMode="auto">
          <a:xfrm>
            <a:off x="3163888" y="6396038"/>
            <a:ext cx="1279525" cy="461962"/>
          </a:xfrm>
          <a:prstGeom prst="rect">
            <a:avLst/>
          </a:prstGeom>
          <a:noFill/>
          <a:ln w="9525">
            <a:noFill/>
            <a:miter lim="800000"/>
            <a:headEnd/>
            <a:tailEnd/>
          </a:ln>
        </p:spPr>
        <p:txBody>
          <a:bodyPr wrap="none">
            <a:spAutoFit/>
          </a:bodyPr>
          <a:lstStyle/>
          <a:p>
            <a:pPr algn="ctr"/>
            <a:r>
              <a:rPr lang="en-US" sz="1200" i="0"/>
              <a:t>Courtesy of </a:t>
            </a:r>
          </a:p>
          <a:p>
            <a:pPr algn="ctr"/>
            <a:r>
              <a:rPr lang="en-US" sz="1200" i="0"/>
              <a:t>General Electric</a:t>
            </a:r>
          </a:p>
        </p:txBody>
      </p:sp>
      <p:sp>
        <p:nvSpPr>
          <p:cNvPr id="30736" name="TextBox 17"/>
          <p:cNvSpPr txBox="1">
            <a:spLocks noChangeArrowheads="1"/>
          </p:cNvSpPr>
          <p:nvPr/>
        </p:nvSpPr>
        <p:spPr bwMode="auto">
          <a:xfrm>
            <a:off x="-7938" y="4691063"/>
            <a:ext cx="1749426" cy="338137"/>
          </a:xfrm>
          <a:prstGeom prst="rect">
            <a:avLst/>
          </a:prstGeom>
          <a:noFill/>
          <a:ln w="9525">
            <a:noFill/>
            <a:miter lim="800000"/>
            <a:headEnd/>
            <a:tailEnd/>
          </a:ln>
        </p:spPr>
        <p:txBody>
          <a:bodyPr wrap="none">
            <a:spAutoFit/>
          </a:bodyPr>
          <a:lstStyle/>
          <a:p>
            <a:r>
              <a:rPr lang="en-US"/>
              <a:t>Military systems:</a:t>
            </a:r>
          </a:p>
        </p:txBody>
      </p:sp>
      <p:pic>
        <p:nvPicPr>
          <p:cNvPr id="30737" name="Picture 4"/>
          <p:cNvPicPr>
            <a:picLocks noChangeAspect="1" noChangeArrowheads="1"/>
          </p:cNvPicPr>
          <p:nvPr/>
        </p:nvPicPr>
        <p:blipFill>
          <a:blip r:embed="rId10"/>
          <a:srcRect/>
          <a:stretch>
            <a:fillRect/>
          </a:stretch>
        </p:blipFill>
        <p:spPr bwMode="auto">
          <a:xfrm>
            <a:off x="0" y="1600200"/>
            <a:ext cx="2038350" cy="1330325"/>
          </a:xfrm>
          <a:prstGeom prst="rect">
            <a:avLst/>
          </a:prstGeom>
          <a:noFill/>
          <a:ln w="9525">
            <a:noFill/>
            <a:miter lim="800000"/>
            <a:headEnd/>
            <a:tailEnd/>
          </a:ln>
        </p:spPr>
      </p:pic>
      <p:sp>
        <p:nvSpPr>
          <p:cNvPr id="30738" name="TextBox 22"/>
          <p:cNvSpPr txBox="1">
            <a:spLocks noChangeArrowheads="1"/>
          </p:cNvSpPr>
          <p:nvPr/>
        </p:nvSpPr>
        <p:spPr bwMode="auto">
          <a:xfrm>
            <a:off x="0" y="2895600"/>
            <a:ext cx="1484313" cy="276225"/>
          </a:xfrm>
          <a:prstGeom prst="rect">
            <a:avLst/>
          </a:prstGeom>
          <a:noFill/>
          <a:ln w="9525">
            <a:noFill/>
            <a:miter lim="800000"/>
            <a:headEnd/>
            <a:tailEnd/>
          </a:ln>
        </p:spPr>
        <p:txBody>
          <a:bodyPr wrap="none">
            <a:spAutoFit/>
          </a:bodyPr>
          <a:lstStyle/>
          <a:p>
            <a:pPr algn="ctr"/>
            <a:r>
              <a:rPr lang="en-US" sz="1200" i="0"/>
              <a:t>E-Corner, Siemens</a:t>
            </a:r>
          </a:p>
        </p:txBody>
      </p:sp>
      <p:sp>
        <p:nvSpPr>
          <p:cNvPr id="30739" name="TextBox 32"/>
          <p:cNvSpPr txBox="1">
            <a:spLocks noChangeArrowheads="1"/>
          </p:cNvSpPr>
          <p:nvPr/>
        </p:nvSpPr>
        <p:spPr bwMode="auto">
          <a:xfrm>
            <a:off x="7772400" y="0"/>
            <a:ext cx="1371600" cy="954088"/>
          </a:xfrm>
          <a:prstGeom prst="rect">
            <a:avLst/>
          </a:prstGeom>
          <a:noFill/>
          <a:ln w="9525">
            <a:noFill/>
            <a:miter lim="800000"/>
            <a:headEnd/>
            <a:tailEnd/>
          </a:ln>
        </p:spPr>
        <p:txBody>
          <a:bodyPr>
            <a:spAutoFit/>
          </a:bodyPr>
          <a:lstStyle/>
          <a:p>
            <a:r>
              <a:rPr lang="en-US" sz="1400"/>
              <a:t>Transportation</a:t>
            </a:r>
          </a:p>
          <a:p>
            <a:r>
              <a:rPr lang="en-US" sz="1400"/>
              <a:t>(Air traffic control at SFO)</a:t>
            </a:r>
          </a:p>
        </p:txBody>
      </p:sp>
      <p:sp>
        <p:nvSpPr>
          <p:cNvPr id="30740" name="TextBox 33"/>
          <p:cNvSpPr txBox="1">
            <a:spLocks noChangeArrowheads="1"/>
          </p:cNvSpPr>
          <p:nvPr/>
        </p:nvSpPr>
        <p:spPr bwMode="auto">
          <a:xfrm>
            <a:off x="4800600" y="728663"/>
            <a:ext cx="1219200" cy="338137"/>
          </a:xfrm>
          <a:prstGeom prst="rect">
            <a:avLst/>
          </a:prstGeom>
          <a:solidFill>
            <a:srgbClr val="FFFFFF"/>
          </a:solidFill>
          <a:ln w="9525">
            <a:noFill/>
            <a:miter lim="800000"/>
            <a:headEnd/>
            <a:tailEnd/>
          </a:ln>
        </p:spPr>
        <p:txBody>
          <a:bodyPr>
            <a:spAutoFit/>
          </a:bodyPr>
          <a:lstStyle/>
          <a:p>
            <a:r>
              <a:rPr lang="en-US"/>
              <a:t>Avionics</a:t>
            </a:r>
          </a:p>
        </p:txBody>
      </p:sp>
      <p:pic>
        <p:nvPicPr>
          <p:cNvPr id="30741" name="Picture 4" descr="DSC00977"/>
          <p:cNvPicPr>
            <a:picLocks noChangeAspect="1" noChangeArrowheads="1"/>
          </p:cNvPicPr>
          <p:nvPr/>
        </p:nvPicPr>
        <p:blipFill>
          <a:blip r:embed="rId11"/>
          <a:srcRect/>
          <a:stretch>
            <a:fillRect/>
          </a:stretch>
        </p:blipFill>
        <p:spPr bwMode="auto">
          <a:xfrm>
            <a:off x="4178300" y="1063625"/>
            <a:ext cx="2832100" cy="2124075"/>
          </a:xfrm>
          <a:prstGeom prst="rect">
            <a:avLst/>
          </a:prstGeom>
          <a:noFill/>
          <a:ln w="9525">
            <a:noFill/>
            <a:miter lim="800000"/>
            <a:headEnd/>
            <a:tailEnd/>
          </a:ln>
        </p:spPr>
      </p:pic>
      <p:graphicFrame>
        <p:nvGraphicFramePr>
          <p:cNvPr id="30722" name="Object 2"/>
          <p:cNvGraphicFramePr>
            <a:graphicFrameLocks noChangeAspect="1"/>
          </p:cNvGraphicFramePr>
          <p:nvPr/>
        </p:nvGraphicFramePr>
        <p:xfrm>
          <a:off x="5989638" y="1398588"/>
          <a:ext cx="3154362" cy="2182812"/>
        </p:xfrm>
        <a:graphic>
          <a:graphicData uri="http://schemas.openxmlformats.org/presentationml/2006/ole">
            <p:oleObj spid="_x0000_s30722" name="Photo Editor Photo" r:id="rId12" imgW="15000000" imgH="8923810" progId="">
              <p:embed/>
            </p:oleObj>
          </a:graphicData>
        </a:graphic>
      </p:graphicFrame>
      <p:sp>
        <p:nvSpPr>
          <p:cNvPr id="30742" name="TextBox 29"/>
          <p:cNvSpPr txBox="1">
            <a:spLocks noChangeArrowheads="1"/>
          </p:cNvSpPr>
          <p:nvPr/>
        </p:nvSpPr>
        <p:spPr bwMode="auto">
          <a:xfrm>
            <a:off x="4191000" y="1066800"/>
            <a:ext cx="2057400" cy="307975"/>
          </a:xfrm>
          <a:prstGeom prst="rect">
            <a:avLst/>
          </a:prstGeom>
          <a:noFill/>
          <a:ln w="9525">
            <a:noFill/>
            <a:miter lim="800000"/>
            <a:headEnd/>
            <a:tailEnd/>
          </a:ln>
        </p:spPr>
        <p:txBody>
          <a:bodyPr>
            <a:spAutoFit/>
          </a:bodyPr>
          <a:lstStyle/>
          <a:p>
            <a:r>
              <a:rPr lang="en-US" sz="1400"/>
              <a:t>Telecommunications</a:t>
            </a:r>
          </a:p>
        </p:txBody>
      </p:sp>
      <p:pic>
        <p:nvPicPr>
          <p:cNvPr id="30743" name="Picture 3" descr="oaklandcenter"/>
          <p:cNvPicPr>
            <a:picLocks noChangeAspect="1" noChangeArrowheads="1"/>
          </p:cNvPicPr>
          <p:nvPr/>
        </p:nvPicPr>
        <p:blipFill>
          <a:blip r:embed="rId13"/>
          <a:srcRect l="15048" t="17499"/>
          <a:stretch>
            <a:fillRect/>
          </a:stretch>
        </p:blipFill>
        <p:spPr bwMode="auto">
          <a:xfrm>
            <a:off x="6019800" y="0"/>
            <a:ext cx="1752600" cy="1620838"/>
          </a:xfrm>
          <a:prstGeom prst="rect">
            <a:avLst/>
          </a:prstGeom>
          <a:noFill/>
          <a:ln w="9525">
            <a:noFill/>
            <a:miter lim="800000"/>
            <a:headEnd/>
            <a:tailEnd/>
          </a:ln>
        </p:spPr>
      </p:pic>
      <p:sp>
        <p:nvSpPr>
          <p:cNvPr id="30744" name="TextBox 14"/>
          <p:cNvSpPr txBox="1">
            <a:spLocks noChangeArrowheads="1"/>
          </p:cNvSpPr>
          <p:nvPr/>
        </p:nvSpPr>
        <p:spPr bwMode="auto">
          <a:xfrm>
            <a:off x="4716463" y="3124200"/>
            <a:ext cx="1989137" cy="338138"/>
          </a:xfrm>
          <a:prstGeom prst="rect">
            <a:avLst/>
          </a:prstGeom>
          <a:solidFill>
            <a:srgbClr val="FFFFFF"/>
          </a:solidFill>
          <a:ln w="9525">
            <a:noFill/>
            <a:miter lim="800000"/>
            <a:headEnd/>
            <a:tailEnd/>
          </a:ln>
        </p:spPr>
        <p:txBody>
          <a:bodyPr>
            <a:spAutoFit/>
          </a:bodyPr>
          <a:lstStyle/>
          <a:p>
            <a:r>
              <a:rPr lang="en-US"/>
              <a:t>Factory automation</a:t>
            </a:r>
          </a:p>
        </p:txBody>
      </p:sp>
      <p:sp>
        <p:nvSpPr>
          <p:cNvPr id="30745" name="TextBox 28"/>
          <p:cNvSpPr txBox="1">
            <a:spLocks noChangeArrowheads="1"/>
          </p:cNvSpPr>
          <p:nvPr/>
        </p:nvSpPr>
        <p:spPr bwMode="auto">
          <a:xfrm>
            <a:off x="7086600" y="2590800"/>
            <a:ext cx="2057400" cy="584200"/>
          </a:xfrm>
          <a:prstGeom prst="rect">
            <a:avLst/>
          </a:prstGeom>
          <a:noFill/>
          <a:ln w="9525">
            <a:noFill/>
            <a:miter lim="800000"/>
            <a:headEnd/>
            <a:tailEnd/>
          </a:ln>
        </p:spPr>
        <p:txBody>
          <a:bodyPr>
            <a:spAutoFit/>
          </a:bodyPr>
          <a:lstStyle/>
          <a:p>
            <a:pPr algn="r"/>
            <a:r>
              <a:rPr lang="en-US"/>
              <a:t>Instrumentation</a:t>
            </a:r>
          </a:p>
          <a:p>
            <a:pPr algn="r"/>
            <a:r>
              <a:rPr lang="en-US"/>
              <a:t>(Soleil Synchrotron)</a:t>
            </a:r>
          </a:p>
        </p:txBody>
      </p:sp>
      <p:pic>
        <p:nvPicPr>
          <p:cNvPr id="30746" name="ShortProcessRelative.wmv" descr="/Users/eal/Archive/talksbyothers/2009/ShortProcessRelative.wmv">
            <a:hlinkClick r:id="" action="ppaction://media"/>
          </p:cNvPr>
          <p:cNvPicPr>
            <a:picLocks noRot="1" noChangeAspect="1" noChangeArrowheads="1"/>
          </p:cNvPicPr>
          <p:nvPr>
            <a:quickTimeFile r:link="rId2"/>
          </p:nvPr>
        </p:nvPicPr>
        <p:blipFill>
          <a:blip r:embed="rId14"/>
          <a:srcRect/>
          <a:stretch>
            <a:fillRect/>
          </a:stretch>
        </p:blipFill>
        <p:spPr bwMode="black">
          <a:xfrm>
            <a:off x="4800600" y="3405188"/>
            <a:ext cx="4267200" cy="3200400"/>
          </a:xfrm>
          <a:prstGeom prst="rect">
            <a:avLst/>
          </a:prstGeom>
          <a:noFill/>
          <a:ln w="9525">
            <a:noFill/>
            <a:miter lim="800000"/>
            <a:headEnd/>
            <a:tailEnd/>
          </a:ln>
        </p:spPr>
      </p:pic>
      <p:sp>
        <p:nvSpPr>
          <p:cNvPr id="30747" name="TextBox 34"/>
          <p:cNvSpPr txBox="1">
            <a:spLocks noChangeArrowheads="1"/>
          </p:cNvSpPr>
          <p:nvPr/>
        </p:nvSpPr>
        <p:spPr bwMode="auto">
          <a:xfrm>
            <a:off x="1600200" y="4419600"/>
            <a:ext cx="1338263" cy="276225"/>
          </a:xfrm>
          <a:prstGeom prst="rect">
            <a:avLst/>
          </a:prstGeom>
          <a:noFill/>
          <a:ln w="9525">
            <a:noFill/>
            <a:miter lim="800000"/>
            <a:headEnd/>
            <a:tailEnd/>
          </a:ln>
        </p:spPr>
        <p:txBody>
          <a:bodyPr wrap="none">
            <a:spAutoFit/>
          </a:bodyPr>
          <a:lstStyle/>
          <a:p>
            <a:pPr algn="ctr"/>
            <a:r>
              <a:rPr lang="en-US" sz="1200" i="0"/>
              <a:t>Daimler-Chrysler</a:t>
            </a:r>
          </a:p>
        </p:txBody>
      </p:sp>
      <p:sp>
        <p:nvSpPr>
          <p:cNvPr id="30748" name="TextBox 35"/>
          <p:cNvSpPr txBox="1">
            <a:spLocks noChangeArrowheads="1"/>
          </p:cNvSpPr>
          <p:nvPr/>
        </p:nvSpPr>
        <p:spPr bwMode="auto">
          <a:xfrm>
            <a:off x="0" y="1295400"/>
            <a:ext cx="2057400" cy="307975"/>
          </a:xfrm>
          <a:prstGeom prst="rect">
            <a:avLst/>
          </a:prstGeom>
          <a:noFill/>
          <a:ln w="9525">
            <a:noFill/>
            <a:miter lim="800000"/>
            <a:headEnd/>
            <a:tailEnd/>
          </a:ln>
        </p:spPr>
        <p:txBody>
          <a:bodyPr>
            <a:spAutoFit/>
          </a:bodyPr>
          <a:lstStyle/>
          <a:p>
            <a:r>
              <a:rPr lang="en-US" sz="1400"/>
              <a:t>Automotive</a:t>
            </a:r>
          </a:p>
        </p:txBody>
      </p:sp>
      <p:pic>
        <p:nvPicPr>
          <p:cNvPr id="30749" name="Picture 37"/>
          <p:cNvPicPr>
            <a:picLocks noChangeAspect="1"/>
          </p:cNvPicPr>
          <p:nvPr/>
        </p:nvPicPr>
        <p:blipFill>
          <a:blip r:embed="rId15"/>
          <a:srcRect/>
          <a:stretch>
            <a:fillRect/>
          </a:stretch>
        </p:blipFill>
        <p:spPr bwMode="auto">
          <a:xfrm>
            <a:off x="2133600" y="1203325"/>
            <a:ext cx="1933575" cy="2058988"/>
          </a:xfrm>
          <a:prstGeom prst="rect">
            <a:avLst/>
          </a:prstGeom>
          <a:noFill/>
          <a:ln w="9525">
            <a:noFill/>
            <a:miter lim="800000"/>
            <a:headEnd/>
            <a:tailEnd/>
          </a:ln>
        </p:spPr>
      </p:pic>
      <p:sp>
        <p:nvSpPr>
          <p:cNvPr id="30750" name="TextBox 30"/>
          <p:cNvSpPr txBox="1">
            <a:spLocks noChangeArrowheads="1"/>
          </p:cNvSpPr>
          <p:nvPr/>
        </p:nvSpPr>
        <p:spPr bwMode="auto">
          <a:xfrm>
            <a:off x="2057400" y="939800"/>
            <a:ext cx="2057400" cy="307975"/>
          </a:xfrm>
          <a:prstGeom prst="rect">
            <a:avLst/>
          </a:prstGeom>
          <a:noFill/>
          <a:ln w="9525">
            <a:noFill/>
            <a:miter lim="800000"/>
            <a:headEnd/>
            <a:tailEnd/>
          </a:ln>
        </p:spPr>
        <p:txBody>
          <a:bodyPr>
            <a:spAutoFit/>
          </a:bodyPr>
          <a:lstStyle/>
          <a:p>
            <a:r>
              <a:rPr lang="en-US" sz="1400"/>
              <a:t>Building Systems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765" fill="hold"/>
                                        <p:tgtEl>
                                          <p:spTgt spid="3074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30746"/>
                </p:tgtEl>
              </p:cMediaNode>
            </p:video>
            <p:seq concurrent="1" nextAc="seek">
              <p:cTn id="8" restart="whenNotActive" fill="hold" evtFilter="cancelBubble" nodeType="interactiveSeq">
                <p:stCondLst>
                  <p:cond evt="onClick" delay="0">
                    <p:tgtEl>
                      <p:spTgt spid="3074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0746"/>
                                        </p:tgtEl>
                                      </p:cBhvr>
                                    </p:cmd>
                                  </p:childTnLst>
                                </p:cTn>
                              </p:par>
                            </p:childTnLst>
                          </p:cTn>
                        </p:par>
                      </p:childTnLst>
                    </p:cTn>
                  </p:par>
                </p:childTnLst>
              </p:cTn>
              <p:nextCondLst>
                <p:cond evt="onClick" delay="0">
                  <p:tgtEl>
                    <p:spTgt spid="30746"/>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524000" y="190500"/>
            <a:ext cx="7620000" cy="1527175"/>
          </a:xfrm>
        </p:spPr>
        <p:txBody>
          <a:bodyPr/>
          <a:lstStyle/>
          <a:p>
            <a:pPr eaLnBrk="1" hangingPunct="1"/>
            <a:r>
              <a:rPr lang="en-US" smtClean="0"/>
              <a:t>Where CPS Differs from</a:t>
            </a:r>
            <a:br>
              <a:rPr lang="en-US" smtClean="0"/>
            </a:br>
            <a:r>
              <a:rPr lang="en-US" smtClean="0"/>
              <a:t>the traditional embedded systems problem:</a:t>
            </a:r>
          </a:p>
        </p:txBody>
      </p:sp>
      <p:sp>
        <p:nvSpPr>
          <p:cNvPr id="32771" name="Rectangle 3"/>
          <p:cNvSpPr>
            <a:spLocks noGrp="1" noChangeArrowheads="1"/>
          </p:cNvSpPr>
          <p:nvPr>
            <p:ph type="body" idx="1"/>
          </p:nvPr>
        </p:nvSpPr>
        <p:spPr/>
        <p:txBody>
          <a:bodyPr/>
          <a:lstStyle/>
          <a:p>
            <a:pPr eaLnBrk="1" hangingPunct="1"/>
            <a:r>
              <a:rPr lang="en-US" sz="2400" i="1" smtClean="0">
                <a:solidFill>
                  <a:srgbClr val="800000"/>
                </a:solidFill>
              </a:rPr>
              <a:t>The traditional embedded systems problem:</a:t>
            </a:r>
          </a:p>
          <a:p>
            <a:pPr lvl="1" eaLnBrk="1" hangingPunct="1">
              <a:buFont typeface="Wingdings" pitchFamily="-107" charset="2"/>
              <a:buNone/>
            </a:pPr>
            <a:r>
              <a:rPr lang="en-US" sz="2000" smtClean="0"/>
              <a:t>	Embedded software is software on small computers. The technical problem is one of optimization (coping with limited resources and extracting performance). </a:t>
            </a:r>
          </a:p>
          <a:p>
            <a:pPr eaLnBrk="1" hangingPunct="1"/>
            <a:endParaRPr lang="en-US" sz="2400" smtClean="0"/>
          </a:p>
          <a:p>
            <a:pPr eaLnBrk="1" hangingPunct="1"/>
            <a:r>
              <a:rPr lang="en-US" sz="2400" i="1" smtClean="0">
                <a:solidFill>
                  <a:srgbClr val="800000"/>
                </a:solidFill>
              </a:rPr>
              <a:t>The CPS problem:</a:t>
            </a:r>
          </a:p>
          <a:p>
            <a:pPr lvl="1" eaLnBrk="1" hangingPunct="1">
              <a:buFont typeface="Wingdings" pitchFamily="-107" charset="2"/>
              <a:buNone/>
            </a:pPr>
            <a:r>
              <a:rPr lang="en-US" sz="2000" smtClean="0"/>
              <a:t>	Computation and networking integrated with physical processes. The technical problem is managing dynamics, time, and concurrency in networked computational + physical systems.</a:t>
            </a:r>
          </a:p>
          <a:p>
            <a:pPr lvl="1" eaLnBrk="1" hangingPunct="1">
              <a:buFont typeface="Wingdings" pitchFamily="-107" charset="2"/>
              <a:buNone/>
            </a:pPr>
            <a:endParaRPr lang="en-US" sz="2000" i="1" smtClean="0">
              <a:solidFill>
                <a:srgbClr val="FF0000"/>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smtClean="0"/>
              <a:t>Content of an Embedded Systems Course</a:t>
            </a:r>
          </a:p>
        </p:txBody>
      </p:sp>
      <p:sp>
        <p:nvSpPr>
          <p:cNvPr id="34819" name="Content Placeholder 2"/>
          <p:cNvSpPr>
            <a:spLocks noGrp="1"/>
          </p:cNvSpPr>
          <p:nvPr>
            <p:ph idx="1"/>
          </p:nvPr>
        </p:nvSpPr>
        <p:spPr>
          <a:xfrm>
            <a:off x="1524000" y="1905000"/>
            <a:ext cx="3581400" cy="4572000"/>
          </a:xfrm>
          <a:solidFill>
            <a:srgbClr val="99CCCC"/>
          </a:solidFill>
        </p:spPr>
        <p:txBody>
          <a:bodyPr/>
          <a:lstStyle/>
          <a:p>
            <a:pPr>
              <a:buFont typeface="Wingdings" pitchFamily="-107" charset="2"/>
              <a:buNone/>
            </a:pPr>
            <a:r>
              <a:rPr lang="en-US" smtClean="0"/>
              <a:t>Traditional focus</a:t>
            </a:r>
          </a:p>
          <a:p>
            <a:r>
              <a:rPr lang="en-US" smtClean="0"/>
              <a:t>Hardware interfacing</a:t>
            </a:r>
          </a:p>
          <a:p>
            <a:r>
              <a:rPr lang="en-US" smtClean="0"/>
              <a:t>Interrupts</a:t>
            </a:r>
          </a:p>
          <a:p>
            <a:r>
              <a:rPr lang="en-US" smtClean="0"/>
              <a:t>Memory systems</a:t>
            </a:r>
          </a:p>
          <a:p>
            <a:r>
              <a:rPr lang="en-US" smtClean="0"/>
              <a:t>C programming</a:t>
            </a:r>
          </a:p>
          <a:p>
            <a:r>
              <a:rPr lang="en-US" smtClean="0"/>
              <a:t>Assembly language</a:t>
            </a:r>
          </a:p>
          <a:p>
            <a:r>
              <a:rPr lang="en-US" smtClean="0"/>
              <a:t>FPGA design</a:t>
            </a:r>
          </a:p>
          <a:p>
            <a:r>
              <a:rPr lang="en-US" smtClean="0"/>
              <a:t>RTOS design</a:t>
            </a:r>
          </a:p>
          <a:p>
            <a:r>
              <a:rPr lang="en-US" smtClean="0"/>
              <a:t>…</a:t>
            </a:r>
          </a:p>
        </p:txBody>
      </p:sp>
      <p:sp>
        <p:nvSpPr>
          <p:cNvPr id="4" name="Content Placeholder 2"/>
          <p:cNvSpPr txBox="1">
            <a:spLocks/>
          </p:cNvSpPr>
          <p:nvPr/>
        </p:nvSpPr>
        <p:spPr bwMode="auto">
          <a:xfrm>
            <a:off x="5334000" y="1905000"/>
            <a:ext cx="3581400" cy="4572000"/>
          </a:xfrm>
          <a:prstGeom prst="rect">
            <a:avLst/>
          </a:prstGeom>
          <a:solidFill>
            <a:srgbClr val="FFFF66"/>
          </a:solidFill>
          <a:ln w="9525">
            <a:solidFill>
              <a:srgbClr val="00CC99"/>
            </a:solidFill>
            <a:miter lim="800000"/>
            <a:headEnd/>
            <a:tailEnd/>
          </a:ln>
        </p:spPr>
        <p:txBody>
          <a:bodyPr/>
          <a:lstStyle/>
          <a:p>
            <a:pPr marL="342900" indent="-342900" eaLnBrk="0" hangingPunct="0">
              <a:spcBef>
                <a:spcPct val="20000"/>
              </a:spcBef>
              <a:buClr>
                <a:schemeClr val="tx1"/>
              </a:buClr>
              <a:buSzPct val="70000"/>
              <a:buFont typeface="Wingdings" pitchFamily="-107" charset="2"/>
              <a:buNone/>
            </a:pPr>
            <a:r>
              <a:rPr lang="en-US" sz="2600" i="0">
                <a:solidFill>
                  <a:schemeClr val="tx2"/>
                </a:solidFill>
              </a:rPr>
              <a:t>CPS focus</a:t>
            </a:r>
          </a:p>
          <a:p>
            <a:pPr marL="342900" indent="-342900" eaLnBrk="0" hangingPunct="0">
              <a:spcBef>
                <a:spcPct val="20000"/>
              </a:spcBef>
              <a:buClr>
                <a:schemeClr val="tx1"/>
              </a:buClr>
              <a:buSzPct val="70000"/>
              <a:buFont typeface="Wingdings" pitchFamily="-107" charset="2"/>
              <a:buChar char="¢"/>
            </a:pPr>
            <a:r>
              <a:rPr lang="en-US" sz="2600" i="0">
                <a:solidFill>
                  <a:schemeClr val="tx2"/>
                </a:solidFill>
              </a:rPr>
              <a:t>Modeling</a:t>
            </a:r>
          </a:p>
          <a:p>
            <a:pPr marL="342900" indent="-342900" eaLnBrk="0" hangingPunct="0">
              <a:spcBef>
                <a:spcPct val="20000"/>
              </a:spcBef>
              <a:buClr>
                <a:schemeClr val="tx1"/>
              </a:buClr>
              <a:buSzPct val="70000"/>
              <a:buFont typeface="Wingdings" pitchFamily="-107" charset="2"/>
              <a:buChar char="¢"/>
            </a:pPr>
            <a:r>
              <a:rPr lang="en-US" sz="2600" i="0">
                <a:solidFill>
                  <a:schemeClr val="tx2"/>
                </a:solidFill>
              </a:rPr>
              <a:t>Timing</a:t>
            </a:r>
          </a:p>
          <a:p>
            <a:pPr marL="342900" indent="-342900" eaLnBrk="0" hangingPunct="0">
              <a:spcBef>
                <a:spcPct val="20000"/>
              </a:spcBef>
              <a:buClr>
                <a:schemeClr val="tx1"/>
              </a:buClr>
              <a:buSzPct val="70000"/>
              <a:buFont typeface="Wingdings" pitchFamily="-107" charset="2"/>
              <a:buChar char="¢"/>
            </a:pPr>
            <a:r>
              <a:rPr lang="en-US" sz="2600" i="0">
                <a:solidFill>
                  <a:schemeClr val="tx2"/>
                </a:solidFill>
              </a:rPr>
              <a:t>Dynamics</a:t>
            </a:r>
          </a:p>
          <a:p>
            <a:pPr marL="342900" indent="-342900" eaLnBrk="0" hangingPunct="0">
              <a:spcBef>
                <a:spcPct val="20000"/>
              </a:spcBef>
              <a:buClr>
                <a:schemeClr val="tx1"/>
              </a:buClr>
              <a:buSzPct val="70000"/>
              <a:buFont typeface="Wingdings" pitchFamily="-107" charset="2"/>
              <a:buChar char="¢"/>
            </a:pPr>
            <a:r>
              <a:rPr lang="en-US" sz="2600" i="0">
                <a:solidFill>
                  <a:schemeClr val="tx2"/>
                </a:solidFill>
              </a:rPr>
              <a:t>Imperative logic</a:t>
            </a:r>
          </a:p>
          <a:p>
            <a:pPr marL="342900" indent="-342900" eaLnBrk="0" hangingPunct="0">
              <a:spcBef>
                <a:spcPct val="20000"/>
              </a:spcBef>
              <a:buClr>
                <a:schemeClr val="tx1"/>
              </a:buClr>
              <a:buSzPct val="70000"/>
              <a:buFont typeface="Wingdings" pitchFamily="-107" charset="2"/>
              <a:buChar char="¢"/>
            </a:pPr>
            <a:r>
              <a:rPr lang="en-US" sz="2600" i="0">
                <a:solidFill>
                  <a:schemeClr val="tx2"/>
                </a:solidFill>
              </a:rPr>
              <a:t>Concurrency</a:t>
            </a:r>
          </a:p>
          <a:p>
            <a:pPr marL="342900" indent="-342900" eaLnBrk="0" hangingPunct="0">
              <a:spcBef>
                <a:spcPct val="20000"/>
              </a:spcBef>
              <a:buClr>
                <a:schemeClr val="tx1"/>
              </a:buClr>
              <a:buSzPct val="70000"/>
              <a:buFont typeface="Wingdings" pitchFamily="-107" charset="2"/>
              <a:buChar char="¢"/>
            </a:pPr>
            <a:r>
              <a:rPr lang="en-US" sz="2600" i="0">
                <a:solidFill>
                  <a:schemeClr val="tx2"/>
                </a:solidFill>
              </a:rPr>
              <a:t>Verification</a:t>
            </a:r>
          </a:p>
          <a:p>
            <a:pPr marL="342900" indent="-342900" eaLnBrk="0" hangingPunct="0">
              <a:spcBef>
                <a:spcPct val="20000"/>
              </a:spcBef>
              <a:buClr>
                <a:schemeClr val="tx1"/>
              </a:buClr>
              <a:buSzPct val="70000"/>
              <a:buFont typeface="Wingdings" pitchFamily="-107" charset="2"/>
              <a:buChar char="¢"/>
            </a:pPr>
            <a:r>
              <a:rPr lang="en-US" sz="2600" i="0">
                <a:solidFill>
                  <a:schemeClr val="tx2"/>
                </a:solidFill>
              </a:rPr>
              <a:t>…</a:t>
            </a:r>
          </a:p>
          <a:p>
            <a:pPr marL="342900" indent="-342900" eaLnBrk="0" hangingPunct="0">
              <a:spcBef>
                <a:spcPct val="20000"/>
              </a:spcBef>
              <a:buClr>
                <a:schemeClr val="tx1"/>
              </a:buClr>
              <a:buSzPct val="70000"/>
              <a:buFont typeface="Wingdings" pitchFamily="-107" charset="2"/>
              <a:buChar char="¢"/>
            </a:pPr>
            <a:endParaRPr lang="en-US" sz="2600" i="0">
              <a:solidFill>
                <a:schemeClr val="tx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smtClean="0"/>
              <a:t>A Theme in our CPS Courses:</a:t>
            </a:r>
            <a:br>
              <a:rPr lang="en-US" smtClean="0"/>
            </a:br>
            <a:r>
              <a:rPr lang="en-US" smtClean="0"/>
              <a:t>Model-based design</a:t>
            </a:r>
          </a:p>
        </p:txBody>
      </p:sp>
      <p:sp>
        <p:nvSpPr>
          <p:cNvPr id="35843" name="Rectangle 3"/>
          <p:cNvSpPr>
            <a:spLocks noGrp="1" noChangeArrowheads="1"/>
          </p:cNvSpPr>
          <p:nvPr>
            <p:ph type="body" idx="1"/>
          </p:nvPr>
        </p:nvSpPr>
        <p:spPr/>
        <p:txBody>
          <a:bodyPr/>
          <a:lstStyle/>
          <a:p>
            <a:pPr marL="288925" indent="-288925">
              <a:buFont typeface="Wingdings" pitchFamily="-107" charset="2"/>
              <a:buNone/>
            </a:pPr>
            <a:r>
              <a:rPr lang="en-US" smtClean="0"/>
              <a:t>Models are abstractions of systems:</a:t>
            </a:r>
          </a:p>
          <a:p>
            <a:pPr marL="288925" indent="-288925"/>
            <a:endParaRPr lang="en-US" smtClean="0"/>
          </a:p>
          <a:p>
            <a:pPr marL="288925" indent="-288925"/>
            <a:r>
              <a:rPr lang="en-US" smtClean="0"/>
              <a:t>structural (OO design)</a:t>
            </a:r>
          </a:p>
          <a:p>
            <a:pPr marL="288925" indent="-288925"/>
            <a:r>
              <a:rPr lang="en-US" smtClean="0"/>
              <a:t>ontological (type systems)</a:t>
            </a:r>
          </a:p>
          <a:p>
            <a:pPr marL="288925" indent="-288925"/>
            <a:r>
              <a:rPr lang="en-US" smtClean="0"/>
              <a:t>imperative logic (“procedural epistemology”)</a:t>
            </a:r>
          </a:p>
          <a:p>
            <a:pPr marL="288925" indent="-288925"/>
            <a:r>
              <a:rPr lang="en-US" smtClean="0"/>
              <a:t>functional logic</a:t>
            </a:r>
          </a:p>
          <a:p>
            <a:pPr marL="288925" indent="-288925"/>
            <a:r>
              <a:rPr lang="en-US" smtClean="0"/>
              <a:t>actor-oriented (including dataflow models)</a:t>
            </a:r>
          </a:p>
          <a:p>
            <a:pPr marL="288925" indent="-288925"/>
            <a:endParaRPr lang="en-US" smtClean="0"/>
          </a:p>
          <a:p>
            <a:pPr marL="288925" indent="-288925">
              <a:buFont typeface="Wingdings" pitchFamily="-107" charset="2"/>
              <a:buNone/>
            </a:pPr>
            <a:r>
              <a:rPr lang="en-US" smtClean="0"/>
              <a:t>All of these have their place…</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219200" y="3124200"/>
            <a:ext cx="6553200" cy="3657600"/>
            <a:chOff x="768" y="1728"/>
            <a:chExt cx="4128" cy="2304"/>
          </a:xfrm>
        </p:grpSpPr>
        <p:sp>
          <p:nvSpPr>
            <p:cNvPr id="36874" name="AutoShape 3"/>
            <p:cNvSpPr>
              <a:spLocks noChangeArrowheads="1"/>
            </p:cNvSpPr>
            <p:nvPr/>
          </p:nvSpPr>
          <p:spPr bwMode="auto">
            <a:xfrm rot="2203716" flipH="1">
              <a:off x="4115" y="1728"/>
              <a:ext cx="781" cy="2304"/>
            </a:xfrm>
            <a:prstGeom prst="curvedRightArrow">
              <a:avLst>
                <a:gd name="adj1" fmla="val 59001"/>
                <a:gd name="adj2" fmla="val 118003"/>
                <a:gd name="adj3" fmla="val 33333"/>
              </a:avLst>
            </a:prstGeom>
            <a:solidFill>
              <a:schemeClr val="accent1"/>
            </a:solidFill>
            <a:ln w="9525">
              <a:solidFill>
                <a:schemeClr val="tx1"/>
              </a:solidFill>
              <a:miter lim="800000"/>
              <a:headEnd/>
              <a:tailEnd/>
            </a:ln>
          </p:spPr>
          <p:txBody>
            <a:bodyPr wrap="none" anchor="ctr"/>
            <a:lstStyle/>
            <a:p>
              <a:endParaRPr lang="en-US"/>
            </a:p>
          </p:txBody>
        </p:sp>
        <p:sp>
          <p:nvSpPr>
            <p:cNvPr id="36875" name="AutoShape 4"/>
            <p:cNvSpPr>
              <a:spLocks noChangeArrowheads="1"/>
            </p:cNvSpPr>
            <p:nvPr/>
          </p:nvSpPr>
          <p:spPr bwMode="auto">
            <a:xfrm rot="-2203716">
              <a:off x="768" y="1728"/>
              <a:ext cx="781" cy="2304"/>
            </a:xfrm>
            <a:prstGeom prst="curvedRightArrow">
              <a:avLst>
                <a:gd name="adj1" fmla="val 59001"/>
                <a:gd name="adj2" fmla="val 118003"/>
                <a:gd name="adj3" fmla="val 33333"/>
              </a:avLst>
            </a:prstGeom>
            <a:solidFill>
              <a:schemeClr val="accent1"/>
            </a:solidFill>
            <a:ln w="9525">
              <a:solidFill>
                <a:schemeClr val="tx1"/>
              </a:solidFill>
              <a:miter lim="800000"/>
              <a:headEnd/>
              <a:tailEnd/>
            </a:ln>
          </p:spPr>
          <p:txBody>
            <a:bodyPr wrap="none" anchor="ctr"/>
            <a:lstStyle/>
            <a:p>
              <a:endParaRPr lang="en-US"/>
            </a:p>
          </p:txBody>
        </p:sp>
        <p:sp>
          <p:nvSpPr>
            <p:cNvPr id="36876" name="Oval 5"/>
            <p:cNvSpPr>
              <a:spLocks noChangeArrowheads="1"/>
            </p:cNvSpPr>
            <p:nvPr/>
          </p:nvSpPr>
          <p:spPr bwMode="auto">
            <a:xfrm>
              <a:off x="1872" y="2352"/>
              <a:ext cx="1920" cy="1440"/>
            </a:xfrm>
            <a:prstGeom prst="ellipse">
              <a:avLst/>
            </a:prstGeom>
            <a:solidFill>
              <a:schemeClr val="accent2"/>
            </a:solidFill>
            <a:ln w="9525">
              <a:solidFill>
                <a:schemeClr val="tx1"/>
              </a:solidFill>
              <a:round/>
              <a:headEnd/>
              <a:tailEnd/>
            </a:ln>
          </p:spPr>
          <p:txBody>
            <a:bodyPr wrap="none" anchor="ctr"/>
            <a:lstStyle/>
            <a:p>
              <a:endParaRPr lang="en-US"/>
            </a:p>
          </p:txBody>
        </p:sp>
        <p:sp>
          <p:nvSpPr>
            <p:cNvPr id="36877" name="Text Box 6"/>
            <p:cNvSpPr txBox="1">
              <a:spLocks noChangeArrowheads="1"/>
            </p:cNvSpPr>
            <p:nvPr/>
          </p:nvSpPr>
          <p:spPr bwMode="auto">
            <a:xfrm>
              <a:off x="1872" y="2832"/>
              <a:ext cx="1906" cy="750"/>
            </a:xfrm>
            <a:prstGeom prst="rect">
              <a:avLst/>
            </a:prstGeom>
            <a:noFill/>
            <a:ln w="9525">
              <a:noFill/>
              <a:miter lim="800000"/>
              <a:headEnd/>
              <a:tailEnd/>
            </a:ln>
          </p:spPr>
          <p:txBody>
            <a:bodyPr>
              <a:spAutoFit/>
            </a:bodyPr>
            <a:lstStyle/>
            <a:p>
              <a:pPr algn="ctr"/>
              <a:r>
                <a:rPr lang="en-US" sz="1800" b="1" i="0">
                  <a:solidFill>
                    <a:schemeClr val="hlink"/>
                  </a:solidFill>
                </a:rPr>
                <a:t>Cyber Physical Systems:</a:t>
              </a:r>
            </a:p>
            <a:p>
              <a:pPr algn="ctr"/>
              <a:r>
                <a:rPr lang="en-US" sz="1800" b="1" i="0">
                  <a:solidFill>
                    <a:schemeClr val="bg1"/>
                  </a:solidFill>
                </a:rPr>
                <a:t>Computational +</a:t>
              </a:r>
            </a:p>
            <a:p>
              <a:pPr algn="ctr"/>
              <a:r>
                <a:rPr lang="en-US" sz="1800" b="1" i="0">
                  <a:solidFill>
                    <a:schemeClr val="bg1"/>
                  </a:solidFill>
                </a:rPr>
                <a:t>Physical</a:t>
              </a:r>
            </a:p>
            <a:p>
              <a:pPr algn="ctr"/>
              <a:endParaRPr lang="en-US" sz="1800" b="1" i="0">
                <a:solidFill>
                  <a:schemeClr val="bg1"/>
                </a:solidFill>
              </a:endParaRPr>
            </a:p>
          </p:txBody>
        </p:sp>
      </p:grpSp>
      <p:sp>
        <p:nvSpPr>
          <p:cNvPr id="36867" name="Rectangle 7"/>
          <p:cNvSpPr>
            <a:spLocks noGrp="1" noChangeArrowheads="1"/>
          </p:cNvSpPr>
          <p:nvPr>
            <p:ph type="title"/>
          </p:nvPr>
        </p:nvSpPr>
        <p:spPr/>
        <p:txBody>
          <a:bodyPr/>
          <a:lstStyle/>
          <a:p>
            <a:pPr eaLnBrk="1" hangingPunct="1"/>
            <a:r>
              <a:rPr lang="en-US" sz="2600" smtClean="0"/>
              <a:t>CPS is Multidisciplinary </a:t>
            </a:r>
          </a:p>
        </p:txBody>
      </p:sp>
      <p:grpSp>
        <p:nvGrpSpPr>
          <p:cNvPr id="3" name="Group 8"/>
          <p:cNvGrpSpPr>
            <a:grpSpLocks/>
          </p:cNvGrpSpPr>
          <p:nvPr/>
        </p:nvGrpSpPr>
        <p:grpSpPr bwMode="auto">
          <a:xfrm>
            <a:off x="457200" y="1752600"/>
            <a:ext cx="3048000" cy="2286000"/>
            <a:chOff x="288" y="864"/>
            <a:chExt cx="1920" cy="1440"/>
          </a:xfrm>
        </p:grpSpPr>
        <p:sp>
          <p:nvSpPr>
            <p:cNvPr id="36872" name="Oval 9"/>
            <p:cNvSpPr>
              <a:spLocks noChangeArrowheads="1"/>
            </p:cNvSpPr>
            <p:nvPr/>
          </p:nvSpPr>
          <p:spPr bwMode="auto">
            <a:xfrm>
              <a:off x="288" y="864"/>
              <a:ext cx="1920" cy="1440"/>
            </a:xfrm>
            <a:prstGeom prst="ellipse">
              <a:avLst/>
            </a:prstGeom>
            <a:gradFill rotWithShape="1">
              <a:gsLst>
                <a:gs pos="0">
                  <a:schemeClr val="accent2"/>
                </a:gs>
                <a:gs pos="100000">
                  <a:schemeClr val="accent1"/>
                </a:gs>
              </a:gsLst>
              <a:lin ang="5400000" scaled="1"/>
            </a:gradFill>
            <a:ln w="9525">
              <a:solidFill>
                <a:schemeClr val="tx1"/>
              </a:solidFill>
              <a:round/>
              <a:headEnd/>
              <a:tailEnd/>
            </a:ln>
          </p:spPr>
          <p:txBody>
            <a:bodyPr wrap="none" anchor="ctr"/>
            <a:lstStyle/>
            <a:p>
              <a:endParaRPr lang="en-US"/>
            </a:p>
          </p:txBody>
        </p:sp>
        <p:sp>
          <p:nvSpPr>
            <p:cNvPr id="36873" name="Text Box 10"/>
            <p:cNvSpPr txBox="1">
              <a:spLocks noChangeArrowheads="1"/>
            </p:cNvSpPr>
            <p:nvPr/>
          </p:nvSpPr>
          <p:spPr bwMode="auto">
            <a:xfrm>
              <a:off x="302" y="1104"/>
              <a:ext cx="1906" cy="750"/>
            </a:xfrm>
            <a:prstGeom prst="rect">
              <a:avLst/>
            </a:prstGeom>
            <a:noFill/>
            <a:ln w="9525">
              <a:noFill/>
              <a:miter lim="800000"/>
              <a:headEnd/>
              <a:tailEnd/>
            </a:ln>
          </p:spPr>
          <p:txBody>
            <a:bodyPr>
              <a:spAutoFit/>
            </a:bodyPr>
            <a:lstStyle/>
            <a:p>
              <a:pPr algn="ctr"/>
              <a:r>
                <a:rPr lang="en-US" sz="1800" b="1" i="0">
                  <a:solidFill>
                    <a:schemeClr val="bg1"/>
                  </a:solidFill>
                </a:rPr>
                <a:t>Computer Science:</a:t>
              </a:r>
            </a:p>
            <a:p>
              <a:pPr algn="ctr"/>
              <a:endParaRPr lang="en-US" sz="1800" b="1" i="0">
                <a:solidFill>
                  <a:schemeClr val="bg1"/>
                </a:solidFill>
              </a:endParaRPr>
            </a:p>
            <a:p>
              <a:pPr algn="ctr"/>
              <a:r>
                <a:rPr lang="en-US" sz="1800" b="1" i="0">
                  <a:solidFill>
                    <a:srgbClr val="000066"/>
                  </a:solidFill>
                </a:rPr>
                <a:t>Carefully abstracts the physical world</a:t>
              </a:r>
              <a:r>
                <a:rPr lang="en-US" sz="1800" b="1" i="0"/>
                <a:t> </a:t>
              </a:r>
            </a:p>
          </p:txBody>
        </p:sp>
      </p:grpSp>
      <p:grpSp>
        <p:nvGrpSpPr>
          <p:cNvPr id="4" name="Group 11"/>
          <p:cNvGrpSpPr>
            <a:grpSpLocks/>
          </p:cNvGrpSpPr>
          <p:nvPr/>
        </p:nvGrpSpPr>
        <p:grpSpPr bwMode="auto">
          <a:xfrm>
            <a:off x="5562600" y="1752600"/>
            <a:ext cx="3276600" cy="2286000"/>
            <a:chOff x="3504" y="864"/>
            <a:chExt cx="2064" cy="1440"/>
          </a:xfrm>
        </p:grpSpPr>
        <p:sp>
          <p:nvSpPr>
            <p:cNvPr id="36870" name="Oval 12"/>
            <p:cNvSpPr>
              <a:spLocks noChangeArrowheads="1"/>
            </p:cNvSpPr>
            <p:nvPr/>
          </p:nvSpPr>
          <p:spPr bwMode="auto">
            <a:xfrm>
              <a:off x="3552" y="864"/>
              <a:ext cx="1920" cy="1440"/>
            </a:xfrm>
            <a:prstGeom prst="ellipse">
              <a:avLst/>
            </a:prstGeom>
            <a:gradFill rotWithShape="1">
              <a:gsLst>
                <a:gs pos="0">
                  <a:schemeClr val="accent1"/>
                </a:gs>
                <a:gs pos="100000">
                  <a:schemeClr val="accent2"/>
                </a:gs>
              </a:gsLst>
              <a:lin ang="5400000" scaled="1"/>
            </a:gradFill>
            <a:ln w="9525">
              <a:solidFill>
                <a:schemeClr val="tx1"/>
              </a:solidFill>
              <a:round/>
              <a:headEnd/>
              <a:tailEnd/>
            </a:ln>
          </p:spPr>
          <p:txBody>
            <a:bodyPr wrap="none" anchor="ctr"/>
            <a:lstStyle/>
            <a:p>
              <a:endParaRPr lang="en-US"/>
            </a:p>
          </p:txBody>
        </p:sp>
        <p:sp>
          <p:nvSpPr>
            <p:cNvPr id="36871" name="Text Box 13"/>
            <p:cNvSpPr txBox="1">
              <a:spLocks noChangeArrowheads="1"/>
            </p:cNvSpPr>
            <p:nvPr/>
          </p:nvSpPr>
          <p:spPr bwMode="auto">
            <a:xfrm>
              <a:off x="3504" y="1104"/>
              <a:ext cx="2064" cy="1096"/>
            </a:xfrm>
            <a:prstGeom prst="rect">
              <a:avLst/>
            </a:prstGeom>
            <a:noFill/>
            <a:ln w="9525">
              <a:noFill/>
              <a:miter lim="800000"/>
              <a:headEnd/>
              <a:tailEnd/>
            </a:ln>
          </p:spPr>
          <p:txBody>
            <a:bodyPr>
              <a:spAutoFit/>
            </a:bodyPr>
            <a:lstStyle/>
            <a:p>
              <a:pPr algn="ctr"/>
              <a:r>
                <a:rPr lang="en-US" sz="1800" b="1" i="0">
                  <a:solidFill>
                    <a:srgbClr val="000066"/>
                  </a:solidFill>
                </a:rPr>
                <a:t>System Theory:</a:t>
              </a:r>
            </a:p>
            <a:p>
              <a:pPr algn="ctr"/>
              <a:endParaRPr lang="en-US" sz="1800" b="1" i="0">
                <a:solidFill>
                  <a:srgbClr val="FF9933"/>
                </a:solidFill>
              </a:endParaRPr>
            </a:p>
            <a:p>
              <a:pPr algn="ctr"/>
              <a:r>
                <a:rPr lang="en-US" sz="1800" b="1" i="0">
                  <a:solidFill>
                    <a:schemeClr val="bg1"/>
                  </a:solidFill>
                </a:rPr>
                <a:t>Deals directly with </a:t>
              </a:r>
              <a:br>
                <a:rPr lang="en-US" sz="1800" b="1" i="0">
                  <a:solidFill>
                    <a:schemeClr val="bg1"/>
                  </a:solidFill>
                </a:rPr>
              </a:br>
              <a:r>
                <a:rPr lang="en-US" sz="1800" b="1" i="0">
                  <a:solidFill>
                    <a:schemeClr val="bg1"/>
                  </a:solidFill>
                </a:rPr>
                <a:t>physical quantities</a:t>
              </a:r>
            </a:p>
            <a:p>
              <a:pPr algn="ctr"/>
              <a:endParaRPr lang="en-US" sz="1800" b="1" i="0">
                <a:solidFill>
                  <a:srgbClr val="000066"/>
                </a:solidFill>
              </a:endParaRPr>
            </a:p>
            <a:p>
              <a:pPr algn="ctr"/>
              <a:r>
                <a:rPr lang="en-US" sz="1800" i="0"/>
                <a:t>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smtClean="0"/>
              <a:t>The Educational Challenge (1)</a:t>
            </a:r>
          </a:p>
        </p:txBody>
      </p:sp>
      <p:sp>
        <p:nvSpPr>
          <p:cNvPr id="38915" name="Rectangle 3"/>
          <p:cNvSpPr>
            <a:spLocks noGrp="1" noChangeArrowheads="1"/>
          </p:cNvSpPr>
          <p:nvPr>
            <p:ph type="body" idx="1"/>
          </p:nvPr>
        </p:nvSpPr>
        <p:spPr>
          <a:xfrm>
            <a:off x="1295400" y="1828800"/>
            <a:ext cx="7696200" cy="4648200"/>
          </a:xfrm>
        </p:spPr>
        <p:txBody>
          <a:bodyPr/>
          <a:lstStyle/>
          <a:p>
            <a:pPr marL="0" indent="0">
              <a:buFont typeface="Wingdings" pitchFamily="-107" charset="2"/>
              <a:buNone/>
            </a:pPr>
            <a:r>
              <a:rPr lang="en-US" sz="2200" smtClean="0"/>
              <a:t>Models for the physical world and for computation diverge.</a:t>
            </a:r>
          </a:p>
          <a:p>
            <a:pPr marL="0" indent="0">
              <a:buFont typeface="Wingdings" pitchFamily="-107" charset="2"/>
              <a:buNone/>
            </a:pPr>
            <a:endParaRPr lang="en-US" sz="2200" smtClean="0"/>
          </a:p>
          <a:p>
            <a:pPr lvl="1"/>
            <a:r>
              <a:rPr lang="en-US" sz="2000" smtClean="0"/>
              <a:t>physical: time continuum, ODEs, dynamics</a:t>
            </a:r>
          </a:p>
          <a:p>
            <a:pPr lvl="1"/>
            <a:r>
              <a:rPr lang="en-US" sz="2000" smtClean="0"/>
              <a:t>computational: a “procedural epistemology,” logic</a:t>
            </a:r>
          </a:p>
          <a:p>
            <a:pPr marL="0" indent="0">
              <a:buFont typeface="Wingdings" pitchFamily="-107" charset="2"/>
              <a:buNone/>
            </a:pPr>
            <a:endParaRPr lang="en-US" sz="2200" smtClean="0">
              <a:solidFill>
                <a:srgbClr val="CC3300"/>
              </a:solidFill>
            </a:endParaRPr>
          </a:p>
          <a:p>
            <a:pPr marL="0" indent="0">
              <a:buFont typeface="Wingdings" pitchFamily="-107" charset="2"/>
              <a:buNone/>
            </a:pPr>
            <a:r>
              <a:rPr lang="en-US" sz="2200" smtClean="0">
                <a:solidFill>
                  <a:srgbClr val="CC3300"/>
                </a:solidFill>
              </a:rPr>
              <a:t>There is a huge cultural gap.</a:t>
            </a:r>
          </a:p>
          <a:p>
            <a:pPr marL="0" indent="0">
              <a:buFont typeface="Wingdings" pitchFamily="-107" charset="2"/>
              <a:buNone/>
            </a:pPr>
            <a:endParaRPr lang="en-US" sz="2200" smtClean="0"/>
          </a:p>
          <a:p>
            <a:pPr marL="0" indent="0">
              <a:buFont typeface="Wingdings" pitchFamily="-107" charset="2"/>
              <a:buNone/>
            </a:pPr>
            <a:r>
              <a:rPr lang="en-US" sz="2200" smtClean="0"/>
              <a:t>Physical system models must be viewed as semantic frameworks, and theories of computation must be viewed as alternative ways of talking about dynamics.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524000" y="228600"/>
            <a:ext cx="7162800" cy="1447800"/>
          </a:xfrm>
        </p:spPr>
        <p:txBody>
          <a:bodyPr/>
          <a:lstStyle/>
          <a:p>
            <a:pPr eaLnBrk="1" hangingPunct="1"/>
            <a:r>
              <a:rPr lang="en-US" smtClean="0"/>
              <a:t>An Advantage: </a:t>
            </a:r>
            <a:br>
              <a:rPr lang="en-US" smtClean="0"/>
            </a:br>
            <a:r>
              <a:rPr lang="en-US" smtClean="0"/>
              <a:t>A Unified EECS Department</a:t>
            </a:r>
          </a:p>
        </p:txBody>
      </p:sp>
      <p:pic>
        <p:nvPicPr>
          <p:cNvPr id="39939" name="Picture 3" descr="Areas"/>
          <p:cNvPicPr>
            <a:picLocks noChangeAspect="1" noChangeArrowheads="1"/>
          </p:cNvPicPr>
          <p:nvPr/>
        </p:nvPicPr>
        <p:blipFill>
          <a:blip r:embed="rId2"/>
          <a:srcRect/>
          <a:stretch>
            <a:fillRect/>
          </a:stretch>
        </p:blipFill>
        <p:spPr bwMode="auto">
          <a:xfrm>
            <a:off x="1143000" y="1466850"/>
            <a:ext cx="6972300" cy="50863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smtClean="0"/>
              <a:t>The Educational Challenge (2)</a:t>
            </a:r>
          </a:p>
        </p:txBody>
      </p:sp>
      <p:sp>
        <p:nvSpPr>
          <p:cNvPr id="40963" name="Rectangle 3"/>
          <p:cNvSpPr>
            <a:spLocks noGrp="1" noChangeArrowheads="1"/>
          </p:cNvSpPr>
          <p:nvPr>
            <p:ph type="body" idx="1"/>
          </p:nvPr>
        </p:nvSpPr>
        <p:spPr>
          <a:xfrm>
            <a:off x="1295400" y="1752600"/>
            <a:ext cx="7467600" cy="4724400"/>
          </a:xfrm>
        </p:spPr>
        <p:txBody>
          <a:bodyPr/>
          <a:lstStyle/>
          <a:p>
            <a:pPr marL="0" indent="0">
              <a:buFont typeface="Wingdings" pitchFamily="-107" charset="2"/>
              <a:buNone/>
            </a:pPr>
            <a:r>
              <a:rPr lang="en-US" sz="2200" smtClean="0"/>
              <a:t>Students are taught to </a:t>
            </a:r>
            <a:r>
              <a:rPr lang="en-US" sz="2200" i="1" smtClean="0"/>
              <a:t>use</a:t>
            </a:r>
            <a:r>
              <a:rPr lang="en-US" sz="2200" smtClean="0"/>
              <a:t> modeling techniques, not to </a:t>
            </a:r>
            <a:r>
              <a:rPr lang="en-US" sz="2200" i="1" smtClean="0"/>
              <a:t>evaluate</a:t>
            </a:r>
            <a:r>
              <a:rPr lang="en-US" sz="2200" smtClean="0"/>
              <a:t> modeling techniques.</a:t>
            </a:r>
          </a:p>
          <a:p>
            <a:pPr lvl="1"/>
            <a:r>
              <a:rPr lang="en-US" sz="2000" smtClean="0"/>
              <a:t>“this is how computers work”</a:t>
            </a:r>
          </a:p>
          <a:p>
            <a:pPr lvl="1"/>
            <a:r>
              <a:rPr lang="en-US" sz="2000" smtClean="0"/>
              <a:t>“this equation describes that feedback circuit”</a:t>
            </a:r>
          </a:p>
          <a:p>
            <a:pPr marL="0" indent="0">
              <a:buFont typeface="Wingdings" pitchFamily="-107" charset="2"/>
              <a:buNone/>
            </a:pPr>
            <a:r>
              <a:rPr lang="en-US" sz="2200" smtClean="0"/>
              <a:t>rather than</a:t>
            </a:r>
          </a:p>
          <a:p>
            <a:pPr lvl="1"/>
            <a:r>
              <a:rPr lang="en-US" sz="2000" smtClean="0"/>
              <a:t>“this is how VonNeumann proposed that we control automatic machines”</a:t>
            </a:r>
          </a:p>
          <a:p>
            <a:pPr lvl="1"/>
            <a:r>
              <a:rPr lang="en-US" sz="2000" smtClean="0"/>
              <a:t>“ignoring the intrinsic randomness and latency in this circuit, Black proposed that we could idealize its behavior in this way”</a:t>
            </a:r>
          </a:p>
          <a:p>
            <a:pPr marL="0" indent="0">
              <a:buFont typeface="Wingdings" pitchFamily="-107" charset="2"/>
              <a:buNone/>
            </a:pPr>
            <a:endParaRPr lang="en-US" sz="2200" smtClean="0">
              <a:solidFill>
                <a:srgbClr val="CC3300"/>
              </a:solidFill>
            </a:endParaRPr>
          </a:p>
          <a:p>
            <a:pPr marL="0" indent="0">
              <a:buFont typeface="Wingdings" pitchFamily="-107" charset="2"/>
              <a:buNone/>
            </a:pPr>
            <a:r>
              <a:rPr lang="en-US" sz="2200" smtClean="0">
                <a:solidFill>
                  <a:srgbClr val="CC3300"/>
                </a:solidFill>
              </a:rPr>
              <a:t>Students must be taught meta-modeling, not just modeling. They must learn to think critically about modeling methods, not just about models.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smtClean="0"/>
              <a:t>The Graduate Curriculum</a:t>
            </a:r>
          </a:p>
        </p:txBody>
      </p:sp>
      <p:sp>
        <p:nvSpPr>
          <p:cNvPr id="1184771" name="Rectangle 3"/>
          <p:cNvSpPr>
            <a:spLocks noGrp="1" noChangeArrowheads="1"/>
          </p:cNvSpPr>
          <p:nvPr>
            <p:ph type="body" idx="1"/>
          </p:nvPr>
        </p:nvSpPr>
        <p:spPr/>
        <p:txBody>
          <a:bodyPr/>
          <a:lstStyle/>
          <a:p>
            <a:pPr marL="0" indent="0">
              <a:lnSpc>
                <a:spcPct val="90000"/>
              </a:lnSpc>
              <a:buFont typeface="Wingdings" pitchFamily="-107" charset="2"/>
              <a:buNone/>
              <a:defRPr/>
            </a:pPr>
            <a:endParaRPr lang="en-US" dirty="0"/>
          </a:p>
          <a:p>
            <a:pPr marL="0" indent="0">
              <a:lnSpc>
                <a:spcPct val="90000"/>
              </a:lnSpc>
              <a:buFont typeface="Wingdings" pitchFamily="-107" charset="2"/>
              <a:buNone/>
              <a:defRPr/>
            </a:pPr>
            <a:r>
              <a:rPr lang="en-US" dirty="0"/>
              <a:t>We have developed courses in:</a:t>
            </a:r>
          </a:p>
          <a:p>
            <a:pPr marL="0" indent="0">
              <a:lnSpc>
                <a:spcPct val="90000"/>
              </a:lnSpc>
              <a:defRPr/>
            </a:pPr>
            <a:r>
              <a:rPr lang="en-US" dirty="0"/>
              <a:t>  Hybrid Systems</a:t>
            </a:r>
          </a:p>
          <a:p>
            <a:pPr marL="0" indent="0">
              <a:lnSpc>
                <a:spcPct val="90000"/>
              </a:lnSpc>
              <a:defRPr/>
            </a:pPr>
            <a:r>
              <a:rPr lang="en-US" dirty="0"/>
              <a:t>  Embedded Software and Systems Design</a:t>
            </a:r>
          </a:p>
          <a:p>
            <a:pPr marL="396875" indent="-396875">
              <a:lnSpc>
                <a:spcPct val="90000"/>
              </a:lnSpc>
              <a:defRPr/>
            </a:pPr>
            <a:r>
              <a:rPr lang="en-US" dirty="0"/>
              <a:t>Algorithmic CAD</a:t>
            </a:r>
          </a:p>
          <a:p>
            <a:pPr marL="0" indent="0">
              <a:lnSpc>
                <a:spcPct val="90000"/>
              </a:lnSpc>
              <a:defRPr/>
            </a:pPr>
            <a:r>
              <a:rPr lang="en-US" dirty="0"/>
              <a:t>  Model Integrated Computing</a:t>
            </a:r>
          </a:p>
          <a:p>
            <a:pPr marL="0" indent="0">
              <a:lnSpc>
                <a:spcPct val="90000"/>
              </a:lnSpc>
              <a:buFont typeface="Wingdings" pitchFamily="-107" charset="2"/>
              <a:buNone/>
              <a:defRPr/>
            </a:pPr>
            <a:endParaRPr lang="en-US" dirty="0"/>
          </a:p>
          <a:p>
            <a:pPr marL="0" indent="0">
              <a:lnSpc>
                <a:spcPct val="90000"/>
              </a:lnSpc>
              <a:buFont typeface="Wingdings" pitchFamily="-107" charset="2"/>
              <a:buNone/>
              <a:defRPr/>
            </a:pPr>
            <a:r>
              <a:rPr lang="en-US" dirty="0">
                <a:solidFill>
                  <a:srgbClr val="CC3300"/>
                </a:solidFill>
              </a:rPr>
              <a:t>A key challenge is to define the durable intellectual heart of hybrid and embedded systems, not on ad hoc engineering practice.</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smtClean="0"/>
              <a:t>New Undergraduate Course (Spring 2008)</a:t>
            </a:r>
            <a:br>
              <a:rPr lang="en-US" smtClean="0"/>
            </a:br>
            <a:r>
              <a:rPr lang="en-US" smtClean="0"/>
              <a:t>“Introduction to Embedded Systems”</a:t>
            </a:r>
          </a:p>
        </p:txBody>
      </p:sp>
      <p:sp>
        <p:nvSpPr>
          <p:cNvPr id="43011" name="Rectangle 3"/>
          <p:cNvSpPr>
            <a:spLocks noGrp="1" noChangeArrowheads="1"/>
          </p:cNvSpPr>
          <p:nvPr>
            <p:ph type="body" idx="1"/>
          </p:nvPr>
        </p:nvSpPr>
        <p:spPr>
          <a:xfrm>
            <a:off x="152400" y="1524000"/>
            <a:ext cx="5029200" cy="4953000"/>
          </a:xfrm>
        </p:spPr>
        <p:txBody>
          <a:bodyPr/>
          <a:lstStyle/>
          <a:p>
            <a:pPr marL="0" indent="0" eaLnBrk="1" hangingPunct="1">
              <a:lnSpc>
                <a:spcPct val="90000"/>
              </a:lnSpc>
              <a:buFont typeface="Wingdings" pitchFamily="-107" charset="2"/>
              <a:buNone/>
            </a:pPr>
            <a:r>
              <a:rPr lang="en-US" sz="1700" i="1" smtClean="0">
                <a:solidFill>
                  <a:srgbClr val="800000"/>
                </a:solidFill>
              </a:rPr>
              <a:t>This course is intended to introduce students to the design and analysis of computational systems that interact with physical processes</a:t>
            </a:r>
            <a:r>
              <a:rPr lang="en-US" sz="1700" smtClean="0"/>
              <a:t>. Applications of such systems include medical devices and systems, consumer electronics, toys and games, assisted living, traffic control and safety, automotive systems, process control, energy management and conservation, environmental control, aircraft control systems, communications systems, instrumentation, critical infrastructure control (electric power, water resources, and communications systems for example), robotics and distributed robotics (telepresence, telemedicine), defense systems, manufacturing, and smart structures.</a:t>
            </a:r>
          </a:p>
          <a:p>
            <a:pPr marL="0" indent="0" eaLnBrk="1" hangingPunct="1">
              <a:lnSpc>
                <a:spcPct val="90000"/>
              </a:lnSpc>
              <a:buFont typeface="Wingdings" pitchFamily="-107" charset="2"/>
              <a:buNone/>
            </a:pPr>
            <a:endParaRPr lang="en-US" sz="1700" smtClean="0"/>
          </a:p>
          <a:p>
            <a:pPr marL="0" indent="0" eaLnBrk="1" hangingPunct="1">
              <a:lnSpc>
                <a:spcPct val="90000"/>
              </a:lnSpc>
              <a:buFont typeface="Wingdings" pitchFamily="-107" charset="2"/>
              <a:buNone/>
            </a:pPr>
            <a:r>
              <a:rPr lang="en-US" sz="1700" smtClean="0"/>
              <a:t>A major </a:t>
            </a:r>
            <a:r>
              <a:rPr lang="en-US" sz="1700" i="1" smtClean="0">
                <a:solidFill>
                  <a:srgbClr val="800000"/>
                </a:solidFill>
              </a:rPr>
              <a:t>theme of this course will be on the interplay of practical design with formal models of systems</a:t>
            </a:r>
            <a:r>
              <a:rPr lang="en-US" sz="1700" smtClean="0"/>
              <a:t>, including both software components and physical dynamics. A major emphasis will be on building high confidence systems with real-time and concurrent behaviors. </a:t>
            </a:r>
          </a:p>
        </p:txBody>
      </p:sp>
      <p:sp>
        <p:nvSpPr>
          <p:cNvPr id="43012" name="Text Box 4"/>
          <p:cNvSpPr txBox="1">
            <a:spLocks noChangeArrowheads="1"/>
          </p:cNvSpPr>
          <p:nvPr/>
        </p:nvSpPr>
        <p:spPr bwMode="auto">
          <a:xfrm>
            <a:off x="5257800" y="1571625"/>
            <a:ext cx="3886200" cy="4981575"/>
          </a:xfrm>
          <a:prstGeom prst="rect">
            <a:avLst/>
          </a:prstGeom>
          <a:noFill/>
          <a:ln w="9525">
            <a:noFill/>
            <a:miter lim="800000"/>
            <a:headEnd/>
            <a:tailEnd/>
          </a:ln>
        </p:spPr>
        <p:txBody>
          <a:bodyPr>
            <a:spAutoFit/>
          </a:bodyPr>
          <a:lstStyle/>
          <a:p>
            <a:pPr marL="223838" indent="-223838">
              <a:buFontTx/>
              <a:buChar char="•"/>
            </a:pPr>
            <a:r>
              <a:rPr lang="en-US"/>
              <a:t>Cyber-Physical Systems</a:t>
            </a:r>
          </a:p>
          <a:p>
            <a:pPr marL="223838" indent="-223838">
              <a:buFontTx/>
              <a:buChar char="•"/>
            </a:pPr>
            <a:r>
              <a:rPr lang="en-US"/>
              <a:t>Model-Based Design</a:t>
            </a:r>
          </a:p>
          <a:p>
            <a:pPr marL="223838" indent="-223838">
              <a:buFontTx/>
              <a:buChar char="•"/>
            </a:pPr>
            <a:r>
              <a:rPr lang="en-US"/>
              <a:t>Sensors and Actuators</a:t>
            </a:r>
          </a:p>
          <a:p>
            <a:pPr marL="223838" indent="-223838">
              <a:buFontTx/>
              <a:buChar char="•"/>
            </a:pPr>
            <a:r>
              <a:rPr lang="en-US"/>
              <a:t>Interfacing to Sensors and Actuators </a:t>
            </a:r>
          </a:p>
          <a:p>
            <a:pPr marL="223838" indent="-223838">
              <a:buFontTx/>
              <a:buChar char="•"/>
            </a:pPr>
            <a:r>
              <a:rPr lang="en-US"/>
              <a:t>Actors, Dataflow</a:t>
            </a:r>
          </a:p>
          <a:p>
            <a:pPr marL="223838" indent="-223838">
              <a:buFontTx/>
              <a:buChar char="•"/>
            </a:pPr>
            <a:r>
              <a:rPr lang="en-US"/>
              <a:t>Modeling Modal Behavior</a:t>
            </a:r>
          </a:p>
          <a:p>
            <a:pPr marL="223838" indent="-223838">
              <a:buFontTx/>
              <a:buChar char="•"/>
            </a:pPr>
            <a:r>
              <a:rPr lang="en-US"/>
              <a:t>Concurrency: Threads and Interrupts 	  </a:t>
            </a:r>
          </a:p>
          <a:p>
            <a:pPr marL="223838" indent="-223838">
              <a:buFontTx/>
              <a:buChar char="•"/>
            </a:pPr>
            <a:r>
              <a:rPr lang="en-US"/>
              <a:t>Hybrid Systems</a:t>
            </a:r>
          </a:p>
          <a:p>
            <a:pPr marL="223838" indent="-223838">
              <a:buFontTx/>
              <a:buChar char="•"/>
            </a:pPr>
            <a:r>
              <a:rPr lang="en-US"/>
              <a:t>Simulation</a:t>
            </a:r>
          </a:p>
          <a:p>
            <a:pPr marL="223838" indent="-223838">
              <a:buFontTx/>
              <a:buChar char="•"/>
            </a:pPr>
            <a:r>
              <a:rPr lang="en-US"/>
              <a:t>Specification; Temporal Logic 	  </a:t>
            </a:r>
          </a:p>
          <a:p>
            <a:pPr marL="223838" indent="-223838">
              <a:buFontTx/>
              <a:buChar char="•"/>
            </a:pPr>
            <a:r>
              <a:rPr lang="en-US"/>
              <a:t>Reachability Analysis</a:t>
            </a:r>
          </a:p>
          <a:p>
            <a:pPr marL="223838" indent="-223838">
              <a:buFontTx/>
              <a:buChar char="•"/>
            </a:pPr>
            <a:r>
              <a:rPr lang="en-US"/>
              <a:t>Controller Synthesis </a:t>
            </a:r>
          </a:p>
          <a:p>
            <a:pPr marL="223838" indent="-223838">
              <a:buFontTx/>
              <a:buChar char="•"/>
            </a:pPr>
            <a:r>
              <a:rPr lang="en-US"/>
              <a:t>Control Design for FSMs and ODEs</a:t>
            </a:r>
          </a:p>
          <a:p>
            <a:pPr marL="223838" indent="-223838">
              <a:buFontTx/>
              <a:buChar char="•"/>
            </a:pPr>
            <a:r>
              <a:rPr lang="en-US"/>
              <a:t>Real-Time Operating Systems (RTOS) </a:t>
            </a:r>
          </a:p>
          <a:p>
            <a:pPr marL="223838" indent="-223838">
              <a:buFontTx/>
              <a:buChar char="•"/>
            </a:pPr>
            <a:r>
              <a:rPr lang="en-US"/>
              <a:t>Scheduling: Rate-Monotonic and EDF </a:t>
            </a:r>
          </a:p>
          <a:p>
            <a:pPr marL="223838" indent="-223838">
              <a:buFontTx/>
              <a:buChar char="•"/>
            </a:pPr>
            <a:r>
              <a:rPr lang="en-US"/>
              <a:t>Concurrency Models</a:t>
            </a:r>
          </a:p>
          <a:p>
            <a:pPr marL="223838" indent="-223838">
              <a:buFontTx/>
              <a:buChar char="•"/>
            </a:pPr>
            <a:r>
              <a:rPr lang="en-US"/>
              <a:t>Execution Time Analysis</a:t>
            </a:r>
          </a:p>
          <a:p>
            <a:pPr marL="223838" indent="-223838">
              <a:buFontTx/>
              <a:buChar char="•"/>
            </a:pPr>
            <a:r>
              <a:rPr lang="en-US"/>
              <a:t>Localization and Mapping</a:t>
            </a:r>
          </a:p>
          <a:p>
            <a:pPr marL="223838" indent="-223838">
              <a:buFontTx/>
              <a:buChar char="•"/>
            </a:pPr>
            <a:r>
              <a:rPr lang="en-US"/>
              <a:t>Real-Time Networking </a:t>
            </a:r>
          </a:p>
          <a:p>
            <a:pPr marL="223838" indent="-223838">
              <a:buFontTx/>
              <a:buChar char="•"/>
            </a:pPr>
            <a:r>
              <a:rPr lang="en-US"/>
              <a:t>Distributed Embedded Systems</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smtClean="0"/>
              <a:t>Modeling</a:t>
            </a:r>
            <a:br>
              <a:rPr lang="en-US" smtClean="0"/>
            </a:br>
            <a:r>
              <a:rPr lang="en-US" smtClean="0"/>
              <a:t>Physical</a:t>
            </a:r>
            <a:br>
              <a:rPr lang="en-US" smtClean="0"/>
            </a:br>
            <a:r>
              <a:rPr lang="en-US" smtClean="0"/>
              <a:t>Dynamics</a:t>
            </a:r>
          </a:p>
        </p:txBody>
      </p:sp>
      <p:pic>
        <p:nvPicPr>
          <p:cNvPr id="44035" name="Picture 3"/>
          <p:cNvPicPr>
            <a:picLocks noChangeAspect="1" noChangeArrowheads="1"/>
          </p:cNvPicPr>
          <p:nvPr/>
        </p:nvPicPr>
        <p:blipFill>
          <a:blip r:embed="rId2"/>
          <a:srcRect/>
          <a:stretch>
            <a:fillRect/>
          </a:stretch>
        </p:blipFill>
        <p:spPr bwMode="auto">
          <a:xfrm>
            <a:off x="304800" y="2032000"/>
            <a:ext cx="4954588" cy="3683000"/>
          </a:xfrm>
          <a:prstGeom prst="rect">
            <a:avLst/>
          </a:prstGeom>
          <a:noFill/>
          <a:ln w="9525">
            <a:noFill/>
            <a:miter lim="800000"/>
            <a:headEnd/>
            <a:tailEnd/>
          </a:ln>
        </p:spPr>
      </p:pic>
      <p:pic>
        <p:nvPicPr>
          <p:cNvPr id="44036" name="Picture 4"/>
          <p:cNvPicPr>
            <a:picLocks noChangeAspect="1" noChangeArrowheads="1"/>
          </p:cNvPicPr>
          <p:nvPr/>
        </p:nvPicPr>
        <p:blipFill>
          <a:blip r:embed="rId3"/>
          <a:srcRect/>
          <a:stretch>
            <a:fillRect/>
          </a:stretch>
        </p:blipFill>
        <p:spPr bwMode="auto">
          <a:xfrm>
            <a:off x="4800600" y="228600"/>
            <a:ext cx="4343400" cy="31019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9" name="Picture 2" descr="Torque_animation"/>
          <p:cNvPicPr>
            <a:picLocks noChangeAspect="1" noChangeArrowheads="1" noCrop="1"/>
          </p:cNvPicPr>
          <p:nvPr/>
        </p:nvPicPr>
        <p:blipFill>
          <a:blip r:embed="rId3"/>
          <a:srcRect/>
          <a:stretch>
            <a:fillRect/>
          </a:stretch>
        </p:blipFill>
        <p:spPr bwMode="auto">
          <a:xfrm>
            <a:off x="5105400" y="228600"/>
            <a:ext cx="3467100" cy="2486025"/>
          </a:xfrm>
          <a:prstGeom prst="rect">
            <a:avLst/>
          </a:prstGeom>
          <a:noFill/>
          <a:ln w="9525">
            <a:noFill/>
            <a:miter lim="800000"/>
            <a:headEnd/>
            <a:tailEnd/>
          </a:ln>
        </p:spPr>
      </p:pic>
      <p:sp>
        <p:nvSpPr>
          <p:cNvPr id="45060" name="Rectangle 3"/>
          <p:cNvSpPr>
            <a:spLocks noGrp="1" noChangeArrowheads="1"/>
          </p:cNvSpPr>
          <p:nvPr>
            <p:ph type="title"/>
          </p:nvPr>
        </p:nvSpPr>
        <p:spPr/>
        <p:txBody>
          <a:bodyPr/>
          <a:lstStyle/>
          <a:p>
            <a:r>
              <a:rPr lang="en-US" smtClean="0"/>
              <a:t>Feedback Control Problem</a:t>
            </a:r>
          </a:p>
        </p:txBody>
      </p:sp>
      <p:sp>
        <p:nvSpPr>
          <p:cNvPr id="45061" name="Text Box 4"/>
          <p:cNvSpPr txBox="1">
            <a:spLocks noChangeArrowheads="1"/>
          </p:cNvSpPr>
          <p:nvPr/>
        </p:nvSpPr>
        <p:spPr bwMode="auto">
          <a:xfrm>
            <a:off x="457200" y="2060575"/>
            <a:ext cx="6096000" cy="1187450"/>
          </a:xfrm>
          <a:prstGeom prst="rect">
            <a:avLst/>
          </a:prstGeom>
          <a:solidFill>
            <a:schemeClr val="bg1"/>
          </a:solidFill>
          <a:ln w="9525">
            <a:noFill/>
            <a:miter lim="800000"/>
            <a:headEnd/>
            <a:tailEnd/>
          </a:ln>
        </p:spPr>
        <p:txBody>
          <a:bodyPr>
            <a:spAutoFit/>
          </a:bodyPr>
          <a:lstStyle/>
          <a:p>
            <a:r>
              <a:rPr lang="en-US" sz="2400" i="0"/>
              <a:t>A helicopter without a tail rotor, like the one below, will spin uncontrollably due to the torque induced by friction in the rotor shaft.</a:t>
            </a:r>
          </a:p>
        </p:txBody>
      </p:sp>
      <p:graphicFrame>
        <p:nvGraphicFramePr>
          <p:cNvPr id="45058" name="Object 2"/>
          <p:cNvGraphicFramePr>
            <a:graphicFrameLocks/>
          </p:cNvGraphicFramePr>
          <p:nvPr>
            <p:ph idx="1"/>
          </p:nvPr>
        </p:nvGraphicFramePr>
        <p:xfrm>
          <a:off x="4794250" y="3646488"/>
          <a:ext cx="4022725" cy="2706687"/>
        </p:xfrm>
        <a:graphic>
          <a:graphicData uri="http://schemas.openxmlformats.org/presentationml/2006/ole">
            <p:oleObj spid="_x0000_s45058" name="CorelDRAW" r:id="rId4" imgW="6706440" imgH="4067640" progId="CorelDRAW.Graphic.11">
              <p:embed/>
            </p:oleObj>
          </a:graphicData>
        </a:graphic>
      </p:graphicFrame>
      <p:sp>
        <p:nvSpPr>
          <p:cNvPr id="45062" name="Text Box 6"/>
          <p:cNvSpPr txBox="1">
            <a:spLocks noChangeArrowheads="1"/>
          </p:cNvSpPr>
          <p:nvPr/>
        </p:nvSpPr>
        <p:spPr bwMode="auto">
          <a:xfrm>
            <a:off x="457200" y="3657600"/>
            <a:ext cx="3733800" cy="1552575"/>
          </a:xfrm>
          <a:prstGeom prst="rect">
            <a:avLst/>
          </a:prstGeom>
          <a:noFill/>
          <a:ln w="9525">
            <a:noFill/>
            <a:miter lim="800000"/>
            <a:headEnd/>
            <a:tailEnd/>
          </a:ln>
        </p:spPr>
        <p:txBody>
          <a:bodyPr>
            <a:spAutoFit/>
          </a:bodyPr>
          <a:lstStyle/>
          <a:p>
            <a:r>
              <a:rPr lang="en-US" sz="2400" i="0"/>
              <a:t>Control system problem: Apply torque using the tail rotor to counterbalance the torque of the top rotor.</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smtClean="0"/>
              <a:t>Actor Model of Systems</a:t>
            </a:r>
          </a:p>
        </p:txBody>
      </p:sp>
      <p:sp>
        <p:nvSpPr>
          <p:cNvPr id="46083" name="Rectangle 3"/>
          <p:cNvSpPr>
            <a:spLocks noGrp="1" noChangeArrowheads="1"/>
          </p:cNvSpPr>
          <p:nvPr>
            <p:ph type="body" idx="1"/>
          </p:nvPr>
        </p:nvSpPr>
        <p:spPr>
          <a:xfrm>
            <a:off x="304800" y="1905000"/>
            <a:ext cx="4267200" cy="4572000"/>
          </a:xfrm>
        </p:spPr>
        <p:txBody>
          <a:bodyPr/>
          <a:lstStyle/>
          <a:p>
            <a:pPr marL="0" indent="0">
              <a:buFont typeface="Wingdings" pitchFamily="-107" charset="2"/>
              <a:buNone/>
            </a:pPr>
            <a:r>
              <a:rPr lang="en-US" smtClean="0"/>
              <a:t>A </a:t>
            </a:r>
            <a:r>
              <a:rPr lang="en-US" i="1" smtClean="0"/>
              <a:t>system</a:t>
            </a:r>
            <a:r>
              <a:rPr lang="en-US" smtClean="0"/>
              <a:t> is a function that accepts an input </a:t>
            </a:r>
            <a:r>
              <a:rPr lang="en-US" i="1" smtClean="0"/>
              <a:t>signal</a:t>
            </a:r>
            <a:r>
              <a:rPr lang="en-US" smtClean="0"/>
              <a:t> and yields an output signal.</a:t>
            </a:r>
          </a:p>
          <a:p>
            <a:pPr marL="0" indent="0">
              <a:buFont typeface="Wingdings" pitchFamily="-107" charset="2"/>
              <a:buNone/>
            </a:pPr>
            <a:endParaRPr lang="en-US" smtClean="0"/>
          </a:p>
          <a:p>
            <a:pPr marL="0" indent="0">
              <a:buFont typeface="Wingdings" pitchFamily="-107" charset="2"/>
              <a:buNone/>
            </a:pPr>
            <a:r>
              <a:rPr lang="en-US" smtClean="0"/>
              <a:t>The domain and range of the system function are sets of signals, which themselves are functions.</a:t>
            </a:r>
          </a:p>
          <a:p>
            <a:pPr marL="0" indent="0">
              <a:buFont typeface="Wingdings" pitchFamily="-107" charset="2"/>
              <a:buNone/>
            </a:pPr>
            <a:endParaRPr lang="en-US" smtClean="0"/>
          </a:p>
          <a:p>
            <a:pPr marL="0" indent="0">
              <a:buFont typeface="Wingdings" pitchFamily="-107" charset="2"/>
              <a:buNone/>
            </a:pPr>
            <a:r>
              <a:rPr lang="en-US" smtClean="0"/>
              <a:t>Parameters may affect the definition of the function </a:t>
            </a:r>
            <a:r>
              <a:rPr lang="en-US" i="1" smtClean="0"/>
              <a:t>S</a:t>
            </a:r>
            <a:r>
              <a:rPr lang="en-US" smtClean="0"/>
              <a:t>.</a:t>
            </a:r>
          </a:p>
        </p:txBody>
      </p:sp>
      <p:pic>
        <p:nvPicPr>
          <p:cNvPr id="46084" name="Picture 4"/>
          <p:cNvPicPr>
            <a:picLocks noChangeAspect="1" noChangeArrowheads="1"/>
          </p:cNvPicPr>
          <p:nvPr/>
        </p:nvPicPr>
        <p:blipFill>
          <a:blip r:embed="rId2"/>
          <a:srcRect/>
          <a:stretch>
            <a:fillRect/>
          </a:stretch>
        </p:blipFill>
        <p:spPr bwMode="auto">
          <a:xfrm>
            <a:off x="4410075" y="1524000"/>
            <a:ext cx="4581525" cy="1876425"/>
          </a:xfrm>
          <a:prstGeom prst="rect">
            <a:avLst/>
          </a:prstGeom>
          <a:noFill/>
          <a:ln w="9525">
            <a:noFill/>
            <a:miter lim="800000"/>
            <a:headEnd/>
            <a:tailEnd/>
          </a:ln>
        </p:spPr>
      </p:pic>
      <p:pic>
        <p:nvPicPr>
          <p:cNvPr id="46085" name="Picture 5"/>
          <p:cNvPicPr>
            <a:picLocks noChangeAspect="1" noChangeArrowheads="1"/>
          </p:cNvPicPr>
          <p:nvPr/>
        </p:nvPicPr>
        <p:blipFill>
          <a:blip r:embed="rId3"/>
          <a:srcRect/>
          <a:stretch>
            <a:fillRect/>
          </a:stretch>
        </p:blipFill>
        <p:spPr bwMode="auto">
          <a:xfrm>
            <a:off x="4795838" y="3438525"/>
            <a:ext cx="3800475" cy="523875"/>
          </a:xfrm>
          <a:prstGeom prst="rect">
            <a:avLst/>
          </a:prstGeom>
          <a:noFill/>
          <a:ln w="9525">
            <a:noFill/>
            <a:miter lim="800000"/>
            <a:headEnd/>
            <a:tailEnd/>
          </a:ln>
        </p:spPr>
      </p:pic>
      <p:pic>
        <p:nvPicPr>
          <p:cNvPr id="46086" name="Picture 6"/>
          <p:cNvPicPr>
            <a:picLocks noChangeAspect="1" noChangeArrowheads="1"/>
          </p:cNvPicPr>
          <p:nvPr/>
        </p:nvPicPr>
        <p:blipFill>
          <a:blip r:embed="rId4"/>
          <a:srcRect/>
          <a:stretch>
            <a:fillRect/>
          </a:stretch>
        </p:blipFill>
        <p:spPr bwMode="auto">
          <a:xfrm>
            <a:off x="5886450" y="4191000"/>
            <a:ext cx="1619250" cy="457200"/>
          </a:xfrm>
          <a:prstGeom prst="rect">
            <a:avLst/>
          </a:prstGeom>
          <a:noFill/>
          <a:ln w="9525">
            <a:noFill/>
            <a:miter lim="800000"/>
            <a:headEnd/>
            <a:tailEnd/>
          </a:ln>
        </p:spPr>
      </p:pic>
      <p:pic>
        <p:nvPicPr>
          <p:cNvPr id="46087" name="Picture 7"/>
          <p:cNvPicPr>
            <a:picLocks noChangeAspect="1" noChangeArrowheads="1"/>
          </p:cNvPicPr>
          <p:nvPr/>
        </p:nvPicPr>
        <p:blipFill>
          <a:blip r:embed="rId5"/>
          <a:srcRect/>
          <a:stretch>
            <a:fillRect/>
          </a:stretch>
        </p:blipFill>
        <p:spPr bwMode="auto">
          <a:xfrm>
            <a:off x="5076825" y="4905375"/>
            <a:ext cx="3238500" cy="5048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smtClean="0"/>
              <a:t>Proportional controller</a:t>
            </a:r>
          </a:p>
        </p:txBody>
      </p:sp>
      <p:sp>
        <p:nvSpPr>
          <p:cNvPr id="47107" name="Text Box 3"/>
          <p:cNvSpPr txBox="1">
            <a:spLocks noChangeArrowheads="1"/>
          </p:cNvSpPr>
          <p:nvPr/>
        </p:nvSpPr>
        <p:spPr bwMode="auto">
          <a:xfrm>
            <a:off x="609600" y="3352800"/>
            <a:ext cx="1144588" cy="1054100"/>
          </a:xfrm>
          <a:prstGeom prst="rect">
            <a:avLst/>
          </a:prstGeom>
          <a:noFill/>
          <a:ln w="9525">
            <a:noFill/>
            <a:miter lim="800000"/>
            <a:headEnd/>
            <a:tailEnd/>
          </a:ln>
        </p:spPr>
        <p:txBody>
          <a:bodyPr wrap="none">
            <a:spAutoFit/>
          </a:bodyPr>
          <a:lstStyle/>
          <a:p>
            <a:pPr algn="ctr"/>
            <a:r>
              <a:rPr lang="en-US" sz="3200" i="0" baseline="-25000"/>
              <a:t>desired </a:t>
            </a:r>
          </a:p>
          <a:p>
            <a:pPr algn="ctr"/>
            <a:r>
              <a:rPr lang="en-US" sz="3200" i="0" baseline="-25000"/>
              <a:t>angular </a:t>
            </a:r>
          </a:p>
          <a:p>
            <a:pPr algn="ctr"/>
            <a:r>
              <a:rPr lang="en-US" sz="3200" i="0" baseline="-25000"/>
              <a:t>velocity</a:t>
            </a:r>
          </a:p>
        </p:txBody>
      </p:sp>
      <p:pic>
        <p:nvPicPr>
          <p:cNvPr id="47108" name="Picture 4"/>
          <p:cNvPicPr>
            <a:picLocks noChangeAspect="1" noChangeArrowheads="1"/>
          </p:cNvPicPr>
          <p:nvPr/>
        </p:nvPicPr>
        <p:blipFill>
          <a:blip r:embed="rId2"/>
          <a:srcRect/>
          <a:stretch>
            <a:fillRect/>
          </a:stretch>
        </p:blipFill>
        <p:spPr bwMode="auto">
          <a:xfrm>
            <a:off x="1828800" y="1219200"/>
            <a:ext cx="6172200" cy="1895475"/>
          </a:xfrm>
          <a:prstGeom prst="rect">
            <a:avLst/>
          </a:prstGeom>
          <a:noFill/>
          <a:ln w="9525">
            <a:noFill/>
            <a:miter lim="800000"/>
            <a:headEnd/>
            <a:tailEnd/>
          </a:ln>
        </p:spPr>
      </p:pic>
      <p:sp>
        <p:nvSpPr>
          <p:cNvPr id="47109" name="Line 5"/>
          <p:cNvSpPr>
            <a:spLocks noChangeShapeType="1"/>
          </p:cNvSpPr>
          <p:nvPr/>
        </p:nvSpPr>
        <p:spPr bwMode="auto">
          <a:xfrm flipV="1">
            <a:off x="1219200" y="2057400"/>
            <a:ext cx="838200" cy="1447800"/>
          </a:xfrm>
          <a:prstGeom prst="line">
            <a:avLst/>
          </a:prstGeom>
          <a:noFill/>
          <a:ln w="38100">
            <a:solidFill>
              <a:srgbClr val="CC3300"/>
            </a:solidFill>
            <a:round/>
            <a:headEnd/>
            <a:tailEnd type="triangle" w="med" len="med"/>
          </a:ln>
        </p:spPr>
        <p:txBody>
          <a:bodyPr/>
          <a:lstStyle/>
          <a:p>
            <a:endParaRPr lang="en-US"/>
          </a:p>
        </p:txBody>
      </p:sp>
      <p:sp>
        <p:nvSpPr>
          <p:cNvPr id="47110" name="Line 6"/>
          <p:cNvSpPr>
            <a:spLocks noChangeShapeType="1"/>
          </p:cNvSpPr>
          <p:nvPr/>
        </p:nvSpPr>
        <p:spPr bwMode="auto">
          <a:xfrm flipV="1">
            <a:off x="3276600" y="2133600"/>
            <a:ext cx="0" cy="1371600"/>
          </a:xfrm>
          <a:prstGeom prst="line">
            <a:avLst/>
          </a:prstGeom>
          <a:noFill/>
          <a:ln w="38100">
            <a:solidFill>
              <a:srgbClr val="CC3300"/>
            </a:solidFill>
            <a:round/>
            <a:headEnd/>
            <a:tailEnd type="triangle" w="med" len="med"/>
          </a:ln>
        </p:spPr>
        <p:txBody>
          <a:bodyPr/>
          <a:lstStyle/>
          <a:p>
            <a:endParaRPr lang="en-US"/>
          </a:p>
        </p:txBody>
      </p:sp>
      <p:sp>
        <p:nvSpPr>
          <p:cNvPr id="47111" name="Text Box 7"/>
          <p:cNvSpPr txBox="1">
            <a:spLocks noChangeArrowheads="1"/>
          </p:cNvSpPr>
          <p:nvPr/>
        </p:nvSpPr>
        <p:spPr bwMode="auto">
          <a:xfrm>
            <a:off x="2819400" y="3352800"/>
            <a:ext cx="877888" cy="733425"/>
          </a:xfrm>
          <a:prstGeom prst="rect">
            <a:avLst/>
          </a:prstGeom>
          <a:noFill/>
          <a:ln w="9525">
            <a:noFill/>
            <a:miter lim="800000"/>
            <a:headEnd/>
            <a:tailEnd/>
          </a:ln>
        </p:spPr>
        <p:txBody>
          <a:bodyPr wrap="none">
            <a:spAutoFit/>
          </a:bodyPr>
          <a:lstStyle/>
          <a:p>
            <a:pPr algn="ctr"/>
            <a:r>
              <a:rPr lang="en-US" sz="3200" i="0" baseline="-25000"/>
              <a:t>error</a:t>
            </a:r>
          </a:p>
          <a:p>
            <a:pPr algn="ctr"/>
            <a:r>
              <a:rPr lang="en-US" sz="3200" i="0" baseline="-25000"/>
              <a:t>signal</a:t>
            </a:r>
          </a:p>
        </p:txBody>
      </p:sp>
      <p:pic>
        <p:nvPicPr>
          <p:cNvPr id="47112" name="Picture 8"/>
          <p:cNvPicPr>
            <a:picLocks noChangeAspect="1" noChangeArrowheads="1"/>
          </p:cNvPicPr>
          <p:nvPr/>
        </p:nvPicPr>
        <p:blipFill>
          <a:blip r:embed="rId3"/>
          <a:srcRect/>
          <a:stretch>
            <a:fillRect/>
          </a:stretch>
        </p:blipFill>
        <p:spPr bwMode="auto">
          <a:xfrm>
            <a:off x="2133600" y="4267200"/>
            <a:ext cx="2219325" cy="381000"/>
          </a:xfrm>
          <a:prstGeom prst="rect">
            <a:avLst/>
          </a:prstGeom>
          <a:noFill/>
          <a:ln w="9525">
            <a:noFill/>
            <a:miter lim="800000"/>
            <a:headEnd/>
            <a:tailEnd/>
          </a:ln>
        </p:spPr>
      </p:pic>
      <p:pic>
        <p:nvPicPr>
          <p:cNvPr id="47113" name="Picture 9"/>
          <p:cNvPicPr>
            <a:picLocks noChangeAspect="1" noChangeArrowheads="1"/>
          </p:cNvPicPr>
          <p:nvPr/>
        </p:nvPicPr>
        <p:blipFill>
          <a:blip r:embed="rId4"/>
          <a:srcRect/>
          <a:stretch>
            <a:fillRect/>
          </a:stretch>
        </p:blipFill>
        <p:spPr bwMode="auto">
          <a:xfrm>
            <a:off x="4876800" y="4267200"/>
            <a:ext cx="1571625" cy="400050"/>
          </a:xfrm>
          <a:prstGeom prst="rect">
            <a:avLst/>
          </a:prstGeom>
          <a:noFill/>
          <a:ln w="9525">
            <a:noFill/>
            <a:miter lim="800000"/>
            <a:headEnd/>
            <a:tailEnd/>
          </a:ln>
        </p:spPr>
      </p:pic>
      <p:sp>
        <p:nvSpPr>
          <p:cNvPr id="47114" name="Text Box 10"/>
          <p:cNvSpPr txBox="1">
            <a:spLocks noChangeArrowheads="1"/>
          </p:cNvSpPr>
          <p:nvPr/>
        </p:nvSpPr>
        <p:spPr bwMode="auto">
          <a:xfrm>
            <a:off x="5141913" y="3352800"/>
            <a:ext cx="938212" cy="733425"/>
          </a:xfrm>
          <a:prstGeom prst="rect">
            <a:avLst/>
          </a:prstGeom>
          <a:noFill/>
          <a:ln w="9525">
            <a:noFill/>
            <a:miter lim="800000"/>
            <a:headEnd/>
            <a:tailEnd/>
          </a:ln>
        </p:spPr>
        <p:txBody>
          <a:bodyPr wrap="none">
            <a:spAutoFit/>
          </a:bodyPr>
          <a:lstStyle/>
          <a:p>
            <a:pPr algn="ctr"/>
            <a:r>
              <a:rPr lang="en-US" sz="3200" i="0" baseline="-25000"/>
              <a:t>net</a:t>
            </a:r>
          </a:p>
          <a:p>
            <a:pPr algn="ctr"/>
            <a:r>
              <a:rPr lang="en-US" sz="3200" i="0" baseline="-25000"/>
              <a:t>torque</a:t>
            </a:r>
          </a:p>
        </p:txBody>
      </p:sp>
      <p:sp>
        <p:nvSpPr>
          <p:cNvPr id="47115" name="Line 11"/>
          <p:cNvSpPr>
            <a:spLocks noChangeShapeType="1"/>
          </p:cNvSpPr>
          <p:nvPr/>
        </p:nvSpPr>
        <p:spPr bwMode="auto">
          <a:xfrm flipH="1" flipV="1">
            <a:off x="5257800" y="2133600"/>
            <a:ext cx="304800" cy="1371600"/>
          </a:xfrm>
          <a:prstGeom prst="line">
            <a:avLst/>
          </a:prstGeom>
          <a:noFill/>
          <a:ln w="38100">
            <a:solidFill>
              <a:srgbClr val="CC3300"/>
            </a:solidFill>
            <a:round/>
            <a:headEnd/>
            <a:tailEnd type="triangle" w="med" len="med"/>
          </a:ln>
        </p:spPr>
        <p:txBody>
          <a:bodyPr/>
          <a:lstStyle/>
          <a:p>
            <a:endParaRPr lang="en-US"/>
          </a:p>
        </p:txBody>
      </p:sp>
      <p:pic>
        <p:nvPicPr>
          <p:cNvPr id="47116" name="Picture 12"/>
          <p:cNvPicPr>
            <a:picLocks noChangeAspect="1" noChangeArrowheads="1"/>
          </p:cNvPicPr>
          <p:nvPr/>
        </p:nvPicPr>
        <p:blipFill>
          <a:blip r:embed="rId5"/>
          <a:srcRect/>
          <a:stretch>
            <a:fillRect/>
          </a:stretch>
        </p:blipFill>
        <p:spPr bwMode="auto">
          <a:xfrm>
            <a:off x="685800" y="4781550"/>
            <a:ext cx="4752975" cy="2076450"/>
          </a:xfrm>
          <a:prstGeom prst="rect">
            <a:avLst/>
          </a:prstGeom>
          <a:noFill/>
          <a:ln w="9525">
            <a:noFill/>
            <a:miter lim="800000"/>
            <a:headEnd/>
            <a:tailEnd/>
          </a:ln>
        </p:spPr>
      </p:pic>
      <p:sp>
        <p:nvSpPr>
          <p:cNvPr id="47117" name="Text Box 13"/>
          <p:cNvSpPr txBox="1">
            <a:spLocks noChangeArrowheads="1"/>
          </p:cNvSpPr>
          <p:nvPr/>
        </p:nvSpPr>
        <p:spPr bwMode="auto">
          <a:xfrm>
            <a:off x="5759450" y="4733925"/>
            <a:ext cx="2971800" cy="1695450"/>
          </a:xfrm>
          <a:prstGeom prst="rect">
            <a:avLst/>
          </a:prstGeom>
          <a:solidFill>
            <a:schemeClr val="bg1"/>
          </a:solidFill>
          <a:ln w="9525">
            <a:noFill/>
            <a:miter lim="800000"/>
            <a:headEnd/>
            <a:tailEnd/>
          </a:ln>
        </p:spPr>
        <p:txBody>
          <a:bodyPr>
            <a:spAutoFit/>
          </a:bodyPr>
          <a:lstStyle/>
          <a:p>
            <a:r>
              <a:rPr lang="en-US" sz="3200" i="0" baseline="-25000"/>
              <a:t>Note that the angular velocity appears on both sides, so this equation is not trivial to solve.</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smtClean="0"/>
              <a:t>State Machines and Modal Models</a:t>
            </a:r>
          </a:p>
        </p:txBody>
      </p:sp>
      <p:pic>
        <p:nvPicPr>
          <p:cNvPr id="48131" name="Content Placeholder 3" descr="ModalModel.pdf"/>
          <p:cNvPicPr>
            <a:picLocks noGrp="1" noChangeAspect="1"/>
          </p:cNvPicPr>
          <p:nvPr>
            <p:ph idx="1"/>
          </p:nvPr>
        </p:nvPicPr>
        <p:blipFill>
          <a:blip r:embed="rId2"/>
          <a:srcRect l="-11377" r="-11377"/>
          <a:stretch>
            <a:fillRect/>
          </a:stretch>
        </p:blipFill>
        <p:spPr/>
      </p:pic>
      <p:sp>
        <p:nvSpPr>
          <p:cNvPr id="48132" name="TextBox 4"/>
          <p:cNvSpPr txBox="1">
            <a:spLocks noChangeArrowheads="1"/>
          </p:cNvSpPr>
          <p:nvPr/>
        </p:nvSpPr>
        <p:spPr bwMode="auto">
          <a:xfrm>
            <a:off x="304800" y="1981200"/>
            <a:ext cx="2819400" cy="1938338"/>
          </a:xfrm>
          <a:prstGeom prst="rect">
            <a:avLst/>
          </a:prstGeom>
          <a:noFill/>
          <a:ln w="9525">
            <a:noFill/>
            <a:miter lim="800000"/>
            <a:headEnd/>
            <a:tailEnd/>
          </a:ln>
        </p:spPr>
        <p:txBody>
          <a:bodyPr>
            <a:spAutoFit/>
          </a:bodyPr>
          <a:lstStyle/>
          <a:p>
            <a:r>
              <a:rPr lang="en-US" sz="2000"/>
              <a:t>Modal models combine such actor models with state machines, where each state of the machine represents a mode of operation.</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smtClean="0"/>
              <a:t>Hybrid Systems are Modal Models</a:t>
            </a:r>
            <a:br>
              <a:rPr lang="en-US" smtClean="0"/>
            </a:br>
            <a:r>
              <a:rPr lang="en-US" sz="2600" smtClean="0"/>
              <a:t>Example: Spring-mass system with collisions</a:t>
            </a:r>
          </a:p>
        </p:txBody>
      </p:sp>
      <p:sp>
        <p:nvSpPr>
          <p:cNvPr id="49155" name="Rectangle 3"/>
          <p:cNvSpPr>
            <a:spLocks noGrp="1" noChangeArrowheads="1"/>
          </p:cNvSpPr>
          <p:nvPr>
            <p:ph type="body" sz="half" idx="1"/>
          </p:nvPr>
        </p:nvSpPr>
        <p:spPr>
          <a:xfrm>
            <a:off x="1524000" y="1905000"/>
            <a:ext cx="6672263" cy="4572000"/>
          </a:xfrm>
        </p:spPr>
        <p:txBody>
          <a:bodyPr/>
          <a:lstStyle/>
          <a:p>
            <a:pPr marL="0" indent="0">
              <a:buFont typeface="Wingdings" pitchFamily="-107" charset="2"/>
              <a:buNone/>
            </a:pPr>
            <a:r>
              <a:rPr lang="en-US" sz="2200" smtClean="0"/>
              <a:t>A model of a spring-mass system with collisions:</a:t>
            </a:r>
          </a:p>
          <a:p>
            <a:pPr marL="0" indent="0"/>
            <a:endParaRPr lang="en-US" sz="2200" smtClean="0"/>
          </a:p>
          <a:p>
            <a:pPr marL="0" indent="0"/>
            <a:endParaRPr lang="en-US" sz="2200" smtClean="0"/>
          </a:p>
          <a:p>
            <a:pPr marL="0" indent="0"/>
            <a:endParaRPr lang="en-US" sz="2200" smtClean="0"/>
          </a:p>
          <a:p>
            <a:pPr marL="0" indent="0"/>
            <a:endParaRPr lang="en-US" sz="2200" smtClean="0"/>
          </a:p>
          <a:p>
            <a:pPr marL="0" indent="0"/>
            <a:endParaRPr lang="en-US" sz="2200" smtClean="0"/>
          </a:p>
          <a:p>
            <a:pPr marL="0" indent="0"/>
            <a:endParaRPr lang="en-US" sz="2200" smtClean="0"/>
          </a:p>
          <a:p>
            <a:pPr marL="0" indent="0"/>
            <a:endParaRPr lang="en-US" sz="2200" smtClean="0"/>
          </a:p>
          <a:p>
            <a:pPr marL="0" indent="0">
              <a:buFont typeface="Wingdings" pitchFamily="-107" charset="2"/>
              <a:buNone/>
            </a:pPr>
            <a:r>
              <a:rPr lang="en-US" sz="2200" smtClean="0"/>
              <a:t>Consider the velocity of each mass. Is it continuous? What about the acceleration?</a:t>
            </a:r>
          </a:p>
        </p:txBody>
      </p:sp>
      <p:pic>
        <p:nvPicPr>
          <p:cNvPr id="49156" name="stickyMasses.avi" descr="/Users/eal/Talks/08/stickyMasses.avi">
            <a:hlinkClick r:id="" action="ppaction://media"/>
          </p:cNvPr>
          <p:cNvPicPr>
            <a:picLocks noChangeAspect="1" noChangeArrowheads="1"/>
          </p:cNvPicPr>
          <p:nvPr>
            <p:ph sz="half" idx="2"/>
            <a:quickTimeFile r:link="rId1"/>
          </p:nvPr>
        </p:nvPicPr>
        <p:blipFill>
          <a:blip r:embed="rId3"/>
          <a:srcRect/>
          <a:stretch>
            <a:fillRect/>
          </a:stretch>
        </p:blipFill>
        <p:spPr>
          <a:xfrm>
            <a:off x="3355975" y="2486025"/>
            <a:ext cx="3629025" cy="2098675"/>
          </a:xfrm>
          <a:ln>
            <a:solidFill>
              <a:srgbClr val="CC3300"/>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1200" fill="hold"/>
                                        <p:tgtEl>
                                          <p:spTgt spid="4915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49156"/>
                </p:tgtEl>
              </p:cMediaNode>
            </p:video>
            <p:seq concurrent="1" nextAc="seek">
              <p:cTn id="8" restart="whenNotActive" fill="hold" evtFilter="cancelBubble" nodeType="interactiveSeq">
                <p:stCondLst>
                  <p:cond evt="onClick" delay="0">
                    <p:tgtEl>
                      <p:spTgt spid="4915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9156"/>
                                        </p:tgtEl>
                                      </p:cBhvr>
                                    </p:cmd>
                                  </p:childTnLst>
                                </p:cTn>
                              </p:par>
                            </p:childTnLst>
                          </p:cTn>
                        </p:par>
                      </p:childTnLst>
                    </p:cTn>
                  </p:par>
                </p:childTnLst>
              </p:cTn>
              <p:nextCondLst>
                <p:cond evt="onClick" delay="0">
                  <p:tgtEl>
                    <p:spTgt spid="49156"/>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3" name="Rectangle 2"/>
          <p:cNvSpPr>
            <a:spLocks noGrp="1" noChangeArrowheads="1"/>
          </p:cNvSpPr>
          <p:nvPr>
            <p:ph type="title"/>
          </p:nvPr>
        </p:nvSpPr>
        <p:spPr>
          <a:xfrm>
            <a:off x="1524000" y="190500"/>
            <a:ext cx="7391400" cy="952500"/>
          </a:xfrm>
        </p:spPr>
        <p:txBody>
          <a:bodyPr/>
          <a:lstStyle/>
          <a:p>
            <a:r>
              <a:rPr lang="en-US" sz="2600" smtClean="0"/>
              <a:t>A bit about Simulation Technologies, both </a:t>
            </a:r>
            <a:br>
              <a:rPr lang="en-US" sz="2600" smtClean="0"/>
            </a:br>
            <a:r>
              <a:rPr lang="en-US" sz="2600" smtClean="0"/>
              <a:t>Discrete and Continuous</a:t>
            </a:r>
          </a:p>
        </p:txBody>
      </p:sp>
      <p:pic>
        <p:nvPicPr>
          <p:cNvPr id="50184" name="Picture 3"/>
          <p:cNvPicPr>
            <a:picLocks noChangeAspect="1" noChangeArrowheads="1"/>
          </p:cNvPicPr>
          <p:nvPr/>
        </p:nvPicPr>
        <p:blipFill>
          <a:blip r:embed="rId3"/>
          <a:srcRect/>
          <a:stretch>
            <a:fillRect/>
          </a:stretch>
        </p:blipFill>
        <p:spPr bwMode="auto">
          <a:xfrm>
            <a:off x="228600" y="1219200"/>
            <a:ext cx="5581650" cy="4000500"/>
          </a:xfrm>
          <a:prstGeom prst="rect">
            <a:avLst/>
          </a:prstGeom>
          <a:noFill/>
          <a:ln w="9525">
            <a:solidFill>
              <a:schemeClr val="tx1"/>
            </a:solidFill>
            <a:miter lim="800000"/>
            <a:headEnd/>
            <a:tailEnd/>
          </a:ln>
        </p:spPr>
      </p:pic>
      <p:pic>
        <p:nvPicPr>
          <p:cNvPr id="50185" name="Picture 4"/>
          <p:cNvPicPr>
            <a:picLocks noChangeAspect="1" noChangeArrowheads="1"/>
          </p:cNvPicPr>
          <p:nvPr/>
        </p:nvPicPr>
        <p:blipFill>
          <a:blip r:embed="rId4"/>
          <a:srcRect/>
          <a:stretch>
            <a:fillRect/>
          </a:stretch>
        </p:blipFill>
        <p:spPr bwMode="auto">
          <a:xfrm>
            <a:off x="3505200" y="2819400"/>
            <a:ext cx="4019550" cy="3908425"/>
          </a:xfrm>
          <a:prstGeom prst="rect">
            <a:avLst/>
          </a:prstGeom>
          <a:noFill/>
          <a:ln w="9525">
            <a:noFill/>
            <a:miter lim="800000"/>
            <a:headEnd/>
            <a:tailEnd/>
          </a:ln>
        </p:spPr>
      </p:pic>
      <p:sp>
        <p:nvSpPr>
          <p:cNvPr id="50186" name="Rectangle 5"/>
          <p:cNvSpPr>
            <a:spLocks noChangeArrowheads="1"/>
          </p:cNvSpPr>
          <p:nvPr/>
        </p:nvSpPr>
        <p:spPr bwMode="auto">
          <a:xfrm>
            <a:off x="762000" y="2895600"/>
            <a:ext cx="1371600" cy="1828800"/>
          </a:xfrm>
          <a:prstGeom prst="rect">
            <a:avLst/>
          </a:prstGeom>
          <a:solidFill>
            <a:schemeClr val="bg1">
              <a:alpha val="74901"/>
            </a:schemeClr>
          </a:solidFill>
          <a:ln w="9525">
            <a:solidFill>
              <a:schemeClr val="tx1"/>
            </a:solidFill>
            <a:miter lim="800000"/>
            <a:headEnd/>
            <a:tailEnd/>
          </a:ln>
        </p:spPr>
        <p:txBody>
          <a:bodyPr wrap="none" anchor="ctr"/>
          <a:lstStyle/>
          <a:p>
            <a:endParaRPr lang="en-US"/>
          </a:p>
        </p:txBody>
      </p:sp>
      <p:sp>
        <p:nvSpPr>
          <p:cNvPr id="50187" name="Rectangle 6"/>
          <p:cNvSpPr>
            <a:spLocks noChangeArrowheads="1"/>
          </p:cNvSpPr>
          <p:nvPr/>
        </p:nvSpPr>
        <p:spPr bwMode="auto">
          <a:xfrm>
            <a:off x="2209800" y="2895600"/>
            <a:ext cx="609600" cy="1828800"/>
          </a:xfrm>
          <a:prstGeom prst="rect">
            <a:avLst/>
          </a:prstGeom>
          <a:solidFill>
            <a:schemeClr val="bg1">
              <a:alpha val="74901"/>
            </a:schemeClr>
          </a:solidFill>
          <a:ln w="9525">
            <a:solidFill>
              <a:schemeClr val="tx1"/>
            </a:solidFill>
            <a:miter lim="800000"/>
            <a:headEnd/>
            <a:tailEnd/>
          </a:ln>
        </p:spPr>
        <p:txBody>
          <a:bodyPr wrap="none" anchor="ctr"/>
          <a:lstStyle/>
          <a:p>
            <a:endParaRPr lang="en-US"/>
          </a:p>
        </p:txBody>
      </p:sp>
      <p:graphicFrame>
        <p:nvGraphicFramePr>
          <p:cNvPr id="50178" name="Object 2"/>
          <p:cNvGraphicFramePr>
            <a:graphicFrameLocks noChangeAspect="1"/>
          </p:cNvGraphicFramePr>
          <p:nvPr/>
        </p:nvGraphicFramePr>
        <p:xfrm>
          <a:off x="228600" y="5284788"/>
          <a:ext cx="2438400" cy="506412"/>
        </p:xfrm>
        <a:graphic>
          <a:graphicData uri="http://schemas.openxmlformats.org/presentationml/2006/ole">
            <p:oleObj spid="_x0000_s50178" name="Equation" r:id="rId5" imgW="977760" imgH="203040" progId="Equation.3">
              <p:embed/>
            </p:oleObj>
          </a:graphicData>
        </a:graphic>
      </p:graphicFrame>
      <p:graphicFrame>
        <p:nvGraphicFramePr>
          <p:cNvPr id="50179" name="Object 3"/>
          <p:cNvGraphicFramePr>
            <a:graphicFrameLocks noChangeAspect="1"/>
          </p:cNvGraphicFramePr>
          <p:nvPr/>
        </p:nvGraphicFramePr>
        <p:xfrm>
          <a:off x="838200" y="3298825"/>
          <a:ext cx="1277938" cy="434975"/>
        </p:xfrm>
        <a:graphic>
          <a:graphicData uri="http://schemas.openxmlformats.org/presentationml/2006/ole">
            <p:oleObj spid="_x0000_s50179" name="Equation" r:id="rId6" imgW="596880" imgH="203040" progId="Equation.3">
              <p:embed/>
            </p:oleObj>
          </a:graphicData>
        </a:graphic>
      </p:graphicFrame>
      <p:graphicFrame>
        <p:nvGraphicFramePr>
          <p:cNvPr id="50180" name="Object 4"/>
          <p:cNvGraphicFramePr>
            <a:graphicFrameLocks noChangeAspect="1"/>
          </p:cNvGraphicFramePr>
          <p:nvPr/>
        </p:nvGraphicFramePr>
        <p:xfrm>
          <a:off x="1812925" y="2344738"/>
          <a:ext cx="239713" cy="263525"/>
        </p:xfrm>
        <a:graphic>
          <a:graphicData uri="http://schemas.openxmlformats.org/presentationml/2006/ole">
            <p:oleObj spid="_x0000_s50180" name="Equation" r:id="rId7" imgW="126720" imgH="139680" progId="Equation.3">
              <p:embed/>
            </p:oleObj>
          </a:graphicData>
        </a:graphic>
      </p:graphicFrame>
      <p:graphicFrame>
        <p:nvGraphicFramePr>
          <p:cNvPr id="50181" name="Object 5"/>
          <p:cNvGraphicFramePr>
            <a:graphicFrameLocks noChangeAspect="1"/>
          </p:cNvGraphicFramePr>
          <p:nvPr/>
        </p:nvGraphicFramePr>
        <p:xfrm>
          <a:off x="2286000" y="3276600"/>
          <a:ext cx="619125" cy="852488"/>
        </p:xfrm>
        <a:graphic>
          <a:graphicData uri="http://schemas.openxmlformats.org/presentationml/2006/ole">
            <p:oleObj spid="_x0000_s50181" name="Equation" r:id="rId8" imgW="203040" imgH="279360" progId="Equation.3">
              <p:embed/>
            </p:oleObj>
          </a:graphicData>
        </a:graphic>
      </p:graphicFrame>
      <p:sp>
        <p:nvSpPr>
          <p:cNvPr id="50188" name="Oval 11"/>
          <p:cNvSpPr>
            <a:spLocks noChangeArrowheads="1"/>
          </p:cNvSpPr>
          <p:nvPr/>
        </p:nvSpPr>
        <p:spPr bwMode="auto">
          <a:xfrm>
            <a:off x="1600200" y="2514600"/>
            <a:ext cx="152400" cy="304800"/>
          </a:xfrm>
          <a:prstGeom prst="ellipse">
            <a:avLst/>
          </a:prstGeom>
          <a:noFill/>
          <a:ln w="9525">
            <a:solidFill>
              <a:schemeClr val="tx1"/>
            </a:solidFill>
            <a:round/>
            <a:headEnd/>
            <a:tailEnd/>
          </a:ln>
        </p:spPr>
        <p:txBody>
          <a:bodyPr wrap="none" anchor="ctr"/>
          <a:lstStyle/>
          <a:p>
            <a:endParaRPr lang="en-US"/>
          </a:p>
        </p:txBody>
      </p:sp>
      <p:sp>
        <p:nvSpPr>
          <p:cNvPr id="50189" name="Oval 12"/>
          <p:cNvSpPr>
            <a:spLocks noChangeArrowheads="1"/>
          </p:cNvSpPr>
          <p:nvPr/>
        </p:nvSpPr>
        <p:spPr bwMode="auto">
          <a:xfrm>
            <a:off x="1447800" y="4724400"/>
            <a:ext cx="152400" cy="304800"/>
          </a:xfrm>
          <a:prstGeom prst="ellipse">
            <a:avLst/>
          </a:prstGeom>
          <a:noFill/>
          <a:ln w="9525">
            <a:solidFill>
              <a:schemeClr val="tx1"/>
            </a:solidFill>
            <a:round/>
            <a:headEnd/>
            <a:tailEnd/>
          </a:ln>
        </p:spPr>
        <p:txBody>
          <a:bodyPr wrap="none" anchor="ctr"/>
          <a:lstStyle/>
          <a:p>
            <a:endParaRPr lang="en-US"/>
          </a:p>
        </p:txBody>
      </p:sp>
      <p:graphicFrame>
        <p:nvGraphicFramePr>
          <p:cNvPr id="50182" name="Object 6"/>
          <p:cNvGraphicFramePr>
            <a:graphicFrameLocks noChangeAspect="1"/>
          </p:cNvGraphicFramePr>
          <p:nvPr/>
        </p:nvGraphicFramePr>
        <p:xfrm>
          <a:off x="90488" y="5715000"/>
          <a:ext cx="3338512" cy="1203325"/>
        </p:xfrm>
        <a:graphic>
          <a:graphicData uri="http://schemas.openxmlformats.org/presentationml/2006/ole">
            <p:oleObj spid="_x0000_s50182" name="Equation" r:id="rId9" imgW="1371600" imgH="495000" progId="Equation.3">
              <p:embed/>
            </p:oleObj>
          </a:graphicData>
        </a:graphic>
      </p:graphicFrame>
      <p:sp>
        <p:nvSpPr>
          <p:cNvPr id="50190" name="Rectangle 14"/>
          <p:cNvSpPr>
            <a:spLocks noGrp="1" noChangeArrowheads="1"/>
          </p:cNvSpPr>
          <p:nvPr>
            <p:ph type="body" idx="1"/>
          </p:nvPr>
        </p:nvSpPr>
        <p:spPr>
          <a:xfrm>
            <a:off x="5867400" y="1143000"/>
            <a:ext cx="3048000" cy="1524000"/>
          </a:xfrm>
          <a:noFill/>
        </p:spPr>
        <p:txBody>
          <a:bodyPr/>
          <a:lstStyle/>
          <a:p>
            <a:pPr marL="0" indent="0">
              <a:buFont typeface="Wingdings" pitchFamily="-107" charset="2"/>
              <a:buNone/>
            </a:pPr>
            <a:r>
              <a:rPr lang="en-US" sz="2200" smtClean="0"/>
              <a:t>A basic continuous-time model describes an ordinary differential equation (ODE).</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p:cNvPicPr>
            <a:picLocks noChangeAspect="1" noChangeArrowheads="1"/>
          </p:cNvPicPr>
          <p:nvPr/>
        </p:nvPicPr>
        <p:blipFill>
          <a:blip r:embed="rId2"/>
          <a:srcRect/>
          <a:stretch>
            <a:fillRect/>
          </a:stretch>
        </p:blipFill>
        <p:spPr bwMode="auto">
          <a:xfrm>
            <a:off x="0" y="3449638"/>
            <a:ext cx="4759325" cy="3408362"/>
          </a:xfrm>
          <a:prstGeom prst="rect">
            <a:avLst/>
          </a:prstGeom>
          <a:noFill/>
          <a:ln w="9525">
            <a:noFill/>
            <a:miter lim="800000"/>
            <a:headEnd/>
            <a:tailEnd/>
          </a:ln>
        </p:spPr>
      </p:pic>
      <p:sp>
        <p:nvSpPr>
          <p:cNvPr id="51203" name="Rectangle 3"/>
          <p:cNvSpPr>
            <a:spLocks noGrp="1" noChangeArrowheads="1"/>
          </p:cNvSpPr>
          <p:nvPr>
            <p:ph type="title"/>
          </p:nvPr>
        </p:nvSpPr>
        <p:spPr/>
        <p:txBody>
          <a:bodyPr/>
          <a:lstStyle/>
          <a:p>
            <a:r>
              <a:rPr lang="en-US" smtClean="0"/>
              <a:t>Lab Exercise – Version 1</a:t>
            </a:r>
          </a:p>
        </p:txBody>
      </p:sp>
      <p:sp>
        <p:nvSpPr>
          <p:cNvPr id="51204" name="Rectangle 4"/>
          <p:cNvSpPr>
            <a:spLocks noGrp="1" noChangeArrowheads="1"/>
          </p:cNvSpPr>
          <p:nvPr>
            <p:ph type="body" idx="1"/>
          </p:nvPr>
        </p:nvSpPr>
        <p:spPr>
          <a:xfrm>
            <a:off x="228600" y="1600200"/>
            <a:ext cx="8686800" cy="4876800"/>
          </a:xfrm>
        </p:spPr>
        <p:txBody>
          <a:bodyPr/>
          <a:lstStyle/>
          <a:p>
            <a:pPr marL="0" indent="0">
              <a:buFont typeface="Wingdings" pitchFamily="-107" charset="2"/>
              <a:buNone/>
            </a:pPr>
            <a:r>
              <a:rPr lang="en-US" sz="2200" smtClean="0"/>
              <a:t>Train a robot to climb a hill. We use the iRobot Create (the platform for the Roomba vacuum cleaner) with a pluggable Command Module containing an 8-bit Atmel microcontroller. Students have to extend it with sensors, construct models of its behavior, design a control system, and implement the control system in C.</a:t>
            </a:r>
          </a:p>
        </p:txBody>
      </p:sp>
      <p:pic>
        <p:nvPicPr>
          <p:cNvPr id="51205" name="Picture 5" descr="DSCF3149"/>
          <p:cNvPicPr>
            <a:picLocks noChangeAspect="1" noChangeArrowheads="1"/>
          </p:cNvPicPr>
          <p:nvPr/>
        </p:nvPicPr>
        <p:blipFill>
          <a:blip r:embed="rId3"/>
          <a:srcRect/>
          <a:stretch>
            <a:fillRect/>
          </a:stretch>
        </p:blipFill>
        <p:spPr bwMode="auto">
          <a:xfrm>
            <a:off x="4800600" y="3600450"/>
            <a:ext cx="4343400" cy="3257550"/>
          </a:xfrm>
          <a:prstGeom prst="rect">
            <a:avLst/>
          </a:prstGeom>
          <a:noFill/>
          <a:ln w="9525">
            <a:noFill/>
            <a:miter lim="800000"/>
            <a:headEnd/>
            <a:tailEnd/>
          </a:ln>
        </p:spPr>
      </p:pic>
      <p:sp>
        <p:nvSpPr>
          <p:cNvPr id="51206" name="Line 6"/>
          <p:cNvSpPr>
            <a:spLocks noChangeShapeType="1"/>
          </p:cNvSpPr>
          <p:nvPr/>
        </p:nvSpPr>
        <p:spPr bwMode="auto">
          <a:xfrm>
            <a:off x="1143000" y="3581400"/>
            <a:ext cx="3657600" cy="0"/>
          </a:xfrm>
          <a:prstGeom prst="line">
            <a:avLst/>
          </a:prstGeom>
          <a:noFill/>
          <a:ln w="9525">
            <a:solidFill>
              <a:schemeClr val="tx1"/>
            </a:solidFill>
            <a:round/>
            <a:headEnd/>
            <a:tailEnd/>
          </a:ln>
        </p:spPr>
        <p:txBody>
          <a:bodyPr/>
          <a:lstStyle/>
          <a:p>
            <a:endParaRPr lang="en-US"/>
          </a:p>
        </p:txBody>
      </p:sp>
      <p:sp>
        <p:nvSpPr>
          <p:cNvPr id="51207" name="Line 7"/>
          <p:cNvSpPr>
            <a:spLocks noChangeShapeType="1"/>
          </p:cNvSpPr>
          <p:nvPr/>
        </p:nvSpPr>
        <p:spPr bwMode="auto">
          <a:xfrm>
            <a:off x="914400" y="4191000"/>
            <a:ext cx="3886200" cy="2667000"/>
          </a:xfrm>
          <a:prstGeom prst="line">
            <a:avLst/>
          </a:prstGeom>
          <a:noFill/>
          <a:ln w="9525">
            <a:solidFill>
              <a:schemeClr val="tx1"/>
            </a:solidFill>
            <a:round/>
            <a:headEnd/>
            <a:tailEnd/>
          </a:ln>
        </p:spPr>
        <p:txBody>
          <a:bodyPr/>
          <a:lstStyle/>
          <a:p>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0" y="190500"/>
            <a:ext cx="8915400" cy="1527175"/>
          </a:xfrm>
          <a:solidFill>
            <a:schemeClr val="bg1"/>
          </a:solidFill>
        </p:spPr>
        <p:txBody>
          <a:bodyPr/>
          <a:lstStyle/>
          <a:p>
            <a:r>
              <a:rPr lang="en-US" smtClean="0"/>
              <a:t>Model-Based </a:t>
            </a:r>
            <a:br>
              <a:rPr lang="en-US" smtClean="0"/>
            </a:br>
            <a:r>
              <a:rPr lang="en-US" smtClean="0"/>
              <a:t>Design </a:t>
            </a:r>
            <a:br>
              <a:rPr lang="en-US" smtClean="0"/>
            </a:br>
            <a:r>
              <a:rPr lang="en-US" smtClean="0"/>
              <a:t>Solution</a:t>
            </a:r>
          </a:p>
        </p:txBody>
      </p:sp>
      <p:sp>
        <p:nvSpPr>
          <p:cNvPr id="52227" name="Rectangle 3"/>
          <p:cNvSpPr>
            <a:spLocks noGrp="1" noChangeArrowheads="1"/>
          </p:cNvSpPr>
          <p:nvPr>
            <p:ph type="body" idx="1"/>
          </p:nvPr>
        </p:nvSpPr>
        <p:spPr/>
        <p:txBody>
          <a:bodyPr/>
          <a:lstStyle/>
          <a:p>
            <a:endParaRPr lang="en-US" smtClean="0"/>
          </a:p>
        </p:txBody>
      </p:sp>
      <p:pic>
        <p:nvPicPr>
          <p:cNvPr id="52228" name="Picture 4"/>
          <p:cNvPicPr>
            <a:picLocks noChangeAspect="1" noChangeArrowheads="1"/>
          </p:cNvPicPr>
          <p:nvPr/>
        </p:nvPicPr>
        <p:blipFill>
          <a:blip r:embed="rId2"/>
          <a:srcRect/>
          <a:stretch>
            <a:fillRect/>
          </a:stretch>
        </p:blipFill>
        <p:spPr bwMode="auto">
          <a:xfrm>
            <a:off x="0" y="1676400"/>
            <a:ext cx="4886325" cy="3257550"/>
          </a:xfrm>
          <a:prstGeom prst="rect">
            <a:avLst/>
          </a:prstGeom>
          <a:noFill/>
          <a:ln w="9525">
            <a:solidFill>
              <a:srgbClr val="0000FF"/>
            </a:solidFill>
            <a:miter lim="800000"/>
            <a:headEnd/>
            <a:tailEnd/>
          </a:ln>
        </p:spPr>
      </p:pic>
      <p:sp>
        <p:nvSpPr>
          <p:cNvPr id="52229" name="Line 10"/>
          <p:cNvSpPr>
            <a:spLocks noChangeShapeType="1"/>
          </p:cNvSpPr>
          <p:nvPr/>
        </p:nvSpPr>
        <p:spPr bwMode="auto">
          <a:xfrm>
            <a:off x="685800" y="2819400"/>
            <a:ext cx="0" cy="0"/>
          </a:xfrm>
          <a:prstGeom prst="line">
            <a:avLst/>
          </a:prstGeom>
          <a:noFill/>
          <a:ln w="9525">
            <a:solidFill>
              <a:schemeClr val="tx1"/>
            </a:solidFill>
            <a:round/>
            <a:headEnd/>
            <a:tailEnd/>
          </a:ln>
        </p:spPr>
        <p:txBody>
          <a:bodyPr/>
          <a:lstStyle/>
          <a:p>
            <a:endParaRPr lang="en-US"/>
          </a:p>
        </p:txBody>
      </p:sp>
      <p:grpSp>
        <p:nvGrpSpPr>
          <p:cNvPr id="2" name="Group 13"/>
          <p:cNvGrpSpPr>
            <a:grpSpLocks/>
          </p:cNvGrpSpPr>
          <p:nvPr/>
        </p:nvGrpSpPr>
        <p:grpSpPr bwMode="auto">
          <a:xfrm>
            <a:off x="152400" y="2819400"/>
            <a:ext cx="5334000" cy="3952875"/>
            <a:chOff x="96" y="1776"/>
            <a:chExt cx="3360" cy="2490"/>
          </a:xfrm>
        </p:grpSpPr>
        <p:pic>
          <p:nvPicPr>
            <p:cNvPr id="52239" name="Picture 5"/>
            <p:cNvPicPr>
              <a:picLocks noChangeAspect="1" noChangeArrowheads="1"/>
            </p:cNvPicPr>
            <p:nvPr/>
          </p:nvPicPr>
          <p:blipFill>
            <a:blip r:embed="rId3"/>
            <a:srcRect/>
            <a:stretch>
              <a:fillRect/>
            </a:stretch>
          </p:blipFill>
          <p:spPr bwMode="auto">
            <a:xfrm>
              <a:off x="576" y="1920"/>
              <a:ext cx="2868" cy="2346"/>
            </a:xfrm>
            <a:prstGeom prst="rect">
              <a:avLst/>
            </a:prstGeom>
            <a:noFill/>
            <a:ln w="9525">
              <a:solidFill>
                <a:srgbClr val="0000FF"/>
              </a:solidFill>
              <a:miter lim="800000"/>
              <a:headEnd/>
              <a:tailEnd/>
            </a:ln>
          </p:spPr>
        </p:pic>
        <p:sp>
          <p:nvSpPr>
            <p:cNvPr id="52240" name="Line 11"/>
            <p:cNvSpPr>
              <a:spLocks noChangeShapeType="1"/>
            </p:cNvSpPr>
            <p:nvPr/>
          </p:nvSpPr>
          <p:spPr bwMode="auto">
            <a:xfrm>
              <a:off x="432" y="1776"/>
              <a:ext cx="3024" cy="144"/>
            </a:xfrm>
            <a:prstGeom prst="line">
              <a:avLst/>
            </a:prstGeom>
            <a:noFill/>
            <a:ln w="9525">
              <a:solidFill>
                <a:schemeClr val="tx1"/>
              </a:solidFill>
              <a:round/>
              <a:headEnd/>
              <a:tailEnd/>
            </a:ln>
          </p:spPr>
          <p:txBody>
            <a:bodyPr/>
            <a:lstStyle/>
            <a:p>
              <a:endParaRPr lang="en-US"/>
            </a:p>
          </p:txBody>
        </p:sp>
        <p:sp>
          <p:nvSpPr>
            <p:cNvPr id="52241" name="Line 12"/>
            <p:cNvSpPr>
              <a:spLocks noChangeShapeType="1"/>
            </p:cNvSpPr>
            <p:nvPr/>
          </p:nvSpPr>
          <p:spPr bwMode="auto">
            <a:xfrm>
              <a:off x="96" y="2016"/>
              <a:ext cx="480" cy="2208"/>
            </a:xfrm>
            <a:prstGeom prst="line">
              <a:avLst/>
            </a:prstGeom>
            <a:noFill/>
            <a:ln w="9525">
              <a:solidFill>
                <a:schemeClr val="tx1"/>
              </a:solidFill>
              <a:round/>
              <a:headEnd/>
              <a:tailEnd/>
            </a:ln>
          </p:spPr>
          <p:txBody>
            <a:bodyPr/>
            <a:lstStyle/>
            <a:p>
              <a:endParaRPr lang="en-US"/>
            </a:p>
          </p:txBody>
        </p:sp>
      </p:grpSp>
      <p:grpSp>
        <p:nvGrpSpPr>
          <p:cNvPr id="3" name="Group 16"/>
          <p:cNvGrpSpPr>
            <a:grpSpLocks/>
          </p:cNvGrpSpPr>
          <p:nvPr/>
        </p:nvGrpSpPr>
        <p:grpSpPr bwMode="auto">
          <a:xfrm>
            <a:off x="2057400" y="990600"/>
            <a:ext cx="7115175" cy="5867400"/>
            <a:chOff x="1296" y="624"/>
            <a:chExt cx="4482" cy="3696"/>
          </a:xfrm>
        </p:grpSpPr>
        <p:pic>
          <p:nvPicPr>
            <p:cNvPr id="52236" name="Picture 6"/>
            <p:cNvPicPr>
              <a:picLocks noChangeAspect="1" noChangeArrowheads="1"/>
            </p:cNvPicPr>
            <p:nvPr/>
          </p:nvPicPr>
          <p:blipFill>
            <a:blip r:embed="rId4"/>
            <a:srcRect/>
            <a:stretch>
              <a:fillRect/>
            </a:stretch>
          </p:blipFill>
          <p:spPr bwMode="auto">
            <a:xfrm>
              <a:off x="1632" y="624"/>
              <a:ext cx="4146" cy="3696"/>
            </a:xfrm>
            <a:prstGeom prst="rect">
              <a:avLst/>
            </a:prstGeom>
            <a:noFill/>
            <a:ln w="9525">
              <a:solidFill>
                <a:srgbClr val="0000FF"/>
              </a:solidFill>
              <a:miter lim="800000"/>
              <a:headEnd/>
              <a:tailEnd/>
            </a:ln>
          </p:spPr>
        </p:pic>
        <p:sp>
          <p:nvSpPr>
            <p:cNvPr id="52237" name="Line 14"/>
            <p:cNvSpPr>
              <a:spLocks noChangeShapeType="1"/>
            </p:cNvSpPr>
            <p:nvPr/>
          </p:nvSpPr>
          <p:spPr bwMode="auto">
            <a:xfrm flipH="1">
              <a:off x="1296" y="624"/>
              <a:ext cx="336" cy="2592"/>
            </a:xfrm>
            <a:prstGeom prst="line">
              <a:avLst/>
            </a:prstGeom>
            <a:noFill/>
            <a:ln w="9525">
              <a:solidFill>
                <a:schemeClr val="tx1"/>
              </a:solidFill>
              <a:round/>
              <a:headEnd/>
              <a:tailEnd/>
            </a:ln>
          </p:spPr>
          <p:txBody>
            <a:bodyPr/>
            <a:lstStyle/>
            <a:p>
              <a:endParaRPr lang="en-US"/>
            </a:p>
          </p:txBody>
        </p:sp>
        <p:sp>
          <p:nvSpPr>
            <p:cNvPr id="52238" name="Line 15"/>
            <p:cNvSpPr>
              <a:spLocks noChangeShapeType="1"/>
            </p:cNvSpPr>
            <p:nvPr/>
          </p:nvSpPr>
          <p:spPr bwMode="auto">
            <a:xfrm flipH="1" flipV="1">
              <a:off x="1296" y="3264"/>
              <a:ext cx="336" cy="1056"/>
            </a:xfrm>
            <a:prstGeom prst="line">
              <a:avLst/>
            </a:prstGeom>
            <a:noFill/>
            <a:ln w="9525">
              <a:solidFill>
                <a:schemeClr val="tx1"/>
              </a:solidFill>
              <a:round/>
              <a:headEnd/>
              <a:tailEnd/>
            </a:ln>
          </p:spPr>
          <p:txBody>
            <a:bodyPr/>
            <a:lstStyle/>
            <a:p>
              <a:endParaRPr lang="en-US"/>
            </a:p>
          </p:txBody>
        </p:sp>
      </p:grpSp>
      <p:grpSp>
        <p:nvGrpSpPr>
          <p:cNvPr id="4" name="Group 19"/>
          <p:cNvGrpSpPr>
            <a:grpSpLocks/>
          </p:cNvGrpSpPr>
          <p:nvPr/>
        </p:nvGrpSpPr>
        <p:grpSpPr bwMode="auto">
          <a:xfrm>
            <a:off x="4486275" y="0"/>
            <a:ext cx="4657725" cy="6553200"/>
            <a:chOff x="2826" y="0"/>
            <a:chExt cx="2934" cy="4128"/>
          </a:xfrm>
        </p:grpSpPr>
        <p:pic>
          <p:nvPicPr>
            <p:cNvPr id="52233" name="Picture 7"/>
            <p:cNvPicPr>
              <a:picLocks noChangeAspect="1" noChangeArrowheads="1"/>
            </p:cNvPicPr>
            <p:nvPr/>
          </p:nvPicPr>
          <p:blipFill>
            <a:blip r:embed="rId5"/>
            <a:srcRect/>
            <a:stretch>
              <a:fillRect/>
            </a:stretch>
          </p:blipFill>
          <p:spPr bwMode="auto">
            <a:xfrm>
              <a:off x="2826" y="0"/>
              <a:ext cx="2934" cy="2742"/>
            </a:xfrm>
            <a:prstGeom prst="rect">
              <a:avLst/>
            </a:prstGeom>
            <a:noFill/>
            <a:ln w="9525">
              <a:noFill/>
              <a:miter lim="800000"/>
              <a:headEnd/>
              <a:tailEnd/>
            </a:ln>
          </p:spPr>
        </p:pic>
        <p:sp>
          <p:nvSpPr>
            <p:cNvPr id="52234" name="Line 17"/>
            <p:cNvSpPr>
              <a:spLocks noChangeShapeType="1"/>
            </p:cNvSpPr>
            <p:nvPr/>
          </p:nvSpPr>
          <p:spPr bwMode="auto">
            <a:xfrm flipH="1" flipV="1">
              <a:off x="2832" y="2736"/>
              <a:ext cx="336" cy="1392"/>
            </a:xfrm>
            <a:prstGeom prst="line">
              <a:avLst/>
            </a:prstGeom>
            <a:noFill/>
            <a:ln w="9525">
              <a:solidFill>
                <a:schemeClr val="tx1"/>
              </a:solidFill>
              <a:round/>
              <a:headEnd/>
              <a:tailEnd/>
            </a:ln>
          </p:spPr>
          <p:txBody>
            <a:bodyPr/>
            <a:lstStyle/>
            <a:p>
              <a:endParaRPr lang="en-US"/>
            </a:p>
          </p:txBody>
        </p:sp>
        <p:sp>
          <p:nvSpPr>
            <p:cNvPr id="52235" name="Line 18"/>
            <p:cNvSpPr>
              <a:spLocks noChangeShapeType="1"/>
            </p:cNvSpPr>
            <p:nvPr/>
          </p:nvSpPr>
          <p:spPr bwMode="auto">
            <a:xfrm flipV="1">
              <a:off x="3792" y="2736"/>
              <a:ext cx="1968" cy="1392"/>
            </a:xfrm>
            <a:prstGeom prst="line">
              <a:avLst/>
            </a:prstGeom>
            <a:noFill/>
            <a:ln w="9525">
              <a:solidFill>
                <a:schemeClr val="tx1"/>
              </a:solidFill>
              <a:round/>
              <a:headEnd/>
              <a:tailEnd/>
            </a:ln>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1524000" y="190500"/>
            <a:ext cx="7391400" cy="1249363"/>
          </a:xfrm>
        </p:spPr>
        <p:txBody>
          <a:bodyPr/>
          <a:lstStyle/>
          <a:p>
            <a:r>
              <a:rPr lang="en-US" smtClean="0"/>
              <a:t>Real-World Version: Modal Model (Finite-State Machine) for Engine Control</a:t>
            </a:r>
          </a:p>
        </p:txBody>
      </p:sp>
      <p:pic>
        <p:nvPicPr>
          <p:cNvPr id="53251" name="Picture 3" descr="Delphi-FSM-example"/>
          <p:cNvPicPr>
            <a:picLocks noChangeAspect="1" noChangeArrowheads="1"/>
          </p:cNvPicPr>
          <p:nvPr/>
        </p:nvPicPr>
        <p:blipFill>
          <a:blip r:embed="rId2"/>
          <a:srcRect/>
          <a:stretch>
            <a:fillRect/>
          </a:stretch>
        </p:blipFill>
        <p:spPr bwMode="auto">
          <a:xfrm>
            <a:off x="1676400" y="1323975"/>
            <a:ext cx="7467600" cy="5534025"/>
          </a:xfrm>
          <a:prstGeom prst="rect">
            <a:avLst/>
          </a:prstGeom>
          <a:noFill/>
          <a:ln w="9525">
            <a:noFill/>
            <a:miter lim="800000"/>
            <a:headEnd/>
            <a:tailEnd/>
          </a:ln>
        </p:spPr>
      </p:pic>
      <p:sp>
        <p:nvSpPr>
          <p:cNvPr id="53252" name="Text Box 4"/>
          <p:cNvSpPr txBox="1">
            <a:spLocks noChangeArrowheads="1"/>
          </p:cNvSpPr>
          <p:nvPr/>
        </p:nvSpPr>
        <p:spPr bwMode="auto">
          <a:xfrm>
            <a:off x="0" y="6053138"/>
            <a:ext cx="4092575" cy="762000"/>
          </a:xfrm>
          <a:prstGeom prst="rect">
            <a:avLst/>
          </a:prstGeom>
          <a:noFill/>
          <a:ln w="9525">
            <a:noFill/>
            <a:miter lim="800000"/>
            <a:headEnd/>
            <a:tailEnd/>
          </a:ln>
        </p:spPr>
        <p:txBody>
          <a:bodyPr wrap="none">
            <a:spAutoFit/>
          </a:bodyPr>
          <a:lstStyle/>
          <a:p>
            <a:pPr marL="495300" indent="-495300">
              <a:spcBef>
                <a:spcPct val="20000"/>
              </a:spcBef>
              <a:buClr>
                <a:schemeClr val="tx1"/>
              </a:buClr>
              <a:buFont typeface="Wingdings" pitchFamily="-107" charset="2"/>
              <a:buNone/>
            </a:pPr>
            <a:r>
              <a:rPr lang="en-US" sz="2000" i="0">
                <a:solidFill>
                  <a:srgbClr val="003399"/>
                </a:solidFill>
              </a:rPr>
              <a:t>Source: </a:t>
            </a:r>
          </a:p>
          <a:p>
            <a:pPr marL="495300" indent="-495300">
              <a:spcBef>
                <a:spcPct val="20000"/>
              </a:spcBef>
              <a:buClr>
                <a:schemeClr val="tx1"/>
              </a:buClr>
              <a:buFont typeface="Wingdings" pitchFamily="-107" charset="2"/>
              <a:buNone/>
            </a:pPr>
            <a:r>
              <a:rPr lang="en-US" sz="2000" i="0">
                <a:solidFill>
                  <a:srgbClr val="003399"/>
                </a:solidFill>
              </a:rPr>
              <a:t>Delphi Automotive Systems (2001)</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smtClean="0"/>
              <a:t>Sensors: Spring-Mass-Damper Model of an Accelerometer: Use as a Tilt Sensor</a:t>
            </a:r>
          </a:p>
        </p:txBody>
      </p:sp>
      <p:sp>
        <p:nvSpPr>
          <p:cNvPr id="54275" name="Rectangle 3"/>
          <p:cNvSpPr>
            <a:spLocks noGrp="1" noChangeArrowheads="1"/>
          </p:cNvSpPr>
          <p:nvPr>
            <p:ph type="body" sz="half" idx="1"/>
          </p:nvPr>
        </p:nvSpPr>
        <p:spPr>
          <a:xfrm>
            <a:off x="1524000" y="1905000"/>
            <a:ext cx="3630613" cy="4572000"/>
          </a:xfrm>
        </p:spPr>
        <p:txBody>
          <a:bodyPr/>
          <a:lstStyle/>
          <a:p>
            <a:pPr marL="0" indent="0">
              <a:buFont typeface="Wingdings" pitchFamily="-107" charset="2"/>
              <a:buNone/>
            </a:pPr>
            <a:r>
              <a:rPr lang="en-US" sz="2200" smtClean="0"/>
              <a:t>By Newton’s second law, F=ma, gravitational force and acceleration have the same effect (up to a scaling constant)</a:t>
            </a:r>
          </a:p>
        </p:txBody>
      </p:sp>
      <p:pic>
        <p:nvPicPr>
          <p:cNvPr id="54276" name="springMass.avi" descr="/Users/eal/Talks/09/EmbeddedSystemsEducationMovies/springMass.avi">
            <a:hlinkClick r:id="" action="ppaction://media"/>
          </p:cNvPr>
          <p:cNvPicPr>
            <a:picLocks noChangeAspect="1" noChangeArrowheads="1"/>
          </p:cNvPicPr>
          <p:nvPr>
            <p:ph sz="half" idx="2"/>
            <a:quickTimeFile r:link="rId1"/>
          </p:nvPr>
        </p:nvPicPr>
        <p:blipFill>
          <a:blip r:embed="rId3"/>
          <a:srcRect/>
          <a:stretch>
            <a:fillRect/>
          </a:stretch>
        </p:blipFill>
        <p:spPr>
          <a:xfrm>
            <a:off x="5284788" y="2244725"/>
            <a:ext cx="3630612" cy="3890963"/>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334" fill="hold"/>
                                        <p:tgtEl>
                                          <p:spTgt spid="5427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repeatCount="indefinite" fill="hold" display="0">
                  <p:stCondLst>
                    <p:cond delay="indefinite"/>
                  </p:stCondLst>
                  <p:endCondLst>
                    <p:cond evt="onNext" delay="0">
                      <p:tgtEl>
                        <p:sldTgt/>
                      </p:tgtEl>
                    </p:cond>
                    <p:cond evt="onPrev" delay="0">
                      <p:tgtEl>
                        <p:sldTgt/>
                      </p:tgtEl>
                    </p:cond>
                  </p:endCondLst>
                </p:cTn>
                <p:tgtEl>
                  <p:spTgt spid="54276"/>
                </p:tgtEl>
              </p:cMediaNode>
            </p:video>
            <p:seq concurrent="1" nextAc="seek">
              <p:cTn id="8" restart="whenNotActive" fill="hold" evtFilter="cancelBubble" nodeType="interactiveSeq">
                <p:stCondLst>
                  <p:cond evt="onClick" delay="0">
                    <p:tgtEl>
                      <p:spTgt spid="5427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4276"/>
                                        </p:tgtEl>
                                      </p:cBhvr>
                                    </p:cmd>
                                  </p:childTnLst>
                                </p:cTn>
                              </p:par>
                            </p:childTnLst>
                          </p:cTn>
                        </p:par>
                      </p:childTnLst>
                    </p:cTn>
                  </p:par>
                </p:childTnLst>
              </p:cTn>
              <p:nextCondLst>
                <p:cond evt="onClick" delay="0">
                  <p:tgtEl>
                    <p:spTgt spid="54276"/>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2"/>
          <p:cNvSpPr>
            <a:spLocks noGrp="1" noChangeArrowheads="1"/>
          </p:cNvSpPr>
          <p:nvPr>
            <p:ph type="title"/>
          </p:nvPr>
        </p:nvSpPr>
        <p:spPr/>
        <p:txBody>
          <a:bodyPr/>
          <a:lstStyle/>
          <a:p>
            <a:r>
              <a:rPr lang="en-US" smtClean="0"/>
              <a:t>Silicon Accelerometer Design comes from Berkeley</a:t>
            </a:r>
          </a:p>
        </p:txBody>
      </p:sp>
      <p:sp>
        <p:nvSpPr>
          <p:cNvPr id="55301" name="Rectangle 3"/>
          <p:cNvSpPr>
            <a:spLocks noGrp="1" noChangeArrowheads="1"/>
          </p:cNvSpPr>
          <p:nvPr>
            <p:ph type="body" idx="1"/>
          </p:nvPr>
        </p:nvSpPr>
        <p:spPr>
          <a:xfrm>
            <a:off x="76200" y="1524000"/>
            <a:ext cx="3200400" cy="1997075"/>
          </a:xfrm>
        </p:spPr>
        <p:txBody>
          <a:bodyPr/>
          <a:lstStyle/>
          <a:p>
            <a:pPr marL="0" indent="0">
              <a:lnSpc>
                <a:spcPct val="80000"/>
              </a:lnSpc>
              <a:buFont typeface="Wingdings" pitchFamily="-107" charset="2"/>
              <a:buNone/>
            </a:pPr>
            <a:r>
              <a:rPr lang="en-US" sz="1700" smtClean="0"/>
              <a:t>The Berkeley Sensor and Actuator Center (BSAC) created the first silicon microaccelerometers, MEMS devices now used in airbag systems, computer games, disk drives (drop sensors), etc.</a:t>
            </a:r>
          </a:p>
        </p:txBody>
      </p:sp>
      <p:graphicFrame>
        <p:nvGraphicFramePr>
          <p:cNvPr id="55298" name="Object 2"/>
          <p:cNvGraphicFramePr>
            <a:graphicFrameLocks noChangeAspect="1"/>
          </p:cNvGraphicFramePr>
          <p:nvPr/>
        </p:nvGraphicFramePr>
        <p:xfrm>
          <a:off x="152400" y="3248025"/>
          <a:ext cx="4419600" cy="3457575"/>
        </p:xfrm>
        <a:graphic>
          <a:graphicData uri="http://schemas.openxmlformats.org/presentationml/2006/ole">
            <p:oleObj spid="_x0000_s55298" name="Image" r:id="rId3" imgW="5082951" imgH="3977409" progId="Photoshop.Image.5">
              <p:embed/>
            </p:oleObj>
          </a:graphicData>
        </a:graphic>
      </p:graphicFrame>
      <p:graphicFrame>
        <p:nvGraphicFramePr>
          <p:cNvPr id="55299" name="Object 3"/>
          <p:cNvGraphicFramePr>
            <a:graphicFrameLocks noChangeAspect="1"/>
          </p:cNvGraphicFramePr>
          <p:nvPr/>
        </p:nvGraphicFramePr>
        <p:xfrm>
          <a:off x="3187700" y="1393825"/>
          <a:ext cx="5956300" cy="2797175"/>
        </p:xfrm>
        <a:graphic>
          <a:graphicData uri="http://schemas.openxmlformats.org/presentationml/2006/ole">
            <p:oleObj spid="_x0000_s55299" name="VISIO" r:id="rId4" imgW="5955480" imgH="2796120" progId="Visio.Drawing.5">
              <p:embed/>
            </p:oleObj>
          </a:graphicData>
        </a:graphic>
      </p:graphicFrame>
      <p:sp>
        <p:nvSpPr>
          <p:cNvPr id="55302" name="Text Box 6"/>
          <p:cNvSpPr txBox="1">
            <a:spLocks noChangeArrowheads="1"/>
          </p:cNvSpPr>
          <p:nvPr/>
        </p:nvSpPr>
        <p:spPr bwMode="auto">
          <a:xfrm>
            <a:off x="4495800" y="5181600"/>
            <a:ext cx="4419600" cy="1289050"/>
          </a:xfrm>
          <a:prstGeom prst="rect">
            <a:avLst/>
          </a:prstGeom>
          <a:solidFill>
            <a:srgbClr val="FFFF00"/>
          </a:solidFill>
          <a:ln w="9525">
            <a:solidFill>
              <a:schemeClr val="tx1"/>
            </a:solidFill>
            <a:miter lim="800000"/>
            <a:headEnd/>
            <a:tailEnd/>
          </a:ln>
        </p:spPr>
        <p:txBody>
          <a:bodyPr>
            <a:spAutoFit/>
          </a:bodyPr>
          <a:lstStyle/>
          <a:p>
            <a:pPr eaLnBrk="0" hangingPunct="0">
              <a:spcAft>
                <a:spcPts val="700"/>
              </a:spcAft>
            </a:pPr>
            <a:r>
              <a:rPr lang="en-US" sz="1800" i="0"/>
              <a:t>M. A. Lemkin, “Micro Accelerometer Design with Digital Feedback Control”,</a:t>
            </a:r>
          </a:p>
          <a:p>
            <a:pPr eaLnBrk="0" hangingPunct="0">
              <a:spcAft>
                <a:spcPts val="700"/>
              </a:spcAft>
            </a:pPr>
            <a:r>
              <a:rPr lang="en-US" sz="1800" i="0"/>
              <a:t>Ph.D. dissertation, EECS, University of California, Berkeley, Fall 1997</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4"/>
          <p:cNvSpPr>
            <a:spLocks noChangeArrowheads="1"/>
          </p:cNvSpPr>
          <p:nvPr/>
        </p:nvSpPr>
        <p:spPr bwMode="auto">
          <a:xfrm>
            <a:off x="0" y="0"/>
            <a:ext cx="9144000" cy="68580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56323" name="Rectangle 2"/>
          <p:cNvSpPr>
            <a:spLocks noGrp="1" noChangeArrowheads="1"/>
          </p:cNvSpPr>
          <p:nvPr>
            <p:ph type="title"/>
          </p:nvPr>
        </p:nvSpPr>
        <p:spPr/>
        <p:txBody>
          <a:bodyPr/>
          <a:lstStyle/>
          <a:p>
            <a:r>
              <a:rPr lang="en-US" smtClean="0"/>
              <a:t>What Sensors to Use: Kingvale Blower</a:t>
            </a:r>
            <a:br>
              <a:rPr lang="en-US" smtClean="0"/>
            </a:br>
            <a:r>
              <a:rPr lang="en-US" smtClean="0"/>
              <a:t>Berkeley PATH Project, March, 2005</a:t>
            </a:r>
          </a:p>
        </p:txBody>
      </p:sp>
      <p:pic>
        <p:nvPicPr>
          <p:cNvPr id="56324" name="Kingvale-Blower_NEW.avi" descr="/Users/eal/Archive/Videos/path/kingvale-blower_new.avi">
            <a:hlinkClick r:id="" action="ppaction://media"/>
          </p:cNvPr>
          <p:cNvPicPr>
            <a:picLocks noChangeAspect="1" noChangeArrowheads="1"/>
          </p:cNvPicPr>
          <p:nvPr>
            <p:ph idx="1"/>
            <a:quickTimeFile r:link="rId1"/>
          </p:nvPr>
        </p:nvPicPr>
        <p:blipFill>
          <a:blip r:embed="rId3"/>
          <a:srcRect/>
          <a:stretch>
            <a:fillRect/>
          </a:stretch>
        </p:blipFill>
        <p:spPr>
          <a:xfrm>
            <a:off x="1447800" y="1652588"/>
            <a:ext cx="6248400" cy="4748212"/>
          </a:xfr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632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56324"/>
                                        </p:tgtEl>
                                      </p:cBhvr>
                                    </p:cmd>
                                  </p:childTnLst>
                                </p:cTn>
                              </p:par>
                            </p:childTnLst>
                          </p:cTn>
                        </p:par>
                      </p:childTnLst>
                    </p:cTn>
                  </p:par>
                </p:childTnLst>
              </p:cTn>
              <p:nextCondLst>
                <p:cond evt="onClick" delay="0">
                  <p:tgtEl>
                    <p:spTgt spid="56324"/>
                  </p:tgtEl>
                </p:cond>
              </p:nextCondLst>
            </p:seq>
            <p:video>
              <p:cMediaNode>
                <p:cTn id="7" fill="hold" display="0">
                  <p:stCondLst>
                    <p:cond delay="indefinite"/>
                  </p:stCondLst>
                  <p:endCondLst>
                    <p:cond evt="onNext" delay="0">
                      <p:tgtEl>
                        <p:sldTgt/>
                      </p:tgtEl>
                    </p:cond>
                    <p:cond evt="onPrev" delay="0">
                      <p:tgtEl>
                        <p:sldTgt/>
                      </p:tgtEl>
                    </p:cond>
                  </p:endCondLst>
                </p:cTn>
                <p:tgtEl>
                  <p:spTgt spid="56324"/>
                </p:tgtEl>
              </p:cMediaNode>
            </p:vide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0" y="0"/>
            <a:ext cx="8915400" cy="1676400"/>
          </a:xfrm>
          <a:solidFill>
            <a:schemeClr val="bg1"/>
          </a:solidFill>
        </p:spPr>
        <p:txBody>
          <a:bodyPr/>
          <a:lstStyle/>
          <a:p>
            <a:r>
              <a:rPr lang="en-US" smtClean="0"/>
              <a:t>Sensors used here:</a:t>
            </a:r>
            <a:br>
              <a:rPr lang="en-US" smtClean="0"/>
            </a:br>
            <a:r>
              <a:rPr lang="en-US" smtClean="0"/>
              <a:t>Magnetometers</a:t>
            </a:r>
          </a:p>
        </p:txBody>
      </p:sp>
      <p:sp>
        <p:nvSpPr>
          <p:cNvPr id="57347" name="Rectangle 3"/>
          <p:cNvSpPr>
            <a:spLocks noGrp="1" noChangeArrowheads="1"/>
          </p:cNvSpPr>
          <p:nvPr>
            <p:ph type="body" idx="1"/>
          </p:nvPr>
        </p:nvSpPr>
        <p:spPr>
          <a:xfrm>
            <a:off x="152400" y="1905000"/>
            <a:ext cx="3200400" cy="4953000"/>
          </a:xfrm>
        </p:spPr>
        <p:txBody>
          <a:bodyPr/>
          <a:lstStyle/>
          <a:p>
            <a:r>
              <a:rPr lang="en-US" sz="1700" smtClean="0"/>
              <a:t>A very common type is the Hall Effect magnetometer.</a:t>
            </a:r>
          </a:p>
          <a:p>
            <a:r>
              <a:rPr lang="en-US" sz="1700" smtClean="0"/>
              <a:t>Charge particles (electrons, 1) flow through a conductor (2) serving as a Hall sensor. Magnets (3) induce a magnetic field (4) that causes the charged particles to accumulate on one side of the Hall sensor, inducing a measurable voltage difference from top to bottom.</a:t>
            </a:r>
          </a:p>
          <a:p>
            <a:r>
              <a:rPr lang="en-US" sz="1700" smtClean="0"/>
              <a:t>The four drawings at the right illustrate electron paths under different current and magnetic field polarities.</a:t>
            </a:r>
          </a:p>
        </p:txBody>
      </p:sp>
      <p:pic>
        <p:nvPicPr>
          <p:cNvPr id="57348" name="Picture 4" descr="Hall_effect"/>
          <p:cNvPicPr>
            <a:picLocks noChangeAspect="1" noChangeArrowheads="1"/>
          </p:cNvPicPr>
          <p:nvPr/>
        </p:nvPicPr>
        <p:blipFill>
          <a:blip r:embed="rId2"/>
          <a:srcRect/>
          <a:stretch>
            <a:fillRect/>
          </a:stretch>
        </p:blipFill>
        <p:spPr bwMode="auto">
          <a:xfrm>
            <a:off x="3387725" y="76200"/>
            <a:ext cx="5695950" cy="5705475"/>
          </a:xfrm>
          <a:prstGeom prst="rect">
            <a:avLst/>
          </a:prstGeom>
          <a:noFill/>
          <a:ln w="9525">
            <a:noFill/>
            <a:miter lim="800000"/>
            <a:headEnd/>
            <a:tailEnd/>
          </a:ln>
        </p:spPr>
      </p:pic>
      <p:sp>
        <p:nvSpPr>
          <p:cNvPr id="57349" name="Text Box 5"/>
          <p:cNvSpPr txBox="1">
            <a:spLocks noChangeArrowheads="1"/>
          </p:cNvSpPr>
          <p:nvPr/>
        </p:nvSpPr>
        <p:spPr bwMode="auto">
          <a:xfrm>
            <a:off x="5753100" y="5791200"/>
            <a:ext cx="3390900" cy="336550"/>
          </a:xfrm>
          <a:prstGeom prst="rect">
            <a:avLst/>
          </a:prstGeom>
          <a:noFill/>
          <a:ln w="9525">
            <a:noFill/>
            <a:miter lim="800000"/>
            <a:headEnd/>
            <a:tailEnd/>
          </a:ln>
        </p:spPr>
        <p:txBody>
          <a:bodyPr wrap="none">
            <a:spAutoFit/>
          </a:bodyPr>
          <a:lstStyle/>
          <a:p>
            <a:r>
              <a:rPr lang="en-US" i="0"/>
              <a:t>Image source: Wikipedia Commons</a:t>
            </a:r>
          </a:p>
        </p:txBody>
      </p:sp>
      <p:sp>
        <p:nvSpPr>
          <p:cNvPr id="57350" name="Rectangle 6"/>
          <p:cNvSpPr>
            <a:spLocks noChangeArrowheads="1"/>
          </p:cNvSpPr>
          <p:nvPr/>
        </p:nvSpPr>
        <p:spPr bwMode="auto">
          <a:xfrm>
            <a:off x="3352800" y="6172200"/>
            <a:ext cx="4876800" cy="381000"/>
          </a:xfrm>
          <a:prstGeom prst="rect">
            <a:avLst/>
          </a:prstGeom>
          <a:noFill/>
          <a:ln w="9525">
            <a:noFill/>
            <a:miter lim="800000"/>
            <a:headEnd/>
            <a:tailEnd/>
          </a:ln>
        </p:spPr>
        <p:txBody>
          <a:bodyPr/>
          <a:lstStyle/>
          <a:p>
            <a:pPr marL="342900" indent="-342900">
              <a:spcBef>
                <a:spcPct val="20000"/>
              </a:spcBef>
              <a:buClr>
                <a:schemeClr val="tx1"/>
              </a:buClr>
              <a:buSzPct val="70000"/>
              <a:buFont typeface="Wingdings" pitchFamily="-107" charset="2"/>
              <a:buNone/>
            </a:pPr>
            <a:r>
              <a:rPr lang="en-US" sz="1700" i="0">
                <a:solidFill>
                  <a:schemeClr val="tx2"/>
                </a:solidFill>
              </a:rPr>
              <a:t>Edwin Hall discovered this effect in 1879.</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US" smtClean="0"/>
              <a:t>Design Issues with Sensors</a:t>
            </a:r>
          </a:p>
        </p:txBody>
      </p:sp>
      <p:sp>
        <p:nvSpPr>
          <p:cNvPr id="58371" name="Rectangle 3"/>
          <p:cNvSpPr>
            <a:spLocks noGrp="1" noChangeArrowheads="1"/>
          </p:cNvSpPr>
          <p:nvPr>
            <p:ph type="body" idx="1"/>
          </p:nvPr>
        </p:nvSpPr>
        <p:spPr/>
        <p:txBody>
          <a:bodyPr/>
          <a:lstStyle/>
          <a:p>
            <a:pPr marL="350838" indent="-350838">
              <a:lnSpc>
                <a:spcPct val="80000"/>
              </a:lnSpc>
            </a:pPr>
            <a:r>
              <a:rPr lang="en-US" sz="2200" smtClean="0"/>
              <a:t>Calibration</a:t>
            </a:r>
          </a:p>
          <a:p>
            <a:pPr marL="693738" lvl="1" indent="-228600">
              <a:lnSpc>
                <a:spcPct val="80000"/>
              </a:lnSpc>
            </a:pPr>
            <a:r>
              <a:rPr lang="en-US" sz="2000" smtClean="0"/>
              <a:t>Relating measurements to the physical phenomenon</a:t>
            </a:r>
          </a:p>
          <a:p>
            <a:pPr marL="693738" lvl="1" indent="-228600">
              <a:lnSpc>
                <a:spcPct val="80000"/>
              </a:lnSpc>
            </a:pPr>
            <a:r>
              <a:rPr lang="en-US" sz="2000" smtClean="0"/>
              <a:t>Can dramatically increase manufacturing costs</a:t>
            </a:r>
          </a:p>
          <a:p>
            <a:pPr marL="350838" indent="-350838">
              <a:lnSpc>
                <a:spcPct val="80000"/>
              </a:lnSpc>
            </a:pPr>
            <a:r>
              <a:rPr lang="en-US" sz="2200" smtClean="0"/>
              <a:t>Nonlinearity</a:t>
            </a:r>
          </a:p>
          <a:p>
            <a:pPr marL="693738" lvl="1" indent="-228600">
              <a:lnSpc>
                <a:spcPct val="80000"/>
              </a:lnSpc>
            </a:pPr>
            <a:r>
              <a:rPr lang="en-US" sz="2000" smtClean="0"/>
              <a:t>Measurements may not be proportional to physical phenomenon</a:t>
            </a:r>
          </a:p>
          <a:p>
            <a:pPr marL="693738" lvl="1" indent="-228600">
              <a:lnSpc>
                <a:spcPct val="80000"/>
              </a:lnSpc>
            </a:pPr>
            <a:r>
              <a:rPr lang="en-US" sz="2000" smtClean="0"/>
              <a:t>Correction may be required</a:t>
            </a:r>
          </a:p>
          <a:p>
            <a:pPr marL="693738" lvl="1" indent="-228600">
              <a:lnSpc>
                <a:spcPct val="80000"/>
              </a:lnSpc>
            </a:pPr>
            <a:r>
              <a:rPr lang="en-US" sz="2000" smtClean="0"/>
              <a:t>Feedback can be used to keep operating point in the linear region</a:t>
            </a:r>
          </a:p>
          <a:p>
            <a:pPr marL="350838" indent="-350838">
              <a:lnSpc>
                <a:spcPct val="80000"/>
              </a:lnSpc>
            </a:pPr>
            <a:r>
              <a:rPr lang="en-US" sz="2200" smtClean="0"/>
              <a:t>Sampling</a:t>
            </a:r>
          </a:p>
          <a:p>
            <a:pPr marL="693738" lvl="1" indent="-228600">
              <a:lnSpc>
                <a:spcPct val="80000"/>
              </a:lnSpc>
            </a:pPr>
            <a:r>
              <a:rPr lang="en-US" sz="2000" smtClean="0"/>
              <a:t>Aliasing</a:t>
            </a:r>
          </a:p>
          <a:p>
            <a:pPr marL="693738" lvl="1" indent="-228600">
              <a:lnSpc>
                <a:spcPct val="80000"/>
              </a:lnSpc>
            </a:pPr>
            <a:r>
              <a:rPr lang="en-US" sz="2000" smtClean="0"/>
              <a:t>Missed events</a:t>
            </a:r>
          </a:p>
          <a:p>
            <a:pPr marL="350838" indent="-350838">
              <a:lnSpc>
                <a:spcPct val="80000"/>
              </a:lnSpc>
            </a:pPr>
            <a:r>
              <a:rPr lang="en-US" sz="2200" smtClean="0"/>
              <a:t>Noise</a:t>
            </a:r>
          </a:p>
          <a:p>
            <a:pPr marL="693738" lvl="1" indent="-228600">
              <a:lnSpc>
                <a:spcPct val="80000"/>
              </a:lnSpc>
            </a:pPr>
            <a:r>
              <a:rPr lang="en-US" sz="2000" smtClean="0"/>
              <a:t>Analog signal conditioning</a:t>
            </a:r>
          </a:p>
          <a:p>
            <a:pPr marL="693738" lvl="1" indent="-228600">
              <a:lnSpc>
                <a:spcPct val="80000"/>
              </a:lnSpc>
            </a:pPr>
            <a:r>
              <a:rPr lang="en-US" sz="2000" smtClean="0"/>
              <a:t>Digital filtering</a:t>
            </a:r>
          </a:p>
          <a:p>
            <a:pPr marL="693738" lvl="1" indent="-228600">
              <a:lnSpc>
                <a:spcPct val="80000"/>
              </a:lnSpc>
            </a:pPr>
            <a:r>
              <a:rPr lang="en-US" sz="2000" smtClean="0"/>
              <a:t>Introduces latency</a:t>
            </a:r>
          </a:p>
        </p:txBody>
      </p:sp>
      <p:sp>
        <p:nvSpPr>
          <p:cNvPr id="58372" name="Text Box 4"/>
          <p:cNvSpPr txBox="1">
            <a:spLocks noChangeArrowheads="1"/>
          </p:cNvSpPr>
          <p:nvPr/>
        </p:nvSpPr>
        <p:spPr bwMode="auto">
          <a:xfrm>
            <a:off x="5943600" y="4876800"/>
            <a:ext cx="2667000" cy="1187450"/>
          </a:xfrm>
          <a:prstGeom prst="rect">
            <a:avLst/>
          </a:prstGeom>
          <a:noFill/>
          <a:ln w="9525">
            <a:noFill/>
            <a:miter lim="800000"/>
            <a:headEnd/>
            <a:tailEnd/>
          </a:ln>
        </p:spPr>
        <p:txBody>
          <a:bodyPr>
            <a:spAutoFit/>
          </a:bodyPr>
          <a:lstStyle/>
          <a:p>
            <a:pPr>
              <a:spcBef>
                <a:spcPct val="50000"/>
              </a:spcBef>
            </a:pPr>
            <a:r>
              <a:rPr lang="en-US" sz="2400"/>
              <a:t>Students study these problems using LabVIEW.</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a:xfrm>
            <a:off x="8839200" y="-5181600"/>
            <a:ext cx="3657600" cy="15392400"/>
          </a:xfrm>
          <a:prstGeom prst="rect">
            <a:avLst/>
          </a:prstGeom>
          <a:solidFill>
            <a:srgbClr val="000000"/>
          </a:solidFill>
        </p:spPr>
        <p:style>
          <a:lnRef idx="2">
            <a:schemeClr val="dk1">
              <a:shade val="50000"/>
            </a:schemeClr>
          </a:lnRef>
          <a:fillRef idx="1">
            <a:schemeClr val="dk1"/>
          </a:fillRef>
          <a:effectRef idx="0">
            <a:schemeClr val="dk1"/>
          </a:effectRef>
          <a:fontRef idx="minor">
            <a:schemeClr val="lt1"/>
          </a:fontRef>
        </p:style>
        <p:txBody>
          <a:bodyPr anchor="ctr"/>
          <a:lstStyle/>
          <a:p>
            <a:pPr algn="ctr" fontAlgn="auto">
              <a:spcBef>
                <a:spcPts val="0"/>
              </a:spcBef>
              <a:spcAft>
                <a:spcPts val="0"/>
              </a:spcAft>
              <a:defRPr/>
            </a:pPr>
            <a:endParaRPr lang="en-US" sz="1800" i="0"/>
          </a:p>
        </p:txBody>
      </p:sp>
      <p:sp>
        <p:nvSpPr>
          <p:cNvPr id="17" name="Rectangle 16"/>
          <p:cNvSpPr/>
          <p:nvPr/>
        </p:nvSpPr>
        <p:spPr>
          <a:xfrm>
            <a:off x="-2590800" y="-5486400"/>
            <a:ext cx="3505200" cy="15544800"/>
          </a:xfrm>
          <a:prstGeom prst="rect">
            <a:avLst/>
          </a:prstGeom>
          <a:solidFill>
            <a:schemeClr val="tx2"/>
          </a:solidFill>
        </p:spPr>
        <p:style>
          <a:lnRef idx="2">
            <a:schemeClr val="dk1">
              <a:shade val="50000"/>
            </a:schemeClr>
          </a:lnRef>
          <a:fillRef idx="1">
            <a:schemeClr val="dk1"/>
          </a:fillRef>
          <a:effectRef idx="0">
            <a:schemeClr val="dk1"/>
          </a:effectRef>
          <a:fontRef idx="minor">
            <a:schemeClr val="lt1"/>
          </a:fontRef>
        </p:style>
        <p:txBody>
          <a:bodyPr anchor="ctr"/>
          <a:lstStyle/>
          <a:p>
            <a:pPr algn="ctr" fontAlgn="auto">
              <a:spcBef>
                <a:spcPts val="0"/>
              </a:spcBef>
              <a:spcAft>
                <a:spcPts val="0"/>
              </a:spcAft>
              <a:defRPr/>
            </a:pPr>
            <a:endParaRPr lang="en-US" sz="1800" i="0" dirty="0"/>
          </a:p>
        </p:txBody>
      </p:sp>
      <p:pic>
        <p:nvPicPr>
          <p:cNvPr id="59396" name="Picture 2"/>
          <p:cNvPicPr>
            <a:picLocks noChangeAspect="1" noChangeArrowheads="1"/>
          </p:cNvPicPr>
          <p:nvPr/>
        </p:nvPicPr>
        <p:blipFill>
          <a:blip r:embed="rId2"/>
          <a:srcRect l="31250" t="10834" r="17708" b="2499"/>
          <a:stretch>
            <a:fillRect/>
          </a:stretch>
        </p:blipFill>
        <p:spPr bwMode="auto">
          <a:xfrm>
            <a:off x="1322388" y="319088"/>
            <a:ext cx="6775450" cy="7186612"/>
          </a:xfrm>
          <a:prstGeom prst="rect">
            <a:avLst/>
          </a:prstGeom>
          <a:noFill/>
          <a:ln w="9525">
            <a:noFill/>
            <a:miter lim="800000"/>
            <a:headEnd/>
            <a:tailEnd/>
          </a:ln>
        </p:spPr>
      </p:pic>
      <p:grpSp>
        <p:nvGrpSpPr>
          <p:cNvPr id="2" name="Group 15"/>
          <p:cNvGrpSpPr>
            <a:grpSpLocks/>
          </p:cNvGrpSpPr>
          <p:nvPr/>
        </p:nvGrpSpPr>
        <p:grpSpPr bwMode="auto">
          <a:xfrm>
            <a:off x="-1789113" y="-5000625"/>
            <a:ext cx="11615738" cy="13473113"/>
            <a:chOff x="-1789044" y="-5000985"/>
            <a:chExt cx="11615819" cy="13474156"/>
          </a:xfrm>
        </p:grpSpPr>
        <p:grpSp>
          <p:nvGrpSpPr>
            <p:cNvPr id="59399" name="Group 3"/>
            <p:cNvGrpSpPr>
              <a:grpSpLocks/>
            </p:cNvGrpSpPr>
            <p:nvPr/>
          </p:nvGrpSpPr>
          <p:grpSpPr bwMode="auto">
            <a:xfrm>
              <a:off x="-1789044" y="-5000985"/>
              <a:ext cx="11615819" cy="13474156"/>
              <a:chOff x="-1242" y="-3474"/>
              <a:chExt cx="8064" cy="9360"/>
            </a:xfrm>
          </p:grpSpPr>
          <p:grpSp>
            <p:nvGrpSpPr>
              <p:cNvPr id="59404" name="Group 4"/>
              <p:cNvGrpSpPr>
                <a:grpSpLocks/>
              </p:cNvGrpSpPr>
              <p:nvPr/>
            </p:nvGrpSpPr>
            <p:grpSpPr bwMode="auto">
              <a:xfrm>
                <a:off x="-1242" y="-3474"/>
                <a:ext cx="8064" cy="9360"/>
                <a:chOff x="-1242" y="-3474"/>
                <a:chExt cx="8064" cy="9360"/>
              </a:xfrm>
            </p:grpSpPr>
            <p:sp>
              <p:nvSpPr>
                <p:cNvPr id="59406" name="Rectangle 6"/>
                <p:cNvSpPr>
                  <a:spLocks noChangeArrowheads="1"/>
                </p:cNvSpPr>
                <p:nvPr/>
              </p:nvSpPr>
              <p:spPr bwMode="auto">
                <a:xfrm>
                  <a:off x="3606" y="-3474"/>
                  <a:ext cx="3216" cy="9360"/>
                </a:xfrm>
                <a:prstGeom prst="rect">
                  <a:avLst/>
                </a:prstGeom>
                <a:solidFill>
                  <a:srgbClr val="000000"/>
                </a:solidFill>
                <a:ln w="9525">
                  <a:noFill/>
                  <a:miter lim="800000"/>
                  <a:headEnd/>
                  <a:tailEnd/>
                </a:ln>
              </p:spPr>
              <p:txBody>
                <a:bodyPr wrap="none" anchor="ctr"/>
                <a:lstStyle/>
                <a:p>
                  <a:endParaRPr lang="en-US" sz="1800" i="0">
                    <a:latin typeface="Montara Std Gothic" pitchFamily="34" charset="0"/>
                  </a:endParaRPr>
                </a:p>
              </p:txBody>
            </p:sp>
            <p:sp>
              <p:nvSpPr>
                <p:cNvPr id="59407" name="Rectangle 8"/>
                <p:cNvSpPr>
                  <a:spLocks noChangeArrowheads="1"/>
                </p:cNvSpPr>
                <p:nvPr/>
              </p:nvSpPr>
              <p:spPr bwMode="auto">
                <a:xfrm>
                  <a:off x="-1242" y="-3042"/>
                  <a:ext cx="2784" cy="8880"/>
                </a:xfrm>
                <a:prstGeom prst="rect">
                  <a:avLst/>
                </a:prstGeom>
                <a:solidFill>
                  <a:srgbClr val="000000"/>
                </a:solidFill>
                <a:ln w="9525">
                  <a:noFill/>
                  <a:miter lim="800000"/>
                  <a:headEnd/>
                  <a:tailEnd/>
                </a:ln>
              </p:spPr>
              <p:txBody>
                <a:bodyPr wrap="none" anchor="ctr"/>
                <a:lstStyle/>
                <a:p>
                  <a:endParaRPr lang="en-US" sz="1800" i="0">
                    <a:latin typeface="Montara Std Gothic" pitchFamily="34" charset="0"/>
                  </a:endParaRPr>
                </a:p>
              </p:txBody>
            </p:sp>
            <p:sp>
              <p:nvSpPr>
                <p:cNvPr id="59408" name="Rectangle 5"/>
                <p:cNvSpPr>
                  <a:spLocks noChangeArrowheads="1"/>
                </p:cNvSpPr>
                <p:nvPr/>
              </p:nvSpPr>
              <p:spPr bwMode="auto">
                <a:xfrm>
                  <a:off x="1398" y="-3282"/>
                  <a:ext cx="2208" cy="3503"/>
                </a:xfrm>
                <a:prstGeom prst="rect">
                  <a:avLst/>
                </a:prstGeom>
                <a:solidFill>
                  <a:srgbClr val="000000"/>
                </a:solidFill>
                <a:ln w="9525">
                  <a:noFill/>
                  <a:miter lim="800000"/>
                  <a:headEnd/>
                  <a:tailEnd/>
                </a:ln>
              </p:spPr>
              <p:txBody>
                <a:bodyPr wrap="none" anchor="ctr"/>
                <a:lstStyle/>
                <a:p>
                  <a:endParaRPr lang="en-US" sz="1800" i="0">
                    <a:latin typeface="Montara Std Gothic" pitchFamily="34" charset="0"/>
                  </a:endParaRPr>
                </a:p>
              </p:txBody>
            </p:sp>
            <p:sp>
              <p:nvSpPr>
                <p:cNvPr id="59409" name="Rectangle 7"/>
                <p:cNvSpPr>
                  <a:spLocks noChangeArrowheads="1"/>
                </p:cNvSpPr>
                <p:nvPr/>
              </p:nvSpPr>
              <p:spPr bwMode="auto">
                <a:xfrm>
                  <a:off x="1398" y="1710"/>
                  <a:ext cx="2256" cy="3984"/>
                </a:xfrm>
                <a:prstGeom prst="rect">
                  <a:avLst/>
                </a:prstGeom>
                <a:solidFill>
                  <a:srgbClr val="000000"/>
                </a:solidFill>
                <a:ln w="9525">
                  <a:noFill/>
                  <a:miter lim="800000"/>
                  <a:headEnd/>
                  <a:tailEnd/>
                </a:ln>
              </p:spPr>
              <p:txBody>
                <a:bodyPr wrap="none" anchor="ctr"/>
                <a:lstStyle/>
                <a:p>
                  <a:endParaRPr lang="en-US" sz="1800" i="0">
                    <a:latin typeface="Montara Std Gothic" pitchFamily="34" charset="0"/>
                  </a:endParaRPr>
                </a:p>
              </p:txBody>
            </p:sp>
          </p:grpSp>
          <p:sp>
            <p:nvSpPr>
              <p:cNvPr id="59405" name="Rectangle 9"/>
              <p:cNvSpPr>
                <a:spLocks noChangeArrowheads="1"/>
              </p:cNvSpPr>
              <p:nvPr/>
            </p:nvSpPr>
            <p:spPr bwMode="auto">
              <a:xfrm>
                <a:off x="1542" y="222"/>
                <a:ext cx="2064" cy="1488"/>
              </a:xfrm>
              <a:prstGeom prst="rect">
                <a:avLst/>
              </a:prstGeom>
              <a:noFill/>
              <a:ln w="28575">
                <a:solidFill>
                  <a:schemeClr val="tx1"/>
                </a:solidFill>
                <a:miter lim="800000"/>
                <a:headEnd/>
                <a:tailEnd/>
              </a:ln>
            </p:spPr>
            <p:txBody>
              <a:bodyPr wrap="none" anchor="ctr"/>
              <a:lstStyle/>
              <a:p>
                <a:endParaRPr lang="en-US" sz="1800" i="0">
                  <a:latin typeface="Montara Std Gothic" pitchFamily="34" charset="0"/>
                </a:endParaRPr>
              </a:p>
            </p:txBody>
          </p:sp>
        </p:grpSp>
        <p:pic>
          <p:nvPicPr>
            <p:cNvPr id="59400" name="Picture 11" descr="top.bmp"/>
            <p:cNvPicPr>
              <a:picLocks noChangeAspect="1"/>
            </p:cNvPicPr>
            <p:nvPr/>
          </p:nvPicPr>
          <p:blipFill>
            <a:blip r:embed="rId3"/>
            <a:srcRect/>
            <a:stretch>
              <a:fillRect/>
            </a:stretch>
          </p:blipFill>
          <p:spPr bwMode="auto">
            <a:xfrm rot="5400000">
              <a:off x="4343433" y="990567"/>
              <a:ext cx="2438400" cy="762066"/>
            </a:xfrm>
            <a:prstGeom prst="rect">
              <a:avLst/>
            </a:prstGeom>
            <a:noFill/>
            <a:ln w="9525">
              <a:noFill/>
              <a:miter lim="800000"/>
              <a:headEnd/>
              <a:tailEnd/>
            </a:ln>
          </p:spPr>
        </p:pic>
        <p:pic>
          <p:nvPicPr>
            <p:cNvPr id="59401" name="Picture 12" descr="bottom.bmp"/>
            <p:cNvPicPr>
              <a:picLocks noChangeAspect="1"/>
            </p:cNvPicPr>
            <p:nvPr/>
          </p:nvPicPr>
          <p:blipFill>
            <a:blip r:embed="rId4"/>
            <a:srcRect/>
            <a:stretch>
              <a:fillRect/>
            </a:stretch>
          </p:blipFill>
          <p:spPr bwMode="auto">
            <a:xfrm rot="5400000">
              <a:off x="369280" y="750281"/>
              <a:ext cx="2385527" cy="1295512"/>
            </a:xfrm>
            <a:prstGeom prst="rect">
              <a:avLst/>
            </a:prstGeom>
            <a:noFill/>
            <a:ln w="9525">
              <a:noFill/>
              <a:miter lim="800000"/>
              <a:headEnd/>
              <a:tailEnd/>
            </a:ln>
          </p:spPr>
        </p:pic>
        <p:pic>
          <p:nvPicPr>
            <p:cNvPr id="59402" name="Picture 13" descr="left.bmp"/>
            <p:cNvPicPr>
              <a:picLocks noChangeAspect="1"/>
            </p:cNvPicPr>
            <p:nvPr/>
          </p:nvPicPr>
          <p:blipFill>
            <a:blip r:embed="rId5"/>
            <a:srcRect/>
            <a:stretch>
              <a:fillRect/>
            </a:stretch>
          </p:blipFill>
          <p:spPr bwMode="auto">
            <a:xfrm rot="5400000">
              <a:off x="3351770" y="-2477278"/>
              <a:ext cx="434378" cy="4954555"/>
            </a:xfrm>
            <a:prstGeom prst="rect">
              <a:avLst/>
            </a:prstGeom>
            <a:noFill/>
            <a:ln w="9525">
              <a:noFill/>
              <a:miter lim="800000"/>
              <a:headEnd/>
              <a:tailEnd/>
            </a:ln>
          </p:spPr>
        </p:pic>
        <p:pic>
          <p:nvPicPr>
            <p:cNvPr id="59403" name="Picture 14" descr="right.bmp"/>
            <p:cNvPicPr>
              <a:picLocks noChangeAspect="1"/>
            </p:cNvPicPr>
            <p:nvPr/>
          </p:nvPicPr>
          <p:blipFill>
            <a:blip r:embed="rId6"/>
            <a:srcRect/>
            <a:stretch>
              <a:fillRect/>
            </a:stretch>
          </p:blipFill>
          <p:spPr bwMode="auto">
            <a:xfrm rot="5400000">
              <a:off x="3222070" y="329783"/>
              <a:ext cx="525826" cy="5047861"/>
            </a:xfrm>
            <a:prstGeom prst="rect">
              <a:avLst/>
            </a:prstGeom>
            <a:noFill/>
            <a:ln w="9525">
              <a:noFill/>
              <a:miter lim="800000"/>
              <a:headEnd/>
              <a:tailEnd/>
            </a:ln>
          </p:spPr>
        </p:pic>
      </p:grpSp>
      <p:sp>
        <p:nvSpPr>
          <p:cNvPr id="59398" name="Text Box 18"/>
          <p:cNvSpPr txBox="1">
            <a:spLocks noChangeArrowheads="1"/>
          </p:cNvSpPr>
          <p:nvPr/>
        </p:nvSpPr>
        <p:spPr bwMode="auto">
          <a:xfrm>
            <a:off x="138113" y="6111875"/>
            <a:ext cx="7786687" cy="822325"/>
          </a:xfrm>
          <a:prstGeom prst="rect">
            <a:avLst/>
          </a:prstGeom>
          <a:noFill/>
          <a:ln w="9525">
            <a:noFill/>
            <a:miter lim="800000"/>
            <a:headEnd/>
            <a:tailEnd/>
          </a:ln>
        </p:spPr>
        <p:txBody>
          <a:bodyPr wrap="none">
            <a:spAutoFit/>
          </a:bodyPr>
          <a:lstStyle/>
          <a:p>
            <a:r>
              <a:rPr lang="en-US" sz="2400" b="1" i="0">
                <a:solidFill>
                  <a:schemeClr val="bg1"/>
                </a:solidFill>
              </a:rPr>
              <a:t>A thought experiment:</a:t>
            </a:r>
            <a:br>
              <a:rPr lang="en-US" sz="2400" b="1" i="0">
                <a:solidFill>
                  <a:schemeClr val="bg1"/>
                </a:solidFill>
              </a:rPr>
            </a:br>
            <a:r>
              <a:rPr lang="en-US" sz="2400" b="1" i="0">
                <a:solidFill>
                  <a:schemeClr val="bg1"/>
                </a:solidFill>
              </a:rPr>
              <a:t>Browser of the future? (courtesy of Ras Bodik, UCB)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2.77778E-7 7.40741E-7 C -0.01285 0.00995 -0.06406 -0.00463 -0.07726 0.05972 C -0.09045 0.12407 -0.08056 0.29977 -0.07899 0.38611 C -0.07743 0.47245 -0.08455 0.5456 -0.06736 0.57801 C -0.05017 0.61042 0.00017 0.59699 0.02378 0.58032 C 0.0474 0.56366 0.05833 0.52384 0.07378 0.47847 C 0.08924 0.4331 0.11424 0.36204 0.11632 0.30833 C 0.1184 0.25463 0.09271 0.1875 0.08646 0.15579 " pathEditMode="relative" rAng="0" ptsTypes="aaaaaaaa">
                                      <p:cBhvr>
                                        <p:cTn id="6" dur="5000" fill="hold"/>
                                        <p:tgtEl>
                                          <p:spTgt spid="2"/>
                                        </p:tgtEl>
                                        <p:attrNameLst>
                                          <p:attrName>ppt_x</p:attrName>
                                          <p:attrName>ppt_y</p:attrName>
                                        </p:attrNameLst>
                                      </p:cBhvr>
                                      <p:rCtr x="14" y="303"/>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nodeType="clickEffect">
                                  <p:stCondLst>
                                    <p:cond delay="0"/>
                                  </p:stCondLst>
                                  <p:childTnLst>
                                    <p:animMotion origin="layout" path="M 0.08646 0.15553 C 0.10833 0.1456 0.20035 0.07303 0.21753 0.09637 C 0.23472 0.11971 0.21406 0.20823 0.18993 0.29605 C 0.1658 0.38387 0.0967 0.55535 0.07222 0.62353 " pathEditMode="relative" rAng="0" ptsTypes="aaaa">
                                      <p:cBhvr>
                                        <p:cTn id="10" dur="5000" fill="hold"/>
                                        <p:tgtEl>
                                          <p:spTgt spid="2"/>
                                        </p:tgtEl>
                                        <p:attrNameLst>
                                          <p:attrName>ppt_x</p:attrName>
                                          <p:attrName>ppt_y</p:attrName>
                                        </p:attrNameLst>
                                      </p:cBhvr>
                                      <p:rCtr x="67" y="19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smtClean="0"/>
              <a:t>Other Topics</a:t>
            </a:r>
          </a:p>
        </p:txBody>
      </p:sp>
      <p:sp>
        <p:nvSpPr>
          <p:cNvPr id="60419" name="Rectangle 3"/>
          <p:cNvSpPr>
            <a:spLocks noGrp="1" noChangeArrowheads="1"/>
          </p:cNvSpPr>
          <p:nvPr>
            <p:ph type="body" idx="1"/>
          </p:nvPr>
        </p:nvSpPr>
        <p:spPr/>
        <p:txBody>
          <a:bodyPr/>
          <a:lstStyle/>
          <a:p>
            <a:r>
              <a:rPr lang="en-US" smtClean="0"/>
              <a:t>Temporal logic</a:t>
            </a:r>
          </a:p>
          <a:p>
            <a:r>
              <a:rPr lang="en-US" smtClean="0"/>
              <a:t>Reachability</a:t>
            </a:r>
          </a:p>
          <a:p>
            <a:r>
              <a:rPr lang="en-US" smtClean="0"/>
              <a:t>Verification</a:t>
            </a:r>
          </a:p>
          <a:p>
            <a:r>
              <a:rPr lang="en-US" smtClean="0"/>
              <a:t>Controller synthesis</a:t>
            </a:r>
          </a:p>
          <a:p>
            <a:r>
              <a:rPr lang="en-US" smtClean="0"/>
              <a:t>Concurrency: threads and interrupts</a:t>
            </a:r>
          </a:p>
          <a:p>
            <a:r>
              <a:rPr lang="en-US" smtClean="0"/>
              <a:t>Real-time operating systems</a:t>
            </a:r>
          </a:p>
          <a:p>
            <a:r>
              <a:rPr lang="en-US" smtClean="0"/>
              <a:t>Concurrent models of computation</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p:txBody>
          <a:bodyPr/>
          <a:lstStyle/>
          <a:p>
            <a:r>
              <a:rPr lang="en-US" smtClean="0"/>
              <a:t>Lab Structure</a:t>
            </a:r>
          </a:p>
        </p:txBody>
      </p:sp>
      <p:sp>
        <p:nvSpPr>
          <p:cNvPr id="61443" name="Content Placeholder 2"/>
          <p:cNvSpPr>
            <a:spLocks noGrp="1"/>
          </p:cNvSpPr>
          <p:nvPr>
            <p:ph idx="1"/>
          </p:nvPr>
        </p:nvSpPr>
        <p:spPr/>
        <p:txBody>
          <a:bodyPr/>
          <a:lstStyle/>
          <a:p>
            <a:r>
              <a:rPr lang="en-US" smtClean="0"/>
              <a:t>5 weeks of structured labs introducing students to some of the tools of the trade.</a:t>
            </a:r>
          </a:p>
          <a:p>
            <a:endParaRPr lang="en-US" smtClean="0"/>
          </a:p>
          <a:p>
            <a:r>
              <a:rPr lang="en-US" smtClean="0"/>
              <a:t>10 weeks of group project efforts.</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p:txBody>
          <a:bodyPr/>
          <a:lstStyle/>
          <a:p>
            <a:r>
              <a:rPr lang="en-US" smtClean="0"/>
              <a:t>Tools Used in the Lab</a:t>
            </a:r>
          </a:p>
        </p:txBody>
      </p:sp>
      <p:pic>
        <p:nvPicPr>
          <p:cNvPr id="62467" name="Picture 2"/>
          <p:cNvPicPr>
            <a:picLocks noChangeAspect="1" noChangeArrowheads="1"/>
          </p:cNvPicPr>
          <p:nvPr/>
        </p:nvPicPr>
        <p:blipFill>
          <a:blip r:embed="rId2"/>
          <a:srcRect/>
          <a:stretch>
            <a:fillRect/>
          </a:stretch>
        </p:blipFill>
        <p:spPr bwMode="auto">
          <a:xfrm>
            <a:off x="609600" y="1752600"/>
            <a:ext cx="1524000" cy="1524000"/>
          </a:xfrm>
          <a:prstGeom prst="rect">
            <a:avLst/>
          </a:prstGeom>
          <a:noFill/>
          <a:ln w="9525">
            <a:noFill/>
            <a:miter lim="800000"/>
            <a:headEnd/>
            <a:tailEnd/>
          </a:ln>
        </p:spPr>
      </p:pic>
      <p:sp>
        <p:nvSpPr>
          <p:cNvPr id="62468" name="TextBox 10"/>
          <p:cNvSpPr txBox="1">
            <a:spLocks noChangeArrowheads="1"/>
          </p:cNvSpPr>
          <p:nvPr/>
        </p:nvSpPr>
        <p:spPr bwMode="auto">
          <a:xfrm>
            <a:off x="381000" y="3200400"/>
            <a:ext cx="1930400" cy="461963"/>
          </a:xfrm>
          <a:prstGeom prst="rect">
            <a:avLst/>
          </a:prstGeom>
          <a:noFill/>
          <a:ln w="9525">
            <a:noFill/>
            <a:miter lim="800000"/>
            <a:headEnd/>
            <a:tailEnd/>
          </a:ln>
        </p:spPr>
        <p:txBody>
          <a:bodyPr wrap="none">
            <a:spAutoFit/>
          </a:bodyPr>
          <a:lstStyle/>
          <a:p>
            <a:r>
              <a:rPr lang="en-US" sz="2400">
                <a:latin typeface="Cambria" pitchFamily="-107" charset="0"/>
              </a:rPr>
              <a:t>Nintendo Wii</a:t>
            </a:r>
          </a:p>
        </p:txBody>
      </p:sp>
      <p:pic>
        <p:nvPicPr>
          <p:cNvPr id="62469" name="Picture 3"/>
          <p:cNvPicPr>
            <a:picLocks noChangeAspect="1" noChangeArrowheads="1"/>
          </p:cNvPicPr>
          <p:nvPr/>
        </p:nvPicPr>
        <p:blipFill>
          <a:blip r:embed="rId3"/>
          <a:srcRect/>
          <a:stretch>
            <a:fillRect/>
          </a:stretch>
        </p:blipFill>
        <p:spPr bwMode="auto">
          <a:xfrm>
            <a:off x="7086600" y="1371600"/>
            <a:ext cx="1752600" cy="1719263"/>
          </a:xfrm>
          <a:prstGeom prst="rect">
            <a:avLst/>
          </a:prstGeom>
          <a:noFill/>
          <a:ln w="9525">
            <a:noFill/>
            <a:miter lim="800000"/>
            <a:headEnd/>
            <a:tailEnd/>
          </a:ln>
        </p:spPr>
      </p:pic>
      <p:sp>
        <p:nvSpPr>
          <p:cNvPr id="62470" name="TextBox 12"/>
          <p:cNvSpPr txBox="1">
            <a:spLocks noChangeArrowheads="1"/>
          </p:cNvSpPr>
          <p:nvPr/>
        </p:nvSpPr>
        <p:spPr bwMode="auto">
          <a:xfrm>
            <a:off x="7239000" y="2971800"/>
            <a:ext cx="1471613" cy="461963"/>
          </a:xfrm>
          <a:prstGeom prst="rect">
            <a:avLst/>
          </a:prstGeom>
          <a:noFill/>
          <a:ln w="9525">
            <a:noFill/>
            <a:miter lim="800000"/>
            <a:headEnd/>
            <a:tailEnd/>
          </a:ln>
        </p:spPr>
        <p:txBody>
          <a:bodyPr wrap="none">
            <a:spAutoFit/>
          </a:bodyPr>
          <a:lstStyle/>
          <a:p>
            <a:pPr algn="ctr"/>
            <a:r>
              <a:rPr lang="en-US" sz="2400">
                <a:latin typeface="Cambria" pitchFamily="-107" charset="0"/>
              </a:rPr>
              <a:t>LabVIEW</a:t>
            </a:r>
          </a:p>
        </p:txBody>
      </p:sp>
      <p:sp>
        <p:nvSpPr>
          <p:cNvPr id="62471" name="TextBox 10"/>
          <p:cNvSpPr txBox="1">
            <a:spLocks noChangeArrowheads="1"/>
          </p:cNvSpPr>
          <p:nvPr/>
        </p:nvSpPr>
        <p:spPr bwMode="auto">
          <a:xfrm>
            <a:off x="457200" y="6172200"/>
            <a:ext cx="1970088" cy="461963"/>
          </a:xfrm>
          <a:prstGeom prst="rect">
            <a:avLst/>
          </a:prstGeom>
          <a:noFill/>
          <a:ln w="9525">
            <a:noFill/>
            <a:miter lim="800000"/>
            <a:headEnd/>
            <a:tailEnd/>
          </a:ln>
        </p:spPr>
        <p:txBody>
          <a:bodyPr wrap="none">
            <a:spAutoFit/>
          </a:bodyPr>
          <a:lstStyle/>
          <a:p>
            <a:r>
              <a:rPr lang="en-US" sz="2400">
                <a:latin typeface="Cambria" pitchFamily="-107" charset="0"/>
              </a:rPr>
              <a:t>iRobot Create</a:t>
            </a:r>
          </a:p>
        </p:txBody>
      </p:sp>
      <p:pic>
        <p:nvPicPr>
          <p:cNvPr id="62472" name="Picture 2"/>
          <p:cNvPicPr>
            <a:picLocks noChangeAspect="1" noChangeArrowheads="1"/>
          </p:cNvPicPr>
          <p:nvPr/>
        </p:nvPicPr>
        <p:blipFill>
          <a:blip r:embed="rId4"/>
          <a:srcRect/>
          <a:stretch>
            <a:fillRect/>
          </a:stretch>
        </p:blipFill>
        <p:spPr bwMode="auto">
          <a:xfrm>
            <a:off x="228600" y="3810000"/>
            <a:ext cx="2362200" cy="2362200"/>
          </a:xfrm>
          <a:prstGeom prst="rect">
            <a:avLst/>
          </a:prstGeom>
          <a:noFill/>
          <a:ln w="9525">
            <a:noFill/>
            <a:miter lim="800000"/>
            <a:headEnd/>
            <a:tailEnd/>
          </a:ln>
        </p:spPr>
      </p:pic>
      <p:sp>
        <p:nvSpPr>
          <p:cNvPr id="62473" name="TextBox 12"/>
          <p:cNvSpPr txBox="1">
            <a:spLocks noChangeArrowheads="1"/>
          </p:cNvSpPr>
          <p:nvPr/>
        </p:nvSpPr>
        <p:spPr bwMode="auto">
          <a:xfrm>
            <a:off x="3924300" y="5410200"/>
            <a:ext cx="1843088" cy="461963"/>
          </a:xfrm>
          <a:prstGeom prst="rect">
            <a:avLst/>
          </a:prstGeom>
          <a:noFill/>
          <a:ln w="9525">
            <a:noFill/>
            <a:miter lim="800000"/>
            <a:headEnd/>
            <a:tailEnd/>
          </a:ln>
        </p:spPr>
        <p:txBody>
          <a:bodyPr wrap="none">
            <a:spAutoFit/>
          </a:bodyPr>
          <a:lstStyle/>
          <a:p>
            <a:pPr algn="ctr"/>
            <a:r>
              <a:rPr lang="en-US" sz="2400">
                <a:latin typeface="Cambria" pitchFamily="-107" charset="0"/>
              </a:rPr>
              <a:t>Embedded C</a:t>
            </a:r>
          </a:p>
        </p:txBody>
      </p:sp>
      <p:pic>
        <p:nvPicPr>
          <p:cNvPr id="62474" name="Picture 3"/>
          <p:cNvPicPr>
            <a:picLocks noChangeAspect="1" noChangeArrowheads="1"/>
          </p:cNvPicPr>
          <p:nvPr/>
        </p:nvPicPr>
        <p:blipFill>
          <a:blip r:embed="rId5"/>
          <a:srcRect/>
          <a:stretch>
            <a:fillRect/>
          </a:stretch>
        </p:blipFill>
        <p:spPr bwMode="auto">
          <a:xfrm>
            <a:off x="2819400" y="1447800"/>
            <a:ext cx="3962400" cy="3962400"/>
          </a:xfrm>
          <a:prstGeom prst="rect">
            <a:avLst/>
          </a:prstGeom>
          <a:noFill/>
          <a:ln w="9525">
            <a:solidFill>
              <a:srgbClr val="00CC99"/>
            </a:solidFill>
            <a:miter lim="800000"/>
            <a:headEnd/>
            <a:tailEnd/>
          </a:ln>
        </p:spPr>
      </p:pic>
      <p:pic>
        <p:nvPicPr>
          <p:cNvPr id="62475" name="Picture 2"/>
          <p:cNvPicPr>
            <a:picLocks noChangeAspect="1" noChangeArrowheads="1"/>
          </p:cNvPicPr>
          <p:nvPr/>
        </p:nvPicPr>
        <p:blipFill>
          <a:blip r:embed="rId6"/>
          <a:srcRect/>
          <a:stretch>
            <a:fillRect/>
          </a:stretch>
        </p:blipFill>
        <p:spPr bwMode="auto">
          <a:xfrm>
            <a:off x="7277100" y="3505200"/>
            <a:ext cx="1409700" cy="2552700"/>
          </a:xfrm>
          <a:prstGeom prst="rect">
            <a:avLst/>
          </a:prstGeom>
          <a:noFill/>
          <a:ln w="9525">
            <a:noFill/>
            <a:miter lim="800000"/>
            <a:headEnd/>
            <a:tailEnd/>
          </a:ln>
        </p:spPr>
      </p:pic>
      <p:sp>
        <p:nvSpPr>
          <p:cNvPr id="62476" name="TextBox 11"/>
          <p:cNvSpPr txBox="1">
            <a:spLocks noChangeArrowheads="1"/>
          </p:cNvSpPr>
          <p:nvPr/>
        </p:nvSpPr>
        <p:spPr bwMode="auto">
          <a:xfrm>
            <a:off x="6869113" y="6019800"/>
            <a:ext cx="2274887" cy="461963"/>
          </a:xfrm>
          <a:prstGeom prst="rect">
            <a:avLst/>
          </a:prstGeom>
          <a:noFill/>
          <a:ln w="9525">
            <a:noFill/>
            <a:miter lim="800000"/>
            <a:headEnd/>
            <a:tailEnd/>
          </a:ln>
        </p:spPr>
        <p:txBody>
          <a:bodyPr wrap="none">
            <a:spAutoFit/>
          </a:bodyPr>
          <a:lstStyle/>
          <a:p>
            <a:r>
              <a:rPr lang="en-US" sz="2400">
                <a:latin typeface="Cambria" pitchFamily="-107" charset="0"/>
              </a:rPr>
              <a:t>Microcontroller</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a:lstStyle/>
          <a:p>
            <a:r>
              <a:rPr lang="en-US" smtClean="0"/>
              <a:t>Version 2:</a:t>
            </a:r>
            <a:br>
              <a:rPr lang="en-US" smtClean="0"/>
            </a:br>
            <a:r>
              <a:rPr lang="en-US" smtClean="0"/>
              <a:t>Modified Platform</a:t>
            </a:r>
          </a:p>
        </p:txBody>
      </p:sp>
      <p:pic>
        <p:nvPicPr>
          <p:cNvPr id="63491" name="Picture 2"/>
          <p:cNvPicPr>
            <a:picLocks noChangeAspect="1" noChangeArrowheads="1"/>
          </p:cNvPicPr>
          <p:nvPr/>
        </p:nvPicPr>
        <p:blipFill>
          <a:blip r:embed="rId2">
            <a:lum bright="10000" contrast="10000"/>
          </a:blip>
          <a:srcRect/>
          <a:stretch>
            <a:fillRect/>
          </a:stretch>
        </p:blipFill>
        <p:spPr bwMode="auto">
          <a:xfrm>
            <a:off x="152400" y="1782763"/>
            <a:ext cx="4876800" cy="4694237"/>
          </a:xfrm>
          <a:prstGeom prst="rect">
            <a:avLst/>
          </a:prstGeom>
          <a:noFill/>
          <a:ln w="9525">
            <a:noFill/>
            <a:miter lim="800000"/>
            <a:headEnd/>
            <a:tailEnd/>
          </a:ln>
        </p:spPr>
      </p:pic>
      <p:sp>
        <p:nvSpPr>
          <p:cNvPr id="63492" name="Rectangle 3"/>
          <p:cNvSpPr txBox="1">
            <a:spLocks noChangeArrowheads="1"/>
          </p:cNvSpPr>
          <p:nvPr/>
        </p:nvSpPr>
        <p:spPr bwMode="auto">
          <a:xfrm>
            <a:off x="5334000" y="1219200"/>
            <a:ext cx="3581400" cy="5257800"/>
          </a:xfrm>
          <a:prstGeom prst="rect">
            <a:avLst/>
          </a:prstGeom>
          <a:noFill/>
          <a:ln w="9525">
            <a:noFill/>
            <a:miter lim="800000"/>
            <a:headEnd/>
            <a:tailEnd/>
          </a:ln>
        </p:spPr>
        <p:txBody>
          <a:bodyPr/>
          <a:lstStyle/>
          <a:p>
            <a:pPr marL="742950" lvl="1" indent="-285750">
              <a:spcBef>
                <a:spcPct val="20000"/>
              </a:spcBef>
              <a:buFontTx/>
              <a:buChar char="–"/>
            </a:pPr>
            <a:r>
              <a:rPr lang="en-US" sz="2400">
                <a:solidFill>
                  <a:srgbClr val="000000"/>
                </a:solidFill>
                <a:latin typeface="Cambria" pitchFamily="-107" charset="0"/>
              </a:rPr>
              <a:t>iRobot Create</a:t>
            </a:r>
            <a:br>
              <a:rPr lang="en-US" sz="2400">
                <a:solidFill>
                  <a:srgbClr val="000000"/>
                </a:solidFill>
                <a:latin typeface="Cambria" pitchFamily="-107" charset="0"/>
              </a:rPr>
            </a:br>
            <a:endParaRPr lang="en-US" sz="2400">
              <a:solidFill>
                <a:srgbClr val="000000"/>
              </a:solidFill>
              <a:latin typeface="Cambria" pitchFamily="-107" charset="0"/>
            </a:endParaRPr>
          </a:p>
          <a:p>
            <a:pPr marL="742950" lvl="1" indent="-285750">
              <a:spcBef>
                <a:spcPct val="20000"/>
              </a:spcBef>
              <a:buFontTx/>
              <a:buChar char="–"/>
            </a:pPr>
            <a:r>
              <a:rPr lang="en-US" sz="2400">
                <a:solidFill>
                  <a:srgbClr val="000000"/>
                </a:solidFill>
                <a:latin typeface="Cambria" pitchFamily="-107" charset="0"/>
              </a:rPr>
              <a:t>Luminary Micro LM3s8962 (ARM)</a:t>
            </a:r>
            <a:br>
              <a:rPr lang="en-US" sz="2400">
                <a:solidFill>
                  <a:srgbClr val="000000"/>
                </a:solidFill>
                <a:latin typeface="Cambria" pitchFamily="-107" charset="0"/>
              </a:rPr>
            </a:br>
            <a:endParaRPr lang="en-US" sz="2400">
              <a:solidFill>
                <a:srgbClr val="000000"/>
              </a:solidFill>
              <a:latin typeface="Cambria" pitchFamily="-107" charset="0"/>
            </a:endParaRPr>
          </a:p>
          <a:p>
            <a:pPr marL="742950" lvl="1" indent="-285750">
              <a:spcBef>
                <a:spcPct val="20000"/>
              </a:spcBef>
              <a:buFontTx/>
              <a:buChar char="–"/>
            </a:pPr>
            <a:r>
              <a:rPr lang="en-US" sz="2400">
                <a:solidFill>
                  <a:srgbClr val="000000"/>
                </a:solidFill>
                <a:latin typeface="Cambria" pitchFamily="-107" charset="0"/>
              </a:rPr>
              <a:t>ADXL-322 accelerometer</a:t>
            </a:r>
            <a:br>
              <a:rPr lang="en-US" sz="2400">
                <a:solidFill>
                  <a:srgbClr val="000000"/>
                </a:solidFill>
                <a:latin typeface="Cambria" pitchFamily="-107" charset="0"/>
              </a:rPr>
            </a:br>
            <a:endParaRPr lang="en-US" sz="2400">
              <a:solidFill>
                <a:srgbClr val="000000"/>
              </a:solidFill>
              <a:latin typeface="Cambria" pitchFamily="-107" charset="0"/>
            </a:endParaRPr>
          </a:p>
          <a:p>
            <a:pPr marL="742950" lvl="1" indent="-285750">
              <a:spcBef>
                <a:spcPct val="20000"/>
              </a:spcBef>
              <a:buFontTx/>
              <a:buChar char="–"/>
            </a:pPr>
            <a:r>
              <a:rPr lang="en-US" sz="2400">
                <a:solidFill>
                  <a:srgbClr val="000000"/>
                </a:solidFill>
                <a:latin typeface="Cambria" pitchFamily="-107" charset="0"/>
              </a:rPr>
              <a:t>BlueSMiRF Bluetooth radio</a:t>
            </a:r>
            <a:br>
              <a:rPr lang="en-US" sz="2400">
                <a:solidFill>
                  <a:srgbClr val="000000"/>
                </a:solidFill>
                <a:latin typeface="Cambria" pitchFamily="-107" charset="0"/>
              </a:rPr>
            </a:br>
            <a:endParaRPr lang="en-US" sz="2400">
              <a:solidFill>
                <a:srgbClr val="000000"/>
              </a:solidFill>
              <a:latin typeface="Cambria" pitchFamily="-107" charset="0"/>
            </a:endParaRPr>
          </a:p>
          <a:p>
            <a:pPr marL="742950" lvl="1" indent="-285750">
              <a:spcBef>
                <a:spcPct val="20000"/>
              </a:spcBef>
              <a:buFontTx/>
              <a:buChar char="–"/>
            </a:pPr>
            <a:r>
              <a:rPr lang="en-US" sz="2400">
                <a:solidFill>
                  <a:srgbClr val="000000"/>
                </a:solidFill>
                <a:latin typeface="Cambria" pitchFamily="-107" charset="0"/>
              </a:rPr>
              <a:t>Custom PCB for power and USB</a:t>
            </a:r>
            <a:endParaRPr lang="en-US" sz="2800">
              <a:solidFill>
                <a:srgbClr val="000000"/>
              </a:solidFill>
              <a:latin typeface="Cambria" pitchFamily="-107"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a:lstStyle/>
          <a:p>
            <a:r>
              <a:rPr lang="en-US" smtClean="0"/>
              <a:t>Structured Labs followed by</a:t>
            </a:r>
            <a:br>
              <a:rPr lang="en-US" smtClean="0"/>
            </a:br>
            <a:r>
              <a:rPr lang="en-US" smtClean="0"/>
              <a:t>Team Projects</a:t>
            </a:r>
          </a:p>
        </p:txBody>
      </p:sp>
      <p:sp>
        <p:nvSpPr>
          <p:cNvPr id="64515" name="Rectangle 3"/>
          <p:cNvSpPr txBox="1">
            <a:spLocks noChangeArrowheads="1"/>
          </p:cNvSpPr>
          <p:nvPr/>
        </p:nvSpPr>
        <p:spPr bwMode="auto">
          <a:xfrm>
            <a:off x="76200" y="1981200"/>
            <a:ext cx="2819400" cy="4800600"/>
          </a:xfrm>
          <a:prstGeom prst="rect">
            <a:avLst/>
          </a:prstGeom>
          <a:noFill/>
          <a:ln w="9525">
            <a:noFill/>
            <a:miter lim="800000"/>
            <a:headEnd/>
            <a:tailEnd/>
          </a:ln>
        </p:spPr>
        <p:txBody>
          <a:bodyPr/>
          <a:lstStyle/>
          <a:p>
            <a:pPr marL="342900" indent="-342900">
              <a:spcBef>
                <a:spcPct val="20000"/>
              </a:spcBef>
              <a:buFontTx/>
              <a:buChar char="•"/>
            </a:pPr>
            <a:r>
              <a:rPr lang="en-US" sz="2400">
                <a:solidFill>
                  <a:srgbClr val="336666"/>
                </a:solidFill>
                <a:latin typeface="Cambria" pitchFamily="-107" charset="0"/>
              </a:rPr>
              <a:t>Hill Climb</a:t>
            </a:r>
          </a:p>
          <a:p>
            <a:pPr marL="742950" lvl="1" indent="-285750">
              <a:spcBef>
                <a:spcPct val="20000"/>
              </a:spcBef>
              <a:buFontTx/>
              <a:buChar char="–"/>
            </a:pPr>
            <a:r>
              <a:rPr lang="en-US" sz="2000">
                <a:solidFill>
                  <a:srgbClr val="000000"/>
                </a:solidFill>
                <a:latin typeface="Cambria" pitchFamily="-107" charset="0"/>
              </a:rPr>
              <a:t>Sensing</a:t>
            </a:r>
          </a:p>
          <a:p>
            <a:pPr marL="742950" lvl="1" indent="-285750">
              <a:spcBef>
                <a:spcPct val="20000"/>
              </a:spcBef>
              <a:buFontTx/>
              <a:buChar char="–"/>
            </a:pPr>
            <a:r>
              <a:rPr lang="en-US" sz="2000">
                <a:solidFill>
                  <a:srgbClr val="000000"/>
                </a:solidFill>
                <a:latin typeface="Cambria" pitchFamily="-107" charset="0"/>
              </a:rPr>
              <a:t>Controller synthesis</a:t>
            </a:r>
          </a:p>
          <a:p>
            <a:pPr marL="742950" lvl="1" indent="-285750">
              <a:spcBef>
                <a:spcPct val="20000"/>
              </a:spcBef>
              <a:buFontTx/>
              <a:buChar char="–"/>
            </a:pPr>
            <a:r>
              <a:rPr lang="en-US" sz="2000">
                <a:solidFill>
                  <a:srgbClr val="000000"/>
                </a:solidFill>
                <a:latin typeface="Cambria" pitchFamily="-107" charset="0"/>
              </a:rPr>
              <a:t>Actuation</a:t>
            </a:r>
            <a:br>
              <a:rPr lang="en-US" sz="2000">
                <a:solidFill>
                  <a:srgbClr val="000000"/>
                </a:solidFill>
                <a:latin typeface="Cambria" pitchFamily="-107" charset="0"/>
              </a:rPr>
            </a:br>
            <a:endParaRPr lang="en-US" sz="2000">
              <a:solidFill>
                <a:srgbClr val="000000"/>
              </a:solidFill>
              <a:latin typeface="Cambria" pitchFamily="-107" charset="0"/>
            </a:endParaRPr>
          </a:p>
          <a:p>
            <a:pPr marL="342900" indent="-342900">
              <a:spcBef>
                <a:spcPct val="20000"/>
              </a:spcBef>
              <a:buFontTx/>
              <a:buChar char="•"/>
            </a:pPr>
            <a:r>
              <a:rPr lang="en-US" sz="2400">
                <a:solidFill>
                  <a:srgbClr val="336666"/>
                </a:solidFill>
                <a:latin typeface="Cambria" pitchFamily="-107" charset="0"/>
              </a:rPr>
              <a:t>Embedded C</a:t>
            </a:r>
            <a:br>
              <a:rPr lang="en-US" sz="2400">
                <a:solidFill>
                  <a:srgbClr val="336666"/>
                </a:solidFill>
                <a:latin typeface="Cambria" pitchFamily="-107" charset="0"/>
              </a:rPr>
            </a:br>
            <a:endParaRPr lang="en-US" sz="2400">
              <a:solidFill>
                <a:srgbClr val="336666"/>
              </a:solidFill>
              <a:latin typeface="Cambria" pitchFamily="-107" charset="0"/>
            </a:endParaRPr>
          </a:p>
          <a:p>
            <a:pPr marL="342900" indent="-342900">
              <a:spcBef>
                <a:spcPct val="20000"/>
              </a:spcBef>
              <a:buFontTx/>
              <a:buChar char="•"/>
            </a:pPr>
            <a:r>
              <a:rPr lang="en-US" sz="2400">
                <a:solidFill>
                  <a:srgbClr val="336666"/>
                </a:solidFill>
                <a:latin typeface="Cambria" pitchFamily="-107" charset="0"/>
              </a:rPr>
              <a:t>NI LabVIEW</a:t>
            </a:r>
          </a:p>
          <a:p>
            <a:pPr marL="742950" lvl="1" indent="-285750">
              <a:spcBef>
                <a:spcPct val="20000"/>
              </a:spcBef>
              <a:buFontTx/>
              <a:buChar char="–"/>
            </a:pPr>
            <a:r>
              <a:rPr lang="en-US" sz="2000">
                <a:solidFill>
                  <a:srgbClr val="000000"/>
                </a:solidFill>
                <a:latin typeface="Cambria" pitchFamily="-107" charset="0"/>
              </a:rPr>
              <a:t>Simulation</a:t>
            </a:r>
          </a:p>
          <a:p>
            <a:pPr marL="742950" lvl="1" indent="-285750">
              <a:spcBef>
                <a:spcPct val="20000"/>
              </a:spcBef>
              <a:buFontTx/>
              <a:buChar char="–"/>
            </a:pPr>
            <a:r>
              <a:rPr lang="en-US" sz="2000">
                <a:solidFill>
                  <a:srgbClr val="000000"/>
                </a:solidFill>
                <a:latin typeface="Cambria" pitchFamily="-107" charset="0"/>
              </a:rPr>
              <a:t>Embedded</a:t>
            </a:r>
            <a:endParaRPr lang="en-US" sz="2400">
              <a:solidFill>
                <a:srgbClr val="000000"/>
              </a:solidFill>
              <a:latin typeface="Cambria" pitchFamily="-107" charset="0"/>
            </a:endParaRPr>
          </a:p>
        </p:txBody>
      </p:sp>
      <p:pic>
        <p:nvPicPr>
          <p:cNvPr id="64516" name="Picture 5"/>
          <p:cNvPicPr>
            <a:picLocks noChangeAspect="1" noChangeArrowheads="1"/>
          </p:cNvPicPr>
          <p:nvPr/>
        </p:nvPicPr>
        <p:blipFill>
          <a:blip r:embed="rId2"/>
          <a:srcRect/>
          <a:stretch>
            <a:fillRect/>
          </a:stretch>
        </p:blipFill>
        <p:spPr bwMode="auto">
          <a:xfrm>
            <a:off x="2971800" y="2638425"/>
            <a:ext cx="5981700" cy="21621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16"/>
          <p:cNvSpPr>
            <a:spLocks noChangeArrowheads="1"/>
          </p:cNvSpPr>
          <p:nvPr/>
        </p:nvSpPr>
        <p:spPr bwMode="auto">
          <a:xfrm>
            <a:off x="0" y="0"/>
            <a:ext cx="9144000" cy="68580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65539" name="Rectangle 5"/>
          <p:cNvSpPr>
            <a:spLocks noGrp="1" noChangeArrowheads="1"/>
          </p:cNvSpPr>
          <p:nvPr>
            <p:ph type="title"/>
          </p:nvPr>
        </p:nvSpPr>
        <p:spPr>
          <a:xfrm>
            <a:off x="304800" y="190500"/>
            <a:ext cx="8610600" cy="1527175"/>
          </a:xfrm>
        </p:spPr>
        <p:txBody>
          <a:bodyPr/>
          <a:lstStyle/>
          <a:p>
            <a:pPr eaLnBrk="1" hangingPunct="1"/>
            <a:r>
              <a:rPr lang="en-US" smtClean="0"/>
              <a:t>Example Class Project</a:t>
            </a:r>
          </a:p>
        </p:txBody>
      </p:sp>
      <p:pic>
        <p:nvPicPr>
          <p:cNvPr id="65540" name="Wiicegbot.wmv" descr="/Users/eal/Archive/Videos/eecs124/wiicegbot_new.avi">
            <a:hlinkClick r:id="" action="ppaction://media"/>
          </p:cNvPr>
          <p:cNvPicPr>
            <a:picLocks noChangeAspect="1" noChangeArrowheads="1"/>
          </p:cNvPicPr>
          <p:nvPr>
            <p:ph idx="1"/>
            <a:quickTimeFile r:link="rId1"/>
          </p:nvPr>
        </p:nvPicPr>
        <p:blipFill>
          <a:blip r:embed="rId3"/>
          <a:srcRect/>
          <a:stretch>
            <a:fillRect/>
          </a:stretch>
        </p:blipFill>
        <p:spPr>
          <a:xfrm>
            <a:off x="381000" y="1981200"/>
            <a:ext cx="3048000" cy="2286000"/>
          </a:xfrm>
        </p:spPr>
      </p:pic>
      <p:pic>
        <p:nvPicPr>
          <p:cNvPr id="65541" name="Picture 11"/>
          <p:cNvPicPr>
            <a:picLocks noChangeAspect="1" noChangeArrowheads="1"/>
          </p:cNvPicPr>
          <p:nvPr/>
        </p:nvPicPr>
        <p:blipFill>
          <a:blip r:embed="rId4"/>
          <a:srcRect/>
          <a:stretch>
            <a:fillRect/>
          </a:stretch>
        </p:blipFill>
        <p:spPr bwMode="auto">
          <a:xfrm>
            <a:off x="4789488" y="1514475"/>
            <a:ext cx="4354512" cy="5343525"/>
          </a:xfrm>
          <a:prstGeom prst="rect">
            <a:avLst/>
          </a:prstGeom>
          <a:noFill/>
          <a:ln w="9525">
            <a:noFill/>
            <a:miter lim="800000"/>
            <a:headEnd/>
            <a:tailEnd/>
          </a:ln>
        </p:spPr>
      </p:pic>
      <p:pic>
        <p:nvPicPr>
          <p:cNvPr id="65542" name="Picture 10"/>
          <p:cNvPicPr>
            <a:picLocks noChangeAspect="1" noChangeArrowheads="1"/>
          </p:cNvPicPr>
          <p:nvPr/>
        </p:nvPicPr>
        <p:blipFill>
          <a:blip r:embed="rId5"/>
          <a:srcRect/>
          <a:stretch>
            <a:fillRect/>
          </a:stretch>
        </p:blipFill>
        <p:spPr bwMode="auto">
          <a:xfrm>
            <a:off x="6657975" y="0"/>
            <a:ext cx="2486025" cy="1885950"/>
          </a:xfrm>
          <a:prstGeom prst="rect">
            <a:avLst/>
          </a:prstGeom>
          <a:noFill/>
          <a:ln w="9525">
            <a:noFill/>
            <a:miter lim="800000"/>
            <a:headEnd/>
            <a:tailEnd/>
          </a:ln>
        </p:spPr>
      </p:pic>
      <p:sp>
        <p:nvSpPr>
          <p:cNvPr id="65543" name="Line 12"/>
          <p:cNvSpPr>
            <a:spLocks noChangeShapeType="1"/>
          </p:cNvSpPr>
          <p:nvPr/>
        </p:nvSpPr>
        <p:spPr bwMode="auto">
          <a:xfrm flipH="1">
            <a:off x="4876800" y="0"/>
            <a:ext cx="1752600" cy="1676400"/>
          </a:xfrm>
          <a:prstGeom prst="line">
            <a:avLst/>
          </a:prstGeom>
          <a:noFill/>
          <a:ln w="9525">
            <a:solidFill>
              <a:schemeClr val="tx1"/>
            </a:solidFill>
            <a:round/>
            <a:headEnd/>
            <a:tailEnd/>
          </a:ln>
        </p:spPr>
        <p:txBody>
          <a:bodyPr/>
          <a:lstStyle/>
          <a:p>
            <a:endParaRPr lang="en-US"/>
          </a:p>
        </p:txBody>
      </p:sp>
      <p:sp>
        <p:nvSpPr>
          <p:cNvPr id="65544" name="Line 13"/>
          <p:cNvSpPr>
            <a:spLocks noChangeShapeType="1"/>
          </p:cNvSpPr>
          <p:nvPr/>
        </p:nvSpPr>
        <p:spPr bwMode="auto">
          <a:xfrm flipV="1">
            <a:off x="6096000" y="1905000"/>
            <a:ext cx="3048000" cy="533400"/>
          </a:xfrm>
          <a:prstGeom prst="line">
            <a:avLst/>
          </a:prstGeom>
          <a:noFill/>
          <a:ln w="9525">
            <a:solidFill>
              <a:schemeClr val="tx1"/>
            </a:solidFill>
            <a:round/>
            <a:headEnd/>
            <a:tailEnd/>
          </a:ln>
        </p:spPr>
        <p:txBody>
          <a:bodyPr/>
          <a:lstStyle/>
          <a:p>
            <a:endParaRPr lang="en-US"/>
          </a:p>
        </p:txBody>
      </p:sp>
      <p:sp>
        <p:nvSpPr>
          <p:cNvPr id="65545" name="Text Box 9"/>
          <p:cNvSpPr txBox="1">
            <a:spLocks noChangeArrowheads="1"/>
          </p:cNvSpPr>
          <p:nvPr/>
        </p:nvSpPr>
        <p:spPr bwMode="auto">
          <a:xfrm>
            <a:off x="6858000" y="3886200"/>
            <a:ext cx="1416050" cy="336550"/>
          </a:xfrm>
          <a:prstGeom prst="rect">
            <a:avLst/>
          </a:prstGeom>
          <a:noFill/>
          <a:ln w="9525">
            <a:noFill/>
            <a:miter lim="800000"/>
            <a:headEnd/>
            <a:tailEnd/>
          </a:ln>
        </p:spPr>
        <p:txBody>
          <a:bodyPr wrap="none">
            <a:spAutoFit/>
          </a:bodyPr>
          <a:lstStyle/>
          <a:p>
            <a:r>
              <a:rPr lang="en-US"/>
              <a:t>May 16, 2008</a:t>
            </a:r>
          </a:p>
        </p:txBody>
      </p:sp>
      <p:sp>
        <p:nvSpPr>
          <p:cNvPr id="65546" name="Text Box 15"/>
          <p:cNvSpPr txBox="1">
            <a:spLocks noChangeArrowheads="1"/>
          </p:cNvSpPr>
          <p:nvPr/>
        </p:nvSpPr>
        <p:spPr bwMode="auto">
          <a:xfrm>
            <a:off x="288925" y="4479925"/>
            <a:ext cx="4283075" cy="2032000"/>
          </a:xfrm>
          <a:prstGeom prst="rect">
            <a:avLst/>
          </a:prstGeom>
          <a:noFill/>
          <a:ln w="9525">
            <a:noFill/>
            <a:miter lim="800000"/>
            <a:headEnd/>
            <a:tailEnd/>
          </a:ln>
        </p:spPr>
        <p:txBody>
          <a:bodyPr>
            <a:spAutoFit/>
          </a:bodyPr>
          <a:lstStyle/>
          <a:p>
            <a:r>
              <a:rPr lang="en-US" sz="1800"/>
              <a:t>One of the five project teams developed a balancing robot inspired by the Segway. They used a Nintendo Wiimote as a controller communicating with a PC running LabVIEW, communicating with a Lego Mindstorm NXT, which they programmed in 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61982" fill="hold"/>
                                        <p:tgtEl>
                                          <p:spTgt spid="6554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65540"/>
                </p:tgtEl>
              </p:cMediaNode>
            </p:video>
            <p:seq concurrent="1" nextAc="seek">
              <p:cTn id="8" restart="whenNotActive" fill="hold" evtFilter="cancelBubble" nodeType="interactiveSeq">
                <p:stCondLst>
                  <p:cond evt="onClick" delay="0">
                    <p:tgtEl>
                      <p:spTgt spid="6554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5540"/>
                                        </p:tgtEl>
                                      </p:cBhvr>
                                    </p:cmd>
                                  </p:childTnLst>
                                </p:cTn>
                              </p:par>
                            </p:childTnLst>
                          </p:cTn>
                        </p:par>
                      </p:childTnLst>
                    </p:cTn>
                  </p:par>
                </p:childTnLst>
              </p:cTn>
              <p:nextCondLst>
                <p:cond evt="onClick" delay="0">
                  <p:tgtEl>
                    <p:spTgt spid="65540"/>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ChangeArrowheads="1"/>
          </p:cNvSpPr>
          <p:nvPr/>
        </p:nvSpPr>
        <p:spPr bwMode="auto">
          <a:xfrm>
            <a:off x="0" y="0"/>
            <a:ext cx="9144000" cy="68580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66563" name="Rectangle 5"/>
          <p:cNvSpPr>
            <a:spLocks noGrp="1" noChangeArrowheads="1"/>
          </p:cNvSpPr>
          <p:nvPr>
            <p:ph type="title"/>
          </p:nvPr>
        </p:nvSpPr>
        <p:spPr>
          <a:xfrm>
            <a:off x="228600" y="190500"/>
            <a:ext cx="8686800" cy="1527175"/>
          </a:xfrm>
        </p:spPr>
        <p:txBody>
          <a:bodyPr/>
          <a:lstStyle/>
          <a:p>
            <a:r>
              <a:rPr lang="en-US" smtClean="0"/>
              <a:t>Example Class Project</a:t>
            </a:r>
          </a:p>
        </p:txBody>
      </p:sp>
      <p:pic>
        <p:nvPicPr>
          <p:cNvPr id="66564" name="iRobotMap.wmv" descr="/Users/eal/Archive/Videos/eecs124/irobotmap.wmv">
            <a:hlinkClick r:id="" action="ppaction://media"/>
          </p:cNvPr>
          <p:cNvPicPr>
            <a:picLocks noChangeAspect="1" noChangeArrowheads="1"/>
          </p:cNvPicPr>
          <p:nvPr>
            <p:ph idx="1"/>
            <a:quickTimeFile r:link="rId1"/>
          </p:nvPr>
        </p:nvPicPr>
        <p:blipFill>
          <a:blip r:embed="rId3"/>
          <a:srcRect/>
          <a:stretch>
            <a:fillRect/>
          </a:stretch>
        </p:blipFill>
        <p:spPr>
          <a:xfrm>
            <a:off x="304800" y="1295400"/>
            <a:ext cx="3048000" cy="2286000"/>
          </a:xfrm>
        </p:spPr>
      </p:pic>
      <p:sp>
        <p:nvSpPr>
          <p:cNvPr id="66565" name="Text Box 8"/>
          <p:cNvSpPr txBox="1">
            <a:spLocks noChangeArrowheads="1"/>
          </p:cNvSpPr>
          <p:nvPr/>
        </p:nvSpPr>
        <p:spPr bwMode="auto">
          <a:xfrm>
            <a:off x="228600" y="3810000"/>
            <a:ext cx="4343400" cy="2811463"/>
          </a:xfrm>
          <a:prstGeom prst="rect">
            <a:avLst/>
          </a:prstGeom>
          <a:noFill/>
          <a:ln w="9525">
            <a:noFill/>
            <a:miter lim="800000"/>
            <a:headEnd/>
            <a:tailEnd/>
          </a:ln>
        </p:spPr>
        <p:txBody>
          <a:bodyPr>
            <a:spAutoFit/>
          </a:bodyPr>
          <a:lstStyle/>
          <a:p>
            <a:pPr>
              <a:spcBef>
                <a:spcPct val="50000"/>
              </a:spcBef>
            </a:pPr>
            <a:r>
              <a:rPr lang="en-US" sz="1800" b="1" i="0">
                <a:solidFill>
                  <a:schemeClr val="tx2"/>
                </a:solidFill>
              </a:rPr>
              <a:t>Robot Mapping &amp; Localization</a:t>
            </a:r>
            <a:r>
              <a:rPr lang="en-US" sz="1800" b="1"/>
              <a:t> </a:t>
            </a:r>
          </a:p>
          <a:p>
            <a:pPr>
              <a:spcBef>
                <a:spcPct val="50000"/>
              </a:spcBef>
            </a:pPr>
            <a:r>
              <a:rPr lang="en-US"/>
              <a:t>Richard Schmidt </a:t>
            </a:r>
            <a:br>
              <a:rPr lang="en-US"/>
            </a:br>
            <a:r>
              <a:rPr lang="en-US"/>
              <a:t>Christopher Bakker</a:t>
            </a:r>
            <a:br>
              <a:rPr lang="en-US"/>
            </a:br>
            <a:r>
              <a:rPr lang="en-US"/>
              <a:t>Jeff C. Jensen</a:t>
            </a:r>
          </a:p>
          <a:p>
            <a:pPr>
              <a:spcBef>
                <a:spcPct val="50000"/>
              </a:spcBef>
            </a:pPr>
            <a:r>
              <a:rPr lang="en-US" i="0"/>
              <a:t>This team mounted lasers and photo detectors on instances of the iRobot Create platform and programmed the robots to identify their positions relative to one another and communicate wirelessly to a mapping application running on a host PC.</a:t>
            </a:r>
          </a:p>
        </p:txBody>
      </p:sp>
      <p:pic>
        <p:nvPicPr>
          <p:cNvPr id="66566" name="Picture 9"/>
          <p:cNvPicPr>
            <a:picLocks noChangeAspect="1" noChangeArrowheads="1"/>
          </p:cNvPicPr>
          <p:nvPr/>
        </p:nvPicPr>
        <p:blipFill>
          <a:blip r:embed="rId4"/>
          <a:srcRect/>
          <a:stretch>
            <a:fillRect/>
          </a:stretch>
        </p:blipFill>
        <p:spPr bwMode="auto">
          <a:xfrm>
            <a:off x="5181600" y="3544888"/>
            <a:ext cx="3810000" cy="3133725"/>
          </a:xfrm>
          <a:prstGeom prst="rect">
            <a:avLst/>
          </a:prstGeom>
          <a:noFill/>
          <a:ln w="9525">
            <a:noFill/>
            <a:miter lim="800000"/>
            <a:headEnd/>
            <a:tailEnd/>
          </a:ln>
        </p:spPr>
      </p:pic>
      <p:pic>
        <p:nvPicPr>
          <p:cNvPr id="66567" name="Picture 10"/>
          <p:cNvPicPr>
            <a:picLocks noChangeAspect="1" noChangeArrowheads="1"/>
          </p:cNvPicPr>
          <p:nvPr/>
        </p:nvPicPr>
        <p:blipFill>
          <a:blip r:embed="rId5"/>
          <a:srcRect/>
          <a:stretch>
            <a:fillRect/>
          </a:stretch>
        </p:blipFill>
        <p:spPr bwMode="auto">
          <a:xfrm>
            <a:off x="5181600" y="152400"/>
            <a:ext cx="3810000" cy="317658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9504" fill="hold"/>
                                        <p:tgtEl>
                                          <p:spTgt spid="6656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66564"/>
                </p:tgtEl>
              </p:cMediaNode>
            </p:video>
            <p:seq concurrent="1" nextAc="seek">
              <p:cTn id="8" restart="whenNotActive" fill="hold" evtFilter="cancelBubble" nodeType="interactiveSeq">
                <p:stCondLst>
                  <p:cond evt="onClick" delay="0">
                    <p:tgtEl>
                      <p:spTgt spid="6656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6564"/>
                                        </p:tgtEl>
                                      </p:cBhvr>
                                    </p:cmd>
                                  </p:childTnLst>
                                </p:cTn>
                              </p:par>
                            </p:childTnLst>
                          </p:cTn>
                        </p:par>
                      </p:childTnLst>
                    </p:cTn>
                  </p:par>
                </p:childTnLst>
              </p:cTn>
              <p:nextCondLst>
                <p:cond evt="onClick" delay="0">
                  <p:tgtEl>
                    <p:spTgt spid="66564"/>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Content Placeholder 2"/>
          <p:cNvSpPr>
            <a:spLocks noGrp="1"/>
          </p:cNvSpPr>
          <p:nvPr>
            <p:ph idx="1"/>
          </p:nvPr>
        </p:nvSpPr>
        <p:spPr>
          <a:xfrm>
            <a:off x="152400" y="1905000"/>
            <a:ext cx="2667000" cy="4572000"/>
          </a:xfrm>
        </p:spPr>
        <p:txBody>
          <a:bodyPr/>
          <a:lstStyle/>
          <a:p>
            <a:pPr marL="0" indent="0" eaLnBrk="1" hangingPunct="1">
              <a:buFont typeface="Wingdings" pitchFamily="-107" charset="2"/>
              <a:buNone/>
            </a:pPr>
            <a:r>
              <a:rPr lang="en-US" sz="2000" smtClean="0"/>
              <a:t>The Prerequisite Challenge</a:t>
            </a:r>
          </a:p>
          <a:p>
            <a:pPr marL="0" indent="0" eaLnBrk="1" hangingPunct="1"/>
            <a:r>
              <a:rPr lang="en-US" sz="2000" smtClean="0">
                <a:solidFill>
                  <a:srgbClr val="800000"/>
                </a:solidFill>
              </a:rPr>
              <a:t> Core course</a:t>
            </a:r>
          </a:p>
        </p:txBody>
      </p:sp>
      <p:pic>
        <p:nvPicPr>
          <p:cNvPr id="67587" name="Picture 3"/>
          <p:cNvPicPr>
            <a:picLocks noChangeAspect="1"/>
          </p:cNvPicPr>
          <p:nvPr/>
        </p:nvPicPr>
        <p:blipFill>
          <a:blip r:embed="rId2"/>
          <a:srcRect/>
          <a:stretch>
            <a:fillRect/>
          </a:stretch>
        </p:blipFill>
        <p:spPr bwMode="auto">
          <a:xfrm>
            <a:off x="2895600" y="0"/>
            <a:ext cx="6426200" cy="6908800"/>
          </a:xfrm>
          <a:prstGeom prst="rect">
            <a:avLst/>
          </a:prstGeom>
          <a:noFill/>
          <a:ln w="9525">
            <a:noFill/>
            <a:miter lim="800000"/>
            <a:headEnd/>
            <a:tailEnd/>
          </a:ln>
        </p:spPr>
      </p:pic>
      <p:sp>
        <p:nvSpPr>
          <p:cNvPr id="5" name="TextBox 4"/>
          <p:cNvSpPr txBox="1">
            <a:spLocks noChangeArrowheads="1"/>
          </p:cNvSpPr>
          <p:nvPr/>
        </p:nvSpPr>
        <p:spPr bwMode="auto">
          <a:xfrm>
            <a:off x="5715000" y="3429000"/>
            <a:ext cx="3427413" cy="338138"/>
          </a:xfrm>
          <a:prstGeom prst="rect">
            <a:avLst/>
          </a:prstGeom>
          <a:solidFill>
            <a:srgbClr val="FFFFFF">
              <a:alpha val="74117"/>
            </a:srgbClr>
          </a:solidFill>
          <a:ln w="9525">
            <a:noFill/>
            <a:miter lim="800000"/>
            <a:headEnd/>
            <a:tailEnd/>
          </a:ln>
        </p:spPr>
        <p:txBody>
          <a:bodyPr wrap="none">
            <a:spAutoFit/>
          </a:bodyPr>
          <a:lstStyle/>
          <a:p>
            <a:r>
              <a:rPr lang="en-US">
                <a:solidFill>
                  <a:srgbClr val="800000"/>
                </a:solidFill>
              </a:rPr>
              <a:t>Introduction to Embedded Systems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5"/>
          <p:cNvPicPr>
            <a:picLocks noChangeAspect="1"/>
          </p:cNvPicPr>
          <p:nvPr/>
        </p:nvPicPr>
        <p:blipFill>
          <a:blip r:embed="rId2"/>
          <a:srcRect/>
          <a:stretch>
            <a:fillRect/>
          </a:stretch>
        </p:blipFill>
        <p:spPr bwMode="auto">
          <a:xfrm>
            <a:off x="2781300" y="0"/>
            <a:ext cx="6362700" cy="6985000"/>
          </a:xfrm>
          <a:prstGeom prst="rect">
            <a:avLst/>
          </a:prstGeom>
          <a:noFill/>
          <a:ln w="9525">
            <a:noFill/>
            <a:miter lim="800000"/>
            <a:headEnd/>
            <a:tailEnd/>
          </a:ln>
        </p:spPr>
      </p:pic>
      <p:sp>
        <p:nvSpPr>
          <p:cNvPr id="68611" name="Title 1"/>
          <p:cNvSpPr>
            <a:spLocks noGrp="1"/>
          </p:cNvSpPr>
          <p:nvPr>
            <p:ph type="title"/>
          </p:nvPr>
        </p:nvSpPr>
        <p:spPr/>
        <p:txBody>
          <a:bodyPr/>
          <a:lstStyle/>
          <a:p>
            <a:pPr eaLnBrk="1" hangingPunct="1"/>
            <a:endParaRPr lang="en-US" smtClean="0"/>
          </a:p>
        </p:txBody>
      </p:sp>
      <p:sp>
        <p:nvSpPr>
          <p:cNvPr id="68612" name="Content Placeholder 2"/>
          <p:cNvSpPr>
            <a:spLocks noGrp="1"/>
          </p:cNvSpPr>
          <p:nvPr>
            <p:ph idx="1"/>
          </p:nvPr>
        </p:nvSpPr>
        <p:spPr>
          <a:xfrm>
            <a:off x="152400" y="1905000"/>
            <a:ext cx="2667000" cy="4572000"/>
          </a:xfrm>
        </p:spPr>
        <p:txBody>
          <a:bodyPr/>
          <a:lstStyle/>
          <a:p>
            <a:pPr marL="0" indent="0" eaLnBrk="1" hangingPunct="1">
              <a:buFont typeface="Wingdings" pitchFamily="-107" charset="2"/>
              <a:buNone/>
            </a:pPr>
            <a:r>
              <a:rPr lang="en-US" sz="2000" smtClean="0"/>
              <a:t>The Prerequisite Challenge</a:t>
            </a:r>
          </a:p>
          <a:p>
            <a:pPr marL="0" indent="0" eaLnBrk="1" hangingPunct="1"/>
            <a:r>
              <a:rPr lang="en-US" sz="2000" smtClean="0">
                <a:solidFill>
                  <a:srgbClr val="800000"/>
                </a:solidFill>
              </a:rPr>
              <a:t> Core course</a:t>
            </a:r>
          </a:p>
          <a:p>
            <a:pPr marL="0" indent="0" eaLnBrk="1" hangingPunct="1"/>
            <a:r>
              <a:rPr lang="en-US" sz="2000" smtClean="0">
                <a:solidFill>
                  <a:srgbClr val="800000"/>
                </a:solidFill>
              </a:rPr>
              <a:t> </a:t>
            </a:r>
            <a:r>
              <a:rPr lang="en-US" sz="2000" smtClean="0">
                <a:solidFill>
                  <a:srgbClr val="0000FF"/>
                </a:solidFill>
              </a:rPr>
              <a:t>Prerequisites</a:t>
            </a:r>
          </a:p>
        </p:txBody>
      </p:sp>
      <p:sp>
        <p:nvSpPr>
          <p:cNvPr id="68613" name="TextBox 4"/>
          <p:cNvSpPr txBox="1">
            <a:spLocks noChangeArrowheads="1"/>
          </p:cNvSpPr>
          <p:nvPr/>
        </p:nvSpPr>
        <p:spPr bwMode="auto">
          <a:xfrm>
            <a:off x="3429000" y="1371600"/>
            <a:ext cx="4932363" cy="338138"/>
          </a:xfrm>
          <a:prstGeom prst="rect">
            <a:avLst/>
          </a:prstGeom>
          <a:solidFill>
            <a:srgbClr val="FFFFFF">
              <a:alpha val="74117"/>
            </a:srgbClr>
          </a:solidFill>
          <a:ln w="9525">
            <a:noFill/>
            <a:miter lim="800000"/>
            <a:headEnd/>
            <a:tailEnd/>
          </a:ln>
        </p:spPr>
        <p:txBody>
          <a:bodyPr wrap="none">
            <a:spAutoFit/>
          </a:bodyPr>
          <a:lstStyle/>
          <a:p>
            <a:r>
              <a:rPr lang="en-US">
                <a:solidFill>
                  <a:srgbClr val="800000"/>
                </a:solidFill>
              </a:rPr>
              <a:t>Structure and Interpretation of Signals and Systems</a:t>
            </a:r>
          </a:p>
        </p:txBody>
      </p:sp>
      <p:sp>
        <p:nvSpPr>
          <p:cNvPr id="68614" name="TextBox 6"/>
          <p:cNvSpPr txBox="1">
            <a:spLocks noChangeArrowheads="1"/>
          </p:cNvSpPr>
          <p:nvPr/>
        </p:nvSpPr>
        <p:spPr bwMode="auto">
          <a:xfrm>
            <a:off x="5334000" y="5410200"/>
            <a:ext cx="2001838" cy="338138"/>
          </a:xfrm>
          <a:prstGeom prst="rect">
            <a:avLst/>
          </a:prstGeom>
          <a:solidFill>
            <a:srgbClr val="FFFFFF">
              <a:alpha val="74117"/>
            </a:srgbClr>
          </a:solidFill>
          <a:ln w="9525">
            <a:noFill/>
            <a:miter lim="800000"/>
            <a:headEnd/>
            <a:tailEnd/>
          </a:ln>
        </p:spPr>
        <p:txBody>
          <a:bodyPr wrap="none">
            <a:spAutoFit/>
          </a:bodyPr>
          <a:lstStyle/>
          <a:p>
            <a:r>
              <a:rPr lang="en-US">
                <a:solidFill>
                  <a:srgbClr val="800000"/>
                </a:solidFill>
              </a:rPr>
              <a:t>Machine Structures</a:t>
            </a:r>
          </a:p>
        </p:txBody>
      </p:sp>
      <p:sp>
        <p:nvSpPr>
          <p:cNvPr id="68615" name="TextBox 7"/>
          <p:cNvSpPr txBox="1">
            <a:spLocks noChangeArrowheads="1"/>
          </p:cNvSpPr>
          <p:nvPr/>
        </p:nvSpPr>
        <p:spPr bwMode="auto">
          <a:xfrm>
            <a:off x="533400" y="6096000"/>
            <a:ext cx="4316413" cy="338138"/>
          </a:xfrm>
          <a:prstGeom prst="rect">
            <a:avLst/>
          </a:prstGeom>
          <a:solidFill>
            <a:srgbClr val="FFFFFF">
              <a:alpha val="74117"/>
            </a:srgbClr>
          </a:solidFill>
          <a:ln w="9525">
            <a:noFill/>
            <a:miter lim="800000"/>
            <a:headEnd/>
            <a:tailEnd/>
          </a:ln>
        </p:spPr>
        <p:txBody>
          <a:bodyPr wrap="none">
            <a:spAutoFit/>
          </a:bodyPr>
          <a:lstStyle/>
          <a:p>
            <a:r>
              <a:rPr lang="en-US">
                <a:solidFill>
                  <a:srgbClr val="800000"/>
                </a:solidFill>
              </a:rPr>
              <a:t>Discrete Mathematics and Probability Theory</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8"/>
          <p:cNvPicPr>
            <a:picLocks noChangeAspect="1"/>
          </p:cNvPicPr>
          <p:nvPr/>
        </p:nvPicPr>
        <p:blipFill>
          <a:blip r:embed="rId2"/>
          <a:srcRect/>
          <a:stretch>
            <a:fillRect/>
          </a:stretch>
        </p:blipFill>
        <p:spPr bwMode="auto">
          <a:xfrm>
            <a:off x="2768600" y="0"/>
            <a:ext cx="6375400" cy="6934200"/>
          </a:xfrm>
          <a:prstGeom prst="rect">
            <a:avLst/>
          </a:prstGeom>
          <a:noFill/>
          <a:ln w="9525">
            <a:noFill/>
            <a:miter lim="800000"/>
            <a:headEnd/>
            <a:tailEnd/>
          </a:ln>
        </p:spPr>
      </p:pic>
      <p:sp>
        <p:nvSpPr>
          <p:cNvPr id="3" name="Content Placeholder 2"/>
          <p:cNvSpPr>
            <a:spLocks noGrp="1"/>
          </p:cNvSpPr>
          <p:nvPr>
            <p:ph idx="1"/>
          </p:nvPr>
        </p:nvSpPr>
        <p:spPr>
          <a:xfrm>
            <a:off x="152400" y="1905000"/>
            <a:ext cx="2667000" cy="4572000"/>
          </a:xfrm>
        </p:spPr>
        <p:txBody>
          <a:bodyPr/>
          <a:lstStyle/>
          <a:p>
            <a:pPr marL="0" indent="0" eaLnBrk="1" hangingPunct="1">
              <a:buFont typeface="Wingdings" pitchFamily="-106" charset="2"/>
              <a:buNone/>
              <a:defRPr/>
            </a:pPr>
            <a:r>
              <a:rPr lang="en-US" sz="2000" dirty="0" smtClean="0"/>
              <a:t>The Prerequisite Challenge</a:t>
            </a:r>
          </a:p>
          <a:p>
            <a:pPr marL="0" indent="0" eaLnBrk="1" hangingPunct="1">
              <a:buFont typeface="Wingdings" pitchFamily="-106" charset="2"/>
              <a:buChar char="¢"/>
              <a:defRPr/>
            </a:pPr>
            <a:r>
              <a:rPr lang="en-US" sz="2000" dirty="0" smtClean="0">
                <a:solidFill>
                  <a:srgbClr val="800000"/>
                </a:solidFill>
              </a:rPr>
              <a:t> Core course</a:t>
            </a:r>
          </a:p>
          <a:p>
            <a:pPr marL="0" indent="0" eaLnBrk="1" hangingPunct="1">
              <a:buFont typeface="Wingdings" pitchFamily="-106" charset="2"/>
              <a:buChar char="¢"/>
              <a:defRPr/>
            </a:pPr>
            <a:r>
              <a:rPr lang="en-US" sz="2000" dirty="0" smtClean="0">
                <a:solidFill>
                  <a:srgbClr val="800000"/>
                </a:solidFill>
              </a:rPr>
              <a:t> </a:t>
            </a:r>
            <a:r>
              <a:rPr lang="en-US" sz="2000" dirty="0" smtClean="0">
                <a:solidFill>
                  <a:srgbClr val="0000FF"/>
                </a:solidFill>
              </a:rPr>
              <a:t>Prerequisites</a:t>
            </a:r>
          </a:p>
          <a:p>
            <a:pPr marL="227013" indent="-227013" eaLnBrk="1" hangingPunct="1">
              <a:buFont typeface="Wingdings" pitchFamily="-106" charset="2"/>
              <a:buChar char="¢"/>
              <a:defRPr/>
            </a:pPr>
            <a:r>
              <a:rPr lang="en-US" sz="2000" dirty="0" smtClean="0">
                <a:solidFill>
                  <a:srgbClr val="FF6600"/>
                </a:solidFill>
              </a:rPr>
              <a:t>Defensible prerequisites</a:t>
            </a:r>
          </a:p>
        </p:txBody>
      </p:sp>
      <p:sp>
        <p:nvSpPr>
          <p:cNvPr id="69636" name="TextBox 4"/>
          <p:cNvSpPr txBox="1">
            <a:spLocks noChangeArrowheads="1"/>
          </p:cNvSpPr>
          <p:nvPr/>
        </p:nvSpPr>
        <p:spPr bwMode="auto">
          <a:xfrm>
            <a:off x="5029200" y="533400"/>
            <a:ext cx="2001838" cy="338138"/>
          </a:xfrm>
          <a:prstGeom prst="rect">
            <a:avLst/>
          </a:prstGeom>
          <a:solidFill>
            <a:srgbClr val="FFFFFF">
              <a:alpha val="74117"/>
            </a:srgbClr>
          </a:solidFill>
          <a:ln w="9525">
            <a:noFill/>
            <a:miter lim="800000"/>
            <a:headEnd/>
            <a:tailEnd/>
          </a:ln>
        </p:spPr>
        <p:txBody>
          <a:bodyPr wrap="none">
            <a:spAutoFit/>
          </a:bodyPr>
          <a:lstStyle/>
          <a:p>
            <a:r>
              <a:rPr lang="en-US">
                <a:solidFill>
                  <a:srgbClr val="800000"/>
                </a:solidFill>
              </a:rPr>
              <a:t>Random processes</a:t>
            </a:r>
          </a:p>
        </p:txBody>
      </p:sp>
      <p:sp>
        <p:nvSpPr>
          <p:cNvPr id="69637" name="TextBox 6"/>
          <p:cNvSpPr txBox="1">
            <a:spLocks noChangeArrowheads="1"/>
          </p:cNvSpPr>
          <p:nvPr/>
        </p:nvSpPr>
        <p:spPr bwMode="auto">
          <a:xfrm>
            <a:off x="4813300" y="3429000"/>
            <a:ext cx="1358900" cy="338138"/>
          </a:xfrm>
          <a:prstGeom prst="rect">
            <a:avLst/>
          </a:prstGeom>
          <a:solidFill>
            <a:srgbClr val="FFFFFF">
              <a:alpha val="74117"/>
            </a:srgbClr>
          </a:solidFill>
          <a:ln w="9525">
            <a:noFill/>
            <a:miter lim="800000"/>
            <a:headEnd/>
            <a:tailEnd/>
          </a:ln>
        </p:spPr>
        <p:txBody>
          <a:bodyPr wrap="none">
            <a:spAutoFit/>
          </a:bodyPr>
          <a:lstStyle/>
          <a:p>
            <a:r>
              <a:rPr lang="en-US">
                <a:solidFill>
                  <a:srgbClr val="800000"/>
                </a:solidFill>
              </a:rPr>
              <a:t>Transducers</a:t>
            </a:r>
          </a:p>
        </p:txBody>
      </p:sp>
      <p:sp>
        <p:nvSpPr>
          <p:cNvPr id="69638" name="TextBox 9"/>
          <p:cNvSpPr txBox="1">
            <a:spLocks noChangeArrowheads="1"/>
          </p:cNvSpPr>
          <p:nvPr/>
        </p:nvSpPr>
        <p:spPr bwMode="auto">
          <a:xfrm>
            <a:off x="4038600" y="1143000"/>
            <a:ext cx="2149475" cy="338138"/>
          </a:xfrm>
          <a:prstGeom prst="rect">
            <a:avLst/>
          </a:prstGeom>
          <a:solidFill>
            <a:srgbClr val="FFFFFF">
              <a:alpha val="74117"/>
            </a:srgbClr>
          </a:solidFill>
          <a:ln w="9525">
            <a:noFill/>
            <a:miter lim="800000"/>
            <a:headEnd/>
            <a:tailEnd/>
          </a:ln>
        </p:spPr>
        <p:txBody>
          <a:bodyPr wrap="none">
            <a:spAutoFit/>
          </a:bodyPr>
          <a:lstStyle/>
          <a:p>
            <a:r>
              <a:rPr lang="en-US">
                <a:solidFill>
                  <a:srgbClr val="800000"/>
                </a:solidFill>
              </a:rPr>
              <a:t>Signals and Systems</a:t>
            </a:r>
          </a:p>
        </p:txBody>
      </p:sp>
      <p:sp>
        <p:nvSpPr>
          <p:cNvPr id="69639" name="TextBox 10"/>
          <p:cNvSpPr txBox="1">
            <a:spLocks noChangeArrowheads="1"/>
          </p:cNvSpPr>
          <p:nvPr/>
        </p:nvSpPr>
        <p:spPr bwMode="auto">
          <a:xfrm>
            <a:off x="7848600" y="152400"/>
            <a:ext cx="647700" cy="338138"/>
          </a:xfrm>
          <a:prstGeom prst="rect">
            <a:avLst/>
          </a:prstGeom>
          <a:solidFill>
            <a:srgbClr val="FFFFFF">
              <a:alpha val="74117"/>
            </a:srgbClr>
          </a:solidFill>
          <a:ln w="9525">
            <a:noFill/>
            <a:miter lim="800000"/>
            <a:headEnd/>
            <a:tailEnd/>
          </a:ln>
        </p:spPr>
        <p:txBody>
          <a:bodyPr wrap="none">
            <a:spAutoFit/>
          </a:bodyPr>
          <a:lstStyle/>
          <a:p>
            <a:r>
              <a:rPr lang="en-US">
                <a:solidFill>
                  <a:srgbClr val="800000"/>
                </a:solidFill>
              </a:rPr>
              <a:t>DSP</a:t>
            </a:r>
          </a:p>
        </p:txBody>
      </p:sp>
      <p:sp>
        <p:nvSpPr>
          <p:cNvPr id="69640" name="TextBox 11"/>
          <p:cNvSpPr txBox="1">
            <a:spLocks noChangeArrowheads="1"/>
          </p:cNvSpPr>
          <p:nvPr/>
        </p:nvSpPr>
        <p:spPr bwMode="auto">
          <a:xfrm>
            <a:off x="7848600" y="576263"/>
            <a:ext cx="1031875" cy="338137"/>
          </a:xfrm>
          <a:prstGeom prst="rect">
            <a:avLst/>
          </a:prstGeom>
          <a:solidFill>
            <a:srgbClr val="FFFFFF">
              <a:alpha val="74117"/>
            </a:srgbClr>
          </a:solidFill>
          <a:ln w="9525">
            <a:noFill/>
            <a:miter lim="800000"/>
            <a:headEnd/>
            <a:tailEnd/>
          </a:ln>
        </p:spPr>
        <p:txBody>
          <a:bodyPr wrap="none">
            <a:spAutoFit/>
          </a:bodyPr>
          <a:lstStyle/>
          <a:p>
            <a:r>
              <a:rPr lang="en-US">
                <a:solidFill>
                  <a:srgbClr val="800000"/>
                </a:solidFill>
              </a:rPr>
              <a:t>Robotics</a:t>
            </a:r>
          </a:p>
        </p:txBody>
      </p:sp>
      <p:sp>
        <p:nvSpPr>
          <p:cNvPr id="69641" name="TextBox 12"/>
          <p:cNvSpPr txBox="1">
            <a:spLocks noChangeArrowheads="1"/>
          </p:cNvSpPr>
          <p:nvPr/>
        </p:nvSpPr>
        <p:spPr bwMode="auto">
          <a:xfrm>
            <a:off x="7883525" y="1033463"/>
            <a:ext cx="895350" cy="338137"/>
          </a:xfrm>
          <a:prstGeom prst="rect">
            <a:avLst/>
          </a:prstGeom>
          <a:solidFill>
            <a:srgbClr val="FFFFFF">
              <a:alpha val="74117"/>
            </a:srgbClr>
          </a:solidFill>
          <a:ln w="9525">
            <a:noFill/>
            <a:miter lim="800000"/>
            <a:headEnd/>
            <a:tailEnd/>
          </a:ln>
        </p:spPr>
        <p:txBody>
          <a:bodyPr wrap="none">
            <a:spAutoFit/>
          </a:bodyPr>
          <a:lstStyle/>
          <a:p>
            <a:r>
              <a:rPr lang="en-US">
                <a:solidFill>
                  <a:srgbClr val="800000"/>
                </a:solidFill>
              </a:rPr>
              <a:t>Control</a:t>
            </a:r>
          </a:p>
        </p:txBody>
      </p:sp>
      <p:sp>
        <p:nvSpPr>
          <p:cNvPr id="69642" name="TextBox 13"/>
          <p:cNvSpPr txBox="1">
            <a:spLocks noChangeArrowheads="1"/>
          </p:cNvSpPr>
          <p:nvPr/>
        </p:nvSpPr>
        <p:spPr bwMode="auto">
          <a:xfrm>
            <a:off x="3581400" y="4157663"/>
            <a:ext cx="2593975" cy="338137"/>
          </a:xfrm>
          <a:prstGeom prst="rect">
            <a:avLst/>
          </a:prstGeom>
          <a:solidFill>
            <a:srgbClr val="FFFFFF">
              <a:alpha val="74117"/>
            </a:srgbClr>
          </a:solidFill>
          <a:ln w="9525">
            <a:noFill/>
            <a:miter lim="800000"/>
            <a:headEnd/>
            <a:tailEnd/>
          </a:ln>
        </p:spPr>
        <p:txBody>
          <a:bodyPr wrap="none">
            <a:spAutoFit/>
          </a:bodyPr>
          <a:lstStyle/>
          <a:p>
            <a:r>
              <a:rPr lang="en-US">
                <a:solidFill>
                  <a:srgbClr val="800000"/>
                </a:solidFill>
              </a:rPr>
              <a:t>Microcomputer interfacing</a:t>
            </a:r>
          </a:p>
        </p:txBody>
      </p:sp>
      <p:sp>
        <p:nvSpPr>
          <p:cNvPr id="69643" name="TextBox 14"/>
          <p:cNvSpPr txBox="1">
            <a:spLocks noChangeArrowheads="1"/>
          </p:cNvSpPr>
          <p:nvPr/>
        </p:nvSpPr>
        <p:spPr bwMode="auto">
          <a:xfrm>
            <a:off x="7496175" y="4343400"/>
            <a:ext cx="1647825" cy="338138"/>
          </a:xfrm>
          <a:prstGeom prst="rect">
            <a:avLst/>
          </a:prstGeom>
          <a:solidFill>
            <a:srgbClr val="FFFFFF">
              <a:alpha val="74117"/>
            </a:srgbClr>
          </a:solidFill>
          <a:ln w="9525">
            <a:noFill/>
            <a:miter lim="800000"/>
            <a:headEnd/>
            <a:tailEnd/>
          </a:ln>
        </p:spPr>
        <p:txBody>
          <a:bodyPr wrap="none">
            <a:spAutoFit/>
          </a:bodyPr>
          <a:lstStyle/>
          <a:p>
            <a:r>
              <a:rPr lang="en-US">
                <a:solidFill>
                  <a:srgbClr val="800000"/>
                </a:solidFill>
              </a:rPr>
              <a:t>Digital Systems</a:t>
            </a:r>
          </a:p>
        </p:txBody>
      </p:sp>
      <p:sp>
        <p:nvSpPr>
          <p:cNvPr id="69644" name="TextBox 15"/>
          <p:cNvSpPr txBox="1">
            <a:spLocks noChangeArrowheads="1"/>
          </p:cNvSpPr>
          <p:nvPr/>
        </p:nvSpPr>
        <p:spPr bwMode="auto">
          <a:xfrm>
            <a:off x="7162800" y="4995863"/>
            <a:ext cx="1978025" cy="338137"/>
          </a:xfrm>
          <a:prstGeom prst="rect">
            <a:avLst/>
          </a:prstGeom>
          <a:solidFill>
            <a:srgbClr val="FFFFFF">
              <a:alpha val="74117"/>
            </a:srgbClr>
          </a:solidFill>
          <a:ln w="9525">
            <a:noFill/>
            <a:miter lim="800000"/>
            <a:headEnd/>
            <a:tailEnd/>
          </a:ln>
        </p:spPr>
        <p:txBody>
          <a:bodyPr wrap="none">
            <a:spAutoFit/>
          </a:bodyPr>
          <a:lstStyle/>
          <a:p>
            <a:r>
              <a:rPr lang="en-US">
                <a:solidFill>
                  <a:srgbClr val="800000"/>
                </a:solidFill>
              </a:rPr>
              <a:t>Operating Systems</a:t>
            </a:r>
          </a:p>
        </p:txBody>
      </p:sp>
      <p:sp>
        <p:nvSpPr>
          <p:cNvPr id="69645" name="TextBox 16"/>
          <p:cNvSpPr txBox="1">
            <a:spLocks noChangeArrowheads="1"/>
          </p:cNvSpPr>
          <p:nvPr/>
        </p:nvSpPr>
        <p:spPr bwMode="auto">
          <a:xfrm>
            <a:off x="5334000" y="5376863"/>
            <a:ext cx="2195513" cy="338137"/>
          </a:xfrm>
          <a:prstGeom prst="rect">
            <a:avLst/>
          </a:prstGeom>
          <a:solidFill>
            <a:srgbClr val="FFFFFF">
              <a:alpha val="74117"/>
            </a:srgbClr>
          </a:solidFill>
          <a:ln w="9525">
            <a:noFill/>
            <a:miter lim="800000"/>
            <a:headEnd/>
            <a:tailEnd/>
          </a:ln>
        </p:spPr>
        <p:txBody>
          <a:bodyPr wrap="none">
            <a:spAutoFit/>
          </a:bodyPr>
          <a:lstStyle/>
          <a:p>
            <a:r>
              <a:rPr lang="en-US">
                <a:solidFill>
                  <a:srgbClr val="800000"/>
                </a:solidFill>
              </a:rPr>
              <a:t>Software Engineering</a:t>
            </a:r>
          </a:p>
        </p:txBody>
      </p:sp>
      <p:sp>
        <p:nvSpPr>
          <p:cNvPr id="69646" name="TextBox 17"/>
          <p:cNvSpPr txBox="1">
            <a:spLocks noChangeArrowheads="1"/>
          </p:cNvSpPr>
          <p:nvPr/>
        </p:nvSpPr>
        <p:spPr bwMode="auto">
          <a:xfrm>
            <a:off x="6340475" y="6062663"/>
            <a:ext cx="1203325" cy="338137"/>
          </a:xfrm>
          <a:prstGeom prst="rect">
            <a:avLst/>
          </a:prstGeom>
          <a:solidFill>
            <a:srgbClr val="FFFFFF">
              <a:alpha val="74117"/>
            </a:srgbClr>
          </a:solidFill>
          <a:ln w="9525">
            <a:noFill/>
            <a:miter lim="800000"/>
            <a:headEnd/>
            <a:tailEnd/>
          </a:ln>
        </p:spPr>
        <p:txBody>
          <a:bodyPr wrap="none">
            <a:spAutoFit/>
          </a:bodyPr>
          <a:lstStyle/>
          <a:p>
            <a:r>
              <a:rPr lang="en-US">
                <a:solidFill>
                  <a:srgbClr val="800000"/>
                </a:solidFill>
              </a:rPr>
              <a:t>Algorithms</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905000"/>
            <a:ext cx="2667000" cy="4572000"/>
          </a:xfrm>
        </p:spPr>
        <p:txBody>
          <a:bodyPr/>
          <a:lstStyle/>
          <a:p>
            <a:pPr marL="0" indent="0" eaLnBrk="1" hangingPunct="1">
              <a:buFont typeface="Wingdings" pitchFamily="-106" charset="2"/>
              <a:buNone/>
              <a:defRPr/>
            </a:pPr>
            <a:r>
              <a:rPr lang="en-US" sz="2000" dirty="0" smtClean="0"/>
              <a:t>The Prerequisite Challenge</a:t>
            </a:r>
          </a:p>
          <a:p>
            <a:pPr marL="0" indent="0" eaLnBrk="1" hangingPunct="1">
              <a:buFont typeface="Wingdings" pitchFamily="-106" charset="2"/>
              <a:buChar char="¢"/>
              <a:defRPr/>
            </a:pPr>
            <a:r>
              <a:rPr lang="en-US" sz="2000" dirty="0" smtClean="0">
                <a:solidFill>
                  <a:srgbClr val="800000"/>
                </a:solidFill>
              </a:rPr>
              <a:t> Core course</a:t>
            </a:r>
          </a:p>
          <a:p>
            <a:pPr marL="0" indent="0" eaLnBrk="1" hangingPunct="1">
              <a:buFont typeface="Wingdings" pitchFamily="-106" charset="2"/>
              <a:buChar char="¢"/>
              <a:defRPr/>
            </a:pPr>
            <a:r>
              <a:rPr lang="en-US" sz="2000" dirty="0" smtClean="0">
                <a:solidFill>
                  <a:srgbClr val="800000"/>
                </a:solidFill>
              </a:rPr>
              <a:t> </a:t>
            </a:r>
            <a:r>
              <a:rPr lang="en-US" sz="2000" dirty="0" smtClean="0">
                <a:solidFill>
                  <a:srgbClr val="0000FF"/>
                </a:solidFill>
              </a:rPr>
              <a:t>Prerequisites</a:t>
            </a:r>
          </a:p>
          <a:p>
            <a:pPr marL="227013" indent="-227013" eaLnBrk="1" hangingPunct="1">
              <a:buFont typeface="Wingdings" pitchFamily="-106" charset="2"/>
              <a:buChar char="¢"/>
              <a:defRPr/>
            </a:pPr>
            <a:r>
              <a:rPr lang="en-US" sz="2000" dirty="0" smtClean="0">
                <a:solidFill>
                  <a:srgbClr val="FF6600"/>
                </a:solidFill>
              </a:rPr>
              <a:t>Defensible prerequisites</a:t>
            </a:r>
          </a:p>
          <a:p>
            <a:pPr marL="227013" indent="-227013" eaLnBrk="1" hangingPunct="1">
              <a:buFont typeface="Wingdings" pitchFamily="-106" charset="2"/>
              <a:buChar char="¢"/>
              <a:defRPr/>
            </a:pPr>
            <a:r>
              <a:rPr lang="en-US" sz="2000" dirty="0" smtClean="0">
                <a:solidFill>
                  <a:srgbClr val="008000"/>
                </a:solidFill>
              </a:rPr>
              <a:t>Transitive closure</a:t>
            </a:r>
          </a:p>
        </p:txBody>
      </p:sp>
      <p:sp>
        <p:nvSpPr>
          <p:cNvPr id="70659" name="TextBox 4"/>
          <p:cNvSpPr txBox="1">
            <a:spLocks noChangeArrowheads="1"/>
          </p:cNvSpPr>
          <p:nvPr/>
        </p:nvSpPr>
        <p:spPr bwMode="auto">
          <a:xfrm>
            <a:off x="5029200" y="533400"/>
            <a:ext cx="2001838" cy="338138"/>
          </a:xfrm>
          <a:prstGeom prst="rect">
            <a:avLst/>
          </a:prstGeom>
          <a:solidFill>
            <a:srgbClr val="FFFFFF">
              <a:alpha val="74117"/>
            </a:srgbClr>
          </a:solidFill>
          <a:ln w="9525">
            <a:noFill/>
            <a:miter lim="800000"/>
            <a:headEnd/>
            <a:tailEnd/>
          </a:ln>
        </p:spPr>
        <p:txBody>
          <a:bodyPr wrap="none">
            <a:spAutoFit/>
          </a:bodyPr>
          <a:lstStyle/>
          <a:p>
            <a:r>
              <a:rPr lang="en-US">
                <a:solidFill>
                  <a:srgbClr val="800000"/>
                </a:solidFill>
              </a:rPr>
              <a:t>Random processes</a:t>
            </a:r>
          </a:p>
        </p:txBody>
      </p:sp>
      <p:sp>
        <p:nvSpPr>
          <p:cNvPr id="70660" name="TextBox 6"/>
          <p:cNvSpPr txBox="1">
            <a:spLocks noChangeArrowheads="1"/>
          </p:cNvSpPr>
          <p:nvPr/>
        </p:nvSpPr>
        <p:spPr bwMode="auto">
          <a:xfrm>
            <a:off x="4813300" y="3429000"/>
            <a:ext cx="1358900" cy="338138"/>
          </a:xfrm>
          <a:prstGeom prst="rect">
            <a:avLst/>
          </a:prstGeom>
          <a:solidFill>
            <a:srgbClr val="FFFFFF">
              <a:alpha val="74117"/>
            </a:srgbClr>
          </a:solidFill>
          <a:ln w="9525">
            <a:noFill/>
            <a:miter lim="800000"/>
            <a:headEnd/>
            <a:tailEnd/>
          </a:ln>
        </p:spPr>
        <p:txBody>
          <a:bodyPr wrap="none">
            <a:spAutoFit/>
          </a:bodyPr>
          <a:lstStyle/>
          <a:p>
            <a:r>
              <a:rPr lang="en-US">
                <a:solidFill>
                  <a:srgbClr val="800000"/>
                </a:solidFill>
              </a:rPr>
              <a:t>Transducers</a:t>
            </a:r>
          </a:p>
        </p:txBody>
      </p:sp>
      <p:sp>
        <p:nvSpPr>
          <p:cNvPr id="70661" name="TextBox 9"/>
          <p:cNvSpPr txBox="1">
            <a:spLocks noChangeArrowheads="1"/>
          </p:cNvSpPr>
          <p:nvPr/>
        </p:nvSpPr>
        <p:spPr bwMode="auto">
          <a:xfrm>
            <a:off x="4038600" y="1143000"/>
            <a:ext cx="2149475" cy="338138"/>
          </a:xfrm>
          <a:prstGeom prst="rect">
            <a:avLst/>
          </a:prstGeom>
          <a:solidFill>
            <a:srgbClr val="FFFFFF">
              <a:alpha val="74117"/>
            </a:srgbClr>
          </a:solidFill>
          <a:ln w="9525">
            <a:noFill/>
            <a:miter lim="800000"/>
            <a:headEnd/>
            <a:tailEnd/>
          </a:ln>
        </p:spPr>
        <p:txBody>
          <a:bodyPr wrap="none">
            <a:spAutoFit/>
          </a:bodyPr>
          <a:lstStyle/>
          <a:p>
            <a:r>
              <a:rPr lang="en-US">
                <a:solidFill>
                  <a:srgbClr val="800000"/>
                </a:solidFill>
              </a:rPr>
              <a:t>Signals and Systems</a:t>
            </a:r>
          </a:p>
        </p:txBody>
      </p:sp>
      <p:sp>
        <p:nvSpPr>
          <p:cNvPr id="70662" name="TextBox 10"/>
          <p:cNvSpPr txBox="1">
            <a:spLocks noChangeArrowheads="1"/>
          </p:cNvSpPr>
          <p:nvPr/>
        </p:nvSpPr>
        <p:spPr bwMode="auto">
          <a:xfrm>
            <a:off x="7848600" y="152400"/>
            <a:ext cx="647700" cy="338138"/>
          </a:xfrm>
          <a:prstGeom prst="rect">
            <a:avLst/>
          </a:prstGeom>
          <a:solidFill>
            <a:srgbClr val="FFFFFF">
              <a:alpha val="74117"/>
            </a:srgbClr>
          </a:solidFill>
          <a:ln w="9525">
            <a:noFill/>
            <a:miter lim="800000"/>
            <a:headEnd/>
            <a:tailEnd/>
          </a:ln>
        </p:spPr>
        <p:txBody>
          <a:bodyPr wrap="none">
            <a:spAutoFit/>
          </a:bodyPr>
          <a:lstStyle/>
          <a:p>
            <a:r>
              <a:rPr lang="en-US">
                <a:solidFill>
                  <a:srgbClr val="800000"/>
                </a:solidFill>
              </a:rPr>
              <a:t>DSP</a:t>
            </a:r>
          </a:p>
        </p:txBody>
      </p:sp>
      <p:sp>
        <p:nvSpPr>
          <p:cNvPr id="70663" name="TextBox 11"/>
          <p:cNvSpPr txBox="1">
            <a:spLocks noChangeArrowheads="1"/>
          </p:cNvSpPr>
          <p:nvPr/>
        </p:nvSpPr>
        <p:spPr bwMode="auto">
          <a:xfrm>
            <a:off x="7848600" y="576263"/>
            <a:ext cx="1031875" cy="338137"/>
          </a:xfrm>
          <a:prstGeom prst="rect">
            <a:avLst/>
          </a:prstGeom>
          <a:solidFill>
            <a:srgbClr val="FFFFFF">
              <a:alpha val="74117"/>
            </a:srgbClr>
          </a:solidFill>
          <a:ln w="9525">
            <a:noFill/>
            <a:miter lim="800000"/>
            <a:headEnd/>
            <a:tailEnd/>
          </a:ln>
        </p:spPr>
        <p:txBody>
          <a:bodyPr wrap="none">
            <a:spAutoFit/>
          </a:bodyPr>
          <a:lstStyle/>
          <a:p>
            <a:r>
              <a:rPr lang="en-US">
                <a:solidFill>
                  <a:srgbClr val="800000"/>
                </a:solidFill>
              </a:rPr>
              <a:t>Robotics</a:t>
            </a:r>
          </a:p>
        </p:txBody>
      </p:sp>
      <p:sp>
        <p:nvSpPr>
          <p:cNvPr id="70664" name="TextBox 12"/>
          <p:cNvSpPr txBox="1">
            <a:spLocks noChangeArrowheads="1"/>
          </p:cNvSpPr>
          <p:nvPr/>
        </p:nvSpPr>
        <p:spPr bwMode="auto">
          <a:xfrm>
            <a:off x="7883525" y="1033463"/>
            <a:ext cx="895350" cy="338137"/>
          </a:xfrm>
          <a:prstGeom prst="rect">
            <a:avLst/>
          </a:prstGeom>
          <a:solidFill>
            <a:srgbClr val="FFFFFF">
              <a:alpha val="74117"/>
            </a:srgbClr>
          </a:solidFill>
          <a:ln w="9525">
            <a:noFill/>
            <a:miter lim="800000"/>
            <a:headEnd/>
            <a:tailEnd/>
          </a:ln>
        </p:spPr>
        <p:txBody>
          <a:bodyPr wrap="none">
            <a:spAutoFit/>
          </a:bodyPr>
          <a:lstStyle/>
          <a:p>
            <a:r>
              <a:rPr lang="en-US">
                <a:solidFill>
                  <a:srgbClr val="800000"/>
                </a:solidFill>
              </a:rPr>
              <a:t>Control</a:t>
            </a:r>
          </a:p>
        </p:txBody>
      </p:sp>
      <p:sp>
        <p:nvSpPr>
          <p:cNvPr id="70665" name="TextBox 13"/>
          <p:cNvSpPr txBox="1">
            <a:spLocks noChangeArrowheads="1"/>
          </p:cNvSpPr>
          <p:nvPr/>
        </p:nvSpPr>
        <p:spPr bwMode="auto">
          <a:xfrm>
            <a:off x="3581400" y="4157663"/>
            <a:ext cx="2593975" cy="338137"/>
          </a:xfrm>
          <a:prstGeom prst="rect">
            <a:avLst/>
          </a:prstGeom>
          <a:solidFill>
            <a:srgbClr val="FFFFFF">
              <a:alpha val="74117"/>
            </a:srgbClr>
          </a:solidFill>
          <a:ln w="9525">
            <a:noFill/>
            <a:miter lim="800000"/>
            <a:headEnd/>
            <a:tailEnd/>
          </a:ln>
        </p:spPr>
        <p:txBody>
          <a:bodyPr wrap="none">
            <a:spAutoFit/>
          </a:bodyPr>
          <a:lstStyle/>
          <a:p>
            <a:r>
              <a:rPr lang="en-US">
                <a:solidFill>
                  <a:srgbClr val="800000"/>
                </a:solidFill>
              </a:rPr>
              <a:t>Microcomputer interfacing</a:t>
            </a:r>
          </a:p>
        </p:txBody>
      </p:sp>
      <p:sp>
        <p:nvSpPr>
          <p:cNvPr id="70666" name="TextBox 14"/>
          <p:cNvSpPr txBox="1">
            <a:spLocks noChangeArrowheads="1"/>
          </p:cNvSpPr>
          <p:nvPr/>
        </p:nvSpPr>
        <p:spPr bwMode="auto">
          <a:xfrm>
            <a:off x="7496175" y="4343400"/>
            <a:ext cx="1647825" cy="338138"/>
          </a:xfrm>
          <a:prstGeom prst="rect">
            <a:avLst/>
          </a:prstGeom>
          <a:solidFill>
            <a:srgbClr val="FFFFFF">
              <a:alpha val="74117"/>
            </a:srgbClr>
          </a:solidFill>
          <a:ln w="9525">
            <a:noFill/>
            <a:miter lim="800000"/>
            <a:headEnd/>
            <a:tailEnd/>
          </a:ln>
        </p:spPr>
        <p:txBody>
          <a:bodyPr wrap="none">
            <a:spAutoFit/>
          </a:bodyPr>
          <a:lstStyle/>
          <a:p>
            <a:r>
              <a:rPr lang="en-US">
                <a:solidFill>
                  <a:srgbClr val="800000"/>
                </a:solidFill>
              </a:rPr>
              <a:t>Digital Systems</a:t>
            </a:r>
          </a:p>
        </p:txBody>
      </p:sp>
      <p:sp>
        <p:nvSpPr>
          <p:cNvPr id="70667" name="TextBox 15"/>
          <p:cNvSpPr txBox="1">
            <a:spLocks noChangeArrowheads="1"/>
          </p:cNvSpPr>
          <p:nvPr/>
        </p:nvSpPr>
        <p:spPr bwMode="auto">
          <a:xfrm>
            <a:off x="7162800" y="4995863"/>
            <a:ext cx="1978025" cy="338137"/>
          </a:xfrm>
          <a:prstGeom prst="rect">
            <a:avLst/>
          </a:prstGeom>
          <a:solidFill>
            <a:srgbClr val="FFFFFF">
              <a:alpha val="74117"/>
            </a:srgbClr>
          </a:solidFill>
          <a:ln w="9525">
            <a:noFill/>
            <a:miter lim="800000"/>
            <a:headEnd/>
            <a:tailEnd/>
          </a:ln>
        </p:spPr>
        <p:txBody>
          <a:bodyPr wrap="none">
            <a:spAutoFit/>
          </a:bodyPr>
          <a:lstStyle/>
          <a:p>
            <a:r>
              <a:rPr lang="en-US">
                <a:solidFill>
                  <a:srgbClr val="800000"/>
                </a:solidFill>
              </a:rPr>
              <a:t>Operating Systems</a:t>
            </a:r>
          </a:p>
        </p:txBody>
      </p:sp>
      <p:sp>
        <p:nvSpPr>
          <p:cNvPr id="70668" name="TextBox 16"/>
          <p:cNvSpPr txBox="1">
            <a:spLocks noChangeArrowheads="1"/>
          </p:cNvSpPr>
          <p:nvPr/>
        </p:nvSpPr>
        <p:spPr bwMode="auto">
          <a:xfrm>
            <a:off x="5334000" y="5376863"/>
            <a:ext cx="2195513" cy="338137"/>
          </a:xfrm>
          <a:prstGeom prst="rect">
            <a:avLst/>
          </a:prstGeom>
          <a:solidFill>
            <a:srgbClr val="FFFFFF">
              <a:alpha val="74117"/>
            </a:srgbClr>
          </a:solidFill>
          <a:ln w="9525">
            <a:noFill/>
            <a:miter lim="800000"/>
            <a:headEnd/>
            <a:tailEnd/>
          </a:ln>
        </p:spPr>
        <p:txBody>
          <a:bodyPr wrap="none">
            <a:spAutoFit/>
          </a:bodyPr>
          <a:lstStyle/>
          <a:p>
            <a:r>
              <a:rPr lang="en-US">
                <a:solidFill>
                  <a:srgbClr val="800000"/>
                </a:solidFill>
              </a:rPr>
              <a:t>Software Engineering</a:t>
            </a:r>
          </a:p>
        </p:txBody>
      </p:sp>
      <p:sp>
        <p:nvSpPr>
          <p:cNvPr id="70669" name="TextBox 17"/>
          <p:cNvSpPr txBox="1">
            <a:spLocks noChangeArrowheads="1"/>
          </p:cNvSpPr>
          <p:nvPr/>
        </p:nvSpPr>
        <p:spPr bwMode="auto">
          <a:xfrm>
            <a:off x="6340475" y="6062663"/>
            <a:ext cx="1203325" cy="338137"/>
          </a:xfrm>
          <a:prstGeom prst="rect">
            <a:avLst/>
          </a:prstGeom>
          <a:solidFill>
            <a:srgbClr val="FFFFFF">
              <a:alpha val="74117"/>
            </a:srgbClr>
          </a:solidFill>
          <a:ln w="9525">
            <a:noFill/>
            <a:miter lim="800000"/>
            <a:headEnd/>
            <a:tailEnd/>
          </a:ln>
        </p:spPr>
        <p:txBody>
          <a:bodyPr wrap="none">
            <a:spAutoFit/>
          </a:bodyPr>
          <a:lstStyle/>
          <a:p>
            <a:r>
              <a:rPr lang="en-US">
                <a:solidFill>
                  <a:srgbClr val="800000"/>
                </a:solidFill>
              </a:rPr>
              <a:t>Algorithms</a:t>
            </a:r>
          </a:p>
        </p:txBody>
      </p:sp>
      <p:pic>
        <p:nvPicPr>
          <p:cNvPr id="70670" name="Picture 18"/>
          <p:cNvPicPr>
            <a:picLocks noChangeAspect="1"/>
          </p:cNvPicPr>
          <p:nvPr/>
        </p:nvPicPr>
        <p:blipFill>
          <a:blip r:embed="rId2"/>
          <a:srcRect/>
          <a:stretch>
            <a:fillRect/>
          </a:stretch>
        </p:blipFill>
        <p:spPr bwMode="auto">
          <a:xfrm>
            <a:off x="2781300" y="0"/>
            <a:ext cx="6362700" cy="7010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p:txBody>
          <a:bodyPr/>
          <a:lstStyle/>
          <a:p>
            <a:pPr eaLnBrk="1" hangingPunct="1"/>
            <a:r>
              <a:rPr lang="en-US" smtClean="0"/>
              <a:t>Conclusion</a:t>
            </a:r>
          </a:p>
        </p:txBody>
      </p:sp>
      <p:sp>
        <p:nvSpPr>
          <p:cNvPr id="71683" name="Content Placeholder 2"/>
          <p:cNvSpPr>
            <a:spLocks noGrp="1"/>
          </p:cNvSpPr>
          <p:nvPr>
            <p:ph idx="1"/>
          </p:nvPr>
        </p:nvSpPr>
        <p:spPr/>
        <p:txBody>
          <a:bodyPr/>
          <a:lstStyle/>
          <a:p>
            <a:pPr marL="0" indent="0" eaLnBrk="1" hangingPunct="1">
              <a:buFont typeface="Wingdings" pitchFamily="-107" charset="2"/>
              <a:buNone/>
            </a:pPr>
            <a:r>
              <a:rPr lang="en-US" smtClean="0"/>
              <a:t>A </a:t>
            </a:r>
            <a:r>
              <a:rPr lang="en-US" i="1" smtClean="0"/>
              <a:t>reductionist approach </a:t>
            </a:r>
            <a:r>
              <a:rPr lang="en-US" smtClean="0"/>
              <a:t>(where we teach all the foundations first) cannot work!</a:t>
            </a:r>
          </a:p>
          <a:p>
            <a:pPr marL="0" indent="0" eaLnBrk="1" hangingPunct="1">
              <a:buFont typeface="Wingdings" pitchFamily="-107" charset="2"/>
              <a:buNone/>
            </a:pPr>
            <a:endParaRPr lang="en-US" smtClean="0"/>
          </a:p>
          <a:p>
            <a:pPr marL="0" indent="0" eaLnBrk="1" hangingPunct="1">
              <a:buFont typeface="Wingdings" pitchFamily="-107" charset="2"/>
              <a:buNone/>
            </a:pPr>
            <a:r>
              <a:rPr lang="en-US" smtClean="0"/>
              <a:t>We have to be prepared to review topics as needed, and deal with a mix of backgrounds in the students.</a:t>
            </a:r>
          </a:p>
          <a:p>
            <a:pPr marL="0" indent="0" eaLnBrk="1" hangingPunct="1">
              <a:buFont typeface="Wingdings" pitchFamily="-107" charset="2"/>
              <a:buNone/>
            </a:pPr>
            <a:endParaRPr lang="en-US" smtClean="0"/>
          </a:p>
          <a:p>
            <a:pPr marL="0" indent="0" eaLnBrk="1" hangingPunct="1">
              <a:buFont typeface="Wingdings" pitchFamily="-107" charset="2"/>
              <a:buNone/>
            </a:pPr>
            <a:r>
              <a:rPr lang="en-US" smtClean="0"/>
              <a:t>The intellectual core is MODELS (as approximations, as abstractions, as ways of understanding interaction, etc.).</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Echo">
  <a:themeElements>
    <a:clrScheme name="Echo 7">
      <a:dk1>
        <a:srgbClr val="336666"/>
      </a:dk1>
      <a:lt1>
        <a:srgbClr val="FFFFFF"/>
      </a:lt1>
      <a:dk2>
        <a:srgbClr val="000000"/>
      </a:dk2>
      <a:lt2>
        <a:srgbClr val="666699"/>
      </a:lt2>
      <a:accent1>
        <a:srgbClr val="99CCCC"/>
      </a:accent1>
      <a:accent2>
        <a:srgbClr val="CCCCCC"/>
      </a:accent2>
      <a:accent3>
        <a:srgbClr val="FFFFFF"/>
      </a:accent3>
      <a:accent4>
        <a:srgbClr val="2A5656"/>
      </a:accent4>
      <a:accent5>
        <a:srgbClr val="CAE2E2"/>
      </a:accent5>
      <a:accent6>
        <a:srgbClr val="B9B9B9"/>
      </a:accent6>
      <a:hlink>
        <a:srgbClr val="006666"/>
      </a:hlink>
      <a:folHlink>
        <a:srgbClr val="B2B2B2"/>
      </a:folHlink>
    </a:clrScheme>
    <a:fontScheme name="Echo">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600" b="0" i="1" u="none" strike="noStrike" cap="none" normalizeH="0" baseline="0">
            <a:ln>
              <a:noFill/>
            </a:ln>
            <a:solidFill>
              <a:schemeClr val="tx1"/>
            </a:solidFill>
            <a:effectLst/>
            <a:latin typeface="Arial" charset="0"/>
            <a:ea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600" b="0" i="1" u="none" strike="noStrike" cap="none" normalizeH="0" baseline="0">
            <a:ln>
              <a:noFill/>
            </a:ln>
            <a:solidFill>
              <a:schemeClr val="tx1"/>
            </a:solidFill>
            <a:effectLst/>
            <a:latin typeface="Arial" charset="0"/>
            <a:ea typeface="Arial" charset="0"/>
            <a:cs typeface="Arial" charset="0"/>
          </a:defRPr>
        </a:defPPr>
      </a:lstStyle>
    </a:lnDef>
  </a:objectDefaults>
  <a:extraClrSchemeLst>
    <a:extraClrScheme>
      <a:clrScheme name="Echo 1">
        <a:dk1>
          <a:srgbClr val="25252F"/>
        </a:dk1>
        <a:lt1>
          <a:srgbClr val="9999FF"/>
        </a:lt1>
        <a:dk2>
          <a:srgbClr val="000000"/>
        </a:dk2>
        <a:lt2>
          <a:srgbClr val="FFFFFF"/>
        </a:lt2>
        <a:accent1>
          <a:srgbClr val="3366FF"/>
        </a:accent1>
        <a:accent2>
          <a:srgbClr val="003399"/>
        </a:accent2>
        <a:accent3>
          <a:srgbClr val="AAAAAA"/>
        </a:accent3>
        <a:accent4>
          <a:srgbClr val="8282DA"/>
        </a:accent4>
        <a:accent5>
          <a:srgbClr val="ADB8FF"/>
        </a:accent5>
        <a:accent6>
          <a:srgbClr val="002D8A"/>
        </a:accent6>
        <a:hlink>
          <a:srgbClr val="009999"/>
        </a:hlink>
        <a:folHlink>
          <a:srgbClr val="B2B2B2"/>
        </a:folHlink>
      </a:clrScheme>
      <a:clrMap bg1="dk2" tx1="lt1" bg2="dk1" tx2="lt2" accent1="accent1" accent2="accent2" accent3="accent3" accent4="accent4" accent5="accent5" accent6="accent6" hlink="hlink" folHlink="folHlink"/>
    </a:extraClrScheme>
    <a:extraClrScheme>
      <a:clrScheme name="Echo 2">
        <a:dk1>
          <a:srgbClr val="314183"/>
        </a:dk1>
        <a:lt1>
          <a:srgbClr val="FFFFFF"/>
        </a:lt1>
        <a:dk2>
          <a:srgbClr val="0B1E45"/>
        </a:dk2>
        <a:lt2>
          <a:srgbClr val="FFFFFF"/>
        </a:lt2>
        <a:accent1>
          <a:srgbClr val="6666FF"/>
        </a:accent1>
        <a:accent2>
          <a:srgbClr val="0066FF"/>
        </a:accent2>
        <a:accent3>
          <a:srgbClr val="AAABB0"/>
        </a:accent3>
        <a:accent4>
          <a:srgbClr val="DADADA"/>
        </a:accent4>
        <a:accent5>
          <a:srgbClr val="B8B8FF"/>
        </a:accent5>
        <a:accent6>
          <a:srgbClr val="005CE7"/>
        </a:accent6>
        <a:hlink>
          <a:srgbClr val="006699"/>
        </a:hlink>
        <a:folHlink>
          <a:srgbClr val="B2B2B2"/>
        </a:folHlink>
      </a:clrScheme>
      <a:clrMap bg1="dk2" tx1="lt1" bg2="dk1" tx2="lt2" accent1="accent1" accent2="accent2" accent3="accent3" accent4="accent4" accent5="accent5" accent6="accent6" hlink="hlink" folHlink="folHlink"/>
    </a:extraClrScheme>
    <a:extraClrScheme>
      <a:clrScheme name="Echo 3">
        <a:dk1>
          <a:srgbClr val="194349"/>
        </a:dk1>
        <a:lt1>
          <a:srgbClr val="FFFFCC"/>
        </a:lt1>
        <a:dk2>
          <a:srgbClr val="006666"/>
        </a:dk2>
        <a:lt2>
          <a:srgbClr val="FFFFFF"/>
        </a:lt2>
        <a:accent1>
          <a:srgbClr val="99CC00"/>
        </a:accent1>
        <a:accent2>
          <a:srgbClr val="00B6B2"/>
        </a:accent2>
        <a:accent3>
          <a:srgbClr val="AAB8B8"/>
        </a:accent3>
        <a:accent4>
          <a:srgbClr val="DADAAE"/>
        </a:accent4>
        <a:accent5>
          <a:srgbClr val="CAE2AA"/>
        </a:accent5>
        <a:accent6>
          <a:srgbClr val="00A5A1"/>
        </a:accent6>
        <a:hlink>
          <a:srgbClr val="669900"/>
        </a:hlink>
        <a:folHlink>
          <a:srgbClr val="666699"/>
        </a:folHlink>
      </a:clrScheme>
      <a:clrMap bg1="dk2" tx1="lt1" bg2="dk1" tx2="lt2" accent1="accent1" accent2="accent2" accent3="accent3" accent4="accent4" accent5="accent5" accent6="accent6" hlink="hlink" folHlink="folHlink"/>
    </a:extraClrScheme>
    <a:extraClrScheme>
      <a:clrScheme name="Echo 4">
        <a:dk1>
          <a:srgbClr val="194349"/>
        </a:dk1>
        <a:lt1>
          <a:srgbClr val="FFFFCC"/>
        </a:lt1>
        <a:dk2>
          <a:srgbClr val="0000FF"/>
        </a:dk2>
        <a:lt2>
          <a:srgbClr val="FFFFFF"/>
        </a:lt2>
        <a:accent1>
          <a:srgbClr val="0099FF"/>
        </a:accent1>
        <a:accent2>
          <a:srgbClr val="33CC33"/>
        </a:accent2>
        <a:accent3>
          <a:srgbClr val="AAAAFF"/>
        </a:accent3>
        <a:accent4>
          <a:srgbClr val="DADAAE"/>
        </a:accent4>
        <a:accent5>
          <a:srgbClr val="AACAFF"/>
        </a:accent5>
        <a:accent6>
          <a:srgbClr val="2DB92D"/>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cho 5">
        <a:dk1>
          <a:srgbClr val="194349"/>
        </a:dk1>
        <a:lt1>
          <a:srgbClr val="FFFFCC"/>
        </a:lt1>
        <a:dk2>
          <a:srgbClr val="72A497"/>
        </a:dk2>
        <a:lt2>
          <a:srgbClr val="000000"/>
        </a:lt2>
        <a:accent1>
          <a:srgbClr val="805D32"/>
        </a:accent1>
        <a:accent2>
          <a:srgbClr val="7D2F3C"/>
        </a:accent2>
        <a:accent3>
          <a:srgbClr val="BCCFC9"/>
        </a:accent3>
        <a:accent4>
          <a:srgbClr val="DADAAE"/>
        </a:accent4>
        <a:accent5>
          <a:srgbClr val="C0B6AD"/>
        </a:accent5>
        <a:accent6>
          <a:srgbClr val="712A35"/>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cho 6">
        <a:dk1>
          <a:srgbClr val="1C1C1C"/>
        </a:dk1>
        <a:lt1>
          <a:srgbClr val="FFFFFF"/>
        </a:lt1>
        <a:dk2>
          <a:srgbClr val="710F0F"/>
        </a:dk2>
        <a:lt2>
          <a:srgbClr val="FFFFFF"/>
        </a:lt2>
        <a:accent1>
          <a:srgbClr val="FF9900"/>
        </a:accent1>
        <a:accent2>
          <a:srgbClr val="FF3300"/>
        </a:accent2>
        <a:accent3>
          <a:srgbClr val="BBAAAA"/>
        </a:accent3>
        <a:accent4>
          <a:srgbClr val="DADADA"/>
        </a:accent4>
        <a:accent5>
          <a:srgbClr val="FFCAAA"/>
        </a:accent5>
        <a:accent6>
          <a:srgbClr val="E72D00"/>
        </a:accent6>
        <a:hlink>
          <a:srgbClr val="666699"/>
        </a:hlink>
        <a:folHlink>
          <a:srgbClr val="996633"/>
        </a:folHlink>
      </a:clrScheme>
      <a:clrMap bg1="dk2" tx1="lt1" bg2="dk1" tx2="lt2" accent1="accent1" accent2="accent2" accent3="accent3" accent4="accent4" accent5="accent5" accent6="accent6" hlink="hlink" folHlink="folHlink"/>
    </a:extraClrScheme>
    <a:extraClrScheme>
      <a:clrScheme name="Echo 7">
        <a:dk1>
          <a:srgbClr val="336666"/>
        </a:dk1>
        <a:lt1>
          <a:srgbClr val="FFFFFF"/>
        </a:lt1>
        <a:dk2>
          <a:srgbClr val="000000"/>
        </a:dk2>
        <a:lt2>
          <a:srgbClr val="666699"/>
        </a:lt2>
        <a:accent1>
          <a:srgbClr val="99CCCC"/>
        </a:accent1>
        <a:accent2>
          <a:srgbClr val="CCCCCC"/>
        </a:accent2>
        <a:accent3>
          <a:srgbClr val="FFFFFF"/>
        </a:accent3>
        <a:accent4>
          <a:srgbClr val="2A5656"/>
        </a:accent4>
        <a:accent5>
          <a:srgbClr val="CAE2E2"/>
        </a:accent5>
        <a:accent6>
          <a:srgbClr val="B9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ho 8">
        <a:dk1>
          <a:srgbClr val="000000"/>
        </a:dk1>
        <a:lt1>
          <a:srgbClr val="FFFFFF"/>
        </a:lt1>
        <a:dk2>
          <a:srgbClr val="000000"/>
        </a:dk2>
        <a:lt2>
          <a:srgbClr val="666699"/>
        </a:lt2>
        <a:accent1>
          <a:srgbClr val="FF9900"/>
        </a:accent1>
        <a:accent2>
          <a:srgbClr val="FF0000"/>
        </a:accent2>
        <a:accent3>
          <a:srgbClr val="FFFFFF"/>
        </a:accent3>
        <a:accent4>
          <a:srgbClr val="000000"/>
        </a:accent4>
        <a:accent5>
          <a:srgbClr val="FFCAAA"/>
        </a:accent5>
        <a:accent6>
          <a:srgbClr val="E70000"/>
        </a:accent6>
        <a:hlink>
          <a:srgbClr val="336699"/>
        </a:hlink>
        <a:folHlink>
          <a:srgbClr val="808080"/>
        </a:folHlink>
      </a:clrScheme>
      <a:clrMap bg1="lt1" tx1="dk1" bg2="lt2" tx2="dk2" accent1="accent1" accent2="accent2" accent3="accent3" accent4="accent4" accent5="accent5" accent6="accent6" hlink="hlink" folHlink="folHlink"/>
    </a:extraClrScheme>
    <a:extraClrScheme>
      <a:clrScheme name="Echo 9">
        <a:dk1>
          <a:srgbClr val="000000"/>
        </a:dk1>
        <a:lt1>
          <a:srgbClr val="FFFFFF"/>
        </a:lt1>
        <a:dk2>
          <a:srgbClr val="000000"/>
        </a:dk2>
        <a:lt2>
          <a:srgbClr val="666699"/>
        </a:lt2>
        <a:accent1>
          <a:srgbClr val="CC3300"/>
        </a:accent1>
        <a:accent2>
          <a:srgbClr val="CC9900"/>
        </a:accent2>
        <a:accent3>
          <a:srgbClr val="FFFFFF"/>
        </a:accent3>
        <a:accent4>
          <a:srgbClr val="000000"/>
        </a:accent4>
        <a:accent5>
          <a:srgbClr val="E2ADAA"/>
        </a:accent5>
        <a:accent6>
          <a:srgbClr val="B98A00"/>
        </a:accent6>
        <a:hlink>
          <a:srgbClr val="CC6600"/>
        </a:hlink>
        <a:folHlink>
          <a:srgbClr val="808080"/>
        </a:folHlink>
      </a:clrScheme>
      <a:clrMap bg1="lt1" tx1="dk1" bg2="lt2" tx2="dk2" accent1="accent1" accent2="accent2" accent3="accent3" accent4="accent4" accent5="accent5" accent6="accent6" hlink="hlink" folHlink="folHlink"/>
    </a:extraClrScheme>
    <a:extraClrScheme>
      <a:clrScheme name="Echo 10">
        <a:dk1>
          <a:srgbClr val="000000"/>
        </a:dk1>
        <a:lt1>
          <a:srgbClr val="FFFFFF"/>
        </a:lt1>
        <a:dk2>
          <a:srgbClr val="000000"/>
        </a:dk2>
        <a:lt2>
          <a:srgbClr val="666699"/>
        </a:lt2>
        <a:accent1>
          <a:srgbClr val="666699"/>
        </a:accent1>
        <a:accent2>
          <a:srgbClr val="9999FF"/>
        </a:accent2>
        <a:accent3>
          <a:srgbClr val="FFFFFF"/>
        </a:accent3>
        <a:accent4>
          <a:srgbClr val="000000"/>
        </a:accent4>
        <a:accent5>
          <a:srgbClr val="B8B8CA"/>
        </a:accent5>
        <a:accent6>
          <a:srgbClr val="8A8AE7"/>
        </a:accent6>
        <a:hlink>
          <a:srgbClr val="3366FF"/>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Echo">
  <a:themeElements>
    <a:clrScheme name="1_Echo 7">
      <a:dk1>
        <a:srgbClr val="336666"/>
      </a:dk1>
      <a:lt1>
        <a:srgbClr val="FFFFFF"/>
      </a:lt1>
      <a:dk2>
        <a:srgbClr val="000000"/>
      </a:dk2>
      <a:lt2>
        <a:srgbClr val="666699"/>
      </a:lt2>
      <a:accent1>
        <a:srgbClr val="99CCCC"/>
      </a:accent1>
      <a:accent2>
        <a:srgbClr val="CCCCCC"/>
      </a:accent2>
      <a:accent3>
        <a:srgbClr val="FFFFFF"/>
      </a:accent3>
      <a:accent4>
        <a:srgbClr val="2A5656"/>
      </a:accent4>
      <a:accent5>
        <a:srgbClr val="CAE2E2"/>
      </a:accent5>
      <a:accent6>
        <a:srgbClr val="B9B9B9"/>
      </a:accent6>
      <a:hlink>
        <a:srgbClr val="006666"/>
      </a:hlink>
      <a:folHlink>
        <a:srgbClr val="B2B2B2"/>
      </a:folHlink>
    </a:clrScheme>
    <a:fontScheme name="1_Echo">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600" b="0" i="1" u="none" strike="noStrike" cap="none" normalizeH="0" baseline="0">
            <a:ln>
              <a:noFill/>
            </a:ln>
            <a:solidFill>
              <a:schemeClr val="tx1"/>
            </a:solidFill>
            <a:effectLst/>
            <a:latin typeface="Arial" charset="0"/>
            <a:ea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600" b="0" i="1" u="none" strike="noStrike" cap="none" normalizeH="0" baseline="0">
            <a:ln>
              <a:noFill/>
            </a:ln>
            <a:solidFill>
              <a:schemeClr val="tx1"/>
            </a:solidFill>
            <a:effectLst/>
            <a:latin typeface="Arial" charset="0"/>
            <a:ea typeface="Arial" charset="0"/>
            <a:cs typeface="Arial" charset="0"/>
          </a:defRPr>
        </a:defPPr>
      </a:lstStyle>
    </a:lnDef>
  </a:objectDefaults>
  <a:extraClrSchemeLst>
    <a:extraClrScheme>
      <a:clrScheme name="1_Echo 1">
        <a:dk1>
          <a:srgbClr val="25252F"/>
        </a:dk1>
        <a:lt1>
          <a:srgbClr val="9999FF"/>
        </a:lt1>
        <a:dk2>
          <a:srgbClr val="000000"/>
        </a:dk2>
        <a:lt2>
          <a:srgbClr val="FFFFFF"/>
        </a:lt2>
        <a:accent1>
          <a:srgbClr val="3366FF"/>
        </a:accent1>
        <a:accent2>
          <a:srgbClr val="003399"/>
        </a:accent2>
        <a:accent3>
          <a:srgbClr val="AAAAAA"/>
        </a:accent3>
        <a:accent4>
          <a:srgbClr val="8282DA"/>
        </a:accent4>
        <a:accent5>
          <a:srgbClr val="ADB8FF"/>
        </a:accent5>
        <a:accent6>
          <a:srgbClr val="002D8A"/>
        </a:accent6>
        <a:hlink>
          <a:srgbClr val="009999"/>
        </a:hlink>
        <a:folHlink>
          <a:srgbClr val="B2B2B2"/>
        </a:folHlink>
      </a:clrScheme>
      <a:clrMap bg1="dk2" tx1="lt1" bg2="dk1" tx2="lt2" accent1="accent1" accent2="accent2" accent3="accent3" accent4="accent4" accent5="accent5" accent6="accent6" hlink="hlink" folHlink="folHlink"/>
    </a:extraClrScheme>
    <a:extraClrScheme>
      <a:clrScheme name="1_Echo 2">
        <a:dk1>
          <a:srgbClr val="314183"/>
        </a:dk1>
        <a:lt1>
          <a:srgbClr val="FFFFFF"/>
        </a:lt1>
        <a:dk2>
          <a:srgbClr val="0B1E45"/>
        </a:dk2>
        <a:lt2>
          <a:srgbClr val="FFFFFF"/>
        </a:lt2>
        <a:accent1>
          <a:srgbClr val="6666FF"/>
        </a:accent1>
        <a:accent2>
          <a:srgbClr val="0066FF"/>
        </a:accent2>
        <a:accent3>
          <a:srgbClr val="AAABB0"/>
        </a:accent3>
        <a:accent4>
          <a:srgbClr val="DADADA"/>
        </a:accent4>
        <a:accent5>
          <a:srgbClr val="B8B8FF"/>
        </a:accent5>
        <a:accent6>
          <a:srgbClr val="005CE7"/>
        </a:accent6>
        <a:hlink>
          <a:srgbClr val="006699"/>
        </a:hlink>
        <a:folHlink>
          <a:srgbClr val="B2B2B2"/>
        </a:folHlink>
      </a:clrScheme>
      <a:clrMap bg1="dk2" tx1="lt1" bg2="dk1" tx2="lt2" accent1="accent1" accent2="accent2" accent3="accent3" accent4="accent4" accent5="accent5" accent6="accent6" hlink="hlink" folHlink="folHlink"/>
    </a:extraClrScheme>
    <a:extraClrScheme>
      <a:clrScheme name="1_Echo 3">
        <a:dk1>
          <a:srgbClr val="194349"/>
        </a:dk1>
        <a:lt1>
          <a:srgbClr val="FFFFCC"/>
        </a:lt1>
        <a:dk2>
          <a:srgbClr val="006666"/>
        </a:dk2>
        <a:lt2>
          <a:srgbClr val="FFFFFF"/>
        </a:lt2>
        <a:accent1>
          <a:srgbClr val="99CC00"/>
        </a:accent1>
        <a:accent2>
          <a:srgbClr val="00B6B2"/>
        </a:accent2>
        <a:accent3>
          <a:srgbClr val="AAB8B8"/>
        </a:accent3>
        <a:accent4>
          <a:srgbClr val="DADAAE"/>
        </a:accent4>
        <a:accent5>
          <a:srgbClr val="CAE2AA"/>
        </a:accent5>
        <a:accent6>
          <a:srgbClr val="00A5A1"/>
        </a:accent6>
        <a:hlink>
          <a:srgbClr val="669900"/>
        </a:hlink>
        <a:folHlink>
          <a:srgbClr val="666699"/>
        </a:folHlink>
      </a:clrScheme>
      <a:clrMap bg1="dk2" tx1="lt1" bg2="dk1" tx2="lt2" accent1="accent1" accent2="accent2" accent3="accent3" accent4="accent4" accent5="accent5" accent6="accent6" hlink="hlink" folHlink="folHlink"/>
    </a:extraClrScheme>
    <a:extraClrScheme>
      <a:clrScheme name="1_Echo 4">
        <a:dk1>
          <a:srgbClr val="194349"/>
        </a:dk1>
        <a:lt1>
          <a:srgbClr val="FFFFCC"/>
        </a:lt1>
        <a:dk2>
          <a:srgbClr val="0000FF"/>
        </a:dk2>
        <a:lt2>
          <a:srgbClr val="FFFFFF"/>
        </a:lt2>
        <a:accent1>
          <a:srgbClr val="0099FF"/>
        </a:accent1>
        <a:accent2>
          <a:srgbClr val="33CC33"/>
        </a:accent2>
        <a:accent3>
          <a:srgbClr val="AAAAFF"/>
        </a:accent3>
        <a:accent4>
          <a:srgbClr val="DADAAE"/>
        </a:accent4>
        <a:accent5>
          <a:srgbClr val="AACAFF"/>
        </a:accent5>
        <a:accent6>
          <a:srgbClr val="2DB92D"/>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1_Echo 5">
        <a:dk1>
          <a:srgbClr val="194349"/>
        </a:dk1>
        <a:lt1>
          <a:srgbClr val="FFFFCC"/>
        </a:lt1>
        <a:dk2>
          <a:srgbClr val="72A497"/>
        </a:dk2>
        <a:lt2>
          <a:srgbClr val="000000"/>
        </a:lt2>
        <a:accent1>
          <a:srgbClr val="805D32"/>
        </a:accent1>
        <a:accent2>
          <a:srgbClr val="7D2F3C"/>
        </a:accent2>
        <a:accent3>
          <a:srgbClr val="BCCFC9"/>
        </a:accent3>
        <a:accent4>
          <a:srgbClr val="DADAAE"/>
        </a:accent4>
        <a:accent5>
          <a:srgbClr val="C0B6AD"/>
        </a:accent5>
        <a:accent6>
          <a:srgbClr val="712A35"/>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1_Echo 6">
        <a:dk1>
          <a:srgbClr val="1C1C1C"/>
        </a:dk1>
        <a:lt1>
          <a:srgbClr val="FFFFFF"/>
        </a:lt1>
        <a:dk2>
          <a:srgbClr val="710F0F"/>
        </a:dk2>
        <a:lt2>
          <a:srgbClr val="FFFFFF"/>
        </a:lt2>
        <a:accent1>
          <a:srgbClr val="FF9900"/>
        </a:accent1>
        <a:accent2>
          <a:srgbClr val="FF3300"/>
        </a:accent2>
        <a:accent3>
          <a:srgbClr val="BBAAAA"/>
        </a:accent3>
        <a:accent4>
          <a:srgbClr val="DADADA"/>
        </a:accent4>
        <a:accent5>
          <a:srgbClr val="FFCAAA"/>
        </a:accent5>
        <a:accent6>
          <a:srgbClr val="E72D00"/>
        </a:accent6>
        <a:hlink>
          <a:srgbClr val="666699"/>
        </a:hlink>
        <a:folHlink>
          <a:srgbClr val="996633"/>
        </a:folHlink>
      </a:clrScheme>
      <a:clrMap bg1="dk2" tx1="lt1" bg2="dk1" tx2="lt2" accent1="accent1" accent2="accent2" accent3="accent3" accent4="accent4" accent5="accent5" accent6="accent6" hlink="hlink" folHlink="folHlink"/>
    </a:extraClrScheme>
    <a:extraClrScheme>
      <a:clrScheme name="1_Echo 7">
        <a:dk1>
          <a:srgbClr val="336666"/>
        </a:dk1>
        <a:lt1>
          <a:srgbClr val="FFFFFF"/>
        </a:lt1>
        <a:dk2>
          <a:srgbClr val="000000"/>
        </a:dk2>
        <a:lt2>
          <a:srgbClr val="666699"/>
        </a:lt2>
        <a:accent1>
          <a:srgbClr val="99CCCC"/>
        </a:accent1>
        <a:accent2>
          <a:srgbClr val="CCCCCC"/>
        </a:accent2>
        <a:accent3>
          <a:srgbClr val="FFFFFF"/>
        </a:accent3>
        <a:accent4>
          <a:srgbClr val="2A5656"/>
        </a:accent4>
        <a:accent5>
          <a:srgbClr val="CAE2E2"/>
        </a:accent5>
        <a:accent6>
          <a:srgbClr val="B9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1_Echo 8">
        <a:dk1>
          <a:srgbClr val="000000"/>
        </a:dk1>
        <a:lt1>
          <a:srgbClr val="FFFFFF"/>
        </a:lt1>
        <a:dk2>
          <a:srgbClr val="000000"/>
        </a:dk2>
        <a:lt2>
          <a:srgbClr val="666699"/>
        </a:lt2>
        <a:accent1>
          <a:srgbClr val="FF9900"/>
        </a:accent1>
        <a:accent2>
          <a:srgbClr val="FF0000"/>
        </a:accent2>
        <a:accent3>
          <a:srgbClr val="FFFFFF"/>
        </a:accent3>
        <a:accent4>
          <a:srgbClr val="000000"/>
        </a:accent4>
        <a:accent5>
          <a:srgbClr val="FFCAAA"/>
        </a:accent5>
        <a:accent6>
          <a:srgbClr val="E70000"/>
        </a:accent6>
        <a:hlink>
          <a:srgbClr val="336699"/>
        </a:hlink>
        <a:folHlink>
          <a:srgbClr val="808080"/>
        </a:folHlink>
      </a:clrScheme>
      <a:clrMap bg1="lt1" tx1="dk1" bg2="lt2" tx2="dk2" accent1="accent1" accent2="accent2" accent3="accent3" accent4="accent4" accent5="accent5" accent6="accent6" hlink="hlink" folHlink="folHlink"/>
    </a:extraClrScheme>
    <a:extraClrScheme>
      <a:clrScheme name="1_Echo 9">
        <a:dk1>
          <a:srgbClr val="000000"/>
        </a:dk1>
        <a:lt1>
          <a:srgbClr val="FFFFFF"/>
        </a:lt1>
        <a:dk2>
          <a:srgbClr val="000000"/>
        </a:dk2>
        <a:lt2>
          <a:srgbClr val="666699"/>
        </a:lt2>
        <a:accent1>
          <a:srgbClr val="CC3300"/>
        </a:accent1>
        <a:accent2>
          <a:srgbClr val="CC9900"/>
        </a:accent2>
        <a:accent3>
          <a:srgbClr val="FFFFFF"/>
        </a:accent3>
        <a:accent4>
          <a:srgbClr val="000000"/>
        </a:accent4>
        <a:accent5>
          <a:srgbClr val="E2ADAA"/>
        </a:accent5>
        <a:accent6>
          <a:srgbClr val="B98A00"/>
        </a:accent6>
        <a:hlink>
          <a:srgbClr val="CC6600"/>
        </a:hlink>
        <a:folHlink>
          <a:srgbClr val="808080"/>
        </a:folHlink>
      </a:clrScheme>
      <a:clrMap bg1="lt1" tx1="dk1" bg2="lt2" tx2="dk2" accent1="accent1" accent2="accent2" accent3="accent3" accent4="accent4" accent5="accent5" accent6="accent6" hlink="hlink" folHlink="folHlink"/>
    </a:extraClrScheme>
    <a:extraClrScheme>
      <a:clrScheme name="1_Echo 10">
        <a:dk1>
          <a:srgbClr val="000000"/>
        </a:dk1>
        <a:lt1>
          <a:srgbClr val="FFFFFF"/>
        </a:lt1>
        <a:dk2>
          <a:srgbClr val="000000"/>
        </a:dk2>
        <a:lt2>
          <a:srgbClr val="666699"/>
        </a:lt2>
        <a:accent1>
          <a:srgbClr val="666699"/>
        </a:accent1>
        <a:accent2>
          <a:srgbClr val="9999FF"/>
        </a:accent2>
        <a:accent3>
          <a:srgbClr val="FFFFFF"/>
        </a:accent3>
        <a:accent4>
          <a:srgbClr val="000000"/>
        </a:accent4>
        <a:accent5>
          <a:srgbClr val="B8B8CA"/>
        </a:accent5>
        <a:accent6>
          <a:srgbClr val="8A8AE7"/>
        </a:accent6>
        <a:hlink>
          <a:srgbClr val="3366FF"/>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62992</TotalTime>
  <Words>1407</Words>
  <Application>Microsoft Office PowerPoint</Application>
  <PresentationFormat>On-screen Show (4:3)</PresentationFormat>
  <Paragraphs>284</Paragraphs>
  <Slides>39</Slides>
  <Notes>3</Notes>
  <HiddenSlides>0</HiddenSlides>
  <MMClips>6</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6</vt:i4>
      </vt:variant>
      <vt:variant>
        <vt:lpstr>Slide Titles</vt:lpstr>
      </vt:variant>
      <vt:variant>
        <vt:i4>39</vt:i4>
      </vt:variant>
    </vt:vector>
  </HeadingPairs>
  <TitlesOfParts>
    <vt:vector size="54" baseType="lpstr">
      <vt:lpstr>Arial</vt:lpstr>
      <vt:lpstr>Wingdings</vt:lpstr>
      <vt:lpstr>ＭＳ Ｐゴシック</vt:lpstr>
      <vt:lpstr>Times New Roman</vt:lpstr>
      <vt:lpstr>Helvetica</vt:lpstr>
      <vt:lpstr>Montara Std Gothic</vt:lpstr>
      <vt:lpstr>Cambria</vt:lpstr>
      <vt:lpstr>Echo</vt:lpstr>
      <vt:lpstr>1_Echo</vt:lpstr>
      <vt:lpstr>Photo Editor Photo</vt:lpstr>
      <vt:lpstr>CorelDRAW 11.0 Graphic</vt:lpstr>
      <vt:lpstr>Microsoft Equation 3.0</vt:lpstr>
      <vt:lpstr>Microsoft Equation</vt:lpstr>
      <vt:lpstr>Adobe Photoshop Image</vt:lpstr>
      <vt:lpstr>VISIO 5 Drawing</vt:lpstr>
      <vt:lpstr>Introducing Embedded Systems:  A Cyber- Physical Approach</vt:lpstr>
      <vt:lpstr>Cyber-Physical Systems (CPS): Orchestrating networked computational  resources with physical systems</vt:lpstr>
      <vt:lpstr>Where CPS Differs from the traditional embedded systems problem:</vt:lpstr>
      <vt:lpstr>Content of an Embedded Systems Course</vt:lpstr>
      <vt:lpstr>A Theme in our CPS Courses: Model-based design</vt:lpstr>
      <vt:lpstr>CPS is Multidisciplinary </vt:lpstr>
      <vt:lpstr>The Educational Challenge (1)</vt:lpstr>
      <vt:lpstr>An Advantage:  A Unified EECS Department</vt:lpstr>
      <vt:lpstr>The Educational Challenge (2)</vt:lpstr>
      <vt:lpstr>The Graduate Curriculum</vt:lpstr>
      <vt:lpstr>New Undergraduate Course (Spring 2008) “Introduction to Embedded Systems”</vt:lpstr>
      <vt:lpstr>Modeling Physical Dynamics</vt:lpstr>
      <vt:lpstr>Feedback Control Problem</vt:lpstr>
      <vt:lpstr>Actor Model of Systems</vt:lpstr>
      <vt:lpstr>Proportional controller</vt:lpstr>
      <vt:lpstr>State Machines and Modal Models</vt:lpstr>
      <vt:lpstr>Hybrid Systems are Modal Models Example: Spring-mass system with collisions</vt:lpstr>
      <vt:lpstr>A bit about Simulation Technologies, both  Discrete and Continuous</vt:lpstr>
      <vt:lpstr>Lab Exercise – Version 1</vt:lpstr>
      <vt:lpstr>Model-Based  Design  Solution</vt:lpstr>
      <vt:lpstr>Real-World Version: Modal Model (Finite-State Machine) for Engine Control</vt:lpstr>
      <vt:lpstr>Sensors: Spring-Mass-Damper Model of an Accelerometer: Use as a Tilt Sensor</vt:lpstr>
      <vt:lpstr>Silicon Accelerometer Design comes from Berkeley</vt:lpstr>
      <vt:lpstr>What Sensors to Use: Kingvale Blower Berkeley PATH Project, March, 2005</vt:lpstr>
      <vt:lpstr>Sensors used here: Magnetometers</vt:lpstr>
      <vt:lpstr>Design Issues with Sensors</vt:lpstr>
      <vt:lpstr>Slide 27</vt:lpstr>
      <vt:lpstr>Other Topics</vt:lpstr>
      <vt:lpstr>Lab Structure</vt:lpstr>
      <vt:lpstr>Tools Used in the Lab</vt:lpstr>
      <vt:lpstr>Version 2: Modified Platform</vt:lpstr>
      <vt:lpstr>Structured Labs followed by Team Projects</vt:lpstr>
      <vt:lpstr>Example Class Project</vt:lpstr>
      <vt:lpstr>Example Class Project</vt:lpstr>
      <vt:lpstr>Slide 35</vt:lpstr>
      <vt:lpstr>Slide 36</vt:lpstr>
      <vt:lpstr>Slide 37</vt:lpstr>
      <vt:lpstr>Slide 38</vt:lpstr>
      <vt:lpstr>Conclusion</vt:lpstr>
    </vt:vector>
  </TitlesOfParts>
  <Company>EECS Dept., UC Berkeley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and Systems Frameworks</dc:title>
  <dc:creator>Edward A. Lee</dc:creator>
  <cp:lastModifiedBy>EECS</cp:lastModifiedBy>
  <cp:revision>1540</cp:revision>
  <cp:lastPrinted>1601-01-01T00:00:00Z</cp:lastPrinted>
  <dcterms:created xsi:type="dcterms:W3CDTF">2009-10-13T09:57:00Z</dcterms:created>
  <dcterms:modified xsi:type="dcterms:W3CDTF">2010-02-04T20:33:48Z</dcterms:modified>
</cp:coreProperties>
</file>