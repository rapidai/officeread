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7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8" r:id="rId18"/>
    <p:sldId id="272" r:id="rId19"/>
    <p:sldId id="273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78" autoAdjust="0"/>
  </p:normalViewPr>
  <p:slideViewPr>
    <p:cSldViewPr>
      <p:cViewPr>
        <p:scale>
          <a:sx n="60" d="100"/>
          <a:sy n="60" d="100"/>
        </p:scale>
        <p:origin x="-114" y="-5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CB64DC-71C5-42D5-A8E5-FD48C057E191}" type="datetimeFigureOut">
              <a:rPr lang="en-CA" smtClean="0"/>
              <a:t>16/09/2011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70BFF4-FDCE-4667-A00E-D10151CDEAF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7063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70BFF4-FDCE-4667-A00E-D10151CDEAFD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0822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6E3F6190-326E-4E52-B34D-980B40E2C833}" type="datetimeFigureOut">
              <a:rPr lang="en-CA" smtClean="0"/>
              <a:t>16/09/2011</a:t>
            </a:fld>
            <a:endParaRPr lang="en-CA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3F7D7E42-65A9-46A2-991E-9EAC5430BFAB}" type="slidenum">
              <a:rPr lang="en-CA" smtClean="0"/>
              <a:t>‹#›</a:t>
            </a:fld>
            <a:endParaRPr lang="en-CA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F6190-326E-4E52-B34D-980B40E2C833}" type="datetimeFigureOut">
              <a:rPr lang="en-CA" smtClean="0"/>
              <a:t>16/09/2011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E42-65A9-46A2-991E-9EAC5430BFAB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F6190-326E-4E52-B34D-980B40E2C833}" type="datetimeFigureOut">
              <a:rPr lang="en-CA" smtClean="0"/>
              <a:t>16/09/2011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E42-65A9-46A2-991E-9EAC5430BFAB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F6190-326E-4E52-B34D-980B40E2C833}" type="datetimeFigureOut">
              <a:rPr lang="en-CA" smtClean="0"/>
              <a:t>16/09/2011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E42-65A9-46A2-991E-9EAC5430BFAB}" type="slidenum">
              <a:rPr lang="en-CA" smtClean="0"/>
              <a:t>‹#›</a:t>
            </a:fld>
            <a:endParaRPr lang="en-CA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F6190-326E-4E52-B34D-980B40E2C833}" type="datetimeFigureOut">
              <a:rPr lang="en-CA" smtClean="0"/>
              <a:t>16/09/2011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E42-65A9-46A2-991E-9EAC5430BFAB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F6190-326E-4E52-B34D-980B40E2C833}" type="datetimeFigureOut">
              <a:rPr lang="en-CA" smtClean="0"/>
              <a:t>16/09/2011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E42-65A9-46A2-991E-9EAC5430BFAB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F6190-326E-4E52-B34D-980B40E2C833}" type="datetimeFigureOut">
              <a:rPr lang="en-CA" smtClean="0"/>
              <a:t>16/09/2011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E42-65A9-46A2-991E-9EAC5430BFAB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F6190-326E-4E52-B34D-980B40E2C833}" type="datetimeFigureOut">
              <a:rPr lang="en-CA" smtClean="0"/>
              <a:t>16/09/2011</a:t>
            </a:fld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E42-65A9-46A2-991E-9EAC5430BFAB}" type="slidenum">
              <a:rPr lang="en-CA" smtClean="0"/>
              <a:t>‹#›</a:t>
            </a:fld>
            <a:endParaRPr lang="en-CA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F6190-326E-4E52-B34D-980B40E2C833}" type="datetimeFigureOut">
              <a:rPr lang="en-CA" smtClean="0"/>
              <a:t>16/09/2011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E42-65A9-46A2-991E-9EAC5430BFAB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F6190-326E-4E52-B34D-980B40E2C833}" type="datetimeFigureOut">
              <a:rPr lang="en-CA" smtClean="0"/>
              <a:t>16/09/2011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E42-65A9-46A2-991E-9EAC5430BFAB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F6190-326E-4E52-B34D-980B40E2C833}" type="datetimeFigureOut">
              <a:rPr lang="en-CA" smtClean="0"/>
              <a:t>16/09/2011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D7E42-65A9-46A2-991E-9EAC5430BFAB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6E3F6190-326E-4E52-B34D-980B40E2C833}" type="datetimeFigureOut">
              <a:rPr lang="en-CA" smtClean="0"/>
              <a:t>16/09/2011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3F7D7E42-65A9-46A2-991E-9EAC5430BFAB}" type="slidenum">
              <a:rPr lang="en-CA" smtClean="0"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smtClean="0">
                <a:solidFill>
                  <a:schemeClr val="accent1">
                    <a:lumMod val="50000"/>
                  </a:schemeClr>
                </a:solidFill>
              </a:rPr>
              <a:t>Lesson 8</a:t>
            </a:r>
            <a:endParaRPr lang="en-CA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Life </a:t>
            </a:r>
            <a:r>
              <a:rPr lang="en-CA" dirty="0" smtClean="0"/>
              <a:t>intelligence (LQ): </a:t>
            </a:r>
            <a:r>
              <a:rPr lang="en-CA" dirty="0"/>
              <a:t>Understanding who you are and what life is all about</a:t>
            </a:r>
          </a:p>
        </p:txBody>
      </p:sp>
    </p:spTree>
    <p:extLst>
      <p:ext uri="{BB962C8B-B14F-4D97-AF65-F5344CB8AC3E}">
        <p14:creationId xmlns:p14="http://schemas.microsoft.com/office/powerpoint/2010/main" val="3012598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CA" b="1" dirty="0">
                <a:solidFill>
                  <a:schemeClr val="accent1">
                    <a:lumMod val="50000"/>
                  </a:schemeClr>
                </a:solidFill>
              </a:rPr>
              <a:t>Objectives: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5780" lvl="0" indent="-457200">
              <a:buFont typeface="+mj-lt"/>
              <a:buAutoNum type="arabicPeriod"/>
            </a:pPr>
            <a:r>
              <a:rPr lang="en-CA" dirty="0" smtClean="0"/>
              <a:t>To learn the concept of life intelligence (LQ).</a:t>
            </a:r>
          </a:p>
          <a:p>
            <a:pPr marL="525780" indent="-457200">
              <a:buFont typeface="+mj-lt"/>
              <a:buAutoNum type="arabicPeriod"/>
            </a:pPr>
            <a:r>
              <a:rPr lang="en-CA" dirty="0" smtClean="0"/>
              <a:t>To understand why LQ is necessary for meaningful living.</a:t>
            </a:r>
            <a:endParaRPr lang="en-CA" dirty="0"/>
          </a:p>
          <a:p>
            <a:pPr marL="525780" lvl="0" indent="-457200">
              <a:buFont typeface="+mj-lt"/>
              <a:buAutoNum type="arabicPeriod"/>
            </a:pPr>
            <a:r>
              <a:rPr lang="en-CA" dirty="0" smtClean="0"/>
              <a:t>To understand the important role of LQ in minimizing mistakes and problems and at the same time, maximizing the likelihood of flourishing.</a:t>
            </a:r>
          </a:p>
        </p:txBody>
      </p:sp>
    </p:spTree>
    <p:extLst>
      <p:ext uri="{BB962C8B-B14F-4D97-AF65-F5344CB8AC3E}">
        <p14:creationId xmlns:p14="http://schemas.microsoft.com/office/powerpoint/2010/main" val="2414614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Introduction</a:t>
            </a:r>
            <a:endParaRPr lang="en-CA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6777317" cy="4129684"/>
          </a:xfrm>
        </p:spPr>
        <p:txBody>
          <a:bodyPr>
            <a:normAutofit/>
          </a:bodyPr>
          <a:lstStyle/>
          <a:p>
            <a:r>
              <a:rPr lang="en-CA" dirty="0"/>
              <a:t>We have already learned the blueprint for meaningful living.</a:t>
            </a:r>
          </a:p>
          <a:p>
            <a:endParaRPr lang="en-CA" dirty="0"/>
          </a:p>
          <a:p>
            <a:r>
              <a:rPr lang="en-CA" dirty="0"/>
              <a:t>What kind of intelligence do we need in order to implement the plan?</a:t>
            </a:r>
          </a:p>
          <a:p>
            <a:endParaRPr lang="en-CA" dirty="0"/>
          </a:p>
          <a:p>
            <a:r>
              <a:rPr lang="en-CA" dirty="0"/>
              <a:t>We propose that it takes life intelligence to live well and die well.</a:t>
            </a:r>
          </a:p>
        </p:txBody>
      </p:sp>
    </p:spTree>
    <p:extLst>
      <p:ext uri="{BB962C8B-B14F-4D97-AF65-F5344CB8AC3E}">
        <p14:creationId xmlns:p14="http://schemas.microsoft.com/office/powerpoint/2010/main" val="2618142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en-CA" b="1" dirty="0">
                <a:solidFill>
                  <a:schemeClr val="accent1">
                    <a:lumMod val="50000"/>
                  </a:schemeClr>
                </a:solidFill>
              </a:rPr>
              <a:t>The Need for Life </a:t>
            </a:r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Intelligence</a:t>
            </a:r>
            <a:endParaRPr lang="en-CA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CA" dirty="0"/>
              <a:t>You need high IQ to do well in school</a:t>
            </a:r>
            <a:r>
              <a:rPr lang="en-CA" dirty="0" smtClean="0"/>
              <a:t>.</a:t>
            </a:r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You </a:t>
            </a:r>
            <a:r>
              <a:rPr lang="en-CA" dirty="0"/>
              <a:t>need high EQ to succeed in the business world</a:t>
            </a:r>
            <a:r>
              <a:rPr lang="en-CA" dirty="0" smtClean="0"/>
              <a:t>.</a:t>
            </a:r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You </a:t>
            </a:r>
            <a:r>
              <a:rPr lang="en-CA" dirty="0"/>
              <a:t>need high LQ to live the good </a:t>
            </a:r>
            <a:r>
              <a:rPr lang="en-CA" dirty="0" smtClean="0"/>
              <a:t>and meaningful life.</a:t>
            </a:r>
          </a:p>
          <a:p>
            <a:pPr lvl="0"/>
            <a:endParaRPr lang="en-CA" dirty="0" smtClean="0"/>
          </a:p>
          <a:p>
            <a:pPr lvl="0"/>
            <a:r>
              <a:rPr lang="en-CA" dirty="0" smtClean="0"/>
              <a:t>LQ makes use of multiple intelligences.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74611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pPr algn="ctr"/>
            <a:r>
              <a:rPr lang="en-CA" b="1" dirty="0">
                <a:solidFill>
                  <a:schemeClr val="accent1">
                    <a:lumMod val="50000"/>
                  </a:schemeClr>
                </a:solidFill>
              </a:rPr>
              <a:t>What is Life Intelligence</a:t>
            </a:r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?</a:t>
            </a:r>
            <a:endParaRPr lang="en-CA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 dirty="0"/>
              <a:t>It is the ability to learn the wisdom and courage to live an authentic, meaningful and virtuous life.</a:t>
            </a:r>
          </a:p>
          <a:p>
            <a:pPr lvl="0"/>
            <a:endParaRPr lang="en-CA" dirty="0"/>
          </a:p>
          <a:p>
            <a:pPr lvl="0"/>
            <a:r>
              <a:rPr lang="en-CA" dirty="0"/>
              <a:t>This ability consists of multiple intelligences especially the existential and spiritual intelligences of reflecting on life experiences and the human condition.</a:t>
            </a:r>
          </a:p>
        </p:txBody>
      </p:sp>
    </p:spTree>
    <p:extLst>
      <p:ext uri="{BB962C8B-B14F-4D97-AF65-F5344CB8AC3E}">
        <p14:creationId xmlns:p14="http://schemas.microsoft.com/office/powerpoint/2010/main" val="43129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en-CA" b="1" dirty="0">
                <a:solidFill>
                  <a:schemeClr val="accent1">
                    <a:lumMod val="50000"/>
                  </a:schemeClr>
                </a:solidFill>
              </a:rPr>
              <a:t>Components </a:t>
            </a:r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of</a:t>
            </a:r>
            <a:b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Life </a:t>
            </a:r>
            <a:r>
              <a:rPr lang="en-CA" b="1" dirty="0">
                <a:solidFill>
                  <a:schemeClr val="accent1">
                    <a:lumMod val="50000"/>
                  </a:schemeClr>
                </a:solidFill>
              </a:rPr>
              <a:t>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060848"/>
            <a:ext cx="6777317" cy="3771781"/>
          </a:xfrm>
        </p:spPr>
        <p:txBody>
          <a:bodyPr/>
          <a:lstStyle/>
          <a:p>
            <a:pPr marL="68580" indent="0">
              <a:buNone/>
            </a:pPr>
            <a:endParaRPr lang="en-CA" dirty="0" smtClean="0"/>
          </a:p>
          <a:p>
            <a:pPr marL="68580" indent="0">
              <a:buNone/>
            </a:pPr>
            <a:r>
              <a:rPr lang="en-CA" dirty="0" smtClean="0"/>
              <a:t>4 </a:t>
            </a:r>
            <a:r>
              <a:rPr lang="en-CA" dirty="0"/>
              <a:t>main </a:t>
            </a:r>
            <a:r>
              <a:rPr lang="en-CA" dirty="0" smtClean="0"/>
              <a:t>components:</a:t>
            </a:r>
          </a:p>
          <a:p>
            <a:pPr marL="68580" indent="0">
              <a:buNone/>
            </a:pPr>
            <a:endParaRPr lang="en-CA" dirty="0" smtClean="0"/>
          </a:p>
          <a:p>
            <a:r>
              <a:rPr lang="en-CA" dirty="0" smtClean="0"/>
              <a:t>Courage</a:t>
            </a:r>
          </a:p>
          <a:p>
            <a:r>
              <a:rPr lang="en-CA" dirty="0" smtClean="0"/>
              <a:t>Self-knowledge</a:t>
            </a:r>
          </a:p>
          <a:p>
            <a:r>
              <a:rPr lang="en-CA" dirty="0"/>
              <a:t>U</a:t>
            </a:r>
            <a:r>
              <a:rPr lang="en-CA" dirty="0" smtClean="0"/>
              <a:t>nderstanding life, others, and the </a:t>
            </a:r>
            <a:r>
              <a:rPr lang="en-CA" dirty="0"/>
              <a:t>human </a:t>
            </a:r>
            <a:r>
              <a:rPr lang="en-CA" dirty="0" smtClean="0"/>
              <a:t>condition</a:t>
            </a:r>
          </a:p>
          <a:p>
            <a:r>
              <a:rPr lang="en-CA" dirty="0" smtClean="0"/>
              <a:t>Problem-solving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3129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Courage</a:t>
            </a:r>
            <a:endParaRPr lang="en-CA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A" sz="2600" dirty="0"/>
              <a:t>The courage to be oneself </a:t>
            </a:r>
            <a:r>
              <a:rPr lang="en-CA" sz="2600" dirty="0" smtClean="0"/>
              <a:t>(authentic) and </a:t>
            </a:r>
            <a:r>
              <a:rPr lang="en-CA" sz="2600" dirty="0"/>
              <a:t>to do what is right.</a:t>
            </a:r>
            <a:endParaRPr lang="en-CA" dirty="0"/>
          </a:p>
          <a:p>
            <a:r>
              <a:rPr lang="en-CA" sz="2600" dirty="0"/>
              <a:t>The courage to confront, accept and transform negative realities.</a:t>
            </a:r>
            <a:endParaRPr lang="en-CA" dirty="0"/>
          </a:p>
          <a:p>
            <a:r>
              <a:rPr lang="en-CA" sz="2600" dirty="0"/>
              <a:t>The courage to say “No” to powerful others in order to maintain one’s integrity.</a:t>
            </a:r>
            <a:endParaRPr lang="en-CA" dirty="0"/>
          </a:p>
          <a:p>
            <a:r>
              <a:rPr lang="en-CA" sz="2600" dirty="0"/>
              <a:t>The courage to confess and make amends over one’s mistakes</a:t>
            </a:r>
            <a:r>
              <a:rPr lang="en-CA" sz="2600" dirty="0" smtClean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3129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pPr algn="ctr"/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Self-knowledge</a:t>
            </a:r>
            <a:endParaRPr lang="en-CA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556792"/>
            <a:ext cx="6777317" cy="4968552"/>
          </a:xfrm>
        </p:spPr>
        <p:txBody>
          <a:bodyPr>
            <a:noAutofit/>
          </a:bodyPr>
          <a:lstStyle/>
          <a:p>
            <a:endParaRPr lang="en-CA" dirty="0" smtClean="0"/>
          </a:p>
          <a:p>
            <a:r>
              <a:rPr lang="en-CA" dirty="0" smtClean="0"/>
              <a:t>The </a:t>
            </a:r>
            <a:r>
              <a:rPr lang="en-CA" dirty="0"/>
              <a:t>wisdom to be fully aware of </a:t>
            </a:r>
            <a:r>
              <a:rPr lang="en-CA" dirty="0" smtClean="0"/>
              <a:t>one’s strengths </a:t>
            </a:r>
            <a:r>
              <a:rPr lang="en-CA" dirty="0" smtClean="0"/>
              <a:t>and </a:t>
            </a:r>
            <a:r>
              <a:rPr lang="en-CA" dirty="0" smtClean="0"/>
              <a:t>weaknesses.</a:t>
            </a:r>
          </a:p>
          <a:p>
            <a:r>
              <a:rPr lang="en-CA" dirty="0" smtClean="0"/>
              <a:t>A clear </a:t>
            </a:r>
            <a:r>
              <a:rPr lang="en-CA" dirty="0"/>
              <a:t>and consistent sense of self, regardless of circumstances.</a:t>
            </a:r>
          </a:p>
          <a:p>
            <a:r>
              <a:rPr lang="en-CA" dirty="0" smtClean="0"/>
              <a:t>A clear </a:t>
            </a:r>
            <a:r>
              <a:rPr lang="en-CA" dirty="0"/>
              <a:t>sense of purpose and calling regarding what to do with one’s life.</a:t>
            </a:r>
          </a:p>
          <a:p>
            <a:r>
              <a:rPr lang="en-CA" dirty="0" smtClean="0"/>
              <a:t>A clear understanding of one’s own psychological make-up, emotional states, and attitudes.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3129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726896"/>
            <a:ext cx="7024744" cy="1477968"/>
          </a:xfrm>
        </p:spPr>
        <p:txBody>
          <a:bodyPr anchor="ctr">
            <a:normAutofit/>
          </a:bodyPr>
          <a:lstStyle/>
          <a:p>
            <a:pPr algn="ctr"/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Understanding Life, Others, and the Human Condition</a:t>
            </a:r>
            <a:endParaRPr lang="en-CA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060848"/>
            <a:ext cx="6777317" cy="4464496"/>
          </a:xfrm>
        </p:spPr>
        <p:txBody>
          <a:bodyPr>
            <a:normAutofit/>
          </a:bodyPr>
          <a:lstStyle/>
          <a:p>
            <a:r>
              <a:rPr lang="en-CA" dirty="0" smtClean="0"/>
              <a:t>A clear </a:t>
            </a:r>
            <a:r>
              <a:rPr lang="en-CA" dirty="0"/>
              <a:t>understanding of what really matters and what makes life worth living.</a:t>
            </a:r>
          </a:p>
          <a:p>
            <a:r>
              <a:rPr lang="en-CA" dirty="0"/>
              <a:t>Knowing one’s place in the world.</a:t>
            </a:r>
          </a:p>
          <a:p>
            <a:r>
              <a:rPr lang="en-CA" dirty="0" smtClean="0"/>
              <a:t>A set </a:t>
            </a:r>
            <a:r>
              <a:rPr lang="en-CA" dirty="0"/>
              <a:t>of beliefs and worldviews that facilitate </a:t>
            </a:r>
            <a:r>
              <a:rPr lang="en-CA" dirty="0" smtClean="0"/>
              <a:t>decision making &amp; life </a:t>
            </a:r>
            <a:r>
              <a:rPr lang="en-CA" dirty="0"/>
              <a:t>planning.</a:t>
            </a:r>
          </a:p>
          <a:p>
            <a:r>
              <a:rPr lang="en-CA" dirty="0" smtClean="0"/>
              <a:t>A good </a:t>
            </a:r>
            <a:r>
              <a:rPr lang="en-CA" dirty="0"/>
              <a:t>understanding of the human condition, human nature, and existential givens.</a:t>
            </a:r>
          </a:p>
          <a:p>
            <a:r>
              <a:rPr lang="en-CA" dirty="0"/>
              <a:t>Understanding people and knowing how to work with them</a:t>
            </a:r>
            <a:r>
              <a:rPr lang="en-CA" dirty="0" smtClean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3129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692696"/>
            <a:ext cx="7024744" cy="1477968"/>
          </a:xfrm>
        </p:spPr>
        <p:txBody>
          <a:bodyPr anchor="t"/>
          <a:lstStyle/>
          <a:p>
            <a:pPr algn="ctr"/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Problem-solving</a:t>
            </a:r>
            <a:endParaRPr lang="en-CA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340768"/>
            <a:ext cx="6777317" cy="4491861"/>
          </a:xfrm>
        </p:spPr>
        <p:txBody>
          <a:bodyPr>
            <a:noAutofit/>
          </a:bodyPr>
          <a:lstStyle/>
          <a:p>
            <a:r>
              <a:rPr lang="en-CA" dirty="0"/>
              <a:t>Knowing how to manage available resources and overcoming </a:t>
            </a:r>
            <a:r>
              <a:rPr lang="en-CA" dirty="0" smtClean="0"/>
              <a:t>obstacles.</a:t>
            </a:r>
          </a:p>
          <a:p>
            <a:r>
              <a:rPr lang="en-CA" dirty="0" smtClean="0"/>
              <a:t>The </a:t>
            </a:r>
            <a:r>
              <a:rPr lang="en-CA" dirty="0"/>
              <a:t>ability to understand an issue from different perspectives and the larger scheme of things.</a:t>
            </a:r>
          </a:p>
          <a:p>
            <a:r>
              <a:rPr lang="en-CA" dirty="0"/>
              <a:t>Knowing how to balance competing </a:t>
            </a:r>
            <a:r>
              <a:rPr lang="en-CA" dirty="0" smtClean="0"/>
              <a:t>interests and demands.</a:t>
            </a:r>
            <a:endParaRPr lang="en-CA" dirty="0" smtClean="0"/>
          </a:p>
          <a:p>
            <a:r>
              <a:rPr lang="en-CA" dirty="0" smtClean="0"/>
              <a:t>Having </a:t>
            </a:r>
            <a:r>
              <a:rPr lang="en-CA" dirty="0"/>
              <a:t>the wisdom to form sound judgement in situations of complexity and ambiguity.</a:t>
            </a:r>
          </a:p>
          <a:p>
            <a:r>
              <a:rPr lang="en-CA" dirty="0"/>
              <a:t>Having the wisdom of knowing when to persist and when to quit</a:t>
            </a:r>
            <a:r>
              <a:rPr lang="en-CA" dirty="0" smtClean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3129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en-CA" b="1" dirty="0">
                <a:solidFill>
                  <a:schemeClr val="accent1">
                    <a:lumMod val="50000"/>
                  </a:schemeClr>
                </a:solidFill>
              </a:rPr>
              <a:t>Howard </a:t>
            </a:r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Gardner’s</a:t>
            </a:r>
            <a:b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Multiple Intelligences</a:t>
            </a:r>
            <a:endParaRPr lang="en-CA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3" y="2204864"/>
            <a:ext cx="4896660" cy="4176464"/>
          </a:xfrm>
        </p:spPr>
        <p:txBody>
          <a:bodyPr>
            <a:normAutofit/>
          </a:bodyPr>
          <a:lstStyle/>
          <a:p>
            <a:pPr lvl="0"/>
            <a:r>
              <a:rPr lang="en-CA" dirty="0" smtClean="0"/>
              <a:t>Visual-spatial </a:t>
            </a:r>
            <a:r>
              <a:rPr lang="en-CA" dirty="0"/>
              <a:t>Intelligence</a:t>
            </a:r>
          </a:p>
          <a:p>
            <a:pPr lvl="0"/>
            <a:r>
              <a:rPr lang="en-CA" dirty="0"/>
              <a:t>Verbal-linguistic Intelligence</a:t>
            </a:r>
          </a:p>
          <a:p>
            <a:pPr lvl="0"/>
            <a:r>
              <a:rPr lang="en-CA" dirty="0"/>
              <a:t>Bodily-kinesthetic Intelligence</a:t>
            </a:r>
          </a:p>
          <a:p>
            <a:pPr lvl="0"/>
            <a:r>
              <a:rPr lang="en-CA" dirty="0"/>
              <a:t>Logical-mathematical Intelligence</a:t>
            </a:r>
          </a:p>
          <a:p>
            <a:pPr lvl="0"/>
            <a:r>
              <a:rPr lang="en-CA" dirty="0"/>
              <a:t>Interpersonal Intelligence</a:t>
            </a:r>
          </a:p>
          <a:p>
            <a:pPr lvl="0"/>
            <a:r>
              <a:rPr lang="en-CA" dirty="0"/>
              <a:t>Musical Intelligence</a:t>
            </a:r>
          </a:p>
          <a:p>
            <a:pPr lvl="0"/>
            <a:r>
              <a:rPr lang="en-CA" dirty="0"/>
              <a:t>Intrapersonal </a:t>
            </a:r>
            <a:r>
              <a:rPr lang="en-CA" dirty="0" smtClean="0"/>
              <a:t>Intelligence</a:t>
            </a:r>
          </a:p>
          <a:p>
            <a:pPr lvl="0"/>
            <a:r>
              <a:rPr lang="en-CA" dirty="0" smtClean="0"/>
              <a:t>Naturalist Intelligence</a:t>
            </a:r>
            <a:endParaRPr lang="en-CA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348880"/>
            <a:ext cx="2381250" cy="345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129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en-CA" b="1" dirty="0">
                <a:solidFill>
                  <a:schemeClr val="accent1">
                    <a:lumMod val="50000"/>
                  </a:schemeClr>
                </a:solidFill>
              </a:rPr>
              <a:t>Howard </a:t>
            </a:r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Gardner’s</a:t>
            </a:r>
            <a:b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3 </a:t>
            </a:r>
            <a:r>
              <a:rPr lang="en-CA" b="1" dirty="0">
                <a:solidFill>
                  <a:schemeClr val="accent1">
                    <a:lumMod val="50000"/>
                  </a:schemeClr>
                </a:solidFill>
              </a:rPr>
              <a:t>Additional </a:t>
            </a:r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Intelligences</a:t>
            </a:r>
            <a:endParaRPr lang="en-CA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5780" indent="-457200">
              <a:buFont typeface="+mj-lt"/>
              <a:buAutoNum type="arabicPeriod"/>
            </a:pPr>
            <a:endParaRPr lang="en-CA" dirty="0" smtClean="0"/>
          </a:p>
          <a:p>
            <a:pPr marL="525780" indent="-457200">
              <a:buFont typeface="+mj-lt"/>
              <a:buAutoNum type="arabicPeriod"/>
            </a:pPr>
            <a:r>
              <a:rPr lang="en-CA" dirty="0" smtClean="0"/>
              <a:t>Spiritual Intelligence</a:t>
            </a:r>
          </a:p>
          <a:p>
            <a:pPr marL="525780" indent="-457200">
              <a:buFont typeface="+mj-lt"/>
              <a:buAutoNum type="arabicPeriod"/>
            </a:pPr>
            <a:r>
              <a:rPr lang="en-CA" dirty="0" smtClean="0"/>
              <a:t>Existential Intelligence</a:t>
            </a:r>
          </a:p>
          <a:p>
            <a:pPr marL="525780" indent="-457200">
              <a:buFont typeface="+mj-lt"/>
              <a:buAutoNum type="arabicPeriod"/>
            </a:pPr>
            <a:r>
              <a:rPr lang="en-CA" dirty="0" smtClean="0"/>
              <a:t>Moral Intelligence</a:t>
            </a:r>
          </a:p>
          <a:p>
            <a:pPr marL="525780" indent="-457200">
              <a:buFont typeface="+mj-lt"/>
              <a:buAutoNum type="arabicPeriod"/>
            </a:pPr>
            <a:endParaRPr lang="en-CA" dirty="0" smtClean="0"/>
          </a:p>
          <a:p>
            <a:pPr marL="68580" indent="0">
              <a:buNone/>
            </a:pPr>
            <a:r>
              <a:rPr lang="en-CA" dirty="0" smtClean="0"/>
              <a:t>These three types of intelligence are closely related to life intelligence.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3129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Spiritual Intelligence</a:t>
            </a:r>
            <a:endParaRPr lang="en-CA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CA" i="1" dirty="0" smtClean="0"/>
              <a:t>Spiritual Intelligence </a:t>
            </a:r>
            <a:r>
              <a:rPr lang="en-CA" dirty="0" smtClean="0"/>
              <a:t>refers </a:t>
            </a:r>
            <a:r>
              <a:rPr lang="en-CA" dirty="0"/>
              <a:t>to a set of </a:t>
            </a:r>
            <a:r>
              <a:rPr lang="en-CA" dirty="0" smtClean="0"/>
              <a:t>capacities </a:t>
            </a:r>
            <a:r>
              <a:rPr lang="en-CA" dirty="0"/>
              <a:t>related to transcendental matters such as spirituality and religiosity</a:t>
            </a:r>
            <a:r>
              <a:rPr lang="en-CA" dirty="0" smtClean="0"/>
              <a:t>.</a:t>
            </a:r>
          </a:p>
          <a:p>
            <a:pPr marL="68580" indent="0">
              <a:buNone/>
            </a:pPr>
            <a:endParaRPr lang="en-CA" dirty="0"/>
          </a:p>
          <a:p>
            <a:pPr marL="68580" indent="0">
              <a:buNone/>
            </a:pPr>
            <a:r>
              <a:rPr lang="en-CA" dirty="0" smtClean="0"/>
              <a:t>Those with high spiritual intelligence are spiritually attuned and enlightened. Their values and major decisions are guided by spiritual intelligence.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3129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Existential Intelligence</a:t>
            </a:r>
            <a:endParaRPr lang="en-CA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323652"/>
            <a:ext cx="6777317" cy="3769644"/>
          </a:xfrm>
        </p:spPr>
        <p:txBody>
          <a:bodyPr/>
          <a:lstStyle/>
          <a:p>
            <a:pPr marL="68580" lvl="0" indent="0">
              <a:buNone/>
            </a:pPr>
            <a:r>
              <a:rPr lang="en-CA" i="1" dirty="0" smtClean="0"/>
              <a:t>Existential Intelligence</a:t>
            </a:r>
            <a:r>
              <a:rPr lang="en-CA" dirty="0" smtClean="0"/>
              <a:t> </a:t>
            </a:r>
            <a:r>
              <a:rPr lang="en-CA" dirty="0"/>
              <a:t>refers to the concern and ability to tackle </a:t>
            </a:r>
            <a:r>
              <a:rPr lang="en-CA" dirty="0" smtClean="0"/>
              <a:t>the </a:t>
            </a:r>
            <a:r>
              <a:rPr lang="en-CA" dirty="0"/>
              <a:t>big questions of human existence, such as the meaning of life and </a:t>
            </a:r>
            <a:r>
              <a:rPr lang="en-CA" dirty="0" smtClean="0"/>
              <a:t>death in an imperfect world. </a:t>
            </a:r>
          </a:p>
          <a:p>
            <a:pPr marL="68580" lvl="0" indent="0">
              <a:buNone/>
            </a:pPr>
            <a:endParaRPr lang="en-CA" dirty="0"/>
          </a:p>
          <a:p>
            <a:pPr marL="68580" lvl="0" indent="0">
              <a:buNone/>
            </a:pPr>
            <a:r>
              <a:rPr lang="en-CA" dirty="0" smtClean="0"/>
              <a:t>It </a:t>
            </a:r>
            <a:r>
              <a:rPr lang="en-CA" dirty="0"/>
              <a:t>is primarily based on self-reflection and existential quest to gain insight and understanding about </a:t>
            </a:r>
            <a:r>
              <a:rPr lang="en-CA" dirty="0" smtClean="0"/>
              <a:t>the ultimate concerns and the human condition.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3129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Moral Intelligence</a:t>
            </a:r>
            <a:endParaRPr lang="en-CA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lvl="0" indent="0">
              <a:buNone/>
            </a:pPr>
            <a:r>
              <a:rPr lang="en-CA" i="1" dirty="0" smtClean="0"/>
              <a:t>Moral Intelligence</a:t>
            </a:r>
            <a:r>
              <a:rPr lang="en-CA" dirty="0" smtClean="0"/>
              <a:t> </a:t>
            </a:r>
            <a:r>
              <a:rPr lang="en-CA" dirty="0"/>
              <a:t>refers to the concern and ability to conduct ourselves in a way that respects the sanctity of </a:t>
            </a:r>
            <a:r>
              <a:rPr lang="en-CA" dirty="0" smtClean="0"/>
              <a:t>life  and the rights of others.</a:t>
            </a:r>
          </a:p>
          <a:p>
            <a:pPr marL="68580" lvl="0" indent="0">
              <a:buNone/>
            </a:pPr>
            <a:endParaRPr lang="en-CA" dirty="0"/>
          </a:p>
          <a:p>
            <a:pPr marL="68580" lvl="0" indent="0">
              <a:buNone/>
            </a:pPr>
            <a:r>
              <a:rPr lang="en-CA" dirty="0" smtClean="0"/>
              <a:t>It </a:t>
            </a:r>
            <a:r>
              <a:rPr lang="en-CA" dirty="0"/>
              <a:t>is also related to the quest for moral understanding that differentiates right from wrong as well as noble from selfish goals</a:t>
            </a:r>
            <a:r>
              <a:rPr lang="en-CA" dirty="0" smtClean="0"/>
              <a:t>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3129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CA" b="1" dirty="0">
                <a:solidFill>
                  <a:schemeClr val="accent1">
                    <a:lumMod val="50000"/>
                  </a:schemeClr>
                </a:solidFill>
              </a:rPr>
              <a:t>The Importance of Wisdom</a:t>
            </a:r>
            <a:endParaRPr lang="en-CA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 dirty="0"/>
              <a:t>Wisdom makes up for 3 of the 4 components of LQ.</a:t>
            </a:r>
          </a:p>
          <a:p>
            <a:pPr lvl="0"/>
            <a:r>
              <a:rPr lang="en-CA" dirty="0"/>
              <a:t>Wisdom has been regarded as one of the cardinal virtues by philosophers from the </a:t>
            </a:r>
            <a:r>
              <a:rPr lang="en-CA" dirty="0" smtClean="0"/>
              <a:t>East and West</a:t>
            </a:r>
            <a:r>
              <a:rPr lang="en-CA" dirty="0"/>
              <a:t>.</a:t>
            </a:r>
          </a:p>
          <a:p>
            <a:pPr lvl="0"/>
            <a:r>
              <a:rPr lang="en-CA" dirty="0"/>
              <a:t>Wisdom is needed to resolve major life problems for the common good (Clayton, 1982; Sternberg, 1985</a:t>
            </a:r>
            <a:r>
              <a:rPr lang="en-CA" dirty="0" smtClean="0"/>
              <a:t>).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31298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Wisdom </a:t>
            </a:r>
            <a:r>
              <a:rPr lang="en-CA" b="1" dirty="0" err="1" smtClean="0">
                <a:solidFill>
                  <a:schemeClr val="accent1">
                    <a:lumMod val="50000"/>
                  </a:schemeClr>
                </a:solidFill>
              </a:rPr>
              <a:t>Con’d</a:t>
            </a:r>
            <a:endParaRPr lang="en-CA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 dirty="0"/>
              <a:t>Wisdom involves the application of knowledge to achieve a deep understanding of self, others, and the world in order to arrive at a meaningful solution to difficult problems.</a:t>
            </a:r>
          </a:p>
        </p:txBody>
      </p:sp>
    </p:spTree>
    <p:extLst>
      <p:ext uri="{BB962C8B-B14F-4D97-AF65-F5344CB8AC3E}">
        <p14:creationId xmlns:p14="http://schemas.microsoft.com/office/powerpoint/2010/main" val="185158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315696"/>
            <a:ext cx="7024744" cy="1969288"/>
          </a:xfrm>
        </p:spPr>
        <p:txBody>
          <a:bodyPr anchor="t">
            <a:normAutofit/>
          </a:bodyPr>
          <a:lstStyle/>
          <a:p>
            <a:pPr lvl="0" algn="ctr"/>
            <a:r>
              <a:rPr lang="en-CA" i="1" dirty="0">
                <a:solidFill>
                  <a:schemeClr val="tx1"/>
                </a:solidFill>
              </a:rPr>
              <a:t>The fear of the Lord is the beginning of </a:t>
            </a:r>
            <a:r>
              <a:rPr lang="en-CA" i="1" dirty="0" smtClean="0">
                <a:solidFill>
                  <a:schemeClr val="tx1"/>
                </a:solidFill>
              </a:rPr>
              <a:t>wisdom. </a:t>
            </a:r>
            <a:br>
              <a:rPr lang="en-CA" i="1" dirty="0" smtClean="0">
                <a:solidFill>
                  <a:schemeClr val="tx1"/>
                </a:solidFill>
              </a:rPr>
            </a:br>
            <a:endParaRPr lang="en-CA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2636912"/>
            <a:ext cx="6777317" cy="3508977"/>
          </a:xfrm>
        </p:spPr>
        <p:txBody>
          <a:bodyPr>
            <a:normAutofit/>
          </a:bodyPr>
          <a:lstStyle/>
          <a:p>
            <a:pPr marL="68580" lvl="0" indent="0" algn="r">
              <a:buNone/>
            </a:pPr>
            <a:r>
              <a:rPr lang="en-CA" sz="4000" dirty="0" smtClean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en-CA" sz="4000" dirty="0">
                <a:solidFill>
                  <a:schemeClr val="accent1">
                    <a:lumMod val="50000"/>
                  </a:schemeClr>
                </a:solidFill>
              </a:rPr>
              <a:t>Proverbs 9:10)</a:t>
            </a:r>
            <a:endParaRPr lang="en-CA" sz="4000" dirty="0" smtClean="0"/>
          </a:p>
          <a:p>
            <a:pPr marL="68580" lvl="0" indent="0">
              <a:buNone/>
            </a:pPr>
            <a:endParaRPr lang="en-CA" dirty="0"/>
          </a:p>
          <a:p>
            <a:r>
              <a:rPr lang="en-CA" dirty="0" smtClean="0"/>
              <a:t>Based on what you have learned in this course, in what ways is “fear of </a:t>
            </a:r>
            <a:r>
              <a:rPr lang="en-CA" dirty="0" smtClean="0"/>
              <a:t>the </a:t>
            </a:r>
            <a:r>
              <a:rPr lang="en-CA" dirty="0" smtClean="0"/>
              <a:t>Lord” related to the wisdom of meaningful living?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6507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726896"/>
            <a:ext cx="7024744" cy="1477968"/>
          </a:xfrm>
        </p:spPr>
        <p:txBody>
          <a:bodyPr anchor="t"/>
          <a:lstStyle/>
          <a:p>
            <a:pPr algn="ctr"/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Self-knowledge</a:t>
            </a:r>
            <a:endParaRPr lang="en-CA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196752"/>
            <a:ext cx="6777317" cy="5328592"/>
          </a:xfrm>
        </p:spPr>
        <p:txBody>
          <a:bodyPr>
            <a:normAutofit/>
          </a:bodyPr>
          <a:lstStyle/>
          <a:p>
            <a:pPr lvl="0"/>
            <a:endParaRPr lang="en-CA" dirty="0" smtClean="0"/>
          </a:p>
          <a:p>
            <a:pPr lvl="0"/>
            <a:r>
              <a:rPr lang="en-CA" dirty="0" smtClean="0"/>
              <a:t>Self-knowledge </a:t>
            </a:r>
            <a:r>
              <a:rPr lang="en-CA" dirty="0"/>
              <a:t>refers to understanding one’s emotions, mental state, and thoughts.</a:t>
            </a:r>
          </a:p>
          <a:p>
            <a:pPr lvl="0"/>
            <a:r>
              <a:rPr lang="en-CA" dirty="0"/>
              <a:t>Knowledge of self as someone special and distinct from other people.</a:t>
            </a:r>
          </a:p>
          <a:p>
            <a:pPr lvl="0"/>
            <a:r>
              <a:rPr lang="en-CA" dirty="0"/>
              <a:t>Special knowledge about one’s past experiences and memories.</a:t>
            </a:r>
          </a:p>
          <a:p>
            <a:pPr lvl="0"/>
            <a:r>
              <a:rPr lang="en-CA" dirty="0"/>
              <a:t>Self-awareness of one’s fears and hopes, likes and dislikes, and strengths and weaknesses.</a:t>
            </a:r>
          </a:p>
          <a:p>
            <a:r>
              <a:rPr lang="en-CA" dirty="0"/>
              <a:t>Some understanding of one’s role and mission in the world.</a:t>
            </a:r>
          </a:p>
        </p:txBody>
      </p:sp>
    </p:spTree>
    <p:extLst>
      <p:ext uri="{BB962C8B-B14F-4D97-AF65-F5344CB8AC3E}">
        <p14:creationId xmlns:p14="http://schemas.microsoft.com/office/powerpoint/2010/main" val="46507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726896"/>
            <a:ext cx="7024744" cy="1477968"/>
          </a:xfrm>
        </p:spPr>
        <p:txBody>
          <a:bodyPr anchor="t">
            <a:normAutofit/>
          </a:bodyPr>
          <a:lstStyle/>
          <a:p>
            <a:pPr algn="ctr"/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Self-deception</a:t>
            </a:r>
            <a:endParaRPr lang="en-CA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556792"/>
            <a:ext cx="6777317" cy="4968552"/>
          </a:xfrm>
        </p:spPr>
        <p:txBody>
          <a:bodyPr>
            <a:normAutofit/>
          </a:bodyPr>
          <a:lstStyle/>
          <a:p>
            <a:pPr lvl="0"/>
            <a:r>
              <a:rPr lang="en-CA" dirty="0" smtClean="0"/>
              <a:t>We </a:t>
            </a:r>
            <a:r>
              <a:rPr lang="en-CA" dirty="0"/>
              <a:t>tend to know ourselves less than we think we do</a:t>
            </a:r>
            <a:r>
              <a:rPr lang="en-CA" dirty="0" smtClean="0"/>
              <a:t>.</a:t>
            </a:r>
          </a:p>
          <a:p>
            <a:pPr lvl="0"/>
            <a:r>
              <a:rPr lang="en-CA" dirty="0" smtClean="0"/>
              <a:t>There are many reasons why there is a lack of accuracy in self-perception.</a:t>
            </a:r>
            <a:endParaRPr lang="en-CA" sz="2000" dirty="0" smtClean="0"/>
          </a:p>
          <a:p>
            <a:pPr lvl="1"/>
            <a:r>
              <a:rPr lang="en-CA" sz="2400" dirty="0" smtClean="0"/>
              <a:t>It could be due to defense mechanisms, such as denial</a:t>
            </a:r>
            <a:endParaRPr lang="en-CA" sz="2000" dirty="0" smtClean="0"/>
          </a:p>
          <a:p>
            <a:pPr lvl="1"/>
            <a:r>
              <a:rPr lang="en-CA" sz="2400" dirty="0" smtClean="0"/>
              <a:t>It could be due to intentional bias, </a:t>
            </a:r>
          </a:p>
          <a:p>
            <a:pPr lvl="1"/>
            <a:r>
              <a:rPr lang="en-CA" sz="2400" dirty="0" smtClean="0"/>
              <a:t>It could be due to an unintentional blind spot.</a:t>
            </a:r>
            <a:endParaRPr lang="en-CA" sz="2000" dirty="0" smtClean="0"/>
          </a:p>
          <a:p>
            <a:pPr lvl="1"/>
            <a:r>
              <a:rPr lang="en-CA" sz="2400" dirty="0" smtClean="0"/>
              <a:t>It could be due to false feedback from close associates.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10524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pPr algn="ctr"/>
            <a:r>
              <a:rPr lang="en-CA" b="1" dirty="0">
                <a:solidFill>
                  <a:schemeClr val="accent1">
                    <a:lumMod val="50000"/>
                  </a:schemeClr>
                </a:solidFill>
              </a:rPr>
              <a:t>How do we </a:t>
            </a:r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develop</a:t>
            </a:r>
            <a:b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life </a:t>
            </a:r>
            <a:r>
              <a:rPr lang="en-CA" b="1" dirty="0">
                <a:solidFill>
                  <a:schemeClr val="accent1">
                    <a:lumMod val="50000"/>
                  </a:schemeClr>
                </a:solidFill>
              </a:rPr>
              <a:t>intelligence</a:t>
            </a:r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?</a:t>
            </a:r>
            <a:endParaRPr lang="en-CA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CA" dirty="0"/>
              <a:t>Reflecting on one’s life experiences, especially from painful experiences.</a:t>
            </a:r>
          </a:p>
          <a:p>
            <a:pPr lvl="0"/>
            <a:r>
              <a:rPr lang="en-CA" dirty="0"/>
              <a:t>Learning from </a:t>
            </a:r>
            <a:r>
              <a:rPr lang="en-CA" dirty="0" smtClean="0"/>
              <a:t>other people</a:t>
            </a:r>
            <a:r>
              <a:rPr lang="en-CA" dirty="0"/>
              <a:t>, especially wise people.</a:t>
            </a:r>
          </a:p>
          <a:p>
            <a:pPr lvl="0"/>
            <a:r>
              <a:rPr lang="en-CA" dirty="0"/>
              <a:t>Learning from </a:t>
            </a:r>
            <a:r>
              <a:rPr lang="en-CA" dirty="0" smtClean="0"/>
              <a:t>the </a:t>
            </a:r>
            <a:r>
              <a:rPr lang="en-CA" dirty="0"/>
              <a:t>wisdom </a:t>
            </a:r>
            <a:r>
              <a:rPr lang="en-CA" dirty="0" smtClean="0"/>
              <a:t>literature.</a:t>
            </a:r>
            <a:endParaRPr lang="en-CA" dirty="0"/>
          </a:p>
          <a:p>
            <a:pPr lvl="0"/>
            <a:r>
              <a:rPr lang="en-CA" dirty="0"/>
              <a:t>Cultivating an attitude of being open-minded, curious, and inquisitive</a:t>
            </a:r>
            <a:r>
              <a:rPr lang="en-CA" dirty="0" smtClean="0"/>
              <a:t>.</a:t>
            </a:r>
          </a:p>
          <a:p>
            <a:pPr lvl="0"/>
            <a:r>
              <a:rPr lang="en-CA" dirty="0" smtClean="0"/>
              <a:t>Develop the courage to explore and engage life.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0524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CA" b="1" dirty="0" smtClean="0">
                <a:solidFill>
                  <a:schemeClr val="accent1">
                    <a:lumMod val="50000"/>
                  </a:schemeClr>
                </a:solidFill>
              </a:rPr>
              <a:t>Exercise </a:t>
            </a:r>
            <a:endParaRPr lang="en-CA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When you review your life, what major mistakes have you made and what lessons have you learned?</a:t>
            </a:r>
          </a:p>
          <a:p>
            <a:endParaRPr lang="en-CA" dirty="0" smtClean="0"/>
          </a:p>
          <a:p>
            <a:r>
              <a:rPr lang="en-CA" dirty="0" smtClean="0"/>
              <a:t>If you were to start all over again, how would you live differently?</a:t>
            </a:r>
          </a:p>
          <a:p>
            <a:endParaRPr lang="en-CA" dirty="0" smtClean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93158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3883</TotalTime>
  <Words>987</Words>
  <Application>Microsoft Office PowerPoint</Application>
  <PresentationFormat>On-screen Show (4:3)</PresentationFormat>
  <Paragraphs>118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Austin</vt:lpstr>
      <vt:lpstr>Lesson 8</vt:lpstr>
      <vt:lpstr>Objectives: </vt:lpstr>
      <vt:lpstr>Introduction</vt:lpstr>
      <vt:lpstr>The Need for Life Intelligence</vt:lpstr>
      <vt:lpstr>What is Life Intelligence?</vt:lpstr>
      <vt:lpstr>Components of Life Intelligence</vt:lpstr>
      <vt:lpstr>Courage</vt:lpstr>
      <vt:lpstr>Self-knowledge</vt:lpstr>
      <vt:lpstr>Understanding Life, Others, and the Human Condition</vt:lpstr>
      <vt:lpstr>Problem-solving</vt:lpstr>
      <vt:lpstr>Howard Gardner’s Multiple Intelligences</vt:lpstr>
      <vt:lpstr>Howard Gardner’s 3 Additional Intelligences</vt:lpstr>
      <vt:lpstr>Spiritual Intelligence</vt:lpstr>
      <vt:lpstr>Existential Intelligence</vt:lpstr>
      <vt:lpstr>Moral Intelligence</vt:lpstr>
      <vt:lpstr>The Importance of Wisdom</vt:lpstr>
      <vt:lpstr>Wisdom Con’d</vt:lpstr>
      <vt:lpstr>The fear of the Lord is the beginning of wisdom.  </vt:lpstr>
      <vt:lpstr>Self-knowledge</vt:lpstr>
      <vt:lpstr>Self-deception</vt:lpstr>
      <vt:lpstr>How do we develop life intelligence?</vt:lpstr>
      <vt:lpstr>Exercise 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 T. P. Wong</dc:creator>
  <cp:lastModifiedBy>Paul Wong</cp:lastModifiedBy>
  <cp:revision>25</cp:revision>
  <dcterms:created xsi:type="dcterms:W3CDTF">2011-09-09T19:30:12Z</dcterms:created>
  <dcterms:modified xsi:type="dcterms:W3CDTF">2011-09-16T21:11:27Z</dcterms:modified>
</cp:coreProperties>
</file>