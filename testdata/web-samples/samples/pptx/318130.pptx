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tags/tag6.xml" ContentType="application/vnd.openxmlformats-officedocument.presentationml.tags+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tags/tag16.xml" ContentType="application/vnd.openxmlformats-officedocument.presentationml.tags+xml"/>
  <Override PartName="/ppt/tags/tag18.xml" ContentType="application/vnd.openxmlformats-officedocument.presentationml.tags+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4.xml" ContentType="application/vnd.openxmlformats-officedocument.presentationml.tags+xml"/>
  <Override PartName="/ppt/charts/chart7.xml" ContentType="application/vnd.openxmlformats-officedocument.drawingml.chart+xml"/>
  <Default Extension="xlsx" ContentType="application/vnd.openxmlformats-officedocument.spreadsheetml.sheet"/>
  <Override PartName="/ppt/notesSlides/notesSlide7.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tags/tag12.xml" ContentType="application/vnd.openxmlformats-officedocument.presentationml.tag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charts/chart1.xml" ContentType="application/vnd.openxmlformats-officedocument.drawingml.chart+xml"/>
  <Override PartName="/ppt/tags/tag9.xml" ContentType="application/vnd.openxmlformats-officedocument.presentationml.tags+xml"/>
  <Override PartName="/ppt/tags/tag1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tags/tag17.xml" ContentType="application/vnd.openxmlformats-officedocument.presentationml.tag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tags/tag15.xml" ContentType="application/vnd.openxmlformats-officedocument.presentationml.tags+xml"/>
  <Override PartName="/ppt/notesSlides/notesSlide6.xml" ContentType="application/vnd.openxmlformats-officedocument.presentationml.notesSlide+xml"/>
  <Override PartName="/ppt/charts/chart4.xml" ContentType="application/vnd.openxmlformats-officedocument.drawingml.chart+xml"/>
  <Override PartName="/ppt/tags/tag13.xml" ContentType="application/vnd.openxmlformats-officedocument.presentationml.tags+xml"/>
  <Override PartName="/ppt/slides/slide8.xml" ContentType="application/vnd.openxmlformats-officedocument.presentationml.slide+xml"/>
  <Override PartName="/ppt/notesSlides/notesSlide4.xml" ContentType="application/vnd.openxmlformats-officedocument.presentationml.notesSlide+xml"/>
  <Override PartName="/ppt/charts/chart2.xml" ContentType="application/vnd.openxmlformats-officedocument.drawingml.chart+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56" r:id="rId2"/>
    <p:sldId id="269" r:id="rId3"/>
    <p:sldId id="270" r:id="rId4"/>
    <p:sldId id="271" r:id="rId5"/>
    <p:sldId id="257" r:id="rId6"/>
    <p:sldId id="258" r:id="rId7"/>
    <p:sldId id="259" r:id="rId8"/>
    <p:sldId id="261" r:id="rId9"/>
    <p:sldId id="262" r:id="rId10"/>
    <p:sldId id="263" r:id="rId11"/>
    <p:sldId id="274" r:id="rId12"/>
    <p:sldId id="264" r:id="rId13"/>
    <p:sldId id="265" r:id="rId14"/>
    <p:sldId id="275" r:id="rId15"/>
    <p:sldId id="276" r:id="rId16"/>
    <p:sldId id="266" r:id="rId17"/>
    <p:sldId id="267" r:id="rId18"/>
    <p:sldId id="268" r:id="rId19"/>
    <p:sldId id="273" r:id="rId20"/>
  </p:sldIdLst>
  <p:sldSz cx="9144000" cy="6858000" type="screen4x3"/>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itasca" initials="i" lastIdx="5" clrIdx="0"/>
  <p:cmAuthor id="1" name="Steven D. Prager" initials="sdp" lastIdx="0" clrIdx="1"/>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7" d="100"/>
          <a:sy n="107" d="100"/>
        </p:scale>
        <p:origin x="-8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Office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Office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Office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Office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tx>
            <c:strRef>
              <c:f>Sheet1!$B$1</c:f>
              <c:strCache>
                <c:ptCount val="1"/>
                <c:pt idx="0">
                  <c:v>Responses</c:v>
                </c:pt>
              </c:strCache>
            </c:strRef>
          </c:tx>
          <c:dLbls>
            <c:showVal val="1"/>
          </c:dLbls>
          <c:cat>
            <c:strRef>
              <c:f>Sheet1!$A$2:$A$5</c:f>
              <c:strCache>
                <c:ptCount val="4"/>
                <c:pt idx="0">
                  <c:v>Teaching</c:v>
                </c:pt>
                <c:pt idx="1">
                  <c:v>Research</c:v>
                </c:pt>
                <c:pt idx="2">
                  <c:v>Both</c:v>
                </c:pt>
                <c:pt idx="3">
                  <c:v>Neither</c:v>
                </c:pt>
              </c:strCache>
            </c:strRef>
          </c:cat>
          <c:val>
            <c:numRef>
              <c:f>Sheet1!$B$2:$B$5</c:f>
              <c:numCache>
                <c:formatCode>General</c:formatCode>
                <c:ptCount val="4"/>
                <c:pt idx="0">
                  <c:v>7</c:v>
                </c:pt>
                <c:pt idx="1">
                  <c:v>38</c:v>
                </c:pt>
                <c:pt idx="2">
                  <c:v>53</c:v>
                </c:pt>
                <c:pt idx="3">
                  <c:v>34</c:v>
                </c:pt>
              </c:numCache>
            </c:numRef>
          </c:val>
        </c:ser>
        <c:axId val="72176384"/>
        <c:axId val="72177920"/>
      </c:barChart>
      <c:catAx>
        <c:axId val="72176384"/>
        <c:scaling>
          <c:orientation val="minMax"/>
        </c:scaling>
        <c:axPos val="b"/>
        <c:tickLblPos val="nextTo"/>
        <c:crossAx val="72177920"/>
        <c:crosses val="autoZero"/>
        <c:auto val="1"/>
        <c:lblAlgn val="ctr"/>
        <c:lblOffset val="100"/>
      </c:catAx>
      <c:valAx>
        <c:axId val="72177920"/>
        <c:scaling>
          <c:orientation val="minMax"/>
        </c:scaling>
        <c:axPos val="l"/>
        <c:majorGridlines/>
        <c:numFmt formatCode="General" sourceLinked="1"/>
        <c:tickLblPos val="nextTo"/>
        <c:crossAx val="72176384"/>
        <c:crosses val="autoZero"/>
        <c:crossBetween val="between"/>
      </c:valAx>
    </c:plotArea>
    <c:plotVisOnly val="1"/>
  </c:chart>
  <c:txPr>
    <a:bodyPr/>
    <a:lstStyle/>
    <a:p>
      <a:pPr>
        <a:defRPr sz="18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bar"/>
        <c:grouping val="clustered"/>
        <c:ser>
          <c:idx val="0"/>
          <c:order val="0"/>
          <c:tx>
            <c:strRef>
              <c:f>Sheet1!$B$1</c:f>
              <c:strCache>
                <c:ptCount val="1"/>
                <c:pt idx="0">
                  <c:v>Series 1</c:v>
                </c:pt>
              </c:strCache>
            </c:strRef>
          </c:tx>
          <c:dLbls>
            <c:showVal val="1"/>
          </c:dLbls>
          <c:cat>
            <c:strRef>
              <c:f>Sheet1!$A$2:$A$9</c:f>
              <c:strCache>
                <c:ptCount val="8"/>
                <c:pt idx="0">
                  <c:v>Associates Degree</c:v>
                </c:pt>
                <c:pt idx="1">
                  <c:v>Bachelors Degree</c:v>
                </c:pt>
                <c:pt idx="2">
                  <c:v>Bachelors and Masters</c:v>
                </c:pt>
                <c:pt idx="3">
                  <c:v>Bachelors, Masters and PhD</c:v>
                </c:pt>
                <c:pt idx="4">
                  <c:v>Masters and PhD Only</c:v>
                </c:pt>
                <c:pt idx="5">
                  <c:v>Academic Research</c:v>
                </c:pt>
                <c:pt idx="6">
                  <c:v>Professional/Non-academic</c:v>
                </c:pt>
                <c:pt idx="7">
                  <c:v>Other</c:v>
                </c:pt>
              </c:strCache>
            </c:strRef>
          </c:cat>
          <c:val>
            <c:numRef>
              <c:f>Sheet1!$B$2:$B$9</c:f>
              <c:numCache>
                <c:formatCode>General</c:formatCode>
                <c:ptCount val="8"/>
                <c:pt idx="0">
                  <c:v>3</c:v>
                </c:pt>
                <c:pt idx="1">
                  <c:v>8</c:v>
                </c:pt>
                <c:pt idx="2">
                  <c:v>10</c:v>
                </c:pt>
                <c:pt idx="3">
                  <c:v>46</c:v>
                </c:pt>
                <c:pt idx="4">
                  <c:v>10</c:v>
                </c:pt>
                <c:pt idx="5">
                  <c:v>8</c:v>
                </c:pt>
                <c:pt idx="6">
                  <c:v>17</c:v>
                </c:pt>
                <c:pt idx="7">
                  <c:v>8</c:v>
                </c:pt>
              </c:numCache>
            </c:numRef>
          </c:val>
        </c:ser>
        <c:axId val="72214400"/>
        <c:axId val="72215936"/>
      </c:barChart>
      <c:catAx>
        <c:axId val="72214400"/>
        <c:scaling>
          <c:orientation val="minMax"/>
        </c:scaling>
        <c:axPos val="l"/>
        <c:tickLblPos val="nextTo"/>
        <c:crossAx val="72215936"/>
        <c:crosses val="autoZero"/>
        <c:auto val="1"/>
        <c:lblAlgn val="ctr"/>
        <c:lblOffset val="100"/>
      </c:catAx>
      <c:valAx>
        <c:axId val="72215936"/>
        <c:scaling>
          <c:orientation val="minMax"/>
        </c:scaling>
        <c:axPos val="b"/>
        <c:majorGridlines/>
        <c:numFmt formatCode="General" sourceLinked="1"/>
        <c:tickLblPos val="nextTo"/>
        <c:crossAx val="72214400"/>
        <c:crosses val="autoZero"/>
        <c:crossBetween val="between"/>
      </c:valAx>
    </c:plotArea>
    <c:plotVisOnly val="1"/>
  </c:chart>
  <c:txPr>
    <a:bodyPr/>
    <a:lstStyle/>
    <a:p>
      <a:pPr>
        <a:defRPr sz="1800"/>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tx>
            <c:strRef>
              <c:f>Sheet1!$B$1</c:f>
              <c:strCache>
                <c:ptCount val="1"/>
                <c:pt idx="0">
                  <c:v>Series 2</c:v>
                </c:pt>
              </c:strCache>
            </c:strRef>
          </c:tx>
          <c:dLbls>
            <c:showVal val="1"/>
          </c:dLbls>
          <c:cat>
            <c:strRef>
              <c:f>Sheet1!$A$2:$A$15</c:f>
              <c:strCache>
                <c:ptCount val="14"/>
                <c:pt idx="0">
                  <c:v>Geography </c:v>
                </c:pt>
                <c:pt idx="1">
                  <c:v>Computer Science </c:v>
                </c:pt>
                <c:pt idx="2">
                  <c:v>Engineering </c:v>
                </c:pt>
                <c:pt idx="3">
                  <c:v>Mathematics </c:v>
                </c:pt>
                <c:pt idx="4">
                  <c:v>Information Technology </c:v>
                </c:pt>
                <c:pt idx="5">
                  <c:v>Natural Science </c:v>
                </c:pt>
                <c:pt idx="6">
                  <c:v>Physical Science </c:v>
                </c:pt>
                <c:pt idx="7">
                  <c:v>Social Science </c:v>
                </c:pt>
                <c:pt idx="8">
                  <c:v>Vocational</c:v>
                </c:pt>
                <c:pt idx="9">
                  <c:v>Outreach School </c:v>
                </c:pt>
                <c:pt idx="10">
                  <c:v>Agriculture </c:v>
                </c:pt>
                <c:pt idx="11">
                  <c:v>Business </c:v>
                </c:pt>
                <c:pt idx="12">
                  <c:v>Education </c:v>
                </c:pt>
                <c:pt idx="13">
                  <c:v>Other</c:v>
                </c:pt>
              </c:strCache>
            </c:strRef>
          </c:cat>
          <c:val>
            <c:numRef>
              <c:f>Sheet1!$B$2:$B$15</c:f>
              <c:numCache>
                <c:formatCode>General</c:formatCode>
                <c:ptCount val="14"/>
                <c:pt idx="0">
                  <c:v>55</c:v>
                </c:pt>
                <c:pt idx="1">
                  <c:v>11</c:v>
                </c:pt>
                <c:pt idx="2">
                  <c:v>20</c:v>
                </c:pt>
                <c:pt idx="3">
                  <c:v>1</c:v>
                </c:pt>
                <c:pt idx="4">
                  <c:v>12</c:v>
                </c:pt>
                <c:pt idx="5">
                  <c:v>19</c:v>
                </c:pt>
                <c:pt idx="6">
                  <c:v>8</c:v>
                </c:pt>
                <c:pt idx="7">
                  <c:v>13</c:v>
                </c:pt>
                <c:pt idx="8">
                  <c:v>7</c:v>
                </c:pt>
                <c:pt idx="9">
                  <c:v>3</c:v>
                </c:pt>
                <c:pt idx="10">
                  <c:v>8</c:v>
                </c:pt>
                <c:pt idx="11">
                  <c:v>6</c:v>
                </c:pt>
                <c:pt idx="12">
                  <c:v>3</c:v>
                </c:pt>
                <c:pt idx="13">
                  <c:v>29</c:v>
                </c:pt>
              </c:numCache>
            </c:numRef>
          </c:val>
        </c:ser>
        <c:axId val="84163584"/>
        <c:axId val="84169472"/>
      </c:barChart>
      <c:catAx>
        <c:axId val="84163584"/>
        <c:scaling>
          <c:orientation val="minMax"/>
        </c:scaling>
        <c:axPos val="b"/>
        <c:tickLblPos val="nextTo"/>
        <c:crossAx val="84169472"/>
        <c:crosses val="autoZero"/>
        <c:auto val="1"/>
        <c:lblAlgn val="ctr"/>
        <c:lblOffset val="100"/>
      </c:catAx>
      <c:valAx>
        <c:axId val="84169472"/>
        <c:scaling>
          <c:orientation val="minMax"/>
        </c:scaling>
        <c:axPos val="l"/>
        <c:majorGridlines/>
        <c:numFmt formatCode="General" sourceLinked="1"/>
        <c:tickLblPos val="nextTo"/>
        <c:crossAx val="84163584"/>
        <c:crosses val="autoZero"/>
        <c:crossBetween val="between"/>
      </c:valAx>
    </c:plotArea>
    <c:plotVisOnly val="1"/>
  </c:chart>
  <c:txPr>
    <a:bodyPr/>
    <a:lstStyle/>
    <a:p>
      <a:pPr>
        <a:defRPr sz="1800"/>
      </a:pPr>
      <a:endParaRPr lang="en-US"/>
    </a:p>
  </c:tx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tx>
            <c:strRef>
              <c:f>Sheet1!$B$1</c:f>
              <c:strCache>
                <c:ptCount val="1"/>
                <c:pt idx="0">
                  <c:v>Series 1</c:v>
                </c:pt>
              </c:strCache>
            </c:strRef>
          </c:tx>
          <c:dLbls>
            <c:showVal val="1"/>
          </c:dLbls>
          <c:cat>
            <c:strRef>
              <c:f>Sheet1!$A$2:$A$4</c:f>
              <c:strCache>
                <c:ptCount val="3"/>
                <c:pt idx="0">
                  <c:v>General SDI</c:v>
                </c:pt>
                <c:pt idx="1">
                  <c:v>National SDI</c:v>
                </c:pt>
                <c:pt idx="2">
                  <c:v>Global SDI</c:v>
                </c:pt>
              </c:strCache>
            </c:strRef>
          </c:cat>
          <c:val>
            <c:numRef>
              <c:f>Sheet1!$B$2:$B$4</c:f>
              <c:numCache>
                <c:formatCode>0%</c:formatCode>
                <c:ptCount val="3"/>
                <c:pt idx="0">
                  <c:v>0.36000000000000032</c:v>
                </c:pt>
                <c:pt idx="1">
                  <c:v>0.26</c:v>
                </c:pt>
                <c:pt idx="2">
                  <c:v>0.17</c:v>
                </c:pt>
              </c:numCache>
            </c:numRef>
          </c:val>
        </c:ser>
        <c:axId val="78394112"/>
        <c:axId val="78395648"/>
      </c:barChart>
      <c:catAx>
        <c:axId val="78394112"/>
        <c:scaling>
          <c:orientation val="minMax"/>
        </c:scaling>
        <c:axPos val="b"/>
        <c:tickLblPos val="nextTo"/>
        <c:crossAx val="78395648"/>
        <c:crosses val="autoZero"/>
        <c:auto val="1"/>
        <c:lblAlgn val="ctr"/>
        <c:lblOffset val="100"/>
      </c:catAx>
      <c:valAx>
        <c:axId val="78395648"/>
        <c:scaling>
          <c:orientation val="minMax"/>
          <c:max val="1"/>
        </c:scaling>
        <c:axPos val="l"/>
        <c:majorGridlines/>
        <c:numFmt formatCode="0%" sourceLinked="1"/>
        <c:tickLblPos val="nextTo"/>
        <c:crossAx val="78394112"/>
        <c:crosses val="autoZero"/>
        <c:crossBetween val="between"/>
      </c:valAx>
    </c:plotArea>
    <c:plotVisOnly val="1"/>
  </c:chart>
  <c:txPr>
    <a:bodyPr/>
    <a:lstStyle/>
    <a:p>
      <a:pPr>
        <a:defRPr sz="1800"/>
      </a:pPr>
      <a:endParaRPr lang="en-US"/>
    </a:p>
  </c:tx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col"/>
        <c:grouping val="clustered"/>
        <c:ser>
          <c:idx val="0"/>
          <c:order val="0"/>
          <c:tx>
            <c:strRef>
              <c:f>Sheet1!$B$1</c:f>
              <c:strCache>
                <c:ptCount val="1"/>
                <c:pt idx="0">
                  <c:v>Series 1</c:v>
                </c:pt>
              </c:strCache>
            </c:strRef>
          </c:tx>
          <c:dLbls>
            <c:showVal val="1"/>
          </c:dLbls>
          <c:cat>
            <c:strRef>
              <c:f>Sheet1!$A$2:$A$4</c:f>
              <c:strCache>
                <c:ptCount val="3"/>
                <c:pt idx="0">
                  <c:v>General SDI</c:v>
                </c:pt>
                <c:pt idx="1">
                  <c:v>National SDI</c:v>
                </c:pt>
                <c:pt idx="2">
                  <c:v>Global SDI</c:v>
                </c:pt>
              </c:strCache>
            </c:strRef>
          </c:cat>
          <c:val>
            <c:numRef>
              <c:f>Sheet1!$B$2:$B$4</c:f>
              <c:numCache>
                <c:formatCode>0%</c:formatCode>
                <c:ptCount val="3"/>
                <c:pt idx="0">
                  <c:v>0.66000000000000092</c:v>
                </c:pt>
                <c:pt idx="1">
                  <c:v>0.59</c:v>
                </c:pt>
                <c:pt idx="2">
                  <c:v>0.49000000000000032</c:v>
                </c:pt>
              </c:numCache>
            </c:numRef>
          </c:val>
        </c:ser>
        <c:axId val="78412032"/>
        <c:axId val="78444800"/>
      </c:barChart>
      <c:catAx>
        <c:axId val="78412032"/>
        <c:scaling>
          <c:orientation val="minMax"/>
        </c:scaling>
        <c:axPos val="b"/>
        <c:tickLblPos val="nextTo"/>
        <c:crossAx val="78444800"/>
        <c:crosses val="autoZero"/>
        <c:auto val="1"/>
        <c:lblAlgn val="ctr"/>
        <c:lblOffset val="100"/>
      </c:catAx>
      <c:valAx>
        <c:axId val="78444800"/>
        <c:scaling>
          <c:orientation val="minMax"/>
          <c:max val="1"/>
        </c:scaling>
        <c:axPos val="l"/>
        <c:majorGridlines/>
        <c:numFmt formatCode="0%" sourceLinked="1"/>
        <c:tickLblPos val="nextTo"/>
        <c:crossAx val="78412032"/>
        <c:crosses val="autoZero"/>
        <c:crossBetween val="between"/>
      </c:valAx>
    </c:plotArea>
    <c:plotVisOnly val="1"/>
  </c:chart>
  <c:txPr>
    <a:bodyPr/>
    <a:lstStyle/>
    <a:p>
      <a:pPr>
        <a:defRPr sz="1800"/>
      </a:pPr>
      <a:endParaRPr lang="en-US"/>
    </a:p>
  </c:txPr>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chart>
    <c:autoTitleDeleted val="1"/>
    <c:plotArea>
      <c:layout/>
      <c:barChart>
        <c:barDir val="bar"/>
        <c:grouping val="percentStacked"/>
        <c:ser>
          <c:idx val="0"/>
          <c:order val="0"/>
          <c:tx>
            <c:strRef>
              <c:f>Sheet1!$B$1</c:f>
              <c:strCache>
                <c:ptCount val="1"/>
                <c:pt idx="0">
                  <c:v>Very Familiar</c:v>
                </c:pt>
              </c:strCache>
            </c:strRef>
          </c:tx>
          <c:dLbls>
            <c:txPr>
              <a:bodyPr/>
              <a:lstStyle/>
              <a:p>
                <a:pPr>
                  <a:defRPr sz="1000"/>
                </a:pPr>
                <a:endParaRPr lang="en-US"/>
              </a:p>
            </c:txPr>
            <c:showVal val="1"/>
          </c:dLbls>
          <c:cat>
            <c:strRef>
              <c:f>Sheet1!$A$2:$A$9</c:f>
              <c:strCache>
                <c:ptCount val="8"/>
                <c:pt idx="0">
                  <c:v>Base Standard</c:v>
                </c:pt>
                <c:pt idx="1">
                  <c:v>Geodetic Control Theme</c:v>
                </c:pt>
                <c:pt idx="2">
                  <c:v>Orthoimagery Theme </c:v>
                </c:pt>
                <c:pt idx="3">
                  <c:v>Elevation Theme </c:v>
                </c:pt>
                <c:pt idx="4">
                  <c:v>Transportation Theme </c:v>
                </c:pt>
                <c:pt idx="5">
                  <c:v>Hydrography Theme </c:v>
                </c:pt>
                <c:pt idx="6">
                  <c:v>Governmental Units Theme </c:v>
                </c:pt>
                <c:pt idx="7">
                  <c:v>Cadastral Information Theme </c:v>
                </c:pt>
              </c:strCache>
            </c:strRef>
          </c:cat>
          <c:val>
            <c:numRef>
              <c:f>Sheet1!$B$2:$B$9</c:f>
              <c:numCache>
                <c:formatCode>0.00%</c:formatCode>
                <c:ptCount val="8"/>
                <c:pt idx="0">
                  <c:v>0.1159</c:v>
                </c:pt>
                <c:pt idx="1">
                  <c:v>0.1159</c:v>
                </c:pt>
                <c:pt idx="2">
                  <c:v>0.13039999999999999</c:v>
                </c:pt>
                <c:pt idx="3">
                  <c:v>0.18840000000000026</c:v>
                </c:pt>
                <c:pt idx="4">
                  <c:v>8.7000000000000022E-2</c:v>
                </c:pt>
                <c:pt idx="5">
                  <c:v>0.13039999999999999</c:v>
                </c:pt>
                <c:pt idx="6">
                  <c:v>4.3500000000000004E-2</c:v>
                </c:pt>
                <c:pt idx="7">
                  <c:v>8.7000000000000022E-2</c:v>
                </c:pt>
              </c:numCache>
            </c:numRef>
          </c:val>
        </c:ser>
        <c:ser>
          <c:idx val="1"/>
          <c:order val="1"/>
          <c:tx>
            <c:strRef>
              <c:f>Sheet1!$C$1</c:f>
              <c:strCache>
                <c:ptCount val="1"/>
                <c:pt idx="0">
                  <c:v>Familiar</c:v>
                </c:pt>
              </c:strCache>
            </c:strRef>
          </c:tx>
          <c:dLbls>
            <c:txPr>
              <a:bodyPr/>
              <a:lstStyle/>
              <a:p>
                <a:pPr>
                  <a:defRPr sz="1000"/>
                </a:pPr>
                <a:endParaRPr lang="en-US"/>
              </a:p>
            </c:txPr>
            <c:showVal val="1"/>
          </c:dLbls>
          <c:cat>
            <c:strRef>
              <c:f>Sheet1!$A$2:$A$9</c:f>
              <c:strCache>
                <c:ptCount val="8"/>
                <c:pt idx="0">
                  <c:v>Base Standard</c:v>
                </c:pt>
                <c:pt idx="1">
                  <c:v>Geodetic Control Theme</c:v>
                </c:pt>
                <c:pt idx="2">
                  <c:v>Orthoimagery Theme </c:v>
                </c:pt>
                <c:pt idx="3">
                  <c:v>Elevation Theme </c:v>
                </c:pt>
                <c:pt idx="4">
                  <c:v>Transportation Theme </c:v>
                </c:pt>
                <c:pt idx="5">
                  <c:v>Hydrography Theme </c:v>
                </c:pt>
                <c:pt idx="6">
                  <c:v>Governmental Units Theme </c:v>
                </c:pt>
                <c:pt idx="7">
                  <c:v>Cadastral Information Theme </c:v>
                </c:pt>
              </c:strCache>
            </c:strRef>
          </c:cat>
          <c:val>
            <c:numRef>
              <c:f>Sheet1!$C$2:$C$9</c:f>
              <c:numCache>
                <c:formatCode>0.00%</c:formatCode>
                <c:ptCount val="8"/>
                <c:pt idx="0">
                  <c:v>0.37680000000000047</c:v>
                </c:pt>
                <c:pt idx="1">
                  <c:v>0.26090000000000002</c:v>
                </c:pt>
                <c:pt idx="2">
                  <c:v>0.31880000000000047</c:v>
                </c:pt>
                <c:pt idx="3">
                  <c:v>0.33330000000000054</c:v>
                </c:pt>
                <c:pt idx="4">
                  <c:v>0.34780000000000033</c:v>
                </c:pt>
                <c:pt idx="5">
                  <c:v>0.31880000000000047</c:v>
                </c:pt>
                <c:pt idx="6">
                  <c:v>0.37680000000000047</c:v>
                </c:pt>
                <c:pt idx="7">
                  <c:v>0.24640000000000023</c:v>
                </c:pt>
              </c:numCache>
            </c:numRef>
          </c:val>
        </c:ser>
        <c:ser>
          <c:idx val="2"/>
          <c:order val="2"/>
          <c:tx>
            <c:strRef>
              <c:f>Sheet1!$D$1</c:f>
              <c:strCache>
                <c:ptCount val="1"/>
                <c:pt idx="0">
                  <c:v>Somewhat Familiar</c:v>
                </c:pt>
              </c:strCache>
            </c:strRef>
          </c:tx>
          <c:dLbls>
            <c:txPr>
              <a:bodyPr/>
              <a:lstStyle/>
              <a:p>
                <a:pPr>
                  <a:defRPr sz="1000"/>
                </a:pPr>
                <a:endParaRPr lang="en-US"/>
              </a:p>
            </c:txPr>
            <c:showVal val="1"/>
          </c:dLbls>
          <c:cat>
            <c:strRef>
              <c:f>Sheet1!$A$2:$A$9</c:f>
              <c:strCache>
                <c:ptCount val="8"/>
                <c:pt idx="0">
                  <c:v>Base Standard</c:v>
                </c:pt>
                <c:pt idx="1">
                  <c:v>Geodetic Control Theme</c:v>
                </c:pt>
                <c:pt idx="2">
                  <c:v>Orthoimagery Theme </c:v>
                </c:pt>
                <c:pt idx="3">
                  <c:v>Elevation Theme </c:v>
                </c:pt>
                <c:pt idx="4">
                  <c:v>Transportation Theme </c:v>
                </c:pt>
                <c:pt idx="5">
                  <c:v>Hydrography Theme </c:v>
                </c:pt>
                <c:pt idx="6">
                  <c:v>Governmental Units Theme </c:v>
                </c:pt>
                <c:pt idx="7">
                  <c:v>Cadastral Information Theme </c:v>
                </c:pt>
              </c:strCache>
            </c:strRef>
          </c:cat>
          <c:val>
            <c:numRef>
              <c:f>Sheet1!$D$2:$D$9</c:f>
              <c:numCache>
                <c:formatCode>0.00%</c:formatCode>
                <c:ptCount val="8"/>
                <c:pt idx="0">
                  <c:v>0.40580000000000033</c:v>
                </c:pt>
                <c:pt idx="1">
                  <c:v>0.40580000000000033</c:v>
                </c:pt>
                <c:pt idx="2">
                  <c:v>0.40580000000000033</c:v>
                </c:pt>
                <c:pt idx="3">
                  <c:v>0.39130000000000054</c:v>
                </c:pt>
                <c:pt idx="4">
                  <c:v>0.37680000000000047</c:v>
                </c:pt>
                <c:pt idx="5">
                  <c:v>0.39130000000000054</c:v>
                </c:pt>
                <c:pt idx="6">
                  <c:v>0.40580000000000033</c:v>
                </c:pt>
                <c:pt idx="7">
                  <c:v>0.43480000000000046</c:v>
                </c:pt>
              </c:numCache>
            </c:numRef>
          </c:val>
        </c:ser>
        <c:ser>
          <c:idx val="3"/>
          <c:order val="3"/>
          <c:tx>
            <c:strRef>
              <c:f>Sheet1!$E$1</c:f>
              <c:strCache>
                <c:ptCount val="1"/>
                <c:pt idx="0">
                  <c:v>Unfamiliar</c:v>
                </c:pt>
              </c:strCache>
            </c:strRef>
          </c:tx>
          <c:dLbls>
            <c:txPr>
              <a:bodyPr/>
              <a:lstStyle/>
              <a:p>
                <a:pPr>
                  <a:defRPr sz="1000"/>
                </a:pPr>
                <a:endParaRPr lang="en-US"/>
              </a:p>
            </c:txPr>
            <c:showVal val="1"/>
          </c:dLbls>
          <c:cat>
            <c:strRef>
              <c:f>Sheet1!$A$2:$A$9</c:f>
              <c:strCache>
                <c:ptCount val="8"/>
                <c:pt idx="0">
                  <c:v>Base Standard</c:v>
                </c:pt>
                <c:pt idx="1">
                  <c:v>Geodetic Control Theme</c:v>
                </c:pt>
                <c:pt idx="2">
                  <c:v>Orthoimagery Theme </c:v>
                </c:pt>
                <c:pt idx="3">
                  <c:v>Elevation Theme </c:v>
                </c:pt>
                <c:pt idx="4">
                  <c:v>Transportation Theme </c:v>
                </c:pt>
                <c:pt idx="5">
                  <c:v>Hydrography Theme </c:v>
                </c:pt>
                <c:pt idx="6">
                  <c:v>Governmental Units Theme </c:v>
                </c:pt>
                <c:pt idx="7">
                  <c:v>Cadastral Information Theme </c:v>
                </c:pt>
              </c:strCache>
            </c:strRef>
          </c:cat>
          <c:val>
            <c:numRef>
              <c:f>Sheet1!$E$2:$E$9</c:f>
              <c:numCache>
                <c:formatCode>0.00%</c:formatCode>
                <c:ptCount val="8"/>
                <c:pt idx="0">
                  <c:v>0.1014</c:v>
                </c:pt>
                <c:pt idx="1">
                  <c:v>0.21740000000000026</c:v>
                </c:pt>
                <c:pt idx="2">
                  <c:v>0.14490000000000017</c:v>
                </c:pt>
                <c:pt idx="3">
                  <c:v>8.7000000000000022E-2</c:v>
                </c:pt>
                <c:pt idx="4">
                  <c:v>0.18840000000000026</c:v>
                </c:pt>
                <c:pt idx="5">
                  <c:v>0.15940000000000024</c:v>
                </c:pt>
                <c:pt idx="6">
                  <c:v>0.17390000000000017</c:v>
                </c:pt>
                <c:pt idx="7">
                  <c:v>0.23190000000000016</c:v>
                </c:pt>
              </c:numCache>
            </c:numRef>
          </c:val>
        </c:ser>
        <c:dLbls>
          <c:showVal val="1"/>
        </c:dLbls>
        <c:gapWidth val="95"/>
        <c:overlap val="100"/>
        <c:axId val="42587648"/>
        <c:axId val="42761600"/>
      </c:barChart>
      <c:catAx>
        <c:axId val="42587648"/>
        <c:scaling>
          <c:orientation val="minMax"/>
        </c:scaling>
        <c:axPos val="l"/>
        <c:majorTickMark val="none"/>
        <c:tickLblPos val="nextTo"/>
        <c:txPr>
          <a:bodyPr/>
          <a:lstStyle/>
          <a:p>
            <a:pPr>
              <a:defRPr sz="1200"/>
            </a:pPr>
            <a:endParaRPr lang="en-US"/>
          </a:p>
        </c:txPr>
        <c:crossAx val="42761600"/>
        <c:crosses val="autoZero"/>
        <c:auto val="1"/>
        <c:lblAlgn val="ctr"/>
        <c:lblOffset val="100"/>
      </c:catAx>
      <c:valAx>
        <c:axId val="42761600"/>
        <c:scaling>
          <c:orientation val="minMax"/>
        </c:scaling>
        <c:delete val="1"/>
        <c:axPos val="b"/>
        <c:numFmt formatCode="0%" sourceLinked="1"/>
        <c:majorTickMark val="none"/>
        <c:tickLblPos val="nextTo"/>
        <c:crossAx val="42587648"/>
        <c:crosses val="autoZero"/>
        <c:crossBetween val="between"/>
      </c:valAx>
    </c:plotArea>
    <c:legend>
      <c:legendPos val="t"/>
      <c:layout>
        <c:manualLayout>
          <c:xMode val="edge"/>
          <c:yMode val="edge"/>
          <c:x val="0.17199208149828751"/>
          <c:y val="2.9429797670141016E-2"/>
          <c:w val="0.65036600827438962"/>
          <c:h val="5.3343632475125163E-2"/>
        </c:manualLayout>
      </c:layout>
      <c:txPr>
        <a:bodyPr/>
        <a:lstStyle/>
        <a:p>
          <a:pPr>
            <a:defRPr sz="1400"/>
          </a:pPr>
          <a:endParaRPr lang="en-US"/>
        </a:p>
      </c:txPr>
    </c:legend>
    <c:plotVisOnly val="1"/>
  </c:chart>
  <c:txPr>
    <a:bodyPr/>
    <a:lstStyle/>
    <a:p>
      <a:pPr>
        <a:defRPr sz="1800"/>
      </a:pPr>
      <a:endParaRPr lang="en-US"/>
    </a:p>
  </c:txPr>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plotArea>
      <c:layout/>
      <c:barChart>
        <c:barDir val="col"/>
        <c:grouping val="clustered"/>
        <c:ser>
          <c:idx val="0"/>
          <c:order val="0"/>
          <c:tx>
            <c:strRef>
              <c:f>Sheet1!$B$1</c:f>
              <c:strCache>
                <c:ptCount val="1"/>
                <c:pt idx="0">
                  <c:v>Much</c:v>
                </c:pt>
              </c:strCache>
            </c:strRef>
          </c:tx>
          <c:cat>
            <c:strRef>
              <c:f>Sheet1!$A$2:$A$8</c:f>
              <c:strCache>
                <c:ptCount val="7"/>
                <c:pt idx="0">
                  <c:v>Business and Industry</c:v>
                </c:pt>
                <c:pt idx="1">
                  <c:v>University &amp; College Research</c:v>
                </c:pt>
                <c:pt idx="2">
                  <c:v>University &amp; College Teaching</c:v>
                </c:pt>
                <c:pt idx="3">
                  <c:v>Local &amp; Municipal Governments</c:v>
                </c:pt>
                <c:pt idx="4">
                  <c:v>State Government</c:v>
                </c:pt>
                <c:pt idx="5">
                  <c:v>Federal Government</c:v>
                </c:pt>
                <c:pt idx="6">
                  <c:v>Tribal Groups</c:v>
                </c:pt>
              </c:strCache>
            </c:strRef>
          </c:cat>
          <c:val>
            <c:numRef>
              <c:f>Sheet1!$B$2:$B$8</c:f>
              <c:numCache>
                <c:formatCode>0%</c:formatCode>
                <c:ptCount val="7"/>
                <c:pt idx="0">
                  <c:v>0.66670000000000096</c:v>
                </c:pt>
                <c:pt idx="1">
                  <c:v>0.75860000000000094</c:v>
                </c:pt>
                <c:pt idx="2">
                  <c:v>0.47670000000000001</c:v>
                </c:pt>
                <c:pt idx="3">
                  <c:v>0.73260000000000092</c:v>
                </c:pt>
                <c:pt idx="4">
                  <c:v>0.81400000000000061</c:v>
                </c:pt>
                <c:pt idx="5">
                  <c:v>0.84880000000000067</c:v>
                </c:pt>
                <c:pt idx="6">
                  <c:v>0.5181</c:v>
                </c:pt>
              </c:numCache>
            </c:numRef>
          </c:val>
        </c:ser>
        <c:ser>
          <c:idx val="1"/>
          <c:order val="1"/>
          <c:tx>
            <c:strRef>
              <c:f>Sheet1!$C$1</c:f>
              <c:strCache>
                <c:ptCount val="1"/>
                <c:pt idx="0">
                  <c:v>Some</c:v>
                </c:pt>
              </c:strCache>
            </c:strRef>
          </c:tx>
          <c:cat>
            <c:strRef>
              <c:f>Sheet1!$A$2:$A$8</c:f>
              <c:strCache>
                <c:ptCount val="7"/>
                <c:pt idx="0">
                  <c:v>Business and Industry</c:v>
                </c:pt>
                <c:pt idx="1">
                  <c:v>University &amp; College Research</c:v>
                </c:pt>
                <c:pt idx="2">
                  <c:v>University &amp; College Teaching</c:v>
                </c:pt>
                <c:pt idx="3">
                  <c:v>Local &amp; Municipal Governments</c:v>
                </c:pt>
                <c:pt idx="4">
                  <c:v>State Government</c:v>
                </c:pt>
                <c:pt idx="5">
                  <c:v>Federal Government</c:v>
                </c:pt>
                <c:pt idx="6">
                  <c:v>Tribal Groups</c:v>
                </c:pt>
              </c:strCache>
            </c:strRef>
          </c:cat>
          <c:val>
            <c:numRef>
              <c:f>Sheet1!$C$2:$C$8</c:f>
              <c:numCache>
                <c:formatCode>0%</c:formatCode>
                <c:ptCount val="7"/>
                <c:pt idx="0">
                  <c:v>0.25290000000000001</c:v>
                </c:pt>
                <c:pt idx="1">
                  <c:v>0.18390000000000023</c:v>
                </c:pt>
                <c:pt idx="2">
                  <c:v>0.40700000000000008</c:v>
                </c:pt>
                <c:pt idx="3">
                  <c:v>0.19769999999999999</c:v>
                </c:pt>
                <c:pt idx="4">
                  <c:v>0.12789999999999999</c:v>
                </c:pt>
                <c:pt idx="5">
                  <c:v>9.3000000000000138E-2</c:v>
                </c:pt>
                <c:pt idx="6">
                  <c:v>0.27710000000000001</c:v>
                </c:pt>
              </c:numCache>
            </c:numRef>
          </c:val>
        </c:ser>
        <c:ser>
          <c:idx val="2"/>
          <c:order val="2"/>
          <c:tx>
            <c:strRef>
              <c:f>Sheet1!$D$1</c:f>
              <c:strCache>
                <c:ptCount val="1"/>
                <c:pt idx="0">
                  <c:v>Little</c:v>
                </c:pt>
              </c:strCache>
            </c:strRef>
          </c:tx>
          <c:cat>
            <c:strRef>
              <c:f>Sheet1!$A$2:$A$8</c:f>
              <c:strCache>
                <c:ptCount val="7"/>
                <c:pt idx="0">
                  <c:v>Business and Industry</c:v>
                </c:pt>
                <c:pt idx="1">
                  <c:v>University &amp; College Research</c:v>
                </c:pt>
                <c:pt idx="2">
                  <c:v>University &amp; College Teaching</c:v>
                </c:pt>
                <c:pt idx="3">
                  <c:v>Local &amp; Municipal Governments</c:v>
                </c:pt>
                <c:pt idx="4">
                  <c:v>State Government</c:v>
                </c:pt>
                <c:pt idx="5">
                  <c:v>Federal Government</c:v>
                </c:pt>
                <c:pt idx="6">
                  <c:v>Tribal Groups</c:v>
                </c:pt>
              </c:strCache>
            </c:strRef>
          </c:cat>
          <c:val>
            <c:numRef>
              <c:f>Sheet1!$D$2:$D$8</c:f>
              <c:numCache>
                <c:formatCode>0%</c:formatCode>
                <c:ptCount val="7"/>
                <c:pt idx="0">
                  <c:v>2.3E-2</c:v>
                </c:pt>
                <c:pt idx="1">
                  <c:v>2.3E-2</c:v>
                </c:pt>
                <c:pt idx="2">
                  <c:v>8.14E-2</c:v>
                </c:pt>
                <c:pt idx="3">
                  <c:v>3.49E-2</c:v>
                </c:pt>
                <c:pt idx="4">
                  <c:v>2.3299999999999998E-2</c:v>
                </c:pt>
                <c:pt idx="5">
                  <c:v>2.3299999999999998E-2</c:v>
                </c:pt>
                <c:pt idx="6">
                  <c:v>3.61E-2</c:v>
                </c:pt>
              </c:numCache>
            </c:numRef>
          </c:val>
        </c:ser>
        <c:axId val="90299008"/>
        <c:axId val="91287936"/>
      </c:barChart>
      <c:catAx>
        <c:axId val="90299008"/>
        <c:scaling>
          <c:orientation val="minMax"/>
        </c:scaling>
        <c:axPos val="b"/>
        <c:tickLblPos val="nextTo"/>
        <c:txPr>
          <a:bodyPr/>
          <a:lstStyle/>
          <a:p>
            <a:pPr>
              <a:defRPr sz="1200"/>
            </a:pPr>
            <a:endParaRPr lang="en-US"/>
          </a:p>
        </c:txPr>
        <c:crossAx val="91287936"/>
        <c:crosses val="autoZero"/>
        <c:auto val="1"/>
        <c:lblAlgn val="ctr"/>
        <c:lblOffset val="100"/>
      </c:catAx>
      <c:valAx>
        <c:axId val="91287936"/>
        <c:scaling>
          <c:orientation val="minMax"/>
          <c:max val="1"/>
        </c:scaling>
        <c:axPos val="l"/>
        <c:majorGridlines/>
        <c:numFmt formatCode="0%" sourceLinked="1"/>
        <c:tickLblPos val="nextTo"/>
        <c:crossAx val="90299008"/>
        <c:crosses val="autoZero"/>
        <c:crossBetween val="between"/>
      </c:valAx>
    </c:plotArea>
    <c:legend>
      <c:legendPos val="r"/>
      <c:layout/>
    </c:legend>
    <c:plotVisOnly val="1"/>
  </c:chart>
  <c:txPr>
    <a:bodyPr/>
    <a:lstStyle/>
    <a:p>
      <a:pPr>
        <a:defRPr sz="1800"/>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FFAD72-777E-4314-A185-56DBB6E752A2}" type="datetimeFigureOut">
              <a:rPr lang="en-US" smtClean="0"/>
              <a:pPr/>
              <a:t>1/11/2008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E7FCF9-445F-42D1-B175-83AA9999EC7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Scoring:</a:t>
            </a:r>
          </a:p>
          <a:p>
            <a:endParaRPr lang="en-US" dirty="0" smtClean="0"/>
          </a:p>
          <a:p>
            <a:r>
              <a:rPr lang="en-US" dirty="0" smtClean="0"/>
              <a:t>Very</a:t>
            </a:r>
            <a:r>
              <a:rPr lang="en-US" baseline="0" dirty="0" smtClean="0"/>
              <a:t> Important 2</a:t>
            </a:r>
          </a:p>
          <a:p>
            <a:r>
              <a:rPr lang="en-US" baseline="0" dirty="0" smtClean="0"/>
              <a:t>Important, Somewhat Important 1</a:t>
            </a:r>
          </a:p>
          <a:p>
            <a:r>
              <a:rPr lang="en-US" baseline="0" dirty="0" smtClean="0"/>
              <a:t>All others, 0</a:t>
            </a:r>
          </a:p>
          <a:p>
            <a:endParaRPr lang="en-US" dirty="0"/>
          </a:p>
        </p:txBody>
      </p:sp>
      <p:sp>
        <p:nvSpPr>
          <p:cNvPr id="4" name="Slide Number Placeholder 3"/>
          <p:cNvSpPr>
            <a:spLocks noGrp="1"/>
          </p:cNvSpPr>
          <p:nvPr>
            <p:ph type="sldNum" sz="quarter" idx="10"/>
          </p:nvPr>
        </p:nvSpPr>
        <p:spPr/>
        <p:txBody>
          <a:bodyPr/>
          <a:lstStyle/>
          <a:p>
            <a:fld id="{E1E7FCF9-445F-42D1-B175-83AA9999EC7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E7FCF9-445F-42D1-B175-83AA9999EC70}"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1/11/2008</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1/11/2008</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1D8BD707-D9CF-40AE-B4C6-C98DA3205C09}" type="datetimeFigureOut">
              <a:rPr lang="en-US" smtClean="0"/>
              <a:pPr/>
              <a:t>1/11/2008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1/11/2008</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6F15528-21DE-4FAA-801E-634DDDAF4B2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1/11/2008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1/11/2008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1/11/2008</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1D8BD707-D9CF-40AE-B4C6-C98DA3205C09}" type="datetimeFigureOut">
              <a:rPr lang="en-US" smtClean="0"/>
              <a:pPr/>
              <a:t>1/11/2008</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B6F15528-21DE-4FAA-801E-634DDDAF4B2B}"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1/11/2008</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pPr/>
              <a:t>1/11/2008</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dirty="0" smtClean="0"/>
              <a:t>Results and Recommendations</a:t>
            </a:r>
          </a:p>
          <a:p>
            <a:endParaRPr lang="en-US" dirty="0" smtClean="0"/>
          </a:p>
          <a:p>
            <a:endParaRPr lang="en-US" dirty="0"/>
          </a:p>
        </p:txBody>
      </p:sp>
      <p:sp>
        <p:nvSpPr>
          <p:cNvPr id="2" name="Title 1"/>
          <p:cNvSpPr>
            <a:spLocks noGrp="1"/>
          </p:cNvSpPr>
          <p:nvPr>
            <p:ph type="ctrTitle"/>
          </p:nvPr>
        </p:nvSpPr>
        <p:spPr/>
        <p:txBody>
          <a:bodyPr/>
          <a:lstStyle/>
          <a:p>
            <a:r>
              <a:rPr lang="en-US" dirty="0" smtClean="0"/>
              <a:t>FGDC Framework and Metadata Survey</a:t>
            </a:r>
            <a:endParaRPr lang="en-US" dirty="0"/>
          </a:p>
        </p:txBody>
      </p:sp>
      <p:sp>
        <p:nvSpPr>
          <p:cNvPr id="4" name="Subtitle 2"/>
          <p:cNvSpPr txBox="1">
            <a:spLocks/>
          </p:cNvSpPr>
          <p:nvPr/>
        </p:nvSpPr>
        <p:spPr>
          <a:xfrm>
            <a:off x="1524000" y="4648200"/>
            <a:ext cx="6400800" cy="1752600"/>
          </a:xfrm>
          <a:prstGeom prst="rect">
            <a:avLst/>
          </a:prstGeom>
        </p:spPr>
        <p:txBody>
          <a:bodyPr vert="horz">
            <a:normAutofit fontScale="77500" lnSpcReduction="20000"/>
          </a:bodyPr>
          <a:lstStyle/>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kumimoji="0" lang="en-US" sz="1600" b="1" i="0" u="none" strike="noStrike" kern="1200" cap="all" spc="250" normalizeH="0" baseline="0" noProof="0" dirty="0" smtClean="0">
                <a:ln>
                  <a:noFill/>
                </a:ln>
                <a:solidFill>
                  <a:schemeClr val="tx2"/>
                </a:solidFill>
                <a:effectLst/>
                <a:uLnTx/>
                <a:uFillTx/>
                <a:latin typeface="+mn-lt"/>
                <a:ea typeface="+mn-ea"/>
                <a:cs typeface="+mn-cs"/>
              </a:rPr>
              <a:t>Steven D. Prager</a:t>
            </a: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lang="en-US" sz="1600" b="1" cap="all" spc="250" dirty="0" smtClean="0">
                <a:solidFill>
                  <a:schemeClr val="tx2"/>
                </a:solidFill>
              </a:rPr>
              <a:t>Department of Geography</a:t>
            </a: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kumimoji="0" lang="en-US" sz="1600" b="1" i="0" u="none" strike="noStrike" kern="1200" cap="all" spc="250" normalizeH="0" baseline="0" noProof="0" dirty="0" smtClean="0">
                <a:ln>
                  <a:noFill/>
                </a:ln>
                <a:solidFill>
                  <a:schemeClr val="tx2"/>
                </a:solidFill>
                <a:effectLst/>
                <a:uLnTx/>
                <a:uFillTx/>
                <a:latin typeface="+mn-lt"/>
                <a:ea typeface="+mn-ea"/>
                <a:cs typeface="+mn-cs"/>
              </a:rPr>
              <a:t>University</a:t>
            </a:r>
            <a:r>
              <a:rPr kumimoji="0" lang="en-US" sz="1600" b="1" i="0" u="none" strike="noStrike" kern="1200" cap="all" spc="250" normalizeH="0" noProof="0" dirty="0" smtClean="0">
                <a:ln>
                  <a:noFill/>
                </a:ln>
                <a:solidFill>
                  <a:schemeClr val="tx2"/>
                </a:solidFill>
                <a:effectLst/>
                <a:uLnTx/>
                <a:uFillTx/>
                <a:latin typeface="+mn-lt"/>
                <a:ea typeface="+mn-ea"/>
                <a:cs typeface="+mn-cs"/>
              </a:rPr>
              <a:t> of Wyoming</a:t>
            </a: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endParaRPr kumimoji="0" lang="en-US" sz="1600" b="1" i="0" u="none" strike="noStrike" kern="1200" cap="all" spc="250" normalizeH="0" baseline="0" noProof="0" dirty="0" smtClean="0">
              <a:ln>
                <a:noFill/>
              </a:ln>
              <a:solidFill>
                <a:schemeClr val="tx2"/>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kumimoji="0" lang="en-US" sz="1600" b="1" i="0" u="none" strike="noStrike" kern="1200" cap="all" spc="250" normalizeH="0" baseline="0" noProof="0" dirty="0" smtClean="0">
                <a:ln>
                  <a:noFill/>
                </a:ln>
                <a:solidFill>
                  <a:schemeClr val="tx2"/>
                </a:solidFill>
                <a:effectLst/>
                <a:uLnTx/>
                <a:uFillTx/>
                <a:latin typeface="+mn-lt"/>
                <a:ea typeface="+mn-ea"/>
                <a:cs typeface="+mn-cs"/>
              </a:rPr>
              <a:t>Jeffrey Hamerlinck</a:t>
            </a: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kumimoji="0" lang="en-US" sz="1600" b="1" i="0" u="none" strike="noStrike" kern="1200" cap="all" spc="250" normalizeH="0" baseline="0" noProof="0" dirty="0" smtClean="0">
                <a:ln>
                  <a:noFill/>
                </a:ln>
                <a:solidFill>
                  <a:schemeClr val="tx2"/>
                </a:solidFill>
                <a:effectLst/>
                <a:uLnTx/>
                <a:uFillTx/>
                <a:latin typeface="+mn-lt"/>
                <a:ea typeface="+mn-ea"/>
                <a:cs typeface="+mn-cs"/>
              </a:rPr>
              <a:t>Shawn Lanning</a:t>
            </a: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kumimoji="0" lang="en-US" sz="1600" b="1" i="0" u="none" strike="noStrike" kern="1200" cap="all" spc="250" normalizeH="0" baseline="0" noProof="0" dirty="0" smtClean="0">
                <a:ln>
                  <a:noFill/>
                </a:ln>
                <a:solidFill>
                  <a:schemeClr val="tx2"/>
                </a:solidFill>
                <a:effectLst/>
                <a:uLnTx/>
                <a:uFillTx/>
                <a:latin typeface="+mn-lt"/>
                <a:ea typeface="+mn-ea"/>
                <a:cs typeface="+mn-cs"/>
              </a:rPr>
              <a:t>Wyoming Geographic Information Science</a:t>
            </a: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r>
              <a:rPr kumimoji="0" lang="en-US" sz="1600" b="1" i="0" u="none" strike="noStrike" kern="1200" cap="all" spc="250" normalizeH="0" baseline="0" noProof="0" dirty="0" smtClean="0">
                <a:ln>
                  <a:noFill/>
                </a:ln>
                <a:solidFill>
                  <a:schemeClr val="tx2"/>
                </a:solidFill>
                <a:effectLst/>
                <a:uLnTx/>
                <a:uFillTx/>
                <a:latin typeface="+mn-lt"/>
                <a:ea typeface="+mn-ea"/>
                <a:cs typeface="+mn-cs"/>
              </a:rPr>
              <a:t>University</a:t>
            </a:r>
            <a:r>
              <a:rPr kumimoji="0" lang="en-US" sz="1600" b="1" i="0" u="none" strike="noStrike" kern="1200" cap="all" spc="250" normalizeH="0" noProof="0" dirty="0" smtClean="0">
                <a:ln>
                  <a:noFill/>
                </a:ln>
                <a:solidFill>
                  <a:schemeClr val="tx2"/>
                </a:solidFill>
                <a:effectLst/>
                <a:uLnTx/>
                <a:uFillTx/>
                <a:latin typeface="+mn-lt"/>
                <a:ea typeface="+mn-ea"/>
                <a:cs typeface="+mn-cs"/>
              </a:rPr>
              <a:t> of Wyoming</a:t>
            </a:r>
            <a:endParaRPr kumimoji="0" lang="en-US" sz="1600" b="1" i="0" u="none" strike="noStrike" kern="1200" cap="all" spc="250" normalizeH="0" baseline="0" noProof="0" dirty="0" smtClean="0">
              <a:ln>
                <a:noFill/>
              </a:ln>
              <a:solidFill>
                <a:schemeClr val="tx2"/>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endParaRPr kumimoji="0" lang="en-US" sz="1600" b="1" i="0" u="none" strike="noStrike" kern="1200" cap="all" spc="250" normalizeH="0" baseline="0" noProof="0" dirty="0" smtClean="0">
              <a:ln>
                <a:noFill/>
              </a:ln>
              <a:solidFill>
                <a:schemeClr val="tx2"/>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85000"/>
              <a:buFont typeface="Wingdings 2"/>
              <a:buNone/>
              <a:tabLst/>
              <a:defRPr/>
            </a:pPr>
            <a:endParaRPr kumimoji="0" lang="en-US" sz="1600" b="1" i="0" u="none" strike="noStrike" kern="1200" cap="all" spc="250" normalizeH="0" baseline="0" noProof="0" dirty="0">
              <a:ln>
                <a:noFill/>
              </a:ln>
              <a:solidFill>
                <a:schemeClr val="tx2"/>
              </a:solidFill>
              <a:effectLst/>
              <a:uLnTx/>
              <a:uFillTx/>
              <a:latin typeface="+mn-lt"/>
              <a:ea typeface="+mn-ea"/>
              <a:cs typeface="+mn-cs"/>
            </a:endParaRPr>
          </a:p>
        </p:txBody>
      </p:sp>
    </p:spTree>
    <p:custDataLst>
      <p:tags r:id="rId1"/>
    </p:custData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Scope</a:t>
            </a:r>
            <a:endParaRPr lang="en-US" dirty="0"/>
          </a:p>
        </p:txBody>
      </p:sp>
      <p:sp>
        <p:nvSpPr>
          <p:cNvPr id="3" name="Content Placeholder 2"/>
          <p:cNvSpPr>
            <a:spLocks noGrp="1"/>
          </p:cNvSpPr>
          <p:nvPr>
            <p:ph sz="quarter" idx="1"/>
          </p:nvPr>
        </p:nvSpPr>
        <p:spPr/>
        <p:txBody>
          <a:bodyPr>
            <a:normAutofit/>
          </a:bodyPr>
          <a:lstStyle/>
          <a:p>
            <a:r>
              <a:rPr lang="en-US" dirty="0" smtClean="0"/>
              <a:t>Training Materials for Framework Standards</a:t>
            </a:r>
          </a:p>
          <a:p>
            <a:pPr lvl="1"/>
            <a:r>
              <a:rPr lang="en-US" dirty="0" smtClean="0"/>
              <a:t>Base and </a:t>
            </a:r>
            <a:r>
              <a:rPr lang="en-US" dirty="0" err="1" smtClean="0"/>
              <a:t>Hydrography</a:t>
            </a:r>
            <a:r>
              <a:rPr lang="en-US" dirty="0" smtClean="0"/>
              <a:t> Standards – Completed</a:t>
            </a:r>
          </a:p>
          <a:p>
            <a:pPr lvl="1"/>
            <a:r>
              <a:rPr lang="en-US" dirty="0" smtClean="0"/>
              <a:t>Governmental Boundaries, </a:t>
            </a:r>
            <a:r>
              <a:rPr lang="en-US" dirty="0" smtClean="0"/>
              <a:t>Transportation Base, Transportation Roads – In Progress</a:t>
            </a:r>
          </a:p>
          <a:p>
            <a:r>
              <a:rPr lang="en-US" dirty="0" smtClean="0"/>
              <a:t>White Paper on Best Management Practices for Integrating Framework Principles into Higher Education Curricula</a:t>
            </a:r>
          </a:p>
          <a:p>
            <a:pPr lvl="1"/>
            <a:r>
              <a:rPr lang="en-US" dirty="0" smtClean="0"/>
              <a:t>Informed by Framework Survey</a:t>
            </a:r>
          </a:p>
          <a:p>
            <a:pPr lvl="1"/>
            <a:r>
              <a:rPr lang="en-US" dirty="0" smtClean="0"/>
              <a:t>Broadened to Address other Standards Issues</a:t>
            </a:r>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Survey Overview</a:t>
            </a:r>
            <a:endParaRPr lang="en-US" dirty="0"/>
          </a:p>
        </p:txBody>
      </p:sp>
      <p:sp>
        <p:nvSpPr>
          <p:cNvPr id="3" name="Content Placeholder 2"/>
          <p:cNvSpPr>
            <a:spLocks noGrp="1"/>
          </p:cNvSpPr>
          <p:nvPr>
            <p:ph sz="quarter" idx="1"/>
          </p:nvPr>
        </p:nvSpPr>
        <p:spPr/>
        <p:txBody>
          <a:bodyPr/>
          <a:lstStyle/>
          <a:p>
            <a:r>
              <a:rPr lang="en-US" dirty="0" smtClean="0"/>
              <a:t>Total Questions: 41</a:t>
            </a:r>
          </a:p>
          <a:p>
            <a:r>
              <a:rPr lang="en-US" dirty="0" smtClean="0"/>
              <a:t>Total Respondents: 141</a:t>
            </a:r>
          </a:p>
          <a:p>
            <a:r>
              <a:rPr lang="en-US" dirty="0" smtClean="0"/>
              <a:t>Total Valid Reponses: 86-132 depending on question – 101 average valid responses.</a:t>
            </a:r>
          </a:p>
          <a:p>
            <a:r>
              <a:rPr lang="en-US" dirty="0" smtClean="0"/>
              <a:t>Respondents represented both US and international concerns.</a:t>
            </a:r>
          </a:p>
          <a:p>
            <a:pPr lvl="1"/>
            <a:r>
              <a:rPr lang="en-US" dirty="0" smtClean="0"/>
              <a:t>Of 101 respondents who provided information on location, 83 were in the US, 18 were OCONUS.</a:t>
            </a:r>
          </a:p>
          <a:p>
            <a:pPr lvl="1"/>
            <a:r>
              <a:rPr lang="en-US" dirty="0" smtClean="0"/>
              <a:t>OCONUS respondents included Canada, Spain, India and others.</a:t>
            </a:r>
          </a:p>
          <a:p>
            <a:endParaRPr lang="en-US" dirty="0" smtClean="0"/>
          </a:p>
          <a:p>
            <a:pPr>
              <a:buNone/>
            </a:pPr>
            <a:endParaRPr 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Overview: Demographic </a:t>
            </a:r>
            <a:r>
              <a:rPr lang="en-US" dirty="0" smtClean="0"/>
              <a:t>Information</a:t>
            </a:r>
            <a:endParaRPr lang="en-US" dirty="0">
              <a:solidFill>
                <a:srgbClr val="FF0000"/>
              </a:solidFill>
            </a:endParaRPr>
          </a:p>
        </p:txBody>
      </p:sp>
      <p:pic>
        <p:nvPicPr>
          <p:cNvPr id="1026" name="Picture 2"/>
          <p:cNvPicPr>
            <a:picLocks noChangeAspect="1" noChangeArrowheads="1"/>
          </p:cNvPicPr>
          <p:nvPr/>
        </p:nvPicPr>
        <p:blipFill>
          <a:blip r:embed="rId4"/>
          <a:srcRect/>
          <a:stretch>
            <a:fillRect/>
          </a:stretch>
        </p:blipFill>
        <p:spPr bwMode="auto">
          <a:xfrm>
            <a:off x="1806575" y="1782763"/>
            <a:ext cx="5529263" cy="4389437"/>
          </a:xfrm>
          <a:prstGeom prst="rect">
            <a:avLst/>
          </a:prstGeom>
          <a:noFill/>
          <a:ln w="9525">
            <a:noFill/>
            <a:miter lim="800000"/>
            <a:headEnd/>
            <a:tailEnd/>
          </a:ln>
          <a:effectLst/>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Respondent Institutional Role</a:t>
            </a:r>
            <a:endParaRPr lang="en-US" dirty="0"/>
          </a:p>
        </p:txBody>
      </p:sp>
      <p:graphicFrame>
        <p:nvGraphicFramePr>
          <p:cNvPr id="4" name="Content Placeholder 3"/>
          <p:cNvGraphicFramePr>
            <a:graphicFrameLocks noGrp="1"/>
          </p:cNvGraphicFramePr>
          <p:nvPr>
            <p:ph sz="quarter" idx="1"/>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838200" y="6096000"/>
            <a:ext cx="7924800" cy="276999"/>
          </a:xfrm>
          <a:prstGeom prst="rect">
            <a:avLst/>
          </a:prstGeom>
          <a:noFill/>
        </p:spPr>
        <p:txBody>
          <a:bodyPr wrap="square" rtlCol="0">
            <a:spAutoFit/>
          </a:bodyPr>
          <a:lstStyle/>
          <a:p>
            <a:r>
              <a:rPr lang="en-US" sz="1200" dirty="0" smtClean="0"/>
              <a:t>Responses: 132</a:t>
            </a:r>
            <a:endParaRPr lang="en-US" sz="1200" dirty="0"/>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Institutional Type (inc. Degree Programs) </a:t>
            </a:r>
            <a:endParaRPr lang="en-US" dirty="0"/>
          </a:p>
        </p:txBody>
      </p:sp>
      <p:graphicFrame>
        <p:nvGraphicFramePr>
          <p:cNvPr id="4" name="Content Placeholder 3"/>
          <p:cNvGraphicFramePr>
            <a:graphicFrameLocks noGrp="1"/>
          </p:cNvGraphicFramePr>
          <p:nvPr>
            <p:ph sz="quarter" idx="1"/>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152400" y="5939135"/>
            <a:ext cx="7924800" cy="461665"/>
          </a:xfrm>
          <a:prstGeom prst="rect">
            <a:avLst/>
          </a:prstGeom>
          <a:noFill/>
        </p:spPr>
        <p:txBody>
          <a:bodyPr wrap="square" rtlCol="0">
            <a:spAutoFit/>
          </a:bodyPr>
          <a:lstStyle/>
          <a:p>
            <a:r>
              <a:rPr lang="en-US" sz="1200" dirty="0" smtClean="0"/>
              <a:t>Responses: 110</a:t>
            </a:r>
          </a:p>
          <a:p>
            <a:r>
              <a:rPr lang="en-US" sz="1200" dirty="0" smtClean="0"/>
              <a:t>Reponses of “other” that did not fit in one of the above included a GIS certificate program, a library, and K-12.</a:t>
            </a:r>
            <a:endParaRPr lang="en-US" sz="1200" dirty="0"/>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is GIS&amp;T taught?</a:t>
            </a:r>
            <a:endParaRPr lang="en-US" dirty="0"/>
          </a:p>
        </p:txBody>
      </p:sp>
      <p:graphicFrame>
        <p:nvGraphicFramePr>
          <p:cNvPr id="8" name="Content Placeholder 7"/>
          <p:cNvGraphicFramePr>
            <a:graphicFrameLocks noGrp="1"/>
          </p:cNvGraphicFramePr>
          <p:nvPr>
            <p:ph sz="quarter" idx="1"/>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Metadata in Curriculum</a:t>
            </a:r>
            <a:endParaRPr lang="en-US" dirty="0"/>
          </a:p>
        </p:txBody>
      </p:sp>
      <p:sp>
        <p:nvSpPr>
          <p:cNvPr id="3" name="Content Placeholder 2"/>
          <p:cNvSpPr>
            <a:spLocks noGrp="1"/>
          </p:cNvSpPr>
          <p:nvPr>
            <p:ph sz="quarter" idx="1"/>
          </p:nvPr>
        </p:nvSpPr>
        <p:spPr/>
        <p:txBody>
          <a:bodyPr>
            <a:normAutofit fontScale="92500"/>
          </a:bodyPr>
          <a:lstStyle/>
          <a:p>
            <a:r>
              <a:rPr lang="en-US" dirty="0" smtClean="0"/>
              <a:t>34% of respondents indicate issues regarding general metadata concepts have an important or very important role in GIS&amp;T curriculum within their organizations (n=101).</a:t>
            </a:r>
          </a:p>
          <a:p>
            <a:pPr lvl="1"/>
            <a:r>
              <a:rPr lang="en-US" dirty="0" smtClean="0"/>
              <a:t>Respondent Average: 2.50</a:t>
            </a:r>
          </a:p>
          <a:p>
            <a:r>
              <a:rPr lang="en-US" dirty="0" smtClean="0"/>
              <a:t>76% of respondents indicate that metadata </a:t>
            </a:r>
            <a:r>
              <a:rPr lang="en-US" b="1" dirty="0" smtClean="0"/>
              <a:t>should </a:t>
            </a:r>
            <a:r>
              <a:rPr lang="en-US" dirty="0" smtClean="0"/>
              <a:t>have an important or very important role in general GIS&amp;T curriculum.</a:t>
            </a:r>
          </a:p>
          <a:p>
            <a:pPr lvl="1"/>
            <a:r>
              <a:rPr lang="en-US" dirty="0" smtClean="0"/>
              <a:t>Respondent Average: </a:t>
            </a:r>
            <a:r>
              <a:rPr lang="en-US" dirty="0" smtClean="0"/>
              <a:t>5.02</a:t>
            </a:r>
          </a:p>
          <a:p>
            <a:r>
              <a:rPr lang="en-US" dirty="0" smtClean="0"/>
              <a:t>These are statistically significantly different.</a:t>
            </a:r>
          </a:p>
          <a:p>
            <a:pPr lvl="1"/>
            <a:r>
              <a:rPr lang="en-US" dirty="0" smtClean="0"/>
              <a:t>Interpretation: suggests a discrepancy between practice and theory.</a:t>
            </a:r>
            <a:endParaRPr lang="en-US" dirty="0" smtClean="0"/>
          </a:p>
        </p:txBody>
      </p:sp>
      <p:sp>
        <p:nvSpPr>
          <p:cNvPr id="4" name="TextBox 3"/>
          <p:cNvSpPr txBox="1"/>
          <p:nvPr/>
        </p:nvSpPr>
        <p:spPr>
          <a:xfrm>
            <a:off x="167774" y="6428601"/>
            <a:ext cx="5928226" cy="276999"/>
          </a:xfrm>
          <a:prstGeom prst="rect">
            <a:avLst/>
          </a:prstGeom>
          <a:noFill/>
        </p:spPr>
        <p:txBody>
          <a:bodyPr wrap="none" rtlCol="0">
            <a:spAutoFit/>
          </a:bodyPr>
          <a:lstStyle/>
          <a:p>
            <a:r>
              <a:rPr lang="en-US" sz="1200" dirty="0" smtClean="0"/>
              <a:t>(Scoring: Very Important 2, Important or Somewhat Important, 1, Not Important, 0)</a:t>
            </a:r>
            <a:endParaRPr lang="en-US" sz="1200" dirty="0"/>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Importance of SDI in Organizational Curriculum</a:t>
            </a:r>
            <a:endParaRPr lang="en-US" dirty="0"/>
          </a:p>
        </p:txBody>
      </p:sp>
      <p:graphicFrame>
        <p:nvGraphicFramePr>
          <p:cNvPr id="5" name="Content Placeholder 4"/>
          <p:cNvGraphicFramePr>
            <a:graphicFrameLocks noGrp="1"/>
          </p:cNvGraphicFramePr>
          <p:nvPr>
            <p:ph sz="quarter" idx="1"/>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146020" y="5943600"/>
            <a:ext cx="6864380" cy="523220"/>
          </a:xfrm>
          <a:prstGeom prst="rect">
            <a:avLst/>
          </a:prstGeom>
          <a:noFill/>
        </p:spPr>
        <p:txBody>
          <a:bodyPr wrap="none" rtlCol="0">
            <a:spAutoFit/>
          </a:bodyPr>
          <a:lstStyle/>
          <a:p>
            <a:r>
              <a:rPr lang="en-US" sz="1400" dirty="0" smtClean="0"/>
              <a:t>n=91,</a:t>
            </a:r>
          </a:p>
          <a:p>
            <a:r>
              <a:rPr lang="en-US" sz="1400" dirty="0" smtClean="0"/>
              <a:t>Reported % is the number of respondents who selected important or very important.</a:t>
            </a:r>
            <a:endParaRPr lang="en-US" sz="1400" dirty="0"/>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General Importance of SDI in Curriculum</a:t>
            </a:r>
            <a:endParaRPr lang="en-US" dirty="0"/>
          </a:p>
        </p:txBody>
      </p:sp>
      <p:graphicFrame>
        <p:nvGraphicFramePr>
          <p:cNvPr id="5" name="Content Placeholder 4"/>
          <p:cNvGraphicFramePr>
            <a:graphicFrameLocks noGrp="1"/>
          </p:cNvGraphicFramePr>
          <p:nvPr>
            <p:ph sz="quarter" idx="1"/>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152400" y="5943600"/>
            <a:ext cx="6864380" cy="523220"/>
          </a:xfrm>
          <a:prstGeom prst="rect">
            <a:avLst/>
          </a:prstGeom>
          <a:noFill/>
        </p:spPr>
        <p:txBody>
          <a:bodyPr wrap="none" rtlCol="0">
            <a:spAutoFit/>
          </a:bodyPr>
          <a:lstStyle/>
          <a:p>
            <a:r>
              <a:rPr lang="en-US" sz="1400" dirty="0" smtClean="0"/>
              <a:t>n=89, 91, 90</a:t>
            </a:r>
          </a:p>
          <a:p>
            <a:r>
              <a:rPr lang="en-US" sz="1400" dirty="0" smtClean="0"/>
              <a:t>Reported % is the number of respondents who selected important or very important.</a:t>
            </a:r>
            <a:endParaRPr lang="en-US" sz="1400" dirty="0"/>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Metadata versus SDI</a:t>
            </a:r>
            <a:endParaRPr lang="en-US" dirty="0"/>
          </a:p>
        </p:txBody>
      </p:sp>
      <p:sp>
        <p:nvSpPr>
          <p:cNvPr id="3" name="Content Placeholder 2"/>
          <p:cNvSpPr>
            <a:spLocks noGrp="1"/>
          </p:cNvSpPr>
          <p:nvPr>
            <p:ph sz="quarter" idx="1"/>
          </p:nvPr>
        </p:nvSpPr>
        <p:spPr/>
        <p:txBody>
          <a:bodyPr>
            <a:normAutofit/>
          </a:bodyPr>
          <a:lstStyle/>
          <a:p>
            <a:r>
              <a:rPr lang="en-US" dirty="0" smtClean="0"/>
              <a:t>The general importance of metadata relative to </a:t>
            </a:r>
            <a:r>
              <a:rPr lang="en-US" dirty="0" smtClean="0"/>
              <a:t>other SDI </a:t>
            </a:r>
            <a:r>
              <a:rPr lang="en-US" dirty="0" smtClean="0"/>
              <a:t>concepts is significantly different.</a:t>
            </a:r>
          </a:p>
          <a:p>
            <a:pPr lvl="1"/>
            <a:r>
              <a:rPr lang="en-US" dirty="0" smtClean="0"/>
              <a:t>Interpretation: on a general level metadata are viewed as more important than SDI, NSDI and GSDI.</a:t>
            </a:r>
          </a:p>
          <a:p>
            <a:r>
              <a:rPr lang="en-US" dirty="0" smtClean="0"/>
              <a:t>The organizational/curricular importance of metadata is </a:t>
            </a:r>
            <a:r>
              <a:rPr lang="en-US" i="1" dirty="0" smtClean="0"/>
              <a:t>not</a:t>
            </a:r>
            <a:r>
              <a:rPr lang="en-US" dirty="0" smtClean="0"/>
              <a:t> significantly different than general SDI concepts but is significantly different than NSDI or GSDI.</a:t>
            </a:r>
          </a:p>
          <a:p>
            <a:pPr lvl="1"/>
            <a:r>
              <a:rPr lang="en-US" dirty="0" smtClean="0"/>
              <a:t>Interpretation: spatial data infrastructure receives curricular attention on par with metadata in spite of the </a:t>
            </a:r>
            <a:r>
              <a:rPr lang="en-US" dirty="0" smtClean="0"/>
              <a:t>differences in perceived </a:t>
            </a:r>
            <a:r>
              <a:rPr lang="en-US" dirty="0" smtClean="0"/>
              <a:t>relative importance.</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Familiarity with Framework Concepts</a:t>
            </a:r>
            <a:endParaRPr lang="en-US" dirty="0"/>
          </a:p>
        </p:txBody>
      </p:sp>
      <p:sp>
        <p:nvSpPr>
          <p:cNvPr id="3" name="Content Placeholder 2"/>
          <p:cNvSpPr>
            <a:spLocks noGrp="1"/>
          </p:cNvSpPr>
          <p:nvPr>
            <p:ph sz="quarter" idx="1"/>
          </p:nvPr>
        </p:nvSpPr>
        <p:spPr/>
        <p:txBody>
          <a:bodyPr/>
          <a:lstStyle/>
          <a:p>
            <a:r>
              <a:rPr lang="en-US" dirty="0" smtClean="0"/>
              <a:t>58% of respondents report 5 or more years of awareness of SDI concepts (n=88).</a:t>
            </a:r>
          </a:p>
          <a:p>
            <a:endParaRPr lang="en-US" dirty="0" smtClean="0"/>
          </a:p>
          <a:p>
            <a:r>
              <a:rPr lang="en-US" dirty="0" smtClean="0"/>
              <a:t>45% of respondents report 5 or more years of using SDI concepts in day-to-day activities (n=86).</a:t>
            </a:r>
          </a:p>
          <a:p>
            <a:endParaRPr lang="en-US" dirty="0" smtClean="0"/>
          </a:p>
          <a:p>
            <a:r>
              <a:rPr lang="en-US" sz="2800" b="1" dirty="0" smtClean="0"/>
              <a:t>76% of respondents indicate somewhat or greater familiarity with Framework (n=91).</a:t>
            </a:r>
            <a:endParaRPr lang="en-US" sz="2800" b="1" dirty="0"/>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 Theme Familiarity</a:t>
            </a:r>
            <a:endParaRPr lang="en-US" dirty="0"/>
          </a:p>
        </p:txBody>
      </p:sp>
      <p:graphicFrame>
        <p:nvGraphicFramePr>
          <p:cNvPr id="4" name="Content Placeholder 3"/>
          <p:cNvGraphicFramePr>
            <a:graphicFrameLocks noGrp="1"/>
          </p:cNvGraphicFramePr>
          <p:nvPr>
            <p:ph sz="quarter" idx="1"/>
          </p:nvPr>
        </p:nvGraphicFramePr>
        <p:xfrm>
          <a:off x="70338" y="1436077"/>
          <a:ext cx="8991600" cy="5178425"/>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on Framework</a:t>
            </a:r>
            <a:endParaRPr lang="en-US" dirty="0"/>
          </a:p>
        </p:txBody>
      </p:sp>
      <p:sp>
        <p:nvSpPr>
          <p:cNvPr id="3" name="Content Placeholder 2"/>
          <p:cNvSpPr>
            <a:spLocks noGrp="1"/>
          </p:cNvSpPr>
          <p:nvPr>
            <p:ph sz="quarter" idx="1"/>
          </p:nvPr>
        </p:nvSpPr>
        <p:spPr/>
        <p:txBody>
          <a:bodyPr/>
          <a:lstStyle/>
          <a:p>
            <a:r>
              <a:rPr lang="en-US" dirty="0" smtClean="0"/>
              <a:t>Respondents are </a:t>
            </a:r>
            <a:r>
              <a:rPr lang="en-US" dirty="0" smtClean="0"/>
              <a:t>statistically consistent </a:t>
            </a:r>
            <a:r>
              <a:rPr lang="en-US" dirty="0" smtClean="0"/>
              <a:t>with regard to expressing general familiarity with Framework and corresponding familiarity with Framework Base Standard and Framework Themes.</a:t>
            </a:r>
          </a:p>
          <a:p>
            <a:r>
              <a:rPr lang="en-US" dirty="0" smtClean="0"/>
              <a:t>Respondents who expressed greater importance with regard to SDI concepts were more likely to indicate familiarity with Framework concepts than were respondents who indicated lower SDI importance</a:t>
            </a:r>
            <a:r>
              <a:rPr lang="en-US" dirty="0" smtClean="0"/>
              <a:t>.</a:t>
            </a:r>
          </a:p>
          <a:p>
            <a:pPr lvl="1"/>
            <a:r>
              <a:rPr lang="en-US" dirty="0" smtClean="0"/>
              <a:t>Interpretation: more sophisticated users are more likely to have knowledge of Framework concepts.</a:t>
            </a:r>
            <a:endParaRPr lang="en-US" dirty="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Demographics of Framework Familiarity</a:t>
            </a:r>
            <a:endParaRPr lang="en-US" dirty="0"/>
          </a:p>
        </p:txBody>
      </p:sp>
      <p:graphicFrame>
        <p:nvGraphicFramePr>
          <p:cNvPr id="4" name="Table 3"/>
          <p:cNvGraphicFramePr>
            <a:graphicFrameLocks noGrp="1"/>
          </p:cNvGraphicFramePr>
          <p:nvPr/>
        </p:nvGraphicFramePr>
        <p:xfrm>
          <a:off x="1828800" y="3352800"/>
          <a:ext cx="5473700" cy="2925045"/>
        </p:xfrm>
        <a:graphic>
          <a:graphicData uri="http://schemas.openxmlformats.org/drawingml/2006/table">
            <a:tbl>
              <a:tblPr/>
              <a:tblGrid>
                <a:gridCol w="2855843"/>
                <a:gridCol w="1631911"/>
                <a:gridCol w="985946"/>
              </a:tblGrid>
              <a:tr h="261072">
                <a:tc>
                  <a:txBody>
                    <a:bodyPr/>
                    <a:lstStyle/>
                    <a:p>
                      <a:pPr algn="l" fontAlgn="b"/>
                      <a:r>
                        <a:rPr lang="en-US" sz="1000" b="0" i="0" u="none" strike="noStrike" dirty="0">
                          <a:solidFill>
                            <a:srgbClr val="FFFFFF"/>
                          </a:solidFill>
                          <a:latin typeface="Arial"/>
                        </a:rPr>
                        <a:t>Position</a:t>
                      </a:r>
                    </a:p>
                  </a:txBody>
                  <a:tcPr marL="9525" marR="9525" marT="9525" marB="0" anchor="b">
                    <a:lnL>
                      <a:noFill/>
                    </a:lnL>
                    <a:lnR>
                      <a:noFill/>
                    </a:lnR>
                    <a:lnT>
                      <a:noFill/>
                    </a:lnT>
                    <a:lnB>
                      <a:noFill/>
                    </a:lnB>
                    <a:solidFill>
                      <a:srgbClr val="C0504D"/>
                    </a:solidFill>
                  </a:tcPr>
                </a:tc>
                <a:tc>
                  <a:txBody>
                    <a:bodyPr/>
                    <a:lstStyle/>
                    <a:p>
                      <a:pPr algn="ctr" fontAlgn="b"/>
                      <a:r>
                        <a:rPr lang="en-US" sz="1000" b="0" i="0" u="none" strike="noStrike" dirty="0" smtClean="0">
                          <a:solidFill>
                            <a:srgbClr val="FFFFFF"/>
                          </a:solidFill>
                          <a:latin typeface="Arial"/>
                        </a:rPr>
                        <a:t>Framework Familiarity </a:t>
                      </a:r>
                      <a:r>
                        <a:rPr lang="en-US" sz="1000" b="0" i="0" u="none" strike="noStrike" dirty="0">
                          <a:solidFill>
                            <a:srgbClr val="FFFFFF"/>
                          </a:solidFill>
                          <a:latin typeface="Arial"/>
                        </a:rPr>
                        <a:t>Score</a:t>
                      </a:r>
                    </a:p>
                  </a:txBody>
                  <a:tcPr marL="9525" marR="9525" marT="9525" marB="0" anchor="b">
                    <a:lnL>
                      <a:noFill/>
                    </a:lnL>
                    <a:lnR>
                      <a:noFill/>
                    </a:lnR>
                    <a:lnT>
                      <a:noFill/>
                    </a:lnT>
                    <a:lnB>
                      <a:noFill/>
                    </a:lnB>
                    <a:solidFill>
                      <a:srgbClr val="C0504D"/>
                    </a:solidFill>
                  </a:tcPr>
                </a:tc>
                <a:tc>
                  <a:txBody>
                    <a:bodyPr/>
                    <a:lstStyle/>
                    <a:p>
                      <a:pPr algn="ctr" fontAlgn="b"/>
                      <a:r>
                        <a:rPr lang="en-US" sz="1000" b="0" i="0" u="none" strike="noStrike">
                          <a:solidFill>
                            <a:srgbClr val="FFFFFF"/>
                          </a:solidFill>
                          <a:latin typeface="Arial"/>
                        </a:rPr>
                        <a:t>Number</a:t>
                      </a:r>
                    </a:p>
                  </a:txBody>
                  <a:tcPr marL="9525" marR="9525" marT="9525" marB="0" anchor="b">
                    <a:lnL>
                      <a:noFill/>
                    </a:lnL>
                    <a:lnR>
                      <a:noFill/>
                    </a:lnR>
                    <a:lnT>
                      <a:noFill/>
                    </a:lnT>
                    <a:lnB>
                      <a:noFill/>
                    </a:lnB>
                    <a:solidFill>
                      <a:srgbClr val="C0504D"/>
                    </a:solidFill>
                  </a:tcPr>
                </a:tc>
              </a:tr>
              <a:tr h="261072">
                <a:tc>
                  <a:txBody>
                    <a:bodyPr/>
                    <a:lstStyle/>
                    <a:p>
                      <a:pPr algn="l" fontAlgn="t"/>
                      <a:r>
                        <a:rPr lang="en-US" sz="900" b="0" i="0" u="none" strike="noStrike" dirty="0">
                          <a:latin typeface="Arial"/>
                        </a:rPr>
                        <a:t>Lecturer</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dirty="0">
                          <a:latin typeface="Arial"/>
                        </a:rPr>
                        <a:t>2.00</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2</a:t>
                      </a:r>
                    </a:p>
                  </a:txBody>
                  <a:tcPr marL="9525" marR="9525" marT="9525" marB="0" anchor="ctr">
                    <a:lnL>
                      <a:noFill/>
                    </a:lnL>
                    <a:lnR>
                      <a:noFill/>
                    </a:lnR>
                    <a:lnT>
                      <a:noFill/>
                    </a:lnT>
                    <a:lnB>
                      <a:noFill/>
                    </a:lnB>
                    <a:solidFill>
                      <a:srgbClr val="B8CCE4"/>
                    </a:solidFill>
                  </a:tcPr>
                </a:tc>
              </a:tr>
              <a:tr h="261072">
                <a:tc>
                  <a:txBody>
                    <a:bodyPr/>
                    <a:lstStyle/>
                    <a:p>
                      <a:pPr algn="l" fontAlgn="t"/>
                      <a:r>
                        <a:rPr lang="en-US" sz="900" b="0" i="0" u="none" strike="noStrike" dirty="0" smtClean="0">
                          <a:latin typeface="Arial"/>
                        </a:rPr>
                        <a:t>College</a:t>
                      </a:r>
                      <a:r>
                        <a:rPr lang="en-US" sz="900" b="0" i="0" u="none" strike="noStrike" baseline="0" dirty="0" smtClean="0">
                          <a:latin typeface="Arial"/>
                        </a:rPr>
                        <a:t> </a:t>
                      </a:r>
                      <a:r>
                        <a:rPr lang="en-US" sz="900" b="0" i="0" u="none" strike="noStrike" dirty="0" smtClean="0">
                          <a:latin typeface="Arial"/>
                        </a:rPr>
                        <a:t>Teacher/Instructor (non-research)</a:t>
                      </a:r>
                      <a:endParaRPr lang="en-US" sz="900" b="0" i="0" u="none" strike="noStrike" dirty="0">
                        <a:latin typeface="Arial"/>
                      </a:endParaRP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dirty="0">
                          <a:latin typeface="Arial"/>
                        </a:rPr>
                        <a:t>1.50</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a:latin typeface="Arial"/>
                        </a:rPr>
                        <a:t>6</a:t>
                      </a:r>
                    </a:p>
                  </a:txBody>
                  <a:tcPr marL="9525" marR="9525" marT="9525" marB="0" anchor="ctr">
                    <a:lnL>
                      <a:noFill/>
                    </a:lnL>
                    <a:lnR>
                      <a:noFill/>
                    </a:lnR>
                    <a:lnT>
                      <a:noFill/>
                    </a:lnT>
                    <a:lnB>
                      <a:noFill/>
                    </a:lnB>
                    <a:solidFill>
                      <a:srgbClr val="DBE5F1"/>
                    </a:solidFill>
                  </a:tcPr>
                </a:tc>
              </a:tr>
              <a:tr h="261072">
                <a:tc>
                  <a:txBody>
                    <a:bodyPr/>
                    <a:lstStyle/>
                    <a:p>
                      <a:pPr algn="l" fontAlgn="t"/>
                      <a:r>
                        <a:rPr lang="en-US" sz="900" b="0" i="0" u="none" strike="noStrike" dirty="0">
                          <a:latin typeface="Arial"/>
                        </a:rPr>
                        <a:t>Research Scientist</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1.25</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12</a:t>
                      </a:r>
                    </a:p>
                  </a:txBody>
                  <a:tcPr marL="9525" marR="9525" marT="9525" marB="0" anchor="ctr">
                    <a:lnL>
                      <a:noFill/>
                    </a:lnL>
                    <a:lnR>
                      <a:noFill/>
                    </a:lnR>
                    <a:lnT>
                      <a:noFill/>
                    </a:lnT>
                    <a:lnB>
                      <a:noFill/>
                    </a:lnB>
                    <a:solidFill>
                      <a:srgbClr val="B8CCE4"/>
                    </a:solidFill>
                  </a:tcPr>
                </a:tc>
              </a:tr>
              <a:tr h="261072">
                <a:tc>
                  <a:txBody>
                    <a:bodyPr/>
                    <a:lstStyle/>
                    <a:p>
                      <a:pPr algn="l" fontAlgn="t"/>
                      <a:r>
                        <a:rPr lang="en-US" sz="900" b="0" i="0" u="none" strike="noStrike" dirty="0" smtClean="0">
                          <a:latin typeface="Arial"/>
                        </a:rPr>
                        <a:t>Professional/Technical </a:t>
                      </a:r>
                      <a:r>
                        <a:rPr lang="en-US" sz="900" b="0" i="0" u="none" strike="noStrike" dirty="0">
                          <a:latin typeface="Arial"/>
                        </a:rPr>
                        <a:t>Instructor</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dirty="0">
                          <a:latin typeface="Arial"/>
                        </a:rPr>
                        <a:t>1.22</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a:latin typeface="Arial"/>
                        </a:rPr>
                        <a:t>9</a:t>
                      </a:r>
                    </a:p>
                  </a:txBody>
                  <a:tcPr marL="9525" marR="9525" marT="9525" marB="0" anchor="ctr">
                    <a:lnL>
                      <a:noFill/>
                    </a:lnL>
                    <a:lnR>
                      <a:noFill/>
                    </a:lnR>
                    <a:lnT>
                      <a:noFill/>
                    </a:lnT>
                    <a:lnB>
                      <a:noFill/>
                    </a:lnB>
                    <a:solidFill>
                      <a:srgbClr val="DBE5F1"/>
                    </a:solidFill>
                  </a:tcPr>
                </a:tc>
              </a:tr>
              <a:tr h="261072">
                <a:tc>
                  <a:txBody>
                    <a:bodyPr/>
                    <a:lstStyle/>
                    <a:p>
                      <a:pPr algn="l" fontAlgn="t"/>
                      <a:r>
                        <a:rPr lang="en-US" sz="900" b="0" i="0" u="none" strike="noStrike" dirty="0">
                          <a:latin typeface="Arial"/>
                        </a:rPr>
                        <a:t>Tenure Track</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1.17</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6</a:t>
                      </a:r>
                    </a:p>
                  </a:txBody>
                  <a:tcPr marL="9525" marR="9525" marT="9525" marB="0" anchor="ctr">
                    <a:lnL>
                      <a:noFill/>
                    </a:lnL>
                    <a:lnR>
                      <a:noFill/>
                    </a:lnR>
                    <a:lnT>
                      <a:noFill/>
                    </a:lnT>
                    <a:lnB>
                      <a:noFill/>
                    </a:lnB>
                    <a:solidFill>
                      <a:srgbClr val="B8CCE4"/>
                    </a:solidFill>
                  </a:tcPr>
                </a:tc>
              </a:tr>
              <a:tr h="261072">
                <a:tc>
                  <a:txBody>
                    <a:bodyPr/>
                    <a:lstStyle/>
                    <a:p>
                      <a:pPr algn="l" fontAlgn="t"/>
                      <a:r>
                        <a:rPr lang="en-US" sz="900" b="0" i="0" u="none" strike="noStrike" dirty="0">
                          <a:latin typeface="Arial"/>
                        </a:rPr>
                        <a:t>Graduate Student</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dirty="0">
                          <a:latin typeface="Arial"/>
                        </a:rPr>
                        <a:t>1.13</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dirty="0">
                          <a:latin typeface="Arial"/>
                        </a:rPr>
                        <a:t>15</a:t>
                      </a:r>
                    </a:p>
                  </a:txBody>
                  <a:tcPr marL="9525" marR="9525" marT="9525" marB="0" anchor="ctr">
                    <a:lnL>
                      <a:noFill/>
                    </a:lnL>
                    <a:lnR>
                      <a:noFill/>
                    </a:lnR>
                    <a:lnT>
                      <a:noFill/>
                    </a:lnT>
                    <a:lnB>
                      <a:noFill/>
                    </a:lnB>
                    <a:solidFill>
                      <a:srgbClr val="DBE5F1"/>
                    </a:solidFill>
                  </a:tcPr>
                </a:tc>
              </a:tr>
              <a:tr h="261072">
                <a:tc>
                  <a:txBody>
                    <a:bodyPr/>
                    <a:lstStyle/>
                    <a:p>
                      <a:pPr algn="l" fontAlgn="t"/>
                      <a:r>
                        <a:rPr lang="en-US" sz="900" b="0" i="0" u="none" strike="noStrike" dirty="0">
                          <a:latin typeface="Arial"/>
                        </a:rPr>
                        <a:t>Tenured Professor</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dirty="0">
                          <a:latin typeface="Arial"/>
                        </a:rPr>
                        <a:t>0.95</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22</a:t>
                      </a:r>
                    </a:p>
                  </a:txBody>
                  <a:tcPr marL="9525" marR="9525" marT="9525" marB="0" anchor="ctr">
                    <a:lnL>
                      <a:noFill/>
                    </a:lnL>
                    <a:lnR>
                      <a:noFill/>
                    </a:lnR>
                    <a:lnT>
                      <a:noFill/>
                    </a:lnT>
                    <a:lnB>
                      <a:noFill/>
                    </a:lnB>
                    <a:solidFill>
                      <a:srgbClr val="B8CCE4"/>
                    </a:solidFill>
                  </a:tcPr>
                </a:tc>
              </a:tr>
              <a:tr h="261072">
                <a:tc>
                  <a:txBody>
                    <a:bodyPr/>
                    <a:lstStyle/>
                    <a:p>
                      <a:pPr algn="l" fontAlgn="t"/>
                      <a:r>
                        <a:rPr lang="en-US" sz="900" b="0" i="0" u="none" strike="noStrike">
                          <a:latin typeface="Arial"/>
                        </a:rPr>
                        <a:t>Non Academic Professional</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dirty="0">
                          <a:latin typeface="Arial"/>
                        </a:rPr>
                        <a:t>0.93</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a:latin typeface="Arial"/>
                        </a:rPr>
                        <a:t>14</a:t>
                      </a:r>
                    </a:p>
                  </a:txBody>
                  <a:tcPr marL="9525" marR="9525" marT="9525" marB="0" anchor="ctr">
                    <a:lnL>
                      <a:noFill/>
                    </a:lnL>
                    <a:lnR>
                      <a:noFill/>
                    </a:lnR>
                    <a:lnT>
                      <a:noFill/>
                    </a:lnT>
                    <a:lnB>
                      <a:noFill/>
                    </a:lnB>
                    <a:solidFill>
                      <a:srgbClr val="DBE5F1"/>
                    </a:solidFill>
                  </a:tcPr>
                </a:tc>
              </a:tr>
              <a:tr h="261072">
                <a:tc>
                  <a:txBody>
                    <a:bodyPr/>
                    <a:lstStyle/>
                    <a:p>
                      <a:pPr algn="l" fontAlgn="t"/>
                      <a:r>
                        <a:rPr lang="en-US" sz="900" b="0" i="0" u="none" strike="noStrike" dirty="0">
                          <a:latin typeface="Arial"/>
                        </a:rPr>
                        <a:t>Unknown</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a:latin typeface="Arial"/>
                        </a:rPr>
                        <a:t>0.60</a:t>
                      </a:r>
                    </a:p>
                  </a:txBody>
                  <a:tcPr marL="9525" marR="9525" marT="9525" marB="0" anchor="ctr">
                    <a:lnL>
                      <a:noFill/>
                    </a:lnL>
                    <a:lnR>
                      <a:noFill/>
                    </a:lnR>
                    <a:lnT>
                      <a:noFill/>
                    </a:lnT>
                    <a:lnB>
                      <a:noFill/>
                    </a:lnB>
                    <a:solidFill>
                      <a:srgbClr val="B8CCE4"/>
                    </a:solidFill>
                  </a:tcPr>
                </a:tc>
                <a:tc>
                  <a:txBody>
                    <a:bodyPr/>
                    <a:lstStyle/>
                    <a:p>
                      <a:pPr algn="ctr" fontAlgn="b"/>
                      <a:r>
                        <a:rPr lang="en-US" sz="1000" b="0" i="0" u="none" strike="noStrike" dirty="0">
                          <a:latin typeface="Arial"/>
                        </a:rPr>
                        <a:t>10</a:t>
                      </a:r>
                    </a:p>
                  </a:txBody>
                  <a:tcPr marL="9525" marR="9525" marT="9525" marB="0" anchor="ctr">
                    <a:lnL>
                      <a:noFill/>
                    </a:lnL>
                    <a:lnR>
                      <a:noFill/>
                    </a:lnR>
                    <a:lnT>
                      <a:noFill/>
                    </a:lnT>
                    <a:lnB>
                      <a:noFill/>
                    </a:lnB>
                    <a:solidFill>
                      <a:srgbClr val="B8CCE4"/>
                    </a:solidFill>
                  </a:tcPr>
                </a:tc>
              </a:tr>
              <a:tr h="261072">
                <a:tc>
                  <a:txBody>
                    <a:bodyPr/>
                    <a:lstStyle/>
                    <a:p>
                      <a:pPr algn="l" fontAlgn="t"/>
                      <a:r>
                        <a:rPr lang="en-US" sz="900" b="0" i="0" u="none" strike="noStrike" dirty="0">
                          <a:latin typeface="Arial"/>
                        </a:rPr>
                        <a:t>Librarian</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a:latin typeface="Arial"/>
                        </a:rPr>
                        <a:t>0.60</a:t>
                      </a:r>
                    </a:p>
                  </a:txBody>
                  <a:tcPr marL="9525" marR="9525" marT="9525" marB="0" anchor="ctr">
                    <a:lnL>
                      <a:noFill/>
                    </a:lnL>
                    <a:lnR>
                      <a:noFill/>
                    </a:lnR>
                    <a:lnT>
                      <a:noFill/>
                    </a:lnT>
                    <a:lnB>
                      <a:noFill/>
                    </a:lnB>
                    <a:solidFill>
                      <a:srgbClr val="DBE5F1"/>
                    </a:solidFill>
                  </a:tcPr>
                </a:tc>
                <a:tc>
                  <a:txBody>
                    <a:bodyPr/>
                    <a:lstStyle/>
                    <a:p>
                      <a:pPr algn="ctr" fontAlgn="b"/>
                      <a:r>
                        <a:rPr lang="en-US" sz="1000" b="0" i="0" u="none" strike="noStrike" dirty="0">
                          <a:latin typeface="Arial"/>
                        </a:rPr>
                        <a:t>5</a:t>
                      </a:r>
                    </a:p>
                  </a:txBody>
                  <a:tcPr marL="9525" marR="9525" marT="9525" marB="0" anchor="ctr">
                    <a:lnL>
                      <a:noFill/>
                    </a:lnL>
                    <a:lnR>
                      <a:noFill/>
                    </a:lnR>
                    <a:lnT>
                      <a:noFill/>
                    </a:lnT>
                    <a:lnB>
                      <a:noFill/>
                    </a:lnB>
                    <a:solidFill>
                      <a:srgbClr val="DBE5F1"/>
                    </a:solidFill>
                  </a:tcPr>
                </a:tc>
              </a:tr>
            </a:tbl>
          </a:graphicData>
        </a:graphic>
      </p:graphicFrame>
      <p:sp>
        <p:nvSpPr>
          <p:cNvPr id="5" name="TextBox 4"/>
          <p:cNvSpPr txBox="1"/>
          <p:nvPr/>
        </p:nvSpPr>
        <p:spPr>
          <a:xfrm>
            <a:off x="882590" y="1570672"/>
            <a:ext cx="7380547" cy="1477328"/>
          </a:xfrm>
          <a:prstGeom prst="rect">
            <a:avLst/>
          </a:prstGeom>
          <a:noFill/>
        </p:spPr>
        <p:txBody>
          <a:bodyPr wrap="square" rtlCol="0">
            <a:spAutoFit/>
          </a:bodyPr>
          <a:lstStyle/>
          <a:p>
            <a:r>
              <a:rPr lang="en-US" dirty="0" smtClean="0"/>
              <a:t>One of our original hypotheses is that respondents from government and business (Non Academic Professionals) would have greater familiarity with Framework that members of the academic community. Though additional analysis is required, the above results suggest that the opposite is true.</a:t>
            </a:r>
            <a:endParaRPr lang="en-US" dirty="0"/>
          </a:p>
        </p:txBody>
      </p:sp>
      <p:sp>
        <p:nvSpPr>
          <p:cNvPr id="6" name="TextBox 5"/>
          <p:cNvSpPr txBox="1"/>
          <p:nvPr/>
        </p:nvSpPr>
        <p:spPr>
          <a:xfrm>
            <a:off x="1676400" y="6374166"/>
            <a:ext cx="5867400" cy="369332"/>
          </a:xfrm>
          <a:prstGeom prst="rect">
            <a:avLst/>
          </a:prstGeom>
          <a:noFill/>
        </p:spPr>
        <p:txBody>
          <a:bodyPr wrap="square" rtlCol="0">
            <a:spAutoFit/>
          </a:bodyPr>
          <a:lstStyle/>
          <a:p>
            <a:r>
              <a:rPr lang="en-US" sz="900" dirty="0" smtClean="0"/>
              <a:t>(The Framework Familiarity Score is the average familiarity level across  Framework Base and Themes. A score of 2 indicates very familiar or familiar, a score of 1 indicates somewhat familiar and 0 indicates unfamiliar.)</a:t>
            </a:r>
            <a:endParaRPr lang="en-US" sz="900"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Standards</a:t>
            </a:r>
            <a:endParaRPr lang="en-US" dirty="0"/>
          </a:p>
        </p:txBody>
      </p:sp>
      <p:sp>
        <p:nvSpPr>
          <p:cNvPr id="3" name="Content Placeholder 2"/>
          <p:cNvSpPr>
            <a:spLocks noGrp="1"/>
          </p:cNvSpPr>
          <p:nvPr>
            <p:ph sz="quarter" idx="1"/>
          </p:nvPr>
        </p:nvSpPr>
        <p:spPr/>
        <p:txBody>
          <a:bodyPr/>
          <a:lstStyle/>
          <a:p>
            <a:r>
              <a:rPr lang="en-US" sz="2400" dirty="0" smtClean="0"/>
              <a:t>38% of respondents indicate they regularly or often derive benefits from standards for teaching (n=86).</a:t>
            </a:r>
          </a:p>
          <a:p>
            <a:r>
              <a:rPr lang="en-US" sz="2400" dirty="0" smtClean="0"/>
              <a:t>62% of respondents indicate they regularly or often derive benefits from standards for research (n=86).</a:t>
            </a:r>
          </a:p>
          <a:p>
            <a:r>
              <a:rPr lang="en-US" sz="2400" dirty="0" smtClean="0"/>
              <a:t>77% of respondents indicate they would be somewhat willing or very willing to participate in geospatial standards development (n=87).</a:t>
            </a:r>
          </a:p>
          <a:p>
            <a:r>
              <a:rPr lang="en-US" sz="2800" dirty="0" smtClean="0"/>
              <a:t>Over 90% of respondents indicate standards are very important for data development, data transfer and interoperability (n=88).</a:t>
            </a:r>
            <a:endParaRPr lang="en-US" sz="2800" dirty="0"/>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Perceptions Regarding Who Benefits</a:t>
            </a:r>
            <a:endParaRPr lang="en-US" dirty="0"/>
          </a:p>
        </p:txBody>
      </p:sp>
      <p:graphicFrame>
        <p:nvGraphicFramePr>
          <p:cNvPr id="4" name="Content Placeholder 3"/>
          <p:cNvGraphicFramePr>
            <a:graphicFrameLocks noGrp="1"/>
          </p:cNvGraphicFramePr>
          <p:nvPr>
            <p:ph sz="quarter" idx="1"/>
          </p:nvPr>
        </p:nvGraphicFramePr>
        <p:xfrm>
          <a:off x="301625" y="1527175"/>
          <a:ext cx="8504238" cy="457200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Conclusions</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The survey was a success!</a:t>
            </a:r>
          </a:p>
          <a:p>
            <a:pPr lvl="1"/>
            <a:r>
              <a:rPr lang="en-US" dirty="0" smtClean="0"/>
              <a:t>A higher response rate would have been nice, but </a:t>
            </a:r>
            <a:r>
              <a:rPr lang="en-US" dirty="0" smtClean="0"/>
              <a:t>we can still draw some interesting conclusions.</a:t>
            </a:r>
            <a:endParaRPr lang="en-US" dirty="0" smtClean="0"/>
          </a:p>
          <a:p>
            <a:r>
              <a:rPr lang="en-US" dirty="0" smtClean="0"/>
              <a:t>Cross tabulation and correlation analysis yield some very interesting insights.</a:t>
            </a:r>
          </a:p>
          <a:p>
            <a:pPr lvl="1"/>
            <a:r>
              <a:rPr lang="en-US" dirty="0" smtClean="0"/>
              <a:t>However, we </a:t>
            </a:r>
            <a:r>
              <a:rPr lang="en-US" dirty="0" smtClean="0"/>
              <a:t>still have more to learn when comparing government or business users versus academic users.</a:t>
            </a:r>
          </a:p>
          <a:p>
            <a:r>
              <a:rPr lang="en-US" dirty="0" smtClean="0"/>
              <a:t>Respondents generally appeared to have some modicum of understanding of Framework.</a:t>
            </a:r>
          </a:p>
          <a:p>
            <a:pPr lvl="1"/>
            <a:r>
              <a:rPr lang="en-US" dirty="0" smtClean="0"/>
              <a:t>This may be, in part, due to self-selection. However, it bodes well that as many people expressed familiarity as did</a:t>
            </a:r>
            <a:r>
              <a:rPr lang="en-US" dirty="0" smtClean="0"/>
              <a:t>.</a:t>
            </a:r>
          </a:p>
          <a:p>
            <a:r>
              <a:rPr lang="en-US" dirty="0" smtClean="0"/>
              <a:t>General observation:</a:t>
            </a:r>
          </a:p>
          <a:p>
            <a:pPr lvl="1"/>
            <a:r>
              <a:rPr lang="en-US" dirty="0" smtClean="0"/>
              <a:t>Some of these concepts (e.g., NSDI) have become so common place that they are almost invisible. Though it would be a challenge to demonstrate statistically, there is some possibility that people benefit more than they actually realize.</a:t>
            </a:r>
            <a:endParaRPr lang="en-US" dirty="0"/>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ESRI Education User Conference Paper</a:t>
            </a:r>
          </a:p>
          <a:p>
            <a:pPr lvl="1"/>
            <a:r>
              <a:rPr lang="en-US" dirty="0" smtClean="0"/>
              <a:t>August </a:t>
            </a:r>
            <a:r>
              <a:rPr lang="en-US" dirty="0" smtClean="0"/>
              <a:t>2008</a:t>
            </a:r>
            <a:endParaRPr lang="en-US" dirty="0" smtClean="0"/>
          </a:p>
          <a:p>
            <a:r>
              <a:rPr lang="en-US" dirty="0" smtClean="0"/>
              <a:t>Recommendations</a:t>
            </a:r>
          </a:p>
          <a:p>
            <a:pPr lvl="1"/>
            <a:r>
              <a:rPr lang="en-US" dirty="0" smtClean="0"/>
              <a:t>Develop a concise “value proposition”</a:t>
            </a:r>
          </a:p>
          <a:p>
            <a:pPr lvl="1"/>
            <a:r>
              <a:rPr lang="en-US" dirty="0" smtClean="0"/>
              <a:t>Continue online </a:t>
            </a:r>
            <a:r>
              <a:rPr lang="en-US" dirty="0" smtClean="0"/>
              <a:t>training initiative</a:t>
            </a:r>
          </a:p>
          <a:p>
            <a:pPr lvl="1"/>
            <a:r>
              <a:rPr lang="en-US" dirty="0" smtClean="0"/>
              <a:t>Strategic outreach </a:t>
            </a:r>
            <a:r>
              <a:rPr lang="en-US" dirty="0" smtClean="0"/>
              <a:t>to </a:t>
            </a:r>
            <a:r>
              <a:rPr lang="en-US" dirty="0" smtClean="0"/>
              <a:t>academic </a:t>
            </a:r>
            <a:r>
              <a:rPr lang="en-US" dirty="0" smtClean="0"/>
              <a:t>c</a:t>
            </a:r>
            <a:r>
              <a:rPr lang="en-US" dirty="0" smtClean="0"/>
              <a:t>ommunity</a:t>
            </a:r>
            <a:endParaRPr lang="en-US" dirty="0" smtClean="0"/>
          </a:p>
          <a:p>
            <a:pPr lvl="2"/>
            <a:r>
              <a:rPr lang="en-US" dirty="0" smtClean="0"/>
              <a:t>Special sessions or workshops at national and regional meetings</a:t>
            </a:r>
          </a:p>
          <a:p>
            <a:pPr lvl="3"/>
            <a:r>
              <a:rPr lang="en-US" dirty="0" smtClean="0"/>
              <a:t>AAG</a:t>
            </a:r>
          </a:p>
          <a:p>
            <a:pPr lvl="3"/>
            <a:r>
              <a:rPr lang="en-US" dirty="0" smtClean="0"/>
              <a:t>NCGE</a:t>
            </a:r>
          </a:p>
          <a:p>
            <a:pPr lvl="2"/>
            <a:r>
              <a:rPr lang="en-US" dirty="0" smtClean="0"/>
              <a:t>Direct </a:t>
            </a:r>
            <a:r>
              <a:rPr lang="en-US" dirty="0" smtClean="0"/>
              <a:t>involvement in community efforts </a:t>
            </a:r>
            <a:endParaRPr lang="en-US" dirty="0" smtClean="0"/>
          </a:p>
          <a:p>
            <a:pPr lvl="3"/>
            <a:r>
              <a:rPr lang="en-US" dirty="0" smtClean="0"/>
              <a:t>UCGIS Body of Knowledge</a:t>
            </a:r>
            <a:endParaRPr lang="en-US" dirty="0" smtClean="0"/>
          </a:p>
          <a:p>
            <a:pPr lvl="2"/>
            <a:r>
              <a:rPr lang="en-US" dirty="0" smtClean="0"/>
              <a:t>Proactively engage colleges and universities</a:t>
            </a:r>
            <a:endParaRPr lang="en-US" dirty="0" smtClean="0"/>
          </a:p>
          <a:p>
            <a:pPr lvl="3"/>
            <a:r>
              <a:rPr lang="en-US" dirty="0" smtClean="0"/>
              <a:t>In class </a:t>
            </a:r>
            <a:r>
              <a:rPr lang="en-US" dirty="0" smtClean="0"/>
              <a:t>presentations (student engagement is clearly important!)</a:t>
            </a:r>
            <a:endParaRPr lang="en-US" dirty="0" smtClean="0"/>
          </a:p>
          <a:p>
            <a:pPr lvl="3"/>
            <a:r>
              <a:rPr lang="en-US" dirty="0" smtClean="0"/>
              <a:t>Promotion of online </a:t>
            </a:r>
            <a:r>
              <a:rPr lang="en-US" dirty="0" smtClean="0"/>
              <a:t>resources</a:t>
            </a:r>
            <a:endParaRPr lang="en-US" dirty="0" smtClean="0"/>
          </a:p>
          <a:p>
            <a:pPr lvl="3"/>
            <a:r>
              <a:rPr lang="en-US" dirty="0" smtClean="0"/>
              <a:t>Participation/creation of virtual seminars</a:t>
            </a:r>
          </a:p>
          <a:p>
            <a:pPr lvl="2"/>
            <a:endParaRPr 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ANSWERNOWTEXT" val="Answer Now"/>
  <p:tag name="RESPTABLESTYLE" val="-1"/>
  <p:tag name="ALLOWDUPLICATES" val="False"/>
  <p:tag name="AUTOADVANCE" val="False"/>
  <p:tag name="STDCHART" val="1"/>
  <p:tag name="BUBBLENAMEVISIBLE" val="True"/>
  <p:tag name="DEFAULTNUMTEAMS" val="5"/>
  <p:tag name="CUSTOMCELLBACKCOLOR2" val="-13395457"/>
  <p:tag name="DISPLAYNAME" val="True"/>
  <p:tag name="GRIDROTATIONINTERVAL" val="2"/>
  <p:tag name="POLLINGCYCLE" val="2"/>
  <p:tag name="INCLUDENONRESPONDERS" val="False"/>
  <p:tag name="ALLOWUSERFEEDBACK" val="True"/>
  <p:tag name="REALTIMEBACKUPPATH" val="(None)"/>
  <p:tag name="ADVANCEDSETTINGSVIEW" val="True"/>
  <p:tag name="USESECONDARYMONITOR" val="True"/>
  <p:tag name="RESPCOUNTERSTYLE" val="-1"/>
  <p:tag name="NUMRESPONSES" val="1"/>
  <p:tag name="REVIEWONLY" val="False"/>
  <p:tag name="TEAMSINLEADERBOARD" val="5"/>
  <p:tag name="BUBBLEGROUPING" val="3"/>
  <p:tag name="CUSTOMCELLBACKCOLOR3" val="-268652"/>
  <p:tag name="DISPLAYDEVICEID" val="True"/>
  <p:tag name="GRIDPOSITION" val="1"/>
  <p:tag name="MULTIRESPDIVISOR" val="1"/>
  <p:tag name="INCORRECTPOINTVALUE" val="0"/>
  <p:tag name="CHARTSCALE" val="True"/>
  <p:tag name="BULLETTYPE" val="3"/>
  <p:tag name="COUNTDOWNSECONDS" val="10"/>
  <p:tag name="CHARTVALUEFORMAT" val="0%"/>
  <p:tag name="MAXRESPONDERS" val="5"/>
  <p:tag name="CUSTOMCELLFORECOLOR" val="-16777216"/>
  <p:tag name="DISPLAYDEVICENUMBER" val="True"/>
  <p:tag name="CHARTCOLORS" val="0"/>
  <p:tag name="INCLUDEPPT" val="True"/>
  <p:tag name="AUTOADJUSTPARTRANGE" val="True"/>
  <p:tag name="ANSWERNOWSTYLE" val="-1"/>
  <p:tag name="BACKUPSESSIONS" val="True"/>
  <p:tag name="PARTICIPANTSINLEADERBOARD" val="5"/>
  <p:tag name="CUSTOMCELLBACKCOLOR1" val="-657956"/>
  <p:tag name="AUTOSIZEGRID" val="True"/>
  <p:tag name="PARTLISTDEFAULT" val="0"/>
  <p:tag name="TPVERSION" val="2006"/>
  <p:tag name="RESPCOUNTERFORMAT" val="0"/>
  <p:tag name="AUTOUPDATEALIASES" val="True"/>
  <p:tag name="CUSTOMCELLBACKCOLOR4" val="-8355712"/>
  <p:tag name="CHARTLABELS" val="0"/>
  <p:tag name="ZEROBASED" val="False"/>
  <p:tag name="INPUTSOURCE" val="1"/>
  <p:tag name="BUBBLEVALUEFORMAT" val="0.0"/>
  <p:tag name="GRIDSIZE" val="{Width=800, Height=600}"/>
  <p:tag name="POWERPOINTVERSION" val="12.0"/>
  <p:tag name="ROTATIONINTERVAL" val="2"/>
  <p:tag name="GRIDOPACITY" val="90"/>
  <p:tag name="SHOWBARVISIBLE" val="True"/>
  <p:tag name="CUSTOMGRIDBACKCOLOR" val="-2830136"/>
  <p:tag name="REALTIMEBACKUP" val="False"/>
  <p:tag name="USESCHEMECOLORS" val="True"/>
  <p:tag name="BACKUPMAINTENANCE" val="7"/>
  <p:tag name="COUNTDOWNSTYLE" val="-1"/>
  <p:tag name="BUBBLESIZEVISIBLE" val="True"/>
  <p:tag name="CORRECTPOINTVALUE" val="100"/>
  <p:tag name="RESETCHARTS" val="Tru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658</TotalTime>
  <Words>998</Words>
  <Application>Microsoft Office PowerPoint</Application>
  <PresentationFormat>On-screen Show (4:3)</PresentationFormat>
  <Paragraphs>152</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Civic</vt:lpstr>
      <vt:lpstr>FGDC Framework and Metadata Survey</vt:lpstr>
      <vt:lpstr>Project Scope</vt:lpstr>
      <vt:lpstr>Survey Overview</vt:lpstr>
      <vt:lpstr>Overview: Demographic Information</vt:lpstr>
      <vt:lpstr>Respondent Institutional Role</vt:lpstr>
      <vt:lpstr>Institutional Type (inc. Degree Programs) </vt:lpstr>
      <vt:lpstr>Where is GIS&amp;T taught?</vt:lpstr>
      <vt:lpstr>Importance of Metadata in Curriculum</vt:lpstr>
      <vt:lpstr>Importance of SDI in Organizational Curriculum</vt:lpstr>
      <vt:lpstr>General Importance of SDI in Curriculum</vt:lpstr>
      <vt:lpstr>Metadata versus SDI</vt:lpstr>
      <vt:lpstr>Familiarity with Framework Concepts</vt:lpstr>
      <vt:lpstr>Framework Theme Familiarity</vt:lpstr>
      <vt:lpstr>More on Framework</vt:lpstr>
      <vt:lpstr>Demographics of Framework Familiarity</vt:lpstr>
      <vt:lpstr>Benefits of Standards</vt:lpstr>
      <vt:lpstr>Perceptions Regarding Who Benefits</vt:lpstr>
      <vt:lpstr>Summary Conclusions</vt:lpstr>
      <vt:lpstr>Next Steps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Steven D. Prager</cp:lastModifiedBy>
  <cp:revision>75</cp:revision>
  <dcterms:created xsi:type="dcterms:W3CDTF">2006-08-16T00:00:00Z</dcterms:created>
  <dcterms:modified xsi:type="dcterms:W3CDTF">2008-01-11T20:56:46Z</dcterms:modified>
  <cp:contentStatus/>
</cp:coreProperties>
</file>