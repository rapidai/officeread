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charts/chart17.xml" ContentType="application/vnd.openxmlformats-officedocument.drawingml.char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charts/chart13.xml" ContentType="application/vnd.openxmlformats-officedocument.drawingml.chart+xml"/>
  <Override PartName="/ppt/charts/chart15.xml" ContentType="application/vnd.openxmlformats-officedocument.drawingml.char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10.xml" ContentType="application/vnd.openxmlformats-officedocument.drawingml.chart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rawings/drawing1.xml" ContentType="application/vnd.openxmlformats-officedocument.drawingml.chartshapes+xml"/>
  <Override PartName="/ppt/charts/chart18.xml" ContentType="application/vnd.openxmlformats-officedocument.drawingml.char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charts/chart16.xml" ContentType="application/vnd.openxmlformats-officedocument.drawingml.char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charts/chart14.xml" ContentType="application/vnd.openxmlformats-officedocument.drawingml.char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charts/chart8.xml" ContentType="application/vnd.openxmlformats-officedocument.drawingml.chart+xml"/>
  <Override PartName="/ppt/charts/chart12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529" r:id="rId2"/>
    <p:sldId id="591" r:id="rId3"/>
    <p:sldId id="259" r:id="rId4"/>
    <p:sldId id="262" r:id="rId5"/>
    <p:sldId id="454" r:id="rId6"/>
    <p:sldId id="261" r:id="rId7"/>
    <p:sldId id="331" r:id="rId8"/>
    <p:sldId id="264" r:id="rId9"/>
    <p:sldId id="337" r:id="rId10"/>
    <p:sldId id="350" r:id="rId11"/>
    <p:sldId id="285" r:id="rId12"/>
    <p:sldId id="328" r:id="rId13"/>
    <p:sldId id="330" r:id="rId14"/>
    <p:sldId id="284" r:id="rId15"/>
    <p:sldId id="283" r:id="rId16"/>
    <p:sldId id="507" r:id="rId17"/>
    <p:sldId id="436" r:id="rId18"/>
    <p:sldId id="504" r:id="rId19"/>
    <p:sldId id="353" r:id="rId20"/>
    <p:sldId id="420" r:id="rId21"/>
    <p:sldId id="536" r:id="rId22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showPr showNarration="1">
    <p:present/>
    <p:sldAll/>
    <p:penClr>
      <a:schemeClr val="tx1"/>
    </p:penClr>
  </p:showPr>
  <p:clrMru>
    <a:srgbClr val="F9836F"/>
    <a:srgbClr val="EE5C02"/>
    <a:srgbClr val="FF0000"/>
    <a:srgbClr val="E7F806"/>
    <a:srgbClr val="A309BD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2584" autoAdjust="0"/>
    <p:restoredTop sz="94796" autoAdjust="0"/>
  </p:normalViewPr>
  <p:slideViewPr>
    <p:cSldViewPr>
      <p:cViewPr varScale="1">
        <p:scale>
          <a:sx n="66" d="100"/>
          <a:sy n="66" d="100"/>
        </p:scale>
        <p:origin x="-41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6014"/>
    </p:cViewPr>
  </p:sorterViewPr>
  <p:notesViewPr>
    <p:cSldViewPr>
      <p:cViewPr varScale="1">
        <p:scale>
          <a:sx n="62" d="100"/>
          <a:sy n="62" d="100"/>
        </p:scale>
        <p:origin x="-1644" y="-60"/>
      </p:cViewPr>
      <p:guideLst>
        <p:guide orient="horz" pos="2909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5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Office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7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6.2153163152053513E-2"/>
          <c:y val="1.7897186679790223E-2"/>
          <c:w val="0.92674805771365165"/>
          <c:h val="0.77618971456692964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Right</c:v>
                </c:pt>
              </c:strCache>
            </c:strRef>
          </c:tx>
          <c:spPr>
            <a:ln w="37836">
              <a:solidFill>
                <a:srgbClr val="0000FF"/>
              </a:solidFill>
              <a:prstDash val="solid"/>
            </a:ln>
          </c:spPr>
          <c:marker>
            <c:symbol val="diamond"/>
            <c:size val="2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5.0400675117515375E-4"/>
                  <c:y val="-4.2504289640444184E-2"/>
                </c:manualLayout>
              </c:layout>
              <c:dLblPos val="r"/>
              <c:showVal val="1"/>
            </c:dLbl>
            <c:dLbl>
              <c:idx val="16"/>
              <c:layout>
                <c:manualLayout>
                  <c:x val="-3.8486600397636024E-2"/>
                  <c:y val="7.0792788126821451E-3"/>
                </c:manualLayout>
              </c:layout>
              <c:dLblPos val="r"/>
              <c:showVal val="1"/>
            </c:dLbl>
            <c:dLbl>
              <c:idx val="17"/>
              <c:layout>
                <c:manualLayout>
                  <c:x val="-2.4963289280469952E-2"/>
                  <c:y val="2.8645833333333356E-2"/>
                </c:manualLayout>
              </c:layout>
              <c:dLblPos val="r"/>
              <c:showVal val="1"/>
            </c:dLbl>
            <c:dLbl>
              <c:idx val="18"/>
              <c:layout>
                <c:manualLayout>
                  <c:x val="0"/>
                  <c:y val="1.5625000000000121E-2"/>
                </c:manualLayout>
              </c:layout>
              <c:dLblPos val="r"/>
              <c:showVal val="1"/>
            </c:dLbl>
            <c:spPr>
              <a:noFill/>
              <a:ln w="25221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May-02</c:v>
                </c:pt>
                <c:pt idx="3">
                  <c:v>Jun-02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Sheet1!$B$2:$Z$2</c:f>
              <c:numCache>
                <c:formatCode>0%</c:formatCode>
                <c:ptCount val="25"/>
                <c:pt idx="0">
                  <c:v>0.12000000000000002</c:v>
                </c:pt>
                <c:pt idx="1">
                  <c:v>7.0000000000000021E-2</c:v>
                </c:pt>
                <c:pt idx="2">
                  <c:v>0.14000000000000001</c:v>
                </c:pt>
                <c:pt idx="3">
                  <c:v>0.15000000000000005</c:v>
                </c:pt>
                <c:pt idx="4">
                  <c:v>0.2</c:v>
                </c:pt>
                <c:pt idx="5">
                  <c:v>0.16</c:v>
                </c:pt>
                <c:pt idx="6">
                  <c:v>0.18000000000000005</c:v>
                </c:pt>
                <c:pt idx="7">
                  <c:v>0.15000000000000005</c:v>
                </c:pt>
                <c:pt idx="8">
                  <c:v>0.24000000000000005</c:v>
                </c:pt>
                <c:pt idx="9">
                  <c:v>0.16</c:v>
                </c:pt>
                <c:pt idx="10">
                  <c:v>0.18000000000000005</c:v>
                </c:pt>
                <c:pt idx="11">
                  <c:v>0.22700000000000001</c:v>
                </c:pt>
                <c:pt idx="12">
                  <c:v>0.17800000000000005</c:v>
                </c:pt>
                <c:pt idx="13">
                  <c:v>0.26900000000000002</c:v>
                </c:pt>
                <c:pt idx="14">
                  <c:v>0.21600000000000005</c:v>
                </c:pt>
                <c:pt idx="15">
                  <c:v>0.27700000000000002</c:v>
                </c:pt>
                <c:pt idx="16">
                  <c:v>0.23100000000000001</c:v>
                </c:pt>
                <c:pt idx="17">
                  <c:v>0.3000000000000001</c:v>
                </c:pt>
                <c:pt idx="18">
                  <c:v>0.33600000000000013</c:v>
                </c:pt>
                <c:pt idx="19">
                  <c:v>0.28900000000000009</c:v>
                </c:pt>
                <c:pt idx="20">
                  <c:v>0.29000000000000009</c:v>
                </c:pt>
                <c:pt idx="21">
                  <c:v>0.27800000000000002</c:v>
                </c:pt>
                <c:pt idx="22">
                  <c:v>0.37800000000000011</c:v>
                </c:pt>
                <c:pt idx="23">
                  <c:v>0.33500000000000013</c:v>
                </c:pt>
                <c:pt idx="24">
                  <c:v>0.32300000000000012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Wrong</c:v>
                </c:pt>
              </c:strCache>
            </c:strRef>
          </c:tx>
          <c:spPr>
            <a:ln w="37836">
              <a:solidFill>
                <a:srgbClr val="FF0000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1.7157490756839363E-3"/>
                  <c:y val="-4.0473251377830324E-2"/>
                </c:manualLayout>
              </c:layout>
              <c:dLblPos val="r"/>
              <c:showVal val="1"/>
            </c:dLbl>
            <c:dLbl>
              <c:idx val="16"/>
              <c:layout>
                <c:manualLayout>
                  <c:x val="-1.9618675869334457E-2"/>
                  <c:y val="-1.082865826605839E-2"/>
                </c:manualLayout>
              </c:layout>
              <c:dLblPos val="r"/>
              <c:showVal val="1"/>
            </c:dLbl>
            <c:dLbl>
              <c:idx val="17"/>
              <c:layout>
                <c:manualLayout>
                  <c:x val="-2.4963289280469952E-2"/>
                  <c:y val="-2.0833333333333919E-2"/>
                </c:manualLayout>
              </c:layout>
              <c:dLblPos val="r"/>
              <c:showVal val="1"/>
            </c:dLbl>
            <c:spPr>
              <a:noFill/>
              <a:ln w="25221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May-02</c:v>
                </c:pt>
                <c:pt idx="3">
                  <c:v>Jun-02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Sheet1!$B$3:$Z$3</c:f>
              <c:numCache>
                <c:formatCode>0%</c:formatCode>
                <c:ptCount val="25"/>
                <c:pt idx="0">
                  <c:v>0.62000000000000022</c:v>
                </c:pt>
                <c:pt idx="1">
                  <c:v>0.62000000000000022</c:v>
                </c:pt>
                <c:pt idx="2">
                  <c:v>0.56000000000000005</c:v>
                </c:pt>
                <c:pt idx="3">
                  <c:v>0.59</c:v>
                </c:pt>
                <c:pt idx="4">
                  <c:v>0.4</c:v>
                </c:pt>
                <c:pt idx="5">
                  <c:v>0.45</c:v>
                </c:pt>
                <c:pt idx="6">
                  <c:v>0.44</c:v>
                </c:pt>
                <c:pt idx="7">
                  <c:v>0.5</c:v>
                </c:pt>
                <c:pt idx="8">
                  <c:v>0.37000000000000011</c:v>
                </c:pt>
                <c:pt idx="9">
                  <c:v>0.51</c:v>
                </c:pt>
                <c:pt idx="10">
                  <c:v>0.46</c:v>
                </c:pt>
                <c:pt idx="11">
                  <c:v>0.43700000000000011</c:v>
                </c:pt>
                <c:pt idx="12">
                  <c:v>0.46500000000000002</c:v>
                </c:pt>
                <c:pt idx="13">
                  <c:v>0.37500000000000011</c:v>
                </c:pt>
                <c:pt idx="14">
                  <c:v>0.4300000000000001</c:v>
                </c:pt>
                <c:pt idx="15">
                  <c:v>0.31300000000000011</c:v>
                </c:pt>
                <c:pt idx="16">
                  <c:v>0.36100000000000015</c:v>
                </c:pt>
                <c:pt idx="17">
                  <c:v>0.31000000000000011</c:v>
                </c:pt>
                <c:pt idx="18">
                  <c:v>0.27300000000000002</c:v>
                </c:pt>
                <c:pt idx="19">
                  <c:v>0.32000000000000012</c:v>
                </c:pt>
                <c:pt idx="20">
                  <c:v>0.32500000000000012</c:v>
                </c:pt>
                <c:pt idx="21">
                  <c:v>0.33300000000000013</c:v>
                </c:pt>
                <c:pt idx="22">
                  <c:v>0.27800000000000002</c:v>
                </c:pt>
                <c:pt idx="23">
                  <c:v>0.30800000000000011</c:v>
                </c:pt>
                <c:pt idx="24">
                  <c:v>0.33000000000000013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Neither</c:v>
                </c:pt>
              </c:strCache>
            </c:strRef>
          </c:tx>
          <c:spPr>
            <a:ln w="37836">
              <a:solidFill>
                <a:srgbClr val="008080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008080"/>
              </a:solidFill>
              <a:ln>
                <a:solidFill>
                  <a:srgbClr val="00808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2.8256269891134148E-3"/>
                  <c:y val="-5.2592374278292171E-2"/>
                </c:manualLayout>
              </c:layout>
              <c:dLblPos val="r"/>
              <c:showVal val="1"/>
            </c:dLbl>
            <c:dLbl>
              <c:idx val="16"/>
              <c:layout>
                <c:manualLayout>
                  <c:x val="-2.6277943349912007E-2"/>
                  <c:y val="-3.2853163119798211E-2"/>
                </c:manualLayout>
              </c:layout>
              <c:dLblPos val="r"/>
              <c:showVal val="1"/>
            </c:dLbl>
            <c:dLbl>
              <c:idx val="17"/>
              <c:layout>
                <c:manualLayout>
                  <c:x val="-2.4578838438146792E-2"/>
                  <c:y val="-5.4395095144358398E-2"/>
                </c:manualLayout>
              </c:layout>
              <c:dLblPos val="r"/>
              <c:showVal val="1"/>
            </c:dLbl>
            <c:dLbl>
              <c:idx val="18"/>
              <c:layout>
                <c:manualLayout>
                  <c:x val="0"/>
                  <c:y val="-2.8645833333333356E-2"/>
                </c:manualLayout>
              </c:layout>
              <c:dLblPos val="r"/>
              <c:showVal val="1"/>
            </c:dLbl>
            <c:spPr>
              <a:noFill/>
              <a:ln w="25221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May-02</c:v>
                </c:pt>
                <c:pt idx="3">
                  <c:v>Jun-02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Sheet1!$B$4:$Z$4</c:f>
              <c:numCache>
                <c:formatCode>0%</c:formatCode>
                <c:ptCount val="25"/>
                <c:pt idx="0">
                  <c:v>0.18000000000000005</c:v>
                </c:pt>
                <c:pt idx="1">
                  <c:v>0.24000000000000005</c:v>
                </c:pt>
                <c:pt idx="2">
                  <c:v>0.2</c:v>
                </c:pt>
                <c:pt idx="3">
                  <c:v>0.17</c:v>
                </c:pt>
                <c:pt idx="4">
                  <c:v>0.34</c:v>
                </c:pt>
                <c:pt idx="5">
                  <c:v>0.3600000000000001</c:v>
                </c:pt>
                <c:pt idx="6">
                  <c:v>0.3600000000000001</c:v>
                </c:pt>
                <c:pt idx="7">
                  <c:v>0.33000000000000013</c:v>
                </c:pt>
                <c:pt idx="8">
                  <c:v>0.3600000000000001</c:v>
                </c:pt>
                <c:pt idx="9">
                  <c:v>0.31000000000000011</c:v>
                </c:pt>
                <c:pt idx="10">
                  <c:v>0.34</c:v>
                </c:pt>
                <c:pt idx="11">
                  <c:v>0.32000000000000012</c:v>
                </c:pt>
                <c:pt idx="12">
                  <c:v>0.32800000000000012</c:v>
                </c:pt>
                <c:pt idx="13">
                  <c:v>0.33200000000000013</c:v>
                </c:pt>
                <c:pt idx="14">
                  <c:v>0.33200000000000013</c:v>
                </c:pt>
                <c:pt idx="15">
                  <c:v>0.36900000000000016</c:v>
                </c:pt>
                <c:pt idx="16">
                  <c:v>0.38300000000000012</c:v>
                </c:pt>
                <c:pt idx="17">
                  <c:v>0.3580000000000001</c:v>
                </c:pt>
                <c:pt idx="18">
                  <c:v>0.35300000000000009</c:v>
                </c:pt>
                <c:pt idx="19">
                  <c:v>0.3570000000000001</c:v>
                </c:pt>
                <c:pt idx="20">
                  <c:v>0.3570000000000001</c:v>
                </c:pt>
                <c:pt idx="21">
                  <c:v>0.36600000000000016</c:v>
                </c:pt>
                <c:pt idx="22">
                  <c:v>0.31900000000000012</c:v>
                </c:pt>
                <c:pt idx="23">
                  <c:v>0.32900000000000013</c:v>
                </c:pt>
                <c:pt idx="24">
                  <c:v>0.32900000000000013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DK</c:v>
                </c:pt>
              </c:strCache>
            </c:strRef>
          </c:tx>
          <c:spPr>
            <a:ln w="37836">
              <a:solidFill>
                <a:srgbClr val="000000"/>
              </a:solidFill>
              <a:prstDash val="solid"/>
            </a:ln>
          </c:spPr>
          <c:marker>
            <c:symbol val="circle"/>
            <c:size val="2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dLbls>
            <c:delete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May-02</c:v>
                </c:pt>
                <c:pt idx="3">
                  <c:v>Jun-02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Sheet1!$B$5:$Z$5</c:f>
              <c:numCache>
                <c:formatCode>0%</c:formatCode>
                <c:ptCount val="25"/>
                <c:pt idx="0">
                  <c:v>8.0000000000000029E-2</c:v>
                </c:pt>
                <c:pt idx="1">
                  <c:v>8.0000000000000029E-2</c:v>
                </c:pt>
                <c:pt idx="2">
                  <c:v>0.1</c:v>
                </c:pt>
                <c:pt idx="3">
                  <c:v>9.0000000000000024E-2</c:v>
                </c:pt>
                <c:pt idx="4">
                  <c:v>6.0000000000000019E-2</c:v>
                </c:pt>
                <c:pt idx="5">
                  <c:v>3.0000000000000002E-2</c:v>
                </c:pt>
                <c:pt idx="6">
                  <c:v>2.0000000000000007E-2</c:v>
                </c:pt>
                <c:pt idx="7">
                  <c:v>2.0000000000000007E-2</c:v>
                </c:pt>
                <c:pt idx="8">
                  <c:v>3.0000000000000002E-2</c:v>
                </c:pt>
                <c:pt idx="9">
                  <c:v>2.0000000000000007E-2</c:v>
                </c:pt>
                <c:pt idx="10">
                  <c:v>3.0000000000000002E-2</c:v>
                </c:pt>
                <c:pt idx="11">
                  <c:v>1.4E-2</c:v>
                </c:pt>
                <c:pt idx="12">
                  <c:v>2.700000000000001E-2</c:v>
                </c:pt>
                <c:pt idx="13">
                  <c:v>2.4E-2</c:v>
                </c:pt>
                <c:pt idx="14">
                  <c:v>2.4E-2</c:v>
                </c:pt>
                <c:pt idx="15">
                  <c:v>4.1000000000000002E-2</c:v>
                </c:pt>
                <c:pt idx="16">
                  <c:v>2.5000000000000001E-2</c:v>
                </c:pt>
                <c:pt idx="17">
                  <c:v>2.700000000000001E-2</c:v>
                </c:pt>
                <c:pt idx="18">
                  <c:v>3.7999999999999999E-2</c:v>
                </c:pt>
                <c:pt idx="19">
                  <c:v>3.4000000000000002E-2</c:v>
                </c:pt>
                <c:pt idx="20">
                  <c:v>2.8000000000000001E-2</c:v>
                </c:pt>
                <c:pt idx="21">
                  <c:v>1.2999999999999998E-2</c:v>
                </c:pt>
                <c:pt idx="22">
                  <c:v>2.4E-2</c:v>
                </c:pt>
                <c:pt idx="23">
                  <c:v>2.8000000000000001E-2</c:v>
                </c:pt>
                <c:pt idx="24">
                  <c:v>1.9000000000000006E-2</c:v>
                </c:pt>
              </c:numCache>
            </c:numRef>
          </c:val>
          <c:smooth val="1"/>
        </c:ser>
        <c:dLbls>
          <c:showVal val="1"/>
        </c:dLbls>
        <c:marker val="1"/>
        <c:axId val="128102784"/>
        <c:axId val="128104704"/>
      </c:lineChart>
      <c:catAx>
        <c:axId val="128102784"/>
        <c:scaling>
          <c:orientation val="minMax"/>
        </c:scaling>
        <c:axPos val="b"/>
        <c:numFmt formatCode="General" sourceLinked="1"/>
        <c:tickLblPos val="nextTo"/>
        <c:spPr>
          <a:ln w="3152">
            <a:solidFill>
              <a:schemeClr val="tx1"/>
            </a:solidFill>
            <a:prstDash val="solid"/>
          </a:ln>
        </c:spPr>
        <c:txPr>
          <a:bodyPr rot="-2700000" vert="horz"/>
          <a:lstStyle/>
          <a:p>
            <a:pPr>
              <a:defRPr sz="1195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28104704"/>
        <c:crosses val="autoZero"/>
        <c:auto val="1"/>
        <c:lblAlgn val="ctr"/>
        <c:lblOffset val="100"/>
        <c:tickLblSkip val="1"/>
        <c:tickMarkSkip val="1"/>
      </c:catAx>
      <c:valAx>
        <c:axId val="128104704"/>
        <c:scaling>
          <c:orientation val="minMax"/>
        </c:scaling>
        <c:axPos val="l"/>
        <c:numFmt formatCode="0%" sourceLinked="1"/>
        <c:tickLblPos val="nextTo"/>
        <c:spPr>
          <a:ln w="3152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95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28102784"/>
        <c:crosses val="autoZero"/>
        <c:crossBetween val="between"/>
      </c:valAx>
      <c:spPr>
        <a:noFill/>
        <a:ln w="12616">
          <a:solidFill>
            <a:schemeClr val="tx1"/>
          </a:solidFill>
          <a:prstDash val="solid"/>
        </a:ln>
      </c:spPr>
    </c:plotArea>
    <c:legend>
      <c:legendPos val="b"/>
      <c:layout>
        <c:manualLayout>
          <c:xMode val="edge"/>
          <c:yMode val="edge"/>
          <c:x val="0.34406210359562528"/>
          <c:y val="0.92891014967215091"/>
          <c:w val="0.36182020120536129"/>
          <c:h val="6.3980846480211628E-2"/>
        </c:manualLayout>
      </c:layout>
      <c:spPr>
        <a:noFill/>
        <a:ln w="3152">
          <a:solidFill>
            <a:schemeClr val="tx1"/>
          </a:solidFill>
          <a:prstDash val="solid"/>
        </a:ln>
      </c:spPr>
      <c:txPr>
        <a:bodyPr/>
        <a:lstStyle/>
        <a:p>
          <a:pPr>
            <a:defRPr sz="1095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792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6.9478945566586792E-2"/>
          <c:y val="1.9788411064001823E-2"/>
          <c:w val="0.91811414392059554"/>
          <c:h val="0.75977649909145972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Getting Better</c:v>
                </c:pt>
              </c:strCache>
            </c:strRef>
          </c:tx>
          <c:spPr>
            <a:ln w="42596">
              <a:solidFill>
                <a:srgbClr val="0000FF"/>
              </a:solidFill>
              <a:prstDash val="solid"/>
            </a:ln>
          </c:spPr>
          <c:marker>
            <c:symbol val="diamond"/>
            <c:size val="2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1.23465201222514E-4"/>
                  <c:y val="1.6276306283807249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-7.458607686446306E-3"/>
                  <c:y val="3.6045994432978082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-1.5222898896185557E-4"/>
                  <c:y val="3.3744088268587193E-2"/>
                </c:manualLayout>
              </c:layout>
              <c:dLblPos val="r"/>
              <c:showVal val="1"/>
            </c:dLbl>
            <c:dLbl>
              <c:idx val="3"/>
              <c:layout>
                <c:manualLayout>
                  <c:x val="7.1540355923521192E-3"/>
                  <c:y val="5.7847042770765356E-2"/>
                </c:manualLayout>
              </c:layout>
              <c:dLblPos val="r"/>
              <c:showVal val="1"/>
            </c:dLbl>
            <c:spPr>
              <a:noFill/>
              <a:ln w="28397">
                <a:noFill/>
              </a:ln>
            </c:spPr>
            <c:txPr>
              <a:bodyPr/>
              <a:lstStyle/>
              <a:p>
                <a:pPr>
                  <a:defRPr sz="1579" b="1" i="0" u="none" strike="noStrike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Sheet1!$B$2:$Z$2</c:f>
              <c:numCache>
                <c:formatCode>0%</c:formatCode>
                <c:ptCount val="25"/>
                <c:pt idx="0">
                  <c:v>0.05</c:v>
                </c:pt>
                <c:pt idx="1">
                  <c:v>9.0000000000000024E-2</c:v>
                </c:pt>
                <c:pt idx="2">
                  <c:v>0.21000000000000005</c:v>
                </c:pt>
                <c:pt idx="3">
                  <c:v>0.23</c:v>
                </c:pt>
                <c:pt idx="4">
                  <c:v>0.4</c:v>
                </c:pt>
                <c:pt idx="5">
                  <c:v>0.11</c:v>
                </c:pt>
                <c:pt idx="6">
                  <c:v>0.14000000000000001</c:v>
                </c:pt>
                <c:pt idx="7">
                  <c:v>0.13</c:v>
                </c:pt>
                <c:pt idx="8">
                  <c:v>0.13</c:v>
                </c:pt>
                <c:pt idx="9">
                  <c:v>0.13</c:v>
                </c:pt>
                <c:pt idx="10">
                  <c:v>0.14000000000000001</c:v>
                </c:pt>
                <c:pt idx="11">
                  <c:v>0.128</c:v>
                </c:pt>
                <c:pt idx="12">
                  <c:v>0.128</c:v>
                </c:pt>
                <c:pt idx="13">
                  <c:v>0.15400000000000005</c:v>
                </c:pt>
                <c:pt idx="14">
                  <c:v>0.13700000000000001</c:v>
                </c:pt>
                <c:pt idx="15">
                  <c:v>0.18300000000000005</c:v>
                </c:pt>
                <c:pt idx="16">
                  <c:v>0.15800000000000006</c:v>
                </c:pt>
                <c:pt idx="17">
                  <c:v>0.15800000000000006</c:v>
                </c:pt>
                <c:pt idx="18">
                  <c:v>0.23</c:v>
                </c:pt>
                <c:pt idx="19">
                  <c:v>0.18200000000000005</c:v>
                </c:pt>
                <c:pt idx="20">
                  <c:v>0.13600000000000001</c:v>
                </c:pt>
                <c:pt idx="21">
                  <c:v>0.18600000000000005</c:v>
                </c:pt>
                <c:pt idx="22">
                  <c:v>0.21600000000000005</c:v>
                </c:pt>
                <c:pt idx="23">
                  <c:v>0.20300000000000001</c:v>
                </c:pt>
                <c:pt idx="24">
                  <c:v>0.18500000000000005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Getting Worse</c:v>
                </c:pt>
              </c:strCache>
            </c:strRef>
          </c:tx>
          <c:spPr>
            <a:ln w="42596">
              <a:solidFill>
                <a:srgbClr val="FF0000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1.2346520122250183E-4"/>
                  <c:y val="2.4874771668853959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2.4669506262089622E-3"/>
                  <c:y val="4.9722508164423432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-2.6336185671256506E-3"/>
                  <c:y val="3.7738642768086611E-2"/>
                </c:manualLayout>
              </c:layout>
              <c:dLblPos val="r"/>
              <c:showVal val="1"/>
            </c:dLbl>
            <c:dLbl>
              <c:idx val="3"/>
              <c:layout>
                <c:manualLayout>
                  <c:x val="7.1540355923521192E-3"/>
                  <c:y val="3.7738642768086611E-2"/>
                </c:manualLayout>
              </c:layout>
              <c:dLblPos val="r"/>
              <c:showVal val="1"/>
            </c:dLbl>
            <c:spPr>
              <a:noFill/>
              <a:ln w="28397">
                <a:noFill/>
              </a:ln>
            </c:spPr>
            <c:txPr>
              <a:bodyPr/>
              <a:lstStyle/>
              <a:p>
                <a:pPr>
                  <a:defRPr sz="1579" b="1" i="0" u="none" strike="noStrike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Sheet1!$B$3:$Z$3</c:f>
              <c:numCache>
                <c:formatCode>0%</c:formatCode>
                <c:ptCount val="25"/>
                <c:pt idx="0">
                  <c:v>0.59</c:v>
                </c:pt>
                <c:pt idx="1">
                  <c:v>0.53</c:v>
                </c:pt>
                <c:pt idx="2">
                  <c:v>0.29000000000000009</c:v>
                </c:pt>
                <c:pt idx="3">
                  <c:v>0.29000000000000009</c:v>
                </c:pt>
                <c:pt idx="4">
                  <c:v>0.24000000000000005</c:v>
                </c:pt>
                <c:pt idx="5">
                  <c:v>0.4200000000000001</c:v>
                </c:pt>
                <c:pt idx="6">
                  <c:v>0.4300000000000001</c:v>
                </c:pt>
                <c:pt idx="7">
                  <c:v>0.48000000000000009</c:v>
                </c:pt>
                <c:pt idx="8">
                  <c:v>0.44</c:v>
                </c:pt>
                <c:pt idx="9">
                  <c:v>0.46</c:v>
                </c:pt>
                <c:pt idx="10">
                  <c:v>0.47000000000000008</c:v>
                </c:pt>
                <c:pt idx="11">
                  <c:v>0.42400000000000015</c:v>
                </c:pt>
                <c:pt idx="12">
                  <c:v>0.45800000000000002</c:v>
                </c:pt>
                <c:pt idx="13">
                  <c:v>0.41700000000000009</c:v>
                </c:pt>
                <c:pt idx="14">
                  <c:v>0.43200000000000011</c:v>
                </c:pt>
                <c:pt idx="15">
                  <c:v>0.33300000000000013</c:v>
                </c:pt>
                <c:pt idx="16">
                  <c:v>0.33200000000000013</c:v>
                </c:pt>
                <c:pt idx="17">
                  <c:v>0.32900000000000013</c:v>
                </c:pt>
                <c:pt idx="18">
                  <c:v>0.27500000000000002</c:v>
                </c:pt>
                <c:pt idx="19">
                  <c:v>0.32600000000000012</c:v>
                </c:pt>
                <c:pt idx="20">
                  <c:v>0.34100000000000008</c:v>
                </c:pt>
                <c:pt idx="21">
                  <c:v>0.31300000000000011</c:v>
                </c:pt>
                <c:pt idx="22">
                  <c:v>0.24100000000000005</c:v>
                </c:pt>
                <c:pt idx="23">
                  <c:v>0.26200000000000001</c:v>
                </c:pt>
                <c:pt idx="24">
                  <c:v>0.32200000000000012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Staying the Same</c:v>
                </c:pt>
              </c:strCache>
            </c:strRef>
          </c:tx>
          <c:spPr>
            <a:ln w="42596">
              <a:solidFill>
                <a:srgbClr val="008080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008080"/>
              </a:solidFill>
              <a:ln>
                <a:solidFill>
                  <a:srgbClr val="00808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4.8393139551050424E-3"/>
                  <c:y val="1.2281700113770957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-7.4586076864462973E-3"/>
                  <c:y val="4.6269397741614815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2.3291605892019492E-3"/>
                  <c:y val="2.8463105801166056E-2"/>
                </c:manualLayout>
              </c:layout>
              <c:dLblPos val="r"/>
              <c:showVal val="1"/>
            </c:dLbl>
            <c:dLbl>
              <c:idx val="3"/>
              <c:layout>
                <c:manualLayout>
                  <c:x val="7.1540355923521192E-3"/>
                  <c:y val="1.6817900587800277E-2"/>
                </c:manualLayout>
              </c:layout>
              <c:dLblPos val="r"/>
              <c:showVal val="1"/>
            </c:dLbl>
            <c:spPr>
              <a:noFill/>
              <a:ln w="28397">
                <a:noFill/>
              </a:ln>
            </c:spPr>
            <c:txPr>
              <a:bodyPr/>
              <a:lstStyle/>
              <a:p>
                <a:pPr>
                  <a:defRPr sz="1579" b="1" i="0" u="none" strike="noStrike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Sheet1!$B$4:$Z$4</c:f>
              <c:numCache>
                <c:formatCode>0%</c:formatCode>
                <c:ptCount val="25"/>
                <c:pt idx="0">
                  <c:v>0.32000000000000012</c:v>
                </c:pt>
                <c:pt idx="1">
                  <c:v>0.3600000000000001</c:v>
                </c:pt>
                <c:pt idx="2">
                  <c:v>0.3000000000000001</c:v>
                </c:pt>
                <c:pt idx="3">
                  <c:v>0.31000000000000011</c:v>
                </c:pt>
                <c:pt idx="4">
                  <c:v>0.3000000000000001</c:v>
                </c:pt>
                <c:pt idx="5">
                  <c:v>0.46</c:v>
                </c:pt>
                <c:pt idx="6">
                  <c:v>0.4200000000000001</c:v>
                </c:pt>
                <c:pt idx="7">
                  <c:v>0.39000000000000012</c:v>
                </c:pt>
                <c:pt idx="8">
                  <c:v>0.4300000000000001</c:v>
                </c:pt>
                <c:pt idx="9">
                  <c:v>0.4</c:v>
                </c:pt>
                <c:pt idx="10">
                  <c:v>0.39000000000000012</c:v>
                </c:pt>
                <c:pt idx="11">
                  <c:v>0.441</c:v>
                </c:pt>
                <c:pt idx="12">
                  <c:v>0.40100000000000002</c:v>
                </c:pt>
                <c:pt idx="13">
                  <c:v>0.42400000000000015</c:v>
                </c:pt>
                <c:pt idx="14">
                  <c:v>0.42500000000000016</c:v>
                </c:pt>
                <c:pt idx="15">
                  <c:v>0.47500000000000009</c:v>
                </c:pt>
                <c:pt idx="16">
                  <c:v>0.50700000000000001</c:v>
                </c:pt>
                <c:pt idx="17">
                  <c:v>0.49900000000000011</c:v>
                </c:pt>
                <c:pt idx="18">
                  <c:v>0.48600000000000015</c:v>
                </c:pt>
                <c:pt idx="19">
                  <c:v>0.48600000000000015</c:v>
                </c:pt>
                <c:pt idx="20">
                  <c:v>0.51900000000000002</c:v>
                </c:pt>
                <c:pt idx="21">
                  <c:v>0.4900000000000001</c:v>
                </c:pt>
                <c:pt idx="22">
                  <c:v>0.53800000000000003</c:v>
                </c:pt>
                <c:pt idx="23">
                  <c:v>0.52500000000000002</c:v>
                </c:pt>
                <c:pt idx="24">
                  <c:v>0.48400000000000015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DK</c:v>
                </c:pt>
              </c:strCache>
            </c:strRef>
          </c:tx>
          <c:spPr>
            <a:ln w="42596">
              <a:solidFill>
                <a:srgbClr val="000000"/>
              </a:solidFill>
              <a:prstDash val="solid"/>
            </a:ln>
          </c:spPr>
          <c:marker>
            <c:symbol val="circle"/>
            <c:size val="2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7.3207035332688124E-3"/>
                  <c:y val="3.7633106652777653E-3"/>
                </c:manualLayout>
              </c:layout>
              <c:spPr>
                <a:noFill/>
                <a:ln w="28397">
                  <a:noFill/>
                </a:ln>
              </c:spPr>
              <c:txPr>
                <a:bodyPr/>
                <a:lstStyle/>
                <a:p>
                  <a:pPr>
                    <a:defRPr sz="2029" b="1" i="0" u="none" strike="noStrike" baseline="0">
                      <a:solidFill>
                        <a:srgbClr val="FFFFFF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  <a:endParaRPr lang="en-US"/>
                </a:p>
              </c:txPr>
              <c:dLblPos val="r"/>
              <c:showVal val="1"/>
            </c:dLbl>
            <c:dLbl>
              <c:idx val="2"/>
              <c:layout>
                <c:manualLayout>
                  <c:x val="1.9698887636348677E-2"/>
                  <c:y val="-3.3271277018190201E-2"/>
                </c:manualLayout>
              </c:layout>
              <c:dLblPos val="r"/>
              <c:showVal val="1"/>
            </c:dLbl>
            <c:dLbl>
              <c:idx val="3"/>
              <c:layout>
                <c:manualLayout>
                  <c:x val="2.3283067850416811E-2"/>
                  <c:y val="-5.7577367539228902E-2"/>
                </c:manualLayout>
              </c:layout>
              <c:dLblPos val="r"/>
              <c:showVal val="1"/>
            </c:dLbl>
            <c:spPr>
              <a:noFill/>
              <a:ln w="28397">
                <a:noFill/>
              </a:ln>
            </c:spPr>
            <c:txPr>
              <a:bodyPr/>
              <a:lstStyle/>
              <a:p>
                <a:pPr>
                  <a:defRPr sz="2017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Sheet1!$B$5:$Z$5</c:f>
              <c:numCache>
                <c:formatCode>0%</c:formatCode>
                <c:ptCount val="25"/>
                <c:pt idx="0">
                  <c:v>4.0000000000000015E-2</c:v>
                </c:pt>
                <c:pt idx="1">
                  <c:v>2.0000000000000007E-2</c:v>
                </c:pt>
                <c:pt idx="2">
                  <c:v>0.2</c:v>
                </c:pt>
                <c:pt idx="3">
                  <c:v>0.17</c:v>
                </c:pt>
                <c:pt idx="4">
                  <c:v>6.0000000000000019E-2</c:v>
                </c:pt>
                <c:pt idx="5">
                  <c:v>1.0000000000000004E-2</c:v>
                </c:pt>
                <c:pt idx="6">
                  <c:v>1.0000000000000004E-2</c:v>
                </c:pt>
                <c:pt idx="7">
                  <c:v>1.0000000000000005E-3</c:v>
                </c:pt>
                <c:pt idx="8">
                  <c:v>5.0000000000000018E-3</c:v>
                </c:pt>
                <c:pt idx="9">
                  <c:v>5.0000000000000018E-3</c:v>
                </c:pt>
                <c:pt idx="10">
                  <c:v>5.0000000000000018E-3</c:v>
                </c:pt>
                <c:pt idx="11">
                  <c:v>7.0000000000000019E-3</c:v>
                </c:pt>
                <c:pt idx="12">
                  <c:v>7.0000000000000019E-3</c:v>
                </c:pt>
                <c:pt idx="13">
                  <c:v>6.0000000000000019E-3</c:v>
                </c:pt>
                <c:pt idx="14">
                  <c:v>7.0000000000000019E-3</c:v>
                </c:pt>
                <c:pt idx="15">
                  <c:v>9.0000000000000028E-3</c:v>
                </c:pt>
                <c:pt idx="16">
                  <c:v>3.0000000000000009E-3</c:v>
                </c:pt>
                <c:pt idx="17">
                  <c:v>1.0000000000000004E-2</c:v>
                </c:pt>
                <c:pt idx="18">
                  <c:v>9.0000000000000028E-3</c:v>
                </c:pt>
                <c:pt idx="19">
                  <c:v>6.0000000000000019E-3</c:v>
                </c:pt>
                <c:pt idx="20">
                  <c:v>4.0000000000000018E-3</c:v>
                </c:pt>
                <c:pt idx="21">
                  <c:v>1.0999999999999998E-2</c:v>
                </c:pt>
                <c:pt idx="22">
                  <c:v>4.0000000000000018E-3</c:v>
                </c:pt>
                <c:pt idx="23">
                  <c:v>1.0000000000000004E-2</c:v>
                </c:pt>
                <c:pt idx="24">
                  <c:v>9.0000000000000028E-3</c:v>
                </c:pt>
              </c:numCache>
            </c:numRef>
          </c:val>
          <c:smooth val="1"/>
        </c:ser>
        <c:dLbls>
          <c:showVal val="1"/>
        </c:dLbls>
        <c:marker val="1"/>
        <c:axId val="129706624"/>
        <c:axId val="129749376"/>
      </c:lineChart>
      <c:catAx>
        <c:axId val="129706624"/>
        <c:scaling>
          <c:orientation val="minMax"/>
        </c:scaling>
        <c:axPos val="b"/>
        <c:numFmt formatCode="@" sourceLinked="1"/>
        <c:tickLblPos val="nextTo"/>
        <c:spPr>
          <a:ln w="3550">
            <a:solidFill>
              <a:schemeClr val="tx1"/>
            </a:solidFill>
            <a:prstDash val="solid"/>
          </a:ln>
        </c:spPr>
        <c:txPr>
          <a:bodyPr rot="-2700000" vert="horz"/>
          <a:lstStyle/>
          <a:p>
            <a:pPr>
              <a:defRPr sz="1341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29749376"/>
        <c:crosses val="autoZero"/>
        <c:auto val="1"/>
        <c:lblAlgn val="ctr"/>
        <c:lblOffset val="100"/>
        <c:tickLblSkip val="1"/>
        <c:tickMarkSkip val="1"/>
      </c:catAx>
      <c:valAx>
        <c:axId val="129749376"/>
        <c:scaling>
          <c:orientation val="minMax"/>
        </c:scaling>
        <c:axPos val="l"/>
        <c:numFmt formatCode="0%" sourceLinked="1"/>
        <c:tickLblPos val="nextTo"/>
        <c:spPr>
          <a:ln w="3550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41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29706624"/>
        <c:crosses val="autoZero"/>
        <c:crossBetween val="between"/>
      </c:valAx>
      <c:spPr>
        <a:noFill/>
        <a:ln w="14199">
          <a:solidFill>
            <a:schemeClr val="tx1"/>
          </a:solidFill>
          <a:prstDash val="solid"/>
        </a:ln>
      </c:spPr>
    </c:plotArea>
    <c:legend>
      <c:legendPos val="b"/>
      <c:layout>
        <c:manualLayout>
          <c:xMode val="edge"/>
          <c:yMode val="edge"/>
          <c:x val="0.21588093795967811"/>
          <c:y val="0.92890988626421722"/>
          <c:w val="0.62531014392431739"/>
          <c:h val="6.3981061190880428E-2"/>
        </c:manualLayout>
      </c:layout>
      <c:spPr>
        <a:noFill/>
        <a:ln w="3550">
          <a:solidFill>
            <a:schemeClr val="tx1"/>
          </a:solidFill>
          <a:prstDash val="solid"/>
        </a:ln>
      </c:spPr>
      <c:txPr>
        <a:bodyPr/>
        <a:lstStyle/>
        <a:p>
          <a:pPr>
            <a:defRPr sz="1228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2017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6.9478908188585611E-2"/>
          <c:y val="1.946969696969697E-2"/>
          <c:w val="0.91811414392059554"/>
          <c:h val="0.8318790264853374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Better</c:v>
                </c:pt>
              </c:strCache>
            </c:strRef>
          </c:tx>
          <c:spPr>
            <a:ln w="42534">
              <a:solidFill>
                <a:srgbClr val="0000FF"/>
              </a:solidFill>
              <a:prstDash val="solid"/>
            </a:ln>
          </c:spPr>
          <c:marker>
            <c:symbol val="diamond"/>
            <c:size val="2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2.1803709824257092E-5"/>
                  <c:y val="-5.5626641833494132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-5.0788435629952394E-3"/>
                  <c:y val="-3.7143305842694853E-2"/>
                </c:manualLayout>
              </c:layout>
              <c:dLblPos val="r"/>
              <c:showVal val="1"/>
            </c:dLbl>
            <c:dLbl>
              <c:idx val="3"/>
              <c:layout>
                <c:manualLayout>
                  <c:x val="-9.0766641632248728E-3"/>
                  <c:y val="-4.6621978828475796E-2"/>
                </c:manualLayout>
              </c:layout>
              <c:dLblPos val="r"/>
              <c:showVal val="1"/>
            </c:dLbl>
            <c:spPr>
              <a:noFill/>
              <a:ln w="28364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Sheet1!$B$2:$Z$2</c:f>
              <c:numCache>
                <c:formatCode>0%</c:formatCode>
                <c:ptCount val="25"/>
                <c:pt idx="0">
                  <c:v>6.0000000000000019E-2</c:v>
                </c:pt>
                <c:pt idx="1">
                  <c:v>9.0000000000000024E-2</c:v>
                </c:pt>
                <c:pt idx="2">
                  <c:v>0.1</c:v>
                </c:pt>
                <c:pt idx="3">
                  <c:v>9.0000000000000024E-2</c:v>
                </c:pt>
                <c:pt idx="4">
                  <c:v>0.13</c:v>
                </c:pt>
                <c:pt idx="5">
                  <c:v>0.12000000000000002</c:v>
                </c:pt>
                <c:pt idx="6">
                  <c:v>0.14000000000000001</c:v>
                </c:pt>
                <c:pt idx="7">
                  <c:v>0.15000000000000005</c:v>
                </c:pt>
                <c:pt idx="8">
                  <c:v>0.14000000000000001</c:v>
                </c:pt>
                <c:pt idx="9">
                  <c:v>0.15000000000000005</c:v>
                </c:pt>
                <c:pt idx="10">
                  <c:v>0.13</c:v>
                </c:pt>
                <c:pt idx="11">
                  <c:v>0.15200000000000005</c:v>
                </c:pt>
                <c:pt idx="12">
                  <c:v>0.14000000000000001</c:v>
                </c:pt>
                <c:pt idx="13">
                  <c:v>0.14400000000000004</c:v>
                </c:pt>
                <c:pt idx="14">
                  <c:v>0.14000000000000001</c:v>
                </c:pt>
                <c:pt idx="15">
                  <c:v>0.126</c:v>
                </c:pt>
                <c:pt idx="16">
                  <c:v>0.13</c:v>
                </c:pt>
                <c:pt idx="17">
                  <c:v>0.16500000000000001</c:v>
                </c:pt>
                <c:pt idx="18">
                  <c:v>0.20200000000000001</c:v>
                </c:pt>
                <c:pt idx="19">
                  <c:v>0.17500000000000004</c:v>
                </c:pt>
                <c:pt idx="20">
                  <c:v>0.15300000000000005</c:v>
                </c:pt>
                <c:pt idx="21">
                  <c:v>0.20200000000000001</c:v>
                </c:pt>
                <c:pt idx="22">
                  <c:v>0.17700000000000005</c:v>
                </c:pt>
                <c:pt idx="23">
                  <c:v>0.19800000000000001</c:v>
                </c:pt>
                <c:pt idx="24">
                  <c:v>0.20500000000000004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Worse</c:v>
                </c:pt>
              </c:strCache>
            </c:strRef>
          </c:tx>
          <c:spPr>
            <a:ln w="42534">
              <a:solidFill>
                <a:srgbClr val="FF0000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4.9845828661517775E-3"/>
                  <c:y val="9.8875741027847727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7.3281043278236504E-3"/>
                  <c:y val="6.0486967484299332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7.1902362113317004E-3"/>
                  <c:y val="3.9232592559925034E-2"/>
                </c:manualLayout>
              </c:layout>
              <c:dLblPos val="r"/>
              <c:showVal val="1"/>
            </c:dLbl>
            <c:dLbl>
              <c:idx val="3"/>
              <c:layout>
                <c:manualLayout>
                  <c:x val="7.0523680948399205E-3"/>
                  <c:y val="3.4894626754163299E-2"/>
                </c:manualLayout>
              </c:layout>
              <c:dLblPos val="r"/>
              <c:showVal val="1"/>
            </c:dLbl>
            <c:dLbl>
              <c:idx val="14"/>
              <c:layout>
                <c:manualLayout>
                  <c:x val="-2.4853801169590552E-2"/>
                  <c:y val="-2.777777777777898E-2"/>
                </c:manualLayout>
              </c:layout>
              <c:dLblPos val="r"/>
              <c:showVal val="1"/>
            </c:dLbl>
            <c:dLbl>
              <c:idx val="15"/>
              <c:layout>
                <c:manualLayout>
                  <c:x val="-2.9239766081872232E-3"/>
                  <c:y val="-2.777777777777898E-2"/>
                </c:manualLayout>
              </c:layout>
              <c:dLblPos val="r"/>
              <c:showVal val="1"/>
            </c:dLbl>
            <c:dLbl>
              <c:idx val="16"/>
              <c:layout>
                <c:manualLayout>
                  <c:x val="-2.4853801169590552E-2"/>
                  <c:y val="-1.5151515151515181E-2"/>
                </c:manualLayout>
              </c:layout>
              <c:dLblPos val="r"/>
              <c:showVal val="1"/>
            </c:dLbl>
            <c:dLbl>
              <c:idx val="17"/>
              <c:layout>
                <c:manualLayout>
                  <c:x val="-2.0467836257309982E-2"/>
                  <c:y val="-3.2828282828282832E-2"/>
                </c:manualLayout>
              </c:layout>
              <c:dLblPos val="r"/>
              <c:showVal val="1"/>
            </c:dLbl>
            <c:dLbl>
              <c:idx val="18"/>
              <c:layout>
                <c:manualLayout>
                  <c:x val="-2.9239766081872232E-3"/>
                  <c:y val="2.5252525252525249E-2"/>
                </c:manualLayout>
              </c:layout>
              <c:dLblPos val="r"/>
              <c:showVal val="1"/>
            </c:dLbl>
            <c:spPr>
              <a:noFill/>
              <a:ln w="28364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Sheet1!$B$3:$Z$3</c:f>
              <c:numCache>
                <c:formatCode>0%</c:formatCode>
                <c:ptCount val="25"/>
                <c:pt idx="0">
                  <c:v>0.68</c:v>
                </c:pt>
                <c:pt idx="1">
                  <c:v>0.66000000000000025</c:v>
                </c:pt>
                <c:pt idx="2">
                  <c:v>0.6000000000000002</c:v>
                </c:pt>
                <c:pt idx="3">
                  <c:v>0.63000000000000023</c:v>
                </c:pt>
                <c:pt idx="4">
                  <c:v>0.58000000000000007</c:v>
                </c:pt>
                <c:pt idx="5">
                  <c:v>0.55000000000000004</c:v>
                </c:pt>
                <c:pt idx="6">
                  <c:v>0.54</c:v>
                </c:pt>
                <c:pt idx="7">
                  <c:v>0.55000000000000004</c:v>
                </c:pt>
                <c:pt idx="8">
                  <c:v>0.54300000000000004</c:v>
                </c:pt>
                <c:pt idx="9">
                  <c:v>0.53</c:v>
                </c:pt>
                <c:pt idx="10">
                  <c:v>0.52</c:v>
                </c:pt>
                <c:pt idx="11">
                  <c:v>0.51800000000000002</c:v>
                </c:pt>
                <c:pt idx="12">
                  <c:v>0.53600000000000003</c:v>
                </c:pt>
                <c:pt idx="13">
                  <c:v>0.504</c:v>
                </c:pt>
                <c:pt idx="14">
                  <c:v>0.52</c:v>
                </c:pt>
                <c:pt idx="15">
                  <c:v>0.48400000000000015</c:v>
                </c:pt>
                <c:pt idx="16">
                  <c:v>0.42800000000000016</c:v>
                </c:pt>
                <c:pt idx="17">
                  <c:v>0.42600000000000016</c:v>
                </c:pt>
                <c:pt idx="18">
                  <c:v>0.37200000000000011</c:v>
                </c:pt>
                <c:pt idx="19">
                  <c:v>0.36900000000000016</c:v>
                </c:pt>
                <c:pt idx="20">
                  <c:v>0.38000000000000012</c:v>
                </c:pt>
                <c:pt idx="21">
                  <c:v>0.33200000000000013</c:v>
                </c:pt>
                <c:pt idx="22">
                  <c:v>0.32000000000000012</c:v>
                </c:pt>
                <c:pt idx="23">
                  <c:v>0.31600000000000011</c:v>
                </c:pt>
                <c:pt idx="24">
                  <c:v>0.35200000000000009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Same</c:v>
                </c:pt>
              </c:strCache>
            </c:strRef>
          </c:tx>
          <c:spPr>
            <a:ln w="42534">
              <a:solidFill>
                <a:srgbClr val="008080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008080"/>
              </a:solidFill>
              <a:ln>
                <a:solidFill>
                  <a:srgbClr val="00808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3.743888077070026E-3"/>
                  <c:y val="-5.2309192043583932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8.5687991169055566E-3"/>
                  <c:y val="-2.624284133268345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1.7115794523986733E-2"/>
                  <c:y val="-3.2403881709960856E-2"/>
                </c:manualLayout>
              </c:layout>
              <c:dLblPos val="r"/>
              <c:showVal val="1"/>
            </c:dLbl>
            <c:dLbl>
              <c:idx val="3"/>
              <c:layout>
                <c:manualLayout>
                  <c:x val="1.32558420402491E-2"/>
                  <c:y val="-3.2877963310381252E-2"/>
                </c:manualLayout>
              </c:layout>
              <c:dLblPos val="r"/>
              <c:showVal val="1"/>
            </c:dLbl>
            <c:dLbl>
              <c:idx val="14"/>
              <c:layout>
                <c:manualLayout>
                  <c:x val="-2.4853801169590552E-2"/>
                  <c:y val="2.777777777777898E-2"/>
                </c:manualLayout>
              </c:layout>
              <c:dLblPos val="r"/>
              <c:showVal val="1"/>
            </c:dLbl>
            <c:dLbl>
              <c:idx val="15"/>
              <c:layout>
                <c:manualLayout>
                  <c:x val="-2.0467836257309982E-2"/>
                  <c:y val="2.2727272727273939E-2"/>
                </c:manualLayout>
              </c:layout>
              <c:dLblPos val="r"/>
              <c:showVal val="1"/>
            </c:dLbl>
            <c:dLbl>
              <c:idx val="16"/>
              <c:layout>
                <c:manualLayout>
                  <c:x val="-2.4853801169590552E-2"/>
                  <c:y val="4.2929292929292984E-2"/>
                </c:manualLayout>
              </c:layout>
              <c:dLblPos val="r"/>
              <c:showVal val="1"/>
            </c:dLbl>
            <c:dLbl>
              <c:idx val="17"/>
              <c:layout>
                <c:manualLayout>
                  <c:x val="2.1929824561403542E-2"/>
                  <c:y val="-3.5353535353535352E-2"/>
                </c:manualLayout>
              </c:layout>
              <c:dLblPos val="r"/>
              <c:showVal val="1"/>
            </c:dLbl>
            <c:dLbl>
              <c:idx val="18"/>
              <c:layout>
                <c:manualLayout>
                  <c:x val="-5.5555555555555455E-2"/>
                  <c:y val="5.0505050505050456E-2"/>
                </c:manualLayout>
              </c:layout>
              <c:dLblPos val="r"/>
              <c:showVal val="1"/>
            </c:dLbl>
            <c:spPr>
              <a:noFill/>
              <a:ln w="28364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Sheet1!$B$4:$Z$4</c:f>
              <c:numCache>
                <c:formatCode>0%</c:formatCode>
                <c:ptCount val="25"/>
                <c:pt idx="0">
                  <c:v>0.25</c:v>
                </c:pt>
                <c:pt idx="1">
                  <c:v>0.25</c:v>
                </c:pt>
                <c:pt idx="2">
                  <c:v>0.29000000000000009</c:v>
                </c:pt>
                <c:pt idx="3">
                  <c:v>0.27</c:v>
                </c:pt>
                <c:pt idx="4">
                  <c:v>0.3000000000000001</c:v>
                </c:pt>
                <c:pt idx="5">
                  <c:v>0.33000000000000013</c:v>
                </c:pt>
                <c:pt idx="6">
                  <c:v>0.32000000000000012</c:v>
                </c:pt>
                <c:pt idx="7">
                  <c:v>0.3000000000000001</c:v>
                </c:pt>
                <c:pt idx="8">
                  <c:v>0.31000000000000011</c:v>
                </c:pt>
                <c:pt idx="9">
                  <c:v>0.31000000000000011</c:v>
                </c:pt>
                <c:pt idx="10">
                  <c:v>0.35000000000000009</c:v>
                </c:pt>
                <c:pt idx="11">
                  <c:v>0.32900000000000013</c:v>
                </c:pt>
                <c:pt idx="12">
                  <c:v>0.32000000000000012</c:v>
                </c:pt>
                <c:pt idx="13">
                  <c:v>0.34700000000000009</c:v>
                </c:pt>
                <c:pt idx="14">
                  <c:v>0.34</c:v>
                </c:pt>
                <c:pt idx="15">
                  <c:v>0.38800000000000012</c:v>
                </c:pt>
                <c:pt idx="16">
                  <c:v>0.42700000000000016</c:v>
                </c:pt>
                <c:pt idx="17">
                  <c:v>0.40400000000000008</c:v>
                </c:pt>
                <c:pt idx="18">
                  <c:v>0.42100000000000015</c:v>
                </c:pt>
                <c:pt idx="19">
                  <c:v>0.45200000000000001</c:v>
                </c:pt>
                <c:pt idx="20">
                  <c:v>0.46</c:v>
                </c:pt>
                <c:pt idx="21">
                  <c:v>0.45</c:v>
                </c:pt>
                <c:pt idx="22">
                  <c:v>0.5</c:v>
                </c:pt>
                <c:pt idx="23">
                  <c:v>0.48400000000000015</c:v>
                </c:pt>
                <c:pt idx="24">
                  <c:v>0.441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DK</c:v>
                </c:pt>
              </c:strCache>
            </c:strRef>
          </c:tx>
          <c:spPr>
            <a:ln w="42534">
              <a:solidFill>
                <a:srgbClr val="000000"/>
              </a:solidFill>
              <a:prstDash val="solid"/>
            </a:ln>
          </c:spPr>
          <c:marker>
            <c:symbol val="circle"/>
            <c:size val="2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3.7438880770700278E-3"/>
                  <c:y val="-4.3778372220921583E-2"/>
                </c:manualLayout>
              </c:layout>
              <c:dLblPos val="r"/>
              <c:showVal val="1"/>
            </c:dLbl>
            <c:dLbl>
              <c:idx val="3"/>
              <c:layout>
                <c:manualLayout>
                  <c:x val="7.0523680948399031E-3"/>
                  <c:y val="-2.9560362742248776E-2"/>
                </c:manualLayout>
              </c:layout>
              <c:dLblPos val="r"/>
              <c:showVal val="1"/>
            </c:dLbl>
            <c:spPr>
              <a:noFill/>
              <a:ln w="28364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Sheet1!$B$5:$Z$5</c:f>
              <c:numCache>
                <c:formatCode>0%</c:formatCode>
                <c:ptCount val="25"/>
                <c:pt idx="0">
                  <c:v>1.0000000000000004E-2</c:v>
                </c:pt>
                <c:pt idx="1">
                  <c:v>1.0000000000000004E-2</c:v>
                </c:pt>
                <c:pt idx="2">
                  <c:v>2.0000000000000007E-2</c:v>
                </c:pt>
                <c:pt idx="3">
                  <c:v>1.0000000000000004E-2</c:v>
                </c:pt>
                <c:pt idx="4">
                  <c:v>1.0000000000000004E-2</c:v>
                </c:pt>
                <c:pt idx="5">
                  <c:v>2.0000000000000009E-3</c:v>
                </c:pt>
                <c:pt idx="6">
                  <c:v>2.0000000000000009E-3</c:v>
                </c:pt>
                <c:pt idx="7">
                  <c:v>2.0000000000000009E-3</c:v>
                </c:pt>
                <c:pt idx="8">
                  <c:v>2.0000000000000009E-3</c:v>
                </c:pt>
                <c:pt idx="9">
                  <c:v>2.0000000000000009E-3</c:v>
                </c:pt>
                <c:pt idx="10">
                  <c:v>2.0000000000000009E-3</c:v>
                </c:pt>
                <c:pt idx="11">
                  <c:v>2.0000000000000009E-3</c:v>
                </c:pt>
                <c:pt idx="12">
                  <c:v>2.0000000000000009E-3</c:v>
                </c:pt>
                <c:pt idx="13">
                  <c:v>5.0000000000000018E-3</c:v>
                </c:pt>
                <c:pt idx="14">
                  <c:v>0</c:v>
                </c:pt>
                <c:pt idx="15">
                  <c:v>3.0000000000000009E-3</c:v>
                </c:pt>
                <c:pt idx="16">
                  <c:v>3.0000000000000009E-3</c:v>
                </c:pt>
                <c:pt idx="17">
                  <c:v>6.0000000000000019E-3</c:v>
                </c:pt>
                <c:pt idx="18">
                  <c:v>6.0000000000000019E-3</c:v>
                </c:pt>
                <c:pt idx="19">
                  <c:v>5.0000000000000018E-3</c:v>
                </c:pt>
                <c:pt idx="20">
                  <c:v>4.0000000000000018E-3</c:v>
                </c:pt>
                <c:pt idx="21">
                  <c:v>7.0000000000000019E-3</c:v>
                </c:pt>
                <c:pt idx="22">
                  <c:v>2.0000000000000009E-3</c:v>
                </c:pt>
                <c:pt idx="23">
                  <c:v>2.0000000000000009E-3</c:v>
                </c:pt>
                <c:pt idx="24">
                  <c:v>3.0000000000000009E-3</c:v>
                </c:pt>
              </c:numCache>
            </c:numRef>
          </c:val>
        </c:ser>
        <c:dLbls>
          <c:showVal val="1"/>
        </c:dLbls>
        <c:marker val="1"/>
        <c:axId val="129556864"/>
        <c:axId val="129558400"/>
      </c:lineChart>
      <c:catAx>
        <c:axId val="129556864"/>
        <c:scaling>
          <c:orientation val="minMax"/>
        </c:scaling>
        <c:axPos val="b"/>
        <c:numFmt formatCode="General" sourceLinked="1"/>
        <c:tickLblPos val="nextTo"/>
        <c:spPr>
          <a:ln w="3549">
            <a:solidFill>
              <a:schemeClr val="tx1"/>
            </a:solidFill>
            <a:prstDash val="solid"/>
          </a:ln>
        </c:spPr>
        <c:txPr>
          <a:bodyPr rot="-2700000" vert="horz"/>
          <a:lstStyle/>
          <a:p>
            <a:pPr>
              <a:defRPr sz="1200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29558400"/>
        <c:crosses val="autoZero"/>
        <c:auto val="1"/>
        <c:lblAlgn val="ctr"/>
        <c:lblOffset val="100"/>
        <c:tickLblSkip val="1"/>
        <c:tickMarkSkip val="1"/>
      </c:catAx>
      <c:valAx>
        <c:axId val="129558400"/>
        <c:scaling>
          <c:orientation val="minMax"/>
        </c:scaling>
        <c:axPos val="l"/>
        <c:numFmt formatCode="0%" sourceLinked="1"/>
        <c:tickLblPos val="nextTo"/>
        <c:spPr>
          <a:ln w="3549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41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29556864"/>
        <c:crosses val="autoZero"/>
        <c:crossBetween val="between"/>
      </c:valAx>
      <c:spPr>
        <a:noFill/>
        <a:ln w="14182">
          <a:solidFill>
            <a:schemeClr val="tx1"/>
          </a:solidFill>
          <a:prstDash val="solid"/>
        </a:ln>
      </c:spPr>
    </c:plotArea>
    <c:legend>
      <c:legendPos val="b"/>
      <c:layout>
        <c:manualLayout>
          <c:xMode val="edge"/>
          <c:yMode val="edge"/>
          <c:x val="0.31518363973904617"/>
          <c:y val="7.7899857112455534E-2"/>
          <c:w val="0.39330027759833763"/>
          <c:h val="6.3980988862878674E-2"/>
        </c:manualLayout>
      </c:layout>
      <c:spPr>
        <a:noFill/>
        <a:ln w="3549">
          <a:solidFill>
            <a:schemeClr val="tx1"/>
          </a:solidFill>
          <a:prstDash val="solid"/>
        </a:ln>
      </c:spPr>
      <c:txPr>
        <a:bodyPr/>
        <a:lstStyle/>
        <a:p>
          <a:pPr>
            <a:defRPr sz="1229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2012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7.0719602977667509E-2"/>
          <c:y val="1.7787512476433405E-2"/>
          <c:w val="0.91563275434243152"/>
          <c:h val="0.77157739085431221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Better</c:v>
                </c:pt>
              </c:strCache>
            </c:strRef>
          </c:tx>
          <c:spPr>
            <a:ln w="41885">
              <a:solidFill>
                <a:srgbClr val="0000FF"/>
              </a:solidFill>
              <a:prstDash val="solid"/>
            </a:ln>
          </c:spPr>
          <c:marker>
            <c:symbol val="diamond"/>
            <c:size val="2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4.4467736949999051E-3"/>
                  <c:y val="-5.2030117413816933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-4.2380679270094083E-3"/>
                  <c:y val="-4.5710935513944534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7.2473313088219124E-4"/>
                  <c:y val="-4.0339663836660523E-2"/>
                </c:manualLayout>
              </c:layout>
              <c:dLblPos val="r"/>
              <c:showVal val="1"/>
            </c:dLbl>
            <c:dLbl>
              <c:idx val="3"/>
              <c:layout>
                <c:manualLayout>
                  <c:x val="-1.7567506816429201E-3"/>
                  <c:y val="-4.2235469389836064E-2"/>
                </c:manualLayout>
              </c:layout>
              <c:dLblPos val="r"/>
              <c:showVal val="1"/>
            </c:dLbl>
            <c:spPr>
              <a:noFill/>
              <a:ln w="27923">
                <a:noFill/>
              </a:ln>
            </c:spPr>
            <c:txPr>
              <a:bodyPr/>
              <a:lstStyle/>
              <a:p>
                <a:pPr>
                  <a:defRPr sz="139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Sheet1!$B$2:$Z$2</c:f>
              <c:numCache>
                <c:formatCode>0%</c:formatCode>
                <c:ptCount val="25"/>
                <c:pt idx="0">
                  <c:v>0.18000000000000005</c:v>
                </c:pt>
                <c:pt idx="1">
                  <c:v>0.23</c:v>
                </c:pt>
                <c:pt idx="2">
                  <c:v>0.22</c:v>
                </c:pt>
                <c:pt idx="3">
                  <c:v>0.25</c:v>
                </c:pt>
                <c:pt idx="4">
                  <c:v>0.37000000000000011</c:v>
                </c:pt>
                <c:pt idx="5">
                  <c:v>0.34</c:v>
                </c:pt>
                <c:pt idx="6">
                  <c:v>0.3600000000000001</c:v>
                </c:pt>
                <c:pt idx="7">
                  <c:v>0.27</c:v>
                </c:pt>
                <c:pt idx="8">
                  <c:v>0.35000000000000009</c:v>
                </c:pt>
                <c:pt idx="9">
                  <c:v>0.27</c:v>
                </c:pt>
                <c:pt idx="10">
                  <c:v>0.31000000000000011</c:v>
                </c:pt>
                <c:pt idx="11">
                  <c:v>0.31200000000000011</c:v>
                </c:pt>
                <c:pt idx="12">
                  <c:v>0.252</c:v>
                </c:pt>
                <c:pt idx="13">
                  <c:v>0.35000000000000009</c:v>
                </c:pt>
                <c:pt idx="14">
                  <c:v>0.32100000000000012</c:v>
                </c:pt>
                <c:pt idx="15">
                  <c:v>0.49300000000000016</c:v>
                </c:pt>
                <c:pt idx="16">
                  <c:v>0.41500000000000009</c:v>
                </c:pt>
                <c:pt idx="17">
                  <c:v>0.39300000000000013</c:v>
                </c:pt>
                <c:pt idx="18">
                  <c:v>0.44</c:v>
                </c:pt>
                <c:pt idx="19">
                  <c:v>0.38200000000000012</c:v>
                </c:pt>
                <c:pt idx="20">
                  <c:v>0.43800000000000011</c:v>
                </c:pt>
                <c:pt idx="21">
                  <c:v>0.37800000000000011</c:v>
                </c:pt>
                <c:pt idx="22">
                  <c:v>0.502</c:v>
                </c:pt>
                <c:pt idx="23">
                  <c:v>0.43200000000000011</c:v>
                </c:pt>
                <c:pt idx="24">
                  <c:v>0.33400000000000013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Worse</c:v>
                </c:pt>
              </c:strCache>
            </c:strRef>
          </c:tx>
          <c:spPr>
            <a:ln w="41885">
              <a:solidFill>
                <a:srgbClr val="FF0000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2.9973950394916859E-3"/>
                  <c:y val="-5.3609748200739257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7.2471122931812933E-4"/>
                  <c:y val="-4.4921097782475362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-1.7566564472816086E-3"/>
                  <c:y val="-6.0718767832081876E-2"/>
                </c:manualLayout>
              </c:layout>
              <c:dLblPos val="r"/>
              <c:showVal val="1"/>
            </c:dLbl>
            <c:dLbl>
              <c:idx val="3"/>
              <c:layout>
                <c:manualLayout>
                  <c:x val="9.4095024200940708E-3"/>
                  <c:y val="-5.1240094846297803E-2"/>
                </c:manualLayout>
              </c:layout>
              <c:dLblPos val="r"/>
              <c:showVal val="1"/>
            </c:dLbl>
            <c:spPr>
              <a:noFill/>
              <a:ln w="27923">
                <a:noFill/>
              </a:ln>
            </c:spPr>
            <c:txPr>
              <a:bodyPr/>
              <a:lstStyle/>
              <a:p>
                <a:pPr>
                  <a:defRPr sz="139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Sheet1!$B$3:$Z$3</c:f>
              <c:numCache>
                <c:formatCode>0%</c:formatCode>
                <c:ptCount val="25"/>
                <c:pt idx="0">
                  <c:v>0.4300000000000001</c:v>
                </c:pt>
                <c:pt idx="1">
                  <c:v>0.33000000000000013</c:v>
                </c:pt>
                <c:pt idx="2">
                  <c:v>0.28000000000000008</c:v>
                </c:pt>
                <c:pt idx="3">
                  <c:v>0.28000000000000008</c:v>
                </c:pt>
                <c:pt idx="4">
                  <c:v>0.28000000000000008</c:v>
                </c:pt>
                <c:pt idx="5">
                  <c:v>0.34</c:v>
                </c:pt>
                <c:pt idx="6">
                  <c:v>0.35000000000000009</c:v>
                </c:pt>
                <c:pt idx="7">
                  <c:v>0.37000000000000011</c:v>
                </c:pt>
                <c:pt idx="8">
                  <c:v>0.29000000000000009</c:v>
                </c:pt>
                <c:pt idx="9">
                  <c:v>0.37000000000000011</c:v>
                </c:pt>
                <c:pt idx="10">
                  <c:v>0.3600000000000001</c:v>
                </c:pt>
                <c:pt idx="11">
                  <c:v>0.34100000000000008</c:v>
                </c:pt>
                <c:pt idx="12">
                  <c:v>0.37700000000000011</c:v>
                </c:pt>
                <c:pt idx="13">
                  <c:v>0.26400000000000001</c:v>
                </c:pt>
                <c:pt idx="14">
                  <c:v>0.2950000000000001</c:v>
                </c:pt>
                <c:pt idx="15">
                  <c:v>0.126</c:v>
                </c:pt>
                <c:pt idx="16">
                  <c:v>0.16800000000000001</c:v>
                </c:pt>
                <c:pt idx="17">
                  <c:v>0.17600000000000005</c:v>
                </c:pt>
                <c:pt idx="18">
                  <c:v>0.15100000000000005</c:v>
                </c:pt>
                <c:pt idx="19">
                  <c:v>0.20700000000000005</c:v>
                </c:pt>
                <c:pt idx="20">
                  <c:v>0.18100000000000005</c:v>
                </c:pt>
                <c:pt idx="21">
                  <c:v>0.18700000000000006</c:v>
                </c:pt>
                <c:pt idx="22">
                  <c:v>0.14600000000000005</c:v>
                </c:pt>
                <c:pt idx="23">
                  <c:v>0.15200000000000005</c:v>
                </c:pt>
                <c:pt idx="24">
                  <c:v>0.30800000000000011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Same</c:v>
                </c:pt>
              </c:strCache>
            </c:strRef>
          </c:tx>
          <c:spPr>
            <a:ln w="41885">
              <a:solidFill>
                <a:srgbClr val="008080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008080"/>
              </a:solidFill>
              <a:ln>
                <a:solidFill>
                  <a:srgbClr val="00808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7.2468932775399033E-4"/>
                  <c:y val="-5.4083810622063432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5.6874903856455813E-3"/>
                  <c:y val="-3.7022085367624892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3.2061227090460272E-3"/>
                  <c:y val="-3.639015018323296E-2"/>
                </c:manualLayout>
              </c:layout>
              <c:dLblPos val="r"/>
              <c:showVal val="1"/>
            </c:dLbl>
            <c:dLbl>
              <c:idx val="3"/>
              <c:layout>
                <c:manualLayout>
                  <c:x val="1.6853671154585501E-2"/>
                  <c:y val="-4.5237072820673324E-2"/>
                </c:manualLayout>
              </c:layout>
              <c:dLblPos val="r"/>
              <c:showVal val="1"/>
            </c:dLbl>
            <c:spPr>
              <a:noFill/>
              <a:ln w="27923">
                <a:noFill/>
              </a:ln>
            </c:spPr>
            <c:txPr>
              <a:bodyPr/>
              <a:lstStyle/>
              <a:p>
                <a:pPr>
                  <a:defRPr sz="139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Sheet1!$B$4:$Z$4</c:f>
              <c:numCache>
                <c:formatCode>0%</c:formatCode>
                <c:ptCount val="25"/>
                <c:pt idx="0">
                  <c:v>0.25</c:v>
                </c:pt>
                <c:pt idx="1">
                  <c:v>0.28000000000000008</c:v>
                </c:pt>
                <c:pt idx="2">
                  <c:v>0.27</c:v>
                </c:pt>
                <c:pt idx="3">
                  <c:v>0.26</c:v>
                </c:pt>
                <c:pt idx="4">
                  <c:v>0.27</c:v>
                </c:pt>
                <c:pt idx="5">
                  <c:v>0.27</c:v>
                </c:pt>
                <c:pt idx="6">
                  <c:v>0.25</c:v>
                </c:pt>
                <c:pt idx="7">
                  <c:v>0.31000000000000011</c:v>
                </c:pt>
                <c:pt idx="8">
                  <c:v>0.31000000000000011</c:v>
                </c:pt>
                <c:pt idx="9">
                  <c:v>0.3000000000000001</c:v>
                </c:pt>
                <c:pt idx="10">
                  <c:v>0.29000000000000009</c:v>
                </c:pt>
                <c:pt idx="11">
                  <c:v>0.31200000000000011</c:v>
                </c:pt>
                <c:pt idx="12">
                  <c:v>0.31500000000000011</c:v>
                </c:pt>
                <c:pt idx="13">
                  <c:v>0.33200000000000013</c:v>
                </c:pt>
                <c:pt idx="14">
                  <c:v>0.3000000000000001</c:v>
                </c:pt>
                <c:pt idx="15">
                  <c:v>0.29400000000000009</c:v>
                </c:pt>
                <c:pt idx="16">
                  <c:v>0.34</c:v>
                </c:pt>
                <c:pt idx="17">
                  <c:v>0.35500000000000009</c:v>
                </c:pt>
                <c:pt idx="18">
                  <c:v>0.33100000000000013</c:v>
                </c:pt>
                <c:pt idx="19">
                  <c:v>0.33000000000000013</c:v>
                </c:pt>
                <c:pt idx="20">
                  <c:v>0.31600000000000011</c:v>
                </c:pt>
                <c:pt idx="21">
                  <c:v>0.34500000000000008</c:v>
                </c:pt>
                <c:pt idx="22">
                  <c:v>0.29200000000000009</c:v>
                </c:pt>
                <c:pt idx="23">
                  <c:v>0.3580000000000001</c:v>
                </c:pt>
                <c:pt idx="24">
                  <c:v>0.29400000000000009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DK</c:v>
                </c:pt>
              </c:strCache>
            </c:strRef>
          </c:tx>
          <c:spPr>
            <a:ln w="41885">
              <a:solidFill>
                <a:srgbClr val="000000"/>
              </a:solidFill>
              <a:prstDash val="solid"/>
            </a:ln>
          </c:spPr>
          <c:marker>
            <c:symbol val="circle"/>
            <c:size val="2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5.6874684840817454E-3"/>
                  <c:y val="-3.9391768506075092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9.4095747528913226E-3"/>
                  <c:y val="-3.6548237566360268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1.0650291443537381E-2"/>
                  <c:y val="-4.0971599021052157E-2"/>
                </c:manualLayout>
              </c:layout>
              <c:dLblPos val="r"/>
              <c:showVal val="1"/>
            </c:dLbl>
            <c:dLbl>
              <c:idx val="3"/>
              <c:layout>
                <c:manualLayout>
                  <c:x val="1.6853671154585501E-2"/>
                  <c:y val="-2.7859387420041903E-2"/>
                </c:manualLayout>
              </c:layout>
              <c:dLblPos val="r"/>
              <c:showVal val="1"/>
            </c:dLbl>
            <c:spPr>
              <a:noFill/>
              <a:ln w="27923">
                <a:noFill/>
              </a:ln>
            </c:spPr>
            <c:txPr>
              <a:bodyPr/>
              <a:lstStyle/>
              <a:p>
                <a:pPr>
                  <a:defRPr sz="139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Sheet1!$B$1:$Z$1</c:f>
              <c:strCache>
                <c:ptCount val="25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Apr-05</c:v>
                </c:pt>
                <c:pt idx="12">
                  <c:v>Sep-05</c:v>
                </c:pt>
                <c:pt idx="13">
                  <c:v>Jan-06</c:v>
                </c:pt>
                <c:pt idx="14">
                  <c:v>Mar-06</c:v>
                </c:pt>
                <c:pt idx="15">
                  <c:v>Sep-06</c:v>
                </c:pt>
                <c:pt idx="16">
                  <c:v>Nov-06</c:v>
                </c:pt>
                <c:pt idx="17">
                  <c:v>Mar-07</c:v>
                </c:pt>
                <c:pt idx="18">
                  <c:v>Jun-07</c:v>
                </c:pt>
                <c:pt idx="19">
                  <c:v>Sep-07</c:v>
                </c:pt>
                <c:pt idx="20">
                  <c:v>Dec-07</c:v>
                </c:pt>
                <c:pt idx="21">
                  <c:v>Apr-08</c:v>
                </c:pt>
                <c:pt idx="22">
                  <c:v>Jun-08</c:v>
                </c:pt>
                <c:pt idx="23">
                  <c:v>Sep-08</c:v>
                </c:pt>
                <c:pt idx="24">
                  <c:v>Dec-08</c:v>
                </c:pt>
              </c:strCache>
            </c:strRef>
          </c:cat>
          <c:val>
            <c:numRef>
              <c:f>Sheet1!$B$5:$Z$5</c:f>
              <c:numCache>
                <c:formatCode>0%</c:formatCode>
                <c:ptCount val="25"/>
                <c:pt idx="0">
                  <c:v>0.13</c:v>
                </c:pt>
                <c:pt idx="1">
                  <c:v>0.16</c:v>
                </c:pt>
                <c:pt idx="2">
                  <c:v>0.23</c:v>
                </c:pt>
                <c:pt idx="3">
                  <c:v>0.21000000000000005</c:v>
                </c:pt>
                <c:pt idx="4">
                  <c:v>8.0000000000000029E-2</c:v>
                </c:pt>
                <c:pt idx="5">
                  <c:v>0.05</c:v>
                </c:pt>
                <c:pt idx="6">
                  <c:v>0.05</c:v>
                </c:pt>
                <c:pt idx="7">
                  <c:v>0.05</c:v>
                </c:pt>
                <c:pt idx="8">
                  <c:v>0.05</c:v>
                </c:pt>
                <c:pt idx="9">
                  <c:v>6.0000000000000019E-2</c:v>
                </c:pt>
                <c:pt idx="10">
                  <c:v>4.0000000000000015E-2</c:v>
                </c:pt>
                <c:pt idx="11">
                  <c:v>3.500000000000001E-2</c:v>
                </c:pt>
                <c:pt idx="12">
                  <c:v>5.5000000000000014E-2</c:v>
                </c:pt>
                <c:pt idx="13">
                  <c:v>5.3999999999999999E-2</c:v>
                </c:pt>
                <c:pt idx="14">
                  <c:v>8.2000000000000003E-2</c:v>
                </c:pt>
                <c:pt idx="15">
                  <c:v>8.5000000000000006E-2</c:v>
                </c:pt>
                <c:pt idx="16">
                  <c:v>7.6999999999999999E-2</c:v>
                </c:pt>
                <c:pt idx="17">
                  <c:v>7.5999999999999998E-2</c:v>
                </c:pt>
                <c:pt idx="18">
                  <c:v>7.6999999999999999E-2</c:v>
                </c:pt>
                <c:pt idx="19">
                  <c:v>8.1000000000000003E-2</c:v>
                </c:pt>
                <c:pt idx="20">
                  <c:v>6.5000000000000002E-2</c:v>
                </c:pt>
                <c:pt idx="21">
                  <c:v>9.0000000000000024E-2</c:v>
                </c:pt>
                <c:pt idx="22">
                  <c:v>6.1000000000000013E-2</c:v>
                </c:pt>
                <c:pt idx="23">
                  <c:v>5.8000000000000003E-2</c:v>
                </c:pt>
                <c:pt idx="24">
                  <c:v>6.5000000000000002E-2</c:v>
                </c:pt>
              </c:numCache>
            </c:numRef>
          </c:val>
          <c:smooth val="1"/>
        </c:ser>
        <c:dLbls>
          <c:showVal val="1"/>
        </c:dLbls>
        <c:marker val="1"/>
        <c:axId val="132919680"/>
        <c:axId val="132921216"/>
      </c:lineChart>
      <c:catAx>
        <c:axId val="132919680"/>
        <c:scaling>
          <c:orientation val="minMax"/>
        </c:scaling>
        <c:axPos val="b"/>
        <c:numFmt formatCode="@" sourceLinked="1"/>
        <c:tickLblPos val="nextTo"/>
        <c:spPr>
          <a:ln w="3493">
            <a:solidFill>
              <a:schemeClr val="tx1"/>
            </a:solidFill>
            <a:prstDash val="solid"/>
          </a:ln>
        </c:spPr>
        <c:txPr>
          <a:bodyPr rot="-2700000" vert="horz"/>
          <a:lstStyle/>
          <a:p>
            <a:pPr>
              <a:defRPr sz="1317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32921216"/>
        <c:crosses val="autoZero"/>
        <c:auto val="1"/>
        <c:lblAlgn val="ctr"/>
        <c:lblOffset val="100"/>
        <c:tickLblSkip val="1"/>
        <c:tickMarkSkip val="1"/>
      </c:catAx>
      <c:valAx>
        <c:axId val="132921216"/>
        <c:scaling>
          <c:orientation val="minMax"/>
        </c:scaling>
        <c:axPos val="l"/>
        <c:numFmt formatCode="0%" sourceLinked="1"/>
        <c:tickLblPos val="nextTo"/>
        <c:spPr>
          <a:ln w="3493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17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32919680"/>
        <c:crosses val="autoZero"/>
        <c:crossBetween val="between"/>
      </c:valAx>
      <c:spPr>
        <a:noFill/>
        <a:ln w="13962">
          <a:solidFill>
            <a:schemeClr val="tx1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29181583845643455"/>
          <c:y val="5.778417482760894E-2"/>
          <c:w val="0.39330021666754744"/>
          <c:h val="6.3981034628735972E-2"/>
        </c:manualLayout>
      </c:layout>
      <c:spPr>
        <a:noFill/>
        <a:ln w="3493">
          <a:solidFill>
            <a:schemeClr val="tx1"/>
          </a:solidFill>
          <a:prstDash val="solid"/>
        </a:ln>
      </c:spPr>
      <c:txPr>
        <a:bodyPr/>
        <a:lstStyle/>
        <a:p>
          <a:pPr>
            <a:defRPr sz="1207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982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5.7071960297766774E-2"/>
          <c:y val="1.8303092548214085E-2"/>
          <c:w val="0.91563275434243152"/>
          <c:h val="0.76700559169234284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Today</c:v>
                </c:pt>
              </c:strCache>
            </c:strRef>
          </c:tx>
          <c:spPr>
            <a:ln w="41783">
              <a:solidFill>
                <a:srgbClr val="0000FF"/>
              </a:solidFill>
              <a:prstDash val="solid"/>
            </a:ln>
          </c:spPr>
          <c:marker>
            <c:symbol val="diamond"/>
            <c:size val="2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dLbls>
            <c:dLbl>
              <c:idx val="15"/>
              <c:layout>
                <c:manualLayout>
                  <c:x val="-1.1904761904761921E-2"/>
                  <c:y val="-1.4492753623188409E-2"/>
                </c:manualLayout>
              </c:layout>
              <c:dLblPos val="r"/>
              <c:showVal val="1"/>
            </c:dLbl>
            <c:dLbl>
              <c:idx val="16"/>
              <c:layout>
                <c:manualLayout>
                  <c:x val="-2.5297619047618951E-2"/>
                  <c:y val="-2.4154589371980294E-2"/>
                </c:manualLayout>
              </c:layout>
              <c:dLblPos val="r"/>
              <c:showVal val="1"/>
            </c:dLbl>
            <c:spPr>
              <a:noFill/>
              <a:ln w="27864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Sheet1!$B$2:$V$2</c:f>
              <c:numCache>
                <c:formatCode>0%</c:formatCode>
                <c:ptCount val="21"/>
                <c:pt idx="0">
                  <c:v>0.12000000000000002</c:v>
                </c:pt>
                <c:pt idx="1">
                  <c:v>0.1</c:v>
                </c:pt>
                <c:pt idx="2">
                  <c:v>0.14000000000000001</c:v>
                </c:pt>
                <c:pt idx="3">
                  <c:v>0.1</c:v>
                </c:pt>
                <c:pt idx="4">
                  <c:v>0.14000000000000001</c:v>
                </c:pt>
                <c:pt idx="5">
                  <c:v>0.13</c:v>
                </c:pt>
                <c:pt idx="6">
                  <c:v>0.14000000000000001</c:v>
                </c:pt>
                <c:pt idx="7">
                  <c:v>0.15100000000000005</c:v>
                </c:pt>
                <c:pt idx="8">
                  <c:v>0.15800000000000006</c:v>
                </c:pt>
                <c:pt idx="9">
                  <c:v>0.17500000000000004</c:v>
                </c:pt>
                <c:pt idx="10">
                  <c:v>0.18500000000000005</c:v>
                </c:pt>
                <c:pt idx="11">
                  <c:v>0.16900000000000001</c:v>
                </c:pt>
                <c:pt idx="12">
                  <c:v>0.17100000000000001</c:v>
                </c:pt>
                <c:pt idx="13">
                  <c:v>0.11700000000000002</c:v>
                </c:pt>
                <c:pt idx="14">
                  <c:v>0.18000000000000005</c:v>
                </c:pt>
                <c:pt idx="15">
                  <c:v>0.15400000000000005</c:v>
                </c:pt>
                <c:pt idx="16">
                  <c:v>0.16</c:v>
                </c:pt>
                <c:pt idx="17">
                  <c:v>0.18600000000000005</c:v>
                </c:pt>
                <c:pt idx="18">
                  <c:v>0.21700000000000005</c:v>
                </c:pt>
                <c:pt idx="19">
                  <c:v>0.20300000000000001</c:v>
                </c:pt>
                <c:pt idx="20">
                  <c:v>0.20700000000000005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Before breakup</c:v>
                </c:pt>
              </c:strCache>
            </c:strRef>
          </c:tx>
          <c:spPr>
            <a:ln w="41783">
              <a:solidFill>
                <a:srgbClr val="FF0000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dLbl>
              <c:idx val="15"/>
              <c:layout>
                <c:manualLayout>
                  <c:x val="-1.1904761904761921E-2"/>
                  <c:y val="-1.6908212560386472E-2"/>
                </c:manualLayout>
              </c:layout>
              <c:dLblPos val="r"/>
              <c:showVal val="1"/>
            </c:dLbl>
            <c:spPr>
              <a:noFill/>
              <a:ln w="27864">
                <a:noFill/>
              </a:ln>
            </c:spPr>
            <c:txPr>
              <a:bodyPr anchor="t" anchorCtr="0"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Sheet1!$B$3:$V$3</c:f>
              <c:numCache>
                <c:formatCode>0%</c:formatCode>
                <c:ptCount val="21"/>
                <c:pt idx="0">
                  <c:v>0.84000000000000019</c:v>
                </c:pt>
                <c:pt idx="1">
                  <c:v>0.84000000000000019</c:v>
                </c:pt>
                <c:pt idx="2">
                  <c:v>0.8</c:v>
                </c:pt>
                <c:pt idx="3">
                  <c:v>0.84000000000000019</c:v>
                </c:pt>
                <c:pt idx="4">
                  <c:v>0.78</c:v>
                </c:pt>
                <c:pt idx="5">
                  <c:v>0.82000000000000017</c:v>
                </c:pt>
                <c:pt idx="6">
                  <c:v>0.8</c:v>
                </c:pt>
                <c:pt idx="7">
                  <c:v>0.78800000000000003</c:v>
                </c:pt>
                <c:pt idx="8">
                  <c:v>0.75800000000000023</c:v>
                </c:pt>
                <c:pt idx="9">
                  <c:v>0.74400000000000022</c:v>
                </c:pt>
                <c:pt idx="10">
                  <c:v>0.72000000013148024</c:v>
                </c:pt>
                <c:pt idx="11">
                  <c:v>0.72300000013148025</c:v>
                </c:pt>
                <c:pt idx="12">
                  <c:v>0.71900000000000019</c:v>
                </c:pt>
                <c:pt idx="13">
                  <c:v>0.79500000000000004</c:v>
                </c:pt>
                <c:pt idx="14">
                  <c:v>0.71000000000000019</c:v>
                </c:pt>
                <c:pt idx="15">
                  <c:v>0.71000000000000019</c:v>
                </c:pt>
                <c:pt idx="16">
                  <c:v>0.70000000000000018</c:v>
                </c:pt>
                <c:pt idx="17">
                  <c:v>0.69499999999999995</c:v>
                </c:pt>
                <c:pt idx="18">
                  <c:v>0.66600000000000026</c:v>
                </c:pt>
                <c:pt idx="19">
                  <c:v>0.69599999999999995</c:v>
                </c:pt>
                <c:pt idx="20">
                  <c:v>0.68300000000000005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DK</c:v>
                </c:pt>
              </c:strCache>
            </c:strRef>
          </c:tx>
          <c:spPr>
            <a:ln w="41783">
              <a:solidFill>
                <a:srgbClr val="808080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808080"/>
              </a:solidFill>
              <a:ln>
                <a:solidFill>
                  <a:srgbClr val="808080"/>
                </a:solidFill>
                <a:prstDash val="solid"/>
              </a:ln>
            </c:spPr>
          </c:marker>
          <c:dLbls>
            <c:dLbl>
              <c:idx val="15"/>
              <c:layout>
                <c:manualLayout>
                  <c:x val="4.464285714285714E-3"/>
                  <c:y val="3.6231884057971092E-2"/>
                </c:manualLayout>
              </c:layout>
              <c:dLblPos val="r"/>
              <c:showVal val="1"/>
            </c:dLbl>
            <c:dLbl>
              <c:idx val="16"/>
              <c:layout>
                <c:manualLayout>
                  <c:x val="0"/>
                  <c:y val="3.1400966183575643E-2"/>
                </c:manualLayout>
              </c:layout>
              <c:dLblPos val="r"/>
              <c:showVal val="1"/>
            </c:dLbl>
            <c:spPr>
              <a:noFill/>
              <a:ln w="27864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Sheet1!$B$4:$V$4</c:f>
              <c:numCache>
                <c:formatCode>0%</c:formatCode>
                <c:ptCount val="21"/>
                <c:pt idx="0">
                  <c:v>4.0000000000000015E-2</c:v>
                </c:pt>
                <c:pt idx="1">
                  <c:v>0.05</c:v>
                </c:pt>
                <c:pt idx="2">
                  <c:v>0.05</c:v>
                </c:pt>
                <c:pt idx="3">
                  <c:v>6.0000000000000019E-2</c:v>
                </c:pt>
                <c:pt idx="4">
                  <c:v>7.0000000000000021E-2</c:v>
                </c:pt>
                <c:pt idx="5">
                  <c:v>0.05</c:v>
                </c:pt>
                <c:pt idx="6">
                  <c:v>0.05</c:v>
                </c:pt>
                <c:pt idx="7">
                  <c:v>0.05</c:v>
                </c:pt>
                <c:pt idx="8">
                  <c:v>7.5000000000000011E-2</c:v>
                </c:pt>
                <c:pt idx="9">
                  <c:v>8.2000000000000003E-2</c:v>
                </c:pt>
                <c:pt idx="10">
                  <c:v>9.6000000000000002E-2</c:v>
                </c:pt>
                <c:pt idx="11">
                  <c:v>0.11</c:v>
                </c:pt>
                <c:pt idx="12">
                  <c:v>0.11</c:v>
                </c:pt>
                <c:pt idx="13">
                  <c:v>8.8000000000000037E-2</c:v>
                </c:pt>
                <c:pt idx="14">
                  <c:v>0.10900000000000003</c:v>
                </c:pt>
                <c:pt idx="15">
                  <c:v>0.14700000000000005</c:v>
                </c:pt>
                <c:pt idx="16">
                  <c:v>0.14000000000000001</c:v>
                </c:pt>
                <c:pt idx="17">
                  <c:v>0.11899999999999998</c:v>
                </c:pt>
                <c:pt idx="18">
                  <c:v>0.11700000000000002</c:v>
                </c:pt>
                <c:pt idx="19">
                  <c:v>0.10100000000000002</c:v>
                </c:pt>
                <c:pt idx="20">
                  <c:v>0.11</c:v>
                </c:pt>
              </c:numCache>
            </c:numRef>
          </c:val>
          <c:smooth val="1"/>
        </c:ser>
        <c:dLbls>
          <c:showVal val="1"/>
        </c:dLbls>
        <c:marker val="1"/>
        <c:axId val="131940736"/>
        <c:axId val="131942272"/>
      </c:lineChart>
      <c:catAx>
        <c:axId val="131940736"/>
        <c:scaling>
          <c:orientation val="minMax"/>
        </c:scaling>
        <c:axPos val="b"/>
        <c:numFmt formatCode="@" sourceLinked="1"/>
        <c:tickLblPos val="nextTo"/>
        <c:spPr>
          <a:ln w="348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18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31942272"/>
        <c:crosses val="autoZero"/>
        <c:auto val="1"/>
        <c:lblAlgn val="ctr"/>
        <c:lblOffset val="100"/>
        <c:tickLblSkip val="1"/>
        <c:tickMarkSkip val="1"/>
      </c:catAx>
      <c:valAx>
        <c:axId val="131942272"/>
        <c:scaling>
          <c:orientation val="minMax"/>
        </c:scaling>
        <c:axPos val="l"/>
        <c:numFmt formatCode="0%" sourceLinked="1"/>
        <c:tickLblPos val="nextTo"/>
        <c:spPr>
          <a:ln w="348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18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31940736"/>
        <c:crosses val="autoZero"/>
        <c:crossBetween val="between"/>
      </c:valAx>
      <c:spPr>
        <a:noFill/>
        <a:ln w="25398">
          <a:noFill/>
        </a:ln>
      </c:spPr>
    </c:plotArea>
    <c:legend>
      <c:legendPos val="b"/>
      <c:layout>
        <c:manualLayout>
          <c:xMode val="edge"/>
          <c:yMode val="edge"/>
          <c:x val="0.34615381880876628"/>
          <c:y val="0.92654037249033938"/>
          <c:w val="0.37096769224388715"/>
          <c:h val="6.3980978392460641E-2"/>
        </c:manualLayout>
      </c:layout>
      <c:spPr>
        <a:solidFill>
          <a:schemeClr val="bg1"/>
        </a:solidFill>
        <a:ln w="3486">
          <a:solidFill>
            <a:schemeClr val="tx1"/>
          </a:solidFill>
          <a:prstDash val="solid"/>
        </a:ln>
      </c:spPr>
      <c:txPr>
        <a:bodyPr/>
        <a:lstStyle/>
        <a:p>
          <a:pPr>
            <a:defRPr sz="1208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976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6.9478908188585611E-2"/>
          <c:y val="0.13033175355450238"/>
          <c:w val="0.91811414392059554"/>
          <c:h val="0.70379146919432634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Support</c:v>
                </c:pt>
              </c:strCache>
            </c:strRef>
          </c:tx>
          <c:spPr>
            <a:ln w="42728">
              <a:solidFill>
                <a:srgbClr val="0000FF"/>
              </a:solidFill>
              <a:prstDash val="solid"/>
            </a:ln>
          </c:spPr>
          <c:marker>
            <c:symbol val="diamond"/>
            <c:size val="2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1.24213539954393E-2"/>
                  <c:y val="-9.6457729513668346E-3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-2.5241834534951192E-2"/>
                  <c:y val="-7.7838899499907124E-3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-3.6821734401551412E-2"/>
                  <c:y val="-1.2083265954314974E-2"/>
                </c:manualLayout>
              </c:layout>
              <c:dLblPos val="r"/>
              <c:showVal val="1"/>
            </c:dLbl>
            <c:spPr>
              <a:noFill/>
              <a:ln w="28493">
                <a:noFill/>
              </a:ln>
            </c:spPr>
            <c:txPr>
              <a:bodyPr/>
              <a:lstStyle/>
              <a:p>
                <a:pPr>
                  <a:defRPr sz="1399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Sheet1!$B$1:$X$1</c:f>
              <c:strCache>
                <c:ptCount val="22"/>
                <c:pt idx="0">
                  <c:v>Dec-01</c:v>
                </c:pt>
                <c:pt idx="1">
                  <c:v>Jun-02</c:v>
                </c:pt>
                <c:pt idx="2">
                  <c:v>Jun-03</c:v>
                </c:pt>
                <c:pt idx="3">
                  <c:v>Sep-03</c:v>
                </c:pt>
                <c:pt idx="4">
                  <c:v>Mar-04</c:v>
                </c:pt>
                <c:pt idx="5">
                  <c:v>Jun-04</c:v>
                </c:pt>
                <c:pt idx="6">
                  <c:v>Oct-04</c:v>
                </c:pt>
                <c:pt idx="7">
                  <c:v>Dec-04</c:v>
                </c:pt>
                <c:pt idx="8">
                  <c:v>Apr-05</c:v>
                </c:pt>
                <c:pt idx="9">
                  <c:v>Sep-05</c:v>
                </c:pt>
                <c:pt idx="10">
                  <c:v>Jan-06</c:v>
                </c:pt>
                <c:pt idx="11">
                  <c:v>Mar-06</c:v>
                </c:pt>
                <c:pt idx="12">
                  <c:v>Sep-06</c:v>
                </c:pt>
                <c:pt idx="13">
                  <c:v>Nov-06</c:v>
                </c:pt>
                <c:pt idx="14">
                  <c:v>Mar-07</c:v>
                </c:pt>
                <c:pt idx="15">
                  <c:v>Jun-07</c:v>
                </c:pt>
                <c:pt idx="16">
                  <c:v>Sep-07</c:v>
                </c:pt>
                <c:pt idx="17">
                  <c:v>Dec-07</c:v>
                </c:pt>
                <c:pt idx="18">
                  <c:v>Apr-08</c:v>
                </c:pt>
                <c:pt idx="19">
                  <c:v>Jun-08</c:v>
                </c:pt>
                <c:pt idx="20">
                  <c:v>Sep-08</c:v>
                </c:pt>
                <c:pt idx="21">
                  <c:v>Dec-08</c:v>
                </c:pt>
              </c:strCache>
            </c:strRef>
          </c:cat>
          <c:val>
            <c:numRef>
              <c:f>Sheet1!$B$2:$X$2</c:f>
              <c:numCache>
                <c:formatCode>0%</c:formatCode>
                <c:ptCount val="22"/>
                <c:pt idx="0">
                  <c:v>0.4900000000000001</c:v>
                </c:pt>
                <c:pt idx="1">
                  <c:v>0.44</c:v>
                </c:pt>
                <c:pt idx="2">
                  <c:v>0.53</c:v>
                </c:pt>
                <c:pt idx="3">
                  <c:v>0.55000000000000004</c:v>
                </c:pt>
                <c:pt idx="4">
                  <c:v>0.46</c:v>
                </c:pt>
                <c:pt idx="5">
                  <c:v>0.56000000000000005</c:v>
                </c:pt>
                <c:pt idx="6">
                  <c:v>0.56000000000000005</c:v>
                </c:pt>
                <c:pt idx="7">
                  <c:v>0.52</c:v>
                </c:pt>
                <c:pt idx="8">
                  <c:v>0.52</c:v>
                </c:pt>
                <c:pt idx="9">
                  <c:v>0.47000000000000008</c:v>
                </c:pt>
                <c:pt idx="10">
                  <c:v>0.51300000000000001</c:v>
                </c:pt>
                <c:pt idx="11">
                  <c:v>0.50600000000000001</c:v>
                </c:pt>
                <c:pt idx="12">
                  <c:v>0.58499999999999996</c:v>
                </c:pt>
                <c:pt idx="13">
                  <c:v>0.52400000000000002</c:v>
                </c:pt>
                <c:pt idx="14">
                  <c:v>0.51500000000000001</c:v>
                </c:pt>
                <c:pt idx="15">
                  <c:v>0.53700000000000003</c:v>
                </c:pt>
                <c:pt idx="16">
                  <c:v>0.53500000000000003</c:v>
                </c:pt>
                <c:pt idx="17">
                  <c:v>0.5</c:v>
                </c:pt>
                <c:pt idx="18">
                  <c:v>0.55500000000000005</c:v>
                </c:pt>
                <c:pt idx="19">
                  <c:v>0.51600000000000001</c:v>
                </c:pt>
                <c:pt idx="20">
                  <c:v>0.56000000000000005</c:v>
                </c:pt>
                <c:pt idx="21">
                  <c:v>0.53900000000000003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Oppose</c:v>
                </c:pt>
              </c:strCache>
            </c:strRef>
          </c:tx>
          <c:spPr>
            <a:ln w="42728">
              <a:solidFill>
                <a:srgbClr val="FF0000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1.611462615344407E-2"/>
                  <c:y val="-1.3098836444453433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3.2941456139322272E-3"/>
                  <c:y val="-1.4385109444258137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1.5287446739887883E-2"/>
                  <c:y val="-1.4825268771605858E-2"/>
                </c:manualLayout>
              </c:layout>
              <c:dLblPos val="r"/>
              <c:showVal val="1"/>
            </c:dLbl>
            <c:spPr>
              <a:noFill/>
              <a:ln w="28493">
                <a:noFill/>
              </a:ln>
            </c:spPr>
            <c:txPr>
              <a:bodyPr/>
              <a:lstStyle/>
              <a:p>
                <a:pPr>
                  <a:defRPr sz="1399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Sheet1!$B$1:$X$1</c:f>
              <c:strCache>
                <c:ptCount val="22"/>
                <c:pt idx="0">
                  <c:v>Dec-01</c:v>
                </c:pt>
                <c:pt idx="1">
                  <c:v>Jun-02</c:v>
                </c:pt>
                <c:pt idx="2">
                  <c:v>Jun-03</c:v>
                </c:pt>
                <c:pt idx="3">
                  <c:v>Sep-03</c:v>
                </c:pt>
                <c:pt idx="4">
                  <c:v>Mar-04</c:v>
                </c:pt>
                <c:pt idx="5">
                  <c:v>Jun-04</c:v>
                </c:pt>
                <c:pt idx="6">
                  <c:v>Oct-04</c:v>
                </c:pt>
                <c:pt idx="7">
                  <c:v>Dec-04</c:v>
                </c:pt>
                <c:pt idx="8">
                  <c:v>Apr-05</c:v>
                </c:pt>
                <c:pt idx="9">
                  <c:v>Sep-05</c:v>
                </c:pt>
                <c:pt idx="10">
                  <c:v>Jan-06</c:v>
                </c:pt>
                <c:pt idx="11">
                  <c:v>Mar-06</c:v>
                </c:pt>
                <c:pt idx="12">
                  <c:v>Sep-06</c:v>
                </c:pt>
                <c:pt idx="13">
                  <c:v>Nov-06</c:v>
                </c:pt>
                <c:pt idx="14">
                  <c:v>Mar-07</c:v>
                </c:pt>
                <c:pt idx="15">
                  <c:v>Jun-07</c:v>
                </c:pt>
                <c:pt idx="16">
                  <c:v>Sep-07</c:v>
                </c:pt>
                <c:pt idx="17">
                  <c:v>Dec-07</c:v>
                </c:pt>
                <c:pt idx="18">
                  <c:v>Apr-08</c:v>
                </c:pt>
                <c:pt idx="19">
                  <c:v>Jun-08</c:v>
                </c:pt>
                <c:pt idx="20">
                  <c:v>Sep-08</c:v>
                </c:pt>
                <c:pt idx="21">
                  <c:v>Dec-08</c:v>
                </c:pt>
              </c:strCache>
            </c:strRef>
          </c:cat>
          <c:val>
            <c:numRef>
              <c:f>Sheet1!$B$3:$X$3</c:f>
              <c:numCache>
                <c:formatCode>0%</c:formatCode>
                <c:ptCount val="22"/>
                <c:pt idx="0">
                  <c:v>0.4300000000000001</c:v>
                </c:pt>
                <c:pt idx="1">
                  <c:v>0.4900000000000001</c:v>
                </c:pt>
                <c:pt idx="2">
                  <c:v>0.4</c:v>
                </c:pt>
                <c:pt idx="3">
                  <c:v>0.4</c:v>
                </c:pt>
                <c:pt idx="4">
                  <c:v>0.48000000000000009</c:v>
                </c:pt>
                <c:pt idx="5">
                  <c:v>0.38000000000000012</c:v>
                </c:pt>
                <c:pt idx="6">
                  <c:v>0.38000000000000012</c:v>
                </c:pt>
                <c:pt idx="7">
                  <c:v>0.4300000000000001</c:v>
                </c:pt>
                <c:pt idx="8">
                  <c:v>0.39400000000000013</c:v>
                </c:pt>
                <c:pt idx="9">
                  <c:v>0.41800000000000009</c:v>
                </c:pt>
                <c:pt idx="10">
                  <c:v>0.36300000000000016</c:v>
                </c:pt>
                <c:pt idx="11">
                  <c:v>0.38400000000000012</c:v>
                </c:pt>
                <c:pt idx="12">
                  <c:v>0.28300000000000008</c:v>
                </c:pt>
                <c:pt idx="13">
                  <c:v>0.34900000000000009</c:v>
                </c:pt>
                <c:pt idx="14">
                  <c:v>0.36300000000000016</c:v>
                </c:pt>
                <c:pt idx="15">
                  <c:v>0.32900000000000013</c:v>
                </c:pt>
                <c:pt idx="16">
                  <c:v>0.33400000000000013</c:v>
                </c:pt>
                <c:pt idx="17">
                  <c:v>0.37000000000000011</c:v>
                </c:pt>
                <c:pt idx="18">
                  <c:v>0.33400000000000013</c:v>
                </c:pt>
                <c:pt idx="19">
                  <c:v>0.34</c:v>
                </c:pt>
                <c:pt idx="20">
                  <c:v>0.30600000000000016</c:v>
                </c:pt>
                <c:pt idx="21">
                  <c:v>0.32800000000000012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DK/Und</c:v>
                </c:pt>
              </c:strCache>
            </c:strRef>
          </c:tx>
          <c:spPr>
            <a:ln w="42728">
              <a:solidFill>
                <a:srgbClr val="003300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3.7364904718661012E-3"/>
                  <c:y val="-1.1338386665475687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1.5701093504751146E-2"/>
                  <c:y val="-1.4859076076283055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1.1565362372642211E-2"/>
                  <c:y val="-1.6010097240645185E-2"/>
                </c:manualLayout>
              </c:layout>
              <c:dLblPos val="r"/>
              <c:showVal val="1"/>
            </c:dLbl>
            <c:spPr>
              <a:noFill/>
              <a:ln w="28493">
                <a:noFill/>
              </a:ln>
            </c:spPr>
            <c:txPr>
              <a:bodyPr/>
              <a:lstStyle/>
              <a:p>
                <a:pPr>
                  <a:defRPr sz="1399" b="1" i="0" u="none" strike="noStrike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Sheet1!$B$1:$X$1</c:f>
              <c:strCache>
                <c:ptCount val="22"/>
                <c:pt idx="0">
                  <c:v>Dec-01</c:v>
                </c:pt>
                <c:pt idx="1">
                  <c:v>Jun-02</c:v>
                </c:pt>
                <c:pt idx="2">
                  <c:v>Jun-03</c:v>
                </c:pt>
                <c:pt idx="3">
                  <c:v>Sep-03</c:v>
                </c:pt>
                <c:pt idx="4">
                  <c:v>Mar-04</c:v>
                </c:pt>
                <c:pt idx="5">
                  <c:v>Jun-04</c:v>
                </c:pt>
                <c:pt idx="6">
                  <c:v>Oct-04</c:v>
                </c:pt>
                <c:pt idx="7">
                  <c:v>Dec-04</c:v>
                </c:pt>
                <c:pt idx="8">
                  <c:v>Apr-05</c:v>
                </c:pt>
                <c:pt idx="9">
                  <c:v>Sep-05</c:v>
                </c:pt>
                <c:pt idx="10">
                  <c:v>Jan-06</c:v>
                </c:pt>
                <c:pt idx="11">
                  <c:v>Mar-06</c:v>
                </c:pt>
                <c:pt idx="12">
                  <c:v>Sep-06</c:v>
                </c:pt>
                <c:pt idx="13">
                  <c:v>Nov-06</c:v>
                </c:pt>
                <c:pt idx="14">
                  <c:v>Mar-07</c:v>
                </c:pt>
                <c:pt idx="15">
                  <c:v>Jun-07</c:v>
                </c:pt>
                <c:pt idx="16">
                  <c:v>Sep-07</c:v>
                </c:pt>
                <c:pt idx="17">
                  <c:v>Dec-07</c:v>
                </c:pt>
                <c:pt idx="18">
                  <c:v>Apr-08</c:v>
                </c:pt>
                <c:pt idx="19">
                  <c:v>Jun-08</c:v>
                </c:pt>
                <c:pt idx="20">
                  <c:v>Sep-08</c:v>
                </c:pt>
                <c:pt idx="21">
                  <c:v>Dec-08</c:v>
                </c:pt>
              </c:strCache>
            </c:strRef>
          </c:cat>
          <c:val>
            <c:numRef>
              <c:f>Sheet1!$B$4:$X$4</c:f>
              <c:numCache>
                <c:formatCode>0%</c:formatCode>
                <c:ptCount val="22"/>
                <c:pt idx="0">
                  <c:v>9.0000000000000024E-2</c:v>
                </c:pt>
                <c:pt idx="1">
                  <c:v>7.0000000000000021E-2</c:v>
                </c:pt>
                <c:pt idx="2">
                  <c:v>0.05</c:v>
                </c:pt>
                <c:pt idx="3">
                  <c:v>3.0000000000000002E-2</c:v>
                </c:pt>
                <c:pt idx="4">
                  <c:v>6.0000000000000019E-2</c:v>
                </c:pt>
                <c:pt idx="5">
                  <c:v>6.0000000000000019E-2</c:v>
                </c:pt>
                <c:pt idx="6">
                  <c:v>6.0000000000000019E-2</c:v>
                </c:pt>
                <c:pt idx="7">
                  <c:v>4.0000000000000015E-2</c:v>
                </c:pt>
                <c:pt idx="8">
                  <c:v>8.0000000000000029E-2</c:v>
                </c:pt>
                <c:pt idx="9">
                  <c:v>0.10900000000000003</c:v>
                </c:pt>
                <c:pt idx="10">
                  <c:v>0.125</c:v>
                </c:pt>
                <c:pt idx="11">
                  <c:v>0.10500000000000002</c:v>
                </c:pt>
                <c:pt idx="12">
                  <c:v>0.11899999999999998</c:v>
                </c:pt>
                <c:pt idx="13">
                  <c:v>0.12200000000000003</c:v>
                </c:pt>
                <c:pt idx="14">
                  <c:v>0.11799999999999998</c:v>
                </c:pt>
                <c:pt idx="15">
                  <c:v>0.13300000000000001</c:v>
                </c:pt>
                <c:pt idx="16">
                  <c:v>0.13100000000000001</c:v>
                </c:pt>
                <c:pt idx="17">
                  <c:v>0.14000000000000001</c:v>
                </c:pt>
                <c:pt idx="18">
                  <c:v>0.111</c:v>
                </c:pt>
                <c:pt idx="19">
                  <c:v>0.15000000000000005</c:v>
                </c:pt>
                <c:pt idx="20">
                  <c:v>0.13400000000000001</c:v>
                </c:pt>
                <c:pt idx="21">
                  <c:v>0.13200000000000001</c:v>
                </c:pt>
              </c:numCache>
            </c:numRef>
          </c:val>
          <c:smooth val="1"/>
        </c:ser>
        <c:dLbls>
          <c:showVal val="1"/>
        </c:dLbls>
        <c:marker val="1"/>
        <c:axId val="143277440"/>
        <c:axId val="143295616"/>
      </c:lineChart>
      <c:catAx>
        <c:axId val="143277440"/>
        <c:scaling>
          <c:orientation val="minMax"/>
        </c:scaling>
        <c:axPos val="b"/>
        <c:numFmt formatCode="General" sourceLinked="1"/>
        <c:tickLblPos val="nextTo"/>
        <c:spPr>
          <a:ln w="355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41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3295616"/>
        <c:crosses val="autoZero"/>
        <c:auto val="1"/>
        <c:lblAlgn val="ctr"/>
        <c:lblOffset val="100"/>
        <c:tickLblSkip val="1"/>
        <c:tickMarkSkip val="1"/>
      </c:catAx>
      <c:valAx>
        <c:axId val="143295616"/>
        <c:scaling>
          <c:orientation val="minMax"/>
        </c:scaling>
        <c:axPos val="l"/>
        <c:numFmt formatCode="0%" sourceLinked="1"/>
        <c:tickLblPos val="nextTo"/>
        <c:spPr>
          <a:ln w="355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41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3277440"/>
        <c:crosses val="autoZero"/>
        <c:crossBetween val="between"/>
      </c:valAx>
      <c:spPr>
        <a:noFill/>
        <a:ln w="14247">
          <a:solidFill>
            <a:schemeClr val="tx1"/>
          </a:solidFill>
          <a:prstDash val="solid"/>
        </a:ln>
      </c:spPr>
    </c:plotArea>
    <c:legend>
      <c:legendPos val="t"/>
      <c:layout>
        <c:manualLayout>
          <c:xMode val="edge"/>
          <c:yMode val="edge"/>
          <c:x val="0.35111661042369702"/>
          <c:y val="7.1088899865376642E-3"/>
          <c:w val="0.35483868362608562"/>
          <c:h val="6.3980978392461085E-2"/>
        </c:manualLayout>
      </c:layout>
      <c:spPr>
        <a:noFill/>
        <a:ln w="3556">
          <a:solidFill>
            <a:schemeClr val="tx1"/>
          </a:solidFill>
          <a:prstDash val="solid"/>
        </a:ln>
      </c:spPr>
      <c:txPr>
        <a:bodyPr/>
        <a:lstStyle/>
        <a:p>
          <a:pPr>
            <a:defRPr sz="1228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2017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6.9478908188585611E-2"/>
          <c:y val="5.6872037914693439E-2"/>
          <c:w val="0.91811414392059554"/>
          <c:h val="0.7535545023696687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Yes</c:v>
                </c:pt>
              </c:strCache>
            </c:strRef>
          </c:tx>
          <c:spPr>
            <a:ln w="42161">
              <a:solidFill>
                <a:srgbClr val="0000FF"/>
              </a:solidFill>
              <a:prstDash val="solid"/>
            </a:ln>
          </c:spPr>
          <c:marker>
            <c:symbol val="diamond"/>
            <c:size val="2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dLbls>
            <c:spPr>
              <a:noFill/>
              <a:ln w="28115">
                <a:noFill/>
              </a:ln>
            </c:spPr>
            <c:txPr>
              <a:bodyPr/>
              <a:lstStyle/>
              <a:p>
                <a:pPr>
                  <a:defRPr sz="1551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Sheet1!$B$1:$S$1</c:f>
              <c:strCache>
                <c:ptCount val="18"/>
                <c:pt idx="0">
                  <c:v>Mar-04</c:v>
                </c:pt>
                <c:pt idx="1">
                  <c:v>Jun-04</c:v>
                </c:pt>
                <c:pt idx="2">
                  <c:v>Oct-04</c:v>
                </c:pt>
                <c:pt idx="3">
                  <c:v>Dec-04</c:v>
                </c:pt>
                <c:pt idx="4">
                  <c:v>Apr-05</c:v>
                </c:pt>
                <c:pt idx="5">
                  <c:v>Sep-05</c:v>
                </c:pt>
                <c:pt idx="6">
                  <c:v>Jan-06</c:v>
                </c:pt>
                <c:pt idx="7">
                  <c:v>Mar-06</c:v>
                </c:pt>
                <c:pt idx="8">
                  <c:v>Sep-06</c:v>
                </c:pt>
                <c:pt idx="9">
                  <c:v>Nov-06</c:v>
                </c:pt>
                <c:pt idx="10">
                  <c:v>Mar-07</c:v>
                </c:pt>
                <c:pt idx="11">
                  <c:v>Jun-07</c:v>
                </c:pt>
                <c:pt idx="12">
                  <c:v>Sep-07</c:v>
                </c:pt>
                <c:pt idx="13">
                  <c:v>Dec-07</c:v>
                </c:pt>
                <c:pt idx="14">
                  <c:v>Apr-08</c:v>
                </c:pt>
                <c:pt idx="15">
                  <c:v>Jun-08</c:v>
                </c:pt>
                <c:pt idx="16">
                  <c:v>Sep-08</c:v>
                </c:pt>
                <c:pt idx="17">
                  <c:v>Dec-08</c:v>
                </c:pt>
              </c:strCache>
            </c:strRef>
          </c:cat>
          <c:val>
            <c:numRef>
              <c:f>Sheet1!$B$2:$S$2</c:f>
              <c:numCache>
                <c:formatCode>0%</c:formatCode>
                <c:ptCount val="18"/>
                <c:pt idx="0">
                  <c:v>0.45</c:v>
                </c:pt>
                <c:pt idx="1">
                  <c:v>0.56000000000000005</c:v>
                </c:pt>
                <c:pt idx="2">
                  <c:v>0.51</c:v>
                </c:pt>
                <c:pt idx="3">
                  <c:v>0.4900000000000001</c:v>
                </c:pt>
                <c:pt idx="4">
                  <c:v>0.50900000000000001</c:v>
                </c:pt>
                <c:pt idx="5">
                  <c:v>0.45500000000000002</c:v>
                </c:pt>
                <c:pt idx="6">
                  <c:v>0.54100000000000004</c:v>
                </c:pt>
                <c:pt idx="7">
                  <c:v>0.52</c:v>
                </c:pt>
                <c:pt idx="8">
                  <c:v>0.55800000000000005</c:v>
                </c:pt>
                <c:pt idx="9">
                  <c:v>0.50600000000000001</c:v>
                </c:pt>
                <c:pt idx="10">
                  <c:v>0.52800000000000002</c:v>
                </c:pt>
                <c:pt idx="11">
                  <c:v>0.57600000000000018</c:v>
                </c:pt>
                <c:pt idx="12">
                  <c:v>0.57600000000000018</c:v>
                </c:pt>
                <c:pt idx="13">
                  <c:v>0.48000000000000009</c:v>
                </c:pt>
                <c:pt idx="14">
                  <c:v>0.59299999999999997</c:v>
                </c:pt>
                <c:pt idx="15">
                  <c:v>0.53</c:v>
                </c:pt>
                <c:pt idx="16">
                  <c:v>0.52200000000000002</c:v>
                </c:pt>
                <c:pt idx="17">
                  <c:v>0.55700000000000005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No</c:v>
                </c:pt>
              </c:strCache>
            </c:strRef>
          </c:tx>
          <c:spPr>
            <a:ln w="42161">
              <a:solidFill>
                <a:srgbClr val="FF0000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spPr>
              <a:noFill/>
              <a:ln w="28115">
                <a:noFill/>
              </a:ln>
            </c:spPr>
            <c:txPr>
              <a:bodyPr/>
              <a:lstStyle/>
              <a:p>
                <a:pPr>
                  <a:defRPr sz="1551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Sheet1!$B$1:$S$1</c:f>
              <c:strCache>
                <c:ptCount val="18"/>
                <c:pt idx="0">
                  <c:v>Mar-04</c:v>
                </c:pt>
                <c:pt idx="1">
                  <c:v>Jun-04</c:v>
                </c:pt>
                <c:pt idx="2">
                  <c:v>Oct-04</c:v>
                </c:pt>
                <c:pt idx="3">
                  <c:v>Dec-04</c:v>
                </c:pt>
                <c:pt idx="4">
                  <c:v>Apr-05</c:v>
                </c:pt>
                <c:pt idx="5">
                  <c:v>Sep-05</c:v>
                </c:pt>
                <c:pt idx="6">
                  <c:v>Jan-06</c:v>
                </c:pt>
                <c:pt idx="7">
                  <c:v>Mar-06</c:v>
                </c:pt>
                <c:pt idx="8">
                  <c:v>Sep-06</c:v>
                </c:pt>
                <c:pt idx="9">
                  <c:v>Nov-06</c:v>
                </c:pt>
                <c:pt idx="10">
                  <c:v>Mar-07</c:v>
                </c:pt>
                <c:pt idx="11">
                  <c:v>Jun-07</c:v>
                </c:pt>
                <c:pt idx="12">
                  <c:v>Sep-07</c:v>
                </c:pt>
                <c:pt idx="13">
                  <c:v>Dec-07</c:v>
                </c:pt>
                <c:pt idx="14">
                  <c:v>Apr-08</c:v>
                </c:pt>
                <c:pt idx="15">
                  <c:v>Jun-08</c:v>
                </c:pt>
                <c:pt idx="16">
                  <c:v>Sep-08</c:v>
                </c:pt>
                <c:pt idx="17">
                  <c:v>Dec-08</c:v>
                </c:pt>
              </c:strCache>
            </c:strRef>
          </c:cat>
          <c:val>
            <c:numRef>
              <c:f>Sheet1!$B$3:$S$3</c:f>
              <c:numCache>
                <c:formatCode>0%</c:formatCode>
                <c:ptCount val="18"/>
                <c:pt idx="0">
                  <c:v>0.47000000000000008</c:v>
                </c:pt>
                <c:pt idx="1">
                  <c:v>0.34</c:v>
                </c:pt>
                <c:pt idx="2">
                  <c:v>0.4</c:v>
                </c:pt>
                <c:pt idx="3">
                  <c:v>0.4300000000000001</c:v>
                </c:pt>
                <c:pt idx="4">
                  <c:v>0.42100000000000015</c:v>
                </c:pt>
                <c:pt idx="5">
                  <c:v>0.45200000000000001</c:v>
                </c:pt>
                <c:pt idx="6">
                  <c:v>0.38300000000000012</c:v>
                </c:pt>
                <c:pt idx="7">
                  <c:v>0.38500000000000012</c:v>
                </c:pt>
                <c:pt idx="8">
                  <c:v>0.32100000000000012</c:v>
                </c:pt>
                <c:pt idx="9">
                  <c:v>0.36500000000000016</c:v>
                </c:pt>
                <c:pt idx="10">
                  <c:v>0.35300000000000009</c:v>
                </c:pt>
                <c:pt idx="11">
                  <c:v>0.30700000000000011</c:v>
                </c:pt>
                <c:pt idx="12">
                  <c:v>0.30700000000000011</c:v>
                </c:pt>
                <c:pt idx="13">
                  <c:v>0.39300000000000013</c:v>
                </c:pt>
                <c:pt idx="14">
                  <c:v>0.30100000000000016</c:v>
                </c:pt>
                <c:pt idx="15">
                  <c:v>0.36500000000000016</c:v>
                </c:pt>
                <c:pt idx="16">
                  <c:v>0.36600000000000016</c:v>
                </c:pt>
                <c:pt idx="17">
                  <c:v>0.32100000000000012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DK</c:v>
                </c:pt>
              </c:strCache>
            </c:strRef>
          </c:tx>
          <c:spPr>
            <a:ln w="42161">
              <a:solidFill>
                <a:srgbClr val="333333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dLbls>
            <c:spPr>
              <a:noFill/>
              <a:ln w="28115">
                <a:noFill/>
              </a:ln>
            </c:spPr>
            <c:txPr>
              <a:bodyPr/>
              <a:lstStyle/>
              <a:p>
                <a:pPr>
                  <a:defRPr sz="1551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Sheet1!$B$1:$S$1</c:f>
              <c:strCache>
                <c:ptCount val="18"/>
                <c:pt idx="0">
                  <c:v>Mar-04</c:v>
                </c:pt>
                <c:pt idx="1">
                  <c:v>Jun-04</c:v>
                </c:pt>
                <c:pt idx="2">
                  <c:v>Oct-04</c:v>
                </c:pt>
                <c:pt idx="3">
                  <c:v>Dec-04</c:v>
                </c:pt>
                <c:pt idx="4">
                  <c:v>Apr-05</c:v>
                </c:pt>
                <c:pt idx="5">
                  <c:v>Sep-05</c:v>
                </c:pt>
                <c:pt idx="6">
                  <c:v>Jan-06</c:v>
                </c:pt>
                <c:pt idx="7">
                  <c:v>Mar-06</c:v>
                </c:pt>
                <c:pt idx="8">
                  <c:v>Sep-06</c:v>
                </c:pt>
                <c:pt idx="9">
                  <c:v>Nov-06</c:v>
                </c:pt>
                <c:pt idx="10">
                  <c:v>Mar-07</c:v>
                </c:pt>
                <c:pt idx="11">
                  <c:v>Jun-07</c:v>
                </c:pt>
                <c:pt idx="12">
                  <c:v>Sep-07</c:v>
                </c:pt>
                <c:pt idx="13">
                  <c:v>Dec-07</c:v>
                </c:pt>
                <c:pt idx="14">
                  <c:v>Apr-08</c:v>
                </c:pt>
                <c:pt idx="15">
                  <c:v>Jun-08</c:v>
                </c:pt>
                <c:pt idx="16">
                  <c:v>Sep-08</c:v>
                </c:pt>
                <c:pt idx="17">
                  <c:v>Dec-08</c:v>
                </c:pt>
              </c:strCache>
            </c:strRef>
          </c:cat>
          <c:val>
            <c:numRef>
              <c:f>Sheet1!$B$4:$S$4</c:f>
              <c:numCache>
                <c:formatCode>0%</c:formatCode>
                <c:ptCount val="18"/>
                <c:pt idx="0">
                  <c:v>6.0000000000000019E-2</c:v>
                </c:pt>
                <c:pt idx="1">
                  <c:v>7.0000000000000021E-2</c:v>
                </c:pt>
                <c:pt idx="2">
                  <c:v>8.0000000000000029E-2</c:v>
                </c:pt>
                <c:pt idx="3">
                  <c:v>8.0000000000000029E-2</c:v>
                </c:pt>
                <c:pt idx="4">
                  <c:v>6.5000000000000002E-2</c:v>
                </c:pt>
                <c:pt idx="5">
                  <c:v>8.2000000000000003E-2</c:v>
                </c:pt>
                <c:pt idx="6">
                  <c:v>7.5999999999999998E-2</c:v>
                </c:pt>
                <c:pt idx="7">
                  <c:v>9.0000000000000024E-2</c:v>
                </c:pt>
                <c:pt idx="8">
                  <c:v>0.10700000000000003</c:v>
                </c:pt>
                <c:pt idx="9">
                  <c:v>0.12100000000000002</c:v>
                </c:pt>
                <c:pt idx="10">
                  <c:v>0.10900000000000003</c:v>
                </c:pt>
                <c:pt idx="11">
                  <c:v>0.10800000000000003</c:v>
                </c:pt>
                <c:pt idx="12">
                  <c:v>0.10800000000000003</c:v>
                </c:pt>
                <c:pt idx="13">
                  <c:v>0.11700000000000002</c:v>
                </c:pt>
                <c:pt idx="14">
                  <c:v>0.10400000000000002</c:v>
                </c:pt>
                <c:pt idx="15">
                  <c:v>0.10199999999999998</c:v>
                </c:pt>
                <c:pt idx="16">
                  <c:v>9.8000000000000032E-2</c:v>
                </c:pt>
                <c:pt idx="17">
                  <c:v>0.12200000000000003</c:v>
                </c:pt>
              </c:numCache>
            </c:numRef>
          </c:val>
          <c:smooth val="1"/>
        </c:ser>
        <c:marker val="1"/>
        <c:axId val="139318784"/>
        <c:axId val="139456512"/>
      </c:lineChart>
      <c:catAx>
        <c:axId val="139318784"/>
        <c:scaling>
          <c:orientation val="minMax"/>
        </c:scaling>
        <c:axPos val="b"/>
        <c:numFmt formatCode="@" sourceLinked="1"/>
        <c:tickLblPos val="nextTo"/>
        <c:spPr>
          <a:ln w="3517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29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39456512"/>
        <c:crosses val="autoZero"/>
        <c:auto val="1"/>
        <c:lblAlgn val="ctr"/>
        <c:lblOffset val="100"/>
        <c:tickLblSkip val="1"/>
        <c:tickMarkSkip val="1"/>
      </c:catAx>
      <c:valAx>
        <c:axId val="139456512"/>
        <c:scaling>
          <c:orientation val="minMax"/>
        </c:scaling>
        <c:axPos val="l"/>
        <c:numFmt formatCode="0%" sourceLinked="1"/>
        <c:tickLblPos val="nextTo"/>
        <c:spPr>
          <a:ln w="3517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29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39318784"/>
        <c:crosses val="autoZero"/>
        <c:crossBetween val="between"/>
      </c:valAx>
      <c:spPr>
        <a:noFill/>
        <a:ln w="25398">
          <a:noFill/>
        </a:ln>
      </c:spPr>
    </c:plotArea>
    <c:legend>
      <c:legendPos val="b"/>
      <c:layout>
        <c:manualLayout>
          <c:xMode val="edge"/>
          <c:yMode val="edge"/>
          <c:x val="0.40570722283875577"/>
          <c:y val="0.92890992558514462"/>
          <c:w val="0.24441684722295648"/>
          <c:h val="6.3981047312905992E-2"/>
        </c:manualLayout>
      </c:layout>
      <c:spPr>
        <a:solidFill>
          <a:schemeClr val="bg1"/>
        </a:solidFill>
        <a:ln w="3517">
          <a:solidFill>
            <a:schemeClr val="tx1"/>
          </a:solidFill>
          <a:prstDash val="solid"/>
        </a:ln>
      </c:spPr>
      <c:txPr>
        <a:bodyPr/>
        <a:lstStyle/>
        <a:p>
          <a:pPr>
            <a:defRPr sz="1219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994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6.9478908188585611E-2"/>
          <c:y val="5.6872037914693439E-2"/>
          <c:w val="0.91811414392059554"/>
          <c:h val="0.68246445497630337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More</c:v>
                </c:pt>
              </c:strCache>
            </c:strRef>
          </c:tx>
          <c:spPr>
            <a:ln w="42534">
              <a:solidFill>
                <a:srgbClr val="0000FF"/>
              </a:solidFill>
              <a:prstDash val="solid"/>
            </a:ln>
          </c:spPr>
          <c:marker>
            <c:symbol val="diamond"/>
            <c:size val="2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dLbls>
            <c:txPr>
              <a:bodyPr/>
              <a:lstStyle/>
              <a:p>
                <a:pPr>
                  <a:defRPr sz="1600"/>
                </a:pPr>
                <a:endParaRPr lang="en-US"/>
              </a:p>
            </c:txPr>
            <c:dLblPos val="t"/>
            <c:showVal val="1"/>
          </c:dLbls>
          <c:cat>
            <c:strRef>
              <c:f>Sheet1!$B$1:$Y$1</c:f>
              <c:strCache>
                <c:ptCount val="24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Sep-05</c:v>
                </c:pt>
                <c:pt idx="12">
                  <c:v>Jan-06</c:v>
                </c:pt>
                <c:pt idx="13">
                  <c:v>Mar-06</c:v>
                </c:pt>
                <c:pt idx="14">
                  <c:v>Sep-06</c:v>
                </c:pt>
                <c:pt idx="15">
                  <c:v>Nov-06</c:v>
                </c:pt>
                <c:pt idx="16">
                  <c:v>Mar-07</c:v>
                </c:pt>
                <c:pt idx="17">
                  <c:v>Jun-07</c:v>
                </c:pt>
                <c:pt idx="18">
                  <c:v>Sep-07</c:v>
                </c:pt>
                <c:pt idx="19">
                  <c:v>Dec-07</c:v>
                </c:pt>
                <c:pt idx="20">
                  <c:v>Apr-08</c:v>
                </c:pt>
                <c:pt idx="21">
                  <c:v>Jun-08</c:v>
                </c:pt>
                <c:pt idx="22">
                  <c:v>Sep-08</c:v>
                </c:pt>
                <c:pt idx="23">
                  <c:v>Dec-08</c:v>
                </c:pt>
              </c:strCache>
            </c:strRef>
          </c:cat>
          <c:val>
            <c:numRef>
              <c:f>Sheet1!$B$2:$Y$2</c:f>
              <c:numCache>
                <c:formatCode>0%</c:formatCode>
                <c:ptCount val="24"/>
                <c:pt idx="0">
                  <c:v>2.0000000000000007E-2</c:v>
                </c:pt>
                <c:pt idx="1">
                  <c:v>0.21000000000000005</c:v>
                </c:pt>
                <c:pt idx="2">
                  <c:v>0.27</c:v>
                </c:pt>
                <c:pt idx="3">
                  <c:v>0.38000000000000012</c:v>
                </c:pt>
                <c:pt idx="4">
                  <c:v>0.45</c:v>
                </c:pt>
                <c:pt idx="5">
                  <c:v>0.35000000000000009</c:v>
                </c:pt>
                <c:pt idx="6">
                  <c:v>0.32000000000000012</c:v>
                </c:pt>
                <c:pt idx="7">
                  <c:v>0.38000000000000012</c:v>
                </c:pt>
                <c:pt idx="8">
                  <c:v>0.48000000000000009</c:v>
                </c:pt>
                <c:pt idx="9">
                  <c:v>0.28900000000000009</c:v>
                </c:pt>
                <c:pt idx="10">
                  <c:v>0.33700000000000013</c:v>
                </c:pt>
                <c:pt idx="11">
                  <c:v>0.24400000000000005</c:v>
                </c:pt>
                <c:pt idx="12">
                  <c:v>0.33200000000000013</c:v>
                </c:pt>
                <c:pt idx="13">
                  <c:v>0.23300000000000001</c:v>
                </c:pt>
                <c:pt idx="14">
                  <c:v>0.25800000000000001</c:v>
                </c:pt>
                <c:pt idx="15">
                  <c:v>0.26100000000000001</c:v>
                </c:pt>
                <c:pt idx="16">
                  <c:v>0.31300000000000011</c:v>
                </c:pt>
                <c:pt idx="17">
                  <c:v>0.35600000000000009</c:v>
                </c:pt>
                <c:pt idx="18">
                  <c:v>0.22600000000000001</c:v>
                </c:pt>
                <c:pt idx="19">
                  <c:v>0.22600000000000001</c:v>
                </c:pt>
                <c:pt idx="20">
                  <c:v>0.21400000000000005</c:v>
                </c:pt>
                <c:pt idx="21">
                  <c:v>0.26</c:v>
                </c:pt>
                <c:pt idx="22">
                  <c:v>0.33000000000000013</c:v>
                </c:pt>
                <c:pt idx="23">
                  <c:v>0.29600000000000015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Less</c:v>
                </c:pt>
              </c:strCache>
            </c:strRef>
          </c:tx>
          <c:spPr>
            <a:ln w="42534">
              <a:solidFill>
                <a:srgbClr val="FF0000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txPr>
              <a:bodyPr/>
              <a:lstStyle/>
              <a:p>
                <a:pPr>
                  <a:defRPr sz="1600"/>
                </a:pPr>
                <a:endParaRPr lang="en-US"/>
              </a:p>
            </c:txPr>
            <c:dLblPos val="t"/>
            <c:showVal val="1"/>
          </c:dLbls>
          <c:cat>
            <c:strRef>
              <c:f>Sheet1!$B$1:$Y$1</c:f>
              <c:strCache>
                <c:ptCount val="24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Sep-05</c:v>
                </c:pt>
                <c:pt idx="12">
                  <c:v>Jan-06</c:v>
                </c:pt>
                <c:pt idx="13">
                  <c:v>Mar-06</c:v>
                </c:pt>
                <c:pt idx="14">
                  <c:v>Sep-06</c:v>
                </c:pt>
                <c:pt idx="15">
                  <c:v>Nov-06</c:v>
                </c:pt>
                <c:pt idx="16">
                  <c:v>Mar-07</c:v>
                </c:pt>
                <c:pt idx="17">
                  <c:v>Jun-07</c:v>
                </c:pt>
                <c:pt idx="18">
                  <c:v>Sep-07</c:v>
                </c:pt>
                <c:pt idx="19">
                  <c:v>Dec-07</c:v>
                </c:pt>
                <c:pt idx="20">
                  <c:v>Apr-08</c:v>
                </c:pt>
                <c:pt idx="21">
                  <c:v>Jun-08</c:v>
                </c:pt>
                <c:pt idx="22">
                  <c:v>Sep-08</c:v>
                </c:pt>
                <c:pt idx="23">
                  <c:v>Dec-08</c:v>
                </c:pt>
              </c:strCache>
            </c:strRef>
          </c:cat>
          <c:val>
            <c:numRef>
              <c:f>Sheet1!$B$3:$Y$3</c:f>
              <c:numCache>
                <c:formatCode>0%</c:formatCode>
                <c:ptCount val="24"/>
                <c:pt idx="0">
                  <c:v>0.82000000000000017</c:v>
                </c:pt>
                <c:pt idx="1">
                  <c:v>0.37000000000000011</c:v>
                </c:pt>
                <c:pt idx="2">
                  <c:v>0.24000000000000005</c:v>
                </c:pt>
                <c:pt idx="3">
                  <c:v>0.26</c:v>
                </c:pt>
                <c:pt idx="4">
                  <c:v>0.15000000000000005</c:v>
                </c:pt>
                <c:pt idx="5">
                  <c:v>0.2</c:v>
                </c:pt>
                <c:pt idx="6">
                  <c:v>0.23</c:v>
                </c:pt>
                <c:pt idx="7">
                  <c:v>0.21000000000000005</c:v>
                </c:pt>
                <c:pt idx="8">
                  <c:v>0.14000000000000001</c:v>
                </c:pt>
                <c:pt idx="9">
                  <c:v>0.22700000000000001</c:v>
                </c:pt>
                <c:pt idx="10">
                  <c:v>0.16300000000000001</c:v>
                </c:pt>
                <c:pt idx="11">
                  <c:v>0.24400000000000005</c:v>
                </c:pt>
                <c:pt idx="12">
                  <c:v>0.16400000000000001</c:v>
                </c:pt>
                <c:pt idx="13">
                  <c:v>0.18200000000000005</c:v>
                </c:pt>
                <c:pt idx="14">
                  <c:v>0.12100000000000002</c:v>
                </c:pt>
                <c:pt idx="15">
                  <c:v>0.18500000000000005</c:v>
                </c:pt>
                <c:pt idx="16">
                  <c:v>0.18900000000000006</c:v>
                </c:pt>
                <c:pt idx="17">
                  <c:v>0.16900000000000001</c:v>
                </c:pt>
                <c:pt idx="18">
                  <c:v>0.28800000000000009</c:v>
                </c:pt>
                <c:pt idx="19">
                  <c:v>0.30400000000000016</c:v>
                </c:pt>
                <c:pt idx="20">
                  <c:v>0.34600000000000009</c:v>
                </c:pt>
                <c:pt idx="21">
                  <c:v>0.24500000000000005</c:v>
                </c:pt>
                <c:pt idx="22">
                  <c:v>0.17100000000000001</c:v>
                </c:pt>
                <c:pt idx="23">
                  <c:v>0.22600000000000001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The Same</c:v>
                </c:pt>
              </c:strCache>
            </c:strRef>
          </c:tx>
          <c:spPr>
            <a:ln w="42534">
              <a:solidFill>
                <a:srgbClr val="008080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008080"/>
              </a:solidFill>
              <a:ln>
                <a:solidFill>
                  <a:srgbClr val="008080"/>
                </a:solidFill>
                <a:prstDash val="solid"/>
              </a:ln>
            </c:spPr>
          </c:marker>
          <c:dLbls>
            <c:txPr>
              <a:bodyPr/>
              <a:lstStyle/>
              <a:p>
                <a:pPr>
                  <a:defRPr sz="1600"/>
                </a:pPr>
                <a:endParaRPr lang="en-US"/>
              </a:p>
            </c:txPr>
            <c:dLblPos val="t"/>
            <c:showVal val="1"/>
          </c:dLbls>
          <c:cat>
            <c:strRef>
              <c:f>Sheet1!$B$1:$Y$1</c:f>
              <c:strCache>
                <c:ptCount val="24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Sep-05</c:v>
                </c:pt>
                <c:pt idx="12">
                  <c:v>Jan-06</c:v>
                </c:pt>
                <c:pt idx="13">
                  <c:v>Mar-06</c:v>
                </c:pt>
                <c:pt idx="14">
                  <c:v>Sep-06</c:v>
                </c:pt>
                <c:pt idx="15">
                  <c:v>Nov-06</c:v>
                </c:pt>
                <c:pt idx="16">
                  <c:v>Mar-07</c:v>
                </c:pt>
                <c:pt idx="17">
                  <c:v>Jun-07</c:v>
                </c:pt>
                <c:pt idx="18">
                  <c:v>Sep-07</c:v>
                </c:pt>
                <c:pt idx="19">
                  <c:v>Dec-07</c:v>
                </c:pt>
                <c:pt idx="20">
                  <c:v>Apr-08</c:v>
                </c:pt>
                <c:pt idx="21">
                  <c:v>Jun-08</c:v>
                </c:pt>
                <c:pt idx="22">
                  <c:v>Sep-08</c:v>
                </c:pt>
                <c:pt idx="23">
                  <c:v>Dec-08</c:v>
                </c:pt>
              </c:strCache>
            </c:strRef>
          </c:cat>
          <c:val>
            <c:numRef>
              <c:f>Sheet1!$B$4:$Y$4</c:f>
              <c:numCache>
                <c:formatCode>0%</c:formatCode>
                <c:ptCount val="24"/>
                <c:pt idx="0">
                  <c:v>0.14000000000000001</c:v>
                </c:pt>
                <c:pt idx="1">
                  <c:v>0.37000000000000011</c:v>
                </c:pt>
                <c:pt idx="2">
                  <c:v>0.4200000000000001</c:v>
                </c:pt>
                <c:pt idx="3">
                  <c:v>0.31000000000000011</c:v>
                </c:pt>
                <c:pt idx="4">
                  <c:v>0.38000000000000012</c:v>
                </c:pt>
                <c:pt idx="5">
                  <c:v>0.44</c:v>
                </c:pt>
                <c:pt idx="6">
                  <c:v>0.44</c:v>
                </c:pt>
                <c:pt idx="7">
                  <c:v>0.41000000000000009</c:v>
                </c:pt>
                <c:pt idx="8">
                  <c:v>0.3600000000000001</c:v>
                </c:pt>
                <c:pt idx="9">
                  <c:v>0.46700000000000008</c:v>
                </c:pt>
                <c:pt idx="10">
                  <c:v>0.49300000000000016</c:v>
                </c:pt>
                <c:pt idx="11">
                  <c:v>0.50600000000000001</c:v>
                </c:pt>
                <c:pt idx="12">
                  <c:v>0.49300000000000016</c:v>
                </c:pt>
                <c:pt idx="13">
                  <c:v>0.56499999999999995</c:v>
                </c:pt>
                <c:pt idx="14">
                  <c:v>0.59799999999999998</c:v>
                </c:pt>
                <c:pt idx="15">
                  <c:v>0.52600000000000002</c:v>
                </c:pt>
                <c:pt idx="16">
                  <c:v>0.46300000000000002</c:v>
                </c:pt>
                <c:pt idx="17">
                  <c:v>0.44700000000000001</c:v>
                </c:pt>
                <c:pt idx="18">
                  <c:v>0.46800000000000008</c:v>
                </c:pt>
                <c:pt idx="19">
                  <c:v>0.45900000000000002</c:v>
                </c:pt>
                <c:pt idx="20">
                  <c:v>0.42700000000000016</c:v>
                </c:pt>
                <c:pt idx="21">
                  <c:v>0.46400000000000002</c:v>
                </c:pt>
                <c:pt idx="22">
                  <c:v>0.47100000000000009</c:v>
                </c:pt>
                <c:pt idx="23">
                  <c:v>0.46100000000000002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DK</c:v>
                </c:pt>
              </c:strCache>
            </c:strRef>
          </c:tx>
          <c:spPr>
            <a:ln w="42534">
              <a:solidFill>
                <a:srgbClr val="000000"/>
              </a:solidFill>
              <a:prstDash val="solid"/>
            </a:ln>
          </c:spPr>
          <c:marker>
            <c:symbol val="circle"/>
            <c:size val="2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dLbls>
            <c:txPr>
              <a:bodyPr/>
              <a:lstStyle/>
              <a:p>
                <a:pPr>
                  <a:defRPr sz="1600"/>
                </a:pPr>
                <a:endParaRPr lang="en-US"/>
              </a:p>
            </c:txPr>
            <c:dLblPos val="t"/>
            <c:showVal val="1"/>
          </c:dLbls>
          <c:cat>
            <c:strRef>
              <c:f>Sheet1!$B$1:$Y$1</c:f>
              <c:strCache>
                <c:ptCount val="24"/>
                <c:pt idx="0">
                  <c:v>Dec-01</c:v>
                </c:pt>
                <c:pt idx="1">
                  <c:v>Mar-02</c:v>
                </c:pt>
                <c:pt idx="2">
                  <c:v>Jun-02</c:v>
                </c:pt>
                <c:pt idx="3">
                  <c:v>Jul-02</c:v>
                </c:pt>
                <c:pt idx="4">
                  <c:v>Apr-03</c:v>
                </c:pt>
                <c:pt idx="5">
                  <c:v>Jun-03</c:v>
                </c:pt>
                <c:pt idx="6">
                  <c:v>Sep-03</c:v>
                </c:pt>
                <c:pt idx="7">
                  <c:v>Mar-04</c:v>
                </c:pt>
                <c:pt idx="8">
                  <c:v>Jun-04</c:v>
                </c:pt>
                <c:pt idx="9">
                  <c:v>Oct-04</c:v>
                </c:pt>
                <c:pt idx="10">
                  <c:v>Dec-04</c:v>
                </c:pt>
                <c:pt idx="11">
                  <c:v>Sep-05</c:v>
                </c:pt>
                <c:pt idx="12">
                  <c:v>Jan-06</c:v>
                </c:pt>
                <c:pt idx="13">
                  <c:v>Mar-06</c:v>
                </c:pt>
                <c:pt idx="14">
                  <c:v>Sep-06</c:v>
                </c:pt>
                <c:pt idx="15">
                  <c:v>Nov-06</c:v>
                </c:pt>
                <c:pt idx="16">
                  <c:v>Mar-07</c:v>
                </c:pt>
                <c:pt idx="17">
                  <c:v>Jun-07</c:v>
                </c:pt>
                <c:pt idx="18">
                  <c:v>Sep-07</c:v>
                </c:pt>
                <c:pt idx="19">
                  <c:v>Dec-07</c:v>
                </c:pt>
                <c:pt idx="20">
                  <c:v>Apr-08</c:v>
                </c:pt>
                <c:pt idx="21">
                  <c:v>Jun-08</c:v>
                </c:pt>
                <c:pt idx="22">
                  <c:v>Sep-08</c:v>
                </c:pt>
                <c:pt idx="23">
                  <c:v>Dec-08</c:v>
                </c:pt>
              </c:strCache>
            </c:strRef>
          </c:cat>
          <c:val>
            <c:numRef>
              <c:f>Sheet1!$B$5:$Y$5</c:f>
              <c:numCache>
                <c:formatCode>0%</c:formatCode>
                <c:ptCount val="24"/>
                <c:pt idx="0">
                  <c:v>3.0000000000000002E-2</c:v>
                </c:pt>
                <c:pt idx="1">
                  <c:v>4.0000000000000015E-2</c:v>
                </c:pt>
                <c:pt idx="2">
                  <c:v>7.0000000000000021E-2</c:v>
                </c:pt>
                <c:pt idx="3">
                  <c:v>0.05</c:v>
                </c:pt>
                <c:pt idx="4">
                  <c:v>3.0000000000000002E-2</c:v>
                </c:pt>
                <c:pt idx="5">
                  <c:v>2.0000000000000007E-2</c:v>
                </c:pt>
                <c:pt idx="6">
                  <c:v>1.0000000000000004E-2</c:v>
                </c:pt>
                <c:pt idx="7">
                  <c:v>7.0000000000000019E-3</c:v>
                </c:pt>
                <c:pt idx="8">
                  <c:v>2.0000000000000007E-2</c:v>
                </c:pt>
                <c:pt idx="9">
                  <c:v>2.0000000000000007E-2</c:v>
                </c:pt>
                <c:pt idx="10">
                  <c:v>1.0000000000000004E-2</c:v>
                </c:pt>
                <c:pt idx="11">
                  <c:v>6.0000000000000019E-3</c:v>
                </c:pt>
                <c:pt idx="12">
                  <c:v>1.0999999999999998E-2</c:v>
                </c:pt>
                <c:pt idx="13">
                  <c:v>1.7999999999999999E-2</c:v>
                </c:pt>
                <c:pt idx="14">
                  <c:v>2.0000000000000007E-2</c:v>
                </c:pt>
                <c:pt idx="15">
                  <c:v>2.5999999999999999E-2</c:v>
                </c:pt>
                <c:pt idx="16">
                  <c:v>3.2000000000000015E-2</c:v>
                </c:pt>
                <c:pt idx="17">
                  <c:v>2.700000000000001E-2</c:v>
                </c:pt>
                <c:pt idx="18">
                  <c:v>1.7999999999999999E-2</c:v>
                </c:pt>
                <c:pt idx="19">
                  <c:v>1.2E-2</c:v>
                </c:pt>
                <c:pt idx="20">
                  <c:v>1.2999999999999998E-2</c:v>
                </c:pt>
                <c:pt idx="21">
                  <c:v>2.1000000000000008E-2</c:v>
                </c:pt>
                <c:pt idx="22">
                  <c:v>2.8000000000000001E-2</c:v>
                </c:pt>
                <c:pt idx="23">
                  <c:v>1.6000000000000007E-2</c:v>
                </c:pt>
              </c:numCache>
            </c:numRef>
          </c:val>
          <c:smooth val="1"/>
        </c:ser>
        <c:dLbls>
          <c:showVal val="1"/>
        </c:dLbls>
        <c:marker val="1"/>
        <c:axId val="142823424"/>
        <c:axId val="142825728"/>
      </c:lineChart>
      <c:catAx>
        <c:axId val="142823424"/>
        <c:scaling>
          <c:orientation val="minMax"/>
        </c:scaling>
        <c:axPos val="b"/>
        <c:numFmt formatCode="General" sourceLinked="1"/>
        <c:tickLblPos val="nextTo"/>
        <c:spPr>
          <a:ln w="3549">
            <a:solidFill>
              <a:schemeClr val="tx1"/>
            </a:solidFill>
            <a:prstDash val="solid"/>
          </a:ln>
        </c:spPr>
        <c:txPr>
          <a:bodyPr rot="-2700000" vert="horz"/>
          <a:lstStyle/>
          <a:p>
            <a:pPr>
              <a:defRPr sz="1341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2825728"/>
        <c:crosses val="autoZero"/>
        <c:auto val="1"/>
        <c:lblAlgn val="ctr"/>
        <c:lblOffset val="100"/>
        <c:tickLblSkip val="1"/>
        <c:tickMarkSkip val="1"/>
      </c:catAx>
      <c:valAx>
        <c:axId val="142825728"/>
        <c:scaling>
          <c:orientation val="minMax"/>
        </c:scaling>
        <c:axPos val="l"/>
        <c:numFmt formatCode="0%" sourceLinked="1"/>
        <c:tickLblPos val="nextTo"/>
        <c:spPr>
          <a:ln w="3549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41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2823424"/>
        <c:crosses val="autoZero"/>
        <c:crossBetween val="between"/>
      </c:valAx>
      <c:spPr>
        <a:noFill/>
        <a:ln w="14182">
          <a:solidFill>
            <a:schemeClr val="tx1"/>
          </a:solidFill>
          <a:prstDash val="solid"/>
        </a:ln>
      </c:spPr>
    </c:plotArea>
    <c:legend>
      <c:legendPos val="b"/>
      <c:layout>
        <c:manualLayout>
          <c:xMode val="edge"/>
          <c:yMode val="edge"/>
          <c:x val="0.32382131280153181"/>
          <c:y val="0.92890994989262687"/>
          <c:w val="0.40942926480087993"/>
          <c:h val="6.3981102362205444E-2"/>
        </c:manualLayout>
      </c:layout>
      <c:spPr>
        <a:noFill/>
        <a:ln w="3549">
          <a:solidFill>
            <a:schemeClr val="tx1"/>
          </a:solidFill>
          <a:prstDash val="solid"/>
        </a:ln>
      </c:spPr>
      <c:txPr>
        <a:bodyPr/>
        <a:lstStyle/>
        <a:p>
          <a:pPr>
            <a:defRPr sz="1229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2012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7.0967027559055124E-2"/>
          <c:y val="2.0033120859892516E-2"/>
          <c:w val="0.91811414392059554"/>
          <c:h val="0.86406740824063655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Lower Taxes</c:v>
                </c:pt>
              </c:strCache>
            </c:strRef>
          </c:tx>
          <c:spPr>
            <a:ln w="41741">
              <a:solidFill>
                <a:srgbClr val="FF0000"/>
              </a:solidFill>
              <a:prstDash val="solid"/>
            </a:ln>
          </c:spPr>
          <c:marker>
            <c:symbol val="diamond"/>
            <c:size val="2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dLbl>
              <c:idx val="18"/>
              <c:layout>
                <c:manualLayout>
                  <c:x val="-3.273809523809524E-2"/>
                  <c:y val="-1.6431924882629192E-2"/>
                </c:manualLayout>
              </c:layout>
              <c:dLblPos val="r"/>
              <c:showVal val="1"/>
            </c:dLbl>
            <c:dLbl>
              <c:idx val="19"/>
              <c:layout>
                <c:manualLayout>
                  <c:x val="-2.9761904761904812E-3"/>
                  <c:y val="-1.4084507042253641E-2"/>
                </c:manualLayout>
              </c:layout>
              <c:dLblPos val="r"/>
              <c:showVal val="1"/>
            </c:dLbl>
            <c:spPr>
              <a:noFill/>
              <a:ln w="27834">
                <a:noFill/>
              </a:ln>
            </c:spPr>
            <c:txPr>
              <a:bodyPr/>
              <a:lstStyle/>
              <a:p>
                <a:pPr>
                  <a:defRPr sz="1599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Sept-03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Sheet1!$B$2:$V$2</c:f>
              <c:numCache>
                <c:formatCode>0%</c:formatCode>
                <c:ptCount val="21"/>
                <c:pt idx="0">
                  <c:v>0.5</c:v>
                </c:pt>
                <c:pt idx="1">
                  <c:v>0.45</c:v>
                </c:pt>
                <c:pt idx="2">
                  <c:v>0.44</c:v>
                </c:pt>
                <c:pt idx="3">
                  <c:v>0.4</c:v>
                </c:pt>
                <c:pt idx="4">
                  <c:v>0.4200000000000001</c:v>
                </c:pt>
                <c:pt idx="5">
                  <c:v>0.41700000000000009</c:v>
                </c:pt>
                <c:pt idx="6">
                  <c:v>0.3600000000000001</c:v>
                </c:pt>
                <c:pt idx="7">
                  <c:v>0.34200000000000008</c:v>
                </c:pt>
                <c:pt idx="8">
                  <c:v>0.38900000000000012</c:v>
                </c:pt>
                <c:pt idx="9">
                  <c:v>0.33500000000000013</c:v>
                </c:pt>
                <c:pt idx="10">
                  <c:v>0.40500000000000008</c:v>
                </c:pt>
                <c:pt idx="11">
                  <c:v>0.44</c:v>
                </c:pt>
                <c:pt idx="12">
                  <c:v>0.26100000000000001</c:v>
                </c:pt>
                <c:pt idx="13">
                  <c:v>0.19800000000000001</c:v>
                </c:pt>
                <c:pt idx="14">
                  <c:v>0.18900000000000006</c:v>
                </c:pt>
                <c:pt idx="15">
                  <c:v>0.10800000000000003</c:v>
                </c:pt>
                <c:pt idx="16">
                  <c:v>0.10900000000000003</c:v>
                </c:pt>
                <c:pt idx="17">
                  <c:v>7.5000000000000011E-2</c:v>
                </c:pt>
                <c:pt idx="18">
                  <c:v>0.13</c:v>
                </c:pt>
                <c:pt idx="19">
                  <c:v>0.14300000000000004</c:v>
                </c:pt>
                <c:pt idx="20">
                  <c:v>0.15000000000000005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EU</c:v>
                </c:pt>
              </c:strCache>
            </c:strRef>
          </c:tx>
          <c:spPr>
            <a:ln w="41741">
              <a:solidFill>
                <a:srgbClr val="0000FF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dLbls>
            <c:dLbl>
              <c:idx val="14"/>
              <c:layout>
                <c:manualLayout>
                  <c:x val="-2.8273809523810204E-2"/>
                  <c:y val="-2.3474178403756311E-2"/>
                </c:manualLayout>
              </c:layout>
              <c:dLblPos val="r"/>
              <c:showVal val="1"/>
            </c:dLbl>
            <c:dLbl>
              <c:idx val="15"/>
              <c:layout>
                <c:manualLayout>
                  <c:x val="-2.0833333333333412E-2"/>
                  <c:y val="-2.8169014084507043E-2"/>
                </c:manualLayout>
              </c:layout>
              <c:dLblPos val="r"/>
              <c:showVal val="1"/>
            </c:dLbl>
            <c:dLbl>
              <c:idx val="18"/>
              <c:layout>
                <c:manualLayout>
                  <c:x val="-3.273809523809524E-2"/>
                  <c:y val="7.0422535211267824E-3"/>
                </c:manualLayout>
              </c:layout>
              <c:dLblPos val="r"/>
              <c:showVal val="1"/>
            </c:dLbl>
            <c:dLbl>
              <c:idx val="19"/>
              <c:layout>
                <c:manualLayout>
                  <c:x val="-2.9761904761904812E-3"/>
                  <c:y val="3.0516431924882577E-2"/>
                </c:manualLayout>
              </c:layout>
              <c:dLblPos val="r"/>
              <c:showVal val="1"/>
            </c:dLbl>
            <c:spPr>
              <a:noFill/>
              <a:ln w="27834">
                <a:noFill/>
              </a:ln>
            </c:spPr>
            <c:txPr>
              <a:bodyPr/>
              <a:lstStyle/>
              <a:p>
                <a:pPr>
                  <a:defRPr sz="1599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Sept-03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Sheet1!$B$3:$V$3</c:f>
              <c:numCache>
                <c:formatCode>0%</c:formatCode>
                <c:ptCount val="21"/>
                <c:pt idx="0">
                  <c:v>0.34</c:v>
                </c:pt>
                <c:pt idx="1">
                  <c:v>0.4</c:v>
                </c:pt>
                <c:pt idx="2">
                  <c:v>0.39000000000000012</c:v>
                </c:pt>
                <c:pt idx="3">
                  <c:v>0.45</c:v>
                </c:pt>
                <c:pt idx="4">
                  <c:v>0.46</c:v>
                </c:pt>
                <c:pt idx="5">
                  <c:v>0.40500000000000008</c:v>
                </c:pt>
                <c:pt idx="6">
                  <c:v>0.51</c:v>
                </c:pt>
                <c:pt idx="7">
                  <c:v>0.49400000000000016</c:v>
                </c:pt>
                <c:pt idx="8">
                  <c:v>0.44600000000000001</c:v>
                </c:pt>
                <c:pt idx="9">
                  <c:v>0.49600000000000011</c:v>
                </c:pt>
                <c:pt idx="10">
                  <c:v>0.42500000000000016</c:v>
                </c:pt>
                <c:pt idx="11">
                  <c:v>0.37500000000000011</c:v>
                </c:pt>
                <c:pt idx="12">
                  <c:v>0.46100000000000002</c:v>
                </c:pt>
                <c:pt idx="13">
                  <c:v>0.54100000000000004</c:v>
                </c:pt>
                <c:pt idx="14">
                  <c:v>0.56899999999999995</c:v>
                </c:pt>
                <c:pt idx="15">
                  <c:v>0.45100000000000001</c:v>
                </c:pt>
                <c:pt idx="16">
                  <c:v>0.44</c:v>
                </c:pt>
                <c:pt idx="17">
                  <c:v>0.55700000000000005</c:v>
                </c:pt>
                <c:pt idx="18">
                  <c:v>0.51600000000000001</c:v>
                </c:pt>
                <c:pt idx="19">
                  <c:v>0.51200000000000001</c:v>
                </c:pt>
                <c:pt idx="20">
                  <c:v>0.47500000000000009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Court reform</c:v>
                </c:pt>
              </c:strCache>
            </c:strRef>
          </c:tx>
          <c:spPr>
            <a:ln w="41741">
              <a:solidFill>
                <a:srgbClr val="808000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808000"/>
              </a:solidFill>
              <a:ln>
                <a:solidFill>
                  <a:srgbClr val="808000"/>
                </a:solidFill>
                <a:prstDash val="solid"/>
              </a:ln>
            </c:spPr>
          </c:marker>
          <c:dLbls>
            <c:delete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Sept-03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Sheet1!$B$4:$V$4</c:f>
              <c:numCache>
                <c:formatCode>0%</c:formatCode>
                <c:ptCount val="21"/>
                <c:pt idx="0">
                  <c:v>0.05</c:v>
                </c:pt>
                <c:pt idx="1">
                  <c:v>7.0000000000000021E-2</c:v>
                </c:pt>
                <c:pt idx="2">
                  <c:v>8.0000000000000029E-2</c:v>
                </c:pt>
                <c:pt idx="3">
                  <c:v>7.0000000000000021E-2</c:v>
                </c:pt>
                <c:pt idx="4">
                  <c:v>8.0000000000000029E-2</c:v>
                </c:pt>
                <c:pt idx="5">
                  <c:v>7.3999999999999996E-2</c:v>
                </c:pt>
                <c:pt idx="6">
                  <c:v>7.0000000000000021E-2</c:v>
                </c:pt>
                <c:pt idx="7">
                  <c:v>9.6000000000000002E-2</c:v>
                </c:pt>
                <c:pt idx="8">
                  <c:v>6.7000000000000004E-2</c:v>
                </c:pt>
                <c:pt idx="9">
                  <c:v>6.7000000000000004E-2</c:v>
                </c:pt>
                <c:pt idx="10">
                  <c:v>9.4000000000000028E-2</c:v>
                </c:pt>
                <c:pt idx="11">
                  <c:v>0.10700000000000003</c:v>
                </c:pt>
                <c:pt idx="12">
                  <c:v>0.15700000000000006</c:v>
                </c:pt>
                <c:pt idx="13">
                  <c:v>0.113</c:v>
                </c:pt>
                <c:pt idx="14">
                  <c:v>0.1</c:v>
                </c:pt>
                <c:pt idx="15">
                  <c:v>5.6000000000000001E-2</c:v>
                </c:pt>
                <c:pt idx="16">
                  <c:v>7.5000000000000011E-2</c:v>
                </c:pt>
                <c:pt idx="17">
                  <c:v>3.7999999999999999E-2</c:v>
                </c:pt>
                <c:pt idx="18">
                  <c:v>4.7000000000000014E-2</c:v>
                </c:pt>
                <c:pt idx="19">
                  <c:v>3.0000000000000002E-2</c:v>
                </c:pt>
                <c:pt idx="20">
                  <c:v>5.3000000000000012E-2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DK</c:v>
                </c:pt>
              </c:strCache>
            </c:strRef>
          </c:tx>
          <c:spPr>
            <a:ln w="41741">
              <a:solidFill>
                <a:srgbClr val="FF6600"/>
              </a:solidFill>
              <a:prstDash val="solid"/>
            </a:ln>
          </c:spPr>
          <c:marker>
            <c:symbol val="x"/>
            <c:size val="2"/>
            <c:spPr>
              <a:noFill/>
              <a:ln>
                <a:solidFill>
                  <a:srgbClr val="00FFFF"/>
                </a:solidFill>
                <a:prstDash val="solid"/>
              </a:ln>
            </c:spPr>
          </c:marker>
          <c:dLbls>
            <c:delete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Sept-03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Sheet1!$B$5:$V$5</c:f>
              <c:numCache>
                <c:formatCode>0%</c:formatCode>
                <c:ptCount val="21"/>
                <c:pt idx="0">
                  <c:v>0.05</c:v>
                </c:pt>
                <c:pt idx="1">
                  <c:v>3.0000000000000002E-2</c:v>
                </c:pt>
                <c:pt idx="2">
                  <c:v>3.0000000000000002E-2</c:v>
                </c:pt>
                <c:pt idx="3">
                  <c:v>3.0000000000000002E-2</c:v>
                </c:pt>
                <c:pt idx="4">
                  <c:v>2.0000000000000007E-2</c:v>
                </c:pt>
                <c:pt idx="5">
                  <c:v>3.2000000000000015E-2</c:v>
                </c:pt>
                <c:pt idx="6">
                  <c:v>2.0000000000000007E-2</c:v>
                </c:pt>
                <c:pt idx="7">
                  <c:v>2.9000000000000001E-2</c:v>
                </c:pt>
                <c:pt idx="8">
                  <c:v>3.500000000000001E-2</c:v>
                </c:pt>
                <c:pt idx="9">
                  <c:v>4.8000000000000001E-2</c:v>
                </c:pt>
                <c:pt idx="10">
                  <c:v>3.6999999999999998E-2</c:v>
                </c:pt>
                <c:pt idx="11">
                  <c:v>3.100000000000001E-2</c:v>
                </c:pt>
                <c:pt idx="12">
                  <c:v>2.700000000000001E-2</c:v>
                </c:pt>
                <c:pt idx="13">
                  <c:v>5.5000000000000014E-2</c:v>
                </c:pt>
                <c:pt idx="14">
                  <c:v>7.5000000000000011E-2</c:v>
                </c:pt>
                <c:pt idx="15">
                  <c:v>4.3000000000000003E-2</c:v>
                </c:pt>
                <c:pt idx="16">
                  <c:v>5.1999999999999998E-2</c:v>
                </c:pt>
                <c:pt idx="17">
                  <c:v>5.3000000000000012E-2</c:v>
                </c:pt>
                <c:pt idx="18">
                  <c:v>3.7999999999999999E-2</c:v>
                </c:pt>
                <c:pt idx="19">
                  <c:v>0.05</c:v>
                </c:pt>
                <c:pt idx="20">
                  <c:v>5.5000000000000014E-2</c:v>
                </c:pt>
              </c:numCache>
            </c:numRef>
          </c:val>
        </c:ser>
        <c:ser>
          <c:idx val="5"/>
          <c:order val="4"/>
          <c:tx>
            <c:strRef>
              <c:f>Sheet1!$A$6</c:f>
              <c:strCache>
                <c:ptCount val="1"/>
                <c:pt idx="0">
                  <c:v>Employment</c:v>
                </c:pt>
              </c:strCache>
            </c:strRef>
          </c:tx>
          <c:spPr>
            <a:ln w="41741">
              <a:solidFill>
                <a:srgbClr val="808080"/>
              </a:solidFill>
              <a:prstDash val="solid"/>
            </a:ln>
          </c:spPr>
          <c:marker>
            <c:symbol val="circle"/>
            <c:size val="2"/>
            <c:spPr>
              <a:solidFill>
                <a:srgbClr val="808080"/>
              </a:solidFill>
              <a:ln>
                <a:solidFill>
                  <a:srgbClr val="808080"/>
                </a:solidFill>
                <a:prstDash val="solid"/>
              </a:ln>
            </c:spPr>
          </c:marker>
          <c:dLbls>
            <c:delete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Sept-03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Sheet1!$B$6:$V$6</c:f>
              <c:numCache>
                <c:formatCode>0%</c:formatCode>
                <c:ptCount val="21"/>
                <c:pt idx="0">
                  <c:v>2.0000000000000007E-2</c:v>
                </c:pt>
                <c:pt idx="1">
                  <c:v>1.0000000000000004E-2</c:v>
                </c:pt>
                <c:pt idx="2">
                  <c:v>1.0000000000000004E-2</c:v>
                </c:pt>
                <c:pt idx="3">
                  <c:v>4.0000000000000018E-3</c:v>
                </c:pt>
                <c:pt idx="4">
                  <c:v>4.0000000000000018E-3</c:v>
                </c:pt>
                <c:pt idx="5">
                  <c:v>0.05</c:v>
                </c:pt>
                <c:pt idx="6">
                  <c:v>0.05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3">
                  <c:v>2.3E-2</c:v>
                </c:pt>
                <c:pt idx="14">
                  <c:v>1.9000000000000006E-2</c:v>
                </c:pt>
                <c:pt idx="15">
                  <c:v>1.6000000000000007E-2</c:v>
                </c:pt>
                <c:pt idx="16">
                  <c:v>2.4E-2</c:v>
                </c:pt>
                <c:pt idx="17">
                  <c:v>1.7999999999999999E-2</c:v>
                </c:pt>
                <c:pt idx="18">
                  <c:v>1.4999999999999998E-2</c:v>
                </c:pt>
                <c:pt idx="19">
                  <c:v>1.0999999999999998E-2</c:v>
                </c:pt>
                <c:pt idx="20">
                  <c:v>9.0000000000000028E-3</c:v>
                </c:pt>
              </c:numCache>
            </c:numRef>
          </c:val>
          <c:smooth val="1"/>
        </c:ser>
        <c:ser>
          <c:idx val="6"/>
          <c:order val="5"/>
          <c:tx>
            <c:strRef>
              <c:f>Sheet1!$A$7</c:f>
              <c:strCache>
                <c:ptCount val="1"/>
                <c:pt idx="0">
                  <c:v>Other</c:v>
                </c:pt>
              </c:strCache>
            </c:strRef>
          </c:tx>
          <c:spPr>
            <a:ln w="41741">
              <a:solidFill>
                <a:srgbClr val="000000"/>
              </a:solidFill>
              <a:prstDash val="solid"/>
            </a:ln>
          </c:spPr>
          <c:marker>
            <c:symbol val="dash"/>
            <c:size val="2"/>
            <c:spPr>
              <a:noFill/>
              <a:ln>
                <a:solidFill>
                  <a:srgbClr val="000000"/>
                </a:solidFill>
                <a:prstDash val="solid"/>
              </a:ln>
            </c:spPr>
          </c:marker>
          <c:dLbls>
            <c:delete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Sept-03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Sheet1!$B$7:$V$7</c:f>
              <c:numCache>
                <c:formatCode>0%</c:formatCode>
                <c:ptCount val="21"/>
                <c:pt idx="0">
                  <c:v>3.0000000000000002E-2</c:v>
                </c:pt>
                <c:pt idx="1">
                  <c:v>3.0000000000000002E-2</c:v>
                </c:pt>
                <c:pt idx="2">
                  <c:v>3.0000000000000002E-2</c:v>
                </c:pt>
                <c:pt idx="3">
                  <c:v>1.0000000000000004E-2</c:v>
                </c:pt>
                <c:pt idx="4">
                  <c:v>1.0000000000000004E-2</c:v>
                </c:pt>
                <c:pt idx="5">
                  <c:v>1.9000000000000006E-2</c:v>
                </c:pt>
                <c:pt idx="6">
                  <c:v>1.0000000000000004E-2</c:v>
                </c:pt>
                <c:pt idx="7">
                  <c:v>1.0000000000000004E-2</c:v>
                </c:pt>
                <c:pt idx="8">
                  <c:v>1.0000000000000004E-2</c:v>
                </c:pt>
                <c:pt idx="9">
                  <c:v>2.5999999999999999E-2</c:v>
                </c:pt>
                <c:pt idx="10">
                  <c:v>8.0000000000000054E-3</c:v>
                </c:pt>
                <c:pt idx="11">
                  <c:v>6.0000000000000019E-3</c:v>
                </c:pt>
                <c:pt idx="12">
                  <c:v>5.0000000000000018E-3</c:v>
                </c:pt>
                <c:pt idx="13">
                  <c:v>1.2999999999999998E-2</c:v>
                </c:pt>
                <c:pt idx="14">
                  <c:v>1.6000000000000007E-2</c:v>
                </c:pt>
                <c:pt idx="15">
                  <c:v>5.0000000000000018E-3</c:v>
                </c:pt>
                <c:pt idx="16">
                  <c:v>6.0000000000000019E-3</c:v>
                </c:pt>
                <c:pt idx="17">
                  <c:v>1.7000000000000001E-2</c:v>
                </c:pt>
                <c:pt idx="18">
                  <c:v>1.4999999999999998E-2</c:v>
                </c:pt>
                <c:pt idx="19">
                  <c:v>1.4999999999999998E-2</c:v>
                </c:pt>
                <c:pt idx="20">
                  <c:v>1.4E-2</c:v>
                </c:pt>
              </c:numCache>
            </c:numRef>
          </c:val>
        </c:ser>
        <c:ser>
          <c:idx val="4"/>
          <c:order val="6"/>
          <c:tx>
            <c:strRef>
              <c:f>Sheet1!$A$8</c:f>
              <c:strCache>
                <c:ptCount val="1"/>
                <c:pt idx="0">
                  <c:v>Police presence</c:v>
                </c:pt>
              </c:strCache>
            </c:strRef>
          </c:tx>
          <c:dLbls>
            <c:delete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Sept-03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Sheet1!$B$8:$V$8</c:f>
              <c:numCache>
                <c:formatCode>General</c:formatCode>
                <c:ptCount val="21"/>
                <c:pt idx="3" formatCode="0%">
                  <c:v>4.0000000000000015E-2</c:v>
                </c:pt>
                <c:pt idx="4" formatCode="0%">
                  <c:v>2.0000000000000007E-2</c:v>
                </c:pt>
                <c:pt idx="5" formatCode="0%">
                  <c:v>5.1999999999999998E-2</c:v>
                </c:pt>
                <c:pt idx="6" formatCode="0%">
                  <c:v>3.0000000000000002E-2</c:v>
                </c:pt>
                <c:pt idx="7" formatCode="0%">
                  <c:v>0</c:v>
                </c:pt>
                <c:pt idx="8" formatCode="0%">
                  <c:v>0</c:v>
                </c:pt>
                <c:pt idx="9" formatCode="0%">
                  <c:v>2.3E-2</c:v>
                </c:pt>
                <c:pt idx="10" formatCode="0%">
                  <c:v>1.7000000000000001E-2</c:v>
                </c:pt>
                <c:pt idx="11" formatCode="0%">
                  <c:v>2.3E-2</c:v>
                </c:pt>
                <c:pt idx="12" formatCode="0%">
                  <c:v>6.1000000000000013E-2</c:v>
                </c:pt>
                <c:pt idx="13" formatCode="0%">
                  <c:v>3.100000000000001E-2</c:v>
                </c:pt>
                <c:pt idx="14" formatCode="0%">
                  <c:v>2.5000000000000001E-2</c:v>
                </c:pt>
                <c:pt idx="15" formatCode="0%">
                  <c:v>2.0000000000000007E-2</c:v>
                </c:pt>
                <c:pt idx="16" formatCode="0%">
                  <c:v>2.5000000000000001E-2</c:v>
                </c:pt>
                <c:pt idx="17" formatCode="0%">
                  <c:v>1.0999999999999998E-2</c:v>
                </c:pt>
                <c:pt idx="18" formatCode="0%">
                  <c:v>1.2999999999999998E-2</c:v>
                </c:pt>
                <c:pt idx="19" formatCode="0%">
                  <c:v>9.0000000000000028E-3</c:v>
                </c:pt>
                <c:pt idx="20" formatCode="0%">
                  <c:v>2.0000000000000007E-2</c:v>
                </c:pt>
              </c:numCache>
            </c:numRef>
          </c:val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Fight against Corruption</c:v>
                </c:pt>
              </c:strCache>
            </c:strRef>
          </c:tx>
          <c:spPr>
            <a:ln w="41248">
              <a:solidFill>
                <a:schemeClr val="accent1">
                  <a:lumMod val="75000"/>
                </a:schemeClr>
              </a:solidFill>
            </a:ln>
          </c:spPr>
          <c:marker>
            <c:symbol val="circle"/>
            <c:size val="2"/>
            <c:spPr>
              <a:solidFill>
                <a:schemeClr val="accent1">
                  <a:lumMod val="75000"/>
                </a:schemeClr>
              </a:solidFill>
            </c:spPr>
          </c:marker>
          <c:dLbls>
            <c:dLbl>
              <c:idx val="15"/>
              <c:layout>
                <c:manualLayout>
                  <c:x val="-1.3392857142857437E-2"/>
                  <c:y val="-2.6960784313725443E-2"/>
                </c:manualLayout>
              </c:layout>
              <c:dLblPos val="r"/>
              <c:showVal val="1"/>
            </c:dLbl>
            <c:dLbl>
              <c:idx val="18"/>
              <c:layout>
                <c:manualLayout>
                  <c:x val="6.1166572928384004E-3"/>
                  <c:y val="1.6431924882629192E-2"/>
                </c:manualLayout>
              </c:layout>
              <c:dLblPos val="r"/>
              <c:showVal val="1"/>
            </c:dLbl>
            <c:txPr>
              <a:bodyPr/>
              <a:lstStyle/>
              <a:p>
                <a:pPr>
                  <a:defRPr sz="1599"/>
                </a:pPr>
                <a:endParaRPr lang="en-US"/>
              </a:p>
            </c:txPr>
            <c:showVal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Sept-03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Sheet1!$B$9:$V$9</c:f>
              <c:numCache>
                <c:formatCode>General</c:formatCode>
                <c:ptCount val="21"/>
                <c:pt idx="15" formatCode="0%">
                  <c:v>0.28500000000000009</c:v>
                </c:pt>
                <c:pt idx="16" formatCode="0%">
                  <c:v>0.25800000000000001</c:v>
                </c:pt>
                <c:pt idx="17" formatCode="0%">
                  <c:v>0.23400000000000001</c:v>
                </c:pt>
                <c:pt idx="18" formatCode="0%">
                  <c:v>0.21600000000000005</c:v>
                </c:pt>
                <c:pt idx="19" formatCode="0%">
                  <c:v>0.20900000000000005</c:v>
                </c:pt>
                <c:pt idx="20" formatCode="0%">
                  <c:v>0.19800000000000001</c:v>
                </c:pt>
              </c:numCache>
            </c:numRef>
          </c:val>
          <c:smooth val="1"/>
        </c:ser>
        <c:dLbls>
          <c:showVal val="1"/>
        </c:dLbls>
        <c:marker val="1"/>
        <c:axId val="145019648"/>
        <c:axId val="145021184"/>
      </c:lineChart>
      <c:catAx>
        <c:axId val="145019648"/>
        <c:scaling>
          <c:orientation val="minMax"/>
        </c:scaling>
        <c:axPos val="b"/>
        <c:numFmt formatCode="@" sourceLinked="1"/>
        <c:tickLblPos val="nextTo"/>
        <c:spPr>
          <a:ln w="3482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999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5021184"/>
        <c:crosses val="autoZero"/>
        <c:auto val="1"/>
        <c:lblAlgn val="ctr"/>
        <c:lblOffset val="100"/>
        <c:tickLblSkip val="1"/>
        <c:tickMarkSkip val="1"/>
      </c:catAx>
      <c:valAx>
        <c:axId val="145021184"/>
        <c:scaling>
          <c:orientation val="minMax"/>
          <c:min val="0"/>
        </c:scaling>
        <c:axPos val="l"/>
        <c:numFmt formatCode="0%" sourceLinked="1"/>
        <c:tickLblPos val="nextTo"/>
        <c:spPr>
          <a:ln w="3482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16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5019648"/>
        <c:crosses val="autoZero"/>
        <c:crossBetween val="between"/>
      </c:valAx>
      <c:spPr>
        <a:noFill/>
        <a:ln w="25383">
          <a:noFill/>
        </a:ln>
      </c:spPr>
    </c:plotArea>
    <c:legend>
      <c:legendPos val="b"/>
      <c:layout>
        <c:manualLayout>
          <c:xMode val="edge"/>
          <c:yMode val="edge"/>
          <c:x val="7.9190321300130956E-2"/>
          <c:y val="9.1252034355920601E-5"/>
          <c:w val="0.91165934957904571"/>
          <c:h val="0.13783986679084481"/>
        </c:manualLayout>
      </c:layout>
      <c:spPr>
        <a:solidFill>
          <a:schemeClr val="bg1"/>
        </a:solidFill>
        <a:ln w="3482">
          <a:solidFill>
            <a:schemeClr val="tx1"/>
          </a:solidFill>
          <a:prstDash val="solid"/>
        </a:ln>
      </c:spPr>
      <c:txPr>
        <a:bodyPr/>
        <a:lstStyle/>
        <a:p>
          <a:pPr>
            <a:defRPr sz="1206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974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7.0719597550307794E-2"/>
          <c:y val="3.1230971128609845E-2"/>
          <c:w val="0.9168734491315137"/>
          <c:h val="0.644549763033201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Abolish Visa</c:v>
                </c:pt>
              </c:strCache>
            </c:strRef>
          </c:tx>
          <c:spPr>
            <a:ln w="42534">
              <a:solidFill>
                <a:srgbClr val="FF0000"/>
              </a:solidFill>
              <a:prstDash val="solid"/>
            </a:ln>
          </c:spPr>
          <c:marker>
            <c:symbol val="diamond"/>
            <c:size val="2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dLbl>
              <c:idx val="15"/>
              <c:layout>
                <c:manualLayout>
                  <c:x val="-8.771929824561403E-3"/>
                  <c:y val="-5.1282051282051282E-3"/>
                </c:manualLayout>
              </c:layout>
              <c:dLblPos val="r"/>
              <c:showVal val="1"/>
            </c:dLbl>
            <c:spPr>
              <a:noFill/>
              <a:ln w="28364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Sheet1!$B$2:$V$2</c:f>
              <c:numCache>
                <c:formatCode>0%</c:formatCode>
                <c:ptCount val="21"/>
                <c:pt idx="0">
                  <c:v>0.3000000000000001</c:v>
                </c:pt>
                <c:pt idx="1">
                  <c:v>0.29000000000000009</c:v>
                </c:pt>
                <c:pt idx="2">
                  <c:v>0.31000000000000011</c:v>
                </c:pt>
                <c:pt idx="3">
                  <c:v>0.32000000000000012</c:v>
                </c:pt>
                <c:pt idx="4">
                  <c:v>0.28000000000000008</c:v>
                </c:pt>
                <c:pt idx="5">
                  <c:v>0.3000000000000001</c:v>
                </c:pt>
                <c:pt idx="6">
                  <c:v>0.29000000000000009</c:v>
                </c:pt>
                <c:pt idx="7">
                  <c:v>0.36600000000000016</c:v>
                </c:pt>
                <c:pt idx="8">
                  <c:v>0.29900000000000015</c:v>
                </c:pt>
                <c:pt idx="9">
                  <c:v>0.26800000000000002</c:v>
                </c:pt>
                <c:pt idx="10">
                  <c:v>0.31700000000000012</c:v>
                </c:pt>
                <c:pt idx="11">
                  <c:v>0.30200000000000016</c:v>
                </c:pt>
                <c:pt idx="12">
                  <c:v>0.32900000000000013</c:v>
                </c:pt>
                <c:pt idx="13">
                  <c:v>0.39400000000000013</c:v>
                </c:pt>
                <c:pt idx="14">
                  <c:v>0.37700000000000011</c:v>
                </c:pt>
                <c:pt idx="15">
                  <c:v>0.33500000000000013</c:v>
                </c:pt>
                <c:pt idx="16">
                  <c:v>0.28500000000000009</c:v>
                </c:pt>
                <c:pt idx="17">
                  <c:v>0.24200000000000005</c:v>
                </c:pt>
                <c:pt idx="18">
                  <c:v>0.32400000000000012</c:v>
                </c:pt>
                <c:pt idx="19">
                  <c:v>0.33400000000000013</c:v>
                </c:pt>
                <c:pt idx="20">
                  <c:v>0.39900000000000013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Euro-Atlantic Integration</c:v>
                </c:pt>
              </c:strCache>
            </c:strRef>
          </c:tx>
          <c:spPr>
            <a:ln w="42534">
              <a:solidFill>
                <a:srgbClr val="33CCCC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33CCCC"/>
              </a:solidFill>
              <a:ln>
                <a:solidFill>
                  <a:srgbClr val="33CCCC"/>
                </a:solidFill>
                <a:prstDash val="solid"/>
              </a:ln>
            </c:spPr>
          </c:marker>
          <c:dLbls>
            <c:spPr>
              <a:noFill/>
              <a:ln w="28364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Sheet1!$B$3:$V$3</c:f>
              <c:numCache>
                <c:formatCode>0%</c:formatCode>
                <c:ptCount val="21"/>
                <c:pt idx="0">
                  <c:v>0.11</c:v>
                </c:pt>
                <c:pt idx="1">
                  <c:v>0.13</c:v>
                </c:pt>
                <c:pt idx="2">
                  <c:v>0.14000000000000001</c:v>
                </c:pt>
                <c:pt idx="3">
                  <c:v>0.12000000000000002</c:v>
                </c:pt>
                <c:pt idx="4">
                  <c:v>0.15000000000000005</c:v>
                </c:pt>
                <c:pt idx="5">
                  <c:v>0.12000000000000002</c:v>
                </c:pt>
                <c:pt idx="6">
                  <c:v>0.19</c:v>
                </c:pt>
                <c:pt idx="7">
                  <c:v>0.14600000000000005</c:v>
                </c:pt>
                <c:pt idx="8">
                  <c:v>8.2000000000000003E-2</c:v>
                </c:pt>
                <c:pt idx="9">
                  <c:v>0.15200000000000005</c:v>
                </c:pt>
                <c:pt idx="10">
                  <c:v>0.10100000000000002</c:v>
                </c:pt>
                <c:pt idx="11">
                  <c:v>0.113</c:v>
                </c:pt>
                <c:pt idx="12">
                  <c:v>9.7000000000000003E-2</c:v>
                </c:pt>
                <c:pt idx="13">
                  <c:v>0.111</c:v>
                </c:pt>
                <c:pt idx="14">
                  <c:v>0.111</c:v>
                </c:pt>
                <c:pt idx="15">
                  <c:v>0.129</c:v>
                </c:pt>
                <c:pt idx="16">
                  <c:v>0.13</c:v>
                </c:pt>
                <c:pt idx="17">
                  <c:v>0.20400000000000001</c:v>
                </c:pt>
                <c:pt idx="18">
                  <c:v>0.18100000000000005</c:v>
                </c:pt>
                <c:pt idx="19">
                  <c:v>0.10600000000000002</c:v>
                </c:pt>
                <c:pt idx="20">
                  <c:v>0.13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Recognition of Name</c:v>
                </c:pt>
              </c:strCache>
            </c:strRef>
          </c:tx>
          <c:spPr>
            <a:ln w="42534">
              <a:solidFill>
                <a:srgbClr val="0000FF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dLbls>
            <c:dLbl>
              <c:idx val="14"/>
              <c:layout>
                <c:manualLayout>
                  <c:x val="-1.6081871345029662E-2"/>
                  <c:y val="-1.282051282051282E-2"/>
                </c:manualLayout>
              </c:layout>
              <c:dLblPos val="r"/>
              <c:showVal val="1"/>
            </c:dLbl>
            <c:dLbl>
              <c:idx val="15"/>
              <c:layout>
                <c:manualLayout>
                  <c:x val="-1.7543859649123229E-2"/>
                  <c:y val="7.6923076923077014E-3"/>
                </c:manualLayout>
              </c:layout>
              <c:dLblPos val="r"/>
              <c:showVal val="1"/>
            </c:dLbl>
            <c:spPr>
              <a:noFill/>
              <a:ln w="28364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Sheet1!$B$4:$V$4</c:f>
              <c:numCache>
                <c:formatCode>0%</c:formatCode>
                <c:ptCount val="21"/>
                <c:pt idx="0">
                  <c:v>0.56999999999999995</c:v>
                </c:pt>
                <c:pt idx="1">
                  <c:v>0.56000000000000005</c:v>
                </c:pt>
                <c:pt idx="2">
                  <c:v>0.53</c:v>
                </c:pt>
                <c:pt idx="3">
                  <c:v>0.4300000000000001</c:v>
                </c:pt>
                <c:pt idx="4">
                  <c:v>0.48000000000000009</c:v>
                </c:pt>
                <c:pt idx="5">
                  <c:v>0.47000000000000008</c:v>
                </c:pt>
                <c:pt idx="8">
                  <c:v>0.38400000000000012</c:v>
                </c:pt>
                <c:pt idx="9">
                  <c:v>0.34300000000000008</c:v>
                </c:pt>
                <c:pt idx="10">
                  <c:v>0.34300000000000008</c:v>
                </c:pt>
                <c:pt idx="11">
                  <c:v>0.30800000000000011</c:v>
                </c:pt>
                <c:pt idx="12">
                  <c:v>0.37600000000000011</c:v>
                </c:pt>
                <c:pt idx="13">
                  <c:v>0.28200000000000008</c:v>
                </c:pt>
                <c:pt idx="14">
                  <c:v>0.31300000000000011</c:v>
                </c:pt>
                <c:pt idx="15">
                  <c:v>0.23500000000000001</c:v>
                </c:pt>
                <c:pt idx="16">
                  <c:v>0.34900000000000009</c:v>
                </c:pt>
                <c:pt idx="17">
                  <c:v>0.43800000000000011</c:v>
                </c:pt>
                <c:pt idx="18">
                  <c:v>0.37400000000000011</c:v>
                </c:pt>
                <c:pt idx="19">
                  <c:v>0.41100000000000009</c:v>
                </c:pt>
                <c:pt idx="20">
                  <c:v>0.34600000000000009</c:v>
                </c:pt>
              </c:numCache>
            </c:numRef>
          </c:val>
          <c:smooth val="1"/>
        </c:ser>
        <c:ser>
          <c:idx val="4"/>
          <c:order val="3"/>
          <c:tx>
            <c:strRef>
              <c:f>Sheet1!$A$5</c:f>
              <c:strCache>
                <c:ptCount val="1"/>
                <c:pt idx="0">
                  <c:v>DK</c:v>
                </c:pt>
              </c:strCache>
            </c:strRef>
          </c:tx>
          <c:spPr>
            <a:ln w="42534">
              <a:solidFill>
                <a:srgbClr val="808080"/>
              </a:solidFill>
              <a:prstDash val="solid"/>
            </a:ln>
          </c:spPr>
          <c:marker>
            <c:symbol val="dot"/>
            <c:size val="2"/>
            <c:spPr>
              <a:solidFill>
                <a:srgbClr val="808080"/>
              </a:solidFill>
              <a:ln>
                <a:solidFill>
                  <a:srgbClr val="808080"/>
                </a:solidFill>
                <a:prstDash val="solid"/>
              </a:ln>
            </c:spPr>
          </c:marker>
          <c:dLbls>
            <c:delete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Sheet1!$B$5:$V$5</c:f>
              <c:numCache>
                <c:formatCode>0%</c:formatCode>
                <c:ptCount val="21"/>
                <c:pt idx="0">
                  <c:v>3.0000000000000002E-2</c:v>
                </c:pt>
                <c:pt idx="1">
                  <c:v>2.0000000000000007E-2</c:v>
                </c:pt>
                <c:pt idx="2">
                  <c:v>2.0000000000000007E-2</c:v>
                </c:pt>
                <c:pt idx="3">
                  <c:v>1.0000000000000004E-2</c:v>
                </c:pt>
                <c:pt idx="4">
                  <c:v>1.0000000000000004E-2</c:v>
                </c:pt>
                <c:pt idx="5">
                  <c:v>3.0000000000000002E-2</c:v>
                </c:pt>
                <c:pt idx="6">
                  <c:v>1.0000000000000004E-2</c:v>
                </c:pt>
                <c:pt idx="7">
                  <c:v>2.1999999999999999E-2</c:v>
                </c:pt>
                <c:pt idx="8">
                  <c:v>2.700000000000001E-2</c:v>
                </c:pt>
                <c:pt idx="9">
                  <c:v>2.5999999999999999E-2</c:v>
                </c:pt>
                <c:pt idx="10">
                  <c:v>2.8000000000000001E-2</c:v>
                </c:pt>
                <c:pt idx="11">
                  <c:v>2.4E-2</c:v>
                </c:pt>
                <c:pt idx="12">
                  <c:v>8.0000000000000054E-3</c:v>
                </c:pt>
                <c:pt idx="13">
                  <c:v>8.0000000000000054E-3</c:v>
                </c:pt>
                <c:pt idx="14">
                  <c:v>2.0000000000000007E-2</c:v>
                </c:pt>
                <c:pt idx="15">
                  <c:v>1.7999999999999999E-2</c:v>
                </c:pt>
                <c:pt idx="16">
                  <c:v>1.6000000000000007E-2</c:v>
                </c:pt>
                <c:pt idx="17">
                  <c:v>4.0000000000000018E-3</c:v>
                </c:pt>
                <c:pt idx="18">
                  <c:v>1.6000000000000007E-2</c:v>
                </c:pt>
                <c:pt idx="19">
                  <c:v>2.0000000000000007E-2</c:v>
                </c:pt>
                <c:pt idx="20">
                  <c:v>7.0000000000000019E-3</c:v>
                </c:pt>
              </c:numCache>
            </c:numRef>
          </c:val>
          <c:smooth val="1"/>
        </c:ser>
        <c:ser>
          <c:idx val="5"/>
          <c:order val="4"/>
          <c:tx>
            <c:strRef>
              <c:f>Sheet1!$A$6</c:f>
              <c:strCache>
                <c:ptCount val="1"/>
                <c:pt idx="0">
                  <c:v>War on Terrorism</c:v>
                </c:pt>
              </c:strCache>
            </c:strRef>
          </c:tx>
          <c:spPr>
            <a:ln w="42534">
              <a:solidFill>
                <a:srgbClr val="008080"/>
              </a:solidFill>
              <a:prstDash val="solid"/>
            </a:ln>
          </c:spPr>
          <c:marker>
            <c:symbol val="circle"/>
            <c:size val="2"/>
            <c:spPr>
              <a:solidFill>
                <a:srgbClr val="339966"/>
              </a:solidFill>
              <a:ln>
                <a:solidFill>
                  <a:srgbClr val="339966"/>
                </a:solidFill>
                <a:prstDash val="solid"/>
              </a:ln>
            </c:spPr>
          </c:marker>
          <c:dLbls>
            <c:delete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Sheet1!$B$6:$V$6</c:f>
              <c:numCache>
                <c:formatCode>General</c:formatCode>
                <c:ptCount val="21"/>
                <c:pt idx="3" formatCode="0%">
                  <c:v>0.12000000000000002</c:v>
                </c:pt>
                <c:pt idx="4" formatCode="0%">
                  <c:v>7.0000000000000021E-2</c:v>
                </c:pt>
                <c:pt idx="5" formatCode="0%">
                  <c:v>7.0000000000000021E-2</c:v>
                </c:pt>
                <c:pt idx="6" formatCode="0%">
                  <c:v>0.14000000000000001</c:v>
                </c:pt>
                <c:pt idx="7" formatCode="0%">
                  <c:v>9.6000000000000002E-2</c:v>
                </c:pt>
                <c:pt idx="8" formatCode="0%">
                  <c:v>4.2000000000000016E-2</c:v>
                </c:pt>
                <c:pt idx="9" formatCode="0%">
                  <c:v>2.9000000000000001E-2</c:v>
                </c:pt>
                <c:pt idx="10" formatCode="0%">
                  <c:v>4.3000000000000003E-2</c:v>
                </c:pt>
                <c:pt idx="11" formatCode="0%">
                  <c:v>4.3000000000000003E-2</c:v>
                </c:pt>
                <c:pt idx="12" formatCode="0%">
                  <c:v>4.5999999999999999E-2</c:v>
                </c:pt>
                <c:pt idx="13" formatCode="0%">
                  <c:v>3.0000000000000002E-2</c:v>
                </c:pt>
                <c:pt idx="14" formatCode="0%">
                  <c:v>2.0000000000000007E-2</c:v>
                </c:pt>
                <c:pt idx="15" formatCode="0%">
                  <c:v>3.5999999999999997E-2</c:v>
                </c:pt>
                <c:pt idx="16" formatCode="0%">
                  <c:v>2.5000000000000001E-2</c:v>
                </c:pt>
                <c:pt idx="17" formatCode="0%">
                  <c:v>1.0999999999999998E-2</c:v>
                </c:pt>
                <c:pt idx="18" formatCode="0%">
                  <c:v>1.7999999999999999E-2</c:v>
                </c:pt>
                <c:pt idx="19" formatCode="0%">
                  <c:v>8.0000000000000054E-3</c:v>
                </c:pt>
                <c:pt idx="20" formatCode="0%">
                  <c:v>1.0999999999999998E-2</c:v>
                </c:pt>
              </c:numCache>
            </c:numRef>
          </c:val>
          <c:smooth val="1"/>
        </c:ser>
        <c:ser>
          <c:idx val="6"/>
          <c:order val="5"/>
          <c:tx>
            <c:strRef>
              <c:f>Sheet1!$A$7</c:f>
              <c:strCache>
                <c:ptCount val="1"/>
                <c:pt idx="0">
                  <c:v>Increasing Foreign Investment</c:v>
                </c:pt>
              </c:strCache>
            </c:strRef>
          </c:tx>
          <c:spPr>
            <a:ln w="42534">
              <a:solidFill>
                <a:srgbClr val="FFC000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339966"/>
              </a:solidFill>
              <a:ln>
                <a:solidFill>
                  <a:srgbClr val="008080"/>
                </a:solidFill>
                <a:prstDash val="solid"/>
              </a:ln>
            </c:spPr>
          </c:marker>
          <c:dLbls>
            <c:spPr>
              <a:noFill/>
              <a:ln w="28364">
                <a:noFill/>
              </a:ln>
            </c:spPr>
            <c:txPr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Sheet1!$B$7:$V$7</c:f>
              <c:numCache>
                <c:formatCode>General</c:formatCode>
                <c:ptCount val="21"/>
                <c:pt idx="6" formatCode="0%">
                  <c:v>0.35000000000000009</c:v>
                </c:pt>
                <c:pt idx="7" formatCode="0%">
                  <c:v>0.36600000000000016</c:v>
                </c:pt>
                <c:pt idx="8" formatCode="0%">
                  <c:v>0.16300000000000001</c:v>
                </c:pt>
                <c:pt idx="9" formatCode="0%">
                  <c:v>0.17900000000000005</c:v>
                </c:pt>
                <c:pt idx="10" formatCode="0%">
                  <c:v>0.16500000000000001</c:v>
                </c:pt>
                <c:pt idx="11" formatCode="0%">
                  <c:v>0.20300000000000001</c:v>
                </c:pt>
                <c:pt idx="12" formatCode="0%">
                  <c:v>0.14200000000000004</c:v>
                </c:pt>
                <c:pt idx="13" formatCode="0%">
                  <c:v>0.15700000000000006</c:v>
                </c:pt>
                <c:pt idx="14" formatCode="0%">
                  <c:v>0.15300000000000005</c:v>
                </c:pt>
                <c:pt idx="15" formatCode="0%">
                  <c:v>0.16</c:v>
                </c:pt>
                <c:pt idx="16" formatCode="0%">
                  <c:v>0.11600000000000002</c:v>
                </c:pt>
                <c:pt idx="17" formatCode="0%">
                  <c:v>7.5000000000000011E-2</c:v>
                </c:pt>
                <c:pt idx="18" formatCode="0%">
                  <c:v>6.5000000000000002E-2</c:v>
                </c:pt>
                <c:pt idx="19" formatCode="0%">
                  <c:v>9.3000000000000055E-2</c:v>
                </c:pt>
                <c:pt idx="20" formatCode="0%">
                  <c:v>9.1000000000000025E-2</c:v>
                </c:pt>
              </c:numCache>
            </c:numRef>
          </c:val>
          <c:smooth val="1"/>
        </c:ser>
        <c:ser>
          <c:idx val="3"/>
          <c:order val="6"/>
          <c:tx>
            <c:strRef>
              <c:f>Sheet1!$A$8</c:f>
              <c:strCache>
                <c:ptCount val="1"/>
                <c:pt idx="0">
                  <c:v>Status of Kosovo</c:v>
                </c:pt>
              </c:strCache>
            </c:strRef>
          </c:tx>
          <c:marker>
            <c:symbol val="diamond"/>
            <c:size val="6"/>
          </c:marker>
          <c:dLbls>
            <c:delete val="1"/>
          </c:dLbls>
          <c:cat>
            <c:strRef>
              <c:f>Sheet1!$B$1:$V$1</c:f>
              <c:strCache>
                <c:ptCount val="21"/>
                <c:pt idx="0">
                  <c:v>Apr-03</c:v>
                </c:pt>
                <c:pt idx="1">
                  <c:v>Jun-03</c:v>
                </c:pt>
                <c:pt idx="2">
                  <c:v>Sep-03</c:v>
                </c:pt>
                <c:pt idx="3">
                  <c:v>Mar-04</c:v>
                </c:pt>
                <c:pt idx="4">
                  <c:v>Jun-04</c:v>
                </c:pt>
                <c:pt idx="5">
                  <c:v>Oct-04</c:v>
                </c:pt>
                <c:pt idx="6">
                  <c:v>Dec-04</c:v>
                </c:pt>
                <c:pt idx="7">
                  <c:v>Apr-05</c:v>
                </c:pt>
                <c:pt idx="8">
                  <c:v>Sep-05</c:v>
                </c:pt>
                <c:pt idx="9">
                  <c:v>Jan-06</c:v>
                </c:pt>
                <c:pt idx="10">
                  <c:v>Mar-06</c:v>
                </c:pt>
                <c:pt idx="11">
                  <c:v>Sep-06</c:v>
                </c:pt>
                <c:pt idx="12">
                  <c:v>Nov-06</c:v>
                </c:pt>
                <c:pt idx="13">
                  <c:v>Mar-07</c:v>
                </c:pt>
                <c:pt idx="14">
                  <c:v>Jun-07</c:v>
                </c:pt>
                <c:pt idx="15">
                  <c:v>Sep-07</c:v>
                </c:pt>
                <c:pt idx="16">
                  <c:v>Dec-07</c:v>
                </c:pt>
                <c:pt idx="17">
                  <c:v>Apr-08</c:v>
                </c:pt>
                <c:pt idx="18">
                  <c:v>Jun-08</c:v>
                </c:pt>
                <c:pt idx="19">
                  <c:v>Sep-08</c:v>
                </c:pt>
                <c:pt idx="20">
                  <c:v>Dec-08</c:v>
                </c:pt>
              </c:strCache>
            </c:strRef>
          </c:cat>
          <c:val>
            <c:numRef>
              <c:f>Sheet1!$B$8:$V$8</c:f>
              <c:numCache>
                <c:formatCode>General</c:formatCode>
                <c:ptCount val="21"/>
                <c:pt idx="15" formatCode="0%">
                  <c:v>8.1000000000000003E-2</c:v>
                </c:pt>
                <c:pt idx="16" formatCode="0%">
                  <c:v>7.8000000000000014E-2</c:v>
                </c:pt>
                <c:pt idx="17" formatCode="0%">
                  <c:v>2.3E-2</c:v>
                </c:pt>
                <c:pt idx="18" formatCode="0%">
                  <c:v>1.6000000000000007E-2</c:v>
                </c:pt>
                <c:pt idx="19" formatCode="0%">
                  <c:v>2.5999999999999999E-2</c:v>
                </c:pt>
                <c:pt idx="20" formatCode="0%">
                  <c:v>1.2E-2</c:v>
                </c:pt>
              </c:numCache>
            </c:numRef>
          </c:val>
        </c:ser>
        <c:dLbls>
          <c:showVal val="1"/>
        </c:dLbls>
        <c:marker val="1"/>
        <c:axId val="146014208"/>
        <c:axId val="146015744"/>
      </c:lineChart>
      <c:catAx>
        <c:axId val="146014208"/>
        <c:scaling>
          <c:orientation val="minMax"/>
        </c:scaling>
        <c:axPos val="b"/>
        <c:numFmt formatCode="@" sourceLinked="1"/>
        <c:tickLblPos val="nextTo"/>
        <c:spPr>
          <a:ln w="3549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41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6015744"/>
        <c:crosses val="autoZero"/>
        <c:auto val="1"/>
        <c:lblAlgn val="ctr"/>
        <c:lblOffset val="100"/>
        <c:tickLblSkip val="1"/>
        <c:tickMarkSkip val="1"/>
      </c:catAx>
      <c:valAx>
        <c:axId val="146015744"/>
        <c:scaling>
          <c:orientation val="minMax"/>
        </c:scaling>
        <c:axPos val="l"/>
        <c:numFmt formatCode="0%" sourceLinked="1"/>
        <c:tickLblPos val="nextTo"/>
        <c:spPr>
          <a:ln w="3549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41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6014208"/>
        <c:crosses val="autoZero"/>
        <c:crossBetween val="between"/>
      </c:valAx>
      <c:spPr>
        <a:noFill/>
        <a:ln w="25398">
          <a:noFill/>
        </a:ln>
      </c:spPr>
    </c:plotArea>
    <c:legend>
      <c:legendPos val="b"/>
      <c:layout>
        <c:manualLayout>
          <c:xMode val="edge"/>
          <c:yMode val="edge"/>
          <c:x val="7.049822209030969E-2"/>
          <c:y val="0.84639699449333561"/>
          <c:w val="0.81008770245182748"/>
          <c:h val="0.14595275590551193"/>
        </c:manualLayout>
      </c:layout>
      <c:spPr>
        <a:solidFill>
          <a:schemeClr val="bg1"/>
        </a:solidFill>
        <a:ln w="3549">
          <a:solidFill>
            <a:schemeClr val="tx1"/>
          </a:solidFill>
          <a:prstDash val="solid"/>
        </a:ln>
      </c:spPr>
      <c:txPr>
        <a:bodyPr/>
        <a:lstStyle/>
        <a:p>
          <a:pPr>
            <a:defRPr sz="1229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dispBlanksAs val="gap"/>
  </c:chart>
  <c:spPr>
    <a:noFill/>
    <a:ln>
      <a:noFill/>
    </a:ln>
  </c:spPr>
  <c:txPr>
    <a:bodyPr/>
    <a:lstStyle/>
    <a:p>
      <a:pPr>
        <a:defRPr sz="2012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7.9404466501240833E-2"/>
          <c:y val="5.6872037914693439E-2"/>
          <c:w val="0.90818858560792237"/>
          <c:h val="0.70379146919432634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Yes</c:v>
                </c:pt>
              </c:strCache>
            </c:strRef>
          </c:tx>
          <c:spPr>
            <a:ln w="41242">
              <a:solidFill>
                <a:srgbClr val="0000FF"/>
              </a:solidFill>
              <a:prstDash val="solid"/>
            </a:ln>
          </c:spPr>
          <c:marker>
            <c:symbol val="diamond"/>
            <c:size val="2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2.5414836692459492E-3"/>
                  <c:y val="-4.4341817246993334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3.7021380811065428E-4"/>
                  <c:y val="-3.7161706440077082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-5.6024303547797482E-4"/>
                  <c:y val="-5.5763522073744104E-2"/>
                </c:manualLayout>
              </c:layout>
              <c:dLblPos val="r"/>
              <c:showVal val="1"/>
            </c:dLbl>
            <c:spPr>
              <a:noFill/>
              <a:ln w="27497">
                <a:noFill/>
              </a:ln>
            </c:spPr>
            <c:txPr>
              <a:bodyPr/>
              <a:lstStyle/>
              <a:p>
                <a:pPr>
                  <a:defRPr sz="1199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Sheet1!$B$1:$X$1</c:f>
              <c:strCache>
                <c:ptCount val="23"/>
                <c:pt idx="0">
                  <c:v>Jun-02</c:v>
                </c:pt>
                <c:pt idx="1">
                  <c:v>Jul-08</c:v>
                </c:pt>
                <c:pt idx="2">
                  <c:v>Apr-03</c:v>
                </c:pt>
                <c:pt idx="3">
                  <c:v>Jun-03</c:v>
                </c:pt>
                <c:pt idx="4">
                  <c:v>Sep-03</c:v>
                </c:pt>
                <c:pt idx="5">
                  <c:v>Mar-04</c:v>
                </c:pt>
                <c:pt idx="6">
                  <c:v>Jun-04</c:v>
                </c:pt>
                <c:pt idx="7">
                  <c:v>Oct-04</c:v>
                </c:pt>
                <c:pt idx="8">
                  <c:v>Dec-04</c:v>
                </c:pt>
                <c:pt idx="9">
                  <c:v>Apr-05</c:v>
                </c:pt>
                <c:pt idx="10">
                  <c:v>Sep-05</c:v>
                </c:pt>
                <c:pt idx="11">
                  <c:v>Jan-06</c:v>
                </c:pt>
                <c:pt idx="12">
                  <c:v>Mar-06</c:v>
                </c:pt>
                <c:pt idx="13">
                  <c:v>Sep-06</c:v>
                </c:pt>
                <c:pt idx="14">
                  <c:v>Nov-06</c:v>
                </c:pt>
                <c:pt idx="15">
                  <c:v>Mar-07</c:v>
                </c:pt>
                <c:pt idx="16">
                  <c:v>Jun-07</c:v>
                </c:pt>
                <c:pt idx="17">
                  <c:v>Sep-07</c:v>
                </c:pt>
                <c:pt idx="18">
                  <c:v>Dec-07</c:v>
                </c:pt>
                <c:pt idx="19">
                  <c:v>Apr-08</c:v>
                </c:pt>
                <c:pt idx="20">
                  <c:v>Jun-08</c:v>
                </c:pt>
                <c:pt idx="21">
                  <c:v>Sep-08</c:v>
                </c:pt>
                <c:pt idx="22">
                  <c:v>Dec-08</c:v>
                </c:pt>
              </c:strCache>
            </c:strRef>
          </c:cat>
          <c:val>
            <c:numRef>
              <c:f>Sheet1!$B$2:$X$2</c:f>
              <c:numCache>
                <c:formatCode>0%</c:formatCode>
                <c:ptCount val="23"/>
                <c:pt idx="0">
                  <c:v>0.77000000000000024</c:v>
                </c:pt>
                <c:pt idx="1">
                  <c:v>0.76000000000000023</c:v>
                </c:pt>
                <c:pt idx="2">
                  <c:v>0.71000000000000019</c:v>
                </c:pt>
                <c:pt idx="3">
                  <c:v>0.7200000000000002</c:v>
                </c:pt>
                <c:pt idx="4">
                  <c:v>0.77000000000000024</c:v>
                </c:pt>
                <c:pt idx="5">
                  <c:v>0.82000000000000017</c:v>
                </c:pt>
                <c:pt idx="6">
                  <c:v>0.87000000000000022</c:v>
                </c:pt>
                <c:pt idx="7">
                  <c:v>0.82900000000000018</c:v>
                </c:pt>
                <c:pt idx="8">
                  <c:v>0.88</c:v>
                </c:pt>
                <c:pt idx="9">
                  <c:v>0.89100000000000001</c:v>
                </c:pt>
                <c:pt idx="10">
                  <c:v>0.89</c:v>
                </c:pt>
                <c:pt idx="11">
                  <c:v>0.90400000000000003</c:v>
                </c:pt>
                <c:pt idx="12">
                  <c:v>0.89400000000000002</c:v>
                </c:pt>
                <c:pt idx="13">
                  <c:v>0.89</c:v>
                </c:pt>
                <c:pt idx="14">
                  <c:v>0.90100000000000002</c:v>
                </c:pt>
                <c:pt idx="15">
                  <c:v>0.88600000000000001</c:v>
                </c:pt>
                <c:pt idx="16">
                  <c:v>0.90800000000000003</c:v>
                </c:pt>
                <c:pt idx="17">
                  <c:v>0.90700000000000003</c:v>
                </c:pt>
                <c:pt idx="18">
                  <c:v>0.88700000000000001</c:v>
                </c:pt>
                <c:pt idx="19">
                  <c:v>0.91700000000000004</c:v>
                </c:pt>
                <c:pt idx="20">
                  <c:v>0.90200000000000002</c:v>
                </c:pt>
                <c:pt idx="21">
                  <c:v>0.90400000000000003</c:v>
                </c:pt>
                <c:pt idx="22">
                  <c:v>0.89400000000000002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No</c:v>
                </c:pt>
              </c:strCache>
            </c:strRef>
          </c:tx>
          <c:spPr>
            <a:ln w="41242">
              <a:solidFill>
                <a:srgbClr val="FF0000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5.0228732474097157E-3"/>
                  <c:y val="-3.9934235250968404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2.8516033862744628E-3"/>
                  <c:y val="-4.0005341318548084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2.0531568378914292E-2"/>
                  <c:y val="-4.5242221445714173E-2"/>
                </c:manualLayout>
              </c:layout>
              <c:dLblPos val="r"/>
              <c:showVal val="1"/>
            </c:dLbl>
            <c:spPr>
              <a:noFill/>
              <a:ln w="27497">
                <a:noFill/>
              </a:ln>
            </c:spPr>
            <c:txPr>
              <a:bodyPr/>
              <a:lstStyle/>
              <a:p>
                <a:pPr>
                  <a:defRPr sz="1199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Sheet1!$B$1:$X$1</c:f>
              <c:strCache>
                <c:ptCount val="23"/>
                <c:pt idx="0">
                  <c:v>Jun-02</c:v>
                </c:pt>
                <c:pt idx="1">
                  <c:v>Jul-08</c:v>
                </c:pt>
                <c:pt idx="2">
                  <c:v>Apr-03</c:v>
                </c:pt>
                <c:pt idx="3">
                  <c:v>Jun-03</c:v>
                </c:pt>
                <c:pt idx="4">
                  <c:v>Sep-03</c:v>
                </c:pt>
                <c:pt idx="5">
                  <c:v>Mar-04</c:v>
                </c:pt>
                <c:pt idx="6">
                  <c:v>Jun-04</c:v>
                </c:pt>
                <c:pt idx="7">
                  <c:v>Oct-04</c:v>
                </c:pt>
                <c:pt idx="8">
                  <c:v>Dec-04</c:v>
                </c:pt>
                <c:pt idx="9">
                  <c:v>Apr-05</c:v>
                </c:pt>
                <c:pt idx="10">
                  <c:v>Sep-05</c:v>
                </c:pt>
                <c:pt idx="11">
                  <c:v>Jan-06</c:v>
                </c:pt>
                <c:pt idx="12">
                  <c:v>Mar-06</c:v>
                </c:pt>
                <c:pt idx="13">
                  <c:v>Sep-06</c:v>
                </c:pt>
                <c:pt idx="14">
                  <c:v>Nov-06</c:v>
                </c:pt>
                <c:pt idx="15">
                  <c:v>Mar-07</c:v>
                </c:pt>
                <c:pt idx="16">
                  <c:v>Jun-07</c:v>
                </c:pt>
                <c:pt idx="17">
                  <c:v>Sep-07</c:v>
                </c:pt>
                <c:pt idx="18">
                  <c:v>Dec-07</c:v>
                </c:pt>
                <c:pt idx="19">
                  <c:v>Apr-08</c:v>
                </c:pt>
                <c:pt idx="20">
                  <c:v>Jun-08</c:v>
                </c:pt>
                <c:pt idx="21">
                  <c:v>Sep-08</c:v>
                </c:pt>
                <c:pt idx="22">
                  <c:v>Dec-08</c:v>
                </c:pt>
              </c:strCache>
            </c:strRef>
          </c:cat>
          <c:val>
            <c:numRef>
              <c:f>Sheet1!$B$3:$X$3</c:f>
              <c:numCache>
                <c:formatCode>0%</c:formatCode>
                <c:ptCount val="23"/>
                <c:pt idx="0">
                  <c:v>0.15000000000000005</c:v>
                </c:pt>
                <c:pt idx="1">
                  <c:v>0.16</c:v>
                </c:pt>
                <c:pt idx="2">
                  <c:v>0.23</c:v>
                </c:pt>
                <c:pt idx="3">
                  <c:v>0.22</c:v>
                </c:pt>
                <c:pt idx="4">
                  <c:v>0.2</c:v>
                </c:pt>
                <c:pt idx="5">
                  <c:v>0.13</c:v>
                </c:pt>
                <c:pt idx="6">
                  <c:v>9.0000000000000024E-2</c:v>
                </c:pt>
                <c:pt idx="7">
                  <c:v>0.126</c:v>
                </c:pt>
                <c:pt idx="8">
                  <c:v>9.0000000000000024E-2</c:v>
                </c:pt>
                <c:pt idx="9">
                  <c:v>8.5000000000000006E-2</c:v>
                </c:pt>
                <c:pt idx="10">
                  <c:v>7.9000000000000029E-2</c:v>
                </c:pt>
                <c:pt idx="11">
                  <c:v>7.1999999999999995E-2</c:v>
                </c:pt>
                <c:pt idx="12">
                  <c:v>7.6999999999999999E-2</c:v>
                </c:pt>
                <c:pt idx="13">
                  <c:v>8.1000000000000003E-2</c:v>
                </c:pt>
                <c:pt idx="14">
                  <c:v>7.3999999999999996E-2</c:v>
                </c:pt>
                <c:pt idx="15">
                  <c:v>8.9000000000000051E-2</c:v>
                </c:pt>
                <c:pt idx="16">
                  <c:v>6.9000000000000034E-2</c:v>
                </c:pt>
                <c:pt idx="17">
                  <c:v>6.9000000000000034E-2</c:v>
                </c:pt>
                <c:pt idx="18">
                  <c:v>7.8000000000000014E-2</c:v>
                </c:pt>
                <c:pt idx="19">
                  <c:v>5.1000000000000004E-2</c:v>
                </c:pt>
                <c:pt idx="20">
                  <c:v>7.8000000000000014E-2</c:v>
                </c:pt>
                <c:pt idx="21">
                  <c:v>7.5999999999999998E-2</c:v>
                </c:pt>
                <c:pt idx="22">
                  <c:v>8.8000000000000037E-2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DK</c:v>
                </c:pt>
              </c:strCache>
            </c:strRef>
          </c:tx>
          <c:spPr>
            <a:ln w="41242">
              <a:solidFill>
                <a:srgbClr val="808080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808080"/>
              </a:solidFill>
              <a:ln>
                <a:solidFill>
                  <a:srgbClr val="80808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5.0228732474097218E-3"/>
                  <c:y val="-4.4246935338382018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3.7021380811065981E-4"/>
                  <c:y val="-3.9507598845490974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1.680948401166896E-2"/>
                  <c:y val="-3.9294479481533889E-2"/>
                </c:manualLayout>
              </c:layout>
              <c:dLblPos val="r"/>
              <c:showVal val="1"/>
            </c:dLbl>
            <c:spPr>
              <a:noFill/>
              <a:ln w="27497">
                <a:noFill/>
              </a:ln>
            </c:spPr>
            <c:txPr>
              <a:bodyPr/>
              <a:lstStyle/>
              <a:p>
                <a:pPr>
                  <a:defRPr sz="1199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Sheet1!$B$1:$X$1</c:f>
              <c:strCache>
                <c:ptCount val="23"/>
                <c:pt idx="0">
                  <c:v>Jun-02</c:v>
                </c:pt>
                <c:pt idx="1">
                  <c:v>Jul-08</c:v>
                </c:pt>
                <c:pt idx="2">
                  <c:v>Apr-03</c:v>
                </c:pt>
                <c:pt idx="3">
                  <c:v>Jun-03</c:v>
                </c:pt>
                <c:pt idx="4">
                  <c:v>Sep-03</c:v>
                </c:pt>
                <c:pt idx="5">
                  <c:v>Mar-04</c:v>
                </c:pt>
                <c:pt idx="6">
                  <c:v>Jun-04</c:v>
                </c:pt>
                <c:pt idx="7">
                  <c:v>Oct-04</c:v>
                </c:pt>
                <c:pt idx="8">
                  <c:v>Dec-04</c:v>
                </c:pt>
                <c:pt idx="9">
                  <c:v>Apr-05</c:v>
                </c:pt>
                <c:pt idx="10">
                  <c:v>Sep-05</c:v>
                </c:pt>
                <c:pt idx="11">
                  <c:v>Jan-06</c:v>
                </c:pt>
                <c:pt idx="12">
                  <c:v>Mar-06</c:v>
                </c:pt>
                <c:pt idx="13">
                  <c:v>Sep-06</c:v>
                </c:pt>
                <c:pt idx="14">
                  <c:v>Nov-06</c:v>
                </c:pt>
                <c:pt idx="15">
                  <c:v>Mar-07</c:v>
                </c:pt>
                <c:pt idx="16">
                  <c:v>Jun-07</c:v>
                </c:pt>
                <c:pt idx="17">
                  <c:v>Sep-07</c:v>
                </c:pt>
                <c:pt idx="18">
                  <c:v>Dec-07</c:v>
                </c:pt>
                <c:pt idx="19">
                  <c:v>Apr-08</c:v>
                </c:pt>
                <c:pt idx="20">
                  <c:v>Jun-08</c:v>
                </c:pt>
                <c:pt idx="21">
                  <c:v>Sep-08</c:v>
                </c:pt>
                <c:pt idx="22">
                  <c:v>Dec-08</c:v>
                </c:pt>
              </c:strCache>
            </c:strRef>
          </c:cat>
          <c:val>
            <c:numRef>
              <c:f>Sheet1!$B$4:$X$4</c:f>
              <c:numCache>
                <c:formatCode>0%</c:formatCode>
                <c:ptCount val="23"/>
                <c:pt idx="0">
                  <c:v>9.0000000000000024E-2</c:v>
                </c:pt>
                <c:pt idx="1">
                  <c:v>9.0000000000000024E-2</c:v>
                </c:pt>
                <c:pt idx="2">
                  <c:v>6.0000000000000019E-2</c:v>
                </c:pt>
                <c:pt idx="3">
                  <c:v>0.05</c:v>
                </c:pt>
                <c:pt idx="4">
                  <c:v>3.0000000000000002E-2</c:v>
                </c:pt>
                <c:pt idx="5">
                  <c:v>4.0000000000000015E-2</c:v>
                </c:pt>
                <c:pt idx="6">
                  <c:v>4.0000000000000015E-2</c:v>
                </c:pt>
                <c:pt idx="7">
                  <c:v>3.7999999999999999E-2</c:v>
                </c:pt>
                <c:pt idx="8">
                  <c:v>3.0000000000000002E-2</c:v>
                </c:pt>
                <c:pt idx="9">
                  <c:v>2.0000000000000009E-3</c:v>
                </c:pt>
                <c:pt idx="10">
                  <c:v>3.0000000000000002E-2</c:v>
                </c:pt>
                <c:pt idx="11">
                  <c:v>2.5000000000000001E-2</c:v>
                </c:pt>
                <c:pt idx="12">
                  <c:v>3.0000000000000002E-2</c:v>
                </c:pt>
                <c:pt idx="13">
                  <c:v>2.9000000000000001E-2</c:v>
                </c:pt>
                <c:pt idx="14">
                  <c:v>2.5000000000000001E-2</c:v>
                </c:pt>
                <c:pt idx="15">
                  <c:v>2.5000000000000001E-2</c:v>
                </c:pt>
                <c:pt idx="16">
                  <c:v>2.3E-2</c:v>
                </c:pt>
                <c:pt idx="17">
                  <c:v>2.1999999999999999E-2</c:v>
                </c:pt>
                <c:pt idx="18">
                  <c:v>3.500000000000001E-2</c:v>
                </c:pt>
                <c:pt idx="19">
                  <c:v>3.2000000000000015E-2</c:v>
                </c:pt>
                <c:pt idx="20">
                  <c:v>2.0000000000000007E-2</c:v>
                </c:pt>
                <c:pt idx="21">
                  <c:v>2.0000000000000007E-2</c:v>
                </c:pt>
                <c:pt idx="22">
                  <c:v>1.7999999999999999E-2</c:v>
                </c:pt>
              </c:numCache>
            </c:numRef>
          </c:val>
          <c:smooth val="1"/>
        </c:ser>
        <c:dLbls>
          <c:showVal val="1"/>
        </c:dLbls>
        <c:marker val="1"/>
        <c:axId val="146086528"/>
        <c:axId val="146096512"/>
      </c:lineChart>
      <c:catAx>
        <c:axId val="146086528"/>
        <c:scaling>
          <c:orientation val="minMax"/>
        </c:scaling>
        <c:axPos val="b"/>
        <c:numFmt formatCode="General" sourceLinked="1"/>
        <c:tickLblPos val="nextTo"/>
        <c:spPr>
          <a:ln w="3431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000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6096512"/>
        <c:crosses val="autoZero"/>
        <c:auto val="1"/>
        <c:lblAlgn val="ctr"/>
        <c:lblOffset val="100"/>
        <c:tickLblSkip val="1"/>
        <c:tickMarkSkip val="1"/>
      </c:catAx>
      <c:valAx>
        <c:axId val="146096512"/>
        <c:scaling>
          <c:orientation val="minMax"/>
        </c:scaling>
        <c:axPos val="l"/>
        <c:numFmt formatCode="0%" sourceLinked="1"/>
        <c:tickLblPos val="nextTo"/>
        <c:spPr>
          <a:ln w="3431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294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6086528"/>
        <c:crosses val="autoZero"/>
        <c:crossBetween val="between"/>
      </c:valAx>
      <c:spPr>
        <a:noFill/>
        <a:ln w="13749">
          <a:solidFill>
            <a:schemeClr val="tx1"/>
          </a:solidFill>
          <a:prstDash val="solid"/>
        </a:ln>
      </c:spPr>
    </c:plotArea>
    <c:legend>
      <c:legendPos val="b"/>
      <c:layout>
        <c:manualLayout>
          <c:xMode val="edge"/>
          <c:yMode val="edge"/>
          <c:x val="0.41066991910749207"/>
          <c:y val="0.92890989977604155"/>
          <c:w val="0.24441686247077876"/>
          <c:h val="6.398098886287884E-2"/>
        </c:manualLayout>
      </c:layout>
      <c:spPr>
        <a:noFill/>
        <a:ln w="3431">
          <a:solidFill>
            <a:schemeClr val="tx1"/>
          </a:solidFill>
          <a:prstDash val="solid"/>
        </a:ln>
      </c:spPr>
      <c:txPr>
        <a:bodyPr/>
        <a:lstStyle/>
        <a:p>
          <a:pPr>
            <a:defRPr sz="1185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947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7.9404466501240833E-2"/>
          <c:y val="5.6872037914693439E-2"/>
          <c:w val="0.90818858560792237"/>
          <c:h val="0.70379146919432634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Yes</c:v>
                </c:pt>
              </c:strCache>
            </c:strRef>
          </c:tx>
          <c:spPr>
            <a:ln w="43343">
              <a:solidFill>
                <a:srgbClr val="0000FF"/>
              </a:solidFill>
              <a:prstDash val="solid"/>
            </a:ln>
          </c:spPr>
          <c:marker>
            <c:symbol val="diamond"/>
            <c:size val="2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2.4066729045138214E-3"/>
                  <c:y val="-4.2073225320202724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2.3546064186142474E-4"/>
                  <c:y val="-3.5035187164525639E-2"/>
                </c:manualLayout>
              </c:layout>
              <c:dLblPos val="r"/>
              <c:showVal val="1"/>
            </c:dLbl>
            <c:dLbl>
              <c:idx val="2"/>
              <c:layout>
                <c:manualLayout>
                  <c:x val="-1.9357516207909838E-3"/>
                  <c:y val="-4.9182230059542059E-2"/>
                </c:manualLayout>
              </c:layout>
              <c:dLblPos val="r"/>
              <c:showVal val="1"/>
            </c:dLbl>
            <c:spPr>
              <a:noFill/>
              <a:ln w="28895">
                <a:noFill/>
              </a:ln>
            </c:spPr>
            <c:txPr>
              <a:bodyPr/>
              <a:lstStyle/>
              <a:p>
                <a:pPr>
                  <a:defRPr sz="1399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Sheet1!$B$1:$X$1</c:f>
              <c:strCache>
                <c:ptCount val="23"/>
                <c:pt idx="0">
                  <c:v>Jun-02</c:v>
                </c:pt>
                <c:pt idx="1">
                  <c:v>Jul-02</c:v>
                </c:pt>
                <c:pt idx="2">
                  <c:v>Apr-03</c:v>
                </c:pt>
                <c:pt idx="3">
                  <c:v>Jun-03</c:v>
                </c:pt>
                <c:pt idx="4">
                  <c:v>Sep-03</c:v>
                </c:pt>
                <c:pt idx="5">
                  <c:v>Mar-04</c:v>
                </c:pt>
                <c:pt idx="6">
                  <c:v>Jun-04</c:v>
                </c:pt>
                <c:pt idx="7">
                  <c:v>Oct-04</c:v>
                </c:pt>
                <c:pt idx="8">
                  <c:v>Dec-04</c:v>
                </c:pt>
                <c:pt idx="9">
                  <c:v>Apr-05</c:v>
                </c:pt>
                <c:pt idx="10">
                  <c:v>Sep-05</c:v>
                </c:pt>
                <c:pt idx="11">
                  <c:v>Jan-06</c:v>
                </c:pt>
                <c:pt idx="12">
                  <c:v>Mar-06</c:v>
                </c:pt>
                <c:pt idx="13">
                  <c:v>Sep-06</c:v>
                </c:pt>
                <c:pt idx="14">
                  <c:v>Nov-06</c:v>
                </c:pt>
                <c:pt idx="15">
                  <c:v>Mar-07</c:v>
                </c:pt>
                <c:pt idx="16">
                  <c:v>Jun-07</c:v>
                </c:pt>
                <c:pt idx="17">
                  <c:v>Sep-07</c:v>
                </c:pt>
                <c:pt idx="18">
                  <c:v>Dec-07</c:v>
                </c:pt>
                <c:pt idx="19">
                  <c:v>Apr-08</c:v>
                </c:pt>
                <c:pt idx="20">
                  <c:v>Jun-08</c:v>
                </c:pt>
                <c:pt idx="21">
                  <c:v>Sep-08</c:v>
                </c:pt>
                <c:pt idx="22">
                  <c:v>Dec-08</c:v>
                </c:pt>
              </c:strCache>
            </c:strRef>
          </c:cat>
          <c:val>
            <c:numRef>
              <c:f>Sheet1!$B$2:$X$2</c:f>
              <c:numCache>
                <c:formatCode>0%</c:formatCode>
                <c:ptCount val="23"/>
                <c:pt idx="0">
                  <c:v>0.93</c:v>
                </c:pt>
                <c:pt idx="1">
                  <c:v>0.94000000000000017</c:v>
                </c:pt>
                <c:pt idx="2">
                  <c:v>0.93</c:v>
                </c:pt>
                <c:pt idx="3">
                  <c:v>0.94000000000000017</c:v>
                </c:pt>
                <c:pt idx="4">
                  <c:v>0.94000000000000017</c:v>
                </c:pt>
                <c:pt idx="5">
                  <c:v>0.9700000000000002</c:v>
                </c:pt>
                <c:pt idx="6">
                  <c:v>0.96000000000000019</c:v>
                </c:pt>
                <c:pt idx="7">
                  <c:v>0.94499999999999995</c:v>
                </c:pt>
                <c:pt idx="8">
                  <c:v>0.9700000000000002</c:v>
                </c:pt>
                <c:pt idx="9">
                  <c:v>0.96100000000000019</c:v>
                </c:pt>
                <c:pt idx="10">
                  <c:v>0.95400000000000018</c:v>
                </c:pt>
                <c:pt idx="11">
                  <c:v>0.95800000000000018</c:v>
                </c:pt>
                <c:pt idx="12">
                  <c:v>0.96600000000000019</c:v>
                </c:pt>
                <c:pt idx="13">
                  <c:v>0.96100000000000019</c:v>
                </c:pt>
                <c:pt idx="14">
                  <c:v>0.95800000000000018</c:v>
                </c:pt>
                <c:pt idx="15">
                  <c:v>0.94199999999999995</c:v>
                </c:pt>
                <c:pt idx="16">
                  <c:v>0.94799999999999995</c:v>
                </c:pt>
                <c:pt idx="17">
                  <c:v>0.96100000000000019</c:v>
                </c:pt>
                <c:pt idx="18">
                  <c:v>0.93600000000000005</c:v>
                </c:pt>
                <c:pt idx="19">
                  <c:v>0.96100000000000019</c:v>
                </c:pt>
                <c:pt idx="20">
                  <c:v>0.93700000000000028</c:v>
                </c:pt>
                <c:pt idx="21">
                  <c:v>0.93400000000000005</c:v>
                </c:pt>
                <c:pt idx="22">
                  <c:v>0.92300000000000004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No</c:v>
                </c:pt>
              </c:strCache>
            </c:strRef>
          </c:tx>
          <c:spPr>
            <a:ln w="43343">
              <a:solidFill>
                <a:srgbClr val="FF0000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4.8880624826779023E-3"/>
                  <c:y val="-3.8044736388216004E-2"/>
                </c:manualLayout>
              </c:layout>
              <c:dLblPos val="r"/>
              <c:showVal val="1"/>
            </c:dLbl>
            <c:dLbl>
              <c:idx val="1"/>
              <c:layout>
                <c:manualLayout>
                  <c:x val="2.7168502200252583E-3"/>
                  <c:y val="-3.7973573933519612E-2"/>
                </c:manualLayout>
              </c:layout>
              <c:dLblPos val="r"/>
              <c:showVal val="1"/>
            </c:dLbl>
            <c:spPr>
              <a:noFill/>
              <a:ln w="28895">
                <a:noFill/>
              </a:ln>
            </c:spPr>
            <c:txPr>
              <a:bodyPr/>
              <a:lstStyle/>
              <a:p>
                <a:pPr>
                  <a:defRPr sz="1399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Sheet1!$B$1:$X$1</c:f>
              <c:strCache>
                <c:ptCount val="23"/>
                <c:pt idx="0">
                  <c:v>Jun-02</c:v>
                </c:pt>
                <c:pt idx="1">
                  <c:v>Jul-02</c:v>
                </c:pt>
                <c:pt idx="2">
                  <c:v>Apr-03</c:v>
                </c:pt>
                <c:pt idx="3">
                  <c:v>Jun-03</c:v>
                </c:pt>
                <c:pt idx="4">
                  <c:v>Sep-03</c:v>
                </c:pt>
                <c:pt idx="5">
                  <c:v>Mar-04</c:v>
                </c:pt>
                <c:pt idx="6">
                  <c:v>Jun-04</c:v>
                </c:pt>
                <c:pt idx="7">
                  <c:v>Oct-04</c:v>
                </c:pt>
                <c:pt idx="8">
                  <c:v>Dec-04</c:v>
                </c:pt>
                <c:pt idx="9">
                  <c:v>Apr-05</c:v>
                </c:pt>
                <c:pt idx="10">
                  <c:v>Sep-05</c:v>
                </c:pt>
                <c:pt idx="11">
                  <c:v>Jan-06</c:v>
                </c:pt>
                <c:pt idx="12">
                  <c:v>Mar-06</c:v>
                </c:pt>
                <c:pt idx="13">
                  <c:v>Sep-06</c:v>
                </c:pt>
                <c:pt idx="14">
                  <c:v>Nov-06</c:v>
                </c:pt>
                <c:pt idx="15">
                  <c:v>Mar-07</c:v>
                </c:pt>
                <c:pt idx="16">
                  <c:v>Jun-07</c:v>
                </c:pt>
                <c:pt idx="17">
                  <c:v>Sep-07</c:v>
                </c:pt>
                <c:pt idx="18">
                  <c:v>Dec-07</c:v>
                </c:pt>
                <c:pt idx="19">
                  <c:v>Apr-08</c:v>
                </c:pt>
                <c:pt idx="20">
                  <c:v>Jun-08</c:v>
                </c:pt>
                <c:pt idx="21">
                  <c:v>Sep-08</c:v>
                </c:pt>
                <c:pt idx="22">
                  <c:v>Dec-08</c:v>
                </c:pt>
              </c:strCache>
            </c:strRef>
          </c:cat>
          <c:val>
            <c:numRef>
              <c:f>Sheet1!$B$3:$X$3</c:f>
              <c:numCache>
                <c:formatCode>0%</c:formatCode>
                <c:ptCount val="23"/>
                <c:pt idx="0">
                  <c:v>3.0000000000000002E-2</c:v>
                </c:pt>
                <c:pt idx="1">
                  <c:v>2.0000000000000007E-2</c:v>
                </c:pt>
                <c:pt idx="2">
                  <c:v>4.0000000000000015E-2</c:v>
                </c:pt>
                <c:pt idx="3">
                  <c:v>0.05</c:v>
                </c:pt>
                <c:pt idx="4">
                  <c:v>0.05</c:v>
                </c:pt>
                <c:pt idx="5">
                  <c:v>3.0000000000000002E-2</c:v>
                </c:pt>
                <c:pt idx="6">
                  <c:v>2.0000000000000007E-2</c:v>
                </c:pt>
                <c:pt idx="7">
                  <c:v>2.8000000000000001E-2</c:v>
                </c:pt>
                <c:pt idx="8">
                  <c:v>3.0000000000000002E-2</c:v>
                </c:pt>
                <c:pt idx="9">
                  <c:v>3.0000000000000009E-3</c:v>
                </c:pt>
                <c:pt idx="10">
                  <c:v>3.6999999999999998E-2</c:v>
                </c:pt>
                <c:pt idx="11">
                  <c:v>2.5999999999999999E-2</c:v>
                </c:pt>
                <c:pt idx="12">
                  <c:v>2.5000000000000001E-2</c:v>
                </c:pt>
                <c:pt idx="13">
                  <c:v>2.1000000000000008E-2</c:v>
                </c:pt>
                <c:pt idx="14">
                  <c:v>3.7999999999999999E-2</c:v>
                </c:pt>
                <c:pt idx="15">
                  <c:v>3.9000000000000014E-2</c:v>
                </c:pt>
                <c:pt idx="16">
                  <c:v>3.7999999999999999E-2</c:v>
                </c:pt>
                <c:pt idx="17">
                  <c:v>3.0000000000000002E-2</c:v>
                </c:pt>
                <c:pt idx="18">
                  <c:v>5.1999999999999998E-2</c:v>
                </c:pt>
                <c:pt idx="19">
                  <c:v>2.8000000000000001E-2</c:v>
                </c:pt>
                <c:pt idx="20">
                  <c:v>4.3999999999999997E-2</c:v>
                </c:pt>
                <c:pt idx="21">
                  <c:v>5.3000000000000012E-2</c:v>
                </c:pt>
                <c:pt idx="22">
                  <c:v>6.5000000000000002E-2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DK</c:v>
                </c:pt>
              </c:strCache>
            </c:strRef>
          </c:tx>
          <c:spPr>
            <a:ln w="43343">
              <a:solidFill>
                <a:srgbClr val="808080"/>
              </a:solidFill>
              <a:prstDash val="solid"/>
            </a:ln>
          </c:spPr>
          <c:marker>
            <c:symbol val="triangle"/>
            <c:size val="2"/>
            <c:spPr>
              <a:solidFill>
                <a:srgbClr val="808080"/>
              </a:solidFill>
              <a:ln>
                <a:solidFill>
                  <a:srgbClr val="808080"/>
                </a:solidFill>
                <a:prstDash val="solid"/>
              </a:ln>
            </c:spPr>
          </c:marker>
          <c:dLbls>
            <c:delete val="1"/>
          </c:dLbls>
          <c:cat>
            <c:strRef>
              <c:f>Sheet1!$B$1:$X$1</c:f>
              <c:strCache>
                <c:ptCount val="23"/>
                <c:pt idx="0">
                  <c:v>Jun-02</c:v>
                </c:pt>
                <c:pt idx="1">
                  <c:v>Jul-02</c:v>
                </c:pt>
                <c:pt idx="2">
                  <c:v>Apr-03</c:v>
                </c:pt>
                <c:pt idx="3">
                  <c:v>Jun-03</c:v>
                </c:pt>
                <c:pt idx="4">
                  <c:v>Sep-03</c:v>
                </c:pt>
                <c:pt idx="5">
                  <c:v>Mar-04</c:v>
                </c:pt>
                <c:pt idx="6">
                  <c:v>Jun-04</c:v>
                </c:pt>
                <c:pt idx="7">
                  <c:v>Oct-04</c:v>
                </c:pt>
                <c:pt idx="8">
                  <c:v>Dec-04</c:v>
                </c:pt>
                <c:pt idx="9">
                  <c:v>Apr-05</c:v>
                </c:pt>
                <c:pt idx="10">
                  <c:v>Sep-05</c:v>
                </c:pt>
                <c:pt idx="11">
                  <c:v>Jan-06</c:v>
                </c:pt>
                <c:pt idx="12">
                  <c:v>Mar-06</c:v>
                </c:pt>
                <c:pt idx="13">
                  <c:v>Sep-06</c:v>
                </c:pt>
                <c:pt idx="14">
                  <c:v>Nov-06</c:v>
                </c:pt>
                <c:pt idx="15">
                  <c:v>Mar-07</c:v>
                </c:pt>
                <c:pt idx="16">
                  <c:v>Jun-07</c:v>
                </c:pt>
                <c:pt idx="17">
                  <c:v>Sep-07</c:v>
                </c:pt>
                <c:pt idx="18">
                  <c:v>Dec-07</c:v>
                </c:pt>
                <c:pt idx="19">
                  <c:v>Apr-08</c:v>
                </c:pt>
                <c:pt idx="20">
                  <c:v>Jun-08</c:v>
                </c:pt>
                <c:pt idx="21">
                  <c:v>Sep-08</c:v>
                </c:pt>
                <c:pt idx="22">
                  <c:v>Dec-08</c:v>
                </c:pt>
              </c:strCache>
            </c:strRef>
          </c:cat>
          <c:val>
            <c:numRef>
              <c:f>Sheet1!$B$4:$X$4</c:f>
              <c:numCache>
                <c:formatCode>0%</c:formatCode>
                <c:ptCount val="23"/>
                <c:pt idx="0">
                  <c:v>4.0000000000000015E-2</c:v>
                </c:pt>
                <c:pt idx="1">
                  <c:v>4.0000000000000015E-2</c:v>
                </c:pt>
                <c:pt idx="2">
                  <c:v>3.0000000000000002E-2</c:v>
                </c:pt>
                <c:pt idx="3">
                  <c:v>2.0000000000000007E-2</c:v>
                </c:pt>
                <c:pt idx="4">
                  <c:v>2.0000000000000007E-2</c:v>
                </c:pt>
                <c:pt idx="5">
                  <c:v>1.0000000000000004E-2</c:v>
                </c:pt>
                <c:pt idx="6">
                  <c:v>2.0000000000000007E-2</c:v>
                </c:pt>
                <c:pt idx="7">
                  <c:v>2.1000000000000008E-2</c:v>
                </c:pt>
                <c:pt idx="8">
                  <c:v>1.0000000000000004E-2</c:v>
                </c:pt>
                <c:pt idx="9">
                  <c:v>1.0000000000000004E-2</c:v>
                </c:pt>
                <c:pt idx="10">
                  <c:v>9.0000000000000028E-3</c:v>
                </c:pt>
                <c:pt idx="11">
                  <c:v>1.6000000000000007E-2</c:v>
                </c:pt>
                <c:pt idx="12">
                  <c:v>9.0000000000000028E-3</c:v>
                </c:pt>
                <c:pt idx="13">
                  <c:v>1.6000000000000007E-2</c:v>
                </c:pt>
                <c:pt idx="14">
                  <c:v>4.0000000000000018E-3</c:v>
                </c:pt>
                <c:pt idx="15">
                  <c:v>1.7000000000000001E-2</c:v>
                </c:pt>
                <c:pt idx="16">
                  <c:v>1.4E-2</c:v>
                </c:pt>
                <c:pt idx="17">
                  <c:v>8.0000000000000054E-3</c:v>
                </c:pt>
                <c:pt idx="18">
                  <c:v>1.2999999999999998E-2</c:v>
                </c:pt>
                <c:pt idx="19">
                  <c:v>1.0999999999999998E-2</c:v>
                </c:pt>
                <c:pt idx="20">
                  <c:v>1.7999999999999999E-2</c:v>
                </c:pt>
                <c:pt idx="21">
                  <c:v>1.2999999999999998E-2</c:v>
                </c:pt>
                <c:pt idx="22">
                  <c:v>1.2E-2</c:v>
                </c:pt>
              </c:numCache>
            </c:numRef>
          </c:val>
        </c:ser>
        <c:dLbls>
          <c:showVal val="1"/>
        </c:dLbls>
        <c:marker val="1"/>
        <c:axId val="146127104"/>
        <c:axId val="146407808"/>
      </c:lineChart>
      <c:catAx>
        <c:axId val="146127104"/>
        <c:scaling>
          <c:orientation val="minMax"/>
        </c:scaling>
        <c:axPos val="b"/>
        <c:numFmt formatCode="General" sourceLinked="1"/>
        <c:tickLblPos val="nextTo"/>
        <c:spPr>
          <a:ln w="3618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999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6407808"/>
        <c:crosses val="autoZero"/>
        <c:auto val="1"/>
        <c:lblAlgn val="ctr"/>
        <c:lblOffset val="100"/>
        <c:tickLblSkip val="1"/>
        <c:tickMarkSkip val="1"/>
      </c:catAx>
      <c:valAx>
        <c:axId val="146407808"/>
        <c:scaling>
          <c:orientation val="minMax"/>
          <c:max val="1"/>
        </c:scaling>
        <c:axPos val="l"/>
        <c:numFmt formatCode="0%" sourceLinked="1"/>
        <c:tickLblPos val="nextTo"/>
        <c:spPr>
          <a:ln w="3618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64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6127104"/>
        <c:crosses val="autoZero"/>
        <c:crossBetween val="between"/>
      </c:valAx>
      <c:spPr>
        <a:noFill/>
        <a:ln w="14448">
          <a:solidFill>
            <a:schemeClr val="tx1"/>
          </a:solidFill>
          <a:prstDash val="solid"/>
        </a:ln>
      </c:spPr>
    </c:plotArea>
    <c:legend>
      <c:legendPos val="b"/>
      <c:layout>
        <c:manualLayout>
          <c:xMode val="edge"/>
          <c:yMode val="edge"/>
          <c:x val="0.41066999994331177"/>
          <c:y val="0.92890991287686031"/>
          <c:w val="0.24441681830807904"/>
          <c:h val="6.3981118329790365E-2"/>
        </c:manualLayout>
      </c:layout>
      <c:spPr>
        <a:noFill/>
        <a:ln w="3618">
          <a:solidFill>
            <a:schemeClr val="tx1"/>
          </a:solidFill>
          <a:prstDash val="solid"/>
        </a:ln>
      </c:spPr>
      <c:txPr>
        <a:bodyPr/>
        <a:lstStyle/>
        <a:p>
          <a:pPr>
            <a:defRPr sz="1250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2053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0.10049627791563652"/>
          <c:y val="7.10900473933649E-2"/>
          <c:w val="0.73945409429280395"/>
          <c:h val="0.77251184834123221"/>
        </c:manualLayout>
      </c:layout>
      <c:barChart>
        <c:barDir val="col"/>
        <c:grouping val="clustered"/>
        <c:ser>
          <c:idx val="0"/>
          <c:order val="0"/>
          <c:tx>
            <c:strRef>
              <c:f>Sheet1!$A$2</c:f>
              <c:strCache>
                <c:ptCount val="1"/>
                <c:pt idx="0">
                  <c:v>Important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Lbls>
            <c:showVal val="1"/>
          </c:dLbls>
          <c:cat>
            <c:strRef>
              <c:f>Sheet1!$B$1:$H$1</c:f>
              <c:strCache>
                <c:ptCount val="7"/>
                <c:pt idx="0">
                  <c:v>Jun-07</c:v>
                </c:pt>
                <c:pt idx="1">
                  <c:v>Sep-07</c:v>
                </c:pt>
                <c:pt idx="2">
                  <c:v>Dec-07</c:v>
                </c:pt>
                <c:pt idx="3">
                  <c:v>Apr-08</c:v>
                </c:pt>
                <c:pt idx="4">
                  <c:v>Jun-08</c:v>
                </c:pt>
                <c:pt idx="5">
                  <c:v>Sep-08</c:v>
                </c:pt>
                <c:pt idx="6">
                  <c:v>Dec-08</c:v>
                </c:pt>
              </c:strCache>
            </c:strRef>
          </c:cat>
          <c:val>
            <c:numRef>
              <c:f>Sheet1!$B$2:$H$2</c:f>
              <c:numCache>
                <c:formatCode>0%</c:formatCode>
                <c:ptCount val="7"/>
                <c:pt idx="0">
                  <c:v>0.73600000000000021</c:v>
                </c:pt>
                <c:pt idx="1">
                  <c:v>0.68700000000000028</c:v>
                </c:pt>
                <c:pt idx="2">
                  <c:v>0.62900000000000023</c:v>
                </c:pt>
                <c:pt idx="3">
                  <c:v>0.71200000000000019</c:v>
                </c:pt>
                <c:pt idx="4">
                  <c:v>0.71100000000000019</c:v>
                </c:pt>
                <c:pt idx="5">
                  <c:v>0.70100000000000018</c:v>
                </c:pt>
                <c:pt idx="6">
                  <c:v>0.68500000000000005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Not important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Lbls>
            <c:showVal val="1"/>
          </c:dLbls>
          <c:cat>
            <c:strRef>
              <c:f>Sheet1!$B$1:$H$1</c:f>
              <c:strCache>
                <c:ptCount val="7"/>
                <c:pt idx="0">
                  <c:v>Jun-07</c:v>
                </c:pt>
                <c:pt idx="1">
                  <c:v>Sep-07</c:v>
                </c:pt>
                <c:pt idx="2">
                  <c:v>Dec-07</c:v>
                </c:pt>
                <c:pt idx="3">
                  <c:v>Apr-08</c:v>
                </c:pt>
                <c:pt idx="4">
                  <c:v>Jun-08</c:v>
                </c:pt>
                <c:pt idx="5">
                  <c:v>Sep-08</c:v>
                </c:pt>
                <c:pt idx="6">
                  <c:v>Dec-08</c:v>
                </c:pt>
              </c:strCache>
            </c:strRef>
          </c:cat>
          <c:val>
            <c:numRef>
              <c:f>Sheet1!$B$3:$H$3</c:f>
              <c:numCache>
                <c:formatCode>0%</c:formatCode>
                <c:ptCount val="7"/>
                <c:pt idx="0">
                  <c:v>0.16800000000000001</c:v>
                </c:pt>
                <c:pt idx="1">
                  <c:v>0.22500000000000001</c:v>
                </c:pt>
                <c:pt idx="2">
                  <c:v>0.25700000000000001</c:v>
                </c:pt>
                <c:pt idx="3">
                  <c:v>0.20400000000000001</c:v>
                </c:pt>
                <c:pt idx="4">
                  <c:v>0.19</c:v>
                </c:pt>
                <c:pt idx="5">
                  <c:v>0.21300000000000005</c:v>
                </c:pt>
                <c:pt idx="6">
                  <c:v>0.222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DK/Ref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c:spPr>
          <c:dLbls>
            <c:spPr>
              <a:noFill/>
            </c:spPr>
            <c:showVal val="1"/>
          </c:dLbls>
          <c:cat>
            <c:strRef>
              <c:f>Sheet1!$B$1:$H$1</c:f>
              <c:strCache>
                <c:ptCount val="7"/>
                <c:pt idx="0">
                  <c:v>Jun-07</c:v>
                </c:pt>
                <c:pt idx="1">
                  <c:v>Sep-07</c:v>
                </c:pt>
                <c:pt idx="2">
                  <c:v>Dec-07</c:v>
                </c:pt>
                <c:pt idx="3">
                  <c:v>Apr-08</c:v>
                </c:pt>
                <c:pt idx="4">
                  <c:v>Jun-08</c:v>
                </c:pt>
                <c:pt idx="5">
                  <c:v>Sep-08</c:v>
                </c:pt>
                <c:pt idx="6">
                  <c:v>Dec-08</c:v>
                </c:pt>
              </c:strCache>
            </c:strRef>
          </c:cat>
          <c:val>
            <c:numRef>
              <c:f>Sheet1!$B$4:$H$4</c:f>
              <c:numCache>
                <c:formatCode>0%</c:formatCode>
                <c:ptCount val="7"/>
                <c:pt idx="0">
                  <c:v>9.7000000000000003E-2</c:v>
                </c:pt>
                <c:pt idx="1">
                  <c:v>8.9000000000000051E-2</c:v>
                </c:pt>
                <c:pt idx="2">
                  <c:v>0.114</c:v>
                </c:pt>
                <c:pt idx="3">
                  <c:v>8.3000000000000032E-2</c:v>
                </c:pt>
                <c:pt idx="4">
                  <c:v>0.1</c:v>
                </c:pt>
                <c:pt idx="5">
                  <c:v>8.6000000000000021E-2</c:v>
                </c:pt>
                <c:pt idx="6">
                  <c:v>9.3000000000000055E-2</c:v>
                </c:pt>
              </c:numCache>
            </c:numRef>
          </c:val>
        </c:ser>
        <c:dLbls>
          <c:showVal val="1"/>
        </c:dLbls>
        <c:axId val="146470784"/>
        <c:axId val="146472320"/>
      </c:barChart>
      <c:catAx>
        <c:axId val="146470784"/>
        <c:scaling>
          <c:orientation val="minMax"/>
        </c:scaling>
        <c:axPos val="b"/>
        <c:numFmt formatCode="@" sourceLinked="1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146472320"/>
        <c:crosses val="autoZero"/>
        <c:auto val="1"/>
        <c:lblAlgn val="ctr"/>
        <c:lblOffset val="100"/>
        <c:tickLblSkip val="1"/>
        <c:tickMarkSkip val="1"/>
      </c:catAx>
      <c:valAx>
        <c:axId val="146472320"/>
        <c:scaling>
          <c:orientation val="minMax"/>
        </c:scaling>
        <c:axPos val="l"/>
        <c:numFmt formatCode="0%" sourceLinked="1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1464707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170258494363121"/>
          <c:y val="0.24783078585765023"/>
          <c:w val="0.20494532476244443"/>
          <c:h val="0.19796613658586776"/>
        </c:manualLayout>
      </c:layout>
      <c:spPr>
        <a:ln>
          <a:solidFill>
            <a:schemeClr val="tx1"/>
          </a:solidFill>
        </a:ln>
      </c:spPr>
    </c:legend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12406947890819112"/>
          <c:y val="2.3696682464454992E-2"/>
          <c:w val="0.85605475786114971"/>
          <c:h val="0.81990521327016386"/>
        </c:manualLayout>
      </c:layou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NATO</c:v>
                </c:pt>
              </c:strCache>
            </c:strRef>
          </c:tx>
          <c:spPr>
            <a:ln w="44446">
              <a:solidFill>
                <a:schemeClr val="tx1"/>
              </a:solidFill>
            </a:ln>
          </c:spPr>
          <c:dLbls>
            <c:showVal val="1"/>
          </c:dLbls>
          <c:cat>
            <c:strRef>
              <c:f>Sheet1!$B$1:$L$1</c:f>
              <c:strCache>
                <c:ptCount val="11"/>
                <c:pt idx="0">
                  <c:v>Mar-06</c:v>
                </c:pt>
                <c:pt idx="1">
                  <c:v>Sep-06</c:v>
                </c:pt>
                <c:pt idx="2">
                  <c:v>Nov-06</c:v>
                </c:pt>
                <c:pt idx="3">
                  <c:v>Mar-07</c:v>
                </c:pt>
                <c:pt idx="4">
                  <c:v>Jun-07</c:v>
                </c:pt>
                <c:pt idx="5">
                  <c:v>Sep-07</c:v>
                </c:pt>
                <c:pt idx="6">
                  <c:v>Dec-07</c:v>
                </c:pt>
                <c:pt idx="7">
                  <c:v>Apr-08</c:v>
                </c:pt>
                <c:pt idx="8">
                  <c:v>Jun-08</c:v>
                </c:pt>
                <c:pt idx="9">
                  <c:v>Sep-08</c:v>
                </c:pt>
                <c:pt idx="10">
                  <c:v>Dec-08</c:v>
                </c:pt>
              </c:strCache>
            </c:strRef>
          </c:cat>
          <c:val>
            <c:numRef>
              <c:f>Sheet1!$B$2:$L$2</c:f>
              <c:numCache>
                <c:formatCode>0.0</c:formatCode>
                <c:ptCount val="11"/>
                <c:pt idx="0">
                  <c:v>7.87</c:v>
                </c:pt>
                <c:pt idx="1">
                  <c:v>6.94</c:v>
                </c:pt>
                <c:pt idx="2">
                  <c:v>6.45</c:v>
                </c:pt>
                <c:pt idx="3">
                  <c:v>6.46</c:v>
                </c:pt>
                <c:pt idx="4">
                  <c:v>5.0999999999999996</c:v>
                </c:pt>
                <c:pt idx="5">
                  <c:v>5.3</c:v>
                </c:pt>
                <c:pt idx="6">
                  <c:v>5.51</c:v>
                </c:pt>
                <c:pt idx="7">
                  <c:v>2.9699999999999998</c:v>
                </c:pt>
                <c:pt idx="8">
                  <c:v>4.3499999999999996</c:v>
                </c:pt>
                <c:pt idx="9">
                  <c:v>4.4800000000000004</c:v>
                </c:pt>
                <c:pt idx="10">
                  <c:v>4.18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EU</c:v>
                </c:pt>
              </c:strCache>
            </c:strRef>
          </c:tx>
          <c:spPr>
            <a:ln w="44446">
              <a:solidFill>
                <a:schemeClr val="tx1"/>
              </a:solidFill>
            </a:ln>
          </c:spPr>
          <c:dLbls>
            <c:showVal val="1"/>
          </c:dLbls>
          <c:cat>
            <c:strRef>
              <c:f>Sheet1!$B$1:$L$1</c:f>
              <c:strCache>
                <c:ptCount val="11"/>
                <c:pt idx="0">
                  <c:v>Mar-06</c:v>
                </c:pt>
                <c:pt idx="1">
                  <c:v>Sep-06</c:v>
                </c:pt>
                <c:pt idx="2">
                  <c:v>Nov-06</c:v>
                </c:pt>
                <c:pt idx="3">
                  <c:v>Mar-07</c:v>
                </c:pt>
                <c:pt idx="4">
                  <c:v>Jun-07</c:v>
                </c:pt>
                <c:pt idx="5">
                  <c:v>Sep-07</c:v>
                </c:pt>
                <c:pt idx="6">
                  <c:v>Dec-07</c:v>
                </c:pt>
                <c:pt idx="7">
                  <c:v>Apr-08</c:v>
                </c:pt>
                <c:pt idx="8">
                  <c:v>Jun-08</c:v>
                </c:pt>
                <c:pt idx="9">
                  <c:v>Sep-08</c:v>
                </c:pt>
                <c:pt idx="10">
                  <c:v>Dec-08</c:v>
                </c:pt>
              </c:strCache>
            </c:strRef>
          </c:cat>
          <c:val>
            <c:numRef>
              <c:f>Sheet1!$B$3:$L$3</c:f>
              <c:numCache>
                <c:formatCode>0.0</c:formatCode>
                <c:ptCount val="11"/>
                <c:pt idx="0">
                  <c:v>9.33</c:v>
                </c:pt>
                <c:pt idx="1">
                  <c:v>8.57</c:v>
                </c:pt>
                <c:pt idx="2">
                  <c:v>8.68</c:v>
                </c:pt>
                <c:pt idx="3">
                  <c:v>8.6300000000000008</c:v>
                </c:pt>
                <c:pt idx="4">
                  <c:v>7.28</c:v>
                </c:pt>
                <c:pt idx="5">
                  <c:v>7.49</c:v>
                </c:pt>
                <c:pt idx="6">
                  <c:v>7.1199999999999983</c:v>
                </c:pt>
                <c:pt idx="7">
                  <c:v>4.57</c:v>
                </c:pt>
                <c:pt idx="8">
                  <c:v>5.54</c:v>
                </c:pt>
                <c:pt idx="9">
                  <c:v>5.71</c:v>
                </c:pt>
                <c:pt idx="10">
                  <c:v>5.4700000000000015</c:v>
                </c:pt>
              </c:numCache>
            </c:numRef>
          </c:val>
        </c:ser>
        <c:dLbls>
          <c:showVal val="1"/>
        </c:dLbls>
        <c:marker val="1"/>
        <c:axId val="146912384"/>
        <c:axId val="146913920"/>
      </c:lineChart>
      <c:catAx>
        <c:axId val="146912384"/>
        <c:scaling>
          <c:orientation val="minMax"/>
        </c:scaling>
        <c:axPos val="b"/>
        <c:numFmt formatCode="@" sourceLinked="1"/>
        <c:tickLblPos val="nextTo"/>
        <c:spPr>
          <a:ln w="317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400"/>
            </a:pPr>
            <a:endParaRPr lang="en-US"/>
          </a:p>
        </c:txPr>
        <c:crossAx val="146913920"/>
        <c:crosses val="autoZero"/>
        <c:auto val="1"/>
        <c:lblAlgn val="ctr"/>
        <c:lblOffset val="100"/>
        <c:tickLblSkip val="1"/>
        <c:tickMarkSkip val="1"/>
      </c:catAx>
      <c:valAx>
        <c:axId val="146913920"/>
        <c:scaling>
          <c:orientation val="minMax"/>
        </c:scaling>
        <c:axPos val="l"/>
        <c:numFmt formatCode="0.0" sourceLinked="1"/>
        <c:tickLblPos val="nextTo"/>
        <c:spPr>
          <a:ln w="317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146912384"/>
        <c:crosses val="autoZero"/>
        <c:crossBetween val="between"/>
      </c:valAx>
      <c:spPr>
        <a:noFill/>
        <a:ln w="25398">
          <a:noFill/>
        </a:ln>
      </c:spPr>
    </c:plotArea>
    <c:legend>
      <c:legendPos val="r"/>
      <c:layout>
        <c:manualLayout>
          <c:xMode val="edge"/>
          <c:yMode val="edge"/>
          <c:x val="0.80457839172088597"/>
          <c:y val="9.2635685245226723E-2"/>
          <c:w val="0.13128270256540508"/>
          <c:h val="0.13197735577170505"/>
        </c:manualLayout>
      </c:layout>
      <c:spPr>
        <a:noFill/>
        <a:ln w="3175">
          <a:solidFill>
            <a:schemeClr val="tx1"/>
          </a:solidFill>
          <a:prstDash val="solid"/>
        </a:ln>
      </c:spPr>
    </c:legend>
    <c:plotVisOnly val="1"/>
    <c:dispBlanksAs val="gap"/>
  </c:chart>
  <c:spPr>
    <a:noFill/>
    <a:ln>
      <a:noFill/>
    </a:ln>
  </c:spPr>
  <c:txPr>
    <a:bodyPr/>
    <a:lstStyle/>
    <a:p>
      <a:pPr>
        <a:defRPr lang="en-US" sz="1800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10049627791563599"/>
          <c:y val="7.10900473933649E-2"/>
          <c:w val="0.89950375688333051"/>
          <c:h val="0.77251184834123221"/>
        </c:manualLayout>
      </c:layout>
      <c:barChart>
        <c:barDir val="bar"/>
        <c:grouping val="clustered"/>
        <c:ser>
          <c:idx val="1"/>
          <c:order val="0"/>
          <c:tx>
            <c:strRef>
              <c:f>Sheet1!$A$2</c:f>
              <c:strCache>
                <c:ptCount val="1"/>
                <c:pt idx="0">
                  <c:v>Important</c:v>
                </c:pt>
              </c:strCache>
            </c:strRef>
          </c:tx>
          <c:spPr>
            <a:ln>
              <a:solidFill>
                <a:srgbClr val="000000"/>
              </a:solidFill>
            </a:ln>
          </c:spPr>
          <c:dLbls>
            <c:showVal val="1"/>
          </c:dLbls>
          <c:cat>
            <c:strRef>
              <c:f>Sheet1!$B$1:$H$1</c:f>
              <c:strCache>
                <c:ptCount val="7"/>
                <c:pt idx="0">
                  <c:v>Jun-07</c:v>
                </c:pt>
                <c:pt idx="1">
                  <c:v>Sep-07</c:v>
                </c:pt>
                <c:pt idx="2">
                  <c:v>Dec-07</c:v>
                </c:pt>
                <c:pt idx="3">
                  <c:v>Apr-08</c:v>
                </c:pt>
                <c:pt idx="4">
                  <c:v>Jun-08</c:v>
                </c:pt>
                <c:pt idx="5">
                  <c:v>Sep-08</c:v>
                </c:pt>
                <c:pt idx="6">
                  <c:v>Dec-08</c:v>
                </c:pt>
              </c:strCache>
            </c:strRef>
          </c:cat>
          <c:val>
            <c:numRef>
              <c:f>Sheet1!$B$2:$H$2</c:f>
              <c:numCache>
                <c:formatCode>0%</c:formatCode>
                <c:ptCount val="7"/>
                <c:pt idx="0">
                  <c:v>0.88900000000000001</c:v>
                </c:pt>
                <c:pt idx="1">
                  <c:v>0.90300000000000002</c:v>
                </c:pt>
                <c:pt idx="2">
                  <c:v>0.93700000000000028</c:v>
                </c:pt>
                <c:pt idx="3">
                  <c:v>0.93799999999999994</c:v>
                </c:pt>
                <c:pt idx="4">
                  <c:v>0.93500000000000005</c:v>
                </c:pt>
                <c:pt idx="5">
                  <c:v>0.92200000000000004</c:v>
                </c:pt>
                <c:pt idx="6">
                  <c:v>0.92200000000000004</c:v>
                </c:pt>
              </c:numCache>
            </c:numRef>
          </c:val>
        </c:ser>
        <c:ser>
          <c:idx val="0"/>
          <c:order val="1"/>
          <c:tx>
            <c:strRef>
              <c:f>Sheet1!$A$3</c:f>
              <c:strCache>
                <c:ptCount val="1"/>
                <c:pt idx="0">
                  <c:v>Not important</c:v>
                </c:pt>
              </c:strCache>
            </c:strRef>
          </c:tx>
          <c:spPr>
            <a:ln>
              <a:solidFill>
                <a:srgbClr val="000000"/>
              </a:solidFill>
            </a:ln>
          </c:spPr>
          <c:dLbls>
            <c:showVal val="1"/>
          </c:dLbls>
          <c:cat>
            <c:strRef>
              <c:f>Sheet1!$B$1:$H$1</c:f>
              <c:strCache>
                <c:ptCount val="7"/>
                <c:pt idx="0">
                  <c:v>Jun-07</c:v>
                </c:pt>
                <c:pt idx="1">
                  <c:v>Sep-07</c:v>
                </c:pt>
                <c:pt idx="2">
                  <c:v>Dec-07</c:v>
                </c:pt>
                <c:pt idx="3">
                  <c:v>Apr-08</c:v>
                </c:pt>
                <c:pt idx="4">
                  <c:v>Jun-08</c:v>
                </c:pt>
                <c:pt idx="5">
                  <c:v>Sep-08</c:v>
                </c:pt>
                <c:pt idx="6">
                  <c:v>Dec-08</c:v>
                </c:pt>
              </c:strCache>
            </c:strRef>
          </c:cat>
          <c:val>
            <c:numRef>
              <c:f>Sheet1!$B$3:$H$3</c:f>
              <c:numCache>
                <c:formatCode>0%</c:formatCode>
                <c:ptCount val="7"/>
                <c:pt idx="0">
                  <c:v>6.1000000000000013E-2</c:v>
                </c:pt>
                <c:pt idx="1">
                  <c:v>5.5000000000000014E-2</c:v>
                </c:pt>
                <c:pt idx="2">
                  <c:v>3.500000000000001E-2</c:v>
                </c:pt>
                <c:pt idx="3">
                  <c:v>4.0000000000000015E-2</c:v>
                </c:pt>
                <c:pt idx="4">
                  <c:v>3.0000000000000002E-2</c:v>
                </c:pt>
                <c:pt idx="5">
                  <c:v>3.2000000000000015E-2</c:v>
                </c:pt>
                <c:pt idx="6">
                  <c:v>3.7999999999999999E-2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DK/NA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solidFill>
                <a:srgbClr val="000000"/>
              </a:solidFill>
            </a:ln>
          </c:spPr>
          <c:dLbls>
            <c:showVal val="1"/>
          </c:dLbls>
          <c:cat>
            <c:strRef>
              <c:f>Sheet1!$B$1:$H$1</c:f>
              <c:strCache>
                <c:ptCount val="7"/>
                <c:pt idx="0">
                  <c:v>Jun-07</c:v>
                </c:pt>
                <c:pt idx="1">
                  <c:v>Sep-07</c:v>
                </c:pt>
                <c:pt idx="2">
                  <c:v>Dec-07</c:v>
                </c:pt>
                <c:pt idx="3">
                  <c:v>Apr-08</c:v>
                </c:pt>
                <c:pt idx="4">
                  <c:v>Jun-08</c:v>
                </c:pt>
                <c:pt idx="5">
                  <c:v>Sep-08</c:v>
                </c:pt>
                <c:pt idx="6">
                  <c:v>Dec-08</c:v>
                </c:pt>
              </c:strCache>
            </c:strRef>
          </c:cat>
          <c:val>
            <c:numRef>
              <c:f>Sheet1!$B$4:$H$4</c:f>
              <c:numCache>
                <c:formatCode>0%</c:formatCode>
                <c:ptCount val="7"/>
                <c:pt idx="0">
                  <c:v>0.05</c:v>
                </c:pt>
                <c:pt idx="1">
                  <c:v>4.3000000000000003E-2</c:v>
                </c:pt>
                <c:pt idx="2">
                  <c:v>2.8000000000000001E-2</c:v>
                </c:pt>
                <c:pt idx="3">
                  <c:v>2.1000000000000008E-2</c:v>
                </c:pt>
                <c:pt idx="4">
                  <c:v>3.4000000000000002E-2</c:v>
                </c:pt>
                <c:pt idx="5">
                  <c:v>4.5999999999999999E-2</c:v>
                </c:pt>
                <c:pt idx="6">
                  <c:v>3.9000000000000014E-2</c:v>
                </c:pt>
              </c:numCache>
            </c:numRef>
          </c:val>
        </c:ser>
        <c:dLbls>
          <c:showVal val="1"/>
        </c:dLbls>
        <c:axId val="151409408"/>
        <c:axId val="151410944"/>
      </c:barChart>
      <c:catAx>
        <c:axId val="151409408"/>
        <c:scaling>
          <c:orientation val="minMax"/>
        </c:scaling>
        <c:axPos val="l"/>
        <c:numFmt formatCode="@" sourceLinked="1"/>
        <c:tickLblPos val="nextTo"/>
        <c:spPr>
          <a:ln w="3172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797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51410944"/>
        <c:crosses val="autoZero"/>
        <c:auto val="1"/>
        <c:lblAlgn val="ctr"/>
        <c:lblOffset val="100"/>
        <c:tickLblSkip val="1"/>
        <c:tickMarkSkip val="1"/>
      </c:catAx>
      <c:valAx>
        <c:axId val="151410944"/>
        <c:scaling>
          <c:orientation val="minMax"/>
        </c:scaling>
        <c:axPos val="b"/>
        <c:numFmt formatCode="0%" sourceLinked="1"/>
        <c:tickLblPos val="nextTo"/>
        <c:spPr>
          <a:ln w="3172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797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51409408"/>
        <c:crosses val="autoZero"/>
        <c:crossBetween val="between"/>
      </c:valAx>
      <c:spPr>
        <a:noFill/>
        <a:ln w="25388">
          <a:noFill/>
        </a:ln>
      </c:spPr>
    </c:plotArea>
    <c:legend>
      <c:legendPos val="r"/>
      <c:layout>
        <c:manualLayout>
          <c:xMode val="edge"/>
          <c:yMode val="edge"/>
          <c:x val="0.27058530804216852"/>
          <c:y val="1.6769080335546302E-3"/>
          <c:w val="0.60739015779055994"/>
          <c:h val="9.0681282486747991E-2"/>
        </c:manualLayout>
      </c:layout>
      <c:spPr>
        <a:noFill/>
        <a:ln w="3172">
          <a:solidFill>
            <a:schemeClr val="tx1"/>
          </a:solidFill>
          <a:prstDash val="solid"/>
        </a:ln>
      </c:spPr>
      <c:txPr>
        <a:bodyPr/>
        <a:lstStyle/>
        <a:p>
          <a:pPr>
            <a:defRPr sz="1652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797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10421836228287841"/>
          <c:y val="0.12796208530805686"/>
          <c:w val="0.80769230769230771"/>
          <c:h val="0.74407582938390793"/>
        </c:manualLayout>
      </c:layout>
      <c:barChart>
        <c:barDir val="col"/>
        <c:grouping val="percentStacked"/>
        <c:ser>
          <c:idx val="0"/>
          <c:order val="0"/>
          <c:tx>
            <c:strRef>
              <c:f>Sheet1!$A$2</c:f>
              <c:strCache>
                <c:ptCount val="1"/>
                <c:pt idx="0">
                  <c:v>Strongly agree</c:v>
                </c:pt>
              </c:strCache>
            </c:strRef>
          </c:tx>
          <c:spPr>
            <a:solidFill>
              <a:srgbClr val="3366FF"/>
            </a:solidFill>
            <a:ln w="14247">
              <a:solidFill>
                <a:schemeClr val="tx1"/>
              </a:solidFill>
              <a:prstDash val="solid"/>
            </a:ln>
          </c:spPr>
          <c:dLbls>
            <c:spPr>
              <a:noFill/>
              <a:ln w="28493">
                <a:noFill/>
              </a:ln>
            </c:spPr>
            <c:txPr>
              <a:bodyPr/>
              <a:lstStyle/>
              <a:p>
                <a:pPr>
                  <a:defRPr sz="1579" b="1" i="0" u="none" strike="noStrike" baseline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Val val="1"/>
          </c:dLbls>
          <c:cat>
            <c:strRef>
              <c:f>Sheet1!$B$1:$P$1</c:f>
              <c:strCache>
                <c:ptCount val="15"/>
                <c:pt idx="0">
                  <c:v>Dec-04</c:v>
                </c:pt>
                <c:pt idx="1">
                  <c:v>Apr-05</c:v>
                </c:pt>
                <c:pt idx="2">
                  <c:v>Sep-05</c:v>
                </c:pt>
                <c:pt idx="3">
                  <c:v>Jan-06</c:v>
                </c:pt>
                <c:pt idx="4">
                  <c:v>Mar-06</c:v>
                </c:pt>
                <c:pt idx="5">
                  <c:v>Sep-06</c:v>
                </c:pt>
                <c:pt idx="6">
                  <c:v>Nov-06</c:v>
                </c:pt>
                <c:pt idx="7">
                  <c:v>Mar-07</c:v>
                </c:pt>
                <c:pt idx="8">
                  <c:v>Jun-07</c:v>
                </c:pt>
                <c:pt idx="9">
                  <c:v>Sep-07</c:v>
                </c:pt>
                <c:pt idx="10">
                  <c:v>Dec-07</c:v>
                </c:pt>
                <c:pt idx="11">
                  <c:v>Apr-08</c:v>
                </c:pt>
                <c:pt idx="12">
                  <c:v>Jun-08</c:v>
                </c:pt>
                <c:pt idx="13">
                  <c:v>Sep-08</c:v>
                </c:pt>
                <c:pt idx="14">
                  <c:v>Dec-08</c:v>
                </c:pt>
              </c:strCache>
            </c:strRef>
          </c:cat>
          <c:val>
            <c:numRef>
              <c:f>Sheet1!$B$2:$P$2</c:f>
              <c:numCache>
                <c:formatCode>0%</c:formatCode>
                <c:ptCount val="15"/>
                <c:pt idx="0">
                  <c:v>0.73700000000000021</c:v>
                </c:pt>
                <c:pt idx="1">
                  <c:v>0.67500000000000038</c:v>
                </c:pt>
                <c:pt idx="2">
                  <c:v>0.67000000000000026</c:v>
                </c:pt>
                <c:pt idx="3">
                  <c:v>0.64800000000000024</c:v>
                </c:pt>
                <c:pt idx="4">
                  <c:v>0.55300000000000005</c:v>
                </c:pt>
                <c:pt idx="5">
                  <c:v>0.65100000000000025</c:v>
                </c:pt>
                <c:pt idx="6">
                  <c:v>0.62900000000000023</c:v>
                </c:pt>
                <c:pt idx="7">
                  <c:v>0.66800000000000026</c:v>
                </c:pt>
                <c:pt idx="8">
                  <c:v>0.65600000000000025</c:v>
                </c:pt>
                <c:pt idx="9">
                  <c:v>0.69499999999999995</c:v>
                </c:pt>
                <c:pt idx="10">
                  <c:v>0.64400000000000024</c:v>
                </c:pt>
                <c:pt idx="11">
                  <c:v>0.67700000000000038</c:v>
                </c:pt>
                <c:pt idx="12">
                  <c:v>0.70600000000000018</c:v>
                </c:pt>
                <c:pt idx="13">
                  <c:v>0.63400000000000023</c:v>
                </c:pt>
                <c:pt idx="14">
                  <c:v>0.61400000000000021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Agree</c:v>
                </c:pt>
              </c:strCache>
            </c:strRef>
          </c:tx>
          <c:spPr>
            <a:solidFill>
              <a:srgbClr val="00CCFF"/>
            </a:solidFill>
            <a:ln w="14247">
              <a:solidFill>
                <a:schemeClr val="tx1"/>
              </a:solidFill>
              <a:prstDash val="solid"/>
            </a:ln>
          </c:spPr>
          <c:dLbls>
            <c:dLbl>
              <c:idx val="2"/>
              <c:layout>
                <c:manualLayout>
                  <c:x val="5.5827088800222534E-3"/>
                  <c:y val="-3.0157857045120411E-2"/>
                </c:manualLayout>
              </c:layout>
              <c:dLblPos val="ctr"/>
              <c:showVal val="1"/>
            </c:dLbl>
            <c:dLbl>
              <c:idx val="3"/>
              <c:layout>
                <c:manualLayout>
                  <c:x val="2.6360543668692803E-3"/>
                  <c:y val="-3.8281662659466496E-2"/>
                </c:manualLayout>
              </c:layout>
              <c:dLblPos val="ctr"/>
              <c:showVal val="1"/>
            </c:dLbl>
            <c:dLbl>
              <c:idx val="4"/>
              <c:layout>
                <c:manualLayout>
                  <c:x val="9.3009464279801991E-4"/>
                  <c:y val="-3.03533817751452E-2"/>
                </c:manualLayout>
              </c:layout>
              <c:dLblPos val="ctr"/>
              <c:showVal val="1"/>
            </c:dLbl>
            <c:spPr>
              <a:noFill/>
              <a:ln w="28493">
                <a:noFill/>
              </a:ln>
            </c:spPr>
            <c:txPr>
              <a:bodyPr/>
              <a:lstStyle/>
              <a:p>
                <a:pPr>
                  <a:defRPr sz="1579" b="1" i="0" u="none" strike="noStrike" baseline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dLblPos val="ctr"/>
            <c:showVal val="1"/>
          </c:dLbls>
          <c:cat>
            <c:strRef>
              <c:f>Sheet1!$B$1:$P$1</c:f>
              <c:strCache>
                <c:ptCount val="15"/>
                <c:pt idx="0">
                  <c:v>Dec-04</c:v>
                </c:pt>
                <c:pt idx="1">
                  <c:v>Apr-05</c:v>
                </c:pt>
                <c:pt idx="2">
                  <c:v>Sep-05</c:v>
                </c:pt>
                <c:pt idx="3">
                  <c:v>Jan-06</c:v>
                </c:pt>
                <c:pt idx="4">
                  <c:v>Mar-06</c:v>
                </c:pt>
                <c:pt idx="5">
                  <c:v>Sep-06</c:v>
                </c:pt>
                <c:pt idx="6">
                  <c:v>Nov-06</c:v>
                </c:pt>
                <c:pt idx="7">
                  <c:v>Mar-07</c:v>
                </c:pt>
                <c:pt idx="8">
                  <c:v>Jun-07</c:v>
                </c:pt>
                <c:pt idx="9">
                  <c:v>Sep-07</c:v>
                </c:pt>
                <c:pt idx="10">
                  <c:v>Dec-07</c:v>
                </c:pt>
                <c:pt idx="11">
                  <c:v>Apr-08</c:v>
                </c:pt>
                <c:pt idx="12">
                  <c:v>Jun-08</c:v>
                </c:pt>
                <c:pt idx="13">
                  <c:v>Sep-08</c:v>
                </c:pt>
                <c:pt idx="14">
                  <c:v>Dec-08</c:v>
                </c:pt>
              </c:strCache>
            </c:strRef>
          </c:cat>
          <c:val>
            <c:numRef>
              <c:f>Sheet1!$B$3:$P$3</c:f>
              <c:numCache>
                <c:formatCode>0%</c:formatCode>
                <c:ptCount val="15"/>
                <c:pt idx="0">
                  <c:v>0.19800000000000001</c:v>
                </c:pt>
                <c:pt idx="1">
                  <c:v>0.23900000000000005</c:v>
                </c:pt>
                <c:pt idx="2">
                  <c:v>0.23900000000000005</c:v>
                </c:pt>
                <c:pt idx="3">
                  <c:v>0.25800000000000001</c:v>
                </c:pt>
                <c:pt idx="4">
                  <c:v>0.31800000000000012</c:v>
                </c:pt>
                <c:pt idx="5">
                  <c:v>0.26600000000000001</c:v>
                </c:pt>
                <c:pt idx="6">
                  <c:v>0.28600000000000009</c:v>
                </c:pt>
                <c:pt idx="7">
                  <c:v>0.24500000000000005</c:v>
                </c:pt>
                <c:pt idx="8">
                  <c:v>0.27900000000000008</c:v>
                </c:pt>
                <c:pt idx="9">
                  <c:v>0.23400000000000001</c:v>
                </c:pt>
                <c:pt idx="10">
                  <c:v>0.28200000000000008</c:v>
                </c:pt>
                <c:pt idx="11">
                  <c:v>0.24800000000000005</c:v>
                </c:pt>
                <c:pt idx="12">
                  <c:v>0.24400000000000005</c:v>
                </c:pt>
                <c:pt idx="13">
                  <c:v>0.29800000000000015</c:v>
                </c:pt>
                <c:pt idx="14">
                  <c:v>0.31600000000000011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Disagree</c:v>
                </c:pt>
              </c:strCache>
            </c:strRef>
          </c:tx>
          <c:spPr>
            <a:solidFill>
              <a:srgbClr val="FFCC00"/>
            </a:solidFill>
            <a:ln w="14247">
              <a:solidFill>
                <a:schemeClr val="tx1"/>
              </a:solidFill>
              <a:prstDash val="solid"/>
            </a:ln>
          </c:spPr>
          <c:dLbls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Val val="1"/>
          </c:dLbls>
          <c:cat>
            <c:strRef>
              <c:f>Sheet1!$B$1:$P$1</c:f>
              <c:strCache>
                <c:ptCount val="15"/>
                <c:pt idx="0">
                  <c:v>Dec-04</c:v>
                </c:pt>
                <c:pt idx="1">
                  <c:v>Apr-05</c:v>
                </c:pt>
                <c:pt idx="2">
                  <c:v>Sep-05</c:v>
                </c:pt>
                <c:pt idx="3">
                  <c:v>Jan-06</c:v>
                </c:pt>
                <c:pt idx="4">
                  <c:v>Mar-06</c:v>
                </c:pt>
                <c:pt idx="5">
                  <c:v>Sep-06</c:v>
                </c:pt>
                <c:pt idx="6">
                  <c:v>Nov-06</c:v>
                </c:pt>
                <c:pt idx="7">
                  <c:v>Mar-07</c:v>
                </c:pt>
                <c:pt idx="8">
                  <c:v>Jun-07</c:v>
                </c:pt>
                <c:pt idx="9">
                  <c:v>Sep-07</c:v>
                </c:pt>
                <c:pt idx="10">
                  <c:v>Dec-07</c:v>
                </c:pt>
                <c:pt idx="11">
                  <c:v>Apr-08</c:v>
                </c:pt>
                <c:pt idx="12">
                  <c:v>Jun-08</c:v>
                </c:pt>
                <c:pt idx="13">
                  <c:v>Sep-08</c:v>
                </c:pt>
                <c:pt idx="14">
                  <c:v>Dec-08</c:v>
                </c:pt>
              </c:strCache>
            </c:strRef>
          </c:cat>
          <c:val>
            <c:numRef>
              <c:f>Sheet1!$B$4:$P$4</c:f>
              <c:numCache>
                <c:formatCode>0%</c:formatCode>
                <c:ptCount val="15"/>
                <c:pt idx="0">
                  <c:v>2.8000000000000001E-2</c:v>
                </c:pt>
                <c:pt idx="1">
                  <c:v>4.0000000000000015E-2</c:v>
                </c:pt>
                <c:pt idx="2">
                  <c:v>4.0000000000000015E-2</c:v>
                </c:pt>
                <c:pt idx="3">
                  <c:v>4.9000000000000016E-2</c:v>
                </c:pt>
                <c:pt idx="4">
                  <c:v>6.5000000000000002E-2</c:v>
                </c:pt>
                <c:pt idx="5">
                  <c:v>3.9000000000000014E-2</c:v>
                </c:pt>
                <c:pt idx="6">
                  <c:v>4.5999999999999999E-2</c:v>
                </c:pt>
                <c:pt idx="7">
                  <c:v>4.7000000000000014E-2</c:v>
                </c:pt>
                <c:pt idx="8">
                  <c:v>3.100000000000001E-2</c:v>
                </c:pt>
                <c:pt idx="9">
                  <c:v>3.9000000000000014E-2</c:v>
                </c:pt>
                <c:pt idx="10">
                  <c:v>3.5999999999999997E-2</c:v>
                </c:pt>
                <c:pt idx="11">
                  <c:v>3.9000000000000014E-2</c:v>
                </c:pt>
                <c:pt idx="12">
                  <c:v>2.9000000000000001E-2</c:v>
                </c:pt>
                <c:pt idx="13">
                  <c:v>2.1999999999999999E-2</c:v>
                </c:pt>
                <c:pt idx="14">
                  <c:v>3.2000000000000015E-2</c:v>
                </c:pt>
              </c:numCache>
            </c:numRef>
          </c:val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Strongly disagree</c:v>
                </c:pt>
              </c:strCache>
            </c:strRef>
          </c:tx>
          <c:spPr>
            <a:solidFill>
              <a:srgbClr val="FF0000"/>
            </a:solidFill>
            <a:ln w="14247">
              <a:solidFill>
                <a:schemeClr val="tx1"/>
              </a:solidFill>
              <a:prstDash val="solid"/>
            </a:ln>
          </c:spPr>
          <c:dLbls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Val val="1"/>
          </c:dLbls>
          <c:cat>
            <c:strRef>
              <c:f>Sheet1!$B$1:$P$1</c:f>
              <c:strCache>
                <c:ptCount val="15"/>
                <c:pt idx="0">
                  <c:v>Dec-04</c:v>
                </c:pt>
                <c:pt idx="1">
                  <c:v>Apr-05</c:v>
                </c:pt>
                <c:pt idx="2">
                  <c:v>Sep-05</c:v>
                </c:pt>
                <c:pt idx="3">
                  <c:v>Jan-06</c:v>
                </c:pt>
                <c:pt idx="4">
                  <c:v>Mar-06</c:v>
                </c:pt>
                <c:pt idx="5">
                  <c:v>Sep-06</c:v>
                </c:pt>
                <c:pt idx="6">
                  <c:v>Nov-06</c:v>
                </c:pt>
                <c:pt idx="7">
                  <c:v>Mar-07</c:v>
                </c:pt>
                <c:pt idx="8">
                  <c:v>Jun-07</c:v>
                </c:pt>
                <c:pt idx="9">
                  <c:v>Sep-07</c:v>
                </c:pt>
                <c:pt idx="10">
                  <c:v>Dec-07</c:v>
                </c:pt>
                <c:pt idx="11">
                  <c:v>Apr-08</c:v>
                </c:pt>
                <c:pt idx="12">
                  <c:v>Jun-08</c:v>
                </c:pt>
                <c:pt idx="13">
                  <c:v>Sep-08</c:v>
                </c:pt>
                <c:pt idx="14">
                  <c:v>Dec-08</c:v>
                </c:pt>
              </c:strCache>
            </c:strRef>
          </c:cat>
          <c:val>
            <c:numRef>
              <c:f>Sheet1!$B$5:$P$5</c:f>
              <c:numCache>
                <c:formatCode>0%</c:formatCode>
                <c:ptCount val="15"/>
                <c:pt idx="0">
                  <c:v>2.8000000000000001E-2</c:v>
                </c:pt>
                <c:pt idx="1">
                  <c:v>2.5000000000000001E-2</c:v>
                </c:pt>
                <c:pt idx="2">
                  <c:v>2.5000000000000001E-2</c:v>
                </c:pt>
                <c:pt idx="3">
                  <c:v>2.5999999999999999E-2</c:v>
                </c:pt>
                <c:pt idx="4">
                  <c:v>2.5000000000000001E-2</c:v>
                </c:pt>
                <c:pt idx="5">
                  <c:v>1.7000000000000001E-2</c:v>
                </c:pt>
                <c:pt idx="6">
                  <c:v>2.4E-2</c:v>
                </c:pt>
                <c:pt idx="7">
                  <c:v>1.9000000000000006E-2</c:v>
                </c:pt>
                <c:pt idx="8">
                  <c:v>1.2E-2</c:v>
                </c:pt>
                <c:pt idx="9">
                  <c:v>1.4999999999999998E-2</c:v>
                </c:pt>
                <c:pt idx="10">
                  <c:v>1.7999999999999999E-2</c:v>
                </c:pt>
                <c:pt idx="11">
                  <c:v>1.9000000000000006E-2</c:v>
                </c:pt>
                <c:pt idx="12">
                  <c:v>9.0000000000000028E-3</c:v>
                </c:pt>
                <c:pt idx="13">
                  <c:v>1.9000000000000006E-2</c:v>
                </c:pt>
                <c:pt idx="14">
                  <c:v>1.2999999999999998E-2</c:v>
                </c:pt>
              </c:numCache>
            </c:numRef>
          </c:val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DK/NR</c:v>
                </c:pt>
              </c:strCache>
            </c:strRef>
          </c:tx>
          <c:spPr>
            <a:solidFill>
              <a:schemeClr val="bg2"/>
            </a:solidFill>
            <a:ln w="14247">
              <a:solidFill>
                <a:schemeClr val="tx1"/>
              </a:solidFill>
              <a:prstDash val="solid"/>
            </a:ln>
          </c:spPr>
          <c:dLbls>
            <c:dLbl>
              <c:idx val="0"/>
              <c:layout>
                <c:manualLayout>
                  <c:x val="5.7971014492753624E-3"/>
                  <c:y val="-1.1904761904761921E-2"/>
                </c:manualLayout>
              </c:layout>
              <c:dLblPos val="ctr"/>
              <c:showVal val="1"/>
            </c:dLbl>
            <c:dLbl>
              <c:idx val="1"/>
              <c:layout>
                <c:manualLayout>
                  <c:x val="2.8985507246376812E-3"/>
                  <c:y val="-1.6666666666666701E-2"/>
                </c:manualLayout>
              </c:layout>
              <c:dLblPos val="ctr"/>
              <c:showVal val="1"/>
            </c:dLbl>
            <c:dLbl>
              <c:idx val="2"/>
              <c:layout>
                <c:manualLayout>
                  <c:x val="-5.7971014492753893E-3"/>
                  <c:y val="-1.6666666666666701E-2"/>
                </c:manualLayout>
              </c:layout>
              <c:dLblPos val="ctr"/>
              <c:showVal val="1"/>
            </c:dLbl>
            <c:dLbl>
              <c:idx val="3"/>
              <c:layout>
                <c:manualLayout>
                  <c:x val="0"/>
                  <c:y val="-1.6666666666666701E-2"/>
                </c:manualLayout>
              </c:layout>
              <c:dLblPos val="ctr"/>
              <c:showVal val="1"/>
            </c:dLbl>
            <c:dLbl>
              <c:idx val="4"/>
              <c:layout>
                <c:manualLayout>
                  <c:x val="0"/>
                  <c:y val="-2.3809523809523812E-2"/>
                </c:manualLayout>
              </c:layout>
              <c:dLblPos val="ctr"/>
              <c:showVal val="1"/>
            </c:dLbl>
            <c:dLbl>
              <c:idx val="5"/>
              <c:layout>
                <c:manualLayout>
                  <c:x val="-1.4492753623188421E-3"/>
                  <c:y val="-2.1428571428571491E-2"/>
                </c:manualLayout>
              </c:layout>
              <c:dLblPos val="ctr"/>
              <c:showVal val="1"/>
            </c:dLbl>
            <c:dLbl>
              <c:idx val="6"/>
              <c:layout>
                <c:manualLayout>
                  <c:x val="4.3478260869565764E-3"/>
                  <c:y val="-1.4285714285714285E-2"/>
                </c:manualLayout>
              </c:layout>
              <c:dLblPos val="ctr"/>
              <c:showVal val="1"/>
            </c:dLbl>
            <c:dLbl>
              <c:idx val="7"/>
              <c:layout>
                <c:manualLayout>
                  <c:x val="1.4492753623188421E-3"/>
                  <c:y val="-1.6666666666666701E-2"/>
                </c:manualLayout>
              </c:layout>
              <c:dLblPos val="ctr"/>
              <c:showVal val="1"/>
            </c:dLbl>
            <c:dLbl>
              <c:idx val="8"/>
              <c:layout>
                <c:manualLayout>
                  <c:x val="0"/>
                  <c:y val="-1.6666666666666701E-2"/>
                </c:manualLayout>
              </c:layout>
              <c:dLblPos val="ctr"/>
              <c:showVal val="1"/>
            </c:dLbl>
            <c:dLbl>
              <c:idx val="9"/>
              <c:layout>
                <c:manualLayout>
                  <c:x val="0"/>
                  <c:y val="-1.4285714285714285E-2"/>
                </c:manualLayout>
              </c:layout>
              <c:dLblPos val="ctr"/>
              <c:showVal val="1"/>
            </c:dLbl>
            <c:dLbl>
              <c:idx val="10"/>
              <c:layout>
                <c:manualLayout>
                  <c:x val="-1.4492753623188421E-3"/>
                  <c:y val="-1.6666666666666701E-2"/>
                </c:manualLayout>
              </c:layout>
              <c:dLblPos val="ctr"/>
              <c:showVal val="1"/>
            </c:dLbl>
            <c:dLbl>
              <c:idx val="11"/>
              <c:layout>
                <c:manualLayout>
                  <c:x val="4.3478260869565313E-3"/>
                  <c:y val="-1.9047619047619094E-2"/>
                </c:manualLayout>
              </c:layout>
              <c:dLblPos val="ctr"/>
              <c:showVal val="1"/>
            </c:dLbl>
            <c:dLbl>
              <c:idx val="12"/>
              <c:layout>
                <c:manualLayout>
                  <c:x val="-4.3478260869565313E-3"/>
                  <c:y val="-1.6666666666666701E-2"/>
                </c:manualLayout>
              </c:layout>
              <c:dLblPos val="ctr"/>
              <c:showVal val="1"/>
            </c:dLbl>
            <c:dLbl>
              <c:idx val="13"/>
              <c:layout>
                <c:manualLayout>
                  <c:x val="1.4492753623189468E-3"/>
                  <c:y val="-2.1428571428571491E-2"/>
                </c:manualLayout>
              </c:layout>
              <c:dLblPos val="ctr"/>
              <c:showVal val="1"/>
            </c:dLbl>
            <c:dLbl>
              <c:idx val="14"/>
              <c:layout>
                <c:manualLayout>
                  <c:x val="0"/>
                  <c:y val="-1.9047619047619108E-2"/>
                </c:manualLayout>
              </c:layout>
              <c:dLblPos val="ctr"/>
              <c:showVal val="1"/>
            </c:dLbl>
            <c:txPr>
              <a:bodyPr anchor="t" anchorCtr="0"/>
              <a:lstStyle/>
              <a:p>
                <a:pPr>
                  <a:defRPr sz="1000"/>
                </a:pPr>
                <a:endParaRPr lang="en-US"/>
              </a:p>
            </c:txPr>
            <c:dLblPos val="ctr"/>
            <c:showVal val="1"/>
          </c:dLbls>
          <c:cat>
            <c:strRef>
              <c:f>Sheet1!$B$1:$P$1</c:f>
              <c:strCache>
                <c:ptCount val="15"/>
                <c:pt idx="0">
                  <c:v>Dec-04</c:v>
                </c:pt>
                <c:pt idx="1">
                  <c:v>Apr-05</c:v>
                </c:pt>
                <c:pt idx="2">
                  <c:v>Sep-05</c:v>
                </c:pt>
                <c:pt idx="3">
                  <c:v>Jan-06</c:v>
                </c:pt>
                <c:pt idx="4">
                  <c:v>Mar-06</c:v>
                </c:pt>
                <c:pt idx="5">
                  <c:v>Sep-06</c:v>
                </c:pt>
                <c:pt idx="6">
                  <c:v>Nov-06</c:v>
                </c:pt>
                <c:pt idx="7">
                  <c:v>Mar-07</c:v>
                </c:pt>
                <c:pt idx="8">
                  <c:v>Jun-07</c:v>
                </c:pt>
                <c:pt idx="9">
                  <c:v>Sep-07</c:v>
                </c:pt>
                <c:pt idx="10">
                  <c:v>Dec-07</c:v>
                </c:pt>
                <c:pt idx="11">
                  <c:v>Apr-08</c:v>
                </c:pt>
                <c:pt idx="12">
                  <c:v>Jun-08</c:v>
                </c:pt>
                <c:pt idx="13">
                  <c:v>Sep-08</c:v>
                </c:pt>
                <c:pt idx="14">
                  <c:v>Dec-08</c:v>
                </c:pt>
              </c:strCache>
            </c:strRef>
          </c:cat>
          <c:val>
            <c:numRef>
              <c:f>Sheet1!$B$6:$P$6</c:f>
              <c:numCache>
                <c:formatCode>0%</c:formatCode>
                <c:ptCount val="15"/>
                <c:pt idx="0">
                  <c:v>8.0000000000000054E-3</c:v>
                </c:pt>
                <c:pt idx="1">
                  <c:v>1.9000000000000006E-2</c:v>
                </c:pt>
                <c:pt idx="2">
                  <c:v>1.9000000000000006E-2</c:v>
                </c:pt>
                <c:pt idx="3">
                  <c:v>1.7999999999999999E-2</c:v>
                </c:pt>
                <c:pt idx="4">
                  <c:v>3.9000000000000014E-2</c:v>
                </c:pt>
                <c:pt idx="5">
                  <c:v>2.4E-2</c:v>
                </c:pt>
                <c:pt idx="6">
                  <c:v>1.4999999999999998E-2</c:v>
                </c:pt>
                <c:pt idx="7">
                  <c:v>2.1000000000000008E-2</c:v>
                </c:pt>
                <c:pt idx="8">
                  <c:v>2.1999999999999999E-2</c:v>
                </c:pt>
                <c:pt idx="9">
                  <c:v>1.6000000000000007E-2</c:v>
                </c:pt>
                <c:pt idx="10">
                  <c:v>2.0000000000000007E-2</c:v>
                </c:pt>
                <c:pt idx="11">
                  <c:v>1.7000000000000001E-2</c:v>
                </c:pt>
                <c:pt idx="12">
                  <c:v>1.7000000000000001E-2</c:v>
                </c:pt>
                <c:pt idx="13">
                  <c:v>2.700000000000001E-2</c:v>
                </c:pt>
                <c:pt idx="14">
                  <c:v>2.5000000000000001E-2</c:v>
                </c:pt>
              </c:numCache>
            </c:numRef>
          </c:val>
        </c:ser>
        <c:dLbls>
          <c:showVal val="1"/>
        </c:dLbls>
        <c:gapWidth val="18"/>
        <c:overlap val="100"/>
        <c:axId val="151854464"/>
        <c:axId val="151864448"/>
      </c:barChart>
      <c:catAx>
        <c:axId val="151854464"/>
        <c:scaling>
          <c:orientation val="minMax"/>
        </c:scaling>
        <c:axPos val="b"/>
        <c:numFmt formatCode="@" sourceLinked="1"/>
        <c:tickLblPos val="nextTo"/>
        <c:spPr>
          <a:ln w="355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41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51864448"/>
        <c:crosses val="autoZero"/>
        <c:auto val="1"/>
        <c:lblAlgn val="ctr"/>
        <c:lblOffset val="100"/>
        <c:tickLblSkip val="1"/>
        <c:tickMarkSkip val="1"/>
      </c:catAx>
      <c:valAx>
        <c:axId val="151864448"/>
        <c:scaling>
          <c:orientation val="minMax"/>
        </c:scaling>
        <c:axPos val="l"/>
        <c:numFmt formatCode="0%" sourceLinked="1"/>
        <c:tickLblPos val="nextTo"/>
        <c:spPr>
          <a:ln w="355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41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51854464"/>
        <c:crosses val="autoZero"/>
        <c:crossBetween val="between"/>
      </c:valAx>
      <c:spPr>
        <a:noFill/>
        <a:ln w="25389">
          <a:noFill/>
        </a:ln>
      </c:spPr>
    </c:plotArea>
    <c:legend>
      <c:legendPos val="t"/>
      <c:layout>
        <c:manualLayout>
          <c:xMode val="edge"/>
          <c:yMode val="edge"/>
          <c:x val="0.2022332208473942"/>
          <c:y val="7.1089477451682197E-3"/>
          <c:w val="0.58979112226356301"/>
          <c:h val="4.6366404199475103E-2"/>
        </c:manualLayout>
      </c:layout>
      <c:spPr>
        <a:noFill/>
        <a:ln w="3556">
          <a:solidFill>
            <a:schemeClr val="tx1"/>
          </a:solidFill>
          <a:prstDash val="solid"/>
        </a:ln>
      </c:spPr>
      <c:txPr>
        <a:bodyPr/>
        <a:lstStyle/>
        <a:p>
          <a:pPr>
            <a:defRPr sz="1228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2017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7.9404466501240833E-2"/>
          <c:y val="5.6872037914693488E-2"/>
          <c:w val="0.80893300248139965"/>
          <c:h val="0.77725118483412325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Dec-07</c:v>
                </c:pt>
              </c:strCache>
            </c:strRef>
          </c:tx>
          <c:spPr>
            <a:solidFill>
              <a:srgbClr val="0000FF"/>
            </a:solidFill>
            <a:ln w="14430">
              <a:solidFill>
                <a:schemeClr val="tx1"/>
              </a:solidFill>
              <a:prstDash val="solid"/>
            </a:ln>
          </c:spPr>
          <c:dLbls>
            <c:spPr>
              <a:noFill/>
              <a:ln w="28847">
                <a:noFill/>
              </a:ln>
            </c:spPr>
            <c:txPr>
              <a:bodyPr rot="0" vert="horz"/>
              <a:lstStyle/>
              <a:p>
                <a:pPr algn="ctr">
                  <a:defRPr sz="1400" b="1" i="0" u="none" strike="noStrike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Sheet1!$A$2:$A$7</c:f>
              <c:strCache>
                <c:ptCount val="6"/>
                <c:pt idx="0">
                  <c:v>Peace &amp; Stability</c:v>
                </c:pt>
                <c:pt idx="1">
                  <c:v>Computer literacy</c:v>
                </c:pt>
                <c:pt idx="2">
                  <c:v>Skilled workforce</c:v>
                </c:pt>
                <c:pt idx="3">
                  <c:v>Stable Government</c:v>
                </c:pt>
                <c:pt idx="4">
                  <c:v>Fighting Corruption</c:v>
                </c:pt>
                <c:pt idx="5">
                  <c:v>DK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0.4820000000000001</c:v>
                </c:pt>
                <c:pt idx="1">
                  <c:v>4.3999999999999997E-2</c:v>
                </c:pt>
                <c:pt idx="2">
                  <c:v>8.3000000000000032E-2</c:v>
                </c:pt>
                <c:pt idx="3">
                  <c:v>0.21400000000000005</c:v>
                </c:pt>
                <c:pt idx="4">
                  <c:v>0.15000000000000005</c:v>
                </c:pt>
                <c:pt idx="5">
                  <c:v>2.700000000000001E-2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Apr-08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</c:spPr>
          <c:dLbls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Val val="1"/>
          </c:dLbls>
          <c:cat>
            <c:strRef>
              <c:f>Sheet1!$A$2:$A$7</c:f>
              <c:strCache>
                <c:ptCount val="6"/>
                <c:pt idx="0">
                  <c:v>Peace &amp; Stability</c:v>
                </c:pt>
                <c:pt idx="1">
                  <c:v>Computer literacy</c:v>
                </c:pt>
                <c:pt idx="2">
                  <c:v>Skilled workforce</c:v>
                </c:pt>
                <c:pt idx="3">
                  <c:v>Stable Government</c:v>
                </c:pt>
                <c:pt idx="4">
                  <c:v>Fighting Corruption</c:v>
                </c:pt>
                <c:pt idx="5">
                  <c:v>DK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0.56299999999999994</c:v>
                </c:pt>
                <c:pt idx="1">
                  <c:v>2.5000000000000001E-2</c:v>
                </c:pt>
                <c:pt idx="2">
                  <c:v>6.5000000000000002E-2</c:v>
                </c:pt>
                <c:pt idx="3">
                  <c:v>0.24400000000000005</c:v>
                </c:pt>
                <c:pt idx="4">
                  <c:v>8.8000000000000037E-2</c:v>
                </c:pt>
                <c:pt idx="5">
                  <c:v>1.4999999999999998E-2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Jun-08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rgbClr val="000000"/>
              </a:solidFill>
            </a:ln>
          </c:spPr>
          <c:dLbls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Val val="1"/>
          </c:dLbls>
          <c:cat>
            <c:strRef>
              <c:f>Sheet1!$A$2:$A$7</c:f>
              <c:strCache>
                <c:ptCount val="6"/>
                <c:pt idx="0">
                  <c:v>Peace &amp; Stability</c:v>
                </c:pt>
                <c:pt idx="1">
                  <c:v>Computer literacy</c:v>
                </c:pt>
                <c:pt idx="2">
                  <c:v>Skilled workforce</c:v>
                </c:pt>
                <c:pt idx="3">
                  <c:v>Stable Government</c:v>
                </c:pt>
                <c:pt idx="4">
                  <c:v>Fighting Corruption</c:v>
                </c:pt>
                <c:pt idx="5">
                  <c:v>DK</c:v>
                </c:pt>
              </c:strCache>
            </c:strRef>
          </c:cat>
          <c:val>
            <c:numRef>
              <c:f>Sheet1!$D$2:$D$7</c:f>
              <c:numCache>
                <c:formatCode>0%</c:formatCode>
                <c:ptCount val="6"/>
                <c:pt idx="0">
                  <c:v>0.51100000000000001</c:v>
                </c:pt>
                <c:pt idx="1">
                  <c:v>4.0000000000000015E-2</c:v>
                </c:pt>
                <c:pt idx="2">
                  <c:v>7.5999999999999998E-2</c:v>
                </c:pt>
                <c:pt idx="3">
                  <c:v>0.24900000000000005</c:v>
                </c:pt>
                <c:pt idx="4">
                  <c:v>0.111</c:v>
                </c:pt>
                <c:pt idx="5">
                  <c:v>1.4E-2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Sep-08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000000"/>
              </a:solidFill>
            </a:ln>
          </c:spPr>
          <c:dLbls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Val val="1"/>
          </c:dLbls>
          <c:cat>
            <c:strRef>
              <c:f>Sheet1!$A$2:$A$7</c:f>
              <c:strCache>
                <c:ptCount val="6"/>
                <c:pt idx="0">
                  <c:v>Peace &amp; Stability</c:v>
                </c:pt>
                <c:pt idx="1">
                  <c:v>Computer literacy</c:v>
                </c:pt>
                <c:pt idx="2">
                  <c:v>Skilled workforce</c:v>
                </c:pt>
                <c:pt idx="3">
                  <c:v>Stable Government</c:v>
                </c:pt>
                <c:pt idx="4">
                  <c:v>Fighting Corruption</c:v>
                </c:pt>
                <c:pt idx="5">
                  <c:v>DK</c:v>
                </c:pt>
              </c:strCache>
            </c:strRef>
          </c:cat>
          <c:val>
            <c:numRef>
              <c:f>Sheet1!$E$2:$E$7</c:f>
              <c:numCache>
                <c:formatCode>0%</c:formatCode>
                <c:ptCount val="6"/>
                <c:pt idx="0">
                  <c:v>0.47400000000000009</c:v>
                </c:pt>
                <c:pt idx="1">
                  <c:v>3.9000000000000014E-2</c:v>
                </c:pt>
                <c:pt idx="2">
                  <c:v>7.3999999999999996E-2</c:v>
                </c:pt>
                <c:pt idx="3">
                  <c:v>0.26100000000000001</c:v>
                </c:pt>
                <c:pt idx="4">
                  <c:v>0.125</c:v>
                </c:pt>
                <c:pt idx="5">
                  <c:v>2.700000000000001E-2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Dec-08</c:v>
                </c:pt>
              </c:strCache>
            </c:strRef>
          </c:tx>
          <c:spPr>
            <a:ln>
              <a:solidFill>
                <a:srgbClr val="000000"/>
              </a:solidFill>
            </a:ln>
          </c:spPr>
          <c:dLbls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Val val="1"/>
          </c:dLbls>
          <c:cat>
            <c:strRef>
              <c:f>Sheet1!$A$2:$A$7</c:f>
              <c:strCache>
                <c:ptCount val="6"/>
                <c:pt idx="0">
                  <c:v>Peace &amp; Stability</c:v>
                </c:pt>
                <c:pt idx="1">
                  <c:v>Computer literacy</c:v>
                </c:pt>
                <c:pt idx="2">
                  <c:v>Skilled workforce</c:v>
                </c:pt>
                <c:pt idx="3">
                  <c:v>Stable Government</c:v>
                </c:pt>
                <c:pt idx="4">
                  <c:v>Fighting Corruption</c:v>
                </c:pt>
                <c:pt idx="5">
                  <c:v>DK</c:v>
                </c:pt>
              </c:strCache>
            </c:strRef>
          </c:cat>
          <c:val>
            <c:numRef>
              <c:f>Sheet1!$F$2:$F$7</c:f>
              <c:numCache>
                <c:formatCode>0%</c:formatCode>
                <c:ptCount val="6"/>
                <c:pt idx="0">
                  <c:v>0.45500000000000002</c:v>
                </c:pt>
                <c:pt idx="1">
                  <c:v>4.3000000000000003E-2</c:v>
                </c:pt>
                <c:pt idx="2">
                  <c:v>8.2000000000000003E-2</c:v>
                </c:pt>
                <c:pt idx="3">
                  <c:v>0.27800000000000002</c:v>
                </c:pt>
                <c:pt idx="4">
                  <c:v>0.13200000000000001</c:v>
                </c:pt>
                <c:pt idx="5">
                  <c:v>1.0000000000000004E-2</c:v>
                </c:pt>
              </c:numCache>
            </c:numRef>
          </c:val>
        </c:ser>
        <c:dLbls>
          <c:showVal val="1"/>
        </c:dLbls>
        <c:axId val="152529536"/>
        <c:axId val="152547712"/>
      </c:barChart>
      <c:catAx>
        <c:axId val="152529536"/>
        <c:scaling>
          <c:orientation val="minMax"/>
        </c:scaling>
        <c:axPos val="b"/>
        <c:numFmt formatCode="General" sourceLinked="1"/>
        <c:tickLblPos val="nextTo"/>
        <c:spPr>
          <a:ln w="3611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65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52547712"/>
        <c:crosses val="autoZero"/>
        <c:auto val="1"/>
        <c:lblAlgn val="ctr"/>
        <c:lblOffset val="100"/>
        <c:tickLblSkip val="1"/>
        <c:tickMarkSkip val="1"/>
      </c:catAx>
      <c:valAx>
        <c:axId val="152547712"/>
        <c:scaling>
          <c:orientation val="minMax"/>
          <c:max val="0.60000000000000064"/>
          <c:min val="0"/>
        </c:scaling>
        <c:axPos val="l"/>
        <c:numFmt formatCode="0%" sourceLinked="1"/>
        <c:tickLblPos val="nextTo"/>
        <c:spPr>
          <a:ln w="3611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65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52529536"/>
        <c:crosses val="autoZero"/>
        <c:crossBetween val="between"/>
      </c:valAx>
      <c:spPr>
        <a:noFill/>
        <a:ln w="25398">
          <a:noFill/>
        </a:ln>
      </c:spPr>
    </c:plotArea>
    <c:legend>
      <c:legendPos val="b"/>
      <c:layout>
        <c:manualLayout>
          <c:xMode val="edge"/>
          <c:yMode val="edge"/>
          <c:x val="0.44888831706494237"/>
          <c:y val="0.12565630709588863"/>
          <c:w val="0.42538383682431813"/>
          <c:h val="4.563998404793046E-2"/>
        </c:manualLayout>
      </c:layout>
      <c:spPr>
        <a:noFill/>
        <a:ln w="3611">
          <a:solidFill>
            <a:schemeClr val="tx1"/>
          </a:solidFill>
          <a:prstDash val="solid"/>
        </a:ln>
      </c:spPr>
      <c:txPr>
        <a:bodyPr/>
        <a:lstStyle/>
        <a:p>
          <a:pPr>
            <a:defRPr sz="1251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2047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34270863711480615"/>
          <c:y val="3.0064405410862152E-2"/>
          <c:w val="0.62334074560124431"/>
          <c:h val="0.86296022612558343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Jun-08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Lbls>
            <c:txPr>
              <a:bodyPr/>
              <a:lstStyle/>
              <a:p>
                <a:pPr>
                  <a:defRPr sz="1199"/>
                </a:pPr>
                <a:endParaRPr lang="en-US"/>
              </a:p>
            </c:txPr>
            <c:showVal val="1"/>
          </c:dLbls>
          <c:cat>
            <c:strRef>
              <c:f>Sheet1!$A$2:$A$17</c:f>
              <c:strCache>
                <c:ptCount val="15"/>
                <c:pt idx="0">
                  <c:v>Unemployment</c:v>
                </c:pt>
                <c:pt idx="1">
                  <c:v>Living standard/Economic development</c:v>
                </c:pt>
                <c:pt idx="2">
                  <c:v>Do not know</c:v>
                </c:pt>
                <c:pt idx="3">
                  <c:v>The name issue</c:v>
                </c:pt>
                <c:pt idx="4">
                  <c:v>Entering in NATO and EU</c:v>
                </c:pt>
                <c:pt idx="5">
                  <c:v>Poverty</c:v>
                </c:pt>
                <c:pt idx="6">
                  <c:v>Other</c:v>
                </c:pt>
                <c:pt idx="7">
                  <c:v>Work on social problems for people</c:v>
                </c:pt>
                <c:pt idx="8">
                  <c:v>Keep promises, work for people</c:v>
                </c:pt>
                <c:pt idx="9">
                  <c:v>To increase the salaries</c:v>
                </c:pt>
                <c:pt idx="10">
                  <c:v>Peace, stability, safety</c:v>
                </c:pt>
                <c:pt idx="11">
                  <c:v>Corruption and crime</c:v>
                </c:pt>
                <c:pt idx="12">
                  <c:v>Agriculture</c:v>
                </c:pt>
                <c:pt idx="13">
                  <c:v>To reduce taxes and prices</c:v>
                </c:pt>
                <c:pt idx="14">
                  <c:v>Abolition visas</c:v>
                </c:pt>
              </c:strCache>
            </c:strRef>
          </c:cat>
          <c:val>
            <c:numRef>
              <c:f>Sheet1!$B$2:$B$17</c:f>
              <c:numCache>
                <c:formatCode>0%</c:formatCode>
                <c:ptCount val="15"/>
                <c:pt idx="0">
                  <c:v>0.27900000000000008</c:v>
                </c:pt>
                <c:pt idx="1">
                  <c:v>0.23897512004521701</c:v>
                </c:pt>
                <c:pt idx="2">
                  <c:v>0.110612410040123</c:v>
                </c:pt>
                <c:pt idx="3">
                  <c:v>0.12446592191740605</c:v>
                </c:pt>
                <c:pt idx="4">
                  <c:v>7.1452775588611003E-2</c:v>
                </c:pt>
                <c:pt idx="5">
                  <c:v>1.8512103975648599E-2</c:v>
                </c:pt>
                <c:pt idx="6">
                  <c:v>1.9484432315605909E-2</c:v>
                </c:pt>
                <c:pt idx="8">
                  <c:v>3.4825849603520011E-2</c:v>
                </c:pt>
                <c:pt idx="9">
                  <c:v>1.1241744309966105E-2</c:v>
                </c:pt>
                <c:pt idx="10">
                  <c:v>1.8378898224120799E-2</c:v>
                </c:pt>
                <c:pt idx="11">
                  <c:v>9.3071805884729041E-3</c:v>
                </c:pt>
                <c:pt idx="12">
                  <c:v>1.5003585671719206E-2</c:v>
                </c:pt>
                <c:pt idx="13">
                  <c:v>1.30703179788671E-2</c:v>
                </c:pt>
                <c:pt idx="14">
                  <c:v>9.2198430595055707E-3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Sep-08</c:v>
                </c:pt>
              </c:strCache>
            </c:strRef>
          </c:tx>
          <c:spPr>
            <a:ln>
              <a:solidFill>
                <a:srgbClr val="000000"/>
              </a:solidFill>
            </a:ln>
          </c:spPr>
          <c:dLbls>
            <c:txPr>
              <a:bodyPr/>
              <a:lstStyle/>
              <a:p>
                <a:pPr>
                  <a:defRPr sz="1199"/>
                </a:pPr>
                <a:endParaRPr lang="en-US"/>
              </a:p>
            </c:txPr>
            <c:showVal val="1"/>
          </c:dLbls>
          <c:cat>
            <c:strRef>
              <c:f>Sheet1!$A$2:$A$17</c:f>
              <c:strCache>
                <c:ptCount val="15"/>
                <c:pt idx="0">
                  <c:v>Unemployment</c:v>
                </c:pt>
                <c:pt idx="1">
                  <c:v>Living standard/Economic development</c:v>
                </c:pt>
                <c:pt idx="2">
                  <c:v>Do not know</c:v>
                </c:pt>
                <c:pt idx="3">
                  <c:v>The name issue</c:v>
                </c:pt>
                <c:pt idx="4">
                  <c:v>Entering in NATO and EU</c:v>
                </c:pt>
                <c:pt idx="5">
                  <c:v>Poverty</c:v>
                </c:pt>
                <c:pt idx="6">
                  <c:v>Other</c:v>
                </c:pt>
                <c:pt idx="7">
                  <c:v>Work on social problems for people</c:v>
                </c:pt>
                <c:pt idx="8">
                  <c:v>Keep promises, work for people</c:v>
                </c:pt>
                <c:pt idx="9">
                  <c:v>To increase the salaries</c:v>
                </c:pt>
                <c:pt idx="10">
                  <c:v>Peace, stability, safety</c:v>
                </c:pt>
                <c:pt idx="11">
                  <c:v>Corruption and crime</c:v>
                </c:pt>
                <c:pt idx="12">
                  <c:v>Agriculture</c:v>
                </c:pt>
                <c:pt idx="13">
                  <c:v>To reduce taxes and prices</c:v>
                </c:pt>
                <c:pt idx="14">
                  <c:v>Abolition visas</c:v>
                </c:pt>
              </c:strCache>
            </c:strRef>
          </c:cat>
          <c:val>
            <c:numRef>
              <c:f>Sheet1!$C$2:$C$17</c:f>
              <c:numCache>
                <c:formatCode>0%</c:formatCode>
                <c:ptCount val="15"/>
                <c:pt idx="0">
                  <c:v>0.33200000000000013</c:v>
                </c:pt>
                <c:pt idx="1">
                  <c:v>0.22600000000000001</c:v>
                </c:pt>
                <c:pt idx="2">
                  <c:v>0.111</c:v>
                </c:pt>
                <c:pt idx="3">
                  <c:v>9.2000000000000026E-2</c:v>
                </c:pt>
                <c:pt idx="4">
                  <c:v>5.8000000000000003E-2</c:v>
                </c:pt>
                <c:pt idx="5">
                  <c:v>2.0000000000000007E-2</c:v>
                </c:pt>
                <c:pt idx="6">
                  <c:v>2.4E-2</c:v>
                </c:pt>
                <c:pt idx="8">
                  <c:v>3.500000000000001E-2</c:v>
                </c:pt>
                <c:pt idx="9">
                  <c:v>1.0999999999999998E-2</c:v>
                </c:pt>
                <c:pt idx="10">
                  <c:v>4.0000000000000018E-3</c:v>
                </c:pt>
                <c:pt idx="11">
                  <c:v>1.2E-2</c:v>
                </c:pt>
                <c:pt idx="12">
                  <c:v>1.7999999999999999E-2</c:v>
                </c:pt>
                <c:pt idx="13">
                  <c:v>1.0999999999999998E-2</c:v>
                </c:pt>
                <c:pt idx="14">
                  <c:v>9.2198430595055707E-3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Dec-08</c:v>
                </c:pt>
              </c:strCache>
            </c:strRef>
          </c:tx>
          <c:spPr>
            <a:solidFill>
              <a:srgbClr val="92D050"/>
            </a:solidFill>
            <a:ln>
              <a:solidFill>
                <a:srgbClr val="000000"/>
              </a:solidFill>
            </a:ln>
          </c:spPr>
          <c:dLbls>
            <c:txPr>
              <a:bodyPr/>
              <a:lstStyle/>
              <a:p>
                <a:pPr>
                  <a:defRPr sz="1199"/>
                </a:pPr>
                <a:endParaRPr lang="en-US"/>
              </a:p>
            </c:txPr>
            <c:showVal val="1"/>
          </c:dLbls>
          <c:cat>
            <c:strRef>
              <c:f>Sheet1!$A$2:$A$17</c:f>
              <c:strCache>
                <c:ptCount val="15"/>
                <c:pt idx="0">
                  <c:v>Unemployment</c:v>
                </c:pt>
                <c:pt idx="1">
                  <c:v>Living standard/Economic development</c:v>
                </c:pt>
                <c:pt idx="2">
                  <c:v>Do not know</c:v>
                </c:pt>
                <c:pt idx="3">
                  <c:v>The name issue</c:v>
                </c:pt>
                <c:pt idx="4">
                  <c:v>Entering in NATO and EU</c:v>
                </c:pt>
                <c:pt idx="5">
                  <c:v>Poverty</c:v>
                </c:pt>
                <c:pt idx="6">
                  <c:v>Other</c:v>
                </c:pt>
                <c:pt idx="7">
                  <c:v>Work on social problems for people</c:v>
                </c:pt>
                <c:pt idx="8">
                  <c:v>Keep promises, work for people</c:v>
                </c:pt>
                <c:pt idx="9">
                  <c:v>To increase the salaries</c:v>
                </c:pt>
                <c:pt idx="10">
                  <c:v>Peace, stability, safety</c:v>
                </c:pt>
                <c:pt idx="11">
                  <c:v>Corruption and crime</c:v>
                </c:pt>
                <c:pt idx="12">
                  <c:v>Agriculture</c:v>
                </c:pt>
                <c:pt idx="13">
                  <c:v>To reduce taxes and prices</c:v>
                </c:pt>
                <c:pt idx="14">
                  <c:v>Abolition visas</c:v>
                </c:pt>
              </c:strCache>
            </c:strRef>
          </c:cat>
          <c:val>
            <c:numRef>
              <c:f>Sheet1!$D$2:$D$17</c:f>
              <c:numCache>
                <c:formatCode>0%</c:formatCode>
                <c:ptCount val="15"/>
                <c:pt idx="0">
                  <c:v>0.3570000000000001</c:v>
                </c:pt>
                <c:pt idx="1">
                  <c:v>0.255</c:v>
                </c:pt>
                <c:pt idx="2">
                  <c:v>0.11</c:v>
                </c:pt>
                <c:pt idx="3">
                  <c:v>5.1999999999999998E-2</c:v>
                </c:pt>
                <c:pt idx="4">
                  <c:v>3.2000000000000015E-2</c:v>
                </c:pt>
                <c:pt idx="5">
                  <c:v>3.100000000000001E-2</c:v>
                </c:pt>
                <c:pt idx="6">
                  <c:v>3.0000000000000002E-2</c:v>
                </c:pt>
                <c:pt idx="7">
                  <c:v>2.8000000000000001E-2</c:v>
                </c:pt>
                <c:pt idx="8">
                  <c:v>2.1000000000000008E-2</c:v>
                </c:pt>
                <c:pt idx="9">
                  <c:v>2.0000000000000007E-2</c:v>
                </c:pt>
                <c:pt idx="10">
                  <c:v>1.6000000000000007E-2</c:v>
                </c:pt>
                <c:pt idx="11">
                  <c:v>1.0999999999999998E-2</c:v>
                </c:pt>
                <c:pt idx="12">
                  <c:v>1.0999999999999998E-2</c:v>
                </c:pt>
                <c:pt idx="13">
                  <c:v>8.0000000000000054E-3</c:v>
                </c:pt>
                <c:pt idx="14">
                  <c:v>6.0000000000000019E-3</c:v>
                </c:pt>
              </c:numCache>
            </c:numRef>
          </c:val>
        </c:ser>
        <c:dLbls>
          <c:showVal val="1"/>
        </c:dLbls>
        <c:gapWidth val="28"/>
        <c:axId val="153238528"/>
        <c:axId val="153273088"/>
      </c:barChart>
      <c:catAx>
        <c:axId val="153238528"/>
        <c:scaling>
          <c:orientation val="minMax"/>
        </c:scaling>
        <c:axPos val="l"/>
        <c:numFmt formatCode="General" sourceLinked="1"/>
        <c:tickLblPos val="nextTo"/>
        <c:spPr>
          <a:ln w="3173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99" b="0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53273088"/>
        <c:crosses val="autoZero"/>
        <c:auto val="1"/>
        <c:lblAlgn val="ctr"/>
        <c:lblOffset val="100"/>
        <c:tickLblSkip val="1"/>
        <c:tickMarkSkip val="1"/>
      </c:catAx>
      <c:valAx>
        <c:axId val="153273088"/>
        <c:scaling>
          <c:orientation val="minMax"/>
          <c:max val="0.500000000000001"/>
          <c:min val="0"/>
        </c:scaling>
        <c:axPos val="b"/>
        <c:numFmt formatCode="0%" sourceLinked="1"/>
        <c:tickLblPos val="nextTo"/>
        <c:spPr>
          <a:ln w="3173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599" b="1" i="0" u="none" strike="noStrike" baseline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53238528"/>
        <c:crosses val="autoZero"/>
        <c:crossBetween val="between"/>
      </c:valAx>
      <c:spPr>
        <a:noFill/>
        <a:ln w="25382">
          <a:noFill/>
        </a:ln>
      </c:spPr>
    </c:plotArea>
    <c:legend>
      <c:legendPos val="r"/>
      <c:layout>
        <c:manualLayout>
          <c:xMode val="edge"/>
          <c:yMode val="edge"/>
          <c:x val="0.8421600988401039"/>
          <c:y val="0.13847357315629671"/>
          <c:w val="0.10994129832131661"/>
          <c:h val="0.18574319386547283"/>
        </c:manualLayout>
      </c:layout>
      <c:spPr>
        <a:noFill/>
        <a:ln w="3173">
          <a:solidFill>
            <a:schemeClr val="tx1"/>
          </a:solidFill>
          <a:prstDash val="solid"/>
        </a:ln>
      </c:spPr>
      <c:txPr>
        <a:bodyPr/>
        <a:lstStyle/>
        <a:p>
          <a:pPr>
            <a:defRPr sz="1654" b="1" i="0" u="none" strike="noStrike" baseline="0">
              <a:solidFill>
                <a:schemeClr val="tx1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799" b="1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1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0.479</cdr:x>
      <cdr:y>0.4775</cdr:y>
    </cdr:from>
    <cdr:to>
      <cdr:x>0.50775</cdr:x>
      <cdr:y>0.94525</cdr:y>
    </cdr:to>
    <cdr:sp macro="" textlink="">
      <cdr:nvSpPr>
        <cdr:cNvPr id="1025" name="Text Box 1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830898" y="1895218"/>
          <a:ext cx="38386" cy="18088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 lIns="27432" tIns="32004" rIns="27432" bIns="32004" anchor="ctr" upright="1">
          <a:spAutoFit/>
        </a:bodyPr>
        <a:lstStyle xmlns:a="http://schemas.openxmlformats.org/drawingml/2006/main"/>
        <a:p xmlns:a="http://schemas.openxmlformats.org/drawingml/2006/main">
          <a:pPr algn="ctr" rtl="1">
            <a:defRPr sz="1000"/>
          </a:pPr>
          <a:r>
            <a:rPr lang="en-US" sz="1800" b="1" i="0" strike="noStrike" dirty="0">
              <a:solidFill>
                <a:srgbClr val="000000"/>
              </a:solidFill>
              <a:latin typeface="Times New Roman"/>
              <a:cs typeface="Times New Roman"/>
            </a:rPr>
            <a:t> 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 algn="l" defTabSz="928688">
              <a:spcBef>
                <a:spcPct val="0"/>
              </a:spcBef>
              <a:defRPr sz="1200" b="0" dirty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 algn="r" defTabSz="928688">
              <a:spcBef>
                <a:spcPct val="0"/>
              </a:spcBef>
              <a:defRPr sz="1200" b="0" dirty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 algn="l" defTabSz="928688">
              <a:spcBef>
                <a:spcPct val="0"/>
              </a:spcBef>
              <a:defRPr sz="1200" b="0" dirty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 algn="r" defTabSz="928688">
              <a:spcBef>
                <a:spcPct val="0"/>
              </a:spcBef>
              <a:defRPr sz="1200" b="0">
                <a:cs typeface="+mn-cs"/>
              </a:defRPr>
            </a:lvl1pPr>
          </a:lstStyle>
          <a:p>
            <a:pPr>
              <a:defRPr/>
            </a:pPr>
            <a:fld id="{6C49A3CB-055B-40F5-9352-8F56DF635F7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 dirty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 dirty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8400" y="685800"/>
            <a:ext cx="4673600" cy="3505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81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30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 dirty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7630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cs typeface="+mn-cs"/>
              </a:defRPr>
            </a:lvl1pPr>
          </a:lstStyle>
          <a:p>
            <a:pPr>
              <a:defRPr/>
            </a:pPr>
            <a:fld id="{F84C5FB5-82D2-49C6-A933-569F15DAA7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1BB9D5-D9C6-4DC4-A60D-B988C0474062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F9C8F2-008E-4D1A-8515-24307D8DCDE0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2521BD-8144-48C1-88C8-FF8E7293DB6E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32/58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453ACB-5C4A-4A78-A37C-D8B4944260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4F9539-76DA-43B9-B3A8-F49F2DE786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2A6CF9-FBBD-41E8-946E-0DC34A67DA5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3C3A52-D17A-4B90-96BA-162CA1AB2B5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FCBA4B-B0A8-487B-B186-164DC36161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BBB9A-A553-430C-A028-2FD6345D067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89391-359B-49C5-B2AD-8516C214660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F8F91-70BD-421C-8232-E9BE98CD2E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E9632-4FD0-4A5A-864A-E13EE0F2DC5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AF198-DC70-4052-9875-546F6278E5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5B866-0A36-42EA-93A4-6968820370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42375-97E6-485F-908A-F64D749926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E2F7C5-F2F0-48FC-805D-24EF8A4B75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6248400"/>
            <a:ext cx="472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b="0" dirty="0" smtClean="0">
                <a:cs typeface="+mn-cs"/>
              </a:defRPr>
            </a:lvl1pPr>
          </a:lstStyle>
          <a:p>
            <a:pPr>
              <a:defRPr/>
            </a:pPr>
            <a:r>
              <a:rPr lang="en-US"/>
              <a:t>Williams and Associates●Salem, Massachusetts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72400" y="62484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b="0">
                <a:cs typeface="+mn-cs"/>
              </a:defRPr>
            </a:lvl1pPr>
          </a:lstStyle>
          <a:p>
            <a:pPr>
              <a:defRPr/>
            </a:pPr>
            <a:fld id="{43B822B9-56C6-464C-98B5-815AFE72FD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 descr="IRI-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228600"/>
            <a:ext cx="3352800" cy="300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819400"/>
            <a:ext cx="7772400" cy="1470025"/>
          </a:xfrm>
        </p:spPr>
        <p:txBody>
          <a:bodyPr/>
          <a:lstStyle/>
          <a:p>
            <a:r>
              <a:rPr lang="en-US" smtClean="0"/>
              <a:t>Macedonia 2008</a:t>
            </a:r>
            <a:br>
              <a:rPr lang="en-US" smtClean="0"/>
            </a:br>
            <a:r>
              <a:rPr lang="en-US" sz="2000" smtClean="0"/>
              <a:t>December 12-17, 2008</a:t>
            </a:r>
            <a:endParaRPr lang="en-US" sz="3300" smtClean="0"/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648200"/>
            <a:ext cx="6400800" cy="1066800"/>
          </a:xfrm>
        </p:spPr>
        <p:txBody>
          <a:bodyPr/>
          <a:lstStyle/>
          <a:p>
            <a:r>
              <a:rPr lang="en-US" sz="2400" smtClean="0"/>
              <a:t>Williams and Associates</a:t>
            </a:r>
          </a:p>
          <a:p>
            <a:r>
              <a:rPr lang="en-US" sz="2400" smtClean="0"/>
              <a:t>Salem, Massachusetts</a:t>
            </a:r>
          </a:p>
        </p:txBody>
      </p:sp>
      <p:pic>
        <p:nvPicPr>
          <p:cNvPr id="2053" name="Picture 8" descr="topka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43400" y="5791200"/>
            <a:ext cx="2286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4" name="Rectangle 10"/>
          <p:cNvSpPr>
            <a:spLocks noChangeArrowheads="1"/>
          </p:cNvSpPr>
          <p:nvPr/>
        </p:nvSpPr>
        <p:spPr bwMode="auto">
          <a:xfrm>
            <a:off x="0" y="2713038"/>
            <a:ext cx="914400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>
                <a:cs typeface="Times New Roman" pitchFamily="18" charset="0"/>
              </a:rPr>
              <a:t/>
            </a:r>
            <a:br>
              <a:rPr lang="en-US" sz="2200">
                <a:cs typeface="Times New Roman" pitchFamily="18" charset="0"/>
              </a:rPr>
            </a:br>
            <a:endParaRPr lang="en-US" sz="2400" b="0"/>
          </a:p>
        </p:txBody>
      </p:sp>
      <p:sp>
        <p:nvSpPr>
          <p:cNvPr id="2055" name="Rectangle 12"/>
          <p:cNvSpPr>
            <a:spLocks noChangeArrowheads="1"/>
          </p:cNvSpPr>
          <p:nvPr/>
        </p:nvSpPr>
        <p:spPr bwMode="auto">
          <a:xfrm>
            <a:off x="3886200" y="5943600"/>
            <a:ext cx="1295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900">
                <a:cs typeface="Times New Roman" pitchFamily="18" charset="0"/>
              </a:rPr>
              <a:t>B R I M A</a:t>
            </a:r>
          </a:p>
        </p:txBody>
      </p:sp>
      <p:pic>
        <p:nvPicPr>
          <p:cNvPr id="2056" name="Picture 13" descr="Horizontal_RGB_60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10000" y="152400"/>
            <a:ext cx="486092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3075" name="Picture 7" descr="IRI-logo"/>
          <p:cNvPicPr>
            <a:picLocks noGrp="1" noChangeAspect="1" noChangeArrowheads="1"/>
          </p:cNvPicPr>
          <p:nvPr/>
        </p:nvPicPr>
        <p:blipFill>
          <a:blip r:embed="rId3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pPr eaLnBrk="1" hangingPunct="1"/>
            <a:r>
              <a:rPr lang="en-US" sz="2800" smtClean="0">
                <a:solidFill>
                  <a:schemeClr val="accent2"/>
                </a:solidFill>
              </a:rPr>
              <a:t>Survey Specifications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10600" cy="5334000"/>
          </a:xfrm>
        </p:spPr>
        <p:txBody>
          <a:bodyPr/>
          <a:lstStyle/>
          <a:p>
            <a:r>
              <a:rPr lang="en-US" sz="1800" smtClean="0">
                <a:solidFill>
                  <a:schemeClr val="accent2"/>
                </a:solidFill>
              </a:rPr>
              <a:t>The International Republican Institute (IRI) conducted a national survey of adult Macedonians (18+ years) from December 16 through December 20, 2008.</a:t>
            </a:r>
          </a:p>
          <a:p>
            <a:r>
              <a:rPr lang="en-US" sz="1800" smtClean="0"/>
              <a:t>Data was collected in the field by Brima, a Taylor Nelson Sofres affiliate in Macedonia, under the supervision of David Williams from Williams and Associates of Salem, Massachusetts.  </a:t>
            </a:r>
          </a:p>
          <a:p>
            <a:r>
              <a:rPr lang="en-US" sz="1800" smtClean="0">
                <a:solidFill>
                  <a:schemeClr val="accent2"/>
                </a:solidFill>
              </a:rPr>
              <a:t>Interviewing was collected using the in-person, face to face methodology by trained professional interviewers using a multistage stratification proportionate to population sample distribution, with random selection of households and respondents</a:t>
            </a:r>
            <a:r>
              <a:rPr lang="en-US" sz="1800" smtClean="0"/>
              <a:t>.</a:t>
            </a:r>
          </a:p>
          <a:p>
            <a:r>
              <a:rPr lang="en-US" sz="1800" smtClean="0">
                <a:solidFill>
                  <a:schemeClr val="accent2"/>
                </a:solidFill>
              </a:rPr>
              <a:t>A total of 1,108 interviews were completed yielding an overall margin of error of ± 3% at the midrange of the 95% confidence level.  </a:t>
            </a:r>
          </a:p>
          <a:p>
            <a:r>
              <a:rPr lang="en-US" sz="1800" smtClean="0"/>
              <a:t>The male-to-female ratio of respondents was 50% male to 50% female.</a:t>
            </a:r>
          </a:p>
          <a:p>
            <a:r>
              <a:rPr lang="en-US" sz="1800" smtClean="0"/>
              <a:t>The age distribution of respondents was 18-24 years (15%), 25-34 (20%), 35-44 (19%), 45-54 (19%), 55-64 (14%), and 65+ (13%).</a:t>
            </a:r>
          </a:p>
          <a:p>
            <a:r>
              <a:rPr lang="en-US" sz="1800" smtClean="0"/>
              <a:t>The information in this report has been compiled in accordance with international standards for market and social research methodologies.</a:t>
            </a:r>
          </a:p>
          <a:p>
            <a:r>
              <a:rPr lang="en-US" sz="1800" smtClean="0"/>
              <a:t>Figures in charts and tables may not sum to 100 percent due to rounding error.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4099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6248400" cy="457200"/>
          </a:xfrm>
        </p:spPr>
        <p:txBody>
          <a:bodyPr/>
          <a:lstStyle/>
          <a:p>
            <a:pPr eaLnBrk="1" hangingPunct="1"/>
            <a:r>
              <a:rPr lang="en-US" sz="1800" smtClean="0">
                <a:solidFill>
                  <a:schemeClr val="accent2"/>
                </a:solidFill>
                <a:cs typeface="Times New Roman" pitchFamily="18" charset="0"/>
              </a:rPr>
              <a:t>Overall, is Macedonia moving in the right or wrong direction?</a:t>
            </a:r>
            <a:endParaRPr lang="en-US" sz="3200" smtClean="0">
              <a:solidFill>
                <a:schemeClr val="accent2"/>
              </a:solidFill>
            </a:endParaRPr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304800" y="838200"/>
          <a:ext cx="86487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5123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5638800" cy="609600"/>
          </a:xfrm>
        </p:spPr>
        <p:txBody>
          <a:bodyPr/>
          <a:lstStyle/>
          <a:p>
            <a:pPr eaLnBrk="1" hangingPunct="1"/>
            <a:r>
              <a:rPr lang="en-US" sz="1800" smtClean="0">
                <a:solidFill>
                  <a:schemeClr val="accent2"/>
                </a:solidFill>
                <a:cs typeface="Times New Roman" pitchFamily="18" charset="0"/>
              </a:rPr>
              <a:t>Speaking of you personally, is your overall quality of life:</a:t>
            </a:r>
            <a:r>
              <a:rPr lang="en-US" sz="1800" smtClean="0">
                <a:solidFill>
                  <a:schemeClr val="accent2"/>
                </a:solidFill>
              </a:rPr>
              <a:t> </a:t>
            </a:r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228600" y="1371600"/>
          <a:ext cx="8763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6147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6096000" cy="381000"/>
          </a:xfrm>
        </p:spPr>
        <p:txBody>
          <a:bodyPr/>
          <a:lstStyle/>
          <a:p>
            <a:pPr eaLnBrk="1" hangingPunct="1"/>
            <a:r>
              <a:rPr lang="en-US" sz="1600" smtClean="0">
                <a:solidFill>
                  <a:schemeClr val="accent2"/>
                </a:solidFill>
                <a:cs typeface="Times New Roman" pitchFamily="18" charset="0"/>
              </a:rPr>
              <a:t>How is your and your family’s economic situation, compared with one</a:t>
            </a:r>
            <a:br>
              <a:rPr lang="en-US" sz="1600" smtClean="0">
                <a:solidFill>
                  <a:schemeClr val="accent2"/>
                </a:solidFill>
                <a:cs typeface="Times New Roman" pitchFamily="18" charset="0"/>
              </a:rPr>
            </a:br>
            <a:r>
              <a:rPr lang="en-US" sz="1600" smtClean="0">
                <a:solidFill>
                  <a:schemeClr val="accent2"/>
                </a:solidFill>
                <a:cs typeface="Times New Roman" pitchFamily="18" charset="0"/>
              </a:rPr>
              <a:t>year ago?</a:t>
            </a:r>
            <a:endParaRPr lang="en-US" sz="1600" smtClean="0">
              <a:solidFill>
                <a:schemeClr val="accent2"/>
              </a:solidFill>
            </a:endParaRPr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228600" y="1066800"/>
          <a:ext cx="8686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7171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152400"/>
            <a:ext cx="5029200" cy="609600"/>
          </a:xfrm>
        </p:spPr>
        <p:txBody>
          <a:bodyPr/>
          <a:lstStyle/>
          <a:p>
            <a:pPr eaLnBrk="1" hangingPunct="1"/>
            <a:r>
              <a:rPr lang="en-US" sz="1600" smtClean="0">
                <a:solidFill>
                  <a:schemeClr val="accent2"/>
                </a:solidFill>
                <a:cs typeface="Times New Roman" pitchFamily="18" charset="0"/>
              </a:rPr>
              <a:t>In the next two years, will the Macedonian economy get better, get worse, or stay the same?</a:t>
            </a:r>
            <a:r>
              <a:rPr lang="en-US" sz="1600" smtClean="0">
                <a:solidFill>
                  <a:schemeClr val="accent2"/>
                </a:solidFill>
              </a:rPr>
              <a:t> </a:t>
            </a:r>
          </a:p>
        </p:txBody>
      </p:sp>
      <p:graphicFrame>
        <p:nvGraphicFramePr>
          <p:cNvPr id="6" name="Object 1024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228600" y="1066800"/>
          <a:ext cx="86106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9219" name="Picture 7" descr="IRI-logo"/>
          <p:cNvPicPr>
            <a:picLocks noGrp="1" noChangeAspect="1" noChangeArrowheads="1"/>
          </p:cNvPicPr>
          <p:nvPr/>
        </p:nvPicPr>
        <p:blipFill>
          <a:blip r:embed="rId3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362200" y="228600"/>
            <a:ext cx="5791200" cy="685800"/>
          </a:xfrm>
        </p:spPr>
        <p:txBody>
          <a:bodyPr/>
          <a:lstStyle/>
          <a:p>
            <a:pPr eaLnBrk="1" hangingPunct="1"/>
            <a:r>
              <a:rPr lang="en-US" sz="1800" smtClean="0">
                <a:solidFill>
                  <a:schemeClr val="accent2"/>
                </a:solidFill>
                <a:cs typeface="Times New Roman" pitchFamily="18" charset="0"/>
              </a:rPr>
              <a:t>When was life better for you, today or before the breakup of Yugoslavia?</a:t>
            </a:r>
            <a:r>
              <a:rPr lang="en-US" sz="1800" smtClean="0">
                <a:solidFill>
                  <a:schemeClr val="accent2"/>
                </a:solidFill>
              </a:rPr>
              <a:t> </a:t>
            </a:r>
          </a:p>
        </p:txBody>
      </p:sp>
      <p:graphicFrame>
        <p:nvGraphicFramePr>
          <p:cNvPr id="6" name="Object 1027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304800" y="1143000"/>
          <a:ext cx="853440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10243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5715000" cy="762000"/>
          </a:xfrm>
        </p:spPr>
        <p:txBody>
          <a:bodyPr/>
          <a:lstStyle/>
          <a:p>
            <a:pPr eaLnBrk="1" hangingPunct="1"/>
            <a:r>
              <a:rPr lang="en-US" sz="1600" smtClean="0">
                <a:solidFill>
                  <a:schemeClr val="accent2"/>
                </a:solidFill>
                <a:cs typeface="Times New Roman" pitchFamily="18" charset="0"/>
              </a:rPr>
              <a:t>In your opinion what is the most serious problem facing Macedonia today?</a:t>
            </a:r>
          </a:p>
        </p:txBody>
      </p:sp>
      <p:graphicFrame>
        <p:nvGraphicFramePr>
          <p:cNvPr id="53211" name="Group 987"/>
          <p:cNvGraphicFramePr>
            <a:graphicFrameLocks noGrp="1"/>
          </p:cNvGraphicFramePr>
          <p:nvPr>
            <p:ph type="tbl" idx="1"/>
          </p:nvPr>
        </p:nvGraphicFramePr>
        <p:xfrm>
          <a:off x="381000" y="1066800"/>
          <a:ext cx="8229597" cy="5016184"/>
        </p:xfrm>
        <a:graphic>
          <a:graphicData uri="http://schemas.openxmlformats.org/drawingml/2006/table">
            <a:tbl>
              <a:tblPr/>
              <a:tblGrid>
                <a:gridCol w="3036871"/>
                <a:gridCol w="716906"/>
                <a:gridCol w="775034"/>
                <a:gridCol w="775034"/>
                <a:gridCol w="775034"/>
                <a:gridCol w="716906"/>
                <a:gridCol w="716906"/>
                <a:gridCol w="716906"/>
              </a:tblGrid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Jun-07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Sep-07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Dec-07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Apr-08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Jun-08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Sep-08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Dec-08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Unemployment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55%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47%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38%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45%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42%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45%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Name Issue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Low standard of living, poverty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Economic problems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Entrance into NATO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Interethnic relations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Corruption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General political situation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Social Problems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Low, non-payment of salary or pension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11267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5715000" cy="685800"/>
          </a:xfrm>
        </p:spPr>
        <p:txBody>
          <a:bodyPr/>
          <a:lstStyle/>
          <a:p>
            <a:pPr eaLnBrk="1" hangingPunct="1"/>
            <a:r>
              <a:rPr lang="en-US" sz="1800" smtClean="0">
                <a:solidFill>
                  <a:schemeClr val="accent2"/>
                </a:solidFill>
                <a:cs typeface="Times New Roman" pitchFamily="18" charset="0"/>
              </a:rPr>
              <a:t>Do you personally support or oppose the Framework Agreement?</a:t>
            </a:r>
            <a:r>
              <a:rPr lang="en-US" sz="1800" smtClean="0">
                <a:solidFill>
                  <a:schemeClr val="accent2"/>
                </a:solidFill>
              </a:rPr>
              <a:t> </a:t>
            </a:r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152400" y="990600"/>
          <a:ext cx="876300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12291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438400" y="304800"/>
            <a:ext cx="5410200" cy="685800"/>
          </a:xfrm>
        </p:spPr>
        <p:txBody>
          <a:bodyPr/>
          <a:lstStyle/>
          <a:p>
            <a:pPr eaLnBrk="1" hangingPunct="1"/>
            <a:r>
              <a:rPr lang="en-US" sz="1800" smtClean="0">
                <a:solidFill>
                  <a:schemeClr val="accent2"/>
                </a:solidFill>
              </a:rPr>
              <a:t>Will implementation of the Framework Agreement make Macedonia more stable?</a:t>
            </a:r>
          </a:p>
        </p:txBody>
      </p:sp>
      <p:graphicFrame>
        <p:nvGraphicFramePr>
          <p:cNvPr id="6" name="Object 1027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228600" y="1143000"/>
          <a:ext cx="86106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743200" y="6324600"/>
            <a:ext cx="4724400" cy="457200"/>
          </a:xfrm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14339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5334000" cy="533400"/>
          </a:xfrm>
        </p:spPr>
        <p:txBody>
          <a:bodyPr/>
          <a:lstStyle/>
          <a:p>
            <a:pPr eaLnBrk="1" hangingPunct="1"/>
            <a:r>
              <a:rPr lang="en-US" sz="1800" smtClean="0">
                <a:solidFill>
                  <a:schemeClr val="accent2"/>
                </a:solidFill>
                <a:cs typeface="Times New Roman" pitchFamily="18" charset="0"/>
              </a:rPr>
              <a:t>Do you believe that Macedonia is more or less stable today than it was one year ago?</a:t>
            </a:r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228600" y="990600"/>
          <a:ext cx="86868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15363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6019800" cy="685800"/>
          </a:xfrm>
        </p:spPr>
        <p:txBody>
          <a:bodyPr/>
          <a:lstStyle/>
          <a:p>
            <a:pPr eaLnBrk="1" hangingPunct="1"/>
            <a:r>
              <a:rPr lang="en-US" sz="1800" smtClean="0">
                <a:solidFill>
                  <a:schemeClr val="accent2"/>
                </a:solidFill>
              </a:rPr>
              <a:t>Which one of these issues would directly make your life better?</a:t>
            </a:r>
          </a:p>
        </p:txBody>
      </p:sp>
      <p:graphicFrame>
        <p:nvGraphicFramePr>
          <p:cNvPr id="6" name="Object 0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304800" y="9144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16387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5715000" cy="609600"/>
          </a:xfrm>
        </p:spPr>
        <p:txBody>
          <a:bodyPr/>
          <a:lstStyle/>
          <a:p>
            <a:pPr eaLnBrk="1" hangingPunct="1"/>
            <a:r>
              <a:rPr lang="en-US" sz="1600" smtClean="0">
                <a:solidFill>
                  <a:schemeClr val="accent2"/>
                </a:solidFill>
                <a:cs typeface="Times New Roman" pitchFamily="18" charset="0"/>
              </a:rPr>
              <a:t> Which one of these would you say is the most important foreign policy issue facing Macedonia?</a:t>
            </a:r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228600" y="1295400"/>
          <a:ext cx="86868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17411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6934200" cy="533400"/>
          </a:xfrm>
        </p:spPr>
        <p:txBody>
          <a:bodyPr/>
          <a:lstStyle/>
          <a:p>
            <a:pPr eaLnBrk="1" hangingPunct="1"/>
            <a:r>
              <a:rPr lang="en-US" sz="2000" smtClean="0">
                <a:solidFill>
                  <a:schemeClr val="accent2"/>
                </a:solidFill>
              </a:rPr>
              <a:t>Do you support Macedonia becoming a member of NATO?</a:t>
            </a:r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304800" y="1066800"/>
          <a:ext cx="8458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18435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6248400" cy="685800"/>
          </a:xfrm>
        </p:spPr>
        <p:txBody>
          <a:bodyPr/>
          <a:lstStyle/>
          <a:p>
            <a:pPr eaLnBrk="1" hangingPunct="1"/>
            <a:r>
              <a:rPr lang="en-US" sz="2000" smtClean="0">
                <a:solidFill>
                  <a:schemeClr val="accent2"/>
                </a:solidFill>
              </a:rPr>
              <a:t>Do you support Macedonia becoming a member of the EU?</a:t>
            </a:r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228600" y="1219200"/>
          <a:ext cx="8915400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19459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6019800" cy="609600"/>
          </a:xfrm>
        </p:spPr>
        <p:txBody>
          <a:bodyPr/>
          <a:lstStyle/>
          <a:p>
            <a:pPr eaLnBrk="1" hangingPunct="1"/>
            <a:r>
              <a:rPr lang="en-US" sz="1800" smtClean="0">
                <a:solidFill>
                  <a:schemeClr val="accent2"/>
                </a:solidFill>
              </a:rPr>
              <a:t>How important is the implementation of the Framework Agreement for successful integration into NATO and EU?</a:t>
            </a:r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685800" y="1143000"/>
          <a:ext cx="77724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20483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228600"/>
            <a:ext cx="6934200" cy="762000"/>
          </a:xfrm>
        </p:spPr>
        <p:txBody>
          <a:bodyPr/>
          <a:lstStyle/>
          <a:p>
            <a:pPr eaLnBrk="1" hangingPunct="1"/>
            <a:r>
              <a:rPr lang="en-US" sz="2000" smtClean="0">
                <a:solidFill>
                  <a:schemeClr val="accent2"/>
                </a:solidFill>
              </a:rPr>
              <a:t>When will Macedonia become a member of NATO/EU? (in years, mean)</a:t>
            </a:r>
          </a:p>
        </p:txBody>
      </p:sp>
      <p:graphicFrame>
        <p:nvGraphicFramePr>
          <p:cNvPr id="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685800" y="1143000"/>
          <a:ext cx="77724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28675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228600"/>
            <a:ext cx="6019800" cy="457200"/>
          </a:xfrm>
        </p:spPr>
        <p:txBody>
          <a:bodyPr/>
          <a:lstStyle/>
          <a:p>
            <a:pPr eaLnBrk="1" hangingPunct="1"/>
            <a:r>
              <a:rPr lang="en-US" sz="2000" smtClean="0">
                <a:solidFill>
                  <a:schemeClr val="accent2"/>
                </a:solidFill>
              </a:rPr>
              <a:t>How important is maintaining political dialog between governing and opposition parties?</a:t>
            </a:r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04800" y="1143000"/>
          <a:ext cx="81534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35843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6172200" cy="533400"/>
          </a:xfrm>
        </p:spPr>
        <p:txBody>
          <a:bodyPr/>
          <a:lstStyle/>
          <a:p>
            <a:pPr eaLnBrk="1" hangingPunct="1"/>
            <a:r>
              <a:rPr lang="en-US" sz="1800" smtClean="0">
                <a:solidFill>
                  <a:schemeClr val="accent2"/>
                </a:solidFill>
              </a:rPr>
              <a:t>Do you agree with the statement that foreign investment is important to Macedonia’s economic future?</a:t>
            </a:r>
          </a:p>
        </p:txBody>
      </p:sp>
      <p:graphicFrame>
        <p:nvGraphicFramePr>
          <p:cNvPr id="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52400" y="1143000"/>
          <a:ext cx="8763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37891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6019800" cy="457200"/>
          </a:xfrm>
        </p:spPr>
        <p:txBody>
          <a:bodyPr/>
          <a:lstStyle/>
          <a:p>
            <a:pPr eaLnBrk="1" hangingPunct="1"/>
            <a:r>
              <a:rPr lang="en-US" sz="1800" smtClean="0">
                <a:solidFill>
                  <a:schemeClr val="accent2"/>
                </a:solidFill>
              </a:rPr>
              <a:t>Which of the following is most important for attracting foreign investment in Macedonia?</a:t>
            </a:r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52400" y="914400"/>
          <a:ext cx="8839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Williams and Associates●Salem, Massachusetts</a:t>
            </a:r>
          </a:p>
        </p:txBody>
      </p:sp>
      <p:pic>
        <p:nvPicPr>
          <p:cNvPr id="45059" name="Picture 7" descr="IRI-logo"/>
          <p:cNvPicPr>
            <a:picLocks noGrp="1" noChangeAspect="1" noChangeArrowheads="1"/>
          </p:cNvPicPr>
          <p:nvPr/>
        </p:nvPicPr>
        <p:blipFill>
          <a:blip r:embed="rId2">
            <a:lum bright="-8000" contrast="24000"/>
          </a:blip>
          <a:srcRect/>
          <a:stretch>
            <a:fillRect/>
          </a:stretch>
        </p:blipFill>
        <p:spPr bwMode="auto">
          <a:xfrm>
            <a:off x="228600" y="15240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28600"/>
            <a:ext cx="7086600" cy="838200"/>
          </a:xfrm>
        </p:spPr>
        <p:txBody>
          <a:bodyPr/>
          <a:lstStyle/>
          <a:p>
            <a:r>
              <a:rPr lang="en-US" sz="2000" smtClean="0">
                <a:solidFill>
                  <a:schemeClr val="accent2"/>
                </a:solidFill>
              </a:rPr>
              <a:t>What should be the first priority of the government after the parliamentary elections?</a:t>
            </a:r>
          </a:p>
        </p:txBody>
      </p:sp>
      <p:graphicFrame>
        <p:nvGraphicFramePr>
          <p:cNvPr id="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28600" y="1219200"/>
          <a:ext cx="82296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32953</TotalTime>
  <Words>978</Words>
  <Application>Microsoft PowerPoint</Application>
  <PresentationFormat>On-screen Show (4:3)</PresentationFormat>
  <Paragraphs>261</Paragraphs>
  <Slides>21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Default Design</vt:lpstr>
      <vt:lpstr>Macedonia 2008 December 12-17, 2008</vt:lpstr>
      <vt:lpstr>Survey Specifications</vt:lpstr>
      <vt:lpstr>Overall, is Macedonia moving in the right or wrong direction?</vt:lpstr>
      <vt:lpstr>Speaking of you personally, is your overall quality of life: </vt:lpstr>
      <vt:lpstr>How is your and your family’s economic situation, compared with one year ago?</vt:lpstr>
      <vt:lpstr>In the next two years, will the Macedonian economy get better, get worse, or stay the same? </vt:lpstr>
      <vt:lpstr>When was life better for you, today or before the breakup of Yugoslavia? </vt:lpstr>
      <vt:lpstr>In your opinion what is the most serious problem facing Macedonia today?</vt:lpstr>
      <vt:lpstr>Do you personally support or oppose the Framework Agreement? </vt:lpstr>
      <vt:lpstr>Will implementation of the Framework Agreement make Macedonia more stable?</vt:lpstr>
      <vt:lpstr>Do you believe that Macedonia is more or less stable today than it was one year ago?</vt:lpstr>
      <vt:lpstr>Which one of these issues would directly make your life better?</vt:lpstr>
      <vt:lpstr> Which one of these would you say is the most important foreign policy issue facing Macedonia?</vt:lpstr>
      <vt:lpstr>Do you support Macedonia becoming a member of NATO?</vt:lpstr>
      <vt:lpstr>Do you support Macedonia becoming a member of the EU?</vt:lpstr>
      <vt:lpstr>How important is the implementation of the Framework Agreement for successful integration into NATO and EU?</vt:lpstr>
      <vt:lpstr>When will Macedonia become a member of NATO/EU? (in years, mean)</vt:lpstr>
      <vt:lpstr>How important is maintaining political dialog between governing and opposition parties?</vt:lpstr>
      <vt:lpstr>Do you agree with the statement that foreign investment is important to Macedonia’s economic future?</vt:lpstr>
      <vt:lpstr>Which of the following is most important for attracting foreign investment in Macedonia?</vt:lpstr>
      <vt:lpstr>What should be the first priority of the government after the parliamentary elections?</vt:lpstr>
    </vt:vector>
  </TitlesOfParts>
  <Company>Williams and Associates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Macedonian Exit Poll 2002</dc:title>
  <dc:creator>David E. Williams</dc:creator>
  <cp:lastModifiedBy>David E. Williams</cp:lastModifiedBy>
  <cp:revision>707</cp:revision>
  <dcterms:created xsi:type="dcterms:W3CDTF">2002-09-15T09:16:43Z</dcterms:created>
  <dcterms:modified xsi:type="dcterms:W3CDTF">2009-01-15T17:06:43Z</dcterms:modified>
</cp:coreProperties>
</file>