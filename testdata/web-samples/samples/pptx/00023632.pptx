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notesMasterIdLst>
    <p:notesMasterId r:id="rId7"/>
  </p:notesMasterIdLst>
  <p:handoutMasterIdLst>
    <p:handoutMasterId r:id="rId8"/>
  </p:handoutMasterIdLst>
  <p:sldIdLst>
    <p:sldId id="279" r:id="rId2"/>
    <p:sldId id="282" r:id="rId3"/>
    <p:sldId id="284" r:id="rId4"/>
    <p:sldId id="283" r:id="rId5"/>
    <p:sldId id="280" r:id="rId6"/>
  </p:sldIdLst>
  <p:sldSz cx="9144000" cy="6858000" type="screen4x3"/>
  <p:notesSz cx="6997700" cy="92837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FF"/>
    <a:srgbClr val="DDDDDD"/>
    <a:srgbClr val="FB6DA6"/>
    <a:srgbClr val="FC6C7A"/>
    <a:srgbClr val="FE6A83"/>
    <a:srgbClr val="1BFF8D"/>
    <a:srgbClr val="FFFF66"/>
    <a:srgbClr val="00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4326" autoAdjust="0"/>
  </p:normalViewPr>
  <p:slideViewPr>
    <p:cSldViewPr>
      <p:cViewPr>
        <p:scale>
          <a:sx n="75" d="100"/>
          <a:sy n="75" d="100"/>
        </p:scale>
        <p:origin x="-1530" y="-7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3988" y="0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5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6975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5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3988" y="8816975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B66A513C-391F-5A4B-BBC7-09AA3EBC2928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87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0" tIns="46040" rIns="92080" bIns="46040" numCol="1" anchor="t" anchorCtr="0" compatLnSpc="1">
            <a:prstTxWarp prst="textNoShape">
              <a:avLst/>
            </a:prstTxWarp>
          </a:bodyPr>
          <a:lstStyle>
            <a:lvl1pPr defTabSz="920750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98913" y="0"/>
            <a:ext cx="29987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0" tIns="46040" rIns="92080" bIns="46040" numCol="1" anchor="t" anchorCtr="0" compatLnSpc="1">
            <a:prstTxWarp prst="textNoShape">
              <a:avLst/>
            </a:prstTxWarp>
          </a:bodyPr>
          <a:lstStyle>
            <a:lvl1pPr algn="r" defTabSz="920750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88975"/>
            <a:ext cx="4702175" cy="35258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2338" y="4443413"/>
            <a:ext cx="5153025" cy="413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0" tIns="46040" rIns="92080" bIns="460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0625"/>
            <a:ext cx="29987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0" tIns="46040" rIns="92080" bIns="46040" numCol="1" anchor="b" anchorCtr="0" compatLnSpc="1">
            <a:prstTxWarp prst="textNoShape">
              <a:avLst/>
            </a:prstTxWarp>
          </a:bodyPr>
          <a:lstStyle>
            <a:lvl1pPr defTabSz="920750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60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98913" y="8810625"/>
            <a:ext cx="29987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0" tIns="46040" rIns="92080" bIns="46040" numCol="1" anchor="b" anchorCtr="0" compatLnSpc="1">
            <a:prstTxWarp prst="textNoShape">
              <a:avLst/>
            </a:prstTxWarp>
          </a:bodyPr>
          <a:lstStyle>
            <a:lvl1pPr algn="r" defTabSz="920750">
              <a:defRPr sz="1200"/>
            </a:lvl1pPr>
          </a:lstStyle>
          <a:p>
            <a:fld id="{FD92E344-C229-224E-AB05-D8A364EB0F6A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C7BD91-8105-024B-855C-963B898116ED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C7BD91-8105-024B-855C-963B898116ED}" type="slidenum">
              <a:rPr lang="en-US"/>
              <a:pPr/>
              <a:t>2</a:t>
            </a:fld>
            <a:endParaRPr lang="en-US" dirty="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C7BD91-8105-024B-855C-963B898116ED}" type="slidenum">
              <a:rPr lang="en-US"/>
              <a:pPr/>
              <a:t>3</a:t>
            </a:fld>
            <a:endParaRPr lang="en-US" dirty="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C7BD91-8105-024B-855C-963B898116ED}" type="slidenum">
              <a:rPr lang="en-US"/>
              <a:pPr/>
              <a:t>4</a:t>
            </a:fld>
            <a:endParaRPr lang="en-US" dirty="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04800"/>
            <a:ext cx="2057400" cy="5029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029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Garamond" pitchFamily="1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8247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8248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38250" name="Rectangle 10"/>
          <p:cNvSpPr>
            <a:spLocks noChangeArrowheads="1"/>
          </p:cNvSpPr>
          <p:nvPr userDrawn="1"/>
        </p:nvSpPr>
        <p:spPr bwMode="auto">
          <a:xfrm>
            <a:off x="4572000" y="6248400"/>
            <a:ext cx="42148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b="1" i="1" dirty="0">
                <a:solidFill>
                  <a:schemeClr val="hlink"/>
                </a:solidFill>
                <a:latin typeface="Verdana" pitchFamily="1" charset="0"/>
              </a:rPr>
              <a:t>National Geospatial Advisory Committee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1" r:id="rId2"/>
    <p:sldLayoutId id="2147483770" r:id="rId3"/>
    <p:sldLayoutId id="2147483769" r:id="rId4"/>
    <p:sldLayoutId id="2147483768" r:id="rId5"/>
    <p:sldLayoutId id="2147483767" r:id="rId6"/>
    <p:sldLayoutId id="2147483766" r:id="rId7"/>
    <p:sldLayoutId id="2147483765" r:id="rId8"/>
    <p:sldLayoutId id="2147483764" r:id="rId9"/>
    <p:sldLayoutId id="2147483763" r:id="rId10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charset="2"/>
        <a:buChar char="q"/>
        <a:defRPr sz="2600">
          <a:solidFill>
            <a:schemeClr val="tx1"/>
          </a:solidFill>
          <a:latin typeface="+mn-lt"/>
          <a:ea typeface="ＭＳ Ｐゴシック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charset="2"/>
        <a:buChar char="n"/>
        <a:defRPr sz="2200">
          <a:solidFill>
            <a:schemeClr val="tx1"/>
          </a:solidFill>
          <a:latin typeface="+mn-lt"/>
          <a:ea typeface="ＭＳ Ｐゴシック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q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1"/>
            <a:ext cx="8229600" cy="762000"/>
          </a:xfrm>
        </p:spPr>
        <p:txBody>
          <a:bodyPr/>
          <a:lstStyle/>
          <a:p>
            <a:pPr algn="ctr"/>
            <a:r>
              <a:rPr lang="en-US" sz="2800" b="1" dirty="0" smtClean="0">
                <a:latin typeface="Calibri"/>
                <a:ea typeface="Calibri"/>
                <a:cs typeface="Times New Roman"/>
              </a:rPr>
              <a:t>NGAC Geospatial </a:t>
            </a:r>
            <a:r>
              <a:rPr lang="en-US" sz="2800" b="1" dirty="0" smtClean="0">
                <a:latin typeface="Calibri"/>
                <a:ea typeface="Calibri"/>
                <a:cs typeface="Times New Roman"/>
              </a:rPr>
              <a:t>Platform </a:t>
            </a:r>
            <a:r>
              <a:rPr lang="en-US" sz="2800" b="1" dirty="0" smtClean="0">
                <a:latin typeface="Calibri"/>
                <a:ea typeface="Calibri"/>
                <a:cs typeface="Times New Roman"/>
              </a:rPr>
              <a:t>Subcommittee </a:t>
            </a:r>
            <a:r>
              <a:rPr lang="en-US" sz="2800" b="1" dirty="0" smtClean="0">
                <a:latin typeface="Calibri"/>
                <a:ea typeface="Calibri"/>
                <a:cs typeface="Times New Roman"/>
              </a:rPr>
              <a:t>– June 2011</a:t>
            </a:r>
            <a:endParaRPr lang="en-US" sz="280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724400"/>
          </a:xfrm>
        </p:spPr>
        <p:txBody>
          <a:bodyPr/>
          <a:lstStyle/>
          <a:p>
            <a:r>
              <a:rPr lang="en-US" sz="2800" b="1" dirty="0" smtClean="0"/>
              <a:t>Chair:  </a:t>
            </a:r>
            <a:r>
              <a:rPr lang="en-US" sz="2800" dirty="0" smtClean="0"/>
              <a:t>Anne Miglarese</a:t>
            </a:r>
          </a:p>
          <a:p>
            <a:pPr>
              <a:buNone/>
            </a:pPr>
            <a:endParaRPr lang="en-US" sz="2800" dirty="0" smtClean="0"/>
          </a:p>
          <a:p>
            <a:r>
              <a:rPr lang="en-US" sz="2800" b="1" dirty="0" smtClean="0"/>
              <a:t>Members:</a:t>
            </a:r>
            <a:r>
              <a:rPr lang="en-US" sz="2800" dirty="0" smtClean="0">
                <a:latin typeface="Calibri"/>
                <a:cs typeface="Times New Roman"/>
              </a:rPr>
              <a:t>  </a:t>
            </a:r>
            <a:r>
              <a:rPr lang="en-US" sz="2800" dirty="0" smtClean="0">
                <a:latin typeface="Calibri"/>
                <a:ea typeface="Calibri"/>
                <a:cs typeface="Times New Roman"/>
              </a:rPr>
              <a:t>D. Clark, J. Johnston, B. Krucoff, L. Kurilla, J. Pellicci, C. Salas, G. Schiller, G. Thompson</a:t>
            </a:r>
          </a:p>
          <a:p>
            <a:pPr>
              <a:buNone/>
            </a:pPr>
            <a:endParaRPr lang="en-US" dirty="0" smtClean="0"/>
          </a:p>
          <a:p>
            <a:r>
              <a:rPr lang="en-US" sz="2800" b="1" dirty="0" smtClean="0"/>
              <a:t>Purpose: </a:t>
            </a:r>
            <a:r>
              <a:rPr lang="en-US" sz="2800" dirty="0" smtClean="0"/>
              <a:t> </a:t>
            </a:r>
            <a:r>
              <a:rPr lang="en-US" sz="2800" dirty="0" smtClean="0">
                <a:latin typeface="Calibri"/>
                <a:ea typeface="Calibri"/>
                <a:cs typeface="Times New Roman"/>
              </a:rPr>
              <a:t>Upon request of the FGDC, provide feedback and advice on opportunities to facilitate interagency and intergovernmental collaboration in implementing the Geospatial Platform. 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1"/>
            <a:ext cx="8229600" cy="762000"/>
          </a:xfrm>
        </p:spPr>
        <p:txBody>
          <a:bodyPr/>
          <a:lstStyle/>
          <a:p>
            <a:pPr algn="ctr"/>
            <a:r>
              <a:rPr lang="en-US" sz="2800" b="1" dirty="0" smtClean="0">
                <a:latin typeface="Calibri"/>
                <a:ea typeface="Calibri"/>
                <a:cs typeface="Times New Roman"/>
              </a:rPr>
              <a:t>Geospatial Platform Implementation</a:t>
            </a:r>
            <a:endParaRPr lang="en-US" sz="280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8229600" cy="5029200"/>
          </a:xfrm>
        </p:spPr>
        <p:txBody>
          <a:bodyPr/>
          <a:lstStyle/>
          <a:p>
            <a:pPr lv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smtClean="0">
                <a:latin typeface="Calibri"/>
                <a:ea typeface="Calibri"/>
                <a:cs typeface="Times New Roman"/>
              </a:rPr>
              <a:t>Approach &amp; Focus</a:t>
            </a:r>
            <a:r>
              <a:rPr lang="en-US" sz="2800" dirty="0" smtClean="0">
                <a:latin typeface="Calibri"/>
                <a:ea typeface="Calibri"/>
                <a:cs typeface="Times New Roman"/>
              </a:rPr>
              <a:t>: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2800" dirty="0" smtClean="0">
                <a:latin typeface="Calibri"/>
                <a:ea typeface="Calibri"/>
                <a:cs typeface="Times New Roman"/>
              </a:rPr>
              <a:t>Continue the current Subcommittee and add new members.  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Symbol"/>
              <a:buChar char=""/>
            </a:pPr>
            <a:r>
              <a:rPr lang="en-US" sz="2800" dirty="0" smtClean="0">
                <a:latin typeface="Calibri"/>
                <a:ea typeface="Calibri"/>
                <a:cs typeface="Times New Roman"/>
              </a:rPr>
              <a:t>Address current and future requests from the FGDC Community, including the following:</a:t>
            </a:r>
          </a:p>
          <a:p>
            <a:pPr marL="742950" lvl="1" indent="-285750">
              <a:spcBef>
                <a:spcPts val="0"/>
              </a:spcBef>
              <a:spcAft>
                <a:spcPts val="0"/>
              </a:spcAft>
              <a:buFont typeface="Arial"/>
              <a:buChar char="-"/>
            </a:pPr>
            <a:r>
              <a:rPr lang="en-US" sz="2000" dirty="0" smtClean="0">
                <a:latin typeface="Calibri"/>
                <a:ea typeface="Times New Roman"/>
                <a:cs typeface="Times New Roman"/>
              </a:rPr>
              <a:t>What specific offerings (data, services, applications) are available from State/Regional/Local/Tribal governments that could be integrated with the Federal Geospatial Platform in the short term?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Arial"/>
              <a:buChar char="-"/>
            </a:pPr>
            <a:r>
              <a:rPr lang="en-US" sz="2000" dirty="0" smtClean="0">
                <a:latin typeface="Calibri"/>
                <a:ea typeface="Times New Roman"/>
                <a:cs typeface="Times New Roman"/>
              </a:rPr>
              <a:t>What incentives could the Federal government consider to encourage non-Federal contributions to the Platform?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Font typeface="Arial"/>
              <a:buChar char="-"/>
            </a:pPr>
            <a:r>
              <a:rPr lang="en-US" sz="2000" dirty="0" smtClean="0">
                <a:latin typeface="Calibri"/>
                <a:ea typeface="Times New Roman"/>
                <a:cs typeface="Times New Roman"/>
              </a:rPr>
              <a:t>What are the best mechanisms for identifying ongoing requirements and potential contributions to the Platform from our State/Regional/Local/Tribal partners?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1"/>
            <a:ext cx="8229600" cy="762000"/>
          </a:xfrm>
        </p:spPr>
        <p:txBody>
          <a:bodyPr/>
          <a:lstStyle/>
          <a:p>
            <a:pPr algn="ctr"/>
            <a:r>
              <a:rPr lang="en-US" sz="2800" b="1" dirty="0" smtClean="0">
                <a:latin typeface="Calibri"/>
                <a:ea typeface="Calibri"/>
                <a:cs typeface="Times New Roman"/>
              </a:rPr>
              <a:t>Geospatial Platform Implementation</a:t>
            </a:r>
            <a:endParaRPr lang="en-US" sz="280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8229600" cy="50292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Current and Planned Activities</a:t>
            </a:r>
            <a:endParaRPr lang="en-US" sz="2000" dirty="0" smtClean="0">
              <a:latin typeface="Calibri"/>
              <a:ea typeface="Calibri"/>
              <a:cs typeface="Times New Roman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SzPct val="110000"/>
              <a:buFont typeface="Wingdings" pitchFamily="2" charset="2"/>
              <a:buChar char="§"/>
            </a:pPr>
            <a:r>
              <a:rPr lang="en-US" sz="2400" dirty="0" smtClean="0">
                <a:latin typeface="Calibri"/>
                <a:ea typeface="Calibri"/>
                <a:cs typeface="Times New Roman"/>
              </a:rPr>
              <a:t>Incorporate information from Data Sharing Best Practices Summary Report into the Subcommittee’s activities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SzPct val="110000"/>
              <a:buFont typeface="Wingdings" pitchFamily="2" charset="2"/>
              <a:buChar char="§"/>
            </a:pPr>
            <a:r>
              <a:rPr lang="en-US" sz="2000" dirty="0" smtClean="0">
                <a:latin typeface="Calibri"/>
                <a:ea typeface="Times New Roman"/>
                <a:cs typeface="Times New Roman"/>
              </a:rPr>
              <a:t>Assess horizontal and vertical data sharing, what is going to help us shape a path forward?  What is the experience with fusion centers?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SzPct val="110000"/>
              <a:buFont typeface="Wingdings" pitchFamily="2" charset="2"/>
              <a:buChar char="§"/>
            </a:pPr>
            <a:r>
              <a:rPr lang="en-US" sz="2000" dirty="0" smtClean="0">
                <a:latin typeface="Calibri"/>
                <a:ea typeface="Times New Roman"/>
                <a:cs typeface="Times New Roman"/>
              </a:rPr>
              <a:t>Assess data sharing / collaboration strategies for applicability to the Platform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SzPct val="110000"/>
              <a:buFont typeface="Wingdings" pitchFamily="2" charset="2"/>
              <a:buChar char="§"/>
            </a:pPr>
            <a:r>
              <a:rPr lang="en-US" sz="2400" dirty="0" smtClean="0">
                <a:latin typeface="Calibri"/>
                <a:ea typeface="Calibri"/>
                <a:cs typeface="Times New Roman"/>
              </a:rPr>
              <a:t>Assess Geospatial Platform business and financial models as they are developed and refined.  Key questions may include: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SzPct val="110000"/>
              <a:buFont typeface="Wingdings" pitchFamily="2" charset="2"/>
              <a:buChar char="§"/>
            </a:pPr>
            <a:r>
              <a:rPr lang="en-US" sz="2000" dirty="0" smtClean="0">
                <a:latin typeface="Calibri"/>
                <a:ea typeface="Times New Roman"/>
                <a:cs typeface="Times New Roman"/>
              </a:rPr>
              <a:t>What is the path from the “As is” to the “To be” state?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SzPct val="110000"/>
              <a:buFont typeface="Wingdings" pitchFamily="2" charset="2"/>
              <a:buChar char="§"/>
            </a:pPr>
            <a:r>
              <a:rPr lang="en-US" sz="2000" dirty="0" smtClean="0">
                <a:latin typeface="Calibri"/>
                <a:ea typeface="Times New Roman"/>
                <a:cs typeface="Times New Roman"/>
              </a:rPr>
              <a:t>How should contracts and Service Level Agreements be structured?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SzPct val="110000"/>
              <a:buFont typeface="Wingdings" pitchFamily="2" charset="2"/>
              <a:buChar char="§"/>
            </a:pPr>
            <a:r>
              <a:rPr lang="en-US" sz="2000" dirty="0" smtClean="0">
                <a:latin typeface="Calibri"/>
                <a:ea typeface="Times New Roman"/>
                <a:cs typeface="Times New Roman"/>
              </a:rPr>
              <a:t>What are the decision points for key decisions?</a:t>
            </a:r>
          </a:p>
          <a:p>
            <a:pPr marL="742950" marR="0" lvl="1" indent="-285750">
              <a:spcBef>
                <a:spcPts val="0"/>
              </a:spcBef>
              <a:spcAft>
                <a:spcPts val="0"/>
              </a:spcAft>
              <a:buSzPct val="110000"/>
              <a:buFont typeface="Wingdings" pitchFamily="2" charset="2"/>
              <a:buChar char="§"/>
            </a:pPr>
            <a:r>
              <a:rPr lang="en-US" sz="2000" dirty="0" smtClean="0">
                <a:latin typeface="Calibri"/>
                <a:ea typeface="Times New Roman"/>
                <a:cs typeface="Times New Roman"/>
              </a:rPr>
              <a:t>Finish analysis of incentives and benefits for different participants (started by Barney during last session)</a:t>
            </a:r>
            <a:r>
              <a:rPr lang="en-US" sz="2800" dirty="0" smtClean="0">
                <a:latin typeface="Calibri"/>
                <a:ea typeface="Calibri"/>
                <a:cs typeface="Times New Roman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1"/>
            <a:ext cx="8229600" cy="762000"/>
          </a:xfrm>
        </p:spPr>
        <p:txBody>
          <a:bodyPr/>
          <a:lstStyle/>
          <a:p>
            <a:pPr algn="ctr"/>
            <a:r>
              <a:rPr lang="en-US" sz="2800" b="1" dirty="0" smtClean="0">
                <a:latin typeface="Calibri"/>
                <a:ea typeface="Calibri"/>
                <a:cs typeface="Times New Roman"/>
              </a:rPr>
              <a:t>Geospatial Platform Implementation</a:t>
            </a:r>
            <a:endParaRPr lang="en-US" sz="280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8229600" cy="5029200"/>
          </a:xfrm>
        </p:spPr>
        <p:txBody>
          <a:bodyPr/>
          <a:lstStyle/>
          <a:p>
            <a:pPr>
              <a:buNone/>
            </a:pPr>
            <a:r>
              <a:rPr lang="en-US" sz="3200" dirty="0" smtClean="0"/>
              <a:t>Current and Planned Activities, Continued</a:t>
            </a:r>
            <a:endParaRPr lang="en-US" sz="3200" dirty="0" smtClean="0">
              <a:ea typeface="Calibri"/>
              <a:cs typeface="Times New Roman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Font typeface="Symbol"/>
              <a:buChar char=""/>
            </a:pPr>
            <a:r>
              <a:rPr lang="en-US" sz="2000" dirty="0" smtClean="0">
                <a:ea typeface="Calibri"/>
                <a:cs typeface="Times New Roman"/>
              </a:rPr>
              <a:t>Complete analysis of incentives and benefits for different participants (initiated by Barney Krucoff)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Font typeface="Symbol"/>
              <a:buChar char=""/>
            </a:pPr>
            <a:r>
              <a:rPr lang="en-US" sz="2000" dirty="0" smtClean="0">
                <a:ea typeface="Calibri"/>
                <a:cs typeface="Times New Roman"/>
              </a:rPr>
              <a:t>Assess applicability of Presidential Memorandum on “Administrative Flexibility, Lower Costs, and Better Results for State, Local, and Tribal Governments” (February 28, 2011) to Platform implementation activities.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 smtClean="0">
              <a:ea typeface="Calibri"/>
              <a:cs typeface="Times New Roman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ea typeface="Calibri"/>
                <a:cs typeface="Times New Roman"/>
              </a:rPr>
              <a:t>Proposed Deliverables: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Font typeface="Symbol"/>
              <a:buChar char=""/>
            </a:pPr>
            <a:r>
              <a:rPr lang="en-US" sz="2000" dirty="0" smtClean="0">
                <a:ea typeface="Calibri"/>
                <a:cs typeface="Times New Roman"/>
              </a:rPr>
              <a:t>Finalize Platform Incentives Matrix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 smtClean="0"/>
          </a:p>
          <a:p>
            <a:pPr marL="0" marR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/>
              <a:t>Next Steps</a:t>
            </a:r>
            <a:r>
              <a:rPr lang="en-US" sz="2800" dirty="0" smtClean="0"/>
              <a:t>: </a:t>
            </a:r>
            <a:endParaRPr lang="en-US" sz="2000" dirty="0" smtClean="0">
              <a:ea typeface="Calibri"/>
              <a:cs typeface="Times New Roman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Font typeface="Symbol"/>
              <a:buChar char=""/>
            </a:pPr>
            <a:r>
              <a:rPr lang="en-US" sz="2000" dirty="0" smtClean="0">
                <a:cs typeface="Times New Roman"/>
              </a:rPr>
              <a:t>A</a:t>
            </a:r>
            <a:r>
              <a:rPr lang="en-US" sz="2000" dirty="0" smtClean="0"/>
              <a:t>ffirm membership &amp; get busy!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Plan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066799"/>
          <a:ext cx="8305800" cy="5149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2590800"/>
              </a:tblGrid>
              <a:tr h="596525">
                <a:tc>
                  <a:txBody>
                    <a:bodyPr/>
                    <a:lstStyle/>
                    <a:p>
                      <a:r>
                        <a:rPr lang="en-US" dirty="0" smtClean="0"/>
                        <a:t>Activity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Timeframe</a:t>
                      </a:r>
                      <a:endParaRPr lang="en-US" dirty="0"/>
                    </a:p>
                  </a:txBody>
                  <a:tcPr/>
                </a:tc>
              </a:tr>
              <a:tr h="9507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Calibri"/>
                          <a:ea typeface="Calibri"/>
                          <a:cs typeface="Times New Roman"/>
                        </a:rPr>
                        <a:t>Incorporate information from Data Sharing Best Practices Summary Report into the Subcommittee’s activities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June 2011- September</a:t>
                      </a:r>
                      <a:r>
                        <a:rPr lang="en-US" baseline="0" dirty="0" smtClean="0"/>
                        <a:t> 2011</a:t>
                      </a:r>
                      <a:endParaRPr lang="en-US" dirty="0"/>
                    </a:p>
                  </a:txBody>
                  <a:tcPr/>
                </a:tc>
              </a:tr>
              <a:tr h="11632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Calibri"/>
                          <a:ea typeface="Calibri"/>
                          <a:cs typeface="Times New Roman"/>
                        </a:rPr>
                        <a:t>Assess Geospatial Platform business and financial models as they are developed and refined.  Key questions may include: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June 2011-March 2012</a:t>
                      </a:r>
                      <a:endParaRPr lang="en-US" dirty="0"/>
                    </a:p>
                  </a:txBody>
                  <a:tcPr/>
                </a:tc>
              </a:tr>
              <a:tr h="9507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Calibri"/>
                          <a:ea typeface="Calibri"/>
                          <a:cs typeface="Times New Roman"/>
                        </a:rPr>
                        <a:t>Complete analysis of incentives and benefits for different participants (initiated by Barney Krucoff)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June 2011- October 2011</a:t>
                      </a:r>
                      <a:endParaRPr lang="en-US" dirty="0"/>
                    </a:p>
                  </a:txBody>
                  <a:tcPr/>
                </a:tc>
              </a:tr>
              <a:tr h="9507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Calibri"/>
                          <a:ea typeface="Calibri"/>
                          <a:cs typeface="Times New Roman"/>
                        </a:rPr>
                        <a:t>Assess applicability of Presidential Memorandum on “Administrative Flexibility, Lower Costs, and Better Results for State, Local, and Tribal Governments” (February 28, 2011) to Platform implementation activities.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June 2011- August 2011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dge">
  <a:themeElements>
    <a:clrScheme name="">
      <a:dk1>
        <a:srgbClr val="000000"/>
      </a:dk1>
      <a:lt1>
        <a:srgbClr val="FFFFFF"/>
      </a:lt1>
      <a:dk2>
        <a:srgbClr val="003399"/>
      </a:dk2>
      <a:lt2>
        <a:srgbClr val="666699"/>
      </a:lt2>
      <a:accent1>
        <a:srgbClr val="009999"/>
      </a:accent1>
      <a:accent2>
        <a:srgbClr val="4083A2"/>
      </a:accent2>
      <a:accent3>
        <a:srgbClr val="FFFFFF"/>
      </a:accent3>
      <a:accent4>
        <a:srgbClr val="000000"/>
      </a:accent4>
      <a:accent5>
        <a:srgbClr val="AACACA"/>
      </a:accent5>
      <a:accent6>
        <a:srgbClr val="397692"/>
      </a:accent6>
      <a:hlink>
        <a:srgbClr val="4C6D80"/>
      </a:hlink>
      <a:folHlink>
        <a:srgbClr val="B2B2B2"/>
      </a:folHlink>
    </a:clrScheme>
    <a:fontScheme name="Edg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1561</TotalTime>
  <Words>476</Words>
  <Application>Microsoft Office PowerPoint</Application>
  <PresentationFormat>On-screen Show (4:3)</PresentationFormat>
  <Paragraphs>48</Paragraphs>
  <Slides>5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Edge</vt:lpstr>
      <vt:lpstr>NGAC Geospatial Platform Subcommittee – June 2011</vt:lpstr>
      <vt:lpstr>Geospatial Platform Implementation</vt:lpstr>
      <vt:lpstr>Geospatial Platform Implementation</vt:lpstr>
      <vt:lpstr>Geospatial Platform Implementation</vt:lpstr>
      <vt:lpstr>Project Plan</vt:lpstr>
    </vt:vector>
  </TitlesOfParts>
  <Company>USGS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NGAC Discussion – Toward a National Geospatial Strategy</dc:title>
  <dc:creator>jmahoney</dc:creator>
  <cp:lastModifiedBy>USGS</cp:lastModifiedBy>
  <cp:revision>91</cp:revision>
  <cp:lastPrinted>2008-10-08T20:42:54Z</cp:lastPrinted>
  <dcterms:created xsi:type="dcterms:W3CDTF">2011-05-25T02:43:29Z</dcterms:created>
  <dcterms:modified xsi:type="dcterms:W3CDTF">2011-06-16T18:06:47Z</dcterms:modified>
</cp:coreProperties>
</file>