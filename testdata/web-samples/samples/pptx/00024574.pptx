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8"/>
  </p:notesMasterIdLst>
  <p:handoutMasterIdLst>
    <p:handoutMasterId r:id="rId19"/>
  </p:handoutMasterIdLst>
  <p:sldIdLst>
    <p:sldId id="271" r:id="rId2"/>
    <p:sldId id="273" r:id="rId3"/>
    <p:sldId id="272" r:id="rId4"/>
    <p:sldId id="277" r:id="rId5"/>
    <p:sldId id="283" r:id="rId6"/>
    <p:sldId id="281" r:id="rId7"/>
    <p:sldId id="289" r:id="rId8"/>
    <p:sldId id="278" r:id="rId9"/>
    <p:sldId id="276" r:id="rId10"/>
    <p:sldId id="284" r:id="rId11"/>
    <p:sldId id="279" r:id="rId12"/>
    <p:sldId id="285" r:id="rId13"/>
    <p:sldId id="287" r:id="rId14"/>
    <p:sldId id="274" r:id="rId15"/>
    <p:sldId id="286" r:id="rId16"/>
    <p:sldId id="288" r:id="rId17"/>
  </p:sldIdLst>
  <p:sldSz cx="9144000" cy="6858000" type="screen4x3"/>
  <p:notesSz cx="9296400" cy="7010400"/>
  <p:defaultTextStyle>
    <a:defPPr>
      <a:defRPr lang="en-US"/>
    </a:defPPr>
    <a:lvl1pPr algn="ctr" rtl="0" eaLnBrk="0" fontAlgn="base" hangingPunct="0">
      <a:spcBef>
        <a:spcPct val="0"/>
      </a:spcBef>
      <a:spcAft>
        <a:spcPct val="0"/>
      </a:spcAft>
      <a:defRPr sz="4000" kern="1200">
        <a:solidFill>
          <a:schemeClr val="tx1"/>
        </a:solidFill>
        <a:latin typeface="Albertus Extra Bold" pitchFamily="34" charset="0"/>
        <a:ea typeface="+mn-ea"/>
        <a:cs typeface="+mn-cs"/>
      </a:defRPr>
    </a:lvl1pPr>
    <a:lvl2pPr marL="457200" algn="ctr" rtl="0" eaLnBrk="0" fontAlgn="base" hangingPunct="0">
      <a:spcBef>
        <a:spcPct val="0"/>
      </a:spcBef>
      <a:spcAft>
        <a:spcPct val="0"/>
      </a:spcAft>
      <a:defRPr sz="4000" kern="1200">
        <a:solidFill>
          <a:schemeClr val="tx1"/>
        </a:solidFill>
        <a:latin typeface="Albertus Extra Bold" pitchFamily="34" charset="0"/>
        <a:ea typeface="+mn-ea"/>
        <a:cs typeface="+mn-cs"/>
      </a:defRPr>
    </a:lvl2pPr>
    <a:lvl3pPr marL="914400" algn="ctr" rtl="0" eaLnBrk="0" fontAlgn="base" hangingPunct="0">
      <a:spcBef>
        <a:spcPct val="0"/>
      </a:spcBef>
      <a:spcAft>
        <a:spcPct val="0"/>
      </a:spcAft>
      <a:defRPr sz="4000" kern="1200">
        <a:solidFill>
          <a:schemeClr val="tx1"/>
        </a:solidFill>
        <a:latin typeface="Albertus Extra Bold" pitchFamily="34" charset="0"/>
        <a:ea typeface="+mn-ea"/>
        <a:cs typeface="+mn-cs"/>
      </a:defRPr>
    </a:lvl3pPr>
    <a:lvl4pPr marL="1371600" algn="ctr" rtl="0" eaLnBrk="0" fontAlgn="base" hangingPunct="0">
      <a:spcBef>
        <a:spcPct val="0"/>
      </a:spcBef>
      <a:spcAft>
        <a:spcPct val="0"/>
      </a:spcAft>
      <a:defRPr sz="4000" kern="1200">
        <a:solidFill>
          <a:schemeClr val="tx1"/>
        </a:solidFill>
        <a:latin typeface="Albertus Extra Bold" pitchFamily="34" charset="0"/>
        <a:ea typeface="+mn-ea"/>
        <a:cs typeface="+mn-cs"/>
      </a:defRPr>
    </a:lvl4pPr>
    <a:lvl5pPr marL="1828800" algn="ctr" rtl="0" eaLnBrk="0" fontAlgn="base" hangingPunct="0">
      <a:spcBef>
        <a:spcPct val="0"/>
      </a:spcBef>
      <a:spcAft>
        <a:spcPct val="0"/>
      </a:spcAft>
      <a:defRPr sz="4000" kern="1200">
        <a:solidFill>
          <a:schemeClr val="tx1"/>
        </a:solidFill>
        <a:latin typeface="Albertus Extra Bold" pitchFamily="34" charset="0"/>
        <a:ea typeface="+mn-ea"/>
        <a:cs typeface="+mn-cs"/>
      </a:defRPr>
    </a:lvl5pPr>
    <a:lvl6pPr marL="2286000" algn="l" defTabSz="914400" rtl="0" eaLnBrk="1" latinLnBrk="0" hangingPunct="1">
      <a:defRPr sz="4000" kern="1200">
        <a:solidFill>
          <a:schemeClr val="tx1"/>
        </a:solidFill>
        <a:latin typeface="Albertus Extra Bold" pitchFamily="34" charset="0"/>
        <a:ea typeface="+mn-ea"/>
        <a:cs typeface="+mn-cs"/>
      </a:defRPr>
    </a:lvl6pPr>
    <a:lvl7pPr marL="2743200" algn="l" defTabSz="914400" rtl="0" eaLnBrk="1" latinLnBrk="0" hangingPunct="1">
      <a:defRPr sz="4000" kern="1200">
        <a:solidFill>
          <a:schemeClr val="tx1"/>
        </a:solidFill>
        <a:latin typeface="Albertus Extra Bold" pitchFamily="34" charset="0"/>
        <a:ea typeface="+mn-ea"/>
        <a:cs typeface="+mn-cs"/>
      </a:defRPr>
    </a:lvl7pPr>
    <a:lvl8pPr marL="3200400" algn="l" defTabSz="914400" rtl="0" eaLnBrk="1" latinLnBrk="0" hangingPunct="1">
      <a:defRPr sz="4000" kern="1200">
        <a:solidFill>
          <a:schemeClr val="tx1"/>
        </a:solidFill>
        <a:latin typeface="Albertus Extra Bold" pitchFamily="34" charset="0"/>
        <a:ea typeface="+mn-ea"/>
        <a:cs typeface="+mn-cs"/>
      </a:defRPr>
    </a:lvl8pPr>
    <a:lvl9pPr marL="3657600" algn="l" defTabSz="914400" rtl="0" eaLnBrk="1" latinLnBrk="0" hangingPunct="1">
      <a:defRPr sz="4000" kern="1200">
        <a:solidFill>
          <a:schemeClr val="tx1"/>
        </a:solidFill>
        <a:latin typeface="Albertus Extra Bold"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clrMru>
    <a:srgbClr val="663300"/>
    <a:srgbClr val="E27100"/>
    <a:srgbClr val="FFA375"/>
    <a:srgbClr val="000066"/>
    <a:srgbClr val="0000CC"/>
    <a:srgbClr val="000099"/>
    <a:srgbClr val="FF6600"/>
    <a:srgbClr val="99CCFF"/>
    <a:srgbClr val="003399"/>
    <a:srgbClr val="FFCC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80"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40" d="100"/>
          <a:sy n="40" d="100"/>
        </p:scale>
        <p:origin x="-1488" y="-96"/>
      </p:cViewPr>
      <p:guideLst>
        <p:guide orient="horz" pos="2208"/>
        <p:guide pos="292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5265809" y="0"/>
            <a:ext cx="4028440" cy="350520"/>
          </a:xfrm>
          <a:prstGeom prst="rect">
            <a:avLst/>
          </a:prstGeom>
        </p:spPr>
        <p:txBody>
          <a:bodyPr vert="horz" lIns="93177" tIns="46589" rIns="93177" bIns="46589" rtlCol="0"/>
          <a:lstStyle>
            <a:lvl1pPr algn="r">
              <a:defRPr sz="1200"/>
            </a:lvl1pPr>
          </a:lstStyle>
          <a:p>
            <a:fld id="{81F21B27-69EB-4628-80E6-9300112CABB8}" type="datetimeFigureOut">
              <a:rPr lang="en-US" smtClean="0"/>
              <a:pPr/>
              <a:t>2/27/2012</a:t>
            </a:fld>
            <a:endParaRPr lang="en-US"/>
          </a:p>
        </p:txBody>
      </p:sp>
      <p:sp>
        <p:nvSpPr>
          <p:cNvPr id="4" name="Footer Placeholder 3"/>
          <p:cNvSpPr>
            <a:spLocks noGrp="1"/>
          </p:cNvSpPr>
          <p:nvPr>
            <p:ph type="ftr" sz="quarter" idx="2"/>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5265809" y="6658664"/>
            <a:ext cx="4028440" cy="350520"/>
          </a:xfrm>
          <a:prstGeom prst="rect">
            <a:avLst/>
          </a:prstGeom>
        </p:spPr>
        <p:txBody>
          <a:bodyPr vert="horz" lIns="93177" tIns="46589" rIns="93177" bIns="46589" rtlCol="0" anchor="b"/>
          <a:lstStyle>
            <a:lvl1pPr algn="r">
              <a:defRPr sz="1200"/>
            </a:lvl1pPr>
          </a:lstStyle>
          <a:p>
            <a:fld id="{17127560-3B86-4B7E-9856-F60DB03C9642}"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4028440" cy="3505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a:defRPr sz="1200">
                <a:latin typeface="Times New Roman" pitchFamily="18" charset="0"/>
              </a:defRPr>
            </a:lvl1pPr>
          </a:lstStyle>
          <a:p>
            <a:pPr>
              <a:defRPr/>
            </a:pPr>
            <a:endParaRPr lang="en-US"/>
          </a:p>
        </p:txBody>
      </p:sp>
      <p:sp>
        <p:nvSpPr>
          <p:cNvPr id="14339" name="Rectangle 3"/>
          <p:cNvSpPr>
            <a:spLocks noGrp="1" noChangeArrowheads="1"/>
          </p:cNvSpPr>
          <p:nvPr>
            <p:ph type="dt" idx="1"/>
          </p:nvPr>
        </p:nvSpPr>
        <p:spPr bwMode="auto">
          <a:xfrm>
            <a:off x="5267960" y="0"/>
            <a:ext cx="4028440" cy="3505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29700" name="Rectangle 4"/>
          <p:cNvSpPr>
            <a:spLocks noGrp="1" noRot="1" noChangeAspect="1" noChangeArrowheads="1" noTextEdit="1"/>
          </p:cNvSpPr>
          <p:nvPr>
            <p:ph type="sldImg" idx="2"/>
          </p:nvPr>
        </p:nvSpPr>
        <p:spPr bwMode="auto">
          <a:xfrm>
            <a:off x="2895600" y="525463"/>
            <a:ext cx="3505200" cy="2628900"/>
          </a:xfrm>
          <a:prstGeom prst="rect">
            <a:avLst/>
          </a:prstGeom>
          <a:noFill/>
          <a:ln w="9525">
            <a:solidFill>
              <a:srgbClr val="000000"/>
            </a:solidFill>
            <a:miter lim="800000"/>
            <a:headEnd/>
            <a:tailEnd/>
          </a:ln>
        </p:spPr>
      </p:sp>
      <p:sp>
        <p:nvSpPr>
          <p:cNvPr id="14341" name="Rectangle 5"/>
          <p:cNvSpPr>
            <a:spLocks noGrp="1" noChangeArrowheads="1"/>
          </p:cNvSpPr>
          <p:nvPr>
            <p:ph type="body" sz="quarter" idx="3"/>
          </p:nvPr>
        </p:nvSpPr>
        <p:spPr bwMode="auto">
          <a:xfrm>
            <a:off x="1239520" y="3329940"/>
            <a:ext cx="6817360" cy="315468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4342" name="Rectangle 6"/>
          <p:cNvSpPr>
            <a:spLocks noGrp="1" noChangeArrowheads="1"/>
          </p:cNvSpPr>
          <p:nvPr>
            <p:ph type="ftr" sz="quarter" idx="4"/>
          </p:nvPr>
        </p:nvSpPr>
        <p:spPr bwMode="auto">
          <a:xfrm>
            <a:off x="0" y="6659880"/>
            <a:ext cx="4028440" cy="3505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a:defRPr sz="1200">
                <a:latin typeface="Times New Roman" pitchFamily="18" charset="0"/>
              </a:defRPr>
            </a:lvl1pPr>
          </a:lstStyle>
          <a:p>
            <a:pPr>
              <a:defRPr/>
            </a:pPr>
            <a:endParaRPr lang="en-US"/>
          </a:p>
        </p:txBody>
      </p:sp>
      <p:sp>
        <p:nvSpPr>
          <p:cNvPr id="14343" name="Rectangle 7"/>
          <p:cNvSpPr>
            <a:spLocks noGrp="1" noChangeArrowheads="1"/>
          </p:cNvSpPr>
          <p:nvPr>
            <p:ph type="sldNum" sz="quarter" idx="5"/>
          </p:nvPr>
        </p:nvSpPr>
        <p:spPr bwMode="auto">
          <a:xfrm>
            <a:off x="5267960" y="6659880"/>
            <a:ext cx="4028440" cy="3505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atin typeface="Times New Roman" pitchFamily="18" charset="0"/>
              </a:defRPr>
            </a:lvl1pPr>
          </a:lstStyle>
          <a:p>
            <a:pPr>
              <a:defRPr/>
            </a:pPr>
            <a:fld id="{BEAA37DE-66E4-4DBD-95F0-FFFBE174DC34}"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E377034D-E81F-4889-812D-C8E6C22D9613}" type="slidenum">
              <a:rPr lang="en-US"/>
              <a:pPr>
                <a:defRPr/>
              </a:pPr>
              <a:t>‹#›</a:t>
            </a:fld>
            <a:endParaRPr lang="en-US"/>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117C9C28-3B6B-4836-88F6-CF093A2C2630}" type="slidenum">
              <a:rPr lang="en-US"/>
              <a:pPr>
                <a:defRPr/>
              </a:pPr>
              <a:t>‹#›</a:t>
            </a:fld>
            <a:endParaRPr lang="en-US"/>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D4457D2-CA91-46A4-8A0B-71441CC84A80}" type="slidenum">
              <a:rPr lang="en-US"/>
              <a:pPr>
                <a:defRPr/>
              </a:pPr>
              <a:t>‹#›</a:t>
            </a:fld>
            <a:endParaRPr lang="en-US"/>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6A1E09FE-EF1C-453D-96A7-9183552C8AC1}" type="slidenum">
              <a:rPr lang="en-US"/>
              <a:pPr>
                <a:defRPr/>
              </a:pPr>
              <a:t>‹#›</a:t>
            </a:fld>
            <a:endParaRPr lang="en-US"/>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97EF7C5B-563F-4DB3-8880-C4502BB2ECAA}" type="slidenum">
              <a:rPr lang="en-US"/>
              <a:pPr>
                <a:defRPr/>
              </a:pPr>
              <a:t>‹#›</a:t>
            </a:fld>
            <a:endParaRPr lang="en-US"/>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632C1A9E-D379-4607-938D-1BC3913B3660}" type="slidenum">
              <a:rPr lang="en-US"/>
              <a:pPr>
                <a:defRPr/>
              </a:pPr>
              <a:t>‹#›</a:t>
            </a:fld>
            <a:endParaRPr lang="en-US"/>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87644689-DECB-4EF6-8EE1-E412D9E23DF7}" type="slidenum">
              <a:rPr lang="en-US"/>
              <a:pPr>
                <a:defRPr/>
              </a:pPr>
              <a:t>‹#›</a:t>
            </a:fld>
            <a:endParaRPr lang="en-US"/>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DFF3A23D-F28B-4362-85B2-2F3297768066}" type="slidenum">
              <a:rPr lang="en-US"/>
              <a:pPr>
                <a:defRPr/>
              </a:pPr>
              <a:t>‹#›</a:t>
            </a:fld>
            <a:endParaRPr lang="en-US"/>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C49E82E1-662F-4630-AD38-2C941ABE03C2}" type="slidenum">
              <a:rPr lang="en-US"/>
              <a:pPr>
                <a:defRPr/>
              </a:pPr>
              <a:t>‹#›</a:t>
            </a:fld>
            <a:endParaRPr lang="en-US"/>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05021C79-AA09-47D6-BC47-32E690AD0ADF}" type="slidenum">
              <a:rPr lang="en-US"/>
              <a:pPr>
                <a:defRPr/>
              </a:pPr>
              <a:t>‹#›</a:t>
            </a:fld>
            <a:endParaRPr lang="en-US"/>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20669D78-1085-46A7-9C34-D59C71094808}" type="slidenum">
              <a:rPr lang="en-US"/>
              <a:pPr>
                <a:defRPr/>
              </a:pPr>
              <a:t>‹#›</a:t>
            </a:fld>
            <a:endParaRPr lang="en-US"/>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fld id="{007BADD7-BE2C-4FD9-B46D-7B0B5155E879}"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ransition spd="slow"/>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0" y="1066800"/>
            <a:ext cx="9144000" cy="1143000"/>
          </a:xfrm>
        </p:spPr>
        <p:txBody>
          <a:bodyPr/>
          <a:lstStyle/>
          <a:p>
            <a:r>
              <a:rPr lang="en-US" sz="3600" b="1" smtClean="0">
                <a:solidFill>
                  <a:srgbClr val="0066CC"/>
                </a:solidFill>
                <a:latin typeface="Albertus Extra Bold" pitchFamily="34" charset="0"/>
              </a:rPr>
              <a:t>Louisiana Young Readers’ Choice Award</a:t>
            </a:r>
            <a:endParaRPr lang="en-US" smtClean="0"/>
          </a:p>
        </p:txBody>
      </p:sp>
      <p:sp>
        <p:nvSpPr>
          <p:cNvPr id="13315" name="Rectangle 3"/>
          <p:cNvSpPr>
            <a:spLocks noGrp="1" noChangeArrowheads="1"/>
          </p:cNvSpPr>
          <p:nvPr>
            <p:ph type="subTitle" idx="1"/>
          </p:nvPr>
        </p:nvSpPr>
        <p:spPr>
          <a:xfrm>
            <a:off x="2209800" y="2971800"/>
            <a:ext cx="6400800" cy="1752600"/>
          </a:xfrm>
        </p:spPr>
        <p:txBody>
          <a:bodyPr anchor="ctr" anchorCtr="1"/>
          <a:lstStyle/>
          <a:p>
            <a:r>
              <a:rPr lang="en-US" b="1" smtClean="0">
                <a:solidFill>
                  <a:srgbClr val="009999"/>
                </a:solidFill>
                <a:latin typeface="Albertus Medium" pitchFamily="34" charset="0"/>
              </a:rPr>
              <a:t>Grades 3 - 5</a:t>
            </a:r>
            <a:endParaRPr lang="en-US" b="1" smtClean="0"/>
          </a:p>
        </p:txBody>
      </p:sp>
      <p:pic>
        <p:nvPicPr>
          <p:cNvPr id="13316" name="Picture 4" descr="halfaward"/>
          <p:cNvPicPr>
            <a:picLocks noChangeAspect="1" noChangeArrowheads="1"/>
          </p:cNvPicPr>
          <p:nvPr/>
        </p:nvPicPr>
        <p:blipFill>
          <a:blip r:embed="rId2" cstate="print"/>
          <a:srcRect/>
          <a:stretch>
            <a:fillRect/>
          </a:stretch>
        </p:blipFill>
        <p:spPr bwMode="auto">
          <a:xfrm>
            <a:off x="914400" y="2514600"/>
            <a:ext cx="2743200" cy="2717800"/>
          </a:xfrm>
          <a:prstGeom prst="rect">
            <a:avLst/>
          </a:prstGeom>
          <a:noFill/>
          <a:ln w="9525">
            <a:noFill/>
            <a:miter lim="800000"/>
            <a:headEnd/>
            <a:tailEnd/>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a:xfrm>
            <a:off x="0" y="304800"/>
            <a:ext cx="9144000" cy="1143000"/>
          </a:xfrm>
        </p:spPr>
        <p:txBody>
          <a:bodyPr/>
          <a:lstStyle/>
          <a:p>
            <a:r>
              <a:rPr lang="en-US" sz="4000" b="1" dirty="0" smtClean="0">
                <a:solidFill>
                  <a:srgbClr val="C00000"/>
                </a:solidFill>
                <a:latin typeface="Albertus Extra Bold" pitchFamily="34" charset="0"/>
              </a:rPr>
              <a:t>All Star! : </a:t>
            </a:r>
            <a:r>
              <a:rPr lang="en-US" sz="4000" b="1" dirty="0" err="1" smtClean="0">
                <a:solidFill>
                  <a:srgbClr val="C00000"/>
                </a:solidFill>
                <a:latin typeface="Albertus Extra Bold" pitchFamily="34" charset="0"/>
              </a:rPr>
              <a:t>Honus</a:t>
            </a:r>
            <a:r>
              <a:rPr lang="en-US" sz="4000" b="1" dirty="0" smtClean="0">
                <a:solidFill>
                  <a:srgbClr val="C00000"/>
                </a:solidFill>
                <a:latin typeface="Albertus Extra Bold" pitchFamily="34" charset="0"/>
              </a:rPr>
              <a:t> Wagner and the Most Famous Baseball Card Ever </a:t>
            </a:r>
            <a:r>
              <a:rPr lang="en-US" b="1" dirty="0" smtClean="0">
                <a:solidFill>
                  <a:schemeClr val="tx1"/>
                </a:solidFill>
                <a:latin typeface="Albertus Extra Bold" pitchFamily="34" charset="0"/>
              </a:rPr>
              <a:t/>
            </a:r>
            <a:br>
              <a:rPr lang="en-US" b="1" dirty="0" smtClean="0">
                <a:solidFill>
                  <a:schemeClr val="tx1"/>
                </a:solidFill>
                <a:latin typeface="Albertus Extra Bold" pitchFamily="34" charset="0"/>
              </a:rPr>
            </a:br>
            <a:endParaRPr lang="en-US" sz="2400" b="1" dirty="0" smtClean="0">
              <a:solidFill>
                <a:srgbClr val="663300"/>
              </a:solidFill>
              <a:latin typeface="Albertus Extra Bold" pitchFamily="34" charset="0"/>
            </a:endParaRPr>
          </a:p>
        </p:txBody>
      </p:sp>
      <p:sp>
        <p:nvSpPr>
          <p:cNvPr id="5" name="Rectangle 4"/>
          <p:cNvSpPr/>
          <p:nvPr/>
        </p:nvSpPr>
        <p:spPr>
          <a:xfrm>
            <a:off x="3962400" y="1454288"/>
            <a:ext cx="5181600" cy="5632311"/>
          </a:xfrm>
          <a:prstGeom prst="rect">
            <a:avLst/>
          </a:prstGeom>
        </p:spPr>
        <p:txBody>
          <a:bodyPr wrap="square">
            <a:spAutoFit/>
          </a:bodyPr>
          <a:lstStyle/>
          <a:p>
            <a:pPr algn="l"/>
            <a:r>
              <a:rPr lang="en-US" sz="2400" dirty="0" smtClean="0"/>
              <a:t>The </a:t>
            </a:r>
            <a:r>
              <a:rPr lang="en-US" sz="2400" dirty="0" err="1" smtClean="0"/>
              <a:t>Honus</a:t>
            </a:r>
            <a:r>
              <a:rPr lang="en-US" sz="2400" dirty="0" smtClean="0"/>
              <a:t> Wagner baseball card is the most valuable baseball card of all time! </a:t>
            </a:r>
            <a:r>
              <a:rPr lang="en-US" sz="2400" dirty="0" err="1" smtClean="0"/>
              <a:t>Honus</a:t>
            </a:r>
            <a:r>
              <a:rPr lang="en-US" sz="2400" dirty="0" smtClean="0"/>
              <a:t> Wagner was born poor, ugly, bow-legged, and more suited to shoveling coal in his Pennsylvania mining town than becoming the greatest shortstop of all time. This is a biography of the personal and professional life of American Major League Baseball shortstop </a:t>
            </a:r>
            <a:r>
              <a:rPr lang="en-US" sz="2400" dirty="0" err="1" smtClean="0"/>
              <a:t>Honus</a:t>
            </a:r>
            <a:r>
              <a:rPr lang="en-US" sz="2400" dirty="0" smtClean="0"/>
              <a:t> Wagner, who played mostly for the Pittsburgh Pirates from 1897 to 1917. </a:t>
            </a:r>
          </a:p>
          <a:p>
            <a:pPr algn="l"/>
            <a:endParaRPr lang="en-US" sz="2400" dirty="0"/>
          </a:p>
        </p:txBody>
      </p:sp>
      <p:pic>
        <p:nvPicPr>
          <p:cNvPr id="7" name="Content Placeholder 6" descr="allstar.jpg"/>
          <p:cNvPicPr>
            <a:picLocks noGrp="1" noChangeAspect="1"/>
          </p:cNvPicPr>
          <p:nvPr>
            <p:ph sz="half" idx="1"/>
          </p:nvPr>
        </p:nvPicPr>
        <p:blipFill>
          <a:blip r:embed="rId2" cstate="print"/>
          <a:stretch>
            <a:fillRect/>
          </a:stretch>
        </p:blipFill>
        <p:spPr>
          <a:xfrm>
            <a:off x="228600" y="1752600"/>
            <a:ext cx="3467100" cy="3810000"/>
          </a:xfrm>
        </p:spPr>
      </p:pic>
      <p:sp>
        <p:nvSpPr>
          <p:cNvPr id="8" name="Rectangle 8"/>
          <p:cNvSpPr>
            <a:spLocks noChangeArrowheads="1"/>
          </p:cNvSpPr>
          <p:nvPr/>
        </p:nvSpPr>
        <p:spPr bwMode="auto">
          <a:xfrm>
            <a:off x="228600" y="5715000"/>
            <a:ext cx="3276600" cy="947738"/>
          </a:xfrm>
          <a:prstGeom prst="rect">
            <a:avLst/>
          </a:prstGeom>
          <a:noFill/>
          <a:ln w="9525">
            <a:noFill/>
            <a:miter lim="800000"/>
            <a:headEnd/>
            <a:tailEnd/>
          </a:ln>
        </p:spPr>
        <p:txBody>
          <a:bodyPr anchor="ctr"/>
          <a:lstStyle/>
          <a:p>
            <a:pPr algn="l"/>
            <a:r>
              <a:rPr lang="en-US" sz="3200" dirty="0" smtClean="0">
                <a:solidFill>
                  <a:srgbClr val="C00000"/>
                </a:solidFill>
              </a:rPr>
              <a:t>By</a:t>
            </a:r>
            <a:br>
              <a:rPr lang="en-US" sz="3200" dirty="0" smtClean="0">
                <a:solidFill>
                  <a:srgbClr val="C00000"/>
                </a:solidFill>
              </a:rPr>
            </a:br>
            <a:r>
              <a:rPr lang="en-US" sz="3200" dirty="0" smtClean="0">
                <a:solidFill>
                  <a:srgbClr val="C00000"/>
                </a:solidFill>
              </a:rPr>
              <a:t>Jane </a:t>
            </a:r>
            <a:r>
              <a:rPr lang="en-US" sz="3200" dirty="0" err="1" smtClean="0">
                <a:solidFill>
                  <a:srgbClr val="C00000"/>
                </a:solidFill>
              </a:rPr>
              <a:t>Yolen</a:t>
            </a:r>
            <a:endParaRPr lang="en-US" sz="4400" dirty="0">
              <a:solidFill>
                <a:srgbClr val="C00000"/>
              </a:solidFill>
              <a:latin typeface="Times New Roman" pitchFamily="18"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p:nvPr>
        </p:nvSpPr>
        <p:spPr>
          <a:xfrm>
            <a:off x="0" y="228600"/>
            <a:ext cx="9144000" cy="1143000"/>
          </a:xfrm>
        </p:spPr>
        <p:txBody>
          <a:bodyPr/>
          <a:lstStyle/>
          <a:p>
            <a:r>
              <a:rPr lang="en-US" sz="4000" b="1" dirty="0" smtClean="0">
                <a:solidFill>
                  <a:srgbClr val="CC0000"/>
                </a:solidFill>
                <a:latin typeface="Albertus Extra Bold" pitchFamily="34" charset="0"/>
              </a:rPr>
              <a:t>The Case of the Lost Boy:</a:t>
            </a:r>
            <a:br>
              <a:rPr lang="en-US" sz="4000" b="1" dirty="0" smtClean="0">
                <a:solidFill>
                  <a:srgbClr val="CC0000"/>
                </a:solidFill>
                <a:latin typeface="Albertus Extra Bold" pitchFamily="34" charset="0"/>
              </a:rPr>
            </a:br>
            <a:r>
              <a:rPr lang="en-US" sz="3600" b="1" dirty="0" smtClean="0">
                <a:solidFill>
                  <a:srgbClr val="CC0000"/>
                </a:solidFill>
                <a:latin typeface="Albertus Extra Bold" pitchFamily="34" charset="0"/>
              </a:rPr>
              <a:t>The Buddy Files Book 1</a:t>
            </a:r>
          </a:p>
        </p:txBody>
      </p:sp>
      <p:pic>
        <p:nvPicPr>
          <p:cNvPr id="7" name="Content Placeholder 6" descr="lost boy.jpg"/>
          <p:cNvPicPr>
            <a:picLocks noGrp="1" noChangeAspect="1"/>
          </p:cNvPicPr>
          <p:nvPr>
            <p:ph sz="half" idx="1"/>
          </p:nvPr>
        </p:nvPicPr>
        <p:blipFill>
          <a:blip r:embed="rId2" cstate="print"/>
          <a:stretch>
            <a:fillRect/>
          </a:stretch>
        </p:blipFill>
        <p:spPr>
          <a:xfrm>
            <a:off x="381000" y="1524000"/>
            <a:ext cx="2524125" cy="3810000"/>
          </a:xfrm>
        </p:spPr>
      </p:pic>
      <p:sp>
        <p:nvSpPr>
          <p:cNvPr id="6" name="Rectangle 5"/>
          <p:cNvSpPr/>
          <p:nvPr/>
        </p:nvSpPr>
        <p:spPr>
          <a:xfrm>
            <a:off x="3276600" y="1371600"/>
            <a:ext cx="5638800" cy="4524315"/>
          </a:xfrm>
          <a:prstGeom prst="rect">
            <a:avLst/>
          </a:prstGeom>
        </p:spPr>
        <p:txBody>
          <a:bodyPr wrap="square">
            <a:spAutoFit/>
          </a:bodyPr>
          <a:lstStyle/>
          <a:p>
            <a:pPr algn="l"/>
            <a:r>
              <a:rPr lang="en-US" sz="2400" dirty="0" smtClean="0"/>
              <a:t>King the dog has a very big mystery to solve. His family is missing, and he's been put in the P-O-U-N-D. Why doesn't his beloved human come to get him? When King is adopted by Connor and his mom, things get more confusing. The new family calls him Buddy!  And just as Connor and Buddy start to get acquainted, Connor disappears! Buddy (aka King) has big problems to solve, but with some help from his friends he shows what a smart, brave dog can do.</a:t>
            </a:r>
            <a:endParaRPr lang="en-US" sz="2400" dirty="0"/>
          </a:p>
        </p:txBody>
      </p:sp>
      <p:sp>
        <p:nvSpPr>
          <p:cNvPr id="9" name="Rectangle 8"/>
          <p:cNvSpPr>
            <a:spLocks noChangeArrowheads="1"/>
          </p:cNvSpPr>
          <p:nvPr/>
        </p:nvSpPr>
        <p:spPr bwMode="auto">
          <a:xfrm>
            <a:off x="228600" y="5638800"/>
            <a:ext cx="4191000" cy="947738"/>
          </a:xfrm>
          <a:prstGeom prst="rect">
            <a:avLst/>
          </a:prstGeom>
          <a:noFill/>
          <a:ln w="9525">
            <a:noFill/>
            <a:miter lim="800000"/>
            <a:headEnd/>
            <a:tailEnd/>
          </a:ln>
        </p:spPr>
        <p:txBody>
          <a:bodyPr anchor="ctr"/>
          <a:lstStyle/>
          <a:p>
            <a:pPr algn="l"/>
            <a:r>
              <a:rPr lang="en-US" sz="3200" dirty="0" smtClean="0">
                <a:solidFill>
                  <a:srgbClr val="CC0000"/>
                </a:solidFill>
              </a:rPr>
              <a:t>By</a:t>
            </a:r>
            <a:br>
              <a:rPr lang="en-US" sz="3200" dirty="0" smtClean="0">
                <a:solidFill>
                  <a:srgbClr val="CC0000"/>
                </a:solidFill>
              </a:rPr>
            </a:br>
            <a:r>
              <a:rPr lang="en-US" sz="3200" dirty="0" err="1" smtClean="0">
                <a:solidFill>
                  <a:srgbClr val="CC0000"/>
                </a:solidFill>
              </a:rPr>
              <a:t>Dori</a:t>
            </a:r>
            <a:r>
              <a:rPr lang="en-US" sz="3200" dirty="0" smtClean="0">
                <a:solidFill>
                  <a:srgbClr val="CC0000"/>
                </a:solidFill>
              </a:rPr>
              <a:t> </a:t>
            </a:r>
            <a:r>
              <a:rPr lang="en-US" sz="3200" dirty="0" err="1" smtClean="0">
                <a:solidFill>
                  <a:srgbClr val="CC0000"/>
                </a:solidFill>
              </a:rPr>
              <a:t>Hillestad</a:t>
            </a:r>
            <a:r>
              <a:rPr lang="en-US" sz="3200" dirty="0" smtClean="0">
                <a:solidFill>
                  <a:srgbClr val="CC0000"/>
                </a:solidFill>
              </a:rPr>
              <a:t> Butler</a:t>
            </a:r>
            <a:endParaRPr lang="en-US" sz="4400" dirty="0">
              <a:solidFill>
                <a:srgbClr val="CC0000"/>
              </a:solidFill>
              <a:latin typeface="Times New Roman" pitchFamily="18" charset="0"/>
            </a:endParaRP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0" y="0"/>
            <a:ext cx="9144000" cy="1295400"/>
          </a:xfrm>
        </p:spPr>
        <p:txBody>
          <a:bodyPr/>
          <a:lstStyle/>
          <a:p>
            <a:r>
              <a:rPr lang="en-US" sz="4000" b="1" dirty="0" smtClean="0">
                <a:solidFill>
                  <a:srgbClr val="000066"/>
                </a:solidFill>
                <a:latin typeface="Albertus Extra Bold" pitchFamily="34" charset="0"/>
              </a:rPr>
              <a:t>Cloud Tea Monkeys</a:t>
            </a:r>
          </a:p>
        </p:txBody>
      </p:sp>
      <p:pic>
        <p:nvPicPr>
          <p:cNvPr id="7" name="Content Placeholder 6" descr="cloud.jpg"/>
          <p:cNvPicPr>
            <a:picLocks noGrp="1" noChangeAspect="1"/>
          </p:cNvPicPr>
          <p:nvPr>
            <p:ph sz="half" idx="1"/>
          </p:nvPr>
        </p:nvPicPr>
        <p:blipFill>
          <a:blip r:embed="rId2" cstate="print"/>
          <a:stretch>
            <a:fillRect/>
          </a:stretch>
        </p:blipFill>
        <p:spPr>
          <a:xfrm>
            <a:off x="381000" y="1600200"/>
            <a:ext cx="3143250" cy="3810000"/>
          </a:xfrm>
        </p:spPr>
      </p:pic>
      <p:sp>
        <p:nvSpPr>
          <p:cNvPr id="6" name="Rectangle 5"/>
          <p:cNvSpPr/>
          <p:nvPr/>
        </p:nvSpPr>
        <p:spPr>
          <a:xfrm>
            <a:off x="4038600" y="1278553"/>
            <a:ext cx="4572000" cy="4893647"/>
          </a:xfrm>
          <a:prstGeom prst="rect">
            <a:avLst/>
          </a:prstGeom>
        </p:spPr>
        <p:txBody>
          <a:bodyPr>
            <a:spAutoFit/>
          </a:bodyPr>
          <a:lstStyle/>
          <a:p>
            <a:pPr algn="l"/>
            <a:r>
              <a:rPr lang="en-US" sz="2400" dirty="0" err="1" smtClean="0"/>
              <a:t>Tashi</a:t>
            </a:r>
            <a:r>
              <a:rPr lang="en-US" sz="2400" dirty="0" smtClean="0"/>
              <a:t> lives in a tiny village at the foot of the mountains, below the tea plantations where her mother works. When her mother falls ill, </a:t>
            </a:r>
            <a:r>
              <a:rPr lang="en-US" sz="2400" dirty="0" err="1" smtClean="0"/>
              <a:t>Tashi</a:t>
            </a:r>
            <a:r>
              <a:rPr lang="en-US" sz="2400" dirty="0" smtClean="0"/>
              <a:t> goes alone to the plantation, hoping to earn money for the doctor but she is far too small to harvest the tender shoots, and her clumsy efforts anger the cruel Overseer. Then she tells the monkeys she has befriended why she is sad.</a:t>
            </a:r>
          </a:p>
          <a:p>
            <a:pPr algn="l"/>
            <a:r>
              <a:rPr lang="en-US" sz="2400" dirty="0" smtClean="0"/>
              <a:t> </a:t>
            </a:r>
            <a:endParaRPr lang="en-US" sz="2400" dirty="0"/>
          </a:p>
        </p:txBody>
      </p:sp>
      <p:sp>
        <p:nvSpPr>
          <p:cNvPr id="8" name="Rectangle 8"/>
          <p:cNvSpPr>
            <a:spLocks noChangeArrowheads="1"/>
          </p:cNvSpPr>
          <p:nvPr/>
        </p:nvSpPr>
        <p:spPr bwMode="auto">
          <a:xfrm>
            <a:off x="228600" y="5715000"/>
            <a:ext cx="3276600" cy="947738"/>
          </a:xfrm>
          <a:prstGeom prst="rect">
            <a:avLst/>
          </a:prstGeom>
          <a:noFill/>
          <a:ln w="9525">
            <a:noFill/>
            <a:miter lim="800000"/>
            <a:headEnd/>
            <a:tailEnd/>
          </a:ln>
        </p:spPr>
        <p:txBody>
          <a:bodyPr anchor="ctr"/>
          <a:lstStyle/>
          <a:p>
            <a:pPr algn="l"/>
            <a:r>
              <a:rPr lang="en-US" sz="3200" dirty="0" smtClean="0">
                <a:solidFill>
                  <a:srgbClr val="000066"/>
                </a:solidFill>
              </a:rPr>
              <a:t>By</a:t>
            </a:r>
            <a:br>
              <a:rPr lang="en-US" sz="3200" dirty="0" smtClean="0">
                <a:solidFill>
                  <a:srgbClr val="000066"/>
                </a:solidFill>
              </a:rPr>
            </a:br>
            <a:r>
              <a:rPr lang="en-US" sz="3200" dirty="0" smtClean="0">
                <a:solidFill>
                  <a:srgbClr val="000066"/>
                </a:solidFill>
              </a:rPr>
              <a:t>Mal </a:t>
            </a:r>
            <a:r>
              <a:rPr lang="en-US" sz="3200" dirty="0" err="1" smtClean="0">
                <a:solidFill>
                  <a:srgbClr val="000066"/>
                </a:solidFill>
              </a:rPr>
              <a:t>Peet</a:t>
            </a:r>
            <a:endParaRPr lang="en-US" sz="4400" dirty="0">
              <a:solidFill>
                <a:srgbClr val="000066"/>
              </a:solidFill>
              <a:latin typeface="Times New Roman" pitchFamily="18" charset="0"/>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title"/>
          </p:nvPr>
        </p:nvSpPr>
        <p:spPr>
          <a:xfrm>
            <a:off x="0" y="0"/>
            <a:ext cx="9144000" cy="1371600"/>
          </a:xfrm>
        </p:spPr>
        <p:txBody>
          <a:bodyPr/>
          <a:lstStyle/>
          <a:p>
            <a:r>
              <a:rPr lang="en-US" sz="4000" b="1" dirty="0" smtClean="0">
                <a:solidFill>
                  <a:srgbClr val="663300"/>
                </a:solidFill>
                <a:latin typeface="Albertus Extra Bold" pitchFamily="34" charset="0"/>
              </a:rPr>
              <a:t>Dave the Potter : Artist, Poet, Slave </a:t>
            </a:r>
          </a:p>
        </p:txBody>
      </p:sp>
      <p:pic>
        <p:nvPicPr>
          <p:cNvPr id="4" name="Content Placeholder 3" descr="potter.jpg"/>
          <p:cNvPicPr>
            <a:picLocks noGrp="1" noChangeAspect="1"/>
          </p:cNvPicPr>
          <p:nvPr>
            <p:ph sz="half" idx="1"/>
          </p:nvPr>
        </p:nvPicPr>
        <p:blipFill>
          <a:blip r:embed="rId2" cstate="print"/>
          <a:stretch>
            <a:fillRect/>
          </a:stretch>
        </p:blipFill>
        <p:spPr>
          <a:xfrm>
            <a:off x="304800" y="1828800"/>
            <a:ext cx="3810000" cy="2962275"/>
          </a:xfrm>
        </p:spPr>
      </p:pic>
      <p:sp>
        <p:nvSpPr>
          <p:cNvPr id="6" name="Rectangle 8"/>
          <p:cNvSpPr>
            <a:spLocks noChangeArrowheads="1"/>
          </p:cNvSpPr>
          <p:nvPr/>
        </p:nvSpPr>
        <p:spPr bwMode="auto">
          <a:xfrm>
            <a:off x="304800" y="5334000"/>
            <a:ext cx="3733800" cy="947738"/>
          </a:xfrm>
          <a:prstGeom prst="rect">
            <a:avLst/>
          </a:prstGeom>
          <a:noFill/>
          <a:ln w="9525">
            <a:noFill/>
            <a:miter lim="800000"/>
            <a:headEnd/>
            <a:tailEnd/>
          </a:ln>
        </p:spPr>
        <p:txBody>
          <a:bodyPr anchor="ctr"/>
          <a:lstStyle/>
          <a:p>
            <a:pPr algn="l"/>
            <a:r>
              <a:rPr lang="en-US" sz="3200" dirty="0" smtClean="0">
                <a:solidFill>
                  <a:srgbClr val="663300"/>
                </a:solidFill>
              </a:rPr>
              <a:t>By</a:t>
            </a:r>
            <a:br>
              <a:rPr lang="en-US" sz="3200" dirty="0" smtClean="0">
                <a:solidFill>
                  <a:srgbClr val="663300"/>
                </a:solidFill>
              </a:rPr>
            </a:br>
            <a:r>
              <a:rPr lang="en-US" sz="3200" dirty="0" err="1" smtClean="0">
                <a:solidFill>
                  <a:srgbClr val="663300"/>
                </a:solidFill>
              </a:rPr>
              <a:t>Laban</a:t>
            </a:r>
            <a:r>
              <a:rPr lang="en-US" sz="3200" dirty="0" smtClean="0">
                <a:solidFill>
                  <a:srgbClr val="663300"/>
                </a:solidFill>
              </a:rPr>
              <a:t> Carrick Hill</a:t>
            </a:r>
            <a:endParaRPr lang="en-US" sz="4400" dirty="0">
              <a:solidFill>
                <a:srgbClr val="663300"/>
              </a:solidFill>
              <a:latin typeface="Times New Roman" pitchFamily="18" charset="0"/>
            </a:endParaRPr>
          </a:p>
        </p:txBody>
      </p:sp>
      <p:sp>
        <p:nvSpPr>
          <p:cNvPr id="5" name="Rectangle 4"/>
          <p:cNvSpPr/>
          <p:nvPr/>
        </p:nvSpPr>
        <p:spPr>
          <a:xfrm>
            <a:off x="4191000" y="1524000"/>
            <a:ext cx="4724400" cy="4524315"/>
          </a:xfrm>
          <a:prstGeom prst="rect">
            <a:avLst/>
          </a:prstGeom>
        </p:spPr>
        <p:txBody>
          <a:bodyPr wrap="square">
            <a:spAutoFit/>
          </a:bodyPr>
          <a:lstStyle/>
          <a:p>
            <a:pPr algn="l"/>
            <a:r>
              <a:rPr lang="en-US" sz="2400" dirty="0" smtClean="0"/>
              <a:t>To us it is just dirt, the ground we walk on... But to Dave it was clay, the plain and basic stuff upon which he formed a life as a slave nearly 200 years ago. Dave was an extraordinary artist, poet, and potter living in South Carolina in the 1800s. He combined his superb artistry with deeply observant poetry, carved onto his pots, transcending the limitations he faced as a slave. </a:t>
            </a:r>
            <a:endParaRPr lang="en-US" sz="2400" dirty="0"/>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title"/>
          </p:nvPr>
        </p:nvSpPr>
        <p:spPr>
          <a:xfrm>
            <a:off x="0" y="228600"/>
            <a:ext cx="9144000" cy="1143000"/>
          </a:xfrm>
        </p:spPr>
        <p:txBody>
          <a:bodyPr/>
          <a:lstStyle/>
          <a:p>
            <a:r>
              <a:rPr lang="en-US" sz="4000" b="1" dirty="0" smtClean="0">
                <a:solidFill>
                  <a:srgbClr val="38AA71"/>
                </a:solidFill>
                <a:latin typeface="Albertus Extra Bold" pitchFamily="34" charset="0"/>
              </a:rPr>
              <a:t>The Fantastic Secret of Owen Jester </a:t>
            </a:r>
          </a:p>
        </p:txBody>
      </p:sp>
      <p:pic>
        <p:nvPicPr>
          <p:cNvPr id="4" name="Content Placeholder 3" descr="owen.jpg"/>
          <p:cNvPicPr>
            <a:picLocks noGrp="1" noChangeAspect="1"/>
          </p:cNvPicPr>
          <p:nvPr>
            <p:ph sz="half" idx="1"/>
          </p:nvPr>
        </p:nvPicPr>
        <p:blipFill>
          <a:blip r:embed="rId2" cstate="print"/>
          <a:stretch>
            <a:fillRect/>
          </a:stretch>
        </p:blipFill>
        <p:spPr>
          <a:xfrm>
            <a:off x="304800" y="1676400"/>
            <a:ext cx="2676525" cy="3810000"/>
          </a:xfrm>
        </p:spPr>
      </p:pic>
      <p:sp>
        <p:nvSpPr>
          <p:cNvPr id="6" name="Rectangle 8"/>
          <p:cNvSpPr>
            <a:spLocks noChangeArrowheads="1"/>
          </p:cNvSpPr>
          <p:nvPr/>
        </p:nvSpPr>
        <p:spPr bwMode="auto">
          <a:xfrm>
            <a:off x="228600" y="5715000"/>
            <a:ext cx="4343400" cy="947738"/>
          </a:xfrm>
          <a:prstGeom prst="rect">
            <a:avLst/>
          </a:prstGeom>
          <a:noFill/>
          <a:ln w="9525">
            <a:noFill/>
            <a:miter lim="800000"/>
            <a:headEnd/>
            <a:tailEnd/>
          </a:ln>
        </p:spPr>
        <p:txBody>
          <a:bodyPr anchor="ctr"/>
          <a:lstStyle/>
          <a:p>
            <a:pPr algn="l"/>
            <a:r>
              <a:rPr lang="en-US" sz="3200" dirty="0" smtClean="0">
                <a:solidFill>
                  <a:srgbClr val="38AA71"/>
                </a:solidFill>
              </a:rPr>
              <a:t>By</a:t>
            </a:r>
            <a:br>
              <a:rPr lang="en-US" sz="3200" dirty="0" smtClean="0">
                <a:solidFill>
                  <a:srgbClr val="38AA71"/>
                </a:solidFill>
              </a:rPr>
            </a:br>
            <a:r>
              <a:rPr lang="en-US" sz="3200" dirty="0" smtClean="0">
                <a:solidFill>
                  <a:srgbClr val="38AA71"/>
                </a:solidFill>
              </a:rPr>
              <a:t>Barbara O’Connor</a:t>
            </a:r>
            <a:endParaRPr lang="en-US" sz="4400" dirty="0">
              <a:solidFill>
                <a:srgbClr val="38AA71"/>
              </a:solidFill>
              <a:latin typeface="Times New Roman" pitchFamily="18" charset="0"/>
            </a:endParaRPr>
          </a:p>
        </p:txBody>
      </p:sp>
      <p:sp>
        <p:nvSpPr>
          <p:cNvPr id="7" name="Rectangle 6"/>
          <p:cNvSpPr/>
          <p:nvPr/>
        </p:nvSpPr>
        <p:spPr>
          <a:xfrm>
            <a:off x="4114800" y="1524000"/>
            <a:ext cx="4572000" cy="461665"/>
          </a:xfrm>
          <a:prstGeom prst="rect">
            <a:avLst/>
          </a:prstGeom>
        </p:spPr>
        <p:txBody>
          <a:bodyPr>
            <a:spAutoFit/>
          </a:bodyPr>
          <a:lstStyle/>
          <a:p>
            <a:pPr algn="l"/>
            <a:r>
              <a:rPr lang="en-US" sz="2400" dirty="0" smtClean="0"/>
              <a:t> </a:t>
            </a:r>
            <a:endParaRPr lang="en-US" sz="2400" dirty="0"/>
          </a:p>
        </p:txBody>
      </p:sp>
      <p:sp>
        <p:nvSpPr>
          <p:cNvPr id="8" name="Rectangle 7"/>
          <p:cNvSpPr/>
          <p:nvPr/>
        </p:nvSpPr>
        <p:spPr>
          <a:xfrm>
            <a:off x="3505200" y="1676400"/>
            <a:ext cx="5181600" cy="3416320"/>
          </a:xfrm>
          <a:prstGeom prst="rect">
            <a:avLst/>
          </a:prstGeom>
        </p:spPr>
        <p:txBody>
          <a:bodyPr wrap="square">
            <a:spAutoFit/>
          </a:bodyPr>
          <a:lstStyle/>
          <a:p>
            <a:pPr algn="l"/>
            <a:r>
              <a:rPr lang="en-US" sz="2400" dirty="0" smtClean="0"/>
              <a:t>An amazing secret has tumbled off a freight train into Carter, Georgia, and Owen Jester is the only person who knows about it. If he can simply manage to evade his grandfather’s snappish housekeeper, organize his two best friends, and keep his nosy neighbor, Viola, at bay, he just might be in for a summer of a lifetime. </a:t>
            </a:r>
            <a:endParaRPr lang="en-US" sz="2400" dirty="0"/>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4"/>
          <p:cNvSpPr>
            <a:spLocks noGrp="1" noChangeArrowheads="1"/>
          </p:cNvSpPr>
          <p:nvPr>
            <p:ph type="title"/>
          </p:nvPr>
        </p:nvSpPr>
        <p:spPr>
          <a:xfrm>
            <a:off x="0" y="0"/>
            <a:ext cx="9144000" cy="1143000"/>
          </a:xfrm>
        </p:spPr>
        <p:txBody>
          <a:bodyPr/>
          <a:lstStyle/>
          <a:p>
            <a:pPr>
              <a:defRPr/>
            </a:pPr>
            <a:r>
              <a:rPr lang="en-US" b="1" dirty="0" smtClean="0">
                <a:solidFill>
                  <a:srgbClr val="C00000"/>
                </a:solidFill>
                <a:latin typeface="Albertus Extra Bold" pitchFamily="34" charset="0"/>
              </a:rPr>
              <a:t>The Junkyard Wonders </a:t>
            </a:r>
          </a:p>
        </p:txBody>
      </p:sp>
      <p:pic>
        <p:nvPicPr>
          <p:cNvPr id="5" name="Content Placeholder 4" descr="junkyard.jpg"/>
          <p:cNvPicPr>
            <a:picLocks noGrp="1" noChangeAspect="1"/>
          </p:cNvPicPr>
          <p:nvPr>
            <p:ph sz="half" idx="1"/>
          </p:nvPr>
        </p:nvPicPr>
        <p:blipFill>
          <a:blip r:embed="rId2" cstate="print"/>
          <a:stretch>
            <a:fillRect/>
          </a:stretch>
        </p:blipFill>
        <p:spPr>
          <a:xfrm>
            <a:off x="304800" y="1371600"/>
            <a:ext cx="2962275" cy="3810000"/>
          </a:xfrm>
          <a:ln>
            <a:solidFill>
              <a:schemeClr val="tx1"/>
            </a:solidFill>
          </a:ln>
        </p:spPr>
      </p:pic>
      <p:sp>
        <p:nvSpPr>
          <p:cNvPr id="10" name="Rectangle 9"/>
          <p:cNvSpPr/>
          <p:nvPr/>
        </p:nvSpPr>
        <p:spPr>
          <a:xfrm>
            <a:off x="3657600" y="990600"/>
            <a:ext cx="5257800" cy="5632311"/>
          </a:xfrm>
          <a:prstGeom prst="rect">
            <a:avLst/>
          </a:prstGeom>
        </p:spPr>
        <p:txBody>
          <a:bodyPr wrap="square">
            <a:spAutoFit/>
          </a:bodyPr>
          <a:lstStyle/>
          <a:p>
            <a:pPr algn="l"/>
            <a:r>
              <a:rPr lang="en-US" sz="2400" dirty="0" smtClean="0"/>
              <a:t>When young Trisha finds out her class at the new school is known as “The Junkyard,” she is devastated. She moved from her old town so she wouldn’t be in a special class anymore! But then she meets her teacher, the quirky and invincible Mrs. Peterson, and her classmates, an oddly brilliant group of students each with his or her own unique talent. And it is here in The Junkyard that Trisha learns the true meaning of genius, and that this group of misfits are, in fact, wonders, all of them.</a:t>
            </a:r>
          </a:p>
          <a:p>
            <a:pPr algn="l"/>
            <a:r>
              <a:rPr lang="en-US" sz="2400" dirty="0" smtClean="0"/>
              <a:t> </a:t>
            </a:r>
            <a:endParaRPr lang="en-US" sz="2400" dirty="0"/>
          </a:p>
        </p:txBody>
      </p:sp>
      <p:sp>
        <p:nvSpPr>
          <p:cNvPr id="6" name="Rectangle 8"/>
          <p:cNvSpPr>
            <a:spLocks noChangeArrowheads="1"/>
          </p:cNvSpPr>
          <p:nvPr/>
        </p:nvSpPr>
        <p:spPr bwMode="auto">
          <a:xfrm>
            <a:off x="228600" y="5715000"/>
            <a:ext cx="3276600" cy="947738"/>
          </a:xfrm>
          <a:prstGeom prst="rect">
            <a:avLst/>
          </a:prstGeom>
          <a:noFill/>
          <a:ln w="9525">
            <a:noFill/>
            <a:miter lim="800000"/>
            <a:headEnd/>
            <a:tailEnd/>
          </a:ln>
        </p:spPr>
        <p:txBody>
          <a:bodyPr anchor="ctr"/>
          <a:lstStyle/>
          <a:p>
            <a:pPr algn="l"/>
            <a:r>
              <a:rPr lang="en-US" sz="3200" dirty="0" smtClean="0">
                <a:solidFill>
                  <a:srgbClr val="C00000"/>
                </a:solidFill>
              </a:rPr>
              <a:t>By</a:t>
            </a:r>
            <a:br>
              <a:rPr lang="en-US" sz="3200" dirty="0" smtClean="0">
                <a:solidFill>
                  <a:srgbClr val="C00000"/>
                </a:solidFill>
              </a:rPr>
            </a:br>
            <a:r>
              <a:rPr lang="en-US" sz="3200" dirty="0" smtClean="0">
                <a:solidFill>
                  <a:srgbClr val="C00000"/>
                </a:solidFill>
              </a:rPr>
              <a:t>Patricia </a:t>
            </a:r>
            <a:r>
              <a:rPr lang="en-US" sz="3200" dirty="0" err="1" smtClean="0">
                <a:solidFill>
                  <a:srgbClr val="C00000"/>
                </a:solidFill>
              </a:rPr>
              <a:t>Polacco</a:t>
            </a:r>
            <a:endParaRPr lang="en-US" sz="4400" dirty="0">
              <a:solidFill>
                <a:srgbClr val="C00000"/>
              </a:solidFill>
              <a:latin typeface="Times New Roman" pitchFamily="18" charset="0"/>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noChangeArrowheads="1"/>
          </p:cNvSpPr>
          <p:nvPr>
            <p:ph type="title"/>
          </p:nvPr>
        </p:nvSpPr>
        <p:spPr>
          <a:xfrm>
            <a:off x="0" y="228600"/>
            <a:ext cx="9144000" cy="1143000"/>
          </a:xfrm>
        </p:spPr>
        <p:txBody>
          <a:bodyPr/>
          <a:lstStyle/>
          <a:p>
            <a:r>
              <a:rPr lang="en-US" sz="4000" b="1" dirty="0" smtClean="0">
                <a:solidFill>
                  <a:srgbClr val="0066FF"/>
                </a:solidFill>
                <a:latin typeface="Albertus Extra Bold" pitchFamily="34" charset="0"/>
              </a:rPr>
              <a:t>Mirror </a:t>
            </a:r>
            <a:r>
              <a:rPr lang="en-US" sz="4000" b="1" dirty="0" err="1" smtClean="0">
                <a:solidFill>
                  <a:srgbClr val="0066FF"/>
                </a:solidFill>
                <a:latin typeface="Albertus Extra Bold" pitchFamily="34" charset="0"/>
              </a:rPr>
              <a:t>Mirror</a:t>
            </a:r>
            <a:r>
              <a:rPr lang="en-US" sz="4000" b="1" dirty="0" smtClean="0">
                <a:solidFill>
                  <a:srgbClr val="0066FF"/>
                </a:solidFill>
                <a:latin typeface="Albertus Extra Bold" pitchFamily="34" charset="0"/>
              </a:rPr>
              <a:t> : </a:t>
            </a:r>
            <a:br>
              <a:rPr lang="en-US" sz="4000" b="1" dirty="0" smtClean="0">
                <a:solidFill>
                  <a:srgbClr val="0066FF"/>
                </a:solidFill>
                <a:latin typeface="Albertus Extra Bold" pitchFamily="34" charset="0"/>
              </a:rPr>
            </a:br>
            <a:r>
              <a:rPr lang="en-US" sz="4000" b="1" dirty="0" smtClean="0">
                <a:solidFill>
                  <a:srgbClr val="0066FF"/>
                </a:solidFill>
                <a:latin typeface="Albertus Extra Bold" pitchFamily="34" charset="0"/>
              </a:rPr>
              <a:t>A Book of Reversible Verse </a:t>
            </a:r>
          </a:p>
        </p:txBody>
      </p:sp>
      <p:pic>
        <p:nvPicPr>
          <p:cNvPr id="6" name="Content Placeholder 5" descr="mirror.jpg"/>
          <p:cNvPicPr>
            <a:picLocks noGrp="1" noChangeAspect="1"/>
          </p:cNvPicPr>
          <p:nvPr>
            <p:ph sz="half" idx="1"/>
          </p:nvPr>
        </p:nvPicPr>
        <p:blipFill>
          <a:blip r:embed="rId2" cstate="print"/>
          <a:stretch>
            <a:fillRect/>
          </a:stretch>
        </p:blipFill>
        <p:spPr>
          <a:xfrm>
            <a:off x="304800" y="1828800"/>
            <a:ext cx="3810000" cy="3800475"/>
          </a:xfrm>
        </p:spPr>
      </p:pic>
      <p:sp>
        <p:nvSpPr>
          <p:cNvPr id="8" name="Rectangle 7"/>
          <p:cNvSpPr/>
          <p:nvPr/>
        </p:nvSpPr>
        <p:spPr>
          <a:xfrm>
            <a:off x="4419600" y="1828800"/>
            <a:ext cx="4495800" cy="4524315"/>
          </a:xfrm>
          <a:prstGeom prst="rect">
            <a:avLst/>
          </a:prstGeom>
        </p:spPr>
        <p:txBody>
          <a:bodyPr wrap="square">
            <a:spAutoFit/>
          </a:bodyPr>
          <a:lstStyle/>
          <a:p>
            <a:pPr algn="l"/>
            <a:r>
              <a:rPr lang="en-US" sz="2400" dirty="0" smtClean="0"/>
              <a:t>This ingenious book of </a:t>
            </a:r>
            <a:r>
              <a:rPr lang="en-US" sz="2400" dirty="0" err="1" smtClean="0"/>
              <a:t>reversos</a:t>
            </a:r>
            <a:r>
              <a:rPr lang="en-US" sz="2400" dirty="0" smtClean="0"/>
              <a:t>, or poems which have one meaning when read down the page and perhaps an altogether different meaning when read up the </a:t>
            </a:r>
            <a:r>
              <a:rPr lang="en-US" sz="2400" dirty="0" smtClean="0"/>
              <a:t>page.  It toys </a:t>
            </a:r>
            <a:r>
              <a:rPr lang="en-US" sz="2400" dirty="0" smtClean="0"/>
              <a:t>with and reinvents oh-so-familiar stories and characters, from Cinderella to the Ugly Duckling.</a:t>
            </a:r>
          </a:p>
          <a:p>
            <a:pPr algn="l"/>
            <a:r>
              <a:rPr lang="en-US" sz="2400" dirty="0" smtClean="0"/>
              <a:t> </a:t>
            </a:r>
            <a:endParaRPr lang="en-US" sz="2400" dirty="0"/>
          </a:p>
        </p:txBody>
      </p:sp>
      <p:sp>
        <p:nvSpPr>
          <p:cNvPr id="7" name="Rectangle 8"/>
          <p:cNvSpPr>
            <a:spLocks noChangeArrowheads="1"/>
          </p:cNvSpPr>
          <p:nvPr/>
        </p:nvSpPr>
        <p:spPr bwMode="auto">
          <a:xfrm>
            <a:off x="228600" y="5715000"/>
            <a:ext cx="3276600" cy="947738"/>
          </a:xfrm>
          <a:prstGeom prst="rect">
            <a:avLst/>
          </a:prstGeom>
          <a:noFill/>
          <a:ln w="9525">
            <a:noFill/>
            <a:miter lim="800000"/>
            <a:headEnd/>
            <a:tailEnd/>
          </a:ln>
        </p:spPr>
        <p:txBody>
          <a:bodyPr anchor="ctr"/>
          <a:lstStyle/>
          <a:p>
            <a:pPr algn="l"/>
            <a:r>
              <a:rPr lang="en-US" sz="3200" dirty="0" smtClean="0">
                <a:solidFill>
                  <a:srgbClr val="0066FF"/>
                </a:solidFill>
              </a:rPr>
              <a:t>By</a:t>
            </a:r>
            <a:br>
              <a:rPr lang="en-US" sz="3200" dirty="0" smtClean="0">
                <a:solidFill>
                  <a:srgbClr val="0066FF"/>
                </a:solidFill>
              </a:rPr>
            </a:br>
            <a:r>
              <a:rPr lang="en-US" sz="3200" dirty="0" smtClean="0">
                <a:solidFill>
                  <a:srgbClr val="0066FF"/>
                </a:solidFill>
              </a:rPr>
              <a:t>Marilyn Singer</a:t>
            </a:r>
            <a:endParaRPr lang="en-US" sz="4400" dirty="0">
              <a:solidFill>
                <a:srgbClr val="0066FF"/>
              </a:solidFill>
              <a:latin typeface="Times New Roman" pitchFamily="18" charset="0"/>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p:nvPr>
        </p:nvSpPr>
        <p:spPr>
          <a:xfrm>
            <a:off x="0" y="228600"/>
            <a:ext cx="9144000" cy="1143000"/>
          </a:xfrm>
        </p:spPr>
        <p:txBody>
          <a:bodyPr/>
          <a:lstStyle/>
          <a:p>
            <a:r>
              <a:rPr lang="en-US" sz="4000" b="1" dirty="0" smtClean="0">
                <a:solidFill>
                  <a:srgbClr val="6699FF"/>
                </a:solidFill>
                <a:latin typeface="Albertus Extra Bold" pitchFamily="34" charset="0"/>
              </a:rPr>
              <a:t>Of Thee I Sing : </a:t>
            </a:r>
            <a:br>
              <a:rPr lang="en-US" sz="4000" b="1" dirty="0" smtClean="0">
                <a:solidFill>
                  <a:srgbClr val="6699FF"/>
                </a:solidFill>
                <a:latin typeface="Albertus Extra Bold" pitchFamily="34" charset="0"/>
              </a:rPr>
            </a:br>
            <a:r>
              <a:rPr lang="en-US" sz="4000" b="1" dirty="0" smtClean="0">
                <a:solidFill>
                  <a:srgbClr val="6699FF"/>
                </a:solidFill>
                <a:latin typeface="Albertus Extra Bold" pitchFamily="34" charset="0"/>
              </a:rPr>
              <a:t>A Letter To My Daughters </a:t>
            </a:r>
          </a:p>
        </p:txBody>
      </p:sp>
      <p:pic>
        <p:nvPicPr>
          <p:cNvPr id="7" name="Content Placeholder 6" descr="sing.jpg"/>
          <p:cNvPicPr>
            <a:picLocks noGrp="1" noChangeAspect="1"/>
          </p:cNvPicPr>
          <p:nvPr>
            <p:ph sz="half" idx="1"/>
          </p:nvPr>
        </p:nvPicPr>
        <p:blipFill>
          <a:blip r:embed="rId2" cstate="print"/>
          <a:stretch>
            <a:fillRect/>
          </a:stretch>
        </p:blipFill>
        <p:spPr>
          <a:xfrm>
            <a:off x="304800" y="1752600"/>
            <a:ext cx="2876550" cy="3810000"/>
          </a:xfrm>
        </p:spPr>
      </p:pic>
      <p:sp>
        <p:nvSpPr>
          <p:cNvPr id="6" name="Rectangle 5"/>
          <p:cNvSpPr/>
          <p:nvPr/>
        </p:nvSpPr>
        <p:spPr>
          <a:xfrm>
            <a:off x="3581400" y="1676400"/>
            <a:ext cx="5257800" cy="4893647"/>
          </a:xfrm>
          <a:prstGeom prst="rect">
            <a:avLst/>
          </a:prstGeom>
        </p:spPr>
        <p:txBody>
          <a:bodyPr wrap="square">
            <a:spAutoFit/>
          </a:bodyPr>
          <a:lstStyle/>
          <a:p>
            <a:pPr algn="l"/>
            <a:r>
              <a:rPr lang="en-US" sz="2400" dirty="0" smtClean="0"/>
              <a:t>In this tender, beautiful letter to his daughters, President Barack Obama has written a moving tribute to thirteen groundbreaking Americans and the ideals that have shaped our nation. From the artistry of Georgia O'Keeffe, to the courage of Jackie Robinson, to the patriotism of George Washington, President Obama sees the traits of these heroes within his own children, and within all of America's children.</a:t>
            </a:r>
            <a:br>
              <a:rPr lang="en-US" sz="2400" dirty="0" smtClean="0"/>
            </a:br>
            <a:r>
              <a:rPr lang="en-US" sz="2400" dirty="0" smtClean="0"/>
              <a:t> </a:t>
            </a:r>
            <a:endParaRPr lang="en-US" sz="2400" dirty="0"/>
          </a:p>
        </p:txBody>
      </p:sp>
      <p:sp>
        <p:nvSpPr>
          <p:cNvPr id="8" name="Rectangle 8"/>
          <p:cNvSpPr>
            <a:spLocks noChangeArrowheads="1"/>
          </p:cNvSpPr>
          <p:nvPr/>
        </p:nvSpPr>
        <p:spPr bwMode="auto">
          <a:xfrm>
            <a:off x="228600" y="5715000"/>
            <a:ext cx="3276600" cy="947738"/>
          </a:xfrm>
          <a:prstGeom prst="rect">
            <a:avLst/>
          </a:prstGeom>
          <a:noFill/>
          <a:ln w="9525">
            <a:noFill/>
            <a:miter lim="800000"/>
            <a:headEnd/>
            <a:tailEnd/>
          </a:ln>
        </p:spPr>
        <p:txBody>
          <a:bodyPr anchor="ctr"/>
          <a:lstStyle/>
          <a:p>
            <a:pPr algn="l"/>
            <a:r>
              <a:rPr lang="en-US" sz="3200" dirty="0" smtClean="0">
                <a:solidFill>
                  <a:srgbClr val="6699FF"/>
                </a:solidFill>
              </a:rPr>
              <a:t>By</a:t>
            </a:r>
            <a:br>
              <a:rPr lang="en-US" sz="3200" dirty="0" smtClean="0">
                <a:solidFill>
                  <a:srgbClr val="6699FF"/>
                </a:solidFill>
              </a:rPr>
            </a:br>
            <a:r>
              <a:rPr lang="en-US" sz="3200" dirty="0" smtClean="0">
                <a:solidFill>
                  <a:srgbClr val="6699FF"/>
                </a:solidFill>
              </a:rPr>
              <a:t>Barack Obama</a:t>
            </a:r>
            <a:endParaRPr lang="en-US" sz="4400" dirty="0">
              <a:solidFill>
                <a:srgbClr val="6699FF"/>
              </a:solidFill>
              <a:latin typeface="Times New Roman" pitchFamily="18"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4"/>
          <p:cNvSpPr>
            <a:spLocks noGrp="1" noChangeArrowheads="1"/>
          </p:cNvSpPr>
          <p:nvPr>
            <p:ph type="title"/>
          </p:nvPr>
        </p:nvSpPr>
        <p:spPr>
          <a:xfrm>
            <a:off x="0" y="304800"/>
            <a:ext cx="9144000" cy="1143000"/>
          </a:xfrm>
        </p:spPr>
        <p:txBody>
          <a:bodyPr/>
          <a:lstStyle/>
          <a:p>
            <a:pPr>
              <a:defRPr/>
            </a:pPr>
            <a:r>
              <a:rPr lang="en-US" sz="4000" b="1" dirty="0" err="1" smtClean="0">
                <a:solidFill>
                  <a:srgbClr val="CC6600"/>
                </a:solidFill>
                <a:latin typeface="Albertus Extra Bold" pitchFamily="34" charset="0"/>
              </a:rPr>
              <a:t>Ol</a:t>
            </a:r>
            <a:r>
              <a:rPr lang="en-US" sz="4000" b="1" dirty="0" smtClean="0">
                <a:solidFill>
                  <a:srgbClr val="CC6600"/>
                </a:solidFill>
                <a:latin typeface="Albertus Extra Bold" pitchFamily="34" charset="0"/>
              </a:rPr>
              <a:t>' </a:t>
            </a:r>
            <a:r>
              <a:rPr lang="en-US" sz="4000" b="1" dirty="0" err="1" smtClean="0">
                <a:solidFill>
                  <a:srgbClr val="CC6600"/>
                </a:solidFill>
                <a:latin typeface="Albertus Extra Bold" pitchFamily="34" charset="0"/>
              </a:rPr>
              <a:t>Bloo's</a:t>
            </a:r>
            <a:r>
              <a:rPr lang="en-US" sz="4000" b="1" dirty="0" smtClean="0">
                <a:solidFill>
                  <a:srgbClr val="CC6600"/>
                </a:solidFill>
                <a:latin typeface="Albertus Extra Bold" pitchFamily="34" charset="0"/>
              </a:rPr>
              <a:t> Boogie-</a:t>
            </a:r>
            <a:r>
              <a:rPr lang="en-US" sz="4000" b="1" dirty="0" err="1" smtClean="0">
                <a:solidFill>
                  <a:srgbClr val="CC6600"/>
                </a:solidFill>
                <a:latin typeface="Albertus Extra Bold" pitchFamily="34" charset="0"/>
              </a:rPr>
              <a:t>Woogie</a:t>
            </a:r>
            <a:r>
              <a:rPr lang="en-US" sz="4000" b="1" dirty="0" smtClean="0">
                <a:solidFill>
                  <a:srgbClr val="CC6600"/>
                </a:solidFill>
                <a:latin typeface="Albertus Extra Bold" pitchFamily="34" charset="0"/>
              </a:rPr>
              <a:t> Band </a:t>
            </a:r>
            <a:br>
              <a:rPr lang="en-US" sz="4000" b="1" dirty="0" smtClean="0">
                <a:solidFill>
                  <a:srgbClr val="CC6600"/>
                </a:solidFill>
                <a:latin typeface="Albertus Extra Bold" pitchFamily="34" charset="0"/>
              </a:rPr>
            </a:br>
            <a:r>
              <a:rPr lang="en-US" sz="4000" b="1" dirty="0" smtClean="0">
                <a:solidFill>
                  <a:srgbClr val="CC6600"/>
                </a:solidFill>
                <a:latin typeface="Albertus Extra Bold" pitchFamily="34" charset="0"/>
              </a:rPr>
              <a:t>and Blues Ensemble </a:t>
            </a:r>
          </a:p>
        </p:txBody>
      </p:sp>
      <p:pic>
        <p:nvPicPr>
          <p:cNvPr id="7" name="Content Placeholder 6" descr="bloos.jpg"/>
          <p:cNvPicPr>
            <a:picLocks noGrp="1" noChangeAspect="1"/>
          </p:cNvPicPr>
          <p:nvPr>
            <p:ph sz="half" idx="1"/>
          </p:nvPr>
        </p:nvPicPr>
        <p:blipFill>
          <a:blip r:embed="rId2" cstate="print"/>
          <a:stretch>
            <a:fillRect/>
          </a:stretch>
        </p:blipFill>
        <p:spPr>
          <a:xfrm>
            <a:off x="228600" y="2514600"/>
            <a:ext cx="3161763" cy="2806065"/>
          </a:xfrm>
        </p:spPr>
      </p:pic>
      <p:sp>
        <p:nvSpPr>
          <p:cNvPr id="6" name="Rectangle 5"/>
          <p:cNvSpPr/>
          <p:nvPr/>
        </p:nvSpPr>
        <p:spPr>
          <a:xfrm>
            <a:off x="3505200" y="1676400"/>
            <a:ext cx="5638800" cy="5262979"/>
          </a:xfrm>
          <a:prstGeom prst="rect">
            <a:avLst/>
          </a:prstGeom>
        </p:spPr>
        <p:txBody>
          <a:bodyPr wrap="square">
            <a:spAutoFit/>
          </a:bodyPr>
          <a:lstStyle/>
          <a:p>
            <a:pPr algn="l"/>
            <a:r>
              <a:rPr lang="en-US" sz="2400" dirty="0" err="1" smtClean="0"/>
              <a:t>Ol</a:t>
            </a:r>
            <a:r>
              <a:rPr lang="en-US" sz="2400" dirty="0" smtClean="0"/>
              <a:t> </a:t>
            </a:r>
            <a:r>
              <a:rPr lang="en-US" sz="2400" dirty="0" err="1" smtClean="0"/>
              <a:t>Bloo</a:t>
            </a:r>
            <a:r>
              <a:rPr lang="en-US" sz="2400" dirty="0" smtClean="0"/>
              <a:t> Donkey has spent year after year hauling cotton dreaming of the day he could enjoy retirement. Then he overhears the Farmer’s plan to retire him permanently and he realizes it’s time to move on. Off he goes to New Orleans to become a honky-tonk singer. Along the way he meets up with a dog, a cat, and a rooster and when they stumble upon a tumbledown shack filled with piles of food and a mountain of money, their plans take a turn. </a:t>
            </a:r>
            <a:br>
              <a:rPr lang="en-US" sz="2400" dirty="0" smtClean="0"/>
            </a:br>
            <a:r>
              <a:rPr lang="en-US" sz="2400" dirty="0" smtClean="0"/>
              <a:t> </a:t>
            </a:r>
            <a:endParaRPr lang="en-US" sz="2400" dirty="0"/>
          </a:p>
        </p:txBody>
      </p:sp>
      <p:sp>
        <p:nvSpPr>
          <p:cNvPr id="8" name="Rectangle 8"/>
          <p:cNvSpPr>
            <a:spLocks noChangeArrowheads="1"/>
          </p:cNvSpPr>
          <p:nvPr/>
        </p:nvSpPr>
        <p:spPr bwMode="auto">
          <a:xfrm>
            <a:off x="228600" y="5715000"/>
            <a:ext cx="3276600" cy="947738"/>
          </a:xfrm>
          <a:prstGeom prst="rect">
            <a:avLst/>
          </a:prstGeom>
          <a:noFill/>
          <a:ln w="9525">
            <a:noFill/>
            <a:miter lim="800000"/>
            <a:headEnd/>
            <a:tailEnd/>
          </a:ln>
        </p:spPr>
        <p:txBody>
          <a:bodyPr anchor="ctr"/>
          <a:lstStyle/>
          <a:p>
            <a:pPr algn="l"/>
            <a:r>
              <a:rPr lang="en-US" sz="3200" dirty="0" smtClean="0">
                <a:solidFill>
                  <a:srgbClr val="CC6600"/>
                </a:solidFill>
              </a:rPr>
              <a:t>By</a:t>
            </a:r>
            <a:br>
              <a:rPr lang="en-US" sz="3200" dirty="0" smtClean="0">
                <a:solidFill>
                  <a:srgbClr val="CC6600"/>
                </a:solidFill>
              </a:rPr>
            </a:br>
            <a:r>
              <a:rPr lang="en-US" sz="3200" dirty="0" smtClean="0">
                <a:solidFill>
                  <a:srgbClr val="CC6600"/>
                </a:solidFill>
              </a:rPr>
              <a:t>Jan </a:t>
            </a:r>
            <a:r>
              <a:rPr lang="en-US" sz="3200" dirty="0" err="1" smtClean="0">
                <a:solidFill>
                  <a:srgbClr val="CC6600"/>
                </a:solidFill>
              </a:rPr>
              <a:t>Huling</a:t>
            </a:r>
            <a:endParaRPr lang="en-US" sz="4400" dirty="0">
              <a:solidFill>
                <a:srgbClr val="CC6600"/>
              </a:solidFill>
              <a:latin typeface="Times New Roman" pitchFamily="18" charset="0"/>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4"/>
          <p:cNvSpPr>
            <a:spLocks noGrp="1" noChangeArrowheads="1"/>
          </p:cNvSpPr>
          <p:nvPr>
            <p:ph type="title"/>
          </p:nvPr>
        </p:nvSpPr>
        <p:spPr>
          <a:xfrm>
            <a:off x="0" y="228600"/>
            <a:ext cx="9144000" cy="1143000"/>
          </a:xfrm>
        </p:spPr>
        <p:txBody>
          <a:bodyPr/>
          <a:lstStyle/>
          <a:p>
            <a:pPr>
              <a:defRPr/>
            </a:pPr>
            <a:r>
              <a:rPr lang="en-US" sz="4000" b="1" dirty="0" smtClean="0">
                <a:solidFill>
                  <a:srgbClr val="DE6F00"/>
                </a:solidFill>
                <a:latin typeface="Albertus Extra Bold" pitchFamily="34" charset="0"/>
              </a:rPr>
              <a:t>The PS Brothers </a:t>
            </a:r>
          </a:p>
        </p:txBody>
      </p:sp>
      <p:pic>
        <p:nvPicPr>
          <p:cNvPr id="7" name="Content Placeholder 6" descr="psbrothers.jpg"/>
          <p:cNvPicPr>
            <a:picLocks noGrp="1" noChangeAspect="1"/>
          </p:cNvPicPr>
          <p:nvPr>
            <p:ph sz="half" idx="1"/>
          </p:nvPr>
        </p:nvPicPr>
        <p:blipFill>
          <a:blip r:embed="rId2" cstate="print"/>
          <a:stretch>
            <a:fillRect/>
          </a:stretch>
        </p:blipFill>
        <p:spPr>
          <a:xfrm>
            <a:off x="304800" y="1600200"/>
            <a:ext cx="2819400" cy="3810000"/>
          </a:xfrm>
        </p:spPr>
      </p:pic>
      <p:sp>
        <p:nvSpPr>
          <p:cNvPr id="6" name="Rectangle 5"/>
          <p:cNvSpPr/>
          <p:nvPr/>
        </p:nvSpPr>
        <p:spPr>
          <a:xfrm>
            <a:off x="3505200" y="1524000"/>
            <a:ext cx="5410200" cy="4893647"/>
          </a:xfrm>
          <a:prstGeom prst="rect">
            <a:avLst/>
          </a:prstGeom>
        </p:spPr>
        <p:txBody>
          <a:bodyPr wrap="square">
            <a:spAutoFit/>
          </a:bodyPr>
          <a:lstStyle/>
          <a:p>
            <a:pPr algn="l"/>
            <a:r>
              <a:rPr lang="en-US" sz="2400" dirty="0" smtClean="0"/>
              <a:t>Sixth-graders Russell and Shawn, poor and picked on, work together scooping dog droppings to earn money to buy a Rottweiler puppy to protect them from bullies, but when they learn the puppies' owner is running an illegal dog-fighting ring, they are torn about what to do. Doing the right thing might still get them what they want—and maybe even more.</a:t>
            </a:r>
          </a:p>
          <a:p>
            <a:pPr algn="l"/>
            <a:r>
              <a:rPr lang="en-US" sz="2400" dirty="0" smtClean="0"/>
              <a:t/>
            </a:r>
            <a:br>
              <a:rPr lang="en-US" sz="2400" dirty="0" smtClean="0"/>
            </a:br>
            <a:r>
              <a:rPr lang="en-US" sz="2400" dirty="0" smtClean="0"/>
              <a:t/>
            </a:r>
            <a:br>
              <a:rPr lang="en-US" sz="2400" dirty="0" smtClean="0"/>
            </a:br>
            <a:r>
              <a:rPr lang="en-US" sz="2400" dirty="0" smtClean="0"/>
              <a:t> </a:t>
            </a:r>
            <a:endParaRPr lang="en-US" sz="2400" dirty="0"/>
          </a:p>
        </p:txBody>
      </p:sp>
      <p:sp>
        <p:nvSpPr>
          <p:cNvPr id="8" name="Rectangle 8"/>
          <p:cNvSpPr>
            <a:spLocks noChangeArrowheads="1"/>
          </p:cNvSpPr>
          <p:nvPr/>
        </p:nvSpPr>
        <p:spPr bwMode="auto">
          <a:xfrm>
            <a:off x="228600" y="5715000"/>
            <a:ext cx="3810000" cy="947738"/>
          </a:xfrm>
          <a:prstGeom prst="rect">
            <a:avLst/>
          </a:prstGeom>
          <a:noFill/>
          <a:ln w="9525">
            <a:noFill/>
            <a:miter lim="800000"/>
            <a:headEnd/>
            <a:tailEnd/>
          </a:ln>
        </p:spPr>
        <p:txBody>
          <a:bodyPr anchor="ctr"/>
          <a:lstStyle/>
          <a:p>
            <a:pPr algn="l"/>
            <a:r>
              <a:rPr lang="en-US" sz="3200" dirty="0" smtClean="0">
                <a:solidFill>
                  <a:srgbClr val="DE6F00"/>
                </a:solidFill>
              </a:rPr>
              <a:t>By</a:t>
            </a:r>
            <a:br>
              <a:rPr lang="en-US" sz="3200" dirty="0" smtClean="0">
                <a:solidFill>
                  <a:srgbClr val="DE6F00"/>
                </a:solidFill>
              </a:rPr>
            </a:br>
            <a:r>
              <a:rPr lang="en-US" sz="3200" dirty="0" err="1" smtClean="0">
                <a:solidFill>
                  <a:srgbClr val="DE6F00"/>
                </a:solidFill>
              </a:rPr>
              <a:t>Maribeth</a:t>
            </a:r>
            <a:r>
              <a:rPr lang="en-US" sz="3200" dirty="0" smtClean="0">
                <a:solidFill>
                  <a:srgbClr val="DE6F00"/>
                </a:solidFill>
              </a:rPr>
              <a:t> </a:t>
            </a:r>
            <a:r>
              <a:rPr lang="en-US" sz="3200" dirty="0" err="1" smtClean="0">
                <a:solidFill>
                  <a:srgbClr val="DE6F00"/>
                </a:solidFill>
              </a:rPr>
              <a:t>Boelts</a:t>
            </a:r>
            <a:endParaRPr lang="en-US" sz="4400" dirty="0">
              <a:solidFill>
                <a:srgbClr val="DE6F00"/>
              </a:solidFill>
              <a:latin typeface="Times New Roman" pitchFamily="18" charset="0"/>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Grp="1" noChangeArrowheads="1"/>
          </p:cNvSpPr>
          <p:nvPr>
            <p:ph type="title"/>
          </p:nvPr>
        </p:nvSpPr>
        <p:spPr>
          <a:xfrm>
            <a:off x="0" y="228600"/>
            <a:ext cx="9144000" cy="1143000"/>
          </a:xfrm>
        </p:spPr>
        <p:txBody>
          <a:bodyPr/>
          <a:lstStyle/>
          <a:p>
            <a:r>
              <a:rPr lang="en-US" sz="4000" b="1" dirty="0" smtClean="0">
                <a:solidFill>
                  <a:srgbClr val="FFCC00"/>
                </a:solidFill>
                <a:latin typeface="Albertus Extra Bold" pitchFamily="34" charset="0"/>
              </a:rPr>
              <a:t>The Shadows</a:t>
            </a:r>
            <a:br>
              <a:rPr lang="en-US" sz="4000" b="1" dirty="0" smtClean="0">
                <a:solidFill>
                  <a:srgbClr val="FFCC00"/>
                </a:solidFill>
                <a:latin typeface="Albertus Extra Bold" pitchFamily="34" charset="0"/>
              </a:rPr>
            </a:br>
            <a:r>
              <a:rPr lang="en-US" sz="3600" b="1" dirty="0" smtClean="0">
                <a:solidFill>
                  <a:srgbClr val="FFCC00"/>
                </a:solidFill>
                <a:latin typeface="Albertus Extra Bold" pitchFamily="34" charset="0"/>
              </a:rPr>
              <a:t>The Books of Elsewhere</a:t>
            </a:r>
          </a:p>
        </p:txBody>
      </p:sp>
      <p:sp>
        <p:nvSpPr>
          <p:cNvPr id="5" name="Rectangle 4"/>
          <p:cNvSpPr/>
          <p:nvPr/>
        </p:nvSpPr>
        <p:spPr>
          <a:xfrm>
            <a:off x="2590800" y="1524000"/>
            <a:ext cx="6553200" cy="5632311"/>
          </a:xfrm>
          <a:prstGeom prst="rect">
            <a:avLst/>
          </a:prstGeom>
        </p:spPr>
        <p:txBody>
          <a:bodyPr wrap="square">
            <a:spAutoFit/>
          </a:bodyPr>
          <a:lstStyle/>
          <a:p>
            <a:pPr algn="l"/>
            <a:r>
              <a:rPr lang="en-US" sz="2400" dirty="0" smtClean="0"/>
              <a:t>When eleven-year-old Olive moves into a crumbling old mansion she finds a pair of old-fashioned glasses in a dusty drawer and with them she discovers that she can travel inside the creepy antique paintings on the wall to Elsewhere, a world that's strangely quiet . . . and eerily sinister. Olive soon finds that Elsewhere has secrets to hide and she finds herself caught in a plan darker and more dangerous than she could have imagined, confronting a power that wants to be rid of her by any means necessary. </a:t>
            </a:r>
          </a:p>
          <a:p>
            <a:pPr algn="l"/>
            <a:r>
              <a:rPr lang="en-US" sz="2400" dirty="0" smtClean="0"/>
              <a:t/>
            </a:r>
            <a:br>
              <a:rPr lang="en-US" sz="2400" dirty="0" smtClean="0"/>
            </a:br>
            <a:r>
              <a:rPr lang="en-US" sz="2400" dirty="0" smtClean="0"/>
              <a:t/>
            </a:r>
            <a:br>
              <a:rPr lang="en-US" sz="2400" dirty="0" smtClean="0"/>
            </a:br>
            <a:r>
              <a:rPr lang="en-US" sz="2400" dirty="0" smtClean="0"/>
              <a:t> </a:t>
            </a:r>
            <a:endParaRPr lang="en-US" sz="2400" dirty="0"/>
          </a:p>
        </p:txBody>
      </p:sp>
      <p:pic>
        <p:nvPicPr>
          <p:cNvPr id="7" name="Content Placeholder 6" descr="elsewhere.jpg"/>
          <p:cNvPicPr>
            <a:picLocks noGrp="1" noChangeAspect="1"/>
          </p:cNvPicPr>
          <p:nvPr>
            <p:ph sz="half" idx="1"/>
          </p:nvPr>
        </p:nvPicPr>
        <p:blipFill>
          <a:blip r:embed="rId2" cstate="print"/>
          <a:stretch>
            <a:fillRect/>
          </a:stretch>
        </p:blipFill>
        <p:spPr>
          <a:xfrm>
            <a:off x="152400" y="1981200"/>
            <a:ext cx="2388108" cy="3618345"/>
          </a:xfrm>
        </p:spPr>
      </p:pic>
      <p:sp>
        <p:nvSpPr>
          <p:cNvPr id="8" name="Rectangle 8"/>
          <p:cNvSpPr>
            <a:spLocks noChangeArrowheads="1"/>
          </p:cNvSpPr>
          <p:nvPr/>
        </p:nvSpPr>
        <p:spPr bwMode="auto">
          <a:xfrm>
            <a:off x="228600" y="5715000"/>
            <a:ext cx="3276600" cy="947738"/>
          </a:xfrm>
          <a:prstGeom prst="rect">
            <a:avLst/>
          </a:prstGeom>
          <a:noFill/>
          <a:ln w="9525">
            <a:noFill/>
            <a:miter lim="800000"/>
            <a:headEnd/>
            <a:tailEnd/>
          </a:ln>
        </p:spPr>
        <p:txBody>
          <a:bodyPr anchor="ctr"/>
          <a:lstStyle/>
          <a:p>
            <a:pPr algn="l"/>
            <a:r>
              <a:rPr lang="en-US" sz="3200" dirty="0" smtClean="0">
                <a:solidFill>
                  <a:srgbClr val="FFCC00"/>
                </a:solidFill>
              </a:rPr>
              <a:t>By</a:t>
            </a:r>
            <a:br>
              <a:rPr lang="en-US" sz="3200" dirty="0" smtClean="0">
                <a:solidFill>
                  <a:srgbClr val="FFCC00"/>
                </a:solidFill>
              </a:rPr>
            </a:br>
            <a:r>
              <a:rPr lang="en-US" sz="3200" dirty="0" smtClean="0">
                <a:solidFill>
                  <a:srgbClr val="FFCC00"/>
                </a:solidFill>
              </a:rPr>
              <a:t>Jacqueline West</a:t>
            </a:r>
            <a:endParaRPr lang="en-US" sz="4400" dirty="0">
              <a:solidFill>
                <a:srgbClr val="FFCC00"/>
              </a:solidFill>
              <a:latin typeface="Times New Roman" pitchFamily="18" charset="0"/>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4"/>
          <p:cNvSpPr>
            <a:spLocks noGrp="1" noChangeArrowheads="1"/>
          </p:cNvSpPr>
          <p:nvPr>
            <p:ph type="title"/>
          </p:nvPr>
        </p:nvSpPr>
        <p:spPr>
          <a:xfrm>
            <a:off x="0" y="0"/>
            <a:ext cx="9144000" cy="1143000"/>
          </a:xfrm>
        </p:spPr>
        <p:txBody>
          <a:bodyPr/>
          <a:lstStyle/>
          <a:p>
            <a:pPr>
              <a:defRPr/>
            </a:pPr>
            <a:r>
              <a:rPr lang="en-US" b="1" dirty="0" smtClean="0">
                <a:solidFill>
                  <a:srgbClr val="003399"/>
                </a:solidFill>
                <a:latin typeface="Albertus Extra Bold" pitchFamily="34" charset="0"/>
              </a:rPr>
              <a:t>Touch Blue</a:t>
            </a:r>
          </a:p>
        </p:txBody>
      </p:sp>
      <p:sp>
        <p:nvSpPr>
          <p:cNvPr id="28676" name="Text Box 9"/>
          <p:cNvSpPr txBox="1">
            <a:spLocks noChangeArrowheads="1"/>
          </p:cNvSpPr>
          <p:nvPr/>
        </p:nvSpPr>
        <p:spPr bwMode="auto">
          <a:xfrm>
            <a:off x="3810000" y="1295400"/>
            <a:ext cx="4876800" cy="461665"/>
          </a:xfrm>
          <a:prstGeom prst="rect">
            <a:avLst/>
          </a:prstGeom>
          <a:noFill/>
          <a:ln w="9525">
            <a:noFill/>
            <a:miter lim="800000"/>
            <a:headEnd/>
            <a:tailEnd/>
          </a:ln>
        </p:spPr>
        <p:txBody>
          <a:bodyPr>
            <a:spAutoFit/>
          </a:bodyPr>
          <a:lstStyle/>
          <a:p>
            <a:pPr algn="l"/>
            <a:r>
              <a:rPr lang="en-US" sz="2400" b="1" dirty="0" smtClean="0"/>
              <a:t> </a:t>
            </a:r>
            <a:endParaRPr lang="en-US" sz="2400" dirty="0"/>
          </a:p>
        </p:txBody>
      </p:sp>
      <p:sp>
        <p:nvSpPr>
          <p:cNvPr id="6" name="Rectangle 5"/>
          <p:cNvSpPr/>
          <p:nvPr/>
        </p:nvSpPr>
        <p:spPr>
          <a:xfrm>
            <a:off x="2743200" y="1066800"/>
            <a:ext cx="6400800" cy="6370975"/>
          </a:xfrm>
          <a:prstGeom prst="rect">
            <a:avLst/>
          </a:prstGeom>
        </p:spPr>
        <p:txBody>
          <a:bodyPr wrap="square">
            <a:spAutoFit/>
          </a:bodyPr>
          <a:lstStyle/>
          <a:p>
            <a:pPr algn="l"/>
            <a:r>
              <a:rPr lang="en-US" sz="2400" dirty="0" smtClean="0"/>
              <a:t>The state of Maine plans to shut down her island's schoolhouse, which would force Tess's family to move to the mainland--and Tess to leave the only home she has ever known. Fortunately, the islanders have a plan to increase the numbers of students by having several families take in foster children. So now Tess and her family are taking a chance on Aaron, a thirteen-year-old trumpet player who has been bounced from home to home. And Tess needs a plan of her own--and all the luck she can muster. Will Tess's wish come true or will her luck run out?</a:t>
            </a:r>
          </a:p>
          <a:p>
            <a:pPr algn="l"/>
            <a:r>
              <a:rPr lang="en-US" sz="2400" dirty="0" smtClean="0"/>
              <a:t/>
            </a:r>
            <a:br>
              <a:rPr lang="en-US" sz="2400" dirty="0" smtClean="0"/>
            </a:br>
            <a:r>
              <a:rPr lang="en-US" sz="2400" dirty="0" smtClean="0"/>
              <a:t/>
            </a:r>
            <a:br>
              <a:rPr lang="en-US" sz="2400" dirty="0" smtClean="0"/>
            </a:br>
            <a:r>
              <a:rPr lang="en-US" sz="2400" dirty="0" smtClean="0"/>
              <a:t> </a:t>
            </a:r>
            <a:endParaRPr lang="en-US" sz="2400" dirty="0"/>
          </a:p>
        </p:txBody>
      </p:sp>
      <p:pic>
        <p:nvPicPr>
          <p:cNvPr id="8" name="Content Placeholder 7" descr="touchblue.jpg"/>
          <p:cNvPicPr>
            <a:picLocks noGrp="1" noChangeAspect="1"/>
          </p:cNvPicPr>
          <p:nvPr>
            <p:ph sz="half" idx="1"/>
          </p:nvPr>
        </p:nvPicPr>
        <p:blipFill>
          <a:blip r:embed="rId2" cstate="print"/>
          <a:stretch>
            <a:fillRect/>
          </a:stretch>
        </p:blipFill>
        <p:spPr>
          <a:xfrm>
            <a:off x="228600" y="1676400"/>
            <a:ext cx="2414016" cy="3657600"/>
          </a:xfrm>
        </p:spPr>
      </p:pic>
      <p:sp>
        <p:nvSpPr>
          <p:cNvPr id="9" name="Rectangle 8"/>
          <p:cNvSpPr>
            <a:spLocks noChangeArrowheads="1"/>
          </p:cNvSpPr>
          <p:nvPr/>
        </p:nvSpPr>
        <p:spPr bwMode="auto">
          <a:xfrm>
            <a:off x="228600" y="5715000"/>
            <a:ext cx="3276600" cy="947738"/>
          </a:xfrm>
          <a:prstGeom prst="rect">
            <a:avLst/>
          </a:prstGeom>
          <a:noFill/>
          <a:ln w="9525">
            <a:noFill/>
            <a:miter lim="800000"/>
            <a:headEnd/>
            <a:tailEnd/>
          </a:ln>
        </p:spPr>
        <p:txBody>
          <a:bodyPr anchor="ctr"/>
          <a:lstStyle/>
          <a:p>
            <a:pPr algn="l"/>
            <a:r>
              <a:rPr lang="en-US" sz="3200" dirty="0" smtClean="0">
                <a:solidFill>
                  <a:srgbClr val="003399"/>
                </a:solidFill>
              </a:rPr>
              <a:t>By</a:t>
            </a:r>
            <a:br>
              <a:rPr lang="en-US" sz="3200" dirty="0" smtClean="0">
                <a:solidFill>
                  <a:srgbClr val="003399"/>
                </a:solidFill>
              </a:rPr>
            </a:br>
            <a:r>
              <a:rPr lang="en-US" sz="3200" dirty="0" smtClean="0">
                <a:solidFill>
                  <a:srgbClr val="003399"/>
                </a:solidFill>
              </a:rPr>
              <a:t>Cynthia Lord</a:t>
            </a:r>
            <a:endParaRPr lang="en-US" sz="4400" dirty="0">
              <a:solidFill>
                <a:srgbClr val="003399"/>
              </a:solidFill>
              <a:latin typeface="Times New Roman" pitchFamily="18" charset="0"/>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4"/>
          <p:cNvSpPr>
            <a:spLocks noGrp="1" noChangeArrowheads="1"/>
          </p:cNvSpPr>
          <p:nvPr>
            <p:ph type="title"/>
          </p:nvPr>
        </p:nvSpPr>
        <p:spPr>
          <a:xfrm>
            <a:off x="0" y="0"/>
            <a:ext cx="9144000" cy="1295400"/>
          </a:xfrm>
        </p:spPr>
        <p:txBody>
          <a:bodyPr/>
          <a:lstStyle/>
          <a:p>
            <a:pPr>
              <a:defRPr/>
            </a:pPr>
            <a:r>
              <a:rPr lang="en-US" b="1" dirty="0" smtClean="0">
                <a:solidFill>
                  <a:srgbClr val="0000CC"/>
                </a:solidFill>
                <a:latin typeface="Albertus Extra Bold" pitchFamily="34" charset="0"/>
              </a:rPr>
              <a:t>We the Children: </a:t>
            </a:r>
            <a:br>
              <a:rPr lang="en-US" b="1" dirty="0" smtClean="0">
                <a:solidFill>
                  <a:srgbClr val="0000CC"/>
                </a:solidFill>
                <a:latin typeface="Albertus Extra Bold" pitchFamily="34" charset="0"/>
              </a:rPr>
            </a:br>
            <a:r>
              <a:rPr lang="en-US" sz="3200" b="1" dirty="0" smtClean="0">
                <a:solidFill>
                  <a:srgbClr val="0000CC"/>
                </a:solidFill>
                <a:latin typeface="Albertus Extra Bold" pitchFamily="34" charset="0"/>
              </a:rPr>
              <a:t>Benjamin Pratt and the Keepers of the School</a:t>
            </a:r>
          </a:p>
        </p:txBody>
      </p:sp>
      <p:pic>
        <p:nvPicPr>
          <p:cNvPr id="4" name="Content Placeholder 3" descr="keepers.jpg"/>
          <p:cNvPicPr>
            <a:picLocks noGrp="1" noChangeAspect="1"/>
          </p:cNvPicPr>
          <p:nvPr>
            <p:ph sz="half" idx="1"/>
          </p:nvPr>
        </p:nvPicPr>
        <p:blipFill>
          <a:blip r:embed="rId2" cstate="print"/>
          <a:stretch>
            <a:fillRect/>
          </a:stretch>
        </p:blipFill>
        <p:spPr>
          <a:xfrm>
            <a:off x="152400" y="1905000"/>
            <a:ext cx="2590800" cy="3524898"/>
          </a:xfrm>
        </p:spPr>
      </p:pic>
      <p:sp>
        <p:nvSpPr>
          <p:cNvPr id="5" name="Rectangle 8"/>
          <p:cNvSpPr>
            <a:spLocks noChangeArrowheads="1"/>
          </p:cNvSpPr>
          <p:nvPr/>
        </p:nvSpPr>
        <p:spPr bwMode="auto">
          <a:xfrm>
            <a:off x="228600" y="5715000"/>
            <a:ext cx="4419600" cy="947738"/>
          </a:xfrm>
          <a:prstGeom prst="rect">
            <a:avLst/>
          </a:prstGeom>
          <a:noFill/>
          <a:ln w="9525">
            <a:noFill/>
            <a:miter lim="800000"/>
            <a:headEnd/>
            <a:tailEnd/>
          </a:ln>
        </p:spPr>
        <p:txBody>
          <a:bodyPr anchor="ctr"/>
          <a:lstStyle/>
          <a:p>
            <a:pPr algn="l"/>
            <a:r>
              <a:rPr lang="en-US" sz="3200" dirty="0" smtClean="0">
                <a:solidFill>
                  <a:srgbClr val="0000CC"/>
                </a:solidFill>
              </a:rPr>
              <a:t>By</a:t>
            </a:r>
            <a:br>
              <a:rPr lang="en-US" sz="3200" dirty="0" smtClean="0">
                <a:solidFill>
                  <a:srgbClr val="0000CC"/>
                </a:solidFill>
              </a:rPr>
            </a:br>
            <a:r>
              <a:rPr lang="en-US" sz="3200" dirty="0" smtClean="0">
                <a:solidFill>
                  <a:srgbClr val="0000CC"/>
                </a:solidFill>
              </a:rPr>
              <a:t>Andrew Clements</a:t>
            </a:r>
            <a:endParaRPr lang="en-US" sz="4400" dirty="0">
              <a:solidFill>
                <a:srgbClr val="0000CC"/>
              </a:solidFill>
              <a:latin typeface="Times New Roman" pitchFamily="18" charset="0"/>
            </a:endParaRPr>
          </a:p>
        </p:txBody>
      </p:sp>
      <p:sp>
        <p:nvSpPr>
          <p:cNvPr id="6" name="Rectangle 5"/>
          <p:cNvSpPr/>
          <p:nvPr/>
        </p:nvSpPr>
        <p:spPr>
          <a:xfrm>
            <a:off x="2895600" y="1371600"/>
            <a:ext cx="6248400" cy="5632311"/>
          </a:xfrm>
          <a:prstGeom prst="rect">
            <a:avLst/>
          </a:prstGeom>
        </p:spPr>
        <p:txBody>
          <a:bodyPr wrap="square">
            <a:spAutoFit/>
          </a:bodyPr>
          <a:lstStyle/>
          <a:p>
            <a:pPr algn="l"/>
            <a:r>
              <a:rPr lang="en-US" sz="2400" dirty="0" smtClean="0"/>
              <a:t>Sixth-grader Benjamin Pratt is about to embark on a mystery. After receiving a peculiar gold coin from the school janitor, who unexpectedly dies, Ben finds himself on a quest to save his elementary school from destruction by developers who want to build an amusement park. When things don't feel quite right, and the new janitor appears to be a spy, Ben and his classmate Jill start digging for answers, hoping that secrets hidden in the building itself will help them to save the school. </a:t>
            </a:r>
            <a:br>
              <a:rPr lang="en-US" sz="2400" dirty="0" smtClean="0"/>
            </a:br>
            <a:r>
              <a:rPr lang="en-US" sz="2400" dirty="0" smtClean="0"/>
              <a:t/>
            </a:r>
            <a:br>
              <a:rPr lang="en-US" sz="2400" dirty="0" smtClean="0"/>
            </a:br>
            <a:r>
              <a:rPr lang="en-US" sz="2400" dirty="0" smtClean="0"/>
              <a:t> </a:t>
            </a:r>
            <a:endParaRPr lang="en-US" sz="2400" dirty="0"/>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4"/>
          <p:cNvSpPr>
            <a:spLocks noGrp="1" noChangeArrowheads="1"/>
          </p:cNvSpPr>
          <p:nvPr>
            <p:ph type="title"/>
          </p:nvPr>
        </p:nvSpPr>
        <p:spPr>
          <a:xfrm>
            <a:off x="0" y="0"/>
            <a:ext cx="9144000" cy="1143000"/>
          </a:xfrm>
        </p:spPr>
        <p:txBody>
          <a:bodyPr/>
          <a:lstStyle/>
          <a:p>
            <a:pPr>
              <a:defRPr/>
            </a:pPr>
            <a:r>
              <a:rPr lang="en-US" b="1" dirty="0" smtClean="0">
                <a:solidFill>
                  <a:srgbClr val="FF6600"/>
                </a:solidFill>
                <a:latin typeface="Albertus Extra Bold" pitchFamily="34" charset="0"/>
              </a:rPr>
              <a:t>Wildfire Run</a:t>
            </a:r>
          </a:p>
        </p:txBody>
      </p:sp>
      <p:sp>
        <p:nvSpPr>
          <p:cNvPr id="28676" name="Text Box 9"/>
          <p:cNvSpPr txBox="1">
            <a:spLocks noChangeArrowheads="1"/>
          </p:cNvSpPr>
          <p:nvPr/>
        </p:nvSpPr>
        <p:spPr bwMode="auto">
          <a:xfrm>
            <a:off x="4038600" y="1295400"/>
            <a:ext cx="4876800" cy="708025"/>
          </a:xfrm>
          <a:prstGeom prst="rect">
            <a:avLst/>
          </a:prstGeom>
          <a:noFill/>
          <a:ln w="9525">
            <a:noFill/>
            <a:miter lim="800000"/>
            <a:headEnd/>
            <a:tailEnd/>
          </a:ln>
        </p:spPr>
        <p:txBody>
          <a:bodyPr>
            <a:spAutoFit/>
          </a:bodyPr>
          <a:lstStyle/>
          <a:p>
            <a:pPr algn="l"/>
            <a:endParaRPr lang="en-US"/>
          </a:p>
        </p:txBody>
      </p:sp>
      <p:pic>
        <p:nvPicPr>
          <p:cNvPr id="9" name="Content Placeholder 8" descr="wildfire.jpg"/>
          <p:cNvPicPr>
            <a:picLocks noGrp="1" noChangeAspect="1"/>
          </p:cNvPicPr>
          <p:nvPr>
            <p:ph sz="half" idx="1"/>
          </p:nvPr>
        </p:nvPicPr>
        <p:blipFill>
          <a:blip r:embed="rId2" cstate="print"/>
          <a:stretch>
            <a:fillRect/>
          </a:stretch>
        </p:blipFill>
        <p:spPr>
          <a:xfrm>
            <a:off x="304800" y="1447800"/>
            <a:ext cx="2654490" cy="4114800"/>
          </a:xfrm>
        </p:spPr>
      </p:pic>
      <p:sp>
        <p:nvSpPr>
          <p:cNvPr id="7" name="Rectangle 6"/>
          <p:cNvSpPr/>
          <p:nvPr/>
        </p:nvSpPr>
        <p:spPr>
          <a:xfrm>
            <a:off x="3276600" y="1371601"/>
            <a:ext cx="5638800" cy="5262979"/>
          </a:xfrm>
          <a:prstGeom prst="rect">
            <a:avLst/>
          </a:prstGeom>
        </p:spPr>
        <p:txBody>
          <a:bodyPr wrap="square">
            <a:spAutoFit/>
          </a:bodyPr>
          <a:lstStyle/>
          <a:p>
            <a:pPr algn="l"/>
            <a:r>
              <a:rPr lang="en-US" sz="2400" dirty="0" smtClean="0"/>
              <a:t>The president's retreat, Camp David, is one of the safest places in the United States. So why can't the President's son, Luke, and his friends Theo and Callie stay there without Secret Service agents constantly hovering over them, watching their every move? And yet, when an earthquake sets off a raging wildfire, causing a chain reaction that wreaks havoc at Camp David, they are suddenly on their own. Now Luke needs a plan.</a:t>
            </a:r>
            <a:br>
              <a:rPr lang="en-US" sz="2400" dirty="0" smtClean="0"/>
            </a:br>
            <a:r>
              <a:rPr lang="en-US" sz="2400" dirty="0" smtClean="0"/>
              <a:t/>
            </a:r>
            <a:br>
              <a:rPr lang="en-US" sz="2400" dirty="0" smtClean="0"/>
            </a:br>
            <a:r>
              <a:rPr lang="en-US" sz="2400" dirty="0" smtClean="0"/>
              <a:t> </a:t>
            </a:r>
            <a:endParaRPr lang="en-US" sz="2400" dirty="0"/>
          </a:p>
        </p:txBody>
      </p:sp>
      <p:sp>
        <p:nvSpPr>
          <p:cNvPr id="8" name="Rectangle 8"/>
          <p:cNvSpPr>
            <a:spLocks noChangeArrowheads="1"/>
          </p:cNvSpPr>
          <p:nvPr/>
        </p:nvSpPr>
        <p:spPr bwMode="auto">
          <a:xfrm>
            <a:off x="228600" y="5715000"/>
            <a:ext cx="3276600" cy="947738"/>
          </a:xfrm>
          <a:prstGeom prst="rect">
            <a:avLst/>
          </a:prstGeom>
          <a:noFill/>
          <a:ln w="9525">
            <a:noFill/>
            <a:miter lim="800000"/>
            <a:headEnd/>
            <a:tailEnd/>
          </a:ln>
        </p:spPr>
        <p:txBody>
          <a:bodyPr anchor="ctr"/>
          <a:lstStyle/>
          <a:p>
            <a:pPr algn="l"/>
            <a:r>
              <a:rPr lang="en-US" sz="3200" dirty="0" smtClean="0">
                <a:solidFill>
                  <a:srgbClr val="FF6600"/>
                </a:solidFill>
              </a:rPr>
              <a:t>By</a:t>
            </a:r>
            <a:br>
              <a:rPr lang="en-US" sz="3200" dirty="0" smtClean="0">
                <a:solidFill>
                  <a:srgbClr val="FF6600"/>
                </a:solidFill>
              </a:rPr>
            </a:br>
            <a:r>
              <a:rPr lang="en-US" sz="3200" dirty="0" smtClean="0">
                <a:solidFill>
                  <a:srgbClr val="FF6600"/>
                </a:solidFill>
              </a:rPr>
              <a:t>Dee Garretson</a:t>
            </a:r>
            <a:endParaRPr lang="en-US" sz="4400" dirty="0">
              <a:solidFill>
                <a:srgbClr val="FF6600"/>
              </a:solidFill>
              <a:latin typeface="Times New Roman" pitchFamily="18" charset="0"/>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4"/>
          <p:cNvSpPr>
            <a:spLocks noGrp="1" noChangeArrowheads="1"/>
          </p:cNvSpPr>
          <p:nvPr>
            <p:ph type="title"/>
          </p:nvPr>
        </p:nvSpPr>
        <p:spPr>
          <a:xfrm>
            <a:off x="0" y="0"/>
            <a:ext cx="9144000" cy="1143000"/>
          </a:xfrm>
        </p:spPr>
        <p:txBody>
          <a:bodyPr/>
          <a:lstStyle/>
          <a:p>
            <a:pPr>
              <a:defRPr/>
            </a:pPr>
            <a:r>
              <a:rPr lang="en-US" b="1" dirty="0" smtClean="0">
                <a:solidFill>
                  <a:srgbClr val="0000CC"/>
                </a:solidFill>
                <a:latin typeface="Albertus Extra Bold" pitchFamily="34" charset="0"/>
              </a:rPr>
              <a:t>Young Zeus</a:t>
            </a:r>
          </a:p>
        </p:txBody>
      </p:sp>
      <p:sp>
        <p:nvSpPr>
          <p:cNvPr id="28676" name="Text Box 9"/>
          <p:cNvSpPr txBox="1">
            <a:spLocks noChangeArrowheads="1"/>
          </p:cNvSpPr>
          <p:nvPr/>
        </p:nvSpPr>
        <p:spPr bwMode="auto">
          <a:xfrm>
            <a:off x="3352800" y="1219200"/>
            <a:ext cx="5410200" cy="461665"/>
          </a:xfrm>
          <a:prstGeom prst="rect">
            <a:avLst/>
          </a:prstGeom>
          <a:noFill/>
          <a:ln w="9525">
            <a:noFill/>
            <a:miter lim="800000"/>
            <a:headEnd/>
            <a:tailEnd/>
          </a:ln>
        </p:spPr>
        <p:txBody>
          <a:bodyPr wrap="square">
            <a:spAutoFit/>
          </a:bodyPr>
          <a:lstStyle/>
          <a:p>
            <a:pPr algn="l"/>
            <a:endParaRPr lang="en-US" sz="2400" dirty="0"/>
          </a:p>
        </p:txBody>
      </p:sp>
      <p:pic>
        <p:nvPicPr>
          <p:cNvPr id="8" name="Content Placeholder 7" descr="zeus.jpg"/>
          <p:cNvPicPr>
            <a:picLocks noGrp="1" noChangeAspect="1"/>
          </p:cNvPicPr>
          <p:nvPr>
            <p:ph sz="half" idx="1"/>
          </p:nvPr>
        </p:nvPicPr>
        <p:blipFill>
          <a:blip r:embed="rId2" cstate="print"/>
          <a:stretch>
            <a:fillRect/>
          </a:stretch>
        </p:blipFill>
        <p:spPr>
          <a:xfrm>
            <a:off x="304800" y="1295400"/>
            <a:ext cx="3236976" cy="4114800"/>
          </a:xfrm>
        </p:spPr>
      </p:pic>
      <p:sp>
        <p:nvSpPr>
          <p:cNvPr id="7" name="Rectangle 6"/>
          <p:cNvSpPr/>
          <p:nvPr/>
        </p:nvSpPr>
        <p:spPr>
          <a:xfrm>
            <a:off x="3810000" y="1295400"/>
            <a:ext cx="5105400" cy="4893647"/>
          </a:xfrm>
          <a:prstGeom prst="rect">
            <a:avLst/>
          </a:prstGeom>
        </p:spPr>
        <p:txBody>
          <a:bodyPr wrap="square">
            <a:spAutoFit/>
          </a:bodyPr>
          <a:lstStyle/>
          <a:p>
            <a:pPr algn="l"/>
            <a:r>
              <a:rPr lang="en-US" sz="2400" dirty="0" smtClean="0"/>
              <a:t>This is the story of how young Zeus, with a little help from six monsters, five Greek gods, an enchanted she-goat, and his mother, became god of gods, master of lightning and thunder, and ruler over all and in doing so, he learned a lot about family. Who knew that having relatives could be so complicated, even for a god?</a:t>
            </a:r>
          </a:p>
          <a:p>
            <a:pPr algn="l"/>
            <a:r>
              <a:rPr lang="en-US" sz="2400" dirty="0" smtClean="0"/>
              <a:t/>
            </a:r>
            <a:br>
              <a:rPr lang="en-US" sz="2400" dirty="0" smtClean="0"/>
            </a:br>
            <a:r>
              <a:rPr lang="en-US" sz="2400" dirty="0" smtClean="0"/>
              <a:t/>
            </a:r>
            <a:br>
              <a:rPr lang="en-US" sz="2400" dirty="0" smtClean="0"/>
            </a:br>
            <a:r>
              <a:rPr lang="en-US" sz="2400" dirty="0" smtClean="0"/>
              <a:t> </a:t>
            </a:r>
            <a:endParaRPr lang="en-US" sz="2400" dirty="0"/>
          </a:p>
        </p:txBody>
      </p:sp>
      <p:sp>
        <p:nvSpPr>
          <p:cNvPr id="9" name="Rectangle 8"/>
          <p:cNvSpPr>
            <a:spLocks noChangeArrowheads="1"/>
          </p:cNvSpPr>
          <p:nvPr/>
        </p:nvSpPr>
        <p:spPr bwMode="auto">
          <a:xfrm>
            <a:off x="228600" y="5715000"/>
            <a:ext cx="3276600" cy="947738"/>
          </a:xfrm>
          <a:prstGeom prst="rect">
            <a:avLst/>
          </a:prstGeom>
          <a:noFill/>
          <a:ln w="9525">
            <a:noFill/>
            <a:miter lim="800000"/>
            <a:headEnd/>
            <a:tailEnd/>
          </a:ln>
        </p:spPr>
        <p:txBody>
          <a:bodyPr anchor="ctr"/>
          <a:lstStyle/>
          <a:p>
            <a:pPr algn="l"/>
            <a:r>
              <a:rPr lang="en-US" sz="3200" dirty="0" smtClean="0">
                <a:solidFill>
                  <a:srgbClr val="0000CC"/>
                </a:solidFill>
              </a:rPr>
              <a:t>By</a:t>
            </a:r>
            <a:br>
              <a:rPr lang="en-US" sz="3200" dirty="0" smtClean="0">
                <a:solidFill>
                  <a:srgbClr val="0000CC"/>
                </a:solidFill>
              </a:rPr>
            </a:br>
            <a:r>
              <a:rPr lang="en-US" sz="3200" dirty="0" smtClean="0">
                <a:solidFill>
                  <a:srgbClr val="0000CC"/>
                </a:solidFill>
              </a:rPr>
              <a:t>Brian G. </a:t>
            </a:r>
            <a:r>
              <a:rPr lang="en-US" sz="3200" dirty="0" err="1" smtClean="0">
                <a:solidFill>
                  <a:srgbClr val="0000CC"/>
                </a:solidFill>
              </a:rPr>
              <a:t>Karas</a:t>
            </a:r>
            <a:endParaRPr lang="en-US" sz="4400" dirty="0">
              <a:solidFill>
                <a:srgbClr val="0000CC"/>
              </a:solidFill>
              <a:latin typeface="Times New Roman" pitchFamily="18" charset="0"/>
            </a:endParaRPr>
          </a:p>
        </p:txBody>
      </p:sp>
    </p:spTree>
  </p:cSld>
  <p:clrMapOvr>
    <a:masterClrMapping/>
  </p:clrMapOvr>
  <p:transition spd="slow"/>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lbertus Extra Bold"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lbertus Extra Bold"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1581</TotalTime>
  <Words>1332</Words>
  <Application>Microsoft Office PowerPoint</Application>
  <PresentationFormat>On-screen Show (4:3)</PresentationFormat>
  <Paragraphs>56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Default Design</vt:lpstr>
      <vt:lpstr>Louisiana Young Readers’ Choice Award</vt:lpstr>
      <vt:lpstr>All Star! : Honus Wagner and the Most Famous Baseball Card Ever  </vt:lpstr>
      <vt:lpstr>The Case of the Lost Boy: The Buddy Files Book 1</vt:lpstr>
      <vt:lpstr>Cloud Tea Monkeys</vt:lpstr>
      <vt:lpstr>Dave the Potter : Artist, Poet, Slave </vt:lpstr>
      <vt:lpstr>The Fantastic Secret of Owen Jester </vt:lpstr>
      <vt:lpstr>The Junkyard Wonders </vt:lpstr>
      <vt:lpstr>Mirror Mirror :  A Book of Reversible Verse </vt:lpstr>
      <vt:lpstr>Of Thee I Sing :  A Letter To My Daughters </vt:lpstr>
      <vt:lpstr>Ol' Bloo's Boogie-Woogie Band  and Blues Ensemble </vt:lpstr>
      <vt:lpstr>The PS Brothers </vt:lpstr>
      <vt:lpstr>The Shadows The Books of Elsewhere</vt:lpstr>
      <vt:lpstr>Touch Blue</vt:lpstr>
      <vt:lpstr>We the Children:  Benjamin Pratt and the Keepers of the School</vt:lpstr>
      <vt:lpstr>Wildfire Run</vt:lpstr>
      <vt:lpstr>Young Zeus</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Kirsten M. Steintrager</dc:creator>
  <cp:lastModifiedBy>Angela Germany</cp:lastModifiedBy>
  <cp:revision>123</cp:revision>
  <dcterms:created xsi:type="dcterms:W3CDTF">2005-05-21T18:10:15Z</dcterms:created>
  <dcterms:modified xsi:type="dcterms:W3CDTF">2012-02-27T15:44:34Z</dcterms:modified>
</cp:coreProperties>
</file>