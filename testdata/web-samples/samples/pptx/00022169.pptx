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Default Extension="wmv" ContentType="video/x-ms-wmv"/>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Default Extension="wav" ContentType="audio/wav"/>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theme/theme3.xml" ContentType="application/vnd.openxmlformats-officedocument.them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0" r:id="rId1"/>
  </p:sldMasterIdLst>
  <p:notesMasterIdLst>
    <p:notesMasterId r:id="rId45"/>
  </p:notesMasterIdLst>
  <p:handoutMasterIdLst>
    <p:handoutMasterId r:id="rId46"/>
  </p:handoutMasterIdLst>
  <p:sldIdLst>
    <p:sldId id="266" r:id="rId2"/>
    <p:sldId id="320" r:id="rId3"/>
    <p:sldId id="321" r:id="rId4"/>
    <p:sldId id="322" r:id="rId5"/>
    <p:sldId id="323" r:id="rId6"/>
    <p:sldId id="501" r:id="rId7"/>
    <p:sldId id="350" r:id="rId8"/>
    <p:sldId id="297" r:id="rId9"/>
    <p:sldId id="296" r:id="rId10"/>
    <p:sldId id="324" r:id="rId11"/>
    <p:sldId id="275" r:id="rId12"/>
    <p:sldId id="325" r:id="rId13"/>
    <p:sldId id="302" r:id="rId14"/>
    <p:sldId id="278" r:id="rId15"/>
    <p:sldId id="498" r:id="rId16"/>
    <p:sldId id="299" r:id="rId17"/>
    <p:sldId id="298" r:id="rId18"/>
    <p:sldId id="397" r:id="rId19"/>
    <p:sldId id="499" r:id="rId20"/>
    <p:sldId id="500" r:id="rId21"/>
    <p:sldId id="396" r:id="rId22"/>
    <p:sldId id="326" r:id="rId23"/>
    <p:sldId id="352" r:id="rId24"/>
    <p:sldId id="353" r:id="rId25"/>
    <p:sldId id="381" r:id="rId26"/>
    <p:sldId id="404" r:id="rId27"/>
    <p:sldId id="440" r:id="rId28"/>
    <p:sldId id="284" r:id="rId29"/>
    <p:sldId id="285" r:id="rId30"/>
    <p:sldId id="342" r:id="rId31"/>
    <p:sldId id="495" r:id="rId32"/>
    <p:sldId id="496" r:id="rId33"/>
    <p:sldId id="503" r:id="rId34"/>
    <p:sldId id="290" r:id="rId35"/>
    <p:sldId id="411" r:id="rId36"/>
    <p:sldId id="398" r:id="rId37"/>
    <p:sldId id="399" r:id="rId38"/>
    <p:sldId id="400" r:id="rId39"/>
    <p:sldId id="401" r:id="rId40"/>
    <p:sldId id="402" r:id="rId41"/>
    <p:sldId id="403" r:id="rId42"/>
    <p:sldId id="301" r:id="rId43"/>
    <p:sldId id="336" r:id="rId44"/>
  </p:sldIdLst>
  <p:sldSz cx="9144000" cy="6858000" type="screen4x3"/>
  <p:notesSz cx="7010400" cy="9296400"/>
  <p:embeddedFontLst>
    <p:embeddedFont>
      <p:font typeface="Comic Sans MS" pitchFamily="66" charset="0"/>
      <p:regular r:id="rId47"/>
      <p:bold r:id="rId48"/>
    </p:embeddedFont>
    <p:embeddedFont>
      <p:font typeface="Calibri" pitchFamily="34" charset="0"/>
      <p:regular r:id="rId49"/>
      <p:bold r:id="rId50"/>
      <p:italic r:id="rId51"/>
      <p:boldItalic r:id="rId52"/>
    </p:embeddedFont>
    <p:embeddedFont>
      <p:font typeface="Arial Black" pitchFamily="34" charset="0"/>
      <p:bold r:id="rId53"/>
    </p:embeddedFont>
  </p:embeddedFont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 initials="" lastIdx="7" clrIdx="0"/>
  <p:cmAuthor id="1" name="CMORE" initials=""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a:srgbClr val="00FF00"/>
    <a:srgbClr val="311997"/>
    <a:srgbClr val="66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24" autoAdjust="0"/>
    <p:restoredTop sz="94660" autoAdjust="0"/>
  </p:normalViewPr>
  <p:slideViewPr>
    <p:cSldViewPr>
      <p:cViewPr varScale="1">
        <p:scale>
          <a:sx n="92" d="100"/>
          <a:sy n="92" d="100"/>
        </p:scale>
        <p:origin x="-414" y="-102"/>
      </p:cViewPr>
      <p:guideLst>
        <p:guide orient="horz" pos="2160"/>
        <p:guide pos="2880"/>
      </p:guideLst>
    </p:cSldViewPr>
  </p:slideViewPr>
  <p:outlineViewPr>
    <p:cViewPr>
      <p:scale>
        <a:sx n="33" d="100"/>
        <a:sy n="33" d="100"/>
      </p:scale>
      <p:origin x="0" y="4518"/>
    </p:cViewPr>
  </p:outlineViewPr>
  <p:notesTextViewPr>
    <p:cViewPr>
      <p:scale>
        <a:sx n="100" d="100"/>
        <a:sy n="100" d="100"/>
      </p:scale>
      <p:origin x="0" y="0"/>
    </p:cViewPr>
  </p:notesTextViewPr>
  <p:sorterViewPr>
    <p:cViewPr>
      <p:scale>
        <a:sx n="66" d="100"/>
        <a:sy n="66" d="100"/>
      </p:scale>
      <p:origin x="0" y="249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3177" tIns="46589" rIns="93177" bIns="46589" rtlCol="0"/>
          <a:lstStyle>
            <a:lvl1pPr algn="r">
              <a:defRPr sz="1200"/>
            </a:lvl1pPr>
          </a:lstStyle>
          <a:p>
            <a:pPr>
              <a:defRPr/>
            </a:pPr>
            <a:fld id="{F94E919C-17E8-4E85-BEDC-E407FFC42D15}" type="datetimeFigureOut">
              <a:rPr lang="en-US"/>
              <a:pPr>
                <a:defRPr/>
              </a:pPr>
              <a:t>9/18/2012</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3177" tIns="46589" rIns="93177" bIns="46589" rtlCol="0" anchor="b"/>
          <a:lstStyle>
            <a:lvl1pPr algn="r">
              <a:defRPr sz="1200"/>
            </a:lvl1pPr>
          </a:lstStyle>
          <a:p>
            <a:pPr>
              <a:defRPr/>
            </a:pPr>
            <a:fld id="{93CF0705-6BCA-40D3-A6AB-00902D9E9F38}" type="slidenum">
              <a:rPr lang="en-US"/>
              <a:pPr>
                <a:defRPr/>
              </a:pPr>
              <a:t>‹#›</a:t>
            </a:fld>
            <a:endParaRPr lang="en-US"/>
          </a:p>
        </p:txBody>
      </p:sp>
    </p:spTree>
    <p:extLst>
      <p:ext uri="{BB962C8B-B14F-4D97-AF65-F5344CB8AC3E}">
        <p14:creationId xmlns:p14="http://schemas.microsoft.com/office/powerpoint/2010/main" xmlns="" val="790371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cs typeface="+mn-cs"/>
              </a:defRPr>
            </a:lvl1pPr>
          </a:lstStyle>
          <a:p>
            <a:pPr>
              <a:defRPr/>
            </a:pPr>
            <a:fld id="{6749EAE4-0B69-4AED-927D-8A231E8A33D8}" type="datetimeFigureOut">
              <a:rPr lang="en-US"/>
              <a:pPr>
                <a:defRPr/>
              </a:pPr>
              <a:t>9/18/2012</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cs typeface="+mn-cs"/>
              </a:defRPr>
            </a:lvl1pPr>
          </a:lstStyle>
          <a:p>
            <a:pPr>
              <a:defRPr/>
            </a:pPr>
            <a:fld id="{C1234082-3ACE-48B6-9232-C35BE534C90F}" type="slidenum">
              <a:rPr lang="en-US"/>
              <a:pPr>
                <a:defRPr/>
              </a:pPr>
              <a:t>‹#›</a:t>
            </a:fld>
            <a:endParaRPr lang="en-US"/>
          </a:p>
        </p:txBody>
      </p:sp>
    </p:spTree>
    <p:extLst>
      <p:ext uri="{BB962C8B-B14F-4D97-AF65-F5344CB8AC3E}">
        <p14:creationId xmlns:p14="http://schemas.microsoft.com/office/powerpoint/2010/main" xmlns="" val="18023996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1814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We suggest viewing this powerpoint as a slideshow (rather than just clicking through the slides) because it has animations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5"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28386"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r>
              <a:rPr lang="en-US" smtClean="0"/>
              <a:t>The Hawaii Institute of Marine Biology (HIMB) on Coconut Island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3"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30434"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r>
              <a:rPr lang="en-US" smtClean="0"/>
              <a:t>The Hawaii Institute of Marine Biology works in partnership with the </a:t>
            </a:r>
            <a:r>
              <a:rPr lang="en-US" smtClean="0">
                <a:solidFill>
                  <a:schemeClr val="accent2"/>
                </a:solidFill>
                <a:latin typeface="Comic Sans MS" pitchFamily="66" charset="0"/>
              </a:rPr>
              <a:t>Papahānaumokuākea Marine National Monument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1"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32482"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r>
              <a:rPr lang="en-US" smtClean="0"/>
              <a:t>Researchers at sea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29"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34530"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r>
              <a:rPr lang="en-US" smtClean="0"/>
              <a:t>Researchers board smaller craft in </a:t>
            </a:r>
            <a:r>
              <a:rPr lang="en-US" smtClean="0">
                <a:solidFill>
                  <a:schemeClr val="accent2"/>
                </a:solidFill>
                <a:latin typeface="Comic Sans MS" pitchFamily="66" charset="0"/>
              </a:rPr>
              <a:t>Papahānaumokuākea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3657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Center for Microbial Oceanography: Research and Education (C-MORE) animation showing an artist’s view of microbes in the ocean.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5" name="Rectangle 2"/>
          <p:cNvSpPr>
            <a:spLocks noGrp="1" noRot="1" noChangeAspect="1" noTextEdit="1"/>
          </p:cNvSpPr>
          <p:nvPr>
            <p:ph type="sldImg"/>
          </p:nvPr>
        </p:nvSpPr>
        <p:spPr bwMode="auto">
          <a:noFill/>
          <a:ln>
            <a:solidFill>
              <a:srgbClr val="000000"/>
            </a:solidFill>
            <a:miter lim="800000"/>
            <a:headEnd/>
            <a:tailEnd/>
          </a:ln>
        </p:spPr>
      </p:sp>
      <p:sp>
        <p:nvSpPr>
          <p:cNvPr id="538626"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4067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For an online version of this activity, go to</a:t>
            </a:r>
          </a:p>
          <a:p>
            <a:pPr eaLnBrk="1" hangingPunct="1">
              <a:spcBef>
                <a:spcPct val="0"/>
              </a:spcBef>
            </a:pPr>
            <a:r>
              <a:rPr lang="en-US" smtClean="0">
                <a:latin typeface="Arial" charset="0"/>
              </a:rPr>
              <a:t> http://cmore.soest.hawaii.edu/education/kidskorner/ur_q1.htm</a:t>
            </a:r>
          </a:p>
          <a:p>
            <a:pPr eaLnBrk="1" hangingPunct="1">
              <a:spcBef>
                <a:spcPct val="0"/>
              </a:spcBef>
            </a:pPr>
            <a:endParaRPr lang="en-US" smtClean="0">
              <a:latin typeface="Arial" charset="0"/>
            </a:endParaRPr>
          </a:p>
          <a:p>
            <a:pPr eaLnBrk="1" hangingPunct="1">
              <a:spcBef>
                <a:spcPct val="0"/>
              </a:spcBef>
            </a:pPr>
            <a:r>
              <a:rPr lang="en-US" smtClean="0">
                <a:latin typeface="Arial" charset="0"/>
              </a:rPr>
              <a:t>We’ve talked a little bit about microbes, but who can tell me what a microbe is? Small (microscopic), single-celled;</a:t>
            </a:r>
          </a:p>
          <a:p>
            <a:pPr eaLnBrk="1" hangingPunct="1">
              <a:spcBef>
                <a:spcPct val="0"/>
              </a:spcBef>
            </a:pPr>
            <a:r>
              <a:rPr lang="en-US" smtClean="0">
                <a:latin typeface="Arial" charset="0"/>
              </a:rPr>
              <a:t>Examples: Viruses, bacteria, algae,  </a:t>
            </a:r>
          </a:p>
          <a:p>
            <a:pPr eaLnBrk="1" hangingPunct="1">
              <a:spcBef>
                <a:spcPct val="0"/>
              </a:spcBef>
            </a:pPr>
            <a:r>
              <a:rPr lang="en-US" smtClean="0">
                <a:latin typeface="Arial" charset="0"/>
              </a:rPr>
              <a:t>Microbes are super abundant: If you fill a coke can with sea water, it contains hundreds of millions of microbes</a:t>
            </a:r>
          </a:p>
          <a:p>
            <a:pPr eaLnBrk="1" hangingPunct="1">
              <a:spcBef>
                <a:spcPct val="0"/>
              </a:spcBef>
            </a:pPr>
            <a:r>
              <a:rPr lang="en-US" smtClean="0">
                <a:latin typeface="Arial" charset="0"/>
              </a:rPr>
              <a:t>But that is okay -- most microbes are good for us</a:t>
            </a:r>
          </a:p>
          <a:p>
            <a:pPr eaLnBrk="1" hangingPunct="1">
              <a:spcBef>
                <a:spcPct val="0"/>
              </a:spcBef>
            </a:pPr>
            <a:r>
              <a:rPr lang="en-US" smtClean="0">
                <a:latin typeface="Arial" charset="0"/>
              </a:rPr>
              <a:t>Now we are going to find out what kind of microbe we are each most similar to. </a:t>
            </a:r>
            <a:br>
              <a:rPr lang="en-US" smtClean="0">
                <a:latin typeface="Arial" charset="0"/>
              </a:rPr>
            </a:br>
            <a:r>
              <a:rPr lang="en-US" smtClean="0">
                <a:latin typeface="Arial" charset="0"/>
              </a:rPr>
              <a:t>Afterwards: read the description -- did anyone’s microbe do anything bad? (probably not)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4272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For an online version of this activity, go to</a:t>
            </a:r>
          </a:p>
          <a:p>
            <a:pPr eaLnBrk="1" hangingPunct="1">
              <a:spcBef>
                <a:spcPct val="0"/>
              </a:spcBef>
            </a:pPr>
            <a:r>
              <a:rPr lang="en-US" smtClean="0">
                <a:latin typeface="Arial" charset="0"/>
              </a:rPr>
              <a:t> http://cmore.soest.hawaii.edu/education/kidskorner/ur_q1.htm</a:t>
            </a:r>
          </a:p>
          <a:p>
            <a:pPr eaLnBrk="1" hangingPunct="1">
              <a:spcBef>
                <a:spcPct val="0"/>
              </a:spcBef>
            </a:pPr>
            <a:endParaRPr lang="en-US" smtClean="0">
              <a:latin typeface="Arial" charset="0"/>
            </a:endParaRPr>
          </a:p>
          <a:p>
            <a:pPr eaLnBrk="1" hangingPunct="1">
              <a:spcBef>
                <a:spcPct val="0"/>
              </a:spcBef>
            </a:pPr>
            <a:r>
              <a:rPr lang="en-US" smtClean="0">
                <a:latin typeface="Arial" charset="0"/>
              </a:rPr>
              <a:t>We’ve talked a little bit about microbes, but who can tell me what a microbe is? Small (microscopic), single-celled;</a:t>
            </a:r>
          </a:p>
          <a:p>
            <a:pPr eaLnBrk="1" hangingPunct="1">
              <a:spcBef>
                <a:spcPct val="0"/>
              </a:spcBef>
            </a:pPr>
            <a:r>
              <a:rPr lang="en-US" smtClean="0">
                <a:latin typeface="Arial" charset="0"/>
              </a:rPr>
              <a:t>Examples: Viruses, bacteria, algae,  </a:t>
            </a:r>
          </a:p>
          <a:p>
            <a:pPr eaLnBrk="1" hangingPunct="1">
              <a:spcBef>
                <a:spcPct val="0"/>
              </a:spcBef>
            </a:pPr>
            <a:r>
              <a:rPr lang="en-US" smtClean="0">
                <a:latin typeface="Arial" charset="0"/>
              </a:rPr>
              <a:t>Microbes are super abundant: If you fill a coke can with sea water, it contains hundreds of millions of microbes</a:t>
            </a:r>
          </a:p>
          <a:p>
            <a:pPr eaLnBrk="1" hangingPunct="1">
              <a:spcBef>
                <a:spcPct val="0"/>
              </a:spcBef>
            </a:pPr>
            <a:r>
              <a:rPr lang="en-US" smtClean="0">
                <a:latin typeface="Arial" charset="0"/>
              </a:rPr>
              <a:t>But that is okay -- most microbes are good for us</a:t>
            </a:r>
          </a:p>
          <a:p>
            <a:pPr eaLnBrk="1" hangingPunct="1">
              <a:spcBef>
                <a:spcPct val="0"/>
              </a:spcBef>
            </a:pPr>
            <a:r>
              <a:rPr lang="en-US" smtClean="0">
                <a:latin typeface="Arial" charset="0"/>
              </a:rPr>
              <a:t>Now we are going to find out what kind of microbe we are each most similar to. </a:t>
            </a:r>
            <a:br>
              <a:rPr lang="en-US" smtClean="0">
                <a:latin typeface="Arial" charset="0"/>
              </a:rPr>
            </a:br>
            <a:r>
              <a:rPr lang="en-US" smtClean="0">
                <a:latin typeface="Arial" charset="0"/>
              </a:rPr>
              <a:t>Afterwards: read the description -- did anyone’s microbe do anything bad? (probably not)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69"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44770"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Rectangle 2"/>
          <p:cNvSpPr>
            <a:spLocks noGrp="1" noRot="1" noChangeAspect="1" noTextEdit="1"/>
          </p:cNvSpPr>
          <p:nvPr>
            <p:ph type="sldImg"/>
          </p:nvPr>
        </p:nvSpPr>
        <p:spPr bwMode="auto">
          <a:noFill/>
          <a:ln>
            <a:solidFill>
              <a:srgbClr val="000000"/>
            </a:solidFill>
            <a:miter lim="800000"/>
            <a:headEnd/>
            <a:tailEnd/>
          </a:ln>
        </p:spPr>
      </p:sp>
      <p:sp>
        <p:nvSpPr>
          <p:cNvPr id="546818"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5"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48866"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3" name="Rectangle 2"/>
          <p:cNvSpPr>
            <a:spLocks noGrp="1" noRot="1" noChangeAspect="1" noTextEdit="1"/>
          </p:cNvSpPr>
          <p:nvPr>
            <p:ph type="sldImg"/>
          </p:nvPr>
        </p:nvSpPr>
        <p:spPr bwMode="auto">
          <a:noFill/>
          <a:ln>
            <a:solidFill>
              <a:srgbClr val="000000"/>
            </a:solidFill>
            <a:miter lim="800000"/>
            <a:headEnd/>
            <a:tailEnd/>
          </a:ln>
        </p:spPr>
      </p:sp>
      <p:sp>
        <p:nvSpPr>
          <p:cNvPr id="55091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1" name="Rectangle 2"/>
          <p:cNvSpPr>
            <a:spLocks noGrp="1" noRot="1" noChangeAspect="1" noTextEdit="1"/>
          </p:cNvSpPr>
          <p:nvPr>
            <p:ph type="sldImg"/>
          </p:nvPr>
        </p:nvSpPr>
        <p:spPr bwMode="auto">
          <a:noFill/>
          <a:ln>
            <a:solidFill>
              <a:srgbClr val="000000"/>
            </a:solidFill>
            <a:miter lim="800000"/>
            <a:headEnd/>
            <a:tailEnd/>
          </a:ln>
        </p:spPr>
      </p:sp>
      <p:sp>
        <p:nvSpPr>
          <p:cNvPr id="552962"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3" name="Rectangle 2"/>
          <p:cNvSpPr>
            <a:spLocks noGrp="1" noRot="1" noChangeAspect="1" noTextEdit="1"/>
          </p:cNvSpPr>
          <p:nvPr>
            <p:ph type="sldImg"/>
          </p:nvPr>
        </p:nvSpPr>
        <p:spPr bwMode="auto">
          <a:noFill/>
          <a:ln>
            <a:solidFill>
              <a:srgbClr val="000000"/>
            </a:solidFill>
            <a:miter lim="800000"/>
            <a:headEnd/>
            <a:tailEnd/>
          </a:ln>
        </p:spPr>
      </p:sp>
      <p:sp>
        <p:nvSpPr>
          <p:cNvPr id="55091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09" name="Rectangle 2"/>
          <p:cNvSpPr>
            <a:spLocks noGrp="1" noRot="1" noChangeAspect="1" noTextEdit="1"/>
          </p:cNvSpPr>
          <p:nvPr>
            <p:ph type="sldImg"/>
          </p:nvPr>
        </p:nvSpPr>
        <p:spPr bwMode="auto">
          <a:noFill/>
          <a:ln>
            <a:solidFill>
              <a:srgbClr val="000000"/>
            </a:solidFill>
            <a:miter lim="800000"/>
            <a:headEnd/>
            <a:tailEnd/>
          </a:ln>
        </p:spPr>
      </p:sp>
      <p:sp>
        <p:nvSpPr>
          <p:cNvPr id="555010"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7" name="Rectangle 2"/>
          <p:cNvSpPr>
            <a:spLocks noGrp="1" noRot="1" noChangeAspect="1" noTextEdit="1"/>
          </p:cNvSpPr>
          <p:nvPr>
            <p:ph type="sldImg"/>
          </p:nvPr>
        </p:nvSpPr>
        <p:spPr bwMode="auto">
          <a:noFill/>
          <a:ln>
            <a:solidFill>
              <a:srgbClr val="000000"/>
            </a:solidFill>
            <a:miter lim="800000"/>
            <a:headEnd/>
            <a:tailEnd/>
          </a:ln>
        </p:spPr>
      </p:sp>
      <p:sp>
        <p:nvSpPr>
          <p:cNvPr id="557058"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5910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There are many exciting careers in oceanography, both on ships and in the lab.</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5910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There are many exciting careers in oceanography, both on ships and in the lab.</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Rectangle 2"/>
          <p:cNvSpPr>
            <a:spLocks noGrp="1" noRot="1" noChangeAspect="1" noTextEdit="1"/>
          </p:cNvSpPr>
          <p:nvPr>
            <p:ph type="sldImg"/>
          </p:nvPr>
        </p:nvSpPr>
        <p:spPr bwMode="auto">
          <a:noFill/>
          <a:ln>
            <a:solidFill>
              <a:srgbClr val="000000"/>
            </a:solidFill>
            <a:miter lim="800000"/>
            <a:headEnd/>
            <a:tailEnd/>
          </a:ln>
        </p:spPr>
      </p:sp>
      <p:sp>
        <p:nvSpPr>
          <p:cNvPr id="546818"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3" name="Rectangle 2"/>
          <p:cNvSpPr>
            <a:spLocks noGrp="1" noRot="1" noChangeAspect="1" noTextEdit="1"/>
          </p:cNvSpPr>
          <p:nvPr>
            <p:ph type="sldImg"/>
          </p:nvPr>
        </p:nvSpPr>
        <p:spPr bwMode="auto">
          <a:noFill/>
          <a:ln>
            <a:solidFill>
              <a:srgbClr val="000000"/>
            </a:solidFill>
            <a:miter lim="800000"/>
            <a:headEnd/>
            <a:tailEnd/>
          </a:ln>
        </p:spPr>
      </p:sp>
      <p:sp>
        <p:nvSpPr>
          <p:cNvPr id="561154"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1"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63202"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49" name="Rectangle 2"/>
          <p:cNvSpPr>
            <a:spLocks noGrp="1" noRot="1" noChangeAspect="1" noTextEdit="1"/>
          </p:cNvSpPr>
          <p:nvPr>
            <p:ph type="sldImg"/>
          </p:nvPr>
        </p:nvSpPr>
        <p:spPr bwMode="auto">
          <a:noFill/>
          <a:ln>
            <a:solidFill>
              <a:srgbClr val="000000"/>
            </a:solidFill>
            <a:miter lim="800000"/>
            <a:headEnd/>
            <a:tailEnd/>
          </a:ln>
        </p:spPr>
      </p:sp>
      <p:sp>
        <p:nvSpPr>
          <p:cNvPr id="565250"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7" name="Rectangle 2"/>
          <p:cNvSpPr>
            <a:spLocks noGrp="1" noRot="1" noChangeAspect="1" noTextEdit="1"/>
          </p:cNvSpPr>
          <p:nvPr>
            <p:ph type="sldImg"/>
          </p:nvPr>
        </p:nvSpPr>
        <p:spPr bwMode="auto">
          <a:noFill/>
          <a:ln>
            <a:solidFill>
              <a:srgbClr val="000000"/>
            </a:solidFill>
            <a:miter lim="800000"/>
            <a:headEnd/>
            <a:tailEnd/>
          </a:ln>
        </p:spPr>
      </p:sp>
      <p:sp>
        <p:nvSpPr>
          <p:cNvPr id="567298"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5" name="Rectangle 2"/>
          <p:cNvSpPr>
            <a:spLocks noGrp="1" noRot="1" noChangeAspect="1" noTextEdit="1"/>
          </p:cNvSpPr>
          <p:nvPr>
            <p:ph type="sldImg"/>
          </p:nvPr>
        </p:nvSpPr>
        <p:spPr bwMode="auto">
          <a:noFill/>
          <a:ln>
            <a:solidFill>
              <a:srgbClr val="000000"/>
            </a:solidFill>
            <a:miter lim="800000"/>
            <a:headEnd/>
            <a:tailEnd/>
          </a:ln>
        </p:spPr>
      </p:sp>
      <p:sp>
        <p:nvSpPr>
          <p:cNvPr id="569346"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3"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71394"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7344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For an online version of this activity, go to</a:t>
            </a:r>
          </a:p>
          <a:p>
            <a:pPr eaLnBrk="1" hangingPunct="1">
              <a:spcBef>
                <a:spcPct val="0"/>
              </a:spcBef>
            </a:pPr>
            <a:r>
              <a:rPr lang="en-US" smtClean="0">
                <a:latin typeface="Arial" charset="0"/>
              </a:rPr>
              <a:t> http://cmore.soest.hawaii.edu/education/kidskorner/ur_q1.htm</a:t>
            </a:r>
          </a:p>
          <a:p>
            <a:pPr eaLnBrk="1" hangingPunct="1">
              <a:spcBef>
                <a:spcPct val="0"/>
              </a:spcBef>
            </a:pPr>
            <a:endParaRPr lang="en-US" smtClean="0">
              <a:latin typeface="Arial" charset="0"/>
            </a:endParaRPr>
          </a:p>
          <a:p>
            <a:pPr eaLnBrk="1" hangingPunct="1">
              <a:spcBef>
                <a:spcPct val="0"/>
              </a:spcBef>
            </a:pPr>
            <a:r>
              <a:rPr lang="en-US" smtClean="0">
                <a:latin typeface="Arial" charset="0"/>
              </a:rPr>
              <a:t>We’ve talked a little bit about microbes, but who can tell me what a microbe is? Small (microscopic), single-celled;</a:t>
            </a:r>
          </a:p>
          <a:p>
            <a:pPr eaLnBrk="1" hangingPunct="1">
              <a:spcBef>
                <a:spcPct val="0"/>
              </a:spcBef>
            </a:pPr>
            <a:r>
              <a:rPr lang="en-US" smtClean="0">
                <a:latin typeface="Arial" charset="0"/>
              </a:rPr>
              <a:t>Examples: Viruses, bacteria, algae,  </a:t>
            </a:r>
          </a:p>
          <a:p>
            <a:pPr eaLnBrk="1" hangingPunct="1">
              <a:spcBef>
                <a:spcPct val="0"/>
              </a:spcBef>
            </a:pPr>
            <a:r>
              <a:rPr lang="en-US" smtClean="0">
                <a:latin typeface="Arial" charset="0"/>
              </a:rPr>
              <a:t>Microbes are super abundant: If you fill a coke can with sea water, it contains hundreds of millions of microbes</a:t>
            </a:r>
          </a:p>
          <a:p>
            <a:pPr eaLnBrk="1" hangingPunct="1">
              <a:spcBef>
                <a:spcPct val="0"/>
              </a:spcBef>
            </a:pPr>
            <a:r>
              <a:rPr lang="en-US" smtClean="0">
                <a:latin typeface="Arial" charset="0"/>
              </a:rPr>
              <a:t>But that is okay -- most microbes are good for us</a:t>
            </a:r>
          </a:p>
          <a:p>
            <a:pPr eaLnBrk="1" hangingPunct="1">
              <a:spcBef>
                <a:spcPct val="0"/>
              </a:spcBef>
            </a:pPr>
            <a:r>
              <a:rPr lang="en-US" smtClean="0">
                <a:latin typeface="Arial" charset="0"/>
              </a:rPr>
              <a:t>Now we are going to find out what kind of microbe we are each most similar to. </a:t>
            </a:r>
            <a:br>
              <a:rPr lang="en-US" smtClean="0">
                <a:latin typeface="Arial" charset="0"/>
              </a:rPr>
            </a:br>
            <a:r>
              <a:rPr lang="en-US" smtClean="0">
                <a:latin typeface="Arial" charset="0"/>
              </a:rPr>
              <a:t>Afterwards: read the description -- did anyone’s microbe do anything bad? (probably not)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89" name="Slide Image Placeholder 1"/>
          <p:cNvSpPr>
            <a:spLocks noGrp="1" noRot="1" noChangeAspect="1" noTextEdit="1"/>
          </p:cNvSpPr>
          <p:nvPr>
            <p:ph type="sldImg"/>
          </p:nvPr>
        </p:nvSpPr>
        <p:spPr bwMode="auto">
          <a:noFill/>
          <a:ln>
            <a:solidFill>
              <a:srgbClr val="000000"/>
            </a:solidFill>
            <a:miter lim="800000"/>
            <a:headEnd/>
            <a:tailEnd/>
          </a:ln>
        </p:spPr>
      </p:sp>
      <p:sp>
        <p:nvSpPr>
          <p:cNvPr id="5754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Photos from left: A) Coccolithophore; B) Radiolaria  ; C) Dinoflagellate ; D) diatoms</a:t>
            </a:r>
          </a:p>
          <a:p>
            <a:pPr eaLnBrk="1" hangingPunct="1">
              <a:spcBef>
                <a:spcPct val="0"/>
              </a:spcBef>
            </a:pPr>
            <a:r>
              <a:rPr lang="en-US" smtClean="0">
                <a:latin typeface="Arial" charset="0"/>
              </a:rPr>
              <a:t>Some microbes have shells that help protect them from predators.  For example, the coccolithophores (A - left) have armor made of calcium carbonate plates.  Other microbes have long spines to protect themselves from predators (B, C).  Long spines also increase drag.  Increasing drag is important because microbes that photosynthesize need to stay in the upper layers of the ocean where there is sunlight.  If they sink too far, there will not be enough light for them to photosynthesize and produce energy.  Another way to increase drag is to form colonies, such as chains (D) or puffs (like trichodesmium, not shown)</a:t>
            </a:r>
          </a:p>
          <a:p>
            <a:pPr eaLnBrk="1" hangingPunct="1">
              <a:spcBef>
                <a:spcPct val="0"/>
              </a:spcBef>
            </a:pPr>
            <a:endParaRPr lang="en-US" smtClean="0">
              <a:latin typeface="Arial" charset="0"/>
            </a:endParaRPr>
          </a:p>
        </p:txBody>
      </p:sp>
      <p:sp>
        <p:nvSpPr>
          <p:cNvPr id="575491" name="Slide Number Placeholder 3"/>
          <p:cNvSpPr txBox="1">
            <a:spLocks noGrp="1"/>
          </p:cNvSpPr>
          <p:nvPr/>
        </p:nvSpPr>
        <p:spPr bwMode="auto">
          <a:xfrm>
            <a:off x="3970338" y="8828088"/>
            <a:ext cx="3038475" cy="466725"/>
          </a:xfrm>
          <a:prstGeom prst="rect">
            <a:avLst/>
          </a:prstGeom>
          <a:noFill/>
          <a:ln w="9525">
            <a:noFill/>
            <a:miter lim="800000"/>
            <a:headEnd/>
            <a:tailEnd/>
          </a:ln>
        </p:spPr>
        <p:txBody>
          <a:bodyPr lIns="93161" tIns="46582" rIns="93161" bIns="46582" anchor="b"/>
          <a:lstStyle/>
          <a:p>
            <a:pPr defTabSz="928688"/>
            <a:fld id="{B68A2454-A00C-47EB-8C60-13A9B18BC2CC}" type="slidenum">
              <a:rPr lang="en-US" sz="1100">
                <a:latin typeface="Calibri" pitchFamily="34" charset="0"/>
              </a:rPr>
              <a:pPr defTabSz="928688"/>
              <a:t>29</a:t>
            </a:fld>
            <a:endParaRPr lang="en-US" sz="1100">
              <a:latin typeface="Calibri"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7"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77538"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5"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79586"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3"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581634"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1" name="Rectangle 7"/>
          <p:cNvSpPr txBox="1">
            <a:spLocks noGrp="1" noChangeArrowheads="1"/>
          </p:cNvSpPr>
          <p:nvPr/>
        </p:nvSpPr>
        <p:spPr bwMode="auto">
          <a:xfrm>
            <a:off x="3970338" y="8828088"/>
            <a:ext cx="3038475" cy="466725"/>
          </a:xfrm>
          <a:prstGeom prst="rect">
            <a:avLst/>
          </a:prstGeom>
          <a:noFill/>
          <a:ln w="9525">
            <a:noFill/>
            <a:miter lim="800000"/>
            <a:headEnd/>
            <a:tailEnd/>
          </a:ln>
        </p:spPr>
        <p:txBody>
          <a:bodyPr lIns="93161" tIns="46582" rIns="93161" bIns="46582" anchor="b"/>
          <a:lstStyle/>
          <a:p>
            <a:pPr algn="r" defTabSz="928688"/>
            <a:fld id="{7BC901CD-FB46-49C6-BAC6-F3D681DC117C}" type="slidenum">
              <a:rPr lang="en-US" sz="1100"/>
              <a:pPr algn="r" defTabSz="928688"/>
              <a:t>33</a:t>
            </a:fld>
            <a:endParaRPr lang="en-US" sz="1100"/>
          </a:p>
        </p:txBody>
      </p:sp>
      <p:sp>
        <p:nvSpPr>
          <p:cNvPr id="583682" name="Rectangle 7"/>
          <p:cNvSpPr txBox="1">
            <a:spLocks noGrp="1" noChangeArrowheads="1"/>
          </p:cNvSpPr>
          <p:nvPr/>
        </p:nvSpPr>
        <p:spPr bwMode="auto">
          <a:xfrm>
            <a:off x="3970338" y="8828088"/>
            <a:ext cx="3038475" cy="466725"/>
          </a:xfrm>
          <a:prstGeom prst="rect">
            <a:avLst/>
          </a:prstGeom>
          <a:noFill/>
          <a:ln w="9525">
            <a:noFill/>
            <a:miter lim="800000"/>
            <a:headEnd/>
            <a:tailEnd/>
          </a:ln>
        </p:spPr>
        <p:txBody>
          <a:bodyPr lIns="91420" tIns="45708" rIns="91420" bIns="45708" anchor="b"/>
          <a:lstStyle/>
          <a:p>
            <a:pPr algn="r" defTabSz="881063"/>
            <a:fld id="{9F0EF4B1-14A8-4AB3-9515-919126211426}" type="slidenum">
              <a:rPr lang="en-US" sz="1100">
                <a:latin typeface="Times New Roman" pitchFamily="18" charset="0"/>
              </a:rPr>
              <a:pPr algn="r" defTabSz="881063"/>
              <a:t>33</a:t>
            </a:fld>
            <a:endParaRPr lang="en-US" sz="1100">
              <a:latin typeface="Times New Roman" pitchFamily="18" charset="0"/>
            </a:endParaRPr>
          </a:p>
        </p:txBody>
      </p:sp>
      <p:sp>
        <p:nvSpPr>
          <p:cNvPr id="583683" name="Rectangle 2"/>
          <p:cNvSpPr>
            <a:spLocks noGrp="1" noRot="1" noChangeAspect="1" noChangeArrowheads="1" noTextEdit="1"/>
          </p:cNvSpPr>
          <p:nvPr>
            <p:ph type="sldImg"/>
          </p:nvPr>
        </p:nvSpPr>
        <p:spPr bwMode="auto">
          <a:xfrm>
            <a:off x="1182688" y="695325"/>
            <a:ext cx="4648200" cy="3486150"/>
          </a:xfrm>
          <a:noFill/>
          <a:ln>
            <a:solidFill>
              <a:srgbClr val="000000"/>
            </a:solidFill>
            <a:miter lim="800000"/>
            <a:headEnd/>
            <a:tailEnd/>
          </a:ln>
        </p:spPr>
      </p:sp>
      <p:sp>
        <p:nvSpPr>
          <p:cNvPr id="583684" name="Rectangle 3"/>
          <p:cNvSpPr>
            <a:spLocks noGrp="1" noChangeArrowheads="1"/>
          </p:cNvSpPr>
          <p:nvPr>
            <p:ph type="body" idx="1"/>
          </p:nvPr>
        </p:nvSpPr>
        <p:spPr bwMode="auto">
          <a:xfrm>
            <a:off x="701675" y="4416425"/>
            <a:ext cx="5607050" cy="4184650"/>
          </a:xfrm>
          <a:noFill/>
        </p:spPr>
        <p:txBody>
          <a:bodyPr wrap="square" lIns="91420" tIns="45708" rIns="91420" bIns="45708" numCol="1" anchor="t" anchorCtr="0" compatLnSpc="1">
            <a:prstTxWarp prst="textNoShape">
              <a:avLst/>
            </a:prstTxWarp>
          </a:bodyPr>
          <a:lstStyle/>
          <a:p>
            <a:pPr eaLnBrk="1" hangingPunct="1"/>
            <a:r>
              <a:rPr lang="en-US" smtClean="0"/>
              <a:t>Everything makai (oceanward) of blue line is below 1m above sea level, so it would become submerged if sea level rises 1m </a:t>
            </a:r>
          </a:p>
          <a:p>
            <a:pPr eaLnBrk="1" hangingPunct="1"/>
            <a:r>
              <a:rPr lang="en-US" smtClean="0"/>
              <a:t>(as some climate scientists predict will happen by 2100)</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5" name="Rectangle 2"/>
          <p:cNvSpPr>
            <a:spLocks noGrp="1" noRot="1" noChangeAspect="1" noTextEdit="1"/>
          </p:cNvSpPr>
          <p:nvPr>
            <p:ph type="sldImg"/>
          </p:nvPr>
        </p:nvSpPr>
        <p:spPr bwMode="auto">
          <a:noFill/>
          <a:ln>
            <a:solidFill>
              <a:srgbClr val="000000"/>
            </a:solidFill>
            <a:miter lim="800000"/>
            <a:headEnd/>
            <a:tailEnd/>
          </a:ln>
        </p:spPr>
      </p:sp>
      <p:sp>
        <p:nvSpPr>
          <p:cNvPr id="58982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187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charset="0"/>
              </a:rPr>
              <a:t>There are many exciting careers in oceanography, both on ships and in the lab.</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1" name="Rectangle 2"/>
          <p:cNvSpPr>
            <a:spLocks noGrp="1" noRot="1" noChangeAspect="1" noTextEdit="1"/>
          </p:cNvSpPr>
          <p:nvPr>
            <p:ph type="sldImg"/>
          </p:nvPr>
        </p:nvSpPr>
        <p:spPr bwMode="auto">
          <a:noFill/>
          <a:ln>
            <a:solidFill>
              <a:srgbClr val="000000"/>
            </a:solidFill>
            <a:miter lim="800000"/>
            <a:headEnd/>
            <a:tailEnd/>
          </a:ln>
        </p:spPr>
      </p:sp>
      <p:sp>
        <p:nvSpPr>
          <p:cNvPr id="593922"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69" name="Rectangle 2"/>
          <p:cNvSpPr>
            <a:spLocks noGrp="1" noRot="1" noChangeAspect="1" noTextEdit="1"/>
          </p:cNvSpPr>
          <p:nvPr>
            <p:ph type="sldImg"/>
          </p:nvPr>
        </p:nvSpPr>
        <p:spPr bwMode="auto">
          <a:noFill/>
          <a:ln>
            <a:solidFill>
              <a:srgbClr val="000000"/>
            </a:solidFill>
            <a:miter lim="800000"/>
            <a:headEnd/>
            <a:tailEnd/>
          </a:ln>
        </p:spPr>
      </p:sp>
      <p:sp>
        <p:nvSpPr>
          <p:cNvPr id="595970"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7" name="Rectangle 2"/>
          <p:cNvSpPr>
            <a:spLocks noGrp="1" noRot="1" noChangeAspect="1" noTextEdit="1"/>
          </p:cNvSpPr>
          <p:nvPr>
            <p:ph type="sldImg"/>
          </p:nvPr>
        </p:nvSpPr>
        <p:spPr bwMode="auto">
          <a:noFill/>
          <a:ln>
            <a:solidFill>
              <a:srgbClr val="000000"/>
            </a:solidFill>
            <a:miter lim="800000"/>
            <a:headEnd/>
            <a:tailEnd/>
          </a:ln>
        </p:spPr>
      </p:sp>
      <p:sp>
        <p:nvSpPr>
          <p:cNvPr id="598018"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5" name="Rectangle 2"/>
          <p:cNvSpPr>
            <a:spLocks noGrp="1" noRot="1" noChangeAspect="1" noTextEdit="1"/>
          </p:cNvSpPr>
          <p:nvPr>
            <p:ph type="sldImg"/>
          </p:nvPr>
        </p:nvSpPr>
        <p:spPr bwMode="auto">
          <a:noFill/>
          <a:ln>
            <a:solidFill>
              <a:srgbClr val="000000"/>
            </a:solidFill>
            <a:miter lim="800000"/>
            <a:headEnd/>
            <a:tailEnd/>
          </a:ln>
        </p:spPr>
      </p:sp>
      <p:sp>
        <p:nvSpPr>
          <p:cNvPr id="600066"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3" name="Rectangle 2"/>
          <p:cNvSpPr>
            <a:spLocks noGrp="1" noRot="1" noChangeAspect="1" noTextEdit="1"/>
          </p:cNvSpPr>
          <p:nvPr>
            <p:ph type="sldImg"/>
          </p:nvPr>
        </p:nvSpPr>
        <p:spPr bwMode="auto">
          <a:noFill/>
          <a:ln>
            <a:solidFill>
              <a:srgbClr val="000000"/>
            </a:solidFill>
            <a:miter lim="800000"/>
            <a:headEnd/>
            <a:tailEnd/>
          </a:ln>
        </p:spPr>
      </p:sp>
      <p:sp>
        <p:nvSpPr>
          <p:cNvPr id="602114"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1" name="Rectangle 2"/>
          <p:cNvSpPr>
            <a:spLocks noGrp="1" noRot="1" noChangeAspect="1" noTextEdit="1"/>
          </p:cNvSpPr>
          <p:nvPr>
            <p:ph type="sldImg"/>
          </p:nvPr>
        </p:nvSpPr>
        <p:spPr bwMode="auto">
          <a:noFill/>
          <a:ln>
            <a:solidFill>
              <a:srgbClr val="000000"/>
            </a:solidFill>
            <a:miter lim="800000"/>
            <a:headEnd/>
            <a:tailEnd/>
          </a:ln>
        </p:spPr>
      </p:sp>
      <p:sp>
        <p:nvSpPr>
          <p:cNvPr id="604162"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3" name="Rectangle 2"/>
          <p:cNvSpPr>
            <a:spLocks noGrp="1" noRot="1" noChangeAspect="1" noTextEdit="1"/>
          </p:cNvSpPr>
          <p:nvPr>
            <p:ph type="sldImg"/>
          </p:nvPr>
        </p:nvSpPr>
        <p:spPr bwMode="auto">
          <a:noFill/>
          <a:ln>
            <a:solidFill>
              <a:srgbClr val="000000"/>
            </a:solidFill>
            <a:miter lim="800000"/>
            <a:headEnd/>
            <a:tailEnd/>
          </a:ln>
        </p:spPr>
      </p:sp>
      <p:sp>
        <p:nvSpPr>
          <p:cNvPr id="62771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1" name="Rectangle 2"/>
          <p:cNvSpPr>
            <a:spLocks noGrp="1" noRot="1" noChangeAspect="1" noTextEdit="1"/>
          </p:cNvSpPr>
          <p:nvPr>
            <p:ph type="sldImg"/>
          </p:nvPr>
        </p:nvSpPr>
        <p:spPr bwMode="auto">
          <a:xfrm>
            <a:off x="1182688" y="695325"/>
            <a:ext cx="4648200" cy="3486150"/>
          </a:xfrm>
          <a:noFill/>
          <a:ln>
            <a:solidFill>
              <a:srgbClr val="000000"/>
            </a:solidFill>
            <a:miter lim="800000"/>
            <a:headEnd/>
            <a:tailEnd/>
          </a:ln>
        </p:spPr>
      </p:sp>
      <p:sp>
        <p:nvSpPr>
          <p:cNvPr id="629762" name="Rectangle 3"/>
          <p:cNvSpPr>
            <a:spLocks noGrp="1"/>
          </p:cNvSpPr>
          <p:nvPr>
            <p:ph type="body" idx="1"/>
          </p:nvPr>
        </p:nvSpPr>
        <p:spPr bwMode="auto">
          <a:xfrm>
            <a:off x="701675" y="4416425"/>
            <a:ext cx="5607050" cy="4184650"/>
          </a:xfrm>
          <a:noFill/>
        </p:spPr>
        <p:txBody>
          <a:bodyPr wrap="square" numCol="1" anchor="t" anchorCtr="0" compatLnSpc="1">
            <a:prstTxWarp prst="textNoShape">
              <a:avLst/>
            </a:prstTxWarp>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7" descr="le perouse needle nose fish - carlie wiener"/>
          <p:cNvPicPr>
            <a:picLocks noChangeAspect="1" noChangeArrowheads="1"/>
          </p:cNvPicPr>
          <p:nvPr userDrawn="1"/>
        </p:nvPicPr>
        <p:blipFill>
          <a:blip r:embed="rId2" cstate="screen">
            <a:lum bright="70000" contrast="-70000"/>
          </a:blip>
          <a:srcRect/>
          <a:stretch>
            <a:fillRect/>
          </a:stretch>
        </p:blipFill>
        <p:spPr bwMode="auto">
          <a:xfrm>
            <a:off x="0" y="0"/>
            <a:ext cx="9144000" cy="6859588"/>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fld id="{591AF5D9-9C88-40F8-AE6D-5DF4DB171409}" type="datetimeFigureOut">
              <a:rPr lang="en-US"/>
              <a:pPr>
                <a:defRPr/>
              </a:pPr>
              <a:t>9/18/2012</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D530A895-1968-4084-9DAC-63D901F07512}"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4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fontAlgn="auto">
              <a:spcBef>
                <a:spcPts val="0"/>
              </a:spcBef>
              <a:spcAft>
                <a:spcPts val="0"/>
              </a:spcAft>
              <a:defRPr sz="1200">
                <a:solidFill>
                  <a:schemeClr val="tx1">
                    <a:tint val="75000"/>
                  </a:schemeClr>
                </a:solidFill>
                <a:latin typeface="+mn-lt"/>
                <a:cs typeface="+mn-cs"/>
              </a:defRPr>
            </a:lvl1pPr>
          </a:lstStyle>
          <a:p>
            <a:pPr>
              <a:defRPr/>
            </a:pPr>
            <a:fld id="{F72609E9-BAE9-46B3-B385-855BF280F72B}" type="datetimeFigureOut">
              <a:rPr lang="en-US"/>
              <a:pPr>
                <a:defRPr/>
              </a:pPr>
              <a:t>9/18/2012</a:t>
            </a:fld>
            <a:endParaRPr lang="en-US"/>
          </a:p>
        </p:txBody>
      </p:sp>
      <p:sp>
        <p:nvSpPr>
          <p:cNvPr id="9" name="Footer Placeholder 2"/>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10" name="Slide Number Placeholder 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286212C7-75B5-4473-9024-8684F5B5B0E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2" r:id="rId1"/>
  </p:sldLayoutIdLst>
  <p:transition/>
  <p:txStyles>
    <p:titleStyle>
      <a:lvl1pPr algn="ctr" rtl="0" eaLnBrk="0" fontAlgn="base" hangingPunct="0">
        <a:spcBef>
          <a:spcPct val="0"/>
        </a:spcBef>
        <a:spcAft>
          <a:spcPct val="0"/>
        </a:spcAft>
        <a:defRPr sz="4400" kern="1200">
          <a:solidFill>
            <a:schemeClr val="tx1"/>
          </a:solidFill>
          <a:latin typeface="Arial" charset="0"/>
          <a:ea typeface="+mj-ea"/>
          <a:cs typeface="+mj-cs"/>
        </a:defRPr>
      </a:lvl1pPr>
      <a:lvl2pPr algn="ctr" rtl="0" eaLnBrk="0" fontAlgn="base" hangingPunct="0">
        <a:spcBef>
          <a:spcPct val="0"/>
        </a:spcBef>
        <a:spcAft>
          <a:spcPct val="0"/>
        </a:spcAft>
        <a:defRPr sz="4400">
          <a:solidFill>
            <a:schemeClr val="tx1"/>
          </a:solidFill>
          <a:latin typeface="Arial" charset="0"/>
        </a:defRPr>
      </a:lvl2pPr>
      <a:lvl3pPr algn="ctr" rtl="0" eaLnBrk="0" fontAlgn="base" hangingPunct="0">
        <a:spcBef>
          <a:spcPct val="0"/>
        </a:spcBef>
        <a:spcAft>
          <a:spcPct val="0"/>
        </a:spcAft>
        <a:defRPr sz="4400">
          <a:solidFill>
            <a:schemeClr val="tx1"/>
          </a:solidFill>
          <a:latin typeface="Arial" charset="0"/>
        </a:defRPr>
      </a:lvl3pPr>
      <a:lvl4pPr algn="ctr" rtl="0" eaLnBrk="0" fontAlgn="base" hangingPunct="0">
        <a:spcBef>
          <a:spcPct val="0"/>
        </a:spcBef>
        <a:spcAft>
          <a:spcPct val="0"/>
        </a:spcAft>
        <a:defRPr sz="4400">
          <a:solidFill>
            <a:schemeClr val="tx1"/>
          </a:solidFill>
          <a:latin typeface="Arial" charset="0"/>
        </a:defRPr>
      </a:lvl4pPr>
      <a:lvl5pPr algn="ctr" rtl="0" eaLnBrk="0" fontAlgn="base" hangingPunct="0">
        <a:spcBef>
          <a:spcPct val="0"/>
        </a:spcBef>
        <a:spcAft>
          <a:spcPct val="0"/>
        </a:spcAft>
        <a:defRPr sz="4400">
          <a:solidFill>
            <a:schemeClr val="tx1"/>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1.jpeg"/><Relationship Id="rId7" Type="http://schemas.openxmlformats.org/officeDocument/2006/relationships/hyperlink" Target="http://www.hawaii.edu/himb/nwhi_crrp/index.ht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http://cmore.soest.hawaii.edu/../images/cmore_banner3.jpg" TargetMode="External"/><Relationship Id="rId5" Type="http://schemas.openxmlformats.org/officeDocument/2006/relationships/image" Target="../media/image2.jpeg"/><Relationship Id="rId4" Type="http://schemas.openxmlformats.org/officeDocument/2006/relationships/hyperlink" Target="http://cmore.soest.hawaii.edu/index.htm" TargetMode="External"/><Relationship Id="rId9"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video" Target="../media/media1.wmv"/><Relationship Id="rId5" Type="http://schemas.openxmlformats.org/officeDocument/2006/relationships/image" Target="../media/image11.png"/><Relationship Id="rId4" Type="http://schemas.microsoft.com/office/2007/relationships/media" Target="../media/media1.wmv"/></Relationships>
</file>

<file path=ppt/slides/_rels/slide7.xml.rels><?xml version="1.0" encoding="UTF-8" standalone="yes"?>
<Relationships xmlns="http://schemas.openxmlformats.org/package/2006/relationships"><Relationship Id="rId8" Type="http://schemas.openxmlformats.org/officeDocument/2006/relationships/hyperlink" Target="http://www.space-matters.info/img/waterstrider.jpg" TargetMode="External"/><Relationship Id="rId3" Type="http://schemas.openxmlformats.org/officeDocument/2006/relationships/image" Target="../media/image12.jpeg"/><Relationship Id="rId7" Type="http://schemas.openxmlformats.org/officeDocument/2006/relationships/hyperlink" Target="http://quest.nasa.gov/space/teachers/microgravity/image/66.gif"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tatic.zooomr.com/images/3807652_fd4f4001e5.jpg" TargetMode="External"/><Relationship Id="rId5" Type="http://schemas.openxmlformats.org/officeDocument/2006/relationships/hyperlink" Target="http://blogs.browardpalmbeach.com/juice/bellyflop.jpg" TargetMode="External"/><Relationship Id="rId10" Type="http://schemas.openxmlformats.org/officeDocument/2006/relationships/image" Target="../media/image15.gif"/><Relationship Id="rId4" Type="http://schemas.openxmlformats.org/officeDocument/2006/relationships/image" Target="../media/image13.jpeg"/><Relationship Id="rId9" Type="http://schemas.openxmlformats.org/officeDocument/2006/relationships/image" Target="../media/image14.gif"/></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19.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4.jpeg"/><Relationship Id="rId7" Type="http://schemas.openxmlformats.org/officeDocument/2006/relationships/image" Target="../media/image38.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8" Type="http://schemas.openxmlformats.org/officeDocument/2006/relationships/image" Target="../media/image45.gif"/><Relationship Id="rId3" Type="http://schemas.openxmlformats.org/officeDocument/2006/relationships/image" Target="../media/image40.gif"/><Relationship Id="rId7" Type="http://schemas.openxmlformats.org/officeDocument/2006/relationships/image" Target="../media/image44.gif"/><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3.gif"/><Relationship Id="rId5" Type="http://schemas.openxmlformats.org/officeDocument/2006/relationships/image" Target="../media/image42.gif"/><Relationship Id="rId4" Type="http://schemas.openxmlformats.org/officeDocument/2006/relationships/image" Target="../media/image41.gif"/></Relationships>
</file>

<file path=ppt/slides/_rels/slide21.xml.rels><?xml version="1.0" encoding="UTF-8" standalone="yes"?>
<Relationships xmlns="http://schemas.openxmlformats.org/package/2006/relationships"><Relationship Id="rId3" Type="http://schemas.openxmlformats.org/officeDocument/2006/relationships/image" Target="../media/image46.jpeg"/><Relationship Id="rId7" Type="http://schemas.openxmlformats.org/officeDocument/2006/relationships/image" Target="../media/image50.jpe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s>
</file>

<file path=ppt/slides/_rels/slide2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2.jpeg"/></Relationships>
</file>

<file path=ppt/slides/_rels/slide2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audio" Target="../media/media2.wav"/><Relationship Id="rId5" Type="http://schemas.openxmlformats.org/officeDocument/2006/relationships/image" Target="../media/image57.png"/><Relationship Id="rId4" Type="http://schemas.microsoft.com/office/2007/relationships/media" Target="../media/media2.wav"/></Relationships>
</file>

<file path=ppt/slides/_rels/slide2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2.jpeg"/></Relationships>
</file>

<file path=ppt/slides/_rels/slide2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63.jpeg"/><Relationship Id="rId4" Type="http://schemas.openxmlformats.org/officeDocument/2006/relationships/image" Target="../media/image62.jpeg"/></Relationships>
</file>

<file path=ppt/slides/_rels/slide2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65.jpeg"/></Relationships>
</file>

<file path=ppt/slides/_rels/slide3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74.jpeg"/></Relationships>
</file>

<file path=ppt/slides/_rels/slide3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76.jpeg"/></Relationships>
</file>

<file path=ppt/slides/_rels/slide3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78.jpeg"/></Relationships>
</file>

<file path=ppt/slides/_rels/slide3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80.jpeg"/></Relationships>
</file>

<file path=ppt/slides/_rels/slide4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82.jpeg"/></Relationships>
</file>

<file path=ppt/slides/_rels/slide4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84.jpeg"/></Relationships>
</file>

<file path=ppt/slides/_rels/slide4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87.jpeg"/><Relationship Id="rId4" Type="http://schemas.openxmlformats.org/officeDocument/2006/relationships/image" Target="../media/image86.jpe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90.gif"/><Relationship Id="rId5" Type="http://schemas.openxmlformats.org/officeDocument/2006/relationships/image" Target="../media/image89.jpeg"/><Relationship Id="rId4" Type="http://schemas.openxmlformats.org/officeDocument/2006/relationships/image" Target="../media/image8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5073" name="Picture 2" descr="le perouse needle nose fish - carlie wiener"/>
          <p:cNvPicPr>
            <a:picLocks noChangeAspect="1" noChangeArrowheads="1"/>
          </p:cNvPicPr>
          <p:nvPr/>
        </p:nvPicPr>
        <p:blipFill>
          <a:blip r:embed="rId3" cstate="screen"/>
          <a:srcRect/>
          <a:stretch>
            <a:fillRect/>
          </a:stretch>
        </p:blipFill>
        <p:spPr bwMode="auto">
          <a:xfrm>
            <a:off x="0" y="0"/>
            <a:ext cx="9144000" cy="6859588"/>
          </a:xfrm>
          <a:prstGeom prst="rect">
            <a:avLst/>
          </a:prstGeom>
          <a:noFill/>
          <a:ln w="9525">
            <a:noFill/>
            <a:miter lim="800000"/>
            <a:headEnd/>
            <a:tailEnd/>
          </a:ln>
        </p:spPr>
      </p:pic>
      <p:sp>
        <p:nvSpPr>
          <p:cNvPr id="515074" name="Rectangle 4"/>
          <p:cNvSpPr>
            <a:spLocks noChangeArrowheads="1"/>
          </p:cNvSpPr>
          <p:nvPr/>
        </p:nvSpPr>
        <p:spPr bwMode="auto">
          <a:xfrm>
            <a:off x="1924050" y="-31750"/>
            <a:ext cx="5367338" cy="1708150"/>
          </a:xfrm>
          <a:prstGeom prst="rect">
            <a:avLst/>
          </a:prstGeom>
          <a:noFill/>
          <a:ln w="9525">
            <a:noFill/>
            <a:miter lim="800000"/>
            <a:headEnd/>
            <a:tailEnd/>
          </a:ln>
        </p:spPr>
        <p:txBody>
          <a:bodyPr wrap="none" anchor="ctr">
            <a:spAutoFit/>
          </a:bodyPr>
          <a:lstStyle/>
          <a:p>
            <a:pPr algn="ctr"/>
            <a:r>
              <a:rPr lang="en-US" sz="4000" b="1" dirty="0">
                <a:solidFill>
                  <a:schemeClr val="bg1"/>
                </a:solidFill>
                <a:latin typeface="Comic Sans MS" pitchFamily="66" charset="0"/>
              </a:rPr>
              <a:t>Welcome to </a:t>
            </a:r>
          </a:p>
          <a:p>
            <a:pPr algn="ctr"/>
            <a:r>
              <a:rPr lang="en-US" sz="6600" b="1" dirty="0">
                <a:solidFill>
                  <a:schemeClr val="bg1"/>
                </a:solidFill>
                <a:latin typeface="Comic Sans MS" pitchFamily="66" charset="0"/>
              </a:rPr>
              <a:t>Ocean FEST</a:t>
            </a:r>
            <a:r>
              <a:rPr lang="en-US" sz="4000" dirty="0">
                <a:solidFill>
                  <a:schemeClr val="bg1"/>
                </a:solidFill>
                <a:latin typeface="Comic Sans MS" pitchFamily="66" charset="0"/>
              </a:rPr>
              <a:t> </a:t>
            </a:r>
            <a:endParaRPr lang="en-US" sz="4000" b="1" dirty="0">
              <a:solidFill>
                <a:schemeClr val="bg1"/>
              </a:solidFill>
              <a:latin typeface="Comic Sans MS" pitchFamily="66" charset="0"/>
            </a:endParaRPr>
          </a:p>
        </p:txBody>
      </p:sp>
      <p:pic>
        <p:nvPicPr>
          <p:cNvPr id="515075" name="Picture 5" descr="C-MORE Wide Banner.">
            <a:hlinkClick r:id="rId4"/>
          </p:cNvPr>
          <p:cNvPicPr>
            <a:picLocks noChangeAspect="1" noChangeArrowheads="1"/>
          </p:cNvPicPr>
          <p:nvPr/>
        </p:nvPicPr>
        <p:blipFill>
          <a:blip r:embed="rId5" r:link="rId6" cstate="screen"/>
          <a:srcRect/>
          <a:stretch>
            <a:fillRect/>
          </a:stretch>
        </p:blipFill>
        <p:spPr bwMode="auto">
          <a:xfrm>
            <a:off x="0" y="5791200"/>
            <a:ext cx="4876800" cy="1066800"/>
          </a:xfrm>
          <a:prstGeom prst="rect">
            <a:avLst/>
          </a:prstGeom>
          <a:noFill/>
          <a:ln w="19050">
            <a:solidFill>
              <a:srgbClr val="000080"/>
            </a:solidFill>
            <a:miter lim="800000"/>
            <a:headEnd/>
            <a:tailEnd/>
          </a:ln>
        </p:spPr>
      </p:pic>
      <p:pic>
        <p:nvPicPr>
          <p:cNvPr id="515076" name="Picture 6" descr="HIMB NWHI CRRP Banner.">
            <a:hlinkClick r:id="rId7"/>
          </p:cNvPr>
          <p:cNvPicPr>
            <a:picLocks noChangeAspect="1" noChangeArrowheads="1"/>
          </p:cNvPicPr>
          <p:nvPr/>
        </p:nvPicPr>
        <p:blipFill>
          <a:blip r:embed="rId8" cstate="screen"/>
          <a:srcRect/>
          <a:stretch>
            <a:fillRect/>
          </a:stretch>
        </p:blipFill>
        <p:spPr bwMode="auto">
          <a:xfrm>
            <a:off x="4724400" y="5791200"/>
            <a:ext cx="4419600" cy="1066800"/>
          </a:xfrm>
          <a:prstGeom prst="rect">
            <a:avLst/>
          </a:prstGeom>
          <a:noFill/>
          <a:ln w="19050">
            <a:solidFill>
              <a:srgbClr val="000080"/>
            </a:solidFill>
            <a:miter lim="800000"/>
            <a:headEnd/>
            <a:tailEnd/>
          </a:ln>
        </p:spPr>
      </p:pic>
      <p:sp>
        <p:nvSpPr>
          <p:cNvPr id="515077" name="Rectangle 7"/>
          <p:cNvSpPr>
            <a:spLocks noChangeArrowheads="1"/>
          </p:cNvSpPr>
          <p:nvPr/>
        </p:nvSpPr>
        <p:spPr bwMode="auto">
          <a:xfrm>
            <a:off x="4724400" y="1752600"/>
            <a:ext cx="4419600" cy="3785652"/>
          </a:xfrm>
          <a:prstGeom prst="rect">
            <a:avLst/>
          </a:prstGeom>
          <a:noFill/>
          <a:ln w="9525">
            <a:noFill/>
            <a:miter lim="800000"/>
            <a:headEnd/>
            <a:tailEnd/>
          </a:ln>
        </p:spPr>
        <p:txBody>
          <a:bodyPr>
            <a:spAutoFit/>
          </a:bodyPr>
          <a:lstStyle/>
          <a:p>
            <a:pPr marL="228600" indent="-228600"/>
            <a:r>
              <a:rPr lang="en-US" sz="2000" dirty="0">
                <a:solidFill>
                  <a:schemeClr val="bg1"/>
                </a:solidFill>
                <a:latin typeface="Comic Sans MS" pitchFamily="66" charset="0"/>
              </a:rPr>
              <a:t>Our Goals</a:t>
            </a:r>
          </a:p>
          <a:p>
            <a:pPr marL="228600" indent="-228600">
              <a:buFontTx/>
              <a:buChar char="•"/>
            </a:pPr>
            <a:r>
              <a:rPr lang="en-US" sz="2000" dirty="0">
                <a:solidFill>
                  <a:schemeClr val="bg1"/>
                </a:solidFill>
                <a:latin typeface="Comic Sans MS" pitchFamily="66" charset="0"/>
              </a:rPr>
              <a:t>Have fun with hands-on science</a:t>
            </a:r>
          </a:p>
          <a:p>
            <a:pPr marL="228600" indent="-228600">
              <a:buFontTx/>
              <a:buChar char="•"/>
            </a:pPr>
            <a:r>
              <a:rPr lang="en-US" sz="2000" dirty="0">
                <a:solidFill>
                  <a:schemeClr val="bg1"/>
                </a:solidFill>
                <a:latin typeface="Comic Sans MS" pitchFamily="66" charset="0"/>
              </a:rPr>
              <a:t>Share about science careers</a:t>
            </a:r>
          </a:p>
          <a:p>
            <a:pPr marL="228600" indent="-228600"/>
            <a:endParaRPr lang="en-US" sz="2000" dirty="0">
              <a:solidFill>
                <a:schemeClr val="bg1"/>
              </a:solidFill>
              <a:latin typeface="Comic Sans MS" pitchFamily="66" charset="0"/>
            </a:endParaRPr>
          </a:p>
          <a:p>
            <a:pPr marL="228600" indent="-228600"/>
            <a:r>
              <a:rPr lang="en-US" sz="2000" dirty="0">
                <a:solidFill>
                  <a:schemeClr val="bg1"/>
                </a:solidFill>
                <a:latin typeface="Comic Sans MS" pitchFamily="66" charset="0"/>
              </a:rPr>
              <a:t>Our Model:</a:t>
            </a:r>
          </a:p>
          <a:p>
            <a:pPr marL="228600" indent="-228600">
              <a:buFontTx/>
              <a:buChar char="•"/>
            </a:pPr>
            <a:r>
              <a:rPr lang="en-US" sz="2000" dirty="0">
                <a:solidFill>
                  <a:schemeClr val="bg1"/>
                </a:solidFill>
                <a:latin typeface="Comic Sans MS" pitchFamily="66" charset="0"/>
              </a:rPr>
              <a:t>Space FEST (created by Art &amp;  Rene Kimura for Hawaii’s kids)</a:t>
            </a:r>
          </a:p>
          <a:p>
            <a:pPr marL="228600" indent="-228600">
              <a:buFontTx/>
              <a:buChar char="•"/>
            </a:pPr>
            <a:endParaRPr lang="en-US" sz="2000" dirty="0">
              <a:solidFill>
                <a:schemeClr val="bg1"/>
              </a:solidFill>
              <a:latin typeface="Comic Sans MS" pitchFamily="66" charset="0"/>
            </a:endParaRPr>
          </a:p>
          <a:p>
            <a:pPr marL="228600" indent="-228600"/>
            <a:r>
              <a:rPr lang="en-US" sz="2000" dirty="0">
                <a:solidFill>
                  <a:schemeClr val="bg1"/>
                </a:solidFill>
                <a:latin typeface="Comic Sans MS" pitchFamily="66" charset="0"/>
              </a:rPr>
              <a:t>Our </a:t>
            </a:r>
            <a:r>
              <a:rPr lang="en-US" sz="2000" dirty="0" smtClean="0">
                <a:solidFill>
                  <a:schemeClr val="bg1"/>
                </a:solidFill>
                <a:latin typeface="Comic Sans MS" pitchFamily="66" charset="0"/>
              </a:rPr>
              <a:t>Sponsors</a:t>
            </a:r>
            <a:r>
              <a:rPr lang="en-US" sz="2000" dirty="0">
                <a:solidFill>
                  <a:schemeClr val="bg1"/>
                </a:solidFill>
                <a:latin typeface="Comic Sans MS" pitchFamily="66" charset="0"/>
              </a:rPr>
              <a:t>:</a:t>
            </a:r>
          </a:p>
          <a:p>
            <a:pPr marL="228600" indent="-228600">
              <a:buFontTx/>
              <a:buChar char="•"/>
            </a:pPr>
            <a:r>
              <a:rPr lang="en-US" sz="2000" dirty="0" smtClean="0">
                <a:solidFill>
                  <a:schemeClr val="bg1"/>
                </a:solidFill>
                <a:latin typeface="Comic Sans MS" pitchFamily="66" charset="0"/>
              </a:rPr>
              <a:t>National </a:t>
            </a:r>
            <a:r>
              <a:rPr lang="en-US" sz="2000" dirty="0">
                <a:solidFill>
                  <a:schemeClr val="bg1"/>
                </a:solidFill>
                <a:latin typeface="Comic Sans MS" pitchFamily="66" charset="0"/>
              </a:rPr>
              <a:t>Science </a:t>
            </a:r>
            <a:r>
              <a:rPr lang="en-US" sz="2000" dirty="0" smtClean="0">
                <a:solidFill>
                  <a:schemeClr val="bg1"/>
                </a:solidFill>
                <a:latin typeface="Comic Sans MS" pitchFamily="66" charset="0"/>
              </a:rPr>
              <a:t>Foundation</a:t>
            </a:r>
          </a:p>
          <a:p>
            <a:pPr marL="228600" indent="-228600">
              <a:buFontTx/>
              <a:buChar char="•"/>
            </a:pPr>
            <a:r>
              <a:rPr lang="en-US" sz="2000" dirty="0" smtClean="0">
                <a:solidFill>
                  <a:schemeClr val="bg1"/>
                </a:solidFill>
                <a:latin typeface="Comic Sans MS" pitchFamily="66" charset="0"/>
              </a:rPr>
              <a:t>C-MORE</a:t>
            </a:r>
          </a:p>
          <a:p>
            <a:pPr marL="228600" indent="-228600">
              <a:buFontTx/>
              <a:buChar char="•"/>
            </a:pPr>
            <a:r>
              <a:rPr lang="en-US" sz="2000" dirty="0" smtClean="0">
                <a:solidFill>
                  <a:schemeClr val="bg1"/>
                </a:solidFill>
                <a:latin typeface="Comic Sans MS" pitchFamily="66" charset="0"/>
              </a:rPr>
              <a:t>COSEE-Island Earth</a:t>
            </a:r>
            <a:endParaRPr lang="en-US" sz="2000" dirty="0">
              <a:solidFill>
                <a:schemeClr val="bg1"/>
              </a:solidFill>
              <a:latin typeface="Calibri" pitchFamily="34" charset="0"/>
            </a:endParaRPr>
          </a:p>
        </p:txBody>
      </p:sp>
      <p:pic>
        <p:nvPicPr>
          <p:cNvPr id="515078" name="Picture 9" descr="Picture 229"/>
          <p:cNvPicPr>
            <a:picLocks noChangeAspect="1" noChangeArrowheads="1"/>
          </p:cNvPicPr>
          <p:nvPr/>
        </p:nvPicPr>
        <p:blipFill>
          <a:blip r:embed="rId9" cstate="screen"/>
          <a:srcRect/>
          <a:stretch>
            <a:fillRect/>
          </a:stretch>
        </p:blipFill>
        <p:spPr bwMode="auto">
          <a:xfrm>
            <a:off x="228600" y="1981200"/>
            <a:ext cx="4495800" cy="2997200"/>
          </a:xfrm>
          <a:prstGeom prst="rect">
            <a:avLst/>
          </a:prstGeom>
          <a:noFill/>
          <a:ln w="28575">
            <a:solidFill>
              <a:schemeClr val="bg1"/>
            </a:solidFill>
            <a:miter lim="800000"/>
            <a:headEnd/>
            <a:tailEnd/>
          </a:ln>
        </p:spPr>
      </p:pic>
      <p:sp>
        <p:nvSpPr>
          <p:cNvPr id="515080" name="Rectangle 10"/>
          <p:cNvSpPr>
            <a:spLocks noChangeArrowheads="1"/>
          </p:cNvSpPr>
          <p:nvPr/>
        </p:nvSpPr>
        <p:spPr bwMode="auto">
          <a:xfrm>
            <a:off x="0" y="5410200"/>
            <a:ext cx="5791200" cy="400110"/>
          </a:xfrm>
          <a:prstGeom prst="rect">
            <a:avLst/>
          </a:prstGeom>
          <a:noFill/>
          <a:ln w="9525">
            <a:noFill/>
            <a:miter lim="800000"/>
            <a:headEnd/>
            <a:tailEnd/>
          </a:ln>
        </p:spPr>
        <p:txBody>
          <a:bodyPr wrap="square">
            <a:spAutoFit/>
          </a:bodyPr>
          <a:lstStyle/>
          <a:p>
            <a:r>
              <a:rPr lang="en-US" sz="2000" dirty="0" smtClean="0">
                <a:solidFill>
                  <a:schemeClr val="bg1"/>
                </a:solidFill>
                <a:latin typeface="Comic Sans MS" pitchFamily="66" charset="0"/>
              </a:rPr>
              <a:t>Ocean FEST is based on the research of: </a:t>
            </a:r>
            <a:endParaRPr lang="en-US" sz="2000" dirty="0">
              <a:solidFill>
                <a:schemeClr val="bg1"/>
              </a:solidFill>
              <a:latin typeface="Comic Sans MS" pitchFamily="66"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7361" name="Picture 4" descr="coconut island douglas peebles image"/>
          <p:cNvPicPr>
            <a:picLocks noChangeAspect="1" noChangeArrowheads="1"/>
          </p:cNvPicPr>
          <p:nvPr/>
        </p:nvPicPr>
        <p:blipFill>
          <a:blip r:embed="rId3" cstate="screen"/>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9409" name="Picture 8" descr="Untitled-1"/>
          <p:cNvPicPr>
            <a:picLocks noChangeAspect="1" noChangeArrowheads="1"/>
          </p:cNvPicPr>
          <p:nvPr/>
        </p:nvPicPr>
        <p:blipFill>
          <a:blip r:embed="rId3" cstate="screen"/>
          <a:srcRect/>
          <a:stretch>
            <a:fillRect/>
          </a:stretch>
        </p:blipFill>
        <p:spPr bwMode="auto">
          <a:xfrm>
            <a:off x="304800" y="1473200"/>
            <a:ext cx="8534400" cy="5156200"/>
          </a:xfrm>
          <a:prstGeom prst="rect">
            <a:avLst/>
          </a:prstGeom>
          <a:noFill/>
          <a:ln w="9525">
            <a:noFill/>
            <a:miter lim="800000"/>
            <a:headEnd/>
            <a:tailEnd/>
          </a:ln>
        </p:spPr>
      </p:pic>
      <p:sp>
        <p:nvSpPr>
          <p:cNvPr id="529410" name="Rectangle 2"/>
          <p:cNvSpPr>
            <a:spLocks noGrp="1" noChangeArrowheads="1"/>
          </p:cNvSpPr>
          <p:nvPr>
            <p:ph type="title" idx="4294967295"/>
          </p:nvPr>
        </p:nvSpPr>
        <p:spPr>
          <a:xfrm>
            <a:off x="304800" y="228600"/>
            <a:ext cx="8229600" cy="1143000"/>
          </a:xfrm>
        </p:spPr>
        <p:txBody>
          <a:bodyPr/>
          <a:lstStyle/>
          <a:p>
            <a:pPr eaLnBrk="1" hangingPunct="1"/>
            <a:r>
              <a:rPr lang="en-US" sz="4000" b="1" smtClean="0">
                <a:solidFill>
                  <a:srgbClr val="311997"/>
                </a:solidFill>
                <a:latin typeface="Comic Sans MS" pitchFamily="66" charset="0"/>
              </a:rPr>
              <a:t>Papahānaumokuākea </a:t>
            </a:r>
            <a:br>
              <a:rPr lang="en-US" sz="4000" b="1" smtClean="0">
                <a:solidFill>
                  <a:srgbClr val="311997"/>
                </a:solidFill>
                <a:latin typeface="Comic Sans MS" pitchFamily="66" charset="0"/>
              </a:rPr>
            </a:br>
            <a:r>
              <a:rPr lang="en-US" sz="4000" b="1" smtClean="0">
                <a:solidFill>
                  <a:srgbClr val="311997"/>
                </a:solidFill>
                <a:latin typeface="Comic Sans MS" pitchFamily="66" charset="0"/>
              </a:rPr>
              <a:t>Marine National Monument</a:t>
            </a:r>
            <a:r>
              <a:rPr lang="en-US" sz="4000" smtClean="0">
                <a:solidFill>
                  <a:srgbClr val="311997"/>
                </a:solidFill>
                <a:latin typeface="Comic Sans MS" pitchFamily="66" charset="0"/>
              </a:rPr>
              <a:t> </a:t>
            </a:r>
          </a:p>
        </p:txBody>
      </p:sp>
      <p:pic>
        <p:nvPicPr>
          <p:cNvPr id="19460" name="Picture 4" descr="hiialakai 3 - derek smith"/>
          <p:cNvPicPr>
            <a:picLocks noChangeAspect="1" noChangeArrowheads="1"/>
          </p:cNvPicPr>
          <p:nvPr/>
        </p:nvPicPr>
        <p:blipFill>
          <a:blip r:embed="rId4" cstate="screen"/>
          <a:srcRect/>
          <a:stretch>
            <a:fillRect/>
          </a:stretch>
        </p:blipFill>
        <p:spPr bwMode="auto">
          <a:xfrm>
            <a:off x="7010400" y="5854700"/>
            <a:ext cx="914400" cy="6223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ox(in)">
                                      <p:cBhvr>
                                        <p:cTn id="7" dur="3000"/>
                                        <p:tgtEl>
                                          <p:spTgt spid="19460"/>
                                        </p:tgtEl>
                                      </p:cBhvr>
                                    </p:animEffect>
                                  </p:childTnLst>
                                </p:cTn>
                              </p:par>
                            </p:childTnLst>
                          </p:cTn>
                        </p:par>
                        <p:par>
                          <p:cTn id="8" fill="hold">
                            <p:stCondLst>
                              <p:cond delay="3000"/>
                            </p:stCondLst>
                            <p:childTnLst>
                              <p:par>
                                <p:cTn id="9" presetID="56" presetClass="path" presetSubtype="0" accel="50000" decel="50000" fill="hold" nodeType="afterEffect">
                                  <p:stCondLst>
                                    <p:cond delay="0"/>
                                  </p:stCondLst>
                                  <p:childTnLst>
                                    <p:animMotion origin="layout" path="M -0.04167 -0.04441 L -0.75833 -0.46726 " pathEditMode="relative" rAng="0" ptsTypes="AA">
                                      <p:cBhvr>
                                        <p:cTn id="10" dur="5000" fill="hold"/>
                                        <p:tgtEl>
                                          <p:spTgt spid="19460"/>
                                        </p:tgtEl>
                                        <p:attrNameLst>
                                          <p:attrName>ppt_x</p:attrName>
                                          <p:attrName>ppt_y</p:attrName>
                                        </p:attrNameLst>
                                      </p:cBhvr>
                                      <p:rCtr x="-35800" y="-21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1457" name="Picture 3" descr="day one - Principal investigator meeting in dry lab - derek smith"/>
          <p:cNvPicPr>
            <a:picLocks noChangeAspect="1" noChangeArrowheads="1"/>
          </p:cNvPicPr>
          <p:nvPr/>
        </p:nvPicPr>
        <p:blipFill>
          <a:blip r:embed="rId3" cstate="screen"/>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3505" name="Picture 13" descr="ship.jpg"/>
          <p:cNvPicPr>
            <a:picLocks noChangeAspect="1"/>
          </p:cNvPicPr>
          <p:nvPr/>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6" name="Picture 5" descr="slide 5 front.gif"/>
          <p:cNvPicPr>
            <a:picLocks noChangeAspect="1"/>
          </p:cNvPicPr>
          <p:nvPr/>
        </p:nvPicPr>
        <p:blipFill>
          <a:blip r:embed="rId4" cstate="print"/>
          <a:stretch>
            <a:fillRect/>
          </a:stretch>
        </p:blipFill>
        <p:spPr>
          <a:xfrm>
            <a:off x="2514600" y="1447800"/>
            <a:ext cx="3810000" cy="40386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6.94444E-6 -7.77778E-6 L 0.00296 0.31527 L 0.6757 0.21226 " pathEditMode="relative" ptsTypes="AAA">
                                      <p:cBhvr>
                                        <p:cTn id="6" dur="5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IT_Algae_Bloom_Update.wmv">
            <a:hlinkClick r:id="" action="ppaction://media"/>
          </p:cNvPr>
          <p:cNvPicPr>
            <a:picLocks noChangeAspect="1"/>
          </p:cNvPicPr>
          <p:nvPr>
            <a:videoFile r:link="rId1"/>
            <p:extLst>
              <p:ext uri="{DAA4B4D4-6D71-4841-9C94-3DE7FCFB9230}">
                <p14:media xmlns="" xmlns:p14="http://schemas.microsoft.com/office/powerpoint/2010/main" r:embed="rId4"/>
              </p:ext>
            </p:extLst>
          </p:nvPr>
        </p:nvPicPr>
        <p:blipFill>
          <a:blip r:embed="rId5" cstate="print"/>
          <a:stretch>
            <a:fillRect/>
          </a:stretch>
        </p:blipFill>
        <p:spPr>
          <a:xfrm>
            <a:off x="304800" y="228600"/>
            <a:ext cx="8585200" cy="6438900"/>
          </a:xfrm>
          <a:prstGeom prst="rect">
            <a:avLst/>
          </a:prstGeom>
        </p:spPr>
      </p:pic>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a:spLocks/>
          </p:cNvSpPr>
          <p:nvPr/>
        </p:nvSpPr>
        <p:spPr>
          <a:xfrm>
            <a:off x="685800" y="53975"/>
            <a:ext cx="7772400" cy="1470025"/>
          </a:xfrm>
          <a:prstGeom prst="rect">
            <a:avLst/>
          </a:prstGeom>
        </p:spPr>
        <p:txBody>
          <a:bodyPr>
            <a:normAutofit fontScale="85000" lnSpcReduction="20000"/>
          </a:bodyPr>
          <a:lstStyle/>
          <a:p>
            <a:pPr algn="ctr" eaLnBrk="0" hangingPunct="0">
              <a:defRPr/>
            </a:pPr>
            <a:r>
              <a:rPr lang="en-US" sz="1200" dirty="0">
                <a:solidFill>
                  <a:srgbClr val="311997"/>
                </a:solidFill>
                <a:latin typeface="Comic Sans MS" pitchFamily="66" charset="0"/>
              </a:rPr>
              <a:t>Activity #1</a:t>
            </a:r>
          </a:p>
          <a:p>
            <a:pPr algn="ctr" eaLnBrk="0" hangingPunct="0">
              <a:defRPr/>
            </a:pPr>
            <a:r>
              <a:rPr lang="en-US" sz="2400" b="1" dirty="0">
                <a:solidFill>
                  <a:srgbClr val="311997"/>
                </a:solidFill>
                <a:latin typeface="Comic Sans MS" pitchFamily="66" charset="0"/>
              </a:rPr>
              <a:t>PENNY PLOP</a:t>
            </a:r>
          </a:p>
          <a:p>
            <a:pPr algn="ctr" eaLnBrk="0" hangingPunct="0">
              <a:defRPr/>
            </a:pPr>
            <a:endParaRPr lang="en-US" b="1" dirty="0">
              <a:solidFill>
                <a:srgbClr val="311997"/>
              </a:solidFill>
              <a:latin typeface="Comic Sans MS" pitchFamily="66" charset="0"/>
            </a:endParaRPr>
          </a:p>
          <a:p>
            <a:pPr algn="ctr" eaLnBrk="0" hangingPunct="0">
              <a:defRPr/>
            </a:pPr>
            <a:r>
              <a:rPr lang="en-US" sz="4700" b="1" dirty="0">
                <a:solidFill>
                  <a:srgbClr val="311997"/>
                </a:solidFill>
                <a:latin typeface="Comic Sans MS" pitchFamily="66" charset="0"/>
              </a:rPr>
              <a:t>Surface Tension</a:t>
            </a:r>
            <a:r>
              <a:rPr lang="en-US" sz="4300" b="1" dirty="0">
                <a:solidFill>
                  <a:srgbClr val="311997"/>
                </a:solidFill>
                <a:latin typeface="Comic Sans MS" pitchFamily="66" charset="0"/>
              </a:rPr>
              <a:t/>
            </a:r>
            <a:br>
              <a:rPr lang="en-US" sz="4300" b="1" dirty="0">
                <a:solidFill>
                  <a:srgbClr val="311997"/>
                </a:solidFill>
                <a:latin typeface="Comic Sans MS" pitchFamily="66" charset="0"/>
              </a:rPr>
            </a:br>
            <a:r>
              <a:rPr lang="en-US" sz="2800" b="1" dirty="0">
                <a:solidFill>
                  <a:srgbClr val="311997"/>
                </a:solidFill>
                <a:latin typeface="Comic Sans MS" pitchFamily="66" charset="0"/>
              </a:rPr>
              <a:t>What causes water to form a dome?</a:t>
            </a:r>
          </a:p>
        </p:txBody>
      </p:sp>
      <p:cxnSp>
        <p:nvCxnSpPr>
          <p:cNvPr id="3" name="Curved Connector 2"/>
          <p:cNvCxnSpPr/>
          <p:nvPr/>
        </p:nvCxnSpPr>
        <p:spPr>
          <a:xfrm>
            <a:off x="2971800" y="1981200"/>
            <a:ext cx="2362200" cy="228600"/>
          </a:xfrm>
          <a:prstGeom prst="curvedConnector3">
            <a:avLst>
              <a:gd name="adj1" fmla="val 50000"/>
            </a:avLst>
          </a:prstGeom>
          <a:ln w="3492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537603" name="Picture 3" descr="BugSurfaceTension.jpg"/>
          <p:cNvPicPr>
            <a:picLocks noChangeAspect="1"/>
          </p:cNvPicPr>
          <p:nvPr/>
        </p:nvPicPr>
        <p:blipFill>
          <a:blip r:embed="rId3" cstate="screen"/>
          <a:srcRect/>
          <a:stretch>
            <a:fillRect/>
          </a:stretch>
        </p:blipFill>
        <p:spPr bwMode="auto">
          <a:xfrm>
            <a:off x="5680075" y="3806825"/>
            <a:ext cx="3006725" cy="2746375"/>
          </a:xfrm>
          <a:prstGeom prst="rect">
            <a:avLst/>
          </a:prstGeom>
          <a:noFill/>
          <a:ln w="9525">
            <a:noFill/>
            <a:miter lim="800000"/>
            <a:headEnd/>
            <a:tailEnd/>
          </a:ln>
        </p:spPr>
      </p:pic>
      <p:pic>
        <p:nvPicPr>
          <p:cNvPr id="537604" name="Picture 4" descr="belly flop.jpg"/>
          <p:cNvPicPr>
            <a:picLocks noChangeAspect="1"/>
          </p:cNvPicPr>
          <p:nvPr/>
        </p:nvPicPr>
        <p:blipFill>
          <a:blip r:embed="rId4" cstate="screen"/>
          <a:srcRect/>
          <a:stretch>
            <a:fillRect/>
          </a:stretch>
        </p:blipFill>
        <p:spPr bwMode="auto">
          <a:xfrm>
            <a:off x="152400" y="3248025"/>
            <a:ext cx="4724400" cy="3381375"/>
          </a:xfrm>
          <a:prstGeom prst="rect">
            <a:avLst/>
          </a:prstGeom>
          <a:noFill/>
          <a:ln w="9525">
            <a:noFill/>
            <a:miter lim="800000"/>
            <a:headEnd/>
            <a:tailEnd/>
          </a:ln>
        </p:spPr>
      </p:pic>
      <p:sp>
        <p:nvSpPr>
          <p:cNvPr id="537607" name="TextBox 7"/>
          <p:cNvSpPr txBox="1">
            <a:spLocks noChangeArrowheads="1"/>
          </p:cNvSpPr>
          <p:nvPr/>
        </p:nvSpPr>
        <p:spPr bwMode="auto">
          <a:xfrm>
            <a:off x="76200" y="6611938"/>
            <a:ext cx="4038600" cy="246062"/>
          </a:xfrm>
          <a:prstGeom prst="rect">
            <a:avLst/>
          </a:prstGeom>
          <a:noFill/>
          <a:ln w="9525">
            <a:noFill/>
            <a:miter lim="800000"/>
            <a:headEnd/>
            <a:tailEnd/>
          </a:ln>
        </p:spPr>
        <p:txBody>
          <a:bodyPr>
            <a:spAutoFit/>
          </a:bodyPr>
          <a:lstStyle/>
          <a:p>
            <a:r>
              <a:rPr lang="en-US" sz="1000" u="sng">
                <a:hlinkClick r:id="rId5"/>
              </a:rPr>
              <a:t>http://blogs.browardpalmbeach.com/juice/bellyflop.jpg</a:t>
            </a:r>
            <a:r>
              <a:rPr lang="en-US" sz="1000" u="sng"/>
              <a:t>, </a:t>
            </a:r>
            <a:endParaRPr lang="en-US" sz="1000"/>
          </a:p>
        </p:txBody>
      </p:sp>
      <p:sp>
        <p:nvSpPr>
          <p:cNvPr id="537608" name="TextBox 8"/>
          <p:cNvSpPr txBox="1">
            <a:spLocks noChangeArrowheads="1"/>
          </p:cNvSpPr>
          <p:nvPr/>
        </p:nvSpPr>
        <p:spPr bwMode="auto">
          <a:xfrm>
            <a:off x="381000" y="2909888"/>
            <a:ext cx="4267200" cy="519112"/>
          </a:xfrm>
          <a:prstGeom prst="rect">
            <a:avLst/>
          </a:prstGeom>
          <a:noFill/>
          <a:ln w="9525">
            <a:noFill/>
            <a:miter lim="800000"/>
            <a:headEnd/>
            <a:tailEnd/>
          </a:ln>
        </p:spPr>
        <p:txBody>
          <a:bodyPr>
            <a:spAutoFit/>
          </a:bodyPr>
          <a:lstStyle/>
          <a:p>
            <a:r>
              <a:rPr lang="en-US" sz="1000" u="sng">
                <a:hlinkClick r:id="rId6"/>
              </a:rPr>
              <a:t>http://static.zooomr.com/images/3807652_fd4f4001e5.jpg</a:t>
            </a:r>
            <a:endParaRPr lang="en-US" sz="1000"/>
          </a:p>
          <a:p>
            <a:endParaRPr lang="en-US"/>
          </a:p>
        </p:txBody>
      </p:sp>
      <p:sp>
        <p:nvSpPr>
          <p:cNvPr id="537609" name="TextBox 9"/>
          <p:cNvSpPr txBox="1">
            <a:spLocks noChangeArrowheads="1"/>
          </p:cNvSpPr>
          <p:nvPr/>
        </p:nvSpPr>
        <p:spPr bwMode="auto">
          <a:xfrm>
            <a:off x="5105400" y="2971800"/>
            <a:ext cx="3810000" cy="523875"/>
          </a:xfrm>
          <a:prstGeom prst="rect">
            <a:avLst/>
          </a:prstGeom>
          <a:noFill/>
          <a:ln w="9525">
            <a:noFill/>
            <a:miter lim="800000"/>
            <a:headEnd/>
            <a:tailEnd/>
          </a:ln>
        </p:spPr>
        <p:txBody>
          <a:bodyPr>
            <a:spAutoFit/>
          </a:bodyPr>
          <a:lstStyle/>
          <a:p>
            <a:r>
              <a:rPr lang="en-US" sz="1000" u="sng">
                <a:hlinkClick r:id="rId7"/>
              </a:rPr>
              <a:t>http://quest.nasa.gov/space/teachers/microgravity/image/66.gif</a:t>
            </a:r>
            <a:endParaRPr lang="en-US" sz="1000"/>
          </a:p>
          <a:p>
            <a:endParaRPr lang="en-US"/>
          </a:p>
        </p:txBody>
      </p:sp>
      <p:sp>
        <p:nvSpPr>
          <p:cNvPr id="537610" name="TextBox 10"/>
          <p:cNvSpPr txBox="1">
            <a:spLocks noChangeArrowheads="1"/>
          </p:cNvSpPr>
          <p:nvPr/>
        </p:nvSpPr>
        <p:spPr bwMode="auto">
          <a:xfrm>
            <a:off x="5562600" y="6553200"/>
            <a:ext cx="3581400" cy="523875"/>
          </a:xfrm>
          <a:prstGeom prst="rect">
            <a:avLst/>
          </a:prstGeom>
          <a:noFill/>
          <a:ln w="9525">
            <a:noFill/>
            <a:miter lim="800000"/>
            <a:headEnd/>
            <a:tailEnd/>
          </a:ln>
        </p:spPr>
        <p:txBody>
          <a:bodyPr>
            <a:spAutoFit/>
          </a:bodyPr>
          <a:lstStyle/>
          <a:p>
            <a:r>
              <a:rPr lang="en-US" sz="1000" u="sng">
                <a:hlinkClick r:id="rId8"/>
              </a:rPr>
              <a:t>http://www.space-matters.info/img/waterstrider.jpg</a:t>
            </a:r>
            <a:endParaRPr lang="en-US" sz="1000"/>
          </a:p>
          <a:p>
            <a:endParaRPr lang="en-US"/>
          </a:p>
        </p:txBody>
      </p:sp>
      <p:pic>
        <p:nvPicPr>
          <p:cNvPr id="14" name="Picture 13" descr="slide 7 1.gif"/>
          <p:cNvPicPr>
            <a:picLocks noChangeAspect="1"/>
          </p:cNvPicPr>
          <p:nvPr/>
        </p:nvPicPr>
        <p:blipFill>
          <a:blip r:embed="rId9" cstate="print"/>
          <a:stretch>
            <a:fillRect/>
          </a:stretch>
        </p:blipFill>
        <p:spPr>
          <a:xfrm>
            <a:off x="228600" y="1143000"/>
            <a:ext cx="2857500" cy="1914525"/>
          </a:xfrm>
          <a:prstGeom prst="rect">
            <a:avLst/>
          </a:prstGeom>
        </p:spPr>
      </p:pic>
      <p:pic>
        <p:nvPicPr>
          <p:cNvPr id="15" name="Picture 14" descr="slide 7 2.gif"/>
          <p:cNvPicPr>
            <a:picLocks noChangeAspect="1"/>
          </p:cNvPicPr>
          <p:nvPr/>
        </p:nvPicPr>
        <p:blipFill>
          <a:blip r:embed="rId10" cstate="print"/>
          <a:stretch>
            <a:fillRect/>
          </a:stretch>
        </p:blipFill>
        <p:spPr>
          <a:xfrm>
            <a:off x="5105400" y="1039809"/>
            <a:ext cx="4038600" cy="2532066"/>
          </a:xfrm>
          <a:prstGeom prst="rect">
            <a:avLst/>
          </a:prstGeom>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28600" y="274638"/>
            <a:ext cx="8458200" cy="1143000"/>
          </a:xfrm>
          <a:prstGeom prst="rect">
            <a:avLst/>
          </a:prstGeom>
        </p:spPr>
        <p:txBody>
          <a:bodyPr/>
          <a:lstStyle/>
          <a:p>
            <a:pPr algn="ctr" fontAlgn="auto">
              <a:spcAft>
                <a:spcPts val="0"/>
              </a:spcAft>
              <a:defRPr/>
            </a:pPr>
            <a:r>
              <a:rPr lang="en-US" sz="1400" b="1" dirty="0">
                <a:solidFill>
                  <a:srgbClr val="311997"/>
                </a:solidFill>
                <a:latin typeface="Comic Sans MS" pitchFamily="66" charset="0"/>
                <a:ea typeface="+mj-ea"/>
                <a:cs typeface="+mj-cs"/>
              </a:rPr>
              <a:t>Activity #1 </a:t>
            </a:r>
            <a:br>
              <a:rPr lang="en-US" sz="1400" b="1" dirty="0">
                <a:solidFill>
                  <a:srgbClr val="311997"/>
                </a:solidFill>
                <a:latin typeface="Comic Sans MS" pitchFamily="66" charset="0"/>
                <a:ea typeface="+mj-ea"/>
                <a:cs typeface="+mj-cs"/>
              </a:rPr>
            </a:br>
            <a:r>
              <a:rPr lang="en-US" sz="4800" b="1" dirty="0">
                <a:solidFill>
                  <a:srgbClr val="311997"/>
                </a:solidFill>
                <a:latin typeface="Comic Sans MS" pitchFamily="66" charset="0"/>
                <a:ea typeface="+mj-ea"/>
                <a:cs typeface="+mj-cs"/>
              </a:rPr>
              <a:t>PENNY PLOP</a:t>
            </a:r>
          </a:p>
        </p:txBody>
      </p:sp>
      <p:sp>
        <p:nvSpPr>
          <p:cNvPr id="539651" name="Rectangle 4"/>
          <p:cNvSpPr>
            <a:spLocks noChangeArrowheads="1"/>
          </p:cNvSpPr>
          <p:nvPr/>
        </p:nvSpPr>
        <p:spPr bwMode="auto">
          <a:xfrm>
            <a:off x="2209800" y="1828800"/>
            <a:ext cx="6629400" cy="1828800"/>
          </a:xfrm>
          <a:prstGeom prst="rect">
            <a:avLst/>
          </a:prstGeom>
          <a:noFill/>
          <a:ln w="9525">
            <a:noFill/>
            <a:miter lim="800000"/>
            <a:headEnd/>
            <a:tailEnd/>
          </a:ln>
        </p:spPr>
        <p:txBody>
          <a:bodyPr lIns="0" tIns="0" rIns="0" bIns="0" anchor="ctr">
            <a:spAutoFit/>
          </a:bodyPr>
          <a:lstStyle/>
          <a:p>
            <a:pPr algn="ctr"/>
            <a:r>
              <a:rPr lang="en-CA" sz="4000">
                <a:latin typeface="Comic Sans MS" pitchFamily="66" charset="0"/>
              </a:rPr>
              <a:t>How many drops of water fit on a penny?</a:t>
            </a:r>
          </a:p>
          <a:p>
            <a:pPr algn="ctr"/>
            <a:endParaRPr lang="en-US" sz="4000">
              <a:latin typeface="Comic Sans MS" pitchFamily="66" charset="0"/>
            </a:endParaRPr>
          </a:p>
        </p:txBody>
      </p:sp>
      <p:sp>
        <p:nvSpPr>
          <p:cNvPr id="539652" name="Rectangle 5"/>
          <p:cNvSpPr>
            <a:spLocks noChangeArrowheads="1"/>
          </p:cNvSpPr>
          <p:nvPr/>
        </p:nvSpPr>
        <p:spPr bwMode="auto">
          <a:xfrm>
            <a:off x="76200" y="3886200"/>
            <a:ext cx="8915400" cy="609600"/>
          </a:xfrm>
          <a:prstGeom prst="rect">
            <a:avLst/>
          </a:prstGeom>
          <a:noFill/>
          <a:ln w="9525">
            <a:noFill/>
            <a:miter lim="800000"/>
            <a:headEnd/>
            <a:tailEnd/>
          </a:ln>
        </p:spPr>
        <p:txBody>
          <a:bodyPr lIns="0" tIns="0" rIns="0" bIns="0" anchor="ctr">
            <a:spAutoFit/>
          </a:bodyPr>
          <a:lstStyle/>
          <a:p>
            <a:pPr algn="ctr"/>
            <a:r>
              <a:rPr lang="en-CA" sz="4000">
                <a:latin typeface="Comic Sans MS" pitchFamily="66" charset="0"/>
              </a:rPr>
              <a:t>Before you start, make a prediction!</a:t>
            </a:r>
            <a:endParaRPr lang="en-US" sz="4000">
              <a:latin typeface="Comic Sans MS" pitchFamily="66" charset="0"/>
            </a:endParaRPr>
          </a:p>
        </p:txBody>
      </p:sp>
      <p:sp>
        <p:nvSpPr>
          <p:cNvPr id="539653" name="Rectangle 6"/>
          <p:cNvSpPr>
            <a:spLocks noChangeArrowheads="1"/>
          </p:cNvSpPr>
          <p:nvPr/>
        </p:nvSpPr>
        <p:spPr bwMode="auto">
          <a:xfrm>
            <a:off x="228600" y="5410200"/>
            <a:ext cx="8686800" cy="1493838"/>
          </a:xfrm>
          <a:prstGeom prst="rect">
            <a:avLst/>
          </a:prstGeom>
          <a:noFill/>
          <a:ln w="9525">
            <a:noFill/>
            <a:miter lim="800000"/>
            <a:headEnd/>
            <a:tailEnd/>
          </a:ln>
        </p:spPr>
        <p:txBody>
          <a:bodyPr lIns="0" tIns="0" rIns="0" bIns="0" anchor="ctr">
            <a:spAutoFit/>
          </a:bodyPr>
          <a:lstStyle/>
          <a:p>
            <a:pPr algn="just"/>
            <a:r>
              <a:rPr lang="en-US" sz="4000" u="sng">
                <a:latin typeface="Comic Sans MS" pitchFamily="66" charset="0"/>
              </a:rPr>
              <a:t>Key Concepts</a:t>
            </a:r>
            <a:r>
              <a:rPr lang="en-US" sz="4000">
                <a:latin typeface="Comic Sans MS" pitchFamily="66" charset="0"/>
              </a:rPr>
              <a:t>: </a:t>
            </a:r>
          </a:p>
          <a:p>
            <a:pPr algn="just"/>
            <a:r>
              <a:rPr lang="en-US" sz="4000">
                <a:latin typeface="Comic Sans MS" pitchFamily="66" charset="0"/>
              </a:rPr>
              <a:t>Surface Tension, Scientific Method</a:t>
            </a:r>
            <a:r>
              <a:rPr lang="en-US">
                <a:latin typeface="Comic Sans MS" pitchFamily="66" charset="0"/>
              </a:rPr>
              <a:t>  </a:t>
            </a:r>
          </a:p>
          <a:p>
            <a:pPr algn="just"/>
            <a:endParaRPr lang="en-US">
              <a:latin typeface="Comic Sans MS" pitchFamily="66" charset="0"/>
            </a:endParaRPr>
          </a:p>
        </p:txBody>
      </p:sp>
      <p:pic>
        <p:nvPicPr>
          <p:cNvPr id="7" name="Picture 3" descr="1c_head"/>
          <p:cNvPicPr>
            <a:picLocks noChangeAspect="1" noChangeArrowheads="1"/>
          </p:cNvPicPr>
          <p:nvPr/>
        </p:nvPicPr>
        <p:blipFill>
          <a:blip r:embed="rId3" cstate="print"/>
          <a:srcRect/>
          <a:stretch>
            <a:fillRect/>
          </a:stretch>
        </p:blipFill>
        <p:spPr bwMode="auto">
          <a:xfrm>
            <a:off x="304800" y="1752600"/>
            <a:ext cx="1676400" cy="16764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7" name="Rectangle 6"/>
          <p:cNvSpPr txBox="1">
            <a:spLocks noChangeArrowheads="1"/>
          </p:cNvSpPr>
          <p:nvPr/>
        </p:nvSpPr>
        <p:spPr bwMode="auto">
          <a:xfrm>
            <a:off x="457200" y="274638"/>
            <a:ext cx="8229600" cy="1143000"/>
          </a:xfrm>
          <a:prstGeom prst="rect">
            <a:avLst/>
          </a:prstGeom>
          <a:noFill/>
          <a:ln w="9525">
            <a:noFill/>
            <a:miter lim="800000"/>
            <a:headEnd/>
            <a:tailEnd/>
          </a:ln>
        </p:spPr>
        <p:txBody>
          <a:bodyPr/>
          <a:lstStyle/>
          <a:p>
            <a:pPr algn="ctr"/>
            <a:r>
              <a:rPr lang="en-US" sz="1400" b="1" dirty="0">
                <a:solidFill>
                  <a:srgbClr val="311997"/>
                </a:solidFill>
                <a:latin typeface="Comic Sans MS" pitchFamily="66" charset="0"/>
              </a:rPr>
              <a:t>Activity #2a</a:t>
            </a:r>
            <a:r>
              <a:rPr lang="en-US" sz="4000" b="1" dirty="0">
                <a:solidFill>
                  <a:srgbClr val="311997"/>
                </a:solidFill>
                <a:latin typeface="Comic Sans MS" pitchFamily="66" charset="0"/>
              </a:rPr>
              <a:t/>
            </a:r>
            <a:br>
              <a:rPr lang="en-US" sz="4000" b="1" dirty="0">
                <a:solidFill>
                  <a:srgbClr val="311997"/>
                </a:solidFill>
                <a:latin typeface="Comic Sans MS" pitchFamily="66" charset="0"/>
              </a:rPr>
            </a:br>
            <a:r>
              <a:rPr lang="en-US" sz="4800" b="1" dirty="0">
                <a:solidFill>
                  <a:srgbClr val="311997"/>
                </a:solidFill>
                <a:latin typeface="Comic Sans MS" pitchFamily="66" charset="0"/>
              </a:rPr>
              <a:t>DROWNING ISLAND</a:t>
            </a:r>
          </a:p>
        </p:txBody>
      </p:sp>
      <p:pic>
        <p:nvPicPr>
          <p:cNvPr id="541698" name="Picture 9" descr="ad_Coral_Island"/>
          <p:cNvPicPr>
            <a:picLocks noChangeAspect="1" noChangeArrowheads="1"/>
          </p:cNvPicPr>
          <p:nvPr/>
        </p:nvPicPr>
        <p:blipFill>
          <a:blip r:embed="rId3" cstate="screen"/>
          <a:srcRect/>
          <a:stretch>
            <a:fillRect/>
          </a:stretch>
        </p:blipFill>
        <p:spPr bwMode="auto">
          <a:xfrm>
            <a:off x="1143000" y="1600200"/>
            <a:ext cx="6781800" cy="3886200"/>
          </a:xfrm>
          <a:prstGeom prst="rect">
            <a:avLst/>
          </a:prstGeom>
          <a:noFill/>
          <a:ln w="9525">
            <a:noFill/>
            <a:miter lim="800000"/>
            <a:headEnd/>
            <a:tailEnd/>
          </a:ln>
        </p:spPr>
      </p:pic>
      <p:sp>
        <p:nvSpPr>
          <p:cNvPr id="541699" name="Rectangle 10"/>
          <p:cNvSpPr>
            <a:spLocks noChangeArrowheads="1"/>
          </p:cNvSpPr>
          <p:nvPr/>
        </p:nvSpPr>
        <p:spPr bwMode="auto">
          <a:xfrm>
            <a:off x="0" y="5562600"/>
            <a:ext cx="9144000" cy="1493838"/>
          </a:xfrm>
          <a:prstGeom prst="rect">
            <a:avLst/>
          </a:prstGeom>
          <a:noFill/>
          <a:ln w="9525">
            <a:noFill/>
            <a:miter lim="800000"/>
            <a:headEnd/>
            <a:tailEnd/>
          </a:ln>
        </p:spPr>
        <p:txBody>
          <a:bodyPr lIns="0" tIns="0" rIns="0" bIns="0" anchor="ctr">
            <a:spAutoFit/>
          </a:bodyPr>
          <a:lstStyle/>
          <a:p>
            <a:pPr algn="ctr"/>
            <a:r>
              <a:rPr lang="en-US" sz="4000" u="sng">
                <a:latin typeface="Comic Sans MS" pitchFamily="66" charset="0"/>
              </a:rPr>
              <a:t>Key Concept</a:t>
            </a:r>
            <a:r>
              <a:rPr lang="en-US" sz="4000">
                <a:latin typeface="Comic Sans MS" pitchFamily="66" charset="0"/>
              </a:rPr>
              <a:t>: Climate change is causing sea level to rise.</a:t>
            </a:r>
            <a:r>
              <a:rPr lang="en-US">
                <a:latin typeface="Comic Sans MS" pitchFamily="66" charset="0"/>
              </a:rPr>
              <a:t>  </a:t>
            </a:r>
          </a:p>
          <a:p>
            <a:pPr algn="ctr"/>
            <a:endParaRPr lang="en-US">
              <a:latin typeface="Comic Sans MS" pitchFamily="66"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slide 10.gif"/>
          <p:cNvPicPr>
            <a:picLocks noChangeAspect="1"/>
          </p:cNvPicPr>
          <p:nvPr/>
        </p:nvPicPr>
        <p:blipFill>
          <a:blip r:embed="rId3" cstate="print"/>
          <a:stretch>
            <a:fillRect/>
          </a:stretch>
        </p:blipFill>
        <p:spPr>
          <a:xfrm>
            <a:off x="457200" y="914400"/>
            <a:ext cx="7343775" cy="5514975"/>
          </a:xfrm>
          <a:prstGeom prst="rect">
            <a:avLst/>
          </a:prstGeom>
        </p:spPr>
      </p:pic>
      <p:cxnSp>
        <p:nvCxnSpPr>
          <p:cNvPr id="14" name="Straight Arrow Connector 13"/>
          <p:cNvCxnSpPr>
            <a:cxnSpLocks noChangeShapeType="1"/>
          </p:cNvCxnSpPr>
          <p:nvPr/>
        </p:nvCxnSpPr>
        <p:spPr bwMode="auto">
          <a:xfrm flipH="1" flipV="1">
            <a:off x="4724400" y="2438400"/>
            <a:ext cx="914400" cy="1600200"/>
          </a:xfrm>
          <a:prstGeom prst="straightConnector1">
            <a:avLst/>
          </a:prstGeom>
          <a:noFill/>
          <a:ln w="38100" algn="ctr">
            <a:solidFill>
              <a:schemeClr val="tx1"/>
            </a:solidFill>
            <a:round/>
            <a:headEnd/>
            <a:tailEnd type="arrow" w="med" len="med"/>
          </a:ln>
          <a:effectLst>
            <a:outerShdw dist="23000" dir="5400000" rotWithShape="0">
              <a:srgbClr val="000000">
                <a:alpha val="34999"/>
              </a:srgbClr>
            </a:outerShdw>
          </a:effectLst>
        </p:spPr>
      </p:cxnSp>
      <p:sp useBgFill="1">
        <p:nvSpPr>
          <p:cNvPr id="33" name="TextBox 32"/>
          <p:cNvSpPr txBox="1"/>
          <p:nvPr/>
        </p:nvSpPr>
        <p:spPr>
          <a:xfrm>
            <a:off x="5562600" y="4038600"/>
            <a:ext cx="3200400" cy="923925"/>
          </a:xfrm>
          <a:prstGeom prst="rect">
            <a:avLst/>
          </a:prstGeom>
          <a:ln/>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latin typeface="Comic Sans MS" pitchFamily="66" charset="0"/>
              </a:rPr>
              <a:t>2.  Put 2 houses (red beads) on your island -- one on the coast and one inland.</a:t>
            </a:r>
            <a:endParaRPr lang="en-US" dirty="0"/>
          </a:p>
        </p:txBody>
      </p:sp>
      <p:sp useBgFill="1">
        <p:nvSpPr>
          <p:cNvPr id="38" name="TextBox 37"/>
          <p:cNvSpPr txBox="1"/>
          <p:nvPr/>
        </p:nvSpPr>
        <p:spPr>
          <a:xfrm>
            <a:off x="6172200" y="628650"/>
            <a:ext cx="2057400" cy="120015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latin typeface="Comic Sans MS" pitchFamily="66" charset="0"/>
              </a:rPr>
              <a:t>1.  Make an island out of this clay ball and put in the “ocean”.</a:t>
            </a:r>
            <a:endParaRPr lang="en-US" dirty="0"/>
          </a:p>
        </p:txBody>
      </p:sp>
      <p:sp>
        <p:nvSpPr>
          <p:cNvPr id="543750" name="TextBox 6"/>
          <p:cNvSpPr txBox="1">
            <a:spLocks noChangeArrowheads="1"/>
          </p:cNvSpPr>
          <p:nvPr/>
        </p:nvSpPr>
        <p:spPr bwMode="auto">
          <a:xfrm>
            <a:off x="914400" y="6059488"/>
            <a:ext cx="5181600" cy="650875"/>
          </a:xfrm>
          <a:prstGeom prst="rect">
            <a:avLst/>
          </a:prstGeom>
          <a:solidFill>
            <a:schemeClr val="bg1"/>
          </a:solidFill>
          <a:ln w="9525">
            <a:solidFill>
              <a:schemeClr val="tx1"/>
            </a:solidFill>
            <a:miter lim="800000"/>
            <a:headEnd/>
            <a:tailEnd/>
          </a:ln>
        </p:spPr>
        <p:txBody>
          <a:bodyPr>
            <a:spAutoFit/>
          </a:bodyPr>
          <a:lstStyle/>
          <a:p>
            <a:r>
              <a:rPr lang="en-US">
                <a:latin typeface="Comic Sans MS" pitchFamily="66" charset="0"/>
              </a:rPr>
              <a:t>3.  Use your pipette to squeeze 10 pipettes full of water onto the “ocean”.</a:t>
            </a:r>
          </a:p>
        </p:txBody>
      </p:sp>
      <p:sp useBgFill="1">
        <p:nvSpPr>
          <p:cNvPr id="2" name="TextBox 37"/>
          <p:cNvSpPr txBox="1"/>
          <p:nvPr/>
        </p:nvSpPr>
        <p:spPr>
          <a:xfrm>
            <a:off x="228600" y="76200"/>
            <a:ext cx="3581400" cy="92551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r>
              <a:rPr lang="en-US">
                <a:solidFill>
                  <a:srgbClr val="000000"/>
                </a:solidFill>
                <a:latin typeface="Comic Sans MS" pitchFamily="66" charset="0"/>
                <a:cs typeface="Arial" charset="0"/>
              </a:rPr>
              <a:t>4.  Teacher volunteers put ice on the “land” to represent continental ice.</a:t>
            </a:r>
            <a:endParaRPr lang="en-US">
              <a:solidFill>
                <a:srgbClr val="000000"/>
              </a:solidFill>
              <a:latin typeface="Arial" charset="0"/>
              <a:cs typeface="Arial" charset="0"/>
            </a:endParaRPr>
          </a:p>
        </p:txBody>
      </p:sp>
      <p:cxnSp>
        <p:nvCxnSpPr>
          <p:cNvPr id="10" name="Straight Arrow Connector 9"/>
          <p:cNvCxnSpPr>
            <a:cxnSpLocks noChangeShapeType="1"/>
          </p:cNvCxnSpPr>
          <p:nvPr/>
        </p:nvCxnSpPr>
        <p:spPr bwMode="auto">
          <a:xfrm>
            <a:off x="1981200" y="1000125"/>
            <a:ext cx="1257300" cy="1057275"/>
          </a:xfrm>
          <a:prstGeom prst="straightConnector1">
            <a:avLst/>
          </a:prstGeom>
          <a:noFill/>
          <a:ln w="38100" algn="ctr">
            <a:solidFill>
              <a:schemeClr val="tx1"/>
            </a:solidFill>
            <a:round/>
            <a:headEnd/>
            <a:tailEnd type="arrow" w="med" len="med"/>
          </a:ln>
          <a:effectLst>
            <a:outerShdw dist="23000" dir="5400000" rotWithShape="0">
              <a:srgbClr val="000000">
                <a:alpha val="34998"/>
              </a:srgbClr>
            </a:outerShdw>
          </a:effectLst>
        </p:spPr>
      </p:cxnSp>
      <p:cxnSp>
        <p:nvCxnSpPr>
          <p:cNvPr id="3" name="Straight Arrow Connector 13"/>
          <p:cNvCxnSpPr>
            <a:cxnSpLocks noChangeShapeType="1"/>
          </p:cNvCxnSpPr>
          <p:nvPr/>
        </p:nvCxnSpPr>
        <p:spPr bwMode="auto">
          <a:xfrm flipV="1">
            <a:off x="4730750" y="4648200"/>
            <a:ext cx="69850" cy="1384300"/>
          </a:xfrm>
          <a:prstGeom prst="straightConnector1">
            <a:avLst/>
          </a:prstGeom>
          <a:noFill/>
          <a:ln w="38100" algn="ctr">
            <a:solidFill>
              <a:schemeClr val="tx1"/>
            </a:solidFill>
            <a:round/>
            <a:headEnd/>
            <a:tailEnd type="arrow" w="med" len="med"/>
          </a:ln>
          <a:effectLst>
            <a:outerShdw dist="23000" dir="5400000" rotWithShape="0">
              <a:srgbClr val="000000">
                <a:alpha val="34998"/>
              </a:srgbClr>
            </a:outerShdw>
          </a:effectLst>
        </p:spPr>
      </p:cxnSp>
      <p:cxnSp>
        <p:nvCxnSpPr>
          <p:cNvPr id="12" name="Straight Arrow Connector 11"/>
          <p:cNvCxnSpPr>
            <a:cxnSpLocks noChangeShapeType="1"/>
          </p:cNvCxnSpPr>
          <p:nvPr/>
        </p:nvCxnSpPr>
        <p:spPr bwMode="auto">
          <a:xfrm flipH="1">
            <a:off x="5753100" y="1828800"/>
            <a:ext cx="1028700" cy="600075"/>
          </a:xfrm>
          <a:prstGeom prst="straightConnector1">
            <a:avLst/>
          </a:prstGeom>
          <a:noFill/>
          <a:ln w="38100" algn="ctr">
            <a:solidFill>
              <a:schemeClr val="tx1"/>
            </a:solidFill>
            <a:round/>
            <a:headEnd/>
            <a:tailEnd type="arrow" w="med" len="med"/>
          </a:ln>
          <a:effectLst>
            <a:outerShdw dist="23000" dir="5400000" rotWithShape="0">
              <a:srgbClr val="000000">
                <a:alpha val="34998"/>
              </a:srgbClr>
            </a:outerShdw>
          </a:effectLst>
        </p:spPr>
      </p:cxn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3" name="Rectangle 5"/>
          <p:cNvSpPr>
            <a:spLocks noGrp="1" noChangeArrowheads="1"/>
          </p:cNvSpPr>
          <p:nvPr>
            <p:ph type="title" idx="4294967295"/>
          </p:nvPr>
        </p:nvSpPr>
        <p:spPr>
          <a:xfrm>
            <a:off x="304800" y="228600"/>
            <a:ext cx="8229600" cy="1143000"/>
          </a:xfrm>
        </p:spPr>
        <p:txBody>
          <a:bodyPr/>
          <a:lstStyle/>
          <a:p>
            <a:pPr eaLnBrk="1" hangingPunct="1"/>
            <a:r>
              <a:rPr lang="en-US" sz="1400" b="1" dirty="0" smtClean="0">
                <a:solidFill>
                  <a:srgbClr val="311997"/>
                </a:solidFill>
                <a:latin typeface="Comic Sans MS" pitchFamily="66" charset="0"/>
              </a:rPr>
              <a:t>Activity #3</a:t>
            </a:r>
            <a:r>
              <a:rPr lang="en-US" sz="3200" dirty="0" smtClean="0">
                <a:solidFill>
                  <a:srgbClr val="311997"/>
                </a:solidFill>
                <a:latin typeface="Comic Sans MS" pitchFamily="66" charset="0"/>
              </a:rPr>
              <a:t/>
            </a:r>
            <a:br>
              <a:rPr lang="en-US" sz="3200" dirty="0" smtClean="0">
                <a:solidFill>
                  <a:srgbClr val="311997"/>
                </a:solidFill>
                <a:latin typeface="Comic Sans MS" pitchFamily="66" charset="0"/>
              </a:rPr>
            </a:br>
            <a:r>
              <a:rPr lang="en-US" sz="4800" b="1" dirty="0" smtClean="0">
                <a:solidFill>
                  <a:srgbClr val="311997"/>
                </a:solidFill>
                <a:latin typeface="Comic Sans MS" pitchFamily="66" charset="0"/>
              </a:rPr>
              <a:t>CARTESIAN DIVERS</a:t>
            </a:r>
          </a:p>
        </p:txBody>
      </p:sp>
      <p:sp>
        <p:nvSpPr>
          <p:cNvPr id="545794" name="Rectangle 9"/>
          <p:cNvSpPr>
            <a:spLocks noChangeArrowheads="1"/>
          </p:cNvSpPr>
          <p:nvPr/>
        </p:nvSpPr>
        <p:spPr bwMode="auto">
          <a:xfrm>
            <a:off x="609600" y="5791200"/>
            <a:ext cx="7772400" cy="1077913"/>
          </a:xfrm>
          <a:prstGeom prst="rect">
            <a:avLst/>
          </a:prstGeom>
          <a:noFill/>
          <a:ln w="9525">
            <a:noFill/>
            <a:miter lim="800000"/>
            <a:headEnd/>
            <a:tailEnd/>
          </a:ln>
        </p:spPr>
        <p:txBody>
          <a:bodyPr>
            <a:spAutoFit/>
          </a:bodyPr>
          <a:lstStyle/>
          <a:p>
            <a:pPr algn="ctr"/>
            <a:r>
              <a:rPr lang="en-US" sz="3200" u="sng">
                <a:latin typeface="Comic Sans MS" pitchFamily="66" charset="0"/>
              </a:rPr>
              <a:t>Key Concept</a:t>
            </a:r>
            <a:r>
              <a:rPr lang="en-US" sz="3200">
                <a:latin typeface="Comic Sans MS" pitchFamily="66" charset="0"/>
              </a:rPr>
              <a:t>: Density determines whether an object sinks or floats.</a:t>
            </a:r>
          </a:p>
        </p:txBody>
      </p:sp>
      <p:pic>
        <p:nvPicPr>
          <p:cNvPr id="545795" name="Picture 1" descr="Z:\OCEAN_FEST\PHOTOS - ocean fest\Cartesian Diver\cart diver - boy (before).jpg"/>
          <p:cNvPicPr>
            <a:picLocks noChangeAspect="1" noChangeArrowheads="1"/>
          </p:cNvPicPr>
          <p:nvPr/>
        </p:nvPicPr>
        <p:blipFill>
          <a:blip r:embed="rId3" cstate="screen"/>
          <a:srcRect/>
          <a:stretch>
            <a:fillRect/>
          </a:stretch>
        </p:blipFill>
        <p:spPr bwMode="auto">
          <a:xfrm>
            <a:off x="1066800" y="1219200"/>
            <a:ext cx="3505200" cy="4605338"/>
          </a:xfrm>
          <a:prstGeom prst="rect">
            <a:avLst/>
          </a:prstGeom>
          <a:noFill/>
          <a:ln w="9525">
            <a:noFill/>
            <a:miter lim="800000"/>
            <a:headEnd/>
            <a:tailEnd/>
          </a:ln>
        </p:spPr>
      </p:pic>
      <p:pic>
        <p:nvPicPr>
          <p:cNvPr id="545796" name="Picture 2" descr="Z:\OCEAN_FEST\PHOTOS - ocean fest\Cartesian Diver\cart diver - boy (after).jpg"/>
          <p:cNvPicPr>
            <a:picLocks noChangeAspect="1" noChangeArrowheads="1"/>
          </p:cNvPicPr>
          <p:nvPr/>
        </p:nvPicPr>
        <p:blipFill>
          <a:blip r:embed="rId4" cstate="screen"/>
          <a:srcRect/>
          <a:stretch>
            <a:fillRect/>
          </a:stretch>
        </p:blipFill>
        <p:spPr bwMode="auto">
          <a:xfrm>
            <a:off x="4800600" y="1219200"/>
            <a:ext cx="3600450" cy="46101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7841" name="Picture 5" descr="Untitled-2"/>
          <p:cNvPicPr>
            <a:picLocks noChangeAspect="1" noChangeArrowheads="1"/>
          </p:cNvPicPr>
          <p:nvPr/>
        </p:nvPicPr>
        <p:blipFill>
          <a:blip r:embed="rId3" cstate="screen"/>
          <a:srcRect/>
          <a:stretch>
            <a:fillRect/>
          </a:stretch>
        </p:blipFill>
        <p:spPr bwMode="auto">
          <a:xfrm>
            <a:off x="0" y="0"/>
            <a:ext cx="4114800" cy="6858000"/>
          </a:xfrm>
          <a:prstGeom prst="rect">
            <a:avLst/>
          </a:prstGeom>
          <a:noFill/>
          <a:ln w="9525">
            <a:noFill/>
            <a:miter lim="800000"/>
            <a:headEnd/>
            <a:tailEnd/>
          </a:ln>
        </p:spPr>
      </p:pic>
      <p:pic>
        <p:nvPicPr>
          <p:cNvPr id="547842" name="Picture 2" descr="Decompression Chanber"/>
          <p:cNvPicPr>
            <a:picLocks noChangeAspect="1" noChangeArrowheads="1"/>
          </p:cNvPicPr>
          <p:nvPr/>
        </p:nvPicPr>
        <p:blipFill>
          <a:blip r:embed="rId4" cstate="screen"/>
          <a:srcRect/>
          <a:stretch>
            <a:fillRect/>
          </a:stretch>
        </p:blipFill>
        <p:spPr bwMode="auto">
          <a:xfrm>
            <a:off x="4114800" y="0"/>
            <a:ext cx="5029200" cy="6858000"/>
          </a:xfrm>
          <a:prstGeom prst="rect">
            <a:avLst/>
          </a:prstGeom>
          <a:noFill/>
          <a:ln w="9525">
            <a:noFill/>
            <a:miter lim="800000"/>
            <a:headEnd/>
            <a:tailEnd/>
          </a:ln>
        </p:spPr>
      </p:pic>
      <p:sp>
        <p:nvSpPr>
          <p:cNvPr id="547843" name="Rectangle 4"/>
          <p:cNvSpPr>
            <a:spLocks noGrp="1" noChangeArrowheads="1"/>
          </p:cNvSpPr>
          <p:nvPr>
            <p:ph type="title" idx="4294967295"/>
          </p:nvPr>
        </p:nvSpPr>
        <p:spPr>
          <a:xfrm>
            <a:off x="-838200" y="-381000"/>
            <a:ext cx="5791200" cy="1981200"/>
          </a:xfrm>
        </p:spPr>
        <p:txBody>
          <a:bodyPr/>
          <a:lstStyle/>
          <a:p>
            <a:pPr eaLnBrk="1" hangingPunct="1"/>
            <a:r>
              <a:rPr lang="en-US" sz="4000" b="1" smtClean="0">
                <a:solidFill>
                  <a:srgbClr val="FFFF00"/>
                </a:solidFill>
                <a:latin typeface="Comic Sans MS" pitchFamily="66" charset="0"/>
              </a:rPr>
              <a:t>Scuba Diving &amp; Pressure</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6200" y="228600"/>
            <a:ext cx="5486400" cy="1524000"/>
          </a:xfrm>
          <a:prstGeom prst="rect">
            <a:avLst/>
          </a:prstGeom>
        </p:spPr>
        <p:txBody>
          <a:bodyPr>
            <a:normAutofit fontScale="90000" lnSpcReduction="10000"/>
          </a:bodyPr>
          <a:lstStyle/>
          <a:p>
            <a:pPr algn="ctr" fontAlgn="auto">
              <a:spcAft>
                <a:spcPts val="0"/>
              </a:spcAft>
              <a:defRPr/>
            </a:pPr>
            <a:r>
              <a:rPr lang="en-US" sz="1600" b="1" dirty="0">
                <a:solidFill>
                  <a:srgbClr val="311997"/>
                </a:solidFill>
                <a:latin typeface="Comic Sans MS" pitchFamily="66" charset="0"/>
                <a:ea typeface="+mj-ea"/>
                <a:cs typeface="+mj-cs"/>
              </a:rPr>
              <a:t>Activity #4</a:t>
            </a:r>
            <a:r>
              <a:rPr lang="en-US" sz="3600" b="1" dirty="0">
                <a:solidFill>
                  <a:srgbClr val="311997"/>
                </a:solidFill>
                <a:latin typeface="Arial Black" pitchFamily="34" charset="0"/>
                <a:ea typeface="+mj-ea"/>
                <a:cs typeface="+mj-cs"/>
              </a:rPr>
              <a:t/>
            </a:r>
            <a:br>
              <a:rPr lang="en-US" sz="3600" b="1" dirty="0">
                <a:solidFill>
                  <a:srgbClr val="311997"/>
                </a:solidFill>
                <a:latin typeface="Arial Black" pitchFamily="34" charset="0"/>
                <a:ea typeface="+mj-ea"/>
                <a:cs typeface="+mj-cs"/>
              </a:rPr>
            </a:br>
            <a:r>
              <a:rPr lang="en-US" sz="4800" b="1" dirty="0">
                <a:solidFill>
                  <a:srgbClr val="311997"/>
                </a:solidFill>
                <a:latin typeface="Comic Sans MS" pitchFamily="66" charset="0"/>
                <a:ea typeface="+mj-ea"/>
                <a:cs typeface="+mj-cs"/>
              </a:rPr>
              <a:t>OIL &amp; WATER TUBE</a:t>
            </a:r>
          </a:p>
        </p:txBody>
      </p:sp>
      <p:pic>
        <p:nvPicPr>
          <p:cNvPr id="549891" name="Picture 12" descr="wavetube"/>
          <p:cNvPicPr>
            <a:picLocks noChangeAspect="1" noChangeArrowheads="1"/>
          </p:cNvPicPr>
          <p:nvPr/>
        </p:nvPicPr>
        <p:blipFill>
          <a:blip r:embed="rId3" cstate="screen"/>
          <a:srcRect l="-7352" t="-6985" r="-9473" b="-15152"/>
          <a:stretch>
            <a:fillRect/>
          </a:stretch>
        </p:blipFill>
        <p:spPr bwMode="auto">
          <a:xfrm>
            <a:off x="969963" y="1471613"/>
            <a:ext cx="3449637" cy="4779962"/>
          </a:xfrm>
          <a:prstGeom prst="rect">
            <a:avLst/>
          </a:prstGeom>
          <a:noFill/>
          <a:ln w="9525">
            <a:noFill/>
            <a:miter lim="800000"/>
            <a:headEnd/>
            <a:tailEnd/>
          </a:ln>
        </p:spPr>
      </p:pic>
      <p:pic>
        <p:nvPicPr>
          <p:cNvPr id="549892" name="Picture 14" descr="junk1"/>
          <p:cNvPicPr>
            <a:picLocks noChangeAspect="1" noChangeArrowheads="1"/>
          </p:cNvPicPr>
          <p:nvPr/>
        </p:nvPicPr>
        <p:blipFill>
          <a:blip r:embed="rId4" cstate="screen"/>
          <a:srcRect/>
          <a:stretch>
            <a:fillRect/>
          </a:stretch>
        </p:blipFill>
        <p:spPr bwMode="auto">
          <a:xfrm>
            <a:off x="5334000" y="3124200"/>
            <a:ext cx="3148013" cy="2667000"/>
          </a:xfrm>
          <a:prstGeom prst="rect">
            <a:avLst/>
          </a:prstGeom>
          <a:noFill/>
          <a:ln w="9525">
            <a:noFill/>
            <a:miter lim="800000"/>
            <a:headEnd/>
            <a:tailEnd/>
          </a:ln>
        </p:spPr>
      </p:pic>
      <p:sp>
        <p:nvSpPr>
          <p:cNvPr id="549893" name="Rectangle 4"/>
          <p:cNvSpPr>
            <a:spLocks noChangeArrowheads="1"/>
          </p:cNvSpPr>
          <p:nvPr/>
        </p:nvSpPr>
        <p:spPr bwMode="auto">
          <a:xfrm>
            <a:off x="76200" y="5791200"/>
            <a:ext cx="9144000" cy="914400"/>
          </a:xfrm>
          <a:prstGeom prst="rect">
            <a:avLst/>
          </a:prstGeom>
          <a:noFill/>
          <a:ln w="9525">
            <a:noFill/>
            <a:miter lim="800000"/>
            <a:headEnd/>
            <a:tailEnd/>
          </a:ln>
        </p:spPr>
        <p:txBody>
          <a:bodyPr>
            <a:spAutoFit/>
          </a:bodyPr>
          <a:lstStyle/>
          <a:p>
            <a:r>
              <a:rPr lang="en-US" sz="2700" u="sng">
                <a:latin typeface="Comic Sans MS" pitchFamily="66" charset="0"/>
              </a:rPr>
              <a:t>Key Concepts</a:t>
            </a:r>
            <a:r>
              <a:rPr lang="en-US" sz="2700">
                <a:latin typeface="Comic Sans MS" pitchFamily="66" charset="0"/>
              </a:rPr>
              <a:t>: The different densities of oil and water, along with some microbes, help clean up oil spills.</a:t>
            </a:r>
          </a:p>
        </p:txBody>
      </p:sp>
      <p:pic>
        <p:nvPicPr>
          <p:cNvPr id="7" name="Picture 6" descr="slide 13 reef.jpg"/>
          <p:cNvPicPr>
            <a:picLocks noChangeAspect="1"/>
          </p:cNvPicPr>
          <p:nvPr/>
        </p:nvPicPr>
        <p:blipFill>
          <a:blip r:embed="rId5" cstate="print"/>
          <a:srcRect t="1555" r="5662" b="6654"/>
          <a:stretch>
            <a:fillRect/>
          </a:stretch>
        </p:blipFill>
        <p:spPr>
          <a:xfrm>
            <a:off x="5257800" y="228600"/>
            <a:ext cx="3242632" cy="2743200"/>
          </a:xfrm>
          <a:prstGeom prst="rect">
            <a:avLst/>
          </a:prstGeom>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7" name="Rectangle 2"/>
          <p:cNvSpPr>
            <a:spLocks noGrp="1" noChangeArrowheads="1"/>
          </p:cNvSpPr>
          <p:nvPr>
            <p:ph type="title" idx="4294967295"/>
          </p:nvPr>
        </p:nvSpPr>
        <p:spPr>
          <a:xfrm>
            <a:off x="228600" y="76200"/>
            <a:ext cx="8763000" cy="1524000"/>
          </a:xfrm>
        </p:spPr>
        <p:txBody>
          <a:bodyPr/>
          <a:lstStyle/>
          <a:p>
            <a:pPr eaLnBrk="1" hangingPunct="1"/>
            <a:r>
              <a:rPr lang="en-US" sz="4000" b="1" smtClean="0">
                <a:solidFill>
                  <a:srgbClr val="311997"/>
                </a:solidFill>
                <a:latin typeface="Comic Sans MS" pitchFamily="66" charset="0"/>
              </a:rPr>
              <a:t>MARINE MICROBES: </a:t>
            </a:r>
            <a:br>
              <a:rPr lang="en-US" sz="4000" b="1" smtClean="0">
                <a:solidFill>
                  <a:srgbClr val="311997"/>
                </a:solidFill>
                <a:latin typeface="Comic Sans MS" pitchFamily="66" charset="0"/>
              </a:rPr>
            </a:br>
            <a:r>
              <a:rPr lang="en-US" sz="3600" b="1" smtClean="0">
                <a:solidFill>
                  <a:srgbClr val="311997"/>
                </a:solidFill>
                <a:latin typeface="Comic Sans MS" pitchFamily="66" charset="0"/>
              </a:rPr>
              <a:t>WE CAN’T LIVE WITHOUT THEM</a:t>
            </a:r>
            <a:r>
              <a:rPr lang="en-US" sz="4000" b="1" smtClean="0">
                <a:solidFill>
                  <a:srgbClr val="311997"/>
                </a:solidFill>
                <a:latin typeface="Comic Sans MS" pitchFamily="66" charset="0"/>
              </a:rPr>
              <a:t>  </a:t>
            </a:r>
          </a:p>
        </p:txBody>
      </p:sp>
      <p:sp>
        <p:nvSpPr>
          <p:cNvPr id="551938" name="Rectangle 3"/>
          <p:cNvSpPr>
            <a:spLocks noChangeArrowheads="1"/>
          </p:cNvSpPr>
          <p:nvPr/>
        </p:nvSpPr>
        <p:spPr bwMode="auto">
          <a:xfrm>
            <a:off x="4495800" y="1439863"/>
            <a:ext cx="4343400" cy="5170487"/>
          </a:xfrm>
          <a:prstGeom prst="rect">
            <a:avLst/>
          </a:prstGeom>
          <a:noFill/>
          <a:ln w="9525">
            <a:noFill/>
            <a:miter lim="800000"/>
            <a:headEnd/>
            <a:tailEnd/>
          </a:ln>
        </p:spPr>
        <p:txBody>
          <a:bodyPr lIns="0" tIns="0" rIns="0" bIns="0" anchor="ctr">
            <a:spAutoFit/>
          </a:bodyPr>
          <a:lstStyle/>
          <a:p>
            <a:pPr marL="293688" indent="-223838">
              <a:buFontTx/>
              <a:buChar char="•"/>
            </a:pPr>
            <a:endParaRPr lang="en-CA" sz="2800">
              <a:latin typeface="Comic Sans MS" pitchFamily="66" charset="0"/>
            </a:endParaRPr>
          </a:p>
          <a:p>
            <a:pPr marL="293688" indent="-223838">
              <a:buFontTx/>
              <a:buChar char="•"/>
            </a:pPr>
            <a:r>
              <a:rPr lang="en-CA" sz="2800">
                <a:latin typeface="Comic Sans MS" pitchFamily="66" charset="0"/>
              </a:rPr>
              <a:t>Produce oxygen</a:t>
            </a:r>
          </a:p>
          <a:p>
            <a:pPr marL="293688" indent="-223838"/>
            <a:endParaRPr lang="en-CA" sz="2800">
              <a:latin typeface="Comic Sans MS" pitchFamily="66" charset="0"/>
            </a:endParaRPr>
          </a:p>
          <a:p>
            <a:pPr marL="293688" indent="-223838">
              <a:buFontTx/>
              <a:buChar char="•"/>
            </a:pPr>
            <a:r>
              <a:rPr lang="en-CA" sz="2800">
                <a:latin typeface="Comic Sans MS" pitchFamily="66" charset="0"/>
              </a:rPr>
              <a:t>Help moderate the Earth’s climate</a:t>
            </a:r>
          </a:p>
          <a:p>
            <a:pPr marL="293688" indent="-223838">
              <a:buFontTx/>
              <a:buChar char="•"/>
            </a:pPr>
            <a:endParaRPr lang="en-CA" sz="2800">
              <a:latin typeface="Comic Sans MS" pitchFamily="66" charset="0"/>
            </a:endParaRPr>
          </a:p>
          <a:p>
            <a:pPr marL="293688" indent="-223838">
              <a:buFontTx/>
              <a:buChar char="•"/>
            </a:pPr>
            <a:r>
              <a:rPr lang="en-CA" sz="2800">
                <a:latin typeface="Comic Sans MS" pitchFamily="66" charset="0"/>
              </a:rPr>
              <a:t>Our planet’s main decomposers</a:t>
            </a:r>
          </a:p>
          <a:p>
            <a:pPr marL="293688" indent="-223838">
              <a:buFontTx/>
              <a:buChar char="•"/>
            </a:pPr>
            <a:endParaRPr lang="en-CA" sz="2800">
              <a:latin typeface="Comic Sans MS" pitchFamily="66" charset="0"/>
            </a:endParaRPr>
          </a:p>
          <a:p>
            <a:pPr marL="293688" indent="-223838">
              <a:buFontTx/>
              <a:buChar char="•"/>
            </a:pPr>
            <a:r>
              <a:rPr lang="en-CA" sz="2800">
                <a:latin typeface="Comic Sans MS" pitchFamily="66" charset="0"/>
              </a:rPr>
              <a:t>Base of food web</a:t>
            </a:r>
          </a:p>
          <a:p>
            <a:pPr marL="293688" indent="-223838">
              <a:buFontTx/>
              <a:buChar char="•"/>
            </a:pPr>
            <a:endParaRPr lang="en-CA" sz="2800">
              <a:latin typeface="Comic Sans MS" pitchFamily="66" charset="0"/>
            </a:endParaRPr>
          </a:p>
          <a:p>
            <a:pPr marL="293688" indent="-223838">
              <a:buFontTx/>
              <a:buChar char="•"/>
            </a:pPr>
            <a:endParaRPr lang="en-CA" sz="2800">
              <a:latin typeface="Comic Sans MS" pitchFamily="66" charset="0"/>
            </a:endParaRPr>
          </a:p>
        </p:txBody>
      </p:sp>
      <p:pic>
        <p:nvPicPr>
          <p:cNvPr id="551939" name="Picture 5" descr="junk1 copy"/>
          <p:cNvPicPr>
            <a:picLocks noChangeAspect="1" noChangeArrowheads="1"/>
          </p:cNvPicPr>
          <p:nvPr/>
        </p:nvPicPr>
        <p:blipFill>
          <a:blip r:embed="rId3" cstate="screen"/>
          <a:srcRect/>
          <a:stretch>
            <a:fillRect/>
          </a:stretch>
        </p:blipFill>
        <p:spPr bwMode="auto">
          <a:xfrm>
            <a:off x="600075" y="1524000"/>
            <a:ext cx="3478213" cy="5334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6200" y="228600"/>
            <a:ext cx="5486400" cy="1524000"/>
          </a:xfrm>
          <a:prstGeom prst="rect">
            <a:avLst/>
          </a:prstGeom>
        </p:spPr>
        <p:txBody>
          <a:bodyPr>
            <a:normAutofit fontScale="90000" lnSpcReduction="10000"/>
          </a:bodyPr>
          <a:lstStyle/>
          <a:p>
            <a:pPr algn="ctr" fontAlgn="auto">
              <a:spcAft>
                <a:spcPts val="0"/>
              </a:spcAft>
              <a:defRPr/>
            </a:pPr>
            <a:r>
              <a:rPr lang="en-US" sz="1200" b="1" dirty="0">
                <a:solidFill>
                  <a:srgbClr val="311997"/>
                </a:solidFill>
                <a:latin typeface="Comic Sans MS" pitchFamily="66" charset="0"/>
                <a:ea typeface="+mj-ea"/>
                <a:cs typeface="+mj-cs"/>
              </a:rPr>
              <a:t>Activity #4</a:t>
            </a:r>
            <a:r>
              <a:rPr lang="en-US" sz="3600" b="1" dirty="0">
                <a:solidFill>
                  <a:srgbClr val="311997"/>
                </a:solidFill>
                <a:latin typeface="Arial Black" pitchFamily="34" charset="0"/>
                <a:ea typeface="+mj-ea"/>
                <a:cs typeface="+mj-cs"/>
              </a:rPr>
              <a:t/>
            </a:r>
            <a:br>
              <a:rPr lang="en-US" sz="3600" b="1" dirty="0">
                <a:solidFill>
                  <a:srgbClr val="311997"/>
                </a:solidFill>
                <a:latin typeface="Arial Black" pitchFamily="34" charset="0"/>
                <a:ea typeface="+mj-ea"/>
                <a:cs typeface="+mj-cs"/>
              </a:rPr>
            </a:br>
            <a:r>
              <a:rPr lang="en-US" sz="4800" b="1" dirty="0">
                <a:solidFill>
                  <a:srgbClr val="311997"/>
                </a:solidFill>
                <a:latin typeface="Comic Sans MS" pitchFamily="66" charset="0"/>
                <a:ea typeface="+mj-ea"/>
                <a:cs typeface="+mj-cs"/>
              </a:rPr>
              <a:t>OIL &amp; WATER TUBE</a:t>
            </a:r>
          </a:p>
        </p:txBody>
      </p:sp>
      <p:pic>
        <p:nvPicPr>
          <p:cNvPr id="549891" name="Picture 12" descr="wavetube"/>
          <p:cNvPicPr>
            <a:picLocks noChangeAspect="1" noChangeArrowheads="1"/>
          </p:cNvPicPr>
          <p:nvPr/>
        </p:nvPicPr>
        <p:blipFill>
          <a:blip r:embed="rId3" cstate="screen"/>
          <a:srcRect l="-7352" t="-6985" r="-9473" b="-15152"/>
          <a:stretch>
            <a:fillRect/>
          </a:stretch>
        </p:blipFill>
        <p:spPr bwMode="auto">
          <a:xfrm>
            <a:off x="969963" y="1471613"/>
            <a:ext cx="3449637" cy="4779962"/>
          </a:xfrm>
          <a:prstGeom prst="rect">
            <a:avLst/>
          </a:prstGeom>
          <a:noFill/>
          <a:ln w="9525">
            <a:noFill/>
            <a:miter lim="800000"/>
            <a:headEnd/>
            <a:tailEnd/>
          </a:ln>
        </p:spPr>
      </p:pic>
      <p:pic>
        <p:nvPicPr>
          <p:cNvPr id="549892" name="Picture 14" descr="junk1"/>
          <p:cNvPicPr>
            <a:picLocks noChangeAspect="1" noChangeArrowheads="1"/>
          </p:cNvPicPr>
          <p:nvPr/>
        </p:nvPicPr>
        <p:blipFill>
          <a:blip r:embed="rId4" cstate="screen"/>
          <a:srcRect/>
          <a:stretch>
            <a:fillRect/>
          </a:stretch>
        </p:blipFill>
        <p:spPr bwMode="auto">
          <a:xfrm>
            <a:off x="5334000" y="3124200"/>
            <a:ext cx="3148013" cy="2667000"/>
          </a:xfrm>
          <a:prstGeom prst="rect">
            <a:avLst/>
          </a:prstGeom>
          <a:noFill/>
          <a:ln w="9525">
            <a:noFill/>
            <a:miter lim="800000"/>
            <a:headEnd/>
            <a:tailEnd/>
          </a:ln>
        </p:spPr>
      </p:pic>
      <p:sp>
        <p:nvSpPr>
          <p:cNvPr id="549893" name="Rectangle 4"/>
          <p:cNvSpPr>
            <a:spLocks noChangeArrowheads="1"/>
          </p:cNvSpPr>
          <p:nvPr/>
        </p:nvSpPr>
        <p:spPr bwMode="auto">
          <a:xfrm>
            <a:off x="76200" y="5791200"/>
            <a:ext cx="9144000" cy="914400"/>
          </a:xfrm>
          <a:prstGeom prst="rect">
            <a:avLst/>
          </a:prstGeom>
          <a:noFill/>
          <a:ln w="9525">
            <a:noFill/>
            <a:miter lim="800000"/>
            <a:headEnd/>
            <a:tailEnd/>
          </a:ln>
        </p:spPr>
        <p:txBody>
          <a:bodyPr>
            <a:spAutoFit/>
          </a:bodyPr>
          <a:lstStyle/>
          <a:p>
            <a:r>
              <a:rPr lang="en-US" sz="2700" u="sng">
                <a:latin typeface="Comic Sans MS" pitchFamily="66" charset="0"/>
              </a:rPr>
              <a:t>Key Concepts</a:t>
            </a:r>
            <a:r>
              <a:rPr lang="en-US" sz="2700">
                <a:latin typeface="Comic Sans MS" pitchFamily="66" charset="0"/>
              </a:rPr>
              <a:t>: The different densities of oil and water, along with some microbes, help clean up oil spills.</a:t>
            </a:r>
          </a:p>
        </p:txBody>
      </p:sp>
      <p:pic>
        <p:nvPicPr>
          <p:cNvPr id="7" name="Picture 6" descr="slide 13 reef.jpg"/>
          <p:cNvPicPr>
            <a:picLocks noChangeAspect="1"/>
          </p:cNvPicPr>
          <p:nvPr/>
        </p:nvPicPr>
        <p:blipFill>
          <a:blip r:embed="rId5" cstate="print"/>
          <a:srcRect t="1555" r="5662" b="6654"/>
          <a:stretch>
            <a:fillRect/>
          </a:stretch>
        </p:blipFill>
        <p:spPr>
          <a:xfrm>
            <a:off x="5257800" y="228600"/>
            <a:ext cx="3242632" cy="2743200"/>
          </a:xfrm>
          <a:prstGeom prst="rect">
            <a:avLst/>
          </a:prstGeom>
        </p:spPr>
      </p:pic>
    </p:spTree>
    <p:extLst>
      <p:ext uri="{BB962C8B-B14F-4D97-AF65-F5344CB8AC3E}">
        <p14:creationId xmlns:p14="http://schemas.microsoft.com/office/powerpoint/2010/main" xmlns="" val="793386069"/>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Ocean FEST\Desktop\HOT graph2010_half.jpg"/>
          <p:cNvPicPr>
            <a:picLocks noChangeAspect="1" noChangeArrowheads="1"/>
          </p:cNvPicPr>
          <p:nvPr/>
        </p:nvPicPr>
        <p:blipFill>
          <a:blip r:embed="rId3" cstate="screen">
            <a:extLst>
              <a:ext uri="{28A0092B-C50C-407E-A947-70E740481C1C}">
                <a14:useLocalDpi xmlns:a14="http://schemas.microsoft.com/office/drawing/2010/main" xmlns="" val="0"/>
              </a:ext>
            </a:extLst>
          </a:blip>
          <a:srcRect/>
          <a:stretch>
            <a:fillRect/>
          </a:stretch>
        </p:blipFill>
        <p:spPr bwMode="auto">
          <a:xfrm>
            <a:off x="28742" y="873691"/>
            <a:ext cx="9115258" cy="4092010"/>
          </a:xfrm>
          <a:prstGeom prst="rect">
            <a:avLst/>
          </a:prstGeom>
          <a:noFill/>
          <a:extLst>
            <a:ext uri="{909E8E84-426E-40DD-AFC4-6F175D3DCCD1}">
              <a14:hiddenFill xmlns:a14="http://schemas.microsoft.com/office/drawing/2010/main" xmlns="">
                <a:solidFill>
                  <a:srgbClr val="FFFFFF"/>
                </a:solidFill>
              </a14:hiddenFill>
            </a:ext>
          </a:extLst>
        </p:spPr>
      </p:pic>
      <p:sp>
        <p:nvSpPr>
          <p:cNvPr id="553985" name="Rectangle 2"/>
          <p:cNvSpPr>
            <a:spLocks noChangeArrowheads="1"/>
          </p:cNvSpPr>
          <p:nvPr/>
        </p:nvSpPr>
        <p:spPr bwMode="auto">
          <a:xfrm>
            <a:off x="0" y="304800"/>
            <a:ext cx="9144000" cy="671513"/>
          </a:xfrm>
          <a:prstGeom prst="rect">
            <a:avLst/>
          </a:prstGeom>
          <a:noFill/>
          <a:ln w="9525">
            <a:noFill/>
            <a:miter lim="800000"/>
            <a:headEnd/>
            <a:tailEnd/>
          </a:ln>
        </p:spPr>
        <p:txBody>
          <a:bodyPr>
            <a:spAutoFit/>
          </a:bodyPr>
          <a:lstStyle/>
          <a:p>
            <a:pPr algn="ctr"/>
            <a:r>
              <a:rPr lang="en-US" sz="3800">
                <a:solidFill>
                  <a:srgbClr val="333399"/>
                </a:solidFill>
                <a:latin typeface="Comic Sans MS" pitchFamily="66" charset="0"/>
              </a:rPr>
              <a:t>Our oceans are becoming more acidic.</a:t>
            </a:r>
          </a:p>
        </p:txBody>
      </p:sp>
      <p:sp>
        <p:nvSpPr>
          <p:cNvPr id="553986" name="Rectangle 3"/>
          <p:cNvSpPr>
            <a:spLocks noChangeArrowheads="1"/>
          </p:cNvSpPr>
          <p:nvPr/>
        </p:nvSpPr>
        <p:spPr bwMode="auto">
          <a:xfrm>
            <a:off x="1752600" y="6096000"/>
            <a:ext cx="5257800" cy="457200"/>
          </a:xfrm>
          <a:prstGeom prst="rect">
            <a:avLst/>
          </a:prstGeom>
          <a:noFill/>
          <a:ln w="9525">
            <a:noFill/>
            <a:miter lim="800000"/>
            <a:headEnd/>
            <a:tailEnd/>
          </a:ln>
        </p:spPr>
        <p:txBody>
          <a:bodyPr wrap="none" anchor="ctr">
            <a:spAutoFit/>
          </a:bodyPr>
          <a:lstStyle/>
          <a:p>
            <a:r>
              <a:rPr lang="en-US" sz="2400" b="1">
                <a:latin typeface="Calibri" pitchFamily="34" charset="0"/>
              </a:rPr>
              <a:t>http://hahana.soest.hawaii.edu/hot/</a:t>
            </a:r>
          </a:p>
        </p:txBody>
      </p:sp>
      <p:sp>
        <p:nvSpPr>
          <p:cNvPr id="553987" name="Rectangle 2"/>
          <p:cNvSpPr>
            <a:spLocks noChangeArrowheads="1"/>
          </p:cNvSpPr>
          <p:nvPr/>
        </p:nvSpPr>
        <p:spPr bwMode="auto">
          <a:xfrm>
            <a:off x="914400" y="4724400"/>
            <a:ext cx="7086600" cy="946150"/>
          </a:xfrm>
          <a:prstGeom prst="rect">
            <a:avLst/>
          </a:prstGeom>
          <a:noFill/>
          <a:ln w="9525">
            <a:noFill/>
            <a:miter lim="800000"/>
            <a:headEnd/>
            <a:tailEnd/>
          </a:ln>
        </p:spPr>
        <p:txBody>
          <a:bodyPr>
            <a:spAutoFit/>
          </a:bodyPr>
          <a:lstStyle/>
          <a:p>
            <a:r>
              <a:rPr lang="en-US" sz="2800">
                <a:solidFill>
                  <a:srgbClr val="FF0000"/>
                </a:solidFill>
                <a:latin typeface="Comic Sans MS" pitchFamily="66" charset="0"/>
              </a:rPr>
              <a:t>Red:  CO</a:t>
            </a:r>
            <a:r>
              <a:rPr lang="en-US" sz="2800" baseline="-25000">
                <a:solidFill>
                  <a:srgbClr val="FF0000"/>
                </a:solidFill>
                <a:latin typeface="Comic Sans MS" pitchFamily="66" charset="0"/>
              </a:rPr>
              <a:t>2</a:t>
            </a:r>
            <a:r>
              <a:rPr lang="en-US" sz="2800">
                <a:solidFill>
                  <a:srgbClr val="FF0000"/>
                </a:solidFill>
                <a:latin typeface="Comic Sans MS" pitchFamily="66" charset="0"/>
              </a:rPr>
              <a:t> is increasing in the atmosphere</a:t>
            </a:r>
            <a:r>
              <a:rPr lang="en-US" sz="2800">
                <a:solidFill>
                  <a:schemeClr val="bg1"/>
                </a:solidFill>
                <a:latin typeface="Comic Sans MS" pitchFamily="66" charset="0"/>
              </a:rPr>
              <a:t> </a:t>
            </a:r>
            <a:r>
              <a:rPr lang="en-US" sz="2800">
                <a:solidFill>
                  <a:srgbClr val="311997"/>
                </a:solidFill>
                <a:latin typeface="Comic Sans MS" pitchFamily="66" charset="0"/>
              </a:rPr>
              <a:t>Blue: CO</a:t>
            </a:r>
            <a:r>
              <a:rPr lang="en-US">
                <a:solidFill>
                  <a:srgbClr val="311997"/>
                </a:solidFill>
                <a:latin typeface="Calibri" pitchFamily="34" charset="0"/>
              </a:rPr>
              <a:t>2</a:t>
            </a:r>
            <a:r>
              <a:rPr lang="en-US" sz="2800">
                <a:solidFill>
                  <a:srgbClr val="311997"/>
                </a:solidFill>
                <a:latin typeface="Comic Sans MS" pitchFamily="66" charset="0"/>
              </a:rPr>
              <a:t> is increasing in the ocean</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Ocean FEST\Desktop\HOT graph2010_full.jpg"/>
          <p:cNvPicPr>
            <a:picLocks noChangeAspect="1" noChangeArrowheads="1"/>
          </p:cNvPicPr>
          <p:nvPr/>
        </p:nvPicPr>
        <p:blipFill>
          <a:blip r:embed="rId3" cstate="screen">
            <a:extLst>
              <a:ext uri="{28A0092B-C50C-407E-A947-70E740481C1C}">
                <a14:useLocalDpi xmlns:a14="http://schemas.microsoft.com/office/drawing/2010/main" xmlns="" val="0"/>
              </a:ext>
            </a:extLst>
          </a:blip>
          <a:srcRect/>
          <a:stretch>
            <a:fillRect/>
          </a:stretch>
        </p:blipFill>
        <p:spPr bwMode="auto">
          <a:xfrm>
            <a:off x="609600" y="592723"/>
            <a:ext cx="7924800" cy="6036677"/>
          </a:xfrm>
          <a:prstGeom prst="rect">
            <a:avLst/>
          </a:prstGeom>
          <a:noFill/>
          <a:extLst>
            <a:ext uri="{909E8E84-426E-40DD-AFC4-6F175D3DCCD1}">
              <a14:hiddenFill xmlns:a14="http://schemas.microsoft.com/office/drawing/2010/main" xmlns="">
                <a:solidFill>
                  <a:srgbClr val="FFFFFF"/>
                </a:solidFill>
              </a14:hiddenFill>
            </a:ext>
          </a:extLst>
        </p:spPr>
      </p:pic>
      <p:sp>
        <p:nvSpPr>
          <p:cNvPr id="556033" name="Rectangle 2"/>
          <p:cNvSpPr>
            <a:spLocks noChangeArrowheads="1"/>
          </p:cNvSpPr>
          <p:nvPr/>
        </p:nvSpPr>
        <p:spPr bwMode="auto">
          <a:xfrm>
            <a:off x="0" y="304800"/>
            <a:ext cx="9144000" cy="677863"/>
          </a:xfrm>
          <a:prstGeom prst="rect">
            <a:avLst/>
          </a:prstGeom>
          <a:noFill/>
          <a:ln w="9525">
            <a:noFill/>
            <a:miter lim="800000"/>
            <a:headEnd/>
            <a:tailEnd/>
          </a:ln>
        </p:spPr>
        <p:txBody>
          <a:bodyPr>
            <a:spAutoFit/>
          </a:bodyPr>
          <a:lstStyle/>
          <a:p>
            <a:pPr algn="ctr"/>
            <a:r>
              <a:rPr lang="en-US" sz="3800">
                <a:solidFill>
                  <a:srgbClr val="333399"/>
                </a:solidFill>
                <a:latin typeface="Comic Sans MS" pitchFamily="66" charset="0"/>
              </a:rPr>
              <a:t>Our oceans are becoming more acidic.</a:t>
            </a:r>
          </a:p>
        </p:txBody>
      </p:sp>
      <p:sp>
        <p:nvSpPr>
          <p:cNvPr id="556034" name="Rectangle 3"/>
          <p:cNvSpPr>
            <a:spLocks noChangeArrowheads="1"/>
          </p:cNvSpPr>
          <p:nvPr/>
        </p:nvSpPr>
        <p:spPr bwMode="auto">
          <a:xfrm>
            <a:off x="1905000" y="6324600"/>
            <a:ext cx="5257800" cy="457200"/>
          </a:xfrm>
          <a:prstGeom prst="rect">
            <a:avLst/>
          </a:prstGeom>
          <a:noFill/>
          <a:ln w="9525">
            <a:noFill/>
            <a:miter lim="800000"/>
            <a:headEnd/>
            <a:tailEnd/>
          </a:ln>
        </p:spPr>
        <p:txBody>
          <a:bodyPr wrap="none" anchor="ctr">
            <a:spAutoFit/>
          </a:bodyPr>
          <a:lstStyle/>
          <a:p>
            <a:r>
              <a:rPr lang="en-US" sz="2400" b="1">
                <a:latin typeface="Calibri" pitchFamily="34" charset="0"/>
              </a:rPr>
              <a:t>http://hahana.soest.hawaii.edu/hot/</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idx="4294967295"/>
          </p:nvPr>
        </p:nvSpPr>
        <p:spPr>
          <a:xfrm>
            <a:off x="0" y="152400"/>
            <a:ext cx="9144000" cy="685800"/>
          </a:xfrm>
        </p:spPr>
        <p:txBody>
          <a:bodyPr rtlCol="0">
            <a:normAutofit fontScale="90000"/>
          </a:bodyPr>
          <a:lstStyle/>
          <a:p>
            <a:pPr eaLnBrk="1" fontAlgn="auto" hangingPunct="1">
              <a:spcAft>
                <a:spcPts val="0"/>
              </a:spcAft>
              <a:defRPr/>
            </a:pPr>
            <a:r>
              <a:rPr lang="en-US" sz="4000" b="1" dirty="0" smtClean="0">
                <a:solidFill>
                  <a:srgbClr val="311997"/>
                </a:solidFill>
                <a:latin typeface="Comic Sans MS" pitchFamily="66" charset="0"/>
              </a:rPr>
              <a:t>CAREERS IN OCEANOGRAPHY</a:t>
            </a:r>
          </a:p>
        </p:txBody>
      </p:sp>
      <p:pic>
        <p:nvPicPr>
          <p:cNvPr id="558082" name="Picture 4" descr="Raeanne helping to cock the bottles"/>
          <p:cNvPicPr>
            <a:picLocks noChangeAspect="1" noChangeArrowheads="1"/>
          </p:cNvPicPr>
          <p:nvPr/>
        </p:nvPicPr>
        <p:blipFill>
          <a:blip r:embed="rId3" cstate="screen"/>
          <a:srcRect/>
          <a:stretch>
            <a:fillRect/>
          </a:stretch>
        </p:blipFill>
        <p:spPr bwMode="auto">
          <a:xfrm>
            <a:off x="4127500" y="4038600"/>
            <a:ext cx="2400300" cy="2819400"/>
          </a:xfrm>
          <a:prstGeom prst="rect">
            <a:avLst/>
          </a:prstGeom>
          <a:noFill/>
          <a:ln w="9525">
            <a:noFill/>
            <a:miter lim="800000"/>
            <a:headEnd/>
            <a:tailEnd/>
          </a:ln>
        </p:spPr>
      </p:pic>
      <p:pic>
        <p:nvPicPr>
          <p:cNvPr id="558083" name="Picture 6" descr="cmore scholars on research cruise (working)"/>
          <p:cNvPicPr>
            <a:picLocks noChangeAspect="1" noChangeArrowheads="1"/>
          </p:cNvPicPr>
          <p:nvPr/>
        </p:nvPicPr>
        <p:blipFill>
          <a:blip r:embed="rId4" cstate="screen"/>
          <a:srcRect/>
          <a:stretch>
            <a:fillRect/>
          </a:stretch>
        </p:blipFill>
        <p:spPr bwMode="auto">
          <a:xfrm>
            <a:off x="0" y="1143000"/>
            <a:ext cx="3941763" cy="5257800"/>
          </a:xfrm>
          <a:prstGeom prst="rect">
            <a:avLst/>
          </a:prstGeom>
          <a:noFill/>
          <a:ln w="9525">
            <a:noFill/>
            <a:miter lim="800000"/>
            <a:headEnd/>
            <a:tailEnd/>
          </a:ln>
        </p:spPr>
      </p:pic>
      <p:pic>
        <p:nvPicPr>
          <p:cNvPr id="558084" name="Picture 10" descr="becca-mini"/>
          <p:cNvPicPr>
            <a:picLocks noChangeAspect="1" noChangeArrowheads="1"/>
          </p:cNvPicPr>
          <p:nvPr/>
        </p:nvPicPr>
        <p:blipFill>
          <a:blip r:embed="rId5" cstate="screen"/>
          <a:srcRect/>
          <a:stretch>
            <a:fillRect/>
          </a:stretch>
        </p:blipFill>
        <p:spPr bwMode="auto">
          <a:xfrm>
            <a:off x="6705600" y="3962400"/>
            <a:ext cx="2286000" cy="2895600"/>
          </a:xfrm>
          <a:prstGeom prst="rect">
            <a:avLst/>
          </a:prstGeom>
          <a:noFill/>
          <a:ln w="9525">
            <a:noFill/>
            <a:miter lim="800000"/>
            <a:headEnd/>
            <a:tailEnd/>
          </a:ln>
        </p:spPr>
      </p:pic>
      <p:pic>
        <p:nvPicPr>
          <p:cNvPr id="558085" name="Picture 13" descr="Water Sampler cmyk"/>
          <p:cNvPicPr>
            <a:picLocks noChangeAspect="1" noChangeArrowheads="1"/>
          </p:cNvPicPr>
          <p:nvPr/>
        </p:nvPicPr>
        <p:blipFill>
          <a:blip r:embed="rId6" cstate="screen"/>
          <a:srcRect/>
          <a:stretch>
            <a:fillRect/>
          </a:stretch>
        </p:blipFill>
        <p:spPr bwMode="auto">
          <a:xfrm>
            <a:off x="4648200" y="1066800"/>
            <a:ext cx="3733800" cy="2805113"/>
          </a:xfrm>
          <a:prstGeom prst="rect">
            <a:avLst/>
          </a:prstGeom>
          <a:noFill/>
          <a:ln w="9525">
            <a:noFill/>
            <a:miter lim="800000"/>
            <a:headEnd/>
            <a:tailEnd/>
          </a:ln>
        </p:spPr>
      </p:pic>
      <p:pic>
        <p:nvPicPr>
          <p:cNvPr id="8" name="Picture 7" descr="Monika F at MBARI 09"/>
          <p:cNvPicPr>
            <a:picLocks noChangeAspect="1" noChangeArrowheads="1"/>
          </p:cNvPicPr>
          <p:nvPr/>
        </p:nvPicPr>
        <p:blipFill>
          <a:blip r:embed="rId7" cstate="screen"/>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idx="4294967295"/>
          </p:nvPr>
        </p:nvSpPr>
        <p:spPr>
          <a:xfrm>
            <a:off x="0" y="152400"/>
            <a:ext cx="9144000" cy="685800"/>
          </a:xfrm>
        </p:spPr>
        <p:txBody>
          <a:bodyPr rtlCol="0">
            <a:normAutofit fontScale="90000"/>
          </a:bodyPr>
          <a:lstStyle/>
          <a:p>
            <a:pPr eaLnBrk="1" fontAlgn="auto" hangingPunct="1">
              <a:spcAft>
                <a:spcPts val="0"/>
              </a:spcAft>
              <a:defRPr/>
            </a:pPr>
            <a:r>
              <a:rPr lang="en-US" sz="4000" b="1" dirty="0" smtClean="0">
                <a:solidFill>
                  <a:srgbClr val="311997"/>
                </a:solidFill>
                <a:latin typeface="Comic Sans MS" pitchFamily="66" charset="0"/>
              </a:rPr>
              <a:t>CAREERS IN OCEANOGRAPHY</a:t>
            </a:r>
          </a:p>
        </p:txBody>
      </p:sp>
      <p:pic>
        <p:nvPicPr>
          <p:cNvPr id="11" name="Picture 10"/>
          <p:cNvPicPr>
            <a:picLocks noChangeAspect="1" noChangeArrowheads="1"/>
          </p:cNvPicPr>
          <p:nvPr/>
        </p:nvPicPr>
        <p:blipFill>
          <a:blip r:embed="rId3" cstate="screen"/>
          <a:srcRect/>
          <a:stretch>
            <a:fillRect/>
          </a:stretch>
        </p:blipFill>
        <p:spPr bwMode="auto">
          <a:xfrm>
            <a:off x="6629400" y="818940"/>
            <a:ext cx="2286000" cy="2838660"/>
          </a:xfrm>
          <a:prstGeom prst="rect">
            <a:avLst/>
          </a:prstGeom>
          <a:noFill/>
          <a:ln w="38100">
            <a:solidFill>
              <a:schemeClr val="accent1"/>
            </a:solidFill>
            <a:miter lim="800000"/>
            <a:headEnd/>
            <a:tailEnd/>
          </a:ln>
          <a:effectLst>
            <a:outerShdw blurRad="50800" dist="38100" dir="2700000" algn="tl" rotWithShape="0">
              <a:prstClr val="black">
                <a:alpha val="40000"/>
              </a:prstClr>
            </a:outerShdw>
          </a:effectLst>
        </p:spPr>
      </p:pic>
      <p:pic>
        <p:nvPicPr>
          <p:cNvPr id="9" name="Picture 11" descr="secchi_deploy_black.jpg"/>
          <p:cNvPicPr>
            <a:picLocks noChangeAspect="1"/>
          </p:cNvPicPr>
          <p:nvPr/>
        </p:nvPicPr>
        <p:blipFill>
          <a:blip r:embed="rId4" cstate="screen"/>
          <a:srcRect/>
          <a:stretch>
            <a:fillRect/>
          </a:stretch>
        </p:blipFill>
        <p:spPr bwMode="auto">
          <a:xfrm>
            <a:off x="152400" y="3810000"/>
            <a:ext cx="2971800" cy="2743200"/>
          </a:xfrm>
          <a:prstGeom prst="rect">
            <a:avLst/>
          </a:prstGeom>
          <a:noFill/>
          <a:ln w="38100">
            <a:solidFill>
              <a:schemeClr val="accent1"/>
            </a:solidFill>
            <a:miter lim="800000"/>
            <a:headEnd/>
            <a:tailEnd/>
          </a:ln>
        </p:spPr>
      </p:pic>
      <p:pic>
        <p:nvPicPr>
          <p:cNvPr id="13" name="Picture 2"/>
          <p:cNvPicPr>
            <a:picLocks noChangeAspect="1" noChangeArrowheads="1"/>
          </p:cNvPicPr>
          <p:nvPr/>
        </p:nvPicPr>
        <p:blipFill>
          <a:blip r:embed="rId5" cstate="screen"/>
          <a:srcRect/>
          <a:stretch>
            <a:fillRect/>
          </a:stretch>
        </p:blipFill>
        <p:spPr bwMode="auto">
          <a:xfrm>
            <a:off x="266700" y="808919"/>
            <a:ext cx="2857500" cy="2848681"/>
          </a:xfrm>
          <a:prstGeom prst="rect">
            <a:avLst/>
          </a:prstGeom>
          <a:noFill/>
          <a:ln w="38100">
            <a:solidFill>
              <a:schemeClr val="accent1"/>
            </a:solidFill>
            <a:miter lim="800000"/>
            <a:headEnd/>
            <a:tailEnd/>
          </a:ln>
        </p:spPr>
      </p:pic>
      <p:pic>
        <p:nvPicPr>
          <p:cNvPr id="14" name="Picture 13" descr="P2231088.JPG"/>
          <p:cNvPicPr>
            <a:picLocks noChangeAspect="1"/>
          </p:cNvPicPr>
          <p:nvPr/>
        </p:nvPicPr>
        <p:blipFill>
          <a:blip r:embed="rId6" cstate="screen"/>
          <a:srcRect/>
          <a:stretch>
            <a:fillRect/>
          </a:stretch>
        </p:blipFill>
        <p:spPr>
          <a:xfrm>
            <a:off x="3360639" y="914400"/>
            <a:ext cx="3040161" cy="2667000"/>
          </a:xfrm>
          <a:prstGeom prst="rect">
            <a:avLst/>
          </a:prstGeom>
          <a:ln w="38100">
            <a:solidFill>
              <a:schemeClr val="accent1"/>
            </a:solidFill>
          </a:ln>
          <a:effectLst>
            <a:outerShdw blurRad="50800" dist="38100" dir="2700000" algn="tl" rotWithShape="0">
              <a:prstClr val="black">
                <a:alpha val="40000"/>
              </a:prstClr>
            </a:outerShdw>
          </a:effectLst>
        </p:spPr>
      </p:pic>
      <p:pic>
        <p:nvPicPr>
          <p:cNvPr id="15" name="Picture 9" descr="Picture1.jpg"/>
          <p:cNvPicPr>
            <a:picLocks noChangeAspect="1"/>
          </p:cNvPicPr>
          <p:nvPr/>
        </p:nvPicPr>
        <p:blipFill>
          <a:blip r:embed="rId7" cstate="screen"/>
          <a:srcRect/>
          <a:stretch>
            <a:fillRect/>
          </a:stretch>
        </p:blipFill>
        <p:spPr bwMode="auto">
          <a:xfrm>
            <a:off x="3352800" y="3733800"/>
            <a:ext cx="2971800" cy="2919995"/>
          </a:xfrm>
          <a:prstGeom prst="rect">
            <a:avLst/>
          </a:prstGeom>
          <a:noFill/>
          <a:ln w="38100">
            <a:solidFill>
              <a:schemeClr val="accent1"/>
            </a:solidFill>
            <a:miter lim="800000"/>
            <a:headEnd/>
            <a:tailEnd/>
          </a:ln>
        </p:spPr>
      </p:pic>
      <p:pic>
        <p:nvPicPr>
          <p:cNvPr id="16" name="Picture 15"/>
          <p:cNvPicPr>
            <a:picLocks noChangeAspect="1" noChangeArrowheads="1"/>
          </p:cNvPicPr>
          <p:nvPr/>
        </p:nvPicPr>
        <p:blipFill>
          <a:blip r:embed="rId8" cstate="screen"/>
          <a:srcRect/>
          <a:stretch>
            <a:fillRect/>
          </a:stretch>
        </p:blipFill>
        <p:spPr bwMode="auto">
          <a:xfrm>
            <a:off x="6688137" y="3810000"/>
            <a:ext cx="2151063" cy="2895600"/>
          </a:xfrm>
          <a:prstGeom prst="rect">
            <a:avLst/>
          </a:prstGeom>
          <a:noFill/>
          <a:ln w="38100">
            <a:solidFill>
              <a:schemeClr val="accent1"/>
            </a:solidFill>
            <a:miter lim="800000"/>
            <a:headEnd/>
            <a:tailEnd/>
          </a:ln>
          <a:effectLst>
            <a:outerShdw blurRad="50800" dist="38100" dir="2700000" algn="tl" rotWithShape="0">
              <a:prstClr val="black">
                <a:alpha val="40000"/>
              </a:prstClr>
            </a:outerShdw>
          </a:effectLst>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slide 20 6.gif"/>
          <p:cNvPicPr>
            <a:picLocks noChangeAspect="1"/>
          </p:cNvPicPr>
          <p:nvPr/>
        </p:nvPicPr>
        <p:blipFill>
          <a:blip r:embed="rId3" cstate="print"/>
          <a:stretch>
            <a:fillRect/>
          </a:stretch>
        </p:blipFill>
        <p:spPr>
          <a:xfrm>
            <a:off x="6324600" y="3638550"/>
            <a:ext cx="2762250" cy="2609850"/>
          </a:xfrm>
          <a:prstGeom prst="rect">
            <a:avLst/>
          </a:prstGeom>
        </p:spPr>
      </p:pic>
      <p:sp>
        <p:nvSpPr>
          <p:cNvPr id="545793" name="Rectangle 5"/>
          <p:cNvSpPr>
            <a:spLocks noGrp="1" noChangeArrowheads="1"/>
          </p:cNvSpPr>
          <p:nvPr>
            <p:ph type="title" idx="4294967295"/>
          </p:nvPr>
        </p:nvSpPr>
        <p:spPr>
          <a:xfrm>
            <a:off x="304800" y="228600"/>
            <a:ext cx="8229600" cy="1143000"/>
          </a:xfrm>
        </p:spPr>
        <p:txBody>
          <a:bodyPr/>
          <a:lstStyle/>
          <a:p>
            <a:pPr eaLnBrk="1" hangingPunct="1"/>
            <a:r>
              <a:rPr lang="en-US" sz="4800" b="1" dirty="0" smtClean="0">
                <a:solidFill>
                  <a:srgbClr val="311997"/>
                </a:solidFill>
                <a:latin typeface="Comic Sans MS" pitchFamily="66" charset="0"/>
              </a:rPr>
              <a:t>Figure 8 Knot</a:t>
            </a:r>
          </a:p>
        </p:txBody>
      </p:sp>
      <p:sp>
        <p:nvSpPr>
          <p:cNvPr id="545794" name="Rectangle 9"/>
          <p:cNvSpPr>
            <a:spLocks noChangeArrowheads="1"/>
          </p:cNvSpPr>
          <p:nvPr/>
        </p:nvSpPr>
        <p:spPr bwMode="auto">
          <a:xfrm>
            <a:off x="0" y="6228546"/>
            <a:ext cx="9144000" cy="477054"/>
          </a:xfrm>
          <a:prstGeom prst="rect">
            <a:avLst/>
          </a:prstGeom>
          <a:noFill/>
          <a:ln w="9525">
            <a:noFill/>
            <a:miter lim="800000"/>
            <a:headEnd/>
            <a:tailEnd/>
          </a:ln>
        </p:spPr>
        <p:txBody>
          <a:bodyPr wrap="square">
            <a:spAutoFit/>
          </a:bodyPr>
          <a:lstStyle/>
          <a:p>
            <a:pPr algn="ctr"/>
            <a:r>
              <a:rPr lang="en-US" sz="2500" u="sng" dirty="0">
                <a:latin typeface="Comic Sans MS" pitchFamily="66" charset="0"/>
              </a:rPr>
              <a:t>Key Concept</a:t>
            </a:r>
            <a:r>
              <a:rPr lang="en-US" sz="2500" dirty="0">
                <a:latin typeface="Comic Sans MS" pitchFamily="66" charset="0"/>
              </a:rPr>
              <a:t>: </a:t>
            </a:r>
            <a:r>
              <a:rPr lang="en-US" sz="2500" dirty="0" smtClean="0">
                <a:latin typeface="Comic Sans MS" pitchFamily="66" charset="0"/>
              </a:rPr>
              <a:t>Learn to tie knots that scientists use on ships.</a:t>
            </a:r>
            <a:endParaRPr lang="en-US" sz="2500" dirty="0">
              <a:latin typeface="Comic Sans MS" pitchFamily="66" charset="0"/>
            </a:endParaRPr>
          </a:p>
        </p:txBody>
      </p:sp>
      <p:sp>
        <p:nvSpPr>
          <p:cNvPr id="13" name="Striped Right Arrow 12"/>
          <p:cNvSpPr/>
          <p:nvPr/>
        </p:nvSpPr>
        <p:spPr>
          <a:xfrm>
            <a:off x="2743200" y="2152649"/>
            <a:ext cx="381000" cy="47625"/>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Striped Right Arrow 13"/>
          <p:cNvSpPr/>
          <p:nvPr/>
        </p:nvSpPr>
        <p:spPr>
          <a:xfrm>
            <a:off x="5867400" y="2166936"/>
            <a:ext cx="381000" cy="47625"/>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 name="Striped Right Arrow 20"/>
          <p:cNvSpPr/>
          <p:nvPr/>
        </p:nvSpPr>
        <p:spPr>
          <a:xfrm>
            <a:off x="2743200" y="4805361"/>
            <a:ext cx="381000" cy="47625"/>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6" name="Rectangle 25"/>
          <p:cNvSpPr/>
          <p:nvPr/>
        </p:nvSpPr>
        <p:spPr>
          <a:xfrm>
            <a:off x="3595680" y="164068"/>
            <a:ext cx="1281120" cy="307777"/>
          </a:xfrm>
          <a:prstGeom prst="rect">
            <a:avLst/>
          </a:prstGeom>
        </p:spPr>
        <p:txBody>
          <a:bodyPr wrap="none">
            <a:spAutoFit/>
          </a:bodyPr>
          <a:lstStyle/>
          <a:p>
            <a:r>
              <a:rPr lang="en-US" sz="1400" b="1" dirty="0" smtClean="0">
                <a:solidFill>
                  <a:srgbClr val="311997"/>
                </a:solidFill>
                <a:latin typeface="Comic Sans MS" pitchFamily="66" charset="0"/>
              </a:rPr>
              <a:t>Activity #5 </a:t>
            </a:r>
            <a:endParaRPr lang="en-US" sz="1400" dirty="0"/>
          </a:p>
        </p:txBody>
      </p:sp>
      <p:pic>
        <p:nvPicPr>
          <p:cNvPr id="33" name="Picture 32" descr="slide 20 1.gif"/>
          <p:cNvPicPr>
            <a:picLocks noChangeAspect="1"/>
          </p:cNvPicPr>
          <p:nvPr/>
        </p:nvPicPr>
        <p:blipFill>
          <a:blip r:embed="rId4" cstate="print"/>
          <a:stretch>
            <a:fillRect/>
          </a:stretch>
        </p:blipFill>
        <p:spPr>
          <a:xfrm>
            <a:off x="228600" y="1371600"/>
            <a:ext cx="2419350" cy="2495550"/>
          </a:xfrm>
          <a:prstGeom prst="rect">
            <a:avLst/>
          </a:prstGeom>
        </p:spPr>
      </p:pic>
      <p:pic>
        <p:nvPicPr>
          <p:cNvPr id="34" name="Picture 33" descr="slide 20 2.gif"/>
          <p:cNvPicPr>
            <a:picLocks noChangeAspect="1"/>
          </p:cNvPicPr>
          <p:nvPr/>
        </p:nvPicPr>
        <p:blipFill>
          <a:blip r:embed="rId5" cstate="print"/>
          <a:stretch>
            <a:fillRect/>
          </a:stretch>
        </p:blipFill>
        <p:spPr>
          <a:xfrm>
            <a:off x="3276600" y="1371600"/>
            <a:ext cx="2371725" cy="2152650"/>
          </a:xfrm>
          <a:prstGeom prst="rect">
            <a:avLst/>
          </a:prstGeom>
        </p:spPr>
      </p:pic>
      <p:pic>
        <p:nvPicPr>
          <p:cNvPr id="35" name="Picture 34" descr="slide 20 3.gif"/>
          <p:cNvPicPr>
            <a:picLocks noChangeAspect="1"/>
          </p:cNvPicPr>
          <p:nvPr/>
        </p:nvPicPr>
        <p:blipFill>
          <a:blip r:embed="rId6" cstate="print"/>
          <a:stretch>
            <a:fillRect/>
          </a:stretch>
        </p:blipFill>
        <p:spPr>
          <a:xfrm>
            <a:off x="6419850" y="1371600"/>
            <a:ext cx="2952750" cy="2000250"/>
          </a:xfrm>
          <a:prstGeom prst="rect">
            <a:avLst/>
          </a:prstGeom>
        </p:spPr>
      </p:pic>
      <p:pic>
        <p:nvPicPr>
          <p:cNvPr id="36" name="Picture 35" descr="slide 20 4.gif"/>
          <p:cNvPicPr>
            <a:picLocks noChangeAspect="1"/>
          </p:cNvPicPr>
          <p:nvPr/>
        </p:nvPicPr>
        <p:blipFill>
          <a:blip r:embed="rId7" cstate="print"/>
          <a:stretch>
            <a:fillRect/>
          </a:stretch>
        </p:blipFill>
        <p:spPr>
          <a:xfrm>
            <a:off x="228600" y="3962400"/>
            <a:ext cx="3371850" cy="2009775"/>
          </a:xfrm>
          <a:prstGeom prst="rect">
            <a:avLst/>
          </a:prstGeom>
        </p:spPr>
      </p:pic>
      <p:pic>
        <p:nvPicPr>
          <p:cNvPr id="37" name="Picture 36" descr="slide 20 5.gif"/>
          <p:cNvPicPr>
            <a:picLocks noChangeAspect="1"/>
          </p:cNvPicPr>
          <p:nvPr/>
        </p:nvPicPr>
        <p:blipFill>
          <a:blip r:embed="rId8" cstate="print"/>
          <a:stretch>
            <a:fillRect/>
          </a:stretch>
        </p:blipFill>
        <p:spPr>
          <a:xfrm>
            <a:off x="3276600" y="3943350"/>
            <a:ext cx="2409825" cy="2152650"/>
          </a:xfrm>
          <a:prstGeom prst="rect">
            <a:avLst/>
          </a:prstGeom>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slide 21 bleach.jpg"/>
          <p:cNvPicPr>
            <a:picLocks noChangeAspect="1"/>
          </p:cNvPicPr>
          <p:nvPr/>
        </p:nvPicPr>
        <p:blipFill>
          <a:blip r:embed="rId3" cstate="print"/>
          <a:stretch>
            <a:fillRect/>
          </a:stretch>
        </p:blipFill>
        <p:spPr>
          <a:xfrm>
            <a:off x="6400800" y="2209800"/>
            <a:ext cx="2444496" cy="1633728"/>
          </a:xfrm>
          <a:prstGeom prst="rect">
            <a:avLst/>
          </a:prstGeom>
        </p:spPr>
      </p:pic>
      <p:pic>
        <p:nvPicPr>
          <p:cNvPr id="20" name="Picture 19" descr="slide 21 water.jpg"/>
          <p:cNvPicPr>
            <a:picLocks noChangeAspect="1"/>
          </p:cNvPicPr>
          <p:nvPr/>
        </p:nvPicPr>
        <p:blipFill>
          <a:blip r:embed="rId4" cstate="print"/>
          <a:stretch>
            <a:fillRect/>
          </a:stretch>
        </p:blipFill>
        <p:spPr>
          <a:xfrm>
            <a:off x="3200400" y="1371600"/>
            <a:ext cx="3169920" cy="2682240"/>
          </a:xfrm>
          <a:prstGeom prst="rect">
            <a:avLst/>
          </a:prstGeom>
        </p:spPr>
      </p:pic>
      <p:pic>
        <p:nvPicPr>
          <p:cNvPr id="19" name="Picture 18" descr="slide 21 vinegar.jpg"/>
          <p:cNvPicPr>
            <a:picLocks noChangeAspect="1"/>
          </p:cNvPicPr>
          <p:nvPr/>
        </p:nvPicPr>
        <p:blipFill>
          <a:blip r:embed="rId5" cstate="print"/>
          <a:stretch>
            <a:fillRect/>
          </a:stretch>
        </p:blipFill>
        <p:spPr>
          <a:xfrm>
            <a:off x="1524000" y="3124200"/>
            <a:ext cx="1688592" cy="1688592"/>
          </a:xfrm>
          <a:prstGeom prst="rect">
            <a:avLst/>
          </a:prstGeom>
        </p:spPr>
      </p:pic>
      <p:pic>
        <p:nvPicPr>
          <p:cNvPr id="18" name="Picture 17" descr="slide 21 ph.jpg"/>
          <p:cNvPicPr>
            <a:picLocks noChangeAspect="1"/>
          </p:cNvPicPr>
          <p:nvPr/>
        </p:nvPicPr>
        <p:blipFill>
          <a:blip r:embed="rId6" cstate="print"/>
          <a:stretch>
            <a:fillRect/>
          </a:stretch>
        </p:blipFill>
        <p:spPr>
          <a:xfrm>
            <a:off x="102220" y="4800600"/>
            <a:ext cx="8965580" cy="1706137"/>
          </a:xfrm>
          <a:prstGeom prst="rect">
            <a:avLst/>
          </a:prstGeom>
        </p:spPr>
      </p:pic>
      <p:sp>
        <p:nvSpPr>
          <p:cNvPr id="560130" name="Rectangle 2"/>
          <p:cNvSpPr txBox="1">
            <a:spLocks noChangeArrowheads="1"/>
          </p:cNvSpPr>
          <p:nvPr/>
        </p:nvSpPr>
        <p:spPr bwMode="auto">
          <a:xfrm>
            <a:off x="0" y="304800"/>
            <a:ext cx="9144000" cy="1143000"/>
          </a:xfrm>
          <a:prstGeom prst="rect">
            <a:avLst/>
          </a:prstGeom>
          <a:noFill/>
          <a:ln w="9525">
            <a:noFill/>
            <a:miter lim="800000"/>
            <a:headEnd/>
            <a:tailEnd/>
          </a:ln>
        </p:spPr>
        <p:txBody>
          <a:bodyPr anchor="ctr"/>
          <a:lstStyle/>
          <a:p>
            <a:pPr algn="ctr"/>
            <a:r>
              <a:rPr lang="en-US" sz="1400" b="1">
                <a:solidFill>
                  <a:srgbClr val="311997"/>
                </a:solidFill>
                <a:latin typeface="Comic Sans MS" pitchFamily="66" charset="0"/>
              </a:rPr>
              <a:t/>
            </a:r>
            <a:br>
              <a:rPr lang="en-US" sz="1400" b="1">
                <a:solidFill>
                  <a:srgbClr val="311997"/>
                </a:solidFill>
                <a:latin typeface="Comic Sans MS" pitchFamily="66" charset="0"/>
              </a:rPr>
            </a:br>
            <a:r>
              <a:rPr lang="en-US" sz="4800" b="1">
                <a:solidFill>
                  <a:srgbClr val="311997"/>
                </a:solidFill>
                <a:latin typeface="Comic Sans MS" pitchFamily="66" charset="0"/>
              </a:rPr>
              <a:t>What is an acid?</a:t>
            </a:r>
            <a:endParaRPr lang="en-US" sz="2000" b="1">
              <a:solidFill>
                <a:srgbClr val="311997"/>
              </a:solidFill>
              <a:latin typeface="Comic Sans MS" pitchFamily="66" charset="0"/>
            </a:endParaRPr>
          </a:p>
          <a:p>
            <a:pPr algn="ctr"/>
            <a:endParaRPr lang="en-US" sz="1500" b="1">
              <a:solidFill>
                <a:srgbClr val="311997"/>
              </a:solidFill>
              <a:latin typeface="Comic Sans MS" pitchFamily="66" charset="0"/>
            </a:endParaRPr>
          </a:p>
          <a:p>
            <a:pPr algn="ctr"/>
            <a:endParaRPr lang="en-US" sz="2000" b="1">
              <a:solidFill>
                <a:srgbClr val="311997"/>
              </a:solidFill>
              <a:latin typeface="Comic Sans MS" pitchFamily="66" charset="0"/>
            </a:endParaRPr>
          </a:p>
        </p:txBody>
      </p:sp>
      <p:sp>
        <p:nvSpPr>
          <p:cNvPr id="560131" name="TextBox 9"/>
          <p:cNvSpPr txBox="1">
            <a:spLocks noChangeArrowheads="1"/>
          </p:cNvSpPr>
          <p:nvPr/>
        </p:nvSpPr>
        <p:spPr bwMode="auto">
          <a:xfrm>
            <a:off x="-76200" y="6011863"/>
            <a:ext cx="184150" cy="317500"/>
          </a:xfrm>
          <a:prstGeom prst="rect">
            <a:avLst/>
          </a:prstGeom>
          <a:noFill/>
          <a:ln w="9525">
            <a:noFill/>
            <a:miter lim="800000"/>
            <a:headEnd/>
            <a:tailEnd/>
          </a:ln>
        </p:spPr>
        <p:txBody>
          <a:bodyPr wrap="none">
            <a:spAutoFit/>
          </a:bodyPr>
          <a:lstStyle/>
          <a:p>
            <a:endParaRPr lang="en-US" sz="2200" baseline="-25000">
              <a:solidFill>
                <a:srgbClr val="FF0000"/>
              </a:solidFill>
              <a:latin typeface="Comic Sans MS" pitchFamily="66" charset="0"/>
            </a:endParaRPr>
          </a:p>
        </p:txBody>
      </p:sp>
      <p:pic>
        <p:nvPicPr>
          <p:cNvPr id="560134" name="Picture 2"/>
          <p:cNvPicPr>
            <a:picLocks noChangeAspect="1" noChangeArrowheads="1"/>
          </p:cNvPicPr>
          <p:nvPr/>
        </p:nvPicPr>
        <p:blipFill>
          <a:blip r:embed="rId7" cstate="screen"/>
          <a:srcRect/>
          <a:stretch>
            <a:fillRect/>
          </a:stretch>
        </p:blipFill>
        <p:spPr bwMode="auto">
          <a:xfrm>
            <a:off x="217488" y="1393825"/>
            <a:ext cx="2449512" cy="1730375"/>
          </a:xfrm>
          <a:prstGeom prst="rect">
            <a:avLst/>
          </a:prstGeom>
          <a:noFill/>
          <a:ln w="9525">
            <a:noFill/>
            <a:miter lim="800000"/>
            <a:headEnd/>
            <a:tailEnd/>
          </a:ln>
        </p:spPr>
      </p:pic>
      <p:cxnSp>
        <p:nvCxnSpPr>
          <p:cNvPr id="13" name="Straight Arrow Connector 12"/>
          <p:cNvCxnSpPr/>
          <p:nvPr/>
        </p:nvCxnSpPr>
        <p:spPr>
          <a:xfrm rot="16200000" flipH="1">
            <a:off x="114300" y="4000500"/>
            <a:ext cx="2819400" cy="6096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H="1">
            <a:off x="2019300" y="5143500"/>
            <a:ext cx="990600" cy="1524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3656807" y="3961606"/>
            <a:ext cx="2895600" cy="611187"/>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7048500" y="4610100"/>
            <a:ext cx="2057400" cy="1524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0140" name="TextBox 16"/>
          <p:cNvSpPr txBox="1">
            <a:spLocks noChangeArrowheads="1"/>
          </p:cNvSpPr>
          <p:nvPr/>
        </p:nvSpPr>
        <p:spPr bwMode="auto">
          <a:xfrm>
            <a:off x="2133600" y="6248400"/>
            <a:ext cx="835025" cy="461963"/>
          </a:xfrm>
          <a:prstGeom prst="rect">
            <a:avLst/>
          </a:prstGeom>
          <a:noFill/>
          <a:ln w="9525">
            <a:noFill/>
            <a:miter lim="800000"/>
            <a:headEnd/>
            <a:tailEnd/>
          </a:ln>
        </p:spPr>
        <p:txBody>
          <a:bodyPr wrap="none">
            <a:spAutoFit/>
          </a:bodyPr>
          <a:lstStyle/>
          <a:p>
            <a:r>
              <a:rPr lang="en-US" sz="2400" b="1">
                <a:latin typeface="Comic Sans MS" pitchFamily="66" charset="0"/>
              </a:rPr>
              <a:t>Acid</a:t>
            </a:r>
          </a:p>
        </p:txBody>
      </p:sp>
      <p:sp>
        <p:nvSpPr>
          <p:cNvPr id="560141" name="TextBox 17"/>
          <p:cNvSpPr txBox="1">
            <a:spLocks noChangeArrowheads="1"/>
          </p:cNvSpPr>
          <p:nvPr/>
        </p:nvSpPr>
        <p:spPr bwMode="auto">
          <a:xfrm>
            <a:off x="4038600" y="6248400"/>
            <a:ext cx="1314450" cy="461963"/>
          </a:xfrm>
          <a:prstGeom prst="rect">
            <a:avLst/>
          </a:prstGeom>
          <a:noFill/>
          <a:ln w="9525">
            <a:noFill/>
            <a:miter lim="800000"/>
            <a:headEnd/>
            <a:tailEnd/>
          </a:ln>
        </p:spPr>
        <p:txBody>
          <a:bodyPr wrap="none">
            <a:spAutoFit/>
          </a:bodyPr>
          <a:lstStyle/>
          <a:p>
            <a:r>
              <a:rPr lang="en-US" sz="2400" b="1">
                <a:latin typeface="Comic Sans MS" pitchFamily="66" charset="0"/>
              </a:rPr>
              <a:t>Neutral</a:t>
            </a:r>
          </a:p>
        </p:txBody>
      </p:sp>
      <p:sp>
        <p:nvSpPr>
          <p:cNvPr id="560142" name="TextBox 18"/>
          <p:cNvSpPr txBox="1">
            <a:spLocks noChangeArrowheads="1"/>
          </p:cNvSpPr>
          <p:nvPr/>
        </p:nvSpPr>
        <p:spPr bwMode="auto">
          <a:xfrm>
            <a:off x="6400800" y="6248400"/>
            <a:ext cx="871538" cy="461963"/>
          </a:xfrm>
          <a:prstGeom prst="rect">
            <a:avLst/>
          </a:prstGeom>
          <a:noFill/>
          <a:ln w="9525">
            <a:noFill/>
            <a:miter lim="800000"/>
            <a:headEnd/>
            <a:tailEnd/>
          </a:ln>
        </p:spPr>
        <p:txBody>
          <a:bodyPr wrap="none">
            <a:spAutoFit/>
          </a:bodyPr>
          <a:lstStyle/>
          <a:p>
            <a:r>
              <a:rPr lang="en-US" sz="2400" b="1">
                <a:latin typeface="Comic Sans MS" pitchFamily="66" charset="0"/>
              </a:rPr>
              <a:t>Base</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7" name="Rectangle 2"/>
          <p:cNvSpPr txBox="1">
            <a:spLocks noChangeArrowheads="1"/>
          </p:cNvSpPr>
          <p:nvPr/>
        </p:nvSpPr>
        <p:spPr bwMode="auto">
          <a:xfrm>
            <a:off x="0" y="274638"/>
            <a:ext cx="9144000" cy="1143000"/>
          </a:xfrm>
          <a:prstGeom prst="rect">
            <a:avLst/>
          </a:prstGeom>
          <a:noFill/>
          <a:ln w="9525">
            <a:noFill/>
            <a:miter lim="800000"/>
            <a:headEnd/>
            <a:tailEnd/>
          </a:ln>
        </p:spPr>
        <p:txBody>
          <a:bodyPr anchor="ctr"/>
          <a:lstStyle/>
          <a:p>
            <a:pPr algn="ctr"/>
            <a:r>
              <a:rPr lang="en-US" sz="1400" b="1" dirty="0">
                <a:solidFill>
                  <a:srgbClr val="311997"/>
                </a:solidFill>
                <a:latin typeface="Comic Sans MS" pitchFamily="66" charset="0"/>
              </a:rPr>
              <a:t>Activity </a:t>
            </a:r>
            <a:r>
              <a:rPr lang="en-US" sz="1400" b="1" dirty="0" smtClean="0">
                <a:solidFill>
                  <a:srgbClr val="311997"/>
                </a:solidFill>
                <a:latin typeface="Comic Sans MS" pitchFamily="66" charset="0"/>
              </a:rPr>
              <a:t>#6 </a:t>
            </a:r>
            <a:r>
              <a:rPr lang="en-US" sz="1400" b="1" dirty="0">
                <a:solidFill>
                  <a:srgbClr val="311997"/>
                </a:solidFill>
                <a:latin typeface="Comic Sans MS" pitchFamily="66" charset="0"/>
              </a:rPr>
              <a:t/>
            </a:r>
            <a:br>
              <a:rPr lang="en-US" sz="1400" b="1" dirty="0">
                <a:solidFill>
                  <a:srgbClr val="311997"/>
                </a:solidFill>
                <a:latin typeface="Comic Sans MS" pitchFamily="66" charset="0"/>
              </a:rPr>
            </a:br>
            <a:r>
              <a:rPr lang="en-US" sz="4800" b="1" dirty="0">
                <a:solidFill>
                  <a:srgbClr val="311997"/>
                </a:solidFill>
                <a:latin typeface="Comic Sans MS" pitchFamily="66" charset="0"/>
              </a:rPr>
              <a:t>CORAL SAND &amp; VINEGAR</a:t>
            </a:r>
          </a:p>
        </p:txBody>
      </p:sp>
      <p:sp>
        <p:nvSpPr>
          <p:cNvPr id="562178" name="Rectangle 4"/>
          <p:cNvSpPr>
            <a:spLocks noChangeArrowheads="1"/>
          </p:cNvSpPr>
          <p:nvPr/>
        </p:nvSpPr>
        <p:spPr bwMode="auto">
          <a:xfrm>
            <a:off x="381000" y="3641725"/>
            <a:ext cx="8153400" cy="1463675"/>
          </a:xfrm>
          <a:prstGeom prst="rect">
            <a:avLst/>
          </a:prstGeom>
          <a:noFill/>
          <a:ln w="9525">
            <a:noFill/>
            <a:miter lim="800000"/>
            <a:headEnd/>
            <a:tailEnd/>
          </a:ln>
        </p:spPr>
        <p:txBody>
          <a:bodyPr lIns="0" tIns="0" rIns="0" bIns="0" anchor="ctr">
            <a:spAutoFit/>
          </a:bodyPr>
          <a:lstStyle/>
          <a:p>
            <a:r>
              <a:rPr lang="en-CA" sz="4800">
                <a:latin typeface="Comic Sans MS" pitchFamily="66" charset="0"/>
              </a:rPr>
              <a:t>How does acid affect coral and certain microbes?</a:t>
            </a:r>
            <a:endParaRPr lang="en-US" sz="4000">
              <a:latin typeface="Comic Sans MS" pitchFamily="66" charset="0"/>
            </a:endParaRPr>
          </a:p>
        </p:txBody>
      </p:sp>
      <p:sp>
        <p:nvSpPr>
          <p:cNvPr id="562179" name="Rectangle 6"/>
          <p:cNvSpPr>
            <a:spLocks noChangeArrowheads="1"/>
          </p:cNvSpPr>
          <p:nvPr/>
        </p:nvSpPr>
        <p:spPr bwMode="auto">
          <a:xfrm>
            <a:off x="152400" y="5638800"/>
            <a:ext cx="6934200" cy="914400"/>
          </a:xfrm>
          <a:prstGeom prst="rect">
            <a:avLst/>
          </a:prstGeom>
          <a:noFill/>
          <a:ln w="9525">
            <a:noFill/>
            <a:miter lim="800000"/>
            <a:headEnd/>
            <a:tailEnd/>
          </a:ln>
        </p:spPr>
        <p:txBody>
          <a:bodyPr lIns="0" tIns="0" rIns="0" bIns="0" anchor="ctr">
            <a:spAutoFit/>
          </a:bodyPr>
          <a:lstStyle/>
          <a:p>
            <a:r>
              <a:rPr lang="en-US" sz="3000" u="sng">
                <a:latin typeface="Comic Sans MS" pitchFamily="66" charset="0"/>
              </a:rPr>
              <a:t>Key Concept</a:t>
            </a:r>
            <a:r>
              <a:rPr lang="en-US" sz="3000">
                <a:latin typeface="Comic Sans MS" pitchFamily="66" charset="0"/>
              </a:rPr>
              <a:t>:  Coral &amp; certain microbes dissolve in acid.</a:t>
            </a:r>
            <a:endParaRPr lang="en-US">
              <a:latin typeface="Comic Sans MS" pitchFamily="66" charset="0"/>
            </a:endParaRPr>
          </a:p>
        </p:txBody>
      </p:sp>
      <p:pic>
        <p:nvPicPr>
          <p:cNvPr id="562181" name="Picture 10" descr="coccolithophore.jpg"/>
          <p:cNvPicPr>
            <a:picLocks noChangeAspect="1"/>
          </p:cNvPicPr>
          <p:nvPr/>
        </p:nvPicPr>
        <p:blipFill>
          <a:blip r:embed="rId3" cstate="screen"/>
          <a:srcRect/>
          <a:stretch>
            <a:fillRect/>
          </a:stretch>
        </p:blipFill>
        <p:spPr bwMode="auto">
          <a:xfrm>
            <a:off x="7239000" y="4953000"/>
            <a:ext cx="1828800" cy="1828800"/>
          </a:xfrm>
          <a:prstGeom prst="rect">
            <a:avLst/>
          </a:prstGeom>
          <a:noFill/>
          <a:ln w="38100">
            <a:noFill/>
            <a:miter lim="800000"/>
            <a:headEnd/>
            <a:tailEnd/>
          </a:ln>
        </p:spPr>
      </p:pic>
      <p:pic>
        <p:nvPicPr>
          <p:cNvPr id="10" name="Picture 9" descr="slide 22 corals.jpg"/>
          <p:cNvPicPr>
            <a:picLocks noChangeAspect="1"/>
          </p:cNvPicPr>
          <p:nvPr/>
        </p:nvPicPr>
        <p:blipFill>
          <a:blip r:embed="rId4" cstate="print"/>
          <a:stretch>
            <a:fillRect/>
          </a:stretch>
        </p:blipFill>
        <p:spPr>
          <a:xfrm>
            <a:off x="146304" y="1447800"/>
            <a:ext cx="8851392" cy="2157984"/>
          </a:xfrm>
          <a:prstGeom prst="rect">
            <a:avLst/>
          </a:prstGeom>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5" name="TextBox 1"/>
          <p:cNvSpPr txBox="1">
            <a:spLocks noChangeArrowheads="1"/>
          </p:cNvSpPr>
          <p:nvPr/>
        </p:nvSpPr>
        <p:spPr bwMode="auto">
          <a:xfrm>
            <a:off x="429526" y="228600"/>
            <a:ext cx="8409674" cy="646331"/>
          </a:xfrm>
          <a:prstGeom prst="rect">
            <a:avLst/>
          </a:prstGeom>
          <a:noFill/>
          <a:ln w="9525">
            <a:noFill/>
            <a:miter lim="800000"/>
            <a:headEnd/>
            <a:tailEnd/>
          </a:ln>
        </p:spPr>
        <p:txBody>
          <a:bodyPr wrap="none">
            <a:spAutoFit/>
          </a:bodyPr>
          <a:lstStyle/>
          <a:p>
            <a:r>
              <a:rPr lang="en-US" sz="3600" dirty="0">
                <a:solidFill>
                  <a:srgbClr val="333399"/>
                </a:solidFill>
                <a:latin typeface="Comic Sans MS" pitchFamily="66" charset="0"/>
              </a:rPr>
              <a:t>Where does </a:t>
            </a:r>
            <a:r>
              <a:rPr lang="en-US" sz="3600" dirty="0" smtClean="0">
                <a:solidFill>
                  <a:srgbClr val="333399"/>
                </a:solidFill>
                <a:latin typeface="Comic Sans MS" pitchFamily="66" charset="0"/>
              </a:rPr>
              <a:t>Hawaii’s sand </a:t>
            </a:r>
            <a:r>
              <a:rPr lang="en-US" sz="3600" dirty="0">
                <a:solidFill>
                  <a:srgbClr val="333399"/>
                </a:solidFill>
                <a:latin typeface="Comic Sans MS" pitchFamily="66" charset="0"/>
              </a:rPr>
              <a:t>come from?</a:t>
            </a:r>
          </a:p>
        </p:txBody>
      </p:sp>
      <p:pic>
        <p:nvPicPr>
          <p:cNvPr id="43011" name="Picture 1"/>
          <p:cNvPicPr>
            <a:picLocks noChangeAspect="1" noChangeArrowheads="1"/>
          </p:cNvPicPr>
          <p:nvPr/>
        </p:nvPicPr>
        <p:blipFill>
          <a:blip r:embed="rId3" cstate="screen"/>
          <a:srcRect/>
          <a:stretch>
            <a:fillRect/>
          </a:stretch>
        </p:blipFill>
        <p:spPr bwMode="auto">
          <a:xfrm>
            <a:off x="5538668" y="4572000"/>
            <a:ext cx="3367926" cy="2133600"/>
          </a:xfrm>
          <a:prstGeom prst="rect">
            <a:avLst/>
          </a:prstGeom>
          <a:noFill/>
          <a:ln w="9525">
            <a:noFill/>
            <a:miter lim="800000"/>
            <a:headEnd/>
            <a:tailEnd/>
          </a:ln>
        </p:spPr>
      </p:pic>
      <p:pic>
        <p:nvPicPr>
          <p:cNvPr id="43012" name="Picture 2"/>
          <p:cNvPicPr>
            <a:picLocks noChangeAspect="1" noChangeArrowheads="1"/>
          </p:cNvPicPr>
          <p:nvPr/>
        </p:nvPicPr>
        <p:blipFill>
          <a:blip r:embed="rId4" cstate="screen"/>
          <a:srcRect/>
          <a:stretch>
            <a:fillRect/>
          </a:stretch>
        </p:blipFill>
        <p:spPr bwMode="auto">
          <a:xfrm>
            <a:off x="3429000" y="1524000"/>
            <a:ext cx="4090868" cy="2730209"/>
          </a:xfrm>
          <a:prstGeom prst="rect">
            <a:avLst/>
          </a:prstGeom>
          <a:noFill/>
          <a:ln w="9525">
            <a:noFill/>
            <a:miter lim="800000"/>
            <a:headEnd/>
            <a:tailEnd/>
          </a:ln>
        </p:spPr>
      </p:pic>
      <p:pic>
        <p:nvPicPr>
          <p:cNvPr id="564228" name="Picture 3"/>
          <p:cNvPicPr>
            <a:picLocks noChangeAspect="1" noChangeArrowheads="1"/>
          </p:cNvPicPr>
          <p:nvPr/>
        </p:nvPicPr>
        <p:blipFill>
          <a:blip r:embed="rId5" cstate="screen"/>
          <a:srcRect/>
          <a:stretch>
            <a:fillRect/>
          </a:stretch>
        </p:blipFill>
        <p:spPr bwMode="auto">
          <a:xfrm>
            <a:off x="287168" y="1208809"/>
            <a:ext cx="2350079" cy="2247900"/>
          </a:xfrm>
          <a:prstGeom prst="rect">
            <a:avLst/>
          </a:prstGeom>
          <a:noFill/>
          <a:ln w="9525">
            <a:noFill/>
            <a:miter lim="800000"/>
            <a:headEnd/>
            <a:tailEnd/>
          </a:ln>
        </p:spPr>
      </p:pic>
      <p:sp>
        <p:nvSpPr>
          <p:cNvPr id="43014" name="TextBox 6"/>
          <p:cNvSpPr txBox="1">
            <a:spLocks noChangeArrowheads="1"/>
          </p:cNvSpPr>
          <p:nvPr/>
        </p:nvSpPr>
        <p:spPr bwMode="auto">
          <a:xfrm>
            <a:off x="2843332" y="2590800"/>
            <a:ext cx="514350" cy="769441"/>
          </a:xfrm>
          <a:prstGeom prst="rect">
            <a:avLst/>
          </a:prstGeom>
          <a:noFill/>
          <a:ln w="9525">
            <a:noFill/>
            <a:miter lim="800000"/>
            <a:headEnd/>
            <a:tailEnd/>
          </a:ln>
        </p:spPr>
        <p:txBody>
          <a:bodyPr wrap="square">
            <a:spAutoFit/>
          </a:bodyPr>
          <a:lstStyle/>
          <a:p>
            <a:r>
              <a:rPr lang="en-US" sz="4400" dirty="0"/>
              <a:t>+</a:t>
            </a:r>
          </a:p>
        </p:txBody>
      </p:sp>
      <p:sp>
        <p:nvSpPr>
          <p:cNvPr id="43015" name="TextBox 7"/>
          <p:cNvSpPr txBox="1">
            <a:spLocks noChangeArrowheads="1"/>
          </p:cNvSpPr>
          <p:nvPr/>
        </p:nvSpPr>
        <p:spPr bwMode="auto">
          <a:xfrm>
            <a:off x="4876800" y="5181600"/>
            <a:ext cx="514350" cy="769937"/>
          </a:xfrm>
          <a:prstGeom prst="rect">
            <a:avLst/>
          </a:prstGeom>
          <a:noFill/>
          <a:ln w="9525">
            <a:noFill/>
            <a:miter lim="800000"/>
            <a:headEnd/>
            <a:tailEnd/>
          </a:ln>
        </p:spPr>
        <p:txBody>
          <a:bodyPr wrap="none">
            <a:spAutoFit/>
          </a:bodyPr>
          <a:lstStyle/>
          <a:p>
            <a:r>
              <a:rPr lang="en-US" sz="4400" dirty="0"/>
              <a:t>=</a:t>
            </a:r>
          </a:p>
        </p:txBody>
      </p:sp>
      <p:pic>
        <p:nvPicPr>
          <p:cNvPr id="46088" name="Picture 8" descr="http://www.reefcorner.com/images/HalimedaWhite.jpg"/>
          <p:cNvPicPr>
            <a:picLocks noChangeAspect="1" noChangeArrowheads="1"/>
          </p:cNvPicPr>
          <p:nvPr/>
        </p:nvPicPr>
        <p:blipFill>
          <a:blip r:embed="rId6" cstate="print"/>
          <a:srcRect/>
          <a:stretch>
            <a:fillRect/>
          </a:stretch>
        </p:blipFill>
        <p:spPr bwMode="auto">
          <a:xfrm>
            <a:off x="252532" y="3505200"/>
            <a:ext cx="2387600" cy="1790700"/>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0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p:bldP spid="430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3" name="TextBox 3"/>
          <p:cNvSpPr txBox="1">
            <a:spLocks noChangeArrowheads="1"/>
          </p:cNvSpPr>
          <p:nvPr/>
        </p:nvSpPr>
        <p:spPr bwMode="auto">
          <a:xfrm>
            <a:off x="304800" y="533400"/>
            <a:ext cx="8534400" cy="830263"/>
          </a:xfrm>
          <a:prstGeom prst="rect">
            <a:avLst/>
          </a:prstGeom>
          <a:noFill/>
          <a:ln w="9525">
            <a:noFill/>
            <a:miter lim="800000"/>
            <a:headEnd/>
            <a:tailEnd/>
          </a:ln>
        </p:spPr>
        <p:txBody>
          <a:bodyPr>
            <a:spAutoFit/>
          </a:bodyPr>
          <a:lstStyle/>
          <a:p>
            <a:pPr algn="ctr"/>
            <a:r>
              <a:rPr lang="en-US" sz="4800" b="1">
                <a:solidFill>
                  <a:schemeClr val="tx2"/>
                </a:solidFill>
                <a:latin typeface="Comic Sans MS" pitchFamily="66" charset="0"/>
              </a:rPr>
              <a:t>Guess this sound!</a:t>
            </a:r>
          </a:p>
        </p:txBody>
      </p:sp>
      <p:sp>
        <p:nvSpPr>
          <p:cNvPr id="566274" name="TextBox 4"/>
          <p:cNvSpPr txBox="1">
            <a:spLocks noChangeArrowheads="1"/>
          </p:cNvSpPr>
          <p:nvPr/>
        </p:nvSpPr>
        <p:spPr bwMode="auto">
          <a:xfrm>
            <a:off x="990600" y="2819400"/>
            <a:ext cx="7543800" cy="830263"/>
          </a:xfrm>
          <a:prstGeom prst="rect">
            <a:avLst/>
          </a:prstGeom>
          <a:noFill/>
          <a:ln w="9525">
            <a:noFill/>
            <a:miter lim="800000"/>
            <a:headEnd/>
            <a:tailEnd/>
          </a:ln>
        </p:spPr>
        <p:txBody>
          <a:bodyPr>
            <a:spAutoFit/>
          </a:bodyPr>
          <a:lstStyle/>
          <a:p>
            <a:pPr algn="ctr"/>
            <a:r>
              <a:rPr lang="en-US" sz="4800" b="1">
                <a:solidFill>
                  <a:schemeClr val="tx2"/>
                </a:solidFill>
                <a:latin typeface="Comic Sans MS" pitchFamily="66" charset="0"/>
              </a:rPr>
              <a:t>Hint: It is in the ocean</a:t>
            </a:r>
          </a:p>
        </p:txBody>
      </p:sp>
      <p:pic>
        <p:nvPicPr>
          <p:cNvPr id="2" name="FFS2_parrot_fish_eating_coralsounds2.wav">
            <a:hlinkClick r:id="" action="ppaction://media"/>
          </p:cNvPr>
          <p:cNvPicPr>
            <a:picLocks noChangeAspect="1"/>
          </p:cNvPicPr>
          <p:nvPr>
            <a:audioFile r:link="rId1"/>
            <p:extLst>
              <p:ext uri="{DAA4B4D4-6D71-4841-9C94-3DE7FCFB9230}">
                <p14:media xmlns:p14="http://schemas.microsoft.com/office/powerpoint/2010/main" xmlns="" r:embed="rId4"/>
              </p:ext>
            </p:extLst>
          </p:nvPr>
        </p:nvPicPr>
        <p:blipFill>
          <a:blip r:embed="rId5" cstate="screen"/>
          <a:stretch>
            <a:fillRect/>
          </a:stretch>
        </p:blipFill>
        <p:spPr>
          <a:xfrm>
            <a:off x="4191000" y="1752600"/>
            <a:ext cx="609600" cy="609600"/>
          </a:xfrm>
          <a:prstGeom prst="rect">
            <a:avLst/>
          </a:prstGeom>
        </p:spPr>
      </p:pic>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177" fill="hold"/>
                                        <p:tgtEl>
                                          <p:spTgt spid="2"/>
                                        </p:tgtEl>
                                      </p:cBhvr>
                                    </p:cmd>
                                  </p:childTnLst>
                                </p:cTn>
                              </p:par>
                            </p:childTnLst>
                          </p:cTn>
                        </p:par>
                      </p:childTnLst>
                    </p:cTn>
                  </p:par>
                </p:childTnLst>
              </p:cTn>
              <p:nextCondLst>
                <p:cond evt="onClick" delay="0">
                  <p:tgtEl>
                    <p:spTgt spid="2"/>
                  </p:tgtEl>
                </p:cond>
              </p:nextCondLst>
            </p:seq>
            <p:audio>
              <p:cMediaNode vol="100000">
                <p:cTn id="7"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 25 fish.jpg"/>
          <p:cNvPicPr>
            <a:picLocks noChangeAspect="1"/>
          </p:cNvPicPr>
          <p:nvPr/>
        </p:nvPicPr>
        <p:blipFill>
          <a:blip r:embed="rId3" cstate="print"/>
          <a:stretch>
            <a:fillRect/>
          </a:stretch>
        </p:blipFill>
        <p:spPr>
          <a:xfrm>
            <a:off x="0" y="0"/>
            <a:ext cx="9139943" cy="6858000"/>
          </a:xfrm>
          <a:prstGeom prst="rect">
            <a:avLst/>
          </a:prstGeom>
        </p:spPr>
      </p:pic>
      <p:sp>
        <p:nvSpPr>
          <p:cNvPr id="3" name="TextBox 2"/>
          <p:cNvSpPr txBox="1">
            <a:spLocks noChangeArrowheads="1"/>
          </p:cNvSpPr>
          <p:nvPr/>
        </p:nvSpPr>
        <p:spPr bwMode="auto">
          <a:xfrm>
            <a:off x="76200" y="5410200"/>
            <a:ext cx="9372600" cy="1323975"/>
          </a:xfrm>
          <a:prstGeom prst="rect">
            <a:avLst/>
          </a:prstGeom>
          <a:noFill/>
          <a:ln w="9525">
            <a:noFill/>
            <a:miter lim="800000"/>
            <a:headEnd/>
            <a:tailEnd/>
          </a:ln>
        </p:spPr>
        <p:txBody>
          <a:bodyPr>
            <a:spAutoFit/>
          </a:bodyPr>
          <a:lstStyle/>
          <a:p>
            <a:r>
              <a:rPr lang="en-US" sz="4000" b="1">
                <a:latin typeface="Comic Sans MS" pitchFamily="66" charset="0"/>
              </a:rPr>
              <a:t>Answer:                                  Parrot Fish (Uhu) munching on coral</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Scale>
                                      <p:cBhvr>
                                        <p:cTn id="7" dur="1000" decel="50000" fill="hold">
                                          <p:stCondLst>
                                            <p:cond delay="0"/>
                                          </p:stCondLst>
                                        </p:cTn>
                                        <p:tgtEl>
                                          <p:spTgt spid="3">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3">
                                            <p:txEl>
                                              <p:pRg st="0" end="0"/>
                                            </p:txEl>
                                          </p:spTgt>
                                        </p:tgtEl>
                                        <p:attrNameLst>
                                          <p:attrName>ppt_x</p:attrName>
                                          <p:attrName>ppt_y</p:attrName>
                                        </p:attrNameLst>
                                      </p:cBhvr>
                                    </p:animMotion>
                                    <p:animEffect transition="in" filter="fade">
                                      <p:cBhvr>
                                        <p:cTn id="9"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69" name="Rectangle 2"/>
          <p:cNvSpPr txBox="1">
            <a:spLocks noChangeArrowheads="1"/>
          </p:cNvSpPr>
          <p:nvPr/>
        </p:nvSpPr>
        <p:spPr bwMode="auto">
          <a:xfrm>
            <a:off x="0" y="274638"/>
            <a:ext cx="9144000" cy="1143000"/>
          </a:xfrm>
          <a:prstGeom prst="rect">
            <a:avLst/>
          </a:prstGeom>
          <a:noFill/>
          <a:ln w="9525">
            <a:noFill/>
            <a:miter lim="800000"/>
            <a:headEnd/>
            <a:tailEnd/>
          </a:ln>
        </p:spPr>
        <p:txBody>
          <a:bodyPr anchor="ctr"/>
          <a:lstStyle/>
          <a:p>
            <a:pPr algn="ctr"/>
            <a:r>
              <a:rPr lang="en-US" sz="1400" b="1" dirty="0">
                <a:solidFill>
                  <a:srgbClr val="311997"/>
                </a:solidFill>
                <a:latin typeface="Comic Sans MS" pitchFamily="66" charset="0"/>
              </a:rPr>
              <a:t>Activity </a:t>
            </a:r>
            <a:r>
              <a:rPr lang="en-US" sz="1400" b="1" dirty="0" smtClean="0">
                <a:solidFill>
                  <a:srgbClr val="311997"/>
                </a:solidFill>
                <a:latin typeface="Comic Sans MS" pitchFamily="66" charset="0"/>
              </a:rPr>
              <a:t>#6 </a:t>
            </a:r>
            <a:r>
              <a:rPr lang="en-US" sz="1400" b="1" dirty="0">
                <a:solidFill>
                  <a:srgbClr val="311997"/>
                </a:solidFill>
                <a:latin typeface="Comic Sans MS" pitchFamily="66" charset="0"/>
              </a:rPr>
              <a:t/>
            </a:r>
            <a:br>
              <a:rPr lang="en-US" sz="1400" b="1" dirty="0">
                <a:solidFill>
                  <a:srgbClr val="311997"/>
                </a:solidFill>
                <a:latin typeface="Comic Sans MS" pitchFamily="66" charset="0"/>
              </a:rPr>
            </a:br>
            <a:r>
              <a:rPr lang="en-US" sz="4800" b="1" dirty="0">
                <a:solidFill>
                  <a:srgbClr val="311997"/>
                </a:solidFill>
                <a:latin typeface="Comic Sans MS" pitchFamily="66" charset="0"/>
              </a:rPr>
              <a:t>CORAL SAND &amp; VINEGAR</a:t>
            </a:r>
          </a:p>
        </p:txBody>
      </p:sp>
      <p:sp>
        <p:nvSpPr>
          <p:cNvPr id="570370" name="Rectangle 4"/>
          <p:cNvSpPr>
            <a:spLocks noChangeArrowheads="1"/>
          </p:cNvSpPr>
          <p:nvPr/>
        </p:nvSpPr>
        <p:spPr bwMode="auto">
          <a:xfrm>
            <a:off x="381000" y="3641725"/>
            <a:ext cx="8153400" cy="1463675"/>
          </a:xfrm>
          <a:prstGeom prst="rect">
            <a:avLst/>
          </a:prstGeom>
          <a:noFill/>
          <a:ln w="9525">
            <a:noFill/>
            <a:miter lim="800000"/>
            <a:headEnd/>
            <a:tailEnd/>
          </a:ln>
        </p:spPr>
        <p:txBody>
          <a:bodyPr lIns="0" tIns="0" rIns="0" bIns="0" anchor="ctr">
            <a:spAutoFit/>
          </a:bodyPr>
          <a:lstStyle/>
          <a:p>
            <a:r>
              <a:rPr lang="en-CA" sz="4800">
                <a:latin typeface="Comic Sans MS" pitchFamily="66" charset="0"/>
              </a:rPr>
              <a:t>How does acid affect coral and certain microbes?</a:t>
            </a:r>
            <a:endParaRPr lang="en-US" sz="4000">
              <a:latin typeface="Comic Sans MS" pitchFamily="66" charset="0"/>
            </a:endParaRPr>
          </a:p>
        </p:txBody>
      </p:sp>
      <p:sp>
        <p:nvSpPr>
          <p:cNvPr id="570371" name="Rectangle 6"/>
          <p:cNvSpPr>
            <a:spLocks noChangeArrowheads="1"/>
          </p:cNvSpPr>
          <p:nvPr/>
        </p:nvSpPr>
        <p:spPr bwMode="auto">
          <a:xfrm>
            <a:off x="152400" y="5638800"/>
            <a:ext cx="6934200" cy="914400"/>
          </a:xfrm>
          <a:prstGeom prst="rect">
            <a:avLst/>
          </a:prstGeom>
          <a:noFill/>
          <a:ln w="9525">
            <a:noFill/>
            <a:miter lim="800000"/>
            <a:headEnd/>
            <a:tailEnd/>
          </a:ln>
        </p:spPr>
        <p:txBody>
          <a:bodyPr lIns="0" tIns="0" rIns="0" bIns="0" anchor="ctr">
            <a:spAutoFit/>
          </a:bodyPr>
          <a:lstStyle/>
          <a:p>
            <a:r>
              <a:rPr lang="en-US" sz="3000" u="sng">
                <a:latin typeface="Comic Sans MS" pitchFamily="66" charset="0"/>
              </a:rPr>
              <a:t>Key Concept</a:t>
            </a:r>
            <a:r>
              <a:rPr lang="en-US" sz="3000">
                <a:latin typeface="Comic Sans MS" pitchFamily="66" charset="0"/>
              </a:rPr>
              <a:t>:  Coral &amp; certain microbes dissolve in acid.</a:t>
            </a:r>
            <a:endParaRPr lang="en-US">
              <a:latin typeface="Comic Sans MS" pitchFamily="66" charset="0"/>
            </a:endParaRPr>
          </a:p>
        </p:txBody>
      </p:sp>
      <p:pic>
        <p:nvPicPr>
          <p:cNvPr id="570373" name="Picture 10" descr="coccolithophore.jpg"/>
          <p:cNvPicPr>
            <a:picLocks noChangeAspect="1"/>
          </p:cNvPicPr>
          <p:nvPr/>
        </p:nvPicPr>
        <p:blipFill>
          <a:blip r:embed="rId3" cstate="screen"/>
          <a:srcRect/>
          <a:stretch>
            <a:fillRect/>
          </a:stretch>
        </p:blipFill>
        <p:spPr bwMode="auto">
          <a:xfrm>
            <a:off x="7239000" y="4953000"/>
            <a:ext cx="1828800" cy="1828800"/>
          </a:xfrm>
          <a:prstGeom prst="rect">
            <a:avLst/>
          </a:prstGeom>
          <a:noFill/>
          <a:ln w="38100">
            <a:noFill/>
            <a:miter lim="800000"/>
            <a:headEnd/>
            <a:tailEnd/>
          </a:ln>
        </p:spPr>
      </p:pic>
      <p:pic>
        <p:nvPicPr>
          <p:cNvPr id="10" name="Picture 9" descr="slide 26 coral.jpg"/>
          <p:cNvPicPr>
            <a:picLocks noChangeAspect="1"/>
          </p:cNvPicPr>
          <p:nvPr/>
        </p:nvPicPr>
        <p:blipFill>
          <a:blip r:embed="rId4" cstate="print"/>
          <a:stretch>
            <a:fillRect/>
          </a:stretch>
        </p:blipFill>
        <p:spPr>
          <a:xfrm>
            <a:off x="146304" y="1447800"/>
            <a:ext cx="8851392" cy="2157984"/>
          </a:xfrm>
          <a:prstGeom prst="rect">
            <a:avLst/>
          </a:prstGeom>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3" descr="C:\Users\cmore\Desktop\IMG_1697.JPG"/>
          <p:cNvPicPr>
            <a:picLocks noChangeAspect="1" noChangeArrowheads="1"/>
          </p:cNvPicPr>
          <p:nvPr/>
        </p:nvPicPr>
        <p:blipFill>
          <a:blip r:embed="rId2" cstate="screen">
            <a:extLst>
              <a:ext uri="{28A0092B-C50C-407E-A947-70E740481C1C}">
                <a14:useLocalDpi xmlns:a14="http://schemas.microsoft.com/office/drawing/2010/main" xmlns="" val="0"/>
              </a:ext>
            </a:extLst>
          </a:blip>
          <a:srcRect/>
          <a:stretch>
            <a:fillRect/>
          </a:stretch>
        </p:blipFill>
        <p:spPr bwMode="auto">
          <a:xfrm>
            <a:off x="4114800" y="2971800"/>
            <a:ext cx="4673600" cy="350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9155" name="Picture 2" descr="C:\Users\cmore\Desktop\IMG_1696.JPG"/>
          <p:cNvPicPr>
            <a:picLocks noChangeAspect="1" noChangeArrowheads="1"/>
          </p:cNvPicPr>
          <p:nvPr/>
        </p:nvPicPr>
        <p:blipFill>
          <a:blip r:embed="rId3" cstate="screen">
            <a:extLst>
              <a:ext uri="{28A0092B-C50C-407E-A947-70E740481C1C}">
                <a14:useLocalDpi xmlns:a14="http://schemas.microsoft.com/office/drawing/2010/main" xmlns="" val="0"/>
              </a:ext>
            </a:extLst>
          </a:blip>
          <a:srcRect/>
          <a:stretch>
            <a:fillRect/>
          </a:stretch>
        </p:blipFill>
        <p:spPr bwMode="auto">
          <a:xfrm>
            <a:off x="381000" y="381000"/>
            <a:ext cx="4876800" cy="3657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useBgFill="1">
        <p:nvSpPr>
          <p:cNvPr id="4" name="TextBox 3"/>
          <p:cNvSpPr txBox="1"/>
          <p:nvPr/>
        </p:nvSpPr>
        <p:spPr>
          <a:xfrm>
            <a:off x="4495800" y="457200"/>
            <a:ext cx="2971800" cy="64611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latin typeface="Comic Sans MS" pitchFamily="66" charset="0"/>
              </a:rPr>
              <a:t>1. Take a pinch of sand and place it on your dish.</a:t>
            </a:r>
            <a:endParaRPr lang="en-US" dirty="0"/>
          </a:p>
        </p:txBody>
      </p:sp>
      <p:sp useBgFill="1">
        <p:nvSpPr>
          <p:cNvPr id="5" name="TextBox 4"/>
          <p:cNvSpPr txBox="1"/>
          <p:nvPr/>
        </p:nvSpPr>
        <p:spPr>
          <a:xfrm>
            <a:off x="1676400" y="4648200"/>
            <a:ext cx="3429000" cy="120015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latin typeface="Comic Sans MS" pitchFamily="66" charset="0"/>
              </a:rPr>
              <a:t>2. Drop vinegar from the bottles onto the sand. Add enough vinegar to cover all the sand.</a:t>
            </a:r>
            <a:endParaRPr lang="en-US" dirty="0"/>
          </a:p>
        </p:txBody>
      </p:sp>
      <p:sp useBgFill="1">
        <p:nvSpPr>
          <p:cNvPr id="6" name="TextBox 5"/>
          <p:cNvSpPr txBox="1"/>
          <p:nvPr/>
        </p:nvSpPr>
        <p:spPr>
          <a:xfrm>
            <a:off x="5562600" y="6096000"/>
            <a:ext cx="3429000" cy="64611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latin typeface="Comic Sans MS" pitchFamily="66" charset="0"/>
              </a:rPr>
              <a:t>3. Using your magnifying glass, observe what happens!</a:t>
            </a:r>
            <a:endParaRPr lang="en-US" dirty="0"/>
          </a:p>
        </p:txBody>
      </p:sp>
    </p:spTree>
    <p:extLst>
      <p:ext uri="{BB962C8B-B14F-4D97-AF65-F5344CB8AC3E}">
        <p14:creationId xmlns:p14="http://schemas.microsoft.com/office/powerpoint/2010/main" xmlns="" val="2153029227"/>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7" name="Title 1"/>
          <p:cNvSpPr>
            <a:spLocks noGrp="1"/>
          </p:cNvSpPr>
          <p:nvPr>
            <p:ph type="title" idx="4294967295"/>
          </p:nvPr>
        </p:nvSpPr>
        <p:spPr>
          <a:xfrm>
            <a:off x="0" y="274638"/>
            <a:ext cx="9144000" cy="1143000"/>
          </a:xfrm>
        </p:spPr>
        <p:txBody>
          <a:bodyPr/>
          <a:lstStyle/>
          <a:p>
            <a:pPr eaLnBrk="1" hangingPunct="1"/>
            <a:r>
              <a:rPr lang="en-US" sz="1200" b="1" dirty="0" smtClean="0">
                <a:solidFill>
                  <a:srgbClr val="311997"/>
                </a:solidFill>
                <a:latin typeface="Comic Sans MS" pitchFamily="66" charset="0"/>
              </a:rPr>
              <a:t>Activity # 7a </a:t>
            </a:r>
            <a:r>
              <a:rPr lang="en-US" sz="4000" b="1" dirty="0" smtClean="0">
                <a:solidFill>
                  <a:schemeClr val="accent2"/>
                </a:solidFill>
                <a:latin typeface="Comic Sans MS" pitchFamily="66" charset="0"/>
              </a:rPr>
              <a:t/>
            </a:r>
            <a:br>
              <a:rPr lang="en-US" sz="4000" b="1" dirty="0" smtClean="0">
                <a:solidFill>
                  <a:schemeClr val="accent2"/>
                </a:solidFill>
                <a:latin typeface="Comic Sans MS" pitchFamily="66" charset="0"/>
              </a:rPr>
            </a:br>
            <a:r>
              <a:rPr lang="en-US" sz="4800" b="1" dirty="0" smtClean="0">
                <a:solidFill>
                  <a:srgbClr val="333399"/>
                </a:solidFill>
                <a:latin typeface="Comic Sans MS" pitchFamily="66" charset="0"/>
              </a:rPr>
              <a:t>WHAT MICROBE ARE YOU?</a:t>
            </a:r>
          </a:p>
        </p:txBody>
      </p:sp>
      <p:sp>
        <p:nvSpPr>
          <p:cNvPr id="572418" name="Content Placeholder 7"/>
          <p:cNvSpPr>
            <a:spLocks noGrp="1"/>
          </p:cNvSpPr>
          <p:nvPr>
            <p:ph idx="4294967295"/>
          </p:nvPr>
        </p:nvSpPr>
        <p:spPr>
          <a:xfrm>
            <a:off x="228600" y="1371600"/>
            <a:ext cx="8686800" cy="2057400"/>
          </a:xfrm>
        </p:spPr>
        <p:txBody>
          <a:bodyPr/>
          <a:lstStyle/>
          <a:p>
            <a:pPr eaLnBrk="1" hangingPunct="1"/>
            <a:r>
              <a:rPr lang="en-US" sz="2800" smtClean="0">
                <a:latin typeface="Comic Sans MS" pitchFamily="66" charset="0"/>
              </a:rPr>
              <a:t>Discover your microbe personality!</a:t>
            </a:r>
          </a:p>
          <a:p>
            <a:pPr eaLnBrk="1" hangingPunct="1"/>
            <a:r>
              <a:rPr lang="en-US" sz="2800" smtClean="0">
                <a:latin typeface="Comic Sans MS" pitchFamily="66" charset="0"/>
              </a:rPr>
              <a:t>In each pair of statements, choose the one that best describes you. </a:t>
            </a:r>
          </a:p>
          <a:p>
            <a:pPr eaLnBrk="1" hangingPunct="1"/>
            <a:endParaRPr lang="en-US" smtClean="0">
              <a:latin typeface="Calibri" pitchFamily="34" charset="0"/>
            </a:endParaRPr>
          </a:p>
        </p:txBody>
      </p:sp>
      <p:sp>
        <p:nvSpPr>
          <p:cNvPr id="572419" name="TextBox 8"/>
          <p:cNvSpPr txBox="1">
            <a:spLocks noChangeArrowheads="1"/>
          </p:cNvSpPr>
          <p:nvPr/>
        </p:nvSpPr>
        <p:spPr bwMode="auto">
          <a:xfrm>
            <a:off x="304800" y="5715000"/>
            <a:ext cx="8305800" cy="946150"/>
          </a:xfrm>
          <a:prstGeom prst="rect">
            <a:avLst/>
          </a:prstGeom>
          <a:noFill/>
          <a:ln w="9525">
            <a:noFill/>
            <a:miter lim="800000"/>
            <a:headEnd/>
            <a:tailEnd/>
          </a:ln>
        </p:spPr>
        <p:txBody>
          <a:bodyPr>
            <a:spAutoFit/>
          </a:bodyPr>
          <a:lstStyle/>
          <a:p>
            <a:pPr algn="ctr"/>
            <a:r>
              <a:rPr lang="en-US" sz="2800" u="sng">
                <a:latin typeface="Comic Sans MS" pitchFamily="66" charset="0"/>
              </a:rPr>
              <a:t>Key Concept</a:t>
            </a:r>
            <a:r>
              <a:rPr lang="en-US" sz="2800">
                <a:latin typeface="Comic Sans MS" pitchFamily="66" charset="0"/>
              </a:rPr>
              <a:t>: There are many different kinds of microbes.  Most of them are good for us.</a:t>
            </a:r>
          </a:p>
        </p:txBody>
      </p:sp>
      <p:pic>
        <p:nvPicPr>
          <p:cNvPr id="572420" name="Picture 10" descr="ehux__16.jpg"/>
          <p:cNvPicPr>
            <a:picLocks noChangeAspect="1"/>
          </p:cNvPicPr>
          <p:nvPr/>
        </p:nvPicPr>
        <p:blipFill>
          <a:blip r:embed="rId3" cstate="screen"/>
          <a:srcRect/>
          <a:stretch>
            <a:fillRect/>
          </a:stretch>
        </p:blipFill>
        <p:spPr bwMode="auto">
          <a:xfrm>
            <a:off x="762000" y="3214688"/>
            <a:ext cx="2057400" cy="1843087"/>
          </a:xfrm>
          <a:prstGeom prst="rect">
            <a:avLst/>
          </a:prstGeom>
          <a:noFill/>
          <a:ln w="9525">
            <a:noFill/>
            <a:miter lim="800000"/>
            <a:headEnd/>
            <a:tailEnd/>
          </a:ln>
        </p:spPr>
      </p:pic>
      <p:pic>
        <p:nvPicPr>
          <p:cNvPr id="572422" name="Picture 17" descr="trichodesmium_dcw.jpg"/>
          <p:cNvPicPr>
            <a:picLocks noChangeAspect="1"/>
          </p:cNvPicPr>
          <p:nvPr/>
        </p:nvPicPr>
        <p:blipFill>
          <a:blip r:embed="rId4" cstate="screen"/>
          <a:srcRect/>
          <a:stretch>
            <a:fillRect/>
          </a:stretch>
        </p:blipFill>
        <p:spPr bwMode="auto">
          <a:xfrm>
            <a:off x="6248400" y="3238500"/>
            <a:ext cx="1919288" cy="1809750"/>
          </a:xfrm>
          <a:prstGeom prst="rect">
            <a:avLst/>
          </a:prstGeom>
          <a:noFill/>
          <a:ln w="38100">
            <a:solidFill>
              <a:schemeClr val="tx1"/>
            </a:solidFill>
            <a:miter lim="800000"/>
            <a:headEnd/>
            <a:tailEnd/>
          </a:ln>
        </p:spPr>
      </p:pic>
      <p:sp>
        <p:nvSpPr>
          <p:cNvPr id="572423" name="TextBox 20"/>
          <p:cNvSpPr txBox="1">
            <a:spLocks noChangeArrowheads="1"/>
          </p:cNvSpPr>
          <p:nvPr/>
        </p:nvSpPr>
        <p:spPr bwMode="auto">
          <a:xfrm>
            <a:off x="685800" y="5057775"/>
            <a:ext cx="6934200" cy="366713"/>
          </a:xfrm>
          <a:prstGeom prst="rect">
            <a:avLst/>
          </a:prstGeom>
          <a:noFill/>
          <a:ln w="9525">
            <a:noFill/>
            <a:miter lim="800000"/>
            <a:headEnd/>
            <a:tailEnd/>
          </a:ln>
        </p:spPr>
        <p:txBody>
          <a:bodyPr>
            <a:spAutoFit/>
          </a:bodyPr>
          <a:lstStyle/>
          <a:p>
            <a:r>
              <a:rPr lang="en-US">
                <a:latin typeface="Comic Sans MS" pitchFamily="66" charset="0"/>
              </a:rPr>
              <a:t>Images: http://microscope.mbl.edu</a:t>
            </a:r>
            <a:r>
              <a:rPr lang="en-US">
                <a:latin typeface="Calibri" pitchFamily="34" charset="0"/>
              </a:rPr>
              <a:t> </a:t>
            </a:r>
          </a:p>
        </p:txBody>
      </p:sp>
      <p:pic>
        <p:nvPicPr>
          <p:cNvPr id="9" name="Picture 8" descr="slide 28 middle.jpg"/>
          <p:cNvPicPr>
            <a:picLocks noChangeAspect="1"/>
          </p:cNvPicPr>
          <p:nvPr/>
        </p:nvPicPr>
        <p:blipFill>
          <a:blip r:embed="rId5" cstate="print"/>
          <a:stretch>
            <a:fillRect/>
          </a:stretch>
        </p:blipFill>
        <p:spPr>
          <a:xfrm>
            <a:off x="3225248" y="3177209"/>
            <a:ext cx="2693504" cy="1928191"/>
          </a:xfrm>
          <a:prstGeom prst="rect">
            <a:avLst/>
          </a:prstGeom>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4465" name="Rectangle 3"/>
          <p:cNvSpPr>
            <a:spLocks noChangeArrowheads="1"/>
          </p:cNvSpPr>
          <p:nvPr/>
        </p:nvSpPr>
        <p:spPr bwMode="auto">
          <a:xfrm>
            <a:off x="0" y="457200"/>
            <a:ext cx="8763000" cy="762000"/>
          </a:xfrm>
          <a:prstGeom prst="rect">
            <a:avLst/>
          </a:prstGeom>
          <a:noFill/>
          <a:ln w="9525">
            <a:noFill/>
            <a:miter lim="800000"/>
            <a:headEnd/>
            <a:tailEnd/>
          </a:ln>
        </p:spPr>
        <p:txBody>
          <a:bodyPr anchor="ctr"/>
          <a:lstStyle/>
          <a:p>
            <a:pPr algn="ctr"/>
            <a:r>
              <a:rPr lang="en-US" sz="1400" b="1" dirty="0">
                <a:solidFill>
                  <a:srgbClr val="311997"/>
                </a:solidFill>
                <a:latin typeface="Comic Sans MS" pitchFamily="66" charset="0"/>
              </a:rPr>
              <a:t>Activity # </a:t>
            </a:r>
            <a:r>
              <a:rPr lang="en-US" sz="1400" b="1" dirty="0" smtClean="0">
                <a:solidFill>
                  <a:srgbClr val="311997"/>
                </a:solidFill>
                <a:latin typeface="Comic Sans MS" pitchFamily="66" charset="0"/>
              </a:rPr>
              <a:t>7b</a:t>
            </a:r>
            <a:r>
              <a:rPr lang="en-US" sz="4000" b="1" dirty="0">
                <a:solidFill>
                  <a:srgbClr val="311997"/>
                </a:solidFill>
                <a:latin typeface="Arial Black" pitchFamily="34" charset="0"/>
              </a:rPr>
              <a:t/>
            </a:r>
            <a:br>
              <a:rPr lang="en-US" sz="4000" b="1" dirty="0">
                <a:solidFill>
                  <a:srgbClr val="311997"/>
                </a:solidFill>
                <a:latin typeface="Arial Black" pitchFamily="34" charset="0"/>
              </a:rPr>
            </a:br>
            <a:r>
              <a:rPr lang="en-US" sz="4800" b="1" dirty="0">
                <a:solidFill>
                  <a:srgbClr val="311997"/>
                </a:solidFill>
                <a:latin typeface="Comic Sans MS" pitchFamily="66" charset="0"/>
              </a:rPr>
              <a:t>MAKE A MICROBE </a:t>
            </a:r>
          </a:p>
          <a:p>
            <a:pPr algn="ctr"/>
            <a:r>
              <a:rPr lang="en-US" sz="3600" b="1" dirty="0">
                <a:solidFill>
                  <a:srgbClr val="311997"/>
                </a:solidFill>
                <a:latin typeface="Comic Sans MS" pitchFamily="66" charset="0"/>
              </a:rPr>
              <a:t>that sinks </a:t>
            </a:r>
            <a:r>
              <a:rPr lang="en-US" sz="3600" b="1" dirty="0" smtClean="0">
                <a:solidFill>
                  <a:srgbClr val="311997"/>
                </a:solidFill>
                <a:latin typeface="Comic Sans MS" pitchFamily="66" charset="0"/>
              </a:rPr>
              <a:t>or floats </a:t>
            </a:r>
            <a:r>
              <a:rPr lang="en-US" sz="3600" b="1" dirty="0">
                <a:solidFill>
                  <a:srgbClr val="311997"/>
                </a:solidFill>
                <a:latin typeface="Comic Sans MS" pitchFamily="66" charset="0"/>
              </a:rPr>
              <a:t>and is protected</a:t>
            </a:r>
            <a:endParaRPr lang="en-US" sz="3600" i="1" dirty="0">
              <a:solidFill>
                <a:srgbClr val="311997"/>
              </a:solidFill>
              <a:latin typeface="Comic Sans MS" pitchFamily="66" charset="0"/>
            </a:endParaRPr>
          </a:p>
        </p:txBody>
      </p:sp>
      <p:sp>
        <p:nvSpPr>
          <p:cNvPr id="574466" name="Rectangle 6"/>
          <p:cNvSpPr>
            <a:spLocks noChangeArrowheads="1"/>
          </p:cNvSpPr>
          <p:nvPr/>
        </p:nvSpPr>
        <p:spPr bwMode="auto">
          <a:xfrm>
            <a:off x="304800" y="5081826"/>
            <a:ext cx="5562600" cy="1723549"/>
          </a:xfrm>
          <a:prstGeom prst="rect">
            <a:avLst/>
          </a:prstGeom>
          <a:noFill/>
          <a:ln w="9525">
            <a:noFill/>
            <a:miter lim="800000"/>
            <a:headEnd/>
            <a:tailEnd/>
          </a:ln>
        </p:spPr>
        <p:txBody>
          <a:bodyPr lIns="0" tIns="0" rIns="0" bIns="0" anchor="ctr">
            <a:spAutoFit/>
          </a:bodyPr>
          <a:lstStyle/>
          <a:p>
            <a:r>
              <a:rPr lang="en-US" sz="2800" u="sng" dirty="0">
                <a:latin typeface="Comic Sans MS" pitchFamily="66" charset="0"/>
              </a:rPr>
              <a:t>Key Concept</a:t>
            </a:r>
            <a:r>
              <a:rPr lang="en-US" sz="2800" dirty="0">
                <a:latin typeface="Comic Sans MS" pitchFamily="66" charset="0"/>
              </a:rPr>
              <a:t>:  Microbes use  diverse strategies to protect themselves and </a:t>
            </a:r>
            <a:r>
              <a:rPr lang="en-US" sz="2800" dirty="0" smtClean="0">
                <a:latin typeface="Comic Sans MS" pitchFamily="66" charset="0"/>
              </a:rPr>
              <a:t>are found everywhere in the water column.</a:t>
            </a:r>
            <a:endParaRPr lang="en-US" sz="2800" dirty="0">
              <a:latin typeface="Comic Sans MS" pitchFamily="66" charset="0"/>
            </a:endParaRPr>
          </a:p>
        </p:txBody>
      </p:sp>
      <p:pic>
        <p:nvPicPr>
          <p:cNvPr id="574467" name="Picture 10" descr="ehux__16.jpg"/>
          <p:cNvPicPr>
            <a:picLocks noChangeAspect="1"/>
          </p:cNvPicPr>
          <p:nvPr/>
        </p:nvPicPr>
        <p:blipFill>
          <a:blip r:embed="rId3" cstate="screen"/>
          <a:srcRect/>
          <a:stretch>
            <a:fillRect/>
          </a:stretch>
        </p:blipFill>
        <p:spPr bwMode="auto">
          <a:xfrm>
            <a:off x="381000" y="2057400"/>
            <a:ext cx="2590800" cy="2319338"/>
          </a:xfrm>
          <a:prstGeom prst="rect">
            <a:avLst/>
          </a:prstGeom>
          <a:noFill/>
          <a:ln w="38100">
            <a:solidFill>
              <a:schemeClr val="tx1"/>
            </a:solidFill>
            <a:miter lim="800000"/>
            <a:headEnd/>
            <a:tailEnd/>
          </a:ln>
        </p:spPr>
      </p:pic>
      <p:pic>
        <p:nvPicPr>
          <p:cNvPr id="574468" name="Picture 21" descr="acanthskel_dcw.jpg"/>
          <p:cNvPicPr>
            <a:picLocks noChangeAspect="1"/>
          </p:cNvPicPr>
          <p:nvPr/>
        </p:nvPicPr>
        <p:blipFill>
          <a:blip r:embed="rId4" cstate="screen"/>
          <a:srcRect/>
          <a:stretch>
            <a:fillRect/>
          </a:stretch>
        </p:blipFill>
        <p:spPr bwMode="auto">
          <a:xfrm>
            <a:off x="3352800" y="2057400"/>
            <a:ext cx="2590800" cy="2270125"/>
          </a:xfrm>
          <a:prstGeom prst="rect">
            <a:avLst/>
          </a:prstGeom>
          <a:noFill/>
          <a:ln w="38100">
            <a:solidFill>
              <a:schemeClr val="tx1"/>
            </a:solidFill>
            <a:miter lim="800000"/>
            <a:headEnd/>
            <a:tailEnd/>
          </a:ln>
        </p:spPr>
      </p:pic>
      <p:pic>
        <p:nvPicPr>
          <p:cNvPr id="574469" name="Picture 12" descr="ceratiumhorridum3_pnw.jpg"/>
          <p:cNvPicPr>
            <a:picLocks noChangeAspect="1"/>
          </p:cNvPicPr>
          <p:nvPr/>
        </p:nvPicPr>
        <p:blipFill>
          <a:blip r:embed="rId5" cstate="screen"/>
          <a:srcRect/>
          <a:stretch>
            <a:fillRect/>
          </a:stretch>
        </p:blipFill>
        <p:spPr bwMode="auto">
          <a:xfrm>
            <a:off x="6324600" y="2066925"/>
            <a:ext cx="2514600" cy="2200275"/>
          </a:xfrm>
          <a:prstGeom prst="rect">
            <a:avLst/>
          </a:prstGeom>
          <a:noFill/>
          <a:ln w="38100">
            <a:solidFill>
              <a:schemeClr val="tx1"/>
            </a:solidFill>
            <a:miter lim="800000"/>
            <a:headEnd/>
            <a:tailEnd/>
          </a:ln>
        </p:spPr>
      </p:pic>
      <p:pic>
        <p:nvPicPr>
          <p:cNvPr id="574470" name="Picture 18" descr="thalassiosiranordenskioldii_pnw.jpg"/>
          <p:cNvPicPr>
            <a:picLocks noChangeAspect="1"/>
          </p:cNvPicPr>
          <p:nvPr/>
        </p:nvPicPr>
        <p:blipFill>
          <a:blip r:embed="rId6" cstate="screen"/>
          <a:srcRect/>
          <a:stretch>
            <a:fillRect/>
          </a:stretch>
        </p:blipFill>
        <p:spPr bwMode="auto">
          <a:xfrm>
            <a:off x="6324600" y="4486275"/>
            <a:ext cx="2590800" cy="2260600"/>
          </a:xfrm>
          <a:prstGeom prst="rect">
            <a:avLst/>
          </a:prstGeom>
          <a:noFill/>
          <a:ln w="38100">
            <a:solidFill>
              <a:schemeClr val="tx1"/>
            </a:solidFill>
            <a:miter lim="800000"/>
            <a:headEnd/>
            <a:tailEnd/>
          </a:ln>
        </p:spPr>
      </p:pic>
      <p:sp>
        <p:nvSpPr>
          <p:cNvPr id="574471" name="TextBox 20"/>
          <p:cNvSpPr txBox="1">
            <a:spLocks noChangeArrowheads="1"/>
          </p:cNvSpPr>
          <p:nvPr/>
        </p:nvSpPr>
        <p:spPr bwMode="auto">
          <a:xfrm>
            <a:off x="304800" y="4495800"/>
            <a:ext cx="6934200" cy="366713"/>
          </a:xfrm>
          <a:prstGeom prst="rect">
            <a:avLst/>
          </a:prstGeom>
          <a:noFill/>
          <a:ln w="9525">
            <a:noFill/>
            <a:miter lim="800000"/>
            <a:headEnd/>
            <a:tailEnd/>
          </a:ln>
        </p:spPr>
        <p:txBody>
          <a:bodyPr>
            <a:spAutoFit/>
          </a:bodyPr>
          <a:lstStyle/>
          <a:p>
            <a:r>
              <a:rPr lang="en-US">
                <a:latin typeface="Comic Sans MS" pitchFamily="66" charset="0"/>
              </a:rPr>
              <a:t>Images: http://microscope.mbl.edu</a:t>
            </a:r>
            <a:r>
              <a:rPr lang="en-US">
                <a:latin typeface="Calibri" pitchFamily="34" charset="0"/>
              </a:rPr>
              <a:t> </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3" name="Rectangle 3"/>
          <p:cNvSpPr>
            <a:spLocks noGrp="1" noChangeArrowheads="1"/>
          </p:cNvSpPr>
          <p:nvPr>
            <p:ph type="title" idx="4294967295"/>
          </p:nvPr>
        </p:nvSpPr>
        <p:spPr>
          <a:xfrm>
            <a:off x="457200" y="228600"/>
            <a:ext cx="8229600" cy="1143000"/>
          </a:xfrm>
        </p:spPr>
        <p:txBody>
          <a:bodyPr/>
          <a:lstStyle/>
          <a:p>
            <a:pPr eaLnBrk="1" hangingPunct="1"/>
            <a:r>
              <a:rPr lang="en-US" sz="1400" b="1" smtClean="0">
                <a:solidFill>
                  <a:srgbClr val="311997"/>
                </a:solidFill>
                <a:latin typeface="Comic Sans MS" pitchFamily="66" charset="0"/>
              </a:rPr>
              <a:t>Activity # 2b</a:t>
            </a:r>
            <a:r>
              <a:rPr lang="en-US" sz="4000" b="1" smtClean="0">
                <a:solidFill>
                  <a:srgbClr val="311997"/>
                </a:solidFill>
                <a:latin typeface="Comic Sans MS" pitchFamily="66" charset="0"/>
              </a:rPr>
              <a:t/>
            </a:r>
            <a:br>
              <a:rPr lang="en-US" sz="4000" b="1" smtClean="0">
                <a:solidFill>
                  <a:srgbClr val="311997"/>
                </a:solidFill>
                <a:latin typeface="Comic Sans MS" pitchFamily="66" charset="0"/>
              </a:rPr>
            </a:br>
            <a:r>
              <a:rPr lang="en-US" sz="4800" b="1" smtClean="0">
                <a:solidFill>
                  <a:srgbClr val="311997"/>
                </a:solidFill>
                <a:latin typeface="Comic Sans MS" pitchFamily="66" charset="0"/>
              </a:rPr>
              <a:t>DROWNING ISLAND</a:t>
            </a:r>
          </a:p>
        </p:txBody>
      </p:sp>
      <p:sp>
        <p:nvSpPr>
          <p:cNvPr id="576514" name="Rectangle 4"/>
          <p:cNvSpPr>
            <a:spLocks noChangeArrowheads="1"/>
          </p:cNvSpPr>
          <p:nvPr/>
        </p:nvSpPr>
        <p:spPr bwMode="auto">
          <a:xfrm>
            <a:off x="0" y="990600"/>
            <a:ext cx="9144000" cy="1143000"/>
          </a:xfrm>
          <a:prstGeom prst="rect">
            <a:avLst/>
          </a:prstGeom>
          <a:noFill/>
          <a:ln w="9525">
            <a:noFill/>
            <a:miter lim="800000"/>
            <a:headEnd/>
            <a:tailEnd/>
          </a:ln>
        </p:spPr>
        <p:txBody>
          <a:bodyPr anchor="ctr"/>
          <a:lstStyle/>
          <a:p>
            <a:pPr algn="ctr"/>
            <a:r>
              <a:rPr lang="en-US" sz="4000" i="1">
                <a:solidFill>
                  <a:srgbClr val="FF0066"/>
                </a:solidFill>
                <a:latin typeface="Arial Black" pitchFamily="34" charset="0"/>
              </a:rPr>
              <a:t>What Happened to Your Island?</a:t>
            </a:r>
          </a:p>
        </p:txBody>
      </p:sp>
      <p:pic>
        <p:nvPicPr>
          <p:cNvPr id="576515" name="Picture 8" descr="stan-kasyanov-surveys-flood-waters-surrounding-his-house-left-by-tropical-storm-fay-in-the-lamplighter-village"/>
          <p:cNvPicPr>
            <a:picLocks noChangeAspect="1" noChangeArrowheads="1"/>
          </p:cNvPicPr>
          <p:nvPr/>
        </p:nvPicPr>
        <p:blipFill>
          <a:blip r:embed="rId3" cstate="screen"/>
          <a:srcRect/>
          <a:stretch>
            <a:fillRect/>
          </a:stretch>
        </p:blipFill>
        <p:spPr bwMode="auto">
          <a:xfrm>
            <a:off x="1524000" y="1843088"/>
            <a:ext cx="5791200" cy="3754437"/>
          </a:xfrm>
          <a:prstGeom prst="rect">
            <a:avLst/>
          </a:prstGeom>
          <a:noFill/>
          <a:ln w="9525">
            <a:noFill/>
            <a:miter lim="800000"/>
            <a:headEnd/>
            <a:tailEnd/>
          </a:ln>
        </p:spPr>
      </p:pic>
      <p:sp>
        <p:nvSpPr>
          <p:cNvPr id="576516" name="Rectangle 10"/>
          <p:cNvSpPr>
            <a:spLocks noChangeArrowheads="1"/>
          </p:cNvSpPr>
          <p:nvPr/>
        </p:nvSpPr>
        <p:spPr bwMode="auto">
          <a:xfrm>
            <a:off x="0" y="5562600"/>
            <a:ext cx="9144000" cy="1493838"/>
          </a:xfrm>
          <a:prstGeom prst="rect">
            <a:avLst/>
          </a:prstGeom>
          <a:noFill/>
          <a:ln w="9525">
            <a:noFill/>
            <a:miter lim="800000"/>
            <a:headEnd/>
            <a:tailEnd/>
          </a:ln>
        </p:spPr>
        <p:txBody>
          <a:bodyPr lIns="0" tIns="0" rIns="0" bIns="0" anchor="ctr">
            <a:spAutoFit/>
          </a:bodyPr>
          <a:lstStyle/>
          <a:p>
            <a:pPr algn="ctr"/>
            <a:r>
              <a:rPr lang="en-US" sz="4000" u="sng">
                <a:latin typeface="Comic Sans MS" pitchFamily="66" charset="0"/>
              </a:rPr>
              <a:t>Key Concept</a:t>
            </a:r>
            <a:r>
              <a:rPr lang="en-US" sz="4000">
                <a:latin typeface="Comic Sans MS" pitchFamily="66" charset="0"/>
              </a:rPr>
              <a:t>: Climate change is causing sea level to rise.</a:t>
            </a:r>
            <a:r>
              <a:rPr lang="en-US">
                <a:latin typeface="Comic Sans MS" pitchFamily="66" charset="0"/>
              </a:rPr>
              <a:t>  </a:t>
            </a:r>
          </a:p>
          <a:p>
            <a:pPr algn="ctr"/>
            <a:endParaRPr lang="en-US">
              <a:latin typeface="Comic Sans MS" pitchFamily="66" charset="0"/>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8561" name="Picture 3" descr="0_Present.jpg"/>
          <p:cNvPicPr>
            <a:picLocks noChangeAspect="1"/>
          </p:cNvPicPr>
          <p:nvPr/>
        </p:nvPicPr>
        <p:blipFill>
          <a:blip r:embed="rId3" cstate="screen"/>
          <a:srcRect/>
          <a:stretch>
            <a:fillRect/>
          </a:stretch>
        </p:blipFill>
        <p:spPr bwMode="auto">
          <a:xfrm>
            <a:off x="171450" y="612775"/>
            <a:ext cx="8820150" cy="5567363"/>
          </a:xfrm>
          <a:prstGeom prst="rect">
            <a:avLst/>
          </a:prstGeom>
          <a:noFill/>
          <a:ln w="9525">
            <a:noFill/>
            <a:miter lim="800000"/>
            <a:headEnd/>
            <a:tailEnd/>
          </a:ln>
        </p:spPr>
      </p:pic>
      <p:sp>
        <p:nvSpPr>
          <p:cNvPr id="578562" name="TextBox 4"/>
          <p:cNvSpPr txBox="1">
            <a:spLocks noChangeArrowheads="1"/>
          </p:cNvSpPr>
          <p:nvPr/>
        </p:nvSpPr>
        <p:spPr bwMode="auto">
          <a:xfrm>
            <a:off x="609600" y="6308725"/>
            <a:ext cx="8142288" cy="396875"/>
          </a:xfrm>
          <a:prstGeom prst="rect">
            <a:avLst/>
          </a:prstGeom>
          <a:noFill/>
          <a:ln w="9525">
            <a:noFill/>
            <a:miter lim="800000"/>
            <a:headEnd/>
            <a:tailEnd/>
          </a:ln>
        </p:spPr>
        <p:txBody>
          <a:bodyPr wrap="none">
            <a:spAutoFit/>
          </a:bodyPr>
          <a:lstStyle/>
          <a:p>
            <a:r>
              <a:rPr lang="en-US" sz="2000" dirty="0"/>
              <a:t>http://www.soest.hawaii.edu/hmrg/FloodingOahu/stepbystep_oahu.php</a:t>
            </a:r>
          </a:p>
        </p:txBody>
      </p:sp>
    </p:spTree>
    <p:extLst>
      <p:ext uri="{BB962C8B-B14F-4D97-AF65-F5344CB8AC3E}">
        <p14:creationId xmlns:p14="http://schemas.microsoft.com/office/powerpoint/2010/main" xmlns="" val="133535946"/>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0609" name="Picture 3" descr="1_m rise.jpg"/>
          <p:cNvPicPr>
            <a:picLocks noChangeAspect="1"/>
          </p:cNvPicPr>
          <p:nvPr/>
        </p:nvPicPr>
        <p:blipFill>
          <a:blip r:embed="rId3" cstate="screen"/>
          <a:srcRect/>
          <a:stretch>
            <a:fillRect/>
          </a:stretch>
        </p:blipFill>
        <p:spPr bwMode="auto">
          <a:xfrm>
            <a:off x="171450" y="611188"/>
            <a:ext cx="8820150" cy="5567362"/>
          </a:xfrm>
          <a:prstGeom prst="rect">
            <a:avLst/>
          </a:prstGeom>
          <a:noFill/>
          <a:ln w="9525">
            <a:noFill/>
            <a:miter lim="800000"/>
            <a:headEnd/>
            <a:tailEnd/>
          </a:ln>
        </p:spPr>
      </p:pic>
      <p:sp>
        <p:nvSpPr>
          <p:cNvPr id="580610" name="TextBox 4"/>
          <p:cNvSpPr txBox="1">
            <a:spLocks noChangeArrowheads="1"/>
          </p:cNvSpPr>
          <p:nvPr/>
        </p:nvSpPr>
        <p:spPr bwMode="auto">
          <a:xfrm>
            <a:off x="609600" y="6308725"/>
            <a:ext cx="8142288" cy="396875"/>
          </a:xfrm>
          <a:prstGeom prst="rect">
            <a:avLst/>
          </a:prstGeom>
          <a:noFill/>
          <a:ln w="9525">
            <a:noFill/>
            <a:miter lim="800000"/>
            <a:headEnd/>
            <a:tailEnd/>
          </a:ln>
        </p:spPr>
        <p:txBody>
          <a:bodyPr wrap="none">
            <a:spAutoFit/>
          </a:bodyPr>
          <a:lstStyle/>
          <a:p>
            <a:r>
              <a:rPr lang="en-US" sz="2000" dirty="0"/>
              <a:t>http://www.soest.hawaii.edu/hmrg/FloodingOahu/stepbystep_oahu.php</a:t>
            </a:r>
          </a:p>
        </p:txBody>
      </p:sp>
    </p:spTree>
    <p:extLst>
      <p:ext uri="{BB962C8B-B14F-4D97-AF65-F5344CB8AC3E}">
        <p14:creationId xmlns:p14="http://schemas.microsoft.com/office/powerpoint/2010/main" xmlns="" val="703102044"/>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7" name="Rectangle 8"/>
          <p:cNvSpPr>
            <a:spLocks noGrp="1" noRot="1" noChangeArrowheads="1"/>
          </p:cNvSpPr>
          <p:nvPr>
            <p:ph type="title" idx="4294967295"/>
          </p:nvPr>
        </p:nvSpPr>
        <p:spPr>
          <a:xfrm>
            <a:off x="914400" y="152400"/>
            <a:ext cx="7239000" cy="1143000"/>
          </a:xfrm>
        </p:spPr>
        <p:txBody>
          <a:bodyPr/>
          <a:lstStyle/>
          <a:p>
            <a:pPr eaLnBrk="1" hangingPunct="1"/>
            <a:r>
              <a:rPr lang="en-US" sz="4000" smtClean="0">
                <a:solidFill>
                  <a:srgbClr val="333399"/>
                </a:solidFill>
                <a:latin typeface="Comic Sans MS" pitchFamily="66" charset="0"/>
              </a:rPr>
              <a:t>Effect of a 1 Meter (3 Feet) Sea Level Rise in Honolulu</a:t>
            </a:r>
          </a:p>
        </p:txBody>
      </p:sp>
      <p:grpSp>
        <p:nvGrpSpPr>
          <p:cNvPr id="2" name="Group 6"/>
          <p:cNvGrpSpPr>
            <a:grpSpLocks/>
          </p:cNvGrpSpPr>
          <p:nvPr/>
        </p:nvGrpSpPr>
        <p:grpSpPr bwMode="auto">
          <a:xfrm>
            <a:off x="1738313" y="1354138"/>
            <a:ext cx="5653087" cy="5351462"/>
            <a:chOff x="1738235" y="1354638"/>
            <a:chExt cx="5653165" cy="5350962"/>
          </a:xfrm>
        </p:grpSpPr>
        <p:pic>
          <p:nvPicPr>
            <p:cNvPr id="582659" name="Picture 6" descr="Blue Line Project"/>
            <p:cNvPicPr>
              <a:picLocks noChangeAspect="1" noChangeArrowheads="1"/>
            </p:cNvPicPr>
            <p:nvPr/>
          </p:nvPicPr>
          <p:blipFill>
            <a:blip r:embed="rId3" cstate="print"/>
            <a:srcRect/>
            <a:stretch>
              <a:fillRect/>
            </a:stretch>
          </p:blipFill>
          <p:spPr bwMode="auto">
            <a:xfrm>
              <a:off x="1738235" y="1354638"/>
              <a:ext cx="5653165" cy="5350962"/>
            </a:xfrm>
            <a:prstGeom prst="rect">
              <a:avLst/>
            </a:prstGeom>
            <a:noFill/>
            <a:ln w="9525">
              <a:noFill/>
              <a:miter lim="800000"/>
              <a:headEnd/>
              <a:tailEnd/>
            </a:ln>
          </p:spPr>
        </p:pic>
        <p:sp>
          <p:nvSpPr>
            <p:cNvPr id="582660" name="TextBox 3"/>
            <p:cNvSpPr txBox="1">
              <a:spLocks noChangeArrowheads="1"/>
            </p:cNvSpPr>
            <p:nvPr/>
          </p:nvSpPr>
          <p:spPr bwMode="auto">
            <a:xfrm>
              <a:off x="4267200" y="2209800"/>
              <a:ext cx="1640193" cy="430887"/>
            </a:xfrm>
            <a:prstGeom prst="rect">
              <a:avLst/>
            </a:prstGeom>
            <a:noFill/>
            <a:ln w="9525">
              <a:noFill/>
              <a:miter lim="800000"/>
              <a:headEnd/>
              <a:tailEnd/>
            </a:ln>
          </p:spPr>
          <p:txBody>
            <a:bodyPr wrap="none">
              <a:spAutoFit/>
            </a:bodyPr>
            <a:lstStyle/>
            <a:p>
              <a:pPr algn="ctr"/>
              <a:r>
                <a:rPr lang="en-US" sz="1100">
                  <a:solidFill>
                    <a:srgbClr val="FFFF00"/>
                  </a:solidFill>
                </a:rPr>
                <a:t>National Memorial </a:t>
              </a:r>
            </a:p>
            <a:p>
              <a:pPr algn="ctr"/>
              <a:r>
                <a:rPr lang="en-US" sz="1100">
                  <a:solidFill>
                    <a:srgbClr val="FFFF00"/>
                  </a:solidFill>
                </a:rPr>
                <a:t>Cemetery of the Pacific</a:t>
              </a:r>
            </a:p>
          </p:txBody>
        </p:sp>
        <p:sp>
          <p:nvSpPr>
            <p:cNvPr id="582661" name="TextBox 4"/>
            <p:cNvSpPr txBox="1">
              <a:spLocks noChangeArrowheads="1"/>
            </p:cNvSpPr>
            <p:nvPr/>
          </p:nvSpPr>
          <p:spPr bwMode="auto">
            <a:xfrm rot="2743634">
              <a:off x="6012016" y="4696884"/>
              <a:ext cx="671979" cy="261610"/>
            </a:xfrm>
            <a:prstGeom prst="rect">
              <a:avLst/>
            </a:prstGeom>
            <a:noFill/>
            <a:ln w="9525">
              <a:noFill/>
              <a:miter lim="800000"/>
              <a:headEnd/>
              <a:tailEnd/>
            </a:ln>
          </p:spPr>
          <p:txBody>
            <a:bodyPr wrap="none">
              <a:spAutoFit/>
            </a:bodyPr>
            <a:lstStyle/>
            <a:p>
              <a:r>
                <a:rPr lang="en-US" sz="1100">
                  <a:solidFill>
                    <a:srgbClr val="FFFF00"/>
                  </a:solidFill>
                </a:rPr>
                <a:t>Ala Wai</a:t>
              </a:r>
            </a:p>
          </p:txBody>
        </p:sp>
        <p:sp>
          <p:nvSpPr>
            <p:cNvPr id="582662" name="TextBox 5"/>
            <p:cNvSpPr txBox="1">
              <a:spLocks noChangeArrowheads="1"/>
            </p:cNvSpPr>
            <p:nvPr/>
          </p:nvSpPr>
          <p:spPr bwMode="auto">
            <a:xfrm rot="927801">
              <a:off x="4155699" y="4076452"/>
              <a:ext cx="914033" cy="430887"/>
            </a:xfrm>
            <a:prstGeom prst="rect">
              <a:avLst/>
            </a:prstGeom>
            <a:noFill/>
            <a:ln w="9525">
              <a:noFill/>
              <a:miter lim="800000"/>
              <a:headEnd/>
              <a:tailEnd/>
            </a:ln>
          </p:spPr>
          <p:txBody>
            <a:bodyPr wrap="none">
              <a:spAutoFit/>
            </a:bodyPr>
            <a:lstStyle/>
            <a:p>
              <a:pPr algn="ctr"/>
              <a:r>
                <a:rPr lang="en-US" sz="1100">
                  <a:solidFill>
                    <a:srgbClr val="FFFF00"/>
                  </a:solidFill>
                </a:rPr>
                <a:t>Ala Moana </a:t>
              </a:r>
            </a:p>
            <a:p>
              <a:pPr algn="ctr"/>
              <a:r>
                <a:rPr lang="en-US" sz="1100">
                  <a:solidFill>
                    <a:srgbClr val="FFFF00"/>
                  </a:solidFill>
                </a:rPr>
                <a:t>Beach Park</a:t>
              </a:r>
            </a:p>
          </p:txBody>
        </p:sp>
      </p:gr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txBox="1">
            <a:spLocks noRot="1" noChangeArrowheads="1"/>
          </p:cNvSpPr>
          <p:nvPr/>
        </p:nvSpPr>
        <p:spPr bwMode="auto">
          <a:xfrm>
            <a:off x="914400" y="228600"/>
            <a:ext cx="7239000" cy="1143000"/>
          </a:xfrm>
          <a:prstGeom prst="rect">
            <a:avLst/>
          </a:prstGeom>
          <a:noFill/>
          <a:ln w="9525">
            <a:noFill/>
            <a:miter lim="800000"/>
            <a:headEnd/>
            <a:tailEnd/>
          </a:ln>
        </p:spPr>
        <p:txBody>
          <a:bodyPr anchor="ctr"/>
          <a:lstStyle/>
          <a:p>
            <a:pPr algn="ctr" fontAlgn="auto">
              <a:spcBef>
                <a:spcPts val="0"/>
              </a:spcBef>
              <a:spcAft>
                <a:spcPts val="0"/>
              </a:spcAft>
              <a:defRPr/>
            </a:pPr>
            <a:endParaRPr lang="en-US" sz="4000" kern="0" dirty="0">
              <a:solidFill>
                <a:srgbClr val="333399"/>
              </a:solidFill>
              <a:latin typeface="Comic Sans MS" pitchFamily="66" charset="0"/>
              <a:ea typeface="+mj-ea"/>
              <a:cs typeface="+mj-cs"/>
            </a:endParaRPr>
          </a:p>
        </p:txBody>
      </p:sp>
      <p:sp>
        <p:nvSpPr>
          <p:cNvPr id="102403" name="Title 2"/>
          <p:cNvSpPr>
            <a:spLocks noGrp="1"/>
          </p:cNvSpPr>
          <p:nvPr>
            <p:ph type="title" idx="4294967295"/>
          </p:nvPr>
        </p:nvSpPr>
        <p:spPr>
          <a:xfrm>
            <a:off x="457200" y="762000"/>
            <a:ext cx="8229600" cy="1143000"/>
          </a:xfrm>
        </p:spPr>
        <p:txBody>
          <a:bodyPr rtlCol="0">
            <a:normAutofit fontScale="90000"/>
          </a:bodyPr>
          <a:lstStyle/>
          <a:p>
            <a:pPr eaLnBrk="1" fontAlgn="auto" hangingPunct="1">
              <a:spcAft>
                <a:spcPts val="0"/>
              </a:spcAft>
              <a:defRPr/>
            </a:pPr>
            <a:r>
              <a:rPr lang="en-US" dirty="0" smtClean="0">
                <a:solidFill>
                  <a:srgbClr val="333399"/>
                </a:solidFill>
                <a:latin typeface="Comic Sans MS" pitchFamily="66" charset="0"/>
              </a:rPr>
              <a:t>What can YOU do to limit climate change?</a:t>
            </a:r>
            <a:br>
              <a:rPr lang="en-US" dirty="0" smtClean="0">
                <a:solidFill>
                  <a:srgbClr val="333399"/>
                </a:solidFill>
                <a:latin typeface="Comic Sans MS" pitchFamily="66" charset="0"/>
              </a:rPr>
            </a:br>
            <a:endParaRPr lang="en-US" dirty="0" smtClean="0">
              <a:latin typeface="+mj-lt"/>
            </a:endParaRPr>
          </a:p>
        </p:txBody>
      </p:sp>
      <p:sp>
        <p:nvSpPr>
          <p:cNvPr id="588803" name="Content Placeholder 3"/>
          <p:cNvSpPr>
            <a:spLocks noGrp="1"/>
          </p:cNvSpPr>
          <p:nvPr>
            <p:ph idx="4294967295"/>
          </p:nvPr>
        </p:nvSpPr>
        <p:spPr>
          <a:xfrm>
            <a:off x="457200" y="1905000"/>
            <a:ext cx="4648200" cy="4419600"/>
          </a:xfrm>
        </p:spPr>
        <p:txBody>
          <a:bodyPr/>
          <a:lstStyle/>
          <a:p>
            <a:pPr eaLnBrk="1" hangingPunct="1"/>
            <a:r>
              <a:rPr lang="en-US" smtClean="0">
                <a:latin typeface="Comic Sans MS" pitchFamily="66" charset="0"/>
              </a:rPr>
              <a:t>Ride your bike, walk, or catch the bus</a:t>
            </a:r>
          </a:p>
          <a:p>
            <a:pPr eaLnBrk="1" hangingPunct="1"/>
            <a:r>
              <a:rPr lang="en-US" smtClean="0">
                <a:latin typeface="Comic Sans MS" pitchFamily="66" charset="0"/>
              </a:rPr>
              <a:t>Don’t waste electricity</a:t>
            </a:r>
          </a:p>
          <a:p>
            <a:pPr eaLnBrk="1" hangingPunct="1"/>
            <a:r>
              <a:rPr lang="en-US" smtClean="0">
                <a:latin typeface="Comic Sans MS" pitchFamily="66" charset="0"/>
              </a:rPr>
              <a:t>Reuse and recycle</a:t>
            </a:r>
          </a:p>
          <a:p>
            <a:pPr eaLnBrk="1" hangingPunct="1"/>
            <a:r>
              <a:rPr lang="en-US" smtClean="0">
                <a:latin typeface="Comic Sans MS" pitchFamily="66" charset="0"/>
              </a:rPr>
              <a:t>Buy products with less packaging</a:t>
            </a:r>
          </a:p>
          <a:p>
            <a:pPr eaLnBrk="1" hangingPunct="1"/>
            <a:r>
              <a:rPr lang="en-US" smtClean="0">
                <a:latin typeface="Comic Sans MS" pitchFamily="66" charset="0"/>
              </a:rPr>
              <a:t>Plant trees</a:t>
            </a:r>
          </a:p>
          <a:p>
            <a:pPr eaLnBrk="1" hangingPunct="1"/>
            <a:endParaRPr lang="en-US" smtClean="0">
              <a:latin typeface="Calibri" pitchFamily="34" charset="0"/>
            </a:endParaRPr>
          </a:p>
        </p:txBody>
      </p:sp>
      <p:pic>
        <p:nvPicPr>
          <p:cNvPr id="6" name="Picture 5" descr="slide 36 earth.jpg"/>
          <p:cNvPicPr>
            <a:picLocks noChangeAspect="1"/>
          </p:cNvPicPr>
          <p:nvPr/>
        </p:nvPicPr>
        <p:blipFill>
          <a:blip r:embed="rId3" cstate="print"/>
          <a:stretch>
            <a:fillRect/>
          </a:stretch>
        </p:blipFill>
        <p:spPr>
          <a:xfrm>
            <a:off x="5105400" y="1981200"/>
            <a:ext cx="3621024" cy="4126992"/>
          </a:xfrm>
          <a:prstGeom prst="rect">
            <a:avLst/>
          </a:prstGeom>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idx="4294967295"/>
          </p:nvPr>
        </p:nvSpPr>
        <p:spPr>
          <a:xfrm>
            <a:off x="0" y="152400"/>
            <a:ext cx="9144000" cy="685800"/>
          </a:xfrm>
        </p:spPr>
        <p:txBody>
          <a:bodyPr rtlCol="0">
            <a:normAutofit fontScale="90000"/>
          </a:bodyPr>
          <a:lstStyle/>
          <a:p>
            <a:pPr eaLnBrk="1" fontAlgn="auto" hangingPunct="1">
              <a:spcAft>
                <a:spcPts val="0"/>
              </a:spcAft>
              <a:defRPr/>
            </a:pPr>
            <a:r>
              <a:rPr lang="en-US" sz="4000" b="1" dirty="0" smtClean="0">
                <a:solidFill>
                  <a:srgbClr val="311997"/>
                </a:solidFill>
                <a:latin typeface="Comic Sans MS" pitchFamily="66" charset="0"/>
              </a:rPr>
              <a:t>CAREERS IN OCEANOGRAPHY</a:t>
            </a:r>
          </a:p>
        </p:txBody>
      </p:sp>
      <p:pic>
        <p:nvPicPr>
          <p:cNvPr id="590850" name="Picture 8" descr="Monika F at MBARI 09"/>
          <p:cNvPicPr>
            <a:picLocks noChangeAspect="1" noChangeArrowheads="1"/>
          </p:cNvPicPr>
          <p:nvPr/>
        </p:nvPicPr>
        <p:blipFill>
          <a:blip r:embed="rId3" cstate="screen"/>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p>
            <a:pPr algn="ctr" eaLnBrk="0" hangingPunct="0">
              <a:defRPr/>
            </a:pPr>
            <a:r>
              <a:rPr lang="en-US" sz="4400" b="1" dirty="0">
                <a:solidFill>
                  <a:srgbClr val="311997"/>
                </a:solidFill>
                <a:latin typeface="Comic Sans MS" pitchFamily="66" charset="0"/>
                <a:ea typeface="+mj-ea"/>
                <a:cs typeface="+mj-cs"/>
              </a:rPr>
              <a:t>What makes a scientist a scientist??</a:t>
            </a:r>
          </a:p>
        </p:txBody>
      </p:sp>
      <p:sp>
        <p:nvSpPr>
          <p:cNvPr id="592898" name="TextBox 2"/>
          <p:cNvSpPr txBox="1">
            <a:spLocks noChangeArrowheads="1"/>
          </p:cNvSpPr>
          <p:nvPr/>
        </p:nvSpPr>
        <p:spPr bwMode="auto">
          <a:xfrm rot="-562014">
            <a:off x="247650" y="1684338"/>
            <a:ext cx="2014538"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Curiosity</a:t>
            </a:r>
          </a:p>
        </p:txBody>
      </p:sp>
      <p:sp>
        <p:nvSpPr>
          <p:cNvPr id="592899" name="TextBox 3"/>
          <p:cNvSpPr txBox="1">
            <a:spLocks noChangeArrowheads="1"/>
          </p:cNvSpPr>
          <p:nvPr/>
        </p:nvSpPr>
        <p:spPr bwMode="auto">
          <a:xfrm rot="482126">
            <a:off x="6989763" y="4618038"/>
            <a:ext cx="2116137" cy="954087"/>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Passion for learning</a:t>
            </a:r>
          </a:p>
        </p:txBody>
      </p:sp>
      <p:sp>
        <p:nvSpPr>
          <p:cNvPr id="592900" name="TextBox 7"/>
          <p:cNvSpPr txBox="1">
            <a:spLocks noChangeArrowheads="1"/>
          </p:cNvSpPr>
          <p:nvPr/>
        </p:nvSpPr>
        <p:spPr bwMode="auto">
          <a:xfrm rot="1344259">
            <a:off x="242888" y="5470525"/>
            <a:ext cx="27432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Exploration</a:t>
            </a:r>
          </a:p>
        </p:txBody>
      </p:sp>
      <p:sp>
        <p:nvSpPr>
          <p:cNvPr id="592901" name="TextBox 9"/>
          <p:cNvSpPr txBox="1">
            <a:spLocks noChangeArrowheads="1"/>
          </p:cNvSpPr>
          <p:nvPr/>
        </p:nvSpPr>
        <p:spPr bwMode="auto">
          <a:xfrm rot="327003">
            <a:off x="6091238" y="1536700"/>
            <a:ext cx="3187700" cy="522288"/>
          </a:xfrm>
          <a:prstGeom prst="rect">
            <a:avLst/>
          </a:prstGeom>
          <a:noFill/>
          <a:ln w="9525">
            <a:noFill/>
            <a:miter lim="800000"/>
            <a:headEnd/>
            <a:tailEnd/>
          </a:ln>
        </p:spPr>
        <p:txBody>
          <a:bodyPr>
            <a:spAutoFit/>
          </a:bodyPr>
          <a:lstStyle/>
          <a:p>
            <a:r>
              <a:rPr lang="en-US" sz="2800" b="1">
                <a:solidFill>
                  <a:schemeClr val="tx2"/>
                </a:solidFill>
                <a:latin typeface="Comic Sans MS" pitchFamily="66" charset="0"/>
              </a:rPr>
              <a:t> </a:t>
            </a:r>
            <a:r>
              <a:rPr lang="en-US" sz="2800" b="1">
                <a:solidFill>
                  <a:srgbClr val="311997"/>
                </a:solidFill>
                <a:latin typeface="Comic Sans MS" pitchFamily="66" charset="0"/>
              </a:rPr>
              <a:t>Problem solving</a:t>
            </a:r>
          </a:p>
        </p:txBody>
      </p:sp>
      <p:sp>
        <p:nvSpPr>
          <p:cNvPr id="592902" name="TextBox 10"/>
          <p:cNvSpPr txBox="1">
            <a:spLocks noChangeArrowheads="1"/>
          </p:cNvSpPr>
          <p:nvPr/>
        </p:nvSpPr>
        <p:spPr bwMode="auto">
          <a:xfrm rot="932922">
            <a:off x="7202488" y="2957513"/>
            <a:ext cx="16764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Patience</a:t>
            </a:r>
          </a:p>
        </p:txBody>
      </p:sp>
      <p:sp>
        <p:nvSpPr>
          <p:cNvPr id="592904" name="TextBox 56"/>
          <p:cNvSpPr txBox="1">
            <a:spLocks noChangeArrowheads="1"/>
          </p:cNvSpPr>
          <p:nvPr/>
        </p:nvSpPr>
        <p:spPr bwMode="auto">
          <a:xfrm rot="-551681">
            <a:off x="2911475" y="6007100"/>
            <a:ext cx="4140200" cy="523875"/>
          </a:xfrm>
          <a:prstGeom prst="rect">
            <a:avLst/>
          </a:prstGeom>
          <a:noFill/>
          <a:ln w="9525">
            <a:noFill/>
            <a:miter lim="800000"/>
            <a:headEnd/>
            <a:tailEnd/>
          </a:ln>
        </p:spPr>
        <p:txBody>
          <a:bodyPr wrap="none">
            <a:spAutoFit/>
          </a:bodyPr>
          <a:lstStyle/>
          <a:p>
            <a:r>
              <a:rPr lang="en-US" sz="2800" b="1">
                <a:solidFill>
                  <a:srgbClr val="311997"/>
                </a:solidFill>
                <a:latin typeface="Comic Sans MS" pitchFamily="66" charset="0"/>
              </a:rPr>
              <a:t>Good observation skills</a:t>
            </a:r>
            <a:endParaRPr lang="en-US" sz="2800">
              <a:solidFill>
                <a:srgbClr val="311997"/>
              </a:solidFill>
            </a:endParaRPr>
          </a:p>
        </p:txBody>
      </p:sp>
      <p:sp>
        <p:nvSpPr>
          <p:cNvPr id="13" name="TextBox 2"/>
          <p:cNvSpPr txBox="1">
            <a:spLocks noChangeArrowheads="1"/>
          </p:cNvSpPr>
          <p:nvPr/>
        </p:nvSpPr>
        <p:spPr bwMode="auto">
          <a:xfrm rot="-562014">
            <a:off x="242888" y="1684338"/>
            <a:ext cx="2014537" cy="523875"/>
          </a:xfrm>
          <a:prstGeom prst="rect">
            <a:avLst/>
          </a:prstGeom>
          <a:noFill/>
          <a:ln w="9525">
            <a:noFill/>
            <a:miter lim="800000"/>
            <a:headEnd/>
            <a:tailEnd/>
          </a:ln>
        </p:spPr>
        <p:txBody>
          <a:bodyPr>
            <a:spAutoFit/>
          </a:bodyPr>
          <a:lstStyle/>
          <a:p>
            <a:r>
              <a:rPr lang="en-US" sz="2800" b="1">
                <a:solidFill>
                  <a:srgbClr val="FF0000"/>
                </a:solidFill>
                <a:latin typeface="Comic Sans MS" pitchFamily="66" charset="0"/>
              </a:rPr>
              <a:t>Curiosity</a:t>
            </a:r>
          </a:p>
        </p:txBody>
      </p:sp>
      <p:grpSp>
        <p:nvGrpSpPr>
          <p:cNvPr id="11" name="Group 25"/>
          <p:cNvGrpSpPr>
            <a:grpSpLocks/>
          </p:cNvGrpSpPr>
          <p:nvPr/>
        </p:nvGrpSpPr>
        <p:grpSpPr bwMode="auto">
          <a:xfrm>
            <a:off x="1854200" y="2027238"/>
            <a:ext cx="4927600" cy="3078162"/>
            <a:chOff x="1828800" y="2131219"/>
            <a:chExt cx="4927076" cy="3078955"/>
          </a:xfrm>
        </p:grpSpPr>
        <p:pic>
          <p:nvPicPr>
            <p:cNvPr id="12" name="Picture 15" descr="wave tube_hahaione.jpg"/>
            <p:cNvPicPr>
              <a:picLocks noChangeAspect="1"/>
            </p:cNvPicPr>
            <p:nvPr/>
          </p:nvPicPr>
          <p:blipFill>
            <a:blip r:embed="rId3" cstate="print"/>
            <a:srcRect/>
            <a:stretch>
              <a:fillRect/>
            </a:stretch>
          </p:blipFill>
          <p:spPr bwMode="auto">
            <a:xfrm>
              <a:off x="1828800" y="2590800"/>
              <a:ext cx="2856465" cy="2286000"/>
            </a:xfrm>
            <a:prstGeom prst="rect">
              <a:avLst/>
            </a:prstGeom>
            <a:noFill/>
            <a:ln w="9525">
              <a:noFill/>
              <a:miter lim="800000"/>
              <a:headEnd/>
              <a:tailEnd/>
            </a:ln>
          </p:spPr>
        </p:pic>
        <p:pic>
          <p:nvPicPr>
            <p:cNvPr id="14" name="Picture 7"/>
            <p:cNvPicPr>
              <a:picLocks noChangeAspect="1" noChangeArrowheads="1"/>
            </p:cNvPicPr>
            <p:nvPr/>
          </p:nvPicPr>
          <p:blipFill>
            <a:blip r:embed="rId4" cstate="print"/>
            <a:srcRect/>
            <a:stretch>
              <a:fillRect/>
            </a:stretch>
          </p:blipFill>
          <p:spPr bwMode="auto">
            <a:xfrm>
              <a:off x="4724400" y="2131219"/>
              <a:ext cx="2031476" cy="3078955"/>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p>
            <a:pPr algn="ctr" eaLnBrk="0" hangingPunct="0">
              <a:defRPr/>
            </a:pPr>
            <a:r>
              <a:rPr lang="en-US" sz="4400" b="1" dirty="0">
                <a:solidFill>
                  <a:srgbClr val="311997"/>
                </a:solidFill>
                <a:latin typeface="Comic Sans MS" pitchFamily="66" charset="0"/>
                <a:ea typeface="+mj-ea"/>
                <a:cs typeface="+mj-cs"/>
              </a:rPr>
              <a:t>What makes a scientist a scientist??</a:t>
            </a:r>
          </a:p>
        </p:txBody>
      </p:sp>
      <p:sp>
        <p:nvSpPr>
          <p:cNvPr id="594946" name="TextBox 2"/>
          <p:cNvSpPr txBox="1">
            <a:spLocks noChangeArrowheads="1"/>
          </p:cNvSpPr>
          <p:nvPr/>
        </p:nvSpPr>
        <p:spPr bwMode="auto">
          <a:xfrm rot="-562014">
            <a:off x="247650" y="1684338"/>
            <a:ext cx="2014538"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Curiosity</a:t>
            </a:r>
          </a:p>
        </p:txBody>
      </p:sp>
      <p:sp>
        <p:nvSpPr>
          <p:cNvPr id="594947" name="TextBox 3"/>
          <p:cNvSpPr txBox="1">
            <a:spLocks noChangeArrowheads="1"/>
          </p:cNvSpPr>
          <p:nvPr/>
        </p:nvSpPr>
        <p:spPr bwMode="auto">
          <a:xfrm rot="482126">
            <a:off x="6989763" y="4618038"/>
            <a:ext cx="2116137" cy="954087"/>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Passion for learning</a:t>
            </a:r>
          </a:p>
        </p:txBody>
      </p:sp>
      <p:sp>
        <p:nvSpPr>
          <p:cNvPr id="594948" name="TextBox 7"/>
          <p:cNvSpPr txBox="1">
            <a:spLocks noChangeArrowheads="1"/>
          </p:cNvSpPr>
          <p:nvPr/>
        </p:nvSpPr>
        <p:spPr bwMode="auto">
          <a:xfrm rot="1344259">
            <a:off x="242888" y="5470525"/>
            <a:ext cx="27432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Exploration</a:t>
            </a:r>
          </a:p>
        </p:txBody>
      </p:sp>
      <p:sp>
        <p:nvSpPr>
          <p:cNvPr id="594949" name="TextBox 9"/>
          <p:cNvSpPr txBox="1">
            <a:spLocks noChangeArrowheads="1"/>
          </p:cNvSpPr>
          <p:nvPr/>
        </p:nvSpPr>
        <p:spPr bwMode="auto">
          <a:xfrm rot="327003">
            <a:off x="6091238" y="1536700"/>
            <a:ext cx="3187700" cy="522288"/>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 Problem solving</a:t>
            </a:r>
          </a:p>
        </p:txBody>
      </p:sp>
      <p:sp>
        <p:nvSpPr>
          <p:cNvPr id="594950" name="TextBox 10"/>
          <p:cNvSpPr txBox="1">
            <a:spLocks noChangeArrowheads="1"/>
          </p:cNvSpPr>
          <p:nvPr/>
        </p:nvSpPr>
        <p:spPr bwMode="auto">
          <a:xfrm rot="932922">
            <a:off x="7202488" y="2957513"/>
            <a:ext cx="16764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Patience</a:t>
            </a:r>
          </a:p>
        </p:txBody>
      </p:sp>
      <p:sp>
        <p:nvSpPr>
          <p:cNvPr id="594951" name="TextBox 56"/>
          <p:cNvSpPr txBox="1">
            <a:spLocks noChangeArrowheads="1"/>
          </p:cNvSpPr>
          <p:nvPr/>
        </p:nvSpPr>
        <p:spPr bwMode="auto">
          <a:xfrm rot="-551681">
            <a:off x="2911475" y="6007100"/>
            <a:ext cx="4140200" cy="523875"/>
          </a:xfrm>
          <a:prstGeom prst="rect">
            <a:avLst/>
          </a:prstGeom>
          <a:noFill/>
          <a:ln w="9525">
            <a:noFill/>
            <a:miter lim="800000"/>
            <a:headEnd/>
            <a:tailEnd/>
          </a:ln>
        </p:spPr>
        <p:txBody>
          <a:bodyPr wrap="none">
            <a:spAutoFit/>
          </a:bodyPr>
          <a:lstStyle/>
          <a:p>
            <a:r>
              <a:rPr lang="en-US" sz="2800" b="1">
                <a:solidFill>
                  <a:srgbClr val="FF0000"/>
                </a:solidFill>
                <a:latin typeface="Comic Sans MS" pitchFamily="66" charset="0"/>
              </a:rPr>
              <a:t>Good observation skills</a:t>
            </a:r>
            <a:endParaRPr lang="en-US" sz="2800">
              <a:solidFill>
                <a:srgbClr val="FF0000"/>
              </a:solidFill>
            </a:endParaRPr>
          </a:p>
        </p:txBody>
      </p:sp>
      <p:pic>
        <p:nvPicPr>
          <p:cNvPr id="594952" name="Picture 23" descr="mag boy.JPG"/>
          <p:cNvPicPr>
            <a:picLocks noChangeAspect="1"/>
          </p:cNvPicPr>
          <p:nvPr/>
        </p:nvPicPr>
        <p:blipFill>
          <a:blip r:embed="rId3" cstate="screen"/>
          <a:srcRect/>
          <a:stretch>
            <a:fillRect/>
          </a:stretch>
        </p:blipFill>
        <p:spPr bwMode="auto">
          <a:xfrm>
            <a:off x="1752600" y="2286000"/>
            <a:ext cx="2525713" cy="2362200"/>
          </a:xfrm>
          <a:prstGeom prst="rect">
            <a:avLst/>
          </a:prstGeom>
          <a:noFill/>
          <a:ln w="9525">
            <a:noFill/>
            <a:miter lim="800000"/>
            <a:headEnd/>
            <a:tailEnd/>
          </a:ln>
        </p:spPr>
      </p:pic>
      <p:pic>
        <p:nvPicPr>
          <p:cNvPr id="594953" name="Picture 2" descr="Z:\PHOTOS\4FOR PROMOTION\Best Photos High Res\HSresearch08-0042.JPG"/>
          <p:cNvPicPr>
            <a:picLocks noChangeAspect="1" noChangeArrowheads="1"/>
          </p:cNvPicPr>
          <p:nvPr/>
        </p:nvPicPr>
        <p:blipFill>
          <a:blip r:embed="rId4" cstate="screen"/>
          <a:srcRect/>
          <a:stretch>
            <a:fillRect/>
          </a:stretch>
        </p:blipFill>
        <p:spPr bwMode="auto">
          <a:xfrm>
            <a:off x="4368800" y="2305050"/>
            <a:ext cx="2678113" cy="22939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p>
            <a:pPr algn="ctr" eaLnBrk="0" hangingPunct="0">
              <a:defRPr/>
            </a:pPr>
            <a:r>
              <a:rPr lang="en-US" sz="4400" b="1" dirty="0">
                <a:solidFill>
                  <a:srgbClr val="311997"/>
                </a:solidFill>
                <a:latin typeface="Comic Sans MS" pitchFamily="66" charset="0"/>
                <a:ea typeface="+mj-ea"/>
                <a:cs typeface="+mj-cs"/>
              </a:rPr>
              <a:t>What makes a scientist a scientist??</a:t>
            </a:r>
          </a:p>
        </p:txBody>
      </p:sp>
      <p:sp>
        <p:nvSpPr>
          <p:cNvPr id="596994" name="TextBox 2"/>
          <p:cNvSpPr txBox="1">
            <a:spLocks noChangeArrowheads="1"/>
          </p:cNvSpPr>
          <p:nvPr/>
        </p:nvSpPr>
        <p:spPr bwMode="auto">
          <a:xfrm rot="-562014">
            <a:off x="247650" y="1684338"/>
            <a:ext cx="2014538"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Curiosity</a:t>
            </a:r>
          </a:p>
        </p:txBody>
      </p:sp>
      <p:sp>
        <p:nvSpPr>
          <p:cNvPr id="596995" name="TextBox 3"/>
          <p:cNvSpPr txBox="1">
            <a:spLocks noChangeArrowheads="1"/>
          </p:cNvSpPr>
          <p:nvPr/>
        </p:nvSpPr>
        <p:spPr bwMode="auto">
          <a:xfrm rot="482126">
            <a:off x="6989763" y="4618038"/>
            <a:ext cx="2116137" cy="954087"/>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Passion for learning</a:t>
            </a:r>
          </a:p>
        </p:txBody>
      </p:sp>
      <p:sp>
        <p:nvSpPr>
          <p:cNvPr id="596996" name="TextBox 7"/>
          <p:cNvSpPr txBox="1">
            <a:spLocks noChangeArrowheads="1"/>
          </p:cNvSpPr>
          <p:nvPr/>
        </p:nvSpPr>
        <p:spPr bwMode="auto">
          <a:xfrm rot="1344259">
            <a:off x="242888" y="5470525"/>
            <a:ext cx="27432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Exploration</a:t>
            </a:r>
          </a:p>
        </p:txBody>
      </p:sp>
      <p:sp>
        <p:nvSpPr>
          <p:cNvPr id="596997" name="TextBox 9"/>
          <p:cNvSpPr txBox="1">
            <a:spLocks noChangeArrowheads="1"/>
          </p:cNvSpPr>
          <p:nvPr/>
        </p:nvSpPr>
        <p:spPr bwMode="auto">
          <a:xfrm rot="327003">
            <a:off x="6091238" y="1536700"/>
            <a:ext cx="3187700" cy="522288"/>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 Problem solving</a:t>
            </a:r>
          </a:p>
        </p:txBody>
      </p:sp>
      <p:sp>
        <p:nvSpPr>
          <p:cNvPr id="596998" name="TextBox 10"/>
          <p:cNvSpPr txBox="1">
            <a:spLocks noChangeArrowheads="1"/>
          </p:cNvSpPr>
          <p:nvPr/>
        </p:nvSpPr>
        <p:spPr bwMode="auto">
          <a:xfrm rot="932922">
            <a:off x="7202488" y="2957513"/>
            <a:ext cx="1676400" cy="523875"/>
          </a:xfrm>
          <a:prstGeom prst="rect">
            <a:avLst/>
          </a:prstGeom>
          <a:noFill/>
          <a:ln w="9525">
            <a:noFill/>
            <a:miter lim="800000"/>
            <a:headEnd/>
            <a:tailEnd/>
          </a:ln>
        </p:spPr>
        <p:txBody>
          <a:bodyPr>
            <a:spAutoFit/>
          </a:bodyPr>
          <a:lstStyle/>
          <a:p>
            <a:r>
              <a:rPr lang="en-US" sz="2800" b="1">
                <a:solidFill>
                  <a:srgbClr val="FF0000"/>
                </a:solidFill>
                <a:latin typeface="Comic Sans MS" pitchFamily="66" charset="0"/>
              </a:rPr>
              <a:t>Patience</a:t>
            </a:r>
          </a:p>
        </p:txBody>
      </p:sp>
      <p:sp>
        <p:nvSpPr>
          <p:cNvPr id="596999" name="TextBox 56"/>
          <p:cNvSpPr txBox="1">
            <a:spLocks noChangeArrowheads="1"/>
          </p:cNvSpPr>
          <p:nvPr/>
        </p:nvSpPr>
        <p:spPr bwMode="auto">
          <a:xfrm rot="-551681">
            <a:off x="2911475" y="6007100"/>
            <a:ext cx="4140200" cy="523875"/>
          </a:xfrm>
          <a:prstGeom prst="rect">
            <a:avLst/>
          </a:prstGeom>
          <a:noFill/>
          <a:ln w="9525">
            <a:noFill/>
            <a:miter lim="800000"/>
            <a:headEnd/>
            <a:tailEnd/>
          </a:ln>
        </p:spPr>
        <p:txBody>
          <a:bodyPr wrap="none">
            <a:spAutoFit/>
          </a:bodyPr>
          <a:lstStyle/>
          <a:p>
            <a:r>
              <a:rPr lang="en-US" sz="2800" b="1">
                <a:solidFill>
                  <a:srgbClr val="311997"/>
                </a:solidFill>
                <a:latin typeface="Comic Sans MS" pitchFamily="66" charset="0"/>
              </a:rPr>
              <a:t>Good observation skills</a:t>
            </a:r>
            <a:endParaRPr lang="en-US" sz="2800">
              <a:solidFill>
                <a:srgbClr val="311997"/>
              </a:solidFill>
            </a:endParaRPr>
          </a:p>
        </p:txBody>
      </p:sp>
      <p:pic>
        <p:nvPicPr>
          <p:cNvPr id="597000" name="Picture 26" descr="penny girl2.JPG"/>
          <p:cNvPicPr>
            <a:picLocks noChangeAspect="1"/>
          </p:cNvPicPr>
          <p:nvPr/>
        </p:nvPicPr>
        <p:blipFill>
          <a:blip r:embed="rId3" cstate="screen"/>
          <a:srcRect/>
          <a:stretch>
            <a:fillRect/>
          </a:stretch>
        </p:blipFill>
        <p:spPr bwMode="auto">
          <a:xfrm>
            <a:off x="1905000" y="2006600"/>
            <a:ext cx="2209800" cy="2641600"/>
          </a:xfrm>
          <a:prstGeom prst="rect">
            <a:avLst/>
          </a:prstGeom>
          <a:noFill/>
          <a:ln w="9525">
            <a:noFill/>
            <a:miter lim="800000"/>
            <a:headEnd/>
            <a:tailEnd/>
          </a:ln>
        </p:spPr>
      </p:pic>
      <p:pic>
        <p:nvPicPr>
          <p:cNvPr id="597001" name="Picture 8"/>
          <p:cNvPicPr>
            <a:picLocks noChangeAspect="1" noChangeArrowheads="1"/>
          </p:cNvPicPr>
          <p:nvPr/>
        </p:nvPicPr>
        <p:blipFill>
          <a:blip r:embed="rId4" cstate="screen"/>
          <a:srcRect/>
          <a:stretch>
            <a:fillRect/>
          </a:stretch>
        </p:blipFill>
        <p:spPr bwMode="auto">
          <a:xfrm>
            <a:off x="4192588" y="1981200"/>
            <a:ext cx="2606675" cy="2667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p>
            <a:pPr algn="ctr" eaLnBrk="0" hangingPunct="0">
              <a:defRPr/>
            </a:pPr>
            <a:r>
              <a:rPr lang="en-US" sz="4400" b="1" dirty="0">
                <a:solidFill>
                  <a:srgbClr val="311997"/>
                </a:solidFill>
                <a:latin typeface="Comic Sans MS" pitchFamily="66" charset="0"/>
                <a:ea typeface="+mj-ea"/>
                <a:cs typeface="+mj-cs"/>
              </a:rPr>
              <a:t>What makes a scientist a scientist??</a:t>
            </a:r>
          </a:p>
        </p:txBody>
      </p:sp>
      <p:sp>
        <p:nvSpPr>
          <p:cNvPr id="599042" name="TextBox 2"/>
          <p:cNvSpPr txBox="1">
            <a:spLocks noChangeArrowheads="1"/>
          </p:cNvSpPr>
          <p:nvPr/>
        </p:nvSpPr>
        <p:spPr bwMode="auto">
          <a:xfrm rot="-562014">
            <a:off x="247650" y="1684338"/>
            <a:ext cx="2014538"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Curiosity</a:t>
            </a:r>
          </a:p>
        </p:txBody>
      </p:sp>
      <p:sp>
        <p:nvSpPr>
          <p:cNvPr id="599043" name="TextBox 3"/>
          <p:cNvSpPr txBox="1">
            <a:spLocks noChangeArrowheads="1"/>
          </p:cNvSpPr>
          <p:nvPr/>
        </p:nvSpPr>
        <p:spPr bwMode="auto">
          <a:xfrm rot="482126">
            <a:off x="6989763" y="4618038"/>
            <a:ext cx="2116137" cy="954087"/>
          </a:xfrm>
          <a:prstGeom prst="rect">
            <a:avLst/>
          </a:prstGeom>
          <a:noFill/>
          <a:ln w="9525">
            <a:noFill/>
            <a:miter lim="800000"/>
            <a:headEnd/>
            <a:tailEnd/>
          </a:ln>
        </p:spPr>
        <p:txBody>
          <a:bodyPr>
            <a:spAutoFit/>
          </a:bodyPr>
          <a:lstStyle/>
          <a:p>
            <a:r>
              <a:rPr lang="en-US" sz="2800" b="1">
                <a:solidFill>
                  <a:srgbClr val="FF0000"/>
                </a:solidFill>
                <a:latin typeface="Comic Sans MS" pitchFamily="66" charset="0"/>
              </a:rPr>
              <a:t>Passion for learning</a:t>
            </a:r>
          </a:p>
        </p:txBody>
      </p:sp>
      <p:sp>
        <p:nvSpPr>
          <p:cNvPr id="599044" name="TextBox 7"/>
          <p:cNvSpPr txBox="1">
            <a:spLocks noChangeArrowheads="1"/>
          </p:cNvSpPr>
          <p:nvPr/>
        </p:nvSpPr>
        <p:spPr bwMode="auto">
          <a:xfrm rot="1344259">
            <a:off x="242888" y="5470525"/>
            <a:ext cx="27432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Exploration</a:t>
            </a:r>
          </a:p>
        </p:txBody>
      </p:sp>
      <p:sp>
        <p:nvSpPr>
          <p:cNvPr id="599045" name="TextBox 9"/>
          <p:cNvSpPr txBox="1">
            <a:spLocks noChangeArrowheads="1"/>
          </p:cNvSpPr>
          <p:nvPr/>
        </p:nvSpPr>
        <p:spPr bwMode="auto">
          <a:xfrm rot="327003">
            <a:off x="6091238" y="1536700"/>
            <a:ext cx="3187700" cy="522288"/>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 Problem solving</a:t>
            </a:r>
          </a:p>
        </p:txBody>
      </p:sp>
      <p:sp>
        <p:nvSpPr>
          <p:cNvPr id="599046" name="TextBox 56"/>
          <p:cNvSpPr txBox="1">
            <a:spLocks noChangeArrowheads="1"/>
          </p:cNvSpPr>
          <p:nvPr/>
        </p:nvSpPr>
        <p:spPr bwMode="auto">
          <a:xfrm rot="-551681">
            <a:off x="2911475" y="6007100"/>
            <a:ext cx="4140200" cy="523875"/>
          </a:xfrm>
          <a:prstGeom prst="rect">
            <a:avLst/>
          </a:prstGeom>
          <a:noFill/>
          <a:ln w="9525">
            <a:noFill/>
            <a:miter lim="800000"/>
            <a:headEnd/>
            <a:tailEnd/>
          </a:ln>
        </p:spPr>
        <p:txBody>
          <a:bodyPr wrap="none">
            <a:spAutoFit/>
          </a:bodyPr>
          <a:lstStyle/>
          <a:p>
            <a:r>
              <a:rPr lang="en-US" sz="2800" b="1">
                <a:solidFill>
                  <a:srgbClr val="311997"/>
                </a:solidFill>
                <a:latin typeface="Comic Sans MS" pitchFamily="66" charset="0"/>
              </a:rPr>
              <a:t>Good observation skills</a:t>
            </a:r>
            <a:endParaRPr lang="en-US" sz="2800">
              <a:solidFill>
                <a:srgbClr val="311997"/>
              </a:solidFill>
            </a:endParaRPr>
          </a:p>
        </p:txBody>
      </p:sp>
      <p:sp>
        <p:nvSpPr>
          <p:cNvPr id="599048" name="TextBox 10"/>
          <p:cNvSpPr txBox="1">
            <a:spLocks noChangeArrowheads="1"/>
          </p:cNvSpPr>
          <p:nvPr/>
        </p:nvSpPr>
        <p:spPr bwMode="auto">
          <a:xfrm rot="932922">
            <a:off x="7202488" y="2957513"/>
            <a:ext cx="16764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Patience</a:t>
            </a:r>
          </a:p>
        </p:txBody>
      </p:sp>
      <p:pic>
        <p:nvPicPr>
          <p:cNvPr id="10" name="Picture 1" descr="Z:\OCEAN_FEST\PHOTOS - ocean fest\Cartesian Diver\cart diver - boy tongue.JPG"/>
          <p:cNvPicPr>
            <a:picLocks noChangeAspect="1" noChangeArrowheads="1"/>
          </p:cNvPicPr>
          <p:nvPr/>
        </p:nvPicPr>
        <p:blipFill>
          <a:blip r:embed="rId3" cstate="print"/>
          <a:srcRect/>
          <a:stretch>
            <a:fillRect/>
          </a:stretch>
        </p:blipFill>
        <p:spPr bwMode="auto">
          <a:xfrm>
            <a:off x="1752600" y="2190750"/>
            <a:ext cx="2590800" cy="2533650"/>
          </a:xfrm>
          <a:prstGeom prst="rect">
            <a:avLst/>
          </a:prstGeom>
          <a:noFill/>
          <a:ln w="9525">
            <a:noFill/>
            <a:miter lim="800000"/>
            <a:headEnd/>
            <a:tailEnd/>
          </a:ln>
        </p:spPr>
      </p:pic>
      <p:pic>
        <p:nvPicPr>
          <p:cNvPr id="11" name="Picture 5" descr="Lars and Lionel - Pretty Pictures"/>
          <p:cNvPicPr>
            <a:picLocks noChangeAspect="1" noChangeArrowheads="1"/>
          </p:cNvPicPr>
          <p:nvPr/>
        </p:nvPicPr>
        <p:blipFill>
          <a:blip r:embed="rId4" cstate="print"/>
          <a:srcRect/>
          <a:stretch>
            <a:fillRect/>
          </a:stretch>
        </p:blipFill>
        <p:spPr bwMode="auto">
          <a:xfrm>
            <a:off x="4419600" y="2343161"/>
            <a:ext cx="2743200" cy="205754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p>
            <a:pPr algn="ctr" eaLnBrk="0" hangingPunct="0">
              <a:defRPr/>
            </a:pPr>
            <a:r>
              <a:rPr lang="en-US" sz="4400" b="1" dirty="0">
                <a:solidFill>
                  <a:srgbClr val="311997"/>
                </a:solidFill>
                <a:latin typeface="Comic Sans MS" pitchFamily="66" charset="0"/>
                <a:ea typeface="+mj-ea"/>
                <a:cs typeface="+mj-cs"/>
              </a:rPr>
              <a:t>What makes a scientist a scientist??</a:t>
            </a:r>
          </a:p>
        </p:txBody>
      </p:sp>
      <p:sp>
        <p:nvSpPr>
          <p:cNvPr id="601090" name="TextBox 2"/>
          <p:cNvSpPr txBox="1">
            <a:spLocks noChangeArrowheads="1"/>
          </p:cNvSpPr>
          <p:nvPr/>
        </p:nvSpPr>
        <p:spPr bwMode="auto">
          <a:xfrm rot="-562014">
            <a:off x="247650" y="1684338"/>
            <a:ext cx="2014538"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Curiosity</a:t>
            </a:r>
          </a:p>
        </p:txBody>
      </p:sp>
      <p:sp>
        <p:nvSpPr>
          <p:cNvPr id="601091" name="TextBox 3"/>
          <p:cNvSpPr txBox="1">
            <a:spLocks noChangeArrowheads="1"/>
          </p:cNvSpPr>
          <p:nvPr/>
        </p:nvSpPr>
        <p:spPr bwMode="auto">
          <a:xfrm rot="482126">
            <a:off x="6989763" y="4618038"/>
            <a:ext cx="2116137" cy="954087"/>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Passion for learning</a:t>
            </a:r>
          </a:p>
        </p:txBody>
      </p:sp>
      <p:sp>
        <p:nvSpPr>
          <p:cNvPr id="601092" name="TextBox 7"/>
          <p:cNvSpPr txBox="1">
            <a:spLocks noChangeArrowheads="1"/>
          </p:cNvSpPr>
          <p:nvPr/>
        </p:nvSpPr>
        <p:spPr bwMode="auto">
          <a:xfrm rot="1344259">
            <a:off x="242888" y="5470525"/>
            <a:ext cx="27432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Exploration</a:t>
            </a:r>
          </a:p>
        </p:txBody>
      </p:sp>
      <p:sp>
        <p:nvSpPr>
          <p:cNvPr id="601093" name="TextBox 9"/>
          <p:cNvSpPr txBox="1">
            <a:spLocks noChangeArrowheads="1"/>
          </p:cNvSpPr>
          <p:nvPr/>
        </p:nvSpPr>
        <p:spPr bwMode="auto">
          <a:xfrm rot="327003">
            <a:off x="6091238" y="1536700"/>
            <a:ext cx="3187700" cy="522288"/>
          </a:xfrm>
          <a:prstGeom prst="rect">
            <a:avLst/>
          </a:prstGeom>
          <a:noFill/>
          <a:ln w="9525">
            <a:noFill/>
            <a:miter lim="800000"/>
            <a:headEnd/>
            <a:tailEnd/>
          </a:ln>
        </p:spPr>
        <p:txBody>
          <a:bodyPr>
            <a:spAutoFit/>
          </a:bodyPr>
          <a:lstStyle/>
          <a:p>
            <a:r>
              <a:rPr lang="en-US" sz="2800" b="1">
                <a:solidFill>
                  <a:srgbClr val="FF0000"/>
                </a:solidFill>
                <a:latin typeface="Comic Sans MS" pitchFamily="66" charset="0"/>
              </a:rPr>
              <a:t> Problem solving</a:t>
            </a:r>
          </a:p>
        </p:txBody>
      </p:sp>
      <p:sp>
        <p:nvSpPr>
          <p:cNvPr id="601094" name="TextBox 56"/>
          <p:cNvSpPr txBox="1">
            <a:spLocks noChangeArrowheads="1"/>
          </p:cNvSpPr>
          <p:nvPr/>
        </p:nvSpPr>
        <p:spPr bwMode="auto">
          <a:xfrm rot="-551681">
            <a:off x="2911475" y="6007100"/>
            <a:ext cx="4140200" cy="523875"/>
          </a:xfrm>
          <a:prstGeom prst="rect">
            <a:avLst/>
          </a:prstGeom>
          <a:noFill/>
          <a:ln w="9525">
            <a:noFill/>
            <a:miter lim="800000"/>
            <a:headEnd/>
            <a:tailEnd/>
          </a:ln>
        </p:spPr>
        <p:txBody>
          <a:bodyPr wrap="none">
            <a:spAutoFit/>
          </a:bodyPr>
          <a:lstStyle/>
          <a:p>
            <a:r>
              <a:rPr lang="en-US" sz="2800" b="1">
                <a:solidFill>
                  <a:srgbClr val="311997"/>
                </a:solidFill>
                <a:latin typeface="Comic Sans MS" pitchFamily="66" charset="0"/>
              </a:rPr>
              <a:t>Good observation skills</a:t>
            </a:r>
            <a:endParaRPr lang="en-US" sz="2800">
              <a:solidFill>
                <a:srgbClr val="311997"/>
              </a:solidFill>
            </a:endParaRPr>
          </a:p>
        </p:txBody>
      </p:sp>
      <p:sp>
        <p:nvSpPr>
          <p:cNvPr id="601095" name="TextBox 10"/>
          <p:cNvSpPr txBox="1">
            <a:spLocks noChangeArrowheads="1"/>
          </p:cNvSpPr>
          <p:nvPr/>
        </p:nvSpPr>
        <p:spPr bwMode="auto">
          <a:xfrm rot="932922">
            <a:off x="7202488" y="2957513"/>
            <a:ext cx="16764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Patience</a:t>
            </a:r>
          </a:p>
        </p:txBody>
      </p:sp>
      <p:pic>
        <p:nvPicPr>
          <p:cNvPr id="601096" name="Picture 39" descr="microbe family.JPG"/>
          <p:cNvPicPr>
            <a:picLocks noChangeAspect="1"/>
          </p:cNvPicPr>
          <p:nvPr/>
        </p:nvPicPr>
        <p:blipFill>
          <a:blip r:embed="rId3" cstate="screen"/>
          <a:srcRect/>
          <a:stretch>
            <a:fillRect/>
          </a:stretch>
        </p:blipFill>
        <p:spPr bwMode="auto">
          <a:xfrm>
            <a:off x="1905000" y="2667000"/>
            <a:ext cx="2514600" cy="1903413"/>
          </a:xfrm>
          <a:prstGeom prst="rect">
            <a:avLst/>
          </a:prstGeom>
          <a:noFill/>
          <a:ln w="9525">
            <a:noFill/>
            <a:miter lim="800000"/>
            <a:headEnd/>
            <a:tailEnd/>
          </a:ln>
        </p:spPr>
      </p:pic>
      <p:pic>
        <p:nvPicPr>
          <p:cNvPr id="601097" name="Picture 12" descr="kaimiike-0012.JPG"/>
          <p:cNvPicPr>
            <a:picLocks noChangeAspect="1"/>
          </p:cNvPicPr>
          <p:nvPr/>
        </p:nvPicPr>
        <p:blipFill>
          <a:blip r:embed="rId4" cstate="screen"/>
          <a:srcRect/>
          <a:stretch>
            <a:fillRect/>
          </a:stretch>
        </p:blipFill>
        <p:spPr bwMode="auto">
          <a:xfrm>
            <a:off x="4495800" y="2667000"/>
            <a:ext cx="2540000" cy="1905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p>
            <a:pPr algn="ctr" eaLnBrk="0" hangingPunct="0">
              <a:defRPr/>
            </a:pPr>
            <a:r>
              <a:rPr lang="en-US" sz="4400" b="1" dirty="0">
                <a:solidFill>
                  <a:srgbClr val="311997"/>
                </a:solidFill>
                <a:latin typeface="Comic Sans MS" pitchFamily="66" charset="0"/>
                <a:ea typeface="+mj-ea"/>
                <a:cs typeface="+mj-cs"/>
              </a:rPr>
              <a:t>What makes a scientist a scientist??</a:t>
            </a:r>
          </a:p>
        </p:txBody>
      </p:sp>
      <p:sp>
        <p:nvSpPr>
          <p:cNvPr id="603138" name="TextBox 2"/>
          <p:cNvSpPr txBox="1">
            <a:spLocks noChangeArrowheads="1"/>
          </p:cNvSpPr>
          <p:nvPr/>
        </p:nvSpPr>
        <p:spPr bwMode="auto">
          <a:xfrm rot="-562014">
            <a:off x="247650" y="1684338"/>
            <a:ext cx="2014538"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Curiosity</a:t>
            </a:r>
          </a:p>
        </p:txBody>
      </p:sp>
      <p:sp>
        <p:nvSpPr>
          <p:cNvPr id="603139" name="TextBox 3"/>
          <p:cNvSpPr txBox="1">
            <a:spLocks noChangeArrowheads="1"/>
          </p:cNvSpPr>
          <p:nvPr/>
        </p:nvSpPr>
        <p:spPr bwMode="auto">
          <a:xfrm rot="482126">
            <a:off x="6989763" y="4618038"/>
            <a:ext cx="2116137" cy="954087"/>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Passion for learning</a:t>
            </a:r>
          </a:p>
        </p:txBody>
      </p:sp>
      <p:sp>
        <p:nvSpPr>
          <p:cNvPr id="603140" name="TextBox 7"/>
          <p:cNvSpPr txBox="1">
            <a:spLocks noChangeArrowheads="1"/>
          </p:cNvSpPr>
          <p:nvPr/>
        </p:nvSpPr>
        <p:spPr bwMode="auto">
          <a:xfrm rot="1344259">
            <a:off x="242888" y="5470525"/>
            <a:ext cx="2743200" cy="523875"/>
          </a:xfrm>
          <a:prstGeom prst="rect">
            <a:avLst/>
          </a:prstGeom>
          <a:noFill/>
          <a:ln w="9525">
            <a:noFill/>
            <a:miter lim="800000"/>
            <a:headEnd/>
            <a:tailEnd/>
          </a:ln>
        </p:spPr>
        <p:txBody>
          <a:bodyPr>
            <a:spAutoFit/>
          </a:bodyPr>
          <a:lstStyle/>
          <a:p>
            <a:r>
              <a:rPr lang="en-US" sz="2800" b="1">
                <a:solidFill>
                  <a:srgbClr val="FF0000"/>
                </a:solidFill>
                <a:latin typeface="Comic Sans MS" pitchFamily="66" charset="0"/>
              </a:rPr>
              <a:t>Exploration</a:t>
            </a:r>
          </a:p>
        </p:txBody>
      </p:sp>
      <p:sp>
        <p:nvSpPr>
          <p:cNvPr id="603141" name="TextBox 9"/>
          <p:cNvSpPr txBox="1">
            <a:spLocks noChangeArrowheads="1"/>
          </p:cNvSpPr>
          <p:nvPr/>
        </p:nvSpPr>
        <p:spPr bwMode="auto">
          <a:xfrm rot="327003">
            <a:off x="6091238" y="1536700"/>
            <a:ext cx="3187700" cy="522288"/>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 Problem solving</a:t>
            </a:r>
          </a:p>
        </p:txBody>
      </p:sp>
      <p:sp>
        <p:nvSpPr>
          <p:cNvPr id="603142" name="TextBox 56"/>
          <p:cNvSpPr txBox="1">
            <a:spLocks noChangeArrowheads="1"/>
          </p:cNvSpPr>
          <p:nvPr/>
        </p:nvSpPr>
        <p:spPr bwMode="auto">
          <a:xfrm rot="-551681">
            <a:off x="2911475" y="6007100"/>
            <a:ext cx="4140200" cy="523875"/>
          </a:xfrm>
          <a:prstGeom prst="rect">
            <a:avLst/>
          </a:prstGeom>
          <a:noFill/>
          <a:ln w="9525">
            <a:noFill/>
            <a:miter lim="800000"/>
            <a:headEnd/>
            <a:tailEnd/>
          </a:ln>
        </p:spPr>
        <p:txBody>
          <a:bodyPr wrap="none">
            <a:spAutoFit/>
          </a:bodyPr>
          <a:lstStyle/>
          <a:p>
            <a:r>
              <a:rPr lang="en-US" sz="2800" b="1" dirty="0">
                <a:solidFill>
                  <a:srgbClr val="311997"/>
                </a:solidFill>
                <a:latin typeface="Comic Sans MS" pitchFamily="66" charset="0"/>
              </a:rPr>
              <a:t>Good observation skills</a:t>
            </a:r>
            <a:endParaRPr lang="en-US" sz="2800" dirty="0">
              <a:solidFill>
                <a:srgbClr val="311997"/>
              </a:solidFill>
            </a:endParaRPr>
          </a:p>
        </p:txBody>
      </p:sp>
      <p:sp>
        <p:nvSpPr>
          <p:cNvPr id="603143" name="TextBox 10"/>
          <p:cNvSpPr txBox="1">
            <a:spLocks noChangeArrowheads="1"/>
          </p:cNvSpPr>
          <p:nvPr/>
        </p:nvSpPr>
        <p:spPr bwMode="auto">
          <a:xfrm rot="932922">
            <a:off x="7202488" y="2957513"/>
            <a:ext cx="1676400" cy="523875"/>
          </a:xfrm>
          <a:prstGeom prst="rect">
            <a:avLst/>
          </a:prstGeom>
          <a:noFill/>
          <a:ln w="9525">
            <a:noFill/>
            <a:miter lim="800000"/>
            <a:headEnd/>
            <a:tailEnd/>
          </a:ln>
        </p:spPr>
        <p:txBody>
          <a:bodyPr>
            <a:spAutoFit/>
          </a:bodyPr>
          <a:lstStyle/>
          <a:p>
            <a:r>
              <a:rPr lang="en-US" sz="2800" b="1">
                <a:solidFill>
                  <a:srgbClr val="311997"/>
                </a:solidFill>
                <a:latin typeface="Comic Sans MS" pitchFamily="66" charset="0"/>
              </a:rPr>
              <a:t>Patience</a:t>
            </a:r>
          </a:p>
        </p:txBody>
      </p:sp>
      <p:grpSp>
        <p:nvGrpSpPr>
          <p:cNvPr id="10" name="Group 17"/>
          <p:cNvGrpSpPr>
            <a:grpSpLocks/>
          </p:cNvGrpSpPr>
          <p:nvPr/>
        </p:nvGrpSpPr>
        <p:grpSpPr bwMode="auto">
          <a:xfrm>
            <a:off x="1905000" y="2057400"/>
            <a:ext cx="4724400" cy="2971800"/>
            <a:chOff x="1905000" y="2057400"/>
            <a:chExt cx="4724400" cy="2971800"/>
          </a:xfrm>
        </p:grpSpPr>
        <p:pic>
          <p:nvPicPr>
            <p:cNvPr id="11" name="Picture 18"/>
            <p:cNvPicPr>
              <a:picLocks noChangeAspect="1" noChangeArrowheads="1"/>
            </p:cNvPicPr>
            <p:nvPr/>
          </p:nvPicPr>
          <p:blipFill>
            <a:blip r:embed="rId3" cstate="print"/>
            <a:srcRect/>
            <a:stretch>
              <a:fillRect/>
            </a:stretch>
          </p:blipFill>
          <p:spPr bwMode="auto">
            <a:xfrm>
              <a:off x="4419600" y="2069757"/>
              <a:ext cx="2209800" cy="2946400"/>
            </a:xfrm>
            <a:prstGeom prst="rect">
              <a:avLst/>
            </a:prstGeom>
            <a:noFill/>
            <a:ln w="9525">
              <a:noFill/>
              <a:miter lim="800000"/>
              <a:headEnd/>
              <a:tailEnd/>
            </a:ln>
          </p:spPr>
        </p:pic>
        <p:pic>
          <p:nvPicPr>
            <p:cNvPr id="13" name="Picture 19" descr="MaggieGEMS-0001.JPG"/>
            <p:cNvPicPr>
              <a:picLocks noChangeAspect="1"/>
            </p:cNvPicPr>
            <p:nvPr/>
          </p:nvPicPr>
          <p:blipFill>
            <a:blip r:embed="rId4" cstate="print"/>
            <a:srcRect l="47697" t="3932" b="10074"/>
            <a:stretch>
              <a:fillRect/>
            </a:stretch>
          </p:blipFill>
          <p:spPr bwMode="auto">
            <a:xfrm>
              <a:off x="1905000" y="2057400"/>
              <a:ext cx="2410025" cy="2971800"/>
            </a:xfrm>
            <a:prstGeom prst="rect">
              <a:avLst/>
            </a:prstGeom>
            <a:noFill/>
            <a:ln w="9525">
              <a:noFill/>
              <a:miter lim="800000"/>
              <a:headEnd/>
              <a:tailEnd/>
            </a:ln>
          </p:spPr>
        </p:pic>
      </p:gr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0" y="76200"/>
            <a:ext cx="9144000" cy="685800"/>
          </a:xfrm>
          <a:prstGeom prst="rect">
            <a:avLst/>
          </a:prstGeom>
        </p:spPr>
        <p:txBody>
          <a:bodyPr>
            <a:normAutofit fontScale="90000" lnSpcReduction="10000"/>
          </a:bodyPr>
          <a:lstStyle/>
          <a:p>
            <a:pPr algn="ctr" fontAlgn="auto">
              <a:spcAft>
                <a:spcPts val="0"/>
              </a:spcAft>
              <a:defRPr/>
            </a:pPr>
            <a:r>
              <a:rPr lang="en-US" sz="4400" b="1" dirty="0">
                <a:solidFill>
                  <a:srgbClr val="311997"/>
                </a:solidFill>
                <a:latin typeface="Comic Sans MS" pitchFamily="66" charset="0"/>
                <a:ea typeface="+mj-ea"/>
                <a:cs typeface="+mj-cs"/>
              </a:rPr>
              <a:t>Ocean FEST Take Home Science</a:t>
            </a:r>
          </a:p>
        </p:txBody>
      </p:sp>
      <p:sp>
        <p:nvSpPr>
          <p:cNvPr id="626690" name="Rectangle 7"/>
          <p:cNvSpPr txBox="1">
            <a:spLocks noChangeArrowheads="1"/>
          </p:cNvSpPr>
          <p:nvPr/>
        </p:nvSpPr>
        <p:spPr bwMode="auto">
          <a:xfrm>
            <a:off x="2667000" y="990600"/>
            <a:ext cx="5410200" cy="2514600"/>
          </a:xfrm>
          <a:prstGeom prst="rect">
            <a:avLst/>
          </a:prstGeom>
          <a:noFill/>
          <a:ln w="9525">
            <a:noFill/>
            <a:miter lim="800000"/>
            <a:headEnd/>
            <a:tailEnd/>
          </a:ln>
        </p:spPr>
        <p:txBody>
          <a:bodyPr/>
          <a:lstStyle/>
          <a:p>
            <a:pPr marL="342900" indent="-342900">
              <a:lnSpc>
                <a:spcPct val="90000"/>
              </a:lnSpc>
              <a:spcBef>
                <a:spcPct val="20000"/>
              </a:spcBef>
              <a:buFont typeface="Arial" charset="0"/>
              <a:buChar char="•"/>
            </a:pPr>
            <a:r>
              <a:rPr lang="en-US" sz="2400" dirty="0">
                <a:latin typeface="Comic Sans MS" pitchFamily="66" charset="0"/>
              </a:rPr>
              <a:t>Folder from UH </a:t>
            </a:r>
            <a:r>
              <a:rPr lang="en-US" sz="2400" dirty="0" err="1">
                <a:latin typeface="Comic Sans MS" pitchFamily="66" charset="0"/>
              </a:rPr>
              <a:t>Manoa</a:t>
            </a:r>
            <a:r>
              <a:rPr lang="en-US" sz="2400" dirty="0">
                <a:latin typeface="Comic Sans MS" pitchFamily="66" charset="0"/>
              </a:rPr>
              <a:t> (SOEST)</a:t>
            </a:r>
          </a:p>
          <a:p>
            <a:pPr marL="742950" lvl="1" indent="-285750">
              <a:lnSpc>
                <a:spcPct val="90000"/>
              </a:lnSpc>
              <a:spcBef>
                <a:spcPct val="20000"/>
              </a:spcBef>
              <a:buFont typeface="Arial" charset="0"/>
              <a:buChar char="–"/>
            </a:pPr>
            <a:r>
              <a:rPr lang="en-US" sz="2000" dirty="0">
                <a:latin typeface="Comic Sans MS" pitchFamily="66" charset="0"/>
              </a:rPr>
              <a:t>Marine Book Mark</a:t>
            </a:r>
          </a:p>
          <a:p>
            <a:pPr marL="742950" lvl="1" indent="-285750">
              <a:lnSpc>
                <a:spcPct val="90000"/>
              </a:lnSpc>
              <a:spcBef>
                <a:spcPct val="20000"/>
              </a:spcBef>
              <a:buFont typeface="Arial" charset="0"/>
              <a:buChar char="–"/>
            </a:pPr>
            <a:r>
              <a:rPr lang="en-US" sz="2000" dirty="0">
                <a:latin typeface="Comic Sans MS" pitchFamily="66" charset="0"/>
              </a:rPr>
              <a:t>Postcards</a:t>
            </a:r>
          </a:p>
          <a:p>
            <a:pPr marL="742950" lvl="1" indent="-285750">
              <a:lnSpc>
                <a:spcPct val="90000"/>
              </a:lnSpc>
              <a:spcBef>
                <a:spcPct val="20000"/>
              </a:spcBef>
              <a:buFont typeface="Arial" charset="0"/>
              <a:buChar char="–"/>
            </a:pPr>
            <a:r>
              <a:rPr lang="en-US" sz="2000" dirty="0">
                <a:latin typeface="Comic Sans MS" pitchFamily="66" charset="0"/>
              </a:rPr>
              <a:t>C-MORE </a:t>
            </a:r>
            <a:r>
              <a:rPr lang="en-US" sz="2000" dirty="0" smtClean="0">
                <a:latin typeface="Comic Sans MS" pitchFamily="66" charset="0"/>
              </a:rPr>
              <a:t>Poster/Brochure</a:t>
            </a:r>
          </a:p>
          <a:p>
            <a:pPr marL="742950" lvl="1" indent="-285750">
              <a:lnSpc>
                <a:spcPct val="90000"/>
              </a:lnSpc>
              <a:spcBef>
                <a:spcPct val="20000"/>
              </a:spcBef>
              <a:buFont typeface="Arial" charset="0"/>
              <a:buChar char="–"/>
            </a:pPr>
            <a:r>
              <a:rPr lang="en-US" sz="2000" dirty="0" smtClean="0">
                <a:latin typeface="Comic Sans MS" pitchFamily="66" charset="0"/>
              </a:rPr>
              <a:t>Knot-tying hand-out</a:t>
            </a:r>
            <a:endParaRPr lang="en-US" sz="2000" dirty="0">
              <a:latin typeface="Comic Sans MS" pitchFamily="66" charset="0"/>
            </a:endParaRPr>
          </a:p>
          <a:p>
            <a:pPr marL="742950" lvl="1" indent="-285750">
              <a:lnSpc>
                <a:spcPct val="90000"/>
              </a:lnSpc>
              <a:spcBef>
                <a:spcPct val="20000"/>
              </a:spcBef>
              <a:buFont typeface="Arial" charset="0"/>
              <a:buChar char="–"/>
            </a:pPr>
            <a:r>
              <a:rPr lang="en-US" sz="2000" dirty="0">
                <a:latin typeface="Comic Sans MS" pitchFamily="66" charset="0"/>
              </a:rPr>
              <a:t>Ocean FEST sticker</a:t>
            </a:r>
          </a:p>
          <a:p>
            <a:pPr marL="742950" lvl="1" indent="-285750">
              <a:lnSpc>
                <a:spcPct val="90000"/>
              </a:lnSpc>
              <a:spcBef>
                <a:spcPct val="20000"/>
              </a:spcBef>
              <a:buFont typeface="Arial" charset="0"/>
              <a:buChar char="–"/>
            </a:pPr>
            <a:r>
              <a:rPr lang="en-US" sz="2000" dirty="0">
                <a:latin typeface="Comic Sans MS" pitchFamily="66" charset="0"/>
              </a:rPr>
              <a:t>Ocean FEST Matching </a:t>
            </a:r>
            <a:r>
              <a:rPr lang="en-US" sz="2000" dirty="0" smtClean="0">
                <a:latin typeface="Comic Sans MS" pitchFamily="66" charset="0"/>
              </a:rPr>
              <a:t>Game</a:t>
            </a:r>
          </a:p>
        </p:txBody>
      </p:sp>
      <p:pic>
        <p:nvPicPr>
          <p:cNvPr id="6" name="Picture 8" descr="Disposable plastic spoon"/>
          <p:cNvPicPr>
            <a:picLocks noChangeAspect="1" noChangeArrowheads="1"/>
          </p:cNvPicPr>
          <p:nvPr/>
        </p:nvPicPr>
        <p:blipFill>
          <a:blip r:embed="rId3" cstate="screen"/>
          <a:srcRect/>
          <a:stretch>
            <a:fillRect/>
          </a:stretch>
        </p:blipFill>
        <p:spPr bwMode="auto">
          <a:xfrm>
            <a:off x="6934200" y="3429000"/>
            <a:ext cx="1555750" cy="1555750"/>
          </a:xfrm>
          <a:prstGeom prst="rect">
            <a:avLst/>
          </a:prstGeom>
          <a:noFill/>
          <a:ln w="9525">
            <a:noFill/>
            <a:miter lim="800000"/>
            <a:headEnd/>
            <a:tailEnd/>
          </a:ln>
        </p:spPr>
      </p:pic>
      <p:sp>
        <p:nvSpPr>
          <p:cNvPr id="7" name="Rectangle 7"/>
          <p:cNvSpPr txBox="1">
            <a:spLocks noChangeArrowheads="1"/>
          </p:cNvSpPr>
          <p:nvPr/>
        </p:nvSpPr>
        <p:spPr bwMode="auto">
          <a:xfrm>
            <a:off x="914400" y="3657600"/>
            <a:ext cx="6248400" cy="4953000"/>
          </a:xfrm>
          <a:prstGeom prst="rect">
            <a:avLst/>
          </a:prstGeom>
          <a:noFill/>
          <a:ln w="9525">
            <a:noFill/>
            <a:miter lim="800000"/>
            <a:headEnd/>
            <a:tailEnd/>
          </a:ln>
        </p:spPr>
        <p:txBody>
          <a:bodyPr/>
          <a:lstStyle/>
          <a:p>
            <a:pPr marL="342900" indent="-342900">
              <a:lnSpc>
                <a:spcPct val="90000"/>
              </a:lnSpc>
              <a:spcBef>
                <a:spcPct val="20000"/>
              </a:spcBef>
              <a:buFont typeface="Arial" charset="0"/>
              <a:buChar char="•"/>
            </a:pPr>
            <a:r>
              <a:rPr lang="en-US" sz="2400" dirty="0" smtClean="0">
                <a:latin typeface="Comic Sans MS" pitchFamily="66" charset="0"/>
              </a:rPr>
              <a:t>Cartesian </a:t>
            </a:r>
            <a:r>
              <a:rPr lang="en-US" sz="2400" dirty="0">
                <a:latin typeface="Comic Sans MS" pitchFamily="66" charset="0"/>
              </a:rPr>
              <a:t>Diver In A Bottle</a:t>
            </a:r>
          </a:p>
          <a:p>
            <a:pPr marL="342900" indent="-342900">
              <a:lnSpc>
                <a:spcPct val="90000"/>
              </a:lnSpc>
              <a:spcBef>
                <a:spcPct val="20000"/>
              </a:spcBef>
              <a:buFont typeface="Arial" charset="0"/>
              <a:buChar char="•"/>
            </a:pPr>
            <a:r>
              <a:rPr lang="en-US" sz="2400" dirty="0" smtClean="0">
                <a:latin typeface="Comic Sans MS" pitchFamily="66" charset="0"/>
              </a:rPr>
              <a:t>Oil </a:t>
            </a:r>
            <a:r>
              <a:rPr lang="en-US" sz="2400" dirty="0">
                <a:latin typeface="Comic Sans MS" pitchFamily="66" charset="0"/>
              </a:rPr>
              <a:t>&amp; Water Tube </a:t>
            </a:r>
          </a:p>
          <a:p>
            <a:pPr marL="342900" indent="-342900">
              <a:lnSpc>
                <a:spcPct val="90000"/>
              </a:lnSpc>
              <a:spcBef>
                <a:spcPct val="20000"/>
              </a:spcBef>
              <a:buFont typeface="Arial" charset="0"/>
              <a:buChar char="•"/>
            </a:pPr>
            <a:r>
              <a:rPr lang="en-US" sz="2400" dirty="0" smtClean="0">
                <a:latin typeface="Comic Sans MS" pitchFamily="66" charset="0"/>
              </a:rPr>
              <a:t>Rope</a:t>
            </a:r>
          </a:p>
          <a:p>
            <a:pPr marL="342900" indent="-342900">
              <a:lnSpc>
                <a:spcPct val="90000"/>
              </a:lnSpc>
              <a:spcBef>
                <a:spcPct val="20000"/>
              </a:spcBef>
              <a:buFont typeface="Arial" charset="0"/>
              <a:buChar char="•"/>
            </a:pPr>
            <a:r>
              <a:rPr lang="en-US" sz="2400" dirty="0" smtClean="0">
                <a:latin typeface="Comic Sans MS" pitchFamily="66" charset="0"/>
              </a:rPr>
              <a:t>Microbe “arts and crafts” supplies</a:t>
            </a:r>
          </a:p>
          <a:p>
            <a:pPr marL="342900" indent="-342900">
              <a:lnSpc>
                <a:spcPct val="90000"/>
              </a:lnSpc>
              <a:spcBef>
                <a:spcPct val="20000"/>
              </a:spcBef>
              <a:buFont typeface="Arial" charset="0"/>
              <a:buChar char="•"/>
            </a:pPr>
            <a:r>
              <a:rPr lang="en-US" sz="2400" dirty="0" smtClean="0">
                <a:latin typeface="Comic Sans MS" pitchFamily="66" charset="0"/>
              </a:rPr>
              <a:t>Ocean </a:t>
            </a:r>
            <a:r>
              <a:rPr lang="en-US" sz="2400" dirty="0">
                <a:latin typeface="Comic Sans MS" pitchFamily="66" charset="0"/>
              </a:rPr>
              <a:t>FEST Pencil</a:t>
            </a:r>
          </a:p>
          <a:p>
            <a:pPr marL="342900" indent="-342900">
              <a:lnSpc>
                <a:spcPct val="90000"/>
              </a:lnSpc>
              <a:spcBef>
                <a:spcPct val="20000"/>
              </a:spcBef>
              <a:buFont typeface="Arial" charset="0"/>
              <a:buChar char="•"/>
            </a:pPr>
            <a:r>
              <a:rPr lang="en-US" sz="2400" dirty="0">
                <a:latin typeface="Comic Sans MS" pitchFamily="66" charset="0"/>
              </a:rPr>
              <a:t>Magnifying Glass</a:t>
            </a:r>
          </a:p>
          <a:p>
            <a:pPr marL="342900" indent="-342900">
              <a:lnSpc>
                <a:spcPct val="90000"/>
              </a:lnSpc>
              <a:spcBef>
                <a:spcPct val="20000"/>
              </a:spcBef>
              <a:buFont typeface="Arial" charset="0"/>
              <a:buChar char="•"/>
            </a:pPr>
            <a:r>
              <a:rPr lang="en-US" sz="2400" dirty="0">
                <a:latin typeface="Comic Sans MS" pitchFamily="66" charset="0"/>
              </a:rPr>
              <a:t>Biodegradable Utensil</a:t>
            </a:r>
          </a:p>
          <a:p>
            <a:pPr marL="342900" indent="-342900">
              <a:lnSpc>
                <a:spcPct val="90000"/>
              </a:lnSpc>
              <a:spcBef>
                <a:spcPct val="20000"/>
              </a:spcBef>
              <a:buFont typeface="Arial" charset="0"/>
              <a:buChar char="•"/>
            </a:pPr>
            <a:r>
              <a:rPr lang="en-US" sz="2400" dirty="0">
                <a:latin typeface="Comic Sans MS" pitchFamily="66" charset="0"/>
              </a:rPr>
              <a:t>Key Chain with “magic” beads</a:t>
            </a:r>
          </a:p>
        </p:txBody>
      </p:sp>
      <p:pic>
        <p:nvPicPr>
          <p:cNvPr id="9" name="Picture 8" descr="soest folder.jpg"/>
          <p:cNvPicPr>
            <a:picLocks noChangeAspect="1"/>
          </p:cNvPicPr>
          <p:nvPr/>
        </p:nvPicPr>
        <p:blipFill>
          <a:blip r:embed="rId4" cstate="screen"/>
          <a:stretch>
            <a:fillRect/>
          </a:stretch>
        </p:blipFill>
        <p:spPr>
          <a:xfrm>
            <a:off x="152400" y="762000"/>
            <a:ext cx="1981200" cy="2788355"/>
          </a:xfrm>
          <a:prstGeom prst="rect">
            <a:avLst/>
          </a:prstGeom>
        </p:spPr>
      </p:pic>
      <p:pic>
        <p:nvPicPr>
          <p:cNvPr id="12" name="Picture 11" descr="key ring.jpg"/>
          <p:cNvPicPr>
            <a:picLocks noChangeAspect="1"/>
          </p:cNvPicPr>
          <p:nvPr/>
        </p:nvPicPr>
        <p:blipFill>
          <a:blip r:embed="rId5" cstate="screen"/>
          <a:stretch>
            <a:fillRect/>
          </a:stretch>
        </p:blipFill>
        <p:spPr>
          <a:xfrm>
            <a:off x="6934200" y="5181600"/>
            <a:ext cx="1565563" cy="1524000"/>
          </a:xfrm>
          <a:prstGeom prst="rect">
            <a:avLst/>
          </a:prstGeom>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8737" name="Picture 2" descr="le perouse needle nose fish - carlie wiener"/>
          <p:cNvPicPr>
            <a:picLocks noChangeAspect="1" noChangeArrowheads="1"/>
          </p:cNvPicPr>
          <p:nvPr/>
        </p:nvPicPr>
        <p:blipFill>
          <a:blip r:embed="rId3" cstate="screen">
            <a:lum bright="70000" contrast="-70000"/>
          </a:blip>
          <a:srcRect/>
          <a:stretch>
            <a:fillRect/>
          </a:stretch>
        </p:blipFill>
        <p:spPr bwMode="auto">
          <a:xfrm>
            <a:off x="-152400" y="-1588"/>
            <a:ext cx="9144000" cy="6859588"/>
          </a:xfrm>
          <a:prstGeom prst="rect">
            <a:avLst/>
          </a:prstGeom>
          <a:noFill/>
          <a:ln w="9525">
            <a:noFill/>
            <a:miter lim="800000"/>
            <a:headEnd/>
            <a:tailEnd/>
          </a:ln>
        </p:spPr>
      </p:pic>
      <p:sp>
        <p:nvSpPr>
          <p:cNvPr id="628738" name="Rectangle 3"/>
          <p:cNvSpPr>
            <a:spLocks noGrp="1" noChangeArrowheads="1"/>
          </p:cNvSpPr>
          <p:nvPr>
            <p:ph type="title" idx="4294967295"/>
          </p:nvPr>
        </p:nvSpPr>
        <p:spPr>
          <a:xfrm>
            <a:off x="152400" y="1524000"/>
            <a:ext cx="8763000" cy="3048000"/>
          </a:xfrm>
        </p:spPr>
        <p:txBody>
          <a:bodyPr/>
          <a:lstStyle/>
          <a:p>
            <a:pPr eaLnBrk="1" hangingPunct="1">
              <a:spcBef>
                <a:spcPts val="0"/>
              </a:spcBef>
            </a:pPr>
            <a:r>
              <a:rPr lang="en-US" sz="4800" b="1" dirty="0" smtClean="0">
                <a:solidFill>
                  <a:srgbClr val="311997"/>
                </a:solidFill>
                <a:latin typeface="Comic Sans MS" pitchFamily="66" charset="0"/>
              </a:rPr>
              <a:t/>
            </a:r>
            <a:br>
              <a:rPr lang="en-US" sz="4800" b="1" dirty="0" smtClean="0">
                <a:solidFill>
                  <a:srgbClr val="311997"/>
                </a:solidFill>
                <a:latin typeface="Comic Sans MS" pitchFamily="66" charset="0"/>
              </a:rPr>
            </a:br>
            <a:r>
              <a:rPr lang="en-US" sz="4800" b="1" dirty="0" smtClean="0">
                <a:solidFill>
                  <a:srgbClr val="311997"/>
                </a:solidFill>
                <a:latin typeface="Comic Sans MS" pitchFamily="66" charset="0"/>
              </a:rPr>
              <a:t>MAHALO TO:</a:t>
            </a:r>
            <a:br>
              <a:rPr lang="en-US" sz="4800" b="1" dirty="0" smtClean="0">
                <a:solidFill>
                  <a:srgbClr val="311997"/>
                </a:solidFill>
                <a:latin typeface="Comic Sans MS" pitchFamily="66" charset="0"/>
              </a:rPr>
            </a:br>
            <a:r>
              <a:rPr lang="en-US" sz="1800" dirty="0" smtClean="0">
                <a:solidFill>
                  <a:srgbClr val="311997"/>
                </a:solidFill>
                <a:latin typeface="Comic Sans MS" pitchFamily="66" charset="0"/>
              </a:rPr>
              <a:t> </a:t>
            </a:r>
            <a:r>
              <a:rPr lang="en-US" sz="4000" b="1" dirty="0" smtClean="0">
                <a:solidFill>
                  <a:srgbClr val="311997"/>
                </a:solidFill>
                <a:latin typeface="Comic Sans MS" pitchFamily="66" charset="0"/>
              </a:rPr>
              <a:t/>
            </a:r>
            <a:br>
              <a:rPr lang="en-US" sz="4000" b="1" dirty="0" smtClean="0">
                <a:solidFill>
                  <a:srgbClr val="311997"/>
                </a:solidFill>
                <a:latin typeface="Comic Sans MS" pitchFamily="66" charset="0"/>
              </a:rPr>
            </a:br>
            <a:r>
              <a:rPr lang="en-US" sz="4000" dirty="0" smtClean="0">
                <a:solidFill>
                  <a:srgbClr val="311997"/>
                </a:solidFill>
                <a:latin typeface="Comic Sans MS" pitchFamily="66" charset="0"/>
              </a:rPr>
              <a:t>Our Sponsors</a:t>
            </a:r>
            <a:br>
              <a:rPr lang="en-US" sz="4000" dirty="0" smtClean="0">
                <a:solidFill>
                  <a:srgbClr val="311997"/>
                </a:solidFill>
                <a:latin typeface="Comic Sans MS" pitchFamily="66" charset="0"/>
              </a:rPr>
            </a:br>
            <a:r>
              <a:rPr lang="en-US" sz="4000" b="1" dirty="0" smtClean="0">
                <a:solidFill>
                  <a:srgbClr val="311997"/>
                </a:solidFill>
                <a:latin typeface="Comic Sans MS" pitchFamily="66" charset="0"/>
              </a:rPr>
              <a:t/>
            </a:r>
            <a:br>
              <a:rPr lang="en-US" sz="4000" b="1" dirty="0" smtClean="0">
                <a:solidFill>
                  <a:srgbClr val="311997"/>
                </a:solidFill>
                <a:latin typeface="Comic Sans MS" pitchFamily="66" charset="0"/>
              </a:rPr>
            </a:br>
            <a:r>
              <a:rPr lang="en-US" sz="4000" b="1" dirty="0" smtClean="0">
                <a:solidFill>
                  <a:srgbClr val="311997"/>
                </a:solidFill>
                <a:latin typeface="Comic Sans MS" pitchFamily="66" charset="0"/>
              </a:rPr>
              <a:t/>
            </a:r>
            <a:br>
              <a:rPr lang="en-US" sz="4000" b="1" dirty="0" smtClean="0">
                <a:solidFill>
                  <a:srgbClr val="311997"/>
                </a:solidFill>
                <a:latin typeface="Comic Sans MS" pitchFamily="66" charset="0"/>
              </a:rPr>
            </a:br>
            <a:r>
              <a:rPr lang="en-US" sz="4000" b="1" dirty="0" smtClean="0">
                <a:solidFill>
                  <a:srgbClr val="311997"/>
                </a:solidFill>
                <a:latin typeface="Comic Sans MS" pitchFamily="66" charset="0"/>
              </a:rPr>
              <a:t/>
            </a:r>
            <a:br>
              <a:rPr lang="en-US" sz="4000" b="1" dirty="0" smtClean="0">
                <a:solidFill>
                  <a:srgbClr val="311997"/>
                </a:solidFill>
                <a:latin typeface="Comic Sans MS" pitchFamily="66" charset="0"/>
              </a:rPr>
            </a:br>
            <a:r>
              <a:rPr lang="en-US" sz="4000" dirty="0" smtClean="0">
                <a:solidFill>
                  <a:srgbClr val="311997"/>
                </a:solidFill>
                <a:latin typeface="Comic Sans MS" pitchFamily="66" charset="0"/>
              </a:rPr>
              <a:t>Art and Rene Kimura</a:t>
            </a:r>
            <a:br>
              <a:rPr lang="en-US" sz="4000" dirty="0" smtClean="0">
                <a:solidFill>
                  <a:srgbClr val="311997"/>
                </a:solidFill>
                <a:latin typeface="Comic Sans MS" pitchFamily="66" charset="0"/>
              </a:rPr>
            </a:br>
            <a:r>
              <a:rPr lang="en-US" sz="4000" dirty="0" smtClean="0">
                <a:solidFill>
                  <a:srgbClr val="311997"/>
                </a:solidFill>
                <a:latin typeface="Comic Sans MS" pitchFamily="66" charset="0"/>
              </a:rPr>
              <a:t>Your School Coordinator</a:t>
            </a:r>
            <a:r>
              <a:rPr lang="en-US" sz="4000" b="1" dirty="0" smtClean="0">
                <a:solidFill>
                  <a:srgbClr val="311997"/>
                </a:solidFill>
                <a:latin typeface="Comic Sans MS" pitchFamily="66" charset="0"/>
              </a:rPr>
              <a:t> </a:t>
            </a:r>
            <a:r>
              <a:rPr lang="en-US" sz="4000" dirty="0" smtClean="0">
                <a:solidFill>
                  <a:srgbClr val="311997"/>
                </a:solidFill>
                <a:latin typeface="Comic Sans MS" pitchFamily="66" charset="0"/>
              </a:rPr>
              <a:t/>
            </a:r>
            <a:br>
              <a:rPr lang="en-US" sz="4000" dirty="0" smtClean="0">
                <a:solidFill>
                  <a:srgbClr val="311997"/>
                </a:solidFill>
                <a:latin typeface="Comic Sans MS" pitchFamily="66" charset="0"/>
              </a:rPr>
            </a:br>
            <a:r>
              <a:rPr lang="en-US" sz="4000" dirty="0" smtClean="0">
                <a:solidFill>
                  <a:srgbClr val="311997"/>
                </a:solidFill>
                <a:latin typeface="Comic Sans MS" pitchFamily="66" charset="0"/>
              </a:rPr>
              <a:t>Teachers &amp; Volunteers</a:t>
            </a:r>
            <a:br>
              <a:rPr lang="en-US" sz="4000" dirty="0" smtClean="0">
                <a:solidFill>
                  <a:srgbClr val="311997"/>
                </a:solidFill>
                <a:latin typeface="Comic Sans MS" pitchFamily="66" charset="0"/>
              </a:rPr>
            </a:br>
            <a:r>
              <a:rPr lang="en-US" sz="4000" dirty="0" smtClean="0">
                <a:solidFill>
                  <a:srgbClr val="311997"/>
                </a:solidFill>
                <a:latin typeface="Comic Sans MS" pitchFamily="66" charset="0"/>
              </a:rPr>
              <a:t>Parents &amp; Families</a:t>
            </a:r>
            <a:br>
              <a:rPr lang="en-US" sz="4000" dirty="0" smtClean="0">
                <a:solidFill>
                  <a:srgbClr val="311997"/>
                </a:solidFill>
                <a:latin typeface="Comic Sans MS" pitchFamily="66" charset="0"/>
              </a:rPr>
            </a:br>
            <a:r>
              <a:rPr lang="en-US" sz="4000" dirty="0" smtClean="0">
                <a:solidFill>
                  <a:srgbClr val="311997"/>
                </a:solidFill>
                <a:latin typeface="Comic Sans MS" pitchFamily="66" charset="0"/>
              </a:rPr>
              <a:t>You!</a:t>
            </a:r>
          </a:p>
        </p:txBody>
      </p:sp>
      <p:pic>
        <p:nvPicPr>
          <p:cNvPr id="628741" name="Picture 9" descr="nsf_130px"/>
          <p:cNvPicPr>
            <a:picLocks noChangeAspect="1" noChangeArrowheads="1"/>
          </p:cNvPicPr>
          <p:nvPr/>
        </p:nvPicPr>
        <p:blipFill>
          <a:blip r:embed="rId4" cstate="screen"/>
          <a:srcRect/>
          <a:stretch>
            <a:fillRect/>
          </a:stretch>
        </p:blipFill>
        <p:spPr bwMode="auto">
          <a:xfrm>
            <a:off x="1219200" y="1752600"/>
            <a:ext cx="1600200" cy="1600200"/>
          </a:xfrm>
          <a:prstGeom prst="rect">
            <a:avLst/>
          </a:prstGeom>
          <a:noFill/>
          <a:ln w="9525">
            <a:noFill/>
            <a:miter lim="800000"/>
            <a:headEnd/>
            <a:tailEnd/>
          </a:ln>
        </p:spPr>
      </p:pic>
      <p:pic>
        <p:nvPicPr>
          <p:cNvPr id="1026" name="Picture 2" descr="B:\LOGOS and Letterhead\cmore two-world  (banner, etc)\cmore_worlds_initials_1000px.jpg"/>
          <p:cNvPicPr>
            <a:picLocks noChangeAspect="1" noChangeArrowheads="1"/>
          </p:cNvPicPr>
          <p:nvPr/>
        </p:nvPicPr>
        <p:blipFill>
          <a:blip r:embed="rId5" cstate="screen"/>
          <a:srcRect/>
          <a:stretch>
            <a:fillRect/>
          </a:stretch>
        </p:blipFill>
        <p:spPr bwMode="auto">
          <a:xfrm>
            <a:off x="3352800" y="1800728"/>
            <a:ext cx="1668895" cy="1552072"/>
          </a:xfrm>
          <a:prstGeom prst="rect">
            <a:avLst/>
          </a:prstGeom>
          <a:noFill/>
        </p:spPr>
      </p:pic>
      <p:pic>
        <p:nvPicPr>
          <p:cNvPr id="1027" name="Picture 3" descr="C:\Users\barb\Desktop\COSEE-IE-LOGO no background.gif"/>
          <p:cNvPicPr>
            <a:picLocks noChangeAspect="1" noChangeArrowheads="1"/>
          </p:cNvPicPr>
          <p:nvPr/>
        </p:nvPicPr>
        <p:blipFill>
          <a:blip r:embed="rId6" cstate="screen"/>
          <a:srcRect/>
          <a:stretch>
            <a:fillRect/>
          </a:stretch>
        </p:blipFill>
        <p:spPr bwMode="auto">
          <a:xfrm>
            <a:off x="5447999" y="1905000"/>
            <a:ext cx="2400601" cy="1387640"/>
          </a:xfrm>
          <a:prstGeom prst="rect">
            <a:avLst/>
          </a:prstGeom>
          <a:noFill/>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4185</TotalTime>
  <Words>1387</Words>
  <Application>Microsoft Office PowerPoint</Application>
  <PresentationFormat>On-screen Show (4:3)</PresentationFormat>
  <Paragraphs>206</Paragraphs>
  <Slides>43</Slides>
  <Notes>42</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Comic Sans MS</vt:lpstr>
      <vt:lpstr>Calibri</vt:lpstr>
      <vt:lpstr>Arial Black</vt:lpstr>
      <vt:lpstr>Times New Roman</vt:lpstr>
      <vt:lpstr>Office Theme</vt:lpstr>
      <vt:lpstr>Slide 1</vt:lpstr>
      <vt:lpstr>Slide 2</vt:lpstr>
      <vt:lpstr>Papahānaumokuākea  Marine National Monument </vt:lpstr>
      <vt:lpstr>Slide 4</vt:lpstr>
      <vt:lpstr>Slide 5</vt:lpstr>
      <vt:lpstr>Slide 6</vt:lpstr>
      <vt:lpstr>Slide 7</vt:lpstr>
      <vt:lpstr>Slide 8</vt:lpstr>
      <vt:lpstr>Slide 9</vt:lpstr>
      <vt:lpstr>Slide 10</vt:lpstr>
      <vt:lpstr>Activity #3 CARTESIAN DIVERS</vt:lpstr>
      <vt:lpstr>Scuba Diving &amp; Pressure</vt:lpstr>
      <vt:lpstr>Slide 13</vt:lpstr>
      <vt:lpstr>MARINE MICROBES:  WE CAN’T LIVE WITHOUT THEM  </vt:lpstr>
      <vt:lpstr>Slide 15</vt:lpstr>
      <vt:lpstr>Slide 16</vt:lpstr>
      <vt:lpstr>Slide 17</vt:lpstr>
      <vt:lpstr>CAREERS IN OCEANOGRAPHY</vt:lpstr>
      <vt:lpstr>CAREERS IN OCEANOGRAPHY</vt:lpstr>
      <vt:lpstr>Figure 8 Knot</vt:lpstr>
      <vt:lpstr>Slide 21</vt:lpstr>
      <vt:lpstr>Slide 22</vt:lpstr>
      <vt:lpstr>Slide 23</vt:lpstr>
      <vt:lpstr>Slide 24</vt:lpstr>
      <vt:lpstr>Slide 25</vt:lpstr>
      <vt:lpstr>Slide 26</vt:lpstr>
      <vt:lpstr>Slide 27</vt:lpstr>
      <vt:lpstr>Activity # 7a  WHAT MICROBE ARE YOU?</vt:lpstr>
      <vt:lpstr>Slide 29</vt:lpstr>
      <vt:lpstr>Activity # 2b DROWNING ISLAND</vt:lpstr>
      <vt:lpstr>Slide 31</vt:lpstr>
      <vt:lpstr>Slide 32</vt:lpstr>
      <vt:lpstr>Effect of a 1 Meter (3 Feet) Sea Level Rise in Honolulu</vt:lpstr>
      <vt:lpstr>What can YOU do to limit climate change? </vt:lpstr>
      <vt:lpstr>CAREERS IN OCEANOGRAPHY</vt:lpstr>
      <vt:lpstr>Slide 36</vt:lpstr>
      <vt:lpstr>Slide 37</vt:lpstr>
      <vt:lpstr>Slide 38</vt:lpstr>
      <vt:lpstr>Slide 39</vt:lpstr>
      <vt:lpstr>Slide 40</vt:lpstr>
      <vt:lpstr>Slide 41</vt:lpstr>
      <vt:lpstr>Slide 42</vt:lpstr>
      <vt:lpstr> MAHALO TO:   Our Sponsors    Art and Rene Kimura Your School Coordinator  Teachers &amp; Volunteers Parents &amp; Families You!</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cmore</dc:creator>
  <cp:lastModifiedBy>barb</cp:lastModifiedBy>
  <cp:revision>245</cp:revision>
  <dcterms:created xsi:type="dcterms:W3CDTF">2010-02-11T00:22:07Z</dcterms:created>
  <dcterms:modified xsi:type="dcterms:W3CDTF">2012-09-18T23:38:13Z</dcterms:modified>
</cp:coreProperties>
</file>