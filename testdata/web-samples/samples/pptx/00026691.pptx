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0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Default Extension="pdf" ContentType="application/pdf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Default Extension="tiff" ContentType="image/tiff"/>
  <Override PartName="/ppt/slides/slide2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2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 autoCompressPictures="0">
  <p:sldMasterIdLst>
    <p:sldMasterId id="2147483673" r:id="rId1"/>
  </p:sldMasterIdLst>
  <p:notesMasterIdLst>
    <p:notesMasterId r:id="rId24"/>
  </p:notesMasterIdLst>
  <p:sldIdLst>
    <p:sldId id="300" r:id="rId2"/>
    <p:sldId id="475" r:id="rId3"/>
    <p:sldId id="510" r:id="rId4"/>
    <p:sldId id="507" r:id="rId5"/>
    <p:sldId id="503" r:id="rId6"/>
    <p:sldId id="487" r:id="rId7"/>
    <p:sldId id="488" r:id="rId8"/>
    <p:sldId id="505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511" r:id="rId18"/>
    <p:sldId id="498" r:id="rId19"/>
    <p:sldId id="512" r:id="rId20"/>
    <p:sldId id="501" r:id="rId21"/>
    <p:sldId id="372" r:id="rId22"/>
    <p:sldId id="513" r:id="rId23"/>
  </p:sldIdLst>
  <p:sldSz cx="10790238" cy="768032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522492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1044983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567475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2089967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612458" algn="l" defTabSz="522492" rtl="0" eaLnBrk="1" latinLnBrk="0" hangingPunct="1"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3134950" algn="l" defTabSz="522492" rtl="0" eaLnBrk="1" latinLnBrk="0" hangingPunct="1"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657442" algn="l" defTabSz="522492" rtl="0" eaLnBrk="1" latinLnBrk="0" hangingPunct="1"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4179934" algn="l" defTabSz="522492" rtl="0" eaLnBrk="1" latinLnBrk="0" hangingPunct="1">
      <a:defRPr sz="27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showPr showNarration="1" useTimings="0">
    <p:present/>
    <p:sldAll/>
    <p:penClr>
      <a:schemeClr val="tx1"/>
    </p:penClr>
  </p:showPr>
  <p:clrMru>
    <a:srgbClr val="FFFFFF"/>
    <a:srgbClr val="FFDB61"/>
    <a:srgbClr val="FFDE60"/>
    <a:srgbClr val="FFE55B"/>
    <a:srgbClr val="EFBF60"/>
    <a:srgbClr val="FEE35A"/>
    <a:srgbClr val="D9F559"/>
    <a:srgbClr val="7B427E"/>
    <a:srgbClr val="0101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28" y="-216"/>
      </p:cViewPr>
      <p:guideLst>
        <p:guide orient="horz" pos="2419"/>
        <p:guide pos="33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0763" y="685800"/>
            <a:ext cx="481647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8794B2E-5809-074B-B145-A4060533C3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522492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104498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56747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2089967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612458" algn="l" defTabSz="52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34950" algn="l" defTabSz="52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7442" algn="l" defTabSz="52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9934" algn="l" defTabSz="52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4395D0-4C95-2042-B83E-AB817D5ABF05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228600" indent="-228600"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0EBC3E-4689-374F-A02B-24FDAEAF792F}" type="slidenum">
              <a:rPr lang="en-US"/>
              <a:pPr/>
              <a:t>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EA7FB-22CD-9942-AFDC-29FCEC9D0556}" type="slidenum">
              <a:rPr lang="en-US"/>
              <a:pPr/>
              <a:t>3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20763" y="685800"/>
            <a:ext cx="481647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4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20763" y="685800"/>
            <a:ext cx="4816475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50C89-6538-2F40-AB58-50D89BAF14A0}" type="slidenum">
              <a:rPr lang="en-US"/>
              <a:pPr/>
              <a:t>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CC7CE8-549D-5F4C-BAD3-9B4E7613541F}" type="slidenum">
              <a:rPr lang="en-US"/>
              <a:pPr/>
              <a:t>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6B5B25-61F7-484F-9012-E4849D89F266}" type="slidenum">
              <a:rPr lang="en-US"/>
              <a:pPr/>
              <a:t>7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3FF82D-E6A3-1542-88E1-18D3103FF34C}" type="slidenum">
              <a:rPr lang="en-US"/>
              <a:pPr/>
              <a:t>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8DA721-8B20-3041-9F90-A96CE0CC5B89}" type="slidenum">
              <a:rPr lang="en-US"/>
              <a:pPr/>
              <a:t>9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82E55D-C5D1-874C-B69E-1E4A7742D490}" type="slidenum">
              <a:rPr lang="en-US"/>
              <a:pPr/>
              <a:t>10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E769D-6D7B-FE44-A638-A5A79B068248}" type="slidenum">
              <a:rPr lang="en-US"/>
              <a:pPr/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F10C48-ADD7-5943-8B91-EC825810DDD0}" type="slidenum">
              <a:rPr lang="en-US"/>
              <a:pPr/>
              <a:t>12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B8D26C-FCE6-F94E-B427-02499951D941}" type="slidenum">
              <a:rPr lang="en-US"/>
              <a:pPr/>
              <a:t>13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33E7B8-B984-5C4E-B7C8-AB94CEBD6F52}" type="slidenum">
              <a:rPr lang="en-US"/>
              <a:pPr/>
              <a:t>14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FCC4F4-9C9D-7840-B851-C398F3FC7B10}" type="slidenum">
              <a:rPr lang="en-US"/>
              <a:pPr/>
              <a:t>15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B76C66-218A-F446-AE0C-436F7B570C5B}" type="slidenum">
              <a:rPr lang="en-US"/>
              <a:pPr/>
              <a:t>16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F79247-A47D-664E-BE17-28EC2E0A83E5}" type="slidenum">
              <a:rPr lang="en-US"/>
              <a:pPr/>
              <a:t>17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F6CC06-0883-234B-B1D0-B273A57C5505}" type="slidenum">
              <a:rPr lang="en-US"/>
              <a:pPr/>
              <a:t>18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F6CC06-0883-234B-B1D0-B273A57C5505}" type="slidenum">
              <a:rPr lang="en-US"/>
              <a:pPr/>
              <a:t>19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6889B-9DDE-BC4F-996C-AC827D5BBA43}" type="slidenum">
              <a:rPr lang="en-US"/>
              <a:pPr/>
              <a:t>20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FF4218-873E-104E-82A5-2907829900B3}" type="slidenum">
              <a:rPr lang="en-US"/>
              <a:pPr/>
              <a:t>21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F6CC06-0883-234B-B1D0-B273A57C5505}" type="slidenum">
              <a:rPr lang="en-US"/>
              <a:pPr/>
              <a:t>22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020763" y="685800"/>
            <a:ext cx="4816475" cy="3429000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16910" y="2218760"/>
            <a:ext cx="6564061" cy="230409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16910" y="4778869"/>
            <a:ext cx="6564061" cy="1706739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55" y="4935322"/>
            <a:ext cx="9171702" cy="1525398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2355" y="3255252"/>
            <a:ext cx="9171702" cy="1680070"/>
          </a:xfrm>
        </p:spPr>
        <p:txBody>
          <a:bodyPr anchor="b"/>
          <a:lstStyle>
            <a:lvl1pPr marL="0" indent="0">
              <a:buNone/>
              <a:defRPr sz="2300"/>
            </a:lvl1pPr>
            <a:lvl2pPr marL="522492" indent="0">
              <a:buNone/>
              <a:defRPr sz="2100"/>
            </a:lvl2pPr>
            <a:lvl3pPr marL="1044983" indent="0">
              <a:buNone/>
              <a:defRPr sz="1800"/>
            </a:lvl3pPr>
            <a:lvl4pPr marL="1567475" indent="0">
              <a:buNone/>
              <a:defRPr sz="1600"/>
            </a:lvl4pPr>
            <a:lvl5pPr marL="2089967" indent="0">
              <a:buNone/>
              <a:defRPr sz="1600"/>
            </a:lvl5pPr>
            <a:lvl6pPr marL="2612458" indent="0">
              <a:buNone/>
              <a:defRPr sz="1600"/>
            </a:lvl6pPr>
            <a:lvl7pPr marL="3134950" indent="0">
              <a:buNone/>
              <a:defRPr sz="1600"/>
            </a:lvl7pPr>
            <a:lvl8pPr marL="3657442" indent="0">
              <a:buNone/>
              <a:defRPr sz="1600"/>
            </a:lvl8pPr>
            <a:lvl9pPr marL="417993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268" y="2218761"/>
            <a:ext cx="4495933" cy="460819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5038" y="2218761"/>
            <a:ext cx="4495933" cy="460819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12" y="307569"/>
            <a:ext cx="9711214" cy="128005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13" y="1719184"/>
            <a:ext cx="4767562" cy="716475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2492" indent="0">
              <a:buNone/>
              <a:defRPr sz="2300" b="1"/>
            </a:lvl2pPr>
            <a:lvl3pPr marL="1044983" indent="0">
              <a:buNone/>
              <a:defRPr sz="2100" b="1"/>
            </a:lvl3pPr>
            <a:lvl4pPr marL="1567475" indent="0">
              <a:buNone/>
              <a:defRPr sz="1800" b="1"/>
            </a:lvl4pPr>
            <a:lvl5pPr marL="2089967" indent="0">
              <a:buNone/>
              <a:defRPr sz="1800" b="1"/>
            </a:lvl5pPr>
            <a:lvl6pPr marL="2612458" indent="0">
              <a:buNone/>
              <a:defRPr sz="1800" b="1"/>
            </a:lvl6pPr>
            <a:lvl7pPr marL="3134950" indent="0">
              <a:buNone/>
              <a:defRPr sz="1800" b="1"/>
            </a:lvl7pPr>
            <a:lvl8pPr marL="3657442" indent="0">
              <a:buNone/>
              <a:defRPr sz="1800" b="1"/>
            </a:lvl8pPr>
            <a:lvl9pPr marL="4179934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513" y="2435659"/>
            <a:ext cx="4767562" cy="442507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1292" y="1719184"/>
            <a:ext cx="4769436" cy="716475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2492" indent="0">
              <a:buNone/>
              <a:defRPr sz="2300" b="1"/>
            </a:lvl2pPr>
            <a:lvl3pPr marL="1044983" indent="0">
              <a:buNone/>
              <a:defRPr sz="2100" b="1"/>
            </a:lvl3pPr>
            <a:lvl4pPr marL="1567475" indent="0">
              <a:buNone/>
              <a:defRPr sz="1800" b="1"/>
            </a:lvl4pPr>
            <a:lvl5pPr marL="2089967" indent="0">
              <a:buNone/>
              <a:defRPr sz="1800" b="1"/>
            </a:lvl5pPr>
            <a:lvl6pPr marL="2612458" indent="0">
              <a:buNone/>
              <a:defRPr sz="1800" b="1"/>
            </a:lvl6pPr>
            <a:lvl7pPr marL="3134950" indent="0">
              <a:buNone/>
              <a:defRPr sz="1800" b="1"/>
            </a:lvl7pPr>
            <a:lvl8pPr marL="3657442" indent="0">
              <a:buNone/>
              <a:defRPr sz="1800" b="1"/>
            </a:lvl8pPr>
            <a:lvl9pPr marL="4179934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1292" y="2435659"/>
            <a:ext cx="4769436" cy="4425076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AC3FE397-E6B5-4D41-A91A-F90A11ABB9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DAE93F4C-EE09-0B4D-8052-1583CEB368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27203273-8161-B64A-B86E-DA3C5CF1CB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13" y="305790"/>
            <a:ext cx="3549914" cy="130138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8685" y="305793"/>
            <a:ext cx="6032043" cy="6554946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13" y="1607182"/>
            <a:ext cx="3549914" cy="5253557"/>
          </a:xfrm>
        </p:spPr>
        <p:txBody>
          <a:bodyPr/>
          <a:lstStyle>
            <a:lvl1pPr marL="0" indent="0">
              <a:buNone/>
              <a:defRPr sz="1600"/>
            </a:lvl1pPr>
            <a:lvl2pPr marL="522492" indent="0">
              <a:buNone/>
              <a:defRPr sz="1400"/>
            </a:lvl2pPr>
            <a:lvl3pPr marL="1044983" indent="0">
              <a:buNone/>
              <a:defRPr sz="1200"/>
            </a:lvl3pPr>
            <a:lvl4pPr marL="1567475" indent="0">
              <a:buNone/>
              <a:defRPr sz="1100"/>
            </a:lvl4pPr>
            <a:lvl5pPr marL="2089967" indent="0">
              <a:buNone/>
              <a:defRPr sz="1100"/>
            </a:lvl5pPr>
            <a:lvl6pPr marL="2612458" indent="0">
              <a:buNone/>
              <a:defRPr sz="1100"/>
            </a:lvl6pPr>
            <a:lvl7pPr marL="3134950" indent="0">
              <a:buNone/>
              <a:defRPr sz="1100"/>
            </a:lvl7pPr>
            <a:lvl8pPr marL="3657442" indent="0">
              <a:buNone/>
              <a:defRPr sz="1100"/>
            </a:lvl8pPr>
            <a:lvl9pPr marL="4179934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C2E2FA2D-E47B-154E-AC80-333A5F8BB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4963" y="5376228"/>
            <a:ext cx="6474143" cy="63469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4963" y="686252"/>
            <a:ext cx="6474143" cy="4608195"/>
          </a:xfrm>
        </p:spPr>
        <p:txBody>
          <a:bodyPr/>
          <a:lstStyle>
            <a:lvl1pPr marL="0" indent="0">
              <a:buNone/>
              <a:defRPr sz="3700"/>
            </a:lvl1pPr>
            <a:lvl2pPr marL="522492" indent="0">
              <a:buNone/>
              <a:defRPr sz="3200"/>
            </a:lvl2pPr>
            <a:lvl3pPr marL="1044983" indent="0">
              <a:buNone/>
              <a:defRPr sz="2700"/>
            </a:lvl3pPr>
            <a:lvl4pPr marL="1567475" indent="0">
              <a:buNone/>
              <a:defRPr sz="2300"/>
            </a:lvl4pPr>
            <a:lvl5pPr marL="2089967" indent="0">
              <a:buNone/>
              <a:defRPr sz="2300"/>
            </a:lvl5pPr>
            <a:lvl6pPr marL="2612458" indent="0">
              <a:buNone/>
              <a:defRPr sz="2300"/>
            </a:lvl6pPr>
            <a:lvl7pPr marL="3134950" indent="0">
              <a:buNone/>
              <a:defRPr sz="2300"/>
            </a:lvl7pPr>
            <a:lvl8pPr marL="3657442" indent="0">
              <a:buNone/>
              <a:defRPr sz="2300"/>
            </a:lvl8pPr>
            <a:lvl9pPr marL="4179934" indent="0">
              <a:buNone/>
              <a:defRPr sz="23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4963" y="6010923"/>
            <a:ext cx="6474143" cy="901370"/>
          </a:xfrm>
        </p:spPr>
        <p:txBody>
          <a:bodyPr/>
          <a:lstStyle>
            <a:lvl1pPr marL="0" indent="0">
              <a:buNone/>
              <a:defRPr sz="1600"/>
            </a:lvl1pPr>
            <a:lvl2pPr marL="522492" indent="0">
              <a:buNone/>
              <a:defRPr sz="1400"/>
            </a:lvl2pPr>
            <a:lvl3pPr marL="1044983" indent="0">
              <a:buNone/>
              <a:defRPr sz="1200"/>
            </a:lvl3pPr>
            <a:lvl4pPr marL="1567475" indent="0">
              <a:buNone/>
              <a:defRPr sz="1100"/>
            </a:lvl4pPr>
            <a:lvl5pPr marL="2089967" indent="0">
              <a:buNone/>
              <a:defRPr sz="1100"/>
            </a:lvl5pPr>
            <a:lvl6pPr marL="2612458" indent="0">
              <a:buNone/>
              <a:defRPr sz="1100"/>
            </a:lvl6pPr>
            <a:lvl7pPr marL="3134950" indent="0">
              <a:buNone/>
              <a:defRPr sz="1100"/>
            </a:lvl7pPr>
            <a:lvl8pPr marL="3657442" indent="0">
              <a:buNone/>
              <a:defRPr sz="1100"/>
            </a:lvl8pPr>
            <a:lvl9pPr marL="4179934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A5CECAB7-AF99-F342-B410-4BFEFAE387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FD7CDCF2-EFBE-3642-9342-3F856F1FFC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88045" y="682696"/>
            <a:ext cx="2292926" cy="61442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269" y="682696"/>
            <a:ext cx="6698939" cy="61442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33004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>
            <a:lvl1pPr>
              <a:defRPr/>
            </a:lvl1pPr>
          </a:lstStyle>
          <a:p>
            <a:pPr>
              <a:defRPr/>
            </a:pPr>
            <a:fld id="{F6EECDD5-66AE-B049-B38B-E876CD45E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gradFill rotWithShape="0">
          <a:gsLst>
            <a:gs pos="0">
              <a:srgbClr val="2F2F76"/>
            </a:gs>
            <a:gs pos="100000">
              <a:srgbClr val="0A169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09268" y="682696"/>
            <a:ext cx="9171702" cy="1280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104498" tIns="52249" rIns="104498" bIns="5224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268" y="2218761"/>
            <a:ext cx="9171702" cy="4608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104498" tIns="52249" rIns="104498" bIns="522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5pPr>
      <a:lvl6pPr marL="522492" algn="l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6pPr>
      <a:lvl7pPr marL="1044983" algn="l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7pPr>
      <a:lvl8pPr marL="1567475" algn="l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8pPr>
      <a:lvl9pPr marL="2089967" algn="l" rtl="0" fontAlgn="base">
        <a:spcBef>
          <a:spcPct val="0"/>
        </a:spcBef>
        <a:spcAft>
          <a:spcPct val="0"/>
        </a:spcAft>
        <a:defRPr sz="5100">
          <a:solidFill>
            <a:schemeClr val="tx2"/>
          </a:solidFill>
          <a:latin typeface="Century Gothic" charset="0"/>
          <a:ea typeface="ヒラギノ角ゴ Pro W3" charset="-128"/>
          <a:cs typeface="ヒラギノ角ゴ Pro W3" charset="-128"/>
        </a:defRPr>
      </a:lvl9pPr>
    </p:titleStyle>
    <p:bodyStyle>
      <a:lvl1pPr marL="391869" indent="-391869" algn="l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  <a:ea typeface="+mn-ea"/>
          <a:cs typeface="+mn-cs"/>
        </a:defRPr>
      </a:lvl1pPr>
      <a:lvl2pPr marL="849049" indent="-326558" algn="l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</a:defRPr>
      </a:lvl2pPr>
      <a:lvl3pPr marL="1306229" indent="-2612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3pPr>
      <a:lvl4pPr marL="1828721" indent="-261246" algn="l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  <a:ea typeface="+mn-ea"/>
          <a:cs typeface="+mn-cs"/>
        </a:defRPr>
      </a:lvl4pPr>
      <a:lvl5pPr marL="2351213" indent="-261246" algn="l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  <a:ea typeface="+mn-ea"/>
          <a:cs typeface="+mn-cs"/>
        </a:defRPr>
      </a:lvl5pPr>
      <a:lvl6pPr marL="2873704" indent="-261246" algn="l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  <a:ea typeface="+mn-ea"/>
          <a:cs typeface="+mn-cs"/>
        </a:defRPr>
      </a:lvl6pPr>
      <a:lvl7pPr marL="3396196" indent="-261246" algn="l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  <a:ea typeface="+mn-ea"/>
          <a:cs typeface="+mn-cs"/>
        </a:defRPr>
      </a:lvl7pPr>
      <a:lvl8pPr marL="3918688" indent="-261246" algn="l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  <a:ea typeface="+mn-ea"/>
          <a:cs typeface="+mn-cs"/>
        </a:defRPr>
      </a:lvl8pPr>
      <a:lvl9pPr marL="4441179" indent="-261246" algn="l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2492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4983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475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9967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2458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950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442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9934" algn="l" defTabSz="52249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df"/><Relationship Id="rId8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.pdf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df"/><Relationship Id="rId6" Type="http://schemas.openxmlformats.org/officeDocument/2006/relationships/image" Target="../media/image14.png"/><Relationship Id="rId7" Type="http://schemas.openxmlformats.org/officeDocument/2006/relationships/image" Target="../media/image15.pdf"/><Relationship Id="rId8" Type="http://schemas.openxmlformats.org/officeDocument/2006/relationships/image" Target="../media/image16.png"/><Relationship Id="rId9" Type="http://schemas.openxmlformats.org/officeDocument/2006/relationships/image" Target="../media/image17.pdf"/><Relationship Id="rId10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df"/><Relationship Id="rId5" Type="http://schemas.openxmlformats.org/officeDocument/2006/relationships/image" Target="../media/image25.png"/><Relationship Id="rId6" Type="http://schemas.openxmlformats.org/officeDocument/2006/relationships/image" Target="../media/image26.pdf"/><Relationship Id="rId7" Type="http://schemas.openxmlformats.org/officeDocument/2006/relationships/image" Target="../media/image27.png"/><Relationship Id="rId8" Type="http://schemas.openxmlformats.org/officeDocument/2006/relationships/image" Target="../media/image28.pdf"/><Relationship Id="rId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df"/><Relationship Id="rId5" Type="http://schemas.openxmlformats.org/officeDocument/2006/relationships/image" Target="../media/image34.png"/><Relationship Id="rId6" Type="http://schemas.openxmlformats.org/officeDocument/2006/relationships/image" Target="../media/image28.pdf"/><Relationship Id="rId7" Type="http://schemas.openxmlformats.org/officeDocument/2006/relationships/image" Target="../media/image29.png"/><Relationship Id="rId8" Type="http://schemas.openxmlformats.org/officeDocument/2006/relationships/image" Target="../media/image35.pdf"/><Relationship Id="rId9" Type="http://schemas.openxmlformats.org/officeDocument/2006/relationships/image" Target="../media/image36.png"/><Relationship Id="rId10" Type="http://schemas.openxmlformats.org/officeDocument/2006/relationships/image" Target="../media/image37.pdf"/><Relationship Id="rId11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35.pdf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f"/><Relationship Id="rId4" Type="http://schemas.openxmlformats.org/officeDocument/2006/relationships/image" Target="../media/image48.pdf"/><Relationship Id="rId5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df"/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9269" y="85337"/>
            <a:ext cx="9531377" cy="298679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 smtClean="0">
                <a:latin typeface="Arial" charset="0"/>
              </a:rPr>
              <a:t>Reduced transport regions in rotating </a:t>
            </a:r>
            <a:r>
              <a:rPr lang="en-US" dirty="0" err="1" smtClean="0">
                <a:latin typeface="Arial" charset="0"/>
              </a:rPr>
              <a:t>tokamak</a:t>
            </a:r>
            <a:r>
              <a:rPr lang="en-US" dirty="0" smtClean="0">
                <a:latin typeface="Arial" charset="0"/>
              </a:rPr>
              <a:t> plasmas</a:t>
            </a:r>
            <a:endParaRPr lang="en-US" dirty="0" smtClean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0889" y="3925499"/>
            <a:ext cx="9670002" cy="19627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Michael Barnes</a:t>
            </a:r>
          </a:p>
          <a:p>
            <a:pPr eaLnBrk="1" hangingPunct="1">
              <a:defRPr/>
            </a:pPr>
            <a:r>
              <a:rPr lang="en-US" sz="2900" dirty="0"/>
              <a:t>University of Oxford</a:t>
            </a:r>
          </a:p>
          <a:p>
            <a:pPr eaLnBrk="1" hangingPunct="1">
              <a:defRPr/>
            </a:pPr>
            <a:r>
              <a:rPr lang="en-US" sz="2900" dirty="0" err="1"/>
              <a:t>Culham</a:t>
            </a:r>
            <a:r>
              <a:rPr lang="en-US" sz="2900" dirty="0"/>
              <a:t> Centre for Fusion Energy 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50482" y="6656282"/>
            <a:ext cx="9580084" cy="853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sz="2300" kern="0" dirty="0">
                <a:latin typeface="+mn-lt"/>
                <a:ea typeface="+mn-ea"/>
                <a:cs typeface="+mn-cs"/>
              </a:rPr>
              <a:t>In collaboration with F. Parra, E. </a:t>
            </a:r>
            <a:r>
              <a:rPr lang="en-US" sz="2300" kern="0" dirty="0" err="1">
                <a:latin typeface="+mn-lt"/>
                <a:ea typeface="+mn-ea"/>
                <a:cs typeface="+mn-cs"/>
              </a:rPr>
              <a:t>Highcock</a:t>
            </a:r>
            <a:r>
              <a:rPr lang="en-US" sz="2300" kern="0" dirty="0">
                <a:latin typeface="+mn-lt"/>
                <a:ea typeface="+mn-ea"/>
                <a:cs typeface="+mn-cs"/>
              </a:rPr>
              <a:t>, A. </a:t>
            </a:r>
            <a:r>
              <a:rPr lang="en-US" sz="2300" kern="0" dirty="0" err="1">
                <a:latin typeface="+mn-lt"/>
                <a:ea typeface="+mn-ea"/>
                <a:cs typeface="+mn-cs"/>
              </a:rPr>
              <a:t>Schekochihin</a:t>
            </a:r>
            <a:r>
              <a:rPr lang="en-US" sz="2300" kern="0" dirty="0">
                <a:latin typeface="+mn-lt"/>
                <a:ea typeface="+mn-ea"/>
                <a:cs typeface="+mn-cs"/>
              </a:rPr>
              <a:t>,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sz="2300" kern="0" dirty="0">
                <a:latin typeface="+mn-lt"/>
                <a:ea typeface="+mn-ea"/>
                <a:cs typeface="+mn-cs"/>
              </a:rPr>
              <a:t>S. Cowley, and C. Roach</a:t>
            </a:r>
          </a:p>
          <a:p>
            <a:pPr algn="r" eaLnBrk="1" hangingPunct="1">
              <a:spcBef>
                <a:spcPct val="20000"/>
              </a:spcBef>
              <a:defRPr/>
            </a:pPr>
            <a:endParaRPr lang="en-US" sz="3700" kern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15083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539512" y="2304098"/>
            <a:ext cx="4945526" cy="418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2500" dirty="0">
                <a:latin typeface="Century Gothic" charset="0"/>
                <a:ea typeface="ヒラギノ角ゴ Pro W3" charset="-128"/>
                <a:cs typeface="ヒラギノ角ゴ Pro W3" charset="-128"/>
              </a:rPr>
              <a:t>“Internal Transport Barriers” (</a:t>
            </a:r>
            <a:r>
              <a:rPr lang="en-US" sz="2500" dirty="0" err="1">
                <a:latin typeface="Century Gothic" charset="0"/>
                <a:ea typeface="ヒラギノ角ゴ Pro W3" charset="-128"/>
                <a:cs typeface="ヒラギノ角ゴ Pro W3" charset="-128"/>
              </a:rPr>
              <a:t>ITBs</a:t>
            </a:r>
            <a:r>
              <a:rPr lang="en-US" sz="2500" dirty="0">
                <a:latin typeface="Century Gothic" charset="0"/>
                <a:ea typeface="ヒラギノ角ゴ Pro W3" charset="-128"/>
                <a:cs typeface="ヒラギノ角ゴ Pro W3" charset="-128"/>
              </a:rPr>
              <a:t>) observed in wide range of fusion devices</a:t>
            </a:r>
          </a:p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2500" dirty="0">
                <a:latin typeface="Century Gothic" charset="0"/>
                <a:ea typeface="ヒラギノ角ゴ Pro W3" charset="-128"/>
                <a:cs typeface="ヒラギノ角ゴ Pro W3" charset="-128"/>
              </a:rPr>
              <a:t>Often accompanied by strong velocity shear and weak or negative magnetic shear</a:t>
            </a:r>
          </a:p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2500" dirty="0">
                <a:latin typeface="Century Gothic" charset="0"/>
                <a:ea typeface="ヒラギノ角ゴ Pro W3" charset="-128"/>
                <a:cs typeface="ヒラギノ角ゴ Pro W3" charset="-128"/>
              </a:rPr>
              <a:t>How do </a:t>
            </a:r>
            <a:r>
              <a:rPr lang="en-US" sz="2500" dirty="0" err="1">
                <a:latin typeface="Century Gothic" charset="0"/>
                <a:ea typeface="ヒラギノ角ゴ Pro W3" charset="-128"/>
                <a:cs typeface="ヒラギノ角ゴ Pro W3" charset="-128"/>
              </a:rPr>
              <a:t>ITBs</a:t>
            </a:r>
            <a:r>
              <a:rPr lang="en-US" sz="2500" dirty="0">
                <a:latin typeface="Century Gothic" charset="0"/>
                <a:ea typeface="ヒラギノ角ゴ Pro W3" charset="-128"/>
                <a:cs typeface="ヒラギノ角ゴ Pro W3" charset="-128"/>
              </a:rPr>
              <a:t> work, and how can we make them better?</a:t>
            </a:r>
            <a:endParaRPr lang="en-US" sz="2500" dirty="0">
              <a:ea typeface="Arial" charset="0"/>
              <a:cs typeface="Arial" charset="0"/>
            </a:endParaRPr>
          </a:p>
        </p:txBody>
      </p:sp>
      <p:pic>
        <p:nvPicPr>
          <p:cNvPr id="3277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44714" y="682697"/>
            <a:ext cx="4302982" cy="5978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2" name="Text Box 6"/>
          <p:cNvSpPr txBox="1">
            <a:spLocks noChangeArrowheads="1"/>
          </p:cNvSpPr>
          <p:nvPr/>
        </p:nvSpPr>
        <p:spPr bwMode="auto">
          <a:xfrm>
            <a:off x="5485038" y="6736423"/>
            <a:ext cx="5215282" cy="351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4498" tIns="52249" rIns="104498" bIns="52249" anchor="ctr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600" dirty="0">
                <a:latin typeface="Arial Black" charset="0"/>
              </a:rPr>
              <a:t>JT-60U data. Y. Miura, </a:t>
            </a:r>
            <a:r>
              <a:rPr lang="en-US" sz="1600" i="1" dirty="0">
                <a:latin typeface="Arial Black" charset="0"/>
              </a:rPr>
              <a:t>et al., </a:t>
            </a:r>
            <a:r>
              <a:rPr lang="en-US" sz="1600" dirty="0">
                <a:latin typeface="Arial Black" charset="0"/>
              </a:rPr>
              <a:t>10:1809:2003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49593" y="567137"/>
            <a:ext cx="5035444" cy="105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 anchor="ctr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sz="4300" kern="0" dirty="0">
                <a:solidFill>
                  <a:schemeClr val="tx2"/>
                </a:solidFill>
                <a:ea typeface="+mj-ea"/>
                <a:cs typeface="+mj-cs"/>
              </a:rPr>
              <a:t>Observations</a:t>
            </a:r>
            <a:endParaRPr lang="en-US" sz="51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93533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809268" y="6997629"/>
            <a:ext cx="2247966" cy="512022"/>
          </a:xfrm>
          <a:prstGeom prst="rect">
            <a:avLst/>
          </a:prstGeom>
        </p:spPr>
        <p:txBody>
          <a:bodyPr lIns="104498" tIns="52249" rIns="104498" bIns="52249"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686666" y="6997629"/>
            <a:ext cx="3416909" cy="512022"/>
          </a:xfrm>
          <a:prstGeom prst="rect">
            <a:avLst/>
          </a:prstGeom>
        </p:spPr>
        <p:txBody>
          <a:bodyPr lIns="104498" tIns="52249" rIns="104498" bIns="52249"/>
          <a:lstStyle/>
          <a:p>
            <a:endParaRPr 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809268" y="2816119"/>
            <a:ext cx="9081784" cy="2986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37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Effect of rotational shear on turbulent transport</a:t>
            </a:r>
          </a:p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37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Implications for local gradients (0D)</a:t>
            </a:r>
          </a:p>
          <a:p>
            <a:pPr marL="391869" indent="-391869" eaLnBrk="1" hangingPunct="1">
              <a:spcBef>
                <a:spcPct val="20000"/>
              </a:spcBef>
              <a:buFontTx/>
              <a:buChar char="•"/>
            </a:pPr>
            <a:r>
              <a:rPr lang="en-US" sz="37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Extension to radial profiles (1D)</a:t>
            </a:r>
            <a:endParaRPr lang="en-US" sz="37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Overview</a:t>
            </a:r>
          </a:p>
        </p:txBody>
      </p:sp>
    </p:spTree>
  </p:cSld>
  <p:clrMapOvr>
    <a:masterClrMapping/>
  </p:clrMapOvr>
  <p:transition advTm="42083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9430" y="256011"/>
            <a:ext cx="9621296" cy="1109380"/>
          </a:xfrm>
        </p:spPr>
        <p:txBody>
          <a:bodyPr/>
          <a:lstStyle/>
          <a:p>
            <a:pPr algn="ctr"/>
            <a:r>
              <a:rPr lang="en-US" dirty="0" smtClean="0"/>
              <a:t>Turbulent fluxes</a:t>
            </a:r>
            <a:endParaRPr lang="en-US" dirty="0"/>
          </a:p>
        </p:txBody>
      </p:sp>
      <p:pic>
        <p:nvPicPr>
          <p:cNvPr id="6" name="Picture 5" descr="highcock_fluxes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52" y="1664070"/>
            <a:ext cx="7298397" cy="5845581"/>
          </a:xfrm>
          <a:prstGeom prst="rect">
            <a:avLst/>
          </a:prstGeom>
        </p:spPr>
      </p:pic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463248" y="6654071"/>
            <a:ext cx="3326990" cy="87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313" tIns="49155" rIns="98313" bIns="49155">
            <a:prstTxWarp prst="textNoShape">
              <a:avLst/>
            </a:prstTxWarp>
            <a:spAutoFit/>
          </a:bodyPr>
          <a:lstStyle/>
          <a:p>
            <a:pPr defTabSz="983300"/>
            <a:r>
              <a:rPr lang="en-US" sz="2500" dirty="0" err="1" smtClean="0">
                <a:solidFill>
                  <a:schemeClr val="tx2"/>
                </a:solidFill>
              </a:rPr>
              <a:t>Highcock</a:t>
            </a:r>
            <a:r>
              <a:rPr lang="en-US" sz="2500" dirty="0" smtClean="0">
                <a:solidFill>
                  <a:schemeClr val="tx2"/>
                </a:solidFill>
              </a:rPr>
              <a:t> et al., PRL </a:t>
            </a:r>
            <a:r>
              <a:rPr lang="en-US" sz="2500" b="1" dirty="0" smtClean="0">
                <a:solidFill>
                  <a:schemeClr val="tx2"/>
                </a:solidFill>
              </a:rPr>
              <a:t>105,</a:t>
            </a:r>
            <a:r>
              <a:rPr lang="en-US" sz="2500" dirty="0" smtClean="0">
                <a:solidFill>
                  <a:schemeClr val="tx2"/>
                </a:solidFill>
              </a:rPr>
              <a:t> 215003 (2010).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553168" y="1621402"/>
            <a:ext cx="3237071" cy="2730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104498" tIns="52249" rIns="104498" bIns="52249" numCol="1" anchor="t" anchorCtr="0" compatLnSpc="1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Fluxes from GK code GS2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Cyclone base case: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-- concentric, circular flux surfaces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--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q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=1.4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--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r</a:t>
            </a:r>
            <a:r>
              <a:rPr lang="en-US" kern="0" dirty="0">
                <a:latin typeface="+mn-lt"/>
                <a:ea typeface="+mn-ea"/>
                <a:cs typeface="+mn-cs"/>
              </a:rPr>
              <a:t>/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R=0.18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-- zero magnetic shear</a:t>
            </a:r>
          </a:p>
        </p:txBody>
      </p:sp>
    </p:spTree>
  </p:cSld>
  <p:clrMapOvr>
    <a:masterClrMapping/>
  </p:clrMapOvr>
  <p:transition advTm="269599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Turbulent </a:t>
            </a:r>
            <a:r>
              <a:rPr lang="en-US" dirty="0" err="1" smtClean="0"/>
              <a:t>Prandtl</a:t>
            </a:r>
            <a:r>
              <a:rPr lang="en-US" dirty="0" smtClean="0"/>
              <a:t> number</a:t>
            </a:r>
            <a:endParaRPr lang="en-US" dirty="0"/>
          </a:p>
        </p:txBody>
      </p:sp>
      <p:pic>
        <p:nvPicPr>
          <p:cNvPr id="40963" name="Picture 3" descr="prandtl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838" y="3220227"/>
            <a:ext cx="6474143" cy="40961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40964" name="Picture 4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32808" y="1912971"/>
            <a:ext cx="1594182" cy="881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5" descr="latex-image-1.pd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26176" y="1792076"/>
            <a:ext cx="5215282" cy="46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6" name="Picture 6" descr="latex-image-1.pdf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26176" y="2474775"/>
            <a:ext cx="3147153" cy="4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743899" y="3498815"/>
            <a:ext cx="3866502" cy="324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err="1">
                <a:latin typeface="+mn-lt"/>
                <a:ea typeface="+mn-ea"/>
                <a:cs typeface="+mn-cs"/>
              </a:rPr>
              <a:t>Prandtl</a:t>
            </a:r>
            <a:r>
              <a:rPr lang="en-US" kern="0" dirty="0">
                <a:latin typeface="+mn-lt"/>
                <a:ea typeface="+mn-ea"/>
                <a:cs typeface="+mn-cs"/>
              </a:rPr>
              <a:t> number tends to shear- and R/LT-independent value of order unity (in both turbulence regimes)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6653980" y="6739408"/>
            <a:ext cx="3326990" cy="87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313" tIns="49155" rIns="98313" bIns="49155">
            <a:prstTxWarp prst="textNoShape">
              <a:avLst/>
            </a:prstTxWarp>
            <a:spAutoFit/>
          </a:bodyPr>
          <a:lstStyle/>
          <a:p>
            <a:pPr defTabSz="983300"/>
            <a:r>
              <a:rPr lang="en-US" sz="2500" dirty="0" smtClean="0">
                <a:solidFill>
                  <a:schemeClr val="tx2"/>
                </a:solidFill>
              </a:rPr>
              <a:t>Barnes </a:t>
            </a:r>
            <a:r>
              <a:rPr lang="en-US" sz="2500" i="1" dirty="0" smtClean="0">
                <a:solidFill>
                  <a:schemeClr val="tx2"/>
                </a:solidFill>
              </a:rPr>
              <a:t>et al.</a:t>
            </a:r>
            <a:r>
              <a:rPr lang="en-US" sz="2500" dirty="0" smtClean="0">
                <a:solidFill>
                  <a:schemeClr val="tx2"/>
                </a:solidFill>
              </a:rPr>
              <a:t>, PRL submitted (2010).</a:t>
            </a:r>
            <a:endParaRPr lang="en-US" sz="2500" dirty="0">
              <a:solidFill>
                <a:schemeClr val="tx2"/>
              </a:solidFill>
            </a:endParaRPr>
          </a:p>
        </p:txBody>
      </p:sp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2877397" y="7346136"/>
            <a:ext cx="1223268" cy="282390"/>
          </a:xfrm>
          <a:prstGeom prst="rect">
            <a:avLst/>
          </a:prstGeom>
        </p:spPr>
      </p:pic>
    </p:spTree>
  </p:cSld>
  <p:clrMapOvr>
    <a:masterClrMapping/>
  </p:clrMapOvr>
  <p:transition advTm="60866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5" descr="latex-image-1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44714" y="5802912"/>
            <a:ext cx="4720729" cy="103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 useBgFill="1">
        <p:nvSpPr>
          <p:cNvPr id="43011" name="Oval 6"/>
          <p:cNvSpPr>
            <a:spLocks noChangeArrowheads="1"/>
          </p:cNvSpPr>
          <p:nvPr/>
        </p:nvSpPr>
        <p:spPr bwMode="auto">
          <a:xfrm>
            <a:off x="899187" y="2681003"/>
            <a:ext cx="4495933" cy="4266847"/>
          </a:xfrm>
          <a:prstGeom prst="ellipse">
            <a:avLst/>
          </a:prstGeom>
          <a:ln w="381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3012" name="Left Arrow 7"/>
          <p:cNvSpPr>
            <a:spLocks noChangeArrowheads="1"/>
          </p:cNvSpPr>
          <p:nvPr/>
        </p:nvSpPr>
        <p:spPr bwMode="auto">
          <a:xfrm rot="7884643">
            <a:off x="3093842" y="3150834"/>
            <a:ext cx="2200983" cy="539512"/>
          </a:xfrm>
          <a:prstGeom prst="leftArrow">
            <a:avLst>
              <a:gd name="adj1" fmla="val 45407"/>
              <a:gd name="adj2" fmla="val 49971"/>
            </a:avLst>
          </a:prstGeom>
          <a:ln w="254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3013" name="Left Arrow 8"/>
          <p:cNvSpPr>
            <a:spLocks noChangeArrowheads="1"/>
          </p:cNvSpPr>
          <p:nvPr/>
        </p:nvSpPr>
        <p:spPr bwMode="auto">
          <a:xfrm rot="-7911732">
            <a:off x="3144641" y="5747388"/>
            <a:ext cx="2174313" cy="539512"/>
          </a:xfrm>
          <a:prstGeom prst="leftArrow">
            <a:avLst>
              <a:gd name="adj1" fmla="val 45407"/>
              <a:gd name="adj2" fmla="val 50015"/>
            </a:avLst>
          </a:prstGeom>
          <a:ln w="254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3014" name="Left Arrow 9"/>
          <p:cNvSpPr>
            <a:spLocks noChangeArrowheads="1"/>
          </p:cNvSpPr>
          <p:nvPr/>
        </p:nvSpPr>
        <p:spPr bwMode="auto">
          <a:xfrm>
            <a:off x="269757" y="4428633"/>
            <a:ext cx="2607641" cy="512022"/>
          </a:xfrm>
          <a:prstGeom prst="leftArrow">
            <a:avLst>
              <a:gd name="adj1" fmla="val 45407"/>
              <a:gd name="adj2" fmla="val 49989"/>
            </a:avLst>
          </a:prstGeom>
          <a:ln w="254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015" name="Picture 10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96748" y="2083646"/>
            <a:ext cx="947893" cy="43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6" name="Left Arrow 11"/>
          <p:cNvSpPr>
            <a:spLocks noChangeArrowheads="1"/>
          </p:cNvSpPr>
          <p:nvPr/>
        </p:nvSpPr>
        <p:spPr bwMode="auto">
          <a:xfrm>
            <a:off x="3147154" y="4473080"/>
            <a:ext cx="2952329" cy="544023"/>
          </a:xfrm>
          <a:prstGeom prst="leftArrow">
            <a:avLst>
              <a:gd name="adj1" fmla="val 50000"/>
              <a:gd name="adj2" fmla="val 49882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TextBox 12"/>
          <p:cNvSpPr txBox="1">
            <a:spLocks noChangeArrowheads="1"/>
          </p:cNvSpPr>
          <p:nvPr/>
        </p:nvSpPr>
        <p:spPr bwMode="auto">
          <a:xfrm>
            <a:off x="5574958" y="3961059"/>
            <a:ext cx="2898933" cy="52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4498" tIns="52249" rIns="104498" bIns="52249">
            <a:prstTxWarp prst="textNoShape">
              <a:avLst/>
            </a:prstTxWarp>
            <a:spAutoFit/>
          </a:bodyPr>
          <a:lstStyle/>
          <a:p>
            <a:r>
              <a:rPr lang="en-US"/>
              <a:t>heat, momentum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809268" y="341348"/>
            <a:ext cx="9171702" cy="1280054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Power/Torque balance for beam injection</a:t>
            </a:r>
            <a:endParaRPr lang="en-US" dirty="0"/>
          </a:p>
        </p:txBody>
      </p:sp>
      <p:sp useBgFill="1">
        <p:nvSpPr>
          <p:cNvPr id="43019" name="Freeform 22"/>
          <p:cNvSpPr>
            <a:spLocks noChangeArrowheads="1"/>
          </p:cNvSpPr>
          <p:nvPr/>
        </p:nvSpPr>
        <p:spPr bwMode="auto">
          <a:xfrm>
            <a:off x="1" y="1621402"/>
            <a:ext cx="3686665" cy="1109380"/>
          </a:xfrm>
          <a:custGeom>
            <a:avLst/>
            <a:gdLst>
              <a:gd name="T0" fmla="*/ 5923583 w 1647757"/>
              <a:gd name="T1" fmla="*/ 1354918 h 724242"/>
              <a:gd name="T2" fmla="*/ 2150599 w 1647757"/>
              <a:gd name="T3" fmla="*/ 392729 h 724242"/>
              <a:gd name="T4" fmla="*/ 0 w 1647757"/>
              <a:gd name="T5" fmla="*/ 0 h 724242"/>
              <a:gd name="T6" fmla="*/ 0 60000 65536"/>
              <a:gd name="T7" fmla="*/ 0 60000 65536"/>
              <a:gd name="T8" fmla="*/ 0 60000 65536"/>
              <a:gd name="T9" fmla="*/ 0 w 1647757"/>
              <a:gd name="T10" fmla="*/ 0 h 724242"/>
              <a:gd name="T11" fmla="*/ 1647757 w 1647757"/>
              <a:gd name="T12" fmla="*/ 724242 h 7242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47757" h="724242">
                <a:moveTo>
                  <a:pt x="1647757" y="724242"/>
                </a:moveTo>
                <a:cubicBezTo>
                  <a:pt x="1260306" y="527437"/>
                  <a:pt x="872856" y="330632"/>
                  <a:pt x="598230" y="209925"/>
                </a:cubicBezTo>
                <a:cubicBezTo>
                  <a:pt x="323604" y="89218"/>
                  <a:pt x="0" y="0"/>
                  <a:pt x="0" y="0"/>
                </a:cubicBezTo>
              </a:path>
            </a:pathLst>
          </a:custGeom>
          <a:ln w="381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3020" name="Freeform 23"/>
          <p:cNvSpPr>
            <a:spLocks noChangeArrowheads="1"/>
          </p:cNvSpPr>
          <p:nvPr/>
        </p:nvSpPr>
        <p:spPr bwMode="auto">
          <a:xfrm>
            <a:off x="0" y="5973586"/>
            <a:ext cx="2158048" cy="768033"/>
          </a:xfrm>
          <a:custGeom>
            <a:avLst/>
            <a:gdLst>
              <a:gd name="T0" fmla="*/ 2029735 w 1647757"/>
              <a:gd name="T1" fmla="*/ 649398 h 724242"/>
              <a:gd name="T2" fmla="*/ 736910 w 1647757"/>
              <a:gd name="T3" fmla="*/ 188231 h 724242"/>
              <a:gd name="T4" fmla="*/ 0 w 1647757"/>
              <a:gd name="T5" fmla="*/ 0 h 724242"/>
              <a:gd name="T6" fmla="*/ 0 60000 65536"/>
              <a:gd name="T7" fmla="*/ 0 60000 65536"/>
              <a:gd name="T8" fmla="*/ 0 60000 65536"/>
              <a:gd name="T9" fmla="*/ 0 w 1647757"/>
              <a:gd name="T10" fmla="*/ 0 h 724242"/>
              <a:gd name="T11" fmla="*/ 1647757 w 1647757"/>
              <a:gd name="T12" fmla="*/ 724242 h 7242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47757" h="724242">
                <a:moveTo>
                  <a:pt x="1647757" y="724242"/>
                </a:moveTo>
                <a:cubicBezTo>
                  <a:pt x="1260306" y="527437"/>
                  <a:pt x="872856" y="330632"/>
                  <a:pt x="598230" y="209925"/>
                </a:cubicBezTo>
                <a:cubicBezTo>
                  <a:pt x="323604" y="89218"/>
                  <a:pt x="0" y="0"/>
                  <a:pt x="0" y="0"/>
                </a:cubicBezTo>
              </a:path>
            </a:pathLst>
          </a:custGeom>
          <a:ln w="38100">
            <a:solidFill>
              <a:schemeClr val="tx1"/>
            </a:solidFill>
            <a:round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advTm="55633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9268" y="341349"/>
            <a:ext cx="9171702" cy="686252"/>
          </a:xfrm>
        </p:spPr>
        <p:txBody>
          <a:bodyPr/>
          <a:lstStyle/>
          <a:p>
            <a:pPr algn="ctr">
              <a:defRPr/>
            </a:pPr>
            <a:r>
              <a:rPr lang="en-US" sz="4300" dirty="0" smtClean="0"/>
              <a:t>Model fluxes</a:t>
            </a:r>
            <a:endParaRPr lang="en-US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93" y="1500508"/>
            <a:ext cx="9891052" cy="592380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317"/>
              </a:spcBef>
              <a:defRPr/>
            </a:pPr>
            <a:r>
              <a:rPr lang="en-US" sz="2600" dirty="0" smtClean="0"/>
              <a:t>Simple model for fluxes with parameters chosen to fit zero magnetic shear results from GS2:</a:t>
            </a:r>
          </a:p>
          <a:p>
            <a:pPr>
              <a:lnSpc>
                <a:spcPct val="90000"/>
              </a:lnSpc>
              <a:defRPr/>
            </a:pPr>
            <a:endParaRPr lang="en-US" sz="2600" dirty="0"/>
          </a:p>
          <a:p>
            <a:pPr>
              <a:lnSpc>
                <a:spcPct val="90000"/>
              </a:lnSpc>
              <a:defRPr/>
            </a:pPr>
            <a:endParaRPr lang="en-US" sz="2600" dirty="0" smtClean="0"/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sz="2600" dirty="0" smtClean="0"/>
          </a:p>
          <a:p>
            <a:pPr>
              <a:lnSpc>
                <a:spcPct val="90000"/>
              </a:lnSpc>
              <a:defRPr/>
            </a:pPr>
            <a:endParaRPr lang="en-US" sz="2600" dirty="0"/>
          </a:p>
          <a:p>
            <a:pPr>
              <a:lnSpc>
                <a:spcPct val="90000"/>
              </a:lnSpc>
              <a:defRPr/>
            </a:pPr>
            <a:endParaRPr lang="en-US" sz="2600" dirty="0" smtClean="0"/>
          </a:p>
          <a:p>
            <a:pPr>
              <a:lnSpc>
                <a:spcPct val="90000"/>
              </a:lnSpc>
              <a:defRPr/>
            </a:pPr>
            <a:endParaRPr lang="en-US" sz="3200" dirty="0"/>
          </a:p>
        </p:txBody>
      </p:sp>
      <p:pic>
        <p:nvPicPr>
          <p:cNvPr id="45060" name="Picture 6" descr="latex-image-1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6774" y="2608113"/>
            <a:ext cx="2729405" cy="4373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5061" name="Picture 7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04387" y="2631224"/>
            <a:ext cx="2787478" cy="4177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708455" y="3413478"/>
            <a:ext cx="7013655" cy="1009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5664876" y="4778872"/>
            <a:ext cx="4855607" cy="931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1528618" y="6135766"/>
            <a:ext cx="7643085" cy="10886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269758" y="4778869"/>
            <a:ext cx="4760069" cy="9387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 advTm="163299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9268" y="167121"/>
            <a:ext cx="9171702" cy="686252"/>
          </a:xfrm>
        </p:spPr>
        <p:txBody>
          <a:bodyPr/>
          <a:lstStyle/>
          <a:p>
            <a:pPr algn="ctr">
              <a:defRPr/>
            </a:pPr>
            <a:r>
              <a:rPr lang="en-US" sz="4300" dirty="0" smtClean="0"/>
              <a:t>Model fluxes</a:t>
            </a:r>
            <a:endParaRPr lang="en-US" dirty="0"/>
          </a:p>
        </p:txBody>
      </p:sp>
      <p:pic>
        <p:nvPicPr>
          <p:cNvPr id="77827" name="Picture 8" descr="fig_Q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8129" y="4010837"/>
            <a:ext cx="5754794" cy="3534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8" name="Picture 13" descr="highcock_qflux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8293" y="1194717"/>
            <a:ext cx="7103573" cy="268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33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256011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Balance w/o neoclassical</a:t>
            </a:r>
            <a:endParaRPr lang="en-US" dirty="0"/>
          </a:p>
        </p:txBody>
      </p:sp>
      <p:pic>
        <p:nvPicPr>
          <p:cNvPr id="47107" name="Picture 3" descr="fig_Qt_1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838" y="1792076"/>
            <a:ext cx="6474143" cy="520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33819" y="2048086"/>
            <a:ext cx="3776583" cy="384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    = red lines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         = green lines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Critical gradient = dashed line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For given   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 and     </a:t>
            </a:r>
            <a:r>
              <a:rPr lang="en-US" kern="0" dirty="0">
                <a:latin typeface="+mn-lt"/>
                <a:ea typeface="+mn-ea"/>
                <a:cs typeface="+mn-cs"/>
              </a:rPr>
              <a:t>, only one solution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	No bifurcation!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7283411" y="2048088"/>
            <a:ext cx="360348" cy="430241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8216865" y="5534925"/>
            <a:ext cx="360348" cy="430241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9039440" y="5142796"/>
            <a:ext cx="904806" cy="474546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7373330" y="3157470"/>
            <a:ext cx="2607641" cy="1017663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7267752" y="2549826"/>
            <a:ext cx="904806" cy="474546"/>
          </a:xfrm>
          <a:prstGeom prst="rect">
            <a:avLst/>
          </a:prstGeom>
        </p:spPr>
      </p:pic>
    </p:spTree>
  </p:cSld>
  <p:clrMapOvr>
    <a:masterClrMapping/>
  </p:clrMapOvr>
  <p:transition advTm="533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Neoclassical energy flux</a:t>
            </a:r>
            <a:endParaRPr lang="en-US" dirty="0"/>
          </a:p>
        </p:txBody>
      </p:sp>
      <p:pic>
        <p:nvPicPr>
          <p:cNvPr id="49155" name="Picture 4" descr="fig_Q_1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351" y="1559178"/>
            <a:ext cx="7695538" cy="560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466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Balance with neoclassical</a:t>
            </a:r>
            <a:endParaRPr lang="en-US" dirty="0"/>
          </a:p>
        </p:txBody>
      </p:sp>
      <p:pic>
        <p:nvPicPr>
          <p:cNvPr id="51203" name="Picture 4" descr="fig_Q_2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351" y="1559178"/>
            <a:ext cx="7695538" cy="560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8366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9" y="426685"/>
            <a:ext cx="7912841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Curves of constant   </a:t>
            </a:r>
            <a:endParaRPr lang="en-US" dirty="0"/>
          </a:p>
        </p:txBody>
      </p:sp>
      <p:pic>
        <p:nvPicPr>
          <p:cNvPr id="53251" name="Picture 4" descr="fig_PiQ_1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93" y="1664071"/>
            <a:ext cx="6294306" cy="5077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33819" y="1706739"/>
            <a:ext cx="3776583" cy="5290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Neoclassical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Turbulent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err="1">
                <a:latin typeface="+mn-lt"/>
                <a:ea typeface="+mn-ea"/>
                <a:cs typeface="+mn-cs"/>
              </a:rPr>
              <a:t>Prandtl</a:t>
            </a:r>
            <a:r>
              <a:rPr lang="en-US" kern="0" dirty="0">
                <a:latin typeface="+mn-lt"/>
                <a:ea typeface="+mn-ea"/>
                <a:cs typeface="+mn-cs"/>
              </a:rPr>
              <a:t> numbers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	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7373329" y="2304098"/>
            <a:ext cx="2787478" cy="1087846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7463249" y="4096177"/>
            <a:ext cx="2607641" cy="1017663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7660213" y="722878"/>
            <a:ext cx="1301680" cy="682696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7643086" y="5888251"/>
            <a:ext cx="2099976" cy="388872"/>
          </a:xfrm>
          <a:prstGeom prst="rect">
            <a:avLst/>
          </a:prstGeom>
        </p:spPr>
      </p:pic>
    </p:spTree>
  </p:cSld>
  <p:clrMapOvr>
    <a:masterClrMapping/>
  </p:clrMapOvr>
  <p:transition advTm="46866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4" descr="fig_PiQ_3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351" y="1644515"/>
            <a:ext cx="7695538" cy="560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026"/>
          <p:cNvSpPr txBox="1">
            <a:spLocks noChangeArrowheads="1"/>
          </p:cNvSpPr>
          <p:nvPr/>
        </p:nvSpPr>
        <p:spPr bwMode="auto">
          <a:xfrm>
            <a:off x="809269" y="426685"/>
            <a:ext cx="7912841" cy="110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 anchor="ctr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sz="51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Curves of constant   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7959941" y="722878"/>
            <a:ext cx="1301680" cy="682696"/>
          </a:xfrm>
          <a:prstGeom prst="rect">
            <a:avLst/>
          </a:prstGeom>
        </p:spPr>
      </p:pic>
    </p:spTree>
  </p:cSld>
  <p:clrMapOvr>
    <a:masterClrMapping/>
  </p:clrMapOvr>
  <p:transition advTm="24849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57347" name="Picture 4" descr="fig_inter_1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66084" y="1621405"/>
            <a:ext cx="7695538" cy="5607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475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59395" name="Picture 4" descr="fig_inter_2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8617" y="1621406"/>
            <a:ext cx="7695538" cy="5609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2866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09268" y="426685"/>
            <a:ext cx="9171702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61443" name="Picture 4" descr="fig_inter_3.t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351" y="1644515"/>
            <a:ext cx="7695538" cy="560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42816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9430" y="341348"/>
            <a:ext cx="9621296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Bifurcation condition</a:t>
            </a:r>
            <a:endParaRPr lang="en-US" dirty="0"/>
          </a:p>
        </p:txBody>
      </p:sp>
      <p:pic>
        <p:nvPicPr>
          <p:cNvPr id="63491" name="Picture 10" descr="latex-image-1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920" y="5717575"/>
            <a:ext cx="10612274" cy="110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2" name="TextBox 11"/>
          <p:cNvSpPr txBox="1">
            <a:spLocks noChangeArrowheads="1"/>
          </p:cNvSpPr>
          <p:nvPr/>
        </p:nvSpPr>
        <p:spPr bwMode="auto">
          <a:xfrm>
            <a:off x="666898" y="1621404"/>
            <a:ext cx="9241423" cy="52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4498" tIns="52249" rIns="104498" bIns="52249">
            <a:prstTxWarp prst="textNoShape">
              <a:avLst/>
            </a:prstTxWarp>
            <a:spAutoFit/>
          </a:bodyPr>
          <a:lstStyle/>
          <a:p>
            <a:r>
              <a:rPr lang="en-US" dirty="0"/>
              <a:t>Bifurcations only occur when Q</a:t>
            </a:r>
            <a:r>
              <a:rPr lang="en-US" baseline="-25000" dirty="0"/>
              <a:t>t </a:t>
            </a:r>
            <a:r>
              <a:rPr lang="en-US" dirty="0"/>
              <a:t>~ </a:t>
            </a:r>
            <a:r>
              <a:rPr lang="en-US" dirty="0" err="1"/>
              <a:t>Q</a:t>
            </a:r>
            <a:r>
              <a:rPr lang="en-US" baseline="-25000" dirty="0" err="1"/>
              <a:t>n</a:t>
            </a:r>
            <a:r>
              <a:rPr lang="en-US" dirty="0"/>
              <a:t> so take R/L</a:t>
            </a:r>
            <a:r>
              <a:rPr lang="en-US" baseline="-25000" dirty="0"/>
              <a:t>T</a:t>
            </a:r>
            <a:r>
              <a:rPr lang="en-US" dirty="0"/>
              <a:t> ≈ R/</a:t>
            </a:r>
            <a:r>
              <a:rPr lang="en-US" dirty="0" err="1"/>
              <a:t>L</a:t>
            </a:r>
            <a:r>
              <a:rPr lang="en-US" baseline="-25000" dirty="0" err="1"/>
              <a:t>Tc</a:t>
            </a:r>
            <a:endParaRPr lang="en-US" baseline="-25000" dirty="0"/>
          </a:p>
        </p:txBody>
      </p:sp>
      <p:sp>
        <p:nvSpPr>
          <p:cNvPr id="63493" name="Rectangle 12"/>
          <p:cNvSpPr>
            <a:spLocks noChangeArrowheads="1"/>
          </p:cNvSpPr>
          <p:nvPr/>
        </p:nvSpPr>
        <p:spPr bwMode="auto">
          <a:xfrm>
            <a:off x="629430" y="7033187"/>
            <a:ext cx="9621296" cy="4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8313" tIns="49155" rIns="98313" bIns="49155">
            <a:prstTxWarp prst="textNoShape">
              <a:avLst/>
            </a:prstTxWarp>
            <a:spAutoFit/>
          </a:bodyPr>
          <a:lstStyle/>
          <a:p>
            <a:pPr algn="ctr" defTabSz="983300"/>
            <a:r>
              <a:rPr lang="en-US" sz="2500" dirty="0" smtClean="0">
                <a:solidFill>
                  <a:schemeClr val="tx2"/>
                </a:solidFill>
              </a:rPr>
              <a:t>Parra </a:t>
            </a:r>
            <a:r>
              <a:rPr lang="en-US" sz="2500" i="1" dirty="0">
                <a:solidFill>
                  <a:schemeClr val="tx2"/>
                </a:solidFill>
              </a:rPr>
              <a:t>et al.</a:t>
            </a:r>
            <a:r>
              <a:rPr lang="en-US" sz="2500" dirty="0">
                <a:solidFill>
                  <a:schemeClr val="tx2"/>
                </a:solidFill>
              </a:rPr>
              <a:t>, PRL submitted (2010), arXiv:1009.0733 </a:t>
            </a:r>
          </a:p>
        </p:txBody>
      </p:sp>
      <p:pic>
        <p:nvPicPr>
          <p:cNvPr id="63494" name="Picture 6" descr="latex-image-1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513" y="3546820"/>
            <a:ext cx="4226177" cy="1061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bifurcation_regions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120" y="2730782"/>
            <a:ext cx="5044436" cy="2688114"/>
          </a:xfrm>
          <a:prstGeom prst="rect">
            <a:avLst/>
          </a:prstGeom>
        </p:spPr>
      </p:pic>
    </p:spTree>
  </p:cSld>
  <p:clrMapOvr>
    <a:masterClrMapping/>
  </p:clrMapOvr>
  <p:transition advTm="131283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9430" y="341348"/>
            <a:ext cx="9621296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Bifurcations in GS2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474143" y="3242804"/>
            <a:ext cx="3866502" cy="392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With inclusion of neoclassical fluxes, we see potential bifurcations to much larger flow shear and R/LT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Very similar to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simplified </a:t>
            </a:r>
            <a:r>
              <a:rPr lang="en-US" kern="0" dirty="0">
                <a:latin typeface="+mn-lt"/>
                <a:ea typeface="+mn-ea"/>
                <a:cs typeface="+mn-cs"/>
              </a:rPr>
              <a:t>model predictions</a:t>
            </a:r>
          </a:p>
        </p:txBody>
      </p:sp>
      <p:pic>
        <p:nvPicPr>
          <p:cNvPr id="67588" name="Picture 5" descr="gs2bifurcation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839" y="3328141"/>
            <a:ext cx="6129455" cy="3555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49594" y="1962750"/>
            <a:ext cx="9531377" cy="110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Use many nonlinear GS2 simulations to generate constant Pi/Q contours</a:t>
            </a:r>
          </a:p>
        </p:txBody>
      </p:sp>
      <p:sp>
        <p:nvSpPr>
          <p:cNvPr id="67590" name="Rectangle 12"/>
          <p:cNvSpPr>
            <a:spLocks noChangeArrowheads="1"/>
          </p:cNvSpPr>
          <p:nvPr/>
        </p:nvSpPr>
        <p:spPr bwMode="auto">
          <a:xfrm>
            <a:off x="89919" y="6997630"/>
            <a:ext cx="3326990" cy="4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313" tIns="49155" rIns="98313" bIns="49155">
            <a:prstTxWarp prst="textNoShape">
              <a:avLst/>
            </a:prstTxWarp>
            <a:spAutoFit/>
          </a:bodyPr>
          <a:lstStyle/>
          <a:p>
            <a:pPr defTabSz="983300"/>
            <a:r>
              <a:rPr lang="en-US" sz="2500" dirty="0" err="1" smtClean="0">
                <a:solidFill>
                  <a:schemeClr val="tx2"/>
                </a:solidFill>
              </a:rPr>
              <a:t>Highcock</a:t>
            </a:r>
            <a:r>
              <a:rPr lang="en-US" sz="2500" dirty="0" smtClean="0">
                <a:solidFill>
                  <a:schemeClr val="tx2"/>
                </a:solidFill>
              </a:rPr>
              <a:t> PRL (</a:t>
            </a:r>
            <a:r>
              <a:rPr lang="en-US" sz="2500" dirty="0">
                <a:solidFill>
                  <a:schemeClr val="tx2"/>
                </a:solidFill>
              </a:rPr>
              <a:t>2010</a:t>
            </a:r>
            <a:r>
              <a:rPr lang="en-US" sz="2500" dirty="0" smtClean="0">
                <a:solidFill>
                  <a:schemeClr val="tx2"/>
                </a:solidFill>
              </a:rPr>
              <a:t>)</a:t>
            </a:r>
            <a:endParaRPr lang="en-US" sz="25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Tm="73933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9430" y="170674"/>
            <a:ext cx="9621296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Extension to 1D (radial)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69756" y="1450728"/>
            <a:ext cx="10520482" cy="110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Choose profiles for Pi and Q. Set T, T’ at outer boundary</a:t>
            </a:r>
          </a:p>
          <a:p>
            <a:pPr marL="415454" indent="-415454" defTabSz="1104853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Here,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Q~sqrt(r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/a), Pi/Q=0.1, Edge T=2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keV</a:t>
            </a:r>
            <a:endParaRPr lang="en-US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wolfITB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193" y="3793316"/>
            <a:ext cx="3504700" cy="3474894"/>
          </a:xfrm>
          <a:prstGeom prst="rect">
            <a:avLst/>
          </a:prstGeom>
        </p:spPr>
      </p:pic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259045" y="3242804"/>
            <a:ext cx="3506827" cy="4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8313" tIns="49155" rIns="98313" bIns="49155">
            <a:prstTxWarp prst="textNoShape">
              <a:avLst/>
            </a:prstTxWarp>
            <a:spAutoFit/>
          </a:bodyPr>
          <a:lstStyle/>
          <a:p>
            <a:pPr algn="ctr" defTabSz="983300"/>
            <a:r>
              <a:rPr lang="en-US" sz="2500" dirty="0" smtClean="0">
                <a:solidFill>
                  <a:schemeClr val="tx2"/>
                </a:solidFill>
              </a:rPr>
              <a:t>Wolf, PPCF </a:t>
            </a:r>
            <a:r>
              <a:rPr lang="en-US" sz="2500" b="1" dirty="0" smtClean="0">
                <a:solidFill>
                  <a:schemeClr val="tx2"/>
                </a:solidFill>
              </a:rPr>
              <a:t>45 </a:t>
            </a:r>
            <a:r>
              <a:rPr lang="en-US" sz="2500" dirty="0" smtClean="0">
                <a:solidFill>
                  <a:schemeClr val="tx2"/>
                </a:solidFill>
              </a:rPr>
              <a:t>(2003)</a:t>
            </a:r>
            <a:endParaRPr lang="en-US" sz="2500" dirty="0">
              <a:solidFill>
                <a:schemeClr val="tx2"/>
              </a:solidFill>
            </a:endParaRPr>
          </a:p>
        </p:txBody>
      </p:sp>
      <p:pic>
        <p:nvPicPr>
          <p:cNvPr id="12" name="Picture 11" descr="QvsRL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4239" y="2986793"/>
            <a:ext cx="7148533" cy="4522858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advTm="245833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8" descr="msgrid_mod2.pd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351" y="3546820"/>
            <a:ext cx="9259748" cy="3792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9860" name="Rectangle 4"/>
          <p:cNvSpPr>
            <a:spLocks noGrp="1" noChangeArrowheads="1"/>
          </p:cNvSpPr>
          <p:nvPr>
            <p:ph type="title"/>
          </p:nvPr>
        </p:nvSpPr>
        <p:spPr>
          <a:xfrm>
            <a:off x="151741" y="257789"/>
            <a:ext cx="10533595" cy="680917"/>
          </a:xfrm>
        </p:spPr>
        <p:txBody>
          <a:bodyPr/>
          <a:lstStyle/>
          <a:p>
            <a:pPr algn="ctr">
              <a:defRPr/>
            </a:pPr>
            <a:r>
              <a:rPr lang="en-US" sz="4300" dirty="0" smtClean="0"/>
              <a:t>The future: </a:t>
            </a:r>
            <a:r>
              <a:rPr lang="en-US" sz="4300" dirty="0" err="1" smtClean="0"/>
              <a:t>multiscale</a:t>
            </a:r>
            <a:r>
              <a:rPr lang="en-US" sz="4300" dirty="0" smtClean="0"/>
              <a:t> simulation</a:t>
            </a:r>
            <a:endParaRPr lang="en-US" dirty="0"/>
          </a:p>
        </p:txBody>
      </p:sp>
      <p:sp>
        <p:nvSpPr>
          <p:cNvPr id="249866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629432" y="1450728"/>
            <a:ext cx="9261621" cy="1450728"/>
          </a:xfrm>
        </p:spPr>
        <p:txBody>
          <a:bodyPr lIns="103892" tIns="51945" rIns="103892" bIns="51945"/>
          <a:lstStyle/>
          <a:p>
            <a:pPr marL="415454" indent="-415454" defTabSz="1104853">
              <a:lnSpc>
                <a:spcPct val="90000"/>
              </a:lnSpc>
              <a:defRPr/>
            </a:pPr>
            <a:r>
              <a:rPr lang="en-US" sz="2500" dirty="0" smtClean="0"/>
              <a:t>In TRINITY [Barnes </a:t>
            </a:r>
            <a:r>
              <a:rPr lang="en-US" sz="2500" i="1" dirty="0" smtClean="0"/>
              <a:t>et al.</a:t>
            </a:r>
            <a:r>
              <a:rPr lang="en-US" sz="2500" dirty="0" smtClean="0"/>
              <a:t>, </a:t>
            </a:r>
            <a:r>
              <a:rPr lang="en-US" sz="2500" dirty="0" err="1" smtClean="0"/>
              <a:t>PoP</a:t>
            </a:r>
            <a:r>
              <a:rPr lang="en-US" sz="2500" dirty="0" smtClean="0"/>
              <a:t> </a:t>
            </a:r>
            <a:r>
              <a:rPr lang="en-US" sz="2500" b="1" dirty="0" smtClean="0"/>
              <a:t>17, </a:t>
            </a:r>
            <a:r>
              <a:rPr lang="en-US" sz="2500" dirty="0" smtClean="0"/>
              <a:t>056109 (2010)], turbulent fluctuations calculated in small regions of fine space-time grid embedded in “coarse” grid (for mean quantities)</a:t>
            </a:r>
          </a:p>
        </p:txBody>
      </p:sp>
      <p:sp>
        <p:nvSpPr>
          <p:cNvPr id="69637" name="Line 11"/>
          <p:cNvSpPr>
            <a:spLocks noChangeShapeType="1"/>
          </p:cNvSpPr>
          <p:nvPr/>
        </p:nvSpPr>
        <p:spPr bwMode="auto">
          <a:xfrm flipH="1">
            <a:off x="4316095" y="3072130"/>
            <a:ext cx="1777768" cy="162140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lIns="104498" tIns="52249" rIns="104498" bIns="52249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38" name="Rectangle 12"/>
          <p:cNvSpPr>
            <a:spLocks noChangeArrowheads="1"/>
          </p:cNvSpPr>
          <p:nvPr/>
        </p:nvSpPr>
        <p:spPr bwMode="auto">
          <a:xfrm>
            <a:off x="6133202" y="2730782"/>
            <a:ext cx="4567118" cy="4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8313" tIns="49155" rIns="98313" bIns="49155">
            <a:prstTxWarp prst="textNoShape">
              <a:avLst/>
            </a:prstTxWarp>
            <a:spAutoFit/>
          </a:bodyPr>
          <a:lstStyle/>
          <a:p>
            <a:pPr defTabSz="983300"/>
            <a:r>
              <a:rPr lang="en-US" sz="2500" dirty="0">
                <a:solidFill>
                  <a:schemeClr val="tx2"/>
                </a:solidFill>
              </a:rPr>
              <a:t>Flux tube simulation domain</a:t>
            </a:r>
          </a:p>
        </p:txBody>
      </p:sp>
      <p:sp>
        <p:nvSpPr>
          <p:cNvPr id="69639" name="Line 13"/>
          <p:cNvSpPr>
            <a:spLocks noChangeShapeType="1"/>
          </p:cNvSpPr>
          <p:nvPr/>
        </p:nvSpPr>
        <p:spPr bwMode="auto">
          <a:xfrm>
            <a:off x="6114469" y="3072130"/>
            <a:ext cx="449593" cy="162140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lIns="104498" tIns="52249" rIns="104498" bIns="52249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640" name="Line 14"/>
          <p:cNvSpPr>
            <a:spLocks noChangeShapeType="1"/>
          </p:cNvSpPr>
          <p:nvPr/>
        </p:nvSpPr>
        <p:spPr bwMode="auto">
          <a:xfrm flipH="1">
            <a:off x="4765688" y="3072130"/>
            <a:ext cx="1348780" cy="1792076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lIns="104498" tIns="52249" rIns="104498" bIns="52249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advTm="140516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809268" y="6997629"/>
            <a:ext cx="2247966" cy="5120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731" name="Footer Placeholder 4"/>
          <p:cNvSpPr>
            <a:spLocks noGrp="1"/>
          </p:cNvSpPr>
          <p:nvPr>
            <p:ph type="ftr" sz="quarter" idx="4294967295"/>
          </p:nvPr>
        </p:nvSpPr>
        <p:spPr bwMode="auto">
          <a:xfrm>
            <a:off x="3686666" y="6997629"/>
            <a:ext cx="3416909" cy="5120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498" tIns="52249" rIns="104498" bIns="52249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09268" y="483577"/>
            <a:ext cx="9171702" cy="1052488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300" dirty="0" smtClean="0"/>
              <a:t>Conclusions and future directions</a:t>
            </a:r>
            <a:endParaRPr lang="en-US" sz="4300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94" y="2218761"/>
            <a:ext cx="10070889" cy="452285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defRPr/>
            </a:pPr>
            <a:r>
              <a:rPr lang="en-US" sz="2600" dirty="0" smtClean="0"/>
              <a:t>Mean flow shear can fully suppress turbulence in </a:t>
            </a:r>
            <a:r>
              <a:rPr lang="en-US" sz="2600" dirty="0" err="1" smtClean="0"/>
              <a:t>tokamak</a:t>
            </a:r>
            <a:r>
              <a:rPr lang="en-US" sz="2600" dirty="0" smtClean="0"/>
              <a:t> plasmas (in certain parameter regimes)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defRPr/>
            </a:pPr>
            <a:r>
              <a:rPr lang="en-US" sz="2600" dirty="0" smtClean="0"/>
              <a:t>Turbulence suppression can give rise to bifurcation in flow shear and temperature gradient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defRPr/>
            </a:pPr>
            <a:r>
              <a:rPr lang="en-US" sz="2600" dirty="0" smtClean="0"/>
              <a:t>Such bifurcations are candidates for thermal transport barriers in core of </a:t>
            </a:r>
            <a:r>
              <a:rPr lang="en-US" sz="2600" dirty="0" err="1" smtClean="0"/>
              <a:t>tokamak</a:t>
            </a:r>
            <a:r>
              <a:rPr lang="en-US" sz="2600" dirty="0" smtClean="0"/>
              <a:t> experiments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defRPr/>
            </a:pPr>
            <a:r>
              <a:rPr lang="en-US" sz="2600" dirty="0" smtClean="0"/>
              <a:t>Still a lot of work to be done in understanding underlying theory and determining parametric dependencies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defRPr/>
            </a:pPr>
            <a:r>
              <a:rPr lang="en-US" sz="2600" dirty="0" smtClean="0"/>
              <a:t>Need self-consistent treatment including back-reaction of turbulence on mean flow (evolution of mean profiles)</a:t>
            </a:r>
          </a:p>
        </p:txBody>
      </p:sp>
    </p:spTree>
  </p:cSld>
  <p:clrMapOvr>
    <a:masterClrMapping/>
  </p:clrMapOvr>
  <p:transition advTm="8966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9430" y="512022"/>
            <a:ext cx="9621296" cy="1109380"/>
          </a:xfrm>
        </p:spPr>
        <p:txBody>
          <a:bodyPr/>
          <a:lstStyle/>
          <a:p>
            <a:pPr algn="ctr">
              <a:defRPr/>
            </a:pPr>
            <a:r>
              <a:rPr lang="en-US" dirty="0" smtClean="0"/>
              <a:t>Extension to 1D (radial)</a:t>
            </a:r>
            <a:endParaRPr lang="en-US" dirty="0"/>
          </a:p>
        </p:txBody>
      </p:sp>
      <p:pic>
        <p:nvPicPr>
          <p:cNvPr id="8" name="Picture 7" descr="toyprofs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798374" y="2218761"/>
            <a:ext cx="7103573" cy="4494413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advTm="35383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shbowl">
  <a:themeElements>
    <a:clrScheme name="">
      <a:dk1>
        <a:srgbClr val="3E3E5C"/>
      </a:dk1>
      <a:lt1>
        <a:srgbClr val="FFEA0F"/>
      </a:lt1>
      <a:dk2>
        <a:srgbClr val="90C0E5"/>
      </a:dk2>
      <a:lt2>
        <a:srgbClr val="CEFF03"/>
      </a:lt2>
      <a:accent1>
        <a:srgbClr val="60597B"/>
      </a:accent1>
      <a:accent2>
        <a:srgbClr val="6666FF"/>
      </a:accent2>
      <a:accent3>
        <a:srgbClr val="C6DCF0"/>
      </a:accent3>
      <a:accent4>
        <a:srgbClr val="DAC80B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Fishbowl">
      <a:majorFont>
        <a:latin typeface="Century Gothic"/>
        <a:ea typeface="ヒラギノ角ゴ Pro W3"/>
        <a:cs typeface="ヒラギノ角ゴ Pro W3"/>
      </a:majorFont>
      <a:minorFont>
        <a:latin typeface="Century Gothic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Fishbowl 1">
        <a:dk1>
          <a:srgbClr val="777777"/>
        </a:dk1>
        <a:lt1>
          <a:srgbClr val="FFFFFF"/>
        </a:lt1>
        <a:dk2>
          <a:srgbClr val="90C0E5"/>
        </a:dk2>
        <a:lt2>
          <a:srgbClr val="FFFFFF"/>
        </a:lt2>
        <a:accent1>
          <a:srgbClr val="909082"/>
        </a:accent1>
        <a:accent2>
          <a:srgbClr val="809EA8"/>
        </a:accent2>
        <a:accent3>
          <a:srgbClr val="C6DCF0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shbowl 2">
        <a:dk1>
          <a:srgbClr val="3E3E5C"/>
        </a:dk1>
        <a:lt1>
          <a:srgbClr val="FFFFFF"/>
        </a:lt1>
        <a:dk2>
          <a:srgbClr val="90C0E5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C6DCF0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2004:Templates:Presentations:Designs:Fishbowl</Template>
  <TotalTime>17729</TotalTime>
  <Words>577</Words>
  <Application>Microsoft Macintosh PowerPoint</Application>
  <PresentationFormat>Custom</PresentationFormat>
  <Paragraphs>106</Paragraphs>
  <Slides>22</Slides>
  <Notes>22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Fishbowl</vt:lpstr>
      <vt:lpstr>Reduced transport regions in rotating tokamak plasmas</vt:lpstr>
      <vt:lpstr>Slide 2</vt:lpstr>
      <vt:lpstr>Overview</vt:lpstr>
      <vt:lpstr>Turbulent fluxes</vt:lpstr>
      <vt:lpstr>Turbulent Prandtl number</vt:lpstr>
      <vt:lpstr>Power/Torque balance for beam injection</vt:lpstr>
      <vt:lpstr>Model fluxes</vt:lpstr>
      <vt:lpstr>Model fluxes</vt:lpstr>
      <vt:lpstr>Balance w/o neoclassical</vt:lpstr>
      <vt:lpstr>Neoclassical energy flux</vt:lpstr>
      <vt:lpstr>Balance with neoclassical</vt:lpstr>
      <vt:lpstr>Curves of constant   </vt:lpstr>
      <vt:lpstr>Slide 13</vt:lpstr>
      <vt:lpstr>Possible solutions</vt:lpstr>
      <vt:lpstr>Possible solutions</vt:lpstr>
      <vt:lpstr>Possible solutions</vt:lpstr>
      <vt:lpstr>Bifurcation condition</vt:lpstr>
      <vt:lpstr>Bifurcations in GS2</vt:lpstr>
      <vt:lpstr>Extension to 1D (radial)</vt:lpstr>
      <vt:lpstr>The future: multiscale simulation</vt:lpstr>
      <vt:lpstr>Conclusions and future directions</vt:lpstr>
      <vt:lpstr>Extension to 1D (radial)</vt:lpstr>
    </vt:vector>
  </TitlesOfParts>
  <Company>Michael Barnes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Velocity-space resolution in continuum gyrokinetics</dc:title>
  <dc:creator>Michael Barnes</dc:creator>
  <cp:lastModifiedBy>Michael Barnes</cp:lastModifiedBy>
  <cp:revision>450</cp:revision>
  <cp:lastPrinted>2010-12-08T01:32:56Z</cp:lastPrinted>
  <dcterms:created xsi:type="dcterms:W3CDTF">2010-12-08T01:30:05Z</dcterms:created>
  <dcterms:modified xsi:type="dcterms:W3CDTF">2010-12-08T01:34:13Z</dcterms:modified>
</cp:coreProperties>
</file>