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74" r:id="rId2"/>
    <p:sldId id="257" r:id="rId3"/>
    <p:sldId id="259" r:id="rId4"/>
    <p:sldId id="260" r:id="rId5"/>
    <p:sldId id="271" r:id="rId6"/>
    <p:sldId id="264" r:id="rId7"/>
    <p:sldId id="265" r:id="rId8"/>
    <p:sldId id="267" r:id="rId9"/>
    <p:sldId id="269" r:id="rId10"/>
    <p:sldId id="261" r:id="rId11"/>
    <p:sldId id="262" r:id="rId12"/>
    <p:sldId id="275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hiddenSlides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7B001-2DAA-BD46-B10D-2D1F1CB37D8F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DF300-4C43-D847-BF1A-9B2D178568A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DCFFA-ACBF-43AE-81F5-516460656C69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6B19A-44C6-42B5-97E4-0833FD0C55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6B19A-44C6-42B5-97E4-0833FD0C555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6B19A-44C6-42B5-97E4-0833FD0C555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6B19A-44C6-42B5-97E4-0833FD0C555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Purpose:  Acquire, assemble and analyze data obtained from local agencies for tracking housing stock</a:t>
            </a:r>
            <a:r>
              <a:rPr lang="en-US" baseline="0" dirty="0" smtClean="0"/>
              <a:t>. Trends in vacancies, sales, sale prices.  Feasibility for maintaining a national database. Short-medium, long-term needs. Evaluate impact of NSP, analyze other HUD programs that help </a:t>
            </a:r>
            <a:r>
              <a:rPr lang="en-US" baseline="0" dirty="0" err="1" smtClean="0"/>
              <a:t>alleciate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foreclsoures</a:t>
            </a:r>
            <a:r>
              <a:rPr lang="en-US" baseline="0" dirty="0" smtClean="0"/>
              <a:t>, stabilize communities and help in recovery efforts </a:t>
            </a:r>
            <a:r>
              <a:rPr lang="en-US" baseline="0" smtClean="0"/>
              <a:t>after disasters.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46B19A-44C6-42B5-97E4-0833FD0C555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57B350D-5F14-43D3-9277-6D58DFB98D8A}" type="datetimeFigureOut">
              <a:rPr lang="en-US" smtClean="0"/>
              <a:pPr/>
              <a:t>6/16/2011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8A409C4-8CA4-4780-80E5-FEB3E167145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9906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2"/>
                </a:solidFill>
              </a:rPr>
              <a:t>HUD Parcel Data Activities</a:t>
            </a:r>
            <a:r>
              <a:rPr lang="en-US" dirty="0" smtClean="0">
                <a:solidFill>
                  <a:schemeClr val="accent2"/>
                </a:solidFill>
              </a:rPr>
              <a:t/>
            </a:r>
            <a:br>
              <a:rPr lang="en-US" dirty="0" smtClean="0">
                <a:solidFill>
                  <a:schemeClr val="accent2"/>
                </a:solidFill>
              </a:rPr>
            </a:br>
            <a:r>
              <a:rPr lang="en-US" i="1" dirty="0" smtClean="0">
                <a:solidFill>
                  <a:schemeClr val="accent4"/>
                </a:solidFill>
              </a:rPr>
              <a:t>Exploratory</a:t>
            </a:r>
            <a:endParaRPr lang="en-US" i="1" dirty="0">
              <a:solidFill>
                <a:schemeClr val="accent4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697480"/>
            <a:ext cx="8229600" cy="3017520"/>
          </a:xfrm>
        </p:spPr>
        <p:txBody>
          <a:bodyPr>
            <a:normAutofit fontScale="40000" lnSpcReduction="20000"/>
          </a:bodyPr>
          <a:lstStyle/>
          <a:p>
            <a:r>
              <a:rPr lang="en-US" sz="3636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Develop Tools for Neighborhood Recovery in the Gulf Region – </a:t>
            </a:r>
            <a:r>
              <a:rPr lang="en-US" sz="3636" i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focus on parcel boundaries</a:t>
            </a:r>
          </a:p>
          <a:p>
            <a:pPr>
              <a:buNone/>
            </a:pPr>
            <a:endParaRPr lang="en-US" sz="3636" i="1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636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County Data Records Project– </a:t>
            </a:r>
            <a:r>
              <a:rPr lang="en-US" sz="3636" i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focus on assessment information</a:t>
            </a:r>
          </a:p>
          <a:p>
            <a:pPr>
              <a:buNone/>
            </a:pPr>
            <a:endParaRPr lang="en-US" sz="3636" i="1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636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Ad hoc research projects/contracts</a:t>
            </a:r>
          </a:p>
          <a:p>
            <a:pPr>
              <a:buNone/>
            </a:pPr>
            <a:endParaRPr lang="en-US" sz="3636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636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Exploratory/ lessons learned</a:t>
            </a:r>
          </a:p>
          <a:p>
            <a:pPr>
              <a:buNone/>
            </a:pPr>
            <a:endParaRPr lang="en-US" sz="3636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636" i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NRC Report 2002 – Urban Spatial Data Infrastructure</a:t>
            </a:r>
          </a:p>
          <a:p>
            <a:r>
              <a:rPr lang="en-US" sz="3636" i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NRC Report 2007 – National Land Parcel Data</a:t>
            </a:r>
          </a:p>
          <a:p>
            <a:r>
              <a:rPr lang="en-US" sz="3636" i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HUD/PD&amp;R County Records Project 2011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67400" y="5562600"/>
            <a:ext cx="2635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Jon </a:t>
            </a:r>
            <a:r>
              <a:rPr lang="en-US" dirty="0" err="1" smtClean="0"/>
              <a:t>Sperling</a:t>
            </a:r>
            <a:endParaRPr lang="en-US" dirty="0" smtClean="0"/>
          </a:p>
          <a:p>
            <a:pPr algn="r"/>
            <a:r>
              <a:rPr lang="en-US" dirty="0" smtClean="0"/>
              <a:t>June 2011 NGAC Meeting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38200"/>
            <a:ext cx="7620000" cy="704088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2"/>
                </a:solidFill>
              </a:rPr>
              <a:t>HUD Thumbnail Sketch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891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40 billion dollars/ 9,000 employees</a:t>
            </a:r>
          </a:p>
          <a:p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Works with ~23000 organizations</a:t>
            </a:r>
          </a:p>
          <a:p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Community-based (over 90 offices)</a:t>
            </a:r>
          </a:p>
          <a:p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Safe Affordable Housing+ Vibrant Sustainable Inclusive Livable Communities</a:t>
            </a:r>
          </a:p>
          <a:p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Holistic  approach - housing, transportation, environment, health, education, employment, energy – regional, metropolitan</a:t>
            </a:r>
          </a:p>
          <a:p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Fiscal constraints; leveraging data &amp; technology to focus priorities, measure impacts and target funding (foreclosures, neighborhood blight, disasters)</a:t>
            </a:r>
          </a:p>
          <a:p>
            <a:r>
              <a:rPr lang="en-US" sz="1800" dirty="0" err="1" smtClean="0">
                <a:solidFill>
                  <a:schemeClr val="accent2"/>
                </a:solidFill>
                <a:latin typeface="Arial"/>
              </a:rPr>
              <a:t>Geoenabling</a:t>
            </a:r>
            <a:r>
              <a:rPr lang="en-US" sz="1800" dirty="0" smtClean="0">
                <a:solidFill>
                  <a:schemeClr val="accent2"/>
                </a:solidFill>
                <a:latin typeface="Arial"/>
              </a:rPr>
              <a:t> performance, </a:t>
            </a:r>
            <a:r>
              <a:rPr lang="en-US" sz="1800" dirty="0" err="1" smtClean="0">
                <a:solidFill>
                  <a:schemeClr val="accent2"/>
                </a:solidFill>
                <a:latin typeface="Arial"/>
              </a:rPr>
              <a:t>HUDStat</a:t>
            </a:r>
            <a:endParaRPr lang="en-US" sz="1800" dirty="0" smtClean="0">
              <a:solidFill>
                <a:schemeClr val="accent2"/>
              </a:solidFill>
              <a:latin typeface="Arial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914400"/>
            <a:ext cx="8001000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2200" b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Parcel Project: Gulf Coast: Multi-Agency </a:t>
            </a: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Disaster </a:t>
            </a:r>
            <a:r>
              <a:rPr lang="en-US" sz="2200" b="1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Recovery Coordination</a:t>
            </a:r>
            <a:endParaRPr lang="en-US" sz="2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5459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424863" cy="50292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18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Two-fold:</a:t>
            </a:r>
            <a:r>
              <a:rPr lang="en-US" sz="1800" b="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 Damage Assessment, Recovery </a:t>
            </a:r>
            <a:r>
              <a:rPr lang="en-US" sz="18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Grants &amp; Loans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18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Neighborhoods need majority of properties in recovery in order to stabilize entire neighborhood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18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Need to find damaged properties that have NOT applied for recovery grants</a:t>
            </a: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r>
              <a:rPr lang="en-US" sz="2100" b="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100" b="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</a:br>
            <a:endParaRPr lang="en-US" sz="2100" b="0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Char char="•"/>
            </a:pPr>
            <a:endParaRPr lang="en-US" sz="2100" b="0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1800" b="0" i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Requires parcel maps to identify neighborhoods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1800" b="0" i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Requires ability to link addresses with parcels</a:t>
            </a:r>
            <a:endParaRPr lang="en-US" sz="1800" i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75460" name="Picture 1028" descr="Harrisonparcel"/>
          <p:cNvPicPr>
            <a:picLocks noChangeAspect="1" noChangeArrowheads="1"/>
          </p:cNvPicPr>
          <p:nvPr/>
        </p:nvPicPr>
        <p:blipFill>
          <a:blip r:embed="rId3" cstate="print"/>
          <a:srcRect l="7500" t="9880" r="5000" b="3380"/>
          <a:stretch>
            <a:fillRect/>
          </a:stretch>
        </p:blipFill>
        <p:spPr bwMode="auto">
          <a:xfrm>
            <a:off x="3200400" y="3124200"/>
            <a:ext cx="3733800" cy="27384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0600"/>
            <a:ext cx="7162800" cy="1295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800" b="1" dirty="0" smtClean="0">
                <a:solidFill>
                  <a:schemeClr val="accent2"/>
                </a:solidFill>
                <a:latin typeface="Arial"/>
              </a:rPr>
              <a:t>With HUD’s unique access to data sources, can we contribute ways to measure and track recovery and still protect individual privacy?</a:t>
            </a:r>
            <a:r>
              <a:rPr lang="en-US" sz="2800" dirty="0" smtClean="0">
                <a:solidFill>
                  <a:schemeClr val="accent2"/>
                </a:solidFill>
                <a:latin typeface="Arial"/>
              </a:rPr>
              <a:t/>
            </a:r>
            <a:br>
              <a:rPr lang="en-US" sz="2800" dirty="0" smtClean="0">
                <a:solidFill>
                  <a:schemeClr val="accent2"/>
                </a:solidFill>
                <a:latin typeface="Arial"/>
              </a:rPr>
            </a:br>
            <a:endParaRPr lang="en-US" sz="2800" b="1" dirty="0">
              <a:solidFill>
                <a:schemeClr val="accent2"/>
              </a:solidFill>
              <a:latin typeface="Gill Sans MT" pitchFamily="34" charset="0"/>
            </a:endParaRPr>
          </a:p>
        </p:txBody>
      </p:sp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62200"/>
            <a:ext cx="8424862" cy="3889375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sz="2200" b="0" dirty="0" smtClean="0">
                <a:solidFill>
                  <a:schemeClr val="accent2"/>
                </a:solidFill>
              </a:rPr>
              <a:t>Damage </a:t>
            </a:r>
            <a:r>
              <a:rPr lang="en-US" sz="2200" b="0" dirty="0">
                <a:solidFill>
                  <a:schemeClr val="accent2"/>
                </a:solidFill>
              </a:rPr>
              <a:t>assessment by address - FEMA</a:t>
            </a:r>
          </a:p>
          <a:p>
            <a:pPr>
              <a:buFontTx/>
              <a:buChar char="•"/>
            </a:pPr>
            <a:r>
              <a:rPr lang="en-US" sz="2200" b="0" dirty="0">
                <a:solidFill>
                  <a:schemeClr val="accent2"/>
                </a:solidFill>
              </a:rPr>
              <a:t>Flood depth by address –  NOAA/HUD</a:t>
            </a:r>
          </a:p>
          <a:p>
            <a:pPr>
              <a:buFontTx/>
              <a:buChar char="•"/>
            </a:pPr>
            <a:r>
              <a:rPr lang="en-US" sz="2200" b="0" dirty="0">
                <a:solidFill>
                  <a:schemeClr val="accent2"/>
                </a:solidFill>
              </a:rPr>
              <a:t>Recovery grants by address -  FEMA, SBA, HUD, State, etc.</a:t>
            </a:r>
          </a:p>
          <a:p>
            <a:pPr>
              <a:buFontTx/>
              <a:buChar char="•"/>
            </a:pPr>
            <a:r>
              <a:rPr lang="en-US" sz="2200" b="0" dirty="0">
                <a:solidFill>
                  <a:schemeClr val="accent2"/>
                </a:solidFill>
              </a:rPr>
              <a:t>Building permit – City</a:t>
            </a:r>
          </a:p>
          <a:p>
            <a:pPr>
              <a:buFontTx/>
              <a:buChar char="•"/>
            </a:pPr>
            <a:r>
              <a:rPr lang="en-US" sz="2200" b="0" dirty="0">
                <a:solidFill>
                  <a:schemeClr val="accent2"/>
                </a:solidFill>
              </a:rPr>
              <a:t>Vacancy data</a:t>
            </a:r>
            <a:r>
              <a:rPr lang="en-US" sz="2200" b="0" dirty="0" smtClean="0">
                <a:solidFill>
                  <a:schemeClr val="accent2"/>
                </a:solidFill>
              </a:rPr>
              <a:t> – USPS</a:t>
            </a:r>
          </a:p>
          <a:p>
            <a:pPr>
              <a:buFontTx/>
              <a:buChar char="•"/>
            </a:pPr>
            <a:r>
              <a:rPr lang="en-US" sz="2200" dirty="0" smtClean="0">
                <a:solidFill>
                  <a:schemeClr val="accent2"/>
                </a:solidFill>
              </a:rPr>
              <a:t>Utility data</a:t>
            </a:r>
          </a:p>
          <a:p>
            <a:pPr>
              <a:buNone/>
            </a:pPr>
            <a:endParaRPr lang="en-US" sz="2200" b="0" dirty="0" smtClean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US" sz="2400" dirty="0" smtClean="0">
                <a:solidFill>
                  <a:schemeClr val="accent2"/>
                </a:solidFill>
                <a:latin typeface="Arial"/>
              </a:rPr>
              <a:t>   If we can analyze at micro level, we can aggregate and present multiple views of recovery</a:t>
            </a:r>
          </a:p>
          <a:p>
            <a:pPr>
              <a:buFontTx/>
              <a:buChar char="•"/>
            </a:pPr>
            <a:endParaRPr lang="en-US" sz="2200" b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1026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2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24" name="Picture 1028" descr="fig-steward-katrina-fem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2413" y="0"/>
            <a:ext cx="10009188" cy="6923088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388" name="Picture 1028" descr="Depths_rv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-85725"/>
            <a:ext cx="9753600" cy="7029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40" name="Picture 4" descr="Progres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-85725"/>
            <a:ext cx="9753600" cy="7029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2" name="Picture 4" descr="Elevation Requirement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-85725"/>
            <a:ext cx="9753600" cy="7029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280400" cy="3600450"/>
          </a:xfrm>
          <a:noFill/>
          <a:ln/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None/>
            </a:pPr>
            <a:endParaRPr lang="en-US" sz="2000" b="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b="0" dirty="0">
                <a:solidFill>
                  <a:schemeClr val="accent2"/>
                </a:solidFill>
              </a:rPr>
              <a:t>Built on Successful </a:t>
            </a:r>
            <a:r>
              <a:rPr lang="en-US" sz="2000" b="0" dirty="0" smtClean="0">
                <a:solidFill>
                  <a:schemeClr val="accent2"/>
                </a:solidFill>
              </a:rPr>
              <a:t>Methodologies </a:t>
            </a:r>
            <a:r>
              <a:rPr lang="en-US" sz="2000" b="0" dirty="0">
                <a:solidFill>
                  <a:schemeClr val="accent2"/>
                </a:solidFill>
              </a:rPr>
              <a:t>to Estimate Damages – linking FEMA, HUD, Census, NOAA and Other </a:t>
            </a:r>
            <a:r>
              <a:rPr lang="en-US" sz="2000" b="0" dirty="0" smtClean="0">
                <a:solidFill>
                  <a:schemeClr val="accent2"/>
                </a:solidFill>
              </a:rPr>
              <a:t>Datasets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2000" b="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dirty="0" smtClean="0">
                <a:solidFill>
                  <a:schemeClr val="accent2"/>
                </a:solidFill>
              </a:rPr>
              <a:t>Availability of Digital Parcel Data</a:t>
            </a:r>
          </a:p>
          <a:p>
            <a:pPr>
              <a:lnSpc>
                <a:spcPct val="90000"/>
              </a:lnSpc>
              <a:buNone/>
            </a:pPr>
            <a:endParaRPr lang="en-US" sz="2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b="0" dirty="0" smtClean="0">
                <a:solidFill>
                  <a:schemeClr val="accent2"/>
                </a:solidFill>
              </a:rPr>
              <a:t>Content, Coverage, Data Quality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2000" b="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dirty="0" smtClean="0">
                <a:solidFill>
                  <a:schemeClr val="accent2"/>
                </a:solidFill>
              </a:rPr>
              <a:t>Property/</a:t>
            </a:r>
            <a:r>
              <a:rPr lang="en-US" sz="2000" dirty="0" err="1" smtClean="0">
                <a:solidFill>
                  <a:schemeClr val="accent2"/>
                </a:solidFill>
              </a:rPr>
              <a:t>Situs</a:t>
            </a:r>
            <a:r>
              <a:rPr lang="en-US" sz="2000" dirty="0" smtClean="0">
                <a:solidFill>
                  <a:schemeClr val="accent2"/>
                </a:solidFill>
              </a:rPr>
              <a:t> Address (</a:t>
            </a:r>
            <a:r>
              <a:rPr lang="en-US" sz="2000" dirty="0" err="1" smtClean="0">
                <a:solidFill>
                  <a:schemeClr val="accent2"/>
                </a:solidFill>
              </a:rPr>
              <a:t>vs</a:t>
            </a:r>
            <a:r>
              <a:rPr lang="en-US" sz="2000" dirty="0" smtClean="0">
                <a:solidFill>
                  <a:schemeClr val="accent2"/>
                </a:solidFill>
              </a:rPr>
              <a:t> owner address) – Key Enabling Variable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2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b="0" dirty="0" smtClean="0">
                <a:solidFill>
                  <a:schemeClr val="accent2"/>
                </a:solidFill>
              </a:rPr>
              <a:t>Address Matching Capability: HUD’s </a:t>
            </a:r>
            <a:r>
              <a:rPr lang="en-US" sz="2000" b="0" dirty="0">
                <a:solidFill>
                  <a:schemeClr val="accent2"/>
                </a:solidFill>
              </a:rPr>
              <a:t>“</a:t>
            </a:r>
            <a:r>
              <a:rPr lang="en-US" sz="2000" b="0" dirty="0" err="1">
                <a:solidFill>
                  <a:schemeClr val="accent2"/>
                </a:solidFill>
              </a:rPr>
              <a:t>Geocode</a:t>
            </a:r>
            <a:r>
              <a:rPr lang="en-US" sz="2000" b="0" dirty="0">
                <a:solidFill>
                  <a:schemeClr val="accent2"/>
                </a:solidFill>
              </a:rPr>
              <a:t> Service Center” - Key Enabling </a:t>
            </a:r>
            <a:r>
              <a:rPr lang="en-US" sz="2000" b="0" dirty="0" smtClean="0">
                <a:solidFill>
                  <a:schemeClr val="accent2"/>
                </a:solidFill>
              </a:rPr>
              <a:t>Resource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2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b="0" dirty="0" smtClean="0">
                <a:solidFill>
                  <a:schemeClr val="accent2"/>
                </a:solidFill>
              </a:rPr>
              <a:t>Link postal, parcel and census data (MAF/TIGER?)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2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b="0" dirty="0" smtClean="0">
                <a:solidFill>
                  <a:schemeClr val="accent2"/>
                </a:solidFill>
              </a:rPr>
              <a:t>Value of (</a:t>
            </a:r>
            <a:r>
              <a:rPr lang="en-US" sz="2000" b="0" dirty="0" err="1" smtClean="0">
                <a:solidFill>
                  <a:schemeClr val="accent2"/>
                </a:solidFill>
              </a:rPr>
              <a:t>govt</a:t>
            </a:r>
            <a:r>
              <a:rPr lang="en-US" sz="2000" b="0" dirty="0" smtClean="0">
                <a:solidFill>
                  <a:schemeClr val="accent2"/>
                </a:solidFill>
              </a:rPr>
              <a:t>) data often goes beyond its original purpose</a:t>
            </a:r>
          </a:p>
          <a:p>
            <a:pPr>
              <a:lnSpc>
                <a:spcPct val="90000"/>
              </a:lnSpc>
              <a:buFontTx/>
              <a:buChar char="•"/>
            </a:pPr>
            <a:endParaRPr lang="en-US" sz="200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000" b="0" dirty="0" smtClean="0">
                <a:solidFill>
                  <a:schemeClr val="accent2"/>
                </a:solidFill>
              </a:rPr>
              <a:t>Local partnerships</a:t>
            </a:r>
            <a:br>
              <a:rPr lang="en-US" sz="2000" b="0" dirty="0" smtClean="0">
                <a:solidFill>
                  <a:schemeClr val="accent2"/>
                </a:solidFill>
              </a:rPr>
            </a:br>
            <a:endParaRPr lang="en-US" sz="2000" b="0" dirty="0" smtClean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sz="2000" b="0" dirty="0" smtClean="0">
              <a:solidFill>
                <a:schemeClr val="accent2"/>
              </a:solidFill>
            </a:endParaRPr>
          </a:p>
        </p:txBody>
      </p:sp>
      <p:sp>
        <p:nvSpPr>
          <p:cNvPr id="139271" name="Text Box 7"/>
          <p:cNvSpPr txBox="1">
            <a:spLocks noChangeArrowheads="1"/>
          </p:cNvSpPr>
          <p:nvPr/>
        </p:nvSpPr>
        <p:spPr bwMode="auto">
          <a:xfrm>
            <a:off x="228600" y="1143000"/>
            <a:ext cx="62277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solidFill>
                  <a:schemeClr val="accent2"/>
                </a:solidFill>
                <a:latin typeface="+mj-lt"/>
              </a:rPr>
              <a:t>Key</a:t>
            </a:r>
            <a:r>
              <a:rPr lang="en-US" sz="3200" b="1" dirty="0" smtClean="0">
                <a:solidFill>
                  <a:schemeClr val="accent2"/>
                </a:solidFill>
                <a:latin typeface="+mj-lt"/>
              </a:rPr>
              <a:t> Lessons – Gulf Parcel Project </a:t>
            </a:r>
            <a:endParaRPr lang="en-US" sz="3200" b="1" dirty="0">
              <a:solidFill>
                <a:schemeClr val="accent2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001000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b="1" dirty="0" smtClean="0">
                <a:solidFill>
                  <a:schemeClr val="accent2"/>
                </a:solidFill>
              </a:rPr>
              <a:t>County Data Records Project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468880"/>
            <a:ext cx="8686800" cy="3627120"/>
          </a:xfrm>
        </p:spPr>
        <p:txBody>
          <a:bodyPr/>
          <a:lstStyle/>
          <a:p>
            <a:pPr eaLnBrk="1" hangingPunct="1"/>
            <a:r>
              <a:rPr lang="en-US" sz="2200" dirty="0" smtClean="0">
                <a:solidFill>
                  <a:schemeClr val="accent2"/>
                </a:solidFill>
              </a:rPr>
              <a:t>Collect and standardize most recent residential assessor data from 127 NSP counties and 27 corresponding states to evaluate performance</a:t>
            </a:r>
          </a:p>
          <a:p>
            <a:pPr eaLnBrk="1" hangingPunct="1"/>
            <a:r>
              <a:rPr lang="en-US" sz="2200" dirty="0" smtClean="0">
                <a:solidFill>
                  <a:schemeClr val="accent2"/>
                </a:solidFill>
              </a:rPr>
              <a:t>Assist programs to alleviate foreclosures, stabilize communities, and help recovery efforts after natural disasters</a:t>
            </a:r>
          </a:p>
          <a:p>
            <a:pPr eaLnBrk="1" hangingPunct="1"/>
            <a:r>
              <a:rPr lang="en-US" sz="2200" dirty="0" smtClean="0">
                <a:solidFill>
                  <a:schemeClr val="accent2"/>
                </a:solidFill>
              </a:rPr>
              <a:t>Assess feasibility for a national parcel database</a:t>
            </a:r>
          </a:p>
          <a:p>
            <a:pPr eaLnBrk="1" hangingPunct="1"/>
            <a:r>
              <a:rPr lang="en-US" sz="2200" dirty="0" smtClean="0">
                <a:solidFill>
                  <a:schemeClr val="accent2"/>
                </a:solidFill>
              </a:rPr>
              <a:t>Status: Pilot Data Collection completed. Waiting OMB approval for Main Data Collection</a:t>
            </a:r>
            <a:r>
              <a:rPr lang="en-US" sz="2200" dirty="0" smtClean="0">
                <a:solidFill>
                  <a:srgbClr val="000066"/>
                </a:solidFill>
              </a:rPr>
              <a:t>.</a:t>
            </a: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7" name="Rectangle 2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24800" y="6492875"/>
            <a:ext cx="914400" cy="365125"/>
          </a:xfrm>
          <a:ln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8433" name="Rectangle 22"/>
          <p:cNvSpPr txBox="1">
            <a:spLocks noGrp="1" noChangeArrowheads="1"/>
          </p:cNvSpPr>
          <p:nvPr/>
        </p:nvSpPr>
        <p:spPr bwMode="auto">
          <a:xfrm>
            <a:off x="7788275" y="6515100"/>
            <a:ext cx="6635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CBF5216-04F8-4AAC-B90F-051C4ECCE80B}" type="slidenum">
              <a:rPr lang="en-US" sz="1200" b="1">
                <a:solidFill>
                  <a:srgbClr val="C7D2DF"/>
                </a:solidFill>
              </a:rPr>
              <a:pPr algn="r"/>
              <a:t>10</a:t>
            </a:fld>
            <a:endParaRPr lang="en-US" sz="1200" b="1">
              <a:solidFill>
                <a:srgbClr val="C7D2DF"/>
              </a:solidFill>
            </a:endParaRPr>
          </a:p>
        </p:txBody>
      </p:sp>
      <p:sp>
        <p:nvSpPr>
          <p:cNvPr id="18434" name="Rectangle 22"/>
          <p:cNvSpPr txBox="1">
            <a:spLocks noGrp="1" noChangeArrowheads="1"/>
          </p:cNvSpPr>
          <p:nvPr/>
        </p:nvSpPr>
        <p:spPr bwMode="auto">
          <a:xfrm>
            <a:off x="7788275" y="6515100"/>
            <a:ext cx="6635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5B34D18-21C6-49FD-BD1E-2BAB2B958A27}" type="slidenum">
              <a:rPr lang="en-US" sz="1200" b="1">
                <a:solidFill>
                  <a:srgbClr val="C7D2DF"/>
                </a:solidFill>
              </a:rPr>
              <a:pPr algn="r"/>
              <a:t>10</a:t>
            </a:fld>
            <a:endParaRPr lang="en-US" sz="1200" b="1">
              <a:solidFill>
                <a:srgbClr val="C7D2D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/>
                </a:solidFill>
              </a:rPr>
              <a:t>Parcels+: Local Assessment Information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90800"/>
            <a:ext cx="8153400" cy="2636520"/>
          </a:xfrm>
          <a:noFill/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Acquire, assemble, analyze data from local county agencies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Home sales data, current value, housing stock conditions, 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Vacancies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Multi-unit housing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Feasibility/ Sustainability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-103909"/>
          <a:ext cx="9144000" cy="7065818"/>
        </p:xfrm>
        <a:graphic>
          <a:graphicData uri="http://schemas.openxmlformats.org/presentationml/2006/ole">
            <p:oleObj spid="_x0000_s1026" name="Acrobat Document" r:id="rId3" imgW="4752000" imgH="3672000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/>
                </a:solidFill>
              </a:rPr>
              <a:t>Stay Tuned …..</a:t>
            </a:r>
            <a:endParaRPr lang="en-US" sz="36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1035</TotalTime>
  <Words>510</Words>
  <Application>Microsoft Office PowerPoint</Application>
  <PresentationFormat>On-screen Show (4:3)</PresentationFormat>
  <Paragraphs>74</Paragraphs>
  <Slides>13</Slides>
  <Notes>4</Notes>
  <HiddenSlides>2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Flow</vt:lpstr>
      <vt:lpstr>Acrobat Document</vt:lpstr>
      <vt:lpstr>HUD Parcel Data Activities Exploratory</vt:lpstr>
      <vt:lpstr>HUD Thumbnail Sketch</vt:lpstr>
      <vt:lpstr>Parcel Project: Gulf Coast: Multi-Agency Disaster Recovery Coordination</vt:lpstr>
      <vt:lpstr>With HUD’s unique access to data sources, can we contribute ways to measure and track recovery and still protect individual privacy? </vt:lpstr>
      <vt:lpstr>Slide 5</vt:lpstr>
      <vt:lpstr>Slide 6</vt:lpstr>
      <vt:lpstr>Slide 7</vt:lpstr>
      <vt:lpstr>Slide 8</vt:lpstr>
      <vt:lpstr>Slide 9</vt:lpstr>
      <vt:lpstr>County Data Records Project</vt:lpstr>
      <vt:lpstr>Parcels+: Local Assessment Information</vt:lpstr>
      <vt:lpstr>Slide 12</vt:lpstr>
      <vt:lpstr>Stay Tuned …..</vt:lpstr>
    </vt:vector>
  </TitlesOfParts>
  <Company>Housing and Urban Development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 Thumbnail Sketch</dc:title>
  <dc:creator>h17114</dc:creator>
  <cp:lastModifiedBy>USGS</cp:lastModifiedBy>
  <cp:revision>60</cp:revision>
  <cp:lastPrinted>2011-06-05T22:49:10Z</cp:lastPrinted>
  <dcterms:created xsi:type="dcterms:W3CDTF">2011-06-06T03:15:56Z</dcterms:created>
  <dcterms:modified xsi:type="dcterms:W3CDTF">2011-06-16T18:44:13Z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-725832720</vt:i4>
  </property>
  <property fmtid="{D5CDD505-2E9C-101B-9397-08002B2CF9AE}" pid="3" name="_NewReviewCycle">
    <vt:lpwstr/>
  </property>
  <property fmtid="{D5CDD505-2E9C-101B-9397-08002B2CF9AE}" pid="4" name="_EmailSubject">
    <vt:lpwstr>parcels</vt:lpwstr>
  </property>
  <property fmtid="{D5CDD505-2E9C-101B-9397-08002B2CF9AE}" pid="5" name="_AuthorEmail">
    <vt:lpwstr>Jon.Sperling@hud.gov</vt:lpwstr>
  </property>
  <property fmtid="{D5CDD505-2E9C-101B-9397-08002B2CF9AE}" pid="6" name="_AuthorEmailDisplayName">
    <vt:lpwstr>Sperling, Jon</vt:lpwstr>
  </property>
</Properties>
</file>