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8" r:id="rId3"/>
    <p:sldId id="259" r:id="rId4"/>
    <p:sldId id="260" r:id="rId5"/>
    <p:sldId id="266" r:id="rId6"/>
    <p:sldId id="267" r:id="rId7"/>
    <p:sldId id="277" r:id="rId8"/>
    <p:sldId id="273" r:id="rId9"/>
    <p:sldId id="274" r:id="rId10"/>
    <p:sldId id="275" r:id="rId11"/>
    <p:sldId id="276" r:id="rId12"/>
    <p:sldId id="268" r:id="rId13"/>
    <p:sldId id="269" r:id="rId14"/>
    <p:sldId id="264" r:id="rId15"/>
    <p:sldId id="270" r:id="rId16"/>
    <p:sldId id="271" r:id="rId17"/>
  </p:sldIdLst>
  <p:sldSz cx="9144000" cy="6858000" type="screen4x3"/>
  <p:notesSz cx="68580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FFD3"/>
    <a:srgbClr val="1B357D"/>
    <a:srgbClr val="1F347D"/>
    <a:srgbClr val="C4BB86"/>
    <a:srgbClr val="C4BF94"/>
    <a:srgbClr val="C1BB83"/>
    <a:srgbClr val="C4BC6D"/>
    <a:srgbClr val="C4C079"/>
    <a:srgbClr val="C4BB91"/>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83294" autoAdjust="0"/>
  </p:normalViewPr>
  <p:slideViewPr>
    <p:cSldViewPr snapToObjects="1" showGuides="1">
      <p:cViewPr>
        <p:scale>
          <a:sx n="100" d="100"/>
          <a:sy n="100" d="100"/>
        </p:scale>
        <p:origin x="-122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13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65138"/>
          </a:xfrm>
          <a:prstGeom prst="rect">
            <a:avLst/>
          </a:prstGeom>
        </p:spPr>
        <p:txBody>
          <a:bodyPr vert="horz" lIns="91440" tIns="45720" rIns="91440" bIns="45720" rtlCol="0"/>
          <a:lstStyle>
            <a:lvl1pPr algn="r">
              <a:defRPr sz="1200"/>
            </a:lvl1pPr>
          </a:lstStyle>
          <a:p>
            <a:fld id="{B71F4B75-92F4-4771-9368-1A0BED93E98B}" type="datetimeFigureOut">
              <a:rPr lang="en-CA" smtClean="0"/>
              <a:pPr/>
              <a:t>26/06/2012</a:t>
            </a:fld>
            <a:endParaRPr lang="en-CA"/>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16425"/>
            <a:ext cx="5486400" cy="41830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829675"/>
            <a:ext cx="2971800" cy="465138"/>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829675"/>
            <a:ext cx="2971800" cy="465138"/>
          </a:xfrm>
          <a:prstGeom prst="rect">
            <a:avLst/>
          </a:prstGeom>
        </p:spPr>
        <p:txBody>
          <a:bodyPr vert="horz" lIns="91440" tIns="45720" rIns="91440" bIns="45720" rtlCol="0" anchor="b"/>
          <a:lstStyle>
            <a:lvl1pPr algn="r">
              <a:defRPr sz="1200"/>
            </a:lvl1pPr>
          </a:lstStyle>
          <a:p>
            <a:fld id="{E4C12532-E75B-453B-AEC7-50400C8AF47E}" type="slidenum">
              <a:rPr lang="en-CA" smtClean="0"/>
              <a:pPr/>
              <a:t>‹#›</a:t>
            </a:fld>
            <a:endParaRPr lang="en-CA"/>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lvl="0"/>
            <a:r>
              <a:rPr lang="en-CA" sz="1100" dirty="0" smtClean="0"/>
              <a:t>Since its inception, the Program has evolved from a modest pilot to a</a:t>
            </a:r>
            <a:r>
              <a:rPr lang="en-CA" sz="1100" b="1" dirty="0" smtClean="0"/>
              <a:t> multi-departmental initiative, offering over 130 work placements</a:t>
            </a:r>
            <a:r>
              <a:rPr lang="en-CA" sz="1100" dirty="0" smtClean="0"/>
              <a:t> to newcomers between 2010-2012, to respond to the human resources requirements of </a:t>
            </a:r>
            <a:r>
              <a:rPr lang="en-CA" sz="1100" b="1" dirty="0" smtClean="0"/>
              <a:t>over 20 participating departments/agencies</a:t>
            </a:r>
            <a:r>
              <a:rPr lang="en-CA" sz="1100" dirty="0" smtClean="0"/>
              <a:t>.  (63 placements for the 2011-2012 program year). Participating hiring departments and agencies include CIC, HRSDC, Health Canada, Agriculture, CBSA, CRA, DND, PSC, WED, DFAIT, PHAC, DFO, CSIS, </a:t>
            </a:r>
            <a:r>
              <a:rPr lang="en-CA" sz="1100" dirty="0" err="1" smtClean="0"/>
              <a:t>NRCan</a:t>
            </a:r>
            <a:r>
              <a:rPr lang="en-CA" sz="1100" dirty="0" smtClean="0"/>
              <a:t>, PWGSC, Public Safety, Statistics Canada, Courts Administration Services, Tribunal, Canada Economic Dev. Quebec, ACOA.</a:t>
            </a:r>
          </a:p>
          <a:p>
            <a:pPr lvl="0"/>
            <a:endParaRPr lang="en-CA" sz="1100" dirty="0" smtClean="0"/>
          </a:p>
          <a:p>
            <a:pPr lvl="0"/>
            <a:r>
              <a:rPr lang="en-CA" sz="1100" dirty="0" smtClean="0"/>
              <a:t>Due to the success of the Program in NHQ,  departments and agencies expressed a keen interest in exploring how the Program could be used to respond to regional human resources requirements and leverage local talent. As a result, working in close collaboration with our regional offices, </a:t>
            </a:r>
            <a:r>
              <a:rPr lang="en-CA" sz="1100" b="1" dirty="0" smtClean="0"/>
              <a:t>the FIN Program expanded to offer placements in Toronto and Vancouver/Victoria in September 2011</a:t>
            </a:r>
            <a:r>
              <a:rPr lang="en-CA" sz="1100" dirty="0" smtClean="0"/>
              <a:t>. These locations were identified as pilot locations based on departmental need and immigrant intake numbers. This year, 18 positions were offered in pilot locations.  </a:t>
            </a:r>
          </a:p>
          <a:p>
            <a:pPr lvl="0"/>
            <a:r>
              <a:rPr lang="en-CA" sz="1100" dirty="0" smtClean="0"/>
              <a:t> </a:t>
            </a:r>
          </a:p>
          <a:p>
            <a:pPr lvl="0"/>
            <a:r>
              <a:rPr lang="en-CA" sz="1100" dirty="0" smtClean="0"/>
              <a:t>The HUMA standing committee recommended that FIN continue and provide additional placements if resources allow.</a:t>
            </a:r>
            <a:endParaRPr lang="en-CA" sz="1100" dirty="0"/>
          </a:p>
        </p:txBody>
      </p:sp>
      <p:sp>
        <p:nvSpPr>
          <p:cNvPr id="4" name="Slide Number Placeholder 3"/>
          <p:cNvSpPr>
            <a:spLocks noGrp="1"/>
          </p:cNvSpPr>
          <p:nvPr>
            <p:ph type="sldNum" sz="quarter" idx="10"/>
          </p:nvPr>
        </p:nvSpPr>
        <p:spPr/>
        <p:txBody>
          <a:bodyPr/>
          <a:lstStyle/>
          <a:p>
            <a:fld id="{E4C12532-E75B-453B-AEC7-50400C8AF47E}" type="slidenum">
              <a:rPr lang="en-CA" smtClean="0"/>
              <a:pPr/>
              <a:t>5</a:t>
            </a:fld>
            <a:endParaRPr lang="en-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sz="1100" dirty="0" smtClean="0">
                <a:latin typeface="+mj-lt"/>
              </a:rPr>
              <a:t>Program is currently delivered in partnership with Immigrant Serving Organizations (</a:t>
            </a:r>
            <a:r>
              <a:rPr lang="en-CA" sz="1100" dirty="0" err="1" smtClean="0">
                <a:latin typeface="+mj-lt"/>
              </a:rPr>
              <a:t>ISOs</a:t>
            </a:r>
            <a:r>
              <a:rPr lang="en-CA" sz="1100" dirty="0" smtClean="0">
                <a:latin typeface="+mj-lt"/>
              </a:rPr>
              <a:t>) in Ottawa, Toronto, and Vancouver that screen for employment readiness.</a:t>
            </a:r>
          </a:p>
          <a:p>
            <a:pPr eaLnBrk="1"/>
            <a:endParaRPr lang="en-CA" sz="1100" dirty="0" smtClean="0">
              <a:latin typeface="+mj-lt"/>
            </a:endParaRPr>
          </a:p>
          <a:p>
            <a:pPr eaLnBrk="1"/>
            <a:r>
              <a:rPr lang="en-CA" sz="1100" dirty="0" smtClean="0">
                <a:latin typeface="+mj-lt"/>
              </a:rPr>
              <a:t>Partner </a:t>
            </a:r>
            <a:r>
              <a:rPr lang="en-CA" sz="1100" dirty="0" err="1" smtClean="0">
                <a:latin typeface="+mj-lt"/>
              </a:rPr>
              <a:t>ISOs</a:t>
            </a:r>
            <a:r>
              <a:rPr lang="en-CA" sz="1100" dirty="0" smtClean="0">
                <a:latin typeface="+mj-lt"/>
              </a:rPr>
              <a:t> screen their clients for ‘job readiness’, and refer job-ready clients to apply to the FIN program.  </a:t>
            </a:r>
          </a:p>
          <a:p>
            <a:pPr eaLnBrk="1"/>
            <a:r>
              <a:rPr lang="en-CA" sz="1100" dirty="0" smtClean="0">
                <a:latin typeface="+mj-lt"/>
              </a:rPr>
              <a:t>*Job readiness includes but is not limited to: an in person-meeting and assessment, functional language capacity in English and/or French (minimum Canadian Language Benchmark of 6-8); referral to appropriate licensing/assessment bodies for credential assessment; and referral to additional job readiness training where needed i.e. resume writing or interviewing coaching</a:t>
            </a:r>
          </a:p>
          <a:p>
            <a:endParaRPr lang="en-CA" sz="1100" dirty="0" smtClean="0">
              <a:latin typeface="+mj-lt"/>
            </a:endParaRPr>
          </a:p>
          <a:p>
            <a:pPr eaLnBrk="1"/>
            <a:r>
              <a:rPr lang="en-CA" sz="1100" dirty="0" smtClean="0">
                <a:latin typeface="+mj-lt"/>
              </a:rPr>
              <a:t>The FIN Program is open to:</a:t>
            </a:r>
          </a:p>
          <a:p>
            <a:pPr lvl="1" eaLnBrk="1">
              <a:buFont typeface="Wingdings" pitchFamily="2" charset="2"/>
              <a:buChar char="Ø"/>
            </a:pPr>
            <a:r>
              <a:rPr lang="en-CA" sz="1100" dirty="0" smtClean="0">
                <a:latin typeface="+mj-lt"/>
              </a:rPr>
              <a:t>Permanent residents and Canadian citizens who have been in Canada less than 10 years</a:t>
            </a:r>
          </a:p>
          <a:p>
            <a:pPr lvl="1" eaLnBrk="1">
              <a:buFont typeface="Wingdings" pitchFamily="2" charset="2"/>
              <a:buChar char="Ø"/>
            </a:pPr>
            <a:r>
              <a:rPr lang="en-CA" sz="1100" dirty="0" smtClean="0">
                <a:latin typeface="+mj-lt"/>
              </a:rPr>
              <a:t>Candidates with a post secondary degree (Assessment of Foreign Credentials not mandatory but recommended during their internship)</a:t>
            </a:r>
          </a:p>
          <a:p>
            <a:pPr eaLnBrk="1"/>
            <a:endParaRPr lang="en-CA" sz="1100" dirty="0" smtClean="0">
              <a:latin typeface="+mj-lt"/>
            </a:endParaRPr>
          </a:p>
          <a:p>
            <a:pPr eaLnBrk="1"/>
            <a:r>
              <a:rPr lang="en-CA" sz="1100" b="0" baseline="0" dirty="0" smtClean="0">
                <a:latin typeface="Calibri" pitchFamily="34" charset="0"/>
              </a:rPr>
              <a:t>During the intake process for the 2011-2012 internships: </a:t>
            </a:r>
          </a:p>
          <a:p>
            <a:pPr eaLnBrk="1">
              <a:buFontTx/>
              <a:buChar char="-"/>
            </a:pPr>
            <a:r>
              <a:rPr lang="en-CA" sz="1100" b="0" baseline="0" dirty="0" smtClean="0">
                <a:latin typeface="Calibri" pitchFamily="34" charset="0"/>
              </a:rPr>
              <a:t>over 4000 applications were received</a:t>
            </a:r>
          </a:p>
          <a:p>
            <a:pPr eaLnBrk="1">
              <a:buFontTx/>
              <a:buChar char="-"/>
            </a:pPr>
            <a:r>
              <a:rPr lang="en-CA" sz="1100" b="0" baseline="0" dirty="0" smtClean="0">
                <a:latin typeface="Calibri" pitchFamily="34" charset="0"/>
              </a:rPr>
              <a:t>2000 resumes were screened</a:t>
            </a:r>
          </a:p>
          <a:p>
            <a:pPr eaLnBrk="1">
              <a:buFontTx/>
              <a:buChar char="-"/>
            </a:pPr>
            <a:r>
              <a:rPr lang="en-CA" sz="1100" b="0" baseline="0" dirty="0" smtClean="0">
                <a:latin typeface="Calibri" pitchFamily="34" charset="0"/>
              </a:rPr>
              <a:t>Over 350 interviews were conducted by CIC </a:t>
            </a:r>
          </a:p>
          <a:p>
            <a:pPr eaLnBrk="1"/>
            <a:endParaRPr lang="en-CA" sz="1100" dirty="0" smtClean="0">
              <a:latin typeface="+mj-lt"/>
            </a:endParaRPr>
          </a:p>
          <a:p>
            <a:pPr eaLnBrk="1"/>
            <a:r>
              <a:rPr lang="en-CA" sz="1100" dirty="0" smtClean="0">
                <a:latin typeface="+mj-lt"/>
              </a:rPr>
              <a:t>Majority of placements take place from September to April.</a:t>
            </a:r>
          </a:p>
          <a:p>
            <a:endParaRPr lang="en-CA" dirty="0"/>
          </a:p>
        </p:txBody>
      </p:sp>
      <p:sp>
        <p:nvSpPr>
          <p:cNvPr id="4" name="Slide Number Placeholder 3"/>
          <p:cNvSpPr>
            <a:spLocks noGrp="1"/>
          </p:cNvSpPr>
          <p:nvPr>
            <p:ph type="sldNum" sz="quarter" idx="10"/>
          </p:nvPr>
        </p:nvSpPr>
        <p:spPr/>
        <p:txBody>
          <a:bodyPr/>
          <a:lstStyle/>
          <a:p>
            <a:fld id="{E4C12532-E75B-453B-AEC7-50400C8AF47E}" type="slidenum">
              <a:rPr lang="en-CA" smtClean="0"/>
              <a:pPr/>
              <a:t>6</a:t>
            </a:fld>
            <a:endParaRPr lang="en-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Ha recently spoke at the graduation</a:t>
            </a:r>
            <a:r>
              <a:rPr lang="en-CA" baseline="0" dirty="0" smtClean="0"/>
              <a:t> ceremony for the 2011-2012 FIN internships.  In his case, a department was able to match their needs with his skills perfectly, as he was placed in the Asia and Oceanic division of Agriculture as a trade policy analyst.  His networks and knowledge gained abroad has been a real asset to his team.  </a:t>
            </a:r>
            <a:endParaRPr lang="en-CA" dirty="0"/>
          </a:p>
        </p:txBody>
      </p:sp>
      <p:sp>
        <p:nvSpPr>
          <p:cNvPr id="4" name="Slide Number Placeholder 3"/>
          <p:cNvSpPr>
            <a:spLocks noGrp="1"/>
          </p:cNvSpPr>
          <p:nvPr>
            <p:ph type="sldNum" sz="quarter" idx="10"/>
          </p:nvPr>
        </p:nvSpPr>
        <p:spPr/>
        <p:txBody>
          <a:bodyPr/>
          <a:lstStyle/>
          <a:p>
            <a:fld id="{E4C12532-E75B-453B-AEC7-50400C8AF47E}" type="slidenum">
              <a:rPr lang="en-CA" smtClean="0"/>
              <a:pPr/>
              <a:t>8</a:t>
            </a:fld>
            <a:endParaRPr lang="en-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Jean-Marie</a:t>
            </a:r>
            <a:r>
              <a:rPr lang="en-CA" baseline="0" dirty="0" smtClean="0"/>
              <a:t> was one of our World University Services Canada referred candidates.  He came to Canada through their Student Refugee Program which sponsors high potential students from refugee camps to study in Canadian universities.  Jean-Marie gained some much needed Canadian work experience at CIC, and since graduating last year is now working in his field  (finance) in the private sector.  </a:t>
            </a:r>
            <a:endParaRPr lang="en-CA" dirty="0"/>
          </a:p>
        </p:txBody>
      </p:sp>
      <p:sp>
        <p:nvSpPr>
          <p:cNvPr id="4" name="Slide Number Placeholder 3"/>
          <p:cNvSpPr>
            <a:spLocks noGrp="1"/>
          </p:cNvSpPr>
          <p:nvPr>
            <p:ph type="sldNum" sz="quarter" idx="10"/>
          </p:nvPr>
        </p:nvSpPr>
        <p:spPr/>
        <p:txBody>
          <a:bodyPr/>
          <a:lstStyle/>
          <a:p>
            <a:fld id="{E4C12532-E75B-453B-AEC7-50400C8AF47E}" type="slidenum">
              <a:rPr lang="en-CA" smtClean="0"/>
              <a:pPr/>
              <a:t>9</a:t>
            </a:fld>
            <a:endParaRPr lang="en-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smtClean="0"/>
              <a:t>Jacob is another outstanding graduate.</a:t>
            </a:r>
            <a:r>
              <a:rPr lang="en-CA" baseline="0" dirty="0" smtClean="0"/>
              <a:t>  He originally came to Canada in 2008, but was asked to come back to Haiti to work for the Haitian Prime Minister that year.  After contributing his skills working there, returned to Canada in 2010.  He has continued his studies here in Canada and has been a valuable asset to </a:t>
            </a:r>
            <a:r>
              <a:rPr lang="en-CA" baseline="0" dirty="0" err="1" smtClean="0"/>
              <a:t>CIC’s</a:t>
            </a:r>
            <a:r>
              <a:rPr lang="en-CA" baseline="0" dirty="0" smtClean="0"/>
              <a:t> performance management branch.  </a:t>
            </a:r>
            <a:endParaRPr lang="en-CA" dirty="0"/>
          </a:p>
        </p:txBody>
      </p:sp>
      <p:sp>
        <p:nvSpPr>
          <p:cNvPr id="4" name="Slide Number Placeholder 3"/>
          <p:cNvSpPr>
            <a:spLocks noGrp="1"/>
          </p:cNvSpPr>
          <p:nvPr>
            <p:ph type="sldNum" sz="quarter" idx="10"/>
          </p:nvPr>
        </p:nvSpPr>
        <p:spPr/>
        <p:txBody>
          <a:bodyPr/>
          <a:lstStyle/>
          <a:p>
            <a:fld id="{E4C12532-E75B-453B-AEC7-50400C8AF47E}" type="slidenum">
              <a:rPr lang="en-CA" smtClean="0"/>
              <a:pPr/>
              <a:t>10</a:t>
            </a:fld>
            <a:endParaRPr lang="en-C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dirty="0" err="1" smtClean="0"/>
              <a:t>Imen</a:t>
            </a:r>
            <a:r>
              <a:rPr lang="en-CA" dirty="0" smtClean="0"/>
              <a:t> has been working</a:t>
            </a:r>
            <a:r>
              <a:rPr lang="en-CA" baseline="0" dirty="0" smtClean="0"/>
              <a:t> as a computer programmer in HRSD.  Her employer spoke at an evaluation event for the FIN Program earlier this year and he remarked on what a wonderful experience he’s had working with </a:t>
            </a:r>
            <a:r>
              <a:rPr lang="en-CA" baseline="0" dirty="0" err="1" smtClean="0"/>
              <a:t>Imen</a:t>
            </a:r>
            <a:r>
              <a:rPr lang="en-CA" baseline="0" dirty="0" smtClean="0"/>
              <a:t>.   </a:t>
            </a:r>
            <a:endParaRPr lang="en-CA" dirty="0"/>
          </a:p>
        </p:txBody>
      </p:sp>
      <p:sp>
        <p:nvSpPr>
          <p:cNvPr id="4" name="Slide Number Placeholder 3"/>
          <p:cNvSpPr>
            <a:spLocks noGrp="1"/>
          </p:cNvSpPr>
          <p:nvPr>
            <p:ph type="sldNum" sz="quarter" idx="10"/>
          </p:nvPr>
        </p:nvSpPr>
        <p:spPr/>
        <p:txBody>
          <a:bodyPr/>
          <a:lstStyle/>
          <a:p>
            <a:fld id="{E4C12532-E75B-453B-AEC7-50400C8AF47E}" type="slidenum">
              <a:rPr lang="en-CA" smtClean="0"/>
              <a:pPr/>
              <a:t>11</a:t>
            </a:fld>
            <a:endParaRPr lang="en-C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a:r>
              <a:rPr lang="en-CA" sz="2000" dirty="0" smtClean="0">
                <a:latin typeface="Calibri" pitchFamily="34" charset="0"/>
              </a:rPr>
              <a:t>The primary objectives of private sector partnerships are to: </a:t>
            </a:r>
          </a:p>
          <a:p>
            <a:pPr lvl="1" eaLnBrk="1"/>
            <a:r>
              <a:rPr lang="en-CA" sz="1800" dirty="0" smtClean="0">
                <a:latin typeface="Calibri" pitchFamily="34" charset="0"/>
              </a:rPr>
              <a:t>- diversify the range and duration of work experience offered to newcomers; and</a:t>
            </a:r>
          </a:p>
          <a:p>
            <a:pPr lvl="1" eaLnBrk="1"/>
            <a:r>
              <a:rPr lang="en-CA" sz="1800" dirty="0" smtClean="0">
                <a:latin typeface="Calibri" pitchFamily="34" charset="0"/>
              </a:rPr>
              <a:t>- help employers meet temporary or permanent needs </a:t>
            </a:r>
          </a:p>
          <a:p>
            <a:pPr lvl="1" eaLnBrk="1"/>
            <a:r>
              <a:rPr lang="en-CA" sz="1800" dirty="0" smtClean="0">
                <a:latin typeface="Calibri" pitchFamily="34" charset="0"/>
              </a:rPr>
              <a:t>- Support improved labour market integration of newcomers in fields matching</a:t>
            </a:r>
            <a:r>
              <a:rPr lang="en-CA" sz="1800" baseline="0" dirty="0" smtClean="0">
                <a:latin typeface="Calibri" pitchFamily="34" charset="0"/>
              </a:rPr>
              <a:t> </a:t>
            </a:r>
            <a:r>
              <a:rPr lang="en-CA" sz="1800" dirty="0" smtClean="0">
                <a:latin typeface="Calibri" pitchFamily="34" charset="0"/>
              </a:rPr>
              <a:t>with their skills and experience.</a:t>
            </a:r>
          </a:p>
          <a:p>
            <a:endParaRPr lang="en-CA" dirty="0"/>
          </a:p>
        </p:txBody>
      </p:sp>
      <p:sp>
        <p:nvSpPr>
          <p:cNvPr id="4" name="Slide Number Placeholder 3"/>
          <p:cNvSpPr>
            <a:spLocks noGrp="1"/>
          </p:cNvSpPr>
          <p:nvPr>
            <p:ph type="sldNum" sz="quarter" idx="10"/>
          </p:nvPr>
        </p:nvSpPr>
        <p:spPr/>
        <p:txBody>
          <a:bodyPr/>
          <a:lstStyle/>
          <a:p>
            <a:fld id="{E4C12532-E75B-453B-AEC7-50400C8AF47E}" type="slidenum">
              <a:rPr lang="en-CA" smtClean="0"/>
              <a:pPr/>
              <a:t>12</a:t>
            </a:fld>
            <a:endParaRPr lang="en-C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10"/>
          </p:nvPr>
        </p:nvSpPr>
        <p:spPr/>
        <p:txBody>
          <a:bodyPr/>
          <a:lstStyle/>
          <a:p>
            <a:fld id="{E4C12532-E75B-453B-AEC7-50400C8AF47E}" type="slidenum">
              <a:rPr lang="en-CA" smtClean="0"/>
              <a:pPr/>
              <a:t>13</a:t>
            </a:fld>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corp-ppt.jpg"/>
          <p:cNvPicPr>
            <a:picLocks noChangeAspect="1"/>
          </p:cNvPicPr>
          <p:nvPr userDrawn="1"/>
        </p:nvPicPr>
        <p:blipFill>
          <a:blip r:embed="rId2"/>
          <a:stretch>
            <a:fillRect/>
          </a:stretch>
        </p:blipFill>
        <p:spPr>
          <a:xfrm>
            <a:off x="0" y="0"/>
            <a:ext cx="9144000" cy="6858000"/>
          </a:xfrm>
          <a:prstGeom prst="rect">
            <a:avLst/>
          </a:prstGeom>
        </p:spPr>
      </p:pic>
      <p:sp>
        <p:nvSpPr>
          <p:cNvPr id="3" name="Subtitle 2"/>
          <p:cNvSpPr>
            <a:spLocks noGrp="1"/>
          </p:cNvSpPr>
          <p:nvPr>
            <p:ph type="subTitle" idx="1"/>
          </p:nvPr>
        </p:nvSpPr>
        <p:spPr>
          <a:xfrm>
            <a:off x="533400" y="4953000"/>
            <a:ext cx="3276600" cy="1143000"/>
          </a:xfrm>
        </p:spPr>
        <p:txBody>
          <a:bodyPr>
            <a:normAutofit/>
          </a:bodyPr>
          <a:lstStyle>
            <a:lvl1pPr marL="0" indent="0" algn="l">
              <a:buNone/>
              <a:defRPr sz="2200">
                <a:solidFill>
                  <a:schemeClr val="tx1">
                    <a:tint val="75000"/>
                  </a:schemeClr>
                </a:solidFill>
                <a:latin typeface="Verdan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dirty="0"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11" descr="slide2background.jpg"/>
          <p:cNvPicPr>
            <a:picLocks noChangeAspect="1"/>
          </p:cNvPicPr>
          <p:nvPr userDrawn="1"/>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685800" y="1447800"/>
            <a:ext cx="8001000" cy="4525963"/>
          </a:xfrm>
        </p:spPr>
        <p:txBody>
          <a:bodyPr/>
          <a:lstStyle/>
          <a:p>
            <a:pPr lvl="0"/>
            <a:r>
              <a:rPr lang="en-CA" dirty="0" smtClean="0"/>
              <a:t>Click to edit Master text styles</a:t>
            </a:r>
          </a:p>
          <a:p>
            <a:pPr lvl="1"/>
            <a:r>
              <a:rPr lang="en-CA" dirty="0" smtClean="0"/>
              <a:t>Second level</a:t>
            </a:r>
          </a:p>
          <a:p>
            <a:pPr lvl="2"/>
            <a:r>
              <a:rPr lang="en-CA" dirty="0" smtClean="0"/>
              <a:t>Third level</a:t>
            </a:r>
          </a:p>
          <a:p>
            <a:pPr lvl="3"/>
            <a:r>
              <a:rPr lang="en-CA" dirty="0" smtClean="0"/>
              <a:t>Fourth level</a:t>
            </a:r>
          </a:p>
          <a:p>
            <a:pPr lvl="4"/>
            <a:r>
              <a:rPr lang="en-CA" dirty="0" smtClean="0"/>
              <a:t>Fifth level</a:t>
            </a:r>
            <a:endParaRPr lang="en-US" dirty="0"/>
          </a:p>
        </p:txBody>
      </p:sp>
      <p:sp>
        <p:nvSpPr>
          <p:cNvPr id="6" name="Slide Number Placeholder 5"/>
          <p:cNvSpPr>
            <a:spLocks noGrp="1"/>
          </p:cNvSpPr>
          <p:nvPr>
            <p:ph type="sldNum" sz="quarter" idx="12"/>
          </p:nvPr>
        </p:nvSpPr>
        <p:spPr/>
        <p:txBody>
          <a:bodyPr/>
          <a:lstStyle/>
          <a:p>
            <a:fld id="{89A285D8-B1CC-4D45-993F-C26C8FD8DEF7}" type="slidenum">
              <a:rPr lang="en-US" smtClean="0"/>
              <a:pPr/>
              <a:t>‹#›</a:t>
            </a:fld>
            <a:endParaRPr lang="en-US"/>
          </a:p>
        </p:txBody>
      </p:sp>
      <p:sp>
        <p:nvSpPr>
          <p:cNvPr id="9" name="Rectangle 8"/>
          <p:cNvSpPr/>
          <p:nvPr userDrawn="1"/>
        </p:nvSpPr>
        <p:spPr>
          <a:xfrm>
            <a:off x="533400" y="990600"/>
            <a:ext cx="8077200" cy="533400"/>
          </a:xfrm>
          <a:prstGeom prst="rect">
            <a:avLst/>
          </a:prstGeom>
          <a:gradFill flip="none" rotWithShape="1">
            <a:gsLst>
              <a:gs pos="54000">
                <a:srgbClr val="C4BB86"/>
              </a:gs>
              <a:gs pos="100000">
                <a:schemeClr val="bg2">
                  <a:lumMod val="9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5800" y="914400"/>
            <a:ext cx="8001000" cy="609600"/>
          </a:xfrm>
        </p:spPr>
        <p:txBody>
          <a:bodyPr>
            <a:normAutofit/>
          </a:bodyPr>
          <a:lstStyle>
            <a:lvl1pPr algn="l">
              <a:defRPr sz="2200">
                <a:latin typeface="Verdana"/>
              </a:defRPr>
            </a:lvl1pPr>
          </a:lstStyle>
          <a:p>
            <a:r>
              <a:rPr lang="en-CA" dirty="0" smtClean="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pic>
        <p:nvPicPr>
          <p:cNvPr id="12" name="Picture 11" descr="slide2background.jpg"/>
          <p:cNvPicPr>
            <a:picLocks noChangeAspect="1"/>
          </p:cNvPicPr>
          <p:nvPr userDrawn="1"/>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685800" y="1447800"/>
            <a:ext cx="8001000" cy="4525963"/>
          </a:xfrm>
        </p:spPr>
        <p:txBody>
          <a:bodyPr/>
          <a:lstStyle/>
          <a:p>
            <a:pPr lvl="0"/>
            <a:r>
              <a:rPr lang="en-CA" dirty="0" smtClean="0"/>
              <a:t>Click to edit Master text styles</a:t>
            </a:r>
          </a:p>
          <a:p>
            <a:pPr lvl="1"/>
            <a:r>
              <a:rPr lang="en-CA" dirty="0" smtClean="0"/>
              <a:t>Second level</a:t>
            </a:r>
          </a:p>
          <a:p>
            <a:pPr lvl="2"/>
            <a:r>
              <a:rPr lang="en-CA" dirty="0" smtClean="0"/>
              <a:t>Third level</a:t>
            </a:r>
          </a:p>
          <a:p>
            <a:pPr lvl="3"/>
            <a:r>
              <a:rPr lang="en-CA" dirty="0" smtClean="0"/>
              <a:t>Fourth level</a:t>
            </a:r>
          </a:p>
          <a:p>
            <a:pPr lvl="4"/>
            <a:r>
              <a:rPr lang="en-CA" dirty="0" smtClean="0"/>
              <a:t>Fifth level</a:t>
            </a:r>
            <a:endParaRPr lang="en-US" dirty="0"/>
          </a:p>
        </p:txBody>
      </p:sp>
      <p:sp>
        <p:nvSpPr>
          <p:cNvPr id="6" name="Slide Number Placeholder 5"/>
          <p:cNvSpPr>
            <a:spLocks noGrp="1"/>
          </p:cNvSpPr>
          <p:nvPr>
            <p:ph type="sldNum" sz="quarter" idx="12"/>
          </p:nvPr>
        </p:nvSpPr>
        <p:spPr/>
        <p:txBody>
          <a:bodyPr/>
          <a:lstStyle/>
          <a:p>
            <a:fld id="{89A285D8-B1CC-4D45-993F-C26C8FD8DEF7}" type="slidenum">
              <a:rPr lang="en-US" smtClean="0"/>
              <a:pPr/>
              <a:t>‹#›</a:t>
            </a:fld>
            <a:endParaRPr lang="en-US"/>
          </a:p>
        </p:txBody>
      </p:sp>
      <p:sp>
        <p:nvSpPr>
          <p:cNvPr id="9" name="Rectangle 8"/>
          <p:cNvSpPr/>
          <p:nvPr userDrawn="1"/>
        </p:nvSpPr>
        <p:spPr>
          <a:xfrm>
            <a:off x="533400" y="990600"/>
            <a:ext cx="8077200" cy="533400"/>
          </a:xfrm>
          <a:prstGeom prst="rect">
            <a:avLst/>
          </a:prstGeom>
          <a:gradFill flip="none" rotWithShape="1">
            <a:gsLst>
              <a:gs pos="41000">
                <a:srgbClr val="1B357D"/>
              </a:gs>
              <a:gs pos="100000">
                <a:schemeClr val="tx2">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914400"/>
            <a:ext cx="8001000" cy="609600"/>
          </a:xfrm>
        </p:spPr>
        <p:txBody>
          <a:bodyPr>
            <a:normAutofit/>
          </a:bodyPr>
          <a:lstStyle>
            <a:lvl1pPr algn="l">
              <a:defRPr sz="2200" baseline="0">
                <a:solidFill>
                  <a:schemeClr val="bg1"/>
                </a:solidFill>
                <a:latin typeface="Verdana"/>
              </a:defRPr>
            </a:lvl1pPr>
          </a:lstStyle>
          <a:p>
            <a:r>
              <a:rPr lang="en-CA" dirty="0" smtClean="0"/>
              <a:t>CIC Corporate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12" name="Picture 11" descr="slide2background.jpg"/>
          <p:cNvPicPr>
            <a:picLocks noChangeAspect="1"/>
          </p:cNvPicPr>
          <p:nvPr userDrawn="1"/>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685800" y="1447800"/>
            <a:ext cx="8001000" cy="4525963"/>
          </a:xfrm>
        </p:spPr>
        <p:txBody>
          <a:bodyPr/>
          <a:lstStyle/>
          <a:p>
            <a:pPr lvl="0"/>
            <a:r>
              <a:rPr lang="en-CA" dirty="0" smtClean="0"/>
              <a:t>Click to edit Master text styles</a:t>
            </a:r>
          </a:p>
          <a:p>
            <a:pPr lvl="1"/>
            <a:r>
              <a:rPr lang="en-CA" dirty="0" smtClean="0"/>
              <a:t>Second level</a:t>
            </a:r>
          </a:p>
          <a:p>
            <a:pPr lvl="2"/>
            <a:r>
              <a:rPr lang="en-CA" dirty="0" smtClean="0"/>
              <a:t>Third level</a:t>
            </a:r>
          </a:p>
          <a:p>
            <a:pPr lvl="3"/>
            <a:r>
              <a:rPr lang="en-CA" dirty="0" smtClean="0"/>
              <a:t>Fourth level</a:t>
            </a:r>
          </a:p>
          <a:p>
            <a:pPr lvl="4"/>
            <a:r>
              <a:rPr lang="en-CA" dirty="0" smtClean="0"/>
              <a:t>Fifth level</a:t>
            </a:r>
            <a:endParaRPr lang="en-US" dirty="0"/>
          </a:p>
        </p:txBody>
      </p:sp>
      <p:sp>
        <p:nvSpPr>
          <p:cNvPr id="6" name="Slide Number Placeholder 5"/>
          <p:cNvSpPr>
            <a:spLocks noGrp="1"/>
          </p:cNvSpPr>
          <p:nvPr>
            <p:ph type="sldNum" sz="quarter" idx="12"/>
          </p:nvPr>
        </p:nvSpPr>
        <p:spPr/>
        <p:txBody>
          <a:bodyPr/>
          <a:lstStyle/>
          <a:p>
            <a:fld id="{89A285D8-B1CC-4D45-993F-C26C8FD8DEF7}" type="slidenum">
              <a:rPr lang="en-US" smtClean="0"/>
              <a:pPr/>
              <a:t>‹#›</a:t>
            </a:fld>
            <a:endParaRPr lang="en-US"/>
          </a:p>
        </p:txBody>
      </p:sp>
      <p:sp>
        <p:nvSpPr>
          <p:cNvPr id="9" name="Rectangle 8"/>
          <p:cNvSpPr/>
          <p:nvPr userDrawn="1"/>
        </p:nvSpPr>
        <p:spPr>
          <a:xfrm>
            <a:off x="533400" y="990600"/>
            <a:ext cx="8077200" cy="533400"/>
          </a:xfrm>
          <a:prstGeom prst="rect">
            <a:avLst/>
          </a:prstGeom>
          <a:gradFill flip="none" rotWithShape="1">
            <a:gsLst>
              <a:gs pos="45000">
                <a:srgbClr val="800000"/>
              </a:gs>
              <a:gs pos="100000">
                <a:schemeClr val="accent2">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914400"/>
            <a:ext cx="8001000" cy="609600"/>
          </a:xfrm>
        </p:spPr>
        <p:txBody>
          <a:bodyPr>
            <a:normAutofit/>
          </a:bodyPr>
          <a:lstStyle>
            <a:lvl1pPr algn="l">
              <a:defRPr sz="2200">
                <a:solidFill>
                  <a:schemeClr val="bg1"/>
                </a:solidFill>
                <a:latin typeface="Verdana"/>
              </a:defRPr>
            </a:lvl1pPr>
          </a:lstStyle>
          <a:p>
            <a:r>
              <a:rPr lang="en-CA" dirty="0" smtClean="0"/>
              <a:t>Citizenship</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pic>
        <p:nvPicPr>
          <p:cNvPr id="12" name="Picture 11" descr="slide2background.jpg"/>
          <p:cNvPicPr>
            <a:picLocks noChangeAspect="1"/>
          </p:cNvPicPr>
          <p:nvPr userDrawn="1"/>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685800" y="1447800"/>
            <a:ext cx="8001000" cy="4525963"/>
          </a:xfrm>
        </p:spPr>
        <p:txBody>
          <a:bodyPr/>
          <a:lstStyle/>
          <a:p>
            <a:pPr lvl="0"/>
            <a:r>
              <a:rPr lang="en-CA" dirty="0" smtClean="0"/>
              <a:t>Click to edit Master text styles</a:t>
            </a:r>
          </a:p>
          <a:p>
            <a:pPr lvl="1"/>
            <a:r>
              <a:rPr lang="en-CA" dirty="0" smtClean="0"/>
              <a:t>Second level</a:t>
            </a:r>
          </a:p>
          <a:p>
            <a:pPr lvl="2"/>
            <a:r>
              <a:rPr lang="en-CA" dirty="0" smtClean="0"/>
              <a:t>Third level</a:t>
            </a:r>
          </a:p>
          <a:p>
            <a:pPr lvl="3"/>
            <a:r>
              <a:rPr lang="en-CA" dirty="0" smtClean="0"/>
              <a:t>Fourth level</a:t>
            </a:r>
          </a:p>
          <a:p>
            <a:pPr lvl="4"/>
            <a:r>
              <a:rPr lang="en-CA" dirty="0" smtClean="0"/>
              <a:t>Fifth level</a:t>
            </a:r>
            <a:endParaRPr lang="en-US" dirty="0"/>
          </a:p>
        </p:txBody>
      </p:sp>
      <p:sp>
        <p:nvSpPr>
          <p:cNvPr id="6" name="Slide Number Placeholder 5"/>
          <p:cNvSpPr>
            <a:spLocks noGrp="1"/>
          </p:cNvSpPr>
          <p:nvPr>
            <p:ph type="sldNum" sz="quarter" idx="12"/>
          </p:nvPr>
        </p:nvSpPr>
        <p:spPr/>
        <p:txBody>
          <a:bodyPr/>
          <a:lstStyle/>
          <a:p>
            <a:fld id="{89A285D8-B1CC-4D45-993F-C26C8FD8DEF7}" type="slidenum">
              <a:rPr lang="en-US" smtClean="0"/>
              <a:pPr/>
              <a:t>‹#›</a:t>
            </a:fld>
            <a:endParaRPr lang="en-US"/>
          </a:p>
        </p:txBody>
      </p:sp>
      <p:sp>
        <p:nvSpPr>
          <p:cNvPr id="9" name="Rectangle 8"/>
          <p:cNvSpPr/>
          <p:nvPr userDrawn="1"/>
        </p:nvSpPr>
        <p:spPr>
          <a:xfrm>
            <a:off x="533400" y="990600"/>
            <a:ext cx="8077200" cy="533400"/>
          </a:xfrm>
          <a:prstGeom prst="rect">
            <a:avLst/>
          </a:prstGeom>
          <a:gradFill flip="none" rotWithShape="1">
            <a:gsLst>
              <a:gs pos="51000">
                <a:schemeClr val="accent6">
                  <a:lumMod val="75000"/>
                </a:schemeClr>
              </a:gs>
              <a:gs pos="100000">
                <a:schemeClr val="accent6">
                  <a:lumMod val="40000"/>
                  <a:lumOff val="6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914400"/>
            <a:ext cx="8001000" cy="609600"/>
          </a:xfrm>
        </p:spPr>
        <p:txBody>
          <a:bodyPr>
            <a:normAutofit/>
          </a:bodyPr>
          <a:lstStyle>
            <a:lvl1pPr algn="l">
              <a:defRPr sz="2200">
                <a:solidFill>
                  <a:schemeClr val="bg1"/>
                </a:solidFill>
                <a:latin typeface="Verdana"/>
              </a:defRPr>
            </a:lvl1pPr>
          </a:lstStyle>
          <a:p>
            <a:r>
              <a:rPr lang="en-CA" dirty="0" smtClean="0"/>
              <a:t>Settlement</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pic>
        <p:nvPicPr>
          <p:cNvPr id="12" name="Picture 11" descr="slide2background.jpg"/>
          <p:cNvPicPr>
            <a:picLocks noChangeAspect="1"/>
          </p:cNvPicPr>
          <p:nvPr userDrawn="1"/>
        </p:nvPicPr>
        <p:blipFill>
          <a:blip r:embed="rId2"/>
          <a:stretch>
            <a:fillRect/>
          </a:stretch>
        </p:blipFill>
        <p:spPr>
          <a:xfrm>
            <a:off x="0" y="0"/>
            <a:ext cx="9144000" cy="6858000"/>
          </a:xfrm>
          <a:prstGeom prst="rect">
            <a:avLst/>
          </a:prstGeom>
        </p:spPr>
      </p:pic>
      <p:sp>
        <p:nvSpPr>
          <p:cNvPr id="3" name="Content Placeholder 2"/>
          <p:cNvSpPr>
            <a:spLocks noGrp="1"/>
          </p:cNvSpPr>
          <p:nvPr>
            <p:ph idx="1"/>
          </p:nvPr>
        </p:nvSpPr>
        <p:spPr>
          <a:xfrm>
            <a:off x="685800" y="1447800"/>
            <a:ext cx="8001000" cy="4525963"/>
          </a:xfrm>
        </p:spPr>
        <p:txBody>
          <a:bodyPr/>
          <a:lstStyle/>
          <a:p>
            <a:pPr lvl="0"/>
            <a:r>
              <a:rPr lang="en-CA" dirty="0" smtClean="0"/>
              <a:t>Click to edit Master text styles</a:t>
            </a:r>
          </a:p>
          <a:p>
            <a:pPr lvl="1"/>
            <a:r>
              <a:rPr lang="en-CA" dirty="0" smtClean="0"/>
              <a:t>Second level</a:t>
            </a:r>
          </a:p>
          <a:p>
            <a:pPr lvl="2"/>
            <a:r>
              <a:rPr lang="en-CA" dirty="0" smtClean="0"/>
              <a:t>Third level</a:t>
            </a:r>
          </a:p>
          <a:p>
            <a:pPr lvl="3"/>
            <a:r>
              <a:rPr lang="en-CA" dirty="0" smtClean="0"/>
              <a:t>Fourth level</a:t>
            </a:r>
          </a:p>
          <a:p>
            <a:pPr lvl="4"/>
            <a:r>
              <a:rPr lang="en-CA" dirty="0" smtClean="0"/>
              <a:t>Fifth level</a:t>
            </a:r>
            <a:endParaRPr lang="en-US" dirty="0"/>
          </a:p>
        </p:txBody>
      </p:sp>
      <p:sp>
        <p:nvSpPr>
          <p:cNvPr id="6" name="Slide Number Placeholder 5"/>
          <p:cNvSpPr>
            <a:spLocks noGrp="1"/>
          </p:cNvSpPr>
          <p:nvPr>
            <p:ph type="sldNum" sz="quarter" idx="12"/>
          </p:nvPr>
        </p:nvSpPr>
        <p:spPr/>
        <p:txBody>
          <a:bodyPr/>
          <a:lstStyle/>
          <a:p>
            <a:fld id="{89A285D8-B1CC-4D45-993F-C26C8FD8DEF7}" type="slidenum">
              <a:rPr lang="en-US" smtClean="0"/>
              <a:pPr/>
              <a:t>‹#›</a:t>
            </a:fld>
            <a:endParaRPr lang="en-US"/>
          </a:p>
        </p:txBody>
      </p:sp>
      <p:sp>
        <p:nvSpPr>
          <p:cNvPr id="9" name="Rectangle 8"/>
          <p:cNvSpPr/>
          <p:nvPr userDrawn="1"/>
        </p:nvSpPr>
        <p:spPr>
          <a:xfrm>
            <a:off x="533400" y="990600"/>
            <a:ext cx="8077200" cy="533400"/>
          </a:xfrm>
          <a:prstGeom prst="rect">
            <a:avLst/>
          </a:prstGeom>
          <a:gradFill flip="none" rotWithShape="1">
            <a:gsLst>
              <a:gs pos="51000">
                <a:srgbClr val="008000"/>
              </a:gs>
              <a:gs pos="100000">
                <a:srgbClr val="DAFFD3"/>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85800" y="914400"/>
            <a:ext cx="8001000" cy="609600"/>
          </a:xfrm>
        </p:spPr>
        <p:txBody>
          <a:bodyPr>
            <a:normAutofit/>
          </a:bodyPr>
          <a:lstStyle>
            <a:lvl1pPr algn="l">
              <a:defRPr sz="2200">
                <a:solidFill>
                  <a:schemeClr val="bg1"/>
                </a:solidFill>
                <a:latin typeface="Verdana"/>
              </a:defRPr>
            </a:lvl1pPr>
          </a:lstStyle>
          <a:p>
            <a:r>
              <a:rPr lang="en-CA" dirty="0" smtClean="0"/>
              <a:t>Multi</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A285D8-B1CC-4D45-993F-C26C8FD8DEF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A285D8-B1CC-4D45-993F-C26C8FD8DEF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A285D8-B1CC-4D45-993F-C26C8FD8DEF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A285D8-B1CC-4D45-993F-C26C8FD8DEF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A285D8-B1CC-4D45-993F-C26C8FD8DEF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A285D8-B1CC-4D45-993F-C26C8FD8DEF7}"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A285D8-B1CC-4D45-993F-C26C8FD8DEF7}"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A285D8-B1CC-4D45-993F-C26C8FD8DEF7}"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CA"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A285D8-B1CC-4D45-993F-C26C8FD8DEF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CA"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CA" smtClean="0"/>
              <a:t>Click to edit Master text styles</a:t>
            </a:r>
          </a:p>
          <a:p>
            <a:pPr lvl="1"/>
            <a:r>
              <a:rPr lang="en-CA" smtClean="0"/>
              <a:t>Second level</a:t>
            </a:r>
          </a:p>
          <a:p>
            <a:pPr lvl="2"/>
            <a:r>
              <a:rPr lang="en-CA" smtClean="0"/>
              <a:t>Third level</a:t>
            </a:r>
          </a:p>
          <a:p>
            <a:pPr lvl="3"/>
            <a:r>
              <a:rPr lang="en-CA" smtClean="0"/>
              <a:t>Fourth level</a:t>
            </a:r>
          </a:p>
          <a:p>
            <a:pPr lvl="4"/>
            <a:r>
              <a:rPr lang="en-CA"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229600" y="6356350"/>
            <a:ext cx="838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A285D8-B1CC-4D45-993F-C26C8FD8DEF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60" r:id="rId4"/>
    <p:sldLayoutId id="2147483661" r:id="rId5"/>
    <p:sldLayoutId id="2147483662"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323528" y="4953000"/>
            <a:ext cx="3630488" cy="1143000"/>
          </a:xfrm>
        </p:spPr>
        <p:txBody>
          <a:bodyPr>
            <a:normAutofit/>
          </a:bodyPr>
          <a:lstStyle/>
          <a:p>
            <a:r>
              <a:rPr lang="en-US" sz="1400" dirty="0" smtClean="0"/>
              <a:t>The Federal Internship for Newcomers – The Graduate Advantage</a:t>
            </a:r>
            <a:endParaRPr lang="en-US" sz="1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685800" y="1676400"/>
            <a:ext cx="8001000" cy="4297363"/>
          </a:xfrm>
        </p:spPr>
        <p:txBody>
          <a:bodyPr/>
          <a:lstStyle/>
          <a:p>
            <a:pPr marL="0" indent="0">
              <a:spcBef>
                <a:spcPts val="0"/>
              </a:spcBef>
            </a:pPr>
            <a:endParaRPr lang="en-CA" sz="2400" dirty="0" smtClean="0"/>
          </a:p>
          <a:p>
            <a:pPr marL="0" indent="0">
              <a:spcBef>
                <a:spcPts val="0"/>
              </a:spcBef>
            </a:pPr>
            <a:r>
              <a:rPr lang="en-CA" sz="2400" dirty="0" smtClean="0"/>
              <a:t> Information Technology </a:t>
            </a:r>
          </a:p>
          <a:p>
            <a:pPr marL="0" indent="0">
              <a:spcBef>
                <a:spcPts val="0"/>
              </a:spcBef>
              <a:buNone/>
            </a:pPr>
            <a:endParaRPr lang="en-CA" sz="2400" dirty="0" smtClean="0"/>
          </a:p>
          <a:p>
            <a:pPr marL="0" indent="0">
              <a:spcBef>
                <a:spcPts val="0"/>
              </a:spcBef>
            </a:pPr>
            <a:r>
              <a:rPr lang="en-CA" sz="2400" dirty="0" smtClean="0"/>
              <a:t> Finance</a:t>
            </a:r>
          </a:p>
          <a:p>
            <a:pPr marL="0" indent="0">
              <a:spcBef>
                <a:spcPts val="0"/>
              </a:spcBef>
            </a:pPr>
            <a:endParaRPr lang="en-CA" sz="2400" dirty="0" smtClean="0"/>
          </a:p>
          <a:p>
            <a:pPr marL="0" indent="0">
              <a:spcBef>
                <a:spcPts val="0"/>
              </a:spcBef>
            </a:pPr>
            <a:r>
              <a:rPr lang="en-CA" sz="2400" dirty="0" smtClean="0"/>
              <a:t> Project Management</a:t>
            </a:r>
          </a:p>
          <a:p>
            <a:pPr marL="0" indent="0">
              <a:spcBef>
                <a:spcPts val="0"/>
              </a:spcBef>
            </a:pPr>
            <a:endParaRPr lang="en-CA" sz="2400" dirty="0" smtClean="0"/>
          </a:p>
          <a:p>
            <a:pPr marL="0" indent="0">
              <a:spcBef>
                <a:spcPts val="0"/>
              </a:spcBef>
            </a:pPr>
            <a:r>
              <a:rPr lang="en-CA" sz="2400" dirty="0" smtClean="0"/>
              <a:t> Administration</a:t>
            </a:r>
          </a:p>
          <a:p>
            <a:pPr marL="0" indent="0">
              <a:spcBef>
                <a:spcPts val="0"/>
              </a:spcBef>
            </a:pPr>
            <a:endParaRPr lang="en-CA" sz="2400" dirty="0" smtClean="0"/>
          </a:p>
          <a:p>
            <a:pPr marL="0" indent="0">
              <a:spcBef>
                <a:spcPts val="0"/>
              </a:spcBef>
            </a:pPr>
            <a:r>
              <a:rPr lang="en-CA" sz="2400" dirty="0" smtClean="0"/>
              <a:t> Research</a:t>
            </a:r>
          </a:p>
          <a:p>
            <a:pPr marL="0" indent="0"/>
            <a:endParaRPr lang="en-US" dirty="0"/>
          </a:p>
        </p:txBody>
      </p:sp>
      <p:sp>
        <p:nvSpPr>
          <p:cNvPr id="4" name="Title 3"/>
          <p:cNvSpPr>
            <a:spLocks noGrp="1"/>
          </p:cNvSpPr>
          <p:nvPr>
            <p:ph type="title"/>
          </p:nvPr>
        </p:nvSpPr>
        <p:spPr/>
        <p:txBody>
          <a:bodyPr>
            <a:normAutofit/>
          </a:bodyPr>
          <a:lstStyle/>
          <a:p>
            <a:r>
              <a:rPr lang="en-CA" dirty="0" smtClean="0"/>
              <a:t>Looking for professional, experienced help?</a:t>
            </a:r>
            <a:endParaRPr lang="en-US" dirty="0"/>
          </a:p>
        </p:txBody>
      </p:sp>
      <p:pic>
        <p:nvPicPr>
          <p:cNvPr id="13316" name="Picture 4"/>
          <p:cNvPicPr>
            <a:picLocks noGrp="1" noChangeAspect="1" noChangeArrowheads="1"/>
          </p:cNvPicPr>
          <p:nvPr>
            <p:ph sz="half" idx="4294967295"/>
          </p:nvPr>
        </p:nvPicPr>
        <p:blipFill>
          <a:blip r:embed="rId2" cstate="print"/>
          <a:srcRect/>
          <a:stretch>
            <a:fillRect/>
          </a:stretch>
        </p:blipFill>
        <p:spPr bwMode="auto">
          <a:xfrm>
            <a:off x="3995936" y="2132856"/>
            <a:ext cx="4546848" cy="3163025"/>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89A285D8-B1CC-4D45-993F-C26C8FD8DEF7}"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2348880"/>
            <a:ext cx="7414592" cy="1728192"/>
          </a:xfrm>
        </p:spPr>
        <p:txBody>
          <a:bodyPr>
            <a:normAutofit lnSpcReduction="10000"/>
          </a:bodyPr>
          <a:lstStyle/>
          <a:p>
            <a:r>
              <a:rPr lang="en-US" sz="2400" dirty="0" smtClean="0"/>
              <a:t>The Federal Internship For Newcomers Program Graduates</a:t>
            </a:r>
          </a:p>
          <a:p>
            <a:endParaRPr lang="en-US" sz="1400" dirty="0" smtClean="0"/>
          </a:p>
          <a:p>
            <a:r>
              <a:rPr lang="en-CA" sz="2400" i="1" dirty="0" smtClean="0"/>
              <a:t>A pool of </a:t>
            </a:r>
            <a:r>
              <a:rPr lang="en-CA" sz="2400" b="1" i="1" dirty="0" smtClean="0"/>
              <a:t>talented</a:t>
            </a:r>
            <a:r>
              <a:rPr lang="en-CA" sz="2400" i="1" dirty="0" smtClean="0"/>
              <a:t>, </a:t>
            </a:r>
            <a:r>
              <a:rPr lang="en-CA" sz="2400" b="1" i="1" dirty="0" smtClean="0"/>
              <a:t>proven</a:t>
            </a:r>
            <a:r>
              <a:rPr lang="en-CA" sz="2400" i="1" dirty="0" smtClean="0"/>
              <a:t> and </a:t>
            </a:r>
            <a:r>
              <a:rPr lang="en-CA" sz="2400" b="1" i="1" dirty="0" smtClean="0"/>
              <a:t>trusted</a:t>
            </a:r>
            <a:r>
              <a:rPr lang="en-CA" sz="2400" i="1" dirty="0" smtClean="0"/>
              <a:t>  </a:t>
            </a:r>
            <a:r>
              <a:rPr lang="en-CA" sz="2400" b="1" i="1" dirty="0" smtClean="0"/>
              <a:t>professionals</a:t>
            </a:r>
            <a:r>
              <a:rPr lang="en-CA" sz="2400" i="1" dirty="0" smtClean="0"/>
              <a:t> ready to work for your organization.</a:t>
            </a:r>
          </a:p>
          <a:p>
            <a:endParaRPr lang="en-CA" sz="2800" i="1" dirty="0" smtClean="0"/>
          </a:p>
          <a:p>
            <a:endParaRPr lang="en-CA" sz="2800" i="1" dirty="0" smtClean="0"/>
          </a:p>
          <a:p>
            <a:endParaRPr lang="en-US" sz="2800" dirty="0"/>
          </a:p>
        </p:txBody>
      </p:sp>
      <p:sp>
        <p:nvSpPr>
          <p:cNvPr id="2" name="Title 1"/>
          <p:cNvSpPr>
            <a:spLocks noGrp="1"/>
          </p:cNvSpPr>
          <p:nvPr>
            <p:ph type="title"/>
          </p:nvPr>
        </p:nvSpPr>
        <p:spPr/>
        <p:txBody>
          <a:bodyPr/>
          <a:lstStyle/>
          <a:p>
            <a:r>
              <a:rPr lang="en-US" dirty="0" smtClean="0"/>
              <a:t>The Solution</a:t>
            </a:r>
            <a:endParaRPr lang="en-US" dirty="0"/>
          </a:p>
        </p:txBody>
      </p:sp>
      <p:sp>
        <p:nvSpPr>
          <p:cNvPr id="5" name="Slide Number Placeholder 4"/>
          <p:cNvSpPr>
            <a:spLocks noGrp="1"/>
          </p:cNvSpPr>
          <p:nvPr>
            <p:ph type="sldNum" sz="quarter" idx="12"/>
          </p:nvPr>
        </p:nvSpPr>
        <p:spPr/>
        <p:txBody>
          <a:bodyPr/>
          <a:lstStyle/>
          <a:p>
            <a:fld id="{89A285D8-B1CC-4D45-993F-C26C8FD8DEF7}"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916832"/>
            <a:ext cx="7920880" cy="4056931"/>
          </a:xfrm>
        </p:spPr>
        <p:txBody>
          <a:bodyPr>
            <a:normAutofit/>
          </a:bodyPr>
          <a:lstStyle/>
          <a:p>
            <a:pPr>
              <a:lnSpc>
                <a:spcPct val="90000"/>
              </a:lnSpc>
              <a:spcBef>
                <a:spcPct val="40000"/>
              </a:spcBef>
            </a:pPr>
            <a:r>
              <a:rPr lang="en-US" sz="2000" dirty="0" smtClean="0">
                <a:cs typeface="Arial" charset="0"/>
              </a:rPr>
              <a:t>Respond to demographic and </a:t>
            </a:r>
            <a:r>
              <a:rPr lang="en-US" sz="2000" dirty="0" err="1" smtClean="0">
                <a:cs typeface="Arial" charset="0"/>
              </a:rPr>
              <a:t>labour</a:t>
            </a:r>
            <a:r>
              <a:rPr lang="en-US" sz="2000" dirty="0" smtClean="0">
                <a:cs typeface="Arial" charset="0"/>
              </a:rPr>
              <a:t> market trends:</a:t>
            </a:r>
          </a:p>
          <a:p>
            <a:pPr lvl="1">
              <a:lnSpc>
                <a:spcPct val="90000"/>
              </a:lnSpc>
              <a:spcBef>
                <a:spcPct val="40000"/>
              </a:spcBef>
            </a:pPr>
            <a:r>
              <a:rPr lang="en-US" sz="1600" dirty="0" smtClean="0">
                <a:cs typeface="Arial" charset="0"/>
              </a:rPr>
              <a:t>Aging population and workforce, looming retirements </a:t>
            </a:r>
          </a:p>
          <a:p>
            <a:pPr lvl="1">
              <a:lnSpc>
                <a:spcPct val="90000"/>
              </a:lnSpc>
              <a:spcBef>
                <a:spcPct val="40000"/>
              </a:spcBef>
            </a:pPr>
            <a:r>
              <a:rPr lang="en-US" sz="1600" dirty="0" smtClean="0">
                <a:cs typeface="Arial" charset="0"/>
              </a:rPr>
              <a:t>Employers need skilled workers; report recruitment difficulties</a:t>
            </a:r>
          </a:p>
          <a:p>
            <a:pPr lvl="1">
              <a:lnSpc>
                <a:spcPct val="90000"/>
              </a:lnSpc>
              <a:spcBef>
                <a:spcPct val="40000"/>
              </a:spcBef>
            </a:pPr>
            <a:r>
              <a:rPr lang="en-US" sz="1600" dirty="0" smtClean="0">
                <a:cs typeface="Arial" charset="0"/>
              </a:rPr>
              <a:t>Growing ethno-cultural diversity (workforce, consumers, clients)</a:t>
            </a:r>
          </a:p>
          <a:p>
            <a:pPr lvl="1">
              <a:lnSpc>
                <a:spcPct val="90000"/>
              </a:lnSpc>
              <a:spcBef>
                <a:spcPct val="40000"/>
              </a:spcBef>
            </a:pPr>
            <a:r>
              <a:rPr lang="en-US" sz="1600" dirty="0" smtClean="0">
                <a:cs typeface="Arial" charset="0"/>
              </a:rPr>
              <a:t>Immigration key contributor to Ottawa’s </a:t>
            </a:r>
            <a:r>
              <a:rPr lang="en-US" sz="1600" dirty="0" err="1" smtClean="0">
                <a:cs typeface="Arial" charset="0"/>
              </a:rPr>
              <a:t>labour</a:t>
            </a:r>
            <a:r>
              <a:rPr lang="en-US" sz="1600" dirty="0" smtClean="0">
                <a:cs typeface="Arial" charset="0"/>
              </a:rPr>
              <a:t> force growth</a:t>
            </a:r>
          </a:p>
          <a:p>
            <a:endParaRPr lang="en-US" sz="1400" dirty="0" smtClean="0"/>
          </a:p>
          <a:p>
            <a:r>
              <a:rPr lang="en-US" sz="2000" dirty="0" smtClean="0"/>
              <a:t>Increase workplace performance:</a:t>
            </a:r>
          </a:p>
          <a:p>
            <a:pPr lvl="1"/>
            <a:r>
              <a:rPr lang="en-US" sz="1600" dirty="0" smtClean="0"/>
              <a:t>Enhance productivity, creativity, employee relations, and decision-making through diverse approaches and perspectives</a:t>
            </a:r>
          </a:p>
          <a:p>
            <a:endParaRPr lang="en-US" sz="1400" dirty="0" smtClean="0"/>
          </a:p>
          <a:p>
            <a:r>
              <a:rPr lang="en-US" sz="2000" dirty="0" smtClean="0"/>
              <a:t>Increase organizational performance</a:t>
            </a:r>
          </a:p>
          <a:p>
            <a:pPr lvl="1"/>
            <a:r>
              <a:rPr lang="en-US" sz="1600" dirty="0" smtClean="0"/>
              <a:t>Better understand and respond to your diverse customer base</a:t>
            </a:r>
          </a:p>
          <a:p>
            <a:pPr lvl="1"/>
            <a:r>
              <a:rPr lang="en-US" sz="1600" dirty="0" smtClean="0"/>
              <a:t>Expand local markets, and develop new global markets</a:t>
            </a:r>
            <a:endParaRPr lang="en-US" sz="3600" dirty="0"/>
          </a:p>
        </p:txBody>
      </p:sp>
      <p:sp>
        <p:nvSpPr>
          <p:cNvPr id="2" name="Title 1"/>
          <p:cNvSpPr>
            <a:spLocks noGrp="1"/>
          </p:cNvSpPr>
          <p:nvPr>
            <p:ph type="title"/>
          </p:nvPr>
        </p:nvSpPr>
        <p:spPr/>
        <p:txBody>
          <a:bodyPr/>
          <a:lstStyle/>
          <a:p>
            <a:r>
              <a:rPr lang="en-US" dirty="0" smtClean="0"/>
              <a:t>Why Hire Immigrants?</a:t>
            </a:r>
            <a:endParaRPr lang="en-US" dirty="0"/>
          </a:p>
        </p:txBody>
      </p:sp>
      <p:sp>
        <p:nvSpPr>
          <p:cNvPr id="5" name="Slide Number Placeholder 4"/>
          <p:cNvSpPr>
            <a:spLocks noGrp="1"/>
          </p:cNvSpPr>
          <p:nvPr>
            <p:ph type="sldNum" sz="quarter" idx="12"/>
          </p:nvPr>
        </p:nvSpPr>
        <p:spPr/>
        <p:txBody>
          <a:bodyPr/>
          <a:lstStyle/>
          <a:p>
            <a:fld id="{89A285D8-B1CC-4D45-993F-C26C8FD8DEF7}"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85800" y="1700808"/>
            <a:ext cx="8001000" cy="4272955"/>
          </a:xfrm>
        </p:spPr>
        <p:txBody>
          <a:bodyPr>
            <a:normAutofit fontScale="92500" lnSpcReduction="20000"/>
          </a:bodyPr>
          <a:lstStyle/>
          <a:p>
            <a:r>
              <a:rPr lang="en-CA" sz="2000" dirty="0" smtClean="0"/>
              <a:t>A flagship award winning Government of Canada internship program for newcomers to Canada.</a:t>
            </a:r>
          </a:p>
          <a:p>
            <a:endParaRPr lang="en-CA" sz="400" dirty="0" smtClean="0"/>
          </a:p>
          <a:p>
            <a:endParaRPr lang="en-CA" sz="400" dirty="0" smtClean="0"/>
          </a:p>
          <a:p>
            <a:endParaRPr lang="en-CA" sz="400" dirty="0" smtClean="0"/>
          </a:p>
          <a:p>
            <a:r>
              <a:rPr lang="en-CA" sz="2000" dirty="0" smtClean="0"/>
              <a:t>Supports public service renewal and diversity objectives. </a:t>
            </a:r>
          </a:p>
          <a:p>
            <a:endParaRPr lang="en-CA" sz="1500" dirty="0" smtClean="0"/>
          </a:p>
          <a:p>
            <a:r>
              <a:rPr lang="en-CA" sz="2000" dirty="0" smtClean="0"/>
              <a:t>Created to respond to a key barrier to labour market participation for newcomers: Canadian work experience. </a:t>
            </a:r>
          </a:p>
          <a:p>
            <a:endParaRPr lang="en-CA" sz="1500" dirty="0" smtClean="0"/>
          </a:p>
          <a:p>
            <a:r>
              <a:rPr lang="en-CA" sz="2000" dirty="0" smtClean="0"/>
              <a:t>Rapid expansion driven by demand – </a:t>
            </a:r>
          </a:p>
          <a:p>
            <a:pPr lvl="1"/>
            <a:r>
              <a:rPr lang="en-CA" sz="1600" dirty="0" smtClean="0"/>
              <a:t>from 2 to 20 departments in 24 months </a:t>
            </a:r>
          </a:p>
          <a:p>
            <a:pPr lvl="1"/>
            <a:r>
              <a:rPr lang="en-CA" sz="1600" dirty="0" smtClean="0"/>
              <a:t>more than 130 work placements </a:t>
            </a:r>
          </a:p>
          <a:p>
            <a:pPr lvl="1"/>
            <a:r>
              <a:rPr lang="en-CA" sz="1600" dirty="0" smtClean="0"/>
              <a:t>pilot expansion beyond Ottawa to Toronto and Vancouver in 2011</a:t>
            </a:r>
          </a:p>
          <a:p>
            <a:endParaRPr lang="en-CA" sz="1400" dirty="0" smtClean="0"/>
          </a:p>
          <a:p>
            <a:r>
              <a:rPr lang="en-CA" sz="2000" dirty="0" smtClean="0"/>
              <a:t>Overwhelmingly positive employer satisfaction.</a:t>
            </a:r>
          </a:p>
          <a:p>
            <a:endParaRPr lang="en-CA" sz="1400" dirty="0" smtClean="0"/>
          </a:p>
          <a:p>
            <a:r>
              <a:rPr lang="en-CA" sz="2000" dirty="0" smtClean="0"/>
              <a:t>Now expanding into private sector to help graduates secure long-term employment.</a:t>
            </a:r>
          </a:p>
          <a:p>
            <a:endParaRPr lang="en-CA" dirty="0" smtClean="0"/>
          </a:p>
          <a:p>
            <a:endParaRPr lang="en-US" sz="1600" dirty="0"/>
          </a:p>
        </p:txBody>
      </p:sp>
      <p:sp>
        <p:nvSpPr>
          <p:cNvPr id="4" name="Title 3"/>
          <p:cNvSpPr>
            <a:spLocks noGrp="1"/>
          </p:cNvSpPr>
          <p:nvPr>
            <p:ph type="title"/>
          </p:nvPr>
        </p:nvSpPr>
        <p:spPr/>
        <p:txBody>
          <a:bodyPr/>
          <a:lstStyle/>
          <a:p>
            <a:r>
              <a:rPr lang="en-US" dirty="0" smtClean="0"/>
              <a:t>Federal Internship for Newcomers (FIN) Program</a:t>
            </a:r>
            <a:endParaRPr lang="en-US" dirty="0"/>
          </a:p>
        </p:txBody>
      </p:sp>
      <p:sp>
        <p:nvSpPr>
          <p:cNvPr id="6" name="Slide Number Placeholder 5"/>
          <p:cNvSpPr>
            <a:spLocks noGrp="1"/>
          </p:cNvSpPr>
          <p:nvPr>
            <p:ph type="sldNum" sz="quarter" idx="12"/>
          </p:nvPr>
        </p:nvSpPr>
        <p:spPr/>
        <p:txBody>
          <a:bodyPr/>
          <a:lstStyle/>
          <a:p>
            <a:fld id="{89A285D8-B1CC-4D45-993F-C26C8FD8DEF7}"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916832"/>
            <a:ext cx="8001000" cy="4056931"/>
          </a:xfrm>
        </p:spPr>
        <p:txBody>
          <a:bodyPr>
            <a:normAutofit fontScale="92500"/>
          </a:bodyPr>
          <a:lstStyle/>
          <a:p>
            <a:pPr>
              <a:spcBef>
                <a:spcPts val="1800"/>
              </a:spcBef>
            </a:pPr>
            <a:r>
              <a:rPr lang="en-US" sz="2400" dirty="0" smtClean="0"/>
              <a:t>Local Immigrant Serving Organizations identify and screen applicants for job readiness and language skills. </a:t>
            </a:r>
          </a:p>
          <a:p>
            <a:pPr>
              <a:spcBef>
                <a:spcPts val="1800"/>
              </a:spcBef>
            </a:pPr>
            <a:r>
              <a:rPr lang="en-US" sz="2400" dirty="0" smtClean="0"/>
              <a:t>Applicants undertake rigorous screening and interview process, assessed against established criteria for each job category. </a:t>
            </a:r>
          </a:p>
          <a:p>
            <a:pPr lvl="1">
              <a:spcBef>
                <a:spcPts val="1800"/>
              </a:spcBef>
            </a:pPr>
            <a:r>
              <a:rPr lang="en-US" sz="2000" dirty="0" smtClean="0"/>
              <a:t>from 4000 applicants to 200 qualified candidates and approximately 70 interns/graduates.</a:t>
            </a:r>
          </a:p>
          <a:p>
            <a:pPr>
              <a:spcBef>
                <a:spcPts val="1800"/>
              </a:spcBef>
            </a:pPr>
            <a:r>
              <a:rPr lang="en-US" sz="2400" dirty="0" smtClean="0"/>
              <a:t>Interns work for up to 8 months. </a:t>
            </a:r>
          </a:p>
          <a:p>
            <a:pPr>
              <a:spcBef>
                <a:spcPts val="1800"/>
              </a:spcBef>
            </a:pPr>
            <a:r>
              <a:rPr lang="en-US" sz="2400" dirty="0" smtClean="0"/>
              <a:t>Each intern is paired with a mentor and provided with cross-cultural training to support success.</a:t>
            </a:r>
          </a:p>
          <a:p>
            <a:endParaRPr lang="en-US" sz="2400" dirty="0"/>
          </a:p>
        </p:txBody>
      </p:sp>
      <p:sp>
        <p:nvSpPr>
          <p:cNvPr id="2" name="Title 1"/>
          <p:cNvSpPr>
            <a:spLocks noGrp="1"/>
          </p:cNvSpPr>
          <p:nvPr>
            <p:ph type="title"/>
          </p:nvPr>
        </p:nvSpPr>
        <p:spPr/>
        <p:txBody>
          <a:bodyPr/>
          <a:lstStyle/>
          <a:p>
            <a:r>
              <a:rPr lang="en-CA" dirty="0" smtClean="0"/>
              <a:t>The FIN Program Approach</a:t>
            </a:r>
            <a:endParaRPr lang="en-US" dirty="0"/>
          </a:p>
        </p:txBody>
      </p:sp>
      <p:sp>
        <p:nvSpPr>
          <p:cNvPr id="4" name="Slide Number Placeholder 3"/>
          <p:cNvSpPr>
            <a:spLocks noGrp="1"/>
          </p:cNvSpPr>
          <p:nvPr>
            <p:ph type="sldNum" sz="quarter" idx="12"/>
          </p:nvPr>
        </p:nvSpPr>
        <p:spPr/>
        <p:txBody>
          <a:bodyPr/>
          <a:lstStyle/>
          <a:p>
            <a:fld id="{89A285D8-B1CC-4D45-993F-C26C8FD8DEF7}"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CA" dirty="0" smtClean="0"/>
              <a:t>Meet some of our graduates…</a:t>
            </a:r>
            <a:endParaRPr lang="en-CA" dirty="0"/>
          </a:p>
        </p:txBody>
      </p:sp>
      <p:pic>
        <p:nvPicPr>
          <p:cNvPr id="4" name="Picture 2" descr="D:\24 - Minister Kenney at Federal Internship for Newcomers Graduation Ceremony - Ottawa - May 10, 2012\Top 10\02624596-1.jpg"/>
          <p:cNvPicPr>
            <a:picLocks noChangeAspect="1" noChangeArrowheads="1"/>
          </p:cNvPicPr>
          <p:nvPr/>
        </p:nvPicPr>
        <p:blipFill>
          <a:blip r:embed="rId2"/>
          <a:srcRect t="4283" b="5765"/>
          <a:stretch>
            <a:fillRect/>
          </a:stretch>
        </p:blipFill>
        <p:spPr bwMode="auto">
          <a:xfrm>
            <a:off x="1547664" y="2132856"/>
            <a:ext cx="6113212" cy="3312368"/>
          </a:xfrm>
          <a:prstGeom prst="rect">
            <a:avLst/>
          </a:prstGeom>
          <a:ln>
            <a:noFill/>
          </a:ln>
          <a:effectLst>
            <a:outerShdw blurRad="190500" algn="tl" rotWithShape="0">
              <a:srgbClr val="000000">
                <a:alpha val="70000"/>
              </a:srgbClr>
            </a:outerShdw>
          </a:effectLst>
        </p:spPr>
      </p:pic>
      <p:sp>
        <p:nvSpPr>
          <p:cNvPr id="5" name="Slide Number Placeholder 4"/>
          <p:cNvSpPr>
            <a:spLocks noGrp="1"/>
          </p:cNvSpPr>
          <p:nvPr>
            <p:ph type="sldNum" sz="quarter" idx="12"/>
          </p:nvPr>
        </p:nvSpPr>
        <p:spPr/>
        <p:txBody>
          <a:bodyPr/>
          <a:lstStyle/>
          <a:p>
            <a:fld id="{89A285D8-B1CC-4D45-993F-C26C8FD8DEF7}"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662034"/>
            <a:ext cx="4392488" cy="3129136"/>
          </a:xfrm>
        </p:spPr>
        <p:txBody>
          <a:bodyPr>
            <a:normAutofit/>
          </a:bodyPr>
          <a:lstStyle/>
          <a:p>
            <a:pPr>
              <a:buNone/>
            </a:pPr>
            <a:r>
              <a:rPr lang="en-CA" sz="1600" b="1" dirty="0" smtClean="0"/>
              <a:t>His Story:</a:t>
            </a:r>
          </a:p>
          <a:p>
            <a:r>
              <a:rPr lang="en-CA" sz="1600" dirty="0" smtClean="0"/>
              <a:t>Immigrated to Canada with his family from Vietnam as a doctoral student in 2005 and became a permanent resident in 2008.</a:t>
            </a:r>
          </a:p>
          <a:p>
            <a:r>
              <a:rPr lang="en-CA" sz="1600" dirty="0" smtClean="0"/>
              <a:t>Studied at the University of Manchester, University of Vietnam, Ukraine and he is currently completing his doctorate in public policy at Carleton University in Ottawa.</a:t>
            </a:r>
          </a:p>
          <a:p>
            <a:r>
              <a:rPr lang="en-CA" sz="1600" dirty="0" smtClean="0"/>
              <a:t>Obtained bachelor’s of Law and International Studies, and Masters of public policy. </a:t>
            </a:r>
            <a:endParaRPr lang="en-US" sz="1600" b="1" dirty="0" smtClean="0"/>
          </a:p>
          <a:p>
            <a:pPr>
              <a:buNone/>
            </a:pPr>
            <a:endParaRPr lang="en-US" sz="1600" b="1" dirty="0" smtClean="0"/>
          </a:p>
          <a:p>
            <a:pPr>
              <a:buNone/>
            </a:pPr>
            <a:endParaRPr lang="en-US" sz="2400" dirty="0"/>
          </a:p>
        </p:txBody>
      </p:sp>
      <p:sp>
        <p:nvSpPr>
          <p:cNvPr id="2" name="Title 1"/>
          <p:cNvSpPr>
            <a:spLocks noGrp="1"/>
          </p:cNvSpPr>
          <p:nvPr>
            <p:ph type="title"/>
          </p:nvPr>
        </p:nvSpPr>
        <p:spPr/>
        <p:txBody>
          <a:bodyPr/>
          <a:lstStyle/>
          <a:p>
            <a:r>
              <a:rPr lang="en-CA" dirty="0" smtClean="0"/>
              <a:t>Ha: Trade Policy Analyst, Agriculture  </a:t>
            </a:r>
            <a:endParaRPr lang="en-US" dirty="0"/>
          </a:p>
        </p:txBody>
      </p:sp>
      <p:sp>
        <p:nvSpPr>
          <p:cNvPr id="5" name="TextBox 4"/>
          <p:cNvSpPr txBox="1"/>
          <p:nvPr/>
        </p:nvSpPr>
        <p:spPr>
          <a:xfrm>
            <a:off x="539552" y="4653136"/>
            <a:ext cx="7702624" cy="1477328"/>
          </a:xfrm>
          <a:prstGeom prst="rect">
            <a:avLst/>
          </a:prstGeom>
          <a:noFill/>
        </p:spPr>
        <p:txBody>
          <a:bodyPr wrap="square" rtlCol="0">
            <a:spAutoFit/>
          </a:bodyPr>
          <a:lstStyle/>
          <a:p>
            <a:pPr>
              <a:buNone/>
            </a:pPr>
            <a:r>
              <a:rPr lang="en-US" b="1" dirty="0" smtClean="0"/>
              <a:t>His Internship Experience:</a:t>
            </a:r>
            <a:endParaRPr lang="en-US" b="1" i="1" dirty="0" smtClean="0"/>
          </a:p>
          <a:p>
            <a:pPr>
              <a:buNone/>
            </a:pPr>
            <a:r>
              <a:rPr lang="en-US" b="1" i="1" dirty="0" smtClean="0"/>
              <a:t>“</a:t>
            </a:r>
            <a:r>
              <a:rPr lang="en-US" i="1" dirty="0" smtClean="0"/>
              <a:t>T</a:t>
            </a:r>
            <a:r>
              <a:rPr lang="en-CA" i="1" dirty="0" smtClean="0">
                <a:ea typeface="Calibri"/>
              </a:rPr>
              <a:t>he FINP internships have enabled me to acquire not only technical, work-related skills but also improve my soft, transferable skills such as communication, interpersonal and problem-solving skills ...that would definitely be vital in my next phase of securing a permanent position.”</a:t>
            </a:r>
            <a:endParaRPr lang="en-US" i="1" dirty="0" smtClean="0"/>
          </a:p>
        </p:txBody>
      </p:sp>
      <p:pic>
        <p:nvPicPr>
          <p:cNvPr id="1026" name="Picture 2" descr="D:\24 - Minister Kenney at Federal Internship for Newcomers Graduation Ceremony - Ottawa - May 10, 2012\02629023.jpg"/>
          <p:cNvPicPr>
            <a:picLocks noChangeAspect="1" noChangeArrowheads="1"/>
          </p:cNvPicPr>
          <p:nvPr/>
        </p:nvPicPr>
        <p:blipFill>
          <a:blip r:embed="rId3"/>
          <a:srcRect l="7801" t="13297" r="16236"/>
          <a:stretch>
            <a:fillRect/>
          </a:stretch>
        </p:blipFill>
        <p:spPr bwMode="auto">
          <a:xfrm>
            <a:off x="4932040" y="1772816"/>
            <a:ext cx="3528392" cy="2686163"/>
          </a:xfrm>
          <a:prstGeom prst="rect">
            <a:avLst/>
          </a:prstGeom>
          <a:ln>
            <a:noFill/>
          </a:ln>
          <a:effectLst>
            <a:outerShdw blurRad="292100" dist="139700" dir="2700000" algn="tl" rotWithShape="0">
              <a:srgbClr val="333333">
                <a:alpha val="65000"/>
              </a:srgbClr>
            </a:outerShdw>
          </a:effectLst>
        </p:spPr>
      </p:pic>
      <p:sp>
        <p:nvSpPr>
          <p:cNvPr id="7" name="Slide Number Placeholder 6"/>
          <p:cNvSpPr>
            <a:spLocks noGrp="1"/>
          </p:cNvSpPr>
          <p:nvPr>
            <p:ph type="sldNum" sz="quarter" idx="12"/>
          </p:nvPr>
        </p:nvSpPr>
        <p:spPr/>
        <p:txBody>
          <a:bodyPr/>
          <a:lstStyle/>
          <a:p>
            <a:fld id="{89A285D8-B1CC-4D45-993F-C26C8FD8DEF7}"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294312" y="1772816"/>
            <a:ext cx="4392488" cy="2808311"/>
          </a:xfrm>
        </p:spPr>
        <p:txBody>
          <a:bodyPr>
            <a:normAutofit fontScale="77500" lnSpcReduction="20000"/>
          </a:bodyPr>
          <a:lstStyle/>
          <a:p>
            <a:pPr>
              <a:buNone/>
            </a:pPr>
            <a:r>
              <a:rPr lang="en-CA" sz="2100" b="1" dirty="0" smtClean="0"/>
              <a:t>His Story:</a:t>
            </a:r>
          </a:p>
          <a:p>
            <a:r>
              <a:rPr lang="en-US" sz="2100" dirty="0" smtClean="0"/>
              <a:t>Immigrated to Canada through the World University Service of Canada’s (WUSC) Student Refugee Program in 2006 after spending 12 years in refugee camp in Malawi. </a:t>
            </a:r>
          </a:p>
          <a:p>
            <a:r>
              <a:rPr lang="en-US" sz="2100" dirty="0" smtClean="0"/>
              <a:t>Studied at Algoma University at Sault Ste-Marie, Ontario.</a:t>
            </a:r>
          </a:p>
          <a:p>
            <a:r>
              <a:rPr lang="en-US" sz="2100" dirty="0" smtClean="0"/>
              <a:t>Obtained a Bachelor’s degree in Finance and Economics in 2010.</a:t>
            </a:r>
          </a:p>
          <a:p>
            <a:pPr>
              <a:buNone/>
            </a:pPr>
            <a:endParaRPr lang="en-US" sz="1800" dirty="0" smtClean="0"/>
          </a:p>
          <a:p>
            <a:pPr>
              <a:buNone/>
            </a:pPr>
            <a:r>
              <a:rPr lang="en-CA" sz="2000" dirty="0" smtClean="0"/>
              <a:t/>
            </a:r>
            <a:br>
              <a:rPr lang="en-CA" sz="2000" dirty="0" smtClean="0"/>
            </a:br>
            <a:endParaRPr lang="en-CA" sz="2000" dirty="0" smtClean="0"/>
          </a:p>
          <a:p>
            <a:pPr>
              <a:buNone/>
            </a:pPr>
            <a:endParaRPr lang="en-US" dirty="0" smtClean="0"/>
          </a:p>
          <a:p>
            <a:pPr>
              <a:buNone/>
            </a:pPr>
            <a:endParaRPr lang="en-US" dirty="0"/>
          </a:p>
        </p:txBody>
      </p:sp>
      <p:sp>
        <p:nvSpPr>
          <p:cNvPr id="4" name="Title 3"/>
          <p:cNvSpPr>
            <a:spLocks noGrp="1"/>
          </p:cNvSpPr>
          <p:nvPr>
            <p:ph type="title"/>
          </p:nvPr>
        </p:nvSpPr>
        <p:spPr/>
        <p:txBody>
          <a:bodyPr/>
          <a:lstStyle/>
          <a:p>
            <a:r>
              <a:rPr lang="en-US" dirty="0" smtClean="0"/>
              <a:t>Jean-Marie: Finance/Program Officer, CIC</a:t>
            </a:r>
            <a:endParaRPr lang="en-US" dirty="0"/>
          </a:p>
        </p:txBody>
      </p:sp>
      <p:pic>
        <p:nvPicPr>
          <p:cNvPr id="6" name="Picture 2" descr="D:\FINP Graduation - May 9, 2011 - Ottawa 007.jpg"/>
          <p:cNvPicPr>
            <a:picLocks noChangeAspect="1" noChangeArrowheads="1"/>
          </p:cNvPicPr>
          <p:nvPr/>
        </p:nvPicPr>
        <p:blipFill>
          <a:blip r:embed="rId3"/>
          <a:srcRect l="20019" t="28307" r="20237"/>
          <a:stretch>
            <a:fillRect/>
          </a:stretch>
        </p:blipFill>
        <p:spPr bwMode="auto">
          <a:xfrm>
            <a:off x="685800" y="1745797"/>
            <a:ext cx="3238128" cy="25905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p:cNvSpPr txBox="1"/>
          <p:nvPr/>
        </p:nvSpPr>
        <p:spPr>
          <a:xfrm>
            <a:off x="539552" y="4581127"/>
            <a:ext cx="7702624" cy="1200329"/>
          </a:xfrm>
          <a:prstGeom prst="rect">
            <a:avLst/>
          </a:prstGeom>
          <a:noFill/>
        </p:spPr>
        <p:txBody>
          <a:bodyPr wrap="square" rtlCol="0">
            <a:spAutoFit/>
          </a:bodyPr>
          <a:lstStyle/>
          <a:p>
            <a:pPr>
              <a:buNone/>
            </a:pPr>
            <a:r>
              <a:rPr lang="en-US" b="1" dirty="0" smtClean="0"/>
              <a:t>His Internship Experience:</a:t>
            </a:r>
          </a:p>
          <a:p>
            <a:pPr>
              <a:buNone/>
            </a:pPr>
            <a:r>
              <a:rPr lang="en-CA" dirty="0" smtClean="0"/>
              <a:t>“</a:t>
            </a:r>
            <a:r>
              <a:rPr lang="en-CA" i="1" dirty="0" smtClean="0"/>
              <a:t>The opportunity equipped me with valuable, career-boosting experience...The internship at CIC has been a life-transforming experience and shaped my professional identity and approach for many years to come.”</a:t>
            </a:r>
            <a:endParaRPr lang="en-CA" dirty="0"/>
          </a:p>
        </p:txBody>
      </p:sp>
      <p:sp>
        <p:nvSpPr>
          <p:cNvPr id="8" name="Slide Number Placeholder 7"/>
          <p:cNvSpPr>
            <a:spLocks noGrp="1"/>
          </p:cNvSpPr>
          <p:nvPr>
            <p:ph type="sldNum" sz="quarter" idx="12"/>
          </p:nvPr>
        </p:nvSpPr>
        <p:spPr/>
        <p:txBody>
          <a:bodyPr/>
          <a:lstStyle/>
          <a:p>
            <a:fld id="{89A285D8-B1CC-4D45-993F-C26C8FD8DEF7}"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628800"/>
            <a:ext cx="4032448" cy="2736304"/>
          </a:xfrm>
        </p:spPr>
        <p:txBody>
          <a:bodyPr>
            <a:normAutofit fontScale="92500" lnSpcReduction="10000"/>
          </a:bodyPr>
          <a:lstStyle/>
          <a:p>
            <a:pPr>
              <a:buNone/>
            </a:pPr>
            <a:r>
              <a:rPr lang="en-CA" sz="1700" b="1" dirty="0" smtClean="0"/>
              <a:t>His Story:</a:t>
            </a:r>
          </a:p>
          <a:p>
            <a:r>
              <a:rPr lang="en-CA" sz="1700" dirty="0" smtClean="0"/>
              <a:t>Immigrated from Haiti to Canada in 2010. </a:t>
            </a:r>
          </a:p>
          <a:p>
            <a:r>
              <a:rPr lang="en-CA" sz="1700" dirty="0" smtClean="0"/>
              <a:t>Studied at École Nationale d’Administration (ENA), Strasbourg, France and </a:t>
            </a:r>
            <a:r>
              <a:rPr lang="fr-CA" sz="1700" dirty="0" smtClean="0"/>
              <a:t>École Nationale d’administration publique (ENAP), Gatineau, Canada. </a:t>
            </a:r>
          </a:p>
          <a:p>
            <a:r>
              <a:rPr lang="fr-CA" sz="1700" dirty="0" err="1" smtClean="0"/>
              <a:t>Obtained</a:t>
            </a:r>
            <a:r>
              <a:rPr lang="fr-CA" sz="1700" dirty="0" smtClean="0"/>
              <a:t> a </a:t>
            </a:r>
            <a:r>
              <a:rPr lang="fr-CA" sz="1700" dirty="0" err="1" smtClean="0"/>
              <a:t>degree</a:t>
            </a:r>
            <a:r>
              <a:rPr lang="fr-CA" sz="1700" dirty="0" smtClean="0"/>
              <a:t> in International Relations and Diplomatic Affairs </a:t>
            </a:r>
            <a:r>
              <a:rPr lang="en-CA" sz="1700" dirty="0" smtClean="0"/>
              <a:t> and a Masters of Public Administration in Program Evaluation.  </a:t>
            </a:r>
          </a:p>
          <a:p>
            <a:pPr>
              <a:buNone/>
            </a:pPr>
            <a:endParaRPr lang="en-US" sz="1700" b="1" dirty="0" smtClean="0"/>
          </a:p>
          <a:p>
            <a:pPr>
              <a:buNone/>
            </a:pPr>
            <a:endParaRPr lang="en-US" dirty="0"/>
          </a:p>
        </p:txBody>
      </p:sp>
      <p:sp>
        <p:nvSpPr>
          <p:cNvPr id="2" name="Title 1"/>
          <p:cNvSpPr>
            <a:spLocks noGrp="1"/>
          </p:cNvSpPr>
          <p:nvPr>
            <p:ph type="title"/>
          </p:nvPr>
        </p:nvSpPr>
        <p:spPr/>
        <p:txBody>
          <a:bodyPr/>
          <a:lstStyle/>
          <a:p>
            <a:r>
              <a:rPr lang="en-CA" dirty="0" smtClean="0"/>
              <a:t>Jacob: Business Analyst, CIC</a:t>
            </a:r>
            <a:endParaRPr lang="en-CA" dirty="0"/>
          </a:p>
        </p:txBody>
      </p:sp>
      <p:sp>
        <p:nvSpPr>
          <p:cNvPr id="6" name="TextBox 5"/>
          <p:cNvSpPr txBox="1"/>
          <p:nvPr/>
        </p:nvSpPr>
        <p:spPr>
          <a:xfrm>
            <a:off x="539552" y="4581128"/>
            <a:ext cx="7848872" cy="1200329"/>
          </a:xfrm>
          <a:prstGeom prst="rect">
            <a:avLst/>
          </a:prstGeom>
          <a:noFill/>
        </p:spPr>
        <p:txBody>
          <a:bodyPr wrap="square" rtlCol="0">
            <a:spAutoFit/>
          </a:bodyPr>
          <a:lstStyle/>
          <a:p>
            <a:pPr>
              <a:buNone/>
            </a:pPr>
            <a:r>
              <a:rPr lang="en-US" b="1" dirty="0" smtClean="0"/>
              <a:t>His Internship Experience:</a:t>
            </a:r>
            <a:endParaRPr lang="en-US" b="1" i="1" dirty="0" smtClean="0"/>
          </a:p>
          <a:p>
            <a:pPr>
              <a:buNone/>
            </a:pPr>
            <a:r>
              <a:rPr lang="en-CA" dirty="0" smtClean="0"/>
              <a:t>“</a:t>
            </a:r>
            <a:r>
              <a:rPr lang="en-CA" i="1" dirty="0" smtClean="0"/>
              <a:t>FINP strikes me as a valuable integration tool, enabling immigrants to get involved in their new adopted land and serve the collective good...it helped me feel useful and find meaning in my decision to immigrate to Canada.”</a:t>
            </a:r>
            <a:endParaRPr lang="en-US" i="1" dirty="0" smtClean="0"/>
          </a:p>
        </p:txBody>
      </p:sp>
      <p:pic>
        <p:nvPicPr>
          <p:cNvPr id="4098" name="Picture 2" descr="D:\24 - Minister Kenney at Federal Internship for Newcomers Graduation Ceremony - Ottawa - May 10, 2012\02628989.jpg"/>
          <p:cNvPicPr>
            <a:picLocks noChangeAspect="1" noChangeArrowheads="1"/>
          </p:cNvPicPr>
          <p:nvPr/>
        </p:nvPicPr>
        <p:blipFill>
          <a:blip r:embed="rId3"/>
          <a:srcRect l="9220" t="10034" r="16925"/>
          <a:stretch>
            <a:fillRect/>
          </a:stretch>
        </p:blipFill>
        <p:spPr bwMode="auto">
          <a:xfrm>
            <a:off x="4932040" y="1628800"/>
            <a:ext cx="3456384" cy="2808312"/>
          </a:xfrm>
          <a:prstGeom prst="rect">
            <a:avLst/>
          </a:prstGeom>
          <a:ln>
            <a:noFill/>
          </a:ln>
          <a:effectLst>
            <a:softEdge rad="112500"/>
          </a:effectLst>
        </p:spPr>
      </p:pic>
      <p:sp>
        <p:nvSpPr>
          <p:cNvPr id="8" name="Slide Number Placeholder 7"/>
          <p:cNvSpPr>
            <a:spLocks noGrp="1"/>
          </p:cNvSpPr>
          <p:nvPr>
            <p:ph type="sldNum" sz="quarter" idx="12"/>
          </p:nvPr>
        </p:nvSpPr>
        <p:spPr/>
        <p:txBody>
          <a:bodyPr/>
          <a:lstStyle/>
          <a:p>
            <a:fld id="{89A285D8-B1CC-4D45-993F-C26C8FD8DEF7}"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82344" y="1772816"/>
            <a:ext cx="4104456" cy="2520280"/>
          </a:xfrm>
        </p:spPr>
        <p:txBody>
          <a:bodyPr>
            <a:normAutofit/>
          </a:bodyPr>
          <a:lstStyle/>
          <a:p>
            <a:pPr>
              <a:buNone/>
            </a:pPr>
            <a:endParaRPr lang="en-CA" sz="1700" b="1" dirty="0" smtClean="0"/>
          </a:p>
          <a:p>
            <a:pPr>
              <a:buNone/>
            </a:pPr>
            <a:r>
              <a:rPr lang="en-CA" sz="1700" b="1" dirty="0" smtClean="0"/>
              <a:t>Her Story:</a:t>
            </a:r>
          </a:p>
          <a:p>
            <a:r>
              <a:rPr lang="en-CA" sz="1700" dirty="0" smtClean="0"/>
              <a:t>Immigrated from Tunisia to Canada in 2009. </a:t>
            </a:r>
          </a:p>
          <a:p>
            <a:r>
              <a:rPr lang="en-CA" sz="1700" dirty="0" smtClean="0"/>
              <a:t>Studied at </a:t>
            </a:r>
            <a:r>
              <a:rPr lang="en-US" sz="1700" dirty="0" smtClean="0"/>
              <a:t>National School of computer Sciences in Tunisia. </a:t>
            </a:r>
            <a:endParaRPr lang="fr-CA" sz="1700" dirty="0" smtClean="0"/>
          </a:p>
          <a:p>
            <a:r>
              <a:rPr lang="fr-CA" sz="1700" dirty="0" smtClean="0"/>
              <a:t>Obtained a diploma in computer science.</a:t>
            </a:r>
            <a:r>
              <a:rPr lang="en-CA" sz="1700" dirty="0" smtClean="0"/>
              <a:t>  </a:t>
            </a:r>
          </a:p>
          <a:p>
            <a:pPr>
              <a:buNone/>
            </a:pPr>
            <a:endParaRPr lang="en-US" sz="1700" b="1" dirty="0" smtClean="0"/>
          </a:p>
          <a:p>
            <a:pPr>
              <a:buNone/>
            </a:pPr>
            <a:endParaRPr lang="en-US" sz="2000" i="1" dirty="0" smtClean="0"/>
          </a:p>
          <a:p>
            <a:pPr>
              <a:buNone/>
            </a:pPr>
            <a:endParaRPr lang="en-US" dirty="0"/>
          </a:p>
        </p:txBody>
      </p:sp>
      <p:sp>
        <p:nvSpPr>
          <p:cNvPr id="2" name="Title 1"/>
          <p:cNvSpPr>
            <a:spLocks noGrp="1"/>
          </p:cNvSpPr>
          <p:nvPr>
            <p:ph type="title"/>
          </p:nvPr>
        </p:nvSpPr>
        <p:spPr/>
        <p:txBody>
          <a:bodyPr/>
          <a:lstStyle/>
          <a:p>
            <a:r>
              <a:rPr lang="en-CA" dirty="0" err="1" smtClean="0"/>
              <a:t>Imen</a:t>
            </a:r>
            <a:r>
              <a:rPr lang="en-CA" dirty="0" smtClean="0"/>
              <a:t>: Information Technologist, HRSDC</a:t>
            </a:r>
            <a:endParaRPr lang="en-CA" dirty="0"/>
          </a:p>
        </p:txBody>
      </p:sp>
      <p:sp>
        <p:nvSpPr>
          <p:cNvPr id="4" name="TextBox 3"/>
          <p:cNvSpPr txBox="1"/>
          <p:nvPr/>
        </p:nvSpPr>
        <p:spPr>
          <a:xfrm>
            <a:off x="539552" y="4581128"/>
            <a:ext cx="7920880" cy="1477328"/>
          </a:xfrm>
          <a:prstGeom prst="rect">
            <a:avLst/>
          </a:prstGeom>
          <a:noFill/>
        </p:spPr>
        <p:txBody>
          <a:bodyPr wrap="square" rtlCol="0">
            <a:spAutoFit/>
          </a:bodyPr>
          <a:lstStyle/>
          <a:p>
            <a:pPr>
              <a:buNone/>
            </a:pPr>
            <a:r>
              <a:rPr lang="en-US" b="1" dirty="0" smtClean="0"/>
              <a:t>Her Internship Experience:</a:t>
            </a:r>
            <a:endParaRPr lang="en-US" b="1" i="1" dirty="0" smtClean="0"/>
          </a:p>
          <a:p>
            <a:pPr>
              <a:buNone/>
            </a:pPr>
            <a:r>
              <a:rPr lang="en-CA" dirty="0" smtClean="0"/>
              <a:t>“</a:t>
            </a:r>
            <a:r>
              <a:rPr lang="en-CA" i="1" dirty="0" smtClean="0"/>
              <a:t>Everything is gathered together to achieve success: the coaching process, the information sessions, the support of the entire FIN Program team and more. Personally, this experience has opened the door to a successful life in this beautiful country. Now, I have more confidence in myself -which I had lost for a while.”  </a:t>
            </a:r>
          </a:p>
        </p:txBody>
      </p:sp>
      <p:pic>
        <p:nvPicPr>
          <p:cNvPr id="5122" name="Picture 2" descr="D:\24 - Minister Kenney at Federal Internship for Newcomers Graduation Ceremony - Ottawa - May 10, 2012\02628999.jpg"/>
          <p:cNvPicPr>
            <a:picLocks noChangeAspect="1" noChangeArrowheads="1"/>
          </p:cNvPicPr>
          <p:nvPr/>
        </p:nvPicPr>
        <p:blipFill>
          <a:blip r:embed="rId3"/>
          <a:srcRect l="7520" t="4271" r="15779"/>
          <a:stretch>
            <a:fillRect/>
          </a:stretch>
        </p:blipFill>
        <p:spPr bwMode="auto">
          <a:xfrm>
            <a:off x="971600" y="1772816"/>
            <a:ext cx="3254852" cy="27095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Slide Number Placeholder 5"/>
          <p:cNvSpPr>
            <a:spLocks noGrp="1"/>
          </p:cNvSpPr>
          <p:nvPr>
            <p:ph type="sldNum" sz="quarter" idx="12"/>
          </p:nvPr>
        </p:nvSpPr>
        <p:spPr/>
        <p:txBody>
          <a:bodyPr/>
          <a:lstStyle/>
          <a:p>
            <a:fld id="{89A285D8-B1CC-4D45-993F-C26C8FD8DEF7}"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844824"/>
            <a:ext cx="8001000" cy="4128939"/>
          </a:xfrm>
        </p:spPr>
        <p:txBody>
          <a:bodyPr>
            <a:normAutofit/>
          </a:bodyPr>
          <a:lstStyle/>
          <a:p>
            <a:pPr marL="514350" indent="-514350">
              <a:buFont typeface="+mj-lt"/>
              <a:buAutoNum type="arabicPeriod"/>
            </a:pPr>
            <a:r>
              <a:rPr lang="en-CA" sz="2000" dirty="0" smtClean="0"/>
              <a:t>We have graduates with post-secondary degrees and experience in high-demand sectors.</a:t>
            </a:r>
          </a:p>
          <a:p>
            <a:pPr marL="514350" indent="-514350">
              <a:spcBef>
                <a:spcPts val="2400"/>
              </a:spcBef>
              <a:buFont typeface="+mj-lt"/>
              <a:buAutoNum type="arabicPeriod"/>
            </a:pPr>
            <a:r>
              <a:rPr lang="en-CA" sz="2000" dirty="0" smtClean="0"/>
              <a:t>We can send you several CV’s of graduates that meet your job description.</a:t>
            </a:r>
          </a:p>
          <a:p>
            <a:pPr marL="514350" indent="-514350">
              <a:spcBef>
                <a:spcPts val="2400"/>
              </a:spcBef>
              <a:buFont typeface="+mj-lt"/>
              <a:buAutoNum type="arabicPeriod"/>
            </a:pPr>
            <a:r>
              <a:rPr lang="en-CA" sz="2000" dirty="0" smtClean="0"/>
              <a:t>You may wish to interview graduates and complete further assessment to determine the best fit for your organization.</a:t>
            </a:r>
          </a:p>
          <a:p>
            <a:pPr marL="514350" indent="-514350">
              <a:spcBef>
                <a:spcPts val="2400"/>
              </a:spcBef>
              <a:buFont typeface="+mj-lt"/>
              <a:buAutoNum type="arabicPeriod"/>
            </a:pPr>
            <a:r>
              <a:rPr lang="en-CA" sz="2000" dirty="0" smtClean="0"/>
              <a:t>Once you find a match, the graduate and your organization have access to a range of cross-cultural support services to help everyone succeed at no cost to you. </a:t>
            </a:r>
          </a:p>
          <a:p>
            <a:endParaRPr lang="en-US" dirty="0"/>
          </a:p>
        </p:txBody>
      </p:sp>
      <p:sp>
        <p:nvSpPr>
          <p:cNvPr id="2" name="Title 1"/>
          <p:cNvSpPr>
            <a:spLocks noGrp="1"/>
          </p:cNvSpPr>
          <p:nvPr>
            <p:ph type="title"/>
          </p:nvPr>
        </p:nvSpPr>
        <p:spPr/>
        <p:txBody>
          <a:bodyPr/>
          <a:lstStyle/>
          <a:p>
            <a:r>
              <a:rPr lang="en-CA" dirty="0" smtClean="0"/>
              <a:t>FIN Program Graduates for your Organization</a:t>
            </a:r>
            <a:endParaRPr lang="en-US" dirty="0"/>
          </a:p>
        </p:txBody>
      </p:sp>
      <p:sp>
        <p:nvSpPr>
          <p:cNvPr id="4" name="Slide Number Placeholder 3"/>
          <p:cNvSpPr>
            <a:spLocks noGrp="1"/>
          </p:cNvSpPr>
          <p:nvPr>
            <p:ph type="sldNum" sz="quarter" idx="12"/>
          </p:nvPr>
        </p:nvSpPr>
        <p:spPr/>
        <p:txBody>
          <a:bodyPr/>
          <a:lstStyle/>
          <a:p>
            <a:fld id="{89A285D8-B1CC-4D45-993F-C26C8FD8DEF7}"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700808"/>
            <a:ext cx="8001000" cy="4272955"/>
          </a:xfrm>
        </p:spPr>
        <p:txBody>
          <a:bodyPr>
            <a:normAutofit fontScale="85000" lnSpcReduction="10000"/>
          </a:bodyPr>
          <a:lstStyle/>
          <a:p>
            <a:pPr>
              <a:spcBef>
                <a:spcPts val="1200"/>
              </a:spcBef>
              <a:buFont typeface="Wingdings" pitchFamily="2" charset="2"/>
              <a:buChar char="ü"/>
            </a:pPr>
            <a:r>
              <a:rPr lang="en-CA" sz="2400" b="1" dirty="0" smtClean="0"/>
              <a:t>Experienced </a:t>
            </a:r>
          </a:p>
          <a:p>
            <a:pPr lvl="1">
              <a:spcBef>
                <a:spcPts val="600"/>
              </a:spcBef>
              <a:buNone/>
            </a:pPr>
            <a:r>
              <a:rPr lang="en-CA" sz="2000" dirty="0" smtClean="0"/>
              <a:t>Graduates are professionals with work experience in Canada and internationally.</a:t>
            </a:r>
          </a:p>
          <a:p>
            <a:pPr>
              <a:spcBef>
                <a:spcPts val="600"/>
              </a:spcBef>
              <a:buFont typeface="Wingdings" pitchFamily="2" charset="2"/>
              <a:buChar char="ü"/>
            </a:pPr>
            <a:r>
              <a:rPr lang="en-CA" sz="2400" b="1" dirty="0" smtClean="0"/>
              <a:t>Proven</a:t>
            </a:r>
          </a:p>
          <a:p>
            <a:pPr lvl="1">
              <a:spcBef>
                <a:spcPts val="600"/>
              </a:spcBef>
              <a:buNone/>
            </a:pPr>
            <a:r>
              <a:rPr lang="en-CA" sz="2000" dirty="0" smtClean="0"/>
              <a:t>Graduates have federal public service work experience and working level language skills</a:t>
            </a:r>
          </a:p>
          <a:p>
            <a:pPr>
              <a:spcBef>
                <a:spcPts val="600"/>
              </a:spcBef>
              <a:buFont typeface="Wingdings" pitchFamily="2" charset="2"/>
              <a:buChar char="ü"/>
            </a:pPr>
            <a:r>
              <a:rPr lang="en-CA" sz="2400" b="1" dirty="0" smtClean="0"/>
              <a:t>Trusted </a:t>
            </a:r>
          </a:p>
          <a:p>
            <a:pPr lvl="1">
              <a:spcBef>
                <a:spcPts val="600"/>
              </a:spcBef>
              <a:buNone/>
            </a:pPr>
            <a:r>
              <a:rPr lang="en-CA" sz="2000" dirty="0" smtClean="0"/>
              <a:t>Graduates possess a Government of Canada security clearance.</a:t>
            </a:r>
          </a:p>
          <a:p>
            <a:pPr>
              <a:spcBef>
                <a:spcPts val="1200"/>
              </a:spcBef>
              <a:buFont typeface="Wingdings" pitchFamily="2" charset="2"/>
              <a:buChar char="ü"/>
            </a:pPr>
            <a:r>
              <a:rPr lang="en-CA" sz="2400" b="1" dirty="0" smtClean="0"/>
              <a:t>Networked </a:t>
            </a:r>
          </a:p>
          <a:p>
            <a:pPr lvl="1">
              <a:spcBef>
                <a:spcPts val="600"/>
              </a:spcBef>
              <a:buNone/>
            </a:pPr>
            <a:r>
              <a:rPr lang="en-CA" sz="2000" dirty="0" smtClean="0"/>
              <a:t>Graduates have developed global and local relationships with decision-makers in government and the private sector.</a:t>
            </a:r>
            <a:endParaRPr lang="en-CA" sz="2000" b="1" dirty="0" smtClean="0"/>
          </a:p>
          <a:p>
            <a:pPr>
              <a:spcBef>
                <a:spcPts val="600"/>
              </a:spcBef>
              <a:buFont typeface="Wingdings" pitchFamily="2" charset="2"/>
              <a:buChar char="ü"/>
            </a:pPr>
            <a:r>
              <a:rPr lang="en-CA" sz="2400" b="1" dirty="0" smtClean="0"/>
              <a:t>Supported</a:t>
            </a:r>
            <a:r>
              <a:rPr lang="en-CA" sz="2400" dirty="0" smtClean="0"/>
              <a:t> </a:t>
            </a:r>
          </a:p>
          <a:p>
            <a:pPr lvl="1">
              <a:spcBef>
                <a:spcPts val="600"/>
              </a:spcBef>
              <a:buNone/>
            </a:pPr>
            <a:r>
              <a:rPr lang="en-CA" sz="2000" dirty="0" smtClean="0"/>
              <a:t>Graduates come with access to resources and training designed to help them succeed in the workplace.</a:t>
            </a:r>
          </a:p>
          <a:p>
            <a:endParaRPr lang="en-US" dirty="0"/>
          </a:p>
        </p:txBody>
      </p:sp>
      <p:sp>
        <p:nvSpPr>
          <p:cNvPr id="2" name="Title 1"/>
          <p:cNvSpPr>
            <a:spLocks noGrp="1"/>
          </p:cNvSpPr>
          <p:nvPr>
            <p:ph type="title"/>
          </p:nvPr>
        </p:nvSpPr>
        <p:spPr/>
        <p:txBody>
          <a:bodyPr/>
          <a:lstStyle/>
          <a:p>
            <a:r>
              <a:rPr lang="en-CA" dirty="0" smtClean="0"/>
              <a:t>The FIN Graduate Advantage</a:t>
            </a:r>
            <a:endParaRPr lang="en-US" dirty="0"/>
          </a:p>
        </p:txBody>
      </p:sp>
      <p:sp>
        <p:nvSpPr>
          <p:cNvPr id="4" name="Slide Number Placeholder 3"/>
          <p:cNvSpPr>
            <a:spLocks noGrp="1"/>
          </p:cNvSpPr>
          <p:nvPr>
            <p:ph type="sldNum" sz="quarter" idx="12"/>
          </p:nvPr>
        </p:nvSpPr>
        <p:spPr/>
        <p:txBody>
          <a:bodyPr/>
          <a:lstStyle/>
          <a:p>
            <a:fld id="{89A285D8-B1CC-4D45-993F-C26C8FD8DEF7}"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844825"/>
            <a:ext cx="8001000" cy="1656183"/>
          </a:xfrm>
        </p:spPr>
        <p:txBody>
          <a:bodyPr>
            <a:normAutofit/>
          </a:bodyPr>
          <a:lstStyle/>
          <a:p>
            <a:r>
              <a:rPr lang="en-CA" sz="1600" i="1" dirty="0" smtClean="0"/>
              <a:t>“We have had an excellent experience with our intern – from day one a real team player with a strong work ethic and capacity as well as an all-around fun person to work with and lead.  Over the last eight months we have learned much and hope we have provided a good introduction to the fast moving and high intensity environment of a policy shop.”    - CIC Manager</a:t>
            </a:r>
          </a:p>
          <a:p>
            <a:endParaRPr lang="en-CA" sz="1800" dirty="0" smtClean="0"/>
          </a:p>
          <a:p>
            <a:pPr>
              <a:buNone/>
            </a:pPr>
            <a:endParaRPr lang="en-US" dirty="0"/>
          </a:p>
        </p:txBody>
      </p:sp>
      <p:sp>
        <p:nvSpPr>
          <p:cNvPr id="2" name="Title 1"/>
          <p:cNvSpPr>
            <a:spLocks noGrp="1"/>
          </p:cNvSpPr>
          <p:nvPr>
            <p:ph type="title"/>
          </p:nvPr>
        </p:nvSpPr>
        <p:spPr/>
        <p:txBody>
          <a:bodyPr/>
          <a:lstStyle/>
          <a:p>
            <a:r>
              <a:rPr lang="en-US" dirty="0" smtClean="0"/>
              <a:t>Here’s what employers are saying </a:t>
            </a:r>
            <a:endParaRPr lang="en-US" dirty="0"/>
          </a:p>
        </p:txBody>
      </p:sp>
      <p:pic>
        <p:nvPicPr>
          <p:cNvPr id="2050" name="Picture 2" descr="D:\24 - Minister Kenney at Federal Internship for Newcomers Graduation Ceremony - Ottawa - May 10, 2012\02629076.jpg"/>
          <p:cNvPicPr>
            <a:picLocks noChangeAspect="1" noChangeArrowheads="1"/>
          </p:cNvPicPr>
          <p:nvPr/>
        </p:nvPicPr>
        <p:blipFill>
          <a:blip r:embed="rId2"/>
          <a:srcRect l="21728" t="7823" r="13919"/>
          <a:stretch>
            <a:fillRect/>
          </a:stretch>
        </p:blipFill>
        <p:spPr bwMode="auto">
          <a:xfrm>
            <a:off x="323528" y="3501008"/>
            <a:ext cx="2664296" cy="2545467"/>
          </a:xfrm>
          <a:prstGeom prst="rect">
            <a:avLst/>
          </a:prstGeom>
          <a:ln>
            <a:noFill/>
          </a:ln>
          <a:effectLst>
            <a:softEdge rad="112500"/>
          </a:effectLst>
        </p:spPr>
      </p:pic>
      <p:sp>
        <p:nvSpPr>
          <p:cNvPr id="5" name="TextBox 4"/>
          <p:cNvSpPr txBox="1"/>
          <p:nvPr/>
        </p:nvSpPr>
        <p:spPr>
          <a:xfrm>
            <a:off x="2987824" y="3645024"/>
            <a:ext cx="5544616" cy="1569660"/>
          </a:xfrm>
          <a:prstGeom prst="rect">
            <a:avLst/>
          </a:prstGeom>
          <a:noFill/>
        </p:spPr>
        <p:txBody>
          <a:bodyPr wrap="square" rtlCol="0">
            <a:spAutoFit/>
          </a:bodyPr>
          <a:lstStyle/>
          <a:p>
            <a:r>
              <a:rPr lang="en-CA" sz="1600" i="1" dirty="0" smtClean="0"/>
              <a:t>“I find that our interns quickly understand what we are trying to accomplish and are not only motivated to do good work, but are motivated to improve our program and help families. The Interns arrive with an open mind; a willingness and eagerness to learn while working; and bring with them an array of skills and abilities that complement our own.”  - HRSD Manager</a:t>
            </a:r>
          </a:p>
        </p:txBody>
      </p:sp>
      <p:sp>
        <p:nvSpPr>
          <p:cNvPr id="6" name="Slide Number Placeholder 5"/>
          <p:cNvSpPr>
            <a:spLocks noGrp="1"/>
          </p:cNvSpPr>
          <p:nvPr>
            <p:ph type="sldNum" sz="quarter" idx="12"/>
          </p:nvPr>
        </p:nvSpPr>
        <p:spPr/>
        <p:txBody>
          <a:bodyPr/>
          <a:lstStyle/>
          <a:p>
            <a:fld id="{89A285D8-B1CC-4D45-993F-C26C8FD8DEF7}"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844824"/>
            <a:ext cx="4462264" cy="4200947"/>
          </a:xfrm>
        </p:spPr>
        <p:txBody>
          <a:bodyPr>
            <a:normAutofit fontScale="62500" lnSpcReduction="20000"/>
          </a:bodyPr>
          <a:lstStyle/>
          <a:p>
            <a:r>
              <a:rPr lang="en-US" sz="2800" dirty="0" smtClean="0"/>
              <a:t>You and your organization featured on the FIN Program partner page. </a:t>
            </a:r>
          </a:p>
          <a:p>
            <a:endParaRPr lang="en-US" sz="2800" dirty="0" smtClean="0"/>
          </a:p>
          <a:p>
            <a:r>
              <a:rPr lang="en-US" sz="2800" dirty="0" smtClean="0"/>
              <a:t>News release announcing your involvement.</a:t>
            </a:r>
          </a:p>
          <a:p>
            <a:endParaRPr lang="en-US" sz="2800" dirty="0" smtClean="0"/>
          </a:p>
          <a:p>
            <a:r>
              <a:rPr lang="en-US" sz="2800" dirty="0" smtClean="0"/>
              <a:t>Attend FIN graduation and other Program events.</a:t>
            </a:r>
          </a:p>
          <a:p>
            <a:endParaRPr lang="en-US" sz="2800" dirty="0" smtClean="0"/>
          </a:p>
          <a:p>
            <a:r>
              <a:rPr lang="en-US" sz="2800" dirty="0" smtClean="0"/>
              <a:t>Access to FIN logo to use on your page, demonstrating your corporate diversity/social responsibility</a:t>
            </a:r>
          </a:p>
          <a:p>
            <a:endParaRPr lang="en-US" sz="2800" dirty="0" smtClean="0"/>
          </a:p>
          <a:p>
            <a:r>
              <a:rPr lang="en-US" sz="2800" dirty="0" smtClean="0"/>
              <a:t>Current featured partners: CGI and CIBC</a:t>
            </a:r>
          </a:p>
          <a:p>
            <a:endParaRPr lang="en-US" dirty="0"/>
          </a:p>
        </p:txBody>
      </p:sp>
      <p:sp>
        <p:nvSpPr>
          <p:cNvPr id="2" name="Title 1"/>
          <p:cNvSpPr>
            <a:spLocks noGrp="1"/>
          </p:cNvSpPr>
          <p:nvPr>
            <p:ph type="title"/>
          </p:nvPr>
        </p:nvSpPr>
        <p:spPr/>
        <p:txBody>
          <a:bodyPr/>
          <a:lstStyle/>
          <a:p>
            <a:r>
              <a:rPr lang="en-US" dirty="0" smtClean="0"/>
              <a:t>FIN Employer Recognition Program</a:t>
            </a:r>
            <a:endParaRPr lang="en-US" dirty="0"/>
          </a:p>
        </p:txBody>
      </p:sp>
      <p:pic>
        <p:nvPicPr>
          <p:cNvPr id="4" name="Picture 3" descr="cid:image002.png@01CD1E49.3230FE90"/>
          <p:cNvPicPr/>
          <p:nvPr/>
        </p:nvPicPr>
        <p:blipFill>
          <a:blip r:embed="rId2"/>
          <a:srcRect/>
          <a:stretch>
            <a:fillRect/>
          </a:stretch>
        </p:blipFill>
        <p:spPr bwMode="auto">
          <a:xfrm>
            <a:off x="5148064" y="2348880"/>
            <a:ext cx="3240360" cy="2016224"/>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89A285D8-B1CC-4D45-993F-C26C8FD8DEF7}"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1700808"/>
            <a:ext cx="7702624" cy="4272955"/>
          </a:xfrm>
        </p:spPr>
        <p:txBody>
          <a:bodyPr/>
          <a:lstStyle/>
          <a:p>
            <a:pPr>
              <a:buNone/>
            </a:pPr>
            <a:r>
              <a:rPr lang="en-CA" sz="2400" dirty="0" smtClean="0"/>
              <a:t>Mary </a:t>
            </a:r>
            <a:r>
              <a:rPr lang="en-CA" sz="2400" dirty="0" err="1" smtClean="0"/>
              <a:t>Da</a:t>
            </a:r>
            <a:r>
              <a:rPr lang="en-CA" sz="2400" dirty="0" smtClean="0"/>
              <a:t> Costa </a:t>
            </a:r>
            <a:r>
              <a:rPr lang="en-CA" sz="2400" dirty="0" err="1" smtClean="0"/>
              <a:t>Lauzon</a:t>
            </a:r>
            <a:endParaRPr lang="en-CA" sz="2400" dirty="0" smtClean="0"/>
          </a:p>
          <a:p>
            <a:pPr>
              <a:buNone/>
            </a:pPr>
            <a:r>
              <a:rPr lang="en-CA" sz="2400" dirty="0" smtClean="0"/>
              <a:t>Manager, FIN Program</a:t>
            </a:r>
          </a:p>
          <a:p>
            <a:pPr>
              <a:buNone/>
            </a:pPr>
            <a:r>
              <a:rPr lang="en-CA" sz="2400" dirty="0" smtClean="0"/>
              <a:t>613-941-8970</a:t>
            </a:r>
          </a:p>
          <a:p>
            <a:pPr>
              <a:buNone/>
            </a:pPr>
            <a:r>
              <a:rPr lang="en-CA" sz="2400" dirty="0" err="1" smtClean="0"/>
              <a:t>Mary.da-costa-lauzon@cic.gc.ca</a:t>
            </a:r>
            <a:endParaRPr lang="en-CA" sz="2400" dirty="0" smtClean="0"/>
          </a:p>
          <a:p>
            <a:pPr>
              <a:buNone/>
            </a:pPr>
            <a:endParaRPr lang="en-CA" sz="2400" dirty="0" smtClean="0"/>
          </a:p>
          <a:p>
            <a:pPr>
              <a:buNone/>
            </a:pPr>
            <a:r>
              <a:rPr lang="en-CA" sz="2400" dirty="0" smtClean="0"/>
              <a:t>Jennifer Moores</a:t>
            </a:r>
          </a:p>
          <a:p>
            <a:pPr>
              <a:buNone/>
            </a:pPr>
            <a:r>
              <a:rPr lang="en-CA" sz="2400" dirty="0" smtClean="0"/>
              <a:t>Senior Analyst, FIN Program</a:t>
            </a:r>
          </a:p>
          <a:p>
            <a:pPr>
              <a:buNone/>
            </a:pPr>
            <a:r>
              <a:rPr lang="en-CA" sz="2400" dirty="0" smtClean="0"/>
              <a:t>613-957-5829</a:t>
            </a:r>
          </a:p>
          <a:p>
            <a:pPr>
              <a:buNone/>
            </a:pPr>
            <a:r>
              <a:rPr lang="en-CA" sz="2400" dirty="0" err="1" smtClean="0"/>
              <a:t>Jennifer.moores@cic.gc.ca</a:t>
            </a:r>
            <a:endParaRPr lang="en-CA" sz="2400" dirty="0" smtClean="0"/>
          </a:p>
          <a:p>
            <a:pPr>
              <a:buNone/>
            </a:pPr>
            <a:endParaRPr lang="en-CA" dirty="0" smtClean="0"/>
          </a:p>
        </p:txBody>
      </p:sp>
      <p:sp>
        <p:nvSpPr>
          <p:cNvPr id="3" name="Title 2"/>
          <p:cNvSpPr>
            <a:spLocks noGrp="1"/>
          </p:cNvSpPr>
          <p:nvPr>
            <p:ph type="title"/>
          </p:nvPr>
        </p:nvSpPr>
        <p:spPr/>
        <p:txBody>
          <a:bodyPr/>
          <a:lstStyle/>
          <a:p>
            <a:r>
              <a:rPr lang="en-CA" dirty="0" smtClean="0"/>
              <a:t>Contact us</a:t>
            </a:r>
            <a:endParaRPr lang="en-CA" dirty="0"/>
          </a:p>
        </p:txBody>
      </p:sp>
      <p:sp>
        <p:nvSpPr>
          <p:cNvPr id="6" name="Slide Number Placeholder 5"/>
          <p:cNvSpPr>
            <a:spLocks noGrp="1"/>
          </p:cNvSpPr>
          <p:nvPr>
            <p:ph type="sldNum" sz="quarter" idx="12"/>
          </p:nvPr>
        </p:nvSpPr>
        <p:spPr/>
        <p:txBody>
          <a:bodyPr/>
          <a:lstStyle/>
          <a:p>
            <a:fld id="{89A285D8-B1CC-4D45-993F-C26C8FD8DEF7}" type="slidenum">
              <a:rPr lang="en-US" smtClean="0"/>
              <a:pPr/>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14277</TotalTime>
  <Words>1733</Words>
  <Application>Microsoft Office PowerPoint</Application>
  <PresentationFormat>On-screen Show (4:3)</PresentationFormat>
  <Paragraphs>176</Paragraphs>
  <Slides>16</Slides>
  <Notes>8</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Looking for professional, experienced help?</vt:lpstr>
      <vt:lpstr>The Solution</vt:lpstr>
      <vt:lpstr>Why Hire Immigrants?</vt:lpstr>
      <vt:lpstr>Federal Internship for Newcomers (FIN) Program</vt:lpstr>
      <vt:lpstr>The FIN Program Approach</vt:lpstr>
      <vt:lpstr>Meet some of our graduates…</vt:lpstr>
      <vt:lpstr>Ha: Trade Policy Analyst, Agriculture  </vt:lpstr>
      <vt:lpstr>Jean-Marie: Finance/Program Officer, CIC</vt:lpstr>
      <vt:lpstr>Jacob: Business Analyst, CIC</vt:lpstr>
      <vt:lpstr>Imen: Information Technologist, HRSDC</vt:lpstr>
      <vt:lpstr>FIN Program Graduates for your Organization</vt:lpstr>
      <vt:lpstr>The FIN Graduate Advantage</vt:lpstr>
      <vt:lpstr>Here’s what employers are saying </vt:lpstr>
      <vt:lpstr>FIN Employer Recognition Program</vt:lpstr>
      <vt:lpstr>Contact us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CIC</dc:creator>
  <cp:lastModifiedBy>clochhead</cp:lastModifiedBy>
  <cp:revision>88</cp:revision>
  <dcterms:created xsi:type="dcterms:W3CDTF">2010-07-27T20:22:16Z</dcterms:created>
  <dcterms:modified xsi:type="dcterms:W3CDTF">2012-06-26T15:53:10Z</dcterms:modified>
</cp:coreProperties>
</file>