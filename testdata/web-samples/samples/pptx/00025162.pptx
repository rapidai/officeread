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1.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notesMasterIdLst>
    <p:notesMasterId r:id="rId46"/>
  </p:notesMasterIdLst>
  <p:sldIdLst>
    <p:sldId id="256" r:id="rId2"/>
    <p:sldId id="368" r:id="rId3"/>
    <p:sldId id="311" r:id="rId4"/>
    <p:sldId id="310" r:id="rId5"/>
    <p:sldId id="287" r:id="rId6"/>
    <p:sldId id="365" r:id="rId7"/>
    <p:sldId id="350" r:id="rId8"/>
    <p:sldId id="336" r:id="rId9"/>
    <p:sldId id="261" r:id="rId10"/>
    <p:sldId id="352" r:id="rId11"/>
    <p:sldId id="348" r:id="rId12"/>
    <p:sldId id="339" r:id="rId13"/>
    <p:sldId id="344" r:id="rId14"/>
    <p:sldId id="340" r:id="rId15"/>
    <p:sldId id="370" r:id="rId16"/>
    <p:sldId id="289" r:id="rId17"/>
    <p:sldId id="357" r:id="rId18"/>
    <p:sldId id="290" r:id="rId19"/>
    <p:sldId id="301" r:id="rId20"/>
    <p:sldId id="303" r:id="rId21"/>
    <p:sldId id="304" r:id="rId22"/>
    <p:sldId id="284" r:id="rId23"/>
    <p:sldId id="371" r:id="rId24"/>
    <p:sldId id="298" r:id="rId25"/>
    <p:sldId id="267" r:id="rId26"/>
    <p:sldId id="268" r:id="rId27"/>
    <p:sldId id="270" r:id="rId28"/>
    <p:sldId id="271" r:id="rId29"/>
    <p:sldId id="361" r:id="rId30"/>
    <p:sldId id="354" r:id="rId31"/>
    <p:sldId id="355" r:id="rId32"/>
    <p:sldId id="382" r:id="rId33"/>
    <p:sldId id="379" r:id="rId34"/>
    <p:sldId id="366" r:id="rId35"/>
    <p:sldId id="278" r:id="rId36"/>
    <p:sldId id="307" r:id="rId37"/>
    <p:sldId id="380" r:id="rId38"/>
    <p:sldId id="373" r:id="rId39"/>
    <p:sldId id="376" r:id="rId40"/>
    <p:sldId id="377" r:id="rId41"/>
    <p:sldId id="374" r:id="rId42"/>
    <p:sldId id="381" r:id="rId43"/>
    <p:sldId id="367" r:id="rId44"/>
    <p:sldId id="369" r:id="rId4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autoAdjust="0"/>
    <p:restoredTop sz="94610" autoAdjust="0"/>
  </p:normalViewPr>
  <p:slideViewPr>
    <p:cSldViewPr>
      <p:cViewPr>
        <p:scale>
          <a:sx n="30" d="100"/>
          <a:sy n="30" d="100"/>
        </p:scale>
        <p:origin x="-1620" y="-324"/>
      </p:cViewPr>
      <p:guideLst>
        <p:guide orient="horz" pos="2160"/>
        <p:guide pos="2880"/>
      </p:guideLst>
    </p:cSldViewPr>
  </p:slideViewPr>
  <p:outlineViewPr>
    <p:cViewPr>
      <p:scale>
        <a:sx n="33" d="100"/>
        <a:sy n="33" d="100"/>
      </p:scale>
      <p:origin x="0" y="0"/>
    </p:cViewPr>
  </p:outlineViewPr>
  <p:notesTextViewPr>
    <p:cViewPr>
      <p:scale>
        <a:sx n="1" d="1"/>
        <a:sy n="1" d="1"/>
      </p:scale>
      <p:origin x="0" y="24"/>
    </p:cViewPr>
  </p:notesTextViewPr>
  <p:sorterViewPr>
    <p:cViewPr>
      <p:scale>
        <a:sx n="100" d="100"/>
        <a:sy n="100" d="100"/>
      </p:scale>
      <p:origin x="0" y="523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E4EAEE0-976F-4669-B6B1-205612428173}" type="datetimeFigureOut">
              <a:rPr lang="en-CA" smtClean="0"/>
              <a:t>12/10/2012</a:t>
            </a:fld>
            <a:endParaRPr lang="en-CA"/>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76166CF-225D-4967-9A1E-EA3500EFEF5B}" type="slidenum">
              <a:rPr lang="en-CA" smtClean="0"/>
              <a:t>‹#›</a:t>
            </a:fld>
            <a:endParaRPr lang="en-CA"/>
          </a:p>
        </p:txBody>
      </p:sp>
    </p:spTree>
    <p:extLst>
      <p:ext uri="{BB962C8B-B14F-4D97-AF65-F5344CB8AC3E}">
        <p14:creationId xmlns:p14="http://schemas.microsoft.com/office/powerpoint/2010/main" val="17407722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E76166CF-225D-4967-9A1E-EA3500EFEF5B}" type="slidenum">
              <a:rPr lang="en-CA" smtClean="0"/>
              <a:t>24</a:t>
            </a:fld>
            <a:endParaRPr lang="en-CA"/>
          </a:p>
        </p:txBody>
      </p:sp>
    </p:spTree>
    <p:extLst>
      <p:ext uri="{BB962C8B-B14F-4D97-AF65-F5344CB8AC3E}">
        <p14:creationId xmlns:p14="http://schemas.microsoft.com/office/powerpoint/2010/main" val="17356378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B054A008-2180-4A10-86CD-25D7D070C0B2}" type="datetimeFigureOut">
              <a:rPr lang="en-CA" smtClean="0"/>
              <a:t>12/10/2012</a:t>
            </a:fld>
            <a:endParaRPr lang="en-CA" dirty="0"/>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CA" dirty="0"/>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9B13BC37-2B99-41BD-88F0-7BDCB35F884E}" type="slidenum">
              <a:rPr lang="en-CA" smtClean="0"/>
              <a:t>‹#›</a:t>
            </a:fld>
            <a:endParaRPr lang="en-CA"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B054A008-2180-4A10-86CD-25D7D070C0B2}" type="datetimeFigureOut">
              <a:rPr lang="en-CA" smtClean="0"/>
              <a:t>12/10/2012</a:t>
            </a:fld>
            <a:endParaRPr lang="en-CA" dirty="0"/>
          </a:p>
        </p:txBody>
      </p:sp>
      <p:sp>
        <p:nvSpPr>
          <p:cNvPr id="5" name="Footer Placeholder 4"/>
          <p:cNvSpPr>
            <a:spLocks noGrp="1"/>
          </p:cNvSpPr>
          <p:nvPr>
            <p:ph type="ftr" sz="quarter" idx="11"/>
          </p:nvPr>
        </p:nvSpPr>
        <p:spPr/>
        <p:txBody>
          <a:bodyPr/>
          <a:lstStyle/>
          <a:p>
            <a:endParaRPr lang="en-CA" dirty="0"/>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9B13BC37-2B99-41BD-88F0-7BDCB35F884E}" type="slidenum">
              <a:rPr lang="en-CA" smtClean="0"/>
              <a:t>‹#›</a:t>
            </a:fld>
            <a:endParaRPr lang="en-CA" dirty="0"/>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B054A008-2180-4A10-86CD-25D7D070C0B2}" type="datetimeFigureOut">
              <a:rPr lang="en-CA" smtClean="0"/>
              <a:t>12/10/2012</a:t>
            </a:fld>
            <a:endParaRPr lang="en-CA" dirty="0"/>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9B13BC37-2B99-41BD-88F0-7BDCB35F884E}" type="slidenum">
              <a:rPr lang="en-CA" smtClean="0"/>
              <a:t>‹#›</a:t>
            </a:fld>
            <a:endParaRPr lang="en-CA" dirty="0"/>
          </a:p>
        </p:txBody>
      </p:sp>
      <p:sp>
        <p:nvSpPr>
          <p:cNvPr id="14" name="Footer Placeholder 13"/>
          <p:cNvSpPr>
            <a:spLocks noGrp="1"/>
          </p:cNvSpPr>
          <p:nvPr>
            <p:ph type="ftr" sz="quarter" idx="12"/>
          </p:nvPr>
        </p:nvSpPr>
        <p:spPr/>
        <p:txBody>
          <a:bodyPr/>
          <a:lstStyle/>
          <a:p>
            <a:endParaRPr lang="en-CA"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B054A008-2180-4A10-86CD-25D7D070C0B2}" type="datetimeFigureOut">
              <a:rPr lang="en-CA" smtClean="0"/>
              <a:t>12/10/2012</a:t>
            </a:fld>
            <a:endParaRPr lang="en-CA" dirty="0"/>
          </a:p>
        </p:txBody>
      </p:sp>
      <p:sp>
        <p:nvSpPr>
          <p:cNvPr id="10" name="Slide Number Placeholder 9"/>
          <p:cNvSpPr>
            <a:spLocks noGrp="1"/>
          </p:cNvSpPr>
          <p:nvPr>
            <p:ph type="sldNum" sz="quarter" idx="16"/>
          </p:nvPr>
        </p:nvSpPr>
        <p:spPr/>
        <p:txBody>
          <a:bodyPr rtlCol="0"/>
          <a:lstStyle/>
          <a:p>
            <a:fld id="{9B13BC37-2B99-41BD-88F0-7BDCB35F884E}" type="slidenum">
              <a:rPr lang="en-CA" smtClean="0"/>
              <a:t>‹#›</a:t>
            </a:fld>
            <a:endParaRPr lang="en-CA" dirty="0"/>
          </a:p>
        </p:txBody>
      </p:sp>
      <p:sp>
        <p:nvSpPr>
          <p:cNvPr id="12" name="Footer Placeholder 11"/>
          <p:cNvSpPr>
            <a:spLocks noGrp="1"/>
          </p:cNvSpPr>
          <p:nvPr>
            <p:ph type="ftr" sz="quarter" idx="17"/>
          </p:nvPr>
        </p:nvSpPr>
        <p:spPr/>
        <p:txBody>
          <a:bodyPr rtlCol="0"/>
          <a:lstStyle/>
          <a:p>
            <a:endParaRPr lang="en-CA"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B054A008-2180-4A10-86CD-25D7D070C0B2}" type="datetimeFigureOut">
              <a:rPr lang="en-CA" smtClean="0"/>
              <a:t>12/10/2012</a:t>
            </a:fld>
            <a:endParaRPr lang="en-CA" dirty="0"/>
          </a:p>
        </p:txBody>
      </p:sp>
      <p:sp>
        <p:nvSpPr>
          <p:cNvPr id="12" name="Slide Number Placeholder 11"/>
          <p:cNvSpPr>
            <a:spLocks noGrp="1"/>
          </p:cNvSpPr>
          <p:nvPr>
            <p:ph type="sldNum" sz="quarter" idx="16"/>
          </p:nvPr>
        </p:nvSpPr>
        <p:spPr/>
        <p:txBody>
          <a:bodyPr rtlCol="0"/>
          <a:lstStyle/>
          <a:p>
            <a:fld id="{9B13BC37-2B99-41BD-88F0-7BDCB35F884E}" type="slidenum">
              <a:rPr lang="en-CA" smtClean="0"/>
              <a:t>‹#›</a:t>
            </a:fld>
            <a:endParaRPr lang="en-CA" dirty="0"/>
          </a:p>
        </p:txBody>
      </p:sp>
      <p:sp>
        <p:nvSpPr>
          <p:cNvPr id="14" name="Footer Placeholder 13"/>
          <p:cNvSpPr>
            <a:spLocks noGrp="1"/>
          </p:cNvSpPr>
          <p:nvPr>
            <p:ph type="ftr" sz="quarter" idx="17"/>
          </p:nvPr>
        </p:nvSpPr>
        <p:spPr/>
        <p:txBody>
          <a:bodyPr rtlCol="0"/>
          <a:lstStyle/>
          <a:p>
            <a:endParaRPr lang="en-CA" dirty="0"/>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B054A008-2180-4A10-86CD-25D7D070C0B2}" type="datetimeFigureOut">
              <a:rPr lang="en-CA" smtClean="0"/>
              <a:t>12/10/2012</a:t>
            </a:fld>
            <a:endParaRPr lang="en-CA" dirty="0"/>
          </a:p>
        </p:txBody>
      </p:sp>
      <p:sp>
        <p:nvSpPr>
          <p:cNvPr id="4" name="Footer Placeholder 3"/>
          <p:cNvSpPr>
            <a:spLocks noGrp="1"/>
          </p:cNvSpPr>
          <p:nvPr>
            <p:ph type="ftr" sz="quarter" idx="11"/>
          </p:nvPr>
        </p:nvSpPr>
        <p:spPr/>
        <p:txBody>
          <a:bodyPr/>
          <a:lstStyle/>
          <a:p>
            <a:endParaRPr lang="en-CA" dirty="0"/>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9B13BC37-2B99-41BD-88F0-7BDCB35F884E}" type="slidenum">
              <a:rPr lang="en-CA" smtClean="0"/>
              <a:t>‹#›</a:t>
            </a:fld>
            <a:endParaRPr lang="en-CA"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54A008-2180-4A10-86CD-25D7D070C0B2}" type="datetimeFigureOut">
              <a:rPr lang="en-CA" smtClean="0"/>
              <a:t>12/10/2012</a:t>
            </a:fld>
            <a:endParaRPr lang="en-CA" dirty="0"/>
          </a:p>
        </p:txBody>
      </p:sp>
      <p:sp>
        <p:nvSpPr>
          <p:cNvPr id="3" name="Footer Placeholder 2"/>
          <p:cNvSpPr>
            <a:spLocks noGrp="1"/>
          </p:cNvSpPr>
          <p:nvPr>
            <p:ph type="ftr" sz="quarter" idx="11"/>
          </p:nvPr>
        </p:nvSpPr>
        <p:spPr/>
        <p:txBody>
          <a:bodyPr/>
          <a:lstStyle/>
          <a:p>
            <a:endParaRPr lang="en-CA" dirty="0"/>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9B13BC37-2B99-41BD-88F0-7BDCB35F884E}" type="slidenum">
              <a:rPr lang="en-CA" smtClean="0"/>
              <a:t>‹#›</a:t>
            </a:fld>
            <a:endParaRPr lang="en-CA"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B054A008-2180-4A10-86CD-25D7D070C0B2}" type="datetimeFigureOut">
              <a:rPr lang="en-CA" smtClean="0"/>
              <a:t>12/10/2012</a:t>
            </a:fld>
            <a:endParaRPr lang="en-CA" dirty="0"/>
          </a:p>
        </p:txBody>
      </p:sp>
      <p:sp>
        <p:nvSpPr>
          <p:cNvPr id="6" name="Footer Placeholder 5"/>
          <p:cNvSpPr>
            <a:spLocks noGrp="1"/>
          </p:cNvSpPr>
          <p:nvPr>
            <p:ph type="ftr" sz="quarter" idx="11"/>
          </p:nvPr>
        </p:nvSpPr>
        <p:spPr/>
        <p:txBody>
          <a:bodyPr/>
          <a:lstStyle/>
          <a:p>
            <a:endParaRPr lang="en-CA" dirty="0"/>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9B13BC37-2B99-41BD-88F0-7BDCB35F884E}" type="slidenum">
              <a:rPr lang="en-CA" smtClean="0"/>
              <a:t>‹#›</a:t>
            </a:fld>
            <a:endParaRPr lang="en-CA" dirty="0"/>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Date Placeholder 11"/>
          <p:cNvSpPr>
            <a:spLocks noGrp="1"/>
          </p:cNvSpPr>
          <p:nvPr>
            <p:ph type="dt" sz="half" idx="10"/>
          </p:nvPr>
        </p:nvSpPr>
        <p:spPr>
          <a:xfrm>
            <a:off x="6248400" y="6248400"/>
            <a:ext cx="2667000" cy="365125"/>
          </a:xfrm>
        </p:spPr>
        <p:txBody>
          <a:bodyPr rtlCol="0"/>
          <a:lstStyle/>
          <a:p>
            <a:fld id="{B054A008-2180-4A10-86CD-25D7D070C0B2}" type="datetimeFigureOut">
              <a:rPr lang="en-CA" smtClean="0"/>
              <a:t>12/10/2012</a:t>
            </a:fld>
            <a:endParaRPr lang="en-CA" dirty="0"/>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9B13BC37-2B99-41BD-88F0-7BDCB35F884E}" type="slidenum">
              <a:rPr lang="en-CA" smtClean="0"/>
              <a:t>‹#›</a:t>
            </a:fld>
            <a:endParaRPr lang="en-CA" dirty="0"/>
          </a:p>
        </p:txBody>
      </p:sp>
      <p:sp>
        <p:nvSpPr>
          <p:cNvPr id="14" name="Footer Placeholder 13"/>
          <p:cNvSpPr>
            <a:spLocks noGrp="1"/>
          </p:cNvSpPr>
          <p:nvPr>
            <p:ph type="ftr" sz="quarter" idx="12"/>
          </p:nvPr>
        </p:nvSpPr>
        <p:spPr>
          <a:xfrm>
            <a:off x="1600200" y="6248206"/>
            <a:ext cx="4572000" cy="365125"/>
          </a:xfrm>
        </p:spPr>
        <p:txBody>
          <a:bodyPr rtlCol="0"/>
          <a:lstStyle/>
          <a:p>
            <a:endParaRPr lang="en-CA" dirty="0"/>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dirty="0" smtClean="0"/>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B054A008-2180-4A10-86CD-25D7D070C0B2}" type="datetimeFigureOut">
              <a:rPr lang="en-CA" smtClean="0"/>
              <a:t>12/10/2012</a:t>
            </a:fld>
            <a:endParaRPr lang="en-CA" dirty="0"/>
          </a:p>
        </p:txBody>
      </p:sp>
      <p:sp>
        <p:nvSpPr>
          <p:cNvPr id="5" name="Footer Placeholder 4"/>
          <p:cNvSpPr>
            <a:spLocks noGrp="1"/>
          </p:cNvSpPr>
          <p:nvPr>
            <p:ph type="ftr" sz="quarter" idx="11"/>
          </p:nvPr>
        </p:nvSpPr>
        <p:spPr/>
        <p:txBody>
          <a:bodyPr/>
          <a:lstStyle/>
          <a:p>
            <a:endParaRPr lang="en-CA" dirty="0"/>
          </a:p>
        </p:txBody>
      </p:sp>
      <p:sp>
        <p:nvSpPr>
          <p:cNvPr id="6" name="Slide Number Placeholder 5"/>
          <p:cNvSpPr>
            <a:spLocks noGrp="1"/>
          </p:cNvSpPr>
          <p:nvPr>
            <p:ph type="sldNum" sz="quarter" idx="12"/>
          </p:nvPr>
        </p:nvSpPr>
        <p:spPr/>
        <p:txBody>
          <a:bodyPr/>
          <a:lstStyle/>
          <a:p>
            <a:fld id="{9B13BC37-2B99-41BD-88F0-7BDCB35F884E}" type="slidenum">
              <a:rPr lang="en-CA" smtClean="0"/>
              <a:t>‹#›</a:t>
            </a:fld>
            <a:endParaRPr lang="en-CA"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B054A008-2180-4A10-86CD-25D7D070C0B2}" type="datetimeFigureOut">
              <a:rPr lang="en-CA" smtClean="0"/>
              <a:t>12/10/2012</a:t>
            </a:fld>
            <a:endParaRPr lang="en-CA" dirty="0"/>
          </a:p>
        </p:txBody>
      </p:sp>
      <p:sp>
        <p:nvSpPr>
          <p:cNvPr id="5" name="Footer Placeholder 4"/>
          <p:cNvSpPr>
            <a:spLocks noGrp="1"/>
          </p:cNvSpPr>
          <p:nvPr>
            <p:ph type="ftr" sz="quarter" idx="11"/>
          </p:nvPr>
        </p:nvSpPr>
        <p:spPr>
          <a:xfrm>
            <a:off x="457201" y="6248207"/>
            <a:ext cx="5573483" cy="365125"/>
          </a:xfrm>
        </p:spPr>
        <p:txBody>
          <a:bodyPr/>
          <a:lstStyle/>
          <a:p>
            <a:endParaRPr lang="en-CA" dirty="0"/>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6" name="Slide Number Placeholder 5"/>
          <p:cNvSpPr>
            <a:spLocks noGrp="1"/>
          </p:cNvSpPr>
          <p:nvPr>
            <p:ph type="sldNum" sz="quarter" idx="12"/>
          </p:nvPr>
        </p:nvSpPr>
        <p:spPr>
          <a:xfrm rot="5400000">
            <a:off x="5989638" y="144462"/>
            <a:ext cx="533400" cy="244476"/>
          </a:xfrm>
        </p:spPr>
        <p:txBody>
          <a:bodyPr/>
          <a:lstStyle/>
          <a:p>
            <a:fld id="{9B13BC37-2B99-41BD-88F0-7BDCB35F884E}" type="slidenum">
              <a:rPr lang="en-CA" smtClean="0"/>
              <a:t>‹#›</a:t>
            </a:fld>
            <a:endParaRPr lang="en-CA" dirty="0"/>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B054A008-2180-4A10-86CD-25D7D070C0B2}" type="datetimeFigureOut">
              <a:rPr lang="en-CA" smtClean="0"/>
              <a:t>12/10/2012</a:t>
            </a:fld>
            <a:endParaRPr lang="en-CA" dirty="0"/>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CA" dirty="0"/>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9B13BC37-2B99-41BD-88F0-7BDCB35F884E}" type="slidenum">
              <a:rPr lang="en-CA" smtClean="0"/>
              <a:t>‹#›</a:t>
            </a:fld>
            <a:endParaRPr lang="en-CA" dirty="0"/>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3.png"/><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3.png"/><Relationship Id="rId4" Type="http://schemas.microsoft.com/office/2007/relationships/hdphoto" Target="../media/hdphoto3.wdp"/></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tags" Target="../tags/tag8.xml"/><Relationship Id="rId5" Type="http://schemas.openxmlformats.org/officeDocument/2006/relationships/image" Target="../media/image3.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2.xml"/><Relationship Id="rId1" Type="http://schemas.openxmlformats.org/officeDocument/2006/relationships/tags" Target="../tags/tag9.xml"/><Relationship Id="rId5" Type="http://schemas.openxmlformats.org/officeDocument/2006/relationships/image" Target="../media/image3.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hyperlink" Target="http://voices.yahoo.com/english-as-second-language-esl-learners-saudi-arabia-2899149.html" TargetMode="External"/><Relationship Id="rId7" Type="http://schemas.openxmlformats.org/officeDocument/2006/relationships/hyperlink" Target="http://www.cdsi.gov.sa/english/" TargetMode="External"/><Relationship Id="rId2" Type="http://schemas.openxmlformats.org/officeDocument/2006/relationships/hyperlink" Target="http://www.arabnews.com/?page=1&amp;section=0&amp;article=104142&amp;d=30&amp;m=11&amp;y=2007" TargetMode="External"/><Relationship Id="rId1" Type="http://schemas.openxmlformats.org/officeDocument/2006/relationships/slideLayout" Target="../slideLayouts/slideLayout2.xml"/><Relationship Id="rId6" Type="http://schemas.openxmlformats.org/officeDocument/2006/relationships/hyperlink" Target="http://chronicle.com/article/Saudi-Arabias-Education/124771/" TargetMode="External"/><Relationship Id="rId5" Type="http://schemas.openxmlformats.org/officeDocument/2006/relationships/hyperlink" Target="http://mideastposts.com/2012/06/disaster-wasta-undermines-saudi-education-system/" TargetMode="External"/><Relationship Id="rId4" Type="http://schemas.openxmlformats.org/officeDocument/2006/relationships/hyperlink" Target="http://www.economist.com/node/2155732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4038600"/>
            <a:ext cx="9067800" cy="1828800"/>
          </a:xfrm>
        </p:spPr>
        <p:txBody>
          <a:bodyPr>
            <a:normAutofit fontScale="90000"/>
          </a:bodyPr>
          <a:lstStyle/>
          <a:p>
            <a:pPr algn="r"/>
            <a:r>
              <a:rPr lang="en-CA" dirty="0"/>
              <a:t>Business English programs for Saudi students: </a:t>
            </a:r>
            <a:r>
              <a:rPr lang="en-CA" dirty="0" smtClean="0"/>
              <a:t/>
            </a:r>
            <a:br>
              <a:rPr lang="en-CA" dirty="0" smtClean="0"/>
            </a:br>
            <a:r>
              <a:rPr lang="en-CA" dirty="0" smtClean="0"/>
              <a:t>using </a:t>
            </a:r>
            <a:r>
              <a:rPr lang="en-CA" dirty="0"/>
              <a:t>classroom hours effectively</a:t>
            </a:r>
          </a:p>
        </p:txBody>
      </p:sp>
      <p:sp>
        <p:nvSpPr>
          <p:cNvPr id="3" name="Subtitle 2"/>
          <p:cNvSpPr>
            <a:spLocks noGrp="1"/>
          </p:cNvSpPr>
          <p:nvPr>
            <p:ph type="subTitle" idx="1"/>
          </p:nvPr>
        </p:nvSpPr>
        <p:spPr/>
        <p:txBody>
          <a:bodyPr/>
          <a:lstStyle/>
          <a:p>
            <a:r>
              <a:rPr lang="en-CA" dirty="0" smtClean="0"/>
              <a:t>Pedagogical issues in western universities</a:t>
            </a:r>
            <a:endParaRPr lang="en-CA"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096000"/>
            <a:ext cx="2469842" cy="647619"/>
          </a:xfrm>
          <a:prstGeom prst="rect">
            <a:avLst/>
          </a:prstGeom>
        </p:spPr>
      </p:pic>
    </p:spTree>
    <p:extLst>
      <p:ext uri="{BB962C8B-B14F-4D97-AF65-F5344CB8AC3E}">
        <p14:creationId xmlns:p14="http://schemas.microsoft.com/office/powerpoint/2010/main" val="974135658"/>
      </p:ext>
    </p:extLst>
  </p:cSld>
  <p:clrMapOvr>
    <a:masterClrMapping/>
  </p:clrMapOvr>
  <mc:AlternateContent xmlns:mc="http://schemas.openxmlformats.org/markup-compatibility/2006" xmlns:p14="http://schemas.microsoft.com/office/powerpoint/2010/main">
    <mc:Choice Requires="p14">
      <p:transition spd="slow" p14:dur="2000" advTm="682"/>
    </mc:Choice>
    <mc:Fallback xmlns="">
      <p:transition spd="slow" advTm="682"/>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CA" dirty="0" smtClean="0"/>
              <a:t>Pedagogical issues in western universities</a:t>
            </a:r>
            <a:endParaRPr lang="en-CA" dirty="0"/>
          </a:p>
        </p:txBody>
      </p:sp>
      <p:sp>
        <p:nvSpPr>
          <p:cNvPr id="6" name="Content Placeholder 2"/>
          <p:cNvSpPr txBox="1">
            <a:spLocks/>
          </p:cNvSpPr>
          <p:nvPr/>
        </p:nvSpPr>
        <p:spPr>
          <a:xfrm>
            <a:off x="438150" y="457200"/>
            <a:ext cx="8229600" cy="4572000"/>
          </a:xfrm>
          <a:prstGeom prst="rect">
            <a:avLst/>
          </a:prstGeom>
        </p:spPr>
        <p:txBody>
          <a:bodyPr vert="horz" anchor="ctr">
            <a:normAutofit/>
          </a:bodyPr>
          <a:lstStyle>
            <a:lvl1pPr marL="0" indent="0" algn="l" rtl="0" eaLnBrk="1" latinLnBrk="0" hangingPunct="1">
              <a:spcBef>
                <a:spcPts val="700"/>
              </a:spcBef>
              <a:buClr>
                <a:schemeClr val="accent2"/>
              </a:buClr>
              <a:buSzPct val="60000"/>
              <a:buFont typeface="Wingdings"/>
              <a:buNone/>
              <a:defRPr kumimoji="0" sz="2600" kern="1200">
                <a:solidFill>
                  <a:srgbClr val="FFFFFF"/>
                </a:solidFill>
                <a:latin typeface="+mn-lt"/>
                <a:ea typeface="+mn-ea"/>
                <a:cs typeface="+mn-cs"/>
              </a:defRPr>
            </a:lvl1pPr>
            <a:lvl2pPr marL="457200" indent="0" algn="ctr" rtl="0" eaLnBrk="1" latinLnBrk="0" hangingPunct="1">
              <a:spcBef>
                <a:spcPts val="550"/>
              </a:spcBef>
              <a:buClr>
                <a:schemeClr val="accent1"/>
              </a:buClr>
              <a:buSzPct val="70000"/>
              <a:buFont typeface="Wingdings 2"/>
              <a:buNone/>
              <a:defRPr kumimoji="0" sz="2600" kern="1200">
                <a:solidFill>
                  <a:schemeClr val="tx1"/>
                </a:solidFill>
                <a:latin typeface="+mn-lt"/>
                <a:ea typeface="+mn-ea"/>
                <a:cs typeface="+mn-cs"/>
              </a:defRPr>
            </a:lvl2pPr>
            <a:lvl3pPr marL="914400" indent="0" algn="ctr" rtl="0" eaLnBrk="1" latinLnBrk="0" hangingPunct="1">
              <a:spcBef>
                <a:spcPts val="500"/>
              </a:spcBef>
              <a:buClr>
                <a:schemeClr val="accent2"/>
              </a:buClr>
              <a:buSzPct val="75000"/>
              <a:buFont typeface="Wingdings"/>
              <a:buNone/>
              <a:defRPr kumimoji="0" sz="2300" kern="1200">
                <a:solidFill>
                  <a:schemeClr val="tx1"/>
                </a:solidFill>
                <a:latin typeface="+mn-lt"/>
                <a:ea typeface="+mn-ea"/>
                <a:cs typeface="+mn-cs"/>
              </a:defRPr>
            </a:lvl3pPr>
            <a:lvl4pPr marL="1371600" indent="0" algn="ctr" rtl="0" eaLnBrk="1" latinLnBrk="0" hangingPunct="1">
              <a:spcBef>
                <a:spcPts val="400"/>
              </a:spcBef>
              <a:buClr>
                <a:schemeClr val="accent3"/>
              </a:buClr>
              <a:buSzPct val="75000"/>
              <a:buFont typeface="Wingdings"/>
              <a:buNone/>
              <a:defRPr kumimoji="0" sz="2000" kern="1200">
                <a:solidFill>
                  <a:schemeClr val="tx1"/>
                </a:solidFill>
                <a:latin typeface="+mn-lt"/>
                <a:ea typeface="+mn-ea"/>
                <a:cs typeface="+mn-cs"/>
              </a:defRPr>
            </a:lvl4pPr>
            <a:lvl5pPr marL="1828800" indent="0" algn="ctr" rtl="0" eaLnBrk="1" latinLnBrk="0" hangingPunct="1">
              <a:spcBef>
                <a:spcPts val="400"/>
              </a:spcBef>
              <a:buClr>
                <a:schemeClr val="accent4"/>
              </a:buClr>
              <a:buSzPct val="65000"/>
              <a:buFont typeface="Wingdings"/>
              <a:buNone/>
              <a:defRPr kumimoji="0" sz="2000" kern="1200">
                <a:solidFill>
                  <a:schemeClr val="tx1"/>
                </a:solidFill>
                <a:latin typeface="+mn-lt"/>
                <a:ea typeface="+mn-ea"/>
                <a:cs typeface="+mn-cs"/>
              </a:defRPr>
            </a:lvl5pPr>
            <a:lvl6pPr marL="2286000" indent="0" algn="ctr" rtl="0" eaLnBrk="1" latinLnBrk="0" hangingPunct="1">
              <a:spcBef>
                <a:spcPct val="20000"/>
              </a:spcBef>
              <a:buClr>
                <a:schemeClr val="accent1"/>
              </a:buClr>
              <a:buFont typeface="Wingdings"/>
              <a:buNone/>
              <a:defRPr kumimoji="0" sz="1800" kern="1200" baseline="0">
                <a:solidFill>
                  <a:schemeClr val="tx1"/>
                </a:solidFill>
                <a:latin typeface="+mn-lt"/>
                <a:ea typeface="+mn-ea"/>
                <a:cs typeface="+mn-cs"/>
              </a:defRPr>
            </a:lvl6pPr>
            <a:lvl7pPr marL="2743200" indent="0" algn="ctr" rtl="0" eaLnBrk="1" latinLnBrk="0" hangingPunct="1">
              <a:spcBef>
                <a:spcPct val="20000"/>
              </a:spcBef>
              <a:buClr>
                <a:schemeClr val="accent2"/>
              </a:buClr>
              <a:buFont typeface="Wingdings"/>
              <a:buNone/>
              <a:defRPr kumimoji="0" sz="1800" kern="1200" baseline="0">
                <a:solidFill>
                  <a:schemeClr val="tx1"/>
                </a:solidFill>
                <a:latin typeface="+mn-lt"/>
                <a:ea typeface="+mn-ea"/>
                <a:cs typeface="+mn-cs"/>
              </a:defRPr>
            </a:lvl7pPr>
            <a:lvl8pPr marL="3200400" indent="0" algn="ctr" rtl="0" eaLnBrk="1" latinLnBrk="0" hangingPunct="1">
              <a:spcBef>
                <a:spcPct val="20000"/>
              </a:spcBef>
              <a:buClr>
                <a:schemeClr val="accent3"/>
              </a:buClr>
              <a:buFont typeface="Wingdings"/>
              <a:buNone/>
              <a:defRPr kumimoji="0" sz="1800" kern="1200" baseline="0">
                <a:solidFill>
                  <a:schemeClr val="tx1"/>
                </a:solidFill>
                <a:latin typeface="+mn-lt"/>
                <a:ea typeface="+mn-ea"/>
                <a:cs typeface="+mn-cs"/>
              </a:defRPr>
            </a:lvl8pPr>
            <a:lvl9pPr marL="3657600" indent="0" algn="ctr" rtl="0" eaLnBrk="1" latinLnBrk="0" hangingPunct="1">
              <a:spcBef>
                <a:spcPct val="20000"/>
              </a:spcBef>
              <a:buClr>
                <a:schemeClr val="accent4"/>
              </a:buClr>
              <a:buFont typeface="Wingdings"/>
              <a:buNone/>
              <a:defRPr kumimoji="0" sz="1800" kern="1200" baseline="0">
                <a:solidFill>
                  <a:schemeClr val="tx1"/>
                </a:solidFill>
                <a:latin typeface="+mn-lt"/>
                <a:ea typeface="+mn-ea"/>
                <a:cs typeface="+mn-cs"/>
              </a:defRPr>
            </a:lvl9pPr>
          </a:lstStyle>
          <a:p>
            <a:r>
              <a:rPr lang="en-CA" sz="2400" dirty="0" smtClean="0"/>
              <a:t>Conference note:</a:t>
            </a:r>
          </a:p>
          <a:p>
            <a:r>
              <a:rPr lang="en-CA" sz="2400" dirty="0" smtClean="0"/>
              <a:t>In September 2012, the Saudi Cultural Bureau decided  to cancel the ‘extra ESL hours’ that KASP students typically receive. In order to preserve the relevance and applicability of the presentation, the scope has been expanded to include more general ESL issues that Arabic ESL learners encounter. </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096000"/>
            <a:ext cx="2469842" cy="647619"/>
          </a:xfrm>
          <a:prstGeom prst="rect">
            <a:avLst/>
          </a:prstGeom>
        </p:spPr>
      </p:pic>
    </p:spTree>
    <p:custDataLst>
      <p:tags r:id="rId1"/>
    </p:custDataLst>
    <p:extLst>
      <p:ext uri="{BB962C8B-B14F-4D97-AF65-F5344CB8AC3E}">
        <p14:creationId xmlns:p14="http://schemas.microsoft.com/office/powerpoint/2010/main" val="1914689229"/>
      </p:ext>
    </p:extLst>
  </p:cSld>
  <p:clrMapOvr>
    <a:masterClrMapping/>
  </p:clrMapOvr>
  <mc:AlternateContent xmlns:mc="http://schemas.openxmlformats.org/markup-compatibility/2006" xmlns:p14="http://schemas.microsoft.com/office/powerpoint/2010/main">
    <mc:Choice Requires="p14">
      <p:transition spd="slow" p14:dur="2000" advTm="53053"/>
    </mc:Choice>
    <mc:Fallback xmlns="">
      <p:transition spd="slow" advTm="5305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xEl>
                                              <p:pRg st="1" end="1"/>
                                            </p:txEl>
                                          </p:spTgt>
                                        </p:tgtEl>
                                        <p:attrNameLst>
                                          <p:attrName>style.visibility</p:attrName>
                                        </p:attrNameLst>
                                      </p:cBhvr>
                                      <p:to>
                                        <p:strVal val="visible"/>
                                      </p:to>
                                    </p:set>
                                    <p:animEffect transition="in" filter="fade">
                                      <p:cBhvr>
                                        <p:cTn id="14" dur="1000"/>
                                        <p:tgtEl>
                                          <p:spTgt spid="6">
                                            <p:txEl>
                                              <p:pRg st="1" end="1"/>
                                            </p:txEl>
                                          </p:spTgt>
                                        </p:tgtEl>
                                      </p:cBhvr>
                                    </p:animEffect>
                                    <p:anim calcmode="lin" valueType="num">
                                      <p:cBhvr>
                                        <p:cTn id="15"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304800" y="0"/>
            <a:ext cx="9578212" cy="6858000"/>
          </a:xfrm>
          <a:prstGeom prst="rect">
            <a:avLst/>
          </a:prstGeom>
        </p:spPr>
      </p:pic>
      <p:sp>
        <p:nvSpPr>
          <p:cNvPr id="2" name="Title 1"/>
          <p:cNvSpPr>
            <a:spLocks noGrp="1"/>
          </p:cNvSpPr>
          <p:nvPr>
            <p:ph type="title"/>
          </p:nvPr>
        </p:nvSpPr>
        <p:spPr/>
        <p:txBody>
          <a:bodyPr/>
          <a:lstStyle/>
          <a:p>
            <a:r>
              <a:rPr lang="en-CA" dirty="0" smtClean="0"/>
              <a:t>Saudi background</a:t>
            </a:r>
            <a:endParaRPr lang="en-CA" dirty="0"/>
          </a:p>
        </p:txBody>
      </p:sp>
      <p:sp>
        <p:nvSpPr>
          <p:cNvPr id="3" name="Content Placeholder 2"/>
          <p:cNvSpPr>
            <a:spLocks noGrp="1"/>
          </p:cNvSpPr>
          <p:nvPr>
            <p:ph sz="quarter" idx="1"/>
          </p:nvPr>
        </p:nvSpPr>
        <p:spPr>
          <a:xfrm>
            <a:off x="457200" y="1600200"/>
            <a:ext cx="8229600" cy="4572000"/>
          </a:xfrm>
        </p:spPr>
        <p:txBody>
          <a:bodyPr>
            <a:normAutofit/>
          </a:bodyPr>
          <a:lstStyle/>
          <a:p>
            <a:r>
              <a:rPr lang="en-CA" sz="1800" dirty="0" smtClean="0"/>
              <a:t>Saudi </a:t>
            </a:r>
            <a:r>
              <a:rPr lang="en-CA" sz="1800" dirty="0"/>
              <a:t>Arabia occupies almost 80 percent of the Arabian </a:t>
            </a:r>
            <a:r>
              <a:rPr lang="en-CA" sz="1800" dirty="0" smtClean="0"/>
              <a:t>Peninsula</a:t>
            </a:r>
            <a:endParaRPr lang="en-CA" sz="1800" dirty="0"/>
          </a:p>
          <a:p>
            <a:r>
              <a:rPr lang="en-CA" sz="1800" dirty="0" smtClean="0"/>
              <a:t>Religious breakdown: </a:t>
            </a:r>
          </a:p>
          <a:p>
            <a:pPr lvl="1"/>
            <a:r>
              <a:rPr lang="en-CA" sz="1400" dirty="0" smtClean="0"/>
              <a:t>100% Muslim the practice of other religions is forbidden</a:t>
            </a:r>
          </a:p>
          <a:p>
            <a:r>
              <a:rPr lang="en-CA" sz="1800" dirty="0" smtClean="0"/>
              <a:t>95</a:t>
            </a:r>
            <a:r>
              <a:rPr lang="en-CA" sz="1800" dirty="0"/>
              <a:t>% of the population is urban </a:t>
            </a:r>
          </a:p>
          <a:p>
            <a:r>
              <a:rPr lang="en-CA" sz="1800" dirty="0" smtClean="0"/>
              <a:t>In </a:t>
            </a:r>
            <a:r>
              <a:rPr lang="en-CA" sz="1800" dirty="0"/>
              <a:t>1950, Saudi Arabia had a population of </a:t>
            </a:r>
            <a:r>
              <a:rPr lang="en-CA" sz="1800" dirty="0" smtClean="0"/>
              <a:t>3,000,000 </a:t>
            </a:r>
          </a:p>
          <a:p>
            <a:pPr lvl="1"/>
            <a:r>
              <a:rPr lang="en-CA" sz="1800" dirty="0" smtClean="0"/>
              <a:t>2010, population </a:t>
            </a:r>
            <a:r>
              <a:rPr lang="en-CA" sz="1800" dirty="0"/>
              <a:t>25,731,776 </a:t>
            </a:r>
            <a:endParaRPr lang="en-CA" sz="1800" dirty="0" smtClean="0"/>
          </a:p>
          <a:p>
            <a:pPr lvl="1"/>
            <a:r>
              <a:rPr lang="en-CA" sz="1800" dirty="0" smtClean="0"/>
              <a:t>31</a:t>
            </a:r>
            <a:r>
              <a:rPr lang="en-CA" sz="1800" dirty="0"/>
              <a:t>% of the population (5,576,076) is made up of foreign nationals </a:t>
            </a:r>
            <a:endParaRPr lang="en-CA" sz="1800" dirty="0" smtClean="0"/>
          </a:p>
          <a:p>
            <a:endParaRPr lang="en-CA" sz="1800" dirty="0" smtClean="0"/>
          </a:p>
          <a:p>
            <a:endParaRPr lang="en-CA" sz="1800" dirty="0" smtClean="0"/>
          </a:p>
        </p:txBody>
      </p:sp>
      <p:sp>
        <p:nvSpPr>
          <p:cNvPr id="5" name="TextBox 4"/>
          <p:cNvSpPr txBox="1"/>
          <p:nvPr/>
        </p:nvSpPr>
        <p:spPr>
          <a:xfrm>
            <a:off x="5791200" y="6019800"/>
            <a:ext cx="3352800" cy="923330"/>
          </a:xfrm>
          <a:prstGeom prst="rect">
            <a:avLst/>
          </a:prstGeom>
          <a:noFill/>
        </p:spPr>
        <p:txBody>
          <a:bodyPr wrap="square" rtlCol="0">
            <a:spAutoFit/>
          </a:bodyPr>
          <a:lstStyle/>
          <a:p>
            <a:pPr marL="0" lvl="1"/>
            <a:r>
              <a:rPr lang="en-CA" dirty="0"/>
              <a:t> (The </a:t>
            </a:r>
            <a:r>
              <a:rPr lang="en-CA" dirty="0" smtClean="0"/>
              <a:t>[Saudi] Central </a:t>
            </a:r>
            <a:r>
              <a:rPr lang="en-CA" dirty="0"/>
              <a:t>Department of Statistics &amp; Information, 2010). </a:t>
            </a:r>
          </a:p>
          <a:p>
            <a:endParaRPr lang="en-CA" dirty="0"/>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4800" y="6210381"/>
            <a:ext cx="2469842" cy="647619"/>
          </a:xfrm>
          <a:prstGeom prst="rect">
            <a:avLst/>
          </a:prstGeom>
        </p:spPr>
      </p:pic>
    </p:spTree>
    <p:custDataLst>
      <p:tags r:id="rId1"/>
    </p:custDataLst>
    <p:extLst>
      <p:ext uri="{BB962C8B-B14F-4D97-AF65-F5344CB8AC3E}">
        <p14:creationId xmlns:p14="http://schemas.microsoft.com/office/powerpoint/2010/main" val="31950411"/>
      </p:ext>
    </p:extLst>
  </p:cSld>
  <p:clrMapOvr>
    <a:masterClrMapping/>
  </p:clrMapOvr>
  <mc:AlternateContent xmlns:mc="http://schemas.openxmlformats.org/markup-compatibility/2006" xmlns:p14="http://schemas.microsoft.com/office/powerpoint/2010/main">
    <mc:Choice Requires="p14">
      <p:transition spd="slow" p14:dur="2000" advTm="238416"/>
    </mc:Choice>
    <mc:Fallback xmlns="">
      <p:transition spd="slow" advTm="23841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1000"/>
                                        <p:tgtEl>
                                          <p:spTgt spid="3">
                                            <p:txEl>
                                              <p:pRg st="4" end="4"/>
                                            </p:txEl>
                                          </p:spTgt>
                                        </p:tgtEl>
                                      </p:cBhvr>
                                    </p:animEffect>
                                    <p:anim calcmode="lin" valueType="num">
                                      <p:cBhvr>
                                        <p:cTn id="3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fade">
                                      <p:cBhvr>
                                        <p:cTn id="36" dur="1000"/>
                                        <p:tgtEl>
                                          <p:spTgt spid="3">
                                            <p:txEl>
                                              <p:pRg st="5" end="5"/>
                                            </p:txEl>
                                          </p:spTgt>
                                        </p:tgtEl>
                                      </p:cBhvr>
                                    </p:animEffect>
                                    <p:anim calcmode="lin" valueType="num">
                                      <p:cBhvr>
                                        <p:cTn id="37"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Effect transition="in" filter="fade">
                                      <p:cBhvr>
                                        <p:cTn id="41" dur="1000"/>
                                        <p:tgtEl>
                                          <p:spTgt spid="3">
                                            <p:txEl>
                                              <p:pRg st="6" end="6"/>
                                            </p:txEl>
                                          </p:spTgt>
                                        </p:tgtEl>
                                      </p:cBhvr>
                                    </p:animEffect>
                                    <p:anim calcmode="lin" valueType="num">
                                      <p:cBhvr>
                                        <p:cTn id="42"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duotone>
              <a:schemeClr val="bg2">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0" y="1524000"/>
            <a:ext cx="9296400" cy="5898920"/>
          </a:xfrm>
          <a:prstGeom prst="rect">
            <a:avLst/>
          </a:prstGeom>
          <a:effectLst>
            <a:reflection stA="63000" endPos="65000" dist="50800" dir="5400000" sy="-100000" algn="bl" rotWithShape="0"/>
          </a:effectLst>
        </p:spPr>
      </p:pic>
      <p:sp>
        <p:nvSpPr>
          <p:cNvPr id="2" name="Title 1"/>
          <p:cNvSpPr>
            <a:spLocks noGrp="1"/>
          </p:cNvSpPr>
          <p:nvPr>
            <p:ph type="title"/>
          </p:nvPr>
        </p:nvSpPr>
        <p:spPr/>
        <p:txBody>
          <a:bodyPr/>
          <a:lstStyle/>
          <a:p>
            <a:r>
              <a:rPr lang="en-CA" dirty="0" smtClean="0"/>
              <a:t>Saudi background</a:t>
            </a:r>
            <a:endParaRPr lang="en-CA" dirty="0"/>
          </a:p>
        </p:txBody>
      </p:sp>
      <p:sp>
        <p:nvSpPr>
          <p:cNvPr id="3" name="Content Placeholder 2"/>
          <p:cNvSpPr>
            <a:spLocks noGrp="1"/>
          </p:cNvSpPr>
          <p:nvPr>
            <p:ph sz="quarter" idx="1"/>
          </p:nvPr>
        </p:nvSpPr>
        <p:spPr/>
        <p:txBody>
          <a:bodyPr>
            <a:normAutofit/>
          </a:bodyPr>
          <a:lstStyle/>
          <a:p>
            <a:pPr marL="0" indent="0">
              <a:buNone/>
            </a:pPr>
            <a:r>
              <a:rPr lang="en-CA" dirty="0" smtClean="0"/>
              <a:t>Saudi Demographics</a:t>
            </a:r>
          </a:p>
          <a:p>
            <a:r>
              <a:rPr lang="en-CA" dirty="0" smtClean="0"/>
              <a:t>Average age 25.7y </a:t>
            </a:r>
          </a:p>
          <a:p>
            <a:r>
              <a:rPr lang="en-CA" dirty="0" smtClean="0"/>
              <a:t>29.4% between 0-14y</a:t>
            </a:r>
          </a:p>
          <a:p>
            <a:r>
              <a:rPr lang="en-CA" dirty="0" smtClean="0"/>
              <a:t>Est. 75% under the age of 30y</a:t>
            </a:r>
          </a:p>
          <a:p>
            <a:r>
              <a:rPr lang="en-CA" dirty="0" smtClean="0"/>
              <a:t>Youth unemployment 28.2% (Economist, 2012) </a:t>
            </a:r>
          </a:p>
          <a:p>
            <a:pPr lvl="1"/>
            <a:r>
              <a:rPr lang="en-CA" dirty="0" smtClean="0"/>
              <a:t>(m 23.6%/f 45.8%)</a:t>
            </a:r>
            <a:endParaRPr lang="en-CA" i="1" dirty="0" smtClean="0"/>
          </a:p>
        </p:txBody>
      </p:sp>
      <p:sp>
        <p:nvSpPr>
          <p:cNvPr id="5" name="TextBox 4"/>
          <p:cNvSpPr txBox="1"/>
          <p:nvPr/>
        </p:nvSpPr>
        <p:spPr>
          <a:xfrm>
            <a:off x="5410200" y="6324600"/>
            <a:ext cx="3733800" cy="369332"/>
          </a:xfrm>
          <a:prstGeom prst="rect">
            <a:avLst/>
          </a:prstGeom>
          <a:noFill/>
        </p:spPr>
        <p:txBody>
          <a:bodyPr wrap="square" rtlCol="0">
            <a:spAutoFit/>
          </a:bodyPr>
          <a:lstStyle/>
          <a:p>
            <a:pPr marL="0" lvl="1" algn="r"/>
            <a:r>
              <a:rPr lang="en-CA" i="1" dirty="0"/>
              <a:t>CIA World </a:t>
            </a:r>
            <a:r>
              <a:rPr lang="en-CA" i="1" dirty="0" err="1" smtClean="0"/>
              <a:t>Factbook</a:t>
            </a:r>
            <a:r>
              <a:rPr lang="en-CA" dirty="0" smtClean="0"/>
              <a:t>, 2012</a:t>
            </a:r>
            <a:endParaRPr lang="en-CA" i="1" dirty="0"/>
          </a:p>
        </p:txBody>
      </p:sp>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442" y="6248400"/>
            <a:ext cx="2469842" cy="647619"/>
          </a:xfrm>
          <a:prstGeom prst="rect">
            <a:avLst/>
          </a:prstGeom>
        </p:spPr>
      </p:pic>
    </p:spTree>
    <p:custDataLst>
      <p:tags r:id="rId1"/>
    </p:custDataLst>
    <p:extLst>
      <p:ext uri="{BB962C8B-B14F-4D97-AF65-F5344CB8AC3E}">
        <p14:creationId xmlns:p14="http://schemas.microsoft.com/office/powerpoint/2010/main" val="31950411"/>
      </p:ext>
    </p:extLst>
  </p:cSld>
  <p:clrMapOvr>
    <a:masterClrMapping/>
  </p:clrMapOvr>
  <mc:AlternateContent xmlns:mc="http://schemas.openxmlformats.org/markup-compatibility/2006" xmlns:p14="http://schemas.microsoft.com/office/powerpoint/2010/main">
    <mc:Choice Requires="p14">
      <p:transition spd="slow" p14:dur="2000" advTm="95563"/>
    </mc:Choice>
    <mc:Fallback xmlns="">
      <p:transition spd="slow" advTm="9556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1000"/>
                                        <p:tgtEl>
                                          <p:spTgt spid="3">
                                            <p:txEl>
                                              <p:pRg st="5" end="5"/>
                                            </p:txEl>
                                          </p:spTgt>
                                        </p:tgtEl>
                                      </p:cBhvr>
                                    </p:animEffect>
                                    <p:anim calcmode="lin" valueType="num">
                                      <p:cBhvr>
                                        <p:cTn id="3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4648200" y="4009413"/>
            <a:ext cx="4476750" cy="2867637"/>
          </a:xfrm>
          <a:prstGeom prst="rect">
            <a:avLst/>
          </a:prstGeom>
        </p:spPr>
      </p:pic>
      <p:sp>
        <p:nvSpPr>
          <p:cNvPr id="2" name="Title 1"/>
          <p:cNvSpPr>
            <a:spLocks noGrp="1"/>
          </p:cNvSpPr>
          <p:nvPr>
            <p:ph type="title"/>
          </p:nvPr>
        </p:nvSpPr>
        <p:spPr/>
        <p:txBody>
          <a:bodyPr/>
          <a:lstStyle/>
          <a:p>
            <a:r>
              <a:rPr lang="en-CA" dirty="0" smtClean="0"/>
              <a:t>Saudi education</a:t>
            </a:r>
            <a:endParaRPr lang="en-CA" dirty="0"/>
          </a:p>
        </p:txBody>
      </p:sp>
      <p:sp>
        <p:nvSpPr>
          <p:cNvPr id="3" name="Content Placeholder 2"/>
          <p:cNvSpPr>
            <a:spLocks noGrp="1"/>
          </p:cNvSpPr>
          <p:nvPr>
            <p:ph sz="quarter" idx="1"/>
          </p:nvPr>
        </p:nvSpPr>
        <p:spPr>
          <a:xfrm>
            <a:off x="612648" y="1600200"/>
            <a:ext cx="8302752" cy="4724400"/>
          </a:xfrm>
        </p:spPr>
        <p:txBody>
          <a:bodyPr>
            <a:normAutofit/>
          </a:bodyPr>
          <a:lstStyle/>
          <a:p>
            <a:r>
              <a:rPr lang="en-CA" dirty="0" smtClean="0"/>
              <a:t>The </a:t>
            </a:r>
            <a:r>
              <a:rPr lang="en-CA" dirty="0"/>
              <a:t>Ministry of Higher Education </a:t>
            </a:r>
            <a:r>
              <a:rPr lang="en-CA" dirty="0" smtClean="0"/>
              <a:t>(MOHE)was </a:t>
            </a:r>
            <a:r>
              <a:rPr lang="en-CA" dirty="0"/>
              <a:t>established in 1975 </a:t>
            </a:r>
            <a:endParaRPr lang="en-CA" dirty="0" smtClean="0"/>
          </a:p>
          <a:p>
            <a:r>
              <a:rPr lang="en-CA" dirty="0" smtClean="0"/>
              <a:t>to create </a:t>
            </a:r>
            <a:r>
              <a:rPr lang="en-CA" dirty="0"/>
              <a:t>highly skilled </a:t>
            </a:r>
            <a:r>
              <a:rPr lang="en-CA" dirty="0" smtClean="0"/>
              <a:t>individuals to develop the country. </a:t>
            </a:r>
          </a:p>
          <a:p>
            <a:r>
              <a:rPr lang="en-CA" dirty="0"/>
              <a:t>free education from kindergarten through university. </a:t>
            </a:r>
          </a:p>
          <a:p>
            <a:r>
              <a:rPr lang="en-CA" dirty="0" smtClean="0"/>
              <a:t>the </a:t>
            </a:r>
            <a:r>
              <a:rPr lang="en-CA" dirty="0"/>
              <a:t>genders are </a:t>
            </a:r>
            <a:endParaRPr lang="en-CA" dirty="0" smtClean="0"/>
          </a:p>
          <a:p>
            <a:pPr marL="0" indent="0">
              <a:buNone/>
            </a:pPr>
            <a:r>
              <a:rPr lang="en-CA" dirty="0" smtClean="0"/>
              <a:t>    segregated </a:t>
            </a:r>
            <a:r>
              <a:rPr lang="en-CA" dirty="0"/>
              <a:t>at all levels.</a:t>
            </a:r>
          </a:p>
          <a:p>
            <a:endParaRPr lang="en-CA" dirty="0"/>
          </a:p>
          <a:p>
            <a:endParaRPr lang="en-CA" dirty="0"/>
          </a:p>
        </p:txBody>
      </p:sp>
      <p:sp>
        <p:nvSpPr>
          <p:cNvPr id="6" name="Rectangle 5"/>
          <p:cNvSpPr/>
          <p:nvPr/>
        </p:nvSpPr>
        <p:spPr>
          <a:xfrm>
            <a:off x="16835" y="5486400"/>
            <a:ext cx="4326565" cy="646331"/>
          </a:xfrm>
          <a:prstGeom prst="rect">
            <a:avLst/>
          </a:prstGeom>
        </p:spPr>
        <p:txBody>
          <a:bodyPr wrap="square">
            <a:spAutoFit/>
          </a:bodyPr>
          <a:lstStyle/>
          <a:p>
            <a:r>
              <a:rPr lang="en-CA" dirty="0"/>
              <a:t>(The [Saudi] Central Department of Statistics &amp; Information, 2010). </a:t>
            </a:r>
            <a:r>
              <a:rPr lang="en-CA" dirty="0" smtClean="0"/>
              <a:t>1</a:t>
            </a:r>
            <a:endParaRPr lang="en-CA" dirty="0"/>
          </a:p>
        </p:txBody>
      </p:sp>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210381"/>
            <a:ext cx="2469842" cy="647619"/>
          </a:xfrm>
          <a:prstGeom prst="rect">
            <a:avLst/>
          </a:prstGeom>
        </p:spPr>
      </p:pic>
    </p:spTree>
    <p:extLst>
      <p:ext uri="{BB962C8B-B14F-4D97-AF65-F5344CB8AC3E}">
        <p14:creationId xmlns:p14="http://schemas.microsoft.com/office/powerpoint/2010/main" val="2235495718"/>
      </p:ext>
    </p:extLst>
  </p:cSld>
  <p:clrMapOvr>
    <a:masterClrMapping/>
  </p:clrMapOvr>
  <mc:AlternateContent xmlns:mc="http://schemas.openxmlformats.org/markup-compatibility/2006" xmlns:p14="http://schemas.microsoft.com/office/powerpoint/2010/main">
    <mc:Choice Requires="p14">
      <p:transition spd="slow" p14:dur="2000" advTm="39671"/>
    </mc:Choice>
    <mc:Fallback xmlns="">
      <p:transition spd="slow" advTm="39671"/>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duotone>
              <a:schemeClr val="bg2">
                <a:shade val="45000"/>
                <a:satMod val="135000"/>
              </a:schemeClr>
              <a:prstClr val="white"/>
            </a:duotone>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228600" y="1524000"/>
            <a:ext cx="10210800" cy="5354640"/>
          </a:xfrm>
          <a:prstGeom prst="rect">
            <a:avLst/>
          </a:prstGeom>
        </p:spPr>
      </p:pic>
      <p:sp>
        <p:nvSpPr>
          <p:cNvPr id="2" name="Title 1"/>
          <p:cNvSpPr>
            <a:spLocks noGrp="1"/>
          </p:cNvSpPr>
          <p:nvPr>
            <p:ph type="title"/>
          </p:nvPr>
        </p:nvSpPr>
        <p:spPr/>
        <p:txBody>
          <a:bodyPr/>
          <a:lstStyle/>
          <a:p>
            <a:r>
              <a:rPr lang="en-CA" dirty="0" smtClean="0"/>
              <a:t>Saudi education: in the classroom</a:t>
            </a:r>
            <a:endParaRPr lang="en-CA" dirty="0"/>
          </a:p>
        </p:txBody>
      </p:sp>
      <p:sp>
        <p:nvSpPr>
          <p:cNvPr id="3" name="Content Placeholder 2"/>
          <p:cNvSpPr>
            <a:spLocks noGrp="1"/>
          </p:cNvSpPr>
          <p:nvPr>
            <p:ph sz="quarter" idx="1"/>
          </p:nvPr>
        </p:nvSpPr>
        <p:spPr>
          <a:xfrm>
            <a:off x="152400" y="1676400"/>
            <a:ext cx="8686800" cy="4953000"/>
          </a:xfrm>
          <a:scene3d>
            <a:camera prst="orthographicFront">
              <a:rot lat="0" lon="0" rev="0"/>
            </a:camera>
            <a:lightRig rig="threePt" dir="t"/>
          </a:scene3d>
        </p:spPr>
        <p:txBody>
          <a:bodyPr>
            <a:normAutofit fontScale="92500" lnSpcReduction="10000"/>
          </a:bodyPr>
          <a:lstStyle/>
          <a:p>
            <a:r>
              <a:rPr lang="en-CA" dirty="0"/>
              <a:t>In the 2007, Saudi schoolchildren </a:t>
            </a:r>
            <a:r>
              <a:rPr lang="en-CA" i="1" dirty="0"/>
              <a:t>ranked near the </a:t>
            </a:r>
            <a:r>
              <a:rPr lang="en-CA" b="1" i="1" dirty="0"/>
              <a:t>bottom of the 48 countries</a:t>
            </a:r>
            <a:r>
              <a:rPr lang="en-CA" i="1" dirty="0"/>
              <a:t> </a:t>
            </a:r>
            <a:r>
              <a:rPr lang="en-CA" i="1" dirty="0" smtClean="0"/>
              <a:t>surveyed according to U.S</a:t>
            </a:r>
            <a:r>
              <a:rPr lang="en-CA" i="1" dirty="0"/>
              <a:t>. National Center for Education </a:t>
            </a:r>
            <a:r>
              <a:rPr lang="en-CA" i="1" dirty="0" smtClean="0"/>
              <a:t>Statistics, 2007 (in Lindsey, 2010)</a:t>
            </a:r>
            <a:r>
              <a:rPr lang="en-CA" dirty="0"/>
              <a:t/>
            </a:r>
            <a:br>
              <a:rPr lang="en-CA" dirty="0"/>
            </a:br>
            <a:endParaRPr lang="en-CA" dirty="0" smtClean="0"/>
          </a:p>
          <a:p>
            <a:r>
              <a:rPr lang="en-CA" dirty="0" smtClean="0"/>
              <a:t>teaching </a:t>
            </a:r>
            <a:r>
              <a:rPr lang="en-CA" dirty="0"/>
              <a:t>methods used within the Saudi classrooms </a:t>
            </a:r>
            <a:endParaRPr lang="en-CA" dirty="0" smtClean="0"/>
          </a:p>
          <a:p>
            <a:pPr lvl="1"/>
            <a:r>
              <a:rPr lang="en-CA" dirty="0" smtClean="0"/>
              <a:t>focused </a:t>
            </a:r>
            <a:r>
              <a:rPr lang="en-CA" dirty="0"/>
              <a:t>on </a:t>
            </a:r>
            <a:r>
              <a:rPr lang="en-CA" b="1" dirty="0"/>
              <a:t>memorization </a:t>
            </a:r>
            <a:r>
              <a:rPr lang="en-CA" dirty="0" smtClean="0"/>
              <a:t>and</a:t>
            </a:r>
            <a:r>
              <a:rPr lang="en-CA" b="1" dirty="0" smtClean="0"/>
              <a:t> rote </a:t>
            </a:r>
            <a:r>
              <a:rPr lang="en-CA" b="1" dirty="0"/>
              <a:t>learning </a:t>
            </a:r>
            <a:r>
              <a:rPr lang="en-CA" dirty="0"/>
              <a:t>(Ministry of </a:t>
            </a:r>
            <a:r>
              <a:rPr lang="en-CA" dirty="0" smtClean="0"/>
              <a:t>Higher Education</a:t>
            </a:r>
            <a:r>
              <a:rPr lang="en-CA" dirty="0"/>
              <a:t>, </a:t>
            </a:r>
            <a:r>
              <a:rPr lang="en-CA" dirty="0" smtClean="0"/>
              <a:t>2000 in </a:t>
            </a:r>
            <a:r>
              <a:rPr lang="en-CA" dirty="0" err="1" smtClean="0"/>
              <a:t>AlSharif</a:t>
            </a:r>
            <a:r>
              <a:rPr lang="en-CA" dirty="0" smtClean="0"/>
              <a:t> &amp; </a:t>
            </a:r>
            <a:r>
              <a:rPr lang="en-CA" dirty="0" err="1" smtClean="0"/>
              <a:t>Atweh</a:t>
            </a:r>
            <a:r>
              <a:rPr lang="en-CA" smtClean="0"/>
              <a:t>, 2010).</a:t>
            </a:r>
            <a:endParaRPr lang="en-CA" b="1" dirty="0" smtClean="0"/>
          </a:p>
          <a:p>
            <a:pPr lvl="1"/>
            <a:r>
              <a:rPr lang="en-CA" b="1" dirty="0" smtClean="0"/>
              <a:t>lack of understanding </a:t>
            </a:r>
            <a:r>
              <a:rPr lang="en-CA" dirty="0" smtClean="0"/>
              <a:t>and</a:t>
            </a:r>
            <a:r>
              <a:rPr lang="en-CA" b="1" dirty="0" smtClean="0"/>
              <a:t> critical thought</a:t>
            </a:r>
            <a:r>
              <a:rPr lang="en-CA" dirty="0"/>
              <a:t>. </a:t>
            </a:r>
            <a:r>
              <a:rPr lang="en-CA" dirty="0" smtClean="0"/>
              <a:t>(Lindsey, </a:t>
            </a:r>
            <a:r>
              <a:rPr lang="en-CA" dirty="0"/>
              <a:t>2010</a:t>
            </a:r>
            <a:r>
              <a:rPr lang="en-CA" dirty="0" smtClean="0"/>
              <a:t>)</a:t>
            </a:r>
          </a:p>
          <a:p>
            <a:pPr lvl="1"/>
            <a:r>
              <a:rPr lang="en-CA" dirty="0" smtClean="0"/>
              <a:t>Little emphasis on </a:t>
            </a:r>
            <a:r>
              <a:rPr lang="en-CA" b="1" dirty="0" smtClean="0"/>
              <a:t>formulating, planning and revision</a:t>
            </a:r>
            <a:r>
              <a:rPr lang="en-CA" b="1" dirty="0"/>
              <a:t> </a:t>
            </a:r>
            <a:r>
              <a:rPr lang="en-CA" b="1" dirty="0" smtClean="0"/>
              <a:t>(</a:t>
            </a:r>
            <a:r>
              <a:rPr lang="en-CA" dirty="0" err="1"/>
              <a:t>Bersamina</a:t>
            </a:r>
            <a:r>
              <a:rPr lang="en-CA" dirty="0"/>
              <a:t>, 2009)</a:t>
            </a:r>
            <a:endParaRPr lang="en-CA" b="1" dirty="0" smtClean="0"/>
          </a:p>
          <a:p>
            <a:pPr lvl="1"/>
            <a:r>
              <a:rPr lang="en-CA" dirty="0" smtClean="0"/>
              <a:t>Questionable qualifications in teaching staff (</a:t>
            </a:r>
            <a:r>
              <a:rPr lang="en-US" dirty="0" err="1"/>
              <a:t>Alosaimi</a:t>
            </a:r>
            <a:r>
              <a:rPr lang="en-US" dirty="0"/>
              <a:t>, </a:t>
            </a:r>
            <a:r>
              <a:rPr lang="en-US" dirty="0" smtClean="0"/>
              <a:t>2007)</a:t>
            </a:r>
          </a:p>
          <a:p>
            <a:pPr lvl="1"/>
            <a:r>
              <a:rPr lang="en-CA" dirty="0" smtClean="0"/>
              <a:t>Censorship, criticism and exposure to foreign concepts</a:t>
            </a:r>
            <a:endParaRPr lang="en-CA" dirty="0"/>
          </a:p>
        </p:txBody>
      </p:sp>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442" y="6210381"/>
            <a:ext cx="2469842" cy="647619"/>
          </a:xfrm>
          <a:prstGeom prst="rect">
            <a:avLst/>
          </a:prstGeom>
        </p:spPr>
      </p:pic>
    </p:spTree>
    <p:custDataLst>
      <p:tags r:id="rId1"/>
    </p:custDataLst>
    <p:extLst>
      <p:ext uri="{BB962C8B-B14F-4D97-AF65-F5344CB8AC3E}">
        <p14:creationId xmlns:p14="http://schemas.microsoft.com/office/powerpoint/2010/main" val="2654187358"/>
      </p:ext>
    </p:extLst>
  </p:cSld>
  <p:clrMapOvr>
    <a:masterClrMapping/>
  </p:clrMapOvr>
  <mc:AlternateContent xmlns:mc="http://schemas.openxmlformats.org/markup-compatibility/2006" xmlns:p14="http://schemas.microsoft.com/office/powerpoint/2010/main">
    <mc:Choice Requires="p14">
      <p:transition spd="slow" p14:dur="2000" advTm="345219"/>
    </mc:Choice>
    <mc:Fallback xmlns="">
      <p:transition spd="slow" advTm="34521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1000"/>
                                        <p:tgtEl>
                                          <p:spTgt spid="3">
                                            <p:txEl>
                                              <p:pRg st="4" end="4"/>
                                            </p:txEl>
                                          </p:spTgt>
                                        </p:tgtEl>
                                      </p:cBhvr>
                                    </p:animEffect>
                                    <p:anim calcmode="lin" valueType="num">
                                      <p:cBhvr>
                                        <p:cTn id="3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1000"/>
                                        <p:tgtEl>
                                          <p:spTgt spid="3">
                                            <p:txEl>
                                              <p:pRg st="5" end="5"/>
                                            </p:txEl>
                                          </p:spTgt>
                                        </p:tgtEl>
                                      </p:cBhvr>
                                    </p:animEffect>
                                    <p:anim calcmode="lin" valueType="num">
                                      <p:cBhvr>
                                        <p:cTn id="3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animEffect transition="in" filter="fade">
                                      <p:cBhvr>
                                        <p:cTn id="39" dur="1000"/>
                                        <p:tgtEl>
                                          <p:spTgt spid="3">
                                            <p:txEl>
                                              <p:pRg st="6" end="6"/>
                                            </p:txEl>
                                          </p:spTgt>
                                        </p:tgtEl>
                                      </p:cBhvr>
                                    </p:animEffect>
                                    <p:anim calcmode="lin" valueType="num">
                                      <p:cBhvr>
                                        <p:cTn id="4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0" y="1523999"/>
            <a:ext cx="9144000" cy="5802217"/>
          </a:xfrm>
          <a:prstGeom prst="rect">
            <a:avLst/>
          </a:prstGeom>
        </p:spPr>
      </p:pic>
      <p:sp>
        <p:nvSpPr>
          <p:cNvPr id="4" name="Title 3"/>
          <p:cNvSpPr>
            <a:spLocks noGrp="1"/>
          </p:cNvSpPr>
          <p:nvPr>
            <p:ph type="title"/>
          </p:nvPr>
        </p:nvSpPr>
        <p:spPr/>
        <p:txBody>
          <a:bodyPr>
            <a:normAutofit fontScale="90000"/>
          </a:bodyPr>
          <a:lstStyle/>
          <a:p>
            <a:r>
              <a:rPr lang="en-CA" dirty="0" smtClean="0"/>
              <a:t>Problems that develop from Ed background</a:t>
            </a:r>
            <a:endParaRPr lang="en-CA" dirty="0"/>
          </a:p>
        </p:txBody>
      </p:sp>
      <p:sp>
        <p:nvSpPr>
          <p:cNvPr id="5" name="Content Placeholder 4"/>
          <p:cNvSpPr>
            <a:spLocks noGrp="1"/>
          </p:cNvSpPr>
          <p:nvPr>
            <p:ph sz="quarter" idx="1"/>
          </p:nvPr>
        </p:nvSpPr>
        <p:spPr/>
        <p:txBody>
          <a:bodyPr>
            <a:normAutofit lnSpcReduction="10000"/>
          </a:bodyPr>
          <a:lstStyle/>
          <a:p>
            <a:endParaRPr lang="en-CA" dirty="0" smtClean="0"/>
          </a:p>
          <a:p>
            <a:endParaRPr lang="en-CA" b="1" dirty="0"/>
          </a:p>
        </p:txBody>
      </p:sp>
      <p:sp>
        <p:nvSpPr>
          <p:cNvPr id="2" name="Content Placeholder 1"/>
          <p:cNvSpPr>
            <a:spLocks noGrp="1"/>
          </p:cNvSpPr>
          <p:nvPr>
            <p:ph sz="quarter" idx="2"/>
          </p:nvPr>
        </p:nvSpPr>
        <p:spPr>
          <a:xfrm>
            <a:off x="381000" y="1600200"/>
            <a:ext cx="8458200" cy="4525963"/>
          </a:xfrm>
        </p:spPr>
        <p:txBody>
          <a:bodyPr>
            <a:normAutofit lnSpcReduction="10000"/>
          </a:bodyPr>
          <a:lstStyle/>
          <a:p>
            <a:r>
              <a:rPr lang="en-CA" dirty="0" smtClean="0"/>
              <a:t>Most Arab students (</a:t>
            </a:r>
            <a:r>
              <a:rPr lang="en-CA" dirty="0" err="1" smtClean="0"/>
              <a:t>Haq</a:t>
            </a:r>
            <a:r>
              <a:rPr lang="en-CA" dirty="0" smtClean="0"/>
              <a:t> in </a:t>
            </a:r>
            <a:r>
              <a:rPr lang="en-CA" dirty="0" err="1" smtClean="0"/>
              <a:t>Bersamina</a:t>
            </a:r>
            <a:r>
              <a:rPr lang="en-CA" dirty="0" smtClean="0"/>
              <a:t>, 2009)</a:t>
            </a:r>
          </a:p>
          <a:p>
            <a:pPr lvl="1"/>
            <a:r>
              <a:rPr lang="en-CA" dirty="0" smtClean="0"/>
              <a:t>Fumble in their writing skills</a:t>
            </a:r>
          </a:p>
          <a:p>
            <a:pPr lvl="1"/>
            <a:r>
              <a:rPr lang="en-CA" dirty="0" smtClean="0"/>
              <a:t>Gross lexical errors</a:t>
            </a:r>
          </a:p>
          <a:p>
            <a:pPr lvl="1"/>
            <a:r>
              <a:rPr lang="en-CA" dirty="0" smtClean="0"/>
              <a:t>Weakness in tenses, verb structure, (</a:t>
            </a:r>
            <a:r>
              <a:rPr lang="en-CA" dirty="0" err="1" smtClean="0"/>
              <a:t>Kambal</a:t>
            </a:r>
            <a:r>
              <a:rPr lang="en-CA" dirty="0" smtClean="0"/>
              <a:t> in </a:t>
            </a:r>
            <a:r>
              <a:rPr lang="en-US" i="1" dirty="0"/>
              <a:t>A Case Study of Saudi ESL Learners</a:t>
            </a:r>
            <a:r>
              <a:rPr lang="en-CA" dirty="0" smtClean="0"/>
              <a:t>)</a:t>
            </a:r>
          </a:p>
          <a:p>
            <a:pPr lvl="1"/>
            <a:r>
              <a:rPr lang="en-CA" dirty="0" smtClean="0"/>
              <a:t>Pronunciation, morphology, knowledge and use of syntax and spelling</a:t>
            </a:r>
          </a:p>
          <a:p>
            <a:pPr lvl="1"/>
            <a:r>
              <a:rPr lang="en-CA" dirty="0" smtClean="0"/>
              <a:t>Difficulty expressing themselves in every day and scholarly issues</a:t>
            </a:r>
          </a:p>
          <a:p>
            <a:pPr lvl="1"/>
            <a:r>
              <a:rPr lang="en-CA" dirty="0"/>
              <a:t>Have higher confidence in oral than writing skills</a:t>
            </a:r>
          </a:p>
          <a:p>
            <a:pPr lvl="1"/>
            <a:endParaRPr lang="en-CA" dirty="0" smtClean="0"/>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248400"/>
            <a:ext cx="2469842" cy="647619"/>
          </a:xfrm>
          <a:prstGeom prst="rect">
            <a:avLst/>
          </a:prstGeom>
        </p:spPr>
      </p:pic>
    </p:spTree>
    <p:extLst>
      <p:ext uri="{BB962C8B-B14F-4D97-AF65-F5344CB8AC3E}">
        <p14:creationId xmlns:p14="http://schemas.microsoft.com/office/powerpoint/2010/main" val="3829184573"/>
      </p:ext>
    </p:extLst>
  </p:cSld>
  <p:clrMapOvr>
    <a:masterClrMapping/>
  </p:clrMapOvr>
  <mc:AlternateContent xmlns:mc="http://schemas.openxmlformats.org/markup-compatibility/2006" xmlns:p14="http://schemas.microsoft.com/office/powerpoint/2010/main">
    <mc:Choice Requires="p14">
      <p:transition spd="slow" p14:dur="2000" advTm="51001"/>
    </mc:Choice>
    <mc:Fallback xmlns="">
      <p:transition spd="slow" advTm="51001"/>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dirty="0" smtClean="0"/>
              <a:t>Learning disabilities</a:t>
            </a:r>
            <a:endParaRPr lang="en-CA" dirty="0"/>
          </a:p>
        </p:txBody>
      </p:sp>
      <p:sp>
        <p:nvSpPr>
          <p:cNvPr id="3" name="Content Placeholder 2"/>
          <p:cNvSpPr>
            <a:spLocks noGrp="1"/>
          </p:cNvSpPr>
          <p:nvPr>
            <p:ph sz="quarter" idx="1"/>
          </p:nvPr>
        </p:nvSpPr>
        <p:spPr>
          <a:xfrm>
            <a:off x="457200" y="1600200"/>
            <a:ext cx="8458200" cy="4525963"/>
          </a:xfrm>
        </p:spPr>
        <p:txBody>
          <a:bodyPr>
            <a:normAutofit fontScale="92500" lnSpcReduction="10000"/>
          </a:bodyPr>
          <a:lstStyle/>
          <a:p>
            <a:pPr marL="0" indent="0">
              <a:buNone/>
            </a:pPr>
            <a:r>
              <a:rPr lang="en-CA" dirty="0" smtClean="0"/>
              <a:t>Obstacles</a:t>
            </a:r>
          </a:p>
          <a:p>
            <a:r>
              <a:rPr lang="en-CA" dirty="0" smtClean="0"/>
              <a:t>Negative public perception of disabilities: </a:t>
            </a:r>
          </a:p>
          <a:p>
            <a:r>
              <a:rPr lang="en-CA" dirty="0" smtClean="0"/>
              <a:t>No uniform diagnostics or treatment</a:t>
            </a:r>
          </a:p>
          <a:p>
            <a:r>
              <a:rPr lang="en-CA" dirty="0" smtClean="0"/>
              <a:t>there </a:t>
            </a:r>
            <a:r>
              <a:rPr lang="en-CA" dirty="0"/>
              <a:t>are no school based mechanisms </a:t>
            </a:r>
            <a:r>
              <a:rPr lang="en-CA" dirty="0" smtClean="0"/>
              <a:t>for parents seeking services</a:t>
            </a:r>
          </a:p>
          <a:p>
            <a:r>
              <a:rPr lang="en-CA" dirty="0" smtClean="0"/>
              <a:t>In 2009</a:t>
            </a:r>
            <a:r>
              <a:rPr lang="en-CA" dirty="0"/>
              <a:t>, available programs serve 4.5 % of schools </a:t>
            </a:r>
          </a:p>
          <a:p>
            <a:endParaRPr lang="en-CA" dirty="0"/>
          </a:p>
          <a:p>
            <a:pPr marL="0" indent="0">
              <a:buNone/>
            </a:pPr>
            <a:endParaRPr lang="en-CA" i="1" dirty="0" smtClean="0"/>
          </a:p>
          <a:p>
            <a:pPr marL="0" indent="0">
              <a:buNone/>
            </a:pPr>
            <a:r>
              <a:rPr lang="en-CA" sz="2300" i="1" dirty="0" smtClean="0"/>
              <a:t>Dr</a:t>
            </a:r>
            <a:r>
              <a:rPr lang="en-CA" sz="2300" i="1" dirty="0"/>
              <a:t>. Saja Jamjoom, Program Manager for the Learning Disabilities Program at the Prince Salman Center for Disability Research</a:t>
            </a:r>
          </a:p>
          <a:p>
            <a:endParaRPr lang="en-CA" sz="2300" dirty="0" smtClean="0"/>
          </a:p>
          <a:p>
            <a:endParaRPr lang="en-CA"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210381"/>
            <a:ext cx="2469842" cy="647619"/>
          </a:xfrm>
          <a:prstGeom prst="rect">
            <a:avLst/>
          </a:prstGeom>
        </p:spPr>
      </p:pic>
    </p:spTree>
    <p:custDataLst>
      <p:tags r:id="rId1"/>
    </p:custDataLst>
    <p:extLst>
      <p:ext uri="{BB962C8B-B14F-4D97-AF65-F5344CB8AC3E}">
        <p14:creationId xmlns:p14="http://schemas.microsoft.com/office/powerpoint/2010/main" val="1905110123"/>
      </p:ext>
    </p:extLst>
  </p:cSld>
  <p:clrMapOvr>
    <a:masterClrMapping/>
  </p:clrMapOvr>
  <mc:AlternateContent xmlns:mc="http://schemas.openxmlformats.org/markup-compatibility/2006" xmlns:p14="http://schemas.microsoft.com/office/powerpoint/2010/main">
    <mc:Choice Requires="p14">
      <p:transition spd="slow" p14:dur="2000" advTm="192510"/>
    </mc:Choice>
    <mc:Fallback xmlns="">
      <p:transition spd="slow" advTm="19251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1000"/>
                                        <p:tgtEl>
                                          <p:spTgt spid="3">
                                            <p:txEl>
                                              <p:pRg st="7" end="7"/>
                                            </p:txEl>
                                          </p:spTgt>
                                        </p:tgtEl>
                                      </p:cBhvr>
                                    </p:animEffect>
                                    <p:anim calcmode="lin" valueType="num">
                                      <p:cBhvr>
                                        <p:cTn id="3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CA" dirty="0" smtClean="0"/>
              <a:t>Education, Culture and </a:t>
            </a:r>
            <a:r>
              <a:rPr lang="en-CA" dirty="0"/>
              <a:t>W</a:t>
            </a:r>
            <a:r>
              <a:rPr lang="en-CA" dirty="0" smtClean="0"/>
              <a:t>asta</a:t>
            </a:r>
            <a:endParaRPr lang="en-CA" dirty="0"/>
          </a:p>
        </p:txBody>
      </p:sp>
      <p:sp>
        <p:nvSpPr>
          <p:cNvPr id="5" name="Content Placeholder 4"/>
          <p:cNvSpPr>
            <a:spLocks noGrp="1"/>
          </p:cNvSpPr>
          <p:nvPr>
            <p:ph sz="quarter" idx="1"/>
          </p:nvPr>
        </p:nvSpPr>
        <p:spPr/>
        <p:txBody>
          <a:bodyPr>
            <a:normAutofit/>
          </a:bodyPr>
          <a:lstStyle/>
          <a:p>
            <a:r>
              <a:rPr lang="en-CA" dirty="0"/>
              <a:t>‘Wasta</a:t>
            </a:r>
            <a:r>
              <a:rPr lang="en-CA" dirty="0" smtClean="0"/>
              <a:t>.’ </a:t>
            </a:r>
            <a:r>
              <a:rPr lang="en-CA" i="1" dirty="0" smtClean="0"/>
              <a:t>“</a:t>
            </a:r>
            <a:r>
              <a:rPr lang="en-CA" i="1" dirty="0"/>
              <a:t>an individual’s ability to leverage strategically </a:t>
            </a:r>
            <a:r>
              <a:rPr lang="en-CA" i="1" dirty="0" smtClean="0"/>
              <a:t>beneficial relationships </a:t>
            </a:r>
            <a:r>
              <a:rPr lang="en-CA" i="1" dirty="0"/>
              <a:t>in order to consolidate the </a:t>
            </a:r>
            <a:r>
              <a:rPr lang="en-CA" i="1" dirty="0" smtClean="0"/>
              <a:t>groups/families’ social </a:t>
            </a:r>
            <a:r>
              <a:rPr lang="en-CA" i="1" dirty="0"/>
              <a:t>standing</a:t>
            </a:r>
            <a:r>
              <a:rPr lang="en-CA" i="1" dirty="0" smtClean="0"/>
              <a:t>” </a:t>
            </a:r>
            <a:r>
              <a:rPr lang="en-CA" dirty="0" smtClean="0"/>
              <a:t>you help your brother with his problems. </a:t>
            </a:r>
            <a:r>
              <a:rPr lang="en-CA" i="1" dirty="0"/>
              <a:t>(Fagan, 2008</a:t>
            </a:r>
            <a:r>
              <a:rPr lang="en-CA" i="1" dirty="0" smtClean="0"/>
              <a:t>)</a:t>
            </a:r>
            <a:endParaRPr lang="en-CA" dirty="0" smtClean="0"/>
          </a:p>
          <a:p>
            <a:r>
              <a:rPr lang="en-CA" dirty="0" smtClean="0"/>
              <a:t>social </a:t>
            </a:r>
            <a:r>
              <a:rPr lang="en-CA" dirty="0"/>
              <a:t>relationships </a:t>
            </a:r>
            <a:r>
              <a:rPr lang="en-CA" dirty="0" smtClean="0"/>
              <a:t>to overcome various challenges resulting in (</a:t>
            </a:r>
            <a:r>
              <a:rPr lang="en-CA" dirty="0" err="1" smtClean="0"/>
              <a:t>Muhammed</a:t>
            </a:r>
            <a:r>
              <a:rPr lang="en-CA" dirty="0" smtClean="0"/>
              <a:t>, 2012)</a:t>
            </a:r>
          </a:p>
          <a:p>
            <a:pPr lvl="1"/>
            <a:r>
              <a:rPr lang="en-CA" dirty="0" smtClean="0"/>
              <a:t>Passing of ‘undeserving students’</a:t>
            </a:r>
          </a:p>
          <a:p>
            <a:pPr lvl="1"/>
            <a:r>
              <a:rPr lang="en-CA" dirty="0" smtClean="0"/>
              <a:t>‘cheating’</a:t>
            </a:r>
          </a:p>
          <a:p>
            <a:pPr lvl="1"/>
            <a:r>
              <a:rPr lang="en-CA" dirty="0" smtClean="0"/>
              <a:t>University rankings</a:t>
            </a:r>
          </a:p>
          <a:p>
            <a:endParaRPr lang="en-CA" dirty="0"/>
          </a:p>
          <a:p>
            <a:endParaRPr lang="en-CA"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210381"/>
            <a:ext cx="2469842" cy="647619"/>
          </a:xfrm>
          <a:prstGeom prst="rect">
            <a:avLst/>
          </a:prstGeom>
        </p:spPr>
      </p:pic>
    </p:spTree>
    <p:custDataLst>
      <p:tags r:id="rId1"/>
    </p:custDataLst>
    <p:extLst>
      <p:ext uri="{BB962C8B-B14F-4D97-AF65-F5344CB8AC3E}">
        <p14:creationId xmlns:p14="http://schemas.microsoft.com/office/powerpoint/2010/main" val="3046270315"/>
      </p:ext>
    </p:extLst>
  </p:cSld>
  <p:clrMapOvr>
    <a:masterClrMapping/>
  </p:clrMapOvr>
  <mc:AlternateContent xmlns:mc="http://schemas.openxmlformats.org/markup-compatibility/2006" xmlns:p14="http://schemas.microsoft.com/office/powerpoint/2010/main">
    <mc:Choice Requires="p14">
      <p:transition spd="slow" p14:dur="2000" advTm="234750"/>
    </mc:Choice>
    <mc:Fallback xmlns="">
      <p:transition spd="slow" advTm="23475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xEl>
                                              <p:pRg st="1" end="1"/>
                                            </p:txEl>
                                          </p:spTgt>
                                        </p:tgtEl>
                                        <p:attrNameLst>
                                          <p:attrName>style.visibility</p:attrName>
                                        </p:attrNameLst>
                                      </p:cBhvr>
                                      <p:to>
                                        <p:strVal val="visible"/>
                                      </p:to>
                                    </p:set>
                                    <p:animEffect transition="in" filter="fade">
                                      <p:cBhvr>
                                        <p:cTn id="14" dur="1000"/>
                                        <p:tgtEl>
                                          <p:spTgt spid="5">
                                            <p:txEl>
                                              <p:pRg st="1" end="1"/>
                                            </p:txEl>
                                          </p:spTgt>
                                        </p:tgtEl>
                                      </p:cBhvr>
                                    </p:animEffect>
                                    <p:anim calcmode="lin" valueType="num">
                                      <p:cBhvr>
                                        <p:cTn id="15"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Effect transition="in" filter="fade">
                                      <p:cBhvr>
                                        <p:cTn id="19" dur="1000"/>
                                        <p:tgtEl>
                                          <p:spTgt spid="5">
                                            <p:txEl>
                                              <p:pRg st="2" end="2"/>
                                            </p:txEl>
                                          </p:spTgt>
                                        </p:tgtEl>
                                      </p:cBhvr>
                                    </p:animEffect>
                                    <p:anim calcmode="lin" valueType="num">
                                      <p:cBhvr>
                                        <p:cTn id="20"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5">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5">
                                            <p:txEl>
                                              <p:pRg st="3" end="3"/>
                                            </p:txEl>
                                          </p:spTgt>
                                        </p:tgtEl>
                                        <p:attrNameLst>
                                          <p:attrName>style.visibility</p:attrName>
                                        </p:attrNameLst>
                                      </p:cBhvr>
                                      <p:to>
                                        <p:strVal val="visible"/>
                                      </p:to>
                                    </p:set>
                                    <p:animEffect transition="in" filter="fade">
                                      <p:cBhvr>
                                        <p:cTn id="24" dur="1000"/>
                                        <p:tgtEl>
                                          <p:spTgt spid="5">
                                            <p:txEl>
                                              <p:pRg st="3" end="3"/>
                                            </p:txEl>
                                          </p:spTgt>
                                        </p:tgtEl>
                                      </p:cBhvr>
                                    </p:animEffect>
                                    <p:anim calcmode="lin" valueType="num">
                                      <p:cBhvr>
                                        <p:cTn id="25"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5">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5">
                                            <p:txEl>
                                              <p:pRg st="4" end="4"/>
                                            </p:txEl>
                                          </p:spTgt>
                                        </p:tgtEl>
                                        <p:attrNameLst>
                                          <p:attrName>style.visibility</p:attrName>
                                        </p:attrNameLst>
                                      </p:cBhvr>
                                      <p:to>
                                        <p:strVal val="visible"/>
                                      </p:to>
                                    </p:set>
                                    <p:animEffect transition="in" filter="fade">
                                      <p:cBhvr>
                                        <p:cTn id="29" dur="1000"/>
                                        <p:tgtEl>
                                          <p:spTgt spid="5">
                                            <p:txEl>
                                              <p:pRg st="4" end="4"/>
                                            </p:txEl>
                                          </p:spTgt>
                                        </p:tgtEl>
                                      </p:cBhvr>
                                    </p:animEffect>
                                    <p:anim calcmode="lin" valueType="num">
                                      <p:cBhvr>
                                        <p:cTn id="30"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CA" dirty="0" smtClean="0"/>
              <a:t>Understanding KASP’s goals</a:t>
            </a:r>
            <a:endParaRPr lang="en-CA" dirty="0"/>
          </a:p>
        </p:txBody>
      </p:sp>
      <p:sp>
        <p:nvSpPr>
          <p:cNvPr id="5" name="Content Placeholder 4"/>
          <p:cNvSpPr>
            <a:spLocks noGrp="1"/>
          </p:cNvSpPr>
          <p:nvPr>
            <p:ph sz="quarter" idx="1"/>
          </p:nvPr>
        </p:nvSpPr>
        <p:spPr/>
        <p:txBody>
          <a:bodyPr>
            <a:normAutofit/>
          </a:bodyPr>
          <a:lstStyle/>
          <a:p>
            <a:pPr marL="0" indent="0">
              <a:buNone/>
            </a:pPr>
            <a:r>
              <a:rPr lang="en-CA" dirty="0" smtClean="0"/>
              <a:t>The </a:t>
            </a:r>
            <a:r>
              <a:rPr lang="en-CA" b="1" dirty="0" smtClean="0"/>
              <a:t>K</a:t>
            </a:r>
            <a:r>
              <a:rPr lang="en-CA" dirty="0" smtClean="0"/>
              <a:t>ing </a:t>
            </a:r>
            <a:r>
              <a:rPr lang="en-CA" b="1" dirty="0" smtClean="0"/>
              <a:t>A</a:t>
            </a:r>
            <a:r>
              <a:rPr lang="en-CA" dirty="0" smtClean="0"/>
              <a:t>bdullah </a:t>
            </a:r>
            <a:r>
              <a:rPr lang="en-CA" b="1" dirty="0" smtClean="0"/>
              <a:t>S</a:t>
            </a:r>
            <a:r>
              <a:rPr lang="en-CA" dirty="0" smtClean="0"/>
              <a:t>cholarship </a:t>
            </a:r>
            <a:r>
              <a:rPr lang="en-CA" b="1" dirty="0" smtClean="0"/>
              <a:t>P</a:t>
            </a:r>
            <a:r>
              <a:rPr lang="en-CA" dirty="0" smtClean="0"/>
              <a:t>rogram goals:</a:t>
            </a:r>
          </a:p>
          <a:p>
            <a:pPr marL="0" indent="0">
              <a:buNone/>
            </a:pPr>
            <a:endParaRPr lang="en-CA" dirty="0" smtClean="0"/>
          </a:p>
          <a:p>
            <a:pPr marL="514350" indent="-514350">
              <a:buFont typeface="+mj-lt"/>
              <a:buAutoNum type="arabicPeriod"/>
            </a:pPr>
            <a:r>
              <a:rPr lang="en-CA" dirty="0" smtClean="0"/>
              <a:t>exposure </a:t>
            </a:r>
            <a:r>
              <a:rPr lang="en-CA" dirty="0"/>
              <a:t>to a </a:t>
            </a:r>
            <a:r>
              <a:rPr lang="en-CA" dirty="0" smtClean="0"/>
              <a:t>western experience</a:t>
            </a:r>
            <a:endParaRPr lang="en-CA" dirty="0"/>
          </a:p>
          <a:p>
            <a:pPr marL="514350" indent="-514350">
              <a:buFont typeface="+mj-lt"/>
              <a:buAutoNum type="arabicPeriod"/>
            </a:pPr>
            <a:r>
              <a:rPr lang="en-CA" dirty="0"/>
              <a:t>o</a:t>
            </a:r>
            <a:r>
              <a:rPr lang="en-CA" dirty="0" smtClean="0"/>
              <a:t>btain </a:t>
            </a:r>
            <a:r>
              <a:rPr lang="en-CA" dirty="0"/>
              <a:t>a degree from a western university</a:t>
            </a:r>
          </a:p>
          <a:p>
            <a:pPr marL="0" indent="0">
              <a:buNone/>
            </a:pPr>
            <a:r>
              <a:rPr lang="en-CA" dirty="0" smtClean="0"/>
              <a:t> </a:t>
            </a:r>
          </a:p>
          <a:p>
            <a:pPr marL="0" indent="0">
              <a:buNone/>
            </a:pPr>
            <a:r>
              <a:rPr lang="en-CA" sz="2000" i="1" dirty="0" smtClean="0"/>
              <a:t/>
            </a:r>
            <a:br>
              <a:rPr lang="en-CA" sz="2000" i="1" dirty="0" smtClean="0"/>
            </a:br>
            <a:r>
              <a:rPr lang="en-CA" sz="2000" i="1" dirty="0" smtClean="0"/>
              <a:t/>
            </a:r>
            <a:br>
              <a:rPr lang="en-CA" sz="2000" i="1" dirty="0" smtClean="0"/>
            </a:br>
            <a:r>
              <a:rPr lang="en-CA" sz="2000" i="1" dirty="0" smtClean="0"/>
              <a:t/>
            </a:r>
            <a:br>
              <a:rPr lang="en-CA" sz="2000" i="1" dirty="0" smtClean="0"/>
            </a:br>
            <a:r>
              <a:rPr lang="en-CA" sz="2000" i="1" dirty="0" smtClean="0"/>
              <a:t>Government </a:t>
            </a:r>
            <a:r>
              <a:rPr lang="en-CA" sz="2000" i="1" dirty="0"/>
              <a:t>claims that achieving either 1 or 2 </a:t>
            </a:r>
            <a:r>
              <a:rPr lang="en-CA" sz="2000" i="1" dirty="0" smtClean="0"/>
              <a:t>is considered </a:t>
            </a:r>
            <a:r>
              <a:rPr lang="en-CA" sz="2000" i="1" dirty="0"/>
              <a:t>to be a success by the </a:t>
            </a:r>
            <a:r>
              <a:rPr lang="en-CA" sz="2000" i="1" dirty="0" smtClean="0"/>
              <a:t>Saudi government (</a:t>
            </a:r>
            <a:r>
              <a:rPr lang="en-CA" sz="2000" i="1" dirty="0"/>
              <a:t>F</a:t>
            </a:r>
            <a:r>
              <a:rPr lang="en-CA" sz="2000" i="1" dirty="0" smtClean="0"/>
              <a:t>agan 2008)</a:t>
            </a:r>
          </a:p>
          <a:p>
            <a:endParaRPr lang="en-CA" dirty="0" smtClean="0"/>
          </a:p>
          <a:p>
            <a:endParaRPr lang="en-CA" dirty="0"/>
          </a:p>
          <a:p>
            <a:endParaRPr lang="en-CA"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210381"/>
            <a:ext cx="2469842" cy="647619"/>
          </a:xfrm>
          <a:prstGeom prst="rect">
            <a:avLst/>
          </a:prstGeom>
        </p:spPr>
      </p:pic>
    </p:spTree>
    <p:custDataLst>
      <p:tags r:id="rId1"/>
    </p:custDataLst>
    <p:extLst>
      <p:ext uri="{BB962C8B-B14F-4D97-AF65-F5344CB8AC3E}">
        <p14:creationId xmlns:p14="http://schemas.microsoft.com/office/powerpoint/2010/main" val="2375947900"/>
      </p:ext>
    </p:extLst>
  </p:cSld>
  <p:clrMapOvr>
    <a:masterClrMapping/>
  </p:clrMapOvr>
  <mc:AlternateContent xmlns:mc="http://schemas.openxmlformats.org/markup-compatibility/2006" xmlns:p14="http://schemas.microsoft.com/office/powerpoint/2010/main">
    <mc:Choice Requires="p14">
      <p:transition spd="slow" p14:dur="2000" advTm="36291"/>
    </mc:Choice>
    <mc:Fallback xmlns="">
      <p:transition spd="slow" advTm="3629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1000"/>
                                        <p:tgtEl>
                                          <p:spTgt spid="5">
                                            <p:txEl>
                                              <p:pRg st="2" end="2"/>
                                            </p:txEl>
                                          </p:spTgt>
                                        </p:tgtEl>
                                      </p:cBhvr>
                                    </p:animEffect>
                                    <p:anim calcmode="lin" valueType="num">
                                      <p:cBhvr>
                                        <p:cTn id="13"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fade">
                                      <p:cBhvr>
                                        <p:cTn id="17" dur="1000"/>
                                        <p:tgtEl>
                                          <p:spTgt spid="5">
                                            <p:txEl>
                                              <p:pRg st="3" end="3"/>
                                            </p:txEl>
                                          </p:spTgt>
                                        </p:tgtEl>
                                      </p:cBhvr>
                                    </p:animEffect>
                                    <p:anim calcmode="lin" valueType="num">
                                      <p:cBhvr>
                                        <p:cTn id="18"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fade">
                                      <p:cBhvr>
                                        <p:cTn id="22" dur="1000"/>
                                        <p:tgtEl>
                                          <p:spTgt spid="5">
                                            <p:txEl>
                                              <p:pRg st="4" end="4"/>
                                            </p:txEl>
                                          </p:spTgt>
                                        </p:tgtEl>
                                      </p:cBhvr>
                                    </p:animEffect>
                                    <p:anim calcmode="lin" valueType="num">
                                      <p:cBhvr>
                                        <p:cTn id="23"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Understanding </a:t>
            </a:r>
            <a:r>
              <a:rPr lang="en-CA" dirty="0" smtClean="0"/>
              <a:t>KASP’s </a:t>
            </a:r>
            <a:r>
              <a:rPr lang="en-CA" dirty="0"/>
              <a:t>goals</a:t>
            </a:r>
          </a:p>
        </p:txBody>
      </p:sp>
      <p:sp>
        <p:nvSpPr>
          <p:cNvPr id="3" name="Content Placeholder 2"/>
          <p:cNvSpPr>
            <a:spLocks noGrp="1"/>
          </p:cNvSpPr>
          <p:nvPr>
            <p:ph sz="quarter" idx="1"/>
          </p:nvPr>
        </p:nvSpPr>
        <p:spPr/>
        <p:txBody>
          <a:bodyPr/>
          <a:lstStyle/>
          <a:p>
            <a:endParaRPr lang="en-CA" dirty="0"/>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8150" y="1762125"/>
            <a:ext cx="8477250" cy="463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77200" y="152400"/>
            <a:ext cx="762000" cy="10305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6210381"/>
            <a:ext cx="2469842" cy="647619"/>
          </a:xfrm>
          <a:prstGeom prst="rect">
            <a:avLst/>
          </a:prstGeom>
        </p:spPr>
      </p:pic>
    </p:spTree>
    <p:custDataLst>
      <p:tags r:id="rId1"/>
    </p:custDataLst>
    <p:extLst>
      <p:ext uri="{BB962C8B-B14F-4D97-AF65-F5344CB8AC3E}">
        <p14:creationId xmlns:p14="http://schemas.microsoft.com/office/powerpoint/2010/main" val="1067662690"/>
      </p:ext>
    </p:extLst>
  </p:cSld>
  <p:clrMapOvr>
    <a:masterClrMapping/>
  </p:clrMapOvr>
  <mc:AlternateContent xmlns:mc="http://schemas.openxmlformats.org/markup-compatibility/2006" xmlns:p14="http://schemas.microsoft.com/office/powerpoint/2010/main">
    <mc:Choice Requires="p14">
      <p:transition spd="slow" p14:dur="2000" advTm="59274"/>
    </mc:Choice>
    <mc:Fallback xmlns="">
      <p:transition spd="slow" advTm="5927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wheel(1)">
                                      <p:cBhvr>
                                        <p:cTn id="7" dur="2000"/>
                                        <p:tgtEl>
                                          <p:spTgt spid="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228600"/>
            <a:ext cx="8229600" cy="639762"/>
          </a:xfrm>
        </p:spPr>
        <p:txBody>
          <a:bodyPr>
            <a:normAutofit/>
          </a:bodyPr>
          <a:lstStyle/>
          <a:p>
            <a:r>
              <a:rPr lang="en-CA" sz="3200" dirty="0" smtClean="0"/>
              <a:t>The first KASP influx in America and Canada</a:t>
            </a:r>
            <a:endParaRPr lang="en-CA" sz="3200" dirty="0"/>
          </a:p>
        </p:txBody>
      </p:sp>
      <p:sp>
        <p:nvSpPr>
          <p:cNvPr id="5" name="Content Placeholder 4"/>
          <p:cNvSpPr>
            <a:spLocks noGrp="1"/>
          </p:cNvSpPr>
          <p:nvPr>
            <p:ph sz="quarter" idx="1"/>
          </p:nvPr>
        </p:nvSpPr>
        <p:spPr>
          <a:xfrm>
            <a:off x="228600" y="914401"/>
            <a:ext cx="8229600" cy="838199"/>
          </a:xfrm>
        </p:spPr>
        <p:txBody>
          <a:bodyPr>
            <a:normAutofit fontScale="62500" lnSpcReduction="20000"/>
          </a:bodyPr>
          <a:lstStyle/>
          <a:p>
            <a:r>
              <a:rPr lang="en-CA" dirty="0" smtClean="0"/>
              <a:t>2004-2005 increase from 3000-10000 Saudis coming to America (Redden, 2007)</a:t>
            </a:r>
          </a:p>
          <a:p>
            <a:r>
              <a:rPr lang="en-CA" dirty="0" smtClean="0"/>
              <a:t>2007-2010 </a:t>
            </a:r>
            <a:r>
              <a:rPr lang="en-CA" dirty="0"/>
              <a:t>increase from </a:t>
            </a:r>
            <a:r>
              <a:rPr lang="en-CA" dirty="0" smtClean="0"/>
              <a:t>2200-13,899 Saudis  (KASP PPT – 2011) </a:t>
            </a:r>
          </a:p>
          <a:p>
            <a:endParaRPr lang="en-CA" dirty="0" smtClean="0"/>
          </a:p>
          <a:p>
            <a:endParaRPr lang="en-CA"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752600"/>
            <a:ext cx="7543800" cy="4959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29600" y="112426"/>
            <a:ext cx="762000" cy="10305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6378469"/>
            <a:ext cx="1828800" cy="479531"/>
          </a:xfrm>
          <a:prstGeom prst="rect">
            <a:avLst/>
          </a:prstGeom>
        </p:spPr>
      </p:pic>
    </p:spTree>
    <p:custDataLst>
      <p:tags r:id="rId1"/>
    </p:custDataLst>
    <p:extLst>
      <p:ext uri="{BB962C8B-B14F-4D97-AF65-F5344CB8AC3E}">
        <p14:creationId xmlns:p14="http://schemas.microsoft.com/office/powerpoint/2010/main" val="329731302"/>
      </p:ext>
    </p:extLst>
  </p:cSld>
  <p:clrMapOvr>
    <a:masterClrMapping/>
  </p:clrMapOvr>
  <mc:AlternateContent xmlns:mc="http://schemas.openxmlformats.org/markup-compatibility/2006" xmlns:p14="http://schemas.microsoft.com/office/powerpoint/2010/main">
    <mc:Choice Requires="p14">
      <p:transition spd="slow" p14:dur="2000" advTm="2625"/>
    </mc:Choice>
    <mc:Fallback xmlns="">
      <p:transition spd="slow" advTm="262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randombar(horizontal)">
                                      <p:cBhvr>
                                        <p:cTn id="7"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CA" dirty="0" smtClean="0"/>
              <a:t>Understanding the economics motivating KASP (Saudization)</a:t>
            </a:r>
            <a:endParaRPr lang="en-CA" dirty="0"/>
          </a:p>
        </p:txBody>
      </p:sp>
      <p:sp>
        <p:nvSpPr>
          <p:cNvPr id="5" name="Content Placeholder 4"/>
          <p:cNvSpPr>
            <a:spLocks noGrp="1"/>
          </p:cNvSpPr>
          <p:nvPr>
            <p:ph sz="quarter" idx="1"/>
          </p:nvPr>
        </p:nvSpPr>
        <p:spPr/>
        <p:txBody>
          <a:bodyPr>
            <a:normAutofit/>
          </a:bodyPr>
          <a:lstStyle/>
          <a:p>
            <a:r>
              <a:rPr lang="en-CA" dirty="0" err="1" smtClean="0"/>
              <a:t>Saudization</a:t>
            </a:r>
            <a:r>
              <a:rPr lang="en-CA" dirty="0" smtClean="0"/>
              <a:t> of the private sector: </a:t>
            </a:r>
          </a:p>
          <a:p>
            <a:pPr lvl="1"/>
            <a:r>
              <a:rPr lang="en-CA" i="1" dirty="0" smtClean="0"/>
              <a:t>limit dependence on foreign labour, </a:t>
            </a:r>
          </a:p>
          <a:p>
            <a:pPr lvl="1"/>
            <a:r>
              <a:rPr lang="en-CA" i="1" dirty="0" smtClean="0"/>
              <a:t>create a more dynamic economy</a:t>
            </a:r>
          </a:p>
          <a:p>
            <a:pPr lvl="1"/>
            <a:r>
              <a:rPr lang="en-CA" dirty="0" smtClean="0"/>
              <a:t>"</a:t>
            </a:r>
            <a:r>
              <a:rPr lang="en-CA" i="1" dirty="0" smtClean="0"/>
              <a:t>is the fact that there </a:t>
            </a:r>
            <a:r>
              <a:rPr lang="en-CA" b="1" i="1" dirty="0" smtClean="0"/>
              <a:t>aren't enough well-trained Saudis </a:t>
            </a:r>
            <a:r>
              <a:rPr lang="en-CA" i="1" dirty="0" smtClean="0"/>
              <a:t>in the kind of jobs that are needed</a:t>
            </a:r>
            <a:r>
              <a:rPr lang="en-CA" dirty="0" smtClean="0"/>
              <a:t>.“ </a:t>
            </a:r>
            <a:r>
              <a:rPr lang="en-CA" i="1" dirty="0" smtClean="0"/>
              <a:t>J. </a:t>
            </a:r>
            <a:r>
              <a:rPr lang="en-CA" dirty="0" smtClean="0"/>
              <a:t>Sfakianakis - </a:t>
            </a:r>
            <a:r>
              <a:rPr lang="en-CA" dirty="0"/>
              <a:t>Saudi Franzi </a:t>
            </a:r>
            <a:r>
              <a:rPr lang="en-CA" dirty="0" smtClean="0"/>
              <a:t>Bank (in Lindsey, 2010</a:t>
            </a:r>
            <a:r>
              <a:rPr lang="en-CA" i="1" dirty="0" smtClean="0"/>
              <a:t>)</a:t>
            </a:r>
          </a:p>
          <a:p>
            <a:pPr lvl="1"/>
            <a:r>
              <a:rPr lang="en-CA" dirty="0" smtClean="0"/>
              <a:t>"</a:t>
            </a:r>
            <a:r>
              <a:rPr lang="en-CA" dirty="0"/>
              <a:t>generally </a:t>
            </a:r>
            <a:r>
              <a:rPr lang="en-CA" b="1" dirty="0"/>
              <a:t>lacks the education and technical skills </a:t>
            </a:r>
            <a:r>
              <a:rPr lang="en-CA" dirty="0"/>
              <a:t>the private sector needs" (</a:t>
            </a:r>
            <a:r>
              <a:rPr lang="en-CA" dirty="0" smtClean="0"/>
              <a:t>CIA </a:t>
            </a:r>
            <a:r>
              <a:rPr lang="en-CA" dirty="0" err="1" smtClean="0"/>
              <a:t>Factbook</a:t>
            </a:r>
            <a:r>
              <a:rPr lang="en-CA" dirty="0"/>
              <a:t>,</a:t>
            </a:r>
            <a:r>
              <a:rPr lang="en-CA" dirty="0" smtClean="0"/>
              <a:t> 2012; Lindsey, 2010)</a:t>
            </a:r>
          </a:p>
          <a:p>
            <a:endParaRPr lang="en-CA" dirty="0" smtClean="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210381"/>
            <a:ext cx="2469842" cy="647619"/>
          </a:xfrm>
          <a:prstGeom prst="rect">
            <a:avLst/>
          </a:prstGeom>
        </p:spPr>
      </p:pic>
    </p:spTree>
    <p:custDataLst>
      <p:tags r:id="rId1"/>
    </p:custDataLst>
    <p:extLst>
      <p:ext uri="{BB962C8B-B14F-4D97-AF65-F5344CB8AC3E}">
        <p14:creationId xmlns:p14="http://schemas.microsoft.com/office/powerpoint/2010/main" val="2991240069"/>
      </p:ext>
    </p:extLst>
  </p:cSld>
  <p:clrMapOvr>
    <a:masterClrMapping/>
  </p:clrMapOvr>
  <mc:AlternateContent xmlns:mc="http://schemas.openxmlformats.org/markup-compatibility/2006" xmlns:p14="http://schemas.microsoft.com/office/powerpoint/2010/main">
    <mc:Choice Requires="p14">
      <p:transition spd="slow" p14:dur="2000" advTm="151378"/>
    </mc:Choice>
    <mc:Fallback xmlns="">
      <p:transition spd="slow" advTm="15137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1000"/>
                                        <p:tgtEl>
                                          <p:spTgt spid="5">
                                            <p:txEl>
                                              <p:pRg st="1" end="1"/>
                                            </p:txEl>
                                          </p:spTgt>
                                        </p:tgtEl>
                                      </p:cBhvr>
                                    </p:animEffect>
                                    <p:anim calcmode="lin" valueType="num">
                                      <p:cBhvr>
                                        <p:cTn id="13"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1000"/>
                                        <p:tgtEl>
                                          <p:spTgt spid="5">
                                            <p:txEl>
                                              <p:pRg st="2" end="2"/>
                                            </p:txEl>
                                          </p:spTgt>
                                        </p:tgtEl>
                                      </p:cBhvr>
                                    </p:animEffect>
                                    <p:anim calcmode="lin" valueType="num">
                                      <p:cBhvr>
                                        <p:cTn id="1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1000"/>
                                        <p:tgtEl>
                                          <p:spTgt spid="5">
                                            <p:txEl>
                                              <p:pRg st="3" end="3"/>
                                            </p:txEl>
                                          </p:spTgt>
                                        </p:tgtEl>
                                      </p:cBhvr>
                                    </p:animEffect>
                                    <p:anim calcmode="lin" valueType="num">
                                      <p:cBhvr>
                                        <p:cTn id="2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1000"/>
                                        <p:tgtEl>
                                          <p:spTgt spid="5">
                                            <p:txEl>
                                              <p:pRg st="4" end="4"/>
                                            </p:txEl>
                                          </p:spTgt>
                                        </p:tgtEl>
                                      </p:cBhvr>
                                    </p:animEffect>
                                    <p:anim calcmode="lin" valueType="num">
                                      <p:cBhvr>
                                        <p:cTn id="2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CA" sz="3200" dirty="0" smtClean="0"/>
              <a:t>The first KASP </a:t>
            </a:r>
            <a:r>
              <a:rPr lang="en-CA" sz="3200" dirty="0"/>
              <a:t>influx in America and Canada</a:t>
            </a:r>
          </a:p>
        </p:txBody>
      </p:sp>
      <p:sp>
        <p:nvSpPr>
          <p:cNvPr id="5" name="Content Placeholder 4"/>
          <p:cNvSpPr>
            <a:spLocks noGrp="1"/>
          </p:cNvSpPr>
          <p:nvPr>
            <p:ph sz="quarter" idx="1"/>
          </p:nvPr>
        </p:nvSpPr>
        <p:spPr/>
        <p:txBody>
          <a:bodyPr>
            <a:normAutofit/>
          </a:bodyPr>
          <a:lstStyle/>
          <a:p>
            <a:r>
              <a:rPr lang="en-CA" dirty="0"/>
              <a:t>But by and large, the recent history of Saudi-U.S. interaction on U.S. campuses is characterized by </a:t>
            </a:r>
            <a:r>
              <a:rPr lang="en-CA" b="1" dirty="0"/>
              <a:t>“broad failures</a:t>
            </a:r>
            <a:r>
              <a:rPr lang="en-CA" b="1" dirty="0" smtClean="0"/>
              <a:t>,” </a:t>
            </a:r>
            <a:r>
              <a:rPr lang="en-CA" dirty="0" smtClean="0"/>
              <a:t>(Redden, 2007)</a:t>
            </a:r>
          </a:p>
          <a:p>
            <a:r>
              <a:rPr lang="en-CA" dirty="0" smtClean="0"/>
              <a:t>first </a:t>
            </a:r>
            <a:r>
              <a:rPr lang="en-CA" dirty="0"/>
              <a:t>influx </a:t>
            </a:r>
            <a:r>
              <a:rPr lang="en-CA" dirty="0" smtClean="0"/>
              <a:t>never </a:t>
            </a:r>
            <a:r>
              <a:rPr lang="en-CA" dirty="0"/>
              <a:t>screened </a:t>
            </a:r>
            <a:r>
              <a:rPr lang="en-CA" dirty="0" smtClean="0"/>
              <a:t>academically</a:t>
            </a:r>
            <a:endParaRPr lang="en-CA" dirty="0"/>
          </a:p>
          <a:p>
            <a:r>
              <a:rPr lang="en-CA" dirty="0" smtClean="0"/>
              <a:t>Key </a:t>
            </a:r>
            <a:r>
              <a:rPr lang="en-CA" dirty="0"/>
              <a:t>challenges including:</a:t>
            </a:r>
          </a:p>
          <a:p>
            <a:pPr lvl="1"/>
            <a:r>
              <a:rPr lang="en-CA" dirty="0" smtClean="0"/>
              <a:t>real </a:t>
            </a:r>
            <a:r>
              <a:rPr lang="en-CA" dirty="0"/>
              <a:t>skill sets </a:t>
            </a:r>
            <a:r>
              <a:rPr lang="en-CA" dirty="0" smtClean="0"/>
              <a:t>vs. </a:t>
            </a:r>
            <a:r>
              <a:rPr lang="en-CA" dirty="0"/>
              <a:t>eligibility for academic </a:t>
            </a:r>
            <a:r>
              <a:rPr lang="en-CA" dirty="0" smtClean="0"/>
              <a:t>programs (Fagan, 2008)</a:t>
            </a:r>
          </a:p>
          <a:p>
            <a:pPr lvl="1"/>
            <a:r>
              <a:rPr lang="en-CA" dirty="0"/>
              <a:t>Low </a:t>
            </a:r>
            <a:r>
              <a:rPr lang="en-CA" dirty="0" smtClean="0"/>
              <a:t>students </a:t>
            </a:r>
            <a:r>
              <a:rPr lang="en-CA" dirty="0"/>
              <a:t>unable </a:t>
            </a:r>
            <a:r>
              <a:rPr lang="en-CA" dirty="0" smtClean="0"/>
              <a:t>to meet </a:t>
            </a:r>
            <a:r>
              <a:rPr lang="en-CA" dirty="0"/>
              <a:t>ESL requirements in time </a:t>
            </a:r>
            <a:r>
              <a:rPr lang="en-CA" dirty="0" smtClean="0"/>
              <a:t>(</a:t>
            </a:r>
            <a:r>
              <a:rPr lang="en-CA" dirty="0"/>
              <a:t>Redden, 2007)</a:t>
            </a:r>
          </a:p>
          <a:p>
            <a:pPr lvl="1"/>
            <a:endParaRPr lang="en-CA" dirty="0" smtClean="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210381"/>
            <a:ext cx="2469842" cy="647619"/>
          </a:xfrm>
          <a:prstGeom prst="rect">
            <a:avLst/>
          </a:prstGeom>
        </p:spPr>
      </p:pic>
    </p:spTree>
    <p:custDataLst>
      <p:tags r:id="rId1"/>
    </p:custDataLst>
    <p:extLst>
      <p:ext uri="{BB962C8B-B14F-4D97-AF65-F5344CB8AC3E}">
        <p14:creationId xmlns:p14="http://schemas.microsoft.com/office/powerpoint/2010/main" val="3159294395"/>
      </p:ext>
    </p:extLst>
  </p:cSld>
  <p:clrMapOvr>
    <a:masterClrMapping/>
  </p:clrMapOvr>
  <mc:AlternateContent xmlns:mc="http://schemas.openxmlformats.org/markup-compatibility/2006" xmlns:p14="http://schemas.microsoft.com/office/powerpoint/2010/main">
    <mc:Choice Requires="p14">
      <p:transition spd="slow" p14:dur="2000" advTm="62971"/>
    </mc:Choice>
    <mc:Fallback xmlns="">
      <p:transition spd="slow" advTm="6297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BICS and CALP    (Cummins,1979)</a:t>
            </a:r>
            <a:endParaRPr lang="en-CA" dirty="0"/>
          </a:p>
        </p:txBody>
      </p:sp>
      <p:sp>
        <p:nvSpPr>
          <p:cNvPr id="3" name="Content Placeholder 2"/>
          <p:cNvSpPr>
            <a:spLocks noGrp="1"/>
          </p:cNvSpPr>
          <p:nvPr>
            <p:ph sz="quarter" idx="1"/>
          </p:nvPr>
        </p:nvSpPr>
        <p:spPr/>
        <p:txBody>
          <a:bodyPr>
            <a:noAutofit/>
          </a:bodyPr>
          <a:lstStyle/>
          <a:p>
            <a:r>
              <a:rPr lang="en-CA" dirty="0" smtClean="0"/>
              <a:t>BICS is </a:t>
            </a:r>
            <a:r>
              <a:rPr lang="en-CA" b="1" dirty="0" smtClean="0"/>
              <a:t>Basic </a:t>
            </a:r>
            <a:r>
              <a:rPr lang="en-CA" b="1" dirty="0"/>
              <a:t>Interpersonal Communication </a:t>
            </a:r>
            <a:r>
              <a:rPr lang="en-CA" b="1" dirty="0" smtClean="0"/>
              <a:t>Skills</a:t>
            </a:r>
            <a:r>
              <a:rPr lang="en-CA" dirty="0" smtClean="0"/>
              <a:t> </a:t>
            </a:r>
          </a:p>
          <a:p>
            <a:pPr lvl="1"/>
            <a:r>
              <a:rPr lang="en-CA" sz="3200" i="1" dirty="0"/>
              <a:t>conversational language</a:t>
            </a:r>
            <a:r>
              <a:rPr lang="en-CA" sz="3200" dirty="0"/>
              <a:t> </a:t>
            </a:r>
            <a:endParaRPr lang="en-CA" sz="3200" dirty="0" smtClean="0"/>
          </a:p>
          <a:p>
            <a:r>
              <a:rPr lang="en-CA" dirty="0" smtClean="0"/>
              <a:t>CALP </a:t>
            </a:r>
            <a:r>
              <a:rPr lang="en-CA" dirty="0"/>
              <a:t>is</a:t>
            </a:r>
            <a:r>
              <a:rPr lang="en-CA" b="1" dirty="0"/>
              <a:t> Cognitive Academic Language </a:t>
            </a:r>
            <a:r>
              <a:rPr lang="en-CA" b="1" dirty="0" smtClean="0"/>
              <a:t>Proficiency</a:t>
            </a:r>
            <a:endParaRPr lang="en-CA" dirty="0" smtClean="0"/>
          </a:p>
          <a:p>
            <a:pPr lvl="1"/>
            <a:r>
              <a:rPr lang="en-CA" sz="3200" i="1" dirty="0"/>
              <a:t>academic </a:t>
            </a:r>
            <a:r>
              <a:rPr lang="en-CA" sz="3200" i="1" dirty="0" smtClean="0"/>
              <a:t>language</a:t>
            </a:r>
          </a:p>
          <a:p>
            <a:pPr marL="342900" lvl="1" indent="-342900">
              <a:buFont typeface="Arial" pitchFamily="34" charset="0"/>
              <a:buChar char="•"/>
            </a:pPr>
            <a:r>
              <a:rPr lang="en-CA" sz="2400" dirty="0" smtClean="0"/>
              <a:t>Children</a:t>
            </a:r>
            <a:r>
              <a:rPr lang="en-CA" sz="2400" dirty="0"/>
              <a:t>* develop native speaker </a:t>
            </a:r>
            <a:r>
              <a:rPr lang="en-CA" sz="2400" i="1" dirty="0"/>
              <a:t>conversational language</a:t>
            </a:r>
            <a:r>
              <a:rPr lang="en-CA" sz="2400" dirty="0"/>
              <a:t>  within </a:t>
            </a:r>
            <a:r>
              <a:rPr lang="en-CA" sz="2400" b="1" dirty="0"/>
              <a:t>two years </a:t>
            </a:r>
            <a:r>
              <a:rPr lang="en-CA" sz="2400" dirty="0"/>
              <a:t>of immersion,</a:t>
            </a:r>
          </a:p>
          <a:p>
            <a:pPr marL="342900" lvl="1" indent="-342900">
              <a:buFont typeface="Arial" pitchFamily="34" charset="0"/>
              <a:buChar char="•"/>
            </a:pPr>
            <a:r>
              <a:rPr lang="en-CA" sz="2400" i="1" dirty="0"/>
              <a:t>academic language </a:t>
            </a:r>
            <a:r>
              <a:rPr lang="en-CA" sz="2400" dirty="0"/>
              <a:t>takes between </a:t>
            </a:r>
            <a:r>
              <a:rPr lang="en-CA" sz="2400" b="1" dirty="0"/>
              <a:t>5-7 years </a:t>
            </a:r>
            <a:r>
              <a:rPr lang="en-CA" sz="2400" dirty="0"/>
              <a:t>for a child to develop</a:t>
            </a:r>
          </a:p>
          <a:p>
            <a:pPr lvl="1"/>
            <a:endParaRPr lang="en-CA" sz="3200" dirty="0"/>
          </a:p>
          <a:p>
            <a:endParaRPr lang="en-CA" sz="1500" dirty="0" smtClean="0"/>
          </a:p>
          <a:p>
            <a:endParaRPr lang="en-CA" sz="1500" dirty="0" smtClean="0"/>
          </a:p>
          <a:p>
            <a:endParaRPr lang="en-CA" sz="1500" dirty="0"/>
          </a:p>
          <a:p>
            <a:endParaRPr lang="en-CA" sz="1500" dirty="0" smtClean="0"/>
          </a:p>
          <a:p>
            <a:endParaRPr lang="en-CA" sz="1500" dirty="0"/>
          </a:p>
          <a:p>
            <a:endParaRPr lang="en-CA" sz="1500"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210381"/>
            <a:ext cx="2469842" cy="647619"/>
          </a:xfrm>
          <a:prstGeom prst="rect">
            <a:avLst/>
          </a:prstGeom>
        </p:spPr>
      </p:pic>
    </p:spTree>
    <p:custDataLst>
      <p:tags r:id="rId1"/>
    </p:custDataLst>
    <p:extLst>
      <p:ext uri="{BB962C8B-B14F-4D97-AF65-F5344CB8AC3E}">
        <p14:creationId xmlns:p14="http://schemas.microsoft.com/office/powerpoint/2010/main" val="1362825390"/>
      </p:ext>
    </p:extLst>
  </p:cSld>
  <p:clrMapOvr>
    <a:masterClrMapping/>
  </p:clrMapOvr>
  <mc:AlternateContent xmlns:mc="http://schemas.openxmlformats.org/markup-compatibility/2006" xmlns:p14="http://schemas.microsoft.com/office/powerpoint/2010/main">
    <mc:Choice Requires="p14">
      <p:transition spd="slow" p14:dur="2000" advTm="96294"/>
    </mc:Choice>
    <mc:Fallback xmlns="">
      <p:transition spd="slow" advTm="9629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1000"/>
                                        <p:tgtEl>
                                          <p:spTgt spid="3">
                                            <p:txEl>
                                              <p:pRg st="4" end="4"/>
                                            </p:txEl>
                                          </p:spTgt>
                                        </p:tgtEl>
                                      </p:cBhvr>
                                    </p:animEffect>
                                    <p:anim calcmode="lin" valueType="num">
                                      <p:cBhvr>
                                        <p:cTn id="3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1000"/>
                                        <p:tgtEl>
                                          <p:spTgt spid="3">
                                            <p:txEl>
                                              <p:pRg st="5" end="5"/>
                                            </p:txEl>
                                          </p:spTgt>
                                        </p:tgtEl>
                                      </p:cBhvr>
                                    </p:animEffect>
                                    <p:anim calcmode="lin" valueType="num">
                                      <p:cBhvr>
                                        <p:cTn id="3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dirty="0" smtClean="0"/>
              <a:t>Summary of Educational issues</a:t>
            </a:r>
            <a:endParaRPr lang="en-CA" dirty="0"/>
          </a:p>
        </p:txBody>
      </p:sp>
      <p:sp>
        <p:nvSpPr>
          <p:cNvPr id="3" name="Content Placeholder 2"/>
          <p:cNvSpPr>
            <a:spLocks noGrp="1"/>
          </p:cNvSpPr>
          <p:nvPr>
            <p:ph sz="quarter" idx="1"/>
          </p:nvPr>
        </p:nvSpPr>
        <p:spPr/>
        <p:txBody>
          <a:bodyPr>
            <a:normAutofit/>
          </a:bodyPr>
          <a:lstStyle/>
          <a:p>
            <a:r>
              <a:rPr lang="en-CA" dirty="0" smtClean="0"/>
              <a:t>Underdeveloped skills in </a:t>
            </a:r>
            <a:r>
              <a:rPr lang="en-CA" dirty="0"/>
              <a:t>analysis, problem-solving, and critical </a:t>
            </a:r>
            <a:r>
              <a:rPr lang="en-CA" dirty="0" smtClean="0"/>
              <a:t>thinking</a:t>
            </a:r>
          </a:p>
          <a:p>
            <a:r>
              <a:rPr lang="en-CA" dirty="0" smtClean="0"/>
              <a:t>Undiagnosed learning disabilities </a:t>
            </a:r>
          </a:p>
          <a:p>
            <a:r>
              <a:rPr lang="en-CA" dirty="0" smtClean="0"/>
              <a:t>Non representative grading/qualifications</a:t>
            </a:r>
          </a:p>
          <a:p>
            <a:r>
              <a:rPr lang="en-CA" dirty="0" smtClean="0"/>
              <a:t>Outmoded </a:t>
            </a:r>
            <a:r>
              <a:rPr lang="en-CA" dirty="0"/>
              <a:t>pedagogical practices </a:t>
            </a:r>
            <a:endParaRPr lang="en-CA" dirty="0" smtClean="0"/>
          </a:p>
          <a:p>
            <a:r>
              <a:rPr lang="en-CA" dirty="0" smtClean="0"/>
              <a:t>Gaps between knowledge and ability</a:t>
            </a:r>
          </a:p>
          <a:p>
            <a:r>
              <a:rPr lang="en-CA" dirty="0" smtClean="0"/>
              <a:t>Limited amount of time/funding to bring students up-to-speed</a:t>
            </a:r>
            <a:endParaRPr lang="en-CA"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210381"/>
            <a:ext cx="2469842" cy="647619"/>
          </a:xfrm>
          <a:prstGeom prst="rect">
            <a:avLst/>
          </a:prstGeom>
        </p:spPr>
      </p:pic>
    </p:spTree>
    <p:custDataLst>
      <p:tags r:id="rId1"/>
    </p:custDataLst>
    <p:extLst>
      <p:ext uri="{BB962C8B-B14F-4D97-AF65-F5344CB8AC3E}">
        <p14:creationId xmlns:p14="http://schemas.microsoft.com/office/powerpoint/2010/main" val="1480015369"/>
      </p:ext>
    </p:extLst>
  </p:cSld>
  <p:clrMapOvr>
    <a:masterClrMapping/>
  </p:clrMapOvr>
  <mc:AlternateContent xmlns:mc="http://schemas.openxmlformats.org/markup-compatibility/2006" xmlns:p14="http://schemas.microsoft.com/office/powerpoint/2010/main">
    <mc:Choice Requires="p14">
      <p:transition spd="slow" p14:dur="2000" advTm="36206"/>
    </mc:Choice>
    <mc:Fallback xmlns="">
      <p:transition spd="slow" advTm="3620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allAtOnce"/>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CA" dirty="0" smtClean="0"/>
              <a:t>linguistic issues and solutions</a:t>
            </a:r>
            <a:endParaRPr lang="en-CA" dirty="0"/>
          </a:p>
        </p:txBody>
      </p:sp>
      <p:sp>
        <p:nvSpPr>
          <p:cNvPr id="5" name="Title 1"/>
          <p:cNvSpPr txBox="1">
            <a:spLocks/>
          </p:cNvSpPr>
          <p:nvPr/>
        </p:nvSpPr>
        <p:spPr>
          <a:xfrm>
            <a:off x="-5255" y="4114800"/>
            <a:ext cx="9067800" cy="1828800"/>
          </a:xfrm>
          <a:prstGeom prst="rect">
            <a:avLst/>
          </a:prstGeom>
        </p:spPr>
        <p:txBody>
          <a:bodyPr vert="horz" anchor="b">
            <a:normAutofit fontScale="90000" lnSpcReduction="10000"/>
          </a:bodyPr>
          <a:lstStyle>
            <a:lvl1pPr algn="l" rtl="0" eaLnBrk="1" latinLnBrk="0" hangingPunct="1">
              <a:spcBef>
                <a:spcPct val="0"/>
              </a:spcBef>
              <a:buNone/>
              <a:defRPr kumimoji="0" sz="4400" kern="1200" cap="all" baseline="0">
                <a:solidFill>
                  <a:schemeClr val="tx2"/>
                </a:solidFill>
                <a:latin typeface="+mj-lt"/>
                <a:ea typeface="+mj-ea"/>
                <a:cs typeface="+mj-cs"/>
              </a:defRPr>
            </a:lvl1pPr>
          </a:lstStyle>
          <a:p>
            <a:pPr algn="r"/>
            <a:r>
              <a:rPr lang="en-CA" dirty="0" smtClean="0"/>
              <a:t>Business English programs for Saudi students: </a:t>
            </a:r>
            <a:br>
              <a:rPr lang="en-CA" dirty="0" smtClean="0"/>
            </a:br>
            <a:r>
              <a:rPr lang="en-CA" dirty="0" smtClean="0"/>
              <a:t>using classroom hours effectively</a:t>
            </a:r>
            <a:endParaRPr lang="en-CA"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172200"/>
            <a:ext cx="2057400" cy="539472"/>
          </a:xfrm>
          <a:prstGeom prst="rect">
            <a:avLst/>
          </a:prstGeom>
        </p:spPr>
      </p:pic>
    </p:spTree>
    <p:extLst>
      <p:ext uri="{BB962C8B-B14F-4D97-AF65-F5344CB8AC3E}">
        <p14:creationId xmlns:p14="http://schemas.microsoft.com/office/powerpoint/2010/main" val="1967708760"/>
      </p:ext>
    </p:extLst>
  </p:cSld>
  <p:clrMapOvr>
    <a:masterClrMapping/>
  </p:clrMapOvr>
  <mc:AlternateContent xmlns:mc="http://schemas.openxmlformats.org/markup-compatibility/2006" xmlns:p14="http://schemas.microsoft.com/office/powerpoint/2010/main">
    <mc:Choice Requires="p14">
      <p:transition spd="slow" p14:dur="2000" advTm="9348"/>
    </mc:Choice>
    <mc:Fallback xmlns="">
      <p:transition spd="slow" advTm="9348"/>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CA" dirty="0" smtClean="0"/>
              <a:t>Contrastive analysis  </a:t>
            </a:r>
            <a:r>
              <a:rPr lang="en-CA" sz="2700" dirty="0" smtClean="0"/>
              <a:t>(Salem and Lawless, 2011)</a:t>
            </a:r>
            <a:endParaRPr lang="en-CA" sz="2700" dirty="0"/>
          </a:p>
        </p:txBody>
      </p:sp>
      <p:sp>
        <p:nvSpPr>
          <p:cNvPr id="5" name="Content Placeholder 4"/>
          <p:cNvSpPr>
            <a:spLocks noGrp="1"/>
          </p:cNvSpPr>
          <p:nvPr>
            <p:ph sz="quarter" idx="1"/>
          </p:nvPr>
        </p:nvSpPr>
        <p:spPr/>
        <p:txBody>
          <a:bodyPr>
            <a:normAutofit fontScale="92500" lnSpcReduction="20000"/>
          </a:bodyPr>
          <a:lstStyle/>
          <a:p>
            <a:pPr marL="0" indent="0">
              <a:buNone/>
            </a:pPr>
            <a:r>
              <a:rPr lang="en-CA" dirty="0" smtClean="0"/>
              <a:t>Spelling</a:t>
            </a:r>
          </a:p>
          <a:p>
            <a:r>
              <a:rPr lang="en-CA" dirty="0" smtClean="0"/>
              <a:t>Arabic </a:t>
            </a:r>
            <a:r>
              <a:rPr lang="en-CA" dirty="0"/>
              <a:t>has 28 letters: </a:t>
            </a:r>
            <a:endParaRPr lang="en-CA" dirty="0" smtClean="0"/>
          </a:p>
          <a:p>
            <a:pPr lvl="1"/>
            <a:r>
              <a:rPr lang="en-CA" dirty="0" smtClean="0"/>
              <a:t>25 consonants</a:t>
            </a:r>
          </a:p>
          <a:p>
            <a:pPr lvl="1"/>
            <a:r>
              <a:rPr lang="en-CA" dirty="0" smtClean="0"/>
              <a:t>3 </a:t>
            </a:r>
            <a:r>
              <a:rPr lang="en-CA" dirty="0"/>
              <a:t>letters that correspond to </a:t>
            </a:r>
            <a:r>
              <a:rPr lang="en-CA" dirty="0" smtClean="0"/>
              <a:t>long-vowel phonemes</a:t>
            </a:r>
            <a:endParaRPr lang="en-CA" dirty="0"/>
          </a:p>
          <a:p>
            <a:pPr lvl="1"/>
            <a:r>
              <a:rPr lang="en-CA" dirty="0" smtClean="0"/>
              <a:t>3 </a:t>
            </a:r>
            <a:r>
              <a:rPr lang="en-CA" dirty="0"/>
              <a:t>short-vowel forms </a:t>
            </a:r>
            <a:r>
              <a:rPr lang="en-CA" dirty="0" smtClean="0"/>
              <a:t>written as diacritics.</a:t>
            </a:r>
            <a:endParaRPr lang="en-CA" dirty="0"/>
          </a:p>
          <a:p>
            <a:r>
              <a:rPr lang="en-CA" dirty="0"/>
              <a:t>Resulting in:</a:t>
            </a:r>
          </a:p>
          <a:p>
            <a:pPr lvl="1"/>
            <a:r>
              <a:rPr lang="en-CA" dirty="0"/>
              <a:t>Different spellings of the same word, e.g. </a:t>
            </a:r>
            <a:r>
              <a:rPr lang="en-CA" i="1" dirty="0"/>
              <a:t>Mohammad</a:t>
            </a:r>
            <a:r>
              <a:rPr lang="en-CA" dirty="0"/>
              <a:t>, </a:t>
            </a:r>
            <a:r>
              <a:rPr lang="en-CA" i="1" dirty="0"/>
              <a:t>Mohammed</a:t>
            </a:r>
            <a:r>
              <a:rPr lang="en-CA" dirty="0"/>
              <a:t>, </a:t>
            </a:r>
            <a:r>
              <a:rPr lang="en-CA" i="1" dirty="0"/>
              <a:t>Mohamed</a:t>
            </a:r>
            <a:r>
              <a:rPr lang="en-CA" dirty="0"/>
              <a:t>, </a:t>
            </a:r>
            <a:r>
              <a:rPr lang="en-CA" i="1" dirty="0" err="1"/>
              <a:t>Muhamad</a:t>
            </a:r>
            <a:r>
              <a:rPr lang="en-CA" dirty="0"/>
              <a:t>, </a:t>
            </a:r>
            <a:r>
              <a:rPr lang="en-CA" i="1" dirty="0" err="1"/>
              <a:t>Muhammed</a:t>
            </a:r>
            <a:endParaRPr lang="en-CA" dirty="0" smtClean="0"/>
          </a:p>
          <a:p>
            <a:pPr marL="0" indent="0">
              <a:buNone/>
            </a:pPr>
            <a:endParaRPr lang="en-CA" dirty="0" smtClean="0"/>
          </a:p>
          <a:p>
            <a:pPr marL="0" indent="0">
              <a:buNone/>
            </a:pPr>
            <a:r>
              <a:rPr lang="en-CA" i="1" dirty="0" smtClean="0"/>
              <a:t>Results in: poor overall spelling and particular problems with vowel sounds and phonemes in English</a:t>
            </a:r>
          </a:p>
          <a:p>
            <a:endParaRPr lang="en-CA"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10381"/>
            <a:ext cx="2469842" cy="647619"/>
          </a:xfrm>
          <a:prstGeom prst="rect">
            <a:avLst/>
          </a:prstGeom>
        </p:spPr>
      </p:pic>
    </p:spTree>
    <p:extLst>
      <p:ext uri="{BB962C8B-B14F-4D97-AF65-F5344CB8AC3E}">
        <p14:creationId xmlns:p14="http://schemas.microsoft.com/office/powerpoint/2010/main" val="1503796016"/>
      </p:ext>
    </p:extLst>
  </p:cSld>
  <p:clrMapOvr>
    <a:masterClrMapping/>
  </p:clrMapOvr>
  <mc:AlternateContent xmlns:mc="http://schemas.openxmlformats.org/markup-compatibility/2006" xmlns:p14="http://schemas.microsoft.com/office/powerpoint/2010/main">
    <mc:Choice Requires="p14">
      <p:transition spd="slow" p14:dur="2000" advTm="57291"/>
    </mc:Choice>
    <mc:Fallback xmlns="">
      <p:transition spd="slow" advTm="57291"/>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CA" dirty="0" smtClean="0"/>
              <a:t>Contrastive analysis </a:t>
            </a:r>
            <a:endParaRPr lang="en-CA" dirty="0"/>
          </a:p>
        </p:txBody>
      </p:sp>
      <p:sp>
        <p:nvSpPr>
          <p:cNvPr id="5" name="Content Placeholder 4"/>
          <p:cNvSpPr>
            <a:spLocks noGrp="1"/>
          </p:cNvSpPr>
          <p:nvPr>
            <p:ph sz="quarter" idx="1"/>
          </p:nvPr>
        </p:nvSpPr>
        <p:spPr>
          <a:xfrm>
            <a:off x="457200" y="1600200"/>
            <a:ext cx="8229600" cy="4953000"/>
          </a:xfrm>
        </p:spPr>
        <p:txBody>
          <a:bodyPr>
            <a:normAutofit/>
          </a:bodyPr>
          <a:lstStyle/>
          <a:p>
            <a:pPr marL="0" indent="0">
              <a:buNone/>
            </a:pPr>
            <a:r>
              <a:rPr lang="en-CA" dirty="0" smtClean="0"/>
              <a:t>writing/reading</a:t>
            </a:r>
            <a:endParaRPr lang="en-CA" dirty="0"/>
          </a:p>
          <a:p>
            <a:r>
              <a:rPr lang="en-CA" dirty="0" smtClean="0"/>
              <a:t>Right-to-left </a:t>
            </a:r>
            <a:r>
              <a:rPr lang="en-CA" dirty="0" err="1" smtClean="0"/>
              <a:t>vs</a:t>
            </a:r>
            <a:r>
              <a:rPr lang="en-CA" dirty="0" smtClean="0"/>
              <a:t> left-to-right </a:t>
            </a:r>
          </a:p>
          <a:p>
            <a:r>
              <a:rPr lang="en-CA" dirty="0" smtClean="0"/>
              <a:t>Oral </a:t>
            </a:r>
            <a:r>
              <a:rPr lang="en-CA" dirty="0" err="1" smtClean="0"/>
              <a:t>vs</a:t>
            </a:r>
            <a:r>
              <a:rPr lang="en-CA" dirty="0" smtClean="0"/>
              <a:t> written culture</a:t>
            </a:r>
          </a:p>
          <a:p>
            <a:r>
              <a:rPr lang="en-CA" dirty="0" smtClean="0"/>
              <a:t>Students ‘imitate’ good essays</a:t>
            </a:r>
          </a:p>
          <a:p>
            <a:endParaRPr lang="en-CA" dirty="0"/>
          </a:p>
          <a:p>
            <a:pPr marL="0" indent="0">
              <a:buNone/>
            </a:pPr>
            <a:endParaRPr lang="en-CA" i="1" dirty="0" smtClean="0"/>
          </a:p>
          <a:p>
            <a:pPr marL="0" indent="0">
              <a:buNone/>
            </a:pPr>
            <a:endParaRPr lang="en-CA" i="1" dirty="0"/>
          </a:p>
          <a:p>
            <a:pPr marL="0" indent="0">
              <a:buNone/>
            </a:pPr>
            <a:r>
              <a:rPr lang="en-CA" i="1" dirty="0" smtClean="0"/>
              <a:t>Consequently, English rhetorical style must be explicitly taught</a:t>
            </a:r>
            <a:endParaRPr lang="en-CA" i="1" dirty="0"/>
          </a:p>
          <a:p>
            <a:pPr marL="0" indent="0">
              <a:buNone/>
            </a:pPr>
            <a:endParaRPr lang="en-CA" dirty="0"/>
          </a:p>
          <a:p>
            <a:pPr lvl="1"/>
            <a:endParaRPr lang="en-CA" dirty="0"/>
          </a:p>
          <a:p>
            <a:endParaRPr lang="en-CA" dirty="0"/>
          </a:p>
          <a:p>
            <a:endParaRPr lang="en-CA" dirty="0" smtClean="0"/>
          </a:p>
          <a:p>
            <a:endParaRPr lang="en-CA" dirty="0"/>
          </a:p>
          <a:p>
            <a:endParaRPr lang="en-CA" dirty="0" smtClean="0"/>
          </a:p>
          <a:p>
            <a:endParaRPr lang="en-CA" dirty="0"/>
          </a:p>
        </p:txBody>
      </p:sp>
      <p:sp>
        <p:nvSpPr>
          <p:cNvPr id="2" name="TextBox 1"/>
          <p:cNvSpPr txBox="1"/>
          <p:nvPr/>
        </p:nvSpPr>
        <p:spPr>
          <a:xfrm>
            <a:off x="6248400" y="6248400"/>
            <a:ext cx="2743200" cy="369332"/>
          </a:xfrm>
          <a:prstGeom prst="rect">
            <a:avLst/>
          </a:prstGeom>
          <a:noFill/>
        </p:spPr>
        <p:txBody>
          <a:bodyPr wrap="square" rtlCol="0">
            <a:spAutoFit/>
          </a:bodyPr>
          <a:lstStyle/>
          <a:p>
            <a:r>
              <a:rPr lang="en-CA" dirty="0"/>
              <a:t>(Salem and Lawless, 2011)</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210381"/>
            <a:ext cx="2469842" cy="647619"/>
          </a:xfrm>
          <a:prstGeom prst="rect">
            <a:avLst/>
          </a:prstGeom>
        </p:spPr>
      </p:pic>
    </p:spTree>
    <p:custDataLst>
      <p:tags r:id="rId1"/>
    </p:custDataLst>
    <p:extLst>
      <p:ext uri="{BB962C8B-B14F-4D97-AF65-F5344CB8AC3E}">
        <p14:creationId xmlns:p14="http://schemas.microsoft.com/office/powerpoint/2010/main" val="3297991369"/>
      </p:ext>
    </p:extLst>
  </p:cSld>
  <p:clrMapOvr>
    <a:masterClrMapping/>
  </p:clrMapOvr>
  <mc:AlternateContent xmlns:mc="http://schemas.openxmlformats.org/markup-compatibility/2006" xmlns:p14="http://schemas.microsoft.com/office/powerpoint/2010/main">
    <mc:Choice Requires="p14">
      <p:transition spd="slow" p14:dur="2000" advTm="90332"/>
    </mc:Choice>
    <mc:Fallback xmlns="">
      <p:transition spd="slow" advTm="9033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1000"/>
                                        <p:tgtEl>
                                          <p:spTgt spid="5">
                                            <p:txEl>
                                              <p:pRg st="1" end="1"/>
                                            </p:txEl>
                                          </p:spTgt>
                                        </p:tgtEl>
                                      </p:cBhvr>
                                    </p:animEffect>
                                    <p:anim calcmode="lin" valueType="num">
                                      <p:cBhvr>
                                        <p:cTn id="13"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1000"/>
                                        <p:tgtEl>
                                          <p:spTgt spid="5">
                                            <p:txEl>
                                              <p:pRg st="2" end="2"/>
                                            </p:txEl>
                                          </p:spTgt>
                                        </p:tgtEl>
                                      </p:cBhvr>
                                    </p:animEffect>
                                    <p:anim calcmode="lin" valueType="num">
                                      <p:cBhvr>
                                        <p:cTn id="1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1000"/>
                                        <p:tgtEl>
                                          <p:spTgt spid="5">
                                            <p:txEl>
                                              <p:pRg st="3" end="3"/>
                                            </p:txEl>
                                          </p:spTgt>
                                        </p:tgtEl>
                                      </p:cBhvr>
                                    </p:animEffect>
                                    <p:anim calcmode="lin" valueType="num">
                                      <p:cBhvr>
                                        <p:cTn id="2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animEffect transition="in" filter="fade">
                                      <p:cBhvr>
                                        <p:cTn id="27" dur="1000"/>
                                        <p:tgtEl>
                                          <p:spTgt spid="5">
                                            <p:txEl>
                                              <p:pRg st="7" end="7"/>
                                            </p:txEl>
                                          </p:spTgt>
                                        </p:tgtEl>
                                      </p:cBhvr>
                                    </p:animEffect>
                                    <p:anim calcmode="lin" valueType="num">
                                      <p:cBhvr>
                                        <p:cTn id="28" dur="100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CA" dirty="0" smtClean="0"/>
              <a:t>Contrastive analysis - morphology</a:t>
            </a:r>
            <a:endParaRPr lang="en-CA" dirty="0"/>
          </a:p>
        </p:txBody>
      </p:sp>
      <p:sp>
        <p:nvSpPr>
          <p:cNvPr id="5" name="Content Placeholder 4"/>
          <p:cNvSpPr>
            <a:spLocks noGrp="1"/>
          </p:cNvSpPr>
          <p:nvPr>
            <p:ph sz="quarter" idx="1"/>
          </p:nvPr>
        </p:nvSpPr>
        <p:spPr>
          <a:xfrm>
            <a:off x="457200" y="1600200"/>
            <a:ext cx="8229600" cy="4953000"/>
          </a:xfrm>
        </p:spPr>
        <p:txBody>
          <a:bodyPr>
            <a:normAutofit lnSpcReduction="10000"/>
          </a:bodyPr>
          <a:lstStyle/>
          <a:p>
            <a:r>
              <a:rPr lang="en-CA" dirty="0" smtClean="0"/>
              <a:t>All </a:t>
            </a:r>
            <a:r>
              <a:rPr lang="en-CA" dirty="0"/>
              <a:t>Arabic words are based on a root morpheme of three consonants</a:t>
            </a:r>
            <a:r>
              <a:rPr lang="en-CA" dirty="0" smtClean="0"/>
              <a:t>.</a:t>
            </a:r>
            <a:endParaRPr lang="en-CA" dirty="0"/>
          </a:p>
          <a:p>
            <a:pPr marL="400050" lvl="1" indent="0">
              <a:buNone/>
            </a:pPr>
            <a:r>
              <a:rPr lang="en-CA" dirty="0" smtClean="0"/>
              <a:t> </a:t>
            </a:r>
            <a:endParaRPr lang="en-CA" dirty="0"/>
          </a:p>
          <a:p>
            <a:pPr marL="400050" lvl="1" indent="0">
              <a:buNone/>
            </a:pPr>
            <a:r>
              <a:rPr lang="en-CA" i="1" dirty="0" smtClean="0"/>
              <a:t>book </a:t>
            </a:r>
            <a:r>
              <a:rPr lang="en-CA" dirty="0"/>
              <a:t>= </a:t>
            </a:r>
            <a:r>
              <a:rPr lang="en-CA" b="1" i="1" dirty="0" smtClean="0"/>
              <a:t>k</a:t>
            </a:r>
            <a:r>
              <a:rPr lang="en-CA" i="1" dirty="0" smtClean="0"/>
              <a:t>e</a:t>
            </a:r>
            <a:r>
              <a:rPr lang="en-CA" b="1" i="1" dirty="0" smtClean="0"/>
              <a:t>t</a:t>
            </a:r>
            <a:r>
              <a:rPr lang="en-CA" i="1" dirty="0" smtClean="0"/>
              <a:t>aa</a:t>
            </a:r>
            <a:r>
              <a:rPr lang="en-CA" b="1" i="1" dirty="0" smtClean="0"/>
              <a:t>b</a:t>
            </a:r>
          </a:p>
          <a:p>
            <a:pPr marL="400050" lvl="1" indent="0">
              <a:buNone/>
            </a:pPr>
            <a:r>
              <a:rPr lang="en-CA" i="1" dirty="0"/>
              <a:t>writer </a:t>
            </a:r>
            <a:r>
              <a:rPr lang="en-CA" dirty="0"/>
              <a:t>= </a:t>
            </a:r>
            <a:r>
              <a:rPr lang="en-CA" b="1" i="1" dirty="0"/>
              <a:t>k</a:t>
            </a:r>
            <a:r>
              <a:rPr lang="en-CA" i="1" dirty="0"/>
              <a:t>aa</a:t>
            </a:r>
            <a:r>
              <a:rPr lang="en-CA" b="1" i="1" dirty="0"/>
              <a:t>t</a:t>
            </a:r>
            <a:r>
              <a:rPr lang="en-CA" i="1" dirty="0"/>
              <a:t>e</a:t>
            </a:r>
            <a:r>
              <a:rPr lang="en-CA" b="1" i="1" dirty="0"/>
              <a:t>b</a:t>
            </a:r>
            <a:endParaRPr lang="en-CA" dirty="0"/>
          </a:p>
          <a:p>
            <a:pPr marL="400050" lvl="1" indent="0">
              <a:buNone/>
            </a:pPr>
            <a:r>
              <a:rPr lang="en-CA" i="1" dirty="0"/>
              <a:t>to write </a:t>
            </a:r>
            <a:r>
              <a:rPr lang="en-CA" dirty="0"/>
              <a:t>= </a:t>
            </a:r>
            <a:r>
              <a:rPr lang="en-CA" i="1" dirty="0" smtClean="0"/>
              <a:t>ya</a:t>
            </a:r>
            <a:r>
              <a:rPr lang="en-CA" b="1" i="1" dirty="0" smtClean="0"/>
              <a:t>kt</a:t>
            </a:r>
            <a:r>
              <a:rPr lang="en-CA" i="1" dirty="0" smtClean="0"/>
              <a:t>u</a:t>
            </a:r>
            <a:r>
              <a:rPr lang="en-CA" b="1" i="1" dirty="0" smtClean="0"/>
              <a:t>b</a:t>
            </a:r>
          </a:p>
          <a:p>
            <a:pPr marL="400050" lvl="1" indent="0">
              <a:buNone/>
            </a:pPr>
            <a:r>
              <a:rPr lang="en-CA" i="1" dirty="0" smtClean="0"/>
              <a:t>library </a:t>
            </a:r>
            <a:r>
              <a:rPr lang="en-CA" dirty="0"/>
              <a:t>= </a:t>
            </a:r>
            <a:r>
              <a:rPr lang="en-CA" i="1" dirty="0"/>
              <a:t>ma</a:t>
            </a:r>
            <a:r>
              <a:rPr lang="en-CA" b="1" i="1" dirty="0"/>
              <a:t>kt</a:t>
            </a:r>
            <a:r>
              <a:rPr lang="en-CA" i="1" dirty="0"/>
              <a:t>a</a:t>
            </a:r>
            <a:r>
              <a:rPr lang="en-CA" b="1" i="1" dirty="0"/>
              <a:t>b</a:t>
            </a:r>
            <a:r>
              <a:rPr lang="en-CA" i="1" dirty="0"/>
              <a:t>ah </a:t>
            </a:r>
            <a:endParaRPr lang="en-CA" i="1" dirty="0" smtClean="0"/>
          </a:p>
          <a:p>
            <a:pPr marL="400050" lvl="1" indent="0">
              <a:buNone/>
            </a:pPr>
            <a:r>
              <a:rPr lang="en-CA" i="1" dirty="0" smtClean="0"/>
              <a:t>written </a:t>
            </a:r>
            <a:r>
              <a:rPr lang="en-CA" dirty="0"/>
              <a:t>= </a:t>
            </a:r>
            <a:r>
              <a:rPr lang="en-CA" b="1" i="1" dirty="0" smtClean="0"/>
              <a:t>k</a:t>
            </a:r>
            <a:r>
              <a:rPr lang="en-CA" i="1" dirty="0" smtClean="0"/>
              <a:t>u</a:t>
            </a:r>
            <a:r>
              <a:rPr lang="en-CA" b="1" i="1" dirty="0" smtClean="0"/>
              <a:t>t</a:t>
            </a:r>
            <a:r>
              <a:rPr lang="en-CA" i="1" dirty="0" smtClean="0"/>
              <a:t>i</a:t>
            </a:r>
            <a:r>
              <a:rPr lang="en-CA" b="1" i="1" dirty="0" smtClean="0"/>
              <a:t>b</a:t>
            </a:r>
            <a:r>
              <a:rPr lang="en-CA" i="1" dirty="0" smtClean="0"/>
              <a:t>a</a:t>
            </a:r>
            <a:br>
              <a:rPr lang="en-CA" i="1" dirty="0" smtClean="0"/>
            </a:br>
            <a:r>
              <a:rPr lang="en-CA" i="1" dirty="0" smtClean="0"/>
              <a:t/>
            </a:r>
            <a:br>
              <a:rPr lang="en-CA" i="1" dirty="0" smtClean="0"/>
            </a:br>
            <a:r>
              <a:rPr lang="en-CA" i="1" dirty="0" smtClean="0"/>
              <a:t>Since the idea of roots, prefixes and suffixes </a:t>
            </a:r>
            <a:r>
              <a:rPr lang="en-CA" b="1" i="1" dirty="0" smtClean="0"/>
              <a:t>CAN</a:t>
            </a:r>
            <a:r>
              <a:rPr lang="en-CA" i="1" dirty="0" smtClean="0"/>
              <a:t> be used to teach vocabulary!</a:t>
            </a:r>
          </a:p>
          <a:p>
            <a:endParaRPr lang="en-CA" i="1" dirty="0"/>
          </a:p>
          <a:p>
            <a:endParaRPr lang="en-CA" dirty="0" smtClean="0"/>
          </a:p>
          <a:p>
            <a:endParaRPr lang="en-CA" dirty="0"/>
          </a:p>
          <a:p>
            <a:endParaRPr lang="en-CA" dirty="0" smtClean="0"/>
          </a:p>
          <a:p>
            <a:endParaRPr lang="en-CA" dirty="0"/>
          </a:p>
        </p:txBody>
      </p:sp>
      <p:sp>
        <p:nvSpPr>
          <p:cNvPr id="6" name="TextBox 5"/>
          <p:cNvSpPr txBox="1"/>
          <p:nvPr/>
        </p:nvSpPr>
        <p:spPr>
          <a:xfrm>
            <a:off x="6248400" y="6248400"/>
            <a:ext cx="2743200" cy="369332"/>
          </a:xfrm>
          <a:prstGeom prst="rect">
            <a:avLst/>
          </a:prstGeom>
          <a:noFill/>
        </p:spPr>
        <p:txBody>
          <a:bodyPr wrap="square" rtlCol="0">
            <a:spAutoFit/>
          </a:bodyPr>
          <a:lstStyle/>
          <a:p>
            <a:r>
              <a:rPr lang="en-CA" dirty="0"/>
              <a:t>(Salem and Lawless, 2011)</a:t>
            </a: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210381"/>
            <a:ext cx="2469842" cy="647619"/>
          </a:xfrm>
          <a:prstGeom prst="rect">
            <a:avLst/>
          </a:prstGeom>
        </p:spPr>
      </p:pic>
    </p:spTree>
    <p:custDataLst>
      <p:tags r:id="rId1"/>
    </p:custDataLst>
    <p:extLst>
      <p:ext uri="{BB962C8B-B14F-4D97-AF65-F5344CB8AC3E}">
        <p14:creationId xmlns:p14="http://schemas.microsoft.com/office/powerpoint/2010/main" val="2356176353"/>
      </p:ext>
    </p:extLst>
  </p:cSld>
  <p:clrMapOvr>
    <a:masterClrMapping/>
  </p:clrMapOvr>
  <mc:AlternateContent xmlns:mc="http://schemas.openxmlformats.org/markup-compatibility/2006" xmlns:p14="http://schemas.microsoft.com/office/powerpoint/2010/main">
    <mc:Choice Requires="p14">
      <p:transition spd="slow" p14:dur="2000" advTm="66573"/>
    </mc:Choice>
    <mc:Fallback xmlns="">
      <p:transition spd="slow" advTm="6657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500"/>
                                        <p:tgtEl>
                                          <p:spTgt spid="5">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fade">
                                      <p:cBhvr>
                                        <p:cTn id="16" dur="500"/>
                                        <p:tgtEl>
                                          <p:spTgt spid="5">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Effect transition="in" filter="fade">
                                      <p:cBhvr>
                                        <p:cTn id="19" dur="500"/>
                                        <p:tgtEl>
                                          <p:spTgt spid="5">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fade">
                                      <p:cBhvr>
                                        <p:cTn id="22" dur="500"/>
                                        <p:tgtEl>
                                          <p:spTgt spid="5">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animEffect transition="in" filter="fade">
                                      <p:cBhvr>
                                        <p:cTn id="25"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CA" dirty="0" smtClean="0"/>
              <a:t>Contrastive </a:t>
            </a:r>
            <a:r>
              <a:rPr lang="en-CA" dirty="0"/>
              <a:t>analysis </a:t>
            </a:r>
            <a:r>
              <a:rPr lang="en-CA" dirty="0" smtClean="0"/>
              <a:t>- grammar </a:t>
            </a:r>
            <a:endParaRPr lang="en-CA" dirty="0"/>
          </a:p>
        </p:txBody>
      </p:sp>
      <p:sp>
        <p:nvSpPr>
          <p:cNvPr id="5" name="Content Placeholder 4"/>
          <p:cNvSpPr>
            <a:spLocks noGrp="1"/>
          </p:cNvSpPr>
          <p:nvPr>
            <p:ph sz="quarter" idx="1"/>
          </p:nvPr>
        </p:nvSpPr>
        <p:spPr>
          <a:xfrm>
            <a:off x="457200" y="1600200"/>
            <a:ext cx="8229600" cy="4800600"/>
          </a:xfrm>
        </p:spPr>
        <p:txBody>
          <a:bodyPr>
            <a:normAutofit/>
          </a:bodyPr>
          <a:lstStyle/>
          <a:p>
            <a:r>
              <a:rPr lang="en-CA" dirty="0" smtClean="0"/>
              <a:t>No </a:t>
            </a:r>
            <a:r>
              <a:rPr lang="en-CA" dirty="0"/>
              <a:t>distinction between upper </a:t>
            </a:r>
            <a:r>
              <a:rPr lang="en-CA" dirty="0" smtClean="0"/>
              <a:t>and lower </a:t>
            </a:r>
            <a:r>
              <a:rPr lang="en-CA" dirty="0"/>
              <a:t>case letters</a:t>
            </a:r>
            <a:r>
              <a:rPr lang="en-CA" dirty="0" smtClean="0"/>
              <a:t>.</a:t>
            </a:r>
          </a:p>
          <a:p>
            <a:r>
              <a:rPr lang="en-CA" dirty="0"/>
              <a:t>Failure to capitalize at:</a:t>
            </a:r>
          </a:p>
          <a:p>
            <a:pPr lvl="1"/>
            <a:r>
              <a:rPr lang="en-CA" dirty="0"/>
              <a:t>Beginning of sentences</a:t>
            </a:r>
          </a:p>
          <a:p>
            <a:pPr lvl="1"/>
            <a:r>
              <a:rPr lang="en-CA" dirty="0"/>
              <a:t>Proper </a:t>
            </a:r>
            <a:r>
              <a:rPr lang="en-CA" dirty="0" smtClean="0"/>
              <a:t>nouns/names</a:t>
            </a:r>
          </a:p>
          <a:p>
            <a:r>
              <a:rPr lang="en-CA" dirty="0" smtClean="0"/>
              <a:t>Poor/inconsistent  punctuation</a:t>
            </a:r>
            <a:endParaRPr lang="en-CA" dirty="0"/>
          </a:p>
          <a:p>
            <a:pPr lvl="1"/>
            <a:endParaRPr lang="en-CA" dirty="0" smtClean="0"/>
          </a:p>
          <a:p>
            <a:endParaRPr lang="en-CA" dirty="0" smtClean="0"/>
          </a:p>
          <a:p>
            <a:pPr marL="0" indent="0">
              <a:buNone/>
            </a:pPr>
            <a:r>
              <a:rPr lang="en-CA" i="1" dirty="0"/>
              <a:t>Solution: </a:t>
            </a:r>
            <a:r>
              <a:rPr lang="en-CA" i="1" dirty="0" smtClean="0"/>
              <a:t>drill practice of rote memorization in early levels</a:t>
            </a:r>
            <a:endParaRPr lang="en-CA" dirty="0" smtClean="0"/>
          </a:p>
          <a:p>
            <a:endParaRPr lang="en-CA" dirty="0"/>
          </a:p>
          <a:p>
            <a:endParaRPr lang="en-CA" dirty="0" smtClean="0"/>
          </a:p>
          <a:p>
            <a:endParaRPr lang="en-CA" dirty="0"/>
          </a:p>
        </p:txBody>
      </p:sp>
      <p:sp>
        <p:nvSpPr>
          <p:cNvPr id="6" name="TextBox 5"/>
          <p:cNvSpPr txBox="1"/>
          <p:nvPr/>
        </p:nvSpPr>
        <p:spPr>
          <a:xfrm>
            <a:off x="6248400" y="6248400"/>
            <a:ext cx="2743200" cy="369332"/>
          </a:xfrm>
          <a:prstGeom prst="rect">
            <a:avLst/>
          </a:prstGeom>
          <a:noFill/>
        </p:spPr>
        <p:txBody>
          <a:bodyPr wrap="square" rtlCol="0">
            <a:spAutoFit/>
          </a:bodyPr>
          <a:lstStyle/>
          <a:p>
            <a:r>
              <a:rPr lang="en-CA" dirty="0"/>
              <a:t>(Salem and Lawless, 2011)</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10381"/>
            <a:ext cx="2469842" cy="647619"/>
          </a:xfrm>
          <a:prstGeom prst="rect">
            <a:avLst/>
          </a:prstGeom>
        </p:spPr>
      </p:pic>
    </p:spTree>
    <p:extLst>
      <p:ext uri="{BB962C8B-B14F-4D97-AF65-F5344CB8AC3E}">
        <p14:creationId xmlns:p14="http://schemas.microsoft.com/office/powerpoint/2010/main" val="776876236"/>
      </p:ext>
    </p:extLst>
  </p:cSld>
  <p:clrMapOvr>
    <a:masterClrMapping/>
  </p:clrMapOvr>
  <mc:AlternateContent xmlns:mc="http://schemas.openxmlformats.org/markup-compatibility/2006" xmlns:p14="http://schemas.microsoft.com/office/powerpoint/2010/main">
    <mc:Choice Requires="p14">
      <p:transition spd="slow" p14:dur="2000" advTm="33076"/>
    </mc:Choice>
    <mc:Fallback xmlns="">
      <p:transition spd="slow" advTm="33076"/>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Contrastive Analysis - grammar</a:t>
            </a:r>
            <a:endParaRPr lang="en-CA" dirty="0"/>
          </a:p>
        </p:txBody>
      </p:sp>
      <p:sp>
        <p:nvSpPr>
          <p:cNvPr id="3" name="Content Placeholder 2"/>
          <p:cNvSpPr>
            <a:spLocks noGrp="1"/>
          </p:cNvSpPr>
          <p:nvPr>
            <p:ph sz="quarter" idx="1"/>
          </p:nvPr>
        </p:nvSpPr>
        <p:spPr>
          <a:xfrm>
            <a:off x="228600" y="1600200"/>
            <a:ext cx="8686800" cy="4525963"/>
          </a:xfrm>
        </p:spPr>
        <p:txBody>
          <a:bodyPr>
            <a:normAutofit fontScale="40000" lnSpcReduction="20000"/>
          </a:bodyPr>
          <a:lstStyle/>
          <a:p>
            <a:pPr marL="0" indent="0">
              <a:buNone/>
            </a:pPr>
            <a:r>
              <a:rPr lang="en-CA" sz="12800" dirty="0" smtClean="0"/>
              <a:t>Arabic </a:t>
            </a:r>
            <a:r>
              <a:rPr lang="en-CA" sz="12800" dirty="0"/>
              <a:t>does </a:t>
            </a:r>
            <a:r>
              <a:rPr lang="en-CA" sz="12800" b="1" dirty="0"/>
              <a:t>not</a:t>
            </a:r>
            <a:r>
              <a:rPr lang="en-CA" sz="12800" dirty="0"/>
              <a:t> have </a:t>
            </a:r>
            <a:endParaRPr lang="en-CA" sz="12800" dirty="0" smtClean="0"/>
          </a:p>
          <a:p>
            <a:r>
              <a:rPr lang="en-CA" sz="8800" dirty="0" smtClean="0"/>
              <a:t>the </a:t>
            </a:r>
            <a:r>
              <a:rPr lang="en-CA" sz="8800" dirty="0"/>
              <a:t>verb </a:t>
            </a:r>
            <a:r>
              <a:rPr lang="en-CA" sz="8800" b="1" i="1" dirty="0"/>
              <a:t>be</a:t>
            </a:r>
            <a:r>
              <a:rPr lang="en-CA" sz="8800" i="1" dirty="0"/>
              <a:t> </a:t>
            </a:r>
            <a:r>
              <a:rPr lang="en-CA" sz="8800" dirty="0"/>
              <a:t>in </a:t>
            </a:r>
            <a:r>
              <a:rPr lang="en-CA" sz="8800" dirty="0" smtClean="0"/>
              <a:t>the present tense.</a:t>
            </a:r>
          </a:p>
          <a:p>
            <a:pPr marL="0" indent="0">
              <a:buNone/>
            </a:pPr>
            <a:r>
              <a:rPr lang="en-CA" sz="8800" dirty="0" smtClean="0"/>
              <a:t>     Simple </a:t>
            </a:r>
            <a:r>
              <a:rPr lang="en-CA" sz="8800" dirty="0"/>
              <a:t>present sentences </a:t>
            </a:r>
            <a:r>
              <a:rPr lang="en-CA" sz="8800" dirty="0" smtClean="0"/>
              <a:t>done without </a:t>
            </a:r>
            <a:r>
              <a:rPr lang="en-CA" sz="8800" i="1" dirty="0" smtClean="0"/>
              <a:t>be</a:t>
            </a:r>
            <a:r>
              <a:rPr lang="en-CA" sz="8800" dirty="0" smtClean="0"/>
              <a:t>, -  				</a:t>
            </a:r>
            <a:r>
              <a:rPr lang="en-CA" sz="8800" i="1" dirty="0" smtClean="0"/>
              <a:t>She </a:t>
            </a:r>
            <a:r>
              <a:rPr lang="en-CA" sz="8800" i="1" dirty="0"/>
              <a:t>nice teacher</a:t>
            </a:r>
            <a:r>
              <a:rPr lang="en-CA" sz="8800" dirty="0"/>
              <a:t>.</a:t>
            </a:r>
          </a:p>
          <a:p>
            <a:r>
              <a:rPr lang="en-CA" sz="8800" dirty="0" smtClean="0"/>
              <a:t>the </a:t>
            </a:r>
            <a:r>
              <a:rPr lang="en-CA" sz="8800" dirty="0"/>
              <a:t>auxiliary verb </a:t>
            </a:r>
            <a:r>
              <a:rPr lang="en-CA" sz="8800" b="1" i="1" dirty="0"/>
              <a:t>do</a:t>
            </a:r>
            <a:r>
              <a:rPr lang="en-CA" sz="8800" b="1" dirty="0"/>
              <a:t> </a:t>
            </a:r>
            <a:endParaRPr lang="en-CA" sz="8800" b="1" dirty="0" smtClean="0"/>
          </a:p>
          <a:p>
            <a:pPr marL="0" indent="0">
              <a:buNone/>
            </a:pPr>
            <a:r>
              <a:rPr lang="en-CA" sz="8800" dirty="0"/>
              <a:t> </a:t>
            </a:r>
            <a:r>
              <a:rPr lang="en-CA" sz="8800" dirty="0" smtClean="0"/>
              <a:t>    questions </a:t>
            </a:r>
            <a:r>
              <a:rPr lang="en-CA" sz="8800" dirty="0"/>
              <a:t>written without </a:t>
            </a:r>
            <a:r>
              <a:rPr lang="en-CA" sz="8800" dirty="0" smtClean="0"/>
              <a:t>an auxiliary </a:t>
            </a:r>
            <a:r>
              <a:rPr lang="en-CA" sz="8800" dirty="0"/>
              <a:t>verb </a:t>
            </a:r>
            <a:r>
              <a:rPr lang="en-CA" sz="8800" dirty="0" smtClean="0"/>
              <a:t> -  </a:t>
            </a:r>
          </a:p>
          <a:p>
            <a:pPr marL="0" indent="0">
              <a:buNone/>
            </a:pPr>
            <a:r>
              <a:rPr lang="en-CA" sz="8800" i="1" dirty="0" smtClean="0"/>
              <a:t>				What </a:t>
            </a:r>
            <a:r>
              <a:rPr lang="en-CA" sz="8800" i="1" dirty="0"/>
              <a:t>you </a:t>
            </a:r>
            <a:r>
              <a:rPr lang="en-CA" sz="8800" i="1" dirty="0" smtClean="0"/>
              <a:t>say?</a:t>
            </a:r>
          </a:p>
          <a:p>
            <a:pPr marL="0" indent="0">
              <a:buNone/>
            </a:pPr>
            <a:endParaRPr lang="en-CA" sz="8800" i="1" dirty="0"/>
          </a:p>
          <a:p>
            <a:pPr marL="0" indent="0">
              <a:buNone/>
            </a:pPr>
            <a:endParaRPr lang="en-CA" sz="8800" dirty="0" smtClean="0"/>
          </a:p>
        </p:txBody>
      </p:sp>
      <p:sp>
        <p:nvSpPr>
          <p:cNvPr id="4" name="TextBox 3"/>
          <p:cNvSpPr txBox="1"/>
          <p:nvPr/>
        </p:nvSpPr>
        <p:spPr>
          <a:xfrm>
            <a:off x="6248400" y="6248400"/>
            <a:ext cx="2743200" cy="369332"/>
          </a:xfrm>
          <a:prstGeom prst="rect">
            <a:avLst/>
          </a:prstGeom>
          <a:noFill/>
        </p:spPr>
        <p:txBody>
          <a:bodyPr wrap="square" rtlCol="0">
            <a:spAutoFit/>
          </a:bodyPr>
          <a:lstStyle/>
          <a:p>
            <a:r>
              <a:rPr lang="en-CA" dirty="0"/>
              <a:t>(Salem and Lawless, 2011)</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210381"/>
            <a:ext cx="2469842" cy="647619"/>
          </a:xfrm>
          <a:prstGeom prst="rect">
            <a:avLst/>
          </a:prstGeom>
        </p:spPr>
      </p:pic>
    </p:spTree>
    <p:custDataLst>
      <p:tags r:id="rId1"/>
    </p:custDataLst>
    <p:extLst>
      <p:ext uri="{BB962C8B-B14F-4D97-AF65-F5344CB8AC3E}">
        <p14:creationId xmlns:p14="http://schemas.microsoft.com/office/powerpoint/2010/main" val="123717888"/>
      </p:ext>
    </p:extLst>
  </p:cSld>
  <p:clrMapOvr>
    <a:masterClrMapping/>
  </p:clrMapOvr>
  <mc:AlternateContent xmlns:mc="http://schemas.openxmlformats.org/markup-compatibility/2006" xmlns:p14="http://schemas.microsoft.com/office/powerpoint/2010/main">
    <mc:Choice Requires="p14">
      <p:transition spd="slow" p14:dur="2000" advTm="47048"/>
    </mc:Choice>
    <mc:Fallback xmlns="">
      <p:transition spd="slow" advTm="4704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Contrastive Analysis - grammar</a:t>
            </a:r>
            <a:endParaRPr lang="en-CA" dirty="0"/>
          </a:p>
        </p:txBody>
      </p:sp>
      <p:sp>
        <p:nvSpPr>
          <p:cNvPr id="3" name="Content Placeholder 2"/>
          <p:cNvSpPr>
            <a:spLocks noGrp="1"/>
          </p:cNvSpPr>
          <p:nvPr>
            <p:ph sz="quarter" idx="1"/>
          </p:nvPr>
        </p:nvSpPr>
        <p:spPr>
          <a:xfrm>
            <a:off x="0" y="1600200"/>
            <a:ext cx="9144000" cy="4832866"/>
          </a:xfrm>
        </p:spPr>
        <p:txBody>
          <a:bodyPr>
            <a:normAutofit fontScale="32500" lnSpcReduction="20000"/>
          </a:bodyPr>
          <a:lstStyle/>
          <a:p>
            <a:pPr marL="0" indent="0">
              <a:buNone/>
            </a:pPr>
            <a:r>
              <a:rPr lang="en-CA" sz="12800" dirty="0" smtClean="0"/>
              <a:t>Arabic </a:t>
            </a:r>
            <a:r>
              <a:rPr lang="en-CA" sz="12800" dirty="0"/>
              <a:t>does </a:t>
            </a:r>
            <a:r>
              <a:rPr lang="en-CA" sz="12800" b="1" dirty="0"/>
              <a:t>not</a:t>
            </a:r>
            <a:r>
              <a:rPr lang="en-CA" sz="12800" dirty="0"/>
              <a:t> have </a:t>
            </a:r>
            <a:endParaRPr lang="en-CA" sz="12800" dirty="0" smtClean="0"/>
          </a:p>
          <a:p>
            <a:r>
              <a:rPr lang="en-CA" sz="8800" b="1" dirty="0" smtClean="0"/>
              <a:t>past </a:t>
            </a:r>
            <a:r>
              <a:rPr lang="en-CA" sz="8800" b="1" dirty="0"/>
              <a:t>participles</a:t>
            </a:r>
            <a:r>
              <a:rPr lang="en-CA" sz="8800" dirty="0"/>
              <a:t>.</a:t>
            </a:r>
          </a:p>
          <a:p>
            <a:pPr marL="0" indent="0">
              <a:buNone/>
            </a:pPr>
            <a:r>
              <a:rPr lang="en-CA" sz="8800" dirty="0" smtClean="0"/>
              <a:t>	When </a:t>
            </a:r>
            <a:r>
              <a:rPr lang="en-CA" sz="8800" dirty="0"/>
              <a:t>forming perfect tenses, the past tense is used </a:t>
            </a:r>
            <a:r>
              <a:rPr lang="en-CA" sz="8800" dirty="0" smtClean="0"/>
              <a:t>in</a:t>
            </a:r>
            <a:br>
              <a:rPr lang="en-CA" sz="8800" dirty="0" smtClean="0"/>
            </a:br>
            <a:r>
              <a:rPr lang="en-CA" sz="8800" dirty="0" smtClean="0"/>
              <a:t>            </a:t>
            </a:r>
            <a:r>
              <a:rPr lang="en-CA" sz="8800" dirty="0"/>
              <a:t>its place </a:t>
            </a:r>
            <a:r>
              <a:rPr lang="en-CA" sz="8800" dirty="0" smtClean="0"/>
              <a:t>-  </a:t>
            </a:r>
            <a:r>
              <a:rPr lang="en-CA" sz="8800" i="1" dirty="0" smtClean="0"/>
              <a:t>		We </a:t>
            </a:r>
            <a:r>
              <a:rPr lang="en-CA" sz="8800" i="1" dirty="0"/>
              <a:t>have chose a </a:t>
            </a:r>
            <a:r>
              <a:rPr lang="en-CA" sz="8800" i="1" dirty="0" smtClean="0"/>
              <a:t>leader.</a:t>
            </a:r>
          </a:p>
          <a:p>
            <a:r>
              <a:rPr lang="en-CA" sz="8800" dirty="0" smtClean="0"/>
              <a:t>an </a:t>
            </a:r>
            <a:r>
              <a:rPr lang="en-CA" sz="8800" b="1" dirty="0"/>
              <a:t>indefinite article. </a:t>
            </a:r>
            <a:endParaRPr lang="en-CA" sz="8800" b="1" dirty="0" smtClean="0"/>
          </a:p>
          <a:p>
            <a:pPr marL="0" indent="0">
              <a:buNone/>
            </a:pPr>
            <a:r>
              <a:rPr lang="en-CA" sz="8800" dirty="0" smtClean="0"/>
              <a:t>	resulting </a:t>
            </a:r>
            <a:r>
              <a:rPr lang="en-CA" sz="8800" dirty="0"/>
              <a:t>in an underuse of ‘</a:t>
            </a:r>
            <a:r>
              <a:rPr lang="en-CA" sz="8800" b="1" dirty="0"/>
              <a:t>a</a:t>
            </a:r>
            <a:r>
              <a:rPr lang="en-CA" sz="8800" dirty="0"/>
              <a:t>’ in writing and </a:t>
            </a:r>
            <a:r>
              <a:rPr lang="en-CA" sz="8800" dirty="0" smtClean="0"/>
              <a:t>speech</a:t>
            </a:r>
            <a:r>
              <a:rPr lang="en-CA" sz="8800" dirty="0"/>
              <a:t> </a:t>
            </a:r>
          </a:p>
          <a:p>
            <a:pPr marL="0" indent="0">
              <a:buNone/>
            </a:pPr>
            <a:r>
              <a:rPr lang="en-CA" sz="8800" i="1" dirty="0" smtClean="0"/>
              <a:t>					 </a:t>
            </a:r>
            <a:r>
              <a:rPr lang="en-CA" sz="8800" i="1" dirty="0"/>
              <a:t>Yesterday, I bought book</a:t>
            </a:r>
            <a:r>
              <a:rPr lang="en-CA" sz="8800" i="1" dirty="0" smtClean="0"/>
              <a:t>.</a:t>
            </a:r>
          </a:p>
          <a:p>
            <a:pPr marL="0" indent="0">
              <a:buNone/>
            </a:pPr>
            <a:endParaRPr lang="en-CA" sz="8800" i="1" dirty="0" smtClean="0"/>
          </a:p>
          <a:p>
            <a:pPr marL="0" indent="0">
              <a:buNone/>
            </a:pPr>
            <a:endParaRPr lang="en-CA" sz="8800" i="1" dirty="0"/>
          </a:p>
          <a:p>
            <a:pPr marL="0" indent="0">
              <a:buNone/>
            </a:pPr>
            <a:r>
              <a:rPr lang="en-CA" sz="8800" i="1" dirty="0" smtClean="0"/>
              <a:t>Solution: Extensive writing and reading practice at lower levels.</a:t>
            </a:r>
          </a:p>
        </p:txBody>
      </p:sp>
      <p:sp>
        <p:nvSpPr>
          <p:cNvPr id="4" name="TextBox 3"/>
          <p:cNvSpPr txBox="1"/>
          <p:nvPr/>
        </p:nvSpPr>
        <p:spPr>
          <a:xfrm>
            <a:off x="6248400" y="6248400"/>
            <a:ext cx="2743200" cy="369332"/>
          </a:xfrm>
          <a:prstGeom prst="rect">
            <a:avLst/>
          </a:prstGeom>
          <a:noFill/>
        </p:spPr>
        <p:txBody>
          <a:bodyPr wrap="square" rtlCol="0">
            <a:spAutoFit/>
          </a:bodyPr>
          <a:lstStyle/>
          <a:p>
            <a:r>
              <a:rPr lang="en-CA" dirty="0"/>
              <a:t>(Salem and Lawless, 2011)</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210381"/>
            <a:ext cx="2469842" cy="647619"/>
          </a:xfrm>
          <a:prstGeom prst="rect">
            <a:avLst/>
          </a:prstGeom>
        </p:spPr>
      </p:pic>
    </p:spTree>
    <p:custDataLst>
      <p:tags r:id="rId1"/>
    </p:custDataLst>
    <p:extLst>
      <p:ext uri="{BB962C8B-B14F-4D97-AF65-F5344CB8AC3E}">
        <p14:creationId xmlns:p14="http://schemas.microsoft.com/office/powerpoint/2010/main" val="2335741663"/>
      </p:ext>
    </p:extLst>
  </p:cSld>
  <p:clrMapOvr>
    <a:masterClrMapping/>
  </p:clrMapOvr>
  <mc:AlternateContent xmlns:mc="http://schemas.openxmlformats.org/markup-compatibility/2006" xmlns:p14="http://schemas.microsoft.com/office/powerpoint/2010/main">
    <mc:Choice Requires="p14">
      <p:transition spd="slow" p14:dur="2000" advTm="84417"/>
    </mc:Choice>
    <mc:Fallback xmlns="">
      <p:transition spd="slow" advTm="8441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fade">
                                      <p:cBhvr>
                                        <p:cTn id="3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Contrastive Analysis - grammar</a:t>
            </a:r>
            <a:endParaRPr lang="en-CA" dirty="0"/>
          </a:p>
        </p:txBody>
      </p:sp>
      <p:sp>
        <p:nvSpPr>
          <p:cNvPr id="3" name="Content Placeholder 2"/>
          <p:cNvSpPr>
            <a:spLocks noGrp="1"/>
          </p:cNvSpPr>
          <p:nvPr>
            <p:ph sz="quarter" idx="1"/>
          </p:nvPr>
        </p:nvSpPr>
        <p:spPr>
          <a:xfrm>
            <a:off x="457200" y="1600200"/>
            <a:ext cx="8229600" cy="4648200"/>
          </a:xfrm>
        </p:spPr>
        <p:txBody>
          <a:bodyPr>
            <a:normAutofit fontScale="92500" lnSpcReduction="10000"/>
          </a:bodyPr>
          <a:lstStyle/>
          <a:p>
            <a:r>
              <a:rPr lang="en-CA" dirty="0" smtClean="0"/>
              <a:t>Arabic </a:t>
            </a:r>
            <a:r>
              <a:rPr lang="en-CA" dirty="0"/>
              <a:t>requires the use of </a:t>
            </a:r>
            <a:endParaRPr lang="en-CA" dirty="0" smtClean="0"/>
          </a:p>
          <a:p>
            <a:pPr marL="0" indent="0">
              <a:buNone/>
            </a:pPr>
            <a:r>
              <a:rPr lang="en-CA" dirty="0"/>
              <a:t>	</a:t>
            </a:r>
            <a:r>
              <a:rPr lang="en-CA" dirty="0" smtClean="0"/>
              <a:t>the </a:t>
            </a:r>
            <a:r>
              <a:rPr lang="en-CA" dirty="0"/>
              <a:t>pronoun </a:t>
            </a:r>
            <a:r>
              <a:rPr lang="en-CA" dirty="0" smtClean="0"/>
              <a:t>in relative </a:t>
            </a:r>
            <a:r>
              <a:rPr lang="en-CA" dirty="0"/>
              <a:t>clauses. </a:t>
            </a:r>
            <a:endParaRPr lang="en-CA" dirty="0" smtClean="0"/>
          </a:p>
          <a:p>
            <a:pPr marL="0" indent="0">
              <a:buNone/>
            </a:pPr>
            <a:r>
              <a:rPr lang="en-CA" dirty="0"/>
              <a:t>	</a:t>
            </a:r>
            <a:r>
              <a:rPr lang="en-CA" dirty="0" smtClean="0"/>
              <a:t>English does not require the pronoun.</a:t>
            </a:r>
            <a:endParaRPr lang="en-CA" dirty="0"/>
          </a:p>
          <a:p>
            <a:pPr marL="0" indent="0">
              <a:buNone/>
            </a:pPr>
            <a:endParaRPr lang="en-CA" b="1" dirty="0"/>
          </a:p>
          <a:p>
            <a:pPr marL="0" indent="0">
              <a:buNone/>
            </a:pPr>
            <a:r>
              <a:rPr lang="en-CA" dirty="0" smtClean="0"/>
              <a:t>Relative </a:t>
            </a:r>
            <a:r>
              <a:rPr lang="en-CA" dirty="0"/>
              <a:t>clauses are written with a pronoun, e.g. </a:t>
            </a:r>
            <a:r>
              <a:rPr lang="en-CA" dirty="0" smtClean="0"/>
              <a:t>  </a:t>
            </a:r>
            <a:br>
              <a:rPr lang="en-CA" dirty="0" smtClean="0"/>
            </a:br>
            <a:r>
              <a:rPr lang="en-CA" dirty="0" smtClean="0"/>
              <a:t>     </a:t>
            </a:r>
            <a:r>
              <a:rPr lang="en-CA" i="1" dirty="0" smtClean="0"/>
              <a:t>Where </a:t>
            </a:r>
            <a:r>
              <a:rPr lang="en-CA" i="1" dirty="0"/>
              <a:t>is the book </a:t>
            </a:r>
            <a:r>
              <a:rPr lang="en-CA" i="1" dirty="0" smtClean="0"/>
              <a:t>that I </a:t>
            </a:r>
            <a:r>
              <a:rPr lang="en-CA" i="1" dirty="0"/>
              <a:t>gave </a:t>
            </a:r>
            <a:r>
              <a:rPr lang="en-CA" i="1" u="sng" dirty="0"/>
              <a:t>it</a:t>
            </a:r>
            <a:r>
              <a:rPr lang="en-CA" i="1" dirty="0"/>
              <a:t> to you yesterday?</a:t>
            </a:r>
            <a:endParaRPr lang="en-CA" dirty="0"/>
          </a:p>
          <a:p>
            <a:pPr marL="0" indent="0">
              <a:buNone/>
            </a:pPr>
            <a:endParaRPr lang="en-CA" b="1" dirty="0" smtClean="0"/>
          </a:p>
          <a:p>
            <a:pPr marL="0" indent="0">
              <a:buNone/>
            </a:pPr>
            <a:r>
              <a:rPr lang="en-CA" i="1" dirty="0"/>
              <a:t>Solution: </a:t>
            </a:r>
            <a:r>
              <a:rPr lang="en-CA" i="1" dirty="0" smtClean="0"/>
              <a:t>teaching clauses as 2 sentence combos.</a:t>
            </a:r>
          </a:p>
          <a:p>
            <a:pPr marL="0" indent="0">
              <a:buNone/>
            </a:pPr>
            <a:r>
              <a:rPr lang="en-CA" sz="2600" i="1" dirty="0" smtClean="0"/>
              <a:t>Where is </a:t>
            </a:r>
            <a:r>
              <a:rPr lang="en-CA" sz="2600" i="1" u="sng" dirty="0" smtClean="0"/>
              <a:t>the book</a:t>
            </a:r>
            <a:r>
              <a:rPr lang="en-CA" sz="2600" i="1" dirty="0" smtClean="0"/>
              <a:t>? You know, </a:t>
            </a:r>
            <a:r>
              <a:rPr lang="en-CA" sz="2600" i="1" u="sng" dirty="0"/>
              <a:t>t</a:t>
            </a:r>
            <a:r>
              <a:rPr lang="en-CA" sz="2600" i="1" u="sng" dirty="0" smtClean="0"/>
              <a:t>he book </a:t>
            </a:r>
            <a:r>
              <a:rPr lang="en-CA" sz="2600" i="1" dirty="0" smtClean="0"/>
              <a:t>I gave you yesterday</a:t>
            </a:r>
            <a:r>
              <a:rPr lang="en-CA" sz="2600" b="1" i="1" dirty="0" smtClean="0"/>
              <a:t>?</a:t>
            </a:r>
          </a:p>
          <a:p>
            <a:pPr marL="0" indent="0">
              <a:buNone/>
            </a:pPr>
            <a:r>
              <a:rPr lang="en-CA" sz="2600" i="1" dirty="0"/>
              <a:t>Where is </a:t>
            </a:r>
            <a:r>
              <a:rPr lang="en-CA" sz="2600" i="1" u="sng" strike="sngStrike" dirty="0">
                <a:solidFill>
                  <a:schemeClr val="bg1">
                    <a:lumMod val="50000"/>
                  </a:schemeClr>
                </a:solidFill>
              </a:rPr>
              <a:t>the book</a:t>
            </a:r>
            <a:r>
              <a:rPr lang="en-CA" sz="2600" i="1" strike="sngStrike" dirty="0">
                <a:solidFill>
                  <a:schemeClr val="bg1">
                    <a:lumMod val="50000"/>
                  </a:schemeClr>
                </a:solidFill>
              </a:rPr>
              <a:t>? You know, </a:t>
            </a:r>
            <a:r>
              <a:rPr lang="en-CA" sz="2600" i="1" u="sng" dirty="0"/>
              <a:t>the </a:t>
            </a:r>
            <a:r>
              <a:rPr lang="en-CA" sz="2600" i="1" u="sng" dirty="0" smtClean="0"/>
              <a:t>book</a:t>
            </a:r>
            <a:r>
              <a:rPr lang="en-CA" sz="2600" i="1" dirty="0" smtClean="0"/>
              <a:t> </a:t>
            </a:r>
            <a:r>
              <a:rPr lang="en-CA" sz="2600" b="1" i="1" dirty="0" smtClean="0"/>
              <a:t>that </a:t>
            </a:r>
            <a:r>
              <a:rPr lang="en-CA" sz="2600" i="1" dirty="0" smtClean="0"/>
              <a:t>I </a:t>
            </a:r>
            <a:r>
              <a:rPr lang="en-CA" sz="2600" i="1" dirty="0"/>
              <a:t>gave you yesterday</a:t>
            </a:r>
            <a:r>
              <a:rPr lang="en-CA" sz="2600" b="1" i="1" dirty="0"/>
              <a:t>?</a:t>
            </a:r>
            <a:endParaRPr lang="en-CA" sz="2600" b="1" dirty="0"/>
          </a:p>
          <a:p>
            <a:pPr marL="0" indent="0">
              <a:buNone/>
            </a:pPr>
            <a:endParaRPr lang="en-CA" sz="2600" b="1" dirty="0"/>
          </a:p>
        </p:txBody>
      </p:sp>
      <p:sp>
        <p:nvSpPr>
          <p:cNvPr id="4" name="TextBox 3"/>
          <p:cNvSpPr txBox="1"/>
          <p:nvPr/>
        </p:nvSpPr>
        <p:spPr>
          <a:xfrm>
            <a:off x="6248400" y="4038600"/>
            <a:ext cx="2743200" cy="369332"/>
          </a:xfrm>
          <a:prstGeom prst="rect">
            <a:avLst/>
          </a:prstGeom>
          <a:noFill/>
        </p:spPr>
        <p:txBody>
          <a:bodyPr wrap="square" rtlCol="0">
            <a:spAutoFit/>
          </a:bodyPr>
          <a:lstStyle/>
          <a:p>
            <a:r>
              <a:rPr lang="en-CA" dirty="0"/>
              <a:t>(Salem and Lawless, 2011)</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210381"/>
            <a:ext cx="2469842" cy="647619"/>
          </a:xfrm>
          <a:prstGeom prst="rect">
            <a:avLst/>
          </a:prstGeom>
        </p:spPr>
      </p:pic>
    </p:spTree>
    <p:extLst>
      <p:ext uri="{BB962C8B-B14F-4D97-AF65-F5344CB8AC3E}">
        <p14:creationId xmlns:p14="http://schemas.microsoft.com/office/powerpoint/2010/main" val="1243874843"/>
      </p:ext>
    </p:extLst>
  </p:cSld>
  <p:clrMapOvr>
    <a:masterClrMapping/>
  </p:clrMapOvr>
  <mc:AlternateContent xmlns:mc="http://schemas.openxmlformats.org/markup-compatibility/2006" xmlns:p14="http://schemas.microsoft.com/office/powerpoint/2010/main">
    <mc:Choice Requires="p14">
      <p:transition spd="slow" p14:dur="2000" advTm="49444"/>
    </mc:Choice>
    <mc:Fallback xmlns="">
      <p:transition spd="slow" advTm="49444"/>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CA" dirty="0"/>
              <a:t>Contrastive Analysis - </a:t>
            </a:r>
            <a:r>
              <a:rPr lang="en-CA" dirty="0" smtClean="0"/>
              <a:t>oral</a:t>
            </a:r>
            <a:endParaRPr lang="en-CA" dirty="0"/>
          </a:p>
        </p:txBody>
      </p:sp>
      <p:sp>
        <p:nvSpPr>
          <p:cNvPr id="5" name="Content Placeholder 4"/>
          <p:cNvSpPr>
            <a:spLocks noGrp="1"/>
          </p:cNvSpPr>
          <p:nvPr>
            <p:ph sz="quarter" idx="1"/>
          </p:nvPr>
        </p:nvSpPr>
        <p:spPr/>
        <p:txBody>
          <a:bodyPr>
            <a:normAutofit/>
          </a:bodyPr>
          <a:lstStyle/>
          <a:p>
            <a:pPr marL="0" indent="0">
              <a:buNone/>
            </a:pPr>
            <a:r>
              <a:rPr lang="en-CA" b="1" dirty="0" smtClean="0"/>
              <a:t>Overview </a:t>
            </a:r>
            <a:r>
              <a:rPr lang="en-CA" b="1" i="1" dirty="0"/>
              <a:t>(Cook, </a:t>
            </a:r>
            <a:r>
              <a:rPr lang="en-CA" b="1" i="1" dirty="0" smtClean="0"/>
              <a:t>2012; Salem and Lawless, 2011)</a:t>
            </a:r>
            <a:endParaRPr lang="en-CA" b="1" dirty="0" smtClean="0"/>
          </a:p>
          <a:p>
            <a:r>
              <a:rPr lang="en-CA" dirty="0" smtClean="0"/>
              <a:t>The </a:t>
            </a:r>
            <a:r>
              <a:rPr lang="en-CA" dirty="0"/>
              <a:t>accent is typified </a:t>
            </a:r>
            <a:r>
              <a:rPr lang="en-CA" dirty="0" smtClean="0"/>
              <a:t>by:</a:t>
            </a:r>
          </a:p>
          <a:p>
            <a:pPr lvl="1"/>
            <a:r>
              <a:rPr lang="en-CA" dirty="0" smtClean="0"/>
              <a:t>a </a:t>
            </a:r>
            <a:r>
              <a:rPr lang="en-CA" dirty="0"/>
              <a:t>leaden intonation and </a:t>
            </a:r>
            <a:endParaRPr lang="en-CA" dirty="0" smtClean="0"/>
          </a:p>
          <a:p>
            <a:pPr lvl="1"/>
            <a:r>
              <a:rPr lang="en-CA" dirty="0" smtClean="0"/>
              <a:t>the </a:t>
            </a:r>
            <a:r>
              <a:rPr lang="en-CA" dirty="0"/>
              <a:t>lack of several key consonants and vowels </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77000" y="3886200"/>
            <a:ext cx="2857500" cy="2857500"/>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210381"/>
            <a:ext cx="2469842" cy="647619"/>
          </a:xfrm>
          <a:prstGeom prst="rect">
            <a:avLst/>
          </a:prstGeom>
        </p:spPr>
      </p:pic>
    </p:spTree>
    <p:extLst>
      <p:ext uri="{BB962C8B-B14F-4D97-AF65-F5344CB8AC3E}">
        <p14:creationId xmlns:p14="http://schemas.microsoft.com/office/powerpoint/2010/main" val="3037801196"/>
      </p:ext>
    </p:extLst>
  </p:cSld>
  <p:clrMapOvr>
    <a:masterClrMapping/>
  </p:clrMapOvr>
  <mc:AlternateContent xmlns:mc="http://schemas.openxmlformats.org/markup-compatibility/2006" xmlns:p14="http://schemas.microsoft.com/office/powerpoint/2010/main">
    <mc:Choice Requires="p14">
      <p:transition spd="slow" p14:dur="2000" advTm="63"/>
    </mc:Choice>
    <mc:Fallback xmlns="">
      <p:transition spd="slow" advTm="63"/>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CA" dirty="0"/>
              <a:t>Contrastive Analysis - </a:t>
            </a:r>
            <a:r>
              <a:rPr lang="en-CA" dirty="0" smtClean="0"/>
              <a:t>oral</a:t>
            </a:r>
            <a:endParaRPr lang="en-CA" dirty="0"/>
          </a:p>
        </p:txBody>
      </p:sp>
      <p:sp>
        <p:nvSpPr>
          <p:cNvPr id="5" name="Content Placeholder 4"/>
          <p:cNvSpPr>
            <a:spLocks noGrp="1"/>
          </p:cNvSpPr>
          <p:nvPr>
            <p:ph sz="quarter" idx="1"/>
          </p:nvPr>
        </p:nvSpPr>
        <p:spPr/>
        <p:txBody>
          <a:bodyPr>
            <a:normAutofit/>
          </a:bodyPr>
          <a:lstStyle/>
          <a:p>
            <a:pPr marL="0" indent="0">
              <a:buNone/>
            </a:pPr>
            <a:r>
              <a:rPr lang="en-CA" b="1" i="1" dirty="0" smtClean="0"/>
              <a:t>Intonation (Cook, 2012)</a:t>
            </a:r>
            <a:endParaRPr lang="en-CA" dirty="0"/>
          </a:p>
          <a:p>
            <a:r>
              <a:rPr lang="en-CA" dirty="0" smtClean="0"/>
              <a:t>Syllable </a:t>
            </a:r>
            <a:r>
              <a:rPr lang="en-CA" dirty="0"/>
              <a:t>stress is also an issue as non-standard syllables are stressed, such as in </a:t>
            </a:r>
            <a:r>
              <a:rPr lang="en-CA" b="1" dirty="0"/>
              <a:t>subséquent </a:t>
            </a:r>
            <a:r>
              <a:rPr lang="en-CA" dirty="0"/>
              <a:t>and </a:t>
            </a:r>
            <a:r>
              <a:rPr lang="en-CA" b="1" dirty="0"/>
              <a:t>dévelopment</a:t>
            </a:r>
            <a:r>
              <a:rPr lang="en-CA" dirty="0"/>
              <a:t>. </a:t>
            </a:r>
            <a:endParaRPr lang="en-CA" dirty="0" smtClean="0"/>
          </a:p>
          <a:p>
            <a:r>
              <a:rPr lang="en-CA" dirty="0" smtClean="0"/>
              <a:t>there </a:t>
            </a:r>
            <a:r>
              <a:rPr lang="en-CA" dirty="0"/>
              <a:t>is a tendency to simply guess where intonation goes. </a:t>
            </a:r>
            <a:endParaRPr lang="en-CA" dirty="0" smtClean="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15200" y="4800600"/>
            <a:ext cx="2019300" cy="2019300"/>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210381"/>
            <a:ext cx="2469842" cy="647619"/>
          </a:xfrm>
          <a:prstGeom prst="rect">
            <a:avLst/>
          </a:prstGeom>
        </p:spPr>
      </p:pic>
    </p:spTree>
    <p:extLst>
      <p:ext uri="{BB962C8B-B14F-4D97-AF65-F5344CB8AC3E}">
        <p14:creationId xmlns:p14="http://schemas.microsoft.com/office/powerpoint/2010/main" val="1818306313"/>
      </p:ext>
    </p:extLst>
  </p:cSld>
  <p:clrMapOvr>
    <a:masterClrMapping/>
  </p:clrMapOvr>
  <mc:AlternateContent xmlns:mc="http://schemas.openxmlformats.org/markup-compatibility/2006" xmlns:p14="http://schemas.microsoft.com/office/powerpoint/2010/main">
    <mc:Choice Requires="p14">
      <p:transition spd="slow" p14:dur="2000" advTm="50"/>
    </mc:Choice>
    <mc:Fallback xmlns="">
      <p:transition spd="slow" advTm="50"/>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CA" dirty="0"/>
              <a:t>Contrastive Analysis - oral</a:t>
            </a:r>
            <a:r>
              <a:rPr lang="en-CA" dirty="0" smtClean="0"/>
              <a:t/>
            </a:r>
            <a:br>
              <a:rPr lang="en-CA" dirty="0" smtClean="0"/>
            </a:br>
            <a:r>
              <a:rPr lang="en-CA" dirty="0" smtClean="0"/>
              <a:t>short vowel sounds</a:t>
            </a:r>
            <a:endParaRPr lang="en-CA" dirty="0"/>
          </a:p>
        </p:txBody>
      </p:sp>
      <p:sp>
        <p:nvSpPr>
          <p:cNvPr id="5" name="Content Placeholder 4"/>
          <p:cNvSpPr>
            <a:spLocks noGrp="1"/>
          </p:cNvSpPr>
          <p:nvPr>
            <p:ph sz="quarter" idx="1"/>
          </p:nvPr>
        </p:nvSpPr>
        <p:spPr>
          <a:xfrm>
            <a:off x="457200" y="1600200"/>
            <a:ext cx="8229600" cy="4953000"/>
          </a:xfrm>
        </p:spPr>
        <p:txBody>
          <a:bodyPr>
            <a:normAutofit/>
          </a:bodyPr>
          <a:lstStyle/>
          <a:p>
            <a:r>
              <a:rPr lang="en-CA" dirty="0" smtClean="0"/>
              <a:t>Saudis </a:t>
            </a:r>
            <a:r>
              <a:rPr lang="en-CA" dirty="0"/>
              <a:t>have a problem distinguishing these vowel sounds</a:t>
            </a:r>
            <a:br>
              <a:rPr lang="en-CA" dirty="0"/>
            </a:br>
            <a:r>
              <a:rPr lang="en-CA" dirty="0"/>
              <a:t/>
            </a:r>
            <a:br>
              <a:rPr lang="en-CA" dirty="0"/>
            </a:br>
            <a:r>
              <a:rPr lang="en-CA" dirty="0"/>
              <a:t>b</a:t>
            </a:r>
            <a:r>
              <a:rPr lang="en-CA" b="1" dirty="0"/>
              <a:t>a</a:t>
            </a:r>
            <a:r>
              <a:rPr lang="en-CA" dirty="0"/>
              <a:t>d</a:t>
            </a:r>
            <a:r>
              <a:rPr lang="en-CA" b="1" dirty="0"/>
              <a:t>  </a:t>
            </a:r>
            <a:r>
              <a:rPr lang="en-CA" b="1" i="1" dirty="0"/>
              <a:t> </a:t>
            </a:r>
            <a:r>
              <a:rPr lang="en-CA" i="1" dirty="0"/>
              <a:t>-near-open front unrounded vowel</a:t>
            </a:r>
            <a:r>
              <a:rPr lang="en-CA" dirty="0"/>
              <a:t/>
            </a:r>
            <a:br>
              <a:rPr lang="en-CA" dirty="0"/>
            </a:br>
            <a:r>
              <a:rPr lang="en-CA" dirty="0"/>
              <a:t>b</a:t>
            </a:r>
            <a:r>
              <a:rPr lang="en-CA" b="1" dirty="0"/>
              <a:t>e</a:t>
            </a:r>
            <a:r>
              <a:rPr lang="en-CA" dirty="0"/>
              <a:t>d  </a:t>
            </a:r>
            <a:r>
              <a:rPr lang="en-CA" i="1" dirty="0"/>
              <a:t> </a:t>
            </a:r>
            <a:r>
              <a:rPr lang="en-CA" i="1" dirty="0" smtClean="0"/>
              <a:t>-open-mid </a:t>
            </a:r>
            <a:r>
              <a:rPr lang="en-CA" i="1" dirty="0"/>
              <a:t>central unrounded vowel</a:t>
            </a:r>
            <a:br>
              <a:rPr lang="en-CA" i="1" dirty="0"/>
            </a:br>
            <a:r>
              <a:rPr lang="en-CA" dirty="0"/>
              <a:t>b</a:t>
            </a:r>
            <a:r>
              <a:rPr lang="en-CA" b="1" dirty="0"/>
              <a:t>i</a:t>
            </a:r>
            <a:r>
              <a:rPr lang="en-CA" dirty="0"/>
              <a:t>d  </a:t>
            </a:r>
            <a:r>
              <a:rPr lang="en-CA" i="1" dirty="0"/>
              <a:t>  </a:t>
            </a:r>
            <a:r>
              <a:rPr lang="en-CA" i="1" dirty="0" smtClean="0"/>
              <a:t>-near-close </a:t>
            </a:r>
            <a:r>
              <a:rPr lang="en-CA" i="1" dirty="0"/>
              <a:t>rounded vowel</a:t>
            </a:r>
            <a:br>
              <a:rPr lang="en-CA" i="1" dirty="0"/>
            </a:br>
            <a:r>
              <a:rPr lang="en-CA" dirty="0"/>
              <a:t>b</a:t>
            </a:r>
            <a:r>
              <a:rPr lang="en-CA" b="1" dirty="0"/>
              <a:t>o</a:t>
            </a:r>
            <a:r>
              <a:rPr lang="en-CA" dirty="0"/>
              <a:t>d  </a:t>
            </a:r>
            <a:r>
              <a:rPr lang="en-CA" dirty="0" smtClean="0"/>
              <a:t>-</a:t>
            </a:r>
            <a:r>
              <a:rPr lang="en-CA" i="1" dirty="0" smtClean="0"/>
              <a:t>open </a:t>
            </a:r>
            <a:r>
              <a:rPr lang="en-CA" i="1" dirty="0"/>
              <a:t>back unrounded vowel</a:t>
            </a:r>
            <a:r>
              <a:rPr lang="en-CA" dirty="0"/>
              <a:t/>
            </a:r>
            <a:br>
              <a:rPr lang="en-CA" dirty="0"/>
            </a:br>
            <a:r>
              <a:rPr lang="en-CA" dirty="0"/>
              <a:t>b</a:t>
            </a:r>
            <a:r>
              <a:rPr lang="en-CA" b="1" dirty="0"/>
              <a:t>u</a:t>
            </a:r>
            <a:r>
              <a:rPr lang="en-CA" dirty="0"/>
              <a:t>d </a:t>
            </a:r>
            <a:r>
              <a:rPr lang="en-CA" dirty="0" smtClean="0"/>
              <a:t> </a:t>
            </a:r>
            <a:r>
              <a:rPr lang="en-CA" i="1" dirty="0" smtClean="0"/>
              <a:t>-open </a:t>
            </a:r>
            <a:r>
              <a:rPr lang="en-CA" i="1" dirty="0"/>
              <a:t>central unrounded </a:t>
            </a:r>
            <a:r>
              <a:rPr lang="en-CA" i="1" dirty="0" smtClean="0"/>
              <a:t>vowel</a:t>
            </a:r>
          </a:p>
          <a:p>
            <a:endParaRPr lang="en-CA" b="1" i="1" dirty="0"/>
          </a:p>
          <a:p>
            <a:pPr marL="0" indent="0">
              <a:buNone/>
            </a:pPr>
            <a:r>
              <a:rPr lang="en-CA" i="1" dirty="0" smtClean="0"/>
              <a:t>Results in: spelling and oral reading errors</a:t>
            </a:r>
            <a:endParaRPr lang="en-CA" i="1"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10381"/>
            <a:ext cx="2469842" cy="647619"/>
          </a:xfrm>
          <a:prstGeom prst="rect">
            <a:avLst/>
          </a:prstGeom>
        </p:spPr>
      </p:pic>
    </p:spTree>
    <p:extLst>
      <p:ext uri="{BB962C8B-B14F-4D97-AF65-F5344CB8AC3E}">
        <p14:creationId xmlns:p14="http://schemas.microsoft.com/office/powerpoint/2010/main" val="3898057979"/>
      </p:ext>
    </p:extLst>
  </p:cSld>
  <p:clrMapOvr>
    <a:masterClrMapping/>
  </p:clrMapOvr>
  <mc:AlternateContent xmlns:mc="http://schemas.openxmlformats.org/markup-compatibility/2006" xmlns:p14="http://schemas.microsoft.com/office/powerpoint/2010/main">
    <mc:Choice Requires="p14">
      <p:transition spd="slow" p14:dur="2000" advTm="71"/>
    </mc:Choice>
    <mc:Fallback xmlns="">
      <p:transition spd="slow" advTm="71"/>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15200" y="4800600"/>
            <a:ext cx="2019300" cy="2019300"/>
          </a:xfrm>
          <a:prstGeom prst="rect">
            <a:avLst/>
          </a:prstGeom>
        </p:spPr>
      </p:pic>
      <p:sp>
        <p:nvSpPr>
          <p:cNvPr id="4" name="Title 3"/>
          <p:cNvSpPr>
            <a:spLocks noGrp="1"/>
          </p:cNvSpPr>
          <p:nvPr>
            <p:ph type="title"/>
          </p:nvPr>
        </p:nvSpPr>
        <p:spPr/>
        <p:txBody>
          <a:bodyPr>
            <a:normAutofit fontScale="90000"/>
          </a:bodyPr>
          <a:lstStyle/>
          <a:p>
            <a:r>
              <a:rPr lang="en-CA" dirty="0"/>
              <a:t>Contrastive Analysis - oral</a:t>
            </a:r>
            <a:r>
              <a:rPr lang="en-CA" dirty="0" smtClean="0"/>
              <a:t/>
            </a:r>
            <a:br>
              <a:rPr lang="en-CA" dirty="0" smtClean="0"/>
            </a:br>
            <a:r>
              <a:rPr lang="en-CA" dirty="0" smtClean="0"/>
              <a:t> consonants</a:t>
            </a:r>
            <a:endParaRPr lang="en-CA" dirty="0"/>
          </a:p>
        </p:txBody>
      </p:sp>
      <p:sp>
        <p:nvSpPr>
          <p:cNvPr id="5" name="Content Placeholder 4"/>
          <p:cNvSpPr>
            <a:spLocks noGrp="1"/>
          </p:cNvSpPr>
          <p:nvPr>
            <p:ph sz="quarter" idx="1"/>
          </p:nvPr>
        </p:nvSpPr>
        <p:spPr>
          <a:xfrm>
            <a:off x="457200" y="1676400"/>
            <a:ext cx="8229600" cy="5181600"/>
          </a:xfrm>
        </p:spPr>
        <p:txBody>
          <a:bodyPr>
            <a:normAutofit lnSpcReduction="10000"/>
          </a:bodyPr>
          <a:lstStyle/>
          <a:p>
            <a:r>
              <a:rPr lang="en-CA" sz="3600" dirty="0" smtClean="0"/>
              <a:t> </a:t>
            </a:r>
            <a:r>
              <a:rPr lang="en-CA" sz="3600" i="1" dirty="0"/>
              <a:t>The Arabic </a:t>
            </a:r>
            <a:r>
              <a:rPr lang="en-CA" sz="3600" b="1" i="1" dirty="0"/>
              <a:t>R </a:t>
            </a:r>
            <a:endParaRPr lang="en-CA" sz="3600" dirty="0"/>
          </a:p>
          <a:p>
            <a:pPr lvl="1"/>
            <a:r>
              <a:rPr lang="en-CA" sz="3300" dirty="0" smtClean="0"/>
              <a:t>her = hair</a:t>
            </a:r>
            <a:r>
              <a:rPr lang="en-CA" sz="3300" dirty="0"/>
              <a:t>, verb </a:t>
            </a:r>
            <a:r>
              <a:rPr lang="en-CA" sz="3300" dirty="0" smtClean="0"/>
              <a:t>=vairb</a:t>
            </a:r>
            <a:r>
              <a:rPr lang="en-CA" sz="3300" dirty="0"/>
              <a:t>, were </a:t>
            </a:r>
            <a:r>
              <a:rPr lang="en-CA" sz="3300" dirty="0" smtClean="0"/>
              <a:t>=wear. </a:t>
            </a:r>
          </a:p>
          <a:p>
            <a:r>
              <a:rPr lang="en-CA" b="1" i="1" dirty="0"/>
              <a:t>V</a:t>
            </a:r>
            <a:r>
              <a:rPr lang="en-CA" b="1" i="1" dirty="0" smtClean="0"/>
              <a:t> </a:t>
            </a:r>
            <a:r>
              <a:rPr lang="en-CA" sz="3600" b="1" i="1" dirty="0"/>
              <a:t>– </a:t>
            </a:r>
            <a:r>
              <a:rPr lang="en-CA" sz="3600" i="1" dirty="0"/>
              <a:t>(labiodental)</a:t>
            </a:r>
            <a:r>
              <a:rPr lang="en-CA" sz="3600" b="1" i="1" dirty="0"/>
              <a:t> </a:t>
            </a:r>
            <a:r>
              <a:rPr lang="en-CA" sz="3600" dirty="0"/>
              <a:t>doesn’t </a:t>
            </a:r>
            <a:r>
              <a:rPr lang="en-CA" sz="3600" dirty="0" smtClean="0"/>
              <a:t>exist </a:t>
            </a:r>
            <a:endParaRPr lang="en-CA" sz="3600" dirty="0"/>
          </a:p>
          <a:p>
            <a:pPr lvl="1"/>
            <a:r>
              <a:rPr lang="en-CA" sz="3600" dirty="0"/>
              <a:t>is often replaced with </a:t>
            </a:r>
            <a:r>
              <a:rPr lang="en-CA" sz="3600" b="1" dirty="0"/>
              <a:t>F</a:t>
            </a:r>
            <a:r>
              <a:rPr lang="en-CA" sz="3600" dirty="0"/>
              <a:t> </a:t>
            </a:r>
            <a:r>
              <a:rPr lang="en-CA" sz="2400" dirty="0"/>
              <a:t>(voiceless labiodental)</a:t>
            </a:r>
            <a:r>
              <a:rPr lang="en-CA" sz="3600" dirty="0"/>
              <a:t/>
            </a:r>
            <a:br>
              <a:rPr lang="en-CA" sz="3600" dirty="0"/>
            </a:br>
            <a:r>
              <a:rPr lang="en-CA" sz="3600" dirty="0"/>
              <a:t>very= fairy, </a:t>
            </a:r>
          </a:p>
          <a:p>
            <a:r>
              <a:rPr lang="en-CA" sz="3600" b="1" i="1" dirty="0"/>
              <a:t>P- </a:t>
            </a:r>
            <a:r>
              <a:rPr lang="en-CA" sz="3600" dirty="0"/>
              <a:t> (voiceless bilabial plosive)</a:t>
            </a:r>
            <a:br>
              <a:rPr lang="en-CA" sz="3600" dirty="0"/>
            </a:br>
            <a:r>
              <a:rPr lang="en-CA" sz="3600" dirty="0"/>
              <a:t>                 doesn’t exist in Arabic, </a:t>
            </a:r>
          </a:p>
          <a:p>
            <a:pPr lvl="1"/>
            <a:r>
              <a:rPr lang="en-CA" sz="3600" dirty="0"/>
              <a:t>is often replaced with a B </a:t>
            </a:r>
            <a:r>
              <a:rPr lang="en-CA" sz="2400" dirty="0"/>
              <a:t>(bilabial)</a:t>
            </a:r>
            <a:r>
              <a:rPr lang="en-CA" sz="3600" dirty="0"/>
              <a:t>  </a:t>
            </a:r>
            <a:br>
              <a:rPr lang="en-CA" sz="3600" dirty="0"/>
            </a:br>
            <a:r>
              <a:rPr lang="en-CA" sz="3600" dirty="0"/>
              <a:t>- </a:t>
            </a:r>
            <a:r>
              <a:rPr lang="en-CA" sz="3600" dirty="0" smtClean="0"/>
              <a:t>people </a:t>
            </a:r>
            <a:r>
              <a:rPr lang="en-CA" sz="3600" dirty="0"/>
              <a:t>= </a:t>
            </a:r>
            <a:r>
              <a:rPr lang="en-CA" sz="3600" dirty="0" err="1"/>
              <a:t>beeble</a:t>
            </a:r>
            <a:r>
              <a:rPr lang="en-CA" sz="3600" dirty="0"/>
              <a:t> </a:t>
            </a:r>
          </a:p>
          <a:p>
            <a:pPr lvl="1"/>
            <a:endParaRPr lang="nl-NL" dirty="0"/>
          </a:p>
          <a:p>
            <a:endParaRPr lang="en-CA"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400800"/>
            <a:ext cx="1743636" cy="457200"/>
          </a:xfrm>
          <a:prstGeom prst="rect">
            <a:avLst/>
          </a:prstGeom>
        </p:spPr>
      </p:pic>
    </p:spTree>
    <p:extLst>
      <p:ext uri="{BB962C8B-B14F-4D97-AF65-F5344CB8AC3E}">
        <p14:creationId xmlns:p14="http://schemas.microsoft.com/office/powerpoint/2010/main" val="3898057979"/>
      </p:ext>
    </p:extLst>
  </p:cSld>
  <p:clrMapOvr>
    <a:masterClrMapping/>
  </p:clrMapOvr>
  <mc:AlternateContent xmlns:mc="http://schemas.openxmlformats.org/markup-compatibility/2006" xmlns:p14="http://schemas.microsoft.com/office/powerpoint/2010/main">
    <mc:Choice Requires="p14">
      <p:transition spd="slow" p14:dur="2000" advTm="91"/>
    </mc:Choice>
    <mc:Fallback xmlns="">
      <p:transition spd="slow" advTm="91"/>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15200" y="4800600"/>
            <a:ext cx="2019300" cy="2019300"/>
          </a:xfrm>
          <a:prstGeom prst="rect">
            <a:avLst/>
          </a:prstGeom>
        </p:spPr>
      </p:pic>
      <p:sp>
        <p:nvSpPr>
          <p:cNvPr id="4" name="Title 3"/>
          <p:cNvSpPr>
            <a:spLocks noGrp="1"/>
          </p:cNvSpPr>
          <p:nvPr>
            <p:ph type="title"/>
          </p:nvPr>
        </p:nvSpPr>
        <p:spPr/>
        <p:txBody>
          <a:bodyPr>
            <a:normAutofit fontScale="90000"/>
          </a:bodyPr>
          <a:lstStyle/>
          <a:p>
            <a:r>
              <a:rPr lang="en-CA" dirty="0"/>
              <a:t>Contrastive Analysis </a:t>
            </a:r>
            <a:r>
              <a:rPr lang="en-CA" dirty="0" smtClean="0"/>
              <a:t>– Oral</a:t>
            </a:r>
            <a:br>
              <a:rPr lang="en-CA" dirty="0" smtClean="0"/>
            </a:br>
            <a:r>
              <a:rPr lang="en-CA" dirty="0" smtClean="0"/>
              <a:t> consonants</a:t>
            </a:r>
            <a:endParaRPr lang="en-CA" dirty="0"/>
          </a:p>
        </p:txBody>
      </p:sp>
      <p:sp>
        <p:nvSpPr>
          <p:cNvPr id="5" name="Content Placeholder 4"/>
          <p:cNvSpPr>
            <a:spLocks noGrp="1"/>
          </p:cNvSpPr>
          <p:nvPr>
            <p:ph sz="quarter" idx="1"/>
          </p:nvPr>
        </p:nvSpPr>
        <p:spPr>
          <a:xfrm>
            <a:off x="457200" y="1676400"/>
            <a:ext cx="8229600" cy="5181600"/>
          </a:xfrm>
        </p:spPr>
        <p:txBody>
          <a:bodyPr>
            <a:normAutofit/>
          </a:bodyPr>
          <a:lstStyle/>
          <a:p>
            <a:pPr marL="0" indent="0">
              <a:buNone/>
            </a:pPr>
            <a:r>
              <a:rPr lang="en-CA" dirty="0" smtClean="0"/>
              <a:t>Solution – comparative practice and oral/aural listening testing with minimal pairs</a:t>
            </a:r>
            <a:br>
              <a:rPr lang="en-CA" dirty="0" smtClean="0"/>
            </a:br>
            <a:endParaRPr lang="en-CA" dirty="0" smtClean="0"/>
          </a:p>
          <a:p>
            <a:r>
              <a:rPr lang="en-CA" b="1" dirty="0" smtClean="0"/>
              <a:t>F </a:t>
            </a:r>
            <a:r>
              <a:rPr lang="en-CA" dirty="0"/>
              <a:t>	</a:t>
            </a:r>
            <a:r>
              <a:rPr lang="en-CA" dirty="0" smtClean="0"/>
              <a:t>	</a:t>
            </a:r>
            <a:r>
              <a:rPr lang="en-CA" b="1" dirty="0" smtClean="0"/>
              <a:t>V </a:t>
            </a:r>
            <a:r>
              <a:rPr lang="en-CA" dirty="0"/>
              <a:t>	</a:t>
            </a:r>
            <a:r>
              <a:rPr lang="en-CA" b="1" dirty="0"/>
              <a:t>B </a:t>
            </a:r>
            <a:r>
              <a:rPr lang="en-CA" dirty="0"/>
              <a:t>	</a:t>
            </a:r>
            <a:r>
              <a:rPr lang="en-CA" dirty="0" smtClean="0"/>
              <a:t>  </a:t>
            </a:r>
            <a:r>
              <a:rPr lang="en-CA" b="1" dirty="0" smtClean="0"/>
              <a:t>F </a:t>
            </a:r>
            <a:r>
              <a:rPr lang="en-CA" dirty="0"/>
              <a:t>	</a:t>
            </a:r>
            <a:r>
              <a:rPr lang="en-CA" dirty="0" smtClean="0"/>
              <a:t>	</a:t>
            </a:r>
            <a:r>
              <a:rPr lang="en-CA" b="1" dirty="0" smtClean="0"/>
              <a:t>V </a:t>
            </a:r>
            <a:r>
              <a:rPr lang="en-CA" dirty="0"/>
              <a:t>	</a:t>
            </a:r>
            <a:r>
              <a:rPr lang="en-CA" b="1" dirty="0"/>
              <a:t>B </a:t>
            </a:r>
            <a:r>
              <a:rPr lang="en-CA" dirty="0"/>
              <a:t>	</a:t>
            </a:r>
          </a:p>
          <a:p>
            <a:r>
              <a:rPr lang="en-CA" i="1" dirty="0"/>
              <a:t>fat </a:t>
            </a:r>
            <a:r>
              <a:rPr lang="en-CA" i="1" dirty="0" smtClean="0"/>
              <a:t>	</a:t>
            </a:r>
            <a:r>
              <a:rPr lang="en-CA" dirty="0"/>
              <a:t>	</a:t>
            </a:r>
            <a:r>
              <a:rPr lang="en-CA" i="1" dirty="0"/>
              <a:t>vat </a:t>
            </a:r>
            <a:r>
              <a:rPr lang="en-CA" dirty="0"/>
              <a:t>	</a:t>
            </a:r>
            <a:r>
              <a:rPr lang="en-CA" i="1" dirty="0"/>
              <a:t>bat </a:t>
            </a:r>
            <a:r>
              <a:rPr lang="en-CA" dirty="0"/>
              <a:t>	</a:t>
            </a:r>
            <a:r>
              <a:rPr lang="en-CA" dirty="0" smtClean="0"/>
              <a:t>  </a:t>
            </a:r>
            <a:r>
              <a:rPr lang="en-CA" i="1" dirty="0" smtClean="0"/>
              <a:t>ferry </a:t>
            </a:r>
            <a:r>
              <a:rPr lang="en-CA" dirty="0" smtClean="0"/>
              <a:t>	</a:t>
            </a:r>
            <a:r>
              <a:rPr lang="en-CA" i="1" dirty="0" smtClean="0"/>
              <a:t>very </a:t>
            </a:r>
            <a:r>
              <a:rPr lang="en-CA" dirty="0"/>
              <a:t>	</a:t>
            </a:r>
            <a:r>
              <a:rPr lang="en-CA" i="1" dirty="0"/>
              <a:t>berry </a:t>
            </a:r>
            <a:endParaRPr lang="en-CA" dirty="0"/>
          </a:p>
          <a:p>
            <a:r>
              <a:rPr lang="en-CA" i="1" dirty="0"/>
              <a:t>face </a:t>
            </a:r>
            <a:r>
              <a:rPr lang="en-CA" dirty="0"/>
              <a:t>	</a:t>
            </a:r>
            <a:r>
              <a:rPr lang="en-CA" i="1" dirty="0"/>
              <a:t>vase </a:t>
            </a:r>
            <a:r>
              <a:rPr lang="en-CA" dirty="0"/>
              <a:t>	</a:t>
            </a:r>
            <a:r>
              <a:rPr lang="en-CA" i="1" dirty="0"/>
              <a:t>base </a:t>
            </a:r>
            <a:r>
              <a:rPr lang="en-CA" i="1" dirty="0" smtClean="0"/>
              <a:t>  effort </a:t>
            </a:r>
            <a:r>
              <a:rPr lang="en-CA" dirty="0"/>
              <a:t>	</a:t>
            </a:r>
            <a:r>
              <a:rPr lang="en-CA" i="1" dirty="0"/>
              <a:t>ever </a:t>
            </a:r>
            <a:r>
              <a:rPr lang="en-CA" dirty="0"/>
              <a:t>	</a:t>
            </a:r>
            <a:r>
              <a:rPr lang="en-CA" i="1" dirty="0"/>
              <a:t>Ebber </a:t>
            </a:r>
            <a:endParaRPr lang="en-CA" dirty="0"/>
          </a:p>
          <a:p>
            <a:r>
              <a:rPr lang="nl-NL" i="1" dirty="0"/>
              <a:t>fear </a:t>
            </a:r>
            <a:r>
              <a:rPr lang="nl-NL" dirty="0"/>
              <a:t>	</a:t>
            </a:r>
            <a:r>
              <a:rPr lang="nl-NL" i="1" dirty="0"/>
              <a:t>veer </a:t>
            </a:r>
            <a:r>
              <a:rPr lang="nl-NL" dirty="0"/>
              <a:t>	</a:t>
            </a:r>
            <a:r>
              <a:rPr lang="nl-NL" i="1" dirty="0"/>
              <a:t>beer </a:t>
            </a:r>
            <a:r>
              <a:rPr lang="nl-NL" dirty="0"/>
              <a:t>	</a:t>
            </a:r>
            <a:r>
              <a:rPr lang="nl-NL" dirty="0" smtClean="0"/>
              <a:t>  </a:t>
            </a:r>
            <a:r>
              <a:rPr lang="nl-NL" i="1" dirty="0" smtClean="0"/>
              <a:t>foul </a:t>
            </a:r>
            <a:r>
              <a:rPr lang="nl-NL" dirty="0"/>
              <a:t>	 </a:t>
            </a:r>
            <a:r>
              <a:rPr lang="nl-NL" dirty="0" smtClean="0"/>
              <a:t>      </a:t>
            </a:r>
            <a:r>
              <a:rPr lang="nl-NL" i="1" dirty="0" smtClean="0"/>
              <a:t>vowel </a:t>
            </a:r>
            <a:r>
              <a:rPr lang="nl-NL" dirty="0"/>
              <a:t>	</a:t>
            </a:r>
            <a:r>
              <a:rPr lang="nl-NL" i="1" dirty="0"/>
              <a:t>bowel </a:t>
            </a:r>
            <a:r>
              <a:rPr lang="nl-NL" dirty="0"/>
              <a:t>	</a:t>
            </a:r>
          </a:p>
          <a:p>
            <a:endParaRPr lang="en-CA"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210381"/>
            <a:ext cx="2469842" cy="647619"/>
          </a:xfrm>
          <a:prstGeom prst="rect">
            <a:avLst/>
          </a:prstGeom>
        </p:spPr>
      </p:pic>
    </p:spTree>
    <p:extLst>
      <p:ext uri="{BB962C8B-B14F-4D97-AF65-F5344CB8AC3E}">
        <p14:creationId xmlns:p14="http://schemas.microsoft.com/office/powerpoint/2010/main" val="3344323857"/>
      </p:ext>
    </p:extLst>
  </p:cSld>
  <p:clrMapOvr>
    <a:masterClrMapping/>
  </p:clrMapOvr>
  <mc:AlternateContent xmlns:mc="http://schemas.openxmlformats.org/markup-compatibility/2006" xmlns:p14="http://schemas.microsoft.com/office/powerpoint/2010/main">
    <mc:Choice Requires="p14">
      <p:transition spd="slow" p14:dur="2000" advTm="42"/>
    </mc:Choice>
    <mc:Fallback xmlns="">
      <p:transition spd="slow" advTm="42"/>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Contrastive Analysis - </a:t>
            </a:r>
            <a:r>
              <a:rPr lang="en-CA" dirty="0" smtClean="0"/>
              <a:t>writing</a:t>
            </a:r>
            <a:endParaRPr lang="en-CA" dirty="0"/>
          </a:p>
        </p:txBody>
      </p:sp>
      <p:sp>
        <p:nvSpPr>
          <p:cNvPr id="3" name="Content Placeholder 2"/>
          <p:cNvSpPr>
            <a:spLocks noGrp="1"/>
          </p:cNvSpPr>
          <p:nvPr>
            <p:ph sz="quarter" idx="1"/>
          </p:nvPr>
        </p:nvSpPr>
        <p:spPr/>
        <p:txBody>
          <a:bodyPr>
            <a:normAutofit/>
          </a:bodyPr>
          <a:lstStyle/>
          <a:p>
            <a:pPr marL="0" indent="0">
              <a:buNone/>
            </a:pPr>
            <a:r>
              <a:rPr lang="en-CA" dirty="0" smtClean="0"/>
              <a:t>During </a:t>
            </a:r>
            <a:r>
              <a:rPr lang="en-CA" dirty="0"/>
              <a:t>previous writing instruction in </a:t>
            </a:r>
            <a:r>
              <a:rPr lang="en-CA" dirty="0" smtClean="0"/>
              <a:t>Arabic:</a:t>
            </a:r>
            <a:endParaRPr lang="en-CA" dirty="0"/>
          </a:p>
          <a:p>
            <a:r>
              <a:rPr lang="en-CA" dirty="0"/>
              <a:t>A</a:t>
            </a:r>
            <a:r>
              <a:rPr lang="en-CA" dirty="0" smtClean="0"/>
              <a:t>rabic does </a:t>
            </a:r>
            <a:r>
              <a:rPr lang="en-CA" dirty="0"/>
              <a:t>not have strict </a:t>
            </a:r>
            <a:r>
              <a:rPr lang="en-CA" dirty="0" smtClean="0"/>
              <a:t>punctuation rules</a:t>
            </a:r>
          </a:p>
          <a:p>
            <a:r>
              <a:rPr lang="en-CA" dirty="0"/>
              <a:t>mostly descriptive or expository </a:t>
            </a:r>
            <a:r>
              <a:rPr lang="en-CA" dirty="0" smtClean="0"/>
              <a:t>essays</a:t>
            </a:r>
          </a:p>
          <a:p>
            <a:r>
              <a:rPr lang="en-CA" dirty="0"/>
              <a:t>writing is a product, not a </a:t>
            </a:r>
            <a:r>
              <a:rPr lang="en-CA" dirty="0" smtClean="0"/>
              <a:t>process</a:t>
            </a:r>
            <a:endParaRPr lang="en-CA" dirty="0"/>
          </a:p>
          <a:p>
            <a:r>
              <a:rPr lang="en-CA" dirty="0" smtClean="0"/>
              <a:t>repetition </a:t>
            </a:r>
            <a:r>
              <a:rPr lang="en-CA" dirty="0"/>
              <a:t>and </a:t>
            </a:r>
            <a:r>
              <a:rPr lang="en-CA" dirty="0" smtClean="0"/>
              <a:t>paraphrase are rhetorically </a:t>
            </a:r>
            <a:r>
              <a:rPr lang="en-CA" dirty="0"/>
              <a:t>effective </a:t>
            </a:r>
            <a:endParaRPr lang="en-CA" dirty="0" smtClean="0"/>
          </a:p>
          <a:p>
            <a:r>
              <a:rPr lang="en-CA" dirty="0" smtClean="0"/>
              <a:t>display </a:t>
            </a:r>
            <a:r>
              <a:rPr lang="en-CA" dirty="0"/>
              <a:t>their </a:t>
            </a:r>
            <a:r>
              <a:rPr lang="en-CA" dirty="0" smtClean="0"/>
              <a:t>linguistic in Modern Standard </a:t>
            </a:r>
            <a:r>
              <a:rPr lang="en-CA" dirty="0"/>
              <a:t>Arabic</a:t>
            </a:r>
            <a:r>
              <a:rPr lang="en-CA" dirty="0" smtClean="0"/>
              <a:t>.</a:t>
            </a:r>
          </a:p>
          <a:p>
            <a:r>
              <a:rPr lang="en-CA" dirty="0" smtClean="0"/>
              <a:t>No </a:t>
            </a:r>
            <a:r>
              <a:rPr lang="en-CA" dirty="0"/>
              <a:t>critical </a:t>
            </a:r>
            <a:r>
              <a:rPr lang="en-CA" dirty="0" smtClean="0"/>
              <a:t>analysis</a:t>
            </a:r>
            <a:endParaRPr lang="en-CA" dirty="0"/>
          </a:p>
          <a:p>
            <a:r>
              <a:rPr lang="en-CA" dirty="0" smtClean="0"/>
              <a:t>rarely argumentative essays</a:t>
            </a:r>
          </a:p>
        </p:txBody>
      </p:sp>
      <p:sp>
        <p:nvSpPr>
          <p:cNvPr id="4" name="TextBox 3"/>
          <p:cNvSpPr txBox="1"/>
          <p:nvPr/>
        </p:nvSpPr>
        <p:spPr>
          <a:xfrm>
            <a:off x="381000" y="6144032"/>
            <a:ext cx="8305800" cy="369332"/>
          </a:xfrm>
          <a:prstGeom prst="rect">
            <a:avLst/>
          </a:prstGeom>
          <a:noFill/>
        </p:spPr>
        <p:txBody>
          <a:bodyPr wrap="square" rtlCol="0">
            <a:spAutoFit/>
          </a:bodyPr>
          <a:lstStyle/>
          <a:p>
            <a:pPr algn="r"/>
            <a:r>
              <a:rPr lang="en-CA" dirty="0"/>
              <a:t>(Salem and Lawless, </a:t>
            </a:r>
            <a:r>
              <a:rPr lang="en-CA" dirty="0" smtClean="0"/>
              <a:t>2011; </a:t>
            </a:r>
            <a:r>
              <a:rPr lang="en-CA" dirty="0" err="1" smtClean="0"/>
              <a:t>Bersamina</a:t>
            </a:r>
            <a:r>
              <a:rPr lang="en-CA" dirty="0" smtClean="0"/>
              <a:t>, 2009)</a:t>
            </a:r>
            <a:endParaRPr lang="en-CA"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210381"/>
            <a:ext cx="2469842" cy="647619"/>
          </a:xfrm>
          <a:prstGeom prst="rect">
            <a:avLst/>
          </a:prstGeom>
        </p:spPr>
      </p:pic>
    </p:spTree>
    <p:custDataLst>
      <p:tags r:id="rId1"/>
    </p:custDataLst>
    <p:extLst>
      <p:ext uri="{BB962C8B-B14F-4D97-AF65-F5344CB8AC3E}">
        <p14:creationId xmlns:p14="http://schemas.microsoft.com/office/powerpoint/2010/main" val="4050343584"/>
      </p:ext>
    </p:extLst>
  </p:cSld>
  <p:clrMapOvr>
    <a:masterClrMapping/>
  </p:clrMapOvr>
  <mc:AlternateContent xmlns:mc="http://schemas.openxmlformats.org/markup-compatibility/2006" xmlns:p14="http://schemas.microsoft.com/office/powerpoint/2010/main">
    <mc:Choice Requires="p14">
      <p:transition spd="slow" p14:dur="2000" advTm="3536"/>
    </mc:Choice>
    <mc:Fallback xmlns="">
      <p:transition spd="slow" advTm="353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1000"/>
                                        <p:tgtEl>
                                          <p:spTgt spid="3">
                                            <p:txEl>
                                              <p:pRg st="5" end="5"/>
                                            </p:txEl>
                                          </p:spTgt>
                                        </p:tgtEl>
                                      </p:cBhvr>
                                    </p:animEffect>
                                    <p:anim calcmode="lin" valueType="num">
                                      <p:cBhvr>
                                        <p:cTn id="3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1000"/>
                                        <p:tgtEl>
                                          <p:spTgt spid="3">
                                            <p:txEl>
                                              <p:pRg st="6" end="6"/>
                                            </p:txEl>
                                          </p:spTgt>
                                        </p:tgtEl>
                                      </p:cBhvr>
                                    </p:animEffect>
                                    <p:anim calcmode="lin" valueType="num">
                                      <p:cBhvr>
                                        <p:cTn id="3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6" end="6"/>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1000"/>
                                        <p:tgtEl>
                                          <p:spTgt spid="3">
                                            <p:txEl>
                                              <p:pRg st="7" end="7"/>
                                            </p:txEl>
                                          </p:spTgt>
                                        </p:tgtEl>
                                      </p:cBhvr>
                                    </p:animEffect>
                                    <p:anim calcmode="lin" valueType="num">
                                      <p:cBhvr>
                                        <p:cTn id="4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Contrastive Analysis - writing</a:t>
            </a:r>
          </a:p>
        </p:txBody>
      </p:sp>
      <p:sp>
        <p:nvSpPr>
          <p:cNvPr id="3" name="Content Placeholder 2"/>
          <p:cNvSpPr>
            <a:spLocks noGrp="1"/>
          </p:cNvSpPr>
          <p:nvPr>
            <p:ph sz="quarter" idx="1"/>
          </p:nvPr>
        </p:nvSpPr>
        <p:spPr/>
        <p:txBody>
          <a:bodyPr>
            <a:normAutofit/>
          </a:bodyPr>
          <a:lstStyle/>
          <a:p>
            <a:pPr marL="0" indent="0">
              <a:buNone/>
            </a:pPr>
            <a:r>
              <a:rPr lang="en-CA" b="1" dirty="0" smtClean="0"/>
              <a:t>Consequently </a:t>
            </a:r>
          </a:p>
          <a:p>
            <a:pPr marL="0" indent="0">
              <a:buNone/>
            </a:pPr>
            <a:r>
              <a:rPr lang="en-CA" dirty="0" smtClean="0"/>
              <a:t>From a bottom up perspective, </a:t>
            </a:r>
            <a:r>
              <a:rPr lang="en-CA" dirty="0"/>
              <a:t>ESL </a:t>
            </a:r>
            <a:r>
              <a:rPr lang="en-CA" dirty="0" smtClean="0"/>
              <a:t>writing displays:</a:t>
            </a:r>
          </a:p>
          <a:p>
            <a:r>
              <a:rPr lang="en-CA" dirty="0" smtClean="0"/>
              <a:t>loose </a:t>
            </a:r>
            <a:r>
              <a:rPr lang="en-CA" dirty="0"/>
              <a:t>punctuation </a:t>
            </a:r>
            <a:endParaRPr lang="en-CA" dirty="0" smtClean="0"/>
          </a:p>
          <a:p>
            <a:r>
              <a:rPr lang="en-CA" dirty="0" smtClean="0"/>
              <a:t>frequent </a:t>
            </a:r>
            <a:r>
              <a:rPr lang="en-CA" dirty="0"/>
              <a:t>use of synonyms or near synonyms.</a:t>
            </a:r>
          </a:p>
          <a:p>
            <a:r>
              <a:rPr lang="en-CA" dirty="0" smtClean="0"/>
              <a:t>frequent </a:t>
            </a:r>
            <a:r>
              <a:rPr lang="en-CA" dirty="0"/>
              <a:t>use of coordinating conjunctions,</a:t>
            </a:r>
          </a:p>
          <a:p>
            <a:pPr marL="0" indent="0">
              <a:buNone/>
            </a:pPr>
            <a:r>
              <a:rPr lang="en-CA" dirty="0" smtClean="0"/>
              <a:t>	e.g</a:t>
            </a:r>
            <a:r>
              <a:rPr lang="en-CA" dirty="0"/>
              <a:t>. </a:t>
            </a:r>
            <a:r>
              <a:rPr lang="en-CA" i="1" dirty="0"/>
              <a:t>and</a:t>
            </a:r>
            <a:r>
              <a:rPr lang="en-CA" dirty="0"/>
              <a:t>, </a:t>
            </a:r>
            <a:r>
              <a:rPr lang="en-CA" i="1" dirty="0"/>
              <a:t>but</a:t>
            </a:r>
            <a:r>
              <a:rPr lang="en-CA" dirty="0"/>
              <a:t>, </a:t>
            </a:r>
            <a:r>
              <a:rPr lang="en-CA" i="1" dirty="0"/>
              <a:t>so</a:t>
            </a:r>
            <a:r>
              <a:rPr lang="en-CA" i="1" dirty="0" smtClean="0"/>
              <a:t>.</a:t>
            </a:r>
          </a:p>
        </p:txBody>
      </p:sp>
      <p:sp>
        <p:nvSpPr>
          <p:cNvPr id="5" name="TextBox 4"/>
          <p:cNvSpPr txBox="1"/>
          <p:nvPr/>
        </p:nvSpPr>
        <p:spPr>
          <a:xfrm>
            <a:off x="381000" y="6144032"/>
            <a:ext cx="8305800" cy="369332"/>
          </a:xfrm>
          <a:prstGeom prst="rect">
            <a:avLst/>
          </a:prstGeom>
          <a:noFill/>
        </p:spPr>
        <p:txBody>
          <a:bodyPr wrap="square" rtlCol="0">
            <a:spAutoFit/>
          </a:bodyPr>
          <a:lstStyle/>
          <a:p>
            <a:pPr algn="r"/>
            <a:r>
              <a:rPr lang="en-CA" dirty="0"/>
              <a:t>(Salem and Lawless, </a:t>
            </a:r>
            <a:r>
              <a:rPr lang="en-CA" dirty="0" smtClean="0"/>
              <a:t>2011; </a:t>
            </a:r>
            <a:r>
              <a:rPr lang="en-CA" dirty="0" err="1" smtClean="0"/>
              <a:t>Bersamina</a:t>
            </a:r>
            <a:r>
              <a:rPr lang="en-CA" dirty="0"/>
              <a:t>, 2009)</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210381"/>
            <a:ext cx="2469842" cy="647619"/>
          </a:xfrm>
          <a:prstGeom prst="rect">
            <a:avLst/>
          </a:prstGeom>
        </p:spPr>
      </p:pic>
    </p:spTree>
    <p:custDataLst>
      <p:tags r:id="rId1"/>
    </p:custDataLst>
    <p:extLst>
      <p:ext uri="{BB962C8B-B14F-4D97-AF65-F5344CB8AC3E}">
        <p14:creationId xmlns:p14="http://schemas.microsoft.com/office/powerpoint/2010/main" val="853571578"/>
      </p:ext>
    </p:extLst>
  </p:cSld>
  <p:clrMapOvr>
    <a:masterClrMapping/>
  </p:clrMapOvr>
  <mc:AlternateContent xmlns:mc="http://schemas.openxmlformats.org/markup-compatibility/2006" xmlns:p14="http://schemas.microsoft.com/office/powerpoint/2010/main">
    <mc:Choice Requires="p14">
      <p:transition spd="slow" p14:dur="2000" advTm="135"/>
    </mc:Choice>
    <mc:Fallback xmlns="">
      <p:transition spd="slow" advTm="13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anim calcmode="lin" valueType="num">
                                      <p:cBhvr>
                                        <p:cTn id="1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1000"/>
                                        <p:tgtEl>
                                          <p:spTgt spid="3">
                                            <p:txEl>
                                              <p:pRg st="4" end="4"/>
                                            </p:txEl>
                                          </p:spTgt>
                                        </p:tgtEl>
                                      </p:cBhvr>
                                    </p:animEffect>
                                    <p:anim calcmode="lin" valueType="num">
                                      <p:cBhvr>
                                        <p:cTn id="2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1000"/>
                                        <p:tgtEl>
                                          <p:spTgt spid="3">
                                            <p:txEl>
                                              <p:pRg st="5" end="5"/>
                                            </p:txEl>
                                          </p:spTgt>
                                        </p:tgtEl>
                                      </p:cBhvr>
                                    </p:animEffect>
                                    <p:anim calcmode="lin" valueType="num">
                                      <p:cBhvr>
                                        <p:cTn id="2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Contrastive Analysis - writing</a:t>
            </a:r>
          </a:p>
        </p:txBody>
      </p:sp>
      <p:sp>
        <p:nvSpPr>
          <p:cNvPr id="3" name="Content Placeholder 2"/>
          <p:cNvSpPr>
            <a:spLocks noGrp="1"/>
          </p:cNvSpPr>
          <p:nvPr>
            <p:ph sz="quarter" idx="1"/>
          </p:nvPr>
        </p:nvSpPr>
        <p:spPr/>
        <p:txBody>
          <a:bodyPr>
            <a:normAutofit fontScale="92500" lnSpcReduction="10000"/>
          </a:bodyPr>
          <a:lstStyle/>
          <a:p>
            <a:pPr marL="0" indent="0">
              <a:buNone/>
            </a:pPr>
            <a:r>
              <a:rPr lang="en-CA" b="1" dirty="0" smtClean="0"/>
              <a:t>Consequently </a:t>
            </a:r>
          </a:p>
          <a:p>
            <a:pPr marL="0" indent="0">
              <a:buNone/>
            </a:pPr>
            <a:r>
              <a:rPr lang="en-CA" dirty="0" smtClean="0"/>
              <a:t>From </a:t>
            </a:r>
            <a:r>
              <a:rPr lang="en-CA" dirty="0"/>
              <a:t>a </a:t>
            </a:r>
            <a:r>
              <a:rPr lang="en-CA" dirty="0" smtClean="0"/>
              <a:t>top down </a:t>
            </a:r>
            <a:r>
              <a:rPr lang="en-CA" dirty="0"/>
              <a:t>perspective</a:t>
            </a:r>
            <a:r>
              <a:rPr lang="en-CA" dirty="0" smtClean="0"/>
              <a:t>, paragraphs </a:t>
            </a:r>
            <a:r>
              <a:rPr lang="en-CA" dirty="0"/>
              <a:t>and essays display:</a:t>
            </a:r>
          </a:p>
          <a:p>
            <a:r>
              <a:rPr lang="en-CA" dirty="0"/>
              <a:t>plagiarism through memorization.</a:t>
            </a:r>
          </a:p>
          <a:p>
            <a:r>
              <a:rPr lang="en-CA" dirty="0" smtClean="0"/>
              <a:t>repetition </a:t>
            </a:r>
            <a:r>
              <a:rPr lang="en-CA" dirty="0"/>
              <a:t>of ideas (paraphrase– restatement</a:t>
            </a:r>
            <a:r>
              <a:rPr lang="en-CA" dirty="0" smtClean="0"/>
              <a:t>).</a:t>
            </a:r>
          </a:p>
          <a:p>
            <a:r>
              <a:rPr lang="en-CA" dirty="0" smtClean="0"/>
              <a:t>Little critical thought or analysis</a:t>
            </a:r>
            <a:endParaRPr lang="en-CA" dirty="0"/>
          </a:p>
          <a:p>
            <a:r>
              <a:rPr lang="en-CA" dirty="0"/>
              <a:t>Content:</a:t>
            </a:r>
          </a:p>
          <a:p>
            <a:pPr lvl="1"/>
            <a:r>
              <a:rPr lang="en-CA" dirty="0"/>
              <a:t>Lacks focus and specificity</a:t>
            </a:r>
          </a:p>
          <a:p>
            <a:pPr lvl="1"/>
            <a:r>
              <a:rPr lang="en-CA" dirty="0"/>
              <a:t>sufficient information </a:t>
            </a:r>
          </a:p>
          <a:p>
            <a:pPr lvl="1"/>
            <a:r>
              <a:rPr lang="en-CA" dirty="0"/>
              <a:t>Vague and abstract ideas.</a:t>
            </a:r>
          </a:p>
          <a:p>
            <a:pPr marL="0" indent="0">
              <a:buNone/>
            </a:pPr>
            <a:endParaRPr lang="en-CA" i="1" dirty="0"/>
          </a:p>
        </p:txBody>
      </p:sp>
      <p:sp>
        <p:nvSpPr>
          <p:cNvPr id="5" name="TextBox 4"/>
          <p:cNvSpPr txBox="1"/>
          <p:nvPr/>
        </p:nvSpPr>
        <p:spPr>
          <a:xfrm>
            <a:off x="381000" y="6144032"/>
            <a:ext cx="8305800" cy="369332"/>
          </a:xfrm>
          <a:prstGeom prst="rect">
            <a:avLst/>
          </a:prstGeom>
          <a:noFill/>
        </p:spPr>
        <p:txBody>
          <a:bodyPr wrap="square" rtlCol="0">
            <a:spAutoFit/>
          </a:bodyPr>
          <a:lstStyle/>
          <a:p>
            <a:pPr algn="r"/>
            <a:r>
              <a:rPr lang="en-CA" dirty="0"/>
              <a:t>(Salem and Lawless, </a:t>
            </a:r>
            <a:r>
              <a:rPr lang="en-CA" dirty="0" smtClean="0"/>
              <a:t>2011; </a:t>
            </a:r>
            <a:r>
              <a:rPr lang="en-CA" dirty="0" err="1" smtClean="0"/>
              <a:t>Bersamina</a:t>
            </a:r>
            <a:r>
              <a:rPr lang="en-CA" dirty="0"/>
              <a:t>, 2009)</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210381"/>
            <a:ext cx="2469842" cy="647619"/>
          </a:xfrm>
          <a:prstGeom prst="rect">
            <a:avLst/>
          </a:prstGeom>
        </p:spPr>
      </p:pic>
    </p:spTree>
    <p:custDataLst>
      <p:tags r:id="rId1"/>
    </p:custDataLst>
    <p:extLst>
      <p:ext uri="{BB962C8B-B14F-4D97-AF65-F5344CB8AC3E}">
        <p14:creationId xmlns:p14="http://schemas.microsoft.com/office/powerpoint/2010/main" val="1780400309"/>
      </p:ext>
    </p:extLst>
  </p:cSld>
  <p:clrMapOvr>
    <a:masterClrMapping/>
  </p:clrMapOvr>
  <mc:AlternateContent xmlns:mc="http://schemas.openxmlformats.org/markup-compatibility/2006" xmlns:p14="http://schemas.microsoft.com/office/powerpoint/2010/main">
    <mc:Choice Requires="p14">
      <p:transition spd="slow" p14:dur="2000" advTm="153"/>
    </mc:Choice>
    <mc:Fallback xmlns="">
      <p:transition spd="slow" advTm="15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anim calcmode="lin" valueType="num">
                                      <p:cBhvr>
                                        <p:cTn id="1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1000"/>
                                        <p:tgtEl>
                                          <p:spTgt spid="3">
                                            <p:txEl>
                                              <p:pRg st="4" end="4"/>
                                            </p:txEl>
                                          </p:spTgt>
                                        </p:tgtEl>
                                      </p:cBhvr>
                                    </p:animEffect>
                                    <p:anim calcmode="lin" valueType="num">
                                      <p:cBhvr>
                                        <p:cTn id="2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1000"/>
                                        <p:tgtEl>
                                          <p:spTgt spid="3">
                                            <p:txEl>
                                              <p:pRg st="5" end="5"/>
                                            </p:txEl>
                                          </p:spTgt>
                                        </p:tgtEl>
                                      </p:cBhvr>
                                    </p:animEffect>
                                    <p:anim calcmode="lin" valueType="num">
                                      <p:cBhvr>
                                        <p:cTn id="2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1000"/>
                                        <p:tgtEl>
                                          <p:spTgt spid="3">
                                            <p:txEl>
                                              <p:pRg st="6" end="6"/>
                                            </p:txEl>
                                          </p:spTgt>
                                        </p:tgtEl>
                                      </p:cBhvr>
                                    </p:animEffect>
                                    <p:anim calcmode="lin" valueType="num">
                                      <p:cBhvr>
                                        <p:cTn id="3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6" end="6"/>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1000"/>
                                        <p:tgtEl>
                                          <p:spTgt spid="3">
                                            <p:txEl>
                                              <p:pRg st="7" end="7"/>
                                            </p:txEl>
                                          </p:spTgt>
                                        </p:tgtEl>
                                      </p:cBhvr>
                                    </p:animEffect>
                                    <p:anim calcmode="lin" valueType="num">
                                      <p:cBhvr>
                                        <p:cTn id="38"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7" end="7"/>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1000"/>
                                        <p:tgtEl>
                                          <p:spTgt spid="3">
                                            <p:txEl>
                                              <p:pRg st="8" end="8"/>
                                            </p:txEl>
                                          </p:spTgt>
                                        </p:tgtEl>
                                      </p:cBhvr>
                                    </p:animEffect>
                                    <p:anim calcmode="lin" valueType="num">
                                      <p:cBhvr>
                                        <p:cTn id="43"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Contrastive Analysis - writing</a:t>
            </a:r>
          </a:p>
        </p:txBody>
      </p:sp>
      <p:sp>
        <p:nvSpPr>
          <p:cNvPr id="3" name="Content Placeholder 2"/>
          <p:cNvSpPr>
            <a:spLocks noGrp="1"/>
          </p:cNvSpPr>
          <p:nvPr>
            <p:ph sz="quarter" idx="1"/>
          </p:nvPr>
        </p:nvSpPr>
        <p:spPr/>
        <p:txBody>
          <a:bodyPr>
            <a:normAutofit fontScale="85000" lnSpcReduction="20000"/>
          </a:bodyPr>
          <a:lstStyle/>
          <a:p>
            <a:pPr marL="0" indent="0">
              <a:buNone/>
            </a:pPr>
            <a:r>
              <a:rPr lang="en-CA" b="1" dirty="0" smtClean="0"/>
              <a:t>Subsequently, solutions involve:</a:t>
            </a:r>
          </a:p>
          <a:p>
            <a:pPr marL="0" indent="0">
              <a:buNone/>
            </a:pPr>
            <a:r>
              <a:rPr lang="en-CA" dirty="0" smtClean="0"/>
              <a:t>Explicit instruction in:</a:t>
            </a:r>
          </a:p>
          <a:p>
            <a:r>
              <a:rPr lang="en-CA" dirty="0" smtClean="0"/>
              <a:t>English rhetorical styles</a:t>
            </a:r>
          </a:p>
          <a:p>
            <a:pPr lvl="1"/>
            <a:r>
              <a:rPr lang="en-CA" dirty="0" smtClean="0"/>
              <a:t>Clear sentence-by-sentence outlines</a:t>
            </a:r>
          </a:p>
          <a:p>
            <a:r>
              <a:rPr lang="en-CA" dirty="0" smtClean="0"/>
              <a:t>Explanation of the consequences of plagiarism</a:t>
            </a:r>
          </a:p>
          <a:p>
            <a:r>
              <a:rPr lang="en-CA" dirty="0" smtClean="0"/>
              <a:t>Connection support to thesis</a:t>
            </a:r>
          </a:p>
          <a:p>
            <a:pPr marL="0" indent="0">
              <a:buNone/>
            </a:pPr>
            <a:r>
              <a:rPr lang="en-CA" dirty="0" smtClean="0"/>
              <a:t>Additional emphasis on </a:t>
            </a:r>
          </a:p>
          <a:p>
            <a:r>
              <a:rPr lang="en-CA" dirty="0" smtClean="0"/>
              <a:t>revision (and grade for drafts)</a:t>
            </a:r>
            <a:endParaRPr lang="en-CA" i="1" dirty="0" smtClean="0"/>
          </a:p>
          <a:p>
            <a:r>
              <a:rPr lang="en-CA" dirty="0" smtClean="0"/>
              <a:t>Not compromising on grammar </a:t>
            </a:r>
            <a:r>
              <a:rPr lang="en-CA" dirty="0" err="1" smtClean="0"/>
              <a:t>vs</a:t>
            </a:r>
            <a:r>
              <a:rPr lang="en-CA" dirty="0" smtClean="0"/>
              <a:t> content</a:t>
            </a:r>
            <a:endParaRPr lang="en-CA" dirty="0"/>
          </a:p>
          <a:p>
            <a:r>
              <a:rPr lang="en-CA" dirty="0" err="1" smtClean="0"/>
              <a:t>Scaffolded</a:t>
            </a:r>
            <a:r>
              <a:rPr lang="en-CA" dirty="0" smtClean="0"/>
              <a:t> problem solving.</a:t>
            </a:r>
          </a:p>
          <a:p>
            <a:r>
              <a:rPr lang="en-CA" dirty="0" smtClean="0"/>
              <a:t>Paper </a:t>
            </a:r>
            <a:r>
              <a:rPr lang="en-CA" dirty="0" err="1" smtClean="0"/>
              <a:t>Eng-Eng</a:t>
            </a:r>
            <a:r>
              <a:rPr lang="en-CA" dirty="0" smtClean="0"/>
              <a:t> dictionary skills </a:t>
            </a:r>
          </a:p>
          <a:p>
            <a:endParaRPr lang="en-CA" dirty="0"/>
          </a:p>
          <a:p>
            <a:pPr marL="0" indent="0">
              <a:buNone/>
            </a:pPr>
            <a:endParaRPr lang="en-CA" i="1" dirty="0"/>
          </a:p>
        </p:txBody>
      </p:sp>
      <p:sp>
        <p:nvSpPr>
          <p:cNvPr id="5" name="TextBox 4"/>
          <p:cNvSpPr txBox="1"/>
          <p:nvPr/>
        </p:nvSpPr>
        <p:spPr>
          <a:xfrm>
            <a:off x="381000" y="6144032"/>
            <a:ext cx="8305800" cy="369332"/>
          </a:xfrm>
          <a:prstGeom prst="rect">
            <a:avLst/>
          </a:prstGeom>
          <a:noFill/>
        </p:spPr>
        <p:txBody>
          <a:bodyPr wrap="square" rtlCol="0">
            <a:spAutoFit/>
          </a:bodyPr>
          <a:lstStyle/>
          <a:p>
            <a:pPr algn="r"/>
            <a:r>
              <a:rPr lang="en-CA" dirty="0"/>
              <a:t>(Salem and Lawless, </a:t>
            </a:r>
            <a:r>
              <a:rPr lang="en-CA" dirty="0" smtClean="0"/>
              <a:t>2011; </a:t>
            </a:r>
            <a:r>
              <a:rPr lang="en-CA" dirty="0" err="1" smtClean="0"/>
              <a:t>Bersamina</a:t>
            </a:r>
            <a:r>
              <a:rPr lang="en-CA" dirty="0"/>
              <a:t>, 2009)</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210381"/>
            <a:ext cx="2469842" cy="647619"/>
          </a:xfrm>
          <a:prstGeom prst="rect">
            <a:avLst/>
          </a:prstGeom>
        </p:spPr>
      </p:pic>
    </p:spTree>
    <p:custDataLst>
      <p:tags r:id="rId1"/>
    </p:custDataLst>
    <p:extLst>
      <p:ext uri="{BB962C8B-B14F-4D97-AF65-F5344CB8AC3E}">
        <p14:creationId xmlns:p14="http://schemas.microsoft.com/office/powerpoint/2010/main" val="2505415859"/>
      </p:ext>
    </p:extLst>
  </p:cSld>
  <p:clrMapOvr>
    <a:masterClrMapping/>
  </p:clrMapOvr>
  <mc:AlternateContent xmlns:mc="http://schemas.openxmlformats.org/markup-compatibility/2006" xmlns:p14="http://schemas.microsoft.com/office/powerpoint/2010/main">
    <mc:Choice Requires="p14">
      <p:transition spd="slow" p14:dur="2000" advTm="133"/>
    </mc:Choice>
    <mc:Fallback xmlns="">
      <p:transition spd="slow" advTm="13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anim calcmode="lin" valueType="num">
                                      <p:cBhvr>
                                        <p:cTn id="1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1000"/>
                                        <p:tgtEl>
                                          <p:spTgt spid="3">
                                            <p:txEl>
                                              <p:pRg st="4" end="4"/>
                                            </p:txEl>
                                          </p:spTgt>
                                        </p:tgtEl>
                                      </p:cBhvr>
                                    </p:animEffect>
                                    <p:anim calcmode="lin" valueType="num">
                                      <p:cBhvr>
                                        <p:cTn id="2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1000"/>
                                        <p:tgtEl>
                                          <p:spTgt spid="3">
                                            <p:txEl>
                                              <p:pRg st="5" end="5"/>
                                            </p:txEl>
                                          </p:spTgt>
                                        </p:tgtEl>
                                      </p:cBhvr>
                                    </p:animEffect>
                                    <p:anim calcmode="lin" valueType="num">
                                      <p:cBhvr>
                                        <p:cTn id="2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1000"/>
                                        <p:tgtEl>
                                          <p:spTgt spid="3">
                                            <p:txEl>
                                              <p:pRg st="6" end="6"/>
                                            </p:txEl>
                                          </p:spTgt>
                                        </p:tgtEl>
                                      </p:cBhvr>
                                    </p:animEffect>
                                    <p:anim calcmode="lin" valueType="num">
                                      <p:cBhvr>
                                        <p:cTn id="3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6" end="6"/>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1000"/>
                                        <p:tgtEl>
                                          <p:spTgt spid="3">
                                            <p:txEl>
                                              <p:pRg st="7" end="7"/>
                                            </p:txEl>
                                          </p:spTgt>
                                        </p:tgtEl>
                                      </p:cBhvr>
                                    </p:animEffect>
                                    <p:anim calcmode="lin" valueType="num">
                                      <p:cBhvr>
                                        <p:cTn id="38"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7" end="7"/>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1000"/>
                                        <p:tgtEl>
                                          <p:spTgt spid="3">
                                            <p:txEl>
                                              <p:pRg st="8" end="8"/>
                                            </p:txEl>
                                          </p:spTgt>
                                        </p:tgtEl>
                                      </p:cBhvr>
                                    </p:animEffect>
                                    <p:anim calcmode="lin" valueType="num">
                                      <p:cBhvr>
                                        <p:cTn id="43"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8" end="8"/>
                                            </p:txEl>
                                          </p:spTgt>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1000"/>
                                        <p:tgtEl>
                                          <p:spTgt spid="3">
                                            <p:txEl>
                                              <p:pRg st="9" end="9"/>
                                            </p:txEl>
                                          </p:spTgt>
                                        </p:tgtEl>
                                      </p:cBhvr>
                                    </p:animEffect>
                                    <p:anim calcmode="lin" valueType="num">
                                      <p:cBhvr>
                                        <p:cTn id="48"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9" end="9"/>
                                            </p:txEl>
                                          </p:spTgt>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3">
                                            <p:txEl>
                                              <p:pRg st="10" end="10"/>
                                            </p:txEl>
                                          </p:spTgt>
                                        </p:tgtEl>
                                        <p:attrNameLst>
                                          <p:attrName>style.visibility</p:attrName>
                                        </p:attrNameLst>
                                      </p:cBhvr>
                                      <p:to>
                                        <p:strVal val="visible"/>
                                      </p:to>
                                    </p:set>
                                    <p:animEffect transition="in" filter="fade">
                                      <p:cBhvr>
                                        <p:cTn id="52" dur="1000"/>
                                        <p:tgtEl>
                                          <p:spTgt spid="3">
                                            <p:txEl>
                                              <p:pRg st="10" end="10"/>
                                            </p:txEl>
                                          </p:spTgt>
                                        </p:tgtEl>
                                      </p:cBhvr>
                                    </p:animEffect>
                                    <p:anim calcmode="lin" valueType="num">
                                      <p:cBhvr>
                                        <p:cTn id="53"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54"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CA" dirty="0" smtClean="0"/>
              <a:t>Beyond the language: business </a:t>
            </a:r>
            <a:r>
              <a:rPr lang="en-CA" dirty="0"/>
              <a:t>E</a:t>
            </a:r>
            <a:r>
              <a:rPr lang="en-CA" dirty="0" smtClean="0"/>
              <a:t>nglish</a:t>
            </a:r>
            <a:endParaRPr lang="en-CA" dirty="0"/>
          </a:p>
        </p:txBody>
      </p:sp>
      <p:sp>
        <p:nvSpPr>
          <p:cNvPr id="5" name="Title 1"/>
          <p:cNvSpPr>
            <a:spLocks noGrp="1"/>
          </p:cNvSpPr>
          <p:nvPr>
            <p:ph type="ctrTitle"/>
          </p:nvPr>
        </p:nvSpPr>
        <p:spPr>
          <a:xfrm>
            <a:off x="0" y="4038600"/>
            <a:ext cx="9067800" cy="1828800"/>
          </a:xfrm>
        </p:spPr>
        <p:txBody>
          <a:bodyPr>
            <a:normAutofit fontScale="90000"/>
          </a:bodyPr>
          <a:lstStyle/>
          <a:p>
            <a:pPr algn="r"/>
            <a:r>
              <a:rPr lang="en-CA" dirty="0"/>
              <a:t>Business English programs for Saudi students: </a:t>
            </a:r>
            <a:r>
              <a:rPr lang="en-CA" dirty="0" smtClean="0"/>
              <a:t/>
            </a:r>
            <a:br>
              <a:rPr lang="en-CA" dirty="0" smtClean="0"/>
            </a:br>
            <a:r>
              <a:rPr lang="en-CA" dirty="0" smtClean="0"/>
              <a:t>using </a:t>
            </a:r>
            <a:r>
              <a:rPr lang="en-CA" dirty="0"/>
              <a:t>classroom hours effectively</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22347"/>
            <a:ext cx="2133600" cy="559453"/>
          </a:xfrm>
          <a:prstGeom prst="rect">
            <a:avLst/>
          </a:prstGeom>
        </p:spPr>
      </p:pic>
    </p:spTree>
    <p:extLst>
      <p:ext uri="{BB962C8B-B14F-4D97-AF65-F5344CB8AC3E}">
        <p14:creationId xmlns:p14="http://schemas.microsoft.com/office/powerpoint/2010/main" val="1460033566"/>
      </p:ext>
    </p:extLst>
  </p:cSld>
  <p:clrMapOvr>
    <a:masterClrMapping/>
  </p:clrMapOvr>
  <mc:AlternateContent xmlns:mc="http://schemas.openxmlformats.org/markup-compatibility/2006" xmlns:p14="http://schemas.microsoft.com/office/powerpoint/2010/main">
    <mc:Choice Requires="p14">
      <p:transition spd="slow" p14:dur="2000" advTm="54"/>
    </mc:Choice>
    <mc:Fallback xmlns="">
      <p:transition spd="slow" advTm="54"/>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Math and Numeracy</a:t>
            </a:r>
            <a:endParaRPr lang="en-CA" dirty="0"/>
          </a:p>
        </p:txBody>
      </p:sp>
      <p:sp>
        <p:nvSpPr>
          <p:cNvPr id="3" name="Content Placeholder 2"/>
          <p:cNvSpPr>
            <a:spLocks noGrp="1"/>
          </p:cNvSpPr>
          <p:nvPr>
            <p:ph sz="quarter" idx="1"/>
          </p:nvPr>
        </p:nvSpPr>
        <p:spPr/>
        <p:txBody>
          <a:bodyPr>
            <a:normAutofit/>
          </a:bodyPr>
          <a:lstStyle/>
          <a:p>
            <a:pPr marL="0" indent="0">
              <a:buNone/>
            </a:pPr>
            <a:r>
              <a:rPr lang="en-CA" dirty="0" smtClean="0"/>
              <a:t>In Arabic</a:t>
            </a:r>
          </a:p>
          <a:p>
            <a:r>
              <a:rPr lang="en-CA" dirty="0" smtClean="0"/>
              <a:t>the (.) in </a:t>
            </a:r>
            <a:r>
              <a:rPr lang="en-CA" dirty="0"/>
              <a:t>Arabic means zero, </a:t>
            </a:r>
            <a:endParaRPr lang="en-CA" dirty="0" smtClean="0"/>
          </a:p>
          <a:p>
            <a:r>
              <a:rPr lang="en-CA" dirty="0" smtClean="0"/>
              <a:t>(</a:t>
            </a:r>
            <a:r>
              <a:rPr lang="en-CA" dirty="0"/>
              <a:t>0) means five in </a:t>
            </a:r>
            <a:r>
              <a:rPr lang="en-CA" dirty="0" smtClean="0"/>
              <a:t>Arabic</a:t>
            </a:r>
          </a:p>
          <a:p>
            <a:pPr lvl="1"/>
            <a:r>
              <a:rPr lang="en-CA" dirty="0" smtClean="0"/>
              <a:t>13.6 = 1306</a:t>
            </a:r>
            <a:r>
              <a:rPr lang="en-CA" dirty="0"/>
              <a:t>, </a:t>
            </a:r>
            <a:r>
              <a:rPr lang="en-CA" dirty="0" smtClean="0"/>
              <a:t>250 = </a:t>
            </a:r>
            <a:r>
              <a:rPr lang="en-CA" dirty="0"/>
              <a:t>255. </a:t>
            </a:r>
          </a:p>
          <a:p>
            <a:r>
              <a:rPr lang="en-CA" dirty="0" smtClean="0"/>
              <a:t>Difficulties in reading large numbers</a:t>
            </a:r>
          </a:p>
          <a:p>
            <a:r>
              <a:rPr lang="en-CA" dirty="0" smtClean="0"/>
              <a:t>Units </a:t>
            </a:r>
            <a:r>
              <a:rPr lang="en-CA" dirty="0"/>
              <a:t>of </a:t>
            </a:r>
            <a:r>
              <a:rPr lang="en-CA" dirty="0" smtClean="0"/>
              <a:t>measure: km, kg, mm</a:t>
            </a:r>
          </a:p>
          <a:p>
            <a:r>
              <a:rPr lang="en-CA" dirty="0" smtClean="0"/>
              <a:t>Transfer of mathematical knowledge across languages</a:t>
            </a:r>
            <a:endParaRPr lang="en-CA" dirty="0"/>
          </a:p>
          <a:p>
            <a:endParaRPr lang="en-CA" dirty="0" smtClean="0"/>
          </a:p>
          <a:p>
            <a:endParaRPr lang="en-CA" dirty="0"/>
          </a:p>
        </p:txBody>
      </p:sp>
      <p:sp>
        <p:nvSpPr>
          <p:cNvPr id="4" name="TextBox 3"/>
          <p:cNvSpPr txBox="1"/>
          <p:nvPr/>
        </p:nvSpPr>
        <p:spPr>
          <a:xfrm>
            <a:off x="6629400" y="6172200"/>
            <a:ext cx="2209800" cy="369332"/>
          </a:xfrm>
          <a:prstGeom prst="rect">
            <a:avLst/>
          </a:prstGeom>
          <a:noFill/>
        </p:spPr>
        <p:txBody>
          <a:bodyPr wrap="square" rtlCol="0">
            <a:spAutoFit/>
          </a:bodyPr>
          <a:lstStyle/>
          <a:p>
            <a:pPr algn="r"/>
            <a:r>
              <a:rPr lang="en-CA" dirty="0" err="1" smtClean="0"/>
              <a:t>Yushau</a:t>
            </a:r>
            <a:r>
              <a:rPr lang="en-CA" dirty="0" smtClean="0"/>
              <a:t>, 2004</a:t>
            </a:r>
            <a:endParaRPr lang="en-CA"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10381"/>
            <a:ext cx="2469842" cy="647619"/>
          </a:xfrm>
          <a:prstGeom prst="rect">
            <a:avLst/>
          </a:prstGeom>
        </p:spPr>
      </p:pic>
    </p:spTree>
    <p:extLst>
      <p:ext uri="{BB962C8B-B14F-4D97-AF65-F5344CB8AC3E}">
        <p14:creationId xmlns:p14="http://schemas.microsoft.com/office/powerpoint/2010/main" val="1857425945"/>
      </p:ext>
    </p:extLst>
  </p:cSld>
  <p:clrMapOvr>
    <a:masterClrMapping/>
  </p:clrMapOvr>
  <mc:AlternateContent xmlns:mc="http://schemas.openxmlformats.org/markup-compatibility/2006" xmlns:p14="http://schemas.microsoft.com/office/powerpoint/2010/main">
    <mc:Choice Requires="p14">
      <p:transition spd="slow" p14:dur="2000" advTm="58"/>
    </mc:Choice>
    <mc:Fallback xmlns="">
      <p:transition spd="slow" advTm="58"/>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CA" dirty="0" smtClean="0"/>
              <a:t>Rhetorical Differences – cover letters</a:t>
            </a:r>
            <a:endParaRPr lang="en-CA" dirty="0"/>
          </a:p>
        </p:txBody>
      </p:sp>
      <p:sp>
        <p:nvSpPr>
          <p:cNvPr id="3" name="Content Placeholder 2"/>
          <p:cNvSpPr>
            <a:spLocks noGrp="1"/>
          </p:cNvSpPr>
          <p:nvPr>
            <p:ph sz="quarter" idx="1"/>
          </p:nvPr>
        </p:nvSpPr>
        <p:spPr/>
        <p:txBody>
          <a:bodyPr>
            <a:normAutofit lnSpcReduction="10000"/>
          </a:bodyPr>
          <a:lstStyle/>
          <a:p>
            <a:pPr marL="0" indent="0">
              <a:buNone/>
            </a:pPr>
            <a:r>
              <a:rPr lang="en-CA" dirty="0" smtClean="0"/>
              <a:t>Some strategies do not transfer between cultures</a:t>
            </a:r>
          </a:p>
          <a:p>
            <a:pPr marL="0" indent="0">
              <a:buNone/>
            </a:pPr>
            <a:r>
              <a:rPr lang="en-CA" dirty="0" smtClean="0"/>
              <a:t>When students were asked to write cover letters:</a:t>
            </a:r>
          </a:p>
          <a:p>
            <a:r>
              <a:rPr lang="en-CA" dirty="0"/>
              <a:t>Cultural religious </a:t>
            </a:r>
            <a:r>
              <a:rPr lang="en-CA" dirty="0" smtClean="0"/>
              <a:t>greetings</a:t>
            </a:r>
          </a:p>
          <a:p>
            <a:r>
              <a:rPr lang="en-CA" dirty="0" smtClean="0"/>
              <a:t>‘Glorified </a:t>
            </a:r>
            <a:r>
              <a:rPr lang="en-CA" dirty="0"/>
              <a:t>the institution of the prospective </a:t>
            </a:r>
            <a:r>
              <a:rPr lang="en-CA" dirty="0" smtClean="0"/>
              <a:t>employer’</a:t>
            </a:r>
          </a:p>
          <a:p>
            <a:pPr lvl="1"/>
            <a:r>
              <a:rPr lang="en-CA" dirty="0"/>
              <a:t>Bhatia (</a:t>
            </a:r>
            <a:r>
              <a:rPr lang="en-CA" dirty="0" smtClean="0"/>
              <a:t>1993 in Al-Ali 2004) self-glorification  </a:t>
            </a:r>
            <a:r>
              <a:rPr lang="en-CA" i="1" dirty="0"/>
              <a:t>‘an unsupported claim of the writer’s own superiority based simply on feeling or desire rather than on rational judgment</a:t>
            </a:r>
            <a:r>
              <a:rPr lang="en-CA" i="1" dirty="0" smtClean="0"/>
              <a:t>’</a:t>
            </a:r>
            <a:endParaRPr lang="en-CA" i="1" dirty="0"/>
          </a:p>
          <a:p>
            <a:r>
              <a:rPr lang="en-CA" dirty="0" smtClean="0"/>
              <a:t>Invoking compassion</a:t>
            </a:r>
          </a:p>
          <a:p>
            <a:endParaRPr lang="en-CA" dirty="0" smtClean="0"/>
          </a:p>
          <a:p>
            <a:pPr marL="0" indent="0">
              <a:buNone/>
            </a:pPr>
            <a:endParaRPr lang="en-CA" dirty="0"/>
          </a:p>
        </p:txBody>
      </p:sp>
      <p:sp>
        <p:nvSpPr>
          <p:cNvPr id="4" name="TextBox 3"/>
          <p:cNvSpPr txBox="1"/>
          <p:nvPr/>
        </p:nvSpPr>
        <p:spPr>
          <a:xfrm>
            <a:off x="4800600" y="6019800"/>
            <a:ext cx="4038600" cy="369332"/>
          </a:xfrm>
          <a:prstGeom prst="rect">
            <a:avLst/>
          </a:prstGeom>
          <a:noFill/>
        </p:spPr>
        <p:txBody>
          <a:bodyPr wrap="square" rtlCol="0">
            <a:spAutoFit/>
          </a:bodyPr>
          <a:lstStyle/>
          <a:p>
            <a:pPr algn="r"/>
            <a:r>
              <a:rPr lang="en-CA" dirty="0" smtClean="0"/>
              <a:t>Al-Ali 2004</a:t>
            </a:r>
            <a:endParaRPr lang="en-CA"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10381"/>
            <a:ext cx="2469842" cy="647619"/>
          </a:xfrm>
          <a:prstGeom prst="rect">
            <a:avLst/>
          </a:prstGeom>
        </p:spPr>
      </p:pic>
    </p:spTree>
    <p:extLst>
      <p:ext uri="{BB962C8B-B14F-4D97-AF65-F5344CB8AC3E}">
        <p14:creationId xmlns:p14="http://schemas.microsoft.com/office/powerpoint/2010/main" val="3397989913"/>
      </p:ext>
    </p:extLst>
  </p:cSld>
  <p:clrMapOvr>
    <a:masterClrMapping/>
  </p:clrMapOvr>
  <mc:AlternateContent xmlns:mc="http://schemas.openxmlformats.org/markup-compatibility/2006" xmlns:p14="http://schemas.microsoft.com/office/powerpoint/2010/main">
    <mc:Choice Requires="p14">
      <p:transition spd="slow" p14:dur="2000" advTm="69"/>
    </mc:Choice>
    <mc:Fallback xmlns="">
      <p:transition spd="slow" advTm="69"/>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CA" dirty="0" smtClean="0"/>
              <a:t>Is the mountain to high?</a:t>
            </a:r>
            <a:endParaRPr lang="en-CA" dirty="0"/>
          </a:p>
        </p:txBody>
      </p:sp>
      <p:sp>
        <p:nvSpPr>
          <p:cNvPr id="5" name="Title 1"/>
          <p:cNvSpPr>
            <a:spLocks noGrp="1"/>
          </p:cNvSpPr>
          <p:nvPr>
            <p:ph type="ctrTitle"/>
          </p:nvPr>
        </p:nvSpPr>
        <p:spPr>
          <a:xfrm>
            <a:off x="0" y="4038600"/>
            <a:ext cx="9067800" cy="1828800"/>
          </a:xfrm>
        </p:spPr>
        <p:txBody>
          <a:bodyPr>
            <a:normAutofit fontScale="90000"/>
          </a:bodyPr>
          <a:lstStyle/>
          <a:p>
            <a:pPr algn="r"/>
            <a:r>
              <a:rPr lang="en-CA" dirty="0"/>
              <a:t>Business English programs for Saudi students: </a:t>
            </a:r>
            <a:r>
              <a:rPr lang="en-CA" dirty="0" smtClean="0"/>
              <a:t/>
            </a:r>
            <a:br>
              <a:rPr lang="en-CA" dirty="0" smtClean="0"/>
            </a:br>
            <a:r>
              <a:rPr lang="en-CA" dirty="0" smtClean="0"/>
              <a:t>using </a:t>
            </a:r>
            <a:r>
              <a:rPr lang="en-CA" dirty="0"/>
              <a:t>classroom hours effectively</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02367"/>
            <a:ext cx="2209800" cy="579433"/>
          </a:xfrm>
          <a:prstGeom prst="rect">
            <a:avLst/>
          </a:prstGeom>
        </p:spPr>
      </p:pic>
    </p:spTree>
    <p:extLst>
      <p:ext uri="{BB962C8B-B14F-4D97-AF65-F5344CB8AC3E}">
        <p14:creationId xmlns:p14="http://schemas.microsoft.com/office/powerpoint/2010/main" val="3798904667"/>
      </p:ext>
    </p:extLst>
  </p:cSld>
  <p:clrMapOvr>
    <a:masterClrMapping/>
  </p:clrMapOvr>
  <mc:AlternateContent xmlns:mc="http://schemas.openxmlformats.org/markup-compatibility/2006" xmlns:p14="http://schemas.microsoft.com/office/powerpoint/2010/main">
    <mc:Choice Requires="p14">
      <p:transition spd="slow" p14:dur="2000" advTm="55"/>
    </mc:Choice>
    <mc:Fallback xmlns="">
      <p:transition spd="slow" advTm="55"/>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CA" dirty="0" smtClean="0"/>
              <a:t>In summary and solution - linguistically</a:t>
            </a:r>
            <a:endParaRPr lang="en-CA" dirty="0"/>
          </a:p>
        </p:txBody>
      </p:sp>
      <p:sp>
        <p:nvSpPr>
          <p:cNvPr id="3" name="Content Placeholder 2"/>
          <p:cNvSpPr>
            <a:spLocks noGrp="1"/>
          </p:cNvSpPr>
          <p:nvPr>
            <p:ph sz="quarter" idx="1"/>
          </p:nvPr>
        </p:nvSpPr>
        <p:spPr/>
        <p:txBody>
          <a:bodyPr>
            <a:normAutofit/>
          </a:bodyPr>
          <a:lstStyle/>
          <a:p>
            <a:pPr marL="0" indent="0">
              <a:buNone/>
            </a:pPr>
            <a:r>
              <a:rPr lang="en-CA" b="1" dirty="0" smtClean="0"/>
              <a:t> </a:t>
            </a:r>
          </a:p>
          <a:p>
            <a:pPr marL="0" indent="0">
              <a:buNone/>
            </a:pPr>
            <a:r>
              <a:rPr lang="en-CA" b="1" i="1" dirty="0" smtClean="0"/>
              <a:t>Grammar issues</a:t>
            </a:r>
          </a:p>
          <a:p>
            <a:pPr marL="0" indent="0">
              <a:buNone/>
            </a:pPr>
            <a:r>
              <a:rPr lang="en-CA" b="1" i="1" dirty="0" smtClean="0"/>
              <a:t>Spelling issues</a:t>
            </a:r>
          </a:p>
          <a:p>
            <a:pPr marL="0" indent="0">
              <a:buNone/>
            </a:pPr>
            <a:r>
              <a:rPr lang="en-CA" b="1" i="1" dirty="0" smtClean="0"/>
              <a:t>Pronunciation issues</a:t>
            </a:r>
            <a:endParaRPr lang="en-CA" b="1" i="1"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10381"/>
            <a:ext cx="2469842" cy="647619"/>
          </a:xfrm>
          <a:prstGeom prst="rect">
            <a:avLst/>
          </a:prstGeom>
        </p:spPr>
      </p:pic>
    </p:spTree>
    <p:extLst>
      <p:ext uri="{BB962C8B-B14F-4D97-AF65-F5344CB8AC3E}">
        <p14:creationId xmlns:p14="http://schemas.microsoft.com/office/powerpoint/2010/main" val="2107944737"/>
      </p:ext>
    </p:extLst>
  </p:cSld>
  <p:clrMapOvr>
    <a:masterClrMapping/>
  </p:clrMapOvr>
  <mc:AlternateContent xmlns:mc="http://schemas.openxmlformats.org/markup-compatibility/2006" xmlns:p14="http://schemas.microsoft.com/office/powerpoint/2010/main">
    <mc:Choice Requires="p14">
      <p:transition spd="slow" p14:dur="2000" advTm="51"/>
    </mc:Choice>
    <mc:Fallback xmlns="">
      <p:transition spd="slow" advTm="51"/>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CA" dirty="0" smtClean="0"/>
              <a:t>In summary and solution - linguistically</a:t>
            </a:r>
            <a:endParaRPr lang="en-CA" dirty="0"/>
          </a:p>
        </p:txBody>
      </p:sp>
      <p:sp>
        <p:nvSpPr>
          <p:cNvPr id="3" name="Content Placeholder 2"/>
          <p:cNvSpPr>
            <a:spLocks noGrp="1"/>
          </p:cNvSpPr>
          <p:nvPr>
            <p:ph sz="quarter" idx="1"/>
          </p:nvPr>
        </p:nvSpPr>
        <p:spPr/>
        <p:txBody>
          <a:bodyPr>
            <a:normAutofit/>
          </a:bodyPr>
          <a:lstStyle/>
          <a:p>
            <a:pPr marL="0" indent="0">
              <a:buNone/>
            </a:pPr>
            <a:r>
              <a:rPr lang="en-CA" b="1" dirty="0" smtClean="0"/>
              <a:t> </a:t>
            </a:r>
          </a:p>
          <a:p>
            <a:pPr marL="0" indent="0">
              <a:buNone/>
            </a:pPr>
            <a:r>
              <a:rPr lang="en-CA" b="1" i="1" dirty="0" smtClean="0"/>
              <a:t>Grammar issues </a:t>
            </a:r>
            <a:r>
              <a:rPr lang="en-CA" i="1" dirty="0" smtClean="0"/>
              <a:t>– intensive formulaic writing IN CLASS</a:t>
            </a:r>
          </a:p>
          <a:p>
            <a:pPr marL="0" indent="0">
              <a:buNone/>
            </a:pPr>
            <a:r>
              <a:rPr lang="en-CA" b="1" i="1" dirty="0" smtClean="0"/>
              <a:t>Spelling issues </a:t>
            </a:r>
            <a:r>
              <a:rPr lang="en-CA" i="1" dirty="0" smtClean="0"/>
              <a:t>– etymology, basic phoneme practice, dictionary practice</a:t>
            </a:r>
          </a:p>
          <a:p>
            <a:pPr marL="0" indent="0">
              <a:buNone/>
            </a:pPr>
            <a:r>
              <a:rPr lang="en-CA" b="1" i="1" dirty="0" smtClean="0"/>
              <a:t>Pronunciation issues </a:t>
            </a:r>
            <a:r>
              <a:rPr lang="en-CA" i="1" dirty="0" smtClean="0"/>
              <a:t>– focused exercises, minimal pair practice</a:t>
            </a:r>
            <a:endParaRPr lang="en-CA" i="1"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10381"/>
            <a:ext cx="2469842" cy="647619"/>
          </a:xfrm>
          <a:prstGeom prst="rect">
            <a:avLst/>
          </a:prstGeom>
        </p:spPr>
      </p:pic>
    </p:spTree>
    <p:extLst>
      <p:ext uri="{BB962C8B-B14F-4D97-AF65-F5344CB8AC3E}">
        <p14:creationId xmlns:p14="http://schemas.microsoft.com/office/powerpoint/2010/main" val="1306854240"/>
      </p:ext>
    </p:extLst>
  </p:cSld>
  <p:clrMapOvr>
    <a:masterClrMapping/>
  </p:clrMapOvr>
  <mc:AlternateContent xmlns:mc="http://schemas.openxmlformats.org/markup-compatibility/2006" xmlns:p14="http://schemas.microsoft.com/office/powerpoint/2010/main">
    <mc:Choice Requires="p14">
      <p:transition spd="slow" p14:dur="2000" advTm="61"/>
    </mc:Choice>
    <mc:Fallback xmlns="">
      <p:transition spd="slow" advTm="61"/>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3800" dirty="0" smtClean="0"/>
              <a:t>In summary and solution - pedagogically</a:t>
            </a:r>
            <a:endParaRPr lang="en-CA" sz="3800" dirty="0"/>
          </a:p>
        </p:txBody>
      </p:sp>
      <p:sp>
        <p:nvSpPr>
          <p:cNvPr id="3" name="Content Placeholder 2"/>
          <p:cNvSpPr>
            <a:spLocks noGrp="1"/>
          </p:cNvSpPr>
          <p:nvPr>
            <p:ph sz="quarter" idx="1"/>
          </p:nvPr>
        </p:nvSpPr>
        <p:spPr/>
        <p:txBody>
          <a:bodyPr>
            <a:normAutofit/>
          </a:bodyPr>
          <a:lstStyle/>
          <a:p>
            <a:pPr marL="0" indent="0">
              <a:buNone/>
            </a:pPr>
            <a:r>
              <a:rPr lang="en-CA" dirty="0" smtClean="0"/>
              <a:t>Problems:</a:t>
            </a:r>
          </a:p>
          <a:p>
            <a:pPr marL="0" indent="0">
              <a:buNone/>
            </a:pPr>
            <a:r>
              <a:rPr lang="en-CA" b="1" dirty="0" smtClean="0"/>
              <a:t>Skill deficits</a:t>
            </a:r>
          </a:p>
          <a:p>
            <a:pPr marL="0" indent="0">
              <a:buNone/>
            </a:pPr>
            <a:r>
              <a:rPr lang="en-CA" b="1" dirty="0" smtClean="0"/>
              <a:t>Critical thinking skills</a:t>
            </a:r>
          </a:p>
          <a:p>
            <a:pPr marL="0" indent="0">
              <a:buNone/>
            </a:pPr>
            <a:r>
              <a:rPr lang="en-CA" b="1" dirty="0" smtClean="0"/>
              <a:t>Rhetorical styles</a:t>
            </a:r>
          </a:p>
          <a:p>
            <a:pPr marL="0" indent="0">
              <a:buNone/>
            </a:pPr>
            <a:r>
              <a:rPr lang="en-CA" b="1" dirty="0" smtClean="0"/>
              <a:t>Literacy</a:t>
            </a:r>
          </a:p>
          <a:p>
            <a:pPr marL="0" indent="0">
              <a:buNone/>
            </a:pPr>
            <a:r>
              <a:rPr lang="en-CA" b="1" dirty="0" smtClean="0"/>
              <a:t>Innumeracy </a:t>
            </a:r>
          </a:p>
          <a:p>
            <a:pPr marL="0" indent="0">
              <a:buNone/>
            </a:pPr>
            <a:endParaRPr lang="en-CA" i="1"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10381"/>
            <a:ext cx="2469842" cy="647619"/>
          </a:xfrm>
          <a:prstGeom prst="rect">
            <a:avLst/>
          </a:prstGeom>
        </p:spPr>
      </p:pic>
    </p:spTree>
    <p:extLst>
      <p:ext uri="{BB962C8B-B14F-4D97-AF65-F5344CB8AC3E}">
        <p14:creationId xmlns:p14="http://schemas.microsoft.com/office/powerpoint/2010/main" val="1131864344"/>
      </p:ext>
    </p:extLst>
  </p:cSld>
  <p:clrMapOvr>
    <a:masterClrMapping/>
  </p:clrMapOvr>
  <mc:AlternateContent xmlns:mc="http://schemas.openxmlformats.org/markup-compatibility/2006" xmlns:p14="http://schemas.microsoft.com/office/powerpoint/2010/main">
    <mc:Choice Requires="p14">
      <p:transition spd="slow" p14:dur="2000" advTm="52"/>
    </mc:Choice>
    <mc:Fallback xmlns="">
      <p:transition spd="slow" advTm="52"/>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3800" dirty="0" smtClean="0"/>
              <a:t>In summary and solution - pedagogically</a:t>
            </a:r>
            <a:endParaRPr lang="en-CA" sz="3800" dirty="0"/>
          </a:p>
        </p:txBody>
      </p:sp>
      <p:sp>
        <p:nvSpPr>
          <p:cNvPr id="3" name="Content Placeholder 2"/>
          <p:cNvSpPr>
            <a:spLocks noGrp="1"/>
          </p:cNvSpPr>
          <p:nvPr>
            <p:ph sz="quarter" idx="1"/>
          </p:nvPr>
        </p:nvSpPr>
        <p:spPr>
          <a:xfrm>
            <a:off x="612648" y="1600200"/>
            <a:ext cx="8153400" cy="4572000"/>
          </a:xfrm>
        </p:spPr>
        <p:txBody>
          <a:bodyPr>
            <a:normAutofit lnSpcReduction="10000"/>
          </a:bodyPr>
          <a:lstStyle/>
          <a:p>
            <a:pPr marL="0" indent="0">
              <a:buNone/>
            </a:pPr>
            <a:r>
              <a:rPr lang="en-CA" dirty="0" smtClean="0"/>
              <a:t>Problems:</a:t>
            </a:r>
          </a:p>
          <a:p>
            <a:pPr marL="0" indent="0">
              <a:buNone/>
            </a:pPr>
            <a:r>
              <a:rPr lang="en-CA" b="1" dirty="0" smtClean="0"/>
              <a:t>Skill deficits </a:t>
            </a:r>
            <a:r>
              <a:rPr lang="en-CA" dirty="0" smtClean="0"/>
              <a:t>– ESP classes/focused projects in areas of interest</a:t>
            </a:r>
          </a:p>
          <a:p>
            <a:pPr marL="0" indent="0">
              <a:buNone/>
            </a:pPr>
            <a:r>
              <a:rPr lang="en-CA" b="1" dirty="0" smtClean="0"/>
              <a:t>Critical thinking skills </a:t>
            </a:r>
            <a:r>
              <a:rPr lang="en-CA" dirty="0" smtClean="0"/>
              <a:t>– simple analytical problem solving</a:t>
            </a:r>
          </a:p>
          <a:p>
            <a:pPr marL="0" indent="0">
              <a:buNone/>
            </a:pPr>
            <a:r>
              <a:rPr lang="en-CA" b="1" dirty="0" smtClean="0"/>
              <a:t>Rhetorical styles </a:t>
            </a:r>
            <a:r>
              <a:rPr lang="en-CA" dirty="0" smtClean="0"/>
              <a:t>– explicit instruction with clear outlines</a:t>
            </a:r>
          </a:p>
          <a:p>
            <a:pPr marL="0" indent="0">
              <a:buNone/>
            </a:pPr>
            <a:r>
              <a:rPr lang="en-CA" b="1" dirty="0" smtClean="0"/>
              <a:t>Literacy</a:t>
            </a:r>
            <a:r>
              <a:rPr lang="en-CA" dirty="0" smtClean="0"/>
              <a:t> – in class reading, extensive reading and dictionary work (former students &amp; course profs)</a:t>
            </a:r>
          </a:p>
          <a:p>
            <a:pPr marL="0" indent="0">
              <a:buNone/>
            </a:pPr>
            <a:r>
              <a:rPr lang="en-CA" b="1" dirty="0" smtClean="0"/>
              <a:t>Innumeracy</a:t>
            </a:r>
            <a:r>
              <a:rPr lang="en-CA" dirty="0" smtClean="0"/>
              <a:t> – simple mathematical business problems</a:t>
            </a:r>
          </a:p>
          <a:p>
            <a:pPr marL="0" indent="0">
              <a:buNone/>
            </a:pPr>
            <a:endParaRPr lang="en-CA" i="1"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10381"/>
            <a:ext cx="2469842" cy="647619"/>
          </a:xfrm>
          <a:prstGeom prst="rect">
            <a:avLst/>
          </a:prstGeom>
        </p:spPr>
      </p:pic>
    </p:spTree>
    <p:extLst>
      <p:ext uri="{BB962C8B-B14F-4D97-AF65-F5344CB8AC3E}">
        <p14:creationId xmlns:p14="http://schemas.microsoft.com/office/powerpoint/2010/main" val="514062266"/>
      </p:ext>
    </p:extLst>
  </p:cSld>
  <p:clrMapOvr>
    <a:masterClrMapping/>
  </p:clrMapOvr>
  <mc:AlternateContent xmlns:mc="http://schemas.openxmlformats.org/markup-compatibility/2006" xmlns:p14="http://schemas.microsoft.com/office/powerpoint/2010/main">
    <mc:Choice Requires="p14">
      <p:transition spd="slow" p14:dur="2000" advTm="36"/>
    </mc:Choice>
    <mc:Fallback xmlns="">
      <p:transition spd="slow" advTm="36"/>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The takeaway- can we do it?	</a:t>
            </a:r>
            <a:endParaRPr lang="en-CA" dirty="0"/>
          </a:p>
        </p:txBody>
      </p:sp>
      <p:sp>
        <p:nvSpPr>
          <p:cNvPr id="3" name="Content Placeholder 2"/>
          <p:cNvSpPr>
            <a:spLocks noGrp="1"/>
          </p:cNvSpPr>
          <p:nvPr>
            <p:ph sz="quarter" idx="1"/>
          </p:nvPr>
        </p:nvSpPr>
        <p:spPr/>
        <p:txBody>
          <a:bodyPr/>
          <a:lstStyle/>
          <a:p>
            <a:r>
              <a:rPr lang="en-CA" dirty="0" smtClean="0"/>
              <a:t>Face significant pedagogical/linguistic challenges</a:t>
            </a:r>
          </a:p>
          <a:p>
            <a:r>
              <a:rPr lang="en-CA" dirty="0" smtClean="0"/>
              <a:t>But we’ve faced similar from other countries and overcome, this is no different.</a:t>
            </a:r>
          </a:p>
          <a:p>
            <a:r>
              <a:rPr lang="en-CA" dirty="0" smtClean="0"/>
              <a:t>Success is a combined effort on the part of the teacher and the </a:t>
            </a:r>
            <a:r>
              <a:rPr lang="en-CA" dirty="0"/>
              <a:t>student (</a:t>
            </a:r>
            <a:r>
              <a:rPr lang="en-CA" dirty="0" err="1" smtClean="0"/>
              <a:t>Bersamina</a:t>
            </a:r>
            <a:r>
              <a:rPr lang="en-CA" dirty="0" smtClean="0"/>
              <a:t>, 2009)</a:t>
            </a:r>
          </a:p>
          <a:p>
            <a:r>
              <a:rPr lang="ar-AE" dirty="0"/>
              <a:t/>
            </a:r>
            <a:br>
              <a:rPr lang="ar-AE" dirty="0"/>
            </a:br>
            <a:r>
              <a:rPr lang="ar-AE" dirty="0"/>
              <a:t>بإمكان أن تقود الخيل للماء. ولكن، لن تستطيع اجباره لشربه</a:t>
            </a:r>
            <a:endParaRPr lang="en-CA" dirty="0" smtClean="0"/>
          </a:p>
          <a:p>
            <a:pPr marL="0" indent="0" algn="ctr">
              <a:buNone/>
            </a:pPr>
            <a:r>
              <a:rPr lang="en-CA" sz="2400" dirty="0" smtClean="0"/>
              <a:t>“you can take a horse to water, but you can’t make it drink”</a:t>
            </a:r>
            <a:endParaRPr lang="en-CA" sz="24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10381"/>
            <a:ext cx="2469842" cy="647619"/>
          </a:xfrm>
          <a:prstGeom prst="rect">
            <a:avLst/>
          </a:prstGeom>
        </p:spPr>
      </p:pic>
    </p:spTree>
    <p:extLst>
      <p:ext uri="{BB962C8B-B14F-4D97-AF65-F5344CB8AC3E}">
        <p14:creationId xmlns:p14="http://schemas.microsoft.com/office/powerpoint/2010/main" val="235358120"/>
      </p:ext>
    </p:extLst>
  </p:cSld>
  <p:clrMapOvr>
    <a:masterClrMapping/>
  </p:clrMapOvr>
  <mc:AlternateContent xmlns:mc="http://schemas.openxmlformats.org/markup-compatibility/2006" xmlns:p14="http://schemas.microsoft.com/office/powerpoint/2010/main">
    <mc:Choice Requires="p14">
      <p:transition spd="slow" p14:dur="2000" advTm="71"/>
    </mc:Choice>
    <mc:Fallback xmlns="">
      <p:transition spd="slow" advTm="71"/>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CA" dirty="0" smtClean="0"/>
              <a:t>Thank you – references to follow</a:t>
            </a:r>
            <a:endParaRPr lang="en-CA" dirty="0"/>
          </a:p>
        </p:txBody>
      </p:sp>
      <p:sp>
        <p:nvSpPr>
          <p:cNvPr id="5" name="Title 1"/>
          <p:cNvSpPr>
            <a:spLocks noGrp="1"/>
          </p:cNvSpPr>
          <p:nvPr>
            <p:ph type="ctrTitle"/>
          </p:nvPr>
        </p:nvSpPr>
        <p:spPr>
          <a:xfrm>
            <a:off x="0" y="4038600"/>
            <a:ext cx="9067800" cy="1828800"/>
          </a:xfrm>
        </p:spPr>
        <p:txBody>
          <a:bodyPr>
            <a:normAutofit fontScale="90000"/>
          </a:bodyPr>
          <a:lstStyle/>
          <a:p>
            <a:pPr algn="r"/>
            <a:r>
              <a:rPr lang="en-CA" dirty="0"/>
              <a:t>Business English programs for Saudi students: </a:t>
            </a:r>
            <a:r>
              <a:rPr lang="en-CA" dirty="0" smtClean="0"/>
              <a:t/>
            </a:r>
            <a:br>
              <a:rPr lang="en-CA" dirty="0" smtClean="0"/>
            </a:br>
            <a:r>
              <a:rPr lang="en-CA" dirty="0" smtClean="0"/>
              <a:t>using </a:t>
            </a:r>
            <a:r>
              <a:rPr lang="en-CA" dirty="0"/>
              <a:t>classroom hours effectively</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0"/>
            <a:ext cx="1905000" cy="499511"/>
          </a:xfrm>
          <a:prstGeom prst="rect">
            <a:avLst/>
          </a:prstGeom>
        </p:spPr>
      </p:pic>
    </p:spTree>
    <p:extLst>
      <p:ext uri="{BB962C8B-B14F-4D97-AF65-F5344CB8AC3E}">
        <p14:creationId xmlns:p14="http://schemas.microsoft.com/office/powerpoint/2010/main" val="1914689229"/>
      </p:ext>
    </p:extLst>
  </p:cSld>
  <p:clrMapOvr>
    <a:masterClrMapping/>
  </p:clrMapOvr>
  <mc:AlternateContent xmlns:mc="http://schemas.openxmlformats.org/markup-compatibility/2006" xmlns:p14="http://schemas.microsoft.com/office/powerpoint/2010/main">
    <mc:Choice Requires="p14">
      <p:transition spd="slow" p14:dur="2000" advTm="29"/>
    </mc:Choice>
    <mc:Fallback xmlns="">
      <p:transition spd="slow" advTm="29"/>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References</a:t>
            </a:r>
            <a:endParaRPr lang="en-CA" dirty="0"/>
          </a:p>
        </p:txBody>
      </p:sp>
      <p:sp>
        <p:nvSpPr>
          <p:cNvPr id="3" name="Content Placeholder 2"/>
          <p:cNvSpPr>
            <a:spLocks noGrp="1"/>
          </p:cNvSpPr>
          <p:nvPr>
            <p:ph sz="quarter" idx="1"/>
          </p:nvPr>
        </p:nvSpPr>
        <p:spPr/>
        <p:txBody>
          <a:bodyPr>
            <a:normAutofit fontScale="32500" lnSpcReduction="20000"/>
          </a:bodyPr>
          <a:lstStyle/>
          <a:p>
            <a:r>
              <a:rPr lang="en-CA" dirty="0" err="1" smtClean="0"/>
              <a:t>Abaalkhail</a:t>
            </a:r>
            <a:r>
              <a:rPr lang="en-CA" dirty="0"/>
              <a:t>, F. A.  (November 20, 2011) CBIE’S 45</a:t>
            </a:r>
            <a:r>
              <a:rPr lang="en-CA" baseline="30000" dirty="0"/>
              <a:t>th</a:t>
            </a:r>
            <a:r>
              <a:rPr lang="en-CA" dirty="0"/>
              <a:t> Annual conference on international education. </a:t>
            </a:r>
            <a:r>
              <a:rPr lang="en-CA" i="1" dirty="0"/>
              <a:t>Saudi Arabian Cultural Attaché in Canada </a:t>
            </a:r>
            <a:r>
              <a:rPr lang="en-CA" dirty="0"/>
              <a:t>Ottawa, Ontario </a:t>
            </a:r>
          </a:p>
          <a:p>
            <a:r>
              <a:rPr lang="en-CA" dirty="0"/>
              <a:t>Al-Ali, M. (2004) How to Get Yourself on the Door of a Job: A Cross-cultural Contrastive Study of Arabic and English Job Application Letters Journal of Multilingual and Multicultural Development l. 25, 1</a:t>
            </a:r>
          </a:p>
          <a:p>
            <a:r>
              <a:rPr lang="en-US" dirty="0" err="1"/>
              <a:t>Alosaimi</a:t>
            </a:r>
            <a:r>
              <a:rPr lang="en-US" dirty="0"/>
              <a:t>, N. (30 November2007), </a:t>
            </a:r>
            <a:r>
              <a:rPr lang="en-US" i="1" dirty="0"/>
              <a:t>English Teachers Not Always Qualified,</a:t>
            </a:r>
            <a:r>
              <a:rPr lang="en-US" dirty="0"/>
              <a:t> Arab News, 30 November. </a:t>
            </a:r>
            <a:r>
              <a:rPr lang="en-CA" dirty="0"/>
              <a:t>Retrieved from</a:t>
            </a:r>
            <a:r>
              <a:rPr lang="en-US" dirty="0"/>
              <a:t>     </a:t>
            </a:r>
            <a:r>
              <a:rPr lang="en-US" u="sng" dirty="0">
                <a:hlinkClick r:id="rId2"/>
              </a:rPr>
              <a:t>http://www.arabnews.com/?</a:t>
            </a:r>
            <a:r>
              <a:rPr lang="en-US" u="sng" dirty="0" smtClean="0">
                <a:hlinkClick r:id="rId2"/>
              </a:rPr>
              <a:t>page=1&amp;section=0&amp;article=104142&amp;d=30&amp;m=11&amp;y=2007</a:t>
            </a:r>
            <a:endParaRPr lang="en-US" u="sng" dirty="0" smtClean="0"/>
          </a:p>
          <a:p>
            <a:r>
              <a:rPr lang="en-CA" dirty="0" err="1" smtClean="0"/>
              <a:t>Alsharif</a:t>
            </a:r>
            <a:r>
              <a:rPr lang="en-CA" dirty="0" smtClean="0"/>
              <a:t>, K., </a:t>
            </a:r>
            <a:r>
              <a:rPr lang="en-CA" dirty="0" err="1" smtClean="0"/>
              <a:t>Atweh</a:t>
            </a:r>
            <a:r>
              <a:rPr lang="en-CA" dirty="0" smtClean="0"/>
              <a:t>, B. (2010</a:t>
            </a:r>
            <a:r>
              <a:rPr lang="en-CA" i="1" dirty="0" smtClean="0"/>
              <a:t>) Gaps </a:t>
            </a:r>
            <a:r>
              <a:rPr lang="en-CA" i="1" dirty="0"/>
              <a:t>in Understanding and Implementing Connectedness in Mathematics </a:t>
            </a:r>
            <a:r>
              <a:rPr lang="en-CA" i="1" dirty="0" smtClean="0"/>
              <a:t>Teaching by </a:t>
            </a:r>
            <a:r>
              <a:rPr lang="en-CA" i="1" dirty="0"/>
              <a:t>Saudi Student </a:t>
            </a:r>
            <a:r>
              <a:rPr lang="en-CA" i="1" dirty="0" smtClean="0"/>
              <a:t>Teachers</a:t>
            </a:r>
            <a:r>
              <a:rPr lang="en-CA" i="1" dirty="0"/>
              <a:t>. </a:t>
            </a:r>
            <a:r>
              <a:rPr lang="en-CA" dirty="0"/>
              <a:t>AARE International Education Research Conference 2010, Nov 28, 2010, Melbourne, Victoria. Retrieved from</a:t>
            </a:r>
            <a:r>
              <a:rPr lang="en-US" dirty="0"/>
              <a:t> </a:t>
            </a:r>
            <a:r>
              <a:rPr lang="en-CA" i="1" dirty="0"/>
              <a:t>www.aare.edu.au/10pap/2525Alsharif</a:t>
            </a:r>
            <a:r>
              <a:rPr lang="en-CA" b="1" i="1" dirty="0"/>
              <a:t>Atweh</a:t>
            </a:r>
            <a:r>
              <a:rPr lang="en-CA" i="1" dirty="0"/>
              <a:t>.pdf</a:t>
            </a:r>
            <a:endParaRPr lang="en-CA" i="1" dirty="0" smtClean="0"/>
          </a:p>
          <a:p>
            <a:r>
              <a:rPr lang="en-CA" dirty="0" err="1" smtClean="0"/>
              <a:t>Bersamina</a:t>
            </a:r>
            <a:r>
              <a:rPr lang="en-CA" dirty="0"/>
              <a:t>, F. (2009) English as Second Language (ESL) Learners in Saudi Arabia A Case Study. Retrieved from </a:t>
            </a:r>
            <a:r>
              <a:rPr lang="en-CA" u="sng" dirty="0">
                <a:hlinkClick r:id="rId3"/>
              </a:rPr>
              <a:t>http://voices.yahoo.com/english-as-second-language-esl-learners-saudi-arabia-2899149.html</a:t>
            </a:r>
            <a:endParaRPr lang="en-CA" dirty="0"/>
          </a:p>
          <a:p>
            <a:r>
              <a:rPr lang="en-CA" dirty="0"/>
              <a:t>CIA </a:t>
            </a:r>
            <a:r>
              <a:rPr lang="en-CA" dirty="0" err="1"/>
              <a:t>Factbook</a:t>
            </a:r>
            <a:r>
              <a:rPr lang="en-CA" dirty="0"/>
              <a:t> (2012) Saudi Arabia Retrieved from https://www.cia.gov/library/publications/the-world-factbook/geos/sa.html</a:t>
            </a:r>
          </a:p>
          <a:p>
            <a:r>
              <a:rPr lang="en-CA" dirty="0"/>
              <a:t>Cook, A  (2012) </a:t>
            </a:r>
            <a:r>
              <a:rPr lang="en-CA" i="1" dirty="0"/>
              <a:t>American Accent training 3rd Edition Revised &amp; Enlarged </a:t>
            </a:r>
            <a:r>
              <a:rPr lang="en-CA" dirty="0" err="1"/>
              <a:t>Barrons</a:t>
            </a:r>
            <a:r>
              <a:rPr lang="en-CA" dirty="0"/>
              <a:t> NY, NY</a:t>
            </a:r>
          </a:p>
          <a:p>
            <a:r>
              <a:rPr lang="en-CA" dirty="0"/>
              <a:t>Cummins, J. (1979). Cognitive/academic language proficiency, linguistic interdependence, the optimum age question and some other matters. </a:t>
            </a:r>
            <a:r>
              <a:rPr lang="en-CA" i="1" dirty="0"/>
              <a:t>Working Papers on Bilingualism</a:t>
            </a:r>
            <a:r>
              <a:rPr lang="en-CA" dirty="0"/>
              <a:t>, No. 19, 121-129. </a:t>
            </a:r>
          </a:p>
          <a:p>
            <a:r>
              <a:rPr lang="en-CA" dirty="0"/>
              <a:t>Cummins, J. (1980). Psychological assessment of immigrant children: Logic or intuition</a:t>
            </a:r>
            <a:r>
              <a:rPr lang="en-CA" i="1" dirty="0"/>
              <a:t>? Journal of Multilingual and Multicultural Development. 1</a:t>
            </a:r>
            <a:r>
              <a:rPr lang="en-CA" dirty="0"/>
              <a:t>, 97-lll. </a:t>
            </a:r>
            <a:endParaRPr lang="en-CA" dirty="0" smtClean="0"/>
          </a:p>
          <a:p>
            <a:r>
              <a:rPr lang="en-CA" dirty="0" smtClean="0"/>
              <a:t>Economist, (23 June 2012) The </a:t>
            </a:r>
            <a:r>
              <a:rPr lang="en-CA" dirty="0"/>
              <a:t>long day </a:t>
            </a:r>
            <a:r>
              <a:rPr lang="en-CA" dirty="0" smtClean="0"/>
              <a:t>closes: As </a:t>
            </a:r>
            <a:r>
              <a:rPr lang="en-CA" dirty="0"/>
              <a:t>royal heirs succumb to old age, Saudi Arabia faces an uncertain </a:t>
            </a:r>
            <a:r>
              <a:rPr lang="en-CA" dirty="0" smtClean="0"/>
              <a:t>future. </a:t>
            </a:r>
            <a:r>
              <a:rPr lang="en-CA" i="1" dirty="0" smtClean="0"/>
              <a:t>The Economist Online. </a:t>
            </a:r>
            <a:r>
              <a:rPr lang="en-CA" dirty="0" smtClean="0"/>
              <a:t> </a:t>
            </a:r>
            <a:r>
              <a:rPr lang="en-CA" dirty="0"/>
              <a:t>Retrieved from </a:t>
            </a:r>
            <a:r>
              <a:rPr lang="en-CA" b="1" dirty="0">
                <a:hlinkClick r:id="rId4"/>
              </a:rPr>
              <a:t>http://</a:t>
            </a:r>
            <a:r>
              <a:rPr lang="en-CA" b="1" dirty="0" smtClean="0">
                <a:hlinkClick r:id="rId4"/>
              </a:rPr>
              <a:t>www.economist.com/node/21557327</a:t>
            </a:r>
            <a:r>
              <a:rPr lang="en-CA" b="1" dirty="0" smtClean="0"/>
              <a:t> </a:t>
            </a:r>
            <a:endParaRPr lang="en-CA" b="1" dirty="0"/>
          </a:p>
          <a:p>
            <a:r>
              <a:rPr lang="en-CA" dirty="0" err="1" smtClean="0"/>
              <a:t>Muhammed</a:t>
            </a:r>
            <a:r>
              <a:rPr lang="en-CA" dirty="0"/>
              <a:t>, A. (20 June 2012) Disaster: ‘</a:t>
            </a:r>
            <a:r>
              <a:rPr lang="en-CA" dirty="0" err="1"/>
              <a:t>Wasta</a:t>
            </a:r>
            <a:r>
              <a:rPr lang="en-CA" dirty="0"/>
              <a:t>’ Undermines Saudi Education System. </a:t>
            </a:r>
            <a:r>
              <a:rPr lang="en-CA" i="1" dirty="0"/>
              <a:t>MiddleEastPosts.com </a:t>
            </a:r>
            <a:r>
              <a:rPr lang="en-CA" dirty="0"/>
              <a:t>Retrieved from </a:t>
            </a:r>
            <a:r>
              <a:rPr lang="en-CA" i="1" u="sng" dirty="0">
                <a:hlinkClick r:id="rId5"/>
              </a:rPr>
              <a:t>http://mideastposts.com/2012/06/disaster-wasta-undermines-saudi-education-system</a:t>
            </a:r>
            <a:endParaRPr lang="en-CA" dirty="0"/>
          </a:p>
          <a:p>
            <a:r>
              <a:rPr lang="en-CA" dirty="0"/>
              <a:t>Lindsey, U (Oct 3 2010) Saudi Arabia's Education Reforms Emphasize Training for Jobs. </a:t>
            </a:r>
            <a:r>
              <a:rPr lang="en-CA" i="1" dirty="0"/>
              <a:t>The Chronicle of Higher Education</a:t>
            </a:r>
            <a:r>
              <a:rPr lang="en-CA" dirty="0"/>
              <a:t> Retrieved from  </a:t>
            </a:r>
            <a:r>
              <a:rPr lang="en-CA" u="sng" dirty="0">
                <a:hlinkClick r:id="rId6"/>
              </a:rPr>
              <a:t>http://chronicle.com/article/Saudi-Arabias-Education/124771/</a:t>
            </a:r>
            <a:endParaRPr lang="en-CA" dirty="0"/>
          </a:p>
          <a:p>
            <a:r>
              <a:rPr lang="en-CA" dirty="0"/>
              <a:t>Salem, N. and Lawless, M. (2011) The Effect of Language Differences on Arab Learners’ ESL Writing</a:t>
            </a:r>
            <a:r>
              <a:rPr lang="en-CA" i="1" dirty="0"/>
              <a:t> Contact </a:t>
            </a:r>
            <a:r>
              <a:rPr lang="en-CA" dirty="0"/>
              <a:t>37 (3) 20</a:t>
            </a:r>
          </a:p>
          <a:p>
            <a:r>
              <a:rPr lang="en-CA" dirty="0"/>
              <a:t>Saudi Arabia. (</a:t>
            </a:r>
            <a:r>
              <a:rPr lang="en-CA" dirty="0" err="1"/>
              <a:t>n.d.</a:t>
            </a:r>
            <a:r>
              <a:rPr lang="en-CA" dirty="0"/>
              <a:t>) Saudi Central department of Statistics and information. Retrieved from </a:t>
            </a:r>
            <a:r>
              <a:rPr lang="en-CA" u="sng" dirty="0">
                <a:hlinkClick r:id="rId7"/>
              </a:rPr>
              <a:t>http://www.cdsi.gov.sa/english/</a:t>
            </a:r>
            <a:endParaRPr lang="en-CA" dirty="0"/>
          </a:p>
          <a:p>
            <a:r>
              <a:rPr lang="en-CA" dirty="0"/>
              <a:t>Redden, E. (2007) Supporting Saudi Students. </a:t>
            </a:r>
            <a:r>
              <a:rPr lang="en-CA" i="1" dirty="0"/>
              <a:t>Inside Higher Education</a:t>
            </a:r>
            <a:r>
              <a:rPr lang="en-CA" dirty="0"/>
              <a:t>. Retrieved from http://</a:t>
            </a:r>
            <a:r>
              <a:rPr lang="en-CA" dirty="0" smtClean="0"/>
              <a:t>www.insidehighered.com/news/2007/08/16/saudi</a:t>
            </a:r>
            <a:endParaRPr lang="en-CA" dirty="0"/>
          </a:p>
          <a:p>
            <a:r>
              <a:rPr lang="en-CA" dirty="0" err="1"/>
              <a:t>Yushau</a:t>
            </a:r>
            <a:r>
              <a:rPr lang="en-CA" dirty="0"/>
              <a:t>, B. (2009) Language and Mathematics: A </a:t>
            </a:r>
            <a:r>
              <a:rPr lang="en-CA" dirty="0" err="1"/>
              <a:t>Mediational</a:t>
            </a:r>
            <a:r>
              <a:rPr lang="en-CA" dirty="0"/>
              <a:t> Approach to Bilingual Arabs International Journal of Mathematical Education. </a:t>
            </a:r>
            <a:r>
              <a:rPr lang="en-CA" i="1" dirty="0"/>
              <a:t>Science and Technology</a:t>
            </a:r>
            <a:r>
              <a:rPr lang="en-CA" dirty="0"/>
              <a:t>, (40)7, 915–926 </a:t>
            </a:r>
          </a:p>
          <a:p>
            <a:pPr marL="0" indent="0">
              <a:buNone/>
            </a:pPr>
            <a:endParaRPr lang="en-CA" dirty="0"/>
          </a:p>
        </p:txBody>
      </p:sp>
      <p:pic>
        <p:nvPicPr>
          <p:cNvPr id="4" name="Picture 3"/>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0" y="6210381"/>
            <a:ext cx="2469842" cy="647619"/>
          </a:xfrm>
          <a:prstGeom prst="rect">
            <a:avLst/>
          </a:prstGeom>
        </p:spPr>
      </p:pic>
    </p:spTree>
    <p:extLst>
      <p:ext uri="{BB962C8B-B14F-4D97-AF65-F5344CB8AC3E}">
        <p14:creationId xmlns:p14="http://schemas.microsoft.com/office/powerpoint/2010/main" val="541773556"/>
      </p:ext>
    </p:extLst>
  </p:cSld>
  <p:clrMapOvr>
    <a:masterClrMapping/>
  </p:clrMapOvr>
  <mc:AlternateContent xmlns:mc="http://schemas.openxmlformats.org/markup-compatibility/2006" xmlns:p14="http://schemas.microsoft.com/office/powerpoint/2010/main">
    <mc:Choice Requires="p14">
      <p:transition spd="slow" p14:dur="2000" advTm="67"/>
    </mc:Choice>
    <mc:Fallback xmlns="">
      <p:transition spd="slow" advTm="67"/>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0.1|0.8"/>
</p:tagLst>
</file>

<file path=ppt/tags/tag2.xml><?xml version="1.0" encoding="utf-8"?>
<p:tagLst xmlns:a="http://schemas.openxmlformats.org/drawingml/2006/main" xmlns:r="http://schemas.openxmlformats.org/officeDocument/2006/relationships" xmlns:p="http://schemas.openxmlformats.org/presentationml/2006/main">
  <p:tag name="TIMING" val="|87.4|34.5|37.9"/>
</p:tagLst>
</file>

<file path=ppt/tags/tag3.xml><?xml version="1.0" encoding="utf-8"?>
<p:tagLst xmlns:a="http://schemas.openxmlformats.org/drawingml/2006/main" xmlns:r="http://schemas.openxmlformats.org/officeDocument/2006/relationships" xmlns:p="http://schemas.openxmlformats.org/presentationml/2006/main">
  <p:tag name="TIMING" val="|4.1|11.1|9.7|14.2|8.8"/>
</p:tagLst>
</file>

<file path=ppt/tags/tag4.xml><?xml version="1.0" encoding="utf-8"?>
<p:tagLst xmlns:a="http://schemas.openxmlformats.org/drawingml/2006/main" xmlns:r="http://schemas.openxmlformats.org/officeDocument/2006/relationships" xmlns:p="http://schemas.openxmlformats.org/presentationml/2006/main">
  <p:tag name="TIMING" val="|3.8|24.9|38.8|7.7|81"/>
</p:tagLst>
</file>

<file path=ppt/tags/tag5.xml><?xml version="1.0" encoding="utf-8"?>
<p:tagLst xmlns:a="http://schemas.openxmlformats.org/drawingml/2006/main" xmlns:r="http://schemas.openxmlformats.org/officeDocument/2006/relationships" xmlns:p="http://schemas.openxmlformats.org/presentationml/2006/main">
  <p:tag name="TIMING" val="|98.2|1.7|21.4|24.4|17.3"/>
</p:tagLst>
</file>

<file path=ppt/tags/tag6.xml><?xml version="1.0" encoding="utf-8"?>
<p:tagLst xmlns:a="http://schemas.openxmlformats.org/drawingml/2006/main" xmlns:r="http://schemas.openxmlformats.org/officeDocument/2006/relationships" xmlns:p="http://schemas.openxmlformats.org/presentationml/2006/main">
  <p:tag name="TIMING" val="|26.2|37.4"/>
</p:tagLst>
</file>

<file path=ppt/tags/tag7.xml><?xml version="1.0" encoding="utf-8"?>
<p:tagLst xmlns:a="http://schemas.openxmlformats.org/drawingml/2006/main" xmlns:r="http://schemas.openxmlformats.org/officeDocument/2006/relationships" xmlns:p="http://schemas.openxmlformats.org/presentationml/2006/main">
  <p:tag name="TIMING" val="|2.6"/>
</p:tagLst>
</file>

<file path=ppt/tags/tag8.xml><?xml version="1.0" encoding="utf-8"?>
<p:tagLst xmlns:a="http://schemas.openxmlformats.org/drawingml/2006/main" xmlns:r="http://schemas.openxmlformats.org/officeDocument/2006/relationships" xmlns:p="http://schemas.openxmlformats.org/presentationml/2006/main">
  <p:tag name="TIMING" val="|6.4"/>
</p:tagLst>
</file>

<file path=ppt/tags/tag9.xml><?xml version="1.0" encoding="utf-8"?>
<p:tagLst xmlns:a="http://schemas.openxmlformats.org/drawingml/2006/main" xmlns:r="http://schemas.openxmlformats.org/officeDocument/2006/relationships" xmlns:p="http://schemas.openxmlformats.org/presentationml/2006/main">
  <p:tag name="TIMING" val="|1.2"/>
</p:tagLst>
</file>

<file path=ppt/tags/tag10.xml><?xml version="1.0" encoding="utf-8"?>
<p:tagLst xmlns:a="http://schemas.openxmlformats.org/drawingml/2006/main" xmlns:r="http://schemas.openxmlformats.org/officeDocument/2006/relationships" xmlns:p="http://schemas.openxmlformats.org/presentationml/2006/main">
  <p:tag name="TIMING" val="|5.9"/>
</p:tagLst>
</file>

<file path=ppt/tags/tag11.xml><?xml version="1.0" encoding="utf-8"?>
<p:tagLst xmlns:a="http://schemas.openxmlformats.org/drawingml/2006/main" xmlns:r="http://schemas.openxmlformats.org/officeDocument/2006/relationships" xmlns:p="http://schemas.openxmlformats.org/presentationml/2006/main">
  <p:tag name="TIMING" val="|10.5|17.4|21.7"/>
</p:tagLst>
</file>

<file path=ppt/tags/tag12.xml><?xml version="1.0" encoding="utf-8"?>
<p:tagLst xmlns:a="http://schemas.openxmlformats.org/drawingml/2006/main" xmlns:r="http://schemas.openxmlformats.org/officeDocument/2006/relationships" xmlns:p="http://schemas.openxmlformats.org/presentationml/2006/main">
  <p:tag name="TIMING" val="|14.6|30.6"/>
</p:tagLst>
</file>

<file path=ppt/tags/tag13.xml><?xml version="1.0" encoding="utf-8"?>
<p:tagLst xmlns:a="http://schemas.openxmlformats.org/drawingml/2006/main" xmlns:r="http://schemas.openxmlformats.org/officeDocument/2006/relationships" xmlns:p="http://schemas.openxmlformats.org/presentationml/2006/main">
  <p:tag name="TIMING" val="|1.4"/>
</p:tagLst>
</file>

<file path=ppt/tags/tag14.xml><?xml version="1.0" encoding="utf-8"?>
<p:tagLst xmlns:a="http://schemas.openxmlformats.org/drawingml/2006/main" xmlns:r="http://schemas.openxmlformats.org/officeDocument/2006/relationships" xmlns:p="http://schemas.openxmlformats.org/presentationml/2006/main">
  <p:tag name="TIMING" val="|1.3"/>
</p:tagLst>
</file>

<file path=ppt/tags/tag15.xml><?xml version="1.0" encoding="utf-8"?>
<p:tagLst xmlns:a="http://schemas.openxmlformats.org/drawingml/2006/main" xmlns:r="http://schemas.openxmlformats.org/officeDocument/2006/relationships" xmlns:p="http://schemas.openxmlformats.org/presentationml/2006/main">
  <p:tag name="TIMING" val="|1.5"/>
</p:tagLst>
</file>

<file path=ppt/tags/tag16.xml><?xml version="1.0" encoding="utf-8"?>
<p:tagLst xmlns:a="http://schemas.openxmlformats.org/drawingml/2006/main" xmlns:r="http://schemas.openxmlformats.org/officeDocument/2006/relationships" xmlns:p="http://schemas.openxmlformats.org/presentationml/2006/main">
  <p:tag name="TIMING" val="|4.9|6.7|13.8|7.1|0.9"/>
</p:tagLst>
</file>

<file path=ppt/tags/tag17.xml><?xml version="1.0" encoding="utf-8"?>
<p:tagLst xmlns:a="http://schemas.openxmlformats.org/drawingml/2006/main" xmlns:r="http://schemas.openxmlformats.org/officeDocument/2006/relationships" xmlns:p="http://schemas.openxmlformats.org/presentationml/2006/main">
  <p:tag name="TIMING" val="|4.4|5.2|18.5|12.6|7.5|15|1.4"/>
</p:tagLst>
</file>

<file path=ppt/tags/tag18.xml><?xml version="1.0" encoding="utf-8"?>
<p:tagLst xmlns:a="http://schemas.openxmlformats.org/drawingml/2006/main" xmlns:r="http://schemas.openxmlformats.org/officeDocument/2006/relationships" xmlns:p="http://schemas.openxmlformats.org/presentationml/2006/main">
  <p:tag name="TIMING" val="|0|0|0|0|0.5|0.4|0.3|0.3|0.2"/>
</p:tagLst>
</file>

<file path=ppt/tags/tag19.xml><?xml version="1.0" encoding="utf-8"?>
<p:tagLst xmlns:a="http://schemas.openxmlformats.org/drawingml/2006/main" xmlns:r="http://schemas.openxmlformats.org/officeDocument/2006/relationships" xmlns:p="http://schemas.openxmlformats.org/presentationml/2006/main">
  <p:tag name="TIMING" val="|0"/>
</p:tagLst>
</file>

<file path=ppt/tags/tag20.xml><?xml version="1.0" encoding="utf-8"?>
<p:tagLst xmlns:a="http://schemas.openxmlformats.org/drawingml/2006/main" xmlns:r="http://schemas.openxmlformats.org/officeDocument/2006/relationships" xmlns:p="http://schemas.openxmlformats.org/presentationml/2006/main">
  <p:tag name="TIMING" val="|0"/>
</p:tagLst>
</file>

<file path=ppt/tags/tag21.xml><?xml version="1.0" encoding="utf-8"?>
<p:tagLst xmlns:a="http://schemas.openxmlformats.org/drawingml/2006/main" xmlns:r="http://schemas.openxmlformats.org/officeDocument/2006/relationships" xmlns:p="http://schemas.openxmlformats.org/presentationml/2006/main">
  <p:tag name="TIMING" val="|0"/>
</p:tagLst>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3010</TotalTime>
  <Words>2155</Words>
  <Application>Microsoft Office PowerPoint</Application>
  <PresentationFormat>On-screen Show (4:3)</PresentationFormat>
  <Paragraphs>322</Paragraphs>
  <Slides>44</Slides>
  <Notes>1</Notes>
  <HiddenSlides>0</HiddenSlides>
  <MMClips>0</MMClips>
  <ScaleCrop>false</ScaleCrop>
  <HeadingPairs>
    <vt:vector size="4" baseType="variant">
      <vt:variant>
        <vt:lpstr>Theme</vt:lpstr>
      </vt:variant>
      <vt:variant>
        <vt:i4>1</vt:i4>
      </vt:variant>
      <vt:variant>
        <vt:lpstr>Slide Titles</vt:lpstr>
      </vt:variant>
      <vt:variant>
        <vt:i4>44</vt:i4>
      </vt:variant>
    </vt:vector>
  </HeadingPairs>
  <TitlesOfParts>
    <vt:vector size="45" baseType="lpstr">
      <vt:lpstr>Median</vt:lpstr>
      <vt:lpstr>Business English programs for Saudi students:  using classroom hours effectively</vt:lpstr>
      <vt:lpstr>PowerPoint Presentation</vt:lpstr>
      <vt:lpstr>Saudi background</vt:lpstr>
      <vt:lpstr>Saudi background</vt:lpstr>
      <vt:lpstr>Saudi education</vt:lpstr>
      <vt:lpstr>Saudi education: in the classroom</vt:lpstr>
      <vt:lpstr>Problems that develop from Ed background</vt:lpstr>
      <vt:lpstr>Learning disabilities</vt:lpstr>
      <vt:lpstr>Education, Culture and Wasta</vt:lpstr>
      <vt:lpstr>Understanding KASP’s goals</vt:lpstr>
      <vt:lpstr>Understanding KASP’s goals</vt:lpstr>
      <vt:lpstr>The first KASP influx in America and Canada</vt:lpstr>
      <vt:lpstr>Understanding the economics motivating KASP (Saudization)</vt:lpstr>
      <vt:lpstr>The first KASP influx in America and Canada</vt:lpstr>
      <vt:lpstr>BICS and CALP    (Cummins,1979)</vt:lpstr>
      <vt:lpstr>Summary of Educational issues</vt:lpstr>
      <vt:lpstr>PowerPoint Presentation</vt:lpstr>
      <vt:lpstr>Contrastive analysis  (Salem and Lawless, 2011)</vt:lpstr>
      <vt:lpstr>Contrastive analysis </vt:lpstr>
      <vt:lpstr>Contrastive analysis - morphology</vt:lpstr>
      <vt:lpstr>Contrastive analysis - grammar </vt:lpstr>
      <vt:lpstr>Contrastive Analysis - grammar</vt:lpstr>
      <vt:lpstr>Contrastive Analysis - grammar</vt:lpstr>
      <vt:lpstr>Contrastive Analysis - grammar</vt:lpstr>
      <vt:lpstr>Contrastive Analysis - oral</vt:lpstr>
      <vt:lpstr>Contrastive Analysis - oral</vt:lpstr>
      <vt:lpstr>Contrastive Analysis - oral short vowel sounds</vt:lpstr>
      <vt:lpstr>Contrastive Analysis - oral  consonants</vt:lpstr>
      <vt:lpstr>Contrastive Analysis – Oral  consonants</vt:lpstr>
      <vt:lpstr>Contrastive Analysis - writing</vt:lpstr>
      <vt:lpstr>Contrastive Analysis - writing</vt:lpstr>
      <vt:lpstr>Contrastive Analysis - writing</vt:lpstr>
      <vt:lpstr>Contrastive Analysis - writing</vt:lpstr>
      <vt:lpstr>Business English programs for Saudi students:  using classroom hours effectively</vt:lpstr>
      <vt:lpstr>Math and Numeracy</vt:lpstr>
      <vt:lpstr>Rhetorical Differences – cover letters</vt:lpstr>
      <vt:lpstr>Business English programs for Saudi students:  using classroom hours effectively</vt:lpstr>
      <vt:lpstr>In summary and solution - linguistically</vt:lpstr>
      <vt:lpstr>In summary and solution - linguistically</vt:lpstr>
      <vt:lpstr>In summary and solution - pedagogically</vt:lpstr>
      <vt:lpstr>In summary and solution - pedagogically</vt:lpstr>
      <vt:lpstr>The takeaway- can we do it? </vt:lpstr>
      <vt:lpstr>Business English programs for Saudi students:  using classroom hours effectively</vt:lpstr>
      <vt:lpstr>References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My Files</cp:lastModifiedBy>
  <cp:revision>362</cp:revision>
  <dcterms:created xsi:type="dcterms:W3CDTF">2012-08-28T17:17:24Z</dcterms:created>
  <dcterms:modified xsi:type="dcterms:W3CDTF">2012-10-12T23:26:49Z</dcterms:modified>
</cp:coreProperties>
</file>