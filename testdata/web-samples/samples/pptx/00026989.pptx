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72" r:id="rId2"/>
    <p:sldId id="280" r:id="rId3"/>
    <p:sldId id="264" r:id="rId4"/>
    <p:sldId id="273" r:id="rId5"/>
    <p:sldId id="265" r:id="rId6"/>
    <p:sldId id="267" r:id="rId7"/>
    <p:sldId id="266" r:id="rId8"/>
    <p:sldId id="268" r:id="rId9"/>
    <p:sldId id="278" r:id="rId10"/>
    <p:sldId id="274" r:id="rId11"/>
    <p:sldId id="269" r:id="rId12"/>
    <p:sldId id="277" r:id="rId13"/>
    <p:sldId id="281" r:id="rId14"/>
    <p:sldId id="282" r:id="rId15"/>
    <p:sldId id="271" r:id="rId16"/>
    <p:sldId id="275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702" y="24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7A8D55-2825-4213-9EC9-167C28BB9662}" type="datetimeFigureOut">
              <a:rPr lang="en-AU" smtClean="0"/>
              <a:pPr/>
              <a:t>11/09/2012</a:t>
            </a:fld>
            <a:endParaRPr lang="en-A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1F4F29-783C-4BFD-BD85-ACCBCD966CC5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040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9/11/2012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9/11/2012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9/11/2012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9/11/2012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9/11/2012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9/11/2012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9/11/2012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www.qut.edu.au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Autofit/>
          </a:bodyPr>
          <a:lstStyle/>
          <a:p>
            <a:r>
              <a:rPr lang="en-GB" sz="3600" b="1" dirty="0" smtClean="0">
                <a:solidFill>
                  <a:schemeClr val="bg1"/>
                </a:solidFill>
              </a:rPr>
              <a:t>Health impacts of the 2011 Summer floods in Brisbane</a:t>
            </a:r>
            <a:endParaRPr lang="en-AU" sz="36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37338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AU" altLang="zh-CN" sz="1800" b="1" dirty="0" smtClean="0">
                <a:solidFill>
                  <a:schemeClr val="bg1"/>
                </a:solidFill>
                <a:ea typeface="宋体" pitchFamily="2" charset="-122"/>
              </a:rPr>
              <a:t>Katarzyna Alderman, Lyle Turner, </a:t>
            </a:r>
            <a:r>
              <a:rPr lang="en-AU" altLang="zh-CN" sz="1800" b="1" u="sng" dirty="0" smtClean="0">
                <a:solidFill>
                  <a:schemeClr val="bg1"/>
                </a:solidFill>
                <a:ea typeface="宋体" pitchFamily="2" charset="-122"/>
              </a:rPr>
              <a:t>Shilu Tong </a:t>
            </a:r>
            <a:endParaRPr lang="en-AU" altLang="zh-CN" sz="1800" b="1" baseline="30000" dirty="0" smtClean="0">
              <a:solidFill>
                <a:schemeClr val="bg1"/>
              </a:solidFill>
              <a:ea typeface="宋体" pitchFamily="2" charset="-122"/>
            </a:endParaRPr>
          </a:p>
          <a:p>
            <a:pPr marL="0" indent="0" algn="ctr">
              <a:buNone/>
            </a:pPr>
            <a:endParaRPr lang="en-AU" altLang="zh-CN" sz="1800" b="1" baseline="30000" dirty="0" smtClean="0">
              <a:solidFill>
                <a:schemeClr val="bg1"/>
              </a:solidFill>
              <a:ea typeface="宋体" pitchFamily="2" charset="-122"/>
            </a:endParaRPr>
          </a:p>
          <a:p>
            <a:pPr marL="0" indent="0" algn="ctr">
              <a:buNone/>
            </a:pPr>
            <a:endParaRPr lang="en-AU" altLang="zh-CN" sz="1800" b="1" baseline="30000" dirty="0" smtClean="0">
              <a:solidFill>
                <a:schemeClr val="bg1"/>
              </a:solidFill>
              <a:ea typeface="宋体" pitchFamily="2" charset="-122"/>
            </a:endParaRPr>
          </a:p>
          <a:p>
            <a:pPr marL="0" indent="0" algn="ctr">
              <a:buNone/>
            </a:pPr>
            <a:r>
              <a:rPr lang="en-AU" altLang="zh-CN" sz="1800" b="1" dirty="0" smtClean="0">
                <a:solidFill>
                  <a:schemeClr val="bg1"/>
                </a:solidFill>
                <a:ea typeface="宋体" pitchFamily="2" charset="-122"/>
              </a:rPr>
              <a:t>School of Public Health and Social Work </a:t>
            </a:r>
          </a:p>
          <a:p>
            <a:pPr marL="0" indent="0" algn="ctr">
              <a:buNone/>
            </a:pPr>
            <a:r>
              <a:rPr lang="en-AU" altLang="zh-CN" sz="1800" b="1" dirty="0" smtClean="0">
                <a:solidFill>
                  <a:schemeClr val="bg1"/>
                </a:solidFill>
                <a:ea typeface="宋体" pitchFamily="2" charset="-122"/>
              </a:rPr>
              <a:t>Institute of Health and Biomedical Innovation</a:t>
            </a:r>
          </a:p>
          <a:p>
            <a:pPr marL="0" indent="0" algn="ctr">
              <a:buNone/>
            </a:pPr>
            <a:r>
              <a:rPr lang="en-AU" altLang="zh-CN" sz="1800" b="1" dirty="0" smtClean="0">
                <a:solidFill>
                  <a:schemeClr val="bg1"/>
                </a:solidFill>
                <a:ea typeface="宋体" pitchFamily="2" charset="-122"/>
              </a:rPr>
              <a:t>Queensland University of Technology</a:t>
            </a:r>
            <a:br>
              <a:rPr lang="en-AU" altLang="zh-CN" sz="1800" b="1" dirty="0" smtClean="0">
                <a:solidFill>
                  <a:schemeClr val="bg1"/>
                </a:solidFill>
                <a:ea typeface="宋体" pitchFamily="2" charset="-122"/>
              </a:rPr>
            </a:br>
            <a:r>
              <a:rPr lang="en-AU" altLang="zh-CN" sz="1800" b="1" dirty="0" smtClean="0">
                <a:solidFill>
                  <a:schemeClr val="bg1"/>
                </a:solidFill>
                <a:ea typeface="宋体" pitchFamily="2" charset="-122"/>
              </a:rPr>
              <a:t/>
            </a:r>
            <a:br>
              <a:rPr lang="en-AU" altLang="zh-CN" sz="1800" b="1" dirty="0" smtClean="0">
                <a:solidFill>
                  <a:schemeClr val="bg1"/>
                </a:solidFill>
                <a:ea typeface="宋体" pitchFamily="2" charset="-122"/>
              </a:rPr>
            </a:br>
            <a:r>
              <a:rPr lang="en-AU" altLang="zh-CN" sz="1800" b="1" dirty="0" smtClean="0">
                <a:solidFill>
                  <a:schemeClr val="bg1"/>
                </a:solidFill>
                <a:ea typeface="宋体" pitchFamily="2" charset="-122"/>
              </a:rPr>
              <a:t>s.tong@qut.edu.au</a:t>
            </a:r>
            <a:br>
              <a:rPr lang="en-AU" altLang="zh-CN" sz="1800" b="1" dirty="0" smtClean="0">
                <a:solidFill>
                  <a:schemeClr val="bg1"/>
                </a:solidFill>
                <a:ea typeface="宋体" pitchFamily="2" charset="-122"/>
              </a:rPr>
            </a:br>
            <a:r>
              <a:rPr lang="en-AU" altLang="zh-CN" sz="1800" b="1" dirty="0" smtClean="0">
                <a:solidFill>
                  <a:schemeClr val="bg1"/>
                </a:solidFill>
                <a:ea typeface="宋体" pitchFamily="2" charset="-122"/>
              </a:rPr>
              <a:t/>
            </a:r>
            <a:br>
              <a:rPr lang="en-AU" altLang="zh-CN" sz="1800" b="1" dirty="0" smtClean="0">
                <a:solidFill>
                  <a:schemeClr val="bg1"/>
                </a:solidFill>
                <a:ea typeface="宋体" pitchFamily="2" charset="-122"/>
              </a:rPr>
            </a:br>
            <a:r>
              <a:rPr lang="en-AU" altLang="zh-CN" sz="1800" b="1" dirty="0" smtClean="0">
                <a:solidFill>
                  <a:schemeClr val="bg1"/>
                </a:solidFill>
                <a:ea typeface="宋体" pitchFamily="2" charset="-122"/>
              </a:rPr>
              <a:t>Population Health Congress, Adelaide</a:t>
            </a:r>
            <a:r>
              <a:rPr lang="en-US" sz="1800" b="1" dirty="0" smtClean="0">
                <a:solidFill>
                  <a:schemeClr val="bg1"/>
                </a:solidFill>
              </a:rPr>
              <a:t/>
            </a:r>
            <a:br>
              <a:rPr lang="en-US" sz="1800" b="1" dirty="0" smtClean="0">
                <a:solidFill>
                  <a:schemeClr val="bg1"/>
                </a:solidFill>
              </a:rPr>
            </a:br>
            <a:r>
              <a:rPr lang="en-AU" sz="1800" b="1" dirty="0" smtClean="0">
                <a:solidFill>
                  <a:schemeClr val="bg1"/>
                </a:solidFill>
                <a:latin typeface="Tahoma" pitchFamily="34" charset="0"/>
              </a:rPr>
              <a:t>9</a:t>
            </a:r>
            <a:r>
              <a:rPr lang="en-AU" sz="1800" b="1" baseline="30000" dirty="0" smtClean="0">
                <a:solidFill>
                  <a:schemeClr val="bg1"/>
                </a:solidFill>
                <a:latin typeface="Tahoma" pitchFamily="34" charset="0"/>
              </a:rPr>
              <a:t>th</a:t>
            </a:r>
            <a:r>
              <a:rPr lang="en-AU" sz="1800" b="1" dirty="0" smtClean="0">
                <a:solidFill>
                  <a:schemeClr val="bg1"/>
                </a:solidFill>
                <a:latin typeface="Tahoma" pitchFamily="34" charset="0"/>
              </a:rPr>
              <a:t>—12</a:t>
            </a:r>
            <a:r>
              <a:rPr lang="en-AU" sz="1800" b="1" baseline="30000" dirty="0" smtClean="0">
                <a:solidFill>
                  <a:schemeClr val="bg1"/>
                </a:solidFill>
                <a:latin typeface="Tahoma" pitchFamily="34" charset="0"/>
              </a:rPr>
              <a:t>th</a:t>
            </a:r>
            <a:r>
              <a:rPr lang="en-AU" sz="1800" b="1" dirty="0" smtClean="0">
                <a:solidFill>
                  <a:schemeClr val="bg1"/>
                </a:solidFill>
                <a:latin typeface="Tahoma" pitchFamily="34" charset="0"/>
              </a:rPr>
              <a:t> September 2012</a:t>
            </a:r>
            <a:endParaRPr lang="en-AU" sz="1800" dirty="0">
              <a:solidFill>
                <a:schemeClr val="bg1"/>
              </a:solidFill>
            </a:endParaRPr>
          </a:p>
        </p:txBody>
      </p:sp>
      <p:pic>
        <p:nvPicPr>
          <p:cNvPr id="5" name="Picture 6" descr="Queensland University of Technology   Brisbane Australia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5634038"/>
            <a:ext cx="3962400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7" descr="ihbi - Institute of Health and Biomedical Innovation">
            <a:hlinkClick r:id="rId2"/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435600" y="5661025"/>
            <a:ext cx="3708400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oz temps 2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439615"/>
            <a:ext cx="9144000" cy="597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AU" dirty="0" smtClean="0">
                <a:latin typeface="+mn-lt"/>
                <a:cs typeface="Times New Roman" pitchFamily="18" charset="0"/>
              </a:rPr>
              <a:t>Temperature: Australian observations</a:t>
            </a:r>
            <a:endParaRPr lang="en-AU" dirty="0">
              <a:latin typeface="+mn-lt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38800" y="6019800"/>
            <a:ext cx="3352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b="1" dirty="0" smtClean="0">
                <a:cs typeface="Times New Roman" pitchFamily="18" charset="0"/>
              </a:rPr>
              <a:t>(Australian Bureau of Meteorology, 2012)</a:t>
            </a:r>
            <a:endParaRPr lang="en-AU" sz="1400" b="1" dirty="0"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439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A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						</a:t>
            </a:r>
          </a:p>
        </p:txBody>
      </p:sp>
      <p:pic>
        <p:nvPicPr>
          <p:cNvPr id="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24979"/>
            <a:ext cx="9144000" cy="66548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solidFill>
                  <a:schemeClr val="bg1"/>
                </a:solidFill>
              </a:rPr>
              <a:t>Flood events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dirty="0" smtClean="0">
                <a:solidFill>
                  <a:schemeClr val="bg1"/>
                </a:solidFill>
              </a:rPr>
              <a:t>Responsible for almost half of all victims of natural disasters, and $185 million economic losses over last decade </a:t>
            </a:r>
            <a:r>
              <a:rPr lang="en-AU" sz="2000" dirty="0" smtClean="0">
                <a:solidFill>
                  <a:schemeClr val="bg1"/>
                </a:solidFill>
              </a:rPr>
              <a:t>(EM-DAT, 2011)</a:t>
            </a:r>
            <a:endParaRPr lang="en-AU" dirty="0" smtClean="0">
              <a:solidFill>
                <a:schemeClr val="bg1"/>
              </a:solidFill>
            </a:endParaRPr>
          </a:p>
          <a:p>
            <a:r>
              <a:rPr lang="en-AU" dirty="0" smtClean="0">
                <a:solidFill>
                  <a:schemeClr val="bg1"/>
                </a:solidFill>
              </a:rPr>
              <a:t>Expected to increase in frequency, intensity and cost (economic and social)</a:t>
            </a:r>
          </a:p>
          <a:p>
            <a:r>
              <a:rPr lang="en-AU" dirty="0" smtClean="0">
                <a:solidFill>
                  <a:schemeClr val="bg1"/>
                </a:solidFill>
              </a:rPr>
              <a:t>Both short- and long- term impacts on society, particularly in terms of health effects</a:t>
            </a:r>
          </a:p>
          <a:p>
            <a:pPr lvl="1"/>
            <a:r>
              <a:rPr lang="en-AU" dirty="0" smtClean="0">
                <a:solidFill>
                  <a:schemeClr val="bg1"/>
                </a:solidFill>
              </a:rPr>
              <a:t>Effects vary according to population differences and type of flooding event </a:t>
            </a:r>
            <a:endParaRPr lang="en-AU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solidFill>
                  <a:schemeClr val="bg1"/>
                </a:solidFill>
              </a:rPr>
              <a:t>2011 Queensland floods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>
                <a:solidFill>
                  <a:schemeClr val="bg1"/>
                </a:solidFill>
              </a:rPr>
              <a:t>Occurred in December 2010—January 2011</a:t>
            </a:r>
          </a:p>
          <a:p>
            <a:r>
              <a:rPr lang="en-AU" dirty="0" smtClean="0">
                <a:solidFill>
                  <a:schemeClr val="bg1"/>
                </a:solidFill>
              </a:rPr>
              <a:t>Responsible for 35 deaths</a:t>
            </a:r>
          </a:p>
          <a:p>
            <a:r>
              <a:rPr lang="en-AU" dirty="0" smtClean="0">
                <a:solidFill>
                  <a:schemeClr val="bg1"/>
                </a:solidFill>
              </a:rPr>
              <a:t>Damage to over 29,000 properties and economic losses of over $5 billion</a:t>
            </a:r>
          </a:p>
          <a:p>
            <a:r>
              <a:rPr lang="en-AU" dirty="0" smtClean="0">
                <a:solidFill>
                  <a:schemeClr val="bg1"/>
                </a:solidFill>
              </a:rPr>
              <a:t>Significant impact in South East Queensland, particularly Brisbane (flood prone areas)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6" descr="australia_FINAL_1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23813"/>
            <a:ext cx="4356100" cy="4672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15" descr="brisbane_FINAL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43400" y="2149475"/>
            <a:ext cx="4800600" cy="417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76400"/>
            <a:ext cx="8229600" cy="3763963"/>
          </a:xfrm>
        </p:spPr>
        <p:txBody>
          <a:bodyPr>
            <a:normAutofit lnSpcReduction="10000"/>
          </a:bodyPr>
          <a:lstStyle/>
          <a:p>
            <a:r>
              <a:rPr lang="en-AU" sz="4000" dirty="0">
                <a:solidFill>
                  <a:schemeClr val="bg1"/>
                </a:solidFill>
              </a:rPr>
              <a:t>Health impacts of the flood events are less </a:t>
            </a:r>
            <a:r>
              <a:rPr lang="en-AU" sz="4000" dirty="0" smtClean="0">
                <a:solidFill>
                  <a:schemeClr val="bg1"/>
                </a:solidFill>
              </a:rPr>
              <a:t>understood…</a:t>
            </a:r>
          </a:p>
          <a:p>
            <a:endParaRPr lang="en-AU" sz="4000" dirty="0" smtClean="0">
              <a:solidFill>
                <a:schemeClr val="bg1"/>
              </a:solidFill>
            </a:endParaRPr>
          </a:p>
          <a:p>
            <a:r>
              <a:rPr lang="en-AU" sz="4000" dirty="0" smtClean="0">
                <a:solidFill>
                  <a:schemeClr val="bg1"/>
                </a:solidFill>
              </a:rPr>
              <a:t>Aim: To investigate the physical and mental health impacts of the 2011 floods in Brisbane</a:t>
            </a:r>
            <a:endParaRPr lang="en-AU" sz="4000" dirty="0">
              <a:solidFill>
                <a:schemeClr val="bg1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AU" dirty="0" smtClean="0">
                <a:solidFill>
                  <a:schemeClr val="bg1"/>
                </a:solidFill>
              </a:rPr>
              <a:t>Research design and methods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30763"/>
          </a:xfrm>
        </p:spPr>
        <p:txBody>
          <a:bodyPr>
            <a:normAutofit/>
          </a:bodyPr>
          <a:lstStyle/>
          <a:p>
            <a:r>
              <a:rPr lang="en-AU" dirty="0" smtClean="0">
                <a:solidFill>
                  <a:schemeClr val="bg1"/>
                </a:solidFill>
              </a:rPr>
              <a:t>Community-based postal survey </a:t>
            </a:r>
          </a:p>
          <a:p>
            <a:r>
              <a:rPr lang="en-AU" dirty="0" smtClean="0">
                <a:solidFill>
                  <a:schemeClr val="bg1"/>
                </a:solidFill>
              </a:rPr>
              <a:t>3000 residents of 12 electorates in greater Brisbane region selected from electoral roll</a:t>
            </a:r>
          </a:p>
          <a:p>
            <a:r>
              <a:rPr lang="en-AU" dirty="0" smtClean="0">
                <a:solidFill>
                  <a:schemeClr val="bg1"/>
                </a:solidFill>
              </a:rPr>
              <a:t>Opt-out system used (initial participation letter)</a:t>
            </a:r>
          </a:p>
          <a:p>
            <a:r>
              <a:rPr lang="en-AU" dirty="0" smtClean="0">
                <a:solidFill>
                  <a:schemeClr val="bg1"/>
                </a:solidFill>
              </a:rPr>
              <a:t>Information collected: direct flood impact, </a:t>
            </a:r>
            <a:r>
              <a:rPr lang="en-AU" dirty="0" err="1" smtClean="0">
                <a:solidFill>
                  <a:schemeClr val="bg1"/>
                </a:solidFill>
              </a:rPr>
              <a:t>sociodemographic</a:t>
            </a:r>
            <a:r>
              <a:rPr lang="en-AU" dirty="0" smtClean="0">
                <a:solidFill>
                  <a:schemeClr val="bg1"/>
                </a:solidFill>
              </a:rPr>
              <a:t> characteristics, physical and mental health information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943600"/>
          </a:xfrm>
        </p:spPr>
        <p:txBody>
          <a:bodyPr>
            <a:normAutofit/>
          </a:bodyPr>
          <a:lstStyle/>
          <a:p>
            <a:r>
              <a:rPr lang="en-AU" dirty="0" smtClean="0">
                <a:solidFill>
                  <a:schemeClr val="bg1"/>
                </a:solidFill>
              </a:rPr>
              <a:t>Direct flood impact:</a:t>
            </a:r>
          </a:p>
          <a:p>
            <a:pPr lvl="1"/>
            <a:r>
              <a:rPr lang="en-AU" dirty="0">
                <a:solidFill>
                  <a:schemeClr val="bg1"/>
                </a:solidFill>
              </a:rPr>
              <a:t>o</a:t>
            </a:r>
            <a:r>
              <a:rPr lang="en-AU" dirty="0" smtClean="0">
                <a:solidFill>
                  <a:schemeClr val="bg1"/>
                </a:solidFill>
              </a:rPr>
              <a:t>verall </a:t>
            </a:r>
            <a:r>
              <a:rPr lang="en-AU" dirty="0" smtClean="0">
                <a:solidFill>
                  <a:schemeClr val="bg1"/>
                </a:solidFill>
              </a:rPr>
              <a:t>indicator</a:t>
            </a:r>
          </a:p>
          <a:p>
            <a:pPr lvl="1"/>
            <a:r>
              <a:rPr lang="en-AU" dirty="0">
                <a:solidFill>
                  <a:schemeClr val="bg1"/>
                </a:solidFill>
              </a:rPr>
              <a:t>d</a:t>
            </a:r>
            <a:r>
              <a:rPr lang="en-AU" dirty="0" smtClean="0">
                <a:solidFill>
                  <a:schemeClr val="bg1"/>
                </a:solidFill>
              </a:rPr>
              <a:t>amage </a:t>
            </a:r>
            <a:r>
              <a:rPr lang="en-AU" dirty="0" smtClean="0">
                <a:solidFill>
                  <a:schemeClr val="bg1"/>
                </a:solidFill>
              </a:rPr>
              <a:t>to outside of property</a:t>
            </a:r>
          </a:p>
          <a:p>
            <a:pPr lvl="1"/>
            <a:r>
              <a:rPr lang="en-AU" dirty="0" smtClean="0">
                <a:solidFill>
                  <a:schemeClr val="bg1"/>
                </a:solidFill>
              </a:rPr>
              <a:t>water </a:t>
            </a:r>
            <a:r>
              <a:rPr lang="en-AU" dirty="0" smtClean="0">
                <a:solidFill>
                  <a:schemeClr val="bg1"/>
                </a:solidFill>
              </a:rPr>
              <a:t>over floors</a:t>
            </a:r>
          </a:p>
          <a:p>
            <a:pPr lvl="1"/>
            <a:r>
              <a:rPr lang="en-AU" dirty="0">
                <a:solidFill>
                  <a:schemeClr val="bg1"/>
                </a:solidFill>
              </a:rPr>
              <a:t>w</a:t>
            </a:r>
            <a:r>
              <a:rPr lang="en-AU" dirty="0" smtClean="0">
                <a:solidFill>
                  <a:schemeClr val="bg1"/>
                </a:solidFill>
              </a:rPr>
              <a:t>ater </a:t>
            </a:r>
            <a:r>
              <a:rPr lang="en-AU" dirty="0" smtClean="0">
                <a:solidFill>
                  <a:schemeClr val="bg1"/>
                </a:solidFill>
              </a:rPr>
              <a:t>over living area</a:t>
            </a:r>
          </a:p>
          <a:p>
            <a:pPr lvl="1"/>
            <a:r>
              <a:rPr lang="en-AU" dirty="0">
                <a:solidFill>
                  <a:schemeClr val="bg1"/>
                </a:solidFill>
              </a:rPr>
              <a:t>w</a:t>
            </a:r>
            <a:r>
              <a:rPr lang="en-AU" dirty="0" smtClean="0">
                <a:solidFill>
                  <a:schemeClr val="bg1"/>
                </a:solidFill>
              </a:rPr>
              <a:t>ater </a:t>
            </a:r>
            <a:r>
              <a:rPr lang="en-AU" dirty="0" smtClean="0">
                <a:solidFill>
                  <a:schemeClr val="bg1"/>
                </a:solidFill>
              </a:rPr>
              <a:t>over entire house</a:t>
            </a:r>
          </a:p>
          <a:p>
            <a:pPr lvl="1"/>
            <a:r>
              <a:rPr lang="en-AU" dirty="0">
                <a:solidFill>
                  <a:schemeClr val="bg1"/>
                </a:solidFill>
              </a:rPr>
              <a:t>d</a:t>
            </a:r>
            <a:r>
              <a:rPr lang="en-AU" dirty="0" smtClean="0">
                <a:solidFill>
                  <a:schemeClr val="bg1"/>
                </a:solidFill>
              </a:rPr>
              <a:t>amage </a:t>
            </a:r>
            <a:r>
              <a:rPr lang="en-AU" dirty="0" smtClean="0">
                <a:solidFill>
                  <a:schemeClr val="bg1"/>
                </a:solidFill>
              </a:rPr>
              <a:t>to vehicles</a:t>
            </a:r>
          </a:p>
          <a:p>
            <a:pPr lvl="1"/>
            <a:r>
              <a:rPr lang="en-AU" dirty="0">
                <a:solidFill>
                  <a:schemeClr val="bg1"/>
                </a:solidFill>
              </a:rPr>
              <a:t>f</a:t>
            </a:r>
            <a:r>
              <a:rPr lang="en-AU" dirty="0" smtClean="0">
                <a:solidFill>
                  <a:schemeClr val="bg1"/>
                </a:solidFill>
              </a:rPr>
              <a:t>amily </a:t>
            </a:r>
            <a:r>
              <a:rPr lang="en-AU" dirty="0" smtClean="0">
                <a:solidFill>
                  <a:schemeClr val="bg1"/>
                </a:solidFill>
              </a:rPr>
              <a:t>or friends came to stay &gt; 2 days</a:t>
            </a:r>
          </a:p>
          <a:p>
            <a:endParaRPr lang="en-AU" dirty="0">
              <a:solidFill>
                <a:schemeClr val="bg1"/>
              </a:solidFill>
            </a:endParaRPr>
          </a:p>
          <a:p>
            <a:r>
              <a:rPr lang="en-AU" dirty="0" smtClean="0">
                <a:solidFill>
                  <a:schemeClr val="bg1"/>
                </a:solidFill>
              </a:rPr>
              <a:t>In the first instance, looked at overall indicator</a:t>
            </a:r>
            <a:endParaRPr lang="en-A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7429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/>
          <a:lstStyle/>
          <a:p>
            <a:r>
              <a:rPr lang="en-AU" dirty="0" smtClean="0">
                <a:solidFill>
                  <a:schemeClr val="bg1"/>
                </a:solidFill>
              </a:rPr>
              <a:t>Outcome measures: </a:t>
            </a:r>
          </a:p>
          <a:p>
            <a:pPr lvl="1"/>
            <a:r>
              <a:rPr lang="en-AU" dirty="0" smtClean="0">
                <a:solidFill>
                  <a:schemeClr val="bg1"/>
                </a:solidFill>
              </a:rPr>
              <a:t>overall </a:t>
            </a:r>
            <a:r>
              <a:rPr lang="en-AU" dirty="0" smtClean="0">
                <a:solidFill>
                  <a:schemeClr val="bg1"/>
                </a:solidFill>
              </a:rPr>
              <a:t>physical and </a:t>
            </a:r>
            <a:r>
              <a:rPr lang="en-AU" dirty="0" smtClean="0">
                <a:solidFill>
                  <a:schemeClr val="bg1"/>
                </a:solidFill>
              </a:rPr>
              <a:t>respiratory health, </a:t>
            </a:r>
          </a:p>
          <a:p>
            <a:pPr lvl="1"/>
            <a:r>
              <a:rPr lang="en-AU" dirty="0">
                <a:solidFill>
                  <a:schemeClr val="bg1"/>
                </a:solidFill>
              </a:rPr>
              <a:t>p</a:t>
            </a:r>
            <a:r>
              <a:rPr lang="en-AU" dirty="0" smtClean="0">
                <a:solidFill>
                  <a:schemeClr val="bg1"/>
                </a:solidFill>
              </a:rPr>
              <a:t>robable psychological </a:t>
            </a:r>
            <a:r>
              <a:rPr lang="en-AU" dirty="0" smtClean="0">
                <a:solidFill>
                  <a:schemeClr val="bg1"/>
                </a:solidFill>
              </a:rPr>
              <a:t>distress, sleeping problems, </a:t>
            </a:r>
            <a:r>
              <a:rPr lang="en-AU" dirty="0" smtClean="0">
                <a:solidFill>
                  <a:schemeClr val="bg1"/>
                </a:solidFill>
              </a:rPr>
              <a:t>probable post </a:t>
            </a:r>
            <a:r>
              <a:rPr lang="en-AU" dirty="0" smtClean="0">
                <a:solidFill>
                  <a:schemeClr val="bg1"/>
                </a:solidFill>
              </a:rPr>
              <a:t>traumatic distress </a:t>
            </a:r>
            <a:r>
              <a:rPr lang="en-AU" dirty="0" smtClean="0">
                <a:solidFill>
                  <a:schemeClr val="bg1"/>
                </a:solidFill>
              </a:rPr>
              <a:t>disorder</a:t>
            </a:r>
            <a:endParaRPr lang="en-AU" dirty="0" smtClean="0">
              <a:solidFill>
                <a:schemeClr val="bg1"/>
              </a:solidFill>
            </a:endParaRPr>
          </a:p>
          <a:p>
            <a:endParaRPr lang="en-AU" dirty="0" smtClean="0">
              <a:solidFill>
                <a:schemeClr val="bg1"/>
              </a:solidFill>
            </a:endParaRPr>
          </a:p>
          <a:p>
            <a:r>
              <a:rPr lang="en-AU" dirty="0" smtClean="0">
                <a:solidFill>
                  <a:schemeClr val="bg1"/>
                </a:solidFill>
              </a:rPr>
              <a:t>Association of direct flood impact with physical and mental health symptoms assessed using multivariable logistic regression</a:t>
            </a:r>
          </a:p>
          <a:p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33400" y="152400"/>
          <a:ext cx="8077200" cy="6476991"/>
        </p:xfrm>
        <a:graphic>
          <a:graphicData uri="http://schemas.openxmlformats.org/drawingml/2006/table">
            <a:tbl>
              <a:tblPr/>
              <a:tblGrid>
                <a:gridCol w="2692400"/>
                <a:gridCol w="2692400"/>
                <a:gridCol w="2692400"/>
              </a:tblGrid>
              <a:tr h="270757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en-AU" sz="1400" b="1" i="0" u="none" strike="noStrike" dirty="0">
                          <a:solidFill>
                            <a:schemeClr val="bg1"/>
                          </a:solidFill>
                          <a:latin typeface="Times New Roman"/>
                        </a:rPr>
                        <a:t>Table 1: Characteristics of survey respondents (N=960, Response rate: 32%)</a:t>
                      </a:r>
                      <a:r>
                        <a:rPr lang="en-AU" sz="1400" b="1" i="0" u="none" strike="noStrike" dirty="0">
                          <a:solidFill>
                            <a:schemeClr val="bg1"/>
                          </a:solidFill>
                          <a:latin typeface="Arial"/>
                        </a:rPr>
                        <a:t> </a:t>
                      </a:r>
                      <a:endParaRPr lang="en-AU" sz="1400" b="1" i="0" u="none" strike="noStrike" dirty="0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 marL="8684" marR="8684" marT="868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</a:tr>
              <a:tr h="27075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AU" sz="1400" b="0" i="0" u="none" strike="noStrike" dirty="0">
                          <a:solidFill>
                            <a:schemeClr val="bg1"/>
                          </a:solidFill>
                          <a:latin typeface="Times New Roman"/>
                        </a:rPr>
                        <a:t>Variable</a:t>
                      </a:r>
                      <a:r>
                        <a:rPr lang="en-AU" sz="1400" b="0" i="0" u="none" strike="noStrike" dirty="0">
                          <a:solidFill>
                            <a:schemeClr val="bg1"/>
                          </a:solidFill>
                          <a:latin typeface="Arial"/>
                        </a:rPr>
                        <a:t> </a:t>
                      </a:r>
                      <a:endParaRPr lang="en-AU" sz="1400" b="0" i="0" u="none" strike="noStrike" dirty="0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 marL="8684" marR="8684" marT="868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 Category</a:t>
                      </a:r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Arial"/>
                        </a:rPr>
                        <a:t> </a:t>
                      </a:r>
                      <a:endParaRPr lang="en-AU" sz="1400" b="0" i="0" u="none" strike="noStrike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 marL="8684" marR="8684" marT="868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# Respondents (%)*</a:t>
                      </a:r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Arial"/>
                        </a:rPr>
                        <a:t> </a:t>
                      </a:r>
                      <a:endParaRPr lang="en-AU" sz="1400" b="0" i="0" u="none" strike="noStrike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 marL="8684" marR="8684" marT="868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0757">
                <a:tc>
                  <a:txBody>
                    <a:bodyPr/>
                    <a:lstStyle/>
                    <a:p>
                      <a:pPr algn="l" rtl="0" fontAlgn="ctr"/>
                      <a:r>
                        <a:rPr lang="en-AU" sz="1400" b="0" i="0" u="none" strike="noStrike" dirty="0">
                          <a:solidFill>
                            <a:schemeClr val="bg1"/>
                          </a:solidFill>
                          <a:latin typeface="Times New Roman"/>
                        </a:rPr>
                        <a:t>Age groups</a:t>
                      </a:r>
                      <a:r>
                        <a:rPr lang="en-AU" sz="1400" b="0" i="0" u="none" strike="noStrike" dirty="0">
                          <a:solidFill>
                            <a:schemeClr val="bg1"/>
                          </a:solidFill>
                          <a:latin typeface="Arial"/>
                        </a:rPr>
                        <a:t> </a:t>
                      </a:r>
                      <a:endParaRPr lang="en-AU" sz="1400" b="0" i="0" u="none" strike="noStrike" dirty="0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 marL="8684" marR="8684" marT="868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18 – 24</a:t>
                      </a:r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Arial"/>
                        </a:rPr>
                        <a:t> </a:t>
                      </a:r>
                      <a:endParaRPr lang="en-AU" sz="1400" b="0" i="0" u="none" strike="noStrike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 marL="8684" marR="8684" marT="868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67 (7.0%)</a:t>
                      </a:r>
                    </a:p>
                  </a:txBody>
                  <a:tcPr marL="8684" marR="8684" marT="868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70757">
                <a:tc>
                  <a:txBody>
                    <a:bodyPr/>
                    <a:lstStyle/>
                    <a:p>
                      <a:pPr algn="l" fontAlgn="ctr"/>
                      <a:endParaRPr lang="en-AU" sz="1400" b="0" i="0" u="none" strike="noStrike" dirty="0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 marL="8684" marR="8684" marT="868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25 – 44</a:t>
                      </a:r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Arial"/>
                        </a:rPr>
                        <a:t> </a:t>
                      </a:r>
                      <a:endParaRPr lang="en-AU" sz="1400" b="0" i="0" u="none" strike="noStrike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 marL="8684" marR="8684" marT="868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269 (28.0%)</a:t>
                      </a:r>
                    </a:p>
                  </a:txBody>
                  <a:tcPr marL="8684" marR="8684" marT="868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70757">
                <a:tc>
                  <a:txBody>
                    <a:bodyPr/>
                    <a:lstStyle/>
                    <a:p>
                      <a:pPr algn="l" fontAlgn="ctr"/>
                      <a:endParaRPr lang="en-AU" sz="1400" b="0" i="0" u="none" strike="noStrike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 marL="8684" marR="8684" marT="868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45 – 64</a:t>
                      </a:r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Arial"/>
                        </a:rPr>
                        <a:t> </a:t>
                      </a:r>
                      <a:endParaRPr lang="en-AU" sz="1400" b="0" i="0" u="none" strike="noStrike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 marL="8684" marR="8684" marT="868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419 (43.6%)</a:t>
                      </a:r>
                    </a:p>
                  </a:txBody>
                  <a:tcPr marL="8684" marR="8684" marT="868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70757">
                <a:tc>
                  <a:txBody>
                    <a:bodyPr/>
                    <a:lstStyle/>
                    <a:p>
                      <a:pPr algn="l" fontAlgn="ctr"/>
                      <a:r>
                        <a:rPr lang="en-AU" sz="1400" b="0" i="0" u="none" strike="noStrike" dirty="0">
                          <a:solidFill>
                            <a:schemeClr val="bg1"/>
                          </a:solidFill>
                          <a:latin typeface="Times New Roman"/>
                        </a:rPr>
                        <a:t> </a:t>
                      </a:r>
                    </a:p>
                  </a:txBody>
                  <a:tcPr marL="8684" marR="8684" marT="868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65+</a:t>
                      </a:r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Arial"/>
                        </a:rPr>
                        <a:t> </a:t>
                      </a:r>
                      <a:endParaRPr lang="en-AU" sz="1400" b="0" i="0" u="none" strike="noStrike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 marL="8684" marR="8684" marT="868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204 (21.3%)</a:t>
                      </a:r>
                    </a:p>
                  </a:txBody>
                  <a:tcPr marL="8684" marR="8684" marT="868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0757">
                <a:tc>
                  <a:txBody>
                    <a:bodyPr/>
                    <a:lstStyle/>
                    <a:p>
                      <a:pPr algn="l" rtl="0" fontAlgn="ctr"/>
                      <a:r>
                        <a:rPr lang="en-AU" sz="1400" b="0" i="0" u="none" strike="noStrike" dirty="0">
                          <a:solidFill>
                            <a:schemeClr val="bg1"/>
                          </a:solidFill>
                          <a:latin typeface="Times New Roman"/>
                        </a:rPr>
                        <a:t>Gender</a:t>
                      </a:r>
                      <a:r>
                        <a:rPr lang="en-AU" sz="1400" b="0" i="0" u="none" strike="noStrike" dirty="0">
                          <a:solidFill>
                            <a:schemeClr val="bg1"/>
                          </a:solidFill>
                          <a:latin typeface="Arial"/>
                        </a:rPr>
                        <a:t> </a:t>
                      </a:r>
                      <a:endParaRPr lang="en-AU" sz="1400" b="0" i="0" u="none" strike="noStrike" dirty="0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 marL="8684" marR="8684" marT="868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Male</a:t>
                      </a:r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Arial"/>
                        </a:rPr>
                        <a:t> </a:t>
                      </a:r>
                      <a:endParaRPr lang="en-AU" sz="1400" b="0" i="0" u="none" strike="noStrike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 marL="8684" marR="8684" marT="868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419 (43.6%)</a:t>
                      </a:r>
                    </a:p>
                  </a:txBody>
                  <a:tcPr marL="8684" marR="8684" marT="868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70757">
                <a:tc>
                  <a:txBody>
                    <a:bodyPr/>
                    <a:lstStyle/>
                    <a:p>
                      <a:pPr algn="l" fontAlgn="ctr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 </a:t>
                      </a:r>
                    </a:p>
                  </a:txBody>
                  <a:tcPr marL="8684" marR="8684" marT="868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Female</a:t>
                      </a:r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Arial"/>
                        </a:rPr>
                        <a:t> </a:t>
                      </a:r>
                      <a:endParaRPr lang="en-AU" sz="1400" b="0" i="0" u="none" strike="noStrike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 marL="8684" marR="8684" marT="868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541 (56.4%)</a:t>
                      </a:r>
                    </a:p>
                  </a:txBody>
                  <a:tcPr marL="8684" marR="8684" marT="868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0757">
                <a:tc>
                  <a:txBody>
                    <a:bodyPr/>
                    <a:lstStyle/>
                    <a:p>
                      <a:pPr algn="l" rtl="0" fontAlgn="ctr"/>
                      <a:r>
                        <a:rPr lang="en-AU" sz="1400" b="0" i="0" u="none" strike="noStrike" dirty="0">
                          <a:solidFill>
                            <a:schemeClr val="bg1"/>
                          </a:solidFill>
                          <a:latin typeface="Times New Roman"/>
                        </a:rPr>
                        <a:t>Income</a:t>
                      </a:r>
                      <a:r>
                        <a:rPr lang="en-AU" sz="1400" b="0" i="0" u="none" strike="noStrike" dirty="0">
                          <a:solidFill>
                            <a:schemeClr val="bg1"/>
                          </a:solidFill>
                          <a:latin typeface="Arial"/>
                        </a:rPr>
                        <a:t> </a:t>
                      </a:r>
                      <a:endParaRPr lang="en-AU" sz="1400" b="0" i="0" u="none" strike="noStrike" dirty="0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 marL="8684" marR="8684" marT="868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&lt; $26K</a:t>
                      </a:r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Arial"/>
                        </a:rPr>
                        <a:t> </a:t>
                      </a:r>
                      <a:endParaRPr lang="en-AU" sz="1400" b="0" i="0" u="none" strike="noStrike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 marL="8684" marR="8684" marT="868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159 (16.6%)</a:t>
                      </a:r>
                    </a:p>
                  </a:txBody>
                  <a:tcPr marL="8684" marR="8684" marT="868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70757">
                <a:tc>
                  <a:txBody>
                    <a:bodyPr/>
                    <a:lstStyle/>
                    <a:p>
                      <a:pPr algn="l" fontAlgn="ctr"/>
                      <a:endParaRPr lang="en-AU" sz="1400" b="0" i="0" u="none" strike="noStrike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 marL="8684" marR="8684" marT="868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$26K – $52K</a:t>
                      </a:r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Arial"/>
                        </a:rPr>
                        <a:t> </a:t>
                      </a:r>
                      <a:endParaRPr lang="en-AU" sz="1400" b="0" i="0" u="none" strike="noStrike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 marL="8684" marR="8684" marT="868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220 (22.9%)</a:t>
                      </a:r>
                    </a:p>
                  </a:txBody>
                  <a:tcPr marL="8684" marR="8684" marT="868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70757">
                <a:tc>
                  <a:txBody>
                    <a:bodyPr/>
                    <a:lstStyle/>
                    <a:p>
                      <a:pPr algn="l" fontAlgn="ctr"/>
                      <a:endParaRPr lang="en-AU" sz="1400" b="0" i="0" u="none" strike="noStrike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 marL="8684" marR="8684" marT="868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$52K – $78K</a:t>
                      </a:r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Arial"/>
                        </a:rPr>
                        <a:t> </a:t>
                      </a:r>
                      <a:endParaRPr lang="en-AU" sz="1400" b="0" i="0" u="none" strike="noStrike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 marL="8684" marR="8684" marT="868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164 (17.1%)</a:t>
                      </a:r>
                    </a:p>
                  </a:txBody>
                  <a:tcPr marL="8684" marR="8684" marT="868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70757">
                <a:tc>
                  <a:txBody>
                    <a:bodyPr/>
                    <a:lstStyle/>
                    <a:p>
                      <a:pPr algn="l" fontAlgn="ctr"/>
                      <a:endParaRPr lang="en-AU" sz="1400" b="0" i="0" u="none" strike="noStrike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 marL="8684" marR="8684" marT="868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$78K – $165K</a:t>
                      </a:r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Arial"/>
                        </a:rPr>
                        <a:t> </a:t>
                      </a:r>
                      <a:endParaRPr lang="en-AU" sz="1400" b="0" i="0" u="none" strike="noStrike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 marL="8684" marR="8684" marT="868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288 (30.0%)</a:t>
                      </a:r>
                    </a:p>
                  </a:txBody>
                  <a:tcPr marL="8684" marR="8684" marT="868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70757">
                <a:tc>
                  <a:txBody>
                    <a:bodyPr/>
                    <a:lstStyle/>
                    <a:p>
                      <a:pPr algn="l" fontAlgn="ctr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 </a:t>
                      </a:r>
                    </a:p>
                  </a:txBody>
                  <a:tcPr marL="8684" marR="8684" marT="868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&gt; $165K</a:t>
                      </a:r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Arial"/>
                        </a:rPr>
                        <a:t> </a:t>
                      </a:r>
                      <a:endParaRPr lang="en-AU" sz="1400" b="0" i="0" u="none" strike="noStrike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 marL="8684" marR="8684" marT="868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88 (9.2%)</a:t>
                      </a:r>
                    </a:p>
                  </a:txBody>
                  <a:tcPr marL="8684" marR="8684" marT="868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0757">
                <a:tc>
                  <a:txBody>
                    <a:bodyPr/>
                    <a:lstStyle/>
                    <a:p>
                      <a:pPr algn="l" rtl="0" fontAlgn="ctr"/>
                      <a:r>
                        <a:rPr lang="en-AU" sz="1400" b="0" i="0" u="none" strike="noStrike" dirty="0">
                          <a:solidFill>
                            <a:schemeClr val="bg1"/>
                          </a:solidFill>
                          <a:latin typeface="Times New Roman"/>
                        </a:rPr>
                        <a:t>Marital status</a:t>
                      </a:r>
                      <a:r>
                        <a:rPr lang="en-AU" sz="1400" b="0" i="0" u="none" strike="noStrike" dirty="0">
                          <a:solidFill>
                            <a:schemeClr val="bg1"/>
                          </a:solidFill>
                          <a:latin typeface="Arial"/>
                        </a:rPr>
                        <a:t> </a:t>
                      </a:r>
                      <a:endParaRPr lang="en-AU" sz="1400" b="0" i="0" u="none" strike="noStrike" dirty="0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 marL="8684" marR="8684" marT="868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Single</a:t>
                      </a:r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Arial"/>
                        </a:rPr>
                        <a:t> </a:t>
                      </a:r>
                      <a:endParaRPr lang="en-AU" sz="1400" b="0" i="0" u="none" strike="noStrike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 marL="8684" marR="8684" marT="868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159 (16.6%)</a:t>
                      </a:r>
                    </a:p>
                  </a:txBody>
                  <a:tcPr marL="8684" marR="8684" marT="868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70757">
                <a:tc>
                  <a:txBody>
                    <a:bodyPr/>
                    <a:lstStyle/>
                    <a:p>
                      <a:pPr algn="l" fontAlgn="ctr"/>
                      <a:endParaRPr lang="en-AU" sz="1400" b="0" i="0" u="none" strike="noStrike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 marL="8684" marR="8684" marT="868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Married or de facto</a:t>
                      </a:r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Arial"/>
                        </a:rPr>
                        <a:t> </a:t>
                      </a:r>
                      <a:endParaRPr lang="en-AU" sz="1400" b="0" i="0" u="none" strike="noStrike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 marL="8684" marR="8684" marT="868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674 (70.2%)</a:t>
                      </a:r>
                    </a:p>
                  </a:txBody>
                  <a:tcPr marL="8684" marR="8684" marT="868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70757">
                <a:tc>
                  <a:txBody>
                    <a:bodyPr/>
                    <a:lstStyle/>
                    <a:p>
                      <a:pPr algn="l" fontAlgn="ctr"/>
                      <a:endParaRPr lang="en-AU" sz="1400" b="0" i="0" u="none" strike="noStrike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 marL="8684" marR="8684" marT="868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Divorced/separated</a:t>
                      </a:r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Arial"/>
                        </a:rPr>
                        <a:t> </a:t>
                      </a:r>
                      <a:endParaRPr lang="en-AU" sz="1400" b="0" i="0" u="none" strike="noStrike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 marL="8684" marR="8684" marT="868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82 (8.5%)</a:t>
                      </a:r>
                    </a:p>
                  </a:txBody>
                  <a:tcPr marL="8684" marR="8684" marT="868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70757">
                <a:tc>
                  <a:txBody>
                    <a:bodyPr/>
                    <a:lstStyle/>
                    <a:p>
                      <a:pPr algn="l" fontAlgn="ctr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 </a:t>
                      </a:r>
                    </a:p>
                  </a:txBody>
                  <a:tcPr marL="8684" marR="8684" marT="868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Widowed</a:t>
                      </a:r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Arial"/>
                        </a:rPr>
                        <a:t> </a:t>
                      </a:r>
                      <a:endParaRPr lang="en-AU" sz="1400" b="0" i="0" u="none" strike="noStrike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 marL="8684" marR="8684" marT="868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42 (4.4%)</a:t>
                      </a:r>
                    </a:p>
                  </a:txBody>
                  <a:tcPr marL="8684" marR="8684" marT="868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0757">
                <a:tc>
                  <a:txBody>
                    <a:bodyPr/>
                    <a:lstStyle/>
                    <a:p>
                      <a:pPr algn="l" rtl="0" fontAlgn="ctr"/>
                      <a:r>
                        <a:rPr lang="en-AU" sz="1400" b="0" i="0" u="none" strike="noStrike" dirty="0">
                          <a:solidFill>
                            <a:schemeClr val="bg1"/>
                          </a:solidFill>
                          <a:latin typeface="Times New Roman"/>
                        </a:rPr>
                        <a:t>Employment status</a:t>
                      </a:r>
                      <a:r>
                        <a:rPr lang="en-AU" sz="1400" b="0" i="0" u="none" strike="noStrike" dirty="0">
                          <a:solidFill>
                            <a:schemeClr val="bg1"/>
                          </a:solidFill>
                          <a:latin typeface="Arial"/>
                        </a:rPr>
                        <a:t> </a:t>
                      </a:r>
                      <a:endParaRPr lang="en-AU" sz="1400" b="0" i="0" u="none" strike="noStrike" dirty="0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 marL="8684" marR="8684" marT="868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Employed (part/full/self)</a:t>
                      </a:r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Arial"/>
                        </a:rPr>
                        <a:t> </a:t>
                      </a:r>
                      <a:endParaRPr lang="en-AU" sz="1400" b="0" i="0" u="none" strike="noStrike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 marL="8684" marR="8684" marT="868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587 (61.1%)</a:t>
                      </a:r>
                    </a:p>
                  </a:txBody>
                  <a:tcPr marL="8684" marR="8684" marT="868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70757">
                <a:tc>
                  <a:txBody>
                    <a:bodyPr/>
                    <a:lstStyle/>
                    <a:p>
                      <a:pPr algn="l" fontAlgn="ctr"/>
                      <a:endParaRPr lang="en-AU" sz="1400" b="0" i="0" u="none" strike="noStrike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 marL="8684" marR="8684" marT="868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Family carer</a:t>
                      </a:r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Arial"/>
                        </a:rPr>
                        <a:t> </a:t>
                      </a:r>
                      <a:endParaRPr lang="en-AU" sz="1400" b="0" i="0" u="none" strike="noStrike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 marL="8684" marR="8684" marT="868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67 (7.0%)</a:t>
                      </a:r>
                    </a:p>
                  </a:txBody>
                  <a:tcPr marL="8684" marR="8684" marT="868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70757">
                <a:tc>
                  <a:txBody>
                    <a:bodyPr/>
                    <a:lstStyle/>
                    <a:p>
                      <a:pPr algn="l" fontAlgn="ctr"/>
                      <a:endParaRPr lang="en-AU" sz="1400" b="0" i="0" u="none" strike="noStrike" dirty="0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 marL="8684" marR="8684" marT="868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Retired</a:t>
                      </a:r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Arial"/>
                        </a:rPr>
                        <a:t> </a:t>
                      </a:r>
                      <a:endParaRPr lang="en-AU" sz="1400" b="0" i="0" u="none" strike="noStrike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 marL="8684" marR="8684" marT="868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200 (20.8%)</a:t>
                      </a:r>
                    </a:p>
                  </a:txBody>
                  <a:tcPr marL="8684" marR="8684" marT="868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91094">
                <a:tc>
                  <a:txBody>
                    <a:bodyPr/>
                    <a:lstStyle/>
                    <a:p>
                      <a:pPr algn="l" fontAlgn="ctr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 </a:t>
                      </a:r>
                    </a:p>
                  </a:txBody>
                  <a:tcPr marL="8684" marR="8684" marT="868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Permanently sick or disabled / student / unemployed / other</a:t>
                      </a:r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Arial"/>
                        </a:rPr>
                        <a:t> </a:t>
                      </a:r>
                      <a:endParaRPr lang="en-AU" sz="1400" b="0" i="0" u="none" strike="noStrike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 marL="8684" marR="8684" marT="868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65 (6.8%)</a:t>
                      </a:r>
                    </a:p>
                  </a:txBody>
                  <a:tcPr marL="8684" marR="8684" marT="868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0757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en-AU" sz="1400" b="0" i="0" u="none" strike="noStrike" dirty="0">
                          <a:solidFill>
                            <a:schemeClr val="bg1"/>
                          </a:solidFill>
                          <a:latin typeface="Times New Roman"/>
                        </a:rPr>
                        <a:t>* Total percentages in some variables do not reach 100% due to missing values </a:t>
                      </a:r>
                    </a:p>
                  </a:txBody>
                  <a:tcPr marL="8684" marR="8684" marT="868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3400" y="152400"/>
          <a:ext cx="7924800" cy="6324597"/>
        </p:xfrm>
        <a:graphic>
          <a:graphicData uri="http://schemas.openxmlformats.org/drawingml/2006/table">
            <a:tbl>
              <a:tblPr/>
              <a:tblGrid>
                <a:gridCol w="2641600"/>
                <a:gridCol w="2641600"/>
                <a:gridCol w="2641600"/>
              </a:tblGrid>
              <a:tr h="363336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en-AU" sz="1400" b="1" i="0" u="none" strike="noStrike" dirty="0">
                          <a:solidFill>
                            <a:schemeClr val="bg1"/>
                          </a:solidFill>
                          <a:latin typeface="Times New Roman"/>
                        </a:rPr>
                        <a:t>Table </a:t>
                      </a:r>
                      <a:r>
                        <a:rPr lang="en-AU" sz="1400" b="1" i="0" u="none" strike="noStrike" dirty="0" smtClean="0">
                          <a:solidFill>
                            <a:schemeClr val="bg1"/>
                          </a:solidFill>
                          <a:latin typeface="Times New Roman"/>
                        </a:rPr>
                        <a:t>1 continued.</a:t>
                      </a:r>
                      <a:endParaRPr lang="en-AU" sz="1400" b="1" i="0" u="none" strike="noStrike" dirty="0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 marL="8965" marR="8965" marT="896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</a:tr>
              <a:tr h="36333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Variable</a:t>
                      </a:r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Arial"/>
                        </a:rPr>
                        <a:t> </a:t>
                      </a:r>
                      <a:endParaRPr lang="en-AU" sz="1400" b="0" i="0" u="none" strike="noStrike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 marL="8965" marR="8965" marT="896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 Category</a:t>
                      </a:r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Arial"/>
                        </a:rPr>
                        <a:t> </a:t>
                      </a:r>
                      <a:endParaRPr lang="en-AU" sz="1400" b="0" i="0" u="none" strike="noStrike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 marL="8965" marR="8965" marT="896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# Respondents (%)*</a:t>
                      </a:r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Arial"/>
                        </a:rPr>
                        <a:t> </a:t>
                      </a:r>
                      <a:endParaRPr lang="en-AU" sz="1400" b="0" i="0" u="none" strike="noStrike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 marL="8965" marR="8965" marT="896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3336">
                <a:tc>
                  <a:txBody>
                    <a:bodyPr/>
                    <a:lstStyle/>
                    <a:p>
                      <a:pPr algn="l" rtl="0" fontAlgn="ctr"/>
                      <a:r>
                        <a:rPr lang="en-AU" sz="1400" b="0" i="0" u="none" strike="noStrike" dirty="0">
                          <a:solidFill>
                            <a:schemeClr val="bg1"/>
                          </a:solidFill>
                          <a:latin typeface="Times New Roman"/>
                        </a:rPr>
                        <a:t>Education status</a:t>
                      </a:r>
                      <a:r>
                        <a:rPr lang="en-AU" sz="1400" b="0" i="0" u="none" strike="noStrike" dirty="0">
                          <a:solidFill>
                            <a:schemeClr val="bg1"/>
                          </a:solidFill>
                          <a:latin typeface="Arial"/>
                        </a:rPr>
                        <a:t> </a:t>
                      </a:r>
                      <a:endParaRPr lang="en-AU" sz="1400" b="0" i="0" u="none" strike="noStrike" dirty="0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 marL="8965" marR="8965" marT="896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Less than high school</a:t>
                      </a:r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Arial"/>
                        </a:rPr>
                        <a:t> </a:t>
                      </a:r>
                      <a:endParaRPr lang="en-AU" sz="1400" b="0" i="0" u="none" strike="noStrike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 marL="8965" marR="8965" marT="896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66 (6.9%)</a:t>
                      </a:r>
                    </a:p>
                  </a:txBody>
                  <a:tcPr marL="8965" marR="8965" marT="896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363336">
                <a:tc>
                  <a:txBody>
                    <a:bodyPr/>
                    <a:lstStyle/>
                    <a:p>
                      <a:pPr algn="l" fontAlgn="ctr"/>
                      <a:endParaRPr lang="en-AU" sz="1400" b="0" i="0" u="none" strike="noStrike" dirty="0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 marL="8965" marR="8965" marT="896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AU" sz="1400" b="0" i="0" u="none" strike="noStrike" dirty="0">
                          <a:solidFill>
                            <a:schemeClr val="bg1"/>
                          </a:solidFill>
                          <a:latin typeface="Times New Roman"/>
                        </a:rPr>
                        <a:t>High school</a:t>
                      </a:r>
                      <a:r>
                        <a:rPr lang="en-AU" sz="1400" b="0" i="0" u="none" strike="noStrike" dirty="0">
                          <a:solidFill>
                            <a:schemeClr val="bg1"/>
                          </a:solidFill>
                          <a:latin typeface="Arial"/>
                        </a:rPr>
                        <a:t> </a:t>
                      </a:r>
                      <a:endParaRPr lang="en-AU" sz="1400" b="0" i="0" u="none" strike="noStrike" dirty="0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 marL="8965" marR="8965" marT="896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330 (34.4%)</a:t>
                      </a:r>
                    </a:p>
                  </a:txBody>
                  <a:tcPr marL="8965" marR="8965" marT="896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6152">
                <a:tc>
                  <a:txBody>
                    <a:bodyPr/>
                    <a:lstStyle/>
                    <a:p>
                      <a:pPr algn="l" fontAlgn="ctr"/>
                      <a:endParaRPr lang="en-AU" sz="1400" b="0" i="0" u="none" strike="noStrike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 marL="8965" marR="8965" marT="896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AU" sz="1400" b="0" i="0" u="none" strike="noStrike" dirty="0">
                          <a:solidFill>
                            <a:schemeClr val="bg1"/>
                          </a:solidFill>
                          <a:latin typeface="Times New Roman"/>
                        </a:rPr>
                        <a:t>Some college/undergraduate degree</a:t>
                      </a:r>
                      <a:r>
                        <a:rPr lang="en-AU" sz="1400" b="0" i="0" u="none" strike="noStrike" dirty="0">
                          <a:solidFill>
                            <a:schemeClr val="bg1"/>
                          </a:solidFill>
                          <a:latin typeface="Arial"/>
                        </a:rPr>
                        <a:t> </a:t>
                      </a:r>
                      <a:endParaRPr lang="en-AU" sz="1400" b="0" i="0" u="none" strike="noStrike" dirty="0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 marL="8965" marR="8965" marT="896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351 (36.6%)</a:t>
                      </a:r>
                    </a:p>
                  </a:txBody>
                  <a:tcPr marL="8965" marR="8965" marT="896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3336">
                <a:tc>
                  <a:txBody>
                    <a:bodyPr/>
                    <a:lstStyle/>
                    <a:p>
                      <a:pPr algn="l" fontAlgn="ctr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 </a:t>
                      </a:r>
                    </a:p>
                  </a:txBody>
                  <a:tcPr marL="8965" marR="8965" marT="896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Graduate degree</a:t>
                      </a:r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Arial"/>
                        </a:rPr>
                        <a:t> </a:t>
                      </a:r>
                      <a:endParaRPr lang="en-AU" sz="1400" b="0" i="0" u="none" strike="noStrike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 marL="8965" marR="8965" marT="896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186 (19.4%)</a:t>
                      </a:r>
                    </a:p>
                  </a:txBody>
                  <a:tcPr marL="8965" marR="8965" marT="896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3336">
                <a:tc>
                  <a:txBody>
                    <a:bodyPr/>
                    <a:lstStyle/>
                    <a:p>
                      <a:pPr algn="l" rtl="0" fontAlgn="ctr"/>
                      <a:r>
                        <a:rPr lang="en-AU" sz="1400" b="0" i="0" u="none" strike="noStrike" dirty="0">
                          <a:solidFill>
                            <a:schemeClr val="bg1"/>
                          </a:solidFill>
                          <a:latin typeface="Times New Roman"/>
                        </a:rPr>
                        <a:t>Country of origin</a:t>
                      </a:r>
                      <a:r>
                        <a:rPr lang="en-AU" sz="1400" b="0" i="0" u="none" strike="noStrike" dirty="0">
                          <a:solidFill>
                            <a:schemeClr val="bg1"/>
                          </a:solidFill>
                          <a:latin typeface="Arial"/>
                        </a:rPr>
                        <a:t> </a:t>
                      </a:r>
                      <a:endParaRPr lang="en-AU" sz="1400" b="0" i="0" u="none" strike="noStrike" dirty="0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 marL="8965" marR="8965" marT="896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Australia</a:t>
                      </a:r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Arial"/>
                        </a:rPr>
                        <a:t> </a:t>
                      </a:r>
                      <a:endParaRPr lang="en-AU" sz="1400" b="0" i="0" u="none" strike="noStrike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 marL="8965" marR="8965" marT="896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757 (78.9%)</a:t>
                      </a:r>
                    </a:p>
                  </a:txBody>
                  <a:tcPr marL="8965" marR="8965" marT="896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363336">
                <a:tc>
                  <a:txBody>
                    <a:bodyPr/>
                    <a:lstStyle/>
                    <a:p>
                      <a:pPr algn="l" fontAlgn="ctr"/>
                      <a:endParaRPr lang="en-AU" sz="1400" b="0" i="0" u="none" strike="noStrike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 marL="8965" marR="8965" marT="896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Asia</a:t>
                      </a:r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Arial"/>
                        </a:rPr>
                        <a:t> </a:t>
                      </a:r>
                      <a:endParaRPr lang="en-AU" sz="1400" b="0" i="0" u="none" strike="noStrike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 marL="8965" marR="8965" marT="896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77 (8.0%)</a:t>
                      </a:r>
                    </a:p>
                  </a:txBody>
                  <a:tcPr marL="8965" marR="8965" marT="896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3336">
                <a:tc>
                  <a:txBody>
                    <a:bodyPr/>
                    <a:lstStyle/>
                    <a:p>
                      <a:pPr algn="l" fontAlgn="ctr"/>
                      <a:endParaRPr lang="en-AU" sz="1400" b="0" i="0" u="none" strike="noStrike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 marL="8965" marR="8965" marT="896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Europe, US, Canada</a:t>
                      </a:r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Arial"/>
                        </a:rPr>
                        <a:t> </a:t>
                      </a:r>
                      <a:endParaRPr lang="en-AU" sz="1400" b="0" i="0" u="none" strike="noStrike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 marL="8965" marR="8965" marT="896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101 (10.5%)</a:t>
                      </a:r>
                    </a:p>
                  </a:txBody>
                  <a:tcPr marL="8965" marR="8965" marT="896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3336">
                <a:tc>
                  <a:txBody>
                    <a:bodyPr/>
                    <a:lstStyle/>
                    <a:p>
                      <a:pPr algn="l" fontAlgn="ctr"/>
                      <a:endParaRPr lang="en-AU" sz="1400" b="0" i="0" u="none" strike="noStrike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 marL="8965" marR="8965" marT="896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Africa</a:t>
                      </a:r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Arial"/>
                        </a:rPr>
                        <a:t> </a:t>
                      </a:r>
                      <a:endParaRPr lang="en-AU" sz="1400" b="0" i="0" u="none" strike="noStrike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 marL="8965" marR="8965" marT="896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11 (1.1%)</a:t>
                      </a:r>
                    </a:p>
                  </a:txBody>
                  <a:tcPr marL="8965" marR="8965" marT="896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3336">
                <a:tc>
                  <a:txBody>
                    <a:bodyPr/>
                    <a:lstStyle/>
                    <a:p>
                      <a:pPr algn="l" fontAlgn="ctr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 </a:t>
                      </a:r>
                    </a:p>
                  </a:txBody>
                  <a:tcPr marL="8965" marR="8965" marT="896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Other</a:t>
                      </a:r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Arial"/>
                        </a:rPr>
                        <a:t> </a:t>
                      </a:r>
                      <a:endParaRPr lang="en-AU" sz="1400" b="0" i="0" u="none" strike="noStrike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 marL="8965" marR="8965" marT="896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14 (1.5%)</a:t>
                      </a:r>
                    </a:p>
                  </a:txBody>
                  <a:tcPr marL="8965" marR="8965" marT="896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2022">
                <a:tc>
                  <a:txBody>
                    <a:bodyPr/>
                    <a:lstStyle/>
                    <a:p>
                      <a:pPr algn="l" rtl="0" fontAlgn="ctr"/>
                      <a:r>
                        <a:rPr lang="en-AU" sz="1400" b="0" i="0" u="none" strike="noStrike" dirty="0">
                          <a:solidFill>
                            <a:schemeClr val="bg1"/>
                          </a:solidFill>
                          <a:latin typeface="Times New Roman"/>
                        </a:rPr>
                        <a:t>Language spoken at home</a:t>
                      </a:r>
                      <a:r>
                        <a:rPr lang="en-AU" sz="1400" b="0" i="0" u="none" strike="noStrike" dirty="0">
                          <a:solidFill>
                            <a:schemeClr val="bg1"/>
                          </a:solidFill>
                          <a:latin typeface="Arial"/>
                        </a:rPr>
                        <a:t> </a:t>
                      </a:r>
                      <a:endParaRPr lang="en-AU" sz="1400" b="0" i="0" u="none" strike="noStrike" dirty="0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 marL="8965" marR="8965" marT="896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English, or English &amp; another language</a:t>
                      </a:r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Arial"/>
                        </a:rPr>
                        <a:t> </a:t>
                      </a:r>
                      <a:endParaRPr lang="en-AU" sz="1400" b="0" i="0" u="none" strike="noStrike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 marL="8965" marR="8965" marT="896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882 (91.9%)</a:t>
                      </a:r>
                    </a:p>
                  </a:txBody>
                  <a:tcPr marL="8965" marR="8965" marT="896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473055">
                <a:tc>
                  <a:txBody>
                    <a:bodyPr/>
                    <a:lstStyle/>
                    <a:p>
                      <a:pPr algn="l" fontAlgn="ctr"/>
                      <a:endParaRPr lang="en-AU" sz="1400" b="0" i="0" u="none" strike="noStrike" dirty="0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 marL="8965" marR="8965" marT="896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Other European language only</a:t>
                      </a:r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Arial"/>
                        </a:rPr>
                        <a:t> </a:t>
                      </a:r>
                      <a:endParaRPr lang="en-AU" sz="1400" b="0" i="0" u="none" strike="noStrike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 marL="8965" marR="8965" marT="896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11 (1.1%)</a:t>
                      </a:r>
                    </a:p>
                  </a:txBody>
                  <a:tcPr marL="8965" marR="8965" marT="896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3336">
                <a:tc>
                  <a:txBody>
                    <a:bodyPr/>
                    <a:lstStyle/>
                    <a:p>
                      <a:pPr algn="l" fontAlgn="ctr"/>
                      <a:endParaRPr lang="en-AU" sz="1400" b="0" i="0" u="none" strike="noStrike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 marL="8965" marR="8965" marT="896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Asian only</a:t>
                      </a:r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Arial"/>
                        </a:rPr>
                        <a:t> </a:t>
                      </a:r>
                      <a:endParaRPr lang="en-AU" sz="1400" b="0" i="0" u="none" strike="noStrike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 marL="8965" marR="8965" marT="896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25 (2.6%)</a:t>
                      </a:r>
                    </a:p>
                  </a:txBody>
                  <a:tcPr marL="8965" marR="8965" marT="896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3336">
                <a:tc>
                  <a:txBody>
                    <a:bodyPr/>
                    <a:lstStyle/>
                    <a:p>
                      <a:pPr algn="l" rtl="0" fontAlgn="ctr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 </a:t>
                      </a:r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Arial"/>
                        </a:rPr>
                        <a:t> </a:t>
                      </a:r>
                      <a:endParaRPr lang="en-AU" sz="1400" b="0" i="0" u="none" strike="noStrike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 marL="8965" marR="8965" marT="896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Other</a:t>
                      </a:r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Arial"/>
                        </a:rPr>
                        <a:t> </a:t>
                      </a:r>
                      <a:endParaRPr lang="en-AU" sz="1400" b="0" i="0" u="none" strike="noStrike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 marL="8965" marR="8965" marT="896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42 (4.4%)</a:t>
                      </a:r>
                    </a:p>
                  </a:txBody>
                  <a:tcPr marL="8965" marR="8965" marT="896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3336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en-AU" sz="1400" b="0" i="0" u="none" strike="noStrike" dirty="0">
                          <a:solidFill>
                            <a:schemeClr val="bg1"/>
                          </a:solidFill>
                          <a:latin typeface="Times New Roman"/>
                        </a:rPr>
                        <a:t>* Total percentages in some variables do not reach 100% due to missing values </a:t>
                      </a:r>
                    </a:p>
                  </a:txBody>
                  <a:tcPr marL="8965" marR="8965" marT="896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52401" y="148256"/>
          <a:ext cx="8686798" cy="5724672"/>
        </p:xfrm>
        <a:graphic>
          <a:graphicData uri="http://schemas.openxmlformats.org/drawingml/2006/table">
            <a:tbl>
              <a:tblPr/>
              <a:tblGrid>
                <a:gridCol w="1823392"/>
                <a:gridCol w="1338651"/>
                <a:gridCol w="1592259"/>
                <a:gridCol w="1377175"/>
                <a:gridCol w="1245559"/>
                <a:gridCol w="1309762"/>
              </a:tblGrid>
              <a:tr h="470888">
                <a:tc gridSpan="6">
                  <a:txBody>
                    <a:bodyPr/>
                    <a:lstStyle/>
                    <a:p>
                      <a:pPr algn="l" fontAlgn="b"/>
                      <a:r>
                        <a:rPr lang="en-AU" sz="1400" b="1" i="0" u="none" strike="noStrike" dirty="0">
                          <a:solidFill>
                            <a:schemeClr val="bg1"/>
                          </a:solidFill>
                          <a:latin typeface="Times New Roman"/>
                        </a:rPr>
                        <a:t>Table 3: Association between health outcomes and direct flood impact, existing medical problems and sociodemographic </a:t>
                      </a:r>
                      <a:r>
                        <a:rPr lang="en-AU" sz="1400" b="1" i="0" u="none" strike="noStrike" dirty="0" smtClean="0">
                          <a:solidFill>
                            <a:schemeClr val="bg1"/>
                          </a:solidFill>
                          <a:latin typeface="Times New Roman"/>
                        </a:rPr>
                        <a:t>variables</a:t>
                      </a:r>
                      <a:endParaRPr lang="en-AU" sz="1400" b="1" i="0" u="none" strike="noStrike" dirty="0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</a:tr>
              <a:tr h="868072">
                <a:tc>
                  <a:txBody>
                    <a:bodyPr/>
                    <a:lstStyle/>
                    <a:p>
                      <a:pPr algn="ctr" fontAlgn="b"/>
                      <a:r>
                        <a:rPr lang="en-AU" sz="1400" b="0" i="0" u="none" strike="noStrike" dirty="0">
                          <a:solidFill>
                            <a:schemeClr val="bg1"/>
                          </a:solidFill>
                          <a:latin typeface="Times New Roman"/>
                        </a:rPr>
                        <a:t> 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400" b="1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Worse overall health </a:t>
                      </a:r>
                      <a:br>
                        <a:rPr lang="en-AU" sz="1400" b="1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</a:br>
                      <a:r>
                        <a:rPr lang="en-AU" sz="1400" b="1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since floods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400" b="1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Worse respiratory health </a:t>
                      </a:r>
                      <a:br>
                        <a:rPr lang="en-AU" sz="1400" b="1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</a:br>
                      <a:r>
                        <a:rPr lang="en-AU" sz="1400" b="1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since floods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400" b="1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Increased </a:t>
                      </a:r>
                      <a:br>
                        <a:rPr lang="en-AU" sz="1400" b="1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</a:br>
                      <a:r>
                        <a:rPr lang="en-AU" sz="1400" b="1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psychological distress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400" b="1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Problems </a:t>
                      </a:r>
                      <a:br>
                        <a:rPr lang="en-AU" sz="1400" b="1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</a:br>
                      <a:r>
                        <a:rPr lang="en-AU" sz="1400" b="1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with sleeping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400" b="1" i="0" u="none" strike="noStrike" dirty="0">
                          <a:solidFill>
                            <a:schemeClr val="bg1"/>
                          </a:solidFill>
                          <a:latin typeface="Times New Roman"/>
                        </a:rPr>
                        <a:t>Probable </a:t>
                      </a:r>
                      <a:br>
                        <a:rPr lang="en-AU" sz="1400" b="1" i="0" u="none" strike="noStrike" dirty="0">
                          <a:solidFill>
                            <a:schemeClr val="bg1"/>
                          </a:solidFill>
                          <a:latin typeface="Times New Roman"/>
                        </a:rPr>
                      </a:br>
                      <a:r>
                        <a:rPr lang="en-AU" sz="1400" b="1" i="0" u="none" strike="noStrike" dirty="0">
                          <a:solidFill>
                            <a:schemeClr val="bg1"/>
                          </a:solidFill>
                          <a:latin typeface="Times New Roman"/>
                        </a:rPr>
                        <a:t>PTSD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5409">
                <a:tc>
                  <a:txBody>
                    <a:bodyPr/>
                    <a:lstStyle/>
                    <a:p>
                      <a:pPr algn="l" fontAlgn="b"/>
                      <a:r>
                        <a:rPr lang="en-AU" sz="1400" b="1" i="0" u="none" strike="noStrike" dirty="0">
                          <a:solidFill>
                            <a:schemeClr val="bg1"/>
                          </a:solidFill>
                          <a:latin typeface="Times New Roman"/>
                        </a:rPr>
                        <a:t>Direct flood impact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AU" sz="1400" b="0" i="0" u="none" strike="noStrike">
                        <a:solidFill>
                          <a:schemeClr val="bg1"/>
                        </a:solidFill>
                        <a:latin typeface="Calibri"/>
                      </a:endParaRP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AU" sz="1400" b="0" i="0" u="none" strike="noStrike">
                        <a:solidFill>
                          <a:schemeClr val="bg1"/>
                        </a:solidFill>
                        <a:latin typeface="Calibri"/>
                      </a:endParaRP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AU" sz="1400" b="0" i="0" u="none" strike="noStrike">
                        <a:solidFill>
                          <a:schemeClr val="bg1"/>
                        </a:solidFill>
                        <a:latin typeface="Calibri"/>
                      </a:endParaRP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AU" sz="1400" b="0" i="0" u="none" strike="noStrike">
                        <a:solidFill>
                          <a:schemeClr val="bg1"/>
                        </a:solidFill>
                        <a:latin typeface="Calibri"/>
                      </a:endParaRP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AU" sz="1400" b="0" i="0" u="none" strike="noStrike" dirty="0">
                        <a:solidFill>
                          <a:schemeClr val="bg1"/>
                        </a:solidFill>
                        <a:latin typeface="Calibri"/>
                      </a:endParaRP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95409">
                <a:tc>
                  <a:txBody>
                    <a:bodyPr/>
                    <a:lstStyle/>
                    <a:p>
                      <a:pPr algn="l" fontAlgn="b"/>
                      <a:r>
                        <a:rPr lang="en-AU" sz="1400" b="0" i="0" u="none" strike="noStrike" dirty="0">
                          <a:solidFill>
                            <a:schemeClr val="bg1"/>
                          </a:solidFill>
                          <a:latin typeface="Times New Roman"/>
                        </a:rPr>
                        <a:t>No (Reference)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5409">
                <a:tc>
                  <a:txBody>
                    <a:bodyPr/>
                    <a:lstStyle/>
                    <a:p>
                      <a:pPr algn="l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Yes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1" i="0" u="none" strike="noStrike" dirty="0">
                          <a:solidFill>
                            <a:schemeClr val="bg1"/>
                          </a:solidFill>
                          <a:latin typeface="Calibri"/>
                        </a:rPr>
                        <a:t>5.3 (2.8, 10.1</a:t>
                      </a:r>
                      <a:r>
                        <a:rPr lang="en-AU" sz="1400" b="1" i="0" u="none" strike="noStrike" dirty="0" smtClean="0">
                          <a:solidFill>
                            <a:schemeClr val="bg1"/>
                          </a:solidFill>
                          <a:latin typeface="Calibri"/>
                        </a:rPr>
                        <a:t>) *</a:t>
                      </a:r>
                      <a:endParaRPr lang="en-AU" sz="1400" b="1" i="0" u="none" strike="noStrike" dirty="0">
                        <a:solidFill>
                          <a:schemeClr val="bg1"/>
                        </a:solidFill>
                        <a:latin typeface="Calibri"/>
                      </a:endParaRP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1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2.3 (1.1, 4.6)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1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1.9 (1.1, 3.5)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1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2.3 (1.2, 4.4)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1" i="0" u="none" strike="noStrike" dirty="0">
                          <a:solidFill>
                            <a:schemeClr val="bg1"/>
                          </a:solidFill>
                          <a:latin typeface="Calibri"/>
                        </a:rPr>
                        <a:t>2.3 (1.2, 4.5)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1740">
                <a:tc>
                  <a:txBody>
                    <a:bodyPr/>
                    <a:lstStyle/>
                    <a:p>
                      <a:pPr algn="l" fontAlgn="b"/>
                      <a:r>
                        <a:rPr lang="en-AU" sz="1400" b="1" i="0" u="none" strike="noStrike" dirty="0">
                          <a:solidFill>
                            <a:schemeClr val="bg1"/>
                          </a:solidFill>
                          <a:latin typeface="Times New Roman"/>
                        </a:rPr>
                        <a:t>Existing health problems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AU" sz="1400" b="0" i="0" u="none" strike="noStrike">
                        <a:solidFill>
                          <a:schemeClr val="bg1"/>
                        </a:solidFill>
                        <a:latin typeface="Calibri"/>
                      </a:endParaRP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AU" sz="1400" b="0" i="0" u="none" strike="noStrike">
                        <a:solidFill>
                          <a:schemeClr val="bg1"/>
                        </a:solidFill>
                        <a:latin typeface="Calibri"/>
                      </a:endParaRP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AU" sz="1400" b="0" i="0" u="none" strike="noStrike">
                        <a:solidFill>
                          <a:schemeClr val="bg1"/>
                        </a:solidFill>
                        <a:latin typeface="Calibri"/>
                      </a:endParaRP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AU" sz="1400" b="0" i="0" u="none" strike="noStrike">
                        <a:solidFill>
                          <a:schemeClr val="bg1"/>
                        </a:solidFill>
                        <a:latin typeface="Calibri"/>
                      </a:endParaRP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AU" sz="1400" b="0" i="0" u="none" strike="noStrike">
                        <a:solidFill>
                          <a:schemeClr val="bg1"/>
                        </a:solidFill>
                        <a:latin typeface="Calibri"/>
                      </a:endParaRP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321417">
                <a:tc>
                  <a:txBody>
                    <a:bodyPr/>
                    <a:lstStyle/>
                    <a:p>
                      <a:pPr algn="l" fontAlgn="b"/>
                      <a:r>
                        <a:rPr lang="en-AU" sz="1400" b="0" i="0" u="none" strike="noStrike" dirty="0">
                          <a:solidFill>
                            <a:schemeClr val="bg1"/>
                          </a:solidFill>
                          <a:latin typeface="Times New Roman"/>
                        </a:rPr>
                        <a:t>No problems (Reference)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5409">
                <a:tc>
                  <a:txBody>
                    <a:bodyPr/>
                    <a:lstStyle/>
                    <a:p>
                      <a:pPr algn="l" fontAlgn="b"/>
                      <a:r>
                        <a:rPr lang="en-AU" sz="1400" b="0" i="0" u="none" strike="noStrike" dirty="0">
                          <a:solidFill>
                            <a:schemeClr val="bg1"/>
                          </a:solidFill>
                          <a:latin typeface="Times New Roman"/>
                        </a:rPr>
                        <a:t>Problems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1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2.9 (1.5, 5.7)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1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2.6 (1.4, 4.9)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1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4.4 (2.7, 7.4)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1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3.3 (1.8, 6.2)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1" i="0" u="none" strike="noStrike" dirty="0">
                          <a:solidFill>
                            <a:schemeClr val="bg1"/>
                          </a:solidFill>
                          <a:latin typeface="Calibri"/>
                        </a:rPr>
                        <a:t>2.9 (1.5, 5.5)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4191">
                <a:tc>
                  <a:txBody>
                    <a:bodyPr/>
                    <a:lstStyle/>
                    <a:p>
                      <a:pPr algn="l" fontAlgn="b"/>
                      <a:r>
                        <a:rPr lang="en-AU" sz="1400" b="1" i="0" u="none" strike="noStrike" dirty="0">
                          <a:solidFill>
                            <a:schemeClr val="bg1"/>
                          </a:solidFill>
                          <a:latin typeface="Times New Roman"/>
                        </a:rPr>
                        <a:t>Property </a:t>
                      </a:r>
                      <a:r>
                        <a:rPr lang="en-AU" sz="1400" b="1" i="0" u="none" strike="noStrike" dirty="0" smtClean="0">
                          <a:solidFill>
                            <a:schemeClr val="bg1"/>
                          </a:solidFill>
                          <a:latin typeface="Times New Roman"/>
                        </a:rPr>
                        <a:t>type</a:t>
                      </a:r>
                      <a:endParaRPr lang="en-AU" sz="1400" b="1" i="0" u="none" strike="noStrike" dirty="0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AU" sz="1400" b="0" i="0" u="none" strike="noStrike">
                        <a:solidFill>
                          <a:schemeClr val="bg1"/>
                        </a:solidFill>
                        <a:latin typeface="Calibri"/>
                      </a:endParaRP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AU" sz="1400" b="0" i="0" u="none" strike="noStrike" dirty="0">
                        <a:solidFill>
                          <a:schemeClr val="bg1"/>
                        </a:solidFill>
                        <a:latin typeface="Calibri"/>
                      </a:endParaRP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AU" sz="1400" b="0" i="0" u="none" strike="noStrike">
                        <a:solidFill>
                          <a:schemeClr val="bg1"/>
                        </a:solidFill>
                        <a:latin typeface="Calibri"/>
                      </a:endParaRP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AU" sz="1400" b="0" i="0" u="none" strike="noStrike">
                        <a:solidFill>
                          <a:schemeClr val="bg1"/>
                        </a:solidFill>
                        <a:latin typeface="Calibri"/>
                      </a:endParaRP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AU" sz="1400" b="0" i="0" u="none" strike="noStrike">
                        <a:solidFill>
                          <a:schemeClr val="bg1"/>
                        </a:solidFill>
                        <a:latin typeface="Calibri"/>
                      </a:endParaRP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95409">
                <a:tc>
                  <a:txBody>
                    <a:bodyPr/>
                    <a:lstStyle/>
                    <a:p>
                      <a:pPr algn="l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Own (Reference)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5409">
                <a:tc>
                  <a:txBody>
                    <a:bodyPr/>
                    <a:lstStyle/>
                    <a:p>
                      <a:pPr algn="l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Rent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1.2 (0.6, 2.5)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1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1.9 (1.0, 3.6)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1.4 (0.9, 2.4)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1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2.6 (1.4, 4.6)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1" i="0" u="none" strike="noStrike" dirty="0">
                          <a:solidFill>
                            <a:schemeClr val="bg1"/>
                          </a:solidFill>
                          <a:latin typeface="Calibri"/>
                        </a:rPr>
                        <a:t>2.6 (1.4, 4.7)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5409">
                <a:tc>
                  <a:txBody>
                    <a:bodyPr/>
                    <a:lstStyle/>
                    <a:p>
                      <a:pPr algn="l" fontAlgn="b"/>
                      <a:r>
                        <a:rPr lang="en-AU" sz="1400" b="1" i="0" u="none" strike="noStrike" dirty="0">
                          <a:solidFill>
                            <a:schemeClr val="bg1"/>
                          </a:solidFill>
                          <a:latin typeface="Times New Roman"/>
                        </a:rPr>
                        <a:t>Sex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U" sz="1400" b="0" i="0" u="none" strike="noStrike">
                        <a:solidFill>
                          <a:schemeClr val="bg1"/>
                        </a:solidFill>
                        <a:latin typeface="Calibri"/>
                      </a:endParaRP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U" sz="1400" b="0" i="0" u="none" strike="noStrike">
                        <a:solidFill>
                          <a:schemeClr val="bg1"/>
                        </a:solidFill>
                        <a:latin typeface="Calibri"/>
                      </a:endParaRP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U" sz="1400" b="0" i="0" u="none" strike="noStrike">
                        <a:solidFill>
                          <a:schemeClr val="bg1"/>
                        </a:solidFill>
                        <a:latin typeface="Calibri"/>
                      </a:endParaRP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U" sz="1400" b="0" i="0" u="none" strike="noStrike">
                        <a:solidFill>
                          <a:schemeClr val="bg1"/>
                        </a:solidFill>
                        <a:latin typeface="Calibri"/>
                      </a:endParaRP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U" sz="1400" b="0" i="0" u="none" strike="noStrike">
                        <a:solidFill>
                          <a:schemeClr val="bg1"/>
                        </a:solidFill>
                        <a:latin typeface="Calibri"/>
                      </a:endParaRP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95409">
                <a:tc>
                  <a:txBody>
                    <a:bodyPr/>
                    <a:lstStyle/>
                    <a:p>
                      <a:pPr algn="l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Male (Reference)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5409">
                <a:tc>
                  <a:txBody>
                    <a:bodyPr/>
                    <a:lstStyle/>
                    <a:p>
                      <a:pPr algn="l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Female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1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2.2 (1.1, 4.2)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1.6 (0.9, 2.9)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1.2 (0.8, 1.8)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1.1 (0.6, 1.8)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 dirty="0">
                          <a:solidFill>
                            <a:schemeClr val="bg1"/>
                          </a:solidFill>
                          <a:latin typeface="Calibri"/>
                        </a:rPr>
                        <a:t>1.2 (0.7, 2.2)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683">
                <a:tc gridSpan="6">
                  <a:txBody>
                    <a:bodyPr/>
                    <a:lstStyle/>
                    <a:p>
                      <a:pPr algn="l" fontAlgn="b"/>
                      <a:r>
                        <a:rPr lang="en-AU" sz="1400" b="0" i="0" u="none" strike="noStrike" dirty="0" smtClean="0">
                          <a:solidFill>
                            <a:schemeClr val="bg1"/>
                          </a:solidFill>
                          <a:latin typeface="Times New Roman"/>
                        </a:rPr>
                        <a:t>* (Odds ratios and 95% CI).</a:t>
                      </a:r>
                      <a:r>
                        <a:rPr lang="en-AU" sz="1400" b="1" i="0" u="none" strike="noStrike" dirty="0" smtClean="0">
                          <a:solidFill>
                            <a:schemeClr val="bg1"/>
                          </a:solidFill>
                          <a:latin typeface="Times New Roman"/>
                        </a:rPr>
                        <a:t> </a:t>
                      </a:r>
                      <a:r>
                        <a:rPr lang="en-AU" sz="1400" b="0" i="0" u="none" strike="noStrike" dirty="0" smtClean="0">
                          <a:solidFill>
                            <a:schemeClr val="bg1"/>
                          </a:solidFill>
                          <a:latin typeface="Times New Roman"/>
                        </a:rPr>
                        <a:t>All </a:t>
                      </a:r>
                      <a:r>
                        <a:rPr lang="en-AU" sz="1400" b="0" i="0" u="none" strike="noStrike" dirty="0">
                          <a:solidFill>
                            <a:schemeClr val="bg1"/>
                          </a:solidFill>
                          <a:latin typeface="Times New Roman"/>
                        </a:rPr>
                        <a:t>OR values are adjusted for sex, age, property type, current health, direct flood impact, employment and education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2807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7687193"/>
              </p:ext>
            </p:extLst>
          </p:nvPr>
        </p:nvGraphicFramePr>
        <p:xfrm>
          <a:off x="304800" y="152400"/>
          <a:ext cx="8534400" cy="6477000"/>
        </p:xfrm>
        <a:graphic>
          <a:graphicData uri="http://schemas.openxmlformats.org/drawingml/2006/table">
            <a:tbl>
              <a:tblPr/>
              <a:tblGrid>
                <a:gridCol w="1791404"/>
                <a:gridCol w="1315167"/>
                <a:gridCol w="1564325"/>
                <a:gridCol w="1353015"/>
                <a:gridCol w="1223706"/>
                <a:gridCol w="1286783"/>
              </a:tblGrid>
              <a:tr h="252120">
                <a:tc gridSpan="6">
                  <a:txBody>
                    <a:bodyPr/>
                    <a:lstStyle/>
                    <a:p>
                      <a:pPr algn="l" fontAlgn="b"/>
                      <a:r>
                        <a:rPr lang="en-AU" sz="1400" b="1" i="0" u="none" strike="noStrike" dirty="0">
                          <a:solidFill>
                            <a:schemeClr val="bg1"/>
                          </a:solidFill>
                          <a:latin typeface="Times New Roman"/>
                        </a:rPr>
                        <a:t>Table 3 continued.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</a:tr>
              <a:tr h="983686">
                <a:tc>
                  <a:txBody>
                    <a:bodyPr/>
                    <a:lstStyle/>
                    <a:p>
                      <a:pPr algn="ctr" fontAlgn="b"/>
                      <a:r>
                        <a:rPr lang="en-AU" sz="1400" b="0" i="0" u="none" strike="noStrike" dirty="0">
                          <a:solidFill>
                            <a:schemeClr val="bg1"/>
                          </a:solidFill>
                          <a:latin typeface="Times New Roman"/>
                        </a:rPr>
                        <a:t> 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400" b="1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Worse overall health </a:t>
                      </a:r>
                      <a:br>
                        <a:rPr lang="en-AU" sz="1400" b="1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</a:br>
                      <a:r>
                        <a:rPr lang="en-AU" sz="1400" b="1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since floods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400" b="1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Worse respiratory health </a:t>
                      </a:r>
                      <a:br>
                        <a:rPr lang="en-AU" sz="1400" b="1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</a:br>
                      <a:r>
                        <a:rPr lang="en-AU" sz="1400" b="1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since floods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400" b="1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Increased </a:t>
                      </a:r>
                      <a:br>
                        <a:rPr lang="en-AU" sz="1400" b="1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</a:br>
                      <a:r>
                        <a:rPr lang="en-AU" sz="1400" b="1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psychological distress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400" b="1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Problems </a:t>
                      </a:r>
                      <a:br>
                        <a:rPr lang="en-AU" sz="1400" b="1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</a:br>
                      <a:r>
                        <a:rPr lang="en-AU" sz="1400" b="1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with sleeping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400" b="1" i="0" u="none" strike="noStrike" dirty="0">
                          <a:solidFill>
                            <a:schemeClr val="bg1"/>
                          </a:solidFill>
                          <a:latin typeface="Times New Roman"/>
                        </a:rPr>
                        <a:t>Probable </a:t>
                      </a:r>
                      <a:br>
                        <a:rPr lang="en-AU" sz="1400" b="1" i="0" u="none" strike="noStrike" dirty="0">
                          <a:solidFill>
                            <a:schemeClr val="bg1"/>
                          </a:solidFill>
                          <a:latin typeface="Times New Roman"/>
                        </a:rPr>
                      </a:br>
                      <a:r>
                        <a:rPr lang="en-AU" sz="1400" b="1" i="0" u="none" strike="noStrike" dirty="0">
                          <a:solidFill>
                            <a:schemeClr val="bg1"/>
                          </a:solidFill>
                          <a:latin typeface="Times New Roman"/>
                        </a:rPr>
                        <a:t>PTSD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52120">
                <a:tc>
                  <a:txBody>
                    <a:bodyPr/>
                    <a:lstStyle/>
                    <a:p>
                      <a:pPr algn="l" fontAlgn="b"/>
                      <a:r>
                        <a:rPr lang="en-AU" sz="1400" b="1" i="0" u="none" strike="noStrike" dirty="0">
                          <a:solidFill>
                            <a:schemeClr val="bg1"/>
                          </a:solidFill>
                          <a:latin typeface="Times New Roman"/>
                        </a:rPr>
                        <a:t>Age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AU" sz="1400" b="0" i="0" u="none" strike="noStrike">
                        <a:solidFill>
                          <a:schemeClr val="bg1"/>
                        </a:solidFill>
                        <a:latin typeface="Calibri"/>
                      </a:endParaRP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AU" sz="1400" b="0" i="0" u="none" strike="noStrike">
                        <a:solidFill>
                          <a:schemeClr val="bg1"/>
                        </a:solidFill>
                        <a:latin typeface="Calibri"/>
                      </a:endParaRP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AU" sz="1400" b="0" i="0" u="none" strike="noStrike">
                        <a:solidFill>
                          <a:schemeClr val="bg1"/>
                        </a:solidFill>
                        <a:latin typeface="Calibri"/>
                      </a:endParaRP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AU" sz="1400" b="0" i="0" u="none" strike="noStrike">
                        <a:solidFill>
                          <a:schemeClr val="bg1"/>
                        </a:solidFill>
                        <a:latin typeface="Calibri"/>
                      </a:endParaRP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AU" sz="1400" b="0" i="0" u="none" strike="noStrike" dirty="0">
                        <a:solidFill>
                          <a:schemeClr val="bg1"/>
                        </a:solidFill>
                        <a:latin typeface="Calibri"/>
                      </a:endParaRP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67992">
                <a:tc>
                  <a:txBody>
                    <a:bodyPr/>
                    <a:lstStyle/>
                    <a:p>
                      <a:pPr algn="l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18-24 (Reference)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72346">
                <a:tc>
                  <a:txBody>
                    <a:bodyPr/>
                    <a:lstStyle/>
                    <a:p>
                      <a:pPr algn="l" fontAlgn="b"/>
                      <a:r>
                        <a:rPr lang="en-AU" sz="1400" b="0" i="0" u="none" strike="noStrike" dirty="0">
                          <a:solidFill>
                            <a:schemeClr val="bg1"/>
                          </a:solidFill>
                          <a:latin typeface="Times New Roman"/>
                        </a:rPr>
                        <a:t>25-44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 dirty="0" smtClean="0">
                          <a:solidFill>
                            <a:schemeClr val="bg1"/>
                          </a:solidFill>
                          <a:latin typeface="Calibri"/>
                        </a:rPr>
                        <a:t>1.0 </a:t>
                      </a:r>
                      <a:r>
                        <a:rPr lang="en-AU" sz="1400" b="0" i="0" u="none" strike="noStrike" dirty="0">
                          <a:solidFill>
                            <a:schemeClr val="bg1"/>
                          </a:solidFill>
                          <a:latin typeface="Calibri"/>
                        </a:rPr>
                        <a:t>(0.2, 5.2</a:t>
                      </a:r>
                      <a:r>
                        <a:rPr lang="en-AU" sz="1400" b="0" i="0" u="none" strike="noStrike" dirty="0" smtClean="0">
                          <a:solidFill>
                            <a:schemeClr val="bg1"/>
                          </a:solidFill>
                          <a:latin typeface="Calibri"/>
                        </a:rPr>
                        <a:t>) *</a:t>
                      </a:r>
                      <a:endParaRPr lang="en-AU" sz="1400" b="0" i="0" u="none" strike="noStrike" dirty="0">
                        <a:solidFill>
                          <a:schemeClr val="bg1"/>
                        </a:solidFill>
                        <a:latin typeface="Calibri"/>
                      </a:endParaRP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 dirty="0">
                          <a:solidFill>
                            <a:schemeClr val="bg1"/>
                          </a:solidFill>
                          <a:latin typeface="Calibri"/>
                        </a:rPr>
                        <a:t>0.6 (0.2, 1.9)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0.9 (0.4, 2.2)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2.3 (0.5, 11.2)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2.0 (0.5, 7.5)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27425">
                <a:tc>
                  <a:txBody>
                    <a:bodyPr/>
                    <a:lstStyle/>
                    <a:p>
                      <a:pPr algn="l" fontAlgn="b"/>
                      <a:r>
                        <a:rPr lang="en-AU" sz="1400" b="0" i="0" u="none" strike="noStrike" dirty="0">
                          <a:solidFill>
                            <a:schemeClr val="bg1"/>
                          </a:solidFill>
                          <a:latin typeface="Times New Roman"/>
                        </a:rPr>
                        <a:t>45-64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 dirty="0">
                          <a:solidFill>
                            <a:schemeClr val="bg1"/>
                          </a:solidFill>
                          <a:latin typeface="Calibri"/>
                        </a:rPr>
                        <a:t>1.1 (0.2, 5.6)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0.6 (0.2, 2.0)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0.6 (0.3, 1.6)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3.0 (0.6, 13.8)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1.4 (0.4, 5.4)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27425">
                <a:tc>
                  <a:txBody>
                    <a:bodyPr/>
                    <a:lstStyle/>
                    <a:p>
                      <a:pPr algn="l" fontAlgn="b"/>
                      <a:r>
                        <a:rPr lang="en-AU" sz="1400" b="0" i="0" u="none" strike="noStrike" dirty="0">
                          <a:solidFill>
                            <a:schemeClr val="bg1"/>
                          </a:solidFill>
                          <a:latin typeface="Times New Roman"/>
                        </a:rPr>
                        <a:t>65+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 dirty="0">
                          <a:solidFill>
                            <a:schemeClr val="bg1"/>
                          </a:solidFill>
                          <a:latin typeface="Calibri"/>
                        </a:rPr>
                        <a:t>1.1 (0.2, 7.0)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0.3 (0.1, 1.5)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0.5 (0.2, 1.6)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1.6 (0.3, 9.7)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 dirty="0">
                          <a:solidFill>
                            <a:schemeClr val="bg1"/>
                          </a:solidFill>
                          <a:latin typeface="Calibri"/>
                        </a:rPr>
                        <a:t>0.7 (0.1, 3.9)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120">
                <a:tc>
                  <a:txBody>
                    <a:bodyPr/>
                    <a:lstStyle/>
                    <a:p>
                      <a:pPr algn="l" fontAlgn="b"/>
                      <a:r>
                        <a:rPr lang="en-AU" sz="1400" b="1" i="0" u="none" strike="noStrike" dirty="0">
                          <a:solidFill>
                            <a:schemeClr val="bg1"/>
                          </a:solidFill>
                          <a:latin typeface="Calibri"/>
                        </a:rPr>
                        <a:t>Employment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AU" sz="1400" b="0" i="0" u="none" strike="noStrike" dirty="0">
                        <a:solidFill>
                          <a:schemeClr val="bg1"/>
                        </a:solidFill>
                        <a:latin typeface="Calibri"/>
                      </a:endParaRP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AU" sz="1400" b="0" i="0" u="none" strike="noStrike">
                        <a:solidFill>
                          <a:schemeClr val="bg1"/>
                        </a:solidFill>
                        <a:latin typeface="Calibri"/>
                      </a:endParaRP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AU" sz="1400" b="0" i="0" u="none" strike="noStrike">
                        <a:solidFill>
                          <a:schemeClr val="bg1"/>
                        </a:solidFill>
                        <a:latin typeface="Calibri"/>
                      </a:endParaRP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AU" sz="1400" b="0" i="0" u="none" strike="noStrike">
                        <a:solidFill>
                          <a:schemeClr val="bg1"/>
                        </a:solidFill>
                        <a:latin typeface="Calibri"/>
                      </a:endParaRP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AU" sz="1400" b="0" i="0" u="none" strike="noStrike">
                        <a:solidFill>
                          <a:schemeClr val="bg1"/>
                        </a:solidFill>
                        <a:latin typeface="Calibri"/>
                      </a:endParaRP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79032">
                <a:tc>
                  <a:txBody>
                    <a:bodyPr/>
                    <a:lstStyle/>
                    <a:p>
                      <a:pPr algn="l" fontAlgn="b"/>
                      <a:r>
                        <a:rPr lang="en-AU" sz="1400" b="0" i="0" u="none" strike="noStrike" dirty="0">
                          <a:solidFill>
                            <a:schemeClr val="bg1"/>
                          </a:solidFill>
                          <a:latin typeface="Calibri"/>
                        </a:rPr>
                        <a:t>Employed (Reference)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 dirty="0">
                          <a:solidFill>
                            <a:schemeClr val="bg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74343">
                <a:tc>
                  <a:txBody>
                    <a:bodyPr/>
                    <a:lstStyle/>
                    <a:p>
                      <a:pPr algn="l" fontAlgn="b"/>
                      <a:r>
                        <a:rPr lang="en-AU" sz="1400" b="0" i="0" u="none" strike="noStrike" dirty="0" smtClean="0">
                          <a:solidFill>
                            <a:schemeClr val="bg1"/>
                          </a:solidFill>
                          <a:latin typeface="Calibri"/>
                        </a:rPr>
                        <a:t>Housekeeper/carer</a:t>
                      </a:r>
                      <a:endParaRPr lang="en-AU" sz="1400" b="0" i="0" u="none" strike="noStrike" dirty="0">
                        <a:solidFill>
                          <a:schemeClr val="bg1"/>
                        </a:solidFill>
                        <a:latin typeface="Calibri"/>
                      </a:endParaRP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 dirty="0">
                          <a:solidFill>
                            <a:schemeClr val="bg1"/>
                          </a:solidFill>
                          <a:latin typeface="Calibri"/>
                        </a:rPr>
                        <a:t>1.5 (0.6, 3.7)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1.5 (0.6, 3.8)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1.6 (0.8, 3.3)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0.7 (0.2, 2.0)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1.1 (0.4, 3.0)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8993">
                <a:tc>
                  <a:txBody>
                    <a:bodyPr/>
                    <a:lstStyle/>
                    <a:p>
                      <a:pPr algn="l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Retired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 dirty="0">
                          <a:solidFill>
                            <a:schemeClr val="bg1"/>
                          </a:solidFill>
                          <a:latin typeface="Calibri"/>
                        </a:rPr>
                        <a:t>0.9 (0.3, 2.8)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0.5 (0.1, 1.8)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1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3.5 (1.8, 6.8)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1.0 (0.4, 2.5)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2.0 (0.8, 4.8)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6493">
                <a:tc>
                  <a:txBody>
                    <a:bodyPr/>
                    <a:lstStyle/>
                    <a:p>
                      <a:pPr algn="l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Disabled/student/ </a:t>
                      </a:r>
                      <a:br>
                        <a:rPr lang="en-AU" sz="1400" b="0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</a:br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unemployed/other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 dirty="0">
                          <a:solidFill>
                            <a:schemeClr val="bg1"/>
                          </a:solidFill>
                          <a:latin typeface="Calibri"/>
                        </a:rPr>
                        <a:t>0.8 (0.3, 2.5)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1.9 (0.7, 5.1)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1.1 (0.5, 2.4)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0.7 (0.3, 2.1)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 dirty="0">
                          <a:solidFill>
                            <a:schemeClr val="bg1"/>
                          </a:solidFill>
                          <a:latin typeface="Calibri"/>
                        </a:rPr>
                        <a:t>1.6 (0.5, 4.7)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120">
                <a:tc>
                  <a:txBody>
                    <a:bodyPr/>
                    <a:lstStyle/>
                    <a:p>
                      <a:pPr algn="l" fontAlgn="b"/>
                      <a:r>
                        <a:rPr lang="en-AU" sz="1400" b="1" i="0" u="none" strike="noStrike" dirty="0">
                          <a:solidFill>
                            <a:schemeClr val="bg1"/>
                          </a:solidFill>
                          <a:latin typeface="Times New Roman"/>
                        </a:rPr>
                        <a:t>Education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AU" sz="1400" b="0" i="0" u="none" strike="noStrike" dirty="0">
                        <a:solidFill>
                          <a:schemeClr val="bg1"/>
                        </a:solidFill>
                        <a:latin typeface="Calibri"/>
                      </a:endParaRP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AU" sz="1400" b="0" i="0" u="none" strike="noStrike">
                        <a:solidFill>
                          <a:schemeClr val="bg1"/>
                        </a:solidFill>
                        <a:latin typeface="Calibri"/>
                      </a:endParaRP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AU" sz="1400" b="0" i="0" u="none" strike="noStrike">
                        <a:solidFill>
                          <a:schemeClr val="bg1"/>
                        </a:solidFill>
                        <a:latin typeface="Calibri"/>
                      </a:endParaRP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AU" sz="1400" b="0" i="0" u="none" strike="noStrike">
                        <a:solidFill>
                          <a:schemeClr val="bg1"/>
                        </a:solidFill>
                        <a:latin typeface="Calibri"/>
                      </a:endParaRP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AU" sz="1400" b="0" i="0" u="none" strike="noStrike">
                        <a:solidFill>
                          <a:schemeClr val="bg1"/>
                        </a:solidFill>
                        <a:latin typeface="Calibri"/>
                      </a:endParaRP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306978">
                <a:tc>
                  <a:txBody>
                    <a:bodyPr/>
                    <a:lstStyle/>
                    <a:p>
                      <a:pPr algn="l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High school (Reference)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 dirty="0">
                          <a:solidFill>
                            <a:schemeClr val="bg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61828">
                <a:tc>
                  <a:txBody>
                    <a:bodyPr/>
                    <a:lstStyle/>
                    <a:p>
                      <a:pPr algn="l" fontAlgn="b"/>
                      <a:r>
                        <a:rPr lang="en-AU" sz="1400" b="0" i="0" u="none" strike="noStrike" dirty="0">
                          <a:solidFill>
                            <a:schemeClr val="bg1"/>
                          </a:solidFill>
                          <a:latin typeface="Times New Roman"/>
                        </a:rPr>
                        <a:t>Completed university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 dirty="0">
                          <a:solidFill>
                            <a:schemeClr val="bg1"/>
                          </a:solidFill>
                          <a:latin typeface="Calibri"/>
                        </a:rPr>
                        <a:t>1.5 (0.6, 3.5)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1.5 (0.7, 3.3)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0.8 (0.4, 1.5)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0.5 (0.2, 1.1)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 dirty="0" smtClean="0">
                          <a:solidFill>
                            <a:schemeClr val="bg1"/>
                          </a:solidFill>
                          <a:latin typeface="Calibri"/>
                        </a:rPr>
                        <a:t>1.0 </a:t>
                      </a:r>
                      <a:r>
                        <a:rPr lang="en-AU" sz="1400" b="0" i="0" u="none" strike="noStrike" dirty="0">
                          <a:solidFill>
                            <a:schemeClr val="bg1"/>
                          </a:solidFill>
                          <a:latin typeface="Calibri"/>
                        </a:rPr>
                        <a:t>(0.4, 2.2)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6493">
                <a:tc>
                  <a:txBody>
                    <a:bodyPr/>
                    <a:lstStyle/>
                    <a:p>
                      <a:pPr algn="l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Less than high school/other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 dirty="0" smtClean="0">
                          <a:solidFill>
                            <a:schemeClr val="bg1"/>
                          </a:solidFill>
                          <a:latin typeface="Calibri"/>
                        </a:rPr>
                        <a:t>2.0 </a:t>
                      </a:r>
                      <a:r>
                        <a:rPr lang="en-AU" sz="1400" b="0" i="0" u="none" strike="noStrike" dirty="0">
                          <a:solidFill>
                            <a:schemeClr val="bg1"/>
                          </a:solidFill>
                          <a:latin typeface="Calibri"/>
                        </a:rPr>
                        <a:t>(0.7, 6.0)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 dirty="0">
                          <a:solidFill>
                            <a:schemeClr val="bg1"/>
                          </a:solidFill>
                          <a:latin typeface="Calibri"/>
                        </a:rPr>
                        <a:t>0.9 (0.3, 3.1)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 dirty="0">
                          <a:solidFill>
                            <a:schemeClr val="bg1"/>
                          </a:solidFill>
                          <a:latin typeface="Calibri"/>
                        </a:rPr>
                        <a:t>1.2 (0.6, 2.8)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 dirty="0">
                          <a:solidFill>
                            <a:schemeClr val="bg1"/>
                          </a:solidFill>
                          <a:latin typeface="Calibri"/>
                        </a:rPr>
                        <a:t>0.6 (0.2, 2.0)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 dirty="0">
                          <a:solidFill>
                            <a:schemeClr val="bg1"/>
                          </a:solidFill>
                          <a:latin typeface="Calibri"/>
                        </a:rPr>
                        <a:t>1.6 (0.6, 4.4)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8993">
                <a:tc>
                  <a:txBody>
                    <a:bodyPr/>
                    <a:lstStyle/>
                    <a:p>
                      <a:pPr algn="l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Times New Roman"/>
                        </a:rPr>
                        <a:t>Uncompleted university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 dirty="0">
                          <a:solidFill>
                            <a:schemeClr val="bg1"/>
                          </a:solidFill>
                          <a:latin typeface="Calibri"/>
                        </a:rPr>
                        <a:t>1.8 (0.9, 3.7)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1.3 (0.7, 2.5)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1.1 (0.7, 1.9)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>
                          <a:solidFill>
                            <a:schemeClr val="bg1"/>
                          </a:solidFill>
                          <a:latin typeface="Calibri"/>
                        </a:rPr>
                        <a:t>0.6 (0.3, 1.1)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400" b="0" i="0" u="none" strike="noStrike" dirty="0">
                          <a:solidFill>
                            <a:schemeClr val="bg1"/>
                          </a:solidFill>
                          <a:latin typeface="Calibri"/>
                        </a:rPr>
                        <a:t>1.0 (0.5, 2.0)</a:t>
                      </a: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6493">
                <a:tc gridSpan="6">
                  <a:txBody>
                    <a:bodyPr/>
                    <a:lstStyle/>
                    <a:p>
                      <a:pPr algn="l" fontAlgn="b"/>
                      <a:r>
                        <a:rPr lang="en-AU" sz="1400" b="0" i="0" u="none" strike="noStrike" dirty="0" smtClean="0">
                          <a:solidFill>
                            <a:schemeClr val="bg1"/>
                          </a:solidFill>
                          <a:latin typeface="Times New Roman"/>
                        </a:rPr>
                        <a:t>* (Odds ratios and 95% CI).</a:t>
                      </a:r>
                      <a:r>
                        <a:rPr lang="en-AU" sz="1400" b="1" i="0" u="none" strike="noStrike" dirty="0" smtClean="0">
                          <a:solidFill>
                            <a:schemeClr val="bg1"/>
                          </a:solidFill>
                          <a:latin typeface="Times New Roman"/>
                        </a:rPr>
                        <a:t> </a:t>
                      </a:r>
                      <a:r>
                        <a:rPr lang="en-AU" sz="1400" b="0" i="0" u="none" strike="noStrike" dirty="0" smtClean="0">
                          <a:solidFill>
                            <a:schemeClr val="bg1"/>
                          </a:solidFill>
                          <a:latin typeface="Times New Roman"/>
                        </a:rPr>
                        <a:t>All OR values are adjusted for sex, age, property type, current health, direct flood impact, employment and education</a:t>
                      </a:r>
                      <a:endParaRPr lang="en-AU" sz="1400" b="0" i="0" u="none" strike="noStrike" dirty="0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 marL="6763" marR="6763" marT="6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4905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AU" dirty="0" smtClean="0">
                <a:solidFill>
                  <a:schemeClr val="bg1"/>
                </a:solidFill>
              </a:rPr>
              <a:t>Conclusions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>
                <a:solidFill>
                  <a:schemeClr val="bg1"/>
                </a:solidFill>
              </a:rPr>
              <a:t>Direct flood impact had significant effects on both physical and psychological health of residents  </a:t>
            </a:r>
          </a:p>
          <a:p>
            <a:r>
              <a:rPr lang="en-AU" dirty="0" smtClean="0">
                <a:solidFill>
                  <a:schemeClr val="bg1"/>
                </a:solidFill>
              </a:rPr>
              <a:t>Improved support strategies may need to be integrated into existing disaster management programs</a:t>
            </a:r>
          </a:p>
          <a:p>
            <a:r>
              <a:rPr lang="en-AU" dirty="0" smtClean="0">
                <a:solidFill>
                  <a:schemeClr val="bg1"/>
                </a:solidFill>
              </a:rPr>
              <a:t>Particularly, impacts on mental health need to be properly assessed and managed</a:t>
            </a:r>
          </a:p>
          <a:p>
            <a:pPr lvl="1"/>
            <a:r>
              <a:rPr lang="en-AU" dirty="0" smtClean="0">
                <a:solidFill>
                  <a:schemeClr val="bg1"/>
                </a:solidFill>
              </a:rPr>
              <a:t>Future: Deeper examination of mental health effects, substance usage (alcohol, tobacco, medication), qualitative survey results</a:t>
            </a:r>
            <a:endParaRPr lang="en-AU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solidFill>
                  <a:schemeClr val="bg1"/>
                </a:solidFill>
              </a:rPr>
              <a:t>Acknowledgements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AU" dirty="0" smtClean="0">
                <a:solidFill>
                  <a:schemeClr val="bg1"/>
                </a:solidFill>
              </a:rPr>
              <a:t>We would like to acknowledge the support of the Australian Research Council (DP1095752 to ST) and the NHMRC (SRF #553043 to ST).</a:t>
            </a:r>
          </a:p>
          <a:p>
            <a:pPr>
              <a:buNone/>
            </a:pPr>
            <a:endParaRPr lang="en-AU" dirty="0" smtClean="0">
              <a:solidFill>
                <a:schemeClr val="bg1"/>
              </a:solidFill>
            </a:endParaRPr>
          </a:p>
          <a:p>
            <a:r>
              <a:rPr lang="en-AU" dirty="0" smtClean="0">
                <a:solidFill>
                  <a:schemeClr val="bg1"/>
                </a:solidFill>
              </a:rPr>
              <a:t>We thank Irene van Kamp and colleagues from the Centre for Environmental Research, National Institute for Public Health and Environment (RIVM), </a:t>
            </a:r>
            <a:r>
              <a:rPr lang="en-AU" dirty="0" err="1" smtClean="0">
                <a:solidFill>
                  <a:schemeClr val="bg1"/>
                </a:solidFill>
              </a:rPr>
              <a:t>Bilthoven</a:t>
            </a:r>
            <a:r>
              <a:rPr lang="en-AU" dirty="0" smtClean="0">
                <a:solidFill>
                  <a:schemeClr val="bg1"/>
                </a:solidFill>
              </a:rPr>
              <a:t>, the Netherlands, for their help and advice in the design of the survey instrument.</a:t>
            </a:r>
            <a:endParaRPr lang="en-AU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820</TotalTime>
  <Words>1320</Words>
  <Application>Microsoft Office PowerPoint</Application>
  <PresentationFormat>On-screen Show (4:3)</PresentationFormat>
  <Paragraphs>285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Health impacts of the 2011 Summer floods in Brisbane</vt:lpstr>
      <vt:lpstr>Temperature: Australian observations</vt:lpstr>
      <vt:lpstr>PowerPoint Presentation</vt:lpstr>
      <vt:lpstr>Flood events</vt:lpstr>
      <vt:lpstr>2011 Queensland floods</vt:lpstr>
      <vt:lpstr>PowerPoint Presentation</vt:lpstr>
      <vt:lpstr>PowerPoint Presentation</vt:lpstr>
      <vt:lpstr>Research design and methods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Conclusions</vt:lpstr>
      <vt:lpstr>Acknowledgements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admin</cp:lastModifiedBy>
  <cp:revision>74</cp:revision>
  <dcterms:created xsi:type="dcterms:W3CDTF">2006-08-16T00:00:00Z</dcterms:created>
  <dcterms:modified xsi:type="dcterms:W3CDTF">2012-09-11T14:47:21Z</dcterms:modified>
</cp:coreProperties>
</file>