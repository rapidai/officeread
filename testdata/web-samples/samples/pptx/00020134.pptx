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8" r:id="rId12"/>
    <p:sldId id="266" r:id="rId13"/>
    <p:sldId id="271" r:id="rId14"/>
    <p:sldId id="273" r:id="rId15"/>
    <p:sldId id="274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5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A04A8-1544-4568-99F2-C0333FA1795E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16C88-D06E-46F4-AF20-40B90330216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1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2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3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4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5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6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7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8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9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10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11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EBCA29-E207-4639-B8CF-7D655701D3A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EBCA29-E207-4639-B8CF-7D655701D3A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14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oc id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pt-BR" smtClean="0"/>
              <a:t>SAO-CNV009-20050228</a:t>
            </a:r>
          </a:p>
        </p:txBody>
      </p:sp>
      <p:sp>
        <p:nvSpPr>
          <p:cNvPr id="32771" name="pg num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48D84-AB31-4574-8A85-30F134A6D5AD}" type="slidenum">
              <a:rPr lang="pt-BR" smtClean="0"/>
              <a:pPr/>
              <a:t>15</a:t>
            </a:fld>
            <a:endParaRPr lang="pt-BR" smtClean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25" y="208721"/>
            <a:ext cx="6415507" cy="443213"/>
          </a:xfrm>
          <a:prstGeom prst="rect">
            <a:avLst/>
          </a:prstGeom>
        </p:spPr>
        <p:txBody>
          <a:bodyPr vert="horz"/>
          <a:lstStyle>
            <a:lvl1pPr algn="l">
              <a:defRPr sz="2400" b="1">
                <a:solidFill>
                  <a:srgbClr val="585A5B"/>
                </a:solidFill>
                <a:latin typeface="Verdan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9035" y="1757681"/>
            <a:ext cx="2284965" cy="430066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936"/>
              </a:spcBef>
              <a:buNone/>
              <a:defRPr sz="1400">
                <a:solidFill>
                  <a:srgbClr val="FF0000"/>
                </a:solidFill>
                <a:latin typeface="Verdana"/>
              </a:defRPr>
            </a:lvl1pPr>
            <a:lvl2pPr marL="0" indent="0">
              <a:lnSpc>
                <a:spcPts val="1200"/>
              </a:lnSpc>
              <a:spcBef>
                <a:spcPts val="84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defRPr>
            </a:lvl2pPr>
            <a:lvl3pPr marL="0" indent="0">
              <a:lnSpc>
                <a:spcPts val="1200"/>
              </a:lnSpc>
              <a:spcBef>
                <a:spcPts val="84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defRPr>
            </a:lvl3pPr>
            <a:lvl4pPr marL="0" indent="0">
              <a:lnSpc>
                <a:spcPts val="1200"/>
              </a:lnSpc>
              <a:spcBef>
                <a:spcPts val="84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defRPr>
            </a:lvl4pPr>
            <a:lvl5pPr marL="0" indent="0">
              <a:lnSpc>
                <a:spcPts val="1200"/>
              </a:lnSpc>
              <a:spcBef>
                <a:spcPts val="84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Freeform 9"/>
          <p:cNvSpPr>
            <a:spLocks noChangeArrowheads="1"/>
          </p:cNvSpPr>
          <p:nvPr userDrawn="1"/>
        </p:nvSpPr>
        <p:spPr bwMode="auto">
          <a:xfrm>
            <a:off x="6778625" y="190500"/>
            <a:ext cx="50800" cy="6286500"/>
          </a:xfrm>
          <a:custGeom>
            <a:avLst/>
            <a:gdLst>
              <a:gd name="T0" fmla="*/ 0 w 51329"/>
              <a:gd name="T1" fmla="*/ 2495550 h 5029200"/>
              <a:gd name="T2" fmla="*/ 21545 w 51329"/>
              <a:gd name="T3" fmla="*/ 0 h 5029200"/>
              <a:gd name="T4" fmla="*/ 49245 w 51329"/>
              <a:gd name="T5" fmla="*/ 2495550 h 5029200"/>
              <a:gd name="T6" fmla="*/ 24623 w 51329"/>
              <a:gd name="T7" fmla="*/ 5029200 h 5029200"/>
              <a:gd name="T8" fmla="*/ 0 w 51329"/>
              <a:gd name="T9" fmla="*/ 2495550 h 5029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329"/>
              <a:gd name="T16" fmla="*/ 0 h 5029200"/>
              <a:gd name="T17" fmla="*/ 51329 w 51329"/>
              <a:gd name="T18" fmla="*/ 5029200 h 5029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329" h="5029200">
                <a:moveTo>
                  <a:pt x="0" y="2495550"/>
                </a:moveTo>
                <a:cubicBezTo>
                  <a:pt x="3175" y="1657350"/>
                  <a:pt x="13758" y="0"/>
                  <a:pt x="22225" y="0"/>
                </a:cubicBezTo>
                <a:lnTo>
                  <a:pt x="50800" y="2495550"/>
                </a:lnTo>
                <a:cubicBezTo>
                  <a:pt x="51329" y="3333750"/>
                  <a:pt x="33867" y="5029200"/>
                  <a:pt x="25400" y="5029200"/>
                </a:cubicBezTo>
                <a:lnTo>
                  <a:pt x="0" y="2495550"/>
                </a:lnTo>
                <a:close/>
              </a:path>
            </a:pathLst>
          </a:custGeom>
          <a:solidFill>
            <a:srgbClr val="A6A6A6"/>
          </a:solidFill>
          <a:ln w="9525">
            <a:noFill/>
            <a:round/>
            <a:headEnd/>
            <a:tailEnd/>
          </a:ln>
          <a:effectLst>
            <a:outerShdw dist="38100" dir="5400000" algn="tl" rotWithShape="0">
              <a:srgbClr val="808080">
                <a:alpha val="17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88950" y="1752600"/>
            <a:ext cx="5943600" cy="4114800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>
                <a:solidFill>
                  <a:srgbClr val="585A5B"/>
                </a:solidFill>
                <a:latin typeface="Verdana"/>
                <a:cs typeface="Verdana"/>
              </a:defRPr>
            </a:lvl1pPr>
          </a:lstStyle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404090" y="6597383"/>
            <a:ext cx="4899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5C59F89-3CBB-AE4F-A789-27DA41777400}" type="slidenum">
              <a:rPr lang="en-US" sz="900" smtClean="0">
                <a:solidFill>
                  <a:srgbClr val="A4A5A5"/>
                </a:solidFill>
                <a:latin typeface="Verdana"/>
                <a:cs typeface="Verdana"/>
              </a:rPr>
              <a:pPr algn="ctr"/>
              <a:t>‹nº›</a:t>
            </a:fld>
            <a:endParaRPr lang="en-US" sz="900" dirty="0">
              <a:solidFill>
                <a:srgbClr val="A4A5A5"/>
              </a:solidFill>
              <a:latin typeface="Verdana"/>
              <a:cs typeface="Verdana"/>
            </a:endParaRPr>
          </a:p>
        </p:txBody>
      </p:sp>
      <p:pic>
        <p:nvPicPr>
          <p:cNvPr id="13" name="Picture 12" descr="EQUINIX_LOGO.psd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05545" y="6299206"/>
            <a:ext cx="686057" cy="33045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287867" y="652455"/>
            <a:ext cx="6434138" cy="439738"/>
          </a:xfrm>
          <a:prstGeom prst="rect">
            <a:avLst/>
          </a:prstGeom>
        </p:spPr>
        <p:txBody>
          <a:bodyPr vert="horz"/>
          <a:lstStyle>
            <a:lvl1pPr marL="3175" indent="0">
              <a:lnSpc>
                <a:spcPct val="100000"/>
              </a:lnSpc>
              <a:buNone/>
              <a:defRPr sz="1800">
                <a:solidFill>
                  <a:schemeClr val="bg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3B90A-D11E-4A8A-925D-6F78E3D8D7DA}" type="datetimeFigureOut">
              <a:rPr lang="pt-BR" smtClean="0"/>
              <a:pPr/>
              <a:t>16/5/2011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2399A-4A05-4F94-93BC-9B0288C25D2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1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hyperlink" Target="mailto:antonio.pina@alog.com.br" TargetMode="Externa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11560" y="908720"/>
            <a:ext cx="7286676" cy="35719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dirty="0" smtClean="0"/>
              <a:t>WHAT PREVENTS ANYONE TO CONNECT TO AN IXP ?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sz="2800" dirty="0" smtClean="0"/>
              <a:t>(</a:t>
            </a:r>
            <a:r>
              <a:rPr lang="pt-BR" sz="2800" i="1" dirty="0" err="1" smtClean="0"/>
              <a:t>Honestly</a:t>
            </a:r>
            <a:r>
              <a:rPr lang="pt-BR" sz="2800" i="1" dirty="0" smtClean="0"/>
              <a:t> ? I </a:t>
            </a:r>
            <a:r>
              <a:rPr lang="pt-BR" sz="2800" i="1" dirty="0" err="1" smtClean="0"/>
              <a:t>don´</a:t>
            </a:r>
            <a:r>
              <a:rPr lang="pt-BR" sz="2800" i="1" dirty="0" smtClean="0"/>
              <a:t>t </a:t>
            </a:r>
            <a:r>
              <a:rPr lang="pt-BR" sz="2800" i="1" dirty="0" err="1" smtClean="0"/>
              <a:t>know</a:t>
            </a:r>
            <a:r>
              <a:rPr lang="pt-BR" sz="2800" i="1" dirty="0" smtClean="0"/>
              <a:t>!)</a:t>
            </a:r>
            <a:endParaRPr lang="pt-BR" sz="2800" dirty="0"/>
          </a:p>
        </p:txBody>
      </p:sp>
      <p:sp>
        <p:nvSpPr>
          <p:cNvPr id="3075" name="McK Dat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07904" y="4797152"/>
            <a:ext cx="2650059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1400" dirty="0" smtClean="0"/>
              <a:t>LACNIC XV Cancun </a:t>
            </a:r>
            <a:endParaRPr lang="pt-BR" sz="1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14282" y="214290"/>
            <a:ext cx="64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 smtClean="0"/>
              <a:t>Warning</a:t>
            </a:r>
            <a:r>
              <a:rPr lang="pt-BR" i="1" dirty="0" smtClean="0"/>
              <a:t>: </a:t>
            </a:r>
            <a:r>
              <a:rPr lang="pt-BR" i="1" dirty="0" err="1" smtClean="0"/>
              <a:t>after</a:t>
            </a:r>
            <a:r>
              <a:rPr lang="pt-BR" i="1" dirty="0" smtClean="0"/>
              <a:t> </a:t>
            </a:r>
            <a:r>
              <a:rPr lang="pt-BR" i="1" dirty="0" err="1" smtClean="0"/>
              <a:t>reading</a:t>
            </a:r>
            <a:r>
              <a:rPr lang="pt-BR" i="1" dirty="0" smtClean="0"/>
              <a:t> </a:t>
            </a:r>
            <a:r>
              <a:rPr lang="pt-BR" i="1" dirty="0" err="1" smtClean="0"/>
              <a:t>this</a:t>
            </a:r>
            <a:r>
              <a:rPr lang="pt-BR" i="1" dirty="0" smtClean="0"/>
              <a:t> </a:t>
            </a:r>
            <a:r>
              <a:rPr lang="pt-BR" i="1" dirty="0" err="1" smtClean="0"/>
              <a:t>you´re</a:t>
            </a:r>
            <a:r>
              <a:rPr lang="pt-BR" i="1" dirty="0" smtClean="0"/>
              <a:t> </a:t>
            </a:r>
            <a:r>
              <a:rPr lang="pt-BR" i="1" dirty="0" err="1" smtClean="0"/>
              <a:t>going</a:t>
            </a:r>
            <a:r>
              <a:rPr lang="pt-BR" i="1" dirty="0" smtClean="0"/>
              <a:t> to </a:t>
            </a:r>
            <a:r>
              <a:rPr lang="pt-BR" i="1" dirty="0" err="1" smtClean="0"/>
              <a:t>connect</a:t>
            </a:r>
            <a:r>
              <a:rPr lang="pt-BR" i="1" dirty="0" smtClean="0"/>
              <a:t> to </a:t>
            </a:r>
            <a:r>
              <a:rPr lang="pt-BR" i="1" dirty="0" err="1" smtClean="0"/>
              <a:t>an</a:t>
            </a:r>
            <a:r>
              <a:rPr lang="pt-BR" i="1" dirty="0" smtClean="0"/>
              <a:t> IXP !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5" name="Imagem 4" descr="lacnic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1560" y="5157192"/>
            <a:ext cx="7416824" cy="9959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42844" y="214290"/>
            <a:ext cx="4365470" cy="14448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sz="2000" dirty="0" err="1" smtClean="0"/>
              <a:t>Summary</a:t>
            </a:r>
            <a:endParaRPr lang="pt-BR" sz="2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14282" y="1428736"/>
            <a:ext cx="85725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/>
              <a:t>Who </a:t>
            </a:r>
            <a:r>
              <a:rPr lang="pt-BR" dirty="0" err="1" smtClean="0"/>
              <a:t>am</a:t>
            </a:r>
            <a:r>
              <a:rPr lang="pt-BR" dirty="0" smtClean="0"/>
              <a:t> I ?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r>
              <a:rPr lang="pt-BR" dirty="0" err="1" smtClean="0"/>
              <a:t>Lack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technical</a:t>
            </a:r>
            <a:r>
              <a:rPr lang="pt-BR" dirty="0" smtClean="0"/>
              <a:t> </a:t>
            </a:r>
            <a:r>
              <a:rPr lang="pt-BR" dirty="0" err="1" smtClean="0"/>
              <a:t>knowledge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 err="1" smtClean="0"/>
              <a:t>Lack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vision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“</a:t>
            </a:r>
            <a:r>
              <a:rPr lang="pt-BR" dirty="0" err="1" smtClean="0"/>
              <a:t>It´</a:t>
            </a:r>
            <a:r>
              <a:rPr lang="pt-BR" dirty="0" smtClean="0"/>
              <a:t>s </a:t>
            </a:r>
            <a:r>
              <a:rPr lang="pt-BR" dirty="0" err="1" smtClean="0"/>
              <a:t>the</a:t>
            </a:r>
            <a:r>
              <a:rPr lang="pt-BR" dirty="0" smtClean="0"/>
              <a:t> </a:t>
            </a:r>
            <a:r>
              <a:rPr lang="pt-BR" dirty="0" err="1" smtClean="0"/>
              <a:t>economy</a:t>
            </a:r>
            <a:r>
              <a:rPr lang="pt-BR" dirty="0" smtClean="0"/>
              <a:t>, </a:t>
            </a:r>
            <a:r>
              <a:rPr lang="pt-BR" dirty="0" err="1" smtClean="0"/>
              <a:t>Stupid</a:t>
            </a:r>
            <a:r>
              <a:rPr lang="pt-BR" dirty="0" smtClean="0"/>
              <a:t> !” 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ALOG </a:t>
            </a:r>
            <a:r>
              <a:rPr lang="pt-BR" dirty="0" err="1" smtClean="0"/>
              <a:t>experience</a:t>
            </a:r>
            <a:r>
              <a:rPr lang="pt-BR" dirty="0" smtClean="0"/>
              <a:t> as PIX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PTT-Metro</a:t>
            </a:r>
            <a:r>
              <a:rPr lang="pt-BR" dirty="0" smtClean="0"/>
              <a:t> </a:t>
            </a:r>
            <a:r>
              <a:rPr lang="pt-BR" dirty="0" err="1" smtClean="0"/>
              <a:t>Brazil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Commercial IXP – EQUINIX IBX</a:t>
            </a:r>
          </a:p>
          <a:p>
            <a:pPr marL="342900" indent="-342900"/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57158" y="1071546"/>
            <a:ext cx="81439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27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years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working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IT (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assembly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programming,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embedded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systems,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linux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windows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network, databases,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it)</a:t>
            </a: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Formerly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owner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small ISP (</a:t>
            </a:r>
            <a:r>
              <a:rPr lang="pt-B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 </a:t>
            </a:r>
            <a:r>
              <a:rPr lang="pt-BR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know</a:t>
            </a:r>
            <a:r>
              <a:rPr lang="pt-B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B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pain</a:t>
            </a:r>
            <a:r>
              <a:rPr lang="pt-BR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!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Formerly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Operations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Director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nowadays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CTO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since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2008 @ ALOG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Datacenters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do Brasil,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Managed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Hosting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services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Recently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acquired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by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Equinix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800"/>
              </a:spcBef>
              <a:buFont typeface="Arial" pitchFamily="34" charset="0"/>
              <a:buChar char="•"/>
              <a:defRPr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ALOG is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connected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B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PTT-Metro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main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IXP in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Brazil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Equinix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how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acquired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ALOG,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owns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commercial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IXP </a:t>
            </a:r>
            <a:r>
              <a:rPr lang="pt-B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called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IBX.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14282" y="357166"/>
            <a:ext cx="1627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u="sng" dirty="0" smtClean="0"/>
              <a:t>Who </a:t>
            </a:r>
            <a:r>
              <a:rPr lang="pt-BR" sz="2400" b="1" u="sng" dirty="0" err="1" smtClean="0"/>
              <a:t>am</a:t>
            </a:r>
            <a:r>
              <a:rPr lang="pt-BR" sz="2400" b="1" u="sng" dirty="0" smtClean="0"/>
              <a:t> I ?</a:t>
            </a:r>
            <a:endParaRPr lang="pt-BR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err="1" smtClean="0"/>
              <a:t>Lack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of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technical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knowledge</a:t>
            </a:r>
            <a:r>
              <a:rPr lang="pt-BR" b="1" u="sng" dirty="0" smtClean="0"/>
              <a:t> (</a:t>
            </a:r>
            <a:r>
              <a:rPr lang="pt-BR" b="1" i="1" u="sng" dirty="0" err="1" smtClean="0"/>
              <a:t>What</a:t>
            </a:r>
            <a:r>
              <a:rPr lang="pt-BR" b="1" i="1" u="sng" dirty="0" smtClean="0"/>
              <a:t> is </a:t>
            </a:r>
            <a:r>
              <a:rPr lang="pt-BR" b="1" i="1" u="sng" dirty="0" err="1" smtClean="0"/>
              <a:t>an</a:t>
            </a:r>
            <a:r>
              <a:rPr lang="pt-BR" b="1" i="1" u="sng" dirty="0" smtClean="0"/>
              <a:t> IXP ? </a:t>
            </a:r>
            <a:r>
              <a:rPr lang="pt-BR" b="1" i="1" u="sng" dirty="0" err="1" smtClean="0"/>
              <a:t>How</a:t>
            </a:r>
            <a:r>
              <a:rPr lang="pt-BR" b="1" i="1" u="sng" dirty="0" smtClean="0"/>
              <a:t> does </a:t>
            </a:r>
            <a:r>
              <a:rPr lang="pt-BR" b="1" i="1" u="sng" dirty="0" err="1" smtClean="0"/>
              <a:t>an</a:t>
            </a:r>
            <a:r>
              <a:rPr lang="pt-BR" b="1" i="1" u="sng" dirty="0" smtClean="0"/>
              <a:t> IXP work ? Is it safe ?</a:t>
            </a:r>
            <a:r>
              <a:rPr lang="pt-BR" b="1" u="sng" dirty="0" smtClean="0"/>
              <a:t>)</a:t>
            </a:r>
          </a:p>
        </p:txBody>
      </p:sp>
      <p:pic>
        <p:nvPicPr>
          <p:cNvPr id="5" name="Imagem 4" descr="QuestionGu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86578" y="4572008"/>
            <a:ext cx="2074576" cy="19281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357158" y="1214422"/>
            <a:ext cx="8072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b="1" dirty="0" smtClean="0"/>
              <a:t> </a:t>
            </a:r>
            <a:r>
              <a:rPr lang="pt-BR" sz="1600" b="1" u="sng" dirty="0" err="1" smtClean="0"/>
              <a:t>Quick</a:t>
            </a:r>
            <a:r>
              <a:rPr lang="pt-BR" sz="1600" b="1" u="sng" dirty="0" smtClean="0"/>
              <a:t> </a:t>
            </a:r>
            <a:r>
              <a:rPr lang="pt-BR" sz="1600" b="1" u="sng" dirty="0" err="1" smtClean="0"/>
              <a:t>explanation</a:t>
            </a:r>
            <a:r>
              <a:rPr lang="pt-BR" sz="1600" b="1" u="sng" dirty="0" smtClean="0"/>
              <a:t>: </a:t>
            </a:r>
            <a:r>
              <a:rPr lang="pt-BR" sz="1600" b="1" u="sng" dirty="0" err="1" smtClean="0"/>
              <a:t>It´</a:t>
            </a:r>
            <a:r>
              <a:rPr lang="pt-BR" sz="1600" b="1" u="sng" dirty="0" smtClean="0"/>
              <a:t>s </a:t>
            </a:r>
            <a:r>
              <a:rPr lang="pt-BR" sz="1600" b="1" u="sng" dirty="0" err="1" smtClean="0"/>
              <a:t>like</a:t>
            </a:r>
            <a:r>
              <a:rPr lang="pt-BR" sz="1600" b="1" u="sng" dirty="0" smtClean="0"/>
              <a:t> a “big switch”</a:t>
            </a:r>
            <a:r>
              <a:rPr lang="pt-BR" sz="1600" dirty="0" smtClean="0"/>
              <a:t> – </a:t>
            </a:r>
            <a:r>
              <a:rPr lang="pt-BR" sz="1600" dirty="0" err="1" smtClean="0"/>
              <a:t>Each</a:t>
            </a:r>
            <a:r>
              <a:rPr lang="pt-BR" sz="1600" dirty="0" smtClean="0"/>
              <a:t> </a:t>
            </a:r>
            <a:r>
              <a:rPr lang="pt-BR" sz="1600" dirty="0" err="1" smtClean="0"/>
              <a:t>customer</a:t>
            </a:r>
            <a:r>
              <a:rPr lang="pt-BR" sz="1600" dirty="0" smtClean="0"/>
              <a:t> is </a:t>
            </a:r>
            <a:r>
              <a:rPr lang="pt-BR" sz="1600" dirty="0" err="1" smtClean="0"/>
              <a:t>connected</a:t>
            </a:r>
            <a:r>
              <a:rPr lang="pt-BR" sz="1600" dirty="0" smtClean="0"/>
              <a:t> to a </a:t>
            </a:r>
            <a:r>
              <a:rPr lang="pt-BR" sz="1600" dirty="0" err="1" smtClean="0"/>
              <a:t>port</a:t>
            </a:r>
            <a:r>
              <a:rPr lang="pt-BR" sz="1600" dirty="0" smtClean="0"/>
              <a:t> </a:t>
            </a:r>
            <a:r>
              <a:rPr lang="pt-BR" sz="1600" dirty="0" err="1" smtClean="0"/>
              <a:t>and</a:t>
            </a:r>
            <a:r>
              <a:rPr lang="pt-BR" sz="1600" dirty="0" smtClean="0"/>
              <a:t> </a:t>
            </a:r>
            <a:r>
              <a:rPr lang="pt-BR" sz="1600" dirty="0" err="1" smtClean="0"/>
              <a:t>exchange</a:t>
            </a:r>
            <a:r>
              <a:rPr lang="pt-BR" sz="1600" dirty="0" smtClean="0"/>
              <a:t> </a:t>
            </a:r>
            <a:r>
              <a:rPr lang="pt-BR" sz="1600" dirty="0" err="1" smtClean="0"/>
              <a:t>the</a:t>
            </a:r>
            <a:r>
              <a:rPr lang="pt-BR" sz="1600" dirty="0" smtClean="0"/>
              <a:t> </a:t>
            </a:r>
            <a:r>
              <a:rPr lang="pt-BR" sz="1600" dirty="0" err="1" smtClean="0"/>
              <a:t>traffic</a:t>
            </a:r>
            <a:r>
              <a:rPr lang="pt-BR" sz="1600" dirty="0" smtClean="0"/>
              <a:t> </a:t>
            </a:r>
            <a:r>
              <a:rPr lang="pt-BR" sz="1600" dirty="0" err="1" smtClean="0"/>
              <a:t>with</a:t>
            </a:r>
            <a:r>
              <a:rPr lang="pt-BR" sz="1600" dirty="0" smtClean="0"/>
              <a:t> </a:t>
            </a:r>
            <a:r>
              <a:rPr lang="pt-BR" sz="1600" dirty="0" err="1" smtClean="0"/>
              <a:t>other</a:t>
            </a:r>
            <a:r>
              <a:rPr lang="pt-BR" sz="1600" dirty="0" smtClean="0"/>
              <a:t> </a:t>
            </a:r>
            <a:r>
              <a:rPr lang="pt-BR" sz="1600" dirty="0" err="1" smtClean="0"/>
              <a:t>participants</a:t>
            </a:r>
            <a:r>
              <a:rPr lang="pt-BR" sz="1600" dirty="0" smtClean="0"/>
              <a:t>. </a:t>
            </a:r>
            <a:r>
              <a:rPr lang="pt-BR" sz="1600" dirty="0" err="1" smtClean="0"/>
              <a:t>The</a:t>
            </a:r>
            <a:r>
              <a:rPr lang="pt-BR" sz="1600" dirty="0" smtClean="0"/>
              <a:t> </a:t>
            </a:r>
            <a:r>
              <a:rPr lang="pt-BR" sz="1600" dirty="0" err="1" smtClean="0"/>
              <a:t>routing</a:t>
            </a:r>
            <a:r>
              <a:rPr lang="pt-BR" sz="1600" dirty="0" smtClean="0"/>
              <a:t>  </a:t>
            </a:r>
            <a:r>
              <a:rPr lang="pt-BR" sz="1600" dirty="0" err="1" smtClean="0"/>
              <a:t>decision</a:t>
            </a:r>
            <a:r>
              <a:rPr lang="pt-BR" sz="1600" dirty="0" smtClean="0"/>
              <a:t> </a:t>
            </a:r>
            <a:r>
              <a:rPr lang="pt-BR" sz="1600" dirty="0" err="1" smtClean="0"/>
              <a:t>can</a:t>
            </a:r>
            <a:r>
              <a:rPr lang="pt-BR" sz="1600" dirty="0" smtClean="0"/>
              <a:t> </a:t>
            </a:r>
            <a:r>
              <a:rPr lang="pt-BR" sz="1600" dirty="0" err="1" smtClean="0"/>
              <a:t>be</a:t>
            </a:r>
            <a:r>
              <a:rPr lang="pt-BR" sz="1600" dirty="0" smtClean="0"/>
              <a:t> </a:t>
            </a:r>
            <a:r>
              <a:rPr lang="pt-BR" sz="1600" dirty="0" err="1" smtClean="0"/>
              <a:t>made</a:t>
            </a:r>
            <a:r>
              <a:rPr lang="pt-BR" sz="1600" dirty="0" smtClean="0"/>
              <a:t> </a:t>
            </a:r>
            <a:r>
              <a:rPr lang="pt-BR" sz="1600" dirty="0" err="1" smtClean="0"/>
              <a:t>by</a:t>
            </a:r>
            <a:r>
              <a:rPr lang="pt-BR" sz="1600" dirty="0" smtClean="0"/>
              <a:t> BGP. </a:t>
            </a:r>
            <a:endParaRPr lang="pt-BR" sz="1600" dirty="0"/>
          </a:p>
        </p:txBody>
      </p:sp>
      <p:pic>
        <p:nvPicPr>
          <p:cNvPr id="8" name="Imagem 7" descr="Star%20Topology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43636" y="1714488"/>
            <a:ext cx="2809875" cy="239077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500034" y="2357430"/>
            <a:ext cx="55721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u="sng" dirty="0" smtClean="0"/>
              <a:t> </a:t>
            </a:r>
            <a:r>
              <a:rPr lang="pt-BR" sz="1600" b="1" u="sng" dirty="0" err="1" smtClean="0"/>
              <a:t>It´</a:t>
            </a:r>
            <a:r>
              <a:rPr lang="pt-BR" sz="1600" b="1" u="sng" dirty="0" smtClean="0"/>
              <a:t>s </a:t>
            </a:r>
            <a:r>
              <a:rPr lang="pt-BR" sz="1600" b="1" u="sng" dirty="0" err="1" smtClean="0"/>
              <a:t>perfectly</a:t>
            </a:r>
            <a:r>
              <a:rPr lang="pt-BR" sz="1600" b="1" u="sng" dirty="0" smtClean="0"/>
              <a:t> safe</a:t>
            </a:r>
            <a:r>
              <a:rPr lang="pt-BR" sz="1600" dirty="0" smtClean="0"/>
              <a:t>, </a:t>
            </a:r>
            <a:r>
              <a:rPr lang="pt-BR" sz="1600" dirty="0" err="1" smtClean="0"/>
              <a:t>because</a:t>
            </a:r>
            <a:r>
              <a:rPr lang="pt-BR" sz="1600" dirty="0" smtClean="0"/>
              <a:t>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send</a:t>
            </a:r>
            <a:r>
              <a:rPr lang="pt-BR" sz="1600" dirty="0" smtClean="0"/>
              <a:t> to </a:t>
            </a:r>
            <a:r>
              <a:rPr lang="pt-BR" sz="1600" dirty="0" err="1" smtClean="0"/>
              <a:t>the</a:t>
            </a:r>
            <a:r>
              <a:rPr lang="pt-BR" sz="1600" dirty="0" smtClean="0"/>
              <a:t> IXP </a:t>
            </a:r>
            <a:r>
              <a:rPr lang="pt-BR" sz="1600" dirty="0" err="1" smtClean="0"/>
              <a:t>only</a:t>
            </a:r>
            <a:r>
              <a:rPr lang="pt-BR" sz="1600" dirty="0" smtClean="0"/>
              <a:t> </a:t>
            </a:r>
            <a:r>
              <a:rPr lang="pt-BR" sz="1600" dirty="0" err="1" smtClean="0"/>
              <a:t>the</a:t>
            </a:r>
            <a:r>
              <a:rPr lang="pt-BR" sz="1600" dirty="0" smtClean="0"/>
              <a:t> </a:t>
            </a:r>
            <a:r>
              <a:rPr lang="pt-BR" sz="1600" dirty="0" err="1" smtClean="0"/>
              <a:t>traffic</a:t>
            </a:r>
            <a:r>
              <a:rPr lang="pt-BR" sz="1600" dirty="0" smtClean="0"/>
              <a:t> </a:t>
            </a:r>
            <a:r>
              <a:rPr lang="pt-BR" sz="1600" dirty="0" err="1" smtClean="0"/>
              <a:t>that</a:t>
            </a:r>
            <a:r>
              <a:rPr lang="pt-BR" sz="1600" dirty="0" smtClean="0"/>
              <a:t> </a:t>
            </a:r>
            <a:r>
              <a:rPr lang="pt-BR" sz="1600" dirty="0" err="1" smtClean="0"/>
              <a:t>belongs</a:t>
            </a:r>
            <a:r>
              <a:rPr lang="pt-BR" sz="1600" dirty="0" smtClean="0"/>
              <a:t> to </a:t>
            </a:r>
            <a:r>
              <a:rPr lang="pt-BR" sz="1600" dirty="0" err="1" smtClean="0"/>
              <a:t>other</a:t>
            </a:r>
            <a:r>
              <a:rPr lang="pt-BR" sz="1600" dirty="0" smtClean="0"/>
              <a:t> </a:t>
            </a:r>
            <a:r>
              <a:rPr lang="pt-BR" sz="1600" dirty="0" err="1" smtClean="0"/>
              <a:t>participants</a:t>
            </a:r>
            <a:r>
              <a:rPr lang="pt-BR" sz="1600" dirty="0" smtClean="0"/>
              <a:t> </a:t>
            </a:r>
            <a:r>
              <a:rPr lang="pt-BR" sz="1600" dirty="0" err="1" smtClean="0"/>
              <a:t>and</a:t>
            </a:r>
            <a:r>
              <a:rPr lang="pt-BR" sz="1600" dirty="0" smtClean="0"/>
              <a:t>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receive</a:t>
            </a:r>
            <a:r>
              <a:rPr lang="pt-BR" sz="1600" dirty="0" smtClean="0"/>
              <a:t> in </a:t>
            </a:r>
            <a:r>
              <a:rPr lang="pt-BR" sz="1600" dirty="0" err="1" smtClean="0"/>
              <a:t>return</a:t>
            </a:r>
            <a:r>
              <a:rPr lang="pt-BR" sz="1600" dirty="0" smtClean="0"/>
              <a:t> </a:t>
            </a:r>
            <a:r>
              <a:rPr lang="pt-BR" sz="1600" dirty="0" err="1" smtClean="0"/>
              <a:t>only</a:t>
            </a:r>
            <a:r>
              <a:rPr lang="pt-BR" sz="1600" dirty="0" smtClean="0"/>
              <a:t> </a:t>
            </a:r>
            <a:r>
              <a:rPr lang="pt-BR" sz="1600" dirty="0" err="1" smtClean="0"/>
              <a:t>the</a:t>
            </a:r>
            <a:r>
              <a:rPr lang="pt-BR" sz="1600" dirty="0" smtClean="0"/>
              <a:t> </a:t>
            </a:r>
            <a:r>
              <a:rPr lang="pt-BR" sz="1600" dirty="0" err="1" smtClean="0"/>
              <a:t>traffic</a:t>
            </a:r>
            <a:r>
              <a:rPr lang="pt-BR" sz="1600" dirty="0" smtClean="0"/>
              <a:t> </a:t>
            </a:r>
            <a:r>
              <a:rPr lang="pt-BR" sz="1600" dirty="0" err="1" smtClean="0"/>
              <a:t>that</a:t>
            </a:r>
            <a:r>
              <a:rPr lang="pt-BR" sz="1600" dirty="0" smtClean="0"/>
              <a:t> </a:t>
            </a:r>
            <a:r>
              <a:rPr lang="pt-BR" sz="1600" dirty="0" err="1" smtClean="0"/>
              <a:t>belongs</a:t>
            </a:r>
            <a:r>
              <a:rPr lang="pt-BR" sz="1600" dirty="0" smtClean="0"/>
              <a:t> to </a:t>
            </a:r>
            <a:r>
              <a:rPr lang="pt-BR" sz="1600" dirty="0" err="1" smtClean="0"/>
              <a:t>you</a:t>
            </a:r>
            <a:r>
              <a:rPr lang="pt-BR" sz="1600" dirty="0" smtClean="0"/>
              <a:t> (</a:t>
            </a:r>
            <a:r>
              <a:rPr lang="pt-BR" sz="1600" dirty="0" err="1" smtClean="0"/>
              <a:t>you´re</a:t>
            </a:r>
            <a:r>
              <a:rPr lang="pt-BR" sz="1600" dirty="0" smtClean="0"/>
              <a:t> </a:t>
            </a:r>
            <a:r>
              <a:rPr lang="pt-BR" sz="1600" dirty="0" err="1" smtClean="0"/>
              <a:t>allowed</a:t>
            </a:r>
            <a:r>
              <a:rPr lang="pt-BR" sz="1600" dirty="0" smtClean="0"/>
              <a:t> to </a:t>
            </a:r>
            <a:r>
              <a:rPr lang="pt-BR" sz="1600" dirty="0" err="1" smtClean="0"/>
              <a:t>create</a:t>
            </a:r>
            <a:r>
              <a:rPr lang="pt-BR" sz="1600" dirty="0" smtClean="0"/>
              <a:t> </a:t>
            </a:r>
            <a:r>
              <a:rPr lang="pt-BR" sz="1600" dirty="0" err="1" smtClean="0"/>
              <a:t>your</a:t>
            </a:r>
            <a:r>
              <a:rPr lang="pt-BR" sz="1600" dirty="0" smtClean="0"/>
              <a:t> </a:t>
            </a:r>
            <a:r>
              <a:rPr lang="pt-BR" sz="1600" dirty="0" err="1" smtClean="0"/>
              <a:t>own</a:t>
            </a:r>
            <a:r>
              <a:rPr lang="pt-BR" sz="1600" dirty="0" smtClean="0"/>
              <a:t> </a:t>
            </a:r>
            <a:r>
              <a:rPr lang="pt-BR" sz="1600" dirty="0" err="1" smtClean="0"/>
              <a:t>filters</a:t>
            </a:r>
            <a:r>
              <a:rPr lang="pt-BR" sz="1600" dirty="0" smtClean="0"/>
              <a:t>)</a:t>
            </a:r>
            <a:endParaRPr lang="pt-BR" sz="16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928662" y="3929066"/>
            <a:ext cx="600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u="sng" dirty="0" smtClean="0"/>
              <a:t> </a:t>
            </a:r>
            <a:r>
              <a:rPr lang="pt-BR" sz="1600" b="1" u="sng" dirty="0" smtClean="0"/>
              <a:t>It </a:t>
            </a:r>
            <a:r>
              <a:rPr lang="pt-BR" sz="1600" b="1" u="sng" dirty="0" err="1" smtClean="0"/>
              <a:t>brings</a:t>
            </a:r>
            <a:r>
              <a:rPr lang="pt-BR" sz="1600" b="1" u="sng" dirty="0" smtClean="0"/>
              <a:t> performance</a:t>
            </a:r>
            <a:r>
              <a:rPr lang="pt-BR" sz="1600" dirty="0" smtClean="0"/>
              <a:t>! </a:t>
            </a:r>
            <a:r>
              <a:rPr lang="pt-BR" sz="1600" dirty="0" err="1" smtClean="0"/>
              <a:t>Since</a:t>
            </a:r>
            <a:r>
              <a:rPr lang="pt-BR" sz="1600" dirty="0" smtClean="0"/>
              <a:t> </a:t>
            </a:r>
            <a:r>
              <a:rPr lang="pt-BR" sz="1600" dirty="0" err="1" smtClean="0"/>
              <a:t>everybody</a:t>
            </a:r>
            <a:r>
              <a:rPr lang="pt-BR" sz="1600" dirty="0" smtClean="0"/>
              <a:t> is </a:t>
            </a:r>
            <a:r>
              <a:rPr lang="pt-BR" sz="1600" dirty="0" err="1" smtClean="0"/>
              <a:t>connected</a:t>
            </a:r>
            <a:r>
              <a:rPr lang="pt-BR" sz="1600" dirty="0" smtClean="0"/>
              <a:t> </a:t>
            </a:r>
            <a:r>
              <a:rPr lang="pt-BR" sz="1600" dirty="0" err="1" smtClean="0"/>
              <a:t>together</a:t>
            </a:r>
            <a:r>
              <a:rPr lang="pt-BR" sz="1600" dirty="0" smtClean="0"/>
              <a:t>,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won´</a:t>
            </a:r>
            <a:r>
              <a:rPr lang="pt-BR" sz="1600" dirty="0" smtClean="0"/>
              <a:t>t </a:t>
            </a:r>
            <a:r>
              <a:rPr lang="pt-BR" sz="1600" dirty="0" err="1" smtClean="0"/>
              <a:t>suffer</a:t>
            </a:r>
            <a:r>
              <a:rPr lang="pt-BR" sz="1600" dirty="0" smtClean="0"/>
              <a:t> </a:t>
            </a:r>
            <a:r>
              <a:rPr lang="pt-BR" sz="1600" dirty="0" err="1" smtClean="0"/>
              <a:t>from</a:t>
            </a:r>
            <a:r>
              <a:rPr lang="pt-BR" sz="1600" dirty="0" smtClean="0"/>
              <a:t> </a:t>
            </a:r>
            <a:r>
              <a:rPr lang="pt-BR" sz="1600" b="1" dirty="0" smtClean="0"/>
              <a:t>Internet </a:t>
            </a:r>
            <a:r>
              <a:rPr lang="pt-BR" sz="1600" b="1" dirty="0" err="1" smtClean="0"/>
              <a:t>latency</a:t>
            </a:r>
            <a:r>
              <a:rPr lang="pt-BR" sz="1600" b="1" dirty="0" smtClean="0"/>
              <a:t> </a:t>
            </a:r>
            <a:r>
              <a:rPr lang="pt-BR" sz="1600" b="1" dirty="0" err="1" smtClean="0"/>
              <a:t>issues</a:t>
            </a:r>
            <a:r>
              <a:rPr lang="pt-BR" sz="1600" dirty="0" smtClean="0"/>
              <a:t>. It is </a:t>
            </a:r>
            <a:r>
              <a:rPr lang="pt-BR" sz="1600" dirty="0" err="1" smtClean="0"/>
              <a:t>almost</a:t>
            </a:r>
            <a:r>
              <a:rPr lang="pt-BR" sz="1600" dirty="0" smtClean="0"/>
              <a:t> </a:t>
            </a:r>
            <a:r>
              <a:rPr lang="pt-BR" sz="1600" dirty="0" err="1" smtClean="0"/>
              <a:t>like</a:t>
            </a:r>
            <a:r>
              <a:rPr lang="pt-BR" sz="1600" dirty="0" smtClean="0"/>
              <a:t> a local network.</a:t>
            </a:r>
            <a:endParaRPr lang="pt-BR" sz="1600" b="1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142976" y="4857760"/>
            <a:ext cx="6000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u="sng" dirty="0" smtClean="0"/>
              <a:t> </a:t>
            </a:r>
            <a:r>
              <a:rPr lang="pt-BR" sz="1600" b="1" u="sng" dirty="0" err="1" smtClean="0"/>
              <a:t>It´</a:t>
            </a:r>
            <a:r>
              <a:rPr lang="pt-BR" sz="1600" b="1" u="sng" dirty="0" smtClean="0"/>
              <a:t>s </a:t>
            </a:r>
            <a:r>
              <a:rPr lang="pt-BR" sz="1600" b="1" u="sng" dirty="0" err="1" smtClean="0"/>
              <a:t>collaborative</a:t>
            </a:r>
            <a:r>
              <a:rPr lang="pt-BR" sz="1600" dirty="0" smtClean="0"/>
              <a:t>! </a:t>
            </a:r>
            <a:r>
              <a:rPr lang="pt-BR" sz="1600" dirty="0" err="1" smtClean="0"/>
              <a:t>When</a:t>
            </a:r>
            <a:r>
              <a:rPr lang="pt-BR" sz="1600" dirty="0" smtClean="0"/>
              <a:t> </a:t>
            </a:r>
            <a:r>
              <a:rPr lang="pt-BR" sz="1600" dirty="0" err="1" smtClean="0"/>
              <a:t>they</a:t>
            </a:r>
            <a:r>
              <a:rPr lang="pt-BR" sz="1600" dirty="0" smtClean="0"/>
              <a:t> </a:t>
            </a:r>
            <a:r>
              <a:rPr lang="pt-BR" sz="1600" dirty="0" err="1" smtClean="0"/>
              <a:t>grow</a:t>
            </a:r>
            <a:r>
              <a:rPr lang="pt-BR" sz="1600" dirty="0" smtClean="0"/>
              <a:t>,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grow</a:t>
            </a:r>
            <a:r>
              <a:rPr lang="pt-BR" sz="1600" dirty="0" smtClean="0"/>
              <a:t>.</a:t>
            </a:r>
            <a:endParaRPr lang="pt-BR" sz="1600" b="1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1428728" y="5786454"/>
            <a:ext cx="6000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u="sng" dirty="0" smtClean="0"/>
              <a:t> </a:t>
            </a:r>
            <a:r>
              <a:rPr lang="pt-BR" sz="1600" b="1" u="sng" dirty="0" err="1" smtClean="0"/>
              <a:t>It´</a:t>
            </a:r>
            <a:r>
              <a:rPr lang="pt-BR" sz="1600" b="1" u="sng" dirty="0" smtClean="0"/>
              <a:t>s </a:t>
            </a:r>
            <a:r>
              <a:rPr lang="pt-BR" sz="1600" b="1" u="sng" dirty="0" err="1" smtClean="0"/>
              <a:t>easy</a:t>
            </a:r>
            <a:r>
              <a:rPr lang="pt-BR" sz="1600" b="1" u="sng" dirty="0" smtClean="0"/>
              <a:t> </a:t>
            </a:r>
            <a:r>
              <a:rPr lang="pt-BR" sz="1600" dirty="0" smtClean="0"/>
              <a:t>! </a:t>
            </a:r>
            <a:r>
              <a:rPr lang="pt-BR" sz="1600" dirty="0" err="1" smtClean="0"/>
              <a:t>Lots</a:t>
            </a:r>
            <a:r>
              <a:rPr lang="pt-BR" sz="1600" dirty="0" smtClean="0"/>
              <a:t> </a:t>
            </a:r>
            <a:r>
              <a:rPr lang="pt-BR" sz="1600" dirty="0" err="1" smtClean="0"/>
              <a:t>of</a:t>
            </a:r>
            <a:r>
              <a:rPr lang="pt-BR" sz="1600" dirty="0" smtClean="0"/>
              <a:t> </a:t>
            </a:r>
            <a:r>
              <a:rPr lang="pt-BR" sz="1600" dirty="0" err="1" smtClean="0"/>
              <a:t>information</a:t>
            </a:r>
            <a:r>
              <a:rPr lang="pt-BR" sz="1600" dirty="0" smtClean="0"/>
              <a:t> </a:t>
            </a:r>
            <a:r>
              <a:rPr lang="pt-BR" sz="1600" dirty="0" err="1" smtClean="0"/>
              <a:t>available</a:t>
            </a:r>
            <a:r>
              <a:rPr lang="pt-BR" sz="1600" dirty="0" smtClean="0"/>
              <a:t>, </a:t>
            </a:r>
            <a:r>
              <a:rPr lang="pt-BR" sz="1600" dirty="0" err="1" smtClean="0"/>
              <a:t>docs</a:t>
            </a:r>
            <a:r>
              <a:rPr lang="pt-BR" sz="1600" dirty="0" smtClean="0"/>
              <a:t> </a:t>
            </a:r>
            <a:r>
              <a:rPr lang="pt-BR" sz="1600" dirty="0" err="1" smtClean="0"/>
              <a:t>and</a:t>
            </a:r>
            <a:r>
              <a:rPr lang="pt-BR" sz="1600" dirty="0" smtClean="0"/>
              <a:t>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can</a:t>
            </a:r>
            <a:r>
              <a:rPr lang="pt-BR" sz="1600" dirty="0" smtClean="0"/>
              <a:t> </a:t>
            </a:r>
            <a:r>
              <a:rPr lang="pt-BR" sz="1600" dirty="0" err="1" smtClean="0"/>
              <a:t>ask</a:t>
            </a:r>
            <a:r>
              <a:rPr lang="pt-BR" sz="1600" dirty="0" smtClean="0"/>
              <a:t> </a:t>
            </a:r>
            <a:r>
              <a:rPr lang="pt-BR" sz="1600" dirty="0" err="1" smtClean="0"/>
              <a:t>other</a:t>
            </a:r>
            <a:r>
              <a:rPr lang="pt-BR" sz="1600" dirty="0" smtClean="0"/>
              <a:t> </a:t>
            </a:r>
            <a:r>
              <a:rPr lang="pt-BR" sz="1600" dirty="0" err="1" smtClean="0"/>
              <a:t>participants</a:t>
            </a:r>
            <a:endParaRPr lang="pt-BR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err="1" smtClean="0"/>
              <a:t>Lack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of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vision</a:t>
            </a:r>
            <a:r>
              <a:rPr lang="pt-BR" b="1" u="sng" dirty="0" smtClean="0"/>
              <a:t> (</a:t>
            </a:r>
            <a:r>
              <a:rPr lang="pt-BR" b="1" i="1" u="sng" dirty="0" smtClean="0"/>
              <a:t>I </a:t>
            </a:r>
            <a:r>
              <a:rPr lang="pt-BR" b="1" i="1" u="sng" dirty="0" err="1" smtClean="0"/>
              <a:t>don´</a:t>
            </a:r>
            <a:r>
              <a:rPr lang="pt-BR" b="1" i="1" u="sng" dirty="0" smtClean="0"/>
              <a:t>t </a:t>
            </a:r>
            <a:r>
              <a:rPr lang="pt-BR" b="1" i="1" u="sng" dirty="0" err="1" smtClean="0"/>
              <a:t>need</a:t>
            </a:r>
            <a:r>
              <a:rPr lang="pt-BR" b="1" i="1" u="sng" dirty="0" smtClean="0"/>
              <a:t> </a:t>
            </a:r>
            <a:r>
              <a:rPr lang="pt-BR" b="1" i="1" u="sng" dirty="0" err="1" smtClean="0"/>
              <a:t>this</a:t>
            </a:r>
            <a:r>
              <a:rPr lang="pt-BR" b="1" i="1" u="sng" dirty="0" smtClean="0"/>
              <a:t>!</a:t>
            </a:r>
            <a:r>
              <a:rPr lang="pt-BR" b="1" u="sng" dirty="0" smtClean="0"/>
              <a:t>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57158" y="1214422"/>
            <a:ext cx="8072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b="1" dirty="0" smtClean="0"/>
              <a:t> </a:t>
            </a:r>
            <a:r>
              <a:rPr lang="pt-BR" sz="1600" b="1" u="sng" dirty="0" smtClean="0"/>
              <a:t>HUGE MISTAKE</a:t>
            </a:r>
            <a:r>
              <a:rPr lang="pt-BR" sz="1600" u="sng" dirty="0" smtClean="0"/>
              <a:t> </a:t>
            </a:r>
            <a:r>
              <a:rPr lang="pt-BR" sz="1600" dirty="0" smtClean="0"/>
              <a:t>– </a:t>
            </a:r>
            <a:r>
              <a:rPr lang="pt-BR" sz="1600" dirty="0" err="1" smtClean="0"/>
              <a:t>Why</a:t>
            </a:r>
            <a:r>
              <a:rPr lang="pt-BR" sz="1600" dirty="0" smtClean="0"/>
              <a:t> ? </a:t>
            </a:r>
            <a:r>
              <a:rPr lang="pt-BR" sz="1600" dirty="0" err="1" smtClean="0"/>
              <a:t>Because</a:t>
            </a:r>
            <a:r>
              <a:rPr lang="pt-BR" sz="1600" dirty="0" smtClean="0"/>
              <a:t> Internet </a:t>
            </a:r>
            <a:r>
              <a:rPr lang="pt-BR" sz="1600" dirty="0" err="1" smtClean="0"/>
              <a:t>grows</a:t>
            </a:r>
            <a:r>
              <a:rPr lang="pt-BR" sz="1600" dirty="0" smtClean="0"/>
              <a:t> </a:t>
            </a:r>
            <a:br>
              <a:rPr lang="pt-BR" sz="1600" dirty="0" smtClean="0"/>
            </a:br>
            <a:r>
              <a:rPr lang="pt-BR" sz="1600" dirty="0" smtClean="0"/>
              <a:t>EVEN </a:t>
            </a:r>
            <a:r>
              <a:rPr lang="pt-BR" sz="1600" dirty="0" err="1" smtClean="0"/>
              <a:t>if</a:t>
            </a:r>
            <a:r>
              <a:rPr lang="pt-BR" sz="1600" dirty="0" smtClean="0"/>
              <a:t> </a:t>
            </a:r>
            <a:r>
              <a:rPr lang="pt-BR" sz="1600" dirty="0" err="1" smtClean="0"/>
              <a:t>you</a:t>
            </a:r>
            <a:r>
              <a:rPr lang="pt-BR" sz="1600" dirty="0" smtClean="0"/>
              <a:t> </a:t>
            </a:r>
            <a:r>
              <a:rPr lang="pt-BR" sz="1600" dirty="0" err="1" smtClean="0"/>
              <a:t>don´</a:t>
            </a:r>
            <a:r>
              <a:rPr lang="pt-BR" sz="1600" dirty="0" smtClean="0"/>
              <a:t>t </a:t>
            </a:r>
            <a:r>
              <a:rPr lang="pt-BR" sz="1600" dirty="0" err="1" smtClean="0"/>
              <a:t>sell</a:t>
            </a:r>
            <a:r>
              <a:rPr lang="pt-BR" sz="1600" dirty="0" smtClean="0"/>
              <a:t> more !</a:t>
            </a:r>
            <a:endParaRPr lang="pt-BR" sz="1600" dirty="0"/>
          </a:p>
        </p:txBody>
      </p:sp>
      <p:pic>
        <p:nvPicPr>
          <p:cNvPr id="13" name="Imagem 12" descr="white_paper_c11-481374-0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95850" y="571480"/>
            <a:ext cx="4248150" cy="2867025"/>
          </a:xfrm>
          <a:prstGeom prst="rect">
            <a:avLst/>
          </a:prstGeom>
        </p:spPr>
      </p:pic>
      <p:pic>
        <p:nvPicPr>
          <p:cNvPr id="14" name="Imagem 13" descr="pt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14612" y="3571876"/>
            <a:ext cx="5687219" cy="2143424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142844" y="3643314"/>
            <a:ext cx="8072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1600" dirty="0" smtClean="0"/>
              <a:t> </a:t>
            </a:r>
            <a:r>
              <a:rPr lang="pt-BR" sz="1600" b="1" dirty="0" err="1" smtClean="0"/>
              <a:t>And</a:t>
            </a:r>
            <a:r>
              <a:rPr lang="pt-BR" sz="1600" b="1" dirty="0" smtClean="0"/>
              <a:t> </a:t>
            </a:r>
            <a:r>
              <a:rPr lang="pt-BR" sz="1600" b="1" dirty="0" err="1" smtClean="0"/>
              <a:t>so</a:t>
            </a:r>
            <a:r>
              <a:rPr lang="pt-BR" sz="1600" b="1" dirty="0" smtClean="0"/>
              <a:t> </a:t>
            </a:r>
            <a:r>
              <a:rPr lang="pt-BR" sz="1600" b="1" dirty="0" err="1" smtClean="0"/>
              <a:t>the</a:t>
            </a:r>
            <a:r>
              <a:rPr lang="pt-BR" sz="1600" b="1" dirty="0" smtClean="0"/>
              <a:t> IXP</a:t>
            </a:r>
            <a:r>
              <a:rPr lang="pt-BR" sz="1600" dirty="0" smtClean="0"/>
              <a:t>, </a:t>
            </a:r>
            <a:r>
              <a:rPr lang="pt-BR" sz="1600" dirty="0" err="1" smtClean="0"/>
              <a:t>with</a:t>
            </a:r>
            <a:r>
              <a:rPr lang="pt-BR" sz="1600" dirty="0" smtClean="0"/>
              <a:t/>
            </a:r>
            <a:br>
              <a:rPr lang="pt-BR" sz="1600" dirty="0" smtClean="0"/>
            </a:br>
            <a:r>
              <a:rPr lang="pt-BR" sz="1600" dirty="0" smtClean="0"/>
              <a:t>Internet </a:t>
            </a:r>
            <a:r>
              <a:rPr lang="pt-BR" sz="1600" dirty="0" err="1" smtClean="0"/>
              <a:t>growth</a:t>
            </a:r>
            <a:r>
              <a:rPr lang="pt-BR" sz="1600" dirty="0" smtClean="0"/>
              <a:t> </a:t>
            </a:r>
            <a:r>
              <a:rPr lang="pt-BR" sz="1600" dirty="0" err="1" smtClean="0"/>
              <a:t>and</a:t>
            </a:r>
            <a:r>
              <a:rPr lang="pt-BR" sz="1600" dirty="0" smtClean="0"/>
              <a:t> </a:t>
            </a:r>
            <a:r>
              <a:rPr lang="pt-BR" sz="1600" dirty="0" err="1" smtClean="0"/>
              <a:t>new</a:t>
            </a:r>
            <a:endParaRPr lang="pt-BR" sz="1600" dirty="0" smtClean="0"/>
          </a:p>
          <a:p>
            <a:r>
              <a:rPr lang="pt-BR" sz="1600" dirty="0" err="1" smtClean="0"/>
              <a:t>participants</a:t>
            </a:r>
            <a:r>
              <a:rPr lang="pt-BR" sz="1600" dirty="0" smtClean="0"/>
              <a:t> </a:t>
            </a:r>
            <a:endParaRPr lang="pt-BR" sz="1600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500034" y="2214554"/>
            <a:ext cx="8072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smtClean="0"/>
              <a:t>More </a:t>
            </a:r>
            <a:r>
              <a:rPr lang="pt-BR" sz="1600" i="1" dirty="0" err="1" smtClean="0"/>
              <a:t>users</a:t>
            </a:r>
            <a:r>
              <a:rPr lang="pt-BR" sz="1600" i="1" dirty="0" smtClean="0"/>
              <a:t>, </a:t>
            </a:r>
            <a:r>
              <a:rPr lang="pt-BR" sz="1600" i="1" dirty="0" err="1" smtClean="0"/>
              <a:t>Video</a:t>
            </a:r>
            <a:r>
              <a:rPr lang="pt-BR" sz="1600" i="1" dirty="0" smtClean="0"/>
              <a:t>, </a:t>
            </a:r>
            <a:r>
              <a:rPr lang="pt-BR" sz="1600" i="1" dirty="0" err="1" smtClean="0"/>
              <a:t>Video</a:t>
            </a:r>
            <a:r>
              <a:rPr lang="pt-BR" sz="1600" i="1" dirty="0" smtClean="0"/>
              <a:t> HD, </a:t>
            </a:r>
            <a:r>
              <a:rPr lang="pt-BR" sz="1600" i="1" dirty="0" err="1" smtClean="0"/>
              <a:t>Video</a:t>
            </a:r>
            <a:r>
              <a:rPr lang="pt-BR" sz="1600" i="1" dirty="0" smtClean="0"/>
              <a:t> SUPER HD, </a:t>
            </a:r>
            <a:r>
              <a:rPr lang="pt-BR" sz="1600" i="1" dirty="0" err="1" smtClean="0"/>
              <a:t>Video</a:t>
            </a:r>
            <a:r>
              <a:rPr lang="pt-BR" sz="1600" i="1" dirty="0" smtClean="0"/>
              <a:t> 3D ?</a:t>
            </a:r>
            <a:endParaRPr lang="pt-BR" sz="1600" i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3643306" y="5857892"/>
            <a:ext cx="4214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i="1" dirty="0" err="1" smtClean="0"/>
              <a:t>Aggregated</a:t>
            </a:r>
            <a:r>
              <a:rPr lang="pt-BR" sz="1600" i="1" dirty="0" smtClean="0"/>
              <a:t> </a:t>
            </a:r>
            <a:r>
              <a:rPr lang="pt-BR" sz="1600" i="1" dirty="0" err="1" smtClean="0"/>
              <a:t>traffic</a:t>
            </a:r>
            <a:r>
              <a:rPr lang="pt-BR" sz="1600" i="1" dirty="0" smtClean="0"/>
              <a:t> </a:t>
            </a:r>
            <a:r>
              <a:rPr lang="pt-BR" sz="1600" i="1" dirty="0" err="1" smtClean="0"/>
              <a:t>PTT-Metro</a:t>
            </a:r>
            <a:r>
              <a:rPr lang="pt-BR" sz="1600" i="1" dirty="0" smtClean="0"/>
              <a:t> </a:t>
            </a:r>
            <a:r>
              <a:rPr lang="pt-BR" sz="1600" i="1" dirty="0" err="1" smtClean="0"/>
              <a:t>Brazil</a:t>
            </a:r>
            <a:endParaRPr lang="pt-BR" sz="1600" i="1" dirty="0"/>
          </a:p>
        </p:txBody>
      </p:sp>
      <p:pic>
        <p:nvPicPr>
          <p:cNvPr id="9" name="Imagem 8" descr="visionchart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51920" y="4221088"/>
            <a:ext cx="4680520" cy="2376264"/>
          </a:xfrm>
          <a:prstGeom prst="rect">
            <a:avLst/>
          </a:prstGeom>
        </p:spPr>
      </p:pic>
      <p:pic>
        <p:nvPicPr>
          <p:cNvPr id="10" name="Imagem 9" descr="3 blind mice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1560" y="836712"/>
            <a:ext cx="5486400" cy="3230880"/>
          </a:xfrm>
          <a:prstGeom prst="rect">
            <a:avLst/>
          </a:prstGeom>
        </p:spPr>
      </p:pic>
      <p:pic>
        <p:nvPicPr>
          <p:cNvPr id="11" name="Imagem 10" descr="1207431849133414482low vision access black.svg.me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9512" y="4797152"/>
            <a:ext cx="1822680" cy="1462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“</a:t>
            </a:r>
            <a:r>
              <a:rPr lang="pt-BR" b="1" u="sng" dirty="0" err="1" smtClean="0"/>
              <a:t>It´</a:t>
            </a:r>
            <a:r>
              <a:rPr lang="pt-BR" b="1" u="sng" dirty="0" smtClean="0"/>
              <a:t>s </a:t>
            </a:r>
            <a:r>
              <a:rPr lang="pt-BR" b="1" u="sng" dirty="0" err="1" smtClean="0"/>
              <a:t>the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economy</a:t>
            </a:r>
            <a:r>
              <a:rPr lang="pt-BR" b="1" u="sng" dirty="0" smtClean="0"/>
              <a:t>, </a:t>
            </a:r>
            <a:r>
              <a:rPr lang="pt-BR" b="1" u="sng" dirty="0" err="1" smtClean="0"/>
              <a:t>Stupid</a:t>
            </a:r>
            <a:r>
              <a:rPr lang="pt-BR" b="1" u="sng" dirty="0" smtClean="0"/>
              <a:t>”</a:t>
            </a:r>
          </a:p>
        </p:txBody>
      </p:sp>
      <p:pic>
        <p:nvPicPr>
          <p:cNvPr id="15" name="Imagem 14" descr="carvill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9752" y="908720"/>
            <a:ext cx="4176464" cy="4824536"/>
          </a:xfrm>
          <a:prstGeom prst="rect">
            <a:avLst/>
          </a:prstGeom>
        </p:spPr>
      </p:pic>
      <p:pic>
        <p:nvPicPr>
          <p:cNvPr id="17" name="Imagem 16" descr="foreverBrasi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3528" y="1340768"/>
            <a:ext cx="5511502" cy="4752528"/>
          </a:xfrm>
          <a:prstGeom prst="rect">
            <a:avLst/>
          </a:prstGeom>
        </p:spPr>
      </p:pic>
      <p:sp>
        <p:nvSpPr>
          <p:cNvPr id="20" name="Seta para a direita 19"/>
          <p:cNvSpPr/>
          <p:nvPr/>
        </p:nvSpPr>
        <p:spPr>
          <a:xfrm>
            <a:off x="3923928" y="4725144"/>
            <a:ext cx="223224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6228184" y="4509120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PTT-Metro</a:t>
            </a:r>
            <a:r>
              <a:rPr lang="pt-BR" dirty="0" smtClean="0"/>
              <a:t> (IXP)</a:t>
            </a:r>
            <a:br>
              <a:rPr lang="pt-BR" dirty="0" smtClean="0"/>
            </a:br>
            <a:r>
              <a:rPr lang="pt-BR" dirty="0" err="1" smtClean="0"/>
              <a:t>Several</a:t>
            </a:r>
            <a:r>
              <a:rPr lang="pt-BR" dirty="0" smtClean="0"/>
              <a:t> </a:t>
            </a:r>
            <a:r>
              <a:rPr lang="pt-BR" dirty="0" err="1" smtClean="0"/>
              <a:t>Carriers</a:t>
            </a:r>
            <a:r>
              <a:rPr lang="pt-BR" dirty="0" smtClean="0"/>
              <a:t> </a:t>
            </a:r>
            <a:r>
              <a:rPr lang="pt-BR" dirty="0" err="1" smtClean="0"/>
              <a:t>Available</a:t>
            </a:r>
            <a:endParaRPr lang="pt-BR" dirty="0" smtClean="0"/>
          </a:p>
          <a:p>
            <a:r>
              <a:rPr lang="pt-BR" dirty="0" smtClean="0"/>
              <a:t>BW =~ US$ 88/</a:t>
            </a:r>
            <a:r>
              <a:rPr lang="pt-BR" dirty="0" err="1" smtClean="0"/>
              <a:t>Mb</a:t>
            </a:r>
            <a:r>
              <a:rPr lang="pt-BR" dirty="0" smtClean="0"/>
              <a:t>/s/Mo </a:t>
            </a:r>
            <a:endParaRPr lang="pt-BR" dirty="0"/>
          </a:p>
        </p:txBody>
      </p:sp>
      <p:sp>
        <p:nvSpPr>
          <p:cNvPr id="22" name="Seta para a direita 21"/>
          <p:cNvSpPr/>
          <p:nvPr/>
        </p:nvSpPr>
        <p:spPr>
          <a:xfrm>
            <a:off x="3923928" y="2492896"/>
            <a:ext cx="223224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6228184" y="2276872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Only</a:t>
            </a:r>
            <a:r>
              <a:rPr lang="pt-BR" dirty="0" smtClean="0"/>
              <a:t> 1 Carrier </a:t>
            </a:r>
            <a:r>
              <a:rPr lang="pt-BR" dirty="0" err="1" smtClean="0"/>
              <a:t>Available</a:t>
            </a:r>
            <a:r>
              <a:rPr lang="pt-BR" dirty="0" smtClean="0"/>
              <a:t>!</a:t>
            </a:r>
          </a:p>
          <a:p>
            <a:r>
              <a:rPr lang="pt-BR" dirty="0" smtClean="0"/>
              <a:t>BW =~ US$ 700/</a:t>
            </a:r>
            <a:r>
              <a:rPr lang="pt-BR" dirty="0" err="1" smtClean="0"/>
              <a:t>Mb</a:t>
            </a:r>
            <a:r>
              <a:rPr lang="pt-BR" dirty="0" smtClean="0"/>
              <a:t>/s/Mo 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6732240" y="764704"/>
            <a:ext cx="208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 err="1" smtClean="0"/>
              <a:t>Almost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impossible</a:t>
            </a:r>
            <a:r>
              <a:rPr lang="pt-BR" b="1" u="sng" dirty="0" smtClean="0"/>
              <a:t> </a:t>
            </a:r>
            <a:r>
              <a:rPr lang="pt-BR" dirty="0" smtClean="0"/>
              <a:t>to </a:t>
            </a:r>
            <a:r>
              <a:rPr lang="pt-BR" dirty="0" err="1" smtClean="0"/>
              <a:t>grow</a:t>
            </a:r>
            <a:r>
              <a:rPr lang="pt-BR" dirty="0" smtClean="0"/>
              <a:t> </a:t>
            </a:r>
            <a:r>
              <a:rPr lang="pt-BR" dirty="0" err="1" smtClean="0"/>
              <a:t>an</a:t>
            </a:r>
            <a:r>
              <a:rPr lang="pt-BR" dirty="0" smtClean="0"/>
              <a:t> Internet (“global”) business in </a:t>
            </a:r>
            <a:r>
              <a:rPr lang="pt-BR" dirty="0" err="1" smtClean="0"/>
              <a:t>this</a:t>
            </a:r>
            <a:r>
              <a:rPr lang="pt-BR" dirty="0" smtClean="0"/>
              <a:t> </a:t>
            </a:r>
            <a:r>
              <a:rPr lang="pt-BR" dirty="0" err="1" smtClean="0"/>
              <a:t>scenario</a:t>
            </a:r>
            <a:r>
              <a:rPr lang="pt-BR" dirty="0" smtClean="0"/>
              <a:t> !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animBg="1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“</a:t>
            </a:r>
            <a:r>
              <a:rPr lang="pt-BR" b="1" u="sng" dirty="0" err="1" smtClean="0"/>
              <a:t>It´</a:t>
            </a:r>
            <a:r>
              <a:rPr lang="pt-BR" b="1" u="sng" dirty="0" smtClean="0"/>
              <a:t>s </a:t>
            </a:r>
            <a:r>
              <a:rPr lang="pt-BR" b="1" u="sng" dirty="0" err="1" smtClean="0"/>
              <a:t>the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economy</a:t>
            </a:r>
            <a:r>
              <a:rPr lang="pt-BR" b="1" u="sng" dirty="0" smtClean="0"/>
              <a:t>, </a:t>
            </a:r>
            <a:r>
              <a:rPr lang="pt-BR" b="1" u="sng" dirty="0" err="1" smtClean="0"/>
              <a:t>Stupid</a:t>
            </a:r>
            <a:r>
              <a:rPr lang="pt-BR" b="1" u="sng" dirty="0" smtClean="0"/>
              <a:t>”</a:t>
            </a:r>
          </a:p>
        </p:txBody>
      </p:sp>
      <p:pic>
        <p:nvPicPr>
          <p:cNvPr id="17" name="Imagem 16" descr="foreverBrasi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340768"/>
            <a:ext cx="5511502" cy="4752528"/>
          </a:xfrm>
          <a:prstGeom prst="rect">
            <a:avLst/>
          </a:prstGeom>
        </p:spPr>
      </p:pic>
      <p:sp>
        <p:nvSpPr>
          <p:cNvPr id="20" name="Seta para a direita 19"/>
          <p:cNvSpPr/>
          <p:nvPr/>
        </p:nvSpPr>
        <p:spPr>
          <a:xfrm>
            <a:off x="3923928" y="4725144"/>
            <a:ext cx="223224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6228184" y="4509120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PTT-Metro</a:t>
            </a:r>
            <a:r>
              <a:rPr lang="pt-BR" dirty="0" smtClean="0"/>
              <a:t> (IXP)</a:t>
            </a:r>
            <a:br>
              <a:rPr lang="pt-BR" dirty="0" smtClean="0"/>
            </a:br>
            <a:r>
              <a:rPr lang="pt-BR" dirty="0" err="1" smtClean="0"/>
              <a:t>Several</a:t>
            </a:r>
            <a:r>
              <a:rPr lang="pt-BR" dirty="0" smtClean="0"/>
              <a:t> </a:t>
            </a:r>
            <a:r>
              <a:rPr lang="pt-BR" dirty="0" err="1" smtClean="0"/>
              <a:t>Carriers</a:t>
            </a:r>
            <a:r>
              <a:rPr lang="pt-BR" dirty="0" smtClean="0"/>
              <a:t> </a:t>
            </a:r>
            <a:r>
              <a:rPr lang="pt-BR" dirty="0" err="1" smtClean="0"/>
              <a:t>Available</a:t>
            </a:r>
            <a:endParaRPr lang="pt-BR" dirty="0" smtClean="0"/>
          </a:p>
          <a:p>
            <a:r>
              <a:rPr lang="pt-BR" dirty="0" smtClean="0"/>
              <a:t>BW =~ US$ 88/</a:t>
            </a:r>
            <a:r>
              <a:rPr lang="pt-BR" dirty="0" err="1" smtClean="0"/>
              <a:t>Mb</a:t>
            </a:r>
            <a:r>
              <a:rPr lang="pt-BR" dirty="0" smtClean="0"/>
              <a:t>/s/Mo </a:t>
            </a:r>
            <a:endParaRPr lang="pt-BR" dirty="0"/>
          </a:p>
        </p:txBody>
      </p:sp>
      <p:cxnSp>
        <p:nvCxnSpPr>
          <p:cNvPr id="12" name="Conector de seta reta 11"/>
          <p:cNvCxnSpPr/>
          <p:nvPr/>
        </p:nvCxnSpPr>
        <p:spPr>
          <a:xfrm rot="16200000" flipH="1">
            <a:off x="2663788" y="3753036"/>
            <a:ext cx="158417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rot="5400000">
            <a:off x="3167844" y="3392996"/>
            <a:ext cx="180020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rot="16200000" flipH="1">
            <a:off x="2447764" y="3392996"/>
            <a:ext cx="223224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 rot="5400000">
            <a:off x="3455876" y="3681028"/>
            <a:ext cx="122413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 rot="5400000">
            <a:off x="2771800" y="3429000"/>
            <a:ext cx="20882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eta para a direita 26"/>
          <p:cNvSpPr/>
          <p:nvPr/>
        </p:nvSpPr>
        <p:spPr>
          <a:xfrm>
            <a:off x="4283968" y="3933056"/>
            <a:ext cx="208823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6407696" y="3645024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Lan2Lan Connection 100Mb/s</a:t>
            </a:r>
          </a:p>
          <a:p>
            <a:r>
              <a:rPr lang="pt-BR" sz="1600" dirty="0" smtClean="0"/>
              <a:t>BW =~ US$ 40/</a:t>
            </a:r>
            <a:r>
              <a:rPr lang="pt-BR" sz="1600" dirty="0" err="1" smtClean="0"/>
              <a:t>Mb</a:t>
            </a:r>
            <a:r>
              <a:rPr lang="pt-BR" sz="1600" dirty="0" smtClean="0"/>
              <a:t>/Mo </a:t>
            </a:r>
            <a:endParaRPr lang="pt-BR" sz="1600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6084168" y="476672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Total </a:t>
            </a:r>
            <a:r>
              <a:rPr lang="pt-BR" dirty="0" err="1" smtClean="0"/>
              <a:t>price</a:t>
            </a:r>
            <a:r>
              <a:rPr lang="pt-BR" dirty="0" smtClean="0"/>
              <a:t> for 100Mb/s:</a:t>
            </a:r>
          </a:p>
          <a:p>
            <a:endParaRPr lang="pt-BR" dirty="0" smtClean="0"/>
          </a:p>
          <a:p>
            <a:r>
              <a:rPr lang="pt-BR" dirty="0" err="1" smtClean="0"/>
              <a:t>Was</a:t>
            </a:r>
            <a:r>
              <a:rPr lang="pt-BR" dirty="0" smtClean="0"/>
              <a:t> =~ US$ 70,000/Mo</a:t>
            </a:r>
          </a:p>
          <a:p>
            <a:r>
              <a:rPr lang="pt-BR" dirty="0" err="1" smtClean="0"/>
              <a:t>Now</a:t>
            </a:r>
            <a:r>
              <a:rPr lang="pt-BR" dirty="0" smtClean="0"/>
              <a:t> =~ US$ 12,800/Mo</a:t>
            </a:r>
          </a:p>
        </p:txBody>
      </p:sp>
      <p:sp>
        <p:nvSpPr>
          <p:cNvPr id="30" name="Estrela de 5 pontas 29"/>
          <p:cNvSpPr/>
          <p:nvPr/>
        </p:nvSpPr>
        <p:spPr>
          <a:xfrm>
            <a:off x="3275856" y="2924944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strela de 5 pontas 30"/>
          <p:cNvSpPr/>
          <p:nvPr/>
        </p:nvSpPr>
        <p:spPr>
          <a:xfrm>
            <a:off x="3419872" y="2204864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strela de 5 pontas 31"/>
          <p:cNvSpPr/>
          <p:nvPr/>
        </p:nvSpPr>
        <p:spPr>
          <a:xfrm>
            <a:off x="3923928" y="2492896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strela de 5 pontas 32"/>
          <p:cNvSpPr/>
          <p:nvPr/>
        </p:nvSpPr>
        <p:spPr>
          <a:xfrm>
            <a:off x="4427984" y="2780928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strela de 5 pontas 33"/>
          <p:cNvSpPr/>
          <p:nvPr/>
        </p:nvSpPr>
        <p:spPr>
          <a:xfrm>
            <a:off x="4499992" y="3356992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“</a:t>
            </a:r>
            <a:r>
              <a:rPr lang="pt-BR" b="1" u="sng" dirty="0" err="1" smtClean="0"/>
              <a:t>It´</a:t>
            </a:r>
            <a:r>
              <a:rPr lang="pt-BR" b="1" u="sng" dirty="0" smtClean="0"/>
              <a:t>s </a:t>
            </a:r>
            <a:r>
              <a:rPr lang="pt-BR" b="1" u="sng" dirty="0" err="1" smtClean="0"/>
              <a:t>the</a:t>
            </a:r>
            <a:r>
              <a:rPr lang="pt-BR" b="1" u="sng" dirty="0" smtClean="0"/>
              <a:t> </a:t>
            </a:r>
            <a:r>
              <a:rPr lang="pt-BR" b="1" u="sng" dirty="0" err="1" smtClean="0"/>
              <a:t>economy</a:t>
            </a:r>
            <a:r>
              <a:rPr lang="pt-BR" b="1" u="sng" dirty="0" smtClean="0"/>
              <a:t>, </a:t>
            </a:r>
            <a:r>
              <a:rPr lang="pt-BR" b="1" u="sng" dirty="0" err="1" smtClean="0"/>
              <a:t>Stupid</a:t>
            </a:r>
            <a:r>
              <a:rPr lang="pt-BR" b="1" u="sng" dirty="0" smtClean="0"/>
              <a:t>”</a:t>
            </a:r>
          </a:p>
        </p:txBody>
      </p:sp>
      <p:pic>
        <p:nvPicPr>
          <p:cNvPr id="17" name="Imagem 16" descr="foreverBrasi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340768"/>
            <a:ext cx="5511502" cy="4752528"/>
          </a:xfrm>
          <a:prstGeom prst="rect">
            <a:avLst/>
          </a:prstGeom>
        </p:spPr>
      </p:pic>
      <p:sp>
        <p:nvSpPr>
          <p:cNvPr id="20" name="Seta para a direita 19"/>
          <p:cNvSpPr/>
          <p:nvPr/>
        </p:nvSpPr>
        <p:spPr>
          <a:xfrm>
            <a:off x="3923928" y="4725144"/>
            <a:ext cx="223224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6228184" y="4509120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PTT-Metro</a:t>
            </a:r>
            <a:r>
              <a:rPr lang="pt-BR" dirty="0" smtClean="0"/>
              <a:t> (IXP)</a:t>
            </a:r>
            <a:br>
              <a:rPr lang="pt-BR" dirty="0" smtClean="0"/>
            </a:br>
            <a:r>
              <a:rPr lang="pt-BR" dirty="0" err="1" smtClean="0"/>
              <a:t>Several</a:t>
            </a:r>
            <a:r>
              <a:rPr lang="pt-BR" dirty="0" smtClean="0"/>
              <a:t> </a:t>
            </a:r>
            <a:r>
              <a:rPr lang="pt-BR" dirty="0" err="1" smtClean="0"/>
              <a:t>Carriers</a:t>
            </a:r>
            <a:r>
              <a:rPr lang="pt-BR" dirty="0" smtClean="0"/>
              <a:t> </a:t>
            </a:r>
            <a:r>
              <a:rPr lang="pt-BR" dirty="0" err="1" smtClean="0"/>
              <a:t>Available</a:t>
            </a:r>
            <a:endParaRPr lang="pt-BR" dirty="0" smtClean="0"/>
          </a:p>
          <a:p>
            <a:r>
              <a:rPr lang="pt-BR" dirty="0" smtClean="0"/>
              <a:t>BW =~ US$ 88/</a:t>
            </a:r>
            <a:r>
              <a:rPr lang="pt-BR" dirty="0" err="1" smtClean="0"/>
              <a:t>Mb</a:t>
            </a:r>
            <a:r>
              <a:rPr lang="pt-BR" dirty="0" smtClean="0"/>
              <a:t>/s/Mo </a:t>
            </a:r>
            <a:endParaRPr lang="pt-BR" dirty="0"/>
          </a:p>
        </p:txBody>
      </p:sp>
      <p:cxnSp>
        <p:nvCxnSpPr>
          <p:cNvPr id="12" name="Conector de seta reta 11"/>
          <p:cNvCxnSpPr/>
          <p:nvPr/>
        </p:nvCxnSpPr>
        <p:spPr>
          <a:xfrm rot="16200000" flipH="1">
            <a:off x="2663788" y="3753036"/>
            <a:ext cx="158417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rot="5400000">
            <a:off x="3167844" y="3392996"/>
            <a:ext cx="180020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rot="16200000" flipH="1">
            <a:off x="2447764" y="3392996"/>
            <a:ext cx="223224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 rot="5400000">
            <a:off x="3455876" y="3681028"/>
            <a:ext cx="122413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 rot="5400000">
            <a:off x="2771800" y="3429000"/>
            <a:ext cx="20882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eta para a direita 26"/>
          <p:cNvSpPr/>
          <p:nvPr/>
        </p:nvSpPr>
        <p:spPr>
          <a:xfrm>
            <a:off x="4283968" y="3933056"/>
            <a:ext cx="208823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6407696" y="3645024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Lan2Lan Connection 100Mb/s</a:t>
            </a:r>
          </a:p>
          <a:p>
            <a:r>
              <a:rPr lang="pt-BR" sz="1600" dirty="0" smtClean="0"/>
              <a:t>BW =~ US$ 40/</a:t>
            </a:r>
            <a:r>
              <a:rPr lang="pt-BR" sz="1600" dirty="0" err="1" smtClean="0"/>
              <a:t>Mb</a:t>
            </a:r>
            <a:r>
              <a:rPr lang="pt-BR" sz="1600" dirty="0" smtClean="0"/>
              <a:t>/Mo </a:t>
            </a:r>
            <a:endParaRPr lang="pt-BR" sz="1600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6084168" y="476672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Total </a:t>
            </a:r>
            <a:r>
              <a:rPr lang="pt-BR" dirty="0" err="1" smtClean="0"/>
              <a:t>price</a:t>
            </a:r>
            <a:r>
              <a:rPr lang="pt-BR" dirty="0" smtClean="0"/>
              <a:t> for 100Mb/s:</a:t>
            </a:r>
          </a:p>
          <a:p>
            <a:endParaRPr lang="pt-BR" dirty="0" smtClean="0"/>
          </a:p>
          <a:p>
            <a:r>
              <a:rPr lang="pt-BR" dirty="0" err="1" smtClean="0"/>
              <a:t>Was</a:t>
            </a:r>
            <a:r>
              <a:rPr lang="pt-BR" dirty="0" smtClean="0"/>
              <a:t> =~ </a:t>
            </a:r>
            <a:r>
              <a:rPr lang="pt-BR" b="1" dirty="0" smtClean="0"/>
              <a:t>US$ 70,000/Mo</a:t>
            </a:r>
          </a:p>
          <a:p>
            <a:r>
              <a:rPr lang="pt-BR" dirty="0" err="1" smtClean="0"/>
              <a:t>Now</a:t>
            </a:r>
            <a:r>
              <a:rPr lang="pt-BR" dirty="0" smtClean="0"/>
              <a:t> =~ </a:t>
            </a:r>
            <a:r>
              <a:rPr lang="pt-BR" b="1" dirty="0" smtClean="0"/>
              <a:t>US$ 12,800/Mo</a:t>
            </a:r>
          </a:p>
        </p:txBody>
      </p:sp>
      <p:sp>
        <p:nvSpPr>
          <p:cNvPr id="30" name="Estrela de 5 pontas 29"/>
          <p:cNvSpPr/>
          <p:nvPr/>
        </p:nvSpPr>
        <p:spPr>
          <a:xfrm>
            <a:off x="3275856" y="2924944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strela de 5 pontas 30"/>
          <p:cNvSpPr/>
          <p:nvPr/>
        </p:nvSpPr>
        <p:spPr>
          <a:xfrm>
            <a:off x="3419872" y="2204864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strela de 5 pontas 31"/>
          <p:cNvSpPr/>
          <p:nvPr/>
        </p:nvSpPr>
        <p:spPr>
          <a:xfrm>
            <a:off x="3923928" y="2492896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strela de 5 pontas 32"/>
          <p:cNvSpPr/>
          <p:nvPr/>
        </p:nvSpPr>
        <p:spPr>
          <a:xfrm>
            <a:off x="4427984" y="2780928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strela de 5 pontas 33"/>
          <p:cNvSpPr/>
          <p:nvPr/>
        </p:nvSpPr>
        <p:spPr>
          <a:xfrm>
            <a:off x="4499992" y="3356992"/>
            <a:ext cx="144016" cy="14401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/>
          <p:cNvCxnSpPr>
            <a:stCxn id="30" idx="0"/>
            <a:endCxn id="31" idx="2"/>
          </p:cNvCxnSpPr>
          <p:nvPr/>
        </p:nvCxnSpPr>
        <p:spPr>
          <a:xfrm rot="5400000" flipH="1" flipV="1">
            <a:off x="3109588" y="2587156"/>
            <a:ext cx="576064" cy="99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31" idx="2"/>
            <a:endCxn id="32" idx="1"/>
          </p:cNvCxnSpPr>
          <p:nvPr/>
        </p:nvCxnSpPr>
        <p:spPr>
          <a:xfrm rot="16200000" flipH="1">
            <a:off x="3586140" y="2210116"/>
            <a:ext cx="199025" cy="476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endCxn id="33" idx="1"/>
          </p:cNvCxnSpPr>
          <p:nvPr/>
        </p:nvCxnSpPr>
        <p:spPr>
          <a:xfrm>
            <a:off x="3995936" y="2564905"/>
            <a:ext cx="432048" cy="271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3" idx="3"/>
            <a:endCxn id="34" idx="0"/>
          </p:cNvCxnSpPr>
          <p:nvPr/>
        </p:nvCxnSpPr>
        <p:spPr>
          <a:xfrm rot="16200000" flipH="1">
            <a:off x="4342223" y="3127215"/>
            <a:ext cx="432048" cy="275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m 39" descr="awesom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1640" y="1700808"/>
            <a:ext cx="6264696" cy="4680520"/>
          </a:xfrm>
          <a:prstGeom prst="rect">
            <a:avLst/>
          </a:prstGeom>
        </p:spPr>
      </p:pic>
      <p:pic>
        <p:nvPicPr>
          <p:cNvPr id="41" name="Imagem 40" descr="QuestionGuy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00192" y="2636912"/>
            <a:ext cx="2074576" cy="1928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7" grpId="0" animBg="1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ALOG </a:t>
            </a:r>
            <a:r>
              <a:rPr lang="pt-BR" b="1" u="sng" dirty="0" err="1" smtClean="0"/>
              <a:t>DATACENTERS´</a:t>
            </a:r>
            <a:r>
              <a:rPr lang="pt-BR" b="1" u="sng" dirty="0" smtClean="0"/>
              <a:t>s EXPERIENCE</a:t>
            </a:r>
          </a:p>
        </p:txBody>
      </p:sp>
      <p:pic>
        <p:nvPicPr>
          <p:cNvPr id="5" name="Imagem 4" descr="alo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72325" y="0"/>
            <a:ext cx="1971675" cy="1047750"/>
          </a:xfrm>
          <a:prstGeom prst="rect">
            <a:avLst/>
          </a:prstGeom>
        </p:spPr>
      </p:pic>
      <p:pic>
        <p:nvPicPr>
          <p:cNvPr id="6" name="Imagem 5" descr="pix_alog_bps-yearl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1560" y="3140968"/>
            <a:ext cx="7920879" cy="3312367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323528" y="1196752"/>
            <a:ext cx="849694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dirty="0" smtClean="0"/>
              <a:t> 2 </a:t>
            </a:r>
            <a:r>
              <a:rPr lang="pt-BR" dirty="0" err="1" smtClean="0"/>
              <a:t>facilities</a:t>
            </a:r>
            <a:r>
              <a:rPr lang="pt-BR" dirty="0" smtClean="0"/>
              <a:t> (Rio de Janeiro </a:t>
            </a:r>
            <a:r>
              <a:rPr lang="pt-BR" dirty="0" err="1" smtClean="0"/>
              <a:t>and</a:t>
            </a:r>
            <a:r>
              <a:rPr lang="pt-BR" dirty="0" smtClean="0"/>
              <a:t> São Paulo), </a:t>
            </a:r>
            <a:r>
              <a:rPr lang="pt-BR" dirty="0" err="1" smtClean="0"/>
              <a:t>building</a:t>
            </a:r>
            <a:r>
              <a:rPr lang="pt-BR" dirty="0" smtClean="0"/>
              <a:t> </a:t>
            </a:r>
            <a:r>
              <a:rPr lang="pt-BR" dirty="0" err="1" smtClean="0"/>
              <a:t>the</a:t>
            </a:r>
            <a:r>
              <a:rPr lang="pt-BR" dirty="0" smtClean="0"/>
              <a:t> </a:t>
            </a:r>
            <a:r>
              <a:rPr lang="pt-BR" dirty="0" err="1" smtClean="0"/>
              <a:t>third</a:t>
            </a:r>
            <a:r>
              <a:rPr lang="pt-BR" dirty="0" smtClean="0"/>
              <a:t> in </a:t>
            </a:r>
            <a:r>
              <a:rPr lang="pt-BR" dirty="0" err="1" smtClean="0"/>
              <a:t>Tamboré</a:t>
            </a:r>
            <a:r>
              <a:rPr lang="pt-BR" dirty="0" smtClean="0"/>
              <a:t> (SP)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  <a:r>
              <a:rPr lang="pt-BR" dirty="0" err="1" smtClean="0"/>
              <a:t>Connected</a:t>
            </a:r>
            <a:r>
              <a:rPr lang="pt-BR" dirty="0" smtClean="0"/>
              <a:t> to </a:t>
            </a:r>
            <a:r>
              <a:rPr lang="pt-BR" dirty="0" err="1" smtClean="0"/>
              <a:t>PTT-Metro</a:t>
            </a:r>
            <a:r>
              <a:rPr lang="pt-BR" dirty="0" smtClean="0"/>
              <a:t> São Paulo as PIX </a:t>
            </a:r>
            <a:r>
              <a:rPr lang="pt-BR" dirty="0" err="1" smtClean="0"/>
              <a:t>and</a:t>
            </a:r>
            <a:r>
              <a:rPr lang="pt-BR" dirty="0" smtClean="0"/>
              <a:t> hosts a </a:t>
            </a:r>
            <a:r>
              <a:rPr lang="pt-BR" dirty="0" err="1" smtClean="0"/>
              <a:t>remote</a:t>
            </a:r>
            <a:r>
              <a:rPr lang="pt-BR" dirty="0" smtClean="0"/>
              <a:t> </a:t>
            </a:r>
            <a:r>
              <a:rPr lang="pt-BR" dirty="0" err="1" smtClean="0"/>
              <a:t>PTT-Metro</a:t>
            </a:r>
            <a:r>
              <a:rPr lang="pt-BR" dirty="0" smtClean="0"/>
              <a:t> in Rio de Janeiro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 </a:t>
            </a:r>
            <a:r>
              <a:rPr lang="pt-BR" dirty="0" err="1" smtClean="0"/>
              <a:t>Invited</a:t>
            </a:r>
            <a:r>
              <a:rPr lang="pt-BR" dirty="0" smtClean="0"/>
              <a:t> “</a:t>
            </a:r>
            <a:r>
              <a:rPr lang="pt-BR" dirty="0" err="1" smtClean="0"/>
              <a:t>everyone</a:t>
            </a:r>
            <a:r>
              <a:rPr lang="pt-BR" dirty="0" smtClean="0"/>
              <a:t>” to </a:t>
            </a:r>
            <a:r>
              <a:rPr lang="pt-BR" dirty="0" err="1" smtClean="0"/>
              <a:t>connect</a:t>
            </a:r>
            <a:r>
              <a:rPr lang="pt-BR" dirty="0" smtClean="0"/>
              <a:t>/</a:t>
            </a:r>
            <a:r>
              <a:rPr lang="pt-BR" dirty="0" err="1" smtClean="0"/>
              <a:t>peer</a:t>
            </a:r>
            <a:r>
              <a:rPr lang="pt-BR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  <a:r>
              <a:rPr lang="pt-BR" dirty="0" err="1" smtClean="0"/>
              <a:t>Very</a:t>
            </a:r>
            <a:r>
              <a:rPr lang="pt-BR" dirty="0" smtClean="0"/>
              <a:t> </a:t>
            </a:r>
            <a:r>
              <a:rPr lang="pt-BR" dirty="0" err="1" smtClean="0"/>
              <a:t>flexible</a:t>
            </a:r>
            <a:r>
              <a:rPr lang="pt-BR" dirty="0" smtClean="0"/>
              <a:t> in </a:t>
            </a:r>
            <a:r>
              <a:rPr lang="pt-BR" dirty="0" err="1" smtClean="0"/>
              <a:t>allowing</a:t>
            </a:r>
            <a:r>
              <a:rPr lang="pt-BR" dirty="0" smtClean="0"/>
              <a:t> </a:t>
            </a:r>
            <a:r>
              <a:rPr lang="pt-BR" dirty="0" err="1" smtClean="0"/>
              <a:t>customers</a:t>
            </a:r>
            <a:r>
              <a:rPr lang="pt-BR" dirty="0" smtClean="0"/>
              <a:t> to </a:t>
            </a:r>
            <a:r>
              <a:rPr lang="pt-BR" dirty="0" err="1" smtClean="0"/>
              <a:t>connect</a:t>
            </a:r>
            <a:r>
              <a:rPr lang="pt-BR" dirty="0" smtClean="0"/>
              <a:t> to PTT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  <a:r>
              <a:rPr lang="pt-BR" b="1" dirty="0" smtClean="0"/>
              <a:t>GREAT </a:t>
            </a:r>
            <a:r>
              <a:rPr lang="pt-BR" b="1" dirty="0" err="1" smtClean="0"/>
              <a:t>results</a:t>
            </a:r>
            <a:r>
              <a:rPr lang="pt-BR" b="1" dirty="0" smtClean="0"/>
              <a:t> in </a:t>
            </a:r>
            <a:r>
              <a:rPr lang="pt-BR" b="1" dirty="0" err="1" smtClean="0"/>
              <a:t>traffic</a:t>
            </a:r>
            <a:r>
              <a:rPr lang="pt-BR" b="1" dirty="0" smtClean="0"/>
              <a:t> </a:t>
            </a:r>
            <a:r>
              <a:rPr lang="pt-BR" b="1" dirty="0" err="1" smtClean="0"/>
              <a:t>savings</a:t>
            </a:r>
            <a:r>
              <a:rPr lang="pt-BR" b="1" dirty="0" smtClean="0"/>
              <a:t> </a:t>
            </a:r>
            <a:r>
              <a:rPr lang="pt-BR" b="1" dirty="0" err="1" smtClean="0"/>
              <a:t>and</a:t>
            </a:r>
            <a:r>
              <a:rPr lang="pt-BR" b="1" dirty="0" smtClean="0"/>
              <a:t> great </a:t>
            </a:r>
            <a:r>
              <a:rPr lang="pt-BR" b="1" dirty="0" err="1" smtClean="0"/>
              <a:t>quality</a:t>
            </a:r>
            <a:r>
              <a:rPr lang="pt-BR" b="1" dirty="0" smtClean="0"/>
              <a:t> to </a:t>
            </a:r>
            <a:r>
              <a:rPr lang="pt-BR" b="1" dirty="0" err="1" smtClean="0"/>
              <a:t>our</a:t>
            </a:r>
            <a:r>
              <a:rPr lang="pt-BR" b="1" dirty="0" smtClean="0"/>
              <a:t> </a:t>
            </a:r>
            <a:r>
              <a:rPr lang="pt-BR" b="1" dirty="0" err="1" smtClean="0"/>
              <a:t>customers</a:t>
            </a:r>
            <a:r>
              <a:rPr lang="pt-BR" b="1" dirty="0" smtClean="0"/>
              <a:t>:</a:t>
            </a:r>
          </a:p>
          <a:p>
            <a:endParaRPr lang="pt-BR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ALOG </a:t>
            </a:r>
            <a:r>
              <a:rPr lang="pt-BR" b="1" u="sng" dirty="0" err="1" smtClean="0"/>
              <a:t>DATACENTERS´</a:t>
            </a:r>
            <a:r>
              <a:rPr lang="pt-BR" b="1" u="sng" dirty="0" smtClean="0"/>
              <a:t>s EXPERIENCE</a:t>
            </a:r>
          </a:p>
        </p:txBody>
      </p:sp>
      <p:pic>
        <p:nvPicPr>
          <p:cNvPr id="5" name="Imagem 4" descr="alo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72325" y="0"/>
            <a:ext cx="1971675" cy="1047750"/>
          </a:xfrm>
          <a:prstGeom prst="rect">
            <a:avLst/>
          </a:prstGeom>
        </p:spPr>
      </p:pic>
      <p:pic>
        <p:nvPicPr>
          <p:cNvPr id="8" name="Imagem 7" descr="eggchicken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51720" y="2348880"/>
            <a:ext cx="4896544" cy="3312368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251520" y="1412776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 smtClean="0"/>
              <a:t>It’s</a:t>
            </a:r>
            <a:r>
              <a:rPr lang="pt-BR" sz="2000" dirty="0" smtClean="0"/>
              <a:t> </a:t>
            </a:r>
            <a:r>
              <a:rPr lang="pt-BR" sz="2000" dirty="0" err="1" smtClean="0"/>
              <a:t>easy</a:t>
            </a:r>
            <a:r>
              <a:rPr lang="pt-BR" sz="2000" dirty="0" smtClean="0"/>
              <a:t> to invite some </a:t>
            </a:r>
            <a:r>
              <a:rPr lang="pt-BR" sz="2000" dirty="0" err="1" smtClean="0"/>
              <a:t>participant</a:t>
            </a:r>
            <a:r>
              <a:rPr lang="pt-BR" sz="2000" dirty="0" smtClean="0"/>
              <a:t> to a </a:t>
            </a:r>
            <a:r>
              <a:rPr lang="pt-BR" sz="2000" dirty="0" err="1" smtClean="0"/>
              <a:t>well-known</a:t>
            </a:r>
            <a:r>
              <a:rPr lang="pt-BR" sz="2000" dirty="0" smtClean="0"/>
              <a:t> </a:t>
            </a:r>
            <a:r>
              <a:rPr lang="pt-BR" sz="2000" dirty="0" err="1" smtClean="0"/>
              <a:t>and</a:t>
            </a:r>
            <a:r>
              <a:rPr lang="pt-BR" sz="2000" dirty="0" smtClean="0"/>
              <a:t> </a:t>
            </a:r>
            <a:r>
              <a:rPr lang="pt-BR" sz="2000" dirty="0" err="1" smtClean="0"/>
              <a:t>very</a:t>
            </a:r>
            <a:r>
              <a:rPr lang="pt-BR" sz="2000" dirty="0" smtClean="0"/>
              <a:t> </a:t>
            </a:r>
            <a:r>
              <a:rPr lang="pt-BR" sz="2000" dirty="0" err="1" smtClean="0"/>
              <a:t>populated</a:t>
            </a:r>
            <a:r>
              <a:rPr lang="pt-BR" sz="2000" dirty="0" smtClean="0"/>
              <a:t> IXP, </a:t>
            </a:r>
            <a:r>
              <a:rPr lang="pt-BR" sz="2000" dirty="0" err="1" smtClean="0"/>
              <a:t>but</a:t>
            </a:r>
            <a:r>
              <a:rPr lang="pt-BR" sz="2000" dirty="0" smtClean="0"/>
              <a:t> </a:t>
            </a:r>
            <a:r>
              <a:rPr lang="pt-BR" sz="2000" dirty="0" err="1" smtClean="0"/>
              <a:t>how</a:t>
            </a:r>
            <a:r>
              <a:rPr lang="pt-BR" sz="2000" dirty="0" smtClean="0"/>
              <a:t> to </a:t>
            </a:r>
            <a:r>
              <a:rPr lang="pt-BR" sz="2000" dirty="0" err="1" smtClean="0"/>
              <a:t>convince</a:t>
            </a:r>
            <a:r>
              <a:rPr lang="pt-BR" sz="2000" dirty="0" smtClean="0"/>
              <a:t> </a:t>
            </a:r>
            <a:r>
              <a:rPr lang="pt-BR" sz="2000" dirty="0" err="1" smtClean="0"/>
              <a:t>anyone</a:t>
            </a:r>
            <a:r>
              <a:rPr lang="pt-BR" sz="2000" dirty="0" smtClean="0"/>
              <a:t> to </a:t>
            </a:r>
            <a:r>
              <a:rPr lang="pt-BR" sz="2000" dirty="0" err="1" smtClean="0"/>
              <a:t>connect</a:t>
            </a:r>
            <a:r>
              <a:rPr lang="pt-BR" sz="2000" dirty="0" smtClean="0"/>
              <a:t> to a </a:t>
            </a:r>
            <a:r>
              <a:rPr lang="pt-BR" sz="2000" dirty="0" err="1" smtClean="0"/>
              <a:t>newly</a:t>
            </a:r>
            <a:r>
              <a:rPr lang="pt-BR" sz="2000" dirty="0" smtClean="0"/>
              <a:t> </a:t>
            </a:r>
            <a:r>
              <a:rPr lang="pt-BR" sz="2000" dirty="0" err="1" smtClean="0"/>
              <a:t>created</a:t>
            </a:r>
            <a:r>
              <a:rPr lang="pt-BR" sz="2000" dirty="0" smtClean="0"/>
              <a:t> IXP ?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14282" y="383425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ALOG </a:t>
            </a:r>
            <a:r>
              <a:rPr lang="pt-BR" b="1" u="sng" dirty="0" err="1" smtClean="0"/>
              <a:t>DATACENTERS´</a:t>
            </a:r>
            <a:r>
              <a:rPr lang="pt-BR" b="1" u="sng" dirty="0" smtClean="0"/>
              <a:t>s EXPERIENCE</a:t>
            </a:r>
          </a:p>
        </p:txBody>
      </p:sp>
      <p:pic>
        <p:nvPicPr>
          <p:cNvPr id="5" name="Imagem 4" descr="alo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72325" y="0"/>
            <a:ext cx="1971675" cy="1047750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51520" y="1268760"/>
            <a:ext cx="8572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pt-BR" b="1" u="sng" dirty="0" smtClean="0"/>
              <a:t> </a:t>
            </a:r>
            <a:r>
              <a:rPr lang="pt-BR" b="1" dirty="0" smtClean="0"/>
              <a:t>     </a:t>
            </a:r>
            <a:r>
              <a:rPr lang="pt-BR" b="1" u="sng" dirty="0" smtClean="0"/>
              <a:t>RIO DE JANEIRO</a:t>
            </a:r>
            <a:r>
              <a:rPr lang="pt-BR" b="1" dirty="0" smtClean="0"/>
              <a:t>                                                                                                   </a:t>
            </a:r>
            <a:r>
              <a:rPr lang="pt-BR" b="1" u="sng" dirty="0" smtClean="0"/>
              <a:t>SÃO PAULO</a:t>
            </a:r>
            <a:endParaRPr lang="pt-BR" b="1" u="sng" dirty="0" smtClean="0"/>
          </a:p>
        </p:txBody>
      </p:sp>
      <p:sp>
        <p:nvSpPr>
          <p:cNvPr id="12" name="CaixaDeTexto 11"/>
          <p:cNvSpPr txBox="1"/>
          <p:nvPr/>
        </p:nvSpPr>
        <p:spPr>
          <a:xfrm>
            <a:off x="323528" y="4653136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2000" dirty="0" smtClean="0"/>
              <a:t> </a:t>
            </a:r>
            <a:r>
              <a:rPr lang="pt-BR" sz="2000" dirty="0" err="1" smtClean="0"/>
              <a:t>Customers</a:t>
            </a:r>
            <a:r>
              <a:rPr lang="pt-BR" sz="2000" dirty="0" smtClean="0"/>
              <a:t> </a:t>
            </a:r>
            <a:r>
              <a:rPr lang="pt-BR" sz="2000" dirty="0" err="1" smtClean="0"/>
              <a:t>hosted</a:t>
            </a:r>
            <a:r>
              <a:rPr lang="pt-BR" sz="2000" dirty="0" smtClean="0"/>
              <a:t> in Rio de </a:t>
            </a:r>
            <a:r>
              <a:rPr lang="pt-BR" sz="2000" dirty="0" err="1" smtClean="0"/>
              <a:t>Janeiro’s</a:t>
            </a:r>
            <a:r>
              <a:rPr lang="pt-BR" sz="2000" dirty="0" smtClean="0"/>
              <a:t> </a:t>
            </a:r>
            <a:r>
              <a:rPr lang="pt-BR" sz="2000" dirty="0" err="1" smtClean="0"/>
              <a:t>facility</a:t>
            </a:r>
            <a:r>
              <a:rPr lang="pt-BR" sz="2000" dirty="0" smtClean="0"/>
              <a:t> DEMAND to </a:t>
            </a:r>
            <a:r>
              <a:rPr lang="pt-BR" sz="2000" dirty="0" err="1" smtClean="0"/>
              <a:t>connect</a:t>
            </a:r>
            <a:r>
              <a:rPr lang="pt-BR" sz="2000" dirty="0" smtClean="0"/>
              <a:t> to </a:t>
            </a:r>
            <a:r>
              <a:rPr lang="pt-BR" sz="2000" dirty="0" err="1" smtClean="0"/>
              <a:t>PTT-Metro</a:t>
            </a:r>
            <a:r>
              <a:rPr lang="pt-BR" sz="2000" dirty="0" smtClean="0"/>
              <a:t> São Paulo</a:t>
            </a:r>
          </a:p>
          <a:p>
            <a:pPr>
              <a:buFont typeface="Arial" pitchFamily="34" charset="0"/>
              <a:buChar char="•"/>
            </a:pPr>
            <a:r>
              <a:rPr lang="pt-BR" sz="2000" b="1" dirty="0" err="1" smtClean="0"/>
              <a:t>We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connect</a:t>
            </a:r>
            <a:r>
              <a:rPr lang="pt-BR" sz="2000" b="1" dirty="0" smtClean="0"/>
              <a:t> </a:t>
            </a:r>
            <a:r>
              <a:rPr lang="pt-BR" sz="2000" dirty="0" err="1" smtClean="0"/>
              <a:t>customers</a:t>
            </a:r>
            <a:r>
              <a:rPr lang="pt-BR" sz="2000" dirty="0" smtClean="0"/>
              <a:t> </a:t>
            </a:r>
            <a:r>
              <a:rPr lang="pt-BR" sz="2000" dirty="0" err="1" smtClean="0"/>
              <a:t>from</a:t>
            </a:r>
            <a:r>
              <a:rPr lang="pt-BR" sz="2000" dirty="0" smtClean="0"/>
              <a:t> Rio de Janeiro in </a:t>
            </a:r>
            <a:r>
              <a:rPr lang="pt-BR" sz="2000" dirty="0" err="1" smtClean="0"/>
              <a:t>PTT-Metro</a:t>
            </a:r>
            <a:r>
              <a:rPr lang="pt-BR" sz="2000" dirty="0" smtClean="0"/>
              <a:t> São Paulo, AND...</a:t>
            </a:r>
          </a:p>
          <a:p>
            <a:pPr>
              <a:buFont typeface="Arial" pitchFamily="34" charset="0"/>
              <a:buChar char="•"/>
            </a:pPr>
            <a:r>
              <a:rPr lang="pt-BR" sz="2000" dirty="0" smtClean="0"/>
              <a:t> </a:t>
            </a:r>
            <a:r>
              <a:rPr lang="pt-BR" sz="2000" dirty="0" err="1" smtClean="0"/>
              <a:t>Any</a:t>
            </a:r>
            <a:r>
              <a:rPr lang="pt-BR" sz="2000" dirty="0" smtClean="0"/>
              <a:t> </a:t>
            </a:r>
            <a:r>
              <a:rPr lang="pt-BR" sz="2000" dirty="0" err="1" smtClean="0"/>
              <a:t>customer</a:t>
            </a:r>
            <a:r>
              <a:rPr lang="pt-BR" sz="2000" dirty="0" smtClean="0"/>
              <a:t> </a:t>
            </a:r>
            <a:r>
              <a:rPr lang="pt-BR" sz="2000" dirty="0" err="1" smtClean="0"/>
              <a:t>from</a:t>
            </a:r>
            <a:r>
              <a:rPr lang="pt-BR" sz="2000" dirty="0" smtClean="0"/>
              <a:t> Rio de Janeiro </a:t>
            </a:r>
            <a:r>
              <a:rPr lang="pt-BR" sz="2000" dirty="0" err="1" smtClean="0"/>
              <a:t>who</a:t>
            </a:r>
            <a:r>
              <a:rPr lang="pt-BR" sz="2000" dirty="0" smtClean="0"/>
              <a:t> </a:t>
            </a:r>
            <a:r>
              <a:rPr lang="pt-BR" sz="2000" dirty="0" err="1" smtClean="0"/>
              <a:t>wants</a:t>
            </a:r>
            <a:r>
              <a:rPr lang="pt-BR" sz="2000" dirty="0" smtClean="0"/>
              <a:t> to </a:t>
            </a:r>
            <a:r>
              <a:rPr lang="pt-BR" sz="2000" dirty="0" err="1" smtClean="0"/>
              <a:t>connect</a:t>
            </a:r>
            <a:r>
              <a:rPr lang="pt-BR" sz="2000" dirty="0" smtClean="0"/>
              <a:t> to </a:t>
            </a:r>
            <a:r>
              <a:rPr lang="pt-BR" sz="2000" dirty="0" err="1" smtClean="0"/>
              <a:t>PTT-Metro</a:t>
            </a:r>
            <a:r>
              <a:rPr lang="pt-BR" sz="2000" dirty="0" smtClean="0"/>
              <a:t> São Paulo </a:t>
            </a:r>
            <a:r>
              <a:rPr lang="pt-BR" sz="2000" b="1" dirty="0" smtClean="0"/>
              <a:t>MUST ALSO </a:t>
            </a:r>
            <a:r>
              <a:rPr lang="pt-BR" sz="2000" b="1" dirty="0" err="1" smtClean="0"/>
              <a:t>connect</a:t>
            </a:r>
            <a:r>
              <a:rPr lang="pt-BR" sz="2000" b="1" dirty="0" smtClean="0"/>
              <a:t> to </a:t>
            </a:r>
            <a:r>
              <a:rPr lang="pt-BR" sz="2000" b="1" dirty="0" err="1" smtClean="0"/>
              <a:t>PTT-Metro</a:t>
            </a:r>
            <a:r>
              <a:rPr lang="pt-BR" sz="2000" b="1" dirty="0" smtClean="0"/>
              <a:t> Rio de Janeiro (</a:t>
            </a:r>
            <a:r>
              <a:rPr lang="pt-BR" sz="2000" b="1" dirty="0" err="1" smtClean="0"/>
              <a:t>he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won’t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be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charged</a:t>
            </a:r>
            <a:r>
              <a:rPr lang="pt-BR" sz="2000" b="1" dirty="0" smtClean="0"/>
              <a:t> for </a:t>
            </a:r>
            <a:r>
              <a:rPr lang="pt-BR" sz="2000" b="1" dirty="0" err="1" smtClean="0"/>
              <a:t>that</a:t>
            </a:r>
            <a:r>
              <a:rPr lang="pt-BR" sz="2000" b="1" dirty="0" smtClean="0"/>
              <a:t>).</a:t>
            </a:r>
            <a:endParaRPr lang="pt-BR" sz="2000" dirty="0"/>
          </a:p>
        </p:txBody>
      </p:sp>
      <p:pic>
        <p:nvPicPr>
          <p:cNvPr id="13" name="Imagem 12" descr="ptt-rj-ix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844824"/>
            <a:ext cx="9144000" cy="157786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1720" y="3068960"/>
            <a:ext cx="176212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eta para a direita 15"/>
          <p:cNvSpPr/>
          <p:nvPr/>
        </p:nvSpPr>
        <p:spPr>
          <a:xfrm>
            <a:off x="683568" y="3429000"/>
            <a:ext cx="1152128" cy="50405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971600" y="3933056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IX</a:t>
            </a:r>
            <a:endParaRPr lang="pt-B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IBX – Equinix Ecosystem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Extend and Accelerate Access to Your Services</a:t>
            </a:r>
            <a:endParaRPr lang="en-US" dirty="0"/>
          </a:p>
        </p:txBody>
      </p:sp>
      <p:pic>
        <p:nvPicPr>
          <p:cNvPr id="5" name="Picture 4" descr="IL_InsideIBX_1W9-1_DW.png"/>
          <p:cNvPicPr>
            <a:picLocks noChangeAspect="1"/>
          </p:cNvPicPr>
          <p:nvPr/>
        </p:nvPicPr>
        <p:blipFill>
          <a:blip r:embed="rId3" cstate="print"/>
          <a:srcRect l="26444" b="22226"/>
          <a:stretch>
            <a:fillRect/>
          </a:stretch>
        </p:blipFill>
        <p:spPr>
          <a:xfrm>
            <a:off x="220935" y="2490844"/>
            <a:ext cx="6384585" cy="3821404"/>
          </a:xfrm>
          <a:prstGeom prst="rect">
            <a:avLst/>
          </a:prstGeom>
        </p:spPr>
      </p:pic>
      <p:sp>
        <p:nvSpPr>
          <p:cNvPr id="6" name="TextBox 75"/>
          <p:cNvSpPr txBox="1">
            <a:spLocks noChangeArrowheads="1"/>
          </p:cNvSpPr>
          <p:nvPr/>
        </p:nvSpPr>
        <p:spPr bwMode="auto">
          <a:xfrm>
            <a:off x="278549" y="1245687"/>
            <a:ext cx="6108605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FF0000"/>
                </a:solidFill>
                <a:latin typeface="+mj-lt"/>
                <a:ea typeface="+mn-ea"/>
              </a:rPr>
              <a:t>Access a Wide Choice of Service Providers, Partners, and Customers </a:t>
            </a:r>
          </a:p>
        </p:txBody>
      </p:sp>
      <p:sp>
        <p:nvSpPr>
          <p:cNvPr id="7" name="TextBox 75"/>
          <p:cNvSpPr txBox="1">
            <a:spLocks noChangeArrowheads="1"/>
          </p:cNvSpPr>
          <p:nvPr/>
        </p:nvSpPr>
        <p:spPr bwMode="auto">
          <a:xfrm>
            <a:off x="280226" y="1851189"/>
            <a:ext cx="6106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rPr>
              <a:t>Customize networking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rPr>
              <a:t>, services, 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rPr>
              <a:t>and interconnection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rPr>
              <a:t>needs within our rich ecosystem.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idx="1"/>
          </p:nvPr>
        </p:nvSpPr>
        <p:spPr>
          <a:xfrm>
            <a:off x="6859035" y="722541"/>
            <a:ext cx="2284965" cy="4300668"/>
          </a:xfrm>
        </p:spPr>
        <p:txBody>
          <a:bodyPr>
            <a:normAutofit lnSpcReduction="10000"/>
          </a:bodyPr>
          <a:lstStyle/>
          <a:p>
            <a:r>
              <a:rPr lang="en-US" sz="1200" dirty="0" smtClean="0"/>
              <a:t>440+ </a:t>
            </a: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Financial Service Providers</a:t>
            </a:r>
          </a:p>
          <a:p>
            <a:r>
              <a:rPr lang="en-US" sz="1200" dirty="0" smtClean="0"/>
              <a:t>130+ </a:t>
            </a: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Cloud Infrastructure and SaaS Service Providers</a:t>
            </a:r>
          </a:p>
          <a:p>
            <a:r>
              <a:rPr lang="en-US" sz="1200" dirty="0" smtClean="0"/>
              <a:t>14 of the Top 21 </a:t>
            </a:r>
            <a:r>
              <a:rPr lang="en-US" sz="1200" dirty="0" smtClean="0">
                <a:solidFill>
                  <a:srgbClr val="595959"/>
                </a:solidFill>
              </a:rPr>
              <a:t>Managed Security Service Providers</a:t>
            </a:r>
          </a:p>
          <a:p>
            <a:r>
              <a:rPr lang="en-US" sz="1200" dirty="0" smtClean="0"/>
              <a:t>12 of the Top 16 </a:t>
            </a:r>
            <a:r>
              <a:rPr lang="en-US" sz="1200" dirty="0" smtClean="0">
                <a:solidFill>
                  <a:srgbClr val="595959"/>
                </a:solidFill>
              </a:rPr>
              <a:t>Web Hosting</a:t>
            </a:r>
          </a:p>
          <a:p>
            <a:r>
              <a:rPr lang="en-US" sz="1200" dirty="0" smtClean="0"/>
              <a:t>9 of the Top 10 </a:t>
            </a:r>
            <a:r>
              <a:rPr lang="en-US" sz="1200" dirty="0" smtClean="0">
                <a:solidFill>
                  <a:srgbClr val="595959"/>
                </a:solidFill>
              </a:rPr>
              <a:t>Web Properties</a:t>
            </a:r>
          </a:p>
          <a:p>
            <a:r>
              <a:rPr lang="en-US" sz="1200" dirty="0" smtClean="0"/>
              <a:t>9 of the Top 10 </a:t>
            </a:r>
            <a:r>
              <a:rPr lang="en-US" sz="1200" dirty="0" smtClean="0">
                <a:solidFill>
                  <a:srgbClr val="595959"/>
                </a:solidFill>
              </a:rPr>
              <a:t>CDNs</a:t>
            </a:r>
          </a:p>
          <a:p>
            <a:r>
              <a:rPr lang="en-US" sz="1200" dirty="0" smtClean="0"/>
              <a:t>5 of the Top 7 </a:t>
            </a:r>
            <a:r>
              <a:rPr lang="en-US" sz="1200" dirty="0" smtClean="0">
                <a:solidFill>
                  <a:srgbClr val="595959"/>
                </a:solidFill>
              </a:rPr>
              <a:t>Streaming Video Sites</a:t>
            </a:r>
          </a:p>
          <a:p>
            <a:r>
              <a:rPr lang="en-US" sz="1200" dirty="0" smtClean="0"/>
              <a:t>3 </a:t>
            </a:r>
            <a:r>
              <a:rPr lang="en-US" sz="1200" dirty="0" smtClean="0">
                <a:solidFill>
                  <a:srgbClr val="595959"/>
                </a:solidFill>
              </a:rPr>
              <a:t>of the Top Global System Integrators</a:t>
            </a:r>
          </a:p>
          <a:p>
            <a:r>
              <a:rPr lang="en-US" sz="1200" dirty="0" smtClean="0"/>
              <a:t>All 3</a:t>
            </a:r>
            <a:r>
              <a:rPr lang="en-US" sz="1200" dirty="0" smtClean="0">
                <a:solidFill>
                  <a:srgbClr val="595959"/>
                </a:solidFill>
              </a:rPr>
              <a:t> of the GSMA’s Data Exchanges for Mobile Carriers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IBX – Equinix Ecosystem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Extend and Accelerate Access to Your Services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idx="1"/>
          </p:nvPr>
        </p:nvSpPr>
        <p:spPr>
          <a:xfrm>
            <a:off x="6859035" y="722541"/>
            <a:ext cx="2284965" cy="4300668"/>
          </a:xfrm>
        </p:spPr>
        <p:txBody>
          <a:bodyPr>
            <a:normAutofit lnSpcReduction="10000"/>
          </a:bodyPr>
          <a:lstStyle/>
          <a:p>
            <a:r>
              <a:rPr lang="en-US" sz="1200" dirty="0" smtClean="0"/>
              <a:t>440+ </a:t>
            </a: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Financial Service Providers</a:t>
            </a:r>
          </a:p>
          <a:p>
            <a:r>
              <a:rPr lang="en-US" sz="1200" dirty="0" smtClean="0"/>
              <a:t>130+ </a:t>
            </a: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Cloud Infrastructure and SaaS Service Providers</a:t>
            </a:r>
          </a:p>
          <a:p>
            <a:r>
              <a:rPr lang="en-US" sz="1200" dirty="0" smtClean="0"/>
              <a:t>14 of the Top 21 </a:t>
            </a:r>
            <a:r>
              <a:rPr lang="en-US" sz="1200" dirty="0" smtClean="0">
                <a:solidFill>
                  <a:srgbClr val="595959"/>
                </a:solidFill>
              </a:rPr>
              <a:t>Managed Security Service Providers</a:t>
            </a:r>
          </a:p>
          <a:p>
            <a:r>
              <a:rPr lang="en-US" sz="1200" dirty="0" smtClean="0"/>
              <a:t>12 of the Top 16 </a:t>
            </a:r>
            <a:r>
              <a:rPr lang="en-US" sz="1200" dirty="0" smtClean="0">
                <a:solidFill>
                  <a:srgbClr val="595959"/>
                </a:solidFill>
              </a:rPr>
              <a:t>Web Hosting</a:t>
            </a:r>
          </a:p>
          <a:p>
            <a:r>
              <a:rPr lang="en-US" sz="1200" dirty="0" smtClean="0"/>
              <a:t>9 of the Top 10 </a:t>
            </a:r>
            <a:r>
              <a:rPr lang="en-US" sz="1200" dirty="0" smtClean="0">
                <a:solidFill>
                  <a:srgbClr val="595959"/>
                </a:solidFill>
              </a:rPr>
              <a:t>Web Properties</a:t>
            </a:r>
          </a:p>
          <a:p>
            <a:r>
              <a:rPr lang="en-US" sz="1200" dirty="0" smtClean="0"/>
              <a:t>9 of the Top 10 </a:t>
            </a:r>
            <a:r>
              <a:rPr lang="en-US" sz="1200" dirty="0" smtClean="0">
                <a:solidFill>
                  <a:srgbClr val="595959"/>
                </a:solidFill>
              </a:rPr>
              <a:t>CDNs</a:t>
            </a:r>
          </a:p>
          <a:p>
            <a:r>
              <a:rPr lang="en-US" sz="1200" dirty="0" smtClean="0"/>
              <a:t>5 of the Top 7 </a:t>
            </a:r>
            <a:r>
              <a:rPr lang="en-US" sz="1200" dirty="0" smtClean="0">
                <a:solidFill>
                  <a:srgbClr val="595959"/>
                </a:solidFill>
              </a:rPr>
              <a:t>Streaming Video Sites</a:t>
            </a:r>
          </a:p>
          <a:p>
            <a:r>
              <a:rPr lang="en-US" sz="1200" dirty="0" smtClean="0"/>
              <a:t>3 </a:t>
            </a:r>
            <a:r>
              <a:rPr lang="en-US" sz="1200" dirty="0" smtClean="0">
                <a:solidFill>
                  <a:srgbClr val="595959"/>
                </a:solidFill>
              </a:rPr>
              <a:t>of the Top Global System Integrators</a:t>
            </a:r>
          </a:p>
          <a:p>
            <a:r>
              <a:rPr lang="en-US" sz="1200" dirty="0" smtClean="0"/>
              <a:t>All 3</a:t>
            </a:r>
            <a:r>
              <a:rPr lang="en-US" sz="1200" dirty="0" smtClean="0">
                <a:solidFill>
                  <a:srgbClr val="595959"/>
                </a:solidFill>
              </a:rPr>
              <a:t> of the GSMA’s Data Exchanges for Mobile Carriers</a:t>
            </a:r>
          </a:p>
        </p:txBody>
      </p:sp>
      <p:pic>
        <p:nvPicPr>
          <p:cNvPr id="8" name="Imagem 7" descr="peering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124744"/>
            <a:ext cx="6016930" cy="395818"/>
          </a:xfrm>
          <a:prstGeom prst="rect">
            <a:avLst/>
          </a:prstGeom>
        </p:spPr>
      </p:pic>
      <p:pic>
        <p:nvPicPr>
          <p:cNvPr id="9" name="Imagem 8" descr="peering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3528" y="1700808"/>
            <a:ext cx="6120680" cy="3456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3501008"/>
            <a:ext cx="5796136" cy="11521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sz="2800" b="1" u="sng" dirty="0" smtClean="0"/>
              <a:t>SO, WHAT ARE YOU WAITING FOR ?</a:t>
            </a:r>
            <a:endParaRPr lang="pt-BR" sz="2800" b="1" u="sng" dirty="0"/>
          </a:p>
        </p:txBody>
      </p:sp>
      <p:sp>
        <p:nvSpPr>
          <p:cNvPr id="6" name="CaixaDeTexto 5"/>
          <p:cNvSpPr txBox="1"/>
          <p:nvPr/>
        </p:nvSpPr>
        <p:spPr>
          <a:xfrm>
            <a:off x="755576" y="1556792"/>
            <a:ext cx="7632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2400" dirty="0" smtClean="0"/>
              <a:t> </a:t>
            </a:r>
            <a:r>
              <a:rPr lang="pt-BR" sz="2400" dirty="0" err="1" smtClean="0"/>
              <a:t>It’s</a:t>
            </a:r>
            <a:r>
              <a:rPr lang="pt-BR" sz="2400" dirty="0" smtClean="0"/>
              <a:t> </a:t>
            </a:r>
            <a:r>
              <a:rPr lang="pt-BR" sz="2400" dirty="0" err="1" smtClean="0"/>
              <a:t>cheaper</a:t>
            </a:r>
            <a:endParaRPr lang="pt-BR" sz="2400" dirty="0" smtClean="0"/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 </a:t>
            </a:r>
            <a:r>
              <a:rPr lang="pt-BR" sz="2400" dirty="0" err="1" smtClean="0"/>
              <a:t>It’s</a:t>
            </a:r>
            <a:r>
              <a:rPr lang="pt-BR" sz="2400" dirty="0" smtClean="0"/>
              <a:t> </a:t>
            </a:r>
            <a:r>
              <a:rPr lang="pt-BR" sz="2400" dirty="0" err="1" smtClean="0"/>
              <a:t>better</a:t>
            </a:r>
            <a:r>
              <a:rPr lang="pt-BR" sz="2400" dirty="0" smtClean="0"/>
              <a:t> (</a:t>
            </a:r>
            <a:r>
              <a:rPr lang="pt-BR" sz="2400" dirty="0" err="1" smtClean="0"/>
              <a:t>low</a:t>
            </a:r>
            <a:r>
              <a:rPr lang="pt-BR" sz="2400" dirty="0" smtClean="0"/>
              <a:t> </a:t>
            </a:r>
            <a:r>
              <a:rPr lang="pt-BR" sz="2400" dirty="0" err="1" smtClean="0"/>
              <a:t>latency</a:t>
            </a:r>
            <a:r>
              <a:rPr lang="pt-BR" sz="2400" dirty="0" smtClean="0"/>
              <a:t>, </a:t>
            </a:r>
            <a:r>
              <a:rPr lang="pt-BR" sz="2400" dirty="0" err="1" smtClean="0"/>
              <a:t>better</a:t>
            </a:r>
            <a:r>
              <a:rPr lang="pt-BR" sz="2400" dirty="0" smtClean="0"/>
              <a:t> </a:t>
            </a:r>
            <a:r>
              <a:rPr lang="pt-BR" sz="2400" dirty="0" err="1" smtClean="0"/>
              <a:t>quallity</a:t>
            </a:r>
            <a:r>
              <a:rPr lang="pt-BR" sz="2400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 </a:t>
            </a:r>
            <a:r>
              <a:rPr lang="pt-BR" sz="2400" dirty="0" err="1" smtClean="0"/>
              <a:t>It’s</a:t>
            </a:r>
            <a:r>
              <a:rPr lang="pt-BR" sz="2400" dirty="0" smtClean="0"/>
              <a:t> </a:t>
            </a:r>
            <a:r>
              <a:rPr lang="pt-BR" sz="2400" dirty="0" err="1" smtClean="0"/>
              <a:t>safer</a:t>
            </a:r>
            <a:endParaRPr lang="pt-BR" sz="2400" dirty="0" smtClean="0"/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 </a:t>
            </a:r>
            <a:r>
              <a:rPr lang="pt-BR" sz="2400" dirty="0" smtClean="0"/>
              <a:t>It </a:t>
            </a:r>
            <a:r>
              <a:rPr lang="pt-BR" sz="2400" dirty="0" err="1" smtClean="0"/>
              <a:t>grows</a:t>
            </a:r>
            <a:r>
              <a:rPr lang="pt-BR" sz="2400" dirty="0" smtClean="0"/>
              <a:t> </a:t>
            </a:r>
            <a:r>
              <a:rPr lang="pt-BR" sz="2400" dirty="0" err="1" smtClean="0"/>
              <a:t>naturally</a:t>
            </a:r>
            <a:r>
              <a:rPr lang="pt-BR" sz="2400" dirty="0" smtClean="0"/>
              <a:t> </a:t>
            </a:r>
            <a:r>
              <a:rPr lang="pt-BR" sz="2400" dirty="0" err="1" smtClean="0"/>
              <a:t>with</a:t>
            </a:r>
            <a:r>
              <a:rPr lang="pt-BR" sz="2400" dirty="0" smtClean="0"/>
              <a:t> </a:t>
            </a:r>
            <a:r>
              <a:rPr lang="pt-BR" sz="2400" dirty="0" err="1" smtClean="0"/>
              <a:t>the</a:t>
            </a:r>
            <a:r>
              <a:rPr lang="pt-BR" sz="2400" dirty="0" smtClean="0"/>
              <a:t> Internet</a:t>
            </a:r>
            <a:endParaRPr lang="pt-BR" sz="2400" dirty="0"/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03920" y="413048"/>
            <a:ext cx="8640960" cy="1152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WHAT PREVENTS ANYONE TO CONNECT TO AN IXP ?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Imagem 7" descr="tio-sam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12160" y="2996952"/>
            <a:ext cx="3131840" cy="3861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11560" y="908720"/>
            <a:ext cx="7286676" cy="2880320"/>
          </a:xfrm>
        </p:spPr>
        <p:txBody>
          <a:bodyPr>
            <a:normAutofit/>
          </a:bodyPr>
          <a:lstStyle/>
          <a:p>
            <a:pPr eaLnBrk="1" hangingPunct="1"/>
            <a:r>
              <a:rPr lang="pt-BR" sz="2800" dirty="0" err="1" smtClean="0"/>
              <a:t>Thank</a:t>
            </a:r>
            <a:r>
              <a:rPr lang="pt-BR" sz="2800" dirty="0" smtClean="0"/>
              <a:t> </a:t>
            </a:r>
            <a:r>
              <a:rPr lang="pt-BR" sz="2800" dirty="0" err="1" smtClean="0"/>
              <a:t>you</a:t>
            </a:r>
            <a:r>
              <a:rPr lang="pt-BR" sz="2800" dirty="0" smtClean="0"/>
              <a:t> !</a:t>
            </a:r>
            <a:br>
              <a:rPr lang="pt-BR" sz="2800" dirty="0" smtClean="0"/>
            </a:br>
            <a:r>
              <a:rPr lang="pt-BR" sz="2800" dirty="0" smtClean="0"/>
              <a:t/>
            </a:r>
            <a:br>
              <a:rPr lang="pt-BR" sz="2800" dirty="0" smtClean="0"/>
            </a:br>
            <a:r>
              <a:rPr lang="pt-BR" sz="2800" dirty="0" err="1" smtClean="0"/>
              <a:t>Gracias</a:t>
            </a:r>
            <a:r>
              <a:rPr lang="pt-BR" sz="2800" dirty="0" smtClean="0"/>
              <a:t> !</a:t>
            </a:r>
            <a:br>
              <a:rPr lang="pt-BR" sz="2800" dirty="0" smtClean="0"/>
            </a:br>
            <a:r>
              <a:rPr lang="pt-BR" sz="2800" dirty="0" smtClean="0"/>
              <a:t/>
            </a:r>
            <a:br>
              <a:rPr lang="pt-BR" sz="2800" dirty="0" smtClean="0"/>
            </a:br>
            <a:r>
              <a:rPr lang="pt-BR" sz="2800" dirty="0" smtClean="0"/>
              <a:t>Obrigado !</a:t>
            </a:r>
            <a:endParaRPr lang="pt-BR" sz="2800" dirty="0"/>
          </a:p>
        </p:txBody>
      </p:sp>
      <p:sp>
        <p:nvSpPr>
          <p:cNvPr id="6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755576" y="3645024"/>
            <a:ext cx="7286676" cy="208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Antonio Carlos Pina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 smtClean="0">
                <a:latin typeface="+mj-lt"/>
                <a:ea typeface="+mj-ea"/>
                <a:cs typeface="+mj-cs"/>
                <a:hlinkClick r:id="rId5"/>
              </a:rPr>
              <a:t>antonio.pina@alog.com.br</a:t>
            </a:r>
            <a:r>
              <a:rPr lang="pt-BR" sz="2800" dirty="0" smtClean="0">
                <a:latin typeface="+mj-lt"/>
                <a:ea typeface="+mj-ea"/>
                <a:cs typeface="+mj-cs"/>
              </a:rPr>
              <a:t/>
            </a:r>
            <a:br>
              <a:rPr lang="pt-BR" sz="2800" dirty="0" smtClean="0">
                <a:latin typeface="+mj-lt"/>
                <a:ea typeface="+mj-ea"/>
                <a:cs typeface="+mj-cs"/>
              </a:rPr>
            </a:br>
            <a:r>
              <a:rPr lang="pt-BR" sz="2800" dirty="0" err="1" smtClean="0">
                <a:latin typeface="+mj-lt"/>
                <a:ea typeface="+mj-ea"/>
                <a:cs typeface="+mj-cs"/>
              </a:rPr>
              <a:t>May</a:t>
            </a:r>
            <a:r>
              <a:rPr lang="pt-BR" sz="2800" dirty="0" smtClean="0">
                <a:latin typeface="+mj-lt"/>
                <a:ea typeface="+mj-ea"/>
                <a:cs typeface="+mj-cs"/>
              </a:rPr>
              <a:t> 2011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871</Words>
  <Application>Microsoft Office PowerPoint</Application>
  <PresentationFormat>Apresentação na tela (4:3)</PresentationFormat>
  <Paragraphs>134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WHAT PREVENTS ANYONE TO CONNECT TO AN IXP ?  (Honestly ? I don´t know!)</vt:lpstr>
      <vt:lpstr>Summary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IBX – Equinix Ecosystem</vt:lpstr>
      <vt:lpstr>IBX – Equinix Ecosystem</vt:lpstr>
      <vt:lpstr>SO, WHAT ARE YOU WAITING FOR ?</vt:lpstr>
      <vt:lpstr>Thank you !  Gracias !  Obrigado 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Becoming the Cloud Computing leader provider in Brazil &amp; LA</dc:title>
  <dc:creator>Antonio Carlos Pina</dc:creator>
  <cp:lastModifiedBy>Antonio Carlos Pina</cp:lastModifiedBy>
  <cp:revision>155</cp:revision>
  <dcterms:created xsi:type="dcterms:W3CDTF">2011-03-18T17:03:28Z</dcterms:created>
  <dcterms:modified xsi:type="dcterms:W3CDTF">2011-05-17T04:08:28Z</dcterms:modified>
</cp:coreProperties>
</file>