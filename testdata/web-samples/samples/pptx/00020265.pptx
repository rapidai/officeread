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tags/tag3.xml" ContentType="application/vnd.openxmlformats-officedocument.presentationml.tags+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tags/tag1.xml" ContentType="application/vnd.openxmlformats-officedocument.presentationml.tags+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charts/chart2.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notesSlides/notesSlide18.xml" ContentType="application/vnd.openxmlformats-officedocument.presentationml.notesSlide+xml"/>
  <Override PartName="/ppt/tags/tag2.xml" ContentType="application/vnd.openxmlformats-officedocument.presentationml.tags+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charts/chart1.xml" ContentType="application/vnd.openxmlformats-officedocument.drawingml.char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7" r:id="rId2"/>
    <p:sldId id="371" r:id="rId3"/>
    <p:sldId id="374" r:id="rId4"/>
    <p:sldId id="341" r:id="rId5"/>
    <p:sldId id="342" r:id="rId6"/>
    <p:sldId id="343" r:id="rId7"/>
    <p:sldId id="344" r:id="rId8"/>
    <p:sldId id="352" r:id="rId9"/>
    <p:sldId id="372" r:id="rId10"/>
    <p:sldId id="350" r:id="rId11"/>
    <p:sldId id="347" r:id="rId12"/>
    <p:sldId id="348" r:id="rId13"/>
    <p:sldId id="370" r:id="rId14"/>
    <p:sldId id="296" r:id="rId15"/>
    <p:sldId id="294" r:id="rId16"/>
    <p:sldId id="297" r:id="rId17"/>
    <p:sldId id="295" r:id="rId18"/>
    <p:sldId id="298" r:id="rId19"/>
    <p:sldId id="299" r:id="rId20"/>
    <p:sldId id="300" r:id="rId21"/>
    <p:sldId id="301" r:id="rId22"/>
    <p:sldId id="353" r:id="rId23"/>
    <p:sldId id="354" r:id="rId24"/>
    <p:sldId id="355" r:id="rId25"/>
    <p:sldId id="356" r:id="rId26"/>
    <p:sldId id="357" r:id="rId27"/>
    <p:sldId id="369" r:id="rId28"/>
    <p:sldId id="303" r:id="rId29"/>
    <p:sldId id="304" r:id="rId30"/>
    <p:sldId id="305" r:id="rId31"/>
    <p:sldId id="307" r:id="rId32"/>
    <p:sldId id="308" r:id="rId33"/>
    <p:sldId id="310" r:id="rId34"/>
    <p:sldId id="311" r:id="rId35"/>
    <p:sldId id="312" r:id="rId36"/>
    <p:sldId id="314" r:id="rId37"/>
    <p:sldId id="315" r:id="rId38"/>
    <p:sldId id="316" r:id="rId39"/>
    <p:sldId id="317" r:id="rId40"/>
    <p:sldId id="318" r:id="rId41"/>
    <p:sldId id="319" r:id="rId42"/>
    <p:sldId id="320" r:id="rId43"/>
    <p:sldId id="321" r:id="rId44"/>
    <p:sldId id="328" r:id="rId45"/>
    <p:sldId id="322" r:id="rId46"/>
    <p:sldId id="329" r:id="rId47"/>
    <p:sldId id="324" r:id="rId48"/>
    <p:sldId id="325" r:id="rId49"/>
    <p:sldId id="326" r:id="rId50"/>
    <p:sldId id="327" r:id="rId51"/>
    <p:sldId id="362" r:id="rId52"/>
    <p:sldId id="363" r:id="rId53"/>
    <p:sldId id="364" r:id="rId54"/>
    <p:sldId id="365" r:id="rId55"/>
    <p:sldId id="330" r:id="rId56"/>
    <p:sldId id="285" r:id="rId57"/>
    <p:sldId id="332" r:id="rId58"/>
    <p:sldId id="333" r:id="rId59"/>
    <p:sldId id="331" r:id="rId60"/>
    <p:sldId id="334" r:id="rId61"/>
    <p:sldId id="367" r:id="rId62"/>
    <p:sldId id="336" r:id="rId63"/>
    <p:sldId id="338" r:id="rId64"/>
    <p:sldId id="339" r:id="rId65"/>
    <p:sldId id="368" r:id="rId66"/>
    <p:sldId id="289" r:id="rId67"/>
    <p:sldId id="275" r:id="rId68"/>
    <p:sldId id="340" r:id="rId69"/>
    <p:sldId id="258" r:id="rId70"/>
    <p:sldId id="273" r:id="rId71"/>
    <p:sldId id="373"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95" autoAdjust="0"/>
    <p:restoredTop sz="90169" autoAdjust="0"/>
  </p:normalViewPr>
  <p:slideViewPr>
    <p:cSldViewPr>
      <p:cViewPr varScale="1">
        <p:scale>
          <a:sx n="70" d="100"/>
          <a:sy n="70" d="100"/>
        </p:scale>
        <p:origin x="-984" y="-90"/>
      </p:cViewPr>
      <p:guideLst>
        <p:guide orient="horz" pos="2160"/>
        <p:guide pos="2880"/>
      </p:guideLst>
    </p:cSldViewPr>
  </p:slideViewPr>
  <p:notesTextViewPr>
    <p:cViewPr>
      <p:scale>
        <a:sx n="100" d="100"/>
        <a:sy n="100" d="100"/>
      </p:scale>
      <p:origin x="0" y="0"/>
    </p:cViewPr>
  </p:notesTextViewPr>
  <p:sorterViewPr>
    <p:cViewPr>
      <p:scale>
        <a:sx n="90" d="100"/>
        <a:sy n="90" d="100"/>
      </p:scale>
      <p:origin x="0" y="10644"/>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oleObject" Target="file:///C:\Users\MCCAM001\Desktop\certfact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Total Number of Certificates Issued by the </a:t>
            </a:r>
          </a:p>
          <a:p>
            <a:pPr>
              <a:defRPr/>
            </a:pPr>
            <a:r>
              <a:rPr lang="en-US"/>
              <a:t>Professional Standards</a:t>
            </a:r>
            <a:r>
              <a:rPr lang="en-US" baseline="0"/>
              <a:t> Commission</a:t>
            </a:r>
            <a:endParaRPr lang="en-US"/>
          </a:p>
        </c:rich>
      </c:tx>
      <c:layout/>
    </c:title>
    <c:view3D>
      <c:rAngAx val="1"/>
    </c:view3D>
    <c:floor>
      <c:spPr>
        <a:solidFill>
          <a:sysClr val="window" lastClr="FFFFFF">
            <a:lumMod val="75000"/>
          </a:sysClr>
        </a:solidFill>
      </c:spPr>
    </c:floor>
    <c:sideWall>
      <c:spPr>
        <a:solidFill>
          <a:sysClr val="window" lastClr="FFFFFF">
            <a:lumMod val="75000"/>
          </a:sysClr>
        </a:solidFill>
      </c:spPr>
    </c:sideWall>
    <c:backWall>
      <c:spPr>
        <a:solidFill>
          <a:sysClr val="window" lastClr="FFFFFF">
            <a:lumMod val="75000"/>
          </a:sysClr>
        </a:solidFill>
      </c:spPr>
    </c:backWall>
    <c:plotArea>
      <c:layout/>
      <c:bar3DChart>
        <c:barDir val="col"/>
        <c:grouping val="clustered"/>
        <c:ser>
          <c:idx val="0"/>
          <c:order val="0"/>
          <c:tx>
            <c:strRef>
              <c:f>Sheet2!$C$3</c:f>
              <c:strCache>
                <c:ptCount val="1"/>
                <c:pt idx="0">
                  <c:v>Number of Certificates Issued</c:v>
                </c:pt>
              </c:strCache>
            </c:strRef>
          </c:tx>
          <c:cat>
            <c:strRef>
              <c:f>Sheet2!$B$4:$B$14</c:f>
              <c:strCache>
                <c:ptCount val="11"/>
                <c:pt idx="0">
                  <c:v>2000-2001</c:v>
                </c:pt>
                <c:pt idx="1">
                  <c:v>2001-2002</c:v>
                </c:pt>
                <c:pt idx="2">
                  <c:v>2002-2003</c:v>
                </c:pt>
                <c:pt idx="3">
                  <c:v>2003-2004</c:v>
                </c:pt>
                <c:pt idx="4">
                  <c:v>2004-2005</c:v>
                </c:pt>
                <c:pt idx="5">
                  <c:v>2005-2006</c:v>
                </c:pt>
                <c:pt idx="6">
                  <c:v>2006-2007</c:v>
                </c:pt>
                <c:pt idx="7">
                  <c:v>2007-2008</c:v>
                </c:pt>
                <c:pt idx="8">
                  <c:v>2008-2009</c:v>
                </c:pt>
                <c:pt idx="9">
                  <c:v>2009-2010</c:v>
                </c:pt>
                <c:pt idx="10">
                  <c:v>2010-2011</c:v>
                </c:pt>
              </c:strCache>
            </c:strRef>
          </c:cat>
          <c:val>
            <c:numRef>
              <c:f>Sheet2!$C$4:$C$14</c:f>
              <c:numCache>
                <c:formatCode>_(* #,##0_);_(* \(#,##0\);_(* "-"??_);_(@_)</c:formatCode>
                <c:ptCount val="11"/>
                <c:pt idx="0">
                  <c:v>60642</c:v>
                </c:pt>
                <c:pt idx="1">
                  <c:v>103053</c:v>
                </c:pt>
                <c:pt idx="2">
                  <c:v>152222</c:v>
                </c:pt>
                <c:pt idx="3">
                  <c:v>121123</c:v>
                </c:pt>
                <c:pt idx="4">
                  <c:v>126147</c:v>
                </c:pt>
                <c:pt idx="5">
                  <c:v>205041</c:v>
                </c:pt>
                <c:pt idx="6">
                  <c:v>188852</c:v>
                </c:pt>
                <c:pt idx="7">
                  <c:v>162908</c:v>
                </c:pt>
                <c:pt idx="8">
                  <c:v>151578</c:v>
                </c:pt>
                <c:pt idx="9">
                  <c:v>162241</c:v>
                </c:pt>
                <c:pt idx="10">
                  <c:v>151877</c:v>
                </c:pt>
              </c:numCache>
            </c:numRef>
          </c:val>
        </c:ser>
        <c:shape val="cylinder"/>
        <c:axId val="81702272"/>
        <c:axId val="64161280"/>
        <c:axId val="0"/>
      </c:bar3DChart>
      <c:catAx>
        <c:axId val="81702272"/>
        <c:scaling>
          <c:orientation val="minMax"/>
        </c:scaling>
        <c:axPos val="b"/>
        <c:title>
          <c:tx>
            <c:rich>
              <a:bodyPr/>
              <a:lstStyle/>
              <a:p>
                <a:pPr>
                  <a:defRPr sz="1400" baseline="0"/>
                </a:pPr>
                <a:r>
                  <a:rPr lang="en-US" sz="1400" baseline="0"/>
                  <a:t>School Year</a:t>
                </a:r>
              </a:p>
            </c:rich>
          </c:tx>
          <c:layout/>
        </c:title>
        <c:tickLblPos val="nextTo"/>
        <c:txPr>
          <a:bodyPr/>
          <a:lstStyle/>
          <a:p>
            <a:pPr>
              <a:defRPr sz="1400" b="1" baseline="0"/>
            </a:pPr>
            <a:endParaRPr lang="en-US"/>
          </a:p>
        </c:txPr>
        <c:crossAx val="64161280"/>
        <c:crosses val="autoZero"/>
        <c:auto val="1"/>
        <c:lblAlgn val="ctr"/>
        <c:lblOffset val="100"/>
      </c:catAx>
      <c:valAx>
        <c:axId val="64161280"/>
        <c:scaling>
          <c:orientation val="minMax"/>
        </c:scaling>
        <c:axPos val="l"/>
        <c:majorGridlines/>
        <c:title>
          <c:tx>
            <c:rich>
              <a:bodyPr rot="-5400000" vert="horz"/>
              <a:lstStyle/>
              <a:p>
                <a:pPr>
                  <a:defRPr sz="1400"/>
                </a:pPr>
                <a:r>
                  <a:rPr lang="en-US" sz="1400"/>
                  <a:t>Number of Certificates</a:t>
                </a:r>
              </a:p>
            </c:rich>
          </c:tx>
          <c:layout/>
        </c:title>
        <c:numFmt formatCode="_(* #,##0_);_(* \(#,##0\);_(* &quot;-&quot;??_);_(@_)" sourceLinked="1"/>
        <c:tickLblPos val="nextTo"/>
        <c:txPr>
          <a:bodyPr/>
          <a:lstStyle/>
          <a:p>
            <a:pPr>
              <a:defRPr sz="1600" baseline="0"/>
            </a:pPr>
            <a:endParaRPr lang="en-US"/>
          </a:p>
        </c:txPr>
        <c:crossAx val="81702272"/>
        <c:crosses val="autoZero"/>
        <c:crossBetween val="between"/>
        <c:majorUnit val="25000"/>
      </c:valAx>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style val="5"/>
  <c:chart>
    <c:title>
      <c:tx>
        <c:rich>
          <a:bodyPr/>
          <a:lstStyle/>
          <a:p>
            <a:pPr>
              <a:defRPr/>
            </a:pPr>
            <a:r>
              <a:rPr lang="en-US"/>
              <a:t>Certification-Related Telephone Calls</a:t>
            </a:r>
          </a:p>
        </c:rich>
      </c:tx>
      <c:layout/>
    </c:title>
    <c:view3D>
      <c:rAngAx val="1"/>
    </c:view3D>
    <c:floor>
      <c:spPr>
        <a:gradFill>
          <a:gsLst>
            <a:gs pos="0">
              <a:srgbClr val="4F81BD">
                <a:tint val="66000"/>
                <a:satMod val="160000"/>
              </a:srgbClr>
            </a:gs>
            <a:gs pos="50000">
              <a:srgbClr val="4F81BD">
                <a:tint val="44500"/>
                <a:satMod val="160000"/>
              </a:srgbClr>
            </a:gs>
            <a:gs pos="100000">
              <a:srgbClr val="4F81BD">
                <a:tint val="23500"/>
                <a:satMod val="160000"/>
              </a:srgbClr>
            </a:gs>
          </a:gsLst>
          <a:lin ang="5400000" scaled="0"/>
        </a:gradFill>
      </c:spPr>
    </c:floor>
    <c:sideWall>
      <c:sp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a:innerShdw blurRad="520700" dist="812800" dir="8100000">
            <a:prstClr val="black">
              <a:alpha val="50000"/>
            </a:prstClr>
          </a:innerShdw>
        </a:effectLst>
      </c:spPr>
    </c:sideWall>
    <c:backWall>
      <c:sp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a:innerShdw blurRad="520700" dist="812800" dir="8100000">
            <a:prstClr val="black">
              <a:alpha val="50000"/>
            </a:prstClr>
          </a:innerShdw>
        </a:effectLst>
      </c:spPr>
    </c:backWall>
    <c:plotArea>
      <c:layout>
        <c:manualLayout>
          <c:layoutTarget val="inner"/>
          <c:xMode val="edge"/>
          <c:yMode val="edge"/>
          <c:x val="0.11860697968309522"/>
          <c:y val="8.4819367293883549E-2"/>
          <c:w val="0.86529077962476963"/>
          <c:h val="0.78074301535386148"/>
        </c:manualLayout>
      </c:layout>
      <c:bar3DChart>
        <c:barDir val="col"/>
        <c:grouping val="clustered"/>
        <c:ser>
          <c:idx val="0"/>
          <c:order val="0"/>
          <c:tx>
            <c:strRef>
              <c:f>Sheet1!$C$4</c:f>
              <c:strCache>
                <c:ptCount val="1"/>
                <c:pt idx="0">
                  <c:v>Number of Telephone Calls</c:v>
                </c:pt>
              </c:strCache>
            </c:strRef>
          </c:tx>
          <c:cat>
            <c:strRef>
              <c:f>Sheet1!$B$5:$B$12</c:f>
              <c:strCache>
                <c:ptCount val="8"/>
                <c:pt idx="0">
                  <c:v>2003-2004</c:v>
                </c:pt>
                <c:pt idx="1">
                  <c:v>2004-2005</c:v>
                </c:pt>
                <c:pt idx="2">
                  <c:v>2005-2006</c:v>
                </c:pt>
                <c:pt idx="3">
                  <c:v>2006-2007</c:v>
                </c:pt>
                <c:pt idx="4">
                  <c:v>2007-2008</c:v>
                </c:pt>
                <c:pt idx="5">
                  <c:v>2008-2009</c:v>
                </c:pt>
                <c:pt idx="6">
                  <c:v>2009-2010</c:v>
                </c:pt>
                <c:pt idx="7">
                  <c:v>2010-2011</c:v>
                </c:pt>
              </c:strCache>
            </c:strRef>
          </c:cat>
          <c:val>
            <c:numRef>
              <c:f>Sheet1!$C$5:$C$12</c:f>
              <c:numCache>
                <c:formatCode>_(* #,##0_);_(* \(#,##0\);_(* "-"??_);_(@_)</c:formatCode>
                <c:ptCount val="8"/>
                <c:pt idx="0">
                  <c:v>84496</c:v>
                </c:pt>
                <c:pt idx="1">
                  <c:v>81894</c:v>
                </c:pt>
                <c:pt idx="2">
                  <c:v>89509</c:v>
                </c:pt>
                <c:pt idx="3">
                  <c:v>101632</c:v>
                </c:pt>
                <c:pt idx="4">
                  <c:v>108355</c:v>
                </c:pt>
                <c:pt idx="5">
                  <c:v>101614</c:v>
                </c:pt>
                <c:pt idx="6">
                  <c:v>103614</c:v>
                </c:pt>
                <c:pt idx="7">
                  <c:v>74106</c:v>
                </c:pt>
              </c:numCache>
            </c:numRef>
          </c:val>
        </c:ser>
        <c:shape val="cylinder"/>
        <c:axId val="64203008"/>
        <c:axId val="64217088"/>
        <c:axId val="0"/>
      </c:bar3DChart>
      <c:catAx>
        <c:axId val="64203008"/>
        <c:scaling>
          <c:orientation val="minMax"/>
        </c:scaling>
        <c:axPos val="b"/>
        <c:tickLblPos val="nextTo"/>
        <c:txPr>
          <a:bodyPr rot="-2100000"/>
          <a:lstStyle/>
          <a:p>
            <a:pPr>
              <a:defRPr sz="1200"/>
            </a:pPr>
            <a:endParaRPr lang="en-US"/>
          </a:p>
        </c:txPr>
        <c:crossAx val="64217088"/>
        <c:crosses val="autoZero"/>
        <c:auto val="1"/>
        <c:lblAlgn val="ctr"/>
        <c:lblOffset val="100"/>
      </c:catAx>
      <c:valAx>
        <c:axId val="64217088"/>
        <c:scaling>
          <c:orientation val="minMax"/>
        </c:scaling>
        <c:axPos val="l"/>
        <c:majorGridlines/>
        <c:title>
          <c:tx>
            <c:rich>
              <a:bodyPr rot="-5400000" vert="horz"/>
              <a:lstStyle/>
              <a:p>
                <a:pPr>
                  <a:defRPr sz="1400" baseline="0"/>
                </a:pPr>
                <a:r>
                  <a:rPr lang="en-US" sz="1400" baseline="0" dirty="0"/>
                  <a:t>Number of </a:t>
                </a:r>
                <a:r>
                  <a:rPr lang="en-US" sz="1400" baseline="0" dirty="0" smtClean="0"/>
                  <a:t>Calls </a:t>
                </a:r>
                <a:endParaRPr lang="en-US" sz="1400" baseline="0" dirty="0"/>
              </a:p>
            </c:rich>
          </c:tx>
          <c:layout/>
        </c:title>
        <c:numFmt formatCode="_(* #,##0_);_(* \(#,##0\);_(* &quot;-&quot;??_);_(@_)" sourceLinked="1"/>
        <c:tickLblPos val="nextTo"/>
        <c:crossAx val="64203008"/>
        <c:crosses val="autoZero"/>
        <c:crossBetween val="between"/>
      </c:valAx>
    </c:plotArea>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US"/>
  <c:chart>
    <c:autoTitleDeleted val="1"/>
    <c:view3D>
      <c:hPercent val="100"/>
      <c:depthPercent val="100"/>
      <c:rAngAx val="1"/>
    </c:view3D>
    <c:sideWall>
      <c:spPr>
        <a:gradFill flip="none" rotWithShape="1">
          <a:gsLst>
            <a:gs pos="50000">
              <a:schemeClr val="accent1">
                <a:lumMod val="60000"/>
                <a:lumOff val="40000"/>
              </a:schemeClr>
            </a:gs>
            <a:gs pos="100000">
              <a:srgbClr val="4F81BD">
                <a:tint val="23500"/>
                <a:satMod val="160000"/>
              </a:srgbClr>
            </a:gs>
          </a:gsLst>
          <a:lin ang="5400000" scaled="1"/>
          <a:tileRect/>
        </a:gradFill>
      </c:spPr>
    </c:sideWall>
    <c:backWall>
      <c:spPr>
        <a:gradFill flip="none" rotWithShape="1">
          <a:gsLst>
            <a:gs pos="50000">
              <a:schemeClr val="accent1">
                <a:lumMod val="60000"/>
                <a:lumOff val="40000"/>
              </a:schemeClr>
            </a:gs>
            <a:gs pos="100000">
              <a:srgbClr val="4F81BD">
                <a:tint val="23500"/>
                <a:satMod val="160000"/>
              </a:srgbClr>
            </a:gs>
          </a:gsLst>
          <a:lin ang="5400000" scaled="1"/>
          <a:tileRect/>
        </a:gradFill>
      </c:spPr>
    </c:backWall>
    <c:plotArea>
      <c:layout>
        <c:manualLayout>
          <c:layoutTarget val="inner"/>
          <c:xMode val="edge"/>
          <c:yMode val="edge"/>
          <c:x val="8.3807459847335591E-2"/>
          <c:y val="3.5478784709106939E-2"/>
          <c:w val="0.90223626863155859"/>
          <c:h val="0.60976397323028364"/>
        </c:manualLayout>
      </c:layout>
      <c:bar3DChart>
        <c:barDir val="col"/>
        <c:grouping val="standard"/>
        <c:ser>
          <c:idx val="0"/>
          <c:order val="0"/>
          <c:tx>
            <c:strRef>
              <c:f>Sheet1!$A$2</c:f>
              <c:strCache>
                <c:ptCount val="1"/>
                <c:pt idx="0">
                  <c:v>Emails</c:v>
                </c:pt>
              </c:strCache>
            </c:strRef>
          </c:tx>
          <c:dLbls>
            <c:dLbl>
              <c:idx val="6"/>
              <c:layout>
                <c:manualLayout>
                  <c:x val="4.9019607843137386E-2"/>
                  <c:y val="5.555555555555549E-2"/>
                </c:manualLayout>
              </c:layout>
              <c:showVal val="1"/>
            </c:dLbl>
            <c:txPr>
              <a:bodyPr/>
              <a:lstStyle/>
              <a:p>
                <a:pPr>
                  <a:defRPr sz="1600"/>
                </a:pPr>
                <a:endParaRPr lang="en-US"/>
              </a:p>
            </c:txPr>
            <c:showVal val="1"/>
          </c:dLbls>
          <c:cat>
            <c:strRef>
              <c:f>Sheet1!$B$1:$Q$1</c:f>
              <c:strCache>
                <c:ptCount val="16"/>
                <c:pt idx="0">
                  <c:v>CSRA</c:v>
                </c:pt>
                <c:pt idx="1">
                  <c:v>Chattahoochee-Flint</c:v>
                </c:pt>
                <c:pt idx="2">
                  <c:v>Coastal Plains</c:v>
                </c:pt>
                <c:pt idx="3">
                  <c:v>First District</c:v>
                </c:pt>
                <c:pt idx="4">
                  <c:v>Griffin</c:v>
                </c:pt>
                <c:pt idx="5">
                  <c:v>Heart of Georgia</c:v>
                </c:pt>
                <c:pt idx="6">
                  <c:v>Metro</c:v>
                </c:pt>
                <c:pt idx="7">
                  <c:v>Middle Georgia</c:v>
                </c:pt>
                <c:pt idx="8">
                  <c:v>North Georgia</c:v>
                </c:pt>
                <c:pt idx="9">
                  <c:v>Nrotheast Georgia</c:v>
                </c:pt>
                <c:pt idx="10">
                  <c:v>Northwest Georgia</c:v>
                </c:pt>
                <c:pt idx="11">
                  <c:v>Oconee</c:v>
                </c:pt>
                <c:pt idx="12">
                  <c:v>Okefeenokee</c:v>
                </c:pt>
                <c:pt idx="13">
                  <c:v>Pioneer</c:v>
                </c:pt>
                <c:pt idx="14">
                  <c:v>Southwest Georgia</c:v>
                </c:pt>
                <c:pt idx="15">
                  <c:v>West Georgia</c:v>
                </c:pt>
              </c:strCache>
            </c:strRef>
          </c:cat>
          <c:val>
            <c:numRef>
              <c:f>Sheet1!$B$2:$Q$2</c:f>
              <c:numCache>
                <c:formatCode>General</c:formatCode>
                <c:ptCount val="16"/>
                <c:pt idx="0">
                  <c:v>25</c:v>
                </c:pt>
                <c:pt idx="1">
                  <c:v>61</c:v>
                </c:pt>
                <c:pt idx="2">
                  <c:v>94</c:v>
                </c:pt>
                <c:pt idx="3">
                  <c:v>82</c:v>
                </c:pt>
                <c:pt idx="4">
                  <c:v>196</c:v>
                </c:pt>
                <c:pt idx="5">
                  <c:v>45</c:v>
                </c:pt>
                <c:pt idx="6">
                  <c:v>1362</c:v>
                </c:pt>
                <c:pt idx="7">
                  <c:v>80</c:v>
                </c:pt>
                <c:pt idx="8">
                  <c:v>46</c:v>
                </c:pt>
                <c:pt idx="9">
                  <c:v>121</c:v>
                </c:pt>
                <c:pt idx="10">
                  <c:v>156</c:v>
                </c:pt>
                <c:pt idx="11">
                  <c:v>54</c:v>
                </c:pt>
                <c:pt idx="12">
                  <c:v>74</c:v>
                </c:pt>
                <c:pt idx="13">
                  <c:v>42</c:v>
                </c:pt>
                <c:pt idx="14">
                  <c:v>77</c:v>
                </c:pt>
                <c:pt idx="15">
                  <c:v>66</c:v>
                </c:pt>
              </c:numCache>
            </c:numRef>
          </c:val>
        </c:ser>
        <c:shape val="cylinder"/>
        <c:axId val="79533184"/>
        <c:axId val="79534720"/>
        <c:axId val="64165184"/>
      </c:bar3DChart>
      <c:catAx>
        <c:axId val="79533184"/>
        <c:scaling>
          <c:orientation val="minMax"/>
        </c:scaling>
        <c:axPos val="b"/>
        <c:tickLblPos val="nextTo"/>
        <c:txPr>
          <a:bodyPr rot="-4500000" vert="horz"/>
          <a:lstStyle/>
          <a:p>
            <a:pPr>
              <a:defRPr sz="1600"/>
            </a:pPr>
            <a:endParaRPr lang="en-US"/>
          </a:p>
        </c:txPr>
        <c:crossAx val="79534720"/>
        <c:crosses val="autoZero"/>
        <c:auto val="1"/>
        <c:lblAlgn val="ctr"/>
        <c:lblOffset val="100"/>
      </c:catAx>
      <c:valAx>
        <c:axId val="79534720"/>
        <c:scaling>
          <c:orientation val="minMax"/>
        </c:scaling>
        <c:axPos val="l"/>
        <c:majorGridlines/>
        <c:numFmt formatCode="General" sourceLinked="1"/>
        <c:tickLblPos val="nextTo"/>
        <c:txPr>
          <a:bodyPr/>
          <a:lstStyle/>
          <a:p>
            <a:pPr>
              <a:defRPr sz="1600" baseline="0"/>
            </a:pPr>
            <a:endParaRPr lang="en-US"/>
          </a:p>
        </c:txPr>
        <c:crossAx val="79533184"/>
        <c:crosses val="autoZero"/>
        <c:crossBetween val="between"/>
      </c:valAx>
      <c:serAx>
        <c:axId val="64165184"/>
        <c:scaling>
          <c:orientation val="minMax"/>
        </c:scaling>
        <c:delete val="1"/>
        <c:axPos val="b"/>
        <c:tickLblPos val="none"/>
        <c:crossAx val="79534720"/>
        <c:crosses val="autoZero"/>
      </c:serAx>
    </c:plotArea>
    <c:plotVisOnly val="1"/>
  </c:chart>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autoTitleDeleted val="1"/>
    <c:view3D>
      <c:rotX val="30"/>
      <c:perspective val="0"/>
    </c:view3D>
    <c:plotArea>
      <c:layout>
        <c:manualLayout>
          <c:layoutTarget val="inner"/>
          <c:xMode val="edge"/>
          <c:yMode val="edge"/>
          <c:x val="4.4280964879390095E-2"/>
          <c:y val="5.9974747474747472E-2"/>
          <c:w val="0.74691901012373496"/>
          <c:h val="0.88005050505050508"/>
        </c:manualLayout>
      </c:layout>
      <c:pie3DChart>
        <c:varyColors val="1"/>
        <c:ser>
          <c:idx val="0"/>
          <c:order val="0"/>
          <c:tx>
            <c:strRef>
              <c:f>Sheet1!$C$2</c:f>
              <c:strCache>
                <c:ptCount val="1"/>
                <c:pt idx="0">
                  <c:v>%</c:v>
                </c:pt>
              </c:strCache>
            </c:strRef>
          </c:tx>
          <c:dLbls>
            <c:dLbl>
              <c:idx val="0"/>
              <c:layout>
                <c:manualLayout>
                  <c:x val="-7.6839124467239769E-2"/>
                  <c:y val="-0.14856208129791154"/>
                </c:manualLayout>
              </c:layout>
              <c:showVal val="1"/>
            </c:dLbl>
            <c:dLbl>
              <c:idx val="1"/>
              <c:layout>
                <c:manualLayout>
                  <c:x val="5.3833321293553914E-2"/>
                  <c:y val="6.7607979597451174E-3"/>
                </c:manualLayout>
              </c:layout>
              <c:showVal val="1"/>
            </c:dLbl>
            <c:dLbl>
              <c:idx val="2"/>
              <c:layout>
                <c:manualLayout>
                  <c:x val="-4.0703123118784506E-3"/>
                  <c:y val="-5.9729800063943884E-2"/>
                </c:manualLayout>
              </c:layout>
              <c:showVal val="1"/>
            </c:dLbl>
            <c:dLbl>
              <c:idx val="3"/>
              <c:layout>
                <c:manualLayout>
                  <c:x val="-1.1862939150954755E-2"/>
                  <c:y val="-1.252288223178903E-2"/>
                </c:manualLayout>
              </c:layout>
              <c:showVal val="1"/>
            </c:dLbl>
            <c:dLbl>
              <c:idx val="4"/>
              <c:layout>
                <c:manualLayout>
                  <c:x val="4.044980615955116E-3"/>
                  <c:y val="-6.0461139241447534E-3"/>
                </c:manualLayout>
              </c:layout>
              <c:showVal val="1"/>
            </c:dLbl>
            <c:dLbl>
              <c:idx val="5"/>
              <c:layout>
                <c:manualLayout>
                  <c:x val="8.292463442069747E-3"/>
                  <c:y val="7.989342241310753E-4"/>
                </c:manualLayout>
              </c:layout>
              <c:showVal val="1"/>
            </c:dLbl>
            <c:dLbl>
              <c:idx val="6"/>
              <c:layout>
                <c:manualLayout>
                  <c:x val="6.3460232608538707E-3"/>
                  <c:y val="-5.199378406311116E-3"/>
                </c:manualLayout>
              </c:layout>
              <c:showVal val="1"/>
            </c:dLbl>
            <c:txPr>
              <a:bodyPr/>
              <a:lstStyle/>
              <a:p>
                <a:pPr>
                  <a:defRPr sz="1800"/>
                </a:pPr>
                <a:endParaRPr lang="en-US"/>
              </a:p>
            </c:txPr>
            <c:showVal val="1"/>
            <c:showLeaderLines val="1"/>
          </c:dLbls>
          <c:cat>
            <c:strRef>
              <c:f>Sheet1!$B$3:$B$9</c:f>
              <c:strCache>
                <c:ptCount val="7"/>
                <c:pt idx="0">
                  <c:v>Knowledge</c:v>
                </c:pt>
                <c:pt idx="1">
                  <c:v>.ORG</c:v>
                </c:pt>
                <c:pt idx="2">
                  <c:v>Documents</c:v>
                </c:pt>
                <c:pt idx="3">
                  <c:v>Leadership</c:v>
                </c:pt>
                <c:pt idx="4">
                  <c:v>Upgrades</c:v>
                </c:pt>
                <c:pt idx="5">
                  <c:v>Status</c:v>
                </c:pt>
                <c:pt idx="6">
                  <c:v>HiQ</c:v>
                </c:pt>
              </c:strCache>
            </c:strRef>
          </c:cat>
          <c:val>
            <c:numRef>
              <c:f>Sheet1!$C$3:$C$9</c:f>
              <c:numCache>
                <c:formatCode>0%</c:formatCode>
                <c:ptCount val="7"/>
                <c:pt idx="0">
                  <c:v>0.45</c:v>
                </c:pt>
                <c:pt idx="1">
                  <c:v>0.2</c:v>
                </c:pt>
                <c:pt idx="2">
                  <c:v>0.15000000000000008</c:v>
                </c:pt>
                <c:pt idx="3">
                  <c:v>8.0000000000000043E-2</c:v>
                </c:pt>
                <c:pt idx="4">
                  <c:v>7.0000000000000021E-2</c:v>
                </c:pt>
                <c:pt idx="5">
                  <c:v>3.0000000000000002E-2</c:v>
                </c:pt>
                <c:pt idx="6">
                  <c:v>2.0000000000000011E-2</c:v>
                </c:pt>
              </c:numCache>
            </c:numRef>
          </c:val>
        </c:ser>
      </c:pie3DChart>
    </c:plotArea>
    <c:legend>
      <c:legendPos val="r"/>
      <c:layout/>
      <c:txPr>
        <a:bodyPr/>
        <a:lstStyle/>
        <a:p>
          <a:pPr>
            <a:defRPr sz="1800"/>
          </a:pPr>
          <a:endParaRPr lang="en-US"/>
        </a:p>
      </c:txPr>
    </c:legend>
    <c:plotVisOnly val="1"/>
  </c:chart>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37A6DE-739C-44F3-B338-3B518BD316A9}" type="datetimeFigureOut">
              <a:rPr lang="en-US" smtClean="0"/>
              <a:pPr/>
              <a:t>12/2/2011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3FF002-6F81-48DB-AC57-3FFC2C1EC3A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CC253059-DF3E-40E1-8456-EAFCC5FFAF47}" type="slidenum">
              <a:rPr lang="en-US" smtClean="0"/>
              <a:pPr/>
              <a:t>1</a:t>
            </a:fld>
            <a:endParaRPr lang="en-US" dirty="0" smtClean="0"/>
          </a:p>
        </p:txBody>
      </p:sp>
      <p:sp>
        <p:nvSpPr>
          <p:cNvPr id="70659" name="Rectangle 7"/>
          <p:cNvSpPr txBox="1">
            <a:spLocks noGrp="1" noChangeArrowheads="1"/>
          </p:cNvSpPr>
          <p:nvPr/>
        </p:nvSpPr>
        <p:spPr bwMode="auto">
          <a:xfrm>
            <a:off x="3884027" y="8684926"/>
            <a:ext cx="2972421" cy="457513"/>
          </a:xfrm>
          <a:prstGeom prst="rect">
            <a:avLst/>
          </a:prstGeom>
          <a:noFill/>
          <a:ln w="9525">
            <a:noFill/>
            <a:miter lim="800000"/>
            <a:headEnd/>
            <a:tailEnd/>
          </a:ln>
        </p:spPr>
        <p:txBody>
          <a:bodyPr lIns="91435" tIns="45718" rIns="91435" bIns="45718" anchor="b"/>
          <a:lstStyle/>
          <a:p>
            <a:pPr algn="r" defTabSz="914437"/>
            <a:fld id="{68ECD680-B21A-417E-9332-92C1712C25BE}" type="slidenum">
              <a:rPr lang="en-US" sz="1200"/>
              <a:pPr algn="r" defTabSz="914437"/>
              <a:t>1</a:t>
            </a:fld>
            <a:endParaRPr lang="en-US" sz="1200" dirty="0"/>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p:spPr>
        <p:txBody>
          <a:bodyPr/>
          <a:lstStyle/>
          <a:p>
            <a:pPr marL="224325" indent="-224325">
              <a:buFontTx/>
              <a:buChar char="•"/>
            </a:pPr>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Mention possibility of induction cert to a career cert based on performance.</a:t>
            </a:r>
          </a:p>
        </p:txBody>
      </p:sp>
      <p:sp>
        <p:nvSpPr>
          <p:cNvPr id="1843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9304629-74C8-4F1A-923D-B07FA8CE54F8}" type="slidenum">
              <a:rPr lang="en-US"/>
              <a:pPr fontAlgn="base">
                <a:spcBef>
                  <a:spcPct val="0"/>
                </a:spcBef>
                <a:spcAft>
                  <a:spcPct val="0"/>
                </a:spcAft>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What, how and why…</a:t>
            </a:r>
          </a:p>
        </p:txBody>
      </p:sp>
      <p:sp>
        <p:nvSpPr>
          <p:cNvPr id="8090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D4A659BF-EB05-4ACD-AAF9-A58D58DA249E}" type="slidenum">
              <a:rPr lang="en-US" sz="1200">
                <a:latin typeface="Calibri" pitchFamily="34" charset="0"/>
              </a:rPr>
              <a:pPr algn="r"/>
              <a:t>6</a:t>
            </a:fld>
            <a:endParaRPr lang="en-US" sz="1200">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Type to topic</a:t>
            </a:r>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9</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A few bullets about why, where and when</a:t>
            </a:r>
          </a:p>
        </p:txBody>
      </p:sp>
      <p:sp>
        <p:nvSpPr>
          <p:cNvPr id="2048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939E82F-11E9-417D-9B18-119E5071B387}" type="slidenum">
              <a:rPr lang="en-US"/>
              <a:pPr fontAlgn="base">
                <a:spcBef>
                  <a:spcPct val="0"/>
                </a:spcBef>
                <a:spcAft>
                  <a:spcPct val="0"/>
                </a:spcAft>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What, how and why…</a:t>
            </a:r>
          </a:p>
        </p:txBody>
      </p:sp>
      <p:sp>
        <p:nvSpPr>
          <p:cNvPr id="7475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C88CE645-1BA0-40B9-920F-B268473CC6A5}" type="slidenum">
              <a:rPr lang="en-US" sz="1200">
                <a:latin typeface="Calibri" pitchFamily="34" charset="0"/>
              </a:rPr>
              <a:pPr algn="r"/>
              <a:t>12</a:t>
            </a:fld>
            <a:endParaRPr lang="en-US" sz="1200">
              <a:latin typeface="Calibri"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t>
            </a:r>
            <a:r>
              <a:rPr lang="en-US" baseline="0" dirty="0" smtClean="0"/>
              <a:t> few bullets about why, where and when</a:t>
            </a:r>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13</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t>
            </a:r>
            <a:r>
              <a:rPr lang="en-US" baseline="0" dirty="0" smtClean="0"/>
              <a:t> few bullets about why, where and when</a:t>
            </a:r>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15</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t>
            </a:r>
            <a:r>
              <a:rPr lang="en-US" baseline="0" dirty="0" smtClean="0"/>
              <a:t> few bullets about why, where and when</a:t>
            </a:r>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17</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What, how and why…</a:t>
            </a:r>
          </a:p>
        </p:txBody>
      </p:sp>
      <p:sp>
        <p:nvSpPr>
          <p:cNvPr id="8704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EC2C7DE3-E8A0-4DD4-9DD3-C9BE77F7B3BF}" type="slidenum">
              <a:rPr lang="en-US" sz="1200">
                <a:latin typeface="Calibri" pitchFamily="34" charset="0"/>
              </a:rPr>
              <a:pPr algn="r"/>
              <a:t>22</a:t>
            </a:fld>
            <a:endParaRPr lang="en-US" sz="1200">
              <a:latin typeface="Calibri"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What, how and why…</a:t>
            </a:r>
          </a:p>
        </p:txBody>
      </p:sp>
      <p:sp>
        <p:nvSpPr>
          <p:cNvPr id="8909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82C5247D-634B-4A55-8BA4-DF465B802419}" type="slidenum">
              <a:rPr lang="en-US" sz="1200">
                <a:latin typeface="Calibri" pitchFamily="34" charset="0"/>
              </a:rPr>
              <a:pPr algn="r"/>
              <a:t>23</a:t>
            </a:fld>
            <a:endParaRPr lang="en-US" sz="1200">
              <a:latin typeface="Calibri"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p:spPr>
      </p:sp>
      <p:sp>
        <p:nvSpPr>
          <p:cNvPr id="768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A few bullets about why, where and when</a:t>
            </a:r>
          </a:p>
        </p:txBody>
      </p:sp>
      <p:sp>
        <p:nvSpPr>
          <p:cNvPr id="7680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41045A58-F692-4B01-B7A4-834E666CC213}" type="slidenum">
              <a:rPr lang="en-US" sz="1200">
                <a:latin typeface="Calibri" pitchFamily="34" charset="0"/>
              </a:rPr>
              <a:pPr algn="r"/>
              <a:t>24</a:t>
            </a:fld>
            <a:endParaRPr lang="en-US" sz="1200">
              <a:latin typeface="Calibri"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A few bullets about why, where and when</a:t>
            </a:r>
          </a:p>
        </p:txBody>
      </p:sp>
      <p:sp>
        <p:nvSpPr>
          <p:cNvPr id="8294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522C15FD-9F52-4680-AF0A-9396E9EDF157}" type="slidenum">
              <a:rPr lang="en-US" sz="1200">
                <a:latin typeface="Calibri" pitchFamily="34" charset="0"/>
              </a:rPr>
              <a:pPr algn="r"/>
              <a:t>25</a:t>
            </a:fld>
            <a:endParaRPr lang="en-US" sz="1200">
              <a:latin typeface="Calibri"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mtClean="0"/>
              <a:t>A few bullets about why, where and when</a:t>
            </a:r>
          </a:p>
        </p:txBody>
      </p:sp>
      <p:sp>
        <p:nvSpPr>
          <p:cNvPr id="849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C4ACE34-0D85-4442-924C-47F533657F73}" type="slidenum">
              <a:rPr lang="en-US" sz="1200">
                <a:latin typeface="Calibri" pitchFamily="34" charset="0"/>
              </a:rPr>
              <a:pPr algn="r"/>
              <a:t>26</a:t>
            </a:fld>
            <a:endParaRPr lang="en-US" sz="1200">
              <a:latin typeface="Calibri"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27</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A86778-53EB-4A9B-814E-AD5C0ACEA09A}" type="slidenum">
              <a:rPr lang="en-US" smtClean="0"/>
              <a:pPr/>
              <a:t>31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Update this!</a:t>
            </a:r>
            <a:endParaRPr lang="en-US" dirty="0"/>
          </a:p>
        </p:txBody>
      </p:sp>
      <p:sp>
        <p:nvSpPr>
          <p:cNvPr id="4" name="Slide Number Placeholder 3"/>
          <p:cNvSpPr>
            <a:spLocks noGrp="1"/>
          </p:cNvSpPr>
          <p:nvPr>
            <p:ph type="sldNum" sz="quarter" idx="10"/>
          </p:nvPr>
        </p:nvSpPr>
        <p:spPr/>
        <p:txBody>
          <a:bodyPr/>
          <a:lstStyle/>
          <a:p>
            <a:fld id="{28A86778-53EB-4A9B-814E-AD5C0ACEA09A}" type="slidenum">
              <a:rPr lang="en-US" smtClean="0"/>
              <a:pPr/>
              <a:t>32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A86778-53EB-4A9B-814E-AD5C0ACEA09A}" type="slidenum">
              <a:rPr lang="en-US" smtClean="0"/>
              <a:pPr/>
              <a:t>35</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Upgrade Advisor </a:t>
            </a:r>
            <a:r>
              <a:rPr lang="en-US" dirty="0" smtClean="0"/>
              <a:t>Context – verbiage</a:t>
            </a:r>
          </a:p>
        </p:txBody>
      </p:sp>
      <p:sp>
        <p:nvSpPr>
          <p:cNvPr id="4" name="Slide Number Placeholder 3"/>
          <p:cNvSpPr>
            <a:spLocks noGrp="1"/>
          </p:cNvSpPr>
          <p:nvPr>
            <p:ph type="sldNum" sz="quarter" idx="10"/>
          </p:nvPr>
        </p:nvSpPr>
        <p:spPr/>
        <p:txBody>
          <a:bodyPr/>
          <a:lstStyle/>
          <a:p>
            <a:fld id="{213FF002-6F81-48DB-AC57-3FFC2C1EC3A3}" type="slidenum">
              <a:rPr lang="en-US" smtClean="0"/>
              <a:pPr/>
              <a:t>36</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Context – verbiage</a:t>
            </a:r>
          </a:p>
        </p:txBody>
      </p:sp>
      <p:sp>
        <p:nvSpPr>
          <p:cNvPr id="4" name="Slide Number Placeholder 3"/>
          <p:cNvSpPr>
            <a:spLocks noGrp="1"/>
          </p:cNvSpPr>
          <p:nvPr>
            <p:ph type="sldNum" sz="quarter" idx="10"/>
          </p:nvPr>
        </p:nvSpPr>
        <p:spPr/>
        <p:txBody>
          <a:bodyPr/>
          <a:lstStyle/>
          <a:p>
            <a:fld id="{213FF002-6F81-48DB-AC57-3FFC2C1EC3A3}" type="slidenum">
              <a:rPr lang="en-US" smtClean="0"/>
              <a:pPr/>
              <a:t>37</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Lead-in screen – collect </a:t>
            </a:r>
            <a:r>
              <a:rPr lang="en-US" dirty="0" err="1" smtClean="0"/>
              <a:t>CertID</a:t>
            </a:r>
            <a:endParaRPr lang="en-US" dirty="0" smtClean="0"/>
          </a:p>
        </p:txBody>
      </p:sp>
      <p:sp>
        <p:nvSpPr>
          <p:cNvPr id="4" name="Slide Number Placeholder 3"/>
          <p:cNvSpPr>
            <a:spLocks noGrp="1"/>
          </p:cNvSpPr>
          <p:nvPr>
            <p:ph type="sldNum" sz="quarter" idx="10"/>
          </p:nvPr>
        </p:nvSpPr>
        <p:spPr/>
        <p:txBody>
          <a:bodyPr/>
          <a:lstStyle/>
          <a:p>
            <a:fld id="{213FF002-6F81-48DB-AC57-3FFC2C1EC3A3}" type="slidenum">
              <a:rPr lang="en-US" smtClean="0"/>
              <a:pPr/>
              <a:t>38</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Lead-in screen – Certificate corresponding to </a:t>
            </a:r>
            <a:r>
              <a:rPr lang="en-US" dirty="0" err="1" smtClean="0"/>
              <a:t>CertID</a:t>
            </a:r>
            <a:r>
              <a:rPr lang="en-US" dirty="0" smtClean="0"/>
              <a:t>; immediate diagnosis</a:t>
            </a:r>
            <a:r>
              <a:rPr lang="en-US" baseline="0" dirty="0" smtClean="0"/>
              <a:t> if upgrade not possible.</a:t>
            </a:r>
            <a:endParaRPr lang="en-US" dirty="0" smtClean="0"/>
          </a:p>
        </p:txBody>
      </p:sp>
      <p:sp>
        <p:nvSpPr>
          <p:cNvPr id="4" name="Slide Number Placeholder 3"/>
          <p:cNvSpPr>
            <a:spLocks noGrp="1"/>
          </p:cNvSpPr>
          <p:nvPr>
            <p:ph type="sldNum" sz="quarter" idx="10"/>
          </p:nvPr>
        </p:nvSpPr>
        <p:spPr/>
        <p:txBody>
          <a:bodyPr/>
          <a:lstStyle/>
          <a:p>
            <a:fld id="{213FF002-6F81-48DB-AC57-3FFC2C1EC3A3}" type="slidenum">
              <a:rPr lang="en-US" smtClean="0"/>
              <a:pPr/>
              <a:t>39</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Lead-in screen – Certificate corresponding to </a:t>
            </a:r>
            <a:r>
              <a:rPr lang="en-US" dirty="0" err="1" smtClean="0"/>
              <a:t>CertID</a:t>
            </a:r>
            <a:r>
              <a:rPr lang="en-US" dirty="0" smtClean="0"/>
              <a:t>; immediate diagnosis</a:t>
            </a:r>
            <a:r>
              <a:rPr lang="en-US" baseline="0" dirty="0" smtClean="0"/>
              <a:t> if upgrade not possible.</a:t>
            </a:r>
            <a:endParaRPr lang="en-US" dirty="0" smtClean="0"/>
          </a:p>
        </p:txBody>
      </p:sp>
      <p:sp>
        <p:nvSpPr>
          <p:cNvPr id="4" name="Slide Number Placeholder 3"/>
          <p:cNvSpPr>
            <a:spLocks noGrp="1"/>
          </p:cNvSpPr>
          <p:nvPr>
            <p:ph type="sldNum" sz="quarter" idx="10"/>
          </p:nvPr>
        </p:nvSpPr>
        <p:spPr/>
        <p:txBody>
          <a:bodyPr/>
          <a:lstStyle/>
          <a:p>
            <a:fld id="{213FF002-6F81-48DB-AC57-3FFC2C1EC3A3}" type="slidenum">
              <a:rPr lang="en-US" smtClean="0"/>
              <a:pPr/>
              <a:t>40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Lead-in screen – Certificate corresponding to </a:t>
            </a:r>
            <a:r>
              <a:rPr lang="en-US" dirty="0" err="1" smtClean="0"/>
              <a:t>CertID</a:t>
            </a:r>
            <a:r>
              <a:rPr lang="en-US" dirty="0" smtClean="0"/>
              <a:t>; offer options if upgrade is possible</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41</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213FF002-6F81-48DB-AC57-3FFC2C1EC3A3}" type="slidenum">
              <a:rPr lang="en-US" smtClean="0"/>
              <a:pPr/>
              <a:t>42</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In-field upgrade advisor #1; a private, a public, a </a:t>
            </a:r>
            <a:r>
              <a:rPr lang="en-US" dirty="0" err="1" smtClean="0"/>
              <a:t>CofEd</a:t>
            </a:r>
            <a:r>
              <a:rPr lang="en-US" dirty="0" smtClean="0"/>
              <a:t> degree, a CAS degree</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43</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In-field upgrade advisor #1; a private, a public, a </a:t>
            </a:r>
            <a:r>
              <a:rPr lang="en-US" dirty="0" err="1" smtClean="0"/>
              <a:t>CofEd</a:t>
            </a:r>
            <a:r>
              <a:rPr lang="en-US" dirty="0" smtClean="0"/>
              <a:t> degree, a CAS degree</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44</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In-field upgrade advisor #2</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45</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In-field upgrade advisor #2</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46</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In-field upgrade advisor #3</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47</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In-field upgrade advisor #3</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48</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In-field upgrade advisor #3</a:t>
            </a:r>
          </a:p>
        </p:txBody>
      </p:sp>
      <p:sp>
        <p:nvSpPr>
          <p:cNvPr id="4" name="Slide Number Placeholder 3"/>
          <p:cNvSpPr>
            <a:spLocks noGrp="1"/>
          </p:cNvSpPr>
          <p:nvPr>
            <p:ph type="sldNum" sz="quarter" idx="10"/>
          </p:nvPr>
        </p:nvSpPr>
        <p:spPr/>
        <p:txBody>
          <a:bodyPr/>
          <a:lstStyle/>
          <a:p>
            <a:fld id="{213FF002-6F81-48DB-AC57-3FFC2C1EC3A3}" type="slidenum">
              <a:rPr lang="en-US" smtClean="0"/>
              <a:pPr/>
              <a:t>49</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Upgrade advisor</a:t>
            </a:r>
            <a:r>
              <a:rPr lang="en-US" baseline="0" dirty="0" smtClean="0"/>
              <a:t> – how we’re deciding on degree/certificate alignment</a:t>
            </a:r>
            <a:endParaRPr lang="en-US" dirty="0" smtClean="0"/>
          </a:p>
        </p:txBody>
      </p:sp>
      <p:sp>
        <p:nvSpPr>
          <p:cNvPr id="4" name="Slide Number Placeholder 3"/>
          <p:cNvSpPr>
            <a:spLocks noGrp="1"/>
          </p:cNvSpPr>
          <p:nvPr>
            <p:ph type="sldNum" sz="quarter" idx="10"/>
          </p:nvPr>
        </p:nvSpPr>
        <p:spPr/>
        <p:txBody>
          <a:bodyPr/>
          <a:lstStyle/>
          <a:p>
            <a:fld id="{213FF002-6F81-48DB-AC57-3FFC2C1EC3A3}" type="slidenum">
              <a:rPr lang="en-US" smtClean="0"/>
              <a:pPr/>
              <a:t>50</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0" tIns="45716" rIns="91430" bIns="45716" anchor="b"/>
          <a:lstStyle/>
          <a:p>
            <a:pPr algn="r" defTabSz="931863"/>
            <a:fld id="{AFA99C79-E791-4E4B-8737-10F090741671}" type="slidenum">
              <a:rPr lang="en-US" sz="1200">
                <a:cs typeface="Arial" charset="0"/>
              </a:rPr>
              <a:pPr algn="r" defTabSz="931863"/>
              <a:t>51</a:t>
            </a:fld>
            <a:endParaRPr lang="en-US" sz="1200">
              <a:cs typeface="Arial" charset="0"/>
            </a:endParaRPr>
          </a:p>
        </p:txBody>
      </p:sp>
      <p:sp>
        <p:nvSpPr>
          <p:cNvPr id="1034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3428" name="Rectangle 3"/>
          <p:cNvSpPr>
            <a:spLocks noGrp="1" noChangeArrowheads="1"/>
          </p:cNvSpPr>
          <p:nvPr>
            <p:ph type="body" idx="1"/>
          </p:nvPr>
        </p:nvSpPr>
        <p:spPr bwMode="auto">
          <a:noFill/>
        </p:spPr>
        <p:txBody>
          <a:bodyPr wrap="square" lIns="91430" tIns="45716" rIns="91430" bIns="45716" numCol="1" anchor="t" anchorCtr="0" compatLnSpc="1">
            <a:prstTxWarp prst="textNoShape">
              <a:avLst/>
            </a:prstTxWarp>
          </a:bodyPr>
          <a:lstStyle/>
          <a:p>
            <a:pPr>
              <a:spcBef>
                <a:spcPct val="0"/>
              </a:spcBef>
            </a:pPr>
            <a:r>
              <a:rPr lang="en-US" smtClean="0"/>
              <a:t>The GAPSC, in collaboration with DOE, is responsible for the implementation of NCLB particularly the “Highly Qualified” teacher program</a:t>
            </a:r>
          </a:p>
          <a:p>
            <a:pPr>
              <a:spcBef>
                <a:spcPct val="0"/>
              </a:spcBef>
            </a:pPr>
            <a:endParaRPr lang="en-US" smtClean="0"/>
          </a:p>
          <a:p>
            <a:pPr>
              <a:spcBef>
                <a:spcPct val="0"/>
              </a:spcBef>
            </a:pPr>
            <a:r>
              <a:rPr lang="en-US" smtClean="0"/>
              <a:t>We utilize data from many sources, our Certification records, the tri-annual CPI reports and the Student Records</a:t>
            </a:r>
          </a:p>
          <a:p>
            <a:pPr>
              <a:spcBef>
                <a:spcPct val="0"/>
              </a:spcBef>
            </a:pPr>
            <a:endParaRPr lang="en-US" smtClean="0"/>
          </a:p>
          <a:p>
            <a:pPr>
              <a:spcBef>
                <a:spcPct val="0"/>
              </a:spcBef>
            </a:pPr>
            <a:r>
              <a:rPr lang="en-US" smtClean="0"/>
              <a:t>Assist schools in ensuring that all students, including the poor and minority students have access and equitable opportunities to highly qualified instruction.</a:t>
            </a:r>
          </a:p>
          <a:p>
            <a:pPr>
              <a:spcBef>
                <a:spcPct val="0"/>
              </a:spcBef>
            </a:pPr>
            <a:endParaRPr lang="en-US" smtClean="0"/>
          </a:p>
          <a:p>
            <a:pPr>
              <a:spcBef>
                <a:spcPct val="0"/>
              </a:spcBef>
            </a:pPr>
            <a:r>
              <a:rPr lang="en-US" smtClean="0"/>
              <a:t>These measures include teachers’ instructional experience, ability to meet the diverse learning needs, and classroom size</a:t>
            </a:r>
          </a:p>
          <a:p>
            <a:pPr>
              <a:spcBef>
                <a:spcPct val="0"/>
              </a:spcBef>
            </a:pPr>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0" tIns="45716" rIns="91430" bIns="45716" anchor="b"/>
          <a:lstStyle/>
          <a:p>
            <a:pPr algn="r" defTabSz="931863"/>
            <a:fld id="{609EC5A3-4567-4DF4-987C-9ADBC75A9BB9}" type="slidenum">
              <a:rPr lang="en-US" sz="1200">
                <a:cs typeface="Arial" charset="0"/>
              </a:rPr>
              <a:pPr algn="r" defTabSz="931863"/>
              <a:t>52</a:t>
            </a:fld>
            <a:endParaRPr lang="en-US" sz="1200">
              <a:cs typeface="Arial" charset="0"/>
            </a:endParaRPr>
          </a:p>
        </p:txBody>
      </p:sp>
      <p:sp>
        <p:nvSpPr>
          <p:cNvPr id="1167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6740" name="Rectangle 3"/>
          <p:cNvSpPr>
            <a:spLocks noGrp="1" noChangeArrowheads="1"/>
          </p:cNvSpPr>
          <p:nvPr>
            <p:ph type="body" idx="1"/>
          </p:nvPr>
        </p:nvSpPr>
        <p:spPr bwMode="auto">
          <a:noFill/>
        </p:spPr>
        <p:txBody>
          <a:bodyPr wrap="square" lIns="91430" tIns="45716" rIns="91430" bIns="45716" numCol="1" anchor="t" anchorCtr="0" compatLnSpc="1">
            <a:prstTxWarp prst="textNoShape">
              <a:avLst/>
            </a:prstTxWarp>
          </a:bodyPr>
          <a:lstStyle/>
          <a:p>
            <a:pPr>
              <a:spcBef>
                <a:spcPct val="0"/>
              </a:spcBef>
            </a:pPr>
            <a:r>
              <a:rPr lang="en-US" smtClean="0"/>
              <a:t>The GAPSC, in collaboration with DOE, is responsible for the implementation of NCLB particularly the “Highly Qualified” teacher program</a:t>
            </a:r>
          </a:p>
          <a:p>
            <a:pPr>
              <a:spcBef>
                <a:spcPct val="0"/>
              </a:spcBef>
            </a:pPr>
            <a:endParaRPr lang="en-US" smtClean="0"/>
          </a:p>
          <a:p>
            <a:pPr>
              <a:spcBef>
                <a:spcPct val="0"/>
              </a:spcBef>
            </a:pPr>
            <a:r>
              <a:rPr lang="en-US" smtClean="0"/>
              <a:t>We utilize data from many sources, our Certification records, the tri-annual CPI reports and the Student Records</a:t>
            </a:r>
          </a:p>
          <a:p>
            <a:pPr>
              <a:spcBef>
                <a:spcPct val="0"/>
              </a:spcBef>
            </a:pPr>
            <a:endParaRPr lang="en-US" smtClean="0"/>
          </a:p>
          <a:p>
            <a:pPr>
              <a:spcBef>
                <a:spcPct val="0"/>
              </a:spcBef>
            </a:pPr>
            <a:r>
              <a:rPr lang="en-US" smtClean="0"/>
              <a:t>Assist schools in ensuring that all students, including the poor and minority students have access and equitable opportunities to highly qualified instruction.</a:t>
            </a:r>
          </a:p>
          <a:p>
            <a:pPr>
              <a:spcBef>
                <a:spcPct val="0"/>
              </a:spcBef>
            </a:pPr>
            <a:endParaRPr lang="en-US" smtClean="0"/>
          </a:p>
          <a:p>
            <a:pPr>
              <a:spcBef>
                <a:spcPct val="0"/>
              </a:spcBef>
            </a:pPr>
            <a:r>
              <a:rPr lang="en-US" smtClean="0"/>
              <a:t>These measures include teachers’ instructional experience, ability to meet the diverse learning needs, and classroom size</a:t>
            </a:r>
          </a:p>
          <a:p>
            <a:pPr>
              <a:spcBef>
                <a:spcPct val="0"/>
              </a:spcBef>
            </a:pPr>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0" tIns="45716" rIns="91430" bIns="45716" anchor="b"/>
          <a:lstStyle/>
          <a:p>
            <a:pPr algn="r" defTabSz="931863"/>
            <a:fld id="{4ACA1D29-69D3-499C-BDAA-286482B214A6}" type="slidenum">
              <a:rPr lang="en-US" sz="1200">
                <a:cs typeface="Arial" charset="0"/>
              </a:rPr>
              <a:pPr algn="r" defTabSz="931863"/>
              <a:t>53</a:t>
            </a:fld>
            <a:endParaRPr lang="en-US" sz="1200">
              <a:cs typeface="Arial" charset="0"/>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4" name="Rectangle 3"/>
          <p:cNvSpPr>
            <a:spLocks noGrp="1" noChangeArrowheads="1"/>
          </p:cNvSpPr>
          <p:nvPr>
            <p:ph type="body" idx="1"/>
          </p:nvPr>
        </p:nvSpPr>
        <p:spPr bwMode="auto">
          <a:noFill/>
        </p:spPr>
        <p:txBody>
          <a:bodyPr wrap="square" lIns="91430" tIns="45716" rIns="91430" bIns="45716" numCol="1" anchor="t" anchorCtr="0" compatLnSpc="1">
            <a:prstTxWarp prst="textNoShape">
              <a:avLst/>
            </a:prstTxWarp>
          </a:bodyPr>
          <a:lstStyle/>
          <a:p>
            <a:pPr>
              <a:spcBef>
                <a:spcPct val="0"/>
              </a:spcBef>
            </a:pPr>
            <a:r>
              <a:rPr lang="en-US" smtClean="0"/>
              <a:t>The GAPSC, in collaboration with DOE, is responsible for the implementation of NCLB particularly the “Highly Qualified” teacher program</a:t>
            </a:r>
          </a:p>
          <a:p>
            <a:pPr>
              <a:spcBef>
                <a:spcPct val="0"/>
              </a:spcBef>
            </a:pPr>
            <a:endParaRPr lang="en-US" smtClean="0"/>
          </a:p>
          <a:p>
            <a:pPr>
              <a:spcBef>
                <a:spcPct val="0"/>
              </a:spcBef>
            </a:pPr>
            <a:r>
              <a:rPr lang="en-US" smtClean="0"/>
              <a:t>We utilize data from many sources, our Certification records, the tri-annual CPI reports and the Student Records</a:t>
            </a:r>
          </a:p>
          <a:p>
            <a:pPr>
              <a:spcBef>
                <a:spcPct val="0"/>
              </a:spcBef>
            </a:pPr>
            <a:endParaRPr lang="en-US" smtClean="0"/>
          </a:p>
          <a:p>
            <a:pPr>
              <a:spcBef>
                <a:spcPct val="0"/>
              </a:spcBef>
            </a:pPr>
            <a:r>
              <a:rPr lang="en-US" smtClean="0"/>
              <a:t>Assist schools in ensuring that all students, including the poor and minority students have access and equitable opportunities to highly qualified instruction.</a:t>
            </a:r>
          </a:p>
          <a:p>
            <a:pPr>
              <a:spcBef>
                <a:spcPct val="0"/>
              </a:spcBef>
            </a:pPr>
            <a:endParaRPr lang="en-US" smtClean="0"/>
          </a:p>
          <a:p>
            <a:pPr>
              <a:spcBef>
                <a:spcPct val="0"/>
              </a:spcBef>
            </a:pPr>
            <a:r>
              <a:rPr lang="en-US" smtClean="0"/>
              <a:t>These measures include teachers’ instructional experience, ability to meet the diverse learning needs, and classroom size</a:t>
            </a:r>
          </a:p>
          <a:p>
            <a:pPr>
              <a:spcBef>
                <a:spcPct val="0"/>
              </a:spcBef>
            </a:pPr>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430" tIns="45716" rIns="91430" bIns="45716" anchor="b"/>
          <a:lstStyle/>
          <a:p>
            <a:pPr algn="r" defTabSz="931863"/>
            <a:fld id="{4B837FC1-61B0-4164-ABD1-B33103738DA4}" type="slidenum">
              <a:rPr lang="en-US" sz="1200">
                <a:cs typeface="Arial" charset="0"/>
              </a:rPr>
              <a:pPr algn="r" defTabSz="931863"/>
              <a:t>54</a:t>
            </a:fld>
            <a:endParaRPr lang="en-US" sz="1200">
              <a:cs typeface="Arial" charset="0"/>
            </a:endParaRPr>
          </a:p>
        </p:txBody>
      </p:sp>
      <p:sp>
        <p:nvSpPr>
          <p:cNvPr id="1095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9572" name="Rectangle 3"/>
          <p:cNvSpPr>
            <a:spLocks noGrp="1" noChangeArrowheads="1"/>
          </p:cNvSpPr>
          <p:nvPr>
            <p:ph type="body" idx="1"/>
          </p:nvPr>
        </p:nvSpPr>
        <p:spPr bwMode="auto">
          <a:noFill/>
        </p:spPr>
        <p:txBody>
          <a:bodyPr wrap="square" lIns="91430" tIns="45716" rIns="91430" bIns="45716" numCol="1" anchor="t" anchorCtr="0" compatLnSpc="1">
            <a:prstTxWarp prst="textNoShape">
              <a:avLst/>
            </a:prstTxWarp>
          </a:bodyPr>
          <a:lstStyle/>
          <a:p>
            <a:pPr>
              <a:spcBef>
                <a:spcPct val="0"/>
              </a:spcBef>
            </a:pPr>
            <a:r>
              <a:rPr lang="en-US" smtClean="0"/>
              <a:t>The GAPSC, in collaboration with DOE, is responsible for the implementation of NCLB particularly the “Highly Qualified” teacher program</a:t>
            </a:r>
          </a:p>
          <a:p>
            <a:pPr>
              <a:spcBef>
                <a:spcPct val="0"/>
              </a:spcBef>
            </a:pPr>
            <a:endParaRPr lang="en-US" smtClean="0"/>
          </a:p>
          <a:p>
            <a:pPr>
              <a:spcBef>
                <a:spcPct val="0"/>
              </a:spcBef>
            </a:pPr>
            <a:r>
              <a:rPr lang="en-US" smtClean="0"/>
              <a:t>We utilize data from many sources, our Certification records, the tri-annual CPI reports and the Student Records</a:t>
            </a:r>
          </a:p>
          <a:p>
            <a:pPr>
              <a:spcBef>
                <a:spcPct val="0"/>
              </a:spcBef>
            </a:pPr>
            <a:endParaRPr lang="en-US" smtClean="0"/>
          </a:p>
          <a:p>
            <a:pPr>
              <a:spcBef>
                <a:spcPct val="0"/>
              </a:spcBef>
            </a:pPr>
            <a:r>
              <a:rPr lang="en-US" smtClean="0"/>
              <a:t>Assist schools in ensuring that all students, including the poor and minority students have access and equitable opportunities to highly qualified instruction.</a:t>
            </a:r>
          </a:p>
          <a:p>
            <a:pPr>
              <a:spcBef>
                <a:spcPct val="0"/>
              </a:spcBef>
            </a:pPr>
            <a:endParaRPr lang="en-US" smtClean="0"/>
          </a:p>
          <a:p>
            <a:pPr>
              <a:spcBef>
                <a:spcPct val="0"/>
              </a:spcBef>
            </a:pPr>
            <a:r>
              <a:rPr lang="en-US" smtClean="0"/>
              <a:t>These measures include teachers’ instructional experience, ability to meet the diverse learning needs, and classroom size</a:t>
            </a:r>
          </a:p>
          <a:p>
            <a:pPr>
              <a:spcBef>
                <a:spcPct val="0"/>
              </a:spcBef>
            </a:pPr>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55</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56</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57</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58</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59</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60</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61</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62</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63</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64</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65</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66</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3FF002-6F81-48DB-AC57-3FFC2C1EC3A3}" type="slidenum">
              <a:rPr lang="en-US" smtClean="0"/>
              <a:pPr/>
              <a:t>69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DF3157-2B0F-4D2E-A985-15A9304C9CC1}" type="datetimeFigureOut">
              <a:rPr lang="en-US" smtClean="0"/>
              <a:pPr/>
              <a:t>12/2/2011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714F9DB-8023-4D62-BD0C-42FAA97F0FD4}"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dirty="0" smtClean="0"/>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D7A7E9ED-FE85-472A-8A8E-FF998CD5DD33}"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DF3157-2B0F-4D2E-A985-15A9304C9CC1}" type="datetimeFigureOut">
              <a:rPr lang="en-US" smtClean="0"/>
              <a:pPr/>
              <a:t>12/2/2011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4F9DB-8023-4D62-BD0C-42FAA97F0FD4}"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w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www.gapsc.org/"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3.jpe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8" Type="http://schemas.openxmlformats.org/officeDocument/2006/relationships/hyperlink" Target="http://www.gapsc.com/Policies_guidelines/documents/CertUpgrades_Institutions_byInstitution_20110701.pdf" TargetMode="External"/><Relationship Id="rId3" Type="http://schemas.openxmlformats.org/officeDocument/2006/relationships/hyperlink" Target="http://www.gapsc.com/EducatorPreparation/ApprovedPrograms/EducationProgram.asp" TargetMode="External"/><Relationship Id="rId7" Type="http://schemas.openxmlformats.org/officeDocument/2006/relationships/hyperlink" Target="http://www.gapsc.com/Policies_guidelines/documents/CertUpgrades_Institutions_20110701.pdf" TargetMode="External"/><Relationship Id="rId2" Type="http://schemas.openxmlformats.org/officeDocument/2006/relationships/hyperlink" Target="http://www.gapsc.com/Policies_guidelines/documents/Certificate_Field_codes.pdf" TargetMode="External"/><Relationship Id="rId1" Type="http://schemas.openxmlformats.org/officeDocument/2006/relationships/slideLayout" Target="../slideLayouts/slideLayout12.xml"/><Relationship Id="rId6" Type="http://schemas.openxmlformats.org/officeDocument/2006/relationships/hyperlink" Target="http://www.gapsc.com/Policies_guidelines/documents/Ed_Prep_State_Contacts.pdf" TargetMode="External"/><Relationship Id="rId5" Type="http://schemas.openxmlformats.org/officeDocument/2006/relationships/hyperlink" Target="http://www.gapsc.com/Policies_guidelines/documents/Program_Infield_Upgrade_Alignment_matrix.pdf" TargetMode="External"/><Relationship Id="rId10" Type="http://schemas.openxmlformats.org/officeDocument/2006/relationships/image" Target="../media/image3.jpeg"/><Relationship Id="rId4" Type="http://schemas.openxmlformats.org/officeDocument/2006/relationships/hyperlink" Target="http://www.gapsc.com/Policies_guidelines/documents/Certification_Upgrade_Advisement_Sheet.pdf" TargetMode="External"/><Relationship Id="rId9"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3.jpe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3.jpe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3.jpe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3.jpe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3.jpe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3.jpeg"/></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3.jpe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3.jpe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jpe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3.jpe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tags" Target="../tags/tag1.xml"/><Relationship Id="rId5" Type="http://schemas.openxmlformats.org/officeDocument/2006/relationships/image" Target="../media/image5.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5.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3.jpe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3.jpe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jpeg"/><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5.xml.rels><?xml version="1.0" encoding="UTF-8" standalone="yes"?>
<Relationships xmlns="http://schemas.openxmlformats.org/package/2006/relationships"><Relationship Id="rId3" Type="http://schemas.openxmlformats.org/officeDocument/2006/relationships/hyperlink" Target="http://www.gapsc.com/" TargetMode="External"/><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jpe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7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3"/>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pic>
        <p:nvPicPr>
          <p:cNvPr id="2051" name="Picture 6" descr="new gace logo"/>
          <p:cNvPicPr>
            <a:picLocks noChangeAspect="1" noChangeArrowheads="1"/>
          </p:cNvPicPr>
          <p:nvPr/>
        </p:nvPicPr>
        <p:blipFill>
          <a:blip r:embed="rId3" cstate="print"/>
          <a:srcRect/>
          <a:stretch>
            <a:fillRect/>
          </a:stretch>
        </p:blipFill>
        <p:spPr bwMode="auto">
          <a:xfrm>
            <a:off x="914400" y="533400"/>
            <a:ext cx="7239000" cy="2360613"/>
          </a:xfrm>
          <a:prstGeom prst="rect">
            <a:avLst/>
          </a:prstGeom>
          <a:noFill/>
          <a:ln w="9525">
            <a:noFill/>
            <a:miter lim="800000"/>
            <a:headEnd/>
            <a:tailEnd/>
          </a:ln>
        </p:spPr>
      </p:pic>
      <p:sp>
        <p:nvSpPr>
          <p:cNvPr id="5" name="Rectangle 2"/>
          <p:cNvSpPr txBox="1">
            <a:spLocks noChangeArrowheads="1"/>
          </p:cNvSpPr>
          <p:nvPr/>
        </p:nvSpPr>
        <p:spPr>
          <a:xfrm>
            <a:off x="228600" y="2971800"/>
            <a:ext cx="8686800" cy="1600200"/>
          </a:xfrm>
          <a:prstGeom prst="rect">
            <a:avLst/>
          </a:prstGeom>
          <a:solidFill>
            <a:srgbClr val="A71C1F"/>
          </a:solidFill>
          <a:ln w="3175">
            <a:solidFill>
              <a:srgbClr val="E7C581"/>
            </a:solidFill>
          </a:ln>
        </p:spPr>
        <p:txBody>
          <a:bodyPr/>
          <a:lstStyle/>
          <a:p>
            <a:pPr algn="ctr">
              <a:defRPr/>
            </a:pPr>
            <a:r>
              <a:rPr lang="en-US" sz="2400" kern="0" dirty="0">
                <a:latin typeface="+mj-lt"/>
                <a:ea typeface="+mj-ea"/>
                <a:cs typeface="+mj-cs"/>
              </a:rPr>
              <a:t> </a:t>
            </a:r>
            <a:br>
              <a:rPr lang="en-US" sz="2400" kern="0" dirty="0">
                <a:latin typeface="+mj-lt"/>
                <a:ea typeface="+mj-ea"/>
                <a:cs typeface="+mj-cs"/>
              </a:rPr>
            </a:br>
            <a:r>
              <a:rPr lang="en-US" sz="4000" b="1" kern="0" dirty="0" smtClean="0">
                <a:solidFill>
                  <a:schemeClr val="bg1"/>
                </a:solidFill>
                <a:latin typeface="+mj-lt"/>
                <a:ea typeface="+mj-ea"/>
                <a:cs typeface="+mj-cs"/>
              </a:rPr>
              <a:t>Certification and Technology Update</a:t>
            </a:r>
          </a:p>
        </p:txBody>
      </p:sp>
      <p:sp>
        <p:nvSpPr>
          <p:cNvPr id="2053" name="Rectangle 5"/>
          <p:cNvSpPr>
            <a:spLocks noChangeArrowheads="1"/>
          </p:cNvSpPr>
          <p:nvPr/>
        </p:nvSpPr>
        <p:spPr bwMode="auto">
          <a:xfrm>
            <a:off x="1874838" y="4800600"/>
            <a:ext cx="5668962" cy="830997"/>
          </a:xfrm>
          <a:prstGeom prst="rect">
            <a:avLst/>
          </a:prstGeom>
          <a:noFill/>
          <a:ln w="9525">
            <a:noFill/>
            <a:miter lim="800000"/>
            <a:headEnd/>
            <a:tailEnd/>
          </a:ln>
        </p:spPr>
        <p:txBody>
          <a:bodyPr>
            <a:spAutoFit/>
          </a:bodyPr>
          <a:lstStyle/>
          <a:p>
            <a:pPr algn="ctr"/>
            <a:r>
              <a:rPr lang="en-US" sz="2400" b="1" dirty="0" smtClean="0"/>
              <a:t>GASPA</a:t>
            </a:r>
            <a:endParaRPr lang="en-US" sz="2400" b="1" dirty="0">
              <a:solidFill>
                <a:schemeClr val="tx1"/>
              </a:solidFill>
            </a:endParaRPr>
          </a:p>
          <a:p>
            <a:pPr algn="ctr"/>
            <a:r>
              <a:rPr lang="en-US" sz="2400" b="1" dirty="0" smtClean="0">
                <a:solidFill>
                  <a:schemeClr val="tx1"/>
                </a:solidFill>
              </a:rPr>
              <a:t>December 2, </a:t>
            </a:r>
            <a:r>
              <a:rPr lang="en-US" sz="2400" b="1" dirty="0">
                <a:solidFill>
                  <a:schemeClr val="tx1"/>
                </a:solidFill>
              </a:rPr>
              <a:t>2011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
        <p:nvSpPr>
          <p:cNvPr id="8" name="Text Placeholder 7"/>
          <p:cNvSpPr>
            <a:spLocks noGrp="1"/>
          </p:cNvSpPr>
          <p:nvPr>
            <p:ph type="body" sz="half" idx="1"/>
          </p:nvPr>
        </p:nvSpPr>
        <p:spPr>
          <a:xfrm>
            <a:off x="1143000" y="1600200"/>
            <a:ext cx="6629400" cy="4800600"/>
          </a:xfrm>
        </p:spPr>
        <p:txBody>
          <a:bodyPr>
            <a:normAutofit/>
          </a:bodyPr>
          <a:lstStyle/>
          <a:p>
            <a:pPr>
              <a:buNone/>
            </a:pPr>
            <a:r>
              <a:rPr lang="en-US" b="1" dirty="0" smtClean="0"/>
              <a:t>Kelli Young</a:t>
            </a:r>
          </a:p>
          <a:p>
            <a:pPr>
              <a:buNone/>
            </a:pPr>
            <a:r>
              <a:rPr lang="en-US" b="1" dirty="0" smtClean="0"/>
              <a:t>Assistant Director, Certification</a:t>
            </a:r>
          </a:p>
          <a:p>
            <a:pPr>
              <a:buNone/>
            </a:pPr>
            <a:endParaRPr lang="en-US" b="1" dirty="0" smtClean="0"/>
          </a:p>
          <a:p>
            <a:pPr>
              <a:buNone/>
            </a:pPr>
            <a:r>
              <a:rPr lang="en-US" b="1" dirty="0" smtClean="0"/>
              <a:t>Rose Wilson</a:t>
            </a:r>
          </a:p>
          <a:p>
            <a:pPr>
              <a:buNone/>
            </a:pPr>
            <a:r>
              <a:rPr lang="en-US" b="1" dirty="0" smtClean="0"/>
              <a:t>RT3 Project Coordinator</a:t>
            </a:r>
          </a:p>
          <a:p>
            <a:pPr>
              <a:buNone/>
            </a:pPr>
            <a:endParaRPr lang="en-US" b="1" dirty="0" smtClean="0"/>
          </a:p>
          <a:p>
            <a:pPr>
              <a:buNone/>
            </a:pPr>
            <a:r>
              <a:rPr lang="en-US" b="1" dirty="0" smtClean="0"/>
              <a:t>Chuck McCampbell</a:t>
            </a:r>
          </a:p>
          <a:p>
            <a:pPr>
              <a:buNone/>
            </a:pPr>
            <a:r>
              <a:rPr lang="en-US" b="1" dirty="0" smtClean="0"/>
              <a:t>CIO</a:t>
            </a:r>
          </a:p>
        </p:txBody>
      </p:sp>
      <p:sp>
        <p:nvSpPr>
          <p:cNvPr id="9" name="Title 8"/>
          <p:cNvSpPr>
            <a:spLocks noGrp="1"/>
          </p:cNvSpPr>
          <p:nvPr>
            <p:ph type="title"/>
          </p:nvPr>
        </p:nvSpPr>
        <p:spPr/>
        <p:txBody>
          <a:bodyPr>
            <a:normAutofit/>
          </a:bodyPr>
          <a:lstStyle/>
          <a:p>
            <a:pPr algn="l"/>
            <a:r>
              <a:rPr lang="en-US" b="1" dirty="0" smtClean="0">
                <a:solidFill>
                  <a:srgbClr val="A71C1F"/>
                </a:solidFill>
              </a:rPr>
              <a:t>Presenters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lipperysurface.jpg"/>
          <p:cNvPicPr>
            <a:picLocks noChangeAspect="1"/>
          </p:cNvPicPr>
          <p:nvPr/>
        </p:nvPicPr>
        <p:blipFill>
          <a:blip r:embed="rId2" cstate="print"/>
          <a:stretch>
            <a:fillRect/>
          </a:stretch>
        </p:blipFill>
        <p:spPr>
          <a:xfrm>
            <a:off x="411480" y="457200"/>
            <a:ext cx="8351520" cy="59653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457200" y="274638"/>
            <a:ext cx="8229600" cy="1401762"/>
          </a:xfrm>
        </p:spPr>
        <p:txBody>
          <a:bodyPr>
            <a:normAutofit/>
          </a:bodyPr>
          <a:lstStyle/>
          <a:p>
            <a:pPr algn="l"/>
            <a:r>
              <a:rPr lang="en-US" b="1" dirty="0" smtClean="0">
                <a:solidFill>
                  <a:srgbClr val="A71C1F"/>
                </a:solidFill>
              </a:rPr>
              <a:t>Agenda</a:t>
            </a:r>
          </a:p>
        </p:txBody>
      </p:sp>
      <p:sp>
        <p:nvSpPr>
          <p:cNvPr id="3075" name="Rectangle 3"/>
          <p:cNvSpPr>
            <a:spLocks noGrp="1" noChangeArrowheads="1"/>
          </p:cNvSpPr>
          <p:nvPr>
            <p:ph type="body" sz="half" idx="1"/>
          </p:nvPr>
        </p:nvSpPr>
        <p:spPr>
          <a:xfrm>
            <a:off x="228600" y="1752600"/>
            <a:ext cx="8610600" cy="4373563"/>
          </a:xfrm>
        </p:spPr>
        <p:txBody>
          <a:bodyPr>
            <a:normAutofit lnSpcReduction="10000"/>
          </a:bodyPr>
          <a:lstStyle/>
          <a:p>
            <a:pPr marL="609600" indent="-325438">
              <a:lnSpc>
                <a:spcPct val="80000"/>
              </a:lnSpc>
              <a:spcAft>
                <a:spcPts val="600"/>
              </a:spcAft>
              <a:buFont typeface="Arial" charset="0"/>
              <a:buNone/>
            </a:pPr>
            <a:r>
              <a:rPr lang="en-US" sz="2600" b="1" dirty="0" smtClean="0"/>
              <a:t>Certification Update and HR Hotline</a:t>
            </a:r>
          </a:p>
          <a:p>
            <a:pPr marL="609600" indent="-325438">
              <a:lnSpc>
                <a:spcPct val="80000"/>
              </a:lnSpc>
              <a:spcAft>
                <a:spcPts val="600"/>
              </a:spcAft>
              <a:buFont typeface="Arial" charset="0"/>
              <a:buNone/>
            </a:pPr>
            <a:r>
              <a:rPr lang="en-US" sz="2600" b="1" dirty="0" smtClean="0"/>
              <a:t>Training and Outreach</a:t>
            </a:r>
          </a:p>
          <a:p>
            <a:pPr marL="609600" indent="-325438">
              <a:lnSpc>
                <a:spcPct val="80000"/>
              </a:lnSpc>
              <a:spcAft>
                <a:spcPts val="600"/>
              </a:spcAft>
              <a:buFont typeface="Arial" charset="0"/>
              <a:buNone/>
            </a:pPr>
            <a:r>
              <a:rPr lang="en-US" sz="2600" b="1" dirty="0" smtClean="0"/>
              <a:t>Viewing Correspondence Online</a:t>
            </a:r>
          </a:p>
          <a:p>
            <a:pPr marL="609600" indent="-325438">
              <a:lnSpc>
                <a:spcPct val="80000"/>
              </a:lnSpc>
              <a:spcAft>
                <a:spcPts val="600"/>
              </a:spcAft>
              <a:buFont typeface="Arial" charset="0"/>
              <a:buNone/>
            </a:pPr>
            <a:r>
              <a:rPr lang="en-US" sz="2600" b="1" dirty="0" smtClean="0"/>
              <a:t>New Rules Effective 10/15/11</a:t>
            </a:r>
          </a:p>
          <a:p>
            <a:pPr marL="609600" indent="-325438">
              <a:lnSpc>
                <a:spcPct val="80000"/>
              </a:lnSpc>
              <a:spcAft>
                <a:spcPts val="600"/>
              </a:spcAft>
              <a:buFont typeface="Arial" charset="0"/>
              <a:buNone/>
            </a:pPr>
            <a:r>
              <a:rPr lang="en-US" sz="2600" b="1" dirty="0" smtClean="0"/>
              <a:t>Upcoming Rule Changes</a:t>
            </a:r>
          </a:p>
          <a:p>
            <a:pPr marL="609600" indent="-325438">
              <a:lnSpc>
                <a:spcPct val="80000"/>
              </a:lnSpc>
              <a:spcAft>
                <a:spcPts val="600"/>
              </a:spcAft>
              <a:buFont typeface="Arial" charset="0"/>
              <a:buNone/>
            </a:pPr>
            <a:r>
              <a:rPr lang="en-US" sz="2600" b="1" dirty="0" smtClean="0"/>
              <a:t>Upgrade Update / An Online Upgrade Advisor</a:t>
            </a:r>
          </a:p>
          <a:p>
            <a:pPr marL="609600" indent="-325438">
              <a:lnSpc>
                <a:spcPct val="80000"/>
              </a:lnSpc>
              <a:spcAft>
                <a:spcPts val="600"/>
              </a:spcAft>
              <a:buFont typeface="Arial" charset="0"/>
              <a:buNone/>
            </a:pPr>
            <a:r>
              <a:rPr lang="en-US" sz="2600" b="1" dirty="0" smtClean="0"/>
              <a:t>Leadership and the “Certificate Level” </a:t>
            </a:r>
          </a:p>
          <a:p>
            <a:pPr marL="609600" indent="-325438">
              <a:lnSpc>
                <a:spcPct val="80000"/>
              </a:lnSpc>
              <a:spcAft>
                <a:spcPts val="600"/>
              </a:spcAft>
              <a:buFont typeface="Arial" charset="0"/>
              <a:buNone/>
            </a:pPr>
            <a:r>
              <a:rPr lang="en-US" sz="2600" b="1" dirty="0" smtClean="0"/>
              <a:t>www.gapsc.com</a:t>
            </a:r>
          </a:p>
          <a:p>
            <a:pPr marL="609600" indent="-325438">
              <a:lnSpc>
                <a:spcPct val="80000"/>
              </a:lnSpc>
              <a:spcAft>
                <a:spcPts val="600"/>
              </a:spcAft>
              <a:buFont typeface="Arial" charset="0"/>
              <a:buNone/>
            </a:pPr>
            <a:r>
              <a:rPr lang="en-US" sz="2600" b="1" dirty="0" smtClean="0"/>
              <a:t>HiQ</a:t>
            </a:r>
          </a:p>
          <a:p>
            <a:pPr marL="609600" indent="-325438">
              <a:lnSpc>
                <a:spcPct val="80000"/>
              </a:lnSpc>
              <a:spcAft>
                <a:spcPts val="600"/>
              </a:spcAft>
              <a:buFont typeface="Arial" charset="0"/>
              <a:buNone/>
            </a:pPr>
            <a:r>
              <a:rPr lang="en-US" sz="2600" b="1" dirty="0" smtClean="0"/>
              <a:t>RT3</a:t>
            </a:r>
          </a:p>
          <a:p>
            <a:pPr marL="609600" indent="-325438">
              <a:lnSpc>
                <a:spcPct val="80000"/>
              </a:lnSpc>
              <a:spcAft>
                <a:spcPts val="600"/>
              </a:spcAft>
              <a:buFont typeface="Arial" charset="0"/>
              <a:buNone/>
            </a:pPr>
            <a:endParaRPr lang="en-US" sz="2600" b="1" dirty="0" smtClean="0"/>
          </a:p>
        </p:txBody>
      </p:sp>
      <p:sp>
        <p:nvSpPr>
          <p:cNvPr id="17411"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17412"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17413"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17414"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idx="4294967295"/>
          </p:nvPr>
        </p:nvSpPr>
        <p:spPr>
          <a:xfrm>
            <a:off x="228600" y="152400"/>
            <a:ext cx="8229600" cy="1143000"/>
          </a:xfrm>
        </p:spPr>
        <p:txBody>
          <a:bodyPr>
            <a:normAutofit/>
          </a:bodyPr>
          <a:lstStyle/>
          <a:p>
            <a:pPr algn="l"/>
            <a:r>
              <a:rPr lang="en-US" b="1" dirty="0" smtClean="0">
                <a:solidFill>
                  <a:srgbClr val="A71C1F"/>
                </a:solidFill>
              </a:rPr>
              <a:t>Certification Facts</a:t>
            </a:r>
          </a:p>
        </p:txBody>
      </p:sp>
      <p:sp>
        <p:nvSpPr>
          <p:cNvPr id="72707"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pPr algn="ctr"/>
            <a:endParaRPr lang="en-US">
              <a:solidFill>
                <a:schemeClr val="bg1"/>
              </a:solidFill>
              <a:latin typeface="Calibri" pitchFamily="34" charset="0"/>
            </a:endParaRPr>
          </a:p>
        </p:txBody>
      </p:sp>
      <p:sp>
        <p:nvSpPr>
          <p:cNvPr id="72708"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solidFill>
                <a:schemeClr val="bg1"/>
              </a:solidFill>
              <a:latin typeface="Calibri" pitchFamily="34" charset="0"/>
            </a:endParaRPr>
          </a:p>
        </p:txBody>
      </p:sp>
      <p:pic>
        <p:nvPicPr>
          <p:cNvPr id="72709" name="Picture 7"/>
          <p:cNvPicPr>
            <a:picLocks noChangeAspect="1" noChangeArrowheads="1"/>
          </p:cNvPicPr>
          <p:nvPr/>
        </p:nvPicPr>
        <p:blipFill>
          <a:blip r:embed="rId2" cstate="print"/>
          <a:srcRect/>
          <a:stretch>
            <a:fillRect/>
          </a:stretch>
        </p:blipFill>
        <p:spPr bwMode="auto">
          <a:xfrm>
            <a:off x="8124825" y="76200"/>
            <a:ext cx="790575" cy="1295400"/>
          </a:xfrm>
          <a:prstGeom prst="rect">
            <a:avLst/>
          </a:prstGeom>
          <a:noFill/>
          <a:ln w="9525">
            <a:noFill/>
            <a:miter lim="800000"/>
            <a:headEnd/>
            <a:tailEnd/>
          </a:ln>
        </p:spPr>
      </p:pic>
      <p:graphicFrame>
        <p:nvGraphicFramePr>
          <p:cNvPr id="9" name="Chart 8"/>
          <p:cNvGraphicFramePr>
            <a:graphicFrameLocks noGrp="1"/>
          </p:cNvGraphicFramePr>
          <p:nvPr/>
        </p:nvGraphicFramePr>
        <p:xfrm>
          <a:off x="234109" y="1447800"/>
          <a:ext cx="8528892" cy="513133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457200" y="274638"/>
            <a:ext cx="8229600" cy="1401762"/>
          </a:xfrm>
        </p:spPr>
        <p:txBody>
          <a:bodyPr>
            <a:normAutofit/>
          </a:bodyPr>
          <a:lstStyle/>
          <a:p>
            <a:pPr algn="l"/>
            <a:r>
              <a:rPr lang="en-US" b="1" dirty="0" smtClean="0">
                <a:solidFill>
                  <a:srgbClr val="A71C1F"/>
                </a:solidFill>
              </a:rPr>
              <a:t>Certification Facts</a:t>
            </a:r>
          </a:p>
        </p:txBody>
      </p:sp>
      <p:sp>
        <p:nvSpPr>
          <p:cNvPr id="79875"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79876" name="Rectangle 5"/>
          <p:cNvSpPr>
            <a:spLocks noChangeArrowheads="1"/>
          </p:cNvSpPr>
          <p:nvPr/>
        </p:nvSpPr>
        <p:spPr bwMode="auto">
          <a:xfrm>
            <a:off x="260350" y="1295400"/>
            <a:ext cx="861060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79877"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79878"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79879" name="Rectangle 7"/>
          <p:cNvSpPr>
            <a:spLocks noChangeArrowheads="1"/>
          </p:cNvSpPr>
          <p:nvPr/>
        </p:nvSpPr>
        <p:spPr bwMode="auto">
          <a:xfrm>
            <a:off x="1676400" y="3352800"/>
            <a:ext cx="184150" cy="369888"/>
          </a:xfrm>
          <a:prstGeom prst="rect">
            <a:avLst/>
          </a:prstGeom>
          <a:noFill/>
          <a:ln w="9525">
            <a:noFill/>
            <a:miter lim="800000"/>
            <a:headEnd/>
            <a:tailEnd/>
          </a:ln>
        </p:spPr>
        <p:txBody>
          <a:bodyPr wrap="none">
            <a:spAutoFit/>
          </a:bodyPr>
          <a:lstStyle/>
          <a:p>
            <a:endParaRPr lang="en-US">
              <a:latin typeface="Calibri" pitchFamily="34" charset="0"/>
            </a:endParaRPr>
          </a:p>
        </p:txBody>
      </p:sp>
      <p:sp>
        <p:nvSpPr>
          <p:cNvPr id="3075" name="Rectangle 3"/>
          <p:cNvSpPr>
            <a:spLocks noChangeArrowheads="1"/>
          </p:cNvSpPr>
          <p:nvPr/>
        </p:nvSpPr>
        <p:spPr bwMode="auto">
          <a:xfrm>
            <a:off x="228600" y="1752600"/>
            <a:ext cx="8610600" cy="4373563"/>
          </a:xfrm>
          <a:prstGeom prst="rect">
            <a:avLst/>
          </a:prstGeom>
          <a:noFill/>
          <a:ln w="9525">
            <a:noFill/>
            <a:miter lim="800000"/>
            <a:headEnd/>
            <a:tailEnd/>
          </a:ln>
        </p:spPr>
        <p:txBody>
          <a:bodyPr/>
          <a:lstStyle/>
          <a:p>
            <a:pPr marL="609600" indent="-325438">
              <a:spcBef>
                <a:spcPct val="20000"/>
              </a:spcBef>
              <a:buFont typeface="Arial" charset="0"/>
              <a:buNone/>
            </a:pPr>
            <a:r>
              <a:rPr lang="en-US" sz="2800" b="1">
                <a:latin typeface="Calibri" pitchFamily="34" charset="0"/>
              </a:rPr>
              <a:t>FY11 counts:</a:t>
            </a:r>
          </a:p>
          <a:p>
            <a:pPr marL="609600" indent="-325438">
              <a:spcBef>
                <a:spcPct val="20000"/>
              </a:spcBef>
              <a:buFont typeface="Arial" charset="0"/>
              <a:buChar char="•"/>
            </a:pPr>
            <a:r>
              <a:rPr lang="en-US" sz="2800" b="1">
                <a:latin typeface="Calibri" pitchFamily="34" charset="0"/>
              </a:rPr>
              <a:t>Applications received:  40,674 (46,320 in FY10)</a:t>
            </a:r>
          </a:p>
          <a:p>
            <a:pPr marL="609600" indent="-325438">
              <a:spcBef>
                <a:spcPct val="20000"/>
              </a:spcBef>
              <a:buFont typeface="Arial" charset="0"/>
              <a:buChar char="•"/>
            </a:pPr>
            <a:r>
              <a:rPr lang="en-US" sz="2800" b="1">
                <a:latin typeface="Calibri" pitchFamily="34" charset="0"/>
              </a:rPr>
              <a:t>Educators newly certified: 10,538  (14,610 in FY10)</a:t>
            </a:r>
          </a:p>
          <a:p>
            <a:pPr marL="609600" indent="-325438">
              <a:spcBef>
                <a:spcPct val="20000"/>
              </a:spcBef>
              <a:buFont typeface="Arial" charset="0"/>
              <a:buChar char="•"/>
            </a:pPr>
            <a:r>
              <a:rPr lang="en-US" sz="2800" b="1">
                <a:latin typeface="Calibri" pitchFamily="34" charset="0"/>
              </a:rPr>
              <a:t>Educators renewed: 31,208 (39,851 in FY10)</a:t>
            </a:r>
          </a:p>
          <a:p>
            <a:pPr marL="609600" indent="-325438">
              <a:spcBef>
                <a:spcPct val="20000"/>
              </a:spcBef>
              <a:buFont typeface="Arial" charset="0"/>
              <a:buChar char="•"/>
            </a:pPr>
            <a:r>
              <a:rPr lang="en-US" sz="2800" b="1">
                <a:latin typeface="Calibri" pitchFamily="34" charset="0"/>
              </a:rPr>
              <a:t>Total documents processed: 276,145 (328,358 in FY10)</a:t>
            </a:r>
          </a:p>
          <a:p>
            <a:pPr marL="609600" indent="-325438">
              <a:spcBef>
                <a:spcPct val="20000"/>
              </a:spcBef>
              <a:buFont typeface="Arial" charset="0"/>
              <a:buChar char="•"/>
            </a:pPr>
            <a:r>
              <a:rPr lang="en-US" sz="2800" b="1">
                <a:latin typeface="Calibri" pitchFamily="34" charset="0"/>
              </a:rPr>
              <a:t>MyPSC accounts at end of FY11: 137,715 (74,231 at end of FY10)</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idx="4294967295"/>
          </p:nvPr>
        </p:nvSpPr>
        <p:spPr>
          <a:xfrm>
            <a:off x="304800" y="152400"/>
            <a:ext cx="8229600" cy="1143000"/>
          </a:xfrm>
        </p:spPr>
        <p:txBody>
          <a:bodyPr>
            <a:normAutofit/>
          </a:bodyPr>
          <a:lstStyle/>
          <a:p>
            <a:pPr algn="l"/>
            <a:r>
              <a:rPr lang="en-US" b="1" dirty="0" smtClean="0">
                <a:solidFill>
                  <a:srgbClr val="A71C1F"/>
                </a:solidFill>
              </a:rPr>
              <a:t>Certification Facts</a:t>
            </a:r>
          </a:p>
        </p:txBody>
      </p:sp>
      <p:sp>
        <p:nvSpPr>
          <p:cNvPr id="60419"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pPr algn="ctr"/>
            <a:endParaRPr lang="en-US">
              <a:solidFill>
                <a:schemeClr val="bg1"/>
              </a:solidFill>
              <a:latin typeface="Calibri" pitchFamily="34" charset="0"/>
            </a:endParaRPr>
          </a:p>
        </p:txBody>
      </p:sp>
      <p:sp>
        <p:nvSpPr>
          <p:cNvPr id="60420"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solidFill>
                <a:schemeClr val="bg1"/>
              </a:solidFill>
              <a:latin typeface="Calibri" pitchFamily="34" charset="0"/>
            </a:endParaRPr>
          </a:p>
        </p:txBody>
      </p:sp>
      <p:pic>
        <p:nvPicPr>
          <p:cNvPr id="60421" name="Picture 7"/>
          <p:cNvPicPr>
            <a:picLocks noChangeAspect="1" noChangeArrowheads="1"/>
          </p:cNvPicPr>
          <p:nvPr/>
        </p:nvPicPr>
        <p:blipFill>
          <a:blip r:embed="rId2" cstate="print"/>
          <a:srcRect/>
          <a:stretch>
            <a:fillRect/>
          </a:stretch>
        </p:blipFill>
        <p:spPr bwMode="auto">
          <a:xfrm>
            <a:off x="8124825" y="76200"/>
            <a:ext cx="790575" cy="1295400"/>
          </a:xfrm>
          <a:prstGeom prst="rect">
            <a:avLst/>
          </a:prstGeom>
          <a:noFill/>
          <a:ln w="9525">
            <a:noFill/>
            <a:miter lim="800000"/>
            <a:headEnd/>
            <a:tailEnd/>
          </a:ln>
        </p:spPr>
      </p:pic>
      <p:graphicFrame>
        <p:nvGraphicFramePr>
          <p:cNvPr id="9" name="Content Placeholder 8"/>
          <p:cNvGraphicFramePr>
            <a:graphicFrameLocks noGrp="1"/>
          </p:cNvGraphicFramePr>
          <p:nvPr>
            <p:ph idx="4294967295"/>
          </p:nvPr>
        </p:nvGraphicFramePr>
        <p:xfrm>
          <a:off x="304800" y="1371600"/>
          <a:ext cx="8382000" cy="5105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p:cNvSpPr>
          <p:nvPr>
            <p:ph type="title" idx="4294967295"/>
          </p:nvPr>
        </p:nvSpPr>
        <p:spPr>
          <a:xfrm>
            <a:off x="457200" y="274638"/>
            <a:ext cx="7696200" cy="944562"/>
          </a:xfrm>
        </p:spPr>
        <p:txBody>
          <a:bodyPr/>
          <a:lstStyle/>
          <a:p>
            <a:pPr algn="l"/>
            <a:r>
              <a:rPr lang="en-US" sz="3600" b="1" dirty="0" err="1" smtClean="0">
                <a:solidFill>
                  <a:srgbClr val="A71C1F"/>
                </a:solidFill>
              </a:rPr>
              <a:t>Certhelp</a:t>
            </a:r>
            <a:r>
              <a:rPr lang="en-US" sz="3600" b="1" dirty="0" smtClean="0">
                <a:solidFill>
                  <a:srgbClr val="A71C1F"/>
                </a:solidFill>
              </a:rPr>
              <a:t> Email Volume June - October</a:t>
            </a:r>
            <a:endParaRPr lang="en-US" dirty="0" smtClean="0"/>
          </a:p>
        </p:txBody>
      </p:sp>
      <p:sp>
        <p:nvSpPr>
          <p:cNvPr id="113700"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pPr algn="ctr"/>
            <a:endParaRPr lang="en-US">
              <a:solidFill>
                <a:schemeClr val="bg1"/>
              </a:solidFill>
              <a:latin typeface="Calibri" pitchFamily="34" charset="0"/>
              <a:cs typeface="Arial" charset="0"/>
            </a:endParaRPr>
          </a:p>
        </p:txBody>
      </p:sp>
      <p:pic>
        <p:nvPicPr>
          <p:cNvPr id="113701" name="Picture 7"/>
          <p:cNvPicPr>
            <a:picLocks noChangeAspect="1" noChangeArrowheads="1"/>
          </p:cNvPicPr>
          <p:nvPr/>
        </p:nvPicPr>
        <p:blipFill>
          <a:blip r:embed="rId2" cstate="print"/>
          <a:srcRect/>
          <a:stretch>
            <a:fillRect/>
          </a:stretch>
        </p:blipFill>
        <p:spPr bwMode="auto">
          <a:xfrm>
            <a:off x="8124825" y="76200"/>
            <a:ext cx="790575" cy="1295400"/>
          </a:xfrm>
          <a:prstGeom prst="rect">
            <a:avLst/>
          </a:prstGeom>
          <a:noFill/>
          <a:ln w="9525">
            <a:noFill/>
            <a:miter lim="800000"/>
            <a:headEnd/>
            <a:tailEnd/>
          </a:ln>
        </p:spPr>
      </p:pic>
      <p:sp>
        <p:nvSpPr>
          <p:cNvPr id="113702"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solidFill>
                <a:schemeClr val="bg1"/>
              </a:solidFill>
              <a:latin typeface="Calibri" pitchFamily="34" charset="0"/>
              <a:cs typeface="Arial" charset="0"/>
            </a:endParaRPr>
          </a:p>
        </p:txBody>
      </p:sp>
      <p:graphicFrame>
        <p:nvGraphicFramePr>
          <p:cNvPr id="41" name="Chart 40"/>
          <p:cNvGraphicFramePr/>
          <p:nvPr/>
        </p:nvGraphicFramePr>
        <p:xfrm>
          <a:off x="457200" y="1390650"/>
          <a:ext cx="8305800" cy="51625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idx="4294967295"/>
          </p:nvPr>
        </p:nvSpPr>
        <p:spPr>
          <a:xfrm>
            <a:off x="304800" y="152400"/>
            <a:ext cx="8229600" cy="1143000"/>
          </a:xfrm>
        </p:spPr>
        <p:txBody>
          <a:bodyPr/>
          <a:lstStyle/>
          <a:p>
            <a:pPr algn="l"/>
            <a:r>
              <a:rPr lang="en-US" sz="3600" b="1" dirty="0" err="1" smtClean="0">
                <a:solidFill>
                  <a:srgbClr val="A71C1F"/>
                </a:solidFill>
              </a:rPr>
              <a:t>Certhelp</a:t>
            </a:r>
            <a:r>
              <a:rPr lang="en-US" sz="3600" b="1" dirty="0" smtClean="0">
                <a:solidFill>
                  <a:srgbClr val="A71C1F"/>
                </a:solidFill>
              </a:rPr>
              <a:t> Email - Topics</a:t>
            </a:r>
          </a:p>
        </p:txBody>
      </p:sp>
      <p:sp>
        <p:nvSpPr>
          <p:cNvPr id="70659"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pPr algn="ctr"/>
            <a:endParaRPr lang="en-US">
              <a:solidFill>
                <a:schemeClr val="bg1"/>
              </a:solidFill>
              <a:latin typeface="Calibri" pitchFamily="34" charset="0"/>
            </a:endParaRPr>
          </a:p>
        </p:txBody>
      </p:sp>
      <p:sp>
        <p:nvSpPr>
          <p:cNvPr id="70660"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solidFill>
                <a:schemeClr val="bg1"/>
              </a:solidFill>
              <a:latin typeface="Calibri" pitchFamily="34" charset="0"/>
            </a:endParaRPr>
          </a:p>
        </p:txBody>
      </p:sp>
      <p:pic>
        <p:nvPicPr>
          <p:cNvPr id="70661" name="Picture 7"/>
          <p:cNvPicPr>
            <a:picLocks noChangeAspect="1" noChangeArrowheads="1"/>
          </p:cNvPicPr>
          <p:nvPr/>
        </p:nvPicPr>
        <p:blipFill>
          <a:blip r:embed="rId3" cstate="print"/>
          <a:srcRect/>
          <a:stretch>
            <a:fillRect/>
          </a:stretch>
        </p:blipFill>
        <p:spPr bwMode="auto">
          <a:xfrm>
            <a:off x="8124825" y="76200"/>
            <a:ext cx="790575" cy="1295400"/>
          </a:xfrm>
          <a:prstGeom prst="rect">
            <a:avLst/>
          </a:prstGeom>
          <a:noFill/>
          <a:ln w="9525">
            <a:noFill/>
            <a:miter lim="800000"/>
            <a:headEnd/>
            <a:tailEnd/>
          </a:ln>
        </p:spPr>
      </p:pic>
      <p:graphicFrame>
        <p:nvGraphicFramePr>
          <p:cNvPr id="7" name="Chart 6"/>
          <p:cNvGraphicFramePr/>
          <p:nvPr/>
        </p:nvGraphicFramePr>
        <p:xfrm>
          <a:off x="457200" y="1447800"/>
          <a:ext cx="8001000" cy="5029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idx="4294967295"/>
          </p:nvPr>
        </p:nvSpPr>
        <p:spPr>
          <a:xfrm>
            <a:off x="304800" y="228600"/>
            <a:ext cx="8229600" cy="1143000"/>
          </a:xfrm>
        </p:spPr>
        <p:txBody>
          <a:bodyPr>
            <a:normAutofit/>
          </a:bodyPr>
          <a:lstStyle/>
          <a:p>
            <a:pPr algn="l"/>
            <a:r>
              <a:rPr lang="en-US" b="1" dirty="0" smtClean="0">
                <a:solidFill>
                  <a:srgbClr val="A71C1F"/>
                </a:solidFill>
              </a:rPr>
              <a:t>RESA Assignments</a:t>
            </a:r>
          </a:p>
        </p:txBody>
      </p:sp>
      <p:pic>
        <p:nvPicPr>
          <p:cNvPr id="77827" name="Picture 3"/>
          <p:cNvPicPr>
            <a:picLocks noGrp="1" noChangeAspect="1" noChangeArrowheads="1"/>
          </p:cNvPicPr>
          <p:nvPr>
            <p:ph type="body" idx="4294967295"/>
          </p:nvPr>
        </p:nvPicPr>
        <p:blipFill>
          <a:blip r:embed="rId2" cstate="print"/>
          <a:srcRect/>
          <a:stretch>
            <a:fillRect/>
          </a:stretch>
        </p:blipFill>
        <p:spPr>
          <a:xfrm>
            <a:off x="228600" y="1447800"/>
            <a:ext cx="8458200" cy="4899025"/>
          </a:xfrm>
          <a:noFill/>
        </p:spPr>
      </p:pic>
      <p:sp>
        <p:nvSpPr>
          <p:cNvPr id="77828"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pic>
        <p:nvPicPr>
          <p:cNvPr id="7782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
        <p:nvSpPr>
          <p:cNvPr id="77830" name="Rectangle 5"/>
          <p:cNvSpPr>
            <a:spLocks noChangeArrowheads="1"/>
          </p:cNvSpPr>
          <p:nvPr/>
        </p:nvSpPr>
        <p:spPr bwMode="auto">
          <a:xfrm flipV="1">
            <a:off x="228600" y="1219200"/>
            <a:ext cx="7924800" cy="76200"/>
          </a:xfrm>
          <a:prstGeom prst="rect">
            <a:avLst/>
          </a:prstGeom>
          <a:gradFill rotWithShape="1">
            <a:gsLst>
              <a:gs pos="0">
                <a:srgbClr val="A71C1F"/>
              </a:gs>
              <a:gs pos="100000">
                <a:schemeClr val="bg1"/>
              </a:gs>
            </a:gsLst>
            <a:lin ang="0" scaled="1"/>
          </a:gradFill>
          <a:ln w="9525">
            <a:noFill/>
            <a:miter lim="800000"/>
            <a:headEnd/>
            <a:tailEnd/>
          </a:ln>
        </p:spPr>
        <p:txBody>
          <a:bodyPr rot="10800000" wrap="none" anchor="ctr"/>
          <a:lstStyle/>
          <a:p>
            <a:endParaRPr lang="en-US">
              <a:latin typeface="Calibri"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457200" y="274638"/>
            <a:ext cx="8229600" cy="1401762"/>
          </a:xfrm>
        </p:spPr>
        <p:txBody>
          <a:bodyPr>
            <a:normAutofit/>
          </a:bodyPr>
          <a:lstStyle/>
          <a:p>
            <a:pPr algn="l"/>
            <a:r>
              <a:rPr lang="en-US" b="1" dirty="0" smtClean="0">
                <a:solidFill>
                  <a:srgbClr val="A71C1F"/>
                </a:solidFill>
              </a:rPr>
              <a:t>HR Hotline</a:t>
            </a:r>
          </a:p>
        </p:txBody>
      </p:sp>
      <p:sp>
        <p:nvSpPr>
          <p:cNvPr id="19459"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19460"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19461"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19462"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3075" name="Rectangle 3"/>
          <p:cNvSpPr>
            <a:spLocks noGrp="1" noChangeArrowheads="1"/>
          </p:cNvSpPr>
          <p:nvPr>
            <p:ph type="body" sz="half" idx="4294967295"/>
          </p:nvPr>
        </p:nvSpPr>
        <p:spPr>
          <a:xfrm>
            <a:off x="228600" y="1752600"/>
            <a:ext cx="8610600" cy="4373563"/>
          </a:xfrm>
        </p:spPr>
        <p:txBody>
          <a:bodyPr/>
          <a:lstStyle/>
          <a:p>
            <a:pPr marL="609600" indent="-325438"/>
            <a:r>
              <a:rPr lang="en-US" sz="2800" b="1" dirty="0" smtClean="0"/>
              <a:t>Effective Monday, December 5th</a:t>
            </a:r>
          </a:p>
          <a:p>
            <a:pPr marL="1409700" lvl="2" indent="-325438"/>
            <a:r>
              <a:rPr lang="en-US" sz="2000" b="1" dirty="0" smtClean="0"/>
              <a:t>Available to Georgia authorized School System Personnel</a:t>
            </a:r>
          </a:p>
          <a:p>
            <a:pPr marL="1409700" lvl="2" indent="-325438"/>
            <a:r>
              <a:rPr lang="en-US" sz="2000" b="1" dirty="0" smtClean="0"/>
              <a:t>Monday – Friday 7:00 am to 4:30 pm</a:t>
            </a:r>
          </a:p>
          <a:p>
            <a:pPr marL="1409700" lvl="2" indent="-325438"/>
            <a:r>
              <a:rPr lang="en-US" sz="2000" b="1" dirty="0" smtClean="0"/>
              <a:t>Dedicated local and long distance number with Voice Mail access</a:t>
            </a:r>
          </a:p>
          <a:p>
            <a:pPr marL="1409700" lvl="2" indent="-325438"/>
            <a:r>
              <a:rPr lang="en-US" sz="2000" b="1" dirty="0" smtClean="0"/>
              <a:t>Staffed by two Certification Evaluators</a:t>
            </a:r>
          </a:p>
          <a:p>
            <a:pPr marL="1409700" lvl="2" indent="-325438">
              <a:buFont typeface="Arial" charset="0"/>
              <a:buNone/>
            </a:pPr>
            <a:endParaRPr lang="en-US" sz="2000" b="1" dirty="0" smtClean="0"/>
          </a:p>
          <a:p>
            <a:pPr marL="609600" indent="-325438"/>
            <a:r>
              <a:rPr lang="en-US" sz="2800" b="1" dirty="0" smtClean="0"/>
              <a:t>Number will be posted to gapsc.org and available after login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457200" y="274638"/>
            <a:ext cx="8229600" cy="1401762"/>
          </a:xfrm>
        </p:spPr>
        <p:txBody>
          <a:bodyPr>
            <a:normAutofit/>
          </a:bodyPr>
          <a:lstStyle/>
          <a:p>
            <a:pPr algn="l"/>
            <a:r>
              <a:rPr lang="en-US" b="1" dirty="0" smtClean="0">
                <a:solidFill>
                  <a:srgbClr val="A71C1F"/>
                </a:solidFill>
              </a:rPr>
              <a:t>Training and Outreach</a:t>
            </a:r>
          </a:p>
        </p:txBody>
      </p:sp>
      <p:sp>
        <p:nvSpPr>
          <p:cNvPr id="73732"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73733"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73734"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73735"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73736" name="Rectangle 7"/>
          <p:cNvSpPr>
            <a:spLocks noChangeArrowheads="1"/>
          </p:cNvSpPr>
          <p:nvPr/>
        </p:nvSpPr>
        <p:spPr bwMode="auto">
          <a:xfrm>
            <a:off x="1676400" y="3352800"/>
            <a:ext cx="184150" cy="369888"/>
          </a:xfrm>
          <a:prstGeom prst="rect">
            <a:avLst/>
          </a:prstGeom>
          <a:noFill/>
          <a:ln w="9525">
            <a:noFill/>
            <a:miter lim="800000"/>
            <a:headEnd/>
            <a:tailEnd/>
          </a:ln>
        </p:spPr>
        <p:txBody>
          <a:bodyPr wrap="none">
            <a:spAutoFit/>
          </a:bodyPr>
          <a:lstStyle/>
          <a:p>
            <a:endParaRPr lang="en-US">
              <a:latin typeface="Calibri" pitchFamily="34" charset="0"/>
            </a:endParaRPr>
          </a:p>
        </p:txBody>
      </p:sp>
      <p:sp>
        <p:nvSpPr>
          <p:cNvPr id="3075" name="Rectangle 3"/>
          <p:cNvSpPr>
            <a:spLocks noChangeArrowheads="1"/>
          </p:cNvSpPr>
          <p:nvPr/>
        </p:nvSpPr>
        <p:spPr bwMode="auto">
          <a:xfrm>
            <a:off x="228600" y="1752600"/>
            <a:ext cx="8610600" cy="4373563"/>
          </a:xfrm>
          <a:prstGeom prst="rect">
            <a:avLst/>
          </a:prstGeom>
          <a:noFill/>
          <a:ln w="9525">
            <a:noFill/>
            <a:miter lim="800000"/>
            <a:headEnd/>
            <a:tailEnd/>
          </a:ln>
        </p:spPr>
        <p:txBody>
          <a:bodyPr/>
          <a:lstStyle/>
          <a:p>
            <a:pPr marL="609600" indent="-325438">
              <a:spcBef>
                <a:spcPct val="20000"/>
              </a:spcBef>
              <a:buFont typeface="Arial" charset="0"/>
              <a:buChar char="•"/>
            </a:pPr>
            <a:r>
              <a:rPr lang="en-US" sz="3200" b="1" dirty="0">
                <a:latin typeface="Calibri" pitchFamily="34" charset="0"/>
              </a:rPr>
              <a:t>RESA Assignments</a:t>
            </a:r>
          </a:p>
          <a:p>
            <a:pPr marL="609600" indent="-325438">
              <a:spcBef>
                <a:spcPct val="20000"/>
              </a:spcBef>
              <a:buFont typeface="Arial" charset="0"/>
              <a:buChar char="•"/>
            </a:pPr>
            <a:r>
              <a:rPr lang="en-US" sz="3200" b="1" dirty="0">
                <a:latin typeface="Calibri" pitchFamily="34" charset="0"/>
              </a:rPr>
              <a:t>Coming Spring 2012 is our Cert 201 training</a:t>
            </a:r>
          </a:p>
          <a:p>
            <a:pPr marL="609600" indent="-325438">
              <a:spcBef>
                <a:spcPct val="20000"/>
              </a:spcBef>
              <a:buFont typeface="Arial" charset="0"/>
              <a:buChar char="•"/>
            </a:pPr>
            <a:r>
              <a:rPr lang="en-US" sz="3200" b="1" dirty="0">
                <a:latin typeface="Calibri" pitchFamily="34" charset="0"/>
              </a:rPr>
              <a:t>Smaller training sessions in distance-learning   formats covering topics from understanding gapsc.org and </a:t>
            </a:r>
            <a:r>
              <a:rPr lang="en-US" sz="3200" b="1" dirty="0" err="1">
                <a:latin typeface="Calibri" pitchFamily="34" charset="0"/>
              </a:rPr>
              <a:t>Expresslane</a:t>
            </a:r>
            <a:r>
              <a:rPr lang="en-US" sz="3200" b="1" dirty="0">
                <a:latin typeface="Calibri" pitchFamily="34" charset="0"/>
              </a:rPr>
              <a:t> to Application procedures</a:t>
            </a:r>
          </a:p>
          <a:p>
            <a:pPr marL="609600" indent="-325438">
              <a:spcBef>
                <a:spcPct val="20000"/>
              </a:spcBef>
              <a:buFont typeface="Arial" charset="0"/>
              <a:buChar char="•"/>
            </a:pPr>
            <a:r>
              <a:rPr lang="en-US" sz="3200" b="1" dirty="0">
                <a:latin typeface="Calibri" pitchFamily="34" charset="0"/>
              </a:rPr>
              <a:t>Customized training at RESAs or LEAs by our Training and Outreach Specialists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401762"/>
          </a:xfrm>
        </p:spPr>
        <p:txBody>
          <a:bodyPr>
            <a:normAutofit/>
          </a:bodyPr>
          <a:lstStyle/>
          <a:p>
            <a:pPr algn="l" eaLnBrk="1" hangingPunct="1"/>
            <a:r>
              <a:rPr lang="en-US" b="1" dirty="0" smtClean="0">
                <a:solidFill>
                  <a:srgbClr val="A71C1F"/>
                </a:solidFill>
              </a:rPr>
              <a:t>View Correspondence Online</a:t>
            </a: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marL="609600" indent="-325438">
              <a:spcAft>
                <a:spcPts val="600"/>
              </a:spcAft>
              <a:buNone/>
            </a:pPr>
            <a:r>
              <a:rPr lang="en-US" sz="4000" b="1" dirty="0" smtClean="0"/>
              <a:t>Today, on </a:t>
            </a:r>
            <a:r>
              <a:rPr lang="en-US" sz="4000" b="1" dirty="0" err="1" smtClean="0"/>
              <a:t>MyPSC</a:t>
            </a:r>
            <a:r>
              <a:rPr lang="en-US" sz="4000" b="1" dirty="0" smtClean="0"/>
              <a:t> a registered applicant can…</a:t>
            </a:r>
          </a:p>
          <a:p>
            <a:pPr marL="609600" indent="-325438">
              <a:spcAft>
                <a:spcPts val="600"/>
              </a:spcAft>
            </a:pPr>
            <a:r>
              <a:rPr lang="en-US" sz="4000" b="1" dirty="0" smtClean="0"/>
              <a:t>See list of correspondence</a:t>
            </a:r>
          </a:p>
          <a:p>
            <a:pPr marL="609600" indent="-325438">
              <a:spcAft>
                <a:spcPts val="600"/>
              </a:spcAft>
            </a:pPr>
            <a:r>
              <a:rPr lang="en-US" sz="4000" b="1" dirty="0" smtClean="0"/>
              <a:t>Select a correspondence item generated after January 1, 2010, and have it sent to email address</a:t>
            </a:r>
          </a:p>
          <a:p>
            <a:pPr marL="609600" indent="-325438" eaLnBrk="1" hangingPunct="1">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2" cstate="print"/>
          <a:srcRect/>
          <a:stretch>
            <a:fillRect/>
          </a:stretch>
        </p:blipFill>
        <p:spPr bwMode="auto">
          <a:xfrm>
            <a:off x="228600" y="762000"/>
            <a:ext cx="8537105" cy="4114800"/>
          </a:xfrm>
          <a:prstGeom prst="rect">
            <a:avLst/>
          </a:prstGeom>
          <a:noFill/>
          <a:ln w="9525">
            <a:noFill/>
            <a:miter lim="800000"/>
            <a:headEnd/>
            <a:tailEnd/>
          </a:ln>
        </p:spPr>
      </p:pic>
      <p:grpSp>
        <p:nvGrpSpPr>
          <p:cNvPr id="8" name="Group 7"/>
          <p:cNvGrpSpPr/>
          <p:nvPr/>
        </p:nvGrpSpPr>
        <p:grpSpPr>
          <a:xfrm>
            <a:off x="1752600" y="3657600"/>
            <a:ext cx="2565884" cy="1415929"/>
            <a:chOff x="1771651" y="4898491"/>
            <a:chExt cx="2565884" cy="1415929"/>
          </a:xfrm>
        </p:grpSpPr>
        <p:sp>
          <p:nvSpPr>
            <p:cNvPr id="9" name="Right Arrow 8"/>
            <p:cNvSpPr/>
            <p:nvPr/>
          </p:nvSpPr>
          <p:spPr>
            <a:xfrm rot="14291356">
              <a:off x="1438043" y="5232099"/>
              <a:ext cx="1048215" cy="381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2514600" y="5791200"/>
              <a:ext cx="1822935" cy="523220"/>
            </a:xfrm>
            <a:prstGeom prst="rect">
              <a:avLst/>
            </a:prstGeom>
            <a:solidFill>
              <a:srgbClr val="FFFF00"/>
            </a:solidFill>
            <a:ln>
              <a:solidFill>
                <a:srgbClr val="FF0000"/>
              </a:solidFill>
            </a:ln>
          </p:spPr>
          <p:txBody>
            <a:bodyPr wrap="none" rtlCol="0">
              <a:spAutoFit/>
            </a:bodyPr>
            <a:lstStyle/>
            <a:p>
              <a:r>
                <a:rPr lang="en-US" sz="2800" b="1" dirty="0" smtClean="0">
                  <a:solidFill>
                    <a:srgbClr val="FF0000"/>
                  </a:solidFill>
                </a:rPr>
                <a:t>Send Email</a:t>
              </a:r>
              <a:endParaRPr lang="en-US" sz="2800" b="1" dirty="0">
                <a:solidFill>
                  <a:srgbClr val="FF0000"/>
                </a:solidFill>
              </a:endParaRPr>
            </a:p>
          </p:txBody>
        </p:sp>
      </p:grpSp>
      <p:sp>
        <p:nvSpPr>
          <p:cNvPr id="11" name="TextBox 10"/>
          <p:cNvSpPr txBox="1"/>
          <p:nvPr/>
        </p:nvSpPr>
        <p:spPr>
          <a:xfrm>
            <a:off x="6553200" y="3429000"/>
            <a:ext cx="1066800" cy="276999"/>
          </a:xfrm>
          <a:prstGeom prst="rect">
            <a:avLst/>
          </a:prstGeom>
          <a:noFill/>
        </p:spPr>
        <p:txBody>
          <a:bodyPr wrap="square" rtlCol="0">
            <a:spAutoFit/>
          </a:bodyPr>
          <a:lstStyle/>
          <a:p>
            <a:r>
              <a:rPr lang="en-US" sz="1200" dirty="0" smtClean="0"/>
              <a:t>12/01/2011</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nodeType="clickEffect">
                                  <p:stCondLst>
                                    <p:cond delay="0"/>
                                  </p:stCondLst>
                                  <p:childTnLst>
                                    <p:animEffect transition="out" filter="blinds(horizontal)">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par>
                                <p:cTn id="14" presetID="3"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401762"/>
          </a:xfrm>
        </p:spPr>
        <p:txBody>
          <a:bodyPr>
            <a:normAutofit/>
          </a:bodyPr>
          <a:lstStyle/>
          <a:p>
            <a:pPr algn="l" eaLnBrk="1" hangingPunct="1"/>
            <a:r>
              <a:rPr lang="en-US" b="1" dirty="0" smtClean="0">
                <a:solidFill>
                  <a:srgbClr val="A71C1F"/>
                </a:solidFill>
              </a:rPr>
              <a:t>View Correspondence Online</a:t>
            </a:r>
          </a:p>
        </p:txBody>
      </p:sp>
      <p:sp>
        <p:nvSpPr>
          <p:cNvPr id="3075" name="Rectangle 3"/>
          <p:cNvSpPr>
            <a:spLocks noGrp="1" noChangeArrowheads="1"/>
          </p:cNvSpPr>
          <p:nvPr>
            <p:ph type="body" sz="half" idx="1"/>
          </p:nvPr>
        </p:nvSpPr>
        <p:spPr>
          <a:xfrm>
            <a:off x="228600" y="1752600"/>
            <a:ext cx="8610600" cy="4373563"/>
          </a:xfrm>
        </p:spPr>
        <p:txBody>
          <a:bodyPr>
            <a:normAutofit lnSpcReduction="10000"/>
          </a:bodyPr>
          <a:lstStyle/>
          <a:p>
            <a:pPr marL="609600" indent="-325438">
              <a:spcAft>
                <a:spcPts val="600"/>
              </a:spcAft>
              <a:buNone/>
            </a:pPr>
            <a:r>
              <a:rPr lang="en-US" sz="4000" b="1" dirty="0" smtClean="0"/>
              <a:t>Coming in mid-2012 to </a:t>
            </a:r>
            <a:r>
              <a:rPr lang="en-US" sz="4000" b="1" dirty="0" err="1" smtClean="0"/>
              <a:t>MyPSC</a:t>
            </a:r>
            <a:r>
              <a:rPr lang="en-US" sz="4000" b="1" dirty="0" smtClean="0"/>
              <a:t>…</a:t>
            </a:r>
          </a:p>
          <a:p>
            <a:pPr marL="609600" indent="-325438">
              <a:spcAft>
                <a:spcPts val="600"/>
              </a:spcAft>
            </a:pPr>
            <a:r>
              <a:rPr lang="en-US" sz="4000" dirty="0" smtClean="0"/>
              <a:t>Still see list of correspondence</a:t>
            </a:r>
          </a:p>
          <a:p>
            <a:pPr marL="609600" indent="-325438">
              <a:spcAft>
                <a:spcPts val="600"/>
              </a:spcAft>
            </a:pPr>
            <a:r>
              <a:rPr lang="en-US" sz="4000" dirty="0" smtClean="0"/>
              <a:t>Still send selected correspondence to their email address</a:t>
            </a:r>
          </a:p>
          <a:p>
            <a:pPr marL="609600" indent="-325438">
              <a:spcAft>
                <a:spcPts val="600"/>
              </a:spcAft>
            </a:pPr>
            <a:r>
              <a:rPr lang="en-US" sz="4000" b="1" i="1" u="sng" dirty="0" smtClean="0"/>
              <a:t>New</a:t>
            </a:r>
            <a:r>
              <a:rPr lang="en-US" sz="4000" b="1" dirty="0" smtClean="0"/>
              <a:t> - view correspondence and print it</a:t>
            </a:r>
          </a:p>
          <a:p>
            <a:pPr marL="609600" indent="-325438" eaLnBrk="1" hangingPunct="1">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srcRect/>
          <a:stretch>
            <a:fillRect/>
          </a:stretch>
        </p:blipFill>
        <p:spPr bwMode="auto">
          <a:xfrm>
            <a:off x="1" y="838200"/>
            <a:ext cx="9144000" cy="4886325"/>
          </a:xfrm>
          <a:prstGeom prst="rect">
            <a:avLst/>
          </a:prstGeom>
          <a:noFill/>
          <a:ln w="9525">
            <a:noFill/>
            <a:miter lim="800000"/>
            <a:headEnd/>
            <a:tailEnd/>
          </a:ln>
        </p:spPr>
      </p:pic>
      <p:grpSp>
        <p:nvGrpSpPr>
          <p:cNvPr id="14" name="Group 13"/>
          <p:cNvGrpSpPr/>
          <p:nvPr/>
        </p:nvGrpSpPr>
        <p:grpSpPr>
          <a:xfrm>
            <a:off x="4876800" y="4753766"/>
            <a:ext cx="2894966" cy="951054"/>
            <a:chOff x="4876800" y="4753766"/>
            <a:chExt cx="2894966" cy="951054"/>
          </a:xfrm>
        </p:grpSpPr>
        <p:sp>
          <p:nvSpPr>
            <p:cNvPr id="9" name="Right Arrow 8"/>
            <p:cNvSpPr/>
            <p:nvPr/>
          </p:nvSpPr>
          <p:spPr>
            <a:xfrm rot="19586516">
              <a:off x="6723551" y="4753766"/>
              <a:ext cx="1048215" cy="381000"/>
            </a:xfrm>
            <a:prstGeom prst="right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876800" y="5181600"/>
              <a:ext cx="1822935" cy="523220"/>
            </a:xfrm>
            <a:prstGeom prst="rect">
              <a:avLst/>
            </a:prstGeom>
            <a:solidFill>
              <a:srgbClr val="92D050"/>
            </a:solidFill>
            <a:ln>
              <a:solidFill>
                <a:srgbClr val="92D050"/>
              </a:solidFill>
            </a:ln>
          </p:spPr>
          <p:txBody>
            <a:bodyPr wrap="none" rtlCol="0">
              <a:spAutoFit/>
            </a:bodyPr>
            <a:lstStyle/>
            <a:p>
              <a:r>
                <a:rPr lang="en-US" sz="2800" b="1" dirty="0" smtClean="0"/>
                <a:t>Send Email</a:t>
              </a:r>
              <a:endParaRPr lang="en-US" sz="2800" b="1" dirty="0"/>
            </a:p>
          </p:txBody>
        </p:sp>
      </p:grpSp>
      <p:grpSp>
        <p:nvGrpSpPr>
          <p:cNvPr id="13" name="Group 12"/>
          <p:cNvGrpSpPr/>
          <p:nvPr/>
        </p:nvGrpSpPr>
        <p:grpSpPr>
          <a:xfrm>
            <a:off x="5777574" y="2133600"/>
            <a:ext cx="2288614" cy="2446794"/>
            <a:chOff x="5777574" y="2133600"/>
            <a:chExt cx="2288614" cy="2446794"/>
          </a:xfrm>
        </p:grpSpPr>
        <p:sp>
          <p:nvSpPr>
            <p:cNvPr id="11" name="Right Arrow 10"/>
            <p:cNvSpPr/>
            <p:nvPr/>
          </p:nvSpPr>
          <p:spPr>
            <a:xfrm rot="2915966">
              <a:off x="6961288" y="3475494"/>
              <a:ext cx="1752600" cy="457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777574" y="2133600"/>
              <a:ext cx="1309975" cy="1077218"/>
            </a:xfrm>
            <a:prstGeom prst="rect">
              <a:avLst/>
            </a:prstGeom>
            <a:solidFill>
              <a:srgbClr val="FFFF00"/>
            </a:solidFill>
            <a:ln>
              <a:solidFill>
                <a:srgbClr val="FF0000"/>
              </a:solidFill>
            </a:ln>
          </p:spPr>
          <p:txBody>
            <a:bodyPr wrap="none" rtlCol="0">
              <a:spAutoFit/>
            </a:bodyPr>
            <a:lstStyle/>
            <a:p>
              <a:pPr algn="ctr"/>
              <a:r>
                <a:rPr lang="en-US" sz="3200" b="1" dirty="0" smtClean="0"/>
                <a:t>View </a:t>
              </a:r>
            </a:p>
            <a:p>
              <a:pPr algn="ctr"/>
              <a:r>
                <a:rPr lang="en-US" sz="3200" b="1" dirty="0" smtClean="0"/>
                <a:t>Online</a:t>
              </a:r>
              <a:endParaRPr lang="en-US" sz="32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401762"/>
          </a:xfrm>
        </p:spPr>
        <p:txBody>
          <a:bodyPr>
            <a:normAutofit/>
          </a:bodyPr>
          <a:lstStyle/>
          <a:p>
            <a:pPr algn="l" eaLnBrk="1" hangingPunct="1"/>
            <a:r>
              <a:rPr lang="en-US" b="1" dirty="0" smtClean="0">
                <a:solidFill>
                  <a:srgbClr val="A71C1F"/>
                </a:solidFill>
              </a:rPr>
              <a:t>View Correspondence Online</a:t>
            </a:r>
          </a:p>
        </p:txBody>
      </p:sp>
      <p:sp>
        <p:nvSpPr>
          <p:cNvPr id="3075" name="Rectangle 3"/>
          <p:cNvSpPr>
            <a:spLocks noGrp="1" noChangeArrowheads="1"/>
          </p:cNvSpPr>
          <p:nvPr>
            <p:ph type="body" sz="half" idx="1"/>
          </p:nvPr>
        </p:nvSpPr>
        <p:spPr>
          <a:xfrm>
            <a:off x="152400" y="1752600"/>
            <a:ext cx="8686800" cy="4373563"/>
          </a:xfrm>
        </p:spPr>
        <p:txBody>
          <a:bodyPr>
            <a:normAutofit/>
          </a:bodyPr>
          <a:lstStyle/>
          <a:p>
            <a:pPr marL="609600" indent="-325438">
              <a:spcAft>
                <a:spcPts val="600"/>
              </a:spcAft>
              <a:buNone/>
            </a:pPr>
            <a:r>
              <a:rPr lang="en-US" b="1" dirty="0" smtClean="0"/>
              <a:t>Coming in mid-2012 to </a:t>
            </a:r>
            <a:r>
              <a:rPr lang="en-US" b="1" dirty="0" smtClean="0">
                <a:hlinkClick r:id="rId3"/>
              </a:rPr>
              <a:t>www.gapsc.org</a:t>
            </a:r>
            <a:r>
              <a:rPr lang="en-US" b="1" dirty="0" smtClean="0"/>
              <a:t>...</a:t>
            </a:r>
          </a:p>
          <a:p>
            <a:pPr marL="609600" indent="-325438">
              <a:spcAft>
                <a:spcPts val="600"/>
              </a:spcAft>
            </a:pPr>
            <a:r>
              <a:rPr lang="en-US" b="1" dirty="0" smtClean="0"/>
              <a:t>View correspondence and print it.</a:t>
            </a:r>
            <a:endParaRPr lang="en-US" sz="2800" dirty="0" smtClean="0"/>
          </a:p>
          <a:p>
            <a:pPr marL="609600" indent="-325438">
              <a:spcAft>
                <a:spcPts val="600"/>
              </a:spcAft>
            </a:pPr>
            <a:r>
              <a:rPr lang="en-US" b="1" dirty="0" smtClean="0"/>
              <a:t>Send selected correspondence to the operator’s email address of record or to any other email address.</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4"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5"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cstate="print"/>
          <a:srcRect/>
          <a:stretch>
            <a:fillRect/>
          </a:stretch>
        </p:blipFill>
        <p:spPr bwMode="auto">
          <a:xfrm>
            <a:off x="304800" y="1295400"/>
            <a:ext cx="8581292" cy="2743200"/>
          </a:xfrm>
          <a:prstGeom prst="rect">
            <a:avLst/>
          </a:prstGeom>
          <a:noFill/>
          <a:ln w="9525">
            <a:noFill/>
            <a:miter lim="800000"/>
            <a:headEnd/>
            <a:tailEnd/>
          </a:ln>
        </p:spPr>
      </p:pic>
      <p:grpSp>
        <p:nvGrpSpPr>
          <p:cNvPr id="10" name="Group 9"/>
          <p:cNvGrpSpPr/>
          <p:nvPr/>
        </p:nvGrpSpPr>
        <p:grpSpPr>
          <a:xfrm>
            <a:off x="3276600" y="3962400"/>
            <a:ext cx="3124200" cy="1436132"/>
            <a:chOff x="3276600" y="3962400"/>
            <a:chExt cx="3124200" cy="1436132"/>
          </a:xfrm>
        </p:grpSpPr>
        <p:sp>
          <p:nvSpPr>
            <p:cNvPr id="3" name="Right Arrow 2"/>
            <p:cNvSpPr/>
            <p:nvPr/>
          </p:nvSpPr>
          <p:spPr>
            <a:xfrm rot="16200000">
              <a:off x="2819400" y="4419600"/>
              <a:ext cx="1295400" cy="381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rot="16200000">
              <a:off x="5562600" y="4419600"/>
              <a:ext cx="1295400" cy="381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810000" y="5029200"/>
              <a:ext cx="2057166" cy="369332"/>
            </a:xfrm>
            <a:prstGeom prst="rect">
              <a:avLst/>
            </a:prstGeom>
            <a:noFill/>
          </p:spPr>
          <p:txBody>
            <a:bodyPr wrap="none" rtlCol="0">
              <a:spAutoFit/>
            </a:bodyPr>
            <a:lstStyle/>
            <a:p>
              <a:r>
                <a:rPr lang="en-US" dirty="0" smtClean="0"/>
                <a:t>Enter SSN or Cert ID</a:t>
              </a:r>
              <a:endParaRPr lang="en-US" dirty="0"/>
            </a:p>
          </p:txBody>
        </p:sp>
      </p:grpSp>
      <p:grpSp>
        <p:nvGrpSpPr>
          <p:cNvPr id="11" name="Group 10"/>
          <p:cNvGrpSpPr/>
          <p:nvPr/>
        </p:nvGrpSpPr>
        <p:grpSpPr>
          <a:xfrm>
            <a:off x="7086600" y="3962400"/>
            <a:ext cx="1125629" cy="1740932"/>
            <a:chOff x="7086600" y="3962400"/>
            <a:chExt cx="1125629" cy="1740932"/>
          </a:xfrm>
        </p:grpSpPr>
        <p:sp>
          <p:nvSpPr>
            <p:cNvPr id="7" name="Right Arrow 6"/>
            <p:cNvSpPr/>
            <p:nvPr/>
          </p:nvSpPr>
          <p:spPr>
            <a:xfrm rot="16200000">
              <a:off x="7010400" y="4419600"/>
              <a:ext cx="1295400" cy="381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086600" y="5334000"/>
              <a:ext cx="1125629" cy="369332"/>
            </a:xfrm>
            <a:prstGeom prst="rect">
              <a:avLst/>
            </a:prstGeom>
            <a:noFill/>
          </p:spPr>
          <p:txBody>
            <a:bodyPr wrap="none" rtlCol="0">
              <a:spAutoFit/>
            </a:bodyPr>
            <a:lstStyle/>
            <a:p>
              <a:r>
                <a:rPr lang="en-US" dirty="0" smtClean="0"/>
                <a:t>Click “Go”</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cstate="print"/>
          <a:srcRect/>
          <a:stretch>
            <a:fillRect/>
          </a:stretch>
        </p:blipFill>
        <p:spPr bwMode="auto">
          <a:xfrm>
            <a:off x="0" y="0"/>
            <a:ext cx="9175369"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0" y="0"/>
            <a:ext cx="9154906" cy="624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0" y="0"/>
            <a:ext cx="9021351" cy="579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457200" y="274638"/>
            <a:ext cx="8229600" cy="1401762"/>
          </a:xfrm>
        </p:spPr>
        <p:txBody>
          <a:bodyPr/>
          <a:lstStyle/>
          <a:p>
            <a:pPr algn="l"/>
            <a:r>
              <a:rPr lang="en-US" sz="3200" b="1" smtClean="0">
                <a:solidFill>
                  <a:srgbClr val="A71C1F"/>
                </a:solidFill>
              </a:rPr>
              <a:t>Special Georgia Requirements: Content Test </a:t>
            </a:r>
          </a:p>
        </p:txBody>
      </p:sp>
      <p:sp>
        <p:nvSpPr>
          <p:cNvPr id="86019"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86020"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86021"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86022"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6023" name="Rectangle 7"/>
          <p:cNvSpPr>
            <a:spLocks noChangeArrowheads="1"/>
          </p:cNvSpPr>
          <p:nvPr/>
        </p:nvSpPr>
        <p:spPr bwMode="auto">
          <a:xfrm>
            <a:off x="1676400" y="3352800"/>
            <a:ext cx="184150" cy="369888"/>
          </a:xfrm>
          <a:prstGeom prst="rect">
            <a:avLst/>
          </a:prstGeom>
          <a:noFill/>
          <a:ln w="9525">
            <a:noFill/>
            <a:miter lim="800000"/>
            <a:headEnd/>
            <a:tailEnd/>
          </a:ln>
        </p:spPr>
        <p:txBody>
          <a:bodyPr wrap="none">
            <a:spAutoFit/>
          </a:bodyPr>
          <a:lstStyle/>
          <a:p>
            <a:endParaRPr lang="en-US">
              <a:latin typeface="Calibri" pitchFamily="34" charset="0"/>
            </a:endParaRPr>
          </a:p>
        </p:txBody>
      </p:sp>
      <p:sp>
        <p:nvSpPr>
          <p:cNvPr id="3075" name="Rectangle 3"/>
          <p:cNvSpPr>
            <a:spLocks noGrp="1" noChangeArrowheads="1"/>
          </p:cNvSpPr>
          <p:nvPr>
            <p:ph type="body" sz="half" idx="4294967295"/>
          </p:nvPr>
        </p:nvSpPr>
        <p:spPr>
          <a:xfrm>
            <a:off x="228600" y="1752600"/>
            <a:ext cx="8610600" cy="4373563"/>
          </a:xfrm>
        </p:spPr>
        <p:txBody>
          <a:bodyPr/>
          <a:lstStyle/>
          <a:p>
            <a:pPr marL="609600" indent="-325438"/>
            <a:r>
              <a:rPr lang="en-US" sz="2800" b="1" smtClean="0">
                <a:sym typeface="Chalkduster" charset="0"/>
              </a:rPr>
              <a:t>Effective 10/15/11, Georgia-certified educators who complete out-of-state programs leading to certification must pass the Georgia state-approved content assessment</a:t>
            </a:r>
          </a:p>
          <a:p>
            <a:pPr marL="609600" indent="-325438"/>
            <a:r>
              <a:rPr lang="en-US" sz="2800" b="1" smtClean="0">
                <a:sym typeface="Chalkduster" charset="0"/>
              </a:rPr>
              <a:t>Educators that hold a Georgia certificate cannot exempt the content assessment by presenting an out-of-state certificate with that state’s content assessment</a:t>
            </a:r>
          </a:p>
          <a:p>
            <a:pPr marL="609600" indent="-325438"/>
            <a:r>
              <a:rPr lang="en-US" sz="2800" b="1" smtClean="0">
                <a:sym typeface="Chalkduster" charset="0"/>
              </a:rPr>
              <a:t>Initial reciprocity remains</a:t>
            </a:r>
          </a:p>
          <a:p>
            <a:pPr marL="609600" indent="-325438"/>
            <a:endParaRPr lang="en-US" sz="2800" b="1" smtClean="0">
              <a:sym typeface="Chalkduster" charset="0"/>
            </a:endParaRPr>
          </a:p>
          <a:p>
            <a:pPr marL="609600" indent="-325438"/>
            <a:endParaRPr lang="en-US" sz="2800" b="1" smtClean="0">
              <a:sym typeface="Chalkduster"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457200" y="274638"/>
            <a:ext cx="8229600" cy="1401762"/>
          </a:xfrm>
        </p:spPr>
        <p:txBody>
          <a:bodyPr/>
          <a:lstStyle/>
          <a:p>
            <a:pPr algn="l"/>
            <a:r>
              <a:rPr lang="en-US" sz="3200" b="1" smtClean="0">
                <a:solidFill>
                  <a:srgbClr val="A71C1F"/>
                </a:solidFill>
              </a:rPr>
              <a:t>Voluntary Deletion of a Certification field </a:t>
            </a:r>
          </a:p>
        </p:txBody>
      </p:sp>
      <p:sp>
        <p:nvSpPr>
          <p:cNvPr id="88067"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88068"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88069"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88070"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8071" name="Rectangle 7"/>
          <p:cNvSpPr>
            <a:spLocks noChangeArrowheads="1"/>
          </p:cNvSpPr>
          <p:nvPr/>
        </p:nvSpPr>
        <p:spPr bwMode="auto">
          <a:xfrm>
            <a:off x="1676400" y="3352800"/>
            <a:ext cx="184150" cy="369888"/>
          </a:xfrm>
          <a:prstGeom prst="rect">
            <a:avLst/>
          </a:prstGeom>
          <a:noFill/>
          <a:ln w="9525">
            <a:noFill/>
            <a:miter lim="800000"/>
            <a:headEnd/>
            <a:tailEnd/>
          </a:ln>
        </p:spPr>
        <p:txBody>
          <a:bodyPr wrap="none">
            <a:spAutoFit/>
          </a:bodyPr>
          <a:lstStyle/>
          <a:p>
            <a:endParaRPr lang="en-US">
              <a:latin typeface="Calibri" pitchFamily="34" charset="0"/>
            </a:endParaRPr>
          </a:p>
        </p:txBody>
      </p:sp>
      <p:sp>
        <p:nvSpPr>
          <p:cNvPr id="3075" name="Rectangle 3"/>
          <p:cNvSpPr>
            <a:spLocks noGrp="1" noChangeArrowheads="1"/>
          </p:cNvSpPr>
          <p:nvPr>
            <p:ph type="body" sz="half" idx="4294967295"/>
          </p:nvPr>
        </p:nvSpPr>
        <p:spPr>
          <a:xfrm>
            <a:off x="228600" y="1752600"/>
            <a:ext cx="8610600" cy="4373563"/>
          </a:xfrm>
          <a:noFill/>
        </p:spPr>
        <p:txBody>
          <a:bodyPr/>
          <a:lstStyle/>
          <a:p>
            <a:pPr marL="609600" indent="-325438">
              <a:buFont typeface="Arial" charset="0"/>
              <a:buNone/>
            </a:pPr>
            <a:endParaRPr lang="en-US" sz="2800" b="1" smtClean="0">
              <a:sym typeface="Chalkduster" charset="0"/>
            </a:endParaRPr>
          </a:p>
          <a:p>
            <a:pPr marL="609600" indent="-325438"/>
            <a:endParaRPr lang="en-US" sz="2800" b="1" smtClean="0">
              <a:sym typeface="Chalkduster" charset="0"/>
            </a:endParaRPr>
          </a:p>
        </p:txBody>
      </p:sp>
      <p:sp>
        <p:nvSpPr>
          <p:cNvPr id="2" name="Rectangle 3"/>
          <p:cNvSpPr>
            <a:spLocks noChangeArrowheads="1"/>
          </p:cNvSpPr>
          <p:nvPr/>
        </p:nvSpPr>
        <p:spPr bwMode="auto">
          <a:xfrm>
            <a:off x="381000" y="1905000"/>
            <a:ext cx="8610600" cy="4373563"/>
          </a:xfrm>
          <a:prstGeom prst="rect">
            <a:avLst/>
          </a:prstGeom>
          <a:noFill/>
          <a:ln w="9525">
            <a:noFill/>
            <a:miter lim="800000"/>
            <a:headEnd/>
            <a:tailEnd/>
          </a:ln>
        </p:spPr>
        <p:txBody>
          <a:bodyPr/>
          <a:lstStyle/>
          <a:p>
            <a:pPr marL="609600" indent="-325438">
              <a:spcBef>
                <a:spcPct val="20000"/>
              </a:spcBef>
              <a:buFont typeface="Arial" charset="0"/>
              <a:buChar char="•"/>
            </a:pPr>
            <a:r>
              <a:rPr lang="en-US" sz="2800" b="1">
                <a:latin typeface="Calibri" pitchFamily="34" charset="0"/>
                <a:sym typeface="Chalkduster" charset="0"/>
              </a:rPr>
              <a:t>Effective 10/15/11, requests for voluntary deletion of any field that results in an upgrade will also result in the loss of the level associated with the field</a:t>
            </a:r>
          </a:p>
          <a:p>
            <a:pPr marL="609600" indent="-325438">
              <a:spcBef>
                <a:spcPct val="20000"/>
              </a:spcBef>
              <a:buFont typeface="Arial" charset="0"/>
              <a:buNone/>
            </a:pPr>
            <a:endParaRPr lang="en-US" sz="2800" b="1">
              <a:latin typeface="Calibri" pitchFamily="34" charset="0"/>
              <a:sym typeface="Chalkduster" charset="0"/>
            </a:endParaRPr>
          </a:p>
          <a:p>
            <a:pPr marL="609600" indent="-325438">
              <a:spcBef>
                <a:spcPct val="20000"/>
              </a:spcBef>
              <a:buFont typeface="Arial" charset="0"/>
              <a:buChar char="•"/>
            </a:pPr>
            <a:r>
              <a:rPr lang="en-US" sz="2800" b="1">
                <a:latin typeface="Calibri" pitchFamily="34" charset="0"/>
                <a:sym typeface="Chalkduster" charset="0"/>
              </a:rPr>
              <a:t>The new level assigned will be determined by the rule(s) in effect at the time the previous level was awarded</a:t>
            </a:r>
          </a:p>
          <a:p>
            <a:pPr marL="609600" indent="-325438">
              <a:spcBef>
                <a:spcPct val="20000"/>
              </a:spcBef>
              <a:buFont typeface="Arial" charset="0"/>
              <a:buChar char="•"/>
            </a:pPr>
            <a:endParaRPr lang="en-US" sz="2800" b="1">
              <a:latin typeface="Calibri" pitchFamily="34" charset="0"/>
              <a:sym typeface="Chalkduster"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457200" y="274638"/>
            <a:ext cx="8229600" cy="1401762"/>
          </a:xfrm>
        </p:spPr>
        <p:txBody>
          <a:bodyPr/>
          <a:lstStyle/>
          <a:p>
            <a:pPr algn="l"/>
            <a:r>
              <a:rPr lang="en-US" sz="3200" b="1" smtClean="0">
                <a:solidFill>
                  <a:srgbClr val="A71C1F"/>
                </a:solidFill>
              </a:rPr>
              <a:t>Birth Through Five</a:t>
            </a:r>
          </a:p>
        </p:txBody>
      </p:sp>
      <p:sp>
        <p:nvSpPr>
          <p:cNvPr id="75779"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75780"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75781"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75782"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3075" name="Rectangle 3"/>
          <p:cNvSpPr>
            <a:spLocks noChangeArrowheads="1"/>
          </p:cNvSpPr>
          <p:nvPr/>
        </p:nvSpPr>
        <p:spPr bwMode="auto">
          <a:xfrm>
            <a:off x="228600" y="1752600"/>
            <a:ext cx="8610600" cy="4373563"/>
          </a:xfrm>
          <a:prstGeom prst="rect">
            <a:avLst/>
          </a:prstGeom>
          <a:noFill/>
          <a:ln w="9525">
            <a:noFill/>
            <a:miter lim="800000"/>
            <a:headEnd/>
            <a:tailEnd/>
          </a:ln>
        </p:spPr>
        <p:txBody>
          <a:bodyPr/>
          <a:lstStyle/>
          <a:p>
            <a:pPr marL="609600" indent="-325438">
              <a:buFont typeface="Arial" charset="0"/>
              <a:buNone/>
            </a:pPr>
            <a:r>
              <a:rPr lang="en-US" sz="2400" b="1">
                <a:latin typeface="Calibri" pitchFamily="34" charset="0"/>
              </a:rPr>
              <a:t>Effective 1/15/12, Birth Through Five Certificate (B-5) and</a:t>
            </a:r>
          </a:p>
          <a:p>
            <a:pPr marL="609600" indent="-325438">
              <a:buFont typeface="Arial" charset="0"/>
              <a:buNone/>
            </a:pPr>
            <a:r>
              <a:rPr lang="en-US" sz="2400" b="1">
                <a:latin typeface="Calibri" pitchFamily="34" charset="0"/>
              </a:rPr>
              <a:t>programs changing to </a:t>
            </a:r>
            <a:r>
              <a:rPr lang="en-US" sz="2400" b="1">
                <a:solidFill>
                  <a:srgbClr val="FF0000"/>
                </a:solidFill>
                <a:latin typeface="Calibri" pitchFamily="34" charset="0"/>
              </a:rPr>
              <a:t>Birth Through Kindergarten (B-K)</a:t>
            </a:r>
            <a:r>
              <a:rPr lang="en-US" sz="2400" b="1">
                <a:latin typeface="Calibri" pitchFamily="34" charset="0"/>
              </a:rPr>
              <a:t> </a:t>
            </a:r>
          </a:p>
          <a:p>
            <a:pPr marL="609600" indent="-325438">
              <a:spcBef>
                <a:spcPct val="20000"/>
              </a:spcBef>
              <a:buFont typeface="Arial" charset="0"/>
              <a:buChar char="•"/>
            </a:pPr>
            <a:endParaRPr lang="en-US" sz="2400" b="1">
              <a:latin typeface="Calibri" pitchFamily="34" charset="0"/>
            </a:endParaRPr>
          </a:p>
          <a:p>
            <a:pPr marL="609600" indent="-325438">
              <a:spcBef>
                <a:spcPct val="20000"/>
              </a:spcBef>
              <a:buFont typeface="Arial" charset="0"/>
              <a:buChar char="•"/>
            </a:pPr>
            <a:r>
              <a:rPr lang="en-US" sz="2400" b="1">
                <a:latin typeface="Calibri" pitchFamily="34" charset="0"/>
              </a:rPr>
              <a:t>To be consistent with Educator Preparation program changes</a:t>
            </a:r>
          </a:p>
          <a:p>
            <a:pPr marL="609600" indent="-325438">
              <a:spcBef>
                <a:spcPct val="20000"/>
              </a:spcBef>
              <a:buFont typeface="Arial" charset="0"/>
              <a:buChar char="•"/>
            </a:pPr>
            <a:r>
              <a:rPr lang="en-US" sz="2400" b="1">
                <a:latin typeface="Calibri" pitchFamily="34" charset="0"/>
              </a:rPr>
              <a:t>Existing B-5 certificates will remain intact</a:t>
            </a:r>
          </a:p>
          <a:p>
            <a:pPr marL="609600" indent="-325438">
              <a:spcBef>
                <a:spcPct val="20000"/>
              </a:spcBef>
              <a:buFont typeface="Arial" charset="0"/>
              <a:buChar char="•"/>
            </a:pPr>
            <a:r>
              <a:rPr lang="en-US" sz="2400" b="1">
                <a:latin typeface="Calibri" pitchFamily="34" charset="0"/>
              </a:rPr>
              <a:t>At time of renewal, GaPSC will change the name </a:t>
            </a:r>
          </a:p>
          <a:p>
            <a:pPr marL="609600" indent="-325438">
              <a:spcBef>
                <a:spcPct val="20000"/>
              </a:spcBef>
              <a:buFont typeface="Arial" charset="0"/>
              <a:buNone/>
            </a:pPr>
            <a:endParaRPr lang="en-US" sz="2400" b="1">
              <a:latin typeface="Calibri"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457200" y="274638"/>
            <a:ext cx="8229600" cy="1401762"/>
          </a:xfrm>
        </p:spPr>
        <p:txBody>
          <a:bodyPr/>
          <a:lstStyle/>
          <a:p>
            <a:pPr algn="l"/>
            <a:r>
              <a:rPr lang="en-US" sz="3200" b="1" smtClean="0">
                <a:solidFill>
                  <a:srgbClr val="A71C1F"/>
                </a:solidFill>
              </a:rPr>
              <a:t>Rules Effective 1/15/12</a:t>
            </a:r>
          </a:p>
        </p:txBody>
      </p:sp>
      <p:sp>
        <p:nvSpPr>
          <p:cNvPr id="81923"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81924"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81925"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81926"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3075" name="Rectangle 3"/>
          <p:cNvSpPr>
            <a:spLocks noChangeArrowheads="1"/>
          </p:cNvSpPr>
          <p:nvPr/>
        </p:nvSpPr>
        <p:spPr bwMode="auto">
          <a:xfrm>
            <a:off x="228600" y="1752600"/>
            <a:ext cx="8610600" cy="4373563"/>
          </a:xfrm>
          <a:prstGeom prst="rect">
            <a:avLst/>
          </a:prstGeom>
          <a:noFill/>
          <a:ln w="9525">
            <a:noFill/>
            <a:miter lim="800000"/>
            <a:headEnd/>
            <a:tailEnd/>
          </a:ln>
        </p:spPr>
        <p:txBody>
          <a:bodyPr/>
          <a:lstStyle/>
          <a:p>
            <a:pPr marL="609600" indent="-325438">
              <a:spcBef>
                <a:spcPct val="20000"/>
              </a:spcBef>
              <a:buFont typeface="Arial" charset="0"/>
              <a:buNone/>
            </a:pPr>
            <a:r>
              <a:rPr lang="en-US" sz="2800" b="1">
                <a:latin typeface="Calibri" pitchFamily="34" charset="0"/>
              </a:rPr>
              <a:t>Educational Leadership </a:t>
            </a:r>
          </a:p>
          <a:p>
            <a:pPr marL="609600" indent="-325438">
              <a:spcBef>
                <a:spcPct val="20000"/>
              </a:spcBef>
              <a:buFont typeface="Arial" charset="0"/>
              <a:buChar char="•"/>
            </a:pPr>
            <a:r>
              <a:rPr lang="en-US" sz="2800" b="1">
                <a:latin typeface="Calibri" pitchFamily="34" charset="0"/>
              </a:rPr>
              <a:t>Removes pre-service coursework language from the cert application process for NPL</a:t>
            </a:r>
          </a:p>
          <a:p>
            <a:pPr marL="609600" indent="-325438">
              <a:spcBef>
                <a:spcPct val="20000"/>
              </a:spcBef>
              <a:buFont typeface="Arial" charset="0"/>
              <a:buChar char="•"/>
            </a:pPr>
            <a:r>
              <a:rPr lang="en-US" sz="2800" b="1">
                <a:latin typeface="Calibri" pitchFamily="34" charset="0"/>
              </a:rPr>
              <a:t>Pre-service coursework requirement remains in Ed Prep Program Rule</a:t>
            </a:r>
          </a:p>
          <a:p>
            <a:pPr marL="609600" indent="-325438">
              <a:spcBef>
                <a:spcPct val="20000"/>
              </a:spcBef>
              <a:buFont typeface="Arial" charset="0"/>
              <a:buChar char="•"/>
            </a:pPr>
            <a:r>
              <a:rPr lang="en-US" sz="2800" b="1">
                <a:latin typeface="Calibri" pitchFamily="34" charset="0"/>
              </a:rPr>
              <a:t>Clarifies leadership role</a:t>
            </a:r>
          </a:p>
          <a:p>
            <a:pPr marL="609600" indent="-325438">
              <a:spcBef>
                <a:spcPct val="20000"/>
              </a:spcBef>
              <a:buFont typeface="Arial" charset="0"/>
              <a:buChar char="•"/>
            </a:pPr>
            <a:endParaRPr lang="en-US" sz="2800" b="1">
              <a:latin typeface="Calibri" pitchFamily="34" charset="0"/>
            </a:endParaRPr>
          </a:p>
          <a:p>
            <a:pPr marL="609600" indent="-325438">
              <a:spcBef>
                <a:spcPct val="20000"/>
              </a:spcBef>
              <a:buFont typeface="Arial" charset="0"/>
              <a:buNone/>
            </a:pPr>
            <a:endParaRPr lang="en-US" sz="2800" b="1">
              <a:latin typeface="Calibri" pitchFamily="34" charset="0"/>
            </a:endParaRPr>
          </a:p>
          <a:p>
            <a:pPr marL="609600" indent="-325438">
              <a:spcBef>
                <a:spcPct val="20000"/>
              </a:spcBef>
              <a:buFont typeface="Arial" charset="0"/>
              <a:buNone/>
            </a:pPr>
            <a:endParaRPr lang="en-US" sz="2400" b="1">
              <a:latin typeface="Calibri"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a:xfrm>
            <a:off x="457200" y="274638"/>
            <a:ext cx="8229600" cy="1401762"/>
          </a:xfrm>
        </p:spPr>
        <p:txBody>
          <a:bodyPr>
            <a:normAutofit/>
          </a:bodyPr>
          <a:lstStyle/>
          <a:p>
            <a:pPr algn="l"/>
            <a:r>
              <a:rPr lang="en-US" b="1" dirty="0" smtClean="0">
                <a:solidFill>
                  <a:srgbClr val="A71C1F"/>
                </a:solidFill>
              </a:rPr>
              <a:t>Rules Effective 1/15/12</a:t>
            </a:r>
          </a:p>
        </p:txBody>
      </p:sp>
      <p:sp>
        <p:nvSpPr>
          <p:cNvPr id="83971"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latin typeface="Calibri" pitchFamily="34" charset="0"/>
            </a:endParaRPr>
          </a:p>
        </p:txBody>
      </p:sp>
      <p:sp>
        <p:nvSpPr>
          <p:cNvPr id="83972"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endParaRPr>
          </a:p>
        </p:txBody>
      </p:sp>
      <p:pic>
        <p:nvPicPr>
          <p:cNvPr id="83973"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83974"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3075" name="Rectangle 3"/>
          <p:cNvSpPr>
            <a:spLocks noChangeArrowheads="1"/>
          </p:cNvSpPr>
          <p:nvPr/>
        </p:nvSpPr>
        <p:spPr bwMode="auto">
          <a:xfrm>
            <a:off x="228600" y="1752600"/>
            <a:ext cx="8610600" cy="4373563"/>
          </a:xfrm>
          <a:prstGeom prst="rect">
            <a:avLst/>
          </a:prstGeom>
          <a:noFill/>
          <a:ln w="9525">
            <a:noFill/>
            <a:miter lim="800000"/>
            <a:headEnd/>
            <a:tailEnd/>
          </a:ln>
        </p:spPr>
        <p:txBody>
          <a:bodyPr/>
          <a:lstStyle/>
          <a:p>
            <a:pPr marL="609600" indent="-325438">
              <a:spcBef>
                <a:spcPct val="20000"/>
              </a:spcBef>
              <a:buFont typeface="Arial" charset="0"/>
              <a:buNone/>
            </a:pPr>
            <a:r>
              <a:rPr lang="en-US" sz="2800" b="1" dirty="0" smtClean="0">
                <a:latin typeface="Calibri" pitchFamily="34" charset="0"/>
              </a:rPr>
              <a:t>New Field - Curriculum </a:t>
            </a:r>
            <a:r>
              <a:rPr lang="en-US" sz="2800" b="1" dirty="0">
                <a:latin typeface="Calibri" pitchFamily="34" charset="0"/>
              </a:rPr>
              <a:t>and Instruction</a:t>
            </a:r>
          </a:p>
          <a:p>
            <a:pPr marL="609600" indent="-325438">
              <a:spcBef>
                <a:spcPct val="20000"/>
              </a:spcBef>
              <a:buFont typeface="Arial" charset="0"/>
              <a:buChar char="•"/>
            </a:pPr>
            <a:r>
              <a:rPr lang="en-US" sz="2800" b="1" dirty="0">
                <a:latin typeface="Calibri" pitchFamily="34" charset="0"/>
              </a:rPr>
              <a:t>Service Field</a:t>
            </a:r>
          </a:p>
          <a:p>
            <a:pPr marL="609600" indent="-325438">
              <a:spcBef>
                <a:spcPct val="20000"/>
              </a:spcBef>
              <a:buFont typeface="Arial" charset="0"/>
              <a:buChar char="•"/>
            </a:pPr>
            <a:r>
              <a:rPr lang="en-US" sz="2800" b="1" dirty="0">
                <a:latin typeface="Calibri" pitchFamily="34" charset="0"/>
              </a:rPr>
              <a:t>Aligns with Ed Prep Rule</a:t>
            </a:r>
            <a:endParaRPr lang="en-US" sz="2400" b="1" dirty="0">
              <a:latin typeface="Calibri" pitchFamily="34" charset="0"/>
            </a:endParaRPr>
          </a:p>
          <a:p>
            <a:pPr marL="609600" indent="-325438">
              <a:spcBef>
                <a:spcPct val="20000"/>
              </a:spcBef>
              <a:buFont typeface="Arial" charset="0"/>
              <a:buChar char="•"/>
            </a:pPr>
            <a:r>
              <a:rPr lang="en-US" sz="2800" b="1" dirty="0">
                <a:latin typeface="Calibri" pitchFamily="34" charset="0"/>
              </a:rPr>
              <a:t>Improvement of teaching skills to impact performance &amp; learning process</a:t>
            </a:r>
          </a:p>
          <a:p>
            <a:pPr marL="609600" indent="-325438">
              <a:spcBef>
                <a:spcPct val="20000"/>
              </a:spcBef>
              <a:buFont typeface="Arial" charset="0"/>
              <a:buChar char="•"/>
            </a:pPr>
            <a:endParaRPr lang="en-US" sz="2800" b="1" dirty="0">
              <a:latin typeface="Calibri" pitchFamily="34" charset="0"/>
            </a:endParaRPr>
          </a:p>
          <a:p>
            <a:pPr marL="609600" indent="-325438">
              <a:spcBef>
                <a:spcPct val="20000"/>
              </a:spcBef>
              <a:buFont typeface="Arial" charset="0"/>
              <a:buNone/>
            </a:pPr>
            <a:r>
              <a:rPr lang="en-US" sz="2800" b="1" dirty="0" smtClean="0">
                <a:latin typeface="Calibri" pitchFamily="34" charset="0"/>
              </a:rPr>
              <a:t>(The </a:t>
            </a:r>
            <a:r>
              <a:rPr lang="en-US" sz="2800" b="1" dirty="0">
                <a:latin typeface="Calibri" pitchFamily="34" charset="0"/>
              </a:rPr>
              <a:t>fields of Instructional Technology and Teacher</a:t>
            </a:r>
          </a:p>
          <a:p>
            <a:pPr marL="609600" indent="-325438">
              <a:spcBef>
                <a:spcPct val="20000"/>
              </a:spcBef>
              <a:buFont typeface="Arial" charset="0"/>
              <a:buNone/>
            </a:pPr>
            <a:r>
              <a:rPr lang="en-US" sz="2800" b="1" dirty="0">
                <a:latin typeface="Calibri" pitchFamily="34" charset="0"/>
              </a:rPr>
              <a:t>Leadership became effective </a:t>
            </a:r>
            <a:r>
              <a:rPr lang="en-US" sz="2800" b="1" dirty="0" smtClean="0">
                <a:latin typeface="Calibri" pitchFamily="34" charset="0"/>
              </a:rPr>
              <a:t>10/15/11.)</a:t>
            </a:r>
            <a:endParaRPr lang="en-US" sz="2800" b="1" dirty="0">
              <a:latin typeface="Calibri" pitchFamily="34" charset="0"/>
            </a:endParaRPr>
          </a:p>
          <a:p>
            <a:pPr marL="609600" indent="-325438">
              <a:spcBef>
                <a:spcPct val="20000"/>
              </a:spcBef>
              <a:buFont typeface="Arial" charset="0"/>
              <a:buNone/>
            </a:pPr>
            <a:endParaRPr lang="en-US" sz="2400" b="1" dirty="0">
              <a:latin typeface="Calibri"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28600" y="274638"/>
            <a:ext cx="8458200" cy="1401762"/>
          </a:xfrm>
        </p:spPr>
        <p:txBody>
          <a:bodyPr>
            <a:normAutofit/>
          </a:bodyPr>
          <a:lstStyle/>
          <a:p>
            <a:pPr algn="l" eaLnBrk="1" hangingPunct="1"/>
            <a:r>
              <a:rPr lang="en-US" sz="3600" b="1" dirty="0" smtClean="0">
                <a:solidFill>
                  <a:srgbClr val="A71C1F"/>
                </a:solidFill>
              </a:rPr>
              <a:t>Upgrades - Certificate Levels and Degrees</a:t>
            </a: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marL="609600" indent="-325438" eaLnBrk="1" hangingPunct="1">
              <a:spcAft>
                <a:spcPts val="600"/>
              </a:spcAft>
              <a:buNone/>
            </a:pPr>
            <a:r>
              <a:rPr lang="en-US" sz="4400" b="1" dirty="0" smtClean="0"/>
              <a:t>Back in the day…</a:t>
            </a:r>
          </a:p>
          <a:p>
            <a:pPr marL="609600" indent="-325438">
              <a:spcAft>
                <a:spcPts val="600"/>
              </a:spcAft>
            </a:pPr>
            <a:r>
              <a:rPr lang="en-US" sz="3600" b="1" dirty="0" smtClean="0"/>
              <a:t>Certificate Level Based on Highest Degree Earned</a:t>
            </a:r>
          </a:p>
          <a:p>
            <a:pPr marL="609600" indent="-325438">
              <a:spcAft>
                <a:spcPts val="600"/>
              </a:spcAft>
            </a:pPr>
            <a:r>
              <a:rPr lang="en-US" sz="3600" b="1" dirty="0" smtClean="0"/>
              <a:t>Degree “Major” Did Not Matter!</a:t>
            </a:r>
          </a:p>
          <a:p>
            <a:pPr marL="609600" indent="-325438" eaLnBrk="1" hangingPunct="1">
              <a:spcAft>
                <a:spcPts val="600"/>
              </a:spcAft>
              <a:buNone/>
            </a:pPr>
            <a:endParaRPr lang="en-US" sz="2800" dirty="0" smtClean="0"/>
          </a:p>
          <a:p>
            <a:pPr marL="609600" indent="-325438" eaLnBrk="1" hangingPunct="1">
              <a:spcAft>
                <a:spcPts val="600"/>
              </a:spcAft>
              <a:buNone/>
            </a:pPr>
            <a:endParaRPr lang="en-US" sz="2800" dirty="0" smtClean="0"/>
          </a:p>
          <a:p>
            <a:pPr marL="609600" indent="-325438" eaLnBrk="1" hangingPunct="1">
              <a:spcAft>
                <a:spcPts val="600"/>
              </a:spcAft>
              <a:buNone/>
            </a:pPr>
            <a:endParaRPr lang="en-US" sz="2800" dirty="0" smtClean="0"/>
          </a:p>
          <a:p>
            <a:pPr marL="609600" indent="-325438" eaLnBrk="1" hangingPunct="1">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lvl="1"/>
            <a:r>
              <a:rPr lang="en-US" sz="4400" b="1" dirty="0" smtClean="0">
                <a:solidFill>
                  <a:srgbClr val="C00000"/>
                </a:solidFill>
                <a:latin typeface="+mj-lt"/>
                <a:cs typeface="Times New Roman" pitchFamily="18" charset="0"/>
              </a:rPr>
              <a:t>Upgrades - What Changed?</a:t>
            </a:r>
            <a:endParaRPr lang="en-US" sz="4400" b="1" dirty="0">
              <a:solidFill>
                <a:schemeClr val="bg1"/>
              </a:solidFill>
              <a:latin typeface="+mj-lt"/>
              <a:cs typeface="Times New Roman" pitchFamily="18" charset="0"/>
            </a:endParaRPr>
          </a:p>
        </p:txBody>
      </p:sp>
      <p:sp>
        <p:nvSpPr>
          <p:cNvPr id="3075" name="Rectangle 3"/>
          <p:cNvSpPr>
            <a:spLocks noGrp="1" noChangeArrowheads="1"/>
          </p:cNvSpPr>
          <p:nvPr>
            <p:ph type="body" sz="half" idx="1"/>
          </p:nvPr>
        </p:nvSpPr>
        <p:spPr>
          <a:xfrm>
            <a:off x="228600" y="1752600"/>
            <a:ext cx="8610600" cy="4572000"/>
          </a:xfrm>
        </p:spPr>
        <p:txBody>
          <a:bodyPr>
            <a:normAutofit/>
          </a:bodyPr>
          <a:lstStyle/>
          <a:p>
            <a:pPr marL="0" indent="0">
              <a:spcAft>
                <a:spcPct val="40000"/>
              </a:spcAft>
              <a:buNone/>
            </a:pPr>
            <a:r>
              <a:rPr lang="en-US" sz="2400" dirty="0" smtClean="0">
                <a:cs typeface="Times New Roman" pitchFamily="18" charset="0"/>
              </a:rPr>
              <a:t>Advanced degrees which result in an upgrade…</a:t>
            </a:r>
          </a:p>
          <a:p>
            <a:pPr marL="400050" lvl="1" indent="0">
              <a:spcAft>
                <a:spcPct val="40000"/>
              </a:spcAft>
              <a:buNone/>
            </a:pPr>
            <a:r>
              <a:rPr lang="en-US" sz="2400" dirty="0" smtClean="0">
                <a:cs typeface="Times New Roman" pitchFamily="18" charset="0"/>
              </a:rPr>
              <a:t>(1a) must be in a </a:t>
            </a:r>
            <a:r>
              <a:rPr lang="en-US" sz="2400" dirty="0" err="1" smtClean="0">
                <a:cs typeface="Times New Roman" pitchFamily="18" charset="0"/>
              </a:rPr>
              <a:t>GaPSC</a:t>
            </a:r>
            <a:r>
              <a:rPr lang="en-US" sz="2400" dirty="0" smtClean="0">
                <a:cs typeface="Times New Roman" pitchFamily="18" charset="0"/>
              </a:rPr>
              <a:t> field of certification currently held by the educator (</a:t>
            </a:r>
            <a:r>
              <a:rPr lang="en-US" sz="2400" b="1" u="sng" dirty="0" smtClean="0">
                <a:cs typeface="Times New Roman" pitchFamily="18" charset="0"/>
              </a:rPr>
              <a:t>In Field</a:t>
            </a:r>
            <a:r>
              <a:rPr lang="en-US" sz="2400" dirty="0" smtClean="0">
                <a:cs typeface="Times New Roman" pitchFamily="18" charset="0"/>
              </a:rPr>
              <a:t>),</a:t>
            </a:r>
          </a:p>
          <a:p>
            <a:pPr marL="914400" lvl="1" indent="-457200" algn="ctr">
              <a:spcAft>
                <a:spcPct val="40000"/>
              </a:spcAft>
              <a:buNone/>
            </a:pPr>
            <a:r>
              <a:rPr lang="en-US" sz="2400" b="1" i="1" dirty="0" smtClean="0">
                <a:solidFill>
                  <a:srgbClr val="FF0000"/>
                </a:solidFill>
                <a:cs typeface="Times New Roman" pitchFamily="18" charset="0"/>
              </a:rPr>
              <a:t>or</a:t>
            </a:r>
          </a:p>
          <a:p>
            <a:pPr marL="914400" lvl="1" indent="-457200" algn="ctr">
              <a:spcAft>
                <a:spcPct val="40000"/>
              </a:spcAft>
              <a:buNone/>
            </a:pPr>
            <a:r>
              <a:rPr lang="en-US" sz="2400" dirty="0" smtClean="0">
                <a:cs typeface="Times New Roman" pitchFamily="18" charset="0"/>
              </a:rPr>
              <a:t>(1b) must result in a new GaPSC field of certification (</a:t>
            </a:r>
            <a:r>
              <a:rPr lang="en-US" sz="2400" b="1" u="sng" dirty="0" smtClean="0">
                <a:cs typeface="Times New Roman" pitchFamily="18" charset="0"/>
              </a:rPr>
              <a:t>New Field</a:t>
            </a:r>
            <a:r>
              <a:rPr lang="en-US" sz="2400" dirty="0" smtClean="0">
                <a:cs typeface="Times New Roman" pitchFamily="18" charset="0"/>
              </a:rPr>
              <a:t>)</a:t>
            </a:r>
          </a:p>
          <a:p>
            <a:pPr lvl="1" algn="ctr">
              <a:spcAft>
                <a:spcPct val="40000"/>
              </a:spcAft>
              <a:buNone/>
            </a:pPr>
            <a:r>
              <a:rPr lang="en-US" sz="2400" b="1" i="1" dirty="0" smtClean="0">
                <a:solidFill>
                  <a:srgbClr val="FF0000"/>
                </a:solidFill>
                <a:cs typeface="Times New Roman" pitchFamily="18" charset="0"/>
              </a:rPr>
              <a:t>and</a:t>
            </a:r>
          </a:p>
          <a:p>
            <a:pPr marL="400050" lvl="1" indent="0">
              <a:spcAft>
                <a:spcPct val="40000"/>
              </a:spcAft>
              <a:buNone/>
            </a:pPr>
            <a:r>
              <a:rPr lang="en-US" sz="2400" dirty="0" smtClean="0">
                <a:cs typeface="Times New Roman" pitchFamily="18" charset="0"/>
              </a:rPr>
              <a:t>(2) Institutions and advanced degrees leading to GA upgrades must meet the same levels of quality as GaPSC approved institutions and programs</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533400"/>
            <a:ext cx="8229600" cy="884238"/>
          </a:xfrm>
        </p:spPr>
        <p:txBody>
          <a:bodyPr>
            <a:noAutofit/>
          </a:bodyPr>
          <a:lstStyle/>
          <a:p>
            <a:pPr lvl="1"/>
            <a:r>
              <a:rPr lang="en-US" sz="4400" b="1" dirty="0" smtClean="0">
                <a:solidFill>
                  <a:srgbClr val="C00000"/>
                </a:solidFill>
                <a:latin typeface="+mj-lt"/>
                <a:cs typeface="Times New Roman" pitchFamily="18" charset="0"/>
              </a:rPr>
              <a:t>What are the options?</a:t>
            </a:r>
            <a:endParaRPr lang="en-US" sz="4400" b="1" dirty="0">
              <a:solidFill>
                <a:srgbClr val="C00000"/>
              </a:solidFill>
              <a:latin typeface="+mj-lt"/>
              <a:cs typeface="Times New Roman" pitchFamily="18" charset="0"/>
            </a:endParaRP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fontAlgn="t"/>
            <a:r>
              <a:rPr lang="en-US" sz="4800" b="1" dirty="0" smtClean="0">
                <a:solidFill>
                  <a:schemeClr val="bg1"/>
                </a:solidFill>
                <a:latin typeface="Times New Roman" pitchFamily="18" charset="0"/>
                <a:cs typeface="Times New Roman" pitchFamily="18" charset="0"/>
              </a:rPr>
              <a:t>Op</a:t>
            </a:r>
            <a:endParaRPr lang="en-US" b="1"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graphicFrame>
        <p:nvGraphicFramePr>
          <p:cNvPr id="8" name="Table 7"/>
          <p:cNvGraphicFramePr>
            <a:graphicFrameLocks noGrp="1"/>
          </p:cNvGraphicFramePr>
          <p:nvPr/>
        </p:nvGraphicFramePr>
        <p:xfrm>
          <a:off x="304800" y="1792769"/>
          <a:ext cx="8534400" cy="4655323"/>
        </p:xfrm>
        <a:graphic>
          <a:graphicData uri="http://schemas.openxmlformats.org/drawingml/2006/table">
            <a:tbl>
              <a:tblPr/>
              <a:tblGrid>
                <a:gridCol w="497227"/>
                <a:gridCol w="3872361"/>
                <a:gridCol w="4164812"/>
              </a:tblGrid>
              <a:tr h="728071">
                <a:tc>
                  <a:txBody>
                    <a:bodyPr/>
                    <a:lstStyle/>
                    <a:p>
                      <a:pPr algn="l">
                        <a:lnSpc>
                          <a:spcPct val="115000"/>
                        </a:lnSpc>
                      </a:pPr>
                      <a:endParaRPr lang="en-US" sz="800" dirty="0">
                        <a:latin typeface="Calibri"/>
                        <a:ea typeface="Times New Roman"/>
                      </a:endParaRPr>
                    </a:p>
                  </a:txBody>
                  <a:tcPr marL="63062" marR="63062" marT="31531" marB="31531">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marL="0" marR="0" algn="l">
                        <a:lnSpc>
                          <a:spcPct val="115000"/>
                        </a:lnSpc>
                        <a:spcBef>
                          <a:spcPts val="0"/>
                        </a:spcBef>
                        <a:spcAft>
                          <a:spcPts val="1000"/>
                        </a:spcAft>
                      </a:pPr>
                      <a:r>
                        <a:rPr lang="en-US" sz="2000" b="1" dirty="0">
                          <a:latin typeface="Calibri"/>
                          <a:ea typeface="Calibri"/>
                          <a:cs typeface="Times New Roman"/>
                        </a:rPr>
                        <a:t>Infield: Candidate’s field of certification (education or content)</a:t>
                      </a:r>
                      <a:endParaRPr lang="en-US" sz="2000" dirty="0">
                        <a:latin typeface="Calibri"/>
                        <a:ea typeface="Calibri"/>
                        <a:cs typeface="Times New Roman"/>
                      </a:endParaRPr>
                    </a:p>
                  </a:txBody>
                  <a:tcPr marL="47297" marR="47297" marT="5255" marB="0">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marL="0" marR="0" algn="l">
                        <a:lnSpc>
                          <a:spcPct val="115000"/>
                        </a:lnSpc>
                        <a:spcBef>
                          <a:spcPts val="0"/>
                        </a:spcBef>
                        <a:spcAft>
                          <a:spcPts val="1000"/>
                        </a:spcAft>
                      </a:pPr>
                      <a:r>
                        <a:rPr lang="en-US" sz="2000" b="1" dirty="0">
                          <a:latin typeface="Calibri"/>
                          <a:ea typeface="Calibri"/>
                          <a:cs typeface="Times New Roman"/>
                        </a:rPr>
                        <a:t>New Field: New certification area in a GaPSC approved certification field</a:t>
                      </a:r>
                      <a:endParaRPr lang="en-US" sz="2000" dirty="0">
                        <a:latin typeface="Calibri"/>
                        <a:ea typeface="Calibri"/>
                        <a:cs typeface="Times New Roman"/>
                      </a:endParaRPr>
                    </a:p>
                  </a:txBody>
                  <a:tcPr marL="63062" marR="63062" marT="31531" marB="3153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r>
              <a:tr h="1583597">
                <a:tc>
                  <a:txBody>
                    <a:bodyPr/>
                    <a:lstStyle/>
                    <a:p>
                      <a:pPr marL="0" marR="0" algn="ctr">
                        <a:lnSpc>
                          <a:spcPct val="115000"/>
                        </a:lnSpc>
                        <a:spcBef>
                          <a:spcPts val="0"/>
                        </a:spcBef>
                        <a:spcAft>
                          <a:spcPts val="1000"/>
                        </a:spcAft>
                      </a:pPr>
                      <a:r>
                        <a:rPr lang="en-US" sz="2400" b="1" dirty="0">
                          <a:latin typeface="Calibri"/>
                          <a:ea typeface="Calibri"/>
                          <a:cs typeface="Times New Roman"/>
                        </a:rPr>
                        <a:t>In State </a:t>
                      </a:r>
                    </a:p>
                  </a:txBody>
                  <a:tcPr marL="63062" marR="63062" marT="31531" marB="31531"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marL="0" marR="0" algn="l">
                        <a:lnSpc>
                          <a:spcPct val="115000"/>
                        </a:lnSpc>
                        <a:spcBef>
                          <a:spcPts val="0"/>
                        </a:spcBef>
                        <a:spcAft>
                          <a:spcPts val="1000"/>
                        </a:spcAft>
                      </a:pPr>
                      <a:r>
                        <a:rPr lang="en-US" sz="1400" dirty="0">
                          <a:latin typeface="Calibri"/>
                          <a:ea typeface="Calibri"/>
                          <a:cs typeface="Times New Roman"/>
                        </a:rPr>
                        <a:t>Completion of program at a GaPSC approved education unit </a:t>
                      </a:r>
                      <a:r>
                        <a:rPr lang="en-US" sz="1400" b="1" dirty="0">
                          <a:latin typeface="Calibri"/>
                          <a:ea typeface="Calibri"/>
                          <a:cs typeface="Times New Roman"/>
                        </a:rPr>
                        <a:t>OR </a:t>
                      </a:r>
                      <a:r>
                        <a:rPr lang="en-US" sz="1400" dirty="0">
                          <a:latin typeface="Calibri"/>
                          <a:ea typeface="Calibri"/>
                          <a:cs typeface="Times New Roman"/>
                        </a:rPr>
                        <a:t>at a university with a </a:t>
                      </a:r>
                      <a:r>
                        <a:rPr lang="en-US" sz="1400" b="1" dirty="0">
                          <a:latin typeface="Calibri"/>
                          <a:ea typeface="Calibri"/>
                          <a:cs typeface="Times New Roman"/>
                        </a:rPr>
                        <a:t> </a:t>
                      </a:r>
                      <a:r>
                        <a:rPr lang="en-US" sz="1400" dirty="0">
                          <a:latin typeface="Calibri"/>
                          <a:ea typeface="Calibri"/>
                          <a:cs typeface="Times New Roman"/>
                        </a:rPr>
                        <a:t>Carnegie Classification of RU/VH Activity or RU/H Activity</a:t>
                      </a:r>
                    </a:p>
                  </a:txBody>
                  <a:tcPr marL="47297" marR="47297" marT="525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marL="0" marR="0" algn="l">
                        <a:lnSpc>
                          <a:spcPct val="115000"/>
                        </a:lnSpc>
                        <a:spcBef>
                          <a:spcPts val="0"/>
                        </a:spcBef>
                        <a:spcAft>
                          <a:spcPts val="1000"/>
                        </a:spcAft>
                      </a:pPr>
                      <a:r>
                        <a:rPr lang="en-US" sz="1400" dirty="0">
                          <a:latin typeface="Calibri"/>
                          <a:ea typeface="Calibri"/>
                          <a:cs typeface="Times New Roman"/>
                        </a:rPr>
                        <a:t>Completion of a GaPSC  approved program that leads to initial certification at a GaPSC approved education unit </a:t>
                      </a:r>
                      <a:r>
                        <a:rPr lang="en-US" sz="1400" b="1" dirty="0">
                          <a:latin typeface="Calibri"/>
                          <a:ea typeface="Calibri"/>
                          <a:cs typeface="Times New Roman"/>
                        </a:rPr>
                        <a:t>AND </a:t>
                      </a:r>
                      <a:r>
                        <a:rPr lang="en-US" sz="1400" dirty="0">
                          <a:latin typeface="Calibri"/>
                          <a:ea typeface="Calibri"/>
                          <a:cs typeface="Times New Roman"/>
                        </a:rPr>
                        <a:t>pass the  Georgia  state approved content assessment </a:t>
                      </a:r>
                      <a:r>
                        <a:rPr lang="en-US" sz="1400" b="1" dirty="0">
                          <a:latin typeface="Calibri"/>
                          <a:ea typeface="Calibri"/>
                          <a:cs typeface="Times New Roman"/>
                        </a:rPr>
                        <a:t>AND </a:t>
                      </a:r>
                      <a:r>
                        <a:rPr lang="en-US" sz="1400" dirty="0">
                          <a:latin typeface="Calibri"/>
                          <a:ea typeface="Calibri"/>
                          <a:cs typeface="Times New Roman"/>
                        </a:rPr>
                        <a:t>complete Georgia requirements </a:t>
                      </a:r>
                      <a:r>
                        <a:rPr lang="en-US" sz="1400" b="1" dirty="0">
                          <a:latin typeface="Calibri"/>
                          <a:ea typeface="Calibri"/>
                          <a:cs typeface="Times New Roman"/>
                        </a:rPr>
                        <a:t>AND</a:t>
                      </a:r>
                      <a:endParaRPr lang="en-US" sz="1400" dirty="0">
                        <a:latin typeface="Calibri"/>
                        <a:ea typeface="Calibri"/>
                        <a:cs typeface="Times New Roman"/>
                      </a:endParaRPr>
                    </a:p>
                    <a:p>
                      <a:pPr marL="0" marR="0" algn="l">
                        <a:lnSpc>
                          <a:spcPct val="115000"/>
                        </a:lnSpc>
                        <a:spcBef>
                          <a:spcPts val="0"/>
                        </a:spcBef>
                        <a:spcAft>
                          <a:spcPts val="1000"/>
                        </a:spcAft>
                      </a:pPr>
                      <a:r>
                        <a:rPr lang="en-US" sz="1400" dirty="0">
                          <a:latin typeface="Calibri"/>
                          <a:ea typeface="Calibri"/>
                          <a:cs typeface="Times New Roman"/>
                        </a:rPr>
                        <a:t>add the field to certificate. </a:t>
                      </a:r>
                    </a:p>
                  </a:txBody>
                  <a:tcPr marL="63062" marR="63062"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r>
              <a:tr h="2307624">
                <a:tc>
                  <a:txBody>
                    <a:bodyPr/>
                    <a:lstStyle/>
                    <a:p>
                      <a:pPr marL="0" marR="0" algn="ctr">
                        <a:lnSpc>
                          <a:spcPct val="115000"/>
                        </a:lnSpc>
                        <a:spcBef>
                          <a:spcPts val="0"/>
                        </a:spcBef>
                        <a:spcAft>
                          <a:spcPts val="1000"/>
                        </a:spcAft>
                      </a:pPr>
                      <a:r>
                        <a:rPr lang="en-US" sz="2400" b="1" dirty="0">
                          <a:latin typeface="Calibri"/>
                          <a:ea typeface="Calibri"/>
                          <a:cs typeface="Times New Roman"/>
                        </a:rPr>
                        <a:t>Out of State </a:t>
                      </a:r>
                    </a:p>
                  </a:txBody>
                  <a:tcPr marL="63062" marR="63062" marT="31531" marB="31531"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marL="0" marR="0" algn="l">
                        <a:lnSpc>
                          <a:spcPct val="115000"/>
                        </a:lnSpc>
                        <a:spcBef>
                          <a:spcPts val="0"/>
                        </a:spcBef>
                        <a:spcAft>
                          <a:spcPts val="1000"/>
                        </a:spcAft>
                      </a:pPr>
                      <a:r>
                        <a:rPr lang="en-US" sz="1400" dirty="0">
                          <a:latin typeface="Calibri"/>
                          <a:ea typeface="Calibri"/>
                          <a:cs typeface="Times New Roman"/>
                        </a:rPr>
                        <a:t>Completion of a program at an institution accredited by NCATE/TEAC/ CAEP </a:t>
                      </a:r>
                    </a:p>
                    <a:p>
                      <a:pPr marL="0" marR="0" algn="l">
                        <a:lnSpc>
                          <a:spcPct val="115000"/>
                        </a:lnSpc>
                        <a:spcBef>
                          <a:spcPts val="0"/>
                        </a:spcBef>
                        <a:spcAft>
                          <a:spcPts val="1000"/>
                        </a:spcAft>
                      </a:pPr>
                      <a:r>
                        <a:rPr lang="en-US" sz="1400" b="1" dirty="0">
                          <a:latin typeface="Calibri"/>
                          <a:ea typeface="Calibri"/>
                          <a:cs typeface="Times New Roman"/>
                        </a:rPr>
                        <a:t>OR </a:t>
                      </a:r>
                      <a:r>
                        <a:rPr lang="en-US" sz="1400" dirty="0">
                          <a:latin typeface="Calibri"/>
                          <a:ea typeface="Calibri"/>
                          <a:cs typeface="Times New Roman"/>
                        </a:rPr>
                        <a:t>at a university with a </a:t>
                      </a:r>
                    </a:p>
                    <a:p>
                      <a:pPr marL="0" marR="0" algn="l">
                        <a:lnSpc>
                          <a:spcPct val="115000"/>
                        </a:lnSpc>
                        <a:spcBef>
                          <a:spcPts val="0"/>
                        </a:spcBef>
                        <a:spcAft>
                          <a:spcPts val="1000"/>
                        </a:spcAft>
                      </a:pPr>
                      <a:r>
                        <a:rPr lang="en-US" sz="1400" dirty="0">
                          <a:latin typeface="Calibri"/>
                          <a:ea typeface="Calibri"/>
                          <a:cs typeface="Times New Roman"/>
                        </a:rPr>
                        <a:t> Carnegie Classification of RU/VH Activity or RU/H Activity</a:t>
                      </a:r>
                    </a:p>
                  </a:txBody>
                  <a:tcPr marL="47297" marR="47297" marT="525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marL="0" marR="0" algn="l">
                        <a:lnSpc>
                          <a:spcPct val="115000"/>
                        </a:lnSpc>
                        <a:spcBef>
                          <a:spcPts val="0"/>
                        </a:spcBef>
                        <a:spcAft>
                          <a:spcPts val="1000"/>
                        </a:spcAft>
                      </a:pPr>
                      <a:r>
                        <a:rPr lang="en-US" sz="1400" dirty="0">
                          <a:latin typeface="Calibri"/>
                          <a:ea typeface="Calibri"/>
                          <a:cs typeface="Times New Roman"/>
                        </a:rPr>
                        <a:t>Completion of a </a:t>
                      </a:r>
                      <a:r>
                        <a:rPr lang="en-US" sz="1400" b="1" dirty="0">
                          <a:latin typeface="Calibri"/>
                          <a:ea typeface="Calibri"/>
                          <a:cs typeface="Times New Roman"/>
                        </a:rPr>
                        <a:t>state approved</a:t>
                      </a:r>
                      <a:r>
                        <a:rPr lang="en-US" sz="1400" dirty="0">
                          <a:latin typeface="Calibri"/>
                          <a:ea typeface="Calibri"/>
                          <a:cs typeface="Times New Roman"/>
                        </a:rPr>
                        <a:t> education program  that leads to initial certification at a university either accredited by NCATE/ TEAC / CAEP </a:t>
                      </a:r>
                      <a:r>
                        <a:rPr lang="en-US" sz="1400" b="1" dirty="0">
                          <a:latin typeface="Calibri"/>
                          <a:ea typeface="Calibri"/>
                          <a:cs typeface="Times New Roman"/>
                        </a:rPr>
                        <a:t>OR</a:t>
                      </a:r>
                      <a:r>
                        <a:rPr lang="en-US" sz="1400" dirty="0">
                          <a:latin typeface="Calibri"/>
                          <a:ea typeface="Calibri"/>
                          <a:cs typeface="Times New Roman"/>
                        </a:rPr>
                        <a:t> with a Carnegie Classification of RU/VH Activity or RU/H Activity</a:t>
                      </a:r>
                      <a:r>
                        <a:rPr lang="en-US" sz="1400" b="1" dirty="0">
                          <a:latin typeface="Calibri"/>
                          <a:ea typeface="Calibri"/>
                          <a:cs typeface="Times New Roman"/>
                        </a:rPr>
                        <a:t> </a:t>
                      </a:r>
                      <a:endParaRPr lang="en-US" sz="1400" dirty="0">
                        <a:latin typeface="Calibri"/>
                        <a:ea typeface="Calibri"/>
                        <a:cs typeface="Times New Roman"/>
                      </a:endParaRPr>
                    </a:p>
                    <a:p>
                      <a:pPr marL="0" marR="0" algn="l">
                        <a:lnSpc>
                          <a:spcPct val="115000"/>
                        </a:lnSpc>
                        <a:spcBef>
                          <a:spcPts val="0"/>
                        </a:spcBef>
                        <a:spcAft>
                          <a:spcPts val="1000"/>
                        </a:spcAft>
                      </a:pPr>
                      <a:r>
                        <a:rPr lang="en-US" sz="1400" b="1" dirty="0">
                          <a:latin typeface="Calibri"/>
                          <a:ea typeface="Calibri"/>
                          <a:cs typeface="Times New Roman"/>
                        </a:rPr>
                        <a:t>AND </a:t>
                      </a:r>
                      <a:r>
                        <a:rPr lang="en-US" sz="1400" dirty="0">
                          <a:latin typeface="Calibri"/>
                          <a:ea typeface="Calibri"/>
                          <a:cs typeface="Times New Roman"/>
                        </a:rPr>
                        <a:t>pass the  Georgia  state approved content assessment </a:t>
                      </a:r>
                      <a:r>
                        <a:rPr lang="en-US" sz="1400" b="1" dirty="0">
                          <a:latin typeface="Calibri"/>
                          <a:ea typeface="Calibri"/>
                          <a:cs typeface="Times New Roman"/>
                        </a:rPr>
                        <a:t>AND </a:t>
                      </a:r>
                      <a:r>
                        <a:rPr lang="en-US" sz="1400" dirty="0">
                          <a:latin typeface="Calibri"/>
                          <a:ea typeface="Calibri"/>
                          <a:cs typeface="Times New Roman"/>
                        </a:rPr>
                        <a:t>complete Georgia requirements</a:t>
                      </a:r>
                    </a:p>
                    <a:p>
                      <a:pPr marL="0" marR="0" algn="l">
                        <a:lnSpc>
                          <a:spcPct val="115000"/>
                        </a:lnSpc>
                        <a:spcBef>
                          <a:spcPts val="0"/>
                        </a:spcBef>
                        <a:spcAft>
                          <a:spcPts val="1000"/>
                        </a:spcAft>
                      </a:pPr>
                      <a:r>
                        <a:rPr lang="en-US" sz="1400" b="1" dirty="0">
                          <a:latin typeface="Calibri"/>
                          <a:ea typeface="Calibri"/>
                          <a:cs typeface="Times New Roman"/>
                        </a:rPr>
                        <a:t>AND </a:t>
                      </a:r>
                      <a:r>
                        <a:rPr lang="en-US" sz="1400" dirty="0">
                          <a:latin typeface="Calibri"/>
                          <a:ea typeface="Calibri"/>
                          <a:cs typeface="Times New Roman"/>
                        </a:rPr>
                        <a:t>add the field to certificate.</a:t>
                      </a:r>
                    </a:p>
                  </a:txBody>
                  <a:tcPr marL="63062" marR="63062"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28600" y="274638"/>
            <a:ext cx="8458200" cy="1143000"/>
          </a:xfrm>
        </p:spPr>
        <p:txBody>
          <a:bodyPr>
            <a:normAutofit/>
          </a:bodyPr>
          <a:lstStyle/>
          <a:p>
            <a:pPr lvl="1"/>
            <a:r>
              <a:rPr lang="en-US" sz="4000" b="1" dirty="0" smtClean="0">
                <a:solidFill>
                  <a:srgbClr val="C00000"/>
                </a:solidFill>
                <a:latin typeface="+mj-lt"/>
                <a:cs typeface="Times New Roman" pitchFamily="18" charset="0"/>
              </a:rPr>
              <a:t>Grandfathering Dates for Upgrades</a:t>
            </a:r>
            <a:endParaRPr lang="en-US" sz="4000" b="1" dirty="0">
              <a:solidFill>
                <a:srgbClr val="C00000"/>
              </a:solidFill>
              <a:latin typeface="+mj-lt"/>
              <a:cs typeface="Times New Roman" pitchFamily="18" charset="0"/>
            </a:endParaRPr>
          </a:p>
        </p:txBody>
      </p:sp>
      <p:sp>
        <p:nvSpPr>
          <p:cNvPr id="3075" name="Rectangle 3"/>
          <p:cNvSpPr>
            <a:spLocks noGrp="1" noChangeArrowheads="1"/>
          </p:cNvSpPr>
          <p:nvPr>
            <p:ph type="body" sz="half" idx="1"/>
          </p:nvPr>
        </p:nvSpPr>
        <p:spPr>
          <a:xfrm>
            <a:off x="228600" y="1752600"/>
            <a:ext cx="8610600" cy="4373563"/>
          </a:xfrm>
        </p:spPr>
        <p:txBody>
          <a:bodyPr>
            <a:noAutofit/>
          </a:bodyPr>
          <a:lstStyle/>
          <a:p>
            <a:pPr>
              <a:lnSpc>
                <a:spcPct val="90000"/>
              </a:lnSpc>
              <a:spcAft>
                <a:spcPct val="40000"/>
              </a:spcAft>
            </a:pPr>
            <a:r>
              <a:rPr lang="en-US" sz="2000" b="1" dirty="0" smtClean="0"/>
              <a:t>Master’s degree programs:</a:t>
            </a:r>
          </a:p>
          <a:p>
            <a:pPr lvl="1">
              <a:lnSpc>
                <a:spcPct val="90000"/>
              </a:lnSpc>
              <a:spcAft>
                <a:spcPct val="40000"/>
              </a:spcAft>
            </a:pPr>
            <a:r>
              <a:rPr lang="en-US" sz="2000" b="1" dirty="0" smtClean="0">
                <a:solidFill>
                  <a:srgbClr val="A71C1F"/>
                </a:solidFill>
              </a:rPr>
              <a:t>Enrolled by 7/15/11</a:t>
            </a:r>
          </a:p>
          <a:p>
            <a:pPr lvl="1">
              <a:lnSpc>
                <a:spcPct val="90000"/>
              </a:lnSpc>
              <a:spcAft>
                <a:spcPct val="40000"/>
              </a:spcAft>
            </a:pPr>
            <a:r>
              <a:rPr lang="en-US" sz="2000" b="1" dirty="0" smtClean="0"/>
              <a:t>Completed by 12/15/14</a:t>
            </a:r>
          </a:p>
          <a:p>
            <a:pPr>
              <a:lnSpc>
                <a:spcPct val="90000"/>
              </a:lnSpc>
              <a:spcAft>
                <a:spcPct val="40000"/>
              </a:spcAft>
            </a:pPr>
            <a:r>
              <a:rPr lang="en-US" sz="2000" b="1" dirty="0" smtClean="0"/>
              <a:t>Specialist degree programs:</a:t>
            </a:r>
          </a:p>
          <a:p>
            <a:pPr lvl="1">
              <a:lnSpc>
                <a:spcPct val="90000"/>
              </a:lnSpc>
              <a:spcAft>
                <a:spcPct val="40000"/>
              </a:spcAft>
            </a:pPr>
            <a:r>
              <a:rPr lang="en-US" sz="2000" b="1" dirty="0" smtClean="0">
                <a:solidFill>
                  <a:srgbClr val="A71C1F"/>
                </a:solidFill>
              </a:rPr>
              <a:t>Enrolled by 7/15/11</a:t>
            </a:r>
          </a:p>
          <a:p>
            <a:pPr lvl="1">
              <a:lnSpc>
                <a:spcPct val="90000"/>
              </a:lnSpc>
              <a:spcAft>
                <a:spcPct val="40000"/>
              </a:spcAft>
            </a:pPr>
            <a:r>
              <a:rPr lang="en-US" sz="2000" b="1" dirty="0" smtClean="0"/>
              <a:t>Completed by 12/15/14</a:t>
            </a:r>
          </a:p>
          <a:p>
            <a:pPr>
              <a:lnSpc>
                <a:spcPct val="90000"/>
              </a:lnSpc>
              <a:spcAft>
                <a:spcPct val="40000"/>
              </a:spcAft>
            </a:pPr>
            <a:r>
              <a:rPr lang="en-US" sz="2000" b="1" dirty="0" smtClean="0"/>
              <a:t>Doctoral degree programs:</a:t>
            </a:r>
          </a:p>
          <a:p>
            <a:pPr lvl="1">
              <a:lnSpc>
                <a:spcPct val="90000"/>
              </a:lnSpc>
              <a:spcAft>
                <a:spcPct val="40000"/>
              </a:spcAft>
            </a:pPr>
            <a:r>
              <a:rPr lang="en-US" sz="2000" b="1" dirty="0" smtClean="0">
                <a:solidFill>
                  <a:srgbClr val="A71C1F"/>
                </a:solidFill>
              </a:rPr>
              <a:t>Enrolled by 7/15/11</a:t>
            </a:r>
          </a:p>
          <a:p>
            <a:pPr lvl="1">
              <a:lnSpc>
                <a:spcPct val="90000"/>
              </a:lnSpc>
              <a:spcAft>
                <a:spcPct val="40000"/>
              </a:spcAft>
            </a:pPr>
            <a:r>
              <a:rPr lang="en-US" sz="2000" b="1" dirty="0" smtClean="0"/>
              <a:t>Completed by 12/15/16</a:t>
            </a:r>
          </a:p>
          <a:p>
            <a:pPr lvl="1">
              <a:lnSpc>
                <a:spcPct val="90000"/>
              </a:lnSpc>
              <a:spcAft>
                <a:spcPct val="40000"/>
              </a:spcAft>
              <a:buNone/>
            </a:pPr>
            <a:r>
              <a:rPr lang="en-US" sz="2000" b="1" u="sng" dirty="0" smtClean="0">
                <a:solidFill>
                  <a:srgbClr val="A71C1F"/>
                </a:solidFill>
              </a:rPr>
              <a:t>Enrolled = admitted and actively participating in coursework</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2"/>
          <p:cNvSpPr>
            <a:spLocks noChangeShapeType="1"/>
          </p:cNvSpPr>
          <p:nvPr/>
        </p:nvSpPr>
        <p:spPr bwMode="auto">
          <a:xfrm>
            <a:off x="0" y="6172200"/>
            <a:ext cx="9144000" cy="0"/>
          </a:xfrm>
          <a:prstGeom prst="line">
            <a:avLst/>
          </a:prstGeom>
          <a:noFill/>
          <a:ln w="28575">
            <a:solidFill>
              <a:srgbClr val="A71C1F"/>
            </a:solidFill>
            <a:round/>
            <a:headEnd/>
            <a:tailEnd/>
          </a:ln>
        </p:spPr>
        <p:txBody>
          <a:bodyPr/>
          <a:lstStyle/>
          <a:p>
            <a:endParaRPr lang="en-US"/>
          </a:p>
        </p:txBody>
      </p:sp>
      <p:sp>
        <p:nvSpPr>
          <p:cNvPr id="11267" name="Line 3"/>
          <p:cNvSpPr>
            <a:spLocks noChangeShapeType="1"/>
          </p:cNvSpPr>
          <p:nvPr/>
        </p:nvSpPr>
        <p:spPr bwMode="auto">
          <a:xfrm>
            <a:off x="0" y="6096000"/>
            <a:ext cx="9144000" cy="0"/>
          </a:xfrm>
          <a:prstGeom prst="line">
            <a:avLst/>
          </a:prstGeom>
          <a:noFill/>
          <a:ln w="28575">
            <a:solidFill>
              <a:srgbClr val="E7C581"/>
            </a:solidFill>
            <a:round/>
            <a:headEnd/>
            <a:tailEnd/>
          </a:ln>
        </p:spPr>
        <p:txBody>
          <a:bodyPr/>
          <a:lstStyle/>
          <a:p>
            <a:endParaRPr lang="en-US"/>
          </a:p>
        </p:txBody>
      </p:sp>
      <p:pic>
        <p:nvPicPr>
          <p:cNvPr id="11268" name="Picture 4" descr="psc_H_text_xsmall"/>
          <p:cNvPicPr>
            <a:picLocks noChangeAspect="1" noChangeArrowheads="1"/>
          </p:cNvPicPr>
          <p:nvPr/>
        </p:nvPicPr>
        <p:blipFill>
          <a:blip r:embed="rId3" cstate="print"/>
          <a:srcRect/>
          <a:stretch>
            <a:fillRect/>
          </a:stretch>
        </p:blipFill>
        <p:spPr bwMode="auto">
          <a:xfrm>
            <a:off x="2362200" y="6338888"/>
            <a:ext cx="4572000" cy="304800"/>
          </a:xfrm>
          <a:prstGeom prst="rect">
            <a:avLst/>
          </a:prstGeom>
          <a:noFill/>
          <a:ln w="9525">
            <a:noFill/>
            <a:miter lim="800000"/>
            <a:headEnd/>
            <a:tailEnd/>
          </a:ln>
        </p:spPr>
      </p:pic>
      <p:pic>
        <p:nvPicPr>
          <p:cNvPr id="11269" name="Picture 5"/>
          <p:cNvPicPr>
            <a:picLocks noChangeAspect="1" noChangeArrowheads="1"/>
          </p:cNvPicPr>
          <p:nvPr/>
        </p:nvPicPr>
        <p:blipFill>
          <a:blip r:embed="rId4" cstate="print"/>
          <a:srcRect l="716" t="17578" r="24219" b="7224"/>
          <a:stretch>
            <a:fillRect/>
          </a:stretch>
        </p:blipFill>
        <p:spPr bwMode="auto">
          <a:xfrm>
            <a:off x="533400" y="0"/>
            <a:ext cx="8001000" cy="5989638"/>
          </a:xfrm>
          <a:prstGeom prst="rect">
            <a:avLst/>
          </a:prstGeom>
          <a:noFill/>
          <a:ln w="9525">
            <a:noFill/>
            <a:miter lim="800000"/>
            <a:headEnd/>
            <a:tailEnd/>
          </a:ln>
        </p:spPr>
      </p:pic>
      <p:sp>
        <p:nvSpPr>
          <p:cNvPr id="271366" name="AutoShape 6"/>
          <p:cNvSpPr>
            <a:spLocks noChangeArrowheads="1"/>
          </p:cNvSpPr>
          <p:nvPr/>
        </p:nvSpPr>
        <p:spPr bwMode="auto">
          <a:xfrm>
            <a:off x="4876800" y="685800"/>
            <a:ext cx="838200" cy="533400"/>
          </a:xfrm>
          <a:prstGeom prst="leftArrow">
            <a:avLst>
              <a:gd name="adj1" fmla="val 50000"/>
              <a:gd name="adj2" fmla="val 39286"/>
            </a:avLst>
          </a:prstGeom>
          <a:solidFill>
            <a:srgbClr val="FF5050"/>
          </a:solidFill>
          <a:ln w="9525">
            <a:solidFill>
              <a:schemeClr val="tx1"/>
            </a:solidFill>
            <a:miter lim="800000"/>
            <a:headEnd/>
            <a:tailEnd/>
          </a:ln>
        </p:spPr>
        <p:txBody>
          <a:bodyPr wrap="none" anchor="ctr"/>
          <a:lstStyle/>
          <a:p>
            <a:endParaRPr lang="en-US"/>
          </a:p>
        </p:txBody>
      </p:sp>
      <p:sp>
        <p:nvSpPr>
          <p:cNvPr id="271367" name="AutoShape 7"/>
          <p:cNvSpPr>
            <a:spLocks noChangeArrowheads="1"/>
          </p:cNvSpPr>
          <p:nvPr/>
        </p:nvSpPr>
        <p:spPr bwMode="auto">
          <a:xfrm>
            <a:off x="7848600" y="457200"/>
            <a:ext cx="838200" cy="533400"/>
          </a:xfrm>
          <a:prstGeom prst="leftArrow">
            <a:avLst>
              <a:gd name="adj1" fmla="val 50000"/>
              <a:gd name="adj2" fmla="val 39286"/>
            </a:avLst>
          </a:prstGeom>
          <a:solidFill>
            <a:srgbClr val="FF5050"/>
          </a:solidFill>
          <a:ln w="9525">
            <a:solidFill>
              <a:schemeClr val="tx1"/>
            </a:solidFill>
            <a:miter lim="800000"/>
            <a:headEnd/>
            <a:tailEnd/>
          </a:ln>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71366"/>
                                        </p:tgtEl>
                                        <p:attrNameLst>
                                          <p:attrName>style.visibility</p:attrName>
                                        </p:attrNameLst>
                                      </p:cBhvr>
                                      <p:to>
                                        <p:strVal val="visible"/>
                                      </p:to>
                                    </p:set>
                                    <p:anim calcmode="lin" valueType="num">
                                      <p:cBhvr additive="base">
                                        <p:cTn id="7" dur="500" fill="hold"/>
                                        <p:tgtEl>
                                          <p:spTgt spid="271366"/>
                                        </p:tgtEl>
                                        <p:attrNameLst>
                                          <p:attrName>ppt_x</p:attrName>
                                        </p:attrNameLst>
                                      </p:cBhvr>
                                      <p:tavLst>
                                        <p:tav tm="0">
                                          <p:val>
                                            <p:strVal val="1+#ppt_w/2"/>
                                          </p:val>
                                        </p:tav>
                                        <p:tav tm="100000">
                                          <p:val>
                                            <p:strVal val="#ppt_x"/>
                                          </p:val>
                                        </p:tav>
                                      </p:tavLst>
                                    </p:anim>
                                    <p:anim calcmode="lin" valueType="num">
                                      <p:cBhvr additive="base">
                                        <p:cTn id="8" dur="500" fill="hold"/>
                                        <p:tgtEl>
                                          <p:spTgt spid="2713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71367"/>
                                        </p:tgtEl>
                                        <p:attrNameLst>
                                          <p:attrName>style.visibility</p:attrName>
                                        </p:attrNameLst>
                                      </p:cBhvr>
                                      <p:to>
                                        <p:strVal val="visible"/>
                                      </p:to>
                                    </p:set>
                                    <p:anim calcmode="lin" valueType="num">
                                      <p:cBhvr additive="base">
                                        <p:cTn id="13" dur="500" fill="hold"/>
                                        <p:tgtEl>
                                          <p:spTgt spid="271367"/>
                                        </p:tgtEl>
                                        <p:attrNameLst>
                                          <p:attrName>ppt_x</p:attrName>
                                        </p:attrNameLst>
                                      </p:cBhvr>
                                      <p:tavLst>
                                        <p:tav tm="0">
                                          <p:val>
                                            <p:strVal val="1+#ppt_w/2"/>
                                          </p:val>
                                        </p:tav>
                                        <p:tav tm="100000">
                                          <p:val>
                                            <p:strVal val="#ppt_x"/>
                                          </p:val>
                                        </p:tav>
                                      </p:tavLst>
                                    </p:anim>
                                    <p:anim calcmode="lin" valueType="num">
                                      <p:cBhvr additive="base">
                                        <p:cTn id="14" dur="500" fill="hold"/>
                                        <p:tgtEl>
                                          <p:spTgt spid="2713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6" grpId="0" animBg="1"/>
      <p:bldP spid="27136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2"/>
          <p:cNvSpPr>
            <a:spLocks noChangeShapeType="1"/>
          </p:cNvSpPr>
          <p:nvPr/>
        </p:nvSpPr>
        <p:spPr bwMode="auto">
          <a:xfrm>
            <a:off x="0" y="6172200"/>
            <a:ext cx="9144000" cy="0"/>
          </a:xfrm>
          <a:prstGeom prst="line">
            <a:avLst/>
          </a:prstGeom>
          <a:noFill/>
          <a:ln w="28575">
            <a:solidFill>
              <a:srgbClr val="A71C1F"/>
            </a:solidFill>
            <a:round/>
            <a:headEnd/>
            <a:tailEnd/>
          </a:ln>
        </p:spPr>
        <p:txBody>
          <a:bodyPr/>
          <a:lstStyle/>
          <a:p>
            <a:endParaRPr lang="en-US"/>
          </a:p>
        </p:txBody>
      </p:sp>
      <p:pic>
        <p:nvPicPr>
          <p:cNvPr id="17411" name="Picture 3" descr="psc_H_text_xsmall"/>
          <p:cNvPicPr>
            <a:picLocks noChangeAspect="1" noChangeArrowheads="1"/>
          </p:cNvPicPr>
          <p:nvPr/>
        </p:nvPicPr>
        <p:blipFill>
          <a:blip r:embed="rId3" cstate="print"/>
          <a:srcRect/>
          <a:stretch>
            <a:fillRect/>
          </a:stretch>
        </p:blipFill>
        <p:spPr bwMode="auto">
          <a:xfrm>
            <a:off x="2362200" y="6338888"/>
            <a:ext cx="4572000" cy="304800"/>
          </a:xfrm>
          <a:prstGeom prst="rect">
            <a:avLst/>
          </a:prstGeom>
          <a:noFill/>
          <a:ln w="9525">
            <a:noFill/>
            <a:miter lim="800000"/>
            <a:headEnd/>
            <a:tailEnd/>
          </a:ln>
        </p:spPr>
      </p:pic>
      <p:pic>
        <p:nvPicPr>
          <p:cNvPr id="17412" name="Picture 5"/>
          <p:cNvPicPr>
            <a:picLocks noChangeAspect="1" noChangeArrowheads="1"/>
          </p:cNvPicPr>
          <p:nvPr/>
        </p:nvPicPr>
        <p:blipFill>
          <a:blip r:embed="rId4" cstate="print"/>
          <a:srcRect/>
          <a:stretch>
            <a:fillRect/>
          </a:stretch>
        </p:blipFill>
        <p:spPr bwMode="auto">
          <a:xfrm>
            <a:off x="0" y="0"/>
            <a:ext cx="9753600" cy="7315200"/>
          </a:xfrm>
          <a:prstGeom prst="rect">
            <a:avLst/>
          </a:prstGeom>
          <a:noFill/>
          <a:ln w="9525">
            <a:noFill/>
            <a:miter lim="800000"/>
            <a:headEnd/>
            <a:tailEnd/>
          </a:ln>
        </p:spPr>
      </p:pic>
      <p:sp>
        <p:nvSpPr>
          <p:cNvPr id="8" name="Left Arrow 7"/>
          <p:cNvSpPr/>
          <p:nvPr/>
        </p:nvSpPr>
        <p:spPr>
          <a:xfrm>
            <a:off x="5257800" y="3200400"/>
            <a:ext cx="1066800" cy="457200"/>
          </a:xfrm>
          <a:prstGeom prst="leftArrow">
            <a:avLst/>
          </a:prstGeom>
          <a:solidFill>
            <a:srgbClr val="A71C1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Left Arrow 9"/>
          <p:cNvSpPr/>
          <p:nvPr/>
        </p:nvSpPr>
        <p:spPr>
          <a:xfrm>
            <a:off x="5257800" y="4038600"/>
            <a:ext cx="1066800" cy="457200"/>
          </a:xfrm>
          <a:prstGeom prst="leftArrow">
            <a:avLst/>
          </a:prstGeom>
          <a:solidFill>
            <a:srgbClr val="A71C1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28600" y="533400"/>
            <a:ext cx="8458200" cy="884238"/>
          </a:xfrm>
        </p:spPr>
        <p:txBody>
          <a:bodyPr>
            <a:normAutofit fontScale="90000"/>
          </a:bodyPr>
          <a:lstStyle/>
          <a:p>
            <a:pPr lvl="1"/>
            <a:r>
              <a:rPr lang="en-US" sz="4900" b="1" dirty="0" smtClean="0">
                <a:solidFill>
                  <a:srgbClr val="C00000"/>
                </a:solidFill>
                <a:latin typeface="+mj-lt"/>
                <a:cs typeface="Times New Roman" pitchFamily="18" charset="0"/>
              </a:rPr>
              <a:t>Implementation Assistance Tools</a:t>
            </a:r>
            <a:r>
              <a:rPr lang="en-US" sz="4000" dirty="0" smtClean="0">
                <a:solidFill>
                  <a:srgbClr val="C00000"/>
                </a:solidFill>
                <a:latin typeface="+mj-lt"/>
                <a:cs typeface="Times New Roman" pitchFamily="18" charset="0"/>
              </a:rPr>
              <a:t/>
            </a:r>
            <a:br>
              <a:rPr lang="en-US" sz="4000" dirty="0" smtClean="0">
                <a:solidFill>
                  <a:srgbClr val="C00000"/>
                </a:solidFill>
                <a:latin typeface="+mj-lt"/>
                <a:cs typeface="Times New Roman" pitchFamily="18" charset="0"/>
              </a:rPr>
            </a:br>
            <a:r>
              <a:rPr lang="en-US" sz="4000" b="1" dirty="0" smtClean="0">
                <a:solidFill>
                  <a:srgbClr val="C00000"/>
                </a:solidFill>
                <a:latin typeface="+mj-lt"/>
              </a:rPr>
              <a:t>	</a:t>
            </a:r>
            <a:endParaRPr lang="en-US" sz="4000" b="1" dirty="0">
              <a:solidFill>
                <a:srgbClr val="C00000"/>
              </a:solidFill>
              <a:latin typeface="+mj-lt"/>
            </a:endParaRPr>
          </a:p>
        </p:txBody>
      </p:sp>
      <p:sp>
        <p:nvSpPr>
          <p:cNvPr id="3075" name="Rectangle 3"/>
          <p:cNvSpPr>
            <a:spLocks noGrp="1" noChangeArrowheads="1"/>
          </p:cNvSpPr>
          <p:nvPr>
            <p:ph type="body" sz="half" idx="1"/>
          </p:nvPr>
        </p:nvSpPr>
        <p:spPr>
          <a:xfrm>
            <a:off x="228600" y="1752600"/>
            <a:ext cx="8610600" cy="4373563"/>
          </a:xfrm>
        </p:spPr>
        <p:txBody>
          <a:bodyPr>
            <a:noAutofit/>
          </a:bodyPr>
          <a:lstStyle/>
          <a:p>
            <a:pPr>
              <a:spcBef>
                <a:spcPts val="600"/>
              </a:spcBef>
              <a:spcAft>
                <a:spcPts val="600"/>
              </a:spcAft>
            </a:pPr>
            <a:r>
              <a:rPr lang="en-US" sz="2000" dirty="0" smtClean="0">
                <a:hlinkClick r:id="rId2"/>
              </a:rPr>
              <a:t>GaPSC Fields Applicable to Upgrades</a:t>
            </a:r>
            <a:r>
              <a:rPr lang="en-US" sz="2000" dirty="0" smtClean="0"/>
              <a:t> (PDF 10Kb)</a:t>
            </a:r>
            <a:r>
              <a:rPr lang="en-US" sz="2000" i="1" dirty="0" smtClean="0"/>
              <a:t> -- updated 1/21/2011</a:t>
            </a:r>
            <a:endParaRPr lang="en-US" sz="2000" dirty="0" smtClean="0"/>
          </a:p>
          <a:p>
            <a:pPr>
              <a:spcBef>
                <a:spcPts val="600"/>
              </a:spcBef>
              <a:spcAft>
                <a:spcPts val="600"/>
              </a:spcAft>
            </a:pPr>
            <a:r>
              <a:rPr lang="en-US" sz="2000" dirty="0" smtClean="0">
                <a:hlinkClick r:id="rId3"/>
              </a:rPr>
              <a:t>GaPSC-approved Institutions and Programs</a:t>
            </a:r>
            <a:endParaRPr lang="en-US" sz="2000" dirty="0" smtClean="0"/>
          </a:p>
          <a:p>
            <a:pPr>
              <a:spcBef>
                <a:spcPts val="600"/>
              </a:spcBef>
              <a:spcAft>
                <a:spcPts val="600"/>
              </a:spcAft>
            </a:pPr>
            <a:r>
              <a:rPr lang="en-US" sz="2000" dirty="0" smtClean="0">
                <a:hlinkClick r:id="rId4"/>
              </a:rPr>
              <a:t>Certification Upgrade Advisement Sheet</a:t>
            </a:r>
            <a:r>
              <a:rPr lang="en-US" sz="2000" dirty="0" smtClean="0"/>
              <a:t> (PDF 30Kb)</a:t>
            </a:r>
            <a:r>
              <a:rPr lang="en-US" sz="2000" i="1" dirty="0" smtClean="0"/>
              <a:t> -- updated 7/26/2011 </a:t>
            </a:r>
            <a:endParaRPr lang="en-US" sz="2000" dirty="0" smtClean="0"/>
          </a:p>
          <a:p>
            <a:pPr>
              <a:spcBef>
                <a:spcPts val="600"/>
              </a:spcBef>
              <a:spcAft>
                <a:spcPts val="600"/>
              </a:spcAft>
            </a:pPr>
            <a:r>
              <a:rPr lang="en-US" sz="2000" dirty="0" smtClean="0">
                <a:hlinkClick r:id="rId5"/>
              </a:rPr>
              <a:t>Program/ Infield Alignment Matrix</a:t>
            </a:r>
            <a:r>
              <a:rPr lang="en-US" sz="2000" dirty="0" smtClean="0"/>
              <a:t> (PDF 336Kb)</a:t>
            </a:r>
            <a:r>
              <a:rPr lang="en-US" sz="2000" i="1" dirty="0" smtClean="0"/>
              <a:t> -- updated 7/28/2011 </a:t>
            </a:r>
            <a:endParaRPr lang="en-US" sz="2000" dirty="0" smtClean="0"/>
          </a:p>
          <a:p>
            <a:pPr>
              <a:spcBef>
                <a:spcPts val="600"/>
              </a:spcBef>
              <a:spcAft>
                <a:spcPts val="600"/>
              </a:spcAft>
            </a:pPr>
            <a:r>
              <a:rPr lang="en-US" sz="2000" dirty="0" smtClean="0">
                <a:hlinkClick r:id="rId6"/>
              </a:rPr>
              <a:t>Contacts for State-approved Programs from Other States</a:t>
            </a:r>
            <a:r>
              <a:rPr lang="en-US" sz="2000" dirty="0" smtClean="0"/>
              <a:t> (PDF 52Kb)</a:t>
            </a:r>
            <a:r>
              <a:rPr lang="en-US" sz="2000" i="1" dirty="0" smtClean="0"/>
              <a:t> -- updated 4/27/2011</a:t>
            </a:r>
            <a:endParaRPr lang="en-US" sz="2000" dirty="0" smtClean="0"/>
          </a:p>
          <a:p>
            <a:pPr>
              <a:spcBef>
                <a:spcPts val="600"/>
              </a:spcBef>
              <a:spcAft>
                <a:spcPts val="600"/>
              </a:spcAft>
            </a:pPr>
            <a:r>
              <a:rPr lang="en-US" sz="2000" dirty="0" smtClean="0">
                <a:hlinkClick r:id="rId7"/>
              </a:rPr>
              <a:t>Selected U.S. Institutions and Upgrade Eligibility Status -- by state</a:t>
            </a:r>
            <a:r>
              <a:rPr lang="en-US" sz="2000" dirty="0" smtClean="0"/>
              <a:t> (PDF 691Kb)</a:t>
            </a:r>
            <a:r>
              <a:rPr lang="en-US" sz="2000" i="1" dirty="0" smtClean="0"/>
              <a:t> -- updated 7/13/2011</a:t>
            </a:r>
            <a:endParaRPr lang="en-US" sz="2000" dirty="0" smtClean="0"/>
          </a:p>
          <a:p>
            <a:pPr>
              <a:spcBef>
                <a:spcPts val="600"/>
              </a:spcBef>
              <a:spcAft>
                <a:spcPts val="600"/>
              </a:spcAft>
            </a:pPr>
            <a:r>
              <a:rPr lang="en-US" sz="2000" dirty="0" smtClean="0">
                <a:hlinkClick r:id="rId8"/>
              </a:rPr>
              <a:t>Selected U.S. Institutions and Upgrade Eligibility Status -- by institution</a:t>
            </a:r>
            <a:r>
              <a:rPr lang="en-US" sz="2000" dirty="0" smtClean="0"/>
              <a:t> (PDF 684Kb)</a:t>
            </a:r>
            <a:r>
              <a:rPr lang="en-US" sz="2000" i="1" dirty="0" smtClean="0"/>
              <a:t> -- updated 7/13/2011</a:t>
            </a:r>
            <a:endParaRPr lang="en-US" sz="2800" b="1" dirty="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9"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10" cstate="print"/>
          <a:srcRect/>
          <a:stretch>
            <a:fillRect/>
          </a:stretch>
        </p:blipFill>
        <p:spPr bwMode="auto">
          <a:xfrm>
            <a:off x="8135938" y="171450"/>
            <a:ext cx="912812" cy="1493838"/>
          </a:xfrm>
          <a:prstGeom prst="rect">
            <a:avLst/>
          </a:prstGeom>
          <a:noFill/>
          <a:ln w="9525">
            <a:noFill/>
            <a:miter lim="800000"/>
            <a:headEnd/>
            <a:tailEnd/>
          </a:ln>
        </p:spPr>
      </p:pic>
      <p:sp>
        <p:nvSpPr>
          <p:cNvPr id="8" name="Left Arrow 7"/>
          <p:cNvSpPr/>
          <p:nvPr/>
        </p:nvSpPr>
        <p:spPr>
          <a:xfrm>
            <a:off x="6248400" y="2667000"/>
            <a:ext cx="1219200" cy="457200"/>
          </a:xfrm>
          <a:prstGeom prst="leftArrow">
            <a:avLst/>
          </a:prstGeom>
          <a:solidFill>
            <a:srgbClr val="A71C1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Left Arrow 8"/>
          <p:cNvSpPr/>
          <p:nvPr/>
        </p:nvSpPr>
        <p:spPr>
          <a:xfrm>
            <a:off x="6248400" y="3124200"/>
            <a:ext cx="1219200" cy="457200"/>
          </a:xfrm>
          <a:prstGeom prst="leftArrow">
            <a:avLst/>
          </a:prstGeom>
          <a:solidFill>
            <a:srgbClr val="A71C1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28600" y="274638"/>
            <a:ext cx="8458200" cy="1143000"/>
          </a:xfrm>
        </p:spPr>
        <p:txBody>
          <a:bodyPr>
            <a:normAutofit/>
          </a:bodyPr>
          <a:lstStyle/>
          <a:p>
            <a:pPr lvl="1"/>
            <a:r>
              <a:rPr lang="en-US" sz="4000" b="1" dirty="0" smtClean="0">
                <a:solidFill>
                  <a:srgbClr val="C00000"/>
                </a:solidFill>
                <a:latin typeface="+mj-lt"/>
                <a:cs typeface="Times New Roman" pitchFamily="18" charset="0"/>
              </a:rPr>
              <a:t>Am I Eligible for an Infield Upgrade?</a:t>
            </a:r>
            <a:endParaRPr lang="en-US" sz="4000" b="1" dirty="0">
              <a:solidFill>
                <a:srgbClr val="C00000"/>
              </a:solidFill>
              <a:latin typeface="+mj-lt"/>
              <a:cs typeface="Times New Roman" pitchFamily="18" charset="0"/>
            </a:endParaRPr>
          </a:p>
        </p:txBody>
      </p:sp>
      <p:sp>
        <p:nvSpPr>
          <p:cNvPr id="3075" name="Rectangle 3"/>
          <p:cNvSpPr>
            <a:spLocks noGrp="1" noChangeArrowheads="1"/>
          </p:cNvSpPr>
          <p:nvPr>
            <p:ph type="body" sz="half" idx="1"/>
          </p:nvPr>
        </p:nvSpPr>
        <p:spPr>
          <a:xfrm>
            <a:off x="228600" y="1752600"/>
            <a:ext cx="8610600" cy="4373563"/>
          </a:xfrm>
        </p:spPr>
        <p:txBody>
          <a:bodyPr>
            <a:noAutofit/>
          </a:bodyPr>
          <a:lstStyle/>
          <a:p>
            <a:r>
              <a:rPr lang="en-US" sz="2000" b="1" dirty="0" smtClean="0">
                <a:cs typeface="Times New Roman" pitchFamily="18" charset="0"/>
              </a:rPr>
              <a:t>How do I know if I am eligible for an upgrade under the GaPSC Rule 505-2-.41?</a:t>
            </a:r>
            <a:endParaRPr lang="en-US" sz="2000" dirty="0" smtClean="0">
              <a:cs typeface="Times New Roman" pitchFamily="18" charset="0"/>
            </a:endParaRPr>
          </a:p>
          <a:p>
            <a:pPr lvl="1">
              <a:spcAft>
                <a:spcPts val="600"/>
              </a:spcAft>
            </a:pPr>
            <a:r>
              <a:rPr lang="en-US" sz="2000" dirty="0" smtClean="0">
                <a:cs typeface="Times New Roman" pitchFamily="18" charset="0"/>
              </a:rPr>
              <a:t>You can determine if you are eligible to upgrade by asking yourself two questions.</a:t>
            </a:r>
          </a:p>
          <a:p>
            <a:pPr marL="1606550" indent="-1606550">
              <a:buNone/>
            </a:pPr>
            <a:r>
              <a:rPr lang="en-US" sz="2000" b="1" dirty="0" smtClean="0">
                <a:cs typeface="Times New Roman" pitchFamily="18" charset="0"/>
              </a:rPr>
              <a:t>Question 1: Do I hold a Clear Renewable Teaching, Service, Leadership or Technical Specialist certificate at a Level 4 or higher?</a:t>
            </a:r>
            <a:endParaRPr lang="en-US" sz="2000" dirty="0" smtClean="0">
              <a:cs typeface="Times New Roman" pitchFamily="18" charset="0"/>
            </a:endParaRPr>
          </a:p>
          <a:p>
            <a:pPr lvl="1"/>
            <a:r>
              <a:rPr lang="en-US" sz="2000" b="1" dirty="0" smtClean="0">
                <a:cs typeface="Times New Roman" pitchFamily="18" charset="0"/>
              </a:rPr>
              <a:t>Yes</a:t>
            </a:r>
            <a:r>
              <a:rPr lang="en-US" sz="2000" dirty="0" smtClean="0">
                <a:cs typeface="Times New Roman" pitchFamily="18" charset="0"/>
              </a:rPr>
              <a:t> - Proceed to Step 2</a:t>
            </a:r>
          </a:p>
          <a:p>
            <a:pPr lvl="1"/>
            <a:r>
              <a:rPr lang="en-US" sz="2000" b="1" dirty="0" smtClean="0">
                <a:cs typeface="Times New Roman" pitchFamily="18" charset="0"/>
              </a:rPr>
              <a:t>No</a:t>
            </a:r>
            <a:r>
              <a:rPr lang="en-US" sz="2000" dirty="0" smtClean="0">
                <a:cs typeface="Times New Roman" pitchFamily="18" charset="0"/>
              </a:rPr>
              <a:t> -  Educators who hold a Permit or Nonrenewable certificate are NOT eligible to upgrade</a:t>
            </a:r>
          </a:p>
          <a:p>
            <a:pPr lvl="1">
              <a:buNone/>
            </a:pPr>
            <a:endParaRPr lang="en-US" sz="2000" dirty="0" smtClean="0">
              <a:cs typeface="Times New Roman" pitchFamily="18" charset="0"/>
            </a:endParaRPr>
          </a:p>
          <a:p>
            <a:pPr marL="1606550" indent="-1606550">
              <a:buNone/>
            </a:pPr>
            <a:r>
              <a:rPr lang="en-US" sz="2000" b="1" dirty="0" smtClean="0">
                <a:cs typeface="Times New Roman" pitchFamily="18" charset="0"/>
              </a:rPr>
              <a:t>Question 2: Will my degree be in-field or out-of field? And will I attend an institution that is in-state or out-of-state? </a:t>
            </a:r>
            <a:endParaRPr lang="en-US" sz="2000" b="1" dirty="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ChangeArrowheads="1"/>
          </p:cNvSpPr>
          <p:nvPr/>
        </p:nvSpPr>
        <p:spPr bwMode="auto">
          <a:xfrm>
            <a:off x="0" y="0"/>
            <a:ext cx="9144000" cy="1066800"/>
          </a:xfrm>
          <a:prstGeom prst="rect">
            <a:avLst/>
          </a:prstGeom>
          <a:noFill/>
          <a:ln w="9525">
            <a:solidFill>
              <a:schemeClr val="tx1"/>
            </a:solidFill>
            <a:miter lim="800000"/>
            <a:headEnd/>
            <a:tailEnd/>
          </a:ln>
        </p:spPr>
        <p:txBody>
          <a:bodyPr wrap="none" anchor="ctr"/>
          <a:lstStyle/>
          <a:p>
            <a:pPr lvl="1"/>
            <a:r>
              <a:rPr lang="en-US" sz="4000" b="1" dirty="0" smtClean="0">
                <a:solidFill>
                  <a:srgbClr val="C00000"/>
                </a:solidFill>
                <a:latin typeface="+mj-lt"/>
                <a:cs typeface="Times New Roman" pitchFamily="18" charset="0"/>
              </a:rPr>
              <a:t>Program/Infield Alignment Matrix</a:t>
            </a:r>
            <a:endParaRPr lang="en-US" sz="4000" b="1" dirty="0">
              <a:solidFill>
                <a:schemeClr val="bg1"/>
              </a:solidFill>
              <a:latin typeface="+mj-lt"/>
              <a:cs typeface="Times New Roman" pitchFamily="18" charset="0"/>
            </a:endParaRPr>
          </a:p>
        </p:txBody>
      </p:sp>
      <p:sp>
        <p:nvSpPr>
          <p:cNvPr id="57352" name="Text Box 8"/>
          <p:cNvSpPr txBox="1">
            <a:spLocks noChangeArrowheads="1"/>
          </p:cNvSpPr>
          <p:nvPr/>
        </p:nvSpPr>
        <p:spPr bwMode="auto">
          <a:xfrm>
            <a:off x="457200" y="3124200"/>
            <a:ext cx="8458200" cy="708025"/>
          </a:xfrm>
          <a:prstGeom prst="rect">
            <a:avLst/>
          </a:prstGeom>
          <a:noFill/>
          <a:ln w="9525">
            <a:noFill/>
            <a:miter lim="800000"/>
            <a:headEnd/>
            <a:tailEnd/>
          </a:ln>
        </p:spPr>
        <p:txBody>
          <a:bodyPr>
            <a:spAutoFit/>
          </a:bodyPr>
          <a:lstStyle/>
          <a:p>
            <a:pPr marL="398463" indent="-58738"/>
            <a:endParaRPr lang="en-US" sz="2000" b="1">
              <a:latin typeface="Times New Roman" pitchFamily="18" charset="0"/>
              <a:cs typeface="Times New Roman" pitchFamily="18" charset="0"/>
            </a:endParaRPr>
          </a:p>
          <a:p>
            <a:pPr marL="398463" indent="-58738">
              <a:buFontTx/>
              <a:buChar char="•"/>
            </a:pPr>
            <a:endParaRPr lang="en-US" sz="2000" b="1">
              <a:latin typeface="Times New Roman" pitchFamily="18" charset="0"/>
              <a:cs typeface="Times New Roman" pitchFamily="18" charset="0"/>
            </a:endParaRPr>
          </a:p>
        </p:txBody>
      </p:sp>
      <p:graphicFrame>
        <p:nvGraphicFramePr>
          <p:cNvPr id="9" name="Table 8"/>
          <p:cNvGraphicFramePr>
            <a:graphicFrameLocks noGrp="1"/>
          </p:cNvGraphicFramePr>
          <p:nvPr/>
        </p:nvGraphicFramePr>
        <p:xfrm>
          <a:off x="457200" y="1219200"/>
          <a:ext cx="7620000" cy="4876800"/>
        </p:xfrm>
        <a:graphic>
          <a:graphicData uri="http://schemas.openxmlformats.org/drawingml/2006/table">
            <a:tbl>
              <a:tblPr firstRow="1" bandRow="1">
                <a:tableStyleId>{5C22544A-7EE6-4342-B048-85BDC9FD1C3A}</a:tableStyleId>
              </a:tblPr>
              <a:tblGrid>
                <a:gridCol w="3880556"/>
                <a:gridCol w="3739444"/>
              </a:tblGrid>
              <a:tr h="590396">
                <a:tc>
                  <a:txBody>
                    <a:bodyPr/>
                    <a:lstStyle/>
                    <a:p>
                      <a:pPr algn="l" fontAlgn="b"/>
                      <a:r>
                        <a:rPr lang="en-US" sz="2400" b="1" i="0" u="none" strike="noStrike" dirty="0">
                          <a:solidFill>
                            <a:srgbClr val="000000"/>
                          </a:solidFill>
                          <a:latin typeface="Calibri"/>
                        </a:rPr>
                        <a:t>Certificate field</a:t>
                      </a:r>
                    </a:p>
                  </a:txBody>
                  <a:tcPr marL="7607" marR="7607" marT="7607" marB="0" anchor="b"/>
                </a:tc>
                <a:tc>
                  <a:txBody>
                    <a:bodyPr/>
                    <a:lstStyle/>
                    <a:p>
                      <a:pPr algn="l" fontAlgn="b"/>
                      <a:r>
                        <a:rPr lang="en-US" sz="2400" b="1" i="0" u="none" strike="noStrike" dirty="0">
                          <a:solidFill>
                            <a:srgbClr val="000000"/>
                          </a:solidFill>
                          <a:latin typeface="Calibri"/>
                        </a:rPr>
                        <a:t>Approved Infield Program</a:t>
                      </a:r>
                    </a:p>
                  </a:txBody>
                  <a:tcPr marL="7607" marR="7607" marT="7607" marB="0" anchor="b"/>
                </a:tc>
              </a:tr>
              <a:tr h="590396">
                <a:tc>
                  <a:txBody>
                    <a:bodyPr/>
                    <a:lstStyle/>
                    <a:p>
                      <a:pPr algn="l" fontAlgn="b"/>
                      <a:r>
                        <a:rPr lang="en-US" sz="2400" b="0" i="0" u="none" strike="noStrike" dirty="0">
                          <a:solidFill>
                            <a:srgbClr val="000000"/>
                          </a:solidFill>
                          <a:latin typeface="Calibri"/>
                        </a:rPr>
                        <a:t>Agricultural Education (P-12)</a:t>
                      </a:r>
                    </a:p>
                  </a:txBody>
                  <a:tcPr marL="7607" marR="7607" marT="7607" marB="0" anchor="b"/>
                </a:tc>
                <a:tc>
                  <a:txBody>
                    <a:bodyPr/>
                    <a:lstStyle/>
                    <a:p>
                      <a:pPr algn="l" fontAlgn="b"/>
                      <a:r>
                        <a:rPr lang="en-US" sz="2400" b="0" i="0" u="none" strike="noStrike" dirty="0">
                          <a:solidFill>
                            <a:srgbClr val="000000"/>
                          </a:solidFill>
                          <a:latin typeface="Calibri"/>
                        </a:rPr>
                        <a:t>Agriculture Education</a:t>
                      </a:r>
                    </a:p>
                  </a:txBody>
                  <a:tcPr marL="7607" marR="7607" marT="7607" marB="0" anchor="b"/>
                </a:tc>
              </a:tr>
              <a:tr h="590396">
                <a:tc>
                  <a:txBody>
                    <a:bodyPr/>
                    <a:lstStyle/>
                    <a:p>
                      <a:pPr algn="l" fontAlgn="b"/>
                      <a:r>
                        <a:rPr lang="en-US" sz="2400" b="0" i="0" u="none" strike="noStrike">
                          <a:solidFill>
                            <a:srgbClr val="000000"/>
                          </a:solidFill>
                          <a:latin typeface="Calibri"/>
                        </a:rPr>
                        <a:t>American Sign Language (P-12)</a:t>
                      </a:r>
                    </a:p>
                  </a:txBody>
                  <a:tcPr marL="7607" marR="7607" marT="7607" marB="0" anchor="b"/>
                </a:tc>
                <a:tc>
                  <a:txBody>
                    <a:bodyPr/>
                    <a:lstStyle/>
                    <a:p>
                      <a:pPr algn="l" fontAlgn="b"/>
                      <a:r>
                        <a:rPr lang="en-US" sz="2400" b="0" i="0" u="none" strike="noStrike" dirty="0">
                          <a:solidFill>
                            <a:srgbClr val="000000"/>
                          </a:solidFill>
                          <a:latin typeface="Calibri"/>
                        </a:rPr>
                        <a:t>Foreign Language Education </a:t>
                      </a:r>
                    </a:p>
                  </a:txBody>
                  <a:tcPr marL="7607" marR="7607" marT="7607" marB="0" anchor="b"/>
                </a:tc>
              </a:tr>
              <a:tr h="590396">
                <a:tc>
                  <a:txBody>
                    <a:bodyPr/>
                    <a:lstStyle/>
                    <a:p>
                      <a:pPr algn="l" fontAlgn="b"/>
                      <a:r>
                        <a:rPr lang="en-US" sz="2400" b="0" i="0" u="none" strike="noStrike">
                          <a:solidFill>
                            <a:srgbClr val="000000"/>
                          </a:solidFill>
                          <a:latin typeface="Calibri"/>
                        </a:rPr>
                        <a:t>American Sign Language (P-12)</a:t>
                      </a:r>
                    </a:p>
                  </a:txBody>
                  <a:tcPr marL="7607" marR="7607" marT="7607" marB="0" anchor="b"/>
                </a:tc>
                <a:tc>
                  <a:txBody>
                    <a:bodyPr/>
                    <a:lstStyle/>
                    <a:p>
                      <a:pPr algn="l" fontAlgn="b"/>
                      <a:r>
                        <a:rPr lang="en-US" sz="2400" b="0" i="0" u="none" strike="noStrike" dirty="0">
                          <a:solidFill>
                            <a:srgbClr val="000000"/>
                          </a:solidFill>
                          <a:latin typeface="Calibri"/>
                        </a:rPr>
                        <a:t>American Sign Language</a:t>
                      </a:r>
                    </a:p>
                  </a:txBody>
                  <a:tcPr marL="7607" marR="7607" marT="7607" marB="0" anchor="b"/>
                </a:tc>
              </a:tr>
              <a:tr h="590396">
                <a:tc>
                  <a:txBody>
                    <a:bodyPr/>
                    <a:lstStyle/>
                    <a:p>
                      <a:pPr algn="l" fontAlgn="b"/>
                      <a:r>
                        <a:rPr lang="en-US" sz="2400" b="0" i="0" u="none" strike="noStrike" dirty="0">
                          <a:solidFill>
                            <a:srgbClr val="000000"/>
                          </a:solidFill>
                          <a:latin typeface="Calibri"/>
                        </a:rPr>
                        <a:t>Arabic (P-12)</a:t>
                      </a:r>
                    </a:p>
                  </a:txBody>
                  <a:tcPr marL="7607" marR="7607" marT="7607" marB="0" anchor="b"/>
                </a:tc>
                <a:tc>
                  <a:txBody>
                    <a:bodyPr/>
                    <a:lstStyle/>
                    <a:p>
                      <a:pPr algn="l" fontAlgn="b"/>
                      <a:r>
                        <a:rPr lang="en-US" sz="2400" b="0" i="0" u="none" strike="noStrike" dirty="0">
                          <a:solidFill>
                            <a:srgbClr val="000000"/>
                          </a:solidFill>
                          <a:latin typeface="Calibri"/>
                        </a:rPr>
                        <a:t>Foreign Language Education </a:t>
                      </a:r>
                    </a:p>
                  </a:txBody>
                  <a:tcPr marL="7607" marR="7607" marT="7607" marB="0" anchor="b"/>
                </a:tc>
              </a:tr>
              <a:tr h="590396">
                <a:tc>
                  <a:txBody>
                    <a:bodyPr/>
                    <a:lstStyle/>
                    <a:p>
                      <a:pPr algn="l" fontAlgn="b"/>
                      <a:r>
                        <a:rPr lang="en-US" sz="2400" b="0" i="0" u="none" strike="noStrike">
                          <a:solidFill>
                            <a:srgbClr val="000000"/>
                          </a:solidFill>
                          <a:latin typeface="Calibri"/>
                        </a:rPr>
                        <a:t>Arabic (P-12)</a:t>
                      </a:r>
                    </a:p>
                  </a:txBody>
                  <a:tcPr marL="7607" marR="7607" marT="7607" marB="0" anchor="b"/>
                </a:tc>
                <a:tc>
                  <a:txBody>
                    <a:bodyPr/>
                    <a:lstStyle/>
                    <a:p>
                      <a:pPr algn="l" fontAlgn="b"/>
                      <a:r>
                        <a:rPr lang="en-US" sz="2400" b="0" i="0" u="none" strike="noStrike" dirty="0">
                          <a:solidFill>
                            <a:srgbClr val="000000"/>
                          </a:solidFill>
                          <a:latin typeface="Calibri"/>
                        </a:rPr>
                        <a:t>Arabic</a:t>
                      </a:r>
                    </a:p>
                  </a:txBody>
                  <a:tcPr marL="7607" marR="7607" marT="7607" marB="0" anchor="b"/>
                </a:tc>
              </a:tr>
              <a:tr h="590396">
                <a:tc>
                  <a:txBody>
                    <a:bodyPr/>
                    <a:lstStyle/>
                    <a:p>
                      <a:pPr algn="l" fontAlgn="b"/>
                      <a:r>
                        <a:rPr lang="en-US" sz="2400" b="0" i="0" u="none" strike="noStrike">
                          <a:solidFill>
                            <a:srgbClr val="000000"/>
                          </a:solidFill>
                          <a:latin typeface="Calibri"/>
                        </a:rPr>
                        <a:t>Art (P-12)</a:t>
                      </a:r>
                    </a:p>
                  </a:txBody>
                  <a:tcPr marL="7607" marR="7607" marT="7607" marB="0" anchor="b"/>
                </a:tc>
                <a:tc>
                  <a:txBody>
                    <a:bodyPr/>
                    <a:lstStyle/>
                    <a:p>
                      <a:pPr algn="l" fontAlgn="b"/>
                      <a:r>
                        <a:rPr lang="en-US" sz="2400" b="0" i="0" u="none" strike="noStrike" dirty="0">
                          <a:solidFill>
                            <a:srgbClr val="000000"/>
                          </a:solidFill>
                          <a:latin typeface="Calibri"/>
                        </a:rPr>
                        <a:t>Art</a:t>
                      </a:r>
                    </a:p>
                  </a:txBody>
                  <a:tcPr marL="7607" marR="7607" marT="7607" marB="0" anchor="b"/>
                </a:tc>
              </a:tr>
              <a:tr h="744028">
                <a:tc>
                  <a:txBody>
                    <a:bodyPr/>
                    <a:lstStyle/>
                    <a:p>
                      <a:pPr algn="l" fontAlgn="b"/>
                      <a:r>
                        <a:rPr lang="en-US" sz="2400" b="0" i="0" u="none" strike="noStrike" dirty="0">
                          <a:solidFill>
                            <a:srgbClr val="000000"/>
                          </a:solidFill>
                          <a:latin typeface="Calibri"/>
                        </a:rPr>
                        <a:t>Art (P-12)</a:t>
                      </a:r>
                    </a:p>
                  </a:txBody>
                  <a:tcPr marL="7607" marR="7607" marT="7607" marB="0" anchor="b"/>
                </a:tc>
                <a:tc>
                  <a:txBody>
                    <a:bodyPr/>
                    <a:lstStyle/>
                    <a:p>
                      <a:pPr algn="l" fontAlgn="b"/>
                      <a:r>
                        <a:rPr lang="en-US" sz="2400" b="0" i="0" u="none" strike="noStrike" dirty="0">
                          <a:solidFill>
                            <a:srgbClr val="000000"/>
                          </a:solidFill>
                          <a:latin typeface="Calibri"/>
                        </a:rPr>
                        <a:t>Art Education</a:t>
                      </a:r>
                    </a:p>
                  </a:txBody>
                  <a:tcPr marL="7607" marR="7607" marT="7607" marB="0" anchor="b"/>
                </a:tc>
              </a:tr>
            </a:tbl>
          </a:graphicData>
        </a:graphic>
      </p:graphicFrame>
      <p:sp>
        <p:nvSpPr>
          <p:cNvPr id="11" name="Rectangle 5"/>
          <p:cNvSpPr>
            <a:spLocks noChangeArrowheads="1"/>
          </p:cNvSpPr>
          <p:nvPr/>
        </p:nvSpPr>
        <p:spPr bwMode="auto">
          <a:xfrm>
            <a:off x="0" y="9906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sp>
        <p:nvSpPr>
          <p:cNvPr id="12"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pic>
        <p:nvPicPr>
          <p:cNvPr id="10"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pic>
        <p:nvPicPr>
          <p:cNvPr id="13" name="Picture 6" descr="psc_H_text_xsmall"/>
          <p:cNvPicPr>
            <a:picLocks noChangeAspect="1" noChangeArrowheads="1"/>
          </p:cNvPicPr>
          <p:nvPr/>
        </p:nvPicPr>
        <p:blipFill>
          <a:blip r:embed="rId4" cstate="print"/>
          <a:srcRect/>
          <a:stretch>
            <a:fillRect/>
          </a:stretch>
        </p:blipFill>
        <p:spPr bwMode="auto">
          <a:xfrm>
            <a:off x="381000" y="6454775"/>
            <a:ext cx="4572000" cy="3048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7352"/>
                                        </p:tgtEl>
                                        <p:attrNameLst>
                                          <p:attrName>style.visibility</p:attrName>
                                        </p:attrNameLst>
                                      </p:cBhvr>
                                      <p:to>
                                        <p:strVal val="visible"/>
                                      </p:to>
                                    </p:set>
                                    <p:anim calcmode="lin" valueType="num">
                                      <p:cBhvr additive="base">
                                        <p:cTn id="7" dur="500" fill="hold"/>
                                        <p:tgtEl>
                                          <p:spTgt spid="57352"/>
                                        </p:tgtEl>
                                        <p:attrNameLst>
                                          <p:attrName>ppt_x</p:attrName>
                                        </p:attrNameLst>
                                      </p:cBhvr>
                                      <p:tavLst>
                                        <p:tav tm="0">
                                          <p:val>
                                            <p:strVal val="#ppt_x"/>
                                          </p:val>
                                        </p:tav>
                                        <p:tav tm="100000">
                                          <p:val>
                                            <p:strVal val="#ppt_x"/>
                                          </p:val>
                                        </p:tav>
                                      </p:tavLst>
                                    </p:anim>
                                    <p:anim calcmode="lin" valueType="num">
                                      <p:cBhvr additive="base">
                                        <p:cTn id="8" dur="500" fill="hold"/>
                                        <p:tgtEl>
                                          <p:spTgt spid="573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4400" b="1" dirty="0" smtClean="0">
                <a:solidFill>
                  <a:srgbClr val="C00000"/>
                </a:solidFill>
                <a:latin typeface="+mj-lt"/>
                <a:cs typeface="Times New Roman" pitchFamily="18" charset="0"/>
              </a:rPr>
              <a:t>Web-based Upgrade Advisor</a:t>
            </a:r>
            <a:endParaRPr lang="en-US" sz="4400" dirty="0">
              <a:solidFill>
                <a:schemeClr val="bg1"/>
              </a:solidFill>
              <a:latin typeface="+mj-lt"/>
              <a:cs typeface="Times New Roman" pitchFamily="18" charset="0"/>
            </a:endParaRPr>
          </a:p>
        </p:txBody>
      </p:sp>
      <p:sp>
        <p:nvSpPr>
          <p:cNvPr id="3075" name="Rectangle 3"/>
          <p:cNvSpPr>
            <a:spLocks noGrp="1" noChangeArrowheads="1"/>
          </p:cNvSpPr>
          <p:nvPr>
            <p:ph type="body" sz="half" idx="1"/>
          </p:nvPr>
        </p:nvSpPr>
        <p:spPr>
          <a:xfrm>
            <a:off x="228600" y="1752600"/>
            <a:ext cx="8458200" cy="4373563"/>
          </a:xfrm>
        </p:spPr>
        <p:txBody>
          <a:bodyPr>
            <a:normAutofit fontScale="92500" lnSpcReduction="20000"/>
          </a:bodyPr>
          <a:lstStyle/>
          <a:p>
            <a:pPr>
              <a:buNone/>
            </a:pPr>
            <a:r>
              <a:rPr lang="en-US" dirty="0" smtClean="0"/>
              <a:t>Under development now, a web-based “advisor”</a:t>
            </a:r>
          </a:p>
          <a:p>
            <a:pPr>
              <a:buNone/>
            </a:pPr>
            <a:endParaRPr lang="en-US" dirty="0" smtClean="0"/>
          </a:p>
          <a:p>
            <a:r>
              <a:rPr lang="en-US" dirty="0" smtClean="0"/>
              <a:t>Examines an educator’s credentials and determines eligibility for upgrade of level</a:t>
            </a:r>
          </a:p>
          <a:p>
            <a:r>
              <a:rPr lang="en-US" dirty="0" smtClean="0"/>
              <a:t>Integrates existing data sources regarding approved programs to advise about “new field” upgrade</a:t>
            </a:r>
          </a:p>
          <a:p>
            <a:r>
              <a:rPr lang="en-US" dirty="0" smtClean="0"/>
              <a:t>Provides detailed advisory capability about “in-field” upgrades specific to an educator’s credentials</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4400" b="1" dirty="0" smtClean="0">
                <a:solidFill>
                  <a:srgbClr val="C00000"/>
                </a:solidFill>
                <a:latin typeface="+mj-lt"/>
                <a:cs typeface="Times New Roman" pitchFamily="18" charset="0"/>
              </a:rPr>
              <a:t>In-field Upgrade Advisor</a:t>
            </a:r>
            <a:endParaRPr lang="en-US" sz="4400" dirty="0">
              <a:solidFill>
                <a:schemeClr val="bg1"/>
              </a:solidFill>
              <a:latin typeface="+mj-lt"/>
              <a:cs typeface="Times New Roman" pitchFamily="18" charset="0"/>
            </a:endParaRP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a:buNone/>
            </a:pPr>
            <a:r>
              <a:rPr lang="en-US" sz="3600" dirty="0" smtClean="0"/>
              <a:t>Advice about in-field upgrades…</a:t>
            </a:r>
          </a:p>
          <a:p>
            <a:r>
              <a:rPr lang="en-US" sz="3600" dirty="0" smtClean="0"/>
              <a:t>Based on educator’s currently-held credentials</a:t>
            </a:r>
          </a:p>
          <a:p>
            <a:r>
              <a:rPr lang="en-US" sz="3600" dirty="0" smtClean="0"/>
              <a:t>Lists “acceptable” institutions</a:t>
            </a:r>
          </a:p>
          <a:p>
            <a:r>
              <a:rPr lang="en-US" sz="3600" dirty="0" smtClean="0"/>
              <a:t>Lists degrees at each institution that are aligned to an educator’s credential</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4400" b="1" dirty="0" smtClean="0">
                <a:solidFill>
                  <a:srgbClr val="C00000"/>
                </a:solidFill>
                <a:latin typeface="+mj-lt"/>
                <a:cs typeface="Times New Roman" pitchFamily="18" charset="0"/>
              </a:rPr>
              <a:t>In-field Upgrade Advisor Entry</a:t>
            </a:r>
            <a:endParaRPr lang="en-US" sz="44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9" name="Picture 8" descr="new_001_entry_screen.png"/>
          <p:cNvPicPr>
            <a:picLocks noChangeAspect="1"/>
          </p:cNvPicPr>
          <p:nvPr/>
        </p:nvPicPr>
        <p:blipFill>
          <a:blip r:embed="rId5" cstate="print"/>
          <a:stretch>
            <a:fillRect/>
          </a:stretch>
        </p:blipFill>
        <p:spPr>
          <a:xfrm>
            <a:off x="533400" y="1524000"/>
            <a:ext cx="8001000" cy="4838510"/>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Example – Not Eligible for Upgrade</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8" name="Picture 7" descr="new_002_no_upgrade_para.png"/>
          <p:cNvPicPr>
            <a:picLocks noChangeAspect="1"/>
          </p:cNvPicPr>
          <p:nvPr/>
        </p:nvPicPr>
        <p:blipFill>
          <a:blip r:embed="rId5" cstate="print"/>
          <a:stretch>
            <a:fillRect/>
          </a:stretch>
        </p:blipFill>
        <p:spPr>
          <a:xfrm>
            <a:off x="533400" y="1524000"/>
            <a:ext cx="8190322" cy="495300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Example – Level 7 is Highest Level!</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8" name="Picture 7" descr="new_002_no_upgrade_level7.png"/>
          <p:cNvPicPr>
            <a:picLocks noChangeAspect="1"/>
          </p:cNvPicPr>
          <p:nvPr/>
        </p:nvPicPr>
        <p:blipFill>
          <a:blip r:embed="rId5" cstate="print"/>
          <a:stretch>
            <a:fillRect/>
          </a:stretch>
        </p:blipFill>
        <p:spPr>
          <a:xfrm>
            <a:off x="457200" y="1524000"/>
            <a:ext cx="8153400" cy="4930672"/>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Example – Eligible for Upgrade</a:t>
            </a:r>
            <a:endParaRPr lang="en-US" sz="3600" dirty="0">
              <a:solidFill>
                <a:schemeClr val="bg1"/>
              </a:solidFill>
              <a:latin typeface="+mj-lt"/>
              <a:cs typeface="Times New Roman" pitchFamily="18" charset="0"/>
            </a:endParaRPr>
          </a:p>
        </p:txBody>
      </p:sp>
      <p:sp>
        <p:nvSpPr>
          <p:cNvPr id="3075" name="Rectangle 3"/>
          <p:cNvSpPr>
            <a:spLocks noGrp="1" noChangeArrowheads="1"/>
          </p:cNvSpPr>
          <p:nvPr>
            <p:ph type="body" sz="half" idx="4294967295"/>
          </p:nvPr>
        </p:nvSpPr>
        <p:spPr>
          <a:xfrm>
            <a:off x="0" y="1752600"/>
            <a:ext cx="8610600" cy="4373563"/>
          </a:xfrm>
        </p:spPr>
        <p:txBody>
          <a:bodyPr>
            <a:normAutofit/>
          </a:bodyPr>
          <a:lstStyle/>
          <a:p>
            <a:pPr algn="ctr">
              <a:buNone/>
            </a:pPr>
            <a:endParaRPr lang="en-US" sz="8000" dirty="0" smtClean="0"/>
          </a:p>
          <a:p>
            <a:pPr algn="ctr">
              <a:buNone/>
            </a:pPr>
            <a:endParaRPr lang="en-US" sz="80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8" name="Picture 7" descr="new_003_upgrade_possible.png"/>
          <p:cNvPicPr>
            <a:picLocks noChangeAspect="1"/>
          </p:cNvPicPr>
          <p:nvPr/>
        </p:nvPicPr>
        <p:blipFill>
          <a:blip r:embed="rId5" cstate="print"/>
          <a:stretch>
            <a:fillRect/>
          </a:stretch>
        </p:blipFill>
        <p:spPr>
          <a:xfrm>
            <a:off x="457200" y="1447800"/>
            <a:ext cx="8305800" cy="5022834"/>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Eligible for Upgrade</a:t>
            </a:r>
            <a:endParaRPr lang="en-US" sz="3600" dirty="0">
              <a:solidFill>
                <a:schemeClr val="bg1"/>
              </a:solidFill>
              <a:latin typeface="+mj-lt"/>
              <a:cs typeface="Times New Roman" pitchFamily="18" charset="0"/>
            </a:endParaRPr>
          </a:p>
        </p:txBody>
      </p:sp>
      <p:sp>
        <p:nvSpPr>
          <p:cNvPr id="3075" name="Rectangle 3"/>
          <p:cNvSpPr>
            <a:spLocks noGrp="1" noChangeArrowheads="1"/>
          </p:cNvSpPr>
          <p:nvPr>
            <p:ph type="body" sz="half" idx="4294967295"/>
          </p:nvPr>
        </p:nvSpPr>
        <p:spPr>
          <a:xfrm>
            <a:off x="0" y="1752600"/>
            <a:ext cx="8610600" cy="4373563"/>
          </a:xfrm>
        </p:spPr>
        <p:txBody>
          <a:bodyPr>
            <a:normAutofit/>
          </a:bodyPr>
          <a:lstStyle/>
          <a:p>
            <a:pPr algn="ctr">
              <a:buNone/>
            </a:pPr>
            <a:endParaRPr lang="en-US" sz="8000" dirty="0" smtClean="0"/>
          </a:p>
          <a:p>
            <a:pPr algn="ctr">
              <a:buNone/>
            </a:pPr>
            <a:endParaRPr lang="en-US" sz="80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2050" name="Picture 2"/>
          <p:cNvPicPr>
            <a:picLocks noChangeAspect="1" noChangeArrowheads="1"/>
          </p:cNvPicPr>
          <p:nvPr/>
        </p:nvPicPr>
        <p:blipFill>
          <a:blip r:embed="rId5" cstate="print"/>
          <a:srcRect/>
          <a:stretch>
            <a:fillRect/>
          </a:stretch>
        </p:blipFill>
        <p:spPr bwMode="auto">
          <a:xfrm>
            <a:off x="304800" y="1447800"/>
            <a:ext cx="8489771" cy="4648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In-field Upgrade Detail</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2051" name="Picture 3"/>
          <p:cNvPicPr>
            <a:picLocks noChangeAspect="1" noChangeArrowheads="1"/>
          </p:cNvPicPr>
          <p:nvPr/>
        </p:nvPicPr>
        <p:blipFill>
          <a:blip r:embed="rId5" cstate="print"/>
          <a:srcRect/>
          <a:stretch>
            <a:fillRect/>
          </a:stretch>
        </p:blipFill>
        <p:spPr bwMode="auto">
          <a:xfrm>
            <a:off x="685800" y="1447800"/>
            <a:ext cx="7772400" cy="4933977"/>
          </a:xfrm>
          <a:prstGeom prst="rect">
            <a:avLst/>
          </a:prstGeom>
          <a:noFill/>
          <a:ln w="9525">
            <a:noFill/>
            <a:miter lim="800000"/>
            <a:headEnd/>
            <a:tailEnd/>
          </a:ln>
        </p:spPr>
      </p:pic>
      <p:sp>
        <p:nvSpPr>
          <p:cNvPr id="8" name="Right Arrow 7"/>
          <p:cNvSpPr/>
          <p:nvPr/>
        </p:nvSpPr>
        <p:spPr>
          <a:xfrm rot="10800000">
            <a:off x="4953000" y="5715000"/>
            <a:ext cx="13716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rot="10800000">
            <a:off x="4953000" y="6096000"/>
            <a:ext cx="13716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noChangeArrowheads="1"/>
          </p:cNvPicPr>
          <p:nvPr/>
        </p:nvPicPr>
        <p:blipFill>
          <a:blip r:embed="rId3" cstate="print"/>
          <a:srcRect/>
          <a:stretch>
            <a:fillRect/>
          </a:stretch>
        </p:blipFill>
        <p:spPr bwMode="auto">
          <a:xfrm>
            <a:off x="381000" y="4343400"/>
            <a:ext cx="8458200" cy="1475519"/>
          </a:xfrm>
          <a:prstGeom prst="rect">
            <a:avLst/>
          </a:prstGeom>
          <a:solidFill>
            <a:srgbClr val="92D050">
              <a:alpha val="33000"/>
            </a:srgbClr>
          </a:solidFill>
          <a:ln w="9525">
            <a:solidFill>
              <a:srgbClr val="FF0000"/>
            </a:solidFill>
            <a:miter lim="800000"/>
            <a:headEnd/>
            <a:tailEnd/>
          </a:ln>
        </p:spPr>
      </p:pic>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In-field Upgrade Detail</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4"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5" cstate="print"/>
          <a:srcRect/>
          <a:stretch>
            <a:fillRect/>
          </a:stretch>
        </p:blipFill>
        <p:spPr bwMode="auto">
          <a:xfrm>
            <a:off x="8135938" y="171450"/>
            <a:ext cx="912812" cy="1493838"/>
          </a:xfrm>
          <a:prstGeom prst="rect">
            <a:avLst/>
          </a:prstGeom>
          <a:noFill/>
          <a:ln w="9525">
            <a:noFill/>
            <a:miter lim="800000"/>
            <a:headEnd/>
            <a:tailEnd/>
          </a:ln>
        </p:spPr>
      </p:pic>
      <p:pic>
        <p:nvPicPr>
          <p:cNvPr id="4" name="Picture 5"/>
          <p:cNvPicPr>
            <a:picLocks noChangeAspect="1" noChangeArrowheads="1"/>
          </p:cNvPicPr>
          <p:nvPr/>
        </p:nvPicPr>
        <p:blipFill>
          <a:blip r:embed="rId6" cstate="print"/>
          <a:srcRect/>
          <a:stretch>
            <a:fillRect/>
          </a:stretch>
        </p:blipFill>
        <p:spPr bwMode="auto">
          <a:xfrm>
            <a:off x="381000" y="1981200"/>
            <a:ext cx="8153400" cy="1333500"/>
          </a:xfrm>
          <a:prstGeom prst="rect">
            <a:avLst/>
          </a:prstGeom>
          <a:noFill/>
          <a:ln w="9525">
            <a:solidFill>
              <a:srgbClr val="FFC000"/>
            </a:solidFill>
            <a:miter lim="800000"/>
            <a:headEnd/>
            <a:tailEnd/>
          </a:ln>
        </p:spPr>
      </p:pic>
      <p:sp>
        <p:nvSpPr>
          <p:cNvPr id="14" name="TextBox 13"/>
          <p:cNvSpPr txBox="1"/>
          <p:nvPr/>
        </p:nvSpPr>
        <p:spPr>
          <a:xfrm>
            <a:off x="381000" y="1524000"/>
            <a:ext cx="3886200" cy="523220"/>
          </a:xfrm>
          <a:prstGeom prst="rect">
            <a:avLst/>
          </a:prstGeom>
          <a:noFill/>
        </p:spPr>
        <p:txBody>
          <a:bodyPr wrap="square" rtlCol="0">
            <a:spAutoFit/>
          </a:bodyPr>
          <a:lstStyle/>
          <a:p>
            <a:r>
              <a:rPr lang="en-US" sz="2800" dirty="0" smtClean="0"/>
              <a:t>Fred’s Certificate…</a:t>
            </a:r>
            <a:endParaRPr lang="en-US" sz="2800" dirty="0"/>
          </a:p>
        </p:txBody>
      </p:sp>
      <p:sp>
        <p:nvSpPr>
          <p:cNvPr id="15" name="TextBox 14"/>
          <p:cNvSpPr txBox="1"/>
          <p:nvPr/>
        </p:nvSpPr>
        <p:spPr>
          <a:xfrm>
            <a:off x="457200" y="3657600"/>
            <a:ext cx="6172200" cy="523220"/>
          </a:xfrm>
          <a:prstGeom prst="rect">
            <a:avLst/>
          </a:prstGeom>
          <a:noFill/>
        </p:spPr>
        <p:txBody>
          <a:bodyPr wrap="square" rtlCol="0">
            <a:spAutoFit/>
          </a:bodyPr>
          <a:lstStyle/>
          <a:p>
            <a:r>
              <a:rPr lang="en-US" sz="2800" dirty="0" smtClean="0"/>
              <a:t>Fred’s choices for an in-field upgrade…</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Example – Math Certificate</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4099" name="Picture 3"/>
          <p:cNvPicPr>
            <a:picLocks noChangeAspect="1" noChangeArrowheads="1"/>
          </p:cNvPicPr>
          <p:nvPr/>
        </p:nvPicPr>
        <p:blipFill>
          <a:blip r:embed="rId5" cstate="print"/>
          <a:srcRect/>
          <a:stretch>
            <a:fillRect/>
          </a:stretch>
        </p:blipFill>
        <p:spPr bwMode="auto">
          <a:xfrm>
            <a:off x="381000" y="1447800"/>
            <a:ext cx="8088862" cy="495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Example – Math Certificate</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5122" name="Picture 2"/>
          <p:cNvPicPr>
            <a:picLocks noChangeAspect="1" noChangeArrowheads="1"/>
          </p:cNvPicPr>
          <p:nvPr/>
        </p:nvPicPr>
        <p:blipFill>
          <a:blip r:embed="rId5" cstate="print"/>
          <a:srcRect/>
          <a:stretch>
            <a:fillRect/>
          </a:stretch>
        </p:blipFill>
        <p:spPr bwMode="auto">
          <a:xfrm>
            <a:off x="685800" y="1981201"/>
            <a:ext cx="6502400" cy="2438400"/>
          </a:xfrm>
          <a:prstGeom prst="rect">
            <a:avLst/>
          </a:prstGeom>
          <a:noFill/>
          <a:ln w="9525">
            <a:noFill/>
            <a:miter lim="800000"/>
            <a:headEnd/>
            <a:tailEnd/>
          </a:ln>
        </p:spPr>
      </p:pic>
      <p:pic>
        <p:nvPicPr>
          <p:cNvPr id="5124" name="Picture 4"/>
          <p:cNvPicPr>
            <a:picLocks noChangeAspect="1" noChangeArrowheads="1"/>
          </p:cNvPicPr>
          <p:nvPr/>
        </p:nvPicPr>
        <p:blipFill>
          <a:blip r:embed="rId6" cstate="print"/>
          <a:srcRect/>
          <a:stretch>
            <a:fillRect/>
          </a:stretch>
        </p:blipFill>
        <p:spPr bwMode="auto">
          <a:xfrm>
            <a:off x="685799" y="2057400"/>
            <a:ext cx="8053687" cy="2590800"/>
          </a:xfrm>
          <a:prstGeom prst="rect">
            <a:avLst/>
          </a:prstGeom>
          <a:noFill/>
          <a:ln w="9525">
            <a:noFill/>
            <a:miter lim="800000"/>
            <a:headEnd/>
            <a:tailEnd/>
          </a:ln>
        </p:spPr>
      </p:pic>
      <p:pic>
        <p:nvPicPr>
          <p:cNvPr id="5125" name="Picture 5"/>
          <p:cNvPicPr>
            <a:picLocks noChangeAspect="1" noChangeArrowheads="1"/>
          </p:cNvPicPr>
          <p:nvPr/>
        </p:nvPicPr>
        <p:blipFill>
          <a:blip r:embed="rId7" cstate="print"/>
          <a:srcRect/>
          <a:stretch>
            <a:fillRect/>
          </a:stretch>
        </p:blipFill>
        <p:spPr bwMode="auto">
          <a:xfrm>
            <a:off x="304800" y="1822998"/>
            <a:ext cx="8534400" cy="437550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5"/>
                                        </p:tgtEl>
                                        <p:attrNameLst>
                                          <p:attrName>style.visibility</p:attrName>
                                        </p:attrNameLst>
                                      </p:cBhvr>
                                      <p:to>
                                        <p:strVal val="visible"/>
                                      </p:to>
                                    </p:set>
                                    <p:animEffect transition="in" filter="blinds(horizontal)">
                                      <p:cBhvr>
                                        <p:cTn id="12"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“Ad hoc” Advice</a:t>
            </a:r>
            <a:endParaRPr lang="en-US" sz="3600" dirty="0">
              <a:solidFill>
                <a:schemeClr val="bg1"/>
              </a:solidFill>
              <a:latin typeface="+mj-lt"/>
              <a:cs typeface="Times New Roman" pitchFamily="18" charset="0"/>
            </a:endParaRPr>
          </a:p>
        </p:txBody>
      </p:sp>
      <p:sp>
        <p:nvSpPr>
          <p:cNvPr id="3075" name="Rectangle 3"/>
          <p:cNvSpPr>
            <a:spLocks noGrp="1" noChangeArrowheads="1"/>
          </p:cNvSpPr>
          <p:nvPr>
            <p:ph type="body" sz="half" idx="1"/>
          </p:nvPr>
        </p:nvSpPr>
        <p:spPr>
          <a:xfrm>
            <a:off x="533400" y="1752600"/>
            <a:ext cx="8305800" cy="4373563"/>
          </a:xfrm>
        </p:spPr>
        <p:txBody>
          <a:bodyPr>
            <a:normAutofit/>
          </a:bodyPr>
          <a:lstStyle/>
          <a:p>
            <a:pPr>
              <a:buNone/>
            </a:pPr>
            <a:r>
              <a:rPr lang="en-US" sz="3600" dirty="0" smtClean="0"/>
              <a:t>What does an educator do if...</a:t>
            </a:r>
          </a:p>
          <a:p>
            <a:pPr>
              <a:buNone/>
            </a:pPr>
            <a:endParaRPr lang="en-US" sz="3600" dirty="0" smtClean="0"/>
          </a:p>
          <a:p>
            <a:r>
              <a:rPr lang="en-US" sz="3600" dirty="0" smtClean="0"/>
              <a:t>An institution of interest is not listed?</a:t>
            </a:r>
          </a:p>
          <a:p>
            <a:r>
              <a:rPr lang="en-US" sz="3600" dirty="0" smtClean="0"/>
              <a:t>A degree of interest is not listed?</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Detail – Link for Ad Hoc Advice Form</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pic>
        <p:nvPicPr>
          <p:cNvPr id="8" name="Picture 3"/>
          <p:cNvPicPr>
            <a:picLocks noChangeAspect="1" noChangeArrowheads="1"/>
          </p:cNvPicPr>
          <p:nvPr/>
        </p:nvPicPr>
        <p:blipFill>
          <a:blip r:embed="rId5" cstate="print"/>
          <a:srcRect/>
          <a:stretch>
            <a:fillRect/>
          </a:stretch>
        </p:blipFill>
        <p:spPr bwMode="auto">
          <a:xfrm>
            <a:off x="914400" y="1600200"/>
            <a:ext cx="7010400" cy="4421592"/>
          </a:xfrm>
          <a:prstGeom prst="rect">
            <a:avLst/>
          </a:prstGeom>
          <a:noFill/>
          <a:ln w="9525">
            <a:noFill/>
            <a:miter lim="800000"/>
            <a:headEnd/>
            <a:tailEnd/>
          </a:ln>
        </p:spPr>
      </p:pic>
      <p:sp>
        <p:nvSpPr>
          <p:cNvPr id="9" name="TextBox 8"/>
          <p:cNvSpPr txBox="1"/>
          <p:nvPr/>
        </p:nvSpPr>
        <p:spPr>
          <a:xfrm>
            <a:off x="1295400" y="6019800"/>
            <a:ext cx="5232523" cy="307777"/>
          </a:xfrm>
          <a:prstGeom prst="rect">
            <a:avLst/>
          </a:prstGeom>
          <a:noFill/>
        </p:spPr>
        <p:txBody>
          <a:bodyPr wrap="none" rtlCol="0">
            <a:spAutoFit/>
          </a:bodyPr>
          <a:lstStyle/>
          <a:p>
            <a:r>
              <a:rPr lang="en-US" sz="1400" b="1" dirty="0" smtClean="0"/>
              <a:t>Click </a:t>
            </a:r>
            <a:r>
              <a:rPr lang="en-US" sz="1400" b="1" i="1" u="sng" dirty="0" smtClean="0">
                <a:solidFill>
                  <a:schemeClr val="accent1"/>
                </a:solidFill>
              </a:rPr>
              <a:t>here</a:t>
            </a:r>
            <a:r>
              <a:rPr lang="en-US" sz="1400" b="1" dirty="0" smtClean="0"/>
              <a:t> to inquire about an institution or degree not listed above.</a:t>
            </a:r>
            <a:endParaRPr lang="en-US" sz="1400" b="1" dirty="0"/>
          </a:p>
        </p:txBody>
      </p:sp>
      <p:sp>
        <p:nvSpPr>
          <p:cNvPr id="11" name="Right Arrow 10"/>
          <p:cNvSpPr/>
          <p:nvPr/>
        </p:nvSpPr>
        <p:spPr>
          <a:xfrm rot="9172473">
            <a:off x="6512385" y="5766750"/>
            <a:ext cx="990600" cy="394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940882">
            <a:off x="333392" y="5720830"/>
            <a:ext cx="990600" cy="394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600" b="1" dirty="0" smtClean="0">
                <a:solidFill>
                  <a:srgbClr val="C00000"/>
                </a:solidFill>
                <a:latin typeface="+mj-lt"/>
                <a:cs typeface="Times New Roman" pitchFamily="18" charset="0"/>
              </a:rPr>
              <a:t>An Ad hoc Advice Tool</a:t>
            </a:r>
            <a:endParaRPr lang="en-US" sz="3600" dirty="0">
              <a:solidFill>
                <a:schemeClr val="bg1"/>
              </a:solidFill>
              <a:latin typeface="+mj-lt"/>
              <a:cs typeface="Times New Roman" pitchFamily="18" charset="0"/>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11" name="TextBox 10"/>
          <p:cNvSpPr txBox="1"/>
          <p:nvPr/>
        </p:nvSpPr>
        <p:spPr>
          <a:xfrm>
            <a:off x="685800" y="1752600"/>
            <a:ext cx="7848600" cy="4154984"/>
          </a:xfrm>
          <a:prstGeom prst="rect">
            <a:avLst/>
          </a:prstGeom>
          <a:noFill/>
        </p:spPr>
        <p:txBody>
          <a:bodyPr wrap="square" rtlCol="0">
            <a:spAutoFit/>
          </a:bodyPr>
          <a:lstStyle/>
          <a:p>
            <a:r>
              <a:rPr lang="en-US" sz="2400" dirty="0" smtClean="0"/>
              <a:t>We already have the educator’s name and the certificate field of interest. The educator will enter…</a:t>
            </a:r>
          </a:p>
          <a:p>
            <a:endParaRPr lang="en-US" sz="2400" dirty="0" smtClean="0"/>
          </a:p>
          <a:p>
            <a:pPr lvl="1">
              <a:buFont typeface="Arial" pitchFamily="34" charset="0"/>
              <a:buChar char="•"/>
            </a:pPr>
            <a:r>
              <a:rPr lang="en-US" sz="2400" dirty="0" smtClean="0"/>
              <a:t>His or her email address</a:t>
            </a:r>
          </a:p>
          <a:p>
            <a:pPr lvl="1">
              <a:buFont typeface="Arial" pitchFamily="34" charset="0"/>
              <a:buChar char="•"/>
            </a:pPr>
            <a:r>
              <a:rPr lang="en-US" sz="2400" dirty="0" smtClean="0"/>
              <a:t>Name of institution</a:t>
            </a:r>
          </a:p>
          <a:p>
            <a:pPr lvl="1">
              <a:buFont typeface="Arial" pitchFamily="34" charset="0"/>
              <a:buChar char="•"/>
            </a:pPr>
            <a:r>
              <a:rPr lang="en-US" sz="2400" dirty="0" smtClean="0"/>
              <a:t>State where institution located</a:t>
            </a:r>
          </a:p>
          <a:p>
            <a:pPr lvl="1">
              <a:buFont typeface="Arial" pitchFamily="34" charset="0"/>
              <a:buChar char="•"/>
            </a:pPr>
            <a:r>
              <a:rPr lang="en-US" sz="2400" dirty="0" smtClean="0"/>
              <a:t>Name of degree</a:t>
            </a:r>
          </a:p>
          <a:p>
            <a:pPr lvl="1">
              <a:buFont typeface="Arial" pitchFamily="34" charset="0"/>
              <a:buChar char="•"/>
            </a:pPr>
            <a:r>
              <a:rPr lang="en-US" sz="2400" dirty="0" smtClean="0"/>
              <a:t>Website address of a page that best describes the degree</a:t>
            </a:r>
          </a:p>
          <a:p>
            <a:endParaRPr lang="en-US" sz="2400" dirty="0" smtClean="0"/>
          </a:p>
          <a:p>
            <a:r>
              <a:rPr lang="en-US" sz="2400" dirty="0" smtClean="0"/>
              <a:t>We will email back a decision (and add the institution and degree to our matrix.)</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Autofit/>
          </a:bodyPr>
          <a:lstStyle/>
          <a:p>
            <a:pPr lvl="1"/>
            <a:r>
              <a:rPr lang="en-US" sz="3200" b="1" dirty="0" smtClean="0">
                <a:solidFill>
                  <a:srgbClr val="C00000"/>
                </a:solidFill>
                <a:latin typeface="+mj-lt"/>
                <a:cs typeface="Times New Roman" pitchFamily="18" charset="0"/>
              </a:rPr>
              <a:t>Upgrade Advisor Implementation Timeline</a:t>
            </a:r>
            <a:endParaRPr lang="en-US" sz="3200" dirty="0">
              <a:solidFill>
                <a:schemeClr val="bg1"/>
              </a:solidFill>
              <a:latin typeface="+mj-lt"/>
              <a:cs typeface="Times New Roman" pitchFamily="18" charset="0"/>
            </a:endParaRPr>
          </a:p>
        </p:txBody>
      </p:sp>
      <p:sp>
        <p:nvSpPr>
          <p:cNvPr id="3075" name="Rectangle 3"/>
          <p:cNvSpPr>
            <a:spLocks noGrp="1" noChangeArrowheads="1"/>
          </p:cNvSpPr>
          <p:nvPr>
            <p:ph type="body" sz="half" idx="1"/>
          </p:nvPr>
        </p:nvSpPr>
        <p:spPr>
          <a:xfrm>
            <a:off x="381000" y="1524000"/>
            <a:ext cx="8458200" cy="4800600"/>
          </a:xfrm>
        </p:spPr>
        <p:txBody>
          <a:bodyPr>
            <a:normAutofit fontScale="32500" lnSpcReduction="20000"/>
          </a:bodyPr>
          <a:lstStyle/>
          <a:p>
            <a:pPr>
              <a:buNone/>
            </a:pPr>
            <a:r>
              <a:rPr lang="en-US" sz="8600" b="1" dirty="0" smtClean="0"/>
              <a:t>December through early February</a:t>
            </a:r>
          </a:p>
          <a:p>
            <a:pPr>
              <a:buNone/>
            </a:pPr>
            <a:r>
              <a:rPr lang="en-US" sz="8600" b="1" dirty="0" smtClean="0"/>
              <a:t>	</a:t>
            </a:r>
            <a:r>
              <a:rPr lang="en-US" sz="8600" dirty="0" smtClean="0"/>
              <a:t>Build institution/degree/certificate matrix</a:t>
            </a:r>
          </a:p>
          <a:p>
            <a:pPr lvl="1">
              <a:buNone/>
            </a:pPr>
            <a:endParaRPr lang="en-US" sz="8600" dirty="0" smtClean="0"/>
          </a:p>
          <a:p>
            <a:pPr>
              <a:buNone/>
            </a:pPr>
            <a:r>
              <a:rPr lang="en-US" sz="8600" b="1" dirty="0" smtClean="0"/>
              <a:t>Late February</a:t>
            </a:r>
          </a:p>
          <a:p>
            <a:pPr>
              <a:buNone/>
            </a:pPr>
            <a:r>
              <a:rPr lang="en-US" sz="8600" dirty="0" smtClean="0"/>
              <a:t>	Ask IHE’s to review matrix on www.gapsc.org</a:t>
            </a:r>
          </a:p>
          <a:p>
            <a:pPr>
              <a:buNone/>
            </a:pPr>
            <a:endParaRPr lang="en-US" sz="8600" dirty="0" smtClean="0"/>
          </a:p>
          <a:p>
            <a:pPr>
              <a:buNone/>
            </a:pPr>
            <a:r>
              <a:rPr lang="en-US" sz="8600" b="1" dirty="0" smtClean="0"/>
              <a:t>Early March</a:t>
            </a:r>
          </a:p>
          <a:p>
            <a:pPr>
              <a:buNone/>
            </a:pPr>
            <a:r>
              <a:rPr lang="en-US" sz="8600" dirty="0" smtClean="0"/>
              <a:t>	Consider any “troublesome” alignments</a:t>
            </a:r>
          </a:p>
          <a:p>
            <a:pPr>
              <a:buNone/>
            </a:pPr>
            <a:endParaRPr lang="en-US" sz="8600" dirty="0" smtClean="0"/>
          </a:p>
          <a:p>
            <a:pPr>
              <a:buNone/>
            </a:pPr>
            <a:r>
              <a:rPr lang="en-US" sz="8600" b="1" dirty="0" smtClean="0"/>
              <a:t>Mid-March</a:t>
            </a:r>
          </a:p>
          <a:p>
            <a:pPr>
              <a:buNone/>
            </a:pPr>
            <a:r>
              <a:rPr lang="en-US" sz="8600" dirty="0" smtClean="0"/>
              <a:t>	Go-live on www.gapsc.com</a:t>
            </a:r>
          </a:p>
          <a:p>
            <a:pPr>
              <a:buNone/>
            </a:pPr>
            <a:endParaRPr lang="en-US" sz="40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endParaRPr lang="en-US">
              <a:latin typeface="Calibri" pitchFamily="34" charset="0"/>
              <a:cs typeface="Arial" charset="0"/>
            </a:endParaRPr>
          </a:p>
        </p:txBody>
      </p:sp>
      <p:sp>
        <p:nvSpPr>
          <p:cNvPr id="102403"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cs typeface="Arial" charset="0"/>
            </a:endParaRPr>
          </a:p>
        </p:txBody>
      </p:sp>
      <p:pic>
        <p:nvPicPr>
          <p:cNvPr id="102404" name="Picture 4" descr="psc_H_text_xsmall"/>
          <p:cNvPicPr>
            <a:picLocks noChangeAspect="1" noChangeArrowheads="1"/>
          </p:cNvPicPr>
          <p:nvPr/>
        </p:nvPicPr>
        <p:blipFill>
          <a:blip r:embed="rId4" cstate="print"/>
          <a:srcRect/>
          <a:stretch>
            <a:fillRect/>
          </a:stretch>
        </p:blipFill>
        <p:spPr bwMode="auto">
          <a:xfrm>
            <a:off x="381000" y="6477000"/>
            <a:ext cx="4572000" cy="304800"/>
          </a:xfrm>
          <a:prstGeom prst="rect">
            <a:avLst/>
          </a:prstGeom>
          <a:noFill/>
          <a:ln w="9525">
            <a:noFill/>
            <a:miter lim="800000"/>
            <a:headEnd/>
            <a:tailEnd/>
          </a:ln>
        </p:spPr>
      </p:pic>
      <p:sp>
        <p:nvSpPr>
          <p:cNvPr id="102405" name="Text Box 5"/>
          <p:cNvSpPr txBox="1">
            <a:spLocks noChangeArrowheads="1"/>
          </p:cNvSpPr>
          <p:nvPr/>
        </p:nvSpPr>
        <p:spPr bwMode="auto">
          <a:xfrm>
            <a:off x="533400" y="1981200"/>
            <a:ext cx="2209800" cy="366713"/>
          </a:xfrm>
          <a:prstGeom prst="rect">
            <a:avLst/>
          </a:prstGeom>
          <a:noFill/>
          <a:ln w="9525">
            <a:noFill/>
            <a:miter lim="800000"/>
            <a:headEnd/>
            <a:tailEnd/>
          </a:ln>
        </p:spPr>
        <p:txBody>
          <a:bodyPr>
            <a:spAutoFit/>
          </a:bodyPr>
          <a:lstStyle/>
          <a:p>
            <a:pPr>
              <a:spcBef>
                <a:spcPct val="50000"/>
              </a:spcBef>
            </a:pPr>
            <a:endParaRPr lang="en-US">
              <a:solidFill>
                <a:schemeClr val="bg1"/>
              </a:solidFill>
              <a:cs typeface="Arial" charset="0"/>
            </a:endParaRPr>
          </a:p>
        </p:txBody>
      </p:sp>
      <p:pic>
        <p:nvPicPr>
          <p:cNvPr id="102406" name="Picture 7"/>
          <p:cNvPicPr>
            <a:picLocks noChangeAspect="1" noChangeArrowheads="1"/>
          </p:cNvPicPr>
          <p:nvPr/>
        </p:nvPicPr>
        <p:blipFill>
          <a:blip r:embed="rId5" cstate="print"/>
          <a:srcRect/>
          <a:stretch>
            <a:fillRect/>
          </a:stretch>
        </p:blipFill>
        <p:spPr bwMode="auto">
          <a:xfrm>
            <a:off x="8124825" y="76200"/>
            <a:ext cx="790575" cy="1295400"/>
          </a:xfrm>
          <a:prstGeom prst="rect">
            <a:avLst/>
          </a:prstGeom>
          <a:noFill/>
          <a:ln w="9525">
            <a:noFill/>
            <a:miter lim="800000"/>
            <a:headEnd/>
            <a:tailEnd/>
          </a:ln>
        </p:spPr>
      </p:pic>
      <p:sp>
        <p:nvSpPr>
          <p:cNvPr id="102407" name="Rectangle 1031"/>
          <p:cNvSpPr>
            <a:spLocks noGrp="1" noChangeArrowheads="1"/>
          </p:cNvSpPr>
          <p:nvPr>
            <p:ph type="title" idx="4294967295"/>
          </p:nvPr>
        </p:nvSpPr>
        <p:spPr>
          <a:xfrm>
            <a:off x="228600" y="228600"/>
            <a:ext cx="8382000" cy="914400"/>
          </a:xfrm>
        </p:spPr>
        <p:txBody>
          <a:bodyPr>
            <a:normAutofit fontScale="90000"/>
          </a:bodyPr>
          <a:lstStyle/>
          <a:p>
            <a:pPr algn="l"/>
            <a:r>
              <a:rPr lang="en-US" sz="3600" dirty="0" smtClean="0"/>
              <a:t/>
            </a:r>
            <a:br>
              <a:rPr lang="en-US" sz="3600" dirty="0" smtClean="0"/>
            </a:br>
            <a:r>
              <a:rPr lang="en-US" sz="3600" dirty="0" smtClean="0"/>
              <a:t> </a:t>
            </a:r>
            <a:r>
              <a:rPr lang="en-US" sz="3100" b="1" dirty="0" smtClean="0">
                <a:solidFill>
                  <a:srgbClr val="A71C1F"/>
                </a:solidFill>
              </a:rPr>
              <a:t>Certification Upgrade Review Committee (CURC)</a:t>
            </a:r>
          </a:p>
        </p:txBody>
      </p:sp>
      <p:sp>
        <p:nvSpPr>
          <p:cNvPr id="102408" name="Rectangle 1037"/>
          <p:cNvSpPr>
            <a:spLocks noGrp="1" noChangeArrowheads="1"/>
          </p:cNvSpPr>
          <p:nvPr>
            <p:ph idx="4294967295"/>
          </p:nvPr>
        </p:nvSpPr>
        <p:spPr/>
        <p:txBody>
          <a:bodyPr>
            <a:normAutofit lnSpcReduction="10000"/>
          </a:bodyPr>
          <a:lstStyle/>
          <a:p>
            <a:pPr marL="0" indent="0">
              <a:lnSpc>
                <a:spcPct val="90000"/>
              </a:lnSpc>
              <a:buFont typeface="Arial" charset="0"/>
              <a:buNone/>
            </a:pPr>
            <a:r>
              <a:rPr lang="en-US" sz="2800" b="1" dirty="0" smtClean="0"/>
              <a:t>CURC Members are drawn from:</a:t>
            </a:r>
          </a:p>
          <a:p>
            <a:pPr marL="0" indent="0">
              <a:lnSpc>
                <a:spcPct val="90000"/>
              </a:lnSpc>
            </a:pPr>
            <a:endParaRPr lang="en-US" sz="2800" b="1" dirty="0" smtClean="0"/>
          </a:p>
          <a:p>
            <a:pPr lvl="1">
              <a:lnSpc>
                <a:spcPct val="90000"/>
              </a:lnSpc>
              <a:buFontTx/>
              <a:buChar char="•"/>
            </a:pPr>
            <a:r>
              <a:rPr lang="en-US" b="1" dirty="0" smtClean="0"/>
              <a:t>Institutions of Higher Education (Public and Private)</a:t>
            </a:r>
          </a:p>
          <a:p>
            <a:pPr marL="0" indent="0">
              <a:lnSpc>
                <a:spcPct val="90000"/>
              </a:lnSpc>
            </a:pPr>
            <a:endParaRPr lang="en-US" sz="2800" b="1" dirty="0" smtClean="0"/>
          </a:p>
          <a:p>
            <a:pPr lvl="1">
              <a:lnSpc>
                <a:spcPct val="90000"/>
              </a:lnSpc>
              <a:buFontTx/>
              <a:buChar char="•"/>
            </a:pPr>
            <a:r>
              <a:rPr lang="en-US" b="1" dirty="0" smtClean="0"/>
              <a:t>School System HR Personnel (Various Regions)</a:t>
            </a:r>
          </a:p>
          <a:p>
            <a:pPr marL="0" indent="0">
              <a:lnSpc>
                <a:spcPct val="90000"/>
              </a:lnSpc>
            </a:pPr>
            <a:endParaRPr lang="en-US" sz="2800" b="1" dirty="0" smtClean="0"/>
          </a:p>
          <a:p>
            <a:pPr lvl="1">
              <a:lnSpc>
                <a:spcPct val="90000"/>
              </a:lnSpc>
              <a:buFontTx/>
              <a:buChar char="•"/>
            </a:pPr>
            <a:r>
              <a:rPr lang="en-US" b="1" dirty="0" err="1" smtClean="0"/>
              <a:t>GaPSC</a:t>
            </a:r>
            <a:r>
              <a:rPr lang="en-US" b="1" dirty="0" smtClean="0"/>
              <a:t> Education Preparation Staff</a:t>
            </a:r>
          </a:p>
          <a:p>
            <a:pPr marL="0" indent="0">
              <a:lnSpc>
                <a:spcPct val="90000"/>
              </a:lnSpc>
            </a:pPr>
            <a:endParaRPr lang="en-US" sz="2800" b="1" dirty="0" smtClean="0"/>
          </a:p>
          <a:p>
            <a:pPr lvl="1">
              <a:lnSpc>
                <a:spcPct val="90000"/>
              </a:lnSpc>
              <a:buFontTx/>
              <a:buChar char="•"/>
            </a:pPr>
            <a:r>
              <a:rPr lang="en-US" b="1" dirty="0" err="1" smtClean="0"/>
              <a:t>GaPSC</a:t>
            </a:r>
            <a:r>
              <a:rPr lang="en-US" b="1" dirty="0" smtClean="0"/>
              <a:t> Certification Staff</a:t>
            </a:r>
          </a:p>
          <a:p>
            <a:pPr marL="0" indent="0">
              <a:lnSpc>
                <a:spcPct val="90000"/>
              </a:lnSpc>
              <a:buFont typeface="Arial" charset="0"/>
              <a:buNone/>
            </a:pPr>
            <a:endParaRPr lang="en-US" sz="2400" b="1" dirty="0" smtClean="0"/>
          </a:p>
          <a:p>
            <a:pPr marL="0" indent="0">
              <a:lnSpc>
                <a:spcPct val="90000"/>
              </a:lnSpc>
              <a:buFont typeface="Arial" charset="0"/>
              <a:buNone/>
            </a:pPr>
            <a:endParaRPr lang="en-US" sz="2400" dirty="0" smtClean="0"/>
          </a:p>
          <a:p>
            <a:pPr marL="0" indent="0" algn="ctr">
              <a:lnSpc>
                <a:spcPct val="90000"/>
              </a:lnSpc>
              <a:buFont typeface="Arial" charset="0"/>
              <a:buNone/>
            </a:pPr>
            <a:endParaRPr lang="en-US" sz="4800" b="1" dirty="0" smtClean="0"/>
          </a:p>
        </p:txBody>
      </p:sp>
      <p:sp>
        <p:nvSpPr>
          <p:cNvPr id="102409" name="Text Box 1033"/>
          <p:cNvSpPr txBox="1">
            <a:spLocks noChangeArrowheads="1"/>
          </p:cNvSpPr>
          <p:nvPr/>
        </p:nvSpPr>
        <p:spPr bwMode="auto">
          <a:xfrm flipH="1">
            <a:off x="5638800" y="7848600"/>
            <a:ext cx="193675" cy="69035613"/>
          </a:xfrm>
          <a:prstGeom prst="rect">
            <a:avLst/>
          </a:prstGeom>
          <a:solidFill>
            <a:schemeClr val="bg1">
              <a:alpha val="52156"/>
            </a:schemeClr>
          </a:solidFill>
          <a:ln w="9525">
            <a:solidFill>
              <a:srgbClr val="A71C1F"/>
            </a:solidFill>
            <a:miter lim="800000"/>
            <a:headEnd/>
            <a:tailEnd/>
          </a:ln>
        </p:spPr>
        <p:txBody>
          <a:bodyPr>
            <a:spAutoFit/>
          </a:bodyPr>
          <a:lstStyle/>
          <a:p>
            <a:r>
              <a:rPr lang="en-US">
                <a:solidFill>
                  <a:schemeClr val="bg1"/>
                </a:solidFill>
                <a:cs typeface="Arial" charset="0"/>
              </a:rPr>
              <a:t>So, Georgia will accept professional out-of-state certificates to establish professional certification. However, the individual will be subject to our Special Georgia Requirements if they did not meet them for the professional out-of-state</a:t>
            </a:r>
          </a:p>
          <a:p>
            <a:r>
              <a:rPr lang="en-US">
                <a:solidFill>
                  <a:schemeClr val="bg1"/>
                </a:solidFill>
                <a:cs typeface="Arial" charset="0"/>
              </a:rPr>
              <a:t>certificate.</a:t>
            </a:r>
          </a:p>
        </p:txBody>
      </p:sp>
    </p:spTree>
    <p:custDataLst>
      <p:tags r:id="rId1"/>
    </p:custData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endParaRPr lang="en-US">
              <a:latin typeface="Calibri" pitchFamily="34" charset="0"/>
              <a:cs typeface="Arial" charset="0"/>
            </a:endParaRPr>
          </a:p>
        </p:txBody>
      </p:sp>
      <p:sp>
        <p:nvSpPr>
          <p:cNvPr id="115715"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cs typeface="Arial" charset="0"/>
            </a:endParaRPr>
          </a:p>
        </p:txBody>
      </p:sp>
      <p:pic>
        <p:nvPicPr>
          <p:cNvPr id="115716" name="Picture 4" descr="psc_H_text_xsmall"/>
          <p:cNvPicPr>
            <a:picLocks noChangeAspect="1" noChangeArrowheads="1"/>
          </p:cNvPicPr>
          <p:nvPr/>
        </p:nvPicPr>
        <p:blipFill>
          <a:blip r:embed="rId4" cstate="print"/>
          <a:srcRect/>
          <a:stretch>
            <a:fillRect/>
          </a:stretch>
        </p:blipFill>
        <p:spPr bwMode="auto">
          <a:xfrm>
            <a:off x="381000" y="6477000"/>
            <a:ext cx="4572000" cy="304800"/>
          </a:xfrm>
          <a:prstGeom prst="rect">
            <a:avLst/>
          </a:prstGeom>
          <a:noFill/>
          <a:ln w="9525">
            <a:noFill/>
            <a:miter lim="800000"/>
            <a:headEnd/>
            <a:tailEnd/>
          </a:ln>
        </p:spPr>
      </p:pic>
      <p:sp>
        <p:nvSpPr>
          <p:cNvPr id="115717" name="Text Box 5"/>
          <p:cNvSpPr txBox="1">
            <a:spLocks noChangeArrowheads="1"/>
          </p:cNvSpPr>
          <p:nvPr/>
        </p:nvSpPr>
        <p:spPr bwMode="auto">
          <a:xfrm>
            <a:off x="533400" y="1981200"/>
            <a:ext cx="2209800" cy="366713"/>
          </a:xfrm>
          <a:prstGeom prst="rect">
            <a:avLst/>
          </a:prstGeom>
          <a:noFill/>
          <a:ln w="9525">
            <a:noFill/>
            <a:miter lim="800000"/>
            <a:headEnd/>
            <a:tailEnd/>
          </a:ln>
        </p:spPr>
        <p:txBody>
          <a:bodyPr>
            <a:spAutoFit/>
          </a:bodyPr>
          <a:lstStyle/>
          <a:p>
            <a:pPr>
              <a:spcBef>
                <a:spcPct val="50000"/>
              </a:spcBef>
            </a:pPr>
            <a:endParaRPr lang="en-US">
              <a:solidFill>
                <a:schemeClr val="bg1"/>
              </a:solidFill>
              <a:cs typeface="Arial" charset="0"/>
            </a:endParaRPr>
          </a:p>
        </p:txBody>
      </p:sp>
      <p:pic>
        <p:nvPicPr>
          <p:cNvPr id="115718" name="Picture 7"/>
          <p:cNvPicPr>
            <a:picLocks noChangeAspect="1" noChangeArrowheads="1"/>
          </p:cNvPicPr>
          <p:nvPr/>
        </p:nvPicPr>
        <p:blipFill>
          <a:blip r:embed="rId5" cstate="print"/>
          <a:srcRect/>
          <a:stretch>
            <a:fillRect/>
          </a:stretch>
        </p:blipFill>
        <p:spPr bwMode="auto">
          <a:xfrm>
            <a:off x="8124825" y="76200"/>
            <a:ext cx="790575" cy="1295400"/>
          </a:xfrm>
          <a:prstGeom prst="rect">
            <a:avLst/>
          </a:prstGeom>
          <a:noFill/>
          <a:ln w="9525">
            <a:noFill/>
            <a:miter lim="800000"/>
            <a:headEnd/>
            <a:tailEnd/>
          </a:ln>
        </p:spPr>
      </p:pic>
      <p:sp>
        <p:nvSpPr>
          <p:cNvPr id="115719" name="Rectangle 1031"/>
          <p:cNvSpPr>
            <a:spLocks noGrp="1" noChangeArrowheads="1"/>
          </p:cNvSpPr>
          <p:nvPr>
            <p:ph type="title" idx="4294967295"/>
          </p:nvPr>
        </p:nvSpPr>
        <p:spPr/>
        <p:txBody>
          <a:bodyPr>
            <a:normAutofit/>
          </a:bodyPr>
          <a:lstStyle/>
          <a:p>
            <a:pPr algn="l"/>
            <a:r>
              <a:rPr lang="en-US" b="1" dirty="0" smtClean="0">
                <a:solidFill>
                  <a:srgbClr val="A71C1F"/>
                </a:solidFill>
              </a:rPr>
              <a:t>CURC Purpose</a:t>
            </a:r>
          </a:p>
        </p:txBody>
      </p:sp>
      <p:sp>
        <p:nvSpPr>
          <p:cNvPr id="115720" name="Rectangle 1037"/>
          <p:cNvSpPr>
            <a:spLocks noGrp="1" noChangeArrowheads="1"/>
          </p:cNvSpPr>
          <p:nvPr>
            <p:ph idx="4294967295"/>
          </p:nvPr>
        </p:nvSpPr>
        <p:spPr>
          <a:xfrm>
            <a:off x="457200" y="1371600"/>
            <a:ext cx="8229600" cy="4953000"/>
          </a:xfrm>
        </p:spPr>
        <p:txBody>
          <a:bodyPr>
            <a:normAutofit fontScale="92500" lnSpcReduction="20000"/>
          </a:bodyPr>
          <a:lstStyle/>
          <a:p>
            <a:pPr lvl="1">
              <a:lnSpc>
                <a:spcPct val="90000"/>
              </a:lnSpc>
              <a:buFontTx/>
              <a:buChar char="•"/>
            </a:pPr>
            <a:r>
              <a:rPr lang="en-US" sz="2600" b="1" dirty="0" smtClean="0"/>
              <a:t>Review advanced degrees accepted in Georgia to ensure that the intent of the new upgrade rule is met</a:t>
            </a:r>
          </a:p>
          <a:p>
            <a:pPr lvl="1">
              <a:lnSpc>
                <a:spcPct val="90000"/>
              </a:lnSpc>
              <a:buFontTx/>
              <a:buChar char="•"/>
            </a:pPr>
            <a:endParaRPr lang="en-US" sz="2600" b="1" dirty="0" smtClean="0"/>
          </a:p>
          <a:p>
            <a:pPr lvl="1">
              <a:lnSpc>
                <a:spcPct val="90000"/>
              </a:lnSpc>
              <a:buFontTx/>
              <a:buChar char="•"/>
            </a:pPr>
            <a:r>
              <a:rPr lang="en-US" sz="2600" b="1" dirty="0" smtClean="0"/>
              <a:t>Various entities collaborate to provide a wide range of perspectives and expertise</a:t>
            </a:r>
          </a:p>
          <a:p>
            <a:pPr lvl="1">
              <a:lnSpc>
                <a:spcPct val="90000"/>
              </a:lnSpc>
              <a:buFontTx/>
              <a:buNone/>
            </a:pPr>
            <a:endParaRPr lang="en-US" sz="2600" b="1" dirty="0" smtClean="0"/>
          </a:p>
          <a:p>
            <a:pPr lvl="1">
              <a:buFontTx/>
              <a:buChar char="•"/>
            </a:pPr>
            <a:r>
              <a:rPr lang="en-US" sz="2600" b="1" dirty="0" smtClean="0"/>
              <a:t>Discuss upgrade concerns and appeals to make final degree determinations</a:t>
            </a:r>
          </a:p>
          <a:p>
            <a:pPr lvl="1">
              <a:buFontTx/>
              <a:buNone/>
            </a:pPr>
            <a:endParaRPr lang="en-US" sz="2600" b="1" dirty="0" smtClean="0"/>
          </a:p>
          <a:p>
            <a:pPr lvl="1">
              <a:buFontTx/>
              <a:buChar char="•"/>
            </a:pPr>
            <a:r>
              <a:rPr lang="en-US" sz="2600" b="1" dirty="0" smtClean="0"/>
              <a:t>Collaborate with the Board of Regents to align degree titles with certification fields</a:t>
            </a:r>
          </a:p>
          <a:p>
            <a:pPr lvl="1">
              <a:buFontTx/>
              <a:buNone/>
            </a:pPr>
            <a:endParaRPr lang="en-US" sz="2600" b="1" dirty="0" smtClean="0"/>
          </a:p>
          <a:p>
            <a:pPr lvl="1">
              <a:buFontTx/>
              <a:buChar char="•"/>
            </a:pPr>
            <a:r>
              <a:rPr lang="en-US" sz="2600" b="1" dirty="0" smtClean="0"/>
              <a:t>Assure that the criteria used for degree determination is accessible to the public via www.gapsc.com</a:t>
            </a:r>
          </a:p>
          <a:p>
            <a:pPr lvl="1">
              <a:buFontTx/>
              <a:buNone/>
            </a:pPr>
            <a:r>
              <a:rPr lang="en-US" sz="2200" dirty="0" smtClean="0"/>
              <a:t> </a:t>
            </a:r>
          </a:p>
          <a:p>
            <a:pPr marL="0" indent="0" algn="ctr">
              <a:lnSpc>
                <a:spcPct val="90000"/>
              </a:lnSpc>
              <a:buFont typeface="Arial" charset="0"/>
              <a:buNone/>
            </a:pPr>
            <a:endParaRPr lang="en-US" sz="2200" dirty="0" smtClean="0"/>
          </a:p>
          <a:p>
            <a:pPr marL="0" indent="0">
              <a:lnSpc>
                <a:spcPct val="90000"/>
              </a:lnSpc>
              <a:buFont typeface="Arial" charset="0"/>
              <a:buNone/>
            </a:pPr>
            <a:endParaRPr lang="en-US" sz="4800" b="1" dirty="0" smtClean="0"/>
          </a:p>
        </p:txBody>
      </p:sp>
      <p:sp>
        <p:nvSpPr>
          <p:cNvPr id="115721" name="Text Box 1033"/>
          <p:cNvSpPr txBox="1">
            <a:spLocks noChangeArrowheads="1"/>
          </p:cNvSpPr>
          <p:nvPr/>
        </p:nvSpPr>
        <p:spPr bwMode="auto">
          <a:xfrm flipH="1">
            <a:off x="5638800" y="7848600"/>
            <a:ext cx="193675" cy="69035613"/>
          </a:xfrm>
          <a:prstGeom prst="rect">
            <a:avLst/>
          </a:prstGeom>
          <a:solidFill>
            <a:schemeClr val="bg1">
              <a:alpha val="52156"/>
            </a:schemeClr>
          </a:solidFill>
          <a:ln w="9525">
            <a:solidFill>
              <a:srgbClr val="A71C1F"/>
            </a:solidFill>
            <a:miter lim="800000"/>
            <a:headEnd/>
            <a:tailEnd/>
          </a:ln>
        </p:spPr>
        <p:txBody>
          <a:bodyPr>
            <a:spAutoFit/>
          </a:bodyPr>
          <a:lstStyle/>
          <a:p>
            <a:r>
              <a:rPr lang="en-US">
                <a:solidFill>
                  <a:schemeClr val="bg1"/>
                </a:solidFill>
                <a:cs typeface="Arial" charset="0"/>
              </a:rPr>
              <a:t>So, Georgia will accept professional out-of-state certificates to establish professional certification. However, the individual will be subject to our Special Georgia Requirements if they did not meet them for the professional out-of-state</a:t>
            </a:r>
          </a:p>
          <a:p>
            <a:r>
              <a:rPr lang="en-US">
                <a:solidFill>
                  <a:schemeClr val="bg1"/>
                </a:solidFill>
                <a:cs typeface="Arial" charset="0"/>
              </a:rPr>
              <a:t>certificate.</a:t>
            </a:r>
          </a:p>
        </p:txBody>
      </p:sp>
    </p:spTree>
    <p:custDataLst>
      <p:tags r:id="rId1"/>
    </p:custData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endParaRPr lang="en-US">
              <a:latin typeface="Calibri" pitchFamily="34" charset="0"/>
              <a:cs typeface="Arial" charset="0"/>
            </a:endParaRPr>
          </a:p>
        </p:txBody>
      </p:sp>
      <p:sp>
        <p:nvSpPr>
          <p:cNvPr id="106499"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cs typeface="Arial" charset="0"/>
            </a:endParaRPr>
          </a:p>
        </p:txBody>
      </p:sp>
      <p:pic>
        <p:nvPicPr>
          <p:cNvPr id="106500" name="Picture 4" descr="psc_H_text_xsmall"/>
          <p:cNvPicPr>
            <a:picLocks noChangeAspect="1" noChangeArrowheads="1"/>
          </p:cNvPicPr>
          <p:nvPr/>
        </p:nvPicPr>
        <p:blipFill>
          <a:blip r:embed="rId4" cstate="print"/>
          <a:srcRect/>
          <a:stretch>
            <a:fillRect/>
          </a:stretch>
        </p:blipFill>
        <p:spPr bwMode="auto">
          <a:xfrm>
            <a:off x="381000" y="6477000"/>
            <a:ext cx="4572000" cy="304800"/>
          </a:xfrm>
          <a:prstGeom prst="rect">
            <a:avLst/>
          </a:prstGeom>
          <a:noFill/>
          <a:ln w="9525">
            <a:noFill/>
            <a:miter lim="800000"/>
            <a:headEnd/>
            <a:tailEnd/>
          </a:ln>
        </p:spPr>
      </p:pic>
      <p:sp>
        <p:nvSpPr>
          <p:cNvPr id="106501" name="Text Box 5"/>
          <p:cNvSpPr txBox="1">
            <a:spLocks noChangeArrowheads="1"/>
          </p:cNvSpPr>
          <p:nvPr/>
        </p:nvSpPr>
        <p:spPr bwMode="auto">
          <a:xfrm>
            <a:off x="533400" y="1981200"/>
            <a:ext cx="2209800" cy="366713"/>
          </a:xfrm>
          <a:prstGeom prst="rect">
            <a:avLst/>
          </a:prstGeom>
          <a:noFill/>
          <a:ln w="9525">
            <a:noFill/>
            <a:miter lim="800000"/>
            <a:headEnd/>
            <a:tailEnd/>
          </a:ln>
        </p:spPr>
        <p:txBody>
          <a:bodyPr>
            <a:spAutoFit/>
          </a:bodyPr>
          <a:lstStyle/>
          <a:p>
            <a:pPr>
              <a:spcBef>
                <a:spcPct val="50000"/>
              </a:spcBef>
            </a:pPr>
            <a:endParaRPr lang="en-US">
              <a:solidFill>
                <a:schemeClr val="bg1"/>
              </a:solidFill>
              <a:cs typeface="Arial" charset="0"/>
            </a:endParaRPr>
          </a:p>
        </p:txBody>
      </p:sp>
      <p:pic>
        <p:nvPicPr>
          <p:cNvPr id="106502" name="Picture 7"/>
          <p:cNvPicPr>
            <a:picLocks noChangeAspect="1" noChangeArrowheads="1"/>
          </p:cNvPicPr>
          <p:nvPr/>
        </p:nvPicPr>
        <p:blipFill>
          <a:blip r:embed="rId5" cstate="print"/>
          <a:srcRect/>
          <a:stretch>
            <a:fillRect/>
          </a:stretch>
        </p:blipFill>
        <p:spPr bwMode="auto">
          <a:xfrm>
            <a:off x="8124825" y="76200"/>
            <a:ext cx="790575" cy="1295400"/>
          </a:xfrm>
          <a:prstGeom prst="rect">
            <a:avLst/>
          </a:prstGeom>
          <a:noFill/>
          <a:ln w="9525">
            <a:noFill/>
            <a:miter lim="800000"/>
            <a:headEnd/>
            <a:tailEnd/>
          </a:ln>
        </p:spPr>
      </p:pic>
      <p:sp>
        <p:nvSpPr>
          <p:cNvPr id="106503" name="Rectangle 1031"/>
          <p:cNvSpPr>
            <a:spLocks noGrp="1" noChangeArrowheads="1"/>
          </p:cNvSpPr>
          <p:nvPr>
            <p:ph type="title" idx="4294967295"/>
          </p:nvPr>
        </p:nvSpPr>
        <p:spPr/>
        <p:txBody>
          <a:bodyPr>
            <a:normAutofit/>
          </a:bodyPr>
          <a:lstStyle/>
          <a:p>
            <a:pPr algn="l"/>
            <a:r>
              <a:rPr lang="en-US" sz="4000" b="1" dirty="0" smtClean="0">
                <a:solidFill>
                  <a:srgbClr val="A71C1F"/>
                </a:solidFill>
              </a:rPr>
              <a:t>Right Now</a:t>
            </a:r>
          </a:p>
        </p:txBody>
      </p:sp>
      <p:sp>
        <p:nvSpPr>
          <p:cNvPr id="106504" name="Rectangle 1037"/>
          <p:cNvSpPr>
            <a:spLocks noGrp="1" noChangeArrowheads="1"/>
          </p:cNvSpPr>
          <p:nvPr>
            <p:ph idx="4294967295"/>
          </p:nvPr>
        </p:nvSpPr>
        <p:spPr>
          <a:xfrm>
            <a:off x="381000" y="1371600"/>
            <a:ext cx="8305800" cy="5029200"/>
          </a:xfrm>
        </p:spPr>
        <p:txBody>
          <a:bodyPr>
            <a:noAutofit/>
          </a:bodyPr>
          <a:lstStyle/>
          <a:p>
            <a:pPr lvl="1">
              <a:lnSpc>
                <a:spcPct val="90000"/>
              </a:lnSpc>
              <a:buFontTx/>
              <a:buChar char="•"/>
            </a:pPr>
            <a:endParaRPr lang="en-US" sz="2400" dirty="0" smtClean="0"/>
          </a:p>
          <a:p>
            <a:pPr lvl="1">
              <a:lnSpc>
                <a:spcPct val="90000"/>
              </a:lnSpc>
              <a:buFontTx/>
              <a:buChar char="•"/>
            </a:pPr>
            <a:r>
              <a:rPr lang="en-US" sz="2400" b="1" dirty="0" smtClean="0"/>
              <a:t>CURC is formalizing the criteria used to determine infield degrees</a:t>
            </a:r>
          </a:p>
          <a:p>
            <a:pPr lvl="1">
              <a:lnSpc>
                <a:spcPct val="90000"/>
              </a:lnSpc>
              <a:buFontTx/>
              <a:buChar char="•"/>
            </a:pPr>
            <a:r>
              <a:rPr lang="en-US" sz="2400" b="1" dirty="0" smtClean="0"/>
              <a:t>Infield degrees are slowly broadening</a:t>
            </a:r>
          </a:p>
          <a:p>
            <a:pPr lvl="1">
              <a:lnSpc>
                <a:spcPct val="90000"/>
              </a:lnSpc>
              <a:buFontTx/>
              <a:buChar char="•"/>
            </a:pPr>
            <a:r>
              <a:rPr lang="en-US" sz="2400" b="1" dirty="0" smtClean="0"/>
              <a:t>Majority of educators enrolling in advanced degree programs are selecting:</a:t>
            </a:r>
          </a:p>
          <a:p>
            <a:pPr lvl="4">
              <a:lnSpc>
                <a:spcPct val="90000"/>
              </a:lnSpc>
              <a:buFontTx/>
              <a:buChar char="•"/>
            </a:pPr>
            <a:r>
              <a:rPr lang="en-US" sz="2400" b="1" dirty="0" smtClean="0"/>
              <a:t>Curriculum and Instruction</a:t>
            </a:r>
          </a:p>
          <a:p>
            <a:pPr lvl="4">
              <a:lnSpc>
                <a:spcPct val="90000"/>
              </a:lnSpc>
              <a:buFontTx/>
              <a:buChar char="•"/>
            </a:pPr>
            <a:r>
              <a:rPr lang="en-US" sz="2400" b="1" dirty="0" smtClean="0"/>
              <a:t>Instructional Technology</a:t>
            </a:r>
          </a:p>
          <a:p>
            <a:pPr lvl="4">
              <a:lnSpc>
                <a:spcPct val="90000"/>
              </a:lnSpc>
              <a:buFontTx/>
              <a:buChar char="•"/>
            </a:pPr>
            <a:r>
              <a:rPr lang="en-US" sz="2400" b="1" dirty="0" smtClean="0"/>
              <a:t>Teacher Leadership</a:t>
            </a:r>
          </a:p>
          <a:p>
            <a:pPr lvl="1">
              <a:lnSpc>
                <a:spcPct val="90000"/>
              </a:lnSpc>
              <a:buFontTx/>
              <a:buChar char="•"/>
            </a:pPr>
            <a:r>
              <a:rPr lang="en-US" sz="2400" b="1" dirty="0" smtClean="0"/>
              <a:t>Once Georgia institutions become approved for the 3 new fields they will review degrees that were previously completed and either outline additional requirements or recommend for the new field</a:t>
            </a:r>
            <a:r>
              <a:rPr lang="en-US" sz="2400" dirty="0" smtClean="0"/>
              <a:t> </a:t>
            </a:r>
          </a:p>
          <a:p>
            <a:pPr marL="0" indent="0">
              <a:lnSpc>
                <a:spcPct val="90000"/>
              </a:lnSpc>
            </a:pPr>
            <a:endParaRPr lang="en-US" sz="2400" dirty="0" smtClean="0"/>
          </a:p>
          <a:p>
            <a:pPr marL="0" indent="0">
              <a:lnSpc>
                <a:spcPct val="90000"/>
              </a:lnSpc>
              <a:buFont typeface="Arial" charset="0"/>
              <a:buNone/>
            </a:pPr>
            <a:endParaRPr lang="en-US" sz="2400" b="1" dirty="0" smtClean="0"/>
          </a:p>
          <a:p>
            <a:pPr marL="0" indent="0">
              <a:lnSpc>
                <a:spcPct val="90000"/>
              </a:lnSpc>
              <a:buFont typeface="Arial" charset="0"/>
              <a:buNone/>
            </a:pPr>
            <a:endParaRPr lang="en-US" sz="2400" b="1" dirty="0" smtClean="0"/>
          </a:p>
        </p:txBody>
      </p:sp>
      <p:sp>
        <p:nvSpPr>
          <p:cNvPr id="106505" name="Text Box 1033"/>
          <p:cNvSpPr txBox="1">
            <a:spLocks noChangeArrowheads="1"/>
          </p:cNvSpPr>
          <p:nvPr/>
        </p:nvSpPr>
        <p:spPr bwMode="auto">
          <a:xfrm flipH="1">
            <a:off x="5638800" y="7848600"/>
            <a:ext cx="193675" cy="69035613"/>
          </a:xfrm>
          <a:prstGeom prst="rect">
            <a:avLst/>
          </a:prstGeom>
          <a:solidFill>
            <a:schemeClr val="bg1">
              <a:alpha val="52156"/>
            </a:schemeClr>
          </a:solidFill>
          <a:ln w="9525">
            <a:solidFill>
              <a:srgbClr val="A71C1F"/>
            </a:solidFill>
            <a:miter lim="800000"/>
            <a:headEnd/>
            <a:tailEnd/>
          </a:ln>
        </p:spPr>
        <p:txBody>
          <a:bodyPr>
            <a:spAutoFit/>
          </a:bodyPr>
          <a:lstStyle/>
          <a:p>
            <a:r>
              <a:rPr lang="en-US">
                <a:solidFill>
                  <a:schemeClr val="bg1"/>
                </a:solidFill>
                <a:cs typeface="Arial" charset="0"/>
              </a:rPr>
              <a:t>So, Georgia will accept professional out-of-state certificates to establish professional certification. However, the individual will be subject to our Special Georgia Requirements if they did not meet them for the professional out-of-state</a:t>
            </a:r>
          </a:p>
          <a:p>
            <a:r>
              <a:rPr lang="en-US">
                <a:solidFill>
                  <a:schemeClr val="bg1"/>
                </a:solidFill>
                <a:cs typeface="Arial" charset="0"/>
              </a:rPr>
              <a:t>certificate.</a:t>
            </a:r>
          </a:p>
        </p:txBody>
      </p:sp>
    </p:spTree>
    <p:custDataLst>
      <p:tags r:id="rId1"/>
    </p:custData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228600" y="304800"/>
            <a:ext cx="8610600" cy="6324600"/>
          </a:xfrm>
          <a:prstGeom prst="rect">
            <a:avLst/>
          </a:prstGeom>
          <a:noFill/>
          <a:ln w="19050">
            <a:solidFill>
              <a:srgbClr val="A71C1F"/>
            </a:solidFill>
            <a:miter lim="800000"/>
            <a:headEnd/>
            <a:tailEnd/>
          </a:ln>
        </p:spPr>
        <p:txBody>
          <a:bodyPr wrap="none" anchor="ctr"/>
          <a:lstStyle/>
          <a:p>
            <a:endParaRPr lang="en-US">
              <a:latin typeface="Calibri" pitchFamily="34" charset="0"/>
              <a:cs typeface="Arial" charset="0"/>
            </a:endParaRPr>
          </a:p>
        </p:txBody>
      </p:sp>
      <p:sp>
        <p:nvSpPr>
          <p:cNvPr id="108547" name="Rectangle 3"/>
          <p:cNvSpPr>
            <a:spLocks noChangeArrowheads="1"/>
          </p:cNvSpPr>
          <p:nvPr/>
        </p:nvSpPr>
        <p:spPr bwMode="auto">
          <a:xfrm>
            <a:off x="260350" y="1143000"/>
            <a:ext cx="7893050" cy="1524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a:latin typeface="Calibri" pitchFamily="34" charset="0"/>
              <a:cs typeface="Arial" charset="0"/>
            </a:endParaRPr>
          </a:p>
        </p:txBody>
      </p:sp>
      <p:pic>
        <p:nvPicPr>
          <p:cNvPr id="108548" name="Picture 4" descr="psc_H_text_xsmall"/>
          <p:cNvPicPr>
            <a:picLocks noChangeAspect="1" noChangeArrowheads="1"/>
          </p:cNvPicPr>
          <p:nvPr/>
        </p:nvPicPr>
        <p:blipFill>
          <a:blip r:embed="rId4" cstate="print"/>
          <a:srcRect/>
          <a:stretch>
            <a:fillRect/>
          </a:stretch>
        </p:blipFill>
        <p:spPr bwMode="auto">
          <a:xfrm>
            <a:off x="381000" y="6477000"/>
            <a:ext cx="4572000" cy="304800"/>
          </a:xfrm>
          <a:prstGeom prst="rect">
            <a:avLst/>
          </a:prstGeom>
          <a:noFill/>
          <a:ln w="9525">
            <a:noFill/>
            <a:miter lim="800000"/>
            <a:headEnd/>
            <a:tailEnd/>
          </a:ln>
        </p:spPr>
      </p:pic>
      <p:sp>
        <p:nvSpPr>
          <p:cNvPr id="108549" name="Text Box 5"/>
          <p:cNvSpPr txBox="1">
            <a:spLocks noChangeArrowheads="1"/>
          </p:cNvSpPr>
          <p:nvPr/>
        </p:nvSpPr>
        <p:spPr bwMode="auto">
          <a:xfrm>
            <a:off x="533400" y="1981200"/>
            <a:ext cx="2209800" cy="366713"/>
          </a:xfrm>
          <a:prstGeom prst="rect">
            <a:avLst/>
          </a:prstGeom>
          <a:noFill/>
          <a:ln w="9525">
            <a:noFill/>
            <a:miter lim="800000"/>
            <a:headEnd/>
            <a:tailEnd/>
          </a:ln>
        </p:spPr>
        <p:txBody>
          <a:bodyPr>
            <a:spAutoFit/>
          </a:bodyPr>
          <a:lstStyle/>
          <a:p>
            <a:pPr>
              <a:spcBef>
                <a:spcPct val="50000"/>
              </a:spcBef>
            </a:pPr>
            <a:endParaRPr lang="en-US">
              <a:solidFill>
                <a:schemeClr val="bg1"/>
              </a:solidFill>
              <a:cs typeface="Arial" charset="0"/>
            </a:endParaRPr>
          </a:p>
        </p:txBody>
      </p:sp>
      <p:pic>
        <p:nvPicPr>
          <p:cNvPr id="108550" name="Picture 7"/>
          <p:cNvPicPr>
            <a:picLocks noChangeAspect="1" noChangeArrowheads="1"/>
          </p:cNvPicPr>
          <p:nvPr/>
        </p:nvPicPr>
        <p:blipFill>
          <a:blip r:embed="rId5" cstate="print"/>
          <a:srcRect/>
          <a:stretch>
            <a:fillRect/>
          </a:stretch>
        </p:blipFill>
        <p:spPr bwMode="auto">
          <a:xfrm>
            <a:off x="8124825" y="76200"/>
            <a:ext cx="790575" cy="1295400"/>
          </a:xfrm>
          <a:prstGeom prst="rect">
            <a:avLst/>
          </a:prstGeom>
          <a:noFill/>
          <a:ln w="9525">
            <a:noFill/>
            <a:miter lim="800000"/>
            <a:headEnd/>
            <a:tailEnd/>
          </a:ln>
        </p:spPr>
      </p:pic>
      <p:sp>
        <p:nvSpPr>
          <p:cNvPr id="108551" name="Rectangle 1031"/>
          <p:cNvSpPr>
            <a:spLocks noGrp="1" noChangeArrowheads="1"/>
          </p:cNvSpPr>
          <p:nvPr>
            <p:ph type="title" idx="4294967295"/>
          </p:nvPr>
        </p:nvSpPr>
        <p:spPr/>
        <p:txBody>
          <a:bodyPr/>
          <a:lstStyle/>
          <a:p>
            <a:pPr algn="l"/>
            <a:r>
              <a:rPr lang="en-US" sz="3200" b="1" dirty="0" smtClean="0">
                <a:solidFill>
                  <a:srgbClr val="A71C1F"/>
                </a:solidFill>
              </a:rPr>
              <a:t>Educator Questions About Upgrades</a:t>
            </a:r>
          </a:p>
        </p:txBody>
      </p:sp>
      <p:sp>
        <p:nvSpPr>
          <p:cNvPr id="108552" name="Rectangle 1037"/>
          <p:cNvSpPr>
            <a:spLocks noGrp="1" noChangeArrowheads="1"/>
          </p:cNvSpPr>
          <p:nvPr>
            <p:ph idx="4294967295"/>
          </p:nvPr>
        </p:nvSpPr>
        <p:spPr/>
        <p:txBody>
          <a:bodyPr>
            <a:normAutofit lnSpcReduction="10000"/>
          </a:bodyPr>
          <a:lstStyle/>
          <a:p>
            <a:pPr lvl="1">
              <a:lnSpc>
                <a:spcPct val="90000"/>
              </a:lnSpc>
              <a:buFontTx/>
              <a:buChar char="•"/>
            </a:pPr>
            <a:r>
              <a:rPr lang="en-US" sz="2000" b="1" smtClean="0"/>
              <a:t>Does a Teaching and Learning degree qualify for the extended grandfathering period?</a:t>
            </a:r>
          </a:p>
          <a:p>
            <a:pPr lvl="1">
              <a:lnSpc>
                <a:spcPct val="90000"/>
              </a:lnSpc>
              <a:buFontTx/>
              <a:buChar char="•"/>
            </a:pPr>
            <a:endParaRPr lang="en-US" sz="2000" b="1" smtClean="0"/>
          </a:p>
          <a:p>
            <a:pPr lvl="1">
              <a:lnSpc>
                <a:spcPct val="90000"/>
              </a:lnSpc>
              <a:buFontTx/>
              <a:buChar char="•"/>
            </a:pPr>
            <a:r>
              <a:rPr lang="en-US" sz="2000" b="1" smtClean="0"/>
              <a:t>Are the out-of-state institutions advertising degrees that meet  Georgia’s grandfathering criteria legitimate?</a:t>
            </a:r>
          </a:p>
          <a:p>
            <a:pPr lvl="1">
              <a:lnSpc>
                <a:spcPct val="90000"/>
              </a:lnSpc>
              <a:buFontTx/>
              <a:buChar char="•"/>
            </a:pPr>
            <a:endParaRPr lang="en-US" sz="2000" b="1" smtClean="0"/>
          </a:p>
          <a:p>
            <a:pPr lvl="1">
              <a:lnSpc>
                <a:spcPct val="90000"/>
              </a:lnSpc>
              <a:buFontTx/>
              <a:buChar char="•"/>
            </a:pPr>
            <a:r>
              <a:rPr lang="en-US" sz="2000" b="1" smtClean="0"/>
              <a:t>If I get the upgrade on my certificate, will I get paid for my advanced degree if I am not working in the field of my degree?</a:t>
            </a:r>
          </a:p>
          <a:p>
            <a:pPr lvl="1">
              <a:lnSpc>
                <a:spcPct val="90000"/>
              </a:lnSpc>
              <a:buFontTx/>
              <a:buChar char="•"/>
            </a:pPr>
            <a:endParaRPr lang="en-US" sz="2000" b="1" smtClean="0"/>
          </a:p>
          <a:p>
            <a:pPr lvl="1">
              <a:lnSpc>
                <a:spcPct val="90000"/>
              </a:lnSpc>
              <a:buFontTx/>
              <a:buChar char="•"/>
            </a:pPr>
            <a:r>
              <a:rPr lang="en-US" sz="2000" b="1" smtClean="0"/>
              <a:t>Are the GaPSC upgrade institution requirements the same as the institution requirements for initial certification?</a:t>
            </a:r>
          </a:p>
          <a:p>
            <a:pPr lvl="1">
              <a:lnSpc>
                <a:spcPct val="90000"/>
              </a:lnSpc>
              <a:buFontTx/>
              <a:buChar char="•"/>
            </a:pPr>
            <a:endParaRPr lang="en-US" sz="2000" b="1" smtClean="0"/>
          </a:p>
          <a:p>
            <a:pPr lvl="1">
              <a:lnSpc>
                <a:spcPct val="90000"/>
              </a:lnSpc>
              <a:buFontTx/>
              <a:buChar char="•"/>
            </a:pPr>
            <a:r>
              <a:rPr lang="en-US" sz="2000" b="1" smtClean="0"/>
              <a:t>My degree is not on the GaPSC infield matrix, but I know the degree will help me in my classroom, will GaPSC accept my degree for a certificate upgrade?</a:t>
            </a:r>
          </a:p>
        </p:txBody>
      </p:sp>
      <p:sp>
        <p:nvSpPr>
          <p:cNvPr id="108553" name="Text Box 1033"/>
          <p:cNvSpPr txBox="1">
            <a:spLocks noChangeArrowheads="1"/>
          </p:cNvSpPr>
          <p:nvPr/>
        </p:nvSpPr>
        <p:spPr bwMode="auto">
          <a:xfrm flipH="1">
            <a:off x="5638800" y="7848600"/>
            <a:ext cx="193675" cy="69035613"/>
          </a:xfrm>
          <a:prstGeom prst="rect">
            <a:avLst/>
          </a:prstGeom>
          <a:solidFill>
            <a:schemeClr val="bg1">
              <a:alpha val="52156"/>
            </a:schemeClr>
          </a:solidFill>
          <a:ln w="9525">
            <a:solidFill>
              <a:srgbClr val="A71C1F"/>
            </a:solidFill>
            <a:miter lim="800000"/>
            <a:headEnd/>
            <a:tailEnd/>
          </a:ln>
        </p:spPr>
        <p:txBody>
          <a:bodyPr>
            <a:spAutoFit/>
          </a:bodyPr>
          <a:lstStyle/>
          <a:p>
            <a:r>
              <a:rPr lang="en-US">
                <a:solidFill>
                  <a:schemeClr val="bg1"/>
                </a:solidFill>
                <a:cs typeface="Arial" charset="0"/>
              </a:rPr>
              <a:t>So, Georgia will accept professional out-of-state certificates to establish professional certification. However, the individual will be subject to our Special Georgia Requirements if they did not meet them for the professional out-of-state</a:t>
            </a:r>
          </a:p>
          <a:p>
            <a:r>
              <a:rPr lang="en-US">
                <a:solidFill>
                  <a:schemeClr val="bg1"/>
                </a:solidFill>
                <a:cs typeface="Arial" charset="0"/>
              </a:rPr>
              <a:t>certificate.</a:t>
            </a:r>
          </a:p>
        </p:txBody>
      </p:sp>
    </p:spTree>
    <p:custDataLst>
      <p:tags r:id="rId1"/>
    </p:custData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401762"/>
          </a:xfrm>
        </p:spPr>
        <p:txBody>
          <a:bodyPr>
            <a:normAutofit/>
          </a:bodyPr>
          <a:lstStyle/>
          <a:p>
            <a:pPr algn="l" eaLnBrk="1" hangingPunct="1"/>
            <a:r>
              <a:rPr lang="en-US" sz="3600" b="1" dirty="0" smtClean="0">
                <a:solidFill>
                  <a:srgbClr val="A71C1F"/>
                </a:solidFill>
              </a:rPr>
              <a:t>Leadership Certification and Degrees</a:t>
            </a:r>
          </a:p>
        </p:txBody>
      </p:sp>
      <p:sp>
        <p:nvSpPr>
          <p:cNvPr id="3075" name="Rectangle 3"/>
          <p:cNvSpPr>
            <a:spLocks noGrp="1" noChangeArrowheads="1"/>
          </p:cNvSpPr>
          <p:nvPr>
            <p:ph type="body" sz="half" idx="1"/>
          </p:nvPr>
        </p:nvSpPr>
        <p:spPr>
          <a:xfrm>
            <a:off x="228600" y="1752600"/>
            <a:ext cx="8610600" cy="4373563"/>
          </a:xfrm>
        </p:spPr>
        <p:txBody>
          <a:bodyPr>
            <a:normAutofit fontScale="92500"/>
          </a:bodyPr>
          <a:lstStyle/>
          <a:p>
            <a:pPr marL="609600" indent="-325438" eaLnBrk="1" hangingPunct="1">
              <a:spcAft>
                <a:spcPts val="600"/>
              </a:spcAft>
              <a:buNone/>
            </a:pPr>
            <a:r>
              <a:rPr lang="en-US" dirty="0" smtClean="0"/>
              <a:t>What Happened in 2009?</a:t>
            </a:r>
          </a:p>
          <a:p>
            <a:pPr marL="609600" indent="-325438">
              <a:spcAft>
                <a:spcPts val="600"/>
              </a:spcAft>
            </a:pPr>
            <a:r>
              <a:rPr lang="en-US" dirty="0" smtClean="0"/>
              <a:t>Lots of folks paid on “unused” Leadership Degrees</a:t>
            </a:r>
          </a:p>
          <a:p>
            <a:pPr marL="609600" indent="-325438">
              <a:spcAft>
                <a:spcPts val="600"/>
              </a:spcAft>
            </a:pPr>
            <a:r>
              <a:rPr lang="en-US" dirty="0" smtClean="0"/>
              <a:t>Save money!</a:t>
            </a:r>
          </a:p>
          <a:p>
            <a:pPr marL="609600" indent="-325438">
              <a:spcAft>
                <a:spcPts val="600"/>
              </a:spcAft>
            </a:pPr>
            <a:r>
              <a:rPr lang="en-US" dirty="0" smtClean="0"/>
              <a:t>So… don’t pay for that Leadership Degree if educator not working in a “Leadership Position”</a:t>
            </a:r>
          </a:p>
          <a:p>
            <a:pPr marL="609600" indent="-325438">
              <a:spcAft>
                <a:spcPts val="600"/>
              </a:spcAft>
            </a:pPr>
            <a:r>
              <a:rPr lang="en-US" dirty="0" smtClean="0"/>
              <a:t>HB455 in 2009, HB923 in 2010</a:t>
            </a:r>
          </a:p>
          <a:p>
            <a:pPr marL="609600" indent="-325438">
              <a:spcAft>
                <a:spcPts val="600"/>
              </a:spcAft>
            </a:pPr>
            <a:r>
              <a:rPr lang="en-US" dirty="0" smtClean="0"/>
              <a:t>Language changed in </a:t>
            </a:r>
            <a:r>
              <a:rPr lang="en-US" b="1" dirty="0" smtClean="0"/>
              <a:t>O.C.G.A. §20-2-212</a:t>
            </a:r>
            <a:endParaRPr lang="en-US" dirty="0" smtClean="0"/>
          </a:p>
          <a:p>
            <a:pPr marL="609600" indent="-325438" eaLnBrk="1" hangingPunct="1">
              <a:spcAft>
                <a:spcPts val="600"/>
              </a:spcAft>
              <a:buNone/>
            </a:pPr>
            <a:endParaRPr lang="en-US" sz="2800" dirty="0" smtClean="0"/>
          </a:p>
          <a:p>
            <a:pPr marL="609600" indent="-325438" eaLnBrk="1" hangingPunct="1">
              <a:spcAft>
                <a:spcPts val="600"/>
              </a:spcAft>
              <a:buNone/>
            </a:pPr>
            <a:endParaRPr lang="en-US" sz="2800" dirty="0" smtClean="0"/>
          </a:p>
          <a:p>
            <a:pPr marL="609600" indent="-325438" eaLnBrk="1" hangingPunct="1">
              <a:spcAft>
                <a:spcPts val="600"/>
              </a:spcAft>
              <a:buNone/>
            </a:pPr>
            <a:endParaRPr lang="en-US" sz="2800" dirty="0" smtClean="0"/>
          </a:p>
          <a:p>
            <a:pPr marL="609600" indent="-325438" eaLnBrk="1" hangingPunct="1">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algn="l"/>
            <a:r>
              <a:rPr lang="en-US" sz="3200" b="1" dirty="0" smtClean="0">
                <a:solidFill>
                  <a:srgbClr val="A71C1F"/>
                </a:solidFill>
              </a:rPr>
              <a:t>Leadership Certification and Degrees</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pic>
        <p:nvPicPr>
          <p:cNvPr id="6146" name="Picture 2"/>
          <p:cNvPicPr>
            <a:picLocks noChangeAspect="1" noChangeArrowheads="1"/>
          </p:cNvPicPr>
          <p:nvPr/>
        </p:nvPicPr>
        <p:blipFill>
          <a:blip r:embed="rId5" cstate="print"/>
          <a:srcRect/>
          <a:stretch>
            <a:fillRect/>
          </a:stretch>
        </p:blipFill>
        <p:spPr bwMode="auto">
          <a:xfrm>
            <a:off x="1524000" y="1600200"/>
            <a:ext cx="6096000" cy="45988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020762"/>
          </a:xfrm>
        </p:spPr>
        <p:txBody>
          <a:bodyPr>
            <a:normAutofit/>
          </a:bodyPr>
          <a:lstStyle/>
          <a:p>
            <a:pPr algn="l"/>
            <a:r>
              <a:rPr lang="en-US" sz="3200" b="1" dirty="0" smtClean="0">
                <a:solidFill>
                  <a:srgbClr val="A71C1F"/>
                </a:solidFill>
              </a:rPr>
              <a:t>Leadership Certification and Degrees</a:t>
            </a:r>
          </a:p>
        </p:txBody>
      </p:sp>
      <p:sp>
        <p:nvSpPr>
          <p:cNvPr id="3075" name="Rectangle 3"/>
          <p:cNvSpPr>
            <a:spLocks noGrp="1" noChangeArrowheads="1"/>
          </p:cNvSpPr>
          <p:nvPr>
            <p:ph type="body" sz="half" idx="1"/>
          </p:nvPr>
        </p:nvSpPr>
        <p:spPr>
          <a:xfrm>
            <a:off x="228600" y="1752600"/>
            <a:ext cx="8610600" cy="4373563"/>
          </a:xfrm>
        </p:spPr>
        <p:txBody>
          <a:bodyPr>
            <a:normAutofit fontScale="92500" lnSpcReduction="20000"/>
          </a:bodyPr>
          <a:lstStyle/>
          <a:p>
            <a:pPr marL="609600" indent="-325438">
              <a:spcAft>
                <a:spcPts val="600"/>
              </a:spcAft>
              <a:buNone/>
            </a:pPr>
            <a:r>
              <a:rPr lang="en-US" sz="2800" dirty="0" smtClean="0"/>
              <a:t>“The </a:t>
            </a:r>
            <a:r>
              <a:rPr lang="en-US" sz="2800" dirty="0" err="1" smtClean="0"/>
              <a:t>GaPSC</a:t>
            </a:r>
            <a:r>
              <a:rPr lang="en-US" sz="2800" dirty="0" smtClean="0"/>
              <a:t> assigns one level (1, 2, 4, 5, 6, or 7) to all certificates held by an educator. Previously, that certificate level (combined with the type of certificate held) automatically determined placement in the appropriate column on the State Salary Schedule. Effective July 1, 2010, placement on the State Salary Schedule for educators earning an advanced leadership degree will now depend on whether the educator is employed in a leadership position as defined by the State Board of Education”</a:t>
            </a:r>
          </a:p>
          <a:p>
            <a:pPr marL="609600" indent="-325438">
              <a:spcAft>
                <a:spcPts val="600"/>
              </a:spcAft>
              <a:buNone/>
            </a:pPr>
            <a:endParaRPr lang="en-US" sz="2800" dirty="0" smtClean="0"/>
          </a:p>
          <a:p>
            <a:pPr marL="609600" indent="-325438">
              <a:spcAft>
                <a:spcPts val="600"/>
              </a:spcAft>
              <a:buNone/>
            </a:pPr>
            <a:r>
              <a:rPr lang="en-US" sz="2800" i="1" dirty="0" err="1" smtClean="0"/>
              <a:t>GaPSC</a:t>
            </a:r>
            <a:r>
              <a:rPr lang="en-US" sz="2800" i="1" dirty="0" smtClean="0"/>
              <a:t> Guidance Document</a:t>
            </a:r>
          </a:p>
          <a:p>
            <a:pPr marL="609600" indent="-325438" eaLnBrk="1" hangingPunct="1">
              <a:spcAft>
                <a:spcPts val="600"/>
              </a:spcAft>
              <a:buNone/>
            </a:pPr>
            <a:endParaRPr lang="en-US" sz="2800" dirty="0" smtClean="0"/>
          </a:p>
          <a:p>
            <a:pPr marL="609600" indent="-325438" eaLnBrk="1" hangingPunct="1">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020762"/>
          </a:xfrm>
        </p:spPr>
        <p:txBody>
          <a:bodyPr>
            <a:normAutofit/>
          </a:bodyPr>
          <a:lstStyle/>
          <a:p>
            <a:pPr algn="l"/>
            <a:r>
              <a:rPr lang="en-US" sz="3200" b="1" dirty="0" smtClean="0">
                <a:solidFill>
                  <a:srgbClr val="A71C1F"/>
                </a:solidFill>
              </a:rPr>
              <a:t>Leadership Certification and Degrees</a:t>
            </a:r>
          </a:p>
        </p:txBody>
      </p:sp>
      <p:sp>
        <p:nvSpPr>
          <p:cNvPr id="9" name="Content Placeholder 8"/>
          <p:cNvSpPr>
            <a:spLocks noGrp="1"/>
          </p:cNvSpPr>
          <p:nvPr>
            <p:ph idx="1"/>
          </p:nvPr>
        </p:nvSpPr>
        <p:spPr/>
        <p:txBody>
          <a:bodyPr>
            <a:normAutofit fontScale="85000" lnSpcReduction="20000"/>
          </a:bodyPr>
          <a:lstStyle/>
          <a:p>
            <a:pPr>
              <a:buNone/>
            </a:pPr>
            <a:r>
              <a:rPr lang="en-US" sz="3000" dirty="0" smtClean="0"/>
              <a:t>“The certificate level, which reflects the highest accepted degree held, </a:t>
            </a:r>
            <a:r>
              <a:rPr lang="en-US" sz="3000" u="sng" dirty="0" smtClean="0"/>
              <a:t>no longer “automatically” designates salary schedule placement</a:t>
            </a:r>
            <a:r>
              <a:rPr lang="en-US" sz="3000" dirty="0" smtClean="0"/>
              <a:t> if that degree is a leadership degree earned after July 1, 2010. The bottom line change: 1) LEAs will now have to individually review data on employees holding leadership degrees to determine salary schedule placement rather than automatically using the certificate level; and 2) some educators holding certain advanced leadership degrees will not be paid on that degree level unless they are actually employed in a leadership position.”</a:t>
            </a:r>
          </a:p>
          <a:p>
            <a:pPr>
              <a:buNone/>
            </a:pPr>
            <a:endParaRPr lang="en-US" sz="3000" dirty="0" smtClean="0"/>
          </a:p>
          <a:p>
            <a:pPr>
              <a:buNone/>
            </a:pPr>
            <a:r>
              <a:rPr lang="en-US" sz="3000" i="1" dirty="0" err="1" smtClean="0"/>
              <a:t>GaPSC</a:t>
            </a:r>
            <a:r>
              <a:rPr lang="en-US" sz="3000" i="1" dirty="0" smtClean="0"/>
              <a:t> Guidance Document</a:t>
            </a:r>
          </a:p>
          <a:p>
            <a:pPr>
              <a:buNone/>
            </a:pPr>
            <a:endParaRPr lang="en-US" dirty="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096962"/>
          </a:xfrm>
        </p:spPr>
        <p:txBody>
          <a:bodyPr>
            <a:normAutofit/>
          </a:bodyPr>
          <a:lstStyle/>
          <a:p>
            <a:pPr algn="l" eaLnBrk="1" hangingPunct="1"/>
            <a:r>
              <a:rPr lang="en-US" sz="3200" b="1" dirty="0" smtClean="0">
                <a:solidFill>
                  <a:srgbClr val="A71C1F"/>
                </a:solidFill>
              </a:rPr>
              <a:t>Two key points… to take away</a:t>
            </a: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marL="609600" indent="-325438">
              <a:spcAft>
                <a:spcPts val="600"/>
              </a:spcAft>
              <a:buNone/>
            </a:pPr>
            <a:r>
              <a:rPr lang="en-US" sz="2800" dirty="0" smtClean="0"/>
              <a:t>“The </a:t>
            </a:r>
            <a:r>
              <a:rPr lang="en-US" sz="2800" dirty="0" err="1" smtClean="0"/>
              <a:t>GaPSC</a:t>
            </a:r>
            <a:r>
              <a:rPr lang="en-US" sz="2800" dirty="0" smtClean="0"/>
              <a:t> assigns one level (1, 2, 4, 5, 6, or 7) to all certificates held by an educator.”</a:t>
            </a:r>
          </a:p>
          <a:p>
            <a:pPr marL="609600" indent="-325438">
              <a:spcAft>
                <a:spcPts val="600"/>
              </a:spcAft>
              <a:buNone/>
            </a:pPr>
            <a:endParaRPr lang="en-US" sz="2800" dirty="0" smtClean="0"/>
          </a:p>
          <a:p>
            <a:pPr marL="609600" indent="-325438">
              <a:spcAft>
                <a:spcPts val="600"/>
              </a:spcAft>
              <a:buNone/>
            </a:pPr>
            <a:r>
              <a:rPr lang="en-US" sz="2800" dirty="0" smtClean="0"/>
              <a:t>“LEAs will now have to individually review data on employees holding leadership degrees to determine salary schedule placement rather than automatically using the certificate level.”</a:t>
            </a:r>
          </a:p>
          <a:p>
            <a:pPr marL="609600" indent="-325438">
              <a:spcAft>
                <a:spcPts val="600"/>
              </a:spcAft>
              <a:buNone/>
            </a:pPr>
            <a:endParaRPr lang="en-US" sz="2800" dirty="0" smtClean="0"/>
          </a:p>
          <a:p>
            <a:pPr marL="609600" indent="-325438">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096962"/>
          </a:xfrm>
        </p:spPr>
        <p:txBody>
          <a:bodyPr>
            <a:normAutofit/>
          </a:bodyPr>
          <a:lstStyle/>
          <a:p>
            <a:pPr algn="l"/>
            <a:r>
              <a:rPr lang="en-US" sz="3200" b="1" dirty="0" smtClean="0">
                <a:solidFill>
                  <a:srgbClr val="A71C1F"/>
                </a:solidFill>
              </a:rPr>
              <a:t>Two Key Points… So?</a:t>
            </a:r>
          </a:p>
        </p:txBody>
      </p:sp>
      <p:sp>
        <p:nvSpPr>
          <p:cNvPr id="9" name="Content Placeholder 8"/>
          <p:cNvSpPr>
            <a:spLocks noGrp="1"/>
          </p:cNvSpPr>
          <p:nvPr>
            <p:ph idx="1"/>
          </p:nvPr>
        </p:nvSpPr>
        <p:spPr/>
        <p:txBody>
          <a:bodyPr>
            <a:normAutofit/>
          </a:bodyPr>
          <a:lstStyle/>
          <a:p>
            <a:pPr algn="ctr">
              <a:buNone/>
            </a:pPr>
            <a:endParaRPr lang="en-US" sz="8800" dirty="0" smtClean="0"/>
          </a:p>
          <a:p>
            <a:pPr algn="ctr">
              <a:buNone/>
            </a:pPr>
            <a:r>
              <a:rPr lang="en-US" sz="8800" dirty="0" smtClean="0"/>
              <a:t>Oh, wow.</a:t>
            </a:r>
          </a:p>
          <a:p>
            <a:pPr>
              <a:buNone/>
            </a:pPr>
            <a:endParaRPr lang="en-US" dirty="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pic>
        <p:nvPicPr>
          <p:cNvPr id="10" name="Picture 9" descr="Bill_the_Cat.jpg"/>
          <p:cNvPicPr>
            <a:picLocks noChangeAspect="1"/>
          </p:cNvPicPr>
          <p:nvPr/>
        </p:nvPicPr>
        <p:blipFill>
          <a:blip r:embed="rId5" cstate="print"/>
          <a:stretch>
            <a:fillRect/>
          </a:stretch>
        </p:blipFill>
        <p:spPr>
          <a:xfrm>
            <a:off x="1430143" y="1676400"/>
            <a:ext cx="7376533" cy="411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blinds(horizontal)">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096962"/>
          </a:xfrm>
        </p:spPr>
        <p:txBody>
          <a:bodyPr>
            <a:normAutofit/>
          </a:bodyPr>
          <a:lstStyle/>
          <a:p>
            <a:pPr algn="l" eaLnBrk="1" hangingPunct="1"/>
            <a:r>
              <a:rPr lang="en-US" sz="3200" b="1" dirty="0" smtClean="0">
                <a:solidFill>
                  <a:srgbClr val="A71C1F"/>
                </a:solidFill>
              </a:rPr>
              <a:t>Two key points… </a:t>
            </a:r>
            <a:r>
              <a:rPr lang="en-US" sz="3200" b="1" i="1" dirty="0" smtClean="0">
                <a:solidFill>
                  <a:srgbClr val="A71C1F"/>
                </a:solidFill>
              </a:rPr>
              <a:t>to reconsider</a:t>
            </a: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marL="609600" indent="-325438">
              <a:spcAft>
                <a:spcPts val="600"/>
              </a:spcAft>
              <a:buNone/>
            </a:pPr>
            <a:r>
              <a:rPr lang="en-US" sz="2800" dirty="0" smtClean="0"/>
              <a:t>“The </a:t>
            </a:r>
            <a:r>
              <a:rPr lang="en-US" sz="2800" dirty="0" err="1" smtClean="0"/>
              <a:t>GaPSC</a:t>
            </a:r>
            <a:r>
              <a:rPr lang="en-US" sz="2800" dirty="0" smtClean="0"/>
              <a:t> assigns one level (1, 2, 4, 5, 6, or 7) to all certificates held by an educator.”</a:t>
            </a:r>
          </a:p>
          <a:p>
            <a:pPr marL="609600" indent="-325438">
              <a:spcAft>
                <a:spcPts val="600"/>
              </a:spcAft>
              <a:buNone/>
            </a:pPr>
            <a:endParaRPr lang="en-US" sz="2800" dirty="0" smtClean="0"/>
          </a:p>
          <a:p>
            <a:pPr marL="609600" indent="-325438">
              <a:spcAft>
                <a:spcPts val="600"/>
              </a:spcAft>
              <a:buNone/>
            </a:pPr>
            <a:r>
              <a:rPr lang="en-US" sz="2800" dirty="0" smtClean="0"/>
              <a:t>“LEAs will now have to individually review data on employees holding leadership degrees to determine salary schedule placement rather than automatically using the certificate level.”</a:t>
            </a:r>
          </a:p>
          <a:p>
            <a:pPr marL="609600" indent="-325438">
              <a:spcAft>
                <a:spcPts val="600"/>
              </a:spcAft>
              <a:buNone/>
            </a:pPr>
            <a:endParaRPr lang="en-US" sz="2800" dirty="0" smtClean="0"/>
          </a:p>
          <a:p>
            <a:pPr marL="609600" indent="-325438">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3" cstate="print"/>
          <a:srcRect/>
          <a:stretch>
            <a:fillRect/>
          </a:stretch>
        </p:blipFill>
        <p:spPr bwMode="auto">
          <a:xfrm>
            <a:off x="1219200" y="1447800"/>
            <a:ext cx="6629400" cy="5034987"/>
          </a:xfrm>
          <a:prstGeom prst="rect">
            <a:avLst/>
          </a:prstGeom>
          <a:noFill/>
          <a:ln w="9525">
            <a:noFill/>
            <a:miter lim="800000"/>
            <a:headEnd/>
            <a:tailEnd/>
          </a:ln>
        </p:spPr>
      </p:pic>
      <p:sp>
        <p:nvSpPr>
          <p:cNvPr id="3074" name="Rectangle 2"/>
          <p:cNvSpPr>
            <a:spLocks noGrp="1" noChangeArrowheads="1"/>
          </p:cNvSpPr>
          <p:nvPr>
            <p:ph type="title"/>
          </p:nvPr>
        </p:nvSpPr>
        <p:spPr/>
        <p:txBody>
          <a:bodyPr>
            <a:normAutofit/>
          </a:bodyPr>
          <a:lstStyle/>
          <a:p>
            <a:pPr algn="l"/>
            <a:r>
              <a:rPr lang="en-US" sz="3200" b="1" dirty="0" smtClean="0">
                <a:solidFill>
                  <a:srgbClr val="A71C1F"/>
                </a:solidFill>
              </a:rPr>
              <a:t>Leadership Certification and Degrees</a:t>
            </a:r>
          </a:p>
        </p:txBody>
      </p:sp>
      <p:sp>
        <p:nvSpPr>
          <p:cNvPr id="9" name="Content Placeholder 8"/>
          <p:cNvSpPr>
            <a:spLocks noGrp="1"/>
          </p:cNvSpPr>
          <p:nvPr>
            <p:ph idx="4294967295"/>
          </p:nvPr>
        </p:nvSpPr>
        <p:spPr>
          <a:xfrm>
            <a:off x="0" y="1600200"/>
            <a:ext cx="8229600" cy="4525963"/>
          </a:xfrm>
        </p:spPr>
        <p:txBody>
          <a:bodyPr>
            <a:normAutofit/>
          </a:bodyPr>
          <a:lstStyle/>
          <a:p>
            <a:pPr algn="ctr">
              <a:buNone/>
            </a:pPr>
            <a:endParaRPr lang="en-US" sz="8800" dirty="0" smtClean="0"/>
          </a:p>
          <a:p>
            <a:pPr>
              <a:buNone/>
            </a:pPr>
            <a:endParaRPr lang="en-US" dirty="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4"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5"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pic>
        <p:nvPicPr>
          <p:cNvPr id="7172" name="Picture 4"/>
          <p:cNvPicPr>
            <a:picLocks noChangeAspect="1" noChangeArrowheads="1"/>
          </p:cNvPicPr>
          <p:nvPr/>
        </p:nvPicPr>
        <p:blipFill>
          <a:blip r:embed="rId6" cstate="print"/>
          <a:srcRect/>
          <a:stretch>
            <a:fillRect/>
          </a:stretch>
        </p:blipFill>
        <p:spPr bwMode="auto">
          <a:xfrm>
            <a:off x="1219200" y="1447799"/>
            <a:ext cx="6705600" cy="509286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7171"/>
                                        </p:tgtEl>
                                      </p:cBhvr>
                                    </p:animEffect>
                                    <p:set>
                                      <p:cBhvr>
                                        <p:cTn id="7" dur="1" fill="hold">
                                          <p:stCondLst>
                                            <p:cond delay="499"/>
                                          </p:stCondLst>
                                        </p:cTn>
                                        <p:tgtEl>
                                          <p:spTgt spid="717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blinds(horizontal)">
                                      <p:cBhvr>
                                        <p:cTn id="12" dur="500"/>
                                        <p:tgtEl>
                                          <p:spTgt spid="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096962"/>
          </a:xfrm>
        </p:spPr>
        <p:txBody>
          <a:bodyPr>
            <a:normAutofit/>
          </a:bodyPr>
          <a:lstStyle/>
          <a:p>
            <a:pPr algn="l" eaLnBrk="1" hangingPunct="1"/>
            <a:r>
              <a:rPr lang="en-US" sz="3200" b="1" dirty="0" smtClean="0">
                <a:solidFill>
                  <a:srgbClr val="A71C1F"/>
                </a:solidFill>
              </a:rPr>
              <a:t>Leadership “Level”</a:t>
            </a:r>
          </a:p>
        </p:txBody>
      </p:sp>
      <p:sp>
        <p:nvSpPr>
          <p:cNvPr id="3075" name="Rectangle 3"/>
          <p:cNvSpPr>
            <a:spLocks noGrp="1" noChangeArrowheads="1"/>
          </p:cNvSpPr>
          <p:nvPr>
            <p:ph type="body" sz="half" idx="1"/>
          </p:nvPr>
        </p:nvSpPr>
        <p:spPr>
          <a:xfrm>
            <a:off x="228600" y="1752600"/>
            <a:ext cx="7696200" cy="4373563"/>
          </a:xfrm>
        </p:spPr>
        <p:txBody>
          <a:bodyPr>
            <a:normAutofit/>
          </a:bodyPr>
          <a:lstStyle/>
          <a:p>
            <a:pPr marL="609600" indent="-325438">
              <a:spcAft>
                <a:spcPts val="600"/>
              </a:spcAft>
              <a:buNone/>
            </a:pPr>
            <a:r>
              <a:rPr lang="en-US" sz="3600" dirty="0" smtClean="0"/>
              <a:t>Only have a Leadership Level </a:t>
            </a:r>
            <a:r>
              <a:rPr lang="en-US" sz="3600" u="sng" dirty="0" smtClean="0"/>
              <a:t>if there is a reason to have it</a:t>
            </a:r>
            <a:r>
              <a:rPr lang="en-US" sz="3600" dirty="0" smtClean="0"/>
              <a:t>…</a:t>
            </a:r>
          </a:p>
          <a:p>
            <a:pPr marL="1009650" lvl="1" indent="-325438">
              <a:spcAft>
                <a:spcPts val="600"/>
              </a:spcAft>
            </a:pPr>
            <a:r>
              <a:rPr lang="en-US" sz="3600" dirty="0" smtClean="0"/>
              <a:t>Leadership degree </a:t>
            </a:r>
          </a:p>
          <a:p>
            <a:pPr marL="1009650" lvl="1" indent="-325438">
              <a:spcAft>
                <a:spcPts val="600"/>
              </a:spcAft>
            </a:pPr>
            <a:r>
              <a:rPr lang="en-US" sz="3600" dirty="0" smtClean="0"/>
              <a:t>Not “grandfathered” (you don’t worry about “grandfathering…”)</a:t>
            </a:r>
          </a:p>
          <a:p>
            <a:pPr marL="1009650" lvl="1" indent="-325438">
              <a:spcAft>
                <a:spcPts val="600"/>
              </a:spcAft>
            </a:pPr>
            <a:r>
              <a:rPr lang="en-US" sz="3600" dirty="0" smtClean="0"/>
              <a:t>Leadership field(s) on certificate</a:t>
            </a:r>
          </a:p>
          <a:p>
            <a:pPr marL="609600" indent="-325438">
              <a:spcAft>
                <a:spcPts val="600"/>
              </a:spcAft>
              <a:buNone/>
            </a:pPr>
            <a:endParaRPr lang="en-US" sz="2800" dirty="0" smtClean="0"/>
          </a:p>
          <a:p>
            <a:pPr marL="609600" indent="-325438">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algn="l"/>
            <a:r>
              <a:rPr lang="en-US" sz="3200" b="1" dirty="0" smtClean="0">
                <a:solidFill>
                  <a:srgbClr val="A71C1F"/>
                </a:solidFill>
              </a:rPr>
              <a:t>Leadership “Level”</a:t>
            </a:r>
          </a:p>
        </p:txBody>
      </p:sp>
      <p:sp>
        <p:nvSpPr>
          <p:cNvPr id="9" name="Content Placeholder 8"/>
          <p:cNvSpPr>
            <a:spLocks noGrp="1"/>
          </p:cNvSpPr>
          <p:nvPr>
            <p:ph idx="1"/>
          </p:nvPr>
        </p:nvSpPr>
        <p:spPr/>
        <p:txBody>
          <a:bodyPr>
            <a:normAutofit/>
          </a:bodyPr>
          <a:lstStyle/>
          <a:p>
            <a:pPr>
              <a:buNone/>
            </a:pPr>
            <a:r>
              <a:rPr lang="en-US" dirty="0" smtClean="0"/>
              <a:t>When will we implement the Leadership Level?</a:t>
            </a:r>
          </a:p>
          <a:p>
            <a:pPr>
              <a:buNone/>
            </a:pPr>
            <a:endParaRPr lang="en-US" dirty="0" smtClean="0"/>
          </a:p>
          <a:p>
            <a:r>
              <a:rPr lang="en-US" dirty="0" smtClean="0"/>
              <a:t>The IT work is </a:t>
            </a:r>
            <a:r>
              <a:rPr lang="en-US" u="sng" dirty="0" smtClean="0"/>
              <a:t>done</a:t>
            </a:r>
          </a:p>
          <a:p>
            <a:r>
              <a:rPr lang="en-US" dirty="0" smtClean="0"/>
              <a:t>Certification can start using new software next week, Monday, December 5</a:t>
            </a:r>
            <a:r>
              <a:rPr lang="en-US" baseline="30000" dirty="0" smtClean="0"/>
              <a:t>th</a:t>
            </a:r>
            <a:endParaRPr lang="en-US" dirty="0" smtClean="0"/>
          </a:p>
          <a:p>
            <a:r>
              <a:rPr lang="en-US" dirty="0" smtClean="0"/>
              <a:t>You will probably see some Leadership Levels before Christmas weekend</a:t>
            </a:r>
          </a:p>
          <a:p>
            <a:endParaRPr lang="en-US" dirty="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401762"/>
          </a:xfrm>
        </p:spPr>
        <p:txBody>
          <a:bodyPr>
            <a:normAutofit/>
          </a:bodyPr>
          <a:lstStyle/>
          <a:p>
            <a:pPr algn="l" eaLnBrk="1" hangingPunct="1"/>
            <a:r>
              <a:rPr lang="en-US" sz="3200" b="1" dirty="0" smtClean="0">
                <a:solidFill>
                  <a:srgbClr val="A71C1F"/>
                </a:solidFill>
              </a:rPr>
              <a:t>www.gapsc.com</a:t>
            </a: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marL="609600" indent="-325438">
              <a:spcAft>
                <a:spcPts val="600"/>
              </a:spcAft>
              <a:buNone/>
            </a:pPr>
            <a:r>
              <a:rPr lang="en-US" sz="2800" dirty="0" smtClean="0"/>
              <a:t>Redesign efforts for </a:t>
            </a:r>
            <a:r>
              <a:rPr lang="en-US" sz="2800" dirty="0" smtClean="0">
                <a:solidFill>
                  <a:srgbClr val="A71C1F"/>
                </a:solidFill>
                <a:hlinkClick r:id="rId3"/>
              </a:rPr>
              <a:t>www.gapsc.com</a:t>
            </a:r>
            <a:r>
              <a:rPr lang="en-US" sz="2800" dirty="0" smtClean="0">
                <a:solidFill>
                  <a:srgbClr val="A71C1F"/>
                </a:solidFill>
              </a:rPr>
              <a:t> have been revived.</a:t>
            </a:r>
          </a:p>
          <a:p>
            <a:pPr marL="609600" indent="-325438">
              <a:spcAft>
                <a:spcPts val="600"/>
              </a:spcAft>
              <a:buNone/>
            </a:pPr>
            <a:endParaRPr lang="en-US" sz="2800" dirty="0" smtClean="0">
              <a:solidFill>
                <a:srgbClr val="A71C1F"/>
              </a:solidFill>
            </a:endParaRP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4"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5"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pic>
        <p:nvPicPr>
          <p:cNvPr id="27650" name="Picture 2"/>
          <p:cNvPicPr>
            <a:picLocks noChangeAspect="1" noChangeArrowheads="1"/>
          </p:cNvPicPr>
          <p:nvPr/>
        </p:nvPicPr>
        <p:blipFill>
          <a:blip r:embed="rId6" cstate="print"/>
          <a:srcRect/>
          <a:stretch>
            <a:fillRect/>
          </a:stretch>
        </p:blipFill>
        <p:spPr bwMode="auto">
          <a:xfrm>
            <a:off x="1828800" y="2362200"/>
            <a:ext cx="5672138" cy="38857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401762"/>
          </a:xfrm>
        </p:spPr>
        <p:txBody>
          <a:bodyPr>
            <a:normAutofit/>
          </a:bodyPr>
          <a:lstStyle/>
          <a:p>
            <a:pPr algn="l" eaLnBrk="1" hangingPunct="1"/>
            <a:r>
              <a:rPr lang="en-US" sz="3200" b="1" dirty="0" smtClean="0">
                <a:solidFill>
                  <a:srgbClr val="A71C1F"/>
                </a:solidFill>
              </a:rPr>
              <a:t>HiQ</a:t>
            </a:r>
          </a:p>
        </p:txBody>
      </p:sp>
      <p:sp>
        <p:nvSpPr>
          <p:cNvPr id="3075" name="Rectangle 3"/>
          <p:cNvSpPr>
            <a:spLocks noGrp="1" noChangeArrowheads="1"/>
          </p:cNvSpPr>
          <p:nvPr>
            <p:ph type="body" sz="half" idx="1"/>
          </p:nvPr>
        </p:nvSpPr>
        <p:spPr>
          <a:xfrm>
            <a:off x="228600" y="1752600"/>
            <a:ext cx="8610600" cy="4373563"/>
          </a:xfrm>
        </p:spPr>
        <p:txBody>
          <a:bodyPr>
            <a:normAutofit/>
          </a:bodyPr>
          <a:lstStyle/>
          <a:p>
            <a:pPr marL="609600" indent="-325438">
              <a:spcAft>
                <a:spcPts val="600"/>
              </a:spcAft>
            </a:pPr>
            <a:r>
              <a:rPr lang="en-US" sz="2800" dirty="0" smtClean="0"/>
              <a:t>“Tune-up” the screens you use</a:t>
            </a:r>
          </a:p>
          <a:p>
            <a:pPr marL="609600" indent="-325438">
              <a:spcAft>
                <a:spcPts val="600"/>
              </a:spcAft>
            </a:pPr>
            <a:r>
              <a:rPr lang="en-US" sz="2800" dirty="0" smtClean="0"/>
              <a:t>New reports</a:t>
            </a:r>
          </a:p>
          <a:p>
            <a:pPr marL="609600" indent="-325438">
              <a:spcAft>
                <a:spcPts val="600"/>
              </a:spcAft>
            </a:pPr>
            <a:r>
              <a:rPr lang="en-US" sz="2800" dirty="0" smtClean="0"/>
              <a:t>Online sign-off process (similar to AYP sign-off)</a:t>
            </a:r>
          </a:p>
          <a:p>
            <a:pPr marL="609600" indent="-325438">
              <a:spcAft>
                <a:spcPts val="600"/>
              </a:spcAft>
            </a:pPr>
            <a:r>
              <a:rPr lang="en-US" sz="2800" dirty="0" smtClean="0"/>
              <a:t>Go-live January 16th</a:t>
            </a:r>
          </a:p>
          <a:p>
            <a:pPr marL="609600" indent="-325438">
              <a:spcAft>
                <a:spcPts val="600"/>
              </a:spcAft>
            </a:pPr>
            <a:r>
              <a:rPr lang="en-US" sz="2800" dirty="0" smtClean="0"/>
              <a:t>Major re-write of HiQ will wait until ESEA is reauthorized…</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
        <p:nvSpPr>
          <p:cNvPr id="8" name="Rectangle 7"/>
          <p:cNvSpPr/>
          <p:nvPr/>
        </p:nvSpPr>
        <p:spPr>
          <a:xfrm>
            <a:off x="1676400" y="3352800"/>
            <a:ext cx="184731" cy="369332"/>
          </a:xfrm>
          <a:prstGeom prst="rect">
            <a:avLst/>
          </a:prstGeom>
        </p:spPr>
        <p:txBody>
          <a:bodyPr wrap="none">
            <a:spAutoFit/>
          </a:bodyPr>
          <a:lstStyle/>
          <a:p>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04800" y="274638"/>
            <a:ext cx="8382000" cy="1401762"/>
          </a:xfrm>
        </p:spPr>
        <p:txBody>
          <a:bodyPr>
            <a:normAutofit/>
          </a:bodyPr>
          <a:lstStyle/>
          <a:p>
            <a:pPr algn="l" eaLnBrk="1" hangingPunct="1"/>
            <a:r>
              <a:rPr lang="en-US" sz="3200" b="1" dirty="0" smtClean="0">
                <a:solidFill>
                  <a:srgbClr val="A71C1F"/>
                </a:solidFill>
              </a:rPr>
              <a:t>RT3 and </a:t>
            </a:r>
            <a:r>
              <a:rPr lang="en-US" sz="3200" b="1" dirty="0" err="1" smtClean="0">
                <a:solidFill>
                  <a:srgbClr val="A71C1F"/>
                </a:solidFill>
              </a:rPr>
              <a:t>GaPSC</a:t>
            </a:r>
            <a:r>
              <a:rPr lang="en-US" sz="3200" b="1" dirty="0" smtClean="0">
                <a:solidFill>
                  <a:srgbClr val="A71C1F"/>
                </a:solidFill>
              </a:rPr>
              <a:t> Technology</a:t>
            </a:r>
          </a:p>
        </p:txBody>
      </p:sp>
      <p:sp>
        <p:nvSpPr>
          <p:cNvPr id="3075" name="Rectangle 3"/>
          <p:cNvSpPr>
            <a:spLocks noGrp="1" noChangeArrowheads="1"/>
          </p:cNvSpPr>
          <p:nvPr>
            <p:ph type="body" sz="half" idx="1"/>
          </p:nvPr>
        </p:nvSpPr>
        <p:spPr>
          <a:xfrm>
            <a:off x="228600" y="1752600"/>
            <a:ext cx="8610600" cy="4373563"/>
          </a:xfrm>
        </p:spPr>
        <p:txBody>
          <a:bodyPr>
            <a:normAutofit lnSpcReduction="10000"/>
          </a:bodyPr>
          <a:lstStyle/>
          <a:p>
            <a:pPr marL="609600" indent="-325438" eaLnBrk="1" hangingPunct="1">
              <a:spcAft>
                <a:spcPts val="600"/>
              </a:spcAft>
              <a:buNone/>
            </a:pPr>
            <a:r>
              <a:rPr lang="en-US" sz="3600" dirty="0" smtClean="0"/>
              <a:t>Opportunity to significantly update…</a:t>
            </a:r>
          </a:p>
          <a:p>
            <a:pPr marL="609600" indent="-325438">
              <a:spcAft>
                <a:spcPts val="600"/>
              </a:spcAft>
            </a:pPr>
            <a:r>
              <a:rPr lang="en-US" sz="3600" dirty="0" smtClean="0"/>
              <a:t>Educator Credentialing System</a:t>
            </a:r>
          </a:p>
          <a:p>
            <a:pPr marL="609600" indent="-325438">
              <a:spcAft>
                <a:spcPts val="600"/>
              </a:spcAft>
            </a:pPr>
            <a:r>
              <a:rPr lang="en-US" sz="3600" dirty="0" smtClean="0"/>
              <a:t>Educator Preparation Information System</a:t>
            </a:r>
          </a:p>
          <a:p>
            <a:pPr marL="609600" indent="-325438" eaLnBrk="1" hangingPunct="1">
              <a:spcAft>
                <a:spcPts val="600"/>
              </a:spcAft>
              <a:buNone/>
            </a:pPr>
            <a:endParaRPr lang="en-US" sz="3600" dirty="0" smtClean="0"/>
          </a:p>
          <a:p>
            <a:pPr marL="609600" indent="-325438" eaLnBrk="1" hangingPunct="1">
              <a:spcAft>
                <a:spcPts val="600"/>
              </a:spcAft>
              <a:buNone/>
            </a:pPr>
            <a:r>
              <a:rPr lang="en-US" sz="3600" dirty="0" err="1" smtClean="0"/>
              <a:t>GaPSC</a:t>
            </a:r>
            <a:r>
              <a:rPr lang="en-US" sz="3600" dirty="0" smtClean="0"/>
              <a:t> is also a participant in the Statewide Longitudinal Data System funded through RT3</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04800" y="274638"/>
            <a:ext cx="8382000" cy="1401762"/>
          </a:xfrm>
        </p:spPr>
        <p:txBody>
          <a:bodyPr>
            <a:normAutofit/>
          </a:bodyPr>
          <a:lstStyle/>
          <a:p>
            <a:pPr algn="l" eaLnBrk="1" hangingPunct="1"/>
            <a:r>
              <a:rPr lang="en-US" sz="3200" b="1" dirty="0" smtClean="0">
                <a:solidFill>
                  <a:srgbClr val="A71C1F"/>
                </a:solidFill>
              </a:rPr>
              <a:t>RT3 Impact on Data Systems &amp; Scope of Work</a:t>
            </a:r>
          </a:p>
        </p:txBody>
      </p:sp>
      <p:sp>
        <p:nvSpPr>
          <p:cNvPr id="3075" name="Rectangle 3"/>
          <p:cNvSpPr>
            <a:spLocks noGrp="1" noChangeArrowheads="1"/>
          </p:cNvSpPr>
          <p:nvPr>
            <p:ph type="body" sz="half" idx="1"/>
          </p:nvPr>
        </p:nvSpPr>
        <p:spPr>
          <a:xfrm>
            <a:off x="228600" y="1752600"/>
            <a:ext cx="8610600" cy="4373563"/>
          </a:xfrm>
        </p:spPr>
        <p:txBody>
          <a:bodyPr>
            <a:normAutofit lnSpcReduction="10000"/>
          </a:bodyPr>
          <a:lstStyle/>
          <a:p>
            <a:pPr marL="609600" indent="-325438" eaLnBrk="1" hangingPunct="1">
              <a:spcAft>
                <a:spcPts val="600"/>
              </a:spcAft>
              <a:buNone/>
            </a:pPr>
            <a:r>
              <a:rPr lang="en-US" sz="2800" dirty="0" smtClean="0"/>
              <a:t>Educator Credentialing</a:t>
            </a:r>
          </a:p>
          <a:p>
            <a:pPr marL="609600" indent="-325438">
              <a:spcAft>
                <a:spcPts val="600"/>
              </a:spcAft>
            </a:pPr>
            <a:r>
              <a:rPr lang="en-US" sz="2400" dirty="0" smtClean="0"/>
              <a:t>More data will be collected</a:t>
            </a:r>
          </a:p>
          <a:p>
            <a:pPr marL="609600" indent="-325438">
              <a:spcAft>
                <a:spcPts val="600"/>
              </a:spcAft>
            </a:pPr>
            <a:r>
              <a:rPr lang="en-US" sz="2400" dirty="0" smtClean="0"/>
              <a:t>More complex rules = more processing time?</a:t>
            </a:r>
          </a:p>
          <a:p>
            <a:pPr marL="609600" indent="-325438">
              <a:spcAft>
                <a:spcPts val="600"/>
              </a:spcAft>
            </a:pPr>
            <a:r>
              <a:rPr lang="en-US" sz="2400" dirty="0" smtClean="0"/>
              <a:t>Better automation to maintain good turn-around time</a:t>
            </a:r>
          </a:p>
          <a:p>
            <a:pPr marL="609600" indent="-325438" eaLnBrk="1" hangingPunct="1">
              <a:spcAft>
                <a:spcPts val="600"/>
              </a:spcAft>
              <a:buNone/>
            </a:pPr>
            <a:r>
              <a:rPr lang="en-US" sz="2800" dirty="0" smtClean="0"/>
              <a:t>Educator Preparation Information System</a:t>
            </a:r>
          </a:p>
          <a:p>
            <a:pPr marL="609600" indent="-325438">
              <a:spcAft>
                <a:spcPts val="600"/>
              </a:spcAft>
            </a:pPr>
            <a:r>
              <a:rPr lang="en-US" sz="2400" dirty="0" smtClean="0"/>
              <a:t>More data will be collected</a:t>
            </a:r>
          </a:p>
          <a:p>
            <a:pPr marL="609600" indent="-325438">
              <a:spcAft>
                <a:spcPts val="600"/>
              </a:spcAft>
            </a:pPr>
            <a:r>
              <a:rPr lang="en-US" sz="2400" dirty="0" smtClean="0"/>
              <a:t>Better data collection method to minimize burden on program providers</a:t>
            </a:r>
          </a:p>
          <a:p>
            <a:pPr marL="609600" indent="-325438">
              <a:spcAft>
                <a:spcPts val="600"/>
              </a:spcAft>
            </a:pPr>
            <a:r>
              <a:rPr lang="en-US" sz="2400" dirty="0" smtClean="0"/>
              <a:t>Better reporting will be needed to utilize the data effectively</a:t>
            </a:r>
          </a:p>
          <a:p>
            <a:pPr marL="609600" indent="-325438" eaLnBrk="1" hangingPunct="1">
              <a:spcAft>
                <a:spcPts val="600"/>
              </a:spcAft>
              <a:buNone/>
            </a:pPr>
            <a:endParaRPr lang="en-US" sz="2800" dirty="0" smtClean="0"/>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1401762"/>
          </a:xfrm>
        </p:spPr>
        <p:txBody>
          <a:bodyPr>
            <a:normAutofit/>
          </a:bodyPr>
          <a:lstStyle/>
          <a:p>
            <a:pPr algn="l" eaLnBrk="1" hangingPunct="1"/>
            <a:r>
              <a:rPr lang="en-US" sz="3200" b="1" dirty="0" smtClean="0">
                <a:solidFill>
                  <a:srgbClr val="A71C1F"/>
                </a:solidFill>
              </a:rPr>
              <a:t>Some Effects of Two RT3 Initiatives</a:t>
            </a:r>
          </a:p>
        </p:txBody>
      </p:sp>
      <p:sp>
        <p:nvSpPr>
          <p:cNvPr id="3075" name="Rectangle 3"/>
          <p:cNvSpPr>
            <a:spLocks noGrp="1" noChangeArrowheads="1"/>
          </p:cNvSpPr>
          <p:nvPr>
            <p:ph type="body" sz="half" idx="1"/>
          </p:nvPr>
        </p:nvSpPr>
        <p:spPr>
          <a:xfrm>
            <a:off x="228600" y="1752600"/>
            <a:ext cx="8610600" cy="4373563"/>
          </a:xfrm>
        </p:spPr>
        <p:txBody>
          <a:bodyPr>
            <a:normAutofit fontScale="92500" lnSpcReduction="10000"/>
          </a:bodyPr>
          <a:lstStyle/>
          <a:p>
            <a:pPr marL="609600" indent="-325438" eaLnBrk="1" hangingPunct="1">
              <a:spcAft>
                <a:spcPts val="600"/>
              </a:spcAft>
              <a:buNone/>
            </a:pPr>
            <a:r>
              <a:rPr lang="en-US" sz="2800" b="1" dirty="0" smtClean="0"/>
              <a:t>Teacher/Leader Evaluations (Effectiveness Measures)</a:t>
            </a:r>
          </a:p>
          <a:p>
            <a:pPr marL="1409700" lvl="2" indent="-325438">
              <a:spcAft>
                <a:spcPts val="600"/>
              </a:spcAft>
            </a:pPr>
            <a:r>
              <a:rPr lang="en-US" sz="2800" dirty="0" smtClean="0"/>
              <a:t>Will Change Rules for Educator’s Certificate Renewal Process</a:t>
            </a:r>
          </a:p>
          <a:p>
            <a:pPr marL="1409700" lvl="2" indent="-325438">
              <a:spcAft>
                <a:spcPts val="600"/>
              </a:spcAft>
            </a:pPr>
            <a:r>
              <a:rPr lang="en-US" sz="2800" dirty="0" smtClean="0"/>
              <a:t>Will Produce More Data for Educator Preparation Program Approval </a:t>
            </a:r>
          </a:p>
          <a:p>
            <a:pPr marL="609600" indent="-325438">
              <a:spcAft>
                <a:spcPts val="600"/>
              </a:spcAft>
              <a:buNone/>
            </a:pPr>
            <a:endParaRPr lang="en-US" sz="2800" b="1" dirty="0" smtClean="0"/>
          </a:p>
          <a:p>
            <a:pPr marL="609600" indent="-325438">
              <a:spcAft>
                <a:spcPts val="600"/>
              </a:spcAft>
              <a:buNone/>
            </a:pPr>
            <a:r>
              <a:rPr lang="en-US" sz="2800" b="1" dirty="0" smtClean="0"/>
              <a:t>Induction &amp; Career Ladder </a:t>
            </a:r>
            <a:r>
              <a:rPr lang="en-US" sz="2800" dirty="0" smtClean="0"/>
              <a:t>		</a:t>
            </a:r>
          </a:p>
          <a:p>
            <a:pPr marL="1409700" lvl="2" indent="-325438">
              <a:spcAft>
                <a:spcPts val="600"/>
              </a:spcAft>
            </a:pPr>
            <a:r>
              <a:rPr lang="en-US" sz="2800" dirty="0" smtClean="0"/>
              <a:t>Implications for Educator Certification?</a:t>
            </a:r>
          </a:p>
          <a:p>
            <a:pPr marL="1409700" lvl="2" indent="-325438">
              <a:spcAft>
                <a:spcPts val="600"/>
              </a:spcAft>
            </a:pPr>
            <a:r>
              <a:rPr lang="en-US" sz="2800" dirty="0" smtClean="0"/>
              <a:t>Induction Certificate to Career Teacher Certificate?</a:t>
            </a:r>
          </a:p>
        </p:txBody>
      </p:sp>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3"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4" cstate="print"/>
          <a:srcRect/>
          <a:stretch>
            <a:fillRect/>
          </a:stretch>
        </p:blipFill>
        <p:spPr bwMode="auto">
          <a:xfrm>
            <a:off x="8135938" y="171450"/>
            <a:ext cx="912812" cy="149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
        <p:nvSpPr>
          <p:cNvPr id="8" name="Text Placeholder 7"/>
          <p:cNvSpPr>
            <a:spLocks noGrp="1"/>
          </p:cNvSpPr>
          <p:nvPr>
            <p:ph type="body" sz="half" idx="1"/>
          </p:nvPr>
        </p:nvSpPr>
        <p:spPr>
          <a:xfrm>
            <a:off x="1752600" y="1371600"/>
            <a:ext cx="6629400" cy="5029200"/>
          </a:xfrm>
        </p:spPr>
        <p:txBody>
          <a:bodyPr>
            <a:normAutofit lnSpcReduction="10000"/>
          </a:bodyPr>
          <a:lstStyle/>
          <a:p>
            <a:pPr>
              <a:buNone/>
            </a:pPr>
            <a:endParaRPr lang="en-US" dirty="0" smtClean="0"/>
          </a:p>
          <a:p>
            <a:pPr>
              <a:buNone/>
            </a:pPr>
            <a:r>
              <a:rPr lang="en-US" sz="2400" b="1" dirty="0" smtClean="0"/>
              <a:t>Kelli Young</a:t>
            </a:r>
          </a:p>
          <a:p>
            <a:pPr>
              <a:buNone/>
            </a:pPr>
            <a:r>
              <a:rPr lang="en-US" sz="2400" b="1" dirty="0" smtClean="0"/>
              <a:t>Assistant Director, Certification</a:t>
            </a:r>
          </a:p>
          <a:p>
            <a:pPr>
              <a:buNone/>
            </a:pPr>
            <a:r>
              <a:rPr lang="en-US" sz="2400" b="1" dirty="0" smtClean="0"/>
              <a:t>k.young@gapsc.com</a:t>
            </a:r>
          </a:p>
          <a:p>
            <a:pPr>
              <a:buNone/>
            </a:pPr>
            <a:endParaRPr lang="en-US" sz="2400" b="1" dirty="0" smtClean="0"/>
          </a:p>
          <a:p>
            <a:pPr>
              <a:buNone/>
            </a:pPr>
            <a:r>
              <a:rPr lang="en-US" sz="2400" b="1" dirty="0" smtClean="0"/>
              <a:t>Rose Wilson</a:t>
            </a:r>
          </a:p>
          <a:p>
            <a:pPr>
              <a:buNone/>
            </a:pPr>
            <a:r>
              <a:rPr lang="en-US" sz="2400" b="1" dirty="0" smtClean="0"/>
              <a:t>RT3 Project Coordinator</a:t>
            </a:r>
          </a:p>
          <a:p>
            <a:pPr>
              <a:buNone/>
            </a:pPr>
            <a:r>
              <a:rPr lang="en-US" sz="2400" b="1" dirty="0" smtClean="0"/>
              <a:t>rose.wilson@gapsc.com</a:t>
            </a:r>
          </a:p>
          <a:p>
            <a:pPr>
              <a:buNone/>
            </a:pPr>
            <a:endParaRPr lang="en-US" sz="2400" b="1" dirty="0" smtClean="0"/>
          </a:p>
          <a:p>
            <a:pPr>
              <a:buNone/>
            </a:pPr>
            <a:r>
              <a:rPr lang="en-US" sz="2400" b="1" dirty="0" smtClean="0"/>
              <a:t>Chuck McCampbell</a:t>
            </a:r>
          </a:p>
          <a:p>
            <a:pPr>
              <a:buNone/>
            </a:pPr>
            <a:r>
              <a:rPr lang="en-US" sz="2400" b="1" dirty="0" smtClean="0"/>
              <a:t>CIO</a:t>
            </a:r>
          </a:p>
          <a:p>
            <a:pPr>
              <a:buNone/>
            </a:pPr>
            <a:r>
              <a:rPr lang="en-US" sz="2400" b="1" dirty="0" smtClean="0"/>
              <a:t>chuck.mccampbell@gapsc.com</a:t>
            </a:r>
          </a:p>
        </p:txBody>
      </p:sp>
      <p:sp>
        <p:nvSpPr>
          <p:cNvPr id="9" name="Title 8"/>
          <p:cNvSpPr>
            <a:spLocks noGrp="1"/>
          </p:cNvSpPr>
          <p:nvPr>
            <p:ph type="title"/>
          </p:nvPr>
        </p:nvSpPr>
        <p:spPr/>
        <p:txBody>
          <a:bodyPr>
            <a:normAutofit/>
          </a:bodyPr>
          <a:lstStyle/>
          <a:p>
            <a:pPr algn="l"/>
            <a:r>
              <a:rPr lang="en-US" b="1" dirty="0" smtClean="0">
                <a:solidFill>
                  <a:srgbClr val="C00000"/>
                </a:solidFill>
              </a:rPr>
              <a:t>Contact Information</a:t>
            </a:r>
            <a:endParaRPr lang="en-US" b="1" dirty="0">
              <a:solidFill>
                <a:srgbClr val="C00000"/>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ChangeArrowheads="1"/>
          </p:cNvSpPr>
          <p:nvPr/>
        </p:nvSpPr>
        <p:spPr bwMode="auto">
          <a:xfrm>
            <a:off x="228600" y="282575"/>
            <a:ext cx="8686800" cy="6324600"/>
          </a:xfrm>
          <a:prstGeom prst="rect">
            <a:avLst/>
          </a:prstGeom>
          <a:noFill/>
          <a:ln w="19050">
            <a:solidFill>
              <a:srgbClr val="A71C1F"/>
            </a:solidFill>
            <a:miter lim="800000"/>
            <a:headEnd/>
            <a:tailEnd/>
          </a:ln>
        </p:spPr>
        <p:txBody>
          <a:bodyPr wrap="none" anchor="ctr"/>
          <a:lstStyle/>
          <a:p>
            <a:pPr algn="ctr"/>
            <a:endParaRPr lang="en-US" dirty="0"/>
          </a:p>
        </p:txBody>
      </p:sp>
      <p:sp>
        <p:nvSpPr>
          <p:cNvPr id="3077" name="Rectangle 5"/>
          <p:cNvSpPr>
            <a:spLocks noChangeArrowheads="1"/>
          </p:cNvSpPr>
          <p:nvPr/>
        </p:nvSpPr>
        <p:spPr bwMode="auto">
          <a:xfrm>
            <a:off x="260350" y="1295400"/>
            <a:ext cx="8610600" cy="76200"/>
          </a:xfrm>
          <a:prstGeom prst="rect">
            <a:avLst/>
          </a:prstGeom>
          <a:gradFill rotWithShape="1">
            <a:gsLst>
              <a:gs pos="0">
                <a:srgbClr val="A71C1F"/>
              </a:gs>
              <a:gs pos="100000">
                <a:schemeClr val="bg1"/>
              </a:gs>
            </a:gsLst>
            <a:lin ang="0" scaled="1"/>
          </a:gradFill>
          <a:ln w="9525">
            <a:noFill/>
            <a:miter lim="800000"/>
            <a:headEnd/>
            <a:tailEnd/>
          </a:ln>
        </p:spPr>
        <p:txBody>
          <a:bodyPr wrap="none" anchor="ctr"/>
          <a:lstStyle/>
          <a:p>
            <a:endParaRPr lang="en-US" dirty="0"/>
          </a:p>
        </p:txBody>
      </p:sp>
      <p:pic>
        <p:nvPicPr>
          <p:cNvPr id="3078" name="Picture 6" descr="psc_H_text_xsmall"/>
          <p:cNvPicPr>
            <a:picLocks noChangeAspect="1" noChangeArrowheads="1"/>
          </p:cNvPicPr>
          <p:nvPr/>
        </p:nvPicPr>
        <p:blipFill>
          <a:blip r:embed="rId2" cstate="print"/>
          <a:srcRect/>
          <a:stretch>
            <a:fillRect/>
          </a:stretch>
        </p:blipFill>
        <p:spPr bwMode="auto">
          <a:xfrm>
            <a:off x="381000" y="6454775"/>
            <a:ext cx="4572000" cy="304800"/>
          </a:xfrm>
          <a:prstGeom prst="rect">
            <a:avLst/>
          </a:prstGeom>
          <a:noFill/>
          <a:ln w="9525">
            <a:noFill/>
            <a:miter lim="800000"/>
            <a:headEnd/>
            <a:tailEnd/>
          </a:ln>
        </p:spPr>
      </p:pic>
      <p:pic>
        <p:nvPicPr>
          <p:cNvPr id="3079" name="Picture 7" descr="GaPSC_Logo_V"/>
          <p:cNvPicPr>
            <a:picLocks noChangeAspect="1" noChangeArrowheads="1"/>
          </p:cNvPicPr>
          <p:nvPr/>
        </p:nvPicPr>
        <p:blipFill>
          <a:blip r:embed="rId3" cstate="print"/>
          <a:srcRect/>
          <a:stretch>
            <a:fillRect/>
          </a:stretch>
        </p:blipFill>
        <p:spPr bwMode="auto">
          <a:xfrm>
            <a:off x="8135938" y="171450"/>
            <a:ext cx="912812" cy="1493838"/>
          </a:xfrm>
          <a:prstGeom prst="rect">
            <a:avLst/>
          </a:prstGeom>
          <a:noFill/>
          <a:ln w="9525">
            <a:noFill/>
            <a:miter lim="800000"/>
            <a:headEnd/>
            <a:tailEnd/>
          </a:ln>
        </p:spPr>
      </p:pic>
      <p:sp>
        <p:nvSpPr>
          <p:cNvPr id="8" name="Text Placeholder 7"/>
          <p:cNvSpPr>
            <a:spLocks noGrp="1"/>
          </p:cNvSpPr>
          <p:nvPr>
            <p:ph type="body" sz="half" idx="1"/>
          </p:nvPr>
        </p:nvSpPr>
        <p:spPr>
          <a:xfrm>
            <a:off x="304800" y="1371600"/>
            <a:ext cx="8077200" cy="5029200"/>
          </a:xfrm>
        </p:spPr>
        <p:txBody>
          <a:bodyPr>
            <a:normAutofit/>
          </a:bodyPr>
          <a:lstStyle/>
          <a:p>
            <a:pPr algn="ctr">
              <a:buNone/>
            </a:pPr>
            <a:endParaRPr lang="en-US" dirty="0" smtClean="0"/>
          </a:p>
          <a:p>
            <a:pPr algn="ctr">
              <a:buNone/>
            </a:pPr>
            <a:r>
              <a:rPr lang="en-US" sz="7200" b="1" dirty="0" smtClean="0"/>
              <a:t>What are your questions?</a:t>
            </a:r>
          </a:p>
        </p:txBody>
      </p:sp>
      <p:sp>
        <p:nvSpPr>
          <p:cNvPr id="9" name="Title 8"/>
          <p:cNvSpPr>
            <a:spLocks noGrp="1"/>
          </p:cNvSpPr>
          <p:nvPr>
            <p:ph type="title"/>
          </p:nvPr>
        </p:nvSpPr>
        <p:spPr/>
        <p:txBody>
          <a:bodyPr>
            <a:normAutofit/>
          </a:bodyPr>
          <a:lstStyle/>
          <a:p>
            <a:pPr algn="l"/>
            <a:r>
              <a:rPr lang="en-US" b="1" dirty="0" smtClean="0">
                <a:solidFill>
                  <a:srgbClr val="C00000"/>
                </a:solidFill>
              </a:rPr>
              <a:t>Thank you!</a:t>
            </a:r>
            <a:endParaRPr lang="en-US" b="1" dirty="0">
              <a:solidFill>
                <a:srgbClr val="C00000"/>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9|0.9|0.8|0.9|0.8"/>
</p:tagLst>
</file>

<file path=ppt/tags/tag2.xml><?xml version="1.0" encoding="utf-8"?>
<p:tagLst xmlns:a="http://schemas.openxmlformats.org/drawingml/2006/main" xmlns:r="http://schemas.openxmlformats.org/officeDocument/2006/relationships" xmlns:p="http://schemas.openxmlformats.org/presentationml/2006/main">
  <p:tag name="TIMING" val="|0.9|0.9|0.8|0.9|0.8"/>
</p:tagLst>
</file>

<file path=ppt/tags/tag3.xml><?xml version="1.0" encoding="utf-8"?>
<p:tagLst xmlns:a="http://schemas.openxmlformats.org/drawingml/2006/main" xmlns:r="http://schemas.openxmlformats.org/officeDocument/2006/relationships" xmlns:p="http://schemas.openxmlformats.org/presentationml/2006/main">
  <p:tag name="TIMING" val="|0.9|0.9|0.8|0.9|0.8"/>
</p:tagLst>
</file>

<file path=ppt/tags/tag4.xml><?xml version="1.0" encoding="utf-8"?>
<p:tagLst xmlns:a="http://schemas.openxmlformats.org/drawingml/2006/main" xmlns:r="http://schemas.openxmlformats.org/officeDocument/2006/relationships" xmlns:p="http://schemas.openxmlformats.org/presentationml/2006/main">
  <p:tag name="TIMING" val="|0.9|0.9|0.8|0.9|0.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1530</TotalTime>
  <Words>3081</Words>
  <Application>Microsoft Office PowerPoint</Application>
  <PresentationFormat>On-screen Show (4:3)</PresentationFormat>
  <Paragraphs>479</Paragraphs>
  <Slides>71</Slides>
  <Notes>50</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Slide 1</vt:lpstr>
      <vt:lpstr>Presenters</vt:lpstr>
      <vt:lpstr>Slide 3</vt:lpstr>
      <vt:lpstr>Agenda</vt:lpstr>
      <vt:lpstr>Certification Facts</vt:lpstr>
      <vt:lpstr>Certification Facts</vt:lpstr>
      <vt:lpstr>Certification Facts</vt:lpstr>
      <vt:lpstr>Certhelp Email Volume June - October</vt:lpstr>
      <vt:lpstr>Certhelp Email - Topics</vt:lpstr>
      <vt:lpstr>RESA Assignments</vt:lpstr>
      <vt:lpstr>HR Hotline</vt:lpstr>
      <vt:lpstr>Training and Outreach</vt:lpstr>
      <vt:lpstr>View Correspondence Online</vt:lpstr>
      <vt:lpstr>Slide 14</vt:lpstr>
      <vt:lpstr>View Correspondence Online</vt:lpstr>
      <vt:lpstr>Slide 16</vt:lpstr>
      <vt:lpstr>View Correspondence Online</vt:lpstr>
      <vt:lpstr>Slide 18</vt:lpstr>
      <vt:lpstr>Slide 19</vt:lpstr>
      <vt:lpstr>Slide 20</vt:lpstr>
      <vt:lpstr>Slide 21</vt:lpstr>
      <vt:lpstr>Special Georgia Requirements: Content Test </vt:lpstr>
      <vt:lpstr>Voluntary Deletion of a Certification field </vt:lpstr>
      <vt:lpstr>Birth Through Five</vt:lpstr>
      <vt:lpstr>Rules Effective 1/15/12</vt:lpstr>
      <vt:lpstr>Rules Effective 1/15/12</vt:lpstr>
      <vt:lpstr>Upgrades - Certificate Levels and Degrees</vt:lpstr>
      <vt:lpstr>Upgrades - What Changed?</vt:lpstr>
      <vt:lpstr>What are the options?</vt:lpstr>
      <vt:lpstr>Grandfathering Dates for Upgrades</vt:lpstr>
      <vt:lpstr>Slide 31</vt:lpstr>
      <vt:lpstr>Slide 32</vt:lpstr>
      <vt:lpstr>Implementation Assistance Tools  </vt:lpstr>
      <vt:lpstr>Am I Eligible for an Infield Upgrade?</vt:lpstr>
      <vt:lpstr>Slide 35</vt:lpstr>
      <vt:lpstr>Web-based Upgrade Advisor</vt:lpstr>
      <vt:lpstr>In-field Upgrade Advisor</vt:lpstr>
      <vt:lpstr>In-field Upgrade Advisor Entry</vt:lpstr>
      <vt:lpstr>Example – Not Eligible for Upgrade</vt:lpstr>
      <vt:lpstr>Example – Level 7 is Highest Level!</vt:lpstr>
      <vt:lpstr>Example – Eligible for Upgrade</vt:lpstr>
      <vt:lpstr>Eligible for Upgrade</vt:lpstr>
      <vt:lpstr>In-field Upgrade Detail</vt:lpstr>
      <vt:lpstr>In-field Upgrade Detail</vt:lpstr>
      <vt:lpstr>Example – Math Certificate</vt:lpstr>
      <vt:lpstr>Example – Math Certificate</vt:lpstr>
      <vt:lpstr>“Ad hoc” Advice</vt:lpstr>
      <vt:lpstr>Detail – Link for Ad Hoc Advice Form</vt:lpstr>
      <vt:lpstr>An Ad hoc Advice Tool</vt:lpstr>
      <vt:lpstr>Upgrade Advisor Implementation Timeline</vt:lpstr>
      <vt:lpstr>  Certification Upgrade Review Committee (CURC)</vt:lpstr>
      <vt:lpstr>CURC Purpose</vt:lpstr>
      <vt:lpstr>Right Now</vt:lpstr>
      <vt:lpstr>Educator Questions About Upgrades</vt:lpstr>
      <vt:lpstr>Leadership Certification and Degrees</vt:lpstr>
      <vt:lpstr>Leadership Certification and Degrees</vt:lpstr>
      <vt:lpstr>Leadership Certification and Degrees</vt:lpstr>
      <vt:lpstr>Leadership Certification and Degrees</vt:lpstr>
      <vt:lpstr>Two key points… to take away</vt:lpstr>
      <vt:lpstr>Two Key Points… So?</vt:lpstr>
      <vt:lpstr>Two key points… to reconsider</vt:lpstr>
      <vt:lpstr>Leadership Certification and Degrees</vt:lpstr>
      <vt:lpstr>Leadership “Level”</vt:lpstr>
      <vt:lpstr>Leadership “Level”</vt:lpstr>
      <vt:lpstr>www.gapsc.com</vt:lpstr>
      <vt:lpstr>HiQ</vt:lpstr>
      <vt:lpstr>RT3 and GaPSC Technology</vt:lpstr>
      <vt:lpstr>RT3 Impact on Data Systems &amp; Scope of Work</vt:lpstr>
      <vt:lpstr>Some Effects of Two RT3 Initiatives</vt:lpstr>
      <vt:lpstr>Contact Information</vt:lpstr>
      <vt:lpstr>Thank you!</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mcroy001</dc:creator>
  <cp:lastModifiedBy>MCCAM001</cp:lastModifiedBy>
  <cp:revision>194</cp:revision>
  <dcterms:created xsi:type="dcterms:W3CDTF">2011-10-12T19:23:56Z</dcterms:created>
  <dcterms:modified xsi:type="dcterms:W3CDTF">2011-12-02T13:33:52Z</dcterms:modified>
</cp:coreProperties>
</file>