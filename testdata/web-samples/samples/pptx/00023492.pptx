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701" r:id="rId2"/>
  </p:sldMasterIdLst>
  <p:sldIdLst>
    <p:sldId id="256" r:id="rId3"/>
    <p:sldId id="287" r:id="rId4"/>
    <p:sldId id="288" r:id="rId5"/>
    <p:sldId id="289" r:id="rId6"/>
    <p:sldId id="257" r:id="rId7"/>
    <p:sldId id="258" r:id="rId8"/>
    <p:sldId id="284" r:id="rId9"/>
    <p:sldId id="277" r:id="rId10"/>
    <p:sldId id="278" r:id="rId11"/>
    <p:sldId id="283" r:id="rId12"/>
    <p:sldId id="279" r:id="rId13"/>
    <p:sldId id="259" r:id="rId14"/>
    <p:sldId id="261" r:id="rId15"/>
    <p:sldId id="262" r:id="rId16"/>
    <p:sldId id="264" r:id="rId17"/>
    <p:sldId id="265" r:id="rId18"/>
    <p:sldId id="273" r:id="rId19"/>
    <p:sldId id="260" r:id="rId20"/>
    <p:sldId id="282" r:id="rId21"/>
    <p:sldId id="290" r:id="rId22"/>
    <p:sldId id="285" r:id="rId23"/>
    <p:sldId id="286" r:id="rId24"/>
  </p:sldIdLst>
  <p:sldSz cx="9144000" cy="6858000" type="screen4x3"/>
  <p:notesSz cx="7010400" cy="92964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696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5226" y="2209799"/>
            <a:ext cx="5362575" cy="1076325"/>
          </a:xfrm>
        </p:spPr>
        <p:txBody>
          <a:bodyPr>
            <a:normAutofit/>
          </a:bodyPr>
          <a:lstStyle>
            <a:lvl1pPr>
              <a:defRPr sz="2800" b="1" baseline="0">
                <a:solidFill>
                  <a:srgbClr val="042A54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Waste Treatment Plant Project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5725" y="3048001"/>
            <a:ext cx="5029200" cy="1571625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in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2450" y="2057399"/>
            <a:ext cx="4781551" cy="752475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rgbClr val="042A5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448177" y="2686051"/>
            <a:ext cx="4533900" cy="1876425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Tex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71626"/>
            <a:ext cx="3657600" cy="4829175"/>
          </a:xfrm>
        </p:spPr>
        <p:txBody>
          <a:bodyPr>
            <a:normAutofit/>
          </a:bodyPr>
          <a:lstStyle>
            <a:lvl1pPr>
              <a:buNone/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1351" y="6543676"/>
            <a:ext cx="2133600" cy="365125"/>
          </a:xfrm>
        </p:spPr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781551" y="1504950"/>
            <a:ext cx="4038600" cy="4743450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 Tex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423988"/>
            <a:ext cx="3657600" cy="5395913"/>
          </a:xfrm>
        </p:spPr>
        <p:txBody>
          <a:bodyPr>
            <a:normAutofit/>
          </a:bodyPr>
          <a:lstStyle>
            <a:lvl1pPr>
              <a:buNone/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0400" y="6629400"/>
            <a:ext cx="1676400" cy="304800"/>
          </a:xfrm>
          <a:prstGeom prst="rect">
            <a:avLst/>
          </a:prstGeom>
        </p:spPr>
        <p:txBody>
          <a:bodyPr/>
          <a:lstStyle/>
          <a:p>
            <a:fld id="{10B4A465-9A65-4FBE-8160-2BCF89191109}" type="datetimeFigureOut">
              <a:rPr lang="en-US" smtClean="0"/>
              <a:pPr/>
              <a:t>9/15/2011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39000" y="6543676"/>
            <a:ext cx="1905000" cy="365125"/>
          </a:xfrm>
        </p:spPr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ex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71613"/>
            <a:ext cx="8534400" cy="1890713"/>
          </a:xfrm>
        </p:spPr>
        <p:txBody>
          <a:bodyPr>
            <a:normAutofit/>
          </a:bodyPr>
          <a:lstStyle>
            <a:lvl1pPr>
              <a:buNone/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 Update Photos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" y="0"/>
            <a:ext cx="9144000" cy="990600"/>
          </a:xfrm>
        </p:spPr>
        <p:txBody>
          <a:bodyPr anchor="ctr"/>
          <a:lstStyle>
            <a:lvl1pPr algn="ctr">
              <a:buNone/>
              <a:defRPr b="1" i="1">
                <a:solidFill>
                  <a:srgbClr val="B2B2B2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uilding in background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70DA5-1A6E-404B-865E-7B1B1E06FF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4780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5226" y="2209799"/>
            <a:ext cx="5362575" cy="1076325"/>
          </a:xfrm>
        </p:spPr>
        <p:txBody>
          <a:bodyPr>
            <a:normAutofit/>
          </a:bodyPr>
          <a:lstStyle>
            <a:lvl1pPr>
              <a:defRPr sz="2800" b="1" baseline="0">
                <a:solidFill>
                  <a:srgbClr val="042A54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Waste Treatment Plant Project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5725" y="3048001"/>
            <a:ext cx="5029200" cy="1571625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in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2450" y="2057399"/>
            <a:ext cx="4781551" cy="752475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rgbClr val="042A5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448177" y="2686051"/>
            <a:ext cx="4533900" cy="1876425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Tex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71626"/>
            <a:ext cx="3657600" cy="4829175"/>
          </a:xfrm>
        </p:spPr>
        <p:txBody>
          <a:bodyPr>
            <a:normAutofit/>
          </a:bodyPr>
          <a:lstStyle>
            <a:lvl1pPr>
              <a:buNone/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1351" y="6543676"/>
            <a:ext cx="2133600" cy="365125"/>
          </a:xfrm>
        </p:spPr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781551" y="1504950"/>
            <a:ext cx="4038600" cy="4743450"/>
          </a:xfrm>
          <a:ln w="2857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 Tex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423988"/>
            <a:ext cx="3657600" cy="5395913"/>
          </a:xfrm>
        </p:spPr>
        <p:txBody>
          <a:bodyPr>
            <a:normAutofit/>
          </a:bodyPr>
          <a:lstStyle>
            <a:lvl1pPr>
              <a:buNone/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0400" y="6629400"/>
            <a:ext cx="1676400" cy="304800"/>
          </a:xfrm>
          <a:prstGeom prst="rect">
            <a:avLst/>
          </a:prstGeom>
        </p:spPr>
        <p:txBody>
          <a:bodyPr/>
          <a:lstStyle/>
          <a:p>
            <a:fld id="{10B4A465-9A65-4FBE-8160-2BCF89191109}" type="datetimeFigureOut">
              <a:rPr lang="en-US" smtClean="0"/>
              <a:pPr/>
              <a:t>9/15/2011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39000" y="6543676"/>
            <a:ext cx="1905000" cy="365125"/>
          </a:xfrm>
        </p:spPr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ex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71613"/>
            <a:ext cx="8534400" cy="1890713"/>
          </a:xfrm>
        </p:spPr>
        <p:txBody>
          <a:bodyPr>
            <a:normAutofit/>
          </a:bodyPr>
          <a:lstStyle>
            <a:lvl1pPr>
              <a:buNone/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40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 Update Photos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" y="0"/>
            <a:ext cx="9144000" cy="990600"/>
          </a:xfrm>
        </p:spPr>
        <p:txBody>
          <a:bodyPr anchor="ctr"/>
          <a:lstStyle>
            <a:lvl1pPr algn="ctr">
              <a:buNone/>
              <a:defRPr b="1" i="1">
                <a:solidFill>
                  <a:srgbClr val="B2B2B2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uilding in background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70DA5-1A6E-404B-865E-7B1B1E06FF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81AAF-2D61-4F5D-9DDB-6D21CF7668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" y="933450"/>
            <a:ext cx="9144000" cy="590550"/>
          </a:xfrm>
        </p:spPr>
        <p:txBody>
          <a:bodyPr>
            <a:normAutofit/>
          </a:bodyPr>
          <a:lstStyle>
            <a:lvl1pPr algn="ctr">
              <a:buNone/>
              <a:defRPr sz="2800" b="1" i="1">
                <a:solidFill>
                  <a:srgbClr val="042A54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0" r:id="rId2"/>
    <p:sldLayoutId id="2147483690" r:id="rId3"/>
    <p:sldLayoutId id="2147483691" r:id="rId4"/>
    <p:sldLayoutId id="2147483692" r:id="rId5"/>
    <p:sldLayoutId id="2147483694" r:id="rId6"/>
    <p:sldLayoutId id="2147483695" r:id="rId7"/>
    <p:sldLayoutId id="2147483696" r:id="rId8"/>
    <p:sldLayoutId id="2147483699" r:id="rId9"/>
    <p:sldLayoutId id="2147483713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0351"/>
            <a:ext cx="2590800" cy="187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2" y="1066801"/>
            <a:ext cx="5362575" cy="1076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54567" y="5257800"/>
            <a:ext cx="5181600" cy="457200"/>
          </a:xfrm>
        </p:spPr>
        <p:txBody>
          <a:bodyPr/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ICEM’ 11– Reims France</a:t>
            </a:r>
          </a:p>
          <a:p>
            <a:r>
              <a:rPr lang="en-US" sz="1400" b="1" dirty="0" smtClean="0">
                <a:solidFill>
                  <a:srgbClr val="0070C0"/>
                </a:solidFill>
              </a:rPr>
              <a:t>26 </a:t>
            </a:r>
            <a:r>
              <a:rPr lang="en-US" sz="1400" b="1" dirty="0" err="1" smtClean="0">
                <a:solidFill>
                  <a:srgbClr val="0070C0"/>
                </a:solidFill>
              </a:rPr>
              <a:t>Septembre</a:t>
            </a:r>
            <a:r>
              <a:rPr lang="en-US" sz="1400" b="1" dirty="0" smtClean="0">
                <a:solidFill>
                  <a:srgbClr val="0070C0"/>
                </a:solidFill>
              </a:rPr>
              <a:t> 2011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19600" y="3886201"/>
            <a:ext cx="472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Presented by:  Albert A. Kruger</a:t>
            </a:r>
          </a:p>
          <a:p>
            <a:pPr algn="ctr"/>
            <a:r>
              <a:rPr lang="en-US" sz="1200" dirty="0"/>
              <a:t>Glass Scientist</a:t>
            </a:r>
          </a:p>
          <a:p>
            <a:pPr algn="ctr"/>
            <a:r>
              <a:rPr lang="en-US" sz="1200" dirty="0"/>
              <a:t>Supervisor, Vitrification Group of the</a:t>
            </a:r>
          </a:p>
          <a:p>
            <a:pPr algn="ctr"/>
            <a:r>
              <a:rPr lang="en-US" sz="1200" dirty="0"/>
              <a:t>DOE WTP Project Office Engineering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7197" y="2667001"/>
            <a:ext cx="72292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Waste Loading Enhancements for </a:t>
            </a:r>
            <a:r>
              <a:rPr lang="en-US" sz="1800" dirty="0"/>
              <a:t>Hanford </a:t>
            </a:r>
            <a:r>
              <a:rPr lang="en-US" sz="1800" dirty="0" smtClean="0"/>
              <a:t>Low-Activity Glasses</a:t>
            </a:r>
          </a:p>
          <a:p>
            <a:pPr algn="ctr"/>
            <a:r>
              <a:rPr lang="en-US" dirty="0" err="1" smtClean="0"/>
              <a:t>wP</a:t>
            </a:r>
            <a:r>
              <a:rPr lang="en-US" dirty="0" smtClean="0"/>
              <a:t> - 59018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D81AAF-2D61-4F5D-9DDB-6D21CF7668C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1026" name="Picture 2" descr="C:\Users\H0050113\Pictures\DSC0006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522101"/>
            <a:ext cx="5143500" cy="386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55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D81AAF-2D61-4F5D-9DDB-6D21CF7668C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2050" name="Picture 2" descr="C:\Users\H0050113\Pictures\11070006-1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49522"/>
            <a:ext cx="7864736" cy="522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02501" y="6248400"/>
            <a:ext cx="9794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July 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69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79391" y="962610"/>
            <a:ext cx="8189913" cy="5517367"/>
            <a:chOff x="679391" y="962610"/>
            <a:chExt cx="8189913" cy="5517367"/>
          </a:xfrm>
        </p:grpSpPr>
        <p:grpSp>
          <p:nvGrpSpPr>
            <p:cNvPr id="9" name="Group 8"/>
            <p:cNvGrpSpPr/>
            <p:nvPr/>
          </p:nvGrpSpPr>
          <p:grpSpPr>
            <a:xfrm>
              <a:off x="679391" y="962610"/>
              <a:ext cx="8189913" cy="5486400"/>
              <a:chOff x="685800" y="1066800"/>
              <a:chExt cx="8189913" cy="5486400"/>
            </a:xfrm>
          </p:grpSpPr>
          <p:pic>
            <p:nvPicPr>
              <p:cNvPr id="5" name="Picture 2" descr="hanford site historical overview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5800" y="1066800"/>
                <a:ext cx="8189913" cy="548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Text Box 10"/>
              <p:cNvSpPr txBox="1">
                <a:spLocks noChangeArrowheads="1"/>
              </p:cNvSpPr>
              <p:nvPr/>
            </p:nvSpPr>
            <p:spPr bwMode="auto">
              <a:xfrm>
                <a:off x="1676400" y="1066800"/>
                <a:ext cx="6096000" cy="78483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sz="1800" b="1" dirty="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Generation of Hanford Tank </a:t>
                </a:r>
                <a:r>
                  <a:rPr lang="en-US" sz="1800" b="1" dirty="0" smtClean="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Wastes</a:t>
                </a:r>
              </a:p>
              <a:p>
                <a:pPr algn="ctr">
                  <a:spcBef>
                    <a:spcPct val="50000"/>
                  </a:spcBef>
                  <a:defRPr/>
                </a:pPr>
                <a:endParaRPr lang="en-US" sz="18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679391" y="6172200"/>
              <a:ext cx="8189913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b="1" dirty="0"/>
                <a:t>9 Reactors; 4 Fuel Reprocessing </a:t>
              </a:r>
              <a:r>
                <a:rPr lang="en-US" b="1" dirty="0" err="1"/>
                <a:t>Flowsheets</a:t>
              </a:r>
              <a:r>
                <a:rPr lang="en-US" b="1" dirty="0"/>
                <a:t>; 100,000 MT Fuel Processed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09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2157412"/>
            <a:ext cx="8534400" cy="3709988"/>
          </a:xfrm>
        </p:spPr>
        <p:txBody>
          <a:bodyPr>
            <a:no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Fiscal Year </a:t>
            </a:r>
            <a:r>
              <a:rPr lang="en-US" sz="2400" dirty="0" smtClean="0"/>
              <a:t>2007, </a:t>
            </a:r>
            <a:r>
              <a:rPr lang="en-US" sz="2400" dirty="0"/>
              <a:t>ORP initiated a testing program to develop and characterize HLW </a:t>
            </a:r>
            <a:r>
              <a:rPr lang="en-US" sz="2400" dirty="0" smtClean="0"/>
              <a:t>&amp; LAW glasses </a:t>
            </a:r>
            <a:r>
              <a:rPr lang="en-US" sz="2400" dirty="0"/>
              <a:t>with higher waste </a:t>
            </a:r>
            <a:r>
              <a:rPr lang="en-US" sz="2400" dirty="0" smtClean="0"/>
              <a:t>loadings, and where possible higher throughput, </a:t>
            </a:r>
            <a:r>
              <a:rPr lang="en-US" sz="2400" dirty="0"/>
              <a:t>to meet the processing and product quality </a:t>
            </a:r>
            <a:r>
              <a:rPr lang="en-US" sz="2400" dirty="0" smtClean="0"/>
              <a:t>requirements.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smtClean="0"/>
              <a:t>This </a:t>
            </a:r>
            <a:r>
              <a:rPr lang="en-US" sz="2400" dirty="0"/>
              <a:t>effort </a:t>
            </a:r>
            <a:r>
              <a:rPr lang="en-US" sz="2400" dirty="0" smtClean="0"/>
              <a:t>spans </a:t>
            </a:r>
            <a:r>
              <a:rPr lang="en-US" sz="2400" dirty="0"/>
              <a:t>the investigation of the </a:t>
            </a:r>
            <a:r>
              <a:rPr lang="en-US" sz="2400" dirty="0" smtClean="0"/>
              <a:t>melt dynamics and cold cap properties to </a:t>
            </a:r>
            <a:r>
              <a:rPr lang="en-US" sz="2400" dirty="0" err="1"/>
              <a:t>vitrification</a:t>
            </a:r>
            <a:r>
              <a:rPr lang="en-US" sz="2400" dirty="0"/>
              <a:t> </a:t>
            </a:r>
            <a:r>
              <a:rPr lang="en-US" sz="2400" dirty="0" smtClean="0"/>
              <a:t>processes </a:t>
            </a:r>
            <a:r>
              <a:rPr lang="en-US" sz="2400" dirty="0"/>
              <a:t>at the conditions close to those that exist in continuous waste glass </a:t>
            </a:r>
            <a:r>
              <a:rPr lang="en-US" sz="2400" dirty="0" smtClean="0"/>
              <a:t>melters.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1" y="1085850"/>
            <a:ext cx="9144000" cy="590550"/>
          </a:xfrm>
        </p:spPr>
        <p:txBody>
          <a:bodyPr>
            <a:normAutofit/>
          </a:bodyPr>
          <a:lstStyle/>
          <a:p>
            <a:r>
              <a:rPr lang="en-US" dirty="0"/>
              <a:t>Glass Formulation for </a:t>
            </a:r>
            <a:r>
              <a:rPr lang="en-US" dirty="0" smtClean="0"/>
              <a:t>HLW &amp; LAW </a:t>
            </a:r>
            <a:r>
              <a:rPr lang="en-US" dirty="0"/>
              <a:t>Treatment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93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Background:</a:t>
            </a:r>
          </a:p>
          <a:p>
            <a:r>
              <a:rPr lang="en-US" dirty="0" smtClean="0"/>
              <a:t>Current </a:t>
            </a:r>
            <a:r>
              <a:rPr lang="en-US" dirty="0"/>
              <a:t>estimates indicate that the number of HLW canisters to be produced in the WTP is 13,500 (equivalent to 40,500 MT glass</a:t>
            </a:r>
            <a:r>
              <a:rPr lang="en-US" dirty="0" smtClean="0"/>
              <a:t>).  The ca. 50,000 MT of sodium to be processed into glass equates to 588,000 tons of ILAW glass.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current glass formulation efforts have been conservative in terms of achievable waste </a:t>
            </a:r>
            <a:r>
              <a:rPr lang="en-US" dirty="0" smtClean="0"/>
              <a:t>loadings.</a:t>
            </a:r>
          </a:p>
          <a:p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formulations have been specified to ensure the glasses are homogenous, preclude secondary phases (sulfate-based salts or crystalline phases), are </a:t>
            </a:r>
            <a:r>
              <a:rPr lang="en-US" dirty="0" err="1"/>
              <a:t>processable</a:t>
            </a:r>
            <a:r>
              <a:rPr lang="en-US" dirty="0"/>
              <a:t> in joule-heated, ceramic-lined melters and meet WTP Contract terms.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Glass Formulation for </a:t>
            </a:r>
            <a:r>
              <a:rPr lang="en-US" dirty="0" smtClean="0"/>
              <a:t>Waste </a:t>
            </a:r>
            <a:r>
              <a:rPr lang="en-US" dirty="0"/>
              <a:t>Treatment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88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WTP Flow Sheet -  Key Process Flows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30362" y="1724025"/>
            <a:ext cx="5913438" cy="4143375"/>
            <a:chOff x="1066800" y="1371600"/>
            <a:chExt cx="5913438" cy="4143375"/>
          </a:xfrm>
        </p:grpSpPr>
        <p:sp>
          <p:nvSpPr>
            <p:cNvPr id="5" name="Freeform 2"/>
            <p:cNvSpPr>
              <a:spLocks/>
            </p:cNvSpPr>
            <p:nvPr/>
          </p:nvSpPr>
          <p:spPr bwMode="auto">
            <a:xfrm flipH="1" flipV="1">
              <a:off x="3779838" y="3124200"/>
              <a:ext cx="1371600" cy="1371600"/>
            </a:xfrm>
            <a:custGeom>
              <a:avLst/>
              <a:gdLst>
                <a:gd name="T0" fmla="*/ 564639270 w 1315"/>
                <a:gd name="T1" fmla="*/ 151471778 h 1653"/>
                <a:gd name="T2" fmla="*/ 616860182 w 1315"/>
                <a:gd name="T3" fmla="*/ 158357158 h 1653"/>
                <a:gd name="T4" fmla="*/ 657113237 w 1315"/>
                <a:gd name="T5" fmla="*/ 164553834 h 1653"/>
                <a:gd name="T6" fmla="*/ 699543120 w 1315"/>
                <a:gd name="T7" fmla="*/ 172815792 h 1653"/>
                <a:gd name="T8" fmla="*/ 741973003 w 1315"/>
                <a:gd name="T9" fmla="*/ 181766455 h 1653"/>
                <a:gd name="T10" fmla="*/ 790929196 w 1315"/>
                <a:gd name="T11" fmla="*/ 194158977 h 1653"/>
                <a:gd name="T12" fmla="*/ 837710647 w 1315"/>
                <a:gd name="T13" fmla="*/ 207241034 h 1653"/>
                <a:gd name="T14" fmla="*/ 883404207 w 1315"/>
                <a:gd name="T15" fmla="*/ 221699720 h 1653"/>
                <a:gd name="T16" fmla="*/ 922569369 w 1315"/>
                <a:gd name="T17" fmla="*/ 236847059 h 1653"/>
                <a:gd name="T18" fmla="*/ 961735575 w 1315"/>
                <a:gd name="T19" fmla="*/ 252682272 h 1653"/>
                <a:gd name="T20" fmla="*/ 1005253350 w 1315"/>
                <a:gd name="T21" fmla="*/ 272649708 h 1653"/>
                <a:gd name="T22" fmla="*/ 1043330621 w 1315"/>
                <a:gd name="T23" fmla="*/ 290550203 h 1653"/>
                <a:gd name="T24" fmla="*/ 1103167040 w 1315"/>
                <a:gd name="T25" fmla="*/ 324287570 h 1653"/>
                <a:gd name="T26" fmla="*/ 1155388996 w 1315"/>
                <a:gd name="T27" fmla="*/ 358024108 h 1653"/>
                <a:gd name="T28" fmla="*/ 1196729943 w 1315"/>
                <a:gd name="T29" fmla="*/ 389007489 h 1653"/>
                <a:gd name="T30" fmla="*/ 1240247718 w 1315"/>
                <a:gd name="T31" fmla="*/ 425498012 h 1653"/>
                <a:gd name="T32" fmla="*/ 1280500773 w 1315"/>
                <a:gd name="T33" fmla="*/ 464743455 h 1653"/>
                <a:gd name="T34" fmla="*/ 1315315410 w 1315"/>
                <a:gd name="T35" fmla="*/ 503300091 h 1653"/>
                <a:gd name="T36" fmla="*/ 1346865328 w 1315"/>
                <a:gd name="T37" fmla="*/ 546675994 h 1653"/>
                <a:gd name="T38" fmla="*/ 1372975784 w 1315"/>
                <a:gd name="T39" fmla="*/ 592805884 h 1653"/>
                <a:gd name="T40" fmla="*/ 1400174132 w 1315"/>
                <a:gd name="T41" fmla="*/ 649951719 h 1653"/>
                <a:gd name="T42" fmla="*/ 1416492516 w 1315"/>
                <a:gd name="T43" fmla="*/ 705720975 h 1653"/>
                <a:gd name="T44" fmla="*/ 1429548265 w 1315"/>
                <a:gd name="T45" fmla="*/ 778702851 h 1653"/>
                <a:gd name="T46" fmla="*/ 1429548265 w 1315"/>
                <a:gd name="T47" fmla="*/ 840668784 h 1653"/>
                <a:gd name="T48" fmla="*/ 1419757235 w 1315"/>
                <a:gd name="T49" fmla="*/ 897126951 h 1653"/>
                <a:gd name="T50" fmla="*/ 1404525701 w 1315"/>
                <a:gd name="T51" fmla="*/ 955650194 h 1653"/>
                <a:gd name="T52" fmla="*/ 1375151568 w 1315"/>
                <a:gd name="T53" fmla="*/ 1020369282 h 1653"/>
                <a:gd name="T54" fmla="*/ 1340337974 w 1315"/>
                <a:gd name="T55" fmla="*/ 1080269932 h 1653"/>
                <a:gd name="T56" fmla="*/ 1285940234 w 1315"/>
                <a:gd name="T57" fmla="*/ 1138104471 h 1653"/>
                <a:gd name="T58" fmla="*/ 887755775 w 1315"/>
                <a:gd name="T59" fmla="*/ 954961490 h 1653"/>
                <a:gd name="T60" fmla="*/ 913866232 w 1315"/>
                <a:gd name="T61" fmla="*/ 908831600 h 1653"/>
                <a:gd name="T62" fmla="*/ 930185658 w 1315"/>
                <a:gd name="T63" fmla="*/ 864078081 h 1653"/>
                <a:gd name="T64" fmla="*/ 935625119 w 1315"/>
                <a:gd name="T65" fmla="*/ 822078755 h 1653"/>
                <a:gd name="T66" fmla="*/ 933449335 w 1315"/>
                <a:gd name="T67" fmla="*/ 774572287 h 1653"/>
                <a:gd name="T68" fmla="*/ 920393585 w 1315"/>
                <a:gd name="T69" fmla="*/ 722245721 h 1653"/>
                <a:gd name="T70" fmla="*/ 895371021 w 1315"/>
                <a:gd name="T71" fmla="*/ 675427127 h 1653"/>
                <a:gd name="T72" fmla="*/ 863821104 w 1315"/>
                <a:gd name="T73" fmla="*/ 633427802 h 1653"/>
                <a:gd name="T74" fmla="*/ 833359078 w 1315"/>
                <a:gd name="T75" fmla="*/ 604510533 h 1653"/>
                <a:gd name="T76" fmla="*/ 800721269 w 1315"/>
                <a:gd name="T77" fmla="*/ 578347250 h 1653"/>
                <a:gd name="T78" fmla="*/ 764818739 w 1315"/>
                <a:gd name="T79" fmla="*/ 554937953 h 1653"/>
                <a:gd name="T80" fmla="*/ 727829361 w 1315"/>
                <a:gd name="T81" fmla="*/ 532905234 h 1653"/>
                <a:gd name="T82" fmla="*/ 679960017 w 1315"/>
                <a:gd name="T83" fmla="*/ 512249923 h 1653"/>
                <a:gd name="T84" fmla="*/ 639706962 w 1315"/>
                <a:gd name="T85" fmla="*/ 496414711 h 1653"/>
                <a:gd name="T86" fmla="*/ 588573942 w 1315"/>
                <a:gd name="T87" fmla="*/ 480578668 h 1653"/>
                <a:gd name="T88" fmla="*/ 546143929 w 1315"/>
                <a:gd name="T89" fmla="*/ 470940131 h 1653"/>
                <a:gd name="T90" fmla="*/ 483044094 w 1315"/>
                <a:gd name="T91" fmla="*/ 462677343 h 1653"/>
                <a:gd name="T92" fmla="*/ 419943216 w 1315"/>
                <a:gd name="T93" fmla="*/ 459235483 h 1653"/>
                <a:gd name="T94" fmla="*/ 402535897 w 1315"/>
                <a:gd name="T95" fmla="*/ 624477139 h 1653"/>
                <a:gd name="T96" fmla="*/ 401448005 w 1315"/>
                <a:gd name="T97" fmla="*/ 0 h 1653"/>
                <a:gd name="T98" fmla="*/ 423206892 w 1315"/>
                <a:gd name="T99" fmla="*/ 143209819 h 1653"/>
                <a:gd name="T100" fmla="*/ 487395663 w 1315"/>
                <a:gd name="T101" fmla="*/ 145275102 h 1653"/>
                <a:gd name="T102" fmla="*/ 545056036 w 1315"/>
                <a:gd name="T103" fmla="*/ 149406496 h 165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315"/>
                <a:gd name="T157" fmla="*/ 0 h 1653"/>
                <a:gd name="T158" fmla="*/ 1315 w 1315"/>
                <a:gd name="T159" fmla="*/ 1653 h 1653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315" h="1653">
                  <a:moveTo>
                    <a:pt x="501" y="217"/>
                  </a:moveTo>
                  <a:lnTo>
                    <a:pt x="519" y="220"/>
                  </a:lnTo>
                  <a:lnTo>
                    <a:pt x="543" y="224"/>
                  </a:lnTo>
                  <a:lnTo>
                    <a:pt x="567" y="230"/>
                  </a:lnTo>
                  <a:lnTo>
                    <a:pt x="584" y="234"/>
                  </a:lnTo>
                  <a:lnTo>
                    <a:pt x="604" y="239"/>
                  </a:lnTo>
                  <a:lnTo>
                    <a:pt x="623" y="245"/>
                  </a:lnTo>
                  <a:lnTo>
                    <a:pt x="643" y="251"/>
                  </a:lnTo>
                  <a:lnTo>
                    <a:pt x="661" y="256"/>
                  </a:lnTo>
                  <a:lnTo>
                    <a:pt x="682" y="264"/>
                  </a:lnTo>
                  <a:lnTo>
                    <a:pt x="706" y="274"/>
                  </a:lnTo>
                  <a:lnTo>
                    <a:pt x="727" y="282"/>
                  </a:lnTo>
                  <a:lnTo>
                    <a:pt x="747" y="291"/>
                  </a:lnTo>
                  <a:lnTo>
                    <a:pt x="770" y="301"/>
                  </a:lnTo>
                  <a:lnTo>
                    <a:pt x="792" y="312"/>
                  </a:lnTo>
                  <a:lnTo>
                    <a:pt x="812" y="322"/>
                  </a:lnTo>
                  <a:lnTo>
                    <a:pt x="831" y="334"/>
                  </a:lnTo>
                  <a:lnTo>
                    <a:pt x="848" y="344"/>
                  </a:lnTo>
                  <a:lnTo>
                    <a:pt x="865" y="356"/>
                  </a:lnTo>
                  <a:lnTo>
                    <a:pt x="884" y="367"/>
                  </a:lnTo>
                  <a:lnTo>
                    <a:pt x="905" y="382"/>
                  </a:lnTo>
                  <a:lnTo>
                    <a:pt x="924" y="396"/>
                  </a:lnTo>
                  <a:lnTo>
                    <a:pt x="942" y="410"/>
                  </a:lnTo>
                  <a:lnTo>
                    <a:pt x="959" y="422"/>
                  </a:lnTo>
                  <a:lnTo>
                    <a:pt x="986" y="445"/>
                  </a:lnTo>
                  <a:lnTo>
                    <a:pt x="1014" y="471"/>
                  </a:lnTo>
                  <a:lnTo>
                    <a:pt x="1036" y="491"/>
                  </a:lnTo>
                  <a:lnTo>
                    <a:pt x="1062" y="520"/>
                  </a:lnTo>
                  <a:lnTo>
                    <a:pt x="1080" y="541"/>
                  </a:lnTo>
                  <a:lnTo>
                    <a:pt x="1100" y="565"/>
                  </a:lnTo>
                  <a:lnTo>
                    <a:pt x="1122" y="592"/>
                  </a:lnTo>
                  <a:lnTo>
                    <a:pt x="1140" y="618"/>
                  </a:lnTo>
                  <a:lnTo>
                    <a:pt x="1158" y="647"/>
                  </a:lnTo>
                  <a:lnTo>
                    <a:pt x="1177" y="675"/>
                  </a:lnTo>
                  <a:lnTo>
                    <a:pt x="1193" y="705"/>
                  </a:lnTo>
                  <a:lnTo>
                    <a:pt x="1209" y="731"/>
                  </a:lnTo>
                  <a:lnTo>
                    <a:pt x="1224" y="763"/>
                  </a:lnTo>
                  <a:lnTo>
                    <a:pt x="1238" y="794"/>
                  </a:lnTo>
                  <a:lnTo>
                    <a:pt x="1250" y="826"/>
                  </a:lnTo>
                  <a:lnTo>
                    <a:pt x="1262" y="861"/>
                  </a:lnTo>
                  <a:lnTo>
                    <a:pt x="1277" y="904"/>
                  </a:lnTo>
                  <a:lnTo>
                    <a:pt x="1287" y="944"/>
                  </a:lnTo>
                  <a:lnTo>
                    <a:pt x="1297" y="985"/>
                  </a:lnTo>
                  <a:lnTo>
                    <a:pt x="1302" y="1025"/>
                  </a:lnTo>
                  <a:lnTo>
                    <a:pt x="1309" y="1072"/>
                  </a:lnTo>
                  <a:lnTo>
                    <a:pt x="1314" y="1131"/>
                  </a:lnTo>
                  <a:lnTo>
                    <a:pt x="1315" y="1176"/>
                  </a:lnTo>
                  <a:lnTo>
                    <a:pt x="1314" y="1221"/>
                  </a:lnTo>
                  <a:lnTo>
                    <a:pt x="1310" y="1263"/>
                  </a:lnTo>
                  <a:lnTo>
                    <a:pt x="1305" y="1303"/>
                  </a:lnTo>
                  <a:lnTo>
                    <a:pt x="1300" y="1345"/>
                  </a:lnTo>
                  <a:lnTo>
                    <a:pt x="1291" y="1388"/>
                  </a:lnTo>
                  <a:lnTo>
                    <a:pt x="1279" y="1434"/>
                  </a:lnTo>
                  <a:lnTo>
                    <a:pt x="1264" y="1482"/>
                  </a:lnTo>
                  <a:lnTo>
                    <a:pt x="1249" y="1526"/>
                  </a:lnTo>
                  <a:lnTo>
                    <a:pt x="1232" y="1569"/>
                  </a:lnTo>
                  <a:lnTo>
                    <a:pt x="1207" y="1611"/>
                  </a:lnTo>
                  <a:lnTo>
                    <a:pt x="1182" y="1653"/>
                  </a:lnTo>
                  <a:lnTo>
                    <a:pt x="795" y="1429"/>
                  </a:lnTo>
                  <a:lnTo>
                    <a:pt x="816" y="1387"/>
                  </a:lnTo>
                  <a:lnTo>
                    <a:pt x="830" y="1355"/>
                  </a:lnTo>
                  <a:lnTo>
                    <a:pt x="840" y="1320"/>
                  </a:lnTo>
                  <a:lnTo>
                    <a:pt x="849" y="1286"/>
                  </a:lnTo>
                  <a:lnTo>
                    <a:pt x="855" y="1255"/>
                  </a:lnTo>
                  <a:lnTo>
                    <a:pt x="857" y="1224"/>
                  </a:lnTo>
                  <a:lnTo>
                    <a:pt x="860" y="1194"/>
                  </a:lnTo>
                  <a:lnTo>
                    <a:pt x="860" y="1162"/>
                  </a:lnTo>
                  <a:lnTo>
                    <a:pt x="858" y="1125"/>
                  </a:lnTo>
                  <a:lnTo>
                    <a:pt x="853" y="1089"/>
                  </a:lnTo>
                  <a:lnTo>
                    <a:pt x="846" y="1049"/>
                  </a:lnTo>
                  <a:lnTo>
                    <a:pt x="837" y="1017"/>
                  </a:lnTo>
                  <a:lnTo>
                    <a:pt x="823" y="981"/>
                  </a:lnTo>
                  <a:lnTo>
                    <a:pt x="810" y="950"/>
                  </a:lnTo>
                  <a:lnTo>
                    <a:pt x="794" y="920"/>
                  </a:lnTo>
                  <a:lnTo>
                    <a:pt x="780" y="897"/>
                  </a:lnTo>
                  <a:lnTo>
                    <a:pt x="766" y="878"/>
                  </a:lnTo>
                  <a:lnTo>
                    <a:pt x="752" y="859"/>
                  </a:lnTo>
                  <a:lnTo>
                    <a:pt x="736" y="840"/>
                  </a:lnTo>
                  <a:lnTo>
                    <a:pt x="718" y="820"/>
                  </a:lnTo>
                  <a:lnTo>
                    <a:pt x="703" y="806"/>
                  </a:lnTo>
                  <a:lnTo>
                    <a:pt x="686" y="789"/>
                  </a:lnTo>
                  <a:lnTo>
                    <a:pt x="669" y="774"/>
                  </a:lnTo>
                  <a:lnTo>
                    <a:pt x="649" y="759"/>
                  </a:lnTo>
                  <a:lnTo>
                    <a:pt x="625" y="744"/>
                  </a:lnTo>
                  <a:lnTo>
                    <a:pt x="605" y="730"/>
                  </a:lnTo>
                  <a:lnTo>
                    <a:pt x="588" y="721"/>
                  </a:lnTo>
                  <a:lnTo>
                    <a:pt x="563" y="706"/>
                  </a:lnTo>
                  <a:lnTo>
                    <a:pt x="541" y="698"/>
                  </a:lnTo>
                  <a:lnTo>
                    <a:pt x="522" y="691"/>
                  </a:lnTo>
                  <a:lnTo>
                    <a:pt x="502" y="684"/>
                  </a:lnTo>
                  <a:lnTo>
                    <a:pt x="472" y="677"/>
                  </a:lnTo>
                  <a:lnTo>
                    <a:pt x="444" y="672"/>
                  </a:lnTo>
                  <a:lnTo>
                    <a:pt x="415" y="669"/>
                  </a:lnTo>
                  <a:lnTo>
                    <a:pt x="386" y="667"/>
                  </a:lnTo>
                  <a:lnTo>
                    <a:pt x="370" y="666"/>
                  </a:lnTo>
                  <a:lnTo>
                    <a:pt x="370" y="907"/>
                  </a:lnTo>
                  <a:lnTo>
                    <a:pt x="0" y="460"/>
                  </a:lnTo>
                  <a:lnTo>
                    <a:pt x="369" y="0"/>
                  </a:lnTo>
                  <a:lnTo>
                    <a:pt x="369" y="207"/>
                  </a:lnTo>
                  <a:lnTo>
                    <a:pt x="389" y="208"/>
                  </a:lnTo>
                  <a:lnTo>
                    <a:pt x="418" y="209"/>
                  </a:lnTo>
                  <a:lnTo>
                    <a:pt x="448" y="211"/>
                  </a:lnTo>
                  <a:lnTo>
                    <a:pt x="477" y="214"/>
                  </a:lnTo>
                  <a:lnTo>
                    <a:pt x="501" y="217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3"/>
            <p:cNvSpPr>
              <a:spLocks/>
            </p:cNvSpPr>
            <p:nvPr/>
          </p:nvSpPr>
          <p:spPr bwMode="auto">
            <a:xfrm flipH="1">
              <a:off x="3856038" y="1600200"/>
              <a:ext cx="1371600" cy="1371600"/>
            </a:xfrm>
            <a:custGeom>
              <a:avLst/>
              <a:gdLst>
                <a:gd name="T0" fmla="*/ 564639270 w 1315"/>
                <a:gd name="T1" fmla="*/ 151471778 h 1653"/>
                <a:gd name="T2" fmla="*/ 616860182 w 1315"/>
                <a:gd name="T3" fmla="*/ 158357158 h 1653"/>
                <a:gd name="T4" fmla="*/ 657113237 w 1315"/>
                <a:gd name="T5" fmla="*/ 164553834 h 1653"/>
                <a:gd name="T6" fmla="*/ 699543120 w 1315"/>
                <a:gd name="T7" fmla="*/ 172815792 h 1653"/>
                <a:gd name="T8" fmla="*/ 741973003 w 1315"/>
                <a:gd name="T9" fmla="*/ 181766455 h 1653"/>
                <a:gd name="T10" fmla="*/ 790929196 w 1315"/>
                <a:gd name="T11" fmla="*/ 194158977 h 1653"/>
                <a:gd name="T12" fmla="*/ 837710647 w 1315"/>
                <a:gd name="T13" fmla="*/ 207241034 h 1653"/>
                <a:gd name="T14" fmla="*/ 883404207 w 1315"/>
                <a:gd name="T15" fmla="*/ 221699720 h 1653"/>
                <a:gd name="T16" fmla="*/ 922569369 w 1315"/>
                <a:gd name="T17" fmla="*/ 236847059 h 1653"/>
                <a:gd name="T18" fmla="*/ 961735575 w 1315"/>
                <a:gd name="T19" fmla="*/ 252682272 h 1653"/>
                <a:gd name="T20" fmla="*/ 1005253350 w 1315"/>
                <a:gd name="T21" fmla="*/ 272649708 h 1653"/>
                <a:gd name="T22" fmla="*/ 1043330621 w 1315"/>
                <a:gd name="T23" fmla="*/ 290550203 h 1653"/>
                <a:gd name="T24" fmla="*/ 1103167040 w 1315"/>
                <a:gd name="T25" fmla="*/ 324287570 h 1653"/>
                <a:gd name="T26" fmla="*/ 1155388996 w 1315"/>
                <a:gd name="T27" fmla="*/ 358024108 h 1653"/>
                <a:gd name="T28" fmla="*/ 1196729943 w 1315"/>
                <a:gd name="T29" fmla="*/ 389007489 h 1653"/>
                <a:gd name="T30" fmla="*/ 1240247718 w 1315"/>
                <a:gd name="T31" fmla="*/ 425498012 h 1653"/>
                <a:gd name="T32" fmla="*/ 1280500773 w 1315"/>
                <a:gd name="T33" fmla="*/ 464743455 h 1653"/>
                <a:gd name="T34" fmla="*/ 1315315410 w 1315"/>
                <a:gd name="T35" fmla="*/ 503300091 h 1653"/>
                <a:gd name="T36" fmla="*/ 1346865328 w 1315"/>
                <a:gd name="T37" fmla="*/ 546675994 h 1653"/>
                <a:gd name="T38" fmla="*/ 1372975784 w 1315"/>
                <a:gd name="T39" fmla="*/ 592805884 h 1653"/>
                <a:gd name="T40" fmla="*/ 1400174132 w 1315"/>
                <a:gd name="T41" fmla="*/ 649951719 h 1653"/>
                <a:gd name="T42" fmla="*/ 1416492516 w 1315"/>
                <a:gd name="T43" fmla="*/ 705720975 h 1653"/>
                <a:gd name="T44" fmla="*/ 1429548265 w 1315"/>
                <a:gd name="T45" fmla="*/ 778702851 h 1653"/>
                <a:gd name="T46" fmla="*/ 1429548265 w 1315"/>
                <a:gd name="T47" fmla="*/ 840668784 h 1653"/>
                <a:gd name="T48" fmla="*/ 1419757235 w 1315"/>
                <a:gd name="T49" fmla="*/ 897126951 h 1653"/>
                <a:gd name="T50" fmla="*/ 1404525701 w 1315"/>
                <a:gd name="T51" fmla="*/ 955650194 h 1653"/>
                <a:gd name="T52" fmla="*/ 1375151568 w 1315"/>
                <a:gd name="T53" fmla="*/ 1020369282 h 1653"/>
                <a:gd name="T54" fmla="*/ 1340337974 w 1315"/>
                <a:gd name="T55" fmla="*/ 1080269932 h 1653"/>
                <a:gd name="T56" fmla="*/ 1285940234 w 1315"/>
                <a:gd name="T57" fmla="*/ 1138104471 h 1653"/>
                <a:gd name="T58" fmla="*/ 887755775 w 1315"/>
                <a:gd name="T59" fmla="*/ 954961490 h 1653"/>
                <a:gd name="T60" fmla="*/ 913866232 w 1315"/>
                <a:gd name="T61" fmla="*/ 908831600 h 1653"/>
                <a:gd name="T62" fmla="*/ 930185658 w 1315"/>
                <a:gd name="T63" fmla="*/ 864078081 h 1653"/>
                <a:gd name="T64" fmla="*/ 935625119 w 1315"/>
                <a:gd name="T65" fmla="*/ 822078755 h 1653"/>
                <a:gd name="T66" fmla="*/ 933449335 w 1315"/>
                <a:gd name="T67" fmla="*/ 774572287 h 1653"/>
                <a:gd name="T68" fmla="*/ 920393585 w 1315"/>
                <a:gd name="T69" fmla="*/ 722245721 h 1653"/>
                <a:gd name="T70" fmla="*/ 895371021 w 1315"/>
                <a:gd name="T71" fmla="*/ 675427127 h 1653"/>
                <a:gd name="T72" fmla="*/ 863821104 w 1315"/>
                <a:gd name="T73" fmla="*/ 633427802 h 1653"/>
                <a:gd name="T74" fmla="*/ 833359078 w 1315"/>
                <a:gd name="T75" fmla="*/ 604510533 h 1653"/>
                <a:gd name="T76" fmla="*/ 800721269 w 1315"/>
                <a:gd name="T77" fmla="*/ 578347250 h 1653"/>
                <a:gd name="T78" fmla="*/ 764818739 w 1315"/>
                <a:gd name="T79" fmla="*/ 554937953 h 1653"/>
                <a:gd name="T80" fmla="*/ 727829361 w 1315"/>
                <a:gd name="T81" fmla="*/ 532905234 h 1653"/>
                <a:gd name="T82" fmla="*/ 679960017 w 1315"/>
                <a:gd name="T83" fmla="*/ 512249923 h 1653"/>
                <a:gd name="T84" fmla="*/ 639706962 w 1315"/>
                <a:gd name="T85" fmla="*/ 496414711 h 1653"/>
                <a:gd name="T86" fmla="*/ 588573942 w 1315"/>
                <a:gd name="T87" fmla="*/ 480578668 h 1653"/>
                <a:gd name="T88" fmla="*/ 546143929 w 1315"/>
                <a:gd name="T89" fmla="*/ 470940131 h 1653"/>
                <a:gd name="T90" fmla="*/ 483044094 w 1315"/>
                <a:gd name="T91" fmla="*/ 462677343 h 1653"/>
                <a:gd name="T92" fmla="*/ 419943216 w 1315"/>
                <a:gd name="T93" fmla="*/ 459235483 h 1653"/>
                <a:gd name="T94" fmla="*/ 402535897 w 1315"/>
                <a:gd name="T95" fmla="*/ 624477139 h 1653"/>
                <a:gd name="T96" fmla="*/ 401448005 w 1315"/>
                <a:gd name="T97" fmla="*/ 0 h 1653"/>
                <a:gd name="T98" fmla="*/ 423206892 w 1315"/>
                <a:gd name="T99" fmla="*/ 143209819 h 1653"/>
                <a:gd name="T100" fmla="*/ 487395663 w 1315"/>
                <a:gd name="T101" fmla="*/ 145275102 h 1653"/>
                <a:gd name="T102" fmla="*/ 545056036 w 1315"/>
                <a:gd name="T103" fmla="*/ 149406496 h 165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315"/>
                <a:gd name="T157" fmla="*/ 0 h 1653"/>
                <a:gd name="T158" fmla="*/ 1315 w 1315"/>
                <a:gd name="T159" fmla="*/ 1653 h 1653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315" h="1653">
                  <a:moveTo>
                    <a:pt x="501" y="217"/>
                  </a:moveTo>
                  <a:lnTo>
                    <a:pt x="519" y="220"/>
                  </a:lnTo>
                  <a:lnTo>
                    <a:pt x="543" y="224"/>
                  </a:lnTo>
                  <a:lnTo>
                    <a:pt x="567" y="230"/>
                  </a:lnTo>
                  <a:lnTo>
                    <a:pt x="584" y="234"/>
                  </a:lnTo>
                  <a:lnTo>
                    <a:pt x="604" y="239"/>
                  </a:lnTo>
                  <a:lnTo>
                    <a:pt x="623" y="245"/>
                  </a:lnTo>
                  <a:lnTo>
                    <a:pt x="643" y="251"/>
                  </a:lnTo>
                  <a:lnTo>
                    <a:pt x="661" y="256"/>
                  </a:lnTo>
                  <a:lnTo>
                    <a:pt x="682" y="264"/>
                  </a:lnTo>
                  <a:lnTo>
                    <a:pt x="706" y="274"/>
                  </a:lnTo>
                  <a:lnTo>
                    <a:pt x="727" y="282"/>
                  </a:lnTo>
                  <a:lnTo>
                    <a:pt x="747" y="291"/>
                  </a:lnTo>
                  <a:lnTo>
                    <a:pt x="770" y="301"/>
                  </a:lnTo>
                  <a:lnTo>
                    <a:pt x="792" y="312"/>
                  </a:lnTo>
                  <a:lnTo>
                    <a:pt x="812" y="322"/>
                  </a:lnTo>
                  <a:lnTo>
                    <a:pt x="831" y="334"/>
                  </a:lnTo>
                  <a:lnTo>
                    <a:pt x="848" y="344"/>
                  </a:lnTo>
                  <a:lnTo>
                    <a:pt x="865" y="356"/>
                  </a:lnTo>
                  <a:lnTo>
                    <a:pt x="884" y="367"/>
                  </a:lnTo>
                  <a:lnTo>
                    <a:pt x="905" y="382"/>
                  </a:lnTo>
                  <a:lnTo>
                    <a:pt x="924" y="396"/>
                  </a:lnTo>
                  <a:lnTo>
                    <a:pt x="942" y="410"/>
                  </a:lnTo>
                  <a:lnTo>
                    <a:pt x="959" y="422"/>
                  </a:lnTo>
                  <a:lnTo>
                    <a:pt x="986" y="445"/>
                  </a:lnTo>
                  <a:lnTo>
                    <a:pt x="1014" y="471"/>
                  </a:lnTo>
                  <a:lnTo>
                    <a:pt x="1036" y="491"/>
                  </a:lnTo>
                  <a:lnTo>
                    <a:pt x="1062" y="520"/>
                  </a:lnTo>
                  <a:lnTo>
                    <a:pt x="1080" y="541"/>
                  </a:lnTo>
                  <a:lnTo>
                    <a:pt x="1100" y="565"/>
                  </a:lnTo>
                  <a:lnTo>
                    <a:pt x="1122" y="592"/>
                  </a:lnTo>
                  <a:lnTo>
                    <a:pt x="1140" y="618"/>
                  </a:lnTo>
                  <a:lnTo>
                    <a:pt x="1158" y="647"/>
                  </a:lnTo>
                  <a:lnTo>
                    <a:pt x="1177" y="675"/>
                  </a:lnTo>
                  <a:lnTo>
                    <a:pt x="1193" y="705"/>
                  </a:lnTo>
                  <a:lnTo>
                    <a:pt x="1209" y="731"/>
                  </a:lnTo>
                  <a:lnTo>
                    <a:pt x="1224" y="763"/>
                  </a:lnTo>
                  <a:lnTo>
                    <a:pt x="1238" y="794"/>
                  </a:lnTo>
                  <a:lnTo>
                    <a:pt x="1250" y="826"/>
                  </a:lnTo>
                  <a:lnTo>
                    <a:pt x="1262" y="861"/>
                  </a:lnTo>
                  <a:lnTo>
                    <a:pt x="1277" y="904"/>
                  </a:lnTo>
                  <a:lnTo>
                    <a:pt x="1287" y="944"/>
                  </a:lnTo>
                  <a:lnTo>
                    <a:pt x="1297" y="985"/>
                  </a:lnTo>
                  <a:lnTo>
                    <a:pt x="1302" y="1025"/>
                  </a:lnTo>
                  <a:lnTo>
                    <a:pt x="1309" y="1072"/>
                  </a:lnTo>
                  <a:lnTo>
                    <a:pt x="1314" y="1131"/>
                  </a:lnTo>
                  <a:lnTo>
                    <a:pt x="1315" y="1176"/>
                  </a:lnTo>
                  <a:lnTo>
                    <a:pt x="1314" y="1221"/>
                  </a:lnTo>
                  <a:lnTo>
                    <a:pt x="1310" y="1263"/>
                  </a:lnTo>
                  <a:lnTo>
                    <a:pt x="1305" y="1303"/>
                  </a:lnTo>
                  <a:lnTo>
                    <a:pt x="1300" y="1345"/>
                  </a:lnTo>
                  <a:lnTo>
                    <a:pt x="1291" y="1388"/>
                  </a:lnTo>
                  <a:lnTo>
                    <a:pt x="1279" y="1434"/>
                  </a:lnTo>
                  <a:lnTo>
                    <a:pt x="1264" y="1482"/>
                  </a:lnTo>
                  <a:lnTo>
                    <a:pt x="1249" y="1526"/>
                  </a:lnTo>
                  <a:lnTo>
                    <a:pt x="1232" y="1569"/>
                  </a:lnTo>
                  <a:lnTo>
                    <a:pt x="1207" y="1611"/>
                  </a:lnTo>
                  <a:lnTo>
                    <a:pt x="1182" y="1653"/>
                  </a:lnTo>
                  <a:lnTo>
                    <a:pt x="795" y="1429"/>
                  </a:lnTo>
                  <a:lnTo>
                    <a:pt x="816" y="1387"/>
                  </a:lnTo>
                  <a:lnTo>
                    <a:pt x="830" y="1355"/>
                  </a:lnTo>
                  <a:lnTo>
                    <a:pt x="840" y="1320"/>
                  </a:lnTo>
                  <a:lnTo>
                    <a:pt x="849" y="1286"/>
                  </a:lnTo>
                  <a:lnTo>
                    <a:pt x="855" y="1255"/>
                  </a:lnTo>
                  <a:lnTo>
                    <a:pt x="857" y="1224"/>
                  </a:lnTo>
                  <a:lnTo>
                    <a:pt x="860" y="1194"/>
                  </a:lnTo>
                  <a:lnTo>
                    <a:pt x="860" y="1162"/>
                  </a:lnTo>
                  <a:lnTo>
                    <a:pt x="858" y="1125"/>
                  </a:lnTo>
                  <a:lnTo>
                    <a:pt x="853" y="1089"/>
                  </a:lnTo>
                  <a:lnTo>
                    <a:pt x="846" y="1049"/>
                  </a:lnTo>
                  <a:lnTo>
                    <a:pt x="837" y="1017"/>
                  </a:lnTo>
                  <a:lnTo>
                    <a:pt x="823" y="981"/>
                  </a:lnTo>
                  <a:lnTo>
                    <a:pt x="810" y="950"/>
                  </a:lnTo>
                  <a:lnTo>
                    <a:pt x="794" y="920"/>
                  </a:lnTo>
                  <a:lnTo>
                    <a:pt x="780" y="897"/>
                  </a:lnTo>
                  <a:lnTo>
                    <a:pt x="766" y="878"/>
                  </a:lnTo>
                  <a:lnTo>
                    <a:pt x="752" y="859"/>
                  </a:lnTo>
                  <a:lnTo>
                    <a:pt x="736" y="840"/>
                  </a:lnTo>
                  <a:lnTo>
                    <a:pt x="718" y="820"/>
                  </a:lnTo>
                  <a:lnTo>
                    <a:pt x="703" y="806"/>
                  </a:lnTo>
                  <a:lnTo>
                    <a:pt x="686" y="789"/>
                  </a:lnTo>
                  <a:lnTo>
                    <a:pt x="669" y="774"/>
                  </a:lnTo>
                  <a:lnTo>
                    <a:pt x="649" y="759"/>
                  </a:lnTo>
                  <a:lnTo>
                    <a:pt x="625" y="744"/>
                  </a:lnTo>
                  <a:lnTo>
                    <a:pt x="605" y="730"/>
                  </a:lnTo>
                  <a:lnTo>
                    <a:pt x="588" y="721"/>
                  </a:lnTo>
                  <a:lnTo>
                    <a:pt x="563" y="706"/>
                  </a:lnTo>
                  <a:lnTo>
                    <a:pt x="541" y="698"/>
                  </a:lnTo>
                  <a:lnTo>
                    <a:pt x="522" y="691"/>
                  </a:lnTo>
                  <a:lnTo>
                    <a:pt x="502" y="684"/>
                  </a:lnTo>
                  <a:lnTo>
                    <a:pt x="472" y="677"/>
                  </a:lnTo>
                  <a:lnTo>
                    <a:pt x="444" y="672"/>
                  </a:lnTo>
                  <a:lnTo>
                    <a:pt x="415" y="669"/>
                  </a:lnTo>
                  <a:lnTo>
                    <a:pt x="386" y="667"/>
                  </a:lnTo>
                  <a:lnTo>
                    <a:pt x="370" y="666"/>
                  </a:lnTo>
                  <a:lnTo>
                    <a:pt x="370" y="907"/>
                  </a:lnTo>
                  <a:lnTo>
                    <a:pt x="0" y="460"/>
                  </a:lnTo>
                  <a:lnTo>
                    <a:pt x="369" y="0"/>
                  </a:lnTo>
                  <a:lnTo>
                    <a:pt x="369" y="207"/>
                  </a:lnTo>
                  <a:lnTo>
                    <a:pt x="389" y="208"/>
                  </a:lnTo>
                  <a:lnTo>
                    <a:pt x="418" y="209"/>
                  </a:lnTo>
                  <a:lnTo>
                    <a:pt x="448" y="211"/>
                  </a:lnTo>
                  <a:lnTo>
                    <a:pt x="477" y="214"/>
                  </a:lnTo>
                  <a:lnTo>
                    <a:pt x="501" y="217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5227638" y="1371600"/>
              <a:ext cx="1752600" cy="1219200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LAW</a:t>
              </a:r>
            </a:p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Vitrification </a:t>
              </a:r>
            </a:p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(90+% of </a:t>
              </a:r>
            </a:p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waste mass)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151438" y="3505200"/>
              <a:ext cx="1752600" cy="1217613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HLW</a:t>
              </a:r>
            </a:p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Vitrification</a:t>
              </a:r>
            </a:p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(90+% of</a:t>
              </a:r>
            </a:p>
            <a:p>
              <a:pPr algn="ctr" eaLnBrk="0" hangingPunct="0"/>
              <a:r>
                <a:rPr lang="en-US" sz="1700" b="1">
                  <a:solidFill>
                    <a:schemeClr val="bg1"/>
                  </a:solidFill>
                </a:rPr>
                <a:t>waste activity)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865438" y="2362200"/>
              <a:ext cx="1828800" cy="1270000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700" b="1" dirty="0">
                  <a:solidFill>
                    <a:schemeClr val="bg1"/>
                  </a:solidFill>
                </a:rPr>
                <a:t>Pretreatment</a:t>
              </a:r>
            </a:p>
            <a:p>
              <a:pPr algn="ctr" eaLnBrk="0" hangingPunct="0"/>
              <a:r>
                <a:rPr lang="en-US" sz="1700" b="1" dirty="0">
                  <a:solidFill>
                    <a:schemeClr val="bg1"/>
                  </a:solidFill>
                </a:rPr>
                <a:t>(solid/liquid</a:t>
              </a:r>
            </a:p>
            <a:p>
              <a:pPr algn="ctr" eaLnBrk="0" hangingPunct="0"/>
              <a:r>
                <a:rPr lang="en-US" sz="1700" b="1" dirty="0">
                  <a:solidFill>
                    <a:schemeClr val="bg1"/>
                  </a:solidFill>
                </a:rPr>
                <a:t>separation – Cs, </a:t>
              </a:r>
            </a:p>
            <a:p>
              <a:pPr algn="ctr" eaLnBrk="0" hangingPunct="0"/>
              <a:r>
                <a:rPr lang="en-US" sz="1700" b="1" dirty="0" err="1">
                  <a:solidFill>
                    <a:schemeClr val="bg1"/>
                  </a:solidFill>
                </a:rPr>
                <a:t>Sr</a:t>
              </a:r>
              <a:r>
                <a:rPr lang="en-US" sz="1700" b="1" dirty="0">
                  <a:solidFill>
                    <a:schemeClr val="bg1"/>
                  </a:solidFill>
                </a:rPr>
                <a:t>, TRU removal)</a:t>
              </a:r>
            </a:p>
          </p:txBody>
        </p: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112838" y="3198813"/>
              <a:ext cx="1497012" cy="1606550"/>
              <a:chOff x="144" y="2256"/>
              <a:chExt cx="943" cy="1010"/>
            </a:xfrm>
          </p:grpSpPr>
          <p:sp>
            <p:nvSpPr>
              <p:cNvPr id="15" name="AutoShape 10"/>
              <p:cNvSpPr>
                <a:spLocks noChangeArrowheads="1"/>
              </p:cNvSpPr>
              <p:nvPr/>
            </p:nvSpPr>
            <p:spPr bwMode="auto">
              <a:xfrm>
                <a:off x="192" y="2256"/>
                <a:ext cx="864" cy="960"/>
              </a:xfrm>
              <a:prstGeom prst="can">
                <a:avLst>
                  <a:gd name="adj" fmla="val 16908"/>
                </a:avLst>
              </a:prstGeom>
              <a:solidFill>
                <a:srgbClr val="EAEAEA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AutoShape 11"/>
              <p:cNvSpPr>
                <a:spLocks noChangeArrowheads="1"/>
              </p:cNvSpPr>
              <p:nvPr/>
            </p:nvSpPr>
            <p:spPr bwMode="auto">
              <a:xfrm>
                <a:off x="192" y="2496"/>
                <a:ext cx="864" cy="576"/>
              </a:xfrm>
              <a:prstGeom prst="can">
                <a:avLst>
                  <a:gd name="adj" fmla="val 22528"/>
                </a:avLst>
              </a:prstGeom>
              <a:solidFill>
                <a:srgbClr val="FFCC99">
                  <a:alpha val="50195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AutoShape 12"/>
              <p:cNvSpPr>
                <a:spLocks noChangeArrowheads="1"/>
              </p:cNvSpPr>
              <p:nvPr/>
            </p:nvSpPr>
            <p:spPr bwMode="auto">
              <a:xfrm>
                <a:off x="192" y="2928"/>
                <a:ext cx="864" cy="336"/>
              </a:xfrm>
              <a:prstGeom prst="can">
                <a:avLst>
                  <a:gd name="adj" fmla="val 42856"/>
                </a:avLst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36" y="3072"/>
                <a:ext cx="58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400">
                    <a:solidFill>
                      <a:schemeClr val="bg1"/>
                    </a:solidFill>
                  </a:rPr>
                  <a:t>SLUDGE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44" y="2688"/>
                <a:ext cx="94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400"/>
                  <a:t>SUPERNATANT</a:t>
                </a:r>
              </a:p>
            </p:txBody>
          </p:sp>
        </p:grpSp>
        <p:sp>
          <p:nvSpPr>
            <p:cNvPr id="11" name="AutoShape 15"/>
            <p:cNvSpPr>
              <a:spLocks noChangeArrowheads="1"/>
            </p:cNvSpPr>
            <p:nvPr/>
          </p:nvSpPr>
          <p:spPr bwMode="auto">
            <a:xfrm>
              <a:off x="2103438" y="2438400"/>
              <a:ext cx="685800" cy="685800"/>
            </a:xfrm>
            <a:custGeom>
              <a:avLst/>
              <a:gdLst>
                <a:gd name="T0" fmla="*/ 484121920 w 21600"/>
                <a:gd name="T1" fmla="*/ 0 h 21600"/>
                <a:gd name="T2" fmla="*/ 484121920 w 21600"/>
                <a:gd name="T3" fmla="*/ 388737080 h 21600"/>
                <a:gd name="T4" fmla="*/ 103603610 w 21600"/>
                <a:gd name="T5" fmla="*/ 690632608 h 21600"/>
                <a:gd name="T6" fmla="*/ 691329076 w 21600"/>
                <a:gd name="T7" fmla="*/ 19436854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4157663" y="1828800"/>
              <a:ext cx="8667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1200" b="1"/>
                <a:t>Maximize</a:t>
              </a:r>
            </a:p>
            <a:p>
              <a:pPr algn="ctr"/>
              <a:r>
                <a:rPr lang="en-US" sz="1200" b="1"/>
                <a:t>Mass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4005263" y="3810000"/>
              <a:ext cx="8667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1200" b="1"/>
                <a:t>Maximize</a:t>
              </a:r>
            </a:p>
            <a:p>
              <a:pPr algn="ctr"/>
              <a:r>
                <a:rPr lang="en-US" sz="1200" b="1"/>
                <a:t>Activity</a:t>
              </a:r>
            </a:p>
          </p:txBody>
        </p:sp>
        <p:sp>
          <p:nvSpPr>
            <p:cNvPr id="14" name="Text Box 20"/>
            <p:cNvSpPr txBox="1">
              <a:spLocks noChangeArrowheads="1"/>
            </p:cNvSpPr>
            <p:nvPr/>
          </p:nvSpPr>
          <p:spPr bwMode="auto">
            <a:xfrm>
              <a:off x="1066800" y="4930775"/>
              <a:ext cx="17922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1600" b="1"/>
                <a:t>Hanford Tank</a:t>
              </a:r>
            </a:p>
            <a:p>
              <a:pPr algn="ctr" eaLnBrk="1" hangingPunct="1"/>
              <a:r>
                <a:rPr lang="en-US" sz="1600" b="1"/>
                <a:t>Waste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51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1447800"/>
            <a:ext cx="89154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0" dirty="0">
                <a:latin typeface="+mn-lt"/>
              </a:rPr>
              <a:t>It </a:t>
            </a:r>
            <a:r>
              <a:rPr lang="en-US" sz="2400" b="0" dirty="0" smtClean="0">
                <a:latin typeface="+mn-lt"/>
              </a:rPr>
              <a:t>is likely </a:t>
            </a:r>
            <a:r>
              <a:rPr lang="en-US" sz="2400" b="0" dirty="0">
                <a:latin typeface="+mn-lt"/>
              </a:rPr>
              <a:t>that the capacity of the LAW </a:t>
            </a:r>
            <a:r>
              <a:rPr lang="en-US" sz="2400" b="0" dirty="0" err="1">
                <a:latin typeface="+mn-lt"/>
              </a:rPr>
              <a:t>vitrification</a:t>
            </a:r>
            <a:r>
              <a:rPr lang="en-US" sz="2400" b="0" dirty="0">
                <a:latin typeface="+mn-lt"/>
              </a:rPr>
              <a:t> plant can be increased incrementally </a:t>
            </a:r>
            <a:r>
              <a:rPr lang="en-US" sz="2400" b="0" dirty="0" smtClean="0">
                <a:latin typeface="+mn-lt"/>
              </a:rPr>
              <a:t>by implementation </a:t>
            </a:r>
            <a:r>
              <a:rPr lang="en-US" sz="2400" b="0" dirty="0">
                <a:latin typeface="+mn-lt"/>
              </a:rPr>
              <a:t>of a variety of low-risk, high-probability changes, either separately or </a:t>
            </a:r>
            <a:r>
              <a:rPr lang="en-US" sz="2400" b="0" dirty="0" smtClean="0">
                <a:latin typeface="+mn-lt"/>
              </a:rPr>
              <a:t>in combination</a:t>
            </a:r>
            <a:r>
              <a:rPr lang="en-US" sz="2400" b="0" dirty="0">
                <a:latin typeface="+mn-lt"/>
              </a:rPr>
              <a:t>. These changes include</a:t>
            </a:r>
            <a:r>
              <a:rPr lang="en-US" sz="2400" b="0" dirty="0" smtClean="0">
                <a:latin typeface="+mn-lt"/>
              </a:rPr>
              <a:t>:</a:t>
            </a:r>
          </a:p>
          <a:p>
            <a:pPr algn="l"/>
            <a:endParaRPr lang="en-US" sz="2400" b="0" dirty="0">
              <a:latin typeface="+mn-lt"/>
            </a:endParaRPr>
          </a:p>
          <a:p>
            <a:pPr marL="285750" indent="-285750" algn="l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 smtClean="0">
                <a:latin typeface="+mn-lt"/>
              </a:rPr>
              <a:t>Operating </a:t>
            </a:r>
            <a:r>
              <a:rPr lang="en-US" sz="2400" b="0" dirty="0">
                <a:latin typeface="+mn-lt"/>
              </a:rPr>
              <a:t>at the higher processing rates demonstrated at the LAW pilot melter</a:t>
            </a:r>
          </a:p>
          <a:p>
            <a:pPr marL="285750" indent="-285750" algn="l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 smtClean="0">
                <a:latin typeface="+mn-lt"/>
              </a:rPr>
              <a:t>Increasing </a:t>
            </a:r>
            <a:r>
              <a:rPr lang="en-US" sz="2400" b="0" dirty="0">
                <a:latin typeface="+mn-lt"/>
              </a:rPr>
              <a:t>the glass pool surface area within the existing external melter envelope</a:t>
            </a:r>
          </a:p>
          <a:p>
            <a:pPr marL="285750" indent="-285750" algn="l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 smtClean="0">
                <a:latin typeface="+mn-lt"/>
              </a:rPr>
              <a:t>Increasing </a:t>
            </a:r>
            <a:r>
              <a:rPr lang="en-US" sz="2400" b="0" dirty="0">
                <a:latin typeface="+mn-lt"/>
              </a:rPr>
              <a:t>the glass waste loading</a:t>
            </a:r>
          </a:p>
          <a:p>
            <a:pPr marL="285750" indent="-285750" algn="l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 smtClean="0">
                <a:latin typeface="+mn-lt"/>
              </a:rPr>
              <a:t>Operating </a:t>
            </a:r>
            <a:r>
              <a:rPr lang="en-US" sz="2400" b="0" dirty="0">
                <a:latin typeface="+mn-lt"/>
              </a:rPr>
              <a:t>the melter at a slightly higher </a:t>
            </a:r>
            <a:r>
              <a:rPr lang="en-US" sz="2400" b="0" dirty="0" smtClean="0">
                <a:latin typeface="+mn-lt"/>
              </a:rPr>
              <a:t>temperature</a:t>
            </a:r>
          </a:p>
          <a:p>
            <a:pPr algn="l"/>
            <a:endParaRPr lang="en-US" b="0" dirty="0">
              <a:latin typeface="+mn-lt"/>
            </a:endParaRPr>
          </a:p>
          <a:p>
            <a:pPr algn="l"/>
            <a:endParaRPr lang="en-US" b="0" dirty="0" smtClean="0">
              <a:latin typeface="+mn-lt"/>
            </a:endParaRPr>
          </a:p>
          <a:p>
            <a:pPr algn="l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553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562600"/>
          </a:xfrm>
        </p:spPr>
        <p:txBody>
          <a:bodyPr>
            <a:noAutofit/>
          </a:bodyPr>
          <a:lstStyle/>
          <a:p>
            <a:r>
              <a:rPr lang="en-US" sz="2200" dirty="0"/>
              <a:t>These approaches successfully demonstrated increases in glass production rates </a:t>
            </a:r>
            <a:r>
              <a:rPr lang="en-US" sz="2200" dirty="0" smtClean="0"/>
              <a:t>and significant </a:t>
            </a:r>
            <a:r>
              <a:rPr lang="en-US" sz="2200" dirty="0"/>
              <a:t>increases in sulfate incorporation at the nominal melter operating temperature </a:t>
            </a:r>
            <a:r>
              <a:rPr lang="en-US" sz="2200" dirty="0" smtClean="0"/>
              <a:t>of 1150° C. </a:t>
            </a:r>
          </a:p>
          <a:p>
            <a:r>
              <a:rPr lang="en-US" sz="2200" dirty="0" smtClean="0"/>
              <a:t>Subsequent tests demonstrated </a:t>
            </a:r>
            <a:r>
              <a:rPr lang="en-US" sz="2200" dirty="0"/>
              <a:t>further enhancement of glass formulations for all of the LAW waste </a:t>
            </a:r>
            <a:r>
              <a:rPr lang="en-US" sz="2200" dirty="0" smtClean="0"/>
              <a:t>envelopes, thereby </a:t>
            </a:r>
            <a:r>
              <a:rPr lang="en-US" sz="2200" dirty="0"/>
              <a:t>reducing the amount of glass to be produced by the WTP for the same amount of </a:t>
            </a:r>
            <a:r>
              <a:rPr lang="en-US" sz="2200" dirty="0" smtClean="0"/>
              <a:t>waste processed.</a:t>
            </a:r>
          </a:p>
          <a:p>
            <a:r>
              <a:rPr lang="en-US" sz="2200" dirty="0"/>
              <a:t>This approach was subsequently applied to an even wider range of LAW wastes types, including those with high potassium concentration. The feasibility of formulating higher waste loading glasses using SnO</a:t>
            </a:r>
            <a:r>
              <a:rPr lang="en-US" sz="2200" baseline="-25000" dirty="0"/>
              <a:t>2</a:t>
            </a:r>
            <a:r>
              <a:rPr lang="en-US" sz="2200" dirty="0"/>
              <a:t> and V</a:t>
            </a:r>
            <a:r>
              <a:rPr lang="en-US" sz="2200" baseline="-25000" dirty="0"/>
              <a:t>2</a:t>
            </a:r>
            <a:r>
              <a:rPr lang="en-US" sz="2200" dirty="0"/>
              <a:t>O</a:t>
            </a:r>
            <a:r>
              <a:rPr lang="en-US" sz="2200" baseline="-25000" dirty="0"/>
              <a:t>5</a:t>
            </a:r>
            <a:r>
              <a:rPr lang="en-US" sz="2200" dirty="0"/>
              <a:t> in place of Fe</a:t>
            </a:r>
            <a:r>
              <a:rPr lang="en-US" sz="2200" baseline="-25000" dirty="0"/>
              <a:t>2</a:t>
            </a:r>
            <a:r>
              <a:rPr lang="en-US" sz="2200" dirty="0"/>
              <a:t>O</a:t>
            </a:r>
            <a:r>
              <a:rPr lang="en-US" sz="2200" baseline="-25000" dirty="0"/>
              <a:t>3</a:t>
            </a:r>
            <a:r>
              <a:rPr lang="en-US" sz="2200" dirty="0"/>
              <a:t> and TiO</a:t>
            </a:r>
            <a:r>
              <a:rPr lang="en-US" sz="2200" baseline="-25000" dirty="0"/>
              <a:t>2</a:t>
            </a:r>
            <a:r>
              <a:rPr lang="en-US" sz="2200" dirty="0"/>
              <a:t> as glass former additives was also evaluated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</a:t>
            </a:r>
            <a:r>
              <a:rPr lang="en-US" sz="2200" dirty="0"/>
              <a:t>next phase of testing determined the applicability of these </a:t>
            </a:r>
            <a:r>
              <a:rPr lang="en-US" sz="2200" dirty="0" smtClean="0"/>
              <a:t>improvements over </a:t>
            </a:r>
            <a:r>
              <a:rPr lang="en-US" sz="2200" dirty="0"/>
              <a:t>the expected range of sodium and sulfur concentrations for Hanford </a:t>
            </a:r>
            <a:r>
              <a:rPr lang="en-US" sz="2200" dirty="0" smtClean="0"/>
              <a:t>LAW. </a:t>
            </a:r>
            <a:endParaRPr lang="en-US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1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Melter Scale Comparison</a:t>
            </a:r>
            <a:endParaRPr lang="en-US" dirty="0"/>
          </a:p>
        </p:txBody>
      </p:sp>
      <p:grpSp>
        <p:nvGrpSpPr>
          <p:cNvPr id="5" name="Group 4"/>
          <p:cNvGrpSpPr>
            <a:grpSpLocks noGrp="1"/>
          </p:cNvGrpSpPr>
          <p:nvPr/>
        </p:nvGrpSpPr>
        <p:grpSpPr bwMode="auto">
          <a:xfrm>
            <a:off x="457200" y="1752600"/>
            <a:ext cx="8229600" cy="4647758"/>
            <a:chOff x="624" y="768"/>
            <a:chExt cx="5120" cy="3017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840" y="1920"/>
              <a:ext cx="136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6" tIns="45713" rIns="91426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1400" b="1">
                  <a:ea typeface="Geneva"/>
                  <a:cs typeface="Geneva"/>
                </a:rPr>
                <a:t>WTP High Level Waste 3.75 m</a:t>
              </a:r>
              <a:r>
                <a:rPr lang="en-US" sz="1400" b="1" baseline="30000">
                  <a:ea typeface="Geneva"/>
                  <a:cs typeface="Geneva"/>
                </a:rPr>
                <a:t>2</a:t>
              </a:r>
              <a:endParaRPr lang="en-US" sz="1400" b="1">
                <a:ea typeface="Geneva"/>
                <a:cs typeface="Geneva"/>
              </a:endParaRPr>
            </a:p>
          </p:txBody>
        </p: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3840" y="768"/>
              <a:ext cx="1680" cy="873"/>
              <a:chOff x="3840" y="768"/>
              <a:chExt cx="1680" cy="873"/>
            </a:xfrm>
          </p:grpSpPr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3840" y="768"/>
                <a:ext cx="1152" cy="749"/>
              </a:xfrm>
              <a:prstGeom prst="rect">
                <a:avLst/>
              </a:prstGeom>
              <a:solidFill>
                <a:srgbClr val="99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Rectangle 8"/>
              <p:cNvSpPr>
                <a:spLocks noChangeArrowheads="1"/>
              </p:cNvSpPr>
              <p:nvPr/>
            </p:nvSpPr>
            <p:spPr bwMode="auto">
              <a:xfrm>
                <a:off x="4368" y="1008"/>
                <a:ext cx="1152" cy="633"/>
              </a:xfrm>
              <a:prstGeom prst="rect">
                <a:avLst/>
              </a:prstGeom>
              <a:solidFill>
                <a:srgbClr val="80008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Text Box 9"/>
              <p:cNvSpPr txBox="1">
                <a:spLocks noChangeArrowheads="1"/>
              </p:cNvSpPr>
              <p:nvPr/>
            </p:nvSpPr>
            <p:spPr bwMode="auto">
              <a:xfrm>
                <a:off x="4559" y="1209"/>
                <a:ext cx="851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6" tIns="45713" rIns="91426" bIns="45713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sz="1600" b="1">
                    <a:solidFill>
                      <a:schemeClr val="bg1"/>
                    </a:solidFill>
                    <a:ea typeface="Geneva"/>
                    <a:cs typeface="Geneva"/>
                  </a:rPr>
                  <a:t>West Valley </a:t>
                </a:r>
              </a:p>
              <a:p>
                <a:pPr eaLnBrk="1" hangingPunct="1"/>
                <a:r>
                  <a:rPr lang="en-US" sz="1600" b="1">
                    <a:solidFill>
                      <a:schemeClr val="bg1"/>
                    </a:solidFill>
                    <a:ea typeface="Geneva"/>
                    <a:cs typeface="Geneva"/>
                  </a:rPr>
                  <a:t>2.2 m</a:t>
                </a:r>
                <a:r>
                  <a:rPr lang="en-US" sz="1600" b="1" baseline="30000">
                    <a:solidFill>
                      <a:schemeClr val="bg1"/>
                    </a:solidFill>
                    <a:ea typeface="Geneva"/>
                    <a:cs typeface="Geneva"/>
                  </a:rPr>
                  <a:t>2</a:t>
                </a:r>
                <a:endParaRPr lang="en-US" sz="1600" b="1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  <p:sp>
            <p:nvSpPr>
              <p:cNvPr id="28" name="Text Box 10"/>
              <p:cNvSpPr txBox="1">
                <a:spLocks noChangeArrowheads="1"/>
              </p:cNvSpPr>
              <p:nvPr/>
            </p:nvSpPr>
            <p:spPr bwMode="auto">
              <a:xfrm>
                <a:off x="3840" y="768"/>
                <a:ext cx="1107" cy="5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6" tIns="45713" rIns="91426" bIns="45713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sz="1600" b="1">
                    <a:solidFill>
                      <a:schemeClr val="bg1"/>
                    </a:solidFill>
                    <a:ea typeface="Geneva"/>
                    <a:cs typeface="Geneva"/>
                  </a:rPr>
                  <a:t>Savannah River </a:t>
                </a:r>
              </a:p>
              <a:p>
                <a:pPr eaLnBrk="1" hangingPunct="1"/>
                <a:r>
                  <a:rPr lang="en-US" sz="1600" b="1">
                    <a:solidFill>
                      <a:schemeClr val="bg1"/>
                    </a:solidFill>
                    <a:ea typeface="Geneva"/>
                    <a:cs typeface="Geneva"/>
                  </a:rPr>
                  <a:t>DWPF-SRS </a:t>
                </a:r>
              </a:p>
              <a:p>
                <a:pPr eaLnBrk="1" hangingPunct="1"/>
                <a:r>
                  <a:rPr lang="en-US" sz="1600" b="1">
                    <a:solidFill>
                      <a:schemeClr val="bg1"/>
                    </a:solidFill>
                    <a:ea typeface="Geneva"/>
                    <a:cs typeface="Geneva"/>
                  </a:rPr>
                  <a:t>2.4 m</a:t>
                </a:r>
                <a:r>
                  <a:rPr lang="en-US" sz="1600" b="1" baseline="30000">
                    <a:solidFill>
                      <a:schemeClr val="bg1"/>
                    </a:solidFill>
                    <a:ea typeface="Geneva"/>
                    <a:cs typeface="Geneva"/>
                  </a:rPr>
                  <a:t>2</a:t>
                </a:r>
                <a:endParaRPr lang="en-US" sz="1600" b="1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</p:grpSp>
        <p:sp>
          <p:nvSpPr>
            <p:cNvPr id="8" name="Line 11"/>
            <p:cNvSpPr>
              <a:spLocks noChangeShapeType="1"/>
            </p:cNvSpPr>
            <p:nvPr/>
          </p:nvSpPr>
          <p:spPr bwMode="auto">
            <a:xfrm flipV="1">
              <a:off x="3563" y="210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 flipV="1">
              <a:off x="4378" y="3523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13"/>
            <p:cNvGrpSpPr>
              <a:grpSpLocks/>
            </p:cNvGrpSpPr>
            <p:nvPr/>
          </p:nvGrpSpPr>
          <p:grpSpPr bwMode="auto">
            <a:xfrm>
              <a:off x="624" y="1392"/>
              <a:ext cx="3793" cy="2393"/>
              <a:chOff x="624" y="1392"/>
              <a:chExt cx="3793" cy="2393"/>
            </a:xfrm>
          </p:grpSpPr>
          <p:sp>
            <p:nvSpPr>
              <p:cNvPr id="14" name="Rectangle 14"/>
              <p:cNvSpPr>
                <a:spLocks noChangeAspect="1" noChangeArrowheads="1"/>
              </p:cNvSpPr>
              <p:nvPr/>
            </p:nvSpPr>
            <p:spPr bwMode="auto">
              <a:xfrm>
                <a:off x="624" y="1392"/>
                <a:ext cx="2303" cy="1440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26" tIns="45713" rIns="91426" bIns="45713" anchor="ctr"/>
              <a:lstStyle/>
              <a:p>
                <a:pPr algn="ctr"/>
                <a:endParaRPr lang="en-US" sz="2000">
                  <a:ea typeface="Geneva"/>
                  <a:cs typeface="Geneva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1728" y="1824"/>
                <a:ext cx="1440" cy="1152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Rectangle 16"/>
              <p:cNvSpPr>
                <a:spLocks noChangeArrowheads="1"/>
              </p:cNvSpPr>
              <p:nvPr/>
            </p:nvSpPr>
            <p:spPr bwMode="auto">
              <a:xfrm>
                <a:off x="2391" y="2283"/>
                <a:ext cx="1267" cy="1008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17"/>
              <p:cNvSpPr>
                <a:spLocks noChangeArrowheads="1"/>
              </p:cNvSpPr>
              <p:nvPr/>
            </p:nvSpPr>
            <p:spPr bwMode="auto">
              <a:xfrm>
                <a:off x="2622" y="2431"/>
                <a:ext cx="1267" cy="864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697" y="1427"/>
                <a:ext cx="1995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6" tIns="45713" rIns="91426" bIns="45713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sz="2000" b="1">
                    <a:solidFill>
                      <a:schemeClr val="bg1"/>
                    </a:solidFill>
                    <a:ea typeface="Geneva"/>
                    <a:cs typeface="Geneva"/>
                  </a:rPr>
                  <a:t>WTP Low Activity Waste </a:t>
                </a:r>
              </a:p>
              <a:p>
                <a:pPr eaLnBrk="1" hangingPunct="1"/>
                <a:r>
                  <a:rPr lang="en-US" sz="2000" b="1">
                    <a:solidFill>
                      <a:schemeClr val="bg1"/>
                    </a:solidFill>
                    <a:ea typeface="Geneva"/>
                    <a:cs typeface="Geneva"/>
                  </a:rPr>
                  <a:t>RPP-LAW  10 m</a:t>
                </a:r>
                <a:r>
                  <a:rPr lang="en-US" sz="2000" b="1" baseline="30000">
                    <a:solidFill>
                      <a:schemeClr val="bg1"/>
                    </a:solidFill>
                    <a:ea typeface="Geneva"/>
                    <a:cs typeface="Geneva"/>
                  </a:rPr>
                  <a:t>2</a:t>
                </a:r>
                <a:endParaRPr lang="en-US" sz="2000" b="1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1728" y="1806"/>
                <a:ext cx="1392" cy="4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6" tIns="45713" rIns="91426" bIns="45713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sz="1400" b="1" dirty="0">
                    <a:solidFill>
                      <a:schemeClr val="bg1"/>
                    </a:solidFill>
                    <a:ea typeface="Geneva"/>
                    <a:cs typeface="Geneva"/>
                  </a:rPr>
                  <a:t>Energy</a:t>
                </a:r>
                <a:r>
                  <a:rPr lang="en-US" sz="1400" b="1" i="1" dirty="0">
                    <a:solidFill>
                      <a:schemeClr val="bg1"/>
                    </a:solidFill>
                    <a:ea typeface="Geneva"/>
                    <a:cs typeface="Geneva"/>
                  </a:rPr>
                  <a:t>Solutions</a:t>
                </a:r>
                <a:r>
                  <a:rPr lang="en-US" sz="1400" b="1" dirty="0">
                    <a:solidFill>
                      <a:schemeClr val="bg1"/>
                    </a:solidFill>
                    <a:ea typeface="Geneva"/>
                    <a:cs typeface="Geneva"/>
                  </a:rPr>
                  <a:t> </a:t>
                </a:r>
                <a:br>
                  <a:rPr lang="en-US" sz="1400" b="1" dirty="0">
                    <a:solidFill>
                      <a:schemeClr val="bg1"/>
                    </a:solidFill>
                    <a:ea typeface="Geneva"/>
                    <a:cs typeface="Geneva"/>
                  </a:rPr>
                </a:br>
                <a:r>
                  <a:rPr lang="en-US" sz="1400" b="1" dirty="0">
                    <a:solidFill>
                      <a:schemeClr val="bg1"/>
                    </a:solidFill>
                    <a:ea typeface="Geneva"/>
                    <a:cs typeface="Geneva"/>
                  </a:rPr>
                  <a:t>M-Area Mixed Waste DM-5000 5m</a:t>
                </a:r>
                <a:r>
                  <a:rPr lang="en-US" sz="1400" b="1" baseline="30000" dirty="0">
                    <a:solidFill>
                      <a:schemeClr val="bg1"/>
                    </a:solidFill>
                    <a:ea typeface="Geneva"/>
                    <a:cs typeface="Geneva"/>
                  </a:rPr>
                  <a:t>2</a:t>
                </a:r>
                <a:endParaRPr lang="en-US" sz="1400" b="1" dirty="0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2670" y="2479"/>
                <a:ext cx="1152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6" tIns="45713" rIns="91426" bIns="45713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chemeClr val="bg1"/>
                    </a:solidFill>
                    <a:ea typeface="Geneva"/>
                    <a:cs typeface="Geneva"/>
                  </a:rPr>
                  <a:t>LAW Pilot </a:t>
                </a:r>
              </a:p>
              <a:p>
                <a:pPr eaLnBrk="1" hangingPunct="1"/>
                <a:r>
                  <a:rPr lang="en-US" sz="1400" b="1">
                    <a:solidFill>
                      <a:schemeClr val="bg1"/>
                    </a:solidFill>
                    <a:ea typeface="Geneva"/>
                    <a:cs typeface="Geneva"/>
                  </a:rPr>
                  <a:t>DM-3300 3.3 m</a:t>
                </a:r>
                <a:r>
                  <a:rPr lang="en-US" sz="1400" b="1" baseline="30000">
                    <a:solidFill>
                      <a:schemeClr val="bg1"/>
                    </a:solidFill>
                    <a:ea typeface="Geneva"/>
                    <a:cs typeface="Geneva"/>
                  </a:rPr>
                  <a:t>2</a:t>
                </a:r>
                <a:endParaRPr lang="en-US" sz="1400" b="1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  <p:sp>
            <p:nvSpPr>
              <p:cNvPr id="21" name="Rectangle 21"/>
              <p:cNvSpPr>
                <a:spLocks noChangeArrowheads="1"/>
              </p:cNvSpPr>
              <p:nvPr/>
            </p:nvSpPr>
            <p:spPr bwMode="auto">
              <a:xfrm>
                <a:off x="3390" y="3055"/>
                <a:ext cx="691" cy="576"/>
              </a:xfrm>
              <a:prstGeom prst="rect">
                <a:avLst/>
              </a:prstGeom>
              <a:solidFill>
                <a:srgbClr val="297B5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26" tIns="45713" rIns="91426" bIns="45713" anchor="ctr"/>
              <a:lstStyle/>
              <a:p>
                <a:pPr algn="ctr"/>
                <a:endParaRPr lang="en-US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  <p:sp>
            <p:nvSpPr>
              <p:cNvPr id="22" name="Rectangle 22"/>
              <p:cNvSpPr>
                <a:spLocks noChangeArrowheads="1"/>
              </p:cNvSpPr>
              <p:nvPr/>
            </p:nvSpPr>
            <p:spPr bwMode="auto">
              <a:xfrm>
                <a:off x="4014" y="3583"/>
                <a:ext cx="288" cy="144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Rectangle 23"/>
              <p:cNvSpPr>
                <a:spLocks noChangeArrowheads="1"/>
              </p:cNvSpPr>
              <p:nvPr/>
            </p:nvSpPr>
            <p:spPr bwMode="auto">
              <a:xfrm>
                <a:off x="4302" y="3727"/>
                <a:ext cx="115" cy="58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Text Box 24"/>
              <p:cNvSpPr txBox="1">
                <a:spLocks noChangeArrowheads="1"/>
              </p:cNvSpPr>
              <p:nvPr/>
            </p:nvSpPr>
            <p:spPr bwMode="auto">
              <a:xfrm>
                <a:off x="3299" y="3103"/>
                <a:ext cx="817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6" tIns="45713" rIns="91426" bIns="45713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US" sz="1000" b="1" dirty="0">
                    <a:solidFill>
                      <a:schemeClr val="bg1"/>
                    </a:solidFill>
                    <a:ea typeface="Geneva"/>
                    <a:cs typeface="Geneva"/>
                  </a:rPr>
                  <a:t>Hanford </a:t>
                </a:r>
                <a:br>
                  <a:rPr lang="en-US" sz="1000" b="1" dirty="0">
                    <a:solidFill>
                      <a:schemeClr val="bg1"/>
                    </a:solidFill>
                    <a:ea typeface="Geneva"/>
                    <a:cs typeface="Geneva"/>
                  </a:rPr>
                </a:br>
                <a:r>
                  <a:rPr lang="en-US" sz="1000" b="1" dirty="0">
                    <a:solidFill>
                      <a:schemeClr val="bg1"/>
                    </a:solidFill>
                    <a:ea typeface="Geneva"/>
                    <a:cs typeface="Geneva"/>
                  </a:rPr>
                  <a:t>HLW Pilot</a:t>
                </a:r>
              </a:p>
              <a:p>
                <a:pPr eaLnBrk="1" hangingPunct="1"/>
                <a:r>
                  <a:rPr lang="en-US" sz="1000" b="1" dirty="0">
                    <a:solidFill>
                      <a:schemeClr val="bg1"/>
                    </a:solidFill>
                    <a:ea typeface="Geneva"/>
                    <a:cs typeface="Geneva"/>
                  </a:rPr>
                  <a:t>DM-1200 1.2 m</a:t>
                </a:r>
                <a:r>
                  <a:rPr lang="en-US" sz="1000" b="1" baseline="30000" dirty="0">
                    <a:solidFill>
                      <a:schemeClr val="bg1"/>
                    </a:solidFill>
                    <a:ea typeface="Geneva"/>
                    <a:cs typeface="Geneva"/>
                  </a:rPr>
                  <a:t>2</a:t>
                </a:r>
                <a:endParaRPr lang="en-US" sz="1000" b="1" dirty="0">
                  <a:solidFill>
                    <a:schemeClr val="bg1"/>
                  </a:solidFill>
                  <a:ea typeface="Geneva"/>
                  <a:cs typeface="Geneva"/>
                </a:endParaRPr>
              </a:p>
            </p:txBody>
          </p:sp>
        </p:grp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4287" y="3079"/>
              <a:ext cx="1428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6" tIns="45713" rIns="91426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1200" b="1">
                  <a:ea typeface="Geneva"/>
                  <a:cs typeface="Geneva"/>
                </a:rPr>
                <a:t>Energy</a:t>
              </a:r>
              <a:r>
                <a:rPr lang="en-US" sz="1200" b="1" i="1">
                  <a:ea typeface="Geneva"/>
                  <a:cs typeface="Geneva"/>
                </a:rPr>
                <a:t>Solutions</a:t>
              </a:r>
              <a:r>
                <a:rPr lang="en-US" sz="1200" b="1">
                  <a:ea typeface="Geneva"/>
                  <a:cs typeface="Geneva"/>
                </a:rPr>
                <a:t>/VSL Test Melters DM-100  0.11 m</a:t>
              </a:r>
              <a:r>
                <a:rPr lang="en-US" sz="1200" b="1" baseline="30000">
                  <a:ea typeface="Geneva"/>
                  <a:cs typeface="Geneva"/>
                </a:rPr>
                <a:t>2</a:t>
              </a:r>
              <a:endParaRPr lang="en-US" sz="1200" b="1">
                <a:ea typeface="Geneva"/>
                <a:cs typeface="Geneva"/>
              </a:endParaRP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4387" y="3408"/>
              <a:ext cx="1357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6" tIns="45713" rIns="91426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1200" b="1">
                  <a:ea typeface="Geneva"/>
                  <a:cs typeface="Geneva"/>
                </a:rPr>
                <a:t>Energy</a:t>
              </a:r>
              <a:r>
                <a:rPr lang="en-US" sz="1200" b="1" i="1">
                  <a:ea typeface="Geneva"/>
                  <a:cs typeface="Geneva"/>
                </a:rPr>
                <a:t>Solutions</a:t>
              </a:r>
              <a:r>
                <a:rPr lang="en-US" sz="1200" b="1">
                  <a:ea typeface="Geneva"/>
                  <a:cs typeface="Geneva"/>
                </a:rPr>
                <a:t>/VSL Test Melters DM-10  0.02 m</a:t>
              </a:r>
              <a:r>
                <a:rPr lang="en-US" sz="1200" b="1" baseline="30000">
                  <a:ea typeface="Geneva"/>
                  <a:cs typeface="Geneva"/>
                </a:rPr>
                <a:t>2</a:t>
              </a:r>
              <a:endParaRPr lang="en-US" sz="1200" b="1">
                <a:ea typeface="Geneva"/>
                <a:cs typeface="Geneva"/>
              </a:endParaRPr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 flipV="1">
              <a:off x="4282" y="337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3526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00599"/>
          </a:xfrm>
        </p:spPr>
        <p:txBody>
          <a:bodyPr>
            <a:noAutofit/>
          </a:bodyPr>
          <a:lstStyle/>
          <a:p>
            <a:r>
              <a:rPr lang="en-US" sz="2800" dirty="0" smtClean="0"/>
              <a:t>A glass </a:t>
            </a:r>
            <a:r>
              <a:rPr lang="en-US" sz="2800" dirty="0"/>
              <a:t>composition previously developed and tested at VSL for LAW from tank </a:t>
            </a:r>
            <a:r>
              <a:rPr lang="en-US" sz="2800" dirty="0" smtClean="0"/>
              <a:t>AN-105 (LAWA187) </a:t>
            </a:r>
            <a:r>
              <a:rPr lang="en-US" sz="2800" dirty="0"/>
              <a:t>was varied by substituting Mg for other glass </a:t>
            </a:r>
            <a:r>
              <a:rPr lang="en-US" sz="2800" dirty="0" smtClean="0"/>
              <a:t>former additives </a:t>
            </a:r>
            <a:r>
              <a:rPr lang="en-US" sz="2800" dirty="0"/>
              <a:t>such as </a:t>
            </a:r>
            <a:r>
              <a:rPr lang="en-US" sz="2800" dirty="0" err="1"/>
              <a:t>Ca</a:t>
            </a:r>
            <a:r>
              <a:rPr lang="en-US" sz="2800" dirty="0"/>
              <a:t>, </a:t>
            </a:r>
            <a:r>
              <a:rPr lang="en-US" sz="2800" dirty="0" smtClean="0"/>
              <a:t>B and </a:t>
            </a:r>
            <a:r>
              <a:rPr lang="en-US" sz="2800" dirty="0"/>
              <a:t>Si in an attempt to formulate a glass with improved properties, </a:t>
            </a:r>
            <a:r>
              <a:rPr lang="en-US" sz="2800" dirty="0" smtClean="0"/>
              <a:t>such as </a:t>
            </a:r>
            <a:r>
              <a:rPr lang="en-US" sz="2800" dirty="0"/>
              <a:t>higher waste </a:t>
            </a:r>
            <a:r>
              <a:rPr lang="en-US" sz="2800" dirty="0" smtClean="0"/>
              <a:t>loading and </a:t>
            </a:r>
            <a:r>
              <a:rPr lang="en-US" sz="2800" dirty="0"/>
              <a:t>greater sulfur tolerance. The results were used to reformulate another glass (</a:t>
            </a:r>
            <a:r>
              <a:rPr lang="en-US" sz="2800" dirty="0" smtClean="0"/>
              <a:t>ORPLG9) developed </a:t>
            </a:r>
            <a:r>
              <a:rPr lang="en-US" sz="2800" dirty="0"/>
              <a:t>for LAW from tank AP-101 that contains </a:t>
            </a:r>
            <a:r>
              <a:rPr lang="en-US" sz="2800" dirty="0" smtClean="0"/>
              <a:t>high concentrations </a:t>
            </a:r>
            <a:r>
              <a:rPr lang="en-US" sz="2800" dirty="0"/>
              <a:t>of alkalis (Na and K).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LAW:  The Good News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0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Glass Formulation for </a:t>
            </a:r>
            <a:r>
              <a:rPr lang="en-US" dirty="0" smtClean="0"/>
              <a:t>LAW </a:t>
            </a:r>
            <a:r>
              <a:rPr lang="en-US" dirty="0"/>
              <a:t>Treatment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945965" y="6324601"/>
            <a:ext cx="53598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00" i="1" dirty="0"/>
              <a:t> Waste Loading Enhancement for Hanford ORP LAW Glasses VSL-10R1790-1, Rev. 0</a:t>
            </a:r>
            <a:endParaRPr lang="en-US" sz="1000" dirty="0"/>
          </a:p>
        </p:txBody>
      </p:sp>
      <p:pic>
        <p:nvPicPr>
          <p:cNvPr id="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1"/>
            <a:ext cx="7543800" cy="485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04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0" dirty="0"/>
              <a:t>Summary of Test Results for Selected ORPLA Glass Formulation ORPLA38-1</a:t>
            </a:r>
          </a:p>
          <a:p>
            <a:r>
              <a:rPr lang="en-US" i="0" dirty="0"/>
              <a:t>and Comparison to ILAW Requirements.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453642"/>
              </p:ext>
            </p:extLst>
          </p:nvPr>
        </p:nvGraphicFramePr>
        <p:xfrm>
          <a:off x="1524000" y="1524000"/>
          <a:ext cx="6096000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914400" algn="l"/>
                          <a:tab pos="-457200" algn="l"/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6286500" algn="r"/>
                        </a:tabLst>
                      </a:pPr>
                      <a:r>
                        <a:rPr lang="en-US" sz="1400" b="1" i="0" dirty="0">
                          <a:effectLst/>
                          <a:latin typeface="+mn-lt"/>
                        </a:rPr>
                        <a:t>Test</a:t>
                      </a:r>
                      <a:endParaRPr lang="en-US" sz="1400" b="1" i="1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+mn-lt"/>
                          <a:ea typeface="Times New Roman"/>
                        </a:rPr>
                        <a:t>Requirement </a:t>
                      </a:r>
                      <a:endParaRPr lang="en-US" sz="14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+mn-lt"/>
                          <a:ea typeface="Times New Roman"/>
                        </a:rPr>
                        <a:t>Test Result for </a:t>
                      </a:r>
                      <a:endParaRPr lang="en-US" sz="1400" dirty="0">
                        <a:effectLst/>
                        <a:latin typeface="+mn-lt"/>
                        <a:ea typeface="Times New Roman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+mn-lt"/>
                          <a:ea typeface="Times New Roman"/>
                        </a:rPr>
                        <a:t>ORPLA38-1</a:t>
                      </a:r>
                      <a:endParaRPr lang="en-US" sz="14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Density of glass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&lt; 3.7 g/cc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2.60 to 2.69 g/cc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*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Crystalline Phase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Phase identification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</a:rPr>
                        <a:t>Clear homogeneous glass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</a:rPr>
                        <a:t>after heat treatment at 9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50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C for 20 hours</a:t>
                      </a: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  <a:latin typeface="+mn-lt"/>
                          <a:ea typeface="Times New Roman"/>
                        </a:rPr>
                        <a:t>Liquidus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dirty="0">
                          <a:effectLst/>
                          <a:latin typeface="+mn-lt"/>
                          <a:ea typeface="Times New Roman"/>
                        </a:rPr>
                        <a:t>&lt; 950</a:t>
                      </a:r>
                      <a:r>
                        <a:rPr lang="fr-FR" sz="1200" baseline="30000" dirty="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fr-FR" sz="1200" dirty="0">
                          <a:effectLst/>
                          <a:latin typeface="+mn-lt"/>
                          <a:ea typeface="Times New Roman"/>
                        </a:rPr>
                        <a:t>C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  <a:latin typeface="+mn-lt"/>
                          <a:ea typeface="Times New Roman"/>
                        </a:rPr>
                        <a:t>&lt; 950</a:t>
                      </a:r>
                      <a:r>
                        <a:rPr lang="fr-FR" sz="1200" baseline="300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fr-FR" sz="1200">
                          <a:effectLst/>
                          <a:latin typeface="+mn-lt"/>
                          <a:ea typeface="Times New Roman"/>
                        </a:rPr>
                        <a:t>C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Centerline </a:t>
                      </a:r>
                      <a:r>
                        <a:rPr lang="en-US" sz="1200" dirty="0" smtClean="0">
                          <a:effectLst/>
                          <a:latin typeface="+mn-lt"/>
                          <a:ea typeface="Times New Roman"/>
                        </a:rPr>
                        <a:t>Container </a:t>
                      </a: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Cooling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Phase identification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</a:rPr>
                        <a:t>Not measured 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4630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PCT B   (g/m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&lt; 2.0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0.73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PCT Na (g/m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&lt; 2.0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  <a:latin typeface="+mn-lt"/>
                          <a:ea typeface="Times New Roman"/>
                        </a:rPr>
                        <a:t>0.68 g/m</a:t>
                      </a:r>
                      <a:r>
                        <a:rPr lang="fr-FR" sz="1200" baseline="30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  <a:latin typeface="+mn-lt"/>
                          <a:ea typeface="Times New Roman"/>
                        </a:rPr>
                        <a:t>PCT Si  (g/m</a:t>
                      </a:r>
                      <a:r>
                        <a:rPr lang="fr-FR" sz="1200" baseline="30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fr-FR" sz="1200">
                          <a:effectLst/>
                          <a:latin typeface="+mn-lt"/>
                          <a:ea typeface="Times New Roman"/>
                        </a:rPr>
                        <a:t>)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&lt; 2.0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0.23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VHT at 200°C (g/m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/day)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&lt; 50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/day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8 g/m</a:t>
                      </a:r>
                      <a:r>
                        <a:rPr lang="en-US" sz="1200" baseline="30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/day</a:t>
                      </a: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Viscosity (poise) at 1100°C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10 to 150 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98 P</a:t>
                      </a: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Conductivity (S/cm) at 1100°C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0.2 to 0.7 S/cm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0.552 S/cm</a:t>
                      </a: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T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G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 (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  <a:sym typeface="Symbol"/>
                        </a:rPr>
                        <a:t>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C)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Report for modeling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Not measured</a:t>
                      </a:r>
                    </a:p>
                  </a:txBody>
                  <a:tcPr marL="68580" marR="68580" marT="0" marB="0" anchor="ctr"/>
                </a:tc>
              </a:tr>
              <a:tr h="228600">
                <a:tc gridSpan="3"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*Density measured for melter glass J10-G-24B (2.60 g/cc) and crucible glass ORPLA38-1 (2.69 g/cc).</a:t>
                      </a:r>
                      <a:endParaRPr lang="en-US" sz="1000" dirty="0"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45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" y="838200"/>
            <a:ext cx="9144000" cy="590550"/>
          </a:xfrm>
        </p:spPr>
        <p:txBody>
          <a:bodyPr>
            <a:noAutofit/>
          </a:bodyPr>
          <a:lstStyle/>
          <a:p>
            <a:r>
              <a:rPr lang="en-US" sz="1600" i="0" dirty="0"/>
              <a:t>Oxide Composition of LAW AN-105 Simulant and ORPLA38-1 Glass</a:t>
            </a:r>
          </a:p>
          <a:p>
            <a:r>
              <a:rPr lang="en-US" sz="1600" i="0" dirty="0"/>
              <a:t>Composition Used in Melter Tests (</a:t>
            </a:r>
            <a:r>
              <a:rPr lang="en-US" sz="1600" i="0" dirty="0" err="1"/>
              <a:t>wt</a:t>
            </a:r>
            <a:r>
              <a:rPr lang="en-US" sz="1600" i="0" dirty="0" smtClean="0"/>
              <a:t>%)</a:t>
            </a: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006002"/>
              </p:ext>
            </p:extLst>
          </p:nvPr>
        </p:nvGraphicFramePr>
        <p:xfrm>
          <a:off x="1676400" y="1447800"/>
          <a:ext cx="6172200" cy="5079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/>
                <a:gridCol w="1543050"/>
                <a:gridCol w="1543050"/>
                <a:gridCol w="1543050"/>
              </a:tblGrid>
              <a:tr h="3535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/>
                      </a:r>
                      <a:b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</a:b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Component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AN-105 waste contribution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Glass former additives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ORPLA38-1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(for AN-105)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Loading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31.5%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68.5%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Al</a:t>
                      </a:r>
                      <a:r>
                        <a:rPr lang="en-US" sz="1200" baseline="-25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-25000" dirty="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5.44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1.51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6.95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B</a:t>
                      </a:r>
                      <a:r>
                        <a:rPr lang="en-US" sz="1200" baseline="-25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-25000" dirty="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0.02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8.20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8.22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lt"/>
                          <a:ea typeface="Times New Roman"/>
                        </a:rPr>
                        <a:t>CaO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3.13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3.13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Cr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0.02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0.47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0.49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Fe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0.26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0.26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K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0.52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0.52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MgO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0.98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0.98</a:t>
                      </a:r>
                    </a:p>
                  </a:txBody>
                  <a:tcPr marL="68580" marR="68580" marT="0" marB="0" anchor="ctr"/>
                </a:tc>
              </a:tr>
              <a:tr h="3535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Na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(a)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23.35 + 0.62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(1)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 + 0.03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(2)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24.00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SiO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0.03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41.52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41.55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SnO</a:t>
                      </a:r>
                      <a:r>
                        <a:rPr lang="en-US" sz="1200" baseline="-25000" dirty="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2.67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2.67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V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5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0.92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0.92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ZnO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2.82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2.82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ZrO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6.03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6.03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Cl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0.66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0.66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F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0.00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P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5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0.00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SO</a:t>
                      </a:r>
                      <a:r>
                        <a:rPr lang="en-US" sz="1200" baseline="-25000">
                          <a:effectLst/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(b)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0.80</a:t>
                      </a:r>
                      <a:r>
                        <a:rPr lang="en-US" sz="1200" baseline="30000">
                          <a:effectLst/>
                          <a:latin typeface="+mn-lt"/>
                          <a:ea typeface="Times New Roman"/>
                        </a:rPr>
                        <a:t>(1)</a:t>
                      </a:r>
                      <a:endParaRPr lang="en-US" sz="12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0.80</a:t>
                      </a:r>
                    </a:p>
                  </a:txBody>
                  <a:tcPr marL="68580" marR="68580" marT="0" marB="0" anchor="ctr"/>
                </a:tc>
              </a:tr>
              <a:tr h="1983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SUM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31.5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lt"/>
                          <a:ea typeface="Times New Roman"/>
                        </a:rPr>
                        <a:t>68.5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/>
                        </a:rPr>
                        <a:t>100.0</a:t>
                      </a:r>
                    </a:p>
                  </a:txBody>
                  <a:tcPr marL="68580" marR="68580" marT="0" marB="0" anchor="ctr"/>
                </a:tc>
              </a:tr>
              <a:tr h="751214">
                <a:tc gridSpan="4">
                  <a:txBody>
                    <a:bodyPr/>
                    <a:lstStyle/>
                    <a:p>
                      <a:r>
                        <a:rPr lang="en-US" sz="900" dirty="0" smtClean="0"/>
                        <a:t>(a) Simulant was prepared at a concentration of 23.35 </a:t>
                      </a:r>
                      <a:r>
                        <a:rPr lang="en-US" sz="900" dirty="0" err="1" smtClean="0"/>
                        <a:t>wt</a:t>
                      </a:r>
                      <a:r>
                        <a:rPr lang="en-US" sz="900" dirty="0" smtClean="0"/>
                        <a:t>% Na2O and modified before each melter test with (1) Na2SO4 and (2) </a:t>
                      </a:r>
                      <a:r>
                        <a:rPr lang="en-US" sz="900" dirty="0" err="1" smtClean="0"/>
                        <a:t>NaOH</a:t>
                      </a:r>
                      <a:r>
                        <a:rPr lang="en-US" sz="900" dirty="0" smtClean="0"/>
                        <a:t> additions to obtain 24 </a:t>
                      </a:r>
                      <a:r>
                        <a:rPr lang="en-US" sz="900" dirty="0" err="1" smtClean="0"/>
                        <a:t>wt</a:t>
                      </a:r>
                      <a:r>
                        <a:rPr lang="en-US" sz="900" dirty="0" smtClean="0"/>
                        <a:t>% Na2O in the glass.  </a:t>
                      </a:r>
                    </a:p>
                    <a:p>
                      <a:r>
                        <a:rPr lang="en-US" sz="900" dirty="0" smtClean="0"/>
                        <a:t>(b) Concentration of SO3 was increased in steps during the melter tests from 0.5 </a:t>
                      </a:r>
                      <a:r>
                        <a:rPr lang="en-US" sz="900" dirty="0" err="1" smtClean="0"/>
                        <a:t>wt</a:t>
                      </a:r>
                      <a:r>
                        <a:rPr lang="en-US" sz="900" dirty="0" smtClean="0"/>
                        <a:t>% SO3 in the glass up to 0.9 </a:t>
                      </a:r>
                      <a:r>
                        <a:rPr lang="en-US" sz="900" dirty="0" err="1" smtClean="0"/>
                        <a:t>wt</a:t>
                      </a:r>
                      <a:r>
                        <a:rPr lang="en-US" sz="900" dirty="0" smtClean="0"/>
                        <a:t>% and back to 0.8 </a:t>
                      </a:r>
                      <a:r>
                        <a:rPr lang="en-US" sz="900" dirty="0" err="1" smtClean="0"/>
                        <a:t>wt</a:t>
                      </a:r>
                      <a:r>
                        <a:rPr lang="en-US" sz="900" dirty="0" smtClean="0"/>
                        <a:t>%.</a:t>
                      </a:r>
                    </a:p>
                    <a:p>
                      <a:r>
                        <a:rPr lang="en-US" sz="900" dirty="0" smtClean="0"/>
                        <a:t>– Empty data field</a:t>
                      </a:r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154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LAW Sulfate and Sodium Optimization Results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38200" y="1676400"/>
            <a:ext cx="6705600" cy="4584954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1271659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852604" y="1577976"/>
            <a:ext cx="7253173" cy="4827032"/>
            <a:chOff x="833552" y="1397000"/>
            <a:chExt cx="7253173" cy="4827032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1905000" y="1524000"/>
              <a:ext cx="2667000" cy="838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447800" y="1481138"/>
              <a:ext cx="6637338" cy="43291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1447800" y="4945063"/>
              <a:ext cx="6637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447800" y="4078288"/>
              <a:ext cx="6637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447800" y="3213100"/>
              <a:ext cx="6637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447800" y="2346325"/>
              <a:ext cx="6637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447800" y="1481138"/>
              <a:ext cx="6637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447800" y="1481138"/>
              <a:ext cx="6637338" cy="4329112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944688" y="4183063"/>
              <a:ext cx="665162" cy="1627187"/>
            </a:xfrm>
            <a:prstGeom prst="rect">
              <a:avLst/>
            </a:prstGeom>
            <a:solidFill>
              <a:srgbClr val="00CC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605213" y="3732213"/>
              <a:ext cx="663575" cy="2078037"/>
            </a:xfrm>
            <a:prstGeom prst="rect">
              <a:avLst/>
            </a:prstGeom>
            <a:solidFill>
              <a:srgbClr val="00CC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5264150" y="3073400"/>
              <a:ext cx="663575" cy="2736850"/>
            </a:xfrm>
            <a:prstGeom prst="rect">
              <a:avLst/>
            </a:prstGeom>
            <a:solidFill>
              <a:srgbClr val="00CC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6923088" y="1671638"/>
              <a:ext cx="663575" cy="4138612"/>
            </a:xfrm>
            <a:prstGeom prst="rect">
              <a:avLst/>
            </a:prstGeom>
            <a:solidFill>
              <a:srgbClr val="00CC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447800" y="1481138"/>
              <a:ext cx="1588" cy="43291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1447800" y="5810250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447800" y="563721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447800" y="5464175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1447800" y="529113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1447800" y="5118100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447800" y="494506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1447800" y="4772025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1447800" y="459898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1447800" y="4425950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1447800" y="425291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1447800" y="407828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1447800" y="3905250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1447800" y="373221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447800" y="3559175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1447800" y="338613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1447800" y="3213100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1447800" y="304006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1447800" y="2867025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1447800" y="269398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1447800" y="251936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1447800" y="2346325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1447800" y="217328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1447800" y="2000250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1447800" y="1827213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1447800" y="1654175"/>
              <a:ext cx="3492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1447800" y="1481138"/>
              <a:ext cx="3492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1401763" y="5810250"/>
              <a:ext cx="4603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401763" y="4945063"/>
              <a:ext cx="4603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1401763" y="4078288"/>
              <a:ext cx="4603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1401763" y="3213100"/>
              <a:ext cx="4603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>
              <a:off x="1401763" y="2346325"/>
              <a:ext cx="4603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1401763" y="1481138"/>
              <a:ext cx="4603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V="1">
              <a:off x="1447800" y="5810250"/>
              <a:ext cx="1588" cy="460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 flipV="1">
              <a:off x="3108325" y="5810250"/>
              <a:ext cx="1588" cy="460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V="1">
              <a:off x="4767263" y="5810250"/>
              <a:ext cx="1587" cy="460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51"/>
            <p:cNvSpPr>
              <a:spLocks noChangeShapeType="1"/>
            </p:cNvSpPr>
            <p:nvPr/>
          </p:nvSpPr>
          <p:spPr bwMode="auto">
            <a:xfrm flipV="1">
              <a:off x="6426200" y="5810250"/>
              <a:ext cx="1588" cy="460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52"/>
            <p:cNvSpPr>
              <a:spLocks noChangeShapeType="1"/>
            </p:cNvSpPr>
            <p:nvPr/>
          </p:nvSpPr>
          <p:spPr bwMode="auto">
            <a:xfrm flipV="1">
              <a:off x="8085138" y="5810250"/>
              <a:ext cx="1587" cy="460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1152525" y="5726113"/>
              <a:ext cx="19236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1.0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1152525" y="4860925"/>
              <a:ext cx="19236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1.5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1152525" y="3994150"/>
              <a:ext cx="19236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2.0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1152525" y="3128963"/>
              <a:ext cx="19236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2.5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1152525" y="2262188"/>
              <a:ext cx="19236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3.0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1152525" y="1397000"/>
              <a:ext cx="19236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3.5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2006599" y="5854700"/>
              <a:ext cx="53219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1150</a:t>
              </a:r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°C</a:t>
              </a:r>
            </a:p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Baseline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3716338" y="5854700"/>
              <a:ext cx="4655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1175</a:t>
              </a:r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°C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5389564" y="5854700"/>
              <a:ext cx="471283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1200</a:t>
              </a:r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°C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7021513" y="5854700"/>
              <a:ext cx="471283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</a:rPr>
                <a:t>1225</a:t>
              </a:r>
              <a:r>
                <a:rPr lang="en-US" sz="1200" b="0" i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°C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4038599" y="6032500"/>
              <a:ext cx="158178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200" i="0">
                  <a:solidFill>
                    <a:srgbClr val="000000"/>
                  </a:solidFill>
                  <a:latin typeface="Times New Roman" pitchFamily="18" charset="0"/>
                </a:rPr>
                <a:t>Glass Pool Temperature</a:t>
              </a:r>
              <a:endParaRPr lang="en-US" sz="12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 rot="16200000">
              <a:off x="38096" y="3699169"/>
              <a:ext cx="1806585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100" i="0">
                  <a:solidFill>
                    <a:srgbClr val="000000"/>
                  </a:solidFill>
                  <a:latin typeface="Times New Roman" pitchFamily="18" charset="0"/>
                </a:rPr>
                <a:t>Glass Production Rate, MT/m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 rot="16200000">
              <a:off x="864971" y="2829832"/>
              <a:ext cx="4488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i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 rot="16200000">
              <a:off x="812345" y="2638718"/>
              <a:ext cx="25808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100" i="0">
                  <a:solidFill>
                    <a:srgbClr val="000000"/>
                  </a:solidFill>
                  <a:latin typeface="Times New Roman" pitchFamily="18" charset="0"/>
                </a:rPr>
                <a:t>/day</a:t>
              </a:r>
              <a:endParaRPr lang="en-US" sz="2800" i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9" name="Text Box 67"/>
            <p:cNvSpPr txBox="1">
              <a:spLocks noChangeArrowheads="1"/>
            </p:cNvSpPr>
            <p:nvPr/>
          </p:nvSpPr>
          <p:spPr bwMode="auto">
            <a:xfrm>
              <a:off x="1600199" y="1676400"/>
              <a:ext cx="5029200" cy="58477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0"/>
                <a:t>German and Japanese JHCMs operate at 1175</a:t>
              </a:r>
              <a:r>
                <a:rPr lang="en-US" sz="1600" i="0">
                  <a:cs typeface="Arial" charset="0"/>
                </a:rPr>
                <a:t>°C - 1200°C with the same materials of construction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75</a:t>
            </a:r>
            <a:r>
              <a:rPr lang="en-US" dirty="0">
                <a:sym typeface="Symbol" pitchFamily="18" charset="2"/>
              </a:rPr>
              <a:t></a:t>
            </a:r>
            <a:r>
              <a:rPr lang="en-US" dirty="0"/>
              <a:t>C increase in melt pool temperature can increase LAW production rate by as much as 75%</a:t>
            </a:r>
          </a:p>
        </p:txBody>
      </p:sp>
    </p:spTree>
    <p:extLst>
      <p:ext uri="{BB962C8B-B14F-4D97-AF65-F5344CB8AC3E}">
        <p14:creationId xmlns:p14="http://schemas.microsoft.com/office/powerpoint/2010/main" val="2188587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4" name="Picture 4" descr="pacman crys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2362200"/>
            <a:ext cx="3327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7131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235" y="1909551"/>
            <a:ext cx="3267531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19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Backup Information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9" b="3229"/>
          <a:stretch>
            <a:fillRect/>
          </a:stretch>
        </p:blipFill>
        <p:spPr bwMode="auto">
          <a:xfrm>
            <a:off x="1371600" y="1685925"/>
            <a:ext cx="26479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85925"/>
            <a:ext cx="254317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667125"/>
            <a:ext cx="26479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67125"/>
            <a:ext cx="24288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3678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F70DA5-1A6E-404B-865E-7B1B1E06FFF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How is the Vitrified Waste </a:t>
            </a:r>
            <a:r>
              <a:rPr lang="en-US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Dispositioned</a:t>
            </a:r>
            <a:r>
              <a:rPr 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  <a:endParaRPr lang="en-US" dirty="0"/>
          </a:p>
        </p:txBody>
      </p:sp>
      <p:pic>
        <p:nvPicPr>
          <p:cNvPr id="7" name="Picture 13" descr="L&amp;Hcannisters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524000"/>
            <a:ext cx="2962275" cy="502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57200" y="1830388"/>
            <a:ext cx="45720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96875" indent="-220663" algn="l"/>
            <a:r>
              <a:rPr lang="en-US" sz="1800" b="1" dirty="0" smtClean="0"/>
              <a:t>High-Level </a:t>
            </a:r>
            <a:r>
              <a:rPr lang="en-US" sz="1800" b="1" dirty="0"/>
              <a:t>Waste Canisters</a:t>
            </a:r>
            <a:endParaRPr lang="en-US" sz="1800" dirty="0"/>
          </a:p>
          <a:p>
            <a:pPr marL="396875" indent="-220663" algn="l">
              <a:buFontTx/>
              <a:buChar char="•"/>
            </a:pPr>
            <a:r>
              <a:rPr lang="en-US" sz="1800" dirty="0"/>
              <a:t>2’ x 14.75</a:t>
            </a:r>
            <a:r>
              <a:rPr lang="en-US" sz="1800" dirty="0" smtClean="0"/>
              <a:t>’ (0.61 x 4.5 m)</a:t>
            </a:r>
            <a:endParaRPr lang="en-US" sz="1800" dirty="0"/>
          </a:p>
          <a:p>
            <a:pPr marL="396875" indent="-220663" algn="l">
              <a:buFontTx/>
              <a:buChar char="•"/>
            </a:pPr>
            <a:r>
              <a:rPr lang="en-US" sz="1800" dirty="0"/>
              <a:t>6,600 pounds of glass</a:t>
            </a:r>
          </a:p>
          <a:p>
            <a:pPr marL="396875" indent="-220663" algn="l">
              <a:buFontTx/>
              <a:buChar char="•"/>
            </a:pPr>
            <a:r>
              <a:rPr lang="en-US" sz="1800" dirty="0"/>
              <a:t>600 canisters to be produced/year</a:t>
            </a:r>
          </a:p>
          <a:p>
            <a:pPr marL="396875" indent="-220663" algn="l">
              <a:buFontTx/>
              <a:buChar char="•"/>
            </a:pPr>
            <a:r>
              <a:rPr lang="en-US" sz="1800" dirty="0"/>
              <a:t>Temporarily stored </a:t>
            </a:r>
            <a:r>
              <a:rPr lang="en-US" sz="1800" dirty="0" smtClean="0"/>
              <a:t>at Hanford until </a:t>
            </a:r>
            <a:r>
              <a:rPr lang="en-US" sz="1800" dirty="0"/>
              <a:t>National Repository </a:t>
            </a:r>
            <a:r>
              <a:rPr lang="en-US" sz="1800" dirty="0" smtClean="0"/>
              <a:t>opened</a:t>
            </a:r>
          </a:p>
          <a:p>
            <a:pPr marL="396875" indent="-220663" algn="l">
              <a:buFontTx/>
              <a:buChar char="•"/>
            </a:pPr>
            <a:endParaRPr lang="en-US" sz="1800" dirty="0"/>
          </a:p>
          <a:p>
            <a:pPr marL="396875" indent="-220663" algn="l"/>
            <a:endParaRPr lang="en-US" sz="1800" dirty="0"/>
          </a:p>
          <a:p>
            <a:pPr marL="396875" indent="-220663" algn="l"/>
            <a:r>
              <a:rPr lang="en-US" sz="1800" b="1" dirty="0" smtClean="0"/>
              <a:t>Low-Activity </a:t>
            </a:r>
            <a:r>
              <a:rPr lang="en-US" sz="1800" b="1" dirty="0"/>
              <a:t>Waste Containers</a:t>
            </a:r>
          </a:p>
          <a:p>
            <a:pPr marL="396875" indent="-220663" algn="l"/>
            <a:endParaRPr lang="en-US" sz="1800" b="1" dirty="0"/>
          </a:p>
          <a:p>
            <a:pPr marL="396875" indent="-220663" algn="l">
              <a:buFontTx/>
              <a:buChar char="•"/>
            </a:pPr>
            <a:r>
              <a:rPr lang="en-US" sz="1800" dirty="0"/>
              <a:t> 4’ x 7.5</a:t>
            </a:r>
            <a:r>
              <a:rPr lang="en-US" sz="1800" dirty="0" smtClean="0"/>
              <a:t>’ (1.22 x 2.286 m)</a:t>
            </a:r>
            <a:endParaRPr lang="en-US" sz="1800" dirty="0"/>
          </a:p>
          <a:p>
            <a:pPr marL="396875" indent="-220663" algn="l">
              <a:buFontTx/>
              <a:buChar char="•"/>
            </a:pPr>
            <a:r>
              <a:rPr lang="en-US" sz="1800" dirty="0"/>
              <a:t> 13,000 pounds of glass</a:t>
            </a:r>
          </a:p>
          <a:p>
            <a:pPr marL="396875" indent="-220663" algn="l">
              <a:buFontTx/>
              <a:buChar char="•"/>
            </a:pPr>
            <a:r>
              <a:rPr lang="en-US" sz="1800" dirty="0"/>
              <a:t> 1,300 containers to be produced/year</a:t>
            </a:r>
          </a:p>
          <a:p>
            <a:pPr marL="396875" indent="-220663" algn="l">
              <a:buFontTx/>
              <a:buChar char="•"/>
            </a:pPr>
            <a:r>
              <a:rPr lang="en-US" sz="1800" dirty="0"/>
              <a:t> Disposed on Hanford Site</a:t>
            </a: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3810000" y="2057400"/>
            <a:ext cx="20574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4191000" y="4268788"/>
            <a:ext cx="28956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3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alibri" pitchFamily="34" charset="0"/>
              </a:rPr>
              <a:t>Table TS-7.1 Low-Activity Waste Chemical Composition, Soluble Fraction Only</a:t>
            </a:r>
            <a:endParaRPr lang="en-US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8885066"/>
              </p:ext>
            </p:extLst>
          </p:nvPr>
        </p:nvGraphicFramePr>
        <p:xfrm>
          <a:off x="838200" y="1371600"/>
          <a:ext cx="7543800" cy="5202332"/>
        </p:xfrm>
        <a:graphic>
          <a:graphicData uri="http://schemas.openxmlformats.org/drawingml/2006/table">
            <a:tbl>
              <a:tblPr/>
              <a:tblGrid>
                <a:gridCol w="1885950"/>
                <a:gridCol w="1885950"/>
                <a:gridCol w="1885950"/>
                <a:gridCol w="1885950"/>
              </a:tblGrid>
              <a:tr h="19529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Maximum Ratio, </a:t>
                      </a: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analyte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 (mole) to sodium (mole)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Chemical Analyte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Envelope A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Envelope B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Envelope C</a:t>
                      </a: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Al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 2.5E-01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2.5E-01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2.5E-01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Ba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1.0E-04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1.0E-04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1.0E-04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Ca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Cd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4.0E-03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4.0E-03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4.0E-03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Cl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3.7E-02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8.9E-02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3.7E-02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Cr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6.9E-03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6.9E-03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9.1E-02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9.1E-02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Fe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Hg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1.4E-05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1.4E-05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1.4E-05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K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1.8E-01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1.8E-01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1.8E-01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La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8.3E-05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8.3E-05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8.3E-05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Ni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NO</a:t>
                      </a:r>
                      <a:r>
                        <a:rPr kumimoji="0" lang="en-US" sz="1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3.8E-01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3.8E-01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3.8E-01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NO</a:t>
                      </a:r>
                      <a:r>
                        <a:rPr kumimoji="0" lang="en-US" sz="1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Pb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6.8E-04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6.8E-04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6.8E-04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PO</a:t>
                      </a:r>
                      <a:r>
                        <a:rPr kumimoji="0" lang="en-US" sz="1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3.8E-02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1.3E-01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3.8E-02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SO</a:t>
                      </a:r>
                      <a:r>
                        <a:rPr kumimoji="0" lang="en-US" sz="1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7.0E-02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2.0E-02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TIC</a:t>
                      </a: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TOC</a:t>
                      </a: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5.0E-01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5.0E-01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5.0E-01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195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U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1.2E-03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1.2E-03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4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9000"/>
                        </a:lnSpc>
                        <a:spcBef>
                          <a:spcPct val="0"/>
                        </a:spcBef>
                        <a:spcAft>
                          <a:spcPts val="425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1.2E-03</a:t>
                      </a: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50421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Notes</a:t>
                      </a:r>
                      <a:r>
                        <a:rPr kumimoji="0" 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1.	Mole of inorganic carbon atoms/mole sodium.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2.	Mole of organic carbon atoms/mole sodium.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3.	Envelope C LAW is limited to </a:t>
                      </a:r>
                      <a:r>
                        <a:rPr kumimoji="0" 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complexed</a:t>
                      </a:r>
                      <a:r>
                        <a:rPr kumimoji="0" 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 tank wastes from Hanford tanks AN-102 and AN-107.</a:t>
                      </a:r>
                      <a:endParaRPr kumimoji="0" 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70997" marR="7099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2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2132F445-FDB4-46F5-968B-CFF9A426196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alibri" pitchFamily="34" charset="0"/>
              </a:rPr>
              <a:t>Table TS-7.2	Low-Activity Waste Radionuclide Content, Soluble Fraction Only</a:t>
            </a:r>
            <a:br>
              <a:rPr lang="en-US" dirty="0">
                <a:latin typeface="Calibri" pitchFamily="34" charset="0"/>
              </a:rPr>
            </a:br>
            <a:r>
              <a:rPr lang="en-US" dirty="0">
                <a:latin typeface="Calibri" pitchFamily="34" charset="0"/>
              </a:rPr>
              <a:t>Maximum Ratio, radionuclide to sodium (mole)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447700"/>
              </p:ext>
            </p:extLst>
          </p:nvPr>
        </p:nvGraphicFramePr>
        <p:xfrm>
          <a:off x="457200" y="1968500"/>
          <a:ext cx="8229600" cy="2971800"/>
        </p:xfrm>
        <a:graphic>
          <a:graphicData uri="http://schemas.openxmlformats.org/drawingml/2006/table">
            <a:tbl>
              <a:tblPr/>
              <a:tblGrid>
                <a:gridCol w="20574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Radionuclide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Envelope 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Envelope 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Envelope 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Bq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uCi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Bq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uCi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Bq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uCi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TRU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4.80E+05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1.30E+01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4.80E+05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1.30E+01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3.00E+06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8.11E+01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137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4.30E+09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1.16E+05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2.00E+10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5.41E+05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4.30E+09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1.16E+05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90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SR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4.40E+07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1.19E+03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4.40E+07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1.19E+03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8.00E+08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2.16E+04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99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Tc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7.10E+06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1.92E+02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7.10E+06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1.92E+02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7.10E+06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1.92E+02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60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Co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6.10E+04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1.65E+00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6.10E+04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1.65E+00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3.70E+05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1.00E+01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154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Eu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6.00E+05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1.62E+01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6.00E+05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1.62E+01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4.30E+06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1.16E+02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00" y="5168900"/>
            <a:ext cx="88392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57150" algn="l" eaLnBrk="0" hangingPunct="0">
              <a:tabLst>
                <a:tab pos="57150" algn="l"/>
              </a:tabLst>
            </a:pPr>
            <a:r>
              <a:rPr lang="en-US" sz="1200" u="sng" dirty="0">
                <a:latin typeface="Calibri" pitchFamily="34" charset="0"/>
                <a:cs typeface="Times New Roman" pitchFamily="18" charset="0"/>
              </a:rPr>
              <a:t>Notes:</a:t>
            </a:r>
            <a:endParaRPr lang="en-US" sz="1200" dirty="0">
              <a:latin typeface="Calibri" pitchFamily="34" charset="0"/>
            </a:endParaRPr>
          </a:p>
          <a:p>
            <a:pPr indent="57150" algn="l" eaLnBrk="0" hangingPunct="0">
              <a:tabLst>
                <a:tab pos="57150" algn="l"/>
              </a:tabLst>
            </a:pPr>
            <a:r>
              <a:rPr lang="en-US" sz="1200" dirty="0">
                <a:latin typeface="Calibri" pitchFamily="34" charset="0"/>
                <a:cs typeface="Times New Roman" pitchFamily="18" charset="0"/>
              </a:rPr>
              <a:t>1.The activity limit shall apply to the feed certification date.</a:t>
            </a:r>
            <a:endParaRPr lang="en-US" sz="1200" dirty="0">
              <a:latin typeface="Calibri" pitchFamily="34" charset="0"/>
            </a:endParaRPr>
          </a:p>
          <a:p>
            <a:pPr indent="57150" algn="l" eaLnBrk="0" hangingPunct="0">
              <a:tabLst>
                <a:tab pos="57150" algn="l"/>
              </a:tabLst>
            </a:pPr>
            <a:r>
              <a:rPr lang="en-US" sz="1200" dirty="0">
                <a:latin typeface="Calibri" pitchFamily="34" charset="0"/>
                <a:cs typeface="Times New Roman" pitchFamily="18" charset="0"/>
              </a:rPr>
              <a:t>2.  TRU is defined as:  Alpha-emitting radionuclides with an atomic number greater than 92 with half-life greater than 20 years.</a:t>
            </a:r>
            <a:endParaRPr lang="en-US" sz="1200" dirty="0">
              <a:latin typeface="Calibri" pitchFamily="34" charset="0"/>
            </a:endParaRPr>
          </a:p>
          <a:p>
            <a:pPr indent="57150" algn="l" eaLnBrk="0" hangingPunct="0">
              <a:tabLst>
                <a:tab pos="57150" algn="l"/>
              </a:tabLst>
            </a:pPr>
            <a:r>
              <a:rPr lang="en-US" sz="1200" dirty="0">
                <a:latin typeface="Calibri" pitchFamily="34" charset="0"/>
                <a:cs typeface="Times New Roman" pitchFamily="18" charset="0"/>
              </a:rPr>
              <a:t>	Some radionuclides, such as </a:t>
            </a:r>
            <a:r>
              <a:rPr lang="en-US" sz="1200" baseline="30000" dirty="0">
                <a:latin typeface="Calibri" pitchFamily="34" charset="0"/>
                <a:cs typeface="Times New Roman" pitchFamily="18" charset="0"/>
              </a:rPr>
              <a:t>90</a:t>
            </a:r>
            <a:r>
              <a:rPr lang="en-US" sz="1200" dirty="0">
                <a:latin typeface="Calibri" pitchFamily="34" charset="0"/>
                <a:cs typeface="Times New Roman" pitchFamily="18" charset="0"/>
              </a:rPr>
              <a:t>Sr and </a:t>
            </a:r>
            <a:r>
              <a:rPr lang="en-US" sz="1200" baseline="30000" dirty="0">
                <a:latin typeface="Calibri" pitchFamily="34" charset="0"/>
                <a:cs typeface="Times New Roman" pitchFamily="18" charset="0"/>
              </a:rPr>
              <a:t>137</a:t>
            </a:r>
            <a:r>
              <a:rPr lang="en-US" sz="1200" dirty="0">
                <a:latin typeface="Calibri" pitchFamily="34" charset="0"/>
                <a:cs typeface="Times New Roman" pitchFamily="18" charset="0"/>
              </a:rPr>
              <a:t>Cs, have daughters with relatively short half-lives.  These daughters have not been 		listed in this table.  However, they are present in concentrations associated with the normal decay chains of the 			radionuclides.</a:t>
            </a:r>
            <a:endParaRPr lang="en-US" sz="1200" dirty="0">
              <a:latin typeface="Calibri" pitchFamily="34" charset="0"/>
            </a:endParaRPr>
          </a:p>
          <a:p>
            <a:pPr indent="57150" algn="l" eaLnBrk="0" hangingPunct="0">
              <a:tabLst>
                <a:tab pos="57150" algn="l"/>
              </a:tabLst>
            </a:pPr>
            <a:r>
              <a:rPr lang="en-US" sz="1200" dirty="0">
                <a:latin typeface="Calibri" pitchFamily="34" charset="0"/>
                <a:cs typeface="Times New Roman" pitchFamily="18" charset="0"/>
              </a:rPr>
              <a:t>1Bq = 2.703 e-5 </a:t>
            </a:r>
            <a:r>
              <a:rPr lang="en-US" sz="1200" dirty="0" err="1">
                <a:latin typeface="Calibri" pitchFamily="34" charset="0"/>
                <a:cs typeface="Times New Roman" pitchFamily="18" charset="0"/>
              </a:rPr>
              <a:t>uCi</a:t>
            </a:r>
            <a:endParaRPr lang="en-US" sz="12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685979"/>
      </p:ext>
    </p:extLst>
  </p:cSld>
  <p:clrMapOvr>
    <a:masterClrMapping/>
  </p:clrMapOvr>
</p:sld>
</file>

<file path=ppt/theme/theme1.xml><?xml version="1.0" encoding="utf-8"?>
<a:theme xmlns:a="http://schemas.openxmlformats.org/drawingml/2006/main" name="WTP_08-19-10">
  <a:themeElements>
    <a:clrScheme name="Custom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TP theme 2">
  <a:themeElements>
    <a:clrScheme name="Custom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WTP_08-19-10</Template>
  <TotalTime>1636</TotalTime>
  <Words>1351</Words>
  <Application>Microsoft Office PowerPoint</Application>
  <PresentationFormat>On-screen Show (4:3)</PresentationFormat>
  <Paragraphs>489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WTP_08-19-10</vt:lpstr>
      <vt:lpstr>1_WTP theme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Hanford (MSP ver 2.0)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Albert A. Kruger</dc:creator>
  <cp:lastModifiedBy>Kruger, Albert A</cp:lastModifiedBy>
  <cp:revision>79</cp:revision>
  <dcterms:created xsi:type="dcterms:W3CDTF">2010-10-14T18:08:44Z</dcterms:created>
  <dcterms:modified xsi:type="dcterms:W3CDTF">2011-09-15T17:01:55Z</dcterms:modified>
</cp:coreProperties>
</file>