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2" r:id="rId7"/>
    <p:sldId id="317" r:id="rId8"/>
    <p:sldId id="263" r:id="rId9"/>
    <p:sldId id="318" r:id="rId10"/>
    <p:sldId id="264" r:id="rId11"/>
    <p:sldId id="319" r:id="rId12"/>
    <p:sldId id="320" r:id="rId13"/>
    <p:sldId id="286" r:id="rId14"/>
    <p:sldId id="287" r:id="rId15"/>
    <p:sldId id="312" r:id="rId16"/>
    <p:sldId id="313" r:id="rId17"/>
    <p:sldId id="314" r:id="rId18"/>
    <p:sldId id="288" r:id="rId19"/>
    <p:sldId id="289" r:id="rId20"/>
    <p:sldId id="315" r:id="rId21"/>
    <p:sldId id="290" r:id="rId22"/>
    <p:sldId id="321" r:id="rId23"/>
    <p:sldId id="291" r:id="rId24"/>
    <p:sldId id="323" r:id="rId25"/>
    <p:sldId id="324" r:id="rId26"/>
    <p:sldId id="322" r:id="rId27"/>
    <p:sldId id="325" r:id="rId28"/>
    <p:sldId id="326" r:id="rId29"/>
    <p:sldId id="327" r:id="rId30"/>
    <p:sldId id="328" r:id="rId31"/>
    <p:sldId id="329" r:id="rId32"/>
    <p:sldId id="292" r:id="rId33"/>
    <p:sldId id="293" r:id="rId34"/>
    <p:sldId id="29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71369" autoAdjust="0"/>
  </p:normalViewPr>
  <p:slideViewPr>
    <p:cSldViewPr snapToGrid="0" snapToObjects="1">
      <p:cViewPr>
        <p:scale>
          <a:sx n="60" d="100"/>
          <a:sy n="60" d="100"/>
        </p:scale>
        <p:origin x="-2048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152"/>
    </p:cViewPr>
  </p:outlin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handoutMaster" Target="handoutMasters/handout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AF8EB-3E4F-5643-9D8C-7A24E9963FA7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187F2-426E-BB4E-A35D-C5386A695E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18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07EAA-664B-AD49-BBA2-2F57DF49DB4B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FCCD1-DCBF-1442-8E1A-7B4D7E57E5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5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40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16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2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21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80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80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68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3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67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26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03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66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85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59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50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FCCD1-DCBF-1442-8E1A-7B4D7E57E5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4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95758B1-AD0F-8C4A-9B15-CB15FC5435EA}" type="datetimeFigureOut">
              <a:rPr lang="en-US" smtClean="0"/>
              <a:pPr/>
              <a:t>11-11-30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0327B7ED-490A-F048-B952-AEE2398C67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45" y="4624668"/>
            <a:ext cx="2297431" cy="20566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Fuzzy Cognitive Map for Depression in Seniors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Sara Namazi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056" y="834962"/>
            <a:ext cx="3090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Math 800 Final Presentation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800600" y="6174404"/>
            <a:ext cx="4038600" cy="506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SzPct val="7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solidFill>
                  <a:schemeClr val="accent1"/>
                </a:solidFill>
              </a:rPr>
              <a:t>November 30, 2011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Fuzzy Cognitive Map(FCM) for Deviance Model </a:t>
            </a:r>
          </a:p>
          <a:p>
            <a:r>
              <a:rPr lang="en-US" sz="2400" dirty="0" smtClean="0"/>
              <a:t>Scenarios on Deviance FCM</a:t>
            </a:r>
          </a:p>
          <a:p>
            <a:r>
              <a:rPr lang="en-US" sz="2400" dirty="0" smtClean="0"/>
              <a:t>Introduction to Depression</a:t>
            </a:r>
          </a:p>
          <a:p>
            <a:r>
              <a:rPr lang="en-US" sz="2400" dirty="0" smtClean="0"/>
              <a:t>Depression Significance</a:t>
            </a:r>
          </a:p>
          <a:p>
            <a:r>
              <a:rPr lang="en-US" sz="2400" dirty="0" smtClean="0"/>
              <a:t>Risk Factors to Depression</a:t>
            </a:r>
          </a:p>
          <a:p>
            <a:r>
              <a:rPr lang="en-US" sz="2400" dirty="0" smtClean="0"/>
              <a:t>FCM for </a:t>
            </a:r>
            <a:r>
              <a:rPr lang="en-US" sz="2400" dirty="0"/>
              <a:t>C</a:t>
            </a:r>
            <a:r>
              <a:rPr lang="en-US" sz="2400" dirty="0" smtClean="0"/>
              <a:t>ontributing Factors to Depression</a:t>
            </a:r>
          </a:p>
          <a:p>
            <a:r>
              <a:rPr lang="en-US" sz="2400" dirty="0" smtClean="0"/>
              <a:t>Limitation &amp; Future Work</a:t>
            </a:r>
            <a:endParaRPr lang="en-US" dirty="0" smtClean="0">
              <a:solidFill>
                <a:srgbClr val="663366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Cognitive Map(FCM) for Deviance </a:t>
            </a:r>
            <a:r>
              <a:rPr lang="en-US" dirty="0" smtClean="0"/>
              <a:t>Model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6401859" cy="4525963"/>
          </a:xfrm>
        </p:spPr>
        <p:txBody>
          <a:bodyPr/>
          <a:lstStyle/>
          <a:p>
            <a:pPr marL="457200" lvl="2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92" y="1840968"/>
            <a:ext cx="7982771" cy="4634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Cognitive Map(FCM) for Deviance </a:t>
            </a: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66" y="2095500"/>
            <a:ext cx="6688667" cy="44661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72833" y="35771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91000" y="23495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74" y="1834568"/>
            <a:ext cx="7874000" cy="4497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Cognitive Map(FCM) for Deviance Model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l="-2468" r="-2468"/>
          <a:stretch>
            <a:fillRect/>
          </a:stretch>
        </p:blipFill>
        <p:spPr>
          <a:xfrm>
            <a:off x="710144" y="1981200"/>
            <a:ext cx="8195893" cy="4495800"/>
          </a:xfr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 on Deviance FCM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Case1:  </a:t>
            </a:r>
          </a:p>
          <a:p>
            <a:pPr marL="0" indent="0">
              <a:buNone/>
            </a:pPr>
            <a:r>
              <a:rPr lang="en-US" sz="2400" dirty="0" smtClean="0"/>
              <a:t>Inputs are:</a:t>
            </a:r>
          </a:p>
          <a:p>
            <a:pPr>
              <a:buFont typeface="Wingdings" charset="2"/>
              <a:buChar char="Ø"/>
            </a:pPr>
            <a:r>
              <a:rPr lang="en-US" sz="2400" dirty="0" smtClean="0"/>
              <a:t>  School Efficacy</a:t>
            </a:r>
          </a:p>
          <a:p>
            <a:pPr>
              <a:buFont typeface="Wingdings" charset="2"/>
              <a:buChar char="Ø"/>
            </a:pPr>
            <a:r>
              <a:rPr lang="en-US" sz="2400" dirty="0" smtClean="0"/>
              <a:t>High Self Efficacy</a:t>
            </a:r>
          </a:p>
          <a:p>
            <a:pPr>
              <a:buFont typeface="Wingdings" charset="2"/>
              <a:buChar char="Ø"/>
            </a:pPr>
            <a:r>
              <a:rPr lang="en-US" sz="2400" dirty="0" smtClean="0"/>
              <a:t>Family Efficacy</a:t>
            </a:r>
          </a:p>
          <a:p>
            <a:pPr>
              <a:buFont typeface="Wingdings" charset="2"/>
              <a:buChar char="Ø"/>
            </a:pPr>
            <a:r>
              <a:rPr lang="en-US" sz="2400" dirty="0" smtClean="0"/>
              <a:t>Education</a:t>
            </a:r>
          </a:p>
          <a:p>
            <a:pPr>
              <a:buFont typeface="Wingdings" charset="2"/>
              <a:buChar char="§"/>
            </a:pPr>
            <a:endParaRPr lang="en-US" sz="2400" dirty="0" smtClean="0"/>
          </a:p>
          <a:p>
            <a:pPr>
              <a:buFont typeface="Wingdings" charset="2"/>
              <a:buChar char="Ø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Case1: outputs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l="-18363" r="-18363"/>
          <a:stretch>
            <a:fillRect/>
          </a:stretch>
        </p:blipFill>
        <p:spPr>
          <a:xfrm>
            <a:off x="964140" y="1600200"/>
            <a:ext cx="7556313" cy="4525963"/>
          </a:xfrm>
        </p:spPr>
      </p:pic>
    </p:spTree>
    <p:extLst>
      <p:ext uri="{BB962C8B-B14F-4D97-AF65-F5344CB8AC3E}">
        <p14:creationId xmlns:p14="http://schemas.microsoft.com/office/powerpoint/2010/main" val="2983527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 on Deviance FCM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Case2:</a:t>
            </a:r>
          </a:p>
          <a:p>
            <a:pPr marL="0" indent="0">
              <a:buNone/>
            </a:pPr>
            <a:r>
              <a:rPr lang="en-US" sz="2400" dirty="0" smtClean="0"/>
              <a:t>Inputs  are:</a:t>
            </a:r>
          </a:p>
          <a:p>
            <a:pPr>
              <a:buFont typeface="Wingdings" charset="2"/>
              <a:buChar char="Ø"/>
            </a:pPr>
            <a:r>
              <a:rPr lang="en-US" sz="2400" dirty="0" smtClean="0"/>
              <a:t>Family Breakdown</a:t>
            </a:r>
          </a:p>
          <a:p>
            <a:pPr>
              <a:buFont typeface="Wingdings" charset="2"/>
              <a:buChar char="Ø"/>
            </a:pPr>
            <a:r>
              <a:rPr lang="en-US" sz="2400" dirty="0" smtClean="0"/>
              <a:t>Social Disorganization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Case2: outputs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18363" r="-183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51237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 on Deviance FCM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Case3: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Inputs are: </a:t>
            </a:r>
          </a:p>
          <a:p>
            <a:pPr>
              <a:buFont typeface="Wingdings" charset="2"/>
              <a:buChar char="Ø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Here all concepts are ON other than Education, Social Disorganization, Female, Male, and Cognitive Impairment.    </a:t>
            </a:r>
          </a:p>
          <a:p>
            <a:pPr>
              <a:buFont typeface="Wingdings" charset="2"/>
              <a:buChar char="Ø"/>
            </a:pPr>
            <a:endParaRPr 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Case3: outputs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18363" r="-183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06259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Case3: outputs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18363" r="-183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448252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Depression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4F81BD"/>
            </a:solidFill>
          </a:ln>
        </p:spPr>
        <p:txBody>
          <a:bodyPr>
            <a:noAutofit/>
          </a:bodyPr>
          <a:lstStyle/>
          <a:p>
            <a:r>
              <a:rPr lang="en-US" dirty="0" smtClean="0"/>
              <a:t>Depression is mood disorder.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The key  attributes are loss of hope and courage and lack of interest in and enjoyment from everyday life.</a:t>
            </a:r>
          </a:p>
          <a:p>
            <a:endParaRPr lang="en-US" dirty="0" smtClean="0"/>
          </a:p>
          <a:p>
            <a:r>
              <a:rPr lang="en-US" dirty="0" smtClean="0"/>
              <a:t>Person with depression may experience </a:t>
            </a:r>
            <a:r>
              <a:rPr lang="en-US" dirty="0"/>
              <a:t>sadness, tearfulness, feeling of worthlessness or guilt, difficulty concentrating and making decisions, changes in appetite and energy levels, physical restlessness or retardation, and sleep problems</a:t>
            </a:r>
            <a:r>
              <a:rPr lang="en-US" dirty="0" smtClean="0"/>
              <a:t>. 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35538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Depression Significance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Depression is one of the most common emotional disorder among people in different ages.</a:t>
            </a:r>
          </a:p>
          <a:p>
            <a:r>
              <a:rPr lang="en-US" dirty="0" smtClean="0"/>
              <a:t>14</a:t>
            </a:r>
            <a:r>
              <a:rPr lang="en-US" dirty="0"/>
              <a:t>% of </a:t>
            </a:r>
            <a:r>
              <a:rPr lang="en-US" dirty="0" smtClean="0"/>
              <a:t>US citizens </a:t>
            </a:r>
            <a:r>
              <a:rPr lang="en-US" dirty="0"/>
              <a:t>will experience major depression </a:t>
            </a:r>
            <a:r>
              <a:rPr lang="en-US" dirty="0" smtClean="0"/>
              <a:t>during their life span.</a:t>
            </a:r>
          </a:p>
          <a:p>
            <a:r>
              <a:rPr lang="en-US" dirty="0" smtClean="0"/>
              <a:t>The rate of major depressive disorder goes up sharply by moving from general population of seniors to those with acute or chronic illness.</a:t>
            </a:r>
          </a:p>
          <a:p>
            <a:r>
              <a:rPr lang="en-US" dirty="0" smtClean="0"/>
              <a:t>Depression has more important implication in seniors because of its strong association with physical illness and impaired function, cognitive decline, reduction of overall quality of life, and mortality.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18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Depression Significance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Depression </a:t>
            </a:r>
            <a:r>
              <a:rPr lang="en-US" dirty="0" smtClean="0"/>
              <a:t>increases illness symptoms </a:t>
            </a:r>
            <a:r>
              <a:rPr lang="en-US" dirty="0"/>
              <a:t>and </a:t>
            </a:r>
            <a:r>
              <a:rPr lang="en-US" dirty="0" smtClean="0"/>
              <a:t>make suffering worse. </a:t>
            </a:r>
          </a:p>
          <a:p>
            <a:r>
              <a:rPr lang="en-US" dirty="0"/>
              <a:t>It </a:t>
            </a:r>
            <a:r>
              <a:rPr lang="en-US" dirty="0" smtClean="0"/>
              <a:t>damage cognitive </a:t>
            </a:r>
            <a:r>
              <a:rPr lang="en-US" dirty="0"/>
              <a:t>function and may </a:t>
            </a:r>
            <a:r>
              <a:rPr lang="en-US" dirty="0" smtClean="0"/>
              <a:t>place </a:t>
            </a:r>
            <a:r>
              <a:rPr lang="en-US" dirty="0"/>
              <a:t>persons </a:t>
            </a:r>
            <a:r>
              <a:rPr lang="en-US" dirty="0" smtClean="0"/>
              <a:t>at risk </a:t>
            </a:r>
            <a:r>
              <a:rPr lang="en-US" dirty="0"/>
              <a:t>of </a:t>
            </a:r>
            <a:r>
              <a:rPr lang="en-US" dirty="0" smtClean="0"/>
              <a:t>dementia. </a:t>
            </a:r>
          </a:p>
          <a:p>
            <a:r>
              <a:rPr lang="en-US" dirty="0" smtClean="0"/>
              <a:t>It is believed that the rates </a:t>
            </a:r>
            <a:r>
              <a:rPr lang="en-US" dirty="0"/>
              <a:t>of late-</a:t>
            </a:r>
            <a:r>
              <a:rPr lang="en-US" dirty="0" smtClean="0"/>
              <a:t>life depression </a:t>
            </a:r>
            <a:r>
              <a:rPr lang="en-US" dirty="0"/>
              <a:t>will rise as the current cohort of </a:t>
            </a:r>
            <a:r>
              <a:rPr lang="en-US" dirty="0" smtClean="0"/>
              <a:t>middle aged adults </a:t>
            </a:r>
            <a:r>
              <a:rPr lang="en-US" dirty="0"/>
              <a:t>– the Baby Boomers – move into </a:t>
            </a:r>
            <a:r>
              <a:rPr lang="en-US" dirty="0" smtClean="0"/>
              <a:t>their later years.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Baby Boomer:  the post-world war II generation, with the birth years roughly between 1946- 1966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94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Late-Life Depression </a:t>
            </a:r>
            <a:r>
              <a:rPr lang="en-US" dirty="0" smtClean="0"/>
              <a:t>Same as </a:t>
            </a:r>
            <a:r>
              <a:rPr lang="en-US" dirty="0"/>
              <a:t>Early </a:t>
            </a:r>
            <a:r>
              <a:rPr lang="en-US" dirty="0" smtClean="0"/>
              <a:t>or Midlife </a:t>
            </a:r>
            <a:r>
              <a:rPr lang="en-US" dirty="0"/>
              <a:t>Syndromes?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unique </a:t>
            </a:r>
            <a:r>
              <a:rPr lang="en-US" dirty="0"/>
              <a:t>presentation of </a:t>
            </a:r>
            <a:r>
              <a:rPr lang="en-US" dirty="0" smtClean="0"/>
              <a:t>depression among </a:t>
            </a:r>
            <a:r>
              <a:rPr lang="en-US" dirty="0"/>
              <a:t>some </a:t>
            </a:r>
            <a:r>
              <a:rPr lang="en-US" dirty="0" smtClean="0"/>
              <a:t>elders regarding to the complexity of symptoms </a:t>
            </a:r>
            <a:r>
              <a:rPr lang="en-US" dirty="0"/>
              <a:t>characteristic of the </a:t>
            </a:r>
            <a:r>
              <a:rPr lang="en-US" dirty="0" smtClean="0"/>
              <a:t>disorder.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he linkage </a:t>
            </a:r>
            <a:r>
              <a:rPr lang="en-US" dirty="0"/>
              <a:t>between </a:t>
            </a:r>
            <a:r>
              <a:rPr lang="en-US" dirty="0" smtClean="0"/>
              <a:t>depression and </a:t>
            </a:r>
            <a:r>
              <a:rPr lang="en-US" dirty="0"/>
              <a:t>cognitive </a:t>
            </a:r>
            <a:r>
              <a:rPr lang="en-US" dirty="0" smtClean="0"/>
              <a:t>decline. </a:t>
            </a:r>
          </a:p>
          <a:p>
            <a:endParaRPr lang="en-US" dirty="0" smtClean="0"/>
          </a:p>
          <a:p>
            <a:r>
              <a:rPr lang="en-US" dirty="0" smtClean="0"/>
              <a:t>Result of studies of </a:t>
            </a:r>
            <a:r>
              <a:rPr lang="en-US" dirty="0"/>
              <a:t>the </a:t>
            </a:r>
            <a:r>
              <a:rPr lang="en-US" dirty="0" smtClean="0"/>
              <a:t>neuroanatomical characteristics </a:t>
            </a:r>
            <a:r>
              <a:rPr lang="en-US" dirty="0"/>
              <a:t>of late-life </a:t>
            </a:r>
            <a:r>
              <a:rPr lang="en-US" dirty="0" smtClean="0"/>
              <a:t>depression versus early depression.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46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Late-life Depression Symptomatology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elders may experience significant symptomatology, but in absence of sadness and discouragement which are counted as the core of depression identification in early ages.</a:t>
            </a:r>
          </a:p>
          <a:p>
            <a:pPr>
              <a:buFont typeface="Wingdings" charset="2"/>
              <a:buChar char="Ø"/>
            </a:pPr>
            <a:r>
              <a:rPr lang="en-US" dirty="0"/>
              <a:t>It is a recognized syndrome among seniors without sadness, but with hopelessness, helplessness, and anhedonia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Anxiety which often co-occur with depression and made a differentiate diagnoses challenging, is more likely between elders.</a:t>
            </a:r>
          </a:p>
          <a:p>
            <a:r>
              <a:rPr lang="en-US" dirty="0" smtClean="0"/>
              <a:t>By aging some diseases may trigger depression as well as some medications used for treatment. 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769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 to Depression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Biological Risk Factors</a:t>
            </a:r>
          </a:p>
          <a:p>
            <a:endParaRPr lang="en-US" dirty="0" smtClean="0"/>
          </a:p>
          <a:p>
            <a:r>
              <a:rPr lang="en-US" dirty="0" smtClean="0"/>
              <a:t>Medical and Clinical Risk Factors</a:t>
            </a:r>
          </a:p>
          <a:p>
            <a:endParaRPr lang="en-US" dirty="0" smtClean="0"/>
          </a:p>
          <a:p>
            <a:r>
              <a:rPr lang="en-US" dirty="0" smtClean="0"/>
              <a:t>Psychosocial Risk Factors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2163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75" y="1981200"/>
            <a:ext cx="7556313" cy="4144963"/>
          </a:xfrm>
        </p:spPr>
        <p:txBody>
          <a:bodyPr/>
          <a:lstStyle/>
          <a:p>
            <a:r>
              <a:rPr lang="en-US" dirty="0" smtClean="0"/>
              <a:t>Aging</a:t>
            </a:r>
          </a:p>
          <a:p>
            <a:r>
              <a:rPr lang="en-US" dirty="0" smtClean="0"/>
              <a:t>Genetic factors</a:t>
            </a:r>
          </a:p>
          <a:p>
            <a:r>
              <a:rPr lang="en-US" dirty="0" smtClean="0"/>
              <a:t>Cerebrovascular Factors</a:t>
            </a:r>
          </a:p>
          <a:p>
            <a:r>
              <a:rPr lang="en-US" dirty="0" smtClean="0"/>
              <a:t>Endocrine Function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Abnormalities of </a:t>
            </a:r>
            <a:r>
              <a:rPr lang="en-US" dirty="0"/>
              <a:t> hypothalamic</a:t>
            </a:r>
            <a:r>
              <a:rPr lang="en-US" dirty="0" smtClean="0"/>
              <a:t>–pituitary</a:t>
            </a:r>
            <a:r>
              <a:rPr lang="en-US" dirty="0"/>
              <a:t>–adrenal (HPA) axis </a:t>
            </a:r>
            <a:r>
              <a:rPr lang="en-US" dirty="0" smtClean="0"/>
              <a:t>activity is linked with depression dispose.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Changes in sleep patterns in terms of normal aging, and sex hormones  also associated with HPA and may result in depression in elders.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930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Cerebrovascular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Brain structure changes and function related to vascular pathologies are strongly linked with late-onset major depressive disorder.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The most obvious and most heavily studied one is, stroke.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1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and Clinical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>
              <a:buFont typeface="Wingdings" charset="2"/>
              <a:buChar char="n"/>
            </a:pPr>
            <a:r>
              <a:rPr lang="en-US" dirty="0" smtClean="0"/>
              <a:t>The relationship of specific medical conditions with depression.</a:t>
            </a:r>
          </a:p>
          <a:p>
            <a:pPr lvl="1"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dirty="0" smtClean="0"/>
              <a:t>Cardiac disease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Diabetes, Cancer, Stroke, Parkinson. </a:t>
            </a:r>
            <a:endParaRPr lang="en-US" dirty="0"/>
          </a:p>
          <a:p>
            <a:pPr>
              <a:buFont typeface="Wingdings" charset="2"/>
              <a:buChar char="n"/>
            </a:pPr>
            <a:r>
              <a:rPr lang="en-US" dirty="0"/>
              <a:t>Overall medical burden and </a:t>
            </a:r>
            <a:r>
              <a:rPr lang="en-US" dirty="0" smtClean="0"/>
              <a:t>depression.</a:t>
            </a:r>
          </a:p>
          <a:p>
            <a:pPr lvl="1"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dirty="0" smtClean="0"/>
              <a:t>Seniors with greater number of health problems  and more serious medical condition, are at significantly higher risk of depression regardless of the specific medical illness.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charset="2"/>
              <a:buChar char="n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76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1"/>
            <a:ext cx="6782859" cy="3733800"/>
          </a:xfrm>
        </p:spPr>
        <p:txBody>
          <a:bodyPr>
            <a:normAutofit/>
          </a:bodyPr>
          <a:lstStyle/>
          <a:p>
            <a:pPr>
              <a:buSzPct val="110000"/>
              <a:buFont typeface="Wingdings" charset="2"/>
              <a:buChar char="§"/>
            </a:pPr>
            <a:r>
              <a:rPr lang="en-US" dirty="0" smtClean="0"/>
              <a:t>Stroke</a:t>
            </a:r>
            <a:r>
              <a:rPr lang="en-US" b="1" dirty="0" smtClean="0"/>
              <a:t> </a:t>
            </a:r>
            <a:r>
              <a:rPr lang="en-US" dirty="0"/>
              <a:t>is the third most common cause of death and a leading cause of long term disability among </a:t>
            </a:r>
            <a:r>
              <a:rPr lang="en-US" dirty="0" smtClean="0"/>
              <a:t>elders.</a:t>
            </a:r>
          </a:p>
          <a:p>
            <a:pPr marL="0" indent="0">
              <a:buSzPct val="110000"/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50" y="2973385"/>
            <a:ext cx="6921500" cy="320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62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Psychosocial Risk Factors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Major and minor stressors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Death of a spouse or other loved one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retirement</a:t>
            </a:r>
          </a:p>
          <a:p>
            <a:r>
              <a:rPr lang="en-US" dirty="0" smtClean="0"/>
              <a:t>Lack of cognitive and behavioral coping skills</a:t>
            </a:r>
          </a:p>
          <a:p>
            <a:r>
              <a:rPr lang="en-US" dirty="0" smtClean="0"/>
              <a:t>Inadequate social resources for managing the situation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Social isolation and loneliness are strong and consistent predictors of depression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572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FCM of Coping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17006" b="-17006"/>
          <a:stretch>
            <a:fillRect/>
          </a:stretch>
        </p:blipFill>
        <p:spPr>
          <a:xfrm>
            <a:off x="688977" y="1600200"/>
            <a:ext cx="7714193" cy="5152947"/>
          </a:xfrm>
        </p:spPr>
      </p:pic>
    </p:spTree>
    <p:extLst>
      <p:ext uri="{BB962C8B-B14F-4D97-AF65-F5344CB8AC3E}">
        <p14:creationId xmlns:p14="http://schemas.microsoft.com/office/powerpoint/2010/main" val="4112256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FCM of Social Support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7784" b="-7784"/>
          <a:stretch>
            <a:fillRect/>
          </a:stretch>
        </p:blipFill>
        <p:spPr>
          <a:xfrm>
            <a:off x="498474" y="1981200"/>
            <a:ext cx="8158693" cy="4144963"/>
          </a:xfrm>
        </p:spPr>
      </p:pic>
    </p:spTree>
    <p:extLst>
      <p:ext uri="{BB962C8B-B14F-4D97-AF65-F5344CB8AC3E}">
        <p14:creationId xmlns:p14="http://schemas.microsoft.com/office/powerpoint/2010/main" val="3602247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eligious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Higher level of religious involvement may result in: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Lower </a:t>
            </a:r>
            <a:r>
              <a:rPr lang="en-US" dirty="0"/>
              <a:t>level of functional disability</a:t>
            </a:r>
          </a:p>
          <a:p>
            <a:pPr lvl="1"/>
            <a:r>
              <a:rPr lang="en-US" dirty="0"/>
              <a:t>Lower prevalence of </a:t>
            </a:r>
            <a:r>
              <a:rPr lang="en-US" dirty="0" smtClean="0"/>
              <a:t>hypertension</a:t>
            </a:r>
            <a:endParaRPr lang="en-US" dirty="0"/>
          </a:p>
          <a:p>
            <a:pPr lvl="1"/>
            <a:r>
              <a:rPr lang="en-US" dirty="0"/>
              <a:t>Better recovery after </a:t>
            </a:r>
            <a:r>
              <a:rPr lang="en-US" dirty="0" smtClean="0"/>
              <a:t>cardiac disease</a:t>
            </a:r>
            <a:endParaRPr lang="en-US" dirty="0"/>
          </a:p>
          <a:p>
            <a:pPr lvl="1"/>
            <a:r>
              <a:rPr lang="en-US" dirty="0"/>
              <a:t>Lower </a:t>
            </a:r>
            <a:r>
              <a:rPr lang="en-US" dirty="0" smtClean="0"/>
              <a:t>mortality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4175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FCM of Cognitive Decline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7677" b="-7677"/>
          <a:stretch>
            <a:fillRect/>
          </a:stretch>
        </p:blipFill>
        <p:spPr>
          <a:xfrm>
            <a:off x="498474" y="1981200"/>
            <a:ext cx="8052859" cy="4347633"/>
          </a:xfrm>
        </p:spPr>
      </p:pic>
    </p:spTree>
    <p:extLst>
      <p:ext uri="{BB962C8B-B14F-4D97-AF65-F5344CB8AC3E}">
        <p14:creationId xmlns:p14="http://schemas.microsoft.com/office/powerpoint/2010/main" val="5277522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FCM of Sense of Loss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33535" b="-33535"/>
          <a:stretch>
            <a:fillRect/>
          </a:stretch>
        </p:blipFill>
        <p:spPr>
          <a:xfrm>
            <a:off x="498474" y="1981200"/>
            <a:ext cx="8052859" cy="4876800"/>
          </a:xfrm>
        </p:spPr>
      </p:pic>
    </p:spTree>
    <p:extLst>
      <p:ext uri="{BB962C8B-B14F-4D97-AF65-F5344CB8AC3E}">
        <p14:creationId xmlns:p14="http://schemas.microsoft.com/office/powerpoint/2010/main" val="3305979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FCM of </a:t>
            </a:r>
            <a:r>
              <a:rPr lang="en-US" dirty="0" err="1" smtClean="0"/>
              <a:t>SelfEfficacy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29675" b="-296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0092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FCM of Suicide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22248" b="-222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01460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FCM of Depression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t="-4743" b="-4743"/>
          <a:stretch>
            <a:fillRect/>
          </a:stretch>
        </p:blipFill>
        <p:spPr>
          <a:xfrm>
            <a:off x="498474" y="1981200"/>
            <a:ext cx="8179859" cy="4368800"/>
          </a:xfrm>
        </p:spPr>
      </p:pic>
    </p:spTree>
    <p:extLst>
      <p:ext uri="{BB962C8B-B14F-4D97-AF65-F5344CB8AC3E}">
        <p14:creationId xmlns:p14="http://schemas.microsoft.com/office/powerpoint/2010/main" val="2036693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Seniors?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  <a:buFont typeface="Wingdings" charset="2"/>
              <a:buChar char="§"/>
            </a:pPr>
            <a:r>
              <a:rPr lang="en-US" dirty="0" smtClean="0"/>
              <a:t>Report of statistical profile of people aged 65 and over, shows that the number of seniors in Canada jumped from 2.4 million to 4.2 million between 1981 and 2005.</a:t>
            </a:r>
          </a:p>
          <a:p>
            <a:pPr>
              <a:buSzPct val="100000"/>
              <a:buFont typeface="Wingdings" charset="2"/>
              <a:buChar char="§"/>
            </a:pPr>
            <a:endParaRPr lang="en-US" dirty="0"/>
          </a:p>
          <a:p>
            <a:pPr>
              <a:buSzPct val="100000"/>
              <a:buFont typeface="Wingdings" charset="2"/>
              <a:buChar char="§"/>
            </a:pPr>
            <a:r>
              <a:rPr lang="en-US" dirty="0" smtClean="0"/>
              <a:t>The expected increase between </a:t>
            </a:r>
            <a:r>
              <a:rPr lang="en-US" dirty="0"/>
              <a:t>2006 and 2026, </a:t>
            </a:r>
            <a:r>
              <a:rPr lang="en-US" dirty="0" smtClean="0"/>
              <a:t> is from </a:t>
            </a:r>
            <a:r>
              <a:rPr lang="en-US" dirty="0"/>
              <a:t>4.3 million to 9.8 </a:t>
            </a:r>
            <a:r>
              <a:rPr lang="en-US" dirty="0" smtClean="0"/>
              <a:t>million.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343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 and 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Depression can be seen as a very complex and dynamic model, which using just statistics and software to demonstrate its complexity does not seem enough.</a:t>
            </a:r>
          </a:p>
          <a:p>
            <a:r>
              <a:rPr lang="en-US" dirty="0" smtClean="0"/>
              <a:t>All data used mostly related to past. </a:t>
            </a:r>
          </a:p>
          <a:p>
            <a:r>
              <a:rPr lang="en-US" dirty="0" smtClean="0"/>
              <a:t>Scales for measuring each concept are predetermined, which regarding nowadays cultural, technological changes seems somehow not fully sufficient.</a:t>
            </a:r>
          </a:p>
          <a:p>
            <a:r>
              <a:rPr lang="en-US" dirty="0" smtClean="0"/>
              <a:t>In most cases, examined samples are from community-dwelling seniors, but the rate of depression seems higher between LTC residents.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570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Thank you.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42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4664</TotalTime>
  <Words>948</Words>
  <Application>Microsoft Macintosh PowerPoint</Application>
  <PresentationFormat>On-screen Show (4:3)</PresentationFormat>
  <Paragraphs>140</Paragraphs>
  <Slides>34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Advantage</vt:lpstr>
      <vt:lpstr>Fuzzy Cognitive Map for Depression in Seniors</vt:lpstr>
      <vt:lpstr>Outline:</vt:lpstr>
      <vt:lpstr>Fuzzy Cognitive Map(FCM) for Deviance Model </vt:lpstr>
      <vt:lpstr>Fuzzy Cognitive Map(FCM) for Deviance Model</vt:lpstr>
      <vt:lpstr>Fuzzy Cognitive Map(FCM) for Deviance Model </vt:lpstr>
      <vt:lpstr>Scenarios on Deviance FCM</vt:lpstr>
      <vt:lpstr>Case1: outputs</vt:lpstr>
      <vt:lpstr>Scenarios on Deviance FCM</vt:lpstr>
      <vt:lpstr>Case2: outputs</vt:lpstr>
      <vt:lpstr>Scenarios on Deviance FCM</vt:lpstr>
      <vt:lpstr>Case3: outputs</vt:lpstr>
      <vt:lpstr>Case3: outputs</vt:lpstr>
      <vt:lpstr>Introduction to Depression </vt:lpstr>
      <vt:lpstr>Depression Significance </vt:lpstr>
      <vt:lpstr>Depression Significance </vt:lpstr>
      <vt:lpstr>Is Late-Life Depression Same as Early or Midlife Syndromes? </vt:lpstr>
      <vt:lpstr>Late-life Depression Symptomatology </vt:lpstr>
      <vt:lpstr>Risk Factors to Depression </vt:lpstr>
      <vt:lpstr>Biological Risk Factors </vt:lpstr>
      <vt:lpstr>Cerebrovascular Factors </vt:lpstr>
      <vt:lpstr>Medical and Clinical Risk Factors </vt:lpstr>
      <vt:lpstr>Stroke</vt:lpstr>
      <vt:lpstr>Psychosocial Risk Factors </vt:lpstr>
      <vt:lpstr>FCM of Coping</vt:lpstr>
      <vt:lpstr>FCM of Social Support</vt:lpstr>
      <vt:lpstr>Religious</vt:lpstr>
      <vt:lpstr>FCM of Cognitive Decline</vt:lpstr>
      <vt:lpstr>FCM of Sense of Loss</vt:lpstr>
      <vt:lpstr>FCM of SelfEfficacy</vt:lpstr>
      <vt:lpstr>FCM of Suicide</vt:lpstr>
      <vt:lpstr>Partial FCM of Depression</vt:lpstr>
      <vt:lpstr>Why Seniors?</vt:lpstr>
      <vt:lpstr>Limitation and Future Work</vt:lpstr>
      <vt:lpstr> Thank you.</vt:lpstr>
    </vt:vector>
  </TitlesOfParts>
  <Company>Simon Fraser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State Machine</dc:title>
  <dc:creator>Hamed Yaghoubi Shahir</dc:creator>
  <cp:lastModifiedBy>Sara Namazi Aghjeh Zizeh</cp:lastModifiedBy>
  <cp:revision>226</cp:revision>
  <cp:lastPrinted>2011-09-27T19:14:18Z</cp:lastPrinted>
  <dcterms:created xsi:type="dcterms:W3CDTF">2011-09-27T05:17:15Z</dcterms:created>
  <dcterms:modified xsi:type="dcterms:W3CDTF">2011-12-01T04:29:09Z</dcterms:modified>
</cp:coreProperties>
</file>