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9" r:id="rId3"/>
    <p:sldId id="260" r:id="rId4"/>
    <p:sldId id="261" r:id="rId5"/>
    <p:sldId id="262" r:id="rId6"/>
    <p:sldId id="264" r:id="rId7"/>
    <p:sldId id="263" r:id="rId8"/>
    <p:sldId id="266" r:id="rId9"/>
    <p:sldId id="267" r:id="rId10"/>
    <p:sldId id="268" r:id="rId11"/>
    <p:sldId id="269" r:id="rId12"/>
    <p:sldId id="270" r:id="rId13"/>
    <p:sldId id="275" r:id="rId14"/>
    <p:sldId id="271" r:id="rId15"/>
    <p:sldId id="272" r:id="rId16"/>
    <p:sldId id="273" r:id="rId17"/>
    <p:sldId id="280" r:id="rId18"/>
    <p:sldId id="278" r:id="rId19"/>
    <p:sldId id="279" r:id="rId20"/>
    <p:sldId id="295" r:id="rId21"/>
    <p:sldId id="282" r:id="rId22"/>
    <p:sldId id="284" r:id="rId23"/>
    <p:sldId id="285" r:id="rId24"/>
    <p:sldId id="289" r:id="rId25"/>
    <p:sldId id="286" r:id="rId26"/>
    <p:sldId id="287" r:id="rId27"/>
    <p:sldId id="290" r:id="rId28"/>
    <p:sldId id="292" r:id="rId29"/>
    <p:sldId id="293" r:id="rId30"/>
    <p:sldId id="288" r:id="rId31"/>
    <p:sldId id="258" r:id="rId32"/>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109"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109"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109"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109"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109" charset="-128"/>
        <a:cs typeface="+mn-cs"/>
      </a:defRPr>
    </a:lvl5pPr>
    <a:lvl6pPr marL="2286000" algn="l" defTabSz="914400" rtl="0" eaLnBrk="1" latinLnBrk="0" hangingPunct="1">
      <a:defRPr kern="1200">
        <a:solidFill>
          <a:schemeClr val="tx1"/>
        </a:solidFill>
        <a:latin typeface="Arial" charset="0"/>
        <a:ea typeface="ＭＳ Ｐゴシック" pitchFamily="-109" charset="-128"/>
        <a:cs typeface="+mn-cs"/>
      </a:defRPr>
    </a:lvl6pPr>
    <a:lvl7pPr marL="2743200" algn="l" defTabSz="914400" rtl="0" eaLnBrk="1" latinLnBrk="0" hangingPunct="1">
      <a:defRPr kern="1200">
        <a:solidFill>
          <a:schemeClr val="tx1"/>
        </a:solidFill>
        <a:latin typeface="Arial" charset="0"/>
        <a:ea typeface="ＭＳ Ｐゴシック" pitchFamily="-109" charset="-128"/>
        <a:cs typeface="+mn-cs"/>
      </a:defRPr>
    </a:lvl7pPr>
    <a:lvl8pPr marL="3200400" algn="l" defTabSz="914400" rtl="0" eaLnBrk="1" latinLnBrk="0" hangingPunct="1">
      <a:defRPr kern="1200">
        <a:solidFill>
          <a:schemeClr val="tx1"/>
        </a:solidFill>
        <a:latin typeface="Arial" charset="0"/>
        <a:ea typeface="ＭＳ Ｐゴシック" pitchFamily="-109" charset="-128"/>
        <a:cs typeface="+mn-cs"/>
      </a:defRPr>
    </a:lvl8pPr>
    <a:lvl9pPr marL="3657600" algn="l" defTabSz="914400" rtl="0" eaLnBrk="1" latinLnBrk="0" hangingPunct="1">
      <a:defRPr kern="1200">
        <a:solidFill>
          <a:schemeClr val="tx1"/>
        </a:solidFill>
        <a:latin typeface="Arial" charset="0"/>
        <a:ea typeface="ＭＳ Ｐゴシック" pitchFamily="-109"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C0000"/>
    <a:srgbClr val="005287"/>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83" autoAdjust="0"/>
    <p:restoredTop sz="84970" autoAdjust="0"/>
  </p:normalViewPr>
  <p:slideViewPr>
    <p:cSldViewPr snapToObjects="1">
      <p:cViewPr>
        <p:scale>
          <a:sx n="100" d="100"/>
          <a:sy n="100" d="100"/>
        </p:scale>
        <p:origin x="-1092" y="9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AU"/>
          </a:p>
        </p:txBody>
      </p:sp>
      <p:sp>
        <p:nvSpPr>
          <p:cNvPr id="163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998CD655-806C-46B0-BB39-0883574938CD}" type="datetime1">
              <a:rPr lang="en-AU"/>
              <a:pPr>
                <a:defRPr/>
              </a:pPr>
              <a:t>17/10/2011</a:t>
            </a:fld>
            <a:endParaRPr lang="en-AU"/>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smtClean="0"/>
              <a:t>Click to edit Master text styles</a:t>
            </a:r>
          </a:p>
          <a:p>
            <a:pPr lvl="1"/>
            <a:r>
              <a:rPr lang="en-AU" noProof="0" smtClean="0"/>
              <a:t>Second level</a:t>
            </a:r>
          </a:p>
          <a:p>
            <a:pPr lvl="2"/>
            <a:r>
              <a:rPr lang="en-AU" noProof="0" smtClean="0"/>
              <a:t>Third level</a:t>
            </a:r>
          </a:p>
          <a:p>
            <a:pPr lvl="3"/>
            <a:r>
              <a:rPr lang="en-AU" noProof="0" smtClean="0"/>
              <a:t>Fourth level</a:t>
            </a:r>
          </a:p>
          <a:p>
            <a:pPr lvl="4"/>
            <a:r>
              <a:rPr lang="en-AU" noProof="0" smtClean="0"/>
              <a:t>Fifth level</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AU"/>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A608E31B-C042-4E85-B5EB-12506A2C072E}" type="slidenum">
              <a:rPr lang="en-AU"/>
              <a:pPr>
                <a:defRPr/>
              </a:pPr>
              <a:t>‹#›</a:t>
            </a:fld>
            <a:endParaRPr lang="en-AU"/>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1pPr>
    <a:lvl2pPr marL="4572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2pPr>
    <a:lvl3pPr marL="9144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3pPr>
    <a:lvl4pPr marL="13716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4pPr>
    <a:lvl5pPr marL="18288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6</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7</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8</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10</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Calibri" pitchFamily="34" charset="0"/>
                <a:ea typeface="ＭＳ Ｐゴシック" pitchFamily="-109" charset="-128"/>
                <a:cs typeface="+mn-cs"/>
              </a:rPr>
              <a:t>One study that did investigate such issues highlighted the need to consider culturally-specific issues such as interpersonal networks and social hierarchy when examining driver </a:t>
            </a:r>
            <a:r>
              <a:rPr lang="en-US" sz="1200" kern="1200" dirty="0" err="1" smtClean="0">
                <a:solidFill>
                  <a:schemeClr val="tx1"/>
                </a:solidFill>
                <a:latin typeface="Calibri" pitchFamily="34" charset="0"/>
                <a:ea typeface="ＭＳ Ｐゴシック" pitchFamily="-109" charset="-128"/>
                <a:cs typeface="+mn-cs"/>
              </a:rPr>
              <a:t>behaviour</a:t>
            </a:r>
            <a:r>
              <a:rPr lang="en-US" sz="1200" kern="1200" dirty="0" smtClean="0">
                <a:solidFill>
                  <a:schemeClr val="tx1"/>
                </a:solidFill>
                <a:latin typeface="Calibri" pitchFamily="34" charset="0"/>
                <a:ea typeface="ＭＳ Ｐゴシック" pitchFamily="-109" charset="-128"/>
                <a:cs typeface="+mn-cs"/>
              </a:rPr>
              <a:t> in China [14]. The findings suggested that there are some concepts relating to Chinese driving culture that may not necessarily have been identified from research conducted in western contexts and that research conducted in China (and other Asian countries) must be considered in light of such concepts. </a:t>
            </a:r>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11</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Calibri" pitchFamily="34" charset="0"/>
                <a:ea typeface="ＭＳ Ｐゴシック" pitchFamily="-109" charset="-128"/>
                <a:cs typeface="+mn-cs"/>
              </a:rPr>
              <a:t> </a:t>
            </a:r>
            <a:endParaRPr lang="en-AU" sz="1200" kern="1200" dirty="0" smtClean="0">
              <a:solidFill>
                <a:schemeClr val="tx1"/>
              </a:solidFill>
              <a:latin typeface="Calibri" pitchFamily="34" charset="0"/>
              <a:ea typeface="ＭＳ Ｐゴシック" pitchFamily="-109" charset="-128"/>
              <a:cs typeface="+mn-cs"/>
            </a:endParaRPr>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15</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Calibri" pitchFamily="34" charset="0"/>
                <a:ea typeface="ＭＳ Ｐゴシック" pitchFamily="-109" charset="-128"/>
                <a:cs typeface="+mn-cs"/>
              </a:rPr>
              <a:t> </a:t>
            </a:r>
            <a:endParaRPr lang="en-AU" sz="1200" kern="1200" dirty="0" smtClean="0">
              <a:solidFill>
                <a:schemeClr val="tx1"/>
              </a:solidFill>
              <a:latin typeface="Calibri" pitchFamily="34" charset="0"/>
              <a:ea typeface="ＭＳ Ｐゴシック" pitchFamily="-109" charset="-128"/>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16</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17</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18</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19</a:t>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21</a:t>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24</a:t>
            </a:fld>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25</a:t>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26</a:t>
            </a:fld>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27</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28</a:t>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29</a:t>
            </a:fld>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30</a:t>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AU"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31</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AD0D5C7-5948-4F57-AB0E-D5EC64E70B34}" type="datetime1">
              <a:rPr lang="en-US"/>
              <a:pPr>
                <a:defRPr/>
              </a:pPr>
              <a:t>10/17/2011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C6B3756D-0840-41A4-A8CD-C8791CD1E478}" type="slidenum">
              <a:rPr lang="en-US"/>
              <a:pPr>
                <a:defRPr/>
              </a:pPr>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D6F620F-E073-41EB-A23D-E7C552531162}" type="datetime1">
              <a:rPr lang="en-US"/>
              <a:pPr>
                <a:defRPr/>
              </a:pPr>
              <a:t>10/17/2011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5D6DECAC-6A7B-4A2C-B0DC-8C0CC7BABCF7}" type="slidenum">
              <a:rPr lang="en-US"/>
              <a:pPr>
                <a:defRPr/>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F3E528F-4FC1-4977-8C16-71779F872F72}" type="datetime1">
              <a:rPr lang="en-US"/>
              <a:pPr>
                <a:defRPr/>
              </a:pPr>
              <a:t>10/17/2011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6D0890EB-7B37-4EDC-B6A8-80F83BE6358F}" type="slidenum">
              <a:rPr lang="en-US"/>
              <a:pPr>
                <a:defRPr/>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84DAA55-DAA2-4CDB-9DF9-FDB6ECE509C1}" type="datetime1">
              <a:rPr lang="en-US"/>
              <a:pPr>
                <a:defRPr/>
              </a:pPr>
              <a:t>10/17/2011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00BAEC39-A42E-4630-A000-60C76417184A}" type="slidenum">
              <a:rPr lang="en-US"/>
              <a:pPr>
                <a:defRPr/>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66ABFB7-C09B-4B5A-9E6C-56FAA4040DC7}" type="datetime1">
              <a:rPr lang="en-US"/>
              <a:pPr>
                <a:defRPr/>
              </a:pPr>
              <a:t>10/17/2011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AU"/>
          </a:p>
        </p:txBody>
      </p:sp>
      <p:sp>
        <p:nvSpPr>
          <p:cNvPr id="9" name="Slide Number Placeholder 5"/>
          <p:cNvSpPr>
            <a:spLocks noGrp="1"/>
          </p:cNvSpPr>
          <p:nvPr>
            <p:ph type="sldNum" sz="quarter" idx="12"/>
          </p:nvPr>
        </p:nvSpPr>
        <p:spPr/>
        <p:txBody>
          <a:bodyPr/>
          <a:lstStyle>
            <a:lvl1pPr>
              <a:defRPr/>
            </a:lvl1pPr>
          </a:lstStyle>
          <a:p>
            <a:pPr>
              <a:defRPr/>
            </a:pPr>
            <a:fld id="{33B6550E-5489-4F30-B728-0E8E532CCD97}" type="slidenum">
              <a:rPr lang="en-US"/>
              <a:pPr>
                <a:defRPr/>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F0966F3-7DBD-455A-B732-8C984759CC7E}" type="datetime1">
              <a:rPr lang="en-US"/>
              <a:pPr>
                <a:defRPr/>
              </a:pPr>
              <a:t>10/17/2011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AU"/>
          </a:p>
        </p:txBody>
      </p:sp>
      <p:sp>
        <p:nvSpPr>
          <p:cNvPr id="5" name="Slide Number Placeholder 5"/>
          <p:cNvSpPr>
            <a:spLocks noGrp="1"/>
          </p:cNvSpPr>
          <p:nvPr>
            <p:ph type="sldNum" sz="quarter" idx="12"/>
          </p:nvPr>
        </p:nvSpPr>
        <p:spPr/>
        <p:txBody>
          <a:bodyPr/>
          <a:lstStyle>
            <a:lvl1pPr>
              <a:defRPr/>
            </a:lvl1pPr>
          </a:lstStyle>
          <a:p>
            <a:pPr>
              <a:defRPr/>
            </a:pPr>
            <a:fld id="{6428128C-6650-4E8C-A9BA-FFF686E11C29}" type="slidenum">
              <a:rPr lang="en-US"/>
              <a:pPr>
                <a:defRPr/>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E94C369-6711-404C-BF28-AA6FCF89364C}" type="datetime1">
              <a:rPr lang="en-US"/>
              <a:pPr>
                <a:defRPr/>
              </a:pPr>
              <a:t>10/17/2011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AU"/>
          </a:p>
        </p:txBody>
      </p:sp>
      <p:sp>
        <p:nvSpPr>
          <p:cNvPr id="4" name="Slide Number Placeholder 5"/>
          <p:cNvSpPr>
            <a:spLocks noGrp="1"/>
          </p:cNvSpPr>
          <p:nvPr>
            <p:ph type="sldNum" sz="quarter" idx="12"/>
          </p:nvPr>
        </p:nvSpPr>
        <p:spPr/>
        <p:txBody>
          <a:bodyPr/>
          <a:lstStyle>
            <a:lvl1pPr>
              <a:defRPr/>
            </a:lvl1pPr>
          </a:lstStyle>
          <a:p>
            <a:pPr>
              <a:defRPr/>
            </a:pPr>
            <a:fld id="{8B235DB9-104B-4345-AAD5-3000A370FBEE}" type="slidenum">
              <a:rPr lang="en-US"/>
              <a:pPr>
                <a:defRPr/>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9C44FD4-997A-41BA-8BD0-640AABBAD1E7}" type="datetime1">
              <a:rPr lang="en-US"/>
              <a:pPr>
                <a:defRPr/>
              </a:pPr>
              <a:t>10/17/2011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78402B14-AD1D-4177-B62B-0AD8DF88B50D}" type="slidenum">
              <a:rPr lang="en-US"/>
              <a:pPr>
                <a:defRPr/>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F8F17BA-A561-4FD9-9165-71115272C1AD}" type="datetime1">
              <a:rPr lang="en-US"/>
              <a:pPr>
                <a:defRPr/>
              </a:pPr>
              <a:t>10/17/2011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4B3356BB-3ACA-48F5-BE0B-FD419E2EB96F}" type="slidenum">
              <a:rPr lang="en-US"/>
              <a:pPr>
                <a:defRPr/>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3D820BB-FC4E-4245-AE46-1E3505EEA079}" type="datetime1">
              <a:rPr lang="en-US"/>
              <a:pPr>
                <a:defRPr/>
              </a:pPr>
              <a:t>10/17/2011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6B281DBB-BADE-4694-B17D-3CF12E36A3BA}" type="slidenum">
              <a:rPr lang="en-US"/>
              <a:pPr>
                <a:defRPr/>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964BD1C-FEC8-4607-9D88-7A40ED23D413}" type="datetime1">
              <a:rPr lang="en-US"/>
              <a:pPr>
                <a:defRPr/>
              </a:pPr>
              <a:t>10/17/2011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52E87B3F-E1AA-4D8C-922B-31A54F656723}" type="slidenum">
              <a:rPr lang="en-US"/>
              <a:pPr>
                <a:defRPr/>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98B0"/>
                </a:solidFill>
              </a:defRPr>
            </a:lvl1pPr>
          </a:lstStyle>
          <a:p>
            <a:pPr>
              <a:defRPr/>
            </a:pPr>
            <a:fld id="{1AA86C61-CAE5-47B7-8F5B-1B06CE2379F6}" type="datetime1">
              <a:rPr lang="en-US"/>
              <a:pPr>
                <a:defRPr/>
              </a:pPr>
              <a:t>10/17/2011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98B0"/>
                </a:solidFill>
              </a:defRPr>
            </a:lvl1pPr>
          </a:lstStyle>
          <a:p>
            <a:pPr>
              <a:defRPr/>
            </a:pPr>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98B0"/>
                </a:solidFill>
              </a:defRPr>
            </a:lvl1pPr>
          </a:lstStyle>
          <a:p>
            <a:pPr>
              <a:defRPr/>
            </a:pPr>
            <a:fld id="{D2E06F2D-8121-499C-9B92-D1F803EE1DA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09" charset="-128"/>
          <a:cs typeface="ＭＳ Ｐゴシック" pitchFamily="-109" charset="-128"/>
        </a:defRPr>
      </a:lvl1pPr>
      <a:lvl2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2pPr>
      <a:lvl3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3pPr>
      <a:lvl4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4pPr>
      <a:lvl5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5pPr>
      <a:lvl6pPr marL="4572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6pPr>
      <a:lvl7pPr marL="9144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7pPr>
      <a:lvl8pPr marL="13716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8pPr>
      <a:lvl9pPr marL="18288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09" charset="-128"/>
          <a:cs typeface="ＭＳ Ｐゴシック" pitchFamily="-109"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09"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09"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4"/>
          <p:cNvSpPr>
            <a:spLocks noChangeArrowheads="1"/>
          </p:cNvSpPr>
          <p:nvPr/>
        </p:nvSpPr>
        <p:spPr bwMode="auto">
          <a:xfrm>
            <a:off x="107950" y="3068638"/>
            <a:ext cx="9036050" cy="1008062"/>
          </a:xfrm>
          <a:prstGeom prst="rect">
            <a:avLst/>
          </a:prstGeom>
          <a:noFill/>
          <a:ln w="9525">
            <a:noFill/>
            <a:miter lim="800000"/>
            <a:headEnd/>
            <a:tailEnd/>
          </a:ln>
        </p:spPr>
        <p:txBody>
          <a:bodyPr anchor="ctr"/>
          <a:lstStyle/>
          <a:p>
            <a:pPr eaLnBrk="0" hangingPunct="0"/>
            <a:endParaRPr lang="en-AU" sz="3600">
              <a:solidFill>
                <a:srgbClr val="CC0000"/>
              </a:solidFill>
              <a:latin typeface="Trebuchet MS" pitchFamily="34" charset="0"/>
            </a:endParaRPr>
          </a:p>
        </p:txBody>
      </p:sp>
      <p:sp>
        <p:nvSpPr>
          <p:cNvPr id="2051" name="Rectangle 5"/>
          <p:cNvSpPr>
            <a:spLocks noChangeArrowheads="1"/>
          </p:cNvSpPr>
          <p:nvPr/>
        </p:nvSpPr>
        <p:spPr bwMode="auto">
          <a:xfrm>
            <a:off x="714375" y="3214688"/>
            <a:ext cx="8429625" cy="1944687"/>
          </a:xfrm>
          <a:prstGeom prst="rect">
            <a:avLst/>
          </a:prstGeom>
          <a:noFill/>
          <a:ln w="9525">
            <a:noFill/>
            <a:miter lim="800000"/>
            <a:headEnd/>
            <a:tailEnd/>
          </a:ln>
        </p:spPr>
        <p:txBody>
          <a:bodyPr anchor="ctr"/>
          <a:lstStyle/>
          <a:p>
            <a:pPr defTabSz="914400"/>
            <a:endParaRPr lang="en-AU" sz="1000" b="1">
              <a:solidFill>
                <a:schemeClr val="bg2"/>
              </a:solidFill>
              <a:latin typeface="Trebuchet MS" pitchFamily="34" charset="0"/>
            </a:endParaRPr>
          </a:p>
        </p:txBody>
      </p:sp>
      <p:sp>
        <p:nvSpPr>
          <p:cNvPr id="2052" name="TextBox 3"/>
          <p:cNvSpPr txBox="1">
            <a:spLocks noChangeArrowheads="1"/>
          </p:cNvSpPr>
          <p:nvPr/>
        </p:nvSpPr>
        <p:spPr bwMode="auto">
          <a:xfrm>
            <a:off x="7429500" y="6611938"/>
            <a:ext cx="1714500" cy="246062"/>
          </a:xfrm>
          <a:prstGeom prst="rect">
            <a:avLst/>
          </a:prstGeom>
          <a:noFill/>
          <a:ln w="9525">
            <a:noFill/>
            <a:miter lim="800000"/>
            <a:headEnd/>
            <a:tailEnd/>
          </a:ln>
        </p:spPr>
        <p:txBody>
          <a:bodyPr>
            <a:spAutoFit/>
          </a:bodyPr>
          <a:lstStyle/>
          <a:p>
            <a:r>
              <a:rPr lang="en-AU" sz="1000">
                <a:solidFill>
                  <a:schemeClr val="bg1"/>
                </a:solidFill>
              </a:rPr>
              <a:t>CRICOS No. 00213J</a:t>
            </a:r>
          </a:p>
        </p:txBody>
      </p:sp>
      <p:sp>
        <p:nvSpPr>
          <p:cNvPr id="5" name="Subtitle 2"/>
          <p:cNvSpPr>
            <a:spLocks noGrp="1"/>
          </p:cNvSpPr>
          <p:nvPr>
            <p:ph type="subTitle" idx="1"/>
          </p:nvPr>
        </p:nvSpPr>
        <p:spPr>
          <a:xfrm>
            <a:off x="857250" y="4697065"/>
            <a:ext cx="8143875" cy="892175"/>
          </a:xfrm>
        </p:spPr>
        <p:txBody>
          <a:bodyPr lIns="0" rIns="0" anchor="ctr"/>
          <a:lstStyle/>
          <a:p>
            <a:pPr algn="r" eaLnBrk="1" hangingPunct="1">
              <a:defRPr/>
            </a:pPr>
            <a:r>
              <a:rPr lang="en-US" sz="2000" dirty="0" smtClean="0">
                <a:solidFill>
                  <a:schemeClr val="tx1"/>
                </a:solidFill>
                <a:latin typeface="Cambria" pitchFamily="18" charset="0"/>
                <a:cs typeface="Arial" charset="0"/>
              </a:rPr>
              <a:t>Dr Judy Fleiter	</a:t>
            </a:r>
          </a:p>
          <a:p>
            <a:pPr algn="r" eaLnBrk="1" hangingPunct="1"/>
            <a:r>
              <a:rPr lang="en-US" sz="1400" dirty="0" smtClean="0">
                <a:solidFill>
                  <a:schemeClr val="tx1"/>
                </a:solidFill>
                <a:cs typeface="Arial" pitchFamily="34" charset="0"/>
              </a:rPr>
              <a:t>ITMA World Congress, Chongqing, May 13-16 2011</a:t>
            </a:r>
            <a:r>
              <a:rPr lang="en-US" sz="2000" dirty="0" smtClean="0">
                <a:solidFill>
                  <a:schemeClr val="tx1"/>
                </a:solidFill>
                <a:cs typeface="Arial" pitchFamily="34" charset="0"/>
              </a:rPr>
              <a:t> </a:t>
            </a:r>
          </a:p>
        </p:txBody>
      </p:sp>
      <p:sp>
        <p:nvSpPr>
          <p:cNvPr id="6" name="Title 1"/>
          <p:cNvSpPr>
            <a:spLocks noGrp="1"/>
          </p:cNvSpPr>
          <p:nvPr>
            <p:ph type="ctrTitle"/>
          </p:nvPr>
        </p:nvSpPr>
        <p:spPr>
          <a:xfrm>
            <a:off x="714375" y="2743200"/>
            <a:ext cx="8286750" cy="1981200"/>
          </a:xfrm>
        </p:spPr>
        <p:txBody>
          <a:bodyPr lIns="0" rIns="0"/>
          <a:lstStyle/>
          <a:p>
            <a:pPr algn="r" eaLnBrk="1" hangingPunct="1"/>
            <a:r>
              <a:rPr lang="en-US" sz="3600" dirty="0" smtClean="0">
                <a:solidFill>
                  <a:schemeClr val="tx2"/>
                </a:solidFill>
              </a:rPr>
              <a:t>Social influences on Chinese drivers: Cultural context &amp; traffic law enforcement </a:t>
            </a:r>
            <a:endParaRPr lang="en-US" sz="3600" dirty="0" smtClean="0">
              <a:solidFill>
                <a:schemeClr val="tx2"/>
              </a:solidFill>
              <a:latin typeface="Cambria" pitchFamily="18" charset="0"/>
              <a:ea typeface="ＭＳ Ｐゴシック"/>
              <a:cs typeface="ＭＳ Ｐゴシック"/>
            </a:endParaRP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Acknowledgements</a:t>
            </a:r>
            <a:endParaRPr lang="en-US" dirty="0"/>
          </a:p>
        </p:txBody>
      </p:sp>
      <p:sp>
        <p:nvSpPr>
          <p:cNvPr id="3" name="Content Placeholder 2"/>
          <p:cNvSpPr>
            <a:spLocks noGrp="1"/>
          </p:cNvSpPr>
          <p:nvPr>
            <p:ph idx="1"/>
          </p:nvPr>
        </p:nvSpPr>
        <p:spPr>
          <a:xfrm>
            <a:off x="457200" y="1600200"/>
            <a:ext cx="8229600" cy="4781128"/>
          </a:xfrm>
        </p:spPr>
        <p:txBody>
          <a:bodyPr/>
          <a:lstStyle/>
          <a:p>
            <a:r>
              <a:rPr lang="en-US" sz="2800" b="1" dirty="0" smtClean="0"/>
              <a:t>Chinese Academy of Sciences</a:t>
            </a:r>
          </a:p>
          <a:p>
            <a:pPr lvl="1"/>
            <a:r>
              <a:rPr lang="en-US" sz="2000" dirty="0" smtClean="0"/>
              <a:t>Institute of Psychology, Graduate Management School</a:t>
            </a:r>
          </a:p>
          <a:p>
            <a:pPr lvl="2"/>
            <a:r>
              <a:rPr lang="en-US" sz="1800" b="1" dirty="0" smtClean="0"/>
              <a:t>Prof Shi Kan, </a:t>
            </a:r>
            <a:r>
              <a:rPr lang="en-US" sz="1800" b="1" dirty="0" err="1" smtClean="0"/>
              <a:t>Gao</a:t>
            </a:r>
            <a:r>
              <a:rPr lang="en-US" sz="1800" b="1" dirty="0" smtClean="0"/>
              <a:t> </a:t>
            </a:r>
            <a:r>
              <a:rPr lang="en-US" sz="1800" b="1" dirty="0" err="1" smtClean="0"/>
              <a:t>Liping</a:t>
            </a:r>
            <a:r>
              <a:rPr lang="en-US" sz="1800" b="1" dirty="0" smtClean="0"/>
              <a:t>, </a:t>
            </a:r>
            <a:r>
              <a:rPr lang="en-US" sz="1800" b="1" dirty="0" err="1" smtClean="0"/>
              <a:t>Qiu</a:t>
            </a:r>
            <a:r>
              <a:rPr lang="en-US" sz="1800" b="1" dirty="0" smtClean="0"/>
              <a:t> Chen</a:t>
            </a:r>
          </a:p>
          <a:p>
            <a:r>
              <a:rPr lang="en-US" sz="2800" b="1" dirty="0" smtClean="0"/>
              <a:t>Queensland University of Technology</a:t>
            </a:r>
          </a:p>
          <a:p>
            <a:pPr lvl="1"/>
            <a:r>
              <a:rPr lang="en-US" sz="2000" dirty="0" smtClean="0"/>
              <a:t>School of Psychology &amp; </a:t>
            </a:r>
            <a:r>
              <a:rPr lang="en-US" sz="2000" dirty="0" err="1" smtClean="0"/>
              <a:t>Counselling</a:t>
            </a:r>
            <a:r>
              <a:rPr lang="en-US" sz="2000" dirty="0" smtClean="0"/>
              <a:t>, CARRS-Q</a:t>
            </a:r>
          </a:p>
          <a:p>
            <a:pPr lvl="2"/>
            <a:r>
              <a:rPr lang="en-US" sz="1800" b="1" dirty="0" smtClean="0"/>
              <a:t>Prof Barry Watson, Dr Alexia Lennon, Dr Mark King</a:t>
            </a:r>
          </a:p>
          <a:p>
            <a:endParaRPr lang="en-US" sz="2800" b="1" dirty="0" smtClean="0"/>
          </a:p>
          <a:p>
            <a:r>
              <a:rPr lang="en-US" sz="2800" b="1" dirty="0" smtClean="0"/>
              <a:t>CAA - China Automobile Association</a:t>
            </a:r>
            <a:r>
              <a:rPr lang="en-US" sz="2800" dirty="0" smtClean="0"/>
              <a:t> </a:t>
            </a:r>
          </a:p>
          <a:p>
            <a:r>
              <a:rPr lang="en-US" sz="2800" b="1" dirty="0" smtClean="0"/>
              <a:t>2008 Endeavour Cheung Kong Fellowship</a:t>
            </a:r>
          </a:p>
          <a:p>
            <a:r>
              <a:rPr lang="en-US" sz="2800" b="1" dirty="0" smtClean="0"/>
              <a:t>ITMA 2011 Congress </a:t>
            </a:r>
            <a:r>
              <a:rPr lang="en-US" sz="2800" b="1" dirty="0" err="1" smtClean="0"/>
              <a:t>Organisers</a:t>
            </a:r>
            <a:endParaRPr lang="en-AU" sz="2800" b="1" dirty="0" smtClean="0"/>
          </a:p>
          <a:p>
            <a:endParaRPr lang="en-US" dirty="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Presentation Overview</a:t>
            </a:r>
            <a:endParaRPr lang="en-US" dirty="0"/>
          </a:p>
        </p:txBody>
      </p:sp>
      <p:sp>
        <p:nvSpPr>
          <p:cNvPr id="3" name="Content Placeholder 2"/>
          <p:cNvSpPr>
            <a:spLocks noGrp="1"/>
          </p:cNvSpPr>
          <p:nvPr>
            <p:ph idx="1"/>
          </p:nvPr>
        </p:nvSpPr>
        <p:spPr/>
        <p:txBody>
          <a:bodyPr/>
          <a:lstStyle/>
          <a:p>
            <a:pPr>
              <a:lnSpc>
                <a:spcPts val="3900"/>
              </a:lnSpc>
            </a:pPr>
            <a:endParaRPr lang="en-US" dirty="0" smtClean="0"/>
          </a:p>
          <a:p>
            <a:pPr>
              <a:lnSpc>
                <a:spcPts val="3900"/>
              </a:lnSpc>
            </a:pPr>
            <a:r>
              <a:rPr lang="en-US" dirty="0" smtClean="0"/>
              <a:t>Research aims</a:t>
            </a:r>
          </a:p>
          <a:p>
            <a:pPr>
              <a:lnSpc>
                <a:spcPts val="3900"/>
              </a:lnSpc>
            </a:pPr>
            <a:r>
              <a:rPr lang="en-US" dirty="0" smtClean="0"/>
              <a:t>Project description</a:t>
            </a:r>
          </a:p>
          <a:p>
            <a:pPr>
              <a:lnSpc>
                <a:spcPts val="3900"/>
              </a:lnSpc>
            </a:pPr>
            <a:r>
              <a:rPr lang="en-US" dirty="0" smtClean="0"/>
              <a:t>Findings</a:t>
            </a:r>
          </a:p>
          <a:p>
            <a:pPr>
              <a:lnSpc>
                <a:spcPts val="3900"/>
              </a:lnSpc>
            </a:pPr>
            <a:r>
              <a:rPr lang="en-US" dirty="0" smtClean="0"/>
              <a:t>Conclusions</a:t>
            </a:r>
            <a:endParaRPr lang="en-US"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Aims</a:t>
            </a:r>
            <a:endParaRPr lang="en-US" dirty="0"/>
          </a:p>
        </p:txBody>
      </p:sp>
      <p:sp>
        <p:nvSpPr>
          <p:cNvPr id="3" name="Content Placeholder 2"/>
          <p:cNvSpPr>
            <a:spLocks noGrp="1"/>
          </p:cNvSpPr>
          <p:nvPr>
            <p:ph idx="1"/>
          </p:nvPr>
        </p:nvSpPr>
        <p:spPr/>
        <p:txBody>
          <a:bodyPr/>
          <a:lstStyle/>
          <a:p>
            <a:r>
              <a:rPr lang="en-AU" dirty="0" smtClean="0"/>
              <a:t>Investigate the role of social influence factors on drivers in China</a:t>
            </a:r>
          </a:p>
          <a:p>
            <a:pPr>
              <a:buFont typeface="Arial" pitchFamily="34" charset="0"/>
              <a:buNone/>
            </a:pPr>
            <a:endParaRPr lang="en-AU" dirty="0" smtClean="0"/>
          </a:p>
          <a:p>
            <a:r>
              <a:rPr lang="en-AU" dirty="0" smtClean="0"/>
              <a:t>Provide information to inform road safety policy in China</a:t>
            </a:r>
          </a:p>
          <a:p>
            <a:endParaRPr lang="en-US"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Project</a:t>
            </a:r>
            <a:endParaRPr lang="en-US" dirty="0"/>
          </a:p>
        </p:txBody>
      </p:sp>
      <p:sp>
        <p:nvSpPr>
          <p:cNvPr id="3" name="Content Placeholder 2"/>
          <p:cNvSpPr>
            <a:spLocks noGrp="1"/>
          </p:cNvSpPr>
          <p:nvPr>
            <p:ph idx="1"/>
          </p:nvPr>
        </p:nvSpPr>
        <p:spPr/>
        <p:txBody>
          <a:bodyPr/>
          <a:lstStyle/>
          <a:p>
            <a:pPr>
              <a:lnSpc>
                <a:spcPct val="90000"/>
              </a:lnSpc>
            </a:pPr>
            <a:r>
              <a:rPr lang="en-US" sz="2800" b="1" dirty="0" smtClean="0"/>
              <a:t>Part of a larger program of research investigating speeding in Australia and China</a:t>
            </a:r>
          </a:p>
          <a:p>
            <a:pPr lvl="1">
              <a:lnSpc>
                <a:spcPct val="90000"/>
              </a:lnSpc>
            </a:pPr>
            <a:r>
              <a:rPr lang="en-US" sz="2400" dirty="0" smtClean="0"/>
              <a:t>Social, personal and legal influences on driving speeds</a:t>
            </a:r>
          </a:p>
          <a:p>
            <a:pPr lvl="1">
              <a:lnSpc>
                <a:spcPct val="90000"/>
              </a:lnSpc>
              <a:buNone/>
            </a:pPr>
            <a:endParaRPr lang="en-US" sz="2800" dirty="0" smtClean="0"/>
          </a:p>
          <a:p>
            <a:pPr>
              <a:lnSpc>
                <a:spcPct val="90000"/>
              </a:lnSpc>
            </a:pPr>
            <a:r>
              <a:rPr lang="en-US" sz="2800" b="1" dirty="0" smtClean="0"/>
              <a:t>Qualitative &amp; Quantitative investigations with drivers in both countries</a:t>
            </a:r>
          </a:p>
          <a:p>
            <a:pPr>
              <a:lnSpc>
                <a:spcPct val="90000"/>
              </a:lnSpc>
            </a:pPr>
            <a:endParaRPr lang="en-US" sz="2800" b="1" dirty="0" smtClean="0"/>
          </a:p>
          <a:p>
            <a:pPr>
              <a:lnSpc>
                <a:spcPct val="90000"/>
              </a:lnSpc>
            </a:pPr>
            <a:r>
              <a:rPr lang="en-US" sz="2800" b="1" dirty="0" smtClean="0"/>
              <a:t>Qualitative findings from Chinese drivers presented today</a:t>
            </a:r>
          </a:p>
          <a:p>
            <a:pPr>
              <a:lnSpc>
                <a:spcPct val="90000"/>
              </a:lnSpc>
              <a:buNone/>
            </a:pPr>
            <a:endParaRPr lang="en-US" sz="2800" b="1" dirty="0" smtClean="0"/>
          </a:p>
          <a:p>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 Use in China </a:t>
            </a:r>
            <a:endParaRPr lang="en-US" sz="1000" dirty="0"/>
          </a:p>
        </p:txBody>
      </p:sp>
      <p:sp>
        <p:nvSpPr>
          <p:cNvPr id="3" name="Content Placeholder 2"/>
          <p:cNvSpPr>
            <a:spLocks noGrp="1"/>
          </p:cNvSpPr>
          <p:nvPr>
            <p:ph idx="1"/>
          </p:nvPr>
        </p:nvSpPr>
        <p:spPr>
          <a:xfrm>
            <a:off x="457200" y="1600200"/>
            <a:ext cx="8229600" cy="4781128"/>
          </a:xfrm>
        </p:spPr>
        <p:txBody>
          <a:bodyPr/>
          <a:lstStyle/>
          <a:p>
            <a:r>
              <a:rPr lang="en-US" sz="2800" b="1" dirty="0" smtClean="0"/>
              <a:t>Large-scale recent economic growth</a:t>
            </a:r>
          </a:p>
          <a:p>
            <a:endParaRPr lang="en-US" sz="1600" b="1" dirty="0" smtClean="0"/>
          </a:p>
          <a:p>
            <a:r>
              <a:rPr lang="en-US" sz="2800" b="1" dirty="0" smtClean="0"/>
              <a:t>Rapidly increasing rates of </a:t>
            </a:r>
            <a:r>
              <a:rPr lang="en-US" sz="2800" b="1" dirty="0" err="1" smtClean="0"/>
              <a:t>motorisation</a:t>
            </a:r>
            <a:endParaRPr lang="en-US" sz="2800" b="1" dirty="0" smtClean="0"/>
          </a:p>
          <a:p>
            <a:endParaRPr lang="en-US" sz="1600" b="1" dirty="0" smtClean="0"/>
          </a:p>
          <a:p>
            <a:r>
              <a:rPr lang="en-US" sz="2800" b="1" dirty="0" smtClean="0"/>
              <a:t>Changing nature of car ownership</a:t>
            </a:r>
          </a:p>
          <a:p>
            <a:pPr lvl="1"/>
            <a:r>
              <a:rPr lang="en-US" sz="2400" b="1" dirty="0" smtClean="0"/>
              <a:t>Reduction in % of professional drivers in the fleet</a:t>
            </a:r>
          </a:p>
          <a:p>
            <a:pPr lvl="1"/>
            <a:r>
              <a:rPr lang="en-US" sz="2400" b="1" dirty="0" smtClean="0"/>
              <a:t>Increase in private vehicle ownership</a:t>
            </a:r>
          </a:p>
          <a:p>
            <a:endParaRPr lang="en-US" sz="1600" b="1" dirty="0" smtClean="0"/>
          </a:p>
          <a:p>
            <a:r>
              <a:rPr lang="en-US" sz="2800" b="1" dirty="0" smtClean="0"/>
              <a:t>Escalating rates of </a:t>
            </a:r>
          </a:p>
          <a:p>
            <a:pPr lvl="1"/>
            <a:r>
              <a:rPr lang="en-US" sz="2400" b="1" dirty="0" smtClean="0"/>
              <a:t>new vehicles</a:t>
            </a:r>
          </a:p>
          <a:p>
            <a:pPr lvl="1"/>
            <a:r>
              <a:rPr lang="en-US" sz="2400" b="1" dirty="0" smtClean="0"/>
              <a:t>new drivers                                       </a:t>
            </a:r>
            <a:r>
              <a:rPr lang="en-US" sz="2800" b="1" dirty="0" smtClean="0"/>
              <a:t>    </a:t>
            </a:r>
            <a:r>
              <a:rPr lang="en-US" sz="1400" dirty="0" smtClean="0"/>
              <a:t>Riley, 2002; WHO, 2004</a:t>
            </a:r>
          </a:p>
          <a:p>
            <a:endParaRPr lang="en-US" sz="2800" b="1" dirty="0" smtClean="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 Crashes in China</a:t>
            </a:r>
            <a:endParaRPr lang="en-US" dirty="0"/>
          </a:p>
        </p:txBody>
      </p:sp>
      <p:sp>
        <p:nvSpPr>
          <p:cNvPr id="3" name="Content Placeholder 2"/>
          <p:cNvSpPr>
            <a:spLocks noGrp="1"/>
          </p:cNvSpPr>
          <p:nvPr>
            <p:ph idx="1"/>
          </p:nvPr>
        </p:nvSpPr>
        <p:spPr>
          <a:xfrm>
            <a:off x="457200" y="1600200"/>
            <a:ext cx="8229600" cy="4781128"/>
          </a:xfrm>
        </p:spPr>
        <p:txBody>
          <a:bodyPr/>
          <a:lstStyle/>
          <a:p>
            <a:r>
              <a:rPr lang="en-US" sz="2800" b="1" dirty="0" smtClean="0"/>
              <a:t>No. 1 non-disease killer ahead of other disasters (e.g., Flood, Fire &amp; Earthquake)</a:t>
            </a:r>
          </a:p>
          <a:p>
            <a:endParaRPr lang="en-US" sz="2800" b="1" dirty="0" smtClean="0"/>
          </a:p>
          <a:p>
            <a:r>
              <a:rPr lang="en-US" sz="2800" b="1" dirty="0" smtClean="0"/>
              <a:t>Identified as leading cause of death for younger, productive members of society (aged below 45 years)</a:t>
            </a:r>
          </a:p>
          <a:p>
            <a:endParaRPr lang="en-US" sz="2800" b="1" dirty="0" smtClean="0"/>
          </a:p>
          <a:p>
            <a:r>
              <a:rPr lang="en-US" sz="2800" b="1" dirty="0" smtClean="0"/>
              <a:t>Leading cause of working-life years lost</a:t>
            </a:r>
          </a:p>
          <a:p>
            <a:pPr algn="r">
              <a:buNone/>
            </a:pPr>
            <a:endParaRPr lang="en-US" sz="1200" dirty="0" smtClean="0"/>
          </a:p>
          <a:p>
            <a:pPr algn="r">
              <a:buNone/>
            </a:pPr>
            <a:endParaRPr lang="en-US" sz="1200" dirty="0" smtClean="0"/>
          </a:p>
          <a:p>
            <a:pPr algn="r">
              <a:buNone/>
            </a:pPr>
            <a:r>
              <a:rPr lang="en-US" sz="1200" dirty="0" smtClean="0"/>
              <a:t>(</a:t>
            </a:r>
            <a:r>
              <a:rPr lang="en-US" sz="1200" dirty="0" err="1" smtClean="0"/>
              <a:t>Pendyala</a:t>
            </a:r>
            <a:r>
              <a:rPr lang="en-US" sz="1200" dirty="0" smtClean="0"/>
              <a:t> &amp; Kitamura, 2007; Wang et al, 2003)</a:t>
            </a:r>
          </a:p>
          <a:p>
            <a:endParaRPr lang="en-US" dirty="0"/>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Impact of </a:t>
            </a:r>
            <a:r>
              <a:rPr lang="en-US" dirty="0" err="1" smtClean="0"/>
              <a:t>Motorisation</a:t>
            </a:r>
            <a:endParaRPr lang="en-US" dirty="0"/>
          </a:p>
        </p:txBody>
      </p:sp>
      <p:sp>
        <p:nvSpPr>
          <p:cNvPr id="3" name="Content Placeholder 2"/>
          <p:cNvSpPr>
            <a:spLocks noGrp="1"/>
          </p:cNvSpPr>
          <p:nvPr>
            <p:ph idx="1"/>
          </p:nvPr>
        </p:nvSpPr>
        <p:spPr/>
        <p:txBody>
          <a:bodyPr/>
          <a:lstStyle/>
          <a:p>
            <a:r>
              <a:rPr lang="en-US" sz="2800" b="1" dirty="0" smtClean="0"/>
              <a:t>China’s 1.3 billion people own 2% of vehicles in the world</a:t>
            </a:r>
          </a:p>
          <a:p>
            <a:endParaRPr lang="en-US" sz="2800" b="1" dirty="0" smtClean="0"/>
          </a:p>
          <a:p>
            <a:r>
              <a:rPr lang="en-US" sz="2800" b="1" dirty="0" smtClean="0"/>
              <a:t>Yet represent 15% of all global road fatalities</a:t>
            </a:r>
          </a:p>
          <a:p>
            <a:endParaRPr lang="en-US" sz="2800" b="1" dirty="0" smtClean="0"/>
          </a:p>
          <a:p>
            <a:r>
              <a:rPr lang="en-US" sz="2800" b="1" dirty="0" smtClean="0"/>
              <a:t>Traffic-related mortality has escalated by 81% in the 2 decades since 1987</a:t>
            </a:r>
          </a:p>
          <a:p>
            <a:pPr algn="r">
              <a:buNone/>
            </a:pPr>
            <a:endParaRPr lang="en-US" sz="1200" dirty="0" smtClean="0"/>
          </a:p>
          <a:p>
            <a:pPr algn="r">
              <a:buNone/>
            </a:pPr>
            <a:r>
              <a:rPr lang="en-US" sz="1200" dirty="0" smtClean="0"/>
              <a:t>Wang et al, 2008</a:t>
            </a:r>
            <a:endParaRPr lang="en-US" sz="1200" dirty="0"/>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 of Social Influence</a:t>
            </a:r>
            <a:endParaRPr lang="en-US" sz="1000" dirty="0"/>
          </a:p>
        </p:txBody>
      </p:sp>
      <p:sp>
        <p:nvSpPr>
          <p:cNvPr id="3" name="Content Placeholder 2"/>
          <p:cNvSpPr>
            <a:spLocks noGrp="1"/>
          </p:cNvSpPr>
          <p:nvPr>
            <p:ph idx="1"/>
          </p:nvPr>
        </p:nvSpPr>
        <p:spPr/>
        <p:txBody>
          <a:bodyPr/>
          <a:lstStyle/>
          <a:p>
            <a:r>
              <a:rPr lang="en-US" dirty="0" smtClean="0"/>
              <a:t>Shown to be highly influential on drivers in other countries</a:t>
            </a:r>
          </a:p>
          <a:p>
            <a:pPr lvl="1"/>
            <a:r>
              <a:rPr lang="en-US" dirty="0" smtClean="0"/>
              <a:t>Passengers</a:t>
            </a:r>
          </a:p>
          <a:p>
            <a:pPr lvl="1"/>
            <a:r>
              <a:rPr lang="en-US" dirty="0" smtClean="0"/>
              <a:t>Others road users</a:t>
            </a:r>
          </a:p>
          <a:p>
            <a:pPr lvl="1"/>
            <a:r>
              <a:rPr lang="en-US" dirty="0" smtClean="0"/>
              <a:t>Community norms</a:t>
            </a:r>
          </a:p>
          <a:p>
            <a:pPr lvl="1"/>
            <a:r>
              <a:rPr lang="en-US" dirty="0" smtClean="0"/>
              <a:t>Police</a:t>
            </a: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Influence in China </a:t>
            </a:r>
            <a:r>
              <a:rPr lang="en-US" sz="1200" dirty="0" smtClean="0"/>
              <a:t>(1)</a:t>
            </a:r>
            <a:endParaRPr lang="en-US" sz="1200" dirty="0"/>
          </a:p>
        </p:txBody>
      </p:sp>
      <p:sp>
        <p:nvSpPr>
          <p:cNvPr id="3" name="Content Placeholder 2"/>
          <p:cNvSpPr>
            <a:spLocks noGrp="1"/>
          </p:cNvSpPr>
          <p:nvPr>
            <p:ph idx="1"/>
          </p:nvPr>
        </p:nvSpPr>
        <p:spPr/>
        <p:txBody>
          <a:bodyPr/>
          <a:lstStyle/>
          <a:p>
            <a:r>
              <a:rPr lang="en-US" dirty="0" smtClean="0"/>
              <a:t>Chinese society is strongly based on </a:t>
            </a:r>
          </a:p>
          <a:p>
            <a:pPr lvl="1"/>
            <a:r>
              <a:rPr lang="en-US" dirty="0" smtClean="0"/>
              <a:t>Social rules</a:t>
            </a:r>
          </a:p>
          <a:p>
            <a:pPr lvl="1"/>
            <a:r>
              <a:rPr lang="en-US" dirty="0" smtClean="0"/>
              <a:t>Customs</a:t>
            </a:r>
          </a:p>
          <a:p>
            <a:pPr lvl="1"/>
            <a:r>
              <a:rPr lang="en-US" dirty="0" smtClean="0"/>
              <a:t>Relationships (</a:t>
            </a:r>
            <a:r>
              <a:rPr lang="en-US" i="1" dirty="0" err="1" smtClean="0"/>
              <a:t>Guanxi</a:t>
            </a:r>
            <a:r>
              <a:rPr lang="en-US" dirty="0" smtClean="0"/>
              <a:t>)</a:t>
            </a:r>
          </a:p>
          <a:p>
            <a:endParaRPr lang="en-US" dirty="0" smtClean="0"/>
          </a:p>
          <a:p>
            <a:r>
              <a:rPr lang="en-US" dirty="0" smtClean="0"/>
              <a:t>Therefore, reason to believe they will play a role in driver </a:t>
            </a:r>
            <a:r>
              <a:rPr lang="en-US" dirty="0" err="1" smtClean="0"/>
              <a:t>behaviour</a:t>
            </a:r>
            <a:r>
              <a:rPr lang="en-US" dirty="0" smtClean="0"/>
              <a:t>/road use</a:t>
            </a:r>
          </a:p>
          <a:p>
            <a:endParaRPr lang="en-US" dirty="0" smtClean="0"/>
          </a:p>
          <a:p>
            <a:endParaRPr lang="en-US" dirty="0" smtClean="0"/>
          </a:p>
          <a:p>
            <a:pPr lvl="1"/>
            <a:endParaRPr lang="en-US" dirty="0" smtClean="0"/>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Influence in China </a:t>
            </a:r>
            <a:r>
              <a:rPr lang="en-US" sz="1200" dirty="0" smtClean="0"/>
              <a:t>(2)</a:t>
            </a:r>
            <a:endParaRPr lang="en-US" sz="1200" dirty="0"/>
          </a:p>
        </p:txBody>
      </p:sp>
      <p:sp>
        <p:nvSpPr>
          <p:cNvPr id="3" name="Content Placeholder 2"/>
          <p:cNvSpPr>
            <a:spLocks noGrp="1"/>
          </p:cNvSpPr>
          <p:nvPr>
            <p:ph idx="1"/>
          </p:nvPr>
        </p:nvSpPr>
        <p:spPr/>
        <p:txBody>
          <a:bodyPr/>
          <a:lstStyle/>
          <a:p>
            <a:r>
              <a:rPr lang="en-US" sz="2800" dirty="0" smtClean="0"/>
              <a:t>To date, limited road user research</a:t>
            </a:r>
          </a:p>
          <a:p>
            <a:endParaRPr lang="en-US" sz="2800" dirty="0" smtClean="0"/>
          </a:p>
          <a:p>
            <a:r>
              <a:rPr lang="en-US" sz="2800" dirty="0" err="1" smtClean="0"/>
              <a:t>Xie</a:t>
            </a:r>
            <a:r>
              <a:rPr lang="en-US" sz="2800" dirty="0" smtClean="0"/>
              <a:t> &amp; Parker, 2002:</a:t>
            </a:r>
          </a:p>
          <a:p>
            <a:pPr lvl="1"/>
            <a:r>
              <a:rPr lang="en-US" sz="2400" dirty="0" smtClean="0"/>
              <a:t>Highlighted need to consider culturally-specific issues</a:t>
            </a:r>
          </a:p>
          <a:p>
            <a:pPr lvl="1"/>
            <a:r>
              <a:rPr lang="en-US" sz="2400" dirty="0" smtClean="0"/>
              <a:t>Interpersonal networks</a:t>
            </a:r>
          </a:p>
          <a:p>
            <a:pPr lvl="1"/>
            <a:r>
              <a:rPr lang="en-US" sz="2400" dirty="0" smtClean="0"/>
              <a:t>Some concepts relating to Chinese driving culture may not have been identified from research conducted in ‘Western’ contexts.</a:t>
            </a:r>
          </a:p>
          <a:p>
            <a:pPr lvl="1"/>
            <a:endParaRPr lang="en-US" dirty="0" smtClean="0"/>
          </a:p>
          <a:p>
            <a:endParaRPr lang="en-US" dirty="0" smtClean="0"/>
          </a:p>
          <a:p>
            <a:endParaRPr lang="en-US" dirty="0" smtClean="0"/>
          </a:p>
          <a:p>
            <a:pPr lvl="1"/>
            <a:endParaRPr lang="en-US" dirty="0" smtClean="0"/>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Method</a:t>
            </a:r>
            <a:endParaRPr lang="en-AU" dirty="0"/>
          </a:p>
        </p:txBody>
      </p:sp>
      <p:sp>
        <p:nvSpPr>
          <p:cNvPr id="3" name="Content Placeholder 2"/>
          <p:cNvSpPr>
            <a:spLocks noGrp="1"/>
          </p:cNvSpPr>
          <p:nvPr>
            <p:ph idx="1"/>
          </p:nvPr>
        </p:nvSpPr>
        <p:spPr>
          <a:xfrm>
            <a:off x="457200" y="1600200"/>
            <a:ext cx="8229600" cy="4781128"/>
          </a:xfrm>
        </p:spPr>
        <p:txBody>
          <a:bodyPr/>
          <a:lstStyle/>
          <a:p>
            <a:r>
              <a:rPr lang="en-AU" sz="2800" b="1" dirty="0" smtClean="0"/>
              <a:t>Focus group interviews - January 2008</a:t>
            </a:r>
          </a:p>
          <a:p>
            <a:pPr lvl="1"/>
            <a:r>
              <a:rPr lang="en-AU" sz="2400" dirty="0" smtClean="0"/>
              <a:t>35 Licensed drivers (CAA members in Beijing)</a:t>
            </a:r>
          </a:p>
          <a:p>
            <a:pPr lvl="1"/>
            <a:endParaRPr lang="en-AU" sz="2400" dirty="0" smtClean="0"/>
          </a:p>
          <a:p>
            <a:r>
              <a:rPr lang="en-AU" sz="2800" b="1" dirty="0" smtClean="0"/>
              <a:t>Sample demographics</a:t>
            </a:r>
          </a:p>
          <a:p>
            <a:pPr lvl="1"/>
            <a:r>
              <a:rPr lang="en-AU" sz="2400" dirty="0" smtClean="0"/>
              <a:t>71% Male</a:t>
            </a:r>
          </a:p>
          <a:p>
            <a:pPr lvl="1"/>
            <a:r>
              <a:rPr lang="en-AU" sz="2400" dirty="0" smtClean="0"/>
              <a:t>Aged 21-49 Years </a:t>
            </a:r>
            <a:r>
              <a:rPr lang="en-US" sz="2400" dirty="0" smtClean="0"/>
              <a:t>(</a:t>
            </a:r>
            <a:r>
              <a:rPr lang="en-US" sz="2400" i="1" dirty="0" smtClean="0"/>
              <a:t>M=</a:t>
            </a:r>
            <a:r>
              <a:rPr lang="en-US" sz="2400" dirty="0" smtClean="0"/>
              <a:t>30.8 yr, </a:t>
            </a:r>
            <a:r>
              <a:rPr lang="en-US" sz="2400" i="1" dirty="0" smtClean="0"/>
              <a:t>SD</a:t>
            </a:r>
            <a:r>
              <a:rPr lang="en-US" sz="2400" dirty="0" smtClean="0"/>
              <a:t>=6.2)</a:t>
            </a:r>
          </a:p>
          <a:p>
            <a:pPr lvl="1"/>
            <a:r>
              <a:rPr lang="en-AU" sz="2400" dirty="0" smtClean="0"/>
              <a:t>Years driving 0.5-22 years </a:t>
            </a:r>
            <a:r>
              <a:rPr lang="en-US" sz="2400" dirty="0" smtClean="0"/>
              <a:t>(</a:t>
            </a:r>
            <a:r>
              <a:rPr lang="en-US" sz="2400" i="1" dirty="0" smtClean="0"/>
              <a:t>M</a:t>
            </a:r>
            <a:r>
              <a:rPr lang="en-US" sz="2400" dirty="0" smtClean="0"/>
              <a:t>=6.9 yr, </a:t>
            </a:r>
            <a:r>
              <a:rPr lang="en-US" sz="2400" i="1" dirty="0" smtClean="0"/>
              <a:t>SD</a:t>
            </a:r>
            <a:r>
              <a:rPr lang="en-US" sz="2400" dirty="0" smtClean="0"/>
              <a:t>=6.7)</a:t>
            </a:r>
          </a:p>
          <a:p>
            <a:pPr lvl="1"/>
            <a:endParaRPr lang="en-US" sz="2400" dirty="0" smtClean="0"/>
          </a:p>
          <a:p>
            <a:pPr marL="342900" lvl="1" indent="-342900">
              <a:buFont typeface="Arial" charset="0"/>
              <a:buChar char="•"/>
            </a:pPr>
            <a:r>
              <a:rPr lang="en-US" b="1" dirty="0" smtClean="0">
                <a:cs typeface="ＭＳ Ｐゴシック" pitchFamily="-109" charset="-128"/>
              </a:rPr>
              <a:t>Thematic analysis</a:t>
            </a: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Grp="1"/>
          </p:cNvSpPr>
          <p:nvPr>
            <p:ph type="title"/>
          </p:nvPr>
        </p:nvSpPr>
        <p:spPr>
          <a:noFill/>
        </p:spPr>
        <p:txBody>
          <a:bodyPr/>
          <a:lstStyle/>
          <a:p>
            <a:r>
              <a:rPr lang="en-US" b="1" smtClean="0">
                <a:ea typeface="ＭＳ Ｐゴシック" pitchFamily="34" charset="-128"/>
              </a:rPr>
              <a:t>Research Themes</a:t>
            </a:r>
            <a:endParaRPr lang="en-AU" b="1" smtClean="0">
              <a:ea typeface="ＭＳ Ｐゴシック" pitchFamily="34" charset="-128"/>
            </a:endParaRPr>
          </a:p>
        </p:txBody>
      </p:sp>
      <p:sp>
        <p:nvSpPr>
          <p:cNvPr id="48131" name="Rectangle 1027"/>
          <p:cNvSpPr>
            <a:spLocks noGrp="1"/>
          </p:cNvSpPr>
          <p:nvPr>
            <p:ph type="body" idx="1"/>
          </p:nvPr>
        </p:nvSpPr>
        <p:spPr/>
        <p:txBody>
          <a:bodyPr/>
          <a:lstStyle/>
          <a:p>
            <a:pPr>
              <a:lnSpc>
                <a:spcPct val="150000"/>
              </a:lnSpc>
            </a:pPr>
            <a:r>
              <a:rPr lang="en-US" dirty="0" smtClean="0">
                <a:ea typeface="ＭＳ Ｐゴシック" pitchFamily="34" charset="-128"/>
              </a:rPr>
              <a:t>Role of family, coach, accompanying driver</a:t>
            </a:r>
            <a:endParaRPr lang="en-US" sz="1400" dirty="0" smtClean="0">
              <a:ea typeface="ＭＳ Ｐゴシック" pitchFamily="34" charset="-128"/>
            </a:endParaRPr>
          </a:p>
          <a:p>
            <a:pPr>
              <a:lnSpc>
                <a:spcPct val="150000"/>
              </a:lnSpc>
            </a:pPr>
            <a:r>
              <a:rPr lang="en-US" dirty="0" smtClean="0">
                <a:ea typeface="ＭＳ Ｐゴシック" pitchFamily="34" charset="-128"/>
              </a:rPr>
              <a:t>Influence of groups (racing)</a:t>
            </a:r>
            <a:endParaRPr lang="en-US" sz="1400" dirty="0" smtClean="0">
              <a:ea typeface="ＭＳ Ｐゴシック" pitchFamily="34" charset="-128"/>
            </a:endParaRPr>
          </a:p>
          <a:p>
            <a:pPr>
              <a:lnSpc>
                <a:spcPct val="150000"/>
              </a:lnSpc>
            </a:pPr>
            <a:r>
              <a:rPr lang="en-US" dirty="0" smtClean="0">
                <a:ea typeface="ＭＳ Ｐゴシック" pitchFamily="34" charset="-128"/>
              </a:rPr>
              <a:t>Influence of others to avoid penalty</a:t>
            </a:r>
            <a:endParaRPr lang="en-US" sz="1400" dirty="0" smtClean="0">
              <a:ea typeface="ＭＳ Ｐゴシック" pitchFamily="34" charset="-128"/>
            </a:endParaRPr>
          </a:p>
          <a:p>
            <a:pPr>
              <a:lnSpc>
                <a:spcPct val="150000"/>
              </a:lnSpc>
              <a:buFont typeface="Arial" pitchFamily="34" charset="0"/>
              <a:buNone/>
            </a:pPr>
            <a:endParaRPr lang="en-AU" dirty="0" smtClean="0">
              <a:ea typeface="ＭＳ Ｐゴシック" pitchFamily="34" charset="-128"/>
            </a:endParaRP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Findings</a:t>
            </a:r>
            <a:endParaRPr lang="en-AU" dirty="0"/>
          </a:p>
        </p:txBody>
      </p:sp>
      <p:sp>
        <p:nvSpPr>
          <p:cNvPr id="3" name="Content Placeholder 2"/>
          <p:cNvSpPr>
            <a:spLocks noGrp="1"/>
          </p:cNvSpPr>
          <p:nvPr>
            <p:ph idx="1"/>
          </p:nvPr>
        </p:nvSpPr>
        <p:spPr/>
        <p:txBody>
          <a:bodyPr/>
          <a:lstStyle/>
          <a:p>
            <a:r>
              <a:rPr lang="en-AU" dirty="0" smtClean="0"/>
              <a:t>Learning to drive</a:t>
            </a:r>
          </a:p>
          <a:p>
            <a:pPr lvl="1"/>
            <a:r>
              <a:rPr lang="en-AU" dirty="0" smtClean="0"/>
              <a:t>Influence of family</a:t>
            </a:r>
          </a:p>
          <a:p>
            <a:pPr lvl="1"/>
            <a:r>
              <a:rPr lang="en-AU" dirty="0" smtClean="0"/>
              <a:t>Influence of driving instructor (‘coach’)</a:t>
            </a:r>
          </a:p>
          <a:p>
            <a:pPr lvl="1"/>
            <a:r>
              <a:rPr lang="en-AU" dirty="0" smtClean="0"/>
              <a:t>Influence of observing others</a:t>
            </a:r>
            <a:endParaRPr lang="en-AU" dirty="0"/>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Role of Family</a:t>
            </a:r>
            <a:endParaRPr lang="en-AU" dirty="0"/>
          </a:p>
        </p:txBody>
      </p:sp>
      <p:sp>
        <p:nvSpPr>
          <p:cNvPr id="3" name="Content Placeholder 2"/>
          <p:cNvSpPr>
            <a:spLocks noGrp="1"/>
          </p:cNvSpPr>
          <p:nvPr>
            <p:ph idx="1"/>
          </p:nvPr>
        </p:nvSpPr>
        <p:spPr>
          <a:xfrm>
            <a:off x="457200" y="1600200"/>
            <a:ext cx="8229600" cy="4709120"/>
          </a:xfrm>
        </p:spPr>
        <p:txBody>
          <a:bodyPr/>
          <a:lstStyle/>
          <a:p>
            <a:r>
              <a:rPr lang="en-AU" sz="2800" dirty="0" smtClean="0"/>
              <a:t>Evident, though not commonly discussed</a:t>
            </a:r>
          </a:p>
          <a:p>
            <a:r>
              <a:rPr lang="en-AU" sz="2800" dirty="0" smtClean="0"/>
              <a:t>Influence of fathers (majority male drivers)</a:t>
            </a:r>
          </a:p>
          <a:p>
            <a:pPr>
              <a:buNone/>
            </a:pPr>
            <a:endParaRPr lang="en-AU" sz="1800" i="1" dirty="0" smtClean="0">
              <a:latin typeface="Calibri" pitchFamily="34" charset="0"/>
            </a:endParaRPr>
          </a:p>
          <a:p>
            <a:pPr>
              <a:buNone/>
            </a:pPr>
            <a:r>
              <a:rPr lang="en-AU" sz="2200" i="1" dirty="0" smtClean="0">
                <a:latin typeface="Calibri" pitchFamily="34" charset="0"/>
              </a:rPr>
              <a:t>	“I got my licence in Beijing, but my Father has a great effect on me because I usually drive at home [another Province]. He shares his driving experience with me. The aim of the coach [driving instructor] is to just make you pass the exam. I learn a lot of other things from my Father.” Male, 24 years</a:t>
            </a:r>
          </a:p>
          <a:p>
            <a:pPr>
              <a:buNone/>
            </a:pPr>
            <a:endParaRPr lang="en-AU" sz="1800" dirty="0" smtClean="0"/>
          </a:p>
          <a:p>
            <a:r>
              <a:rPr lang="en-AU" sz="2800" dirty="0" smtClean="0"/>
              <a:t>Suggests limited role of coach beyond just gaining licence</a:t>
            </a:r>
            <a:endParaRPr lang="en-AU" sz="2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Role of Coach </a:t>
            </a:r>
            <a:r>
              <a:rPr lang="en-AU" sz="1200" dirty="0" smtClean="0"/>
              <a:t>(1)</a:t>
            </a:r>
            <a:endParaRPr lang="en-AU" sz="1200" dirty="0"/>
          </a:p>
        </p:txBody>
      </p:sp>
      <p:sp>
        <p:nvSpPr>
          <p:cNvPr id="3" name="Content Placeholder 2"/>
          <p:cNvSpPr>
            <a:spLocks noGrp="1"/>
          </p:cNvSpPr>
          <p:nvPr>
            <p:ph idx="1"/>
          </p:nvPr>
        </p:nvSpPr>
        <p:spPr/>
        <p:txBody>
          <a:bodyPr/>
          <a:lstStyle/>
          <a:p>
            <a:r>
              <a:rPr lang="en-AU" dirty="0" smtClean="0"/>
              <a:t>Contrary opinions expressed</a:t>
            </a:r>
          </a:p>
          <a:p>
            <a:pPr>
              <a:buNone/>
            </a:pPr>
            <a:endParaRPr lang="en-AU" sz="2400" i="1" dirty="0" smtClean="0">
              <a:latin typeface="Calibri" pitchFamily="34" charset="0"/>
            </a:endParaRPr>
          </a:p>
          <a:p>
            <a:pPr>
              <a:buNone/>
            </a:pPr>
            <a:r>
              <a:rPr lang="en-AU" sz="2400" i="1" dirty="0" smtClean="0">
                <a:latin typeface="Calibri" pitchFamily="34" charset="0"/>
              </a:rPr>
              <a:t>Speaker 1: “The first person [to influence you is] the coach. His driving habits will influence you.” Male, 23 years</a:t>
            </a:r>
          </a:p>
          <a:p>
            <a:pPr>
              <a:buNone/>
            </a:pPr>
            <a:r>
              <a:rPr lang="en-AU" sz="2400" i="1" dirty="0" smtClean="0">
                <a:latin typeface="Calibri" pitchFamily="34" charset="0"/>
              </a:rPr>
              <a:t> </a:t>
            </a:r>
          </a:p>
          <a:p>
            <a:pPr>
              <a:buNone/>
            </a:pPr>
            <a:r>
              <a:rPr lang="en-AU" sz="2400" i="1" dirty="0" smtClean="0">
                <a:latin typeface="Calibri" pitchFamily="34" charset="0"/>
              </a:rPr>
              <a:t>Speaker 2: “Yes, you absolutely are influenced by his [coach] driving habit.” Male, 41 years</a:t>
            </a:r>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Role of Coach </a:t>
            </a:r>
            <a:r>
              <a:rPr lang="en-AU" sz="1200" dirty="0" smtClean="0"/>
              <a:t>(2)</a:t>
            </a:r>
            <a:endParaRPr lang="en-AU" sz="1200" dirty="0"/>
          </a:p>
        </p:txBody>
      </p:sp>
      <p:sp>
        <p:nvSpPr>
          <p:cNvPr id="3" name="Content Placeholder 2"/>
          <p:cNvSpPr>
            <a:spLocks noGrp="1"/>
          </p:cNvSpPr>
          <p:nvPr>
            <p:ph idx="1"/>
          </p:nvPr>
        </p:nvSpPr>
        <p:spPr>
          <a:xfrm>
            <a:off x="457200" y="1600200"/>
            <a:ext cx="8229600" cy="4709120"/>
          </a:xfrm>
        </p:spPr>
        <p:txBody>
          <a:bodyPr/>
          <a:lstStyle/>
          <a:p>
            <a:r>
              <a:rPr lang="en-AU" sz="2800" dirty="0" smtClean="0"/>
              <a:t>Commonplace for novice drivers to receive instruction on purpose-specific driving tracks, rather than on the road network </a:t>
            </a:r>
            <a:endParaRPr lang="en-AU" dirty="0" smtClean="0">
              <a:solidFill>
                <a:schemeClr val="tx2"/>
              </a:solidFill>
            </a:endParaRPr>
          </a:p>
          <a:p>
            <a:endParaRPr lang="en-AU" sz="1800" dirty="0" smtClean="0"/>
          </a:p>
          <a:p>
            <a:r>
              <a:rPr lang="en-AU" sz="2800" dirty="0" smtClean="0"/>
              <a:t>After-licensing role of coach</a:t>
            </a:r>
          </a:p>
          <a:p>
            <a:pPr>
              <a:buNone/>
            </a:pPr>
            <a:r>
              <a:rPr lang="en-AU" sz="2000" i="1" dirty="0" smtClean="0"/>
              <a:t>	</a:t>
            </a:r>
          </a:p>
          <a:p>
            <a:pPr>
              <a:buNone/>
            </a:pPr>
            <a:r>
              <a:rPr lang="en-AU" sz="2000" i="1" dirty="0" smtClean="0">
                <a:latin typeface="Calibri" pitchFamily="34" charset="0"/>
                <a:cs typeface="Calibri" pitchFamily="34" charset="0"/>
              </a:rPr>
              <a:t>	</a:t>
            </a:r>
            <a:r>
              <a:rPr lang="en-AU" sz="2200" i="1" dirty="0" smtClean="0">
                <a:latin typeface="Calibri" pitchFamily="34" charset="0"/>
                <a:cs typeface="Calibri" pitchFamily="34" charset="0"/>
              </a:rPr>
              <a:t>“When I began to learn driving, I drove on the simulated road under the direction of the driving coach. After I got my licence, I would ask a person (from the driving school) for accompany training. When I drive on the real road, I think the direction of this accompanying coach for training is more important [than a coach for teaching driving].” Female, 36</a:t>
            </a:r>
            <a:endParaRPr lang="en-AU" sz="2200" i="1" dirty="0">
              <a:latin typeface="Calibri" pitchFamily="34" charset="0"/>
              <a:cs typeface="Calibr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Role of Others </a:t>
            </a:r>
            <a:r>
              <a:rPr lang="en-AU" sz="1200" dirty="0" smtClean="0"/>
              <a:t>(2)</a:t>
            </a:r>
            <a:endParaRPr lang="en-AU" sz="1200" dirty="0"/>
          </a:p>
        </p:txBody>
      </p:sp>
      <p:sp>
        <p:nvSpPr>
          <p:cNvPr id="3" name="Content Placeholder 2"/>
          <p:cNvSpPr>
            <a:spLocks noGrp="1"/>
          </p:cNvSpPr>
          <p:nvPr>
            <p:ph idx="1"/>
          </p:nvPr>
        </p:nvSpPr>
        <p:spPr/>
        <p:txBody>
          <a:bodyPr/>
          <a:lstStyle/>
          <a:p>
            <a:pPr marL="342900" lvl="1" indent="-342900">
              <a:buNone/>
            </a:pPr>
            <a:r>
              <a:rPr lang="en-AU" sz="2000" i="1" dirty="0" smtClean="0">
                <a:latin typeface="Calibri" pitchFamily="34" charset="0"/>
                <a:cs typeface="Calibri" pitchFamily="34" charset="0"/>
              </a:rPr>
              <a:t>	</a:t>
            </a:r>
          </a:p>
          <a:p>
            <a:pPr marL="342900" lvl="1" indent="-342900">
              <a:buNone/>
            </a:pPr>
            <a:endParaRPr lang="en-AU" sz="2000" i="1" dirty="0" smtClean="0">
              <a:latin typeface="Calibri" pitchFamily="34" charset="0"/>
              <a:cs typeface="Calibri" pitchFamily="34" charset="0"/>
            </a:endParaRPr>
          </a:p>
          <a:p>
            <a:pPr marL="342900" lvl="1" indent="-342900">
              <a:buNone/>
            </a:pPr>
            <a:r>
              <a:rPr lang="en-AU" sz="2000" i="1" dirty="0" smtClean="0">
                <a:latin typeface="Calibri" pitchFamily="34" charset="0"/>
                <a:cs typeface="Calibri" pitchFamily="34" charset="0"/>
              </a:rPr>
              <a:t>	“There are many girls around who drive very slowly which makes me annoyed. You can learn how to drive fast. Maybe I don’t know as much as men about cars, but I improve myself by asking others and participating in car clubs….</a:t>
            </a:r>
          </a:p>
          <a:p>
            <a:pPr marL="342900" lvl="1" indent="-342900">
              <a:buNone/>
            </a:pPr>
            <a:endParaRPr lang="en-AU" sz="2000" i="1" dirty="0" smtClean="0">
              <a:latin typeface="Calibri" pitchFamily="34" charset="0"/>
              <a:cs typeface="Calibri" pitchFamily="34" charset="0"/>
            </a:endParaRPr>
          </a:p>
          <a:p>
            <a:pPr marL="342900" lvl="1" indent="-342900">
              <a:buNone/>
            </a:pPr>
            <a:r>
              <a:rPr lang="en-AU" sz="2000" i="1" dirty="0" smtClean="0">
                <a:latin typeface="Calibri" pitchFamily="34" charset="0"/>
                <a:cs typeface="Calibri" pitchFamily="34" charset="0"/>
              </a:rPr>
              <a:t>	I learned to drive fast when I was a passenger with others and then I practised when I drove by myself.”      Female, 30  years</a:t>
            </a:r>
          </a:p>
          <a:p>
            <a:endParaRPr lang="en-AU" dirty="0"/>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Influence of Others - Racing</a:t>
            </a:r>
            <a:endParaRPr lang="en-AU" dirty="0"/>
          </a:p>
        </p:txBody>
      </p:sp>
      <p:sp>
        <p:nvSpPr>
          <p:cNvPr id="3" name="Content Placeholder 2"/>
          <p:cNvSpPr>
            <a:spLocks noGrp="1"/>
          </p:cNvSpPr>
          <p:nvPr>
            <p:ph idx="1"/>
          </p:nvPr>
        </p:nvSpPr>
        <p:spPr/>
        <p:txBody>
          <a:bodyPr/>
          <a:lstStyle/>
          <a:p>
            <a:r>
              <a:rPr lang="en-AU" dirty="0" smtClean="0"/>
              <a:t>Racing others widely discussed</a:t>
            </a:r>
          </a:p>
          <a:p>
            <a:pPr>
              <a:buNone/>
            </a:pPr>
            <a:r>
              <a:rPr lang="en-AU" sz="2000" i="1" dirty="0" smtClean="0">
                <a:latin typeface="Calibri" pitchFamily="34" charset="0"/>
                <a:cs typeface="Calibri" pitchFamily="34" charset="0"/>
              </a:rPr>
              <a:t>	“You can’t drive slowly like a snail if you drive out to play together with friends who like to speed very much. We feel cool when speeding, especially in a race with boys.” Female, 26 years</a:t>
            </a:r>
          </a:p>
          <a:p>
            <a:endParaRPr lang="en-AU" dirty="0" smtClean="0"/>
          </a:p>
          <a:p>
            <a:r>
              <a:rPr lang="en-AU" dirty="0" smtClean="0"/>
              <a:t>Racing in a club setting</a:t>
            </a:r>
          </a:p>
          <a:p>
            <a:pPr>
              <a:buNone/>
            </a:pPr>
            <a:r>
              <a:rPr lang="en-AU" sz="2000" i="1" dirty="0" smtClean="0"/>
              <a:t>	</a:t>
            </a:r>
            <a:r>
              <a:rPr lang="en-AU" sz="2000" i="1" dirty="0" smtClean="0">
                <a:latin typeface="Calibri" pitchFamily="34" charset="0"/>
                <a:cs typeface="Calibri" pitchFamily="34" charset="0"/>
              </a:rPr>
              <a:t>“There were no clubs when I was young like there are now [for meeting people to race]. I am jealous of the younger generation [they have greater opportunities to race now]. I have raced with a policeman in the past because there were no clubs.” Male, 40 years</a:t>
            </a:r>
          </a:p>
          <a:p>
            <a:endParaRPr lang="en-AU"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Influence of Others</a:t>
            </a:r>
            <a:endParaRPr lang="en-AU" sz="1200" dirty="0"/>
          </a:p>
        </p:txBody>
      </p:sp>
      <p:sp>
        <p:nvSpPr>
          <p:cNvPr id="3" name="Content Placeholder 2"/>
          <p:cNvSpPr>
            <a:spLocks noGrp="1"/>
          </p:cNvSpPr>
          <p:nvPr>
            <p:ph idx="1"/>
          </p:nvPr>
        </p:nvSpPr>
        <p:spPr/>
        <p:txBody>
          <a:bodyPr/>
          <a:lstStyle/>
          <a:p>
            <a:r>
              <a:rPr lang="en-AU" sz="2800" dirty="0" smtClean="0"/>
              <a:t>Avoiding detection and penalty</a:t>
            </a:r>
          </a:p>
          <a:p>
            <a:r>
              <a:rPr lang="en-AU" sz="2800" dirty="0" smtClean="0"/>
              <a:t>Many strategies consistent with previous research from other countries (e.g., speed camera site learning, radar detectors)</a:t>
            </a:r>
          </a:p>
          <a:p>
            <a:endParaRPr lang="en-AU" dirty="0" smtClean="0"/>
          </a:p>
          <a:p>
            <a:r>
              <a:rPr lang="en-AU" sz="2800" dirty="0" smtClean="0"/>
              <a:t>But, the influence of others related to:</a:t>
            </a:r>
          </a:p>
          <a:p>
            <a:pPr lvl="1"/>
            <a:r>
              <a:rPr lang="en-AU" sz="2400" dirty="0" smtClean="0"/>
              <a:t>Direct interaction with police</a:t>
            </a:r>
          </a:p>
          <a:p>
            <a:pPr lvl="1"/>
            <a:r>
              <a:rPr lang="en-AU" sz="2400" dirty="0" smtClean="0"/>
              <a:t>After apprehension to avoid penalty</a:t>
            </a:r>
            <a:endParaRPr lang="en-AU"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4000" dirty="0" smtClean="0"/>
              <a:t>Interaction with Police</a:t>
            </a:r>
            <a:br>
              <a:rPr lang="en-AU" sz="4000" dirty="0" smtClean="0"/>
            </a:br>
            <a:r>
              <a:rPr lang="en-AU" sz="4000" dirty="0" smtClean="0"/>
              <a:t>to Avoid Penalty</a:t>
            </a:r>
            <a:endParaRPr lang="en-AU" sz="4000" dirty="0"/>
          </a:p>
        </p:txBody>
      </p:sp>
      <p:sp>
        <p:nvSpPr>
          <p:cNvPr id="3" name="Content Placeholder 2"/>
          <p:cNvSpPr>
            <a:spLocks noGrp="1"/>
          </p:cNvSpPr>
          <p:nvPr>
            <p:ph idx="1"/>
          </p:nvPr>
        </p:nvSpPr>
        <p:spPr>
          <a:xfrm>
            <a:off x="457200" y="1855365"/>
            <a:ext cx="8229600" cy="4525963"/>
          </a:xfrm>
        </p:spPr>
        <p:txBody>
          <a:bodyPr/>
          <a:lstStyle/>
          <a:p>
            <a:endParaRPr lang="en-AU" sz="2800" dirty="0" smtClean="0"/>
          </a:p>
          <a:p>
            <a:r>
              <a:rPr lang="en-AU" sz="2800" dirty="0" smtClean="0"/>
              <a:t>Show business card of influential person</a:t>
            </a:r>
          </a:p>
          <a:p>
            <a:r>
              <a:rPr lang="en-AU" sz="2800" dirty="0" smtClean="0"/>
              <a:t>Acting ‘shamelessly’</a:t>
            </a:r>
          </a:p>
          <a:p>
            <a:endParaRPr lang="en-AU" dirty="0" smtClean="0"/>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4000" dirty="0" smtClean="0"/>
              <a:t>Role of Others After Apprehension </a:t>
            </a:r>
            <a:endParaRPr lang="en-AU" sz="4000" dirty="0"/>
          </a:p>
        </p:txBody>
      </p:sp>
      <p:sp>
        <p:nvSpPr>
          <p:cNvPr id="3" name="Content Placeholder 2"/>
          <p:cNvSpPr>
            <a:spLocks noGrp="1"/>
          </p:cNvSpPr>
          <p:nvPr>
            <p:ph idx="1"/>
          </p:nvPr>
        </p:nvSpPr>
        <p:spPr>
          <a:xfrm>
            <a:off x="457200" y="1600200"/>
            <a:ext cx="8229600" cy="4781128"/>
          </a:xfrm>
        </p:spPr>
        <p:txBody>
          <a:bodyPr/>
          <a:lstStyle/>
          <a:p>
            <a:r>
              <a:rPr lang="en-AU" dirty="0" smtClean="0"/>
              <a:t>Demerit point sharing</a:t>
            </a:r>
            <a:endParaRPr lang="en-AU" sz="1600" dirty="0" smtClean="0"/>
          </a:p>
          <a:p>
            <a:pPr>
              <a:buNone/>
            </a:pPr>
            <a:r>
              <a:rPr lang="en-US" sz="2400" dirty="0" smtClean="0">
                <a:latin typeface="Calibri" pitchFamily="34" charset="0"/>
                <a:cs typeface="Calibri" pitchFamily="34" charset="0"/>
              </a:rPr>
              <a:t>	</a:t>
            </a:r>
            <a:r>
              <a:rPr lang="en-US" sz="2200" dirty="0" smtClean="0">
                <a:latin typeface="Calibri" pitchFamily="34" charset="0"/>
                <a:cs typeface="Calibri" pitchFamily="34" charset="0"/>
              </a:rPr>
              <a:t>“</a:t>
            </a:r>
            <a:r>
              <a:rPr lang="en-US" sz="2200" i="1" dirty="0" smtClean="0">
                <a:latin typeface="Calibri" pitchFamily="34" charset="0"/>
                <a:cs typeface="Calibri" pitchFamily="34" charset="0"/>
              </a:rPr>
              <a:t>There are many people who have a </a:t>
            </a:r>
            <a:r>
              <a:rPr lang="en-US" sz="2200" i="1" dirty="0" err="1" smtClean="0">
                <a:latin typeface="Calibri" pitchFamily="34" charset="0"/>
                <a:cs typeface="Calibri" pitchFamily="34" charset="0"/>
              </a:rPr>
              <a:t>licence</a:t>
            </a:r>
            <a:r>
              <a:rPr lang="en-US" sz="2200" i="1" dirty="0" smtClean="0">
                <a:latin typeface="Calibri" pitchFamily="34" charset="0"/>
                <a:cs typeface="Calibri" pitchFamily="34" charset="0"/>
              </a:rPr>
              <a:t> but no car.” </a:t>
            </a:r>
            <a:r>
              <a:rPr lang="en-US" sz="2200" dirty="0" smtClean="0">
                <a:latin typeface="Calibri" pitchFamily="34" charset="0"/>
                <a:cs typeface="Calibri" pitchFamily="34" charset="0"/>
              </a:rPr>
              <a:t>Male, 37</a:t>
            </a:r>
            <a:endParaRPr lang="en-AU" sz="2200" dirty="0" smtClean="0">
              <a:latin typeface="Calibri" pitchFamily="34" charset="0"/>
              <a:cs typeface="Calibri" pitchFamily="34" charset="0"/>
            </a:endParaRPr>
          </a:p>
          <a:p>
            <a:r>
              <a:rPr lang="en-AU" dirty="0" smtClean="0"/>
              <a:t>Asking others to cancel the penalty</a:t>
            </a:r>
          </a:p>
          <a:p>
            <a:pPr>
              <a:buNone/>
            </a:pPr>
            <a:endParaRPr lang="en-AU" sz="2000" i="1" dirty="0" smtClean="0">
              <a:latin typeface="Calibri" pitchFamily="34" charset="0"/>
              <a:cs typeface="Calibri" pitchFamily="34" charset="0"/>
            </a:endParaRPr>
          </a:p>
          <a:p>
            <a:pPr>
              <a:buNone/>
            </a:pPr>
            <a:r>
              <a:rPr lang="en-AU" sz="2000" i="1" dirty="0" smtClean="0">
                <a:latin typeface="Calibri" pitchFamily="34" charset="0"/>
                <a:cs typeface="Calibri" pitchFamily="34" charset="0"/>
              </a:rPr>
              <a:t>Speaker 1: “You ask someone important to cancel the record.” Male,37</a:t>
            </a:r>
          </a:p>
          <a:p>
            <a:pPr>
              <a:buNone/>
            </a:pPr>
            <a:endParaRPr lang="en-AU" sz="800" i="1" dirty="0" smtClean="0">
              <a:latin typeface="Calibri" pitchFamily="34" charset="0"/>
              <a:cs typeface="Calibri" pitchFamily="34" charset="0"/>
            </a:endParaRPr>
          </a:p>
          <a:p>
            <a:pPr>
              <a:buNone/>
            </a:pPr>
            <a:r>
              <a:rPr lang="en-AU" sz="2000" i="1" dirty="0" smtClean="0">
                <a:latin typeface="Calibri" pitchFamily="34" charset="0"/>
                <a:cs typeface="Calibri" pitchFamily="34" charset="0"/>
              </a:rPr>
              <a:t>Speaker 2: “Why do you ask for someone’s help? It is too troublesome because you need buy a present to express your thanks.” Female, 27</a:t>
            </a:r>
          </a:p>
          <a:p>
            <a:pPr>
              <a:buNone/>
            </a:pPr>
            <a:endParaRPr lang="en-AU" sz="800" i="1" dirty="0" smtClean="0">
              <a:latin typeface="Calibri" pitchFamily="34" charset="0"/>
              <a:cs typeface="Calibri" pitchFamily="34" charset="0"/>
            </a:endParaRPr>
          </a:p>
          <a:p>
            <a:pPr>
              <a:buNone/>
            </a:pPr>
            <a:endParaRPr lang="en-AU" sz="800" i="1" dirty="0" smtClean="0">
              <a:latin typeface="Calibri" pitchFamily="34" charset="0"/>
              <a:cs typeface="Calibri" pitchFamily="34" charset="0"/>
            </a:endParaRPr>
          </a:p>
          <a:p>
            <a:pPr>
              <a:buNone/>
            </a:pPr>
            <a:r>
              <a:rPr lang="en-AU" sz="2000" i="1" dirty="0" smtClean="0">
                <a:latin typeface="Calibri" pitchFamily="34" charset="0"/>
                <a:cs typeface="Calibri" pitchFamily="34" charset="0"/>
              </a:rPr>
              <a:t>Speaker 1: “Yes it’s not easy to ask somebody important to do this but it is worth asking someone if you are going to lose all your points.” Male, 37 </a:t>
            </a:r>
          </a:p>
          <a:p>
            <a:endParaRPr lang="en-AU"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Discussion </a:t>
            </a:r>
            <a:r>
              <a:rPr lang="en-AU" sz="1200" dirty="0" smtClean="0"/>
              <a:t>(1)</a:t>
            </a:r>
            <a:endParaRPr lang="en-AU" sz="1200" dirty="0"/>
          </a:p>
        </p:txBody>
      </p:sp>
      <p:sp>
        <p:nvSpPr>
          <p:cNvPr id="3" name="Content Placeholder 2"/>
          <p:cNvSpPr>
            <a:spLocks noGrp="1"/>
          </p:cNvSpPr>
          <p:nvPr>
            <p:ph idx="1"/>
          </p:nvPr>
        </p:nvSpPr>
        <p:spPr>
          <a:xfrm>
            <a:off x="457200" y="1600200"/>
            <a:ext cx="8229600" cy="4709120"/>
          </a:xfrm>
        </p:spPr>
        <p:txBody>
          <a:bodyPr/>
          <a:lstStyle/>
          <a:p>
            <a:r>
              <a:rPr lang="en-AU" sz="2800" dirty="0" smtClean="0"/>
              <a:t>Large range of social influence factors noted, many are consistent with previous findings from other countries</a:t>
            </a:r>
          </a:p>
          <a:p>
            <a:endParaRPr lang="en-AU" sz="1100" dirty="0" smtClean="0"/>
          </a:p>
          <a:p>
            <a:r>
              <a:rPr lang="en-AU" sz="2800" dirty="0" smtClean="0"/>
              <a:t>Would not have been surprising to find limited social influence in China because not everyone drives</a:t>
            </a:r>
          </a:p>
          <a:p>
            <a:endParaRPr lang="en-AU" sz="1100" dirty="0" smtClean="0"/>
          </a:p>
          <a:p>
            <a:r>
              <a:rPr lang="en-AU" sz="2800" dirty="0" smtClean="0"/>
              <a:t>Family, coach and other acquaintances appear influential, especially when learning to drive</a:t>
            </a:r>
            <a:endParaRPr lang="en-AU" sz="2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Discussion </a:t>
            </a:r>
            <a:r>
              <a:rPr lang="en-AU" sz="1200" dirty="0" smtClean="0"/>
              <a:t>(2)</a:t>
            </a:r>
            <a:endParaRPr lang="en-AU" sz="1200" dirty="0"/>
          </a:p>
        </p:txBody>
      </p:sp>
      <p:sp>
        <p:nvSpPr>
          <p:cNvPr id="3" name="Content Placeholder 2"/>
          <p:cNvSpPr>
            <a:spLocks noGrp="1"/>
          </p:cNvSpPr>
          <p:nvPr>
            <p:ph idx="1"/>
          </p:nvPr>
        </p:nvSpPr>
        <p:spPr>
          <a:xfrm>
            <a:off x="457200" y="1600200"/>
            <a:ext cx="8229600" cy="4709120"/>
          </a:xfrm>
        </p:spPr>
        <p:txBody>
          <a:bodyPr/>
          <a:lstStyle/>
          <a:p>
            <a:r>
              <a:rPr lang="en-AU" sz="2800" dirty="0" smtClean="0"/>
              <a:t>Off-road learning may not adequately teach all skills required to negotiate traffic</a:t>
            </a:r>
          </a:p>
          <a:p>
            <a:r>
              <a:rPr lang="en-AU" sz="2800" dirty="0" smtClean="0"/>
              <a:t>Importance of the role of coach – not surprising because of large number of novice drivers</a:t>
            </a:r>
          </a:p>
          <a:p>
            <a:r>
              <a:rPr lang="en-AU" sz="2800" dirty="0" smtClean="0"/>
              <a:t>Other countries use supervised (on-road) practice of novice drivers</a:t>
            </a:r>
          </a:p>
          <a:p>
            <a:endParaRPr lang="en-AU" sz="2800" dirty="0" smtClean="0"/>
          </a:p>
          <a:p>
            <a:r>
              <a:rPr lang="en-AU" sz="2800" dirty="0" smtClean="0"/>
              <a:t>Pilot study: Trial of free on-road practice, Beijing</a:t>
            </a:r>
          </a:p>
          <a:p>
            <a:r>
              <a:rPr lang="en-AU" sz="2800" dirty="0" smtClean="0"/>
              <a:t>Hopeful of introducing greater support for novice driver	                                        </a:t>
            </a:r>
            <a:r>
              <a:rPr lang="en-AU" sz="1400" dirty="0" smtClean="0"/>
              <a:t>WHO, The George Institute, 2010</a:t>
            </a:r>
          </a:p>
          <a:p>
            <a:pPr algn="r">
              <a:buNone/>
            </a:pPr>
            <a:endParaRPr lang="en-AU" sz="1400" dirty="0" smtClean="0"/>
          </a:p>
          <a:p>
            <a:endParaRPr lang="en-AU" dirty="0" smtClean="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Discussion </a:t>
            </a:r>
            <a:r>
              <a:rPr lang="en-AU" sz="1200" dirty="0" smtClean="0"/>
              <a:t>(3)</a:t>
            </a:r>
            <a:endParaRPr lang="en-AU" sz="1200" dirty="0"/>
          </a:p>
        </p:txBody>
      </p:sp>
      <p:sp>
        <p:nvSpPr>
          <p:cNvPr id="3" name="Content Placeholder 2"/>
          <p:cNvSpPr>
            <a:spLocks noGrp="1"/>
          </p:cNvSpPr>
          <p:nvPr>
            <p:ph idx="1"/>
          </p:nvPr>
        </p:nvSpPr>
        <p:spPr>
          <a:xfrm>
            <a:off x="457200" y="1600200"/>
            <a:ext cx="8229600" cy="4709120"/>
          </a:xfrm>
        </p:spPr>
        <p:txBody>
          <a:bodyPr/>
          <a:lstStyle/>
          <a:p>
            <a:r>
              <a:rPr lang="en-AU" sz="2800" dirty="0" smtClean="0"/>
              <a:t>The role of clubs – absent from literature</a:t>
            </a:r>
          </a:p>
          <a:p>
            <a:endParaRPr lang="en-AU" sz="1000" dirty="0" smtClean="0"/>
          </a:p>
          <a:p>
            <a:r>
              <a:rPr lang="en-AU" sz="2800" dirty="0" smtClean="0"/>
              <a:t>Socially-based driving clubs commonly discussed</a:t>
            </a:r>
          </a:p>
          <a:p>
            <a:endParaRPr lang="en-AU" sz="1000" dirty="0" smtClean="0"/>
          </a:p>
          <a:p>
            <a:r>
              <a:rPr lang="en-AU" sz="2800" dirty="0" smtClean="0"/>
              <a:t>Social networking opportunities for drivers</a:t>
            </a:r>
          </a:p>
          <a:p>
            <a:endParaRPr lang="en-AU" sz="1000" dirty="0" smtClean="0"/>
          </a:p>
          <a:p>
            <a:r>
              <a:rPr lang="en-AU" sz="2800" dirty="0" smtClean="0"/>
              <a:t>Particularly popular with new drivers, especially if peers do not have a car</a:t>
            </a:r>
          </a:p>
          <a:p>
            <a:pPr>
              <a:buNone/>
            </a:pPr>
            <a:endParaRPr lang="en-AU" sz="1000" dirty="0" smtClean="0"/>
          </a:p>
          <a:p>
            <a:r>
              <a:rPr lang="en-AU" sz="2800" dirty="0" smtClean="0"/>
              <a:t>‘Racing’ is an area of concern for authorities</a:t>
            </a:r>
          </a:p>
          <a:p>
            <a:endParaRPr lang="en-AU"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Discussion </a:t>
            </a:r>
            <a:r>
              <a:rPr lang="en-AU" sz="1200" dirty="0" smtClean="0"/>
              <a:t>(4)</a:t>
            </a:r>
            <a:endParaRPr lang="en-AU" sz="1200" dirty="0"/>
          </a:p>
        </p:txBody>
      </p:sp>
      <p:sp>
        <p:nvSpPr>
          <p:cNvPr id="3" name="Content Placeholder 2"/>
          <p:cNvSpPr>
            <a:spLocks noGrp="1"/>
          </p:cNvSpPr>
          <p:nvPr>
            <p:ph idx="1"/>
          </p:nvPr>
        </p:nvSpPr>
        <p:spPr/>
        <p:txBody>
          <a:bodyPr/>
          <a:lstStyle/>
          <a:p>
            <a:r>
              <a:rPr lang="en-AU" sz="2800" dirty="0" smtClean="0"/>
              <a:t>Demerit point sharing</a:t>
            </a:r>
          </a:p>
          <a:p>
            <a:pPr lvl="1"/>
            <a:r>
              <a:rPr lang="en-AU" sz="2400" dirty="0" smtClean="0"/>
              <a:t>Complicated by many people in Beijing having licence but not driving                                                 </a:t>
            </a:r>
            <a:r>
              <a:rPr lang="en-AU" sz="1200" dirty="0" smtClean="0"/>
              <a:t>Fleiter et al, 2008</a:t>
            </a:r>
          </a:p>
          <a:p>
            <a:endParaRPr lang="en-AU" dirty="0" smtClean="0"/>
          </a:p>
          <a:p>
            <a:r>
              <a:rPr lang="en-AU" sz="2800" dirty="0" smtClean="0"/>
              <a:t>Social networks to cancel penalties</a:t>
            </a:r>
          </a:p>
          <a:p>
            <a:pPr lvl="1"/>
            <a:r>
              <a:rPr lang="en-AU" sz="2400" dirty="0" err="1" smtClean="0"/>
              <a:t>Guanxi</a:t>
            </a:r>
            <a:r>
              <a:rPr lang="en-AU" sz="2400" dirty="0" smtClean="0"/>
              <a:t> (relationships, transfer of social capital via network of people, central to Chinese way of life) </a:t>
            </a:r>
          </a:p>
          <a:p>
            <a:pPr lvl="1" algn="r">
              <a:buNone/>
            </a:pPr>
            <a:endParaRPr lang="en-AU" sz="2400" dirty="0" smtClean="0"/>
          </a:p>
          <a:p>
            <a:pPr lvl="1" algn="r">
              <a:buNone/>
            </a:pPr>
            <a:r>
              <a:rPr lang="en-AU" sz="1200" dirty="0" err="1" smtClean="0"/>
              <a:t>Luo</a:t>
            </a:r>
            <a:r>
              <a:rPr lang="en-AU" sz="1200" dirty="0" smtClean="0"/>
              <a:t>, 2007</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Discussion </a:t>
            </a:r>
            <a:r>
              <a:rPr lang="en-AU" sz="1200" dirty="0" smtClean="0"/>
              <a:t>(5)</a:t>
            </a:r>
            <a:endParaRPr lang="en-AU" sz="1200" dirty="0"/>
          </a:p>
        </p:txBody>
      </p:sp>
      <p:sp>
        <p:nvSpPr>
          <p:cNvPr id="3" name="Content Placeholder 2"/>
          <p:cNvSpPr>
            <a:spLocks noGrp="1"/>
          </p:cNvSpPr>
          <p:nvPr>
            <p:ph idx="1"/>
          </p:nvPr>
        </p:nvSpPr>
        <p:spPr/>
        <p:txBody>
          <a:bodyPr/>
          <a:lstStyle/>
          <a:p>
            <a:r>
              <a:rPr lang="en-AU" sz="2800" dirty="0" smtClean="0"/>
              <a:t>Findings consistent with previous research: Social networks and avoiding legal punishments for traffic violations</a:t>
            </a:r>
          </a:p>
          <a:p>
            <a:pPr algn="r">
              <a:buNone/>
            </a:pPr>
            <a:r>
              <a:rPr lang="en-AU" sz="1400" dirty="0" err="1" smtClean="0"/>
              <a:t>Xie</a:t>
            </a:r>
            <a:r>
              <a:rPr lang="en-AU" sz="1400" dirty="0" smtClean="0"/>
              <a:t> &amp; Parker, 2007</a:t>
            </a:r>
          </a:p>
          <a:p>
            <a:pPr algn="r">
              <a:buNone/>
            </a:pPr>
            <a:endParaRPr lang="en-AU" sz="1400" dirty="0" smtClean="0"/>
          </a:p>
          <a:p>
            <a:endParaRPr lang="en-AU" dirty="0" smtClean="0"/>
          </a:p>
          <a:p>
            <a:r>
              <a:rPr lang="en-AU" sz="2800" dirty="0" smtClean="0"/>
              <a:t>Potential barriers to implementing effective traffic law enforcement strategies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Study Limitations</a:t>
            </a:r>
            <a:endParaRPr lang="en-AU" dirty="0"/>
          </a:p>
        </p:txBody>
      </p:sp>
      <p:sp>
        <p:nvSpPr>
          <p:cNvPr id="3" name="Content Placeholder 2"/>
          <p:cNvSpPr>
            <a:spLocks noGrp="1"/>
          </p:cNvSpPr>
          <p:nvPr>
            <p:ph idx="1"/>
          </p:nvPr>
        </p:nvSpPr>
        <p:spPr/>
        <p:txBody>
          <a:bodyPr/>
          <a:lstStyle/>
          <a:p>
            <a:endParaRPr lang="en-AU" sz="2800" dirty="0" smtClean="0"/>
          </a:p>
          <a:p>
            <a:r>
              <a:rPr lang="en-AU" sz="2800" dirty="0" smtClean="0"/>
              <a:t>Qualitative research</a:t>
            </a:r>
          </a:p>
          <a:p>
            <a:pPr lvl="1"/>
            <a:r>
              <a:rPr lang="en-AU" sz="2200" dirty="0" smtClean="0"/>
              <a:t>Limits </a:t>
            </a:r>
            <a:r>
              <a:rPr lang="en-AU" sz="2200" dirty="0" err="1" smtClean="0"/>
              <a:t>generalisability</a:t>
            </a:r>
            <a:r>
              <a:rPr lang="en-AU" sz="2200" dirty="0" smtClean="0"/>
              <a:t> of findings but richer data</a:t>
            </a:r>
          </a:p>
          <a:p>
            <a:endParaRPr lang="en-AU" sz="1000" dirty="0" smtClean="0"/>
          </a:p>
          <a:p>
            <a:r>
              <a:rPr lang="en-AU" sz="2800" dirty="0" smtClean="0"/>
              <a:t>Convenience sampling – potential bias</a:t>
            </a:r>
          </a:p>
          <a:p>
            <a:pPr lvl="1"/>
            <a:r>
              <a:rPr lang="en-AU" sz="2200" dirty="0" smtClean="0"/>
              <a:t>Future research should consider broader sampling base</a:t>
            </a:r>
          </a:p>
          <a:p>
            <a:pPr lvl="1"/>
            <a:endParaRPr lang="en-AU" sz="1000" dirty="0" smtClean="0"/>
          </a:p>
          <a:p>
            <a:r>
              <a:rPr lang="en-AU" sz="2800" dirty="0" smtClean="0"/>
              <a:t>Presence of ‘foreign’ researcher at all interviews</a:t>
            </a:r>
          </a:p>
          <a:p>
            <a:pPr lvl="1"/>
            <a:r>
              <a:rPr lang="en-AU" sz="2200" dirty="0" smtClean="0"/>
              <a:t>Openness of responses suggests that participants did not appear to feel need to withhold information</a:t>
            </a:r>
          </a:p>
          <a:p>
            <a:endParaRPr lang="en-AU" dirty="0" smtClean="0"/>
          </a:p>
          <a:p>
            <a:pPr lvl="1">
              <a:buNone/>
            </a:pPr>
            <a:endParaRPr lang="en-AU" dirty="0" smtClean="0"/>
          </a:p>
          <a:p>
            <a:endParaRPr lang="en-AU" dirty="0"/>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Conclusion</a:t>
            </a:r>
            <a:endParaRPr lang="en-AU"/>
          </a:p>
        </p:txBody>
      </p:sp>
      <p:sp>
        <p:nvSpPr>
          <p:cNvPr id="3" name="Content Placeholder 2"/>
          <p:cNvSpPr>
            <a:spLocks noGrp="1"/>
          </p:cNvSpPr>
          <p:nvPr>
            <p:ph idx="1"/>
          </p:nvPr>
        </p:nvSpPr>
        <p:spPr>
          <a:xfrm>
            <a:off x="457200" y="1600200"/>
            <a:ext cx="8229600" cy="4781128"/>
          </a:xfrm>
        </p:spPr>
        <p:txBody>
          <a:bodyPr/>
          <a:lstStyle/>
          <a:p>
            <a:r>
              <a:rPr lang="en-AU" sz="2800" dirty="0" smtClean="0"/>
              <a:t>As the UN Decade of Action for Road Safety begins</a:t>
            </a:r>
          </a:p>
          <a:p>
            <a:pPr lvl="1"/>
            <a:r>
              <a:rPr lang="en-AU" sz="2400" dirty="0" smtClean="0"/>
              <a:t>Reminder that culturally-relevant issues should be considered</a:t>
            </a:r>
          </a:p>
          <a:p>
            <a:pPr lvl="1"/>
            <a:r>
              <a:rPr lang="en-AU" sz="2400" dirty="0" smtClean="0"/>
              <a:t>The role of other people should not be underestimated</a:t>
            </a:r>
          </a:p>
          <a:p>
            <a:endParaRPr lang="en-AU" sz="2800" dirty="0" smtClean="0"/>
          </a:p>
          <a:p>
            <a:r>
              <a:rPr lang="en-AU" sz="2800" dirty="0" smtClean="0"/>
              <a:t>Future research to be conducted by me with Zhejiang Police College, Hangzhou</a:t>
            </a:r>
          </a:p>
          <a:p>
            <a:r>
              <a:rPr lang="en-AU" sz="2800" dirty="0" smtClean="0"/>
              <a:t>Postdoctoral Research Fellowship (2011-2015)</a:t>
            </a:r>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References</a:t>
            </a:r>
            <a:endParaRPr lang="en-AU" dirty="0"/>
          </a:p>
        </p:txBody>
      </p:sp>
      <p:sp>
        <p:nvSpPr>
          <p:cNvPr id="3" name="Content Placeholder 2"/>
          <p:cNvSpPr>
            <a:spLocks noGrp="1"/>
          </p:cNvSpPr>
          <p:nvPr>
            <p:ph idx="1"/>
          </p:nvPr>
        </p:nvSpPr>
        <p:spPr/>
        <p:txBody>
          <a:bodyPr/>
          <a:lstStyle/>
          <a:p>
            <a:r>
              <a:rPr lang="en-US" sz="1300" dirty="0" smtClean="0">
                <a:latin typeface="Calibri" pitchFamily="34" charset="0"/>
              </a:rPr>
              <a:t>Fleiter JJ, Lennon A, Watson B. Choosing not to speed: A qualitative exploration of differences in perceptions about speed limit compliance and related issues. In Australasian Road Safety Research Policing Education Conference, Melbourne, 17-19 October, 2007.</a:t>
            </a:r>
            <a:endParaRPr lang="en-AU" sz="1300" dirty="0" smtClean="0">
              <a:latin typeface="Calibri" pitchFamily="34" charset="0"/>
            </a:endParaRPr>
          </a:p>
          <a:p>
            <a:r>
              <a:rPr lang="en-US" sz="1300" dirty="0" err="1" smtClean="0">
                <a:latin typeface="Calibri" pitchFamily="34" charset="0"/>
              </a:rPr>
              <a:t>Hu</a:t>
            </a:r>
            <a:r>
              <a:rPr lang="en-US" sz="1300" dirty="0" smtClean="0">
                <a:latin typeface="Calibri" pitchFamily="34" charset="0"/>
              </a:rPr>
              <a:t> G, </a:t>
            </a:r>
            <a:r>
              <a:rPr lang="en-US" sz="1300" dirty="0" err="1" smtClean="0">
                <a:latin typeface="Calibri" pitchFamily="34" charset="0"/>
              </a:rPr>
              <a:t>Wen</a:t>
            </a:r>
            <a:r>
              <a:rPr lang="en-US" sz="1300" dirty="0" smtClean="0">
                <a:latin typeface="Calibri" pitchFamily="34" charset="0"/>
              </a:rPr>
              <a:t> M, Baker TD, Baker SP. Road-traffic deaths in China, 1985–2005: Threat and opportunity. Injury Prevention 2008; 14:149-153.</a:t>
            </a:r>
            <a:endParaRPr lang="en-AU" sz="1300" dirty="0" smtClean="0">
              <a:latin typeface="Calibri" pitchFamily="34" charset="0"/>
            </a:endParaRPr>
          </a:p>
          <a:p>
            <a:r>
              <a:rPr lang="en-US" sz="1300" dirty="0" err="1" smtClean="0">
                <a:latin typeface="Calibri" pitchFamily="34" charset="0"/>
              </a:rPr>
              <a:t>Luo</a:t>
            </a:r>
            <a:r>
              <a:rPr lang="en-US" sz="1300" dirty="0" smtClean="0">
                <a:latin typeface="Calibri" pitchFamily="34" charset="0"/>
              </a:rPr>
              <a:t> Y. </a:t>
            </a:r>
            <a:r>
              <a:rPr lang="en-US" sz="1300" dirty="0" err="1" smtClean="0">
                <a:latin typeface="Calibri" pitchFamily="34" charset="0"/>
              </a:rPr>
              <a:t>Guanxi</a:t>
            </a:r>
            <a:r>
              <a:rPr lang="en-US" sz="1300" dirty="0" smtClean="0">
                <a:latin typeface="Calibri" pitchFamily="34" charset="0"/>
              </a:rPr>
              <a:t> and business New Jersey: World Scientific, 2007. </a:t>
            </a:r>
            <a:endParaRPr lang="en-AU" sz="1300" dirty="0" smtClean="0">
              <a:latin typeface="Calibri" pitchFamily="34" charset="0"/>
            </a:endParaRPr>
          </a:p>
          <a:p>
            <a:r>
              <a:rPr lang="en-US" sz="1300" dirty="0" err="1" smtClean="0">
                <a:latin typeface="Calibri" pitchFamily="34" charset="0"/>
              </a:rPr>
              <a:t>Peden</a:t>
            </a:r>
            <a:r>
              <a:rPr lang="en-US" sz="1300" dirty="0" smtClean="0">
                <a:latin typeface="Calibri" pitchFamily="34" charset="0"/>
              </a:rPr>
              <a:t> M, </a:t>
            </a:r>
            <a:r>
              <a:rPr lang="en-US" sz="1300" dirty="0" err="1" smtClean="0">
                <a:latin typeface="Calibri" pitchFamily="34" charset="0"/>
              </a:rPr>
              <a:t>Scurfield</a:t>
            </a:r>
            <a:r>
              <a:rPr lang="en-US" sz="1300" dirty="0" smtClean="0">
                <a:latin typeface="Calibri" pitchFamily="34" charset="0"/>
              </a:rPr>
              <a:t> R, Sleet D, Mohan D, </a:t>
            </a:r>
            <a:r>
              <a:rPr lang="en-US" sz="1300" dirty="0" err="1" smtClean="0">
                <a:latin typeface="Calibri" pitchFamily="34" charset="0"/>
              </a:rPr>
              <a:t>Hyder</a:t>
            </a:r>
            <a:r>
              <a:rPr lang="en-US" sz="1300" dirty="0" smtClean="0">
                <a:latin typeface="Calibri" pitchFamily="34" charset="0"/>
              </a:rPr>
              <a:t> AA, </a:t>
            </a:r>
            <a:r>
              <a:rPr lang="en-US" sz="1300" dirty="0" err="1" smtClean="0">
                <a:latin typeface="Calibri" pitchFamily="34" charset="0"/>
              </a:rPr>
              <a:t>Jarawan</a:t>
            </a:r>
            <a:r>
              <a:rPr lang="en-US" sz="1300" dirty="0" smtClean="0">
                <a:latin typeface="Calibri" pitchFamily="34" charset="0"/>
              </a:rPr>
              <a:t> E et al. World report on road traffic injury prevention 2004. Geneva. </a:t>
            </a:r>
          </a:p>
          <a:p>
            <a:r>
              <a:rPr lang="en-US" sz="1300" dirty="0" err="1" smtClean="0">
                <a:latin typeface="Calibri" pitchFamily="34" charset="0"/>
              </a:rPr>
              <a:t>Pendyala</a:t>
            </a:r>
            <a:r>
              <a:rPr lang="en-US" sz="1300" dirty="0" smtClean="0">
                <a:latin typeface="Calibri" pitchFamily="34" charset="0"/>
              </a:rPr>
              <a:t> RM, Kitamura R. The rapid </a:t>
            </a:r>
            <a:r>
              <a:rPr lang="en-US" sz="1300" dirty="0" err="1" smtClean="0">
                <a:latin typeface="Calibri" pitchFamily="34" charset="0"/>
              </a:rPr>
              <a:t>motorisation</a:t>
            </a:r>
            <a:r>
              <a:rPr lang="en-US" sz="1300" dirty="0" smtClean="0">
                <a:latin typeface="Calibri" pitchFamily="34" charset="0"/>
              </a:rPr>
              <a:t> of Asia: Implications for the future. Transportation 2007; 34:275-279.</a:t>
            </a:r>
            <a:endParaRPr lang="en-AU" sz="1300" dirty="0" smtClean="0">
              <a:latin typeface="Calibri" pitchFamily="34" charset="0"/>
            </a:endParaRPr>
          </a:p>
          <a:p>
            <a:r>
              <a:rPr lang="en-US" sz="1300" dirty="0" smtClean="0">
                <a:latin typeface="Calibri" pitchFamily="34" charset="0"/>
              </a:rPr>
              <a:t>Riley K. Motor vehicles in China: The impact of demographic and economic changes. Population and Environment 2002; 23:479-494. </a:t>
            </a:r>
            <a:endParaRPr lang="en-AU" sz="1300" dirty="0" smtClean="0">
              <a:latin typeface="Calibri" pitchFamily="34" charset="0"/>
            </a:endParaRPr>
          </a:p>
          <a:p>
            <a:r>
              <a:rPr lang="en-US" sz="1300" dirty="0" smtClean="0">
                <a:latin typeface="Calibri" pitchFamily="34" charset="0"/>
              </a:rPr>
              <a:t>Wang SY, Chi GB, Jing CX, Dong XM, Wu CP, Li LP. Trends in road traffic crashes and associated injury and fatality in the People's Republic of China, 1951-1999. Injury Control and Safety Promotion 2003; 10:83-87.</a:t>
            </a:r>
            <a:endParaRPr lang="en-AU" sz="1300" dirty="0" smtClean="0">
              <a:latin typeface="Calibri" pitchFamily="34" charset="0"/>
            </a:endParaRPr>
          </a:p>
          <a:p>
            <a:r>
              <a:rPr lang="en-US" sz="1300" dirty="0" smtClean="0">
                <a:latin typeface="Calibri" pitchFamily="34" charset="0"/>
              </a:rPr>
              <a:t>Wang SY, Li YH, Chi GB, Xiao SY, </a:t>
            </a:r>
            <a:r>
              <a:rPr lang="en-US" sz="1300" dirty="0" err="1" smtClean="0">
                <a:latin typeface="Calibri" pitchFamily="34" charset="0"/>
              </a:rPr>
              <a:t>Ozanne</a:t>
            </a:r>
            <a:r>
              <a:rPr lang="en-US" sz="1300" dirty="0" smtClean="0">
                <a:latin typeface="Calibri" pitchFamily="34" charset="0"/>
              </a:rPr>
              <a:t>-Smith J, Stevenson M, Phillips, M. Injury-related fatalities in China: An under-</a:t>
            </a:r>
            <a:r>
              <a:rPr lang="en-US" sz="1300" dirty="0" err="1" smtClean="0">
                <a:latin typeface="Calibri" pitchFamily="34" charset="0"/>
              </a:rPr>
              <a:t>recognised</a:t>
            </a:r>
            <a:r>
              <a:rPr lang="en-US" sz="1300" dirty="0" smtClean="0">
                <a:latin typeface="Calibri" pitchFamily="34" charset="0"/>
              </a:rPr>
              <a:t> public-health problem. The Lancet (British edition) 2008; 372:1765</a:t>
            </a:r>
            <a:endParaRPr lang="en-AU" sz="1300" dirty="0" smtClean="0">
              <a:latin typeface="Calibri" pitchFamily="34" charset="0"/>
            </a:endParaRPr>
          </a:p>
          <a:p>
            <a:r>
              <a:rPr lang="en-US" sz="1300" dirty="0" smtClean="0">
                <a:latin typeface="Calibri" pitchFamily="34" charset="0"/>
              </a:rPr>
              <a:t>World Health </a:t>
            </a:r>
            <a:r>
              <a:rPr lang="en-US" sz="1300" dirty="0" err="1" smtClean="0">
                <a:latin typeface="Calibri" pitchFamily="34" charset="0"/>
              </a:rPr>
              <a:t>Organisation</a:t>
            </a:r>
            <a:r>
              <a:rPr lang="en-US" sz="1300" dirty="0" smtClean="0">
                <a:latin typeface="Calibri" pitchFamily="34" charset="0"/>
              </a:rPr>
              <a:t>. China Novice Driver Training Pilot Study Clinical Trial Registration ChiCTR-TRC-10000800. The George Institute for International Health. http://apps.who.int/trialsearch/trial.aspx?trialid=ChiCTR-TRC-10000800. </a:t>
            </a:r>
            <a:endParaRPr lang="en-AU" sz="1300" dirty="0" smtClean="0">
              <a:latin typeface="Calibri" pitchFamily="34" charset="0"/>
            </a:endParaRPr>
          </a:p>
          <a:p>
            <a:r>
              <a:rPr lang="en-US" sz="1300" dirty="0" err="1" smtClean="0">
                <a:latin typeface="Calibri" pitchFamily="34" charset="0"/>
              </a:rPr>
              <a:t>Xie</a:t>
            </a:r>
            <a:r>
              <a:rPr lang="en-US" sz="1300" dirty="0" smtClean="0">
                <a:latin typeface="Calibri" pitchFamily="34" charset="0"/>
              </a:rPr>
              <a:t> C, Parker D. A social psychological approach to driving violations in two Chinese cities. Transportation Research Part F 2002; 5:293-308.</a:t>
            </a:r>
            <a:endParaRPr lang="en-AU" sz="1300" dirty="0" smtClean="0">
              <a:latin typeface="Calibri" pitchFamily="34" charset="0"/>
            </a:endParaRPr>
          </a:p>
          <a:p>
            <a:endParaRPr lang="en-AU" sz="1100" dirty="0" smtClean="0"/>
          </a:p>
          <a:p>
            <a:endParaRPr lang="en-AU" sz="1100" dirty="0" smtClean="0">
              <a:latin typeface="Calibri" pitchFamily="34" charset="0"/>
            </a:endParaRPr>
          </a:p>
          <a:p>
            <a:pPr>
              <a:buNone/>
            </a:pPr>
            <a:endParaRPr lang="en-AU" sz="1100" dirty="0"/>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2984"/>
            <a:ext cx="8229600" cy="2646056"/>
          </a:xfrm>
        </p:spPr>
        <p:txBody>
          <a:bodyPr/>
          <a:lstStyle/>
          <a:p>
            <a:pPr algn="ctr">
              <a:buNone/>
            </a:pPr>
            <a:r>
              <a:rPr lang="en-AU" sz="4800" b="1" dirty="0" smtClean="0"/>
              <a:t>Thank you</a:t>
            </a:r>
          </a:p>
          <a:p>
            <a:pPr algn="ctr">
              <a:buNone/>
            </a:pPr>
            <a:endParaRPr lang="en-AU" sz="1200" b="1" dirty="0" smtClean="0"/>
          </a:p>
          <a:p>
            <a:pPr algn="ctr">
              <a:buNone/>
            </a:pPr>
            <a:r>
              <a:rPr lang="en-AU" sz="4800" b="1" dirty="0" smtClean="0"/>
              <a:t>Questions?</a:t>
            </a:r>
          </a:p>
          <a:p>
            <a:pPr algn="ctr">
              <a:buNone/>
            </a:pPr>
            <a:r>
              <a:rPr lang="en-AU" sz="2400" dirty="0" smtClean="0"/>
              <a:t>j.fleiter@qut.edu.au</a:t>
            </a:r>
          </a:p>
        </p:txBody>
      </p:sp>
      <p:grpSp>
        <p:nvGrpSpPr>
          <p:cNvPr id="4" name="Group 11"/>
          <p:cNvGrpSpPr>
            <a:grpSpLocks/>
          </p:cNvGrpSpPr>
          <p:nvPr/>
        </p:nvGrpSpPr>
        <p:grpSpPr bwMode="auto">
          <a:xfrm>
            <a:off x="1476375" y="4156074"/>
            <a:ext cx="6191250" cy="1767239"/>
            <a:chOff x="457200" y="3789040"/>
            <a:chExt cx="8229600" cy="2350017"/>
          </a:xfrm>
        </p:grpSpPr>
        <p:sp>
          <p:nvSpPr>
            <p:cNvPr id="5" name="Rounded Rectangle 4"/>
            <p:cNvSpPr/>
            <p:nvPr/>
          </p:nvSpPr>
          <p:spPr>
            <a:xfrm>
              <a:off x="457200" y="3789040"/>
              <a:ext cx="8229600" cy="2288330"/>
            </a:xfrm>
            <a:prstGeom prst="round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AU" dirty="0"/>
            </a:p>
          </p:txBody>
        </p:sp>
        <p:sp>
          <p:nvSpPr>
            <p:cNvPr id="6" name="Rectangle 5"/>
            <p:cNvSpPr/>
            <p:nvPr/>
          </p:nvSpPr>
          <p:spPr>
            <a:xfrm>
              <a:off x="3481051" y="4082470"/>
              <a:ext cx="5123454" cy="2056587"/>
            </a:xfrm>
            <a:prstGeom prst="rect">
              <a:avLst/>
            </a:prstGeom>
          </p:spPr>
          <p:txBody>
            <a:bodyPr>
              <a:spAutoFit/>
            </a:bodyPr>
            <a:lstStyle/>
            <a:p>
              <a:pPr algn="ctr">
                <a:defRPr/>
              </a:pPr>
              <a:r>
                <a:rPr lang="en-AU" b="1" dirty="0" smtClean="0">
                  <a:latin typeface="Arial" charset="0"/>
                  <a:ea typeface="ＭＳ Ｐゴシック" pitchFamily="-109" charset="-128"/>
                </a:rPr>
                <a:t>You are invited to join us in Brisbane for the</a:t>
              </a:r>
              <a:endParaRPr lang="en-AU" b="1" dirty="0">
                <a:latin typeface="Arial" charset="0"/>
                <a:ea typeface="ＭＳ Ｐゴシック" pitchFamily="-109" charset="-128"/>
              </a:endParaRPr>
            </a:p>
            <a:p>
              <a:pPr algn="ctr">
                <a:defRPr/>
              </a:pPr>
              <a:endParaRPr lang="en-AU" sz="1050" b="1" dirty="0">
                <a:latin typeface="Arial" charset="0"/>
                <a:ea typeface="ＭＳ Ｐゴシック" pitchFamily="-109" charset="-128"/>
              </a:endParaRPr>
            </a:p>
            <a:p>
              <a:pPr>
                <a:defRPr/>
              </a:pPr>
              <a:r>
                <a:rPr lang="en-AU" sz="1600" dirty="0">
                  <a:latin typeface="Arial" charset="0"/>
                  <a:ea typeface="ＭＳ Ｐゴシック" pitchFamily="-109" charset="-128"/>
                </a:rPr>
                <a:t>International Council on Alcohol, Drugs and Traffic Safety Conference (T2013)</a:t>
              </a:r>
            </a:p>
            <a:p>
              <a:pPr algn="ctr">
                <a:defRPr/>
              </a:pPr>
              <a:r>
                <a:rPr lang="en-AU" sz="1600" dirty="0">
                  <a:solidFill>
                    <a:srgbClr val="698335"/>
                  </a:solidFill>
                  <a:latin typeface="Arial" charset="0"/>
                  <a:ea typeface="ＭＳ Ｐゴシック" pitchFamily="-109" charset="-128"/>
                </a:rPr>
                <a:t>26-29 August 2013, Brisbane</a:t>
              </a:r>
            </a:p>
          </p:txBody>
        </p:sp>
        <p:cxnSp>
          <p:nvCxnSpPr>
            <p:cNvPr id="7" name="Straight Connector 6"/>
            <p:cNvCxnSpPr/>
            <p:nvPr/>
          </p:nvCxnSpPr>
          <p:spPr>
            <a:xfrm rot="5400000">
              <a:off x="2428767" y="4957483"/>
              <a:ext cx="1838686" cy="0"/>
            </a:xfrm>
            <a:prstGeom prst="line">
              <a:avLst/>
            </a:prstGeom>
            <a:ln w="12700"/>
            <a:effectLst/>
          </p:spPr>
          <p:style>
            <a:lnRef idx="2">
              <a:schemeClr val="accent1"/>
            </a:lnRef>
            <a:fillRef idx="0">
              <a:schemeClr val="accent1"/>
            </a:fillRef>
            <a:effectRef idx="1">
              <a:schemeClr val="accent1"/>
            </a:effectRef>
            <a:fontRef idx="minor">
              <a:schemeClr val="tx1"/>
            </a:fontRef>
          </p:style>
        </p:cxnSp>
        <p:pic>
          <p:nvPicPr>
            <p:cNvPr id="8" name="Picture 3" descr="C:\Documents and Settings\steinhar\Desktop\t2013.png"/>
            <p:cNvPicPr>
              <a:picLocks noChangeAspect="1" noChangeArrowheads="1"/>
            </p:cNvPicPr>
            <p:nvPr/>
          </p:nvPicPr>
          <p:blipFill>
            <a:blip r:embed="rId3"/>
            <a:srcRect/>
            <a:stretch>
              <a:fillRect/>
            </a:stretch>
          </p:blipFill>
          <p:spPr bwMode="auto">
            <a:xfrm>
              <a:off x="697408" y="3910270"/>
              <a:ext cx="2448918" cy="1967002"/>
            </a:xfrm>
            <a:prstGeom prst="rect">
              <a:avLst/>
            </a:prstGeom>
            <a:noFill/>
            <a:ln w="9525">
              <a:noFill/>
              <a:miter lim="800000"/>
              <a:headEnd/>
              <a:tailEnd/>
            </a:ln>
          </p:spPr>
        </p:pic>
      </p:grpSp>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3">
      <a:dk1>
        <a:srgbClr val="005287"/>
      </a:dk1>
      <a:lt1>
        <a:sysClr val="window" lastClr="FFFFFF"/>
      </a:lt1>
      <a:dk2>
        <a:srgbClr val="CD1140"/>
      </a:dk2>
      <a:lt2>
        <a:srgbClr val="FFFFFF"/>
      </a:lt2>
      <a:accent1>
        <a:srgbClr val="CD1140"/>
      </a:accent1>
      <a:accent2>
        <a:srgbClr val="E2C54D"/>
      </a:accent2>
      <a:accent3>
        <a:srgbClr val="9BBB59"/>
      </a:accent3>
      <a:accent4>
        <a:srgbClr val="8064A2"/>
      </a:accent4>
      <a:accent5>
        <a:srgbClr val="4BACC6"/>
      </a:accent5>
      <a:accent6>
        <a:srgbClr val="F79646"/>
      </a:accent6>
      <a:hlink>
        <a:srgbClr val="CD1140"/>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996</TotalTime>
  <Words>1409</Words>
  <Application>Microsoft Office PowerPoint</Application>
  <PresentationFormat>On-screen Show (4:3)</PresentationFormat>
  <Paragraphs>253</Paragraphs>
  <Slides>31</Slides>
  <Notes>19</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Social influences on Chinese drivers: Cultural context &amp; traffic law enforcement </vt:lpstr>
      <vt:lpstr>Acknowledgements</vt:lpstr>
      <vt:lpstr>Presentation Overview</vt:lpstr>
      <vt:lpstr>Aims</vt:lpstr>
      <vt:lpstr>The Project</vt:lpstr>
      <vt:lpstr>Road Use in China </vt:lpstr>
      <vt:lpstr>Road Crashes in China</vt:lpstr>
      <vt:lpstr>Impact of Motorisation</vt:lpstr>
      <vt:lpstr>Role of Social Influence</vt:lpstr>
      <vt:lpstr>Social Influence in China (1)</vt:lpstr>
      <vt:lpstr>Social Influence in China (2)</vt:lpstr>
      <vt:lpstr>Method</vt:lpstr>
      <vt:lpstr>Research Themes</vt:lpstr>
      <vt:lpstr>Findings</vt:lpstr>
      <vt:lpstr>Role of Family</vt:lpstr>
      <vt:lpstr>Role of Coach (1)</vt:lpstr>
      <vt:lpstr>Role of Coach (2)</vt:lpstr>
      <vt:lpstr>Role of Others (2)</vt:lpstr>
      <vt:lpstr>Influence of Others - Racing</vt:lpstr>
      <vt:lpstr>Influence of Others</vt:lpstr>
      <vt:lpstr>Interaction with Police to Avoid Penalty</vt:lpstr>
      <vt:lpstr>Role of Others After Apprehension </vt:lpstr>
      <vt:lpstr>Discussion (1)</vt:lpstr>
      <vt:lpstr>Discussion (2)</vt:lpstr>
      <vt:lpstr>Discussion (3)</vt:lpstr>
      <vt:lpstr>Discussion (4)</vt:lpstr>
      <vt:lpstr>Discussion (5)</vt:lpstr>
      <vt:lpstr>Study Limitations</vt:lpstr>
      <vt:lpstr>Conclusion</vt:lpstr>
      <vt:lpstr>References</vt:lpstr>
      <vt:lpstr>Slide 31</vt:lpstr>
    </vt:vector>
  </TitlesOfParts>
  <Company>Evans and Hartshorn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Meredith Evans</dc:creator>
  <cp:lastModifiedBy>fleiter</cp:lastModifiedBy>
  <cp:revision>90</cp:revision>
  <dcterms:created xsi:type="dcterms:W3CDTF">2009-02-16T00:16:40Z</dcterms:created>
  <dcterms:modified xsi:type="dcterms:W3CDTF">2011-10-17T03:25:36Z</dcterms:modified>
</cp:coreProperties>
</file>