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slides/slide147.xml" ContentType="application/vnd.openxmlformats-officedocument.presentationml.slide+xml"/>
  <Override PartName="/ppt/notesSlides/notesSlide30.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diagrams/layout1.xml" ContentType="application/vnd.openxmlformats-officedocument.drawingml.diagramLayout+xml"/>
  <Override PartName="/ppt/notesSlides/notesSlide146.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notesSlides/notesSlide13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Default Extension="emf" ContentType="image/x-emf"/>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slides/slide108.xml" ContentType="application/vnd.openxmlformats-officedocument.presentationml.slide+xml"/>
  <Override PartName="/ppt/notesSlides/notesSlide118.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diagrams/colors1.xml" ContentType="application/vnd.openxmlformats-officedocument.drawingml.diagramColors+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wmf" ContentType="image/x-wmf"/>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slideMasters/slideMaster2.xml" ContentType="application/vnd.openxmlformats-officedocument.presentationml.slideMaster+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theme/theme4.xml" ContentType="application/vnd.openxmlformats-officedocument.them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Override PartName="/ppt/notesSlides/notesSlide37.xml" ContentType="application/vnd.openxmlformats-officedocument.presentationml.notesSlide+xml"/>
  <Override PartName="/ppt/diagrams/quickStyle1.xml" ContentType="application/vnd.openxmlformats-officedocument.drawingml.diagramStyle+xml"/>
  <Override PartName="/ppt/notesSlides/notesSlide55.xml" ContentType="application/vnd.openxmlformats-officedocument.presentationml.notesSlide+xml"/>
  <Override PartName="/ppt/notesSlides/notesSlide84.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80.xml" ContentType="application/vnd.openxmlformats-officedocument.presentationml.notesSlide+xml"/>
  <Override PartName="/ppt/slides/slide139.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149.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diagrams/data1.xml" ContentType="application/vnd.openxmlformats-officedocument.drawingml.diagramData+xml"/>
  <Override PartName="/ppt/notesSlides/notesSlide89.xml" ContentType="application/vnd.openxmlformats-officedocument.presentationml.notesSlide+xml"/>
  <Override PartName="/ppt/notesSlides/notesSlide116.xml" ContentType="application/vnd.openxmlformats-officedocument.presentationml.notesSlide+xml"/>
  <Override PartName="/ppt/notesSlides/notesSlide145.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slides/slide118.xml" ContentType="application/vnd.openxmlformats-officedocument.presentationml.slide+xml"/>
  <Override PartName="/ppt/notesSlides/notesSlide128.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Default Extension="bin" ContentType="application/vnd.openxmlformats-officedocument.oleObject"/>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Override PartName="/ppt/notesSlides/notesSlide53.xml" ContentType="application/vnd.openxmlformats-officedocument.presentationml.notesSlide+xml"/>
  <Override PartName="/ppt/slides/slide40.xml" ContentType="application/vnd.openxmlformats-officedocument.presentationml.slide+xml"/>
  <Override PartName="/ppt/notesSlides/notesSlide42.xml" ContentType="application/vnd.openxmlformats-officedocument.presentationml.notesSlide+xml"/>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Default Extension="vml" ContentType="application/vnd.openxmlformats-officedocument.vmlDrawing"/>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diagrams/drawing1.xml" ContentType="application/vnd.ms-office.drawingml.diagramDrawing+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4" r:id="rId2"/>
  </p:sldMasterIdLst>
  <p:notesMasterIdLst>
    <p:notesMasterId r:id="rId152"/>
  </p:notesMasterIdLst>
  <p:handoutMasterIdLst>
    <p:handoutMasterId r:id="rId153"/>
  </p:handoutMasterIdLst>
  <p:sldIdLst>
    <p:sldId id="256" r:id="rId3"/>
    <p:sldId id="258" r:id="rId4"/>
    <p:sldId id="259" r:id="rId5"/>
    <p:sldId id="261" r:id="rId6"/>
    <p:sldId id="262" r:id="rId7"/>
    <p:sldId id="402" r:id="rId8"/>
    <p:sldId id="394" r:id="rId9"/>
    <p:sldId id="263" r:id="rId10"/>
    <p:sldId id="264" r:id="rId11"/>
    <p:sldId id="395" r:id="rId12"/>
    <p:sldId id="266" r:id="rId13"/>
    <p:sldId id="267" r:id="rId14"/>
    <p:sldId id="268" r:id="rId15"/>
    <p:sldId id="399" r:id="rId16"/>
    <p:sldId id="269" r:id="rId17"/>
    <p:sldId id="400" r:id="rId18"/>
    <p:sldId id="270" r:id="rId19"/>
    <p:sldId id="271" r:id="rId20"/>
    <p:sldId id="401" r:id="rId21"/>
    <p:sldId id="272" r:id="rId22"/>
    <p:sldId id="273" r:id="rId23"/>
    <p:sldId id="274" r:id="rId24"/>
    <p:sldId id="275" r:id="rId25"/>
    <p:sldId id="276" r:id="rId26"/>
    <p:sldId id="277" r:id="rId27"/>
    <p:sldId id="403" r:id="rId28"/>
    <p:sldId id="278" r:id="rId29"/>
    <p:sldId id="279" r:id="rId30"/>
    <p:sldId id="286" r:id="rId31"/>
    <p:sldId id="287" r:id="rId32"/>
    <p:sldId id="288" r:id="rId33"/>
    <p:sldId id="441" r:id="rId34"/>
    <p:sldId id="290" r:id="rId35"/>
    <p:sldId id="291" r:id="rId36"/>
    <p:sldId id="292" r:id="rId37"/>
    <p:sldId id="293" r:id="rId38"/>
    <p:sldId id="294" r:id="rId39"/>
    <p:sldId id="295" r:id="rId40"/>
    <p:sldId id="296" r:id="rId41"/>
    <p:sldId id="297" r:id="rId42"/>
    <p:sldId id="298" r:id="rId43"/>
    <p:sldId id="299" r:id="rId44"/>
    <p:sldId id="300" r:id="rId45"/>
    <p:sldId id="302" r:id="rId46"/>
    <p:sldId id="442" r:id="rId47"/>
    <p:sldId id="443" r:id="rId48"/>
    <p:sldId id="304" r:id="rId49"/>
    <p:sldId id="305" r:id="rId50"/>
    <p:sldId id="307" r:id="rId51"/>
    <p:sldId id="308" r:id="rId52"/>
    <p:sldId id="309" r:id="rId53"/>
    <p:sldId id="310" r:id="rId54"/>
    <p:sldId id="311" r:id="rId55"/>
    <p:sldId id="312" r:id="rId56"/>
    <p:sldId id="313" r:id="rId57"/>
    <p:sldId id="314" r:id="rId58"/>
    <p:sldId id="315" r:id="rId59"/>
    <p:sldId id="316" r:id="rId60"/>
    <p:sldId id="440" r:id="rId61"/>
    <p:sldId id="318" r:id="rId62"/>
    <p:sldId id="319" r:id="rId63"/>
    <p:sldId id="320" r:id="rId64"/>
    <p:sldId id="413" r:id="rId65"/>
    <p:sldId id="446" r:id="rId66"/>
    <p:sldId id="445" r:id="rId67"/>
    <p:sldId id="324" r:id="rId68"/>
    <p:sldId id="323" r:id="rId69"/>
    <p:sldId id="325" r:id="rId70"/>
    <p:sldId id="415" r:id="rId71"/>
    <p:sldId id="326" r:id="rId72"/>
    <p:sldId id="327" r:id="rId73"/>
    <p:sldId id="416" r:id="rId74"/>
    <p:sldId id="328" r:id="rId75"/>
    <p:sldId id="329" r:id="rId76"/>
    <p:sldId id="330" r:id="rId77"/>
    <p:sldId id="331" r:id="rId78"/>
    <p:sldId id="418" r:id="rId79"/>
    <p:sldId id="332" r:id="rId80"/>
    <p:sldId id="447" r:id="rId81"/>
    <p:sldId id="333" r:id="rId82"/>
    <p:sldId id="334" r:id="rId83"/>
    <p:sldId id="335" r:id="rId84"/>
    <p:sldId id="336" r:id="rId85"/>
    <p:sldId id="337" r:id="rId86"/>
    <p:sldId id="420" r:id="rId87"/>
    <p:sldId id="338" r:id="rId88"/>
    <p:sldId id="339" r:id="rId89"/>
    <p:sldId id="421" r:id="rId90"/>
    <p:sldId id="340" r:id="rId91"/>
    <p:sldId id="422" r:id="rId92"/>
    <p:sldId id="341" r:id="rId93"/>
    <p:sldId id="342" r:id="rId94"/>
    <p:sldId id="343" r:id="rId95"/>
    <p:sldId id="424" r:id="rId96"/>
    <p:sldId id="345" r:id="rId97"/>
    <p:sldId id="346" r:id="rId98"/>
    <p:sldId id="425"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430" r:id="rId122"/>
    <p:sldId id="369" r:id="rId123"/>
    <p:sldId id="370" r:id="rId124"/>
    <p:sldId id="371" r:id="rId125"/>
    <p:sldId id="372" r:id="rId126"/>
    <p:sldId id="373" r:id="rId127"/>
    <p:sldId id="374" r:id="rId128"/>
    <p:sldId id="375" r:id="rId129"/>
    <p:sldId id="376" r:id="rId130"/>
    <p:sldId id="377" r:id="rId131"/>
    <p:sldId id="431" r:id="rId132"/>
    <p:sldId id="378" r:id="rId133"/>
    <p:sldId id="379" r:id="rId134"/>
    <p:sldId id="433" r:id="rId135"/>
    <p:sldId id="380" r:id="rId136"/>
    <p:sldId id="381" r:id="rId137"/>
    <p:sldId id="382" r:id="rId138"/>
    <p:sldId id="383" r:id="rId139"/>
    <p:sldId id="384" r:id="rId140"/>
    <p:sldId id="435" r:id="rId141"/>
    <p:sldId id="385" r:id="rId142"/>
    <p:sldId id="386" r:id="rId143"/>
    <p:sldId id="387" r:id="rId144"/>
    <p:sldId id="388" r:id="rId145"/>
    <p:sldId id="389" r:id="rId146"/>
    <p:sldId id="390" r:id="rId147"/>
    <p:sldId id="391" r:id="rId148"/>
    <p:sldId id="392" r:id="rId149"/>
    <p:sldId id="393" r:id="rId150"/>
    <p:sldId id="439" r:id="rId151"/>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667" autoAdjust="0"/>
  </p:normalViewPr>
  <p:slideViewPr>
    <p:cSldViewPr>
      <p:cViewPr>
        <p:scale>
          <a:sx n="69" d="100"/>
          <a:sy n="69" d="100"/>
        </p:scale>
        <p:origin x="-690" y="-4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0206"/>
    </p:cViewPr>
  </p:sorterViewPr>
  <p:notesViewPr>
    <p:cSldViewPr>
      <p:cViewPr>
        <p:scale>
          <a:sx n="72" d="100"/>
          <a:sy n="72" d="100"/>
        </p:scale>
        <p:origin x="-1668" y="402"/>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38" Type="http://schemas.openxmlformats.org/officeDocument/2006/relationships/slide" Target="slides/slide136.xml"/><Relationship Id="rId154" Type="http://schemas.openxmlformats.org/officeDocument/2006/relationships/presProps" Target="presProps.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slide" Target="slides/slide126.xml"/><Relationship Id="rId144" Type="http://schemas.openxmlformats.org/officeDocument/2006/relationships/slide" Target="slides/slide142.xml"/><Relationship Id="rId149" Type="http://schemas.openxmlformats.org/officeDocument/2006/relationships/slide" Target="slides/slide14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134" Type="http://schemas.openxmlformats.org/officeDocument/2006/relationships/slide" Target="slides/slide132.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viewProps" Target="view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32" Type="http://schemas.openxmlformats.org/officeDocument/2006/relationships/slide" Target="slides/slide130.xml"/><Relationship Id="rId140" Type="http://schemas.openxmlformats.org/officeDocument/2006/relationships/slide" Target="slides/slide138.xml"/><Relationship Id="rId145" Type="http://schemas.openxmlformats.org/officeDocument/2006/relationships/slide" Target="slides/slide143.xml"/><Relationship Id="rId153"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slide" Target="slides/slide117.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30" Type="http://schemas.openxmlformats.org/officeDocument/2006/relationships/slide" Target="slides/slide128.xml"/><Relationship Id="rId135" Type="http://schemas.openxmlformats.org/officeDocument/2006/relationships/slide" Target="slides/slide133.xml"/><Relationship Id="rId143" Type="http://schemas.openxmlformats.org/officeDocument/2006/relationships/slide" Target="slides/slide141.xml"/><Relationship Id="rId148" Type="http://schemas.openxmlformats.org/officeDocument/2006/relationships/slide" Target="slides/slide146.xml"/><Relationship Id="rId151" Type="http://schemas.openxmlformats.org/officeDocument/2006/relationships/slide" Target="slides/slide149.xml"/><Relationship Id="rId156"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48D323-1AC5-4410-8BC9-57A0EC869B95}" type="doc">
      <dgm:prSet loTypeId="urn:microsoft.com/office/officeart/2005/8/layout/venn1" loCatId="relationship" qsTypeId="urn:microsoft.com/office/officeart/2005/8/quickstyle/simple1#1" qsCatId="simple" csTypeId="urn:microsoft.com/office/officeart/2005/8/colors/accent1_2#1" csCatId="accent1" phldr="1"/>
      <dgm:spPr/>
    </dgm:pt>
    <dgm:pt modelId="{0BBA643D-EBAE-4BF7-9FD1-935C8464E958}">
      <dgm:prSet phldrT="[Text]"/>
      <dgm:spPr>
        <a:solidFill>
          <a:schemeClr val="tx2">
            <a:alpha val="50000"/>
          </a:schemeClr>
        </a:solidFill>
      </dgm:spPr>
      <dgm:t>
        <a:bodyPr/>
        <a:lstStyle/>
        <a:p>
          <a:r>
            <a:rPr lang="en-US" dirty="0" smtClean="0"/>
            <a:t>Operations</a:t>
          </a:r>
          <a:endParaRPr lang="en-US" dirty="0"/>
        </a:p>
      </dgm:t>
    </dgm:pt>
    <dgm:pt modelId="{E45F07D8-0367-4DB1-8571-25431321ED4C}" type="parTrans" cxnId="{E8868B17-8948-44D9-AB12-CED5AFD32A64}">
      <dgm:prSet/>
      <dgm:spPr/>
      <dgm:t>
        <a:bodyPr/>
        <a:lstStyle/>
        <a:p>
          <a:endParaRPr lang="en-US"/>
        </a:p>
      </dgm:t>
    </dgm:pt>
    <dgm:pt modelId="{3FE1040D-131B-4D22-B7F5-C18479E486F3}" type="sibTrans" cxnId="{E8868B17-8948-44D9-AB12-CED5AFD32A64}">
      <dgm:prSet/>
      <dgm:spPr/>
      <dgm:t>
        <a:bodyPr/>
        <a:lstStyle/>
        <a:p>
          <a:endParaRPr lang="en-US"/>
        </a:p>
      </dgm:t>
    </dgm:pt>
    <dgm:pt modelId="{3F10603E-41A2-491B-BB1C-980A8C24536F}">
      <dgm:prSet phldrT="[Text]"/>
      <dgm:spPr>
        <a:solidFill>
          <a:schemeClr val="tx2">
            <a:alpha val="50000"/>
          </a:schemeClr>
        </a:solidFill>
      </dgm:spPr>
      <dgm:t>
        <a:bodyPr/>
        <a:lstStyle/>
        <a:p>
          <a:r>
            <a:rPr lang="en-US" dirty="0" smtClean="0"/>
            <a:t>Safety</a:t>
          </a:r>
          <a:endParaRPr lang="en-US" dirty="0"/>
        </a:p>
      </dgm:t>
    </dgm:pt>
    <dgm:pt modelId="{B82E48D5-C4CE-4C14-8510-C3CEF1C34767}" type="parTrans" cxnId="{FE191292-5455-455B-9194-AEF033C82EDE}">
      <dgm:prSet/>
      <dgm:spPr/>
      <dgm:t>
        <a:bodyPr/>
        <a:lstStyle/>
        <a:p>
          <a:endParaRPr lang="en-US"/>
        </a:p>
      </dgm:t>
    </dgm:pt>
    <dgm:pt modelId="{2ACC86CA-D957-4DCB-B8D0-A17BCC051167}" type="sibTrans" cxnId="{FE191292-5455-455B-9194-AEF033C82EDE}">
      <dgm:prSet/>
      <dgm:spPr/>
      <dgm:t>
        <a:bodyPr/>
        <a:lstStyle/>
        <a:p>
          <a:endParaRPr lang="en-US"/>
        </a:p>
      </dgm:t>
    </dgm:pt>
    <dgm:pt modelId="{5C1D1644-D5C6-4D18-91B5-59DF471CB62C}">
      <dgm:prSet phldrT="[Text]"/>
      <dgm:spPr>
        <a:solidFill>
          <a:schemeClr val="tx2">
            <a:alpha val="50000"/>
          </a:schemeClr>
        </a:solidFill>
      </dgm:spPr>
      <dgm:t>
        <a:bodyPr/>
        <a:lstStyle/>
        <a:p>
          <a:r>
            <a:rPr lang="en-US" dirty="0" smtClean="0"/>
            <a:t>Design</a:t>
          </a:r>
          <a:endParaRPr lang="en-US" dirty="0"/>
        </a:p>
      </dgm:t>
    </dgm:pt>
    <dgm:pt modelId="{9FCB00E6-70EA-4C96-ABB1-FB170043366B}" type="parTrans" cxnId="{2DB53984-7EF4-4534-8415-8D91CE17581C}">
      <dgm:prSet/>
      <dgm:spPr/>
      <dgm:t>
        <a:bodyPr/>
        <a:lstStyle/>
        <a:p>
          <a:endParaRPr lang="en-US"/>
        </a:p>
      </dgm:t>
    </dgm:pt>
    <dgm:pt modelId="{9BB234F5-0DAE-4E10-A8BE-34E4FF485DEB}" type="sibTrans" cxnId="{2DB53984-7EF4-4534-8415-8D91CE17581C}">
      <dgm:prSet/>
      <dgm:spPr/>
      <dgm:t>
        <a:bodyPr/>
        <a:lstStyle/>
        <a:p>
          <a:endParaRPr lang="en-US"/>
        </a:p>
      </dgm:t>
    </dgm:pt>
    <dgm:pt modelId="{AB948EB1-2F89-44BA-89AA-018F560373CA}" type="pres">
      <dgm:prSet presAssocID="{7448D323-1AC5-4410-8BC9-57A0EC869B95}" presName="compositeShape" presStyleCnt="0">
        <dgm:presLayoutVars>
          <dgm:chMax val="7"/>
          <dgm:dir/>
          <dgm:resizeHandles val="exact"/>
        </dgm:presLayoutVars>
      </dgm:prSet>
      <dgm:spPr/>
    </dgm:pt>
    <dgm:pt modelId="{48973AE5-9219-4F52-BCC1-B4FFCDBC2B9D}" type="pres">
      <dgm:prSet presAssocID="{0BBA643D-EBAE-4BF7-9FD1-935C8464E958}" presName="circ1" presStyleLbl="vennNode1" presStyleIdx="0" presStyleCnt="3" custLinFactNeighborY="13557"/>
      <dgm:spPr/>
      <dgm:t>
        <a:bodyPr/>
        <a:lstStyle/>
        <a:p>
          <a:endParaRPr lang="en-US"/>
        </a:p>
      </dgm:t>
    </dgm:pt>
    <dgm:pt modelId="{374F50AF-6EF5-4D1F-BAD4-1AEEC182A692}" type="pres">
      <dgm:prSet presAssocID="{0BBA643D-EBAE-4BF7-9FD1-935C8464E958}" presName="circ1Tx" presStyleLbl="revTx" presStyleIdx="0" presStyleCnt="0">
        <dgm:presLayoutVars>
          <dgm:chMax val="0"/>
          <dgm:chPref val="0"/>
          <dgm:bulletEnabled val="1"/>
        </dgm:presLayoutVars>
      </dgm:prSet>
      <dgm:spPr/>
      <dgm:t>
        <a:bodyPr/>
        <a:lstStyle/>
        <a:p>
          <a:endParaRPr lang="en-US"/>
        </a:p>
      </dgm:t>
    </dgm:pt>
    <dgm:pt modelId="{F00EB272-5D03-4AD2-B886-E337892B0AF5}" type="pres">
      <dgm:prSet presAssocID="{3F10603E-41A2-491B-BB1C-980A8C24536F}" presName="circ2" presStyleLbl="vennNode1" presStyleIdx="1" presStyleCnt="3" custLinFactNeighborX="-2567" custLinFactNeighborY="11549"/>
      <dgm:spPr/>
      <dgm:t>
        <a:bodyPr/>
        <a:lstStyle/>
        <a:p>
          <a:endParaRPr lang="en-US"/>
        </a:p>
      </dgm:t>
    </dgm:pt>
    <dgm:pt modelId="{99405B12-8E6E-4C4F-BAA2-A6CE54180ADD}" type="pres">
      <dgm:prSet presAssocID="{3F10603E-41A2-491B-BB1C-980A8C24536F}" presName="circ2Tx" presStyleLbl="revTx" presStyleIdx="0" presStyleCnt="0">
        <dgm:presLayoutVars>
          <dgm:chMax val="0"/>
          <dgm:chPref val="0"/>
          <dgm:bulletEnabled val="1"/>
        </dgm:presLayoutVars>
      </dgm:prSet>
      <dgm:spPr/>
      <dgm:t>
        <a:bodyPr/>
        <a:lstStyle/>
        <a:p>
          <a:endParaRPr lang="en-US"/>
        </a:p>
      </dgm:t>
    </dgm:pt>
    <dgm:pt modelId="{49FE470C-4B7E-4717-9A59-5C2BFBE40982}" type="pres">
      <dgm:prSet presAssocID="{5C1D1644-D5C6-4D18-91B5-59DF471CB62C}" presName="circ3" presStyleLbl="vennNode1" presStyleIdx="2" presStyleCnt="3" custLinFactNeighborY="15212"/>
      <dgm:spPr/>
      <dgm:t>
        <a:bodyPr/>
        <a:lstStyle/>
        <a:p>
          <a:endParaRPr lang="en-US"/>
        </a:p>
      </dgm:t>
    </dgm:pt>
    <dgm:pt modelId="{6D392EE7-8296-42FA-894E-8FDB13FE4374}" type="pres">
      <dgm:prSet presAssocID="{5C1D1644-D5C6-4D18-91B5-59DF471CB62C}" presName="circ3Tx" presStyleLbl="revTx" presStyleIdx="0" presStyleCnt="0">
        <dgm:presLayoutVars>
          <dgm:chMax val="0"/>
          <dgm:chPref val="0"/>
          <dgm:bulletEnabled val="1"/>
        </dgm:presLayoutVars>
      </dgm:prSet>
      <dgm:spPr/>
      <dgm:t>
        <a:bodyPr/>
        <a:lstStyle/>
        <a:p>
          <a:endParaRPr lang="en-US"/>
        </a:p>
      </dgm:t>
    </dgm:pt>
  </dgm:ptLst>
  <dgm:cxnLst>
    <dgm:cxn modelId="{9AB8C272-87A1-45F7-A145-14D874B097F4}" type="presOf" srcId="{5C1D1644-D5C6-4D18-91B5-59DF471CB62C}" destId="{49FE470C-4B7E-4717-9A59-5C2BFBE40982}" srcOrd="0" destOrd="0" presId="urn:microsoft.com/office/officeart/2005/8/layout/venn1"/>
    <dgm:cxn modelId="{6F9287D3-7B70-49F5-8FCE-70E9F3C49623}" type="presOf" srcId="{0BBA643D-EBAE-4BF7-9FD1-935C8464E958}" destId="{374F50AF-6EF5-4D1F-BAD4-1AEEC182A692}" srcOrd="1" destOrd="0" presId="urn:microsoft.com/office/officeart/2005/8/layout/venn1"/>
    <dgm:cxn modelId="{EC247A3B-3316-42C7-A2BE-4EC458FED570}" type="presOf" srcId="{5C1D1644-D5C6-4D18-91B5-59DF471CB62C}" destId="{6D392EE7-8296-42FA-894E-8FDB13FE4374}" srcOrd="1" destOrd="0" presId="urn:microsoft.com/office/officeart/2005/8/layout/venn1"/>
    <dgm:cxn modelId="{78193011-ADF3-4CD5-9DEC-9DC8587BE0C0}" type="presOf" srcId="{3F10603E-41A2-491B-BB1C-980A8C24536F}" destId="{99405B12-8E6E-4C4F-BAA2-A6CE54180ADD}" srcOrd="1" destOrd="0" presId="urn:microsoft.com/office/officeart/2005/8/layout/venn1"/>
    <dgm:cxn modelId="{FE191292-5455-455B-9194-AEF033C82EDE}" srcId="{7448D323-1AC5-4410-8BC9-57A0EC869B95}" destId="{3F10603E-41A2-491B-BB1C-980A8C24536F}" srcOrd="1" destOrd="0" parTransId="{B82E48D5-C4CE-4C14-8510-C3CEF1C34767}" sibTransId="{2ACC86CA-D957-4DCB-B8D0-A17BCC051167}"/>
    <dgm:cxn modelId="{9E5BB52F-257A-4608-A55B-FAD57596975A}" type="presOf" srcId="{7448D323-1AC5-4410-8BC9-57A0EC869B95}" destId="{AB948EB1-2F89-44BA-89AA-018F560373CA}" srcOrd="0" destOrd="0" presId="urn:microsoft.com/office/officeart/2005/8/layout/venn1"/>
    <dgm:cxn modelId="{22CCB5C2-0569-4F55-8FDA-2C4C53945CD5}" type="presOf" srcId="{3F10603E-41A2-491B-BB1C-980A8C24536F}" destId="{F00EB272-5D03-4AD2-B886-E337892B0AF5}" srcOrd="0" destOrd="0" presId="urn:microsoft.com/office/officeart/2005/8/layout/venn1"/>
    <dgm:cxn modelId="{2DB53984-7EF4-4534-8415-8D91CE17581C}" srcId="{7448D323-1AC5-4410-8BC9-57A0EC869B95}" destId="{5C1D1644-D5C6-4D18-91B5-59DF471CB62C}" srcOrd="2" destOrd="0" parTransId="{9FCB00E6-70EA-4C96-ABB1-FB170043366B}" sibTransId="{9BB234F5-0DAE-4E10-A8BE-34E4FF485DEB}"/>
    <dgm:cxn modelId="{FF61CD13-7BE9-4A76-8302-BA3DFF2C3928}" type="presOf" srcId="{0BBA643D-EBAE-4BF7-9FD1-935C8464E958}" destId="{48973AE5-9219-4F52-BCC1-B4FFCDBC2B9D}" srcOrd="0" destOrd="0" presId="urn:microsoft.com/office/officeart/2005/8/layout/venn1"/>
    <dgm:cxn modelId="{E8868B17-8948-44D9-AB12-CED5AFD32A64}" srcId="{7448D323-1AC5-4410-8BC9-57A0EC869B95}" destId="{0BBA643D-EBAE-4BF7-9FD1-935C8464E958}" srcOrd="0" destOrd="0" parTransId="{E45F07D8-0367-4DB1-8571-25431321ED4C}" sibTransId="{3FE1040D-131B-4D22-B7F5-C18479E486F3}"/>
    <dgm:cxn modelId="{2FBE0DFE-80CD-47A8-97FF-4E6E8125B522}" type="presParOf" srcId="{AB948EB1-2F89-44BA-89AA-018F560373CA}" destId="{48973AE5-9219-4F52-BCC1-B4FFCDBC2B9D}" srcOrd="0" destOrd="0" presId="urn:microsoft.com/office/officeart/2005/8/layout/venn1"/>
    <dgm:cxn modelId="{6E6FA09C-765C-4F16-8FC7-378EFBC1F70A}" type="presParOf" srcId="{AB948EB1-2F89-44BA-89AA-018F560373CA}" destId="{374F50AF-6EF5-4D1F-BAD4-1AEEC182A692}" srcOrd="1" destOrd="0" presId="urn:microsoft.com/office/officeart/2005/8/layout/venn1"/>
    <dgm:cxn modelId="{686C6E21-CD04-45AA-ACA1-632B0142A88D}" type="presParOf" srcId="{AB948EB1-2F89-44BA-89AA-018F560373CA}" destId="{F00EB272-5D03-4AD2-B886-E337892B0AF5}" srcOrd="2" destOrd="0" presId="urn:microsoft.com/office/officeart/2005/8/layout/venn1"/>
    <dgm:cxn modelId="{53F7891E-BC59-4F79-BBEA-6070DB74EB53}" type="presParOf" srcId="{AB948EB1-2F89-44BA-89AA-018F560373CA}" destId="{99405B12-8E6E-4C4F-BAA2-A6CE54180ADD}" srcOrd="3" destOrd="0" presId="urn:microsoft.com/office/officeart/2005/8/layout/venn1"/>
    <dgm:cxn modelId="{5A2C48C4-9A8F-4C68-90AD-334ADD5474B1}" type="presParOf" srcId="{AB948EB1-2F89-44BA-89AA-018F560373CA}" destId="{49FE470C-4B7E-4717-9A59-5C2BFBE40982}" srcOrd="4" destOrd="0" presId="urn:microsoft.com/office/officeart/2005/8/layout/venn1"/>
    <dgm:cxn modelId="{5944FDBF-99B5-4E02-9122-62A4FADB2EFD}" type="presParOf" srcId="{AB948EB1-2F89-44BA-89AA-018F560373CA}" destId="{6D392EE7-8296-42FA-894E-8FDB13FE4374}" srcOrd="5" destOrd="0" presId="urn:microsoft.com/office/officeart/2005/8/layout/venn1"/>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5747" tIns="47873" rIns="95747" bIns="47873" rtlCol="0"/>
          <a:lstStyle>
            <a:lvl1pPr algn="l" fontAlgn="auto">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4143375" y="0"/>
            <a:ext cx="3170238" cy="481013"/>
          </a:xfrm>
          <a:prstGeom prst="rect">
            <a:avLst/>
          </a:prstGeom>
        </p:spPr>
        <p:txBody>
          <a:bodyPr vert="horz" lIns="95747" tIns="47873" rIns="95747" bIns="47873" rtlCol="0"/>
          <a:lstStyle>
            <a:lvl1pPr algn="r" fontAlgn="auto">
              <a:spcBef>
                <a:spcPts val="0"/>
              </a:spcBef>
              <a:spcAft>
                <a:spcPts val="0"/>
              </a:spcAft>
              <a:defRPr sz="1300">
                <a:latin typeface="+mn-lt"/>
                <a:cs typeface="+mn-cs"/>
              </a:defRPr>
            </a:lvl1pPr>
          </a:lstStyle>
          <a:p>
            <a:pPr>
              <a:defRPr/>
            </a:pPr>
            <a:fld id="{E32BEF7B-EAD8-4EC1-82AD-6ACACF646846}" type="datetimeFigureOut">
              <a:rPr lang="en-US"/>
              <a:pPr>
                <a:defRPr/>
              </a:pPr>
              <a:t>8/2/2010</a:t>
            </a:fld>
            <a:endParaRPr lang="en-US"/>
          </a:p>
        </p:txBody>
      </p:sp>
      <p:sp>
        <p:nvSpPr>
          <p:cNvPr id="4" name="Footer Placeholder 3"/>
          <p:cNvSpPr>
            <a:spLocks noGrp="1"/>
          </p:cNvSpPr>
          <p:nvPr>
            <p:ph type="ftr" sz="quarter" idx="2"/>
          </p:nvPr>
        </p:nvSpPr>
        <p:spPr>
          <a:xfrm>
            <a:off x="0" y="9118600"/>
            <a:ext cx="3170238" cy="481013"/>
          </a:xfrm>
          <a:prstGeom prst="rect">
            <a:avLst/>
          </a:prstGeom>
        </p:spPr>
        <p:txBody>
          <a:bodyPr vert="horz" lIns="95747" tIns="47873" rIns="95747" bIns="47873" rtlCol="0" anchor="b"/>
          <a:lstStyle>
            <a:lvl1pPr algn="l" fontAlgn="auto">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4143375" y="9118600"/>
            <a:ext cx="3170238" cy="481013"/>
          </a:xfrm>
          <a:prstGeom prst="rect">
            <a:avLst/>
          </a:prstGeom>
        </p:spPr>
        <p:txBody>
          <a:bodyPr vert="horz" lIns="95747" tIns="47873" rIns="95747" bIns="47873" rtlCol="0" anchor="b"/>
          <a:lstStyle>
            <a:lvl1pPr algn="r" fontAlgn="auto">
              <a:spcBef>
                <a:spcPts val="0"/>
              </a:spcBef>
              <a:spcAft>
                <a:spcPts val="0"/>
              </a:spcAft>
              <a:defRPr sz="1300">
                <a:latin typeface="+mn-lt"/>
                <a:cs typeface="+mn-cs"/>
              </a:defRPr>
            </a:lvl1pPr>
          </a:lstStyle>
          <a:p>
            <a:pPr>
              <a:defRPr/>
            </a:pPr>
            <a:fld id="{D68C74CD-2820-46C5-A4EB-FD691AC5C17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5747" tIns="47873" rIns="95747" bIns="47873" rtlCol="0"/>
          <a:lstStyle>
            <a:lvl1pPr algn="l">
              <a:defRPr sz="1300"/>
            </a:lvl1pPr>
          </a:lstStyle>
          <a:p>
            <a:pPr>
              <a:defRPr/>
            </a:pPr>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5747" tIns="47873" rIns="95747" bIns="47873" rtlCol="0"/>
          <a:lstStyle>
            <a:lvl1pPr algn="r">
              <a:defRPr sz="1300"/>
            </a:lvl1pPr>
          </a:lstStyle>
          <a:p>
            <a:pPr>
              <a:defRPr/>
            </a:pPr>
            <a:fld id="{BDCC8714-459D-4B0F-B101-A8C800784F90}" type="datetimeFigureOut">
              <a:rPr lang="en-US"/>
              <a:pPr>
                <a:defRPr/>
              </a:pPr>
              <a:t>8/2/2010</a:t>
            </a:fld>
            <a:endParaRPr lang="en-US"/>
          </a:p>
        </p:txBody>
      </p:sp>
      <p:sp>
        <p:nvSpPr>
          <p:cNvPr id="4" name="Slide Image Placeholder 3"/>
          <p:cNvSpPr>
            <a:spLocks noGrp="1" noRot="1" noChangeAspect="1"/>
          </p:cNvSpPr>
          <p:nvPr>
            <p:ph type="sldImg" idx="2"/>
          </p:nvPr>
        </p:nvSpPr>
        <p:spPr>
          <a:xfrm>
            <a:off x="1257300" y="719138"/>
            <a:ext cx="4800600" cy="3600450"/>
          </a:xfrm>
          <a:prstGeom prst="rect">
            <a:avLst/>
          </a:prstGeom>
          <a:noFill/>
          <a:ln w="12700">
            <a:solidFill>
              <a:prstClr val="black"/>
            </a:solidFill>
          </a:ln>
        </p:spPr>
        <p:txBody>
          <a:bodyPr vert="horz" lIns="95747" tIns="47873" rIns="95747" bIns="47873" rtlCol="0" anchor="ctr"/>
          <a:lstStyle/>
          <a:p>
            <a:pPr lvl="0"/>
            <a:endParaRPr lang="en-US" noProof="0" smtClean="0"/>
          </a:p>
        </p:txBody>
      </p:sp>
      <p:sp>
        <p:nvSpPr>
          <p:cNvPr id="5" name="Notes Placeholder 4"/>
          <p:cNvSpPr>
            <a:spLocks noGrp="1"/>
          </p:cNvSpPr>
          <p:nvPr>
            <p:ph type="body" sz="quarter" idx="3"/>
          </p:nvPr>
        </p:nvSpPr>
        <p:spPr>
          <a:xfrm>
            <a:off x="731838" y="4560888"/>
            <a:ext cx="5851525" cy="4321175"/>
          </a:xfrm>
          <a:prstGeom prst="rect">
            <a:avLst/>
          </a:prstGeom>
        </p:spPr>
        <p:txBody>
          <a:bodyPr vert="horz" lIns="95747" tIns="47873" rIns="95747" bIns="47873"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118600"/>
            <a:ext cx="3170238" cy="481013"/>
          </a:xfrm>
          <a:prstGeom prst="rect">
            <a:avLst/>
          </a:prstGeom>
        </p:spPr>
        <p:txBody>
          <a:bodyPr vert="horz" lIns="95747" tIns="47873" rIns="95747" bIns="47873" rtlCol="0" anchor="b"/>
          <a:lstStyle>
            <a:lvl1pPr algn="l">
              <a:defRPr sz="1300"/>
            </a:lvl1pPr>
          </a:lstStyle>
          <a:p>
            <a:pPr>
              <a:defRPr/>
            </a:pPr>
            <a:endParaRPr lang="en-US"/>
          </a:p>
        </p:txBody>
      </p:sp>
      <p:sp>
        <p:nvSpPr>
          <p:cNvPr id="7" name="Slide Number Placeholder 6"/>
          <p:cNvSpPr>
            <a:spLocks noGrp="1"/>
          </p:cNvSpPr>
          <p:nvPr>
            <p:ph type="sldNum" sz="quarter" idx="5"/>
          </p:nvPr>
        </p:nvSpPr>
        <p:spPr>
          <a:xfrm>
            <a:off x="4143375" y="9118600"/>
            <a:ext cx="3170238" cy="481013"/>
          </a:xfrm>
          <a:prstGeom prst="rect">
            <a:avLst/>
          </a:prstGeom>
        </p:spPr>
        <p:txBody>
          <a:bodyPr vert="horz" lIns="95747" tIns="47873" rIns="95747" bIns="47873" rtlCol="0" anchor="b"/>
          <a:lstStyle>
            <a:lvl1pPr algn="r">
              <a:defRPr sz="1300"/>
            </a:lvl1pPr>
          </a:lstStyle>
          <a:p>
            <a:pPr>
              <a:defRPr/>
            </a:pPr>
            <a:fld id="{67948972-E9A8-4ECF-8466-349725318585}"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Slide Image Placeholder 1"/>
          <p:cNvSpPr>
            <a:spLocks noGrp="1" noRot="1" noChangeAspect="1" noTextEdit="1"/>
          </p:cNvSpPr>
          <p:nvPr>
            <p:ph type="sldImg"/>
          </p:nvPr>
        </p:nvSpPr>
        <p:spPr bwMode="auto">
          <a:noFill/>
          <a:ln>
            <a:solidFill>
              <a:srgbClr val="000000"/>
            </a:solidFill>
            <a:miter lim="800000"/>
            <a:headEnd/>
            <a:tailEnd/>
          </a:ln>
        </p:spPr>
      </p:sp>
      <p:sp>
        <p:nvSpPr>
          <p:cNvPr id="1669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66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5C5A7CE-6CCF-48C0-BC83-24EBD927FFB5}" type="slidenum">
              <a:rPr lang="en-US" smtClean="0"/>
              <a:pPr/>
              <a:t>1</a:t>
            </a:fld>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A6B99CE-4281-43DD-8656-8FDCE8E1E39E}" type="slidenum">
              <a:rPr lang="en-US" smtClean="0"/>
              <a:pPr/>
              <a:t>2</a:t>
            </a:fld>
            <a:endParaRPr lang="en-US" smtClean="0"/>
          </a:p>
        </p:txBody>
      </p:sp>
      <p:sp>
        <p:nvSpPr>
          <p:cNvPr id="1679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679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r>
              <a:rPr lang="en-US" sz="1400" dirty="0" smtClean="0"/>
              <a:t>Set the stage – What brought us to this point?</a:t>
            </a:r>
          </a:p>
          <a:p>
            <a:pPr lvl="1" eaLnBrk="1" hangingPunct="1"/>
            <a:r>
              <a:rPr lang="en-US" sz="1400" dirty="0" smtClean="0"/>
              <a:t>Reference 12/7/05 DNFSB public meeting on integrating safety into design and the statements made by DOE officials.  </a:t>
            </a:r>
          </a:p>
          <a:p>
            <a:pPr lvl="1" eaLnBrk="1" hangingPunct="1"/>
            <a:r>
              <a:rPr lang="en-US" sz="1400" dirty="0" smtClean="0"/>
              <a:t>DNFSB: Less prescriptive design requirements have led to confusion and misuse of safety analysis techniques.  Reference was made to issues associated with 2004-2 on active confinement ventilation systems.</a:t>
            </a:r>
          </a:p>
          <a:p>
            <a:pPr eaLnBrk="1" hangingPunct="1"/>
            <a:endParaRPr lang="en-US" sz="1400" dirty="0" smtClean="0"/>
          </a:p>
          <a:p>
            <a:pPr eaLnBrk="1" hangingPunct="1"/>
            <a:r>
              <a:rPr lang="en-US" sz="1400" dirty="0" smtClean="0"/>
              <a:t>Timeline – 1189 Development Team Established, Team Composition,</a:t>
            </a:r>
          </a:p>
          <a:p>
            <a:pPr lvl="1" eaLnBrk="1" hangingPunct="1"/>
            <a:r>
              <a:rPr lang="en-US" sz="1400" dirty="0" smtClean="0"/>
              <a:t>Team established Feb. 2006</a:t>
            </a:r>
          </a:p>
          <a:p>
            <a:pPr lvl="1" eaLnBrk="1" hangingPunct="1"/>
            <a:r>
              <a:rPr lang="en-US" sz="1400" dirty="0" smtClean="0"/>
              <a:t>About 25 persons to begin with; about 15 all the way thru</a:t>
            </a:r>
          </a:p>
          <a:p>
            <a:pPr lvl="1" eaLnBrk="1" hangingPunct="1"/>
            <a:r>
              <a:rPr lang="en-US" sz="1400" dirty="0" smtClean="0"/>
              <a:t>EFCOG SAWG and EPWOG, Feds</a:t>
            </a:r>
          </a:p>
          <a:p>
            <a:pPr lvl="1" eaLnBrk="1" hangingPunct="1"/>
            <a:r>
              <a:rPr lang="en-US" sz="1400" dirty="0" smtClean="0"/>
              <a:t>DOE and EFCOG PM near end</a:t>
            </a:r>
          </a:p>
          <a:p>
            <a:pPr eaLnBrk="1" hangingPunct="1"/>
            <a:r>
              <a:rPr lang="en-US" sz="1400" dirty="0" smtClean="0"/>
              <a:t> Team Meetings, </a:t>
            </a:r>
          </a:p>
          <a:p>
            <a:pPr eaLnBrk="1" hangingPunct="1"/>
            <a:r>
              <a:rPr lang="en-US" sz="1400" dirty="0" smtClean="0"/>
              <a:t>	About 10 weeklong meetings from Mar 06 through Mar 08</a:t>
            </a:r>
          </a:p>
          <a:p>
            <a:pPr eaLnBrk="1" hangingPunct="1"/>
            <a:endParaRPr lang="en-US" sz="1400" dirty="0" smtClean="0"/>
          </a:p>
          <a:p>
            <a:pPr eaLnBrk="1" hangingPunct="1"/>
            <a:r>
              <a:rPr lang="en-US" sz="1400" dirty="0" smtClean="0"/>
              <a:t>1189 in </a:t>
            </a:r>
            <a:r>
              <a:rPr lang="en-US" sz="1400" dirty="0" err="1" smtClean="0"/>
              <a:t>Revcom</a:t>
            </a:r>
            <a:r>
              <a:rPr lang="en-US" sz="1400" dirty="0" smtClean="0"/>
              <a:t> (March 2007), Approved March 31, 2008</a:t>
            </a:r>
          </a:p>
          <a:p>
            <a:pPr eaLnBrk="1" hangingPunct="1"/>
            <a:endParaRPr lang="en-US" dirty="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Slide Image Placeholder 1"/>
          <p:cNvSpPr>
            <a:spLocks noGrp="1" noRot="1" noChangeAspect="1" noTextEdit="1"/>
          </p:cNvSpPr>
          <p:nvPr>
            <p:ph type="sldImg"/>
          </p:nvPr>
        </p:nvSpPr>
        <p:spPr bwMode="auto">
          <a:noFill/>
          <a:ln>
            <a:solidFill>
              <a:srgbClr val="000000"/>
            </a:solidFill>
            <a:miter lim="800000"/>
            <a:headEnd/>
            <a:tailEnd/>
          </a:ln>
        </p:spPr>
      </p:sp>
      <p:sp>
        <p:nvSpPr>
          <p:cNvPr id="1689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The STD-1189 process approach for integrating safety into design is an alternative to a prescriptive approach of requiring specific safety design features.  </a:t>
            </a:r>
          </a:p>
          <a:p>
            <a:pPr eaLnBrk="1" hangingPunct="1"/>
            <a:endParaRPr lang="en-US" sz="1400" smtClean="0"/>
          </a:p>
          <a:p>
            <a:pPr eaLnBrk="1" hangingPunct="1"/>
            <a:r>
              <a:rPr lang="en-US" sz="1400" smtClean="0"/>
              <a:t>The 1189 approach includes the philosophy of letting safety analyses define what safety functions are required for adequate protection of public and workers. </a:t>
            </a:r>
          </a:p>
        </p:txBody>
      </p:sp>
      <p:sp>
        <p:nvSpPr>
          <p:cNvPr id="1689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41AE2BA-6CC8-42B2-9960-20198A70F034}" type="slidenum">
              <a:rPr lang="en-US" smtClean="0"/>
              <a:pPr/>
              <a:t>3</a:t>
            </a:fld>
            <a:endParaRPr 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Slide Image Placeholder 1"/>
          <p:cNvSpPr>
            <a:spLocks noGrp="1" noRot="1" noChangeAspect="1" noTextEdit="1"/>
          </p:cNvSpPr>
          <p:nvPr>
            <p:ph type="sldImg"/>
          </p:nvPr>
        </p:nvSpPr>
        <p:spPr bwMode="auto">
          <a:noFill/>
          <a:ln>
            <a:solidFill>
              <a:srgbClr val="000000"/>
            </a:solidFill>
            <a:miter lim="800000"/>
            <a:headEnd/>
            <a:tailEnd/>
          </a:ln>
        </p:spPr>
      </p:sp>
      <p:sp>
        <p:nvSpPr>
          <p:cNvPr id="169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Remainder of appendices are covered as they pertain to the topics addressed in this slide.  </a:t>
            </a:r>
          </a:p>
          <a:p>
            <a:pPr eaLnBrk="1" hangingPunct="1"/>
            <a:endParaRPr lang="en-US" sz="1400" smtClean="0"/>
          </a:p>
          <a:p>
            <a:pPr eaLnBrk="1" hangingPunct="1"/>
            <a:r>
              <a:rPr lang="en-US" sz="1400" smtClean="0"/>
              <a:t>D: Additional Functional Classification Considerations</a:t>
            </a:r>
          </a:p>
          <a:p>
            <a:pPr eaLnBrk="1" hangingPunct="1"/>
            <a:r>
              <a:rPr lang="en-US" sz="1400" smtClean="0"/>
              <a:t>E: Safety Design Strategy</a:t>
            </a:r>
          </a:p>
          <a:p>
            <a:pPr eaLnBrk="1" hangingPunct="1"/>
            <a:r>
              <a:rPr lang="en-US" sz="1400" smtClean="0"/>
              <a:t>F: Safety-In-Design Relationship with the Risk Management Plan</a:t>
            </a:r>
          </a:p>
          <a:p>
            <a:pPr eaLnBrk="1" hangingPunct="1"/>
            <a:r>
              <a:rPr lang="en-US" sz="1400" smtClean="0"/>
              <a:t>G: Hazards Analysis Table Development</a:t>
            </a:r>
          </a:p>
          <a:p>
            <a:pPr eaLnBrk="1" hangingPunct="1"/>
            <a:r>
              <a:rPr lang="en-US" sz="1400" smtClean="0"/>
              <a:t>H: Conceptual Safety Design Report</a:t>
            </a:r>
          </a:p>
          <a:p>
            <a:pPr eaLnBrk="1" hangingPunct="1"/>
            <a:r>
              <a:rPr lang="en-US" sz="1400" smtClean="0"/>
              <a:t>I: Preliminary and Final Design Stage Safety Documentation</a:t>
            </a:r>
          </a:p>
          <a:p>
            <a:pPr eaLnBrk="1" hangingPunct="1"/>
            <a:r>
              <a:rPr lang="en-US" sz="1400" smtClean="0"/>
              <a:t>J: Major Modification Determination Examples</a:t>
            </a:r>
          </a:p>
        </p:txBody>
      </p:sp>
      <p:sp>
        <p:nvSpPr>
          <p:cNvPr id="1699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DD7340B-E81A-42F6-BD38-1F5EFCA8803F}" type="slidenum">
              <a:rPr lang="en-US" smtClean="0"/>
              <a:pPr/>
              <a:t>4</a:t>
            </a:fld>
            <a:endParaRPr 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Slide Image Placeholder 1"/>
          <p:cNvSpPr>
            <a:spLocks noGrp="1" noRot="1" noChangeAspect="1" noTextEdit="1"/>
          </p:cNvSpPr>
          <p:nvPr>
            <p:ph type="sldImg"/>
          </p:nvPr>
        </p:nvSpPr>
        <p:spPr bwMode="auto">
          <a:noFill/>
          <a:ln>
            <a:solidFill>
              <a:srgbClr val="000000"/>
            </a:solidFill>
            <a:miter lim="800000"/>
            <a:headEnd/>
            <a:tailEnd/>
          </a:ln>
        </p:spPr>
      </p:sp>
      <p:sp>
        <p:nvSpPr>
          <p:cNvPr id="171011"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eaLnBrk="1" hangingPunct="1"/>
            <a:r>
              <a:rPr lang="en-US" sz="1400" dirty="0" smtClean="0"/>
              <a:t>Emphasize familiarity level.  More study and familiarity with the Standard’s features is necessary in order to successfully implement it.</a:t>
            </a:r>
          </a:p>
        </p:txBody>
      </p:sp>
      <p:sp>
        <p:nvSpPr>
          <p:cNvPr id="171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426144E-86FD-4F5F-9CFA-472AA9029169}" type="slidenum">
              <a:rPr lang="en-US" smtClean="0"/>
              <a:pPr/>
              <a:t>5</a:t>
            </a:fld>
            <a:endParaRPr 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Slide Image Placeholder 1"/>
          <p:cNvSpPr>
            <a:spLocks noGrp="1" noRot="1" noChangeAspect="1" noTextEdit="1"/>
          </p:cNvSpPr>
          <p:nvPr>
            <p:ph type="sldImg"/>
          </p:nvPr>
        </p:nvSpPr>
        <p:spPr bwMode="auto">
          <a:noFill/>
          <a:ln>
            <a:solidFill>
              <a:srgbClr val="000000"/>
            </a:solidFill>
            <a:miter lim="800000"/>
            <a:headEnd/>
            <a:tailEnd/>
          </a:ln>
        </p:spPr>
      </p:sp>
      <p:sp>
        <p:nvSpPr>
          <p:cNvPr id="172035" name="Notes Placeholder 2"/>
          <p:cNvSpPr>
            <a:spLocks noGrp="1"/>
          </p:cNvSpPr>
          <p:nvPr>
            <p:ph type="body" idx="1"/>
          </p:nvPr>
        </p:nvSpPr>
        <p:spPr bwMode="auto">
          <a:noFill/>
        </p:spPr>
        <p:txBody>
          <a:bodyPr wrap="square" numCol="1" anchor="t" anchorCtr="0" compatLnSpc="1">
            <a:prstTxWarp prst="textNoShape">
              <a:avLst/>
            </a:prstTxWarp>
            <a:normAutofit/>
          </a:bodyPr>
          <a:lstStyle/>
          <a:p>
            <a:r>
              <a:rPr lang="en-US" sz="1400" dirty="0" smtClean="0"/>
              <a:t>Participants should be able to discuss these items, for example, in a test.</a:t>
            </a:r>
          </a:p>
        </p:txBody>
      </p:sp>
      <p:sp>
        <p:nvSpPr>
          <p:cNvPr id="172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2B2831D-CADE-472B-BF0A-F69611C8D3D7}" type="slidenum">
              <a:rPr lang="en-US" smtClean="0"/>
              <a:pPr/>
              <a:t>6</a:t>
            </a:fld>
            <a:endParaRPr 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Slide Image Placeholder 1"/>
          <p:cNvSpPr>
            <a:spLocks noGrp="1" noRot="1" noChangeAspect="1" noTextEdit="1"/>
          </p:cNvSpPr>
          <p:nvPr>
            <p:ph type="sldImg"/>
          </p:nvPr>
        </p:nvSpPr>
        <p:spPr bwMode="auto">
          <a:noFill/>
          <a:ln>
            <a:solidFill>
              <a:srgbClr val="000000"/>
            </a:solidFill>
            <a:miter lim="800000"/>
            <a:headEnd/>
            <a:tailEnd/>
          </a:ln>
        </p:spPr>
      </p:sp>
      <p:sp>
        <p:nvSpPr>
          <p:cNvPr id="1730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3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BA81C6B-78E6-49FA-91EA-789503E6F6E8}" type="slidenum">
              <a:rPr lang="en-US" smtClean="0"/>
              <a:pPr/>
              <a:t>7</a:t>
            </a:fld>
            <a:endParaRPr 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Slide Image Placeholder 1"/>
          <p:cNvSpPr>
            <a:spLocks noGrp="1" noRot="1" noChangeAspect="1" noTextEdit="1"/>
          </p:cNvSpPr>
          <p:nvPr>
            <p:ph type="sldImg"/>
          </p:nvPr>
        </p:nvSpPr>
        <p:spPr bwMode="auto">
          <a:noFill/>
          <a:ln>
            <a:solidFill>
              <a:srgbClr val="000000"/>
            </a:solidFill>
            <a:miter lim="800000"/>
            <a:headEnd/>
            <a:tailEnd/>
          </a:ln>
        </p:spPr>
      </p:sp>
      <p:sp>
        <p:nvSpPr>
          <p:cNvPr id="1740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174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4E5D3EB-1E78-4F3A-9EA9-89B6BC69BFE3}" type="slidenum">
              <a:rPr lang="en-US" smtClean="0"/>
              <a:pPr/>
              <a:t>8</a:t>
            </a:fld>
            <a:endParaRPr 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Slide Image Placeholder 1"/>
          <p:cNvSpPr>
            <a:spLocks noGrp="1" noRot="1" noChangeAspect="1" noTextEdit="1"/>
          </p:cNvSpPr>
          <p:nvPr>
            <p:ph type="sldImg"/>
          </p:nvPr>
        </p:nvSpPr>
        <p:spPr bwMode="auto">
          <a:noFill/>
          <a:ln>
            <a:solidFill>
              <a:srgbClr val="000000"/>
            </a:solidFill>
            <a:miter lim="800000"/>
            <a:headEnd/>
            <a:tailEnd/>
          </a:ln>
        </p:spPr>
      </p:sp>
      <p:sp>
        <p:nvSpPr>
          <p:cNvPr id="1751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1751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4123FB8-BAA0-4210-8E81-235C202C7BE4}" type="slidenum">
              <a:rPr lang="en-US" smtClean="0"/>
              <a:pPr/>
              <a:t>9</a:t>
            </a:fld>
            <a:endParaRPr 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Slide Image Placeholder 1"/>
          <p:cNvSpPr>
            <a:spLocks noGrp="1" noRot="1" noChangeAspect="1" noTextEdit="1"/>
          </p:cNvSpPr>
          <p:nvPr>
            <p:ph type="sldImg"/>
          </p:nvPr>
        </p:nvSpPr>
        <p:spPr bwMode="auto">
          <a:noFill/>
          <a:ln>
            <a:solidFill>
              <a:srgbClr val="000000"/>
            </a:solidFill>
            <a:miter lim="800000"/>
            <a:headEnd/>
            <a:tailEnd/>
          </a:ln>
        </p:spPr>
      </p:sp>
      <p:sp>
        <p:nvSpPr>
          <p:cNvPr id="17613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76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B03BC76-EB77-406C-91E9-E45AE5DEBE84}" type="slidenum">
              <a:rPr lang="en-US" smtClean="0"/>
              <a:pPr/>
              <a:t>10</a:t>
            </a:fld>
            <a:endParaRPr 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Slide Image Placeholder 1"/>
          <p:cNvSpPr>
            <a:spLocks noGrp="1" noRot="1" noChangeAspect="1" noTextEdit="1"/>
          </p:cNvSpPr>
          <p:nvPr>
            <p:ph type="sldImg"/>
          </p:nvPr>
        </p:nvSpPr>
        <p:spPr bwMode="auto">
          <a:noFill/>
          <a:ln>
            <a:solidFill>
              <a:srgbClr val="000000"/>
            </a:solidFill>
            <a:miter lim="800000"/>
            <a:headEnd/>
            <a:tailEnd/>
          </a:ln>
        </p:spPr>
      </p:sp>
      <p:sp>
        <p:nvSpPr>
          <p:cNvPr id="1771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See section 1.2 of the Standard.  </a:t>
            </a:r>
          </a:p>
          <a:p>
            <a:pPr eaLnBrk="1" hangingPunct="1"/>
            <a:endParaRPr lang="en-US" sz="1400" smtClean="0"/>
          </a:p>
          <a:p>
            <a:pPr eaLnBrk="1" hangingPunct="1"/>
            <a:r>
              <a:rPr lang="en-US" sz="1400" smtClean="0"/>
              <a:t>The roadmap was developed to direct specific audiences to sections of the Standard most relevant to their interests.</a:t>
            </a:r>
          </a:p>
        </p:txBody>
      </p:sp>
      <p:sp>
        <p:nvSpPr>
          <p:cNvPr id="177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4422F19-E2AE-4D29-BE61-9346794F5D98}" type="slidenum">
              <a:rPr lang="en-US" smtClean="0"/>
              <a:pPr/>
              <a:t>11</a:t>
            </a:fld>
            <a:endParaRPr 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Slide Image Placeholder 1"/>
          <p:cNvSpPr>
            <a:spLocks noGrp="1" noRot="1" noChangeAspect="1" noTextEdit="1"/>
          </p:cNvSpPr>
          <p:nvPr>
            <p:ph type="sldImg"/>
          </p:nvPr>
        </p:nvSpPr>
        <p:spPr bwMode="auto">
          <a:noFill/>
          <a:ln>
            <a:solidFill>
              <a:srgbClr val="000000"/>
            </a:solidFill>
            <a:miter lim="800000"/>
            <a:headEnd/>
            <a:tailEnd/>
          </a:ln>
        </p:spPr>
      </p:sp>
      <p:sp>
        <p:nvSpPr>
          <p:cNvPr id="1781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178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7E03E6A-7F4A-45F1-AC04-CA5B472BFF38}" type="slidenum">
              <a:rPr lang="en-US" smtClean="0"/>
              <a:pPr/>
              <a:t>12</a:t>
            </a:fld>
            <a:endParaRPr 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Slide Image Placeholder 1"/>
          <p:cNvSpPr>
            <a:spLocks noGrp="1" noRot="1" noChangeAspect="1" noTextEdit="1"/>
          </p:cNvSpPr>
          <p:nvPr>
            <p:ph type="sldImg"/>
          </p:nvPr>
        </p:nvSpPr>
        <p:spPr bwMode="auto">
          <a:noFill/>
          <a:ln>
            <a:solidFill>
              <a:srgbClr val="000000"/>
            </a:solidFill>
            <a:miter lim="800000"/>
            <a:headEnd/>
            <a:tailEnd/>
          </a:ln>
        </p:spPr>
      </p:sp>
      <p:sp>
        <p:nvSpPr>
          <p:cNvPr id="1792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179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E36E941-C30D-48F6-9592-A652A959A11D}" type="slidenum">
              <a:rPr lang="en-US" smtClean="0"/>
              <a:pPr/>
              <a:t>13</a:t>
            </a:fld>
            <a:endParaRPr 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Slide Image Placeholder 1"/>
          <p:cNvSpPr>
            <a:spLocks noGrp="1" noRot="1" noChangeAspect="1" noTextEdit="1"/>
          </p:cNvSpPr>
          <p:nvPr>
            <p:ph type="sldImg"/>
          </p:nvPr>
        </p:nvSpPr>
        <p:spPr bwMode="auto">
          <a:noFill/>
          <a:ln>
            <a:solidFill>
              <a:srgbClr val="000000"/>
            </a:solidFill>
            <a:miter lim="800000"/>
            <a:headEnd/>
            <a:tailEnd/>
          </a:ln>
        </p:spPr>
      </p:sp>
      <p:sp>
        <p:nvSpPr>
          <p:cNvPr id="18022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80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F13EED0-0069-48A8-BF9A-6A8169F11A84}" type="slidenum">
              <a:rPr lang="en-US" smtClean="0"/>
              <a:pPr/>
              <a:t>14</a:t>
            </a:fld>
            <a:endParaRPr 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Slide Image Placeholder 1"/>
          <p:cNvSpPr>
            <a:spLocks noGrp="1" noRot="1" noChangeAspect="1" noTextEdit="1"/>
          </p:cNvSpPr>
          <p:nvPr>
            <p:ph type="sldImg"/>
          </p:nvPr>
        </p:nvSpPr>
        <p:spPr bwMode="auto">
          <a:noFill/>
          <a:ln>
            <a:solidFill>
              <a:srgbClr val="000000"/>
            </a:solidFill>
            <a:miter lim="800000"/>
            <a:headEnd/>
            <a:tailEnd/>
          </a:ln>
        </p:spPr>
      </p:sp>
      <p:sp>
        <p:nvSpPr>
          <p:cNvPr id="181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181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648A18B-4063-4693-BFD2-92ED0C0EB60B}" type="slidenum">
              <a:rPr lang="en-US" smtClean="0"/>
              <a:pPr/>
              <a:t>15</a:t>
            </a:fld>
            <a:endParaRPr 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Slide Image Placeholder 1"/>
          <p:cNvSpPr>
            <a:spLocks noGrp="1" noRot="1" noChangeAspect="1" noTextEdit="1"/>
          </p:cNvSpPr>
          <p:nvPr>
            <p:ph type="sldImg"/>
          </p:nvPr>
        </p:nvSpPr>
        <p:spPr bwMode="auto">
          <a:noFill/>
          <a:ln>
            <a:solidFill>
              <a:srgbClr val="000000"/>
            </a:solidFill>
            <a:miter lim="800000"/>
            <a:headEnd/>
            <a:tailEnd/>
          </a:ln>
        </p:spPr>
      </p:sp>
      <p:sp>
        <p:nvSpPr>
          <p:cNvPr id="1822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82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4D18994-4A4A-4C42-81BE-7DD7B6C9EB89}" type="slidenum">
              <a:rPr lang="en-US" smtClean="0"/>
              <a:pPr/>
              <a:t>16</a:t>
            </a:fld>
            <a:endParaRPr 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Slide Image Placeholder 1"/>
          <p:cNvSpPr>
            <a:spLocks noGrp="1" noRot="1" noChangeAspect="1" noTextEdit="1"/>
          </p:cNvSpPr>
          <p:nvPr>
            <p:ph type="sldImg"/>
          </p:nvPr>
        </p:nvSpPr>
        <p:spPr bwMode="auto">
          <a:noFill/>
          <a:ln>
            <a:solidFill>
              <a:srgbClr val="000000"/>
            </a:solidFill>
            <a:miter lim="800000"/>
            <a:headEnd/>
            <a:tailEnd/>
          </a:ln>
        </p:spPr>
      </p:sp>
      <p:sp>
        <p:nvSpPr>
          <p:cNvPr id="183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smtClean="0"/>
          </a:p>
          <a:p>
            <a:pPr eaLnBrk="1" hangingPunct="1"/>
            <a:r>
              <a:rPr lang="en-US" sz="1400" dirty="0" smtClean="0"/>
              <a:t>Precept: A precept is a rule or principle imposing a particular standard of action or conduct</a:t>
            </a:r>
          </a:p>
          <a:p>
            <a:pPr eaLnBrk="1" hangingPunct="1"/>
            <a:endParaRPr lang="en-US" sz="1400" dirty="0" smtClean="0"/>
          </a:p>
          <a:p>
            <a:pPr eaLnBrk="1" hangingPunct="1"/>
            <a:r>
              <a:rPr lang="en-US" sz="1400" dirty="0" smtClean="0"/>
              <a:t>By following these precepts, it is intended that DOE projects develop the reputation of reliable and conservative project cost and schedule estimates, especially for Congressional confidence in the funding of them.</a:t>
            </a:r>
          </a:p>
          <a:p>
            <a:pPr eaLnBrk="1" hangingPunct="1"/>
            <a:endParaRPr lang="en-US" sz="1400" dirty="0" smtClean="0"/>
          </a:p>
          <a:p>
            <a:pPr eaLnBrk="1" hangingPunct="1"/>
            <a:r>
              <a:rPr lang="en-US" sz="1400" dirty="0" smtClean="0"/>
              <a:t>Cost range at CD-1</a:t>
            </a:r>
          </a:p>
          <a:p>
            <a:pPr eaLnBrk="1" hangingPunct="1"/>
            <a:r>
              <a:rPr lang="en-US" sz="1400" dirty="0" smtClean="0"/>
              <a:t>Project Baseline (total project cost) at CD-2</a:t>
            </a:r>
          </a:p>
        </p:txBody>
      </p:sp>
      <p:sp>
        <p:nvSpPr>
          <p:cNvPr id="1833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2788D65-E7B3-4187-AAE0-A898F2FAA4F2}" type="slidenum">
              <a:rPr lang="en-US" smtClean="0"/>
              <a:pPr/>
              <a:t>17</a:t>
            </a:fld>
            <a:endParaRPr 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Slide Image Placeholder 1"/>
          <p:cNvSpPr>
            <a:spLocks noGrp="1" noRot="1" noChangeAspect="1" noTextEdit="1"/>
          </p:cNvSpPr>
          <p:nvPr>
            <p:ph type="sldImg"/>
          </p:nvPr>
        </p:nvSpPr>
        <p:spPr bwMode="auto">
          <a:noFill/>
          <a:ln>
            <a:solidFill>
              <a:srgbClr val="000000"/>
            </a:solidFill>
            <a:miter lim="800000"/>
            <a:headEnd/>
            <a:tailEnd/>
          </a:ln>
        </p:spPr>
      </p:sp>
      <p:sp>
        <p:nvSpPr>
          <p:cNvPr id="1843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Mission Need Statement Guide DOE G 413.3-17</a:t>
            </a:r>
          </a:p>
          <a:p>
            <a:pPr lvl="1" eaLnBrk="1" hangingPunct="1"/>
            <a:r>
              <a:rPr lang="en-US" sz="1400" smtClean="0"/>
              <a:t>See section 3.c of the Guide for pre-conceptual level engineering/technical analysis expectations.</a:t>
            </a:r>
          </a:p>
          <a:p>
            <a:pPr eaLnBrk="1" hangingPunct="1"/>
            <a:r>
              <a:rPr lang="en-US" sz="1400" smtClean="0"/>
              <a:t>Integrated Project Teams Guide DOE G 413.3-18</a:t>
            </a:r>
          </a:p>
          <a:p>
            <a:pPr lvl="1" eaLnBrk="1" hangingPunct="1"/>
            <a:r>
              <a:rPr lang="en-US" sz="1400" smtClean="0"/>
              <a:t>See section 2.4 of the Guide, IPT Roles and Responsibilities and section 2.6 Membership and Structure (including Contractor participation).</a:t>
            </a:r>
          </a:p>
          <a:p>
            <a:pPr eaLnBrk="1" hangingPunct="1"/>
            <a:r>
              <a:rPr lang="en-US" sz="1400" smtClean="0"/>
              <a:t>Project Execution Plans Guide DOE G 413.3-15</a:t>
            </a:r>
          </a:p>
          <a:p>
            <a:pPr lvl="1" eaLnBrk="1" hangingPunct="1"/>
            <a:r>
              <a:rPr lang="en-US" sz="1400" smtClean="0"/>
              <a:t>See section 2.3 of the Guide, Tailoring Strategy (relates to 1189 and the SDS).</a:t>
            </a:r>
          </a:p>
          <a:p>
            <a:pPr lvl="1" eaLnBrk="1" hangingPunct="1"/>
            <a:r>
              <a:rPr lang="en-US" sz="1400" smtClean="0"/>
              <a:t>See section 2.5.1.2 of the Guide, Risk Management (relates to 1189 and Risk and Opportunities Assessments).</a:t>
            </a:r>
          </a:p>
          <a:p>
            <a:pPr eaLnBrk="1" hangingPunct="1"/>
            <a:r>
              <a:rPr lang="en-US" sz="1400" smtClean="0"/>
              <a:t>Risk Management Guide DOE G 413.3-7</a:t>
            </a:r>
          </a:p>
          <a:p>
            <a:pPr lvl="1" eaLnBrk="1" hangingPunct="1"/>
            <a:r>
              <a:rPr lang="en-US" sz="1400" smtClean="0"/>
              <a:t>The Guide describes the risk management process.  The 1189 Risk and Opportunity Assessment is the safety in design related input to the Risk Management Plan process.</a:t>
            </a:r>
          </a:p>
        </p:txBody>
      </p:sp>
      <p:sp>
        <p:nvSpPr>
          <p:cNvPr id="1843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4A12FA1-CBFB-4DFA-8FD8-271B322E1276}" type="slidenum">
              <a:rPr lang="en-US" smtClean="0"/>
              <a:pPr/>
              <a:t>18</a:t>
            </a:fld>
            <a:endParaRPr 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Slide Image Placeholder 1"/>
          <p:cNvSpPr>
            <a:spLocks noGrp="1" noRot="1" noChangeAspect="1" noTextEdit="1"/>
          </p:cNvSpPr>
          <p:nvPr>
            <p:ph type="sldImg"/>
          </p:nvPr>
        </p:nvSpPr>
        <p:spPr bwMode="auto">
          <a:noFill/>
          <a:ln>
            <a:solidFill>
              <a:srgbClr val="000000"/>
            </a:solidFill>
            <a:miter lim="800000"/>
            <a:headEnd/>
            <a:tailEnd/>
          </a:ln>
        </p:spPr>
      </p:sp>
      <p:sp>
        <p:nvSpPr>
          <p:cNvPr id="18534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85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2C47401-2A54-4E4E-A5EC-263DBF68BDF8}" type="slidenum">
              <a:rPr lang="en-US" smtClean="0"/>
              <a:pPr/>
              <a:t>19</a:t>
            </a:fld>
            <a:endParaRPr 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Slide Image Placeholder 1"/>
          <p:cNvSpPr>
            <a:spLocks noGrp="1" noRot="1" noChangeAspect="1" noTextEdit="1"/>
          </p:cNvSpPr>
          <p:nvPr>
            <p:ph type="sldImg"/>
          </p:nvPr>
        </p:nvSpPr>
        <p:spPr bwMode="auto">
          <a:noFill/>
          <a:ln>
            <a:solidFill>
              <a:srgbClr val="000000"/>
            </a:solidFill>
            <a:miter lim="800000"/>
            <a:headEnd/>
            <a:tailEnd/>
          </a:ln>
        </p:spPr>
      </p:sp>
      <p:sp>
        <p:nvSpPr>
          <p:cNvPr id="1863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dirty="0" smtClean="0"/>
              <a:t>Reference: DOE P 450.4, Safety Management System Policy and DOE G 450.4-1B, ISM Guide</a:t>
            </a:r>
          </a:p>
        </p:txBody>
      </p:sp>
      <p:sp>
        <p:nvSpPr>
          <p:cNvPr id="1863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10122FB-E1E3-4DC8-BCB8-A78820B65E98}" type="slidenum">
              <a:rPr lang="en-US" smtClean="0"/>
              <a:pPr/>
              <a:t>20</a:t>
            </a:fld>
            <a:endParaRPr 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a:p>
            <a:pPr eaLnBrk="1" hangingPunct="1"/>
            <a:r>
              <a:rPr lang="en-US" smtClean="0"/>
              <a:t>		    </a:t>
            </a:r>
          </a:p>
        </p:txBody>
      </p:sp>
      <p:sp>
        <p:nvSpPr>
          <p:cNvPr id="187395"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43C0749-207D-42B2-A7F2-E4A3FFCC428C}" type="slidenum">
              <a:rPr lang="en-US" smtClean="0"/>
              <a:pPr/>
              <a:t>21</a:t>
            </a:fld>
            <a:endParaRPr lang="en-US" smtClean="0"/>
          </a:p>
        </p:txBody>
      </p:sp>
      <p:sp>
        <p:nvSpPr>
          <p:cNvPr id="187396" name="Slide Image Placeholder 6"/>
          <p:cNvSpPr>
            <a:spLocks noGrp="1" noRot="1" noChangeAspect="1" noTextEdit="1"/>
          </p:cNvSpPr>
          <p:nvPr>
            <p:ph type="sldImg"/>
          </p:nvPr>
        </p:nvSpPr>
        <p:spPr bwMode="auto">
          <a:noFill/>
          <a:ln>
            <a:solidFill>
              <a:srgbClr val="000000"/>
            </a:solidFill>
            <a:miter lim="800000"/>
            <a:headEnd/>
            <a:tailEnd/>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Slide Image Placeholder 1"/>
          <p:cNvSpPr>
            <a:spLocks noGrp="1" noRot="1" noChangeAspect="1" noTextEdit="1"/>
          </p:cNvSpPr>
          <p:nvPr>
            <p:ph type="sldImg"/>
          </p:nvPr>
        </p:nvSpPr>
        <p:spPr bwMode="auto">
          <a:noFill/>
          <a:ln>
            <a:solidFill>
              <a:srgbClr val="000000"/>
            </a:solidFill>
            <a:miter lim="800000"/>
            <a:headEnd/>
            <a:tailEnd/>
          </a:ln>
        </p:spPr>
      </p:sp>
      <p:sp>
        <p:nvSpPr>
          <p:cNvPr id="1884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smtClean="0"/>
          </a:p>
          <a:p>
            <a:pPr eaLnBrk="1" hangingPunct="1"/>
            <a:r>
              <a:rPr lang="en-US" dirty="0" smtClean="0"/>
              <a:t>	</a:t>
            </a:r>
            <a:r>
              <a:rPr lang="en-US" sz="1400" dirty="0" smtClean="0"/>
              <a:t>Define collocated worker</a:t>
            </a:r>
          </a:p>
        </p:txBody>
      </p:sp>
      <p:sp>
        <p:nvSpPr>
          <p:cNvPr id="1884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FF3AE82-8A6A-46D8-B078-108811B52DAA}" type="slidenum">
              <a:rPr lang="en-US" smtClean="0"/>
              <a:pPr/>
              <a:t>22</a:t>
            </a:fld>
            <a:endParaRPr 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Slide Image Placeholder 1"/>
          <p:cNvSpPr>
            <a:spLocks noGrp="1" noRot="1" noChangeAspect="1" noTextEdit="1"/>
          </p:cNvSpPr>
          <p:nvPr>
            <p:ph type="sldImg"/>
          </p:nvPr>
        </p:nvSpPr>
        <p:spPr bwMode="auto">
          <a:noFill/>
          <a:ln>
            <a:solidFill>
              <a:srgbClr val="000000"/>
            </a:solidFill>
            <a:miter lim="800000"/>
            <a:headEnd/>
            <a:tailEnd/>
          </a:ln>
        </p:spPr>
      </p:sp>
      <p:sp>
        <p:nvSpPr>
          <p:cNvPr id="189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z="1400" smtClean="0"/>
          </a:p>
        </p:txBody>
      </p:sp>
      <p:sp>
        <p:nvSpPr>
          <p:cNvPr id="1894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8AF5796-1302-4689-A2FA-D63DEB6D69C7}" type="slidenum">
              <a:rPr lang="en-US" smtClean="0"/>
              <a:pPr/>
              <a:t>23</a:t>
            </a:fld>
            <a:endParaRPr 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Slide Image Placeholder 1"/>
          <p:cNvSpPr>
            <a:spLocks noGrp="1" noRot="1" noChangeAspect="1" noTextEdit="1"/>
          </p:cNvSpPr>
          <p:nvPr>
            <p:ph type="sldImg"/>
          </p:nvPr>
        </p:nvSpPr>
        <p:spPr bwMode="auto">
          <a:noFill/>
          <a:ln>
            <a:solidFill>
              <a:srgbClr val="000000"/>
            </a:solidFill>
            <a:miter lim="800000"/>
            <a:headEnd/>
            <a:tailEnd/>
          </a:ln>
        </p:spPr>
      </p:sp>
      <p:sp>
        <p:nvSpPr>
          <p:cNvPr id="1904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smtClean="0"/>
          </a:p>
        </p:txBody>
      </p:sp>
      <p:sp>
        <p:nvSpPr>
          <p:cNvPr id="190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90320A6-798C-4903-B144-E06DFE0EF870}" type="slidenum">
              <a:rPr lang="en-US" smtClean="0"/>
              <a:pPr/>
              <a:t>24</a:t>
            </a:fld>
            <a:endParaRPr 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Slide Image Placeholder 1"/>
          <p:cNvSpPr>
            <a:spLocks noGrp="1" noRot="1" noChangeAspect="1" noTextEdit="1"/>
          </p:cNvSpPr>
          <p:nvPr>
            <p:ph type="sldImg"/>
          </p:nvPr>
        </p:nvSpPr>
        <p:spPr bwMode="auto">
          <a:noFill/>
          <a:ln>
            <a:solidFill>
              <a:srgbClr val="000000"/>
            </a:solidFill>
            <a:miter lim="800000"/>
            <a:headEnd/>
            <a:tailEnd/>
          </a:ln>
        </p:spPr>
      </p:sp>
      <p:sp>
        <p:nvSpPr>
          <p:cNvPr id="191491" name="Notes Placeholder 2"/>
          <p:cNvSpPr>
            <a:spLocks noGrp="1"/>
          </p:cNvSpPr>
          <p:nvPr>
            <p:ph type="body" idx="1"/>
          </p:nvPr>
        </p:nvSpPr>
        <p:spPr bwMode="auto">
          <a:noFill/>
        </p:spPr>
        <p:txBody>
          <a:bodyPr wrap="square" numCol="1" anchor="t" anchorCtr="0" compatLnSpc="1">
            <a:prstTxWarp prst="textNoShape">
              <a:avLst/>
            </a:prstTxWarp>
          </a:bodyPr>
          <a:lstStyle/>
          <a:p>
            <a:pPr marL="350838" indent="-350838" eaLnBrk="1" hangingPunct="1"/>
            <a:r>
              <a:rPr lang="en-US" sz="1400" dirty="0" smtClean="0"/>
              <a:t>See pp vii and viii of the Standard</a:t>
            </a:r>
          </a:p>
          <a:p>
            <a:pPr marL="350838" indent="-350838" eaLnBrk="1" hangingPunct="1"/>
            <a:endParaRPr lang="en-US" sz="1400" dirty="0" smtClean="0"/>
          </a:p>
          <a:p>
            <a:pPr marL="350838" indent="-350838" eaLnBrk="1" hangingPunct="1"/>
            <a:r>
              <a:rPr lang="en-US" sz="1400" dirty="0" smtClean="0"/>
              <a:t>Compliance with the Key Concepts and Guiding Principles is necessary in order to comply with the Standard</a:t>
            </a:r>
          </a:p>
          <a:p>
            <a:pPr marL="350838" indent="-350838" eaLnBrk="1" hangingPunct="1"/>
            <a:endParaRPr lang="en-US" sz="1400" dirty="0" smtClean="0"/>
          </a:p>
        </p:txBody>
      </p:sp>
      <p:sp>
        <p:nvSpPr>
          <p:cNvPr id="1914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6F845BF-DD46-4EB3-B117-FD242487EC75}" type="slidenum">
              <a:rPr lang="en-US" smtClean="0"/>
              <a:pPr/>
              <a:t>25</a:t>
            </a:fld>
            <a:endParaRPr 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Slide Image Placeholder 1"/>
          <p:cNvSpPr>
            <a:spLocks noGrp="1" noRot="1" noChangeAspect="1" noTextEdit="1"/>
          </p:cNvSpPr>
          <p:nvPr>
            <p:ph type="sldImg"/>
          </p:nvPr>
        </p:nvSpPr>
        <p:spPr bwMode="auto">
          <a:noFill/>
          <a:ln>
            <a:solidFill>
              <a:srgbClr val="000000"/>
            </a:solidFill>
            <a:miter lim="800000"/>
            <a:headEnd/>
            <a:tailEnd/>
          </a:ln>
        </p:spPr>
      </p:sp>
      <p:sp>
        <p:nvSpPr>
          <p:cNvPr id="1925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925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FCCCE1E-D64A-4E70-94E5-3243695F151C}" type="slidenum">
              <a:rPr lang="en-US" smtClean="0"/>
              <a:pPr/>
              <a:t>26</a:t>
            </a:fld>
            <a:endParaRPr 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Slide Image Placeholder 1"/>
          <p:cNvSpPr>
            <a:spLocks noGrp="1" noRot="1" noChangeAspect="1" noTextEdit="1"/>
          </p:cNvSpPr>
          <p:nvPr>
            <p:ph type="sldImg"/>
          </p:nvPr>
        </p:nvSpPr>
        <p:spPr bwMode="auto">
          <a:noFill/>
          <a:ln>
            <a:solidFill>
              <a:srgbClr val="000000"/>
            </a:solidFill>
            <a:miter lim="800000"/>
            <a:headEnd/>
            <a:tailEnd/>
          </a:ln>
        </p:spPr>
      </p:sp>
      <p:sp>
        <p:nvSpPr>
          <p:cNvPr id="1935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1935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C126BBA-4970-450D-9F63-6D78652DDA9D}" type="slidenum">
              <a:rPr lang="en-US" smtClean="0"/>
              <a:pPr/>
              <a:t>27</a:t>
            </a:fld>
            <a:endParaRPr 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Slide Image Placeholder 1"/>
          <p:cNvSpPr>
            <a:spLocks noGrp="1" noRot="1" noChangeAspect="1" noTextEdit="1"/>
          </p:cNvSpPr>
          <p:nvPr>
            <p:ph type="sldImg"/>
          </p:nvPr>
        </p:nvSpPr>
        <p:spPr bwMode="auto">
          <a:noFill/>
          <a:ln>
            <a:solidFill>
              <a:srgbClr val="000000"/>
            </a:solidFill>
            <a:miter lim="800000"/>
            <a:headEnd/>
            <a:tailEnd/>
          </a:ln>
        </p:spPr>
      </p:sp>
      <p:sp>
        <p:nvSpPr>
          <p:cNvPr id="1945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smtClean="0"/>
              <a:t>O 413.3A: Projects with Total Project Cost &gt; $20 million</a:t>
            </a:r>
          </a:p>
          <a:p>
            <a:pPr eaLnBrk="1" hangingPunct="1"/>
            <a:endParaRPr lang="en-US" dirty="0" smtClean="0"/>
          </a:p>
          <a:p>
            <a:pPr eaLnBrk="1" hangingPunct="1"/>
            <a:r>
              <a:rPr lang="en-US" dirty="0" smtClean="0"/>
              <a:t>O 420.1B modification for STD-1189 will  include projects &lt; $20 million </a:t>
            </a:r>
          </a:p>
          <a:p>
            <a:pPr eaLnBrk="1" hangingPunct="1"/>
            <a:endParaRPr lang="en-US" dirty="0" smtClean="0"/>
          </a:p>
          <a:p>
            <a:pPr eaLnBrk="1" hangingPunct="1"/>
            <a:r>
              <a:rPr lang="en-US" dirty="0" smtClean="0"/>
              <a:t>The “other modifications” refers to modifications to HC 1, 2, and 3 nuclear facilities that are not “major modifications” under 10 CFR 830, but come under O 413.3A because of cost.</a:t>
            </a:r>
          </a:p>
          <a:p>
            <a:pPr eaLnBrk="1" hangingPunct="1"/>
            <a:endParaRPr lang="en-US" dirty="0" smtClean="0"/>
          </a:p>
        </p:txBody>
      </p:sp>
      <p:sp>
        <p:nvSpPr>
          <p:cNvPr id="194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55FB2A7-867B-4F8D-B5D5-C44DF81F56A4}" type="slidenum">
              <a:rPr lang="en-US" smtClean="0"/>
              <a:pPr/>
              <a:t>28</a:t>
            </a:fld>
            <a:endParaRPr 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Slide Image Placeholder 1"/>
          <p:cNvSpPr>
            <a:spLocks noGrp="1" noRot="1" noChangeAspect="1" noTextEdit="1"/>
          </p:cNvSpPr>
          <p:nvPr>
            <p:ph type="sldImg"/>
          </p:nvPr>
        </p:nvSpPr>
        <p:spPr bwMode="auto">
          <a:noFill/>
          <a:ln>
            <a:solidFill>
              <a:srgbClr val="000000"/>
            </a:solidFill>
            <a:miter lim="800000"/>
            <a:headEnd/>
            <a:tailEnd/>
          </a:ln>
        </p:spPr>
      </p:sp>
      <p:sp>
        <p:nvSpPr>
          <p:cNvPr id="2017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This series of slides covers the material in Ch 2 of DOE-STD-1189</a:t>
            </a:r>
          </a:p>
        </p:txBody>
      </p:sp>
      <p:sp>
        <p:nvSpPr>
          <p:cNvPr id="2017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F4FF701-77DD-4E35-B794-593BC83B3236}" type="slidenum">
              <a:rPr lang="en-US" smtClean="0"/>
              <a:pPr/>
              <a:t>29</a:t>
            </a:fld>
            <a:endParaRPr 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Slide Image Placeholder 1"/>
          <p:cNvSpPr>
            <a:spLocks noGrp="1" noRot="1" noChangeAspect="1" noTextEdit="1"/>
          </p:cNvSpPr>
          <p:nvPr>
            <p:ph type="sldImg"/>
          </p:nvPr>
        </p:nvSpPr>
        <p:spPr bwMode="auto">
          <a:noFill/>
          <a:ln>
            <a:solidFill>
              <a:srgbClr val="000000"/>
            </a:solidFill>
            <a:miter lim="800000"/>
            <a:headEnd/>
            <a:tailEnd/>
          </a:ln>
        </p:spPr>
      </p:sp>
      <p:sp>
        <p:nvSpPr>
          <p:cNvPr id="2027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Each of these bulleted items will be covered in the following set of  slides.</a:t>
            </a:r>
          </a:p>
        </p:txBody>
      </p:sp>
      <p:sp>
        <p:nvSpPr>
          <p:cNvPr id="2027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C558DB-193E-4C09-A3A1-A021E9A67202}" type="slidenum">
              <a:rPr lang="en-US" smtClean="0"/>
              <a:pPr/>
              <a:t>30</a:t>
            </a:fld>
            <a:endParaRPr 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Slide Image Placeholder 1"/>
          <p:cNvSpPr>
            <a:spLocks noGrp="1" noRot="1" noChangeAspect="1" noTextEdit="1"/>
          </p:cNvSpPr>
          <p:nvPr>
            <p:ph type="sldImg"/>
          </p:nvPr>
        </p:nvSpPr>
        <p:spPr bwMode="auto">
          <a:noFill/>
          <a:ln>
            <a:solidFill>
              <a:srgbClr val="000000"/>
            </a:solidFill>
            <a:miter lim="800000"/>
            <a:headEnd/>
            <a:tailEnd/>
          </a:ln>
        </p:spPr>
      </p:sp>
      <p:sp>
        <p:nvSpPr>
          <p:cNvPr id="2037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mtClean="0"/>
              <a:t>O 413.3A  roles and responsibilities of the FPD, as further described in DOE G 413.3-18 (IPT) , are extensive.   See paragraph 6.g of the Order.  OECM asserts that it is the responsibility of the FPD to get all of the items in table 2 of the Order completed.  The FPD makes use of the resources available to him.  These primarily include the IPT, the CIPT, and the SDIT.</a:t>
            </a:r>
          </a:p>
          <a:p>
            <a:pPr eaLnBrk="1" hangingPunct="1"/>
            <a:endParaRPr lang="en-US" smtClean="0"/>
          </a:p>
          <a:p>
            <a:pPr eaLnBrk="1" hangingPunct="1"/>
            <a:r>
              <a:rPr lang="en-US" smtClean="0"/>
              <a:t>Preferably, the federal IPT is well staffed by feds, including some full time committed personnel, especially in the project management and safety areas.</a:t>
            </a:r>
          </a:p>
          <a:p>
            <a:pPr eaLnBrk="1" hangingPunct="1"/>
            <a:endParaRPr lang="en-US" smtClean="0"/>
          </a:p>
          <a:p>
            <a:pPr eaLnBrk="1" hangingPunct="1"/>
            <a:r>
              <a:rPr lang="en-US" smtClean="0"/>
              <a:t>Often the CIPT works in support of the federal IPT,  However it can not be put in the position of reviewing and approving its own products.  If feds are not available to perform  IPT functions, the IPT may be supported by independent contractors.</a:t>
            </a:r>
          </a:p>
          <a:p>
            <a:pPr eaLnBrk="1" hangingPunct="1"/>
            <a:endParaRPr lang="en-US" smtClean="0"/>
          </a:p>
          <a:p>
            <a:pPr eaLnBrk="1" hangingPunct="1"/>
            <a:r>
              <a:rPr lang="en-US" smtClean="0"/>
              <a:t>It can be beneficial if the safety person on the IPT is also affiliated with the SBRT, not as the lead (potential conflicts), but optimally as an advisor to the lead.  The benefit is that that person will have much background information on the project , which will help the SBRT have a running start for their review responsibilities.</a:t>
            </a:r>
          </a:p>
          <a:p>
            <a:pPr eaLnBrk="1" hangingPunct="1"/>
            <a:endParaRPr lang="en-US" smtClean="0"/>
          </a:p>
          <a:p>
            <a:pPr eaLnBrk="1" hangingPunct="1"/>
            <a:endParaRPr lang="en-US" smtClean="0"/>
          </a:p>
        </p:txBody>
      </p:sp>
      <p:sp>
        <p:nvSpPr>
          <p:cNvPr id="2037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D64CADD-A2D3-4FCD-91B5-2CA7444D5885}" type="slidenum">
              <a:rPr lang="en-US" smtClean="0"/>
              <a:pPr/>
              <a:t>31</a:t>
            </a:fld>
            <a:endParaRPr 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Slide Image Placeholder 1"/>
          <p:cNvSpPr>
            <a:spLocks noGrp="1" noRot="1" noChangeAspect="1" noTextEdit="1"/>
          </p:cNvSpPr>
          <p:nvPr>
            <p:ph type="sldImg"/>
          </p:nvPr>
        </p:nvSpPr>
        <p:spPr bwMode="auto">
          <a:noFill/>
          <a:ln>
            <a:solidFill>
              <a:srgbClr val="000000"/>
            </a:solidFill>
            <a:miter lim="800000"/>
            <a:headEnd/>
            <a:tailEnd/>
          </a:ln>
        </p:spPr>
      </p:sp>
      <p:sp>
        <p:nvSpPr>
          <p:cNvPr id="2048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From G 413.3-18 section 2.4:</a:t>
            </a:r>
          </a:p>
          <a:p>
            <a:pPr eaLnBrk="1" hangingPunct="1"/>
            <a:r>
              <a:rPr lang="en-US" sz="1400" smtClean="0"/>
              <a:t>The series of 413.3A guides assigns nearly 100 roles and responsibilities to IPTs.  Some of the more significant are:</a:t>
            </a:r>
          </a:p>
          <a:p>
            <a:pPr eaLnBrk="1" hangingPunct="1">
              <a:buFontTx/>
              <a:buChar char="•"/>
            </a:pPr>
            <a:r>
              <a:rPr lang="en-US" sz="1400" smtClean="0"/>
              <a:t> Support the FPD in developing a PMP and RMP</a:t>
            </a:r>
          </a:p>
          <a:p>
            <a:pPr eaLnBrk="1" hangingPunct="1">
              <a:buFontTx/>
              <a:buChar char="•"/>
            </a:pPr>
            <a:r>
              <a:rPr lang="en-US" sz="1400" smtClean="0"/>
              <a:t> Ensure project interfaces are identified, defined, and managed to completion</a:t>
            </a:r>
          </a:p>
          <a:p>
            <a:pPr eaLnBrk="1" hangingPunct="1">
              <a:buFontTx/>
              <a:buChar char="•"/>
            </a:pPr>
            <a:r>
              <a:rPr lang="en-US" sz="1400" smtClean="0"/>
              <a:t> Plan and participate in project reviews</a:t>
            </a:r>
          </a:p>
          <a:p>
            <a:pPr eaLnBrk="1" hangingPunct="1">
              <a:buFontTx/>
              <a:buChar char="•"/>
            </a:pPr>
            <a:r>
              <a:rPr lang="en-US" sz="1400" smtClean="0"/>
              <a:t> Review and comment/recommend approval on key project deliverables including CD packages</a:t>
            </a:r>
          </a:p>
          <a:p>
            <a:pPr eaLnBrk="1" hangingPunct="1"/>
            <a:endParaRPr lang="en-US" sz="1400" smtClean="0"/>
          </a:p>
          <a:p>
            <a:pPr eaLnBrk="1" hangingPunct="1"/>
            <a:r>
              <a:rPr lang="en-US" sz="1400" smtClean="0"/>
              <a:t>Section 2.6 of Guide 18 includes the CIPT and SDIT as subgroups to the federal IPT</a:t>
            </a:r>
          </a:p>
          <a:p>
            <a:pPr eaLnBrk="1" hangingPunct="1"/>
            <a:endParaRPr lang="en-US" smtClean="0"/>
          </a:p>
        </p:txBody>
      </p:sp>
      <p:sp>
        <p:nvSpPr>
          <p:cNvPr id="2048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A7A355-5D1D-4A9D-A75C-73C038431996}" type="slidenum">
              <a:rPr lang="en-US" smtClean="0"/>
              <a:pPr/>
              <a:t>32</a:t>
            </a:fld>
            <a:endParaRPr 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Slide Image Placeholder 1"/>
          <p:cNvSpPr>
            <a:spLocks noGrp="1" noRot="1" noChangeAspect="1" noTextEdit="1"/>
          </p:cNvSpPr>
          <p:nvPr>
            <p:ph type="sldImg"/>
          </p:nvPr>
        </p:nvSpPr>
        <p:spPr bwMode="auto">
          <a:noFill/>
          <a:ln>
            <a:solidFill>
              <a:srgbClr val="000000"/>
            </a:solidFill>
            <a:miter lim="800000"/>
            <a:headEnd/>
            <a:tailEnd/>
          </a:ln>
        </p:spPr>
      </p:sp>
      <p:sp>
        <p:nvSpPr>
          <p:cNvPr id="2068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All IPT members and CIPT members, as well as any independent contractors supporting the IPT need to understand these paragraphs.  They are important enough that they should be read out loud when this slide is shown.</a:t>
            </a:r>
          </a:p>
        </p:txBody>
      </p:sp>
      <p:sp>
        <p:nvSpPr>
          <p:cNvPr id="2068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7F76F2B-1860-47E7-AA8C-69209BBA4ED3}" type="slidenum">
              <a:rPr lang="en-US" smtClean="0"/>
              <a:pPr/>
              <a:t>33</a:t>
            </a:fld>
            <a:endParaRPr 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Slide Image Placeholder 1"/>
          <p:cNvSpPr>
            <a:spLocks noGrp="1" noRot="1" noChangeAspect="1" noTextEdit="1"/>
          </p:cNvSpPr>
          <p:nvPr>
            <p:ph type="sldImg"/>
          </p:nvPr>
        </p:nvSpPr>
        <p:spPr bwMode="auto">
          <a:noFill/>
          <a:ln>
            <a:solidFill>
              <a:srgbClr val="000000"/>
            </a:solidFill>
            <a:miter lim="800000"/>
            <a:headEnd/>
            <a:tailEnd/>
          </a:ln>
        </p:spPr>
      </p:sp>
      <p:sp>
        <p:nvSpPr>
          <p:cNvPr id="2078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078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C1B096B-11C2-40B2-B81B-345F83CE3CCC}" type="slidenum">
              <a:rPr lang="en-US" smtClean="0"/>
              <a:pPr/>
              <a:t>34</a:t>
            </a:fld>
            <a:endParaRPr 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2C6FEEC-7905-4421-8D21-2CD4EA36A098}" type="slidenum">
              <a:rPr lang="en-US" smtClean="0"/>
              <a:pPr/>
              <a:t>35</a:t>
            </a:fld>
            <a:endParaRPr lang="en-US" smtClean="0"/>
          </a:p>
        </p:txBody>
      </p:sp>
      <p:sp>
        <p:nvSpPr>
          <p:cNvPr id="208899" name="Rectangle 2"/>
          <p:cNvSpPr>
            <a:spLocks noGrp="1" noRot="1" noChangeAspect="1" noChangeArrowheads="1" noTextEdit="1"/>
          </p:cNvSpPr>
          <p:nvPr>
            <p:ph type="sldImg"/>
          </p:nvPr>
        </p:nvSpPr>
        <p:spPr bwMode="auto">
          <a:xfrm>
            <a:off x="1338263" y="800100"/>
            <a:ext cx="4802187" cy="3600450"/>
          </a:xfrm>
          <a:noFill/>
          <a:ln>
            <a:solidFill>
              <a:srgbClr val="000000"/>
            </a:solidFill>
            <a:miter lim="800000"/>
            <a:headEnd/>
            <a:tailEnd/>
          </a:ln>
        </p:spPr>
      </p:sp>
      <p:sp>
        <p:nvSpPr>
          <p:cNvPr id="208900" name="Rectangle 3"/>
          <p:cNvSpPr>
            <a:spLocks noGrp="1" noChangeArrowheads="1"/>
          </p:cNvSpPr>
          <p:nvPr>
            <p:ph type="body" idx="1"/>
          </p:nvPr>
        </p:nvSpPr>
        <p:spPr bwMode="auto">
          <a:xfrm>
            <a:off x="974725" y="4559300"/>
            <a:ext cx="5365750" cy="4321175"/>
          </a:xfrm>
          <a:noFill/>
        </p:spPr>
        <p:txBody>
          <a:bodyPr wrap="square" numCol="1" anchor="t" anchorCtr="0" compatLnSpc="1">
            <a:prstTxWarp prst="textNoShape">
              <a:avLst/>
            </a:prstTxWarp>
          </a:bodyPr>
          <a:lstStyle/>
          <a:p>
            <a:pPr eaLnBrk="1" hangingPunct="1"/>
            <a:endParaRPr 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p:spPr>
      </p:sp>
      <p:sp>
        <p:nvSpPr>
          <p:cNvPr id="209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09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7A5D9FA-1A80-4062-8A0D-D510D09A6AD9}" type="slidenum">
              <a:rPr lang="en-US" smtClean="0"/>
              <a:pPr/>
              <a:t>36</a:t>
            </a:fld>
            <a:endParaRPr 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Slide Image Placeholder 1"/>
          <p:cNvSpPr>
            <a:spLocks noGrp="1" noRot="1" noChangeAspect="1" noTextEdit="1"/>
          </p:cNvSpPr>
          <p:nvPr>
            <p:ph type="sldImg"/>
          </p:nvPr>
        </p:nvSpPr>
        <p:spPr bwMode="auto">
          <a:noFill/>
          <a:ln>
            <a:solidFill>
              <a:srgbClr val="000000"/>
            </a:solidFill>
            <a:miter lim="800000"/>
            <a:headEnd/>
            <a:tailEnd/>
          </a:ln>
        </p:spPr>
      </p:sp>
      <p:sp>
        <p:nvSpPr>
          <p:cNvPr id="2109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While it is preferred that the federal IPT is well staffed and that a core team be assigned full time in support of the FPD, experience has shown that this is not always the case.  In such cases, members of the CIPT can help.  However, they should never be put in the position of reviewing and recommending approval of contractor products/documentation.</a:t>
            </a:r>
          </a:p>
          <a:p>
            <a:pPr eaLnBrk="1" hangingPunct="1"/>
            <a:endParaRPr lang="en-US" sz="1400" smtClean="0"/>
          </a:p>
          <a:p>
            <a:pPr eaLnBrk="1" hangingPunct="1"/>
            <a:r>
              <a:rPr lang="en-US" sz="1400" smtClean="0"/>
              <a:t>NNSA is exploring the idea of providing funds for independent contractor support to the IPT when federal employees are not available to provide the needed support to the FPD.</a:t>
            </a:r>
          </a:p>
        </p:txBody>
      </p:sp>
      <p:sp>
        <p:nvSpPr>
          <p:cNvPr id="2109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3F215FA-0BCA-4552-AC57-CEDEEA44BFBC}" type="slidenum">
              <a:rPr lang="en-US" smtClean="0"/>
              <a:pPr/>
              <a:t>37</a:t>
            </a:fld>
            <a:endParaRPr 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Slide Image Placeholder 1"/>
          <p:cNvSpPr>
            <a:spLocks noGrp="1" noRot="1" noChangeAspect="1" noTextEdit="1"/>
          </p:cNvSpPr>
          <p:nvPr>
            <p:ph type="sldImg"/>
          </p:nvPr>
        </p:nvSpPr>
        <p:spPr bwMode="auto">
          <a:noFill/>
          <a:ln>
            <a:solidFill>
              <a:srgbClr val="000000"/>
            </a:solidFill>
            <a:miter lim="800000"/>
            <a:headEnd/>
            <a:tailEnd/>
          </a:ln>
        </p:spPr>
      </p:sp>
      <p:sp>
        <p:nvSpPr>
          <p:cNvPr id="21197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119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80D5709-C0CF-4484-A401-0859095D5001}" type="slidenum">
              <a:rPr lang="en-US" smtClean="0"/>
              <a:pPr/>
              <a:t>38</a:t>
            </a:fld>
            <a:endParaRPr lang="en-US"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Slide Image Placeholder 1"/>
          <p:cNvSpPr>
            <a:spLocks noGrp="1" noRot="1" noChangeAspect="1" noTextEdit="1"/>
          </p:cNvSpPr>
          <p:nvPr>
            <p:ph type="sldImg"/>
          </p:nvPr>
        </p:nvSpPr>
        <p:spPr bwMode="auto">
          <a:noFill/>
          <a:ln>
            <a:solidFill>
              <a:srgbClr val="000000"/>
            </a:solidFill>
            <a:miter lim="800000"/>
            <a:headEnd/>
            <a:tailEnd/>
          </a:ln>
        </p:spPr>
      </p:sp>
      <p:sp>
        <p:nvSpPr>
          <p:cNvPr id="2129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smtClean="0"/>
              <a:t>The following  slides cover the objectives, functions, and the need for formality in establishing the SDIT.</a:t>
            </a:r>
          </a:p>
          <a:p>
            <a:pPr eaLnBrk="1" hangingPunct="1"/>
            <a:endParaRPr lang="en-US" dirty="0" smtClean="0"/>
          </a:p>
          <a:p>
            <a:pPr eaLnBrk="1" hangingPunct="1"/>
            <a:r>
              <a:rPr lang="en-US" dirty="0" smtClean="0"/>
              <a:t>The core team should include the leads of the engineering disciplines involved in the design and the lead of the contractor safety team.  Operations personnel (including maintenance) are especially important  in the role of assuring that the designs are practical from the human factors perspective, as well as their experience in the technologies that may be involved in facility operations.</a:t>
            </a:r>
          </a:p>
          <a:p>
            <a:pPr eaLnBrk="1" hangingPunct="1"/>
            <a:endParaRPr lang="en-US" dirty="0" smtClean="0"/>
          </a:p>
          <a:p>
            <a:pPr eaLnBrk="1" hangingPunct="1"/>
            <a:r>
              <a:rPr lang="en-US" dirty="0" smtClean="0"/>
              <a:t>Regarding the interactions between engineering design and safety, especially when different contractors are involved, it would help if project personnel were to receive some training in the type of interactions needed  during the design process.</a:t>
            </a:r>
          </a:p>
          <a:p>
            <a:pPr eaLnBrk="1" hangingPunct="1"/>
            <a:endParaRPr lang="en-US" dirty="0" smtClean="0"/>
          </a:p>
          <a:p>
            <a:pPr eaLnBrk="1" hangingPunct="1"/>
            <a:r>
              <a:rPr lang="en-US" dirty="0" smtClean="0"/>
              <a:t>One of the lessons learned  in project execution is that “safety analyses often lag the design process.”  It has also been stated that the needed iterations between design and safety depends on the professionals in these disciplines to “know when they need to communicate.”  These lags are exacerbated when such awareness is lacking (training helps).</a:t>
            </a:r>
          </a:p>
        </p:txBody>
      </p:sp>
      <p:sp>
        <p:nvSpPr>
          <p:cNvPr id="2129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EE7BBC0-79C8-4E42-B4B0-9365FC625887}" type="slidenum">
              <a:rPr lang="en-US" smtClean="0"/>
              <a:pPr/>
              <a:t>39</a:t>
            </a:fld>
            <a:endParaRPr lang="en-US"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Slide Image Placeholder 1"/>
          <p:cNvSpPr>
            <a:spLocks noGrp="1" noRot="1" noChangeAspect="1" noTextEdit="1"/>
          </p:cNvSpPr>
          <p:nvPr>
            <p:ph type="sldImg"/>
          </p:nvPr>
        </p:nvSpPr>
        <p:spPr bwMode="auto">
          <a:noFill/>
          <a:ln>
            <a:solidFill>
              <a:srgbClr val="000000"/>
            </a:solidFill>
            <a:miter lim="800000"/>
            <a:headEnd/>
            <a:tailEnd/>
          </a:ln>
        </p:spPr>
      </p:sp>
      <p:sp>
        <p:nvSpPr>
          <p:cNvPr id="2140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dirty="0" smtClean="0"/>
              <a:t>Note: Through accomplishing SDIT Objectives and Functions (next slide), the SDIT implements the STD 1189 safety in design process.  However, to fully implement STD-1189, Project Management must also make use of information developed by the SDIT (e.g., Risk and Opportunity Assessments, Safety Design Strategy, etc.)</a:t>
            </a:r>
          </a:p>
          <a:p>
            <a:pPr eaLnBrk="1" hangingPunct="1"/>
            <a:endParaRPr lang="en-US" sz="1400" dirty="0" smtClean="0"/>
          </a:p>
          <a:p>
            <a:pPr eaLnBrk="1" hangingPunct="1"/>
            <a:r>
              <a:rPr lang="en-US" sz="1400" dirty="0" smtClean="0"/>
              <a:t>See Guiding Principle 10</a:t>
            </a:r>
          </a:p>
        </p:txBody>
      </p:sp>
      <p:sp>
        <p:nvSpPr>
          <p:cNvPr id="2140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E2C2FED-3052-4B0C-89B5-A2FD2B299771}" type="slidenum">
              <a:rPr lang="en-US" smtClean="0"/>
              <a:pPr/>
              <a:t>40</a:t>
            </a:fld>
            <a:endParaRPr lang="en-US"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Slide Image Placeholder 1"/>
          <p:cNvSpPr>
            <a:spLocks noGrp="1" noRot="1" noChangeAspect="1" noTextEdit="1"/>
          </p:cNvSpPr>
          <p:nvPr>
            <p:ph type="sldImg"/>
          </p:nvPr>
        </p:nvSpPr>
        <p:spPr bwMode="auto">
          <a:noFill/>
          <a:ln>
            <a:solidFill>
              <a:srgbClr val="000000"/>
            </a:solidFill>
            <a:miter lim="800000"/>
            <a:headEnd/>
            <a:tailEnd/>
          </a:ln>
        </p:spPr>
      </p:sp>
      <p:sp>
        <p:nvSpPr>
          <p:cNvPr id="2150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mtClean="0"/>
              <a:t>		</a:t>
            </a:r>
          </a:p>
          <a:p>
            <a:pPr eaLnBrk="1" hangingPunct="1"/>
            <a:endParaRPr lang="en-US" smtClean="0"/>
          </a:p>
          <a:p>
            <a:pPr eaLnBrk="1" hangingPunct="1"/>
            <a:endParaRPr lang="en-US" smtClean="0"/>
          </a:p>
        </p:txBody>
      </p:sp>
      <p:sp>
        <p:nvSpPr>
          <p:cNvPr id="2150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A8BAB51-6551-4CC8-9E52-CF234EDE91DA}" type="slidenum">
              <a:rPr lang="en-US" smtClean="0"/>
              <a:pPr/>
              <a:t>41</a:t>
            </a:fld>
            <a:endParaRPr lang="en-US"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Slide Image Placeholder 1"/>
          <p:cNvSpPr>
            <a:spLocks noGrp="1" noRot="1" noChangeAspect="1" noTextEdit="1"/>
          </p:cNvSpPr>
          <p:nvPr>
            <p:ph type="sldImg"/>
          </p:nvPr>
        </p:nvSpPr>
        <p:spPr bwMode="auto">
          <a:noFill/>
          <a:ln>
            <a:solidFill>
              <a:srgbClr val="000000"/>
            </a:solidFill>
            <a:miter lim="800000"/>
            <a:headEnd/>
            <a:tailEnd/>
          </a:ln>
        </p:spPr>
      </p:sp>
      <p:sp>
        <p:nvSpPr>
          <p:cNvPr id="21606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160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B8896A3-7566-4D30-A8BA-4D832805A9F9}" type="slidenum">
              <a:rPr lang="en-US" smtClean="0"/>
              <a:pPr/>
              <a:t>42</a:t>
            </a:fld>
            <a:endParaRPr lang="en-US"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Slide Image Placeholder 1"/>
          <p:cNvSpPr>
            <a:spLocks noGrp="1" noRot="1" noChangeAspect="1" noTextEdit="1"/>
          </p:cNvSpPr>
          <p:nvPr>
            <p:ph type="sldImg"/>
          </p:nvPr>
        </p:nvSpPr>
        <p:spPr bwMode="auto">
          <a:noFill/>
          <a:ln>
            <a:solidFill>
              <a:srgbClr val="000000"/>
            </a:solidFill>
            <a:miter lim="800000"/>
            <a:headEnd/>
            <a:tailEnd/>
          </a:ln>
        </p:spPr>
      </p:sp>
      <p:sp>
        <p:nvSpPr>
          <p:cNvPr id="2170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Ideally the SDIT lead would have background experience in both engineering design and in safety analysis.</a:t>
            </a:r>
          </a:p>
          <a:p>
            <a:pPr eaLnBrk="1" hangingPunct="1"/>
            <a:endParaRPr lang="en-US" sz="1400" smtClean="0"/>
          </a:p>
          <a:p>
            <a:pPr eaLnBrk="1" hangingPunct="1"/>
            <a:r>
              <a:rPr lang="en-US" sz="1400" smtClean="0"/>
              <a:t>The SDIT lead needs to be the driving force in assuring effective and frequent communications between the design and safety disciplines.</a:t>
            </a:r>
          </a:p>
          <a:p>
            <a:pPr eaLnBrk="1" hangingPunct="1"/>
            <a:endParaRPr lang="en-US" sz="1400" smtClean="0"/>
          </a:p>
          <a:p>
            <a:pPr eaLnBrk="1" hangingPunct="1"/>
            <a:r>
              <a:rPr lang="en-US" sz="1400" b="1" smtClean="0"/>
              <a:t>An objective that was not stated in a previous slide is to minimize the time lag between the design and safety activities.</a:t>
            </a:r>
          </a:p>
        </p:txBody>
      </p:sp>
      <p:sp>
        <p:nvSpPr>
          <p:cNvPr id="2170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C571596-9FD8-4BF7-8825-EC459295F731}" type="slidenum">
              <a:rPr lang="en-US" smtClean="0"/>
              <a:pPr/>
              <a:t>43</a:t>
            </a:fld>
            <a:endParaRPr lang="en-US"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Slide Image Placeholder 1"/>
          <p:cNvSpPr>
            <a:spLocks noGrp="1" noRot="1" noChangeAspect="1" noTextEdit="1"/>
          </p:cNvSpPr>
          <p:nvPr>
            <p:ph type="sldImg"/>
          </p:nvPr>
        </p:nvSpPr>
        <p:spPr bwMode="auto">
          <a:noFill/>
          <a:ln>
            <a:solidFill>
              <a:srgbClr val="000000"/>
            </a:solidFill>
            <a:miter lim="800000"/>
            <a:headEnd/>
            <a:tailEnd/>
          </a:ln>
        </p:spPr>
      </p:sp>
      <p:sp>
        <p:nvSpPr>
          <p:cNvPr id="2181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See section 2.3 of the Standard.</a:t>
            </a:r>
          </a:p>
        </p:txBody>
      </p:sp>
      <p:sp>
        <p:nvSpPr>
          <p:cNvPr id="2181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B8D107A-9088-476E-BE0E-DD980B6B6F68}" type="slidenum">
              <a:rPr lang="en-US" smtClean="0"/>
              <a:pPr/>
              <a:t>44</a:t>
            </a:fld>
            <a:endParaRPr lang="en-US"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Slide Image Placeholder 1"/>
          <p:cNvSpPr>
            <a:spLocks noGrp="1" noRot="1" noChangeAspect="1" noTextEdit="1"/>
          </p:cNvSpPr>
          <p:nvPr>
            <p:ph type="sldImg"/>
          </p:nvPr>
        </p:nvSpPr>
        <p:spPr bwMode="auto">
          <a:noFill/>
          <a:ln>
            <a:solidFill>
              <a:srgbClr val="000000"/>
            </a:solidFill>
            <a:miter lim="800000"/>
            <a:headEnd/>
            <a:tailEnd/>
          </a:ln>
        </p:spPr>
      </p:sp>
      <p:sp>
        <p:nvSpPr>
          <p:cNvPr id="2191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191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0224A95-19B5-4540-B469-87D398432319}" type="slidenum">
              <a:rPr lang="en-US" smtClean="0"/>
              <a:pPr/>
              <a:t>45</a:t>
            </a:fld>
            <a:endParaRPr lang="en-US"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Slide Image Placeholder 1"/>
          <p:cNvSpPr>
            <a:spLocks noGrp="1" noRot="1" noChangeAspect="1" noTextEdit="1"/>
          </p:cNvSpPr>
          <p:nvPr>
            <p:ph type="sldImg"/>
          </p:nvPr>
        </p:nvSpPr>
        <p:spPr bwMode="auto">
          <a:noFill/>
          <a:ln>
            <a:solidFill>
              <a:srgbClr val="000000"/>
            </a:solidFill>
            <a:miter lim="800000"/>
            <a:headEnd/>
            <a:tailEnd/>
          </a:ln>
        </p:spPr>
      </p:sp>
      <p:sp>
        <p:nvSpPr>
          <p:cNvPr id="2201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201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120B8D7-24FD-42FA-83BC-4F01114EAC98}" type="slidenum">
              <a:rPr lang="en-US" smtClean="0"/>
              <a:pPr/>
              <a:t>46</a:t>
            </a:fld>
            <a:endParaRPr lang="en-US"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0" name="Slide Image Placeholder 1"/>
          <p:cNvSpPr>
            <a:spLocks noGrp="1" noRot="1" noChangeAspect="1" noTextEdit="1"/>
          </p:cNvSpPr>
          <p:nvPr>
            <p:ph type="sldImg"/>
          </p:nvPr>
        </p:nvSpPr>
        <p:spPr bwMode="auto">
          <a:noFill/>
          <a:ln>
            <a:solidFill>
              <a:srgbClr val="000000"/>
            </a:solidFill>
            <a:miter lim="800000"/>
            <a:headEnd/>
            <a:tailEnd/>
          </a:ln>
        </p:spPr>
      </p:sp>
      <p:sp>
        <p:nvSpPr>
          <p:cNvPr id="2222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222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FD7832C-156A-443B-9DF6-3D45A0791D53}" type="slidenum">
              <a:rPr lang="en-US" smtClean="0"/>
              <a:pPr/>
              <a:t>47</a:t>
            </a:fld>
            <a:endParaRPr lang="en-US"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Slide Image Placeholder 1"/>
          <p:cNvSpPr>
            <a:spLocks noGrp="1" noRot="1" noChangeAspect="1" noTextEdit="1"/>
          </p:cNvSpPr>
          <p:nvPr>
            <p:ph type="sldImg"/>
          </p:nvPr>
        </p:nvSpPr>
        <p:spPr bwMode="auto">
          <a:noFill/>
          <a:ln>
            <a:solidFill>
              <a:srgbClr val="000000"/>
            </a:solidFill>
            <a:miter lim="800000"/>
            <a:headEnd/>
            <a:tailEnd/>
          </a:ln>
        </p:spPr>
      </p:sp>
      <p:sp>
        <p:nvSpPr>
          <p:cNvPr id="2232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mtClean="0"/>
              <a:t>See Appendix E of the Standard</a:t>
            </a:r>
          </a:p>
          <a:p>
            <a:pPr eaLnBrk="1" hangingPunct="1"/>
            <a:endParaRPr lang="en-US" smtClean="0"/>
          </a:p>
          <a:p>
            <a:pPr eaLnBrk="1" hangingPunct="1"/>
            <a:r>
              <a:rPr lang="en-US" smtClean="0"/>
              <a:t>Should be as detailed as needed to communicate the strategy for successfully integrating safety and design and producing safety basis documentation that will be approved to allow either entry into the next critical decision or into operation</a:t>
            </a:r>
          </a:p>
          <a:p>
            <a:pPr eaLnBrk="1" hangingPunct="1"/>
            <a:endParaRPr lang="en-US" smtClean="0"/>
          </a:p>
        </p:txBody>
      </p:sp>
      <p:sp>
        <p:nvSpPr>
          <p:cNvPr id="2232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78B4C8E-545E-4716-B3C1-2380A156E768}" type="slidenum">
              <a:rPr lang="en-US" smtClean="0"/>
              <a:pPr/>
              <a:t>48</a:t>
            </a:fld>
            <a:endParaRPr lang="en-US"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8" name="Slide Image Placeholder 1"/>
          <p:cNvSpPr>
            <a:spLocks noGrp="1" noRot="1" noChangeAspect="1" noTextEdit="1"/>
          </p:cNvSpPr>
          <p:nvPr>
            <p:ph type="sldImg"/>
          </p:nvPr>
        </p:nvSpPr>
        <p:spPr bwMode="auto">
          <a:noFill/>
          <a:ln>
            <a:solidFill>
              <a:srgbClr val="000000"/>
            </a:solidFill>
            <a:miter lim="800000"/>
            <a:headEnd/>
            <a:tailEnd/>
          </a:ln>
        </p:spPr>
      </p:sp>
      <p:sp>
        <p:nvSpPr>
          <p:cNvPr id="2242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The SDIT is best prepared to identify safety in design technical issues that need to be managed through a project’s Risk Management Plan</a:t>
            </a:r>
          </a:p>
        </p:txBody>
      </p:sp>
      <p:sp>
        <p:nvSpPr>
          <p:cNvPr id="2242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9D724AD-48DD-413A-A80C-B29D22C61A19}" type="slidenum">
              <a:rPr lang="en-US" smtClean="0"/>
              <a:pPr/>
              <a:t>49</a:t>
            </a:fld>
            <a:endParaRPr lang="en-US"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2" name="Slide Image Placeholder 1"/>
          <p:cNvSpPr>
            <a:spLocks noGrp="1" noRot="1" noChangeAspect="1" noTextEdit="1"/>
          </p:cNvSpPr>
          <p:nvPr>
            <p:ph type="sldImg"/>
          </p:nvPr>
        </p:nvSpPr>
        <p:spPr bwMode="auto">
          <a:noFill/>
          <a:ln>
            <a:solidFill>
              <a:srgbClr val="000000"/>
            </a:solidFill>
            <a:miter lim="800000"/>
            <a:headEnd/>
            <a:tailEnd/>
          </a:ln>
        </p:spPr>
      </p:sp>
      <p:sp>
        <p:nvSpPr>
          <p:cNvPr id="22528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252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BCE22D0-499C-4BCE-808C-39145451107B}" type="slidenum">
              <a:rPr lang="en-US" smtClean="0"/>
              <a:pPr/>
              <a:t>50</a:t>
            </a:fld>
            <a:endParaRPr lang="en-US"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Slide Image Placeholder 1"/>
          <p:cNvSpPr>
            <a:spLocks noGrp="1" noRot="1" noChangeAspect="1" noTextEdit="1"/>
          </p:cNvSpPr>
          <p:nvPr>
            <p:ph type="sldImg"/>
          </p:nvPr>
        </p:nvSpPr>
        <p:spPr bwMode="auto">
          <a:noFill/>
          <a:ln>
            <a:solidFill>
              <a:srgbClr val="000000"/>
            </a:solidFill>
            <a:miter lim="800000"/>
            <a:headEnd/>
            <a:tailEnd/>
          </a:ln>
        </p:spPr>
      </p:sp>
      <p:sp>
        <p:nvSpPr>
          <p:cNvPr id="2263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Conservative safety design posture coupled with comprehensive risk and opportunities identification allows the project to define appropriate cost range estimates with a high degree of reliability.</a:t>
            </a:r>
          </a:p>
          <a:p>
            <a:pPr eaLnBrk="1" hangingPunct="1"/>
            <a:endParaRPr lang="en-US" sz="1400" smtClean="0"/>
          </a:p>
          <a:p>
            <a:pPr eaLnBrk="1" hangingPunct="1"/>
            <a:r>
              <a:rPr lang="en-US" sz="1400" smtClean="0"/>
              <a:t>Opportunities relate to modifying early conservatisms as design evolves and avoiding later costs.</a:t>
            </a:r>
          </a:p>
          <a:p>
            <a:pPr eaLnBrk="1" hangingPunct="1"/>
            <a:endParaRPr lang="en-US" sz="1400" smtClean="0"/>
          </a:p>
          <a:p>
            <a:pPr eaLnBrk="1" hangingPunct="1"/>
            <a:r>
              <a:rPr lang="en-US" sz="1400" smtClean="0"/>
              <a:t>Project risks are assigned to personnel to manage.  It is likely that risks identified by the SDIT will be assigned to SDIT personnel to manage.</a:t>
            </a:r>
          </a:p>
          <a:p>
            <a:pPr eaLnBrk="1" hangingPunct="1"/>
            <a:endParaRPr lang="en-US" sz="1400" smtClean="0"/>
          </a:p>
          <a:p>
            <a:pPr eaLnBrk="1" hangingPunct="1"/>
            <a:r>
              <a:rPr lang="en-US" sz="1400" smtClean="0"/>
              <a:t>Even risks that are transferred to other organizations need to be aggressively followed up on if resolution is important to the success of the project.</a:t>
            </a:r>
          </a:p>
        </p:txBody>
      </p:sp>
      <p:sp>
        <p:nvSpPr>
          <p:cNvPr id="2263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E55770B-0B0E-48B6-8F16-FFBEEB8B7E6A}" type="slidenum">
              <a:rPr lang="en-US" smtClean="0"/>
              <a:pPr/>
              <a:t>51</a:t>
            </a:fld>
            <a:endParaRPr lang="en-US"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Slide Image Placeholder 1"/>
          <p:cNvSpPr>
            <a:spLocks noGrp="1" noRot="1" noChangeAspect="1" noTextEdit="1"/>
          </p:cNvSpPr>
          <p:nvPr>
            <p:ph type="sldImg"/>
          </p:nvPr>
        </p:nvSpPr>
        <p:spPr bwMode="auto">
          <a:noFill/>
          <a:ln>
            <a:solidFill>
              <a:srgbClr val="000000"/>
            </a:solidFill>
            <a:miter lim="800000"/>
            <a:headEnd/>
            <a:tailEnd/>
          </a:ln>
        </p:spPr>
      </p:sp>
      <p:sp>
        <p:nvSpPr>
          <p:cNvPr id="2273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See Table F-1 (pp F-3 -4) of STD-1189 for a more extensive list.</a:t>
            </a:r>
          </a:p>
          <a:p>
            <a:pPr eaLnBrk="1" hangingPunct="1"/>
            <a:endParaRPr lang="en-US" sz="1400" smtClean="0"/>
          </a:p>
          <a:p>
            <a:pPr eaLnBrk="1" hangingPunct="1"/>
            <a:r>
              <a:rPr lang="en-US" sz="1400" smtClean="0"/>
              <a:t>Does it make a difference in how the FPD manages an issue if it is classified as a risk or as an opportunity?  Answer is yes; project managers are more aggressive in pursuing opportunities.</a:t>
            </a:r>
          </a:p>
        </p:txBody>
      </p:sp>
      <p:sp>
        <p:nvSpPr>
          <p:cNvPr id="2273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1A95C55-B89D-4708-BCE6-5CA1631B18B5}" type="slidenum">
              <a:rPr lang="en-US" smtClean="0"/>
              <a:pPr/>
              <a:t>52</a:t>
            </a:fld>
            <a:endParaRPr lang="en-US"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Slide Image Placeholder 1"/>
          <p:cNvSpPr>
            <a:spLocks noGrp="1" noRot="1" noChangeAspect="1" noTextEdit="1"/>
          </p:cNvSpPr>
          <p:nvPr>
            <p:ph type="sldImg"/>
          </p:nvPr>
        </p:nvSpPr>
        <p:spPr bwMode="auto">
          <a:noFill/>
          <a:ln>
            <a:solidFill>
              <a:srgbClr val="000000"/>
            </a:solidFill>
            <a:miter lim="800000"/>
            <a:headEnd/>
            <a:tailEnd/>
          </a:ln>
        </p:spPr>
      </p:sp>
      <p:sp>
        <p:nvSpPr>
          <p:cNvPr id="2283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283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26973F8-06EE-4FB6-B3D3-DD2FCE628930}" type="slidenum">
              <a:rPr lang="en-US" smtClean="0"/>
              <a:pPr/>
              <a:t>53</a:t>
            </a:fld>
            <a:endParaRPr lang="en-US"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Slide Image Placeholder 1"/>
          <p:cNvSpPr>
            <a:spLocks noGrp="1" noRot="1" noChangeAspect="1" noTextEdit="1"/>
          </p:cNvSpPr>
          <p:nvPr>
            <p:ph type="sldImg"/>
          </p:nvPr>
        </p:nvSpPr>
        <p:spPr bwMode="auto">
          <a:noFill/>
          <a:ln>
            <a:solidFill>
              <a:srgbClr val="000000"/>
            </a:solidFill>
            <a:miter lim="800000"/>
            <a:headEnd/>
            <a:tailEnd/>
          </a:ln>
        </p:spPr>
      </p:sp>
      <p:sp>
        <p:nvSpPr>
          <p:cNvPr id="2293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This chart and the next one are abbreviated versions of Table 2-1 of STD-1189 (pp 12, 13)</a:t>
            </a:r>
          </a:p>
          <a:p>
            <a:pPr eaLnBrk="1" hangingPunct="1"/>
            <a:endParaRPr lang="en-US" sz="1400" smtClean="0"/>
          </a:p>
          <a:p>
            <a:pPr eaLnBrk="1" hangingPunct="1"/>
            <a:r>
              <a:rPr lang="en-US" sz="1400" smtClean="0"/>
              <a:t>These tables are also consistent with Table 2 of O 413.3A (Critical Decision Requirements).  Note that the Order table does not identify the FPD as the approval authority for project documents.  The FPD is responsible for having all project documents prepared, so the issuance of them implies FPD approval.</a:t>
            </a:r>
          </a:p>
        </p:txBody>
      </p:sp>
      <p:sp>
        <p:nvSpPr>
          <p:cNvPr id="2293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078DCE5-C164-4916-9C34-8329954E4C20}" type="slidenum">
              <a:rPr lang="en-US" smtClean="0"/>
              <a:pPr/>
              <a:t>54</a:t>
            </a:fld>
            <a:endParaRPr lang="en-US"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Slide Image Placeholder 1"/>
          <p:cNvSpPr>
            <a:spLocks noGrp="1" noRot="1" noChangeAspect="1" noTextEdit="1"/>
          </p:cNvSpPr>
          <p:nvPr>
            <p:ph type="sldImg"/>
          </p:nvPr>
        </p:nvSpPr>
        <p:spPr bwMode="auto">
          <a:noFill/>
          <a:ln>
            <a:solidFill>
              <a:srgbClr val="000000"/>
            </a:solidFill>
            <a:miter lim="800000"/>
            <a:headEnd/>
            <a:tailEnd/>
          </a:ln>
        </p:spPr>
      </p:sp>
      <p:sp>
        <p:nvSpPr>
          <p:cNvPr id="2304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304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B2CD057-4D8A-4A2C-A45A-437D16E952F4}" type="slidenum">
              <a:rPr lang="en-US" smtClean="0"/>
              <a:pPr/>
              <a:t>55</a:t>
            </a:fld>
            <a:endParaRPr lang="en-US"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6" name="Slide Image Placeholder 1"/>
          <p:cNvSpPr>
            <a:spLocks noGrp="1" noRot="1" noChangeAspect="1" noTextEdit="1"/>
          </p:cNvSpPr>
          <p:nvPr>
            <p:ph type="sldImg"/>
          </p:nvPr>
        </p:nvSpPr>
        <p:spPr bwMode="auto">
          <a:noFill/>
          <a:ln>
            <a:solidFill>
              <a:srgbClr val="000000"/>
            </a:solidFill>
            <a:miter lim="800000"/>
            <a:headEnd/>
            <a:tailEnd/>
          </a:ln>
        </p:spPr>
      </p:sp>
      <p:sp>
        <p:nvSpPr>
          <p:cNvPr id="2314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dirty="0" smtClean="0"/>
              <a:t>Ref. section 1.4 of the Standard (Must and Should)</a:t>
            </a:r>
          </a:p>
          <a:p>
            <a:pPr eaLnBrk="1" hangingPunct="1"/>
            <a:endParaRPr lang="en-US" dirty="0" smtClean="0"/>
          </a:p>
          <a:p>
            <a:pPr eaLnBrk="1" hangingPunct="1">
              <a:buFontTx/>
              <a:buAutoNum type="arabicPeriod"/>
            </a:pPr>
            <a:r>
              <a:rPr lang="en-US" dirty="0" smtClean="0"/>
              <a:t>The word </a:t>
            </a:r>
            <a:r>
              <a:rPr lang="en-US" i="1" dirty="0" smtClean="0"/>
              <a:t>should</a:t>
            </a:r>
            <a:r>
              <a:rPr lang="en-US" dirty="0" smtClean="0"/>
              <a:t> is used for provisions of the Standard are not required but are recommended in order that the Standard can be effectively implemented.</a:t>
            </a:r>
          </a:p>
          <a:p>
            <a:pPr eaLnBrk="1" hangingPunct="1">
              <a:buFontTx/>
              <a:buAutoNum type="arabicPeriod"/>
            </a:pPr>
            <a:endParaRPr lang="en-US" dirty="0" smtClean="0"/>
          </a:p>
          <a:p>
            <a:pPr eaLnBrk="1" hangingPunct="1">
              <a:buFontTx/>
              <a:buAutoNum type="arabicPeriod"/>
            </a:pPr>
            <a:r>
              <a:rPr lang="en-US" dirty="0" smtClean="0"/>
              <a:t> Where an activity is required by a DOE directive, but not directly involved with integration  of safety with design, it is assumed to be carried out by the project (indicated by </a:t>
            </a:r>
            <a:r>
              <a:rPr lang="en-US" i="1" dirty="0" smtClean="0"/>
              <a:t>is</a:t>
            </a:r>
            <a:r>
              <a:rPr lang="en-US" dirty="0" smtClean="0"/>
              <a:t> or </a:t>
            </a:r>
            <a:r>
              <a:rPr lang="en-US" i="1" dirty="0" smtClean="0"/>
              <a:t>are</a:t>
            </a:r>
            <a:r>
              <a:rPr lang="en-US" dirty="0" smtClean="0"/>
              <a:t>, rather than a </a:t>
            </a:r>
            <a:r>
              <a:rPr lang="en-US" i="1" dirty="0" smtClean="0"/>
              <a:t>must</a:t>
            </a:r>
            <a:r>
              <a:rPr lang="en-US" dirty="0" smtClean="0"/>
              <a:t>.</a:t>
            </a:r>
          </a:p>
          <a:p>
            <a:pPr eaLnBrk="1" hangingPunct="1">
              <a:buFontTx/>
              <a:buAutoNum type="arabicPeriod"/>
            </a:pPr>
            <a:endParaRPr lang="en-US" dirty="0" smtClean="0"/>
          </a:p>
          <a:p>
            <a:pPr eaLnBrk="1" hangingPunct="1">
              <a:buFontTx/>
              <a:buAutoNum type="arabicPeriod"/>
            </a:pPr>
            <a:r>
              <a:rPr lang="en-US" i="1" dirty="0" smtClean="0"/>
              <a:t>Musts</a:t>
            </a:r>
            <a:r>
              <a:rPr lang="en-US" dirty="0" smtClean="0"/>
              <a:t> are also associated with key concepts and guiding principles that are necessary for effective integration of safety with design.  Failure to apply one or more of these musts implies failure to fully implement the Standard.</a:t>
            </a:r>
          </a:p>
          <a:p>
            <a:pPr eaLnBrk="1" hangingPunct="1">
              <a:buFontTx/>
              <a:buAutoNum type="arabicPeriod"/>
            </a:pPr>
            <a:endParaRPr lang="en-US" dirty="0" smtClean="0"/>
          </a:p>
          <a:p>
            <a:pPr eaLnBrk="1" hangingPunct="1">
              <a:buFontTx/>
              <a:buAutoNum type="arabicPeriod"/>
            </a:pPr>
            <a:r>
              <a:rPr lang="en-US" dirty="0" smtClean="0"/>
              <a:t>Requirements specific to this Standard are defined only for objectively measureable parameters or conditions.</a:t>
            </a:r>
          </a:p>
          <a:p>
            <a:pPr eaLnBrk="1" hangingPunct="1">
              <a:buFontTx/>
              <a:buAutoNum type="arabicPeriod"/>
            </a:pPr>
            <a:endParaRPr lang="en-US" dirty="0" smtClean="0"/>
          </a:p>
          <a:p>
            <a:pPr eaLnBrk="1" hangingPunct="1">
              <a:buFontTx/>
              <a:buAutoNum type="arabicPeriod"/>
            </a:pPr>
            <a:r>
              <a:rPr lang="en-US" dirty="0" smtClean="0"/>
              <a:t>Specific elements of the Standard can be tailored to fit a specific project through the SDS.</a:t>
            </a:r>
          </a:p>
        </p:txBody>
      </p:sp>
      <p:sp>
        <p:nvSpPr>
          <p:cNvPr id="2314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D4A2A7B-2148-4EDA-BFC5-642571CF87BA}" type="slidenum">
              <a:rPr lang="en-US" smtClean="0"/>
              <a:pPr/>
              <a:t>56</a:t>
            </a:fld>
            <a:endParaRPr lang="en-US"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50" name="Slide Image Placeholder 1"/>
          <p:cNvSpPr>
            <a:spLocks noGrp="1" noRot="1" noChangeAspect="1" noTextEdit="1"/>
          </p:cNvSpPr>
          <p:nvPr>
            <p:ph type="sldImg"/>
          </p:nvPr>
        </p:nvSpPr>
        <p:spPr bwMode="auto">
          <a:noFill/>
          <a:ln>
            <a:solidFill>
              <a:srgbClr val="000000"/>
            </a:solidFill>
            <a:miter lim="800000"/>
            <a:headEnd/>
            <a:tailEnd/>
          </a:ln>
        </p:spPr>
      </p:sp>
      <p:sp>
        <p:nvSpPr>
          <p:cNvPr id="23245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324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B067914-CE02-4D42-BCB8-43ED50D309B7}" type="slidenum">
              <a:rPr lang="en-US" smtClean="0"/>
              <a:pPr/>
              <a:t>57</a:t>
            </a:fld>
            <a:endParaRPr lang="en-US"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Slide Image Placeholder 1"/>
          <p:cNvSpPr>
            <a:spLocks noGrp="1" noRot="1" noChangeAspect="1" noTextEdit="1"/>
          </p:cNvSpPr>
          <p:nvPr>
            <p:ph type="sldImg"/>
          </p:nvPr>
        </p:nvSpPr>
        <p:spPr bwMode="auto">
          <a:noFill/>
          <a:ln>
            <a:solidFill>
              <a:srgbClr val="000000"/>
            </a:solidFill>
            <a:miter lim="800000"/>
            <a:headEnd/>
            <a:tailEnd/>
          </a:ln>
        </p:spPr>
      </p:sp>
      <p:sp>
        <p:nvSpPr>
          <p:cNvPr id="233475"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The material in this section is based on Ch 3 of STD-1189.</a:t>
            </a:r>
          </a:p>
          <a:p>
            <a:pPr marL="241300" indent="-241300" eaLnBrk="1" hangingPunct="1"/>
            <a:endParaRPr lang="en-US" sz="1400" smtClean="0"/>
          </a:p>
          <a:p>
            <a:pPr marL="241300" indent="-241300" eaLnBrk="1" hangingPunct="1"/>
            <a:endParaRPr lang="en-US" sz="1400" smtClean="0"/>
          </a:p>
        </p:txBody>
      </p:sp>
      <p:sp>
        <p:nvSpPr>
          <p:cNvPr id="2334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BD9723C-ABAD-428D-83A4-D982B828EFD2}" type="slidenum">
              <a:rPr lang="en-US" smtClean="0"/>
              <a:pPr/>
              <a:t>58</a:t>
            </a:fld>
            <a:endParaRPr lang="en-US"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C6928E7-A36E-45A1-81EF-FAF7629B02F9}" type="slidenum">
              <a:rPr lang="en-US" smtClean="0"/>
              <a:pPr/>
              <a:t>59</a:t>
            </a:fld>
            <a:endParaRPr lang="en-US" smtClean="0"/>
          </a:p>
        </p:txBody>
      </p:sp>
      <p:sp>
        <p:nvSpPr>
          <p:cNvPr id="1955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90468" name="Rectangle 3"/>
          <p:cNvSpPr>
            <a:spLocks noGrp="1" noChangeArrowheads="1"/>
          </p:cNvSpPr>
          <p:nvPr>
            <p:ph type="body" idx="1"/>
          </p:nvPr>
        </p:nvSpPr>
        <p:spPr>
          <a:xfrm>
            <a:off x="1057275" y="4641850"/>
            <a:ext cx="5362575" cy="4318000"/>
          </a:xfrm>
          <a:ln/>
        </p:spPr>
        <p:txBody>
          <a:bodyPr>
            <a:normAutofit fontScale="92500" lnSpcReduction="10000"/>
          </a:bodyPr>
          <a:lstStyle/>
          <a:p>
            <a:pPr eaLnBrk="1" hangingPunct="1">
              <a:defRPr/>
            </a:pPr>
            <a:r>
              <a:rPr lang="en-US" sz="1400" dirty="0" smtClean="0"/>
              <a:t>Compare to LANL paradigm of 30, 60, 90 percent design</a:t>
            </a:r>
          </a:p>
          <a:p>
            <a:pPr eaLnBrk="1" hangingPunct="1">
              <a:defRPr/>
            </a:pPr>
            <a:endParaRPr lang="en-US" sz="1400" dirty="0" smtClean="0"/>
          </a:p>
          <a:p>
            <a:pPr eaLnBrk="1" hangingPunct="1">
              <a:defRPr/>
            </a:pPr>
            <a:r>
              <a:rPr lang="en-US" sz="1400" dirty="0" smtClean="0"/>
              <a:t>LANL ref. is LANL Engineering Standards Manual PD342</a:t>
            </a:r>
          </a:p>
          <a:p>
            <a:pPr eaLnBrk="1" hangingPunct="1">
              <a:defRPr/>
            </a:pPr>
            <a:endParaRPr lang="en-US" sz="1400" dirty="0" smtClean="0"/>
          </a:p>
          <a:p>
            <a:pPr eaLnBrk="1" hangingPunct="1">
              <a:defRPr/>
            </a:pPr>
            <a:r>
              <a:rPr lang="en-US" sz="1400" dirty="0" smtClean="0"/>
              <a:t>It has also been characterized in the following ways:</a:t>
            </a:r>
          </a:p>
          <a:p>
            <a:pPr eaLnBrk="1" hangingPunct="1">
              <a:defRPr/>
            </a:pPr>
            <a:r>
              <a:rPr lang="en-US" sz="1400" dirty="0" smtClean="0"/>
              <a:t>30% Completion of hazards analyses (or 30% of drawings)</a:t>
            </a:r>
          </a:p>
          <a:p>
            <a:pPr eaLnBrk="1" hangingPunct="1">
              <a:defRPr/>
            </a:pPr>
            <a:r>
              <a:rPr lang="en-US" sz="1400" dirty="0" smtClean="0"/>
              <a:t>60% Completion of accident analyses (or 60% of drawings)</a:t>
            </a:r>
          </a:p>
          <a:p>
            <a:pPr eaLnBrk="1" hangingPunct="1">
              <a:defRPr/>
            </a:pPr>
            <a:r>
              <a:rPr lang="en-US" sz="1400" dirty="0" smtClean="0"/>
              <a:t>90 % Completion of PDSA (or 90% of drawings)</a:t>
            </a:r>
          </a:p>
          <a:p>
            <a:pPr eaLnBrk="1" hangingPunct="1">
              <a:defRPr/>
            </a:pPr>
            <a:endParaRPr lang="en-US" sz="1400" dirty="0" smtClean="0"/>
          </a:p>
          <a:p>
            <a:pPr eaLnBrk="1" hangingPunct="1">
              <a:defRPr/>
            </a:pPr>
            <a:r>
              <a:rPr lang="en-US" sz="1400" dirty="0" smtClean="0"/>
              <a:t>With advent of STD-1189 and the emphasis on conceptual and preliminary design activities, this paradigm is OBE.  Hazard and accident analysis all the way thru; level of detail increasing with increasing design evolution.</a:t>
            </a:r>
          </a:p>
          <a:p>
            <a:pPr eaLnBrk="1" hangingPunct="1">
              <a:defRPr/>
            </a:pPr>
            <a:endParaRPr lang="en-US" sz="1400" dirty="0" smtClean="0"/>
          </a:p>
          <a:p>
            <a:pPr eaLnBrk="1" hangingPunct="1">
              <a:defRPr/>
            </a:pPr>
            <a:r>
              <a:rPr lang="en-US" sz="1400" dirty="0" smtClean="0"/>
              <a:t>Note: Title I is preliminary design; Title II is detailed design; Title III is engineering and construction services after CD-3</a:t>
            </a:r>
          </a:p>
          <a:p>
            <a:pPr eaLnBrk="1" hangingPunct="1">
              <a:defRPr/>
            </a:pPr>
            <a:endParaRPr lang="en-US" sz="1400" dirty="0" smtClean="0"/>
          </a:p>
          <a:p>
            <a:pPr eaLnBrk="1" hangingPunct="1">
              <a:defRPr/>
            </a:pPr>
            <a:r>
              <a:rPr lang="en-US" sz="1400" dirty="0" smtClean="0"/>
              <a:t>	</a:t>
            </a:r>
          </a:p>
          <a:p>
            <a:pPr eaLnBrk="1" hangingPunct="1">
              <a:defRPr/>
            </a:pPr>
            <a:r>
              <a:rPr lang="en-US" sz="1400" dirty="0" smtClean="0"/>
              <a:t>	</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Slide Image Placeholder 1"/>
          <p:cNvSpPr>
            <a:spLocks noGrp="1" noRot="1" noChangeAspect="1" noTextEdit="1"/>
          </p:cNvSpPr>
          <p:nvPr>
            <p:ph type="sldImg"/>
          </p:nvPr>
        </p:nvSpPr>
        <p:spPr bwMode="auto">
          <a:noFill/>
          <a:ln>
            <a:solidFill>
              <a:srgbClr val="000000"/>
            </a:solidFill>
            <a:miter lim="800000"/>
            <a:headEnd/>
            <a:tailEnd/>
          </a:ln>
        </p:spPr>
      </p:sp>
      <p:sp>
        <p:nvSpPr>
          <p:cNvPr id="235523"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buFontTx/>
              <a:buAutoNum type="arabicPeriod"/>
            </a:pPr>
            <a:endParaRPr lang="en-US" smtClean="0"/>
          </a:p>
          <a:p>
            <a:pPr marL="241300" indent="-241300" eaLnBrk="1" hangingPunct="1"/>
            <a:r>
              <a:rPr lang="en-US" smtClean="0"/>
              <a:t>                                                                                                                                                                                                                                                                                                                          </a:t>
            </a:r>
          </a:p>
        </p:txBody>
      </p:sp>
      <p:sp>
        <p:nvSpPr>
          <p:cNvPr id="2355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42D79A1-392F-4AF8-9682-7E6D6D6CF59D}" type="slidenum">
              <a:rPr lang="en-US" smtClean="0"/>
              <a:pPr/>
              <a:t>60</a:t>
            </a:fld>
            <a:endParaRPr lang="en-US"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111596C-66E6-4D97-94DD-C9CBEA1DE8EC}" type="slidenum">
              <a:rPr lang="en-US" smtClean="0"/>
              <a:pPr/>
              <a:t>61</a:t>
            </a:fld>
            <a:endParaRPr lang="en-US" smtClean="0"/>
          </a:p>
        </p:txBody>
      </p:sp>
      <p:sp>
        <p:nvSpPr>
          <p:cNvPr id="2365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2365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1181100" lvl="2" indent="-241300" eaLnBrk="1" hangingPunct="1"/>
            <a:endParaRPr lang="en-US"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Slide Image Placeholder 1"/>
          <p:cNvSpPr>
            <a:spLocks noGrp="1" noRot="1" noChangeAspect="1" noTextEdit="1"/>
          </p:cNvSpPr>
          <p:nvPr>
            <p:ph type="sldImg"/>
          </p:nvPr>
        </p:nvSpPr>
        <p:spPr bwMode="auto">
          <a:noFill/>
          <a:ln>
            <a:solidFill>
              <a:srgbClr val="000000"/>
            </a:solidFill>
            <a:miter lim="800000"/>
            <a:headEnd/>
            <a:tailEnd/>
          </a:ln>
        </p:spPr>
      </p:sp>
      <p:sp>
        <p:nvSpPr>
          <p:cNvPr id="2385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385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D758720-9293-41A5-87C5-FFEAD6DB1606}" type="slidenum">
              <a:rPr lang="en-US" smtClean="0"/>
              <a:pPr/>
              <a:t>62</a:t>
            </a:fld>
            <a:endParaRPr lang="en-US"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Slide Image Placeholder 1"/>
          <p:cNvSpPr>
            <a:spLocks noGrp="1" noRot="1" noChangeAspect="1" noTextEdit="1"/>
          </p:cNvSpPr>
          <p:nvPr>
            <p:ph type="sldImg"/>
          </p:nvPr>
        </p:nvSpPr>
        <p:spPr bwMode="auto">
          <a:noFill/>
          <a:ln>
            <a:solidFill>
              <a:srgbClr val="000000"/>
            </a:solidFill>
            <a:miter lim="800000"/>
            <a:headEnd/>
            <a:tailEnd/>
          </a:ln>
        </p:spPr>
      </p:sp>
      <p:sp>
        <p:nvSpPr>
          <p:cNvPr id="2396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396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834BB2C-79C1-4A29-87D2-B1ADC445D80F}" type="slidenum">
              <a:rPr lang="en-US" smtClean="0"/>
              <a:pPr/>
              <a:t>63</a:t>
            </a:fld>
            <a:endParaRPr lang="en-US"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Slide Image Placeholder 1"/>
          <p:cNvSpPr>
            <a:spLocks noGrp="1" noRot="1" noChangeAspect="1" noTextEdit="1"/>
          </p:cNvSpPr>
          <p:nvPr>
            <p:ph type="sldImg"/>
          </p:nvPr>
        </p:nvSpPr>
        <p:spPr bwMode="auto">
          <a:noFill/>
          <a:ln>
            <a:solidFill>
              <a:srgbClr val="000000"/>
            </a:solidFill>
            <a:miter lim="800000"/>
            <a:headEnd/>
            <a:tailEnd/>
          </a:ln>
        </p:spPr>
      </p:sp>
      <p:sp>
        <p:nvSpPr>
          <p:cNvPr id="234499"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lnSpc>
                <a:spcPct val="90000"/>
              </a:lnSpc>
              <a:buFontTx/>
              <a:buAutoNum type="arabicPeriod"/>
            </a:pPr>
            <a:r>
              <a:rPr lang="en-US" sz="1400" smtClean="0"/>
              <a:t> It is important not to think of each box in these charts as individual steps that are completed along a path to completion.  </a:t>
            </a:r>
          </a:p>
          <a:p>
            <a:pPr marL="241300" indent="-241300" eaLnBrk="1" hangingPunct="1">
              <a:lnSpc>
                <a:spcPct val="90000"/>
              </a:lnSpc>
              <a:buFontTx/>
              <a:buAutoNum type="arabicPeriod"/>
            </a:pPr>
            <a:r>
              <a:rPr lang="en-US" sz="1400" smtClean="0"/>
              <a:t>The iterative and interactive nature of the process within 1189 is illustrated by the grouped items and the use of double headed arrows.  </a:t>
            </a:r>
          </a:p>
          <a:p>
            <a:pPr marL="241300" indent="-241300" eaLnBrk="1" hangingPunct="1">
              <a:lnSpc>
                <a:spcPct val="90000"/>
              </a:lnSpc>
              <a:buFontTx/>
              <a:buAutoNum type="arabicPeriod"/>
            </a:pPr>
            <a:r>
              <a:rPr lang="en-US" sz="1400" smtClean="0"/>
              <a:t>Note the numbers in some boxes in this and following similar figures.  They correspond to section numbers of the Standard where the activities in that box are described further.</a:t>
            </a:r>
          </a:p>
        </p:txBody>
      </p:sp>
      <p:sp>
        <p:nvSpPr>
          <p:cNvPr id="2345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EE45C6B-B2CB-41B5-AD9A-A415BCBE003D}" type="slidenum">
              <a:rPr lang="en-US" smtClean="0"/>
              <a:pPr/>
              <a:t>64</a:t>
            </a:fld>
            <a:endParaRPr lang="en-US"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Slide Image Placeholder 1"/>
          <p:cNvSpPr>
            <a:spLocks noGrp="1" noRot="1" noChangeAspect="1" noTextEdit="1"/>
          </p:cNvSpPr>
          <p:nvPr>
            <p:ph type="sldImg"/>
          </p:nvPr>
        </p:nvSpPr>
        <p:spPr bwMode="auto">
          <a:noFill/>
          <a:ln>
            <a:solidFill>
              <a:srgbClr val="000000"/>
            </a:solidFill>
            <a:miter lim="800000"/>
            <a:headEnd/>
            <a:tailEnd/>
          </a:ln>
        </p:spPr>
      </p:sp>
      <p:sp>
        <p:nvSpPr>
          <p:cNvPr id="2099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099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7A5D9FA-1A80-4062-8A0D-D510D09A6AD9}" type="slidenum">
              <a:rPr lang="en-US" smtClean="0"/>
              <a:pPr/>
              <a:t>65</a:t>
            </a:fld>
            <a:endParaRPr lang="en-US"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Slide Image Placeholder 1"/>
          <p:cNvSpPr>
            <a:spLocks noGrp="1" noRot="1" noChangeAspect="1" noTextEdit="1"/>
          </p:cNvSpPr>
          <p:nvPr>
            <p:ph type="sldImg"/>
          </p:nvPr>
        </p:nvSpPr>
        <p:spPr bwMode="auto">
          <a:noFill/>
          <a:ln>
            <a:solidFill>
              <a:srgbClr val="000000"/>
            </a:solidFill>
            <a:miter lim="800000"/>
            <a:headEnd/>
            <a:tailEnd/>
          </a:ln>
        </p:spPr>
      </p:sp>
      <p:sp>
        <p:nvSpPr>
          <p:cNvPr id="2447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z="1400" smtClean="0"/>
          </a:p>
        </p:txBody>
      </p:sp>
      <p:sp>
        <p:nvSpPr>
          <p:cNvPr id="2447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3A47763-3830-411B-84B0-D367845EB98D}" type="slidenum">
              <a:rPr lang="en-US" smtClean="0"/>
              <a:pPr/>
              <a:t>66</a:t>
            </a:fld>
            <a:endParaRPr lang="en-US"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Slide Image Placeholder 1"/>
          <p:cNvSpPr>
            <a:spLocks noGrp="1" noRot="1" noChangeAspect="1" noTextEdit="1"/>
          </p:cNvSpPr>
          <p:nvPr>
            <p:ph type="sldImg"/>
          </p:nvPr>
        </p:nvSpPr>
        <p:spPr bwMode="auto">
          <a:noFill/>
          <a:ln>
            <a:solidFill>
              <a:srgbClr val="000000"/>
            </a:solidFill>
            <a:miter lim="800000"/>
            <a:headEnd/>
            <a:tailEnd/>
          </a:ln>
        </p:spPr>
      </p:sp>
      <p:sp>
        <p:nvSpPr>
          <p:cNvPr id="243715"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dirty="0" smtClean="0"/>
              <a:t>Note that some of the boxes on these figures have numbers at the bottom.  These numbers refer to STD-1189 section numbers.</a:t>
            </a:r>
          </a:p>
          <a:p>
            <a:pPr marL="241300" indent="-241300" eaLnBrk="1" hangingPunct="1"/>
            <a:endParaRPr lang="en-US" sz="1400" dirty="0" smtClean="0"/>
          </a:p>
          <a:p>
            <a:pPr marL="241300" indent="-241300" eaLnBrk="1" hangingPunct="1"/>
            <a:r>
              <a:rPr lang="en-US" sz="1400" dirty="0" smtClean="0"/>
              <a:t>Talk through this diagram in detail.  The similar diagrams at Preliminary Design and Final Design are primarily updates on the activities described here.</a:t>
            </a:r>
          </a:p>
        </p:txBody>
      </p:sp>
      <p:sp>
        <p:nvSpPr>
          <p:cNvPr id="2437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B2F2015-0E6B-4F41-B347-43113C39D20C}" type="slidenum">
              <a:rPr lang="en-US" smtClean="0"/>
              <a:pPr/>
              <a:t>67</a:t>
            </a:fld>
            <a:endParaRPr lang="en-US"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Slide Image Placeholder 1"/>
          <p:cNvSpPr>
            <a:spLocks noGrp="1" noRot="1" noChangeAspect="1" noTextEdit="1"/>
          </p:cNvSpPr>
          <p:nvPr>
            <p:ph type="sldImg"/>
          </p:nvPr>
        </p:nvSpPr>
        <p:spPr bwMode="auto">
          <a:noFill/>
          <a:ln>
            <a:solidFill>
              <a:srgbClr val="000000"/>
            </a:solidFill>
            <a:miter lim="800000"/>
            <a:headEnd/>
            <a:tailEnd/>
          </a:ln>
        </p:spPr>
      </p:sp>
      <p:sp>
        <p:nvSpPr>
          <p:cNvPr id="245763"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endParaRPr lang="en-US" smtClean="0"/>
          </a:p>
        </p:txBody>
      </p:sp>
      <p:sp>
        <p:nvSpPr>
          <p:cNvPr id="2457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DB70140-8B46-4C26-9325-C5C1F22D2D86}" type="slidenum">
              <a:rPr lang="en-US" smtClean="0"/>
              <a:pPr/>
              <a:t>68</a:t>
            </a:fld>
            <a:endParaRPr lang="en-US"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67948972-E9A8-4ECF-8466-349725318585}" type="slidenum">
              <a:rPr lang="en-US" smtClean="0"/>
              <a:pPr>
                <a:defRPr/>
              </a:pPr>
              <a:t>69</a:t>
            </a:fld>
            <a:endParaRPr 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Slide Image Placeholder 1"/>
          <p:cNvSpPr>
            <a:spLocks noGrp="1" noRot="1" noChangeAspect="1" noTextEdit="1"/>
          </p:cNvSpPr>
          <p:nvPr>
            <p:ph type="sldImg"/>
          </p:nvPr>
        </p:nvSpPr>
        <p:spPr bwMode="auto">
          <a:noFill/>
          <a:ln>
            <a:solidFill>
              <a:srgbClr val="000000"/>
            </a:solidFill>
            <a:miter lim="800000"/>
            <a:headEnd/>
            <a:tailEnd/>
          </a:ln>
        </p:spPr>
      </p:sp>
      <p:sp>
        <p:nvSpPr>
          <p:cNvPr id="246787"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The safety design requirements of O 413.3A and the standards invoked in the associated guides (or alternatives to them) need to be put under design control.  </a:t>
            </a:r>
          </a:p>
          <a:p>
            <a:pPr marL="241300" indent="-241300" eaLnBrk="1" hangingPunct="1"/>
            <a:endParaRPr lang="en-US" sz="1400" smtClean="0"/>
          </a:p>
          <a:p>
            <a:pPr marL="241300" indent="-241300" eaLnBrk="1" hangingPunct="1"/>
            <a:r>
              <a:rPr lang="en-US" sz="1400" smtClean="0"/>
              <a:t>Expect to demonstrate implementation.  See STD-1189 Appendix I  (format and content of PSDR/PDSA) Appendix B of that 1189 appendix.</a:t>
            </a:r>
          </a:p>
        </p:txBody>
      </p:sp>
      <p:sp>
        <p:nvSpPr>
          <p:cNvPr id="2467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2881B6D-558B-453E-886B-E6E0B662F28E}" type="slidenum">
              <a:rPr lang="en-US" smtClean="0"/>
              <a:pPr/>
              <a:t>70</a:t>
            </a:fld>
            <a:endParaRPr lang="en-US"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p:cNvSpPr>
            <a:spLocks noGrp="1" noRot="1" noChangeAspect="1" noTextEdit="1"/>
          </p:cNvSpPr>
          <p:nvPr>
            <p:ph type="sldImg"/>
          </p:nvPr>
        </p:nvSpPr>
        <p:spPr bwMode="auto">
          <a:noFill/>
          <a:ln>
            <a:solidFill>
              <a:srgbClr val="000000"/>
            </a:solidFill>
            <a:miter lim="800000"/>
            <a:headEnd/>
            <a:tailEnd/>
          </a:ln>
        </p:spPr>
      </p:sp>
      <p:sp>
        <p:nvSpPr>
          <p:cNvPr id="247811"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This listing is on p 28 of O 413.3A for a CSDR.  </a:t>
            </a:r>
          </a:p>
          <a:p>
            <a:pPr marL="241300" indent="-241300" eaLnBrk="1" hangingPunct="1"/>
            <a:endParaRPr lang="en-US" sz="1400" smtClean="0"/>
          </a:p>
          <a:p>
            <a:pPr marL="241300" indent="-241300" eaLnBrk="1" hangingPunct="1"/>
            <a:r>
              <a:rPr lang="en-US" sz="1400" smtClean="0"/>
              <a:t>These items are also consistent with Appendix H of STD-1189, format and content of a CSDR.  </a:t>
            </a:r>
          </a:p>
          <a:p>
            <a:pPr marL="241300" indent="-241300" eaLnBrk="1" hangingPunct="1"/>
            <a:endParaRPr lang="en-US" sz="1400" smtClean="0"/>
          </a:p>
          <a:p>
            <a:pPr marL="241300" indent="-241300" eaLnBrk="1" hangingPunct="1"/>
            <a:r>
              <a:rPr lang="en-US" sz="1400" smtClean="0"/>
              <a:t>See also STD-1189 definition for CSDR (p xviii)</a:t>
            </a:r>
          </a:p>
        </p:txBody>
      </p:sp>
      <p:sp>
        <p:nvSpPr>
          <p:cNvPr id="2478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AE5370A-2FEA-4441-B10E-76A05476125B}" type="slidenum">
              <a:rPr lang="en-US" smtClean="0"/>
              <a:pPr/>
              <a:t>71</a:t>
            </a:fld>
            <a:endParaRPr lang="en-US"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Slide Image Placeholder 1"/>
          <p:cNvSpPr>
            <a:spLocks noGrp="1" noRot="1" noChangeAspect="1" noTextEdit="1"/>
          </p:cNvSpPr>
          <p:nvPr>
            <p:ph type="sldImg"/>
          </p:nvPr>
        </p:nvSpPr>
        <p:spPr bwMode="auto">
          <a:noFill/>
          <a:ln>
            <a:solidFill>
              <a:srgbClr val="000000"/>
            </a:solidFill>
            <a:miter lim="800000"/>
            <a:headEnd/>
            <a:tailEnd/>
          </a:ln>
        </p:spPr>
      </p:sp>
      <p:sp>
        <p:nvSpPr>
          <p:cNvPr id="24883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488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82B3123-3F5F-46DD-8F0D-405A16E76534}" type="slidenum">
              <a:rPr lang="en-US" smtClean="0"/>
              <a:pPr/>
              <a:t>72</a:t>
            </a:fld>
            <a:endParaRPr lang="en-US"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Slide Image Placeholder 1"/>
          <p:cNvSpPr>
            <a:spLocks noGrp="1" noRot="1" noChangeAspect="1" noTextEdit="1"/>
          </p:cNvSpPr>
          <p:nvPr>
            <p:ph type="sldImg"/>
          </p:nvPr>
        </p:nvSpPr>
        <p:spPr bwMode="auto">
          <a:noFill/>
          <a:ln>
            <a:solidFill>
              <a:srgbClr val="000000"/>
            </a:solidFill>
            <a:miter lim="800000"/>
            <a:headEnd/>
            <a:tailEnd/>
          </a:ln>
        </p:spPr>
      </p:sp>
      <p:sp>
        <p:nvSpPr>
          <p:cNvPr id="2498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See STD-1104 section 5</a:t>
            </a:r>
          </a:p>
          <a:p>
            <a:pPr eaLnBrk="1" hangingPunct="1"/>
            <a:endParaRPr lang="en-US" sz="1400" smtClean="0"/>
          </a:p>
          <a:p>
            <a:pPr eaLnBrk="1" hangingPunct="1"/>
            <a:r>
              <a:rPr lang="en-US" sz="1400" smtClean="0"/>
              <a:t>See also STD-1189 Appendix H, section H.1.</a:t>
            </a:r>
          </a:p>
          <a:p>
            <a:pPr eaLnBrk="1" hangingPunct="1"/>
            <a:endParaRPr lang="en-US" sz="1400" smtClean="0"/>
          </a:p>
          <a:p>
            <a:pPr eaLnBrk="1" hangingPunct="1"/>
            <a:endParaRPr lang="en-US" sz="1400" smtClean="0"/>
          </a:p>
        </p:txBody>
      </p:sp>
      <p:sp>
        <p:nvSpPr>
          <p:cNvPr id="2498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DE900DA-6B50-4B10-9571-C536F4E73862}" type="slidenum">
              <a:rPr lang="en-US" smtClean="0"/>
              <a:pPr/>
              <a:t>73</a:t>
            </a:fld>
            <a:endParaRPr lang="en-US"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Slide Image Placeholder 1"/>
          <p:cNvSpPr>
            <a:spLocks noGrp="1" noRot="1" noChangeAspect="1" noTextEdit="1"/>
          </p:cNvSpPr>
          <p:nvPr>
            <p:ph type="sldImg"/>
          </p:nvPr>
        </p:nvSpPr>
        <p:spPr bwMode="auto">
          <a:noFill/>
          <a:ln>
            <a:solidFill>
              <a:srgbClr val="000000"/>
            </a:solidFill>
            <a:miter lim="800000"/>
            <a:headEnd/>
            <a:tailEnd/>
          </a:ln>
        </p:spPr>
      </p:sp>
      <p:sp>
        <p:nvSpPr>
          <p:cNvPr id="250883"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The activities described here build on similar activities during conceptual design stage and evolve the design to the point of final design (final design - dotting the I’s and crossing the t’s.</a:t>
            </a:r>
          </a:p>
          <a:p>
            <a:pPr marL="241300" indent="-241300" eaLnBrk="1" hangingPunct="1"/>
            <a:endParaRPr lang="en-US" sz="1400" smtClean="0"/>
          </a:p>
          <a:p>
            <a:pPr marL="241300" indent="-241300" eaLnBrk="1" hangingPunct="1"/>
            <a:r>
              <a:rPr lang="en-US" sz="1400" smtClean="0"/>
              <a:t>The activities in the engineering and the safety design rows that are enclosed with dotted lines are highly interactive and iterative.   They will be described in more detail  in the next section of the course (Safety and Design Interactions).</a:t>
            </a:r>
          </a:p>
        </p:txBody>
      </p:sp>
      <p:sp>
        <p:nvSpPr>
          <p:cNvPr id="2508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3CF9067-4E90-4822-8349-654AB02814BA}" type="slidenum">
              <a:rPr lang="en-US" smtClean="0"/>
              <a:pPr/>
              <a:t>74</a:t>
            </a:fld>
            <a:endParaRPr lang="en-US"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Slide Image Placeholder 1"/>
          <p:cNvSpPr>
            <a:spLocks noGrp="1" noRot="1" noChangeAspect="1" noTextEdit="1"/>
          </p:cNvSpPr>
          <p:nvPr>
            <p:ph type="sldImg"/>
          </p:nvPr>
        </p:nvSpPr>
        <p:spPr bwMode="auto">
          <a:noFill/>
          <a:ln>
            <a:solidFill>
              <a:srgbClr val="000000"/>
            </a:solidFill>
            <a:miter lim="800000"/>
            <a:headEnd/>
            <a:tailEnd/>
          </a:ln>
        </p:spPr>
      </p:sp>
      <p:sp>
        <p:nvSpPr>
          <p:cNvPr id="251907"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This is where the bulk of creative development design engineering is done.  This assessment/opinion is based on O 413.3A understanding that final design activities focus on preparation of final drawings and specifications (based on the preliminary design) to support procurement.  </a:t>
            </a:r>
          </a:p>
          <a:p>
            <a:pPr marL="241300" indent="-241300" eaLnBrk="1" hangingPunct="1"/>
            <a:endParaRPr lang="en-US" sz="1400" smtClean="0"/>
          </a:p>
          <a:p>
            <a:pPr marL="241300" indent="-241300" eaLnBrk="1" hangingPunct="1"/>
            <a:r>
              <a:rPr lang="en-US" sz="1400" smtClean="0"/>
              <a:t>However the final design stage may well cost more than preliminary design just by virtue of the man-hours involved.</a:t>
            </a:r>
          </a:p>
        </p:txBody>
      </p:sp>
      <p:sp>
        <p:nvSpPr>
          <p:cNvPr id="2519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F20516F-7EC1-44D0-BC05-76DD063B24E5}" type="slidenum">
              <a:rPr lang="en-US" smtClean="0"/>
              <a:pPr/>
              <a:t>75</a:t>
            </a:fld>
            <a:endParaRPr lang="en-US"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30" name="Slide Image Placeholder 1"/>
          <p:cNvSpPr>
            <a:spLocks noGrp="1" noRot="1" noChangeAspect="1" noTextEdit="1"/>
          </p:cNvSpPr>
          <p:nvPr>
            <p:ph type="sldImg"/>
          </p:nvPr>
        </p:nvSpPr>
        <p:spPr bwMode="auto">
          <a:noFill/>
          <a:ln>
            <a:solidFill>
              <a:srgbClr val="000000"/>
            </a:solidFill>
            <a:miter lim="800000"/>
            <a:headEnd/>
            <a:tailEnd/>
          </a:ln>
        </p:spPr>
      </p:sp>
      <p:sp>
        <p:nvSpPr>
          <p:cNvPr id="252931"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Decisions reversed after this stage, for whatever reason, can have significant impact on project costs and schedule.</a:t>
            </a:r>
          </a:p>
          <a:p>
            <a:pPr marL="241300" indent="-241300" eaLnBrk="1" hangingPunct="1"/>
            <a:endParaRPr lang="en-US" sz="1400" smtClean="0"/>
          </a:p>
          <a:p>
            <a:pPr marL="241300" indent="-241300" eaLnBrk="1" hangingPunct="1"/>
            <a:r>
              <a:rPr lang="en-US" sz="1400" smtClean="0"/>
              <a:t>Because this is the most intense design stage, it also is where disconnects between design and safety iterations are a great threat.</a:t>
            </a:r>
          </a:p>
          <a:p>
            <a:pPr marL="241300" indent="-241300" eaLnBrk="1" hangingPunct="1"/>
            <a:endParaRPr lang="en-US" sz="1400" smtClean="0"/>
          </a:p>
          <a:p>
            <a:pPr marL="241300" indent="-241300" eaLnBrk="1" hangingPunct="1"/>
            <a:r>
              <a:rPr lang="en-US" sz="1400" smtClean="0"/>
              <a:t>How can these disconnects be avoided?</a:t>
            </a:r>
          </a:p>
          <a:p>
            <a:pPr marL="241300" indent="-241300" eaLnBrk="1" hangingPunct="1"/>
            <a:endParaRPr lang="en-US" sz="1400" smtClean="0"/>
          </a:p>
          <a:p>
            <a:pPr marL="241300" indent="-241300" eaLnBrk="1" hangingPunct="1"/>
            <a:endParaRPr lang="en-US" sz="1400" smtClean="0"/>
          </a:p>
        </p:txBody>
      </p:sp>
      <p:sp>
        <p:nvSpPr>
          <p:cNvPr id="2529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FBC517-F9A5-4940-92A1-6D229A001C16}" type="slidenum">
              <a:rPr lang="en-US" smtClean="0"/>
              <a:pPr/>
              <a:t>76</a:t>
            </a:fld>
            <a:endParaRPr lang="en-US"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Slide Image Placeholder 1"/>
          <p:cNvSpPr>
            <a:spLocks noGrp="1" noRot="1" noChangeAspect="1" noTextEdit="1"/>
          </p:cNvSpPr>
          <p:nvPr>
            <p:ph type="sldImg"/>
          </p:nvPr>
        </p:nvSpPr>
        <p:spPr bwMode="auto">
          <a:noFill/>
          <a:ln>
            <a:solidFill>
              <a:srgbClr val="000000"/>
            </a:solidFill>
            <a:miter lim="800000"/>
            <a:headEnd/>
            <a:tailEnd/>
          </a:ln>
        </p:spPr>
      </p:sp>
      <p:sp>
        <p:nvSpPr>
          <p:cNvPr id="25395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539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8C6D220-CEC0-4B74-9F9B-D739D2DC4A87}" type="slidenum">
              <a:rPr lang="en-US" smtClean="0"/>
              <a:pPr/>
              <a:t>77</a:t>
            </a:fld>
            <a:endParaRPr lang="en-US"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8" name="Slide Image Placeholder 1"/>
          <p:cNvSpPr>
            <a:spLocks noGrp="1" noRot="1" noChangeAspect="1" noTextEdit="1"/>
          </p:cNvSpPr>
          <p:nvPr>
            <p:ph type="sldImg"/>
          </p:nvPr>
        </p:nvSpPr>
        <p:spPr bwMode="auto">
          <a:noFill/>
          <a:ln>
            <a:solidFill>
              <a:srgbClr val="000000"/>
            </a:solidFill>
            <a:miter lim="800000"/>
            <a:headEnd/>
            <a:tailEnd/>
          </a:ln>
        </p:spPr>
      </p:sp>
      <p:sp>
        <p:nvSpPr>
          <p:cNvPr id="254979"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Note that the PSDR format is modeled after STD-3009 (although the content is more demanding).  The intent is that the PSDR evolves through the PDSA to a DSA for operations in an orderly fashion.</a:t>
            </a:r>
          </a:p>
        </p:txBody>
      </p:sp>
      <p:sp>
        <p:nvSpPr>
          <p:cNvPr id="2549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3376F26-3643-4988-8CF0-539600ED87CB}" type="slidenum">
              <a:rPr lang="en-US" smtClean="0"/>
              <a:pPr/>
              <a:t>78</a:t>
            </a:fld>
            <a:endParaRPr lang="en-US"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Slide Image Placeholder 1"/>
          <p:cNvSpPr>
            <a:spLocks noGrp="1" noRot="1" noChangeAspect="1" noTextEdit="1"/>
          </p:cNvSpPr>
          <p:nvPr>
            <p:ph type="sldImg"/>
          </p:nvPr>
        </p:nvSpPr>
        <p:spPr bwMode="auto">
          <a:noFill/>
          <a:ln>
            <a:solidFill>
              <a:srgbClr val="000000"/>
            </a:solidFill>
            <a:miter lim="800000"/>
            <a:headEnd/>
            <a:tailEnd/>
          </a:ln>
        </p:spPr>
      </p:sp>
      <p:sp>
        <p:nvSpPr>
          <p:cNvPr id="200707"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007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B6012C7-1782-4141-AA56-785CF2159D95}" type="slidenum">
              <a:rPr lang="en-US" smtClean="0"/>
              <a:pPr/>
              <a:t>79</a:t>
            </a:fld>
            <a:endParaRPr lang="en-US"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2" name="Slide Image Placeholder 1"/>
          <p:cNvSpPr>
            <a:spLocks noGrp="1" noRot="1" noChangeAspect="1" noTextEdit="1"/>
          </p:cNvSpPr>
          <p:nvPr>
            <p:ph type="sldImg"/>
          </p:nvPr>
        </p:nvSpPr>
        <p:spPr bwMode="auto">
          <a:noFill/>
          <a:ln>
            <a:solidFill>
              <a:srgbClr val="000000"/>
            </a:solidFill>
            <a:miter lim="800000"/>
            <a:headEnd/>
            <a:tailEnd/>
          </a:ln>
        </p:spPr>
      </p:sp>
      <p:sp>
        <p:nvSpPr>
          <p:cNvPr id="256003"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O 413.3A understanding is that final design activities focus on preparation of final drawings and specifications to support procurement.</a:t>
            </a:r>
          </a:p>
          <a:p>
            <a:pPr marL="241300" indent="-241300" eaLnBrk="1" hangingPunct="1"/>
            <a:r>
              <a:rPr lang="en-US" sz="1400" smtClean="0"/>
              <a:t>If this paradigm is met, then the engineering and safety activities (see boxes enclosed by dotted lines) are primarily confirmatory in nature and also includes preparation of key design documents such as SDDs.</a:t>
            </a:r>
          </a:p>
          <a:p>
            <a:pPr marL="241300" indent="-241300" eaLnBrk="1" hangingPunct="1"/>
            <a:r>
              <a:rPr lang="en-US" sz="1400" smtClean="0"/>
              <a:t>To the extent this is not true (engineering design activities are still evolving the design) then the interactions in the dotted line enclosed boxes include the types of interactions described for preliminary design.</a:t>
            </a:r>
          </a:p>
          <a:p>
            <a:pPr marL="241300" indent="-241300" eaLnBrk="1" hangingPunct="1"/>
            <a:r>
              <a:rPr lang="en-US" sz="1400" smtClean="0"/>
              <a:t>As with preliminary design, other activities are primarily updates of activities begun at conceptual design, to the extent needed.</a:t>
            </a:r>
          </a:p>
        </p:txBody>
      </p:sp>
      <p:sp>
        <p:nvSpPr>
          <p:cNvPr id="2560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F1ADA26-2053-407C-9C42-2D82440DD28A}" type="slidenum">
              <a:rPr lang="en-US" smtClean="0"/>
              <a:pPr/>
              <a:t>80</a:t>
            </a:fld>
            <a:endParaRPr lang="en-US"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Slide Image Placeholder 1"/>
          <p:cNvSpPr>
            <a:spLocks noGrp="1" noRot="1" noChangeAspect="1" noTextEdit="1"/>
          </p:cNvSpPr>
          <p:nvPr>
            <p:ph type="sldImg"/>
          </p:nvPr>
        </p:nvSpPr>
        <p:spPr bwMode="auto">
          <a:noFill/>
          <a:ln>
            <a:solidFill>
              <a:srgbClr val="000000"/>
            </a:solidFill>
            <a:miter lim="800000"/>
            <a:headEnd/>
            <a:tailEnd/>
          </a:ln>
        </p:spPr>
      </p:sp>
      <p:sp>
        <p:nvSpPr>
          <p:cNvPr id="257027"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endParaRPr lang="en-US" sz="1400" smtClean="0"/>
          </a:p>
        </p:txBody>
      </p:sp>
      <p:sp>
        <p:nvSpPr>
          <p:cNvPr id="2570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241F28F-3A07-4A62-9FE1-57CFE311ABF4}" type="slidenum">
              <a:rPr lang="en-US" smtClean="0"/>
              <a:pPr/>
              <a:t>81</a:t>
            </a:fld>
            <a:endParaRPr lang="en-US"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Slide Image Placeholder 1"/>
          <p:cNvSpPr>
            <a:spLocks noGrp="1" noRot="1" noChangeAspect="1" noTextEdit="1"/>
          </p:cNvSpPr>
          <p:nvPr>
            <p:ph type="sldImg"/>
          </p:nvPr>
        </p:nvSpPr>
        <p:spPr bwMode="auto">
          <a:noFill/>
          <a:ln>
            <a:solidFill>
              <a:srgbClr val="000000"/>
            </a:solidFill>
            <a:miter lim="800000"/>
            <a:headEnd/>
            <a:tailEnd/>
          </a:ln>
        </p:spPr>
      </p:sp>
      <p:sp>
        <p:nvSpPr>
          <p:cNvPr id="258051"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endParaRPr lang="en-US" smtClean="0"/>
          </a:p>
        </p:txBody>
      </p:sp>
      <p:sp>
        <p:nvSpPr>
          <p:cNvPr id="2580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335BC18-3304-4E8C-9985-DC501AE22CF7}" type="slidenum">
              <a:rPr lang="en-US" smtClean="0"/>
              <a:pPr/>
              <a:t>82</a:t>
            </a:fld>
            <a:endParaRPr lang="en-US"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4" name="Slide Image Placeholder 1"/>
          <p:cNvSpPr>
            <a:spLocks noGrp="1" noRot="1" noChangeAspect="1" noTextEdit="1"/>
          </p:cNvSpPr>
          <p:nvPr>
            <p:ph type="sldImg"/>
          </p:nvPr>
        </p:nvSpPr>
        <p:spPr bwMode="auto">
          <a:noFill/>
          <a:ln>
            <a:solidFill>
              <a:srgbClr val="000000"/>
            </a:solidFill>
            <a:miter lim="800000"/>
            <a:headEnd/>
            <a:tailEnd/>
          </a:ln>
        </p:spPr>
      </p:sp>
      <p:sp>
        <p:nvSpPr>
          <p:cNvPr id="259075"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smtClean="0"/>
              <a:t> It is important to not wait until now to get operations involved.  They should be an active part of the design team from the beginning.  This will make TSR development and implementation easier.</a:t>
            </a:r>
          </a:p>
        </p:txBody>
      </p:sp>
      <p:sp>
        <p:nvSpPr>
          <p:cNvPr id="2590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BAEEDE8-0198-4118-8F04-19327E5B967E}" type="slidenum">
              <a:rPr lang="en-US" smtClean="0"/>
              <a:pPr/>
              <a:t>83</a:t>
            </a:fld>
            <a:endParaRPr lang="en-US"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Slide Image Placeholder 1"/>
          <p:cNvSpPr>
            <a:spLocks noGrp="1" noRot="1" noChangeAspect="1" noTextEdit="1"/>
          </p:cNvSpPr>
          <p:nvPr>
            <p:ph type="sldImg"/>
          </p:nvPr>
        </p:nvSpPr>
        <p:spPr bwMode="auto">
          <a:noFill/>
          <a:ln>
            <a:solidFill>
              <a:srgbClr val="000000"/>
            </a:solidFill>
            <a:miter lim="800000"/>
            <a:headEnd/>
            <a:tailEnd/>
          </a:ln>
        </p:spPr>
      </p:sp>
      <p:sp>
        <p:nvSpPr>
          <p:cNvPr id="2600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See section 6.4 of the Standard.</a:t>
            </a:r>
          </a:p>
        </p:txBody>
      </p:sp>
      <p:sp>
        <p:nvSpPr>
          <p:cNvPr id="2601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E85C4FB4-425D-4C7E-90DC-E750AC02D485}" type="slidenum">
              <a:rPr lang="en-US" smtClean="0"/>
              <a:pPr/>
              <a:t>84</a:t>
            </a:fld>
            <a:endParaRPr lang="en-US"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2" name="Slide Image Placeholder 1"/>
          <p:cNvSpPr>
            <a:spLocks noGrp="1" noRot="1" noChangeAspect="1" noTextEdit="1"/>
          </p:cNvSpPr>
          <p:nvPr>
            <p:ph type="sldImg"/>
          </p:nvPr>
        </p:nvSpPr>
        <p:spPr bwMode="auto">
          <a:noFill/>
          <a:ln>
            <a:solidFill>
              <a:srgbClr val="000000"/>
            </a:solidFill>
            <a:miter lim="800000"/>
            <a:headEnd/>
            <a:tailEnd/>
          </a:ln>
        </p:spPr>
      </p:sp>
      <p:sp>
        <p:nvSpPr>
          <p:cNvPr id="26112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611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7D68EB0-2F5F-4E82-8C63-D974AAED6919}" type="slidenum">
              <a:rPr lang="en-US" smtClean="0"/>
              <a:pPr/>
              <a:t>85</a:t>
            </a:fld>
            <a:endParaRPr lang="en-US"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Slide Image Placeholder 1"/>
          <p:cNvSpPr>
            <a:spLocks noGrp="1" noRot="1" noChangeAspect="1" noTextEdit="1"/>
          </p:cNvSpPr>
          <p:nvPr>
            <p:ph type="sldImg"/>
          </p:nvPr>
        </p:nvSpPr>
        <p:spPr bwMode="auto">
          <a:noFill/>
          <a:ln>
            <a:solidFill>
              <a:srgbClr val="000000"/>
            </a:solidFill>
            <a:miter lim="800000"/>
            <a:headEnd/>
            <a:tailEnd/>
          </a:ln>
        </p:spPr>
      </p:sp>
      <p:sp>
        <p:nvSpPr>
          <p:cNvPr id="262147"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endParaRPr lang="en-US" sz="1400" smtClean="0"/>
          </a:p>
          <a:p>
            <a:pPr marL="241300" indent="-241300" eaLnBrk="1" hangingPunct="1"/>
            <a:endParaRPr lang="en-US" sz="1400" smtClean="0"/>
          </a:p>
        </p:txBody>
      </p:sp>
      <p:sp>
        <p:nvSpPr>
          <p:cNvPr id="2621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6EA548D-4FD4-49C5-818D-B448D9FA8E17}" type="slidenum">
              <a:rPr lang="en-US" smtClean="0"/>
              <a:pPr/>
              <a:t>86</a:t>
            </a:fld>
            <a:endParaRPr lang="en-US"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Slide Image Placeholder 1"/>
          <p:cNvSpPr>
            <a:spLocks noGrp="1" noRot="1" noChangeAspect="1" noTextEdit="1"/>
          </p:cNvSpPr>
          <p:nvPr>
            <p:ph type="sldImg"/>
          </p:nvPr>
        </p:nvSpPr>
        <p:spPr bwMode="auto">
          <a:noFill/>
          <a:ln>
            <a:solidFill>
              <a:srgbClr val="000000"/>
            </a:solidFill>
            <a:miter lim="800000"/>
            <a:headEnd/>
            <a:tailEnd/>
          </a:ln>
        </p:spPr>
      </p:sp>
      <p:sp>
        <p:nvSpPr>
          <p:cNvPr id="2631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63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DB14BCD-4A30-4D56-9048-D5B7FF78D9DC}" type="slidenum">
              <a:rPr lang="en-US" smtClean="0"/>
              <a:pPr/>
              <a:t>87</a:t>
            </a:fld>
            <a:endParaRPr lang="en-US"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Slide Image Placeholder 1"/>
          <p:cNvSpPr>
            <a:spLocks noGrp="1" noRot="1" noChangeAspect="1" noTextEdit="1"/>
          </p:cNvSpPr>
          <p:nvPr>
            <p:ph type="sldImg"/>
          </p:nvPr>
        </p:nvSpPr>
        <p:spPr bwMode="auto">
          <a:noFill/>
          <a:ln>
            <a:solidFill>
              <a:srgbClr val="000000"/>
            </a:solidFill>
            <a:miter lim="800000"/>
            <a:headEnd/>
            <a:tailEnd/>
          </a:ln>
        </p:spPr>
      </p:sp>
      <p:sp>
        <p:nvSpPr>
          <p:cNvPr id="26419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641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6E962F3-F98D-400C-9C8F-2A59A40BF42B}" type="slidenum">
              <a:rPr lang="en-US" smtClean="0"/>
              <a:pPr/>
              <a:t>88</a:t>
            </a:fld>
            <a:endParaRPr lang="en-US"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Slide Image Placeholder 1"/>
          <p:cNvSpPr>
            <a:spLocks noGrp="1" noRot="1" noChangeAspect="1" noTextEdit="1"/>
          </p:cNvSpPr>
          <p:nvPr>
            <p:ph type="sldImg"/>
          </p:nvPr>
        </p:nvSpPr>
        <p:spPr bwMode="auto">
          <a:noFill/>
          <a:ln>
            <a:solidFill>
              <a:srgbClr val="000000"/>
            </a:solidFill>
            <a:miter lim="800000"/>
            <a:headEnd/>
            <a:tailEnd/>
          </a:ln>
        </p:spPr>
      </p:sp>
      <p:sp>
        <p:nvSpPr>
          <p:cNvPr id="265219" name="Notes Placeholder 2"/>
          <p:cNvSpPr>
            <a:spLocks noGrp="1"/>
          </p:cNvSpPr>
          <p:nvPr>
            <p:ph type="body" idx="1"/>
          </p:nvPr>
        </p:nvSpPr>
        <p:spPr bwMode="auto">
          <a:noFill/>
        </p:spPr>
        <p:txBody>
          <a:bodyPr wrap="square" numCol="1" anchor="t" anchorCtr="0" compatLnSpc="1">
            <a:prstTxWarp prst="textNoShape">
              <a:avLst/>
            </a:prstTxWarp>
            <a:normAutofit/>
          </a:bodyPr>
          <a:lstStyle/>
          <a:p>
            <a:pPr eaLnBrk="1" hangingPunct="1"/>
            <a:r>
              <a:rPr lang="en-US" sz="1400" dirty="0" smtClean="0"/>
              <a:t>The items listed are intended to be assessed through facility level DBAs.  For example, the seismic design category of the building structure should be a product of the analyses.  The approach to building and process confinement can be informed by the analyses.  If SC functions are needed, that could affect the need for SC power supply and the application of single failure criterion.  ETC.</a:t>
            </a:r>
          </a:p>
        </p:txBody>
      </p:sp>
      <p:sp>
        <p:nvSpPr>
          <p:cNvPr id="2652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4B4EF6D-4C3F-4760-9D35-21925500D068}" type="slidenum">
              <a:rPr lang="en-US" smtClean="0"/>
              <a:pPr/>
              <a:t>89</a:t>
            </a:fld>
            <a:endParaRPr lang="en-US"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Slide Image Placeholder 1"/>
          <p:cNvSpPr>
            <a:spLocks noGrp="1" noRot="1" noChangeAspect="1" noTextEdit="1"/>
          </p:cNvSpPr>
          <p:nvPr>
            <p:ph type="sldImg"/>
          </p:nvPr>
        </p:nvSpPr>
        <p:spPr bwMode="auto">
          <a:noFill/>
          <a:ln>
            <a:solidFill>
              <a:srgbClr val="000000"/>
            </a:solidFill>
            <a:miter lim="800000"/>
            <a:headEnd/>
            <a:tailEnd/>
          </a:ln>
        </p:spPr>
      </p:sp>
      <p:sp>
        <p:nvSpPr>
          <p:cNvPr id="26624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662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2D3DE85-A9A0-4BF9-B4FE-7E414AA310E8}" type="slidenum">
              <a:rPr lang="en-US" smtClean="0"/>
              <a:pPr/>
              <a:t>90</a:t>
            </a:fld>
            <a:endParaRPr lang="en-US"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Slide Image Placeholder 1"/>
          <p:cNvSpPr>
            <a:spLocks noGrp="1" noRot="1" noChangeAspect="1" noTextEdit="1"/>
          </p:cNvSpPr>
          <p:nvPr>
            <p:ph type="sldImg"/>
          </p:nvPr>
        </p:nvSpPr>
        <p:spPr bwMode="auto">
          <a:noFill/>
          <a:ln>
            <a:solidFill>
              <a:srgbClr val="000000"/>
            </a:solidFill>
            <a:miter lim="800000"/>
            <a:headEnd/>
            <a:tailEnd/>
          </a:ln>
        </p:spPr>
      </p:sp>
      <p:sp>
        <p:nvSpPr>
          <p:cNvPr id="2672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dirty="0" smtClean="0"/>
          </a:p>
        </p:txBody>
      </p:sp>
      <p:sp>
        <p:nvSpPr>
          <p:cNvPr id="2672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818A5FE-2D0B-4715-A4B7-7D59CF0690D8}" type="slidenum">
              <a:rPr lang="en-US" smtClean="0"/>
              <a:pPr/>
              <a:t>91</a:t>
            </a:fld>
            <a:endParaRPr lang="en-US"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Slide Image Placeholder 1"/>
          <p:cNvSpPr>
            <a:spLocks noGrp="1" noRot="1" noChangeAspect="1" noTextEdit="1"/>
          </p:cNvSpPr>
          <p:nvPr>
            <p:ph type="sldImg"/>
          </p:nvPr>
        </p:nvSpPr>
        <p:spPr bwMode="auto">
          <a:noFill/>
          <a:ln>
            <a:solidFill>
              <a:srgbClr val="000000"/>
            </a:solidFill>
            <a:miter lim="800000"/>
            <a:headEnd/>
            <a:tailEnd/>
          </a:ln>
        </p:spPr>
      </p:sp>
      <p:sp>
        <p:nvSpPr>
          <p:cNvPr id="2682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682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D937FFC-97B9-45E1-AB35-8503F6F6A007}" type="slidenum">
              <a:rPr lang="en-US" smtClean="0"/>
              <a:pPr/>
              <a:t>92</a:t>
            </a:fld>
            <a:endParaRPr lang="en-US"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Slide Image Placeholder 1"/>
          <p:cNvSpPr>
            <a:spLocks noGrp="1" noRot="1" noChangeAspect="1" noTextEdit="1"/>
          </p:cNvSpPr>
          <p:nvPr>
            <p:ph type="sldImg"/>
          </p:nvPr>
        </p:nvSpPr>
        <p:spPr bwMode="auto">
          <a:noFill/>
          <a:ln>
            <a:solidFill>
              <a:srgbClr val="000000"/>
            </a:solidFill>
            <a:miter lim="800000"/>
            <a:headEnd/>
            <a:tailEnd/>
          </a:ln>
        </p:spPr>
      </p:sp>
      <p:sp>
        <p:nvSpPr>
          <p:cNvPr id="269315"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r>
              <a:rPr lang="en-US" sz="1400" dirty="0" smtClean="0"/>
              <a:t>At conceptual design stage, it is expected that at least a facility layout and locations and quantities of MAR would be available to support DBAs.</a:t>
            </a:r>
          </a:p>
          <a:p>
            <a:pPr marL="241300" indent="-241300" eaLnBrk="1" hangingPunct="1"/>
            <a:endParaRPr lang="en-US" sz="1400" dirty="0" smtClean="0"/>
          </a:p>
          <a:p>
            <a:pPr marL="241300" indent="-241300" eaLnBrk="1" hangingPunct="1"/>
            <a:r>
              <a:rPr lang="en-US" sz="1400" dirty="0" smtClean="0"/>
              <a:t>These DBAs would assume accidents involving the MAR occur and the accident consequence levels (public and collocated worker) are used to classify preventative and </a:t>
            </a:r>
            <a:r>
              <a:rPr lang="en-US" sz="1400" dirty="0" err="1" smtClean="0"/>
              <a:t>mitigative</a:t>
            </a:r>
            <a:r>
              <a:rPr lang="en-US" sz="1400" dirty="0" smtClean="0"/>
              <a:t> SSCs as SC or SS.  They would also be used for seismic design  basis categorizations.</a:t>
            </a:r>
          </a:p>
        </p:txBody>
      </p:sp>
      <p:sp>
        <p:nvSpPr>
          <p:cNvPr id="2693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D164D7-AC34-4E1E-8112-B95060F39928}" type="slidenum">
              <a:rPr lang="en-US" smtClean="0"/>
              <a:pPr/>
              <a:t>93</a:t>
            </a:fld>
            <a:endParaRPr lang="en-US" smtClean="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Slide Image Placeholder 1"/>
          <p:cNvSpPr>
            <a:spLocks noGrp="1" noRot="1" noChangeAspect="1" noTextEdit="1"/>
          </p:cNvSpPr>
          <p:nvPr>
            <p:ph type="sldImg"/>
          </p:nvPr>
        </p:nvSpPr>
        <p:spPr bwMode="auto">
          <a:noFill/>
          <a:ln>
            <a:solidFill>
              <a:srgbClr val="000000"/>
            </a:solidFill>
            <a:miter lim="800000"/>
            <a:headEnd/>
            <a:tailEnd/>
          </a:ln>
        </p:spPr>
      </p:sp>
      <p:sp>
        <p:nvSpPr>
          <p:cNvPr id="27033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703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7305DAF-FC48-4DBD-82EB-730FC3B43375}" type="slidenum">
              <a:rPr lang="en-US" smtClean="0"/>
              <a:pPr/>
              <a:t>94</a:t>
            </a:fld>
            <a:endParaRPr lang="en-US" smtClean="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Slide Image Placeholder 1"/>
          <p:cNvSpPr>
            <a:spLocks noGrp="1" noRot="1" noChangeAspect="1" noTextEdit="1"/>
          </p:cNvSpPr>
          <p:nvPr>
            <p:ph type="sldImg"/>
          </p:nvPr>
        </p:nvSpPr>
        <p:spPr bwMode="auto">
          <a:noFill/>
          <a:ln>
            <a:solidFill>
              <a:srgbClr val="000000"/>
            </a:solidFill>
            <a:miter lim="800000"/>
            <a:headEnd/>
            <a:tailEnd/>
          </a:ln>
        </p:spPr>
      </p:sp>
      <p:sp>
        <p:nvSpPr>
          <p:cNvPr id="271363" name="Notes Placeholder 2"/>
          <p:cNvSpPr>
            <a:spLocks noGrp="1"/>
          </p:cNvSpPr>
          <p:nvPr>
            <p:ph type="body" idx="1"/>
          </p:nvPr>
        </p:nvSpPr>
        <p:spPr bwMode="auto">
          <a:noFill/>
        </p:spPr>
        <p:txBody>
          <a:bodyPr wrap="square" numCol="1" anchor="t" anchorCtr="0" compatLnSpc="1">
            <a:prstTxWarp prst="textNoShape">
              <a:avLst/>
            </a:prstTxWarp>
          </a:bodyPr>
          <a:lstStyle/>
          <a:p>
            <a:pPr marL="241300" indent="-241300" eaLnBrk="1" hangingPunct="1"/>
            <a:endParaRPr lang="en-US" smtClean="0"/>
          </a:p>
        </p:txBody>
      </p:sp>
      <p:sp>
        <p:nvSpPr>
          <p:cNvPr id="2713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C41D07A-1642-4EB6-A645-21DCD9E8FE5D}" type="slidenum">
              <a:rPr lang="en-US" smtClean="0"/>
              <a:pPr/>
              <a:t>95</a:t>
            </a:fld>
            <a:endParaRPr lang="en-US" smtClean="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Slide Image Placeholder 1"/>
          <p:cNvSpPr>
            <a:spLocks noGrp="1" noRot="1" noChangeAspect="1" noTextEdit="1"/>
          </p:cNvSpPr>
          <p:nvPr>
            <p:ph type="sldImg"/>
          </p:nvPr>
        </p:nvSpPr>
        <p:spPr bwMode="auto">
          <a:noFill/>
          <a:ln>
            <a:solidFill>
              <a:srgbClr val="000000"/>
            </a:solidFill>
            <a:miter lim="800000"/>
            <a:headEnd/>
            <a:tailEnd/>
          </a:ln>
        </p:spPr>
      </p:sp>
      <p:sp>
        <p:nvSpPr>
          <p:cNvPr id="2723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723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E93E27A-DD60-455C-AA51-05B1D1496DD2}" type="slidenum">
              <a:rPr lang="en-US" smtClean="0"/>
              <a:pPr/>
              <a:t>96</a:t>
            </a:fld>
            <a:endParaRPr lang="en-US" smtClean="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Slide Image Placeholder 1"/>
          <p:cNvSpPr>
            <a:spLocks noGrp="1" noRot="1" noChangeAspect="1" noTextEdit="1"/>
          </p:cNvSpPr>
          <p:nvPr>
            <p:ph type="sldImg"/>
          </p:nvPr>
        </p:nvSpPr>
        <p:spPr bwMode="auto">
          <a:noFill/>
          <a:ln>
            <a:solidFill>
              <a:srgbClr val="000000"/>
            </a:solidFill>
            <a:miter lim="800000"/>
            <a:headEnd/>
            <a:tailEnd/>
          </a:ln>
        </p:spPr>
      </p:sp>
      <p:sp>
        <p:nvSpPr>
          <p:cNvPr id="273411"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734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2896345-0A2A-44E0-BEFF-3058078BD69D}" type="slidenum">
              <a:rPr lang="en-US" smtClean="0"/>
              <a:pPr/>
              <a:t>97</a:t>
            </a:fld>
            <a:endParaRPr lang="en-US" smtClean="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Slide Image Placeholder 1"/>
          <p:cNvSpPr>
            <a:spLocks noGrp="1" noRot="1" noChangeAspect="1" noTextEdit="1"/>
          </p:cNvSpPr>
          <p:nvPr>
            <p:ph type="sldImg"/>
          </p:nvPr>
        </p:nvSpPr>
        <p:spPr bwMode="auto">
          <a:noFill/>
          <a:ln>
            <a:solidFill>
              <a:srgbClr val="000000"/>
            </a:solidFill>
            <a:miter lim="800000"/>
            <a:headEnd/>
            <a:tailEnd/>
          </a:ln>
        </p:spPr>
      </p:sp>
      <p:sp>
        <p:nvSpPr>
          <p:cNvPr id="3" name="Notes Placeholder 2"/>
          <p:cNvSpPr>
            <a:spLocks noGrp="1"/>
          </p:cNvSpPr>
          <p:nvPr>
            <p:ph type="body" idx="1"/>
          </p:nvPr>
        </p:nvSpPr>
        <p:spPr/>
        <p:txBody>
          <a:bodyPr>
            <a:normAutofit fontScale="92500" lnSpcReduction="10000"/>
          </a:bodyPr>
          <a:lstStyle/>
          <a:p>
            <a:pPr marL="352398" indent="-352398" eaLnBrk="1" hangingPunct="1">
              <a:lnSpc>
                <a:spcPct val="90000"/>
              </a:lnSpc>
              <a:buFont typeface="+mj-lt"/>
              <a:buAutoNum type="arabicPeriod"/>
              <a:defRPr/>
            </a:pPr>
            <a:r>
              <a:rPr lang="en-US" sz="1400" dirty="0" smtClean="0"/>
              <a:t>The safety in design process includes significant iterations between the design and safety disciplines. </a:t>
            </a:r>
          </a:p>
          <a:p>
            <a:pPr marL="352398" indent="-352398" eaLnBrk="1" hangingPunct="1">
              <a:lnSpc>
                <a:spcPct val="90000"/>
              </a:lnSpc>
              <a:buFont typeface="+mj-lt"/>
              <a:buAutoNum type="arabicPeriod"/>
              <a:defRPr/>
            </a:pPr>
            <a:r>
              <a:rPr lang="en-US" sz="1400" dirty="0" smtClean="0"/>
              <a:t>It has been said that, absent a defined process, these iterations require both disciplines knowing when they need to interact.  </a:t>
            </a:r>
          </a:p>
          <a:p>
            <a:pPr marL="352398" indent="-352398" eaLnBrk="1" hangingPunct="1">
              <a:lnSpc>
                <a:spcPct val="90000"/>
              </a:lnSpc>
              <a:buFont typeface="+mj-lt"/>
              <a:buAutoNum type="arabicPeriod"/>
              <a:defRPr/>
            </a:pPr>
            <a:r>
              <a:rPr lang="en-US" sz="1400" dirty="0" smtClean="0"/>
              <a:t>This slide is based on two factors.  One is  that any change introduces a new accident scenario or that </a:t>
            </a:r>
            <a:r>
              <a:rPr lang="en-US" sz="1400" dirty="0" err="1" smtClean="0"/>
              <a:t>i</a:t>
            </a:r>
            <a:r>
              <a:rPr lang="en-US" sz="1400" dirty="0" smtClean="0"/>
              <a:t> </a:t>
            </a:r>
            <a:r>
              <a:rPr lang="en-US" sz="1400" dirty="0" err="1" smtClean="0"/>
              <a:t>tmplies</a:t>
            </a:r>
            <a:r>
              <a:rPr lang="en-US" sz="1400" dirty="0" smtClean="0"/>
              <a:t> a change in the 5 factor formula for accident consequences.  Those factors are in the first column.  Examples of the types of design changes that might result in changes in these items are listed in the second column.</a:t>
            </a:r>
          </a:p>
          <a:p>
            <a:pPr marL="352398" indent="-352398" eaLnBrk="1" hangingPunct="1">
              <a:lnSpc>
                <a:spcPct val="90000"/>
              </a:lnSpc>
              <a:buFont typeface="+mj-lt"/>
              <a:buAutoNum type="arabicPeriod"/>
              <a:defRPr/>
            </a:pPr>
            <a:r>
              <a:rPr lang="en-US" sz="1400" dirty="0" smtClean="0"/>
              <a:t>The second factor is the impact of the design changes on factors that might change safety classifications or categorizations that in turn can change the design requirements (codes and standards; single failure criteria; power supply, etc.).  These impacts are shown in the third column and are common to each of the factors in the first column.   See STD-1189 section 6.4, where these items are listed as those requiring DOE approval if made after an approved PDSA. </a:t>
            </a:r>
          </a:p>
          <a:p>
            <a:pPr marL="352398" indent="-352398" eaLnBrk="1" hangingPunct="1">
              <a:lnSpc>
                <a:spcPct val="90000"/>
              </a:lnSpc>
              <a:buFont typeface="+mj-lt"/>
              <a:buAutoNum type="arabicPeriod"/>
              <a:defRPr/>
            </a:pPr>
            <a:r>
              <a:rPr lang="en-US" sz="1400" dirty="0" smtClean="0"/>
              <a:t>The design team and the safety analyst need to be sensitive to accident analysis processes broadly  and to the things that can impact it to ensure alignment.  Stress to the importance of alignment before CD package release.  Each group is accountable to communicate to ensure alignment. </a:t>
            </a:r>
            <a:br>
              <a:rPr lang="en-US" sz="1400" dirty="0" smtClean="0"/>
            </a:br>
            <a:r>
              <a:rPr lang="en-US" sz="1400" dirty="0" smtClean="0"/>
              <a:t/>
            </a:r>
            <a:br>
              <a:rPr lang="en-US" sz="1400" dirty="0" smtClean="0"/>
            </a:br>
            <a:r>
              <a:rPr lang="en-US" sz="1400" dirty="0" smtClean="0"/>
              <a:t> Basically anything that can drive changes across the columns needs to be communicated between the safety and design teams in real time (whoever generates the potential non-alignment) to ensure alignment.  This slide gives good examples of some things that can cause misalignments. </a:t>
            </a:r>
          </a:p>
        </p:txBody>
      </p:sp>
      <p:sp>
        <p:nvSpPr>
          <p:cNvPr id="2744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6594166-E615-47C3-95F3-9145572BDABF}" type="slidenum">
              <a:rPr lang="en-US" smtClean="0"/>
              <a:pPr/>
              <a:t>98</a:t>
            </a:fld>
            <a:endParaRPr lang="en-US" smtClean="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Slide Image Placeholder 1"/>
          <p:cNvSpPr>
            <a:spLocks noGrp="1" noRot="1" noChangeAspect="1" noTextEdit="1"/>
          </p:cNvSpPr>
          <p:nvPr>
            <p:ph type="sldImg"/>
          </p:nvPr>
        </p:nvSpPr>
        <p:spPr bwMode="auto">
          <a:noFill/>
          <a:ln>
            <a:solidFill>
              <a:srgbClr val="000000"/>
            </a:solidFill>
            <a:miter lim="800000"/>
            <a:headEnd/>
            <a:tailEnd/>
          </a:ln>
        </p:spPr>
      </p:sp>
      <p:sp>
        <p:nvSpPr>
          <p:cNvPr id="2754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O 413.3A requires that a QAP is developed and is applied to the project from its inception (during the Conceptual Design Phase).</a:t>
            </a:r>
          </a:p>
          <a:p>
            <a:pPr eaLnBrk="1" hangingPunct="1"/>
            <a:endParaRPr lang="en-US" sz="1400" smtClean="0"/>
          </a:p>
          <a:p>
            <a:pPr eaLnBrk="1" hangingPunct="1"/>
            <a:r>
              <a:rPr lang="en-US" sz="1400" smtClean="0"/>
              <a:t>The bullets in this slide are selected from STD-1189 Chapter 7, section 7.1 as being  QA activities essential for management of change in the design activities.</a:t>
            </a:r>
          </a:p>
          <a:p>
            <a:pPr eaLnBrk="1" hangingPunct="1"/>
            <a:endParaRPr lang="en-US" sz="1400" smtClean="0"/>
          </a:p>
          <a:p>
            <a:pPr eaLnBrk="1" hangingPunct="1"/>
            <a:r>
              <a:rPr lang="en-US" sz="1400" smtClean="0"/>
              <a:t>Configuration management/management of change is essential in keeping track of the flowdown of functional requirements to design documentation and keeping this information consistent with safety documentation.  Software tools are available to support this.</a:t>
            </a:r>
          </a:p>
          <a:p>
            <a:pPr eaLnBrk="1" hangingPunct="1"/>
            <a:endParaRPr lang="en-US" sz="1400" smtClean="0"/>
          </a:p>
          <a:p>
            <a:pPr eaLnBrk="1" hangingPunct="1"/>
            <a:r>
              <a:rPr lang="en-US" sz="1400" smtClean="0"/>
              <a:t>The safety design requirements of O 413.3A and the standards invoked in the associated guides (or alternatives to them) need to be put under design control.  Expect to demonstrate implementation.  See STD-1189 Appendix I  (format and content of PSDR/PDSA) Appendix B of that 1189 appendix.</a:t>
            </a:r>
          </a:p>
          <a:p>
            <a:pPr eaLnBrk="1" hangingPunct="1"/>
            <a:endParaRPr lang="en-US" sz="1400" smtClean="0"/>
          </a:p>
          <a:p>
            <a:pPr eaLnBrk="1" hangingPunct="1"/>
            <a:endParaRPr lang="en-US" sz="1400" smtClean="0"/>
          </a:p>
          <a:p>
            <a:pPr eaLnBrk="1" hangingPunct="1"/>
            <a:endParaRPr lang="en-US" sz="1400" smtClean="0"/>
          </a:p>
        </p:txBody>
      </p:sp>
      <p:sp>
        <p:nvSpPr>
          <p:cNvPr id="2754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ED0F6A8-3FC9-4D62-9815-869D4922ACEF}" type="slidenum">
              <a:rPr lang="en-US" smtClean="0"/>
              <a:pPr/>
              <a:t>99</a:t>
            </a:fld>
            <a:endParaRPr lang="en-US" smtClean="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Slide Image Placeholder 1"/>
          <p:cNvSpPr>
            <a:spLocks noGrp="1" noRot="1" noChangeAspect="1" noTextEdit="1"/>
          </p:cNvSpPr>
          <p:nvPr>
            <p:ph type="sldImg"/>
          </p:nvPr>
        </p:nvSpPr>
        <p:spPr bwMode="auto">
          <a:noFill/>
          <a:ln>
            <a:solidFill>
              <a:srgbClr val="000000"/>
            </a:solidFill>
            <a:miter lim="800000"/>
            <a:headEnd/>
            <a:tailEnd/>
          </a:ln>
        </p:spPr>
      </p:sp>
      <p:sp>
        <p:nvSpPr>
          <p:cNvPr id="2764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At one of the first 1189 writing team meetings members from contractor organizations said that one of the most valuable things to do in saving time and money for projects would be to set definitive and objective criteria for seismic design requirements and for Safety Significant SSC designation.</a:t>
            </a:r>
          </a:p>
          <a:p>
            <a:pPr eaLnBrk="1" hangingPunct="1"/>
            <a:endParaRPr lang="en-US" sz="1400" smtClean="0"/>
          </a:p>
          <a:p>
            <a:pPr eaLnBrk="1" hangingPunct="1"/>
            <a:r>
              <a:rPr lang="en-US" sz="1400" smtClean="0"/>
              <a:t>This Appendix does that related to radiological hazards.</a:t>
            </a:r>
          </a:p>
        </p:txBody>
      </p:sp>
      <p:sp>
        <p:nvSpPr>
          <p:cNvPr id="2764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A31FE36-D57E-439A-9218-2787DCC9F2A1}" type="slidenum">
              <a:rPr lang="en-US" smtClean="0"/>
              <a:pPr/>
              <a:t>100</a:t>
            </a:fld>
            <a:endParaRPr lang="en-US" smtClean="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Slide Image Placeholder 1"/>
          <p:cNvSpPr>
            <a:spLocks noGrp="1" noRot="1" noChangeAspect="1" noTextEdit="1"/>
          </p:cNvSpPr>
          <p:nvPr>
            <p:ph type="sldImg"/>
          </p:nvPr>
        </p:nvSpPr>
        <p:spPr bwMode="auto">
          <a:noFill/>
          <a:ln>
            <a:solidFill>
              <a:srgbClr val="000000"/>
            </a:solidFill>
            <a:miter lim="800000"/>
            <a:headEnd/>
            <a:tailEnd/>
          </a:ln>
        </p:spPr>
      </p:sp>
      <p:sp>
        <p:nvSpPr>
          <p:cNvPr id="27750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Objective criteria in Appendix A replace subjective criteria (e.g., significant exposure)  previously associated with Safety Significant classification and NPH seismic criteria.</a:t>
            </a:r>
          </a:p>
          <a:p>
            <a:pPr eaLnBrk="1" hangingPunct="1"/>
            <a:endParaRPr lang="en-US" sz="1400" smtClean="0"/>
          </a:p>
          <a:p>
            <a:pPr eaLnBrk="1" hangingPunct="1"/>
            <a:r>
              <a:rPr lang="en-US" sz="1400" smtClean="0"/>
              <a:t>Subjective criteria often generated conflicts between designers and reviewers (eye of the beholder problem).</a:t>
            </a:r>
          </a:p>
        </p:txBody>
      </p:sp>
      <p:sp>
        <p:nvSpPr>
          <p:cNvPr id="27750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62DE38B-209E-4822-BE59-1D27D2EC756D}" type="slidenum">
              <a:rPr lang="en-US" smtClean="0"/>
              <a:pPr/>
              <a:t>101</a:t>
            </a:fld>
            <a:endParaRPr lang="en-US" smtClean="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Slide Image Placeholder 1"/>
          <p:cNvSpPr>
            <a:spLocks noGrp="1" noRot="1" noChangeAspect="1" noTextEdit="1"/>
          </p:cNvSpPr>
          <p:nvPr>
            <p:ph type="sldImg"/>
          </p:nvPr>
        </p:nvSpPr>
        <p:spPr bwMode="auto">
          <a:noFill/>
          <a:ln>
            <a:solidFill>
              <a:srgbClr val="000000"/>
            </a:solidFill>
            <a:miter lim="800000"/>
            <a:headEnd/>
            <a:tailEnd/>
          </a:ln>
        </p:spPr>
      </p:sp>
      <p:sp>
        <p:nvSpPr>
          <p:cNvPr id="2785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785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7BF184B-E34E-463D-9960-959E13AF76F6}" type="slidenum">
              <a:rPr lang="en-US" smtClean="0"/>
              <a:pPr/>
              <a:t>102</a:t>
            </a:fld>
            <a:endParaRPr lang="en-US" smtClean="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Slide Image Placeholder 1"/>
          <p:cNvSpPr>
            <a:spLocks noGrp="1" noRot="1" noChangeAspect="1" noTextEdit="1"/>
          </p:cNvSpPr>
          <p:nvPr>
            <p:ph type="sldImg"/>
          </p:nvPr>
        </p:nvSpPr>
        <p:spPr bwMode="auto">
          <a:noFill/>
          <a:ln>
            <a:solidFill>
              <a:srgbClr val="000000"/>
            </a:solidFill>
            <a:miter lim="800000"/>
            <a:headEnd/>
            <a:tailEnd/>
          </a:ln>
        </p:spPr>
      </p:sp>
      <p:sp>
        <p:nvSpPr>
          <p:cNvPr id="2795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DOE modification for implementation of ANS 2.26 is related to:</a:t>
            </a:r>
          </a:p>
          <a:p>
            <a:pPr eaLnBrk="1" hangingPunct="1">
              <a:buFontTx/>
              <a:buChar char="•"/>
            </a:pPr>
            <a:r>
              <a:rPr lang="en-US" sz="1400" smtClean="0"/>
              <a:t> use of conservative instead of mean values for unmitigated accident analyses</a:t>
            </a:r>
          </a:p>
          <a:p>
            <a:pPr eaLnBrk="1" hangingPunct="1">
              <a:buFontTx/>
              <a:buChar char="•"/>
            </a:pPr>
            <a:r>
              <a:rPr lang="en-US" sz="1400" smtClean="0"/>
              <a:t> limited to radioactive releases vs. rad and chemical for ANS 2.26</a:t>
            </a:r>
          </a:p>
          <a:p>
            <a:pPr eaLnBrk="1" hangingPunct="1">
              <a:buFontTx/>
              <a:buChar char="•"/>
            </a:pPr>
            <a:r>
              <a:rPr lang="en-US" sz="1400" smtClean="0"/>
              <a:t> rad dose criteria for SDCs differ from Appendix A of ANS 2.26 (a non mandatory part of the Standard)</a:t>
            </a:r>
          </a:p>
          <a:p>
            <a:pPr eaLnBrk="1" hangingPunct="1">
              <a:buFontTx/>
              <a:buChar char="•"/>
            </a:pPr>
            <a:r>
              <a:rPr lang="en-US" sz="1400" smtClean="0"/>
              <a:t> worker is defined as the collocated worker at 100 m (ANS 2.26 does not differentiate between facility and collocated worker)</a:t>
            </a:r>
          </a:p>
          <a:p>
            <a:pPr eaLnBrk="1" hangingPunct="1"/>
            <a:endParaRPr lang="en-US" sz="1400" smtClean="0"/>
          </a:p>
          <a:p>
            <a:pPr eaLnBrk="1" hangingPunct="1"/>
            <a:endParaRPr lang="en-US" sz="1400" smtClean="0"/>
          </a:p>
          <a:p>
            <a:pPr eaLnBrk="1" hangingPunct="1"/>
            <a:r>
              <a:rPr lang="en-US" sz="1400" smtClean="0"/>
              <a:t>ASCE 43-05 uses input from ANS 2.26 (SDC and LS) to provide requirements for determining design basis seismic loading (from ANS 2.27 and 2.29) and prescribes design criteria that are tied to Limit States.</a:t>
            </a:r>
          </a:p>
          <a:p>
            <a:pPr eaLnBrk="1" hangingPunct="1"/>
            <a:endParaRPr lang="en-US" sz="1400" smtClean="0"/>
          </a:p>
        </p:txBody>
      </p:sp>
      <p:sp>
        <p:nvSpPr>
          <p:cNvPr id="2795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3844926-3535-4742-BF79-7899EB513F95}" type="slidenum">
              <a:rPr lang="en-US" smtClean="0"/>
              <a:pPr/>
              <a:t>103</a:t>
            </a:fld>
            <a:endParaRPr lang="en-US" smtClean="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Slide Image Placeholder 1"/>
          <p:cNvSpPr>
            <a:spLocks noGrp="1" noRot="1" noChangeAspect="1" noTextEdit="1"/>
          </p:cNvSpPr>
          <p:nvPr>
            <p:ph type="sldImg"/>
          </p:nvPr>
        </p:nvSpPr>
        <p:spPr bwMode="auto">
          <a:noFill/>
          <a:ln>
            <a:solidFill>
              <a:srgbClr val="000000"/>
            </a:solidFill>
            <a:miter lim="800000"/>
            <a:headEnd/>
            <a:tailEnd/>
          </a:ln>
        </p:spPr>
      </p:sp>
      <p:sp>
        <p:nvSpPr>
          <p:cNvPr id="2805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These criteria (and other criteria in this Appendix and in Appendices B and C) are not “health based.”  That is, they do not represent acceptable levels of accident consequences.</a:t>
            </a:r>
          </a:p>
          <a:p>
            <a:pPr eaLnBrk="1" hangingPunct="1"/>
            <a:endParaRPr lang="en-US" sz="1400" smtClean="0"/>
          </a:p>
          <a:p>
            <a:pPr eaLnBrk="1" hangingPunct="1"/>
            <a:r>
              <a:rPr lang="en-US" sz="1400" smtClean="0"/>
              <a:t>These criteria are for safety classification purposes only.  The safety classifications lead to design requirements and codes and standards to be applied in design.</a:t>
            </a:r>
          </a:p>
        </p:txBody>
      </p:sp>
      <p:sp>
        <p:nvSpPr>
          <p:cNvPr id="2805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4F071F1-96D7-4D15-B72D-ABC8E205F002}" type="slidenum">
              <a:rPr lang="en-US" smtClean="0"/>
              <a:pPr/>
              <a:t>104</a:t>
            </a:fld>
            <a:endParaRPr lang="en-US" smtClean="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Slide Image Placeholder 1"/>
          <p:cNvSpPr>
            <a:spLocks noGrp="1" noRot="1" noChangeAspect="1" noTextEdit="1"/>
          </p:cNvSpPr>
          <p:nvPr>
            <p:ph type="sldImg"/>
          </p:nvPr>
        </p:nvSpPr>
        <p:spPr bwMode="auto">
          <a:noFill/>
          <a:ln>
            <a:solidFill>
              <a:srgbClr val="000000"/>
            </a:solidFill>
            <a:miter lim="800000"/>
            <a:headEnd/>
            <a:tailEnd/>
          </a:ln>
        </p:spPr>
      </p:sp>
      <p:sp>
        <p:nvSpPr>
          <p:cNvPr id="28160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Stiffness is defined as resistance of an elastic body to deformation by an applied force.  </a:t>
            </a:r>
          </a:p>
          <a:p>
            <a:pPr eaLnBrk="1" hangingPunct="1"/>
            <a:r>
              <a:rPr lang="en-US" sz="1400" smtClean="0"/>
              <a:t>K = force/displacement</a:t>
            </a:r>
          </a:p>
          <a:p>
            <a:pPr eaLnBrk="1" hangingPunct="1"/>
            <a:r>
              <a:rPr lang="en-US" sz="1400" smtClean="0"/>
              <a:t>It is an extensive (vs. intensive) property of a solid body.</a:t>
            </a:r>
          </a:p>
          <a:p>
            <a:pPr eaLnBrk="1" hangingPunct="1"/>
            <a:endParaRPr lang="en-US" sz="1400" smtClean="0"/>
          </a:p>
          <a:p>
            <a:pPr eaLnBrk="1" hangingPunct="1"/>
            <a:r>
              <a:rPr lang="en-US" sz="1400" smtClean="0"/>
              <a:t>Note that the elastic modulus is a material property (intensive property).</a:t>
            </a:r>
          </a:p>
          <a:p>
            <a:pPr eaLnBrk="1" hangingPunct="1"/>
            <a:endParaRPr lang="en-US" sz="1400" smtClean="0"/>
          </a:p>
          <a:p>
            <a:pPr eaLnBrk="1" hangingPunct="1"/>
            <a:r>
              <a:rPr lang="en-US" sz="1400" smtClean="0"/>
              <a:t>Strength : when a material has reached the limit of its strength, it has the option of either deformation or fracture.</a:t>
            </a:r>
          </a:p>
          <a:p>
            <a:pPr eaLnBrk="1" hangingPunct="1"/>
            <a:endParaRPr lang="en-US" sz="1400" smtClean="0"/>
          </a:p>
          <a:p>
            <a:pPr eaLnBrk="1" hangingPunct="1"/>
            <a:r>
              <a:rPr lang="en-US" sz="1400" smtClean="0"/>
              <a:t>Source: Wikipedia</a:t>
            </a:r>
          </a:p>
          <a:p>
            <a:pPr eaLnBrk="1" hangingPunct="1"/>
            <a:endParaRPr lang="en-US" smtClean="0"/>
          </a:p>
        </p:txBody>
      </p:sp>
      <p:sp>
        <p:nvSpPr>
          <p:cNvPr id="2816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2D9A2A7-3A49-48C4-9A6D-2BD03C318AA1}" type="slidenum">
              <a:rPr lang="en-US" smtClean="0"/>
              <a:pPr/>
              <a:t>105</a:t>
            </a:fld>
            <a:endParaRPr lang="en-US" smtClean="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Slide Image Placeholder 1"/>
          <p:cNvSpPr>
            <a:spLocks noGrp="1" noRot="1" noChangeAspect="1" noTextEdit="1"/>
          </p:cNvSpPr>
          <p:nvPr>
            <p:ph type="sldImg"/>
          </p:nvPr>
        </p:nvSpPr>
        <p:spPr bwMode="auto">
          <a:noFill/>
          <a:ln>
            <a:solidFill>
              <a:srgbClr val="000000"/>
            </a:solidFill>
            <a:miter lim="800000"/>
            <a:headEnd/>
            <a:tailEnd/>
          </a:ln>
        </p:spPr>
      </p:sp>
      <p:sp>
        <p:nvSpPr>
          <p:cNvPr id="2826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Ruggedness is related to the extent a structure is deformed with increasing design loads.  Components have a range of ruggedness because of design factors used for various types of structural elements and applications.</a:t>
            </a:r>
          </a:p>
          <a:p>
            <a:pPr eaLnBrk="1" hangingPunct="1"/>
            <a:endParaRPr lang="en-US" sz="1400" smtClean="0"/>
          </a:p>
          <a:p>
            <a:pPr eaLnBrk="1" hangingPunct="1"/>
            <a:r>
              <a:rPr lang="en-US" sz="1400" smtClean="0"/>
              <a:t>Components in SDC 5D can take the most severe seismic load without permanent deformation.  Those in SDC 1A deform under minimum load but retain their structural stability.</a:t>
            </a:r>
          </a:p>
          <a:p>
            <a:pPr eaLnBrk="1" hangingPunct="1"/>
            <a:endParaRPr lang="en-US" sz="1400" smtClean="0"/>
          </a:p>
          <a:p>
            <a:pPr eaLnBrk="1" hangingPunct="1"/>
            <a:endParaRPr lang="en-US" sz="1400" smtClean="0"/>
          </a:p>
          <a:p>
            <a:pPr eaLnBrk="1" hangingPunct="1"/>
            <a:r>
              <a:rPr lang="en-US" sz="1400" smtClean="0"/>
              <a:t>Seismic Ruggedness Factor was introduced to conceptually compare ANS 2.26/ASCE 43 seismic design provisions with those of STD 1020.</a:t>
            </a:r>
          </a:p>
          <a:p>
            <a:pPr eaLnBrk="1" hangingPunct="1"/>
            <a:endParaRPr lang="en-US" sz="1400" smtClean="0"/>
          </a:p>
          <a:p>
            <a:pPr eaLnBrk="1" hangingPunct="1"/>
            <a:r>
              <a:rPr lang="en-US" sz="1400" smtClean="0"/>
              <a:t>Ref.: Seismic Design Implications Working Group Report to DOE HS-21, dated February 2, 2007</a:t>
            </a:r>
          </a:p>
        </p:txBody>
      </p:sp>
      <p:sp>
        <p:nvSpPr>
          <p:cNvPr id="2826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3C054165-3729-4741-BBAB-40B4D31D335D}" type="slidenum">
              <a:rPr lang="en-US" smtClean="0"/>
              <a:pPr/>
              <a:t>106</a:t>
            </a:fld>
            <a:endParaRPr lang="en-US" smtClean="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Slide Image Placeholder 1"/>
          <p:cNvSpPr>
            <a:spLocks noGrp="1" noRot="1" noChangeAspect="1" noTextEdit="1"/>
          </p:cNvSpPr>
          <p:nvPr>
            <p:ph type="sldImg"/>
          </p:nvPr>
        </p:nvSpPr>
        <p:spPr bwMode="auto">
          <a:noFill/>
          <a:ln>
            <a:solidFill>
              <a:srgbClr val="000000"/>
            </a:solidFill>
            <a:miter lim="800000"/>
            <a:headEnd/>
            <a:tailEnd/>
          </a:ln>
        </p:spPr>
      </p:sp>
      <p:sp>
        <p:nvSpPr>
          <p:cNvPr id="2836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836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8D56CA9-4768-4C93-8076-3D94DA8D809D}" type="slidenum">
              <a:rPr lang="en-US" smtClean="0"/>
              <a:pPr/>
              <a:t>107</a:t>
            </a:fld>
            <a:endParaRPr lang="en-US" smtClean="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Slide Image Placeholder 1"/>
          <p:cNvSpPr>
            <a:spLocks noGrp="1" noRot="1" noChangeAspect="1" noTextEdit="1"/>
          </p:cNvSpPr>
          <p:nvPr>
            <p:ph type="sldImg"/>
          </p:nvPr>
        </p:nvSpPr>
        <p:spPr bwMode="auto">
          <a:noFill/>
          <a:ln>
            <a:solidFill>
              <a:srgbClr val="000000"/>
            </a:solidFill>
            <a:miter lim="800000"/>
            <a:headEnd/>
            <a:tailEnd/>
          </a:ln>
        </p:spPr>
      </p:sp>
      <p:sp>
        <p:nvSpPr>
          <p:cNvPr id="28467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3009 guidance (public):</a:t>
            </a:r>
          </a:p>
          <a:p>
            <a:pPr eaLnBrk="1" hangingPunct="1"/>
            <a:r>
              <a:rPr lang="en-US" sz="1400" smtClean="0"/>
              <a:t>Unmitigated release calculation:</a:t>
            </a:r>
          </a:p>
          <a:p>
            <a:pPr eaLnBrk="1" hangingPunct="1"/>
            <a:r>
              <a:rPr lang="en-US" sz="1400" smtClean="0"/>
              <a:t>	Take no credit for active safety features</a:t>
            </a:r>
          </a:p>
          <a:p>
            <a:pPr eaLnBrk="1" hangingPunct="1"/>
            <a:r>
              <a:rPr lang="en-US" sz="1400" smtClean="0"/>
              <a:t>	Take credit for passive safety features where they can be 	shown to survive accident conditions</a:t>
            </a:r>
          </a:p>
          <a:p>
            <a:pPr eaLnBrk="1" hangingPunct="1"/>
            <a:r>
              <a:rPr lang="en-US" sz="1400" smtClean="0"/>
              <a:t>	Leakpath factor (LPF) = 1</a:t>
            </a:r>
          </a:p>
          <a:p>
            <a:pPr eaLnBrk="1" hangingPunct="1"/>
            <a:r>
              <a:rPr lang="en-US" sz="1400" smtClean="0"/>
              <a:t>Source Term = MAR * DR * ARF (includes respirable fraction) * LPF</a:t>
            </a:r>
          </a:p>
          <a:p>
            <a:pPr eaLnBrk="1" hangingPunct="1"/>
            <a:endParaRPr lang="en-US" sz="1400" smtClean="0"/>
          </a:p>
          <a:p>
            <a:pPr eaLnBrk="1" hangingPunct="1"/>
            <a:r>
              <a:rPr lang="en-US" sz="1400" smtClean="0"/>
              <a:t>Dose =  ST * X/Q * DCF</a:t>
            </a:r>
          </a:p>
          <a:p>
            <a:pPr eaLnBrk="1" hangingPunct="1"/>
            <a:endParaRPr lang="en-US" sz="1400" smtClean="0"/>
          </a:p>
          <a:p>
            <a:pPr eaLnBrk="1" hangingPunct="1"/>
            <a:r>
              <a:rPr lang="en-US" sz="1400" smtClean="0"/>
              <a:t>NUREG 1.145 for determining 95</a:t>
            </a:r>
            <a:r>
              <a:rPr lang="en-US" sz="1400" baseline="30000" smtClean="0"/>
              <a:t>th</a:t>
            </a:r>
            <a:r>
              <a:rPr lang="en-US" sz="1400" smtClean="0"/>
              <a:t> percentile value of X/Q</a:t>
            </a:r>
          </a:p>
          <a:p>
            <a:pPr eaLnBrk="1" hangingPunct="1"/>
            <a:endParaRPr lang="en-US" sz="1400" smtClean="0"/>
          </a:p>
          <a:p>
            <a:pPr eaLnBrk="1" hangingPunct="1"/>
            <a:r>
              <a:rPr lang="en-US" sz="1400" smtClean="0"/>
              <a:t>X/Q is concentration divided by source term.  Correlations are based on experimental observations under varying atmospheric conditions.</a:t>
            </a:r>
          </a:p>
          <a:p>
            <a:pPr eaLnBrk="1" hangingPunct="1"/>
            <a:endParaRPr lang="en-US" sz="1400" smtClean="0"/>
          </a:p>
          <a:p>
            <a:pPr eaLnBrk="1" hangingPunct="1"/>
            <a:endParaRPr lang="en-US" sz="1400" smtClean="0"/>
          </a:p>
        </p:txBody>
      </p:sp>
      <p:sp>
        <p:nvSpPr>
          <p:cNvPr id="2846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CD73679-96D2-4DAC-A79E-F220A71E48F4}" type="slidenum">
              <a:rPr lang="en-US" smtClean="0"/>
              <a:pPr/>
              <a:t>108</a:t>
            </a:fld>
            <a:endParaRPr lang="en-US" smtClean="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Slide Image Placeholder 1"/>
          <p:cNvSpPr>
            <a:spLocks noGrp="1" noRot="1" noChangeAspect="1" noTextEdit="1"/>
          </p:cNvSpPr>
          <p:nvPr>
            <p:ph type="sldImg"/>
          </p:nvPr>
        </p:nvSpPr>
        <p:spPr bwMode="auto">
          <a:noFill/>
          <a:ln>
            <a:solidFill>
              <a:srgbClr val="000000"/>
            </a:solidFill>
            <a:miter lim="800000"/>
            <a:headEnd/>
            <a:tailEnd/>
          </a:ln>
        </p:spPr>
      </p:sp>
      <p:sp>
        <p:nvSpPr>
          <p:cNvPr id="2856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Collocated Worker</a:t>
            </a:r>
          </a:p>
          <a:p>
            <a:pPr eaLnBrk="1" hangingPunct="1"/>
            <a:r>
              <a:rPr lang="en-US" sz="1400" smtClean="0"/>
              <a:t>Objective criteria.  Only MAR and ARF are variables; X/Q is specified in order to move discussions from atmospheric dispersion modeling to safety.</a:t>
            </a:r>
          </a:p>
          <a:p>
            <a:pPr eaLnBrk="1" hangingPunct="1"/>
            <a:endParaRPr lang="en-US" sz="1400" smtClean="0"/>
          </a:p>
          <a:p>
            <a:pPr eaLnBrk="1" hangingPunct="1"/>
            <a:endParaRPr lang="en-US" sz="1400" smtClean="0"/>
          </a:p>
          <a:p>
            <a:pPr eaLnBrk="1" hangingPunct="1"/>
            <a:r>
              <a:rPr lang="en-US" sz="1400" smtClean="0"/>
              <a:t>3009 guidance:</a:t>
            </a:r>
          </a:p>
          <a:p>
            <a:pPr eaLnBrk="1" hangingPunct="1"/>
            <a:r>
              <a:rPr lang="en-US" sz="1400" smtClean="0"/>
              <a:t>Unmitigated release calculation:</a:t>
            </a:r>
          </a:p>
          <a:p>
            <a:pPr eaLnBrk="1" hangingPunct="1"/>
            <a:r>
              <a:rPr lang="en-US" sz="1400" smtClean="0"/>
              <a:t>	Take no credit for active safety features</a:t>
            </a:r>
          </a:p>
          <a:p>
            <a:pPr eaLnBrk="1" hangingPunct="1"/>
            <a:r>
              <a:rPr lang="en-US" sz="1400" smtClean="0"/>
              <a:t>	Take credit for passive safety features where they can be 	shown to survive accident conditions</a:t>
            </a:r>
          </a:p>
          <a:p>
            <a:pPr eaLnBrk="1" hangingPunct="1"/>
            <a:r>
              <a:rPr lang="en-US" sz="1400" smtClean="0"/>
              <a:t>	Leakpath factor  = 1</a:t>
            </a:r>
          </a:p>
          <a:p>
            <a:pPr eaLnBrk="1" hangingPunct="1"/>
            <a:r>
              <a:rPr lang="en-US" sz="1400" smtClean="0"/>
              <a:t>Source Term = MAR * DR * ARF (includes respirable fraction) * LPF</a:t>
            </a:r>
          </a:p>
          <a:p>
            <a:pPr eaLnBrk="1" hangingPunct="1"/>
            <a:endParaRPr lang="en-US" sz="1400" smtClean="0"/>
          </a:p>
          <a:p>
            <a:pPr eaLnBrk="1" hangingPunct="1"/>
            <a:r>
              <a:rPr lang="en-US" sz="1400" smtClean="0"/>
              <a:t>Dose =  ST * X/Q * DCF</a:t>
            </a:r>
          </a:p>
          <a:p>
            <a:pPr eaLnBrk="1" hangingPunct="1"/>
            <a:endParaRPr lang="en-US" sz="1400" smtClean="0"/>
          </a:p>
          <a:p>
            <a:pPr eaLnBrk="1" hangingPunct="1"/>
            <a:endParaRPr lang="en-US" sz="1400" smtClean="0"/>
          </a:p>
        </p:txBody>
      </p:sp>
      <p:sp>
        <p:nvSpPr>
          <p:cNvPr id="2857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03FE916-1A9C-416F-98ED-07B0055BC71C}" type="slidenum">
              <a:rPr lang="en-US" smtClean="0"/>
              <a:pPr/>
              <a:t>109</a:t>
            </a:fld>
            <a:endParaRPr lang="en-US" smtClean="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Slide Image Placeholder 1"/>
          <p:cNvSpPr>
            <a:spLocks noGrp="1" noRot="1" noChangeAspect="1" noTextEdit="1"/>
          </p:cNvSpPr>
          <p:nvPr>
            <p:ph type="sldImg"/>
          </p:nvPr>
        </p:nvSpPr>
        <p:spPr bwMode="auto">
          <a:noFill/>
          <a:ln>
            <a:solidFill>
              <a:srgbClr val="000000"/>
            </a:solidFill>
            <a:miter lim="800000"/>
            <a:headEnd/>
            <a:tailEnd/>
          </a:ln>
        </p:spPr>
      </p:sp>
      <p:sp>
        <p:nvSpPr>
          <p:cNvPr id="2867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867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A292F27-DC5A-4FCD-BE54-98D3310A993F}" type="slidenum">
              <a:rPr lang="en-US" smtClean="0"/>
              <a:pPr/>
              <a:t>110</a:t>
            </a:fld>
            <a:endParaRPr lang="en-US" smtClean="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Slide Image Placeholder 1"/>
          <p:cNvSpPr>
            <a:spLocks noGrp="1" noRot="1" noChangeAspect="1" noTextEdit="1"/>
          </p:cNvSpPr>
          <p:nvPr>
            <p:ph type="sldImg"/>
          </p:nvPr>
        </p:nvSpPr>
        <p:spPr bwMode="auto">
          <a:noFill/>
          <a:ln>
            <a:solidFill>
              <a:srgbClr val="000000"/>
            </a:solidFill>
            <a:miter lim="800000"/>
            <a:headEnd/>
            <a:tailEnd/>
          </a:ln>
        </p:spPr>
      </p:sp>
      <p:sp>
        <p:nvSpPr>
          <p:cNvPr id="2877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877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1B56102-B3CD-4CF3-ABA1-F8A2047954D2}" type="slidenum">
              <a:rPr lang="en-US" smtClean="0"/>
              <a:pPr/>
              <a:t>111</a:t>
            </a:fld>
            <a:endParaRPr lang="en-US" smtClean="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Slide Image Placeholder 1"/>
          <p:cNvSpPr>
            <a:spLocks noGrp="1" noRot="1" noChangeAspect="1" noTextEdit="1"/>
          </p:cNvSpPr>
          <p:nvPr>
            <p:ph type="sldImg"/>
          </p:nvPr>
        </p:nvSpPr>
        <p:spPr bwMode="auto">
          <a:noFill/>
          <a:ln>
            <a:solidFill>
              <a:srgbClr val="000000"/>
            </a:solidFill>
            <a:miter lim="800000"/>
            <a:headEnd/>
            <a:tailEnd/>
          </a:ln>
        </p:spPr>
      </p:sp>
      <p:sp>
        <p:nvSpPr>
          <p:cNvPr id="2887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887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12F6A8C-2E9B-443E-B249-0DD9943C3DCB}" type="slidenum">
              <a:rPr lang="en-US" smtClean="0"/>
              <a:pPr/>
              <a:t>112</a:t>
            </a:fld>
            <a:endParaRPr lang="en-US" smtClean="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Slide Image Placeholder 1"/>
          <p:cNvSpPr>
            <a:spLocks noGrp="1" noRot="1" noChangeAspect="1" noTextEdit="1"/>
          </p:cNvSpPr>
          <p:nvPr>
            <p:ph type="sldImg"/>
          </p:nvPr>
        </p:nvSpPr>
        <p:spPr bwMode="auto">
          <a:noFill/>
          <a:ln>
            <a:solidFill>
              <a:srgbClr val="000000"/>
            </a:solidFill>
            <a:miter lim="800000"/>
            <a:headEnd/>
            <a:tailEnd/>
          </a:ln>
        </p:spPr>
      </p:sp>
      <p:sp>
        <p:nvSpPr>
          <p:cNvPr id="2897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Note: NNSA and EM conditions for concurrence with App A of 1189 were that App A not include chemical hazards and that chem hazard criteria now in App B be non mandatory.</a:t>
            </a:r>
          </a:p>
        </p:txBody>
      </p:sp>
      <p:sp>
        <p:nvSpPr>
          <p:cNvPr id="2897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60F7297-4D4C-4116-AF26-9D2F43135017}" type="slidenum">
              <a:rPr lang="en-US" smtClean="0"/>
              <a:pPr/>
              <a:t>113</a:t>
            </a:fld>
            <a:endParaRPr lang="en-US" smtClean="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818" name="Slide Image Placeholder 1"/>
          <p:cNvSpPr>
            <a:spLocks noGrp="1" noRot="1" noChangeAspect="1" noTextEdit="1"/>
          </p:cNvSpPr>
          <p:nvPr>
            <p:ph type="sldImg"/>
          </p:nvPr>
        </p:nvSpPr>
        <p:spPr bwMode="auto">
          <a:noFill/>
          <a:ln>
            <a:solidFill>
              <a:srgbClr val="000000"/>
            </a:solidFill>
            <a:miter lim="800000"/>
            <a:headEnd/>
            <a:tailEnd/>
          </a:ln>
        </p:spPr>
      </p:sp>
      <p:sp>
        <p:nvSpPr>
          <p:cNvPr id="29081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Screening guidance is given in Section B.1 (p B-1) of STD-1189.</a:t>
            </a:r>
          </a:p>
        </p:txBody>
      </p:sp>
      <p:sp>
        <p:nvSpPr>
          <p:cNvPr id="2908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A54E98E1-BD5B-474A-8799-9059812DC55A}" type="slidenum">
              <a:rPr lang="en-US" smtClean="0"/>
              <a:pPr/>
              <a:t>114</a:t>
            </a:fld>
            <a:endParaRPr lang="en-US" smtClean="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Slide Image Placeholder 1"/>
          <p:cNvSpPr>
            <a:spLocks noGrp="1" noRot="1" noChangeAspect="1" noTextEdit="1"/>
          </p:cNvSpPr>
          <p:nvPr>
            <p:ph type="sldImg"/>
          </p:nvPr>
        </p:nvSpPr>
        <p:spPr bwMode="auto">
          <a:noFill/>
          <a:ln>
            <a:solidFill>
              <a:srgbClr val="000000"/>
            </a:solidFill>
            <a:miter lim="800000"/>
            <a:headEnd/>
            <a:tailEnd/>
          </a:ln>
        </p:spPr>
      </p:sp>
      <p:sp>
        <p:nvSpPr>
          <p:cNvPr id="2918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Note guidance to use mean (instead of reasonably conservative) values of analysis parameters.</a:t>
            </a:r>
          </a:p>
        </p:txBody>
      </p:sp>
      <p:sp>
        <p:nvSpPr>
          <p:cNvPr id="29184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9AACE8D-F08C-4101-A0AA-167110ED279E}" type="slidenum">
              <a:rPr lang="en-US" smtClean="0"/>
              <a:pPr/>
              <a:t>115</a:t>
            </a:fld>
            <a:endParaRPr lang="en-US" smtClean="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Slide Image Placeholder 1"/>
          <p:cNvSpPr>
            <a:spLocks noGrp="1" noRot="1" noChangeAspect="1" noTextEdit="1"/>
          </p:cNvSpPr>
          <p:nvPr>
            <p:ph type="sldImg"/>
          </p:nvPr>
        </p:nvSpPr>
        <p:spPr bwMode="auto">
          <a:noFill/>
          <a:ln>
            <a:solidFill>
              <a:srgbClr val="000000"/>
            </a:solidFill>
            <a:miter lim="800000"/>
            <a:headEnd/>
            <a:tailEnd/>
          </a:ln>
        </p:spPr>
      </p:sp>
      <p:sp>
        <p:nvSpPr>
          <p:cNvPr id="292867" name="Notes Placeholder 2"/>
          <p:cNvSpPr>
            <a:spLocks noGrp="1"/>
          </p:cNvSpPr>
          <p:nvPr>
            <p:ph type="body" idx="1"/>
          </p:nvPr>
        </p:nvSpPr>
        <p:spPr bwMode="auto">
          <a:noFill/>
        </p:spPr>
        <p:txBody>
          <a:bodyPr wrap="square" numCol="1" anchor="t" anchorCtr="0" compatLnSpc="1">
            <a:prstTxWarp prst="textNoShape">
              <a:avLst/>
            </a:prstTxWarp>
          </a:bodyPr>
          <a:lstStyle/>
          <a:p>
            <a:pPr marL="990600" lvl="1" indent="-533400" eaLnBrk="1" hangingPunct="1"/>
            <a:r>
              <a:rPr lang="en-US" smtClean="0"/>
              <a:t>Acute Exposure Guideline Levels (AEGL, EPA) </a:t>
            </a:r>
          </a:p>
          <a:p>
            <a:pPr marL="990600" lvl="1" indent="-533400" eaLnBrk="1" hangingPunct="1"/>
            <a:r>
              <a:rPr lang="en-US" smtClean="0"/>
              <a:t>Emergency Response Planning Guidelines (ERPG, AIHA) </a:t>
            </a:r>
          </a:p>
          <a:p>
            <a:pPr marL="990600" lvl="1" indent="-533400" eaLnBrk="1" hangingPunct="1"/>
            <a:r>
              <a:rPr lang="en-US" smtClean="0"/>
              <a:t>Temporary Emergency Exposure Limits (TEEL, DOE) </a:t>
            </a:r>
          </a:p>
          <a:p>
            <a:pPr eaLnBrk="1" hangingPunct="1"/>
            <a:endParaRPr lang="en-US" smtClean="0"/>
          </a:p>
        </p:txBody>
      </p:sp>
      <p:sp>
        <p:nvSpPr>
          <p:cNvPr id="2928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089C261-AF14-46D3-978F-B863F9D2F6D6}" type="slidenum">
              <a:rPr lang="en-US" smtClean="0"/>
              <a:pPr/>
              <a:t>116</a:t>
            </a:fld>
            <a:endParaRPr lang="en-US" smtClean="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Slide Image Placeholder 1"/>
          <p:cNvSpPr>
            <a:spLocks noGrp="1" noRot="1" noChangeAspect="1" noTextEdit="1"/>
          </p:cNvSpPr>
          <p:nvPr>
            <p:ph type="sldImg"/>
          </p:nvPr>
        </p:nvSpPr>
        <p:spPr bwMode="auto">
          <a:noFill/>
          <a:ln>
            <a:solidFill>
              <a:srgbClr val="000000"/>
            </a:solidFill>
            <a:miter lim="800000"/>
            <a:headEnd/>
            <a:tailEnd/>
          </a:ln>
        </p:spPr>
      </p:sp>
      <p:sp>
        <p:nvSpPr>
          <p:cNvPr id="2938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buFontTx/>
              <a:buChar char="•"/>
            </a:pPr>
            <a:r>
              <a:rPr lang="en-US" smtClean="0"/>
              <a:t>NNSA: </a:t>
            </a:r>
          </a:p>
          <a:p>
            <a:pPr lvl="1" eaLnBrk="1" hangingPunct="1">
              <a:buFontTx/>
              <a:buChar char="•"/>
            </a:pPr>
            <a:r>
              <a:rPr lang="en-US" smtClean="0"/>
              <a:t> SS SSC onsite or offsite; SDC 3 for chemical hazards or PC-3 for non seismic NPH</a:t>
            </a:r>
          </a:p>
          <a:p>
            <a:pPr lvl="1" eaLnBrk="1" hangingPunct="1">
              <a:buFontTx/>
              <a:buChar char="•"/>
            </a:pPr>
            <a:r>
              <a:rPr lang="en-US" smtClean="0"/>
              <a:t> Facility worker remaining: SDC 3 for chemical hazards	</a:t>
            </a:r>
          </a:p>
          <a:p>
            <a:pPr lvl="1" eaLnBrk="1" hangingPunct="1">
              <a:buFontTx/>
              <a:buChar char="•"/>
            </a:pPr>
            <a:r>
              <a:rPr lang="en-US" smtClean="0"/>
              <a:t> Facility worker prompt life threatening: consider SDC 3	</a:t>
            </a:r>
          </a:p>
          <a:p>
            <a:pPr lvl="1" eaLnBrk="1" hangingPunct="1">
              <a:buFontTx/>
              <a:buChar char="•"/>
            </a:pPr>
            <a:r>
              <a:rPr lang="en-US" smtClean="0"/>
              <a:t> SS SSC for facility worker protection (otherwise) SDC 2	</a:t>
            </a:r>
          </a:p>
          <a:p>
            <a:pPr lvl="1" eaLnBrk="1" hangingPunct="1"/>
            <a:endParaRPr lang="en-US" smtClean="0"/>
          </a:p>
          <a:p>
            <a:pPr lvl="1" eaLnBrk="1" hangingPunct="1"/>
            <a:endParaRPr lang="en-US" smtClean="0"/>
          </a:p>
          <a:p>
            <a:pPr eaLnBrk="1" hangingPunct="1">
              <a:buFontTx/>
              <a:buChar char="•"/>
            </a:pPr>
            <a:r>
              <a:rPr lang="en-US" smtClean="0"/>
              <a:t> EM:</a:t>
            </a:r>
          </a:p>
          <a:p>
            <a:pPr lvl="1" eaLnBrk="1" hangingPunct="1">
              <a:buFontTx/>
              <a:buChar char="•"/>
            </a:pPr>
            <a:r>
              <a:rPr lang="en-US" smtClean="0"/>
              <a:t> Equivalent level of safety for seismic and non seismic NPH events (rad)</a:t>
            </a:r>
          </a:p>
          <a:p>
            <a:pPr lvl="1" eaLnBrk="1" hangingPunct="1">
              <a:buFontTx/>
              <a:buChar char="•"/>
            </a:pPr>
            <a:r>
              <a:rPr lang="en-US" smtClean="0"/>
              <a:t> Atmospheric dispersion for non seismic NPH event same as App A, except for tornado/high wind events, including chemical releases</a:t>
            </a:r>
          </a:p>
          <a:p>
            <a:pPr lvl="1" eaLnBrk="1" hangingPunct="1">
              <a:buFontTx/>
              <a:buChar char="•"/>
            </a:pPr>
            <a:r>
              <a:rPr lang="en-US" smtClean="0"/>
              <a:t> SS SSC onsite or offsite; SDC 3 for chemical hazards or PC-3 for non seismic NPH, but with C/B exceptions leading to PC-2</a:t>
            </a:r>
          </a:p>
        </p:txBody>
      </p:sp>
      <p:sp>
        <p:nvSpPr>
          <p:cNvPr id="2938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7BA92CC-06BA-42E1-BAB7-BA07380BEDF7}" type="slidenum">
              <a:rPr lang="en-US" smtClean="0"/>
              <a:pPr/>
              <a:t>117</a:t>
            </a:fld>
            <a:endParaRPr lang="en-US" smtClean="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Slide Image Placeholder 1"/>
          <p:cNvSpPr>
            <a:spLocks noGrp="1" noRot="1" noChangeAspect="1" noTextEdit="1"/>
          </p:cNvSpPr>
          <p:nvPr>
            <p:ph type="sldImg"/>
          </p:nvPr>
        </p:nvSpPr>
        <p:spPr bwMode="auto">
          <a:noFill/>
          <a:ln>
            <a:solidFill>
              <a:srgbClr val="000000"/>
            </a:solidFill>
            <a:miter lim="800000"/>
            <a:headEnd/>
            <a:tailEnd/>
          </a:ln>
        </p:spPr>
      </p:sp>
      <p:sp>
        <p:nvSpPr>
          <p:cNvPr id="2949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949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5C48A38-810B-493D-95B4-86F86703DB5A}" type="slidenum">
              <a:rPr lang="en-US" smtClean="0"/>
              <a:pPr/>
              <a:t>118</a:t>
            </a:fld>
            <a:endParaRPr lang="en-US" smtClean="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Slide Image Placeholder 1"/>
          <p:cNvSpPr>
            <a:spLocks noGrp="1" noRot="1" noChangeAspect="1" noTextEdit="1"/>
          </p:cNvSpPr>
          <p:nvPr>
            <p:ph type="sldImg"/>
          </p:nvPr>
        </p:nvSpPr>
        <p:spPr bwMode="auto">
          <a:noFill/>
          <a:ln>
            <a:solidFill>
              <a:srgbClr val="000000"/>
            </a:solidFill>
            <a:miter lim="800000"/>
            <a:headEnd/>
            <a:tailEnd/>
          </a:ln>
        </p:spPr>
      </p:sp>
      <p:sp>
        <p:nvSpPr>
          <p:cNvPr id="2959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959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04B4C86-C0CE-42D7-8A01-87A5C48820C3}" type="slidenum">
              <a:rPr lang="en-US" smtClean="0"/>
              <a:pPr/>
              <a:t>119</a:t>
            </a:fld>
            <a:endParaRPr lang="en-US" smtClean="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62" name="Slide Image Placeholder 1"/>
          <p:cNvSpPr>
            <a:spLocks noGrp="1" noRot="1" noChangeAspect="1" noTextEdit="1"/>
          </p:cNvSpPr>
          <p:nvPr>
            <p:ph type="sldImg"/>
          </p:nvPr>
        </p:nvSpPr>
        <p:spPr bwMode="auto">
          <a:noFill/>
          <a:ln>
            <a:solidFill>
              <a:srgbClr val="000000"/>
            </a:solidFill>
            <a:miter lim="800000"/>
            <a:headEnd/>
            <a:tailEnd/>
          </a:ln>
        </p:spPr>
      </p:sp>
      <p:sp>
        <p:nvSpPr>
          <p:cNvPr id="29696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2969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3E8EF4C-27B1-423B-9464-AA9444AF40CE}" type="slidenum">
              <a:rPr lang="en-US" smtClean="0"/>
              <a:pPr/>
              <a:t>120</a:t>
            </a:fld>
            <a:endParaRPr lang="en-US" smtClean="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Slide Image Placeholder 1"/>
          <p:cNvSpPr>
            <a:spLocks noGrp="1" noRot="1" noChangeAspect="1" noTextEdit="1"/>
          </p:cNvSpPr>
          <p:nvPr>
            <p:ph type="sldImg"/>
          </p:nvPr>
        </p:nvSpPr>
        <p:spPr bwMode="auto">
          <a:noFill/>
          <a:ln>
            <a:solidFill>
              <a:srgbClr val="000000"/>
            </a:solidFill>
            <a:miter lim="800000"/>
            <a:headEnd/>
            <a:tailEnd/>
          </a:ln>
        </p:spPr>
      </p:sp>
      <p:sp>
        <p:nvSpPr>
          <p:cNvPr id="2979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For worker safety, Safety Significant SSCs are those whose failure is estimated to result in a prompt worker fatality or serious injuries or significant radiological or chemical exposures to workers. </a:t>
            </a:r>
          </a:p>
          <a:p>
            <a:pPr eaLnBrk="1" hangingPunct="1"/>
            <a:endParaRPr lang="en-US" sz="1400" smtClean="0"/>
          </a:p>
          <a:p>
            <a:pPr eaLnBrk="1" hangingPunct="1"/>
            <a:r>
              <a:rPr lang="en-US" sz="1400" smtClean="0"/>
              <a:t>Appendix C provides guidance on related hazards analyses and what might be considered “significant” in the context of facility worker exposures.</a:t>
            </a:r>
          </a:p>
        </p:txBody>
      </p:sp>
      <p:sp>
        <p:nvSpPr>
          <p:cNvPr id="2979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A79E272-4B16-4242-89B3-0707FD7991DC}" type="slidenum">
              <a:rPr lang="en-US" smtClean="0"/>
              <a:pPr/>
              <a:t>121</a:t>
            </a:fld>
            <a:endParaRPr lang="en-US" smtClean="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Slide Image Placeholder 1"/>
          <p:cNvSpPr>
            <a:spLocks noGrp="1" noRot="1" noChangeAspect="1" noTextEdit="1"/>
          </p:cNvSpPr>
          <p:nvPr>
            <p:ph type="sldImg"/>
          </p:nvPr>
        </p:nvSpPr>
        <p:spPr bwMode="auto">
          <a:noFill/>
          <a:ln>
            <a:solidFill>
              <a:srgbClr val="000000"/>
            </a:solidFill>
            <a:miter lim="800000"/>
            <a:headEnd/>
            <a:tailEnd/>
          </a:ln>
        </p:spPr>
      </p:sp>
      <p:sp>
        <p:nvSpPr>
          <p:cNvPr id="2990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990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CB368443-1D29-425C-BE1A-EF6F6D6F20D2}" type="slidenum">
              <a:rPr lang="en-US" smtClean="0"/>
              <a:pPr/>
              <a:t>122</a:t>
            </a:fld>
            <a:endParaRPr lang="en-US" smtClean="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034" name="Slide Image Placeholder 1"/>
          <p:cNvSpPr>
            <a:spLocks noGrp="1" noRot="1" noChangeAspect="1" noTextEdit="1"/>
          </p:cNvSpPr>
          <p:nvPr>
            <p:ph type="sldImg"/>
          </p:nvPr>
        </p:nvSpPr>
        <p:spPr bwMode="auto">
          <a:noFill/>
          <a:ln>
            <a:solidFill>
              <a:srgbClr val="000000"/>
            </a:solidFill>
            <a:miter lim="800000"/>
            <a:headEnd/>
            <a:tailEnd/>
          </a:ln>
        </p:spPr>
      </p:sp>
      <p:sp>
        <p:nvSpPr>
          <p:cNvPr id="3000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000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BC99B0B9-BBA1-4C5C-8B67-EF5EB7ABFD67}" type="slidenum">
              <a:rPr lang="en-US" smtClean="0"/>
              <a:pPr/>
              <a:t>123</a:t>
            </a:fld>
            <a:endParaRPr lang="en-US" smtClean="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058" name="Slide Image Placeholder 1"/>
          <p:cNvSpPr>
            <a:spLocks noGrp="1" noRot="1" noChangeAspect="1" noTextEdit="1"/>
          </p:cNvSpPr>
          <p:nvPr>
            <p:ph type="sldImg"/>
          </p:nvPr>
        </p:nvSpPr>
        <p:spPr bwMode="auto">
          <a:noFill/>
          <a:ln>
            <a:solidFill>
              <a:srgbClr val="000000"/>
            </a:solidFill>
            <a:miter lim="800000"/>
            <a:headEnd/>
            <a:tailEnd/>
          </a:ln>
        </p:spPr>
      </p:sp>
      <p:sp>
        <p:nvSpPr>
          <p:cNvPr id="30105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010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E5B2CD3-0B79-4CFB-8EBC-60F0A66A4E67}" type="slidenum">
              <a:rPr lang="en-US" smtClean="0"/>
              <a:pPr/>
              <a:t>124</a:t>
            </a:fld>
            <a:endParaRPr lang="en-US" smtClean="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082" name="Slide Image Placeholder 1"/>
          <p:cNvSpPr>
            <a:spLocks noGrp="1" noRot="1" noChangeAspect="1" noTextEdit="1"/>
          </p:cNvSpPr>
          <p:nvPr>
            <p:ph type="sldImg"/>
          </p:nvPr>
        </p:nvSpPr>
        <p:spPr bwMode="auto">
          <a:noFill/>
          <a:ln>
            <a:solidFill>
              <a:srgbClr val="000000"/>
            </a:solidFill>
            <a:miter lim="800000"/>
            <a:headEnd/>
            <a:tailEnd/>
          </a:ln>
        </p:spPr>
      </p:sp>
      <p:sp>
        <p:nvSpPr>
          <p:cNvPr id="30208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0208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29FC545-5CB2-4319-92CD-A2CA916993C5}" type="slidenum">
              <a:rPr lang="en-US" smtClean="0"/>
              <a:pPr/>
              <a:t>125</a:t>
            </a:fld>
            <a:endParaRPr lang="en-US" smtClean="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310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F64B859-40BD-47D6-805F-1C4A709B9AAD}" type="slidenum">
              <a:rPr lang="en-US" smtClean="0"/>
              <a:pPr/>
              <a:t>126</a:t>
            </a:fld>
            <a:endParaRPr lang="en-US" smtClean="0"/>
          </a:p>
        </p:txBody>
      </p:sp>
      <p:sp>
        <p:nvSpPr>
          <p:cNvPr id="3031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3031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marL="241300" indent="-241300" eaLnBrk="1" hangingPunct="1"/>
            <a:endParaRPr lang="en-US" smtClean="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130" name="Slide Image Placeholder 1"/>
          <p:cNvSpPr>
            <a:spLocks noGrp="1" noRot="1" noChangeAspect="1" noTextEdit="1"/>
          </p:cNvSpPr>
          <p:nvPr>
            <p:ph type="sldImg"/>
          </p:nvPr>
        </p:nvSpPr>
        <p:spPr bwMode="auto">
          <a:noFill/>
          <a:ln>
            <a:solidFill>
              <a:srgbClr val="000000"/>
            </a:solidFill>
            <a:miter lim="800000"/>
            <a:headEnd/>
            <a:tailEnd/>
          </a:ln>
        </p:spPr>
      </p:sp>
      <p:sp>
        <p:nvSpPr>
          <p:cNvPr id="30413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Note: Because a simple modification could come under O 413.3A (cost greater than 20 million), this figure is not completely accurate.  There should be a route into the diamond asking if 413.3 applies from simple modification.</a:t>
            </a:r>
          </a:p>
        </p:txBody>
      </p:sp>
      <p:sp>
        <p:nvSpPr>
          <p:cNvPr id="30413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489C403-7E97-4EEA-A249-C5E66867AF1F}" type="slidenum">
              <a:rPr lang="en-US" smtClean="0"/>
              <a:pPr/>
              <a:t>127</a:t>
            </a:fld>
            <a:endParaRPr lang="en-US" smtClean="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Slide Image Placeholder 1"/>
          <p:cNvSpPr>
            <a:spLocks noGrp="1" noRot="1" noChangeAspect="1" noTextEdit="1"/>
          </p:cNvSpPr>
          <p:nvPr>
            <p:ph type="sldImg"/>
          </p:nvPr>
        </p:nvSpPr>
        <p:spPr bwMode="auto">
          <a:noFill/>
          <a:ln>
            <a:solidFill>
              <a:srgbClr val="000000"/>
            </a:solidFill>
            <a:miter lim="800000"/>
            <a:headEnd/>
            <a:tailEnd/>
          </a:ln>
        </p:spPr>
      </p:sp>
      <p:sp>
        <p:nvSpPr>
          <p:cNvPr id="30515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0515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D904799F-F3E5-40D8-8ACC-08F84D343750}" type="slidenum">
              <a:rPr lang="en-US" smtClean="0"/>
              <a:pPr/>
              <a:t>128</a:t>
            </a:fld>
            <a:endParaRPr lang="en-US" smtClean="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178" name="Slide Image Placeholder 1"/>
          <p:cNvSpPr>
            <a:spLocks noGrp="1" noRot="1" noChangeAspect="1" noTextEdit="1"/>
          </p:cNvSpPr>
          <p:nvPr>
            <p:ph type="sldImg"/>
          </p:nvPr>
        </p:nvSpPr>
        <p:spPr bwMode="auto">
          <a:noFill/>
          <a:ln>
            <a:solidFill>
              <a:srgbClr val="000000"/>
            </a:solidFill>
            <a:miter lim="800000"/>
            <a:headEnd/>
            <a:tailEnd/>
          </a:ln>
        </p:spPr>
      </p:sp>
      <p:sp>
        <p:nvSpPr>
          <p:cNvPr id="30617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0618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6B57C48D-0804-4FFE-A7DE-73503D8873F9}" type="slidenum">
              <a:rPr lang="en-US" smtClean="0"/>
              <a:pPr/>
              <a:t>129</a:t>
            </a:fld>
            <a:endParaRPr lang="en-US" smtClean="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02" name="Slide Image Placeholder 1"/>
          <p:cNvSpPr>
            <a:spLocks noGrp="1" noRot="1" noChangeAspect="1" noTextEdit="1"/>
          </p:cNvSpPr>
          <p:nvPr>
            <p:ph type="sldImg"/>
          </p:nvPr>
        </p:nvSpPr>
        <p:spPr bwMode="auto">
          <a:noFill/>
          <a:ln>
            <a:solidFill>
              <a:srgbClr val="000000"/>
            </a:solidFill>
            <a:miter lim="800000"/>
            <a:headEnd/>
            <a:tailEnd/>
          </a:ln>
        </p:spPr>
      </p:sp>
      <p:sp>
        <p:nvSpPr>
          <p:cNvPr id="307203"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0720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B2B33B8-C680-498C-86DC-79F5A9FD09AA}" type="slidenum">
              <a:rPr lang="en-US" smtClean="0"/>
              <a:pPr/>
              <a:t>130</a:t>
            </a:fld>
            <a:endParaRPr lang="en-US" smtClean="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226" name="Slide Image Placeholder 1"/>
          <p:cNvSpPr>
            <a:spLocks noGrp="1" noRot="1" noChangeAspect="1" noTextEdit="1"/>
          </p:cNvSpPr>
          <p:nvPr>
            <p:ph type="sldImg"/>
          </p:nvPr>
        </p:nvSpPr>
        <p:spPr bwMode="auto">
          <a:noFill/>
          <a:ln>
            <a:solidFill>
              <a:srgbClr val="000000"/>
            </a:solidFill>
            <a:miter lim="800000"/>
            <a:headEnd/>
            <a:tailEnd/>
          </a:ln>
        </p:spPr>
      </p:sp>
      <p:sp>
        <p:nvSpPr>
          <p:cNvPr id="30822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0822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A142BC-0D5A-4015-A183-B29ABACB25F2}" type="slidenum">
              <a:rPr lang="en-US" smtClean="0"/>
              <a:pPr/>
              <a:t>131</a:t>
            </a:fld>
            <a:endParaRPr lang="en-US" smtClean="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250" name="Slide Image Placeholder 1"/>
          <p:cNvSpPr>
            <a:spLocks noGrp="1" noRot="1" noChangeAspect="1" noTextEdit="1"/>
          </p:cNvSpPr>
          <p:nvPr>
            <p:ph type="sldImg"/>
          </p:nvPr>
        </p:nvSpPr>
        <p:spPr bwMode="auto">
          <a:noFill/>
          <a:ln>
            <a:solidFill>
              <a:srgbClr val="000000"/>
            </a:solidFill>
            <a:miter lim="800000"/>
            <a:headEnd/>
            <a:tailEnd/>
          </a:ln>
        </p:spPr>
      </p:sp>
      <p:sp>
        <p:nvSpPr>
          <p:cNvPr id="30925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These criteria are presented in the Standard on pages 77 and 78 along with a discussion of each.</a:t>
            </a:r>
          </a:p>
          <a:p>
            <a:pPr eaLnBrk="1" hangingPunct="1"/>
            <a:endParaRPr lang="en-US" sz="1400" smtClean="0"/>
          </a:p>
          <a:p>
            <a:pPr eaLnBrk="1" hangingPunct="1"/>
            <a:r>
              <a:rPr lang="en-US" sz="1400" smtClean="0"/>
              <a:t>Examples of application of the criteria are contained in Appendix J of the Standard.</a:t>
            </a:r>
          </a:p>
          <a:p>
            <a:pPr eaLnBrk="1" hangingPunct="1"/>
            <a:endParaRPr lang="en-US" sz="1400" smtClean="0"/>
          </a:p>
          <a:p>
            <a:pPr eaLnBrk="1" hangingPunct="1"/>
            <a:r>
              <a:rPr lang="en-US" sz="1400" smtClean="0"/>
              <a:t>No one criterion is controlling.  It is a judgment driven process.</a:t>
            </a:r>
          </a:p>
          <a:p>
            <a:pPr eaLnBrk="1" hangingPunct="1"/>
            <a:endParaRPr lang="en-US" sz="1400" smtClean="0"/>
          </a:p>
          <a:p>
            <a:pPr eaLnBrk="1" hangingPunct="1"/>
            <a:r>
              <a:rPr lang="en-US" sz="1400" smtClean="0"/>
              <a:t>It may be useful to work through one of the examples in Appendix J</a:t>
            </a:r>
          </a:p>
        </p:txBody>
      </p:sp>
      <p:sp>
        <p:nvSpPr>
          <p:cNvPr id="30925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F9682A0A-20D6-4298-8D9E-98771EB819EC}" type="slidenum">
              <a:rPr lang="en-US" smtClean="0"/>
              <a:pPr/>
              <a:t>132</a:t>
            </a:fld>
            <a:endParaRPr lang="en-US" smtClean="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274" name="Slide Image Placeholder 1"/>
          <p:cNvSpPr>
            <a:spLocks noGrp="1" noRot="1" noChangeAspect="1" noTextEdit="1"/>
          </p:cNvSpPr>
          <p:nvPr>
            <p:ph type="sldImg"/>
          </p:nvPr>
        </p:nvSpPr>
        <p:spPr bwMode="auto">
          <a:noFill/>
          <a:ln>
            <a:solidFill>
              <a:srgbClr val="000000"/>
            </a:solidFill>
            <a:miter lim="800000"/>
            <a:headEnd/>
            <a:tailEnd/>
          </a:ln>
        </p:spPr>
      </p:sp>
      <p:sp>
        <p:nvSpPr>
          <p:cNvPr id="31027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1027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613B0B0-9B21-4665-A0B2-4AC27A07E5B8}" type="slidenum">
              <a:rPr lang="en-US" smtClean="0"/>
              <a:pPr/>
              <a:t>133</a:t>
            </a:fld>
            <a:endParaRPr lang="en-US" smtClean="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1298" name="Slide Image Placeholder 1"/>
          <p:cNvSpPr>
            <a:spLocks noGrp="1" noRot="1" noChangeAspect="1" noTextEdit="1"/>
          </p:cNvSpPr>
          <p:nvPr>
            <p:ph type="sldImg"/>
          </p:nvPr>
        </p:nvSpPr>
        <p:spPr bwMode="auto">
          <a:noFill/>
          <a:ln>
            <a:solidFill>
              <a:srgbClr val="000000"/>
            </a:solidFill>
            <a:miter lim="800000"/>
            <a:headEnd/>
            <a:tailEnd/>
          </a:ln>
        </p:spPr>
      </p:sp>
      <p:sp>
        <p:nvSpPr>
          <p:cNvPr id="31129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1130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86D35B1A-CF93-4140-94E5-E6B4ECA678A6}" type="slidenum">
              <a:rPr lang="en-US" smtClean="0"/>
              <a:pPr/>
              <a:t>134</a:t>
            </a:fld>
            <a:endParaRPr lang="en-US" smtClean="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322" name="Slide Image Placeholder 1"/>
          <p:cNvSpPr>
            <a:spLocks noGrp="1" noRot="1" noChangeAspect="1" noTextEdit="1"/>
          </p:cNvSpPr>
          <p:nvPr>
            <p:ph type="sldImg"/>
          </p:nvPr>
        </p:nvSpPr>
        <p:spPr bwMode="auto">
          <a:noFill/>
          <a:ln>
            <a:solidFill>
              <a:srgbClr val="000000"/>
            </a:solidFill>
            <a:miter lim="800000"/>
            <a:headEnd/>
            <a:tailEnd/>
          </a:ln>
        </p:spPr>
      </p:sp>
      <p:sp>
        <p:nvSpPr>
          <p:cNvPr id="31232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z="1400" smtClean="0"/>
          </a:p>
        </p:txBody>
      </p:sp>
      <p:sp>
        <p:nvSpPr>
          <p:cNvPr id="31232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30A28FB-1FBF-4D97-A31F-C4241BF341AD}" type="slidenum">
              <a:rPr lang="en-US" smtClean="0"/>
              <a:pPr/>
              <a:t>135</a:t>
            </a:fld>
            <a:endParaRPr lang="en-US" smtClean="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346" name="Slide Image Placeholder 1"/>
          <p:cNvSpPr>
            <a:spLocks noGrp="1" noRot="1" noChangeAspect="1" noTextEdit="1"/>
          </p:cNvSpPr>
          <p:nvPr>
            <p:ph type="sldImg"/>
          </p:nvPr>
        </p:nvSpPr>
        <p:spPr bwMode="auto">
          <a:noFill/>
          <a:ln>
            <a:solidFill>
              <a:srgbClr val="000000"/>
            </a:solidFill>
            <a:miter lim="800000"/>
            <a:headEnd/>
            <a:tailEnd/>
          </a:ln>
        </p:spPr>
      </p:sp>
      <p:sp>
        <p:nvSpPr>
          <p:cNvPr id="31334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1334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549C90C1-B53F-4E31-ACBE-DF8F6C688F6E}" type="slidenum">
              <a:rPr lang="en-US" smtClean="0"/>
              <a:pPr/>
              <a:t>136</a:t>
            </a:fld>
            <a:endParaRPr lang="en-US" smtClean="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4370" name="Slide Image Placeholder 1"/>
          <p:cNvSpPr>
            <a:spLocks noGrp="1" noRot="1" noChangeAspect="1" noTextEdit="1"/>
          </p:cNvSpPr>
          <p:nvPr>
            <p:ph type="sldImg"/>
          </p:nvPr>
        </p:nvSpPr>
        <p:spPr bwMode="auto">
          <a:noFill/>
          <a:ln>
            <a:solidFill>
              <a:srgbClr val="000000"/>
            </a:solidFill>
            <a:miter lim="800000"/>
            <a:headEnd/>
            <a:tailEnd/>
          </a:ln>
        </p:spPr>
      </p:sp>
      <p:sp>
        <p:nvSpPr>
          <p:cNvPr id="31437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143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2F574C9-0FE4-4956-AB6E-4E01570D59C7}" type="slidenum">
              <a:rPr lang="en-US" smtClean="0"/>
              <a:pPr/>
              <a:t>137</a:t>
            </a:fld>
            <a:endParaRPr lang="en-US" smtClean="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394" name="Slide Image Placeholder 1"/>
          <p:cNvSpPr>
            <a:spLocks noGrp="1" noRot="1" noChangeAspect="1" noTextEdit="1"/>
          </p:cNvSpPr>
          <p:nvPr>
            <p:ph type="sldImg"/>
          </p:nvPr>
        </p:nvSpPr>
        <p:spPr bwMode="auto">
          <a:noFill/>
          <a:ln>
            <a:solidFill>
              <a:srgbClr val="000000"/>
            </a:solidFill>
            <a:miter lim="800000"/>
            <a:headEnd/>
            <a:tailEnd/>
          </a:ln>
        </p:spPr>
      </p:sp>
      <p:sp>
        <p:nvSpPr>
          <p:cNvPr id="31539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1539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21B81DB0-15CD-42BC-8B13-1617164A3247}" type="slidenum">
              <a:rPr lang="en-US" smtClean="0"/>
              <a:pPr/>
              <a:t>138</a:t>
            </a:fld>
            <a:endParaRPr lang="en-US" smtClean="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Slide Image Placeholder 1"/>
          <p:cNvSpPr>
            <a:spLocks noGrp="1" noRot="1" noChangeAspect="1" noTextEdit="1"/>
          </p:cNvSpPr>
          <p:nvPr>
            <p:ph type="sldImg"/>
          </p:nvPr>
        </p:nvSpPr>
        <p:spPr bwMode="auto">
          <a:noFill/>
          <a:ln>
            <a:solidFill>
              <a:srgbClr val="000000"/>
            </a:solidFill>
            <a:miter lim="800000"/>
            <a:headEnd/>
            <a:tailEnd/>
          </a:ln>
        </p:spPr>
      </p:sp>
      <p:sp>
        <p:nvSpPr>
          <p:cNvPr id="3164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1642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3B84AB2-41FD-446D-AECA-7AAB41BCA853}" type="slidenum">
              <a:rPr lang="en-US" smtClean="0"/>
              <a:pPr/>
              <a:t>139</a:t>
            </a:fld>
            <a:endParaRPr lang="en-US" smtClean="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Slide Image Placeholder 1"/>
          <p:cNvSpPr>
            <a:spLocks noGrp="1" noRot="1" noChangeAspect="1" noTextEdit="1"/>
          </p:cNvSpPr>
          <p:nvPr>
            <p:ph type="sldImg"/>
          </p:nvPr>
        </p:nvSpPr>
        <p:spPr bwMode="auto">
          <a:noFill/>
          <a:ln>
            <a:solidFill>
              <a:srgbClr val="000000"/>
            </a:solidFill>
            <a:miter lim="800000"/>
            <a:headEnd/>
            <a:tailEnd/>
          </a:ln>
        </p:spPr>
      </p:sp>
      <p:sp>
        <p:nvSpPr>
          <p:cNvPr id="31744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208900" name="Slide Number Placeholder 3"/>
          <p:cNvSpPr txBox="1">
            <a:spLocks noGrp="1"/>
          </p:cNvSpPr>
          <p:nvPr/>
        </p:nvSpPr>
        <p:spPr bwMode="auto">
          <a:xfrm>
            <a:off x="4144963" y="9120188"/>
            <a:ext cx="3168650" cy="479425"/>
          </a:xfrm>
          <a:prstGeom prst="rect">
            <a:avLst/>
          </a:prstGeom>
          <a:noFill/>
          <a:ln>
            <a:miter lim="800000"/>
            <a:headEnd/>
            <a:tailEnd/>
          </a:ln>
        </p:spPr>
        <p:txBody>
          <a:bodyPr lIns="96651" tIns="48326" rIns="96651" bIns="48326" anchor="b"/>
          <a:lstStyle/>
          <a:p>
            <a:pPr algn="r">
              <a:defRPr/>
            </a:pPr>
            <a:fld id="{CEE8A97A-631C-4FAE-9068-0A2CA9042EB1}" type="slidenum">
              <a:rPr lang="en-US" sz="1200">
                <a:cs typeface="+mn-cs"/>
              </a:rPr>
              <a:pPr algn="r">
                <a:defRPr/>
              </a:pPr>
              <a:t>140</a:t>
            </a:fld>
            <a:endParaRPr lang="en-US" sz="1200" dirty="0">
              <a:cs typeface="+mn-cs"/>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6" name="Slide Image Placeholder 1"/>
          <p:cNvSpPr>
            <a:spLocks noGrp="1" noRot="1" noChangeAspect="1" noTextEdit="1"/>
          </p:cNvSpPr>
          <p:nvPr>
            <p:ph type="sldImg"/>
          </p:nvPr>
        </p:nvSpPr>
        <p:spPr bwMode="auto">
          <a:noFill/>
          <a:ln>
            <a:solidFill>
              <a:srgbClr val="000000"/>
            </a:solidFill>
            <a:miter lim="800000"/>
            <a:headEnd/>
            <a:tailEnd/>
          </a:ln>
        </p:spPr>
      </p:sp>
      <p:sp>
        <p:nvSpPr>
          <p:cNvPr id="31846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1846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904B48E6-0D17-474C-B2B3-B9B6CD0C162D}" type="slidenum">
              <a:rPr lang="en-US" smtClean="0"/>
              <a:pPr/>
              <a:t>141</a:t>
            </a:fld>
            <a:endParaRPr lang="en-US" smtClean="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90" name="Slide Image Placeholder 1"/>
          <p:cNvSpPr>
            <a:spLocks noGrp="1" noRot="1" noChangeAspect="1" noTextEdit="1"/>
          </p:cNvSpPr>
          <p:nvPr>
            <p:ph type="sldImg"/>
          </p:nvPr>
        </p:nvSpPr>
        <p:spPr bwMode="auto">
          <a:noFill/>
          <a:ln>
            <a:solidFill>
              <a:srgbClr val="000000"/>
            </a:solidFill>
            <a:miter lim="800000"/>
            <a:headEnd/>
            <a:tailEnd/>
          </a:ln>
        </p:spPr>
      </p:sp>
      <p:sp>
        <p:nvSpPr>
          <p:cNvPr id="31949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1949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00C5BFB-55C8-49A0-8081-7B439F28D922}" type="slidenum">
              <a:rPr lang="en-US" smtClean="0"/>
              <a:pPr/>
              <a:t>142</a:t>
            </a:fld>
            <a:endParaRPr lang="en-US" smtClean="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4" name="Slide Image Placeholder 1"/>
          <p:cNvSpPr>
            <a:spLocks noGrp="1" noRot="1" noChangeAspect="1" noTextEdit="1"/>
          </p:cNvSpPr>
          <p:nvPr>
            <p:ph type="sldImg"/>
          </p:nvPr>
        </p:nvSpPr>
        <p:spPr bwMode="auto">
          <a:noFill/>
          <a:ln>
            <a:solidFill>
              <a:srgbClr val="000000"/>
            </a:solidFill>
            <a:miter lim="800000"/>
            <a:headEnd/>
            <a:tailEnd/>
          </a:ln>
        </p:spPr>
      </p:sp>
      <p:sp>
        <p:nvSpPr>
          <p:cNvPr id="3205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2051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049CB35D-70B8-4E5B-BF43-8A2792AA6F3C}" type="slidenum">
              <a:rPr lang="en-US" smtClean="0"/>
              <a:pPr/>
              <a:t>143</a:t>
            </a:fld>
            <a:endParaRPr lang="en-US" smtClean="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8" name="Slide Image Placeholder 1"/>
          <p:cNvSpPr>
            <a:spLocks noGrp="1" noRot="1" noChangeAspect="1" noTextEdit="1"/>
          </p:cNvSpPr>
          <p:nvPr>
            <p:ph type="sldImg"/>
          </p:nvPr>
        </p:nvSpPr>
        <p:spPr bwMode="auto">
          <a:noFill/>
          <a:ln>
            <a:solidFill>
              <a:srgbClr val="000000"/>
            </a:solidFill>
            <a:miter lim="800000"/>
            <a:headEnd/>
            <a:tailEnd/>
          </a:ln>
        </p:spPr>
      </p:sp>
      <p:sp>
        <p:nvSpPr>
          <p:cNvPr id="321539"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2154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CD8E821-C41F-42EA-A13A-91A230320B50}" type="slidenum">
              <a:rPr lang="en-US" smtClean="0"/>
              <a:pPr/>
              <a:t>144</a:t>
            </a:fld>
            <a:endParaRPr lang="en-US" smtClean="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562" name="Slide Image Placeholder 1"/>
          <p:cNvSpPr>
            <a:spLocks noGrp="1" noRot="1" noChangeAspect="1" noTextEdit="1"/>
          </p:cNvSpPr>
          <p:nvPr>
            <p:ph type="sldImg"/>
          </p:nvPr>
        </p:nvSpPr>
        <p:spPr bwMode="auto">
          <a:noFill/>
          <a:ln>
            <a:solidFill>
              <a:srgbClr val="000000"/>
            </a:solidFill>
            <a:miter lim="800000"/>
            <a:headEnd/>
            <a:tailEnd/>
          </a:ln>
        </p:spPr>
      </p:sp>
      <p:sp>
        <p:nvSpPr>
          <p:cNvPr id="322563"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22564"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B6AF04E-AED9-4025-B79F-EDC0DDE79519}" type="slidenum">
              <a:rPr lang="en-US" smtClean="0"/>
              <a:pPr/>
              <a:t>145</a:t>
            </a:fld>
            <a:endParaRPr lang="en-US" smtClean="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6" name="Slide Image Placeholder 1"/>
          <p:cNvSpPr>
            <a:spLocks noGrp="1" noRot="1" noChangeAspect="1" noTextEdit="1"/>
          </p:cNvSpPr>
          <p:nvPr>
            <p:ph type="sldImg"/>
          </p:nvPr>
        </p:nvSpPr>
        <p:spPr bwMode="auto">
          <a:noFill/>
          <a:ln>
            <a:solidFill>
              <a:srgbClr val="000000"/>
            </a:solidFill>
            <a:miter lim="800000"/>
            <a:headEnd/>
            <a:tailEnd/>
          </a:ln>
        </p:spPr>
      </p:sp>
      <p:sp>
        <p:nvSpPr>
          <p:cNvPr id="323587"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23588"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669B6BF-9932-4BEF-8FCF-9B9824BA04BD}" type="slidenum">
              <a:rPr lang="en-US" smtClean="0"/>
              <a:pPr/>
              <a:t>146</a:t>
            </a:fld>
            <a:endParaRPr lang="en-US" smtClean="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610" name="Slide Image Placeholder 1"/>
          <p:cNvSpPr>
            <a:spLocks noGrp="1" noRot="1" noChangeAspect="1" noTextEdit="1"/>
          </p:cNvSpPr>
          <p:nvPr>
            <p:ph type="sldImg"/>
          </p:nvPr>
        </p:nvSpPr>
        <p:spPr bwMode="auto">
          <a:noFill/>
          <a:ln>
            <a:solidFill>
              <a:srgbClr val="000000"/>
            </a:solidFill>
            <a:miter lim="800000"/>
            <a:headEnd/>
            <a:tailEnd/>
          </a:ln>
        </p:spPr>
      </p:sp>
      <p:sp>
        <p:nvSpPr>
          <p:cNvPr id="324611"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en-US" sz="1400" smtClean="0"/>
              <a:t>Example of where code of record became an issue is the Salt Waste Treatment Facility (SWTF) at SRS.</a:t>
            </a:r>
          </a:p>
          <a:p>
            <a:pPr eaLnBrk="1" hangingPunct="1"/>
            <a:endParaRPr lang="en-US" sz="1400" smtClean="0"/>
          </a:p>
          <a:p>
            <a:pPr eaLnBrk="1" hangingPunct="1"/>
            <a:r>
              <a:rPr lang="en-US" sz="1400" smtClean="0"/>
              <a:t>Facility was being designed to NPH requirements that called for PC-3 only when an NPH event could cause a site boundary dose exceeding 25 rem.</a:t>
            </a:r>
          </a:p>
          <a:p>
            <a:pPr eaLnBrk="1" hangingPunct="1"/>
            <a:endParaRPr lang="en-US" sz="1400" smtClean="0"/>
          </a:p>
          <a:p>
            <a:pPr eaLnBrk="1" hangingPunct="1"/>
            <a:r>
              <a:rPr lang="en-US" sz="1400" smtClean="0"/>
              <a:t>SRS requirements called for SS designation if collocated worker dose exceeded 100 rem (average meteorology)</a:t>
            </a:r>
          </a:p>
          <a:p>
            <a:pPr eaLnBrk="1" hangingPunct="1"/>
            <a:endParaRPr lang="en-US" sz="1400" smtClean="0"/>
          </a:p>
          <a:p>
            <a:pPr eaLnBrk="1" hangingPunct="1"/>
            <a:r>
              <a:rPr lang="en-US" sz="1400" smtClean="0"/>
              <a:t>DNFSB asserted SS designation required PC-3 for building structure if it was relied upon for confinement.</a:t>
            </a:r>
          </a:p>
          <a:p>
            <a:pPr eaLnBrk="1" hangingPunct="1"/>
            <a:endParaRPr lang="en-US" sz="1400" smtClean="0"/>
          </a:p>
          <a:p>
            <a:pPr eaLnBrk="1" hangingPunct="1"/>
            <a:r>
              <a:rPr lang="en-US" sz="1400" smtClean="0"/>
              <a:t>EM agreed and directed contractor to comply, thus changing the previous understood code of record</a:t>
            </a:r>
          </a:p>
        </p:txBody>
      </p:sp>
      <p:sp>
        <p:nvSpPr>
          <p:cNvPr id="32461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44027544-E853-43EE-A123-E1AA674BA2EB}" type="slidenum">
              <a:rPr lang="en-US" smtClean="0"/>
              <a:pPr/>
              <a:t>147</a:t>
            </a:fld>
            <a:endParaRPr lang="en-US" smtClean="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634" name="Slide Image Placeholder 1"/>
          <p:cNvSpPr>
            <a:spLocks noGrp="1" noRot="1" noChangeAspect="1" noTextEdit="1"/>
          </p:cNvSpPr>
          <p:nvPr>
            <p:ph type="sldImg"/>
          </p:nvPr>
        </p:nvSpPr>
        <p:spPr bwMode="auto">
          <a:noFill/>
          <a:ln>
            <a:solidFill>
              <a:srgbClr val="000000"/>
            </a:solidFill>
            <a:miter lim="800000"/>
            <a:headEnd/>
            <a:tailEnd/>
          </a:ln>
        </p:spPr>
      </p:sp>
      <p:sp>
        <p:nvSpPr>
          <p:cNvPr id="32563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en-US" smtClean="0"/>
          </a:p>
        </p:txBody>
      </p:sp>
      <p:sp>
        <p:nvSpPr>
          <p:cNvPr id="325636"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7DB3B0B9-FE83-4C8E-8C83-161840078F3E}" type="slidenum">
              <a:rPr lang="en-US" smtClean="0"/>
              <a:pPr/>
              <a:t>148</a:t>
            </a:fld>
            <a:endParaRPr lang="en-US" smtClean="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658" name="Slide Image Placeholder 1"/>
          <p:cNvSpPr>
            <a:spLocks noGrp="1" noRot="1" noChangeAspect="1" noTextEdit="1"/>
          </p:cNvSpPr>
          <p:nvPr>
            <p:ph type="sldImg"/>
          </p:nvPr>
        </p:nvSpPr>
        <p:spPr bwMode="auto">
          <a:noFill/>
          <a:ln>
            <a:solidFill>
              <a:srgbClr val="000000"/>
            </a:solidFill>
            <a:miter lim="800000"/>
            <a:headEnd/>
            <a:tailEnd/>
          </a:ln>
        </p:spPr>
      </p:sp>
      <p:sp>
        <p:nvSpPr>
          <p:cNvPr id="32665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smtClean="0"/>
          </a:p>
        </p:txBody>
      </p:sp>
      <p:sp>
        <p:nvSpPr>
          <p:cNvPr id="326660"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fld id="{13C7CFC2-63F7-4F18-8BF6-8B1C4B08B731}" type="slidenum">
              <a:rPr lang="en-US" smtClean="0"/>
              <a:pPr/>
              <a:t>149</a:t>
            </a:fld>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pic>
        <p:nvPicPr>
          <p:cNvPr id="4" name="Picture 109" descr="Title"/>
          <p:cNvPicPr>
            <a:picLocks noChangeAspect="1" noChangeArrowheads="1"/>
          </p:cNvPicPr>
          <p:nvPr userDrawn="1"/>
        </p:nvPicPr>
        <p:blipFill>
          <a:blip r:embed="rId2" cstate="print"/>
          <a:srcRect/>
          <a:stretch>
            <a:fillRect/>
          </a:stretch>
        </p:blipFill>
        <p:spPr bwMode="auto">
          <a:xfrm>
            <a:off x="0" y="2800350"/>
            <a:ext cx="9144000" cy="4057650"/>
          </a:xfrm>
          <a:prstGeom prst="rect">
            <a:avLst/>
          </a:prstGeom>
          <a:noFill/>
          <a:ln w="9525">
            <a:noFill/>
            <a:miter lim="800000"/>
            <a:headEnd/>
            <a:tailEnd/>
          </a:ln>
        </p:spPr>
      </p:pic>
      <p:sp>
        <p:nvSpPr>
          <p:cNvPr id="5" name="Rectangle 110"/>
          <p:cNvSpPr>
            <a:spLocks noChangeArrowheads="1"/>
          </p:cNvSpPr>
          <p:nvPr userDrawn="1"/>
        </p:nvSpPr>
        <p:spPr bwMode="auto">
          <a:xfrm>
            <a:off x="0" y="0"/>
            <a:ext cx="9144000" cy="2743200"/>
          </a:xfrm>
          <a:prstGeom prst="rect">
            <a:avLst/>
          </a:prstGeom>
          <a:gradFill rotWithShape="1">
            <a:gsLst>
              <a:gs pos="0">
                <a:srgbClr val="339933"/>
              </a:gs>
              <a:gs pos="100000">
                <a:srgbClr val="339933">
                  <a:gamma/>
                  <a:tint val="3922"/>
                  <a:invGamma/>
                </a:srgbClr>
              </a:gs>
            </a:gsLst>
            <a:lin ang="5400000" scaled="1"/>
          </a:gradFill>
          <a:ln w="9525">
            <a:noFill/>
            <a:miter lim="800000"/>
            <a:headEnd/>
            <a:tailEnd/>
          </a:ln>
          <a:effectLst>
            <a:prstShdw prst="shdw17" dist="17961" dir="2700000">
              <a:srgbClr val="339933">
                <a:gamma/>
                <a:shade val="60000"/>
                <a:invGamma/>
              </a:srgbClr>
            </a:prstShdw>
          </a:effectLst>
        </p:spPr>
        <p:txBody>
          <a:bodyPr wrap="none" anchor="ctr"/>
          <a:lstStyle/>
          <a:p>
            <a:pPr fontAlgn="auto">
              <a:spcBef>
                <a:spcPts val="0"/>
              </a:spcBef>
              <a:spcAft>
                <a:spcPts val="0"/>
              </a:spcAft>
              <a:defRPr/>
            </a:pPr>
            <a:endParaRPr lang="en-US">
              <a:latin typeface="+mn-lt"/>
              <a:cs typeface="+mn-cs"/>
            </a:endParaRPr>
          </a:p>
        </p:txBody>
      </p:sp>
      <p:sp>
        <p:nvSpPr>
          <p:cNvPr id="6" name="Rectangle 113"/>
          <p:cNvSpPr>
            <a:spLocks noChangeArrowheads="1"/>
          </p:cNvSpPr>
          <p:nvPr userDrawn="1"/>
        </p:nvSpPr>
        <p:spPr bwMode="auto">
          <a:xfrm>
            <a:off x="1066800" y="304800"/>
            <a:ext cx="5662613" cy="77788"/>
          </a:xfrm>
          <a:prstGeom prst="rect">
            <a:avLst/>
          </a:prstGeom>
          <a:solidFill>
            <a:srgbClr val="339933"/>
          </a:solidFill>
          <a:ln w="9525">
            <a:noFill/>
            <a:miter lim="800000"/>
            <a:headEnd/>
            <a:tailEnd/>
          </a:ln>
          <a:effectLst/>
        </p:spPr>
        <p:txBody>
          <a:bodyPr wrap="none" anchor="ctr"/>
          <a:lstStyle/>
          <a:p>
            <a:pPr fontAlgn="auto">
              <a:spcBef>
                <a:spcPts val="0"/>
              </a:spcBef>
              <a:spcAft>
                <a:spcPts val="0"/>
              </a:spcAft>
              <a:defRPr/>
            </a:pPr>
            <a:endParaRPr kumimoji="1" lang="en-US">
              <a:latin typeface="+mn-lt"/>
              <a:cs typeface="+mn-cs"/>
            </a:endParaRPr>
          </a:p>
        </p:txBody>
      </p:sp>
      <p:sp>
        <p:nvSpPr>
          <p:cNvPr id="7" name="Rectangle 114"/>
          <p:cNvSpPr>
            <a:spLocks noChangeArrowheads="1"/>
          </p:cNvSpPr>
          <p:nvPr userDrawn="1"/>
        </p:nvSpPr>
        <p:spPr bwMode="auto">
          <a:xfrm>
            <a:off x="0" y="2743200"/>
            <a:ext cx="9144000" cy="76200"/>
          </a:xfrm>
          <a:prstGeom prst="rect">
            <a:avLst/>
          </a:prstGeom>
          <a:solidFill>
            <a:srgbClr val="339933"/>
          </a:solidFill>
          <a:ln w="9525">
            <a:noFill/>
            <a:miter lim="800000"/>
            <a:headEnd/>
            <a:tailEnd/>
          </a:ln>
          <a:effectLst/>
        </p:spPr>
        <p:txBody>
          <a:bodyPr wrap="none" anchor="ctr"/>
          <a:lstStyle/>
          <a:p>
            <a:pPr fontAlgn="auto">
              <a:spcBef>
                <a:spcPts val="0"/>
              </a:spcBef>
              <a:spcAft>
                <a:spcPts val="0"/>
              </a:spcAft>
              <a:defRPr/>
            </a:pPr>
            <a:endParaRPr kumimoji="1" lang="en-US">
              <a:latin typeface="+mn-lt"/>
              <a:cs typeface="+mn-cs"/>
            </a:endParaRPr>
          </a:p>
        </p:txBody>
      </p:sp>
      <p:sp>
        <p:nvSpPr>
          <p:cNvPr id="8" name="Rectangle 115"/>
          <p:cNvSpPr>
            <a:spLocks noChangeArrowheads="1"/>
          </p:cNvSpPr>
          <p:nvPr userDrawn="1"/>
        </p:nvSpPr>
        <p:spPr bwMode="auto">
          <a:xfrm>
            <a:off x="52388" y="457200"/>
            <a:ext cx="5662612" cy="77788"/>
          </a:xfrm>
          <a:prstGeom prst="rect">
            <a:avLst/>
          </a:prstGeom>
          <a:solidFill>
            <a:srgbClr val="339933"/>
          </a:solidFill>
          <a:ln w="9525">
            <a:solidFill>
              <a:srgbClr val="339933"/>
            </a:solidFill>
            <a:miter lim="800000"/>
            <a:headEnd/>
            <a:tailEnd/>
          </a:ln>
          <a:effectLst/>
        </p:spPr>
        <p:txBody>
          <a:bodyPr wrap="none" anchor="ctr"/>
          <a:lstStyle/>
          <a:p>
            <a:pPr fontAlgn="auto">
              <a:spcBef>
                <a:spcPts val="0"/>
              </a:spcBef>
              <a:spcAft>
                <a:spcPts val="0"/>
              </a:spcAft>
              <a:defRPr/>
            </a:pPr>
            <a:endParaRPr kumimoji="1" lang="en-US">
              <a:latin typeface="+mn-lt"/>
              <a:cs typeface="+mn-cs"/>
            </a:endParaRPr>
          </a:p>
        </p:txBody>
      </p:sp>
      <p:grpSp>
        <p:nvGrpSpPr>
          <p:cNvPr id="9" name="Group 116"/>
          <p:cNvGrpSpPr>
            <a:grpSpLocks/>
          </p:cNvGrpSpPr>
          <p:nvPr userDrawn="1"/>
        </p:nvGrpSpPr>
        <p:grpSpPr bwMode="auto">
          <a:xfrm>
            <a:off x="0" y="0"/>
            <a:ext cx="609600" cy="6858000"/>
            <a:chOff x="0" y="43"/>
            <a:chExt cx="624" cy="4229"/>
          </a:xfrm>
        </p:grpSpPr>
        <p:sp>
          <p:nvSpPr>
            <p:cNvPr id="10" name="Line 117"/>
            <p:cNvSpPr>
              <a:spLocks noChangeShapeType="1"/>
            </p:cNvSpPr>
            <p:nvPr userDrawn="1"/>
          </p:nvSpPr>
          <p:spPr bwMode="auto">
            <a:xfrm>
              <a:off x="0" y="4203"/>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1" name="Line 118"/>
            <p:cNvSpPr>
              <a:spLocks noChangeShapeType="1"/>
            </p:cNvSpPr>
            <p:nvPr userDrawn="1"/>
          </p:nvSpPr>
          <p:spPr bwMode="auto">
            <a:xfrm>
              <a:off x="0" y="4239"/>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2" name="Line 119"/>
            <p:cNvSpPr>
              <a:spLocks noChangeShapeType="1"/>
            </p:cNvSpPr>
            <p:nvPr userDrawn="1"/>
          </p:nvSpPr>
          <p:spPr bwMode="auto">
            <a:xfrm>
              <a:off x="0" y="4272"/>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3" name="Line 120"/>
            <p:cNvSpPr>
              <a:spLocks noChangeShapeType="1"/>
            </p:cNvSpPr>
            <p:nvPr userDrawn="1"/>
          </p:nvSpPr>
          <p:spPr bwMode="auto">
            <a:xfrm>
              <a:off x="0" y="4113"/>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4" name="Line 121"/>
            <p:cNvSpPr>
              <a:spLocks noChangeShapeType="1"/>
            </p:cNvSpPr>
            <p:nvPr userDrawn="1"/>
          </p:nvSpPr>
          <p:spPr bwMode="auto">
            <a:xfrm>
              <a:off x="0" y="4065"/>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5" name="Line 122"/>
            <p:cNvSpPr>
              <a:spLocks noChangeShapeType="1"/>
            </p:cNvSpPr>
            <p:nvPr userDrawn="1"/>
          </p:nvSpPr>
          <p:spPr bwMode="auto">
            <a:xfrm>
              <a:off x="0" y="4158"/>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6" name="Line 123"/>
            <p:cNvSpPr>
              <a:spLocks noChangeShapeType="1"/>
            </p:cNvSpPr>
            <p:nvPr userDrawn="1"/>
          </p:nvSpPr>
          <p:spPr bwMode="auto">
            <a:xfrm>
              <a:off x="0" y="3666"/>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7" name="Line 124"/>
            <p:cNvSpPr>
              <a:spLocks noChangeShapeType="1"/>
            </p:cNvSpPr>
            <p:nvPr userDrawn="1"/>
          </p:nvSpPr>
          <p:spPr bwMode="auto">
            <a:xfrm>
              <a:off x="0" y="3639"/>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8" name="Line 125"/>
            <p:cNvSpPr>
              <a:spLocks noChangeShapeType="1"/>
            </p:cNvSpPr>
            <p:nvPr userDrawn="1"/>
          </p:nvSpPr>
          <p:spPr bwMode="auto">
            <a:xfrm>
              <a:off x="0" y="4020"/>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9" name="Line 126"/>
            <p:cNvSpPr>
              <a:spLocks noChangeShapeType="1"/>
            </p:cNvSpPr>
            <p:nvPr userDrawn="1"/>
          </p:nvSpPr>
          <p:spPr bwMode="auto">
            <a:xfrm>
              <a:off x="0" y="3894"/>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0" name="Line 127"/>
            <p:cNvSpPr>
              <a:spLocks noChangeShapeType="1"/>
            </p:cNvSpPr>
            <p:nvPr userDrawn="1"/>
          </p:nvSpPr>
          <p:spPr bwMode="auto">
            <a:xfrm>
              <a:off x="0" y="3813"/>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1" name="Line 128"/>
            <p:cNvSpPr>
              <a:spLocks noChangeShapeType="1"/>
            </p:cNvSpPr>
            <p:nvPr userDrawn="1"/>
          </p:nvSpPr>
          <p:spPr bwMode="auto">
            <a:xfrm>
              <a:off x="0" y="3999"/>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2" name="Line 129"/>
            <p:cNvSpPr>
              <a:spLocks noChangeShapeType="1"/>
            </p:cNvSpPr>
            <p:nvPr userDrawn="1"/>
          </p:nvSpPr>
          <p:spPr bwMode="auto">
            <a:xfrm>
              <a:off x="0" y="3687"/>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3" name="Line 130"/>
            <p:cNvSpPr>
              <a:spLocks noChangeShapeType="1"/>
            </p:cNvSpPr>
            <p:nvPr userDrawn="1"/>
          </p:nvSpPr>
          <p:spPr bwMode="auto">
            <a:xfrm>
              <a:off x="0" y="3741"/>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4" name="Line 131"/>
            <p:cNvSpPr>
              <a:spLocks noChangeShapeType="1"/>
            </p:cNvSpPr>
            <p:nvPr userDrawn="1"/>
          </p:nvSpPr>
          <p:spPr bwMode="auto">
            <a:xfrm>
              <a:off x="0" y="393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5" name="Line 132"/>
            <p:cNvSpPr>
              <a:spLocks noChangeShapeType="1"/>
            </p:cNvSpPr>
            <p:nvPr userDrawn="1"/>
          </p:nvSpPr>
          <p:spPr bwMode="auto">
            <a:xfrm>
              <a:off x="0" y="3918"/>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6" name="Line 133"/>
            <p:cNvSpPr>
              <a:spLocks noChangeShapeType="1"/>
            </p:cNvSpPr>
            <p:nvPr userDrawn="1"/>
          </p:nvSpPr>
          <p:spPr bwMode="auto">
            <a:xfrm>
              <a:off x="0" y="3510"/>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7" name="Line 134"/>
            <p:cNvSpPr>
              <a:spLocks noChangeShapeType="1"/>
            </p:cNvSpPr>
            <p:nvPr userDrawn="1"/>
          </p:nvSpPr>
          <p:spPr bwMode="auto">
            <a:xfrm>
              <a:off x="0" y="3546"/>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8" name="Line 135"/>
            <p:cNvSpPr>
              <a:spLocks noChangeShapeType="1"/>
            </p:cNvSpPr>
            <p:nvPr userDrawn="1"/>
          </p:nvSpPr>
          <p:spPr bwMode="auto">
            <a:xfrm>
              <a:off x="0" y="357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29" name="Line 136"/>
            <p:cNvSpPr>
              <a:spLocks noChangeShapeType="1"/>
            </p:cNvSpPr>
            <p:nvPr userDrawn="1"/>
          </p:nvSpPr>
          <p:spPr bwMode="auto">
            <a:xfrm>
              <a:off x="0" y="3420"/>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0" name="Line 137"/>
            <p:cNvSpPr>
              <a:spLocks noChangeShapeType="1"/>
            </p:cNvSpPr>
            <p:nvPr userDrawn="1"/>
          </p:nvSpPr>
          <p:spPr bwMode="auto">
            <a:xfrm>
              <a:off x="0" y="3372"/>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1" name="Line 138"/>
            <p:cNvSpPr>
              <a:spLocks noChangeShapeType="1"/>
            </p:cNvSpPr>
            <p:nvPr userDrawn="1"/>
          </p:nvSpPr>
          <p:spPr bwMode="auto">
            <a:xfrm>
              <a:off x="0" y="3465"/>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2" name="Line 139"/>
            <p:cNvSpPr>
              <a:spLocks noChangeShapeType="1"/>
            </p:cNvSpPr>
            <p:nvPr userDrawn="1"/>
          </p:nvSpPr>
          <p:spPr bwMode="auto">
            <a:xfrm>
              <a:off x="0" y="2973"/>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3" name="Line 140"/>
            <p:cNvSpPr>
              <a:spLocks noChangeShapeType="1"/>
            </p:cNvSpPr>
            <p:nvPr userDrawn="1"/>
          </p:nvSpPr>
          <p:spPr bwMode="auto">
            <a:xfrm>
              <a:off x="0" y="2946"/>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4" name="Line 141"/>
            <p:cNvSpPr>
              <a:spLocks noChangeShapeType="1"/>
            </p:cNvSpPr>
            <p:nvPr userDrawn="1"/>
          </p:nvSpPr>
          <p:spPr bwMode="auto">
            <a:xfrm>
              <a:off x="0" y="3327"/>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5" name="Line 142"/>
            <p:cNvSpPr>
              <a:spLocks noChangeShapeType="1"/>
            </p:cNvSpPr>
            <p:nvPr userDrawn="1"/>
          </p:nvSpPr>
          <p:spPr bwMode="auto">
            <a:xfrm>
              <a:off x="0" y="3201"/>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6" name="Line 143"/>
            <p:cNvSpPr>
              <a:spLocks noChangeShapeType="1"/>
            </p:cNvSpPr>
            <p:nvPr userDrawn="1"/>
          </p:nvSpPr>
          <p:spPr bwMode="auto">
            <a:xfrm>
              <a:off x="0" y="3120"/>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7" name="Line 144"/>
            <p:cNvSpPr>
              <a:spLocks noChangeShapeType="1"/>
            </p:cNvSpPr>
            <p:nvPr userDrawn="1"/>
          </p:nvSpPr>
          <p:spPr bwMode="auto">
            <a:xfrm>
              <a:off x="0" y="3306"/>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8" name="Line 145"/>
            <p:cNvSpPr>
              <a:spLocks noChangeShapeType="1"/>
            </p:cNvSpPr>
            <p:nvPr userDrawn="1"/>
          </p:nvSpPr>
          <p:spPr bwMode="auto">
            <a:xfrm>
              <a:off x="0" y="2994"/>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39" name="Line 146"/>
            <p:cNvSpPr>
              <a:spLocks noChangeShapeType="1"/>
            </p:cNvSpPr>
            <p:nvPr userDrawn="1"/>
          </p:nvSpPr>
          <p:spPr bwMode="auto">
            <a:xfrm>
              <a:off x="0" y="3048"/>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0" name="Line 147"/>
            <p:cNvSpPr>
              <a:spLocks noChangeShapeType="1"/>
            </p:cNvSpPr>
            <p:nvPr userDrawn="1"/>
          </p:nvSpPr>
          <p:spPr bwMode="auto">
            <a:xfrm>
              <a:off x="0" y="3246"/>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1" name="Line 148"/>
            <p:cNvSpPr>
              <a:spLocks noChangeShapeType="1"/>
            </p:cNvSpPr>
            <p:nvPr userDrawn="1"/>
          </p:nvSpPr>
          <p:spPr bwMode="auto">
            <a:xfrm>
              <a:off x="0" y="3225"/>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2" name="Line 149"/>
            <p:cNvSpPr>
              <a:spLocks noChangeShapeType="1"/>
            </p:cNvSpPr>
            <p:nvPr userDrawn="1"/>
          </p:nvSpPr>
          <p:spPr bwMode="auto">
            <a:xfrm>
              <a:off x="0" y="2831"/>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3" name="Line 150"/>
            <p:cNvSpPr>
              <a:spLocks noChangeShapeType="1"/>
            </p:cNvSpPr>
            <p:nvPr userDrawn="1"/>
          </p:nvSpPr>
          <p:spPr bwMode="auto">
            <a:xfrm>
              <a:off x="0" y="2750"/>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4" name="Line 151"/>
            <p:cNvSpPr>
              <a:spLocks noChangeShapeType="1"/>
            </p:cNvSpPr>
            <p:nvPr userDrawn="1"/>
          </p:nvSpPr>
          <p:spPr bwMode="auto">
            <a:xfrm>
              <a:off x="0" y="2678"/>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5" name="Line 152"/>
            <p:cNvSpPr>
              <a:spLocks noChangeShapeType="1"/>
            </p:cNvSpPr>
            <p:nvPr userDrawn="1"/>
          </p:nvSpPr>
          <p:spPr bwMode="auto">
            <a:xfrm>
              <a:off x="0" y="2876"/>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6" name="Line 153"/>
            <p:cNvSpPr>
              <a:spLocks noChangeShapeType="1"/>
            </p:cNvSpPr>
            <p:nvPr userDrawn="1"/>
          </p:nvSpPr>
          <p:spPr bwMode="auto">
            <a:xfrm>
              <a:off x="0" y="2855"/>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7" name="Line 154"/>
            <p:cNvSpPr>
              <a:spLocks noChangeShapeType="1"/>
            </p:cNvSpPr>
            <p:nvPr userDrawn="1"/>
          </p:nvSpPr>
          <p:spPr bwMode="auto">
            <a:xfrm>
              <a:off x="0" y="2554"/>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8" name="Line 155"/>
            <p:cNvSpPr>
              <a:spLocks noChangeShapeType="1"/>
            </p:cNvSpPr>
            <p:nvPr userDrawn="1"/>
          </p:nvSpPr>
          <p:spPr bwMode="auto">
            <a:xfrm>
              <a:off x="0" y="2590"/>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49" name="Line 156"/>
            <p:cNvSpPr>
              <a:spLocks noChangeShapeType="1"/>
            </p:cNvSpPr>
            <p:nvPr userDrawn="1"/>
          </p:nvSpPr>
          <p:spPr bwMode="auto">
            <a:xfrm>
              <a:off x="0" y="2623"/>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0" name="Line 157"/>
            <p:cNvSpPr>
              <a:spLocks noChangeShapeType="1"/>
            </p:cNvSpPr>
            <p:nvPr userDrawn="1"/>
          </p:nvSpPr>
          <p:spPr bwMode="auto">
            <a:xfrm>
              <a:off x="0" y="2464"/>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1" name="Line 158"/>
            <p:cNvSpPr>
              <a:spLocks noChangeShapeType="1"/>
            </p:cNvSpPr>
            <p:nvPr userDrawn="1"/>
          </p:nvSpPr>
          <p:spPr bwMode="auto">
            <a:xfrm>
              <a:off x="0" y="2416"/>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2" name="Line 159"/>
            <p:cNvSpPr>
              <a:spLocks noChangeShapeType="1"/>
            </p:cNvSpPr>
            <p:nvPr userDrawn="1"/>
          </p:nvSpPr>
          <p:spPr bwMode="auto">
            <a:xfrm>
              <a:off x="0" y="250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3" name="Line 160"/>
            <p:cNvSpPr>
              <a:spLocks noChangeShapeType="1"/>
            </p:cNvSpPr>
            <p:nvPr userDrawn="1"/>
          </p:nvSpPr>
          <p:spPr bwMode="auto">
            <a:xfrm>
              <a:off x="0" y="2371"/>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4" name="Line 161"/>
            <p:cNvSpPr>
              <a:spLocks noChangeShapeType="1"/>
            </p:cNvSpPr>
            <p:nvPr userDrawn="1"/>
          </p:nvSpPr>
          <p:spPr bwMode="auto">
            <a:xfrm>
              <a:off x="0" y="2245"/>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5" name="Line 162"/>
            <p:cNvSpPr>
              <a:spLocks noChangeShapeType="1"/>
            </p:cNvSpPr>
            <p:nvPr userDrawn="1"/>
          </p:nvSpPr>
          <p:spPr bwMode="auto">
            <a:xfrm>
              <a:off x="0" y="2350"/>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6" name="Line 163"/>
            <p:cNvSpPr>
              <a:spLocks noChangeShapeType="1"/>
            </p:cNvSpPr>
            <p:nvPr userDrawn="1"/>
          </p:nvSpPr>
          <p:spPr bwMode="auto">
            <a:xfrm>
              <a:off x="0" y="2290"/>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7" name="Line 164"/>
            <p:cNvSpPr>
              <a:spLocks noChangeShapeType="1"/>
            </p:cNvSpPr>
            <p:nvPr userDrawn="1"/>
          </p:nvSpPr>
          <p:spPr bwMode="auto">
            <a:xfrm>
              <a:off x="0" y="2269"/>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8" name="Line 165"/>
            <p:cNvSpPr>
              <a:spLocks noChangeShapeType="1"/>
            </p:cNvSpPr>
            <p:nvPr userDrawn="1"/>
          </p:nvSpPr>
          <p:spPr bwMode="auto">
            <a:xfrm>
              <a:off x="0" y="2130"/>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9" name="Line 166"/>
            <p:cNvSpPr>
              <a:spLocks noChangeShapeType="1"/>
            </p:cNvSpPr>
            <p:nvPr userDrawn="1"/>
          </p:nvSpPr>
          <p:spPr bwMode="auto">
            <a:xfrm>
              <a:off x="0" y="2166"/>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0" name="Line 167"/>
            <p:cNvSpPr>
              <a:spLocks noChangeShapeType="1"/>
            </p:cNvSpPr>
            <p:nvPr userDrawn="1"/>
          </p:nvSpPr>
          <p:spPr bwMode="auto">
            <a:xfrm>
              <a:off x="0" y="219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1" name="Line 168"/>
            <p:cNvSpPr>
              <a:spLocks noChangeShapeType="1"/>
            </p:cNvSpPr>
            <p:nvPr userDrawn="1"/>
          </p:nvSpPr>
          <p:spPr bwMode="auto">
            <a:xfrm>
              <a:off x="0" y="2040"/>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2" name="Line 169"/>
            <p:cNvSpPr>
              <a:spLocks noChangeShapeType="1"/>
            </p:cNvSpPr>
            <p:nvPr userDrawn="1"/>
          </p:nvSpPr>
          <p:spPr bwMode="auto">
            <a:xfrm>
              <a:off x="0" y="1992"/>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3" name="Line 170"/>
            <p:cNvSpPr>
              <a:spLocks noChangeShapeType="1"/>
            </p:cNvSpPr>
            <p:nvPr userDrawn="1"/>
          </p:nvSpPr>
          <p:spPr bwMode="auto">
            <a:xfrm>
              <a:off x="0" y="2085"/>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4" name="Line 171"/>
            <p:cNvSpPr>
              <a:spLocks noChangeShapeType="1"/>
            </p:cNvSpPr>
            <p:nvPr userDrawn="1"/>
          </p:nvSpPr>
          <p:spPr bwMode="auto">
            <a:xfrm>
              <a:off x="0" y="1593"/>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5" name="Line 172"/>
            <p:cNvSpPr>
              <a:spLocks noChangeShapeType="1"/>
            </p:cNvSpPr>
            <p:nvPr userDrawn="1"/>
          </p:nvSpPr>
          <p:spPr bwMode="auto">
            <a:xfrm>
              <a:off x="0" y="1566"/>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6" name="Line 173"/>
            <p:cNvSpPr>
              <a:spLocks noChangeShapeType="1"/>
            </p:cNvSpPr>
            <p:nvPr userDrawn="1"/>
          </p:nvSpPr>
          <p:spPr bwMode="auto">
            <a:xfrm>
              <a:off x="0" y="1947"/>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7" name="Line 174"/>
            <p:cNvSpPr>
              <a:spLocks noChangeShapeType="1"/>
            </p:cNvSpPr>
            <p:nvPr userDrawn="1"/>
          </p:nvSpPr>
          <p:spPr bwMode="auto">
            <a:xfrm>
              <a:off x="0" y="1821"/>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8" name="Line 175"/>
            <p:cNvSpPr>
              <a:spLocks noChangeShapeType="1"/>
            </p:cNvSpPr>
            <p:nvPr userDrawn="1"/>
          </p:nvSpPr>
          <p:spPr bwMode="auto">
            <a:xfrm>
              <a:off x="0" y="1740"/>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69" name="Line 176"/>
            <p:cNvSpPr>
              <a:spLocks noChangeShapeType="1"/>
            </p:cNvSpPr>
            <p:nvPr userDrawn="1"/>
          </p:nvSpPr>
          <p:spPr bwMode="auto">
            <a:xfrm>
              <a:off x="0" y="1926"/>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0" name="Line 177"/>
            <p:cNvSpPr>
              <a:spLocks noChangeShapeType="1"/>
            </p:cNvSpPr>
            <p:nvPr userDrawn="1"/>
          </p:nvSpPr>
          <p:spPr bwMode="auto">
            <a:xfrm>
              <a:off x="0" y="1614"/>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1" name="Line 178"/>
            <p:cNvSpPr>
              <a:spLocks noChangeShapeType="1"/>
            </p:cNvSpPr>
            <p:nvPr userDrawn="1"/>
          </p:nvSpPr>
          <p:spPr bwMode="auto">
            <a:xfrm>
              <a:off x="0" y="1668"/>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2" name="Line 179"/>
            <p:cNvSpPr>
              <a:spLocks noChangeShapeType="1"/>
            </p:cNvSpPr>
            <p:nvPr userDrawn="1"/>
          </p:nvSpPr>
          <p:spPr bwMode="auto">
            <a:xfrm>
              <a:off x="0" y="1866"/>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3" name="Line 180"/>
            <p:cNvSpPr>
              <a:spLocks noChangeShapeType="1"/>
            </p:cNvSpPr>
            <p:nvPr userDrawn="1"/>
          </p:nvSpPr>
          <p:spPr bwMode="auto">
            <a:xfrm>
              <a:off x="0" y="1845"/>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4" name="Line 181"/>
            <p:cNvSpPr>
              <a:spLocks noChangeShapeType="1"/>
            </p:cNvSpPr>
            <p:nvPr userDrawn="1"/>
          </p:nvSpPr>
          <p:spPr bwMode="auto">
            <a:xfrm>
              <a:off x="0" y="1437"/>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5" name="Line 182"/>
            <p:cNvSpPr>
              <a:spLocks noChangeShapeType="1"/>
            </p:cNvSpPr>
            <p:nvPr userDrawn="1"/>
          </p:nvSpPr>
          <p:spPr bwMode="auto">
            <a:xfrm>
              <a:off x="0" y="1473"/>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6" name="Line 183"/>
            <p:cNvSpPr>
              <a:spLocks noChangeShapeType="1"/>
            </p:cNvSpPr>
            <p:nvPr userDrawn="1"/>
          </p:nvSpPr>
          <p:spPr bwMode="auto">
            <a:xfrm>
              <a:off x="0" y="1506"/>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7" name="Line 184"/>
            <p:cNvSpPr>
              <a:spLocks noChangeShapeType="1"/>
            </p:cNvSpPr>
            <p:nvPr userDrawn="1"/>
          </p:nvSpPr>
          <p:spPr bwMode="auto">
            <a:xfrm>
              <a:off x="0" y="1347"/>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8" name="Line 185"/>
            <p:cNvSpPr>
              <a:spLocks noChangeShapeType="1"/>
            </p:cNvSpPr>
            <p:nvPr userDrawn="1"/>
          </p:nvSpPr>
          <p:spPr bwMode="auto">
            <a:xfrm>
              <a:off x="0" y="1392"/>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79" name="Line 186"/>
            <p:cNvSpPr>
              <a:spLocks noChangeShapeType="1"/>
            </p:cNvSpPr>
            <p:nvPr userDrawn="1"/>
          </p:nvSpPr>
          <p:spPr bwMode="auto">
            <a:xfrm>
              <a:off x="0" y="1016"/>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0" name="Line 187"/>
            <p:cNvSpPr>
              <a:spLocks noChangeShapeType="1"/>
            </p:cNvSpPr>
            <p:nvPr userDrawn="1"/>
          </p:nvSpPr>
          <p:spPr bwMode="auto">
            <a:xfrm>
              <a:off x="0" y="989"/>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1" name="Line 188"/>
            <p:cNvSpPr>
              <a:spLocks noChangeShapeType="1"/>
            </p:cNvSpPr>
            <p:nvPr userDrawn="1"/>
          </p:nvSpPr>
          <p:spPr bwMode="auto">
            <a:xfrm>
              <a:off x="0" y="1244"/>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2" name="Line 189"/>
            <p:cNvSpPr>
              <a:spLocks noChangeShapeType="1"/>
            </p:cNvSpPr>
            <p:nvPr userDrawn="1"/>
          </p:nvSpPr>
          <p:spPr bwMode="auto">
            <a:xfrm>
              <a:off x="0" y="1163"/>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3" name="Line 190"/>
            <p:cNvSpPr>
              <a:spLocks noChangeShapeType="1"/>
            </p:cNvSpPr>
            <p:nvPr userDrawn="1"/>
          </p:nvSpPr>
          <p:spPr bwMode="auto">
            <a:xfrm>
              <a:off x="0" y="1037"/>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4" name="Line 191"/>
            <p:cNvSpPr>
              <a:spLocks noChangeShapeType="1"/>
            </p:cNvSpPr>
            <p:nvPr userDrawn="1"/>
          </p:nvSpPr>
          <p:spPr bwMode="auto">
            <a:xfrm>
              <a:off x="0" y="1091"/>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5" name="Line 192"/>
            <p:cNvSpPr>
              <a:spLocks noChangeShapeType="1"/>
            </p:cNvSpPr>
            <p:nvPr userDrawn="1"/>
          </p:nvSpPr>
          <p:spPr bwMode="auto">
            <a:xfrm>
              <a:off x="0" y="128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6" name="Line 193"/>
            <p:cNvSpPr>
              <a:spLocks noChangeShapeType="1"/>
            </p:cNvSpPr>
            <p:nvPr userDrawn="1"/>
          </p:nvSpPr>
          <p:spPr bwMode="auto">
            <a:xfrm>
              <a:off x="0" y="1268"/>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7" name="Line 194"/>
            <p:cNvSpPr>
              <a:spLocks noChangeShapeType="1"/>
            </p:cNvSpPr>
            <p:nvPr userDrawn="1"/>
          </p:nvSpPr>
          <p:spPr bwMode="auto">
            <a:xfrm>
              <a:off x="0" y="860"/>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8" name="Line 195"/>
            <p:cNvSpPr>
              <a:spLocks noChangeShapeType="1"/>
            </p:cNvSpPr>
            <p:nvPr userDrawn="1"/>
          </p:nvSpPr>
          <p:spPr bwMode="auto">
            <a:xfrm>
              <a:off x="0" y="896"/>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89" name="Line 196"/>
            <p:cNvSpPr>
              <a:spLocks noChangeShapeType="1"/>
            </p:cNvSpPr>
            <p:nvPr userDrawn="1"/>
          </p:nvSpPr>
          <p:spPr bwMode="auto">
            <a:xfrm>
              <a:off x="0" y="92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0" name="Line 197"/>
            <p:cNvSpPr>
              <a:spLocks noChangeShapeType="1"/>
            </p:cNvSpPr>
            <p:nvPr userDrawn="1"/>
          </p:nvSpPr>
          <p:spPr bwMode="auto">
            <a:xfrm>
              <a:off x="0" y="770"/>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1" name="Line 198"/>
            <p:cNvSpPr>
              <a:spLocks noChangeShapeType="1"/>
            </p:cNvSpPr>
            <p:nvPr userDrawn="1"/>
          </p:nvSpPr>
          <p:spPr bwMode="auto">
            <a:xfrm>
              <a:off x="0" y="815"/>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2" name="Line 199"/>
            <p:cNvSpPr>
              <a:spLocks noChangeShapeType="1"/>
            </p:cNvSpPr>
            <p:nvPr userDrawn="1"/>
          </p:nvSpPr>
          <p:spPr bwMode="auto">
            <a:xfrm>
              <a:off x="0" y="718"/>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3" name="Line 200"/>
            <p:cNvSpPr>
              <a:spLocks noChangeShapeType="1"/>
            </p:cNvSpPr>
            <p:nvPr userDrawn="1"/>
          </p:nvSpPr>
          <p:spPr bwMode="auto">
            <a:xfrm>
              <a:off x="0" y="646"/>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4" name="Line 201"/>
            <p:cNvSpPr>
              <a:spLocks noChangeShapeType="1"/>
            </p:cNvSpPr>
            <p:nvPr userDrawn="1"/>
          </p:nvSpPr>
          <p:spPr bwMode="auto">
            <a:xfrm>
              <a:off x="0" y="522"/>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5" name="Line 202"/>
            <p:cNvSpPr>
              <a:spLocks noChangeShapeType="1"/>
            </p:cNvSpPr>
            <p:nvPr userDrawn="1"/>
          </p:nvSpPr>
          <p:spPr bwMode="auto">
            <a:xfrm>
              <a:off x="0" y="558"/>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6" name="Line 203"/>
            <p:cNvSpPr>
              <a:spLocks noChangeShapeType="1"/>
            </p:cNvSpPr>
            <p:nvPr userDrawn="1"/>
          </p:nvSpPr>
          <p:spPr bwMode="auto">
            <a:xfrm>
              <a:off x="0" y="591"/>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7" name="Line 204"/>
            <p:cNvSpPr>
              <a:spLocks noChangeShapeType="1"/>
            </p:cNvSpPr>
            <p:nvPr userDrawn="1"/>
          </p:nvSpPr>
          <p:spPr bwMode="auto">
            <a:xfrm>
              <a:off x="0" y="432"/>
              <a:ext cx="624" cy="0"/>
            </a:xfrm>
            <a:prstGeom prst="line">
              <a:avLst/>
            </a:prstGeom>
            <a:noFill/>
            <a:ln w="2857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8" name="Line 205"/>
            <p:cNvSpPr>
              <a:spLocks noChangeShapeType="1"/>
            </p:cNvSpPr>
            <p:nvPr userDrawn="1"/>
          </p:nvSpPr>
          <p:spPr bwMode="auto">
            <a:xfrm>
              <a:off x="0" y="384"/>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99" name="Line 206"/>
            <p:cNvSpPr>
              <a:spLocks noChangeShapeType="1"/>
            </p:cNvSpPr>
            <p:nvPr userDrawn="1"/>
          </p:nvSpPr>
          <p:spPr bwMode="auto">
            <a:xfrm>
              <a:off x="0" y="477"/>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0" name="Line 207"/>
            <p:cNvSpPr>
              <a:spLocks noChangeShapeType="1"/>
            </p:cNvSpPr>
            <p:nvPr userDrawn="1"/>
          </p:nvSpPr>
          <p:spPr bwMode="auto">
            <a:xfrm>
              <a:off x="0" y="339"/>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1" name="Line 208"/>
            <p:cNvSpPr>
              <a:spLocks noChangeShapeType="1"/>
            </p:cNvSpPr>
            <p:nvPr userDrawn="1"/>
          </p:nvSpPr>
          <p:spPr bwMode="auto">
            <a:xfrm>
              <a:off x="0" y="318"/>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2" name="Line 209"/>
            <p:cNvSpPr>
              <a:spLocks noChangeShapeType="1"/>
            </p:cNvSpPr>
            <p:nvPr userDrawn="1"/>
          </p:nvSpPr>
          <p:spPr bwMode="auto">
            <a:xfrm>
              <a:off x="0" y="258"/>
              <a:ext cx="624" cy="0"/>
            </a:xfrm>
            <a:prstGeom prst="line">
              <a:avLst/>
            </a:prstGeom>
            <a:noFill/>
            <a:ln w="1905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3" name="Line 210"/>
            <p:cNvSpPr>
              <a:spLocks noChangeShapeType="1"/>
            </p:cNvSpPr>
            <p:nvPr userDrawn="1"/>
          </p:nvSpPr>
          <p:spPr bwMode="auto">
            <a:xfrm>
              <a:off x="0" y="70"/>
              <a:ext cx="624" cy="0"/>
            </a:xfrm>
            <a:prstGeom prst="line">
              <a:avLst/>
            </a:prstGeom>
            <a:noFill/>
            <a:ln w="9525">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4" name="Line 211"/>
            <p:cNvSpPr>
              <a:spLocks noChangeShapeType="1"/>
            </p:cNvSpPr>
            <p:nvPr userDrawn="1"/>
          </p:nvSpPr>
          <p:spPr bwMode="auto">
            <a:xfrm>
              <a:off x="0" y="43"/>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5" name="Line 212"/>
            <p:cNvSpPr>
              <a:spLocks noChangeShapeType="1"/>
            </p:cNvSpPr>
            <p:nvPr userDrawn="1"/>
          </p:nvSpPr>
          <p:spPr bwMode="auto">
            <a:xfrm>
              <a:off x="0" y="91"/>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6" name="Line 213"/>
            <p:cNvSpPr>
              <a:spLocks noChangeShapeType="1"/>
            </p:cNvSpPr>
            <p:nvPr userDrawn="1"/>
          </p:nvSpPr>
          <p:spPr bwMode="auto">
            <a:xfrm>
              <a:off x="0" y="145"/>
              <a:ext cx="624" cy="0"/>
            </a:xfrm>
            <a:prstGeom prst="line">
              <a:avLst/>
            </a:prstGeom>
            <a:noFill/>
            <a:ln w="127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107" name="Line 214"/>
            <p:cNvSpPr>
              <a:spLocks noChangeShapeType="1"/>
            </p:cNvSpPr>
            <p:nvPr userDrawn="1"/>
          </p:nvSpPr>
          <p:spPr bwMode="auto">
            <a:xfrm>
              <a:off x="0" y="202"/>
              <a:ext cx="624" cy="0"/>
            </a:xfrm>
            <a:prstGeom prst="line">
              <a:avLst/>
            </a:prstGeom>
            <a:noFill/>
            <a:ln w="38100">
              <a:solidFill>
                <a:srgbClr val="339933"/>
              </a:solidFill>
              <a:round/>
              <a:headEnd/>
              <a:tailEnd/>
            </a:ln>
            <a:effectLst/>
          </p:spPr>
          <p:txBody>
            <a:bodyPr wrap="none" anchor="ctr"/>
            <a:lstStyle/>
            <a:p>
              <a:pPr fontAlgn="auto">
                <a:spcBef>
                  <a:spcPts val="0"/>
                </a:spcBef>
                <a:spcAft>
                  <a:spcPts val="0"/>
                </a:spcAft>
                <a:defRPr/>
              </a:pPr>
              <a:endParaRPr lang="en-US">
                <a:latin typeface="+mn-lt"/>
                <a:cs typeface="+mn-cs"/>
              </a:endParaRPr>
            </a:p>
          </p:txBody>
        </p:sp>
      </p:grpSp>
      <p:pic>
        <p:nvPicPr>
          <p:cNvPr id="108" name="Picture 215" descr="logo"/>
          <p:cNvPicPr>
            <a:picLocks noChangeAspect="1" noChangeArrowheads="1"/>
          </p:cNvPicPr>
          <p:nvPr userDrawn="1"/>
        </p:nvPicPr>
        <p:blipFill>
          <a:blip r:embed="rId3" cstate="print"/>
          <a:srcRect/>
          <a:stretch>
            <a:fillRect/>
          </a:stretch>
        </p:blipFill>
        <p:spPr bwMode="auto">
          <a:xfrm>
            <a:off x="381000" y="533400"/>
            <a:ext cx="2093913" cy="2112963"/>
          </a:xfrm>
          <a:prstGeom prst="rect">
            <a:avLst/>
          </a:prstGeom>
          <a:noFill/>
          <a:ln w="9525">
            <a:noFill/>
            <a:miter lim="800000"/>
            <a:headEnd/>
            <a:tailEnd/>
          </a:ln>
        </p:spPr>
      </p:pic>
      <p:sp>
        <p:nvSpPr>
          <p:cNvPr id="260207" name="Rectangle 111"/>
          <p:cNvSpPr>
            <a:spLocks noGrp="1" noChangeArrowheads="1"/>
          </p:cNvSpPr>
          <p:nvPr>
            <p:ph type="ctrTitle"/>
          </p:nvPr>
        </p:nvSpPr>
        <p:spPr>
          <a:xfrm>
            <a:off x="2574925" y="609600"/>
            <a:ext cx="6416675" cy="1828800"/>
          </a:xfrm>
        </p:spPr>
        <p:txBody>
          <a:bodyPr/>
          <a:lstStyle>
            <a:lvl1pPr>
              <a:defRPr sz="3800">
                <a:solidFill>
                  <a:schemeClr val="accent2"/>
                </a:solidFill>
                <a:effectLst>
                  <a:outerShdw blurRad="38100" dist="38100" dir="2700000" algn="tl">
                    <a:srgbClr val="C0C0C0"/>
                  </a:outerShdw>
                </a:effectLst>
              </a:defRPr>
            </a:lvl1pPr>
          </a:lstStyle>
          <a:p>
            <a:r>
              <a:rPr lang="en-US" dirty="0"/>
              <a:t>Click to edit Master title style</a:t>
            </a:r>
          </a:p>
        </p:txBody>
      </p:sp>
      <p:sp>
        <p:nvSpPr>
          <p:cNvPr id="260208" name="Rectangle 112"/>
          <p:cNvSpPr>
            <a:spLocks noGrp="1" noChangeArrowheads="1"/>
          </p:cNvSpPr>
          <p:nvPr>
            <p:ph type="subTitle" idx="1"/>
          </p:nvPr>
        </p:nvSpPr>
        <p:spPr>
          <a:xfrm>
            <a:off x="0" y="3684588"/>
            <a:ext cx="9144000" cy="1649412"/>
          </a:xfrm>
        </p:spPr>
        <p:txBody>
          <a:bodyPr/>
          <a:lstStyle>
            <a:lvl1pPr marL="0" indent="0" algn="ctr">
              <a:spcBef>
                <a:spcPct val="0"/>
              </a:spcBef>
              <a:buFont typeface="Wingdings" pitchFamily="2" charset="2"/>
              <a:buNone/>
              <a:defRPr b="0"/>
            </a:lvl1pPr>
          </a:lstStyle>
          <a:p>
            <a:endParaRPr lang="en-US" dirty="0"/>
          </a:p>
        </p:txBody>
      </p:sp>
      <p:sp>
        <p:nvSpPr>
          <p:cNvPr id="109" name="Slide Number Placeholder 108"/>
          <p:cNvSpPr>
            <a:spLocks noGrp="1"/>
          </p:cNvSpPr>
          <p:nvPr>
            <p:ph type="sldNum" sz="quarter" idx="10"/>
          </p:nvPr>
        </p:nvSpPr>
        <p:spPr/>
        <p:txBody>
          <a:bodyPr/>
          <a:lstStyle>
            <a:lvl1pPr>
              <a:defRPr/>
            </a:lvl1pPr>
          </a:lstStyle>
          <a:p>
            <a:pPr>
              <a:defRPr/>
            </a:pPr>
            <a:fld id="{916DF7A4-36D8-4582-8EA7-02A2BF189FB3}" type="slidenum">
              <a:rPr lang="en-US"/>
              <a:pPr>
                <a:defRPr/>
              </a:pPr>
              <a:t>‹#›</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Left)">
                                      <p:cBhvr>
                                        <p:cTn id="7" dur="500"/>
                                        <p:tgtEl>
                                          <p:spTgt spid="6"/>
                                        </p:tgtEl>
                                      </p:cBhvr>
                                    </p:animEffect>
                                  </p:childTnLst>
                                </p:cTn>
                              </p:par>
                            </p:childTnLst>
                          </p:cTn>
                        </p:par>
                        <p:par>
                          <p:cTn id="8" fill="hold">
                            <p:stCondLst>
                              <p:cond delay="500"/>
                            </p:stCondLst>
                            <p:childTnLst>
                              <p:par>
                                <p:cTn id="9" presetID="1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slide(fromLeft)">
                                      <p:cBhvr>
                                        <p:cTn id="11" dur="500"/>
                                        <p:tgtEl>
                                          <p:spTgt spid="7"/>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slide(fromLeft)">
                                      <p:cBhvr>
                                        <p:cTn id="1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P spid="7" grpId="0" animBg="1" autoUpdateAnimBg="0"/>
      <p:bldP spid="8" grpId="0" animBg="1" autoUpdateAnimBg="0"/>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09625" y="2214563"/>
            <a:ext cx="3902075" cy="4033837"/>
          </a:xfrm>
        </p:spPr>
        <p:txBody>
          <a:bodyPr/>
          <a:lstStyle>
            <a:lvl1pPr>
              <a:defRPr sz="2800"/>
            </a:lvl1pPr>
            <a:lvl2pPr>
              <a:defRPr sz="2400"/>
            </a:lvl2pPr>
            <a:lvl3pPr>
              <a:defRPr sz="2000"/>
            </a:lvl3pPr>
            <a:lvl4pPr>
              <a:buNone/>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Content Placeholder 3"/>
          <p:cNvSpPr>
            <a:spLocks noGrp="1"/>
          </p:cNvSpPr>
          <p:nvPr>
            <p:ph sz="half" idx="2"/>
          </p:nvPr>
        </p:nvSpPr>
        <p:spPr>
          <a:xfrm>
            <a:off x="4864100" y="2214563"/>
            <a:ext cx="3903663" cy="403383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p:txBody>
      </p:sp>
      <p:sp>
        <p:nvSpPr>
          <p:cNvPr id="5" name="Rectangle 4"/>
          <p:cNvSpPr>
            <a:spLocks noGrp="1" noChangeArrowheads="1"/>
          </p:cNvSpPr>
          <p:nvPr>
            <p:ph type="sldNum" sz="quarter" idx="10"/>
          </p:nvPr>
        </p:nvSpPr>
        <p:spPr>
          <a:ln/>
        </p:spPr>
        <p:txBody>
          <a:bodyPr/>
          <a:lstStyle>
            <a:lvl1pPr>
              <a:defRPr/>
            </a:lvl1pPr>
          </a:lstStyle>
          <a:p>
            <a:pPr>
              <a:defRPr/>
            </a:pPr>
            <a:fld id="{6E67401A-9529-4683-925F-79CE7112CB40}"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sldNum" sz="quarter" idx="10"/>
          </p:nvPr>
        </p:nvSpPr>
        <p:spPr>
          <a:ln/>
        </p:spPr>
        <p:txBody>
          <a:bodyPr/>
          <a:lstStyle>
            <a:lvl1pPr>
              <a:defRPr/>
            </a:lvl1pPr>
          </a:lstStyle>
          <a:p>
            <a:pPr>
              <a:defRPr/>
            </a:pPr>
            <a:fld id="{583016C2-C569-49C7-A28E-7F9FE85C576B}"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NTC">
    <p:spTree>
      <p:nvGrpSpPr>
        <p:cNvPr id="1" name=""/>
        <p:cNvGrpSpPr/>
        <p:nvPr/>
      </p:nvGrpSpPr>
      <p:grpSpPr>
        <a:xfrm>
          <a:off x="0" y="0"/>
          <a:ext cx="0" cy="0"/>
          <a:chOff x="0" y="0"/>
          <a:chExt cx="0" cy="0"/>
        </a:xfrm>
      </p:grpSpPr>
      <p:sp>
        <p:nvSpPr>
          <p:cNvPr id="2" name="Rectangle 4"/>
          <p:cNvSpPr>
            <a:spLocks noGrp="1" noChangeArrowheads="1"/>
          </p:cNvSpPr>
          <p:nvPr>
            <p:ph type="sldNum" sz="quarter" idx="10"/>
          </p:nvPr>
        </p:nvSpPr>
        <p:spPr>
          <a:ln/>
        </p:spPr>
        <p:txBody>
          <a:bodyPr/>
          <a:lstStyle>
            <a:lvl1pPr>
              <a:defRPr/>
            </a:lvl1pPr>
          </a:lstStyle>
          <a:p>
            <a:pPr>
              <a:defRPr/>
            </a:pPr>
            <a:fld id="{68D136BC-0CA4-47D8-82FF-5AFD0F8B6C9C}"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65300" y="304800"/>
            <a:ext cx="7150100" cy="1143000"/>
          </a:xfrm>
        </p:spPr>
        <p:txBody>
          <a:bodyPr/>
          <a:lstStyle>
            <a:lvl1pPr>
              <a:defRPr>
                <a:latin typeface="Arial" pitchFamily="34" charset="0"/>
                <a:cs typeface="Arial" pitchFamily="34" charset="0"/>
              </a:defRPr>
            </a:lvl1pPr>
          </a:lstStyle>
          <a:p>
            <a:r>
              <a:rPr lang="en-US" dirty="0" smtClean="0"/>
              <a:t>Click to edit Master title style</a:t>
            </a:r>
            <a:endParaRPr lang="en-US" dirty="0"/>
          </a:p>
        </p:txBody>
      </p:sp>
      <p:sp>
        <p:nvSpPr>
          <p:cNvPr id="3" name="Text Placeholder 2"/>
          <p:cNvSpPr>
            <a:spLocks noGrp="1"/>
          </p:cNvSpPr>
          <p:nvPr>
            <p:ph type="body" sz="half" idx="1"/>
          </p:nvPr>
        </p:nvSpPr>
        <p:spPr>
          <a:xfrm>
            <a:off x="809625" y="2214563"/>
            <a:ext cx="3902075" cy="4033837"/>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stStyle>
          <a:p>
            <a:pPr lvl="0"/>
            <a:r>
              <a:rPr lang="en-US" dirty="0" smtClean="0"/>
              <a:t>Click to edit Master text styles</a:t>
            </a:r>
          </a:p>
          <a:p>
            <a:pPr lvl="1"/>
            <a:r>
              <a:rPr lang="en-US" dirty="0" smtClean="0"/>
              <a:t>Second level</a:t>
            </a:r>
          </a:p>
          <a:p>
            <a:pPr lvl="2"/>
            <a:r>
              <a:rPr lang="en-US" dirty="0" smtClean="0"/>
              <a:t>Third level</a:t>
            </a:r>
          </a:p>
        </p:txBody>
      </p:sp>
      <p:sp>
        <p:nvSpPr>
          <p:cNvPr id="4" name="Content Placeholder 3"/>
          <p:cNvSpPr>
            <a:spLocks noGrp="1"/>
          </p:cNvSpPr>
          <p:nvPr>
            <p:ph sz="half" idx="2"/>
          </p:nvPr>
        </p:nvSpPr>
        <p:spPr>
          <a:xfrm>
            <a:off x="4864100" y="2214563"/>
            <a:ext cx="3903663" cy="4033837"/>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stStyle>
          <a:p>
            <a:pPr lvl="0"/>
            <a:r>
              <a:rPr lang="en-US" dirty="0" smtClean="0"/>
              <a:t>Click to edit Master text styles</a:t>
            </a:r>
          </a:p>
          <a:p>
            <a:pPr lvl="1"/>
            <a:r>
              <a:rPr lang="en-US" dirty="0" smtClean="0"/>
              <a:t>Second level</a:t>
            </a:r>
          </a:p>
          <a:p>
            <a:pPr lvl="2"/>
            <a:r>
              <a:rPr lang="en-US" dirty="0" smtClean="0"/>
              <a:t>Third level</a:t>
            </a:r>
          </a:p>
        </p:txBody>
      </p:sp>
      <p:sp>
        <p:nvSpPr>
          <p:cNvPr id="5" name="Rectangle 4"/>
          <p:cNvSpPr>
            <a:spLocks noGrp="1" noChangeArrowheads="1"/>
          </p:cNvSpPr>
          <p:nvPr>
            <p:ph type="sldNum" sz="quarter" idx="10"/>
          </p:nvPr>
        </p:nvSpPr>
        <p:spPr>
          <a:ln/>
        </p:spPr>
        <p:txBody>
          <a:bodyPr/>
          <a:lstStyle>
            <a:lvl1pPr>
              <a:defRPr/>
            </a:lvl1pPr>
          </a:lstStyle>
          <a:p>
            <a:pPr>
              <a:defRPr/>
            </a:pPr>
            <a:fld id="{133B4D10-5E7E-4A94-9526-364C4903E1BE}"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ClipArt" preserve="1">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1765300" y="304800"/>
            <a:ext cx="71501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09625" y="2214563"/>
            <a:ext cx="3902075" cy="4033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lipArt Placeholder 3"/>
          <p:cNvSpPr>
            <a:spLocks noGrp="1"/>
          </p:cNvSpPr>
          <p:nvPr>
            <p:ph type="clipArt" sz="half" idx="2"/>
          </p:nvPr>
        </p:nvSpPr>
        <p:spPr>
          <a:xfrm>
            <a:off x="4864100" y="2214563"/>
            <a:ext cx="3903663" cy="4033837"/>
          </a:xfrm>
        </p:spPr>
        <p:txBody>
          <a:bodyPr/>
          <a:lstStyle/>
          <a:p>
            <a:pPr lvl="0"/>
            <a:endParaRPr lang="en-US" noProof="0" smtClean="0"/>
          </a:p>
        </p:txBody>
      </p:sp>
      <p:sp>
        <p:nvSpPr>
          <p:cNvPr id="5" name="Rectangle 4"/>
          <p:cNvSpPr>
            <a:spLocks noGrp="1" noChangeArrowheads="1"/>
          </p:cNvSpPr>
          <p:nvPr>
            <p:ph type="sldNum" sz="quarter" idx="10"/>
          </p:nvPr>
        </p:nvSpPr>
        <p:spPr>
          <a:ln/>
        </p:spPr>
        <p:txBody>
          <a:bodyPr/>
          <a:lstStyle>
            <a:lvl1pPr>
              <a:defRPr/>
            </a:lvl1pPr>
          </a:lstStyle>
          <a:p>
            <a:pPr>
              <a:defRPr/>
            </a:pPr>
            <a:fld id="{6281531C-88B1-408B-A77A-5C3AA5690EE0}"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533400" y="2214563"/>
            <a:ext cx="8234363" cy="40338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sldNum" sz="quarter" idx="10"/>
          </p:nvPr>
        </p:nvSpPr>
        <p:spPr>
          <a:ln/>
        </p:spPr>
        <p:txBody>
          <a:bodyPr/>
          <a:lstStyle>
            <a:lvl1pPr>
              <a:defRPr/>
            </a:lvl1pPr>
          </a:lstStyle>
          <a:p>
            <a:pPr>
              <a:defRPr/>
            </a:pPr>
            <a:fld id="{ADBE731E-E51F-4627-988E-DF7B26DCA77D}"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6B63E7F-9D71-4208-A65D-8AD94104F35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FB91F02-7842-4725-8A26-C2497D8D6907}"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35519F1D-B872-44ED-8B18-3DB4044E995E}"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6E06EF27-47C3-4642-AF76-0BEE600EEAE9}" type="slidenum">
              <a:rPr lang="en-US"/>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FB8C85-B288-4A24-B096-934A2CCAA512}"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6F1A1E5-E83E-40DF-BD20-AB6DDE7E2094}" type="slidenum">
              <a:rPr lang="en-US"/>
              <a:pPr>
                <a:defRPr/>
              </a:pPr>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F66427B-C31E-474B-AC0B-C660F5FBFA60}"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31CB78C-ADE4-48A9-97F5-1513E8639116}"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1FCDF73-2871-4942-BAD0-666676FD551E}"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BFBF224B-4A1E-47B4-98FD-5EF886C77110}"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5AE3D7E-888A-4350-8542-1DF5D8DB891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9074" name="Rectangle 2"/>
          <p:cNvSpPr>
            <a:spLocks noChangeArrowheads="1"/>
          </p:cNvSpPr>
          <p:nvPr/>
        </p:nvSpPr>
        <p:spPr bwMode="auto">
          <a:xfrm>
            <a:off x="685800" y="152400"/>
            <a:ext cx="5662613" cy="77788"/>
          </a:xfrm>
          <a:prstGeom prst="rect">
            <a:avLst/>
          </a:prstGeom>
          <a:solidFill>
            <a:schemeClr val="hlink"/>
          </a:solidFill>
          <a:ln w="9525">
            <a:noFill/>
            <a:miter lim="800000"/>
            <a:headEnd/>
            <a:tailEnd/>
          </a:ln>
          <a:effectLst/>
        </p:spPr>
        <p:txBody>
          <a:bodyPr wrap="none" anchor="ctr"/>
          <a:lstStyle/>
          <a:p>
            <a:pPr fontAlgn="auto">
              <a:spcBef>
                <a:spcPts val="0"/>
              </a:spcBef>
              <a:spcAft>
                <a:spcPts val="0"/>
              </a:spcAft>
              <a:defRPr/>
            </a:pPr>
            <a:endParaRPr lang="en-US">
              <a:latin typeface="+mn-lt"/>
              <a:cs typeface="+mn-cs"/>
            </a:endParaRPr>
          </a:p>
        </p:txBody>
      </p:sp>
      <p:sp>
        <p:nvSpPr>
          <p:cNvPr id="5123" name="Rectangle 3"/>
          <p:cNvSpPr>
            <a:spLocks noGrp="1" noChangeArrowheads="1"/>
          </p:cNvSpPr>
          <p:nvPr>
            <p:ph type="body" idx="1"/>
          </p:nvPr>
        </p:nvSpPr>
        <p:spPr bwMode="auto">
          <a:xfrm>
            <a:off x="809625" y="2214563"/>
            <a:ext cx="7958138" cy="40338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p:txBody>
      </p:sp>
      <p:sp>
        <p:nvSpPr>
          <p:cNvPr id="259076" name="Rectangle 4"/>
          <p:cNvSpPr>
            <a:spLocks noGrp="1" noChangeArrowheads="1"/>
          </p:cNvSpPr>
          <p:nvPr>
            <p:ph type="sldNum" sz="quarter" idx="4"/>
          </p:nvPr>
        </p:nvSpPr>
        <p:spPr bwMode="auto">
          <a:xfrm>
            <a:off x="6846888" y="6291263"/>
            <a:ext cx="2193925" cy="457200"/>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fontAlgn="auto">
              <a:spcBef>
                <a:spcPts val="0"/>
              </a:spcBef>
              <a:spcAft>
                <a:spcPts val="0"/>
              </a:spcAft>
              <a:defRPr sz="1400">
                <a:latin typeface="+mn-lt"/>
                <a:cs typeface="+mn-cs"/>
              </a:defRPr>
            </a:lvl1pPr>
          </a:lstStyle>
          <a:p>
            <a:pPr>
              <a:defRPr/>
            </a:pPr>
            <a:fld id="{DCDF85DD-BA8F-4D20-AED0-35FFAC71B02D}" type="slidenum">
              <a:rPr lang="en-US"/>
              <a:pPr>
                <a:defRPr/>
              </a:pPr>
              <a:t>‹#›</a:t>
            </a:fld>
            <a:endParaRPr lang="en-US" dirty="0"/>
          </a:p>
        </p:txBody>
      </p:sp>
      <p:sp>
        <p:nvSpPr>
          <p:cNvPr id="5125" name="Rectangle 5"/>
          <p:cNvSpPr>
            <a:spLocks noGrp="1" noChangeArrowheads="1"/>
          </p:cNvSpPr>
          <p:nvPr>
            <p:ph type="title"/>
          </p:nvPr>
        </p:nvSpPr>
        <p:spPr bwMode="auto">
          <a:xfrm>
            <a:off x="1765300" y="304800"/>
            <a:ext cx="71501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259078" name="Rectangle 6"/>
          <p:cNvSpPr>
            <a:spLocks noChangeArrowheads="1"/>
          </p:cNvSpPr>
          <p:nvPr/>
        </p:nvSpPr>
        <p:spPr bwMode="auto">
          <a:xfrm>
            <a:off x="204788" y="6457950"/>
            <a:ext cx="5053012" cy="323850"/>
          </a:xfrm>
          <a:prstGeom prst="rect">
            <a:avLst/>
          </a:prstGeom>
          <a:noFill/>
          <a:ln w="9525">
            <a:noFill/>
            <a:miter lim="800000"/>
            <a:headEnd/>
            <a:tailEnd/>
          </a:ln>
          <a:effectLst/>
        </p:spPr>
        <p:txBody>
          <a:bodyPr lIns="0" tIns="0" rIns="0" bIns="0" anchor="b"/>
          <a:lstStyle/>
          <a:p>
            <a:pPr fontAlgn="auto">
              <a:spcBef>
                <a:spcPts val="0"/>
              </a:spcBef>
              <a:spcAft>
                <a:spcPts val="0"/>
              </a:spcAft>
              <a:defRPr/>
            </a:pPr>
            <a:r>
              <a:rPr lang="en-US" sz="1200" dirty="0">
                <a:cs typeface="+mn-cs"/>
              </a:rPr>
              <a:t>SAF-280 Integration of Safety into the Design Process, DOE-STD-1189</a:t>
            </a:r>
          </a:p>
        </p:txBody>
      </p:sp>
      <p:sp>
        <p:nvSpPr>
          <p:cNvPr id="259079" name="Rectangle 7"/>
          <p:cNvSpPr>
            <a:spLocks noChangeArrowheads="1"/>
          </p:cNvSpPr>
          <p:nvPr/>
        </p:nvSpPr>
        <p:spPr bwMode="auto">
          <a:xfrm>
            <a:off x="838200" y="76200"/>
            <a:ext cx="411163" cy="1652588"/>
          </a:xfrm>
          <a:prstGeom prst="rect">
            <a:avLst/>
          </a:prstGeom>
          <a:solidFill>
            <a:srgbClr val="339933"/>
          </a:solidFill>
          <a:ln w="9525">
            <a:solidFill>
              <a:srgbClr val="339933"/>
            </a:solidFill>
            <a:miter lim="800000"/>
            <a:headEnd/>
            <a:tailEnd/>
          </a:ln>
          <a:effectLst>
            <a:prstShdw prst="shdw17" dist="17961" dir="2700000">
              <a:srgbClr val="339933">
                <a:gamma/>
                <a:shade val="60000"/>
                <a:invGamma/>
              </a:srgbClr>
            </a:prstShdw>
          </a:effectLst>
        </p:spPr>
        <p:txBody>
          <a:bodyPr wrap="none" anchor="ctr"/>
          <a:lstStyle/>
          <a:p>
            <a:pPr fontAlgn="auto">
              <a:spcBef>
                <a:spcPts val="0"/>
              </a:spcBef>
              <a:spcAft>
                <a:spcPts val="0"/>
              </a:spcAft>
              <a:defRPr/>
            </a:pPr>
            <a:endParaRPr lang="en-US">
              <a:latin typeface="+mn-lt"/>
              <a:cs typeface="+mn-cs"/>
            </a:endParaRPr>
          </a:p>
        </p:txBody>
      </p:sp>
      <p:sp>
        <p:nvSpPr>
          <p:cNvPr id="259080" name="Rectangle 8"/>
          <p:cNvSpPr>
            <a:spLocks noChangeArrowheads="1"/>
          </p:cNvSpPr>
          <p:nvPr/>
        </p:nvSpPr>
        <p:spPr bwMode="auto">
          <a:xfrm>
            <a:off x="3200400" y="1524000"/>
            <a:ext cx="5662613" cy="77788"/>
          </a:xfrm>
          <a:prstGeom prst="rect">
            <a:avLst/>
          </a:prstGeom>
          <a:solidFill>
            <a:schemeClr val="hlink"/>
          </a:solidFill>
          <a:ln w="9525">
            <a:noFill/>
            <a:miter lim="800000"/>
            <a:headEnd/>
            <a:tailEnd/>
          </a:ln>
          <a:effectLst/>
        </p:spPr>
        <p:txBody>
          <a:bodyPr wrap="none" anchor="ctr"/>
          <a:lstStyle/>
          <a:p>
            <a:pPr fontAlgn="auto">
              <a:spcBef>
                <a:spcPts val="0"/>
              </a:spcBef>
              <a:spcAft>
                <a:spcPts val="0"/>
              </a:spcAft>
              <a:defRPr/>
            </a:pPr>
            <a:endParaRPr lang="en-US">
              <a:latin typeface="+mn-lt"/>
              <a:cs typeface="+mn-cs"/>
            </a:endParaRPr>
          </a:p>
        </p:txBody>
      </p:sp>
      <p:pic>
        <p:nvPicPr>
          <p:cNvPr id="5129" name="Picture 9" descr="logo"/>
          <p:cNvPicPr>
            <a:picLocks noChangeAspect="1" noChangeArrowheads="1"/>
          </p:cNvPicPr>
          <p:nvPr/>
        </p:nvPicPr>
        <p:blipFill>
          <a:blip r:embed="rId9" cstate="print"/>
          <a:srcRect/>
          <a:stretch>
            <a:fillRect/>
          </a:stretch>
        </p:blipFill>
        <p:spPr bwMode="auto">
          <a:xfrm>
            <a:off x="381000" y="304800"/>
            <a:ext cx="1262063" cy="1274763"/>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963" r:id="rId1"/>
    <p:sldLayoutId id="2147483946" r:id="rId2"/>
    <p:sldLayoutId id="2147483947" r:id="rId3"/>
    <p:sldLayoutId id="2147483948" r:id="rId4"/>
    <p:sldLayoutId id="2147483949" r:id="rId5"/>
    <p:sldLayoutId id="2147483950" r:id="rId6"/>
    <p:sldLayoutId id="2147483951" r:id="rId7"/>
  </p:sldLayoutIdLst>
  <p:hf hdr="0" ftr="0" dt="0"/>
  <p:txStyles>
    <p:titleStyle>
      <a:lvl1pPr algn="ctr" rtl="0" eaLnBrk="0" fontAlgn="base" hangingPunct="0">
        <a:spcBef>
          <a:spcPct val="0"/>
        </a:spcBef>
        <a:spcAft>
          <a:spcPct val="0"/>
        </a:spcAft>
        <a:defRPr sz="3600" b="1">
          <a:solidFill>
            <a:srgbClr val="008000"/>
          </a:solidFill>
          <a:latin typeface="Arial" pitchFamily="34" charset="0"/>
          <a:ea typeface="+mj-ea"/>
          <a:cs typeface="Arial" pitchFamily="34" charset="0"/>
        </a:defRPr>
      </a:lvl1pPr>
      <a:lvl2pPr algn="ctr" rtl="0" eaLnBrk="0" fontAlgn="base" hangingPunct="0">
        <a:spcBef>
          <a:spcPct val="0"/>
        </a:spcBef>
        <a:spcAft>
          <a:spcPct val="0"/>
        </a:spcAft>
        <a:defRPr sz="3600" b="1">
          <a:solidFill>
            <a:srgbClr val="008000"/>
          </a:solidFill>
          <a:latin typeface="Arial" charset="0"/>
          <a:cs typeface="Arial" charset="0"/>
        </a:defRPr>
      </a:lvl2pPr>
      <a:lvl3pPr algn="ctr" rtl="0" eaLnBrk="0" fontAlgn="base" hangingPunct="0">
        <a:spcBef>
          <a:spcPct val="0"/>
        </a:spcBef>
        <a:spcAft>
          <a:spcPct val="0"/>
        </a:spcAft>
        <a:defRPr sz="3600" b="1">
          <a:solidFill>
            <a:srgbClr val="008000"/>
          </a:solidFill>
          <a:latin typeface="Arial" charset="0"/>
          <a:cs typeface="Arial" charset="0"/>
        </a:defRPr>
      </a:lvl3pPr>
      <a:lvl4pPr algn="ctr" rtl="0" eaLnBrk="0" fontAlgn="base" hangingPunct="0">
        <a:spcBef>
          <a:spcPct val="0"/>
        </a:spcBef>
        <a:spcAft>
          <a:spcPct val="0"/>
        </a:spcAft>
        <a:defRPr sz="3600" b="1">
          <a:solidFill>
            <a:srgbClr val="008000"/>
          </a:solidFill>
          <a:latin typeface="Arial" charset="0"/>
          <a:cs typeface="Arial" charset="0"/>
        </a:defRPr>
      </a:lvl4pPr>
      <a:lvl5pPr algn="ctr" rtl="0" eaLnBrk="0" fontAlgn="base" hangingPunct="0">
        <a:spcBef>
          <a:spcPct val="0"/>
        </a:spcBef>
        <a:spcAft>
          <a:spcPct val="0"/>
        </a:spcAft>
        <a:defRPr sz="3600" b="1">
          <a:solidFill>
            <a:srgbClr val="008000"/>
          </a:solidFill>
          <a:latin typeface="Arial" charset="0"/>
          <a:cs typeface="Arial" charset="0"/>
        </a:defRPr>
      </a:lvl5pPr>
      <a:lvl6pPr marL="457200" algn="ctr" rtl="0" fontAlgn="base">
        <a:spcBef>
          <a:spcPct val="0"/>
        </a:spcBef>
        <a:spcAft>
          <a:spcPct val="0"/>
        </a:spcAft>
        <a:defRPr sz="3600" b="1">
          <a:solidFill>
            <a:srgbClr val="008000"/>
          </a:solidFill>
          <a:latin typeface="Verdana" pitchFamily="34" charset="0"/>
          <a:cs typeface="Arial" charset="0"/>
        </a:defRPr>
      </a:lvl6pPr>
      <a:lvl7pPr marL="914400" algn="ctr" rtl="0" fontAlgn="base">
        <a:spcBef>
          <a:spcPct val="0"/>
        </a:spcBef>
        <a:spcAft>
          <a:spcPct val="0"/>
        </a:spcAft>
        <a:defRPr sz="3600" b="1">
          <a:solidFill>
            <a:srgbClr val="008000"/>
          </a:solidFill>
          <a:latin typeface="Verdana" pitchFamily="34" charset="0"/>
          <a:cs typeface="Arial" charset="0"/>
        </a:defRPr>
      </a:lvl7pPr>
      <a:lvl8pPr marL="1371600" algn="ctr" rtl="0" fontAlgn="base">
        <a:spcBef>
          <a:spcPct val="0"/>
        </a:spcBef>
        <a:spcAft>
          <a:spcPct val="0"/>
        </a:spcAft>
        <a:defRPr sz="3600" b="1">
          <a:solidFill>
            <a:srgbClr val="008000"/>
          </a:solidFill>
          <a:latin typeface="Verdana" pitchFamily="34" charset="0"/>
          <a:cs typeface="Arial" charset="0"/>
        </a:defRPr>
      </a:lvl8pPr>
      <a:lvl9pPr marL="1828800" algn="ctr" rtl="0" fontAlgn="base">
        <a:spcBef>
          <a:spcPct val="0"/>
        </a:spcBef>
        <a:spcAft>
          <a:spcPct val="0"/>
        </a:spcAft>
        <a:defRPr sz="3600" b="1">
          <a:solidFill>
            <a:srgbClr val="008000"/>
          </a:solidFill>
          <a:latin typeface="Verdana" pitchFamily="34" charset="0"/>
          <a:cs typeface="Arial" charset="0"/>
        </a:defRPr>
      </a:lvl9pPr>
    </p:titleStyle>
    <p:bodyStyle>
      <a:lvl1pPr marL="342900" indent="-342900" algn="l" rtl="0" eaLnBrk="0" fontAlgn="base" hangingPunct="0">
        <a:spcBef>
          <a:spcPct val="20000"/>
        </a:spcBef>
        <a:spcAft>
          <a:spcPct val="0"/>
        </a:spcAft>
        <a:buClr>
          <a:schemeClr val="accent2"/>
        </a:buClr>
        <a:buFont typeface="Wingdings" pitchFamily="2" charset="2"/>
        <a:buChar char="§"/>
        <a:defRPr sz="2800" b="1">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Clr>
          <a:srgbClr val="006600"/>
        </a:buClr>
        <a:buSzPct val="100000"/>
        <a:buFont typeface="Symbol" pitchFamily="18" charset="2"/>
        <a:buChar char=""/>
        <a:defRPr sz="2400" b="1">
          <a:solidFill>
            <a:srgbClr val="008000"/>
          </a:solidFill>
          <a:latin typeface="Arial" pitchFamily="34" charset="0"/>
          <a:cs typeface="Arial" pitchFamily="34" charset="0"/>
        </a:defRPr>
      </a:lvl2pPr>
      <a:lvl3pPr marL="1085850" indent="-228600" algn="l" rtl="0" eaLnBrk="0" fontAlgn="base" hangingPunct="0">
        <a:spcBef>
          <a:spcPct val="20000"/>
        </a:spcBef>
        <a:spcAft>
          <a:spcPct val="0"/>
        </a:spcAft>
        <a:buClr>
          <a:srgbClr val="800080"/>
        </a:buClr>
        <a:buFont typeface="Wingdings" pitchFamily="2" charset="2"/>
        <a:buChar char="w"/>
        <a:defRPr sz="2000">
          <a:solidFill>
            <a:srgbClr val="800080"/>
          </a:solidFill>
          <a:latin typeface="Arial" pitchFamily="34" charset="0"/>
          <a:cs typeface="Arial" pitchFamily="34" charset="0"/>
        </a:defRPr>
      </a:lvl3pPr>
      <a:lvl4pPr marL="1428750" indent="-228600" algn="l" rtl="0" eaLnBrk="0" fontAlgn="base" hangingPunct="0">
        <a:spcBef>
          <a:spcPct val="20000"/>
        </a:spcBef>
        <a:spcAft>
          <a:spcPct val="0"/>
        </a:spcAft>
        <a:buClr>
          <a:schemeClr val="accent2"/>
        </a:buClr>
        <a:buSzPct val="85000"/>
        <a:buFont typeface="Wingdings" pitchFamily="2" charset="2"/>
        <a:buChar char="w"/>
        <a:defRPr sz="2000">
          <a:solidFill>
            <a:schemeClr val="tx1"/>
          </a:solidFill>
          <a:latin typeface="Times New Roman" pitchFamily="18" charset="0"/>
          <a:cs typeface="+mn-cs"/>
        </a:defRPr>
      </a:lvl4pPr>
      <a:lvl5pPr marL="1771650" indent="-228600" algn="l" rtl="0" eaLnBrk="0" fontAlgn="base" hangingPunct="0">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cs typeface="+mn-cs"/>
        </a:defRPr>
      </a:lvl5pPr>
      <a:lvl6pPr marL="22288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cs typeface="+mn-cs"/>
        </a:defRPr>
      </a:lvl6pPr>
      <a:lvl7pPr marL="26860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cs typeface="+mn-cs"/>
        </a:defRPr>
      </a:lvl7pPr>
      <a:lvl8pPr marL="31432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cs typeface="+mn-cs"/>
        </a:defRPr>
      </a:lvl8pPr>
      <a:lvl9pPr marL="3600450" indent="-228600" algn="l" rtl="0" fontAlgn="base">
        <a:spcBef>
          <a:spcPct val="20000"/>
        </a:spcBef>
        <a:spcAft>
          <a:spcPct val="0"/>
        </a:spcAft>
        <a:buClr>
          <a:schemeClr val="accent2"/>
        </a:buClr>
        <a:buSzPct val="80000"/>
        <a:buFont typeface="Wingdings" pitchFamily="2" charset="2"/>
        <a:buChar char="§"/>
        <a:defRPr>
          <a:solidFill>
            <a:schemeClr val="tx1"/>
          </a:solidFill>
          <a:latin typeface="Times New Roman" pitchFamily="18" charset="0"/>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14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14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B6124B79-B6DD-4DC9-8B13-EF739DD7DAC6}"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52" r:id="rId1"/>
    <p:sldLayoutId id="2147483953" r:id="rId2"/>
    <p:sldLayoutId id="2147483954" r:id="rId3"/>
    <p:sldLayoutId id="2147483955" r:id="rId4"/>
    <p:sldLayoutId id="2147483956" r:id="rId5"/>
    <p:sldLayoutId id="2147483957" r:id="rId6"/>
    <p:sldLayoutId id="2147483958" r:id="rId7"/>
    <p:sldLayoutId id="2147483959" r:id="rId8"/>
    <p:sldLayoutId id="2147483960" r:id="rId9"/>
    <p:sldLayoutId id="2147483961" r:id="rId10"/>
    <p:sldLayoutId id="2147483962"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9.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4.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4.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4.xml"/><Relationship Id="rId1" Type="http://schemas.openxmlformats.org/officeDocument/2006/relationships/vmlDrawing" Target="../drawings/vmlDrawing3.vml"/><Relationship Id="rId4" Type="http://schemas.openxmlformats.org/officeDocument/2006/relationships/oleObject" Target="../embeddings/oleObject3.bin"/></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0.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7.xml"/><Relationship Id="rId1" Type="http://schemas.openxmlformats.org/officeDocument/2006/relationships/vmlDrawing" Target="../drawings/vmlDrawing4.vml"/><Relationship Id="rId4" Type="http://schemas.openxmlformats.org/officeDocument/2006/relationships/oleObject" Target="../embeddings/oleObject4.bin"/></Relationships>
</file>

<file path=ppt/slides/_rels/slide10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27.xml"/><Relationship Id="rId1" Type="http://schemas.openxmlformats.org/officeDocument/2006/relationships/slideLayout" Target="../slideLayouts/slideLayout14.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defRPr/>
            </a:pPr>
            <a:r>
              <a:rPr lang="en-US" dirty="0" smtClean="0"/>
              <a:t>DOE-STD-1189-2008, </a:t>
            </a:r>
            <a:br>
              <a:rPr lang="en-US" dirty="0" smtClean="0"/>
            </a:br>
            <a:r>
              <a:rPr lang="en-US" i="1" dirty="0" smtClean="0"/>
              <a:t>I</a:t>
            </a:r>
            <a:r>
              <a:rPr lang="en-US" i="1" cap="small" dirty="0" smtClean="0"/>
              <a:t>ntegration of</a:t>
            </a:r>
            <a:r>
              <a:rPr lang="en-US" i="1" dirty="0" smtClean="0"/>
              <a:t> S</a:t>
            </a:r>
            <a:r>
              <a:rPr lang="en-US" i="1" cap="small" dirty="0" smtClean="0"/>
              <a:t>afety</a:t>
            </a:r>
            <a:r>
              <a:rPr lang="en-US" i="1" dirty="0" smtClean="0"/>
              <a:t> </a:t>
            </a:r>
            <a:br>
              <a:rPr lang="en-US" i="1" dirty="0" smtClean="0"/>
            </a:br>
            <a:r>
              <a:rPr lang="en-US" i="1" cap="small" dirty="0" smtClean="0"/>
              <a:t>into the</a:t>
            </a:r>
            <a:r>
              <a:rPr lang="en-US" i="1" dirty="0" smtClean="0"/>
              <a:t> </a:t>
            </a:r>
            <a:br>
              <a:rPr lang="en-US" i="1" dirty="0" smtClean="0"/>
            </a:br>
            <a:r>
              <a:rPr lang="en-US" i="1" dirty="0" smtClean="0"/>
              <a:t>D</a:t>
            </a:r>
            <a:r>
              <a:rPr lang="en-US" i="1" cap="small" dirty="0" smtClean="0"/>
              <a:t>esign</a:t>
            </a:r>
            <a:r>
              <a:rPr lang="en-US" i="1" dirty="0" smtClean="0"/>
              <a:t> P</a:t>
            </a:r>
            <a:r>
              <a:rPr lang="en-US" i="1" cap="small" dirty="0" smtClean="0"/>
              <a:t>rocess</a:t>
            </a:r>
            <a:endParaRPr lang="en-US" dirty="0"/>
          </a:p>
        </p:txBody>
      </p:sp>
      <p:sp>
        <p:nvSpPr>
          <p:cNvPr id="8195" name="Subtitle 2"/>
          <p:cNvSpPr>
            <a:spLocks noGrp="1"/>
          </p:cNvSpPr>
          <p:nvPr>
            <p:ph type="subTitle" idx="1"/>
          </p:nvPr>
        </p:nvSpPr>
        <p:spPr>
          <a:xfrm>
            <a:off x="0" y="3048000"/>
            <a:ext cx="9144000" cy="3505200"/>
          </a:xfrm>
        </p:spPr>
        <p:txBody>
          <a:bodyPr/>
          <a:lstStyle/>
          <a:p>
            <a:endParaRPr lang="en-US" dirty="0" smtClean="0">
              <a:latin typeface="Arial" charset="0"/>
              <a:cs typeface="Arial" charset="0"/>
            </a:endParaRPr>
          </a:p>
          <a:p>
            <a:endParaRPr lang="en-US" sz="2400" dirty="0" smtClean="0">
              <a:latin typeface="Arial" charset="0"/>
              <a:cs typeface="Arial" charset="0"/>
            </a:endParaRPr>
          </a:p>
          <a:p>
            <a:endParaRPr lang="en-US" sz="2400" dirty="0" smtClean="0">
              <a:latin typeface="Arial" charset="0"/>
              <a:cs typeface="Arial" charset="0"/>
            </a:endParaRPr>
          </a:p>
          <a:p>
            <a:r>
              <a:rPr lang="en-US" sz="2400" dirty="0" smtClean="0">
                <a:latin typeface="Arial" charset="0"/>
                <a:cs typeface="Arial" charset="0"/>
              </a:rPr>
              <a:t>Dr. Richard Englehart, Epsilon Systems Solutions</a:t>
            </a:r>
          </a:p>
          <a:p>
            <a:endParaRPr lang="en-US" sz="2400" dirty="0" smtClean="0">
              <a:latin typeface="Arial" charset="0"/>
              <a:cs typeface="Arial" charset="0"/>
            </a:endParaRPr>
          </a:p>
          <a:p>
            <a:r>
              <a:rPr lang="en-US" sz="2400" dirty="0" smtClean="0">
                <a:latin typeface="Arial" charset="0"/>
                <a:cs typeface="Arial" charset="0"/>
              </a:rPr>
              <a:t>Pranab Guha, HS-21</a:t>
            </a:r>
          </a:p>
          <a:p>
            <a:endParaRPr lang="en-US" sz="2400" dirty="0" smtClean="0">
              <a:latin typeface="Arial" charset="0"/>
              <a:cs typeface="Arial" charset="0"/>
            </a:endParaRPr>
          </a:p>
          <a:p>
            <a:r>
              <a:rPr lang="en-US" sz="2400" dirty="0" smtClean="0">
                <a:latin typeface="Arial" charset="0"/>
                <a:cs typeface="Arial" charset="0"/>
              </a:rPr>
              <a:t>John Rice, Epsilon </a:t>
            </a:r>
            <a:r>
              <a:rPr lang="en-US" sz="2400" smtClean="0">
                <a:latin typeface="Arial" charset="0"/>
                <a:cs typeface="Arial" charset="0"/>
              </a:rPr>
              <a:t>Systems Solutions</a:t>
            </a:r>
            <a:endParaRPr lang="en-US" dirty="0" smtClean="0">
              <a:latin typeface="Arial" charset="0"/>
              <a:cs typeface="Arial"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rtlCol="0">
            <a:normAutofit/>
          </a:bodyPr>
          <a:lstStyle/>
          <a:p>
            <a:pPr eaLnBrk="1" fontAlgn="auto" hangingPunct="1">
              <a:spcAft>
                <a:spcPts val="0"/>
              </a:spcAft>
              <a:defRPr/>
            </a:pPr>
            <a:r>
              <a:rPr lang="en-US" sz="4000" cap="small" dirty="0" smtClean="0"/>
              <a:t>Expectations</a:t>
            </a:r>
          </a:p>
        </p:txBody>
      </p:sp>
      <p:sp>
        <p:nvSpPr>
          <p:cNvPr id="43011" name="Rectangle 3"/>
          <p:cNvSpPr>
            <a:spLocks noGrp="1" noChangeArrowheads="1"/>
          </p:cNvSpPr>
          <p:nvPr>
            <p:ph idx="1"/>
          </p:nvPr>
        </p:nvSpPr>
        <p:spPr>
          <a:xfrm>
            <a:off x="533400" y="2057400"/>
            <a:ext cx="8234363" cy="4191000"/>
          </a:xfrm>
        </p:spPr>
        <p:txBody>
          <a:bodyPr/>
          <a:lstStyle/>
          <a:p>
            <a:pPr marL="0" indent="14288" eaLnBrk="1" hangingPunct="1">
              <a:buFontTx/>
              <a:buNone/>
              <a:defRPr/>
            </a:pPr>
            <a:r>
              <a:rPr lang="en-US" sz="2400" dirty="0" smtClean="0"/>
              <a:t>	</a:t>
            </a:r>
            <a:r>
              <a:rPr lang="en-US" sz="2400" i="1" dirty="0" smtClean="0"/>
              <a:t>I expect safety to be fully integrated into design early in the project.  Specifically, by the start of the preliminary design, I expect a hazard analysis of alternatives to be complete and the safety requirements for the design to be established.  I expect both project management and safety directives to lead projects on the right path so that safety issues are identified and addressed adequately early in the project design.</a:t>
            </a:r>
            <a:r>
              <a:rPr lang="en-US" sz="2400" dirty="0" smtClean="0"/>
              <a:t> </a:t>
            </a:r>
          </a:p>
          <a:p>
            <a:pPr marL="609600" indent="-609600" algn="r" eaLnBrk="1" hangingPunct="1">
              <a:buFontTx/>
              <a:buNone/>
              <a:defRPr/>
            </a:pPr>
            <a:r>
              <a:rPr lang="en-US" sz="2400" dirty="0" smtClean="0"/>
              <a:t>		</a:t>
            </a:r>
            <a:r>
              <a:rPr lang="en-US" sz="2000" dirty="0" smtClean="0"/>
              <a:t>– Deputy Secretary of Energy, December 5, 2005</a:t>
            </a:r>
            <a:endParaRPr lang="en-US" sz="2400" dirty="0" smtClean="0"/>
          </a:p>
        </p:txBody>
      </p:sp>
      <p:sp>
        <p:nvSpPr>
          <p:cNvPr id="5" name="Slide Number Placeholder 4"/>
          <p:cNvSpPr>
            <a:spLocks noGrp="1"/>
          </p:cNvSpPr>
          <p:nvPr>
            <p:ph type="sldNum" sz="quarter" idx="10"/>
          </p:nvPr>
        </p:nvSpPr>
        <p:spPr/>
        <p:txBody>
          <a:bodyPr/>
          <a:lstStyle/>
          <a:p>
            <a:pPr>
              <a:defRPr/>
            </a:pPr>
            <a:fld id="{005F4E3D-A14D-4A03-935A-59E504411073}" type="slidenum">
              <a:rPr lang="en-US" smtClean="0"/>
              <a:pPr>
                <a:defRPr/>
              </a:pPr>
              <a:t>2</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Purpose</a:t>
            </a:r>
            <a:endParaRPr lang="en-US" sz="2800" cap="small" dirty="0" smtClean="0"/>
          </a:p>
        </p:txBody>
      </p:sp>
      <p:sp>
        <p:nvSpPr>
          <p:cNvPr id="10243" name="Rectangle 3"/>
          <p:cNvSpPr>
            <a:spLocks noGrp="1" noChangeArrowheads="1"/>
          </p:cNvSpPr>
          <p:nvPr>
            <p:ph idx="1"/>
          </p:nvPr>
        </p:nvSpPr>
        <p:spPr/>
        <p:txBody>
          <a:bodyPr/>
          <a:lstStyle/>
          <a:p>
            <a:pPr marL="609600" indent="-609600" eaLnBrk="1" hangingPunct="1"/>
            <a:r>
              <a:rPr lang="en-US" sz="2400" smtClean="0">
                <a:latin typeface="Arial" charset="0"/>
                <a:cs typeface="Arial" charset="0"/>
              </a:rPr>
              <a:t>DOE Standard 1189 has been developed to show how project management, engineering design, and safety analyses can interact to successfully implement the Deputy Secretary’s expectations</a:t>
            </a:r>
          </a:p>
          <a:p>
            <a:pPr marL="609600" indent="-609600" eaLnBrk="1" hangingPunct="1"/>
            <a:endParaRPr lang="en-US" sz="2400" smtClean="0">
              <a:latin typeface="Arial" charset="0"/>
              <a:cs typeface="Arial" charset="0"/>
            </a:endParaRPr>
          </a:p>
          <a:p>
            <a:pPr marL="609600" indent="-609600" eaLnBrk="1" hangingPunct="1"/>
            <a:r>
              <a:rPr lang="en-US" sz="2400" smtClean="0">
                <a:latin typeface="Arial" charset="0"/>
                <a:cs typeface="Arial" charset="0"/>
              </a:rPr>
              <a:t>This course provides the central ideas and themes of 1189 and conveys lessons learned from project implementation of the Standard</a:t>
            </a:r>
          </a:p>
          <a:p>
            <a:pPr marL="609600" indent="-609600" eaLnBrk="1" hangingPunct="1">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98A94D1-ED19-457C-AA04-E9BD43FC6255}" type="slidenum">
              <a:rPr lang="en-US" smtClean="0"/>
              <a:pPr>
                <a:defRPr/>
              </a:pPr>
              <a:t>3</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Overview of Course</a:t>
            </a:r>
          </a:p>
        </p:txBody>
      </p:sp>
      <p:sp>
        <p:nvSpPr>
          <p:cNvPr id="11267" name="Rectangle 3"/>
          <p:cNvSpPr>
            <a:spLocks noGrp="1" noChangeArrowheads="1"/>
          </p:cNvSpPr>
          <p:nvPr>
            <p:ph idx="1"/>
          </p:nvPr>
        </p:nvSpPr>
        <p:spPr>
          <a:xfrm>
            <a:off x="533400" y="1981200"/>
            <a:ext cx="8234363" cy="4267200"/>
          </a:xfrm>
        </p:spPr>
        <p:txBody>
          <a:bodyPr/>
          <a:lstStyle/>
          <a:p>
            <a:pPr eaLnBrk="1" hangingPunct="1">
              <a:buFont typeface="Arial" charset="0"/>
              <a:buChar char="•"/>
            </a:pPr>
            <a:r>
              <a:rPr lang="en-US" sz="2000" smtClean="0">
                <a:latin typeface="Arial" charset="0"/>
                <a:cs typeface="Arial" charset="0"/>
              </a:rPr>
              <a:t>Safety-in-Design Concepts</a:t>
            </a:r>
          </a:p>
          <a:p>
            <a:pPr eaLnBrk="1" hangingPunct="1">
              <a:buFont typeface="Arial" charset="0"/>
              <a:buChar char="•"/>
            </a:pPr>
            <a:r>
              <a:rPr lang="en-US" sz="2000" smtClean="0">
                <a:latin typeface="Arial" charset="0"/>
                <a:cs typeface="Arial" charset="0"/>
              </a:rPr>
              <a:t>Applicability </a:t>
            </a:r>
          </a:p>
          <a:p>
            <a:pPr eaLnBrk="1" hangingPunct="1">
              <a:buFont typeface="Arial" charset="0"/>
              <a:buChar char="•"/>
            </a:pPr>
            <a:r>
              <a:rPr lang="en-US" sz="2000" smtClean="0">
                <a:latin typeface="Arial" charset="0"/>
                <a:cs typeface="Arial" charset="0"/>
              </a:rPr>
              <a:t>Project Integration and Planning</a:t>
            </a:r>
          </a:p>
          <a:p>
            <a:pPr eaLnBrk="1" hangingPunct="1">
              <a:buFont typeface="Arial" charset="0"/>
              <a:buChar char="•"/>
            </a:pPr>
            <a:r>
              <a:rPr lang="en-US" sz="2000" smtClean="0">
                <a:latin typeface="Arial" charset="0"/>
                <a:cs typeface="Arial" charset="0"/>
              </a:rPr>
              <a:t>Design Process</a:t>
            </a:r>
          </a:p>
          <a:p>
            <a:pPr eaLnBrk="1" hangingPunct="1">
              <a:buFont typeface="Arial" charset="0"/>
              <a:buChar char="•"/>
            </a:pPr>
            <a:r>
              <a:rPr lang="en-US" sz="2000" smtClean="0">
                <a:solidFill>
                  <a:srgbClr val="002060"/>
                </a:solidFill>
                <a:latin typeface="Arial" charset="0"/>
                <a:cs typeface="Arial" charset="0"/>
              </a:rPr>
              <a:t>Hazard and Accident Analyses and Inputs to the Design Process</a:t>
            </a:r>
          </a:p>
          <a:p>
            <a:pPr eaLnBrk="1" hangingPunct="1">
              <a:buFont typeface="Arial" charset="0"/>
              <a:buChar char="•"/>
            </a:pPr>
            <a:r>
              <a:rPr lang="en-US" sz="2000" smtClean="0">
                <a:latin typeface="Arial" charset="0"/>
                <a:cs typeface="Arial" charset="0"/>
              </a:rPr>
              <a:t>Appendices A – C </a:t>
            </a:r>
          </a:p>
          <a:p>
            <a:pPr eaLnBrk="1" hangingPunct="1">
              <a:buFont typeface="Arial" charset="0"/>
              <a:buChar char="•"/>
            </a:pPr>
            <a:r>
              <a:rPr lang="en-US" sz="2000" smtClean="0">
                <a:latin typeface="Arial" charset="0"/>
                <a:cs typeface="Arial" charset="0"/>
              </a:rPr>
              <a:t>Facility Modifications</a:t>
            </a:r>
          </a:p>
          <a:p>
            <a:pPr eaLnBrk="1" hangingPunct="1">
              <a:buFont typeface="Arial" charset="0"/>
              <a:buChar char="•"/>
            </a:pPr>
            <a:r>
              <a:rPr lang="en-US" sz="2000" smtClean="0">
                <a:latin typeface="Arial" charset="0"/>
                <a:cs typeface="Arial" charset="0"/>
              </a:rPr>
              <a:t>Lessons Learned</a:t>
            </a:r>
          </a:p>
          <a:p>
            <a:pPr eaLnBrk="1" hangingPunct="1">
              <a:buFont typeface="Arial" charset="0"/>
              <a:buChar char="•"/>
            </a:pPr>
            <a:r>
              <a:rPr lang="en-US" sz="2000" smtClean="0">
                <a:latin typeface="Arial" charset="0"/>
                <a:cs typeface="Arial" charset="0"/>
              </a:rPr>
              <a:t>Q &amp; A</a:t>
            </a:r>
          </a:p>
          <a:p>
            <a:pPr eaLnBrk="1" hangingPunct="1">
              <a:buFont typeface="Arial" charset="0"/>
              <a:buChar char="•"/>
            </a:pPr>
            <a:r>
              <a:rPr lang="en-US" sz="2000" smtClean="0">
                <a:latin typeface="Arial" charset="0"/>
                <a:cs typeface="Arial" charset="0"/>
              </a:rPr>
              <a:t>Case Study</a:t>
            </a:r>
          </a:p>
          <a:p>
            <a:pPr eaLnBrk="1" hangingPunct="1"/>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12B4253A-3187-47F8-B21F-45DA7F048CD6}"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cap="small" dirty="0" smtClean="0"/>
              <a:t>Instructional Goal</a:t>
            </a:r>
            <a:endParaRPr lang="en-US" cap="small" dirty="0"/>
          </a:p>
        </p:txBody>
      </p:sp>
      <p:sp>
        <p:nvSpPr>
          <p:cNvPr id="28675" name="Content Placeholder 2"/>
          <p:cNvSpPr>
            <a:spLocks noGrp="1"/>
          </p:cNvSpPr>
          <p:nvPr>
            <p:ph idx="1"/>
          </p:nvPr>
        </p:nvSpPr>
        <p:spPr/>
        <p:txBody>
          <a:bodyPr rtlCol="0">
            <a:normAutofit/>
          </a:bodyPr>
          <a:lstStyle/>
          <a:p>
            <a:pPr marL="0" indent="3175" eaLnBrk="1" fontAlgn="auto" hangingPunct="1">
              <a:spcBef>
                <a:spcPts val="1200"/>
              </a:spcBef>
              <a:spcAft>
                <a:spcPts val="600"/>
              </a:spcAft>
              <a:buFont typeface="Wingdings" pitchFamily="2" charset="2"/>
              <a:buNone/>
              <a:defRPr/>
            </a:pPr>
            <a:endParaRPr lang="en-US" sz="2000" dirty="0" smtClean="0"/>
          </a:p>
          <a:p>
            <a:pPr marL="0" indent="3175" eaLnBrk="1" fontAlgn="auto" hangingPunct="1">
              <a:spcBef>
                <a:spcPts val="1200"/>
              </a:spcBef>
              <a:spcAft>
                <a:spcPts val="600"/>
              </a:spcAft>
              <a:buFont typeface="Wingdings" pitchFamily="2" charset="2"/>
              <a:buNone/>
              <a:defRPr/>
            </a:pPr>
            <a:r>
              <a:rPr lang="en-US" dirty="0" smtClean="0"/>
              <a:t>Upon successful completion of this lesson, students will be able to demonstrate a familiarity level knowledge of the background, philosophy, and contents of DOE-STD-1189, </a:t>
            </a:r>
            <a:r>
              <a:rPr lang="en-US" i="1" dirty="0" smtClean="0"/>
              <a:t>Integration of Safety into the Design Process</a:t>
            </a:r>
            <a:endParaRPr lang="en-US" dirty="0" smtClean="0"/>
          </a:p>
          <a:p>
            <a:pPr eaLnBrk="1" fontAlgn="auto" hangingPunct="1">
              <a:spcAft>
                <a:spcPts val="0"/>
              </a:spcAft>
              <a:buFont typeface="Arial" charset="0"/>
              <a:buChar char="•"/>
              <a:defRPr/>
            </a:pPr>
            <a:endParaRPr lang="en-US" sz="2000" dirty="0" smtClean="0"/>
          </a:p>
        </p:txBody>
      </p:sp>
      <p:sp>
        <p:nvSpPr>
          <p:cNvPr id="5" name="Slide Number Placeholder 4"/>
          <p:cNvSpPr>
            <a:spLocks noGrp="1"/>
          </p:cNvSpPr>
          <p:nvPr>
            <p:ph type="sldNum" sz="quarter" idx="10"/>
          </p:nvPr>
        </p:nvSpPr>
        <p:spPr/>
        <p:txBody>
          <a:bodyPr/>
          <a:lstStyle/>
          <a:p>
            <a:pPr>
              <a:defRPr/>
            </a:pPr>
            <a:fld id="{2970BED2-DA0F-4500-9C77-904BACDDB729}"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cap="small" dirty="0" smtClean="0"/>
              <a:t>Lesson Objectives</a:t>
            </a:r>
            <a:br>
              <a:rPr lang="en-US" cap="small" dirty="0" smtClean="0"/>
            </a:br>
            <a:r>
              <a:rPr lang="en-US" sz="2000" cap="small" dirty="0" smtClean="0"/>
              <a:t>(Slide 1 of 5)</a:t>
            </a:r>
            <a:endParaRPr lang="en-US" cap="small" dirty="0"/>
          </a:p>
        </p:txBody>
      </p:sp>
      <p:sp>
        <p:nvSpPr>
          <p:cNvPr id="13315" name="Content Placeholder 2"/>
          <p:cNvSpPr>
            <a:spLocks noGrp="1"/>
          </p:cNvSpPr>
          <p:nvPr>
            <p:ph idx="1"/>
          </p:nvPr>
        </p:nvSpPr>
        <p:spPr/>
        <p:txBody>
          <a:bodyPr/>
          <a:lstStyle/>
          <a:p>
            <a:pPr eaLnBrk="1" hangingPunct="1">
              <a:spcBef>
                <a:spcPts val="1200"/>
              </a:spcBef>
              <a:spcAft>
                <a:spcPts val="600"/>
              </a:spcAft>
              <a:buFont typeface="Wingdings" pitchFamily="2" charset="2"/>
              <a:buNone/>
            </a:pPr>
            <a:r>
              <a:rPr lang="en-US" smtClean="0">
                <a:latin typeface="Arial" charset="0"/>
                <a:cs typeface="Arial" charset="0"/>
              </a:rPr>
              <a:t>Lesson Objectives</a:t>
            </a:r>
          </a:p>
          <a:p>
            <a:pPr eaLnBrk="1" hangingPunct="1">
              <a:spcBef>
                <a:spcPts val="1200"/>
              </a:spcBef>
              <a:spcAft>
                <a:spcPts val="600"/>
              </a:spcAft>
            </a:pPr>
            <a:r>
              <a:rPr lang="en-US" sz="2400" smtClean="0">
                <a:latin typeface="Arial" charset="0"/>
                <a:cs typeface="Arial" charset="0"/>
              </a:rPr>
              <a:t>Explain why DOE-STD-1189 was developed.</a:t>
            </a:r>
          </a:p>
          <a:p>
            <a:pPr eaLnBrk="1" hangingPunct="1">
              <a:spcBef>
                <a:spcPts val="1200"/>
              </a:spcBef>
              <a:spcAft>
                <a:spcPts val="600"/>
              </a:spcAft>
            </a:pPr>
            <a:r>
              <a:rPr lang="en-US" sz="2400" smtClean="0">
                <a:latin typeface="Arial" charset="0"/>
                <a:cs typeface="Arial" charset="0"/>
              </a:rPr>
              <a:t>Identify the “drivers” that require the use of DOE-STD-1189 for integrating safety into design.</a:t>
            </a:r>
          </a:p>
          <a:p>
            <a:pPr eaLnBrk="1" hangingPunct="1">
              <a:spcBef>
                <a:spcPts val="1200"/>
              </a:spcBef>
              <a:spcAft>
                <a:spcPts val="600"/>
              </a:spcAft>
            </a:pPr>
            <a:r>
              <a:rPr lang="en-US" sz="2400" smtClean="0">
                <a:latin typeface="Arial" charset="0"/>
                <a:cs typeface="Arial" charset="0"/>
              </a:rPr>
              <a:t>Identify and explain the key concepts introduced by DOE-STD-1189.</a:t>
            </a:r>
          </a:p>
          <a:p>
            <a:pPr eaLnBrk="1" hangingPunct="1">
              <a:spcBef>
                <a:spcPts val="1200"/>
              </a:spcBef>
              <a:spcAft>
                <a:spcPts val="600"/>
              </a:spcAft>
            </a:pPr>
            <a:r>
              <a:rPr lang="en-US" sz="2400" smtClean="0">
                <a:latin typeface="Arial" charset="0"/>
                <a:cs typeface="Arial" charset="0"/>
              </a:rPr>
              <a:t>Identify and explain the guiding principles for integrating safety into design.</a:t>
            </a:r>
          </a:p>
          <a:p>
            <a:pPr eaLnBrk="1" hangingPunct="1">
              <a:spcBef>
                <a:spcPts val="1200"/>
              </a:spcBef>
              <a:spcAft>
                <a:spcPts val="600"/>
              </a:spcAft>
              <a:buFont typeface="Arial" charset="0"/>
              <a:buChar char="•"/>
            </a:pPr>
            <a:endParaRPr lang="en-US" sz="2400" smtClean="0">
              <a:latin typeface="Arial" charset="0"/>
              <a:cs typeface="Arial" charset="0"/>
            </a:endParaRPr>
          </a:p>
          <a:p>
            <a:endParaRPr lang="en-US" sz="24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891D5727-178D-46B9-874A-6AB8C08F5DD1}"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cap="small" dirty="0" smtClean="0"/>
              <a:t>Lesson Objectives</a:t>
            </a:r>
            <a:r>
              <a:rPr lang="en-US" sz="4000" cap="small" dirty="0" smtClean="0"/>
              <a:t/>
            </a:r>
            <a:br>
              <a:rPr lang="en-US" sz="4000" cap="small" dirty="0" smtClean="0"/>
            </a:br>
            <a:r>
              <a:rPr lang="en-US" sz="2000" cap="small" dirty="0" smtClean="0"/>
              <a:t> (Slide 2 of 5)</a:t>
            </a:r>
            <a:endParaRPr lang="en-US" dirty="0"/>
          </a:p>
        </p:txBody>
      </p:sp>
      <p:sp>
        <p:nvSpPr>
          <p:cNvPr id="14339"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Explain the purpose of the DOE Integrated Project Team.</a:t>
            </a:r>
          </a:p>
          <a:p>
            <a:r>
              <a:rPr lang="en-US" sz="2400" smtClean="0">
                <a:latin typeface="Arial" charset="0"/>
                <a:cs typeface="Arial" charset="0"/>
              </a:rPr>
              <a:t>Explain the purpose of the Contractor Integrated Project Team.</a:t>
            </a:r>
          </a:p>
          <a:p>
            <a:pPr eaLnBrk="1" hangingPunct="1">
              <a:spcBef>
                <a:spcPts val="1200"/>
              </a:spcBef>
              <a:spcAft>
                <a:spcPts val="600"/>
              </a:spcAft>
            </a:pPr>
            <a:r>
              <a:rPr lang="en-US" sz="2400" smtClean="0">
                <a:latin typeface="Arial" charset="0"/>
                <a:cs typeface="Arial" charset="0"/>
              </a:rPr>
              <a:t>Explain the purpose of the Safety Design Integration Team.</a:t>
            </a:r>
          </a:p>
          <a:p>
            <a:pPr eaLnBrk="1" hangingPunct="1">
              <a:spcBef>
                <a:spcPts val="1200"/>
              </a:spcBef>
              <a:spcAft>
                <a:spcPts val="600"/>
              </a:spcAft>
            </a:pPr>
            <a:r>
              <a:rPr lang="en-US" sz="2400" smtClean="0">
                <a:latin typeface="Arial" charset="0"/>
                <a:cs typeface="Arial" charset="0"/>
              </a:rPr>
              <a:t>Explain how the Safety Design Strategy is developed.  Describe its scope, preparation, format, and approval process.</a:t>
            </a:r>
          </a:p>
          <a:p>
            <a:endParaRPr lang="en-US" sz="24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823E58C4-2263-4238-9608-48B9D39C935C}"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1"/>
          <p:cNvSpPr>
            <a:spLocks noGrp="1"/>
          </p:cNvSpPr>
          <p:nvPr>
            <p:ph type="title"/>
          </p:nvPr>
        </p:nvSpPr>
        <p:spPr/>
        <p:txBody>
          <a:bodyPr rtlCol="0">
            <a:normAutofit/>
          </a:bodyPr>
          <a:lstStyle/>
          <a:p>
            <a:pPr eaLnBrk="1" fontAlgn="auto" hangingPunct="1">
              <a:spcAft>
                <a:spcPts val="0"/>
              </a:spcAft>
              <a:defRPr/>
            </a:pPr>
            <a:r>
              <a:rPr lang="en-US" cap="small" dirty="0" smtClean="0"/>
              <a:t>Lesson Objectives</a:t>
            </a:r>
            <a:r>
              <a:rPr lang="en-US" sz="4000" cap="small" dirty="0" smtClean="0"/>
              <a:t/>
            </a:r>
            <a:br>
              <a:rPr lang="en-US" sz="4000" cap="small" dirty="0" smtClean="0"/>
            </a:br>
            <a:r>
              <a:rPr lang="en-US" sz="2000" cap="small" dirty="0" smtClean="0"/>
              <a:t> (Slide 3 of 5)</a:t>
            </a:r>
            <a:endParaRPr lang="en-US" sz="2400" cap="small" dirty="0" smtClean="0"/>
          </a:p>
        </p:txBody>
      </p:sp>
      <p:sp>
        <p:nvSpPr>
          <p:cNvPr id="15363"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Describe how the requirements and deliverables identified in DOE-STD-1189 relate to the Project Lifecycle as described in DOE Order 413.3A.</a:t>
            </a:r>
          </a:p>
          <a:p>
            <a:pPr eaLnBrk="1" hangingPunct="1">
              <a:spcBef>
                <a:spcPts val="1200"/>
              </a:spcBef>
              <a:spcAft>
                <a:spcPts val="600"/>
              </a:spcAft>
            </a:pPr>
            <a:r>
              <a:rPr lang="en-US" sz="2400" smtClean="0">
                <a:latin typeface="Arial" charset="0"/>
                <a:cs typeface="Arial" charset="0"/>
              </a:rPr>
              <a:t>Explain how the Critical Decision Process can be tailored based on project type, risk, size, duration, complexity and selected acquisition strategy.</a:t>
            </a:r>
          </a:p>
          <a:p>
            <a:pPr eaLnBrk="1" hangingPunct="1">
              <a:spcBef>
                <a:spcPts val="600"/>
              </a:spcBef>
              <a:spcAft>
                <a:spcPts val="600"/>
              </a:spcAft>
              <a:buFont typeface="Arial" charset="0"/>
              <a:buChar char="•"/>
            </a:pPr>
            <a:endParaRPr lang="en-US" smtClean="0">
              <a:latin typeface="Arial" charset="0"/>
              <a:cs typeface="Arial" charset="0"/>
            </a:endParaRPr>
          </a:p>
          <a:p>
            <a:pPr eaLnBrk="1" hangingPunct="1">
              <a:spcBef>
                <a:spcPts val="600"/>
              </a:spcBef>
              <a:spcAft>
                <a:spcPts val="600"/>
              </a:spcAft>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9925E2D3-D0F8-49C2-9796-BD5B0738EB77}"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rtlCol="0">
            <a:normAutofit/>
          </a:bodyPr>
          <a:lstStyle/>
          <a:p>
            <a:pPr eaLnBrk="1" fontAlgn="auto" hangingPunct="1">
              <a:spcAft>
                <a:spcPts val="0"/>
              </a:spcAft>
              <a:defRPr/>
            </a:pPr>
            <a:r>
              <a:rPr lang="en-US" cap="small" dirty="0" smtClean="0"/>
              <a:t>Lesson Objectives</a:t>
            </a:r>
            <a:r>
              <a:rPr lang="en-US" sz="4000" cap="small" dirty="0" smtClean="0"/>
              <a:t/>
            </a:r>
            <a:br>
              <a:rPr lang="en-US" sz="4000" cap="small" dirty="0" smtClean="0"/>
            </a:br>
            <a:r>
              <a:rPr lang="en-US" sz="2000" cap="small" dirty="0" smtClean="0"/>
              <a:t> (Slide 4 of 5)</a:t>
            </a:r>
            <a:endParaRPr lang="en-US" sz="2400" cap="small" dirty="0" smtClean="0"/>
          </a:p>
        </p:txBody>
      </p:sp>
      <p:sp>
        <p:nvSpPr>
          <p:cNvPr id="30722" name="Content Placeholder 2"/>
          <p:cNvSpPr>
            <a:spLocks noGrp="1"/>
          </p:cNvSpPr>
          <p:nvPr>
            <p:ph idx="1"/>
          </p:nvPr>
        </p:nvSpPr>
        <p:spPr>
          <a:xfrm>
            <a:off x="533400" y="1905000"/>
            <a:ext cx="8234363" cy="4343400"/>
          </a:xfrm>
        </p:spPr>
        <p:txBody>
          <a:bodyPr rtlCol="0">
            <a:normAutofit lnSpcReduction="10000"/>
          </a:bodyPr>
          <a:lstStyle/>
          <a:p>
            <a:pPr eaLnBrk="1" fontAlgn="auto" hangingPunct="1">
              <a:spcAft>
                <a:spcPts val="0"/>
              </a:spcAft>
              <a:defRPr/>
            </a:pPr>
            <a:r>
              <a:rPr lang="en-US" sz="2400" dirty="0" smtClean="0"/>
              <a:t>Identify and explain the key safety-related activities in each of the phases of a project:</a:t>
            </a:r>
          </a:p>
          <a:p>
            <a:pPr eaLnBrk="1" fontAlgn="auto" hangingPunct="1">
              <a:spcBef>
                <a:spcPts val="1200"/>
              </a:spcBef>
              <a:spcAft>
                <a:spcPts val="600"/>
              </a:spcAft>
              <a:defRPr/>
            </a:pPr>
            <a:r>
              <a:rPr lang="en-US" sz="2400" dirty="0" smtClean="0"/>
              <a:t>Discuss the purpose and content of the following documents:</a:t>
            </a:r>
          </a:p>
          <a:p>
            <a:pPr lvl="1" eaLnBrk="1" fontAlgn="auto" hangingPunct="1">
              <a:spcBef>
                <a:spcPts val="1200"/>
              </a:spcBef>
              <a:spcAft>
                <a:spcPts val="600"/>
              </a:spcAft>
              <a:buFont typeface="Arial" charset="0"/>
              <a:buChar char="–"/>
              <a:defRPr/>
            </a:pPr>
            <a:r>
              <a:rPr lang="en-US" sz="2000" dirty="0" smtClean="0">
                <a:solidFill>
                  <a:schemeClr val="tx1"/>
                </a:solidFill>
              </a:rPr>
              <a:t>Conceptual Safety Design Report.</a:t>
            </a:r>
            <a:endParaRPr lang="en-US" sz="2800" dirty="0" smtClean="0">
              <a:solidFill>
                <a:schemeClr val="tx1"/>
              </a:solidFill>
            </a:endParaRPr>
          </a:p>
          <a:p>
            <a:pPr lvl="1" eaLnBrk="1" fontAlgn="auto" hangingPunct="1">
              <a:spcBef>
                <a:spcPts val="1200"/>
              </a:spcBef>
              <a:spcAft>
                <a:spcPts val="600"/>
              </a:spcAft>
              <a:buFont typeface="Arial" charset="0"/>
              <a:buChar char="–"/>
              <a:defRPr/>
            </a:pPr>
            <a:r>
              <a:rPr lang="en-US" sz="2000" dirty="0" smtClean="0">
                <a:solidFill>
                  <a:schemeClr val="tx1"/>
                </a:solidFill>
              </a:rPr>
              <a:t>Conceptual Safety Validation Report.</a:t>
            </a:r>
          </a:p>
          <a:p>
            <a:pPr lvl="1" eaLnBrk="1" fontAlgn="auto" hangingPunct="1">
              <a:spcBef>
                <a:spcPts val="1200"/>
              </a:spcBef>
              <a:spcAft>
                <a:spcPts val="600"/>
              </a:spcAft>
              <a:buFont typeface="Arial" charset="0"/>
              <a:buChar char="–"/>
              <a:defRPr/>
            </a:pPr>
            <a:r>
              <a:rPr lang="en-US" sz="2000" dirty="0" smtClean="0">
                <a:solidFill>
                  <a:schemeClr val="tx1"/>
                </a:solidFill>
              </a:rPr>
              <a:t>Preliminary Safety Design Report</a:t>
            </a:r>
          </a:p>
          <a:p>
            <a:pPr lvl="1" eaLnBrk="1" fontAlgn="auto" hangingPunct="1">
              <a:spcBef>
                <a:spcPts val="1200"/>
              </a:spcBef>
              <a:spcAft>
                <a:spcPts val="600"/>
              </a:spcAft>
              <a:buFont typeface="Arial" charset="0"/>
              <a:buChar char="–"/>
              <a:defRPr/>
            </a:pPr>
            <a:r>
              <a:rPr lang="en-US" sz="2000" dirty="0" smtClean="0">
                <a:solidFill>
                  <a:schemeClr val="tx1"/>
                </a:solidFill>
              </a:rPr>
              <a:t>Preliminary Documented Safety Analysis</a:t>
            </a:r>
          </a:p>
          <a:p>
            <a:pPr lvl="1" eaLnBrk="1" fontAlgn="auto" hangingPunct="1">
              <a:spcBef>
                <a:spcPts val="1200"/>
              </a:spcBef>
              <a:spcAft>
                <a:spcPts val="600"/>
              </a:spcAft>
              <a:buFont typeface="Arial" charset="0"/>
              <a:buChar char="–"/>
              <a:defRPr/>
            </a:pPr>
            <a:r>
              <a:rPr lang="en-US" sz="2000" dirty="0" smtClean="0">
                <a:solidFill>
                  <a:schemeClr val="tx1"/>
                </a:solidFill>
              </a:rPr>
              <a:t>DOE Safety Evaluation Report</a:t>
            </a:r>
          </a:p>
          <a:p>
            <a:pPr eaLnBrk="1" fontAlgn="auto" hangingPunct="1">
              <a:spcAft>
                <a:spcPts val="0"/>
              </a:spcAft>
              <a:defRPr/>
            </a:pPr>
            <a:endParaRPr lang="en-US" sz="2400" dirty="0" smtClean="0"/>
          </a:p>
        </p:txBody>
      </p:sp>
      <p:sp>
        <p:nvSpPr>
          <p:cNvPr id="6" name="Slide Number Placeholder 5"/>
          <p:cNvSpPr>
            <a:spLocks noGrp="1"/>
          </p:cNvSpPr>
          <p:nvPr>
            <p:ph type="sldNum" sz="quarter" idx="10"/>
          </p:nvPr>
        </p:nvSpPr>
        <p:spPr/>
        <p:txBody>
          <a:bodyPr/>
          <a:lstStyle/>
          <a:p>
            <a:pPr>
              <a:defRPr/>
            </a:pPr>
            <a:fld id="{2F964E4B-51C6-449B-A1CD-8C381ECA9E16}"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cap="small" dirty="0" smtClean="0"/>
              <a:t>Lesson Objectives</a:t>
            </a:r>
            <a:r>
              <a:rPr lang="en-US" sz="4000" cap="small" dirty="0" smtClean="0"/>
              <a:t/>
            </a:r>
            <a:br>
              <a:rPr lang="en-US" sz="4000" cap="small" dirty="0" smtClean="0"/>
            </a:br>
            <a:r>
              <a:rPr lang="en-US" sz="2400" cap="small" dirty="0" smtClean="0"/>
              <a:t> </a:t>
            </a:r>
            <a:r>
              <a:rPr lang="en-US" sz="2000" cap="small" dirty="0" smtClean="0"/>
              <a:t>(Slide 5 of 5)</a:t>
            </a:r>
            <a:endParaRPr lang="en-US" dirty="0"/>
          </a:p>
        </p:txBody>
      </p:sp>
      <p:sp>
        <p:nvSpPr>
          <p:cNvPr id="17411" name="Content Placeholder 2"/>
          <p:cNvSpPr>
            <a:spLocks noGrp="1"/>
          </p:cNvSpPr>
          <p:nvPr>
            <p:ph idx="1"/>
          </p:nvPr>
        </p:nvSpPr>
        <p:spPr>
          <a:xfrm>
            <a:off x="533400" y="1828800"/>
            <a:ext cx="8234363" cy="4724400"/>
          </a:xfrm>
        </p:spPr>
        <p:txBody>
          <a:bodyPr/>
          <a:lstStyle/>
          <a:p>
            <a:pPr eaLnBrk="1" hangingPunct="1">
              <a:spcBef>
                <a:spcPts val="1200"/>
              </a:spcBef>
              <a:spcAft>
                <a:spcPts val="600"/>
              </a:spcAft>
            </a:pPr>
            <a:r>
              <a:rPr lang="en-US" sz="2400" smtClean="0">
                <a:latin typeface="Arial" charset="0"/>
                <a:cs typeface="Arial" charset="0"/>
              </a:rPr>
              <a:t>Identify common lessons learned from implementing </a:t>
            </a:r>
            <a:br>
              <a:rPr lang="en-US" sz="2400" smtClean="0">
                <a:latin typeface="Arial" charset="0"/>
                <a:cs typeface="Arial" charset="0"/>
              </a:rPr>
            </a:br>
            <a:r>
              <a:rPr lang="en-US" sz="2400" smtClean="0">
                <a:latin typeface="Arial" charset="0"/>
                <a:cs typeface="Arial" charset="0"/>
              </a:rPr>
              <a:t>DOE-STD-1189.</a:t>
            </a:r>
          </a:p>
          <a:p>
            <a:pPr eaLnBrk="1" hangingPunct="1">
              <a:spcBef>
                <a:spcPts val="1200"/>
              </a:spcBef>
              <a:spcAft>
                <a:spcPts val="600"/>
              </a:spcAft>
            </a:pPr>
            <a:r>
              <a:rPr lang="en-US" sz="2400" smtClean="0">
                <a:latin typeface="Arial" charset="0"/>
                <a:cs typeface="Arial" charset="0"/>
              </a:rPr>
              <a:t>State the purpose of the following appendices in DOE-STD-1189 and explain how each is used in the design process: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Appendix A, Safety System Design Criteria</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Appendix B, Chemical Hazard Evaluation</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Appendix C, Facility Worker Hazard Evaluation</a:t>
            </a:r>
          </a:p>
          <a:p>
            <a:pPr eaLnBrk="1" hangingPunct="1">
              <a:spcBef>
                <a:spcPts val="1200"/>
              </a:spcBef>
              <a:spcAft>
                <a:spcPts val="600"/>
              </a:spcAft>
              <a:buFont typeface="Arial" charset="0"/>
              <a:buChar char="–"/>
            </a:pPr>
            <a:r>
              <a:rPr lang="en-US" sz="2400" smtClean="0">
                <a:latin typeface="Arial" charset="0"/>
                <a:cs typeface="Arial" charset="0"/>
              </a:rPr>
              <a:t>Describe the facility modification process using DOE-STD-1189</a:t>
            </a:r>
          </a:p>
          <a:p>
            <a:pPr lvl="1" eaLnBrk="1" hangingPunct="1">
              <a:spcBef>
                <a:spcPts val="1200"/>
              </a:spcBef>
              <a:spcAft>
                <a:spcPts val="600"/>
              </a:spcAft>
              <a:buFont typeface="Arial" charset="0"/>
              <a:buChar char="–"/>
            </a:pPr>
            <a:endParaRPr lang="en-US" sz="2000" smtClean="0">
              <a:solidFill>
                <a:schemeClr val="tx1"/>
              </a:solidFill>
              <a:latin typeface="Arial" charset="0"/>
              <a:cs typeface="Arial" charset="0"/>
            </a:endParaRPr>
          </a:p>
          <a:p>
            <a:endParaRPr lang="en-US"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36D51A24-1691-4D4B-BEBE-5979D1252D60}"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STD-1189 Roadmap</a:t>
            </a:r>
            <a:br>
              <a:rPr lang="en-US" sz="3200" cap="small" dirty="0" smtClean="0"/>
            </a:br>
            <a:r>
              <a:rPr lang="en-US" sz="1800" cap="small" dirty="0" smtClean="0"/>
              <a:t> (Slide 1 of 6)</a:t>
            </a:r>
            <a:endParaRPr lang="en-US" sz="1800" dirty="0" smtClean="0"/>
          </a:p>
        </p:txBody>
      </p:sp>
      <p:sp>
        <p:nvSpPr>
          <p:cNvPr id="18435" name="Content Placeholder 2"/>
          <p:cNvSpPr>
            <a:spLocks noGrp="1"/>
          </p:cNvSpPr>
          <p:nvPr>
            <p:ph idx="1"/>
          </p:nvPr>
        </p:nvSpPr>
        <p:spPr>
          <a:xfrm>
            <a:off x="533400" y="1981200"/>
            <a:ext cx="8234363" cy="4267200"/>
          </a:xfrm>
        </p:spPr>
        <p:txBody>
          <a:bodyPr/>
          <a:lstStyle/>
          <a:p>
            <a:pPr eaLnBrk="1" hangingPunct="1">
              <a:spcBef>
                <a:spcPts val="1200"/>
              </a:spcBef>
              <a:spcAft>
                <a:spcPts val="600"/>
              </a:spcAft>
              <a:buFont typeface="Arial" charset="0"/>
              <a:buChar char="•"/>
            </a:pPr>
            <a:r>
              <a:rPr lang="en-US" sz="2400" i="1" smtClean="0">
                <a:latin typeface="Arial" charset="0"/>
                <a:cs typeface="Arial" charset="0"/>
              </a:rPr>
              <a:t>For all audiences:</a:t>
            </a:r>
          </a:p>
          <a:p>
            <a:pPr marL="503238" lvl="1" indent="-228600" eaLnBrk="1" hangingPunct="1">
              <a:spcBef>
                <a:spcPts val="1200"/>
              </a:spcBef>
              <a:spcAft>
                <a:spcPts val="1200"/>
              </a:spcAft>
              <a:buFont typeface="Calibri" pitchFamily="34" charset="0"/>
              <a:buChar char="–"/>
            </a:pPr>
            <a:r>
              <a:rPr lang="en-US" sz="2000" smtClean="0">
                <a:solidFill>
                  <a:schemeClr val="tx1"/>
                </a:solidFill>
                <a:latin typeface="Arial" charset="0"/>
                <a:cs typeface="Arial" charset="0"/>
              </a:rPr>
              <a:t>Preface, with the key concepts and guiding principles upon which the Standard was developed, </a:t>
            </a:r>
          </a:p>
          <a:p>
            <a:pPr marL="503238" lvl="1" indent="-228600" eaLnBrk="1" hangingPunct="1">
              <a:spcBef>
                <a:spcPts val="1200"/>
              </a:spcBef>
              <a:spcAft>
                <a:spcPts val="1200"/>
              </a:spcAft>
              <a:buFont typeface="Calibri" pitchFamily="34" charset="0"/>
              <a:buChar char="–"/>
            </a:pPr>
            <a:r>
              <a:rPr lang="en-US" sz="2000" smtClean="0">
                <a:solidFill>
                  <a:schemeClr val="tx1"/>
                </a:solidFill>
                <a:latin typeface="Arial" charset="0"/>
                <a:cs typeface="Arial" charset="0"/>
              </a:rPr>
              <a:t>Chapter 1, </a:t>
            </a:r>
            <a:r>
              <a:rPr lang="en-US" sz="2000" i="1" smtClean="0">
                <a:solidFill>
                  <a:schemeClr val="tx1"/>
                </a:solidFill>
                <a:latin typeface="Arial" charset="0"/>
                <a:cs typeface="Arial" charset="0"/>
              </a:rPr>
              <a:t>Introduction</a:t>
            </a:r>
            <a:r>
              <a:rPr lang="en-US" sz="2000" smtClean="0">
                <a:solidFill>
                  <a:schemeClr val="tx1"/>
                </a:solidFill>
                <a:latin typeface="Arial" charset="0"/>
                <a:cs typeface="Arial" charset="0"/>
              </a:rPr>
              <a:t> (background, applicability, must and should)</a:t>
            </a:r>
            <a:r>
              <a:rPr lang="en-US" sz="2000" i="1" smtClean="0">
                <a:solidFill>
                  <a:schemeClr val="tx1"/>
                </a:solidFill>
                <a:latin typeface="Arial" charset="0"/>
                <a:cs typeface="Arial" charset="0"/>
              </a:rPr>
              <a:t> </a:t>
            </a:r>
            <a:r>
              <a:rPr lang="en-US" sz="2000" smtClean="0">
                <a:solidFill>
                  <a:schemeClr val="tx1"/>
                </a:solidFill>
                <a:latin typeface="Arial" charset="0"/>
                <a:cs typeface="Arial" charset="0"/>
              </a:rPr>
              <a:t>; </a:t>
            </a:r>
          </a:p>
          <a:p>
            <a:pPr marL="503238" lvl="1" indent="-228600" eaLnBrk="1" hangingPunct="1">
              <a:spcBef>
                <a:spcPts val="1200"/>
              </a:spcBef>
              <a:spcAft>
                <a:spcPts val="1200"/>
              </a:spcAft>
              <a:buFont typeface="Calibri" pitchFamily="34" charset="0"/>
              <a:buChar char="–"/>
            </a:pPr>
            <a:r>
              <a:rPr lang="en-US" sz="2000" smtClean="0">
                <a:solidFill>
                  <a:schemeClr val="tx1"/>
                </a:solidFill>
                <a:latin typeface="Arial" charset="0"/>
                <a:cs typeface="Arial" charset="0"/>
              </a:rPr>
              <a:t>Chapter 2, </a:t>
            </a:r>
            <a:r>
              <a:rPr lang="en-US" sz="2000" i="1" smtClean="0">
                <a:solidFill>
                  <a:schemeClr val="tx1"/>
                </a:solidFill>
                <a:latin typeface="Arial" charset="0"/>
                <a:cs typeface="Arial" charset="0"/>
              </a:rPr>
              <a:t>Project Integration and Planning</a:t>
            </a:r>
            <a:r>
              <a:rPr lang="en-US" sz="2000" smtClean="0">
                <a:solidFill>
                  <a:schemeClr val="tx1"/>
                </a:solidFill>
                <a:latin typeface="Arial" charset="0"/>
                <a:cs typeface="Arial" charset="0"/>
              </a:rPr>
              <a:t>; and </a:t>
            </a:r>
          </a:p>
          <a:p>
            <a:pPr marL="503238" lvl="1" indent="-228600" eaLnBrk="1" hangingPunct="1">
              <a:spcBef>
                <a:spcPts val="1200"/>
              </a:spcBef>
              <a:spcAft>
                <a:spcPts val="1200"/>
              </a:spcAft>
              <a:buFont typeface="Calibri" pitchFamily="34" charset="0"/>
              <a:buChar char="–"/>
            </a:pPr>
            <a:r>
              <a:rPr lang="en-US" sz="2000" smtClean="0">
                <a:solidFill>
                  <a:schemeClr val="tx1"/>
                </a:solidFill>
                <a:latin typeface="Arial" charset="0"/>
                <a:cs typeface="Arial" charset="0"/>
              </a:rPr>
              <a:t>Chapter 3, </a:t>
            </a:r>
            <a:r>
              <a:rPr lang="en-US" sz="2000" i="1" smtClean="0">
                <a:solidFill>
                  <a:schemeClr val="tx1"/>
                </a:solidFill>
                <a:latin typeface="Arial" charset="0"/>
                <a:cs typeface="Arial" charset="0"/>
              </a:rPr>
              <a:t>Safety Considerations for the Design Process</a:t>
            </a:r>
            <a:r>
              <a:rPr lang="en-US" sz="2000" smtClean="0">
                <a:solidFill>
                  <a:schemeClr val="tx1"/>
                </a:solidFill>
                <a:latin typeface="Arial" charset="0"/>
                <a:cs typeface="Arial" charset="0"/>
              </a:rPr>
              <a:t>, which provides an overall perspective of the Safety-in-Design process through the Critical Decision stages.</a:t>
            </a:r>
            <a:r>
              <a:rPr lang="en-US" sz="1800" smtClean="0">
                <a:solidFill>
                  <a:schemeClr val="tx1"/>
                </a:solidFill>
                <a:latin typeface="Arial" charset="0"/>
                <a:cs typeface="Arial" charset="0"/>
              </a:rPr>
              <a:t>  </a:t>
            </a:r>
          </a:p>
          <a:p>
            <a:pPr eaLnBrk="1" hangingPunct="1">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55F3230D-8E89-4158-B3D4-9DC442D1CABA}"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STD-1189 Roadmap</a:t>
            </a:r>
            <a:br>
              <a:rPr lang="en-US" sz="3200" cap="small" dirty="0" smtClean="0"/>
            </a:br>
            <a:r>
              <a:rPr lang="en-US" sz="1800" cap="small" dirty="0" smtClean="0"/>
              <a:t>(Slide 2 of 6)</a:t>
            </a:r>
          </a:p>
        </p:txBody>
      </p:sp>
      <p:sp>
        <p:nvSpPr>
          <p:cNvPr id="19459" name="Content Placeholder 2"/>
          <p:cNvSpPr>
            <a:spLocks noGrp="1"/>
          </p:cNvSpPr>
          <p:nvPr>
            <p:ph idx="1"/>
          </p:nvPr>
        </p:nvSpPr>
        <p:spPr>
          <a:xfrm>
            <a:off x="533400" y="1752600"/>
            <a:ext cx="8234363" cy="4495800"/>
          </a:xfrm>
        </p:spPr>
        <p:txBody>
          <a:bodyPr/>
          <a:lstStyle/>
          <a:p>
            <a:pPr eaLnBrk="1" hangingPunct="1">
              <a:spcBef>
                <a:spcPts val="1200"/>
              </a:spcBef>
              <a:spcAft>
                <a:spcPts val="600"/>
              </a:spcAft>
              <a:buFontTx/>
              <a:buChar char="•"/>
            </a:pPr>
            <a:r>
              <a:rPr lang="en-US" sz="2400" smtClean="0">
                <a:latin typeface="Arial" charset="0"/>
                <a:cs typeface="Arial" charset="0"/>
              </a:rPr>
              <a:t>Project safety personnel and DOE safety reviewers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Chapter 4, </a:t>
            </a:r>
            <a:r>
              <a:rPr lang="en-US" sz="2000" i="1" smtClean="0">
                <a:solidFill>
                  <a:schemeClr val="tx1"/>
                </a:solidFill>
                <a:latin typeface="Arial" charset="0"/>
                <a:cs typeface="Arial" charset="0"/>
              </a:rPr>
              <a:t>Hazard and Accident Analyses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Chapter 5, </a:t>
            </a:r>
            <a:r>
              <a:rPr lang="en-US" sz="2000" i="1" smtClean="0">
                <a:solidFill>
                  <a:schemeClr val="tx1"/>
                </a:solidFill>
                <a:latin typeface="Arial" charset="0"/>
                <a:cs typeface="Arial" charset="0"/>
              </a:rPr>
              <a:t>Nuclear Safety Design Criteria</a:t>
            </a:r>
            <a:endParaRPr lang="en-US" sz="2000" smtClean="0">
              <a:solidFill>
                <a:schemeClr val="tx1"/>
              </a:solidFill>
              <a:latin typeface="Arial" charset="0"/>
              <a:cs typeface="Arial" charset="0"/>
            </a:endParaRP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Chapter 6, </a:t>
            </a:r>
            <a:r>
              <a:rPr lang="en-US" sz="2000" i="1" smtClean="0">
                <a:solidFill>
                  <a:schemeClr val="tx1"/>
                </a:solidFill>
                <a:latin typeface="Arial" charset="0"/>
                <a:cs typeface="Arial" charset="0"/>
              </a:rPr>
              <a:t>Safety Reports</a:t>
            </a:r>
            <a:endParaRPr lang="en-US" sz="2000" smtClean="0">
              <a:solidFill>
                <a:schemeClr val="tx1"/>
              </a:solidFill>
              <a:latin typeface="Arial" charset="0"/>
              <a:cs typeface="Arial" charset="0"/>
            </a:endParaRP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Appendices A through D, </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Appendix F, </a:t>
            </a:r>
            <a:r>
              <a:rPr lang="en-US" sz="2000" i="1" smtClean="0">
                <a:solidFill>
                  <a:schemeClr val="tx1"/>
                </a:solidFill>
                <a:latin typeface="Arial" charset="0"/>
                <a:cs typeface="Arial" charset="0"/>
              </a:rPr>
              <a:t>Safety-in Design Relationship with the Risk Management Plan</a:t>
            </a:r>
            <a:endParaRPr lang="en-US" sz="2000" smtClean="0">
              <a:solidFill>
                <a:schemeClr val="tx1"/>
              </a:solidFill>
              <a:latin typeface="Arial" charset="0"/>
              <a:cs typeface="Arial" charset="0"/>
            </a:endParaRP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Appendix G, </a:t>
            </a:r>
            <a:r>
              <a:rPr lang="en-US" sz="2000" i="1" smtClean="0">
                <a:solidFill>
                  <a:schemeClr val="tx1"/>
                </a:solidFill>
                <a:latin typeface="Arial" charset="0"/>
                <a:cs typeface="Arial" charset="0"/>
              </a:rPr>
              <a:t>Hazards Analysis Table Development</a:t>
            </a:r>
            <a:r>
              <a:rPr lang="en-US" sz="2000" smtClean="0">
                <a:solidFill>
                  <a:schemeClr val="tx1"/>
                </a:solidFill>
                <a:latin typeface="Arial" charset="0"/>
                <a:cs typeface="Arial" charset="0"/>
              </a:rPr>
              <a:t> guides this basic safety-in-design input</a:t>
            </a:r>
          </a:p>
          <a:p>
            <a:pPr lvl="1" eaLnBrk="1" hangingPunct="1">
              <a:spcBef>
                <a:spcPts val="1200"/>
              </a:spcBef>
              <a:spcAft>
                <a:spcPts val="600"/>
              </a:spcAft>
              <a:buFont typeface="Arial" charset="0"/>
              <a:buChar char="–"/>
            </a:pPr>
            <a:endParaRPr lang="en-US" sz="2000" smtClean="0">
              <a:solidFill>
                <a:schemeClr val="tx1"/>
              </a:solidFill>
              <a:latin typeface="Arial" charset="0"/>
              <a:cs typeface="Arial" charset="0"/>
            </a:endParaRPr>
          </a:p>
          <a:p>
            <a:pPr eaLnBrk="1" hangingPunct="1">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CD966336-552A-4707-820A-703F2EB3C58A}" type="slidenum">
              <a:rPr lang="en-US" smtClean="0"/>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STD-1189 Roadmap</a:t>
            </a:r>
            <a:br>
              <a:rPr lang="en-US" sz="3200" cap="small" dirty="0" smtClean="0"/>
            </a:br>
            <a:r>
              <a:rPr lang="en-US" sz="1800" cap="small" dirty="0" smtClean="0"/>
              <a:t>(Slide 3 of 6)</a:t>
            </a:r>
          </a:p>
        </p:txBody>
      </p:sp>
      <p:sp>
        <p:nvSpPr>
          <p:cNvPr id="20483" name="Content Placeholder 2"/>
          <p:cNvSpPr>
            <a:spLocks noGrp="1"/>
          </p:cNvSpPr>
          <p:nvPr>
            <p:ph idx="1"/>
          </p:nvPr>
        </p:nvSpPr>
        <p:spPr/>
        <p:txBody>
          <a:bodyPr/>
          <a:lstStyle/>
          <a:p>
            <a:pPr eaLnBrk="1" hangingPunct="1">
              <a:spcBef>
                <a:spcPts val="1200"/>
              </a:spcBef>
              <a:spcAft>
                <a:spcPts val="600"/>
              </a:spcAft>
              <a:buFont typeface="Arial" charset="0"/>
              <a:buChar char="•"/>
            </a:pPr>
            <a:r>
              <a:rPr lang="en-US" smtClean="0">
                <a:latin typeface="Arial" charset="0"/>
                <a:cs typeface="Arial" charset="0"/>
              </a:rPr>
              <a:t>Project management, both federal and contractor</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Chapter 7, </a:t>
            </a:r>
            <a:r>
              <a:rPr lang="en-US" i="1" smtClean="0">
                <a:solidFill>
                  <a:schemeClr val="tx1"/>
                </a:solidFill>
                <a:latin typeface="Arial" charset="0"/>
                <a:cs typeface="Arial" charset="0"/>
              </a:rPr>
              <a:t>Safety Program and Other Important Project Interfaces</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Appendix E, </a:t>
            </a:r>
            <a:r>
              <a:rPr lang="en-US" i="1" smtClean="0">
                <a:solidFill>
                  <a:schemeClr val="tx1"/>
                </a:solidFill>
                <a:latin typeface="Arial" charset="0"/>
                <a:cs typeface="Arial" charset="0"/>
              </a:rPr>
              <a:t>Safety Design Strategy</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Appendix F, </a:t>
            </a:r>
            <a:r>
              <a:rPr lang="en-US" i="1" smtClean="0">
                <a:solidFill>
                  <a:schemeClr val="tx1"/>
                </a:solidFill>
                <a:latin typeface="Arial" charset="0"/>
                <a:cs typeface="Arial" charset="0"/>
              </a:rPr>
              <a:t>Safety-in-Design Relationship with the Risk Management Plan</a:t>
            </a:r>
          </a:p>
          <a:p>
            <a:pPr eaLnBrk="1" hangingPunct="1">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C0767D28-1136-47EC-AD69-418C98B94F0F}"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STD-1189 Roadmap</a:t>
            </a:r>
            <a:br>
              <a:rPr lang="en-US" sz="3200" cap="small" dirty="0" smtClean="0"/>
            </a:br>
            <a:r>
              <a:rPr lang="en-US" sz="1800" cap="small" dirty="0" smtClean="0"/>
              <a:t> (Slide 4 of 6)</a:t>
            </a:r>
            <a:endParaRPr lang="en-US" sz="3200" dirty="0"/>
          </a:p>
        </p:txBody>
      </p:sp>
      <p:sp>
        <p:nvSpPr>
          <p:cNvPr id="21507" name="Content Placeholder 2"/>
          <p:cNvSpPr>
            <a:spLocks noGrp="1"/>
          </p:cNvSpPr>
          <p:nvPr>
            <p:ph idx="1"/>
          </p:nvPr>
        </p:nvSpPr>
        <p:spPr/>
        <p:txBody>
          <a:bodyPr/>
          <a:lstStyle/>
          <a:p>
            <a:pPr eaLnBrk="1" hangingPunct="1">
              <a:spcBef>
                <a:spcPts val="1200"/>
              </a:spcBef>
              <a:spcAft>
                <a:spcPts val="600"/>
              </a:spcAft>
              <a:buFont typeface="Arial" charset="0"/>
              <a:buChar char="•"/>
            </a:pPr>
            <a:r>
              <a:rPr lang="en-US" smtClean="0">
                <a:latin typeface="Arial" charset="0"/>
                <a:cs typeface="Arial" charset="0"/>
              </a:rPr>
              <a:t>Project design personnel </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Chapter 5, </a:t>
            </a:r>
            <a:r>
              <a:rPr lang="en-US" i="1" smtClean="0">
                <a:solidFill>
                  <a:schemeClr val="tx1"/>
                </a:solidFill>
                <a:latin typeface="Arial" charset="0"/>
                <a:cs typeface="Arial" charset="0"/>
              </a:rPr>
              <a:t>Nuclear Safety Design Criteria</a:t>
            </a:r>
            <a:r>
              <a:rPr lang="en-US" smtClean="0">
                <a:solidFill>
                  <a:schemeClr val="tx1"/>
                </a:solidFill>
                <a:latin typeface="Arial" charset="0"/>
                <a:cs typeface="Arial" charset="0"/>
              </a:rPr>
              <a:t> </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Chapter 7, </a:t>
            </a:r>
            <a:r>
              <a:rPr lang="en-US" i="1" smtClean="0">
                <a:solidFill>
                  <a:schemeClr val="tx1"/>
                </a:solidFill>
                <a:latin typeface="Arial" charset="0"/>
                <a:cs typeface="Arial" charset="0"/>
              </a:rPr>
              <a:t>Safety Program and Other Important Project Interfaces</a:t>
            </a:r>
            <a:endParaRPr lang="en-US" smtClean="0">
              <a:solidFill>
                <a:schemeClr val="tx1"/>
              </a:solidFill>
              <a:latin typeface="Arial" charset="0"/>
              <a:cs typeface="Arial" charset="0"/>
            </a:endParaRP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Appendices A through D, which address safety design classifications for Safety Structures, Systems, and Components (Safety SSCs)</a:t>
            </a:r>
          </a:p>
          <a:p>
            <a:endParaRPr lang="en-US" sz="32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02C58F42-B1BC-4965-8291-117BDAD53929}"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STD-1189 Roadmap</a:t>
            </a:r>
            <a:br>
              <a:rPr lang="en-US" sz="3200" cap="small" dirty="0" smtClean="0"/>
            </a:br>
            <a:r>
              <a:rPr lang="en-US" sz="1800" cap="small" dirty="0" smtClean="0"/>
              <a:t> (Slide 5 of 6)</a:t>
            </a:r>
          </a:p>
        </p:txBody>
      </p:sp>
      <p:sp>
        <p:nvSpPr>
          <p:cNvPr id="13317" name="Content Placeholder 2"/>
          <p:cNvSpPr>
            <a:spLocks noGrp="1"/>
          </p:cNvSpPr>
          <p:nvPr>
            <p:ph idx="1"/>
          </p:nvPr>
        </p:nvSpPr>
        <p:spPr/>
        <p:txBody>
          <a:bodyPr rtlCol="0">
            <a:normAutofit/>
          </a:bodyPr>
          <a:lstStyle/>
          <a:p>
            <a:pPr eaLnBrk="1" fontAlgn="auto" hangingPunct="1">
              <a:spcBef>
                <a:spcPts val="1200"/>
              </a:spcBef>
              <a:spcAft>
                <a:spcPts val="600"/>
              </a:spcAft>
              <a:buFont typeface="Arial" charset="0"/>
              <a:buChar char="•"/>
              <a:defRPr/>
            </a:pPr>
            <a:r>
              <a:rPr lang="en-US" dirty="0" smtClean="0"/>
              <a:t>Safety Document Preparers and Reviewers</a:t>
            </a:r>
          </a:p>
          <a:p>
            <a:pPr lvl="1" eaLnBrk="1" fontAlgn="auto" hangingPunct="1">
              <a:spcBef>
                <a:spcPts val="1200"/>
              </a:spcBef>
              <a:spcAft>
                <a:spcPts val="600"/>
              </a:spcAft>
              <a:buFont typeface="Arial" charset="0"/>
              <a:buChar char="–"/>
              <a:defRPr/>
            </a:pPr>
            <a:r>
              <a:rPr lang="en-US" dirty="0" smtClean="0">
                <a:solidFill>
                  <a:schemeClr val="tx1"/>
                </a:solidFill>
              </a:rPr>
              <a:t>Appendices H and I provide format and content guidance for the preparation of the Conceptual Safety Design Report (CDSA), Preliminary Safety Design Report (PDSA), and Preliminary Documented Safety Analysis (PDSA)</a:t>
            </a:r>
          </a:p>
          <a:p>
            <a:pPr marL="285750" indent="-285750" eaLnBrk="1" fontAlgn="auto" hangingPunct="1">
              <a:spcAft>
                <a:spcPts val="0"/>
              </a:spcAft>
              <a:buFont typeface="Arial" pitchFamily="34" charset="0"/>
              <a:buChar char="•"/>
              <a:defRPr/>
            </a:pPr>
            <a:endParaRPr lang="en-US" sz="2400" dirty="0" smtClean="0"/>
          </a:p>
          <a:p>
            <a:pPr eaLnBrk="1" fontAlgn="auto" hangingPunct="1">
              <a:spcAft>
                <a:spcPts val="0"/>
              </a:spcAft>
              <a:buFont typeface="Arial" charset="0"/>
              <a:buChar char="•"/>
              <a:defRPr/>
            </a:pPr>
            <a:endParaRPr lang="en-US" dirty="0" smtClean="0"/>
          </a:p>
        </p:txBody>
      </p:sp>
      <p:sp>
        <p:nvSpPr>
          <p:cNvPr id="5" name="Slide Number Placeholder 4"/>
          <p:cNvSpPr>
            <a:spLocks noGrp="1"/>
          </p:cNvSpPr>
          <p:nvPr>
            <p:ph type="sldNum" sz="quarter" idx="10"/>
          </p:nvPr>
        </p:nvSpPr>
        <p:spPr/>
        <p:txBody>
          <a:bodyPr/>
          <a:lstStyle/>
          <a:p>
            <a:pPr>
              <a:defRPr/>
            </a:pPr>
            <a:fld id="{DD176C87-B657-44BD-848E-3E18E66EA458}"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STD-1189 Roadmap</a:t>
            </a:r>
            <a:br>
              <a:rPr lang="en-US" sz="3200" cap="small" dirty="0" smtClean="0"/>
            </a:br>
            <a:r>
              <a:rPr lang="en-US" sz="1800" cap="small" dirty="0" smtClean="0"/>
              <a:t> (Slide 6 of 6)</a:t>
            </a:r>
            <a:endParaRPr lang="en-US" sz="3200" dirty="0"/>
          </a:p>
        </p:txBody>
      </p:sp>
      <p:sp>
        <p:nvSpPr>
          <p:cNvPr id="23555" name="Content Placeholder 2"/>
          <p:cNvSpPr>
            <a:spLocks noGrp="1"/>
          </p:cNvSpPr>
          <p:nvPr>
            <p:ph idx="1"/>
          </p:nvPr>
        </p:nvSpPr>
        <p:spPr/>
        <p:txBody>
          <a:bodyPr/>
          <a:lstStyle/>
          <a:p>
            <a:pPr marL="285750" indent="-285750" eaLnBrk="1" hangingPunct="1">
              <a:spcBef>
                <a:spcPts val="1200"/>
              </a:spcBef>
              <a:spcAft>
                <a:spcPts val="600"/>
              </a:spcAft>
              <a:buFont typeface="Arial" charset="0"/>
              <a:buChar char="•"/>
            </a:pPr>
            <a:r>
              <a:rPr lang="en-US" smtClean="0">
                <a:latin typeface="Arial" charset="0"/>
                <a:cs typeface="Arial" charset="0"/>
              </a:rPr>
              <a:t>Project teams for potential major modifications of existing facilities:</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Chapter 8, </a:t>
            </a:r>
            <a:r>
              <a:rPr lang="en-US" i="1" smtClean="0">
                <a:solidFill>
                  <a:schemeClr val="tx1"/>
                </a:solidFill>
                <a:latin typeface="Arial" charset="0"/>
                <a:cs typeface="Arial" charset="0"/>
              </a:rPr>
              <a:t>Additional Safety Integration Considerations for Projects</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Appendix J, </a:t>
            </a:r>
            <a:r>
              <a:rPr lang="en-US" i="1" smtClean="0">
                <a:solidFill>
                  <a:schemeClr val="tx1"/>
                </a:solidFill>
                <a:latin typeface="Arial" charset="0"/>
                <a:cs typeface="Arial" charset="0"/>
              </a:rPr>
              <a:t>Major Modification Determination Examples</a:t>
            </a:r>
            <a:endParaRPr lang="en-US" sz="28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E258F3D7-9429-4ECE-BA0E-90FA1DC283D7}" type="slidenum">
              <a:rPr lang="en-US" smtClean="0"/>
              <a:pPr>
                <a:defRPr/>
              </a:pPr>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Safety-in-Design Basic Precepts</a:t>
            </a:r>
            <a:endParaRPr lang="en-US" sz="3200" cap="small" dirty="0"/>
          </a:p>
        </p:txBody>
      </p:sp>
      <p:sp>
        <p:nvSpPr>
          <p:cNvPr id="24579" name="Content Placeholder 2"/>
          <p:cNvSpPr>
            <a:spLocks noGrp="1"/>
          </p:cNvSpPr>
          <p:nvPr>
            <p:ph idx="1"/>
          </p:nvPr>
        </p:nvSpPr>
        <p:spPr/>
        <p:txBody>
          <a:bodyPr/>
          <a:lstStyle/>
          <a:p>
            <a:pPr eaLnBrk="1" hangingPunct="1">
              <a:spcBef>
                <a:spcPts val="1200"/>
              </a:spcBef>
              <a:spcAft>
                <a:spcPts val="600"/>
              </a:spcAft>
              <a:buFont typeface="Arial" charset="0"/>
              <a:buChar char="•"/>
            </a:pPr>
            <a:r>
              <a:rPr lang="en-US" sz="2400" smtClean="0">
                <a:latin typeface="Arial" charset="0"/>
                <a:cs typeface="Arial" charset="0"/>
              </a:rPr>
              <a:t>Appropriate and reasonably conservative safety structures, systems, and components are selected early in project designs</a:t>
            </a:r>
          </a:p>
          <a:p>
            <a:pPr eaLnBrk="1" hangingPunct="1">
              <a:spcBef>
                <a:spcPts val="1200"/>
              </a:spcBef>
              <a:spcAft>
                <a:spcPts val="600"/>
              </a:spcAft>
              <a:buFont typeface="Arial" charset="0"/>
              <a:buChar char="•"/>
            </a:pPr>
            <a:r>
              <a:rPr lang="en-US" sz="2400" smtClean="0">
                <a:latin typeface="Arial" charset="0"/>
                <a:cs typeface="Arial" charset="0"/>
              </a:rPr>
              <a:t>Project cost estimates include these structures, systems, and components</a:t>
            </a:r>
          </a:p>
          <a:p>
            <a:pPr eaLnBrk="1" hangingPunct="1">
              <a:spcBef>
                <a:spcPts val="1200"/>
              </a:spcBef>
              <a:spcAft>
                <a:spcPts val="600"/>
              </a:spcAft>
              <a:buFont typeface="Arial" charset="0"/>
              <a:buChar char="•"/>
            </a:pPr>
            <a:r>
              <a:rPr lang="en-US" sz="2400" smtClean="0">
                <a:latin typeface="Arial" charset="0"/>
                <a:cs typeface="Arial" charset="0"/>
              </a:rPr>
              <a:t>Project risks associated with safety structures, systems, and component selections are specified for informed risk decision-making by the Project Approval Authorities</a:t>
            </a:r>
          </a:p>
        </p:txBody>
      </p:sp>
      <p:sp>
        <p:nvSpPr>
          <p:cNvPr id="5" name="Slide Number Placeholder 4"/>
          <p:cNvSpPr>
            <a:spLocks noGrp="1"/>
          </p:cNvSpPr>
          <p:nvPr>
            <p:ph type="sldNum" sz="quarter" idx="10"/>
          </p:nvPr>
        </p:nvSpPr>
        <p:spPr/>
        <p:txBody>
          <a:bodyPr/>
          <a:lstStyle/>
          <a:p>
            <a:pPr>
              <a:defRPr/>
            </a:pPr>
            <a:fld id="{E1592F23-4B28-4EA8-B52F-F77A95AD12B6}"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Development of STD-1189</a:t>
            </a:r>
            <a:br>
              <a:rPr lang="en-US" sz="3200" cap="small" dirty="0" smtClean="0"/>
            </a:br>
            <a:r>
              <a:rPr lang="en-US" sz="2000" cap="small" dirty="0" smtClean="0"/>
              <a:t> (Slide 1 of 2)</a:t>
            </a:r>
            <a:endParaRPr lang="en-US" sz="3200" cap="small" dirty="0" smtClean="0"/>
          </a:p>
        </p:txBody>
      </p:sp>
      <p:sp>
        <p:nvSpPr>
          <p:cNvPr id="25603" name="Content Placeholder 2"/>
          <p:cNvSpPr>
            <a:spLocks noGrp="1"/>
          </p:cNvSpPr>
          <p:nvPr>
            <p:ph idx="1"/>
          </p:nvPr>
        </p:nvSpPr>
        <p:spPr/>
        <p:txBody>
          <a:bodyPr/>
          <a:lstStyle/>
          <a:p>
            <a:pPr marL="228600" indent="-228600" eaLnBrk="1" hangingPunct="1">
              <a:spcBef>
                <a:spcPts val="1200"/>
              </a:spcBef>
              <a:spcAft>
                <a:spcPts val="600"/>
              </a:spcAft>
            </a:pPr>
            <a:r>
              <a:rPr lang="en-US" sz="2400" smtClean="0">
                <a:latin typeface="Arial" charset="0"/>
                <a:cs typeface="Arial" charset="0"/>
              </a:rPr>
              <a:t>Designed to be guided by and consistent with the principles of ISM and the requirements and guidance of DOE O 413.3A</a:t>
            </a:r>
          </a:p>
          <a:p>
            <a:pPr marL="228600" indent="-228600" eaLnBrk="1" hangingPunct="1">
              <a:spcBef>
                <a:spcPts val="1200"/>
              </a:spcBef>
              <a:spcAft>
                <a:spcPts val="600"/>
              </a:spcAft>
            </a:pPr>
            <a:r>
              <a:rPr lang="en-US" sz="2400" smtClean="0">
                <a:latin typeface="Arial" charset="0"/>
                <a:cs typeface="Arial" charset="0"/>
              </a:rPr>
              <a:t>Correlates with the DOE O 413.3A Critical Decision stages and safety design requirements of DOE O 420.1B and associated guidance documents</a:t>
            </a:r>
          </a:p>
          <a:p>
            <a:pPr marL="228600" indent="-228600" eaLnBrk="1" hangingPunct="1">
              <a:spcBef>
                <a:spcPts val="1200"/>
              </a:spcBef>
              <a:spcAft>
                <a:spcPts val="600"/>
              </a:spcAft>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5D9DDFE3-1BE1-429C-960C-B84017111A66}" type="slidenum">
              <a:rPr lang="en-US" smtClean="0"/>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Development of STD-1189</a:t>
            </a:r>
            <a:br>
              <a:rPr lang="en-US" sz="3200" cap="small" dirty="0" smtClean="0"/>
            </a:br>
            <a:r>
              <a:rPr lang="en-US" sz="1800" cap="small" dirty="0" smtClean="0"/>
              <a:t> (Slide 2 of 2)</a:t>
            </a:r>
            <a:endParaRPr lang="en-US" sz="1600" dirty="0"/>
          </a:p>
        </p:txBody>
      </p:sp>
      <p:sp>
        <p:nvSpPr>
          <p:cNvPr id="3" name="Content Placeholder 2"/>
          <p:cNvSpPr>
            <a:spLocks noGrp="1"/>
          </p:cNvSpPr>
          <p:nvPr>
            <p:ph idx="1"/>
          </p:nvPr>
        </p:nvSpPr>
        <p:spPr/>
        <p:txBody>
          <a:bodyPr/>
          <a:lstStyle/>
          <a:p>
            <a:pPr marL="228600" indent="-228600" eaLnBrk="1" fontAlgn="auto" hangingPunct="1">
              <a:spcBef>
                <a:spcPts val="1200"/>
              </a:spcBef>
              <a:spcAft>
                <a:spcPts val="600"/>
              </a:spcAft>
              <a:buFont typeface="Arial" charset="0"/>
              <a:buChar char="•"/>
              <a:defRPr/>
            </a:pPr>
            <a:r>
              <a:rPr lang="en-US" dirty="0" smtClean="0"/>
              <a:t>Specifically references 413.3A guidance on</a:t>
            </a:r>
          </a:p>
          <a:p>
            <a:pPr lvl="1" eaLnBrk="1" fontAlgn="auto" hangingPunct="1">
              <a:spcBef>
                <a:spcPts val="1200"/>
              </a:spcBef>
              <a:spcAft>
                <a:spcPts val="600"/>
              </a:spcAft>
              <a:buFont typeface="Arial" charset="0"/>
              <a:buChar char="–"/>
              <a:defRPr/>
            </a:pPr>
            <a:r>
              <a:rPr lang="en-US" dirty="0" smtClean="0">
                <a:solidFill>
                  <a:schemeClr val="tx1"/>
                </a:solidFill>
              </a:rPr>
              <a:t>Mission Need Statements</a:t>
            </a:r>
          </a:p>
          <a:p>
            <a:pPr lvl="1" eaLnBrk="1" fontAlgn="auto" hangingPunct="1">
              <a:spcBef>
                <a:spcPts val="1200"/>
              </a:spcBef>
              <a:spcAft>
                <a:spcPts val="600"/>
              </a:spcAft>
              <a:buFont typeface="Arial" charset="0"/>
              <a:buChar char="–"/>
              <a:defRPr/>
            </a:pPr>
            <a:r>
              <a:rPr lang="en-US" dirty="0" smtClean="0">
                <a:solidFill>
                  <a:schemeClr val="tx1"/>
                </a:solidFill>
              </a:rPr>
              <a:t>Integrated Project Teams</a:t>
            </a:r>
          </a:p>
          <a:p>
            <a:pPr lvl="1" eaLnBrk="1" fontAlgn="auto" hangingPunct="1">
              <a:spcBef>
                <a:spcPts val="1200"/>
              </a:spcBef>
              <a:spcAft>
                <a:spcPts val="600"/>
              </a:spcAft>
              <a:buFont typeface="Arial" charset="0"/>
              <a:buChar char="–"/>
              <a:defRPr/>
            </a:pPr>
            <a:r>
              <a:rPr lang="en-US" dirty="0" smtClean="0">
                <a:solidFill>
                  <a:schemeClr val="tx1"/>
                </a:solidFill>
              </a:rPr>
              <a:t>Project Execution Plans</a:t>
            </a:r>
          </a:p>
          <a:p>
            <a:pPr lvl="1" eaLnBrk="1" fontAlgn="auto" hangingPunct="1">
              <a:spcBef>
                <a:spcPts val="1200"/>
              </a:spcBef>
              <a:spcAft>
                <a:spcPts val="600"/>
              </a:spcAft>
              <a:buFont typeface="Arial" charset="0"/>
              <a:buChar char="–"/>
              <a:defRPr/>
            </a:pPr>
            <a:r>
              <a:rPr lang="en-US" dirty="0" smtClean="0">
                <a:solidFill>
                  <a:schemeClr val="tx1"/>
                </a:solidFill>
              </a:rPr>
              <a:t>Risk Management Plans</a:t>
            </a:r>
          </a:p>
          <a:p>
            <a:pPr>
              <a:defRPr/>
            </a:pPr>
            <a:endParaRPr lang="en-US" sz="3200" dirty="0"/>
          </a:p>
        </p:txBody>
      </p:sp>
      <p:sp>
        <p:nvSpPr>
          <p:cNvPr id="4" name="Slide Number Placeholder 3"/>
          <p:cNvSpPr>
            <a:spLocks noGrp="1"/>
          </p:cNvSpPr>
          <p:nvPr>
            <p:ph type="sldNum" sz="quarter" idx="10"/>
          </p:nvPr>
        </p:nvSpPr>
        <p:spPr/>
        <p:txBody>
          <a:bodyPr/>
          <a:lstStyle/>
          <a:p>
            <a:pPr>
              <a:defRPr/>
            </a:pPr>
            <a:fld id="{C67C40E1-7A01-4BBF-AD10-49DC2B8BB67F}"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Correlation to </a:t>
            </a:r>
            <a:br>
              <a:rPr lang="en-US" sz="3200" cap="small" dirty="0" smtClean="0"/>
            </a:br>
            <a:r>
              <a:rPr lang="en-US" sz="3200" cap="small" dirty="0" smtClean="0"/>
              <a:t>ISM Core Functions</a:t>
            </a:r>
          </a:p>
        </p:txBody>
      </p:sp>
      <p:sp>
        <p:nvSpPr>
          <p:cNvPr id="27651" name="Content Placeholder 2"/>
          <p:cNvSpPr>
            <a:spLocks noGrp="1"/>
          </p:cNvSpPr>
          <p:nvPr>
            <p:ph idx="1"/>
          </p:nvPr>
        </p:nvSpPr>
        <p:spPr/>
        <p:txBody>
          <a:bodyPr/>
          <a:lstStyle/>
          <a:p>
            <a:pPr eaLnBrk="1" hangingPunct="1">
              <a:spcBef>
                <a:spcPts val="1200"/>
              </a:spcBef>
              <a:spcAft>
                <a:spcPts val="600"/>
              </a:spcAft>
            </a:pPr>
            <a:r>
              <a:rPr lang="en-US" sz="2000" i="1" u="sng" smtClean="0">
                <a:latin typeface="Arial" charset="0"/>
                <a:cs typeface="Arial" charset="0"/>
              </a:rPr>
              <a:t>Define the work</a:t>
            </a:r>
            <a:r>
              <a:rPr lang="en-US" sz="2000" smtClean="0">
                <a:latin typeface="Arial" charset="0"/>
                <a:cs typeface="Arial" charset="0"/>
              </a:rPr>
              <a:t>: Mission Need; Alternatives Definition</a:t>
            </a:r>
          </a:p>
          <a:p>
            <a:pPr eaLnBrk="1" hangingPunct="1">
              <a:spcBef>
                <a:spcPts val="1200"/>
              </a:spcBef>
              <a:spcAft>
                <a:spcPts val="600"/>
              </a:spcAft>
            </a:pPr>
            <a:r>
              <a:rPr lang="en-US" sz="2000" i="1" u="sng" smtClean="0">
                <a:latin typeface="Arial" charset="0"/>
                <a:cs typeface="Arial" charset="0"/>
              </a:rPr>
              <a:t>Analyze the hazards</a:t>
            </a:r>
            <a:r>
              <a:rPr lang="en-US" sz="2000" smtClean="0">
                <a:latin typeface="Arial" charset="0"/>
                <a:cs typeface="Arial" charset="0"/>
              </a:rPr>
              <a:t>: Conceptual Design and follow on stages, hazards analysis, and design basis accidents</a:t>
            </a:r>
          </a:p>
          <a:p>
            <a:pPr eaLnBrk="1" hangingPunct="1">
              <a:spcBef>
                <a:spcPts val="1200"/>
              </a:spcBef>
              <a:spcAft>
                <a:spcPts val="600"/>
              </a:spcAft>
            </a:pPr>
            <a:r>
              <a:rPr lang="en-US" sz="2000" i="1" u="sng" smtClean="0">
                <a:latin typeface="Arial" charset="0"/>
                <a:cs typeface="Arial" charset="0"/>
              </a:rPr>
              <a:t>Identify safety controls</a:t>
            </a:r>
            <a:r>
              <a:rPr lang="en-US" sz="2000" smtClean="0">
                <a:latin typeface="Arial" charset="0"/>
                <a:cs typeface="Arial" charset="0"/>
              </a:rPr>
              <a:t>: Follows from HA and safety classification</a:t>
            </a:r>
          </a:p>
          <a:p>
            <a:pPr eaLnBrk="1" hangingPunct="1">
              <a:spcBef>
                <a:spcPts val="1200"/>
              </a:spcBef>
              <a:spcAft>
                <a:spcPts val="600"/>
              </a:spcAft>
            </a:pPr>
            <a:r>
              <a:rPr lang="en-US" sz="2000" i="1" u="sng" smtClean="0">
                <a:latin typeface="Arial" charset="0"/>
                <a:cs typeface="Arial" charset="0"/>
              </a:rPr>
              <a:t>Perform the work</a:t>
            </a:r>
            <a:r>
              <a:rPr lang="en-US" sz="2000" smtClean="0">
                <a:latin typeface="Arial" charset="0"/>
                <a:cs typeface="Arial" charset="0"/>
              </a:rPr>
              <a:t>: Integrate safety in the design process</a:t>
            </a:r>
          </a:p>
          <a:p>
            <a:pPr eaLnBrk="1" hangingPunct="1">
              <a:spcBef>
                <a:spcPts val="1200"/>
              </a:spcBef>
              <a:spcAft>
                <a:spcPts val="600"/>
              </a:spcAft>
            </a:pPr>
            <a:r>
              <a:rPr lang="en-US" sz="2000" i="1" u="sng" smtClean="0">
                <a:latin typeface="Arial" charset="0"/>
                <a:cs typeface="Arial" charset="0"/>
              </a:rPr>
              <a:t>Feedback and Improvement</a:t>
            </a:r>
            <a:r>
              <a:rPr lang="en-US" sz="2000" smtClean="0">
                <a:latin typeface="Arial" charset="0"/>
                <a:cs typeface="Arial" charset="0"/>
              </a:rPr>
              <a:t>: Iterative process between design and safety</a:t>
            </a:r>
          </a:p>
          <a:p>
            <a:pPr eaLnBrk="1" hangingPunct="1">
              <a:spcBef>
                <a:spcPts val="1200"/>
              </a:spcBef>
              <a:spcAft>
                <a:spcPts val="600"/>
              </a:spcAft>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09E980E-7C9D-4CBD-AA70-877DDAADFB4C}"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3200" cap="small" dirty="0" smtClean="0"/>
              <a:t>Summary of Key </a:t>
            </a:r>
            <a:br>
              <a:rPr lang="en-US" sz="3200" cap="small" dirty="0" smtClean="0"/>
            </a:br>
            <a:r>
              <a:rPr lang="en-US" sz="3200" cap="small" dirty="0" smtClean="0"/>
              <a:t>Safety-in-Design Concepts</a:t>
            </a:r>
            <a:br>
              <a:rPr lang="en-US" sz="3200" cap="small" dirty="0" smtClean="0"/>
            </a:br>
            <a:r>
              <a:rPr lang="en-US" sz="2200" cap="small" dirty="0" smtClean="0"/>
              <a:t>(</a:t>
            </a:r>
            <a:r>
              <a:rPr lang="en-US" sz="2000" cap="small" dirty="0" smtClean="0"/>
              <a:t>Slide 1 of 4)</a:t>
            </a:r>
            <a:endParaRPr lang="en-US" sz="3200" cap="small" dirty="0" smtClean="0"/>
          </a:p>
        </p:txBody>
      </p:sp>
      <p:sp>
        <p:nvSpPr>
          <p:cNvPr id="28675" name="Rectangle 3"/>
          <p:cNvSpPr>
            <a:spLocks noGrp="1" noChangeArrowheads="1"/>
          </p:cNvSpPr>
          <p:nvPr>
            <p:ph idx="1"/>
          </p:nvPr>
        </p:nvSpPr>
        <p:spPr/>
        <p:txBody>
          <a:bodyPr/>
          <a:lstStyle/>
          <a:p>
            <a:pPr eaLnBrk="1" hangingPunct="1">
              <a:spcBef>
                <a:spcPts val="1200"/>
              </a:spcBef>
              <a:spcAft>
                <a:spcPts val="600"/>
              </a:spcAft>
            </a:pPr>
            <a:r>
              <a:rPr lang="en-US" sz="2000" smtClean="0">
                <a:latin typeface="Arial" charset="0"/>
                <a:cs typeface="Arial" charset="0"/>
              </a:rPr>
              <a:t>Establishment and early involvement of Integrated Project Teams (IPT) and their coordination</a:t>
            </a:r>
          </a:p>
          <a:p>
            <a:pPr lvl="1" eaLnBrk="1" hangingPunct="1">
              <a:spcBef>
                <a:spcPts val="1200"/>
              </a:spcBef>
              <a:spcAft>
                <a:spcPts val="600"/>
              </a:spcAft>
              <a:buFont typeface="Symbol" pitchFamily="18" charset="2"/>
              <a:buChar char=""/>
            </a:pPr>
            <a:r>
              <a:rPr lang="en-US" sz="1800" smtClean="0">
                <a:solidFill>
                  <a:schemeClr val="tx1"/>
                </a:solidFill>
                <a:latin typeface="Arial" charset="0"/>
                <a:cs typeface="Arial" charset="0"/>
              </a:rPr>
              <a:t>Federal and Contractor IPTs; Contractor Safety Design Integration Team (SDIT) </a:t>
            </a:r>
          </a:p>
          <a:p>
            <a:pPr eaLnBrk="1" hangingPunct="1">
              <a:spcBef>
                <a:spcPts val="1200"/>
              </a:spcBef>
              <a:spcAft>
                <a:spcPts val="600"/>
              </a:spcAft>
            </a:pPr>
            <a:r>
              <a:rPr lang="en-US" sz="2000" smtClean="0">
                <a:latin typeface="Arial" charset="0"/>
                <a:cs typeface="Arial" charset="0"/>
              </a:rPr>
              <a:t>Defining the overall strategy for the project, including how safety integration is to be accomplished, and obtaining DOE approval of the strategy</a:t>
            </a:r>
          </a:p>
          <a:p>
            <a:pPr lvl="1" eaLnBrk="1" hangingPunct="1">
              <a:spcBef>
                <a:spcPts val="1200"/>
              </a:spcBef>
              <a:spcAft>
                <a:spcPts val="600"/>
              </a:spcAft>
              <a:buFont typeface="Symbol" pitchFamily="18" charset="2"/>
              <a:buChar char=""/>
            </a:pPr>
            <a:r>
              <a:rPr lang="en-US" sz="1800" smtClean="0">
                <a:solidFill>
                  <a:schemeClr val="tx1"/>
                </a:solidFill>
                <a:latin typeface="Arial" charset="0"/>
                <a:cs typeface="Arial" charset="0"/>
              </a:rPr>
              <a:t>Safety Design Strategy, derived from DOE safety expectations defined in the pre-conceptual phase, is formalized and approved during conceptual design phase</a:t>
            </a:r>
          </a:p>
          <a:p>
            <a:pPr eaLnBrk="1" hangingPunct="1">
              <a:spcBef>
                <a:spcPts val="1200"/>
              </a:spcBef>
              <a:spcAft>
                <a:spcPts val="600"/>
              </a:spcAft>
              <a:buFont typeface="Arial" charset="0"/>
              <a:buChar char="•"/>
            </a:pPr>
            <a:endParaRPr lang="en-US" sz="20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8221CADE-CE1E-4A9D-AC76-E291F2551AC3}" type="slidenum">
              <a:rPr lang="en-US" smtClean="0"/>
              <a:pPr>
                <a:defRPr/>
              </a:pPr>
              <a:t>21</a:t>
            </a:fld>
            <a:endParaRPr lang="en-US" dirty="0"/>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normAutofit fontScale="90000"/>
          </a:bodyPr>
          <a:lstStyle/>
          <a:p>
            <a:pPr eaLnBrk="1" fontAlgn="auto" hangingPunct="1">
              <a:spcAft>
                <a:spcPts val="0"/>
              </a:spcAft>
              <a:defRPr/>
            </a:pPr>
            <a:r>
              <a:rPr lang="en-US" sz="3200" cap="small" dirty="0" smtClean="0"/>
              <a:t>Summary of Key </a:t>
            </a:r>
            <a:br>
              <a:rPr lang="en-US" sz="3200" cap="small" dirty="0" smtClean="0"/>
            </a:br>
            <a:r>
              <a:rPr lang="en-US" sz="3200" cap="small" dirty="0" smtClean="0"/>
              <a:t>Safety-in-Design Concepts</a:t>
            </a:r>
            <a:br>
              <a:rPr lang="en-US" sz="3200" cap="small" dirty="0" smtClean="0"/>
            </a:br>
            <a:r>
              <a:rPr lang="en-US" sz="2000" cap="small" dirty="0" smtClean="0"/>
              <a:t> (Slide 2 of 4)</a:t>
            </a:r>
            <a:endParaRPr lang="en-US" sz="1800" cap="small" dirty="0" smtClean="0"/>
          </a:p>
        </p:txBody>
      </p:sp>
      <p:sp>
        <p:nvSpPr>
          <p:cNvPr id="40963" name="Content Placeholder 6"/>
          <p:cNvSpPr>
            <a:spLocks noGrp="1"/>
          </p:cNvSpPr>
          <p:nvPr>
            <p:ph idx="1"/>
          </p:nvPr>
        </p:nvSpPr>
        <p:spPr/>
        <p:txBody>
          <a:bodyPr rtlCol="0">
            <a:normAutofit fontScale="85000" lnSpcReduction="10000"/>
          </a:bodyPr>
          <a:lstStyle/>
          <a:p>
            <a:pPr eaLnBrk="1" fontAlgn="auto" hangingPunct="1">
              <a:spcBef>
                <a:spcPts val="1200"/>
              </a:spcBef>
              <a:spcAft>
                <a:spcPts val="600"/>
              </a:spcAft>
              <a:defRPr/>
            </a:pPr>
            <a:r>
              <a:rPr lang="en-US" sz="2600" dirty="0" smtClean="0"/>
              <a:t>Identifying CD-1 as the key point in a project when major safety systems and design parameters should be defined</a:t>
            </a:r>
          </a:p>
          <a:p>
            <a:pPr lvl="1" eaLnBrk="1" fontAlgn="auto" hangingPunct="1">
              <a:spcBef>
                <a:spcPts val="1200"/>
              </a:spcBef>
              <a:spcAft>
                <a:spcPts val="600"/>
              </a:spcAft>
              <a:buFont typeface="Symbol" pitchFamily="18" charset="2"/>
              <a:buChar char=""/>
              <a:defRPr/>
            </a:pPr>
            <a:r>
              <a:rPr lang="en-US" sz="2200" dirty="0" smtClean="0">
                <a:solidFill>
                  <a:schemeClr val="tx1"/>
                </a:solidFill>
              </a:rPr>
              <a:t>Focus on high potential cost safety implications:  Hazard Category; building and major components seismic design categories; building confinement strategy; fire protection and power supply system classification</a:t>
            </a:r>
          </a:p>
          <a:p>
            <a:pPr eaLnBrk="1" fontAlgn="auto" hangingPunct="1">
              <a:spcBef>
                <a:spcPts val="1200"/>
              </a:spcBef>
              <a:spcAft>
                <a:spcPts val="600"/>
              </a:spcAft>
              <a:defRPr/>
            </a:pPr>
            <a:r>
              <a:rPr lang="en-US" sz="2600" dirty="0" smtClean="0"/>
              <a:t>Establishing objective criteria for the designation and design of safety structures, systems, and components</a:t>
            </a:r>
          </a:p>
          <a:p>
            <a:pPr lvl="1" eaLnBrk="1" fontAlgn="auto" hangingPunct="1">
              <a:spcBef>
                <a:spcPts val="1200"/>
              </a:spcBef>
              <a:spcAft>
                <a:spcPts val="600"/>
              </a:spcAft>
              <a:buFont typeface="Symbol" pitchFamily="18" charset="2"/>
              <a:buChar char=""/>
              <a:defRPr/>
            </a:pPr>
            <a:r>
              <a:rPr lang="en-US" sz="2200" dirty="0" smtClean="0">
                <a:solidFill>
                  <a:schemeClr val="tx1"/>
                </a:solidFill>
              </a:rPr>
              <a:t>STD-1189 Appendices A, B, and C (seismic design basis; collocated worker SSC safety classifications; in-facility worker safety classifications)</a:t>
            </a:r>
          </a:p>
          <a:p>
            <a:pPr eaLnBrk="1" fontAlgn="auto" hangingPunct="1">
              <a:spcBef>
                <a:spcPts val="1200"/>
              </a:spcBef>
              <a:spcAft>
                <a:spcPts val="600"/>
              </a:spcAft>
              <a:buFont typeface="Arial" charset="0"/>
              <a:buChar char="•"/>
              <a:defRPr/>
            </a:pPr>
            <a:endParaRPr lang="en-US" dirty="0" smtClean="0"/>
          </a:p>
        </p:txBody>
      </p:sp>
      <p:sp>
        <p:nvSpPr>
          <p:cNvPr id="7" name="Slide Number Placeholder 6"/>
          <p:cNvSpPr>
            <a:spLocks noGrp="1"/>
          </p:cNvSpPr>
          <p:nvPr>
            <p:ph type="sldNum" sz="quarter" idx="10"/>
          </p:nvPr>
        </p:nvSpPr>
        <p:spPr/>
        <p:txBody>
          <a:bodyPr/>
          <a:lstStyle/>
          <a:p>
            <a:pPr>
              <a:defRPr/>
            </a:pPr>
            <a:fld id="{B966D324-1D75-4F73-B293-92749D7ACA4B}"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sz="3200" cap="small" dirty="0" smtClean="0"/>
              <a:t>Summary of Key </a:t>
            </a:r>
            <a:br>
              <a:rPr lang="en-US" sz="3200" cap="small" dirty="0" smtClean="0"/>
            </a:br>
            <a:r>
              <a:rPr lang="en-US" sz="3200" cap="small" dirty="0" smtClean="0"/>
              <a:t>Safety-in-Design Concepts</a:t>
            </a:r>
            <a:br>
              <a:rPr lang="en-US" sz="3200" cap="small" dirty="0" smtClean="0"/>
            </a:br>
            <a:r>
              <a:rPr lang="en-US" sz="1800" cap="small" dirty="0" smtClean="0"/>
              <a:t> </a:t>
            </a:r>
            <a:r>
              <a:rPr lang="en-US" sz="2000" cap="small" dirty="0" smtClean="0"/>
              <a:t>(Slide 3 of 4)</a:t>
            </a:r>
            <a:endParaRPr lang="en-US" sz="1800" cap="small" dirty="0" smtClean="0"/>
          </a:p>
        </p:txBody>
      </p:sp>
      <p:sp>
        <p:nvSpPr>
          <p:cNvPr id="30723" name="Content Placeholder 2"/>
          <p:cNvSpPr>
            <a:spLocks noGrp="1"/>
          </p:cNvSpPr>
          <p:nvPr>
            <p:ph idx="1"/>
          </p:nvPr>
        </p:nvSpPr>
        <p:spPr/>
        <p:txBody>
          <a:bodyPr/>
          <a:lstStyle/>
          <a:p>
            <a:pPr eaLnBrk="1" hangingPunct="1">
              <a:spcBef>
                <a:spcPts val="1200"/>
              </a:spcBef>
              <a:spcAft>
                <a:spcPts val="600"/>
              </a:spcAft>
            </a:pPr>
            <a:r>
              <a:rPr lang="en-US" sz="2200" smtClean="0">
                <a:latin typeface="Arial" charset="0"/>
                <a:cs typeface="Arial" charset="0"/>
              </a:rPr>
              <a:t>A conservative front-end approach to safety-in-design that is reflected by a “risk and opportunities” assessment</a:t>
            </a:r>
          </a:p>
          <a:p>
            <a:pPr lvl="1" eaLnBrk="1" hangingPunct="1">
              <a:spcBef>
                <a:spcPts val="1200"/>
              </a:spcBef>
              <a:spcAft>
                <a:spcPts val="600"/>
              </a:spcAft>
              <a:buFont typeface="Symbol" pitchFamily="18" charset="2"/>
              <a:buChar char=""/>
            </a:pPr>
            <a:r>
              <a:rPr lang="en-US" sz="2000" smtClean="0">
                <a:solidFill>
                  <a:schemeClr val="tx1"/>
                </a:solidFill>
                <a:latin typeface="Arial" charset="0"/>
                <a:cs typeface="Arial" charset="0"/>
              </a:rPr>
              <a:t>Conservative approach early-on based on assumptions and incomplete information: input to project risk management plan (Risk and Opportunities Assessment) and information for cost estimates</a:t>
            </a:r>
          </a:p>
          <a:p>
            <a:pPr eaLnBrk="1" hangingPunct="1">
              <a:spcBef>
                <a:spcPts val="1200"/>
              </a:spcBef>
              <a:spcAft>
                <a:spcPts val="600"/>
              </a:spcAft>
            </a:pPr>
            <a:r>
              <a:rPr lang="en-US" sz="2200" smtClean="0">
                <a:latin typeface="Arial" charset="0"/>
                <a:cs typeface="Arial" charset="0"/>
              </a:rPr>
              <a:t>Identifying key project interfaces (physical and programmatic) that affect design decisions</a:t>
            </a:r>
          </a:p>
          <a:p>
            <a:pPr lvl="1" eaLnBrk="1" hangingPunct="1">
              <a:spcBef>
                <a:spcPts val="1200"/>
              </a:spcBef>
              <a:spcAft>
                <a:spcPts val="600"/>
              </a:spcAft>
              <a:buFont typeface="Symbol" pitchFamily="18" charset="2"/>
              <a:buChar char=""/>
            </a:pPr>
            <a:r>
              <a:rPr lang="en-US" sz="2000" smtClean="0">
                <a:solidFill>
                  <a:schemeClr val="tx1"/>
                </a:solidFill>
                <a:latin typeface="Arial" charset="0"/>
                <a:cs typeface="Arial" charset="0"/>
              </a:rPr>
              <a:t>Project Interfaces: e.g., site infrastructure, security, waste management, emergency preparedness, DNFSB</a:t>
            </a:r>
            <a:endParaRPr lang="en-US" smtClean="0">
              <a:solidFill>
                <a:schemeClr val="tx1"/>
              </a:solidFill>
              <a:latin typeface="Arial" charset="0"/>
              <a:cs typeface="Arial" charset="0"/>
            </a:endParaRPr>
          </a:p>
          <a:p>
            <a:pPr eaLnBrk="1" hangingPunct="1">
              <a:spcBef>
                <a:spcPts val="1200"/>
              </a:spcBef>
              <a:spcAft>
                <a:spcPts val="600"/>
              </a:spcAft>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DE20B7F-686B-4C89-B414-794842C7789E}"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sz="3200" cap="small" dirty="0" smtClean="0"/>
              <a:t>Summary of Key </a:t>
            </a:r>
            <a:br>
              <a:rPr lang="en-US" sz="3200" cap="small" dirty="0" smtClean="0"/>
            </a:br>
            <a:r>
              <a:rPr lang="en-US" sz="3200" cap="small" dirty="0" smtClean="0"/>
              <a:t>Safety-in-Design Concepts</a:t>
            </a:r>
            <a:br>
              <a:rPr lang="en-US" sz="3200" cap="small" dirty="0" smtClean="0"/>
            </a:br>
            <a:r>
              <a:rPr lang="en-US" sz="1800" cap="small" dirty="0" smtClean="0"/>
              <a:t> </a:t>
            </a:r>
            <a:r>
              <a:rPr lang="en-US" sz="2000" cap="small" dirty="0" smtClean="0"/>
              <a:t>(Slide 4 of 4)</a:t>
            </a:r>
            <a:endParaRPr lang="en-US" sz="3200" cap="small" dirty="0"/>
          </a:p>
        </p:txBody>
      </p:sp>
      <p:sp>
        <p:nvSpPr>
          <p:cNvPr id="31747"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Ongoing involvement of DOE in safety-in-design decisions</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Safety Design Strategy (SDS)</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Conceptual and Preliminary Safety Design Reports (CSDR, PSDR)</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Preliminary Documented Safety Design Analysis (PDSA) </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Related DOE reviews and approvals</a:t>
            </a:r>
          </a:p>
          <a:p>
            <a:pPr eaLnBrk="1" hangingPunct="1">
              <a:spcBef>
                <a:spcPts val="1200"/>
              </a:spcBef>
              <a:spcAft>
                <a:spcPts val="600"/>
              </a:spcAft>
            </a:pPr>
            <a:endParaRPr lang="en-US" sz="32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E489883A-F126-45A5-882E-AE4E836A477E}"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 Guiding Principles</a:t>
            </a:r>
            <a:r>
              <a:rPr lang="en-US" sz="2800" cap="small" dirty="0" smtClean="0"/>
              <a:t/>
            </a:r>
            <a:br>
              <a:rPr lang="en-US" sz="2800" cap="small" dirty="0" smtClean="0"/>
            </a:br>
            <a:r>
              <a:rPr lang="en-US" sz="1800" cap="small" dirty="0" smtClean="0"/>
              <a:t> (Slide 1 of 3)</a:t>
            </a:r>
            <a:endParaRPr lang="en-US" sz="3200" cap="small" dirty="0"/>
          </a:p>
        </p:txBody>
      </p:sp>
      <p:sp>
        <p:nvSpPr>
          <p:cNvPr id="392197" name="Content Placeholder 2"/>
          <p:cNvSpPr>
            <a:spLocks noGrp="1"/>
          </p:cNvSpPr>
          <p:nvPr>
            <p:ph idx="1"/>
          </p:nvPr>
        </p:nvSpPr>
        <p:spPr>
          <a:xfrm>
            <a:off x="533400" y="1828800"/>
            <a:ext cx="8234363" cy="4419600"/>
          </a:xfrm>
        </p:spPr>
        <p:txBody>
          <a:bodyPr rtlCol="0">
            <a:normAutofit/>
          </a:bodyPr>
          <a:lstStyle/>
          <a:p>
            <a:pPr marL="0" indent="3175" eaLnBrk="1" fontAlgn="auto" hangingPunct="1">
              <a:spcBef>
                <a:spcPts val="0"/>
              </a:spcBef>
              <a:spcAft>
                <a:spcPts val="1200"/>
              </a:spcAft>
              <a:buFont typeface="Arial" pitchFamily="34" charset="0"/>
              <a:buNone/>
              <a:defRPr/>
            </a:pPr>
            <a:r>
              <a:rPr lang="en-US" i="1" dirty="0" smtClean="0"/>
              <a:t>Derived from DOE O 420.1B, DOE O 413.3A, and their associated Guides</a:t>
            </a:r>
          </a:p>
          <a:p>
            <a:pPr eaLnBrk="1" fontAlgn="auto" hangingPunct="1">
              <a:spcBef>
                <a:spcPts val="1200"/>
              </a:spcBef>
              <a:spcAft>
                <a:spcPts val="600"/>
              </a:spcAft>
              <a:buFont typeface="Arial" charset="0"/>
              <a:buAutoNum type="arabicPeriod"/>
              <a:defRPr/>
            </a:pPr>
            <a:r>
              <a:rPr lang="en-US" sz="2400" dirty="0" smtClean="0"/>
              <a:t>Use of O 420.1B and clearly articulated strategies to satisfy requirements</a:t>
            </a:r>
          </a:p>
          <a:p>
            <a:pPr eaLnBrk="1" fontAlgn="auto" hangingPunct="1">
              <a:spcBef>
                <a:spcPts val="1200"/>
              </a:spcBef>
              <a:spcAft>
                <a:spcPts val="600"/>
              </a:spcAft>
              <a:buFont typeface="Arial" charset="0"/>
              <a:buAutoNum type="arabicPeriod"/>
              <a:defRPr/>
            </a:pPr>
            <a:r>
              <a:rPr lang="en-US" sz="2400" dirty="0" smtClean="0"/>
              <a:t>Control selection strategy order of preference</a:t>
            </a:r>
          </a:p>
          <a:p>
            <a:pPr eaLnBrk="1" fontAlgn="auto" hangingPunct="1">
              <a:spcBef>
                <a:spcPts val="1200"/>
              </a:spcBef>
              <a:spcAft>
                <a:spcPts val="600"/>
              </a:spcAft>
              <a:buFont typeface="Arial" charset="0"/>
              <a:buAutoNum type="arabicPeriod"/>
              <a:defRPr/>
            </a:pPr>
            <a:r>
              <a:rPr lang="en-US" sz="2400" dirty="0" smtClean="0"/>
              <a:t>Following the design codes and standards in O 420’s associated Guides</a:t>
            </a:r>
          </a:p>
          <a:p>
            <a:pPr eaLnBrk="1" fontAlgn="auto" hangingPunct="1">
              <a:spcBef>
                <a:spcPts val="1200"/>
              </a:spcBef>
              <a:spcAft>
                <a:spcPts val="600"/>
              </a:spcAft>
              <a:buFont typeface="Arial" charset="0"/>
              <a:buAutoNum type="arabicPeriod"/>
              <a:defRPr/>
            </a:pPr>
            <a:r>
              <a:rPr lang="en-US" sz="2400" dirty="0" smtClean="0"/>
              <a:t>Use of risk and opportunities assessments</a:t>
            </a:r>
          </a:p>
          <a:p>
            <a:pPr eaLnBrk="1" fontAlgn="auto" hangingPunct="1">
              <a:spcBef>
                <a:spcPts val="1200"/>
              </a:spcBef>
              <a:spcAft>
                <a:spcPts val="600"/>
              </a:spcAft>
              <a:buFont typeface="Arial" charset="0"/>
              <a:buAutoNum type="arabicPeriod"/>
              <a:defRPr/>
            </a:pPr>
            <a:endParaRPr lang="en-US" sz="2400" dirty="0" smtClean="0"/>
          </a:p>
          <a:p>
            <a:pPr eaLnBrk="1" fontAlgn="auto" hangingPunct="1">
              <a:spcAft>
                <a:spcPts val="0"/>
              </a:spcAft>
              <a:buFont typeface="Arial" charset="0"/>
              <a:buAutoNum type="arabicPeriod"/>
              <a:defRPr/>
            </a:pPr>
            <a:endParaRPr lang="en-US" sz="2400" dirty="0" smtClean="0"/>
          </a:p>
          <a:p>
            <a:pPr eaLnBrk="1" fontAlgn="auto" hangingPunct="1">
              <a:spcAft>
                <a:spcPts val="0"/>
              </a:spcAft>
              <a:buFont typeface="Arial" pitchFamily="34" charset="0"/>
              <a:buNone/>
              <a:defRPr/>
            </a:pPr>
            <a:endParaRPr lang="en-US" dirty="0" smtClean="0"/>
          </a:p>
        </p:txBody>
      </p:sp>
      <p:sp>
        <p:nvSpPr>
          <p:cNvPr id="5" name="Slide Number Placeholder 4"/>
          <p:cNvSpPr>
            <a:spLocks noGrp="1"/>
          </p:cNvSpPr>
          <p:nvPr>
            <p:ph type="sldNum" sz="quarter" idx="10"/>
          </p:nvPr>
        </p:nvSpPr>
        <p:spPr/>
        <p:txBody>
          <a:bodyPr/>
          <a:lstStyle/>
          <a:p>
            <a:pPr>
              <a:defRPr/>
            </a:pPr>
            <a:fld id="{341911D6-7ADA-480B-BBB9-E098650692D2}"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Guiding Principles</a:t>
            </a:r>
            <a:br>
              <a:rPr lang="en-US" sz="3200" cap="small" dirty="0" smtClean="0"/>
            </a:br>
            <a:r>
              <a:rPr lang="en-US" sz="1800" cap="small" dirty="0" smtClean="0"/>
              <a:t> (Slide 2 of 3)</a:t>
            </a:r>
            <a:endParaRPr lang="en-US" sz="3200" dirty="0"/>
          </a:p>
        </p:txBody>
      </p:sp>
      <p:sp>
        <p:nvSpPr>
          <p:cNvPr id="3" name="Content Placeholder 2"/>
          <p:cNvSpPr>
            <a:spLocks noGrp="1"/>
          </p:cNvSpPr>
          <p:nvPr>
            <p:ph idx="1"/>
          </p:nvPr>
        </p:nvSpPr>
        <p:spPr/>
        <p:txBody>
          <a:bodyPr/>
          <a:lstStyle/>
          <a:p>
            <a:pPr marL="514350" indent="-514350" eaLnBrk="1" fontAlgn="auto" hangingPunct="1">
              <a:spcBef>
                <a:spcPts val="1200"/>
              </a:spcBef>
              <a:spcAft>
                <a:spcPts val="600"/>
              </a:spcAft>
              <a:buFont typeface="+mj-lt"/>
              <a:buAutoNum type="arabicPeriod" startAt="5"/>
              <a:defRPr/>
            </a:pPr>
            <a:r>
              <a:rPr lang="en-US" sz="2400" dirty="0" smtClean="0"/>
              <a:t>Conservative early project safety decisions input to cost/schedule</a:t>
            </a:r>
          </a:p>
          <a:p>
            <a:pPr marL="514350" indent="-514350" eaLnBrk="1" hangingPunct="1">
              <a:spcBef>
                <a:spcPts val="1200"/>
              </a:spcBef>
              <a:spcAft>
                <a:spcPts val="600"/>
              </a:spcAft>
              <a:buFontTx/>
              <a:buAutoNum type="arabicPeriod" startAt="6"/>
              <a:defRPr/>
            </a:pPr>
            <a:r>
              <a:rPr lang="en-US" sz="2400" dirty="0" smtClean="0"/>
              <a:t>CD packages describe safety decisions</a:t>
            </a:r>
          </a:p>
          <a:p>
            <a:pPr marL="514350" indent="-514350" eaLnBrk="1" hangingPunct="1">
              <a:spcBef>
                <a:spcPts val="1200"/>
              </a:spcBef>
              <a:spcAft>
                <a:spcPts val="600"/>
              </a:spcAft>
              <a:buFontTx/>
              <a:buAutoNum type="arabicPeriod" startAt="6"/>
              <a:defRPr/>
            </a:pPr>
            <a:r>
              <a:rPr lang="en-US" sz="2400" dirty="0" smtClean="0"/>
              <a:t>Project team includes appropriate expertise</a:t>
            </a:r>
          </a:p>
          <a:p>
            <a:pPr marL="514350" indent="-514350" eaLnBrk="1" hangingPunct="1">
              <a:spcBef>
                <a:spcPts val="1200"/>
              </a:spcBef>
              <a:spcAft>
                <a:spcPts val="600"/>
              </a:spcAft>
              <a:buFontTx/>
              <a:buAutoNum type="arabicPeriod" startAt="6"/>
              <a:defRPr/>
            </a:pPr>
            <a:r>
              <a:rPr lang="en-US" sz="2400" dirty="0" smtClean="0"/>
              <a:t>Safety personnel involved from onset of project planning</a:t>
            </a:r>
          </a:p>
          <a:p>
            <a:pPr eaLnBrk="1" fontAlgn="auto" hangingPunct="1">
              <a:spcBef>
                <a:spcPts val="1200"/>
              </a:spcBef>
              <a:spcAft>
                <a:spcPts val="600"/>
              </a:spcAft>
              <a:buFont typeface="Arial" charset="0"/>
              <a:buAutoNum type="arabicPeriod"/>
              <a:defRPr/>
            </a:pPr>
            <a:endParaRPr lang="en-US" sz="2400" dirty="0" smtClean="0"/>
          </a:p>
          <a:p>
            <a:pPr>
              <a:defRPr/>
            </a:pPr>
            <a:endParaRPr lang="en-US" sz="2400" dirty="0"/>
          </a:p>
        </p:txBody>
      </p:sp>
      <p:sp>
        <p:nvSpPr>
          <p:cNvPr id="4" name="Slide Number Placeholder 3"/>
          <p:cNvSpPr>
            <a:spLocks noGrp="1"/>
          </p:cNvSpPr>
          <p:nvPr>
            <p:ph type="sldNum" sz="quarter" idx="10"/>
          </p:nvPr>
        </p:nvSpPr>
        <p:spPr/>
        <p:txBody>
          <a:bodyPr/>
          <a:lstStyle/>
          <a:p>
            <a:pPr>
              <a:defRPr/>
            </a:pPr>
            <a:fld id="{7B979905-2B0E-48C5-B073-34B0E4F042E5}"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itle 6"/>
          <p:cNvSpPr>
            <a:spLocks noGrp="1"/>
          </p:cNvSpPr>
          <p:nvPr>
            <p:ph type="title"/>
          </p:nvPr>
        </p:nvSpPr>
        <p:spPr/>
        <p:txBody>
          <a:bodyPr/>
          <a:lstStyle/>
          <a:p>
            <a:pPr eaLnBrk="1" hangingPunct="1">
              <a:defRPr/>
            </a:pPr>
            <a:r>
              <a:rPr lang="en-US" sz="3200" cap="small" dirty="0" smtClean="0"/>
              <a:t>Guiding Principles</a:t>
            </a:r>
            <a:r>
              <a:rPr lang="en-US" cap="small" dirty="0" smtClean="0"/>
              <a:t/>
            </a:r>
            <a:br>
              <a:rPr lang="en-US" cap="small" dirty="0" smtClean="0"/>
            </a:br>
            <a:r>
              <a:rPr lang="en-US" sz="1800" cap="small" dirty="0" smtClean="0"/>
              <a:t> (Slide 3 of 3)</a:t>
            </a:r>
            <a:endParaRPr lang="en-US" cap="small" dirty="0" smtClean="0"/>
          </a:p>
        </p:txBody>
      </p:sp>
      <p:sp>
        <p:nvSpPr>
          <p:cNvPr id="2053" name="Content Placeholder 7"/>
          <p:cNvSpPr>
            <a:spLocks noGrp="1"/>
          </p:cNvSpPr>
          <p:nvPr>
            <p:ph idx="1"/>
          </p:nvPr>
        </p:nvSpPr>
        <p:spPr/>
        <p:txBody>
          <a:bodyPr/>
          <a:lstStyle/>
          <a:p>
            <a:pPr marL="514350" indent="-514350" eaLnBrk="1" hangingPunct="1">
              <a:spcBef>
                <a:spcPts val="1200"/>
              </a:spcBef>
              <a:spcAft>
                <a:spcPts val="600"/>
              </a:spcAft>
              <a:buFont typeface="+mj-lt"/>
              <a:buAutoNum type="arabicPeriod" startAt="9"/>
              <a:defRPr/>
            </a:pPr>
            <a:r>
              <a:rPr lang="en-US" sz="2400" dirty="0" smtClean="0"/>
              <a:t>Important safety functions addressed during conceptual design</a:t>
            </a:r>
          </a:p>
          <a:p>
            <a:pPr marL="457200" indent="-457200" eaLnBrk="1" hangingPunct="1">
              <a:spcBef>
                <a:spcPts val="1200"/>
              </a:spcBef>
              <a:spcAft>
                <a:spcPts val="600"/>
              </a:spcAft>
              <a:buFontTx/>
              <a:buAutoNum type="arabicPeriod" startAt="9"/>
              <a:defRPr/>
            </a:pPr>
            <a:r>
              <a:rPr lang="en-US" sz="2400" dirty="0" smtClean="0"/>
              <a:t>SDIT invokes the safety-in-design process</a:t>
            </a:r>
          </a:p>
          <a:p>
            <a:pPr marL="457200" indent="-457200" eaLnBrk="1" hangingPunct="1">
              <a:spcBef>
                <a:spcPts val="1200"/>
              </a:spcBef>
              <a:spcAft>
                <a:spcPts val="600"/>
              </a:spcAft>
              <a:buFontTx/>
              <a:buAutoNum type="arabicPeriod" startAt="9"/>
              <a:defRPr/>
            </a:pPr>
            <a:r>
              <a:rPr lang="en-US" sz="2400" dirty="0" smtClean="0"/>
              <a:t>All stakeholder issues identified early and addressed</a:t>
            </a:r>
          </a:p>
          <a:p>
            <a:pPr marL="457200" indent="-457200" eaLnBrk="1" hangingPunct="1">
              <a:spcBef>
                <a:spcPts val="1200"/>
              </a:spcBef>
              <a:spcAft>
                <a:spcPts val="600"/>
              </a:spcAft>
              <a:buFontTx/>
              <a:buAutoNum type="arabicPeriod" startAt="9"/>
              <a:defRPr/>
            </a:pPr>
            <a:r>
              <a:rPr lang="en-US" sz="2400" dirty="0" smtClean="0"/>
              <a:t>Bases for safety related decisions are documented</a:t>
            </a:r>
          </a:p>
        </p:txBody>
      </p:sp>
      <p:sp>
        <p:nvSpPr>
          <p:cNvPr id="35" name="Slide Number Placeholder 34"/>
          <p:cNvSpPr>
            <a:spLocks noGrp="1"/>
          </p:cNvSpPr>
          <p:nvPr>
            <p:ph type="sldNum" sz="quarter" idx="10"/>
          </p:nvPr>
        </p:nvSpPr>
        <p:spPr/>
        <p:txBody>
          <a:bodyPr/>
          <a:lstStyle/>
          <a:p>
            <a:pPr>
              <a:defRPr/>
            </a:pPr>
            <a:fld id="{AAB80EDE-93B6-4B0D-A37B-F1C99DCFB1EC}"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Applicability</a:t>
            </a:r>
            <a:endParaRPr lang="en-US" sz="2800" cap="small" dirty="0" smtClean="0"/>
          </a:p>
        </p:txBody>
      </p:sp>
      <p:sp>
        <p:nvSpPr>
          <p:cNvPr id="35843" name="Rectangle 3"/>
          <p:cNvSpPr>
            <a:spLocks noGrp="1" noChangeArrowheads="1"/>
          </p:cNvSpPr>
          <p:nvPr>
            <p:ph idx="1"/>
          </p:nvPr>
        </p:nvSpPr>
        <p:spPr>
          <a:xfrm>
            <a:off x="533400" y="1905000"/>
            <a:ext cx="8234363" cy="4343400"/>
          </a:xfrm>
        </p:spPr>
        <p:txBody>
          <a:bodyPr/>
          <a:lstStyle/>
          <a:p>
            <a:pPr indent="25400" eaLnBrk="1" hangingPunct="1">
              <a:spcBef>
                <a:spcPts val="1200"/>
              </a:spcBef>
              <a:buFontTx/>
              <a:buNone/>
            </a:pPr>
            <a:r>
              <a:rPr lang="en-US" smtClean="0">
                <a:latin typeface="Arial" charset="0"/>
                <a:cs typeface="Arial" charset="0"/>
              </a:rPr>
              <a:t>The Standard applies to the design and construction of:</a:t>
            </a:r>
          </a:p>
          <a:p>
            <a:pPr marL="990600" lvl="1" indent="-533400" eaLnBrk="1" hangingPunct="1">
              <a:spcBef>
                <a:spcPts val="1200"/>
              </a:spcBef>
              <a:buFont typeface="Arial" charset="0"/>
              <a:buChar char="–"/>
            </a:pPr>
            <a:r>
              <a:rPr lang="en-US" smtClean="0">
                <a:solidFill>
                  <a:schemeClr val="tx1"/>
                </a:solidFill>
                <a:latin typeface="Arial" charset="0"/>
                <a:cs typeface="Arial" charset="0"/>
              </a:rPr>
              <a:t>New DOE hazard category (HC) 1, 2, and 3 </a:t>
            </a:r>
          </a:p>
          <a:p>
            <a:pPr marL="990600" lvl="1" indent="-533400" eaLnBrk="1" hangingPunct="1">
              <a:spcBef>
                <a:spcPts val="1200"/>
              </a:spcBef>
              <a:buFontTx/>
              <a:buNone/>
            </a:pPr>
            <a:r>
              <a:rPr lang="en-US" smtClean="0">
                <a:solidFill>
                  <a:schemeClr val="tx1"/>
                </a:solidFill>
                <a:latin typeface="Arial" charset="0"/>
                <a:cs typeface="Arial" charset="0"/>
              </a:rPr>
              <a:t>	nuclear facilities</a:t>
            </a:r>
          </a:p>
          <a:p>
            <a:pPr marL="990600" lvl="1" indent="-533400" eaLnBrk="1" hangingPunct="1">
              <a:spcBef>
                <a:spcPts val="1200"/>
              </a:spcBef>
              <a:buFont typeface="Arial" charset="0"/>
              <a:buChar char="–"/>
            </a:pPr>
            <a:r>
              <a:rPr lang="en-US" smtClean="0">
                <a:solidFill>
                  <a:schemeClr val="tx1"/>
                </a:solidFill>
                <a:latin typeface="Arial" charset="0"/>
                <a:cs typeface="Arial" charset="0"/>
              </a:rPr>
              <a:t>Major modifications to DOE HC 1, 2, and 3 nuclear facilities (as defined by 10 CFR 830)</a:t>
            </a:r>
          </a:p>
          <a:p>
            <a:pPr marL="990600" lvl="1" indent="-533400" eaLnBrk="1" hangingPunct="1">
              <a:spcBef>
                <a:spcPts val="1200"/>
              </a:spcBef>
              <a:buFont typeface="Arial" charset="0"/>
              <a:buChar char="–"/>
            </a:pPr>
            <a:r>
              <a:rPr lang="en-US" smtClean="0">
                <a:solidFill>
                  <a:schemeClr val="tx1"/>
                </a:solidFill>
                <a:latin typeface="Arial" charset="0"/>
                <a:cs typeface="Arial" charset="0"/>
              </a:rPr>
              <a:t>Other modifications to DOE HC 1, 2, and 3 nuclear facilities managed under the requirements of DOE O 413.3A</a:t>
            </a:r>
          </a:p>
        </p:txBody>
      </p:sp>
      <p:sp>
        <p:nvSpPr>
          <p:cNvPr id="5" name="Slide Number Placeholder 4"/>
          <p:cNvSpPr>
            <a:spLocks noGrp="1"/>
          </p:cNvSpPr>
          <p:nvPr>
            <p:ph type="sldNum" sz="quarter" idx="10"/>
          </p:nvPr>
        </p:nvSpPr>
        <p:spPr/>
        <p:txBody>
          <a:bodyPr/>
          <a:lstStyle/>
          <a:p>
            <a:pPr>
              <a:defRPr/>
            </a:pPr>
            <a:fld id="{E686A8B0-CBA9-48B8-B187-B92FB8CD16D9}" type="slidenum">
              <a:rPr lang="en-US" smtClean="0"/>
              <a:pPr>
                <a:defRPr/>
              </a:pPr>
              <a:t>28</a:t>
            </a:fld>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Safety and Design Integration </a:t>
            </a:r>
          </a:p>
        </p:txBody>
      </p:sp>
      <p:sp>
        <p:nvSpPr>
          <p:cNvPr id="25603" name="Rectangle 3"/>
          <p:cNvSpPr>
            <a:spLocks noGrp="1" noChangeArrowheads="1"/>
          </p:cNvSpPr>
          <p:nvPr>
            <p:ph idx="1"/>
          </p:nvPr>
        </p:nvSpPr>
        <p:spPr/>
        <p:txBody>
          <a:bodyPr rtlCol="0">
            <a:normAutofit/>
          </a:bodyPr>
          <a:lstStyle/>
          <a:p>
            <a:pPr eaLnBrk="1" fontAlgn="auto" hangingPunct="1">
              <a:spcAft>
                <a:spcPts val="0"/>
              </a:spcAft>
              <a:buFont typeface="Arial" pitchFamily="34" charset="0"/>
              <a:buNone/>
              <a:defRPr/>
            </a:pPr>
            <a:endParaRPr lang="en-US" dirty="0" smtClean="0">
              <a:solidFill>
                <a:schemeClr val="accent3">
                  <a:lumMod val="50000"/>
                </a:schemeClr>
              </a:solidFill>
              <a:latin typeface="+mj-lt"/>
            </a:endParaRPr>
          </a:p>
          <a:p>
            <a:pPr eaLnBrk="1" fontAlgn="auto" hangingPunct="1">
              <a:spcAft>
                <a:spcPts val="0"/>
              </a:spcAft>
              <a:buFont typeface="Arial" pitchFamily="34" charset="0"/>
              <a:buNone/>
              <a:defRPr/>
            </a:pPr>
            <a:endParaRPr lang="en-US" dirty="0" smtClean="0">
              <a:solidFill>
                <a:schemeClr val="accent3">
                  <a:lumMod val="50000"/>
                </a:schemeClr>
              </a:solidFill>
              <a:latin typeface="+mj-lt"/>
            </a:endParaRPr>
          </a:p>
          <a:p>
            <a:pPr algn="ctr" eaLnBrk="1" fontAlgn="auto" hangingPunct="1">
              <a:spcAft>
                <a:spcPts val="0"/>
              </a:spcAft>
              <a:buFont typeface="Arial" pitchFamily="34" charset="0"/>
              <a:buNone/>
              <a:defRPr/>
            </a:pPr>
            <a:endParaRPr lang="en-US" dirty="0" smtClean="0">
              <a:solidFill>
                <a:schemeClr val="accent3">
                  <a:lumMod val="50000"/>
                </a:schemeClr>
              </a:solidFill>
              <a:latin typeface="+mj-lt"/>
            </a:endParaRPr>
          </a:p>
          <a:p>
            <a:pPr algn="ctr" eaLnBrk="1" fontAlgn="auto" hangingPunct="1">
              <a:spcAft>
                <a:spcPts val="0"/>
              </a:spcAft>
              <a:buFont typeface="Arial" pitchFamily="34" charset="0"/>
              <a:buNone/>
              <a:defRPr/>
            </a:pPr>
            <a:r>
              <a:rPr lang="en-US" dirty="0" smtClean="0">
                <a:solidFill>
                  <a:srgbClr val="FF0000"/>
                </a:solidFill>
                <a:latin typeface="+mj-lt"/>
              </a:rPr>
              <a:t>Project Integration and Planning</a:t>
            </a:r>
          </a:p>
        </p:txBody>
      </p:sp>
      <p:sp>
        <p:nvSpPr>
          <p:cNvPr id="4" name="Slide Number Placeholder 3"/>
          <p:cNvSpPr>
            <a:spLocks noGrp="1"/>
          </p:cNvSpPr>
          <p:nvPr>
            <p:ph type="sldNum" sz="quarter" idx="10"/>
          </p:nvPr>
        </p:nvSpPr>
        <p:spPr/>
        <p:txBody>
          <a:bodyPr/>
          <a:lstStyle/>
          <a:p>
            <a:pPr>
              <a:defRPr/>
            </a:pPr>
            <a:fld id="{726D9FD2-7211-41AB-AD54-B6318074AEFE}" type="slidenum">
              <a:rPr lang="en-US" smtClean="0"/>
              <a:pPr>
                <a:defRPr/>
              </a:pPr>
              <a:t>29</a:t>
            </a:fld>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p:txBody>
          <a:bodyPr rtlCol="0">
            <a:normAutofit/>
          </a:bodyPr>
          <a:lstStyle/>
          <a:p>
            <a:pPr eaLnBrk="1" fontAlgn="auto" hangingPunct="1">
              <a:spcAft>
                <a:spcPts val="0"/>
              </a:spcAft>
              <a:defRPr/>
            </a:pPr>
            <a:r>
              <a:rPr lang="en-US" sz="2800" cap="small" dirty="0" smtClean="0"/>
              <a:t>Key Components of Project Integration and Planning  </a:t>
            </a:r>
          </a:p>
        </p:txBody>
      </p:sp>
      <p:sp>
        <p:nvSpPr>
          <p:cNvPr id="44035" name="Rectangle 3"/>
          <p:cNvSpPr>
            <a:spLocks noGrp="1" noChangeArrowheads="1"/>
          </p:cNvSpPr>
          <p:nvPr>
            <p:ph idx="1"/>
          </p:nvPr>
        </p:nvSpPr>
        <p:spPr>
          <a:xfrm>
            <a:off x="533400" y="2057400"/>
            <a:ext cx="4800600" cy="3886200"/>
          </a:xfrm>
        </p:spPr>
        <p:txBody>
          <a:bodyPr/>
          <a:lstStyle/>
          <a:p>
            <a:pPr eaLnBrk="1" hangingPunct="1">
              <a:spcBef>
                <a:spcPts val="1200"/>
              </a:spcBef>
              <a:spcAft>
                <a:spcPts val="600"/>
              </a:spcAft>
              <a:buFont typeface="Arial" charset="0"/>
              <a:buChar char="•"/>
            </a:pPr>
            <a:r>
              <a:rPr lang="en-US" sz="2000" smtClean="0">
                <a:latin typeface="Arial" charset="0"/>
                <a:cs typeface="Arial" charset="0"/>
              </a:rPr>
              <a:t>Federal Integrated Project Team</a:t>
            </a:r>
          </a:p>
          <a:p>
            <a:pPr eaLnBrk="1" hangingPunct="1">
              <a:spcBef>
                <a:spcPts val="1200"/>
              </a:spcBef>
              <a:spcAft>
                <a:spcPts val="600"/>
              </a:spcAft>
              <a:buFont typeface="Arial" charset="0"/>
              <a:buChar char="•"/>
            </a:pPr>
            <a:r>
              <a:rPr lang="en-US" sz="2000" smtClean="0">
                <a:latin typeface="Arial" charset="0"/>
                <a:cs typeface="Arial" charset="0"/>
              </a:rPr>
              <a:t>Contractor Integrated Project Team</a:t>
            </a:r>
          </a:p>
          <a:p>
            <a:pPr eaLnBrk="1" hangingPunct="1">
              <a:spcBef>
                <a:spcPts val="1200"/>
              </a:spcBef>
              <a:spcAft>
                <a:spcPts val="600"/>
              </a:spcAft>
              <a:buFont typeface="Arial" charset="0"/>
              <a:buChar char="•"/>
            </a:pPr>
            <a:r>
              <a:rPr lang="en-US" sz="2000" smtClean="0">
                <a:latin typeface="Arial" charset="0"/>
                <a:cs typeface="Arial" charset="0"/>
              </a:rPr>
              <a:t>Safety Design Integration Team</a:t>
            </a:r>
          </a:p>
          <a:p>
            <a:pPr eaLnBrk="1" hangingPunct="1">
              <a:spcBef>
                <a:spcPts val="1200"/>
              </a:spcBef>
              <a:spcAft>
                <a:spcPts val="600"/>
              </a:spcAft>
              <a:buFont typeface="Arial" charset="0"/>
              <a:buChar char="•"/>
            </a:pPr>
            <a:r>
              <a:rPr lang="en-US" sz="2000" smtClean="0">
                <a:latin typeface="Arial" charset="0"/>
                <a:cs typeface="Arial" charset="0"/>
              </a:rPr>
              <a:t>Safety Design Strategy</a:t>
            </a:r>
          </a:p>
          <a:p>
            <a:pPr eaLnBrk="1" hangingPunct="1">
              <a:spcBef>
                <a:spcPts val="1200"/>
              </a:spcBef>
              <a:spcAft>
                <a:spcPts val="600"/>
              </a:spcAft>
              <a:buFont typeface="Arial" charset="0"/>
              <a:buChar char="•"/>
            </a:pPr>
            <a:r>
              <a:rPr lang="en-US" sz="2000" smtClean="0">
                <a:latin typeface="Arial" charset="0"/>
                <a:cs typeface="Arial" charset="0"/>
              </a:rPr>
              <a:t>Risk and Opportunities Assessments</a:t>
            </a:r>
          </a:p>
          <a:p>
            <a:pPr eaLnBrk="1" hangingPunct="1">
              <a:spcBef>
                <a:spcPts val="1200"/>
              </a:spcBef>
              <a:spcAft>
                <a:spcPts val="600"/>
              </a:spcAft>
              <a:buFont typeface="Arial" charset="0"/>
              <a:buChar char="•"/>
            </a:pPr>
            <a:r>
              <a:rPr lang="en-US" sz="2000" smtClean="0">
                <a:latin typeface="Arial" charset="0"/>
                <a:cs typeface="Arial" charset="0"/>
              </a:rPr>
              <a:t>DOE and Contractor </a:t>
            </a:r>
            <a:br>
              <a:rPr lang="en-US" sz="2000" smtClean="0">
                <a:latin typeface="Arial" charset="0"/>
                <a:cs typeface="Arial" charset="0"/>
              </a:rPr>
            </a:br>
            <a:r>
              <a:rPr lang="en-US" sz="2000" smtClean="0">
                <a:latin typeface="Arial" charset="0"/>
                <a:cs typeface="Arial" charset="0"/>
              </a:rPr>
              <a:t>Roles and Responsibilities</a:t>
            </a:r>
          </a:p>
        </p:txBody>
      </p:sp>
      <p:grpSp>
        <p:nvGrpSpPr>
          <p:cNvPr id="44036" name="Group 99"/>
          <p:cNvGrpSpPr>
            <a:grpSpLocks/>
          </p:cNvGrpSpPr>
          <p:nvPr/>
        </p:nvGrpSpPr>
        <p:grpSpPr bwMode="auto">
          <a:xfrm>
            <a:off x="5567363" y="1778000"/>
            <a:ext cx="3276600" cy="4470400"/>
            <a:chOff x="5566840" y="1612177"/>
            <a:chExt cx="3276600" cy="3690012"/>
          </a:xfrm>
        </p:grpSpPr>
        <p:pic>
          <p:nvPicPr>
            <p:cNvPr id="44038" name="Picture 1" descr="C:\Documents and Settings\d3p815\Local Settings\Temporary Internet Files\Content.IE5\TLEXRF1W\MCHH01675_0000[1].wmf"/>
            <p:cNvPicPr>
              <a:picLocks noChangeAspect="1" noChangeArrowheads="1"/>
            </p:cNvPicPr>
            <p:nvPr/>
          </p:nvPicPr>
          <p:blipFill>
            <a:blip r:embed="rId3" cstate="print"/>
            <a:srcRect/>
            <a:stretch>
              <a:fillRect/>
            </a:stretch>
          </p:blipFill>
          <p:spPr bwMode="auto">
            <a:xfrm rot="153998">
              <a:off x="5566840" y="1644059"/>
              <a:ext cx="3276600" cy="3658130"/>
            </a:xfrm>
            <a:prstGeom prst="rect">
              <a:avLst/>
            </a:prstGeom>
            <a:noFill/>
            <a:ln w="9525">
              <a:noFill/>
              <a:miter lim="800000"/>
              <a:headEnd/>
              <a:tailEnd/>
            </a:ln>
          </p:spPr>
        </p:pic>
        <p:sp>
          <p:nvSpPr>
            <p:cNvPr id="44039" name="TextBox 6"/>
            <p:cNvSpPr txBox="1">
              <a:spLocks noChangeArrowheads="1"/>
            </p:cNvSpPr>
            <p:nvPr/>
          </p:nvSpPr>
          <p:spPr bwMode="auto">
            <a:xfrm rot="-4841030">
              <a:off x="5849036" y="3340686"/>
              <a:ext cx="800314" cy="338554"/>
            </a:xfrm>
            <a:prstGeom prst="rect">
              <a:avLst/>
            </a:prstGeom>
            <a:noFill/>
            <a:ln w="9525">
              <a:noFill/>
              <a:miter lim="800000"/>
              <a:headEnd/>
              <a:tailEnd/>
            </a:ln>
          </p:spPr>
          <p:txBody>
            <a:bodyPr wrap="none">
              <a:spAutoFit/>
            </a:bodyPr>
            <a:lstStyle/>
            <a:p>
              <a:r>
                <a:rPr lang="en-US" sz="1600" b="1" i="1"/>
                <a:t>Safety</a:t>
              </a:r>
            </a:p>
          </p:txBody>
        </p:sp>
        <p:sp>
          <p:nvSpPr>
            <p:cNvPr id="44040" name="TextBox 7"/>
            <p:cNvSpPr txBox="1">
              <a:spLocks noChangeArrowheads="1"/>
            </p:cNvSpPr>
            <p:nvPr/>
          </p:nvSpPr>
          <p:spPr bwMode="auto">
            <a:xfrm rot="-5192661">
              <a:off x="6437231" y="3446680"/>
              <a:ext cx="899474" cy="338554"/>
            </a:xfrm>
            <a:prstGeom prst="rect">
              <a:avLst/>
            </a:prstGeom>
            <a:noFill/>
            <a:ln w="9525">
              <a:noFill/>
              <a:miter lim="800000"/>
              <a:headEnd/>
              <a:tailEnd/>
            </a:ln>
          </p:spPr>
          <p:txBody>
            <a:bodyPr>
              <a:spAutoFit/>
            </a:bodyPr>
            <a:lstStyle/>
            <a:p>
              <a:r>
                <a:rPr lang="en-US" sz="1600" b="1" i="1"/>
                <a:t>Design</a:t>
              </a:r>
            </a:p>
          </p:txBody>
        </p:sp>
        <p:sp>
          <p:nvSpPr>
            <p:cNvPr id="44041" name="TextBox 8"/>
            <p:cNvSpPr txBox="1">
              <a:spLocks noChangeArrowheads="1"/>
            </p:cNvSpPr>
            <p:nvPr/>
          </p:nvSpPr>
          <p:spPr bwMode="auto">
            <a:xfrm rot="4826436">
              <a:off x="7086822" y="3453855"/>
              <a:ext cx="2495754" cy="338554"/>
            </a:xfrm>
            <a:prstGeom prst="rect">
              <a:avLst/>
            </a:prstGeom>
            <a:noFill/>
            <a:ln w="9525">
              <a:noFill/>
              <a:miter lim="800000"/>
              <a:headEnd/>
              <a:tailEnd/>
            </a:ln>
          </p:spPr>
          <p:txBody>
            <a:bodyPr>
              <a:spAutoFit/>
            </a:bodyPr>
            <a:lstStyle/>
            <a:p>
              <a:r>
                <a:rPr lang="en-US" sz="1600" b="1" i="1"/>
                <a:t>Project Management</a:t>
              </a:r>
            </a:p>
          </p:txBody>
        </p:sp>
        <p:sp>
          <p:nvSpPr>
            <p:cNvPr id="44042" name="TextBox 9"/>
            <p:cNvSpPr txBox="1">
              <a:spLocks noChangeArrowheads="1"/>
            </p:cNvSpPr>
            <p:nvPr/>
          </p:nvSpPr>
          <p:spPr bwMode="auto">
            <a:xfrm rot="5236541">
              <a:off x="7142550" y="3465704"/>
              <a:ext cx="1183767" cy="338554"/>
            </a:xfrm>
            <a:prstGeom prst="rect">
              <a:avLst/>
            </a:prstGeom>
            <a:noFill/>
            <a:ln w="9525">
              <a:noFill/>
              <a:miter lim="800000"/>
              <a:headEnd/>
              <a:tailEnd/>
            </a:ln>
          </p:spPr>
          <p:txBody>
            <a:bodyPr>
              <a:spAutoFit/>
            </a:bodyPr>
            <a:lstStyle/>
            <a:p>
              <a:r>
                <a:rPr lang="en-US" sz="1600" b="1" i="1"/>
                <a:t>Interfaces</a:t>
              </a:r>
            </a:p>
          </p:txBody>
        </p:sp>
        <p:sp>
          <p:nvSpPr>
            <p:cNvPr id="11" name="TextBox 10"/>
            <p:cNvSpPr txBox="1"/>
            <p:nvPr/>
          </p:nvSpPr>
          <p:spPr>
            <a:xfrm rot="1698585">
              <a:off x="6400380" y="1612177"/>
              <a:ext cx="2146935" cy="400157"/>
            </a:xfrm>
            <a:prstGeom prst="rect">
              <a:avLst/>
            </a:prstGeom>
            <a:noFill/>
            <a:effectLst>
              <a:outerShdw blurRad="50800" dist="38100" dir="2700000" algn="tl" rotWithShape="0">
                <a:prstClr val="black">
                  <a:alpha val="40000"/>
                </a:prstClr>
              </a:outerShdw>
            </a:effectLst>
            <a:scene3d>
              <a:camera prst="isometricTopUp"/>
              <a:lightRig rig="threePt" dir="t"/>
            </a:scene3d>
          </p:spPr>
          <p:txBody>
            <a:bodyPr>
              <a:spAutoFit/>
            </a:bodyPr>
            <a:lstStyle/>
            <a:p>
              <a:pPr>
                <a:defRPr/>
              </a:pPr>
              <a:r>
                <a:rPr lang="en-US" sz="2000" b="1" i="1" dirty="0">
                  <a:latin typeface="+mj-lt"/>
                  <a:cs typeface="+mn-cs"/>
                </a:rPr>
                <a:t>Safety-in-Design</a:t>
              </a:r>
            </a:p>
          </p:txBody>
        </p:sp>
      </p:grpSp>
      <p:sp>
        <p:nvSpPr>
          <p:cNvPr id="12" name="Slide Number Placeholder 11"/>
          <p:cNvSpPr>
            <a:spLocks noGrp="1"/>
          </p:cNvSpPr>
          <p:nvPr>
            <p:ph type="sldNum" sz="quarter" idx="10"/>
          </p:nvPr>
        </p:nvSpPr>
        <p:spPr/>
        <p:txBody>
          <a:bodyPr/>
          <a:lstStyle/>
          <a:p>
            <a:pPr>
              <a:defRPr/>
            </a:pPr>
            <a:fld id="{ED313DC1-2EA8-4FE7-8110-1D0B3D3C2D53}"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ooter Placeholder 3"/>
          <p:cNvSpPr txBox="1">
            <a:spLocks/>
          </p:cNvSpPr>
          <p:nvPr/>
        </p:nvSpPr>
        <p:spPr>
          <a:xfrm>
            <a:off x="7924800" y="6569075"/>
            <a:ext cx="1219200" cy="288925"/>
          </a:xfrm>
          <a:prstGeom prst="rect">
            <a:avLst/>
          </a:prstGeom>
        </p:spPr>
        <p:txBody>
          <a:bodyPr anchor="ctr"/>
          <a:lstStyle/>
          <a:p>
            <a:pPr algn="ctr">
              <a:defRPr/>
            </a:pPr>
            <a:fld id="{CF876FC7-2C86-4C5F-AD68-77EC4F09FAD4}" type="slidenum">
              <a:rPr lang="en-US" sz="1200" b="1">
                <a:solidFill>
                  <a:schemeClr val="tx1">
                    <a:tint val="75000"/>
                  </a:schemeClr>
                </a:solidFill>
              </a:rPr>
              <a:pPr algn="ctr">
                <a:defRPr/>
              </a:pPr>
              <a:t>31</a:t>
            </a:fld>
            <a:r>
              <a:rPr lang="en-US" sz="1200" b="1">
                <a:solidFill>
                  <a:schemeClr val="tx1">
                    <a:tint val="75000"/>
                  </a:schemeClr>
                </a:solidFill>
                <a:latin typeface="Times New Roman" pitchFamily="18" charset="0"/>
              </a:rPr>
              <a:t> </a:t>
            </a:r>
            <a:endParaRPr lang="en-US" sz="1200" b="1" dirty="0">
              <a:solidFill>
                <a:schemeClr val="tx1">
                  <a:tint val="75000"/>
                </a:schemeClr>
              </a:solidFill>
              <a:latin typeface="Times New Roman" pitchFamily="18" charset="0"/>
            </a:endParaRPr>
          </a:p>
        </p:txBody>
      </p:sp>
      <p:sp>
        <p:nvSpPr>
          <p:cNvPr id="24" name="Title 23"/>
          <p:cNvSpPr>
            <a:spLocks noGrp="1"/>
          </p:cNvSpPr>
          <p:nvPr>
            <p:ph type="title"/>
          </p:nvPr>
        </p:nvSpPr>
        <p:spPr/>
        <p:txBody>
          <a:bodyPr/>
          <a:lstStyle/>
          <a:p>
            <a:pPr>
              <a:defRPr/>
            </a:pPr>
            <a:r>
              <a:rPr lang="en-US" sz="2800" cap="small" dirty="0" smtClean="0"/>
              <a:t>Relationships of </a:t>
            </a:r>
            <a:br>
              <a:rPr lang="en-US" sz="2800" cap="small" dirty="0" smtClean="0"/>
            </a:br>
            <a:r>
              <a:rPr lang="en-US" sz="2800" cap="small" dirty="0" smtClean="0"/>
              <a:t>Major Project Entities</a:t>
            </a:r>
            <a:endParaRPr lang="en-US" sz="2800" cap="small" dirty="0"/>
          </a:p>
        </p:txBody>
      </p:sp>
      <p:grpSp>
        <p:nvGrpSpPr>
          <p:cNvPr id="45060" name="Group 57"/>
          <p:cNvGrpSpPr>
            <a:grpSpLocks/>
          </p:cNvGrpSpPr>
          <p:nvPr/>
        </p:nvGrpSpPr>
        <p:grpSpPr bwMode="auto">
          <a:xfrm>
            <a:off x="1828800" y="1828800"/>
            <a:ext cx="5715000" cy="4572000"/>
            <a:chOff x="2438400" y="1371600"/>
            <a:chExt cx="4343400" cy="3200400"/>
          </a:xfrm>
        </p:grpSpPr>
        <p:sp>
          <p:nvSpPr>
            <p:cNvPr id="45064" name="Rectangle 3"/>
            <p:cNvSpPr>
              <a:spLocks noChangeArrowheads="1"/>
            </p:cNvSpPr>
            <p:nvPr/>
          </p:nvSpPr>
          <p:spPr bwMode="auto">
            <a:xfrm>
              <a:off x="3884613" y="1371600"/>
              <a:ext cx="1379537" cy="487362"/>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endParaRPr lang="en-US" sz="1200" b="1"/>
            </a:p>
            <a:p>
              <a:pPr algn="ctr"/>
              <a:r>
                <a:rPr lang="en-US" sz="1200" b="1"/>
                <a:t>Acquisition Executive</a:t>
              </a:r>
            </a:p>
            <a:p>
              <a:pPr algn="ctr"/>
              <a:endParaRPr lang="en-US" sz="1200" b="1"/>
            </a:p>
          </p:txBody>
        </p:sp>
        <p:sp>
          <p:nvSpPr>
            <p:cNvPr id="45065" name="Rectangle 5"/>
            <p:cNvSpPr>
              <a:spLocks noChangeArrowheads="1"/>
            </p:cNvSpPr>
            <p:nvPr/>
          </p:nvSpPr>
          <p:spPr bwMode="auto">
            <a:xfrm>
              <a:off x="5562601" y="2118360"/>
              <a:ext cx="1219199" cy="381000"/>
            </a:xfrm>
            <a:prstGeom prst="rect">
              <a:avLst/>
            </a:prstGeom>
            <a:solidFill>
              <a:srgbClr val="FFC000"/>
            </a:solidFill>
            <a:ln w="28575">
              <a:solidFill>
                <a:schemeClr val="tx1"/>
              </a:solidFill>
              <a:miter lim="800000"/>
              <a:headEnd/>
              <a:tailEnd/>
            </a:ln>
          </p:spPr>
          <p:txBody>
            <a:bodyPr lIns="68644" tIns="34322" rIns="68644" bIns="34322" anchor="ctr"/>
            <a:lstStyle/>
            <a:p>
              <a:pPr algn="ctr"/>
              <a:endParaRPr lang="en-US" sz="1200" b="1"/>
            </a:p>
            <a:p>
              <a:pPr algn="ctr"/>
              <a:r>
                <a:rPr lang="en-US" sz="1200" b="1"/>
                <a:t>DOE SBAA/SBRT</a:t>
              </a:r>
            </a:p>
            <a:p>
              <a:pPr algn="ctr"/>
              <a:endParaRPr lang="en-US" sz="1200" b="1"/>
            </a:p>
          </p:txBody>
        </p:sp>
        <p:sp>
          <p:nvSpPr>
            <p:cNvPr id="45066" name="Rectangle 8"/>
            <p:cNvSpPr>
              <a:spLocks noChangeArrowheads="1"/>
            </p:cNvSpPr>
            <p:nvPr/>
          </p:nvSpPr>
          <p:spPr bwMode="auto">
            <a:xfrm>
              <a:off x="2438400" y="2819400"/>
              <a:ext cx="1135062" cy="385762"/>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r>
                <a:rPr lang="en-US" sz="1200" b="1"/>
                <a:t>Contractor IPT</a:t>
              </a:r>
            </a:p>
          </p:txBody>
        </p:sp>
        <p:sp>
          <p:nvSpPr>
            <p:cNvPr id="45067" name="Rectangle 12"/>
            <p:cNvSpPr>
              <a:spLocks noChangeArrowheads="1"/>
            </p:cNvSpPr>
            <p:nvPr/>
          </p:nvSpPr>
          <p:spPr bwMode="auto">
            <a:xfrm>
              <a:off x="3151188" y="4170362"/>
              <a:ext cx="1050925" cy="401638"/>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r>
                <a:rPr lang="en-US" sz="1200" b="1"/>
                <a:t> </a:t>
              </a:r>
            </a:p>
            <a:p>
              <a:pPr algn="ctr"/>
              <a:r>
                <a:rPr lang="en-US" sz="1200" b="1"/>
                <a:t>Engineering </a:t>
              </a:r>
            </a:p>
            <a:p>
              <a:pPr algn="ctr"/>
              <a:r>
                <a:rPr lang="en-US" sz="1200" b="1"/>
                <a:t>Design</a:t>
              </a:r>
            </a:p>
            <a:p>
              <a:pPr algn="ctr"/>
              <a:r>
                <a:rPr lang="en-US" sz="1200" b="1">
                  <a:solidFill>
                    <a:schemeClr val="accent2"/>
                  </a:solidFill>
                </a:rPr>
                <a:t> </a:t>
              </a:r>
              <a:endParaRPr lang="en-US" sz="1100" b="1">
                <a:solidFill>
                  <a:schemeClr val="accent2"/>
                </a:solidFill>
              </a:endParaRPr>
            </a:p>
          </p:txBody>
        </p:sp>
        <p:sp>
          <p:nvSpPr>
            <p:cNvPr id="45068" name="Line 16"/>
            <p:cNvSpPr>
              <a:spLocks noChangeShapeType="1"/>
            </p:cNvSpPr>
            <p:nvPr/>
          </p:nvSpPr>
          <p:spPr bwMode="auto">
            <a:xfrm flipH="1">
              <a:off x="4572000" y="1905000"/>
              <a:ext cx="0" cy="1752600"/>
            </a:xfrm>
            <a:prstGeom prst="line">
              <a:avLst/>
            </a:prstGeom>
            <a:noFill/>
            <a:ln w="28575">
              <a:solidFill>
                <a:schemeClr val="tx1"/>
              </a:solidFill>
              <a:round/>
              <a:headEnd/>
              <a:tailEnd/>
            </a:ln>
          </p:spPr>
          <p:txBody>
            <a:bodyPr/>
            <a:lstStyle/>
            <a:p>
              <a:endParaRPr lang="en-US"/>
            </a:p>
          </p:txBody>
        </p:sp>
        <p:sp>
          <p:nvSpPr>
            <p:cNvPr id="45069" name="Line 18"/>
            <p:cNvSpPr>
              <a:spLocks noChangeShapeType="1"/>
            </p:cNvSpPr>
            <p:nvPr/>
          </p:nvSpPr>
          <p:spPr bwMode="auto">
            <a:xfrm>
              <a:off x="2798763" y="1647825"/>
              <a:ext cx="1060450" cy="0"/>
            </a:xfrm>
            <a:prstGeom prst="line">
              <a:avLst/>
            </a:prstGeom>
            <a:noFill/>
            <a:ln w="28575">
              <a:solidFill>
                <a:schemeClr val="tx1"/>
              </a:solidFill>
              <a:prstDash val="dash"/>
              <a:round/>
              <a:headEnd/>
              <a:tailEnd/>
            </a:ln>
          </p:spPr>
          <p:txBody>
            <a:bodyPr/>
            <a:lstStyle/>
            <a:p>
              <a:endParaRPr lang="en-US"/>
            </a:p>
          </p:txBody>
        </p:sp>
        <p:sp>
          <p:nvSpPr>
            <p:cNvPr id="45070" name="Rectangle 34"/>
            <p:cNvSpPr>
              <a:spLocks noChangeArrowheads="1"/>
            </p:cNvSpPr>
            <p:nvPr/>
          </p:nvSpPr>
          <p:spPr bwMode="auto">
            <a:xfrm>
              <a:off x="4775200" y="4162425"/>
              <a:ext cx="1060450" cy="409575"/>
            </a:xfrm>
            <a:prstGeom prst="rect">
              <a:avLst/>
            </a:prstGeom>
            <a:solidFill>
              <a:srgbClr val="FFC000"/>
            </a:solidFill>
            <a:ln w="28575">
              <a:solidFill>
                <a:schemeClr val="tx1"/>
              </a:solidFill>
              <a:miter lim="800000"/>
              <a:headEnd/>
              <a:tailEnd/>
            </a:ln>
          </p:spPr>
          <p:txBody>
            <a:bodyPr wrap="none" anchor="ctr"/>
            <a:lstStyle/>
            <a:p>
              <a:pPr algn="ctr"/>
              <a:r>
                <a:rPr lang="en-US" sz="1200" b="1"/>
                <a:t>Safety Analysis</a:t>
              </a:r>
            </a:p>
          </p:txBody>
        </p:sp>
        <p:sp>
          <p:nvSpPr>
            <p:cNvPr id="45071" name="Rectangle 58"/>
            <p:cNvSpPr>
              <a:spLocks noChangeArrowheads="1"/>
            </p:cNvSpPr>
            <p:nvPr/>
          </p:nvSpPr>
          <p:spPr bwMode="auto">
            <a:xfrm>
              <a:off x="3962400" y="3429000"/>
              <a:ext cx="1171575" cy="252412"/>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endParaRPr lang="en-US" sz="1200" b="1"/>
            </a:p>
            <a:p>
              <a:pPr algn="ctr"/>
              <a:endParaRPr lang="en-US" sz="1200" b="1"/>
            </a:p>
            <a:p>
              <a:pPr algn="ctr"/>
              <a:r>
                <a:rPr lang="en-US" sz="1200" b="1"/>
                <a:t>SDIT</a:t>
              </a:r>
            </a:p>
            <a:p>
              <a:pPr algn="ctr"/>
              <a:endParaRPr lang="en-US" sz="1200" b="1"/>
            </a:p>
            <a:p>
              <a:pPr algn="ctr"/>
              <a:endParaRPr lang="en-US" sz="1200" b="1"/>
            </a:p>
          </p:txBody>
        </p:sp>
        <p:sp>
          <p:nvSpPr>
            <p:cNvPr id="45072" name="Rectangle 7"/>
            <p:cNvSpPr>
              <a:spLocks noChangeArrowheads="1"/>
            </p:cNvSpPr>
            <p:nvPr/>
          </p:nvSpPr>
          <p:spPr bwMode="auto">
            <a:xfrm>
              <a:off x="3962400" y="2819400"/>
              <a:ext cx="1295400" cy="395287"/>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endParaRPr lang="en-US" sz="1200" b="1"/>
            </a:p>
            <a:p>
              <a:pPr algn="ctr"/>
              <a:endParaRPr lang="en-US" sz="1200" b="1"/>
            </a:p>
            <a:p>
              <a:pPr algn="ctr"/>
              <a:r>
                <a:rPr lang="en-US" sz="1200" b="1"/>
                <a:t>Contractor Project</a:t>
              </a:r>
            </a:p>
            <a:p>
              <a:pPr algn="ctr"/>
              <a:r>
                <a:rPr lang="en-US" sz="1200" b="1"/>
                <a:t>Manager</a:t>
              </a:r>
            </a:p>
            <a:p>
              <a:pPr algn="ctr"/>
              <a:endParaRPr lang="en-US" sz="1200" b="1"/>
            </a:p>
            <a:p>
              <a:pPr algn="ctr"/>
              <a:endParaRPr lang="en-US" sz="1200" b="1"/>
            </a:p>
          </p:txBody>
        </p:sp>
        <p:sp>
          <p:nvSpPr>
            <p:cNvPr id="45073" name="Rectangle 15"/>
            <p:cNvSpPr>
              <a:spLocks noChangeArrowheads="1"/>
            </p:cNvSpPr>
            <p:nvPr/>
          </p:nvSpPr>
          <p:spPr bwMode="auto">
            <a:xfrm>
              <a:off x="2493962" y="1395413"/>
              <a:ext cx="1087438" cy="458787"/>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endParaRPr lang="en-US" sz="1200" b="1"/>
            </a:p>
            <a:p>
              <a:pPr algn="ctr"/>
              <a:r>
                <a:rPr lang="en-US" sz="1200" b="1"/>
                <a:t>DOE Program</a:t>
              </a:r>
            </a:p>
            <a:p>
              <a:pPr algn="ctr"/>
              <a:r>
                <a:rPr lang="en-US" sz="1200" b="1"/>
                <a:t> Manager</a:t>
              </a:r>
            </a:p>
            <a:p>
              <a:pPr algn="ctr"/>
              <a:endParaRPr lang="en-US" sz="1200" b="1"/>
            </a:p>
          </p:txBody>
        </p:sp>
        <p:sp>
          <p:nvSpPr>
            <p:cNvPr id="45074" name="Rectangle 45"/>
            <p:cNvSpPr>
              <a:spLocks noChangeArrowheads="1"/>
            </p:cNvSpPr>
            <p:nvPr/>
          </p:nvSpPr>
          <p:spPr bwMode="auto">
            <a:xfrm>
              <a:off x="2438400" y="2133600"/>
              <a:ext cx="1173162" cy="385762"/>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endParaRPr lang="en-US" sz="1200" b="1"/>
            </a:p>
            <a:p>
              <a:pPr algn="ctr"/>
              <a:r>
                <a:rPr lang="en-US" sz="1200" b="1"/>
                <a:t>Federal IPT</a:t>
              </a:r>
            </a:p>
            <a:p>
              <a:pPr algn="ctr"/>
              <a:endParaRPr lang="en-US" sz="1200" b="1"/>
            </a:p>
          </p:txBody>
        </p:sp>
        <p:cxnSp>
          <p:nvCxnSpPr>
            <p:cNvPr id="70" name="Straight Connector 69"/>
            <p:cNvCxnSpPr>
              <a:stCxn id="45074" idx="3"/>
              <a:endCxn id="45076" idx="3"/>
            </p:cNvCxnSpPr>
            <p:nvPr/>
          </p:nvCxnSpPr>
          <p:spPr>
            <a:xfrm flipV="1">
              <a:off x="3611118" y="2320607"/>
              <a:ext cx="1646873" cy="55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5076" name="Rectangle 4"/>
            <p:cNvSpPr>
              <a:spLocks noChangeArrowheads="1"/>
            </p:cNvSpPr>
            <p:nvPr/>
          </p:nvSpPr>
          <p:spPr bwMode="auto">
            <a:xfrm>
              <a:off x="3962400" y="2133600"/>
              <a:ext cx="1295400" cy="373063"/>
            </a:xfrm>
            <a:prstGeom prst="rect">
              <a:avLst/>
            </a:prstGeom>
            <a:solidFill>
              <a:srgbClr val="FFC000"/>
            </a:solidFill>
            <a:ln w="28575">
              <a:solidFill>
                <a:schemeClr val="tx1"/>
              </a:solidFill>
              <a:miter lim="800000"/>
              <a:headEnd/>
              <a:tailEnd/>
            </a:ln>
          </p:spPr>
          <p:txBody>
            <a:bodyPr wrap="none" lIns="68644" tIns="34322" rIns="68644" bIns="34322" anchor="ctr"/>
            <a:lstStyle/>
            <a:p>
              <a:pPr algn="ctr"/>
              <a:endParaRPr lang="en-US" sz="1200" b="1"/>
            </a:p>
            <a:p>
              <a:pPr algn="ctr"/>
              <a:r>
                <a:rPr lang="en-US" sz="1200" b="1"/>
                <a:t>Federal Project </a:t>
              </a:r>
            </a:p>
            <a:p>
              <a:pPr algn="ctr"/>
              <a:r>
                <a:rPr lang="en-US" sz="1200" b="1"/>
                <a:t>Director</a:t>
              </a:r>
            </a:p>
            <a:p>
              <a:pPr algn="ctr"/>
              <a:endParaRPr lang="en-US" sz="1200" b="1"/>
            </a:p>
          </p:txBody>
        </p:sp>
        <p:cxnSp>
          <p:nvCxnSpPr>
            <p:cNvPr id="72" name="Straight Connector 71"/>
            <p:cNvCxnSpPr>
              <a:stCxn id="45066" idx="3"/>
              <a:endCxn id="45072" idx="1"/>
            </p:cNvCxnSpPr>
            <p:nvPr/>
          </p:nvCxnSpPr>
          <p:spPr>
            <a:xfrm>
              <a:off x="3573717" y="3011805"/>
              <a:ext cx="388493" cy="555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Elbow Connector 72"/>
            <p:cNvCxnSpPr/>
            <p:nvPr/>
          </p:nvCxnSpPr>
          <p:spPr>
            <a:xfrm rot="5400000">
              <a:off x="3867944" y="3490214"/>
              <a:ext cx="488950" cy="872300"/>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Elbow Connector 73"/>
            <p:cNvCxnSpPr/>
            <p:nvPr/>
          </p:nvCxnSpPr>
          <p:spPr>
            <a:xfrm rot="16200000" flipH="1">
              <a:off x="4686776" y="3543682"/>
              <a:ext cx="480060" cy="756475"/>
            </a:xfrm>
            <a:prstGeom prst="bentConnector3">
              <a:avLst>
                <a:gd name="adj1" fmla="val 50000"/>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54" name="Straight Connector 53"/>
          <p:cNvCxnSpPr>
            <a:stCxn id="45065" idx="1"/>
            <a:endCxn id="45076" idx="3"/>
          </p:cNvCxnSpPr>
          <p:nvPr/>
        </p:nvCxnSpPr>
        <p:spPr>
          <a:xfrm rot="10800000" flipV="1">
            <a:off x="5538788" y="3167063"/>
            <a:ext cx="400050" cy="17462"/>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6" name="Shape 55"/>
          <p:cNvCxnSpPr>
            <a:stCxn id="45066" idx="2"/>
            <a:endCxn id="45071" idx="1"/>
          </p:cNvCxnSpPr>
          <p:nvPr/>
        </p:nvCxnSpPr>
        <p:spPr>
          <a:xfrm rot="16200000" flipH="1">
            <a:off x="2954337" y="4068763"/>
            <a:ext cx="500063" cy="1258888"/>
          </a:xfrm>
          <a:prstGeom prst="bentConnector2">
            <a:avLst/>
          </a:prstGeom>
          <a:ln w="28575">
            <a:solidFill>
              <a:schemeClr val="tx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Slide Number Placeholder 25"/>
          <p:cNvSpPr>
            <a:spLocks noGrp="1"/>
          </p:cNvSpPr>
          <p:nvPr>
            <p:ph type="sldNum" sz="quarter" idx="10"/>
          </p:nvPr>
        </p:nvSpPr>
        <p:spPr/>
        <p:txBody>
          <a:bodyPr/>
          <a:lstStyle/>
          <a:p>
            <a:pPr>
              <a:defRPr/>
            </a:pPr>
            <a:fld id="{80310167-353D-4DFB-A2F7-8C222A610189}"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p:txBody>
          <a:bodyPr rtlCol="0">
            <a:noAutofit/>
          </a:bodyPr>
          <a:lstStyle/>
          <a:p>
            <a:pPr eaLnBrk="1" fontAlgn="auto" hangingPunct="1">
              <a:spcAft>
                <a:spcPts val="0"/>
              </a:spcAft>
              <a:defRPr/>
            </a:pPr>
            <a:r>
              <a:rPr lang="en-US" sz="2800" cap="small" dirty="0" smtClean="0"/>
              <a:t>Federal Integrated Project Team</a:t>
            </a:r>
            <a:br>
              <a:rPr lang="en-US" sz="2800" cap="small" dirty="0" smtClean="0"/>
            </a:br>
            <a:r>
              <a:rPr lang="en-US" sz="1800" cap="small" dirty="0" smtClean="0"/>
              <a:t>(Slide 1 of 3)</a:t>
            </a:r>
            <a:endParaRPr lang="en-US" sz="2800" cap="small" dirty="0" smtClean="0"/>
          </a:p>
        </p:txBody>
      </p:sp>
      <p:sp>
        <p:nvSpPr>
          <p:cNvPr id="46083" name="Rectangle 3"/>
          <p:cNvSpPr>
            <a:spLocks noGrp="1" noChangeArrowheads="1"/>
          </p:cNvSpPr>
          <p:nvPr>
            <p:ph idx="1"/>
          </p:nvPr>
        </p:nvSpPr>
        <p:spPr>
          <a:xfrm>
            <a:off x="533400" y="1905000"/>
            <a:ext cx="8234363" cy="4343400"/>
          </a:xfrm>
        </p:spPr>
        <p:txBody>
          <a:bodyPr/>
          <a:lstStyle/>
          <a:p>
            <a:pPr marL="365760" indent="-256032" fontAlgn="auto">
              <a:spcBef>
                <a:spcPts val="1200"/>
              </a:spcBef>
              <a:spcAft>
                <a:spcPts val="600"/>
              </a:spcAft>
              <a:defRPr/>
            </a:pPr>
            <a:r>
              <a:rPr lang="en-US" sz="2000" dirty="0" smtClean="0">
                <a:latin typeface="Arial" charset="0"/>
                <a:cs typeface="Arial" charset="0"/>
              </a:rPr>
              <a:t>FPD leads an IPT with  representation necessary for project success</a:t>
            </a:r>
          </a:p>
          <a:p>
            <a:pPr marL="621792" lvl="1" fontAlgn="auto">
              <a:spcBef>
                <a:spcPts val="1200"/>
              </a:spcBef>
              <a:spcAft>
                <a:spcPts val="600"/>
              </a:spcAft>
              <a:defRPr/>
            </a:pPr>
            <a:r>
              <a:rPr lang="en-US" sz="2000" dirty="0" smtClean="0">
                <a:latin typeface="Arial" charset="0"/>
                <a:cs typeface="Arial" charset="0"/>
              </a:rPr>
              <a:t>FPD and IPTs must aggressively lead the project (not passively monitor and review)</a:t>
            </a:r>
          </a:p>
          <a:p>
            <a:pPr marL="365760" indent="-256032" fontAlgn="auto">
              <a:spcBef>
                <a:spcPts val="1200"/>
              </a:spcBef>
              <a:spcAft>
                <a:spcPts val="600"/>
              </a:spcAft>
              <a:defRPr/>
            </a:pPr>
            <a:r>
              <a:rPr lang="en-US" sz="2000" dirty="0" smtClean="0">
                <a:latin typeface="Arial" charset="0"/>
                <a:cs typeface="Arial" charset="0"/>
              </a:rPr>
              <a:t>IPT formally established at CD-1 (really needs to be established at the beginning of Conceptual design) </a:t>
            </a:r>
          </a:p>
          <a:p>
            <a:pPr marL="365760" indent="-256032" fontAlgn="auto">
              <a:spcBef>
                <a:spcPts val="1200"/>
              </a:spcBef>
              <a:spcAft>
                <a:spcPts val="600"/>
              </a:spcAft>
              <a:defRPr/>
            </a:pPr>
            <a:r>
              <a:rPr lang="en-US" sz="2000" dirty="0" smtClean="0">
                <a:latin typeface="Arial" charset="0"/>
                <a:cs typeface="Arial" charset="0"/>
              </a:rPr>
              <a:t>Roles, responsibilities, and functions of the Federal IPT are provided in DOE G 413.3-18, </a:t>
            </a:r>
            <a:r>
              <a:rPr lang="en-US" sz="2000" i="1" dirty="0" smtClean="0">
                <a:latin typeface="Arial" charset="0"/>
                <a:cs typeface="Arial" charset="0"/>
              </a:rPr>
              <a:t>Integrated Project Teams Guide for Use with DOE O 413.3A</a:t>
            </a:r>
          </a:p>
          <a:p>
            <a:pPr marL="365760" indent="-256032" fontAlgn="auto">
              <a:spcBef>
                <a:spcPts val="1200"/>
              </a:spcBef>
              <a:spcAft>
                <a:spcPts val="600"/>
              </a:spcAft>
              <a:defRPr/>
            </a:pPr>
            <a:endParaRPr lang="en-US" sz="2000" dirty="0" smtClean="0">
              <a:latin typeface="Arial" charset="0"/>
              <a:cs typeface="Arial" charset="0"/>
            </a:endParaRPr>
          </a:p>
          <a:p>
            <a:pPr eaLnBrk="1" hangingPunct="1">
              <a:spcBef>
                <a:spcPts val="1200"/>
              </a:spcBef>
              <a:buFont typeface="Arial" charset="0"/>
              <a:buNone/>
            </a:pPr>
            <a:endParaRPr lang="en-US" dirty="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16AEFE9-B746-4AF8-B057-177BAF451D06}" type="slidenum">
              <a:rPr lang="en-US" smtClean="0"/>
              <a:pPr>
                <a:defRPr/>
              </a:pPr>
              <a:t>32</a:t>
            </a:fld>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2800" cap="small" dirty="0" smtClean="0"/>
              <a:t>Federal Integrated Project Team</a:t>
            </a:r>
            <a:r>
              <a:rPr lang="en-US" sz="2400" cap="small" dirty="0" smtClean="0"/>
              <a:t/>
            </a:r>
            <a:br>
              <a:rPr lang="en-US" sz="2400" cap="small" dirty="0" smtClean="0"/>
            </a:br>
            <a:r>
              <a:rPr lang="en-US" sz="1800" cap="small" dirty="0" smtClean="0"/>
              <a:t> (Slide 2 of 3)</a:t>
            </a:r>
            <a:endParaRPr lang="en-US" sz="1400" cap="small" dirty="0" smtClean="0"/>
          </a:p>
        </p:txBody>
      </p:sp>
      <p:sp>
        <p:nvSpPr>
          <p:cNvPr id="48131" name="Content Placeholder 2"/>
          <p:cNvSpPr>
            <a:spLocks noGrp="1"/>
          </p:cNvSpPr>
          <p:nvPr>
            <p:ph idx="1"/>
          </p:nvPr>
        </p:nvSpPr>
        <p:spPr/>
        <p:txBody>
          <a:bodyPr/>
          <a:lstStyle/>
          <a:p>
            <a:pPr eaLnBrk="1" hangingPunct="1">
              <a:buFont typeface="Wingdings" pitchFamily="2" charset="2"/>
              <a:buNone/>
            </a:pPr>
            <a:r>
              <a:rPr lang="en-US" sz="2400" i="1" smtClean="0">
                <a:latin typeface="Arial" charset="0"/>
                <a:cs typeface="Arial" charset="0"/>
              </a:rPr>
              <a:t>From DOE G 413.3-18</a:t>
            </a:r>
            <a:r>
              <a:rPr lang="en-US" sz="2400" smtClean="0">
                <a:latin typeface="Arial" charset="0"/>
                <a:cs typeface="Arial" charset="0"/>
              </a:rPr>
              <a:t>:</a:t>
            </a:r>
          </a:p>
          <a:p>
            <a:pPr eaLnBrk="1" hangingPunct="1"/>
            <a:r>
              <a:rPr lang="en-US" sz="2400" smtClean="0">
                <a:latin typeface="Arial" charset="0"/>
                <a:cs typeface="Arial" charset="0"/>
              </a:rPr>
              <a:t>The IPT is the primary tool for breaking down the walls that can exist between different organizations, different professions, and different levels within the different organizations’ command structures.  A successful IPT brings these diverse elements together to form a unit that willingly shares information, balances conflicting priorities and ideologies, and jointly plans and executes the project mission. (¶ 2.2)</a:t>
            </a:r>
          </a:p>
          <a:p>
            <a:pPr eaLnBrk="1" hangingPunct="1">
              <a:buFont typeface="Arial" charset="0"/>
              <a:buChar char="•"/>
            </a:pPr>
            <a:endParaRPr lang="en-US" sz="36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160063F8-BD52-4AA3-B38C-18C7A5DB8770}" type="slidenum">
              <a:rPr lang="en-US" smtClean="0"/>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Autofit/>
          </a:bodyPr>
          <a:lstStyle/>
          <a:p>
            <a:pPr eaLnBrk="1" fontAlgn="auto" hangingPunct="1">
              <a:spcAft>
                <a:spcPts val="0"/>
              </a:spcAft>
              <a:defRPr/>
            </a:pPr>
            <a:r>
              <a:rPr lang="en-US" sz="2800" cap="small" dirty="0" smtClean="0"/>
              <a:t>Federal Integrated Project Team</a:t>
            </a:r>
            <a:r>
              <a:rPr lang="en-US" sz="2400" cap="small" dirty="0" smtClean="0"/>
              <a:t/>
            </a:r>
            <a:br>
              <a:rPr lang="en-US" sz="2400" cap="small" dirty="0" smtClean="0"/>
            </a:br>
            <a:r>
              <a:rPr lang="en-US" sz="1800" cap="small" dirty="0" smtClean="0"/>
              <a:t> (Slide 3 of 3)</a:t>
            </a:r>
            <a:endParaRPr lang="en-US" sz="2800" cap="small" dirty="0"/>
          </a:p>
        </p:txBody>
      </p:sp>
      <p:sp>
        <p:nvSpPr>
          <p:cNvPr id="49155" name="Content Placeholder 2"/>
          <p:cNvSpPr>
            <a:spLocks noGrp="1"/>
          </p:cNvSpPr>
          <p:nvPr>
            <p:ph idx="1"/>
          </p:nvPr>
        </p:nvSpPr>
        <p:spPr/>
        <p:txBody>
          <a:bodyPr/>
          <a:lstStyle/>
          <a:p>
            <a:pPr eaLnBrk="1" hangingPunct="1">
              <a:buFont typeface="Arial" charset="0"/>
              <a:buNone/>
            </a:pPr>
            <a:r>
              <a:rPr lang="en-US" sz="2400" i="1" smtClean="0">
                <a:latin typeface="Arial" charset="0"/>
                <a:cs typeface="Arial" charset="0"/>
              </a:rPr>
              <a:t>From DOE G 413.3-18 (Continued):</a:t>
            </a:r>
          </a:p>
          <a:p>
            <a:pPr eaLnBrk="1" hangingPunct="1"/>
            <a:r>
              <a:rPr lang="en-US" sz="2400" smtClean="0">
                <a:latin typeface="Arial" charset="0"/>
                <a:cs typeface="Arial" charset="0"/>
              </a:rPr>
              <a:t>The initial requirement imposed upon the IPT by DOE O 413.3A is to support the FPD by providing individual expertise to fill the voids in his or her knowledge base in the areas of planning and implementing the project… (¶ 2.4.1)</a:t>
            </a:r>
          </a:p>
          <a:p>
            <a:pPr eaLnBrk="1" hangingPunct="1"/>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31488CEA-3AED-4E9C-921B-62E102C24177}" type="slidenum">
              <a:rPr lang="en-US" smtClean="0"/>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2"/>
          <p:cNvSpPr>
            <a:spLocks noGrp="1" noChangeArrowheads="1"/>
          </p:cNvSpPr>
          <p:nvPr>
            <p:ph type="title"/>
          </p:nvPr>
        </p:nvSpPr>
        <p:spPr/>
        <p:txBody>
          <a:bodyPr rtlCol="0">
            <a:noAutofit/>
          </a:bodyPr>
          <a:lstStyle/>
          <a:p>
            <a:pPr eaLnBrk="1" fontAlgn="auto" hangingPunct="1">
              <a:spcAft>
                <a:spcPts val="0"/>
              </a:spcAft>
              <a:defRPr/>
            </a:pPr>
            <a:r>
              <a:rPr lang="en-US" sz="2800" cap="small" dirty="0" smtClean="0"/>
              <a:t>What is the Contractor </a:t>
            </a:r>
            <a:br>
              <a:rPr lang="en-US" sz="2800" cap="small" dirty="0" smtClean="0"/>
            </a:br>
            <a:r>
              <a:rPr lang="en-US" sz="2800" cap="small" dirty="0" smtClean="0"/>
              <a:t>Integrated Project Team?</a:t>
            </a:r>
          </a:p>
        </p:txBody>
      </p:sp>
      <p:sp>
        <p:nvSpPr>
          <p:cNvPr id="57347" name="Rectangle 3"/>
          <p:cNvSpPr>
            <a:spLocks noGrp="1" noChangeArrowheads="1"/>
          </p:cNvSpPr>
          <p:nvPr>
            <p:ph idx="1"/>
          </p:nvPr>
        </p:nvSpPr>
        <p:spPr>
          <a:xfrm>
            <a:off x="533400" y="1981200"/>
            <a:ext cx="8234363" cy="4267200"/>
          </a:xfrm>
        </p:spPr>
        <p:txBody>
          <a:bodyPr rtlCol="0">
            <a:normAutofit fontScale="92500" lnSpcReduction="10000"/>
          </a:bodyPr>
          <a:lstStyle/>
          <a:p>
            <a:pPr marL="3175" indent="-3175" eaLnBrk="1" fontAlgn="auto" hangingPunct="1">
              <a:lnSpc>
                <a:spcPct val="90000"/>
              </a:lnSpc>
              <a:spcBef>
                <a:spcPts val="1200"/>
              </a:spcBef>
              <a:spcAft>
                <a:spcPts val="600"/>
              </a:spcAft>
              <a:buFont typeface="Wingdings" pitchFamily="2" charset="2"/>
              <a:buNone/>
              <a:defRPr/>
            </a:pPr>
            <a:r>
              <a:rPr lang="en-US" sz="2600" i="1" dirty="0" smtClean="0"/>
              <a:t>Standard 1189 encourages the formation of the Contractor IPT; similar makeup to Federal IPT</a:t>
            </a:r>
          </a:p>
          <a:p>
            <a:pPr eaLnBrk="1" fontAlgn="auto" hangingPunct="1">
              <a:lnSpc>
                <a:spcPct val="90000"/>
              </a:lnSpc>
              <a:spcBef>
                <a:spcPts val="1200"/>
              </a:spcBef>
              <a:spcAft>
                <a:spcPts val="600"/>
              </a:spcAft>
              <a:defRPr/>
            </a:pPr>
            <a:r>
              <a:rPr lang="en-US" sz="2400" dirty="0" smtClean="0"/>
              <a:t>Comprised of personnel who ensure integration of mission need, safety analysis, and design</a:t>
            </a:r>
          </a:p>
          <a:p>
            <a:pPr eaLnBrk="1" fontAlgn="auto" hangingPunct="1">
              <a:lnSpc>
                <a:spcPct val="90000"/>
              </a:lnSpc>
              <a:spcBef>
                <a:spcPts val="1200"/>
              </a:spcBef>
              <a:spcAft>
                <a:spcPts val="600"/>
              </a:spcAft>
              <a:defRPr/>
            </a:pPr>
            <a:r>
              <a:rPr lang="en-US" sz="2400" dirty="0" smtClean="0"/>
              <a:t>Diversity of expertise is essential</a:t>
            </a:r>
          </a:p>
          <a:p>
            <a:pPr eaLnBrk="1" fontAlgn="auto" hangingPunct="1">
              <a:lnSpc>
                <a:spcPct val="90000"/>
              </a:lnSpc>
              <a:spcBef>
                <a:spcPts val="1200"/>
              </a:spcBef>
              <a:spcAft>
                <a:spcPts val="600"/>
              </a:spcAft>
              <a:defRPr/>
            </a:pPr>
            <a:r>
              <a:rPr lang="en-US" sz="2400" dirty="0" smtClean="0"/>
              <a:t>Project process understanding very helpful</a:t>
            </a:r>
          </a:p>
          <a:p>
            <a:pPr eaLnBrk="1" fontAlgn="auto" hangingPunct="1">
              <a:lnSpc>
                <a:spcPct val="90000"/>
              </a:lnSpc>
              <a:spcBef>
                <a:spcPts val="1200"/>
              </a:spcBef>
              <a:spcAft>
                <a:spcPts val="600"/>
              </a:spcAft>
              <a:defRPr/>
            </a:pPr>
            <a:r>
              <a:rPr lang="en-US" sz="2400" dirty="0" smtClean="0"/>
              <a:t>Strong upper management support to IPT members</a:t>
            </a:r>
          </a:p>
          <a:p>
            <a:pPr eaLnBrk="1" fontAlgn="auto" hangingPunct="1">
              <a:lnSpc>
                <a:spcPct val="90000"/>
              </a:lnSpc>
              <a:spcBef>
                <a:spcPts val="1200"/>
              </a:spcBef>
              <a:spcAft>
                <a:spcPts val="600"/>
              </a:spcAft>
              <a:defRPr/>
            </a:pPr>
            <a:r>
              <a:rPr lang="en-US" sz="2400" dirty="0" smtClean="0"/>
              <a:t>Need consistency and longevity of team members</a:t>
            </a:r>
          </a:p>
          <a:p>
            <a:pPr eaLnBrk="1" fontAlgn="auto" hangingPunct="1">
              <a:lnSpc>
                <a:spcPct val="90000"/>
              </a:lnSpc>
              <a:spcBef>
                <a:spcPts val="1200"/>
              </a:spcBef>
              <a:spcAft>
                <a:spcPts val="600"/>
              </a:spcAft>
              <a:defRPr/>
            </a:pPr>
            <a:r>
              <a:rPr lang="en-US" sz="2400" dirty="0" smtClean="0"/>
              <a:t>Team formed after approval of CD-0</a:t>
            </a:r>
          </a:p>
          <a:p>
            <a:pPr eaLnBrk="1" fontAlgn="auto" hangingPunct="1">
              <a:lnSpc>
                <a:spcPct val="90000"/>
              </a:lnSpc>
              <a:spcBef>
                <a:spcPts val="1200"/>
              </a:spcBef>
              <a:spcAft>
                <a:spcPts val="600"/>
              </a:spcAft>
              <a:defRPr/>
            </a:pPr>
            <a:endParaRPr lang="en-US" sz="2400" dirty="0" smtClean="0"/>
          </a:p>
        </p:txBody>
      </p:sp>
      <p:sp>
        <p:nvSpPr>
          <p:cNvPr id="5" name="Slide Number Placeholder 4"/>
          <p:cNvSpPr>
            <a:spLocks noGrp="1"/>
          </p:cNvSpPr>
          <p:nvPr>
            <p:ph type="sldNum" sz="quarter" idx="10"/>
          </p:nvPr>
        </p:nvSpPr>
        <p:spPr/>
        <p:txBody>
          <a:bodyPr/>
          <a:lstStyle/>
          <a:p>
            <a:pPr>
              <a:defRPr/>
            </a:pPr>
            <a:fld id="{1F474788-2F69-41EE-8908-7B51F5931D02}" type="slidenum">
              <a:rPr lang="en-US" smtClean="0"/>
              <a:pPr>
                <a:defRPr/>
              </a:pPr>
              <a:t>35</a:t>
            </a:fld>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hangingPunct="1"/>
            <a:r>
              <a:rPr lang="en-US" sz="3200" smtClean="0">
                <a:latin typeface="Arial" charset="0"/>
                <a:cs typeface="Arial" charset="0"/>
              </a:rPr>
              <a:t>Typical Contractor </a:t>
            </a:r>
            <a:br>
              <a:rPr lang="en-US" sz="3200" smtClean="0">
                <a:latin typeface="Arial" charset="0"/>
                <a:cs typeface="Arial" charset="0"/>
              </a:rPr>
            </a:br>
            <a:r>
              <a:rPr lang="en-US" sz="3200" smtClean="0">
                <a:latin typeface="Arial" charset="0"/>
                <a:cs typeface="Arial" charset="0"/>
              </a:rPr>
              <a:t>IPT Representation</a:t>
            </a:r>
          </a:p>
        </p:txBody>
      </p:sp>
      <p:sp>
        <p:nvSpPr>
          <p:cNvPr id="51203" name="Content Placeholder 2"/>
          <p:cNvSpPr>
            <a:spLocks noGrp="1"/>
          </p:cNvSpPr>
          <p:nvPr>
            <p:ph idx="1"/>
          </p:nvPr>
        </p:nvSpPr>
        <p:spPr>
          <a:xfrm>
            <a:off x="533400" y="1981200"/>
            <a:ext cx="4267200" cy="4267200"/>
          </a:xfrm>
        </p:spPr>
        <p:txBody>
          <a:bodyPr/>
          <a:lstStyle/>
          <a:p>
            <a:pPr eaLnBrk="1" hangingPunct="1">
              <a:spcBef>
                <a:spcPts val="600"/>
              </a:spcBef>
              <a:spcAft>
                <a:spcPts val="600"/>
              </a:spcAft>
            </a:pPr>
            <a:r>
              <a:rPr lang="en-US" sz="2400" b="0" dirty="0" smtClean="0">
                <a:latin typeface="Arial" charset="0"/>
                <a:cs typeface="Arial" charset="0"/>
              </a:rPr>
              <a:t>Facility Owner/Operator</a:t>
            </a:r>
          </a:p>
          <a:p>
            <a:pPr eaLnBrk="1" hangingPunct="1">
              <a:spcBef>
                <a:spcPts val="600"/>
              </a:spcBef>
              <a:spcAft>
                <a:spcPts val="600"/>
              </a:spcAft>
            </a:pPr>
            <a:r>
              <a:rPr lang="en-US" sz="2400" b="0" dirty="0" smtClean="0">
                <a:latin typeface="Arial" charset="0"/>
                <a:cs typeface="Arial" charset="0"/>
              </a:rPr>
              <a:t>Funding Organization</a:t>
            </a:r>
          </a:p>
          <a:p>
            <a:pPr eaLnBrk="1" hangingPunct="1">
              <a:spcBef>
                <a:spcPts val="600"/>
              </a:spcBef>
              <a:spcAft>
                <a:spcPts val="600"/>
              </a:spcAft>
            </a:pPr>
            <a:r>
              <a:rPr lang="en-US" sz="2400" b="0" dirty="0" smtClean="0">
                <a:latin typeface="Arial" charset="0"/>
                <a:cs typeface="Arial" charset="0"/>
              </a:rPr>
              <a:t>Project Management</a:t>
            </a:r>
          </a:p>
          <a:p>
            <a:pPr eaLnBrk="1" hangingPunct="1">
              <a:spcBef>
                <a:spcPts val="600"/>
              </a:spcBef>
              <a:spcAft>
                <a:spcPts val="600"/>
              </a:spcAft>
            </a:pPr>
            <a:r>
              <a:rPr lang="en-US" sz="2400" b="0" dirty="0" smtClean="0">
                <a:latin typeface="Arial" charset="0"/>
                <a:cs typeface="Arial" charset="0"/>
              </a:rPr>
              <a:t>Health, Safety, and Radiation Protection </a:t>
            </a:r>
          </a:p>
          <a:p>
            <a:pPr eaLnBrk="1" hangingPunct="1">
              <a:spcBef>
                <a:spcPts val="600"/>
              </a:spcBef>
              <a:spcAft>
                <a:spcPts val="600"/>
              </a:spcAft>
            </a:pPr>
            <a:r>
              <a:rPr lang="en-US" sz="2400" b="0" dirty="0" smtClean="0">
                <a:latin typeface="Arial" charset="0"/>
                <a:cs typeface="Arial" charset="0"/>
              </a:rPr>
              <a:t>Nuclear Safety</a:t>
            </a:r>
          </a:p>
          <a:p>
            <a:pPr eaLnBrk="1" hangingPunct="1">
              <a:spcBef>
                <a:spcPts val="600"/>
              </a:spcBef>
              <a:spcAft>
                <a:spcPts val="600"/>
              </a:spcAft>
            </a:pPr>
            <a:r>
              <a:rPr lang="en-US" sz="2400" b="0" dirty="0" smtClean="0">
                <a:latin typeface="Arial" charset="0"/>
                <a:cs typeface="Arial" charset="0"/>
              </a:rPr>
              <a:t>Engineering</a:t>
            </a:r>
          </a:p>
          <a:p>
            <a:pPr eaLnBrk="1" hangingPunct="1">
              <a:spcBef>
                <a:spcPts val="600"/>
              </a:spcBef>
            </a:pPr>
            <a:endParaRPr lang="en-US" sz="2400" dirty="0" smtClean="0">
              <a:latin typeface="Arial" charset="0"/>
              <a:cs typeface="Arial" charset="0"/>
            </a:endParaRPr>
          </a:p>
        </p:txBody>
      </p:sp>
      <p:sp>
        <p:nvSpPr>
          <p:cNvPr id="51204" name="Content Placeholder 2"/>
          <p:cNvSpPr txBox="1">
            <a:spLocks/>
          </p:cNvSpPr>
          <p:nvPr/>
        </p:nvSpPr>
        <p:spPr bwMode="auto">
          <a:xfrm>
            <a:off x="4724400" y="1981200"/>
            <a:ext cx="4038600" cy="4373563"/>
          </a:xfrm>
          <a:prstGeom prst="rect">
            <a:avLst/>
          </a:prstGeom>
          <a:noFill/>
          <a:ln w="9525">
            <a:noFill/>
            <a:miter lim="800000"/>
            <a:headEnd/>
            <a:tailEnd/>
          </a:ln>
        </p:spPr>
        <p:txBody>
          <a:bodyPr/>
          <a:lstStyle/>
          <a:p>
            <a:pPr marL="342900" indent="-342900">
              <a:spcBef>
                <a:spcPts val="600"/>
              </a:spcBef>
              <a:spcAft>
                <a:spcPts val="600"/>
              </a:spcAft>
              <a:buFont typeface="Wingdings" pitchFamily="2" charset="2"/>
              <a:buChar char="§"/>
            </a:pPr>
            <a:r>
              <a:rPr lang="en-US" sz="2400" dirty="0"/>
              <a:t>Waste Management</a:t>
            </a:r>
          </a:p>
          <a:p>
            <a:pPr marL="342900" indent="-342900">
              <a:spcBef>
                <a:spcPts val="600"/>
              </a:spcBef>
              <a:spcAft>
                <a:spcPts val="600"/>
              </a:spcAft>
              <a:buFont typeface="Wingdings" pitchFamily="2" charset="2"/>
              <a:buChar char="§"/>
            </a:pPr>
            <a:r>
              <a:rPr lang="en-US" sz="2400" dirty="0"/>
              <a:t>Procurement</a:t>
            </a:r>
          </a:p>
          <a:p>
            <a:pPr marL="342900" indent="-342900">
              <a:spcBef>
                <a:spcPts val="600"/>
              </a:spcBef>
              <a:spcAft>
                <a:spcPts val="600"/>
              </a:spcAft>
              <a:buFont typeface="Wingdings" pitchFamily="2" charset="2"/>
              <a:buChar char="§"/>
            </a:pPr>
            <a:r>
              <a:rPr lang="en-US" sz="2400" dirty="0"/>
              <a:t>Safeguards and Security (as needed)</a:t>
            </a:r>
          </a:p>
          <a:p>
            <a:pPr marL="342900" indent="-342900">
              <a:spcBef>
                <a:spcPts val="600"/>
              </a:spcBef>
              <a:spcAft>
                <a:spcPts val="600"/>
              </a:spcAft>
              <a:buFont typeface="Wingdings" pitchFamily="2" charset="2"/>
              <a:buChar char="§"/>
            </a:pPr>
            <a:r>
              <a:rPr lang="en-US" sz="2400" dirty="0"/>
              <a:t>Quality Assurance</a:t>
            </a:r>
          </a:p>
          <a:p>
            <a:pPr marL="342900" indent="-342900">
              <a:spcBef>
                <a:spcPts val="600"/>
              </a:spcBef>
              <a:spcAft>
                <a:spcPts val="600"/>
              </a:spcAft>
              <a:buFont typeface="Wingdings" pitchFamily="2" charset="2"/>
              <a:buChar char="§"/>
            </a:pPr>
            <a:r>
              <a:rPr lang="en-US" sz="2400" dirty="0"/>
              <a:t>Computing, Communications and Networking</a:t>
            </a:r>
          </a:p>
          <a:p>
            <a:pPr marL="342900" indent="-342900">
              <a:spcBef>
                <a:spcPts val="600"/>
              </a:spcBef>
              <a:spcAft>
                <a:spcPts val="600"/>
              </a:spcAft>
              <a:buFont typeface="Wingdings" pitchFamily="2" charset="2"/>
              <a:buChar char="§"/>
            </a:pPr>
            <a:r>
              <a:rPr lang="en-US" sz="2400" dirty="0"/>
              <a:t>DOE Representative</a:t>
            </a:r>
          </a:p>
        </p:txBody>
      </p:sp>
      <p:sp>
        <p:nvSpPr>
          <p:cNvPr id="6" name="Slide Number Placeholder 5"/>
          <p:cNvSpPr>
            <a:spLocks noGrp="1"/>
          </p:cNvSpPr>
          <p:nvPr>
            <p:ph type="sldNum" sz="quarter" idx="10"/>
          </p:nvPr>
        </p:nvSpPr>
        <p:spPr/>
        <p:txBody>
          <a:bodyPr/>
          <a:lstStyle/>
          <a:p>
            <a:pPr>
              <a:defRPr/>
            </a:pPr>
            <a:fld id="{4DB40433-B598-4798-B5D0-3AFB52EAA158}"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Contractor IPT Key Points</a:t>
            </a:r>
            <a:br>
              <a:rPr lang="en-US" sz="3200" cap="small" dirty="0" smtClean="0"/>
            </a:br>
            <a:r>
              <a:rPr lang="en-US" sz="3200" cap="small" dirty="0" smtClean="0"/>
              <a:t> </a:t>
            </a:r>
            <a:r>
              <a:rPr lang="en-US" sz="2000" cap="small" dirty="0" smtClean="0"/>
              <a:t>(Slide 1 of 2)</a:t>
            </a:r>
            <a:endParaRPr lang="en-US" sz="3200" cap="small" dirty="0" smtClean="0"/>
          </a:p>
        </p:txBody>
      </p:sp>
      <p:sp>
        <p:nvSpPr>
          <p:cNvPr id="52227"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Parallel management functions as the Federal IPT, but from the contractor’s perspective</a:t>
            </a:r>
          </a:p>
          <a:p>
            <a:pPr eaLnBrk="1" hangingPunct="1">
              <a:spcBef>
                <a:spcPts val="1200"/>
              </a:spcBef>
              <a:spcAft>
                <a:spcPts val="600"/>
              </a:spcAft>
            </a:pPr>
            <a:r>
              <a:rPr lang="en-US" sz="2400" smtClean="0">
                <a:latin typeface="Arial" charset="0"/>
                <a:cs typeface="Arial" charset="0"/>
              </a:rPr>
              <a:t>Safety Design Integration Team (SDIT) directly supports the CIPT, and through it, the Federal IPT</a:t>
            </a:r>
          </a:p>
          <a:p>
            <a:pPr eaLnBrk="1" hangingPunct="1">
              <a:spcBef>
                <a:spcPts val="1200"/>
              </a:spcBef>
              <a:spcAft>
                <a:spcPts val="600"/>
              </a:spcAft>
            </a:pPr>
            <a:endParaRPr lang="en-US" sz="2400" smtClean="0">
              <a:latin typeface="Arial" charset="0"/>
              <a:cs typeface="Arial" charset="0"/>
            </a:endParaRPr>
          </a:p>
          <a:p>
            <a:pPr eaLnBrk="1" hangingPunct="1">
              <a:spcBef>
                <a:spcPts val="1200"/>
              </a:spcBef>
              <a:spcAft>
                <a:spcPts val="600"/>
              </a:spcAft>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1F5A569-0DD3-4ACC-AA4B-AD5BA2A8ECCA}"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p:cNvSpPr>
            <a:spLocks noGrp="1"/>
          </p:cNvSpPr>
          <p:nvPr>
            <p:ph type="title"/>
          </p:nvPr>
        </p:nvSpPr>
        <p:spPr/>
        <p:txBody>
          <a:bodyPr/>
          <a:lstStyle/>
          <a:p>
            <a:pPr eaLnBrk="1" hangingPunct="1">
              <a:defRPr/>
            </a:pPr>
            <a:r>
              <a:rPr lang="en-US" sz="3200" cap="small" dirty="0" smtClean="0"/>
              <a:t>Contractor IPT Key Points</a:t>
            </a:r>
            <a:br>
              <a:rPr lang="en-US" sz="3200" cap="small" dirty="0" smtClean="0"/>
            </a:br>
            <a:r>
              <a:rPr lang="en-US" sz="1800" cap="small" dirty="0" smtClean="0"/>
              <a:t> (Slide 2 of 2)</a:t>
            </a:r>
            <a:endParaRPr lang="en-US" sz="3200" cap="small" dirty="0" smtClean="0"/>
          </a:p>
        </p:txBody>
      </p:sp>
      <p:sp>
        <p:nvSpPr>
          <p:cNvPr id="53251" name="Content Placeholder 2"/>
          <p:cNvSpPr>
            <a:spLocks noGrp="1"/>
          </p:cNvSpPr>
          <p:nvPr>
            <p:ph idx="1"/>
          </p:nvPr>
        </p:nvSpPr>
        <p:spPr>
          <a:xfrm>
            <a:off x="533400" y="1981200"/>
            <a:ext cx="8234363" cy="4033838"/>
          </a:xfrm>
        </p:spPr>
        <p:txBody>
          <a:bodyPr/>
          <a:lstStyle/>
          <a:p>
            <a:pPr eaLnBrk="1" hangingPunct="1">
              <a:spcBef>
                <a:spcPts val="1200"/>
              </a:spcBef>
              <a:spcAft>
                <a:spcPts val="600"/>
              </a:spcAft>
              <a:buFont typeface="Arial" charset="0"/>
              <a:buNone/>
            </a:pPr>
            <a:r>
              <a:rPr lang="en-US" smtClean="0">
                <a:latin typeface="Arial" charset="0"/>
                <a:cs typeface="Arial" charset="0"/>
              </a:rPr>
              <a:t> Lesson Learned: </a:t>
            </a:r>
          </a:p>
          <a:p>
            <a:pPr lvl="1" eaLnBrk="1" hangingPunct="1">
              <a:spcBef>
                <a:spcPts val="1200"/>
              </a:spcBef>
              <a:spcAft>
                <a:spcPts val="600"/>
              </a:spcAft>
            </a:pPr>
            <a:r>
              <a:rPr lang="en-US" smtClean="0">
                <a:solidFill>
                  <a:srgbClr val="C00000"/>
                </a:solidFill>
                <a:latin typeface="Arial" charset="0"/>
                <a:cs typeface="Arial" charset="0"/>
              </a:rPr>
              <a:t>Biggest challenge for the CIPT/SDIT is to assure active and effective communications between engineering design activities and safety analysis activities</a:t>
            </a:r>
          </a:p>
          <a:p>
            <a:pPr lvl="1" eaLnBrk="1" hangingPunct="1">
              <a:spcBef>
                <a:spcPts val="1200"/>
              </a:spcBef>
              <a:spcAft>
                <a:spcPts val="600"/>
              </a:spcAft>
            </a:pPr>
            <a:r>
              <a:rPr lang="en-US" smtClean="0">
                <a:solidFill>
                  <a:srgbClr val="C00000"/>
                </a:solidFill>
                <a:latin typeface="Arial" charset="0"/>
                <a:cs typeface="Arial" charset="0"/>
              </a:rPr>
              <a:t>Especially true when they are not collocated</a:t>
            </a:r>
          </a:p>
          <a:p>
            <a:pPr lvl="1" eaLnBrk="1" hangingPunct="1">
              <a:spcBef>
                <a:spcPts val="1200"/>
              </a:spcBef>
              <a:spcAft>
                <a:spcPts val="600"/>
              </a:spcAft>
            </a:pPr>
            <a:r>
              <a:rPr lang="en-US" smtClean="0">
                <a:solidFill>
                  <a:srgbClr val="C00000"/>
                </a:solidFill>
                <a:latin typeface="Arial" charset="0"/>
                <a:cs typeface="Arial" charset="0"/>
              </a:rPr>
              <a:t>Failure to support the iterative interactions between safety analysis and design is equivalent to failure to implement the processes of STD-1189</a:t>
            </a:r>
          </a:p>
        </p:txBody>
      </p:sp>
      <p:sp>
        <p:nvSpPr>
          <p:cNvPr id="5" name="Slide Number Placeholder 4"/>
          <p:cNvSpPr>
            <a:spLocks noGrp="1"/>
          </p:cNvSpPr>
          <p:nvPr>
            <p:ph type="sldNum" sz="quarter" idx="10"/>
          </p:nvPr>
        </p:nvSpPr>
        <p:spPr/>
        <p:txBody>
          <a:bodyPr/>
          <a:lstStyle/>
          <a:p>
            <a:pPr>
              <a:defRPr/>
            </a:pPr>
            <a:fld id="{95E3FC2D-66D0-430A-9137-0171D2B551B9}"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What is the Safety Design </a:t>
            </a:r>
            <a:br>
              <a:rPr lang="en-US" sz="3200" cap="small" dirty="0" smtClean="0"/>
            </a:br>
            <a:r>
              <a:rPr lang="en-US" sz="3200" cap="small" dirty="0" smtClean="0"/>
              <a:t>Integration Team (SDIT)?</a:t>
            </a:r>
          </a:p>
        </p:txBody>
      </p:sp>
      <p:sp>
        <p:nvSpPr>
          <p:cNvPr id="54275" name="Rectangle 3"/>
          <p:cNvSpPr>
            <a:spLocks noGrp="1" noChangeArrowheads="1"/>
          </p:cNvSpPr>
          <p:nvPr>
            <p:ph idx="1"/>
          </p:nvPr>
        </p:nvSpPr>
        <p:spPr>
          <a:xfrm>
            <a:off x="457200" y="1905000"/>
            <a:ext cx="5791200" cy="4343400"/>
          </a:xfrm>
        </p:spPr>
        <p:txBody>
          <a:bodyPr/>
          <a:lstStyle/>
          <a:p>
            <a:pPr eaLnBrk="1" hangingPunct="1">
              <a:spcBef>
                <a:spcPts val="600"/>
              </a:spcBef>
              <a:spcAft>
                <a:spcPts val="600"/>
              </a:spcAft>
              <a:buFont typeface="Arial" charset="0"/>
              <a:buChar char="•"/>
            </a:pPr>
            <a:r>
              <a:rPr lang="en-US" sz="2000" dirty="0" smtClean="0">
                <a:latin typeface="Arial" charset="0"/>
                <a:cs typeface="Arial" charset="0"/>
              </a:rPr>
              <a:t>Provides working-level integration of safety into design for the project</a:t>
            </a:r>
          </a:p>
          <a:p>
            <a:pPr eaLnBrk="1" hangingPunct="1">
              <a:spcBef>
                <a:spcPts val="600"/>
              </a:spcBef>
              <a:spcAft>
                <a:spcPts val="600"/>
              </a:spcAft>
              <a:buFont typeface="Arial" charset="0"/>
              <a:buChar char="•"/>
            </a:pPr>
            <a:r>
              <a:rPr lang="en-US" sz="2000" dirty="0" smtClean="0">
                <a:latin typeface="Arial" charset="0"/>
                <a:cs typeface="Arial" charset="0"/>
              </a:rPr>
              <a:t>Usually composed of subset of Contractor IPT plus other specialties as needed</a:t>
            </a:r>
          </a:p>
          <a:p>
            <a:pPr eaLnBrk="1" hangingPunct="1">
              <a:spcBef>
                <a:spcPts val="600"/>
              </a:spcBef>
              <a:spcAft>
                <a:spcPts val="600"/>
              </a:spcAft>
              <a:buFont typeface="Arial" charset="0"/>
              <a:buChar char="•"/>
            </a:pPr>
            <a:r>
              <a:rPr lang="en-US" sz="2000" dirty="0" smtClean="0">
                <a:latin typeface="Arial" charset="0"/>
                <a:cs typeface="Arial" charset="0"/>
              </a:rPr>
              <a:t>Core team</a:t>
            </a:r>
          </a:p>
          <a:p>
            <a:pPr lvl="1" eaLnBrk="1" hangingPunct="1">
              <a:spcBef>
                <a:spcPts val="600"/>
              </a:spcBef>
              <a:spcAft>
                <a:spcPts val="600"/>
              </a:spcAft>
              <a:buFont typeface="Arial" charset="0"/>
              <a:buChar char="–"/>
            </a:pPr>
            <a:r>
              <a:rPr lang="en-US" sz="2000" dirty="0" smtClean="0">
                <a:solidFill>
                  <a:schemeClr val="tx1"/>
                </a:solidFill>
                <a:latin typeface="Arial" charset="0"/>
                <a:cs typeface="Arial" charset="0"/>
              </a:rPr>
              <a:t>Safety</a:t>
            </a:r>
          </a:p>
          <a:p>
            <a:pPr lvl="1" eaLnBrk="1" hangingPunct="1">
              <a:spcBef>
                <a:spcPts val="600"/>
              </a:spcBef>
              <a:spcAft>
                <a:spcPts val="600"/>
              </a:spcAft>
              <a:buFont typeface="Arial" charset="0"/>
              <a:buChar char="–"/>
            </a:pPr>
            <a:r>
              <a:rPr lang="en-US" sz="2000" dirty="0" smtClean="0">
                <a:solidFill>
                  <a:schemeClr val="tx1"/>
                </a:solidFill>
                <a:latin typeface="Arial" charset="0"/>
                <a:cs typeface="Arial" charset="0"/>
              </a:rPr>
              <a:t>Design</a:t>
            </a:r>
          </a:p>
          <a:p>
            <a:pPr lvl="1" eaLnBrk="1" hangingPunct="1">
              <a:spcBef>
                <a:spcPts val="600"/>
              </a:spcBef>
              <a:spcAft>
                <a:spcPts val="600"/>
              </a:spcAft>
              <a:buFont typeface="Arial" charset="0"/>
              <a:buChar char="–"/>
            </a:pPr>
            <a:r>
              <a:rPr lang="en-US" sz="2000" dirty="0" smtClean="0">
                <a:solidFill>
                  <a:schemeClr val="tx1"/>
                </a:solidFill>
                <a:latin typeface="Arial" charset="0"/>
                <a:cs typeface="Arial" charset="0"/>
              </a:rPr>
              <a:t>Operations (including maintenance)</a:t>
            </a:r>
          </a:p>
          <a:p>
            <a:pPr eaLnBrk="1" hangingPunct="1">
              <a:spcBef>
                <a:spcPts val="600"/>
              </a:spcBef>
              <a:spcAft>
                <a:spcPts val="600"/>
              </a:spcAft>
              <a:buFont typeface="Arial" charset="0"/>
              <a:buChar char="•"/>
            </a:pPr>
            <a:r>
              <a:rPr lang="en-US" sz="2000" dirty="0" smtClean="0">
                <a:latin typeface="Arial" charset="0"/>
                <a:cs typeface="Arial" charset="0"/>
              </a:rPr>
              <a:t>Additional composition depends on the hazards, safety, and security issues</a:t>
            </a:r>
            <a:r>
              <a:rPr lang="en-US" sz="1800" dirty="0" smtClean="0">
                <a:latin typeface="Arial" charset="0"/>
                <a:cs typeface="Arial" charset="0"/>
              </a:rPr>
              <a:t> </a:t>
            </a:r>
          </a:p>
          <a:p>
            <a:pPr eaLnBrk="1" hangingPunct="1">
              <a:lnSpc>
                <a:spcPct val="80000"/>
              </a:lnSpc>
              <a:buFont typeface="Arial" charset="0"/>
              <a:buChar char="•"/>
            </a:pPr>
            <a:endParaRPr lang="en-US" sz="1800" dirty="0" smtClean="0">
              <a:latin typeface="Arial" charset="0"/>
              <a:cs typeface="Arial" charset="0"/>
            </a:endParaRPr>
          </a:p>
        </p:txBody>
      </p:sp>
      <p:graphicFrame>
        <p:nvGraphicFramePr>
          <p:cNvPr id="6" name="Diagram 5"/>
          <p:cNvGraphicFramePr/>
          <p:nvPr/>
        </p:nvGraphicFramePr>
        <p:xfrm>
          <a:off x="5353050" y="1377950"/>
          <a:ext cx="3581400"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Slide Number Placeholder 6"/>
          <p:cNvSpPr>
            <a:spLocks noGrp="1"/>
          </p:cNvSpPr>
          <p:nvPr>
            <p:ph type="sldNum" sz="quarter" idx="10"/>
          </p:nvPr>
        </p:nvSpPr>
        <p:spPr/>
        <p:txBody>
          <a:bodyPr/>
          <a:lstStyle/>
          <a:p>
            <a:pPr>
              <a:defRPr/>
            </a:pPr>
            <a:fld id="{182BF7DF-624B-45A1-906E-9CCA84F8EB9D}" type="slidenum">
              <a:rPr lang="en-US" smtClean="0"/>
              <a:pPr>
                <a:defRPr/>
              </a:pPr>
              <a:t>39</a:t>
            </a:fld>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6"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SDIT Objectives</a:t>
            </a:r>
          </a:p>
        </p:txBody>
      </p:sp>
      <p:sp>
        <p:nvSpPr>
          <p:cNvPr id="62467" name="Content Placeholder 2"/>
          <p:cNvSpPr>
            <a:spLocks noGrp="1"/>
          </p:cNvSpPr>
          <p:nvPr>
            <p:ph idx="1"/>
          </p:nvPr>
        </p:nvSpPr>
        <p:spPr/>
        <p:txBody>
          <a:bodyPr rtlCol="0">
            <a:normAutofit fontScale="62500" lnSpcReduction="20000"/>
          </a:bodyPr>
          <a:lstStyle/>
          <a:p>
            <a:pPr eaLnBrk="1" fontAlgn="auto" hangingPunct="1">
              <a:spcBef>
                <a:spcPts val="1200"/>
              </a:spcBef>
              <a:spcAft>
                <a:spcPts val="600"/>
              </a:spcAft>
              <a:buFont typeface="Arial" charset="0"/>
              <a:buChar char="•"/>
              <a:defRPr/>
            </a:pPr>
            <a:r>
              <a:rPr lang="en-US" sz="3400" dirty="0" smtClean="0"/>
              <a:t>Ensure integration of safety in design by adherence to the key concepts and guiding principles of DOE-STD-1189</a:t>
            </a:r>
          </a:p>
          <a:p>
            <a:pPr eaLnBrk="1" fontAlgn="auto" hangingPunct="1">
              <a:spcBef>
                <a:spcPts val="1200"/>
              </a:spcBef>
              <a:spcAft>
                <a:spcPts val="600"/>
              </a:spcAft>
              <a:buFont typeface="Arial" charset="0"/>
              <a:buChar char="•"/>
              <a:defRPr/>
            </a:pPr>
            <a:r>
              <a:rPr lang="en-US" sz="3400" dirty="0" smtClean="0"/>
              <a:t>Document the bases for all safety in design decisions</a:t>
            </a:r>
          </a:p>
          <a:p>
            <a:pPr eaLnBrk="1" fontAlgn="auto" hangingPunct="1">
              <a:spcBef>
                <a:spcPts val="1200"/>
              </a:spcBef>
              <a:spcAft>
                <a:spcPts val="600"/>
              </a:spcAft>
              <a:buFont typeface="Arial" charset="0"/>
              <a:buChar char="•"/>
              <a:defRPr/>
            </a:pPr>
            <a:r>
              <a:rPr lang="en-US" sz="3400" dirty="0" smtClean="0"/>
              <a:t>Maintain consistency of and configuration management between safety and design work</a:t>
            </a:r>
          </a:p>
          <a:p>
            <a:pPr eaLnBrk="1" fontAlgn="auto" hangingPunct="1">
              <a:spcBef>
                <a:spcPts val="1200"/>
              </a:spcBef>
              <a:spcAft>
                <a:spcPts val="600"/>
              </a:spcAft>
              <a:buFont typeface="Arial" charset="0"/>
              <a:buChar char="•"/>
              <a:defRPr/>
            </a:pPr>
            <a:r>
              <a:rPr lang="en-US" sz="3400" dirty="0" smtClean="0"/>
              <a:t>Resolve initial uncertainties and assumptions for safety in design</a:t>
            </a:r>
          </a:p>
          <a:p>
            <a:pPr eaLnBrk="1" fontAlgn="auto" hangingPunct="1">
              <a:spcBef>
                <a:spcPts val="1200"/>
              </a:spcBef>
              <a:spcAft>
                <a:spcPts val="600"/>
              </a:spcAft>
              <a:buFont typeface="Arial" charset="0"/>
              <a:buChar char="•"/>
              <a:defRPr/>
            </a:pPr>
            <a:r>
              <a:rPr lang="en-US" sz="3400" dirty="0" smtClean="0"/>
              <a:t>Achieve consensus and approvals for direction of safety in design progress</a:t>
            </a:r>
          </a:p>
          <a:p>
            <a:pPr eaLnBrk="1" fontAlgn="auto" hangingPunct="1">
              <a:spcBef>
                <a:spcPts val="1200"/>
              </a:spcBef>
              <a:spcAft>
                <a:spcPts val="600"/>
              </a:spcAft>
              <a:buFont typeface="Arial" charset="0"/>
              <a:buChar char="•"/>
              <a:defRPr/>
            </a:pPr>
            <a:endParaRPr lang="en-US" dirty="0" smtClean="0"/>
          </a:p>
        </p:txBody>
      </p:sp>
      <p:sp>
        <p:nvSpPr>
          <p:cNvPr id="5" name="Slide Number Placeholder 4"/>
          <p:cNvSpPr>
            <a:spLocks noGrp="1"/>
          </p:cNvSpPr>
          <p:nvPr>
            <p:ph type="sldNum" sz="quarter" idx="10"/>
          </p:nvPr>
        </p:nvSpPr>
        <p:spPr/>
        <p:txBody>
          <a:bodyPr/>
          <a:lstStyle/>
          <a:p>
            <a:pPr>
              <a:defRPr/>
            </a:pPr>
            <a:fld id="{6283A68B-2311-42F2-BF04-FEC23A64E384}" type="slidenum">
              <a:rPr lang="en-US" smtClean="0"/>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SDIT Functions</a:t>
            </a:r>
            <a:br>
              <a:rPr lang="en-US" sz="3200" cap="small" dirty="0" smtClean="0"/>
            </a:br>
            <a:r>
              <a:rPr lang="en-US" sz="2200" cap="small" dirty="0" smtClean="0"/>
              <a:t> (Slide 1 of 2) </a:t>
            </a:r>
            <a:endParaRPr lang="en-US" sz="2000" cap="small" dirty="0" smtClean="0"/>
          </a:p>
        </p:txBody>
      </p:sp>
      <p:sp>
        <p:nvSpPr>
          <p:cNvPr id="61443" name="Rectangle 3"/>
          <p:cNvSpPr>
            <a:spLocks noGrp="1" noChangeArrowheads="1"/>
          </p:cNvSpPr>
          <p:nvPr>
            <p:ph idx="1"/>
          </p:nvPr>
        </p:nvSpPr>
        <p:spPr/>
        <p:txBody>
          <a:bodyPr rtlCol="0">
            <a:normAutofit/>
          </a:bodyPr>
          <a:lstStyle/>
          <a:p>
            <a:pPr marL="349250" indent="-349250" eaLnBrk="1" fontAlgn="auto" hangingPunct="1">
              <a:spcAft>
                <a:spcPts val="0"/>
              </a:spcAft>
              <a:defRPr/>
            </a:pPr>
            <a:r>
              <a:rPr lang="en-US" dirty="0" smtClean="0"/>
              <a:t>Timely communications with and support to CIPT and IPT</a:t>
            </a:r>
          </a:p>
          <a:p>
            <a:pPr eaLnBrk="1" hangingPunct="1">
              <a:spcBef>
                <a:spcPts val="1200"/>
              </a:spcBef>
              <a:spcAft>
                <a:spcPts val="600"/>
              </a:spcAft>
              <a:defRPr/>
            </a:pPr>
            <a:r>
              <a:rPr lang="en-US" dirty="0" smtClean="0"/>
              <a:t>Conduct Risk and Opportunities Assessment (input to RMP)</a:t>
            </a:r>
          </a:p>
          <a:p>
            <a:pPr eaLnBrk="1" hangingPunct="1">
              <a:spcBef>
                <a:spcPts val="1200"/>
              </a:spcBef>
              <a:spcAft>
                <a:spcPts val="600"/>
              </a:spcAft>
              <a:defRPr/>
            </a:pPr>
            <a:r>
              <a:rPr lang="en-US" dirty="0" smtClean="0"/>
              <a:t>Draft safety documents (CSDR, PSDR, PDSA)</a:t>
            </a:r>
          </a:p>
          <a:p>
            <a:pPr marL="3175" indent="-3175" eaLnBrk="1" fontAlgn="auto" hangingPunct="1">
              <a:spcAft>
                <a:spcPts val="0"/>
              </a:spcAft>
              <a:buFont typeface="Arial" pitchFamily="34" charset="0"/>
              <a:buNone/>
              <a:defRPr/>
            </a:pPr>
            <a:endParaRPr lang="en-US" dirty="0" smtClean="0"/>
          </a:p>
          <a:p>
            <a:pPr lvl="1" eaLnBrk="1" fontAlgn="auto" hangingPunct="1">
              <a:spcAft>
                <a:spcPts val="0"/>
              </a:spcAft>
              <a:buFont typeface="Arial" charset="0"/>
              <a:buChar char="–"/>
              <a:defRPr/>
            </a:pPr>
            <a:endParaRPr lang="en-US" sz="2000" dirty="0" smtClean="0">
              <a:solidFill>
                <a:schemeClr val="tx1"/>
              </a:solidFill>
            </a:endParaRPr>
          </a:p>
        </p:txBody>
      </p:sp>
      <p:sp>
        <p:nvSpPr>
          <p:cNvPr id="5" name="Slide Number Placeholder 4"/>
          <p:cNvSpPr>
            <a:spLocks noGrp="1"/>
          </p:cNvSpPr>
          <p:nvPr>
            <p:ph type="sldNum" sz="quarter" idx="10"/>
          </p:nvPr>
        </p:nvSpPr>
        <p:spPr/>
        <p:txBody>
          <a:bodyPr/>
          <a:lstStyle/>
          <a:p>
            <a:pPr>
              <a:defRPr/>
            </a:pPr>
            <a:fld id="{0A7F7E41-326F-4C06-8173-EDE4B3323140}" type="slidenum">
              <a:rPr lang="en-US" smtClean="0"/>
              <a:pPr>
                <a:defRPr/>
              </a:pPr>
              <a:t>41</a:t>
            </a:fld>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pPr eaLnBrk="1" hangingPunct="1">
              <a:defRPr/>
            </a:pPr>
            <a:r>
              <a:rPr lang="en-US" sz="3200" dirty="0" smtClean="0">
                <a:latin typeface="Arial" charset="0"/>
                <a:cs typeface="Arial" charset="0"/>
              </a:rPr>
              <a:t>SDIT Functions</a:t>
            </a:r>
            <a:br>
              <a:rPr lang="en-US" sz="3200" dirty="0" smtClean="0">
                <a:latin typeface="Arial" charset="0"/>
                <a:cs typeface="Arial" charset="0"/>
              </a:rPr>
            </a:br>
            <a:r>
              <a:rPr lang="en-US" sz="1800" cap="small" dirty="0" smtClean="0"/>
              <a:t> (Slide 2 of 2)</a:t>
            </a:r>
            <a:endParaRPr lang="en-US" sz="3200" dirty="0" smtClean="0">
              <a:latin typeface="Arial" charset="0"/>
              <a:cs typeface="Arial" charset="0"/>
            </a:endParaRPr>
          </a:p>
        </p:txBody>
      </p:sp>
      <p:sp>
        <p:nvSpPr>
          <p:cNvPr id="57347" name="Content Placeholder 2"/>
          <p:cNvSpPr>
            <a:spLocks noGrp="1"/>
          </p:cNvSpPr>
          <p:nvPr>
            <p:ph idx="1"/>
          </p:nvPr>
        </p:nvSpPr>
        <p:spPr>
          <a:xfrm>
            <a:off x="533400" y="2057400"/>
            <a:ext cx="8234363" cy="4191000"/>
          </a:xfrm>
        </p:spPr>
        <p:txBody>
          <a:bodyPr/>
          <a:lstStyle/>
          <a:p>
            <a:pPr eaLnBrk="1" hangingPunct="1">
              <a:spcBef>
                <a:spcPts val="1200"/>
              </a:spcBef>
              <a:spcAft>
                <a:spcPts val="600"/>
              </a:spcAft>
            </a:pPr>
            <a:r>
              <a:rPr lang="en-US" smtClean="0">
                <a:latin typeface="Arial" charset="0"/>
                <a:cs typeface="Arial" charset="0"/>
              </a:rPr>
              <a:t>Ensure the iterative safety/engineering design process is effective and that the identified safety functions:</a:t>
            </a:r>
          </a:p>
          <a:p>
            <a:pPr lvl="1" eaLnBrk="1" hangingPunct="1">
              <a:spcBef>
                <a:spcPts val="1200"/>
              </a:spcBef>
              <a:spcAft>
                <a:spcPts val="600"/>
              </a:spcAft>
            </a:pPr>
            <a:r>
              <a:rPr lang="en-US" smtClean="0">
                <a:solidFill>
                  <a:srgbClr val="002060"/>
                </a:solidFill>
                <a:latin typeface="Arial" charset="0"/>
                <a:cs typeface="Arial" charset="0"/>
              </a:rPr>
              <a:t>Lead to selection of controls that are adequate to serve the safety functions and are consistent with operational needs</a:t>
            </a:r>
          </a:p>
          <a:p>
            <a:pPr lvl="1" eaLnBrk="1" hangingPunct="1">
              <a:spcBef>
                <a:spcPts val="1200"/>
              </a:spcBef>
              <a:spcAft>
                <a:spcPts val="600"/>
              </a:spcAft>
            </a:pPr>
            <a:r>
              <a:rPr lang="en-US" smtClean="0">
                <a:solidFill>
                  <a:srgbClr val="002060"/>
                </a:solidFill>
                <a:latin typeface="Arial" charset="0"/>
                <a:cs typeface="Arial" charset="0"/>
              </a:rPr>
              <a:t>Are classified appropriately</a:t>
            </a:r>
          </a:p>
          <a:p>
            <a:pPr lvl="1" eaLnBrk="1" hangingPunct="1">
              <a:spcBef>
                <a:spcPts val="1200"/>
              </a:spcBef>
              <a:spcAft>
                <a:spcPts val="600"/>
              </a:spcAft>
            </a:pPr>
            <a:r>
              <a:rPr lang="en-US" smtClean="0">
                <a:solidFill>
                  <a:srgbClr val="002060"/>
                </a:solidFill>
                <a:latin typeface="Arial" charset="0"/>
                <a:cs typeface="Arial" charset="0"/>
              </a:rPr>
              <a:t>Are accommodated in project cost and schedule estimates</a:t>
            </a:r>
          </a:p>
          <a:p>
            <a:pPr eaLnBrk="1" hangingPunct="1">
              <a:buFont typeface="Wingdings" pitchFamily="2" charset="2"/>
              <a:buNone/>
            </a:pPr>
            <a:endParaRPr lang="en-US" sz="4000" smtClean="0">
              <a:latin typeface="Arial" charset="0"/>
              <a:cs typeface="Arial" charset="0"/>
            </a:endParaRPr>
          </a:p>
        </p:txBody>
      </p:sp>
      <p:sp>
        <p:nvSpPr>
          <p:cNvPr id="35" name="Slide Number Placeholder 34"/>
          <p:cNvSpPr>
            <a:spLocks noGrp="1"/>
          </p:cNvSpPr>
          <p:nvPr>
            <p:ph type="sldNum" sz="quarter" idx="10"/>
          </p:nvPr>
        </p:nvSpPr>
        <p:spPr/>
        <p:txBody>
          <a:bodyPr/>
          <a:lstStyle/>
          <a:p>
            <a:pPr>
              <a:defRPr/>
            </a:pPr>
            <a:fld id="{E6F1DF34-6FAE-4E7B-8D99-1D11131209DC}" type="slidenum">
              <a:rPr lang="en-US" smtClean="0"/>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itle 1"/>
          <p:cNvSpPr>
            <a:spLocks noGrp="1"/>
          </p:cNvSpPr>
          <p:nvPr>
            <p:ph type="title"/>
          </p:nvPr>
        </p:nvSpPr>
        <p:spPr/>
        <p:txBody>
          <a:bodyPr/>
          <a:lstStyle/>
          <a:p>
            <a:pPr eaLnBrk="1" hangingPunct="1"/>
            <a:r>
              <a:rPr lang="en-US" sz="3200" smtClean="0">
                <a:latin typeface="Arial" charset="0"/>
                <a:cs typeface="Arial" charset="0"/>
              </a:rPr>
              <a:t>SDIT Best Practices</a:t>
            </a:r>
          </a:p>
        </p:txBody>
      </p:sp>
      <p:sp>
        <p:nvSpPr>
          <p:cNvPr id="58371" name="Content Placeholder 2"/>
          <p:cNvSpPr>
            <a:spLocks noGrp="1"/>
          </p:cNvSpPr>
          <p:nvPr>
            <p:ph idx="1"/>
          </p:nvPr>
        </p:nvSpPr>
        <p:spPr>
          <a:xfrm>
            <a:off x="533400" y="1905000"/>
            <a:ext cx="8234363" cy="4343400"/>
          </a:xfrm>
        </p:spPr>
        <p:txBody>
          <a:bodyPr/>
          <a:lstStyle/>
          <a:p>
            <a:pPr eaLnBrk="1" hangingPunct="1">
              <a:spcBef>
                <a:spcPts val="1200"/>
              </a:spcBef>
              <a:spcAft>
                <a:spcPts val="600"/>
              </a:spcAft>
            </a:pPr>
            <a:r>
              <a:rPr lang="en-US" smtClean="0">
                <a:latin typeface="Arial" charset="0"/>
                <a:cs typeface="Arial" charset="0"/>
              </a:rPr>
              <a:t>SDIT should have a charter</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Define membership (core team and SMEs)</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Designate lead</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Define roles and responsibilities</a:t>
            </a:r>
          </a:p>
          <a:p>
            <a:pPr lvl="1" eaLnBrk="1" hangingPunct="1">
              <a:spcBef>
                <a:spcPts val="1200"/>
              </a:spcBef>
              <a:spcAft>
                <a:spcPts val="600"/>
              </a:spcAft>
              <a:buFont typeface="Arial" charset="0"/>
              <a:buChar char="–"/>
            </a:pPr>
            <a:r>
              <a:rPr lang="en-US" smtClean="0">
                <a:solidFill>
                  <a:schemeClr val="tx1"/>
                </a:solidFill>
                <a:latin typeface="Arial" charset="0"/>
                <a:cs typeface="Arial" charset="0"/>
              </a:rPr>
              <a:t>Specify required training for members</a:t>
            </a:r>
          </a:p>
          <a:p>
            <a:pPr eaLnBrk="1" hangingPunct="1">
              <a:spcBef>
                <a:spcPts val="1200"/>
              </a:spcBef>
              <a:spcAft>
                <a:spcPts val="600"/>
              </a:spcAft>
            </a:pPr>
            <a:r>
              <a:rPr lang="en-US" smtClean="0">
                <a:latin typeface="Arial" charset="0"/>
                <a:cs typeface="Arial" charset="0"/>
              </a:rPr>
              <a:t>SDIT should use formal processes</a:t>
            </a:r>
          </a:p>
          <a:p>
            <a:pPr eaLnBrk="1" hangingPunct="1">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F1FA3148-C57D-4E2F-A9E0-F1A8A758A9E0}"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cap="small" dirty="0" smtClean="0"/>
              <a:t>Safety Design Strategy (SDS)</a:t>
            </a:r>
            <a:br>
              <a:rPr lang="en-US" cap="small" dirty="0" smtClean="0"/>
            </a:br>
            <a:r>
              <a:rPr lang="en-US" cap="small" dirty="0" smtClean="0"/>
              <a:t> </a:t>
            </a:r>
            <a:r>
              <a:rPr lang="en-US" sz="2200" cap="small" dirty="0" smtClean="0"/>
              <a:t>(Slide 1 of 3)</a:t>
            </a:r>
            <a:endParaRPr lang="en-US" cap="small" dirty="0" smtClean="0"/>
          </a:p>
        </p:txBody>
      </p:sp>
      <p:sp>
        <p:nvSpPr>
          <p:cNvPr id="59395" name="Rectangle 3"/>
          <p:cNvSpPr>
            <a:spLocks noGrp="1" noChangeArrowheads="1"/>
          </p:cNvSpPr>
          <p:nvPr>
            <p:ph idx="1"/>
          </p:nvPr>
        </p:nvSpPr>
        <p:spPr>
          <a:xfrm>
            <a:off x="533400" y="2057400"/>
            <a:ext cx="8234363" cy="4191000"/>
          </a:xfrm>
        </p:spPr>
        <p:txBody>
          <a:bodyPr/>
          <a:lstStyle/>
          <a:p>
            <a:pPr eaLnBrk="1" hangingPunct="1">
              <a:lnSpc>
                <a:spcPct val="95000"/>
              </a:lnSpc>
              <a:buFont typeface="Wingdings" pitchFamily="2" charset="2"/>
              <a:buNone/>
            </a:pPr>
            <a:r>
              <a:rPr lang="en-US" sz="3200" smtClean="0">
                <a:latin typeface="Arial" charset="0"/>
                <a:cs typeface="Arial" charset="0"/>
              </a:rPr>
              <a:t>	</a:t>
            </a:r>
            <a:r>
              <a:rPr lang="en-US" smtClean="0">
                <a:latin typeface="Arial" charset="0"/>
                <a:cs typeface="Arial" charset="0"/>
              </a:rPr>
              <a:t>“…must be developed for all projects subject to this Standard.” (¶ 2.3)</a:t>
            </a:r>
          </a:p>
          <a:p>
            <a:pPr marL="857250" lvl="1" indent="-457200" eaLnBrk="1" hangingPunct="1">
              <a:lnSpc>
                <a:spcPct val="95000"/>
              </a:lnSpc>
              <a:spcBef>
                <a:spcPts val="1200"/>
              </a:spcBef>
              <a:spcAft>
                <a:spcPts val="600"/>
              </a:spcAft>
              <a:buFontTx/>
              <a:buChar char="•"/>
            </a:pPr>
            <a:r>
              <a:rPr lang="en-US" smtClean="0">
                <a:solidFill>
                  <a:schemeClr val="tx1"/>
                </a:solidFill>
                <a:latin typeface="Arial" charset="0"/>
                <a:cs typeface="Arial" charset="0"/>
              </a:rPr>
              <a:t>Developed from CD-0 definition of DOE expectations for execution of safety during design</a:t>
            </a:r>
          </a:p>
          <a:p>
            <a:pPr marL="857250" lvl="1" indent="-457200" eaLnBrk="1" hangingPunct="1">
              <a:lnSpc>
                <a:spcPct val="95000"/>
              </a:lnSpc>
              <a:spcBef>
                <a:spcPts val="1200"/>
              </a:spcBef>
              <a:spcAft>
                <a:spcPts val="600"/>
              </a:spcAft>
              <a:buFontTx/>
              <a:buChar char="•"/>
            </a:pPr>
            <a:r>
              <a:rPr lang="en-US" smtClean="0">
                <a:solidFill>
                  <a:schemeClr val="tx1"/>
                </a:solidFill>
                <a:latin typeface="Arial" charset="0"/>
                <a:cs typeface="Arial" charset="0"/>
              </a:rPr>
              <a:t>Prepared by SDIT; reviewed by DOE Safety Basis Review Team (SBRT); approved by Federal Project Director and Safety Basis Approval Authority (SBAA)</a:t>
            </a:r>
          </a:p>
          <a:p>
            <a:pPr eaLnBrk="1" hangingPunct="1">
              <a:lnSpc>
                <a:spcPct val="95000"/>
              </a:lnSpc>
              <a:buFont typeface="Wingdings" pitchFamily="2" charset="2"/>
              <a:buNone/>
            </a:pPr>
            <a:r>
              <a:rPr lang="en-US" sz="3200" smtClean="0">
                <a:latin typeface="Arial" charset="0"/>
                <a:cs typeface="Arial" charset="0"/>
              </a:rPr>
              <a:t>	</a:t>
            </a:r>
            <a:endParaRPr lang="en-US" sz="16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54FC26E4-33B6-478D-89F6-CD1EBE687013}" type="slidenum">
              <a:rPr lang="en-US" smtClean="0"/>
              <a:pPr>
                <a:defRPr/>
              </a:pPr>
              <a:t>44</a:t>
            </a:fld>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spcBef>
                <a:spcPts val="600"/>
              </a:spcBef>
              <a:spcAft>
                <a:spcPts val="600"/>
              </a:spcAft>
              <a:defRPr/>
            </a:pPr>
            <a:r>
              <a:rPr lang="en-US" sz="3200" cap="small" dirty="0" smtClean="0"/>
              <a:t>Safety Design Strategy (SDS)</a:t>
            </a:r>
            <a:br>
              <a:rPr lang="en-US" sz="3200" cap="small" dirty="0" smtClean="0"/>
            </a:br>
            <a:r>
              <a:rPr lang="en-US" sz="1800" cap="small" dirty="0" smtClean="0"/>
              <a:t> (Slide 2 of 3)</a:t>
            </a:r>
            <a:endParaRPr lang="en-US" sz="3200" dirty="0"/>
          </a:p>
        </p:txBody>
      </p:sp>
      <p:sp>
        <p:nvSpPr>
          <p:cNvPr id="60419" name="Content Placeholder 2"/>
          <p:cNvSpPr>
            <a:spLocks noGrp="1"/>
          </p:cNvSpPr>
          <p:nvPr>
            <p:ph idx="1"/>
          </p:nvPr>
        </p:nvSpPr>
        <p:spPr/>
        <p:txBody>
          <a:bodyPr/>
          <a:lstStyle/>
          <a:p>
            <a:pPr marL="857250" lvl="1" indent="-457200" eaLnBrk="1" hangingPunct="1">
              <a:lnSpc>
                <a:spcPct val="95000"/>
              </a:lnSpc>
              <a:spcBef>
                <a:spcPts val="1200"/>
              </a:spcBef>
              <a:spcAft>
                <a:spcPts val="600"/>
              </a:spcAft>
              <a:buFontTx/>
              <a:buChar char="•"/>
            </a:pPr>
            <a:r>
              <a:rPr lang="en-US" dirty="0" smtClean="0">
                <a:solidFill>
                  <a:schemeClr val="tx1"/>
                </a:solidFill>
                <a:latin typeface="Arial" charset="0"/>
                <a:cs typeface="Arial" charset="0"/>
              </a:rPr>
              <a:t>Is a living document, updated throughout the project stages as needed</a:t>
            </a:r>
          </a:p>
          <a:p>
            <a:pPr marL="857250" lvl="1" indent="-457200" eaLnBrk="1" hangingPunct="1">
              <a:lnSpc>
                <a:spcPct val="95000"/>
              </a:lnSpc>
              <a:spcBef>
                <a:spcPts val="1200"/>
              </a:spcBef>
              <a:spcAft>
                <a:spcPts val="600"/>
              </a:spcAft>
              <a:buFontTx/>
              <a:buChar char="•"/>
            </a:pPr>
            <a:r>
              <a:rPr lang="en-US" dirty="0" smtClean="0">
                <a:solidFill>
                  <a:schemeClr val="tx1"/>
                </a:solidFill>
                <a:latin typeface="Arial" charset="0"/>
                <a:cs typeface="Arial" charset="0"/>
              </a:rPr>
              <a:t>Provides the mechanism by which all elements of the project and approval authorities can agree on basic safety in design approaches</a:t>
            </a:r>
          </a:p>
          <a:p>
            <a:pPr marL="857250" lvl="1" indent="-457200" eaLnBrk="1" hangingPunct="1">
              <a:lnSpc>
                <a:spcPct val="95000"/>
              </a:lnSpc>
              <a:spcBef>
                <a:spcPts val="1200"/>
              </a:spcBef>
              <a:spcAft>
                <a:spcPts val="600"/>
              </a:spcAft>
              <a:buFontTx/>
              <a:buChar char="•"/>
            </a:pPr>
            <a:r>
              <a:rPr lang="en-US" dirty="0" smtClean="0">
                <a:solidFill>
                  <a:srgbClr val="002060"/>
                </a:solidFill>
                <a:latin typeface="Arial" charset="0"/>
                <a:cs typeface="Arial" charset="0"/>
              </a:rPr>
              <a:t>Single source for project safety policies, philosophies, major safety requirements, and safety goals to maintain alignment of safety with the design basis during project evolution</a:t>
            </a:r>
          </a:p>
          <a:p>
            <a:endParaRPr lang="en-US" sz="3200" dirty="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3AF81014-E308-4417-8081-29094030A107}" type="slidenum">
              <a:rPr lang="en-US" smtClean="0"/>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Safety Design Strategy</a:t>
            </a:r>
            <a:br>
              <a:rPr lang="en-US" sz="3200" cap="small" dirty="0" smtClean="0"/>
            </a:br>
            <a:r>
              <a:rPr lang="en-US" sz="3200" cap="small" dirty="0" smtClean="0"/>
              <a:t> </a:t>
            </a:r>
            <a:r>
              <a:rPr lang="en-US" sz="1800" cap="small" dirty="0" smtClean="0"/>
              <a:t>(Slide 3 of 3)</a:t>
            </a:r>
          </a:p>
        </p:txBody>
      </p:sp>
      <p:sp>
        <p:nvSpPr>
          <p:cNvPr id="61443" name="Rectangle 3"/>
          <p:cNvSpPr>
            <a:spLocks noGrp="1" noChangeArrowheads="1"/>
          </p:cNvSpPr>
          <p:nvPr>
            <p:ph idx="1"/>
          </p:nvPr>
        </p:nvSpPr>
        <p:spPr>
          <a:xfrm>
            <a:off x="533400" y="1981200"/>
            <a:ext cx="8234363" cy="4267200"/>
          </a:xfrm>
        </p:spPr>
        <p:txBody>
          <a:bodyPr/>
          <a:lstStyle/>
          <a:p>
            <a:pPr marL="609600" indent="-609600" eaLnBrk="1" hangingPunct="1">
              <a:spcBef>
                <a:spcPts val="600"/>
              </a:spcBef>
              <a:spcAft>
                <a:spcPts val="600"/>
              </a:spcAft>
              <a:buNone/>
            </a:pPr>
            <a:r>
              <a:rPr lang="en-US" sz="2400" dirty="0" smtClean="0">
                <a:latin typeface="Arial" charset="0"/>
                <a:cs typeface="Arial" charset="0"/>
              </a:rPr>
              <a:t>	Addresses:</a:t>
            </a:r>
          </a:p>
          <a:p>
            <a:pPr marL="1009650" lvl="1" indent="-374650" eaLnBrk="1" hangingPunct="1">
              <a:spcBef>
                <a:spcPts val="600"/>
              </a:spcBef>
              <a:spcAft>
                <a:spcPts val="600"/>
              </a:spcAft>
              <a:buFont typeface="Arial" charset="0"/>
              <a:buChar char="–"/>
            </a:pPr>
            <a:r>
              <a:rPr lang="en-US" sz="2000" dirty="0" smtClean="0">
                <a:solidFill>
                  <a:schemeClr val="tx1"/>
                </a:solidFill>
                <a:latin typeface="Arial" charset="0"/>
                <a:cs typeface="Arial" charset="0"/>
              </a:rPr>
              <a:t>Guiding philosophies or assumptions to be used to develop the design</a:t>
            </a:r>
          </a:p>
          <a:p>
            <a:pPr marL="1009650" lvl="1" indent="-374650" eaLnBrk="1" hangingPunct="1">
              <a:lnSpc>
                <a:spcPct val="90000"/>
              </a:lnSpc>
              <a:spcBef>
                <a:spcPts val="1200"/>
              </a:spcBef>
              <a:buFont typeface="Arial" charset="0"/>
              <a:buChar char="–"/>
            </a:pPr>
            <a:r>
              <a:rPr lang="en-US" sz="2000" dirty="0" smtClean="0">
                <a:solidFill>
                  <a:schemeClr val="tx1"/>
                </a:solidFill>
                <a:latin typeface="Arial" charset="0"/>
                <a:cs typeface="Arial" charset="0"/>
              </a:rPr>
              <a:t>Safety-in-design and safety goal considerations for the project</a:t>
            </a:r>
          </a:p>
          <a:p>
            <a:pPr marL="1009650" lvl="1" indent="-374650" eaLnBrk="1" hangingPunct="1">
              <a:lnSpc>
                <a:spcPct val="90000"/>
              </a:lnSpc>
              <a:spcBef>
                <a:spcPts val="1200"/>
              </a:spcBef>
              <a:buFont typeface="Arial" charset="0"/>
              <a:buChar char="–"/>
            </a:pPr>
            <a:r>
              <a:rPr lang="en-US" sz="2000" dirty="0" smtClean="0">
                <a:solidFill>
                  <a:schemeClr val="tx1"/>
                </a:solidFill>
                <a:latin typeface="Arial" charset="0"/>
                <a:cs typeface="Arial" charset="0"/>
              </a:rPr>
              <a:t>Approach to developing the overall safety design basis for the project</a:t>
            </a:r>
          </a:p>
          <a:p>
            <a:pPr marL="1009650" lvl="1" indent="-374650" eaLnBrk="1" hangingPunct="1">
              <a:lnSpc>
                <a:spcPct val="90000"/>
              </a:lnSpc>
              <a:spcBef>
                <a:spcPts val="1200"/>
              </a:spcBef>
              <a:buFont typeface="Arial" charset="0"/>
              <a:buChar char="–"/>
            </a:pPr>
            <a:r>
              <a:rPr lang="en-US" sz="2000" dirty="0" smtClean="0">
                <a:solidFill>
                  <a:schemeClr val="tx1"/>
                </a:solidFill>
                <a:latin typeface="Arial" charset="0"/>
                <a:cs typeface="Arial" charset="0"/>
              </a:rPr>
              <a:t>Significant discipline interfaces affecting safety</a:t>
            </a:r>
          </a:p>
        </p:txBody>
      </p:sp>
      <p:sp>
        <p:nvSpPr>
          <p:cNvPr id="5" name="Slide Number Placeholder 4"/>
          <p:cNvSpPr>
            <a:spLocks noGrp="1"/>
          </p:cNvSpPr>
          <p:nvPr>
            <p:ph type="sldNum" sz="quarter" idx="10"/>
          </p:nvPr>
        </p:nvSpPr>
        <p:spPr/>
        <p:txBody>
          <a:bodyPr/>
          <a:lstStyle/>
          <a:p>
            <a:pPr>
              <a:defRPr/>
            </a:pPr>
            <a:fld id="{BD80BA4C-550E-4A0E-A0D1-C544A8B9EBAE}" type="slidenum">
              <a:rPr lang="en-US" smtClean="0"/>
              <a:pPr>
                <a:defRPr/>
              </a:pPr>
              <a:t>46</a:t>
            </a:fld>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SDS Updates</a:t>
            </a:r>
          </a:p>
        </p:txBody>
      </p:sp>
      <p:sp>
        <p:nvSpPr>
          <p:cNvPr id="63491"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Focus is on those major safety decisions that influence project cost (e.g., seismic design criteria, confinement ventilation, safety functional classification, and strategy)</a:t>
            </a:r>
          </a:p>
          <a:p>
            <a:pPr eaLnBrk="1" hangingPunct="1">
              <a:spcBef>
                <a:spcPts val="1200"/>
              </a:spcBef>
              <a:spcAft>
                <a:spcPts val="600"/>
              </a:spcAft>
            </a:pPr>
            <a:r>
              <a:rPr lang="en-US" sz="2400" smtClean="0">
                <a:latin typeface="Arial" charset="0"/>
                <a:cs typeface="Arial" charset="0"/>
              </a:rPr>
              <a:t>Provide a means by which all parties are kept informed of and agree with important changes due to safety in design evolution between Critical Decision points</a:t>
            </a:r>
          </a:p>
        </p:txBody>
      </p:sp>
      <p:sp>
        <p:nvSpPr>
          <p:cNvPr id="5" name="Slide Number Placeholder 4"/>
          <p:cNvSpPr>
            <a:spLocks noGrp="1"/>
          </p:cNvSpPr>
          <p:nvPr>
            <p:ph type="sldNum" sz="quarter" idx="10"/>
          </p:nvPr>
        </p:nvSpPr>
        <p:spPr/>
        <p:txBody>
          <a:bodyPr/>
          <a:lstStyle/>
          <a:p>
            <a:pPr>
              <a:defRPr/>
            </a:pPr>
            <a:fld id="{73FA3120-34C2-4481-B59A-3F9FBA498227}" type="slidenum">
              <a:rPr lang="en-US" smtClean="0"/>
              <a:pPr>
                <a:defRPr/>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SDS Format</a:t>
            </a:r>
            <a:br>
              <a:rPr lang="en-US" sz="3200" cap="small" dirty="0" smtClean="0"/>
            </a:br>
            <a:r>
              <a:rPr lang="en-US" sz="2000" cap="small" dirty="0" smtClean="0"/>
              <a:t>(see Appendix E)</a:t>
            </a:r>
          </a:p>
        </p:txBody>
      </p:sp>
      <p:sp>
        <p:nvSpPr>
          <p:cNvPr id="64515" name="Rectangle 3"/>
          <p:cNvSpPr>
            <a:spLocks noGrp="1" noChangeArrowheads="1"/>
          </p:cNvSpPr>
          <p:nvPr>
            <p:ph idx="1"/>
          </p:nvPr>
        </p:nvSpPr>
        <p:spPr>
          <a:xfrm>
            <a:off x="533400" y="1752600"/>
            <a:ext cx="8234363" cy="4191000"/>
          </a:xfrm>
        </p:spPr>
        <p:txBody>
          <a:bodyPr/>
          <a:lstStyle/>
          <a:p>
            <a:pPr marL="228600" indent="-228600" eaLnBrk="1" hangingPunct="1">
              <a:lnSpc>
                <a:spcPct val="80000"/>
              </a:lnSpc>
              <a:spcBef>
                <a:spcPts val="1200"/>
              </a:spcBef>
              <a:spcAft>
                <a:spcPts val="600"/>
              </a:spcAft>
              <a:buFont typeface="Arial" charset="0"/>
              <a:buNone/>
            </a:pPr>
            <a:endParaRPr lang="en-US" sz="900" smtClean="0">
              <a:latin typeface="Arial" charset="0"/>
              <a:cs typeface="Arial" charset="0"/>
            </a:endParaRPr>
          </a:p>
          <a:p>
            <a:pPr marL="685800" lvl="1" indent="-228600" eaLnBrk="1" hangingPunct="1">
              <a:spcBef>
                <a:spcPct val="0"/>
              </a:spcBef>
              <a:spcAft>
                <a:spcPts val="600"/>
              </a:spcAft>
              <a:buFont typeface="Arial" charset="0"/>
              <a:buAutoNum type="arabicPeriod"/>
            </a:pPr>
            <a:r>
              <a:rPr lang="en-US" sz="2000" smtClean="0">
                <a:solidFill>
                  <a:schemeClr val="tx1"/>
                </a:solidFill>
                <a:latin typeface="Arial" charset="0"/>
                <a:cs typeface="Arial" charset="0"/>
              </a:rPr>
              <a:t>	Purpose</a:t>
            </a:r>
          </a:p>
          <a:p>
            <a:pPr marL="685800" lvl="1" indent="-228600" eaLnBrk="1" hangingPunct="1">
              <a:lnSpc>
                <a:spcPct val="80000"/>
              </a:lnSpc>
              <a:spcBef>
                <a:spcPts val="1200"/>
              </a:spcBef>
              <a:spcAft>
                <a:spcPts val="600"/>
              </a:spcAft>
              <a:buFont typeface="Arial" charset="0"/>
              <a:buAutoNum type="arabicPeriod"/>
            </a:pPr>
            <a:r>
              <a:rPr lang="en-US" sz="2000" smtClean="0">
                <a:solidFill>
                  <a:schemeClr val="tx1"/>
                </a:solidFill>
                <a:latin typeface="Arial" charset="0"/>
                <a:cs typeface="Arial" charset="0"/>
              </a:rPr>
              <a:t>	Description of the Project</a:t>
            </a:r>
          </a:p>
          <a:p>
            <a:pPr marL="685800" lvl="1" indent="-228600" eaLnBrk="1" hangingPunct="1">
              <a:lnSpc>
                <a:spcPct val="80000"/>
              </a:lnSpc>
              <a:spcBef>
                <a:spcPts val="1200"/>
              </a:spcBef>
              <a:spcAft>
                <a:spcPts val="600"/>
              </a:spcAft>
              <a:buFont typeface="Arial" charset="0"/>
              <a:buAutoNum type="arabicPeriod"/>
            </a:pPr>
            <a:r>
              <a:rPr lang="en-US" sz="2000" smtClean="0">
                <a:solidFill>
                  <a:schemeClr val="tx1"/>
                </a:solidFill>
                <a:latin typeface="Arial" charset="0"/>
                <a:cs typeface="Arial" charset="0"/>
              </a:rPr>
              <a:t>	Safety Strategy</a:t>
            </a:r>
          </a:p>
          <a:p>
            <a:pPr marL="1600200" lvl="2" indent="-685800" eaLnBrk="1" hangingPunct="1">
              <a:lnSpc>
                <a:spcPct val="80000"/>
              </a:lnSpc>
              <a:spcBef>
                <a:spcPts val="1200"/>
              </a:spcBef>
              <a:spcAft>
                <a:spcPts val="600"/>
              </a:spcAft>
              <a:buFont typeface="Arial" charset="0"/>
              <a:buNone/>
            </a:pPr>
            <a:r>
              <a:rPr lang="en-US" sz="1800" smtClean="0">
                <a:solidFill>
                  <a:schemeClr val="tx1"/>
                </a:solidFill>
                <a:latin typeface="Arial" charset="0"/>
                <a:cs typeface="Arial" charset="0"/>
              </a:rPr>
              <a:t>3.1	Safety guidance and requirements</a:t>
            </a:r>
          </a:p>
          <a:p>
            <a:pPr marL="1600200" lvl="2" indent="-685800" eaLnBrk="1" hangingPunct="1">
              <a:lnSpc>
                <a:spcPct val="80000"/>
              </a:lnSpc>
              <a:spcBef>
                <a:spcPts val="1200"/>
              </a:spcBef>
              <a:spcAft>
                <a:spcPts val="600"/>
              </a:spcAft>
              <a:buFont typeface="Arial" charset="0"/>
              <a:buNone/>
            </a:pPr>
            <a:r>
              <a:rPr lang="en-US" sz="1800" smtClean="0">
                <a:solidFill>
                  <a:schemeClr val="tx1"/>
                </a:solidFill>
                <a:latin typeface="Arial" charset="0"/>
                <a:cs typeface="Arial" charset="0"/>
              </a:rPr>
              <a:t>3.2	Hazard identification</a:t>
            </a:r>
          </a:p>
          <a:p>
            <a:pPr marL="1600200" lvl="2" indent="-685800" eaLnBrk="1" hangingPunct="1">
              <a:lnSpc>
                <a:spcPct val="80000"/>
              </a:lnSpc>
              <a:spcBef>
                <a:spcPts val="1200"/>
              </a:spcBef>
              <a:spcAft>
                <a:spcPts val="600"/>
              </a:spcAft>
              <a:buFont typeface="Arial" charset="0"/>
              <a:buNone/>
            </a:pPr>
            <a:r>
              <a:rPr lang="en-US" sz="1800" smtClean="0">
                <a:solidFill>
                  <a:schemeClr val="tx1"/>
                </a:solidFill>
                <a:latin typeface="Arial" charset="0"/>
                <a:cs typeface="Arial" charset="0"/>
              </a:rPr>
              <a:t>3.3	Key safety decisions</a:t>
            </a:r>
          </a:p>
          <a:p>
            <a:pPr marL="685800" lvl="1" indent="-228600" eaLnBrk="1" hangingPunct="1">
              <a:lnSpc>
                <a:spcPct val="80000"/>
              </a:lnSpc>
              <a:spcBef>
                <a:spcPts val="1200"/>
              </a:spcBef>
              <a:spcAft>
                <a:spcPts val="600"/>
              </a:spcAft>
              <a:buFont typeface="Arial" charset="0"/>
              <a:buAutoNum type="arabicPeriod"/>
            </a:pPr>
            <a:r>
              <a:rPr lang="en-US" sz="2000" smtClean="0">
                <a:solidFill>
                  <a:schemeClr val="tx1"/>
                </a:solidFill>
                <a:latin typeface="Arial" charset="0"/>
                <a:cs typeface="Arial" charset="0"/>
              </a:rPr>
              <a:t>	Risks to Project Decisions</a:t>
            </a:r>
          </a:p>
          <a:p>
            <a:pPr marL="685800" lvl="1" indent="-228600" eaLnBrk="1" hangingPunct="1">
              <a:lnSpc>
                <a:spcPct val="80000"/>
              </a:lnSpc>
              <a:spcBef>
                <a:spcPts val="1200"/>
              </a:spcBef>
              <a:spcAft>
                <a:spcPts val="600"/>
              </a:spcAft>
              <a:buFont typeface="Arial" charset="0"/>
              <a:buAutoNum type="arabicPeriod"/>
            </a:pPr>
            <a:r>
              <a:rPr lang="en-US" sz="2000" smtClean="0">
                <a:solidFill>
                  <a:schemeClr val="tx1"/>
                </a:solidFill>
                <a:latin typeface="Arial" charset="0"/>
                <a:cs typeface="Arial" charset="0"/>
              </a:rPr>
              <a:t>	Safety analysis approach and plans</a:t>
            </a:r>
          </a:p>
          <a:p>
            <a:pPr marL="685800" lvl="1" indent="-228600" eaLnBrk="1" hangingPunct="1">
              <a:lnSpc>
                <a:spcPct val="80000"/>
              </a:lnSpc>
              <a:spcBef>
                <a:spcPts val="1200"/>
              </a:spcBef>
              <a:spcAft>
                <a:spcPts val="600"/>
              </a:spcAft>
              <a:buFont typeface="Arial" charset="0"/>
              <a:buAutoNum type="arabicPeriod"/>
            </a:pPr>
            <a:r>
              <a:rPr lang="en-US" sz="2000" smtClean="0">
                <a:solidFill>
                  <a:schemeClr val="tx1"/>
                </a:solidFill>
                <a:latin typeface="Arial" charset="0"/>
                <a:cs typeface="Arial" charset="0"/>
              </a:rPr>
              <a:t>	SDIT – Interfaces and integration</a:t>
            </a:r>
          </a:p>
          <a:p>
            <a:pPr marL="685800" lvl="1" indent="-228600" eaLnBrk="1" hangingPunct="1">
              <a:lnSpc>
                <a:spcPct val="80000"/>
              </a:lnSpc>
              <a:spcBef>
                <a:spcPts val="1200"/>
              </a:spcBef>
              <a:spcAft>
                <a:spcPts val="600"/>
              </a:spcAft>
              <a:buFont typeface="Arial" charset="0"/>
              <a:buNone/>
            </a:pPr>
            <a:endParaRPr lang="en-US" sz="2000" smtClean="0">
              <a:solidFill>
                <a:schemeClr val="tx1"/>
              </a:solidFill>
              <a:latin typeface="Arial" charset="0"/>
              <a:cs typeface="Arial" charset="0"/>
            </a:endParaRPr>
          </a:p>
          <a:p>
            <a:pPr marL="685800" lvl="1" indent="-228600" eaLnBrk="1" hangingPunct="1">
              <a:lnSpc>
                <a:spcPct val="80000"/>
              </a:lnSpc>
              <a:spcBef>
                <a:spcPts val="1200"/>
              </a:spcBef>
              <a:spcAft>
                <a:spcPts val="600"/>
              </a:spcAft>
              <a:buFont typeface="Arial" charset="0"/>
              <a:buNone/>
            </a:pPr>
            <a:r>
              <a:rPr lang="en-US" sz="2000" smtClean="0">
                <a:solidFill>
                  <a:schemeClr val="tx1"/>
                </a:solidFill>
                <a:latin typeface="Arial" charset="0"/>
                <a:cs typeface="Arial" charset="0"/>
              </a:rPr>
              <a:t>	</a:t>
            </a:r>
          </a:p>
          <a:p>
            <a:pPr marL="228600" indent="-228600" eaLnBrk="1" hangingPunct="1">
              <a:lnSpc>
                <a:spcPct val="80000"/>
              </a:lnSpc>
              <a:spcBef>
                <a:spcPts val="1200"/>
              </a:spcBef>
              <a:spcAft>
                <a:spcPts val="600"/>
              </a:spcAft>
              <a:buFont typeface="Arial" charset="0"/>
              <a:buChar char="•"/>
            </a:pPr>
            <a:endParaRPr lang="en-US" sz="20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2C5313EC-EB5A-4DD8-B1B1-0C742FF00D09}" type="slidenum">
              <a:rPr lang="en-US" smtClean="0"/>
              <a:pPr>
                <a:defRPr/>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itle 1"/>
          <p:cNvSpPr>
            <a:spLocks noGrp="1"/>
          </p:cNvSpPr>
          <p:nvPr>
            <p:ph type="title"/>
          </p:nvPr>
        </p:nvSpPr>
        <p:spPr/>
        <p:txBody>
          <a:bodyPr/>
          <a:lstStyle/>
          <a:p>
            <a:pPr eaLnBrk="1" hangingPunct="1"/>
            <a:r>
              <a:rPr lang="en-US" sz="3200" smtClean="0">
                <a:latin typeface="Arial" charset="0"/>
                <a:cs typeface="Arial" charset="0"/>
              </a:rPr>
              <a:t>Risk Assessment</a:t>
            </a:r>
          </a:p>
        </p:txBody>
      </p:sp>
      <p:sp>
        <p:nvSpPr>
          <p:cNvPr id="65539" name="Content Placeholder 2"/>
          <p:cNvSpPr>
            <a:spLocks noGrp="1"/>
          </p:cNvSpPr>
          <p:nvPr>
            <p:ph idx="1"/>
          </p:nvPr>
        </p:nvSpPr>
        <p:spPr>
          <a:xfrm>
            <a:off x="533400" y="1981200"/>
            <a:ext cx="8234363" cy="4267200"/>
          </a:xfrm>
        </p:spPr>
        <p:txBody>
          <a:bodyPr/>
          <a:lstStyle/>
          <a:p>
            <a:pPr eaLnBrk="1" hangingPunct="1"/>
            <a:r>
              <a:rPr lang="en-US" sz="2400" smtClean="0">
                <a:latin typeface="Arial" charset="0"/>
                <a:cs typeface="Arial" charset="0"/>
              </a:rPr>
              <a:t>DOE O 413.3A CD-1 requirement: “Prepare a preliminary Project Execution Plan, including a Risk Management Plan (RMP) and Risk Assessment… “ (Table 2)</a:t>
            </a:r>
          </a:p>
          <a:p>
            <a:pPr eaLnBrk="1" hangingPunct="1">
              <a:spcBef>
                <a:spcPts val="1200"/>
              </a:spcBef>
              <a:spcAft>
                <a:spcPts val="600"/>
              </a:spcAft>
            </a:pPr>
            <a:r>
              <a:rPr lang="en-US" sz="2400" smtClean="0">
                <a:latin typeface="Arial" charset="0"/>
                <a:cs typeface="Arial" charset="0"/>
              </a:rPr>
              <a:t>Risk management strategies must address</a:t>
            </a:r>
          </a:p>
          <a:p>
            <a:pPr marL="685800" lvl="1" indent="-228600" eaLnBrk="1" hangingPunct="1">
              <a:spcBef>
                <a:spcPts val="1200"/>
              </a:spcBef>
              <a:spcAft>
                <a:spcPts val="600"/>
              </a:spcAft>
              <a:buFont typeface="Arial" charset="0"/>
              <a:buChar char="-"/>
            </a:pPr>
            <a:r>
              <a:rPr lang="en-US" sz="2000" smtClean="0">
                <a:solidFill>
                  <a:schemeClr val="tx1"/>
                </a:solidFill>
                <a:latin typeface="Arial" charset="0"/>
                <a:cs typeface="Arial" charset="0"/>
              </a:rPr>
              <a:t>All technical uncertainties (including schedule and cost implications)</a:t>
            </a:r>
          </a:p>
          <a:p>
            <a:pPr marL="685800" lvl="1" indent="-228600" eaLnBrk="1" hangingPunct="1">
              <a:spcBef>
                <a:spcPts val="1200"/>
              </a:spcBef>
              <a:spcAft>
                <a:spcPts val="600"/>
              </a:spcAft>
              <a:buFont typeface="Arial" charset="0"/>
              <a:buChar char="-"/>
            </a:pPr>
            <a:r>
              <a:rPr lang="en-US" sz="2000" smtClean="0">
                <a:solidFill>
                  <a:schemeClr val="tx1"/>
                </a:solidFill>
                <a:latin typeface="Arial" charset="0"/>
                <a:cs typeface="Arial" charset="0"/>
              </a:rPr>
              <a:t>Establishment of design margins</a:t>
            </a:r>
          </a:p>
          <a:p>
            <a:pPr marL="685800" lvl="1" indent="-228600" eaLnBrk="1" hangingPunct="1">
              <a:spcBef>
                <a:spcPts val="1200"/>
              </a:spcBef>
              <a:spcAft>
                <a:spcPts val="600"/>
              </a:spcAft>
              <a:buFont typeface="Arial" charset="0"/>
              <a:buChar char="-"/>
            </a:pPr>
            <a:r>
              <a:rPr lang="en-US" sz="2000" smtClean="0">
                <a:solidFill>
                  <a:schemeClr val="tx1"/>
                </a:solidFill>
                <a:latin typeface="Arial" charset="0"/>
                <a:cs typeface="Arial" charset="0"/>
              </a:rPr>
              <a:t>Increased technical oversight requirements</a:t>
            </a:r>
          </a:p>
        </p:txBody>
      </p:sp>
      <p:sp>
        <p:nvSpPr>
          <p:cNvPr id="5" name="Slide Number Placeholder 4"/>
          <p:cNvSpPr>
            <a:spLocks noGrp="1"/>
          </p:cNvSpPr>
          <p:nvPr>
            <p:ph type="sldNum" sz="quarter" idx="10"/>
          </p:nvPr>
        </p:nvSpPr>
        <p:spPr/>
        <p:txBody>
          <a:bodyPr/>
          <a:lstStyle/>
          <a:p>
            <a:pPr>
              <a:defRPr/>
            </a:pPr>
            <a:fld id="{B90E7AF3-0CBC-466A-B4AF-B83A0252E57E}" type="slidenum">
              <a:rPr lang="en-US" smtClean="0"/>
              <a:pPr>
                <a:defRPr/>
              </a:pPr>
              <a:t>49</a:t>
            </a:fld>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Title 1"/>
          <p:cNvSpPr>
            <a:spLocks noGrp="1"/>
          </p:cNvSpPr>
          <p:nvPr>
            <p:ph type="title"/>
          </p:nvPr>
        </p:nvSpPr>
        <p:spPr/>
        <p:txBody>
          <a:bodyPr/>
          <a:lstStyle/>
          <a:p>
            <a:pPr eaLnBrk="1" hangingPunct="1">
              <a:spcBef>
                <a:spcPts val="0"/>
              </a:spcBef>
              <a:spcAft>
                <a:spcPts val="0"/>
              </a:spcAft>
              <a:defRPr/>
            </a:pPr>
            <a:r>
              <a:rPr lang="en-US" sz="2800" cap="small" dirty="0" smtClean="0"/>
              <a:t>Risk and Opportunities Assessment </a:t>
            </a:r>
            <a:br>
              <a:rPr lang="en-US" sz="2800" cap="small" dirty="0" smtClean="0"/>
            </a:br>
            <a:r>
              <a:rPr lang="en-US" sz="2800" cap="small" dirty="0" smtClean="0"/>
              <a:t>(R &amp; OA)</a:t>
            </a:r>
            <a:br>
              <a:rPr lang="en-US" sz="2800" cap="small" dirty="0" smtClean="0"/>
            </a:br>
            <a:r>
              <a:rPr lang="en-US" sz="1800" cap="small" dirty="0" smtClean="0"/>
              <a:t> (Slide 1 of 2)</a:t>
            </a:r>
            <a:endParaRPr lang="en-US" dirty="0" smtClean="0"/>
          </a:p>
        </p:txBody>
      </p:sp>
      <p:sp>
        <p:nvSpPr>
          <p:cNvPr id="66563"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DOE-STD-1189 Risk and Opportunities Assessment is:</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Required by the Order and the Standard and</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Provides the safety-related input to the Project Risk Management Plan</a:t>
            </a:r>
          </a:p>
          <a:p>
            <a:pPr eaLnBrk="1" hangingPunct="1">
              <a:spcBef>
                <a:spcPts val="1200"/>
              </a:spcBef>
              <a:spcAft>
                <a:spcPts val="600"/>
              </a:spcAft>
            </a:pPr>
            <a:r>
              <a:rPr lang="en-US" sz="2400" smtClean="0">
                <a:latin typeface="Arial" charset="0"/>
                <a:cs typeface="Arial" charset="0"/>
              </a:rPr>
              <a:t>Purpose is to recognize and manage risks of proceeding at early stages of design on the basis of incomplete knowledge or assumptions regarding safety issues</a:t>
            </a:r>
          </a:p>
          <a:p>
            <a:pPr eaLnBrk="1" hangingPunct="1">
              <a:spcBef>
                <a:spcPts val="1200"/>
              </a:spcBef>
              <a:spcAft>
                <a:spcPts val="600"/>
              </a:spcAft>
              <a:buFont typeface="Symbol" pitchFamily="18" charset="2"/>
              <a:buChar char=""/>
            </a:pPr>
            <a:endParaRPr lang="en-US" sz="2400" smtClean="0">
              <a:solidFill>
                <a:srgbClr val="002060"/>
              </a:solidFill>
              <a:latin typeface="Arial" charset="0"/>
              <a:cs typeface="Arial" charset="0"/>
            </a:endParaRPr>
          </a:p>
          <a:p>
            <a:pPr eaLnBrk="1" hangingPunct="1"/>
            <a:endParaRPr lang="en-US" sz="3200" smtClean="0">
              <a:latin typeface="Arial" charset="0"/>
              <a:cs typeface="Arial" charset="0"/>
            </a:endParaRPr>
          </a:p>
        </p:txBody>
      </p:sp>
      <p:sp>
        <p:nvSpPr>
          <p:cNvPr id="35" name="Slide Number Placeholder 34"/>
          <p:cNvSpPr>
            <a:spLocks noGrp="1"/>
          </p:cNvSpPr>
          <p:nvPr>
            <p:ph type="sldNum" sz="quarter" idx="10"/>
          </p:nvPr>
        </p:nvSpPr>
        <p:spPr/>
        <p:txBody>
          <a:bodyPr/>
          <a:lstStyle/>
          <a:p>
            <a:pPr>
              <a:defRPr/>
            </a:pPr>
            <a:fld id="{8520705A-6B02-41E8-99A0-460B7576DDC8}"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p:cNvSpPr>
            <a:spLocks noGrp="1"/>
          </p:cNvSpPr>
          <p:nvPr>
            <p:ph type="title"/>
          </p:nvPr>
        </p:nvSpPr>
        <p:spPr/>
        <p:txBody>
          <a:bodyPr/>
          <a:lstStyle/>
          <a:p>
            <a:pPr eaLnBrk="1" hangingPunct="1">
              <a:defRPr/>
            </a:pPr>
            <a:r>
              <a:rPr lang="en-US" sz="3200" cap="small" dirty="0" smtClean="0"/>
              <a:t>Risk and Opportunities Assessment (R &amp; OA)</a:t>
            </a:r>
            <a:br>
              <a:rPr lang="en-US" sz="3200" cap="small" dirty="0" smtClean="0"/>
            </a:br>
            <a:r>
              <a:rPr lang="en-US" sz="2000" cap="small" dirty="0" smtClean="0"/>
              <a:t> (Slide 2 of 2)</a:t>
            </a:r>
            <a:endParaRPr lang="en-US" sz="3200" cap="small" dirty="0" smtClean="0"/>
          </a:p>
        </p:txBody>
      </p:sp>
      <p:sp>
        <p:nvSpPr>
          <p:cNvPr id="67587"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SDIT prepares R &amp; OA and updates it throughout the project phases</a:t>
            </a:r>
          </a:p>
          <a:p>
            <a:pPr eaLnBrk="1" hangingPunct="1">
              <a:spcBef>
                <a:spcPts val="1200"/>
              </a:spcBef>
              <a:spcAft>
                <a:spcPts val="600"/>
              </a:spcAft>
            </a:pPr>
            <a:r>
              <a:rPr lang="en-US" sz="2400" smtClean="0">
                <a:latin typeface="Arial" charset="0"/>
                <a:cs typeface="Arial" charset="0"/>
              </a:rPr>
              <a:t>Reviewed by IPT and DOE Safety Basis Review Team and approved by the Federal Project Director</a:t>
            </a:r>
          </a:p>
          <a:p>
            <a:pPr eaLnBrk="1" hangingPunct="1">
              <a:spcBef>
                <a:spcPts val="1200"/>
              </a:spcBef>
              <a:spcAft>
                <a:spcPts val="600"/>
              </a:spcAft>
            </a:pPr>
            <a:r>
              <a:rPr lang="en-US" sz="2400" smtClean="0">
                <a:latin typeface="Arial" charset="0"/>
                <a:cs typeface="Arial" charset="0"/>
              </a:rPr>
              <a:t>Discussed in DOE STD-1189 Appendix F</a:t>
            </a:r>
          </a:p>
          <a:p>
            <a:pPr eaLnBrk="1" hangingPunct="1">
              <a:spcBef>
                <a:spcPts val="1200"/>
              </a:spcBef>
              <a:spcAft>
                <a:spcPts val="600"/>
              </a:spcAft>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9C4F410D-632E-4FBE-A27F-F38A63C415E6}" type="slidenum">
              <a:rPr lang="en-US" smtClean="0"/>
              <a:pPr>
                <a:defRPr/>
              </a:pPr>
              <a:t>51</a:t>
            </a:fld>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Example Risk Areas</a:t>
            </a:r>
            <a:br>
              <a:rPr lang="en-US" sz="3200" cap="small" dirty="0" smtClean="0"/>
            </a:br>
            <a:r>
              <a:rPr lang="en-US" sz="2000" cap="small" dirty="0" smtClean="0"/>
              <a:t> (Slide 1 of 2) </a:t>
            </a:r>
            <a:endParaRPr lang="en-US" sz="3200" cap="small" dirty="0"/>
          </a:p>
        </p:txBody>
      </p:sp>
      <p:sp>
        <p:nvSpPr>
          <p:cNvPr id="75780" name="Content Placeholder 2"/>
          <p:cNvSpPr>
            <a:spLocks noGrp="1"/>
          </p:cNvSpPr>
          <p:nvPr>
            <p:ph idx="1"/>
          </p:nvPr>
        </p:nvSpPr>
        <p:spPr/>
        <p:txBody>
          <a:bodyPr rtlCol="0">
            <a:normAutofit fontScale="92500" lnSpcReduction="20000"/>
          </a:bodyPr>
          <a:lstStyle/>
          <a:p>
            <a:pPr eaLnBrk="1" fontAlgn="auto" hangingPunct="1">
              <a:spcBef>
                <a:spcPts val="1200"/>
              </a:spcBef>
              <a:spcAft>
                <a:spcPts val="600"/>
              </a:spcAft>
              <a:buFont typeface="Arial" pitchFamily="34" charset="0"/>
              <a:buNone/>
              <a:defRPr/>
            </a:pPr>
            <a:r>
              <a:rPr lang="en-US" sz="2600" i="1" u="sng" dirty="0" smtClean="0"/>
              <a:t>Technical</a:t>
            </a:r>
          </a:p>
          <a:p>
            <a:pPr eaLnBrk="1" fontAlgn="auto" hangingPunct="1">
              <a:spcBef>
                <a:spcPts val="1200"/>
              </a:spcBef>
              <a:spcAft>
                <a:spcPts val="600"/>
              </a:spcAft>
              <a:defRPr/>
            </a:pPr>
            <a:r>
              <a:rPr lang="en-US" sz="2400" dirty="0" smtClean="0"/>
              <a:t>Uncertain seismic requirements (seismic geotechnical investigation)</a:t>
            </a:r>
          </a:p>
          <a:p>
            <a:pPr eaLnBrk="1" fontAlgn="auto" hangingPunct="1">
              <a:spcBef>
                <a:spcPts val="1200"/>
              </a:spcBef>
              <a:spcAft>
                <a:spcPts val="600"/>
              </a:spcAft>
              <a:defRPr/>
            </a:pPr>
            <a:r>
              <a:rPr lang="en-US" sz="2400" dirty="0" smtClean="0"/>
              <a:t>SSC classifications (safety and seismic)</a:t>
            </a:r>
          </a:p>
          <a:p>
            <a:pPr eaLnBrk="1" fontAlgn="auto" hangingPunct="1">
              <a:spcBef>
                <a:spcPts val="1200"/>
              </a:spcBef>
              <a:spcAft>
                <a:spcPts val="600"/>
              </a:spcAft>
              <a:defRPr/>
            </a:pPr>
            <a:r>
              <a:rPr lang="en-US" sz="2400" dirty="0" smtClean="0"/>
              <a:t>Interfaces with site infrastructure and boundaries of safety SSCs with them</a:t>
            </a:r>
          </a:p>
          <a:p>
            <a:pPr eaLnBrk="1" fontAlgn="auto" hangingPunct="1">
              <a:spcBef>
                <a:spcPts val="1200"/>
              </a:spcBef>
              <a:spcAft>
                <a:spcPts val="600"/>
              </a:spcAft>
              <a:defRPr/>
            </a:pPr>
            <a:r>
              <a:rPr lang="en-US" sz="2400" dirty="0" smtClean="0"/>
              <a:t>Undefined, incomplete, unclear safety functions and requirements</a:t>
            </a:r>
          </a:p>
          <a:p>
            <a:pPr eaLnBrk="1" fontAlgn="auto" hangingPunct="1">
              <a:spcBef>
                <a:spcPts val="1200"/>
              </a:spcBef>
              <a:spcAft>
                <a:spcPts val="600"/>
              </a:spcAft>
              <a:defRPr/>
            </a:pPr>
            <a:r>
              <a:rPr lang="en-US" sz="2400" dirty="0" smtClean="0"/>
              <a:t>New or undecided technology</a:t>
            </a:r>
          </a:p>
          <a:p>
            <a:pPr eaLnBrk="1" fontAlgn="auto" hangingPunct="1">
              <a:spcBef>
                <a:spcPts val="1200"/>
              </a:spcBef>
              <a:spcAft>
                <a:spcPts val="600"/>
              </a:spcAft>
              <a:buFont typeface="Arial" pitchFamily="34" charset="0"/>
              <a:buNone/>
              <a:defRPr/>
            </a:pPr>
            <a:endParaRPr lang="en-US" sz="1400" dirty="0" smtClean="0"/>
          </a:p>
          <a:p>
            <a:pPr eaLnBrk="1" fontAlgn="auto" hangingPunct="1">
              <a:spcBef>
                <a:spcPts val="1200"/>
              </a:spcBef>
              <a:spcAft>
                <a:spcPts val="600"/>
              </a:spcAft>
              <a:buFont typeface="Arial" charset="0"/>
              <a:buChar char="•"/>
              <a:defRPr/>
            </a:pPr>
            <a:endParaRPr lang="en-US" sz="1400" dirty="0" smtClean="0"/>
          </a:p>
        </p:txBody>
      </p:sp>
      <p:sp>
        <p:nvSpPr>
          <p:cNvPr id="6" name="Slide Number Placeholder 5"/>
          <p:cNvSpPr>
            <a:spLocks noGrp="1"/>
          </p:cNvSpPr>
          <p:nvPr>
            <p:ph type="sldNum" sz="quarter" idx="10"/>
          </p:nvPr>
        </p:nvSpPr>
        <p:spPr/>
        <p:txBody>
          <a:bodyPr/>
          <a:lstStyle/>
          <a:p>
            <a:pPr>
              <a:defRPr/>
            </a:pPr>
            <a:fld id="{9CA6D7EB-DE14-406C-B08D-E5F56DC11A50}"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Title 1"/>
          <p:cNvSpPr>
            <a:spLocks noGrp="1"/>
          </p:cNvSpPr>
          <p:nvPr>
            <p:ph type="title"/>
          </p:nvPr>
        </p:nvSpPr>
        <p:spPr/>
        <p:txBody>
          <a:bodyPr/>
          <a:lstStyle/>
          <a:p>
            <a:pPr eaLnBrk="1" hangingPunct="1">
              <a:defRPr/>
            </a:pPr>
            <a:r>
              <a:rPr lang="en-US" sz="3200" cap="small" dirty="0" smtClean="0"/>
              <a:t>Example Risk Areas</a:t>
            </a:r>
            <a:br>
              <a:rPr lang="en-US" sz="3200" cap="small" dirty="0" smtClean="0"/>
            </a:br>
            <a:r>
              <a:rPr lang="en-US" sz="1800" cap="small" dirty="0" smtClean="0"/>
              <a:t> (Slide 2 of 2) </a:t>
            </a:r>
            <a:endParaRPr lang="en-US" sz="3200" cap="small" dirty="0" smtClean="0"/>
          </a:p>
        </p:txBody>
      </p:sp>
      <p:sp>
        <p:nvSpPr>
          <p:cNvPr id="69635" name="Content Placeholder 2"/>
          <p:cNvSpPr>
            <a:spLocks noGrp="1"/>
          </p:cNvSpPr>
          <p:nvPr>
            <p:ph idx="1"/>
          </p:nvPr>
        </p:nvSpPr>
        <p:spPr/>
        <p:txBody>
          <a:bodyPr/>
          <a:lstStyle/>
          <a:p>
            <a:pPr eaLnBrk="1" hangingPunct="1">
              <a:spcBef>
                <a:spcPts val="1200"/>
              </a:spcBef>
              <a:spcAft>
                <a:spcPts val="600"/>
              </a:spcAft>
              <a:buFont typeface="Arial" charset="0"/>
              <a:buNone/>
            </a:pPr>
            <a:r>
              <a:rPr lang="en-US" sz="2400" i="1" u="sng" smtClean="0">
                <a:latin typeface="Arial" charset="0"/>
                <a:cs typeface="Arial" charset="0"/>
              </a:rPr>
              <a:t>Programmatic Level:</a:t>
            </a:r>
          </a:p>
          <a:p>
            <a:pPr eaLnBrk="1" hangingPunct="1">
              <a:spcBef>
                <a:spcPts val="1200"/>
              </a:spcBef>
              <a:spcAft>
                <a:spcPts val="600"/>
              </a:spcAft>
            </a:pPr>
            <a:r>
              <a:rPr lang="en-US" sz="2400" smtClean="0">
                <a:latin typeface="Arial" charset="0"/>
                <a:cs typeface="Arial" charset="0"/>
              </a:rPr>
              <a:t>Interfaces with other facilities (inputs and outputs)</a:t>
            </a:r>
          </a:p>
          <a:p>
            <a:pPr eaLnBrk="1" hangingPunct="1">
              <a:spcBef>
                <a:spcPts val="1200"/>
              </a:spcBef>
              <a:spcAft>
                <a:spcPts val="600"/>
              </a:spcAft>
            </a:pPr>
            <a:r>
              <a:rPr lang="en-US" sz="2400" smtClean="0">
                <a:latin typeface="Arial" charset="0"/>
                <a:cs typeface="Arial" charset="0"/>
              </a:rPr>
              <a:t>Coordination between design and safety organizations (if different)</a:t>
            </a:r>
          </a:p>
          <a:p>
            <a:pPr eaLnBrk="1" hangingPunct="1">
              <a:spcBef>
                <a:spcPts val="1200"/>
              </a:spcBef>
              <a:spcAft>
                <a:spcPts val="600"/>
              </a:spcAft>
            </a:pPr>
            <a:r>
              <a:rPr lang="en-US" sz="2400" smtClean="0">
                <a:latin typeface="Arial" charset="0"/>
                <a:cs typeface="Arial" charset="0"/>
              </a:rPr>
              <a:t>Implications of less than optimum dedicated IPT support for FPD</a:t>
            </a:r>
          </a:p>
          <a:p>
            <a:pPr lvl="1" eaLnBrk="1" hangingPunct="1">
              <a:spcBef>
                <a:spcPts val="1200"/>
              </a:spcBef>
              <a:spcAft>
                <a:spcPts val="600"/>
              </a:spcAft>
              <a:buFont typeface="Symbol" pitchFamily="18" charset="2"/>
              <a:buChar char=""/>
            </a:pPr>
            <a:r>
              <a:rPr lang="en-US" sz="2000" smtClean="0">
                <a:solidFill>
                  <a:srgbClr val="002060"/>
                </a:solidFill>
                <a:latin typeface="Arial" charset="0"/>
                <a:cs typeface="Arial" charset="0"/>
              </a:rPr>
              <a:t>Including ability to actively manage risks, including programmatic</a:t>
            </a:r>
          </a:p>
        </p:txBody>
      </p:sp>
      <p:sp>
        <p:nvSpPr>
          <p:cNvPr id="35" name="Slide Number Placeholder 34"/>
          <p:cNvSpPr>
            <a:spLocks noGrp="1"/>
          </p:cNvSpPr>
          <p:nvPr>
            <p:ph type="sldNum" sz="quarter" idx="10"/>
          </p:nvPr>
        </p:nvSpPr>
        <p:spPr/>
        <p:txBody>
          <a:bodyPr/>
          <a:lstStyle/>
          <a:p>
            <a:pPr>
              <a:defRPr/>
            </a:pPr>
            <a:fld id="{C54557B3-86B3-4AFE-B088-A15C867D5B66}" type="slidenum">
              <a:rPr lang="en-US" smtClean="0"/>
              <a:pPr>
                <a:defRPr/>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Roles and Responsibilities</a:t>
            </a:r>
            <a:br>
              <a:rPr lang="en-US" sz="3200" cap="small" dirty="0" smtClean="0"/>
            </a:br>
            <a:r>
              <a:rPr lang="en-US" sz="3200" cap="small" dirty="0" smtClean="0"/>
              <a:t> </a:t>
            </a:r>
            <a:r>
              <a:rPr lang="en-US" sz="2000" cap="small" dirty="0" smtClean="0"/>
              <a:t>(Slide 1 of 2) </a:t>
            </a:r>
            <a:endParaRPr lang="en-US" sz="3200" cap="small" dirty="0" smtClean="0"/>
          </a:p>
        </p:txBody>
      </p:sp>
      <p:graphicFrame>
        <p:nvGraphicFramePr>
          <p:cNvPr id="1672243" name="Group 51"/>
          <p:cNvGraphicFramePr>
            <a:graphicFrameLocks noGrp="1"/>
          </p:cNvGraphicFramePr>
          <p:nvPr/>
        </p:nvGraphicFramePr>
        <p:xfrm>
          <a:off x="381000" y="1833563"/>
          <a:ext cx="8458201" cy="4813176"/>
        </p:xfrm>
        <a:graphic>
          <a:graphicData uri="http://schemas.openxmlformats.org/drawingml/2006/table">
            <a:tbl>
              <a:tblPr/>
              <a:tblGrid>
                <a:gridCol w="1152954"/>
                <a:gridCol w="1767864"/>
                <a:gridCol w="1844727"/>
                <a:gridCol w="2110546"/>
                <a:gridCol w="1582110"/>
              </a:tblGrid>
              <a:tr h="23476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Product/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Document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Responsibility </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Interface with Other Documents/</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Products</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55720">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Prepare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Review</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mn-lt"/>
                          <a:cs typeface="Times New Roman" pitchFamily="18" charset="0"/>
                        </a:rPr>
                        <a:t>Approve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en-US"/>
                    </a:p>
                  </a:txBody>
                  <a:tcPr/>
                </a:tc>
              </a:tr>
              <a:tr h="10495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SDS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SDIT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 and SBRT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FPD and SBAA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DOE expectations in Mission Need Statement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628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R&amp;OA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SDIT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 and SBRT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FPD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Input to RMP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13122">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CSDR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SDIT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 and SBRT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Via CSVR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CDR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35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CSVR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SBRT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SBAA with FPD Concurrence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CSDR and CDR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820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PSDR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SDIT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IPT and SBRT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Via PSVR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Preliminary Design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Slide Number Placeholder 5"/>
          <p:cNvSpPr>
            <a:spLocks noGrp="1"/>
          </p:cNvSpPr>
          <p:nvPr>
            <p:ph type="sldNum" sz="quarter" idx="10"/>
          </p:nvPr>
        </p:nvSpPr>
        <p:spPr/>
        <p:txBody>
          <a:bodyPr/>
          <a:lstStyle/>
          <a:p>
            <a:pPr>
              <a:defRPr/>
            </a:pPr>
            <a:fld id="{15C7A8C5-E4DF-4FA1-947C-074B2DB3F88C}" type="slidenum">
              <a:rPr lang="en-US" smtClean="0"/>
              <a:pPr>
                <a:defRPr/>
              </a:pPr>
              <a:t>54</a:t>
            </a:fld>
            <a:endParaRPr lang="en-US" dirty="0"/>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Roles and Responsibilities</a:t>
            </a:r>
            <a:br>
              <a:rPr lang="en-US" sz="3200" cap="small" dirty="0" smtClean="0"/>
            </a:br>
            <a:r>
              <a:rPr lang="en-US" sz="1800" cap="small" dirty="0" smtClean="0"/>
              <a:t> (Slide 2 of 2) </a:t>
            </a:r>
          </a:p>
        </p:txBody>
      </p:sp>
      <p:graphicFrame>
        <p:nvGraphicFramePr>
          <p:cNvPr id="1674291" name="Group 51"/>
          <p:cNvGraphicFramePr>
            <a:graphicFrameLocks noGrp="1"/>
          </p:cNvGraphicFramePr>
          <p:nvPr/>
        </p:nvGraphicFramePr>
        <p:xfrm>
          <a:off x="228600" y="1752600"/>
          <a:ext cx="8686800" cy="4853623"/>
        </p:xfrm>
        <a:graphic>
          <a:graphicData uri="http://schemas.openxmlformats.org/drawingml/2006/table">
            <a:tbl>
              <a:tblPr/>
              <a:tblGrid>
                <a:gridCol w="1341997"/>
                <a:gridCol w="1736702"/>
                <a:gridCol w="1894584"/>
                <a:gridCol w="2088648"/>
                <a:gridCol w="1624869"/>
              </a:tblGrid>
              <a:tr h="269875">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mn-lt"/>
                          <a:cs typeface="Times New Roman" pitchFamily="18" charset="0"/>
                        </a:rPr>
                        <a:t>Product/</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mn-lt"/>
                          <a:cs typeface="Times New Roman" pitchFamily="18" charset="0"/>
                        </a:rPr>
                        <a:t>Document</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3">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mn-lt"/>
                          <a:cs typeface="Times New Roman" pitchFamily="18" charset="0"/>
                        </a:rPr>
                        <a:t>Responsibility </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hMerge="1">
                  <a:txBody>
                    <a:bodyPr/>
                    <a:lstStyle/>
                    <a:p>
                      <a:endParaRPr lang="en-US"/>
                    </a:p>
                  </a:txBody>
                  <a:tcPr/>
                </a:tc>
                <a:tc row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mn-lt"/>
                          <a:cs typeface="Times New Roman" pitchFamily="18" charset="0"/>
                        </a:rPr>
                        <a:t>Interface with Other Documents/Products</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271463">
                <a:tc vMerge="1">
                  <a:txBody>
                    <a:bodyPr/>
                    <a:lstStyle/>
                    <a:p>
                      <a:endParaRPr lang="en-US"/>
                    </a:p>
                  </a:txBody>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mn-lt"/>
                          <a:cs typeface="Times New Roman" pitchFamily="18" charset="0"/>
                        </a:rPr>
                        <a:t>Prepare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smtClean="0">
                          <a:ln>
                            <a:noFill/>
                          </a:ln>
                          <a:solidFill>
                            <a:schemeClr val="tx1"/>
                          </a:solidFill>
                          <a:effectLst/>
                          <a:latin typeface="+mn-lt"/>
                          <a:cs typeface="Times New Roman" pitchFamily="18" charset="0"/>
                        </a:rPr>
                        <a:t>Review</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dirty="0" smtClean="0">
                          <a:ln>
                            <a:noFill/>
                          </a:ln>
                          <a:solidFill>
                            <a:schemeClr val="tx1"/>
                          </a:solidFill>
                          <a:effectLst/>
                          <a:latin typeface="+mn-lt"/>
                          <a:cs typeface="Times New Roman" pitchFamily="18" charset="0"/>
                        </a:rPr>
                        <a:t>Approve</a:t>
                      </a: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r>
              <a:tr h="7540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PSVR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SBRT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SBAA with FPD Concurrence</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PSDR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PDSA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SDIT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 and SBRT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Via SER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Final Design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SER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SBRT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IPT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SBAA with FPD Concurrence</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PDSA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6200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DSA and TSR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SDIT and Operations Team</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mn-lt"/>
                          <a:cs typeface="Times New Roman" pitchFamily="18" charset="0"/>
                        </a:rPr>
                        <a:t>IPT and SBRT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Via SER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PDSA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mn-lt"/>
                          <a:cs typeface="Times New Roman" pitchFamily="18" charset="0"/>
                        </a:rPr>
                        <a:t>TSR is based on the DSA.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685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1" i="0" u="none" strike="noStrike" cap="none" normalizeH="0" baseline="0" dirty="0" smtClean="0">
                        <a:ln>
                          <a:noFill/>
                        </a:ln>
                        <a:solidFill>
                          <a:srgbClr val="002060"/>
                        </a:solidFill>
                        <a:effectLst/>
                        <a:latin typeface="+mn-lt"/>
                        <a:cs typeface="Times New Roman" pitchFamily="18" charset="0"/>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dirty="0" smtClean="0">
                          <a:ln>
                            <a:noFill/>
                          </a:ln>
                          <a:solidFill>
                            <a:srgbClr val="002060"/>
                          </a:solidFill>
                          <a:effectLst/>
                          <a:latin typeface="+mn-lt"/>
                          <a:cs typeface="Times New Roman" pitchFamily="18" charset="0"/>
                        </a:rPr>
                        <a:t>SER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rgbClr val="002060"/>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2060"/>
                          </a:solidFill>
                          <a:effectLst/>
                          <a:latin typeface="+mn-lt"/>
                          <a:cs typeface="Times New Roman" pitchFamily="18" charset="0"/>
                        </a:rPr>
                        <a:t>SBRT</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rgbClr val="002060"/>
                        </a:solidFill>
                        <a:effectLst/>
                        <a:latin typeface="+mn-lt"/>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rgbClr val="002060"/>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2060"/>
                          </a:solidFill>
                          <a:effectLst/>
                          <a:latin typeface="+mn-lt"/>
                          <a:cs typeface="Times New Roman" pitchFamily="18" charset="0"/>
                        </a:rPr>
                        <a:t>SBAA</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rgbClr val="002060"/>
                        </a:solidFill>
                        <a:effectLst/>
                        <a:latin typeface="+mn-lt"/>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2060"/>
                          </a:solidFill>
                          <a:effectLst/>
                          <a:latin typeface="+mn-lt"/>
                          <a:cs typeface="Times New Roman" pitchFamily="18" charset="0"/>
                        </a:rPr>
                        <a:t>DSA and TSR</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6" name="Slide Number Placeholder 5"/>
          <p:cNvSpPr>
            <a:spLocks noGrp="1"/>
          </p:cNvSpPr>
          <p:nvPr>
            <p:ph type="sldNum" sz="quarter" idx="10"/>
          </p:nvPr>
        </p:nvSpPr>
        <p:spPr/>
        <p:txBody>
          <a:bodyPr/>
          <a:lstStyle/>
          <a:p>
            <a:pPr>
              <a:defRPr/>
            </a:pPr>
            <a:fld id="{D8A10C91-020E-4F8F-9B39-BE7736378B44}" type="slidenum">
              <a:rPr lang="en-US" smtClean="0"/>
              <a:pPr>
                <a:defRPr/>
              </a:pPr>
              <a:t>55</a:t>
            </a:fld>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1"/>
          <p:cNvSpPr>
            <a:spLocks noGrp="1"/>
          </p:cNvSpPr>
          <p:nvPr>
            <p:ph type="title"/>
          </p:nvPr>
        </p:nvSpPr>
        <p:spPr/>
        <p:txBody>
          <a:bodyPr/>
          <a:lstStyle/>
          <a:p>
            <a:pPr eaLnBrk="1" hangingPunct="1">
              <a:defRPr/>
            </a:pPr>
            <a:r>
              <a:rPr lang="en-US" sz="3200" cap="small" dirty="0" smtClean="0"/>
              <a:t>What Parts of the Standard are Mandatory?</a:t>
            </a:r>
            <a:br>
              <a:rPr lang="en-US" sz="3200" cap="small" dirty="0" smtClean="0"/>
            </a:br>
            <a:r>
              <a:rPr lang="en-US" sz="2000" cap="small" dirty="0" smtClean="0"/>
              <a:t> (Slide 1 of 2) </a:t>
            </a:r>
            <a:endParaRPr lang="en-US" sz="2500" cap="small" dirty="0" smtClean="0"/>
          </a:p>
        </p:txBody>
      </p:sp>
      <p:sp>
        <p:nvSpPr>
          <p:cNvPr id="72707" name="Content Placeholder 2"/>
          <p:cNvSpPr>
            <a:spLocks noGrp="1"/>
          </p:cNvSpPr>
          <p:nvPr>
            <p:ph idx="1"/>
          </p:nvPr>
        </p:nvSpPr>
        <p:spPr>
          <a:xfrm>
            <a:off x="533400" y="1905000"/>
            <a:ext cx="8234363" cy="4343400"/>
          </a:xfrm>
        </p:spPr>
        <p:txBody>
          <a:bodyPr rtlCol="0">
            <a:noAutofit/>
          </a:bodyPr>
          <a:lstStyle/>
          <a:p>
            <a:pPr eaLnBrk="1" fontAlgn="auto" hangingPunct="1">
              <a:lnSpc>
                <a:spcPct val="80000"/>
              </a:lnSpc>
              <a:spcAft>
                <a:spcPts val="0"/>
              </a:spcAft>
              <a:buFont typeface="Arial" pitchFamily="34" charset="0"/>
              <a:buNone/>
              <a:defRPr/>
            </a:pPr>
            <a:r>
              <a:rPr lang="en-US" i="1" dirty="0" smtClean="0">
                <a:latin typeface="+mj-lt"/>
              </a:rPr>
              <a:t>Originating with STD-1189</a:t>
            </a:r>
          </a:p>
          <a:p>
            <a:pPr lvl="1" eaLnBrk="1" fontAlgn="auto" hangingPunct="1">
              <a:lnSpc>
                <a:spcPct val="80000"/>
              </a:lnSpc>
              <a:spcBef>
                <a:spcPts val="1200"/>
              </a:spcBef>
              <a:spcAft>
                <a:spcPts val="600"/>
              </a:spcAft>
              <a:buFont typeface="Arial" charset="0"/>
              <a:buChar char="–"/>
              <a:defRPr/>
            </a:pPr>
            <a:r>
              <a:rPr lang="en-US" dirty="0" smtClean="0">
                <a:solidFill>
                  <a:schemeClr val="tx1"/>
                </a:solidFill>
              </a:rPr>
              <a:t>Safety Design Strategy</a:t>
            </a:r>
          </a:p>
          <a:p>
            <a:pPr lvl="1" eaLnBrk="1" fontAlgn="auto" hangingPunct="1">
              <a:lnSpc>
                <a:spcPct val="80000"/>
              </a:lnSpc>
              <a:spcBef>
                <a:spcPts val="1200"/>
              </a:spcBef>
              <a:spcAft>
                <a:spcPts val="600"/>
              </a:spcAft>
              <a:buFont typeface="Arial" charset="0"/>
              <a:buChar char="–"/>
              <a:defRPr/>
            </a:pPr>
            <a:r>
              <a:rPr lang="en-US" dirty="0" smtClean="0">
                <a:solidFill>
                  <a:schemeClr val="tx1"/>
                </a:solidFill>
              </a:rPr>
              <a:t>Risk and Opportunities Assessment</a:t>
            </a:r>
          </a:p>
          <a:p>
            <a:pPr lvl="1" eaLnBrk="1" fontAlgn="auto" hangingPunct="1">
              <a:lnSpc>
                <a:spcPct val="80000"/>
              </a:lnSpc>
              <a:spcBef>
                <a:spcPts val="1200"/>
              </a:spcBef>
              <a:spcAft>
                <a:spcPts val="600"/>
              </a:spcAft>
              <a:buFont typeface="Arial" charset="0"/>
              <a:buChar char="–"/>
              <a:defRPr/>
            </a:pPr>
            <a:r>
              <a:rPr lang="en-US" dirty="0" smtClean="0">
                <a:solidFill>
                  <a:schemeClr val="tx1"/>
                </a:solidFill>
              </a:rPr>
              <a:t>CSDR and PSDR (and DOE reviews)</a:t>
            </a:r>
          </a:p>
          <a:p>
            <a:pPr lvl="1" eaLnBrk="1" fontAlgn="auto" hangingPunct="1">
              <a:lnSpc>
                <a:spcPct val="80000"/>
              </a:lnSpc>
              <a:spcBef>
                <a:spcPts val="1200"/>
              </a:spcBef>
              <a:spcAft>
                <a:spcPts val="600"/>
              </a:spcAft>
              <a:buFont typeface="Arial" charset="0"/>
              <a:buChar char="–"/>
              <a:defRPr/>
            </a:pPr>
            <a:r>
              <a:rPr lang="en-US" dirty="0" smtClean="0">
                <a:solidFill>
                  <a:schemeClr val="tx1"/>
                </a:solidFill>
              </a:rPr>
              <a:t>Appendix A seismic design basis and collocated worker safety significant SSC criteria </a:t>
            </a:r>
          </a:p>
          <a:p>
            <a:pPr lvl="1" eaLnBrk="1" fontAlgn="auto" hangingPunct="1">
              <a:lnSpc>
                <a:spcPct val="80000"/>
              </a:lnSpc>
              <a:spcBef>
                <a:spcPts val="1200"/>
              </a:spcBef>
              <a:spcAft>
                <a:spcPts val="600"/>
              </a:spcAft>
              <a:buFont typeface="Arial" charset="0"/>
              <a:buChar char="–"/>
              <a:defRPr/>
            </a:pPr>
            <a:r>
              <a:rPr lang="en-US" dirty="0" smtClean="0">
                <a:solidFill>
                  <a:schemeClr val="tx1"/>
                </a:solidFill>
              </a:rPr>
              <a:t>Major Modification Determination (documented in SDS)</a:t>
            </a:r>
          </a:p>
          <a:p>
            <a:pPr lvl="1" eaLnBrk="1" fontAlgn="auto" hangingPunct="1">
              <a:lnSpc>
                <a:spcPct val="80000"/>
              </a:lnSpc>
              <a:spcBef>
                <a:spcPts val="1200"/>
              </a:spcBef>
              <a:spcAft>
                <a:spcPts val="600"/>
              </a:spcAft>
              <a:buFont typeface="Arial" charset="0"/>
              <a:buChar char="–"/>
              <a:defRPr/>
            </a:pPr>
            <a:r>
              <a:rPr lang="en-US" dirty="0" smtClean="0">
                <a:solidFill>
                  <a:schemeClr val="tx1"/>
                </a:solidFill>
              </a:rPr>
              <a:t>Key Concepts and Guiding Principles </a:t>
            </a:r>
            <a:br>
              <a:rPr lang="en-US" dirty="0" smtClean="0">
                <a:solidFill>
                  <a:schemeClr val="tx1"/>
                </a:solidFill>
              </a:rPr>
            </a:br>
            <a:r>
              <a:rPr lang="en-US" dirty="0" smtClean="0">
                <a:solidFill>
                  <a:schemeClr val="tx1"/>
                </a:solidFill>
              </a:rPr>
              <a:t>(for full implementation of STD-1189)</a:t>
            </a:r>
          </a:p>
        </p:txBody>
      </p:sp>
      <p:sp>
        <p:nvSpPr>
          <p:cNvPr id="5" name="Slide Number Placeholder 4"/>
          <p:cNvSpPr>
            <a:spLocks noGrp="1"/>
          </p:cNvSpPr>
          <p:nvPr>
            <p:ph type="sldNum" sz="quarter" idx="10"/>
          </p:nvPr>
        </p:nvSpPr>
        <p:spPr/>
        <p:txBody>
          <a:bodyPr/>
          <a:lstStyle/>
          <a:p>
            <a:pPr>
              <a:defRPr/>
            </a:pPr>
            <a:fld id="{A4DCB24F-C151-4128-9CA3-3E685E118770}" type="slidenum">
              <a:rPr lang="en-US" smtClean="0"/>
              <a:pPr>
                <a:defRPr/>
              </a:pPr>
              <a:t>56</a:t>
            </a:fld>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itle 1"/>
          <p:cNvSpPr>
            <a:spLocks noGrp="1"/>
          </p:cNvSpPr>
          <p:nvPr>
            <p:ph type="title"/>
          </p:nvPr>
        </p:nvSpPr>
        <p:spPr/>
        <p:txBody>
          <a:bodyPr/>
          <a:lstStyle/>
          <a:p>
            <a:pPr eaLnBrk="1" hangingPunct="1">
              <a:defRPr/>
            </a:pPr>
            <a:r>
              <a:rPr lang="en-US" sz="3200" cap="small" dirty="0" smtClean="0"/>
              <a:t>What Parts of the Standard are Mandatory?</a:t>
            </a:r>
            <a:br>
              <a:rPr lang="en-US" sz="3200" cap="small" dirty="0" smtClean="0"/>
            </a:br>
            <a:r>
              <a:rPr lang="en-US" sz="1800" cap="small" dirty="0" smtClean="0"/>
              <a:t> (Slide 2 of 2) </a:t>
            </a:r>
            <a:endParaRPr lang="en-US" sz="3200" cap="small" dirty="0" smtClean="0"/>
          </a:p>
        </p:txBody>
      </p:sp>
      <p:sp>
        <p:nvSpPr>
          <p:cNvPr id="73731" name="Content Placeholder 2"/>
          <p:cNvSpPr>
            <a:spLocks noGrp="1"/>
          </p:cNvSpPr>
          <p:nvPr>
            <p:ph idx="1"/>
          </p:nvPr>
        </p:nvSpPr>
        <p:spPr/>
        <p:txBody>
          <a:bodyPr/>
          <a:lstStyle/>
          <a:p>
            <a:pPr eaLnBrk="1" hangingPunct="1">
              <a:lnSpc>
                <a:spcPct val="80000"/>
              </a:lnSpc>
              <a:spcBef>
                <a:spcPts val="1200"/>
              </a:spcBef>
              <a:spcAft>
                <a:spcPts val="600"/>
              </a:spcAft>
              <a:buFont typeface="Arial" charset="0"/>
              <a:buNone/>
            </a:pPr>
            <a:r>
              <a:rPr lang="en-US" sz="3200" i="1" smtClean="0">
                <a:latin typeface="Arial" charset="0"/>
                <a:cs typeface="Arial" charset="0"/>
              </a:rPr>
              <a:t>Derivative</a:t>
            </a:r>
          </a:p>
          <a:p>
            <a:pPr lvl="1" eaLnBrk="1" hangingPunct="1">
              <a:lnSpc>
                <a:spcPct val="80000"/>
              </a:lnSpc>
              <a:spcBef>
                <a:spcPts val="1200"/>
              </a:spcBef>
              <a:spcAft>
                <a:spcPts val="600"/>
              </a:spcAft>
            </a:pPr>
            <a:r>
              <a:rPr lang="en-US" smtClean="0">
                <a:solidFill>
                  <a:srgbClr val="002060"/>
                </a:solidFill>
                <a:latin typeface="Arial" charset="0"/>
                <a:cs typeface="Arial" charset="0"/>
              </a:rPr>
              <a:t>10 CFR 830.206: PDSA; design criteria of O 420.1B </a:t>
            </a:r>
          </a:p>
          <a:p>
            <a:pPr lvl="1" eaLnBrk="1" hangingPunct="1">
              <a:lnSpc>
                <a:spcPct val="80000"/>
              </a:lnSpc>
              <a:spcBef>
                <a:spcPts val="1200"/>
              </a:spcBef>
              <a:spcAft>
                <a:spcPts val="600"/>
              </a:spcAft>
            </a:pPr>
            <a:r>
              <a:rPr lang="en-US" smtClean="0">
                <a:solidFill>
                  <a:srgbClr val="002060"/>
                </a:solidFill>
                <a:latin typeface="Arial" charset="0"/>
                <a:cs typeface="Arial" charset="0"/>
              </a:rPr>
              <a:t>DOE O 413.3A Chg. 1: requires implementation of STD-1189</a:t>
            </a:r>
          </a:p>
          <a:p>
            <a:pPr lvl="1" eaLnBrk="1" hangingPunct="1">
              <a:lnSpc>
                <a:spcPct val="80000"/>
              </a:lnSpc>
              <a:spcBef>
                <a:spcPts val="1200"/>
              </a:spcBef>
              <a:spcAft>
                <a:spcPts val="600"/>
              </a:spcAft>
            </a:pPr>
            <a:r>
              <a:rPr lang="en-US" smtClean="0">
                <a:solidFill>
                  <a:srgbClr val="002060"/>
                </a:solidFill>
                <a:latin typeface="Arial" charset="0"/>
                <a:cs typeface="Arial" charset="0"/>
              </a:rPr>
              <a:t>DOE O 420.1B: nuclear safety, fire safety, criticality, NPH</a:t>
            </a:r>
          </a:p>
          <a:p>
            <a:pPr eaLnBrk="1" hangingPunct="1">
              <a:spcBef>
                <a:spcPts val="1200"/>
              </a:spcBef>
              <a:spcAft>
                <a:spcPts val="600"/>
              </a:spcAft>
            </a:pPr>
            <a:endParaRPr lang="en-US" sz="3600" smtClean="0">
              <a:latin typeface="Arial" charset="0"/>
              <a:cs typeface="Arial" charset="0"/>
            </a:endParaRPr>
          </a:p>
        </p:txBody>
      </p:sp>
      <p:sp>
        <p:nvSpPr>
          <p:cNvPr id="35" name="Slide Number Placeholder 34"/>
          <p:cNvSpPr>
            <a:spLocks noGrp="1"/>
          </p:cNvSpPr>
          <p:nvPr>
            <p:ph type="sldNum" sz="quarter" idx="10"/>
          </p:nvPr>
        </p:nvSpPr>
        <p:spPr/>
        <p:txBody>
          <a:bodyPr/>
          <a:lstStyle/>
          <a:p>
            <a:pPr>
              <a:defRPr/>
            </a:pPr>
            <a:fld id="{1504D7B0-6637-4102-9EF0-0B905274C956}" type="slidenum">
              <a:rPr lang="en-US" smtClean="0"/>
              <a:pPr>
                <a:defRPr/>
              </a:pPr>
              <a:t>57</a:t>
            </a:fld>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pPr eaLnBrk="1" hangingPunct="1"/>
            <a:r>
              <a:rPr lang="en-US" sz="2800" smtClean="0">
                <a:latin typeface="Arial" charset="0"/>
                <a:cs typeface="Arial" charset="0"/>
              </a:rPr>
              <a:t>Safety and Design Integration </a:t>
            </a:r>
            <a:br>
              <a:rPr lang="en-US" sz="2800" smtClean="0">
                <a:latin typeface="Arial" charset="0"/>
                <a:cs typeface="Arial" charset="0"/>
              </a:rPr>
            </a:br>
            <a:r>
              <a:rPr lang="en-US" sz="2800" smtClean="0">
                <a:latin typeface="Arial" charset="0"/>
                <a:cs typeface="Arial" charset="0"/>
              </a:rPr>
              <a:t>DOE-STD-1189-2008</a:t>
            </a:r>
          </a:p>
        </p:txBody>
      </p:sp>
      <p:sp>
        <p:nvSpPr>
          <p:cNvPr id="73731" name="Rectangle 3"/>
          <p:cNvSpPr>
            <a:spLocks noGrp="1" noChangeArrowheads="1"/>
          </p:cNvSpPr>
          <p:nvPr>
            <p:ph idx="1"/>
          </p:nvPr>
        </p:nvSpPr>
        <p:spPr/>
        <p:txBody>
          <a:bodyPr rtlCol="0">
            <a:normAutofit/>
          </a:bodyPr>
          <a:lstStyle/>
          <a:p>
            <a:pPr algn="ctr" eaLnBrk="1" fontAlgn="auto" hangingPunct="1">
              <a:spcAft>
                <a:spcPts val="0"/>
              </a:spcAft>
              <a:buFont typeface="Arial" pitchFamily="34" charset="0"/>
              <a:buNone/>
              <a:defRPr/>
            </a:pPr>
            <a:endParaRPr lang="en-US" dirty="0" smtClean="0">
              <a:solidFill>
                <a:schemeClr val="accent3">
                  <a:lumMod val="50000"/>
                </a:schemeClr>
              </a:solidFill>
              <a:latin typeface="+mj-lt"/>
            </a:endParaRPr>
          </a:p>
          <a:p>
            <a:pPr algn="ctr" eaLnBrk="1" fontAlgn="auto" hangingPunct="1">
              <a:spcAft>
                <a:spcPts val="0"/>
              </a:spcAft>
              <a:buFont typeface="Arial" pitchFamily="34" charset="0"/>
              <a:buNone/>
              <a:defRPr/>
            </a:pPr>
            <a:endParaRPr lang="en-US" dirty="0" smtClean="0">
              <a:solidFill>
                <a:schemeClr val="accent3">
                  <a:lumMod val="50000"/>
                </a:schemeClr>
              </a:solidFill>
              <a:latin typeface="+mj-lt"/>
            </a:endParaRPr>
          </a:p>
          <a:p>
            <a:pPr algn="ctr" eaLnBrk="1" fontAlgn="auto" hangingPunct="1">
              <a:spcAft>
                <a:spcPts val="0"/>
              </a:spcAft>
              <a:buFont typeface="Arial" pitchFamily="34" charset="0"/>
              <a:buNone/>
              <a:defRPr/>
            </a:pPr>
            <a:endParaRPr lang="en-US" dirty="0" smtClean="0">
              <a:solidFill>
                <a:schemeClr val="accent3">
                  <a:lumMod val="50000"/>
                </a:schemeClr>
              </a:solidFill>
              <a:latin typeface="+mj-lt"/>
            </a:endParaRPr>
          </a:p>
          <a:p>
            <a:pPr algn="ctr" eaLnBrk="1" fontAlgn="auto" hangingPunct="1">
              <a:spcAft>
                <a:spcPts val="0"/>
              </a:spcAft>
              <a:buFont typeface="Arial" pitchFamily="34" charset="0"/>
              <a:buNone/>
              <a:defRPr/>
            </a:pPr>
            <a:r>
              <a:rPr lang="en-US" dirty="0" smtClean="0">
                <a:solidFill>
                  <a:srgbClr val="C00000"/>
                </a:solidFill>
                <a:latin typeface="+mj-lt"/>
              </a:rPr>
              <a:t>Design Process by Project Phase</a:t>
            </a:r>
          </a:p>
        </p:txBody>
      </p:sp>
      <p:sp>
        <p:nvSpPr>
          <p:cNvPr id="4" name="Slide Number Placeholder 3"/>
          <p:cNvSpPr>
            <a:spLocks noGrp="1"/>
          </p:cNvSpPr>
          <p:nvPr>
            <p:ph type="sldNum" sz="quarter" idx="10"/>
          </p:nvPr>
        </p:nvSpPr>
        <p:spPr/>
        <p:txBody>
          <a:bodyPr/>
          <a:lstStyle/>
          <a:p>
            <a:pPr>
              <a:defRPr/>
            </a:pPr>
            <a:fld id="{5E186FCB-5F2D-4305-9F75-726170E500D6}" type="slidenum">
              <a:rPr lang="en-US" smtClean="0"/>
              <a:pPr>
                <a:defRPr/>
              </a:pPr>
              <a:t>58</a:t>
            </a:fld>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Project Lifecycle</a:t>
            </a:r>
          </a:p>
        </p:txBody>
      </p:sp>
      <p:sp>
        <p:nvSpPr>
          <p:cNvPr id="36867" name="Text Box 4"/>
          <p:cNvSpPr txBox="1">
            <a:spLocks noChangeArrowheads="1"/>
          </p:cNvSpPr>
          <p:nvPr/>
        </p:nvSpPr>
        <p:spPr bwMode="auto">
          <a:xfrm rot="-3922120">
            <a:off x="385763" y="3535362"/>
            <a:ext cx="1936750" cy="581025"/>
          </a:xfrm>
          <a:prstGeom prst="rect">
            <a:avLst/>
          </a:prstGeom>
          <a:noFill/>
          <a:ln w="9525">
            <a:noFill/>
            <a:miter lim="800000"/>
            <a:headEnd/>
            <a:tailEnd/>
          </a:ln>
        </p:spPr>
        <p:txBody>
          <a:bodyPr>
            <a:spAutoFit/>
          </a:bodyPr>
          <a:lstStyle/>
          <a:p>
            <a:pPr algn="ctr" eaLnBrk="0" hangingPunct="0">
              <a:lnSpc>
                <a:spcPct val="80000"/>
              </a:lnSpc>
            </a:pPr>
            <a:r>
              <a:rPr lang="en-US" sz="2000"/>
              <a:t>Pre-Project </a:t>
            </a:r>
          </a:p>
          <a:p>
            <a:pPr algn="ctr" eaLnBrk="0" hangingPunct="0">
              <a:lnSpc>
                <a:spcPct val="80000"/>
              </a:lnSpc>
            </a:pPr>
            <a:r>
              <a:rPr lang="en-US" sz="2000"/>
              <a:t>Planning</a:t>
            </a:r>
          </a:p>
        </p:txBody>
      </p:sp>
      <p:grpSp>
        <p:nvGrpSpPr>
          <p:cNvPr id="2" name="Group 29"/>
          <p:cNvGrpSpPr>
            <a:grpSpLocks/>
          </p:cNvGrpSpPr>
          <p:nvPr/>
        </p:nvGrpSpPr>
        <p:grpSpPr bwMode="auto">
          <a:xfrm>
            <a:off x="1066800" y="1752600"/>
            <a:ext cx="7467600" cy="3870325"/>
            <a:chOff x="406400" y="1584325"/>
            <a:chExt cx="8128000" cy="4281607"/>
          </a:xfrm>
        </p:grpSpPr>
        <p:sp>
          <p:nvSpPr>
            <p:cNvPr id="36870" name="Rectangle 3"/>
            <p:cNvSpPr>
              <a:spLocks noChangeArrowheads="1"/>
            </p:cNvSpPr>
            <p:nvPr/>
          </p:nvSpPr>
          <p:spPr bwMode="auto">
            <a:xfrm>
              <a:off x="406400" y="2546350"/>
              <a:ext cx="1016000" cy="406400"/>
            </a:xfrm>
            <a:prstGeom prst="rect">
              <a:avLst/>
            </a:prstGeom>
            <a:solidFill>
              <a:srgbClr val="FC92FF"/>
            </a:solidFill>
            <a:ln w="9525">
              <a:solidFill>
                <a:schemeClr val="tx1"/>
              </a:solidFill>
              <a:miter lim="800000"/>
              <a:headEnd/>
              <a:tailEnd/>
            </a:ln>
          </p:spPr>
          <p:txBody>
            <a:bodyPr wrap="none" anchor="ctr"/>
            <a:lstStyle/>
            <a:p>
              <a:pPr algn="ctr" eaLnBrk="0" hangingPunct="0"/>
              <a:endParaRPr lang="en-US" sz="2800"/>
            </a:p>
          </p:txBody>
        </p:sp>
        <p:sp>
          <p:nvSpPr>
            <p:cNvPr id="36871" name="Text Box 5"/>
            <p:cNvSpPr txBox="1">
              <a:spLocks noChangeArrowheads="1"/>
            </p:cNvSpPr>
            <p:nvPr/>
          </p:nvSpPr>
          <p:spPr bwMode="auto">
            <a:xfrm rot="-3995017">
              <a:off x="554952" y="3910187"/>
              <a:ext cx="1949450" cy="336550"/>
            </a:xfrm>
            <a:prstGeom prst="rect">
              <a:avLst/>
            </a:prstGeom>
            <a:noFill/>
            <a:ln w="9525">
              <a:noFill/>
              <a:miter lim="800000"/>
              <a:headEnd/>
              <a:tailEnd/>
            </a:ln>
          </p:spPr>
          <p:txBody>
            <a:bodyPr wrap="none">
              <a:spAutoFit/>
            </a:bodyPr>
            <a:lstStyle/>
            <a:p>
              <a:pPr algn="ctr" eaLnBrk="0" hangingPunct="0">
                <a:lnSpc>
                  <a:spcPct val="80000"/>
                </a:lnSpc>
              </a:pPr>
              <a:r>
                <a:rPr lang="en-US" sz="2000"/>
                <a:t>Pre-Conceptual</a:t>
              </a:r>
            </a:p>
          </p:txBody>
        </p:sp>
        <p:sp>
          <p:nvSpPr>
            <p:cNvPr id="36872" name="Text Box 6"/>
            <p:cNvSpPr txBox="1">
              <a:spLocks noChangeArrowheads="1"/>
            </p:cNvSpPr>
            <p:nvPr/>
          </p:nvSpPr>
          <p:spPr bwMode="auto">
            <a:xfrm rot="-4105531">
              <a:off x="1901825" y="3759196"/>
              <a:ext cx="1470025" cy="396875"/>
            </a:xfrm>
            <a:prstGeom prst="rect">
              <a:avLst/>
            </a:prstGeom>
            <a:noFill/>
            <a:ln w="9525">
              <a:noFill/>
              <a:miter lim="800000"/>
              <a:headEnd/>
              <a:tailEnd/>
            </a:ln>
          </p:spPr>
          <p:txBody>
            <a:bodyPr wrap="none">
              <a:spAutoFit/>
            </a:bodyPr>
            <a:lstStyle/>
            <a:p>
              <a:pPr eaLnBrk="0" hangingPunct="0"/>
              <a:r>
                <a:rPr lang="en-US" sz="2000"/>
                <a:t>Conceptual</a:t>
              </a:r>
            </a:p>
          </p:txBody>
        </p:sp>
        <p:sp>
          <p:nvSpPr>
            <p:cNvPr id="36873" name="Text Box 7"/>
            <p:cNvSpPr txBox="1">
              <a:spLocks noChangeArrowheads="1"/>
            </p:cNvSpPr>
            <p:nvPr/>
          </p:nvSpPr>
          <p:spPr bwMode="auto">
            <a:xfrm rot="-4013336">
              <a:off x="2337954" y="4076827"/>
              <a:ext cx="2317750" cy="336550"/>
            </a:xfrm>
            <a:prstGeom prst="rect">
              <a:avLst/>
            </a:prstGeom>
            <a:noFill/>
            <a:ln w="9525">
              <a:noFill/>
              <a:miter lim="800000"/>
              <a:headEnd/>
              <a:tailEnd/>
            </a:ln>
          </p:spPr>
          <p:txBody>
            <a:bodyPr wrap="none">
              <a:spAutoFit/>
            </a:bodyPr>
            <a:lstStyle/>
            <a:p>
              <a:pPr algn="ctr" eaLnBrk="0" hangingPunct="0">
                <a:lnSpc>
                  <a:spcPct val="80000"/>
                </a:lnSpc>
              </a:pPr>
              <a:r>
                <a:rPr lang="en-US" sz="2000"/>
                <a:t>Preliminary Design</a:t>
              </a:r>
            </a:p>
          </p:txBody>
        </p:sp>
        <p:sp>
          <p:nvSpPr>
            <p:cNvPr id="36874" name="Text Box 8"/>
            <p:cNvSpPr txBox="1">
              <a:spLocks noChangeArrowheads="1"/>
            </p:cNvSpPr>
            <p:nvPr/>
          </p:nvSpPr>
          <p:spPr bwMode="auto">
            <a:xfrm rot="-4069977">
              <a:off x="3940968" y="3738333"/>
              <a:ext cx="1598613" cy="336550"/>
            </a:xfrm>
            <a:prstGeom prst="rect">
              <a:avLst/>
            </a:prstGeom>
            <a:noFill/>
            <a:ln w="9525">
              <a:noFill/>
              <a:miter lim="800000"/>
              <a:headEnd/>
              <a:tailEnd/>
            </a:ln>
          </p:spPr>
          <p:txBody>
            <a:bodyPr wrap="none">
              <a:spAutoFit/>
            </a:bodyPr>
            <a:lstStyle/>
            <a:p>
              <a:pPr algn="ctr" eaLnBrk="0" hangingPunct="0">
                <a:lnSpc>
                  <a:spcPct val="80000"/>
                </a:lnSpc>
              </a:pPr>
              <a:r>
                <a:rPr lang="en-US" sz="2000"/>
                <a:t>Final Design</a:t>
              </a:r>
            </a:p>
          </p:txBody>
        </p:sp>
        <p:sp>
          <p:nvSpPr>
            <p:cNvPr id="36875" name="Text Box 9"/>
            <p:cNvSpPr txBox="1">
              <a:spLocks noChangeArrowheads="1"/>
            </p:cNvSpPr>
            <p:nvPr/>
          </p:nvSpPr>
          <p:spPr bwMode="auto">
            <a:xfrm rot="-4061246">
              <a:off x="4896184" y="3724584"/>
              <a:ext cx="1609725" cy="396875"/>
            </a:xfrm>
            <a:prstGeom prst="rect">
              <a:avLst/>
            </a:prstGeom>
            <a:noFill/>
            <a:ln w="9525">
              <a:noFill/>
              <a:miter lim="800000"/>
              <a:headEnd/>
              <a:tailEnd/>
            </a:ln>
          </p:spPr>
          <p:txBody>
            <a:bodyPr wrap="none">
              <a:spAutoFit/>
            </a:bodyPr>
            <a:lstStyle/>
            <a:p>
              <a:pPr eaLnBrk="0" hangingPunct="0"/>
              <a:r>
                <a:rPr lang="en-US" sz="2000"/>
                <a:t>Construction</a:t>
              </a:r>
            </a:p>
          </p:txBody>
        </p:sp>
        <p:sp>
          <p:nvSpPr>
            <p:cNvPr id="36876" name="Text Box 10"/>
            <p:cNvSpPr txBox="1">
              <a:spLocks noChangeArrowheads="1"/>
            </p:cNvSpPr>
            <p:nvPr/>
          </p:nvSpPr>
          <p:spPr bwMode="auto">
            <a:xfrm rot="-4013682">
              <a:off x="5164017" y="4235053"/>
              <a:ext cx="2890213" cy="371546"/>
            </a:xfrm>
            <a:prstGeom prst="rect">
              <a:avLst/>
            </a:prstGeom>
            <a:noFill/>
            <a:ln w="9525">
              <a:noFill/>
              <a:miter lim="800000"/>
              <a:headEnd/>
              <a:tailEnd/>
            </a:ln>
          </p:spPr>
          <p:txBody>
            <a:bodyPr>
              <a:spAutoFit/>
            </a:bodyPr>
            <a:lstStyle/>
            <a:p>
              <a:pPr algn="ctr" eaLnBrk="0" hangingPunct="0">
                <a:lnSpc>
                  <a:spcPct val="80000"/>
                </a:lnSpc>
              </a:pPr>
              <a:r>
                <a:rPr lang="en-US" sz="2000"/>
                <a:t>Turnover/Acceptance</a:t>
              </a:r>
            </a:p>
          </p:txBody>
        </p:sp>
        <p:sp>
          <p:nvSpPr>
            <p:cNvPr id="36877" name="Text Box 11"/>
            <p:cNvSpPr txBox="1">
              <a:spLocks noChangeArrowheads="1"/>
            </p:cNvSpPr>
            <p:nvPr/>
          </p:nvSpPr>
          <p:spPr bwMode="auto">
            <a:xfrm rot="-4001816">
              <a:off x="7105650" y="3770785"/>
              <a:ext cx="1425575" cy="396875"/>
            </a:xfrm>
            <a:prstGeom prst="rect">
              <a:avLst/>
            </a:prstGeom>
            <a:noFill/>
            <a:ln w="9525">
              <a:noFill/>
              <a:miter lim="800000"/>
              <a:headEnd/>
              <a:tailEnd/>
            </a:ln>
          </p:spPr>
          <p:txBody>
            <a:bodyPr wrap="none">
              <a:spAutoFit/>
            </a:bodyPr>
            <a:lstStyle/>
            <a:p>
              <a:pPr eaLnBrk="0" hangingPunct="0"/>
              <a:r>
                <a:rPr lang="en-US" sz="2000"/>
                <a:t>Operations</a:t>
              </a:r>
            </a:p>
          </p:txBody>
        </p:sp>
        <p:sp>
          <p:nvSpPr>
            <p:cNvPr id="36878" name="Text Box 12"/>
            <p:cNvSpPr txBox="1">
              <a:spLocks noChangeArrowheads="1"/>
            </p:cNvSpPr>
            <p:nvPr/>
          </p:nvSpPr>
          <p:spPr bwMode="auto">
            <a:xfrm>
              <a:off x="1931988" y="1636713"/>
              <a:ext cx="1038225" cy="252412"/>
            </a:xfrm>
            <a:prstGeom prst="rect">
              <a:avLst/>
            </a:prstGeom>
            <a:noFill/>
            <a:ln w="9525">
              <a:noFill/>
              <a:miter lim="800000"/>
              <a:headEnd/>
              <a:tailEnd/>
            </a:ln>
          </p:spPr>
          <p:txBody>
            <a:bodyPr wrap="none">
              <a:spAutoFit/>
            </a:bodyPr>
            <a:lstStyle/>
            <a:p>
              <a:pPr algn="ctr" eaLnBrk="0" hangingPunct="0">
                <a:lnSpc>
                  <a:spcPct val="80000"/>
                </a:lnSpc>
              </a:pPr>
              <a:r>
                <a:rPr lang="en-US" sz="2000"/>
                <a:t>CD-0</a:t>
              </a:r>
            </a:p>
          </p:txBody>
        </p:sp>
        <p:sp>
          <p:nvSpPr>
            <p:cNvPr id="36879" name="Text Box 13"/>
            <p:cNvSpPr txBox="1">
              <a:spLocks noChangeArrowheads="1"/>
            </p:cNvSpPr>
            <p:nvPr/>
          </p:nvSpPr>
          <p:spPr bwMode="auto">
            <a:xfrm>
              <a:off x="3052763" y="1584325"/>
              <a:ext cx="1036637" cy="298450"/>
            </a:xfrm>
            <a:prstGeom prst="rect">
              <a:avLst/>
            </a:prstGeom>
            <a:noFill/>
            <a:ln w="9525">
              <a:noFill/>
              <a:miter lim="800000"/>
              <a:headEnd/>
              <a:tailEnd/>
            </a:ln>
          </p:spPr>
          <p:txBody>
            <a:bodyPr wrap="none">
              <a:spAutoFit/>
            </a:bodyPr>
            <a:lstStyle/>
            <a:p>
              <a:pPr eaLnBrk="0" hangingPunct="0"/>
              <a:r>
                <a:rPr lang="en-US" sz="2000"/>
                <a:t>CD-1</a:t>
              </a:r>
            </a:p>
          </p:txBody>
        </p:sp>
        <p:sp>
          <p:nvSpPr>
            <p:cNvPr id="36880" name="Text Box 14"/>
            <p:cNvSpPr txBox="1">
              <a:spLocks noChangeArrowheads="1"/>
            </p:cNvSpPr>
            <p:nvPr/>
          </p:nvSpPr>
          <p:spPr bwMode="auto">
            <a:xfrm>
              <a:off x="4068763" y="1584325"/>
              <a:ext cx="1036637" cy="298450"/>
            </a:xfrm>
            <a:prstGeom prst="rect">
              <a:avLst/>
            </a:prstGeom>
            <a:noFill/>
            <a:ln w="9525">
              <a:noFill/>
              <a:miter lim="800000"/>
              <a:headEnd/>
              <a:tailEnd/>
            </a:ln>
          </p:spPr>
          <p:txBody>
            <a:bodyPr wrap="none">
              <a:spAutoFit/>
            </a:bodyPr>
            <a:lstStyle/>
            <a:p>
              <a:pPr eaLnBrk="0" hangingPunct="0"/>
              <a:r>
                <a:rPr lang="en-US" sz="2000"/>
                <a:t>CD-2</a:t>
              </a:r>
            </a:p>
          </p:txBody>
        </p:sp>
        <p:sp>
          <p:nvSpPr>
            <p:cNvPr id="36881" name="Text Box 15"/>
            <p:cNvSpPr txBox="1">
              <a:spLocks noChangeArrowheads="1"/>
            </p:cNvSpPr>
            <p:nvPr/>
          </p:nvSpPr>
          <p:spPr bwMode="auto">
            <a:xfrm>
              <a:off x="5091113" y="1584325"/>
              <a:ext cx="1036637" cy="298450"/>
            </a:xfrm>
            <a:prstGeom prst="rect">
              <a:avLst/>
            </a:prstGeom>
            <a:noFill/>
            <a:ln w="9525">
              <a:noFill/>
              <a:miter lim="800000"/>
              <a:headEnd/>
              <a:tailEnd/>
            </a:ln>
          </p:spPr>
          <p:txBody>
            <a:bodyPr wrap="none">
              <a:spAutoFit/>
            </a:bodyPr>
            <a:lstStyle/>
            <a:p>
              <a:pPr eaLnBrk="0" hangingPunct="0"/>
              <a:r>
                <a:rPr lang="en-US" sz="2000"/>
                <a:t>CD-3</a:t>
              </a:r>
            </a:p>
          </p:txBody>
        </p:sp>
        <p:sp>
          <p:nvSpPr>
            <p:cNvPr id="36882" name="Text Box 16"/>
            <p:cNvSpPr txBox="1">
              <a:spLocks noChangeArrowheads="1"/>
            </p:cNvSpPr>
            <p:nvPr/>
          </p:nvSpPr>
          <p:spPr bwMode="auto">
            <a:xfrm>
              <a:off x="7123113" y="1601788"/>
              <a:ext cx="1036637" cy="296862"/>
            </a:xfrm>
            <a:prstGeom prst="rect">
              <a:avLst/>
            </a:prstGeom>
            <a:noFill/>
            <a:ln w="9525">
              <a:noFill/>
              <a:miter lim="800000"/>
              <a:headEnd/>
              <a:tailEnd/>
            </a:ln>
          </p:spPr>
          <p:txBody>
            <a:bodyPr wrap="none">
              <a:spAutoFit/>
            </a:bodyPr>
            <a:lstStyle/>
            <a:p>
              <a:pPr eaLnBrk="0" hangingPunct="0"/>
              <a:r>
                <a:rPr lang="en-US" sz="2000"/>
                <a:t>CD-4</a:t>
              </a:r>
            </a:p>
          </p:txBody>
        </p:sp>
        <p:sp>
          <p:nvSpPr>
            <p:cNvPr id="36883" name="Rectangle 17"/>
            <p:cNvSpPr>
              <a:spLocks noChangeArrowheads="1"/>
            </p:cNvSpPr>
            <p:nvPr/>
          </p:nvSpPr>
          <p:spPr bwMode="auto">
            <a:xfrm>
              <a:off x="1422400" y="2546350"/>
              <a:ext cx="1016000" cy="406400"/>
            </a:xfrm>
            <a:prstGeom prst="rect">
              <a:avLst/>
            </a:prstGeom>
            <a:solidFill>
              <a:srgbClr val="B687FF"/>
            </a:solidFill>
            <a:ln w="9525">
              <a:solidFill>
                <a:schemeClr val="tx1"/>
              </a:solidFill>
              <a:miter lim="800000"/>
              <a:headEnd/>
              <a:tailEnd/>
            </a:ln>
          </p:spPr>
          <p:txBody>
            <a:bodyPr wrap="none" anchor="ctr"/>
            <a:lstStyle/>
            <a:p>
              <a:pPr algn="ctr" eaLnBrk="0" hangingPunct="0"/>
              <a:endParaRPr lang="en-US" sz="2800"/>
            </a:p>
          </p:txBody>
        </p:sp>
        <p:sp>
          <p:nvSpPr>
            <p:cNvPr id="36884" name="Rectangle 18"/>
            <p:cNvSpPr>
              <a:spLocks noChangeArrowheads="1"/>
            </p:cNvSpPr>
            <p:nvPr/>
          </p:nvSpPr>
          <p:spPr bwMode="auto">
            <a:xfrm>
              <a:off x="2438400" y="2546350"/>
              <a:ext cx="1016000" cy="406400"/>
            </a:xfrm>
            <a:prstGeom prst="rect">
              <a:avLst/>
            </a:prstGeom>
            <a:solidFill>
              <a:srgbClr val="D1CCFF"/>
            </a:solidFill>
            <a:ln w="9525">
              <a:solidFill>
                <a:schemeClr val="tx1"/>
              </a:solidFill>
              <a:miter lim="800000"/>
              <a:headEnd/>
              <a:tailEnd/>
            </a:ln>
          </p:spPr>
          <p:txBody>
            <a:bodyPr wrap="none" anchor="ctr"/>
            <a:lstStyle/>
            <a:p>
              <a:pPr algn="ctr" eaLnBrk="0" hangingPunct="0"/>
              <a:endParaRPr lang="en-US" sz="2800"/>
            </a:p>
          </p:txBody>
        </p:sp>
        <p:sp>
          <p:nvSpPr>
            <p:cNvPr id="36885" name="Rectangle 19"/>
            <p:cNvSpPr>
              <a:spLocks noChangeArrowheads="1"/>
            </p:cNvSpPr>
            <p:nvPr/>
          </p:nvSpPr>
          <p:spPr bwMode="auto">
            <a:xfrm>
              <a:off x="3454400" y="2546350"/>
              <a:ext cx="1016000" cy="406400"/>
            </a:xfrm>
            <a:prstGeom prst="rect">
              <a:avLst/>
            </a:prstGeom>
            <a:solidFill>
              <a:srgbClr val="7768FF"/>
            </a:solidFill>
            <a:ln w="9525">
              <a:solidFill>
                <a:schemeClr val="tx1"/>
              </a:solidFill>
              <a:miter lim="800000"/>
              <a:headEnd/>
              <a:tailEnd/>
            </a:ln>
          </p:spPr>
          <p:txBody>
            <a:bodyPr wrap="none" anchor="ctr"/>
            <a:lstStyle/>
            <a:p>
              <a:pPr algn="ctr" eaLnBrk="0" hangingPunct="0"/>
              <a:endParaRPr lang="en-US" sz="2800"/>
            </a:p>
          </p:txBody>
        </p:sp>
        <p:sp>
          <p:nvSpPr>
            <p:cNvPr id="36886" name="Rectangle 20"/>
            <p:cNvSpPr>
              <a:spLocks noChangeArrowheads="1"/>
            </p:cNvSpPr>
            <p:nvPr/>
          </p:nvSpPr>
          <p:spPr bwMode="auto">
            <a:xfrm>
              <a:off x="4476750" y="2546350"/>
              <a:ext cx="1016000" cy="406400"/>
            </a:xfrm>
            <a:prstGeom prst="rect">
              <a:avLst/>
            </a:prstGeom>
            <a:solidFill>
              <a:srgbClr val="FF5429"/>
            </a:solidFill>
            <a:ln w="9525">
              <a:solidFill>
                <a:schemeClr val="tx1"/>
              </a:solidFill>
              <a:miter lim="800000"/>
              <a:headEnd/>
              <a:tailEnd/>
            </a:ln>
          </p:spPr>
          <p:txBody>
            <a:bodyPr wrap="none" anchor="ctr"/>
            <a:lstStyle/>
            <a:p>
              <a:pPr algn="ctr" eaLnBrk="0" hangingPunct="0"/>
              <a:endParaRPr lang="en-US" sz="2800"/>
            </a:p>
          </p:txBody>
        </p:sp>
        <p:sp>
          <p:nvSpPr>
            <p:cNvPr id="36887" name="Rectangle 21"/>
            <p:cNvSpPr>
              <a:spLocks noChangeArrowheads="1"/>
            </p:cNvSpPr>
            <p:nvPr/>
          </p:nvSpPr>
          <p:spPr bwMode="auto">
            <a:xfrm>
              <a:off x="5492750" y="2546350"/>
              <a:ext cx="1016000" cy="406400"/>
            </a:xfrm>
            <a:prstGeom prst="rect">
              <a:avLst/>
            </a:prstGeom>
            <a:solidFill>
              <a:srgbClr val="FFD047"/>
            </a:solidFill>
            <a:ln w="9525">
              <a:solidFill>
                <a:schemeClr val="tx1"/>
              </a:solidFill>
              <a:miter lim="800000"/>
              <a:headEnd/>
              <a:tailEnd/>
            </a:ln>
          </p:spPr>
          <p:txBody>
            <a:bodyPr wrap="none" anchor="ctr"/>
            <a:lstStyle/>
            <a:p>
              <a:pPr algn="ctr" eaLnBrk="0" hangingPunct="0"/>
              <a:endParaRPr lang="en-US" sz="2800"/>
            </a:p>
          </p:txBody>
        </p:sp>
        <p:sp>
          <p:nvSpPr>
            <p:cNvPr id="36888" name="Rectangle 22"/>
            <p:cNvSpPr>
              <a:spLocks noChangeArrowheads="1"/>
            </p:cNvSpPr>
            <p:nvPr/>
          </p:nvSpPr>
          <p:spPr bwMode="auto">
            <a:xfrm>
              <a:off x="6508750" y="2546350"/>
              <a:ext cx="1016000" cy="406400"/>
            </a:xfrm>
            <a:prstGeom prst="rect">
              <a:avLst/>
            </a:prstGeom>
            <a:solidFill>
              <a:srgbClr val="8CFF7D"/>
            </a:solidFill>
            <a:ln w="9525">
              <a:solidFill>
                <a:schemeClr val="tx1"/>
              </a:solidFill>
              <a:miter lim="800000"/>
              <a:headEnd/>
              <a:tailEnd/>
            </a:ln>
          </p:spPr>
          <p:txBody>
            <a:bodyPr wrap="none" anchor="ctr"/>
            <a:lstStyle/>
            <a:p>
              <a:pPr algn="ctr" eaLnBrk="0" hangingPunct="0"/>
              <a:endParaRPr lang="en-US" sz="2800"/>
            </a:p>
          </p:txBody>
        </p:sp>
        <p:sp>
          <p:nvSpPr>
            <p:cNvPr id="36889" name="Rectangle 23"/>
            <p:cNvSpPr>
              <a:spLocks noChangeArrowheads="1"/>
            </p:cNvSpPr>
            <p:nvPr/>
          </p:nvSpPr>
          <p:spPr bwMode="auto">
            <a:xfrm>
              <a:off x="7518400" y="2546350"/>
              <a:ext cx="1016000" cy="406400"/>
            </a:xfrm>
            <a:prstGeom prst="rect">
              <a:avLst/>
            </a:prstGeom>
            <a:solidFill>
              <a:srgbClr val="18FF0C"/>
            </a:solidFill>
            <a:ln w="9525">
              <a:solidFill>
                <a:schemeClr val="tx1"/>
              </a:solidFill>
              <a:miter lim="800000"/>
              <a:headEnd/>
              <a:tailEnd/>
            </a:ln>
          </p:spPr>
          <p:txBody>
            <a:bodyPr wrap="none" anchor="ctr"/>
            <a:lstStyle/>
            <a:p>
              <a:pPr algn="ctr" eaLnBrk="0" hangingPunct="0"/>
              <a:endParaRPr lang="en-US" sz="2800"/>
            </a:p>
          </p:txBody>
        </p:sp>
        <p:sp>
          <p:nvSpPr>
            <p:cNvPr id="36890" name="Line 24"/>
            <p:cNvSpPr>
              <a:spLocks noChangeShapeType="1"/>
            </p:cNvSpPr>
            <p:nvPr/>
          </p:nvSpPr>
          <p:spPr bwMode="auto">
            <a:xfrm>
              <a:off x="2432050" y="2222500"/>
              <a:ext cx="0" cy="241300"/>
            </a:xfrm>
            <a:prstGeom prst="line">
              <a:avLst/>
            </a:prstGeom>
            <a:noFill/>
            <a:ln w="9525">
              <a:solidFill>
                <a:schemeClr val="tx1"/>
              </a:solidFill>
              <a:round/>
              <a:headEnd/>
              <a:tailEnd type="triangle" w="med" len="med"/>
            </a:ln>
          </p:spPr>
          <p:txBody>
            <a:bodyPr wrap="none" anchor="ctr"/>
            <a:lstStyle/>
            <a:p>
              <a:endParaRPr lang="en-US"/>
            </a:p>
          </p:txBody>
        </p:sp>
        <p:sp>
          <p:nvSpPr>
            <p:cNvPr id="36891" name="Line 25"/>
            <p:cNvSpPr>
              <a:spLocks noChangeShapeType="1"/>
            </p:cNvSpPr>
            <p:nvPr/>
          </p:nvSpPr>
          <p:spPr bwMode="auto">
            <a:xfrm>
              <a:off x="3440113" y="2222500"/>
              <a:ext cx="0" cy="241300"/>
            </a:xfrm>
            <a:prstGeom prst="line">
              <a:avLst/>
            </a:prstGeom>
            <a:noFill/>
            <a:ln w="9525">
              <a:solidFill>
                <a:schemeClr val="tx1"/>
              </a:solidFill>
              <a:round/>
              <a:headEnd/>
              <a:tailEnd type="triangle" w="med" len="med"/>
            </a:ln>
          </p:spPr>
          <p:txBody>
            <a:bodyPr wrap="none" anchor="ctr"/>
            <a:lstStyle/>
            <a:p>
              <a:endParaRPr lang="en-US"/>
            </a:p>
          </p:txBody>
        </p:sp>
        <p:sp>
          <p:nvSpPr>
            <p:cNvPr id="36892" name="Line 26"/>
            <p:cNvSpPr>
              <a:spLocks noChangeShapeType="1"/>
            </p:cNvSpPr>
            <p:nvPr/>
          </p:nvSpPr>
          <p:spPr bwMode="auto">
            <a:xfrm>
              <a:off x="4456113" y="2222500"/>
              <a:ext cx="0" cy="241300"/>
            </a:xfrm>
            <a:prstGeom prst="line">
              <a:avLst/>
            </a:prstGeom>
            <a:noFill/>
            <a:ln w="9525">
              <a:solidFill>
                <a:schemeClr val="tx1"/>
              </a:solidFill>
              <a:round/>
              <a:headEnd/>
              <a:tailEnd type="triangle" w="med" len="med"/>
            </a:ln>
          </p:spPr>
          <p:txBody>
            <a:bodyPr wrap="none" anchor="ctr"/>
            <a:lstStyle/>
            <a:p>
              <a:endParaRPr lang="en-US"/>
            </a:p>
          </p:txBody>
        </p:sp>
        <p:sp>
          <p:nvSpPr>
            <p:cNvPr id="36893" name="Line 27"/>
            <p:cNvSpPr>
              <a:spLocks noChangeShapeType="1"/>
            </p:cNvSpPr>
            <p:nvPr/>
          </p:nvSpPr>
          <p:spPr bwMode="auto">
            <a:xfrm>
              <a:off x="5478463" y="2222500"/>
              <a:ext cx="0" cy="241300"/>
            </a:xfrm>
            <a:prstGeom prst="line">
              <a:avLst/>
            </a:prstGeom>
            <a:noFill/>
            <a:ln w="9525">
              <a:solidFill>
                <a:schemeClr val="tx1"/>
              </a:solidFill>
              <a:round/>
              <a:headEnd/>
              <a:tailEnd type="triangle" w="med" len="med"/>
            </a:ln>
          </p:spPr>
          <p:txBody>
            <a:bodyPr wrap="none" anchor="ctr"/>
            <a:lstStyle/>
            <a:p>
              <a:endParaRPr lang="en-US"/>
            </a:p>
          </p:txBody>
        </p:sp>
        <p:sp>
          <p:nvSpPr>
            <p:cNvPr id="36894" name="Line 28"/>
            <p:cNvSpPr>
              <a:spLocks noChangeShapeType="1"/>
            </p:cNvSpPr>
            <p:nvPr/>
          </p:nvSpPr>
          <p:spPr bwMode="auto">
            <a:xfrm>
              <a:off x="7510463" y="2222500"/>
              <a:ext cx="0" cy="241300"/>
            </a:xfrm>
            <a:prstGeom prst="line">
              <a:avLst/>
            </a:prstGeom>
            <a:noFill/>
            <a:ln w="9525">
              <a:solidFill>
                <a:schemeClr val="tx1"/>
              </a:solidFill>
              <a:round/>
              <a:headEnd/>
              <a:tailEnd type="triangle" w="med" len="med"/>
            </a:ln>
          </p:spPr>
          <p:txBody>
            <a:bodyPr wrap="none" anchor="ctr"/>
            <a:lstStyle/>
            <a:p>
              <a:endParaRPr lang="en-US"/>
            </a:p>
          </p:txBody>
        </p:sp>
      </p:grpSp>
      <p:sp>
        <p:nvSpPr>
          <p:cNvPr id="32" name="Slide Number Placeholder 31"/>
          <p:cNvSpPr>
            <a:spLocks noGrp="1"/>
          </p:cNvSpPr>
          <p:nvPr>
            <p:ph type="sldNum" sz="quarter" idx="10"/>
          </p:nvPr>
        </p:nvSpPr>
        <p:spPr/>
        <p:txBody>
          <a:bodyPr/>
          <a:lstStyle/>
          <a:p>
            <a:pPr>
              <a:defRPr/>
            </a:pPr>
            <a:fld id="{35B235AA-A5BA-418E-B059-A69B38BC230D}" type="slidenum">
              <a:rPr lang="en-US" smtClean="0"/>
              <a:pPr>
                <a:defRPr/>
              </a:pPr>
              <a:t>59</a:t>
            </a:fld>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Pre-Conceptual Phase</a:t>
            </a:r>
            <a:endParaRPr lang="en-US" sz="1800" cap="small" dirty="0" smtClean="0"/>
          </a:p>
        </p:txBody>
      </p:sp>
      <p:sp>
        <p:nvSpPr>
          <p:cNvPr id="75779" name="Rectangle 3"/>
          <p:cNvSpPr>
            <a:spLocks noGrp="1" noChangeArrowheads="1"/>
          </p:cNvSpPr>
          <p:nvPr>
            <p:ph idx="1"/>
          </p:nvPr>
        </p:nvSpPr>
        <p:spPr>
          <a:xfrm>
            <a:off x="533400" y="1828800"/>
            <a:ext cx="8234363" cy="4419600"/>
          </a:xfrm>
        </p:spPr>
        <p:txBody>
          <a:bodyPr/>
          <a:lstStyle/>
          <a:p>
            <a:pPr eaLnBrk="1" hangingPunct="1">
              <a:buFont typeface="Arial" charset="0"/>
              <a:buChar char="•"/>
            </a:pPr>
            <a:r>
              <a:rPr lang="en-US" sz="2400" smtClean="0">
                <a:latin typeface="Arial" charset="0"/>
                <a:cs typeface="Arial" charset="0"/>
              </a:rPr>
              <a:t>Objective is to identify and assess a program gap and then to propose a project to close the mission related performance gap</a:t>
            </a:r>
          </a:p>
          <a:p>
            <a:pPr eaLnBrk="1" hangingPunct="1">
              <a:buFont typeface="Arial" charset="0"/>
              <a:buChar char="•"/>
            </a:pPr>
            <a:r>
              <a:rPr lang="en-US" sz="2400" smtClean="0">
                <a:latin typeface="Arial" charset="0"/>
                <a:cs typeface="Arial" charset="0"/>
              </a:rPr>
              <a:t>Analysis focus:</a:t>
            </a:r>
          </a:p>
          <a:p>
            <a:pPr lvl="1" eaLnBrk="1" hangingPunct="1">
              <a:buFont typeface="Arial" charset="0"/>
              <a:buChar char="–"/>
            </a:pPr>
            <a:r>
              <a:rPr lang="en-US" sz="2000" smtClean="0">
                <a:solidFill>
                  <a:schemeClr val="tx1"/>
                </a:solidFill>
                <a:latin typeface="Arial" charset="0"/>
                <a:cs typeface="Arial" charset="0"/>
              </a:rPr>
              <a:t>Special Safety Requirements</a:t>
            </a:r>
          </a:p>
          <a:p>
            <a:pPr lvl="1" eaLnBrk="1" hangingPunct="1">
              <a:buFont typeface="Arial" charset="0"/>
              <a:buChar char="–"/>
            </a:pPr>
            <a:r>
              <a:rPr lang="en-US" sz="2000" smtClean="0">
                <a:solidFill>
                  <a:schemeClr val="tx1"/>
                </a:solidFill>
                <a:latin typeface="Arial" charset="0"/>
                <a:cs typeface="Arial" charset="0"/>
              </a:rPr>
              <a:t>New facility or modification</a:t>
            </a:r>
          </a:p>
          <a:p>
            <a:pPr lvl="1" eaLnBrk="1" hangingPunct="1">
              <a:buFont typeface="Arial" charset="0"/>
              <a:buChar char="–"/>
            </a:pPr>
            <a:r>
              <a:rPr lang="en-US" sz="2000" smtClean="0">
                <a:solidFill>
                  <a:schemeClr val="tx1"/>
                </a:solidFill>
                <a:latin typeface="Arial" charset="0"/>
                <a:cs typeface="Arial" charset="0"/>
              </a:rPr>
              <a:t>Available technology</a:t>
            </a:r>
          </a:p>
          <a:p>
            <a:pPr lvl="1" eaLnBrk="1" hangingPunct="1">
              <a:buFont typeface="Arial" charset="0"/>
              <a:buChar char="–"/>
            </a:pPr>
            <a:r>
              <a:rPr lang="en-US" sz="2000" smtClean="0">
                <a:solidFill>
                  <a:schemeClr val="tx1"/>
                </a:solidFill>
                <a:latin typeface="Arial" charset="0"/>
                <a:cs typeface="Arial" charset="0"/>
              </a:rPr>
              <a:t>Process material inputs and outputs</a:t>
            </a:r>
          </a:p>
          <a:p>
            <a:pPr lvl="1" eaLnBrk="1" hangingPunct="1">
              <a:buFont typeface="Arial" charset="0"/>
              <a:buChar char="–"/>
            </a:pPr>
            <a:r>
              <a:rPr lang="en-US" sz="2000" smtClean="0">
                <a:solidFill>
                  <a:schemeClr val="tx1"/>
                </a:solidFill>
                <a:latin typeface="Arial" charset="0"/>
                <a:cs typeface="Arial" charset="0"/>
              </a:rPr>
              <a:t>Upper level facility functions</a:t>
            </a:r>
          </a:p>
          <a:p>
            <a:pPr eaLnBrk="1" hangingPunct="1">
              <a:buFont typeface="Arial" charset="0"/>
              <a:buChar char="–"/>
            </a:pPr>
            <a:r>
              <a:rPr lang="en-US" sz="2400" smtClean="0">
                <a:latin typeface="Arial" charset="0"/>
                <a:cs typeface="Arial" charset="0"/>
              </a:rPr>
              <a:t>Results in the development of Mission Need which becomes a baseline document in the project if CD-0 is granted</a:t>
            </a:r>
          </a:p>
          <a:p>
            <a:pPr lvl="1" eaLnBrk="1" hangingPunct="1">
              <a:buFont typeface="Arial" charset="0"/>
              <a:buChar char="–"/>
            </a:pPr>
            <a:endParaRPr lang="en-US" sz="2000" smtClean="0">
              <a:solidFill>
                <a:schemeClr val="tx1"/>
              </a:solidFill>
              <a:latin typeface="Arial" charset="0"/>
              <a:cs typeface="Arial" charset="0"/>
            </a:endParaRPr>
          </a:p>
          <a:p>
            <a:pPr eaLnBrk="1" hangingPunct="1">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C0DBAF9C-BD11-40B5-B324-7D1E3603F30B}" type="slidenum">
              <a:rPr lang="en-US" smtClean="0"/>
              <a:pPr>
                <a:defRPr/>
              </a:pPr>
              <a:t>60</a:t>
            </a:fld>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Safety-Related Activities </a:t>
            </a:r>
            <a:br>
              <a:rPr lang="en-US" sz="3200" cap="small" dirty="0" smtClean="0"/>
            </a:br>
            <a:r>
              <a:rPr lang="en-US" sz="3200" cap="small" dirty="0" smtClean="0"/>
              <a:t>in Pre-conceptual Phase</a:t>
            </a:r>
            <a:br>
              <a:rPr lang="en-US" sz="3200" cap="small" dirty="0" smtClean="0"/>
            </a:br>
            <a:r>
              <a:rPr lang="en-US" sz="2000" cap="small" dirty="0" smtClean="0"/>
              <a:t> (Slide 1 of 2) </a:t>
            </a:r>
            <a:endParaRPr lang="en-US" sz="3200" cap="small" dirty="0" smtClean="0"/>
          </a:p>
        </p:txBody>
      </p:sp>
      <p:sp>
        <p:nvSpPr>
          <p:cNvPr id="76803" name="Rectangle 3"/>
          <p:cNvSpPr>
            <a:spLocks noGrp="1" noChangeArrowheads="1"/>
          </p:cNvSpPr>
          <p:nvPr>
            <p:ph idx="1"/>
          </p:nvPr>
        </p:nvSpPr>
        <p:spPr>
          <a:xfrm>
            <a:off x="533400" y="1981201"/>
            <a:ext cx="8234363" cy="4267200"/>
          </a:xfrm>
        </p:spPr>
        <p:txBody>
          <a:bodyPr/>
          <a:lstStyle/>
          <a:p>
            <a:pPr marL="533400" indent="-533400" eaLnBrk="1" hangingPunct="1">
              <a:lnSpc>
                <a:spcPct val="150000"/>
              </a:lnSpc>
            </a:pPr>
            <a:r>
              <a:rPr lang="en-US" sz="2400" dirty="0" smtClean="0">
                <a:latin typeface="Arial" charset="0"/>
                <a:cs typeface="Arial" charset="0"/>
              </a:rPr>
              <a:t>Assign project safety lead (establishes continuity)</a:t>
            </a:r>
          </a:p>
          <a:p>
            <a:pPr marL="533400" indent="-533400" eaLnBrk="1" hangingPunct="1">
              <a:lnSpc>
                <a:spcPct val="150000"/>
              </a:lnSpc>
            </a:pPr>
            <a:r>
              <a:rPr lang="en-US" sz="2400" dirty="0" smtClean="0">
                <a:latin typeface="Arial" charset="0"/>
                <a:cs typeface="Arial" charset="0"/>
              </a:rPr>
              <a:t>Initial assessment of project safety issues</a:t>
            </a:r>
          </a:p>
          <a:p>
            <a:pPr marL="933450" lvl="1" indent="-533400" eaLnBrk="1" hangingPunct="1">
              <a:lnSpc>
                <a:spcPct val="150000"/>
              </a:lnSpc>
            </a:pPr>
            <a:r>
              <a:rPr lang="en-US" sz="2000" dirty="0" smtClean="0">
                <a:latin typeface="Arial" charset="0"/>
                <a:cs typeface="Arial" charset="0"/>
              </a:rPr>
              <a:t>Identify top level hazards (including process inputs and outputs)</a:t>
            </a:r>
          </a:p>
          <a:p>
            <a:pPr marL="933450" lvl="1" indent="-533400" eaLnBrk="1" hangingPunct="1">
              <a:lnSpc>
                <a:spcPct val="150000"/>
              </a:lnSpc>
            </a:pPr>
            <a:r>
              <a:rPr lang="en-US" sz="2000" dirty="0" smtClean="0">
                <a:latin typeface="Arial" charset="0"/>
                <a:cs typeface="Arial" charset="0"/>
              </a:rPr>
              <a:t>Determine preliminary hazard categorization</a:t>
            </a:r>
          </a:p>
          <a:p>
            <a:pPr marL="933450" lvl="1" indent="-533400" eaLnBrk="1" hangingPunct="1">
              <a:lnSpc>
                <a:spcPct val="150000"/>
              </a:lnSpc>
            </a:pPr>
            <a:r>
              <a:rPr lang="en-US" sz="2000" dirty="0" smtClean="0">
                <a:latin typeface="Arial" charset="0"/>
                <a:cs typeface="Arial" charset="0"/>
              </a:rPr>
              <a:t>Identify unique constraints affecting project safety approach</a:t>
            </a:r>
          </a:p>
          <a:p>
            <a:pPr marL="533400" indent="-533400" eaLnBrk="1" hangingPunct="1">
              <a:lnSpc>
                <a:spcPct val="150000"/>
              </a:lnSpc>
            </a:pPr>
            <a:r>
              <a:rPr lang="en-US" sz="2400" dirty="0" smtClean="0">
                <a:latin typeface="Arial" charset="0"/>
                <a:cs typeface="Arial" charset="0"/>
              </a:rPr>
              <a:t>Develop DOE expectations for safety activities </a:t>
            </a:r>
            <a:endParaRPr lang="en-US" dirty="0" smtClean="0">
              <a:latin typeface="Arial" charset="0"/>
              <a:cs typeface="Arial" charset="0"/>
            </a:endParaRPr>
          </a:p>
          <a:p>
            <a:pPr marL="933450" lvl="1" indent="-533400" eaLnBrk="1" hangingPunct="1">
              <a:lnSpc>
                <a:spcPct val="150000"/>
              </a:lnSpc>
            </a:pPr>
            <a:endParaRPr lang="en-US" sz="2000" dirty="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ED52156F-BC44-438E-8989-873DB26E8E06}" type="slidenum">
              <a:rPr lang="en-US" smtClean="0"/>
              <a:pPr>
                <a:defRPr/>
              </a:pPr>
              <a:t>61</a:t>
            </a:fld>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Title 1"/>
          <p:cNvSpPr>
            <a:spLocks noGrp="1"/>
          </p:cNvSpPr>
          <p:nvPr>
            <p:ph type="title"/>
          </p:nvPr>
        </p:nvSpPr>
        <p:spPr/>
        <p:txBody>
          <a:bodyPr rtlCol="0">
            <a:normAutofit fontScale="90000"/>
          </a:bodyPr>
          <a:lstStyle/>
          <a:p>
            <a:pPr eaLnBrk="1" fontAlgn="auto" hangingPunct="1">
              <a:spcAft>
                <a:spcPts val="0"/>
              </a:spcAft>
              <a:defRPr/>
            </a:pPr>
            <a:r>
              <a:rPr lang="en-US" sz="3100" cap="small" dirty="0" smtClean="0"/>
              <a:t>Develop</a:t>
            </a:r>
            <a:r>
              <a:rPr lang="en-US" sz="3200" cap="small" dirty="0" smtClean="0"/>
              <a:t> DOE Expectations for Execution of Safety Activities</a:t>
            </a:r>
            <a:br>
              <a:rPr lang="en-US" sz="3200" cap="small" dirty="0" smtClean="0"/>
            </a:br>
            <a:r>
              <a:rPr lang="en-US" sz="1800" cap="small" dirty="0" smtClean="0"/>
              <a:t> (Slide 1 of 2) </a:t>
            </a:r>
            <a:endParaRPr lang="en-US" sz="3200" cap="small" dirty="0" smtClean="0"/>
          </a:p>
        </p:txBody>
      </p:sp>
      <p:sp>
        <p:nvSpPr>
          <p:cNvPr id="78851" name="Content Placeholder 2"/>
          <p:cNvSpPr>
            <a:spLocks noGrp="1"/>
          </p:cNvSpPr>
          <p:nvPr>
            <p:ph idx="1"/>
          </p:nvPr>
        </p:nvSpPr>
        <p:spPr/>
        <p:txBody>
          <a:bodyPr/>
          <a:lstStyle/>
          <a:p>
            <a:pPr eaLnBrk="1" hangingPunct="1">
              <a:spcBef>
                <a:spcPts val="1200"/>
              </a:spcBef>
              <a:spcAft>
                <a:spcPts val="600"/>
              </a:spcAft>
              <a:buNone/>
            </a:pPr>
            <a:r>
              <a:rPr lang="en-US" sz="2400" dirty="0" smtClean="0">
                <a:latin typeface="Arial" charset="0"/>
                <a:cs typeface="Arial" charset="0"/>
              </a:rPr>
              <a:t>Examples:</a:t>
            </a:r>
          </a:p>
          <a:p>
            <a:pPr eaLnBrk="1" hangingPunct="1">
              <a:spcBef>
                <a:spcPts val="1200"/>
              </a:spcBef>
              <a:spcAft>
                <a:spcPts val="600"/>
              </a:spcAft>
            </a:pPr>
            <a:r>
              <a:rPr lang="en-US" sz="2400" dirty="0" smtClean="0">
                <a:latin typeface="Arial" charset="0"/>
                <a:cs typeface="Arial" charset="0"/>
              </a:rPr>
              <a:t>Anticipated safety issues/hazards and goal (if any) for hazard category </a:t>
            </a:r>
          </a:p>
          <a:p>
            <a:pPr marL="800100" lvl="1" indent="-342900" eaLnBrk="1" hangingPunct="1">
              <a:spcBef>
                <a:spcPts val="1200"/>
              </a:spcBef>
              <a:spcAft>
                <a:spcPts val="600"/>
              </a:spcAft>
              <a:buFont typeface="Symbol" pitchFamily="18" charset="2"/>
              <a:buChar char=""/>
            </a:pPr>
            <a:r>
              <a:rPr lang="en-US" sz="1800" dirty="0" smtClean="0">
                <a:solidFill>
                  <a:schemeClr val="tx1"/>
                </a:solidFill>
                <a:latin typeface="Arial" charset="0"/>
                <a:cs typeface="Arial" charset="0"/>
              </a:rPr>
              <a:t>(Can affect process capacity through MAR limits; can affect issues regarding criticality hazards; could affect </a:t>
            </a:r>
            <a:r>
              <a:rPr lang="en-US" sz="1800" dirty="0" err="1" smtClean="0">
                <a:solidFill>
                  <a:schemeClr val="tx1"/>
                </a:solidFill>
                <a:latin typeface="Arial" charset="0"/>
                <a:cs typeface="Arial" charset="0"/>
              </a:rPr>
              <a:t>siting</a:t>
            </a:r>
            <a:r>
              <a:rPr lang="en-US" sz="1800" dirty="0" smtClean="0">
                <a:solidFill>
                  <a:schemeClr val="tx1"/>
                </a:solidFill>
                <a:latin typeface="Arial" charset="0"/>
                <a:cs typeface="Arial" charset="0"/>
              </a:rPr>
              <a:t>)</a:t>
            </a:r>
            <a:endParaRPr lang="en-US" dirty="0" smtClean="0">
              <a:solidFill>
                <a:schemeClr val="tx1"/>
              </a:solidFill>
              <a:latin typeface="Arial" charset="0"/>
              <a:cs typeface="Arial" charset="0"/>
            </a:endParaRPr>
          </a:p>
          <a:p>
            <a:pPr eaLnBrk="1" hangingPunct="1">
              <a:spcBef>
                <a:spcPts val="1200"/>
              </a:spcBef>
              <a:spcAft>
                <a:spcPts val="600"/>
              </a:spcAft>
            </a:pPr>
            <a:r>
              <a:rPr lang="en-US" sz="2400" dirty="0" smtClean="0">
                <a:latin typeface="Arial" charset="0"/>
                <a:cs typeface="Arial" charset="0"/>
              </a:rPr>
              <a:t>Potential need for improvements in site infrastructure to support facility safety systems (an interface issue that might expand scope of the project)</a:t>
            </a:r>
          </a:p>
          <a:p>
            <a:pPr eaLnBrk="1" hangingPunct="1">
              <a:spcBef>
                <a:spcPts val="1200"/>
              </a:spcBef>
              <a:spcAft>
                <a:spcPts val="600"/>
              </a:spcAft>
              <a:buFont typeface="Arial" charset="0"/>
              <a:buChar char="•"/>
            </a:pPr>
            <a:endParaRPr lang="en-US" sz="2400" dirty="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4AEE3FC3-BAA9-47A7-85C0-4109EF505279}" type="slidenum">
              <a:rPr lang="en-US" smtClean="0"/>
              <a:pPr>
                <a:defRPr/>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800" cap="small" dirty="0" smtClean="0"/>
              <a:t>Develop DOE Expectations for Execution of Safety Activities </a:t>
            </a:r>
            <a:r>
              <a:rPr lang="en-US" sz="3200" cap="small" dirty="0" smtClean="0"/>
              <a:t/>
            </a:r>
            <a:br>
              <a:rPr lang="en-US" sz="3200" cap="small" dirty="0" smtClean="0"/>
            </a:br>
            <a:r>
              <a:rPr lang="en-US" sz="1800" cap="small" dirty="0" smtClean="0"/>
              <a:t> (Slide 2 of 2) </a:t>
            </a:r>
            <a:endParaRPr lang="en-US" sz="3200" dirty="0"/>
          </a:p>
        </p:txBody>
      </p:sp>
      <p:sp>
        <p:nvSpPr>
          <p:cNvPr id="79875" name="Content Placeholder 2"/>
          <p:cNvSpPr>
            <a:spLocks noGrp="1"/>
          </p:cNvSpPr>
          <p:nvPr>
            <p:ph idx="1"/>
          </p:nvPr>
        </p:nvSpPr>
        <p:spPr/>
        <p:txBody>
          <a:bodyPr/>
          <a:lstStyle/>
          <a:p>
            <a:pPr eaLnBrk="1" hangingPunct="1">
              <a:spcBef>
                <a:spcPts val="1200"/>
              </a:spcBef>
              <a:spcAft>
                <a:spcPts val="600"/>
              </a:spcAft>
            </a:pPr>
            <a:r>
              <a:rPr lang="en-US" sz="2400" dirty="0" smtClean="0">
                <a:latin typeface="Arial" charset="0"/>
                <a:cs typeface="Arial" charset="0"/>
              </a:rPr>
              <a:t>Potential need for geotechnical studies</a:t>
            </a:r>
          </a:p>
          <a:p>
            <a:pPr eaLnBrk="1" hangingPunct="1">
              <a:spcBef>
                <a:spcPts val="1200"/>
              </a:spcBef>
              <a:spcAft>
                <a:spcPts val="600"/>
              </a:spcAft>
            </a:pPr>
            <a:r>
              <a:rPr lang="en-US" sz="2400" dirty="0" smtClean="0">
                <a:latin typeface="Arial" charset="0"/>
                <a:cs typeface="Arial" charset="0"/>
              </a:rPr>
              <a:t>Expectations regarding confinement strategy</a:t>
            </a:r>
          </a:p>
          <a:p>
            <a:pPr eaLnBrk="1" hangingPunct="1">
              <a:spcBef>
                <a:spcPts val="1200"/>
              </a:spcBef>
              <a:spcAft>
                <a:spcPts val="600"/>
              </a:spcAft>
            </a:pPr>
            <a:r>
              <a:rPr lang="en-US" sz="2400" dirty="0" smtClean="0">
                <a:latin typeface="Arial" charset="0"/>
                <a:cs typeface="Arial" charset="0"/>
              </a:rPr>
              <a:t>Project tailoring (e.g., PDSA only for a major mod)</a:t>
            </a:r>
          </a:p>
          <a:p>
            <a:pPr eaLnBrk="1" hangingPunct="1">
              <a:spcBef>
                <a:spcPts val="1200"/>
              </a:spcBef>
              <a:spcAft>
                <a:spcPts val="600"/>
              </a:spcAft>
            </a:pPr>
            <a:r>
              <a:rPr lang="en-US" sz="2400" dirty="0" smtClean="0">
                <a:latin typeface="Arial" charset="0"/>
                <a:cs typeface="Arial" charset="0"/>
              </a:rPr>
              <a:t>Anticipated need for exceptions to O 420.1B and associated guides</a:t>
            </a:r>
          </a:p>
          <a:p>
            <a:endParaRPr lang="en-US" sz="2400" dirty="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9D8A8B5A-A78F-4E8C-A3DE-89729E8B11C3}"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4294967295"/>
          </p:nvPr>
        </p:nvSpPr>
        <p:spPr>
          <a:xfrm>
            <a:off x="6553200" y="6356350"/>
            <a:ext cx="2133600" cy="365125"/>
          </a:xfrm>
          <a:prstGeom prst="rect">
            <a:avLst/>
          </a:prstGeom>
        </p:spPr>
        <p:txBody>
          <a:bodyPr/>
          <a:lstStyle/>
          <a:p>
            <a:pPr>
              <a:defRPr/>
            </a:pPr>
            <a:fld id="{FF4E50EA-84DB-4226-9B89-C7D5C599A746}" type="slidenum">
              <a:rPr lang="en-US" smtClean="0"/>
              <a:pPr>
                <a:defRPr/>
              </a:pPr>
              <a:t>64</a:t>
            </a:fld>
            <a:endParaRPr lang="en-US" dirty="0"/>
          </a:p>
        </p:txBody>
      </p:sp>
      <p:sp>
        <p:nvSpPr>
          <p:cNvPr id="243716" name="Rectangle 4"/>
          <p:cNvSpPr>
            <a:spLocks noGrp="1" noChangeArrowheads="1"/>
          </p:cNvSpPr>
          <p:nvPr>
            <p:ph type="title" idx="4294967295"/>
          </p:nvPr>
        </p:nvSpPr>
        <p:spPr>
          <a:xfrm>
            <a:off x="1066800" y="76200"/>
            <a:ext cx="7150100" cy="1143000"/>
          </a:xfrm>
        </p:spPr>
        <p:txBody>
          <a:bodyPr rtlCol="0">
            <a:noAutofit/>
          </a:bodyPr>
          <a:lstStyle/>
          <a:p>
            <a:pPr eaLnBrk="1" fontAlgn="auto" hangingPunct="1">
              <a:spcAft>
                <a:spcPts val="0"/>
              </a:spcAft>
              <a:defRPr/>
            </a:pPr>
            <a:r>
              <a:rPr lang="en-US" sz="3200" b="1" cap="small" dirty="0" smtClean="0">
                <a:solidFill>
                  <a:schemeClr val="accent3">
                    <a:lumMod val="75000"/>
                  </a:schemeClr>
                </a:solidFill>
              </a:rPr>
              <a:t>Pre-Conceptual Phase</a:t>
            </a:r>
          </a:p>
        </p:txBody>
      </p:sp>
      <p:sp>
        <p:nvSpPr>
          <p:cNvPr id="1029" name="Rectangle 2"/>
          <p:cNvSpPr>
            <a:spLocks noChangeArrowheads="1"/>
          </p:cNvSpPr>
          <p:nvPr/>
        </p:nvSpPr>
        <p:spPr bwMode="auto">
          <a:xfrm>
            <a:off x="0" y="814388"/>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1026" name="Object 3"/>
          <p:cNvGraphicFramePr>
            <a:graphicFrameLocks noChangeAspect="1"/>
          </p:cNvGraphicFramePr>
          <p:nvPr/>
        </p:nvGraphicFramePr>
        <p:xfrm>
          <a:off x="228600" y="1119188"/>
          <a:ext cx="8686800" cy="5357812"/>
        </p:xfrm>
        <a:graphic>
          <a:graphicData uri="http://schemas.openxmlformats.org/presentationml/2006/ole">
            <p:oleObj spid="_x0000_s348162" r:id="rId4" imgW="9292971" imgH="6608445" progId="">
              <p:embed/>
            </p:oleObj>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pPr eaLnBrk="1" hangingPunct="1"/>
            <a:r>
              <a:rPr lang="en-US" sz="2400" dirty="0" smtClean="0">
                <a:latin typeface="Arial" charset="0"/>
                <a:cs typeface="Arial" charset="0"/>
              </a:rPr>
              <a:t/>
            </a:r>
            <a:br>
              <a:rPr lang="en-US" sz="2400" dirty="0" smtClean="0">
                <a:latin typeface="Arial" charset="0"/>
                <a:cs typeface="Arial" charset="0"/>
              </a:rPr>
            </a:br>
            <a:r>
              <a:rPr lang="en-US" sz="3200" dirty="0" smtClean="0">
                <a:latin typeface="Arial" charset="0"/>
                <a:cs typeface="Arial" charset="0"/>
              </a:rPr>
              <a:t>Identify Important Project Interfaces</a:t>
            </a:r>
          </a:p>
        </p:txBody>
      </p:sp>
      <p:sp>
        <p:nvSpPr>
          <p:cNvPr id="51203" name="Content Placeholder 2"/>
          <p:cNvSpPr>
            <a:spLocks noGrp="1"/>
          </p:cNvSpPr>
          <p:nvPr>
            <p:ph idx="1"/>
          </p:nvPr>
        </p:nvSpPr>
        <p:spPr>
          <a:xfrm>
            <a:off x="533400" y="2362200"/>
            <a:ext cx="4267200" cy="3886200"/>
          </a:xfrm>
        </p:spPr>
        <p:txBody>
          <a:bodyPr/>
          <a:lstStyle/>
          <a:p>
            <a:pPr eaLnBrk="1" hangingPunct="1">
              <a:spcBef>
                <a:spcPts val="600"/>
              </a:spcBef>
              <a:spcAft>
                <a:spcPts val="600"/>
              </a:spcAft>
            </a:pPr>
            <a:r>
              <a:rPr lang="en-US" sz="2400" b="0" dirty="0" smtClean="0">
                <a:latin typeface="Arial" charset="0"/>
                <a:cs typeface="Arial" charset="0"/>
              </a:rPr>
              <a:t>Criticality</a:t>
            </a:r>
          </a:p>
          <a:p>
            <a:pPr eaLnBrk="1" hangingPunct="1">
              <a:spcBef>
                <a:spcPts val="600"/>
              </a:spcBef>
              <a:spcAft>
                <a:spcPts val="600"/>
              </a:spcAft>
            </a:pPr>
            <a:r>
              <a:rPr lang="en-US" sz="2400" b="0" dirty="0" smtClean="0">
                <a:latin typeface="Arial" charset="0"/>
                <a:cs typeface="Arial" charset="0"/>
              </a:rPr>
              <a:t>Quality Assurance</a:t>
            </a:r>
          </a:p>
          <a:p>
            <a:pPr eaLnBrk="1" hangingPunct="1">
              <a:spcBef>
                <a:spcPts val="600"/>
              </a:spcBef>
              <a:spcAft>
                <a:spcPts val="600"/>
              </a:spcAft>
            </a:pPr>
            <a:r>
              <a:rPr lang="en-US" sz="2400" b="0" dirty="0" smtClean="0">
                <a:latin typeface="Arial" charset="0"/>
                <a:cs typeface="Arial" charset="0"/>
              </a:rPr>
              <a:t>Fire Protection </a:t>
            </a:r>
          </a:p>
          <a:p>
            <a:pPr eaLnBrk="1" hangingPunct="1">
              <a:spcBef>
                <a:spcPts val="600"/>
              </a:spcBef>
              <a:spcAft>
                <a:spcPts val="600"/>
              </a:spcAft>
            </a:pPr>
            <a:r>
              <a:rPr lang="en-US" sz="2400" b="0" dirty="0" smtClean="0">
                <a:latin typeface="Arial" charset="0"/>
                <a:cs typeface="Arial" charset="0"/>
              </a:rPr>
              <a:t>Emergency Management</a:t>
            </a:r>
          </a:p>
          <a:p>
            <a:pPr eaLnBrk="1" hangingPunct="1">
              <a:spcBef>
                <a:spcPts val="600"/>
              </a:spcBef>
              <a:spcAft>
                <a:spcPts val="600"/>
              </a:spcAft>
            </a:pPr>
            <a:r>
              <a:rPr lang="en-US" sz="2400" b="0" dirty="0" smtClean="0">
                <a:latin typeface="Arial" charset="0"/>
                <a:cs typeface="Arial" charset="0"/>
              </a:rPr>
              <a:t>Human Factors</a:t>
            </a:r>
          </a:p>
          <a:p>
            <a:pPr eaLnBrk="1" hangingPunct="1">
              <a:spcBef>
                <a:spcPts val="600"/>
              </a:spcBef>
              <a:spcAft>
                <a:spcPts val="600"/>
              </a:spcAft>
            </a:pPr>
            <a:r>
              <a:rPr lang="en-US" sz="2400" b="0" dirty="0" smtClean="0">
                <a:latin typeface="Arial" charset="0"/>
                <a:cs typeface="Arial" charset="0"/>
              </a:rPr>
              <a:t>Site Infrastructure</a:t>
            </a:r>
          </a:p>
          <a:p>
            <a:pPr eaLnBrk="1" hangingPunct="1">
              <a:spcBef>
                <a:spcPts val="600"/>
              </a:spcBef>
            </a:pPr>
            <a:r>
              <a:rPr lang="en-US" sz="2400" b="0" dirty="0" smtClean="0">
                <a:latin typeface="Arial" charset="0"/>
                <a:cs typeface="Arial" charset="0"/>
              </a:rPr>
              <a:t>Worker Safety and Health (10 CFR 851)</a:t>
            </a:r>
          </a:p>
        </p:txBody>
      </p:sp>
      <p:sp>
        <p:nvSpPr>
          <p:cNvPr id="51204" name="Content Placeholder 2"/>
          <p:cNvSpPr txBox="1">
            <a:spLocks/>
          </p:cNvSpPr>
          <p:nvPr/>
        </p:nvSpPr>
        <p:spPr bwMode="auto">
          <a:xfrm>
            <a:off x="4724400" y="2362200"/>
            <a:ext cx="4038600" cy="3916363"/>
          </a:xfrm>
          <a:prstGeom prst="rect">
            <a:avLst/>
          </a:prstGeom>
          <a:noFill/>
          <a:ln w="9525">
            <a:noFill/>
            <a:miter lim="800000"/>
            <a:headEnd/>
            <a:tailEnd/>
          </a:ln>
        </p:spPr>
        <p:txBody>
          <a:bodyPr/>
          <a:lstStyle/>
          <a:p>
            <a:pPr marL="342900" indent="-342900">
              <a:spcBef>
                <a:spcPts val="600"/>
              </a:spcBef>
              <a:spcAft>
                <a:spcPts val="600"/>
              </a:spcAft>
              <a:buFont typeface="Wingdings" pitchFamily="2" charset="2"/>
              <a:buChar char="§"/>
            </a:pPr>
            <a:r>
              <a:rPr lang="en-US" sz="2400" dirty="0" smtClean="0"/>
              <a:t>Radiological Protection</a:t>
            </a:r>
            <a:endParaRPr lang="en-US" sz="2400" dirty="0"/>
          </a:p>
          <a:p>
            <a:pPr marL="342900" indent="-342900">
              <a:spcBef>
                <a:spcPts val="600"/>
              </a:spcBef>
              <a:spcAft>
                <a:spcPts val="600"/>
              </a:spcAft>
              <a:buFont typeface="Wingdings" pitchFamily="2" charset="2"/>
              <a:buChar char="§"/>
            </a:pPr>
            <a:r>
              <a:rPr lang="en-US" sz="2400" dirty="0" smtClean="0"/>
              <a:t>Hazardous Waste Management</a:t>
            </a:r>
            <a:endParaRPr lang="en-US" sz="2400" dirty="0"/>
          </a:p>
          <a:p>
            <a:pPr marL="342900" indent="-342900">
              <a:spcBef>
                <a:spcPts val="600"/>
              </a:spcBef>
              <a:spcAft>
                <a:spcPts val="600"/>
              </a:spcAft>
              <a:buFont typeface="Wingdings" pitchFamily="2" charset="2"/>
              <a:buChar char="§"/>
            </a:pPr>
            <a:r>
              <a:rPr lang="en-US" sz="2400" dirty="0"/>
              <a:t>Safeguards and Security </a:t>
            </a:r>
            <a:endParaRPr lang="en-US" sz="2400" dirty="0" smtClean="0"/>
          </a:p>
          <a:p>
            <a:pPr marL="342900" indent="-342900">
              <a:spcBef>
                <a:spcPts val="600"/>
              </a:spcBef>
              <a:spcAft>
                <a:spcPts val="600"/>
              </a:spcAft>
              <a:buFont typeface="Wingdings" pitchFamily="2" charset="2"/>
              <a:buChar char="§"/>
            </a:pPr>
            <a:r>
              <a:rPr lang="en-US" sz="2400" dirty="0" smtClean="0"/>
              <a:t>Transportation</a:t>
            </a:r>
          </a:p>
          <a:p>
            <a:pPr marL="342900" indent="-342900">
              <a:spcBef>
                <a:spcPts val="600"/>
              </a:spcBef>
              <a:spcAft>
                <a:spcPts val="600"/>
              </a:spcAft>
              <a:buFont typeface="Wingdings" pitchFamily="2" charset="2"/>
              <a:buChar char="§"/>
            </a:pPr>
            <a:r>
              <a:rPr lang="en-US" sz="2400" dirty="0" smtClean="0"/>
              <a:t>Environmental Protection</a:t>
            </a:r>
          </a:p>
          <a:p>
            <a:pPr marL="342900" indent="-342900">
              <a:spcBef>
                <a:spcPts val="600"/>
              </a:spcBef>
              <a:spcAft>
                <a:spcPts val="600"/>
              </a:spcAft>
              <a:buFont typeface="Wingdings" pitchFamily="2" charset="2"/>
              <a:buChar char="§"/>
            </a:pPr>
            <a:r>
              <a:rPr lang="en-US" sz="2400" dirty="0"/>
              <a:t>Coordination with the DOE SBRT</a:t>
            </a:r>
          </a:p>
          <a:p>
            <a:pPr marL="342900" indent="-342900">
              <a:spcBef>
                <a:spcPts val="600"/>
              </a:spcBef>
              <a:spcAft>
                <a:spcPts val="600"/>
              </a:spcAft>
              <a:buFont typeface="Wingdings" pitchFamily="2" charset="2"/>
              <a:buChar char="§"/>
            </a:pPr>
            <a:endParaRPr lang="en-US" sz="2400" dirty="0"/>
          </a:p>
        </p:txBody>
      </p:sp>
      <p:sp>
        <p:nvSpPr>
          <p:cNvPr id="6" name="Slide Number Placeholder 5"/>
          <p:cNvSpPr>
            <a:spLocks noGrp="1"/>
          </p:cNvSpPr>
          <p:nvPr>
            <p:ph type="sldNum" sz="quarter" idx="10"/>
          </p:nvPr>
        </p:nvSpPr>
        <p:spPr/>
        <p:txBody>
          <a:bodyPr/>
          <a:lstStyle/>
          <a:p>
            <a:pPr>
              <a:defRPr/>
            </a:pPr>
            <a:fld id="{4DB40433-B598-4798-B5D0-3AFB52EAA158}" type="slidenum">
              <a:rPr lang="en-US" smtClean="0"/>
              <a:pPr>
                <a:defRPr/>
              </a:pPr>
              <a:t>65</a:t>
            </a:fld>
            <a:endParaRPr 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rtlCol="0">
            <a:normAutofit/>
          </a:bodyPr>
          <a:lstStyle/>
          <a:p>
            <a:pPr eaLnBrk="1" fontAlgn="auto" hangingPunct="1">
              <a:spcAft>
                <a:spcPts val="0"/>
              </a:spcAft>
              <a:defRPr/>
            </a:pPr>
            <a:r>
              <a:rPr lang="en-US" cap="small" dirty="0" smtClean="0"/>
              <a:t>Conceptual Design Phase</a:t>
            </a:r>
            <a:endParaRPr lang="en-US" sz="1800" cap="small" dirty="0" smtClean="0"/>
          </a:p>
        </p:txBody>
      </p:sp>
      <p:sp>
        <p:nvSpPr>
          <p:cNvPr id="88067" name="Rectangle 3"/>
          <p:cNvSpPr>
            <a:spLocks noGrp="1" noChangeArrowheads="1"/>
          </p:cNvSpPr>
          <p:nvPr>
            <p:ph idx="1"/>
          </p:nvPr>
        </p:nvSpPr>
        <p:spPr>
          <a:xfrm>
            <a:off x="533400" y="1981200"/>
            <a:ext cx="8234363" cy="4267200"/>
          </a:xfrm>
        </p:spPr>
        <p:txBody>
          <a:bodyPr rtlCol="0">
            <a:normAutofit lnSpcReduction="10000"/>
          </a:bodyPr>
          <a:lstStyle/>
          <a:p>
            <a:pPr eaLnBrk="1" fontAlgn="auto" hangingPunct="1">
              <a:spcBef>
                <a:spcPts val="1200"/>
              </a:spcBef>
              <a:spcAft>
                <a:spcPts val="600"/>
              </a:spcAft>
              <a:defRPr/>
            </a:pPr>
            <a:r>
              <a:rPr lang="en-US" sz="2000" dirty="0" smtClean="0"/>
              <a:t>Goal for safety-in-design in this phase is to evaluate alternative design concepts, prepare the SDS, and provide a conservative design basis for the preferred concept </a:t>
            </a:r>
          </a:p>
          <a:p>
            <a:pPr eaLnBrk="1" fontAlgn="auto" hangingPunct="1">
              <a:spcBef>
                <a:spcPts val="1200"/>
              </a:spcBef>
              <a:spcAft>
                <a:spcPts val="600"/>
              </a:spcAft>
              <a:defRPr/>
            </a:pPr>
            <a:r>
              <a:rPr lang="en-US" sz="2000" dirty="0" smtClean="0"/>
              <a:t>Perform sufficient analysis to make informed safety decisions for this phase</a:t>
            </a:r>
          </a:p>
          <a:p>
            <a:pPr eaLnBrk="1" fontAlgn="auto" hangingPunct="1">
              <a:spcBef>
                <a:spcPts val="1200"/>
              </a:spcBef>
              <a:spcAft>
                <a:spcPts val="600"/>
              </a:spcAft>
              <a:defRPr/>
            </a:pPr>
            <a:r>
              <a:rPr lang="en-US" sz="2000" dirty="0" smtClean="0"/>
              <a:t>Document risks and opportunities for selections including cost and schedule range impacts</a:t>
            </a:r>
          </a:p>
          <a:p>
            <a:pPr eaLnBrk="1" fontAlgn="auto" hangingPunct="1">
              <a:spcBef>
                <a:spcPts val="1200"/>
              </a:spcBef>
              <a:spcAft>
                <a:spcPts val="600"/>
              </a:spcAft>
              <a:defRPr/>
            </a:pPr>
            <a:r>
              <a:rPr lang="en-US" sz="2000" dirty="0" smtClean="0"/>
              <a:t>Begin considerations of quality requirements, Quality Assurance Program (QAP) established</a:t>
            </a:r>
          </a:p>
          <a:p>
            <a:pPr eaLnBrk="1" fontAlgn="auto" hangingPunct="1">
              <a:spcAft>
                <a:spcPts val="0"/>
              </a:spcAft>
              <a:buFont typeface="Arial" charset="0"/>
              <a:buChar char="•"/>
              <a:defRPr/>
            </a:pPr>
            <a:endParaRPr lang="en-US" sz="2000" dirty="0" smtClean="0"/>
          </a:p>
          <a:p>
            <a:pPr indent="3175" eaLnBrk="1" fontAlgn="auto" hangingPunct="1">
              <a:spcAft>
                <a:spcPts val="0"/>
              </a:spcAft>
              <a:buFont typeface="Arial" pitchFamily="34" charset="0"/>
              <a:buNone/>
              <a:defRPr/>
            </a:pPr>
            <a:r>
              <a:rPr lang="en-US" sz="1800" i="1" dirty="0" smtClean="0"/>
              <a:t>(This phase is the best opportunity for safety analysis to cost-effectively influence design)</a:t>
            </a:r>
          </a:p>
        </p:txBody>
      </p:sp>
      <p:sp>
        <p:nvSpPr>
          <p:cNvPr id="83972" name="Rectangle 3"/>
          <p:cNvSpPr>
            <a:spLocks noChangeArrowheads="1"/>
          </p:cNvSpPr>
          <p:nvPr/>
        </p:nvSpPr>
        <p:spPr bwMode="auto">
          <a:xfrm>
            <a:off x="533400" y="4724400"/>
            <a:ext cx="5562600" cy="1371600"/>
          </a:xfrm>
          <a:prstGeom prst="rect">
            <a:avLst/>
          </a:prstGeom>
          <a:noFill/>
          <a:ln w="9525">
            <a:noFill/>
            <a:miter lim="800000"/>
            <a:headEnd/>
            <a:tailEnd/>
          </a:ln>
        </p:spPr>
        <p:txBody>
          <a:bodyPr lIns="0" tIns="0" rIns="0" bIns="0"/>
          <a:lstStyle/>
          <a:p>
            <a:pPr marL="342900" indent="-342900">
              <a:lnSpc>
                <a:spcPct val="85000"/>
              </a:lnSpc>
              <a:spcBef>
                <a:spcPct val="30000"/>
              </a:spcBef>
              <a:buClr>
                <a:schemeClr val="folHlink"/>
              </a:buClr>
              <a:buFont typeface="Wingdings" pitchFamily="2" charset="2"/>
              <a:buBlip>
                <a:blip r:embed="rId3"/>
              </a:buBlip>
            </a:pPr>
            <a:endParaRPr lang="en-US" sz="2800"/>
          </a:p>
        </p:txBody>
      </p:sp>
      <p:sp>
        <p:nvSpPr>
          <p:cNvPr id="6" name="Slide Number Placeholder 5"/>
          <p:cNvSpPr>
            <a:spLocks noGrp="1"/>
          </p:cNvSpPr>
          <p:nvPr>
            <p:ph type="sldNum" sz="quarter" idx="10"/>
          </p:nvPr>
        </p:nvSpPr>
        <p:spPr/>
        <p:txBody>
          <a:bodyPr/>
          <a:lstStyle/>
          <a:p>
            <a:pPr>
              <a:defRPr/>
            </a:pPr>
            <a:fld id="{84AE3C13-153E-47CA-9BF6-0531AA1F494D}" type="slidenum">
              <a:rPr lang="en-US" smtClean="0"/>
              <a:pPr>
                <a:defRPr/>
              </a:pPr>
              <a:t>66</a:t>
            </a:fld>
            <a:endParaRPr lang="en-US"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defRPr/>
            </a:pPr>
            <a:fld id="{AE8E612C-B0B7-4CA5-AD31-F7FFC0DB6781}" type="slidenum">
              <a:rPr lang="en-US" smtClean="0"/>
              <a:pPr>
                <a:defRPr/>
              </a:pPr>
              <a:t>67</a:t>
            </a:fld>
            <a:endParaRPr lang="en-US" dirty="0"/>
          </a:p>
        </p:txBody>
      </p:sp>
      <p:sp>
        <p:nvSpPr>
          <p:cNvPr id="244738" name="Rectangle 2"/>
          <p:cNvSpPr>
            <a:spLocks noGrp="1" noChangeArrowheads="1"/>
          </p:cNvSpPr>
          <p:nvPr>
            <p:ph type="title" idx="4294967295"/>
          </p:nvPr>
        </p:nvSpPr>
        <p:spPr>
          <a:xfrm>
            <a:off x="1079500" y="76200"/>
            <a:ext cx="7150100" cy="1143000"/>
          </a:xfrm>
        </p:spPr>
        <p:txBody>
          <a:bodyPr rtlCol="0">
            <a:normAutofit/>
          </a:bodyPr>
          <a:lstStyle/>
          <a:p>
            <a:pPr eaLnBrk="1" fontAlgn="auto" hangingPunct="1">
              <a:spcAft>
                <a:spcPts val="0"/>
              </a:spcAft>
              <a:defRPr/>
            </a:pPr>
            <a:r>
              <a:rPr lang="en-US" sz="3600" b="1" cap="small" dirty="0" smtClean="0">
                <a:solidFill>
                  <a:schemeClr val="accent3">
                    <a:lumMod val="75000"/>
                  </a:schemeClr>
                </a:solidFill>
              </a:rPr>
              <a:t>Conceptual Design Phase</a:t>
            </a:r>
          </a:p>
        </p:txBody>
      </p:sp>
      <p:sp>
        <p:nvSpPr>
          <p:cNvPr id="2053" name="Rectangle 3"/>
          <p:cNvSpPr>
            <a:spLocks noChangeArrowheads="1"/>
          </p:cNvSpPr>
          <p:nvPr/>
        </p:nvSpPr>
        <p:spPr bwMode="auto">
          <a:xfrm>
            <a:off x="0" y="771525"/>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2050" name="Object 4"/>
          <p:cNvGraphicFramePr>
            <a:graphicFrameLocks noChangeAspect="1"/>
          </p:cNvGraphicFramePr>
          <p:nvPr/>
        </p:nvGraphicFramePr>
        <p:xfrm>
          <a:off x="152400" y="1000125"/>
          <a:ext cx="8839200" cy="5507038"/>
        </p:xfrm>
        <a:graphic>
          <a:graphicData uri="http://schemas.openxmlformats.org/presentationml/2006/ole">
            <p:oleObj spid="_x0000_s2050" r:id="rId4" imgW="9635871" imgH="7280529" progId="">
              <p:embed/>
            </p:oleObj>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Key Safety-Related Activities</a:t>
            </a:r>
            <a:br>
              <a:rPr lang="en-US" sz="3200" cap="small" dirty="0" smtClean="0"/>
            </a:br>
            <a:r>
              <a:rPr lang="en-US" sz="2000" cap="small" dirty="0" smtClean="0"/>
              <a:t>(Slide 1 of 3)</a:t>
            </a:r>
            <a:endParaRPr lang="en-US" sz="3200" cap="small" dirty="0" smtClean="0"/>
          </a:p>
        </p:txBody>
      </p:sp>
      <p:sp>
        <p:nvSpPr>
          <p:cNvPr id="84995"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Form Integrated Project Teams (both DOE and Contractor) and SDIT</a:t>
            </a:r>
          </a:p>
          <a:p>
            <a:pPr eaLnBrk="1" hangingPunct="1">
              <a:spcBef>
                <a:spcPts val="1200"/>
              </a:spcBef>
              <a:spcAft>
                <a:spcPts val="600"/>
              </a:spcAft>
            </a:pPr>
            <a:r>
              <a:rPr lang="en-US" sz="2400" smtClean="0">
                <a:latin typeface="Arial" charset="0"/>
                <a:cs typeface="Arial" charset="0"/>
              </a:rPr>
              <a:t>Develop Preliminary Security Vulnerability Assessment</a:t>
            </a:r>
          </a:p>
          <a:p>
            <a:pPr eaLnBrk="1" hangingPunct="1">
              <a:spcBef>
                <a:spcPts val="1200"/>
              </a:spcBef>
              <a:spcAft>
                <a:spcPts val="600"/>
              </a:spcAft>
            </a:pPr>
            <a:r>
              <a:rPr lang="en-US" sz="2400" smtClean="0">
                <a:latin typeface="Arial" charset="0"/>
                <a:cs typeface="Arial" charset="0"/>
              </a:rPr>
              <a:t>Develop Preliminary Fire Hazards Analysis</a:t>
            </a:r>
          </a:p>
          <a:p>
            <a:pPr eaLnBrk="1" hangingPunct="1">
              <a:spcBef>
                <a:spcPts val="1200"/>
              </a:spcBef>
              <a:spcAft>
                <a:spcPts val="600"/>
              </a:spcAft>
            </a:pPr>
            <a:r>
              <a:rPr lang="en-US" sz="2400" smtClean="0">
                <a:latin typeface="Arial" charset="0"/>
                <a:cs typeface="Arial" charset="0"/>
              </a:rPr>
              <a:t>Develop Safety Design Strategy</a:t>
            </a:r>
          </a:p>
          <a:p>
            <a:pPr eaLnBrk="1" hangingPunct="1">
              <a:spcBef>
                <a:spcPts val="1200"/>
              </a:spcBef>
              <a:spcAft>
                <a:spcPts val="600"/>
              </a:spcAft>
            </a:pPr>
            <a:r>
              <a:rPr lang="en-US" sz="2400" smtClean="0">
                <a:latin typeface="Arial" charset="0"/>
                <a:cs typeface="Arial" charset="0"/>
              </a:rPr>
              <a:t>Establish Configuration Management</a:t>
            </a:r>
          </a:p>
          <a:p>
            <a:pPr eaLnBrk="1" hangingPunct="1">
              <a:spcBef>
                <a:spcPts val="1200"/>
              </a:spcBef>
              <a:spcAft>
                <a:spcPts val="600"/>
              </a:spcAft>
            </a:pPr>
            <a:endParaRPr lang="en-US" sz="2400" smtClean="0">
              <a:latin typeface="Arial" charset="0"/>
              <a:cs typeface="Arial" charset="0"/>
            </a:endParaRPr>
          </a:p>
          <a:p>
            <a:pPr eaLnBrk="1" hangingPunct="1">
              <a:spcBef>
                <a:spcPts val="1200"/>
              </a:spcBef>
              <a:spcAft>
                <a:spcPts val="600"/>
              </a:spcAft>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DC6446B8-0606-4EAE-9352-E53F2FD8BD3B}" type="slidenum">
              <a:rPr lang="en-US" smtClean="0"/>
              <a:pPr>
                <a:defRPr/>
              </a:pPr>
              <a:t>68</a:t>
            </a:fld>
            <a:endParaRPr lang="en-US"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Key Safety-Related Activities</a:t>
            </a:r>
            <a:br>
              <a:rPr lang="en-US" sz="3200" cap="small" dirty="0" smtClean="0"/>
            </a:br>
            <a:r>
              <a:rPr lang="en-US" sz="1800" cap="small" dirty="0" smtClean="0"/>
              <a:t> (Slide 2 of 3)</a:t>
            </a:r>
            <a:endParaRPr lang="en-US" sz="1800" dirty="0"/>
          </a:p>
        </p:txBody>
      </p:sp>
      <p:sp>
        <p:nvSpPr>
          <p:cNvPr id="86019" name="Content Placeholder 2"/>
          <p:cNvSpPr>
            <a:spLocks noGrp="1"/>
          </p:cNvSpPr>
          <p:nvPr>
            <p:ph idx="1"/>
          </p:nvPr>
        </p:nvSpPr>
        <p:spPr/>
        <p:txBody>
          <a:bodyPr/>
          <a:lstStyle/>
          <a:p>
            <a:pPr eaLnBrk="1" hangingPunct="1">
              <a:lnSpc>
                <a:spcPct val="90000"/>
              </a:lnSpc>
              <a:spcBef>
                <a:spcPts val="1200"/>
              </a:spcBef>
              <a:spcAft>
                <a:spcPts val="600"/>
              </a:spcAft>
            </a:pPr>
            <a:r>
              <a:rPr lang="en-US" sz="2400" smtClean="0">
                <a:latin typeface="Arial" charset="0"/>
                <a:cs typeface="Arial" charset="0"/>
              </a:rPr>
              <a:t>Evaluate alternatives and provide recommendations</a:t>
            </a:r>
          </a:p>
          <a:p>
            <a:pPr eaLnBrk="1" hangingPunct="1">
              <a:lnSpc>
                <a:spcPct val="90000"/>
              </a:lnSpc>
              <a:spcBef>
                <a:spcPts val="1200"/>
              </a:spcBef>
              <a:spcAft>
                <a:spcPts val="600"/>
              </a:spcAft>
            </a:pPr>
            <a:r>
              <a:rPr lang="en-US" sz="2400" smtClean="0">
                <a:latin typeface="Arial" charset="0"/>
                <a:cs typeface="Arial" charset="0"/>
              </a:rPr>
              <a:t>Assess risks and opportunities as input to the Risk Management Plan</a:t>
            </a:r>
          </a:p>
          <a:p>
            <a:pPr eaLnBrk="1" hangingPunct="1">
              <a:lnSpc>
                <a:spcPct val="80000"/>
              </a:lnSpc>
            </a:pPr>
            <a:r>
              <a:rPr lang="en-US" sz="2400" smtClean="0">
                <a:latin typeface="Arial" charset="0"/>
                <a:cs typeface="Arial" charset="0"/>
              </a:rPr>
              <a:t>Develop preliminary hazard analysis (PHA) for recommended alternative</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Define safety functions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Identify high-cost safety systems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Initiate hazard analysis data capture (Appendix G)</a:t>
            </a:r>
            <a:endParaRPr lang="en-US" smtClean="0">
              <a:solidFill>
                <a:schemeClr val="tx1"/>
              </a:solidFill>
              <a:latin typeface="Arial" charset="0"/>
              <a:cs typeface="Arial" charset="0"/>
            </a:endParaRPr>
          </a:p>
          <a:p>
            <a:endParaRPr lang="en-US"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042DACD0-509A-4C7F-9F6A-0AC3B6FAECE4}" type="slidenum">
              <a:rPr lang="en-US" smtClean="0"/>
              <a:pPr>
                <a:defRPr/>
              </a:pPr>
              <a:t>69</a:t>
            </a:fld>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defRPr/>
            </a:pPr>
            <a:r>
              <a:rPr lang="en-US" sz="3200" cap="small" dirty="0" smtClean="0"/>
              <a:t>Key Safety-Related Activities </a:t>
            </a:r>
            <a:br>
              <a:rPr lang="en-US" sz="3200" cap="small" dirty="0" smtClean="0"/>
            </a:br>
            <a:r>
              <a:rPr lang="en-US" sz="1800" cap="small" dirty="0" smtClean="0"/>
              <a:t> (Slide 3 of 3)</a:t>
            </a:r>
          </a:p>
        </p:txBody>
      </p:sp>
      <p:sp>
        <p:nvSpPr>
          <p:cNvPr id="87043" name="Rectangle 3"/>
          <p:cNvSpPr>
            <a:spLocks noGrp="1" noChangeArrowheads="1"/>
          </p:cNvSpPr>
          <p:nvPr>
            <p:ph idx="1"/>
          </p:nvPr>
        </p:nvSpPr>
        <p:spPr/>
        <p:txBody>
          <a:bodyPr/>
          <a:lstStyle/>
          <a:p>
            <a:pPr eaLnBrk="1" hangingPunct="1">
              <a:lnSpc>
                <a:spcPct val="80000"/>
              </a:lnSpc>
              <a:spcBef>
                <a:spcPts val="1200"/>
              </a:spcBef>
              <a:spcAft>
                <a:spcPts val="600"/>
              </a:spcAft>
            </a:pPr>
            <a:r>
              <a:rPr lang="en-US" sz="2400" dirty="0" smtClean="0">
                <a:latin typeface="Arial" charset="0"/>
                <a:cs typeface="Arial" charset="0"/>
              </a:rPr>
              <a:t>Identify facility-level design basis accidents (DBAs)</a:t>
            </a:r>
          </a:p>
          <a:p>
            <a:pPr lvl="1" eaLnBrk="1" hangingPunct="1">
              <a:lnSpc>
                <a:spcPct val="80000"/>
              </a:lnSpc>
              <a:spcBef>
                <a:spcPts val="1200"/>
              </a:spcBef>
              <a:spcAft>
                <a:spcPts val="600"/>
              </a:spcAft>
              <a:buFont typeface="Arial" charset="0"/>
              <a:buChar char="–"/>
            </a:pPr>
            <a:r>
              <a:rPr lang="en-US" sz="2000" dirty="0" smtClean="0">
                <a:solidFill>
                  <a:schemeClr val="tx1"/>
                </a:solidFill>
                <a:latin typeface="Arial" charset="0"/>
                <a:cs typeface="Arial" charset="0"/>
              </a:rPr>
              <a:t>Bounding consequences</a:t>
            </a:r>
          </a:p>
          <a:p>
            <a:pPr lvl="1" eaLnBrk="1" hangingPunct="1">
              <a:lnSpc>
                <a:spcPct val="80000"/>
              </a:lnSpc>
              <a:spcBef>
                <a:spcPts val="1200"/>
              </a:spcBef>
              <a:spcAft>
                <a:spcPts val="600"/>
              </a:spcAft>
              <a:buFont typeface="Arial" charset="0"/>
              <a:buChar char="–"/>
            </a:pPr>
            <a:r>
              <a:rPr lang="en-US" sz="2000" dirty="0" smtClean="0">
                <a:solidFill>
                  <a:schemeClr val="tx1"/>
                </a:solidFill>
                <a:latin typeface="Arial" charset="0"/>
                <a:cs typeface="Arial" charset="0"/>
              </a:rPr>
              <a:t>Safety and seismic classification</a:t>
            </a:r>
          </a:p>
          <a:p>
            <a:pPr eaLnBrk="1" hangingPunct="1">
              <a:spcBef>
                <a:spcPts val="1200"/>
              </a:spcBef>
              <a:spcAft>
                <a:spcPts val="600"/>
              </a:spcAft>
            </a:pPr>
            <a:r>
              <a:rPr lang="en-US" sz="2400" dirty="0" smtClean="0">
                <a:latin typeface="Arial" charset="0"/>
                <a:cs typeface="Arial" charset="0"/>
              </a:rPr>
              <a:t>Commit to nuclear safety design requirements (DOE O 420.1B) and place under design control</a:t>
            </a:r>
          </a:p>
          <a:p>
            <a:pPr eaLnBrk="1" hangingPunct="1">
              <a:lnSpc>
                <a:spcPct val="65000"/>
              </a:lnSpc>
              <a:spcBef>
                <a:spcPts val="1200"/>
              </a:spcBef>
              <a:spcAft>
                <a:spcPts val="600"/>
              </a:spcAft>
            </a:pPr>
            <a:r>
              <a:rPr lang="en-US" sz="2400" dirty="0" smtClean="0">
                <a:latin typeface="Arial" charset="0"/>
                <a:cs typeface="Arial" charset="0"/>
              </a:rPr>
              <a:t>Develop Conceptual Safety Design Report (CSDR) </a:t>
            </a:r>
          </a:p>
          <a:p>
            <a:pPr eaLnBrk="1" hangingPunct="1">
              <a:spcBef>
                <a:spcPts val="1200"/>
              </a:spcBef>
              <a:spcAft>
                <a:spcPts val="600"/>
              </a:spcAft>
            </a:pPr>
            <a:r>
              <a:rPr lang="en-US" sz="2400" dirty="0" smtClean="0">
                <a:latin typeface="Arial" charset="0"/>
                <a:cs typeface="Arial" charset="0"/>
              </a:rPr>
              <a:t>Maintain project interfaces focus (see Ch 7 of STD-1189)</a:t>
            </a:r>
          </a:p>
        </p:txBody>
      </p:sp>
      <p:sp>
        <p:nvSpPr>
          <p:cNvPr id="5" name="Slide Number Placeholder 4"/>
          <p:cNvSpPr>
            <a:spLocks noGrp="1"/>
          </p:cNvSpPr>
          <p:nvPr>
            <p:ph type="sldNum" sz="quarter" idx="10"/>
          </p:nvPr>
        </p:nvSpPr>
        <p:spPr/>
        <p:txBody>
          <a:bodyPr/>
          <a:lstStyle/>
          <a:p>
            <a:pPr>
              <a:defRPr/>
            </a:pPr>
            <a:fld id="{8357D212-1E81-4B2C-9AD1-5BC7498D8785}" type="slidenum">
              <a:rPr lang="en-US" smtClean="0"/>
              <a:pPr>
                <a:defRPr/>
              </a:pPr>
              <a:t>70</a:t>
            </a:fld>
            <a:endParaRPr 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defRPr/>
            </a:pPr>
            <a:r>
              <a:rPr lang="en-US" sz="2400" dirty="0" smtClean="0"/>
              <a:t> </a:t>
            </a:r>
            <a:r>
              <a:rPr lang="en-US" sz="2800" cap="small" dirty="0" smtClean="0"/>
              <a:t>Conceptual Safety Design Report (CSDR)</a:t>
            </a:r>
            <a:br>
              <a:rPr lang="en-US" sz="2800" cap="small" dirty="0" smtClean="0"/>
            </a:br>
            <a:r>
              <a:rPr lang="en-US" sz="2000" cap="small" dirty="0" smtClean="0"/>
              <a:t> (Slide 1 of 2) </a:t>
            </a:r>
            <a:endParaRPr lang="en-US" sz="2800" cap="small" dirty="0" smtClean="0"/>
          </a:p>
        </p:txBody>
      </p:sp>
      <p:sp>
        <p:nvSpPr>
          <p:cNvPr id="88067"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Document and establish a preliminary inventory of hazardous materials</a:t>
            </a:r>
          </a:p>
          <a:p>
            <a:pPr eaLnBrk="1" hangingPunct="1">
              <a:spcBef>
                <a:spcPts val="1200"/>
              </a:spcBef>
              <a:spcAft>
                <a:spcPts val="600"/>
              </a:spcAft>
            </a:pPr>
            <a:r>
              <a:rPr lang="en-US" sz="2400" smtClean="0">
                <a:latin typeface="Arial" charset="0"/>
                <a:cs typeface="Arial" charset="0"/>
              </a:rPr>
              <a:t>Establish a preliminary hazard categorization</a:t>
            </a:r>
          </a:p>
          <a:p>
            <a:pPr eaLnBrk="1" hangingPunct="1">
              <a:spcBef>
                <a:spcPts val="1200"/>
              </a:spcBef>
              <a:spcAft>
                <a:spcPts val="600"/>
              </a:spcAft>
            </a:pPr>
            <a:r>
              <a:rPr lang="en-US" sz="2400" smtClean="0">
                <a:latin typeface="Arial" charset="0"/>
                <a:cs typeface="Arial" charset="0"/>
              </a:rPr>
              <a:t>Identify and analyze facility-level DBAs</a:t>
            </a:r>
          </a:p>
          <a:p>
            <a:pPr eaLnBrk="1" hangingPunct="1">
              <a:spcBef>
                <a:spcPts val="1200"/>
              </a:spcBef>
              <a:spcAft>
                <a:spcPts val="600"/>
              </a:spcAft>
            </a:pPr>
            <a:r>
              <a:rPr lang="en-US" sz="2400" smtClean="0">
                <a:latin typeface="Arial" charset="0"/>
                <a:cs typeface="Arial" charset="0"/>
              </a:rPr>
              <a:t>Assess the need for facility-level hazard controls (safety SSCs)</a:t>
            </a:r>
          </a:p>
        </p:txBody>
      </p:sp>
      <p:sp>
        <p:nvSpPr>
          <p:cNvPr id="5" name="Slide Number Placeholder 4"/>
          <p:cNvSpPr>
            <a:spLocks noGrp="1"/>
          </p:cNvSpPr>
          <p:nvPr>
            <p:ph type="sldNum" sz="quarter" idx="10"/>
          </p:nvPr>
        </p:nvSpPr>
        <p:spPr/>
        <p:txBody>
          <a:bodyPr/>
          <a:lstStyle/>
          <a:p>
            <a:pPr>
              <a:defRPr/>
            </a:pPr>
            <a:fld id="{030B1A4A-C16C-4BA9-A9E3-AC5A6E644AAD}" type="slidenum">
              <a:rPr lang="en-US" smtClean="0"/>
              <a:pPr>
                <a:defRPr/>
              </a:pPr>
              <a:t>71</a:t>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800" dirty="0" smtClean="0"/>
              <a:t> </a:t>
            </a:r>
            <a:r>
              <a:rPr lang="en-US" sz="3200" cap="small" dirty="0" smtClean="0"/>
              <a:t>Conceptual Safety Design Report </a:t>
            </a:r>
            <a:br>
              <a:rPr lang="en-US" sz="3200" cap="small" dirty="0" smtClean="0"/>
            </a:br>
            <a:r>
              <a:rPr lang="en-US" sz="1800" cap="small" dirty="0" smtClean="0"/>
              <a:t> (Slide 2 of 2) </a:t>
            </a:r>
            <a:endParaRPr lang="en-US" sz="3200" dirty="0"/>
          </a:p>
        </p:txBody>
      </p:sp>
      <p:sp>
        <p:nvSpPr>
          <p:cNvPr id="89091"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Preliminary assessment of appropriate seismic design bases (facility structure and SSCs)</a:t>
            </a:r>
          </a:p>
          <a:p>
            <a:pPr eaLnBrk="1" hangingPunct="1">
              <a:spcBef>
                <a:spcPts val="1200"/>
              </a:spcBef>
              <a:spcAft>
                <a:spcPts val="600"/>
              </a:spcAft>
            </a:pPr>
            <a:r>
              <a:rPr lang="en-US" sz="2400" smtClean="0">
                <a:latin typeface="Arial" charset="0"/>
                <a:cs typeface="Arial" charset="0"/>
              </a:rPr>
              <a:t>Evaluate security hazards that can impact the safety design basis</a:t>
            </a:r>
          </a:p>
          <a:p>
            <a:pPr eaLnBrk="1" hangingPunct="1">
              <a:spcBef>
                <a:spcPts val="1200"/>
              </a:spcBef>
              <a:spcAft>
                <a:spcPts val="600"/>
              </a:spcAft>
            </a:pPr>
            <a:r>
              <a:rPr lang="en-US" sz="2400" smtClean="0">
                <a:latin typeface="Arial" charset="0"/>
                <a:cs typeface="Arial" charset="0"/>
              </a:rPr>
              <a:t>Commitment to nuclear safety design criteria</a:t>
            </a:r>
          </a:p>
          <a:p>
            <a:pPr eaLnBrk="1" hangingPunct="1">
              <a:spcBef>
                <a:spcPts val="1200"/>
              </a:spcBef>
              <a:spcAft>
                <a:spcPts val="600"/>
              </a:spcAft>
            </a:pPr>
            <a:r>
              <a:rPr lang="en-US" sz="2400" smtClean="0">
                <a:latin typeface="Arial" charset="0"/>
                <a:cs typeface="Arial" charset="0"/>
              </a:rPr>
              <a:t>Format and content of CSDR in Appendix H</a:t>
            </a:r>
          </a:p>
        </p:txBody>
      </p:sp>
      <p:sp>
        <p:nvSpPr>
          <p:cNvPr id="4" name="Slide Number Placeholder 3"/>
          <p:cNvSpPr>
            <a:spLocks noGrp="1"/>
          </p:cNvSpPr>
          <p:nvPr>
            <p:ph type="sldNum" sz="quarter" idx="10"/>
          </p:nvPr>
        </p:nvSpPr>
        <p:spPr/>
        <p:txBody>
          <a:bodyPr/>
          <a:lstStyle/>
          <a:p>
            <a:pPr>
              <a:defRPr/>
            </a:pPr>
            <a:fld id="{F06CA277-7428-4C41-B78D-6920B38BC0AF}" type="slidenum">
              <a:rPr lang="en-US" smtClean="0"/>
              <a:pPr>
                <a:defRPr/>
              </a:pPr>
              <a:t>72</a:t>
            </a:fld>
            <a:endParaRPr 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Conceptual Safety </a:t>
            </a:r>
            <a:br>
              <a:rPr lang="en-US" sz="3200" cap="small" dirty="0" smtClean="0"/>
            </a:br>
            <a:r>
              <a:rPr lang="en-US" sz="3200" cap="small" dirty="0" smtClean="0"/>
              <a:t>Validation Report (CSVR)</a:t>
            </a:r>
          </a:p>
        </p:txBody>
      </p:sp>
      <p:sp>
        <p:nvSpPr>
          <p:cNvPr id="90115" name="Rectangle 3"/>
          <p:cNvSpPr>
            <a:spLocks noGrp="1" noChangeArrowheads="1"/>
          </p:cNvSpPr>
          <p:nvPr>
            <p:ph idx="1"/>
          </p:nvPr>
        </p:nvSpPr>
        <p:spPr>
          <a:xfrm>
            <a:off x="533400" y="2057400"/>
            <a:ext cx="8234363" cy="4033838"/>
          </a:xfrm>
        </p:spPr>
        <p:txBody>
          <a:bodyPr/>
          <a:lstStyle/>
          <a:p>
            <a:pPr eaLnBrk="1" hangingPunct="1"/>
            <a:r>
              <a:rPr lang="en-US" sz="2400" smtClean="0">
                <a:latin typeface="Arial" charset="0"/>
                <a:cs typeface="Arial" charset="0"/>
              </a:rPr>
              <a:t>CSVR prepared to confirm an appropriately conservative basis to proceed to preliminary design, based on:</a:t>
            </a:r>
          </a:p>
          <a:p>
            <a:pPr lvl="1" eaLnBrk="1" hangingPunct="1">
              <a:buFont typeface="Arial" charset="0"/>
              <a:buChar char="–"/>
            </a:pPr>
            <a:r>
              <a:rPr lang="en-US" sz="2000" smtClean="0">
                <a:solidFill>
                  <a:schemeClr val="tx1"/>
                </a:solidFill>
                <a:latin typeface="Arial" charset="0"/>
                <a:cs typeface="Arial" charset="0"/>
              </a:rPr>
              <a:t>preliminary hazard categorization of the facility</a:t>
            </a:r>
          </a:p>
          <a:p>
            <a:pPr lvl="1" eaLnBrk="1" hangingPunct="1">
              <a:buFont typeface="Arial" charset="0"/>
              <a:buChar char="–"/>
            </a:pPr>
            <a:r>
              <a:rPr lang="en-US" sz="2000" smtClean="0">
                <a:solidFill>
                  <a:schemeClr val="tx1"/>
                </a:solidFill>
                <a:latin typeface="Arial" charset="0"/>
                <a:cs typeface="Arial" charset="0"/>
              </a:rPr>
              <a:t>preliminary identification of facility DBAs</a:t>
            </a:r>
          </a:p>
          <a:p>
            <a:pPr lvl="1" eaLnBrk="1" hangingPunct="1">
              <a:buFont typeface="Arial" charset="0"/>
              <a:buChar char="–"/>
            </a:pPr>
            <a:r>
              <a:rPr lang="en-US" sz="2000" smtClean="0">
                <a:solidFill>
                  <a:schemeClr val="tx1"/>
                </a:solidFill>
                <a:latin typeface="Arial" charset="0"/>
                <a:cs typeface="Arial" charset="0"/>
              </a:rPr>
              <a:t>assessment of the need for SC and SS facility-level hazard controls</a:t>
            </a:r>
          </a:p>
          <a:p>
            <a:pPr lvl="1" eaLnBrk="1" hangingPunct="1">
              <a:buFont typeface="Arial" charset="0"/>
              <a:buChar char="–"/>
            </a:pPr>
            <a:r>
              <a:rPr lang="en-US" sz="2000" smtClean="0">
                <a:solidFill>
                  <a:schemeClr val="tx1"/>
                </a:solidFill>
                <a:latin typeface="Arial" charset="0"/>
                <a:cs typeface="Arial" charset="0"/>
              </a:rPr>
              <a:t>preliminary assessment of the appropriate seismic design bases</a:t>
            </a:r>
          </a:p>
          <a:p>
            <a:pPr lvl="1" eaLnBrk="1" hangingPunct="1">
              <a:buFont typeface="Arial" charset="0"/>
              <a:buChar char="–"/>
            </a:pPr>
            <a:r>
              <a:rPr lang="en-US" sz="2000" smtClean="0">
                <a:solidFill>
                  <a:schemeClr val="tx1"/>
                </a:solidFill>
                <a:latin typeface="Arial" charset="0"/>
                <a:cs typeface="Arial" charset="0"/>
              </a:rPr>
              <a:t>position(s) taken with respect to compliance with the safety design criteria of DOE O 420.1B</a:t>
            </a:r>
          </a:p>
          <a:p>
            <a:pPr lvl="1" eaLnBrk="1" hangingPunct="1">
              <a:lnSpc>
                <a:spcPct val="75000"/>
              </a:lnSpc>
              <a:buFont typeface="Arial" charset="0"/>
              <a:buChar char="–"/>
            </a:pPr>
            <a:endParaRPr lang="en-US" sz="2000"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CE0EC29B-8DCE-44CF-9994-D2F2596C9953}" type="slidenum">
              <a:rPr lang="en-US" smtClean="0"/>
              <a:pPr>
                <a:defRPr/>
              </a:pPr>
              <a:t>73</a:t>
            </a:fld>
            <a:endParaRPr 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pPr>
              <a:defRPr/>
            </a:pPr>
            <a:fld id="{D3E2FA3C-F719-41A9-9A00-6CBE45F67C81}" type="slidenum">
              <a:rPr lang="en-US" smtClean="0"/>
              <a:pPr>
                <a:defRPr/>
              </a:pPr>
              <a:t>74</a:t>
            </a:fld>
            <a:endParaRPr lang="en-US" dirty="0"/>
          </a:p>
        </p:txBody>
      </p:sp>
      <p:sp>
        <p:nvSpPr>
          <p:cNvPr id="247810" name="Rectangle 2"/>
          <p:cNvSpPr>
            <a:spLocks noGrp="1" noChangeArrowheads="1"/>
          </p:cNvSpPr>
          <p:nvPr>
            <p:ph type="title" idx="4294967295"/>
          </p:nvPr>
        </p:nvSpPr>
        <p:spPr>
          <a:xfrm>
            <a:off x="1219200" y="0"/>
            <a:ext cx="7150100" cy="1143000"/>
          </a:xfrm>
        </p:spPr>
        <p:txBody>
          <a:bodyPr rtlCol="0">
            <a:noAutofit/>
          </a:bodyPr>
          <a:lstStyle/>
          <a:p>
            <a:pPr eaLnBrk="1" fontAlgn="auto" hangingPunct="1">
              <a:spcAft>
                <a:spcPts val="0"/>
              </a:spcAft>
              <a:defRPr/>
            </a:pPr>
            <a:r>
              <a:rPr lang="en-US" sz="3200" b="1" cap="small" dirty="0" smtClean="0">
                <a:solidFill>
                  <a:schemeClr val="accent3">
                    <a:lumMod val="75000"/>
                  </a:schemeClr>
                </a:solidFill>
              </a:rPr>
              <a:t>Preliminary Design Phase</a:t>
            </a:r>
          </a:p>
        </p:txBody>
      </p:sp>
      <p:sp>
        <p:nvSpPr>
          <p:cNvPr id="3077" name="Rectangle 3"/>
          <p:cNvSpPr>
            <a:spLocks noChangeArrowheads="1"/>
          </p:cNvSpPr>
          <p:nvPr/>
        </p:nvSpPr>
        <p:spPr bwMode="auto">
          <a:xfrm>
            <a:off x="0" y="804863"/>
            <a:ext cx="9144000" cy="0"/>
          </a:xfrm>
          <a:prstGeom prst="rect">
            <a:avLst/>
          </a:prstGeom>
          <a:noFill/>
          <a:ln w="9525" algn="ctr">
            <a:noFill/>
            <a:miter lim="800000"/>
            <a:headEnd/>
            <a:tailEnd/>
          </a:ln>
        </p:spPr>
        <p:txBody>
          <a:bodyPr wrap="none" anchor="ctr">
            <a:spAutoFit/>
          </a:bodyPr>
          <a:lstStyle/>
          <a:p>
            <a:endParaRPr lang="en-US"/>
          </a:p>
        </p:txBody>
      </p:sp>
      <p:graphicFrame>
        <p:nvGraphicFramePr>
          <p:cNvPr id="3074" name="Object 4"/>
          <p:cNvGraphicFramePr>
            <a:graphicFrameLocks noChangeAspect="1"/>
          </p:cNvGraphicFramePr>
          <p:nvPr/>
        </p:nvGraphicFramePr>
        <p:xfrm>
          <a:off x="304800" y="1143000"/>
          <a:ext cx="8610600" cy="5343525"/>
        </p:xfrm>
        <a:graphic>
          <a:graphicData uri="http://schemas.openxmlformats.org/presentationml/2006/ole">
            <p:oleObj spid="_x0000_s3074" r:id="rId4" imgW="9635871" imgH="7064121" progId="">
              <p:embed/>
            </p:oleObj>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defRPr/>
            </a:pPr>
            <a:r>
              <a:rPr lang="en-US" sz="3200" cap="small" dirty="0" smtClean="0"/>
              <a:t>Preliminary Design Phase</a:t>
            </a:r>
            <a:endParaRPr lang="en-US" sz="1800" cap="small" dirty="0" smtClean="0"/>
          </a:p>
        </p:txBody>
      </p:sp>
      <p:sp>
        <p:nvSpPr>
          <p:cNvPr id="91139"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Advance conceptual design toward final design</a:t>
            </a:r>
          </a:p>
          <a:p>
            <a:pPr eaLnBrk="1" hangingPunct="1">
              <a:spcBef>
                <a:spcPts val="1200"/>
              </a:spcBef>
              <a:spcAft>
                <a:spcPts val="600"/>
              </a:spcAft>
            </a:pPr>
            <a:r>
              <a:rPr lang="en-US" sz="2400" smtClean="0">
                <a:latin typeface="Arial" charset="0"/>
                <a:cs typeface="Arial" charset="0"/>
              </a:rPr>
              <a:t>Evolve the Hazard Analysis (HA) to include process level HA</a:t>
            </a:r>
          </a:p>
          <a:p>
            <a:pPr eaLnBrk="1" hangingPunct="1">
              <a:spcBef>
                <a:spcPts val="1200"/>
              </a:spcBef>
              <a:spcAft>
                <a:spcPts val="600"/>
              </a:spcAft>
            </a:pPr>
            <a:r>
              <a:rPr lang="en-US" sz="2400" smtClean="0">
                <a:latin typeface="Arial" charset="0"/>
                <a:cs typeface="Arial" charset="0"/>
              </a:rPr>
              <a:t>Develop design-specific solutions based on safety design requirements</a:t>
            </a:r>
          </a:p>
          <a:p>
            <a:pPr eaLnBrk="1" hangingPunct="1">
              <a:spcBef>
                <a:spcPts val="1200"/>
              </a:spcBef>
              <a:spcAft>
                <a:spcPts val="600"/>
              </a:spcAft>
            </a:pPr>
            <a:r>
              <a:rPr lang="en-US" sz="2400" smtClean="0">
                <a:latin typeface="Arial" charset="0"/>
                <a:cs typeface="Arial" charset="0"/>
              </a:rPr>
              <a:t>Prepare for final design</a:t>
            </a:r>
          </a:p>
          <a:p>
            <a:pPr eaLnBrk="1" hangingPunct="1">
              <a:spcBef>
                <a:spcPts val="1200"/>
              </a:spcBef>
              <a:spcAft>
                <a:spcPts val="600"/>
              </a:spcAft>
            </a:pPr>
            <a:r>
              <a:rPr lang="en-US" sz="2400" smtClean="0">
                <a:latin typeface="Arial" charset="0"/>
                <a:cs typeface="Arial" charset="0"/>
              </a:rPr>
              <a:t>Complete NEPA documentation by end of design phase</a:t>
            </a:r>
          </a:p>
        </p:txBody>
      </p:sp>
      <p:sp>
        <p:nvSpPr>
          <p:cNvPr id="5" name="Slide Number Placeholder 4"/>
          <p:cNvSpPr>
            <a:spLocks noGrp="1"/>
          </p:cNvSpPr>
          <p:nvPr>
            <p:ph type="sldNum" sz="quarter" idx="10"/>
          </p:nvPr>
        </p:nvSpPr>
        <p:spPr/>
        <p:txBody>
          <a:bodyPr/>
          <a:lstStyle/>
          <a:p>
            <a:pPr>
              <a:defRPr/>
            </a:pPr>
            <a:fld id="{F3DAECB9-73EF-4A88-8100-161B3DD63C5B}" type="slidenum">
              <a:rPr lang="en-US" smtClean="0"/>
              <a:pPr>
                <a:defRPr/>
              </a:pPr>
              <a:t>75</a:t>
            </a:fld>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3200" cap="small" dirty="0" smtClean="0"/>
              <a:t>Safety Activities in </a:t>
            </a:r>
            <a:br>
              <a:rPr lang="en-US" sz="3200" cap="small" dirty="0" smtClean="0"/>
            </a:br>
            <a:r>
              <a:rPr lang="en-US" sz="3200" cap="small" dirty="0" smtClean="0"/>
              <a:t>Preliminary Design</a:t>
            </a:r>
            <a:br>
              <a:rPr lang="en-US" sz="3200" cap="small" dirty="0" smtClean="0"/>
            </a:br>
            <a:r>
              <a:rPr lang="en-US" sz="2200" cap="small" dirty="0" smtClean="0"/>
              <a:t> (Slide 1 of 2) </a:t>
            </a:r>
            <a:endParaRPr lang="en-US" sz="3200" cap="small" dirty="0" smtClean="0"/>
          </a:p>
        </p:txBody>
      </p:sp>
      <p:sp>
        <p:nvSpPr>
          <p:cNvPr id="92163"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Update Security Vulnerability Assessment</a:t>
            </a:r>
          </a:p>
          <a:p>
            <a:pPr eaLnBrk="1" hangingPunct="1">
              <a:spcBef>
                <a:spcPts val="1200"/>
              </a:spcBef>
              <a:spcAft>
                <a:spcPts val="600"/>
              </a:spcAft>
            </a:pPr>
            <a:r>
              <a:rPr lang="en-US" sz="2400" smtClean="0">
                <a:latin typeface="Arial" charset="0"/>
                <a:cs typeface="Arial" charset="0"/>
              </a:rPr>
              <a:t>Update hazard analysis (HA) to address process level hazards based on the selected design</a:t>
            </a:r>
          </a:p>
          <a:p>
            <a:pPr eaLnBrk="1" hangingPunct="1">
              <a:spcBef>
                <a:spcPts val="1200"/>
              </a:spcBef>
              <a:spcAft>
                <a:spcPts val="600"/>
              </a:spcAft>
            </a:pPr>
            <a:r>
              <a:rPr lang="en-US" sz="2400" smtClean="0">
                <a:latin typeface="Arial" charset="0"/>
                <a:cs typeface="Arial" charset="0"/>
              </a:rPr>
              <a:t>Evaluate and apply DOE O 420.1B and associated guides</a:t>
            </a:r>
          </a:p>
          <a:p>
            <a:pPr eaLnBrk="1" hangingPunct="1">
              <a:spcBef>
                <a:spcPts val="1200"/>
              </a:spcBef>
              <a:spcAft>
                <a:spcPts val="600"/>
              </a:spcAft>
            </a:pPr>
            <a:r>
              <a:rPr lang="en-US" sz="2400" smtClean="0">
                <a:latin typeface="Arial" charset="0"/>
                <a:cs typeface="Arial" charset="0"/>
              </a:rPr>
              <a:t>Evolve system-level DBAs with appropriate added specificity based on selected design</a:t>
            </a:r>
          </a:p>
        </p:txBody>
      </p:sp>
      <p:sp>
        <p:nvSpPr>
          <p:cNvPr id="5" name="Slide Number Placeholder 4"/>
          <p:cNvSpPr>
            <a:spLocks noGrp="1"/>
          </p:cNvSpPr>
          <p:nvPr>
            <p:ph type="sldNum" sz="quarter" idx="10"/>
          </p:nvPr>
        </p:nvSpPr>
        <p:spPr/>
        <p:txBody>
          <a:bodyPr/>
          <a:lstStyle/>
          <a:p>
            <a:pPr>
              <a:defRPr/>
            </a:pPr>
            <a:fld id="{B9713A77-36C0-4764-8C5C-4DE20879BBA3}" type="slidenum">
              <a:rPr lang="en-US" smtClean="0"/>
              <a:pPr>
                <a:defRPr/>
              </a:pPr>
              <a:t>76</a:t>
            </a:fld>
            <a:endParaRPr 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Safety Activities in </a:t>
            </a:r>
            <a:br>
              <a:rPr lang="en-US" sz="3200" cap="small" dirty="0" smtClean="0"/>
            </a:br>
            <a:r>
              <a:rPr lang="en-US" sz="3200" cap="small" dirty="0" smtClean="0"/>
              <a:t>Preliminary Design</a:t>
            </a:r>
            <a:br>
              <a:rPr lang="en-US" sz="3200" cap="small" dirty="0" smtClean="0"/>
            </a:br>
            <a:r>
              <a:rPr lang="en-US" sz="1800" cap="small" dirty="0" smtClean="0"/>
              <a:t> (Slide 2 of 2) </a:t>
            </a:r>
            <a:endParaRPr lang="en-US" sz="3200" dirty="0"/>
          </a:p>
        </p:txBody>
      </p:sp>
      <p:sp>
        <p:nvSpPr>
          <p:cNvPr id="93187" name="Content Placeholder 2"/>
          <p:cNvSpPr>
            <a:spLocks noGrp="1"/>
          </p:cNvSpPr>
          <p:nvPr>
            <p:ph idx="1"/>
          </p:nvPr>
        </p:nvSpPr>
        <p:spPr/>
        <p:txBody>
          <a:bodyPr/>
          <a:lstStyle/>
          <a:p>
            <a:pPr eaLnBrk="1" hangingPunct="1">
              <a:spcBef>
                <a:spcPts val="1200"/>
              </a:spcBef>
              <a:spcAft>
                <a:spcPts val="600"/>
              </a:spcAft>
            </a:pPr>
            <a:r>
              <a:rPr lang="en-US" sz="2400" dirty="0" smtClean="0">
                <a:latin typeface="Arial" charset="0"/>
                <a:cs typeface="Arial" charset="0"/>
              </a:rPr>
              <a:t>Update Risk and Opportunity Assessment</a:t>
            </a:r>
          </a:p>
          <a:p>
            <a:pPr eaLnBrk="1" hangingPunct="1">
              <a:spcBef>
                <a:spcPts val="1200"/>
              </a:spcBef>
              <a:spcAft>
                <a:spcPts val="600"/>
              </a:spcAft>
            </a:pPr>
            <a:r>
              <a:rPr lang="en-US" sz="2400" dirty="0" smtClean="0">
                <a:latin typeface="Arial" charset="0"/>
                <a:cs typeface="Arial" charset="0"/>
              </a:rPr>
              <a:t>Update SDS reflecting design and safety evolution</a:t>
            </a:r>
          </a:p>
          <a:p>
            <a:pPr eaLnBrk="1" hangingPunct="1">
              <a:spcBef>
                <a:spcPts val="1200"/>
              </a:spcBef>
              <a:spcAft>
                <a:spcPts val="600"/>
              </a:spcAft>
            </a:pPr>
            <a:r>
              <a:rPr lang="en-US" sz="2400" dirty="0" smtClean="0">
                <a:latin typeface="Arial" charset="0"/>
                <a:cs typeface="Arial" charset="0"/>
              </a:rPr>
              <a:t>Develop the Preliminary Safety Design Report (PSDR)</a:t>
            </a:r>
          </a:p>
          <a:p>
            <a:endParaRPr lang="en-US" sz="2400" dirty="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C18BC441-CA18-45FF-AEBB-D1A2C03CA3FC}" type="slidenum">
              <a:rPr lang="en-US" smtClean="0"/>
              <a:pPr>
                <a:defRPr/>
              </a:pPr>
              <a:t>77</a:t>
            </a:fld>
            <a:endParaRPr 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rtlCol="0">
            <a:noAutofit/>
          </a:bodyPr>
          <a:lstStyle/>
          <a:p>
            <a:pPr eaLnBrk="1" fontAlgn="auto" hangingPunct="1">
              <a:spcAft>
                <a:spcPts val="0"/>
              </a:spcAft>
              <a:defRPr/>
            </a:pPr>
            <a:r>
              <a:rPr lang="en-US" sz="2800" cap="small" dirty="0" smtClean="0"/>
              <a:t>Preliminary Safety Design Report</a:t>
            </a:r>
            <a:br>
              <a:rPr lang="en-US" sz="2800" cap="small" dirty="0" smtClean="0"/>
            </a:br>
            <a:r>
              <a:rPr lang="en-US" sz="2800" cap="small" dirty="0" smtClean="0"/>
              <a:t>(PSDR)</a:t>
            </a:r>
          </a:p>
        </p:txBody>
      </p:sp>
      <p:sp>
        <p:nvSpPr>
          <p:cNvPr id="94211" name="Rectangle 3"/>
          <p:cNvSpPr>
            <a:spLocks noGrp="1" noChangeArrowheads="1"/>
          </p:cNvSpPr>
          <p:nvPr>
            <p:ph idx="1"/>
          </p:nvPr>
        </p:nvSpPr>
        <p:spPr>
          <a:xfrm>
            <a:off x="533400" y="2057400"/>
            <a:ext cx="8234363" cy="4191000"/>
          </a:xfrm>
        </p:spPr>
        <p:txBody>
          <a:bodyPr/>
          <a:lstStyle/>
          <a:p>
            <a:pPr eaLnBrk="1" hangingPunct="1">
              <a:spcBef>
                <a:spcPts val="1200"/>
              </a:spcBef>
              <a:spcAft>
                <a:spcPts val="600"/>
              </a:spcAft>
            </a:pPr>
            <a:r>
              <a:rPr lang="en-US" sz="2400" smtClean="0">
                <a:latin typeface="Arial" charset="0"/>
                <a:cs typeface="Arial" charset="0"/>
              </a:rPr>
              <a:t>Developed to demonstrate safety adequacy of the preliminary design effort</a:t>
            </a:r>
          </a:p>
          <a:p>
            <a:pPr eaLnBrk="1" hangingPunct="1">
              <a:spcBef>
                <a:spcPts val="1200"/>
              </a:spcBef>
              <a:spcAft>
                <a:spcPts val="600"/>
              </a:spcAft>
            </a:pPr>
            <a:r>
              <a:rPr lang="en-US" sz="2400" smtClean="0">
                <a:latin typeface="Arial" charset="0"/>
                <a:cs typeface="Arial" charset="0"/>
              </a:rPr>
              <a:t>Limited to the extent that design information is also limited</a:t>
            </a:r>
          </a:p>
          <a:p>
            <a:pPr eaLnBrk="1" hangingPunct="1">
              <a:spcBef>
                <a:spcPts val="1200"/>
              </a:spcBef>
              <a:spcAft>
                <a:spcPts val="600"/>
              </a:spcAft>
            </a:pPr>
            <a:r>
              <a:rPr lang="en-US" sz="2400" smtClean="0">
                <a:latin typeface="Arial" charset="0"/>
                <a:cs typeface="Arial" charset="0"/>
              </a:rPr>
              <a:t>Format and content guide in DOE STD 1189 Appendix I</a:t>
            </a:r>
          </a:p>
          <a:p>
            <a:pPr eaLnBrk="1" hangingPunct="1">
              <a:spcBef>
                <a:spcPts val="1200"/>
              </a:spcBef>
              <a:spcAft>
                <a:spcPts val="600"/>
              </a:spcAft>
            </a:pPr>
            <a:r>
              <a:rPr lang="en-US" sz="2400" smtClean="0">
                <a:latin typeface="Arial" charset="0"/>
                <a:cs typeface="Arial" charset="0"/>
              </a:rPr>
              <a:t>DOE prepares Preliminary Safety Validation Report (PSVR) to approve PSDR, similar to (CSVR) in purpose and scope</a:t>
            </a:r>
          </a:p>
        </p:txBody>
      </p:sp>
      <p:sp>
        <p:nvSpPr>
          <p:cNvPr id="5" name="Slide Number Placeholder 4"/>
          <p:cNvSpPr>
            <a:spLocks noGrp="1"/>
          </p:cNvSpPr>
          <p:nvPr>
            <p:ph type="sldNum" sz="quarter" idx="10"/>
          </p:nvPr>
        </p:nvSpPr>
        <p:spPr/>
        <p:txBody>
          <a:bodyPr/>
          <a:lstStyle/>
          <a:p>
            <a:pPr>
              <a:defRPr/>
            </a:pPr>
            <a:fld id="{BA853F1D-5976-4D6F-8B88-FEE852118BCD}" type="slidenum">
              <a:rPr lang="en-US" smtClean="0"/>
              <a:pPr>
                <a:defRPr/>
              </a:pPr>
              <a:t>78</a:t>
            </a:fld>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pPr eaLnBrk="1" hangingPunct="1">
              <a:defRPr/>
            </a:pPr>
            <a:r>
              <a:rPr lang="en-US" sz="3200" cap="small" dirty="0" smtClean="0"/>
              <a:t>Safety Activities in </a:t>
            </a:r>
            <a:br>
              <a:rPr lang="en-US" sz="3200" cap="small" dirty="0" smtClean="0"/>
            </a:br>
            <a:r>
              <a:rPr lang="en-US" sz="3200" cap="small" dirty="0" smtClean="0"/>
              <a:t>Final Design</a:t>
            </a:r>
          </a:p>
        </p:txBody>
      </p:sp>
      <p:sp>
        <p:nvSpPr>
          <p:cNvPr id="41987" name="Content Placeholder 2"/>
          <p:cNvSpPr>
            <a:spLocks noGrp="1"/>
          </p:cNvSpPr>
          <p:nvPr>
            <p:ph idx="1"/>
          </p:nvPr>
        </p:nvSpPr>
        <p:spPr/>
        <p:txBody>
          <a:bodyPr/>
          <a:lstStyle/>
          <a:p>
            <a:pPr eaLnBrk="1" hangingPunct="1">
              <a:spcBef>
                <a:spcPts val="1200"/>
              </a:spcBef>
              <a:spcAft>
                <a:spcPts val="600"/>
              </a:spcAft>
            </a:pPr>
            <a:r>
              <a:rPr lang="en-US" sz="2400" dirty="0" smtClean="0">
                <a:latin typeface="Arial" charset="0"/>
                <a:cs typeface="Arial" charset="0"/>
              </a:rPr>
              <a:t>Update and finalize preliminary safety in design analyses, information and documentation</a:t>
            </a:r>
          </a:p>
          <a:p>
            <a:pPr eaLnBrk="1" hangingPunct="1">
              <a:spcBef>
                <a:spcPts val="1200"/>
              </a:spcBef>
              <a:spcAft>
                <a:spcPts val="600"/>
              </a:spcAft>
            </a:pPr>
            <a:r>
              <a:rPr lang="en-US" sz="2400" dirty="0" smtClean="0">
                <a:latin typeface="Arial" charset="0"/>
                <a:cs typeface="Arial" charset="0"/>
              </a:rPr>
              <a:t>Update Risk and Opportunity Assessment (as needed)</a:t>
            </a:r>
          </a:p>
          <a:p>
            <a:pPr eaLnBrk="1" hangingPunct="1">
              <a:spcBef>
                <a:spcPts val="1200"/>
              </a:spcBef>
              <a:spcAft>
                <a:spcPts val="600"/>
              </a:spcAft>
            </a:pPr>
            <a:r>
              <a:rPr lang="en-US" sz="2400" dirty="0" smtClean="0">
                <a:latin typeface="Arial" charset="0"/>
                <a:cs typeface="Arial" charset="0"/>
              </a:rPr>
              <a:t>Update SDS reflecting design and safety evolution (as needed)</a:t>
            </a:r>
          </a:p>
          <a:p>
            <a:pPr eaLnBrk="1" hangingPunct="1">
              <a:spcBef>
                <a:spcPts val="1200"/>
              </a:spcBef>
              <a:spcAft>
                <a:spcPts val="600"/>
              </a:spcAft>
            </a:pPr>
            <a:r>
              <a:rPr lang="en-US" sz="2400" dirty="0" smtClean="0">
                <a:latin typeface="Arial" charset="0"/>
                <a:cs typeface="Arial" charset="0"/>
              </a:rPr>
              <a:t>Develop Preliminary Documented Safety Analysis</a:t>
            </a:r>
          </a:p>
          <a:p>
            <a:pPr eaLnBrk="1" hangingPunct="1">
              <a:spcBef>
                <a:spcPts val="1200"/>
              </a:spcBef>
              <a:spcAft>
                <a:spcPts val="600"/>
              </a:spcAft>
            </a:pPr>
            <a:r>
              <a:rPr lang="en-US" sz="2400" dirty="0" smtClean="0">
                <a:latin typeface="Arial" charset="0"/>
                <a:cs typeface="Arial" charset="0"/>
              </a:rPr>
              <a:t>DOE prepares a Safety Evaluation Report </a:t>
            </a:r>
          </a:p>
          <a:p>
            <a:pPr eaLnBrk="1" hangingPunct="1">
              <a:spcBef>
                <a:spcPts val="1200"/>
              </a:spcBef>
              <a:spcAft>
                <a:spcPts val="600"/>
              </a:spcAft>
            </a:pPr>
            <a:endParaRPr lang="en-US" sz="2400" dirty="0" smtClean="0">
              <a:latin typeface="Arial" charset="0"/>
              <a:cs typeface="Arial" charset="0"/>
            </a:endParaRPr>
          </a:p>
          <a:p>
            <a:pPr eaLnBrk="1" hangingPunct="1">
              <a:spcBef>
                <a:spcPts val="1200"/>
              </a:spcBef>
              <a:spcAft>
                <a:spcPts val="600"/>
              </a:spcAft>
            </a:pPr>
            <a:endParaRPr lang="en-US" sz="2400" dirty="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D792547E-8064-4BED-884D-4419A8989991}" type="slidenum">
              <a:rPr lang="en-US" smtClean="0"/>
              <a:pPr>
                <a:defRPr/>
              </a:pPr>
              <a:t>79</a:t>
            </a:fld>
            <a:endParaRPr 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5FDBEC27-C52D-4BE5-8EA0-A9DD4370304F}" type="slidenum">
              <a:rPr lang="en-US" smtClean="0"/>
              <a:pPr>
                <a:defRPr/>
              </a:pPr>
              <a:t>80</a:t>
            </a:fld>
            <a:endParaRPr lang="en-US" dirty="0"/>
          </a:p>
        </p:txBody>
      </p:sp>
      <p:sp>
        <p:nvSpPr>
          <p:cNvPr id="267268" name="Rectangle 4"/>
          <p:cNvSpPr>
            <a:spLocks noGrp="1" noChangeArrowheads="1"/>
          </p:cNvSpPr>
          <p:nvPr>
            <p:ph type="title" idx="4294967295"/>
          </p:nvPr>
        </p:nvSpPr>
        <p:spPr>
          <a:xfrm>
            <a:off x="1295400" y="0"/>
            <a:ext cx="7150100" cy="1143000"/>
          </a:xfrm>
        </p:spPr>
        <p:txBody>
          <a:bodyPr rtlCol="0">
            <a:noAutofit/>
          </a:bodyPr>
          <a:lstStyle/>
          <a:p>
            <a:pPr eaLnBrk="1" fontAlgn="auto" hangingPunct="1">
              <a:spcAft>
                <a:spcPts val="0"/>
              </a:spcAft>
              <a:defRPr/>
            </a:pPr>
            <a:r>
              <a:rPr lang="en-US" sz="3200" b="1" cap="small" dirty="0" smtClean="0">
                <a:solidFill>
                  <a:schemeClr val="accent3">
                    <a:lumMod val="75000"/>
                  </a:schemeClr>
                </a:solidFill>
              </a:rPr>
              <a:t>Final Design Phase</a:t>
            </a:r>
          </a:p>
        </p:txBody>
      </p:sp>
      <p:grpSp>
        <p:nvGrpSpPr>
          <p:cNvPr id="95236" name="Group 4"/>
          <p:cNvGrpSpPr>
            <a:grpSpLocks noChangeAspect="1"/>
          </p:cNvGrpSpPr>
          <p:nvPr/>
        </p:nvGrpSpPr>
        <p:grpSpPr bwMode="auto">
          <a:xfrm>
            <a:off x="304800" y="1055688"/>
            <a:ext cx="8534400" cy="5543550"/>
            <a:chOff x="192" y="665"/>
            <a:chExt cx="5376" cy="3492"/>
          </a:xfrm>
        </p:grpSpPr>
        <p:sp>
          <p:nvSpPr>
            <p:cNvPr id="95237" name="AutoShape 3"/>
            <p:cNvSpPr>
              <a:spLocks noChangeAspect="1" noChangeArrowheads="1" noTextEdit="1"/>
            </p:cNvSpPr>
            <p:nvPr/>
          </p:nvSpPr>
          <p:spPr bwMode="auto">
            <a:xfrm>
              <a:off x="192" y="672"/>
              <a:ext cx="5376" cy="3485"/>
            </a:xfrm>
            <a:prstGeom prst="rect">
              <a:avLst/>
            </a:prstGeom>
            <a:noFill/>
            <a:ln w="9525">
              <a:noFill/>
              <a:miter lim="800000"/>
              <a:headEnd/>
              <a:tailEnd/>
            </a:ln>
          </p:spPr>
          <p:txBody>
            <a:bodyPr/>
            <a:lstStyle/>
            <a:p>
              <a:endParaRPr lang="en-US"/>
            </a:p>
          </p:txBody>
        </p:sp>
        <p:grpSp>
          <p:nvGrpSpPr>
            <p:cNvPr id="95238" name="Group 205"/>
            <p:cNvGrpSpPr>
              <a:grpSpLocks/>
            </p:cNvGrpSpPr>
            <p:nvPr/>
          </p:nvGrpSpPr>
          <p:grpSpPr bwMode="auto">
            <a:xfrm>
              <a:off x="192" y="665"/>
              <a:ext cx="5362" cy="3486"/>
              <a:chOff x="192" y="665"/>
              <a:chExt cx="5362" cy="3486"/>
            </a:xfrm>
          </p:grpSpPr>
          <p:sp>
            <p:nvSpPr>
              <p:cNvPr id="95329" name="Rectangle 5"/>
              <p:cNvSpPr>
                <a:spLocks noChangeArrowheads="1"/>
              </p:cNvSpPr>
              <p:nvPr/>
            </p:nvSpPr>
            <p:spPr bwMode="auto">
              <a:xfrm>
                <a:off x="192" y="665"/>
                <a:ext cx="78" cy="145"/>
              </a:xfrm>
              <a:prstGeom prst="rect">
                <a:avLst/>
              </a:prstGeom>
              <a:noFill/>
              <a:ln w="9525">
                <a:noFill/>
                <a:miter lim="800000"/>
                <a:headEnd/>
                <a:tailEnd/>
              </a:ln>
            </p:spPr>
            <p:txBody>
              <a:bodyPr wrap="none" lIns="0" tIns="0" rIns="0" bIns="0">
                <a:spAutoFit/>
              </a:bodyPr>
              <a:lstStyle/>
              <a:p>
                <a:r>
                  <a:rPr lang="en-US" sz="1300">
                    <a:solidFill>
                      <a:srgbClr val="000000"/>
                    </a:solidFill>
                    <a:latin typeface="Times New Roman" pitchFamily="18" charset="0"/>
                  </a:rPr>
                  <a:t> </a:t>
                </a:r>
                <a:endParaRPr lang="en-US"/>
              </a:p>
            </p:txBody>
          </p:sp>
          <p:sp>
            <p:nvSpPr>
              <p:cNvPr id="95330" name="Rectangle 6"/>
              <p:cNvSpPr>
                <a:spLocks noChangeArrowheads="1"/>
              </p:cNvSpPr>
              <p:nvPr/>
            </p:nvSpPr>
            <p:spPr bwMode="auto">
              <a:xfrm>
                <a:off x="199" y="911"/>
                <a:ext cx="5355" cy="114"/>
              </a:xfrm>
              <a:prstGeom prst="rect">
                <a:avLst/>
              </a:prstGeom>
              <a:solidFill>
                <a:srgbClr val="E8EEF7"/>
              </a:solidFill>
              <a:ln w="9525">
                <a:noFill/>
                <a:miter lim="800000"/>
                <a:headEnd/>
                <a:tailEnd/>
              </a:ln>
            </p:spPr>
            <p:txBody>
              <a:bodyPr/>
              <a:lstStyle/>
              <a:p>
                <a:endParaRPr lang="en-US"/>
              </a:p>
            </p:txBody>
          </p:sp>
          <p:sp>
            <p:nvSpPr>
              <p:cNvPr id="95331" name="Rectangle 7"/>
              <p:cNvSpPr>
                <a:spLocks noChangeArrowheads="1"/>
              </p:cNvSpPr>
              <p:nvPr/>
            </p:nvSpPr>
            <p:spPr bwMode="auto">
              <a:xfrm>
                <a:off x="199" y="911"/>
                <a:ext cx="5355" cy="114"/>
              </a:xfrm>
              <a:prstGeom prst="rect">
                <a:avLst/>
              </a:prstGeom>
              <a:noFill/>
              <a:ln w="0">
                <a:solidFill>
                  <a:srgbClr val="000000"/>
                </a:solidFill>
                <a:miter lim="800000"/>
                <a:headEnd/>
                <a:tailEnd/>
              </a:ln>
            </p:spPr>
            <p:txBody>
              <a:bodyPr/>
              <a:lstStyle/>
              <a:p>
                <a:endParaRPr lang="en-US"/>
              </a:p>
            </p:txBody>
          </p:sp>
          <p:sp>
            <p:nvSpPr>
              <p:cNvPr id="95332" name="Rectangle 8"/>
              <p:cNvSpPr>
                <a:spLocks noChangeArrowheads="1"/>
              </p:cNvSpPr>
              <p:nvPr/>
            </p:nvSpPr>
            <p:spPr bwMode="auto">
              <a:xfrm>
                <a:off x="199" y="685"/>
                <a:ext cx="5355" cy="3466"/>
              </a:xfrm>
              <a:prstGeom prst="rect">
                <a:avLst/>
              </a:prstGeom>
              <a:noFill/>
              <a:ln w="0">
                <a:solidFill>
                  <a:srgbClr val="000000"/>
                </a:solidFill>
                <a:miter lim="800000"/>
                <a:headEnd/>
                <a:tailEnd/>
              </a:ln>
            </p:spPr>
            <p:txBody>
              <a:bodyPr/>
              <a:lstStyle/>
              <a:p>
                <a:endParaRPr lang="en-US"/>
              </a:p>
            </p:txBody>
          </p:sp>
          <p:sp>
            <p:nvSpPr>
              <p:cNvPr id="95333" name="Rectangle 9"/>
              <p:cNvSpPr>
                <a:spLocks noChangeArrowheads="1"/>
              </p:cNvSpPr>
              <p:nvPr/>
            </p:nvSpPr>
            <p:spPr bwMode="auto">
              <a:xfrm>
                <a:off x="199" y="685"/>
                <a:ext cx="5355" cy="226"/>
              </a:xfrm>
              <a:prstGeom prst="rect">
                <a:avLst/>
              </a:prstGeom>
              <a:solidFill>
                <a:srgbClr val="E8EEF7"/>
              </a:solidFill>
              <a:ln w="9525">
                <a:noFill/>
                <a:miter lim="800000"/>
                <a:headEnd/>
                <a:tailEnd/>
              </a:ln>
            </p:spPr>
            <p:txBody>
              <a:bodyPr/>
              <a:lstStyle/>
              <a:p>
                <a:endParaRPr lang="en-US"/>
              </a:p>
            </p:txBody>
          </p:sp>
          <p:sp>
            <p:nvSpPr>
              <p:cNvPr id="95334" name="Rectangle 10"/>
              <p:cNvSpPr>
                <a:spLocks noChangeArrowheads="1"/>
              </p:cNvSpPr>
              <p:nvPr/>
            </p:nvSpPr>
            <p:spPr bwMode="auto">
              <a:xfrm>
                <a:off x="199" y="685"/>
                <a:ext cx="5355" cy="226"/>
              </a:xfrm>
              <a:prstGeom prst="rect">
                <a:avLst/>
              </a:prstGeom>
              <a:noFill/>
              <a:ln w="0">
                <a:solidFill>
                  <a:srgbClr val="000000"/>
                </a:solidFill>
                <a:miter lim="800000"/>
                <a:headEnd/>
                <a:tailEnd/>
              </a:ln>
            </p:spPr>
            <p:txBody>
              <a:bodyPr/>
              <a:lstStyle/>
              <a:p>
                <a:endParaRPr lang="en-US"/>
              </a:p>
            </p:txBody>
          </p:sp>
          <p:sp>
            <p:nvSpPr>
              <p:cNvPr id="95335" name="Rectangle 11"/>
              <p:cNvSpPr>
                <a:spLocks noChangeArrowheads="1"/>
              </p:cNvSpPr>
              <p:nvPr/>
            </p:nvSpPr>
            <p:spPr bwMode="auto">
              <a:xfrm>
                <a:off x="213" y="741"/>
                <a:ext cx="200" cy="120"/>
              </a:xfrm>
              <a:prstGeom prst="rect">
                <a:avLst/>
              </a:prstGeom>
              <a:noFill/>
              <a:ln w="9525">
                <a:noFill/>
                <a:miter lim="800000"/>
                <a:headEnd/>
                <a:tailEnd/>
              </a:ln>
            </p:spPr>
            <p:txBody>
              <a:bodyPr wrap="none" lIns="0" tIns="0" rIns="0" bIns="0">
                <a:spAutoFit/>
              </a:bodyPr>
              <a:lstStyle/>
              <a:p>
                <a:r>
                  <a:rPr lang="en-US" sz="1100">
                    <a:solidFill>
                      <a:srgbClr val="000000"/>
                    </a:solidFill>
                  </a:rPr>
                  <a:t>Pre</a:t>
                </a:r>
                <a:endParaRPr lang="en-US"/>
              </a:p>
            </p:txBody>
          </p:sp>
          <p:sp>
            <p:nvSpPr>
              <p:cNvPr id="95336" name="Rectangle 12"/>
              <p:cNvSpPr>
                <a:spLocks noChangeArrowheads="1"/>
              </p:cNvSpPr>
              <p:nvPr/>
            </p:nvSpPr>
            <p:spPr bwMode="auto">
              <a:xfrm>
                <a:off x="370" y="741"/>
                <a:ext cx="78" cy="120"/>
              </a:xfrm>
              <a:prstGeom prst="rect">
                <a:avLst/>
              </a:prstGeom>
              <a:noFill/>
              <a:ln w="9525">
                <a:noFill/>
                <a:miter lim="800000"/>
                <a:headEnd/>
                <a:tailEnd/>
              </a:ln>
            </p:spPr>
            <p:txBody>
              <a:bodyPr wrap="none" lIns="0" tIns="0" rIns="0" bIns="0">
                <a:spAutoFit/>
              </a:bodyPr>
              <a:lstStyle/>
              <a:p>
                <a:r>
                  <a:rPr lang="en-US" sz="1100">
                    <a:solidFill>
                      <a:srgbClr val="000000"/>
                    </a:solidFill>
                  </a:rPr>
                  <a:t>-</a:t>
                </a:r>
                <a:endParaRPr lang="en-US"/>
              </a:p>
            </p:txBody>
          </p:sp>
          <p:sp>
            <p:nvSpPr>
              <p:cNvPr id="95337" name="Rectangle 13"/>
              <p:cNvSpPr>
                <a:spLocks noChangeArrowheads="1"/>
              </p:cNvSpPr>
              <p:nvPr/>
            </p:nvSpPr>
            <p:spPr bwMode="auto">
              <a:xfrm>
                <a:off x="427" y="741"/>
                <a:ext cx="185" cy="120"/>
              </a:xfrm>
              <a:prstGeom prst="rect">
                <a:avLst/>
              </a:prstGeom>
              <a:noFill/>
              <a:ln w="9525">
                <a:noFill/>
                <a:miter lim="800000"/>
                <a:headEnd/>
                <a:tailEnd/>
              </a:ln>
            </p:spPr>
            <p:txBody>
              <a:bodyPr wrap="none" lIns="0" tIns="0" rIns="0" bIns="0">
                <a:spAutoFit/>
              </a:bodyPr>
              <a:lstStyle/>
              <a:p>
                <a:r>
                  <a:rPr lang="en-US" sz="1100">
                    <a:solidFill>
                      <a:srgbClr val="000000"/>
                    </a:solidFill>
                  </a:rPr>
                  <a:t>CD</a:t>
                </a:r>
                <a:endParaRPr lang="en-US"/>
              </a:p>
            </p:txBody>
          </p:sp>
          <p:sp>
            <p:nvSpPr>
              <p:cNvPr id="95338" name="Rectangle 14"/>
              <p:cNvSpPr>
                <a:spLocks noChangeArrowheads="1"/>
              </p:cNvSpPr>
              <p:nvPr/>
            </p:nvSpPr>
            <p:spPr bwMode="auto">
              <a:xfrm>
                <a:off x="577" y="741"/>
                <a:ext cx="78" cy="120"/>
              </a:xfrm>
              <a:prstGeom prst="rect">
                <a:avLst/>
              </a:prstGeom>
              <a:noFill/>
              <a:ln w="9525">
                <a:noFill/>
                <a:miter lim="800000"/>
                <a:headEnd/>
                <a:tailEnd/>
              </a:ln>
            </p:spPr>
            <p:txBody>
              <a:bodyPr wrap="none" lIns="0" tIns="0" rIns="0" bIns="0">
                <a:spAutoFit/>
              </a:bodyPr>
              <a:lstStyle/>
              <a:p>
                <a:r>
                  <a:rPr lang="en-US" sz="1100">
                    <a:solidFill>
                      <a:srgbClr val="000000"/>
                    </a:solidFill>
                  </a:rPr>
                  <a:t>-</a:t>
                </a:r>
                <a:endParaRPr lang="en-US"/>
              </a:p>
            </p:txBody>
          </p:sp>
          <p:sp>
            <p:nvSpPr>
              <p:cNvPr id="95339" name="Rectangle 15"/>
              <p:cNvSpPr>
                <a:spLocks noChangeArrowheads="1"/>
              </p:cNvSpPr>
              <p:nvPr/>
            </p:nvSpPr>
            <p:spPr bwMode="auto">
              <a:xfrm>
                <a:off x="606" y="741"/>
                <a:ext cx="100" cy="120"/>
              </a:xfrm>
              <a:prstGeom prst="rect">
                <a:avLst/>
              </a:prstGeom>
              <a:noFill/>
              <a:ln w="9525">
                <a:noFill/>
                <a:miter lim="800000"/>
                <a:headEnd/>
                <a:tailEnd/>
              </a:ln>
            </p:spPr>
            <p:txBody>
              <a:bodyPr wrap="none" lIns="0" tIns="0" rIns="0" bIns="0">
                <a:spAutoFit/>
              </a:bodyPr>
              <a:lstStyle/>
              <a:p>
                <a:r>
                  <a:rPr lang="en-US" sz="1100">
                    <a:solidFill>
                      <a:srgbClr val="000000"/>
                    </a:solidFill>
                  </a:rPr>
                  <a:t>3</a:t>
                </a:r>
                <a:endParaRPr lang="en-US"/>
              </a:p>
            </p:txBody>
          </p:sp>
          <p:sp>
            <p:nvSpPr>
              <p:cNvPr id="95340" name="Rectangle 16"/>
              <p:cNvSpPr>
                <a:spLocks noChangeArrowheads="1"/>
              </p:cNvSpPr>
              <p:nvPr/>
            </p:nvSpPr>
            <p:spPr bwMode="auto">
              <a:xfrm>
                <a:off x="663" y="741"/>
                <a:ext cx="100" cy="120"/>
              </a:xfrm>
              <a:prstGeom prst="rect">
                <a:avLst/>
              </a:prstGeom>
              <a:noFill/>
              <a:ln w="9525">
                <a:noFill/>
                <a:miter lim="800000"/>
                <a:headEnd/>
                <a:tailEnd/>
              </a:ln>
            </p:spPr>
            <p:txBody>
              <a:bodyPr wrap="none" lIns="0" tIns="0" rIns="0" bIns="0">
                <a:spAutoFit/>
              </a:bodyPr>
              <a:lstStyle/>
              <a:p>
                <a:r>
                  <a:rPr lang="en-US" sz="1100">
                    <a:solidFill>
                      <a:srgbClr val="000000"/>
                    </a:solidFill>
                  </a:rPr>
                  <a:t>, </a:t>
                </a:r>
                <a:endParaRPr lang="en-US"/>
              </a:p>
            </p:txBody>
          </p:sp>
          <p:sp>
            <p:nvSpPr>
              <p:cNvPr id="95341" name="Rectangle 17"/>
              <p:cNvSpPr>
                <a:spLocks noChangeArrowheads="1"/>
              </p:cNvSpPr>
              <p:nvPr/>
            </p:nvSpPr>
            <p:spPr bwMode="auto">
              <a:xfrm>
                <a:off x="720" y="741"/>
                <a:ext cx="606" cy="120"/>
              </a:xfrm>
              <a:prstGeom prst="rect">
                <a:avLst/>
              </a:prstGeom>
              <a:noFill/>
              <a:ln w="9525">
                <a:noFill/>
                <a:miter lim="800000"/>
                <a:headEnd/>
                <a:tailEnd/>
              </a:ln>
            </p:spPr>
            <p:txBody>
              <a:bodyPr wrap="none" lIns="0" tIns="0" rIns="0" bIns="0">
                <a:spAutoFit/>
              </a:bodyPr>
              <a:lstStyle/>
              <a:p>
                <a:r>
                  <a:rPr lang="en-US" sz="1100">
                    <a:solidFill>
                      <a:srgbClr val="000000"/>
                    </a:solidFill>
                  </a:rPr>
                  <a:t>Final Design</a:t>
                </a:r>
                <a:endParaRPr lang="en-US"/>
              </a:p>
            </p:txBody>
          </p:sp>
          <p:sp>
            <p:nvSpPr>
              <p:cNvPr id="95342" name="Rectangle 18"/>
              <p:cNvSpPr>
                <a:spLocks noChangeArrowheads="1"/>
              </p:cNvSpPr>
              <p:nvPr/>
            </p:nvSpPr>
            <p:spPr bwMode="auto">
              <a:xfrm>
                <a:off x="199" y="2997"/>
                <a:ext cx="5355" cy="1154"/>
              </a:xfrm>
              <a:prstGeom prst="rect">
                <a:avLst/>
              </a:prstGeom>
              <a:noFill/>
              <a:ln w="0">
                <a:solidFill>
                  <a:srgbClr val="000000"/>
                </a:solidFill>
                <a:miter lim="800000"/>
                <a:headEnd/>
                <a:tailEnd/>
              </a:ln>
            </p:spPr>
            <p:txBody>
              <a:bodyPr/>
              <a:lstStyle/>
              <a:p>
                <a:endParaRPr lang="en-US"/>
              </a:p>
            </p:txBody>
          </p:sp>
          <p:sp>
            <p:nvSpPr>
              <p:cNvPr id="95343" name="Rectangle 19"/>
              <p:cNvSpPr>
                <a:spLocks noChangeArrowheads="1"/>
              </p:cNvSpPr>
              <p:nvPr/>
            </p:nvSpPr>
            <p:spPr bwMode="auto">
              <a:xfrm>
                <a:off x="199" y="2997"/>
                <a:ext cx="335" cy="1154"/>
              </a:xfrm>
              <a:prstGeom prst="rect">
                <a:avLst/>
              </a:prstGeom>
              <a:solidFill>
                <a:srgbClr val="E8EEF7"/>
              </a:solidFill>
              <a:ln w="9525">
                <a:noFill/>
                <a:miter lim="800000"/>
                <a:headEnd/>
                <a:tailEnd/>
              </a:ln>
            </p:spPr>
            <p:txBody>
              <a:bodyPr/>
              <a:lstStyle/>
              <a:p>
                <a:endParaRPr lang="en-US"/>
              </a:p>
            </p:txBody>
          </p:sp>
          <p:sp>
            <p:nvSpPr>
              <p:cNvPr id="95344" name="Rectangle 20"/>
              <p:cNvSpPr>
                <a:spLocks noChangeArrowheads="1"/>
              </p:cNvSpPr>
              <p:nvPr/>
            </p:nvSpPr>
            <p:spPr bwMode="auto">
              <a:xfrm>
                <a:off x="199" y="2997"/>
                <a:ext cx="335" cy="1154"/>
              </a:xfrm>
              <a:prstGeom prst="rect">
                <a:avLst/>
              </a:prstGeom>
              <a:noFill/>
              <a:ln w="0">
                <a:solidFill>
                  <a:srgbClr val="000000"/>
                </a:solidFill>
                <a:miter lim="800000"/>
                <a:headEnd/>
                <a:tailEnd/>
              </a:ln>
            </p:spPr>
            <p:txBody>
              <a:bodyPr/>
              <a:lstStyle/>
              <a:p>
                <a:endParaRPr lang="en-US"/>
              </a:p>
            </p:txBody>
          </p:sp>
          <p:sp>
            <p:nvSpPr>
              <p:cNvPr id="95345" name="Rectangle 21"/>
              <p:cNvSpPr>
                <a:spLocks noChangeArrowheads="1"/>
              </p:cNvSpPr>
              <p:nvPr/>
            </p:nvSpPr>
            <p:spPr bwMode="auto">
              <a:xfrm rot="-5400000">
                <a:off x="321" y="3791"/>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S</a:t>
                </a:r>
                <a:endParaRPr lang="en-US"/>
              </a:p>
            </p:txBody>
          </p:sp>
          <p:sp>
            <p:nvSpPr>
              <p:cNvPr id="95346" name="Rectangle 22"/>
              <p:cNvSpPr>
                <a:spLocks noChangeArrowheads="1"/>
              </p:cNvSpPr>
              <p:nvPr/>
            </p:nvSpPr>
            <p:spPr bwMode="auto">
              <a:xfrm rot="-5400000">
                <a:off x="328" y="375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a</a:t>
                </a:r>
                <a:endParaRPr lang="en-US"/>
              </a:p>
            </p:txBody>
          </p:sp>
          <p:sp>
            <p:nvSpPr>
              <p:cNvPr id="95347" name="Rectangle 23"/>
              <p:cNvSpPr>
                <a:spLocks noChangeArrowheads="1"/>
              </p:cNvSpPr>
              <p:nvPr/>
            </p:nvSpPr>
            <p:spPr bwMode="auto">
              <a:xfrm rot="-5400000">
                <a:off x="343" y="3725"/>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f</a:t>
                </a:r>
                <a:endParaRPr lang="en-US"/>
              </a:p>
            </p:txBody>
          </p:sp>
          <p:sp>
            <p:nvSpPr>
              <p:cNvPr id="95348" name="Rectangle 24"/>
              <p:cNvSpPr>
                <a:spLocks noChangeArrowheads="1"/>
              </p:cNvSpPr>
              <p:nvPr/>
            </p:nvSpPr>
            <p:spPr bwMode="auto">
              <a:xfrm rot="-5400000">
                <a:off x="328" y="368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349" name="Rectangle 25"/>
              <p:cNvSpPr>
                <a:spLocks noChangeArrowheads="1"/>
              </p:cNvSpPr>
              <p:nvPr/>
            </p:nvSpPr>
            <p:spPr bwMode="auto">
              <a:xfrm rot="-5400000">
                <a:off x="339" y="3658"/>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t</a:t>
                </a:r>
                <a:endParaRPr lang="en-US"/>
              </a:p>
            </p:txBody>
          </p:sp>
          <p:sp>
            <p:nvSpPr>
              <p:cNvPr id="95350" name="Rectangle 26"/>
              <p:cNvSpPr>
                <a:spLocks noChangeArrowheads="1"/>
              </p:cNvSpPr>
              <p:nvPr/>
            </p:nvSpPr>
            <p:spPr bwMode="auto">
              <a:xfrm rot="-5400000">
                <a:off x="328" y="3628"/>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y</a:t>
                </a:r>
                <a:endParaRPr lang="en-US"/>
              </a:p>
            </p:txBody>
          </p:sp>
          <p:sp>
            <p:nvSpPr>
              <p:cNvPr id="95351" name="Rectangle 27"/>
              <p:cNvSpPr>
                <a:spLocks noChangeArrowheads="1"/>
              </p:cNvSpPr>
              <p:nvPr/>
            </p:nvSpPr>
            <p:spPr bwMode="auto">
              <a:xfrm rot="-5400000">
                <a:off x="339" y="3601"/>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 </a:t>
                </a:r>
                <a:endParaRPr lang="en-US"/>
              </a:p>
            </p:txBody>
          </p:sp>
          <p:sp>
            <p:nvSpPr>
              <p:cNvPr id="95352" name="Rectangle 28"/>
              <p:cNvSpPr>
                <a:spLocks noChangeArrowheads="1"/>
              </p:cNvSpPr>
              <p:nvPr/>
            </p:nvSpPr>
            <p:spPr bwMode="auto">
              <a:xfrm rot="-5400000">
                <a:off x="321" y="3564"/>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D</a:t>
                </a:r>
                <a:endParaRPr lang="en-US"/>
              </a:p>
            </p:txBody>
          </p:sp>
          <p:sp>
            <p:nvSpPr>
              <p:cNvPr id="95353" name="Rectangle 29"/>
              <p:cNvSpPr>
                <a:spLocks noChangeArrowheads="1"/>
              </p:cNvSpPr>
              <p:nvPr/>
            </p:nvSpPr>
            <p:spPr bwMode="auto">
              <a:xfrm rot="-5400000">
                <a:off x="328" y="351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354" name="Rectangle 30"/>
              <p:cNvSpPr>
                <a:spLocks noChangeArrowheads="1"/>
              </p:cNvSpPr>
              <p:nvPr/>
            </p:nvSpPr>
            <p:spPr bwMode="auto">
              <a:xfrm rot="-5400000">
                <a:off x="328" y="3470"/>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s</a:t>
                </a:r>
                <a:endParaRPr lang="en-US"/>
              </a:p>
            </p:txBody>
          </p:sp>
          <p:sp>
            <p:nvSpPr>
              <p:cNvPr id="95355" name="Rectangle 31"/>
              <p:cNvSpPr>
                <a:spLocks noChangeArrowheads="1"/>
              </p:cNvSpPr>
              <p:nvPr/>
            </p:nvSpPr>
            <p:spPr bwMode="auto">
              <a:xfrm rot="-5400000">
                <a:off x="343" y="3447"/>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i</a:t>
                </a:r>
                <a:endParaRPr lang="en-US"/>
              </a:p>
            </p:txBody>
          </p:sp>
          <p:sp>
            <p:nvSpPr>
              <p:cNvPr id="95356" name="Rectangle 32"/>
              <p:cNvSpPr>
                <a:spLocks noChangeArrowheads="1"/>
              </p:cNvSpPr>
              <p:nvPr/>
            </p:nvSpPr>
            <p:spPr bwMode="auto">
              <a:xfrm rot="-5400000">
                <a:off x="328" y="3420"/>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g</a:t>
                </a:r>
                <a:endParaRPr lang="en-US"/>
              </a:p>
            </p:txBody>
          </p:sp>
          <p:sp>
            <p:nvSpPr>
              <p:cNvPr id="95357" name="Rectangle 33"/>
              <p:cNvSpPr>
                <a:spLocks noChangeArrowheads="1"/>
              </p:cNvSpPr>
              <p:nvPr/>
            </p:nvSpPr>
            <p:spPr bwMode="auto">
              <a:xfrm rot="-5400000">
                <a:off x="328" y="3376"/>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358" name="Rectangle 34"/>
              <p:cNvSpPr>
                <a:spLocks noChangeArrowheads="1"/>
              </p:cNvSpPr>
              <p:nvPr/>
            </p:nvSpPr>
            <p:spPr bwMode="auto">
              <a:xfrm rot="-5400000">
                <a:off x="339" y="3343"/>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 </a:t>
                </a:r>
                <a:endParaRPr lang="en-US"/>
              </a:p>
            </p:txBody>
          </p:sp>
          <p:sp>
            <p:nvSpPr>
              <p:cNvPr id="95359" name="Rectangle 35"/>
              <p:cNvSpPr>
                <a:spLocks noChangeArrowheads="1"/>
              </p:cNvSpPr>
              <p:nvPr/>
            </p:nvSpPr>
            <p:spPr bwMode="auto">
              <a:xfrm rot="-5400000">
                <a:off x="321" y="3306"/>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B</a:t>
                </a:r>
                <a:endParaRPr lang="en-US"/>
              </a:p>
            </p:txBody>
          </p:sp>
          <p:sp>
            <p:nvSpPr>
              <p:cNvPr id="95360" name="Rectangle 36"/>
              <p:cNvSpPr>
                <a:spLocks noChangeArrowheads="1"/>
              </p:cNvSpPr>
              <p:nvPr/>
            </p:nvSpPr>
            <p:spPr bwMode="auto">
              <a:xfrm rot="-5400000">
                <a:off x="328" y="3262"/>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a</a:t>
                </a:r>
                <a:endParaRPr lang="en-US"/>
              </a:p>
            </p:txBody>
          </p:sp>
          <p:sp>
            <p:nvSpPr>
              <p:cNvPr id="95361" name="Rectangle 37"/>
              <p:cNvSpPr>
                <a:spLocks noChangeArrowheads="1"/>
              </p:cNvSpPr>
              <p:nvPr/>
            </p:nvSpPr>
            <p:spPr bwMode="auto">
              <a:xfrm rot="-5400000">
                <a:off x="328" y="322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s</a:t>
                </a:r>
                <a:endParaRPr lang="en-US"/>
              </a:p>
            </p:txBody>
          </p:sp>
          <p:sp>
            <p:nvSpPr>
              <p:cNvPr id="95362" name="Rectangle 38"/>
              <p:cNvSpPr>
                <a:spLocks noChangeArrowheads="1"/>
              </p:cNvSpPr>
              <p:nvPr/>
            </p:nvSpPr>
            <p:spPr bwMode="auto">
              <a:xfrm rot="-5400000">
                <a:off x="343" y="3202"/>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i</a:t>
                </a:r>
                <a:endParaRPr lang="en-US"/>
              </a:p>
            </p:txBody>
          </p:sp>
          <p:sp>
            <p:nvSpPr>
              <p:cNvPr id="95363" name="Rectangle 39"/>
              <p:cNvSpPr>
                <a:spLocks noChangeArrowheads="1"/>
              </p:cNvSpPr>
              <p:nvPr/>
            </p:nvSpPr>
            <p:spPr bwMode="auto">
              <a:xfrm rot="-5400000">
                <a:off x="328" y="3168"/>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s</a:t>
                </a:r>
                <a:endParaRPr lang="en-US"/>
              </a:p>
            </p:txBody>
          </p:sp>
          <p:sp>
            <p:nvSpPr>
              <p:cNvPr id="95364" name="Freeform 40"/>
              <p:cNvSpPr>
                <a:spLocks noEditPoints="1"/>
              </p:cNvSpPr>
              <p:nvPr/>
            </p:nvSpPr>
            <p:spPr bwMode="auto">
              <a:xfrm>
                <a:off x="705" y="3105"/>
                <a:ext cx="1612" cy="964"/>
              </a:xfrm>
              <a:custGeom>
                <a:avLst/>
                <a:gdLst>
                  <a:gd name="T0" fmla="*/ 7 w 1612"/>
                  <a:gd name="T1" fmla="*/ 12 h 964"/>
                  <a:gd name="T2" fmla="*/ 7 w 1612"/>
                  <a:gd name="T3" fmla="*/ 94 h 964"/>
                  <a:gd name="T4" fmla="*/ 0 w 1612"/>
                  <a:gd name="T5" fmla="*/ 189 h 964"/>
                  <a:gd name="T6" fmla="*/ 0 w 1612"/>
                  <a:gd name="T7" fmla="*/ 334 h 964"/>
                  <a:gd name="T8" fmla="*/ 7 w 1612"/>
                  <a:gd name="T9" fmla="*/ 428 h 964"/>
                  <a:gd name="T10" fmla="*/ 7 w 1612"/>
                  <a:gd name="T11" fmla="*/ 510 h 964"/>
                  <a:gd name="T12" fmla="*/ 7 w 1612"/>
                  <a:gd name="T13" fmla="*/ 548 h 964"/>
                  <a:gd name="T14" fmla="*/ 7 w 1612"/>
                  <a:gd name="T15" fmla="*/ 548 h 964"/>
                  <a:gd name="T16" fmla="*/ 7 w 1612"/>
                  <a:gd name="T17" fmla="*/ 642 h 964"/>
                  <a:gd name="T18" fmla="*/ 7 w 1612"/>
                  <a:gd name="T19" fmla="*/ 724 h 964"/>
                  <a:gd name="T20" fmla="*/ 0 w 1612"/>
                  <a:gd name="T21" fmla="*/ 819 h 964"/>
                  <a:gd name="T22" fmla="*/ 7 w 1612"/>
                  <a:gd name="T23" fmla="*/ 957 h 964"/>
                  <a:gd name="T24" fmla="*/ 7 w 1612"/>
                  <a:gd name="T25" fmla="*/ 913 h 964"/>
                  <a:gd name="T26" fmla="*/ 50 w 1612"/>
                  <a:gd name="T27" fmla="*/ 957 h 964"/>
                  <a:gd name="T28" fmla="*/ 157 w 1612"/>
                  <a:gd name="T29" fmla="*/ 964 h 964"/>
                  <a:gd name="T30" fmla="*/ 314 w 1612"/>
                  <a:gd name="T31" fmla="*/ 964 h 964"/>
                  <a:gd name="T32" fmla="*/ 421 w 1612"/>
                  <a:gd name="T33" fmla="*/ 957 h 964"/>
                  <a:gd name="T34" fmla="*/ 521 w 1612"/>
                  <a:gd name="T35" fmla="*/ 957 h 964"/>
                  <a:gd name="T36" fmla="*/ 564 w 1612"/>
                  <a:gd name="T37" fmla="*/ 957 h 964"/>
                  <a:gd name="T38" fmla="*/ 564 w 1612"/>
                  <a:gd name="T39" fmla="*/ 957 h 964"/>
                  <a:gd name="T40" fmla="*/ 663 w 1612"/>
                  <a:gd name="T41" fmla="*/ 957 h 964"/>
                  <a:gd name="T42" fmla="*/ 763 w 1612"/>
                  <a:gd name="T43" fmla="*/ 957 h 964"/>
                  <a:gd name="T44" fmla="*/ 870 w 1612"/>
                  <a:gd name="T45" fmla="*/ 964 h 964"/>
                  <a:gd name="T46" fmla="*/ 1027 w 1612"/>
                  <a:gd name="T47" fmla="*/ 964 h 964"/>
                  <a:gd name="T48" fmla="*/ 1134 w 1612"/>
                  <a:gd name="T49" fmla="*/ 957 h 964"/>
                  <a:gd name="T50" fmla="*/ 1234 w 1612"/>
                  <a:gd name="T51" fmla="*/ 957 h 964"/>
                  <a:gd name="T52" fmla="*/ 1277 w 1612"/>
                  <a:gd name="T53" fmla="*/ 957 h 964"/>
                  <a:gd name="T54" fmla="*/ 1277 w 1612"/>
                  <a:gd name="T55" fmla="*/ 957 h 964"/>
                  <a:gd name="T56" fmla="*/ 1376 w 1612"/>
                  <a:gd name="T57" fmla="*/ 957 h 964"/>
                  <a:gd name="T58" fmla="*/ 1476 w 1612"/>
                  <a:gd name="T59" fmla="*/ 957 h 964"/>
                  <a:gd name="T60" fmla="*/ 1605 w 1612"/>
                  <a:gd name="T61" fmla="*/ 926 h 964"/>
                  <a:gd name="T62" fmla="*/ 1583 w 1612"/>
                  <a:gd name="T63" fmla="*/ 957 h 964"/>
                  <a:gd name="T64" fmla="*/ 1605 w 1612"/>
                  <a:gd name="T65" fmla="*/ 894 h 964"/>
                  <a:gd name="T66" fmla="*/ 1605 w 1612"/>
                  <a:gd name="T67" fmla="*/ 806 h 964"/>
                  <a:gd name="T68" fmla="*/ 1612 w 1612"/>
                  <a:gd name="T69" fmla="*/ 712 h 964"/>
                  <a:gd name="T70" fmla="*/ 1612 w 1612"/>
                  <a:gd name="T71" fmla="*/ 567 h 964"/>
                  <a:gd name="T72" fmla="*/ 1605 w 1612"/>
                  <a:gd name="T73" fmla="*/ 472 h 964"/>
                  <a:gd name="T74" fmla="*/ 1605 w 1612"/>
                  <a:gd name="T75" fmla="*/ 390 h 964"/>
                  <a:gd name="T76" fmla="*/ 1605 w 1612"/>
                  <a:gd name="T77" fmla="*/ 352 h 964"/>
                  <a:gd name="T78" fmla="*/ 1605 w 1612"/>
                  <a:gd name="T79" fmla="*/ 352 h 964"/>
                  <a:gd name="T80" fmla="*/ 1605 w 1612"/>
                  <a:gd name="T81" fmla="*/ 264 h 964"/>
                  <a:gd name="T82" fmla="*/ 1605 w 1612"/>
                  <a:gd name="T83" fmla="*/ 176 h 964"/>
                  <a:gd name="T84" fmla="*/ 1612 w 1612"/>
                  <a:gd name="T85" fmla="*/ 81 h 964"/>
                  <a:gd name="T86" fmla="*/ 1533 w 1612"/>
                  <a:gd name="T87" fmla="*/ 0 h 964"/>
                  <a:gd name="T88" fmla="*/ 1426 w 1612"/>
                  <a:gd name="T89" fmla="*/ 0 h 964"/>
                  <a:gd name="T90" fmla="*/ 1334 w 1612"/>
                  <a:gd name="T91" fmla="*/ 6 h 964"/>
                  <a:gd name="T92" fmla="*/ 1291 w 1612"/>
                  <a:gd name="T93" fmla="*/ 6 h 964"/>
                  <a:gd name="T94" fmla="*/ 1291 w 1612"/>
                  <a:gd name="T95" fmla="*/ 6 h 964"/>
                  <a:gd name="T96" fmla="*/ 1184 w 1612"/>
                  <a:gd name="T97" fmla="*/ 6 h 964"/>
                  <a:gd name="T98" fmla="*/ 1091 w 1612"/>
                  <a:gd name="T99" fmla="*/ 0 h 964"/>
                  <a:gd name="T100" fmla="*/ 984 w 1612"/>
                  <a:gd name="T101" fmla="*/ 0 h 964"/>
                  <a:gd name="T102" fmla="*/ 820 w 1612"/>
                  <a:gd name="T103" fmla="*/ 0 h 964"/>
                  <a:gd name="T104" fmla="*/ 713 w 1612"/>
                  <a:gd name="T105" fmla="*/ 0 h 964"/>
                  <a:gd name="T106" fmla="*/ 621 w 1612"/>
                  <a:gd name="T107" fmla="*/ 6 h 964"/>
                  <a:gd name="T108" fmla="*/ 578 w 1612"/>
                  <a:gd name="T109" fmla="*/ 6 h 964"/>
                  <a:gd name="T110" fmla="*/ 578 w 1612"/>
                  <a:gd name="T111" fmla="*/ 6 h 964"/>
                  <a:gd name="T112" fmla="*/ 471 w 1612"/>
                  <a:gd name="T113" fmla="*/ 6 h 964"/>
                  <a:gd name="T114" fmla="*/ 378 w 1612"/>
                  <a:gd name="T115" fmla="*/ 0 h 964"/>
                  <a:gd name="T116" fmla="*/ 271 w 1612"/>
                  <a:gd name="T117" fmla="*/ 0 h 964"/>
                  <a:gd name="T118" fmla="*/ 107 w 1612"/>
                  <a:gd name="T119" fmla="*/ 0 h 964"/>
                  <a:gd name="T120" fmla="*/ 0 w 1612"/>
                  <a:gd name="T121" fmla="*/ 0 h 96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612"/>
                  <a:gd name="T184" fmla="*/ 0 h 964"/>
                  <a:gd name="T185" fmla="*/ 1612 w 1612"/>
                  <a:gd name="T186" fmla="*/ 964 h 96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612" h="964">
                    <a:moveTo>
                      <a:pt x="7" y="12"/>
                    </a:moveTo>
                    <a:lnTo>
                      <a:pt x="7" y="63"/>
                    </a:lnTo>
                    <a:lnTo>
                      <a:pt x="7" y="69"/>
                    </a:lnTo>
                    <a:lnTo>
                      <a:pt x="0" y="63"/>
                    </a:lnTo>
                    <a:lnTo>
                      <a:pt x="0" y="12"/>
                    </a:lnTo>
                    <a:lnTo>
                      <a:pt x="7" y="6"/>
                    </a:lnTo>
                    <a:lnTo>
                      <a:pt x="7" y="12"/>
                    </a:lnTo>
                    <a:close/>
                    <a:moveTo>
                      <a:pt x="7" y="100"/>
                    </a:moveTo>
                    <a:lnTo>
                      <a:pt x="7" y="151"/>
                    </a:lnTo>
                    <a:lnTo>
                      <a:pt x="7" y="157"/>
                    </a:lnTo>
                    <a:lnTo>
                      <a:pt x="0" y="151"/>
                    </a:lnTo>
                    <a:lnTo>
                      <a:pt x="0" y="100"/>
                    </a:lnTo>
                    <a:lnTo>
                      <a:pt x="7" y="94"/>
                    </a:lnTo>
                    <a:lnTo>
                      <a:pt x="7" y="100"/>
                    </a:lnTo>
                    <a:close/>
                    <a:moveTo>
                      <a:pt x="7" y="189"/>
                    </a:moveTo>
                    <a:lnTo>
                      <a:pt x="7" y="245"/>
                    </a:lnTo>
                    <a:lnTo>
                      <a:pt x="0" y="245"/>
                    </a:lnTo>
                    <a:lnTo>
                      <a:pt x="0" y="189"/>
                    </a:lnTo>
                    <a:lnTo>
                      <a:pt x="7" y="189"/>
                    </a:lnTo>
                    <a:close/>
                    <a:moveTo>
                      <a:pt x="7" y="283"/>
                    </a:moveTo>
                    <a:lnTo>
                      <a:pt x="7" y="334"/>
                    </a:lnTo>
                    <a:lnTo>
                      <a:pt x="0" y="334"/>
                    </a:lnTo>
                    <a:lnTo>
                      <a:pt x="0" y="283"/>
                    </a:lnTo>
                    <a:lnTo>
                      <a:pt x="7" y="277"/>
                    </a:lnTo>
                    <a:lnTo>
                      <a:pt x="7" y="283"/>
                    </a:lnTo>
                    <a:close/>
                    <a:moveTo>
                      <a:pt x="7" y="371"/>
                    </a:moveTo>
                    <a:lnTo>
                      <a:pt x="7" y="422"/>
                    </a:lnTo>
                    <a:lnTo>
                      <a:pt x="7" y="428"/>
                    </a:lnTo>
                    <a:lnTo>
                      <a:pt x="0" y="422"/>
                    </a:lnTo>
                    <a:lnTo>
                      <a:pt x="0" y="371"/>
                    </a:lnTo>
                    <a:lnTo>
                      <a:pt x="7" y="365"/>
                    </a:lnTo>
                    <a:lnTo>
                      <a:pt x="7" y="371"/>
                    </a:lnTo>
                    <a:close/>
                    <a:moveTo>
                      <a:pt x="7" y="460"/>
                    </a:moveTo>
                    <a:lnTo>
                      <a:pt x="7" y="510"/>
                    </a:lnTo>
                    <a:lnTo>
                      <a:pt x="7" y="516"/>
                    </a:lnTo>
                    <a:lnTo>
                      <a:pt x="0" y="510"/>
                    </a:lnTo>
                    <a:lnTo>
                      <a:pt x="0" y="460"/>
                    </a:lnTo>
                    <a:lnTo>
                      <a:pt x="7" y="453"/>
                    </a:lnTo>
                    <a:lnTo>
                      <a:pt x="7" y="460"/>
                    </a:lnTo>
                    <a:close/>
                    <a:moveTo>
                      <a:pt x="7" y="548"/>
                    </a:moveTo>
                    <a:lnTo>
                      <a:pt x="7" y="605"/>
                    </a:lnTo>
                    <a:lnTo>
                      <a:pt x="0" y="605"/>
                    </a:lnTo>
                    <a:lnTo>
                      <a:pt x="0" y="548"/>
                    </a:lnTo>
                    <a:lnTo>
                      <a:pt x="7" y="548"/>
                    </a:lnTo>
                    <a:close/>
                    <a:moveTo>
                      <a:pt x="7" y="642"/>
                    </a:moveTo>
                    <a:lnTo>
                      <a:pt x="7" y="693"/>
                    </a:lnTo>
                    <a:lnTo>
                      <a:pt x="7" y="699"/>
                    </a:lnTo>
                    <a:lnTo>
                      <a:pt x="0" y="693"/>
                    </a:lnTo>
                    <a:lnTo>
                      <a:pt x="0" y="642"/>
                    </a:lnTo>
                    <a:lnTo>
                      <a:pt x="7" y="636"/>
                    </a:lnTo>
                    <a:lnTo>
                      <a:pt x="7" y="642"/>
                    </a:lnTo>
                    <a:close/>
                    <a:moveTo>
                      <a:pt x="7" y="731"/>
                    </a:moveTo>
                    <a:lnTo>
                      <a:pt x="7" y="781"/>
                    </a:lnTo>
                    <a:lnTo>
                      <a:pt x="7" y="787"/>
                    </a:lnTo>
                    <a:lnTo>
                      <a:pt x="0" y="781"/>
                    </a:lnTo>
                    <a:lnTo>
                      <a:pt x="0" y="731"/>
                    </a:lnTo>
                    <a:lnTo>
                      <a:pt x="7" y="724"/>
                    </a:lnTo>
                    <a:lnTo>
                      <a:pt x="7" y="731"/>
                    </a:lnTo>
                    <a:close/>
                    <a:moveTo>
                      <a:pt x="7" y="819"/>
                    </a:moveTo>
                    <a:lnTo>
                      <a:pt x="7" y="876"/>
                    </a:lnTo>
                    <a:lnTo>
                      <a:pt x="0" y="876"/>
                    </a:lnTo>
                    <a:lnTo>
                      <a:pt x="0" y="819"/>
                    </a:lnTo>
                    <a:lnTo>
                      <a:pt x="7" y="819"/>
                    </a:lnTo>
                    <a:close/>
                    <a:moveTo>
                      <a:pt x="7" y="913"/>
                    </a:moveTo>
                    <a:lnTo>
                      <a:pt x="7" y="957"/>
                    </a:lnTo>
                    <a:lnTo>
                      <a:pt x="15" y="957"/>
                    </a:lnTo>
                    <a:lnTo>
                      <a:pt x="7" y="964"/>
                    </a:lnTo>
                    <a:lnTo>
                      <a:pt x="0" y="957"/>
                    </a:lnTo>
                    <a:lnTo>
                      <a:pt x="0" y="913"/>
                    </a:lnTo>
                    <a:lnTo>
                      <a:pt x="7" y="907"/>
                    </a:lnTo>
                    <a:lnTo>
                      <a:pt x="7" y="913"/>
                    </a:lnTo>
                    <a:close/>
                    <a:moveTo>
                      <a:pt x="50" y="957"/>
                    </a:moveTo>
                    <a:lnTo>
                      <a:pt x="114" y="957"/>
                    </a:lnTo>
                    <a:lnTo>
                      <a:pt x="114" y="964"/>
                    </a:lnTo>
                    <a:lnTo>
                      <a:pt x="50" y="964"/>
                    </a:lnTo>
                    <a:lnTo>
                      <a:pt x="50" y="957"/>
                    </a:lnTo>
                    <a:close/>
                    <a:moveTo>
                      <a:pt x="157" y="957"/>
                    </a:moveTo>
                    <a:lnTo>
                      <a:pt x="214" y="957"/>
                    </a:lnTo>
                    <a:lnTo>
                      <a:pt x="221" y="957"/>
                    </a:lnTo>
                    <a:lnTo>
                      <a:pt x="214" y="964"/>
                    </a:lnTo>
                    <a:lnTo>
                      <a:pt x="157" y="964"/>
                    </a:lnTo>
                    <a:lnTo>
                      <a:pt x="150" y="957"/>
                    </a:lnTo>
                    <a:lnTo>
                      <a:pt x="157" y="957"/>
                    </a:lnTo>
                    <a:close/>
                    <a:moveTo>
                      <a:pt x="257" y="957"/>
                    </a:moveTo>
                    <a:lnTo>
                      <a:pt x="314" y="957"/>
                    </a:lnTo>
                    <a:lnTo>
                      <a:pt x="321" y="957"/>
                    </a:lnTo>
                    <a:lnTo>
                      <a:pt x="314" y="964"/>
                    </a:lnTo>
                    <a:lnTo>
                      <a:pt x="257" y="964"/>
                    </a:lnTo>
                    <a:lnTo>
                      <a:pt x="250" y="957"/>
                    </a:lnTo>
                    <a:lnTo>
                      <a:pt x="257" y="957"/>
                    </a:lnTo>
                    <a:close/>
                    <a:moveTo>
                      <a:pt x="357" y="957"/>
                    </a:moveTo>
                    <a:lnTo>
                      <a:pt x="421" y="957"/>
                    </a:lnTo>
                    <a:lnTo>
                      <a:pt x="421" y="964"/>
                    </a:lnTo>
                    <a:lnTo>
                      <a:pt x="357" y="964"/>
                    </a:lnTo>
                    <a:lnTo>
                      <a:pt x="357" y="957"/>
                    </a:lnTo>
                    <a:close/>
                    <a:moveTo>
                      <a:pt x="464" y="957"/>
                    </a:moveTo>
                    <a:lnTo>
                      <a:pt x="521" y="957"/>
                    </a:lnTo>
                    <a:lnTo>
                      <a:pt x="528" y="957"/>
                    </a:lnTo>
                    <a:lnTo>
                      <a:pt x="521" y="964"/>
                    </a:lnTo>
                    <a:lnTo>
                      <a:pt x="464" y="964"/>
                    </a:lnTo>
                    <a:lnTo>
                      <a:pt x="457" y="957"/>
                    </a:lnTo>
                    <a:lnTo>
                      <a:pt x="464" y="957"/>
                    </a:lnTo>
                    <a:close/>
                    <a:moveTo>
                      <a:pt x="564" y="957"/>
                    </a:moveTo>
                    <a:lnTo>
                      <a:pt x="621" y="957"/>
                    </a:lnTo>
                    <a:lnTo>
                      <a:pt x="628" y="957"/>
                    </a:lnTo>
                    <a:lnTo>
                      <a:pt x="621" y="964"/>
                    </a:lnTo>
                    <a:lnTo>
                      <a:pt x="564" y="964"/>
                    </a:lnTo>
                    <a:lnTo>
                      <a:pt x="556" y="957"/>
                    </a:lnTo>
                    <a:lnTo>
                      <a:pt x="564" y="957"/>
                    </a:lnTo>
                    <a:close/>
                    <a:moveTo>
                      <a:pt x="663" y="957"/>
                    </a:moveTo>
                    <a:lnTo>
                      <a:pt x="720" y="957"/>
                    </a:lnTo>
                    <a:lnTo>
                      <a:pt x="728" y="957"/>
                    </a:lnTo>
                    <a:lnTo>
                      <a:pt x="720" y="964"/>
                    </a:lnTo>
                    <a:lnTo>
                      <a:pt x="663" y="964"/>
                    </a:lnTo>
                    <a:lnTo>
                      <a:pt x="663" y="957"/>
                    </a:lnTo>
                    <a:close/>
                    <a:moveTo>
                      <a:pt x="763" y="957"/>
                    </a:moveTo>
                    <a:lnTo>
                      <a:pt x="827" y="957"/>
                    </a:lnTo>
                    <a:lnTo>
                      <a:pt x="827" y="964"/>
                    </a:lnTo>
                    <a:lnTo>
                      <a:pt x="763" y="964"/>
                    </a:lnTo>
                    <a:lnTo>
                      <a:pt x="763" y="957"/>
                    </a:lnTo>
                    <a:close/>
                    <a:moveTo>
                      <a:pt x="870" y="957"/>
                    </a:moveTo>
                    <a:lnTo>
                      <a:pt x="927" y="957"/>
                    </a:lnTo>
                    <a:lnTo>
                      <a:pt x="934" y="957"/>
                    </a:lnTo>
                    <a:lnTo>
                      <a:pt x="927" y="964"/>
                    </a:lnTo>
                    <a:lnTo>
                      <a:pt x="870" y="964"/>
                    </a:lnTo>
                    <a:lnTo>
                      <a:pt x="863" y="957"/>
                    </a:lnTo>
                    <a:lnTo>
                      <a:pt x="870" y="957"/>
                    </a:lnTo>
                    <a:close/>
                    <a:moveTo>
                      <a:pt x="970" y="957"/>
                    </a:moveTo>
                    <a:lnTo>
                      <a:pt x="1027" y="957"/>
                    </a:lnTo>
                    <a:lnTo>
                      <a:pt x="1034" y="957"/>
                    </a:lnTo>
                    <a:lnTo>
                      <a:pt x="1027" y="964"/>
                    </a:lnTo>
                    <a:lnTo>
                      <a:pt x="970" y="964"/>
                    </a:lnTo>
                    <a:lnTo>
                      <a:pt x="963" y="957"/>
                    </a:lnTo>
                    <a:lnTo>
                      <a:pt x="970" y="957"/>
                    </a:lnTo>
                    <a:close/>
                    <a:moveTo>
                      <a:pt x="1070" y="957"/>
                    </a:moveTo>
                    <a:lnTo>
                      <a:pt x="1134" y="957"/>
                    </a:lnTo>
                    <a:lnTo>
                      <a:pt x="1134" y="964"/>
                    </a:lnTo>
                    <a:lnTo>
                      <a:pt x="1070" y="964"/>
                    </a:lnTo>
                    <a:lnTo>
                      <a:pt x="1070" y="957"/>
                    </a:lnTo>
                    <a:close/>
                    <a:moveTo>
                      <a:pt x="1177" y="957"/>
                    </a:moveTo>
                    <a:lnTo>
                      <a:pt x="1234" y="957"/>
                    </a:lnTo>
                    <a:lnTo>
                      <a:pt x="1234" y="964"/>
                    </a:lnTo>
                    <a:lnTo>
                      <a:pt x="1177" y="964"/>
                    </a:lnTo>
                    <a:lnTo>
                      <a:pt x="1170" y="957"/>
                    </a:lnTo>
                    <a:lnTo>
                      <a:pt x="1177" y="957"/>
                    </a:lnTo>
                    <a:close/>
                    <a:moveTo>
                      <a:pt x="1277" y="957"/>
                    </a:moveTo>
                    <a:lnTo>
                      <a:pt x="1334" y="957"/>
                    </a:lnTo>
                    <a:lnTo>
                      <a:pt x="1341" y="957"/>
                    </a:lnTo>
                    <a:lnTo>
                      <a:pt x="1334" y="964"/>
                    </a:lnTo>
                    <a:lnTo>
                      <a:pt x="1277" y="964"/>
                    </a:lnTo>
                    <a:lnTo>
                      <a:pt x="1269" y="957"/>
                    </a:lnTo>
                    <a:lnTo>
                      <a:pt x="1277" y="957"/>
                    </a:lnTo>
                    <a:close/>
                    <a:moveTo>
                      <a:pt x="1376" y="957"/>
                    </a:moveTo>
                    <a:lnTo>
                      <a:pt x="1433" y="957"/>
                    </a:lnTo>
                    <a:lnTo>
                      <a:pt x="1441" y="957"/>
                    </a:lnTo>
                    <a:lnTo>
                      <a:pt x="1433" y="964"/>
                    </a:lnTo>
                    <a:lnTo>
                      <a:pt x="1376" y="964"/>
                    </a:lnTo>
                    <a:lnTo>
                      <a:pt x="1376" y="957"/>
                    </a:lnTo>
                    <a:close/>
                    <a:moveTo>
                      <a:pt x="1476" y="957"/>
                    </a:moveTo>
                    <a:lnTo>
                      <a:pt x="1540" y="957"/>
                    </a:lnTo>
                    <a:lnTo>
                      <a:pt x="1540" y="964"/>
                    </a:lnTo>
                    <a:lnTo>
                      <a:pt x="1476" y="964"/>
                    </a:lnTo>
                    <a:lnTo>
                      <a:pt x="1476" y="957"/>
                    </a:lnTo>
                    <a:close/>
                    <a:moveTo>
                      <a:pt x="1583" y="957"/>
                    </a:moveTo>
                    <a:lnTo>
                      <a:pt x="1605" y="957"/>
                    </a:lnTo>
                    <a:lnTo>
                      <a:pt x="1605" y="932"/>
                    </a:lnTo>
                    <a:lnTo>
                      <a:pt x="1605" y="926"/>
                    </a:lnTo>
                    <a:lnTo>
                      <a:pt x="1612" y="932"/>
                    </a:lnTo>
                    <a:lnTo>
                      <a:pt x="1612" y="957"/>
                    </a:lnTo>
                    <a:lnTo>
                      <a:pt x="1605" y="964"/>
                    </a:lnTo>
                    <a:lnTo>
                      <a:pt x="1583" y="964"/>
                    </a:lnTo>
                    <a:lnTo>
                      <a:pt x="1576" y="957"/>
                    </a:lnTo>
                    <a:lnTo>
                      <a:pt x="1583" y="957"/>
                    </a:lnTo>
                    <a:close/>
                    <a:moveTo>
                      <a:pt x="1605" y="894"/>
                    </a:moveTo>
                    <a:lnTo>
                      <a:pt x="1605" y="838"/>
                    </a:lnTo>
                    <a:lnTo>
                      <a:pt x="1612" y="838"/>
                    </a:lnTo>
                    <a:lnTo>
                      <a:pt x="1612" y="894"/>
                    </a:lnTo>
                    <a:lnTo>
                      <a:pt x="1605" y="894"/>
                    </a:lnTo>
                    <a:close/>
                    <a:moveTo>
                      <a:pt x="1605" y="800"/>
                    </a:moveTo>
                    <a:lnTo>
                      <a:pt x="1605" y="750"/>
                    </a:lnTo>
                    <a:lnTo>
                      <a:pt x="1605" y="743"/>
                    </a:lnTo>
                    <a:lnTo>
                      <a:pt x="1612" y="750"/>
                    </a:lnTo>
                    <a:lnTo>
                      <a:pt x="1612" y="800"/>
                    </a:lnTo>
                    <a:lnTo>
                      <a:pt x="1605" y="806"/>
                    </a:lnTo>
                    <a:lnTo>
                      <a:pt x="1605" y="800"/>
                    </a:lnTo>
                    <a:close/>
                    <a:moveTo>
                      <a:pt x="1605" y="712"/>
                    </a:moveTo>
                    <a:lnTo>
                      <a:pt x="1605" y="661"/>
                    </a:lnTo>
                    <a:lnTo>
                      <a:pt x="1605" y="655"/>
                    </a:lnTo>
                    <a:lnTo>
                      <a:pt x="1612" y="661"/>
                    </a:lnTo>
                    <a:lnTo>
                      <a:pt x="1612" y="712"/>
                    </a:lnTo>
                    <a:lnTo>
                      <a:pt x="1605" y="718"/>
                    </a:lnTo>
                    <a:lnTo>
                      <a:pt x="1605" y="712"/>
                    </a:lnTo>
                    <a:close/>
                    <a:moveTo>
                      <a:pt x="1605" y="623"/>
                    </a:moveTo>
                    <a:lnTo>
                      <a:pt x="1605" y="567"/>
                    </a:lnTo>
                    <a:lnTo>
                      <a:pt x="1612" y="567"/>
                    </a:lnTo>
                    <a:lnTo>
                      <a:pt x="1612" y="623"/>
                    </a:lnTo>
                    <a:lnTo>
                      <a:pt x="1605" y="623"/>
                    </a:lnTo>
                    <a:close/>
                    <a:moveTo>
                      <a:pt x="1605" y="529"/>
                    </a:moveTo>
                    <a:lnTo>
                      <a:pt x="1605" y="479"/>
                    </a:lnTo>
                    <a:lnTo>
                      <a:pt x="1605" y="472"/>
                    </a:lnTo>
                    <a:lnTo>
                      <a:pt x="1612" y="479"/>
                    </a:lnTo>
                    <a:lnTo>
                      <a:pt x="1612" y="529"/>
                    </a:lnTo>
                    <a:lnTo>
                      <a:pt x="1605" y="535"/>
                    </a:lnTo>
                    <a:lnTo>
                      <a:pt x="1605" y="529"/>
                    </a:lnTo>
                    <a:close/>
                    <a:moveTo>
                      <a:pt x="1605" y="441"/>
                    </a:moveTo>
                    <a:lnTo>
                      <a:pt x="1605" y="390"/>
                    </a:lnTo>
                    <a:lnTo>
                      <a:pt x="1605" y="384"/>
                    </a:lnTo>
                    <a:lnTo>
                      <a:pt x="1612" y="390"/>
                    </a:lnTo>
                    <a:lnTo>
                      <a:pt x="1612" y="441"/>
                    </a:lnTo>
                    <a:lnTo>
                      <a:pt x="1605" y="447"/>
                    </a:lnTo>
                    <a:lnTo>
                      <a:pt x="1605" y="441"/>
                    </a:lnTo>
                    <a:close/>
                    <a:moveTo>
                      <a:pt x="1605" y="352"/>
                    </a:moveTo>
                    <a:lnTo>
                      <a:pt x="1605" y="302"/>
                    </a:lnTo>
                    <a:lnTo>
                      <a:pt x="1605" y="296"/>
                    </a:lnTo>
                    <a:lnTo>
                      <a:pt x="1612" y="302"/>
                    </a:lnTo>
                    <a:lnTo>
                      <a:pt x="1612" y="352"/>
                    </a:lnTo>
                    <a:lnTo>
                      <a:pt x="1605" y="352"/>
                    </a:lnTo>
                    <a:close/>
                    <a:moveTo>
                      <a:pt x="1605" y="264"/>
                    </a:moveTo>
                    <a:lnTo>
                      <a:pt x="1605" y="208"/>
                    </a:lnTo>
                    <a:lnTo>
                      <a:pt x="1612" y="208"/>
                    </a:lnTo>
                    <a:lnTo>
                      <a:pt x="1612" y="264"/>
                    </a:lnTo>
                    <a:lnTo>
                      <a:pt x="1605" y="264"/>
                    </a:lnTo>
                    <a:close/>
                    <a:moveTo>
                      <a:pt x="1605" y="170"/>
                    </a:moveTo>
                    <a:lnTo>
                      <a:pt x="1605" y="119"/>
                    </a:lnTo>
                    <a:lnTo>
                      <a:pt x="1605" y="113"/>
                    </a:lnTo>
                    <a:lnTo>
                      <a:pt x="1612" y="119"/>
                    </a:lnTo>
                    <a:lnTo>
                      <a:pt x="1612" y="170"/>
                    </a:lnTo>
                    <a:lnTo>
                      <a:pt x="1605" y="176"/>
                    </a:lnTo>
                    <a:lnTo>
                      <a:pt x="1605" y="170"/>
                    </a:lnTo>
                    <a:close/>
                    <a:moveTo>
                      <a:pt x="1605" y="81"/>
                    </a:moveTo>
                    <a:lnTo>
                      <a:pt x="1605" y="31"/>
                    </a:lnTo>
                    <a:lnTo>
                      <a:pt x="1605" y="25"/>
                    </a:lnTo>
                    <a:lnTo>
                      <a:pt x="1612" y="31"/>
                    </a:lnTo>
                    <a:lnTo>
                      <a:pt x="1612" y="81"/>
                    </a:lnTo>
                    <a:lnTo>
                      <a:pt x="1605" y="88"/>
                    </a:lnTo>
                    <a:lnTo>
                      <a:pt x="1605" y="81"/>
                    </a:lnTo>
                    <a:close/>
                    <a:moveTo>
                      <a:pt x="1597" y="6"/>
                    </a:moveTo>
                    <a:lnTo>
                      <a:pt x="1533" y="6"/>
                    </a:lnTo>
                    <a:lnTo>
                      <a:pt x="1533" y="0"/>
                    </a:lnTo>
                    <a:lnTo>
                      <a:pt x="1597" y="0"/>
                    </a:lnTo>
                    <a:lnTo>
                      <a:pt x="1597" y="6"/>
                    </a:lnTo>
                    <a:close/>
                    <a:moveTo>
                      <a:pt x="1491" y="6"/>
                    </a:moveTo>
                    <a:lnTo>
                      <a:pt x="1433" y="6"/>
                    </a:lnTo>
                    <a:lnTo>
                      <a:pt x="1426" y="0"/>
                    </a:lnTo>
                    <a:lnTo>
                      <a:pt x="1433" y="0"/>
                    </a:lnTo>
                    <a:lnTo>
                      <a:pt x="1491" y="0"/>
                    </a:lnTo>
                    <a:lnTo>
                      <a:pt x="1498" y="0"/>
                    </a:lnTo>
                    <a:lnTo>
                      <a:pt x="1491" y="6"/>
                    </a:lnTo>
                    <a:close/>
                    <a:moveTo>
                      <a:pt x="1391" y="6"/>
                    </a:moveTo>
                    <a:lnTo>
                      <a:pt x="1334" y="6"/>
                    </a:lnTo>
                    <a:lnTo>
                      <a:pt x="1327" y="0"/>
                    </a:lnTo>
                    <a:lnTo>
                      <a:pt x="1334" y="0"/>
                    </a:lnTo>
                    <a:lnTo>
                      <a:pt x="1391" y="0"/>
                    </a:lnTo>
                    <a:lnTo>
                      <a:pt x="1398" y="0"/>
                    </a:lnTo>
                    <a:lnTo>
                      <a:pt x="1391" y="6"/>
                    </a:lnTo>
                    <a:close/>
                    <a:moveTo>
                      <a:pt x="1291" y="6"/>
                    </a:moveTo>
                    <a:lnTo>
                      <a:pt x="1227" y="6"/>
                    </a:lnTo>
                    <a:lnTo>
                      <a:pt x="1227" y="0"/>
                    </a:lnTo>
                    <a:lnTo>
                      <a:pt x="1291" y="0"/>
                    </a:lnTo>
                    <a:lnTo>
                      <a:pt x="1291" y="6"/>
                    </a:lnTo>
                    <a:close/>
                    <a:moveTo>
                      <a:pt x="1184" y="6"/>
                    </a:moveTo>
                    <a:lnTo>
                      <a:pt x="1127" y="6"/>
                    </a:lnTo>
                    <a:lnTo>
                      <a:pt x="1120" y="0"/>
                    </a:lnTo>
                    <a:lnTo>
                      <a:pt x="1127" y="0"/>
                    </a:lnTo>
                    <a:lnTo>
                      <a:pt x="1184" y="0"/>
                    </a:lnTo>
                    <a:lnTo>
                      <a:pt x="1191" y="0"/>
                    </a:lnTo>
                    <a:lnTo>
                      <a:pt x="1184" y="6"/>
                    </a:lnTo>
                    <a:close/>
                    <a:moveTo>
                      <a:pt x="1084" y="6"/>
                    </a:moveTo>
                    <a:lnTo>
                      <a:pt x="1027" y="6"/>
                    </a:lnTo>
                    <a:lnTo>
                      <a:pt x="1020" y="0"/>
                    </a:lnTo>
                    <a:lnTo>
                      <a:pt x="1027" y="0"/>
                    </a:lnTo>
                    <a:lnTo>
                      <a:pt x="1084" y="0"/>
                    </a:lnTo>
                    <a:lnTo>
                      <a:pt x="1091" y="0"/>
                    </a:lnTo>
                    <a:lnTo>
                      <a:pt x="1084" y="6"/>
                    </a:lnTo>
                    <a:close/>
                    <a:moveTo>
                      <a:pt x="984" y="6"/>
                    </a:moveTo>
                    <a:lnTo>
                      <a:pt x="920" y="6"/>
                    </a:lnTo>
                    <a:lnTo>
                      <a:pt x="920" y="0"/>
                    </a:lnTo>
                    <a:lnTo>
                      <a:pt x="984" y="0"/>
                    </a:lnTo>
                    <a:lnTo>
                      <a:pt x="984" y="6"/>
                    </a:lnTo>
                    <a:close/>
                    <a:moveTo>
                      <a:pt x="877" y="6"/>
                    </a:moveTo>
                    <a:lnTo>
                      <a:pt x="820" y="6"/>
                    </a:lnTo>
                    <a:lnTo>
                      <a:pt x="820" y="0"/>
                    </a:lnTo>
                    <a:lnTo>
                      <a:pt x="877" y="0"/>
                    </a:lnTo>
                    <a:lnTo>
                      <a:pt x="884" y="0"/>
                    </a:lnTo>
                    <a:lnTo>
                      <a:pt x="877" y="6"/>
                    </a:lnTo>
                    <a:close/>
                    <a:moveTo>
                      <a:pt x="778" y="6"/>
                    </a:moveTo>
                    <a:lnTo>
                      <a:pt x="720" y="6"/>
                    </a:lnTo>
                    <a:lnTo>
                      <a:pt x="713" y="0"/>
                    </a:lnTo>
                    <a:lnTo>
                      <a:pt x="720" y="0"/>
                    </a:lnTo>
                    <a:lnTo>
                      <a:pt x="778" y="0"/>
                    </a:lnTo>
                    <a:lnTo>
                      <a:pt x="785" y="0"/>
                    </a:lnTo>
                    <a:lnTo>
                      <a:pt x="778" y="6"/>
                    </a:lnTo>
                    <a:close/>
                    <a:moveTo>
                      <a:pt x="678" y="6"/>
                    </a:moveTo>
                    <a:lnTo>
                      <a:pt x="621" y="6"/>
                    </a:lnTo>
                    <a:lnTo>
                      <a:pt x="614" y="0"/>
                    </a:lnTo>
                    <a:lnTo>
                      <a:pt x="621" y="0"/>
                    </a:lnTo>
                    <a:lnTo>
                      <a:pt x="678" y="0"/>
                    </a:lnTo>
                    <a:lnTo>
                      <a:pt x="685" y="0"/>
                    </a:lnTo>
                    <a:lnTo>
                      <a:pt x="678" y="6"/>
                    </a:lnTo>
                    <a:close/>
                    <a:moveTo>
                      <a:pt x="578" y="6"/>
                    </a:moveTo>
                    <a:lnTo>
                      <a:pt x="514" y="6"/>
                    </a:lnTo>
                    <a:lnTo>
                      <a:pt x="514" y="0"/>
                    </a:lnTo>
                    <a:lnTo>
                      <a:pt x="578" y="0"/>
                    </a:lnTo>
                    <a:lnTo>
                      <a:pt x="578" y="6"/>
                    </a:lnTo>
                    <a:close/>
                    <a:moveTo>
                      <a:pt x="471" y="6"/>
                    </a:moveTo>
                    <a:lnTo>
                      <a:pt x="414" y="6"/>
                    </a:lnTo>
                    <a:lnTo>
                      <a:pt x="407" y="0"/>
                    </a:lnTo>
                    <a:lnTo>
                      <a:pt x="414" y="0"/>
                    </a:lnTo>
                    <a:lnTo>
                      <a:pt x="471" y="0"/>
                    </a:lnTo>
                    <a:lnTo>
                      <a:pt x="478" y="0"/>
                    </a:lnTo>
                    <a:lnTo>
                      <a:pt x="471" y="6"/>
                    </a:lnTo>
                    <a:close/>
                    <a:moveTo>
                      <a:pt x="371" y="6"/>
                    </a:moveTo>
                    <a:lnTo>
                      <a:pt x="314" y="6"/>
                    </a:lnTo>
                    <a:lnTo>
                      <a:pt x="307" y="0"/>
                    </a:lnTo>
                    <a:lnTo>
                      <a:pt x="314" y="0"/>
                    </a:lnTo>
                    <a:lnTo>
                      <a:pt x="371" y="0"/>
                    </a:lnTo>
                    <a:lnTo>
                      <a:pt x="378" y="0"/>
                    </a:lnTo>
                    <a:lnTo>
                      <a:pt x="371" y="6"/>
                    </a:lnTo>
                    <a:close/>
                    <a:moveTo>
                      <a:pt x="271" y="6"/>
                    </a:moveTo>
                    <a:lnTo>
                      <a:pt x="207" y="6"/>
                    </a:lnTo>
                    <a:lnTo>
                      <a:pt x="207" y="0"/>
                    </a:lnTo>
                    <a:lnTo>
                      <a:pt x="271" y="0"/>
                    </a:lnTo>
                    <a:lnTo>
                      <a:pt x="271" y="6"/>
                    </a:lnTo>
                    <a:close/>
                    <a:moveTo>
                      <a:pt x="164" y="6"/>
                    </a:moveTo>
                    <a:lnTo>
                      <a:pt x="107" y="6"/>
                    </a:lnTo>
                    <a:lnTo>
                      <a:pt x="100" y="0"/>
                    </a:lnTo>
                    <a:lnTo>
                      <a:pt x="107" y="0"/>
                    </a:lnTo>
                    <a:lnTo>
                      <a:pt x="164" y="0"/>
                    </a:lnTo>
                    <a:lnTo>
                      <a:pt x="171" y="0"/>
                    </a:lnTo>
                    <a:lnTo>
                      <a:pt x="164" y="6"/>
                    </a:lnTo>
                    <a:close/>
                    <a:moveTo>
                      <a:pt x="65" y="6"/>
                    </a:moveTo>
                    <a:lnTo>
                      <a:pt x="7" y="6"/>
                    </a:lnTo>
                    <a:lnTo>
                      <a:pt x="0" y="0"/>
                    </a:lnTo>
                    <a:lnTo>
                      <a:pt x="7" y="0"/>
                    </a:lnTo>
                    <a:lnTo>
                      <a:pt x="65" y="0"/>
                    </a:lnTo>
                    <a:lnTo>
                      <a:pt x="72" y="0"/>
                    </a:lnTo>
                    <a:lnTo>
                      <a:pt x="65" y="6"/>
                    </a:lnTo>
                    <a:close/>
                  </a:path>
                </a:pathLst>
              </a:custGeom>
              <a:solidFill>
                <a:srgbClr val="000000"/>
              </a:solidFill>
              <a:ln w="7">
                <a:solidFill>
                  <a:srgbClr val="000000"/>
                </a:solidFill>
                <a:prstDash val="solid"/>
                <a:round/>
                <a:headEnd/>
                <a:tailEnd/>
              </a:ln>
            </p:spPr>
            <p:txBody>
              <a:bodyPr/>
              <a:lstStyle/>
              <a:p>
                <a:endParaRPr lang="en-US"/>
              </a:p>
            </p:txBody>
          </p:sp>
          <p:sp>
            <p:nvSpPr>
              <p:cNvPr id="95365" name="Rectangle 41"/>
              <p:cNvSpPr>
                <a:spLocks noChangeArrowheads="1"/>
              </p:cNvSpPr>
              <p:nvPr/>
            </p:nvSpPr>
            <p:spPr bwMode="auto">
              <a:xfrm>
                <a:off x="199" y="1983"/>
                <a:ext cx="5355" cy="1014"/>
              </a:xfrm>
              <a:prstGeom prst="rect">
                <a:avLst/>
              </a:prstGeom>
              <a:noFill/>
              <a:ln w="0">
                <a:solidFill>
                  <a:srgbClr val="000000"/>
                </a:solidFill>
                <a:miter lim="800000"/>
                <a:headEnd/>
                <a:tailEnd/>
              </a:ln>
            </p:spPr>
            <p:txBody>
              <a:bodyPr/>
              <a:lstStyle/>
              <a:p>
                <a:endParaRPr lang="en-US"/>
              </a:p>
            </p:txBody>
          </p:sp>
          <p:sp>
            <p:nvSpPr>
              <p:cNvPr id="95366" name="Rectangle 42"/>
              <p:cNvSpPr>
                <a:spLocks noChangeArrowheads="1"/>
              </p:cNvSpPr>
              <p:nvPr/>
            </p:nvSpPr>
            <p:spPr bwMode="auto">
              <a:xfrm>
                <a:off x="199" y="1983"/>
                <a:ext cx="335" cy="1014"/>
              </a:xfrm>
              <a:prstGeom prst="rect">
                <a:avLst/>
              </a:prstGeom>
              <a:solidFill>
                <a:srgbClr val="E8EEF7"/>
              </a:solidFill>
              <a:ln w="9525">
                <a:noFill/>
                <a:miter lim="800000"/>
                <a:headEnd/>
                <a:tailEnd/>
              </a:ln>
            </p:spPr>
            <p:txBody>
              <a:bodyPr/>
              <a:lstStyle/>
              <a:p>
                <a:endParaRPr lang="en-US"/>
              </a:p>
            </p:txBody>
          </p:sp>
          <p:sp>
            <p:nvSpPr>
              <p:cNvPr id="95367" name="Rectangle 43"/>
              <p:cNvSpPr>
                <a:spLocks noChangeArrowheads="1"/>
              </p:cNvSpPr>
              <p:nvPr/>
            </p:nvSpPr>
            <p:spPr bwMode="auto">
              <a:xfrm>
                <a:off x="199" y="1983"/>
                <a:ext cx="335" cy="1014"/>
              </a:xfrm>
              <a:prstGeom prst="rect">
                <a:avLst/>
              </a:prstGeom>
              <a:noFill/>
              <a:ln w="0">
                <a:solidFill>
                  <a:srgbClr val="000000"/>
                </a:solidFill>
                <a:miter lim="800000"/>
                <a:headEnd/>
                <a:tailEnd/>
              </a:ln>
            </p:spPr>
            <p:txBody>
              <a:bodyPr/>
              <a:lstStyle/>
              <a:p>
                <a:endParaRPr lang="en-US"/>
              </a:p>
            </p:txBody>
          </p:sp>
          <p:sp>
            <p:nvSpPr>
              <p:cNvPr id="95368" name="Rectangle 44"/>
              <p:cNvSpPr>
                <a:spLocks noChangeArrowheads="1"/>
              </p:cNvSpPr>
              <p:nvPr/>
            </p:nvSpPr>
            <p:spPr bwMode="auto">
              <a:xfrm rot="-5400000">
                <a:off x="321" y="2701"/>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P</a:t>
                </a:r>
                <a:endParaRPr lang="en-US"/>
              </a:p>
            </p:txBody>
          </p:sp>
          <p:sp>
            <p:nvSpPr>
              <p:cNvPr id="95369" name="Rectangle 45"/>
              <p:cNvSpPr>
                <a:spLocks noChangeArrowheads="1"/>
              </p:cNvSpPr>
              <p:nvPr/>
            </p:nvSpPr>
            <p:spPr bwMode="auto">
              <a:xfrm rot="-5400000">
                <a:off x="339" y="2668"/>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r</a:t>
                </a:r>
                <a:endParaRPr lang="en-US"/>
              </a:p>
            </p:txBody>
          </p:sp>
          <p:sp>
            <p:nvSpPr>
              <p:cNvPr id="95370" name="Rectangle 46"/>
              <p:cNvSpPr>
                <a:spLocks noChangeArrowheads="1"/>
              </p:cNvSpPr>
              <p:nvPr/>
            </p:nvSpPr>
            <p:spPr bwMode="auto">
              <a:xfrm rot="-5400000">
                <a:off x="328" y="2632"/>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o</a:t>
                </a:r>
                <a:endParaRPr lang="en-US"/>
              </a:p>
            </p:txBody>
          </p:sp>
          <p:sp>
            <p:nvSpPr>
              <p:cNvPr id="95371" name="Rectangle 47"/>
              <p:cNvSpPr>
                <a:spLocks noChangeArrowheads="1"/>
              </p:cNvSpPr>
              <p:nvPr/>
            </p:nvSpPr>
            <p:spPr bwMode="auto">
              <a:xfrm rot="-5400000">
                <a:off x="343" y="2609"/>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j</a:t>
                </a:r>
                <a:endParaRPr lang="en-US"/>
              </a:p>
            </p:txBody>
          </p:sp>
          <p:sp>
            <p:nvSpPr>
              <p:cNvPr id="95372" name="Rectangle 48"/>
              <p:cNvSpPr>
                <a:spLocks noChangeArrowheads="1"/>
              </p:cNvSpPr>
              <p:nvPr/>
            </p:nvSpPr>
            <p:spPr bwMode="auto">
              <a:xfrm rot="-5400000">
                <a:off x="328" y="2575"/>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373" name="Rectangle 49"/>
              <p:cNvSpPr>
                <a:spLocks noChangeArrowheads="1"/>
              </p:cNvSpPr>
              <p:nvPr/>
            </p:nvSpPr>
            <p:spPr bwMode="auto">
              <a:xfrm rot="-5400000">
                <a:off x="328" y="2531"/>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c</a:t>
                </a:r>
                <a:endParaRPr lang="en-US"/>
              </a:p>
            </p:txBody>
          </p:sp>
          <p:sp>
            <p:nvSpPr>
              <p:cNvPr id="95374" name="Rectangle 50"/>
              <p:cNvSpPr>
                <a:spLocks noChangeArrowheads="1"/>
              </p:cNvSpPr>
              <p:nvPr/>
            </p:nvSpPr>
            <p:spPr bwMode="auto">
              <a:xfrm rot="-5400000">
                <a:off x="339" y="2504"/>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t</a:t>
                </a:r>
                <a:endParaRPr lang="en-US"/>
              </a:p>
            </p:txBody>
          </p:sp>
          <p:sp>
            <p:nvSpPr>
              <p:cNvPr id="95375" name="Rectangle 51"/>
              <p:cNvSpPr>
                <a:spLocks noChangeArrowheads="1"/>
              </p:cNvSpPr>
              <p:nvPr/>
            </p:nvSpPr>
            <p:spPr bwMode="auto">
              <a:xfrm rot="-5400000">
                <a:off x="339" y="2486"/>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 </a:t>
                </a:r>
                <a:endParaRPr lang="en-US"/>
              </a:p>
            </p:txBody>
          </p:sp>
          <p:sp>
            <p:nvSpPr>
              <p:cNvPr id="95376" name="Rectangle 52"/>
              <p:cNvSpPr>
                <a:spLocks noChangeArrowheads="1"/>
              </p:cNvSpPr>
              <p:nvPr/>
            </p:nvSpPr>
            <p:spPr bwMode="auto">
              <a:xfrm rot="-5400000">
                <a:off x="321" y="2442"/>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377" name="Rectangle 53"/>
              <p:cNvSpPr>
                <a:spLocks noChangeArrowheads="1"/>
              </p:cNvSpPr>
              <p:nvPr/>
            </p:nvSpPr>
            <p:spPr bwMode="auto">
              <a:xfrm rot="-5400000">
                <a:off x="328" y="2405"/>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378" name="Rectangle 54"/>
              <p:cNvSpPr>
                <a:spLocks noChangeArrowheads="1"/>
              </p:cNvSpPr>
              <p:nvPr/>
            </p:nvSpPr>
            <p:spPr bwMode="auto">
              <a:xfrm rot="-5400000">
                <a:off x="328" y="2361"/>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g</a:t>
                </a:r>
                <a:endParaRPr lang="en-US"/>
              </a:p>
            </p:txBody>
          </p:sp>
          <p:sp>
            <p:nvSpPr>
              <p:cNvPr id="95379" name="Rectangle 55"/>
              <p:cNvSpPr>
                <a:spLocks noChangeArrowheads="1"/>
              </p:cNvSpPr>
              <p:nvPr/>
            </p:nvSpPr>
            <p:spPr bwMode="auto">
              <a:xfrm rot="-5400000">
                <a:off x="343" y="2338"/>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i</a:t>
                </a:r>
                <a:endParaRPr lang="en-US"/>
              </a:p>
            </p:txBody>
          </p:sp>
          <p:sp>
            <p:nvSpPr>
              <p:cNvPr id="95380" name="Rectangle 56"/>
              <p:cNvSpPr>
                <a:spLocks noChangeArrowheads="1"/>
              </p:cNvSpPr>
              <p:nvPr/>
            </p:nvSpPr>
            <p:spPr bwMode="auto">
              <a:xfrm rot="-5400000">
                <a:off x="328" y="230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381" name="Rectangle 57"/>
              <p:cNvSpPr>
                <a:spLocks noChangeArrowheads="1"/>
              </p:cNvSpPr>
              <p:nvPr/>
            </p:nvSpPr>
            <p:spPr bwMode="auto">
              <a:xfrm rot="-5400000">
                <a:off x="328" y="2260"/>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382" name="Rectangle 58"/>
              <p:cNvSpPr>
                <a:spLocks noChangeArrowheads="1"/>
              </p:cNvSpPr>
              <p:nvPr/>
            </p:nvSpPr>
            <p:spPr bwMode="auto">
              <a:xfrm rot="-5400000">
                <a:off x="328" y="2222"/>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383" name="Rectangle 59"/>
              <p:cNvSpPr>
                <a:spLocks noChangeArrowheads="1"/>
              </p:cNvSpPr>
              <p:nvPr/>
            </p:nvSpPr>
            <p:spPr bwMode="auto">
              <a:xfrm rot="-5400000">
                <a:off x="339" y="2189"/>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r</a:t>
                </a:r>
                <a:endParaRPr lang="en-US"/>
              </a:p>
            </p:txBody>
          </p:sp>
          <p:sp>
            <p:nvSpPr>
              <p:cNvPr id="95384" name="Rectangle 60"/>
              <p:cNvSpPr>
                <a:spLocks noChangeArrowheads="1"/>
              </p:cNvSpPr>
              <p:nvPr/>
            </p:nvSpPr>
            <p:spPr bwMode="auto">
              <a:xfrm rot="-5400000">
                <a:off x="343" y="2168"/>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i</a:t>
                </a:r>
                <a:endParaRPr lang="en-US"/>
              </a:p>
            </p:txBody>
          </p:sp>
          <p:sp>
            <p:nvSpPr>
              <p:cNvPr id="95385" name="Rectangle 61"/>
              <p:cNvSpPr>
                <a:spLocks noChangeArrowheads="1"/>
              </p:cNvSpPr>
              <p:nvPr/>
            </p:nvSpPr>
            <p:spPr bwMode="auto">
              <a:xfrm rot="-5400000">
                <a:off x="328" y="2140"/>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386" name="Rectangle 62"/>
              <p:cNvSpPr>
                <a:spLocks noChangeArrowheads="1"/>
              </p:cNvSpPr>
              <p:nvPr/>
            </p:nvSpPr>
            <p:spPr bwMode="auto">
              <a:xfrm rot="-5400000">
                <a:off x="328" y="2096"/>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g</a:t>
                </a:r>
                <a:endParaRPr lang="en-US"/>
              </a:p>
            </p:txBody>
          </p:sp>
          <p:sp>
            <p:nvSpPr>
              <p:cNvPr id="95387" name="Rectangle 63"/>
              <p:cNvSpPr>
                <a:spLocks noChangeArrowheads="1"/>
              </p:cNvSpPr>
              <p:nvPr/>
            </p:nvSpPr>
            <p:spPr bwMode="auto">
              <a:xfrm>
                <a:off x="199" y="1025"/>
                <a:ext cx="5355" cy="958"/>
              </a:xfrm>
              <a:prstGeom prst="rect">
                <a:avLst/>
              </a:prstGeom>
              <a:noFill/>
              <a:ln w="0">
                <a:solidFill>
                  <a:srgbClr val="000000"/>
                </a:solidFill>
                <a:miter lim="800000"/>
                <a:headEnd/>
                <a:tailEnd/>
              </a:ln>
            </p:spPr>
            <p:txBody>
              <a:bodyPr/>
              <a:lstStyle/>
              <a:p>
                <a:endParaRPr lang="en-US"/>
              </a:p>
            </p:txBody>
          </p:sp>
          <p:sp>
            <p:nvSpPr>
              <p:cNvPr id="95388" name="Rectangle 64"/>
              <p:cNvSpPr>
                <a:spLocks noChangeArrowheads="1"/>
              </p:cNvSpPr>
              <p:nvPr/>
            </p:nvSpPr>
            <p:spPr bwMode="auto">
              <a:xfrm>
                <a:off x="199" y="1025"/>
                <a:ext cx="335" cy="958"/>
              </a:xfrm>
              <a:prstGeom prst="rect">
                <a:avLst/>
              </a:prstGeom>
              <a:solidFill>
                <a:srgbClr val="E8EEF7"/>
              </a:solidFill>
              <a:ln w="9525">
                <a:noFill/>
                <a:miter lim="800000"/>
                <a:headEnd/>
                <a:tailEnd/>
              </a:ln>
            </p:spPr>
            <p:txBody>
              <a:bodyPr/>
              <a:lstStyle/>
              <a:p>
                <a:endParaRPr lang="en-US"/>
              </a:p>
            </p:txBody>
          </p:sp>
          <p:sp>
            <p:nvSpPr>
              <p:cNvPr id="95389" name="Rectangle 65"/>
              <p:cNvSpPr>
                <a:spLocks noChangeArrowheads="1"/>
              </p:cNvSpPr>
              <p:nvPr/>
            </p:nvSpPr>
            <p:spPr bwMode="auto">
              <a:xfrm>
                <a:off x="199" y="1025"/>
                <a:ext cx="335" cy="958"/>
              </a:xfrm>
              <a:prstGeom prst="rect">
                <a:avLst/>
              </a:prstGeom>
              <a:noFill/>
              <a:ln w="0">
                <a:solidFill>
                  <a:srgbClr val="000000"/>
                </a:solidFill>
                <a:miter lim="800000"/>
                <a:headEnd/>
                <a:tailEnd/>
              </a:ln>
            </p:spPr>
            <p:txBody>
              <a:bodyPr/>
              <a:lstStyle/>
              <a:p>
                <a:endParaRPr lang="en-US"/>
              </a:p>
            </p:txBody>
          </p:sp>
          <p:sp>
            <p:nvSpPr>
              <p:cNvPr id="95390" name="Rectangle 66"/>
              <p:cNvSpPr>
                <a:spLocks noChangeArrowheads="1"/>
              </p:cNvSpPr>
              <p:nvPr/>
            </p:nvSpPr>
            <p:spPr bwMode="auto">
              <a:xfrm rot="-5400000">
                <a:off x="271" y="1730"/>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P</a:t>
                </a:r>
                <a:endParaRPr lang="en-US"/>
              </a:p>
            </p:txBody>
          </p:sp>
          <p:sp>
            <p:nvSpPr>
              <p:cNvPr id="95391" name="Rectangle 67"/>
              <p:cNvSpPr>
                <a:spLocks noChangeArrowheads="1"/>
              </p:cNvSpPr>
              <p:nvPr/>
            </p:nvSpPr>
            <p:spPr bwMode="auto">
              <a:xfrm rot="-5400000">
                <a:off x="289" y="1704"/>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r</a:t>
                </a:r>
                <a:endParaRPr lang="en-US"/>
              </a:p>
            </p:txBody>
          </p:sp>
          <p:sp>
            <p:nvSpPr>
              <p:cNvPr id="95392" name="Rectangle 68"/>
              <p:cNvSpPr>
                <a:spLocks noChangeArrowheads="1"/>
              </p:cNvSpPr>
              <p:nvPr/>
            </p:nvSpPr>
            <p:spPr bwMode="auto">
              <a:xfrm rot="-5400000">
                <a:off x="278" y="1662"/>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o</a:t>
                </a:r>
                <a:endParaRPr lang="en-US"/>
              </a:p>
            </p:txBody>
          </p:sp>
          <p:sp>
            <p:nvSpPr>
              <p:cNvPr id="95393" name="Rectangle 69"/>
              <p:cNvSpPr>
                <a:spLocks noChangeArrowheads="1"/>
              </p:cNvSpPr>
              <p:nvPr/>
            </p:nvSpPr>
            <p:spPr bwMode="auto">
              <a:xfrm rot="-5400000">
                <a:off x="278" y="162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g</a:t>
                </a:r>
                <a:endParaRPr lang="en-US"/>
              </a:p>
            </p:txBody>
          </p:sp>
          <p:sp>
            <p:nvSpPr>
              <p:cNvPr id="95394" name="Rectangle 70"/>
              <p:cNvSpPr>
                <a:spLocks noChangeArrowheads="1"/>
              </p:cNvSpPr>
              <p:nvPr/>
            </p:nvSpPr>
            <p:spPr bwMode="auto">
              <a:xfrm rot="-5400000">
                <a:off x="289" y="1591"/>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r</a:t>
                </a:r>
                <a:endParaRPr lang="en-US"/>
              </a:p>
            </p:txBody>
          </p:sp>
          <p:sp>
            <p:nvSpPr>
              <p:cNvPr id="95395" name="Rectangle 71"/>
              <p:cNvSpPr>
                <a:spLocks noChangeArrowheads="1"/>
              </p:cNvSpPr>
              <p:nvPr/>
            </p:nvSpPr>
            <p:spPr bwMode="auto">
              <a:xfrm rot="-5400000">
                <a:off x="278" y="155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a</a:t>
                </a:r>
                <a:endParaRPr lang="en-US"/>
              </a:p>
            </p:txBody>
          </p:sp>
          <p:sp>
            <p:nvSpPr>
              <p:cNvPr id="95396" name="Rectangle 72"/>
              <p:cNvSpPr>
                <a:spLocks noChangeArrowheads="1"/>
              </p:cNvSpPr>
              <p:nvPr/>
            </p:nvSpPr>
            <p:spPr bwMode="auto">
              <a:xfrm rot="-5400000">
                <a:off x="264" y="1503"/>
                <a:ext cx="121" cy="120"/>
              </a:xfrm>
              <a:prstGeom prst="rect">
                <a:avLst/>
              </a:prstGeom>
              <a:noFill/>
              <a:ln w="9525">
                <a:noFill/>
                <a:miter lim="800000"/>
                <a:headEnd/>
                <a:tailEnd/>
              </a:ln>
            </p:spPr>
            <p:txBody>
              <a:bodyPr wrap="none" lIns="0" tIns="0" rIns="0" bIns="0">
                <a:spAutoFit/>
              </a:bodyPr>
              <a:lstStyle/>
              <a:p>
                <a:r>
                  <a:rPr lang="en-US" sz="1000">
                    <a:solidFill>
                      <a:srgbClr val="000000"/>
                    </a:solidFill>
                  </a:rPr>
                  <a:t>m</a:t>
                </a:r>
                <a:endParaRPr lang="en-US"/>
              </a:p>
            </p:txBody>
          </p:sp>
          <p:sp>
            <p:nvSpPr>
              <p:cNvPr id="95397" name="Rectangle 73"/>
              <p:cNvSpPr>
                <a:spLocks noChangeArrowheads="1"/>
              </p:cNvSpPr>
              <p:nvPr/>
            </p:nvSpPr>
            <p:spPr bwMode="auto">
              <a:xfrm rot="-5400000">
                <a:off x="289" y="1465"/>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 </a:t>
                </a:r>
                <a:endParaRPr lang="en-US"/>
              </a:p>
            </p:txBody>
          </p:sp>
          <p:sp>
            <p:nvSpPr>
              <p:cNvPr id="95398" name="Rectangle 74"/>
              <p:cNvSpPr>
                <a:spLocks noChangeArrowheads="1"/>
              </p:cNvSpPr>
              <p:nvPr/>
            </p:nvSpPr>
            <p:spPr bwMode="auto">
              <a:xfrm rot="-5400000">
                <a:off x="278" y="1428"/>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a</a:t>
                </a:r>
                <a:endParaRPr lang="en-US"/>
              </a:p>
            </p:txBody>
          </p:sp>
          <p:sp>
            <p:nvSpPr>
              <p:cNvPr id="95399" name="Rectangle 75"/>
              <p:cNvSpPr>
                <a:spLocks noChangeArrowheads="1"/>
              </p:cNvSpPr>
              <p:nvPr/>
            </p:nvSpPr>
            <p:spPr bwMode="auto">
              <a:xfrm rot="-5400000">
                <a:off x="278" y="1391"/>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400" name="Rectangle 76"/>
              <p:cNvSpPr>
                <a:spLocks noChangeArrowheads="1"/>
              </p:cNvSpPr>
              <p:nvPr/>
            </p:nvSpPr>
            <p:spPr bwMode="auto">
              <a:xfrm rot="-5400000">
                <a:off x="278" y="1353"/>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d</a:t>
                </a:r>
                <a:endParaRPr lang="en-US"/>
              </a:p>
            </p:txBody>
          </p:sp>
          <p:sp>
            <p:nvSpPr>
              <p:cNvPr id="95401" name="Rectangle 77"/>
              <p:cNvSpPr>
                <a:spLocks noChangeArrowheads="1"/>
              </p:cNvSpPr>
              <p:nvPr/>
            </p:nvSpPr>
            <p:spPr bwMode="auto">
              <a:xfrm rot="-5400000">
                <a:off x="289" y="1320"/>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 </a:t>
                </a:r>
                <a:endParaRPr lang="en-US"/>
              </a:p>
            </p:txBody>
          </p:sp>
          <p:sp>
            <p:nvSpPr>
              <p:cNvPr id="95402" name="Rectangle 78"/>
              <p:cNvSpPr>
                <a:spLocks noChangeArrowheads="1"/>
              </p:cNvSpPr>
              <p:nvPr/>
            </p:nvSpPr>
            <p:spPr bwMode="auto">
              <a:xfrm rot="-5400000">
                <a:off x="271" y="1276"/>
                <a:ext cx="107" cy="120"/>
              </a:xfrm>
              <a:prstGeom prst="rect">
                <a:avLst/>
              </a:prstGeom>
              <a:noFill/>
              <a:ln w="9525">
                <a:noFill/>
                <a:miter lim="800000"/>
                <a:headEnd/>
                <a:tailEnd/>
              </a:ln>
            </p:spPr>
            <p:txBody>
              <a:bodyPr wrap="none" lIns="0" tIns="0" rIns="0" bIns="0">
                <a:spAutoFit/>
              </a:bodyPr>
              <a:lstStyle/>
              <a:p>
                <a:r>
                  <a:rPr lang="en-US" sz="1000">
                    <a:solidFill>
                      <a:srgbClr val="000000"/>
                    </a:solidFill>
                  </a:rPr>
                  <a:t>P</a:t>
                </a:r>
                <a:endParaRPr lang="en-US"/>
              </a:p>
            </p:txBody>
          </p:sp>
          <p:sp>
            <p:nvSpPr>
              <p:cNvPr id="95403" name="Rectangle 79"/>
              <p:cNvSpPr>
                <a:spLocks noChangeArrowheads="1"/>
              </p:cNvSpPr>
              <p:nvPr/>
            </p:nvSpPr>
            <p:spPr bwMode="auto">
              <a:xfrm rot="-5400000">
                <a:off x="289" y="1250"/>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r</a:t>
                </a:r>
                <a:endParaRPr lang="en-US"/>
              </a:p>
            </p:txBody>
          </p:sp>
          <p:sp>
            <p:nvSpPr>
              <p:cNvPr id="95404" name="Rectangle 80"/>
              <p:cNvSpPr>
                <a:spLocks noChangeArrowheads="1"/>
              </p:cNvSpPr>
              <p:nvPr/>
            </p:nvSpPr>
            <p:spPr bwMode="auto">
              <a:xfrm rot="-5400000">
                <a:off x="278" y="1208"/>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o</a:t>
                </a:r>
                <a:endParaRPr lang="en-US"/>
              </a:p>
            </p:txBody>
          </p:sp>
          <p:sp>
            <p:nvSpPr>
              <p:cNvPr id="95405" name="Rectangle 81"/>
              <p:cNvSpPr>
                <a:spLocks noChangeArrowheads="1"/>
              </p:cNvSpPr>
              <p:nvPr/>
            </p:nvSpPr>
            <p:spPr bwMode="auto">
              <a:xfrm rot="-5400000">
                <a:off x="293" y="1185"/>
                <a:ext cx="64" cy="120"/>
              </a:xfrm>
              <a:prstGeom prst="rect">
                <a:avLst/>
              </a:prstGeom>
              <a:noFill/>
              <a:ln w="9525">
                <a:noFill/>
                <a:miter lim="800000"/>
                <a:headEnd/>
                <a:tailEnd/>
              </a:ln>
            </p:spPr>
            <p:txBody>
              <a:bodyPr wrap="none" lIns="0" tIns="0" rIns="0" bIns="0">
                <a:spAutoFit/>
              </a:bodyPr>
              <a:lstStyle/>
              <a:p>
                <a:r>
                  <a:rPr lang="en-US" sz="1000">
                    <a:solidFill>
                      <a:srgbClr val="000000"/>
                    </a:solidFill>
                  </a:rPr>
                  <a:t>j</a:t>
                </a:r>
                <a:endParaRPr lang="en-US"/>
              </a:p>
            </p:txBody>
          </p:sp>
          <p:sp>
            <p:nvSpPr>
              <p:cNvPr id="95406" name="Rectangle 82"/>
              <p:cNvSpPr>
                <a:spLocks noChangeArrowheads="1"/>
              </p:cNvSpPr>
              <p:nvPr/>
            </p:nvSpPr>
            <p:spPr bwMode="auto">
              <a:xfrm rot="-5400000">
                <a:off x="278" y="1151"/>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407" name="Rectangle 83"/>
              <p:cNvSpPr>
                <a:spLocks noChangeArrowheads="1"/>
              </p:cNvSpPr>
              <p:nvPr/>
            </p:nvSpPr>
            <p:spPr bwMode="auto">
              <a:xfrm rot="-5400000">
                <a:off x="278" y="1113"/>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c</a:t>
                </a:r>
                <a:endParaRPr lang="en-US"/>
              </a:p>
            </p:txBody>
          </p:sp>
          <p:sp>
            <p:nvSpPr>
              <p:cNvPr id="95408" name="Rectangle 84"/>
              <p:cNvSpPr>
                <a:spLocks noChangeArrowheads="1"/>
              </p:cNvSpPr>
              <p:nvPr/>
            </p:nvSpPr>
            <p:spPr bwMode="auto">
              <a:xfrm rot="-5400000">
                <a:off x="289" y="1086"/>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t</a:t>
                </a:r>
                <a:endParaRPr lang="en-US"/>
              </a:p>
            </p:txBody>
          </p:sp>
          <p:sp>
            <p:nvSpPr>
              <p:cNvPr id="95409" name="Rectangle 85"/>
              <p:cNvSpPr>
                <a:spLocks noChangeArrowheads="1"/>
              </p:cNvSpPr>
              <p:nvPr/>
            </p:nvSpPr>
            <p:spPr bwMode="auto">
              <a:xfrm rot="-5400000">
                <a:off x="289" y="1061"/>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 </a:t>
                </a:r>
                <a:endParaRPr lang="en-US"/>
              </a:p>
            </p:txBody>
          </p:sp>
          <p:sp>
            <p:nvSpPr>
              <p:cNvPr id="95410" name="Rectangle 86"/>
              <p:cNvSpPr>
                <a:spLocks noChangeArrowheads="1"/>
              </p:cNvSpPr>
              <p:nvPr/>
            </p:nvSpPr>
            <p:spPr bwMode="auto">
              <a:xfrm rot="-5400000">
                <a:off x="371" y="1603"/>
                <a:ext cx="121" cy="120"/>
              </a:xfrm>
              <a:prstGeom prst="rect">
                <a:avLst/>
              </a:prstGeom>
              <a:noFill/>
              <a:ln w="9525">
                <a:noFill/>
                <a:miter lim="800000"/>
                <a:headEnd/>
                <a:tailEnd/>
              </a:ln>
            </p:spPr>
            <p:txBody>
              <a:bodyPr wrap="none" lIns="0" tIns="0" rIns="0" bIns="0">
                <a:spAutoFit/>
              </a:bodyPr>
              <a:lstStyle/>
              <a:p>
                <a:r>
                  <a:rPr lang="en-US" sz="1000">
                    <a:solidFill>
                      <a:srgbClr val="000000"/>
                    </a:solidFill>
                  </a:rPr>
                  <a:t>M</a:t>
                </a:r>
                <a:endParaRPr lang="en-US"/>
              </a:p>
            </p:txBody>
          </p:sp>
          <p:sp>
            <p:nvSpPr>
              <p:cNvPr id="95411" name="Rectangle 87"/>
              <p:cNvSpPr>
                <a:spLocks noChangeArrowheads="1"/>
              </p:cNvSpPr>
              <p:nvPr/>
            </p:nvSpPr>
            <p:spPr bwMode="auto">
              <a:xfrm rot="-5400000">
                <a:off x="385" y="1554"/>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a</a:t>
                </a:r>
                <a:endParaRPr lang="en-US"/>
              </a:p>
            </p:txBody>
          </p:sp>
          <p:sp>
            <p:nvSpPr>
              <p:cNvPr id="95412" name="Rectangle 88"/>
              <p:cNvSpPr>
                <a:spLocks noChangeArrowheads="1"/>
              </p:cNvSpPr>
              <p:nvPr/>
            </p:nvSpPr>
            <p:spPr bwMode="auto">
              <a:xfrm rot="-5400000">
                <a:off x="385" y="1510"/>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413" name="Rectangle 89"/>
              <p:cNvSpPr>
                <a:spLocks noChangeArrowheads="1"/>
              </p:cNvSpPr>
              <p:nvPr/>
            </p:nvSpPr>
            <p:spPr bwMode="auto">
              <a:xfrm rot="-5400000">
                <a:off x="385" y="1466"/>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a</a:t>
                </a:r>
                <a:endParaRPr lang="en-US"/>
              </a:p>
            </p:txBody>
          </p:sp>
          <p:sp>
            <p:nvSpPr>
              <p:cNvPr id="95414" name="Rectangle 90"/>
              <p:cNvSpPr>
                <a:spLocks noChangeArrowheads="1"/>
              </p:cNvSpPr>
              <p:nvPr/>
            </p:nvSpPr>
            <p:spPr bwMode="auto">
              <a:xfrm rot="-5400000">
                <a:off x="385" y="1422"/>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g</a:t>
                </a:r>
                <a:endParaRPr lang="en-US"/>
              </a:p>
            </p:txBody>
          </p:sp>
          <p:sp>
            <p:nvSpPr>
              <p:cNvPr id="95415" name="Rectangle 91"/>
              <p:cNvSpPr>
                <a:spLocks noChangeArrowheads="1"/>
              </p:cNvSpPr>
              <p:nvPr/>
            </p:nvSpPr>
            <p:spPr bwMode="auto">
              <a:xfrm rot="-5400000">
                <a:off x="385" y="1391"/>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416" name="Rectangle 92"/>
              <p:cNvSpPr>
                <a:spLocks noChangeArrowheads="1"/>
              </p:cNvSpPr>
              <p:nvPr/>
            </p:nvSpPr>
            <p:spPr bwMode="auto">
              <a:xfrm rot="-5400000">
                <a:off x="371" y="1332"/>
                <a:ext cx="121" cy="120"/>
              </a:xfrm>
              <a:prstGeom prst="rect">
                <a:avLst/>
              </a:prstGeom>
              <a:noFill/>
              <a:ln w="9525">
                <a:noFill/>
                <a:miter lim="800000"/>
                <a:headEnd/>
                <a:tailEnd/>
              </a:ln>
            </p:spPr>
            <p:txBody>
              <a:bodyPr wrap="none" lIns="0" tIns="0" rIns="0" bIns="0">
                <a:spAutoFit/>
              </a:bodyPr>
              <a:lstStyle/>
              <a:p>
                <a:r>
                  <a:rPr lang="en-US" sz="1000">
                    <a:solidFill>
                      <a:srgbClr val="000000"/>
                    </a:solidFill>
                  </a:rPr>
                  <a:t>m</a:t>
                </a:r>
                <a:endParaRPr lang="en-US"/>
              </a:p>
            </p:txBody>
          </p:sp>
          <p:sp>
            <p:nvSpPr>
              <p:cNvPr id="95417" name="Rectangle 93"/>
              <p:cNvSpPr>
                <a:spLocks noChangeArrowheads="1"/>
              </p:cNvSpPr>
              <p:nvPr/>
            </p:nvSpPr>
            <p:spPr bwMode="auto">
              <a:xfrm rot="-5400000">
                <a:off x="385" y="1277"/>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e</a:t>
                </a:r>
                <a:endParaRPr lang="en-US"/>
              </a:p>
            </p:txBody>
          </p:sp>
          <p:sp>
            <p:nvSpPr>
              <p:cNvPr id="95418" name="Rectangle 94"/>
              <p:cNvSpPr>
                <a:spLocks noChangeArrowheads="1"/>
              </p:cNvSpPr>
              <p:nvPr/>
            </p:nvSpPr>
            <p:spPr bwMode="auto">
              <a:xfrm rot="-5400000">
                <a:off x="385" y="1239"/>
                <a:ext cx="93" cy="120"/>
              </a:xfrm>
              <a:prstGeom prst="rect">
                <a:avLst/>
              </a:prstGeom>
              <a:noFill/>
              <a:ln w="9525">
                <a:noFill/>
                <a:miter lim="800000"/>
                <a:headEnd/>
                <a:tailEnd/>
              </a:ln>
            </p:spPr>
            <p:txBody>
              <a:bodyPr wrap="none" lIns="0" tIns="0" rIns="0" bIns="0">
                <a:spAutoFit/>
              </a:bodyPr>
              <a:lstStyle/>
              <a:p>
                <a:r>
                  <a:rPr lang="en-US" sz="1000">
                    <a:solidFill>
                      <a:srgbClr val="000000"/>
                    </a:solidFill>
                  </a:rPr>
                  <a:t>n</a:t>
                </a:r>
                <a:endParaRPr lang="en-US"/>
              </a:p>
            </p:txBody>
          </p:sp>
          <p:sp>
            <p:nvSpPr>
              <p:cNvPr id="95419" name="Rectangle 95"/>
              <p:cNvSpPr>
                <a:spLocks noChangeArrowheads="1"/>
              </p:cNvSpPr>
              <p:nvPr/>
            </p:nvSpPr>
            <p:spPr bwMode="auto">
              <a:xfrm rot="-5400000">
                <a:off x="396" y="1213"/>
                <a:ext cx="71" cy="120"/>
              </a:xfrm>
              <a:prstGeom prst="rect">
                <a:avLst/>
              </a:prstGeom>
              <a:noFill/>
              <a:ln w="9525">
                <a:noFill/>
                <a:miter lim="800000"/>
                <a:headEnd/>
                <a:tailEnd/>
              </a:ln>
            </p:spPr>
            <p:txBody>
              <a:bodyPr wrap="none" lIns="0" tIns="0" rIns="0" bIns="0">
                <a:spAutoFit/>
              </a:bodyPr>
              <a:lstStyle/>
              <a:p>
                <a:r>
                  <a:rPr lang="en-US" sz="1000">
                    <a:solidFill>
                      <a:srgbClr val="000000"/>
                    </a:solidFill>
                  </a:rPr>
                  <a:t>t</a:t>
                </a:r>
                <a:endParaRPr lang="en-US"/>
              </a:p>
            </p:txBody>
          </p:sp>
          <p:sp>
            <p:nvSpPr>
              <p:cNvPr id="95420" name="Freeform 96"/>
              <p:cNvSpPr>
                <a:spLocks/>
              </p:cNvSpPr>
              <p:nvPr/>
            </p:nvSpPr>
            <p:spPr bwMode="auto">
              <a:xfrm>
                <a:off x="712" y="1138"/>
                <a:ext cx="507" cy="171"/>
              </a:xfrm>
              <a:custGeom>
                <a:avLst/>
                <a:gdLst>
                  <a:gd name="T0" fmla="*/ 93 w 507"/>
                  <a:gd name="T1" fmla="*/ 171 h 171"/>
                  <a:gd name="T2" fmla="*/ 414 w 507"/>
                  <a:gd name="T3" fmla="*/ 171 h 171"/>
                  <a:gd name="T4" fmla="*/ 450 w 507"/>
                  <a:gd name="T5" fmla="*/ 164 h 171"/>
                  <a:gd name="T6" fmla="*/ 478 w 507"/>
                  <a:gd name="T7" fmla="*/ 145 h 171"/>
                  <a:gd name="T8" fmla="*/ 500 w 507"/>
                  <a:gd name="T9" fmla="*/ 114 h 171"/>
                  <a:gd name="T10" fmla="*/ 507 w 507"/>
                  <a:gd name="T11" fmla="*/ 82 h 171"/>
                  <a:gd name="T12" fmla="*/ 500 w 507"/>
                  <a:gd name="T13" fmla="*/ 51 h 171"/>
                  <a:gd name="T14" fmla="*/ 478 w 507"/>
                  <a:gd name="T15" fmla="*/ 26 h 171"/>
                  <a:gd name="T16" fmla="*/ 450 w 507"/>
                  <a:gd name="T17" fmla="*/ 7 h 171"/>
                  <a:gd name="T18" fmla="*/ 414 w 507"/>
                  <a:gd name="T19" fmla="*/ 0 h 171"/>
                  <a:gd name="T20" fmla="*/ 414 w 507"/>
                  <a:gd name="T21" fmla="*/ 0 h 171"/>
                  <a:gd name="T22" fmla="*/ 414 w 507"/>
                  <a:gd name="T23" fmla="*/ 0 h 171"/>
                  <a:gd name="T24" fmla="*/ 93 w 507"/>
                  <a:gd name="T25" fmla="*/ 0 h 171"/>
                  <a:gd name="T26" fmla="*/ 58 w 507"/>
                  <a:gd name="T27" fmla="*/ 7 h 171"/>
                  <a:gd name="T28" fmla="*/ 29 w 507"/>
                  <a:gd name="T29" fmla="*/ 26 h 171"/>
                  <a:gd name="T30" fmla="*/ 8 w 507"/>
                  <a:gd name="T31" fmla="*/ 51 h 171"/>
                  <a:gd name="T32" fmla="*/ 0 w 507"/>
                  <a:gd name="T33" fmla="*/ 82 h 171"/>
                  <a:gd name="T34" fmla="*/ 8 w 507"/>
                  <a:gd name="T35" fmla="*/ 114 h 171"/>
                  <a:gd name="T36" fmla="*/ 29 w 507"/>
                  <a:gd name="T37" fmla="*/ 145 h 171"/>
                  <a:gd name="T38" fmla="*/ 58 w 507"/>
                  <a:gd name="T39" fmla="*/ 164 h 171"/>
                  <a:gd name="T40" fmla="*/ 93 w 507"/>
                  <a:gd name="T41" fmla="*/ 171 h 171"/>
                  <a:gd name="T42" fmla="*/ 93 w 507"/>
                  <a:gd name="T43" fmla="*/ 171 h 1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7"/>
                  <a:gd name="T67" fmla="*/ 0 h 171"/>
                  <a:gd name="T68" fmla="*/ 507 w 507"/>
                  <a:gd name="T69" fmla="*/ 171 h 17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7" h="171">
                    <a:moveTo>
                      <a:pt x="93" y="171"/>
                    </a:moveTo>
                    <a:lnTo>
                      <a:pt x="414" y="171"/>
                    </a:lnTo>
                    <a:lnTo>
                      <a:pt x="450" y="164"/>
                    </a:lnTo>
                    <a:lnTo>
                      <a:pt x="478" y="145"/>
                    </a:lnTo>
                    <a:lnTo>
                      <a:pt x="500" y="114"/>
                    </a:lnTo>
                    <a:lnTo>
                      <a:pt x="507" y="82"/>
                    </a:lnTo>
                    <a:lnTo>
                      <a:pt x="500" y="51"/>
                    </a:lnTo>
                    <a:lnTo>
                      <a:pt x="478" y="26"/>
                    </a:lnTo>
                    <a:lnTo>
                      <a:pt x="450" y="7"/>
                    </a:lnTo>
                    <a:lnTo>
                      <a:pt x="414" y="0"/>
                    </a:lnTo>
                    <a:lnTo>
                      <a:pt x="93" y="0"/>
                    </a:lnTo>
                    <a:lnTo>
                      <a:pt x="58" y="7"/>
                    </a:lnTo>
                    <a:lnTo>
                      <a:pt x="29" y="26"/>
                    </a:lnTo>
                    <a:lnTo>
                      <a:pt x="8" y="51"/>
                    </a:lnTo>
                    <a:lnTo>
                      <a:pt x="0" y="82"/>
                    </a:lnTo>
                    <a:lnTo>
                      <a:pt x="8" y="114"/>
                    </a:lnTo>
                    <a:lnTo>
                      <a:pt x="29" y="145"/>
                    </a:lnTo>
                    <a:lnTo>
                      <a:pt x="58" y="164"/>
                    </a:lnTo>
                    <a:lnTo>
                      <a:pt x="93" y="171"/>
                    </a:lnTo>
                    <a:close/>
                  </a:path>
                </a:pathLst>
              </a:custGeom>
              <a:solidFill>
                <a:srgbClr val="E8EEF7"/>
              </a:solidFill>
              <a:ln w="9525">
                <a:noFill/>
                <a:round/>
                <a:headEnd/>
                <a:tailEnd/>
              </a:ln>
            </p:spPr>
            <p:txBody>
              <a:bodyPr/>
              <a:lstStyle/>
              <a:p>
                <a:endParaRPr lang="en-US"/>
              </a:p>
            </p:txBody>
          </p:sp>
          <p:sp>
            <p:nvSpPr>
              <p:cNvPr id="95421" name="Freeform 97"/>
              <p:cNvSpPr>
                <a:spLocks/>
              </p:cNvSpPr>
              <p:nvPr/>
            </p:nvSpPr>
            <p:spPr bwMode="auto">
              <a:xfrm>
                <a:off x="712" y="1138"/>
                <a:ext cx="507" cy="171"/>
              </a:xfrm>
              <a:custGeom>
                <a:avLst/>
                <a:gdLst>
                  <a:gd name="T0" fmla="*/ 93 w 507"/>
                  <a:gd name="T1" fmla="*/ 171 h 171"/>
                  <a:gd name="T2" fmla="*/ 414 w 507"/>
                  <a:gd name="T3" fmla="*/ 171 h 171"/>
                  <a:gd name="T4" fmla="*/ 450 w 507"/>
                  <a:gd name="T5" fmla="*/ 164 h 171"/>
                  <a:gd name="T6" fmla="*/ 478 w 507"/>
                  <a:gd name="T7" fmla="*/ 145 h 171"/>
                  <a:gd name="T8" fmla="*/ 500 w 507"/>
                  <a:gd name="T9" fmla="*/ 114 h 171"/>
                  <a:gd name="T10" fmla="*/ 507 w 507"/>
                  <a:gd name="T11" fmla="*/ 82 h 171"/>
                  <a:gd name="T12" fmla="*/ 500 w 507"/>
                  <a:gd name="T13" fmla="*/ 51 h 171"/>
                  <a:gd name="T14" fmla="*/ 478 w 507"/>
                  <a:gd name="T15" fmla="*/ 26 h 171"/>
                  <a:gd name="T16" fmla="*/ 450 w 507"/>
                  <a:gd name="T17" fmla="*/ 7 h 171"/>
                  <a:gd name="T18" fmla="*/ 414 w 507"/>
                  <a:gd name="T19" fmla="*/ 0 h 171"/>
                  <a:gd name="T20" fmla="*/ 414 w 507"/>
                  <a:gd name="T21" fmla="*/ 0 h 171"/>
                  <a:gd name="T22" fmla="*/ 414 w 507"/>
                  <a:gd name="T23" fmla="*/ 0 h 171"/>
                  <a:gd name="T24" fmla="*/ 93 w 507"/>
                  <a:gd name="T25" fmla="*/ 0 h 171"/>
                  <a:gd name="T26" fmla="*/ 58 w 507"/>
                  <a:gd name="T27" fmla="*/ 7 h 171"/>
                  <a:gd name="T28" fmla="*/ 29 w 507"/>
                  <a:gd name="T29" fmla="*/ 26 h 171"/>
                  <a:gd name="T30" fmla="*/ 8 w 507"/>
                  <a:gd name="T31" fmla="*/ 51 h 171"/>
                  <a:gd name="T32" fmla="*/ 0 w 507"/>
                  <a:gd name="T33" fmla="*/ 82 h 171"/>
                  <a:gd name="T34" fmla="*/ 8 w 507"/>
                  <a:gd name="T35" fmla="*/ 114 h 171"/>
                  <a:gd name="T36" fmla="*/ 29 w 507"/>
                  <a:gd name="T37" fmla="*/ 145 h 171"/>
                  <a:gd name="T38" fmla="*/ 58 w 507"/>
                  <a:gd name="T39" fmla="*/ 164 h 171"/>
                  <a:gd name="T40" fmla="*/ 93 w 507"/>
                  <a:gd name="T41" fmla="*/ 171 h 171"/>
                  <a:gd name="T42" fmla="*/ 93 w 507"/>
                  <a:gd name="T43" fmla="*/ 171 h 171"/>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07"/>
                  <a:gd name="T67" fmla="*/ 0 h 171"/>
                  <a:gd name="T68" fmla="*/ 507 w 507"/>
                  <a:gd name="T69" fmla="*/ 171 h 171"/>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07" h="171">
                    <a:moveTo>
                      <a:pt x="93" y="171"/>
                    </a:moveTo>
                    <a:lnTo>
                      <a:pt x="414" y="171"/>
                    </a:lnTo>
                    <a:lnTo>
                      <a:pt x="450" y="164"/>
                    </a:lnTo>
                    <a:lnTo>
                      <a:pt x="478" y="145"/>
                    </a:lnTo>
                    <a:lnTo>
                      <a:pt x="500" y="114"/>
                    </a:lnTo>
                    <a:lnTo>
                      <a:pt x="507" y="82"/>
                    </a:lnTo>
                    <a:lnTo>
                      <a:pt x="500" y="51"/>
                    </a:lnTo>
                    <a:lnTo>
                      <a:pt x="478" y="26"/>
                    </a:lnTo>
                    <a:lnTo>
                      <a:pt x="450" y="7"/>
                    </a:lnTo>
                    <a:lnTo>
                      <a:pt x="414" y="0"/>
                    </a:lnTo>
                    <a:lnTo>
                      <a:pt x="93" y="0"/>
                    </a:lnTo>
                    <a:lnTo>
                      <a:pt x="58" y="7"/>
                    </a:lnTo>
                    <a:lnTo>
                      <a:pt x="29" y="26"/>
                    </a:lnTo>
                    <a:lnTo>
                      <a:pt x="8" y="51"/>
                    </a:lnTo>
                    <a:lnTo>
                      <a:pt x="0" y="82"/>
                    </a:lnTo>
                    <a:lnTo>
                      <a:pt x="8" y="114"/>
                    </a:lnTo>
                    <a:lnTo>
                      <a:pt x="29" y="145"/>
                    </a:lnTo>
                    <a:lnTo>
                      <a:pt x="58" y="164"/>
                    </a:lnTo>
                    <a:lnTo>
                      <a:pt x="93" y="171"/>
                    </a:lnTo>
                  </a:path>
                </a:pathLst>
              </a:custGeom>
              <a:noFill/>
              <a:ln w="0">
                <a:solidFill>
                  <a:srgbClr val="000000"/>
                </a:solidFill>
                <a:prstDash val="solid"/>
                <a:round/>
                <a:headEnd/>
                <a:tailEnd/>
              </a:ln>
            </p:spPr>
            <p:txBody>
              <a:bodyPr/>
              <a:lstStyle/>
              <a:p>
                <a:endParaRPr lang="en-US"/>
              </a:p>
            </p:txBody>
          </p:sp>
          <p:sp>
            <p:nvSpPr>
              <p:cNvPr id="95422" name="Rectangle 98"/>
              <p:cNvSpPr>
                <a:spLocks noChangeArrowheads="1"/>
              </p:cNvSpPr>
              <p:nvPr/>
            </p:nvSpPr>
            <p:spPr bwMode="auto">
              <a:xfrm>
                <a:off x="784" y="1189"/>
                <a:ext cx="128" cy="95"/>
              </a:xfrm>
              <a:prstGeom prst="rect">
                <a:avLst/>
              </a:prstGeom>
              <a:noFill/>
              <a:ln w="9525">
                <a:noFill/>
                <a:miter lim="800000"/>
                <a:headEnd/>
                <a:tailEnd/>
              </a:ln>
            </p:spPr>
            <p:txBody>
              <a:bodyPr wrap="none" lIns="0" tIns="0" rIns="0" bIns="0">
                <a:spAutoFit/>
              </a:bodyPr>
              <a:lstStyle/>
              <a:p>
                <a:r>
                  <a:rPr lang="en-US" sz="600">
                    <a:solidFill>
                      <a:srgbClr val="000000"/>
                    </a:solidFill>
                  </a:rPr>
                  <a:t>CD</a:t>
                </a:r>
                <a:endParaRPr lang="en-US"/>
              </a:p>
            </p:txBody>
          </p:sp>
          <p:sp>
            <p:nvSpPr>
              <p:cNvPr id="95423" name="Rectangle 99"/>
              <p:cNvSpPr>
                <a:spLocks noChangeArrowheads="1"/>
              </p:cNvSpPr>
              <p:nvPr/>
            </p:nvSpPr>
            <p:spPr bwMode="auto">
              <a:xfrm>
                <a:off x="862" y="1189"/>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24" name="Rectangle 100"/>
              <p:cNvSpPr>
                <a:spLocks noChangeArrowheads="1"/>
              </p:cNvSpPr>
              <p:nvPr/>
            </p:nvSpPr>
            <p:spPr bwMode="auto">
              <a:xfrm>
                <a:off x="884" y="1189"/>
                <a:ext cx="86" cy="95"/>
              </a:xfrm>
              <a:prstGeom prst="rect">
                <a:avLst/>
              </a:prstGeom>
              <a:noFill/>
              <a:ln w="9525">
                <a:noFill/>
                <a:miter lim="800000"/>
                <a:headEnd/>
                <a:tailEnd/>
              </a:ln>
            </p:spPr>
            <p:txBody>
              <a:bodyPr wrap="none" lIns="0" tIns="0" rIns="0" bIns="0">
                <a:spAutoFit/>
              </a:bodyPr>
              <a:lstStyle/>
              <a:p>
                <a:r>
                  <a:rPr lang="en-US" sz="600">
                    <a:solidFill>
                      <a:srgbClr val="000000"/>
                    </a:solidFill>
                  </a:rPr>
                  <a:t>2 </a:t>
                </a:r>
                <a:endParaRPr lang="en-US"/>
              </a:p>
            </p:txBody>
          </p:sp>
          <p:sp>
            <p:nvSpPr>
              <p:cNvPr id="95425" name="Rectangle 101"/>
              <p:cNvSpPr>
                <a:spLocks noChangeArrowheads="1"/>
              </p:cNvSpPr>
              <p:nvPr/>
            </p:nvSpPr>
            <p:spPr bwMode="auto">
              <a:xfrm>
                <a:off x="926" y="1189"/>
                <a:ext cx="292" cy="95"/>
              </a:xfrm>
              <a:prstGeom prst="rect">
                <a:avLst/>
              </a:prstGeom>
              <a:noFill/>
              <a:ln w="9525">
                <a:noFill/>
                <a:miter lim="800000"/>
                <a:headEnd/>
                <a:tailEnd/>
              </a:ln>
            </p:spPr>
            <p:txBody>
              <a:bodyPr wrap="none" lIns="0" tIns="0" rIns="0" bIns="0">
                <a:spAutoFit/>
              </a:bodyPr>
              <a:lstStyle/>
              <a:p>
                <a:r>
                  <a:rPr lang="en-US" sz="600">
                    <a:solidFill>
                      <a:srgbClr val="000000"/>
                    </a:solidFill>
                  </a:rPr>
                  <a:t>Approval</a:t>
                </a:r>
                <a:endParaRPr lang="en-US"/>
              </a:p>
            </p:txBody>
          </p:sp>
          <p:sp>
            <p:nvSpPr>
              <p:cNvPr id="95426" name="Rectangle 102"/>
              <p:cNvSpPr>
                <a:spLocks noChangeArrowheads="1"/>
              </p:cNvSpPr>
              <p:nvPr/>
            </p:nvSpPr>
            <p:spPr bwMode="auto">
              <a:xfrm>
                <a:off x="1033" y="2159"/>
                <a:ext cx="507" cy="341"/>
              </a:xfrm>
              <a:prstGeom prst="rect">
                <a:avLst/>
              </a:prstGeom>
              <a:solidFill>
                <a:srgbClr val="CCFFCC"/>
              </a:solidFill>
              <a:ln w="9525">
                <a:noFill/>
                <a:miter lim="800000"/>
                <a:headEnd/>
                <a:tailEnd/>
              </a:ln>
            </p:spPr>
            <p:txBody>
              <a:bodyPr/>
              <a:lstStyle/>
              <a:p>
                <a:endParaRPr lang="en-US"/>
              </a:p>
            </p:txBody>
          </p:sp>
          <p:sp>
            <p:nvSpPr>
              <p:cNvPr id="95427" name="Rectangle 103"/>
              <p:cNvSpPr>
                <a:spLocks noChangeArrowheads="1"/>
              </p:cNvSpPr>
              <p:nvPr/>
            </p:nvSpPr>
            <p:spPr bwMode="auto">
              <a:xfrm>
                <a:off x="1033" y="2159"/>
                <a:ext cx="507" cy="341"/>
              </a:xfrm>
              <a:prstGeom prst="rect">
                <a:avLst/>
              </a:prstGeom>
              <a:noFill/>
              <a:ln w="0">
                <a:solidFill>
                  <a:srgbClr val="CCFFCC"/>
                </a:solidFill>
                <a:miter lim="800000"/>
                <a:headEnd/>
                <a:tailEnd/>
              </a:ln>
            </p:spPr>
            <p:txBody>
              <a:bodyPr/>
              <a:lstStyle/>
              <a:p>
                <a:endParaRPr lang="en-US"/>
              </a:p>
            </p:txBody>
          </p:sp>
          <p:sp>
            <p:nvSpPr>
              <p:cNvPr id="95428" name="Rectangle 104"/>
              <p:cNvSpPr>
                <a:spLocks noChangeArrowheads="1"/>
              </p:cNvSpPr>
              <p:nvPr/>
            </p:nvSpPr>
            <p:spPr bwMode="auto">
              <a:xfrm>
                <a:off x="1133" y="2267"/>
                <a:ext cx="414" cy="95"/>
              </a:xfrm>
              <a:prstGeom prst="rect">
                <a:avLst/>
              </a:prstGeom>
              <a:noFill/>
              <a:ln w="9525">
                <a:noFill/>
                <a:miter lim="800000"/>
                <a:headEnd/>
                <a:tailEnd/>
              </a:ln>
            </p:spPr>
            <p:txBody>
              <a:bodyPr wrap="none" lIns="0" tIns="0" rIns="0" bIns="0">
                <a:spAutoFit/>
              </a:bodyPr>
              <a:lstStyle/>
              <a:p>
                <a:r>
                  <a:rPr lang="en-US" sz="600">
                    <a:solidFill>
                      <a:srgbClr val="000000"/>
                    </a:solidFill>
                  </a:rPr>
                  <a:t>Initiate Final </a:t>
                </a:r>
                <a:endParaRPr lang="en-US"/>
              </a:p>
            </p:txBody>
          </p:sp>
          <p:sp>
            <p:nvSpPr>
              <p:cNvPr id="95429" name="Rectangle 105"/>
              <p:cNvSpPr>
                <a:spLocks noChangeArrowheads="1"/>
              </p:cNvSpPr>
              <p:nvPr/>
            </p:nvSpPr>
            <p:spPr bwMode="auto">
              <a:xfrm>
                <a:off x="1197" y="2324"/>
                <a:ext cx="235" cy="95"/>
              </a:xfrm>
              <a:prstGeom prst="rect">
                <a:avLst/>
              </a:prstGeom>
              <a:noFill/>
              <a:ln w="9525">
                <a:noFill/>
                <a:miter lim="800000"/>
                <a:headEnd/>
                <a:tailEnd/>
              </a:ln>
            </p:spPr>
            <p:txBody>
              <a:bodyPr wrap="none" lIns="0" tIns="0" rIns="0" bIns="0">
                <a:spAutoFit/>
              </a:bodyPr>
              <a:lstStyle/>
              <a:p>
                <a:r>
                  <a:rPr lang="en-US" sz="600">
                    <a:solidFill>
                      <a:srgbClr val="000000"/>
                    </a:solidFill>
                  </a:rPr>
                  <a:t>Design</a:t>
                </a:r>
                <a:endParaRPr lang="en-US"/>
              </a:p>
            </p:txBody>
          </p:sp>
          <p:sp>
            <p:nvSpPr>
              <p:cNvPr id="95430" name="Rectangle 106"/>
              <p:cNvSpPr>
                <a:spLocks noChangeArrowheads="1"/>
              </p:cNvSpPr>
              <p:nvPr/>
            </p:nvSpPr>
            <p:spPr bwMode="auto">
              <a:xfrm>
                <a:off x="1033" y="1472"/>
                <a:ext cx="507" cy="341"/>
              </a:xfrm>
              <a:prstGeom prst="rect">
                <a:avLst/>
              </a:prstGeom>
              <a:solidFill>
                <a:srgbClr val="E8EEF7"/>
              </a:solidFill>
              <a:ln w="9525">
                <a:noFill/>
                <a:miter lim="800000"/>
                <a:headEnd/>
                <a:tailEnd/>
              </a:ln>
            </p:spPr>
            <p:txBody>
              <a:bodyPr/>
              <a:lstStyle/>
              <a:p>
                <a:endParaRPr lang="en-US"/>
              </a:p>
            </p:txBody>
          </p:sp>
          <p:sp>
            <p:nvSpPr>
              <p:cNvPr id="95431" name="Rectangle 107"/>
              <p:cNvSpPr>
                <a:spLocks noChangeArrowheads="1"/>
              </p:cNvSpPr>
              <p:nvPr/>
            </p:nvSpPr>
            <p:spPr bwMode="auto">
              <a:xfrm>
                <a:off x="1033" y="1472"/>
                <a:ext cx="507" cy="341"/>
              </a:xfrm>
              <a:prstGeom prst="rect">
                <a:avLst/>
              </a:prstGeom>
              <a:noFill/>
              <a:ln w="0">
                <a:solidFill>
                  <a:srgbClr val="000000"/>
                </a:solidFill>
                <a:miter lim="800000"/>
                <a:headEnd/>
                <a:tailEnd/>
              </a:ln>
            </p:spPr>
            <p:txBody>
              <a:bodyPr/>
              <a:lstStyle/>
              <a:p>
                <a:endParaRPr lang="en-US"/>
              </a:p>
            </p:txBody>
          </p:sp>
          <p:sp>
            <p:nvSpPr>
              <p:cNvPr id="95432" name="Rectangle 108"/>
              <p:cNvSpPr>
                <a:spLocks noChangeArrowheads="1"/>
              </p:cNvSpPr>
              <p:nvPr/>
            </p:nvSpPr>
            <p:spPr bwMode="auto">
              <a:xfrm>
                <a:off x="1083" y="1548"/>
                <a:ext cx="535" cy="95"/>
              </a:xfrm>
              <a:prstGeom prst="rect">
                <a:avLst/>
              </a:prstGeom>
              <a:noFill/>
              <a:ln w="9525">
                <a:noFill/>
                <a:miter lim="800000"/>
                <a:headEnd/>
                <a:tailEnd/>
              </a:ln>
            </p:spPr>
            <p:txBody>
              <a:bodyPr wrap="none" lIns="0" tIns="0" rIns="0" bIns="0">
                <a:spAutoFit/>
              </a:bodyPr>
              <a:lstStyle/>
              <a:p>
                <a:r>
                  <a:rPr lang="en-US" sz="600">
                    <a:solidFill>
                      <a:srgbClr val="000000"/>
                    </a:solidFill>
                  </a:rPr>
                  <a:t>Update Security </a:t>
                </a:r>
                <a:endParaRPr lang="en-US"/>
              </a:p>
            </p:txBody>
          </p:sp>
          <p:sp>
            <p:nvSpPr>
              <p:cNvPr id="95433" name="Rectangle 109"/>
              <p:cNvSpPr>
                <a:spLocks noChangeArrowheads="1"/>
              </p:cNvSpPr>
              <p:nvPr/>
            </p:nvSpPr>
            <p:spPr bwMode="auto">
              <a:xfrm>
                <a:off x="1133" y="1611"/>
                <a:ext cx="414" cy="95"/>
              </a:xfrm>
              <a:prstGeom prst="rect">
                <a:avLst/>
              </a:prstGeom>
              <a:noFill/>
              <a:ln w="9525">
                <a:noFill/>
                <a:miter lim="800000"/>
                <a:headEnd/>
                <a:tailEnd/>
              </a:ln>
            </p:spPr>
            <p:txBody>
              <a:bodyPr wrap="none" lIns="0" tIns="0" rIns="0" bIns="0">
                <a:spAutoFit/>
              </a:bodyPr>
              <a:lstStyle/>
              <a:p>
                <a:r>
                  <a:rPr lang="en-US" sz="600">
                    <a:solidFill>
                      <a:srgbClr val="000000"/>
                    </a:solidFill>
                  </a:rPr>
                  <a:t>Vulnerability </a:t>
                </a:r>
                <a:endParaRPr lang="en-US"/>
              </a:p>
            </p:txBody>
          </p:sp>
          <p:sp>
            <p:nvSpPr>
              <p:cNvPr id="95434" name="Rectangle 110"/>
              <p:cNvSpPr>
                <a:spLocks noChangeArrowheads="1"/>
              </p:cNvSpPr>
              <p:nvPr/>
            </p:nvSpPr>
            <p:spPr bwMode="auto">
              <a:xfrm>
                <a:off x="1176" y="1668"/>
                <a:ext cx="285" cy="95"/>
              </a:xfrm>
              <a:prstGeom prst="rect">
                <a:avLst/>
              </a:prstGeom>
              <a:noFill/>
              <a:ln w="9525">
                <a:noFill/>
                <a:miter lim="800000"/>
                <a:headEnd/>
                <a:tailEnd/>
              </a:ln>
            </p:spPr>
            <p:txBody>
              <a:bodyPr wrap="none" lIns="0" tIns="0" rIns="0" bIns="0">
                <a:spAutoFit/>
              </a:bodyPr>
              <a:lstStyle/>
              <a:p>
                <a:r>
                  <a:rPr lang="en-US" sz="600">
                    <a:solidFill>
                      <a:srgbClr val="000000"/>
                    </a:solidFill>
                  </a:rPr>
                  <a:t>Analysis</a:t>
                </a:r>
                <a:endParaRPr lang="en-US"/>
              </a:p>
            </p:txBody>
          </p:sp>
          <p:sp>
            <p:nvSpPr>
              <p:cNvPr id="95435" name="Rectangle 111"/>
              <p:cNvSpPr>
                <a:spLocks noChangeArrowheads="1"/>
              </p:cNvSpPr>
              <p:nvPr/>
            </p:nvSpPr>
            <p:spPr bwMode="auto">
              <a:xfrm>
                <a:off x="2174" y="1050"/>
                <a:ext cx="513" cy="340"/>
              </a:xfrm>
              <a:prstGeom prst="rect">
                <a:avLst/>
              </a:prstGeom>
              <a:solidFill>
                <a:srgbClr val="E8EEF7"/>
              </a:solidFill>
              <a:ln w="9525">
                <a:noFill/>
                <a:miter lim="800000"/>
                <a:headEnd/>
                <a:tailEnd/>
              </a:ln>
            </p:spPr>
            <p:txBody>
              <a:bodyPr/>
              <a:lstStyle/>
              <a:p>
                <a:endParaRPr lang="en-US"/>
              </a:p>
            </p:txBody>
          </p:sp>
          <p:sp>
            <p:nvSpPr>
              <p:cNvPr id="95436" name="Rectangle 112"/>
              <p:cNvSpPr>
                <a:spLocks noChangeArrowheads="1"/>
              </p:cNvSpPr>
              <p:nvPr/>
            </p:nvSpPr>
            <p:spPr bwMode="auto">
              <a:xfrm>
                <a:off x="2174" y="1050"/>
                <a:ext cx="513" cy="340"/>
              </a:xfrm>
              <a:prstGeom prst="rect">
                <a:avLst/>
              </a:prstGeom>
              <a:noFill/>
              <a:ln w="0">
                <a:solidFill>
                  <a:srgbClr val="000000"/>
                </a:solidFill>
                <a:miter lim="800000"/>
                <a:headEnd/>
                <a:tailEnd/>
              </a:ln>
            </p:spPr>
            <p:txBody>
              <a:bodyPr/>
              <a:lstStyle/>
              <a:p>
                <a:endParaRPr lang="en-US"/>
              </a:p>
            </p:txBody>
          </p:sp>
          <p:sp>
            <p:nvSpPr>
              <p:cNvPr id="95437" name="Rectangle 113"/>
              <p:cNvSpPr>
                <a:spLocks noChangeArrowheads="1"/>
              </p:cNvSpPr>
              <p:nvPr/>
            </p:nvSpPr>
            <p:spPr bwMode="auto">
              <a:xfrm>
                <a:off x="2281" y="1158"/>
                <a:ext cx="421" cy="95"/>
              </a:xfrm>
              <a:prstGeom prst="rect">
                <a:avLst/>
              </a:prstGeom>
              <a:noFill/>
              <a:ln w="9525">
                <a:noFill/>
                <a:miter lim="800000"/>
                <a:headEnd/>
                <a:tailEnd/>
              </a:ln>
            </p:spPr>
            <p:txBody>
              <a:bodyPr wrap="none" lIns="0" tIns="0" rIns="0" bIns="0">
                <a:spAutoFit/>
              </a:bodyPr>
              <a:lstStyle/>
              <a:p>
                <a:r>
                  <a:rPr lang="en-US" sz="600">
                    <a:solidFill>
                      <a:srgbClr val="000000"/>
                    </a:solidFill>
                  </a:rPr>
                  <a:t>Update Risk </a:t>
                </a:r>
                <a:endParaRPr lang="en-US"/>
              </a:p>
            </p:txBody>
          </p:sp>
          <p:sp>
            <p:nvSpPr>
              <p:cNvPr id="95438" name="Rectangle 114"/>
              <p:cNvSpPr>
                <a:spLocks noChangeArrowheads="1"/>
              </p:cNvSpPr>
              <p:nvPr/>
            </p:nvSpPr>
            <p:spPr bwMode="auto">
              <a:xfrm>
                <a:off x="2203" y="1214"/>
                <a:ext cx="556" cy="95"/>
              </a:xfrm>
              <a:prstGeom prst="rect">
                <a:avLst/>
              </a:prstGeom>
              <a:noFill/>
              <a:ln w="9525">
                <a:noFill/>
                <a:miter lim="800000"/>
                <a:headEnd/>
                <a:tailEnd/>
              </a:ln>
            </p:spPr>
            <p:txBody>
              <a:bodyPr wrap="none" lIns="0" tIns="0" rIns="0" bIns="0">
                <a:spAutoFit/>
              </a:bodyPr>
              <a:lstStyle/>
              <a:p>
                <a:r>
                  <a:rPr lang="en-US" sz="600">
                    <a:solidFill>
                      <a:srgbClr val="000000"/>
                    </a:solidFill>
                  </a:rPr>
                  <a:t>Management Plan</a:t>
                </a:r>
                <a:endParaRPr lang="en-US"/>
              </a:p>
            </p:txBody>
          </p:sp>
          <p:sp>
            <p:nvSpPr>
              <p:cNvPr id="95439" name="Rectangle 115"/>
              <p:cNvSpPr>
                <a:spLocks noChangeArrowheads="1"/>
              </p:cNvSpPr>
              <p:nvPr/>
            </p:nvSpPr>
            <p:spPr bwMode="auto">
              <a:xfrm>
                <a:off x="2937" y="1050"/>
                <a:ext cx="513" cy="340"/>
              </a:xfrm>
              <a:prstGeom prst="rect">
                <a:avLst/>
              </a:prstGeom>
              <a:solidFill>
                <a:srgbClr val="E8EEF7"/>
              </a:solidFill>
              <a:ln w="9525">
                <a:noFill/>
                <a:miter lim="800000"/>
                <a:headEnd/>
                <a:tailEnd/>
              </a:ln>
            </p:spPr>
            <p:txBody>
              <a:bodyPr/>
              <a:lstStyle/>
              <a:p>
                <a:endParaRPr lang="en-US"/>
              </a:p>
            </p:txBody>
          </p:sp>
          <p:sp>
            <p:nvSpPr>
              <p:cNvPr id="95440" name="Rectangle 116"/>
              <p:cNvSpPr>
                <a:spLocks noChangeArrowheads="1"/>
              </p:cNvSpPr>
              <p:nvPr/>
            </p:nvSpPr>
            <p:spPr bwMode="auto">
              <a:xfrm>
                <a:off x="2937" y="1050"/>
                <a:ext cx="513" cy="340"/>
              </a:xfrm>
              <a:prstGeom prst="rect">
                <a:avLst/>
              </a:prstGeom>
              <a:noFill/>
              <a:ln w="0">
                <a:solidFill>
                  <a:srgbClr val="000000"/>
                </a:solidFill>
                <a:miter lim="800000"/>
                <a:headEnd/>
                <a:tailEnd/>
              </a:ln>
            </p:spPr>
            <p:txBody>
              <a:bodyPr/>
              <a:lstStyle/>
              <a:p>
                <a:endParaRPr lang="en-US"/>
              </a:p>
            </p:txBody>
          </p:sp>
          <p:sp>
            <p:nvSpPr>
              <p:cNvPr id="95441" name="Rectangle 117"/>
              <p:cNvSpPr>
                <a:spLocks noChangeArrowheads="1"/>
              </p:cNvSpPr>
              <p:nvPr/>
            </p:nvSpPr>
            <p:spPr bwMode="auto">
              <a:xfrm>
                <a:off x="3087" y="1158"/>
                <a:ext cx="299" cy="95"/>
              </a:xfrm>
              <a:prstGeom prst="rect">
                <a:avLst/>
              </a:prstGeom>
              <a:noFill/>
              <a:ln w="9525">
                <a:noFill/>
                <a:miter lim="800000"/>
                <a:headEnd/>
                <a:tailEnd/>
              </a:ln>
            </p:spPr>
            <p:txBody>
              <a:bodyPr wrap="none" lIns="0" tIns="0" rIns="0" bIns="0">
                <a:spAutoFit/>
              </a:bodyPr>
              <a:lstStyle/>
              <a:p>
                <a:r>
                  <a:rPr lang="en-US" sz="600">
                    <a:solidFill>
                      <a:srgbClr val="000000"/>
                    </a:solidFill>
                  </a:rPr>
                  <a:t>Baseline </a:t>
                </a:r>
                <a:endParaRPr lang="en-US"/>
              </a:p>
            </p:txBody>
          </p:sp>
          <p:sp>
            <p:nvSpPr>
              <p:cNvPr id="95442" name="Rectangle 118"/>
              <p:cNvSpPr>
                <a:spLocks noChangeArrowheads="1"/>
              </p:cNvSpPr>
              <p:nvPr/>
            </p:nvSpPr>
            <p:spPr bwMode="auto">
              <a:xfrm>
                <a:off x="3030" y="1214"/>
                <a:ext cx="406" cy="95"/>
              </a:xfrm>
              <a:prstGeom prst="rect">
                <a:avLst/>
              </a:prstGeom>
              <a:noFill/>
              <a:ln w="9525">
                <a:noFill/>
                <a:miter lim="800000"/>
                <a:headEnd/>
                <a:tailEnd/>
              </a:ln>
            </p:spPr>
            <p:txBody>
              <a:bodyPr wrap="none" lIns="0" tIns="0" rIns="0" bIns="0">
                <a:spAutoFit/>
              </a:bodyPr>
              <a:lstStyle/>
              <a:p>
                <a:r>
                  <a:rPr lang="en-US" sz="600">
                    <a:solidFill>
                      <a:srgbClr val="000000"/>
                    </a:solidFill>
                  </a:rPr>
                  <a:t>Management</a:t>
                </a:r>
                <a:endParaRPr lang="en-US"/>
              </a:p>
            </p:txBody>
          </p:sp>
          <p:sp>
            <p:nvSpPr>
              <p:cNvPr id="95443" name="Freeform 119"/>
              <p:cNvSpPr>
                <a:spLocks/>
              </p:cNvSpPr>
              <p:nvPr/>
            </p:nvSpPr>
            <p:spPr bwMode="auto">
              <a:xfrm>
                <a:off x="3707" y="1050"/>
                <a:ext cx="506" cy="340"/>
              </a:xfrm>
              <a:custGeom>
                <a:avLst/>
                <a:gdLst>
                  <a:gd name="T0" fmla="*/ 0 w 506"/>
                  <a:gd name="T1" fmla="*/ 303 h 340"/>
                  <a:gd name="T2" fmla="*/ 0 w 506"/>
                  <a:gd name="T3" fmla="*/ 0 h 340"/>
                  <a:gd name="T4" fmla="*/ 506 w 506"/>
                  <a:gd name="T5" fmla="*/ 0 h 340"/>
                  <a:gd name="T6" fmla="*/ 506 w 506"/>
                  <a:gd name="T7" fmla="*/ 303 h 340"/>
                  <a:gd name="T8" fmla="*/ 449 w 506"/>
                  <a:gd name="T9" fmla="*/ 277 h 340"/>
                  <a:gd name="T10" fmla="*/ 378 w 506"/>
                  <a:gd name="T11" fmla="*/ 265 h 340"/>
                  <a:gd name="T12" fmla="*/ 314 w 506"/>
                  <a:gd name="T13" fmla="*/ 277 h 340"/>
                  <a:gd name="T14" fmla="*/ 250 w 506"/>
                  <a:gd name="T15" fmla="*/ 303 h 340"/>
                  <a:gd name="T16" fmla="*/ 193 w 506"/>
                  <a:gd name="T17" fmla="*/ 334 h 340"/>
                  <a:gd name="T18" fmla="*/ 128 w 506"/>
                  <a:gd name="T19" fmla="*/ 340 h 340"/>
                  <a:gd name="T20" fmla="*/ 57 w 506"/>
                  <a:gd name="T21" fmla="*/ 334 h 340"/>
                  <a:gd name="T22" fmla="*/ 0 w 506"/>
                  <a:gd name="T23" fmla="*/ 303 h 340"/>
                  <a:gd name="T24" fmla="*/ 0 w 506"/>
                  <a:gd name="T25" fmla="*/ 303 h 3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0"/>
                  <a:gd name="T41" fmla="*/ 506 w 506"/>
                  <a:gd name="T42" fmla="*/ 340 h 3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0">
                    <a:moveTo>
                      <a:pt x="0" y="303"/>
                    </a:moveTo>
                    <a:lnTo>
                      <a:pt x="0" y="0"/>
                    </a:lnTo>
                    <a:lnTo>
                      <a:pt x="506" y="0"/>
                    </a:lnTo>
                    <a:lnTo>
                      <a:pt x="506" y="303"/>
                    </a:lnTo>
                    <a:lnTo>
                      <a:pt x="449" y="277"/>
                    </a:lnTo>
                    <a:lnTo>
                      <a:pt x="378" y="265"/>
                    </a:lnTo>
                    <a:lnTo>
                      <a:pt x="314" y="277"/>
                    </a:lnTo>
                    <a:lnTo>
                      <a:pt x="250" y="303"/>
                    </a:lnTo>
                    <a:lnTo>
                      <a:pt x="193" y="334"/>
                    </a:lnTo>
                    <a:lnTo>
                      <a:pt x="128" y="340"/>
                    </a:lnTo>
                    <a:lnTo>
                      <a:pt x="57" y="334"/>
                    </a:lnTo>
                    <a:lnTo>
                      <a:pt x="0" y="303"/>
                    </a:lnTo>
                    <a:close/>
                  </a:path>
                </a:pathLst>
              </a:custGeom>
              <a:solidFill>
                <a:srgbClr val="E8EEF7"/>
              </a:solidFill>
              <a:ln w="9525">
                <a:noFill/>
                <a:round/>
                <a:headEnd/>
                <a:tailEnd/>
              </a:ln>
            </p:spPr>
            <p:txBody>
              <a:bodyPr/>
              <a:lstStyle/>
              <a:p>
                <a:endParaRPr lang="en-US"/>
              </a:p>
            </p:txBody>
          </p:sp>
          <p:sp>
            <p:nvSpPr>
              <p:cNvPr id="95444" name="Freeform 120"/>
              <p:cNvSpPr>
                <a:spLocks/>
              </p:cNvSpPr>
              <p:nvPr/>
            </p:nvSpPr>
            <p:spPr bwMode="auto">
              <a:xfrm>
                <a:off x="3707" y="1050"/>
                <a:ext cx="506" cy="340"/>
              </a:xfrm>
              <a:custGeom>
                <a:avLst/>
                <a:gdLst>
                  <a:gd name="T0" fmla="*/ 0 w 506"/>
                  <a:gd name="T1" fmla="*/ 303 h 340"/>
                  <a:gd name="T2" fmla="*/ 0 w 506"/>
                  <a:gd name="T3" fmla="*/ 0 h 340"/>
                  <a:gd name="T4" fmla="*/ 506 w 506"/>
                  <a:gd name="T5" fmla="*/ 0 h 340"/>
                  <a:gd name="T6" fmla="*/ 506 w 506"/>
                  <a:gd name="T7" fmla="*/ 303 h 340"/>
                  <a:gd name="T8" fmla="*/ 449 w 506"/>
                  <a:gd name="T9" fmla="*/ 277 h 340"/>
                  <a:gd name="T10" fmla="*/ 378 w 506"/>
                  <a:gd name="T11" fmla="*/ 265 h 340"/>
                  <a:gd name="T12" fmla="*/ 314 w 506"/>
                  <a:gd name="T13" fmla="*/ 277 h 340"/>
                  <a:gd name="T14" fmla="*/ 250 w 506"/>
                  <a:gd name="T15" fmla="*/ 303 h 340"/>
                  <a:gd name="T16" fmla="*/ 193 w 506"/>
                  <a:gd name="T17" fmla="*/ 334 h 340"/>
                  <a:gd name="T18" fmla="*/ 128 w 506"/>
                  <a:gd name="T19" fmla="*/ 340 h 340"/>
                  <a:gd name="T20" fmla="*/ 57 w 506"/>
                  <a:gd name="T21" fmla="*/ 334 h 340"/>
                  <a:gd name="T22" fmla="*/ 0 w 506"/>
                  <a:gd name="T23" fmla="*/ 303 h 340"/>
                  <a:gd name="T24" fmla="*/ 0 w 506"/>
                  <a:gd name="T25" fmla="*/ 303 h 3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0"/>
                  <a:gd name="T41" fmla="*/ 506 w 506"/>
                  <a:gd name="T42" fmla="*/ 340 h 3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0">
                    <a:moveTo>
                      <a:pt x="0" y="303"/>
                    </a:moveTo>
                    <a:lnTo>
                      <a:pt x="0" y="0"/>
                    </a:lnTo>
                    <a:lnTo>
                      <a:pt x="506" y="0"/>
                    </a:lnTo>
                    <a:lnTo>
                      <a:pt x="506" y="303"/>
                    </a:lnTo>
                    <a:lnTo>
                      <a:pt x="449" y="277"/>
                    </a:lnTo>
                    <a:lnTo>
                      <a:pt x="378" y="265"/>
                    </a:lnTo>
                    <a:lnTo>
                      <a:pt x="314" y="277"/>
                    </a:lnTo>
                    <a:lnTo>
                      <a:pt x="250" y="303"/>
                    </a:lnTo>
                    <a:lnTo>
                      <a:pt x="193" y="334"/>
                    </a:lnTo>
                    <a:lnTo>
                      <a:pt x="128" y="340"/>
                    </a:lnTo>
                    <a:lnTo>
                      <a:pt x="57" y="334"/>
                    </a:lnTo>
                    <a:lnTo>
                      <a:pt x="0" y="303"/>
                    </a:lnTo>
                  </a:path>
                </a:pathLst>
              </a:custGeom>
              <a:noFill/>
              <a:ln w="0">
                <a:solidFill>
                  <a:srgbClr val="000000"/>
                </a:solidFill>
                <a:prstDash val="solid"/>
                <a:round/>
                <a:headEnd/>
                <a:tailEnd/>
              </a:ln>
            </p:spPr>
            <p:txBody>
              <a:bodyPr/>
              <a:lstStyle/>
              <a:p>
                <a:endParaRPr lang="en-US"/>
              </a:p>
            </p:txBody>
          </p:sp>
          <p:sp>
            <p:nvSpPr>
              <p:cNvPr id="95445" name="Rectangle 121"/>
              <p:cNvSpPr>
                <a:spLocks noChangeArrowheads="1"/>
              </p:cNvSpPr>
              <p:nvPr/>
            </p:nvSpPr>
            <p:spPr bwMode="auto">
              <a:xfrm>
                <a:off x="3728" y="1120"/>
                <a:ext cx="128" cy="95"/>
              </a:xfrm>
              <a:prstGeom prst="rect">
                <a:avLst/>
              </a:prstGeom>
              <a:noFill/>
              <a:ln w="9525">
                <a:noFill/>
                <a:miter lim="800000"/>
                <a:headEnd/>
                <a:tailEnd/>
              </a:ln>
            </p:spPr>
            <p:txBody>
              <a:bodyPr wrap="none" lIns="0" tIns="0" rIns="0" bIns="0">
                <a:spAutoFit/>
              </a:bodyPr>
              <a:lstStyle/>
              <a:p>
                <a:r>
                  <a:rPr lang="en-US" sz="600">
                    <a:solidFill>
                      <a:srgbClr val="000000"/>
                    </a:solidFill>
                  </a:rPr>
                  <a:t>CD</a:t>
                </a:r>
                <a:endParaRPr lang="en-US"/>
              </a:p>
            </p:txBody>
          </p:sp>
          <p:sp>
            <p:nvSpPr>
              <p:cNvPr id="95446" name="Rectangle 122"/>
              <p:cNvSpPr>
                <a:spLocks noChangeArrowheads="1"/>
              </p:cNvSpPr>
              <p:nvPr/>
            </p:nvSpPr>
            <p:spPr bwMode="auto">
              <a:xfrm>
                <a:off x="3814" y="1120"/>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47" name="Rectangle 123"/>
              <p:cNvSpPr>
                <a:spLocks noChangeArrowheads="1"/>
              </p:cNvSpPr>
              <p:nvPr/>
            </p:nvSpPr>
            <p:spPr bwMode="auto">
              <a:xfrm>
                <a:off x="3828" y="1120"/>
                <a:ext cx="86" cy="95"/>
              </a:xfrm>
              <a:prstGeom prst="rect">
                <a:avLst/>
              </a:prstGeom>
              <a:noFill/>
              <a:ln w="9525">
                <a:noFill/>
                <a:miter lim="800000"/>
                <a:headEnd/>
                <a:tailEnd/>
              </a:ln>
            </p:spPr>
            <p:txBody>
              <a:bodyPr wrap="none" lIns="0" tIns="0" rIns="0" bIns="0">
                <a:spAutoFit/>
              </a:bodyPr>
              <a:lstStyle/>
              <a:p>
                <a:r>
                  <a:rPr lang="en-US" sz="600">
                    <a:solidFill>
                      <a:srgbClr val="000000"/>
                    </a:solidFill>
                  </a:rPr>
                  <a:t>3 </a:t>
                </a:r>
                <a:endParaRPr lang="en-US"/>
              </a:p>
            </p:txBody>
          </p:sp>
          <p:sp>
            <p:nvSpPr>
              <p:cNvPr id="95448" name="Rectangle 124"/>
              <p:cNvSpPr>
                <a:spLocks noChangeArrowheads="1"/>
              </p:cNvSpPr>
              <p:nvPr/>
            </p:nvSpPr>
            <p:spPr bwMode="auto">
              <a:xfrm>
                <a:off x="3878" y="1120"/>
                <a:ext cx="421" cy="95"/>
              </a:xfrm>
              <a:prstGeom prst="rect">
                <a:avLst/>
              </a:prstGeom>
              <a:noFill/>
              <a:ln w="9525">
                <a:noFill/>
                <a:miter lim="800000"/>
                <a:headEnd/>
                <a:tailEnd/>
              </a:ln>
            </p:spPr>
            <p:txBody>
              <a:bodyPr wrap="none" lIns="0" tIns="0" rIns="0" bIns="0">
                <a:spAutoFit/>
              </a:bodyPr>
              <a:lstStyle/>
              <a:p>
                <a:r>
                  <a:rPr lang="en-US" sz="600">
                    <a:solidFill>
                      <a:srgbClr val="000000"/>
                    </a:solidFill>
                  </a:rPr>
                  <a:t>Final Design </a:t>
                </a:r>
                <a:endParaRPr lang="en-US"/>
              </a:p>
            </p:txBody>
          </p:sp>
          <p:sp>
            <p:nvSpPr>
              <p:cNvPr id="95449" name="Rectangle 125"/>
              <p:cNvSpPr>
                <a:spLocks noChangeArrowheads="1"/>
              </p:cNvSpPr>
              <p:nvPr/>
            </p:nvSpPr>
            <p:spPr bwMode="auto">
              <a:xfrm>
                <a:off x="3850" y="1177"/>
                <a:ext cx="285" cy="95"/>
              </a:xfrm>
              <a:prstGeom prst="rect">
                <a:avLst/>
              </a:prstGeom>
              <a:noFill/>
              <a:ln w="9525">
                <a:noFill/>
                <a:miter lim="800000"/>
                <a:headEnd/>
                <a:tailEnd/>
              </a:ln>
            </p:spPr>
            <p:txBody>
              <a:bodyPr wrap="none" lIns="0" tIns="0" rIns="0" bIns="0">
                <a:spAutoFit/>
              </a:bodyPr>
              <a:lstStyle/>
              <a:p>
                <a:r>
                  <a:rPr lang="en-US" sz="600">
                    <a:solidFill>
                      <a:srgbClr val="000000"/>
                    </a:solidFill>
                  </a:rPr>
                  <a:t>Package</a:t>
                </a:r>
                <a:endParaRPr lang="en-US"/>
              </a:p>
            </p:txBody>
          </p:sp>
          <p:sp>
            <p:nvSpPr>
              <p:cNvPr id="95450" name="Rectangle 126"/>
              <p:cNvSpPr>
                <a:spLocks noChangeArrowheads="1"/>
              </p:cNvSpPr>
              <p:nvPr/>
            </p:nvSpPr>
            <p:spPr bwMode="auto">
              <a:xfrm>
                <a:off x="1411" y="2430"/>
                <a:ext cx="514" cy="341"/>
              </a:xfrm>
              <a:prstGeom prst="rect">
                <a:avLst/>
              </a:prstGeom>
              <a:solidFill>
                <a:srgbClr val="CCFFCC"/>
              </a:solidFill>
              <a:ln w="9525">
                <a:noFill/>
                <a:miter lim="800000"/>
                <a:headEnd/>
                <a:tailEnd/>
              </a:ln>
            </p:spPr>
            <p:txBody>
              <a:bodyPr/>
              <a:lstStyle/>
              <a:p>
                <a:endParaRPr lang="en-US"/>
              </a:p>
            </p:txBody>
          </p:sp>
          <p:sp>
            <p:nvSpPr>
              <p:cNvPr id="95451" name="Rectangle 127"/>
              <p:cNvSpPr>
                <a:spLocks noChangeArrowheads="1"/>
              </p:cNvSpPr>
              <p:nvPr/>
            </p:nvSpPr>
            <p:spPr bwMode="auto">
              <a:xfrm>
                <a:off x="1411" y="2430"/>
                <a:ext cx="514" cy="341"/>
              </a:xfrm>
              <a:prstGeom prst="rect">
                <a:avLst/>
              </a:prstGeom>
              <a:noFill/>
              <a:ln w="0">
                <a:solidFill>
                  <a:srgbClr val="CCFFCC"/>
                </a:solidFill>
                <a:miter lim="800000"/>
                <a:headEnd/>
                <a:tailEnd/>
              </a:ln>
            </p:spPr>
            <p:txBody>
              <a:bodyPr/>
              <a:lstStyle/>
              <a:p>
                <a:endParaRPr lang="en-US"/>
              </a:p>
            </p:txBody>
          </p:sp>
          <p:sp>
            <p:nvSpPr>
              <p:cNvPr id="95452" name="Rectangle 128"/>
              <p:cNvSpPr>
                <a:spLocks noChangeArrowheads="1"/>
              </p:cNvSpPr>
              <p:nvPr/>
            </p:nvSpPr>
            <p:spPr bwMode="auto">
              <a:xfrm>
                <a:off x="1468" y="2443"/>
                <a:ext cx="513" cy="95"/>
              </a:xfrm>
              <a:prstGeom prst="rect">
                <a:avLst/>
              </a:prstGeom>
              <a:noFill/>
              <a:ln w="9525">
                <a:noFill/>
                <a:miter lim="800000"/>
                <a:headEnd/>
                <a:tailEnd/>
              </a:ln>
            </p:spPr>
            <p:txBody>
              <a:bodyPr wrap="none" lIns="0" tIns="0" rIns="0" bIns="0">
                <a:spAutoFit/>
              </a:bodyPr>
              <a:lstStyle/>
              <a:p>
                <a:r>
                  <a:rPr lang="en-US" sz="600">
                    <a:solidFill>
                      <a:srgbClr val="000000"/>
                    </a:solidFill>
                  </a:rPr>
                  <a:t>Validate Design </a:t>
                </a:r>
                <a:endParaRPr lang="en-US"/>
              </a:p>
            </p:txBody>
          </p:sp>
          <p:sp>
            <p:nvSpPr>
              <p:cNvPr id="95453" name="Rectangle 129"/>
              <p:cNvSpPr>
                <a:spLocks noChangeArrowheads="1"/>
              </p:cNvSpPr>
              <p:nvPr/>
            </p:nvSpPr>
            <p:spPr bwMode="auto">
              <a:xfrm>
                <a:off x="1525" y="2506"/>
                <a:ext cx="107" cy="95"/>
              </a:xfrm>
              <a:prstGeom prst="rect">
                <a:avLst/>
              </a:prstGeom>
              <a:noFill/>
              <a:ln w="9525">
                <a:noFill/>
                <a:miter lim="800000"/>
                <a:headEnd/>
                <a:tailEnd/>
              </a:ln>
            </p:spPr>
            <p:txBody>
              <a:bodyPr wrap="none" lIns="0" tIns="0" rIns="0" bIns="0">
                <a:spAutoFit/>
              </a:bodyPr>
              <a:lstStyle/>
              <a:p>
                <a:r>
                  <a:rPr lang="en-US" sz="600">
                    <a:solidFill>
                      <a:srgbClr val="000000"/>
                    </a:solidFill>
                  </a:rPr>
                  <a:t>vs</a:t>
                </a:r>
                <a:endParaRPr lang="en-US"/>
              </a:p>
            </p:txBody>
          </p:sp>
          <p:sp>
            <p:nvSpPr>
              <p:cNvPr id="95454" name="Rectangle 130"/>
              <p:cNvSpPr>
                <a:spLocks noChangeArrowheads="1"/>
              </p:cNvSpPr>
              <p:nvPr/>
            </p:nvSpPr>
            <p:spPr bwMode="auto">
              <a:xfrm>
                <a:off x="1582" y="2506"/>
                <a:ext cx="71" cy="95"/>
              </a:xfrm>
              <a:prstGeom prst="rect">
                <a:avLst/>
              </a:prstGeom>
              <a:noFill/>
              <a:ln w="9525">
                <a:noFill/>
                <a:miter lim="800000"/>
                <a:headEnd/>
                <a:tailEnd/>
              </a:ln>
            </p:spPr>
            <p:txBody>
              <a:bodyPr wrap="none" lIns="0" tIns="0" rIns="0" bIns="0">
                <a:spAutoFit/>
              </a:bodyPr>
              <a:lstStyle/>
              <a:p>
                <a:r>
                  <a:rPr lang="en-US" sz="600">
                    <a:solidFill>
                      <a:srgbClr val="000000"/>
                    </a:solidFill>
                  </a:rPr>
                  <a:t>. </a:t>
                </a:r>
                <a:endParaRPr lang="en-US"/>
              </a:p>
            </p:txBody>
          </p:sp>
          <p:sp>
            <p:nvSpPr>
              <p:cNvPr id="95455" name="Rectangle 131"/>
              <p:cNvSpPr>
                <a:spLocks noChangeArrowheads="1"/>
              </p:cNvSpPr>
              <p:nvPr/>
            </p:nvSpPr>
            <p:spPr bwMode="auto">
              <a:xfrm>
                <a:off x="1611" y="2506"/>
                <a:ext cx="278" cy="95"/>
              </a:xfrm>
              <a:prstGeom prst="rect">
                <a:avLst/>
              </a:prstGeom>
              <a:noFill/>
              <a:ln w="9525">
                <a:noFill/>
                <a:miter lim="800000"/>
                <a:headEnd/>
                <a:tailEnd/>
              </a:ln>
            </p:spPr>
            <p:txBody>
              <a:bodyPr wrap="none" lIns="0" tIns="0" rIns="0" bIns="0">
                <a:spAutoFit/>
              </a:bodyPr>
              <a:lstStyle/>
              <a:p>
                <a:r>
                  <a:rPr lang="en-US" sz="600">
                    <a:solidFill>
                      <a:srgbClr val="000000"/>
                    </a:solidFill>
                  </a:rPr>
                  <a:t>Desired </a:t>
                </a:r>
                <a:endParaRPr lang="en-US"/>
              </a:p>
            </p:txBody>
          </p:sp>
          <p:sp>
            <p:nvSpPr>
              <p:cNvPr id="95456" name="Rectangle 132"/>
              <p:cNvSpPr>
                <a:spLocks noChangeArrowheads="1"/>
              </p:cNvSpPr>
              <p:nvPr/>
            </p:nvSpPr>
            <p:spPr bwMode="auto">
              <a:xfrm>
                <a:off x="1447" y="2563"/>
                <a:ext cx="578" cy="95"/>
              </a:xfrm>
              <a:prstGeom prst="rect">
                <a:avLst/>
              </a:prstGeom>
              <a:noFill/>
              <a:ln w="9525">
                <a:noFill/>
                <a:miter lim="800000"/>
                <a:headEnd/>
                <a:tailEnd/>
              </a:ln>
            </p:spPr>
            <p:txBody>
              <a:bodyPr wrap="none" lIns="0" tIns="0" rIns="0" bIns="0">
                <a:spAutoFit/>
              </a:bodyPr>
              <a:lstStyle/>
              <a:p>
                <a:r>
                  <a:rPr lang="en-US" sz="600">
                    <a:solidFill>
                      <a:srgbClr val="000000"/>
                    </a:solidFill>
                  </a:rPr>
                  <a:t>Control Functions </a:t>
                </a:r>
                <a:endParaRPr lang="en-US"/>
              </a:p>
            </p:txBody>
          </p:sp>
          <p:sp>
            <p:nvSpPr>
              <p:cNvPr id="95457" name="Rectangle 133"/>
              <p:cNvSpPr>
                <a:spLocks noChangeArrowheads="1"/>
              </p:cNvSpPr>
              <p:nvPr/>
            </p:nvSpPr>
            <p:spPr bwMode="auto">
              <a:xfrm>
                <a:off x="1554" y="2626"/>
                <a:ext cx="93" cy="95"/>
              </a:xfrm>
              <a:prstGeom prst="rect">
                <a:avLst/>
              </a:prstGeom>
              <a:noFill/>
              <a:ln w="9525">
                <a:noFill/>
                <a:miter lim="800000"/>
                <a:headEnd/>
                <a:tailEnd/>
              </a:ln>
            </p:spPr>
            <p:txBody>
              <a:bodyPr wrap="none" lIns="0" tIns="0" rIns="0" bIns="0">
                <a:spAutoFit/>
              </a:bodyPr>
              <a:lstStyle/>
              <a:p>
                <a:r>
                  <a:rPr lang="en-US" sz="600">
                    <a:solidFill>
                      <a:srgbClr val="000000"/>
                    </a:solidFill>
                  </a:rPr>
                  <a:t>&amp; </a:t>
                </a:r>
                <a:endParaRPr lang="en-US"/>
              </a:p>
            </p:txBody>
          </p:sp>
          <p:sp>
            <p:nvSpPr>
              <p:cNvPr id="95458" name="Rectangle 134"/>
              <p:cNvSpPr>
                <a:spLocks noChangeArrowheads="1"/>
              </p:cNvSpPr>
              <p:nvPr/>
            </p:nvSpPr>
            <p:spPr bwMode="auto">
              <a:xfrm>
                <a:off x="1604" y="2626"/>
                <a:ext cx="242" cy="95"/>
              </a:xfrm>
              <a:prstGeom prst="rect">
                <a:avLst/>
              </a:prstGeom>
              <a:noFill/>
              <a:ln w="9525">
                <a:noFill/>
                <a:miter lim="800000"/>
                <a:headEnd/>
                <a:tailEnd/>
              </a:ln>
            </p:spPr>
            <p:txBody>
              <a:bodyPr wrap="none" lIns="0" tIns="0" rIns="0" bIns="0">
                <a:spAutoFit/>
              </a:bodyPr>
              <a:lstStyle/>
              <a:p>
                <a:r>
                  <a:rPr lang="en-US" sz="600">
                    <a:solidFill>
                      <a:srgbClr val="000000"/>
                    </a:solidFill>
                  </a:rPr>
                  <a:t>Criteria</a:t>
                </a:r>
                <a:endParaRPr lang="en-US"/>
              </a:p>
            </p:txBody>
          </p:sp>
          <p:sp>
            <p:nvSpPr>
              <p:cNvPr id="95459" name="Rectangle 135"/>
              <p:cNvSpPr>
                <a:spLocks noChangeArrowheads="1"/>
              </p:cNvSpPr>
              <p:nvPr/>
            </p:nvSpPr>
            <p:spPr bwMode="auto">
              <a:xfrm>
                <a:off x="1625" y="2689"/>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3</a:t>
                </a:r>
                <a:endParaRPr lang="en-US"/>
              </a:p>
            </p:txBody>
          </p:sp>
          <p:sp>
            <p:nvSpPr>
              <p:cNvPr id="95460" name="Rectangle 136"/>
              <p:cNvSpPr>
                <a:spLocks noChangeArrowheads="1"/>
              </p:cNvSpPr>
              <p:nvPr/>
            </p:nvSpPr>
            <p:spPr bwMode="auto">
              <a:xfrm>
                <a:off x="1654" y="2689"/>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61" name="Rectangle 137"/>
              <p:cNvSpPr>
                <a:spLocks noChangeArrowheads="1"/>
              </p:cNvSpPr>
              <p:nvPr/>
            </p:nvSpPr>
            <p:spPr bwMode="auto">
              <a:xfrm>
                <a:off x="1675" y="2689"/>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462" name="Rectangle 138"/>
              <p:cNvSpPr>
                <a:spLocks noChangeArrowheads="1"/>
              </p:cNvSpPr>
              <p:nvPr/>
            </p:nvSpPr>
            <p:spPr bwMode="auto">
              <a:xfrm>
                <a:off x="3415" y="2311"/>
                <a:ext cx="506" cy="340"/>
              </a:xfrm>
              <a:prstGeom prst="rect">
                <a:avLst/>
              </a:prstGeom>
              <a:solidFill>
                <a:srgbClr val="CCFFCC"/>
              </a:solidFill>
              <a:ln w="9525">
                <a:noFill/>
                <a:miter lim="800000"/>
                <a:headEnd/>
                <a:tailEnd/>
              </a:ln>
            </p:spPr>
            <p:txBody>
              <a:bodyPr/>
              <a:lstStyle/>
              <a:p>
                <a:endParaRPr lang="en-US"/>
              </a:p>
            </p:txBody>
          </p:sp>
          <p:sp>
            <p:nvSpPr>
              <p:cNvPr id="95463" name="Rectangle 139"/>
              <p:cNvSpPr>
                <a:spLocks noChangeArrowheads="1"/>
              </p:cNvSpPr>
              <p:nvPr/>
            </p:nvSpPr>
            <p:spPr bwMode="auto">
              <a:xfrm>
                <a:off x="3415" y="2311"/>
                <a:ext cx="506" cy="340"/>
              </a:xfrm>
              <a:prstGeom prst="rect">
                <a:avLst/>
              </a:prstGeom>
              <a:noFill/>
              <a:ln w="0">
                <a:solidFill>
                  <a:srgbClr val="000000"/>
                </a:solidFill>
                <a:miter lim="800000"/>
                <a:headEnd/>
                <a:tailEnd/>
              </a:ln>
            </p:spPr>
            <p:txBody>
              <a:bodyPr/>
              <a:lstStyle/>
              <a:p>
                <a:endParaRPr lang="en-US"/>
              </a:p>
            </p:txBody>
          </p:sp>
          <p:sp>
            <p:nvSpPr>
              <p:cNvPr id="95464" name="Rectangle 140"/>
              <p:cNvSpPr>
                <a:spLocks noChangeArrowheads="1"/>
              </p:cNvSpPr>
              <p:nvPr/>
            </p:nvSpPr>
            <p:spPr bwMode="auto">
              <a:xfrm>
                <a:off x="3465" y="2418"/>
                <a:ext cx="528" cy="95"/>
              </a:xfrm>
              <a:prstGeom prst="rect">
                <a:avLst/>
              </a:prstGeom>
              <a:noFill/>
              <a:ln w="9525">
                <a:noFill/>
                <a:miter lim="800000"/>
                <a:headEnd/>
                <a:tailEnd/>
              </a:ln>
            </p:spPr>
            <p:txBody>
              <a:bodyPr wrap="none" lIns="0" tIns="0" rIns="0" bIns="0">
                <a:spAutoFit/>
              </a:bodyPr>
              <a:lstStyle/>
              <a:p>
                <a:r>
                  <a:rPr lang="en-US" sz="600">
                    <a:solidFill>
                      <a:srgbClr val="000000"/>
                    </a:solidFill>
                  </a:rPr>
                  <a:t>Develop Design </a:t>
                </a:r>
                <a:endParaRPr lang="en-US"/>
              </a:p>
            </p:txBody>
          </p:sp>
          <p:sp>
            <p:nvSpPr>
              <p:cNvPr id="95465" name="Rectangle 141"/>
              <p:cNvSpPr>
                <a:spLocks noChangeArrowheads="1"/>
              </p:cNvSpPr>
              <p:nvPr/>
            </p:nvSpPr>
            <p:spPr bwMode="auto">
              <a:xfrm>
                <a:off x="3429" y="2475"/>
                <a:ext cx="592" cy="95"/>
              </a:xfrm>
              <a:prstGeom prst="rect">
                <a:avLst/>
              </a:prstGeom>
              <a:noFill/>
              <a:ln w="9525">
                <a:noFill/>
                <a:miter lim="800000"/>
                <a:headEnd/>
                <a:tailEnd/>
              </a:ln>
            </p:spPr>
            <p:txBody>
              <a:bodyPr wrap="none" lIns="0" tIns="0" rIns="0" bIns="0">
                <a:spAutoFit/>
              </a:bodyPr>
              <a:lstStyle/>
              <a:p>
                <a:r>
                  <a:rPr lang="en-US" sz="600">
                    <a:solidFill>
                      <a:srgbClr val="000000"/>
                    </a:solidFill>
                  </a:rPr>
                  <a:t>Output Documents</a:t>
                </a:r>
                <a:endParaRPr lang="en-US"/>
              </a:p>
            </p:txBody>
          </p:sp>
          <p:sp>
            <p:nvSpPr>
              <p:cNvPr id="95466" name="Rectangle 142"/>
              <p:cNvSpPr>
                <a:spLocks noChangeArrowheads="1"/>
              </p:cNvSpPr>
              <p:nvPr/>
            </p:nvSpPr>
            <p:spPr bwMode="auto">
              <a:xfrm>
                <a:off x="4007" y="1869"/>
                <a:ext cx="513" cy="341"/>
              </a:xfrm>
              <a:prstGeom prst="rect">
                <a:avLst/>
              </a:prstGeom>
              <a:blipFill dpi="0" rotWithShape="0">
                <a:blip r:embed="rId3" cstate="print"/>
                <a:srcRect/>
                <a:tile tx="0" ty="0" sx="100000" sy="100000" flip="none" algn="tl"/>
              </a:blipFill>
              <a:ln w="9525">
                <a:noFill/>
                <a:miter lim="800000"/>
                <a:headEnd/>
                <a:tailEnd/>
              </a:ln>
            </p:spPr>
            <p:txBody>
              <a:bodyPr/>
              <a:lstStyle/>
              <a:p>
                <a:endParaRPr lang="en-US"/>
              </a:p>
            </p:txBody>
          </p:sp>
          <p:sp>
            <p:nvSpPr>
              <p:cNvPr id="95467" name="Rectangle 143"/>
              <p:cNvSpPr>
                <a:spLocks noChangeArrowheads="1"/>
              </p:cNvSpPr>
              <p:nvPr/>
            </p:nvSpPr>
            <p:spPr bwMode="auto">
              <a:xfrm>
                <a:off x="4007" y="1869"/>
                <a:ext cx="513" cy="341"/>
              </a:xfrm>
              <a:prstGeom prst="rect">
                <a:avLst/>
              </a:prstGeom>
              <a:noFill/>
              <a:ln w="0">
                <a:solidFill>
                  <a:srgbClr val="000000"/>
                </a:solidFill>
                <a:miter lim="800000"/>
                <a:headEnd/>
                <a:tailEnd/>
              </a:ln>
            </p:spPr>
            <p:txBody>
              <a:bodyPr/>
              <a:lstStyle/>
              <a:p>
                <a:endParaRPr lang="en-US"/>
              </a:p>
            </p:txBody>
          </p:sp>
          <p:sp>
            <p:nvSpPr>
              <p:cNvPr id="95468" name="Rectangle 144"/>
              <p:cNvSpPr>
                <a:spLocks noChangeArrowheads="1"/>
              </p:cNvSpPr>
              <p:nvPr/>
            </p:nvSpPr>
            <p:spPr bwMode="auto">
              <a:xfrm>
                <a:off x="4064" y="1914"/>
                <a:ext cx="535" cy="95"/>
              </a:xfrm>
              <a:prstGeom prst="rect">
                <a:avLst/>
              </a:prstGeom>
              <a:noFill/>
              <a:ln w="9525">
                <a:noFill/>
                <a:miter lim="800000"/>
                <a:headEnd/>
                <a:tailEnd/>
              </a:ln>
            </p:spPr>
            <p:txBody>
              <a:bodyPr wrap="none" lIns="0" tIns="0" rIns="0" bIns="0">
                <a:spAutoFit/>
              </a:bodyPr>
              <a:lstStyle/>
              <a:p>
                <a:r>
                  <a:rPr lang="en-US" sz="600">
                    <a:solidFill>
                      <a:srgbClr val="000000"/>
                    </a:solidFill>
                  </a:rPr>
                  <a:t>Design Reviews </a:t>
                </a:r>
                <a:endParaRPr lang="en-US"/>
              </a:p>
            </p:txBody>
          </p:sp>
          <p:sp>
            <p:nvSpPr>
              <p:cNvPr id="95469" name="Rectangle 145"/>
              <p:cNvSpPr>
                <a:spLocks noChangeArrowheads="1"/>
              </p:cNvSpPr>
              <p:nvPr/>
            </p:nvSpPr>
            <p:spPr bwMode="auto">
              <a:xfrm>
                <a:off x="4113" y="1977"/>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70" name="Rectangle 146"/>
              <p:cNvSpPr>
                <a:spLocks noChangeArrowheads="1"/>
              </p:cNvSpPr>
              <p:nvPr/>
            </p:nvSpPr>
            <p:spPr bwMode="auto">
              <a:xfrm>
                <a:off x="4135" y="1977"/>
                <a:ext cx="271" cy="95"/>
              </a:xfrm>
              <a:prstGeom prst="rect">
                <a:avLst/>
              </a:prstGeom>
              <a:noFill/>
              <a:ln w="9525">
                <a:noFill/>
                <a:miter lim="800000"/>
                <a:headEnd/>
                <a:tailEnd/>
              </a:ln>
            </p:spPr>
            <p:txBody>
              <a:bodyPr wrap="none" lIns="0" tIns="0" rIns="0" bIns="0">
                <a:spAutoFit/>
              </a:bodyPr>
              <a:lstStyle/>
              <a:p>
                <a:r>
                  <a:rPr lang="en-US" sz="600">
                    <a:solidFill>
                      <a:srgbClr val="000000"/>
                    </a:solidFill>
                  </a:rPr>
                  <a:t>Fed and</a:t>
                </a:r>
                <a:endParaRPr lang="en-US"/>
              </a:p>
            </p:txBody>
          </p:sp>
          <p:sp>
            <p:nvSpPr>
              <p:cNvPr id="95471" name="Rectangle 147"/>
              <p:cNvSpPr>
                <a:spLocks noChangeArrowheads="1"/>
              </p:cNvSpPr>
              <p:nvPr/>
            </p:nvSpPr>
            <p:spPr bwMode="auto">
              <a:xfrm>
                <a:off x="4342" y="1977"/>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72" name="Rectangle 148"/>
              <p:cNvSpPr>
                <a:spLocks noChangeArrowheads="1"/>
              </p:cNvSpPr>
              <p:nvPr/>
            </p:nvSpPr>
            <p:spPr bwMode="auto">
              <a:xfrm>
                <a:off x="4356" y="1977"/>
                <a:ext cx="107" cy="95"/>
              </a:xfrm>
              <a:prstGeom prst="rect">
                <a:avLst/>
              </a:prstGeom>
              <a:noFill/>
              <a:ln w="9525">
                <a:noFill/>
                <a:miter lim="800000"/>
                <a:headEnd/>
                <a:tailEnd/>
              </a:ln>
            </p:spPr>
            <p:txBody>
              <a:bodyPr wrap="none" lIns="0" tIns="0" rIns="0" bIns="0">
                <a:spAutoFit/>
              </a:bodyPr>
              <a:lstStyle/>
              <a:p>
                <a:r>
                  <a:rPr lang="en-US" sz="600">
                    <a:solidFill>
                      <a:srgbClr val="000000"/>
                    </a:solidFill>
                  </a:rPr>
                  <a:t>or </a:t>
                </a:r>
                <a:endParaRPr lang="en-US"/>
              </a:p>
            </p:txBody>
          </p:sp>
          <p:sp>
            <p:nvSpPr>
              <p:cNvPr id="95473" name="Rectangle 149"/>
              <p:cNvSpPr>
                <a:spLocks noChangeArrowheads="1"/>
              </p:cNvSpPr>
              <p:nvPr/>
            </p:nvSpPr>
            <p:spPr bwMode="auto">
              <a:xfrm>
                <a:off x="4085" y="2034"/>
                <a:ext cx="342" cy="95"/>
              </a:xfrm>
              <a:prstGeom prst="rect">
                <a:avLst/>
              </a:prstGeom>
              <a:noFill/>
              <a:ln w="9525">
                <a:noFill/>
                <a:miter lim="800000"/>
                <a:headEnd/>
                <a:tailEnd/>
              </a:ln>
            </p:spPr>
            <p:txBody>
              <a:bodyPr wrap="none" lIns="0" tIns="0" rIns="0" bIns="0">
                <a:spAutoFit/>
              </a:bodyPr>
              <a:lstStyle/>
              <a:p>
                <a:r>
                  <a:rPr lang="en-US" sz="600">
                    <a:solidFill>
                      <a:srgbClr val="000000"/>
                    </a:solidFill>
                  </a:rPr>
                  <a:t>Contractor</a:t>
                </a:r>
                <a:endParaRPr lang="en-US"/>
              </a:p>
            </p:txBody>
          </p:sp>
          <p:sp>
            <p:nvSpPr>
              <p:cNvPr id="95474" name="Rectangle 150"/>
              <p:cNvSpPr>
                <a:spLocks noChangeArrowheads="1"/>
              </p:cNvSpPr>
              <p:nvPr/>
            </p:nvSpPr>
            <p:spPr bwMode="auto">
              <a:xfrm>
                <a:off x="4349" y="2034"/>
                <a:ext cx="71" cy="95"/>
              </a:xfrm>
              <a:prstGeom prst="rect">
                <a:avLst/>
              </a:prstGeom>
              <a:noFill/>
              <a:ln w="9525">
                <a:noFill/>
                <a:miter lim="800000"/>
                <a:headEnd/>
                <a:tailEnd/>
              </a:ln>
            </p:spPr>
            <p:txBody>
              <a:bodyPr wrap="none" lIns="0" tIns="0" rIns="0" bIns="0">
                <a:spAutoFit/>
              </a:bodyPr>
              <a:lstStyle/>
              <a:p>
                <a:r>
                  <a:rPr lang="en-US" sz="600">
                    <a:solidFill>
                      <a:srgbClr val="000000"/>
                    </a:solidFill>
                  </a:rPr>
                  <a:t>, </a:t>
                </a:r>
                <a:endParaRPr lang="en-US"/>
              </a:p>
            </p:txBody>
          </p:sp>
          <p:sp>
            <p:nvSpPr>
              <p:cNvPr id="95475" name="Rectangle 151"/>
              <p:cNvSpPr>
                <a:spLocks noChangeArrowheads="1"/>
              </p:cNvSpPr>
              <p:nvPr/>
            </p:nvSpPr>
            <p:spPr bwMode="auto">
              <a:xfrm>
                <a:off x="4377" y="2034"/>
                <a:ext cx="121" cy="95"/>
              </a:xfrm>
              <a:prstGeom prst="rect">
                <a:avLst/>
              </a:prstGeom>
              <a:noFill/>
              <a:ln w="9525">
                <a:noFill/>
                <a:miter lim="800000"/>
                <a:headEnd/>
                <a:tailEnd/>
              </a:ln>
            </p:spPr>
            <p:txBody>
              <a:bodyPr wrap="none" lIns="0" tIns="0" rIns="0" bIns="0">
                <a:spAutoFit/>
              </a:bodyPr>
              <a:lstStyle/>
              <a:p>
                <a:r>
                  <a:rPr lang="en-US" sz="600">
                    <a:solidFill>
                      <a:srgbClr val="000000"/>
                    </a:solidFill>
                  </a:rPr>
                  <a:t>as </a:t>
                </a:r>
                <a:endParaRPr lang="en-US"/>
              </a:p>
            </p:txBody>
          </p:sp>
          <p:sp>
            <p:nvSpPr>
              <p:cNvPr id="95476" name="Rectangle 152"/>
              <p:cNvSpPr>
                <a:spLocks noChangeArrowheads="1"/>
              </p:cNvSpPr>
              <p:nvPr/>
            </p:nvSpPr>
            <p:spPr bwMode="auto">
              <a:xfrm>
                <a:off x="4106" y="2090"/>
                <a:ext cx="356" cy="95"/>
              </a:xfrm>
              <a:prstGeom prst="rect">
                <a:avLst/>
              </a:prstGeom>
              <a:noFill/>
              <a:ln w="9525">
                <a:noFill/>
                <a:miter lim="800000"/>
                <a:headEnd/>
                <a:tailEnd/>
              </a:ln>
            </p:spPr>
            <p:txBody>
              <a:bodyPr wrap="none" lIns="0" tIns="0" rIns="0" bIns="0">
                <a:spAutoFit/>
              </a:bodyPr>
              <a:lstStyle/>
              <a:p>
                <a:r>
                  <a:rPr lang="en-US" sz="600">
                    <a:solidFill>
                      <a:srgbClr val="000000"/>
                    </a:solidFill>
                  </a:rPr>
                  <a:t>appropriate</a:t>
                </a:r>
                <a:endParaRPr lang="en-US"/>
              </a:p>
            </p:txBody>
          </p:sp>
          <p:sp>
            <p:nvSpPr>
              <p:cNvPr id="95477" name="Rectangle 153"/>
              <p:cNvSpPr>
                <a:spLocks noChangeArrowheads="1"/>
              </p:cNvSpPr>
              <p:nvPr/>
            </p:nvSpPr>
            <p:spPr bwMode="auto">
              <a:xfrm>
                <a:off x="4399" y="2090"/>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78" name="Freeform 154"/>
              <p:cNvSpPr>
                <a:spLocks/>
              </p:cNvSpPr>
              <p:nvPr/>
            </p:nvSpPr>
            <p:spPr bwMode="auto">
              <a:xfrm>
                <a:off x="777" y="3161"/>
                <a:ext cx="506" cy="341"/>
              </a:xfrm>
              <a:custGeom>
                <a:avLst/>
                <a:gdLst>
                  <a:gd name="T0" fmla="*/ 0 w 506"/>
                  <a:gd name="T1" fmla="*/ 303 h 341"/>
                  <a:gd name="T2" fmla="*/ 0 w 506"/>
                  <a:gd name="T3" fmla="*/ 0 h 341"/>
                  <a:gd name="T4" fmla="*/ 506 w 506"/>
                  <a:gd name="T5" fmla="*/ 0 h 341"/>
                  <a:gd name="T6" fmla="*/ 506 w 506"/>
                  <a:gd name="T7" fmla="*/ 303 h 341"/>
                  <a:gd name="T8" fmla="*/ 449 w 506"/>
                  <a:gd name="T9" fmla="*/ 278 h 341"/>
                  <a:gd name="T10" fmla="*/ 378 w 506"/>
                  <a:gd name="T11" fmla="*/ 265 h 341"/>
                  <a:gd name="T12" fmla="*/ 313 w 506"/>
                  <a:gd name="T13" fmla="*/ 278 h 341"/>
                  <a:gd name="T14" fmla="*/ 256 w 506"/>
                  <a:gd name="T15" fmla="*/ 303 h 341"/>
                  <a:gd name="T16" fmla="*/ 192 w 506"/>
                  <a:gd name="T17" fmla="*/ 328 h 341"/>
                  <a:gd name="T18" fmla="*/ 128 w 506"/>
                  <a:gd name="T19" fmla="*/ 341 h 341"/>
                  <a:gd name="T20" fmla="*/ 57 w 506"/>
                  <a:gd name="T21" fmla="*/ 328 h 341"/>
                  <a:gd name="T22" fmla="*/ 0 w 506"/>
                  <a:gd name="T23" fmla="*/ 303 h 341"/>
                  <a:gd name="T24" fmla="*/ 0 w 506"/>
                  <a:gd name="T25" fmla="*/ 303 h 3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1"/>
                  <a:gd name="T41" fmla="*/ 506 w 506"/>
                  <a:gd name="T42" fmla="*/ 341 h 3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1">
                    <a:moveTo>
                      <a:pt x="0" y="303"/>
                    </a:moveTo>
                    <a:lnTo>
                      <a:pt x="0" y="0"/>
                    </a:lnTo>
                    <a:lnTo>
                      <a:pt x="506" y="0"/>
                    </a:lnTo>
                    <a:lnTo>
                      <a:pt x="506" y="303"/>
                    </a:lnTo>
                    <a:lnTo>
                      <a:pt x="449" y="278"/>
                    </a:lnTo>
                    <a:lnTo>
                      <a:pt x="378" y="265"/>
                    </a:lnTo>
                    <a:lnTo>
                      <a:pt x="313" y="278"/>
                    </a:lnTo>
                    <a:lnTo>
                      <a:pt x="256" y="303"/>
                    </a:lnTo>
                    <a:lnTo>
                      <a:pt x="192" y="328"/>
                    </a:lnTo>
                    <a:lnTo>
                      <a:pt x="128" y="341"/>
                    </a:lnTo>
                    <a:lnTo>
                      <a:pt x="57" y="328"/>
                    </a:lnTo>
                    <a:lnTo>
                      <a:pt x="0" y="303"/>
                    </a:lnTo>
                    <a:close/>
                  </a:path>
                </a:pathLst>
              </a:custGeom>
              <a:solidFill>
                <a:srgbClr val="FFFF99"/>
              </a:solidFill>
              <a:ln w="9525">
                <a:noFill/>
                <a:round/>
                <a:headEnd/>
                <a:tailEnd/>
              </a:ln>
            </p:spPr>
            <p:txBody>
              <a:bodyPr/>
              <a:lstStyle/>
              <a:p>
                <a:endParaRPr lang="en-US"/>
              </a:p>
            </p:txBody>
          </p:sp>
          <p:sp>
            <p:nvSpPr>
              <p:cNvPr id="95479" name="Freeform 155"/>
              <p:cNvSpPr>
                <a:spLocks/>
              </p:cNvSpPr>
              <p:nvPr/>
            </p:nvSpPr>
            <p:spPr bwMode="auto">
              <a:xfrm>
                <a:off x="777" y="3161"/>
                <a:ext cx="506" cy="341"/>
              </a:xfrm>
              <a:custGeom>
                <a:avLst/>
                <a:gdLst>
                  <a:gd name="T0" fmla="*/ 0 w 506"/>
                  <a:gd name="T1" fmla="*/ 303 h 341"/>
                  <a:gd name="T2" fmla="*/ 0 w 506"/>
                  <a:gd name="T3" fmla="*/ 0 h 341"/>
                  <a:gd name="T4" fmla="*/ 506 w 506"/>
                  <a:gd name="T5" fmla="*/ 0 h 341"/>
                  <a:gd name="T6" fmla="*/ 506 w 506"/>
                  <a:gd name="T7" fmla="*/ 303 h 341"/>
                  <a:gd name="T8" fmla="*/ 449 w 506"/>
                  <a:gd name="T9" fmla="*/ 278 h 341"/>
                  <a:gd name="T10" fmla="*/ 378 w 506"/>
                  <a:gd name="T11" fmla="*/ 265 h 341"/>
                  <a:gd name="T12" fmla="*/ 313 w 506"/>
                  <a:gd name="T13" fmla="*/ 278 h 341"/>
                  <a:gd name="T14" fmla="*/ 256 w 506"/>
                  <a:gd name="T15" fmla="*/ 303 h 341"/>
                  <a:gd name="T16" fmla="*/ 192 w 506"/>
                  <a:gd name="T17" fmla="*/ 328 h 341"/>
                  <a:gd name="T18" fmla="*/ 128 w 506"/>
                  <a:gd name="T19" fmla="*/ 341 h 341"/>
                  <a:gd name="T20" fmla="*/ 57 w 506"/>
                  <a:gd name="T21" fmla="*/ 328 h 341"/>
                  <a:gd name="T22" fmla="*/ 0 w 506"/>
                  <a:gd name="T23" fmla="*/ 303 h 341"/>
                  <a:gd name="T24" fmla="*/ 0 w 506"/>
                  <a:gd name="T25" fmla="*/ 303 h 3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1"/>
                  <a:gd name="T41" fmla="*/ 506 w 506"/>
                  <a:gd name="T42" fmla="*/ 341 h 3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1">
                    <a:moveTo>
                      <a:pt x="0" y="303"/>
                    </a:moveTo>
                    <a:lnTo>
                      <a:pt x="0" y="0"/>
                    </a:lnTo>
                    <a:lnTo>
                      <a:pt x="506" y="0"/>
                    </a:lnTo>
                    <a:lnTo>
                      <a:pt x="506" y="303"/>
                    </a:lnTo>
                    <a:lnTo>
                      <a:pt x="449" y="278"/>
                    </a:lnTo>
                    <a:lnTo>
                      <a:pt x="378" y="265"/>
                    </a:lnTo>
                    <a:lnTo>
                      <a:pt x="313" y="278"/>
                    </a:lnTo>
                    <a:lnTo>
                      <a:pt x="256" y="303"/>
                    </a:lnTo>
                    <a:lnTo>
                      <a:pt x="192" y="328"/>
                    </a:lnTo>
                    <a:lnTo>
                      <a:pt x="128" y="341"/>
                    </a:lnTo>
                    <a:lnTo>
                      <a:pt x="57" y="328"/>
                    </a:lnTo>
                    <a:lnTo>
                      <a:pt x="0" y="303"/>
                    </a:lnTo>
                  </a:path>
                </a:pathLst>
              </a:custGeom>
              <a:noFill/>
              <a:ln w="0">
                <a:solidFill>
                  <a:srgbClr val="FFFF99"/>
                </a:solidFill>
                <a:prstDash val="solid"/>
                <a:round/>
                <a:headEnd/>
                <a:tailEnd/>
              </a:ln>
            </p:spPr>
            <p:txBody>
              <a:bodyPr/>
              <a:lstStyle/>
              <a:p>
                <a:endParaRPr lang="en-US"/>
              </a:p>
            </p:txBody>
          </p:sp>
          <p:sp>
            <p:nvSpPr>
              <p:cNvPr id="95480" name="Rectangle 156"/>
              <p:cNvSpPr>
                <a:spLocks noChangeArrowheads="1"/>
              </p:cNvSpPr>
              <p:nvPr/>
            </p:nvSpPr>
            <p:spPr bwMode="auto">
              <a:xfrm>
                <a:off x="827" y="3200"/>
                <a:ext cx="528" cy="95"/>
              </a:xfrm>
              <a:prstGeom prst="rect">
                <a:avLst/>
              </a:prstGeom>
              <a:noFill/>
              <a:ln w="9525">
                <a:noFill/>
                <a:miter lim="800000"/>
                <a:headEnd/>
                <a:tailEnd/>
              </a:ln>
            </p:spPr>
            <p:txBody>
              <a:bodyPr wrap="none" lIns="0" tIns="0" rIns="0" bIns="0">
                <a:spAutoFit/>
              </a:bodyPr>
              <a:lstStyle/>
              <a:p>
                <a:r>
                  <a:rPr lang="en-US" sz="600">
                    <a:solidFill>
                      <a:srgbClr val="000000"/>
                    </a:solidFill>
                  </a:rPr>
                  <a:t>Update Hazards </a:t>
                </a:r>
                <a:endParaRPr lang="en-US"/>
              </a:p>
            </p:txBody>
          </p:sp>
          <p:sp>
            <p:nvSpPr>
              <p:cNvPr id="95481" name="Rectangle 157"/>
              <p:cNvSpPr>
                <a:spLocks noChangeArrowheads="1"/>
              </p:cNvSpPr>
              <p:nvPr/>
            </p:nvSpPr>
            <p:spPr bwMode="auto">
              <a:xfrm>
                <a:off x="926" y="3263"/>
                <a:ext cx="285" cy="95"/>
              </a:xfrm>
              <a:prstGeom prst="rect">
                <a:avLst/>
              </a:prstGeom>
              <a:noFill/>
              <a:ln w="9525">
                <a:noFill/>
                <a:miter lim="800000"/>
                <a:headEnd/>
                <a:tailEnd/>
              </a:ln>
            </p:spPr>
            <p:txBody>
              <a:bodyPr wrap="none" lIns="0" tIns="0" rIns="0" bIns="0">
                <a:spAutoFit/>
              </a:bodyPr>
              <a:lstStyle/>
              <a:p>
                <a:r>
                  <a:rPr lang="en-US" sz="600">
                    <a:solidFill>
                      <a:srgbClr val="000000"/>
                    </a:solidFill>
                  </a:rPr>
                  <a:t>Analysis</a:t>
                </a:r>
                <a:endParaRPr lang="en-US"/>
              </a:p>
            </p:txBody>
          </p:sp>
          <p:sp>
            <p:nvSpPr>
              <p:cNvPr id="95482" name="Rectangle 158"/>
              <p:cNvSpPr>
                <a:spLocks noChangeArrowheads="1"/>
              </p:cNvSpPr>
              <p:nvPr/>
            </p:nvSpPr>
            <p:spPr bwMode="auto">
              <a:xfrm>
                <a:off x="991" y="3319"/>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483" name="Rectangle 159"/>
              <p:cNvSpPr>
                <a:spLocks noChangeArrowheads="1"/>
              </p:cNvSpPr>
              <p:nvPr/>
            </p:nvSpPr>
            <p:spPr bwMode="auto">
              <a:xfrm>
                <a:off x="1019" y="3319"/>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84" name="Rectangle 160"/>
              <p:cNvSpPr>
                <a:spLocks noChangeArrowheads="1"/>
              </p:cNvSpPr>
              <p:nvPr/>
            </p:nvSpPr>
            <p:spPr bwMode="auto">
              <a:xfrm>
                <a:off x="1033" y="3319"/>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485" name="Rectangle 161"/>
              <p:cNvSpPr>
                <a:spLocks noChangeArrowheads="1"/>
              </p:cNvSpPr>
              <p:nvPr/>
            </p:nvSpPr>
            <p:spPr bwMode="auto">
              <a:xfrm>
                <a:off x="1283" y="3331"/>
                <a:ext cx="513" cy="341"/>
              </a:xfrm>
              <a:prstGeom prst="rect">
                <a:avLst/>
              </a:prstGeom>
              <a:solidFill>
                <a:srgbClr val="FFFF99"/>
              </a:solidFill>
              <a:ln w="9525">
                <a:noFill/>
                <a:miter lim="800000"/>
                <a:headEnd/>
                <a:tailEnd/>
              </a:ln>
            </p:spPr>
            <p:txBody>
              <a:bodyPr/>
              <a:lstStyle/>
              <a:p>
                <a:endParaRPr lang="en-US"/>
              </a:p>
            </p:txBody>
          </p:sp>
          <p:sp>
            <p:nvSpPr>
              <p:cNvPr id="95486" name="Rectangle 162"/>
              <p:cNvSpPr>
                <a:spLocks noChangeArrowheads="1"/>
              </p:cNvSpPr>
              <p:nvPr/>
            </p:nvSpPr>
            <p:spPr bwMode="auto">
              <a:xfrm>
                <a:off x="1283" y="3331"/>
                <a:ext cx="513" cy="341"/>
              </a:xfrm>
              <a:prstGeom prst="rect">
                <a:avLst/>
              </a:prstGeom>
              <a:noFill/>
              <a:ln w="0">
                <a:solidFill>
                  <a:srgbClr val="FFFF99"/>
                </a:solidFill>
                <a:miter lim="800000"/>
                <a:headEnd/>
                <a:tailEnd/>
              </a:ln>
            </p:spPr>
            <p:txBody>
              <a:bodyPr/>
              <a:lstStyle/>
              <a:p>
                <a:endParaRPr lang="en-US"/>
              </a:p>
            </p:txBody>
          </p:sp>
          <p:sp>
            <p:nvSpPr>
              <p:cNvPr id="95487" name="Rectangle 163"/>
              <p:cNvSpPr>
                <a:spLocks noChangeArrowheads="1"/>
              </p:cNvSpPr>
              <p:nvPr/>
            </p:nvSpPr>
            <p:spPr bwMode="auto">
              <a:xfrm>
                <a:off x="1304" y="3407"/>
                <a:ext cx="592" cy="95"/>
              </a:xfrm>
              <a:prstGeom prst="rect">
                <a:avLst/>
              </a:prstGeom>
              <a:noFill/>
              <a:ln w="9525">
                <a:noFill/>
                <a:miter lim="800000"/>
                <a:headEnd/>
                <a:tailEnd/>
              </a:ln>
            </p:spPr>
            <p:txBody>
              <a:bodyPr wrap="none" lIns="0" tIns="0" rIns="0" bIns="0">
                <a:spAutoFit/>
              </a:bodyPr>
              <a:lstStyle/>
              <a:p>
                <a:r>
                  <a:rPr lang="en-US" sz="600">
                    <a:solidFill>
                      <a:srgbClr val="000000"/>
                    </a:solidFill>
                  </a:rPr>
                  <a:t>Mitigated Accident </a:t>
                </a:r>
                <a:endParaRPr lang="en-US"/>
              </a:p>
            </p:txBody>
          </p:sp>
          <p:sp>
            <p:nvSpPr>
              <p:cNvPr id="95488" name="Rectangle 164"/>
              <p:cNvSpPr>
                <a:spLocks noChangeArrowheads="1"/>
              </p:cNvSpPr>
              <p:nvPr/>
            </p:nvSpPr>
            <p:spPr bwMode="auto">
              <a:xfrm>
                <a:off x="1433" y="3464"/>
                <a:ext cx="307" cy="95"/>
              </a:xfrm>
              <a:prstGeom prst="rect">
                <a:avLst/>
              </a:prstGeom>
              <a:noFill/>
              <a:ln w="9525">
                <a:noFill/>
                <a:miter lim="800000"/>
                <a:headEnd/>
                <a:tailEnd/>
              </a:ln>
            </p:spPr>
            <p:txBody>
              <a:bodyPr wrap="none" lIns="0" tIns="0" rIns="0" bIns="0">
                <a:spAutoFit/>
              </a:bodyPr>
              <a:lstStyle/>
              <a:p>
                <a:r>
                  <a:rPr lang="en-US" sz="600">
                    <a:solidFill>
                      <a:srgbClr val="000000"/>
                    </a:solidFill>
                  </a:rPr>
                  <a:t>Analysis </a:t>
                </a:r>
                <a:endParaRPr lang="en-US"/>
              </a:p>
            </p:txBody>
          </p:sp>
          <p:sp>
            <p:nvSpPr>
              <p:cNvPr id="95489" name="Rectangle 165"/>
              <p:cNvSpPr>
                <a:spLocks noChangeArrowheads="1"/>
              </p:cNvSpPr>
              <p:nvPr/>
            </p:nvSpPr>
            <p:spPr bwMode="auto">
              <a:xfrm>
                <a:off x="1497" y="3527"/>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490" name="Rectangle 166"/>
              <p:cNvSpPr>
                <a:spLocks noChangeArrowheads="1"/>
              </p:cNvSpPr>
              <p:nvPr/>
            </p:nvSpPr>
            <p:spPr bwMode="auto">
              <a:xfrm>
                <a:off x="1532" y="3527"/>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91" name="Rectangle 167"/>
              <p:cNvSpPr>
                <a:spLocks noChangeArrowheads="1"/>
              </p:cNvSpPr>
              <p:nvPr/>
            </p:nvSpPr>
            <p:spPr bwMode="auto">
              <a:xfrm>
                <a:off x="1547" y="3527"/>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492" name="Rectangle 168"/>
              <p:cNvSpPr>
                <a:spLocks noChangeArrowheads="1"/>
              </p:cNvSpPr>
              <p:nvPr/>
            </p:nvSpPr>
            <p:spPr bwMode="auto">
              <a:xfrm>
                <a:off x="1732" y="3602"/>
                <a:ext cx="506" cy="341"/>
              </a:xfrm>
              <a:prstGeom prst="rect">
                <a:avLst/>
              </a:prstGeom>
              <a:solidFill>
                <a:srgbClr val="FFFF99"/>
              </a:solidFill>
              <a:ln w="9525">
                <a:noFill/>
                <a:miter lim="800000"/>
                <a:headEnd/>
                <a:tailEnd/>
              </a:ln>
            </p:spPr>
            <p:txBody>
              <a:bodyPr/>
              <a:lstStyle/>
              <a:p>
                <a:endParaRPr lang="en-US"/>
              </a:p>
            </p:txBody>
          </p:sp>
          <p:sp>
            <p:nvSpPr>
              <p:cNvPr id="95493" name="Rectangle 169"/>
              <p:cNvSpPr>
                <a:spLocks noChangeArrowheads="1"/>
              </p:cNvSpPr>
              <p:nvPr/>
            </p:nvSpPr>
            <p:spPr bwMode="auto">
              <a:xfrm>
                <a:off x="1732" y="3602"/>
                <a:ext cx="506" cy="341"/>
              </a:xfrm>
              <a:prstGeom prst="rect">
                <a:avLst/>
              </a:prstGeom>
              <a:noFill/>
              <a:ln w="0">
                <a:solidFill>
                  <a:srgbClr val="FFFF99"/>
                </a:solidFill>
                <a:miter lim="800000"/>
                <a:headEnd/>
                <a:tailEnd/>
              </a:ln>
            </p:spPr>
            <p:txBody>
              <a:bodyPr/>
              <a:lstStyle/>
              <a:p>
                <a:endParaRPr lang="en-US"/>
              </a:p>
            </p:txBody>
          </p:sp>
          <p:sp>
            <p:nvSpPr>
              <p:cNvPr id="95494" name="Rectangle 170"/>
              <p:cNvSpPr>
                <a:spLocks noChangeArrowheads="1"/>
              </p:cNvSpPr>
              <p:nvPr/>
            </p:nvSpPr>
            <p:spPr bwMode="auto">
              <a:xfrm>
                <a:off x="1803" y="3647"/>
                <a:ext cx="492" cy="95"/>
              </a:xfrm>
              <a:prstGeom prst="rect">
                <a:avLst/>
              </a:prstGeom>
              <a:noFill/>
              <a:ln w="9525">
                <a:noFill/>
                <a:miter lim="800000"/>
                <a:headEnd/>
                <a:tailEnd/>
              </a:ln>
            </p:spPr>
            <p:txBody>
              <a:bodyPr wrap="none" lIns="0" tIns="0" rIns="0" bIns="0">
                <a:spAutoFit/>
              </a:bodyPr>
              <a:lstStyle/>
              <a:p>
                <a:r>
                  <a:rPr lang="en-US" sz="600">
                    <a:solidFill>
                      <a:srgbClr val="000000"/>
                    </a:solidFill>
                  </a:rPr>
                  <a:t>Update Safety </a:t>
                </a:r>
                <a:endParaRPr lang="en-US"/>
              </a:p>
            </p:txBody>
          </p:sp>
          <p:sp>
            <p:nvSpPr>
              <p:cNvPr id="95495" name="Rectangle 171"/>
              <p:cNvSpPr>
                <a:spLocks noChangeArrowheads="1"/>
              </p:cNvSpPr>
              <p:nvPr/>
            </p:nvSpPr>
            <p:spPr bwMode="auto">
              <a:xfrm>
                <a:off x="1796" y="3704"/>
                <a:ext cx="499" cy="95"/>
              </a:xfrm>
              <a:prstGeom prst="rect">
                <a:avLst/>
              </a:prstGeom>
              <a:noFill/>
              <a:ln w="9525">
                <a:noFill/>
                <a:miter lim="800000"/>
                <a:headEnd/>
                <a:tailEnd/>
              </a:ln>
            </p:spPr>
            <p:txBody>
              <a:bodyPr wrap="none" lIns="0" tIns="0" rIns="0" bIns="0">
                <a:spAutoFit/>
              </a:bodyPr>
              <a:lstStyle/>
              <a:p>
                <a:r>
                  <a:rPr lang="en-US" sz="600">
                    <a:solidFill>
                      <a:srgbClr val="000000"/>
                    </a:solidFill>
                  </a:rPr>
                  <a:t>SSC Functions </a:t>
                </a:r>
                <a:endParaRPr lang="en-US"/>
              </a:p>
            </p:txBody>
          </p:sp>
          <p:sp>
            <p:nvSpPr>
              <p:cNvPr id="95496" name="Rectangle 172"/>
              <p:cNvSpPr>
                <a:spLocks noChangeArrowheads="1"/>
              </p:cNvSpPr>
              <p:nvPr/>
            </p:nvSpPr>
            <p:spPr bwMode="auto">
              <a:xfrm>
                <a:off x="1761" y="3767"/>
                <a:ext cx="563" cy="95"/>
              </a:xfrm>
              <a:prstGeom prst="rect">
                <a:avLst/>
              </a:prstGeom>
              <a:noFill/>
              <a:ln w="9525">
                <a:noFill/>
                <a:miter lim="800000"/>
                <a:headEnd/>
                <a:tailEnd/>
              </a:ln>
            </p:spPr>
            <p:txBody>
              <a:bodyPr wrap="none" lIns="0" tIns="0" rIns="0" bIns="0">
                <a:spAutoFit/>
              </a:bodyPr>
              <a:lstStyle/>
              <a:p>
                <a:r>
                  <a:rPr lang="en-US" sz="600">
                    <a:solidFill>
                      <a:srgbClr val="000000"/>
                    </a:solidFill>
                  </a:rPr>
                  <a:t>and Classification</a:t>
                </a:r>
                <a:endParaRPr lang="en-US"/>
              </a:p>
            </p:txBody>
          </p:sp>
          <p:sp>
            <p:nvSpPr>
              <p:cNvPr id="95497" name="Rectangle 173"/>
              <p:cNvSpPr>
                <a:spLocks noChangeArrowheads="1"/>
              </p:cNvSpPr>
              <p:nvPr/>
            </p:nvSpPr>
            <p:spPr bwMode="auto">
              <a:xfrm>
                <a:off x="1946" y="3830"/>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498" name="Rectangle 174"/>
              <p:cNvSpPr>
                <a:spLocks noChangeArrowheads="1"/>
              </p:cNvSpPr>
              <p:nvPr/>
            </p:nvSpPr>
            <p:spPr bwMode="auto">
              <a:xfrm>
                <a:off x="1974" y="3830"/>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499" name="Rectangle 175"/>
              <p:cNvSpPr>
                <a:spLocks noChangeArrowheads="1"/>
              </p:cNvSpPr>
              <p:nvPr/>
            </p:nvSpPr>
            <p:spPr bwMode="auto">
              <a:xfrm>
                <a:off x="1989" y="3830"/>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500" name="Freeform 176"/>
              <p:cNvSpPr>
                <a:spLocks/>
              </p:cNvSpPr>
              <p:nvPr/>
            </p:nvSpPr>
            <p:spPr bwMode="auto">
              <a:xfrm>
                <a:off x="2944" y="3054"/>
                <a:ext cx="506" cy="334"/>
              </a:xfrm>
              <a:custGeom>
                <a:avLst/>
                <a:gdLst>
                  <a:gd name="T0" fmla="*/ 0 w 506"/>
                  <a:gd name="T1" fmla="*/ 296 h 334"/>
                  <a:gd name="T2" fmla="*/ 0 w 506"/>
                  <a:gd name="T3" fmla="*/ 0 h 334"/>
                  <a:gd name="T4" fmla="*/ 506 w 506"/>
                  <a:gd name="T5" fmla="*/ 0 h 334"/>
                  <a:gd name="T6" fmla="*/ 506 w 506"/>
                  <a:gd name="T7" fmla="*/ 296 h 334"/>
                  <a:gd name="T8" fmla="*/ 442 w 506"/>
                  <a:gd name="T9" fmla="*/ 271 h 334"/>
                  <a:gd name="T10" fmla="*/ 378 w 506"/>
                  <a:gd name="T11" fmla="*/ 259 h 334"/>
                  <a:gd name="T12" fmla="*/ 314 w 506"/>
                  <a:gd name="T13" fmla="*/ 271 h 334"/>
                  <a:gd name="T14" fmla="*/ 250 w 506"/>
                  <a:gd name="T15" fmla="*/ 296 h 334"/>
                  <a:gd name="T16" fmla="*/ 193 w 506"/>
                  <a:gd name="T17" fmla="*/ 328 h 334"/>
                  <a:gd name="T18" fmla="*/ 121 w 506"/>
                  <a:gd name="T19" fmla="*/ 334 h 334"/>
                  <a:gd name="T20" fmla="*/ 57 w 506"/>
                  <a:gd name="T21" fmla="*/ 328 h 334"/>
                  <a:gd name="T22" fmla="*/ 0 w 506"/>
                  <a:gd name="T23" fmla="*/ 296 h 334"/>
                  <a:gd name="T24" fmla="*/ 0 w 506"/>
                  <a:gd name="T25" fmla="*/ 296 h 3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34"/>
                  <a:gd name="T41" fmla="*/ 506 w 506"/>
                  <a:gd name="T42" fmla="*/ 334 h 3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34">
                    <a:moveTo>
                      <a:pt x="0" y="296"/>
                    </a:moveTo>
                    <a:lnTo>
                      <a:pt x="0" y="0"/>
                    </a:lnTo>
                    <a:lnTo>
                      <a:pt x="506" y="0"/>
                    </a:lnTo>
                    <a:lnTo>
                      <a:pt x="506" y="296"/>
                    </a:lnTo>
                    <a:lnTo>
                      <a:pt x="442" y="271"/>
                    </a:lnTo>
                    <a:lnTo>
                      <a:pt x="378" y="259"/>
                    </a:lnTo>
                    <a:lnTo>
                      <a:pt x="314" y="271"/>
                    </a:lnTo>
                    <a:lnTo>
                      <a:pt x="250" y="296"/>
                    </a:lnTo>
                    <a:lnTo>
                      <a:pt x="193" y="328"/>
                    </a:lnTo>
                    <a:lnTo>
                      <a:pt x="121" y="334"/>
                    </a:lnTo>
                    <a:lnTo>
                      <a:pt x="57" y="328"/>
                    </a:lnTo>
                    <a:lnTo>
                      <a:pt x="0" y="296"/>
                    </a:lnTo>
                    <a:close/>
                  </a:path>
                </a:pathLst>
              </a:custGeom>
              <a:solidFill>
                <a:srgbClr val="FFFF99"/>
              </a:solidFill>
              <a:ln w="9525">
                <a:noFill/>
                <a:round/>
                <a:headEnd/>
                <a:tailEnd/>
              </a:ln>
            </p:spPr>
            <p:txBody>
              <a:bodyPr/>
              <a:lstStyle/>
              <a:p>
                <a:endParaRPr lang="en-US"/>
              </a:p>
            </p:txBody>
          </p:sp>
          <p:sp>
            <p:nvSpPr>
              <p:cNvPr id="95501" name="Freeform 177"/>
              <p:cNvSpPr>
                <a:spLocks/>
              </p:cNvSpPr>
              <p:nvPr/>
            </p:nvSpPr>
            <p:spPr bwMode="auto">
              <a:xfrm>
                <a:off x="2944" y="3054"/>
                <a:ext cx="506" cy="334"/>
              </a:xfrm>
              <a:custGeom>
                <a:avLst/>
                <a:gdLst>
                  <a:gd name="T0" fmla="*/ 0 w 506"/>
                  <a:gd name="T1" fmla="*/ 296 h 334"/>
                  <a:gd name="T2" fmla="*/ 0 w 506"/>
                  <a:gd name="T3" fmla="*/ 0 h 334"/>
                  <a:gd name="T4" fmla="*/ 506 w 506"/>
                  <a:gd name="T5" fmla="*/ 0 h 334"/>
                  <a:gd name="T6" fmla="*/ 506 w 506"/>
                  <a:gd name="T7" fmla="*/ 296 h 334"/>
                  <a:gd name="T8" fmla="*/ 442 w 506"/>
                  <a:gd name="T9" fmla="*/ 271 h 334"/>
                  <a:gd name="T10" fmla="*/ 378 w 506"/>
                  <a:gd name="T11" fmla="*/ 259 h 334"/>
                  <a:gd name="T12" fmla="*/ 314 w 506"/>
                  <a:gd name="T13" fmla="*/ 271 h 334"/>
                  <a:gd name="T14" fmla="*/ 250 w 506"/>
                  <a:gd name="T15" fmla="*/ 296 h 334"/>
                  <a:gd name="T16" fmla="*/ 193 w 506"/>
                  <a:gd name="T17" fmla="*/ 328 h 334"/>
                  <a:gd name="T18" fmla="*/ 121 w 506"/>
                  <a:gd name="T19" fmla="*/ 334 h 334"/>
                  <a:gd name="T20" fmla="*/ 57 w 506"/>
                  <a:gd name="T21" fmla="*/ 328 h 334"/>
                  <a:gd name="T22" fmla="*/ 0 w 506"/>
                  <a:gd name="T23" fmla="*/ 296 h 334"/>
                  <a:gd name="T24" fmla="*/ 0 w 506"/>
                  <a:gd name="T25" fmla="*/ 296 h 33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34"/>
                  <a:gd name="T41" fmla="*/ 506 w 506"/>
                  <a:gd name="T42" fmla="*/ 334 h 33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34">
                    <a:moveTo>
                      <a:pt x="0" y="296"/>
                    </a:moveTo>
                    <a:lnTo>
                      <a:pt x="0" y="0"/>
                    </a:lnTo>
                    <a:lnTo>
                      <a:pt x="506" y="0"/>
                    </a:lnTo>
                    <a:lnTo>
                      <a:pt x="506" y="296"/>
                    </a:lnTo>
                    <a:lnTo>
                      <a:pt x="442" y="271"/>
                    </a:lnTo>
                    <a:lnTo>
                      <a:pt x="378" y="259"/>
                    </a:lnTo>
                    <a:lnTo>
                      <a:pt x="314" y="271"/>
                    </a:lnTo>
                    <a:lnTo>
                      <a:pt x="250" y="296"/>
                    </a:lnTo>
                    <a:lnTo>
                      <a:pt x="193" y="328"/>
                    </a:lnTo>
                    <a:lnTo>
                      <a:pt x="121" y="334"/>
                    </a:lnTo>
                    <a:lnTo>
                      <a:pt x="57" y="328"/>
                    </a:lnTo>
                    <a:lnTo>
                      <a:pt x="0" y="296"/>
                    </a:lnTo>
                  </a:path>
                </a:pathLst>
              </a:custGeom>
              <a:noFill/>
              <a:ln w="0">
                <a:solidFill>
                  <a:srgbClr val="000000"/>
                </a:solidFill>
                <a:prstDash val="solid"/>
                <a:round/>
                <a:headEnd/>
                <a:tailEnd/>
              </a:ln>
            </p:spPr>
            <p:txBody>
              <a:bodyPr/>
              <a:lstStyle/>
              <a:p>
                <a:endParaRPr lang="en-US"/>
              </a:p>
            </p:txBody>
          </p:sp>
          <p:sp>
            <p:nvSpPr>
              <p:cNvPr id="95502" name="Rectangle 178"/>
              <p:cNvSpPr>
                <a:spLocks noChangeArrowheads="1"/>
              </p:cNvSpPr>
              <p:nvPr/>
            </p:nvSpPr>
            <p:spPr bwMode="auto">
              <a:xfrm>
                <a:off x="3115" y="3118"/>
                <a:ext cx="207" cy="95"/>
              </a:xfrm>
              <a:prstGeom prst="rect">
                <a:avLst/>
              </a:prstGeom>
              <a:noFill/>
              <a:ln w="9525">
                <a:noFill/>
                <a:miter lim="800000"/>
                <a:headEnd/>
                <a:tailEnd/>
              </a:ln>
            </p:spPr>
            <p:txBody>
              <a:bodyPr wrap="none" lIns="0" tIns="0" rIns="0" bIns="0">
                <a:spAutoFit/>
              </a:bodyPr>
              <a:lstStyle/>
              <a:p>
                <a:r>
                  <a:rPr lang="en-US" sz="600">
                    <a:solidFill>
                      <a:srgbClr val="000000"/>
                    </a:solidFill>
                  </a:rPr>
                  <a:t>PDSA</a:t>
                </a:r>
                <a:endParaRPr lang="en-US"/>
              </a:p>
            </p:txBody>
          </p:sp>
          <p:sp>
            <p:nvSpPr>
              <p:cNvPr id="95503" name="Rectangle 179"/>
              <p:cNvSpPr>
                <a:spLocks noChangeArrowheads="1"/>
              </p:cNvSpPr>
              <p:nvPr/>
            </p:nvSpPr>
            <p:spPr bwMode="auto">
              <a:xfrm>
                <a:off x="3151" y="3174"/>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504" name="Rectangle 180"/>
              <p:cNvSpPr>
                <a:spLocks noChangeArrowheads="1"/>
              </p:cNvSpPr>
              <p:nvPr/>
            </p:nvSpPr>
            <p:spPr bwMode="auto">
              <a:xfrm>
                <a:off x="3187" y="3174"/>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505" name="Rectangle 181"/>
              <p:cNvSpPr>
                <a:spLocks noChangeArrowheads="1"/>
              </p:cNvSpPr>
              <p:nvPr/>
            </p:nvSpPr>
            <p:spPr bwMode="auto">
              <a:xfrm>
                <a:off x="3201" y="3174"/>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506" name="Freeform 182"/>
              <p:cNvSpPr>
                <a:spLocks/>
              </p:cNvSpPr>
              <p:nvPr/>
            </p:nvSpPr>
            <p:spPr bwMode="auto">
              <a:xfrm>
                <a:off x="4349" y="3388"/>
                <a:ext cx="506" cy="340"/>
              </a:xfrm>
              <a:custGeom>
                <a:avLst/>
                <a:gdLst>
                  <a:gd name="T0" fmla="*/ 0 w 506"/>
                  <a:gd name="T1" fmla="*/ 303 h 340"/>
                  <a:gd name="T2" fmla="*/ 0 w 506"/>
                  <a:gd name="T3" fmla="*/ 0 h 340"/>
                  <a:gd name="T4" fmla="*/ 506 w 506"/>
                  <a:gd name="T5" fmla="*/ 0 h 340"/>
                  <a:gd name="T6" fmla="*/ 506 w 506"/>
                  <a:gd name="T7" fmla="*/ 303 h 340"/>
                  <a:gd name="T8" fmla="*/ 449 w 506"/>
                  <a:gd name="T9" fmla="*/ 271 h 340"/>
                  <a:gd name="T10" fmla="*/ 378 w 506"/>
                  <a:gd name="T11" fmla="*/ 265 h 340"/>
                  <a:gd name="T12" fmla="*/ 313 w 506"/>
                  <a:gd name="T13" fmla="*/ 271 h 340"/>
                  <a:gd name="T14" fmla="*/ 256 w 506"/>
                  <a:gd name="T15" fmla="*/ 303 h 340"/>
                  <a:gd name="T16" fmla="*/ 192 w 506"/>
                  <a:gd name="T17" fmla="*/ 328 h 340"/>
                  <a:gd name="T18" fmla="*/ 128 w 506"/>
                  <a:gd name="T19" fmla="*/ 340 h 340"/>
                  <a:gd name="T20" fmla="*/ 57 w 506"/>
                  <a:gd name="T21" fmla="*/ 328 h 340"/>
                  <a:gd name="T22" fmla="*/ 0 w 506"/>
                  <a:gd name="T23" fmla="*/ 303 h 340"/>
                  <a:gd name="T24" fmla="*/ 0 w 506"/>
                  <a:gd name="T25" fmla="*/ 303 h 3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0"/>
                  <a:gd name="T41" fmla="*/ 506 w 506"/>
                  <a:gd name="T42" fmla="*/ 340 h 3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0">
                    <a:moveTo>
                      <a:pt x="0" y="303"/>
                    </a:moveTo>
                    <a:lnTo>
                      <a:pt x="0" y="0"/>
                    </a:lnTo>
                    <a:lnTo>
                      <a:pt x="506" y="0"/>
                    </a:lnTo>
                    <a:lnTo>
                      <a:pt x="506" y="303"/>
                    </a:lnTo>
                    <a:lnTo>
                      <a:pt x="449" y="271"/>
                    </a:lnTo>
                    <a:lnTo>
                      <a:pt x="378" y="265"/>
                    </a:lnTo>
                    <a:lnTo>
                      <a:pt x="313" y="271"/>
                    </a:lnTo>
                    <a:lnTo>
                      <a:pt x="256" y="303"/>
                    </a:lnTo>
                    <a:lnTo>
                      <a:pt x="192" y="328"/>
                    </a:lnTo>
                    <a:lnTo>
                      <a:pt x="128" y="340"/>
                    </a:lnTo>
                    <a:lnTo>
                      <a:pt x="57" y="328"/>
                    </a:lnTo>
                    <a:lnTo>
                      <a:pt x="0" y="303"/>
                    </a:lnTo>
                    <a:close/>
                  </a:path>
                </a:pathLst>
              </a:custGeom>
              <a:solidFill>
                <a:srgbClr val="FFFF99"/>
              </a:solidFill>
              <a:ln w="9525">
                <a:noFill/>
                <a:round/>
                <a:headEnd/>
                <a:tailEnd/>
              </a:ln>
            </p:spPr>
            <p:txBody>
              <a:bodyPr/>
              <a:lstStyle/>
              <a:p>
                <a:endParaRPr lang="en-US"/>
              </a:p>
            </p:txBody>
          </p:sp>
          <p:sp>
            <p:nvSpPr>
              <p:cNvPr id="95507" name="Freeform 183"/>
              <p:cNvSpPr>
                <a:spLocks/>
              </p:cNvSpPr>
              <p:nvPr/>
            </p:nvSpPr>
            <p:spPr bwMode="auto">
              <a:xfrm>
                <a:off x="4349" y="3388"/>
                <a:ext cx="506" cy="340"/>
              </a:xfrm>
              <a:custGeom>
                <a:avLst/>
                <a:gdLst>
                  <a:gd name="T0" fmla="*/ 0 w 506"/>
                  <a:gd name="T1" fmla="*/ 303 h 340"/>
                  <a:gd name="T2" fmla="*/ 0 w 506"/>
                  <a:gd name="T3" fmla="*/ 0 h 340"/>
                  <a:gd name="T4" fmla="*/ 506 w 506"/>
                  <a:gd name="T5" fmla="*/ 0 h 340"/>
                  <a:gd name="T6" fmla="*/ 506 w 506"/>
                  <a:gd name="T7" fmla="*/ 303 h 340"/>
                  <a:gd name="T8" fmla="*/ 449 w 506"/>
                  <a:gd name="T9" fmla="*/ 271 h 340"/>
                  <a:gd name="T10" fmla="*/ 378 w 506"/>
                  <a:gd name="T11" fmla="*/ 265 h 340"/>
                  <a:gd name="T12" fmla="*/ 313 w 506"/>
                  <a:gd name="T13" fmla="*/ 271 h 340"/>
                  <a:gd name="T14" fmla="*/ 256 w 506"/>
                  <a:gd name="T15" fmla="*/ 303 h 340"/>
                  <a:gd name="T16" fmla="*/ 192 w 506"/>
                  <a:gd name="T17" fmla="*/ 328 h 340"/>
                  <a:gd name="T18" fmla="*/ 128 w 506"/>
                  <a:gd name="T19" fmla="*/ 340 h 340"/>
                  <a:gd name="T20" fmla="*/ 57 w 506"/>
                  <a:gd name="T21" fmla="*/ 328 h 340"/>
                  <a:gd name="T22" fmla="*/ 0 w 506"/>
                  <a:gd name="T23" fmla="*/ 303 h 340"/>
                  <a:gd name="T24" fmla="*/ 0 w 506"/>
                  <a:gd name="T25" fmla="*/ 303 h 3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0"/>
                  <a:gd name="T41" fmla="*/ 506 w 506"/>
                  <a:gd name="T42" fmla="*/ 340 h 34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0">
                    <a:moveTo>
                      <a:pt x="0" y="303"/>
                    </a:moveTo>
                    <a:lnTo>
                      <a:pt x="0" y="0"/>
                    </a:lnTo>
                    <a:lnTo>
                      <a:pt x="506" y="0"/>
                    </a:lnTo>
                    <a:lnTo>
                      <a:pt x="506" y="303"/>
                    </a:lnTo>
                    <a:lnTo>
                      <a:pt x="449" y="271"/>
                    </a:lnTo>
                    <a:lnTo>
                      <a:pt x="378" y="265"/>
                    </a:lnTo>
                    <a:lnTo>
                      <a:pt x="313" y="271"/>
                    </a:lnTo>
                    <a:lnTo>
                      <a:pt x="256" y="303"/>
                    </a:lnTo>
                    <a:lnTo>
                      <a:pt x="192" y="328"/>
                    </a:lnTo>
                    <a:lnTo>
                      <a:pt x="128" y="340"/>
                    </a:lnTo>
                    <a:lnTo>
                      <a:pt x="57" y="328"/>
                    </a:lnTo>
                    <a:lnTo>
                      <a:pt x="0" y="303"/>
                    </a:lnTo>
                  </a:path>
                </a:pathLst>
              </a:custGeom>
              <a:noFill/>
              <a:ln w="0">
                <a:solidFill>
                  <a:srgbClr val="000000"/>
                </a:solidFill>
                <a:prstDash val="solid"/>
                <a:round/>
                <a:headEnd/>
                <a:tailEnd/>
              </a:ln>
            </p:spPr>
            <p:txBody>
              <a:bodyPr/>
              <a:lstStyle/>
              <a:p>
                <a:endParaRPr lang="en-US"/>
              </a:p>
            </p:txBody>
          </p:sp>
          <p:sp>
            <p:nvSpPr>
              <p:cNvPr id="95508" name="Rectangle 184"/>
              <p:cNvSpPr>
                <a:spLocks noChangeArrowheads="1"/>
              </p:cNvSpPr>
              <p:nvPr/>
            </p:nvSpPr>
            <p:spPr bwMode="auto">
              <a:xfrm>
                <a:off x="4377" y="3458"/>
                <a:ext cx="592" cy="95"/>
              </a:xfrm>
              <a:prstGeom prst="rect">
                <a:avLst/>
              </a:prstGeom>
              <a:noFill/>
              <a:ln w="9525">
                <a:noFill/>
                <a:miter lim="800000"/>
                <a:headEnd/>
                <a:tailEnd/>
              </a:ln>
            </p:spPr>
            <p:txBody>
              <a:bodyPr wrap="none" lIns="0" tIns="0" rIns="0" bIns="0">
                <a:spAutoFit/>
              </a:bodyPr>
              <a:lstStyle/>
              <a:p>
                <a:r>
                  <a:rPr lang="en-US" sz="600">
                    <a:solidFill>
                      <a:srgbClr val="000000"/>
                    </a:solidFill>
                  </a:rPr>
                  <a:t>Safety Evaluation </a:t>
                </a:r>
                <a:endParaRPr lang="en-US"/>
              </a:p>
            </p:txBody>
          </p:sp>
          <p:sp>
            <p:nvSpPr>
              <p:cNvPr id="95509" name="Rectangle 185"/>
              <p:cNvSpPr>
                <a:spLocks noChangeArrowheads="1"/>
              </p:cNvSpPr>
              <p:nvPr/>
            </p:nvSpPr>
            <p:spPr bwMode="auto">
              <a:xfrm>
                <a:off x="4520" y="3515"/>
                <a:ext cx="228" cy="95"/>
              </a:xfrm>
              <a:prstGeom prst="rect">
                <a:avLst/>
              </a:prstGeom>
              <a:noFill/>
              <a:ln w="9525">
                <a:noFill/>
                <a:miter lim="800000"/>
                <a:headEnd/>
                <a:tailEnd/>
              </a:ln>
            </p:spPr>
            <p:txBody>
              <a:bodyPr wrap="none" lIns="0" tIns="0" rIns="0" bIns="0">
                <a:spAutoFit/>
              </a:bodyPr>
              <a:lstStyle/>
              <a:p>
                <a:r>
                  <a:rPr lang="en-US" sz="600">
                    <a:solidFill>
                      <a:srgbClr val="000000"/>
                    </a:solidFill>
                  </a:rPr>
                  <a:t>Report</a:t>
                </a:r>
                <a:endParaRPr lang="en-US"/>
              </a:p>
            </p:txBody>
          </p:sp>
          <p:sp>
            <p:nvSpPr>
              <p:cNvPr id="95510" name="Rectangle 186"/>
              <p:cNvSpPr>
                <a:spLocks noChangeArrowheads="1"/>
              </p:cNvSpPr>
              <p:nvPr/>
            </p:nvSpPr>
            <p:spPr bwMode="auto">
              <a:xfrm>
                <a:off x="4976" y="1050"/>
                <a:ext cx="514" cy="340"/>
              </a:xfrm>
              <a:prstGeom prst="rect">
                <a:avLst/>
              </a:prstGeom>
              <a:solidFill>
                <a:srgbClr val="E8EEF7"/>
              </a:solidFill>
              <a:ln w="9525">
                <a:noFill/>
                <a:miter lim="800000"/>
                <a:headEnd/>
                <a:tailEnd/>
              </a:ln>
            </p:spPr>
            <p:txBody>
              <a:bodyPr/>
              <a:lstStyle/>
              <a:p>
                <a:endParaRPr lang="en-US"/>
              </a:p>
            </p:txBody>
          </p:sp>
          <p:sp>
            <p:nvSpPr>
              <p:cNvPr id="95511" name="Rectangle 187"/>
              <p:cNvSpPr>
                <a:spLocks noChangeArrowheads="1"/>
              </p:cNvSpPr>
              <p:nvPr/>
            </p:nvSpPr>
            <p:spPr bwMode="auto">
              <a:xfrm>
                <a:off x="4976" y="1050"/>
                <a:ext cx="514" cy="340"/>
              </a:xfrm>
              <a:prstGeom prst="rect">
                <a:avLst/>
              </a:prstGeom>
              <a:noFill/>
              <a:ln w="0">
                <a:solidFill>
                  <a:srgbClr val="000000"/>
                </a:solidFill>
                <a:miter lim="800000"/>
                <a:headEnd/>
                <a:tailEnd/>
              </a:ln>
            </p:spPr>
            <p:txBody>
              <a:bodyPr/>
              <a:lstStyle/>
              <a:p>
                <a:endParaRPr lang="en-US"/>
              </a:p>
            </p:txBody>
          </p:sp>
          <p:sp>
            <p:nvSpPr>
              <p:cNvPr id="95512" name="Rectangle 188"/>
              <p:cNvSpPr>
                <a:spLocks noChangeArrowheads="1"/>
              </p:cNvSpPr>
              <p:nvPr/>
            </p:nvSpPr>
            <p:spPr bwMode="auto">
              <a:xfrm>
                <a:off x="5033" y="1063"/>
                <a:ext cx="520" cy="95"/>
              </a:xfrm>
              <a:prstGeom prst="rect">
                <a:avLst/>
              </a:prstGeom>
              <a:noFill/>
              <a:ln w="9525">
                <a:noFill/>
                <a:miter lim="800000"/>
                <a:headEnd/>
                <a:tailEnd/>
              </a:ln>
            </p:spPr>
            <p:txBody>
              <a:bodyPr wrap="none" lIns="0" tIns="0" rIns="0" bIns="0">
                <a:spAutoFit/>
              </a:bodyPr>
              <a:lstStyle/>
              <a:p>
                <a:r>
                  <a:rPr lang="en-US" sz="600">
                    <a:solidFill>
                      <a:srgbClr val="000000"/>
                    </a:solidFill>
                  </a:rPr>
                  <a:t>DOE Authorizes </a:t>
                </a:r>
                <a:endParaRPr lang="en-US"/>
              </a:p>
            </p:txBody>
          </p:sp>
          <p:sp>
            <p:nvSpPr>
              <p:cNvPr id="95513" name="Rectangle 189"/>
              <p:cNvSpPr>
                <a:spLocks noChangeArrowheads="1"/>
              </p:cNvSpPr>
              <p:nvPr/>
            </p:nvSpPr>
            <p:spPr bwMode="auto">
              <a:xfrm>
                <a:off x="5062" y="1126"/>
                <a:ext cx="406" cy="95"/>
              </a:xfrm>
              <a:prstGeom prst="rect">
                <a:avLst/>
              </a:prstGeom>
              <a:noFill/>
              <a:ln w="9525">
                <a:noFill/>
                <a:miter lim="800000"/>
                <a:headEnd/>
                <a:tailEnd/>
              </a:ln>
            </p:spPr>
            <p:txBody>
              <a:bodyPr wrap="none" lIns="0" tIns="0" rIns="0" bIns="0">
                <a:spAutoFit/>
              </a:bodyPr>
              <a:lstStyle/>
              <a:p>
                <a:r>
                  <a:rPr lang="en-US" sz="600">
                    <a:solidFill>
                      <a:srgbClr val="000000"/>
                    </a:solidFill>
                  </a:rPr>
                  <a:t>Procurement</a:t>
                </a:r>
                <a:endParaRPr lang="en-US"/>
              </a:p>
            </p:txBody>
          </p:sp>
          <p:sp>
            <p:nvSpPr>
              <p:cNvPr id="95514" name="Rectangle 190"/>
              <p:cNvSpPr>
                <a:spLocks noChangeArrowheads="1"/>
              </p:cNvSpPr>
              <p:nvPr/>
            </p:nvSpPr>
            <p:spPr bwMode="auto">
              <a:xfrm>
                <a:off x="5390" y="1126"/>
                <a:ext cx="71" cy="95"/>
              </a:xfrm>
              <a:prstGeom prst="rect">
                <a:avLst/>
              </a:prstGeom>
              <a:noFill/>
              <a:ln w="9525">
                <a:noFill/>
                <a:miter lim="800000"/>
                <a:headEnd/>
                <a:tailEnd/>
              </a:ln>
            </p:spPr>
            <p:txBody>
              <a:bodyPr wrap="none" lIns="0" tIns="0" rIns="0" bIns="0">
                <a:spAutoFit/>
              </a:bodyPr>
              <a:lstStyle/>
              <a:p>
                <a:r>
                  <a:rPr lang="en-US" sz="600">
                    <a:solidFill>
                      <a:srgbClr val="000000"/>
                    </a:solidFill>
                  </a:rPr>
                  <a:t>, </a:t>
                </a:r>
                <a:endParaRPr lang="en-US"/>
              </a:p>
            </p:txBody>
          </p:sp>
          <p:sp>
            <p:nvSpPr>
              <p:cNvPr id="95515" name="Rectangle 191"/>
              <p:cNvSpPr>
                <a:spLocks noChangeArrowheads="1"/>
              </p:cNvSpPr>
              <p:nvPr/>
            </p:nvSpPr>
            <p:spPr bwMode="auto">
              <a:xfrm>
                <a:off x="5040" y="1189"/>
                <a:ext cx="406" cy="95"/>
              </a:xfrm>
              <a:prstGeom prst="rect">
                <a:avLst/>
              </a:prstGeom>
              <a:noFill/>
              <a:ln w="9525">
                <a:noFill/>
                <a:miter lim="800000"/>
                <a:headEnd/>
                <a:tailEnd/>
              </a:ln>
            </p:spPr>
            <p:txBody>
              <a:bodyPr wrap="none" lIns="0" tIns="0" rIns="0" bIns="0">
                <a:spAutoFit/>
              </a:bodyPr>
              <a:lstStyle/>
              <a:p>
                <a:r>
                  <a:rPr lang="en-US" sz="600">
                    <a:solidFill>
                      <a:srgbClr val="000000"/>
                    </a:solidFill>
                  </a:rPr>
                  <a:t>Construction</a:t>
                </a:r>
                <a:endParaRPr lang="en-US"/>
              </a:p>
            </p:txBody>
          </p:sp>
          <p:sp>
            <p:nvSpPr>
              <p:cNvPr id="95516" name="Rectangle 192"/>
              <p:cNvSpPr>
                <a:spLocks noChangeArrowheads="1"/>
              </p:cNvSpPr>
              <p:nvPr/>
            </p:nvSpPr>
            <p:spPr bwMode="auto">
              <a:xfrm>
                <a:off x="5354" y="1189"/>
                <a:ext cx="135" cy="95"/>
              </a:xfrm>
              <a:prstGeom prst="rect">
                <a:avLst/>
              </a:prstGeom>
              <a:noFill/>
              <a:ln w="9525">
                <a:noFill/>
                <a:miter lim="800000"/>
                <a:headEnd/>
                <a:tailEnd/>
              </a:ln>
            </p:spPr>
            <p:txBody>
              <a:bodyPr wrap="none" lIns="0" tIns="0" rIns="0" bIns="0">
                <a:spAutoFit/>
              </a:bodyPr>
              <a:lstStyle/>
              <a:p>
                <a:r>
                  <a:rPr lang="en-US" sz="600">
                    <a:solidFill>
                      <a:srgbClr val="000000"/>
                    </a:solidFill>
                  </a:rPr>
                  <a:t>, &amp; </a:t>
                </a:r>
                <a:endParaRPr lang="en-US"/>
              </a:p>
            </p:txBody>
          </p:sp>
          <p:sp>
            <p:nvSpPr>
              <p:cNvPr id="95517" name="Rectangle 193"/>
              <p:cNvSpPr>
                <a:spLocks noChangeArrowheads="1"/>
              </p:cNvSpPr>
              <p:nvPr/>
            </p:nvSpPr>
            <p:spPr bwMode="auto">
              <a:xfrm>
                <a:off x="5169" y="1246"/>
                <a:ext cx="193" cy="95"/>
              </a:xfrm>
              <a:prstGeom prst="rect">
                <a:avLst/>
              </a:prstGeom>
              <a:noFill/>
              <a:ln w="9525">
                <a:noFill/>
                <a:miter lim="800000"/>
                <a:headEnd/>
                <a:tailEnd/>
              </a:ln>
            </p:spPr>
            <p:txBody>
              <a:bodyPr wrap="none" lIns="0" tIns="0" rIns="0" bIns="0">
                <a:spAutoFit/>
              </a:bodyPr>
              <a:lstStyle/>
              <a:p>
                <a:r>
                  <a:rPr lang="en-US" sz="600">
                    <a:solidFill>
                      <a:srgbClr val="000000"/>
                    </a:solidFill>
                  </a:rPr>
                  <a:t>Final </a:t>
                </a:r>
                <a:endParaRPr lang="en-US"/>
              </a:p>
            </p:txBody>
          </p:sp>
          <p:sp>
            <p:nvSpPr>
              <p:cNvPr id="95518" name="Rectangle 194"/>
              <p:cNvSpPr>
                <a:spLocks noChangeArrowheads="1"/>
              </p:cNvSpPr>
              <p:nvPr/>
            </p:nvSpPr>
            <p:spPr bwMode="auto">
              <a:xfrm>
                <a:off x="5040" y="1309"/>
                <a:ext cx="485" cy="95"/>
              </a:xfrm>
              <a:prstGeom prst="rect">
                <a:avLst/>
              </a:prstGeom>
              <a:noFill/>
              <a:ln w="9525">
                <a:noFill/>
                <a:miter lim="800000"/>
                <a:headEnd/>
                <a:tailEnd/>
              </a:ln>
            </p:spPr>
            <p:txBody>
              <a:bodyPr wrap="none" lIns="0" tIns="0" rIns="0" bIns="0">
                <a:spAutoFit/>
              </a:bodyPr>
              <a:lstStyle/>
              <a:p>
                <a:r>
                  <a:rPr lang="en-US" sz="600">
                    <a:solidFill>
                      <a:srgbClr val="000000"/>
                    </a:solidFill>
                  </a:rPr>
                  <a:t>Implementation</a:t>
                </a:r>
                <a:endParaRPr lang="en-US"/>
              </a:p>
            </p:txBody>
          </p:sp>
          <p:sp>
            <p:nvSpPr>
              <p:cNvPr id="95519" name="Freeform 195"/>
              <p:cNvSpPr>
                <a:spLocks/>
              </p:cNvSpPr>
              <p:nvPr/>
            </p:nvSpPr>
            <p:spPr bwMode="auto">
              <a:xfrm>
                <a:off x="3194" y="2676"/>
                <a:ext cx="470" cy="347"/>
              </a:xfrm>
              <a:custGeom>
                <a:avLst/>
                <a:gdLst>
                  <a:gd name="T0" fmla="*/ 470 w 470"/>
                  <a:gd name="T1" fmla="*/ 0 h 347"/>
                  <a:gd name="T2" fmla="*/ 470 w 470"/>
                  <a:gd name="T3" fmla="*/ 107 h 347"/>
                  <a:gd name="T4" fmla="*/ 0 w 470"/>
                  <a:gd name="T5" fmla="*/ 107 h 347"/>
                  <a:gd name="T6" fmla="*/ 0 w 470"/>
                  <a:gd name="T7" fmla="*/ 347 h 347"/>
                  <a:gd name="T8" fmla="*/ 0 60000 65536"/>
                  <a:gd name="T9" fmla="*/ 0 60000 65536"/>
                  <a:gd name="T10" fmla="*/ 0 60000 65536"/>
                  <a:gd name="T11" fmla="*/ 0 60000 65536"/>
                  <a:gd name="T12" fmla="*/ 0 w 470"/>
                  <a:gd name="T13" fmla="*/ 0 h 347"/>
                  <a:gd name="T14" fmla="*/ 470 w 470"/>
                  <a:gd name="T15" fmla="*/ 347 h 347"/>
                </a:gdLst>
                <a:ahLst/>
                <a:cxnLst>
                  <a:cxn ang="T8">
                    <a:pos x="T0" y="T1"/>
                  </a:cxn>
                  <a:cxn ang="T9">
                    <a:pos x="T2" y="T3"/>
                  </a:cxn>
                  <a:cxn ang="T10">
                    <a:pos x="T4" y="T5"/>
                  </a:cxn>
                  <a:cxn ang="T11">
                    <a:pos x="T6" y="T7"/>
                  </a:cxn>
                </a:cxnLst>
                <a:rect l="T12" t="T13" r="T14" b="T15"/>
                <a:pathLst>
                  <a:path w="470" h="347">
                    <a:moveTo>
                      <a:pt x="470" y="0"/>
                    </a:moveTo>
                    <a:lnTo>
                      <a:pt x="470" y="107"/>
                    </a:lnTo>
                    <a:lnTo>
                      <a:pt x="0" y="107"/>
                    </a:lnTo>
                    <a:lnTo>
                      <a:pt x="0" y="347"/>
                    </a:lnTo>
                  </a:path>
                </a:pathLst>
              </a:custGeom>
              <a:noFill/>
              <a:ln w="0">
                <a:solidFill>
                  <a:srgbClr val="4677BF"/>
                </a:solidFill>
                <a:prstDash val="solid"/>
                <a:round/>
                <a:headEnd/>
                <a:tailEnd/>
              </a:ln>
            </p:spPr>
            <p:txBody>
              <a:bodyPr/>
              <a:lstStyle/>
              <a:p>
                <a:endParaRPr lang="en-US"/>
              </a:p>
            </p:txBody>
          </p:sp>
          <p:sp>
            <p:nvSpPr>
              <p:cNvPr id="95520" name="Freeform 196"/>
              <p:cNvSpPr>
                <a:spLocks/>
              </p:cNvSpPr>
              <p:nvPr/>
            </p:nvSpPr>
            <p:spPr bwMode="auto">
              <a:xfrm>
                <a:off x="3650" y="2651"/>
                <a:ext cx="36" cy="31"/>
              </a:xfrm>
              <a:custGeom>
                <a:avLst/>
                <a:gdLst>
                  <a:gd name="T0" fmla="*/ 0 w 36"/>
                  <a:gd name="T1" fmla="*/ 31 h 31"/>
                  <a:gd name="T2" fmla="*/ 14 w 36"/>
                  <a:gd name="T3" fmla="*/ 0 h 31"/>
                  <a:gd name="T4" fmla="*/ 36 w 36"/>
                  <a:gd name="T5" fmla="*/ 31 h 31"/>
                  <a:gd name="T6" fmla="*/ 0 w 36"/>
                  <a:gd name="T7" fmla="*/ 31 h 31"/>
                  <a:gd name="T8" fmla="*/ 0 60000 65536"/>
                  <a:gd name="T9" fmla="*/ 0 60000 65536"/>
                  <a:gd name="T10" fmla="*/ 0 60000 65536"/>
                  <a:gd name="T11" fmla="*/ 0 60000 65536"/>
                  <a:gd name="T12" fmla="*/ 0 w 36"/>
                  <a:gd name="T13" fmla="*/ 0 h 31"/>
                  <a:gd name="T14" fmla="*/ 36 w 36"/>
                  <a:gd name="T15" fmla="*/ 31 h 31"/>
                </a:gdLst>
                <a:ahLst/>
                <a:cxnLst>
                  <a:cxn ang="T8">
                    <a:pos x="T0" y="T1"/>
                  </a:cxn>
                  <a:cxn ang="T9">
                    <a:pos x="T2" y="T3"/>
                  </a:cxn>
                  <a:cxn ang="T10">
                    <a:pos x="T4" y="T5"/>
                  </a:cxn>
                  <a:cxn ang="T11">
                    <a:pos x="T6" y="T7"/>
                  </a:cxn>
                </a:cxnLst>
                <a:rect l="T12" t="T13" r="T14" b="T15"/>
                <a:pathLst>
                  <a:path w="36" h="31">
                    <a:moveTo>
                      <a:pt x="0" y="31"/>
                    </a:moveTo>
                    <a:lnTo>
                      <a:pt x="14" y="0"/>
                    </a:lnTo>
                    <a:lnTo>
                      <a:pt x="36" y="31"/>
                    </a:lnTo>
                    <a:lnTo>
                      <a:pt x="0" y="31"/>
                    </a:lnTo>
                    <a:close/>
                  </a:path>
                </a:pathLst>
              </a:custGeom>
              <a:solidFill>
                <a:srgbClr val="4677BF"/>
              </a:solidFill>
              <a:ln w="9525">
                <a:noFill/>
                <a:round/>
                <a:headEnd/>
                <a:tailEnd/>
              </a:ln>
            </p:spPr>
            <p:txBody>
              <a:bodyPr/>
              <a:lstStyle/>
              <a:p>
                <a:endParaRPr lang="en-US"/>
              </a:p>
            </p:txBody>
          </p:sp>
          <p:sp>
            <p:nvSpPr>
              <p:cNvPr id="95521" name="Freeform 197"/>
              <p:cNvSpPr>
                <a:spLocks/>
              </p:cNvSpPr>
              <p:nvPr/>
            </p:nvSpPr>
            <p:spPr bwMode="auto">
              <a:xfrm>
                <a:off x="3172" y="3016"/>
                <a:ext cx="43" cy="38"/>
              </a:xfrm>
              <a:custGeom>
                <a:avLst/>
                <a:gdLst>
                  <a:gd name="T0" fmla="*/ 43 w 43"/>
                  <a:gd name="T1" fmla="*/ 0 h 38"/>
                  <a:gd name="T2" fmla="*/ 22 w 43"/>
                  <a:gd name="T3" fmla="*/ 38 h 38"/>
                  <a:gd name="T4" fmla="*/ 0 w 43"/>
                  <a:gd name="T5" fmla="*/ 0 h 38"/>
                  <a:gd name="T6" fmla="*/ 43 w 43"/>
                  <a:gd name="T7" fmla="*/ 0 h 38"/>
                  <a:gd name="T8" fmla="*/ 0 60000 65536"/>
                  <a:gd name="T9" fmla="*/ 0 60000 65536"/>
                  <a:gd name="T10" fmla="*/ 0 60000 65536"/>
                  <a:gd name="T11" fmla="*/ 0 60000 65536"/>
                  <a:gd name="T12" fmla="*/ 0 w 43"/>
                  <a:gd name="T13" fmla="*/ 0 h 38"/>
                  <a:gd name="T14" fmla="*/ 43 w 43"/>
                  <a:gd name="T15" fmla="*/ 38 h 38"/>
                </a:gdLst>
                <a:ahLst/>
                <a:cxnLst>
                  <a:cxn ang="T8">
                    <a:pos x="T0" y="T1"/>
                  </a:cxn>
                  <a:cxn ang="T9">
                    <a:pos x="T2" y="T3"/>
                  </a:cxn>
                  <a:cxn ang="T10">
                    <a:pos x="T4" y="T5"/>
                  </a:cxn>
                  <a:cxn ang="T11">
                    <a:pos x="T6" y="T7"/>
                  </a:cxn>
                </a:cxnLst>
                <a:rect l="T12" t="T13" r="T14" b="T15"/>
                <a:pathLst>
                  <a:path w="43" h="38">
                    <a:moveTo>
                      <a:pt x="43" y="0"/>
                    </a:moveTo>
                    <a:lnTo>
                      <a:pt x="22" y="38"/>
                    </a:lnTo>
                    <a:lnTo>
                      <a:pt x="0" y="0"/>
                    </a:lnTo>
                    <a:lnTo>
                      <a:pt x="43" y="0"/>
                    </a:lnTo>
                    <a:close/>
                  </a:path>
                </a:pathLst>
              </a:custGeom>
              <a:solidFill>
                <a:srgbClr val="4677BF"/>
              </a:solidFill>
              <a:ln w="9525">
                <a:noFill/>
                <a:round/>
                <a:headEnd/>
                <a:tailEnd/>
              </a:ln>
            </p:spPr>
            <p:txBody>
              <a:bodyPr/>
              <a:lstStyle/>
              <a:p>
                <a:endParaRPr lang="en-US"/>
              </a:p>
            </p:txBody>
          </p:sp>
          <p:sp>
            <p:nvSpPr>
              <p:cNvPr id="95522" name="Freeform 198"/>
              <p:cNvSpPr>
                <a:spLocks/>
              </p:cNvSpPr>
              <p:nvPr/>
            </p:nvSpPr>
            <p:spPr bwMode="auto">
              <a:xfrm>
                <a:off x="2310" y="3584"/>
                <a:ext cx="599" cy="144"/>
              </a:xfrm>
              <a:custGeom>
                <a:avLst/>
                <a:gdLst>
                  <a:gd name="T0" fmla="*/ 0 w 599"/>
                  <a:gd name="T1" fmla="*/ 0 h 144"/>
                  <a:gd name="T2" fmla="*/ 313 w 599"/>
                  <a:gd name="T3" fmla="*/ 0 h 144"/>
                  <a:gd name="T4" fmla="*/ 313 w 599"/>
                  <a:gd name="T5" fmla="*/ 144 h 144"/>
                  <a:gd name="T6" fmla="*/ 599 w 599"/>
                  <a:gd name="T7" fmla="*/ 144 h 144"/>
                  <a:gd name="T8" fmla="*/ 0 60000 65536"/>
                  <a:gd name="T9" fmla="*/ 0 60000 65536"/>
                  <a:gd name="T10" fmla="*/ 0 60000 65536"/>
                  <a:gd name="T11" fmla="*/ 0 60000 65536"/>
                  <a:gd name="T12" fmla="*/ 0 w 599"/>
                  <a:gd name="T13" fmla="*/ 0 h 144"/>
                  <a:gd name="T14" fmla="*/ 599 w 599"/>
                  <a:gd name="T15" fmla="*/ 144 h 144"/>
                </a:gdLst>
                <a:ahLst/>
                <a:cxnLst>
                  <a:cxn ang="T8">
                    <a:pos x="T0" y="T1"/>
                  </a:cxn>
                  <a:cxn ang="T9">
                    <a:pos x="T2" y="T3"/>
                  </a:cxn>
                  <a:cxn ang="T10">
                    <a:pos x="T4" y="T5"/>
                  </a:cxn>
                  <a:cxn ang="T11">
                    <a:pos x="T6" y="T7"/>
                  </a:cxn>
                </a:cxnLst>
                <a:rect l="T12" t="T13" r="T14" b="T15"/>
                <a:pathLst>
                  <a:path w="599" h="144">
                    <a:moveTo>
                      <a:pt x="0" y="0"/>
                    </a:moveTo>
                    <a:lnTo>
                      <a:pt x="313" y="0"/>
                    </a:lnTo>
                    <a:lnTo>
                      <a:pt x="313" y="144"/>
                    </a:lnTo>
                    <a:lnTo>
                      <a:pt x="599" y="144"/>
                    </a:lnTo>
                  </a:path>
                </a:pathLst>
              </a:custGeom>
              <a:noFill/>
              <a:ln w="0">
                <a:solidFill>
                  <a:srgbClr val="4677BF"/>
                </a:solidFill>
                <a:prstDash val="solid"/>
                <a:round/>
                <a:headEnd/>
                <a:tailEnd/>
              </a:ln>
            </p:spPr>
            <p:txBody>
              <a:bodyPr/>
              <a:lstStyle/>
              <a:p>
                <a:endParaRPr lang="en-US"/>
              </a:p>
            </p:txBody>
          </p:sp>
          <p:sp>
            <p:nvSpPr>
              <p:cNvPr id="95523" name="Freeform 199"/>
              <p:cNvSpPr>
                <a:spLocks/>
              </p:cNvSpPr>
              <p:nvPr/>
            </p:nvSpPr>
            <p:spPr bwMode="auto">
              <a:xfrm>
                <a:off x="2901" y="3710"/>
                <a:ext cx="36" cy="31"/>
              </a:xfrm>
              <a:custGeom>
                <a:avLst/>
                <a:gdLst>
                  <a:gd name="T0" fmla="*/ 0 w 36"/>
                  <a:gd name="T1" fmla="*/ 0 h 31"/>
                  <a:gd name="T2" fmla="*/ 36 w 36"/>
                  <a:gd name="T3" fmla="*/ 18 h 31"/>
                  <a:gd name="T4" fmla="*/ 0 w 36"/>
                  <a:gd name="T5" fmla="*/ 31 h 31"/>
                  <a:gd name="T6" fmla="*/ 0 w 36"/>
                  <a:gd name="T7" fmla="*/ 0 h 31"/>
                  <a:gd name="T8" fmla="*/ 0 60000 65536"/>
                  <a:gd name="T9" fmla="*/ 0 60000 65536"/>
                  <a:gd name="T10" fmla="*/ 0 60000 65536"/>
                  <a:gd name="T11" fmla="*/ 0 60000 65536"/>
                  <a:gd name="T12" fmla="*/ 0 w 36"/>
                  <a:gd name="T13" fmla="*/ 0 h 31"/>
                  <a:gd name="T14" fmla="*/ 36 w 36"/>
                  <a:gd name="T15" fmla="*/ 31 h 31"/>
                </a:gdLst>
                <a:ahLst/>
                <a:cxnLst>
                  <a:cxn ang="T8">
                    <a:pos x="T0" y="T1"/>
                  </a:cxn>
                  <a:cxn ang="T9">
                    <a:pos x="T2" y="T3"/>
                  </a:cxn>
                  <a:cxn ang="T10">
                    <a:pos x="T4" y="T5"/>
                  </a:cxn>
                  <a:cxn ang="T11">
                    <a:pos x="T6" y="T7"/>
                  </a:cxn>
                </a:cxnLst>
                <a:rect l="T12" t="T13" r="T14" b="T15"/>
                <a:pathLst>
                  <a:path w="36" h="31">
                    <a:moveTo>
                      <a:pt x="0" y="0"/>
                    </a:moveTo>
                    <a:lnTo>
                      <a:pt x="36" y="18"/>
                    </a:lnTo>
                    <a:lnTo>
                      <a:pt x="0" y="31"/>
                    </a:lnTo>
                    <a:lnTo>
                      <a:pt x="0" y="0"/>
                    </a:lnTo>
                    <a:close/>
                  </a:path>
                </a:pathLst>
              </a:custGeom>
              <a:solidFill>
                <a:srgbClr val="4677BF"/>
              </a:solidFill>
              <a:ln w="9525">
                <a:noFill/>
                <a:round/>
                <a:headEnd/>
                <a:tailEnd/>
              </a:ln>
            </p:spPr>
            <p:txBody>
              <a:bodyPr/>
              <a:lstStyle/>
              <a:p>
                <a:endParaRPr lang="en-US"/>
              </a:p>
            </p:txBody>
          </p:sp>
          <p:sp>
            <p:nvSpPr>
              <p:cNvPr id="95524" name="Freeform 200"/>
              <p:cNvSpPr>
                <a:spLocks/>
              </p:cNvSpPr>
              <p:nvPr/>
            </p:nvSpPr>
            <p:spPr bwMode="auto">
              <a:xfrm>
                <a:off x="3921" y="2235"/>
                <a:ext cx="342" cy="246"/>
              </a:xfrm>
              <a:custGeom>
                <a:avLst/>
                <a:gdLst>
                  <a:gd name="T0" fmla="*/ 0 w 342"/>
                  <a:gd name="T1" fmla="*/ 246 h 246"/>
                  <a:gd name="T2" fmla="*/ 342 w 342"/>
                  <a:gd name="T3" fmla="*/ 246 h 246"/>
                  <a:gd name="T4" fmla="*/ 342 w 342"/>
                  <a:gd name="T5" fmla="*/ 0 h 246"/>
                  <a:gd name="T6" fmla="*/ 0 60000 65536"/>
                  <a:gd name="T7" fmla="*/ 0 60000 65536"/>
                  <a:gd name="T8" fmla="*/ 0 60000 65536"/>
                  <a:gd name="T9" fmla="*/ 0 w 342"/>
                  <a:gd name="T10" fmla="*/ 0 h 246"/>
                  <a:gd name="T11" fmla="*/ 342 w 342"/>
                  <a:gd name="T12" fmla="*/ 246 h 246"/>
                </a:gdLst>
                <a:ahLst/>
                <a:cxnLst>
                  <a:cxn ang="T6">
                    <a:pos x="T0" y="T1"/>
                  </a:cxn>
                  <a:cxn ang="T7">
                    <a:pos x="T2" y="T3"/>
                  </a:cxn>
                  <a:cxn ang="T8">
                    <a:pos x="T4" y="T5"/>
                  </a:cxn>
                </a:cxnLst>
                <a:rect l="T9" t="T10" r="T11" b="T12"/>
                <a:pathLst>
                  <a:path w="342" h="246">
                    <a:moveTo>
                      <a:pt x="0" y="246"/>
                    </a:moveTo>
                    <a:lnTo>
                      <a:pt x="342" y="246"/>
                    </a:lnTo>
                    <a:lnTo>
                      <a:pt x="342" y="0"/>
                    </a:lnTo>
                  </a:path>
                </a:pathLst>
              </a:custGeom>
              <a:noFill/>
              <a:ln w="0">
                <a:solidFill>
                  <a:srgbClr val="4677BF"/>
                </a:solidFill>
                <a:prstDash val="solid"/>
                <a:round/>
                <a:headEnd/>
                <a:tailEnd/>
              </a:ln>
            </p:spPr>
            <p:txBody>
              <a:bodyPr/>
              <a:lstStyle/>
              <a:p>
                <a:endParaRPr lang="en-US"/>
              </a:p>
            </p:txBody>
          </p:sp>
          <p:sp>
            <p:nvSpPr>
              <p:cNvPr id="95525" name="Freeform 201"/>
              <p:cNvSpPr>
                <a:spLocks/>
              </p:cNvSpPr>
              <p:nvPr/>
            </p:nvSpPr>
            <p:spPr bwMode="auto">
              <a:xfrm>
                <a:off x="4242" y="2210"/>
                <a:ext cx="43" cy="31"/>
              </a:xfrm>
              <a:custGeom>
                <a:avLst/>
                <a:gdLst>
                  <a:gd name="T0" fmla="*/ 0 w 43"/>
                  <a:gd name="T1" fmla="*/ 31 h 31"/>
                  <a:gd name="T2" fmla="*/ 21 w 43"/>
                  <a:gd name="T3" fmla="*/ 0 h 31"/>
                  <a:gd name="T4" fmla="*/ 43 w 43"/>
                  <a:gd name="T5" fmla="*/ 31 h 31"/>
                  <a:gd name="T6" fmla="*/ 0 w 43"/>
                  <a:gd name="T7" fmla="*/ 31 h 31"/>
                  <a:gd name="T8" fmla="*/ 0 60000 65536"/>
                  <a:gd name="T9" fmla="*/ 0 60000 65536"/>
                  <a:gd name="T10" fmla="*/ 0 60000 65536"/>
                  <a:gd name="T11" fmla="*/ 0 60000 65536"/>
                  <a:gd name="T12" fmla="*/ 0 w 43"/>
                  <a:gd name="T13" fmla="*/ 0 h 31"/>
                  <a:gd name="T14" fmla="*/ 43 w 43"/>
                  <a:gd name="T15" fmla="*/ 31 h 31"/>
                </a:gdLst>
                <a:ahLst/>
                <a:cxnLst>
                  <a:cxn ang="T8">
                    <a:pos x="T0" y="T1"/>
                  </a:cxn>
                  <a:cxn ang="T9">
                    <a:pos x="T2" y="T3"/>
                  </a:cxn>
                  <a:cxn ang="T10">
                    <a:pos x="T4" y="T5"/>
                  </a:cxn>
                  <a:cxn ang="T11">
                    <a:pos x="T6" y="T7"/>
                  </a:cxn>
                </a:cxnLst>
                <a:rect l="T12" t="T13" r="T14" b="T15"/>
                <a:pathLst>
                  <a:path w="43" h="31">
                    <a:moveTo>
                      <a:pt x="0" y="31"/>
                    </a:moveTo>
                    <a:lnTo>
                      <a:pt x="21" y="0"/>
                    </a:lnTo>
                    <a:lnTo>
                      <a:pt x="43" y="31"/>
                    </a:lnTo>
                    <a:lnTo>
                      <a:pt x="0" y="31"/>
                    </a:lnTo>
                    <a:close/>
                  </a:path>
                </a:pathLst>
              </a:custGeom>
              <a:solidFill>
                <a:srgbClr val="4677BF"/>
              </a:solidFill>
              <a:ln w="9525">
                <a:noFill/>
                <a:round/>
                <a:headEnd/>
                <a:tailEnd/>
              </a:ln>
            </p:spPr>
            <p:txBody>
              <a:bodyPr/>
              <a:lstStyle/>
              <a:p>
                <a:endParaRPr lang="en-US"/>
              </a:p>
            </p:txBody>
          </p:sp>
          <p:sp>
            <p:nvSpPr>
              <p:cNvPr id="95526" name="Line 202"/>
              <p:cNvSpPr>
                <a:spLocks noChangeShapeType="1"/>
              </p:cNvSpPr>
              <p:nvPr/>
            </p:nvSpPr>
            <p:spPr bwMode="auto">
              <a:xfrm>
                <a:off x="2973" y="2474"/>
                <a:ext cx="406" cy="7"/>
              </a:xfrm>
              <a:prstGeom prst="line">
                <a:avLst/>
              </a:prstGeom>
              <a:noFill/>
              <a:ln w="0">
                <a:solidFill>
                  <a:srgbClr val="4677BF"/>
                </a:solidFill>
                <a:round/>
                <a:headEnd/>
                <a:tailEnd/>
              </a:ln>
            </p:spPr>
            <p:txBody>
              <a:bodyPr/>
              <a:lstStyle/>
              <a:p>
                <a:endParaRPr lang="en-US"/>
              </a:p>
            </p:txBody>
          </p:sp>
          <p:sp>
            <p:nvSpPr>
              <p:cNvPr id="95527" name="Freeform 203"/>
              <p:cNvSpPr>
                <a:spLocks/>
              </p:cNvSpPr>
              <p:nvPr/>
            </p:nvSpPr>
            <p:spPr bwMode="auto">
              <a:xfrm>
                <a:off x="3372" y="2462"/>
                <a:ext cx="43" cy="31"/>
              </a:xfrm>
              <a:custGeom>
                <a:avLst/>
                <a:gdLst>
                  <a:gd name="T0" fmla="*/ 0 w 43"/>
                  <a:gd name="T1" fmla="*/ 0 h 31"/>
                  <a:gd name="T2" fmla="*/ 43 w 43"/>
                  <a:gd name="T3" fmla="*/ 19 h 31"/>
                  <a:gd name="T4" fmla="*/ 0 w 43"/>
                  <a:gd name="T5" fmla="*/ 31 h 31"/>
                  <a:gd name="T6" fmla="*/ 0 w 43"/>
                  <a:gd name="T7" fmla="*/ 0 h 31"/>
                  <a:gd name="T8" fmla="*/ 0 60000 65536"/>
                  <a:gd name="T9" fmla="*/ 0 60000 65536"/>
                  <a:gd name="T10" fmla="*/ 0 60000 65536"/>
                  <a:gd name="T11" fmla="*/ 0 60000 65536"/>
                  <a:gd name="T12" fmla="*/ 0 w 43"/>
                  <a:gd name="T13" fmla="*/ 0 h 31"/>
                  <a:gd name="T14" fmla="*/ 43 w 43"/>
                  <a:gd name="T15" fmla="*/ 31 h 31"/>
                </a:gdLst>
                <a:ahLst/>
                <a:cxnLst>
                  <a:cxn ang="T8">
                    <a:pos x="T0" y="T1"/>
                  </a:cxn>
                  <a:cxn ang="T9">
                    <a:pos x="T2" y="T3"/>
                  </a:cxn>
                  <a:cxn ang="T10">
                    <a:pos x="T4" y="T5"/>
                  </a:cxn>
                  <a:cxn ang="T11">
                    <a:pos x="T6" y="T7"/>
                  </a:cxn>
                </a:cxnLst>
                <a:rect l="T12" t="T13" r="T14" b="T15"/>
                <a:pathLst>
                  <a:path w="43" h="31">
                    <a:moveTo>
                      <a:pt x="0" y="0"/>
                    </a:moveTo>
                    <a:lnTo>
                      <a:pt x="43" y="19"/>
                    </a:lnTo>
                    <a:lnTo>
                      <a:pt x="0" y="31"/>
                    </a:lnTo>
                    <a:lnTo>
                      <a:pt x="0" y="0"/>
                    </a:lnTo>
                    <a:close/>
                  </a:path>
                </a:pathLst>
              </a:custGeom>
              <a:solidFill>
                <a:srgbClr val="4677BF"/>
              </a:solidFill>
              <a:ln w="9525">
                <a:noFill/>
                <a:round/>
                <a:headEnd/>
                <a:tailEnd/>
              </a:ln>
            </p:spPr>
            <p:txBody>
              <a:bodyPr/>
              <a:lstStyle/>
              <a:p>
                <a:endParaRPr lang="en-US"/>
              </a:p>
            </p:txBody>
          </p:sp>
          <p:sp>
            <p:nvSpPr>
              <p:cNvPr id="95528" name="Rectangle 204"/>
              <p:cNvSpPr>
                <a:spLocks noChangeArrowheads="1"/>
              </p:cNvSpPr>
              <p:nvPr/>
            </p:nvSpPr>
            <p:spPr bwMode="auto">
              <a:xfrm>
                <a:off x="2459" y="2311"/>
                <a:ext cx="514" cy="334"/>
              </a:xfrm>
              <a:prstGeom prst="rect">
                <a:avLst/>
              </a:prstGeom>
              <a:blipFill dpi="0" rotWithShape="0">
                <a:blip r:embed="rId4" cstate="print"/>
                <a:srcRect/>
                <a:tile tx="0" ty="0" sx="100000" sy="100000" flip="none" algn="tl"/>
              </a:blipFill>
              <a:ln w="9525">
                <a:noFill/>
                <a:miter lim="800000"/>
                <a:headEnd/>
                <a:tailEnd/>
              </a:ln>
            </p:spPr>
            <p:txBody>
              <a:bodyPr/>
              <a:lstStyle/>
              <a:p>
                <a:endParaRPr lang="en-US"/>
              </a:p>
            </p:txBody>
          </p:sp>
        </p:grpSp>
        <p:sp>
          <p:nvSpPr>
            <p:cNvPr id="95239" name="Rectangle 206"/>
            <p:cNvSpPr>
              <a:spLocks noChangeArrowheads="1"/>
            </p:cNvSpPr>
            <p:nvPr/>
          </p:nvSpPr>
          <p:spPr bwMode="auto">
            <a:xfrm>
              <a:off x="2459" y="2311"/>
              <a:ext cx="514" cy="334"/>
            </a:xfrm>
            <a:prstGeom prst="rect">
              <a:avLst/>
            </a:prstGeom>
            <a:noFill/>
            <a:ln w="0">
              <a:solidFill>
                <a:srgbClr val="000000"/>
              </a:solidFill>
              <a:miter lim="800000"/>
              <a:headEnd/>
              <a:tailEnd/>
            </a:ln>
          </p:spPr>
          <p:txBody>
            <a:bodyPr/>
            <a:lstStyle/>
            <a:p>
              <a:endParaRPr lang="en-US"/>
            </a:p>
          </p:txBody>
        </p:sp>
        <p:sp>
          <p:nvSpPr>
            <p:cNvPr id="95240" name="Rectangle 207"/>
            <p:cNvSpPr>
              <a:spLocks noChangeArrowheads="1"/>
            </p:cNvSpPr>
            <p:nvPr/>
          </p:nvSpPr>
          <p:spPr bwMode="auto">
            <a:xfrm>
              <a:off x="2509" y="2324"/>
              <a:ext cx="563" cy="95"/>
            </a:xfrm>
            <a:prstGeom prst="rect">
              <a:avLst/>
            </a:prstGeom>
            <a:noFill/>
            <a:ln w="9525">
              <a:noFill/>
              <a:miter lim="800000"/>
              <a:headEnd/>
              <a:tailEnd/>
            </a:ln>
          </p:spPr>
          <p:txBody>
            <a:bodyPr wrap="none" lIns="0" tIns="0" rIns="0" bIns="0">
              <a:spAutoFit/>
            </a:bodyPr>
            <a:lstStyle/>
            <a:p>
              <a:r>
                <a:rPr lang="en-US" sz="600">
                  <a:solidFill>
                    <a:srgbClr val="000000"/>
                  </a:solidFill>
                </a:rPr>
                <a:t>Update Safety in </a:t>
              </a:r>
              <a:endParaRPr lang="en-US"/>
            </a:p>
          </p:txBody>
        </p:sp>
        <p:sp>
          <p:nvSpPr>
            <p:cNvPr id="95241" name="Rectangle 208"/>
            <p:cNvSpPr>
              <a:spLocks noChangeArrowheads="1"/>
            </p:cNvSpPr>
            <p:nvPr/>
          </p:nvSpPr>
          <p:spPr bwMode="auto">
            <a:xfrm>
              <a:off x="2538" y="2380"/>
              <a:ext cx="414" cy="95"/>
            </a:xfrm>
            <a:prstGeom prst="rect">
              <a:avLst/>
            </a:prstGeom>
            <a:noFill/>
            <a:ln w="9525">
              <a:noFill/>
              <a:miter lim="800000"/>
              <a:headEnd/>
              <a:tailEnd/>
            </a:ln>
          </p:spPr>
          <p:txBody>
            <a:bodyPr wrap="none" lIns="0" tIns="0" rIns="0" bIns="0">
              <a:spAutoFit/>
            </a:bodyPr>
            <a:lstStyle/>
            <a:p>
              <a:r>
                <a:rPr lang="en-US" sz="600">
                  <a:solidFill>
                    <a:srgbClr val="000000"/>
                  </a:solidFill>
                </a:rPr>
                <a:t>Design Risk </a:t>
              </a:r>
              <a:endParaRPr lang="en-US"/>
            </a:p>
          </p:txBody>
        </p:sp>
        <p:sp>
          <p:nvSpPr>
            <p:cNvPr id="95242" name="Rectangle 209"/>
            <p:cNvSpPr>
              <a:spLocks noChangeArrowheads="1"/>
            </p:cNvSpPr>
            <p:nvPr/>
          </p:nvSpPr>
          <p:spPr bwMode="auto">
            <a:xfrm>
              <a:off x="2859" y="2380"/>
              <a:ext cx="93" cy="95"/>
            </a:xfrm>
            <a:prstGeom prst="rect">
              <a:avLst/>
            </a:prstGeom>
            <a:noFill/>
            <a:ln w="9525">
              <a:noFill/>
              <a:miter lim="800000"/>
              <a:headEnd/>
              <a:tailEnd/>
            </a:ln>
          </p:spPr>
          <p:txBody>
            <a:bodyPr wrap="none" lIns="0" tIns="0" rIns="0" bIns="0">
              <a:spAutoFit/>
            </a:bodyPr>
            <a:lstStyle/>
            <a:p>
              <a:r>
                <a:rPr lang="en-US" sz="600">
                  <a:solidFill>
                    <a:srgbClr val="000000"/>
                  </a:solidFill>
                </a:rPr>
                <a:t>&amp; </a:t>
              </a:r>
              <a:endParaRPr lang="en-US"/>
            </a:p>
          </p:txBody>
        </p:sp>
        <p:sp>
          <p:nvSpPr>
            <p:cNvPr id="95243" name="Rectangle 210"/>
            <p:cNvSpPr>
              <a:spLocks noChangeArrowheads="1"/>
            </p:cNvSpPr>
            <p:nvPr/>
          </p:nvSpPr>
          <p:spPr bwMode="auto">
            <a:xfrm>
              <a:off x="2545" y="2437"/>
              <a:ext cx="442" cy="95"/>
            </a:xfrm>
            <a:prstGeom prst="rect">
              <a:avLst/>
            </a:prstGeom>
            <a:noFill/>
            <a:ln w="9525">
              <a:noFill/>
              <a:miter lim="800000"/>
              <a:headEnd/>
              <a:tailEnd/>
            </a:ln>
          </p:spPr>
          <p:txBody>
            <a:bodyPr wrap="none" lIns="0" tIns="0" rIns="0" bIns="0">
              <a:spAutoFit/>
            </a:bodyPr>
            <a:lstStyle/>
            <a:p>
              <a:r>
                <a:rPr lang="en-US" sz="600">
                  <a:solidFill>
                    <a:srgbClr val="000000"/>
                  </a:solidFill>
                </a:rPr>
                <a:t>Opportunities </a:t>
              </a:r>
              <a:endParaRPr lang="en-US"/>
            </a:p>
          </p:txBody>
        </p:sp>
        <p:sp>
          <p:nvSpPr>
            <p:cNvPr id="95244" name="Rectangle 211"/>
            <p:cNvSpPr>
              <a:spLocks noChangeArrowheads="1"/>
            </p:cNvSpPr>
            <p:nvPr/>
          </p:nvSpPr>
          <p:spPr bwMode="auto">
            <a:xfrm>
              <a:off x="2559" y="2500"/>
              <a:ext cx="399" cy="95"/>
            </a:xfrm>
            <a:prstGeom prst="rect">
              <a:avLst/>
            </a:prstGeom>
            <a:noFill/>
            <a:ln w="9525">
              <a:noFill/>
              <a:miter lim="800000"/>
              <a:headEnd/>
              <a:tailEnd/>
            </a:ln>
          </p:spPr>
          <p:txBody>
            <a:bodyPr wrap="none" lIns="0" tIns="0" rIns="0" bIns="0">
              <a:spAutoFit/>
            </a:bodyPr>
            <a:lstStyle/>
            <a:p>
              <a:r>
                <a:rPr lang="en-US" sz="600">
                  <a:solidFill>
                    <a:srgbClr val="000000"/>
                  </a:solidFill>
                </a:rPr>
                <a:t>Assessment</a:t>
              </a:r>
              <a:endParaRPr lang="en-US"/>
            </a:p>
          </p:txBody>
        </p:sp>
        <p:sp>
          <p:nvSpPr>
            <p:cNvPr id="95245" name="Rectangle 212"/>
            <p:cNvSpPr>
              <a:spLocks noChangeArrowheads="1"/>
            </p:cNvSpPr>
            <p:nvPr/>
          </p:nvSpPr>
          <p:spPr bwMode="auto">
            <a:xfrm>
              <a:off x="2673" y="2563"/>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3</a:t>
              </a:r>
              <a:endParaRPr lang="en-US"/>
            </a:p>
          </p:txBody>
        </p:sp>
        <p:sp>
          <p:nvSpPr>
            <p:cNvPr id="95246" name="Rectangle 213"/>
            <p:cNvSpPr>
              <a:spLocks noChangeArrowheads="1"/>
            </p:cNvSpPr>
            <p:nvPr/>
          </p:nvSpPr>
          <p:spPr bwMode="auto">
            <a:xfrm>
              <a:off x="2709" y="2563"/>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247" name="Rectangle 214"/>
            <p:cNvSpPr>
              <a:spLocks noChangeArrowheads="1"/>
            </p:cNvSpPr>
            <p:nvPr/>
          </p:nvSpPr>
          <p:spPr bwMode="auto">
            <a:xfrm>
              <a:off x="2723" y="2563"/>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4</a:t>
              </a:r>
              <a:endParaRPr lang="en-US"/>
            </a:p>
          </p:txBody>
        </p:sp>
        <p:sp>
          <p:nvSpPr>
            <p:cNvPr id="95248" name="Freeform 215"/>
            <p:cNvSpPr>
              <a:spLocks/>
            </p:cNvSpPr>
            <p:nvPr/>
          </p:nvSpPr>
          <p:spPr bwMode="auto">
            <a:xfrm>
              <a:off x="3450" y="3218"/>
              <a:ext cx="863" cy="340"/>
            </a:xfrm>
            <a:custGeom>
              <a:avLst/>
              <a:gdLst>
                <a:gd name="T0" fmla="*/ 0 w 863"/>
                <a:gd name="T1" fmla="*/ 0 h 340"/>
                <a:gd name="T2" fmla="*/ 193 w 863"/>
                <a:gd name="T3" fmla="*/ 0 h 340"/>
                <a:gd name="T4" fmla="*/ 193 w 863"/>
                <a:gd name="T5" fmla="*/ 340 h 340"/>
                <a:gd name="T6" fmla="*/ 863 w 863"/>
                <a:gd name="T7" fmla="*/ 340 h 340"/>
                <a:gd name="T8" fmla="*/ 0 60000 65536"/>
                <a:gd name="T9" fmla="*/ 0 60000 65536"/>
                <a:gd name="T10" fmla="*/ 0 60000 65536"/>
                <a:gd name="T11" fmla="*/ 0 60000 65536"/>
                <a:gd name="T12" fmla="*/ 0 w 863"/>
                <a:gd name="T13" fmla="*/ 0 h 340"/>
                <a:gd name="T14" fmla="*/ 863 w 863"/>
                <a:gd name="T15" fmla="*/ 340 h 340"/>
              </a:gdLst>
              <a:ahLst/>
              <a:cxnLst>
                <a:cxn ang="T8">
                  <a:pos x="T0" y="T1"/>
                </a:cxn>
                <a:cxn ang="T9">
                  <a:pos x="T2" y="T3"/>
                </a:cxn>
                <a:cxn ang="T10">
                  <a:pos x="T4" y="T5"/>
                </a:cxn>
                <a:cxn ang="T11">
                  <a:pos x="T6" y="T7"/>
                </a:cxn>
              </a:cxnLst>
              <a:rect l="T12" t="T13" r="T14" b="T15"/>
              <a:pathLst>
                <a:path w="863" h="340">
                  <a:moveTo>
                    <a:pt x="0" y="0"/>
                  </a:moveTo>
                  <a:lnTo>
                    <a:pt x="193" y="0"/>
                  </a:lnTo>
                  <a:lnTo>
                    <a:pt x="193" y="340"/>
                  </a:lnTo>
                  <a:lnTo>
                    <a:pt x="863" y="340"/>
                  </a:lnTo>
                </a:path>
              </a:pathLst>
            </a:custGeom>
            <a:noFill/>
            <a:ln w="0">
              <a:solidFill>
                <a:srgbClr val="4677BF"/>
              </a:solidFill>
              <a:prstDash val="solid"/>
              <a:round/>
              <a:headEnd/>
              <a:tailEnd/>
            </a:ln>
          </p:spPr>
          <p:txBody>
            <a:bodyPr/>
            <a:lstStyle/>
            <a:p>
              <a:endParaRPr lang="en-US"/>
            </a:p>
          </p:txBody>
        </p:sp>
        <p:sp>
          <p:nvSpPr>
            <p:cNvPr id="95249" name="Freeform 216"/>
            <p:cNvSpPr>
              <a:spLocks/>
            </p:cNvSpPr>
            <p:nvPr/>
          </p:nvSpPr>
          <p:spPr bwMode="auto">
            <a:xfrm>
              <a:off x="4306" y="3539"/>
              <a:ext cx="43" cy="38"/>
            </a:xfrm>
            <a:custGeom>
              <a:avLst/>
              <a:gdLst>
                <a:gd name="T0" fmla="*/ 0 w 43"/>
                <a:gd name="T1" fmla="*/ 0 h 38"/>
                <a:gd name="T2" fmla="*/ 43 w 43"/>
                <a:gd name="T3" fmla="*/ 19 h 38"/>
                <a:gd name="T4" fmla="*/ 0 w 43"/>
                <a:gd name="T5" fmla="*/ 38 h 38"/>
                <a:gd name="T6" fmla="*/ 0 w 43"/>
                <a:gd name="T7" fmla="*/ 0 h 38"/>
                <a:gd name="T8" fmla="*/ 0 60000 65536"/>
                <a:gd name="T9" fmla="*/ 0 60000 65536"/>
                <a:gd name="T10" fmla="*/ 0 60000 65536"/>
                <a:gd name="T11" fmla="*/ 0 60000 65536"/>
                <a:gd name="T12" fmla="*/ 0 w 43"/>
                <a:gd name="T13" fmla="*/ 0 h 38"/>
                <a:gd name="T14" fmla="*/ 43 w 43"/>
                <a:gd name="T15" fmla="*/ 38 h 38"/>
              </a:gdLst>
              <a:ahLst/>
              <a:cxnLst>
                <a:cxn ang="T8">
                  <a:pos x="T0" y="T1"/>
                </a:cxn>
                <a:cxn ang="T9">
                  <a:pos x="T2" y="T3"/>
                </a:cxn>
                <a:cxn ang="T10">
                  <a:pos x="T4" y="T5"/>
                </a:cxn>
                <a:cxn ang="T11">
                  <a:pos x="T6" y="T7"/>
                </a:cxn>
              </a:cxnLst>
              <a:rect l="T12" t="T13" r="T14" b="T15"/>
              <a:pathLst>
                <a:path w="43" h="38">
                  <a:moveTo>
                    <a:pt x="0" y="0"/>
                  </a:moveTo>
                  <a:lnTo>
                    <a:pt x="43" y="19"/>
                  </a:lnTo>
                  <a:lnTo>
                    <a:pt x="0" y="38"/>
                  </a:lnTo>
                  <a:lnTo>
                    <a:pt x="0" y="0"/>
                  </a:lnTo>
                  <a:close/>
                </a:path>
              </a:pathLst>
            </a:custGeom>
            <a:solidFill>
              <a:srgbClr val="4677BF"/>
            </a:solidFill>
            <a:ln w="9525">
              <a:noFill/>
              <a:round/>
              <a:headEnd/>
              <a:tailEnd/>
            </a:ln>
          </p:spPr>
          <p:txBody>
            <a:bodyPr/>
            <a:lstStyle/>
            <a:p>
              <a:endParaRPr lang="en-US"/>
            </a:p>
          </p:txBody>
        </p:sp>
        <p:sp>
          <p:nvSpPr>
            <p:cNvPr id="95250" name="Line 217"/>
            <p:cNvSpPr>
              <a:spLocks noChangeShapeType="1"/>
            </p:cNvSpPr>
            <p:nvPr/>
          </p:nvSpPr>
          <p:spPr bwMode="auto">
            <a:xfrm>
              <a:off x="2687" y="1220"/>
              <a:ext cx="222" cy="1"/>
            </a:xfrm>
            <a:prstGeom prst="line">
              <a:avLst/>
            </a:prstGeom>
            <a:noFill/>
            <a:ln w="0">
              <a:solidFill>
                <a:srgbClr val="4677BF"/>
              </a:solidFill>
              <a:round/>
              <a:headEnd/>
              <a:tailEnd/>
            </a:ln>
          </p:spPr>
          <p:txBody>
            <a:bodyPr/>
            <a:lstStyle/>
            <a:p>
              <a:endParaRPr lang="en-US"/>
            </a:p>
          </p:txBody>
        </p:sp>
        <p:sp>
          <p:nvSpPr>
            <p:cNvPr id="95251" name="Freeform 218"/>
            <p:cNvSpPr>
              <a:spLocks/>
            </p:cNvSpPr>
            <p:nvPr/>
          </p:nvSpPr>
          <p:spPr bwMode="auto">
            <a:xfrm>
              <a:off x="2901" y="1208"/>
              <a:ext cx="36" cy="31"/>
            </a:xfrm>
            <a:custGeom>
              <a:avLst/>
              <a:gdLst>
                <a:gd name="T0" fmla="*/ 0 w 36"/>
                <a:gd name="T1" fmla="*/ 0 h 31"/>
                <a:gd name="T2" fmla="*/ 36 w 36"/>
                <a:gd name="T3" fmla="*/ 12 h 31"/>
                <a:gd name="T4" fmla="*/ 0 w 36"/>
                <a:gd name="T5" fmla="*/ 31 h 31"/>
                <a:gd name="T6" fmla="*/ 0 w 36"/>
                <a:gd name="T7" fmla="*/ 0 h 31"/>
                <a:gd name="T8" fmla="*/ 0 60000 65536"/>
                <a:gd name="T9" fmla="*/ 0 60000 65536"/>
                <a:gd name="T10" fmla="*/ 0 60000 65536"/>
                <a:gd name="T11" fmla="*/ 0 60000 65536"/>
                <a:gd name="T12" fmla="*/ 0 w 36"/>
                <a:gd name="T13" fmla="*/ 0 h 31"/>
                <a:gd name="T14" fmla="*/ 36 w 36"/>
                <a:gd name="T15" fmla="*/ 31 h 31"/>
              </a:gdLst>
              <a:ahLst/>
              <a:cxnLst>
                <a:cxn ang="T8">
                  <a:pos x="T0" y="T1"/>
                </a:cxn>
                <a:cxn ang="T9">
                  <a:pos x="T2" y="T3"/>
                </a:cxn>
                <a:cxn ang="T10">
                  <a:pos x="T4" y="T5"/>
                </a:cxn>
                <a:cxn ang="T11">
                  <a:pos x="T6" y="T7"/>
                </a:cxn>
              </a:cxnLst>
              <a:rect l="T12" t="T13" r="T14" b="T15"/>
              <a:pathLst>
                <a:path w="36" h="31">
                  <a:moveTo>
                    <a:pt x="0" y="0"/>
                  </a:moveTo>
                  <a:lnTo>
                    <a:pt x="36" y="12"/>
                  </a:lnTo>
                  <a:lnTo>
                    <a:pt x="0" y="31"/>
                  </a:lnTo>
                  <a:lnTo>
                    <a:pt x="0" y="0"/>
                  </a:lnTo>
                  <a:close/>
                </a:path>
              </a:pathLst>
            </a:custGeom>
            <a:solidFill>
              <a:srgbClr val="4677BF"/>
            </a:solidFill>
            <a:ln w="9525">
              <a:noFill/>
              <a:round/>
              <a:headEnd/>
              <a:tailEnd/>
            </a:ln>
          </p:spPr>
          <p:txBody>
            <a:bodyPr/>
            <a:lstStyle/>
            <a:p>
              <a:endParaRPr lang="en-US"/>
            </a:p>
          </p:txBody>
        </p:sp>
        <p:sp>
          <p:nvSpPr>
            <p:cNvPr id="95252" name="Freeform 219"/>
            <p:cNvSpPr>
              <a:spLocks/>
            </p:cNvSpPr>
            <p:nvPr/>
          </p:nvSpPr>
          <p:spPr bwMode="auto">
            <a:xfrm>
              <a:off x="2431" y="1422"/>
              <a:ext cx="285" cy="889"/>
            </a:xfrm>
            <a:custGeom>
              <a:avLst/>
              <a:gdLst>
                <a:gd name="T0" fmla="*/ 285 w 285"/>
                <a:gd name="T1" fmla="*/ 889 h 889"/>
                <a:gd name="T2" fmla="*/ 285 w 285"/>
                <a:gd name="T3" fmla="*/ 347 h 889"/>
                <a:gd name="T4" fmla="*/ 0 w 285"/>
                <a:gd name="T5" fmla="*/ 347 h 889"/>
                <a:gd name="T6" fmla="*/ 0 w 285"/>
                <a:gd name="T7" fmla="*/ 0 h 889"/>
                <a:gd name="T8" fmla="*/ 0 60000 65536"/>
                <a:gd name="T9" fmla="*/ 0 60000 65536"/>
                <a:gd name="T10" fmla="*/ 0 60000 65536"/>
                <a:gd name="T11" fmla="*/ 0 60000 65536"/>
                <a:gd name="T12" fmla="*/ 0 w 285"/>
                <a:gd name="T13" fmla="*/ 0 h 889"/>
                <a:gd name="T14" fmla="*/ 285 w 285"/>
                <a:gd name="T15" fmla="*/ 889 h 889"/>
              </a:gdLst>
              <a:ahLst/>
              <a:cxnLst>
                <a:cxn ang="T8">
                  <a:pos x="T0" y="T1"/>
                </a:cxn>
                <a:cxn ang="T9">
                  <a:pos x="T2" y="T3"/>
                </a:cxn>
                <a:cxn ang="T10">
                  <a:pos x="T4" y="T5"/>
                </a:cxn>
                <a:cxn ang="T11">
                  <a:pos x="T6" y="T7"/>
                </a:cxn>
              </a:cxnLst>
              <a:rect l="T12" t="T13" r="T14" b="T15"/>
              <a:pathLst>
                <a:path w="285" h="889">
                  <a:moveTo>
                    <a:pt x="285" y="889"/>
                  </a:moveTo>
                  <a:lnTo>
                    <a:pt x="285" y="347"/>
                  </a:lnTo>
                  <a:lnTo>
                    <a:pt x="0" y="347"/>
                  </a:lnTo>
                  <a:lnTo>
                    <a:pt x="0" y="0"/>
                  </a:lnTo>
                </a:path>
              </a:pathLst>
            </a:custGeom>
            <a:noFill/>
            <a:ln w="0">
              <a:solidFill>
                <a:srgbClr val="4677BF"/>
              </a:solidFill>
              <a:prstDash val="solid"/>
              <a:round/>
              <a:headEnd/>
              <a:tailEnd/>
            </a:ln>
          </p:spPr>
          <p:txBody>
            <a:bodyPr/>
            <a:lstStyle/>
            <a:p>
              <a:endParaRPr lang="en-US"/>
            </a:p>
          </p:txBody>
        </p:sp>
        <p:sp>
          <p:nvSpPr>
            <p:cNvPr id="95253" name="Freeform 220"/>
            <p:cNvSpPr>
              <a:spLocks/>
            </p:cNvSpPr>
            <p:nvPr/>
          </p:nvSpPr>
          <p:spPr bwMode="auto">
            <a:xfrm>
              <a:off x="2409" y="1390"/>
              <a:ext cx="43" cy="32"/>
            </a:xfrm>
            <a:custGeom>
              <a:avLst/>
              <a:gdLst>
                <a:gd name="T0" fmla="*/ 0 w 43"/>
                <a:gd name="T1" fmla="*/ 32 h 32"/>
                <a:gd name="T2" fmla="*/ 22 w 43"/>
                <a:gd name="T3" fmla="*/ 0 h 32"/>
                <a:gd name="T4" fmla="*/ 43 w 43"/>
                <a:gd name="T5" fmla="*/ 32 h 32"/>
                <a:gd name="T6" fmla="*/ 0 w 43"/>
                <a:gd name="T7" fmla="*/ 32 h 32"/>
                <a:gd name="T8" fmla="*/ 0 60000 65536"/>
                <a:gd name="T9" fmla="*/ 0 60000 65536"/>
                <a:gd name="T10" fmla="*/ 0 60000 65536"/>
                <a:gd name="T11" fmla="*/ 0 60000 65536"/>
                <a:gd name="T12" fmla="*/ 0 w 43"/>
                <a:gd name="T13" fmla="*/ 0 h 32"/>
                <a:gd name="T14" fmla="*/ 43 w 43"/>
                <a:gd name="T15" fmla="*/ 32 h 32"/>
              </a:gdLst>
              <a:ahLst/>
              <a:cxnLst>
                <a:cxn ang="T8">
                  <a:pos x="T0" y="T1"/>
                </a:cxn>
                <a:cxn ang="T9">
                  <a:pos x="T2" y="T3"/>
                </a:cxn>
                <a:cxn ang="T10">
                  <a:pos x="T4" y="T5"/>
                </a:cxn>
                <a:cxn ang="T11">
                  <a:pos x="T6" y="T7"/>
                </a:cxn>
              </a:cxnLst>
              <a:rect l="T12" t="T13" r="T14" b="T15"/>
              <a:pathLst>
                <a:path w="43" h="32">
                  <a:moveTo>
                    <a:pt x="0" y="32"/>
                  </a:moveTo>
                  <a:lnTo>
                    <a:pt x="22" y="0"/>
                  </a:lnTo>
                  <a:lnTo>
                    <a:pt x="43" y="32"/>
                  </a:lnTo>
                  <a:lnTo>
                    <a:pt x="0" y="32"/>
                  </a:lnTo>
                  <a:close/>
                </a:path>
              </a:pathLst>
            </a:custGeom>
            <a:solidFill>
              <a:srgbClr val="4677BF"/>
            </a:solidFill>
            <a:ln w="9525">
              <a:noFill/>
              <a:round/>
              <a:headEnd/>
              <a:tailEnd/>
            </a:ln>
          </p:spPr>
          <p:txBody>
            <a:bodyPr/>
            <a:lstStyle/>
            <a:p>
              <a:endParaRPr lang="en-US"/>
            </a:p>
          </p:txBody>
        </p:sp>
        <p:sp>
          <p:nvSpPr>
            <p:cNvPr id="95254" name="Rectangle 221"/>
            <p:cNvSpPr>
              <a:spLocks noChangeArrowheads="1"/>
            </p:cNvSpPr>
            <p:nvPr/>
          </p:nvSpPr>
          <p:spPr bwMode="auto">
            <a:xfrm>
              <a:off x="4342" y="1050"/>
              <a:ext cx="506" cy="340"/>
            </a:xfrm>
            <a:prstGeom prst="rect">
              <a:avLst/>
            </a:prstGeom>
            <a:solidFill>
              <a:srgbClr val="E8EEF7"/>
            </a:solidFill>
            <a:ln w="9525">
              <a:noFill/>
              <a:miter lim="800000"/>
              <a:headEnd/>
              <a:tailEnd/>
            </a:ln>
          </p:spPr>
          <p:txBody>
            <a:bodyPr/>
            <a:lstStyle/>
            <a:p>
              <a:endParaRPr lang="en-US"/>
            </a:p>
          </p:txBody>
        </p:sp>
        <p:sp>
          <p:nvSpPr>
            <p:cNvPr id="95255" name="Rectangle 222"/>
            <p:cNvSpPr>
              <a:spLocks noChangeArrowheads="1"/>
            </p:cNvSpPr>
            <p:nvPr/>
          </p:nvSpPr>
          <p:spPr bwMode="auto">
            <a:xfrm>
              <a:off x="4342" y="1050"/>
              <a:ext cx="506" cy="340"/>
            </a:xfrm>
            <a:prstGeom prst="rect">
              <a:avLst/>
            </a:prstGeom>
            <a:noFill/>
            <a:ln w="0">
              <a:solidFill>
                <a:srgbClr val="000000"/>
              </a:solidFill>
              <a:miter lim="800000"/>
              <a:headEnd/>
              <a:tailEnd/>
            </a:ln>
          </p:spPr>
          <p:txBody>
            <a:bodyPr/>
            <a:lstStyle/>
            <a:p>
              <a:endParaRPr lang="en-US"/>
            </a:p>
          </p:txBody>
        </p:sp>
        <p:sp>
          <p:nvSpPr>
            <p:cNvPr id="95256" name="Rectangle 223"/>
            <p:cNvSpPr>
              <a:spLocks noChangeArrowheads="1"/>
            </p:cNvSpPr>
            <p:nvPr/>
          </p:nvSpPr>
          <p:spPr bwMode="auto">
            <a:xfrm>
              <a:off x="4470" y="1095"/>
              <a:ext cx="342" cy="95"/>
            </a:xfrm>
            <a:prstGeom prst="rect">
              <a:avLst/>
            </a:prstGeom>
            <a:noFill/>
            <a:ln w="9525">
              <a:noFill/>
              <a:miter lim="800000"/>
              <a:headEnd/>
              <a:tailEnd/>
            </a:ln>
          </p:spPr>
          <p:txBody>
            <a:bodyPr wrap="none" lIns="0" tIns="0" rIns="0" bIns="0">
              <a:spAutoFit/>
            </a:bodyPr>
            <a:lstStyle/>
            <a:p>
              <a:r>
                <a:rPr lang="en-US" sz="600">
                  <a:solidFill>
                    <a:srgbClr val="000000"/>
                  </a:solidFill>
                </a:rPr>
                <a:t>Execution </a:t>
              </a:r>
              <a:endParaRPr lang="en-US"/>
            </a:p>
          </p:txBody>
        </p:sp>
        <p:sp>
          <p:nvSpPr>
            <p:cNvPr id="95257" name="Rectangle 224"/>
            <p:cNvSpPr>
              <a:spLocks noChangeArrowheads="1"/>
            </p:cNvSpPr>
            <p:nvPr/>
          </p:nvSpPr>
          <p:spPr bwMode="auto">
            <a:xfrm>
              <a:off x="4463" y="1158"/>
              <a:ext cx="364" cy="95"/>
            </a:xfrm>
            <a:prstGeom prst="rect">
              <a:avLst/>
            </a:prstGeom>
            <a:noFill/>
            <a:ln w="9525">
              <a:noFill/>
              <a:miter lim="800000"/>
              <a:headEnd/>
              <a:tailEnd/>
            </a:ln>
          </p:spPr>
          <p:txBody>
            <a:bodyPr wrap="none" lIns="0" tIns="0" rIns="0" bIns="0">
              <a:spAutoFit/>
            </a:bodyPr>
            <a:lstStyle/>
            <a:p>
              <a:r>
                <a:rPr lang="en-US" sz="600">
                  <a:solidFill>
                    <a:srgbClr val="000000"/>
                  </a:solidFill>
                </a:rPr>
                <a:t>Readiness </a:t>
              </a:r>
              <a:endParaRPr lang="en-US"/>
            </a:p>
          </p:txBody>
        </p:sp>
        <p:sp>
          <p:nvSpPr>
            <p:cNvPr id="95258" name="Rectangle 225"/>
            <p:cNvSpPr>
              <a:spLocks noChangeArrowheads="1"/>
            </p:cNvSpPr>
            <p:nvPr/>
          </p:nvSpPr>
          <p:spPr bwMode="auto">
            <a:xfrm>
              <a:off x="4434" y="1214"/>
              <a:ext cx="414" cy="95"/>
            </a:xfrm>
            <a:prstGeom prst="rect">
              <a:avLst/>
            </a:prstGeom>
            <a:noFill/>
            <a:ln w="9525">
              <a:noFill/>
              <a:miter lim="800000"/>
              <a:headEnd/>
              <a:tailEnd/>
            </a:ln>
          </p:spPr>
          <p:txBody>
            <a:bodyPr wrap="none" lIns="0" tIns="0" rIns="0" bIns="0">
              <a:spAutoFit/>
            </a:bodyPr>
            <a:lstStyle/>
            <a:p>
              <a:r>
                <a:rPr lang="en-US" sz="600">
                  <a:solidFill>
                    <a:srgbClr val="000000"/>
                  </a:solidFill>
                </a:rPr>
                <a:t>Independent </a:t>
              </a:r>
              <a:endParaRPr lang="en-US"/>
            </a:p>
          </p:txBody>
        </p:sp>
        <p:sp>
          <p:nvSpPr>
            <p:cNvPr id="95259" name="Rectangle 226"/>
            <p:cNvSpPr>
              <a:spLocks noChangeArrowheads="1"/>
            </p:cNvSpPr>
            <p:nvPr/>
          </p:nvSpPr>
          <p:spPr bwMode="auto">
            <a:xfrm>
              <a:off x="4499" y="1277"/>
              <a:ext cx="250" cy="95"/>
            </a:xfrm>
            <a:prstGeom prst="rect">
              <a:avLst/>
            </a:prstGeom>
            <a:noFill/>
            <a:ln w="9525">
              <a:noFill/>
              <a:miter lim="800000"/>
              <a:headEnd/>
              <a:tailEnd/>
            </a:ln>
          </p:spPr>
          <p:txBody>
            <a:bodyPr wrap="none" lIns="0" tIns="0" rIns="0" bIns="0">
              <a:spAutoFit/>
            </a:bodyPr>
            <a:lstStyle/>
            <a:p>
              <a:r>
                <a:rPr lang="en-US" sz="600">
                  <a:solidFill>
                    <a:srgbClr val="000000"/>
                  </a:solidFill>
                </a:rPr>
                <a:t>Review</a:t>
              </a:r>
              <a:endParaRPr lang="en-US"/>
            </a:p>
          </p:txBody>
        </p:sp>
        <p:sp>
          <p:nvSpPr>
            <p:cNvPr id="95260" name="Freeform 227"/>
            <p:cNvSpPr>
              <a:spLocks/>
            </p:cNvSpPr>
            <p:nvPr/>
          </p:nvSpPr>
          <p:spPr bwMode="auto">
            <a:xfrm>
              <a:off x="648" y="1624"/>
              <a:ext cx="350" cy="1960"/>
            </a:xfrm>
            <a:custGeom>
              <a:avLst/>
              <a:gdLst>
                <a:gd name="T0" fmla="*/ 350 w 350"/>
                <a:gd name="T1" fmla="*/ 19 h 1960"/>
                <a:gd name="T2" fmla="*/ 343 w 350"/>
                <a:gd name="T3" fmla="*/ 19 h 1960"/>
                <a:gd name="T4" fmla="*/ 335 w 350"/>
                <a:gd name="T5" fmla="*/ 6 h 1960"/>
                <a:gd name="T6" fmla="*/ 321 w 350"/>
                <a:gd name="T7" fmla="*/ 0 h 1960"/>
                <a:gd name="T8" fmla="*/ 300 w 350"/>
                <a:gd name="T9" fmla="*/ 6 h 1960"/>
                <a:gd name="T10" fmla="*/ 300 w 350"/>
                <a:gd name="T11" fmla="*/ 19 h 1960"/>
                <a:gd name="T12" fmla="*/ 0 w 350"/>
                <a:gd name="T13" fmla="*/ 19 h 1960"/>
                <a:gd name="T14" fmla="*/ 0 w 350"/>
                <a:gd name="T15" fmla="*/ 1960 h 1960"/>
                <a:gd name="T16" fmla="*/ 36 w 350"/>
                <a:gd name="T17" fmla="*/ 1960 h 196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50"/>
                <a:gd name="T28" fmla="*/ 0 h 1960"/>
                <a:gd name="T29" fmla="*/ 350 w 350"/>
                <a:gd name="T30" fmla="*/ 1960 h 196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50" h="1960">
                  <a:moveTo>
                    <a:pt x="350" y="19"/>
                  </a:moveTo>
                  <a:lnTo>
                    <a:pt x="343" y="19"/>
                  </a:lnTo>
                  <a:lnTo>
                    <a:pt x="335" y="6"/>
                  </a:lnTo>
                  <a:lnTo>
                    <a:pt x="321" y="0"/>
                  </a:lnTo>
                  <a:lnTo>
                    <a:pt x="300" y="6"/>
                  </a:lnTo>
                  <a:lnTo>
                    <a:pt x="300" y="19"/>
                  </a:lnTo>
                  <a:lnTo>
                    <a:pt x="0" y="19"/>
                  </a:lnTo>
                  <a:lnTo>
                    <a:pt x="0" y="1960"/>
                  </a:lnTo>
                  <a:lnTo>
                    <a:pt x="36" y="1960"/>
                  </a:lnTo>
                </a:path>
              </a:pathLst>
            </a:custGeom>
            <a:noFill/>
            <a:ln w="0">
              <a:solidFill>
                <a:srgbClr val="4677BF"/>
              </a:solidFill>
              <a:prstDash val="solid"/>
              <a:round/>
              <a:headEnd/>
              <a:tailEnd/>
            </a:ln>
          </p:spPr>
          <p:txBody>
            <a:bodyPr/>
            <a:lstStyle/>
            <a:p>
              <a:endParaRPr lang="en-US"/>
            </a:p>
          </p:txBody>
        </p:sp>
        <p:sp>
          <p:nvSpPr>
            <p:cNvPr id="95261" name="Freeform 228"/>
            <p:cNvSpPr>
              <a:spLocks/>
            </p:cNvSpPr>
            <p:nvPr/>
          </p:nvSpPr>
          <p:spPr bwMode="auto">
            <a:xfrm>
              <a:off x="991" y="1630"/>
              <a:ext cx="42" cy="31"/>
            </a:xfrm>
            <a:custGeom>
              <a:avLst/>
              <a:gdLst>
                <a:gd name="T0" fmla="*/ 42 w 42"/>
                <a:gd name="T1" fmla="*/ 13 h 31"/>
                <a:gd name="T2" fmla="*/ 0 w 42"/>
                <a:gd name="T3" fmla="*/ 31 h 31"/>
                <a:gd name="T4" fmla="*/ 7 w 42"/>
                <a:gd name="T5" fmla="*/ 13 h 31"/>
                <a:gd name="T6" fmla="*/ 0 w 42"/>
                <a:gd name="T7" fmla="*/ 0 h 31"/>
                <a:gd name="T8" fmla="*/ 0 w 42"/>
                <a:gd name="T9" fmla="*/ 0 h 31"/>
                <a:gd name="T10" fmla="*/ 42 w 42"/>
                <a:gd name="T11" fmla="*/ 13 h 31"/>
                <a:gd name="T12" fmla="*/ 42 w 42"/>
                <a:gd name="T13" fmla="*/ 13 h 31"/>
                <a:gd name="T14" fmla="*/ 0 60000 65536"/>
                <a:gd name="T15" fmla="*/ 0 60000 65536"/>
                <a:gd name="T16" fmla="*/ 0 60000 65536"/>
                <a:gd name="T17" fmla="*/ 0 60000 65536"/>
                <a:gd name="T18" fmla="*/ 0 60000 65536"/>
                <a:gd name="T19" fmla="*/ 0 60000 65536"/>
                <a:gd name="T20" fmla="*/ 0 60000 65536"/>
                <a:gd name="T21" fmla="*/ 0 w 42"/>
                <a:gd name="T22" fmla="*/ 0 h 31"/>
                <a:gd name="T23" fmla="*/ 42 w 42"/>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1">
                  <a:moveTo>
                    <a:pt x="42" y="13"/>
                  </a:moveTo>
                  <a:lnTo>
                    <a:pt x="0" y="31"/>
                  </a:lnTo>
                  <a:lnTo>
                    <a:pt x="7" y="13"/>
                  </a:lnTo>
                  <a:lnTo>
                    <a:pt x="0" y="0"/>
                  </a:lnTo>
                  <a:lnTo>
                    <a:pt x="42" y="13"/>
                  </a:lnTo>
                  <a:close/>
                </a:path>
              </a:pathLst>
            </a:custGeom>
            <a:solidFill>
              <a:srgbClr val="4677BF"/>
            </a:solidFill>
            <a:ln w="9525">
              <a:noFill/>
              <a:round/>
              <a:headEnd/>
              <a:tailEnd/>
            </a:ln>
          </p:spPr>
          <p:txBody>
            <a:bodyPr/>
            <a:lstStyle/>
            <a:p>
              <a:endParaRPr lang="en-US"/>
            </a:p>
          </p:txBody>
        </p:sp>
        <p:sp>
          <p:nvSpPr>
            <p:cNvPr id="95262" name="Freeform 229"/>
            <p:cNvSpPr>
              <a:spLocks/>
            </p:cNvSpPr>
            <p:nvPr/>
          </p:nvSpPr>
          <p:spPr bwMode="auto">
            <a:xfrm>
              <a:off x="670" y="3571"/>
              <a:ext cx="42" cy="31"/>
            </a:xfrm>
            <a:custGeom>
              <a:avLst/>
              <a:gdLst>
                <a:gd name="T0" fmla="*/ 42 w 42"/>
                <a:gd name="T1" fmla="*/ 13 h 31"/>
                <a:gd name="T2" fmla="*/ 0 w 42"/>
                <a:gd name="T3" fmla="*/ 31 h 31"/>
                <a:gd name="T4" fmla="*/ 7 w 42"/>
                <a:gd name="T5" fmla="*/ 13 h 31"/>
                <a:gd name="T6" fmla="*/ 0 w 42"/>
                <a:gd name="T7" fmla="*/ 0 h 31"/>
                <a:gd name="T8" fmla="*/ 0 w 42"/>
                <a:gd name="T9" fmla="*/ 0 h 31"/>
                <a:gd name="T10" fmla="*/ 42 w 42"/>
                <a:gd name="T11" fmla="*/ 13 h 31"/>
                <a:gd name="T12" fmla="*/ 42 w 42"/>
                <a:gd name="T13" fmla="*/ 13 h 31"/>
                <a:gd name="T14" fmla="*/ 0 60000 65536"/>
                <a:gd name="T15" fmla="*/ 0 60000 65536"/>
                <a:gd name="T16" fmla="*/ 0 60000 65536"/>
                <a:gd name="T17" fmla="*/ 0 60000 65536"/>
                <a:gd name="T18" fmla="*/ 0 60000 65536"/>
                <a:gd name="T19" fmla="*/ 0 60000 65536"/>
                <a:gd name="T20" fmla="*/ 0 60000 65536"/>
                <a:gd name="T21" fmla="*/ 0 w 42"/>
                <a:gd name="T22" fmla="*/ 0 h 31"/>
                <a:gd name="T23" fmla="*/ 42 w 42"/>
                <a:gd name="T24" fmla="*/ 31 h 3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1">
                  <a:moveTo>
                    <a:pt x="42" y="13"/>
                  </a:moveTo>
                  <a:lnTo>
                    <a:pt x="0" y="31"/>
                  </a:lnTo>
                  <a:lnTo>
                    <a:pt x="7" y="13"/>
                  </a:lnTo>
                  <a:lnTo>
                    <a:pt x="0" y="0"/>
                  </a:lnTo>
                  <a:lnTo>
                    <a:pt x="42" y="13"/>
                  </a:lnTo>
                  <a:close/>
                </a:path>
              </a:pathLst>
            </a:custGeom>
            <a:solidFill>
              <a:srgbClr val="4677BF"/>
            </a:solidFill>
            <a:ln w="9525">
              <a:noFill/>
              <a:round/>
              <a:headEnd/>
              <a:tailEnd/>
            </a:ln>
          </p:spPr>
          <p:txBody>
            <a:bodyPr/>
            <a:lstStyle/>
            <a:p>
              <a:endParaRPr lang="en-US"/>
            </a:p>
          </p:txBody>
        </p:sp>
        <p:sp>
          <p:nvSpPr>
            <p:cNvPr id="95263" name="Line 230"/>
            <p:cNvSpPr>
              <a:spLocks noChangeShapeType="1"/>
            </p:cNvSpPr>
            <p:nvPr/>
          </p:nvSpPr>
          <p:spPr bwMode="auto">
            <a:xfrm>
              <a:off x="3450" y="1220"/>
              <a:ext cx="221" cy="1"/>
            </a:xfrm>
            <a:prstGeom prst="line">
              <a:avLst/>
            </a:prstGeom>
            <a:noFill/>
            <a:ln w="0">
              <a:solidFill>
                <a:srgbClr val="4677BF"/>
              </a:solidFill>
              <a:round/>
              <a:headEnd/>
              <a:tailEnd/>
            </a:ln>
          </p:spPr>
          <p:txBody>
            <a:bodyPr/>
            <a:lstStyle/>
            <a:p>
              <a:endParaRPr lang="en-US"/>
            </a:p>
          </p:txBody>
        </p:sp>
        <p:sp>
          <p:nvSpPr>
            <p:cNvPr id="95264" name="Freeform 231"/>
            <p:cNvSpPr>
              <a:spLocks/>
            </p:cNvSpPr>
            <p:nvPr/>
          </p:nvSpPr>
          <p:spPr bwMode="auto">
            <a:xfrm>
              <a:off x="3664" y="1208"/>
              <a:ext cx="43" cy="31"/>
            </a:xfrm>
            <a:custGeom>
              <a:avLst/>
              <a:gdLst>
                <a:gd name="T0" fmla="*/ 0 w 43"/>
                <a:gd name="T1" fmla="*/ 0 h 31"/>
                <a:gd name="T2" fmla="*/ 43 w 43"/>
                <a:gd name="T3" fmla="*/ 12 h 31"/>
                <a:gd name="T4" fmla="*/ 0 w 43"/>
                <a:gd name="T5" fmla="*/ 31 h 31"/>
                <a:gd name="T6" fmla="*/ 0 w 43"/>
                <a:gd name="T7" fmla="*/ 0 h 31"/>
                <a:gd name="T8" fmla="*/ 0 60000 65536"/>
                <a:gd name="T9" fmla="*/ 0 60000 65536"/>
                <a:gd name="T10" fmla="*/ 0 60000 65536"/>
                <a:gd name="T11" fmla="*/ 0 60000 65536"/>
                <a:gd name="T12" fmla="*/ 0 w 43"/>
                <a:gd name="T13" fmla="*/ 0 h 31"/>
                <a:gd name="T14" fmla="*/ 43 w 43"/>
                <a:gd name="T15" fmla="*/ 31 h 31"/>
              </a:gdLst>
              <a:ahLst/>
              <a:cxnLst>
                <a:cxn ang="T8">
                  <a:pos x="T0" y="T1"/>
                </a:cxn>
                <a:cxn ang="T9">
                  <a:pos x="T2" y="T3"/>
                </a:cxn>
                <a:cxn ang="T10">
                  <a:pos x="T4" y="T5"/>
                </a:cxn>
                <a:cxn ang="T11">
                  <a:pos x="T6" y="T7"/>
                </a:cxn>
              </a:cxnLst>
              <a:rect l="T12" t="T13" r="T14" b="T15"/>
              <a:pathLst>
                <a:path w="43" h="31">
                  <a:moveTo>
                    <a:pt x="0" y="0"/>
                  </a:moveTo>
                  <a:lnTo>
                    <a:pt x="43" y="12"/>
                  </a:lnTo>
                  <a:lnTo>
                    <a:pt x="0" y="31"/>
                  </a:lnTo>
                  <a:lnTo>
                    <a:pt x="0" y="0"/>
                  </a:lnTo>
                  <a:close/>
                </a:path>
              </a:pathLst>
            </a:custGeom>
            <a:solidFill>
              <a:srgbClr val="4677BF"/>
            </a:solidFill>
            <a:ln w="9525">
              <a:noFill/>
              <a:round/>
              <a:headEnd/>
              <a:tailEnd/>
            </a:ln>
          </p:spPr>
          <p:txBody>
            <a:bodyPr/>
            <a:lstStyle/>
            <a:p>
              <a:endParaRPr lang="en-US"/>
            </a:p>
          </p:txBody>
        </p:sp>
        <p:sp>
          <p:nvSpPr>
            <p:cNvPr id="95265" name="Freeform 232"/>
            <p:cNvSpPr>
              <a:spLocks/>
            </p:cNvSpPr>
            <p:nvPr/>
          </p:nvSpPr>
          <p:spPr bwMode="auto">
            <a:xfrm>
              <a:off x="2944" y="3558"/>
              <a:ext cx="506" cy="341"/>
            </a:xfrm>
            <a:custGeom>
              <a:avLst/>
              <a:gdLst>
                <a:gd name="T0" fmla="*/ 0 w 506"/>
                <a:gd name="T1" fmla="*/ 303 h 341"/>
                <a:gd name="T2" fmla="*/ 0 w 506"/>
                <a:gd name="T3" fmla="*/ 0 h 341"/>
                <a:gd name="T4" fmla="*/ 506 w 506"/>
                <a:gd name="T5" fmla="*/ 0 h 341"/>
                <a:gd name="T6" fmla="*/ 506 w 506"/>
                <a:gd name="T7" fmla="*/ 303 h 341"/>
                <a:gd name="T8" fmla="*/ 442 w 506"/>
                <a:gd name="T9" fmla="*/ 271 h 341"/>
                <a:gd name="T10" fmla="*/ 378 w 506"/>
                <a:gd name="T11" fmla="*/ 265 h 341"/>
                <a:gd name="T12" fmla="*/ 314 w 506"/>
                <a:gd name="T13" fmla="*/ 271 h 341"/>
                <a:gd name="T14" fmla="*/ 250 w 506"/>
                <a:gd name="T15" fmla="*/ 303 h 341"/>
                <a:gd name="T16" fmla="*/ 193 w 506"/>
                <a:gd name="T17" fmla="*/ 328 h 341"/>
                <a:gd name="T18" fmla="*/ 121 w 506"/>
                <a:gd name="T19" fmla="*/ 341 h 341"/>
                <a:gd name="T20" fmla="*/ 57 w 506"/>
                <a:gd name="T21" fmla="*/ 328 h 341"/>
                <a:gd name="T22" fmla="*/ 0 w 506"/>
                <a:gd name="T23" fmla="*/ 303 h 341"/>
                <a:gd name="T24" fmla="*/ 0 w 506"/>
                <a:gd name="T25" fmla="*/ 303 h 3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1"/>
                <a:gd name="T41" fmla="*/ 506 w 506"/>
                <a:gd name="T42" fmla="*/ 341 h 3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1">
                  <a:moveTo>
                    <a:pt x="0" y="303"/>
                  </a:moveTo>
                  <a:lnTo>
                    <a:pt x="0" y="0"/>
                  </a:lnTo>
                  <a:lnTo>
                    <a:pt x="506" y="0"/>
                  </a:lnTo>
                  <a:lnTo>
                    <a:pt x="506" y="303"/>
                  </a:lnTo>
                  <a:lnTo>
                    <a:pt x="442" y="271"/>
                  </a:lnTo>
                  <a:lnTo>
                    <a:pt x="378" y="265"/>
                  </a:lnTo>
                  <a:lnTo>
                    <a:pt x="314" y="271"/>
                  </a:lnTo>
                  <a:lnTo>
                    <a:pt x="250" y="303"/>
                  </a:lnTo>
                  <a:lnTo>
                    <a:pt x="193" y="328"/>
                  </a:lnTo>
                  <a:lnTo>
                    <a:pt x="121" y="341"/>
                  </a:lnTo>
                  <a:lnTo>
                    <a:pt x="57" y="328"/>
                  </a:lnTo>
                  <a:lnTo>
                    <a:pt x="0" y="303"/>
                  </a:lnTo>
                  <a:close/>
                </a:path>
              </a:pathLst>
            </a:custGeom>
            <a:solidFill>
              <a:srgbClr val="FFFF99"/>
            </a:solidFill>
            <a:ln w="9525">
              <a:noFill/>
              <a:round/>
              <a:headEnd/>
              <a:tailEnd/>
            </a:ln>
          </p:spPr>
          <p:txBody>
            <a:bodyPr/>
            <a:lstStyle/>
            <a:p>
              <a:endParaRPr lang="en-US"/>
            </a:p>
          </p:txBody>
        </p:sp>
        <p:sp>
          <p:nvSpPr>
            <p:cNvPr id="95266" name="Freeform 233"/>
            <p:cNvSpPr>
              <a:spLocks/>
            </p:cNvSpPr>
            <p:nvPr/>
          </p:nvSpPr>
          <p:spPr bwMode="auto">
            <a:xfrm>
              <a:off x="2944" y="3558"/>
              <a:ext cx="506" cy="341"/>
            </a:xfrm>
            <a:custGeom>
              <a:avLst/>
              <a:gdLst>
                <a:gd name="T0" fmla="*/ 0 w 506"/>
                <a:gd name="T1" fmla="*/ 303 h 341"/>
                <a:gd name="T2" fmla="*/ 0 w 506"/>
                <a:gd name="T3" fmla="*/ 0 h 341"/>
                <a:gd name="T4" fmla="*/ 506 w 506"/>
                <a:gd name="T5" fmla="*/ 0 h 341"/>
                <a:gd name="T6" fmla="*/ 506 w 506"/>
                <a:gd name="T7" fmla="*/ 303 h 341"/>
                <a:gd name="T8" fmla="*/ 442 w 506"/>
                <a:gd name="T9" fmla="*/ 271 h 341"/>
                <a:gd name="T10" fmla="*/ 378 w 506"/>
                <a:gd name="T11" fmla="*/ 265 h 341"/>
                <a:gd name="T12" fmla="*/ 314 w 506"/>
                <a:gd name="T13" fmla="*/ 271 h 341"/>
                <a:gd name="T14" fmla="*/ 250 w 506"/>
                <a:gd name="T15" fmla="*/ 303 h 341"/>
                <a:gd name="T16" fmla="*/ 193 w 506"/>
                <a:gd name="T17" fmla="*/ 328 h 341"/>
                <a:gd name="T18" fmla="*/ 121 w 506"/>
                <a:gd name="T19" fmla="*/ 341 h 341"/>
                <a:gd name="T20" fmla="*/ 57 w 506"/>
                <a:gd name="T21" fmla="*/ 328 h 341"/>
                <a:gd name="T22" fmla="*/ 0 w 506"/>
                <a:gd name="T23" fmla="*/ 303 h 341"/>
                <a:gd name="T24" fmla="*/ 0 w 506"/>
                <a:gd name="T25" fmla="*/ 303 h 3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06"/>
                <a:gd name="T40" fmla="*/ 0 h 341"/>
                <a:gd name="T41" fmla="*/ 506 w 506"/>
                <a:gd name="T42" fmla="*/ 341 h 34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06" h="341">
                  <a:moveTo>
                    <a:pt x="0" y="303"/>
                  </a:moveTo>
                  <a:lnTo>
                    <a:pt x="0" y="0"/>
                  </a:lnTo>
                  <a:lnTo>
                    <a:pt x="506" y="0"/>
                  </a:lnTo>
                  <a:lnTo>
                    <a:pt x="506" y="303"/>
                  </a:lnTo>
                  <a:lnTo>
                    <a:pt x="442" y="271"/>
                  </a:lnTo>
                  <a:lnTo>
                    <a:pt x="378" y="265"/>
                  </a:lnTo>
                  <a:lnTo>
                    <a:pt x="314" y="271"/>
                  </a:lnTo>
                  <a:lnTo>
                    <a:pt x="250" y="303"/>
                  </a:lnTo>
                  <a:lnTo>
                    <a:pt x="193" y="328"/>
                  </a:lnTo>
                  <a:lnTo>
                    <a:pt x="121" y="341"/>
                  </a:lnTo>
                  <a:lnTo>
                    <a:pt x="57" y="328"/>
                  </a:lnTo>
                  <a:lnTo>
                    <a:pt x="0" y="303"/>
                  </a:lnTo>
                </a:path>
              </a:pathLst>
            </a:custGeom>
            <a:noFill/>
            <a:ln w="0">
              <a:solidFill>
                <a:srgbClr val="000000"/>
              </a:solidFill>
              <a:prstDash val="solid"/>
              <a:round/>
              <a:headEnd/>
              <a:tailEnd/>
            </a:ln>
          </p:spPr>
          <p:txBody>
            <a:bodyPr/>
            <a:lstStyle/>
            <a:p>
              <a:endParaRPr lang="en-US"/>
            </a:p>
          </p:txBody>
        </p:sp>
        <p:sp>
          <p:nvSpPr>
            <p:cNvPr id="95267" name="Rectangle 234"/>
            <p:cNvSpPr>
              <a:spLocks noChangeArrowheads="1"/>
            </p:cNvSpPr>
            <p:nvPr/>
          </p:nvSpPr>
          <p:spPr bwMode="auto">
            <a:xfrm>
              <a:off x="2980" y="3590"/>
              <a:ext cx="435" cy="95"/>
            </a:xfrm>
            <a:prstGeom prst="rect">
              <a:avLst/>
            </a:prstGeom>
            <a:noFill/>
            <a:ln w="9525">
              <a:noFill/>
              <a:miter lim="800000"/>
              <a:headEnd/>
              <a:tailEnd/>
            </a:ln>
          </p:spPr>
          <p:txBody>
            <a:bodyPr wrap="none" lIns="0" tIns="0" rIns="0" bIns="0">
              <a:spAutoFit/>
            </a:bodyPr>
            <a:lstStyle/>
            <a:p>
              <a:r>
                <a:rPr lang="en-US" sz="600">
                  <a:solidFill>
                    <a:srgbClr val="000000"/>
                  </a:solidFill>
                </a:rPr>
                <a:t>Updated SDS</a:t>
              </a:r>
              <a:endParaRPr lang="en-US"/>
            </a:p>
          </p:txBody>
        </p:sp>
        <p:sp>
          <p:nvSpPr>
            <p:cNvPr id="95268" name="Rectangle 235"/>
            <p:cNvSpPr>
              <a:spLocks noChangeArrowheads="1"/>
            </p:cNvSpPr>
            <p:nvPr/>
          </p:nvSpPr>
          <p:spPr bwMode="auto">
            <a:xfrm>
              <a:off x="3322" y="3590"/>
              <a:ext cx="71" cy="95"/>
            </a:xfrm>
            <a:prstGeom prst="rect">
              <a:avLst/>
            </a:prstGeom>
            <a:noFill/>
            <a:ln w="9525">
              <a:noFill/>
              <a:miter lim="800000"/>
              <a:headEnd/>
              <a:tailEnd/>
            </a:ln>
          </p:spPr>
          <p:txBody>
            <a:bodyPr wrap="none" lIns="0" tIns="0" rIns="0" bIns="0">
              <a:spAutoFit/>
            </a:bodyPr>
            <a:lstStyle/>
            <a:p>
              <a:r>
                <a:rPr lang="en-US" sz="600">
                  <a:solidFill>
                    <a:srgbClr val="000000"/>
                  </a:solidFill>
                </a:rPr>
                <a:t>, </a:t>
              </a:r>
              <a:endParaRPr lang="en-US"/>
            </a:p>
          </p:txBody>
        </p:sp>
        <p:sp>
          <p:nvSpPr>
            <p:cNvPr id="95269" name="Rectangle 236"/>
            <p:cNvSpPr>
              <a:spLocks noChangeArrowheads="1"/>
            </p:cNvSpPr>
            <p:nvPr/>
          </p:nvSpPr>
          <p:spPr bwMode="auto">
            <a:xfrm>
              <a:off x="3358" y="3590"/>
              <a:ext cx="121" cy="95"/>
            </a:xfrm>
            <a:prstGeom prst="rect">
              <a:avLst/>
            </a:prstGeom>
            <a:noFill/>
            <a:ln w="9525">
              <a:noFill/>
              <a:miter lim="800000"/>
              <a:headEnd/>
              <a:tailEnd/>
            </a:ln>
          </p:spPr>
          <p:txBody>
            <a:bodyPr wrap="none" lIns="0" tIns="0" rIns="0" bIns="0">
              <a:spAutoFit/>
            </a:bodyPr>
            <a:lstStyle/>
            <a:p>
              <a:r>
                <a:rPr lang="en-US" sz="600">
                  <a:solidFill>
                    <a:srgbClr val="000000"/>
                  </a:solidFill>
                </a:rPr>
                <a:t>as </a:t>
              </a:r>
              <a:endParaRPr lang="en-US"/>
            </a:p>
          </p:txBody>
        </p:sp>
        <p:sp>
          <p:nvSpPr>
            <p:cNvPr id="95270" name="Rectangle 237"/>
            <p:cNvSpPr>
              <a:spLocks noChangeArrowheads="1"/>
            </p:cNvSpPr>
            <p:nvPr/>
          </p:nvSpPr>
          <p:spPr bwMode="auto">
            <a:xfrm>
              <a:off x="3101" y="3653"/>
              <a:ext cx="242" cy="95"/>
            </a:xfrm>
            <a:prstGeom prst="rect">
              <a:avLst/>
            </a:prstGeom>
            <a:noFill/>
            <a:ln w="9525">
              <a:noFill/>
              <a:miter lim="800000"/>
              <a:headEnd/>
              <a:tailEnd/>
            </a:ln>
          </p:spPr>
          <p:txBody>
            <a:bodyPr wrap="none" lIns="0" tIns="0" rIns="0" bIns="0">
              <a:spAutoFit/>
            </a:bodyPr>
            <a:lstStyle/>
            <a:p>
              <a:r>
                <a:rPr lang="en-US" sz="600">
                  <a:solidFill>
                    <a:srgbClr val="000000"/>
                  </a:solidFill>
                </a:rPr>
                <a:t>needed</a:t>
              </a:r>
              <a:endParaRPr lang="en-US"/>
            </a:p>
          </p:txBody>
        </p:sp>
        <p:sp>
          <p:nvSpPr>
            <p:cNvPr id="95271" name="Rectangle 238"/>
            <p:cNvSpPr>
              <a:spLocks noChangeArrowheads="1"/>
            </p:cNvSpPr>
            <p:nvPr/>
          </p:nvSpPr>
          <p:spPr bwMode="auto">
            <a:xfrm>
              <a:off x="3151" y="3716"/>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2</a:t>
              </a:r>
              <a:endParaRPr lang="en-US"/>
            </a:p>
          </p:txBody>
        </p:sp>
        <p:sp>
          <p:nvSpPr>
            <p:cNvPr id="95272" name="Rectangle 239"/>
            <p:cNvSpPr>
              <a:spLocks noChangeArrowheads="1"/>
            </p:cNvSpPr>
            <p:nvPr/>
          </p:nvSpPr>
          <p:spPr bwMode="auto">
            <a:xfrm>
              <a:off x="3187" y="3716"/>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273" name="Rectangle 240"/>
            <p:cNvSpPr>
              <a:spLocks noChangeArrowheads="1"/>
            </p:cNvSpPr>
            <p:nvPr/>
          </p:nvSpPr>
          <p:spPr bwMode="auto">
            <a:xfrm>
              <a:off x="3201" y="3716"/>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3</a:t>
              </a:r>
              <a:endParaRPr lang="en-US"/>
            </a:p>
          </p:txBody>
        </p:sp>
        <p:sp>
          <p:nvSpPr>
            <p:cNvPr id="95274" name="Freeform 241"/>
            <p:cNvSpPr>
              <a:spLocks/>
            </p:cNvSpPr>
            <p:nvPr/>
          </p:nvSpPr>
          <p:spPr bwMode="auto">
            <a:xfrm>
              <a:off x="2310" y="3218"/>
              <a:ext cx="599" cy="366"/>
            </a:xfrm>
            <a:custGeom>
              <a:avLst/>
              <a:gdLst>
                <a:gd name="T0" fmla="*/ 0 w 599"/>
                <a:gd name="T1" fmla="*/ 366 h 366"/>
                <a:gd name="T2" fmla="*/ 313 w 599"/>
                <a:gd name="T3" fmla="*/ 366 h 366"/>
                <a:gd name="T4" fmla="*/ 313 w 599"/>
                <a:gd name="T5" fmla="*/ 0 h 366"/>
                <a:gd name="T6" fmla="*/ 599 w 599"/>
                <a:gd name="T7" fmla="*/ 0 h 366"/>
                <a:gd name="T8" fmla="*/ 0 60000 65536"/>
                <a:gd name="T9" fmla="*/ 0 60000 65536"/>
                <a:gd name="T10" fmla="*/ 0 60000 65536"/>
                <a:gd name="T11" fmla="*/ 0 60000 65536"/>
                <a:gd name="T12" fmla="*/ 0 w 599"/>
                <a:gd name="T13" fmla="*/ 0 h 366"/>
                <a:gd name="T14" fmla="*/ 599 w 599"/>
                <a:gd name="T15" fmla="*/ 366 h 366"/>
              </a:gdLst>
              <a:ahLst/>
              <a:cxnLst>
                <a:cxn ang="T8">
                  <a:pos x="T0" y="T1"/>
                </a:cxn>
                <a:cxn ang="T9">
                  <a:pos x="T2" y="T3"/>
                </a:cxn>
                <a:cxn ang="T10">
                  <a:pos x="T4" y="T5"/>
                </a:cxn>
                <a:cxn ang="T11">
                  <a:pos x="T6" y="T7"/>
                </a:cxn>
              </a:cxnLst>
              <a:rect l="T12" t="T13" r="T14" b="T15"/>
              <a:pathLst>
                <a:path w="599" h="366">
                  <a:moveTo>
                    <a:pt x="0" y="366"/>
                  </a:moveTo>
                  <a:lnTo>
                    <a:pt x="313" y="366"/>
                  </a:lnTo>
                  <a:lnTo>
                    <a:pt x="313" y="0"/>
                  </a:lnTo>
                  <a:lnTo>
                    <a:pt x="599" y="0"/>
                  </a:lnTo>
                </a:path>
              </a:pathLst>
            </a:custGeom>
            <a:noFill/>
            <a:ln w="0">
              <a:solidFill>
                <a:srgbClr val="4677BF"/>
              </a:solidFill>
              <a:prstDash val="solid"/>
              <a:round/>
              <a:headEnd/>
              <a:tailEnd/>
            </a:ln>
          </p:spPr>
          <p:txBody>
            <a:bodyPr/>
            <a:lstStyle/>
            <a:p>
              <a:endParaRPr lang="en-US"/>
            </a:p>
          </p:txBody>
        </p:sp>
        <p:sp>
          <p:nvSpPr>
            <p:cNvPr id="95275" name="Freeform 242"/>
            <p:cNvSpPr>
              <a:spLocks/>
            </p:cNvSpPr>
            <p:nvPr/>
          </p:nvSpPr>
          <p:spPr bwMode="auto">
            <a:xfrm>
              <a:off x="2901" y="3205"/>
              <a:ext cx="36" cy="32"/>
            </a:xfrm>
            <a:custGeom>
              <a:avLst/>
              <a:gdLst>
                <a:gd name="T0" fmla="*/ 0 w 36"/>
                <a:gd name="T1" fmla="*/ 0 h 32"/>
                <a:gd name="T2" fmla="*/ 36 w 36"/>
                <a:gd name="T3" fmla="*/ 13 h 32"/>
                <a:gd name="T4" fmla="*/ 0 w 36"/>
                <a:gd name="T5" fmla="*/ 32 h 32"/>
                <a:gd name="T6" fmla="*/ 0 w 36"/>
                <a:gd name="T7" fmla="*/ 0 h 32"/>
                <a:gd name="T8" fmla="*/ 0 60000 65536"/>
                <a:gd name="T9" fmla="*/ 0 60000 65536"/>
                <a:gd name="T10" fmla="*/ 0 60000 65536"/>
                <a:gd name="T11" fmla="*/ 0 60000 65536"/>
                <a:gd name="T12" fmla="*/ 0 w 36"/>
                <a:gd name="T13" fmla="*/ 0 h 32"/>
                <a:gd name="T14" fmla="*/ 36 w 36"/>
                <a:gd name="T15" fmla="*/ 32 h 32"/>
              </a:gdLst>
              <a:ahLst/>
              <a:cxnLst>
                <a:cxn ang="T8">
                  <a:pos x="T0" y="T1"/>
                </a:cxn>
                <a:cxn ang="T9">
                  <a:pos x="T2" y="T3"/>
                </a:cxn>
                <a:cxn ang="T10">
                  <a:pos x="T4" y="T5"/>
                </a:cxn>
                <a:cxn ang="T11">
                  <a:pos x="T6" y="T7"/>
                </a:cxn>
              </a:cxnLst>
              <a:rect l="T12" t="T13" r="T14" b="T15"/>
              <a:pathLst>
                <a:path w="36" h="32">
                  <a:moveTo>
                    <a:pt x="0" y="0"/>
                  </a:moveTo>
                  <a:lnTo>
                    <a:pt x="36" y="13"/>
                  </a:lnTo>
                  <a:lnTo>
                    <a:pt x="0" y="32"/>
                  </a:lnTo>
                  <a:lnTo>
                    <a:pt x="0" y="0"/>
                  </a:lnTo>
                  <a:close/>
                </a:path>
              </a:pathLst>
            </a:custGeom>
            <a:solidFill>
              <a:srgbClr val="4677BF"/>
            </a:solidFill>
            <a:ln w="9525">
              <a:noFill/>
              <a:round/>
              <a:headEnd/>
              <a:tailEnd/>
            </a:ln>
          </p:spPr>
          <p:txBody>
            <a:bodyPr/>
            <a:lstStyle/>
            <a:p>
              <a:endParaRPr lang="en-US"/>
            </a:p>
          </p:txBody>
        </p:sp>
        <p:sp>
          <p:nvSpPr>
            <p:cNvPr id="95276" name="Line 243"/>
            <p:cNvSpPr>
              <a:spLocks noChangeShapeType="1"/>
            </p:cNvSpPr>
            <p:nvPr/>
          </p:nvSpPr>
          <p:spPr bwMode="auto">
            <a:xfrm flipV="1">
              <a:off x="3194" y="3376"/>
              <a:ext cx="1" cy="157"/>
            </a:xfrm>
            <a:prstGeom prst="line">
              <a:avLst/>
            </a:prstGeom>
            <a:noFill/>
            <a:ln w="0">
              <a:solidFill>
                <a:srgbClr val="4677BF"/>
              </a:solidFill>
              <a:round/>
              <a:headEnd/>
              <a:tailEnd/>
            </a:ln>
          </p:spPr>
          <p:txBody>
            <a:bodyPr/>
            <a:lstStyle/>
            <a:p>
              <a:endParaRPr lang="en-US"/>
            </a:p>
          </p:txBody>
        </p:sp>
        <p:sp>
          <p:nvSpPr>
            <p:cNvPr id="95277" name="Freeform 244"/>
            <p:cNvSpPr>
              <a:spLocks/>
            </p:cNvSpPr>
            <p:nvPr/>
          </p:nvSpPr>
          <p:spPr bwMode="auto">
            <a:xfrm>
              <a:off x="3172" y="3520"/>
              <a:ext cx="43" cy="38"/>
            </a:xfrm>
            <a:custGeom>
              <a:avLst/>
              <a:gdLst>
                <a:gd name="T0" fmla="*/ 22 w 43"/>
                <a:gd name="T1" fmla="*/ 38 h 38"/>
                <a:gd name="T2" fmla="*/ 0 w 43"/>
                <a:gd name="T3" fmla="*/ 0 h 38"/>
                <a:gd name="T4" fmla="*/ 22 w 43"/>
                <a:gd name="T5" fmla="*/ 7 h 38"/>
                <a:gd name="T6" fmla="*/ 43 w 43"/>
                <a:gd name="T7" fmla="*/ 0 h 38"/>
                <a:gd name="T8" fmla="*/ 43 w 43"/>
                <a:gd name="T9" fmla="*/ 0 h 38"/>
                <a:gd name="T10" fmla="*/ 22 w 43"/>
                <a:gd name="T11" fmla="*/ 38 h 38"/>
                <a:gd name="T12" fmla="*/ 22 w 43"/>
                <a:gd name="T13" fmla="*/ 38 h 38"/>
                <a:gd name="T14" fmla="*/ 0 60000 65536"/>
                <a:gd name="T15" fmla="*/ 0 60000 65536"/>
                <a:gd name="T16" fmla="*/ 0 60000 65536"/>
                <a:gd name="T17" fmla="*/ 0 60000 65536"/>
                <a:gd name="T18" fmla="*/ 0 60000 65536"/>
                <a:gd name="T19" fmla="*/ 0 60000 65536"/>
                <a:gd name="T20" fmla="*/ 0 60000 65536"/>
                <a:gd name="T21" fmla="*/ 0 w 43"/>
                <a:gd name="T22" fmla="*/ 0 h 38"/>
                <a:gd name="T23" fmla="*/ 43 w 43"/>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38">
                  <a:moveTo>
                    <a:pt x="22" y="38"/>
                  </a:moveTo>
                  <a:lnTo>
                    <a:pt x="0" y="0"/>
                  </a:lnTo>
                  <a:lnTo>
                    <a:pt x="22" y="7"/>
                  </a:lnTo>
                  <a:lnTo>
                    <a:pt x="43" y="0"/>
                  </a:lnTo>
                  <a:lnTo>
                    <a:pt x="22" y="38"/>
                  </a:lnTo>
                  <a:close/>
                </a:path>
              </a:pathLst>
            </a:custGeom>
            <a:solidFill>
              <a:srgbClr val="4677BF"/>
            </a:solidFill>
            <a:ln w="9525">
              <a:noFill/>
              <a:round/>
              <a:headEnd/>
              <a:tailEnd/>
            </a:ln>
          </p:spPr>
          <p:txBody>
            <a:bodyPr/>
            <a:lstStyle/>
            <a:p>
              <a:endParaRPr lang="en-US"/>
            </a:p>
          </p:txBody>
        </p:sp>
        <p:sp>
          <p:nvSpPr>
            <p:cNvPr id="95278" name="Freeform 245"/>
            <p:cNvSpPr>
              <a:spLocks/>
            </p:cNvSpPr>
            <p:nvPr/>
          </p:nvSpPr>
          <p:spPr bwMode="auto">
            <a:xfrm>
              <a:off x="3172" y="3350"/>
              <a:ext cx="43" cy="38"/>
            </a:xfrm>
            <a:custGeom>
              <a:avLst/>
              <a:gdLst>
                <a:gd name="T0" fmla="*/ 22 w 43"/>
                <a:gd name="T1" fmla="*/ 0 h 38"/>
                <a:gd name="T2" fmla="*/ 43 w 43"/>
                <a:gd name="T3" fmla="*/ 38 h 38"/>
                <a:gd name="T4" fmla="*/ 22 w 43"/>
                <a:gd name="T5" fmla="*/ 32 h 38"/>
                <a:gd name="T6" fmla="*/ 0 w 43"/>
                <a:gd name="T7" fmla="*/ 38 h 38"/>
                <a:gd name="T8" fmla="*/ 22 w 43"/>
                <a:gd name="T9" fmla="*/ 0 h 38"/>
                <a:gd name="T10" fmla="*/ 22 w 43"/>
                <a:gd name="T11" fmla="*/ 0 h 38"/>
                <a:gd name="T12" fmla="*/ 0 60000 65536"/>
                <a:gd name="T13" fmla="*/ 0 60000 65536"/>
                <a:gd name="T14" fmla="*/ 0 60000 65536"/>
                <a:gd name="T15" fmla="*/ 0 60000 65536"/>
                <a:gd name="T16" fmla="*/ 0 60000 65536"/>
                <a:gd name="T17" fmla="*/ 0 60000 65536"/>
                <a:gd name="T18" fmla="*/ 0 w 43"/>
                <a:gd name="T19" fmla="*/ 0 h 38"/>
                <a:gd name="T20" fmla="*/ 43 w 43"/>
                <a:gd name="T21" fmla="*/ 38 h 38"/>
              </a:gdLst>
              <a:ahLst/>
              <a:cxnLst>
                <a:cxn ang="T12">
                  <a:pos x="T0" y="T1"/>
                </a:cxn>
                <a:cxn ang="T13">
                  <a:pos x="T2" y="T3"/>
                </a:cxn>
                <a:cxn ang="T14">
                  <a:pos x="T4" y="T5"/>
                </a:cxn>
                <a:cxn ang="T15">
                  <a:pos x="T6" y="T7"/>
                </a:cxn>
                <a:cxn ang="T16">
                  <a:pos x="T8" y="T9"/>
                </a:cxn>
                <a:cxn ang="T17">
                  <a:pos x="T10" y="T11"/>
                </a:cxn>
              </a:cxnLst>
              <a:rect l="T18" t="T19" r="T20" b="T21"/>
              <a:pathLst>
                <a:path w="43" h="38">
                  <a:moveTo>
                    <a:pt x="22" y="0"/>
                  </a:moveTo>
                  <a:lnTo>
                    <a:pt x="43" y="38"/>
                  </a:lnTo>
                  <a:lnTo>
                    <a:pt x="22" y="32"/>
                  </a:lnTo>
                  <a:lnTo>
                    <a:pt x="0" y="38"/>
                  </a:lnTo>
                  <a:lnTo>
                    <a:pt x="22" y="0"/>
                  </a:lnTo>
                  <a:close/>
                </a:path>
              </a:pathLst>
            </a:custGeom>
            <a:solidFill>
              <a:srgbClr val="4677BF"/>
            </a:solidFill>
            <a:ln w="9525">
              <a:noFill/>
              <a:round/>
              <a:headEnd/>
              <a:tailEnd/>
            </a:ln>
          </p:spPr>
          <p:txBody>
            <a:bodyPr/>
            <a:lstStyle/>
            <a:p>
              <a:endParaRPr lang="en-US"/>
            </a:p>
          </p:txBody>
        </p:sp>
        <p:sp>
          <p:nvSpPr>
            <p:cNvPr id="95279" name="Freeform 246"/>
            <p:cNvSpPr>
              <a:spLocks/>
            </p:cNvSpPr>
            <p:nvPr/>
          </p:nvSpPr>
          <p:spPr bwMode="auto">
            <a:xfrm>
              <a:off x="3450" y="3558"/>
              <a:ext cx="863" cy="170"/>
            </a:xfrm>
            <a:custGeom>
              <a:avLst/>
              <a:gdLst>
                <a:gd name="T0" fmla="*/ 0 w 863"/>
                <a:gd name="T1" fmla="*/ 170 h 170"/>
                <a:gd name="T2" fmla="*/ 193 w 863"/>
                <a:gd name="T3" fmla="*/ 170 h 170"/>
                <a:gd name="T4" fmla="*/ 193 w 863"/>
                <a:gd name="T5" fmla="*/ 0 h 170"/>
                <a:gd name="T6" fmla="*/ 863 w 863"/>
                <a:gd name="T7" fmla="*/ 0 h 170"/>
                <a:gd name="T8" fmla="*/ 0 60000 65536"/>
                <a:gd name="T9" fmla="*/ 0 60000 65536"/>
                <a:gd name="T10" fmla="*/ 0 60000 65536"/>
                <a:gd name="T11" fmla="*/ 0 60000 65536"/>
                <a:gd name="T12" fmla="*/ 0 w 863"/>
                <a:gd name="T13" fmla="*/ 0 h 170"/>
                <a:gd name="T14" fmla="*/ 863 w 863"/>
                <a:gd name="T15" fmla="*/ 170 h 170"/>
              </a:gdLst>
              <a:ahLst/>
              <a:cxnLst>
                <a:cxn ang="T8">
                  <a:pos x="T0" y="T1"/>
                </a:cxn>
                <a:cxn ang="T9">
                  <a:pos x="T2" y="T3"/>
                </a:cxn>
                <a:cxn ang="T10">
                  <a:pos x="T4" y="T5"/>
                </a:cxn>
                <a:cxn ang="T11">
                  <a:pos x="T6" y="T7"/>
                </a:cxn>
              </a:cxnLst>
              <a:rect l="T12" t="T13" r="T14" b="T15"/>
              <a:pathLst>
                <a:path w="863" h="170">
                  <a:moveTo>
                    <a:pt x="0" y="170"/>
                  </a:moveTo>
                  <a:lnTo>
                    <a:pt x="193" y="170"/>
                  </a:lnTo>
                  <a:lnTo>
                    <a:pt x="193" y="0"/>
                  </a:lnTo>
                  <a:lnTo>
                    <a:pt x="863" y="0"/>
                  </a:lnTo>
                </a:path>
              </a:pathLst>
            </a:custGeom>
            <a:noFill/>
            <a:ln w="0">
              <a:solidFill>
                <a:srgbClr val="4677BF"/>
              </a:solidFill>
              <a:prstDash val="solid"/>
              <a:round/>
              <a:headEnd/>
              <a:tailEnd/>
            </a:ln>
          </p:spPr>
          <p:txBody>
            <a:bodyPr/>
            <a:lstStyle/>
            <a:p>
              <a:endParaRPr lang="en-US"/>
            </a:p>
          </p:txBody>
        </p:sp>
        <p:sp>
          <p:nvSpPr>
            <p:cNvPr id="95280" name="Freeform 247"/>
            <p:cNvSpPr>
              <a:spLocks/>
            </p:cNvSpPr>
            <p:nvPr/>
          </p:nvSpPr>
          <p:spPr bwMode="auto">
            <a:xfrm>
              <a:off x="4306" y="3539"/>
              <a:ext cx="43" cy="38"/>
            </a:xfrm>
            <a:custGeom>
              <a:avLst/>
              <a:gdLst>
                <a:gd name="T0" fmla="*/ 0 w 43"/>
                <a:gd name="T1" fmla="*/ 0 h 38"/>
                <a:gd name="T2" fmla="*/ 43 w 43"/>
                <a:gd name="T3" fmla="*/ 19 h 38"/>
                <a:gd name="T4" fmla="*/ 0 w 43"/>
                <a:gd name="T5" fmla="*/ 38 h 38"/>
                <a:gd name="T6" fmla="*/ 0 w 43"/>
                <a:gd name="T7" fmla="*/ 0 h 38"/>
                <a:gd name="T8" fmla="*/ 0 60000 65536"/>
                <a:gd name="T9" fmla="*/ 0 60000 65536"/>
                <a:gd name="T10" fmla="*/ 0 60000 65536"/>
                <a:gd name="T11" fmla="*/ 0 60000 65536"/>
                <a:gd name="T12" fmla="*/ 0 w 43"/>
                <a:gd name="T13" fmla="*/ 0 h 38"/>
                <a:gd name="T14" fmla="*/ 43 w 43"/>
                <a:gd name="T15" fmla="*/ 38 h 38"/>
              </a:gdLst>
              <a:ahLst/>
              <a:cxnLst>
                <a:cxn ang="T8">
                  <a:pos x="T0" y="T1"/>
                </a:cxn>
                <a:cxn ang="T9">
                  <a:pos x="T2" y="T3"/>
                </a:cxn>
                <a:cxn ang="T10">
                  <a:pos x="T4" y="T5"/>
                </a:cxn>
                <a:cxn ang="T11">
                  <a:pos x="T6" y="T7"/>
                </a:cxn>
              </a:cxnLst>
              <a:rect l="T12" t="T13" r="T14" b="T15"/>
              <a:pathLst>
                <a:path w="43" h="38">
                  <a:moveTo>
                    <a:pt x="0" y="0"/>
                  </a:moveTo>
                  <a:lnTo>
                    <a:pt x="43" y="19"/>
                  </a:lnTo>
                  <a:lnTo>
                    <a:pt x="0" y="38"/>
                  </a:lnTo>
                  <a:lnTo>
                    <a:pt x="0" y="0"/>
                  </a:lnTo>
                  <a:close/>
                </a:path>
              </a:pathLst>
            </a:custGeom>
            <a:solidFill>
              <a:srgbClr val="4677BF"/>
            </a:solidFill>
            <a:ln w="9525">
              <a:noFill/>
              <a:round/>
              <a:headEnd/>
              <a:tailEnd/>
            </a:ln>
          </p:spPr>
          <p:txBody>
            <a:bodyPr/>
            <a:lstStyle/>
            <a:p>
              <a:endParaRPr lang="en-US"/>
            </a:p>
          </p:txBody>
        </p:sp>
        <p:sp>
          <p:nvSpPr>
            <p:cNvPr id="95281" name="Freeform 248"/>
            <p:cNvSpPr>
              <a:spLocks noEditPoints="1"/>
            </p:cNvSpPr>
            <p:nvPr/>
          </p:nvSpPr>
          <p:spPr bwMode="auto">
            <a:xfrm>
              <a:off x="934" y="2096"/>
              <a:ext cx="1147" cy="756"/>
            </a:xfrm>
            <a:custGeom>
              <a:avLst/>
              <a:gdLst>
                <a:gd name="T0" fmla="*/ 0 w 1147"/>
                <a:gd name="T1" fmla="*/ 13 h 756"/>
                <a:gd name="T2" fmla="*/ 0 w 1147"/>
                <a:gd name="T3" fmla="*/ 158 h 756"/>
                <a:gd name="T4" fmla="*/ 7 w 1147"/>
                <a:gd name="T5" fmla="*/ 246 h 756"/>
                <a:gd name="T6" fmla="*/ 7 w 1147"/>
                <a:gd name="T7" fmla="*/ 196 h 756"/>
                <a:gd name="T8" fmla="*/ 0 w 1147"/>
                <a:gd name="T9" fmla="*/ 278 h 756"/>
                <a:gd name="T10" fmla="*/ 0 w 1147"/>
                <a:gd name="T11" fmla="*/ 429 h 756"/>
                <a:gd name="T12" fmla="*/ 7 w 1147"/>
                <a:gd name="T13" fmla="*/ 517 h 756"/>
                <a:gd name="T14" fmla="*/ 7 w 1147"/>
                <a:gd name="T15" fmla="*/ 467 h 756"/>
                <a:gd name="T16" fmla="*/ 0 w 1147"/>
                <a:gd name="T17" fmla="*/ 549 h 756"/>
                <a:gd name="T18" fmla="*/ 0 w 1147"/>
                <a:gd name="T19" fmla="*/ 700 h 756"/>
                <a:gd name="T20" fmla="*/ 7 w 1147"/>
                <a:gd name="T21" fmla="*/ 756 h 756"/>
                <a:gd name="T22" fmla="*/ 0 w 1147"/>
                <a:gd name="T23" fmla="*/ 756 h 756"/>
                <a:gd name="T24" fmla="*/ 142 w 1147"/>
                <a:gd name="T25" fmla="*/ 750 h 756"/>
                <a:gd name="T26" fmla="*/ 78 w 1147"/>
                <a:gd name="T27" fmla="*/ 750 h 756"/>
                <a:gd name="T28" fmla="*/ 178 w 1147"/>
                <a:gd name="T29" fmla="*/ 756 h 756"/>
                <a:gd name="T30" fmla="*/ 342 w 1147"/>
                <a:gd name="T31" fmla="*/ 756 h 756"/>
                <a:gd name="T32" fmla="*/ 442 w 1147"/>
                <a:gd name="T33" fmla="*/ 750 h 756"/>
                <a:gd name="T34" fmla="*/ 385 w 1147"/>
                <a:gd name="T35" fmla="*/ 750 h 756"/>
                <a:gd name="T36" fmla="*/ 484 w 1147"/>
                <a:gd name="T37" fmla="*/ 756 h 756"/>
                <a:gd name="T38" fmla="*/ 648 w 1147"/>
                <a:gd name="T39" fmla="*/ 756 h 756"/>
                <a:gd name="T40" fmla="*/ 748 w 1147"/>
                <a:gd name="T41" fmla="*/ 750 h 756"/>
                <a:gd name="T42" fmla="*/ 691 w 1147"/>
                <a:gd name="T43" fmla="*/ 750 h 756"/>
                <a:gd name="T44" fmla="*/ 791 w 1147"/>
                <a:gd name="T45" fmla="*/ 756 h 756"/>
                <a:gd name="T46" fmla="*/ 955 w 1147"/>
                <a:gd name="T47" fmla="*/ 756 h 756"/>
                <a:gd name="T48" fmla="*/ 1055 w 1147"/>
                <a:gd name="T49" fmla="*/ 750 h 756"/>
                <a:gd name="T50" fmla="*/ 998 w 1147"/>
                <a:gd name="T51" fmla="*/ 750 h 756"/>
                <a:gd name="T52" fmla="*/ 1147 w 1147"/>
                <a:gd name="T53" fmla="*/ 744 h 756"/>
                <a:gd name="T54" fmla="*/ 1098 w 1147"/>
                <a:gd name="T55" fmla="*/ 750 h 756"/>
                <a:gd name="T56" fmla="*/ 1147 w 1147"/>
                <a:gd name="T57" fmla="*/ 712 h 756"/>
                <a:gd name="T58" fmla="*/ 1147 w 1147"/>
                <a:gd name="T59" fmla="*/ 567 h 756"/>
                <a:gd name="T60" fmla="*/ 1140 w 1147"/>
                <a:gd name="T61" fmla="*/ 473 h 756"/>
                <a:gd name="T62" fmla="*/ 1140 w 1147"/>
                <a:gd name="T63" fmla="*/ 530 h 756"/>
                <a:gd name="T64" fmla="*/ 1147 w 1147"/>
                <a:gd name="T65" fmla="*/ 441 h 756"/>
                <a:gd name="T66" fmla="*/ 1147 w 1147"/>
                <a:gd name="T67" fmla="*/ 296 h 756"/>
                <a:gd name="T68" fmla="*/ 1140 w 1147"/>
                <a:gd name="T69" fmla="*/ 202 h 756"/>
                <a:gd name="T70" fmla="*/ 1140 w 1147"/>
                <a:gd name="T71" fmla="*/ 259 h 756"/>
                <a:gd name="T72" fmla="*/ 1147 w 1147"/>
                <a:gd name="T73" fmla="*/ 170 h 756"/>
                <a:gd name="T74" fmla="*/ 1147 w 1147"/>
                <a:gd name="T75" fmla="*/ 25 h 756"/>
                <a:gd name="T76" fmla="*/ 1062 w 1147"/>
                <a:gd name="T77" fmla="*/ 13 h 756"/>
                <a:gd name="T78" fmla="*/ 1126 w 1147"/>
                <a:gd name="T79" fmla="*/ 13 h 756"/>
                <a:gd name="T80" fmla="*/ 1026 w 1147"/>
                <a:gd name="T81" fmla="*/ 7 h 756"/>
                <a:gd name="T82" fmla="*/ 862 w 1147"/>
                <a:gd name="T83" fmla="*/ 0 h 756"/>
                <a:gd name="T84" fmla="*/ 762 w 1147"/>
                <a:gd name="T85" fmla="*/ 13 h 756"/>
                <a:gd name="T86" fmla="*/ 819 w 1147"/>
                <a:gd name="T87" fmla="*/ 13 h 756"/>
                <a:gd name="T88" fmla="*/ 720 w 1147"/>
                <a:gd name="T89" fmla="*/ 7 h 756"/>
                <a:gd name="T90" fmla="*/ 556 w 1147"/>
                <a:gd name="T91" fmla="*/ 0 h 756"/>
                <a:gd name="T92" fmla="*/ 456 w 1147"/>
                <a:gd name="T93" fmla="*/ 13 h 756"/>
                <a:gd name="T94" fmla="*/ 513 w 1147"/>
                <a:gd name="T95" fmla="*/ 13 h 756"/>
                <a:gd name="T96" fmla="*/ 413 w 1147"/>
                <a:gd name="T97" fmla="*/ 7 h 756"/>
                <a:gd name="T98" fmla="*/ 249 w 1147"/>
                <a:gd name="T99" fmla="*/ 0 h 756"/>
                <a:gd name="T100" fmla="*/ 149 w 1147"/>
                <a:gd name="T101" fmla="*/ 13 h 756"/>
                <a:gd name="T102" fmla="*/ 206 w 1147"/>
                <a:gd name="T103" fmla="*/ 13 h 756"/>
                <a:gd name="T104" fmla="*/ 106 w 1147"/>
                <a:gd name="T105" fmla="*/ 7 h 756"/>
                <a:gd name="T106" fmla="*/ 0 w 1147"/>
                <a:gd name="T107" fmla="*/ 0 h 75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47"/>
                <a:gd name="T163" fmla="*/ 0 h 756"/>
                <a:gd name="T164" fmla="*/ 1147 w 1147"/>
                <a:gd name="T165" fmla="*/ 756 h 75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47" h="756">
                  <a:moveTo>
                    <a:pt x="7" y="13"/>
                  </a:moveTo>
                  <a:lnTo>
                    <a:pt x="7" y="63"/>
                  </a:lnTo>
                  <a:lnTo>
                    <a:pt x="0" y="70"/>
                  </a:lnTo>
                  <a:lnTo>
                    <a:pt x="0" y="63"/>
                  </a:lnTo>
                  <a:lnTo>
                    <a:pt x="0" y="13"/>
                  </a:lnTo>
                  <a:lnTo>
                    <a:pt x="7" y="13"/>
                  </a:lnTo>
                  <a:close/>
                  <a:moveTo>
                    <a:pt x="7" y="101"/>
                  </a:moveTo>
                  <a:lnTo>
                    <a:pt x="7" y="158"/>
                  </a:lnTo>
                  <a:lnTo>
                    <a:pt x="0" y="158"/>
                  </a:lnTo>
                  <a:lnTo>
                    <a:pt x="0" y="101"/>
                  </a:lnTo>
                  <a:lnTo>
                    <a:pt x="7" y="101"/>
                  </a:lnTo>
                  <a:close/>
                  <a:moveTo>
                    <a:pt x="7" y="196"/>
                  </a:moveTo>
                  <a:lnTo>
                    <a:pt x="7" y="246"/>
                  </a:lnTo>
                  <a:lnTo>
                    <a:pt x="0" y="252"/>
                  </a:lnTo>
                  <a:lnTo>
                    <a:pt x="0" y="246"/>
                  </a:lnTo>
                  <a:lnTo>
                    <a:pt x="0" y="196"/>
                  </a:lnTo>
                  <a:lnTo>
                    <a:pt x="0" y="189"/>
                  </a:lnTo>
                  <a:lnTo>
                    <a:pt x="7" y="196"/>
                  </a:lnTo>
                  <a:close/>
                  <a:moveTo>
                    <a:pt x="7" y="284"/>
                  </a:moveTo>
                  <a:lnTo>
                    <a:pt x="7" y="334"/>
                  </a:lnTo>
                  <a:lnTo>
                    <a:pt x="0" y="341"/>
                  </a:lnTo>
                  <a:lnTo>
                    <a:pt x="0" y="334"/>
                  </a:lnTo>
                  <a:lnTo>
                    <a:pt x="0" y="284"/>
                  </a:lnTo>
                  <a:lnTo>
                    <a:pt x="0" y="278"/>
                  </a:lnTo>
                  <a:lnTo>
                    <a:pt x="7" y="284"/>
                  </a:lnTo>
                  <a:close/>
                  <a:moveTo>
                    <a:pt x="7" y="372"/>
                  </a:moveTo>
                  <a:lnTo>
                    <a:pt x="7" y="429"/>
                  </a:lnTo>
                  <a:lnTo>
                    <a:pt x="0" y="429"/>
                  </a:lnTo>
                  <a:lnTo>
                    <a:pt x="0" y="372"/>
                  </a:lnTo>
                  <a:lnTo>
                    <a:pt x="7" y="372"/>
                  </a:lnTo>
                  <a:close/>
                  <a:moveTo>
                    <a:pt x="7" y="467"/>
                  </a:moveTo>
                  <a:lnTo>
                    <a:pt x="7" y="517"/>
                  </a:lnTo>
                  <a:lnTo>
                    <a:pt x="0" y="523"/>
                  </a:lnTo>
                  <a:lnTo>
                    <a:pt x="0" y="517"/>
                  </a:lnTo>
                  <a:lnTo>
                    <a:pt x="0" y="467"/>
                  </a:lnTo>
                  <a:lnTo>
                    <a:pt x="0" y="460"/>
                  </a:lnTo>
                  <a:lnTo>
                    <a:pt x="7" y="467"/>
                  </a:lnTo>
                  <a:close/>
                  <a:moveTo>
                    <a:pt x="7" y="555"/>
                  </a:moveTo>
                  <a:lnTo>
                    <a:pt x="7" y="605"/>
                  </a:lnTo>
                  <a:lnTo>
                    <a:pt x="0" y="612"/>
                  </a:lnTo>
                  <a:lnTo>
                    <a:pt x="0" y="605"/>
                  </a:lnTo>
                  <a:lnTo>
                    <a:pt x="0" y="555"/>
                  </a:lnTo>
                  <a:lnTo>
                    <a:pt x="0" y="549"/>
                  </a:lnTo>
                  <a:lnTo>
                    <a:pt x="7" y="555"/>
                  </a:lnTo>
                  <a:close/>
                  <a:moveTo>
                    <a:pt x="7" y="643"/>
                  </a:moveTo>
                  <a:lnTo>
                    <a:pt x="7" y="700"/>
                  </a:lnTo>
                  <a:lnTo>
                    <a:pt x="0" y="700"/>
                  </a:lnTo>
                  <a:lnTo>
                    <a:pt x="0" y="643"/>
                  </a:lnTo>
                  <a:lnTo>
                    <a:pt x="7" y="643"/>
                  </a:lnTo>
                  <a:close/>
                  <a:moveTo>
                    <a:pt x="7" y="731"/>
                  </a:moveTo>
                  <a:lnTo>
                    <a:pt x="7" y="756"/>
                  </a:lnTo>
                  <a:lnTo>
                    <a:pt x="0" y="750"/>
                  </a:lnTo>
                  <a:lnTo>
                    <a:pt x="35" y="750"/>
                  </a:lnTo>
                  <a:lnTo>
                    <a:pt x="42" y="756"/>
                  </a:lnTo>
                  <a:lnTo>
                    <a:pt x="35" y="756"/>
                  </a:lnTo>
                  <a:lnTo>
                    <a:pt x="0" y="756"/>
                  </a:lnTo>
                  <a:lnTo>
                    <a:pt x="0" y="731"/>
                  </a:lnTo>
                  <a:lnTo>
                    <a:pt x="7" y="731"/>
                  </a:lnTo>
                  <a:close/>
                  <a:moveTo>
                    <a:pt x="78" y="750"/>
                  </a:moveTo>
                  <a:lnTo>
                    <a:pt x="142" y="750"/>
                  </a:lnTo>
                  <a:lnTo>
                    <a:pt x="142" y="756"/>
                  </a:lnTo>
                  <a:lnTo>
                    <a:pt x="78" y="756"/>
                  </a:lnTo>
                  <a:lnTo>
                    <a:pt x="78" y="750"/>
                  </a:lnTo>
                  <a:close/>
                  <a:moveTo>
                    <a:pt x="178" y="750"/>
                  </a:moveTo>
                  <a:lnTo>
                    <a:pt x="242" y="750"/>
                  </a:lnTo>
                  <a:lnTo>
                    <a:pt x="242" y="756"/>
                  </a:lnTo>
                  <a:lnTo>
                    <a:pt x="178" y="756"/>
                  </a:lnTo>
                  <a:lnTo>
                    <a:pt x="178" y="750"/>
                  </a:lnTo>
                  <a:close/>
                  <a:moveTo>
                    <a:pt x="285" y="750"/>
                  </a:moveTo>
                  <a:lnTo>
                    <a:pt x="342" y="750"/>
                  </a:lnTo>
                  <a:lnTo>
                    <a:pt x="349" y="756"/>
                  </a:lnTo>
                  <a:lnTo>
                    <a:pt x="342" y="756"/>
                  </a:lnTo>
                  <a:lnTo>
                    <a:pt x="285" y="756"/>
                  </a:lnTo>
                  <a:lnTo>
                    <a:pt x="278" y="756"/>
                  </a:lnTo>
                  <a:lnTo>
                    <a:pt x="285" y="750"/>
                  </a:lnTo>
                  <a:close/>
                  <a:moveTo>
                    <a:pt x="385" y="750"/>
                  </a:moveTo>
                  <a:lnTo>
                    <a:pt x="442" y="750"/>
                  </a:lnTo>
                  <a:lnTo>
                    <a:pt x="449" y="756"/>
                  </a:lnTo>
                  <a:lnTo>
                    <a:pt x="442" y="756"/>
                  </a:lnTo>
                  <a:lnTo>
                    <a:pt x="385" y="756"/>
                  </a:lnTo>
                  <a:lnTo>
                    <a:pt x="377" y="756"/>
                  </a:lnTo>
                  <a:lnTo>
                    <a:pt x="385" y="750"/>
                  </a:lnTo>
                  <a:close/>
                  <a:moveTo>
                    <a:pt x="484" y="750"/>
                  </a:moveTo>
                  <a:lnTo>
                    <a:pt x="549" y="750"/>
                  </a:lnTo>
                  <a:lnTo>
                    <a:pt x="549" y="756"/>
                  </a:lnTo>
                  <a:lnTo>
                    <a:pt x="484" y="756"/>
                  </a:lnTo>
                  <a:lnTo>
                    <a:pt x="484" y="750"/>
                  </a:lnTo>
                  <a:close/>
                  <a:moveTo>
                    <a:pt x="591" y="750"/>
                  </a:moveTo>
                  <a:lnTo>
                    <a:pt x="648" y="750"/>
                  </a:lnTo>
                  <a:lnTo>
                    <a:pt x="648" y="756"/>
                  </a:lnTo>
                  <a:lnTo>
                    <a:pt x="591" y="756"/>
                  </a:lnTo>
                  <a:lnTo>
                    <a:pt x="584" y="756"/>
                  </a:lnTo>
                  <a:lnTo>
                    <a:pt x="591" y="750"/>
                  </a:lnTo>
                  <a:close/>
                  <a:moveTo>
                    <a:pt x="691" y="750"/>
                  </a:moveTo>
                  <a:lnTo>
                    <a:pt x="748" y="750"/>
                  </a:lnTo>
                  <a:lnTo>
                    <a:pt x="755" y="756"/>
                  </a:lnTo>
                  <a:lnTo>
                    <a:pt x="748" y="756"/>
                  </a:lnTo>
                  <a:lnTo>
                    <a:pt x="691" y="756"/>
                  </a:lnTo>
                  <a:lnTo>
                    <a:pt x="684" y="756"/>
                  </a:lnTo>
                  <a:lnTo>
                    <a:pt x="691" y="750"/>
                  </a:lnTo>
                  <a:close/>
                  <a:moveTo>
                    <a:pt x="791" y="750"/>
                  </a:moveTo>
                  <a:lnTo>
                    <a:pt x="855" y="750"/>
                  </a:lnTo>
                  <a:lnTo>
                    <a:pt x="855" y="756"/>
                  </a:lnTo>
                  <a:lnTo>
                    <a:pt x="791" y="756"/>
                  </a:lnTo>
                  <a:lnTo>
                    <a:pt x="791" y="750"/>
                  </a:lnTo>
                  <a:close/>
                  <a:moveTo>
                    <a:pt x="891" y="750"/>
                  </a:moveTo>
                  <a:lnTo>
                    <a:pt x="955" y="750"/>
                  </a:lnTo>
                  <a:lnTo>
                    <a:pt x="955" y="756"/>
                  </a:lnTo>
                  <a:lnTo>
                    <a:pt x="891" y="756"/>
                  </a:lnTo>
                  <a:lnTo>
                    <a:pt x="891" y="750"/>
                  </a:lnTo>
                  <a:close/>
                  <a:moveTo>
                    <a:pt x="998" y="750"/>
                  </a:moveTo>
                  <a:lnTo>
                    <a:pt x="1055" y="750"/>
                  </a:lnTo>
                  <a:lnTo>
                    <a:pt x="1062" y="756"/>
                  </a:lnTo>
                  <a:lnTo>
                    <a:pt x="1055" y="756"/>
                  </a:lnTo>
                  <a:lnTo>
                    <a:pt x="998" y="756"/>
                  </a:lnTo>
                  <a:lnTo>
                    <a:pt x="991" y="756"/>
                  </a:lnTo>
                  <a:lnTo>
                    <a:pt x="998" y="750"/>
                  </a:lnTo>
                  <a:close/>
                  <a:moveTo>
                    <a:pt x="1098" y="750"/>
                  </a:moveTo>
                  <a:lnTo>
                    <a:pt x="1147" y="750"/>
                  </a:lnTo>
                  <a:lnTo>
                    <a:pt x="1140" y="756"/>
                  </a:lnTo>
                  <a:lnTo>
                    <a:pt x="1140" y="744"/>
                  </a:lnTo>
                  <a:lnTo>
                    <a:pt x="1147" y="744"/>
                  </a:lnTo>
                  <a:lnTo>
                    <a:pt x="1147" y="756"/>
                  </a:lnTo>
                  <a:lnTo>
                    <a:pt x="1098" y="756"/>
                  </a:lnTo>
                  <a:lnTo>
                    <a:pt x="1090" y="756"/>
                  </a:lnTo>
                  <a:lnTo>
                    <a:pt x="1098" y="750"/>
                  </a:lnTo>
                  <a:close/>
                  <a:moveTo>
                    <a:pt x="1140" y="706"/>
                  </a:moveTo>
                  <a:lnTo>
                    <a:pt x="1140" y="656"/>
                  </a:lnTo>
                  <a:lnTo>
                    <a:pt x="1147" y="649"/>
                  </a:lnTo>
                  <a:lnTo>
                    <a:pt x="1147" y="656"/>
                  </a:lnTo>
                  <a:lnTo>
                    <a:pt x="1147" y="706"/>
                  </a:lnTo>
                  <a:lnTo>
                    <a:pt x="1147" y="712"/>
                  </a:lnTo>
                  <a:lnTo>
                    <a:pt x="1140" y="706"/>
                  </a:lnTo>
                  <a:close/>
                  <a:moveTo>
                    <a:pt x="1140" y="618"/>
                  </a:moveTo>
                  <a:lnTo>
                    <a:pt x="1140" y="567"/>
                  </a:lnTo>
                  <a:lnTo>
                    <a:pt x="1147" y="561"/>
                  </a:lnTo>
                  <a:lnTo>
                    <a:pt x="1147" y="567"/>
                  </a:lnTo>
                  <a:lnTo>
                    <a:pt x="1147" y="618"/>
                  </a:lnTo>
                  <a:lnTo>
                    <a:pt x="1147" y="624"/>
                  </a:lnTo>
                  <a:lnTo>
                    <a:pt x="1140" y="618"/>
                  </a:lnTo>
                  <a:close/>
                  <a:moveTo>
                    <a:pt x="1140" y="530"/>
                  </a:moveTo>
                  <a:lnTo>
                    <a:pt x="1140" y="473"/>
                  </a:lnTo>
                  <a:lnTo>
                    <a:pt x="1147" y="473"/>
                  </a:lnTo>
                  <a:lnTo>
                    <a:pt x="1147" y="530"/>
                  </a:lnTo>
                  <a:lnTo>
                    <a:pt x="1140" y="530"/>
                  </a:lnTo>
                  <a:close/>
                  <a:moveTo>
                    <a:pt x="1140" y="435"/>
                  </a:moveTo>
                  <a:lnTo>
                    <a:pt x="1140" y="385"/>
                  </a:lnTo>
                  <a:lnTo>
                    <a:pt x="1147" y="378"/>
                  </a:lnTo>
                  <a:lnTo>
                    <a:pt x="1147" y="385"/>
                  </a:lnTo>
                  <a:lnTo>
                    <a:pt x="1147" y="435"/>
                  </a:lnTo>
                  <a:lnTo>
                    <a:pt x="1147" y="441"/>
                  </a:lnTo>
                  <a:lnTo>
                    <a:pt x="1140" y="435"/>
                  </a:lnTo>
                  <a:close/>
                  <a:moveTo>
                    <a:pt x="1140" y="347"/>
                  </a:moveTo>
                  <a:lnTo>
                    <a:pt x="1140" y="296"/>
                  </a:lnTo>
                  <a:lnTo>
                    <a:pt x="1147" y="290"/>
                  </a:lnTo>
                  <a:lnTo>
                    <a:pt x="1147" y="296"/>
                  </a:lnTo>
                  <a:lnTo>
                    <a:pt x="1147" y="347"/>
                  </a:lnTo>
                  <a:lnTo>
                    <a:pt x="1147" y="353"/>
                  </a:lnTo>
                  <a:lnTo>
                    <a:pt x="1140" y="347"/>
                  </a:lnTo>
                  <a:close/>
                  <a:moveTo>
                    <a:pt x="1140" y="259"/>
                  </a:moveTo>
                  <a:lnTo>
                    <a:pt x="1140" y="202"/>
                  </a:lnTo>
                  <a:lnTo>
                    <a:pt x="1147" y="202"/>
                  </a:lnTo>
                  <a:lnTo>
                    <a:pt x="1147" y="259"/>
                  </a:lnTo>
                  <a:lnTo>
                    <a:pt x="1140" y="259"/>
                  </a:lnTo>
                  <a:close/>
                  <a:moveTo>
                    <a:pt x="1140" y="164"/>
                  </a:moveTo>
                  <a:lnTo>
                    <a:pt x="1140" y="114"/>
                  </a:lnTo>
                  <a:lnTo>
                    <a:pt x="1147" y="114"/>
                  </a:lnTo>
                  <a:lnTo>
                    <a:pt x="1147" y="164"/>
                  </a:lnTo>
                  <a:lnTo>
                    <a:pt x="1147" y="170"/>
                  </a:lnTo>
                  <a:lnTo>
                    <a:pt x="1140" y="164"/>
                  </a:lnTo>
                  <a:close/>
                  <a:moveTo>
                    <a:pt x="1140" y="76"/>
                  </a:moveTo>
                  <a:lnTo>
                    <a:pt x="1140" y="25"/>
                  </a:lnTo>
                  <a:lnTo>
                    <a:pt x="1147" y="19"/>
                  </a:lnTo>
                  <a:lnTo>
                    <a:pt x="1147" y="25"/>
                  </a:lnTo>
                  <a:lnTo>
                    <a:pt x="1147" y="76"/>
                  </a:lnTo>
                  <a:lnTo>
                    <a:pt x="1147" y="82"/>
                  </a:lnTo>
                  <a:lnTo>
                    <a:pt x="1140" y="76"/>
                  </a:lnTo>
                  <a:close/>
                  <a:moveTo>
                    <a:pt x="1126" y="13"/>
                  </a:moveTo>
                  <a:lnTo>
                    <a:pt x="1062" y="13"/>
                  </a:lnTo>
                  <a:lnTo>
                    <a:pt x="1062" y="7"/>
                  </a:lnTo>
                  <a:lnTo>
                    <a:pt x="1062" y="0"/>
                  </a:lnTo>
                  <a:lnTo>
                    <a:pt x="1126" y="0"/>
                  </a:lnTo>
                  <a:lnTo>
                    <a:pt x="1126" y="7"/>
                  </a:lnTo>
                  <a:lnTo>
                    <a:pt x="1126" y="13"/>
                  </a:lnTo>
                  <a:close/>
                  <a:moveTo>
                    <a:pt x="1019" y="13"/>
                  </a:moveTo>
                  <a:lnTo>
                    <a:pt x="962" y="13"/>
                  </a:lnTo>
                  <a:lnTo>
                    <a:pt x="962" y="7"/>
                  </a:lnTo>
                  <a:lnTo>
                    <a:pt x="962" y="0"/>
                  </a:lnTo>
                  <a:lnTo>
                    <a:pt x="1019" y="0"/>
                  </a:lnTo>
                  <a:lnTo>
                    <a:pt x="1026" y="7"/>
                  </a:lnTo>
                  <a:lnTo>
                    <a:pt x="1019" y="13"/>
                  </a:lnTo>
                  <a:close/>
                  <a:moveTo>
                    <a:pt x="919" y="13"/>
                  </a:moveTo>
                  <a:lnTo>
                    <a:pt x="862" y="13"/>
                  </a:lnTo>
                  <a:lnTo>
                    <a:pt x="855" y="7"/>
                  </a:lnTo>
                  <a:lnTo>
                    <a:pt x="862" y="0"/>
                  </a:lnTo>
                  <a:lnTo>
                    <a:pt x="919" y="0"/>
                  </a:lnTo>
                  <a:lnTo>
                    <a:pt x="926" y="7"/>
                  </a:lnTo>
                  <a:lnTo>
                    <a:pt x="919" y="13"/>
                  </a:lnTo>
                  <a:close/>
                  <a:moveTo>
                    <a:pt x="819" y="13"/>
                  </a:moveTo>
                  <a:lnTo>
                    <a:pt x="762" y="13"/>
                  </a:lnTo>
                  <a:lnTo>
                    <a:pt x="755" y="7"/>
                  </a:lnTo>
                  <a:lnTo>
                    <a:pt x="762" y="0"/>
                  </a:lnTo>
                  <a:lnTo>
                    <a:pt x="819" y="0"/>
                  </a:lnTo>
                  <a:lnTo>
                    <a:pt x="827" y="7"/>
                  </a:lnTo>
                  <a:lnTo>
                    <a:pt x="819" y="13"/>
                  </a:lnTo>
                  <a:close/>
                  <a:moveTo>
                    <a:pt x="720" y="13"/>
                  </a:moveTo>
                  <a:lnTo>
                    <a:pt x="655" y="13"/>
                  </a:lnTo>
                  <a:lnTo>
                    <a:pt x="655" y="7"/>
                  </a:lnTo>
                  <a:lnTo>
                    <a:pt x="655" y="0"/>
                  </a:lnTo>
                  <a:lnTo>
                    <a:pt x="720" y="0"/>
                  </a:lnTo>
                  <a:lnTo>
                    <a:pt x="720" y="7"/>
                  </a:lnTo>
                  <a:lnTo>
                    <a:pt x="720" y="13"/>
                  </a:lnTo>
                  <a:close/>
                  <a:moveTo>
                    <a:pt x="613" y="13"/>
                  </a:moveTo>
                  <a:lnTo>
                    <a:pt x="556" y="13"/>
                  </a:lnTo>
                  <a:lnTo>
                    <a:pt x="549" y="7"/>
                  </a:lnTo>
                  <a:lnTo>
                    <a:pt x="556" y="0"/>
                  </a:lnTo>
                  <a:lnTo>
                    <a:pt x="613" y="0"/>
                  </a:lnTo>
                  <a:lnTo>
                    <a:pt x="620" y="7"/>
                  </a:lnTo>
                  <a:lnTo>
                    <a:pt x="613" y="13"/>
                  </a:lnTo>
                  <a:close/>
                  <a:moveTo>
                    <a:pt x="513" y="13"/>
                  </a:moveTo>
                  <a:lnTo>
                    <a:pt x="456" y="13"/>
                  </a:lnTo>
                  <a:lnTo>
                    <a:pt x="449" y="7"/>
                  </a:lnTo>
                  <a:lnTo>
                    <a:pt x="456" y="0"/>
                  </a:lnTo>
                  <a:lnTo>
                    <a:pt x="513" y="0"/>
                  </a:lnTo>
                  <a:lnTo>
                    <a:pt x="520" y="7"/>
                  </a:lnTo>
                  <a:lnTo>
                    <a:pt x="513" y="13"/>
                  </a:lnTo>
                  <a:close/>
                  <a:moveTo>
                    <a:pt x="413" y="13"/>
                  </a:moveTo>
                  <a:lnTo>
                    <a:pt x="349" y="13"/>
                  </a:lnTo>
                  <a:lnTo>
                    <a:pt x="349" y="7"/>
                  </a:lnTo>
                  <a:lnTo>
                    <a:pt x="349" y="0"/>
                  </a:lnTo>
                  <a:lnTo>
                    <a:pt x="413" y="0"/>
                  </a:lnTo>
                  <a:lnTo>
                    <a:pt x="413" y="7"/>
                  </a:lnTo>
                  <a:lnTo>
                    <a:pt x="413" y="13"/>
                  </a:lnTo>
                  <a:close/>
                  <a:moveTo>
                    <a:pt x="313" y="13"/>
                  </a:moveTo>
                  <a:lnTo>
                    <a:pt x="249" y="13"/>
                  </a:lnTo>
                  <a:lnTo>
                    <a:pt x="249" y="7"/>
                  </a:lnTo>
                  <a:lnTo>
                    <a:pt x="249" y="0"/>
                  </a:lnTo>
                  <a:lnTo>
                    <a:pt x="313" y="0"/>
                  </a:lnTo>
                  <a:lnTo>
                    <a:pt x="313" y="7"/>
                  </a:lnTo>
                  <a:lnTo>
                    <a:pt x="313" y="13"/>
                  </a:lnTo>
                  <a:close/>
                  <a:moveTo>
                    <a:pt x="206" y="13"/>
                  </a:moveTo>
                  <a:lnTo>
                    <a:pt x="149" y="13"/>
                  </a:lnTo>
                  <a:lnTo>
                    <a:pt x="142" y="7"/>
                  </a:lnTo>
                  <a:lnTo>
                    <a:pt x="149" y="0"/>
                  </a:lnTo>
                  <a:lnTo>
                    <a:pt x="206" y="0"/>
                  </a:lnTo>
                  <a:lnTo>
                    <a:pt x="213" y="7"/>
                  </a:lnTo>
                  <a:lnTo>
                    <a:pt x="206" y="13"/>
                  </a:lnTo>
                  <a:close/>
                  <a:moveTo>
                    <a:pt x="106" y="13"/>
                  </a:moveTo>
                  <a:lnTo>
                    <a:pt x="49" y="13"/>
                  </a:lnTo>
                  <a:lnTo>
                    <a:pt x="42" y="7"/>
                  </a:lnTo>
                  <a:lnTo>
                    <a:pt x="49" y="0"/>
                  </a:lnTo>
                  <a:lnTo>
                    <a:pt x="106" y="0"/>
                  </a:lnTo>
                  <a:lnTo>
                    <a:pt x="106" y="7"/>
                  </a:lnTo>
                  <a:lnTo>
                    <a:pt x="106" y="13"/>
                  </a:lnTo>
                  <a:close/>
                  <a:moveTo>
                    <a:pt x="7" y="13"/>
                  </a:moveTo>
                  <a:lnTo>
                    <a:pt x="0" y="13"/>
                  </a:lnTo>
                  <a:lnTo>
                    <a:pt x="0" y="7"/>
                  </a:lnTo>
                  <a:lnTo>
                    <a:pt x="0" y="0"/>
                  </a:lnTo>
                  <a:lnTo>
                    <a:pt x="7" y="0"/>
                  </a:lnTo>
                  <a:lnTo>
                    <a:pt x="7" y="7"/>
                  </a:lnTo>
                  <a:lnTo>
                    <a:pt x="7" y="13"/>
                  </a:lnTo>
                  <a:close/>
                </a:path>
              </a:pathLst>
            </a:custGeom>
            <a:solidFill>
              <a:srgbClr val="000000"/>
            </a:solidFill>
            <a:ln w="7">
              <a:solidFill>
                <a:srgbClr val="000000"/>
              </a:solidFill>
              <a:prstDash val="solid"/>
              <a:round/>
              <a:headEnd/>
              <a:tailEnd/>
            </a:ln>
          </p:spPr>
          <p:txBody>
            <a:bodyPr/>
            <a:lstStyle/>
            <a:p>
              <a:endParaRPr lang="en-US"/>
            </a:p>
          </p:txBody>
        </p:sp>
        <p:sp>
          <p:nvSpPr>
            <p:cNvPr id="95282" name="Line 249"/>
            <p:cNvSpPr>
              <a:spLocks noChangeShapeType="1"/>
            </p:cNvSpPr>
            <p:nvPr/>
          </p:nvSpPr>
          <p:spPr bwMode="auto">
            <a:xfrm>
              <a:off x="2081" y="2474"/>
              <a:ext cx="343" cy="1"/>
            </a:xfrm>
            <a:prstGeom prst="line">
              <a:avLst/>
            </a:prstGeom>
            <a:noFill/>
            <a:ln w="0">
              <a:solidFill>
                <a:srgbClr val="4677BF"/>
              </a:solidFill>
              <a:round/>
              <a:headEnd/>
              <a:tailEnd/>
            </a:ln>
          </p:spPr>
          <p:txBody>
            <a:bodyPr/>
            <a:lstStyle/>
            <a:p>
              <a:endParaRPr lang="en-US"/>
            </a:p>
          </p:txBody>
        </p:sp>
        <p:sp>
          <p:nvSpPr>
            <p:cNvPr id="95283" name="Freeform 250"/>
            <p:cNvSpPr>
              <a:spLocks/>
            </p:cNvSpPr>
            <p:nvPr/>
          </p:nvSpPr>
          <p:spPr bwMode="auto">
            <a:xfrm>
              <a:off x="2424" y="2462"/>
              <a:ext cx="35" cy="31"/>
            </a:xfrm>
            <a:custGeom>
              <a:avLst/>
              <a:gdLst>
                <a:gd name="T0" fmla="*/ 0 w 35"/>
                <a:gd name="T1" fmla="*/ 0 h 31"/>
                <a:gd name="T2" fmla="*/ 35 w 35"/>
                <a:gd name="T3" fmla="*/ 12 h 31"/>
                <a:gd name="T4" fmla="*/ 0 w 35"/>
                <a:gd name="T5" fmla="*/ 31 h 31"/>
                <a:gd name="T6" fmla="*/ 0 w 35"/>
                <a:gd name="T7" fmla="*/ 0 h 31"/>
                <a:gd name="T8" fmla="*/ 0 60000 65536"/>
                <a:gd name="T9" fmla="*/ 0 60000 65536"/>
                <a:gd name="T10" fmla="*/ 0 60000 65536"/>
                <a:gd name="T11" fmla="*/ 0 60000 65536"/>
                <a:gd name="T12" fmla="*/ 0 w 35"/>
                <a:gd name="T13" fmla="*/ 0 h 31"/>
                <a:gd name="T14" fmla="*/ 35 w 35"/>
                <a:gd name="T15" fmla="*/ 31 h 31"/>
              </a:gdLst>
              <a:ahLst/>
              <a:cxnLst>
                <a:cxn ang="T8">
                  <a:pos x="T0" y="T1"/>
                </a:cxn>
                <a:cxn ang="T9">
                  <a:pos x="T2" y="T3"/>
                </a:cxn>
                <a:cxn ang="T10">
                  <a:pos x="T4" y="T5"/>
                </a:cxn>
                <a:cxn ang="T11">
                  <a:pos x="T6" y="T7"/>
                </a:cxn>
              </a:cxnLst>
              <a:rect l="T12" t="T13" r="T14" b="T15"/>
              <a:pathLst>
                <a:path w="35" h="31">
                  <a:moveTo>
                    <a:pt x="0" y="0"/>
                  </a:moveTo>
                  <a:lnTo>
                    <a:pt x="35" y="12"/>
                  </a:lnTo>
                  <a:lnTo>
                    <a:pt x="0" y="31"/>
                  </a:lnTo>
                  <a:lnTo>
                    <a:pt x="0" y="0"/>
                  </a:lnTo>
                  <a:close/>
                </a:path>
              </a:pathLst>
            </a:custGeom>
            <a:solidFill>
              <a:srgbClr val="4677BF"/>
            </a:solidFill>
            <a:ln w="9525">
              <a:noFill/>
              <a:round/>
              <a:headEnd/>
              <a:tailEnd/>
            </a:ln>
          </p:spPr>
          <p:txBody>
            <a:bodyPr/>
            <a:lstStyle/>
            <a:p>
              <a:endParaRPr lang="en-US"/>
            </a:p>
          </p:txBody>
        </p:sp>
        <p:sp>
          <p:nvSpPr>
            <p:cNvPr id="95284" name="Freeform 251"/>
            <p:cNvSpPr>
              <a:spLocks/>
            </p:cNvSpPr>
            <p:nvPr/>
          </p:nvSpPr>
          <p:spPr bwMode="auto">
            <a:xfrm>
              <a:off x="1511" y="2878"/>
              <a:ext cx="1" cy="227"/>
            </a:xfrm>
            <a:custGeom>
              <a:avLst/>
              <a:gdLst>
                <a:gd name="T0" fmla="*/ 0 w 1"/>
                <a:gd name="T1" fmla="*/ 227 h 227"/>
                <a:gd name="T2" fmla="*/ 0 w 1"/>
                <a:gd name="T3" fmla="*/ 214 h 227"/>
                <a:gd name="T4" fmla="*/ 0 w 1"/>
                <a:gd name="T5" fmla="*/ 214 h 227"/>
                <a:gd name="T6" fmla="*/ 0 w 1"/>
                <a:gd name="T7" fmla="*/ 0 h 227"/>
                <a:gd name="T8" fmla="*/ 0 60000 65536"/>
                <a:gd name="T9" fmla="*/ 0 60000 65536"/>
                <a:gd name="T10" fmla="*/ 0 60000 65536"/>
                <a:gd name="T11" fmla="*/ 0 60000 65536"/>
                <a:gd name="T12" fmla="*/ 0 w 1"/>
                <a:gd name="T13" fmla="*/ 0 h 227"/>
                <a:gd name="T14" fmla="*/ 1 w 1"/>
                <a:gd name="T15" fmla="*/ 227 h 227"/>
              </a:gdLst>
              <a:ahLst/>
              <a:cxnLst>
                <a:cxn ang="T8">
                  <a:pos x="T0" y="T1"/>
                </a:cxn>
                <a:cxn ang="T9">
                  <a:pos x="T2" y="T3"/>
                </a:cxn>
                <a:cxn ang="T10">
                  <a:pos x="T4" y="T5"/>
                </a:cxn>
                <a:cxn ang="T11">
                  <a:pos x="T6" y="T7"/>
                </a:cxn>
              </a:cxnLst>
              <a:rect l="T12" t="T13" r="T14" b="T15"/>
              <a:pathLst>
                <a:path w="1" h="227">
                  <a:moveTo>
                    <a:pt x="0" y="227"/>
                  </a:moveTo>
                  <a:lnTo>
                    <a:pt x="0" y="214"/>
                  </a:lnTo>
                  <a:lnTo>
                    <a:pt x="0" y="0"/>
                  </a:lnTo>
                </a:path>
              </a:pathLst>
            </a:custGeom>
            <a:noFill/>
            <a:ln w="0">
              <a:solidFill>
                <a:srgbClr val="4677BF"/>
              </a:solidFill>
              <a:prstDash val="solid"/>
              <a:round/>
              <a:headEnd/>
              <a:tailEnd/>
            </a:ln>
          </p:spPr>
          <p:txBody>
            <a:bodyPr/>
            <a:lstStyle/>
            <a:p>
              <a:endParaRPr lang="en-US"/>
            </a:p>
          </p:txBody>
        </p:sp>
        <p:sp>
          <p:nvSpPr>
            <p:cNvPr id="95285" name="Freeform 252"/>
            <p:cNvSpPr>
              <a:spLocks/>
            </p:cNvSpPr>
            <p:nvPr/>
          </p:nvSpPr>
          <p:spPr bwMode="auto">
            <a:xfrm>
              <a:off x="1490" y="3073"/>
              <a:ext cx="42" cy="32"/>
            </a:xfrm>
            <a:custGeom>
              <a:avLst/>
              <a:gdLst>
                <a:gd name="T0" fmla="*/ 21 w 42"/>
                <a:gd name="T1" fmla="*/ 32 h 32"/>
                <a:gd name="T2" fmla="*/ 0 w 42"/>
                <a:gd name="T3" fmla="*/ 0 h 32"/>
                <a:gd name="T4" fmla="*/ 21 w 42"/>
                <a:gd name="T5" fmla="*/ 6 h 32"/>
                <a:gd name="T6" fmla="*/ 42 w 42"/>
                <a:gd name="T7" fmla="*/ 0 h 32"/>
                <a:gd name="T8" fmla="*/ 42 w 42"/>
                <a:gd name="T9" fmla="*/ 0 h 32"/>
                <a:gd name="T10" fmla="*/ 21 w 42"/>
                <a:gd name="T11" fmla="*/ 32 h 32"/>
                <a:gd name="T12" fmla="*/ 21 w 42"/>
                <a:gd name="T13" fmla="*/ 32 h 32"/>
                <a:gd name="T14" fmla="*/ 0 60000 65536"/>
                <a:gd name="T15" fmla="*/ 0 60000 65536"/>
                <a:gd name="T16" fmla="*/ 0 60000 65536"/>
                <a:gd name="T17" fmla="*/ 0 60000 65536"/>
                <a:gd name="T18" fmla="*/ 0 60000 65536"/>
                <a:gd name="T19" fmla="*/ 0 60000 65536"/>
                <a:gd name="T20" fmla="*/ 0 60000 65536"/>
                <a:gd name="T21" fmla="*/ 0 w 42"/>
                <a:gd name="T22" fmla="*/ 0 h 32"/>
                <a:gd name="T23" fmla="*/ 42 w 42"/>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2" h="32">
                  <a:moveTo>
                    <a:pt x="21" y="32"/>
                  </a:moveTo>
                  <a:lnTo>
                    <a:pt x="0" y="0"/>
                  </a:lnTo>
                  <a:lnTo>
                    <a:pt x="21" y="6"/>
                  </a:lnTo>
                  <a:lnTo>
                    <a:pt x="42" y="0"/>
                  </a:lnTo>
                  <a:lnTo>
                    <a:pt x="21" y="32"/>
                  </a:lnTo>
                  <a:close/>
                </a:path>
              </a:pathLst>
            </a:custGeom>
            <a:solidFill>
              <a:srgbClr val="4677BF"/>
            </a:solidFill>
            <a:ln w="9525">
              <a:noFill/>
              <a:round/>
              <a:headEnd/>
              <a:tailEnd/>
            </a:ln>
          </p:spPr>
          <p:txBody>
            <a:bodyPr/>
            <a:lstStyle/>
            <a:p>
              <a:endParaRPr lang="en-US"/>
            </a:p>
          </p:txBody>
        </p:sp>
        <p:sp>
          <p:nvSpPr>
            <p:cNvPr id="95286" name="Freeform 253"/>
            <p:cNvSpPr>
              <a:spLocks/>
            </p:cNvSpPr>
            <p:nvPr/>
          </p:nvSpPr>
          <p:spPr bwMode="auto">
            <a:xfrm>
              <a:off x="1490" y="2852"/>
              <a:ext cx="35" cy="32"/>
            </a:xfrm>
            <a:custGeom>
              <a:avLst/>
              <a:gdLst>
                <a:gd name="T0" fmla="*/ 21 w 35"/>
                <a:gd name="T1" fmla="*/ 0 h 32"/>
                <a:gd name="T2" fmla="*/ 35 w 35"/>
                <a:gd name="T3" fmla="*/ 32 h 32"/>
                <a:gd name="T4" fmla="*/ 21 w 35"/>
                <a:gd name="T5" fmla="*/ 32 h 32"/>
                <a:gd name="T6" fmla="*/ 0 w 35"/>
                <a:gd name="T7" fmla="*/ 32 h 32"/>
                <a:gd name="T8" fmla="*/ 21 w 35"/>
                <a:gd name="T9" fmla="*/ 0 h 32"/>
                <a:gd name="T10" fmla="*/ 21 w 35"/>
                <a:gd name="T11" fmla="*/ 0 h 32"/>
                <a:gd name="T12" fmla="*/ 0 60000 65536"/>
                <a:gd name="T13" fmla="*/ 0 60000 65536"/>
                <a:gd name="T14" fmla="*/ 0 60000 65536"/>
                <a:gd name="T15" fmla="*/ 0 60000 65536"/>
                <a:gd name="T16" fmla="*/ 0 60000 65536"/>
                <a:gd name="T17" fmla="*/ 0 60000 65536"/>
                <a:gd name="T18" fmla="*/ 0 w 35"/>
                <a:gd name="T19" fmla="*/ 0 h 32"/>
                <a:gd name="T20" fmla="*/ 35 w 35"/>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5" h="32">
                  <a:moveTo>
                    <a:pt x="21" y="0"/>
                  </a:moveTo>
                  <a:lnTo>
                    <a:pt x="35" y="32"/>
                  </a:lnTo>
                  <a:lnTo>
                    <a:pt x="21" y="32"/>
                  </a:lnTo>
                  <a:lnTo>
                    <a:pt x="0" y="32"/>
                  </a:lnTo>
                  <a:lnTo>
                    <a:pt x="21" y="0"/>
                  </a:lnTo>
                  <a:close/>
                </a:path>
              </a:pathLst>
            </a:custGeom>
            <a:solidFill>
              <a:srgbClr val="4677BF"/>
            </a:solidFill>
            <a:ln w="9525">
              <a:noFill/>
              <a:round/>
              <a:headEnd/>
              <a:tailEnd/>
            </a:ln>
          </p:spPr>
          <p:txBody>
            <a:bodyPr/>
            <a:lstStyle/>
            <a:p>
              <a:endParaRPr lang="en-US"/>
            </a:p>
          </p:txBody>
        </p:sp>
        <p:sp>
          <p:nvSpPr>
            <p:cNvPr id="95287" name="Freeform 254"/>
            <p:cNvSpPr>
              <a:spLocks/>
            </p:cNvSpPr>
            <p:nvPr/>
          </p:nvSpPr>
          <p:spPr bwMode="auto">
            <a:xfrm>
              <a:off x="1283" y="1838"/>
              <a:ext cx="228" cy="239"/>
            </a:xfrm>
            <a:custGeom>
              <a:avLst/>
              <a:gdLst>
                <a:gd name="T0" fmla="*/ 0 w 228"/>
                <a:gd name="T1" fmla="*/ 0 h 239"/>
                <a:gd name="T2" fmla="*/ 0 w 228"/>
                <a:gd name="T3" fmla="*/ 75 h 239"/>
                <a:gd name="T4" fmla="*/ 228 w 228"/>
                <a:gd name="T5" fmla="*/ 75 h 239"/>
                <a:gd name="T6" fmla="*/ 228 w 228"/>
                <a:gd name="T7" fmla="*/ 239 h 239"/>
                <a:gd name="T8" fmla="*/ 0 60000 65536"/>
                <a:gd name="T9" fmla="*/ 0 60000 65536"/>
                <a:gd name="T10" fmla="*/ 0 60000 65536"/>
                <a:gd name="T11" fmla="*/ 0 60000 65536"/>
                <a:gd name="T12" fmla="*/ 0 w 228"/>
                <a:gd name="T13" fmla="*/ 0 h 239"/>
                <a:gd name="T14" fmla="*/ 228 w 228"/>
                <a:gd name="T15" fmla="*/ 239 h 239"/>
              </a:gdLst>
              <a:ahLst/>
              <a:cxnLst>
                <a:cxn ang="T8">
                  <a:pos x="T0" y="T1"/>
                </a:cxn>
                <a:cxn ang="T9">
                  <a:pos x="T2" y="T3"/>
                </a:cxn>
                <a:cxn ang="T10">
                  <a:pos x="T4" y="T5"/>
                </a:cxn>
                <a:cxn ang="T11">
                  <a:pos x="T6" y="T7"/>
                </a:cxn>
              </a:cxnLst>
              <a:rect l="T12" t="T13" r="T14" b="T15"/>
              <a:pathLst>
                <a:path w="228" h="239">
                  <a:moveTo>
                    <a:pt x="0" y="0"/>
                  </a:moveTo>
                  <a:lnTo>
                    <a:pt x="0" y="75"/>
                  </a:lnTo>
                  <a:lnTo>
                    <a:pt x="228" y="75"/>
                  </a:lnTo>
                  <a:lnTo>
                    <a:pt x="228" y="239"/>
                  </a:lnTo>
                </a:path>
              </a:pathLst>
            </a:custGeom>
            <a:noFill/>
            <a:ln w="0">
              <a:solidFill>
                <a:srgbClr val="4677BF"/>
              </a:solidFill>
              <a:prstDash val="solid"/>
              <a:round/>
              <a:headEnd/>
              <a:tailEnd/>
            </a:ln>
          </p:spPr>
          <p:txBody>
            <a:bodyPr/>
            <a:lstStyle/>
            <a:p>
              <a:endParaRPr lang="en-US"/>
            </a:p>
          </p:txBody>
        </p:sp>
        <p:sp>
          <p:nvSpPr>
            <p:cNvPr id="95288" name="Freeform 255"/>
            <p:cNvSpPr>
              <a:spLocks/>
            </p:cNvSpPr>
            <p:nvPr/>
          </p:nvSpPr>
          <p:spPr bwMode="auto">
            <a:xfrm>
              <a:off x="1261" y="1813"/>
              <a:ext cx="43" cy="37"/>
            </a:xfrm>
            <a:custGeom>
              <a:avLst/>
              <a:gdLst>
                <a:gd name="T0" fmla="*/ 22 w 43"/>
                <a:gd name="T1" fmla="*/ 0 h 37"/>
                <a:gd name="T2" fmla="*/ 43 w 43"/>
                <a:gd name="T3" fmla="*/ 37 h 37"/>
                <a:gd name="T4" fmla="*/ 22 w 43"/>
                <a:gd name="T5" fmla="*/ 31 h 37"/>
                <a:gd name="T6" fmla="*/ 0 w 43"/>
                <a:gd name="T7" fmla="*/ 37 h 37"/>
                <a:gd name="T8" fmla="*/ 22 w 43"/>
                <a:gd name="T9" fmla="*/ 0 h 37"/>
                <a:gd name="T10" fmla="*/ 22 w 43"/>
                <a:gd name="T11" fmla="*/ 0 h 37"/>
                <a:gd name="T12" fmla="*/ 0 60000 65536"/>
                <a:gd name="T13" fmla="*/ 0 60000 65536"/>
                <a:gd name="T14" fmla="*/ 0 60000 65536"/>
                <a:gd name="T15" fmla="*/ 0 60000 65536"/>
                <a:gd name="T16" fmla="*/ 0 60000 65536"/>
                <a:gd name="T17" fmla="*/ 0 60000 65536"/>
                <a:gd name="T18" fmla="*/ 0 w 43"/>
                <a:gd name="T19" fmla="*/ 0 h 37"/>
                <a:gd name="T20" fmla="*/ 43 w 4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43" h="37">
                  <a:moveTo>
                    <a:pt x="22" y="0"/>
                  </a:moveTo>
                  <a:lnTo>
                    <a:pt x="43" y="37"/>
                  </a:lnTo>
                  <a:lnTo>
                    <a:pt x="22" y="31"/>
                  </a:lnTo>
                  <a:lnTo>
                    <a:pt x="0" y="37"/>
                  </a:lnTo>
                  <a:lnTo>
                    <a:pt x="22" y="0"/>
                  </a:lnTo>
                  <a:close/>
                </a:path>
              </a:pathLst>
            </a:custGeom>
            <a:solidFill>
              <a:srgbClr val="4677BF"/>
            </a:solidFill>
            <a:ln w="9525">
              <a:noFill/>
              <a:round/>
              <a:headEnd/>
              <a:tailEnd/>
            </a:ln>
          </p:spPr>
          <p:txBody>
            <a:bodyPr/>
            <a:lstStyle/>
            <a:p>
              <a:endParaRPr lang="en-US"/>
            </a:p>
          </p:txBody>
        </p:sp>
        <p:sp>
          <p:nvSpPr>
            <p:cNvPr id="95289" name="Freeform 256"/>
            <p:cNvSpPr>
              <a:spLocks/>
            </p:cNvSpPr>
            <p:nvPr/>
          </p:nvSpPr>
          <p:spPr bwMode="auto">
            <a:xfrm>
              <a:off x="1490" y="2065"/>
              <a:ext cx="35" cy="38"/>
            </a:xfrm>
            <a:custGeom>
              <a:avLst/>
              <a:gdLst>
                <a:gd name="T0" fmla="*/ 21 w 35"/>
                <a:gd name="T1" fmla="*/ 38 h 38"/>
                <a:gd name="T2" fmla="*/ 0 w 35"/>
                <a:gd name="T3" fmla="*/ 0 h 38"/>
                <a:gd name="T4" fmla="*/ 21 w 35"/>
                <a:gd name="T5" fmla="*/ 6 h 38"/>
                <a:gd name="T6" fmla="*/ 35 w 35"/>
                <a:gd name="T7" fmla="*/ 0 h 38"/>
                <a:gd name="T8" fmla="*/ 35 w 35"/>
                <a:gd name="T9" fmla="*/ 0 h 38"/>
                <a:gd name="T10" fmla="*/ 21 w 35"/>
                <a:gd name="T11" fmla="*/ 38 h 38"/>
                <a:gd name="T12" fmla="*/ 21 w 35"/>
                <a:gd name="T13" fmla="*/ 38 h 38"/>
                <a:gd name="T14" fmla="*/ 0 60000 65536"/>
                <a:gd name="T15" fmla="*/ 0 60000 65536"/>
                <a:gd name="T16" fmla="*/ 0 60000 65536"/>
                <a:gd name="T17" fmla="*/ 0 60000 65536"/>
                <a:gd name="T18" fmla="*/ 0 60000 65536"/>
                <a:gd name="T19" fmla="*/ 0 60000 65536"/>
                <a:gd name="T20" fmla="*/ 0 60000 65536"/>
                <a:gd name="T21" fmla="*/ 0 w 35"/>
                <a:gd name="T22" fmla="*/ 0 h 38"/>
                <a:gd name="T23" fmla="*/ 35 w 35"/>
                <a:gd name="T24" fmla="*/ 38 h 3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5" h="38">
                  <a:moveTo>
                    <a:pt x="21" y="38"/>
                  </a:moveTo>
                  <a:lnTo>
                    <a:pt x="0" y="0"/>
                  </a:lnTo>
                  <a:lnTo>
                    <a:pt x="21" y="6"/>
                  </a:lnTo>
                  <a:lnTo>
                    <a:pt x="35" y="0"/>
                  </a:lnTo>
                  <a:lnTo>
                    <a:pt x="21" y="38"/>
                  </a:lnTo>
                  <a:close/>
                </a:path>
              </a:pathLst>
            </a:custGeom>
            <a:solidFill>
              <a:srgbClr val="4677BF"/>
            </a:solidFill>
            <a:ln w="9525">
              <a:noFill/>
              <a:round/>
              <a:headEnd/>
              <a:tailEnd/>
            </a:ln>
          </p:spPr>
          <p:txBody>
            <a:bodyPr/>
            <a:lstStyle/>
            <a:p>
              <a:endParaRPr lang="en-US"/>
            </a:p>
          </p:txBody>
        </p:sp>
        <p:sp>
          <p:nvSpPr>
            <p:cNvPr id="95290" name="Rectangle 257"/>
            <p:cNvSpPr>
              <a:spLocks noChangeArrowheads="1"/>
            </p:cNvSpPr>
            <p:nvPr/>
          </p:nvSpPr>
          <p:spPr bwMode="auto">
            <a:xfrm>
              <a:off x="1411" y="1050"/>
              <a:ext cx="514" cy="340"/>
            </a:xfrm>
            <a:prstGeom prst="rect">
              <a:avLst/>
            </a:prstGeom>
            <a:solidFill>
              <a:srgbClr val="E8EEF7"/>
            </a:solidFill>
            <a:ln w="9525">
              <a:noFill/>
              <a:miter lim="800000"/>
              <a:headEnd/>
              <a:tailEnd/>
            </a:ln>
          </p:spPr>
          <p:txBody>
            <a:bodyPr/>
            <a:lstStyle/>
            <a:p>
              <a:endParaRPr lang="en-US"/>
            </a:p>
          </p:txBody>
        </p:sp>
        <p:sp>
          <p:nvSpPr>
            <p:cNvPr id="95291" name="Rectangle 258"/>
            <p:cNvSpPr>
              <a:spLocks noChangeArrowheads="1"/>
            </p:cNvSpPr>
            <p:nvPr/>
          </p:nvSpPr>
          <p:spPr bwMode="auto">
            <a:xfrm>
              <a:off x="1411" y="1050"/>
              <a:ext cx="514" cy="340"/>
            </a:xfrm>
            <a:prstGeom prst="rect">
              <a:avLst/>
            </a:prstGeom>
            <a:noFill/>
            <a:ln w="0">
              <a:solidFill>
                <a:srgbClr val="000000"/>
              </a:solidFill>
              <a:miter lim="800000"/>
              <a:headEnd/>
              <a:tailEnd/>
            </a:ln>
          </p:spPr>
          <p:txBody>
            <a:bodyPr/>
            <a:lstStyle/>
            <a:p>
              <a:endParaRPr lang="en-US"/>
            </a:p>
          </p:txBody>
        </p:sp>
        <p:sp>
          <p:nvSpPr>
            <p:cNvPr id="95292" name="Rectangle 259"/>
            <p:cNvSpPr>
              <a:spLocks noChangeArrowheads="1"/>
            </p:cNvSpPr>
            <p:nvPr/>
          </p:nvSpPr>
          <p:spPr bwMode="auto">
            <a:xfrm>
              <a:off x="1483" y="1126"/>
              <a:ext cx="492" cy="95"/>
            </a:xfrm>
            <a:prstGeom prst="rect">
              <a:avLst/>
            </a:prstGeom>
            <a:noFill/>
            <a:ln w="9525">
              <a:noFill/>
              <a:miter lim="800000"/>
              <a:headEnd/>
              <a:tailEnd/>
            </a:ln>
          </p:spPr>
          <p:txBody>
            <a:bodyPr wrap="none" lIns="0" tIns="0" rIns="0" bIns="0">
              <a:spAutoFit/>
            </a:bodyPr>
            <a:lstStyle/>
            <a:p>
              <a:r>
                <a:rPr lang="en-US" sz="600">
                  <a:solidFill>
                    <a:srgbClr val="000000"/>
                  </a:solidFill>
                </a:rPr>
                <a:t>Update Project </a:t>
              </a:r>
              <a:endParaRPr lang="en-US"/>
            </a:p>
          </p:txBody>
        </p:sp>
        <p:sp>
          <p:nvSpPr>
            <p:cNvPr id="95293" name="Rectangle 260"/>
            <p:cNvSpPr>
              <a:spLocks noChangeArrowheads="1"/>
            </p:cNvSpPr>
            <p:nvPr/>
          </p:nvSpPr>
          <p:spPr bwMode="auto">
            <a:xfrm>
              <a:off x="1611" y="1189"/>
              <a:ext cx="185" cy="95"/>
            </a:xfrm>
            <a:prstGeom prst="rect">
              <a:avLst/>
            </a:prstGeom>
            <a:noFill/>
            <a:ln w="9525">
              <a:noFill/>
              <a:miter lim="800000"/>
              <a:headEnd/>
              <a:tailEnd/>
            </a:ln>
          </p:spPr>
          <p:txBody>
            <a:bodyPr wrap="none" lIns="0" tIns="0" rIns="0" bIns="0">
              <a:spAutoFit/>
            </a:bodyPr>
            <a:lstStyle/>
            <a:p>
              <a:r>
                <a:rPr lang="en-US" sz="600">
                  <a:solidFill>
                    <a:srgbClr val="000000"/>
                  </a:solidFill>
                </a:rPr>
                <a:t>Risk </a:t>
              </a:r>
              <a:endParaRPr lang="en-US"/>
            </a:p>
          </p:txBody>
        </p:sp>
        <p:sp>
          <p:nvSpPr>
            <p:cNvPr id="95294" name="Rectangle 261"/>
            <p:cNvSpPr>
              <a:spLocks noChangeArrowheads="1"/>
            </p:cNvSpPr>
            <p:nvPr/>
          </p:nvSpPr>
          <p:spPr bwMode="auto">
            <a:xfrm>
              <a:off x="1475" y="1246"/>
              <a:ext cx="471" cy="95"/>
            </a:xfrm>
            <a:prstGeom prst="rect">
              <a:avLst/>
            </a:prstGeom>
            <a:noFill/>
            <a:ln w="9525">
              <a:noFill/>
              <a:miter lim="800000"/>
              <a:headEnd/>
              <a:tailEnd/>
            </a:ln>
          </p:spPr>
          <p:txBody>
            <a:bodyPr wrap="none" lIns="0" tIns="0" rIns="0" bIns="0">
              <a:spAutoFit/>
            </a:bodyPr>
            <a:lstStyle/>
            <a:p>
              <a:r>
                <a:rPr lang="en-US" sz="600">
                  <a:solidFill>
                    <a:srgbClr val="000000"/>
                  </a:solidFill>
                </a:rPr>
                <a:t>Considerations</a:t>
              </a:r>
              <a:endParaRPr lang="en-US"/>
            </a:p>
          </p:txBody>
        </p:sp>
        <p:sp>
          <p:nvSpPr>
            <p:cNvPr id="95295" name="Freeform 262"/>
            <p:cNvSpPr>
              <a:spLocks/>
            </p:cNvSpPr>
            <p:nvPr/>
          </p:nvSpPr>
          <p:spPr bwMode="auto">
            <a:xfrm>
              <a:off x="1283" y="1220"/>
              <a:ext cx="93" cy="252"/>
            </a:xfrm>
            <a:custGeom>
              <a:avLst/>
              <a:gdLst>
                <a:gd name="T0" fmla="*/ 0 w 93"/>
                <a:gd name="T1" fmla="*/ 252 h 252"/>
                <a:gd name="T2" fmla="*/ 0 w 93"/>
                <a:gd name="T3" fmla="*/ 0 h 252"/>
                <a:gd name="T4" fmla="*/ 93 w 93"/>
                <a:gd name="T5" fmla="*/ 0 h 252"/>
                <a:gd name="T6" fmla="*/ 0 60000 65536"/>
                <a:gd name="T7" fmla="*/ 0 60000 65536"/>
                <a:gd name="T8" fmla="*/ 0 60000 65536"/>
                <a:gd name="T9" fmla="*/ 0 w 93"/>
                <a:gd name="T10" fmla="*/ 0 h 252"/>
                <a:gd name="T11" fmla="*/ 93 w 93"/>
                <a:gd name="T12" fmla="*/ 252 h 252"/>
              </a:gdLst>
              <a:ahLst/>
              <a:cxnLst>
                <a:cxn ang="T6">
                  <a:pos x="T0" y="T1"/>
                </a:cxn>
                <a:cxn ang="T7">
                  <a:pos x="T2" y="T3"/>
                </a:cxn>
                <a:cxn ang="T8">
                  <a:pos x="T4" y="T5"/>
                </a:cxn>
              </a:cxnLst>
              <a:rect l="T9" t="T10" r="T11" b="T12"/>
              <a:pathLst>
                <a:path w="93" h="252">
                  <a:moveTo>
                    <a:pt x="0" y="252"/>
                  </a:moveTo>
                  <a:lnTo>
                    <a:pt x="0" y="0"/>
                  </a:lnTo>
                  <a:lnTo>
                    <a:pt x="93" y="0"/>
                  </a:lnTo>
                </a:path>
              </a:pathLst>
            </a:custGeom>
            <a:noFill/>
            <a:ln w="0">
              <a:solidFill>
                <a:srgbClr val="4677BF"/>
              </a:solidFill>
              <a:prstDash val="solid"/>
              <a:round/>
              <a:headEnd/>
              <a:tailEnd/>
            </a:ln>
          </p:spPr>
          <p:txBody>
            <a:bodyPr/>
            <a:lstStyle/>
            <a:p>
              <a:endParaRPr lang="en-US"/>
            </a:p>
          </p:txBody>
        </p:sp>
        <p:sp>
          <p:nvSpPr>
            <p:cNvPr id="95296" name="Freeform 263"/>
            <p:cNvSpPr>
              <a:spLocks/>
            </p:cNvSpPr>
            <p:nvPr/>
          </p:nvSpPr>
          <p:spPr bwMode="auto">
            <a:xfrm>
              <a:off x="1376" y="1208"/>
              <a:ext cx="35" cy="31"/>
            </a:xfrm>
            <a:custGeom>
              <a:avLst/>
              <a:gdLst>
                <a:gd name="T0" fmla="*/ 0 w 35"/>
                <a:gd name="T1" fmla="*/ 0 h 31"/>
                <a:gd name="T2" fmla="*/ 35 w 35"/>
                <a:gd name="T3" fmla="*/ 12 h 31"/>
                <a:gd name="T4" fmla="*/ 0 w 35"/>
                <a:gd name="T5" fmla="*/ 31 h 31"/>
                <a:gd name="T6" fmla="*/ 0 w 35"/>
                <a:gd name="T7" fmla="*/ 0 h 31"/>
                <a:gd name="T8" fmla="*/ 0 60000 65536"/>
                <a:gd name="T9" fmla="*/ 0 60000 65536"/>
                <a:gd name="T10" fmla="*/ 0 60000 65536"/>
                <a:gd name="T11" fmla="*/ 0 60000 65536"/>
                <a:gd name="T12" fmla="*/ 0 w 35"/>
                <a:gd name="T13" fmla="*/ 0 h 31"/>
                <a:gd name="T14" fmla="*/ 35 w 35"/>
                <a:gd name="T15" fmla="*/ 31 h 31"/>
              </a:gdLst>
              <a:ahLst/>
              <a:cxnLst>
                <a:cxn ang="T8">
                  <a:pos x="T0" y="T1"/>
                </a:cxn>
                <a:cxn ang="T9">
                  <a:pos x="T2" y="T3"/>
                </a:cxn>
                <a:cxn ang="T10">
                  <a:pos x="T4" y="T5"/>
                </a:cxn>
                <a:cxn ang="T11">
                  <a:pos x="T6" y="T7"/>
                </a:cxn>
              </a:cxnLst>
              <a:rect l="T12" t="T13" r="T14" b="T15"/>
              <a:pathLst>
                <a:path w="35" h="31">
                  <a:moveTo>
                    <a:pt x="0" y="0"/>
                  </a:moveTo>
                  <a:lnTo>
                    <a:pt x="35" y="12"/>
                  </a:lnTo>
                  <a:lnTo>
                    <a:pt x="0" y="31"/>
                  </a:lnTo>
                  <a:lnTo>
                    <a:pt x="0" y="0"/>
                  </a:lnTo>
                  <a:close/>
                </a:path>
              </a:pathLst>
            </a:custGeom>
            <a:solidFill>
              <a:srgbClr val="4677BF"/>
            </a:solidFill>
            <a:ln w="9525">
              <a:noFill/>
              <a:round/>
              <a:headEnd/>
              <a:tailEnd/>
            </a:ln>
          </p:spPr>
          <p:txBody>
            <a:bodyPr/>
            <a:lstStyle/>
            <a:p>
              <a:endParaRPr lang="en-US"/>
            </a:p>
          </p:txBody>
        </p:sp>
        <p:sp>
          <p:nvSpPr>
            <p:cNvPr id="95297" name="Line 264"/>
            <p:cNvSpPr>
              <a:spLocks noChangeShapeType="1"/>
            </p:cNvSpPr>
            <p:nvPr/>
          </p:nvSpPr>
          <p:spPr bwMode="auto">
            <a:xfrm>
              <a:off x="1925" y="1220"/>
              <a:ext cx="213" cy="1"/>
            </a:xfrm>
            <a:prstGeom prst="line">
              <a:avLst/>
            </a:prstGeom>
            <a:noFill/>
            <a:ln w="0">
              <a:solidFill>
                <a:srgbClr val="4677BF"/>
              </a:solidFill>
              <a:round/>
              <a:headEnd/>
              <a:tailEnd/>
            </a:ln>
          </p:spPr>
          <p:txBody>
            <a:bodyPr/>
            <a:lstStyle/>
            <a:p>
              <a:endParaRPr lang="en-US"/>
            </a:p>
          </p:txBody>
        </p:sp>
        <p:sp>
          <p:nvSpPr>
            <p:cNvPr id="95298" name="Freeform 265"/>
            <p:cNvSpPr>
              <a:spLocks/>
            </p:cNvSpPr>
            <p:nvPr/>
          </p:nvSpPr>
          <p:spPr bwMode="auto">
            <a:xfrm>
              <a:off x="2138" y="1208"/>
              <a:ext cx="36" cy="31"/>
            </a:xfrm>
            <a:custGeom>
              <a:avLst/>
              <a:gdLst>
                <a:gd name="T0" fmla="*/ 0 w 36"/>
                <a:gd name="T1" fmla="*/ 0 h 31"/>
                <a:gd name="T2" fmla="*/ 36 w 36"/>
                <a:gd name="T3" fmla="*/ 12 h 31"/>
                <a:gd name="T4" fmla="*/ 0 w 36"/>
                <a:gd name="T5" fmla="*/ 31 h 31"/>
                <a:gd name="T6" fmla="*/ 0 w 36"/>
                <a:gd name="T7" fmla="*/ 0 h 31"/>
                <a:gd name="T8" fmla="*/ 0 60000 65536"/>
                <a:gd name="T9" fmla="*/ 0 60000 65536"/>
                <a:gd name="T10" fmla="*/ 0 60000 65536"/>
                <a:gd name="T11" fmla="*/ 0 60000 65536"/>
                <a:gd name="T12" fmla="*/ 0 w 36"/>
                <a:gd name="T13" fmla="*/ 0 h 31"/>
                <a:gd name="T14" fmla="*/ 36 w 36"/>
                <a:gd name="T15" fmla="*/ 31 h 31"/>
              </a:gdLst>
              <a:ahLst/>
              <a:cxnLst>
                <a:cxn ang="T8">
                  <a:pos x="T0" y="T1"/>
                </a:cxn>
                <a:cxn ang="T9">
                  <a:pos x="T2" y="T3"/>
                </a:cxn>
                <a:cxn ang="T10">
                  <a:pos x="T4" y="T5"/>
                </a:cxn>
                <a:cxn ang="T11">
                  <a:pos x="T6" y="T7"/>
                </a:cxn>
              </a:cxnLst>
              <a:rect l="T12" t="T13" r="T14" b="T15"/>
              <a:pathLst>
                <a:path w="36" h="31">
                  <a:moveTo>
                    <a:pt x="0" y="0"/>
                  </a:moveTo>
                  <a:lnTo>
                    <a:pt x="36" y="12"/>
                  </a:lnTo>
                  <a:lnTo>
                    <a:pt x="0" y="31"/>
                  </a:lnTo>
                  <a:lnTo>
                    <a:pt x="0" y="0"/>
                  </a:lnTo>
                  <a:close/>
                </a:path>
              </a:pathLst>
            </a:custGeom>
            <a:solidFill>
              <a:srgbClr val="4677BF"/>
            </a:solidFill>
            <a:ln w="9525">
              <a:noFill/>
              <a:round/>
              <a:headEnd/>
              <a:tailEnd/>
            </a:ln>
          </p:spPr>
          <p:txBody>
            <a:bodyPr/>
            <a:lstStyle/>
            <a:p>
              <a:endParaRPr lang="en-US"/>
            </a:p>
          </p:txBody>
        </p:sp>
        <p:sp>
          <p:nvSpPr>
            <p:cNvPr id="95299" name="Freeform 266"/>
            <p:cNvSpPr>
              <a:spLocks/>
            </p:cNvSpPr>
            <p:nvPr/>
          </p:nvSpPr>
          <p:spPr bwMode="auto">
            <a:xfrm>
              <a:off x="4976" y="1561"/>
              <a:ext cx="514" cy="170"/>
            </a:xfrm>
            <a:custGeom>
              <a:avLst/>
              <a:gdLst>
                <a:gd name="T0" fmla="*/ 100 w 514"/>
                <a:gd name="T1" fmla="*/ 170 h 170"/>
                <a:gd name="T2" fmla="*/ 414 w 514"/>
                <a:gd name="T3" fmla="*/ 170 h 170"/>
                <a:gd name="T4" fmla="*/ 457 w 514"/>
                <a:gd name="T5" fmla="*/ 163 h 170"/>
                <a:gd name="T6" fmla="*/ 485 w 514"/>
                <a:gd name="T7" fmla="*/ 145 h 170"/>
                <a:gd name="T8" fmla="*/ 506 w 514"/>
                <a:gd name="T9" fmla="*/ 113 h 170"/>
                <a:gd name="T10" fmla="*/ 514 w 514"/>
                <a:gd name="T11" fmla="*/ 82 h 170"/>
                <a:gd name="T12" fmla="*/ 506 w 514"/>
                <a:gd name="T13" fmla="*/ 50 h 170"/>
                <a:gd name="T14" fmla="*/ 485 w 514"/>
                <a:gd name="T15" fmla="*/ 25 h 170"/>
                <a:gd name="T16" fmla="*/ 457 w 514"/>
                <a:gd name="T17" fmla="*/ 6 h 170"/>
                <a:gd name="T18" fmla="*/ 414 w 514"/>
                <a:gd name="T19" fmla="*/ 0 h 170"/>
                <a:gd name="T20" fmla="*/ 414 w 514"/>
                <a:gd name="T21" fmla="*/ 0 h 170"/>
                <a:gd name="T22" fmla="*/ 414 w 514"/>
                <a:gd name="T23" fmla="*/ 0 h 170"/>
                <a:gd name="T24" fmla="*/ 100 w 514"/>
                <a:gd name="T25" fmla="*/ 0 h 170"/>
                <a:gd name="T26" fmla="*/ 57 w 514"/>
                <a:gd name="T27" fmla="*/ 6 h 170"/>
                <a:gd name="T28" fmla="*/ 29 w 514"/>
                <a:gd name="T29" fmla="*/ 25 h 170"/>
                <a:gd name="T30" fmla="*/ 7 w 514"/>
                <a:gd name="T31" fmla="*/ 50 h 170"/>
                <a:gd name="T32" fmla="*/ 0 w 514"/>
                <a:gd name="T33" fmla="*/ 82 h 170"/>
                <a:gd name="T34" fmla="*/ 7 w 514"/>
                <a:gd name="T35" fmla="*/ 113 h 170"/>
                <a:gd name="T36" fmla="*/ 29 w 514"/>
                <a:gd name="T37" fmla="*/ 145 h 170"/>
                <a:gd name="T38" fmla="*/ 57 w 514"/>
                <a:gd name="T39" fmla="*/ 163 h 170"/>
                <a:gd name="T40" fmla="*/ 100 w 514"/>
                <a:gd name="T41" fmla="*/ 170 h 170"/>
                <a:gd name="T42" fmla="*/ 100 w 514"/>
                <a:gd name="T43" fmla="*/ 170 h 1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4"/>
                <a:gd name="T67" fmla="*/ 0 h 170"/>
                <a:gd name="T68" fmla="*/ 514 w 514"/>
                <a:gd name="T69" fmla="*/ 170 h 1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4" h="170">
                  <a:moveTo>
                    <a:pt x="100" y="170"/>
                  </a:moveTo>
                  <a:lnTo>
                    <a:pt x="414" y="170"/>
                  </a:lnTo>
                  <a:lnTo>
                    <a:pt x="457" y="163"/>
                  </a:lnTo>
                  <a:lnTo>
                    <a:pt x="485" y="145"/>
                  </a:lnTo>
                  <a:lnTo>
                    <a:pt x="506" y="113"/>
                  </a:lnTo>
                  <a:lnTo>
                    <a:pt x="514" y="82"/>
                  </a:lnTo>
                  <a:lnTo>
                    <a:pt x="506" y="50"/>
                  </a:lnTo>
                  <a:lnTo>
                    <a:pt x="485" y="25"/>
                  </a:lnTo>
                  <a:lnTo>
                    <a:pt x="457" y="6"/>
                  </a:lnTo>
                  <a:lnTo>
                    <a:pt x="414" y="0"/>
                  </a:lnTo>
                  <a:lnTo>
                    <a:pt x="100" y="0"/>
                  </a:lnTo>
                  <a:lnTo>
                    <a:pt x="57" y="6"/>
                  </a:lnTo>
                  <a:lnTo>
                    <a:pt x="29" y="25"/>
                  </a:lnTo>
                  <a:lnTo>
                    <a:pt x="7" y="50"/>
                  </a:lnTo>
                  <a:lnTo>
                    <a:pt x="0" y="82"/>
                  </a:lnTo>
                  <a:lnTo>
                    <a:pt x="7" y="113"/>
                  </a:lnTo>
                  <a:lnTo>
                    <a:pt x="29" y="145"/>
                  </a:lnTo>
                  <a:lnTo>
                    <a:pt x="57" y="163"/>
                  </a:lnTo>
                  <a:lnTo>
                    <a:pt x="100" y="170"/>
                  </a:lnTo>
                  <a:close/>
                </a:path>
              </a:pathLst>
            </a:custGeom>
            <a:solidFill>
              <a:srgbClr val="E8EEF7"/>
            </a:solidFill>
            <a:ln w="9525">
              <a:noFill/>
              <a:round/>
              <a:headEnd/>
              <a:tailEnd/>
            </a:ln>
          </p:spPr>
          <p:txBody>
            <a:bodyPr/>
            <a:lstStyle/>
            <a:p>
              <a:endParaRPr lang="en-US"/>
            </a:p>
          </p:txBody>
        </p:sp>
        <p:sp>
          <p:nvSpPr>
            <p:cNvPr id="95300" name="Freeform 267"/>
            <p:cNvSpPr>
              <a:spLocks/>
            </p:cNvSpPr>
            <p:nvPr/>
          </p:nvSpPr>
          <p:spPr bwMode="auto">
            <a:xfrm>
              <a:off x="4976" y="1561"/>
              <a:ext cx="514" cy="170"/>
            </a:xfrm>
            <a:custGeom>
              <a:avLst/>
              <a:gdLst>
                <a:gd name="T0" fmla="*/ 100 w 514"/>
                <a:gd name="T1" fmla="*/ 170 h 170"/>
                <a:gd name="T2" fmla="*/ 414 w 514"/>
                <a:gd name="T3" fmla="*/ 170 h 170"/>
                <a:gd name="T4" fmla="*/ 457 w 514"/>
                <a:gd name="T5" fmla="*/ 163 h 170"/>
                <a:gd name="T6" fmla="*/ 485 w 514"/>
                <a:gd name="T7" fmla="*/ 145 h 170"/>
                <a:gd name="T8" fmla="*/ 506 w 514"/>
                <a:gd name="T9" fmla="*/ 113 h 170"/>
                <a:gd name="T10" fmla="*/ 514 w 514"/>
                <a:gd name="T11" fmla="*/ 82 h 170"/>
                <a:gd name="T12" fmla="*/ 506 w 514"/>
                <a:gd name="T13" fmla="*/ 50 h 170"/>
                <a:gd name="T14" fmla="*/ 485 w 514"/>
                <a:gd name="T15" fmla="*/ 25 h 170"/>
                <a:gd name="T16" fmla="*/ 457 w 514"/>
                <a:gd name="T17" fmla="*/ 6 h 170"/>
                <a:gd name="T18" fmla="*/ 414 w 514"/>
                <a:gd name="T19" fmla="*/ 0 h 170"/>
                <a:gd name="T20" fmla="*/ 414 w 514"/>
                <a:gd name="T21" fmla="*/ 0 h 170"/>
                <a:gd name="T22" fmla="*/ 414 w 514"/>
                <a:gd name="T23" fmla="*/ 0 h 170"/>
                <a:gd name="T24" fmla="*/ 100 w 514"/>
                <a:gd name="T25" fmla="*/ 0 h 170"/>
                <a:gd name="T26" fmla="*/ 57 w 514"/>
                <a:gd name="T27" fmla="*/ 6 h 170"/>
                <a:gd name="T28" fmla="*/ 29 w 514"/>
                <a:gd name="T29" fmla="*/ 25 h 170"/>
                <a:gd name="T30" fmla="*/ 7 w 514"/>
                <a:gd name="T31" fmla="*/ 50 h 170"/>
                <a:gd name="T32" fmla="*/ 0 w 514"/>
                <a:gd name="T33" fmla="*/ 82 h 170"/>
                <a:gd name="T34" fmla="*/ 7 w 514"/>
                <a:gd name="T35" fmla="*/ 113 h 170"/>
                <a:gd name="T36" fmla="*/ 29 w 514"/>
                <a:gd name="T37" fmla="*/ 145 h 170"/>
                <a:gd name="T38" fmla="*/ 57 w 514"/>
                <a:gd name="T39" fmla="*/ 163 h 170"/>
                <a:gd name="T40" fmla="*/ 100 w 514"/>
                <a:gd name="T41" fmla="*/ 170 h 170"/>
                <a:gd name="T42" fmla="*/ 100 w 514"/>
                <a:gd name="T43" fmla="*/ 170 h 17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14"/>
                <a:gd name="T67" fmla="*/ 0 h 170"/>
                <a:gd name="T68" fmla="*/ 514 w 514"/>
                <a:gd name="T69" fmla="*/ 170 h 17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14" h="170">
                  <a:moveTo>
                    <a:pt x="100" y="170"/>
                  </a:moveTo>
                  <a:lnTo>
                    <a:pt x="414" y="170"/>
                  </a:lnTo>
                  <a:lnTo>
                    <a:pt x="457" y="163"/>
                  </a:lnTo>
                  <a:lnTo>
                    <a:pt x="485" y="145"/>
                  </a:lnTo>
                  <a:lnTo>
                    <a:pt x="506" y="113"/>
                  </a:lnTo>
                  <a:lnTo>
                    <a:pt x="514" y="82"/>
                  </a:lnTo>
                  <a:lnTo>
                    <a:pt x="506" y="50"/>
                  </a:lnTo>
                  <a:lnTo>
                    <a:pt x="485" y="25"/>
                  </a:lnTo>
                  <a:lnTo>
                    <a:pt x="457" y="6"/>
                  </a:lnTo>
                  <a:lnTo>
                    <a:pt x="414" y="0"/>
                  </a:lnTo>
                  <a:lnTo>
                    <a:pt x="100" y="0"/>
                  </a:lnTo>
                  <a:lnTo>
                    <a:pt x="57" y="6"/>
                  </a:lnTo>
                  <a:lnTo>
                    <a:pt x="29" y="25"/>
                  </a:lnTo>
                  <a:lnTo>
                    <a:pt x="7" y="50"/>
                  </a:lnTo>
                  <a:lnTo>
                    <a:pt x="0" y="82"/>
                  </a:lnTo>
                  <a:lnTo>
                    <a:pt x="7" y="113"/>
                  </a:lnTo>
                  <a:lnTo>
                    <a:pt x="29" y="145"/>
                  </a:lnTo>
                  <a:lnTo>
                    <a:pt x="57" y="163"/>
                  </a:lnTo>
                  <a:lnTo>
                    <a:pt x="100" y="170"/>
                  </a:lnTo>
                </a:path>
              </a:pathLst>
            </a:custGeom>
            <a:noFill/>
            <a:ln w="0">
              <a:solidFill>
                <a:srgbClr val="000000"/>
              </a:solidFill>
              <a:prstDash val="solid"/>
              <a:round/>
              <a:headEnd/>
              <a:tailEnd/>
            </a:ln>
          </p:spPr>
          <p:txBody>
            <a:bodyPr/>
            <a:lstStyle/>
            <a:p>
              <a:endParaRPr lang="en-US"/>
            </a:p>
          </p:txBody>
        </p:sp>
        <p:sp>
          <p:nvSpPr>
            <p:cNvPr id="95301" name="Rectangle 268"/>
            <p:cNvSpPr>
              <a:spLocks noChangeArrowheads="1"/>
            </p:cNvSpPr>
            <p:nvPr/>
          </p:nvSpPr>
          <p:spPr bwMode="auto">
            <a:xfrm>
              <a:off x="5048" y="1611"/>
              <a:ext cx="128" cy="95"/>
            </a:xfrm>
            <a:prstGeom prst="rect">
              <a:avLst/>
            </a:prstGeom>
            <a:noFill/>
            <a:ln w="9525">
              <a:noFill/>
              <a:miter lim="800000"/>
              <a:headEnd/>
              <a:tailEnd/>
            </a:ln>
          </p:spPr>
          <p:txBody>
            <a:bodyPr wrap="none" lIns="0" tIns="0" rIns="0" bIns="0">
              <a:spAutoFit/>
            </a:bodyPr>
            <a:lstStyle/>
            <a:p>
              <a:r>
                <a:rPr lang="en-US" sz="600">
                  <a:solidFill>
                    <a:srgbClr val="000000"/>
                  </a:solidFill>
                </a:rPr>
                <a:t>CD</a:t>
              </a:r>
              <a:endParaRPr lang="en-US"/>
            </a:p>
          </p:txBody>
        </p:sp>
        <p:sp>
          <p:nvSpPr>
            <p:cNvPr id="95302" name="Rectangle 269"/>
            <p:cNvSpPr>
              <a:spLocks noChangeArrowheads="1"/>
            </p:cNvSpPr>
            <p:nvPr/>
          </p:nvSpPr>
          <p:spPr bwMode="auto">
            <a:xfrm>
              <a:off x="5126" y="1611"/>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303" name="Rectangle 270"/>
            <p:cNvSpPr>
              <a:spLocks noChangeArrowheads="1"/>
            </p:cNvSpPr>
            <p:nvPr/>
          </p:nvSpPr>
          <p:spPr bwMode="auto">
            <a:xfrm>
              <a:off x="5147" y="1611"/>
              <a:ext cx="86" cy="95"/>
            </a:xfrm>
            <a:prstGeom prst="rect">
              <a:avLst/>
            </a:prstGeom>
            <a:noFill/>
            <a:ln w="9525">
              <a:noFill/>
              <a:miter lim="800000"/>
              <a:headEnd/>
              <a:tailEnd/>
            </a:ln>
          </p:spPr>
          <p:txBody>
            <a:bodyPr wrap="none" lIns="0" tIns="0" rIns="0" bIns="0">
              <a:spAutoFit/>
            </a:bodyPr>
            <a:lstStyle/>
            <a:p>
              <a:r>
                <a:rPr lang="en-US" sz="600">
                  <a:solidFill>
                    <a:srgbClr val="000000"/>
                  </a:solidFill>
                </a:rPr>
                <a:t>3 </a:t>
              </a:r>
              <a:endParaRPr lang="en-US"/>
            </a:p>
          </p:txBody>
        </p:sp>
        <p:sp>
          <p:nvSpPr>
            <p:cNvPr id="95304" name="Rectangle 271"/>
            <p:cNvSpPr>
              <a:spLocks noChangeArrowheads="1"/>
            </p:cNvSpPr>
            <p:nvPr/>
          </p:nvSpPr>
          <p:spPr bwMode="auto">
            <a:xfrm>
              <a:off x="5197" y="1611"/>
              <a:ext cx="292" cy="95"/>
            </a:xfrm>
            <a:prstGeom prst="rect">
              <a:avLst/>
            </a:prstGeom>
            <a:noFill/>
            <a:ln w="9525">
              <a:noFill/>
              <a:miter lim="800000"/>
              <a:headEnd/>
              <a:tailEnd/>
            </a:ln>
          </p:spPr>
          <p:txBody>
            <a:bodyPr wrap="none" lIns="0" tIns="0" rIns="0" bIns="0">
              <a:spAutoFit/>
            </a:bodyPr>
            <a:lstStyle/>
            <a:p>
              <a:r>
                <a:rPr lang="en-US" sz="600">
                  <a:solidFill>
                    <a:srgbClr val="000000"/>
                  </a:solidFill>
                </a:rPr>
                <a:t>Approval</a:t>
              </a:r>
              <a:endParaRPr lang="en-US"/>
            </a:p>
          </p:txBody>
        </p:sp>
        <p:sp>
          <p:nvSpPr>
            <p:cNvPr id="95305" name="Line 272"/>
            <p:cNvSpPr>
              <a:spLocks noChangeShapeType="1"/>
            </p:cNvSpPr>
            <p:nvPr/>
          </p:nvSpPr>
          <p:spPr bwMode="auto">
            <a:xfrm>
              <a:off x="4213" y="1220"/>
              <a:ext cx="93" cy="1"/>
            </a:xfrm>
            <a:prstGeom prst="line">
              <a:avLst/>
            </a:prstGeom>
            <a:noFill/>
            <a:ln w="0">
              <a:solidFill>
                <a:srgbClr val="4677BF"/>
              </a:solidFill>
              <a:round/>
              <a:headEnd/>
              <a:tailEnd/>
            </a:ln>
          </p:spPr>
          <p:txBody>
            <a:bodyPr/>
            <a:lstStyle/>
            <a:p>
              <a:endParaRPr lang="en-US"/>
            </a:p>
          </p:txBody>
        </p:sp>
        <p:sp>
          <p:nvSpPr>
            <p:cNvPr id="95306" name="Freeform 273"/>
            <p:cNvSpPr>
              <a:spLocks/>
            </p:cNvSpPr>
            <p:nvPr/>
          </p:nvSpPr>
          <p:spPr bwMode="auto">
            <a:xfrm>
              <a:off x="4299" y="1208"/>
              <a:ext cx="43" cy="31"/>
            </a:xfrm>
            <a:custGeom>
              <a:avLst/>
              <a:gdLst>
                <a:gd name="T0" fmla="*/ 0 w 43"/>
                <a:gd name="T1" fmla="*/ 0 h 31"/>
                <a:gd name="T2" fmla="*/ 43 w 43"/>
                <a:gd name="T3" fmla="*/ 12 h 31"/>
                <a:gd name="T4" fmla="*/ 0 w 43"/>
                <a:gd name="T5" fmla="*/ 31 h 31"/>
                <a:gd name="T6" fmla="*/ 0 w 43"/>
                <a:gd name="T7" fmla="*/ 0 h 31"/>
                <a:gd name="T8" fmla="*/ 0 60000 65536"/>
                <a:gd name="T9" fmla="*/ 0 60000 65536"/>
                <a:gd name="T10" fmla="*/ 0 60000 65536"/>
                <a:gd name="T11" fmla="*/ 0 60000 65536"/>
                <a:gd name="T12" fmla="*/ 0 w 43"/>
                <a:gd name="T13" fmla="*/ 0 h 31"/>
                <a:gd name="T14" fmla="*/ 43 w 43"/>
                <a:gd name="T15" fmla="*/ 31 h 31"/>
              </a:gdLst>
              <a:ahLst/>
              <a:cxnLst>
                <a:cxn ang="T8">
                  <a:pos x="T0" y="T1"/>
                </a:cxn>
                <a:cxn ang="T9">
                  <a:pos x="T2" y="T3"/>
                </a:cxn>
                <a:cxn ang="T10">
                  <a:pos x="T4" y="T5"/>
                </a:cxn>
                <a:cxn ang="T11">
                  <a:pos x="T6" y="T7"/>
                </a:cxn>
              </a:cxnLst>
              <a:rect l="T12" t="T13" r="T14" b="T15"/>
              <a:pathLst>
                <a:path w="43" h="31">
                  <a:moveTo>
                    <a:pt x="0" y="0"/>
                  </a:moveTo>
                  <a:lnTo>
                    <a:pt x="43" y="12"/>
                  </a:lnTo>
                  <a:lnTo>
                    <a:pt x="0" y="31"/>
                  </a:lnTo>
                  <a:lnTo>
                    <a:pt x="0" y="0"/>
                  </a:lnTo>
                  <a:close/>
                </a:path>
              </a:pathLst>
            </a:custGeom>
            <a:solidFill>
              <a:srgbClr val="4677BF"/>
            </a:solidFill>
            <a:ln w="9525">
              <a:noFill/>
              <a:round/>
              <a:headEnd/>
              <a:tailEnd/>
            </a:ln>
          </p:spPr>
          <p:txBody>
            <a:bodyPr/>
            <a:lstStyle/>
            <a:p>
              <a:endParaRPr lang="en-US"/>
            </a:p>
          </p:txBody>
        </p:sp>
        <p:sp>
          <p:nvSpPr>
            <p:cNvPr id="95307" name="Line 274"/>
            <p:cNvSpPr>
              <a:spLocks noChangeShapeType="1"/>
            </p:cNvSpPr>
            <p:nvPr/>
          </p:nvSpPr>
          <p:spPr bwMode="auto">
            <a:xfrm flipH="1" flipV="1">
              <a:off x="4598" y="1422"/>
              <a:ext cx="7" cy="1966"/>
            </a:xfrm>
            <a:prstGeom prst="line">
              <a:avLst/>
            </a:prstGeom>
            <a:noFill/>
            <a:ln w="0">
              <a:solidFill>
                <a:srgbClr val="4677BF"/>
              </a:solidFill>
              <a:round/>
              <a:headEnd/>
              <a:tailEnd/>
            </a:ln>
          </p:spPr>
          <p:txBody>
            <a:bodyPr/>
            <a:lstStyle/>
            <a:p>
              <a:endParaRPr lang="en-US"/>
            </a:p>
          </p:txBody>
        </p:sp>
        <p:sp>
          <p:nvSpPr>
            <p:cNvPr id="95308" name="Freeform 275"/>
            <p:cNvSpPr>
              <a:spLocks/>
            </p:cNvSpPr>
            <p:nvPr/>
          </p:nvSpPr>
          <p:spPr bwMode="auto">
            <a:xfrm>
              <a:off x="4577" y="1390"/>
              <a:ext cx="36" cy="38"/>
            </a:xfrm>
            <a:custGeom>
              <a:avLst/>
              <a:gdLst>
                <a:gd name="T0" fmla="*/ 0 w 36"/>
                <a:gd name="T1" fmla="*/ 38 h 38"/>
                <a:gd name="T2" fmla="*/ 21 w 36"/>
                <a:gd name="T3" fmla="*/ 0 h 38"/>
                <a:gd name="T4" fmla="*/ 36 w 36"/>
                <a:gd name="T5" fmla="*/ 32 h 38"/>
                <a:gd name="T6" fmla="*/ 0 w 36"/>
                <a:gd name="T7" fmla="*/ 38 h 38"/>
                <a:gd name="T8" fmla="*/ 0 60000 65536"/>
                <a:gd name="T9" fmla="*/ 0 60000 65536"/>
                <a:gd name="T10" fmla="*/ 0 60000 65536"/>
                <a:gd name="T11" fmla="*/ 0 60000 65536"/>
                <a:gd name="T12" fmla="*/ 0 w 36"/>
                <a:gd name="T13" fmla="*/ 0 h 38"/>
                <a:gd name="T14" fmla="*/ 36 w 36"/>
                <a:gd name="T15" fmla="*/ 38 h 38"/>
              </a:gdLst>
              <a:ahLst/>
              <a:cxnLst>
                <a:cxn ang="T8">
                  <a:pos x="T0" y="T1"/>
                </a:cxn>
                <a:cxn ang="T9">
                  <a:pos x="T2" y="T3"/>
                </a:cxn>
                <a:cxn ang="T10">
                  <a:pos x="T4" y="T5"/>
                </a:cxn>
                <a:cxn ang="T11">
                  <a:pos x="T6" y="T7"/>
                </a:cxn>
              </a:cxnLst>
              <a:rect l="T12" t="T13" r="T14" b="T15"/>
              <a:pathLst>
                <a:path w="36" h="38">
                  <a:moveTo>
                    <a:pt x="0" y="38"/>
                  </a:moveTo>
                  <a:lnTo>
                    <a:pt x="21" y="0"/>
                  </a:lnTo>
                  <a:lnTo>
                    <a:pt x="36" y="32"/>
                  </a:lnTo>
                  <a:lnTo>
                    <a:pt x="0" y="38"/>
                  </a:lnTo>
                  <a:close/>
                </a:path>
              </a:pathLst>
            </a:custGeom>
            <a:solidFill>
              <a:srgbClr val="4677BF"/>
            </a:solidFill>
            <a:ln w="9525">
              <a:noFill/>
              <a:round/>
              <a:headEnd/>
              <a:tailEnd/>
            </a:ln>
          </p:spPr>
          <p:txBody>
            <a:bodyPr/>
            <a:lstStyle/>
            <a:p>
              <a:endParaRPr lang="en-US"/>
            </a:p>
          </p:txBody>
        </p:sp>
        <p:sp>
          <p:nvSpPr>
            <p:cNvPr id="95309" name="Freeform 276"/>
            <p:cNvSpPr>
              <a:spLocks/>
            </p:cNvSpPr>
            <p:nvPr/>
          </p:nvSpPr>
          <p:spPr bwMode="auto">
            <a:xfrm>
              <a:off x="3593" y="1252"/>
              <a:ext cx="670" cy="617"/>
            </a:xfrm>
            <a:custGeom>
              <a:avLst/>
              <a:gdLst>
                <a:gd name="T0" fmla="*/ 670 w 670"/>
                <a:gd name="T1" fmla="*/ 617 h 617"/>
                <a:gd name="T2" fmla="*/ 670 w 670"/>
                <a:gd name="T3" fmla="*/ 504 h 617"/>
                <a:gd name="T4" fmla="*/ 0 w 670"/>
                <a:gd name="T5" fmla="*/ 504 h 617"/>
                <a:gd name="T6" fmla="*/ 0 w 670"/>
                <a:gd name="T7" fmla="*/ 0 h 617"/>
                <a:gd name="T8" fmla="*/ 0 60000 65536"/>
                <a:gd name="T9" fmla="*/ 0 60000 65536"/>
                <a:gd name="T10" fmla="*/ 0 60000 65536"/>
                <a:gd name="T11" fmla="*/ 0 60000 65536"/>
                <a:gd name="T12" fmla="*/ 0 w 670"/>
                <a:gd name="T13" fmla="*/ 0 h 617"/>
                <a:gd name="T14" fmla="*/ 670 w 670"/>
                <a:gd name="T15" fmla="*/ 617 h 617"/>
              </a:gdLst>
              <a:ahLst/>
              <a:cxnLst>
                <a:cxn ang="T8">
                  <a:pos x="T0" y="T1"/>
                </a:cxn>
                <a:cxn ang="T9">
                  <a:pos x="T2" y="T3"/>
                </a:cxn>
                <a:cxn ang="T10">
                  <a:pos x="T4" y="T5"/>
                </a:cxn>
                <a:cxn ang="T11">
                  <a:pos x="T6" y="T7"/>
                </a:cxn>
              </a:cxnLst>
              <a:rect l="T12" t="T13" r="T14" b="T15"/>
              <a:pathLst>
                <a:path w="670" h="617">
                  <a:moveTo>
                    <a:pt x="670" y="617"/>
                  </a:moveTo>
                  <a:lnTo>
                    <a:pt x="670" y="504"/>
                  </a:lnTo>
                  <a:lnTo>
                    <a:pt x="0" y="504"/>
                  </a:lnTo>
                  <a:lnTo>
                    <a:pt x="0" y="0"/>
                  </a:lnTo>
                </a:path>
              </a:pathLst>
            </a:custGeom>
            <a:noFill/>
            <a:ln w="0">
              <a:solidFill>
                <a:srgbClr val="4677BF"/>
              </a:solidFill>
              <a:prstDash val="solid"/>
              <a:round/>
              <a:headEnd/>
              <a:tailEnd/>
            </a:ln>
          </p:spPr>
          <p:txBody>
            <a:bodyPr/>
            <a:lstStyle/>
            <a:p>
              <a:endParaRPr lang="en-US"/>
            </a:p>
          </p:txBody>
        </p:sp>
        <p:sp>
          <p:nvSpPr>
            <p:cNvPr id="95310" name="Freeform 277"/>
            <p:cNvSpPr>
              <a:spLocks/>
            </p:cNvSpPr>
            <p:nvPr/>
          </p:nvSpPr>
          <p:spPr bwMode="auto">
            <a:xfrm>
              <a:off x="3572" y="1220"/>
              <a:ext cx="35" cy="38"/>
            </a:xfrm>
            <a:custGeom>
              <a:avLst/>
              <a:gdLst>
                <a:gd name="T0" fmla="*/ 0 w 35"/>
                <a:gd name="T1" fmla="*/ 38 h 38"/>
                <a:gd name="T2" fmla="*/ 21 w 35"/>
                <a:gd name="T3" fmla="*/ 0 h 38"/>
                <a:gd name="T4" fmla="*/ 35 w 35"/>
                <a:gd name="T5" fmla="*/ 38 h 38"/>
                <a:gd name="T6" fmla="*/ 0 w 35"/>
                <a:gd name="T7" fmla="*/ 38 h 38"/>
                <a:gd name="T8" fmla="*/ 0 60000 65536"/>
                <a:gd name="T9" fmla="*/ 0 60000 65536"/>
                <a:gd name="T10" fmla="*/ 0 60000 65536"/>
                <a:gd name="T11" fmla="*/ 0 60000 65536"/>
                <a:gd name="T12" fmla="*/ 0 w 35"/>
                <a:gd name="T13" fmla="*/ 0 h 38"/>
                <a:gd name="T14" fmla="*/ 35 w 35"/>
                <a:gd name="T15" fmla="*/ 38 h 38"/>
              </a:gdLst>
              <a:ahLst/>
              <a:cxnLst>
                <a:cxn ang="T8">
                  <a:pos x="T0" y="T1"/>
                </a:cxn>
                <a:cxn ang="T9">
                  <a:pos x="T2" y="T3"/>
                </a:cxn>
                <a:cxn ang="T10">
                  <a:pos x="T4" y="T5"/>
                </a:cxn>
                <a:cxn ang="T11">
                  <a:pos x="T6" y="T7"/>
                </a:cxn>
              </a:cxnLst>
              <a:rect l="T12" t="T13" r="T14" b="T15"/>
              <a:pathLst>
                <a:path w="35" h="38">
                  <a:moveTo>
                    <a:pt x="0" y="38"/>
                  </a:moveTo>
                  <a:lnTo>
                    <a:pt x="21" y="0"/>
                  </a:lnTo>
                  <a:lnTo>
                    <a:pt x="35" y="38"/>
                  </a:lnTo>
                  <a:lnTo>
                    <a:pt x="0" y="38"/>
                  </a:lnTo>
                  <a:close/>
                </a:path>
              </a:pathLst>
            </a:custGeom>
            <a:solidFill>
              <a:srgbClr val="4677BF"/>
            </a:solidFill>
            <a:ln w="9525">
              <a:noFill/>
              <a:round/>
              <a:headEnd/>
              <a:tailEnd/>
            </a:ln>
          </p:spPr>
          <p:txBody>
            <a:bodyPr/>
            <a:lstStyle/>
            <a:p>
              <a:endParaRPr lang="en-US"/>
            </a:p>
          </p:txBody>
        </p:sp>
        <p:sp>
          <p:nvSpPr>
            <p:cNvPr id="95311" name="Freeform 278"/>
            <p:cNvSpPr>
              <a:spLocks/>
            </p:cNvSpPr>
            <p:nvPr/>
          </p:nvSpPr>
          <p:spPr bwMode="auto">
            <a:xfrm>
              <a:off x="969" y="1309"/>
              <a:ext cx="1" cy="756"/>
            </a:xfrm>
            <a:custGeom>
              <a:avLst/>
              <a:gdLst>
                <a:gd name="T0" fmla="*/ 0 w 1"/>
                <a:gd name="T1" fmla="*/ 0 h 756"/>
                <a:gd name="T2" fmla="*/ 0 w 1"/>
                <a:gd name="T3" fmla="*/ 12 h 756"/>
                <a:gd name="T4" fmla="*/ 0 w 1"/>
                <a:gd name="T5" fmla="*/ 12 h 756"/>
                <a:gd name="T6" fmla="*/ 0 w 1"/>
                <a:gd name="T7" fmla="*/ 756 h 756"/>
                <a:gd name="T8" fmla="*/ 0 60000 65536"/>
                <a:gd name="T9" fmla="*/ 0 60000 65536"/>
                <a:gd name="T10" fmla="*/ 0 60000 65536"/>
                <a:gd name="T11" fmla="*/ 0 60000 65536"/>
                <a:gd name="T12" fmla="*/ 0 w 1"/>
                <a:gd name="T13" fmla="*/ 0 h 756"/>
                <a:gd name="T14" fmla="*/ 1 w 1"/>
                <a:gd name="T15" fmla="*/ 756 h 756"/>
              </a:gdLst>
              <a:ahLst/>
              <a:cxnLst>
                <a:cxn ang="T8">
                  <a:pos x="T0" y="T1"/>
                </a:cxn>
                <a:cxn ang="T9">
                  <a:pos x="T2" y="T3"/>
                </a:cxn>
                <a:cxn ang="T10">
                  <a:pos x="T4" y="T5"/>
                </a:cxn>
                <a:cxn ang="T11">
                  <a:pos x="T6" y="T7"/>
                </a:cxn>
              </a:cxnLst>
              <a:rect l="T12" t="T13" r="T14" b="T15"/>
              <a:pathLst>
                <a:path w="1" h="756">
                  <a:moveTo>
                    <a:pt x="0" y="0"/>
                  </a:moveTo>
                  <a:lnTo>
                    <a:pt x="0" y="12"/>
                  </a:lnTo>
                  <a:lnTo>
                    <a:pt x="0" y="756"/>
                  </a:lnTo>
                </a:path>
              </a:pathLst>
            </a:custGeom>
            <a:noFill/>
            <a:ln w="0">
              <a:solidFill>
                <a:srgbClr val="4677BF"/>
              </a:solidFill>
              <a:prstDash val="solid"/>
              <a:round/>
              <a:headEnd/>
              <a:tailEnd/>
            </a:ln>
          </p:spPr>
          <p:txBody>
            <a:bodyPr/>
            <a:lstStyle/>
            <a:p>
              <a:endParaRPr lang="en-US"/>
            </a:p>
          </p:txBody>
        </p:sp>
        <p:sp>
          <p:nvSpPr>
            <p:cNvPr id="95312" name="Freeform 279"/>
            <p:cNvSpPr>
              <a:spLocks/>
            </p:cNvSpPr>
            <p:nvPr/>
          </p:nvSpPr>
          <p:spPr bwMode="auto">
            <a:xfrm>
              <a:off x="948" y="2058"/>
              <a:ext cx="35" cy="38"/>
            </a:xfrm>
            <a:custGeom>
              <a:avLst/>
              <a:gdLst>
                <a:gd name="T0" fmla="*/ 35 w 35"/>
                <a:gd name="T1" fmla="*/ 0 h 38"/>
                <a:gd name="T2" fmla="*/ 21 w 35"/>
                <a:gd name="T3" fmla="*/ 38 h 38"/>
                <a:gd name="T4" fmla="*/ 0 w 35"/>
                <a:gd name="T5" fmla="*/ 0 h 38"/>
                <a:gd name="T6" fmla="*/ 35 w 35"/>
                <a:gd name="T7" fmla="*/ 0 h 38"/>
                <a:gd name="T8" fmla="*/ 0 60000 65536"/>
                <a:gd name="T9" fmla="*/ 0 60000 65536"/>
                <a:gd name="T10" fmla="*/ 0 60000 65536"/>
                <a:gd name="T11" fmla="*/ 0 60000 65536"/>
                <a:gd name="T12" fmla="*/ 0 w 35"/>
                <a:gd name="T13" fmla="*/ 0 h 38"/>
                <a:gd name="T14" fmla="*/ 35 w 35"/>
                <a:gd name="T15" fmla="*/ 38 h 38"/>
              </a:gdLst>
              <a:ahLst/>
              <a:cxnLst>
                <a:cxn ang="T8">
                  <a:pos x="T0" y="T1"/>
                </a:cxn>
                <a:cxn ang="T9">
                  <a:pos x="T2" y="T3"/>
                </a:cxn>
                <a:cxn ang="T10">
                  <a:pos x="T4" y="T5"/>
                </a:cxn>
                <a:cxn ang="T11">
                  <a:pos x="T6" y="T7"/>
                </a:cxn>
              </a:cxnLst>
              <a:rect l="T12" t="T13" r="T14" b="T15"/>
              <a:pathLst>
                <a:path w="35" h="38">
                  <a:moveTo>
                    <a:pt x="35" y="0"/>
                  </a:moveTo>
                  <a:lnTo>
                    <a:pt x="21" y="38"/>
                  </a:lnTo>
                  <a:lnTo>
                    <a:pt x="0" y="0"/>
                  </a:lnTo>
                  <a:lnTo>
                    <a:pt x="35" y="0"/>
                  </a:lnTo>
                  <a:close/>
                </a:path>
              </a:pathLst>
            </a:custGeom>
            <a:solidFill>
              <a:srgbClr val="4677BF"/>
            </a:solidFill>
            <a:ln w="9525">
              <a:noFill/>
              <a:round/>
              <a:headEnd/>
              <a:tailEnd/>
            </a:ln>
          </p:spPr>
          <p:txBody>
            <a:bodyPr/>
            <a:lstStyle/>
            <a:p>
              <a:endParaRPr lang="en-US"/>
            </a:p>
          </p:txBody>
        </p:sp>
        <p:sp>
          <p:nvSpPr>
            <p:cNvPr id="95313" name="Rectangle 280"/>
            <p:cNvSpPr>
              <a:spLocks noChangeArrowheads="1"/>
            </p:cNvSpPr>
            <p:nvPr/>
          </p:nvSpPr>
          <p:spPr bwMode="auto">
            <a:xfrm>
              <a:off x="4976" y="1869"/>
              <a:ext cx="514" cy="341"/>
            </a:xfrm>
            <a:prstGeom prst="rect">
              <a:avLst/>
            </a:prstGeom>
            <a:solidFill>
              <a:srgbClr val="E8EEF7"/>
            </a:solidFill>
            <a:ln w="9525">
              <a:noFill/>
              <a:miter lim="800000"/>
              <a:headEnd/>
              <a:tailEnd/>
            </a:ln>
          </p:spPr>
          <p:txBody>
            <a:bodyPr/>
            <a:lstStyle/>
            <a:p>
              <a:endParaRPr lang="en-US"/>
            </a:p>
          </p:txBody>
        </p:sp>
        <p:sp>
          <p:nvSpPr>
            <p:cNvPr id="95314" name="Rectangle 281"/>
            <p:cNvSpPr>
              <a:spLocks noChangeArrowheads="1"/>
            </p:cNvSpPr>
            <p:nvPr/>
          </p:nvSpPr>
          <p:spPr bwMode="auto">
            <a:xfrm>
              <a:off x="4976" y="1869"/>
              <a:ext cx="514" cy="341"/>
            </a:xfrm>
            <a:prstGeom prst="rect">
              <a:avLst/>
            </a:prstGeom>
            <a:noFill/>
            <a:ln w="0">
              <a:solidFill>
                <a:srgbClr val="000000"/>
              </a:solidFill>
              <a:miter lim="800000"/>
              <a:headEnd/>
              <a:tailEnd/>
            </a:ln>
          </p:spPr>
          <p:txBody>
            <a:bodyPr/>
            <a:lstStyle/>
            <a:p>
              <a:endParaRPr lang="en-US"/>
            </a:p>
          </p:txBody>
        </p:sp>
        <p:sp>
          <p:nvSpPr>
            <p:cNvPr id="95315" name="Rectangle 282"/>
            <p:cNvSpPr>
              <a:spLocks noChangeArrowheads="1"/>
            </p:cNvSpPr>
            <p:nvPr/>
          </p:nvSpPr>
          <p:spPr bwMode="auto">
            <a:xfrm>
              <a:off x="5062" y="1914"/>
              <a:ext cx="406" cy="95"/>
            </a:xfrm>
            <a:prstGeom prst="rect">
              <a:avLst/>
            </a:prstGeom>
            <a:noFill/>
            <a:ln w="9525">
              <a:noFill/>
              <a:miter lim="800000"/>
              <a:headEnd/>
              <a:tailEnd/>
            </a:ln>
          </p:spPr>
          <p:txBody>
            <a:bodyPr wrap="none" lIns="0" tIns="0" rIns="0" bIns="0">
              <a:spAutoFit/>
            </a:bodyPr>
            <a:lstStyle/>
            <a:p>
              <a:r>
                <a:rPr lang="en-US" sz="600">
                  <a:solidFill>
                    <a:srgbClr val="000000"/>
                  </a:solidFill>
                </a:rPr>
                <a:t>Construction</a:t>
              </a:r>
              <a:endParaRPr lang="en-US"/>
            </a:p>
          </p:txBody>
        </p:sp>
        <p:sp>
          <p:nvSpPr>
            <p:cNvPr id="95316" name="Rectangle 283"/>
            <p:cNvSpPr>
              <a:spLocks noChangeArrowheads="1"/>
            </p:cNvSpPr>
            <p:nvPr/>
          </p:nvSpPr>
          <p:spPr bwMode="auto">
            <a:xfrm>
              <a:off x="5383" y="1914"/>
              <a:ext cx="71" cy="95"/>
            </a:xfrm>
            <a:prstGeom prst="rect">
              <a:avLst/>
            </a:prstGeom>
            <a:noFill/>
            <a:ln w="9525">
              <a:noFill/>
              <a:miter lim="800000"/>
              <a:headEnd/>
              <a:tailEnd/>
            </a:ln>
          </p:spPr>
          <p:txBody>
            <a:bodyPr wrap="none" lIns="0" tIns="0" rIns="0" bIns="0">
              <a:spAutoFit/>
            </a:bodyPr>
            <a:lstStyle/>
            <a:p>
              <a:r>
                <a:rPr lang="en-US" sz="600">
                  <a:solidFill>
                    <a:srgbClr val="000000"/>
                  </a:solidFill>
                </a:rPr>
                <a:t>, </a:t>
              </a:r>
              <a:endParaRPr lang="en-US"/>
            </a:p>
          </p:txBody>
        </p:sp>
        <p:sp>
          <p:nvSpPr>
            <p:cNvPr id="95317" name="Rectangle 284"/>
            <p:cNvSpPr>
              <a:spLocks noChangeArrowheads="1"/>
            </p:cNvSpPr>
            <p:nvPr/>
          </p:nvSpPr>
          <p:spPr bwMode="auto">
            <a:xfrm>
              <a:off x="5076" y="1977"/>
              <a:ext cx="314" cy="95"/>
            </a:xfrm>
            <a:prstGeom prst="rect">
              <a:avLst/>
            </a:prstGeom>
            <a:noFill/>
            <a:ln w="9525">
              <a:noFill/>
              <a:miter lim="800000"/>
              <a:headEnd/>
              <a:tailEnd/>
            </a:ln>
          </p:spPr>
          <p:txBody>
            <a:bodyPr wrap="none" lIns="0" tIns="0" rIns="0" bIns="0">
              <a:spAutoFit/>
            </a:bodyPr>
            <a:lstStyle/>
            <a:p>
              <a:r>
                <a:rPr lang="en-US" sz="600">
                  <a:solidFill>
                    <a:srgbClr val="000000"/>
                  </a:solidFill>
                </a:rPr>
                <a:t>Transition</a:t>
              </a:r>
              <a:endParaRPr lang="en-US"/>
            </a:p>
          </p:txBody>
        </p:sp>
        <p:sp>
          <p:nvSpPr>
            <p:cNvPr id="95318" name="Rectangle 285"/>
            <p:cNvSpPr>
              <a:spLocks noChangeArrowheads="1"/>
            </p:cNvSpPr>
            <p:nvPr/>
          </p:nvSpPr>
          <p:spPr bwMode="auto">
            <a:xfrm>
              <a:off x="5326" y="1977"/>
              <a:ext cx="135" cy="95"/>
            </a:xfrm>
            <a:prstGeom prst="rect">
              <a:avLst/>
            </a:prstGeom>
            <a:noFill/>
            <a:ln w="9525">
              <a:noFill/>
              <a:miter lim="800000"/>
              <a:headEnd/>
              <a:tailEnd/>
            </a:ln>
          </p:spPr>
          <p:txBody>
            <a:bodyPr wrap="none" lIns="0" tIns="0" rIns="0" bIns="0">
              <a:spAutoFit/>
            </a:bodyPr>
            <a:lstStyle/>
            <a:p>
              <a:r>
                <a:rPr lang="en-US" sz="600">
                  <a:solidFill>
                    <a:srgbClr val="000000"/>
                  </a:solidFill>
                </a:rPr>
                <a:t>, &amp; </a:t>
              </a:r>
              <a:endParaRPr lang="en-US"/>
            </a:p>
          </p:txBody>
        </p:sp>
        <p:sp>
          <p:nvSpPr>
            <p:cNvPr id="95319" name="Rectangle 286"/>
            <p:cNvSpPr>
              <a:spLocks noChangeArrowheads="1"/>
            </p:cNvSpPr>
            <p:nvPr/>
          </p:nvSpPr>
          <p:spPr bwMode="auto">
            <a:xfrm>
              <a:off x="5119" y="2034"/>
              <a:ext cx="292" cy="95"/>
            </a:xfrm>
            <a:prstGeom prst="rect">
              <a:avLst/>
            </a:prstGeom>
            <a:noFill/>
            <a:ln w="9525">
              <a:noFill/>
              <a:miter lim="800000"/>
              <a:headEnd/>
              <a:tailEnd/>
            </a:ln>
          </p:spPr>
          <p:txBody>
            <a:bodyPr wrap="none" lIns="0" tIns="0" rIns="0" bIns="0">
              <a:spAutoFit/>
            </a:bodyPr>
            <a:lstStyle/>
            <a:p>
              <a:r>
                <a:rPr lang="en-US" sz="600">
                  <a:solidFill>
                    <a:srgbClr val="000000"/>
                  </a:solidFill>
                </a:rPr>
                <a:t>Closeout</a:t>
              </a:r>
              <a:endParaRPr lang="en-US"/>
            </a:p>
          </p:txBody>
        </p:sp>
        <p:sp>
          <p:nvSpPr>
            <p:cNvPr id="95320" name="Rectangle 287"/>
            <p:cNvSpPr>
              <a:spLocks noChangeArrowheads="1"/>
            </p:cNvSpPr>
            <p:nvPr/>
          </p:nvSpPr>
          <p:spPr bwMode="auto">
            <a:xfrm>
              <a:off x="5190" y="2090"/>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7</a:t>
              </a:r>
              <a:endParaRPr lang="en-US"/>
            </a:p>
          </p:txBody>
        </p:sp>
        <p:sp>
          <p:nvSpPr>
            <p:cNvPr id="95321" name="Rectangle 288"/>
            <p:cNvSpPr>
              <a:spLocks noChangeArrowheads="1"/>
            </p:cNvSpPr>
            <p:nvPr/>
          </p:nvSpPr>
          <p:spPr bwMode="auto">
            <a:xfrm>
              <a:off x="5226" y="2090"/>
              <a:ext cx="50" cy="95"/>
            </a:xfrm>
            <a:prstGeom prst="rect">
              <a:avLst/>
            </a:prstGeom>
            <a:noFill/>
            <a:ln w="9525">
              <a:noFill/>
              <a:miter lim="800000"/>
              <a:headEnd/>
              <a:tailEnd/>
            </a:ln>
          </p:spPr>
          <p:txBody>
            <a:bodyPr wrap="none" lIns="0" tIns="0" rIns="0" bIns="0">
              <a:spAutoFit/>
            </a:bodyPr>
            <a:lstStyle/>
            <a:p>
              <a:r>
                <a:rPr lang="en-US" sz="600">
                  <a:solidFill>
                    <a:srgbClr val="000000"/>
                  </a:solidFill>
                </a:rPr>
                <a:t>.</a:t>
              </a:r>
              <a:endParaRPr lang="en-US"/>
            </a:p>
          </p:txBody>
        </p:sp>
        <p:sp>
          <p:nvSpPr>
            <p:cNvPr id="95322" name="Rectangle 289"/>
            <p:cNvSpPr>
              <a:spLocks noChangeArrowheads="1"/>
            </p:cNvSpPr>
            <p:nvPr/>
          </p:nvSpPr>
          <p:spPr bwMode="auto">
            <a:xfrm>
              <a:off x="5240" y="2090"/>
              <a:ext cx="64" cy="95"/>
            </a:xfrm>
            <a:prstGeom prst="rect">
              <a:avLst/>
            </a:prstGeom>
            <a:noFill/>
            <a:ln w="9525">
              <a:noFill/>
              <a:miter lim="800000"/>
              <a:headEnd/>
              <a:tailEnd/>
            </a:ln>
          </p:spPr>
          <p:txBody>
            <a:bodyPr wrap="none" lIns="0" tIns="0" rIns="0" bIns="0">
              <a:spAutoFit/>
            </a:bodyPr>
            <a:lstStyle/>
            <a:p>
              <a:r>
                <a:rPr lang="en-US" sz="600">
                  <a:solidFill>
                    <a:srgbClr val="000000"/>
                  </a:solidFill>
                </a:rPr>
                <a:t>0</a:t>
              </a:r>
              <a:endParaRPr lang="en-US"/>
            </a:p>
          </p:txBody>
        </p:sp>
        <p:sp>
          <p:nvSpPr>
            <p:cNvPr id="95323" name="Line 290"/>
            <p:cNvSpPr>
              <a:spLocks noChangeShapeType="1"/>
            </p:cNvSpPr>
            <p:nvPr/>
          </p:nvSpPr>
          <p:spPr bwMode="auto">
            <a:xfrm>
              <a:off x="5233" y="1731"/>
              <a:ext cx="1" cy="107"/>
            </a:xfrm>
            <a:prstGeom prst="line">
              <a:avLst/>
            </a:prstGeom>
            <a:noFill/>
            <a:ln w="0">
              <a:solidFill>
                <a:srgbClr val="4677BF"/>
              </a:solidFill>
              <a:round/>
              <a:headEnd/>
              <a:tailEnd/>
            </a:ln>
          </p:spPr>
          <p:txBody>
            <a:bodyPr/>
            <a:lstStyle/>
            <a:p>
              <a:endParaRPr lang="en-US"/>
            </a:p>
          </p:txBody>
        </p:sp>
        <p:sp>
          <p:nvSpPr>
            <p:cNvPr id="95324" name="Freeform 291"/>
            <p:cNvSpPr>
              <a:spLocks/>
            </p:cNvSpPr>
            <p:nvPr/>
          </p:nvSpPr>
          <p:spPr bwMode="auto">
            <a:xfrm>
              <a:off x="5212" y="1832"/>
              <a:ext cx="42" cy="37"/>
            </a:xfrm>
            <a:custGeom>
              <a:avLst/>
              <a:gdLst>
                <a:gd name="T0" fmla="*/ 42 w 42"/>
                <a:gd name="T1" fmla="*/ 0 h 37"/>
                <a:gd name="T2" fmla="*/ 21 w 42"/>
                <a:gd name="T3" fmla="*/ 37 h 37"/>
                <a:gd name="T4" fmla="*/ 0 w 42"/>
                <a:gd name="T5" fmla="*/ 0 h 37"/>
                <a:gd name="T6" fmla="*/ 42 w 42"/>
                <a:gd name="T7" fmla="*/ 0 h 37"/>
                <a:gd name="T8" fmla="*/ 0 60000 65536"/>
                <a:gd name="T9" fmla="*/ 0 60000 65536"/>
                <a:gd name="T10" fmla="*/ 0 60000 65536"/>
                <a:gd name="T11" fmla="*/ 0 60000 65536"/>
                <a:gd name="T12" fmla="*/ 0 w 42"/>
                <a:gd name="T13" fmla="*/ 0 h 37"/>
                <a:gd name="T14" fmla="*/ 42 w 42"/>
                <a:gd name="T15" fmla="*/ 37 h 37"/>
              </a:gdLst>
              <a:ahLst/>
              <a:cxnLst>
                <a:cxn ang="T8">
                  <a:pos x="T0" y="T1"/>
                </a:cxn>
                <a:cxn ang="T9">
                  <a:pos x="T2" y="T3"/>
                </a:cxn>
                <a:cxn ang="T10">
                  <a:pos x="T4" y="T5"/>
                </a:cxn>
                <a:cxn ang="T11">
                  <a:pos x="T6" y="T7"/>
                </a:cxn>
              </a:cxnLst>
              <a:rect l="T12" t="T13" r="T14" b="T15"/>
              <a:pathLst>
                <a:path w="42" h="37">
                  <a:moveTo>
                    <a:pt x="42" y="0"/>
                  </a:moveTo>
                  <a:lnTo>
                    <a:pt x="21" y="37"/>
                  </a:lnTo>
                  <a:lnTo>
                    <a:pt x="0" y="0"/>
                  </a:lnTo>
                  <a:lnTo>
                    <a:pt x="42" y="0"/>
                  </a:lnTo>
                  <a:close/>
                </a:path>
              </a:pathLst>
            </a:custGeom>
            <a:solidFill>
              <a:srgbClr val="4677BF"/>
            </a:solidFill>
            <a:ln w="9525">
              <a:noFill/>
              <a:round/>
              <a:headEnd/>
              <a:tailEnd/>
            </a:ln>
          </p:spPr>
          <p:txBody>
            <a:bodyPr/>
            <a:lstStyle/>
            <a:p>
              <a:endParaRPr lang="en-US"/>
            </a:p>
          </p:txBody>
        </p:sp>
        <p:sp>
          <p:nvSpPr>
            <p:cNvPr id="95325" name="Line 292"/>
            <p:cNvSpPr>
              <a:spLocks noChangeShapeType="1"/>
            </p:cNvSpPr>
            <p:nvPr/>
          </p:nvSpPr>
          <p:spPr bwMode="auto">
            <a:xfrm>
              <a:off x="4848" y="1220"/>
              <a:ext cx="93" cy="1"/>
            </a:xfrm>
            <a:prstGeom prst="line">
              <a:avLst/>
            </a:prstGeom>
            <a:noFill/>
            <a:ln w="0">
              <a:solidFill>
                <a:srgbClr val="4677BF"/>
              </a:solidFill>
              <a:round/>
              <a:headEnd/>
              <a:tailEnd/>
            </a:ln>
          </p:spPr>
          <p:txBody>
            <a:bodyPr/>
            <a:lstStyle/>
            <a:p>
              <a:endParaRPr lang="en-US"/>
            </a:p>
          </p:txBody>
        </p:sp>
        <p:sp>
          <p:nvSpPr>
            <p:cNvPr id="95326" name="Freeform 293"/>
            <p:cNvSpPr>
              <a:spLocks/>
            </p:cNvSpPr>
            <p:nvPr/>
          </p:nvSpPr>
          <p:spPr bwMode="auto">
            <a:xfrm>
              <a:off x="4941" y="1208"/>
              <a:ext cx="35" cy="31"/>
            </a:xfrm>
            <a:custGeom>
              <a:avLst/>
              <a:gdLst>
                <a:gd name="T0" fmla="*/ 0 w 35"/>
                <a:gd name="T1" fmla="*/ 0 h 31"/>
                <a:gd name="T2" fmla="*/ 35 w 35"/>
                <a:gd name="T3" fmla="*/ 12 h 31"/>
                <a:gd name="T4" fmla="*/ 0 w 35"/>
                <a:gd name="T5" fmla="*/ 31 h 31"/>
                <a:gd name="T6" fmla="*/ 0 w 35"/>
                <a:gd name="T7" fmla="*/ 0 h 31"/>
                <a:gd name="T8" fmla="*/ 0 60000 65536"/>
                <a:gd name="T9" fmla="*/ 0 60000 65536"/>
                <a:gd name="T10" fmla="*/ 0 60000 65536"/>
                <a:gd name="T11" fmla="*/ 0 60000 65536"/>
                <a:gd name="T12" fmla="*/ 0 w 35"/>
                <a:gd name="T13" fmla="*/ 0 h 31"/>
                <a:gd name="T14" fmla="*/ 35 w 35"/>
                <a:gd name="T15" fmla="*/ 31 h 31"/>
              </a:gdLst>
              <a:ahLst/>
              <a:cxnLst>
                <a:cxn ang="T8">
                  <a:pos x="T0" y="T1"/>
                </a:cxn>
                <a:cxn ang="T9">
                  <a:pos x="T2" y="T3"/>
                </a:cxn>
                <a:cxn ang="T10">
                  <a:pos x="T4" y="T5"/>
                </a:cxn>
                <a:cxn ang="T11">
                  <a:pos x="T6" y="T7"/>
                </a:cxn>
              </a:cxnLst>
              <a:rect l="T12" t="T13" r="T14" b="T15"/>
              <a:pathLst>
                <a:path w="35" h="31">
                  <a:moveTo>
                    <a:pt x="0" y="0"/>
                  </a:moveTo>
                  <a:lnTo>
                    <a:pt x="35" y="12"/>
                  </a:lnTo>
                  <a:lnTo>
                    <a:pt x="0" y="31"/>
                  </a:lnTo>
                  <a:lnTo>
                    <a:pt x="0" y="0"/>
                  </a:lnTo>
                  <a:close/>
                </a:path>
              </a:pathLst>
            </a:custGeom>
            <a:solidFill>
              <a:srgbClr val="4677BF"/>
            </a:solidFill>
            <a:ln w="9525">
              <a:noFill/>
              <a:round/>
              <a:headEnd/>
              <a:tailEnd/>
            </a:ln>
          </p:spPr>
          <p:txBody>
            <a:bodyPr/>
            <a:lstStyle/>
            <a:p>
              <a:endParaRPr lang="en-US"/>
            </a:p>
          </p:txBody>
        </p:sp>
        <p:sp>
          <p:nvSpPr>
            <p:cNvPr id="95327" name="Line 294"/>
            <p:cNvSpPr>
              <a:spLocks noChangeShapeType="1"/>
            </p:cNvSpPr>
            <p:nvPr/>
          </p:nvSpPr>
          <p:spPr bwMode="auto">
            <a:xfrm>
              <a:off x="5233" y="1390"/>
              <a:ext cx="1" cy="139"/>
            </a:xfrm>
            <a:prstGeom prst="line">
              <a:avLst/>
            </a:prstGeom>
            <a:noFill/>
            <a:ln w="0">
              <a:solidFill>
                <a:srgbClr val="4677BF"/>
              </a:solidFill>
              <a:round/>
              <a:headEnd/>
              <a:tailEnd/>
            </a:ln>
          </p:spPr>
          <p:txBody>
            <a:bodyPr/>
            <a:lstStyle/>
            <a:p>
              <a:endParaRPr lang="en-US"/>
            </a:p>
          </p:txBody>
        </p:sp>
        <p:sp>
          <p:nvSpPr>
            <p:cNvPr id="95328" name="Freeform 295"/>
            <p:cNvSpPr>
              <a:spLocks/>
            </p:cNvSpPr>
            <p:nvPr/>
          </p:nvSpPr>
          <p:spPr bwMode="auto">
            <a:xfrm>
              <a:off x="5212" y="1523"/>
              <a:ext cx="42" cy="38"/>
            </a:xfrm>
            <a:custGeom>
              <a:avLst/>
              <a:gdLst>
                <a:gd name="T0" fmla="*/ 42 w 42"/>
                <a:gd name="T1" fmla="*/ 0 h 38"/>
                <a:gd name="T2" fmla="*/ 21 w 42"/>
                <a:gd name="T3" fmla="*/ 38 h 38"/>
                <a:gd name="T4" fmla="*/ 0 w 42"/>
                <a:gd name="T5" fmla="*/ 0 h 38"/>
                <a:gd name="T6" fmla="*/ 42 w 42"/>
                <a:gd name="T7" fmla="*/ 0 h 38"/>
                <a:gd name="T8" fmla="*/ 0 60000 65536"/>
                <a:gd name="T9" fmla="*/ 0 60000 65536"/>
                <a:gd name="T10" fmla="*/ 0 60000 65536"/>
                <a:gd name="T11" fmla="*/ 0 60000 65536"/>
                <a:gd name="T12" fmla="*/ 0 w 42"/>
                <a:gd name="T13" fmla="*/ 0 h 38"/>
                <a:gd name="T14" fmla="*/ 42 w 42"/>
                <a:gd name="T15" fmla="*/ 38 h 38"/>
              </a:gdLst>
              <a:ahLst/>
              <a:cxnLst>
                <a:cxn ang="T8">
                  <a:pos x="T0" y="T1"/>
                </a:cxn>
                <a:cxn ang="T9">
                  <a:pos x="T2" y="T3"/>
                </a:cxn>
                <a:cxn ang="T10">
                  <a:pos x="T4" y="T5"/>
                </a:cxn>
                <a:cxn ang="T11">
                  <a:pos x="T6" y="T7"/>
                </a:cxn>
              </a:cxnLst>
              <a:rect l="T12" t="T13" r="T14" b="T15"/>
              <a:pathLst>
                <a:path w="42" h="38">
                  <a:moveTo>
                    <a:pt x="42" y="0"/>
                  </a:moveTo>
                  <a:lnTo>
                    <a:pt x="21" y="38"/>
                  </a:lnTo>
                  <a:lnTo>
                    <a:pt x="0" y="0"/>
                  </a:lnTo>
                  <a:lnTo>
                    <a:pt x="42" y="0"/>
                  </a:lnTo>
                  <a:close/>
                </a:path>
              </a:pathLst>
            </a:custGeom>
            <a:solidFill>
              <a:srgbClr val="4677BF"/>
            </a:solidFill>
            <a:ln w="9525">
              <a:noFill/>
              <a:round/>
              <a:headEnd/>
              <a:tailEnd/>
            </a:ln>
          </p:spPr>
          <p:txBody>
            <a:bodyPr/>
            <a:lstStyle/>
            <a:p>
              <a:endParaRPr lang="en-US"/>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pPr eaLnBrk="1" hangingPunct="1">
              <a:defRPr/>
            </a:pPr>
            <a:r>
              <a:rPr lang="en-US" sz="3200" cap="small" dirty="0" smtClean="0"/>
              <a:t>Final Design Phase</a:t>
            </a:r>
            <a:endParaRPr lang="en-US" sz="1800" cap="small" dirty="0" smtClean="0"/>
          </a:p>
        </p:txBody>
      </p:sp>
      <p:sp>
        <p:nvSpPr>
          <p:cNvPr id="96259" name="Rectangle 3"/>
          <p:cNvSpPr>
            <a:spLocks noGrp="1" noChangeArrowheads="1"/>
          </p:cNvSpPr>
          <p:nvPr>
            <p:ph idx="1"/>
          </p:nvPr>
        </p:nvSpPr>
        <p:spPr>
          <a:xfrm>
            <a:off x="533400" y="2057400"/>
            <a:ext cx="8234363" cy="4191000"/>
          </a:xfrm>
        </p:spPr>
        <p:txBody>
          <a:bodyPr/>
          <a:lstStyle/>
          <a:p>
            <a:pPr eaLnBrk="1" hangingPunct="1">
              <a:lnSpc>
                <a:spcPct val="75000"/>
              </a:lnSpc>
            </a:pPr>
            <a:r>
              <a:rPr lang="en-US" sz="2400" smtClean="0">
                <a:latin typeface="Arial" charset="0"/>
                <a:cs typeface="Arial" charset="0"/>
              </a:rPr>
              <a:t>Finalizes HA and DBAs (mitigated analysis)</a:t>
            </a:r>
          </a:p>
          <a:p>
            <a:pPr eaLnBrk="1" hangingPunct="1">
              <a:spcBef>
                <a:spcPts val="1200"/>
              </a:spcBef>
              <a:spcAft>
                <a:spcPts val="600"/>
              </a:spcAft>
            </a:pPr>
            <a:r>
              <a:rPr lang="en-US" sz="2400" smtClean="0">
                <a:latin typeface="Arial" charset="0"/>
                <a:cs typeface="Arial" charset="0"/>
              </a:rPr>
              <a:t>Evolves the preliminary design to the point where</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Specifications are developed</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Security Vulnerability Assessment is finalized</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Procurement and construction can be accomplished</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Test, inspection, and commissioning requirements are developed and detailed</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System Design Descriptions (SDD) and Facility Design Description (FDD) are completed </a:t>
            </a:r>
          </a:p>
          <a:p>
            <a:pPr eaLnBrk="1" hangingPunct="1">
              <a:lnSpc>
                <a:spcPct val="75000"/>
              </a:lnSpc>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9AF3E678-0668-43C1-91B9-BF78A9D9ECA9}" type="slidenum">
              <a:rPr lang="en-US" smtClean="0"/>
              <a:pPr>
                <a:defRPr/>
              </a:pPr>
              <a:t>81</a:t>
            </a:fld>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Preliminary Documented Safety Analysis (PDSA)</a:t>
            </a:r>
          </a:p>
        </p:txBody>
      </p:sp>
      <p:sp>
        <p:nvSpPr>
          <p:cNvPr id="61443" name="Rectangle 3"/>
          <p:cNvSpPr>
            <a:spLocks noGrp="1" noChangeArrowheads="1"/>
          </p:cNvSpPr>
          <p:nvPr>
            <p:ph idx="1"/>
          </p:nvPr>
        </p:nvSpPr>
        <p:spPr/>
        <p:txBody>
          <a:bodyPr rtlCol="0">
            <a:normAutofit lnSpcReduction="10000"/>
          </a:bodyPr>
          <a:lstStyle/>
          <a:p>
            <a:pPr eaLnBrk="1" fontAlgn="auto" hangingPunct="1">
              <a:spcBef>
                <a:spcPts val="1200"/>
              </a:spcBef>
              <a:spcAft>
                <a:spcPts val="600"/>
              </a:spcAft>
              <a:defRPr/>
            </a:pPr>
            <a:r>
              <a:rPr lang="en-US" sz="2400" dirty="0" smtClean="0"/>
              <a:t>Evolves from the PSDR</a:t>
            </a:r>
          </a:p>
          <a:p>
            <a:pPr eaLnBrk="1" fontAlgn="auto" hangingPunct="1">
              <a:spcBef>
                <a:spcPts val="1200"/>
              </a:spcBef>
              <a:spcAft>
                <a:spcPts val="600"/>
              </a:spcAft>
              <a:defRPr/>
            </a:pPr>
            <a:r>
              <a:rPr lang="en-US" sz="2400" dirty="0" smtClean="0"/>
              <a:t>Completes the analysis of the design</a:t>
            </a:r>
          </a:p>
          <a:p>
            <a:pPr eaLnBrk="1" fontAlgn="auto" hangingPunct="1">
              <a:spcBef>
                <a:spcPts val="1200"/>
              </a:spcBef>
              <a:spcAft>
                <a:spcPts val="600"/>
              </a:spcAft>
              <a:defRPr/>
            </a:pPr>
            <a:r>
              <a:rPr lang="en-US" sz="2400" dirty="0" smtClean="0"/>
              <a:t>Format and content covered in Appendix I</a:t>
            </a:r>
          </a:p>
          <a:p>
            <a:pPr lvl="1" eaLnBrk="1" fontAlgn="auto" hangingPunct="1">
              <a:spcBef>
                <a:spcPts val="1200"/>
              </a:spcBef>
              <a:spcAft>
                <a:spcPts val="600"/>
              </a:spcAft>
              <a:buFont typeface="Arial" pitchFamily="34" charset="0"/>
              <a:buChar char="–"/>
              <a:defRPr/>
            </a:pPr>
            <a:r>
              <a:rPr lang="en-US" sz="2000" dirty="0" smtClean="0">
                <a:solidFill>
                  <a:schemeClr val="tx1"/>
                </a:solidFill>
              </a:rPr>
              <a:t>Based on DOE-STD-3009 format</a:t>
            </a:r>
          </a:p>
          <a:p>
            <a:pPr lvl="1" eaLnBrk="1" fontAlgn="auto" hangingPunct="1">
              <a:spcBef>
                <a:spcPts val="1200"/>
              </a:spcBef>
              <a:spcAft>
                <a:spcPts val="600"/>
              </a:spcAft>
              <a:buFont typeface="Arial" pitchFamily="34" charset="0"/>
              <a:buChar char="–"/>
              <a:defRPr/>
            </a:pPr>
            <a:r>
              <a:rPr lang="en-US" sz="2000" dirty="0" smtClean="0">
                <a:solidFill>
                  <a:schemeClr val="tx1"/>
                </a:solidFill>
              </a:rPr>
              <a:t>Minimizes need to rewrite for DSA</a:t>
            </a:r>
          </a:p>
          <a:p>
            <a:pPr eaLnBrk="1" fontAlgn="auto" hangingPunct="1">
              <a:spcBef>
                <a:spcPts val="1200"/>
              </a:spcBef>
              <a:spcAft>
                <a:spcPts val="600"/>
              </a:spcAft>
              <a:defRPr/>
            </a:pPr>
            <a:r>
              <a:rPr lang="en-US" sz="2400" dirty="0" smtClean="0"/>
              <a:t>Provides the basis for design adequacy with respect to safety</a:t>
            </a:r>
          </a:p>
          <a:p>
            <a:pPr eaLnBrk="1" fontAlgn="auto" hangingPunct="1">
              <a:spcBef>
                <a:spcPts val="1200"/>
              </a:spcBef>
              <a:spcAft>
                <a:spcPts val="600"/>
              </a:spcAft>
              <a:defRPr/>
            </a:pPr>
            <a:r>
              <a:rPr lang="en-US" sz="2400" dirty="0" smtClean="0"/>
              <a:t>Change control of PDSA is established</a:t>
            </a:r>
          </a:p>
        </p:txBody>
      </p:sp>
      <p:sp>
        <p:nvSpPr>
          <p:cNvPr id="5" name="Slide Number Placeholder 4"/>
          <p:cNvSpPr>
            <a:spLocks noGrp="1"/>
          </p:cNvSpPr>
          <p:nvPr>
            <p:ph type="sldNum" sz="quarter" idx="10"/>
          </p:nvPr>
        </p:nvSpPr>
        <p:spPr/>
        <p:txBody>
          <a:bodyPr/>
          <a:lstStyle/>
          <a:p>
            <a:pPr>
              <a:defRPr/>
            </a:pPr>
            <a:fld id="{537A881B-E170-41BE-A3E4-2DF631EAFBA8}" type="slidenum">
              <a:rPr lang="en-US" smtClean="0"/>
              <a:pPr>
                <a:defRPr/>
              </a:pPr>
              <a:t>82</a:t>
            </a:fld>
            <a:endParaRPr 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p:txBody>
          <a:bodyPr rtlCol="0">
            <a:noAutofit/>
          </a:bodyPr>
          <a:lstStyle/>
          <a:p>
            <a:pPr eaLnBrk="1" fontAlgn="auto" hangingPunct="1">
              <a:spcAft>
                <a:spcPts val="0"/>
              </a:spcAft>
              <a:defRPr/>
            </a:pPr>
            <a:r>
              <a:rPr lang="en-US" sz="2800" cap="small" dirty="0" smtClean="0"/>
              <a:t>Construction </a:t>
            </a:r>
            <a:r>
              <a:rPr lang="en-US" sz="2800" cap="small" dirty="0"/>
              <a:t>,</a:t>
            </a:r>
            <a:r>
              <a:rPr lang="en-US" sz="2800" cap="small" dirty="0" smtClean="0"/>
              <a:t>Transition, and Closeout Phase Design Related Issues</a:t>
            </a:r>
          </a:p>
        </p:txBody>
      </p:sp>
      <p:sp>
        <p:nvSpPr>
          <p:cNvPr id="98307"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Field Changes</a:t>
            </a:r>
          </a:p>
          <a:p>
            <a:pPr eaLnBrk="1" hangingPunct="1">
              <a:spcBef>
                <a:spcPts val="1200"/>
              </a:spcBef>
              <a:spcAft>
                <a:spcPts val="600"/>
              </a:spcAft>
            </a:pPr>
            <a:r>
              <a:rPr lang="en-US" sz="2400" smtClean="0">
                <a:latin typeface="Arial" charset="0"/>
                <a:cs typeface="Arial" charset="0"/>
              </a:rPr>
              <a:t>Government Furnished Equipment (GFE) and other equipment not part of primary design</a:t>
            </a:r>
          </a:p>
          <a:p>
            <a:pPr eaLnBrk="1" hangingPunct="1">
              <a:spcBef>
                <a:spcPts val="1200"/>
              </a:spcBef>
              <a:spcAft>
                <a:spcPts val="600"/>
              </a:spcAft>
            </a:pPr>
            <a:r>
              <a:rPr lang="en-US" sz="2400" smtClean="0">
                <a:latin typeface="Arial" charset="0"/>
                <a:cs typeface="Arial" charset="0"/>
              </a:rPr>
              <a:t>Revisions to PDSA </a:t>
            </a:r>
          </a:p>
          <a:p>
            <a:pPr eaLnBrk="1" hangingPunct="1">
              <a:spcBef>
                <a:spcPts val="1200"/>
              </a:spcBef>
              <a:spcAft>
                <a:spcPts val="600"/>
              </a:spcAft>
            </a:pPr>
            <a:r>
              <a:rPr lang="en-US" sz="2400" smtClean="0">
                <a:latin typeface="Arial" charset="0"/>
                <a:cs typeface="Arial" charset="0"/>
              </a:rPr>
              <a:t>Changes to comply with readiness review issues</a:t>
            </a:r>
          </a:p>
          <a:p>
            <a:pPr eaLnBrk="1" hangingPunct="1">
              <a:spcBef>
                <a:spcPts val="1200"/>
              </a:spcBef>
              <a:spcAft>
                <a:spcPts val="600"/>
              </a:spcAft>
            </a:pPr>
            <a:r>
              <a:rPr lang="en-US" sz="2400" smtClean="0">
                <a:latin typeface="Arial" charset="0"/>
                <a:cs typeface="Arial" charset="0"/>
              </a:rPr>
              <a:t>Input to Documented Safety Analysis (DSA) and Technical Safety Requirements (TSR)</a:t>
            </a:r>
          </a:p>
        </p:txBody>
      </p:sp>
      <p:sp>
        <p:nvSpPr>
          <p:cNvPr id="5" name="Slide Number Placeholder 4"/>
          <p:cNvSpPr>
            <a:spLocks noGrp="1"/>
          </p:cNvSpPr>
          <p:nvPr>
            <p:ph type="sldNum" sz="quarter" idx="10"/>
          </p:nvPr>
        </p:nvSpPr>
        <p:spPr/>
        <p:txBody>
          <a:bodyPr/>
          <a:lstStyle/>
          <a:p>
            <a:pPr>
              <a:defRPr/>
            </a:pPr>
            <a:fld id="{F7685CCF-4B1E-4291-8287-BE04386B0E17}" type="slidenum">
              <a:rPr lang="en-US" smtClean="0"/>
              <a:pPr>
                <a:defRPr/>
              </a:pPr>
              <a:t>83</a:t>
            </a:fld>
            <a:endParaRPr 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sz="3200" cap="small" dirty="0" smtClean="0"/>
              <a:t>Criteria for Determining </a:t>
            </a:r>
            <a:br>
              <a:rPr lang="en-US" sz="3200" cap="small" dirty="0" smtClean="0"/>
            </a:br>
            <a:r>
              <a:rPr lang="en-US" sz="3200" cap="small" dirty="0" smtClean="0"/>
              <a:t>PDSA Revision</a:t>
            </a:r>
            <a:br>
              <a:rPr lang="en-US" sz="3200" cap="small" dirty="0" smtClean="0"/>
            </a:br>
            <a:r>
              <a:rPr lang="en-US" sz="2000" cap="small" dirty="0" smtClean="0"/>
              <a:t>(Slide 1 of 2)</a:t>
            </a:r>
            <a:endParaRPr lang="en-US" sz="3200" cap="small" dirty="0" smtClean="0"/>
          </a:p>
        </p:txBody>
      </p:sp>
      <p:sp>
        <p:nvSpPr>
          <p:cNvPr id="112643" name="Rectangle 3"/>
          <p:cNvSpPr>
            <a:spLocks noGrp="1" noChangeArrowheads="1"/>
          </p:cNvSpPr>
          <p:nvPr>
            <p:ph idx="1"/>
          </p:nvPr>
        </p:nvSpPr>
        <p:spPr/>
        <p:txBody>
          <a:bodyPr/>
          <a:lstStyle/>
          <a:p>
            <a:pPr eaLnBrk="1" hangingPunct="1">
              <a:spcBef>
                <a:spcPts val="1200"/>
              </a:spcBef>
              <a:spcAft>
                <a:spcPts val="600"/>
              </a:spcAft>
              <a:defRPr/>
            </a:pPr>
            <a:r>
              <a:rPr lang="en-US" i="1" dirty="0" smtClean="0"/>
              <a:t>The change:</a:t>
            </a:r>
          </a:p>
          <a:p>
            <a:pPr marL="688975" eaLnBrk="1" hangingPunct="1">
              <a:spcBef>
                <a:spcPts val="1200"/>
              </a:spcBef>
              <a:spcAft>
                <a:spcPts val="600"/>
              </a:spcAft>
              <a:buFont typeface="Arial" pitchFamily="34" charset="0"/>
              <a:buChar char="-"/>
              <a:defRPr/>
            </a:pPr>
            <a:r>
              <a:rPr lang="en-US" sz="2400" dirty="0" smtClean="0"/>
              <a:t>alters a safety function for a safety SSC identified in the current PDSA</a:t>
            </a:r>
          </a:p>
          <a:p>
            <a:pPr marL="688975" eaLnBrk="1" hangingPunct="1">
              <a:spcBef>
                <a:spcPts val="1200"/>
              </a:spcBef>
              <a:spcAft>
                <a:spcPts val="600"/>
              </a:spcAft>
              <a:buFont typeface="Arial" pitchFamily="34" charset="0"/>
              <a:buChar char="-"/>
              <a:defRPr/>
            </a:pPr>
            <a:r>
              <a:rPr lang="en-US" sz="2400" dirty="0" smtClean="0"/>
              <a:t>results in a change in the functional classification, reliability, or rigor of the design standard for an SSC previously specified in the PDSA configuration baseline</a:t>
            </a:r>
          </a:p>
        </p:txBody>
      </p:sp>
      <p:sp>
        <p:nvSpPr>
          <p:cNvPr id="5" name="Slide Number Placeholder 4"/>
          <p:cNvSpPr>
            <a:spLocks noGrp="1"/>
          </p:cNvSpPr>
          <p:nvPr>
            <p:ph type="sldNum" sz="quarter" idx="10"/>
          </p:nvPr>
        </p:nvSpPr>
        <p:spPr/>
        <p:txBody>
          <a:bodyPr/>
          <a:lstStyle/>
          <a:p>
            <a:pPr>
              <a:defRPr/>
            </a:pPr>
            <a:fld id="{ED5EDE8B-C0C8-484E-BA69-008706555706}" type="slidenum">
              <a:rPr lang="en-US" smtClean="0"/>
              <a:pPr>
                <a:defRPr/>
              </a:pPr>
              <a:t>84</a:t>
            </a:fld>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Criteria for Determining </a:t>
            </a:r>
            <a:br>
              <a:rPr lang="en-US" sz="3200" cap="small" dirty="0" smtClean="0"/>
            </a:br>
            <a:r>
              <a:rPr lang="en-US" sz="3200" cap="small" dirty="0" smtClean="0"/>
              <a:t>PDSA Revision</a:t>
            </a:r>
            <a:br>
              <a:rPr lang="en-US" sz="3200" cap="small" dirty="0" smtClean="0"/>
            </a:br>
            <a:r>
              <a:rPr lang="en-US" sz="1800" cap="small" dirty="0" smtClean="0"/>
              <a:t> (Slide 2 of 2)</a:t>
            </a:r>
            <a:endParaRPr lang="en-US" sz="3200" dirty="0"/>
          </a:p>
        </p:txBody>
      </p:sp>
      <p:sp>
        <p:nvSpPr>
          <p:cNvPr id="100355" name="Content Placeholder 2"/>
          <p:cNvSpPr>
            <a:spLocks noGrp="1"/>
          </p:cNvSpPr>
          <p:nvPr>
            <p:ph idx="1"/>
          </p:nvPr>
        </p:nvSpPr>
        <p:spPr/>
        <p:txBody>
          <a:bodyPr/>
          <a:lstStyle/>
          <a:p>
            <a:pPr eaLnBrk="1" hangingPunct="1">
              <a:spcBef>
                <a:spcPts val="1200"/>
              </a:spcBef>
              <a:spcAft>
                <a:spcPts val="600"/>
              </a:spcAft>
              <a:buFont typeface="Arial" charset="0"/>
              <a:buChar char="•"/>
            </a:pPr>
            <a:r>
              <a:rPr lang="en-US" sz="2400" smtClean="0">
                <a:latin typeface="Arial" charset="0"/>
                <a:cs typeface="Arial" charset="0"/>
              </a:rPr>
              <a:t>requires implementation of new or changed safety SSC or proposed TSR controls</a:t>
            </a:r>
          </a:p>
          <a:p>
            <a:pPr eaLnBrk="1" hangingPunct="1">
              <a:spcBef>
                <a:spcPts val="1200"/>
              </a:spcBef>
              <a:spcAft>
                <a:spcPts val="600"/>
              </a:spcAft>
              <a:buFont typeface="Arial" charset="0"/>
              <a:buChar char="•"/>
            </a:pPr>
            <a:r>
              <a:rPr lang="en-US" sz="2400" smtClean="0">
                <a:latin typeface="Arial" charset="0"/>
                <a:cs typeface="Arial" charset="0"/>
              </a:rPr>
              <a:t>significantly alters the process design or its bases, such as increased material at risk, changes to seismic spectra, major changes to process control software logic, new tanks, new piping, new pumps, or different process chemistry</a:t>
            </a:r>
          </a:p>
          <a:p>
            <a:endParaRPr lang="en-US" sz="24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AB1ACAAE-FBC2-4577-BBC0-92EF976215D3}" type="slidenum">
              <a:rPr lang="en-US" smtClean="0"/>
              <a:pPr>
                <a:defRPr/>
              </a:pPr>
              <a:t>85</a:t>
            </a:fld>
            <a:endParaRPr 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1765300" y="609600"/>
            <a:ext cx="7150100" cy="838200"/>
          </a:xfrm>
        </p:spPr>
        <p:txBody>
          <a:bodyPr rtlCol="0">
            <a:normAutofit fontScale="90000"/>
          </a:bodyPr>
          <a:lstStyle/>
          <a:p>
            <a:pPr eaLnBrk="1" fontAlgn="auto" hangingPunct="1">
              <a:spcAft>
                <a:spcPts val="0"/>
              </a:spcAft>
              <a:defRPr/>
            </a:pPr>
            <a:r>
              <a:rPr lang="en-US" dirty="0" smtClean="0"/>
              <a:t>Safety and Design Interactions </a:t>
            </a:r>
            <a:br>
              <a:rPr lang="en-US" dirty="0" smtClean="0"/>
            </a:br>
            <a:endParaRPr lang="en-US" dirty="0" smtClean="0"/>
          </a:p>
        </p:txBody>
      </p:sp>
      <p:sp>
        <p:nvSpPr>
          <p:cNvPr id="101379" name="Rectangle 3"/>
          <p:cNvSpPr>
            <a:spLocks noGrp="1" noChangeArrowheads="1"/>
          </p:cNvSpPr>
          <p:nvPr>
            <p:ph idx="1"/>
          </p:nvPr>
        </p:nvSpPr>
        <p:spPr/>
        <p:txBody>
          <a:bodyPr/>
          <a:lstStyle/>
          <a:p>
            <a:pPr indent="3175" algn="ctr" eaLnBrk="1" hangingPunct="1">
              <a:buFont typeface="Wingdings" pitchFamily="2" charset="2"/>
              <a:buNone/>
            </a:pPr>
            <a:endParaRPr lang="en-US" smtClean="0">
              <a:latin typeface="Arial" charset="0"/>
              <a:cs typeface="Arial" charset="0"/>
            </a:endParaRPr>
          </a:p>
          <a:p>
            <a:pPr indent="3175" algn="ctr" eaLnBrk="1" hangingPunct="1">
              <a:buFont typeface="Wingdings" pitchFamily="2" charset="2"/>
              <a:buNone/>
            </a:pPr>
            <a:endParaRPr lang="en-US" smtClean="0">
              <a:latin typeface="Arial" charset="0"/>
              <a:cs typeface="Arial" charset="0"/>
            </a:endParaRPr>
          </a:p>
          <a:p>
            <a:pPr indent="3175" algn="ctr" eaLnBrk="1" hangingPunct="1">
              <a:buFont typeface="Wingdings" pitchFamily="2" charset="2"/>
              <a:buNone/>
            </a:pPr>
            <a:r>
              <a:rPr lang="en-US" smtClean="0">
                <a:solidFill>
                  <a:srgbClr val="C00000"/>
                </a:solidFill>
                <a:latin typeface="Arial" charset="0"/>
                <a:cs typeface="Arial" charset="0"/>
              </a:rPr>
              <a:t>Hazard and Accident Analyses and Inputs to the Design Process</a:t>
            </a:r>
          </a:p>
        </p:txBody>
      </p:sp>
      <p:sp>
        <p:nvSpPr>
          <p:cNvPr id="4" name="Slide Number Placeholder 3"/>
          <p:cNvSpPr>
            <a:spLocks noGrp="1"/>
          </p:cNvSpPr>
          <p:nvPr>
            <p:ph type="sldNum" sz="quarter" idx="10"/>
          </p:nvPr>
        </p:nvSpPr>
        <p:spPr/>
        <p:txBody>
          <a:bodyPr/>
          <a:lstStyle/>
          <a:p>
            <a:pPr>
              <a:defRPr/>
            </a:pPr>
            <a:fld id="{3CD84692-3D2A-4882-A598-CBBD700BE8EE}" type="slidenum">
              <a:rPr lang="en-US" smtClean="0"/>
              <a:pPr>
                <a:defRPr/>
              </a:pPr>
              <a:t>86</a:t>
            </a:fld>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itle 1"/>
          <p:cNvSpPr>
            <a:spLocks noGrp="1"/>
          </p:cNvSpPr>
          <p:nvPr>
            <p:ph type="title"/>
          </p:nvPr>
        </p:nvSpPr>
        <p:spPr/>
        <p:txBody>
          <a:bodyPr/>
          <a:lstStyle/>
          <a:p>
            <a:pPr eaLnBrk="1" hangingPunct="1">
              <a:defRPr/>
            </a:pPr>
            <a:r>
              <a:rPr lang="en-US" sz="2800" dirty="0" smtClean="0">
                <a:latin typeface="Arial" charset="0"/>
                <a:cs typeface="Arial" charset="0"/>
              </a:rPr>
              <a:t>Hazard and Accident Analysis:</a:t>
            </a:r>
            <a:br>
              <a:rPr lang="en-US" sz="2800" dirty="0" smtClean="0">
                <a:latin typeface="Arial" charset="0"/>
                <a:cs typeface="Arial" charset="0"/>
              </a:rPr>
            </a:br>
            <a:r>
              <a:rPr lang="en-US" sz="2800" dirty="0" smtClean="0">
                <a:latin typeface="Arial" charset="0"/>
                <a:cs typeface="Arial" charset="0"/>
              </a:rPr>
              <a:t>Initial Information Needed</a:t>
            </a:r>
            <a:br>
              <a:rPr lang="en-US" sz="2800" dirty="0" smtClean="0">
                <a:latin typeface="Arial" charset="0"/>
                <a:cs typeface="Arial" charset="0"/>
              </a:rPr>
            </a:br>
            <a:r>
              <a:rPr lang="en-US" sz="2000" cap="small" dirty="0" smtClean="0"/>
              <a:t> (Slide 1 of 2) </a:t>
            </a:r>
            <a:endParaRPr lang="en-US" sz="2800" dirty="0" smtClean="0">
              <a:latin typeface="Arial" charset="0"/>
              <a:cs typeface="Arial" charset="0"/>
            </a:endParaRPr>
          </a:p>
        </p:txBody>
      </p:sp>
      <p:sp>
        <p:nvSpPr>
          <p:cNvPr id="102403"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Facility site/location</a:t>
            </a:r>
          </a:p>
          <a:p>
            <a:pPr eaLnBrk="1" hangingPunct="1">
              <a:spcBef>
                <a:spcPts val="1200"/>
              </a:spcBef>
              <a:spcAft>
                <a:spcPts val="600"/>
              </a:spcAft>
            </a:pPr>
            <a:r>
              <a:rPr lang="en-US" sz="2400" smtClean="0">
                <a:latin typeface="Arial" charset="0"/>
                <a:cs typeface="Arial" charset="0"/>
              </a:rPr>
              <a:t>General arrangement drawings</a:t>
            </a:r>
          </a:p>
          <a:p>
            <a:pPr eaLnBrk="1" hangingPunct="1">
              <a:spcBef>
                <a:spcPts val="1200"/>
              </a:spcBef>
              <a:spcAft>
                <a:spcPts val="600"/>
              </a:spcAft>
            </a:pPr>
            <a:r>
              <a:rPr lang="en-US" sz="2400" smtClean="0">
                <a:latin typeface="Arial" charset="0"/>
                <a:cs typeface="Arial" charset="0"/>
              </a:rPr>
              <a:t>MAR estimates or assumptions and material flow balances</a:t>
            </a:r>
          </a:p>
          <a:p>
            <a:pPr eaLnBrk="1" hangingPunct="1">
              <a:spcBef>
                <a:spcPts val="1200"/>
              </a:spcBef>
              <a:spcAft>
                <a:spcPts val="600"/>
              </a:spcAft>
            </a:pPr>
            <a:r>
              <a:rPr lang="en-US" sz="2400" smtClean="0">
                <a:latin typeface="Arial" charset="0"/>
                <a:cs typeface="Arial" charset="0"/>
              </a:rPr>
              <a:t>Sizing of major process system containers, tanks, piping</a:t>
            </a:r>
          </a:p>
        </p:txBody>
      </p:sp>
      <p:sp>
        <p:nvSpPr>
          <p:cNvPr id="5" name="Slide Number Placeholder 4"/>
          <p:cNvSpPr>
            <a:spLocks noGrp="1"/>
          </p:cNvSpPr>
          <p:nvPr>
            <p:ph type="sldNum" sz="quarter" idx="10"/>
          </p:nvPr>
        </p:nvSpPr>
        <p:spPr/>
        <p:txBody>
          <a:bodyPr/>
          <a:lstStyle/>
          <a:p>
            <a:pPr>
              <a:defRPr/>
            </a:pPr>
            <a:fld id="{70755EA3-89A7-423F-B914-50CE269B9A88}" type="slidenum">
              <a:rPr lang="en-US" smtClean="0"/>
              <a:pPr>
                <a:defRPr/>
              </a:pPr>
              <a:t>87</a:t>
            </a:fld>
            <a:endParaRPr 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itle 1"/>
          <p:cNvSpPr>
            <a:spLocks noGrp="1"/>
          </p:cNvSpPr>
          <p:nvPr>
            <p:ph type="title"/>
          </p:nvPr>
        </p:nvSpPr>
        <p:spPr/>
        <p:txBody>
          <a:bodyPr/>
          <a:lstStyle/>
          <a:p>
            <a:pPr>
              <a:defRPr/>
            </a:pPr>
            <a:r>
              <a:rPr lang="en-US" sz="2800" dirty="0" smtClean="0">
                <a:latin typeface="Arial" charset="0"/>
                <a:cs typeface="Arial" charset="0"/>
              </a:rPr>
              <a:t>Hazard and Accident Analysis:</a:t>
            </a:r>
            <a:br>
              <a:rPr lang="en-US" sz="2800" dirty="0" smtClean="0">
                <a:latin typeface="Arial" charset="0"/>
                <a:cs typeface="Arial" charset="0"/>
              </a:rPr>
            </a:br>
            <a:r>
              <a:rPr lang="en-US" sz="2800" dirty="0" smtClean="0">
                <a:latin typeface="Arial" charset="0"/>
                <a:cs typeface="Arial" charset="0"/>
              </a:rPr>
              <a:t>Initial Information Needed</a:t>
            </a:r>
            <a:r>
              <a:rPr lang="en-US" sz="3200" dirty="0" smtClean="0">
                <a:latin typeface="Arial" charset="0"/>
                <a:cs typeface="Arial" charset="0"/>
              </a:rPr>
              <a:t/>
            </a:r>
            <a:br>
              <a:rPr lang="en-US" sz="3200" dirty="0" smtClean="0">
                <a:latin typeface="Arial" charset="0"/>
                <a:cs typeface="Arial" charset="0"/>
              </a:rPr>
            </a:br>
            <a:r>
              <a:rPr lang="en-US" sz="1800" cap="small" dirty="0" smtClean="0"/>
              <a:t> (Slide 2 of 2) </a:t>
            </a:r>
            <a:endParaRPr lang="en-US" sz="3200" dirty="0" smtClean="0">
              <a:latin typeface="Arial" charset="0"/>
              <a:cs typeface="Arial" charset="0"/>
            </a:endParaRPr>
          </a:p>
        </p:txBody>
      </p:sp>
      <p:sp>
        <p:nvSpPr>
          <p:cNvPr id="103427"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Process block flow diagrams for:</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Ventilation</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Electrical power</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Special mechanical handling equipment (e.g., gloveboxes)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Instrumentation and control (I&amp;C) system architecture</a:t>
            </a:r>
          </a:p>
          <a:p>
            <a:pPr eaLnBrk="1" hangingPunct="1">
              <a:spcBef>
                <a:spcPts val="1200"/>
              </a:spcBef>
              <a:spcAft>
                <a:spcPts val="600"/>
              </a:spcAft>
            </a:pPr>
            <a:r>
              <a:rPr lang="en-US" sz="2400" smtClean="0">
                <a:latin typeface="Arial" charset="0"/>
                <a:cs typeface="Arial" charset="0"/>
              </a:rPr>
              <a:t>Summary process design description and sequence</a:t>
            </a:r>
          </a:p>
          <a:p>
            <a:pPr eaLnBrk="1" hangingPunct="1">
              <a:spcBef>
                <a:spcPts val="1200"/>
              </a:spcBef>
              <a:spcAft>
                <a:spcPts val="600"/>
              </a:spcAft>
            </a:pPr>
            <a:r>
              <a:rPr lang="en-US" sz="2400" smtClean="0">
                <a:latin typeface="Arial" charset="0"/>
                <a:cs typeface="Arial" charset="0"/>
              </a:rPr>
              <a:t>Confinement strategy</a:t>
            </a:r>
          </a:p>
          <a:p>
            <a:endParaRPr lang="en-US"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67D530B6-2056-4E52-8AE8-43E697FE4FD7}" type="slidenum">
              <a:rPr lang="en-US" smtClean="0"/>
              <a:pPr>
                <a:defRPr/>
              </a:pPr>
              <a:t>88</a:t>
            </a:fld>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p:txBody>
          <a:bodyPr/>
          <a:lstStyle/>
          <a:p>
            <a:pPr eaLnBrk="1" hangingPunct="1">
              <a:defRPr/>
            </a:pPr>
            <a:r>
              <a:rPr lang="en-US" sz="3200" dirty="0" smtClean="0">
                <a:latin typeface="Arial" charset="0"/>
                <a:cs typeface="Arial" charset="0"/>
              </a:rPr>
              <a:t>Hazard and Accident Analysis</a:t>
            </a:r>
            <a:br>
              <a:rPr lang="en-US" sz="3200" dirty="0" smtClean="0">
                <a:latin typeface="Arial" charset="0"/>
                <a:cs typeface="Arial" charset="0"/>
              </a:rPr>
            </a:br>
            <a:r>
              <a:rPr lang="en-US" sz="1800" cap="small" dirty="0" smtClean="0"/>
              <a:t> (Slide 1 of 2) </a:t>
            </a:r>
            <a:endParaRPr lang="en-US" sz="1800" dirty="0" smtClean="0">
              <a:latin typeface="Arial" charset="0"/>
              <a:cs typeface="Arial" charset="0"/>
            </a:endParaRPr>
          </a:p>
        </p:txBody>
      </p:sp>
      <p:sp>
        <p:nvSpPr>
          <p:cNvPr id="115715" name="Content Placeholder 2"/>
          <p:cNvSpPr>
            <a:spLocks noGrp="1"/>
          </p:cNvSpPr>
          <p:nvPr>
            <p:ph idx="1"/>
          </p:nvPr>
        </p:nvSpPr>
        <p:spPr/>
        <p:txBody>
          <a:bodyPr/>
          <a:lstStyle/>
          <a:p>
            <a:pPr eaLnBrk="1" hangingPunct="1">
              <a:spcBef>
                <a:spcPts val="1200"/>
              </a:spcBef>
              <a:spcAft>
                <a:spcPts val="600"/>
              </a:spcAft>
              <a:defRPr/>
            </a:pPr>
            <a:r>
              <a:rPr lang="en-US" sz="2400" i="1" dirty="0" smtClean="0"/>
              <a:t>At conceptual design stage (facility level analyses)</a:t>
            </a:r>
          </a:p>
          <a:p>
            <a:pPr marL="688975" eaLnBrk="1" hangingPunct="1">
              <a:spcBef>
                <a:spcPts val="1200"/>
              </a:spcBef>
              <a:spcAft>
                <a:spcPts val="600"/>
              </a:spcAft>
              <a:buFont typeface="Arial" pitchFamily="34" charset="0"/>
              <a:buChar char="-"/>
              <a:defRPr/>
            </a:pPr>
            <a:r>
              <a:rPr lang="en-US" sz="2000" dirty="0" smtClean="0"/>
              <a:t>Building structure</a:t>
            </a:r>
          </a:p>
          <a:p>
            <a:pPr marL="688975" eaLnBrk="1" hangingPunct="1">
              <a:spcBef>
                <a:spcPts val="1200"/>
              </a:spcBef>
              <a:spcAft>
                <a:spcPts val="600"/>
              </a:spcAft>
              <a:buFont typeface="Arial" pitchFamily="34" charset="0"/>
              <a:buChar char="-"/>
              <a:defRPr/>
            </a:pPr>
            <a:r>
              <a:rPr lang="en-US" sz="2000" dirty="0" smtClean="0"/>
              <a:t>Building and process confinement</a:t>
            </a:r>
          </a:p>
          <a:p>
            <a:pPr marL="688975" eaLnBrk="1" hangingPunct="1">
              <a:spcBef>
                <a:spcPts val="1200"/>
              </a:spcBef>
              <a:spcAft>
                <a:spcPts val="600"/>
              </a:spcAft>
              <a:buFont typeface="Arial" pitchFamily="34" charset="0"/>
              <a:buChar char="-"/>
              <a:defRPr/>
            </a:pPr>
            <a:r>
              <a:rPr lang="en-US" sz="2000" dirty="0" smtClean="0"/>
              <a:t>Power systems, including Safety Class single failure criteria</a:t>
            </a:r>
          </a:p>
          <a:p>
            <a:pPr marL="688975" eaLnBrk="1" hangingPunct="1">
              <a:spcBef>
                <a:spcPts val="1200"/>
              </a:spcBef>
              <a:spcAft>
                <a:spcPts val="600"/>
              </a:spcAft>
              <a:buFont typeface="Arial" pitchFamily="34" charset="0"/>
              <a:buChar char="-"/>
              <a:defRPr/>
            </a:pPr>
            <a:r>
              <a:rPr lang="en-US" sz="2000" dirty="0" smtClean="0"/>
              <a:t>Fire protection provisions</a:t>
            </a:r>
          </a:p>
          <a:p>
            <a:pPr marL="688975" eaLnBrk="1" hangingPunct="1">
              <a:spcBef>
                <a:spcPts val="1200"/>
              </a:spcBef>
              <a:spcAft>
                <a:spcPts val="600"/>
              </a:spcAft>
              <a:buFont typeface="Arial" pitchFamily="34" charset="0"/>
              <a:buChar char="-"/>
              <a:defRPr/>
            </a:pPr>
            <a:r>
              <a:rPr lang="en-US" sz="2000" dirty="0" smtClean="0"/>
              <a:t>Special mechanical equipment (e.g., </a:t>
            </a:r>
            <a:r>
              <a:rPr lang="en-US" sz="2000" dirty="0" err="1" smtClean="0"/>
              <a:t>gloveboxes</a:t>
            </a:r>
            <a:r>
              <a:rPr lang="en-US" sz="2000" dirty="0" smtClean="0"/>
              <a:t>)</a:t>
            </a:r>
          </a:p>
          <a:p>
            <a:pPr eaLnBrk="1" hangingPunct="1">
              <a:spcBef>
                <a:spcPts val="1200"/>
              </a:spcBef>
              <a:spcAft>
                <a:spcPts val="600"/>
              </a:spcAft>
              <a:defRPr/>
            </a:pPr>
            <a:r>
              <a:rPr lang="en-US" sz="2400" dirty="0" smtClean="0"/>
              <a:t>Initial focus on high-cost safety functions and design requirements</a:t>
            </a:r>
          </a:p>
        </p:txBody>
      </p:sp>
      <p:sp>
        <p:nvSpPr>
          <p:cNvPr id="5" name="Title 1"/>
          <p:cNvSpPr txBox="1">
            <a:spLocks/>
          </p:cNvSpPr>
          <p:nvPr/>
        </p:nvSpPr>
        <p:spPr bwMode="auto">
          <a:xfrm>
            <a:off x="457200" y="274638"/>
            <a:ext cx="8229600" cy="1143000"/>
          </a:xfrm>
          <a:prstGeom prst="rect">
            <a:avLst/>
          </a:prstGeom>
          <a:noFill/>
          <a:ln w="9525">
            <a:noFill/>
            <a:miter lim="800000"/>
            <a:headEnd/>
            <a:tailEnd/>
          </a:ln>
        </p:spPr>
        <p:txBody>
          <a:bodyPr anchor="ctr"/>
          <a:lstStyle/>
          <a:p>
            <a:pPr algn="ctr" eaLnBrk="0" hangingPunct="0">
              <a:defRPr/>
            </a:pPr>
            <a:endParaRPr lang="en-US" sz="2400" b="1" cap="small" dirty="0">
              <a:latin typeface="+mj-lt"/>
              <a:ea typeface="+mj-ea"/>
              <a:cs typeface="+mj-cs"/>
            </a:endParaRPr>
          </a:p>
        </p:txBody>
      </p:sp>
      <p:sp>
        <p:nvSpPr>
          <p:cNvPr id="6" name="Slide Number Placeholder 5"/>
          <p:cNvSpPr>
            <a:spLocks noGrp="1"/>
          </p:cNvSpPr>
          <p:nvPr>
            <p:ph type="sldNum" sz="quarter" idx="10"/>
          </p:nvPr>
        </p:nvSpPr>
        <p:spPr/>
        <p:txBody>
          <a:bodyPr/>
          <a:lstStyle/>
          <a:p>
            <a:pPr>
              <a:defRPr/>
            </a:pPr>
            <a:fld id="{3B1CE3F4-3177-4874-AF37-0EB971C60262}" type="slidenum">
              <a:rPr lang="en-US" smtClean="0"/>
              <a:pPr>
                <a:defRPr/>
              </a:pPr>
              <a:t>89</a:t>
            </a:fld>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pPr>
              <a:defRPr/>
            </a:pPr>
            <a:r>
              <a:rPr lang="en-US" sz="3200" dirty="0" smtClean="0">
                <a:latin typeface="Arial" charset="0"/>
                <a:cs typeface="Arial" charset="0"/>
              </a:rPr>
              <a:t>Hazard and Accident Analysis</a:t>
            </a:r>
            <a:br>
              <a:rPr lang="en-US" sz="3200" dirty="0" smtClean="0">
                <a:latin typeface="Arial" charset="0"/>
                <a:cs typeface="Arial" charset="0"/>
              </a:rPr>
            </a:br>
            <a:r>
              <a:rPr lang="en-US" sz="2000" cap="small" dirty="0" smtClean="0"/>
              <a:t> (Slide 2 of 2) </a:t>
            </a:r>
            <a:endParaRPr lang="en-US" sz="1800" dirty="0" smtClean="0">
              <a:latin typeface="Arial" charset="0"/>
              <a:cs typeface="Arial" charset="0"/>
            </a:endParaRPr>
          </a:p>
        </p:txBody>
      </p:sp>
      <p:sp>
        <p:nvSpPr>
          <p:cNvPr id="3" name="Content Placeholder 2"/>
          <p:cNvSpPr>
            <a:spLocks noGrp="1"/>
          </p:cNvSpPr>
          <p:nvPr>
            <p:ph idx="1"/>
          </p:nvPr>
        </p:nvSpPr>
        <p:spPr/>
        <p:txBody>
          <a:bodyPr/>
          <a:lstStyle/>
          <a:p>
            <a:pPr eaLnBrk="1" hangingPunct="1">
              <a:spcBef>
                <a:spcPts val="1200"/>
              </a:spcBef>
              <a:spcAft>
                <a:spcPts val="600"/>
              </a:spcAft>
              <a:defRPr/>
            </a:pPr>
            <a:r>
              <a:rPr lang="en-US" sz="2400" i="1" dirty="0" smtClean="0"/>
              <a:t>At preliminary and final design stages</a:t>
            </a:r>
          </a:p>
          <a:p>
            <a:pPr marL="688975" eaLnBrk="1" hangingPunct="1">
              <a:spcBef>
                <a:spcPts val="1200"/>
              </a:spcBef>
              <a:spcAft>
                <a:spcPts val="600"/>
              </a:spcAft>
              <a:buFont typeface="Arial" pitchFamily="34" charset="0"/>
              <a:buChar char="-"/>
              <a:defRPr/>
            </a:pPr>
            <a:r>
              <a:rPr lang="en-US" sz="2000" dirty="0" smtClean="0"/>
              <a:t>Update and refine conceptual design analyses</a:t>
            </a:r>
          </a:p>
          <a:p>
            <a:pPr marL="688975" eaLnBrk="1" hangingPunct="1">
              <a:spcBef>
                <a:spcPts val="1200"/>
              </a:spcBef>
              <a:spcAft>
                <a:spcPts val="600"/>
              </a:spcAft>
              <a:buFont typeface="Arial" pitchFamily="34" charset="0"/>
              <a:buChar char="-"/>
              <a:defRPr/>
            </a:pPr>
            <a:r>
              <a:rPr lang="en-US" sz="2000" dirty="0" smtClean="0"/>
              <a:t>Extend to process and activity level and safety functions and SSCs</a:t>
            </a:r>
          </a:p>
          <a:p>
            <a:pPr>
              <a:defRPr/>
            </a:pPr>
            <a:endParaRPr lang="en-US" sz="2000" dirty="0"/>
          </a:p>
        </p:txBody>
      </p:sp>
      <p:sp>
        <p:nvSpPr>
          <p:cNvPr id="4" name="Slide Number Placeholder 3"/>
          <p:cNvSpPr>
            <a:spLocks noGrp="1"/>
          </p:cNvSpPr>
          <p:nvPr>
            <p:ph type="sldNum" sz="quarter" idx="10"/>
          </p:nvPr>
        </p:nvSpPr>
        <p:spPr/>
        <p:txBody>
          <a:bodyPr/>
          <a:lstStyle/>
          <a:p>
            <a:pPr>
              <a:defRPr/>
            </a:pPr>
            <a:fld id="{D7D2E3E4-F615-47E1-8001-700FC924DF06}" type="slidenum">
              <a:rPr lang="en-US" smtClean="0"/>
              <a:pPr>
                <a:defRPr/>
              </a:pPr>
              <a:t>90</a:t>
            </a:fld>
            <a:endParaRPr 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p:cNvSpPr>
            <a:spLocks noGrp="1"/>
          </p:cNvSpPr>
          <p:nvPr>
            <p:ph type="title"/>
          </p:nvPr>
        </p:nvSpPr>
        <p:spPr/>
        <p:txBody>
          <a:bodyPr rtlCol="0">
            <a:normAutofit fontScale="90000"/>
          </a:bodyPr>
          <a:lstStyle/>
          <a:p>
            <a:pPr eaLnBrk="1" fontAlgn="auto" hangingPunct="1">
              <a:spcAft>
                <a:spcPts val="0"/>
              </a:spcAft>
              <a:defRPr/>
            </a:pPr>
            <a:r>
              <a:rPr lang="en-US" sz="3200" dirty="0" smtClean="0"/>
              <a:t>Hazard and Accident Analysis:</a:t>
            </a:r>
            <a:r>
              <a:rPr lang="en-US" sz="4000" dirty="0" smtClean="0"/>
              <a:t/>
            </a:r>
            <a:br>
              <a:rPr lang="en-US" sz="4000" dirty="0" smtClean="0"/>
            </a:br>
            <a:r>
              <a:rPr lang="en-US" sz="4000" dirty="0" smtClean="0"/>
              <a:t> </a:t>
            </a:r>
            <a:r>
              <a:rPr lang="en-US" sz="2400" dirty="0" smtClean="0"/>
              <a:t>Accident Types to Consider</a:t>
            </a:r>
          </a:p>
        </p:txBody>
      </p:sp>
      <p:sp>
        <p:nvSpPr>
          <p:cNvPr id="106499" name="Content Placeholder 2"/>
          <p:cNvSpPr>
            <a:spLocks noGrp="1"/>
          </p:cNvSpPr>
          <p:nvPr>
            <p:ph idx="1"/>
          </p:nvPr>
        </p:nvSpPr>
        <p:spPr>
          <a:xfrm>
            <a:off x="533400" y="1981200"/>
            <a:ext cx="8234363" cy="4267200"/>
          </a:xfrm>
        </p:spPr>
        <p:txBody>
          <a:bodyPr/>
          <a:lstStyle/>
          <a:p>
            <a:pPr eaLnBrk="1" hangingPunct="1">
              <a:spcBef>
                <a:spcPts val="1200"/>
              </a:spcBef>
              <a:spcAft>
                <a:spcPts val="600"/>
              </a:spcAft>
            </a:pPr>
            <a:r>
              <a:rPr lang="en-US" sz="2400" smtClean="0">
                <a:latin typeface="Arial" charset="0"/>
                <a:cs typeface="Arial" charset="0"/>
              </a:rPr>
              <a:t>Fires</a:t>
            </a:r>
          </a:p>
          <a:p>
            <a:pPr eaLnBrk="1" hangingPunct="1">
              <a:spcBef>
                <a:spcPts val="1200"/>
              </a:spcBef>
              <a:spcAft>
                <a:spcPts val="600"/>
              </a:spcAft>
            </a:pPr>
            <a:r>
              <a:rPr lang="en-US" sz="2400" smtClean="0">
                <a:latin typeface="Arial" charset="0"/>
                <a:cs typeface="Arial" charset="0"/>
              </a:rPr>
              <a:t>Explosions</a:t>
            </a:r>
          </a:p>
          <a:p>
            <a:pPr eaLnBrk="1" hangingPunct="1">
              <a:spcBef>
                <a:spcPts val="1200"/>
              </a:spcBef>
              <a:spcAft>
                <a:spcPts val="600"/>
              </a:spcAft>
            </a:pPr>
            <a:r>
              <a:rPr lang="en-US" sz="2400" smtClean="0">
                <a:latin typeface="Arial" charset="0"/>
                <a:cs typeface="Arial" charset="0"/>
              </a:rPr>
              <a:t>Loss of confinement/containment</a:t>
            </a:r>
          </a:p>
          <a:p>
            <a:pPr eaLnBrk="1" hangingPunct="1">
              <a:spcBef>
                <a:spcPts val="1200"/>
              </a:spcBef>
              <a:spcAft>
                <a:spcPts val="600"/>
              </a:spcAft>
            </a:pPr>
            <a:r>
              <a:rPr lang="en-US" sz="2400" smtClean="0">
                <a:latin typeface="Arial" charset="0"/>
                <a:cs typeface="Arial" charset="0"/>
              </a:rPr>
              <a:t>Process upsets (starting in preliminary design)</a:t>
            </a:r>
          </a:p>
          <a:p>
            <a:pPr eaLnBrk="1" hangingPunct="1">
              <a:spcBef>
                <a:spcPts val="1200"/>
              </a:spcBef>
              <a:spcAft>
                <a:spcPts val="600"/>
              </a:spcAft>
            </a:pPr>
            <a:r>
              <a:rPr lang="en-US" sz="2400" smtClean="0">
                <a:latin typeface="Arial" charset="0"/>
                <a:cs typeface="Arial" charset="0"/>
              </a:rPr>
              <a:t>Natural Phenomena Hazards</a:t>
            </a:r>
          </a:p>
          <a:p>
            <a:pPr eaLnBrk="1" hangingPunct="1">
              <a:spcBef>
                <a:spcPts val="1200"/>
              </a:spcBef>
              <a:spcAft>
                <a:spcPts val="600"/>
              </a:spcAft>
            </a:pPr>
            <a:r>
              <a:rPr lang="en-US" sz="2400" smtClean="0">
                <a:latin typeface="Arial" charset="0"/>
                <a:cs typeface="Arial" charset="0"/>
              </a:rPr>
              <a:t>Design basis accidents (for the accident types)</a:t>
            </a:r>
          </a:p>
          <a:p>
            <a:pPr eaLnBrk="1" hangingPunct="1">
              <a:spcBef>
                <a:spcPts val="1200"/>
              </a:spcBef>
              <a:spcAft>
                <a:spcPts val="600"/>
              </a:spcAft>
            </a:pPr>
            <a:r>
              <a:rPr lang="en-US" sz="2400" smtClean="0">
                <a:latin typeface="Arial" charset="0"/>
                <a:cs typeface="Arial" charset="0"/>
              </a:rPr>
              <a:t>Beyond design basis accidents (starting in preliminary design)</a:t>
            </a:r>
          </a:p>
          <a:p>
            <a:pPr eaLnBrk="1" hangingPunct="1">
              <a:buFont typeface="Arial" charset="0"/>
              <a:buChar char="•"/>
            </a:pPr>
            <a:endParaRPr lang="en-US" sz="2400" smtClean="0">
              <a:latin typeface="Arial" charset="0"/>
              <a:cs typeface="Arial" charset="0"/>
            </a:endParaRPr>
          </a:p>
        </p:txBody>
      </p:sp>
      <p:sp>
        <p:nvSpPr>
          <p:cNvPr id="106500" name="Title 1"/>
          <p:cNvSpPr txBox="1">
            <a:spLocks/>
          </p:cNvSpPr>
          <p:nvPr/>
        </p:nvSpPr>
        <p:spPr bwMode="auto">
          <a:xfrm>
            <a:off x="2286000" y="1981200"/>
            <a:ext cx="5257800" cy="1143000"/>
          </a:xfrm>
          <a:prstGeom prst="rect">
            <a:avLst/>
          </a:prstGeom>
          <a:noFill/>
          <a:ln w="9525">
            <a:noFill/>
            <a:miter lim="800000"/>
            <a:headEnd/>
            <a:tailEnd/>
          </a:ln>
        </p:spPr>
        <p:txBody>
          <a:bodyPr anchor="ctr"/>
          <a:lstStyle/>
          <a:p>
            <a:pPr algn="ctr" eaLnBrk="0" hangingPunct="0"/>
            <a:endParaRPr lang="en-US" sz="2800" b="1">
              <a:latin typeface="Calibri" pitchFamily="34" charset="0"/>
            </a:endParaRPr>
          </a:p>
        </p:txBody>
      </p:sp>
      <p:sp>
        <p:nvSpPr>
          <p:cNvPr id="6" name="Slide Number Placeholder 5"/>
          <p:cNvSpPr>
            <a:spLocks noGrp="1"/>
          </p:cNvSpPr>
          <p:nvPr>
            <p:ph type="sldNum" sz="quarter" idx="10"/>
          </p:nvPr>
        </p:nvSpPr>
        <p:spPr/>
        <p:txBody>
          <a:bodyPr/>
          <a:lstStyle/>
          <a:p>
            <a:pPr>
              <a:defRPr/>
            </a:pPr>
            <a:fld id="{050CA55B-31FD-4F07-9E56-315FB706DDBF}" type="slidenum">
              <a:rPr lang="en-US" smtClean="0"/>
              <a:pPr>
                <a:defRPr/>
              </a:pPr>
              <a:t>91</a:t>
            </a:fld>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pPr eaLnBrk="1" hangingPunct="1"/>
            <a:r>
              <a:rPr lang="en-US" sz="3200" smtClean="0">
                <a:latin typeface="Arial" charset="0"/>
                <a:cs typeface="Arial" charset="0"/>
              </a:rPr>
              <a:t>Hazard and Accident Analysis:</a:t>
            </a:r>
            <a:br>
              <a:rPr lang="en-US" sz="3200" smtClean="0">
                <a:latin typeface="Arial" charset="0"/>
                <a:cs typeface="Arial" charset="0"/>
              </a:rPr>
            </a:br>
            <a:r>
              <a:rPr lang="en-US" sz="2400" smtClean="0">
                <a:latin typeface="Arial" charset="0"/>
                <a:cs typeface="Arial" charset="0"/>
              </a:rPr>
              <a:t>Outputs to Engineering Design </a:t>
            </a:r>
            <a:endParaRPr lang="en-US" sz="3200" smtClean="0">
              <a:latin typeface="Arial" charset="0"/>
              <a:cs typeface="Arial" charset="0"/>
            </a:endParaRPr>
          </a:p>
        </p:txBody>
      </p:sp>
      <p:sp>
        <p:nvSpPr>
          <p:cNvPr id="117763" name="Content Placeholder 2"/>
          <p:cNvSpPr>
            <a:spLocks noGrp="1"/>
          </p:cNvSpPr>
          <p:nvPr>
            <p:ph idx="1"/>
          </p:nvPr>
        </p:nvSpPr>
        <p:spPr>
          <a:xfrm>
            <a:off x="533400" y="1981200"/>
            <a:ext cx="8234363" cy="4267200"/>
          </a:xfrm>
        </p:spPr>
        <p:txBody>
          <a:bodyPr/>
          <a:lstStyle/>
          <a:p>
            <a:pPr eaLnBrk="1" hangingPunct="1">
              <a:spcBef>
                <a:spcPts val="1200"/>
              </a:spcBef>
              <a:spcAft>
                <a:spcPts val="0"/>
              </a:spcAft>
              <a:defRPr/>
            </a:pPr>
            <a:r>
              <a:rPr lang="en-US" sz="2400" dirty="0" smtClean="0"/>
              <a:t>For Structures, Systems, and Components (SSCs), based on DOE O 420.1B safety design requirements</a:t>
            </a:r>
          </a:p>
          <a:p>
            <a:pPr marL="688975" eaLnBrk="1" hangingPunct="1">
              <a:spcBef>
                <a:spcPts val="1200"/>
              </a:spcBef>
              <a:spcAft>
                <a:spcPts val="0"/>
              </a:spcAft>
              <a:buFont typeface="Arial" pitchFamily="34" charset="0"/>
              <a:buChar char="-"/>
              <a:defRPr/>
            </a:pPr>
            <a:r>
              <a:rPr lang="en-US" sz="2000" dirty="0" smtClean="0"/>
              <a:t>Performance Categories (wind, flood, etc.)</a:t>
            </a:r>
          </a:p>
          <a:p>
            <a:pPr marL="688975" eaLnBrk="1" hangingPunct="1">
              <a:spcBef>
                <a:spcPts val="1200"/>
              </a:spcBef>
              <a:spcAft>
                <a:spcPts val="0"/>
              </a:spcAft>
              <a:buFont typeface="Arial" pitchFamily="34" charset="0"/>
              <a:buChar char="-"/>
              <a:defRPr/>
            </a:pPr>
            <a:r>
              <a:rPr lang="en-US" sz="2000" dirty="0" smtClean="0"/>
              <a:t>Seismic Design Basis </a:t>
            </a:r>
          </a:p>
          <a:p>
            <a:pPr marL="688975" eaLnBrk="1" hangingPunct="1">
              <a:spcBef>
                <a:spcPts val="1200"/>
              </a:spcBef>
              <a:spcAft>
                <a:spcPts val="0"/>
              </a:spcAft>
              <a:buFont typeface="Arial" pitchFamily="34" charset="0"/>
              <a:buChar char="-"/>
              <a:defRPr/>
            </a:pPr>
            <a:r>
              <a:rPr lang="en-US" sz="2000" dirty="0" smtClean="0"/>
              <a:t>Safety Class functions</a:t>
            </a:r>
          </a:p>
          <a:p>
            <a:pPr marL="688975" eaLnBrk="1" hangingPunct="1">
              <a:spcBef>
                <a:spcPts val="1200"/>
              </a:spcBef>
              <a:spcAft>
                <a:spcPts val="0"/>
              </a:spcAft>
              <a:buFont typeface="Arial" pitchFamily="34" charset="0"/>
              <a:buChar char="-"/>
              <a:defRPr/>
            </a:pPr>
            <a:r>
              <a:rPr lang="en-US" sz="2000" dirty="0" smtClean="0"/>
              <a:t>Safety Significant functions</a:t>
            </a:r>
          </a:p>
          <a:p>
            <a:pPr marL="688975" eaLnBrk="1" hangingPunct="1">
              <a:spcBef>
                <a:spcPts val="1200"/>
              </a:spcBef>
              <a:spcAft>
                <a:spcPts val="0"/>
              </a:spcAft>
              <a:buFont typeface="Arial" pitchFamily="34" charset="0"/>
              <a:buChar char="-"/>
              <a:defRPr/>
            </a:pPr>
            <a:r>
              <a:rPr lang="en-US" sz="2000" dirty="0" smtClean="0"/>
              <a:t>Defense in depth /Important to Safety (ITS) safety functions</a:t>
            </a:r>
            <a:endParaRPr lang="en-US" sz="2400" dirty="0" smtClean="0"/>
          </a:p>
          <a:p>
            <a:pPr eaLnBrk="1" hangingPunct="1">
              <a:spcBef>
                <a:spcPts val="1200"/>
              </a:spcBef>
              <a:spcAft>
                <a:spcPts val="0"/>
              </a:spcAft>
              <a:defRPr/>
            </a:pPr>
            <a:r>
              <a:rPr lang="en-US" sz="2400" dirty="0" smtClean="0"/>
              <a:t>Design codes and standards from Guides associated with DOE O 420.1B</a:t>
            </a:r>
          </a:p>
          <a:p>
            <a:pPr eaLnBrk="1" hangingPunct="1">
              <a:buFont typeface="Arial" charset="0"/>
              <a:buChar char="•"/>
              <a:defRPr/>
            </a:pPr>
            <a:endParaRPr lang="en-US" sz="2400" dirty="0" smtClean="0"/>
          </a:p>
          <a:p>
            <a:pPr eaLnBrk="1" hangingPunct="1">
              <a:buFont typeface="Arial" charset="0"/>
              <a:buChar char="•"/>
              <a:defRPr/>
            </a:pPr>
            <a:endParaRPr lang="en-US" sz="2400" dirty="0" smtClean="0"/>
          </a:p>
        </p:txBody>
      </p:sp>
      <p:sp>
        <p:nvSpPr>
          <p:cNvPr id="5" name="Title 1"/>
          <p:cNvSpPr txBox="1">
            <a:spLocks/>
          </p:cNvSpPr>
          <p:nvPr/>
        </p:nvSpPr>
        <p:spPr bwMode="auto">
          <a:xfrm>
            <a:off x="457200" y="274638"/>
            <a:ext cx="8229600" cy="1143000"/>
          </a:xfrm>
          <a:prstGeom prst="rect">
            <a:avLst/>
          </a:prstGeom>
          <a:noFill/>
          <a:ln w="9525">
            <a:noFill/>
            <a:miter lim="800000"/>
            <a:headEnd/>
            <a:tailEnd/>
          </a:ln>
        </p:spPr>
        <p:txBody>
          <a:bodyPr anchor="ctr"/>
          <a:lstStyle/>
          <a:p>
            <a:pPr algn="ctr" eaLnBrk="0" hangingPunct="0">
              <a:defRPr/>
            </a:pPr>
            <a:endParaRPr lang="en-US" sz="2400" b="1" cap="small" dirty="0">
              <a:latin typeface="+mj-lt"/>
              <a:ea typeface="+mj-ea"/>
              <a:cs typeface="+mj-cs"/>
            </a:endParaRPr>
          </a:p>
        </p:txBody>
      </p:sp>
      <p:sp>
        <p:nvSpPr>
          <p:cNvPr id="6" name="Slide Number Placeholder 5"/>
          <p:cNvSpPr>
            <a:spLocks noGrp="1"/>
          </p:cNvSpPr>
          <p:nvPr>
            <p:ph type="sldNum" sz="quarter" idx="10"/>
          </p:nvPr>
        </p:nvSpPr>
        <p:spPr/>
        <p:txBody>
          <a:bodyPr/>
          <a:lstStyle/>
          <a:p>
            <a:pPr>
              <a:defRPr/>
            </a:pPr>
            <a:fld id="{5315BCE7-D4F4-4D69-B249-248C2395A472}" type="slidenum">
              <a:rPr lang="en-US" smtClean="0"/>
              <a:pPr>
                <a:defRPr/>
              </a:pPr>
              <a:t>92</a:t>
            </a:fld>
            <a:endParaRPr lang="en-US"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rtlCol="0">
            <a:noAutofit/>
          </a:bodyPr>
          <a:lstStyle/>
          <a:p>
            <a:pPr eaLnBrk="1" fontAlgn="auto" hangingPunct="1">
              <a:spcAft>
                <a:spcPts val="0"/>
              </a:spcAft>
              <a:defRPr/>
            </a:pPr>
            <a:r>
              <a:rPr lang="en-US" sz="2400" cap="small" dirty="0" smtClean="0"/>
              <a:t>Hazard Analysis and </a:t>
            </a:r>
            <a:br>
              <a:rPr lang="en-US" sz="2400" cap="small" dirty="0" smtClean="0"/>
            </a:br>
            <a:r>
              <a:rPr lang="en-US" sz="2400" cap="small" dirty="0" smtClean="0"/>
              <a:t>Design Basis Accidents (DBAs) </a:t>
            </a:r>
            <a:br>
              <a:rPr lang="en-US" sz="2400" cap="small" dirty="0" smtClean="0"/>
            </a:br>
            <a:r>
              <a:rPr lang="en-US" sz="2400" cap="small" dirty="0" smtClean="0"/>
              <a:t>at Conceptual Design</a:t>
            </a:r>
          </a:p>
        </p:txBody>
      </p:sp>
      <p:sp>
        <p:nvSpPr>
          <p:cNvPr id="108547" name="Rectangle 3"/>
          <p:cNvSpPr>
            <a:spLocks noGrp="1" noChangeArrowheads="1"/>
          </p:cNvSpPr>
          <p:nvPr>
            <p:ph idx="1"/>
          </p:nvPr>
        </p:nvSpPr>
        <p:spPr>
          <a:xfrm>
            <a:off x="533400" y="1981200"/>
            <a:ext cx="8234363" cy="4267200"/>
          </a:xfrm>
        </p:spPr>
        <p:txBody>
          <a:bodyPr/>
          <a:lstStyle/>
          <a:p>
            <a:pPr eaLnBrk="1" hangingPunct="1">
              <a:spcBef>
                <a:spcPts val="1200"/>
              </a:spcBef>
              <a:spcAft>
                <a:spcPts val="600"/>
              </a:spcAft>
            </a:pPr>
            <a:r>
              <a:rPr lang="en-US" sz="2000" smtClean="0">
                <a:latin typeface="Arial" charset="0"/>
                <a:cs typeface="Arial" charset="0"/>
              </a:rPr>
              <a:t>Simple DBAs are postulated based on facility level upsets involving limiting quantities of MAR and facility layout</a:t>
            </a:r>
          </a:p>
          <a:p>
            <a:pPr eaLnBrk="1" hangingPunct="1">
              <a:spcBef>
                <a:spcPts val="1200"/>
              </a:spcBef>
              <a:spcAft>
                <a:spcPts val="600"/>
              </a:spcAft>
            </a:pPr>
            <a:r>
              <a:rPr lang="en-US" sz="2000" smtClean="0">
                <a:latin typeface="Arial" charset="0"/>
                <a:cs typeface="Arial" charset="0"/>
              </a:rPr>
              <a:t>Unmitigated consequences are assessed to help establish both needed safety function and safety classification of that function</a:t>
            </a:r>
          </a:p>
          <a:p>
            <a:pPr eaLnBrk="1" hangingPunct="1">
              <a:spcBef>
                <a:spcPts val="1200"/>
              </a:spcBef>
              <a:spcAft>
                <a:spcPts val="600"/>
              </a:spcAft>
            </a:pPr>
            <a:r>
              <a:rPr lang="en-US" sz="2000" smtClean="0">
                <a:latin typeface="Arial" charset="0"/>
                <a:cs typeface="Arial" charset="0"/>
              </a:rPr>
              <a:t>These accidents are analyzed for both collocated workers and public impact; they are to help define safety functional and design requirements</a:t>
            </a:r>
          </a:p>
          <a:p>
            <a:pPr eaLnBrk="1" hangingPunct="1">
              <a:spcBef>
                <a:spcPts val="1200"/>
              </a:spcBef>
              <a:spcAft>
                <a:spcPts val="600"/>
              </a:spcAft>
            </a:pPr>
            <a:r>
              <a:rPr lang="en-US" sz="2000" smtClean="0">
                <a:latin typeface="Arial" charset="0"/>
                <a:cs typeface="Arial" charset="0"/>
              </a:rPr>
              <a:t>DBAs are refined and expanded upon in later stages of project</a:t>
            </a:r>
          </a:p>
          <a:p>
            <a:pPr eaLnBrk="1" hangingPunct="1">
              <a:spcBef>
                <a:spcPts val="1200"/>
              </a:spcBef>
              <a:spcAft>
                <a:spcPts val="600"/>
              </a:spcAft>
            </a:pPr>
            <a:endParaRPr lang="en-US" sz="20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2BA72C6F-CACC-43F3-A07F-11FB4166906F}" type="slidenum">
              <a:rPr lang="en-US" smtClean="0"/>
              <a:pPr>
                <a:defRPr/>
              </a:pPr>
              <a:t>93</a:t>
            </a:fld>
            <a:endParaRPr lang="en-US" dirty="0"/>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Hazard Analysis (HA) </a:t>
            </a:r>
            <a:br>
              <a:rPr lang="en-US" sz="3200" cap="small" dirty="0" smtClean="0"/>
            </a:br>
            <a:r>
              <a:rPr lang="en-US" sz="3200" cap="small" dirty="0" smtClean="0"/>
              <a:t>at the Process Level</a:t>
            </a:r>
            <a:endParaRPr lang="en-US" sz="3200" dirty="0"/>
          </a:p>
        </p:txBody>
      </p:sp>
      <p:sp>
        <p:nvSpPr>
          <p:cNvPr id="109571" name="Content Placeholder 2"/>
          <p:cNvSpPr>
            <a:spLocks noGrp="1"/>
          </p:cNvSpPr>
          <p:nvPr>
            <p:ph idx="1"/>
          </p:nvPr>
        </p:nvSpPr>
        <p:spPr>
          <a:xfrm>
            <a:off x="533400" y="2057400"/>
            <a:ext cx="8234363" cy="4191000"/>
          </a:xfrm>
        </p:spPr>
        <p:txBody>
          <a:bodyPr/>
          <a:lstStyle/>
          <a:p>
            <a:pPr eaLnBrk="1" hangingPunct="1"/>
            <a:r>
              <a:rPr lang="en-US" sz="2400" smtClean="0">
                <a:latin typeface="Arial" charset="0"/>
                <a:cs typeface="Arial" charset="0"/>
              </a:rPr>
              <a:t>HA and design iteration</a:t>
            </a:r>
            <a:endParaRPr lang="en-US" sz="2000" smtClean="0">
              <a:latin typeface="Arial" charset="0"/>
              <a:cs typeface="Arial" charset="0"/>
            </a:endParaRPr>
          </a:p>
          <a:p>
            <a:pPr lvl="1" eaLnBrk="1" hangingPunct="1">
              <a:buFont typeface="Arial" charset="0"/>
              <a:buChar char="–"/>
            </a:pPr>
            <a:r>
              <a:rPr lang="en-US" sz="2000" smtClean="0">
                <a:solidFill>
                  <a:schemeClr val="tx1"/>
                </a:solidFill>
                <a:latin typeface="Arial" charset="0"/>
                <a:cs typeface="Arial" charset="0"/>
              </a:rPr>
              <a:t>HA activities support identification of safety functions and selection of DBAs</a:t>
            </a:r>
          </a:p>
          <a:p>
            <a:pPr lvl="1" eaLnBrk="1" hangingPunct="1">
              <a:buFont typeface="Arial" charset="0"/>
              <a:buChar char="–"/>
            </a:pPr>
            <a:r>
              <a:rPr lang="en-US" sz="2000" smtClean="0">
                <a:solidFill>
                  <a:schemeClr val="tx1"/>
                </a:solidFill>
                <a:latin typeface="Arial" charset="0"/>
                <a:cs typeface="Arial" charset="0"/>
              </a:rPr>
              <a:t>Includes consideration of in-facility workers</a:t>
            </a:r>
          </a:p>
          <a:p>
            <a:pPr lvl="1" eaLnBrk="1" hangingPunct="1">
              <a:buFont typeface="Arial" charset="0"/>
              <a:buChar char="–"/>
            </a:pPr>
            <a:r>
              <a:rPr lang="en-US" sz="2000" smtClean="0">
                <a:solidFill>
                  <a:schemeClr val="tx1"/>
                </a:solidFill>
                <a:latin typeface="Arial" charset="0"/>
                <a:cs typeface="Arial" charset="0"/>
              </a:rPr>
              <a:t>DBAs and safety functions support design selection and associated design criteria</a:t>
            </a:r>
          </a:p>
          <a:p>
            <a:pPr lvl="1" eaLnBrk="1" hangingPunct="1">
              <a:buFont typeface="Arial" charset="0"/>
              <a:buChar char="–"/>
            </a:pPr>
            <a:r>
              <a:rPr lang="en-US" sz="2000" smtClean="0">
                <a:solidFill>
                  <a:schemeClr val="tx1"/>
                </a:solidFill>
                <a:latin typeface="Arial" charset="0"/>
                <a:cs typeface="Arial" charset="0"/>
              </a:rPr>
              <a:t>Design selection / criteria support development of a refined HA for the PSDR</a:t>
            </a:r>
          </a:p>
          <a:p>
            <a:pPr lvl="1" eaLnBrk="1" hangingPunct="1">
              <a:buFont typeface="Arial" charset="0"/>
              <a:buChar char="–"/>
            </a:pPr>
            <a:r>
              <a:rPr lang="en-US" sz="2000" smtClean="0">
                <a:solidFill>
                  <a:schemeClr val="tx1"/>
                </a:solidFill>
                <a:latin typeface="Arial" charset="0"/>
                <a:cs typeface="Arial" charset="0"/>
              </a:rPr>
              <a:t>Several iterations may be necessary as preliminary design progresses</a:t>
            </a:r>
          </a:p>
          <a:p>
            <a:pPr lvl="1" eaLnBrk="1" hangingPunct="1">
              <a:buFont typeface="Arial" charset="0"/>
              <a:buChar char="–"/>
            </a:pPr>
            <a:r>
              <a:rPr lang="en-US" sz="2000" smtClean="0">
                <a:solidFill>
                  <a:schemeClr val="tx1"/>
                </a:solidFill>
                <a:latin typeface="Arial" charset="0"/>
                <a:cs typeface="Arial" charset="0"/>
              </a:rPr>
              <a:t>Hazard Analysis table updated as necessary</a:t>
            </a:r>
            <a:endParaRPr lang="en-US"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57DBA23D-797E-477F-B686-98E4AB50705A}" type="slidenum">
              <a:rPr lang="en-US" smtClean="0"/>
              <a:pPr>
                <a:defRPr/>
              </a:pPr>
              <a:t>94</a:t>
            </a:fld>
            <a:endParaRPr lang="en-US"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title"/>
          </p:nvPr>
        </p:nvSpPr>
        <p:spPr/>
        <p:txBody>
          <a:bodyPr/>
          <a:lstStyle/>
          <a:p>
            <a:pPr eaLnBrk="1" hangingPunct="1"/>
            <a:r>
              <a:rPr lang="en-US" sz="3200" smtClean="0">
                <a:latin typeface="Arial" charset="0"/>
                <a:cs typeface="Arial" charset="0"/>
              </a:rPr>
              <a:t>Design Basis Accidents in Preliminary Design</a:t>
            </a:r>
          </a:p>
        </p:txBody>
      </p:sp>
      <p:sp>
        <p:nvSpPr>
          <p:cNvPr id="110595" name="Rectangle 3"/>
          <p:cNvSpPr>
            <a:spLocks noGrp="1" noChangeArrowheads="1"/>
          </p:cNvSpPr>
          <p:nvPr>
            <p:ph idx="1"/>
          </p:nvPr>
        </p:nvSpPr>
        <p:spPr/>
        <p:txBody>
          <a:bodyPr/>
          <a:lstStyle/>
          <a:p>
            <a:pPr eaLnBrk="1" hangingPunct="1">
              <a:lnSpc>
                <a:spcPct val="105000"/>
              </a:lnSpc>
            </a:pPr>
            <a:r>
              <a:rPr lang="en-US" sz="2400" smtClean="0">
                <a:latin typeface="Arial" charset="0"/>
                <a:cs typeface="Arial" charset="0"/>
              </a:rPr>
              <a:t>The Design Basis Accidents (DBAs):</a:t>
            </a:r>
          </a:p>
          <a:p>
            <a:pPr lvl="1" eaLnBrk="1" hangingPunct="1">
              <a:lnSpc>
                <a:spcPct val="105000"/>
              </a:lnSpc>
              <a:buFont typeface="Arial" charset="0"/>
              <a:buChar char="–"/>
            </a:pPr>
            <a:r>
              <a:rPr lang="en-US" sz="2000" smtClean="0">
                <a:solidFill>
                  <a:schemeClr val="tx1"/>
                </a:solidFill>
                <a:latin typeface="Arial" charset="0"/>
                <a:cs typeface="Arial" charset="0"/>
              </a:rPr>
              <a:t>Refined from Conceptual Design based on system design</a:t>
            </a:r>
          </a:p>
          <a:p>
            <a:pPr lvl="1" eaLnBrk="1" hangingPunct="1">
              <a:lnSpc>
                <a:spcPct val="105000"/>
              </a:lnSpc>
              <a:buFont typeface="Arial" charset="0"/>
              <a:buChar char="–"/>
            </a:pPr>
            <a:r>
              <a:rPr lang="en-US" sz="2000" smtClean="0">
                <a:solidFill>
                  <a:schemeClr val="tx1"/>
                </a:solidFill>
                <a:latin typeface="Arial" charset="0"/>
                <a:cs typeface="Arial" charset="0"/>
              </a:rPr>
              <a:t>Provide input for new or revised design criteria</a:t>
            </a:r>
          </a:p>
          <a:p>
            <a:pPr lvl="1" eaLnBrk="1" hangingPunct="1">
              <a:lnSpc>
                <a:spcPct val="105000"/>
              </a:lnSpc>
              <a:buFont typeface="Arial" charset="0"/>
              <a:buChar char="–"/>
            </a:pPr>
            <a:r>
              <a:rPr lang="en-US" sz="2000" smtClean="0">
                <a:solidFill>
                  <a:schemeClr val="tx1"/>
                </a:solidFill>
                <a:latin typeface="Arial" charset="0"/>
                <a:cs typeface="Arial" charset="0"/>
              </a:rPr>
              <a:t>Establish system-level safety classification</a:t>
            </a:r>
          </a:p>
          <a:p>
            <a:pPr lvl="1" eaLnBrk="1" hangingPunct="1">
              <a:lnSpc>
                <a:spcPct val="105000"/>
              </a:lnSpc>
              <a:buFont typeface="Arial" charset="0"/>
              <a:buChar char="–"/>
            </a:pPr>
            <a:endParaRPr lang="en-US" sz="2000" smtClean="0">
              <a:solidFill>
                <a:schemeClr val="tx1"/>
              </a:solidFill>
              <a:latin typeface="Arial" charset="0"/>
              <a:cs typeface="Arial" charset="0"/>
            </a:endParaRPr>
          </a:p>
          <a:p>
            <a:pPr eaLnBrk="1" hangingPunct="1">
              <a:lnSpc>
                <a:spcPct val="105000"/>
              </a:lnSpc>
            </a:pPr>
            <a:r>
              <a:rPr lang="en-US" sz="2400" smtClean="0">
                <a:latin typeface="Arial" charset="0"/>
                <a:cs typeface="Arial" charset="0"/>
              </a:rPr>
              <a:t>DBAs are selected based on safety function and magnitude of hazard</a:t>
            </a:r>
          </a:p>
          <a:p>
            <a:pPr lvl="1" eaLnBrk="1" hangingPunct="1">
              <a:lnSpc>
                <a:spcPct val="105000"/>
              </a:lnSpc>
              <a:buFont typeface="Arial" charset="0"/>
              <a:buChar char="–"/>
            </a:pPr>
            <a:r>
              <a:rPr lang="en-US" sz="2000" smtClean="0">
                <a:solidFill>
                  <a:schemeClr val="tx1"/>
                </a:solidFill>
                <a:latin typeface="Arial" charset="0"/>
                <a:cs typeface="Arial" charset="0"/>
              </a:rPr>
              <a:t>Consider public and collocated worker consequences </a:t>
            </a:r>
          </a:p>
        </p:txBody>
      </p:sp>
      <p:sp>
        <p:nvSpPr>
          <p:cNvPr id="5" name="Slide Number Placeholder 4"/>
          <p:cNvSpPr>
            <a:spLocks noGrp="1"/>
          </p:cNvSpPr>
          <p:nvPr>
            <p:ph type="sldNum" sz="quarter" idx="10"/>
          </p:nvPr>
        </p:nvSpPr>
        <p:spPr/>
        <p:txBody>
          <a:bodyPr/>
          <a:lstStyle/>
          <a:p>
            <a:pPr>
              <a:defRPr/>
            </a:pPr>
            <a:fld id="{4CDCDD01-05DA-4373-AA67-8C713856B496}" type="slidenum">
              <a:rPr lang="en-US" smtClean="0"/>
              <a:pPr>
                <a:defRPr/>
              </a:pPr>
              <a:t>95</a:t>
            </a:fld>
            <a:endParaRPr lang="en-US"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rtlCol="0">
            <a:noAutofit/>
          </a:bodyPr>
          <a:lstStyle/>
          <a:p>
            <a:pPr eaLnBrk="1" fontAlgn="auto" hangingPunct="1">
              <a:spcAft>
                <a:spcPts val="0"/>
              </a:spcAft>
              <a:defRPr/>
            </a:pPr>
            <a:r>
              <a:rPr lang="en-US" sz="3200" cap="small" dirty="0" smtClean="0"/>
              <a:t>Safety Interface with Design </a:t>
            </a:r>
            <a:br>
              <a:rPr lang="en-US" sz="3200" cap="small" dirty="0" smtClean="0"/>
            </a:br>
            <a:r>
              <a:rPr lang="en-US" sz="1800" cap="small" dirty="0" smtClean="0"/>
              <a:t>(Slide 1 of 2)</a:t>
            </a:r>
            <a:endParaRPr lang="en-US" sz="3200" cap="small" dirty="0" smtClean="0"/>
          </a:p>
        </p:txBody>
      </p:sp>
      <p:sp>
        <p:nvSpPr>
          <p:cNvPr id="111619" name="Rectangle 3"/>
          <p:cNvSpPr>
            <a:spLocks noGrp="1" noChangeArrowheads="1"/>
          </p:cNvSpPr>
          <p:nvPr>
            <p:ph idx="1"/>
          </p:nvPr>
        </p:nvSpPr>
        <p:spPr/>
        <p:txBody>
          <a:bodyPr/>
          <a:lstStyle/>
          <a:p>
            <a:pPr eaLnBrk="1" hangingPunct="1">
              <a:spcBef>
                <a:spcPts val="1200"/>
              </a:spcBef>
              <a:spcAft>
                <a:spcPts val="600"/>
              </a:spcAft>
            </a:pPr>
            <a:r>
              <a:rPr lang="en-US" sz="2400" smtClean="0">
                <a:latin typeface="Arial" charset="0"/>
                <a:cs typeface="Arial" charset="0"/>
              </a:rPr>
              <a:t>Assist designers in understanding and addressing</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Safety requirements from hazards and accident analyses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Safety implications associated with design alternatives and trade studies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Safety interpretation of DOE O 420.1B and DOE G 420.1-1 requirements and recommendations</a:t>
            </a:r>
          </a:p>
          <a:p>
            <a:pPr lvl="1" eaLnBrk="1" hangingPunct="1">
              <a:lnSpc>
                <a:spcPct val="65000"/>
              </a:lnSpc>
              <a:buFont typeface="Arial" charset="0"/>
              <a:buChar char="–"/>
            </a:pPr>
            <a:endParaRPr lang="en-US" sz="2000"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A7D5D9F3-DCA3-4390-8F0E-5CAE29189167}" type="slidenum">
              <a:rPr lang="en-US" smtClean="0"/>
              <a:pPr>
                <a:defRPr/>
              </a:pPr>
              <a:t>96</a:t>
            </a:fld>
            <a:endParaRPr lang="en-US" dirty="0"/>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Safety Interface with Design</a:t>
            </a:r>
            <a:br>
              <a:rPr lang="en-US" sz="3200" cap="small" dirty="0" smtClean="0"/>
            </a:br>
            <a:r>
              <a:rPr lang="en-US" sz="1800" cap="small" dirty="0" smtClean="0"/>
              <a:t>(Slide 2 of 2)</a:t>
            </a:r>
            <a:endParaRPr lang="en-US" sz="3200" dirty="0"/>
          </a:p>
        </p:txBody>
      </p:sp>
      <p:sp>
        <p:nvSpPr>
          <p:cNvPr id="112643" name="Content Placeholder 2"/>
          <p:cNvSpPr>
            <a:spLocks noGrp="1"/>
          </p:cNvSpPr>
          <p:nvPr>
            <p:ph idx="1"/>
          </p:nvPr>
        </p:nvSpPr>
        <p:spPr/>
        <p:txBody>
          <a:bodyPr/>
          <a:lstStyle/>
          <a:p>
            <a:pPr eaLnBrk="1" hangingPunct="1">
              <a:spcBef>
                <a:spcPts val="1200"/>
              </a:spcBef>
            </a:pPr>
            <a:r>
              <a:rPr lang="en-US" sz="2400" smtClean="0">
                <a:latin typeface="Arial" charset="0"/>
                <a:cs typeface="Arial" charset="0"/>
              </a:rPr>
              <a:t>Safety input into System Design Descriptions (SDD) </a:t>
            </a:r>
            <a:endParaRPr lang="en-US" sz="2000" smtClean="0">
              <a:latin typeface="Arial" charset="0"/>
              <a:cs typeface="Arial" charset="0"/>
            </a:endParaRPr>
          </a:p>
          <a:p>
            <a:pPr lvl="1" eaLnBrk="1" hangingPunct="1">
              <a:spcBef>
                <a:spcPts val="1200"/>
              </a:spcBef>
              <a:buFont typeface="Arial" charset="0"/>
              <a:buChar char="–"/>
            </a:pPr>
            <a:r>
              <a:rPr lang="en-US" sz="2000" smtClean="0">
                <a:solidFill>
                  <a:schemeClr val="tx1"/>
                </a:solidFill>
                <a:latin typeface="Arial" charset="0"/>
                <a:cs typeface="Arial" charset="0"/>
              </a:rPr>
              <a:t>System boundaries</a:t>
            </a:r>
          </a:p>
          <a:p>
            <a:pPr lvl="1" eaLnBrk="1" hangingPunct="1">
              <a:spcBef>
                <a:spcPts val="1200"/>
              </a:spcBef>
              <a:buFont typeface="Arial" charset="0"/>
              <a:buChar char="–"/>
            </a:pPr>
            <a:r>
              <a:rPr lang="en-US" sz="2000" smtClean="0">
                <a:solidFill>
                  <a:schemeClr val="tx1"/>
                </a:solidFill>
                <a:latin typeface="Arial" charset="0"/>
                <a:cs typeface="Arial" charset="0"/>
              </a:rPr>
              <a:t>Safety functions and requirements</a:t>
            </a:r>
          </a:p>
          <a:p>
            <a:pPr lvl="1" eaLnBrk="1" hangingPunct="1">
              <a:spcBef>
                <a:spcPts val="1200"/>
              </a:spcBef>
              <a:buFont typeface="Arial" charset="0"/>
              <a:buChar char="–"/>
            </a:pPr>
            <a:r>
              <a:rPr lang="en-US" sz="2000" smtClean="0">
                <a:solidFill>
                  <a:schemeClr val="tx1"/>
                </a:solidFill>
                <a:latin typeface="Arial" charset="0"/>
                <a:cs typeface="Arial" charset="0"/>
              </a:rPr>
              <a:t>Supporting analyses (safety SSCs can provide safety function when called upon)</a:t>
            </a:r>
          </a:p>
          <a:p>
            <a:pPr eaLnBrk="1" hangingPunct="1">
              <a:spcBef>
                <a:spcPts val="1200"/>
              </a:spcBef>
            </a:pPr>
            <a:r>
              <a:rPr lang="en-US" sz="2400" smtClean="0">
                <a:latin typeface="Arial" charset="0"/>
                <a:cs typeface="Arial" charset="0"/>
              </a:rPr>
              <a:t>Project design reviews </a:t>
            </a:r>
          </a:p>
          <a:p>
            <a:pPr lvl="1" eaLnBrk="1" hangingPunct="1">
              <a:spcBef>
                <a:spcPts val="1200"/>
              </a:spcBef>
              <a:buFont typeface="Arial" charset="0"/>
              <a:buChar char="–"/>
            </a:pPr>
            <a:r>
              <a:rPr lang="en-US" sz="2000" smtClean="0">
                <a:solidFill>
                  <a:schemeClr val="tx1"/>
                </a:solidFill>
                <a:latin typeface="Arial" charset="0"/>
                <a:cs typeface="Arial" charset="0"/>
              </a:rPr>
              <a:t>Include safety design basis information and information included in design products (e.g., SDDs)</a:t>
            </a:r>
          </a:p>
          <a:p>
            <a:endParaRPr lang="en-US"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62F61886-5D51-4BEF-9278-92A7C6134453}" type="slidenum">
              <a:rPr lang="en-US" smtClean="0"/>
              <a:pPr>
                <a:defRPr/>
              </a:pPr>
              <a:t>97</a:t>
            </a:fld>
            <a:endParaRPr 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fontScale="90000"/>
          </a:bodyPr>
          <a:lstStyle/>
          <a:p>
            <a:pPr eaLnBrk="1" fontAlgn="auto" hangingPunct="1">
              <a:spcAft>
                <a:spcPts val="0"/>
              </a:spcAft>
              <a:defRPr/>
            </a:pPr>
            <a:r>
              <a:rPr lang="en-US" sz="3200" cap="small" dirty="0" smtClean="0"/>
              <a:t>When to Communicate</a:t>
            </a:r>
            <a:br>
              <a:rPr lang="en-US" sz="3200" cap="small" dirty="0" smtClean="0"/>
            </a:br>
            <a:r>
              <a:rPr lang="en-US" sz="3200" cap="small" dirty="0" smtClean="0"/>
              <a:t>Between</a:t>
            </a:r>
            <a:br>
              <a:rPr lang="en-US" sz="3200" cap="small" dirty="0" smtClean="0"/>
            </a:br>
            <a:r>
              <a:rPr lang="en-US" sz="3200" cap="small" dirty="0" smtClean="0"/>
              <a:t>Design and Safety</a:t>
            </a:r>
            <a:endParaRPr lang="en-US" sz="3200" cap="small" dirty="0"/>
          </a:p>
        </p:txBody>
      </p:sp>
      <p:graphicFrame>
        <p:nvGraphicFramePr>
          <p:cNvPr id="809026" name="Group 66"/>
          <p:cNvGraphicFramePr>
            <a:graphicFrameLocks noGrp="1"/>
          </p:cNvGraphicFramePr>
          <p:nvPr/>
        </p:nvGraphicFramePr>
        <p:xfrm>
          <a:off x="228600" y="1981200"/>
          <a:ext cx="8763000" cy="4081463"/>
        </p:xfrm>
        <a:graphic>
          <a:graphicData uri="http://schemas.openxmlformats.org/drawingml/2006/table">
            <a:tbl>
              <a:tblPr/>
              <a:tblGrid>
                <a:gridCol w="1854200"/>
                <a:gridCol w="4318000"/>
                <a:gridCol w="2590800"/>
              </a:tblGrid>
              <a:tr h="219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tx1"/>
                          </a:solidFill>
                          <a:effectLst/>
                          <a:latin typeface="Calibri" pitchFamily="34" charset="0"/>
                          <a:cs typeface="Times New Roman" pitchFamily="18" charset="0"/>
                        </a:rPr>
                        <a:t>Factor</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cs typeface="Times New Roman" pitchFamily="18" charset="0"/>
                        </a:rPr>
                        <a:t>Engineering Design</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chemeClr val="tx1"/>
                          </a:solidFill>
                          <a:effectLst/>
                          <a:latin typeface="Calibri" pitchFamily="34" charset="0"/>
                          <a:cs typeface="Times New Roman" pitchFamily="18" charset="0"/>
                        </a:rPr>
                        <a:t>Safety</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981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Potential Accident Scenarios</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1" fontAlgn="base" latinLnBrk="0" hangingPunct="1">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Changes in facility or process layout</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Barriers to accident propagation established, changed, or removed (e.g., fire barriers, separation of hazardous materials)</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Introduction of new sources of energy or hazard (e.g., chemical, mechanical, kinetic, potential, flammable, explosive)</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6">
                  <a:txBody>
                    <a:bodyPr/>
                    <a:lstStyle/>
                    <a:p>
                      <a:pPr marL="0" marR="0" lvl="0" indent="0" algn="l" defTabSz="914400" rtl="0" eaLnBrk="1" fontAlgn="base" latinLnBrk="0" hangingPunct="1">
                        <a:lnSpc>
                          <a:spcPct val="100000"/>
                        </a:lnSpc>
                        <a:spcBef>
                          <a:spcPct val="0"/>
                        </a:spcBef>
                        <a:spcAft>
                          <a:spcPct val="0"/>
                        </a:spcAft>
                        <a:buClrTx/>
                        <a:buSzTx/>
                        <a:buFontTx/>
                        <a:buNone/>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Effect of any design factor where change:</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ts val="60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Introduces a new accident scenario</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ts val="60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alters a safety function for an SSC</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ts val="60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results in a change in safety functional classification, reliability, or design standards</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ts val="60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requires a new safety SSC or implies a new TSR control</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ts val="60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significantly alters process design or its basis</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7381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Material at Risk (MAR)</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1" fontAlgn="base" latinLnBrk="0" hangingPunct="1">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Tank Size</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Process details (e.g., inventory in </a:t>
                      </a:r>
                      <a:r>
                        <a:rPr kumimoji="0" lang="en-US" sz="1200" b="1" i="0" u="none" strike="noStrike" cap="none" normalizeH="0" baseline="0" dirty="0" err="1" smtClean="0">
                          <a:ln>
                            <a:noFill/>
                          </a:ln>
                          <a:solidFill>
                            <a:schemeClr val="tx1"/>
                          </a:solidFill>
                          <a:effectLst/>
                          <a:latin typeface="Calibri" pitchFamily="34" charset="0"/>
                          <a:cs typeface="Times New Roman" pitchFamily="18" charset="0"/>
                        </a:rPr>
                        <a:t>gloveboxes</a:t>
                      </a: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Total facility inventory, including all hazardous materials</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r>
              <a:tr h="2952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Damage Ratio (DR)</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Facility and/or process layout, including fire barriers</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r>
              <a:tr h="238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Airborne Release Fraction</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MAR material type and form (gaseous, powder, solid)</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r>
              <a:tr h="3238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smtClean="0">
                          <a:ln>
                            <a:noFill/>
                          </a:ln>
                          <a:solidFill>
                            <a:schemeClr val="tx1"/>
                          </a:solidFill>
                          <a:effectLst/>
                          <a:latin typeface="Calibri" pitchFamily="34" charset="0"/>
                          <a:cs typeface="Times New Roman" pitchFamily="18" charset="0"/>
                        </a:rPr>
                        <a:t>Leakpath Factor (LPF)</a:t>
                      </a:r>
                      <a:endParaRPr kumimoji="0" lang="en-US" sz="1800" b="1"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1" fontAlgn="base" latinLnBrk="0" hangingPunct="1">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Physical barriers to release of hazardous materials</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Building seismic design basis (SDB: Seismic Design Category/Limit State (SDC/LS))</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r>
              <a:tr h="23812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Chi over Q (X/Q)</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34950" marR="0" lvl="0" indent="-234950" algn="l" defTabSz="914400" rtl="0" eaLnBrk="1" fontAlgn="base" latinLnBrk="0" hangingPunct="1">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Location change</a:t>
                      </a:r>
                      <a:endParaRPr kumimoji="0" lang="en-US" sz="1000" b="1" i="0" u="none" strike="noStrike" cap="none" normalizeH="0" baseline="0" dirty="0" smtClean="0">
                        <a:ln>
                          <a:noFill/>
                        </a:ln>
                        <a:solidFill>
                          <a:schemeClr val="tx1"/>
                        </a:solidFill>
                        <a:effectLst/>
                        <a:latin typeface="Times New Roman" pitchFamily="18" charset="0"/>
                        <a:cs typeface="Times New Roman" pitchFamily="18" charset="0"/>
                      </a:endParaRPr>
                    </a:p>
                    <a:p>
                      <a:pPr marL="234950" marR="0" lvl="0" indent="-234950" algn="l" defTabSz="914400" rtl="0" eaLnBrk="0" fontAlgn="base" latinLnBrk="0" hangingPunct="0">
                        <a:lnSpc>
                          <a:spcPct val="100000"/>
                        </a:lnSpc>
                        <a:spcBef>
                          <a:spcPct val="0"/>
                        </a:spcBef>
                        <a:spcAft>
                          <a:spcPct val="0"/>
                        </a:spcAft>
                        <a:buClrTx/>
                        <a:buSzTx/>
                        <a:buFont typeface="Arial" charset="0"/>
                        <a:buChar char="•"/>
                        <a:tabLst>
                          <a:tab pos="457200" algn="l"/>
                        </a:tabLst>
                      </a:pPr>
                      <a:r>
                        <a:rPr kumimoji="0" lang="en-US" sz="1200" b="1" i="0" u="none" strike="noStrike" cap="none" normalizeH="0" baseline="0" dirty="0" smtClean="0">
                          <a:ln>
                            <a:noFill/>
                          </a:ln>
                          <a:solidFill>
                            <a:schemeClr val="tx1"/>
                          </a:solidFill>
                          <a:effectLst/>
                          <a:latin typeface="Calibri" pitchFamily="34" charset="0"/>
                          <a:cs typeface="Times New Roman" pitchFamily="18" charset="0"/>
                        </a:rPr>
                        <a:t>Definition of site boundary</a:t>
                      </a:r>
                      <a:endParaRPr kumimoji="0" lang="en-US" sz="1800" b="1"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r>
            </a:tbl>
          </a:graphicData>
        </a:graphic>
      </p:graphicFrame>
      <p:sp>
        <p:nvSpPr>
          <p:cNvPr id="6" name="Slide Number Placeholder 5"/>
          <p:cNvSpPr>
            <a:spLocks noGrp="1"/>
          </p:cNvSpPr>
          <p:nvPr>
            <p:ph type="sldNum" sz="quarter" idx="10"/>
          </p:nvPr>
        </p:nvSpPr>
        <p:spPr/>
        <p:txBody>
          <a:bodyPr/>
          <a:lstStyle/>
          <a:p>
            <a:pPr>
              <a:defRPr/>
            </a:pPr>
            <a:fld id="{F40F8C35-14EA-4EFC-A881-7AA959AE11EC}" type="slidenum">
              <a:rPr lang="en-US" smtClean="0"/>
              <a:pPr>
                <a:defRPr/>
              </a:pPr>
              <a:t>98</a:t>
            </a:fld>
            <a:endParaRPr lang="en-US" dirty="0"/>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2800" cap="small" dirty="0" smtClean="0"/>
              <a:t>Quality Assurance Program</a:t>
            </a:r>
            <a:br>
              <a:rPr lang="en-US" sz="2800" cap="small" dirty="0" smtClean="0"/>
            </a:br>
            <a:r>
              <a:rPr lang="en-US" sz="2800" cap="small" dirty="0" smtClean="0"/>
              <a:t>Activities for Design Process</a:t>
            </a:r>
            <a:endParaRPr lang="en-US" sz="2800" cap="small" dirty="0"/>
          </a:p>
        </p:txBody>
      </p:sp>
      <p:sp>
        <p:nvSpPr>
          <p:cNvPr id="114691" name="Content Placeholder 2"/>
          <p:cNvSpPr>
            <a:spLocks noGrp="1"/>
          </p:cNvSpPr>
          <p:nvPr>
            <p:ph idx="1"/>
          </p:nvPr>
        </p:nvSpPr>
        <p:spPr>
          <a:xfrm>
            <a:off x="533400" y="1981200"/>
            <a:ext cx="8234363" cy="4033838"/>
          </a:xfrm>
        </p:spPr>
        <p:txBody>
          <a:bodyPr/>
          <a:lstStyle/>
          <a:p>
            <a:pPr eaLnBrk="1" hangingPunct="1">
              <a:spcBef>
                <a:spcPts val="1200"/>
              </a:spcBef>
              <a:spcAft>
                <a:spcPts val="600"/>
              </a:spcAft>
            </a:pPr>
            <a:r>
              <a:rPr lang="en-US" sz="2000" smtClean="0">
                <a:latin typeface="Arial" charset="0"/>
                <a:cs typeface="Arial" charset="0"/>
              </a:rPr>
              <a:t>Establish formal work processes (document control, verification processes, configuration management)</a:t>
            </a:r>
          </a:p>
          <a:p>
            <a:pPr eaLnBrk="1" hangingPunct="1">
              <a:spcBef>
                <a:spcPts val="1200"/>
              </a:spcBef>
              <a:spcAft>
                <a:spcPts val="600"/>
              </a:spcAft>
            </a:pPr>
            <a:r>
              <a:rPr lang="en-US" sz="2000" smtClean="0">
                <a:latin typeface="Arial" charset="0"/>
                <a:cs typeface="Arial" charset="0"/>
              </a:rPr>
              <a:t>Training on standards, requirements, work processes</a:t>
            </a:r>
          </a:p>
          <a:p>
            <a:pPr eaLnBrk="1" hangingPunct="1">
              <a:spcBef>
                <a:spcPts val="1200"/>
              </a:spcBef>
              <a:spcAft>
                <a:spcPts val="600"/>
              </a:spcAft>
            </a:pPr>
            <a:r>
              <a:rPr lang="en-US" sz="2000" smtClean="0">
                <a:latin typeface="Arial" charset="0"/>
                <a:cs typeface="Arial" charset="0"/>
              </a:rPr>
              <a:t>Periodic assessments of documentation</a:t>
            </a:r>
          </a:p>
          <a:p>
            <a:pPr eaLnBrk="1" hangingPunct="1">
              <a:spcBef>
                <a:spcPts val="1200"/>
              </a:spcBef>
              <a:spcAft>
                <a:spcPts val="600"/>
              </a:spcAft>
            </a:pPr>
            <a:r>
              <a:rPr lang="en-US" sz="2000" smtClean="0">
                <a:latin typeface="Arial" charset="0"/>
                <a:cs typeface="Arial" charset="0"/>
              </a:rPr>
              <a:t>Independent design verifications, validations, assessments</a:t>
            </a:r>
          </a:p>
          <a:p>
            <a:pPr eaLnBrk="1" hangingPunct="1">
              <a:spcBef>
                <a:spcPts val="1200"/>
              </a:spcBef>
              <a:spcAft>
                <a:spcPts val="600"/>
              </a:spcAft>
            </a:pPr>
            <a:r>
              <a:rPr lang="en-US" sz="2000" smtClean="0">
                <a:latin typeface="Arial" charset="0"/>
                <a:cs typeface="Arial" charset="0"/>
              </a:rPr>
              <a:t>Controlling documents and drawings and changes to them to approved processes</a:t>
            </a:r>
          </a:p>
          <a:p>
            <a:pPr eaLnBrk="1" hangingPunct="1">
              <a:spcBef>
                <a:spcPts val="1200"/>
              </a:spcBef>
              <a:spcAft>
                <a:spcPts val="600"/>
              </a:spcAft>
            </a:pPr>
            <a:r>
              <a:rPr lang="en-US" sz="2000" smtClean="0">
                <a:latin typeface="Arial" charset="0"/>
                <a:cs typeface="Arial" charset="0"/>
              </a:rPr>
              <a:t>Identifying and controlling design interfaces</a:t>
            </a:r>
          </a:p>
          <a:p>
            <a:pPr eaLnBrk="1" hangingPunct="1">
              <a:spcBef>
                <a:spcPts val="1200"/>
              </a:spcBef>
              <a:spcAft>
                <a:spcPts val="600"/>
              </a:spcAft>
            </a:pPr>
            <a:endParaRPr lang="en-US" sz="2000" smtClean="0">
              <a:latin typeface="Arial" charset="0"/>
              <a:cs typeface="Arial" charset="0"/>
            </a:endParaRPr>
          </a:p>
        </p:txBody>
      </p:sp>
      <p:sp>
        <p:nvSpPr>
          <p:cNvPr id="5" name="Rectangle 2"/>
          <p:cNvSpPr txBox="1">
            <a:spLocks noChangeArrowheads="1"/>
          </p:cNvSpPr>
          <p:nvPr/>
        </p:nvSpPr>
        <p:spPr bwMode="auto">
          <a:xfrm>
            <a:off x="457200" y="274638"/>
            <a:ext cx="8229600" cy="1143000"/>
          </a:xfrm>
          <a:prstGeom prst="rect">
            <a:avLst/>
          </a:prstGeom>
          <a:noFill/>
          <a:ln w="9525">
            <a:noFill/>
            <a:miter lim="800000"/>
            <a:headEnd/>
            <a:tailEnd/>
          </a:ln>
        </p:spPr>
        <p:txBody>
          <a:bodyPr anchor="ctr">
            <a:normAutofit/>
          </a:bodyPr>
          <a:lstStyle/>
          <a:p>
            <a:pPr algn="ctr" fontAlgn="auto">
              <a:spcAft>
                <a:spcPts val="0"/>
              </a:spcAft>
              <a:defRPr/>
            </a:pPr>
            <a:endParaRPr lang="en-US" sz="2800" b="1" cap="small" dirty="0">
              <a:latin typeface="+mj-lt"/>
              <a:ea typeface="+mj-ea"/>
              <a:cs typeface="+mj-cs"/>
            </a:endParaRPr>
          </a:p>
        </p:txBody>
      </p:sp>
      <p:sp>
        <p:nvSpPr>
          <p:cNvPr id="6" name="Slide Number Placeholder 5"/>
          <p:cNvSpPr>
            <a:spLocks noGrp="1"/>
          </p:cNvSpPr>
          <p:nvPr>
            <p:ph type="sldNum" sz="quarter" idx="10"/>
          </p:nvPr>
        </p:nvSpPr>
        <p:spPr/>
        <p:txBody>
          <a:bodyPr/>
          <a:lstStyle/>
          <a:p>
            <a:pPr>
              <a:defRPr/>
            </a:pPr>
            <a:fld id="{5DD46CB1-9226-49C0-8217-D6DEB0A43A62}" type="slidenum">
              <a:rPr lang="en-US" smtClean="0"/>
              <a:pPr>
                <a:defRPr/>
              </a:pPr>
              <a:t>99</a:t>
            </a:fld>
            <a:endParaRPr lang="en-US" dirty="0"/>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6" name="Rectangle 4"/>
          <p:cNvSpPr>
            <a:spLocks noGrp="1" noChangeArrowheads="1"/>
          </p:cNvSpPr>
          <p:nvPr>
            <p:ph type="title"/>
          </p:nvPr>
        </p:nvSpPr>
        <p:spPr/>
        <p:txBody>
          <a:bodyPr rtlCol="0">
            <a:normAutofit/>
          </a:bodyPr>
          <a:lstStyle/>
          <a:p>
            <a:pPr eaLnBrk="1" fontAlgn="auto" hangingPunct="1">
              <a:spcAft>
                <a:spcPts val="0"/>
              </a:spcAft>
              <a:defRPr/>
            </a:pPr>
            <a:r>
              <a:rPr lang="en-US" sz="2800" cap="small" dirty="0" smtClean="0"/>
              <a:t>Safety and Design Integration</a:t>
            </a:r>
            <a:r>
              <a:rPr lang="en-US" sz="2800" dirty="0" smtClean="0"/>
              <a:t> </a:t>
            </a:r>
            <a:br>
              <a:rPr lang="en-US" sz="2800" dirty="0" smtClean="0"/>
            </a:br>
            <a:r>
              <a:rPr lang="en-US" sz="2800" dirty="0" smtClean="0"/>
              <a:t>DOE-STD-1189-2008</a:t>
            </a:r>
          </a:p>
        </p:txBody>
      </p:sp>
      <p:sp>
        <p:nvSpPr>
          <p:cNvPr id="115715" name="Rectangle 5"/>
          <p:cNvSpPr>
            <a:spLocks noGrp="1" noChangeArrowheads="1"/>
          </p:cNvSpPr>
          <p:nvPr>
            <p:ph idx="1"/>
          </p:nvPr>
        </p:nvSpPr>
        <p:spPr/>
        <p:txBody>
          <a:bodyPr/>
          <a:lstStyle/>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r>
              <a:rPr lang="en-US" smtClean="0">
                <a:solidFill>
                  <a:srgbClr val="C00000"/>
                </a:solidFill>
                <a:latin typeface="Arial" charset="0"/>
                <a:cs typeface="Arial" charset="0"/>
              </a:rPr>
              <a:t>Appendix A – Safety System Design Criteria</a:t>
            </a:r>
          </a:p>
        </p:txBody>
      </p:sp>
      <p:sp>
        <p:nvSpPr>
          <p:cNvPr id="4" name="Slide Number Placeholder 3"/>
          <p:cNvSpPr>
            <a:spLocks noGrp="1"/>
          </p:cNvSpPr>
          <p:nvPr>
            <p:ph type="sldNum" sz="quarter" idx="10"/>
          </p:nvPr>
        </p:nvSpPr>
        <p:spPr/>
        <p:txBody>
          <a:bodyPr/>
          <a:lstStyle/>
          <a:p>
            <a:pPr>
              <a:defRPr/>
            </a:pPr>
            <a:fld id="{EE5663FD-D90F-483E-B9EE-B373C423EC94}" type="slidenum">
              <a:rPr lang="en-US" smtClean="0"/>
              <a:pPr>
                <a:defRPr/>
              </a:pPr>
              <a:t>100</a:t>
            </a:fld>
            <a:endParaRPr lang="en-US"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eaLnBrk="1" hangingPunct="1"/>
            <a:r>
              <a:rPr lang="en-US" sz="3200" smtClean="0">
                <a:latin typeface="Arial" charset="0"/>
                <a:cs typeface="Arial" charset="0"/>
              </a:rPr>
              <a:t>Purpose of Appendix A </a:t>
            </a:r>
          </a:p>
        </p:txBody>
      </p:sp>
      <p:sp>
        <p:nvSpPr>
          <p:cNvPr id="13317" name="Rectangle 3"/>
          <p:cNvSpPr>
            <a:spLocks noGrp="1" noChangeArrowheads="1"/>
          </p:cNvSpPr>
          <p:nvPr>
            <p:ph idx="1"/>
          </p:nvPr>
        </p:nvSpPr>
        <p:spPr>
          <a:xfrm>
            <a:off x="533400" y="1981200"/>
            <a:ext cx="8234363" cy="4267200"/>
          </a:xfrm>
        </p:spPr>
        <p:txBody>
          <a:bodyPr/>
          <a:lstStyle/>
          <a:p>
            <a:pPr marL="0" indent="14288" eaLnBrk="1" hangingPunct="1">
              <a:spcBef>
                <a:spcPts val="1200"/>
              </a:spcBef>
              <a:spcAft>
                <a:spcPts val="600"/>
              </a:spcAft>
              <a:buFont typeface="Wingdings" pitchFamily="2" charset="2"/>
              <a:buNone/>
              <a:defRPr/>
            </a:pPr>
            <a:r>
              <a:rPr lang="en-US" sz="2400" dirty="0" smtClean="0"/>
              <a:t>Provides objective criteria requirements for specification of the seismic design basis and for safety classifications of safety SSCs</a:t>
            </a:r>
          </a:p>
          <a:p>
            <a:pPr marL="690563" lvl="1" indent="-441325" eaLnBrk="1" hangingPunct="1">
              <a:spcBef>
                <a:spcPts val="1200"/>
              </a:spcBef>
              <a:spcAft>
                <a:spcPts val="600"/>
              </a:spcAft>
              <a:defRPr/>
            </a:pPr>
            <a:r>
              <a:rPr lang="en-US" sz="2000" dirty="0" smtClean="0">
                <a:solidFill>
                  <a:srgbClr val="002060"/>
                </a:solidFill>
              </a:rPr>
              <a:t>Seismic design basis includes specification of seismic design category (SDC) and limit state (LS) for a safety SSC based on radiological hazards</a:t>
            </a:r>
          </a:p>
          <a:p>
            <a:pPr marL="690563" lvl="1" indent="-441325" eaLnBrk="1" hangingPunct="1">
              <a:spcBef>
                <a:spcPts val="1200"/>
              </a:spcBef>
              <a:spcAft>
                <a:spcPts val="600"/>
              </a:spcAft>
              <a:defRPr/>
            </a:pPr>
            <a:r>
              <a:rPr lang="en-US" sz="2000" dirty="0" smtClean="0">
                <a:solidFill>
                  <a:srgbClr val="002060"/>
                </a:solidFill>
              </a:rPr>
              <a:t>Adds collocated worker Safety Significant radiological classification criterion along with Safety Class criterion for the public</a:t>
            </a:r>
          </a:p>
          <a:p>
            <a:pPr marL="1009650" lvl="1" indent="-609600" eaLnBrk="1" hangingPunct="1">
              <a:lnSpc>
                <a:spcPct val="105000"/>
              </a:lnSpc>
              <a:defRPr/>
            </a:pPr>
            <a:endParaRPr lang="en-US" dirty="0" smtClean="0"/>
          </a:p>
        </p:txBody>
      </p:sp>
      <p:sp>
        <p:nvSpPr>
          <p:cNvPr id="35" name="Slide Number Placeholder 34"/>
          <p:cNvSpPr>
            <a:spLocks noGrp="1"/>
          </p:cNvSpPr>
          <p:nvPr>
            <p:ph type="sldNum" sz="quarter" idx="10"/>
          </p:nvPr>
        </p:nvSpPr>
        <p:spPr/>
        <p:txBody>
          <a:bodyPr/>
          <a:lstStyle/>
          <a:p>
            <a:pPr>
              <a:defRPr/>
            </a:pPr>
            <a:fld id="{0FB6B47E-4319-4747-9705-278B3A495448}" type="slidenum">
              <a:rPr lang="en-US" smtClean="0"/>
              <a:pPr>
                <a:defRPr/>
              </a:pPr>
              <a:t>101</a:t>
            </a:fld>
            <a:endParaRPr lang="en-US"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marL="838200" indent="-838200" eaLnBrk="1" hangingPunct="1"/>
            <a:r>
              <a:rPr lang="en-US" sz="3200" smtClean="0">
                <a:latin typeface="Arial" charset="0"/>
                <a:cs typeface="Arial" charset="0"/>
              </a:rPr>
              <a:t>Seismic Design Basis</a:t>
            </a:r>
          </a:p>
        </p:txBody>
      </p:sp>
      <p:sp>
        <p:nvSpPr>
          <p:cNvPr id="117763" name="Rectangle 3"/>
          <p:cNvSpPr>
            <a:spLocks noGrp="1" noChangeArrowheads="1"/>
          </p:cNvSpPr>
          <p:nvPr>
            <p:ph idx="1"/>
          </p:nvPr>
        </p:nvSpPr>
        <p:spPr/>
        <p:txBody>
          <a:bodyPr/>
          <a:lstStyle/>
          <a:p>
            <a:pPr marL="0" indent="14288" eaLnBrk="1" hangingPunct="1">
              <a:spcBef>
                <a:spcPts val="1200"/>
              </a:spcBef>
              <a:spcAft>
                <a:spcPts val="600"/>
              </a:spcAft>
              <a:buFont typeface="Wingdings" pitchFamily="2" charset="2"/>
              <a:buNone/>
            </a:pPr>
            <a:r>
              <a:rPr lang="en-US" sz="2400" smtClean="0">
                <a:latin typeface="Arial" charset="0"/>
                <a:cs typeface="Arial" charset="0"/>
              </a:rPr>
              <a:t>Applies recently published national standards for seismic design of non-reactor nuclear facilities</a:t>
            </a:r>
          </a:p>
          <a:p>
            <a:pPr marL="685800" lvl="1" indent="-422275" eaLnBrk="1" hangingPunct="1">
              <a:spcBef>
                <a:spcPts val="1200"/>
              </a:spcBef>
              <a:spcAft>
                <a:spcPts val="600"/>
              </a:spcAft>
            </a:pPr>
            <a:r>
              <a:rPr lang="en-US" sz="2000" smtClean="0">
                <a:solidFill>
                  <a:srgbClr val="002060"/>
                </a:solidFill>
                <a:latin typeface="Arial" charset="0"/>
                <a:cs typeface="Arial" charset="0"/>
              </a:rPr>
              <a:t>ANSI/ANS 2.26-2004, </a:t>
            </a:r>
            <a:r>
              <a:rPr lang="en-US" sz="2000" i="1" smtClean="0">
                <a:solidFill>
                  <a:srgbClr val="002060"/>
                </a:solidFill>
                <a:latin typeface="Arial" charset="0"/>
                <a:cs typeface="Arial" charset="0"/>
              </a:rPr>
              <a:t>Categorization of Nuclear Facility Structures, Systems and Components for Seismic Design</a:t>
            </a:r>
            <a:r>
              <a:rPr lang="en-US" sz="2000" smtClean="0">
                <a:solidFill>
                  <a:srgbClr val="002060"/>
                </a:solidFill>
                <a:latin typeface="Arial" charset="0"/>
                <a:cs typeface="Arial" charset="0"/>
              </a:rPr>
              <a:t>; and</a:t>
            </a:r>
          </a:p>
          <a:p>
            <a:pPr marL="685800" lvl="1" indent="-422275" eaLnBrk="1" hangingPunct="1">
              <a:spcBef>
                <a:spcPts val="1200"/>
              </a:spcBef>
              <a:spcAft>
                <a:spcPts val="600"/>
              </a:spcAft>
            </a:pPr>
            <a:r>
              <a:rPr lang="en-US" sz="2000" smtClean="0">
                <a:solidFill>
                  <a:srgbClr val="002060"/>
                </a:solidFill>
                <a:latin typeface="Arial" charset="0"/>
                <a:cs typeface="Arial" charset="0"/>
              </a:rPr>
              <a:t>ASCE/SEI 43-05, </a:t>
            </a:r>
            <a:r>
              <a:rPr lang="en-US" sz="2000" i="1" smtClean="0">
                <a:solidFill>
                  <a:srgbClr val="002060"/>
                </a:solidFill>
                <a:latin typeface="Arial" charset="0"/>
                <a:cs typeface="Arial" charset="0"/>
              </a:rPr>
              <a:t>Seismic Design Criteria for Structures, Systems, and Components in Nuclear Facilities</a:t>
            </a:r>
            <a:r>
              <a:rPr lang="en-US" sz="2000" smtClean="0">
                <a:solidFill>
                  <a:srgbClr val="002060"/>
                </a:solidFill>
                <a:latin typeface="Arial" charset="0"/>
                <a:cs typeface="Arial" charset="0"/>
              </a:rPr>
              <a:t>. </a:t>
            </a:r>
          </a:p>
        </p:txBody>
      </p:sp>
      <p:sp>
        <p:nvSpPr>
          <p:cNvPr id="35" name="Slide Number Placeholder 34"/>
          <p:cNvSpPr>
            <a:spLocks noGrp="1"/>
          </p:cNvSpPr>
          <p:nvPr>
            <p:ph type="sldNum" sz="quarter" idx="10"/>
          </p:nvPr>
        </p:nvSpPr>
        <p:spPr/>
        <p:txBody>
          <a:bodyPr/>
          <a:lstStyle/>
          <a:p>
            <a:pPr>
              <a:defRPr/>
            </a:pPr>
            <a:fld id="{B2BB857C-7E00-49C6-9961-2F5CB1F5E62A}" type="slidenum">
              <a:rPr lang="en-US" smtClean="0"/>
              <a:pPr>
                <a:defRPr/>
              </a:pPr>
              <a:t>102</a:t>
            </a:fld>
            <a:endParaRPr 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p:txBody>
          <a:bodyPr/>
          <a:lstStyle/>
          <a:p>
            <a:pPr eaLnBrk="1" hangingPunct="1"/>
            <a:r>
              <a:rPr lang="en-US" sz="3200" smtClean="0">
                <a:latin typeface="Arial" charset="0"/>
                <a:cs typeface="Arial" charset="0"/>
              </a:rPr>
              <a:t>Seismic Design Standards</a:t>
            </a:r>
          </a:p>
        </p:txBody>
      </p:sp>
      <p:sp>
        <p:nvSpPr>
          <p:cNvPr id="118787" name="Rectangle 3"/>
          <p:cNvSpPr>
            <a:spLocks noGrp="1" noChangeArrowheads="1"/>
          </p:cNvSpPr>
          <p:nvPr>
            <p:ph idx="1"/>
          </p:nvPr>
        </p:nvSpPr>
        <p:spPr/>
        <p:txBody>
          <a:bodyPr/>
          <a:lstStyle/>
          <a:p>
            <a:pPr marL="457200" indent="-442913" eaLnBrk="1" hangingPunct="1">
              <a:spcBef>
                <a:spcPts val="1200"/>
              </a:spcBef>
              <a:spcAft>
                <a:spcPts val="600"/>
              </a:spcAft>
            </a:pPr>
            <a:r>
              <a:rPr lang="en-US" sz="2400" smtClean="0">
                <a:latin typeface="Arial" charset="0"/>
                <a:cs typeface="Arial" charset="0"/>
              </a:rPr>
              <a:t>ANSI/ANS 2.26 provides seismic design bases (SDC and LS) for safety SSCs based on unmitigated radiological dose (as modified by DOE) to collocated workers and to the public </a:t>
            </a:r>
            <a:r>
              <a:rPr lang="en-US" sz="2400" i="1" smtClean="0">
                <a:latin typeface="Arial" charset="0"/>
                <a:cs typeface="Arial" charset="0"/>
              </a:rPr>
              <a:t>and on the safety function of the safety SSC.  </a:t>
            </a:r>
            <a:endParaRPr lang="en-US" sz="2400" smtClean="0">
              <a:latin typeface="Arial" charset="0"/>
              <a:cs typeface="Arial" charset="0"/>
            </a:endParaRPr>
          </a:p>
          <a:p>
            <a:pPr marL="457200" indent="-442913" eaLnBrk="1" hangingPunct="1">
              <a:spcBef>
                <a:spcPts val="1200"/>
              </a:spcBef>
              <a:spcAft>
                <a:spcPts val="600"/>
              </a:spcAft>
            </a:pPr>
            <a:r>
              <a:rPr lang="en-US" sz="2400" smtClean="0">
                <a:latin typeface="Arial" charset="0"/>
                <a:cs typeface="Arial" charset="0"/>
              </a:rPr>
              <a:t>ASCE/SEI 43-05 provides the design criteria to use with the seismic design basis (SDB)</a:t>
            </a:r>
          </a:p>
        </p:txBody>
      </p:sp>
      <p:sp>
        <p:nvSpPr>
          <p:cNvPr id="35" name="Slide Number Placeholder 34"/>
          <p:cNvSpPr>
            <a:spLocks noGrp="1"/>
          </p:cNvSpPr>
          <p:nvPr>
            <p:ph type="sldNum" sz="quarter" idx="10"/>
          </p:nvPr>
        </p:nvSpPr>
        <p:spPr/>
        <p:txBody>
          <a:bodyPr/>
          <a:lstStyle/>
          <a:p>
            <a:pPr>
              <a:defRPr/>
            </a:pPr>
            <a:fld id="{056CA177-31C2-4B50-90FE-BA4311A030EC}" type="slidenum">
              <a:rPr lang="en-US" smtClean="0"/>
              <a:pPr>
                <a:defRPr/>
              </a:pPr>
              <a:t>103</a:t>
            </a:fld>
            <a:endParaRPr 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8"/>
          <p:cNvSpPr>
            <a:spLocks noGrp="1" noChangeArrowheads="1"/>
          </p:cNvSpPr>
          <p:nvPr>
            <p:ph type="title"/>
          </p:nvPr>
        </p:nvSpPr>
        <p:spPr/>
        <p:txBody>
          <a:bodyPr/>
          <a:lstStyle/>
          <a:p>
            <a:pPr eaLnBrk="1" hangingPunct="1"/>
            <a:r>
              <a:rPr lang="en-US" sz="3200" smtClean="0">
                <a:latin typeface="Arial" charset="0"/>
                <a:cs typeface="Arial" charset="0"/>
              </a:rPr>
              <a:t>Seismic Design Criteria</a:t>
            </a:r>
          </a:p>
        </p:txBody>
      </p:sp>
      <p:sp>
        <p:nvSpPr>
          <p:cNvPr id="119811" name="Rectangle 10"/>
          <p:cNvSpPr>
            <a:spLocks noChangeArrowheads="1"/>
          </p:cNvSpPr>
          <p:nvPr/>
        </p:nvSpPr>
        <p:spPr bwMode="auto">
          <a:xfrm>
            <a:off x="457200" y="4803775"/>
            <a:ext cx="8153400" cy="1477963"/>
          </a:xfrm>
          <a:prstGeom prst="rect">
            <a:avLst/>
          </a:prstGeom>
          <a:noFill/>
          <a:ln w="9525" algn="ctr">
            <a:noFill/>
            <a:miter lim="800000"/>
            <a:headEnd/>
            <a:tailEnd/>
          </a:ln>
        </p:spPr>
        <p:txBody>
          <a:bodyPr anchor="ctr">
            <a:spAutoFit/>
          </a:bodyPr>
          <a:lstStyle/>
          <a:p>
            <a:pPr marL="346075" indent="-346075"/>
            <a:r>
              <a:rPr lang="en-US">
                <a:latin typeface="Calibri" pitchFamily="34" charset="0"/>
              </a:rPr>
              <a:t>*	Using the safety classification methodology for public and collocated workers</a:t>
            </a:r>
          </a:p>
          <a:p>
            <a:pPr marL="346075" indent="-346075"/>
            <a:endParaRPr lang="en-US">
              <a:latin typeface="Calibri" pitchFamily="34" charset="0"/>
            </a:endParaRPr>
          </a:p>
          <a:p>
            <a:pPr marL="346075" indent="-346075"/>
            <a:r>
              <a:rPr lang="en-US">
                <a:latin typeface="Calibri" pitchFamily="34" charset="0"/>
              </a:rPr>
              <a:t>**	If the public dose for SDC-3 is exceeded significantly for any project (between one and two orders of magnitude), then the possibility that SDC-4 should be invoked must be considered on a case-by-case basis. </a:t>
            </a:r>
          </a:p>
        </p:txBody>
      </p:sp>
      <p:graphicFrame>
        <p:nvGraphicFramePr>
          <p:cNvPr id="83073" name="Group 129"/>
          <p:cNvGraphicFramePr>
            <a:graphicFrameLocks noGrp="1"/>
          </p:cNvGraphicFramePr>
          <p:nvPr/>
        </p:nvGraphicFramePr>
        <p:xfrm>
          <a:off x="762000" y="1752600"/>
          <a:ext cx="7848600" cy="2895600"/>
        </p:xfrm>
        <a:graphic>
          <a:graphicData uri="http://schemas.openxmlformats.org/drawingml/2006/table">
            <a:tbl>
              <a:tblPr/>
              <a:tblGrid>
                <a:gridCol w="1453320"/>
                <a:gridCol w="2470981"/>
                <a:gridCol w="3924299"/>
              </a:tblGrid>
              <a:tr h="720244">
                <a:tc>
                  <a:txBody>
                    <a:bodyPr/>
                    <a:lstStyle/>
                    <a:p>
                      <a:pPr marL="0" marR="0" lvl="0" indent="0" algn="l" defTabSz="914400" rtl="0" eaLnBrk="0" fontAlgn="base" latinLnBrk="0" hangingPunct="0">
                        <a:lnSpc>
                          <a:spcPct val="100000"/>
                        </a:lnSpc>
                        <a:spcBef>
                          <a:spcPct val="20000"/>
                        </a:spcBef>
                        <a:spcAft>
                          <a:spcPct val="0"/>
                        </a:spcAft>
                        <a:buClrTx/>
                        <a:buSzTx/>
                        <a:buFont typeface="Arial" charset="0"/>
                        <a:buNone/>
                        <a:tabLst/>
                      </a:pPr>
                      <a:endParaRPr kumimoji="0" lang="en-US" sz="1400" b="0" i="0" u="none" strike="noStrike" cap="none" normalizeH="0" baseline="0" dirty="0" smtClean="0">
                        <a:ln>
                          <a:noFill/>
                        </a:ln>
                        <a:solidFill>
                          <a:schemeClr val="tx1"/>
                        </a:solidFill>
                        <a:effectLst/>
                        <a:latin typeface="Calibri" pitchFamily="34"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alibri" pitchFamily="34" charset="0"/>
                          <a:cs typeface="Times New Roman" pitchFamily="18" charset="0"/>
                        </a:rPr>
                        <a:t>Unmitigated Consequence of SSC Failure from a Seismic Event</a:t>
                      </a:r>
                      <a:endParaRPr kumimoji="0" lang="en-US" sz="1800" b="0"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r>
              <a:tr h="38388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Times New Roman" pitchFamily="18" charset="0"/>
                        </a:rPr>
                        <a:t>Category</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Times New Roman" pitchFamily="18" charset="0"/>
                        </a:rPr>
                        <a:t>Collocated Worker*</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Times New Roman" pitchFamily="18" charset="0"/>
                        </a:rPr>
                        <a:t>Public*</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77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Times New Roman" pitchFamily="18" charset="0"/>
                        </a:rPr>
                        <a:t>SDC-1</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Calibri" pitchFamily="34" charset="0"/>
                          <a:cs typeface="Times New Roman" pitchFamily="18" charset="0"/>
                        </a:rPr>
                        <a:t>Dose &lt; 5 rem</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Times New Roman" pitchFamily="18" charset="0"/>
                        </a:rPr>
                        <a:t>Not applicable </a:t>
                      </a:r>
                      <a:r>
                        <a:rPr kumimoji="0" lang="en-US" sz="1800" b="0" i="0" u="none" strike="noStrike" cap="none" normalizeH="0" baseline="0" dirty="0" smtClean="0">
                          <a:ln>
                            <a:noFill/>
                          </a:ln>
                          <a:solidFill>
                            <a:schemeClr val="tx1"/>
                          </a:solidFill>
                          <a:effectLst/>
                          <a:latin typeface="Arial" charset="0"/>
                          <a:cs typeface="Times New Roman" pitchFamily="18" charset="0"/>
                        </a:rPr>
                        <a:t>–</a:t>
                      </a:r>
                      <a:r>
                        <a:rPr kumimoji="0" lang="en-US" sz="1800" b="0" i="0" u="none" strike="noStrike" cap="none" normalizeH="0" baseline="0" dirty="0" smtClean="0">
                          <a:ln>
                            <a:noFill/>
                          </a:ln>
                          <a:solidFill>
                            <a:schemeClr val="tx1"/>
                          </a:solidFill>
                          <a:effectLst/>
                          <a:latin typeface="Calibri" pitchFamily="34" charset="0"/>
                          <a:cs typeface="Times New Roman" pitchFamily="18" charset="0"/>
                        </a:rPr>
                        <a:t> Defaults to SDC-1</a:t>
                      </a:r>
                      <a:endParaRPr kumimoji="0" lang="en-US" sz="1800" b="0"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59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Times New Roman" pitchFamily="18" charset="0"/>
                        </a:rPr>
                        <a:t>SDC-2</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Calibri" pitchFamily="34" charset="0"/>
                          <a:cs typeface="Times New Roman" pitchFamily="18" charset="0"/>
                        </a:rPr>
                        <a:t>5 rem &lt; dose &lt; 100 rem</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Calibri" pitchFamily="34" charset="0"/>
                          <a:cs typeface="Times New Roman" pitchFamily="18" charset="0"/>
                        </a:rPr>
                        <a:t>5 rem &lt; Dose &lt; 25 rem</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97766">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Times New Roman" pitchFamily="18" charset="0"/>
                        </a:rPr>
                        <a:t>SDC-3</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Calibri" pitchFamily="34" charset="0"/>
                          <a:cs typeface="Times New Roman" pitchFamily="18" charset="0"/>
                        </a:rPr>
                        <a:t>100 rem  &lt; dose</a:t>
                      </a:r>
                      <a:endParaRPr kumimoji="0" lang="en-US" sz="1800" b="0" i="0" u="none" strike="noStrike" cap="none" normalizeH="0" baseline="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Calibri" pitchFamily="34" charset="0"/>
                          <a:cs typeface="Times New Roman" pitchFamily="18" charset="0"/>
                        </a:rPr>
                        <a:t>25 </a:t>
                      </a:r>
                      <a:r>
                        <a:rPr kumimoji="0" lang="en-US" sz="1800" b="0" i="0" u="none" strike="noStrike" cap="none" normalizeH="0" baseline="0" dirty="0" err="1" smtClean="0">
                          <a:ln>
                            <a:noFill/>
                          </a:ln>
                          <a:solidFill>
                            <a:schemeClr val="tx1"/>
                          </a:solidFill>
                          <a:effectLst/>
                          <a:latin typeface="Calibri" pitchFamily="34" charset="0"/>
                          <a:cs typeface="Times New Roman" pitchFamily="18" charset="0"/>
                        </a:rPr>
                        <a:t>rem</a:t>
                      </a:r>
                      <a:r>
                        <a:rPr kumimoji="0" lang="en-US" sz="1800" b="0" i="0" u="none" strike="noStrike" cap="none" normalizeH="0" baseline="0" dirty="0" smtClean="0">
                          <a:ln>
                            <a:noFill/>
                          </a:ln>
                          <a:solidFill>
                            <a:schemeClr val="tx1"/>
                          </a:solidFill>
                          <a:effectLst/>
                          <a:latin typeface="Calibri" pitchFamily="34" charset="0"/>
                          <a:cs typeface="Times New Roman" pitchFamily="18" charset="0"/>
                        </a:rPr>
                        <a:t> &lt; dose**</a:t>
                      </a:r>
                      <a:endParaRPr kumimoji="0" lang="en-US" sz="1800" b="0" i="0" u="none" strike="noStrike" cap="none" normalizeH="0" baseline="0" dirty="0" smtClean="0">
                        <a:ln>
                          <a:noFill/>
                        </a:ln>
                        <a:solidFill>
                          <a:schemeClr val="tx1"/>
                        </a:solidFill>
                        <a:effectLst/>
                        <a:latin typeface="Arial" charset="0"/>
                        <a:cs typeface="Arial" charset="0"/>
                      </a:endParaRPr>
                    </a:p>
                  </a:txBody>
                  <a:tcPr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sp>
        <p:nvSpPr>
          <p:cNvPr id="7" name="Slide Number Placeholder 6"/>
          <p:cNvSpPr>
            <a:spLocks noGrp="1"/>
          </p:cNvSpPr>
          <p:nvPr>
            <p:ph type="sldNum" sz="quarter" idx="10"/>
          </p:nvPr>
        </p:nvSpPr>
        <p:spPr/>
        <p:txBody>
          <a:bodyPr/>
          <a:lstStyle/>
          <a:p>
            <a:pPr>
              <a:defRPr/>
            </a:pPr>
            <a:fld id="{D50A2861-A7AE-447E-AD66-954F0FC21BA4}" type="slidenum">
              <a:rPr lang="en-US" smtClean="0"/>
              <a:pPr>
                <a:defRPr/>
              </a:pPr>
              <a:t>104</a:t>
            </a:fld>
            <a:endParaRPr lang="en-US"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Limit States </a:t>
            </a:r>
            <a:br>
              <a:rPr lang="en-US" sz="3200" cap="small" dirty="0" smtClean="0"/>
            </a:br>
            <a:r>
              <a:rPr lang="en-US" sz="3200" cap="small" dirty="0" smtClean="0"/>
              <a:t>(examples From ANS 2.26)</a:t>
            </a:r>
            <a:endParaRPr lang="en-US" sz="3200" cap="small" dirty="0"/>
          </a:p>
        </p:txBody>
      </p:sp>
      <p:graphicFrame>
        <p:nvGraphicFramePr>
          <p:cNvPr id="84239" name="Group 271"/>
          <p:cNvGraphicFramePr>
            <a:graphicFrameLocks noGrp="1"/>
          </p:cNvGraphicFramePr>
          <p:nvPr>
            <p:ph idx="1"/>
          </p:nvPr>
        </p:nvGraphicFramePr>
        <p:xfrm>
          <a:off x="533400" y="2057400"/>
          <a:ext cx="8234364" cy="3429000"/>
        </p:xfrm>
        <a:graphic>
          <a:graphicData uri="http://schemas.openxmlformats.org/drawingml/2006/table">
            <a:tbl>
              <a:tblPr/>
              <a:tblGrid>
                <a:gridCol w="1646563"/>
                <a:gridCol w="1646562"/>
                <a:gridCol w="1648114"/>
                <a:gridCol w="1646563"/>
                <a:gridCol w="1646562"/>
              </a:tblGrid>
              <a:tr h="4089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smtClean="0">
                          <a:ln>
                            <a:noFill/>
                          </a:ln>
                          <a:solidFill>
                            <a:schemeClr val="tx1"/>
                          </a:solidFill>
                          <a:effectLst/>
                          <a:latin typeface="Calibri" pitchFamily="34" charset="0"/>
                          <a:cs typeface="Arial" charset="0"/>
                        </a:rPr>
                        <a:t>SSC Type</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Arial" charset="0"/>
                        </a:rPr>
                        <a:t>Limit State A</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Arial" charset="0"/>
                        </a:rPr>
                        <a:t>Limit State B</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Arial" charset="0"/>
                        </a:rPr>
                        <a:t>Limit State C</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smtClean="0">
                          <a:ln>
                            <a:noFill/>
                          </a:ln>
                          <a:solidFill>
                            <a:schemeClr val="tx1"/>
                          </a:solidFill>
                          <a:effectLst/>
                          <a:latin typeface="Calibri" pitchFamily="34" charset="0"/>
                          <a:cs typeface="Arial" charset="0"/>
                        </a:rPr>
                        <a:t>Limit State D</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174491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charset="0"/>
                        </a:rPr>
                        <a:t>Building structural components</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Substantial loss of SSC stiffness; some margin against collapse</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charset="0"/>
                        </a:rPr>
                        <a:t>Some loss of SSC stiffness; substantial margin against collapse</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SSC retains nearly full stiffness and strength; passive components will perform normal and safety functions </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SSC damage is negligible</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127512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Structures or vessels for containing hazardous material</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Low hazardous material; vessel not likely to be repairable</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Moderate hazardous liquids; cleanup and repair expeditious</a:t>
                      </a:r>
                    </a:p>
                  </a:txBody>
                  <a:tcPr marL="86391" marR="86391"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smtClean="0">
                          <a:ln>
                            <a:noFill/>
                          </a:ln>
                          <a:solidFill>
                            <a:srgbClr val="000000"/>
                          </a:solidFill>
                          <a:effectLst/>
                          <a:latin typeface="Calibri" pitchFamily="34" charset="0"/>
                          <a:cs typeface="Arial" charset="0"/>
                        </a:rPr>
                        <a:t>Low pressure vessels with worker hazard if contents released; damage minor </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1" i="0" u="none" strike="noStrike" cap="none" normalizeH="0" baseline="0" dirty="0" smtClean="0">
                          <a:ln>
                            <a:noFill/>
                          </a:ln>
                          <a:solidFill>
                            <a:srgbClr val="000000"/>
                          </a:solidFill>
                          <a:effectLst/>
                          <a:latin typeface="Calibri" pitchFamily="34" charset="0"/>
                          <a:cs typeface="Arial" charset="0"/>
                        </a:rPr>
                        <a:t>Leak tightness must be assured; moderate to high hazard gases/liquids</a:t>
                      </a:r>
                    </a:p>
                  </a:txBody>
                  <a:tcPr marL="86391" marR="86391"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120861" name="TextBox 6"/>
          <p:cNvSpPr txBox="1">
            <a:spLocks noChangeArrowheads="1"/>
          </p:cNvSpPr>
          <p:nvPr/>
        </p:nvSpPr>
        <p:spPr bwMode="auto">
          <a:xfrm>
            <a:off x="609600" y="5629275"/>
            <a:ext cx="7924800" cy="923925"/>
          </a:xfrm>
          <a:prstGeom prst="rect">
            <a:avLst/>
          </a:prstGeom>
          <a:noFill/>
          <a:ln w="9525">
            <a:noFill/>
            <a:miter lim="800000"/>
            <a:headEnd/>
            <a:tailEnd/>
          </a:ln>
        </p:spPr>
        <p:txBody>
          <a:bodyPr>
            <a:spAutoFit/>
          </a:bodyPr>
          <a:lstStyle/>
          <a:p>
            <a:r>
              <a:rPr lang="en-US">
                <a:latin typeface="Calibri" pitchFamily="34" charset="0"/>
              </a:rPr>
              <a:t>Other SSCs covered include: confinement barriers (glove boxes, ducts), equipment support structures, filter assemblies and housings, etc.</a:t>
            </a:r>
          </a:p>
          <a:p>
            <a:endParaRPr lang="en-US"/>
          </a:p>
        </p:txBody>
      </p:sp>
      <p:sp>
        <p:nvSpPr>
          <p:cNvPr id="6" name="Slide Number Placeholder 5"/>
          <p:cNvSpPr>
            <a:spLocks noGrp="1"/>
          </p:cNvSpPr>
          <p:nvPr>
            <p:ph type="sldNum" sz="quarter" idx="10"/>
          </p:nvPr>
        </p:nvSpPr>
        <p:spPr/>
        <p:txBody>
          <a:bodyPr/>
          <a:lstStyle/>
          <a:p>
            <a:pPr>
              <a:defRPr/>
            </a:pPr>
            <a:fld id="{F0896FA9-9FCA-4117-B167-3506A7DD5F1A}" type="slidenum">
              <a:rPr lang="en-US" smtClean="0"/>
              <a:pPr>
                <a:defRPr/>
              </a:pPr>
              <a:t>105</a:t>
            </a:fld>
            <a:endParaRPr lang="en-US"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p:txBody>
          <a:bodyPr/>
          <a:lstStyle/>
          <a:p>
            <a:pPr eaLnBrk="1" hangingPunct="1">
              <a:defRPr/>
            </a:pPr>
            <a:r>
              <a:rPr lang="en-US" sz="3200" cap="small" dirty="0" smtClean="0"/>
              <a:t>Comparison of SDB to Performance Category</a:t>
            </a:r>
          </a:p>
        </p:txBody>
      </p:sp>
      <p:sp>
        <p:nvSpPr>
          <p:cNvPr id="4100" name="Content Placeholder 2"/>
          <p:cNvSpPr>
            <a:spLocks noGrp="1"/>
          </p:cNvSpPr>
          <p:nvPr>
            <p:ph idx="1"/>
          </p:nvPr>
        </p:nvSpPr>
        <p:spPr/>
        <p:txBody>
          <a:bodyPr/>
          <a:lstStyle/>
          <a:p>
            <a:pPr eaLnBrk="1" hangingPunct="1">
              <a:buFont typeface="Wingdings" pitchFamily="2" charset="2"/>
              <a:buNone/>
            </a:pPr>
            <a:endParaRPr lang="en-US" smtClean="0">
              <a:latin typeface="Arial" charset="0"/>
              <a:cs typeface="Arial" charset="0"/>
            </a:endParaRPr>
          </a:p>
          <a:p>
            <a:pPr eaLnBrk="1" hangingPunct="1">
              <a:buFont typeface="Wingdings" pitchFamily="2" charset="2"/>
              <a:buNone/>
            </a:pPr>
            <a:endParaRPr lang="en-US" smtClean="0">
              <a:latin typeface="Arial" charset="0"/>
              <a:cs typeface="Arial" charset="0"/>
            </a:endParaRPr>
          </a:p>
        </p:txBody>
      </p:sp>
      <p:graphicFrame>
        <p:nvGraphicFramePr>
          <p:cNvPr id="4098" name="Object 2"/>
          <p:cNvGraphicFramePr>
            <a:graphicFrameLocks noChangeAspect="1"/>
          </p:cNvGraphicFramePr>
          <p:nvPr/>
        </p:nvGraphicFramePr>
        <p:xfrm>
          <a:off x="1371600" y="1657350"/>
          <a:ext cx="6172200" cy="4851400"/>
        </p:xfrm>
        <a:graphic>
          <a:graphicData uri="http://schemas.openxmlformats.org/presentationml/2006/ole">
            <p:oleObj spid="_x0000_s4098" name="Document" r:id="rId4" imgW="5494170" imgH="4318804" progId="">
              <p:embed/>
            </p:oleObj>
          </a:graphicData>
        </a:graphic>
      </p:graphicFrame>
      <p:sp>
        <p:nvSpPr>
          <p:cNvPr id="6" name="Slide Number Placeholder 5"/>
          <p:cNvSpPr>
            <a:spLocks noGrp="1"/>
          </p:cNvSpPr>
          <p:nvPr>
            <p:ph type="sldNum" sz="quarter" idx="10"/>
          </p:nvPr>
        </p:nvSpPr>
        <p:spPr/>
        <p:txBody>
          <a:bodyPr/>
          <a:lstStyle/>
          <a:p>
            <a:pPr>
              <a:defRPr/>
            </a:pPr>
            <a:fld id="{2A6D1E4C-F005-47CE-8C0C-7D63A35D92A1}" type="slidenum">
              <a:rPr lang="en-US" smtClean="0"/>
              <a:pPr>
                <a:defRPr/>
              </a:pPr>
              <a:t>106</a:t>
            </a:fld>
            <a:endParaRPr lang="en-US"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rtlCol="0">
            <a:noAutofit/>
          </a:bodyPr>
          <a:lstStyle/>
          <a:p>
            <a:pPr eaLnBrk="1" fontAlgn="auto" hangingPunct="1">
              <a:spcAft>
                <a:spcPts val="0"/>
              </a:spcAft>
              <a:defRPr/>
            </a:pPr>
            <a:r>
              <a:rPr lang="en-US" sz="2800" cap="small" dirty="0" smtClean="0"/>
              <a:t>Supplemental Guidance </a:t>
            </a:r>
            <a:br>
              <a:rPr lang="en-US" sz="2800" cap="small" dirty="0" smtClean="0"/>
            </a:br>
            <a:r>
              <a:rPr lang="en-US" sz="2800" cap="small" dirty="0" smtClean="0"/>
              <a:t>for</a:t>
            </a:r>
            <a:r>
              <a:rPr lang="en-US" sz="3200" cap="small" dirty="0" smtClean="0"/>
              <a:t> </a:t>
            </a:r>
            <a:r>
              <a:rPr lang="en-US" sz="2800" cap="small" dirty="0" smtClean="0"/>
              <a:t>ANS 2.26 When Selecting SDCs and Limit States (SDB)</a:t>
            </a:r>
          </a:p>
        </p:txBody>
      </p:sp>
      <p:sp>
        <p:nvSpPr>
          <p:cNvPr id="115715" name="Rectangle 3"/>
          <p:cNvSpPr>
            <a:spLocks noGrp="1" noChangeArrowheads="1"/>
          </p:cNvSpPr>
          <p:nvPr>
            <p:ph idx="1"/>
          </p:nvPr>
        </p:nvSpPr>
        <p:spPr>
          <a:xfrm>
            <a:off x="533400" y="1981200"/>
            <a:ext cx="8234363" cy="4267200"/>
          </a:xfrm>
        </p:spPr>
        <p:txBody>
          <a:bodyPr rtlCol="0">
            <a:normAutofit lnSpcReduction="10000"/>
          </a:bodyPr>
          <a:lstStyle/>
          <a:p>
            <a:pPr indent="-285750" eaLnBrk="1" fontAlgn="auto" hangingPunct="1">
              <a:spcBef>
                <a:spcPts val="600"/>
              </a:spcBef>
              <a:spcAft>
                <a:spcPts val="600"/>
              </a:spcAft>
              <a:defRPr/>
            </a:pPr>
            <a:r>
              <a:rPr lang="en-US" sz="2400" dirty="0" smtClean="0"/>
              <a:t>Safety analyst, seismic design engineer and the equipment design engineer evaluate the functional requirements for the safety SSC and its subcomponents to determine the appropriate Seismic Design Basis (SDB).</a:t>
            </a:r>
          </a:p>
          <a:p>
            <a:pPr indent="-285750" eaLnBrk="1" fontAlgn="auto" hangingPunct="1">
              <a:spcBef>
                <a:spcPts val="1200"/>
              </a:spcBef>
              <a:spcAft>
                <a:spcPts val="600"/>
              </a:spcAft>
              <a:defRPr/>
            </a:pPr>
            <a:r>
              <a:rPr lang="en-US" sz="2400" dirty="0" smtClean="0"/>
              <a:t>If the safety functions of a safety SSC include confinement and leak tightness, a Limit State C or D must be selected.</a:t>
            </a:r>
          </a:p>
          <a:p>
            <a:pPr indent="-285750" eaLnBrk="1" fontAlgn="auto" hangingPunct="1">
              <a:spcBef>
                <a:spcPts val="1200"/>
              </a:spcBef>
              <a:spcAft>
                <a:spcPts val="600"/>
              </a:spcAft>
              <a:defRPr/>
            </a:pPr>
            <a:r>
              <a:rPr lang="en-US" sz="2400" dirty="0" smtClean="0"/>
              <a:t>Guidance is provided for an SDC-1 or SDC-2 SSC having safety functions requiring Limit States A, B, C or D.</a:t>
            </a:r>
          </a:p>
          <a:p>
            <a:pPr indent="-285750" eaLnBrk="1" fontAlgn="auto" hangingPunct="1">
              <a:spcBef>
                <a:spcPts val="600"/>
              </a:spcBef>
              <a:spcAft>
                <a:spcPts val="600"/>
              </a:spcAft>
              <a:defRPr/>
            </a:pPr>
            <a:endParaRPr lang="en-US" sz="2400" dirty="0" smtClean="0"/>
          </a:p>
        </p:txBody>
      </p:sp>
      <p:sp>
        <p:nvSpPr>
          <p:cNvPr id="121860" name="Rectangle 4"/>
          <p:cNvSpPr>
            <a:spLocks noChangeArrowheads="1"/>
          </p:cNvSpPr>
          <p:nvPr/>
        </p:nvSpPr>
        <p:spPr bwMode="auto">
          <a:xfrm>
            <a:off x="457200" y="1143000"/>
            <a:ext cx="8423275" cy="5029200"/>
          </a:xfrm>
          <a:prstGeom prst="rect">
            <a:avLst/>
          </a:prstGeom>
          <a:noFill/>
          <a:ln w="9525">
            <a:noFill/>
            <a:miter lim="800000"/>
            <a:headEnd/>
            <a:tailEnd/>
          </a:ln>
        </p:spPr>
        <p:txBody>
          <a:bodyPr lIns="0" tIns="0" rIns="0" bIns="0"/>
          <a:lstStyle/>
          <a:p>
            <a:pPr marL="342900" indent="-342900">
              <a:lnSpc>
                <a:spcPct val="85000"/>
              </a:lnSpc>
              <a:spcBef>
                <a:spcPct val="30000"/>
              </a:spcBef>
              <a:buClr>
                <a:schemeClr val="folHlink"/>
              </a:buClr>
              <a:buFont typeface="Wingdings" pitchFamily="2" charset="2"/>
              <a:buBlip>
                <a:blip r:embed="rId3"/>
              </a:buBlip>
            </a:pPr>
            <a:endParaRPr lang="en-US" sz="2800"/>
          </a:p>
        </p:txBody>
      </p:sp>
      <p:sp>
        <p:nvSpPr>
          <p:cNvPr id="6" name="Slide Number Placeholder 5"/>
          <p:cNvSpPr>
            <a:spLocks noGrp="1"/>
          </p:cNvSpPr>
          <p:nvPr>
            <p:ph type="sldNum" sz="quarter" idx="10"/>
          </p:nvPr>
        </p:nvSpPr>
        <p:spPr/>
        <p:txBody>
          <a:bodyPr/>
          <a:lstStyle/>
          <a:p>
            <a:pPr>
              <a:defRPr/>
            </a:pPr>
            <a:fld id="{CD2CDF87-B896-491A-9F97-7BABDED139B8}" type="slidenum">
              <a:rPr lang="en-US" smtClean="0"/>
              <a:pPr>
                <a:defRPr/>
              </a:pPr>
              <a:t>107</a:t>
            </a:fld>
            <a:endParaRPr 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p:txBody>
          <a:bodyPr/>
          <a:lstStyle/>
          <a:p>
            <a:pPr eaLnBrk="1" hangingPunct="1">
              <a:defRPr/>
            </a:pPr>
            <a:r>
              <a:rPr lang="en-US" sz="2800" cap="small" dirty="0" smtClean="0"/>
              <a:t>Safety Classification Methodology:</a:t>
            </a:r>
            <a:br>
              <a:rPr lang="en-US" sz="2800" cap="small" dirty="0" smtClean="0"/>
            </a:br>
            <a:r>
              <a:rPr lang="en-US" sz="2800" cap="small" dirty="0" smtClean="0"/>
              <a:t>Public Protection</a:t>
            </a:r>
          </a:p>
        </p:txBody>
      </p:sp>
      <p:sp>
        <p:nvSpPr>
          <p:cNvPr id="122883" name="Rectangle 3"/>
          <p:cNvSpPr>
            <a:spLocks noGrp="1" noChangeArrowheads="1"/>
          </p:cNvSpPr>
          <p:nvPr>
            <p:ph idx="1"/>
          </p:nvPr>
        </p:nvSpPr>
        <p:spPr/>
        <p:txBody>
          <a:bodyPr/>
          <a:lstStyle/>
          <a:p>
            <a:pPr marL="0" indent="14288" eaLnBrk="1" hangingPunct="1">
              <a:spcBef>
                <a:spcPts val="1200"/>
              </a:spcBef>
              <a:spcAft>
                <a:spcPts val="600"/>
              </a:spcAft>
              <a:buFont typeface="Wingdings" pitchFamily="2" charset="2"/>
              <a:buNone/>
            </a:pPr>
            <a:r>
              <a:rPr lang="en-US" sz="2400" smtClean="0">
                <a:latin typeface="Arial" charset="0"/>
                <a:cs typeface="Arial" charset="0"/>
              </a:rPr>
              <a:t>The guidance of DOE G 421.1-2 and DOE-STD-3009, Appendix A, should be used in classifying SSCs as Safety Class (SC) for radiological protection</a:t>
            </a:r>
          </a:p>
          <a:p>
            <a:pPr marL="796925" lvl="1" indent="-533400" eaLnBrk="1" hangingPunct="1">
              <a:spcBef>
                <a:spcPts val="1200"/>
              </a:spcBef>
              <a:spcAft>
                <a:spcPts val="600"/>
              </a:spcAft>
              <a:buFont typeface="Arial" charset="0"/>
              <a:buChar char="–"/>
            </a:pPr>
            <a:r>
              <a:rPr lang="en-US" sz="2000" smtClean="0">
                <a:solidFill>
                  <a:schemeClr val="tx1"/>
                </a:solidFill>
                <a:latin typeface="Arial" charset="0"/>
                <a:cs typeface="Arial" charset="0"/>
              </a:rPr>
              <a:t>The words “challenging” or “in the rem range” in those documents should be interpreted as radiological doses equal to or greater than 5 rem, but less than 25 rem</a:t>
            </a:r>
          </a:p>
          <a:p>
            <a:pPr marL="796925" lvl="1" indent="-533400" eaLnBrk="1" hangingPunct="1">
              <a:spcBef>
                <a:spcPts val="1200"/>
              </a:spcBef>
              <a:spcAft>
                <a:spcPts val="600"/>
              </a:spcAft>
              <a:buFont typeface="Arial" charset="0"/>
              <a:buChar char="–"/>
            </a:pPr>
            <a:r>
              <a:rPr lang="en-US" sz="2000" smtClean="0">
                <a:solidFill>
                  <a:schemeClr val="tx1"/>
                </a:solidFill>
                <a:latin typeface="Arial" charset="0"/>
                <a:cs typeface="Arial" charset="0"/>
              </a:rPr>
              <a:t>In this range (5 to 25 rem), SC designation should be considered, and the rationale for the decision to classify an SSC as SC or not should be explained and justified</a:t>
            </a:r>
          </a:p>
        </p:txBody>
      </p:sp>
      <p:sp>
        <p:nvSpPr>
          <p:cNvPr id="5" name="Slide Number Placeholder 4"/>
          <p:cNvSpPr>
            <a:spLocks noGrp="1"/>
          </p:cNvSpPr>
          <p:nvPr>
            <p:ph type="sldNum" sz="quarter" idx="10"/>
          </p:nvPr>
        </p:nvSpPr>
        <p:spPr/>
        <p:txBody>
          <a:bodyPr/>
          <a:lstStyle/>
          <a:p>
            <a:pPr>
              <a:defRPr/>
            </a:pPr>
            <a:fld id="{4BC4576E-3E1F-486A-8005-08BC07D614FC}" type="slidenum">
              <a:rPr lang="en-US" smtClean="0"/>
              <a:pPr>
                <a:defRPr/>
              </a:pPr>
              <a:t>108</a:t>
            </a:fld>
            <a:endParaRPr 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pPr eaLnBrk="1" hangingPunct="1">
              <a:defRPr/>
            </a:pPr>
            <a:r>
              <a:rPr lang="en-US" sz="2800" cap="small" dirty="0" smtClean="0"/>
              <a:t>Safety Classification Methodology:</a:t>
            </a:r>
            <a:br>
              <a:rPr lang="en-US" sz="2800" cap="small" dirty="0" smtClean="0"/>
            </a:br>
            <a:r>
              <a:rPr lang="en-US" sz="2800" cap="small" dirty="0" smtClean="0"/>
              <a:t>Collocated Worker Protection</a:t>
            </a:r>
          </a:p>
        </p:txBody>
      </p:sp>
      <p:sp>
        <p:nvSpPr>
          <p:cNvPr id="123907" name="Rectangle 3"/>
          <p:cNvSpPr>
            <a:spLocks noGrp="1" noChangeArrowheads="1"/>
          </p:cNvSpPr>
          <p:nvPr>
            <p:ph idx="1"/>
          </p:nvPr>
        </p:nvSpPr>
        <p:spPr>
          <a:xfrm>
            <a:off x="533400" y="1828800"/>
            <a:ext cx="8234363" cy="4419600"/>
          </a:xfrm>
        </p:spPr>
        <p:txBody>
          <a:bodyPr/>
          <a:lstStyle/>
          <a:p>
            <a:pPr marL="457200" indent="-442913" eaLnBrk="1" hangingPunct="1">
              <a:spcBef>
                <a:spcPts val="1200"/>
              </a:spcBef>
              <a:spcAft>
                <a:spcPts val="600"/>
              </a:spcAft>
            </a:pPr>
            <a:r>
              <a:rPr lang="en-US" sz="2400" smtClean="0">
                <a:latin typeface="Arial" charset="0"/>
                <a:cs typeface="Arial" charset="0"/>
              </a:rPr>
              <a:t>Use unmitigated accident analysis source term guidance in DOE-STD-3009, Appendix A, Section A.3.2 and DOE G 420.1-1</a:t>
            </a:r>
          </a:p>
          <a:p>
            <a:pPr marL="457200" indent="-442913" eaLnBrk="1" hangingPunct="1">
              <a:spcBef>
                <a:spcPts val="1200"/>
              </a:spcBef>
              <a:spcAft>
                <a:spcPts val="600"/>
              </a:spcAft>
            </a:pPr>
            <a:r>
              <a:rPr lang="en-US" sz="2400" smtClean="0">
                <a:latin typeface="Arial" charset="0"/>
                <a:cs typeface="Arial" charset="0"/>
              </a:rPr>
              <a:t>Use dose of 100 REM TEDE at 100 m</a:t>
            </a:r>
          </a:p>
          <a:p>
            <a:pPr marL="457200" indent="-442913" eaLnBrk="1" hangingPunct="1">
              <a:spcBef>
                <a:spcPts val="1200"/>
              </a:spcBef>
              <a:spcAft>
                <a:spcPts val="600"/>
              </a:spcAft>
            </a:pPr>
            <a:r>
              <a:rPr lang="en-US" sz="2400" smtClean="0">
                <a:latin typeface="Arial" charset="0"/>
                <a:cs typeface="Arial" charset="0"/>
              </a:rPr>
              <a:t>Use ICRP 68 dose conversion factors</a:t>
            </a:r>
          </a:p>
          <a:p>
            <a:pPr marL="457200" indent="-442913" eaLnBrk="1" hangingPunct="1">
              <a:spcBef>
                <a:spcPts val="1200"/>
              </a:spcBef>
              <a:spcAft>
                <a:spcPts val="600"/>
              </a:spcAft>
            </a:pPr>
            <a:r>
              <a:rPr lang="en-US" sz="2400" smtClean="0">
                <a:latin typeface="Arial" charset="0"/>
                <a:cs typeface="Arial" charset="0"/>
              </a:rPr>
              <a:t>Apply </a:t>
            </a:r>
            <a:r>
              <a:rPr lang="en-US" sz="2400" i="1" smtClean="0">
                <a:latin typeface="Arial" charset="0"/>
                <a:cs typeface="Arial" charset="0"/>
              </a:rPr>
              <a:t>X/Q</a:t>
            </a:r>
            <a:r>
              <a:rPr lang="en-US" sz="2400" smtClean="0">
                <a:latin typeface="Arial" charset="0"/>
                <a:cs typeface="Arial" charset="0"/>
              </a:rPr>
              <a:t> value at 100 m of 3.5E-3 sec/m</a:t>
            </a:r>
            <a:r>
              <a:rPr lang="en-US" sz="2400" baseline="30000" smtClean="0">
                <a:latin typeface="Arial" charset="0"/>
                <a:cs typeface="Arial" charset="0"/>
              </a:rPr>
              <a:t>3</a:t>
            </a:r>
            <a:r>
              <a:rPr lang="en-US" sz="2400" smtClean="0">
                <a:latin typeface="Arial" charset="0"/>
                <a:cs typeface="Arial" charset="0"/>
              </a:rPr>
              <a:t> for the dispersion calculation</a:t>
            </a:r>
          </a:p>
          <a:p>
            <a:pPr marL="457200" indent="-442913" eaLnBrk="1" hangingPunct="1">
              <a:spcBef>
                <a:spcPts val="1200"/>
              </a:spcBef>
              <a:spcAft>
                <a:spcPts val="600"/>
              </a:spcAft>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DDD01E27-CC36-4C79-9CD6-5F714B24BAFA}" type="slidenum">
              <a:rPr lang="en-US" smtClean="0"/>
              <a:pPr>
                <a:defRPr/>
              </a:pPr>
              <a:t>109</a:t>
            </a:fld>
            <a:endParaRPr 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err="1" smtClean="0"/>
              <a:t>Backfit</a:t>
            </a:r>
            <a:r>
              <a:rPr lang="en-US" sz="3200" cap="small" dirty="0" smtClean="0"/>
              <a:t> for </a:t>
            </a:r>
            <a:br>
              <a:rPr lang="en-US" sz="3200" cap="small" dirty="0" smtClean="0"/>
            </a:br>
            <a:r>
              <a:rPr lang="en-US" sz="3200" cap="small" dirty="0" smtClean="0"/>
              <a:t>Major Modifications</a:t>
            </a:r>
          </a:p>
        </p:txBody>
      </p:sp>
      <p:sp>
        <p:nvSpPr>
          <p:cNvPr id="124931" name="Rectangle 3"/>
          <p:cNvSpPr>
            <a:spLocks noGrp="1" noChangeArrowheads="1"/>
          </p:cNvSpPr>
          <p:nvPr>
            <p:ph idx="1"/>
          </p:nvPr>
        </p:nvSpPr>
        <p:spPr>
          <a:xfrm>
            <a:off x="533400" y="1981200"/>
            <a:ext cx="8234363" cy="4267200"/>
          </a:xfrm>
        </p:spPr>
        <p:txBody>
          <a:bodyPr/>
          <a:lstStyle/>
          <a:p>
            <a:pPr marL="457200" indent="-442913" eaLnBrk="1" hangingPunct="1">
              <a:spcBef>
                <a:spcPts val="1200"/>
              </a:spcBef>
            </a:pPr>
            <a:r>
              <a:rPr lang="en-US" sz="2400" smtClean="0">
                <a:latin typeface="Arial" charset="0"/>
                <a:cs typeface="Arial" charset="0"/>
              </a:rPr>
              <a:t>For major modifications of existing facilities, Appendix A criteria are applicable</a:t>
            </a:r>
          </a:p>
          <a:p>
            <a:pPr marL="457200" indent="-442913" eaLnBrk="1" hangingPunct="1">
              <a:spcBef>
                <a:spcPts val="1200"/>
              </a:spcBef>
            </a:pPr>
            <a:r>
              <a:rPr lang="en-US" sz="2400" smtClean="0">
                <a:latin typeface="Arial" charset="0"/>
                <a:cs typeface="Arial" charset="0"/>
              </a:rPr>
              <a:t>Backfit analyses should examine:</a:t>
            </a:r>
          </a:p>
          <a:p>
            <a:pPr marL="990600" lvl="1" indent="-533400" eaLnBrk="1" hangingPunct="1">
              <a:spcBef>
                <a:spcPts val="1200"/>
              </a:spcBef>
              <a:buFont typeface="Arial" charset="0"/>
              <a:buChar char="–"/>
            </a:pPr>
            <a:r>
              <a:rPr lang="en-US" sz="2000" smtClean="0">
                <a:solidFill>
                  <a:schemeClr val="tx1"/>
                </a:solidFill>
                <a:latin typeface="Arial" charset="0"/>
                <a:cs typeface="Arial" charset="0"/>
              </a:rPr>
              <a:t>The need to upgrade interfacing structures, systems, and components in accordance with these criteria, and</a:t>
            </a:r>
          </a:p>
          <a:p>
            <a:pPr marL="990600" lvl="1" indent="-533400" eaLnBrk="1" hangingPunct="1">
              <a:spcBef>
                <a:spcPts val="1200"/>
              </a:spcBef>
              <a:buFont typeface="Arial" charset="0"/>
              <a:buChar char="–"/>
            </a:pPr>
            <a:r>
              <a:rPr lang="en-US" sz="2000" smtClean="0">
                <a:solidFill>
                  <a:schemeClr val="tx1"/>
                </a:solidFill>
                <a:latin typeface="Arial" charset="0"/>
                <a:cs typeface="Arial" charset="0"/>
              </a:rPr>
              <a:t> Whether there should be relief for the modification from the design requirements that application of these criteria in design would imply</a:t>
            </a:r>
          </a:p>
        </p:txBody>
      </p:sp>
      <p:sp>
        <p:nvSpPr>
          <p:cNvPr id="5" name="Slide Number Placeholder 4"/>
          <p:cNvSpPr>
            <a:spLocks noGrp="1"/>
          </p:cNvSpPr>
          <p:nvPr>
            <p:ph type="sldNum" sz="quarter" idx="10"/>
          </p:nvPr>
        </p:nvSpPr>
        <p:spPr/>
        <p:txBody>
          <a:bodyPr/>
          <a:lstStyle/>
          <a:p>
            <a:pPr>
              <a:defRPr/>
            </a:pPr>
            <a:fld id="{7D1406C5-63A4-4646-9361-2697D9BE1142}" type="slidenum">
              <a:rPr lang="en-US" smtClean="0"/>
              <a:pPr>
                <a:defRPr/>
              </a:pPr>
              <a:t>110</a:t>
            </a:fld>
            <a:endParaRPr 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Additional Notes</a:t>
            </a:r>
            <a:endParaRPr lang="en-US" sz="3200" cap="small" dirty="0"/>
          </a:p>
        </p:txBody>
      </p:sp>
      <p:sp>
        <p:nvSpPr>
          <p:cNvPr id="125955"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ANS 2.27, </a:t>
            </a:r>
            <a:r>
              <a:rPr lang="en-US" sz="2400" i="1" smtClean="0">
                <a:latin typeface="Arial" charset="0"/>
                <a:cs typeface="Arial" charset="0"/>
              </a:rPr>
              <a:t>Criteria for Investigations of Nuclear Facility Sites for Seismic Hazard Assessments,</a:t>
            </a:r>
            <a:r>
              <a:rPr lang="en-US" sz="2400" smtClean="0">
                <a:latin typeface="Arial" charset="0"/>
                <a:cs typeface="Arial" charset="0"/>
              </a:rPr>
              <a:t> and ANS 2.29, </a:t>
            </a:r>
            <a:r>
              <a:rPr lang="en-US" sz="2400" i="1" smtClean="0">
                <a:latin typeface="Arial" charset="0"/>
                <a:cs typeface="Arial" charset="0"/>
              </a:rPr>
              <a:t>Probabilistic Seismic Hazards Analysis,</a:t>
            </a:r>
            <a:r>
              <a:rPr lang="en-US" sz="2400" smtClean="0">
                <a:latin typeface="Arial" charset="0"/>
                <a:cs typeface="Arial" charset="0"/>
              </a:rPr>
              <a:t> have been completed and approved</a:t>
            </a:r>
          </a:p>
          <a:p>
            <a:pPr eaLnBrk="1" hangingPunct="1">
              <a:spcBef>
                <a:spcPts val="1200"/>
              </a:spcBef>
              <a:spcAft>
                <a:spcPts val="600"/>
              </a:spcAft>
            </a:pPr>
            <a:r>
              <a:rPr lang="en-US" sz="2400" smtClean="0">
                <a:latin typeface="Arial" charset="0"/>
                <a:cs typeface="Arial" charset="0"/>
              </a:rPr>
              <a:t>DOE plans to adopt them and to update DOE G 420.1-2 (Natural Phenomena Hazard guide)</a:t>
            </a:r>
          </a:p>
        </p:txBody>
      </p:sp>
      <p:sp>
        <p:nvSpPr>
          <p:cNvPr id="5" name="Slide Number Placeholder 4"/>
          <p:cNvSpPr>
            <a:spLocks noGrp="1"/>
          </p:cNvSpPr>
          <p:nvPr>
            <p:ph type="sldNum" sz="quarter" idx="10"/>
          </p:nvPr>
        </p:nvSpPr>
        <p:spPr/>
        <p:txBody>
          <a:bodyPr/>
          <a:lstStyle/>
          <a:p>
            <a:pPr>
              <a:defRPr/>
            </a:pPr>
            <a:fld id="{2EBCC4D2-8EA3-4891-BCED-4C5285FD8A54}" type="slidenum">
              <a:rPr lang="en-US" smtClean="0"/>
              <a:pPr>
                <a:defRPr/>
              </a:pPr>
              <a:t>111</a:t>
            </a:fld>
            <a:endParaRPr 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ChangeArrowheads="1"/>
          </p:cNvSpPr>
          <p:nvPr>
            <p:ph type="title"/>
          </p:nvPr>
        </p:nvSpPr>
        <p:spPr/>
        <p:txBody>
          <a:bodyPr/>
          <a:lstStyle/>
          <a:p>
            <a:pPr marL="838200" indent="-838200" eaLnBrk="1" hangingPunct="1"/>
            <a:r>
              <a:rPr lang="en-US" sz="2400" smtClean="0">
                <a:latin typeface="Arial" charset="0"/>
                <a:cs typeface="Arial" charset="0"/>
              </a:rPr>
              <a:t>	SAFETY AND DESIGN INTEGRATION </a:t>
            </a:r>
            <a:br>
              <a:rPr lang="en-US" sz="2400" smtClean="0">
                <a:latin typeface="Arial" charset="0"/>
                <a:cs typeface="Arial" charset="0"/>
              </a:rPr>
            </a:br>
            <a:r>
              <a:rPr lang="en-US" sz="2400" smtClean="0">
                <a:latin typeface="Arial" charset="0"/>
                <a:cs typeface="Arial" charset="0"/>
              </a:rPr>
              <a:t>DOE-STD-1189-2008</a:t>
            </a:r>
          </a:p>
        </p:txBody>
      </p:sp>
      <p:sp>
        <p:nvSpPr>
          <p:cNvPr id="126979" name="Rectangle 4"/>
          <p:cNvSpPr>
            <a:spLocks noGrp="1" noChangeArrowheads="1"/>
          </p:cNvSpPr>
          <p:nvPr>
            <p:ph idx="1"/>
          </p:nvPr>
        </p:nvSpPr>
        <p:spPr/>
        <p:txBody>
          <a:bodyPr/>
          <a:lstStyle/>
          <a:p>
            <a:pPr algn="ctr" eaLnBrk="1" hangingPunct="1">
              <a:buFont typeface="Wingdings" pitchFamily="2" charset="2"/>
              <a:buNone/>
            </a:pPr>
            <a:r>
              <a:rPr lang="en-US" smtClean="0">
                <a:latin typeface="Arial" charset="0"/>
                <a:cs typeface="Arial" charset="0"/>
              </a:rPr>
              <a:t>	</a:t>
            </a:r>
          </a:p>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r>
              <a:rPr lang="en-US" smtClean="0">
                <a:solidFill>
                  <a:srgbClr val="C00000"/>
                </a:solidFill>
                <a:latin typeface="Arial" charset="0"/>
                <a:cs typeface="Arial" charset="0"/>
              </a:rPr>
              <a:t>Appendix B, </a:t>
            </a:r>
            <a:r>
              <a:rPr lang="en-US" i="1" smtClean="0">
                <a:solidFill>
                  <a:srgbClr val="C00000"/>
                </a:solidFill>
                <a:latin typeface="Arial" charset="0"/>
                <a:cs typeface="Arial" charset="0"/>
              </a:rPr>
              <a:t>Chemical Hazard Evaluation</a:t>
            </a:r>
          </a:p>
        </p:txBody>
      </p:sp>
      <p:sp>
        <p:nvSpPr>
          <p:cNvPr id="5" name="Slide Number Placeholder 4"/>
          <p:cNvSpPr>
            <a:spLocks noGrp="1"/>
          </p:cNvSpPr>
          <p:nvPr>
            <p:ph type="sldNum" sz="quarter" idx="10"/>
          </p:nvPr>
        </p:nvSpPr>
        <p:spPr/>
        <p:txBody>
          <a:bodyPr/>
          <a:lstStyle/>
          <a:p>
            <a:pPr>
              <a:defRPr/>
            </a:pPr>
            <a:fld id="{F1E4DE7D-68D2-4E25-9CA0-78FE6374339C}" type="slidenum">
              <a:rPr lang="en-US" smtClean="0"/>
              <a:pPr>
                <a:defRPr/>
              </a:pPr>
              <a:t>112</a:t>
            </a:fld>
            <a:endParaRPr 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p:cNvSpPr>
            <a:spLocks noGrp="1" noChangeArrowheads="1"/>
          </p:cNvSpPr>
          <p:nvPr>
            <p:ph type="title"/>
          </p:nvPr>
        </p:nvSpPr>
        <p:spPr/>
        <p:txBody>
          <a:bodyPr/>
          <a:lstStyle/>
          <a:p>
            <a:pPr eaLnBrk="1" hangingPunct="1">
              <a:defRPr/>
            </a:pPr>
            <a:r>
              <a:rPr lang="en-US" sz="3200" cap="small" dirty="0" smtClean="0"/>
              <a:t>Purpose of Appendix B</a:t>
            </a:r>
          </a:p>
        </p:txBody>
      </p:sp>
      <p:sp>
        <p:nvSpPr>
          <p:cNvPr id="134147" name="Rectangle 3"/>
          <p:cNvSpPr>
            <a:spLocks noGrp="1" noChangeArrowheads="1"/>
          </p:cNvSpPr>
          <p:nvPr>
            <p:ph idx="1"/>
          </p:nvPr>
        </p:nvSpPr>
        <p:spPr>
          <a:xfrm>
            <a:off x="533400" y="1905000"/>
            <a:ext cx="8234363" cy="4343400"/>
          </a:xfrm>
        </p:spPr>
        <p:txBody>
          <a:bodyPr/>
          <a:lstStyle/>
          <a:p>
            <a:pPr marL="457200" indent="-442913" eaLnBrk="1" hangingPunct="1">
              <a:spcBef>
                <a:spcPts val="1200"/>
              </a:spcBef>
              <a:spcAft>
                <a:spcPts val="600"/>
              </a:spcAft>
              <a:defRPr/>
            </a:pPr>
            <a:r>
              <a:rPr lang="en-US" sz="2400" dirty="0" smtClean="0"/>
              <a:t>DOE is not invoking </a:t>
            </a:r>
            <a:r>
              <a:rPr lang="en-US" sz="2400" i="1" dirty="0" smtClean="0"/>
              <a:t>mandatory</a:t>
            </a:r>
            <a:r>
              <a:rPr lang="en-US" sz="2400" dirty="0" smtClean="0"/>
              <a:t> classification of safety SSCs or specifying nuclear design requirements based on chemical hazards alone, but the Standard does provide </a:t>
            </a:r>
            <a:r>
              <a:rPr lang="en-US" sz="2400" i="1" dirty="0" smtClean="0"/>
              <a:t>advisory</a:t>
            </a:r>
            <a:r>
              <a:rPr lang="en-US" sz="2400" dirty="0" smtClean="0"/>
              <a:t> chemical safety criteria.</a:t>
            </a:r>
          </a:p>
          <a:p>
            <a:pPr marL="457200" indent="-442913" eaLnBrk="1" hangingPunct="1">
              <a:spcBef>
                <a:spcPts val="1200"/>
              </a:spcBef>
              <a:spcAft>
                <a:spcPts val="1200"/>
              </a:spcAft>
              <a:defRPr/>
            </a:pPr>
            <a:r>
              <a:rPr lang="en-US" sz="2400" dirty="0" smtClean="0"/>
              <a:t>The guidance provides a sense of scale as to what is meant by a “significant exposure” in the criterion for classifying SSCs as safety significant.</a:t>
            </a:r>
            <a:endParaRPr lang="en-US" sz="1900" dirty="0" smtClean="0"/>
          </a:p>
          <a:p>
            <a:pPr marL="0" indent="0" eaLnBrk="1" hangingPunct="1">
              <a:lnSpc>
                <a:spcPct val="90000"/>
              </a:lnSpc>
              <a:buFont typeface="Wingdings" pitchFamily="2" charset="2"/>
              <a:buNone/>
              <a:defRPr/>
            </a:pPr>
            <a:r>
              <a:rPr lang="en-US" sz="1800" b="0" i="1" dirty="0" smtClean="0"/>
              <a:t>Note: DNFSB has advised DOE to consider the need to effectively implement controls for chemical hazards, including guidance on the design of hazard controls (ref. letter dated 2/22/08, Dr. </a:t>
            </a:r>
            <a:r>
              <a:rPr lang="en-US" sz="1800" b="0" i="1" dirty="0" err="1" smtClean="0"/>
              <a:t>Eggenberger</a:t>
            </a:r>
            <a:r>
              <a:rPr lang="en-US" sz="1800" b="0" i="1" dirty="0" smtClean="0"/>
              <a:t> to Mr. Sell).</a:t>
            </a:r>
            <a:endParaRPr lang="en-US" sz="2000" b="0" i="1" dirty="0" smtClean="0"/>
          </a:p>
        </p:txBody>
      </p:sp>
      <p:sp>
        <p:nvSpPr>
          <p:cNvPr id="5" name="Slide Number Placeholder 4"/>
          <p:cNvSpPr>
            <a:spLocks noGrp="1"/>
          </p:cNvSpPr>
          <p:nvPr>
            <p:ph type="sldNum" sz="quarter" idx="10"/>
          </p:nvPr>
        </p:nvSpPr>
        <p:spPr/>
        <p:txBody>
          <a:bodyPr/>
          <a:lstStyle/>
          <a:p>
            <a:pPr>
              <a:defRPr/>
            </a:pPr>
            <a:fld id="{78D3B643-0D9D-4BD8-AB4E-56D71C43A684}" type="slidenum">
              <a:rPr lang="en-US" smtClean="0"/>
              <a:pPr>
                <a:defRPr/>
              </a:pPr>
              <a:t>113</a:t>
            </a:fld>
            <a:endParaRPr lang="en-US"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p:txBody>
          <a:bodyPr/>
          <a:lstStyle/>
          <a:p>
            <a:pPr eaLnBrk="1" hangingPunct="1">
              <a:defRPr/>
            </a:pPr>
            <a:r>
              <a:rPr lang="en-US" sz="3200" cap="small" dirty="0" smtClean="0"/>
              <a:t>Content of Appendix B</a:t>
            </a:r>
          </a:p>
        </p:txBody>
      </p:sp>
      <p:sp>
        <p:nvSpPr>
          <p:cNvPr id="135171" name="Rectangle 3"/>
          <p:cNvSpPr>
            <a:spLocks noGrp="1" noChangeArrowheads="1"/>
          </p:cNvSpPr>
          <p:nvPr>
            <p:ph idx="1"/>
          </p:nvPr>
        </p:nvSpPr>
        <p:spPr>
          <a:xfrm>
            <a:off x="381000" y="1828800"/>
            <a:ext cx="8234363" cy="4343400"/>
          </a:xfrm>
        </p:spPr>
        <p:txBody>
          <a:bodyPr/>
          <a:lstStyle/>
          <a:p>
            <a:pPr marL="0" indent="3175" eaLnBrk="1" hangingPunct="1">
              <a:spcBef>
                <a:spcPts val="1200"/>
              </a:spcBef>
              <a:spcAft>
                <a:spcPts val="600"/>
              </a:spcAft>
              <a:buFont typeface="Wingdings" pitchFamily="2" charset="2"/>
              <a:buNone/>
              <a:defRPr/>
            </a:pPr>
            <a:r>
              <a:rPr lang="en-US" sz="2400" dirty="0" smtClean="0"/>
              <a:t>Guidance for consideration of Safety Significant designation of SSCs for significant chemical exposures is based on a process of:</a:t>
            </a:r>
          </a:p>
          <a:p>
            <a:pPr marL="685800" lvl="1" indent="-450850" eaLnBrk="1" hangingPunct="1">
              <a:spcBef>
                <a:spcPts val="1200"/>
              </a:spcBef>
              <a:spcAft>
                <a:spcPts val="600"/>
              </a:spcAft>
              <a:buFont typeface="Arial" charset="0"/>
              <a:buChar char="–"/>
              <a:defRPr/>
            </a:pPr>
            <a:r>
              <a:rPr lang="en-US" sz="2000" dirty="0" smtClean="0">
                <a:solidFill>
                  <a:schemeClr val="tx1"/>
                </a:solidFill>
              </a:rPr>
              <a:t>Screening chemicals (hazardous materials) to determine those that may have the potential to immediately threaten or endanger collocated workers or the public and</a:t>
            </a:r>
          </a:p>
          <a:p>
            <a:pPr marL="685800" lvl="1" indent="-450850" eaLnBrk="1" hangingPunct="1">
              <a:spcBef>
                <a:spcPts val="1200"/>
              </a:spcBef>
              <a:spcAft>
                <a:spcPts val="600"/>
              </a:spcAft>
              <a:buFont typeface="Arial" charset="0"/>
              <a:buChar char="–"/>
              <a:defRPr/>
            </a:pPr>
            <a:r>
              <a:rPr lang="en-US" sz="2000" dirty="0" smtClean="0">
                <a:solidFill>
                  <a:schemeClr val="tx1"/>
                </a:solidFill>
              </a:rPr>
              <a:t>Evaluating the severity of potential exposures against advisory classification criteria for collocated workers and the public</a:t>
            </a:r>
            <a:endParaRPr lang="en-US" sz="2200" dirty="0" smtClean="0">
              <a:solidFill>
                <a:schemeClr val="tx1"/>
              </a:solidFill>
            </a:endParaRPr>
          </a:p>
          <a:p>
            <a:pPr marL="0" indent="25400" eaLnBrk="1" hangingPunct="1">
              <a:lnSpc>
                <a:spcPct val="90000"/>
              </a:lnSpc>
              <a:buFontTx/>
              <a:buNone/>
              <a:defRPr/>
            </a:pPr>
            <a:endParaRPr lang="en-US" sz="1800" b="0" i="1" dirty="0" smtClean="0">
              <a:cs typeface="Times New Roman" pitchFamily="18" charset="0"/>
            </a:endParaRPr>
          </a:p>
          <a:p>
            <a:pPr marL="0" indent="25400" eaLnBrk="1" hangingPunct="1">
              <a:lnSpc>
                <a:spcPct val="90000"/>
              </a:lnSpc>
              <a:buFontTx/>
              <a:buNone/>
              <a:defRPr/>
            </a:pPr>
            <a:r>
              <a:rPr lang="en-US" sz="1800" b="0" i="1" dirty="0" smtClean="0">
                <a:cs typeface="Times New Roman" pitchFamily="18" charset="0"/>
              </a:rPr>
              <a:t>Note: Chemical exposure for facility workers is addressed in Appendix C.</a:t>
            </a:r>
          </a:p>
        </p:txBody>
      </p:sp>
      <p:sp>
        <p:nvSpPr>
          <p:cNvPr id="5" name="Slide Number Placeholder 4"/>
          <p:cNvSpPr>
            <a:spLocks noGrp="1"/>
          </p:cNvSpPr>
          <p:nvPr>
            <p:ph type="sldNum" sz="quarter" idx="10"/>
          </p:nvPr>
        </p:nvSpPr>
        <p:spPr/>
        <p:txBody>
          <a:bodyPr/>
          <a:lstStyle/>
          <a:p>
            <a:pPr>
              <a:defRPr/>
            </a:pPr>
            <a:fld id="{875EA04C-8FC5-4693-A7F2-2A3131CF0AE0}" type="slidenum">
              <a:rPr lang="en-US" smtClean="0"/>
              <a:pPr>
                <a:defRPr/>
              </a:pPr>
              <a:t>114</a:t>
            </a:fld>
            <a:endParaRPr 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p:cNvSpPr>
            <a:spLocks noGrp="1" noChangeArrowheads="1"/>
          </p:cNvSpPr>
          <p:nvPr>
            <p:ph type="title"/>
          </p:nvPr>
        </p:nvSpPr>
        <p:spPr/>
        <p:txBody>
          <a:bodyPr/>
          <a:lstStyle/>
          <a:p>
            <a:pPr eaLnBrk="1" hangingPunct="1">
              <a:defRPr/>
            </a:pPr>
            <a:r>
              <a:rPr lang="en-US" sz="3200" cap="small" dirty="0" smtClean="0"/>
              <a:t>Appendix B Methodology</a:t>
            </a:r>
            <a:endParaRPr lang="en-US" sz="2800" cap="small" dirty="0" smtClean="0"/>
          </a:p>
        </p:txBody>
      </p:sp>
      <p:sp>
        <p:nvSpPr>
          <p:cNvPr id="130051" name="Rectangle 3"/>
          <p:cNvSpPr>
            <a:spLocks noGrp="1" noChangeArrowheads="1"/>
          </p:cNvSpPr>
          <p:nvPr>
            <p:ph idx="1"/>
          </p:nvPr>
        </p:nvSpPr>
        <p:spPr/>
        <p:txBody>
          <a:bodyPr/>
          <a:lstStyle/>
          <a:p>
            <a:pPr marL="0" indent="14288" eaLnBrk="1" hangingPunct="1">
              <a:spcBef>
                <a:spcPts val="1200"/>
              </a:spcBef>
              <a:spcAft>
                <a:spcPts val="600"/>
              </a:spcAft>
              <a:buFontTx/>
              <a:buNone/>
            </a:pPr>
            <a:r>
              <a:rPr lang="en-US" sz="2400" smtClean="0">
                <a:latin typeface="Arial" charset="0"/>
                <a:cs typeface="Arial" charset="0"/>
              </a:rPr>
              <a:t>Methods for estimating chemical exposures are detailed in Appendix B</a:t>
            </a:r>
          </a:p>
          <a:p>
            <a:pPr marL="508000" lvl="1"/>
            <a:r>
              <a:rPr lang="en-US" sz="2000" smtClean="0">
                <a:solidFill>
                  <a:srgbClr val="002060"/>
                </a:solidFill>
                <a:latin typeface="Arial" charset="0"/>
                <a:cs typeface="Arial" charset="0"/>
              </a:rPr>
              <a:t>Unmitigated chemical consequence analysis should use reasonably conservative values for the parameters related to material release, dispersal in the environment and health consequences </a:t>
            </a:r>
          </a:p>
          <a:p>
            <a:pPr marL="508000" lvl="1" eaLnBrk="1" hangingPunct="1">
              <a:spcBef>
                <a:spcPts val="1200"/>
              </a:spcBef>
              <a:spcAft>
                <a:spcPts val="600"/>
              </a:spcAft>
            </a:pPr>
            <a:r>
              <a:rPr lang="en-US" sz="2000" smtClean="0">
                <a:solidFill>
                  <a:schemeClr val="tx1"/>
                </a:solidFill>
                <a:latin typeface="Arial" charset="0"/>
                <a:cs typeface="Arial" charset="0"/>
              </a:rPr>
              <a:t>It is desirable to reduce any tendency toward over-conservatism to achieve the risk-informed balance in the design of the SSCs</a:t>
            </a:r>
          </a:p>
        </p:txBody>
      </p:sp>
      <p:sp>
        <p:nvSpPr>
          <p:cNvPr id="5" name="Slide Number Placeholder 4"/>
          <p:cNvSpPr>
            <a:spLocks noGrp="1"/>
          </p:cNvSpPr>
          <p:nvPr>
            <p:ph type="sldNum" sz="quarter" idx="10"/>
          </p:nvPr>
        </p:nvSpPr>
        <p:spPr/>
        <p:txBody>
          <a:bodyPr/>
          <a:lstStyle/>
          <a:p>
            <a:pPr>
              <a:defRPr/>
            </a:pPr>
            <a:fld id="{CAFF03C9-CBAF-4F43-BCF4-EA035573284E}" type="slidenum">
              <a:rPr lang="en-US" smtClean="0"/>
              <a:pPr>
                <a:defRPr/>
              </a:pPr>
              <a:t>115</a:t>
            </a:fld>
            <a:endParaRPr lang="en-US"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rtlCol="0">
            <a:noAutofit/>
          </a:bodyPr>
          <a:lstStyle/>
          <a:p>
            <a:pPr eaLnBrk="1" fontAlgn="auto" hangingPunct="1">
              <a:spcAft>
                <a:spcPts val="0"/>
              </a:spcAft>
              <a:defRPr/>
            </a:pPr>
            <a:r>
              <a:rPr lang="en-US" sz="2800" cap="small" dirty="0" smtClean="0"/>
              <a:t>Advisory Criteria for </a:t>
            </a:r>
            <a:br>
              <a:rPr lang="en-US" sz="2800" cap="small" dirty="0" smtClean="0"/>
            </a:br>
            <a:r>
              <a:rPr lang="en-US" sz="2800" cap="small" dirty="0" smtClean="0"/>
              <a:t>Safety Significant Classification</a:t>
            </a:r>
          </a:p>
        </p:txBody>
      </p:sp>
      <p:sp>
        <p:nvSpPr>
          <p:cNvPr id="137219" name="Rectangle 3"/>
          <p:cNvSpPr>
            <a:spLocks noGrp="1" noChangeArrowheads="1"/>
          </p:cNvSpPr>
          <p:nvPr>
            <p:ph idx="1"/>
          </p:nvPr>
        </p:nvSpPr>
        <p:spPr>
          <a:xfrm>
            <a:off x="533400" y="1905000"/>
            <a:ext cx="8234363" cy="4343400"/>
          </a:xfrm>
        </p:spPr>
        <p:txBody>
          <a:bodyPr/>
          <a:lstStyle/>
          <a:p>
            <a:pPr marL="401638" indent="-374650" eaLnBrk="1" hangingPunct="1">
              <a:defRPr/>
            </a:pPr>
            <a:r>
              <a:rPr lang="en-US" dirty="0" smtClean="0"/>
              <a:t>Public </a:t>
            </a:r>
          </a:p>
          <a:p>
            <a:pPr marL="908050" lvl="1" indent="-422275" eaLnBrk="1" hangingPunct="1">
              <a:buFont typeface="Arial" charset="0"/>
              <a:buChar char="–"/>
              <a:defRPr/>
            </a:pPr>
            <a:r>
              <a:rPr lang="en-US" dirty="0" smtClean="0">
                <a:solidFill>
                  <a:schemeClr val="tx1"/>
                </a:solidFill>
              </a:rPr>
              <a:t>Exposure &gt; AEGL-2/ERPG-2/TEEL-2</a:t>
            </a:r>
          </a:p>
          <a:p>
            <a:pPr marL="1390650" lvl="2" indent="-533400" eaLnBrk="1" hangingPunct="1">
              <a:defRPr/>
            </a:pPr>
            <a:r>
              <a:rPr lang="en-US" sz="2400" dirty="0" smtClean="0">
                <a:solidFill>
                  <a:schemeClr val="tx1"/>
                </a:solidFill>
              </a:rPr>
              <a:t>(Potential for irreversible or serious long-lasting health effects) </a:t>
            </a:r>
          </a:p>
          <a:p>
            <a:pPr marL="401638" indent="-401638" eaLnBrk="1" hangingPunct="1">
              <a:defRPr/>
            </a:pPr>
            <a:r>
              <a:rPr lang="en-US" dirty="0" smtClean="0"/>
              <a:t>Collocated Worker</a:t>
            </a:r>
          </a:p>
          <a:p>
            <a:pPr marL="908050" lvl="1" indent="-477838" eaLnBrk="1" hangingPunct="1">
              <a:buFont typeface="Arial" charset="0"/>
              <a:buChar char="–"/>
              <a:defRPr/>
            </a:pPr>
            <a:r>
              <a:rPr lang="en-US" dirty="0" smtClean="0">
                <a:solidFill>
                  <a:schemeClr val="tx1"/>
                </a:solidFill>
              </a:rPr>
              <a:t>Exposure &gt; AEGL-3/ERPG-3/TEEL-3</a:t>
            </a:r>
          </a:p>
          <a:p>
            <a:pPr marL="1320800" lvl="2" indent="-420688" eaLnBrk="1" hangingPunct="1">
              <a:defRPr/>
            </a:pPr>
            <a:r>
              <a:rPr lang="en-US" sz="2400" dirty="0" smtClean="0">
                <a:solidFill>
                  <a:schemeClr val="tx1"/>
                </a:solidFill>
              </a:rPr>
              <a:t>  (Potential for life threatening health effects or death)</a:t>
            </a:r>
          </a:p>
          <a:p>
            <a:pPr marL="452438" indent="-420688" eaLnBrk="1" hangingPunct="1">
              <a:defRPr/>
            </a:pPr>
            <a:r>
              <a:rPr lang="en-US" dirty="0" smtClean="0"/>
              <a:t>Hierarchy</a:t>
            </a:r>
          </a:p>
          <a:p>
            <a:pPr marL="990600" lvl="1" indent="-533400" eaLnBrk="1" hangingPunct="1">
              <a:buFont typeface="Arial" charset="0"/>
              <a:buChar char="–"/>
              <a:defRPr/>
            </a:pPr>
            <a:r>
              <a:rPr lang="en-US" dirty="0" smtClean="0">
                <a:solidFill>
                  <a:schemeClr val="tx1"/>
                </a:solidFill>
              </a:rPr>
              <a:t>AEGL, ERPG, TEEL</a:t>
            </a:r>
          </a:p>
          <a:p>
            <a:pPr marL="852488" lvl="1" indent="-420688" eaLnBrk="1" hangingPunct="1">
              <a:buFont typeface="Symbol" pitchFamily="18" charset="2"/>
              <a:buChar char=""/>
              <a:defRPr/>
            </a:pPr>
            <a:endParaRPr lang="en-US" sz="2800" dirty="0" smtClean="0">
              <a:solidFill>
                <a:schemeClr val="tx1"/>
              </a:solidFill>
            </a:endParaRPr>
          </a:p>
          <a:p>
            <a:pPr marL="452438" indent="-420688" eaLnBrk="1" hangingPunct="1">
              <a:defRPr/>
            </a:pPr>
            <a:endParaRPr lang="en-US" sz="3200" dirty="0" smtClean="0"/>
          </a:p>
        </p:txBody>
      </p:sp>
      <p:sp>
        <p:nvSpPr>
          <p:cNvPr id="5" name="Slide Number Placeholder 4"/>
          <p:cNvSpPr>
            <a:spLocks noGrp="1"/>
          </p:cNvSpPr>
          <p:nvPr>
            <p:ph type="sldNum" sz="quarter" idx="10"/>
          </p:nvPr>
        </p:nvSpPr>
        <p:spPr/>
        <p:txBody>
          <a:bodyPr/>
          <a:lstStyle/>
          <a:p>
            <a:pPr>
              <a:defRPr/>
            </a:pPr>
            <a:fld id="{4CC89655-22F4-4723-B4C6-DA50273FA8AB}" type="slidenum">
              <a:rPr lang="en-US" smtClean="0"/>
              <a:pPr>
                <a:defRPr/>
              </a:pPr>
              <a:t>116</a:t>
            </a:fld>
            <a:endParaRPr 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Additional Notes</a:t>
            </a:r>
            <a:endParaRPr lang="en-US" sz="3200" cap="small" dirty="0"/>
          </a:p>
        </p:txBody>
      </p:sp>
      <p:sp>
        <p:nvSpPr>
          <p:cNvPr id="132099" name="Content Placeholder 2"/>
          <p:cNvSpPr>
            <a:spLocks noGrp="1"/>
          </p:cNvSpPr>
          <p:nvPr>
            <p:ph idx="1"/>
          </p:nvPr>
        </p:nvSpPr>
        <p:spPr>
          <a:xfrm>
            <a:off x="533400" y="2057400"/>
            <a:ext cx="8234363" cy="4191000"/>
          </a:xfrm>
        </p:spPr>
        <p:txBody>
          <a:bodyPr/>
          <a:lstStyle/>
          <a:p>
            <a:pPr eaLnBrk="1" hangingPunct="1">
              <a:spcBef>
                <a:spcPts val="1200"/>
              </a:spcBef>
              <a:spcAft>
                <a:spcPts val="600"/>
              </a:spcAft>
            </a:pPr>
            <a:r>
              <a:rPr lang="en-US" sz="2400" smtClean="0">
                <a:latin typeface="Arial" charset="0"/>
                <a:cs typeface="Arial" charset="0"/>
              </a:rPr>
              <a:t>DNFSB issue on design guidance for Safety Significant SSCs is being addressed:</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in a new draft DOE standard implementing </a:t>
            </a:r>
            <a:br>
              <a:rPr lang="en-US" sz="2000" smtClean="0">
                <a:solidFill>
                  <a:schemeClr val="tx1"/>
                </a:solidFill>
                <a:latin typeface="Arial" charset="0"/>
                <a:cs typeface="Arial" charset="0"/>
              </a:rPr>
            </a:br>
            <a:r>
              <a:rPr lang="en-US" sz="2000" smtClean="0">
                <a:solidFill>
                  <a:schemeClr val="tx1"/>
                </a:solidFill>
                <a:latin typeface="Arial" charset="0"/>
                <a:cs typeface="Arial" charset="0"/>
              </a:rPr>
              <a:t>ANSI/ISA-84.00.01(ISA-84), </a:t>
            </a:r>
            <a:r>
              <a:rPr lang="en-US" sz="2000" i="1" smtClean="0">
                <a:solidFill>
                  <a:schemeClr val="tx1"/>
                </a:solidFill>
                <a:latin typeface="Arial" charset="0"/>
                <a:cs typeface="Arial" charset="0"/>
              </a:rPr>
              <a:t>Functional Safety: Safety Instrumented Systems for the Process Industry Sector</a:t>
            </a:r>
            <a:r>
              <a:rPr lang="en-US" sz="2000" smtClean="0">
                <a:solidFill>
                  <a:schemeClr val="tx1"/>
                </a:solidFill>
                <a:latin typeface="Arial" charset="0"/>
                <a:cs typeface="Arial" charset="0"/>
              </a:rPr>
              <a:t>, </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by a revision to DOE G 420.1-1.</a:t>
            </a:r>
          </a:p>
          <a:p>
            <a:pPr eaLnBrk="1" hangingPunct="1">
              <a:spcBef>
                <a:spcPts val="1200"/>
              </a:spcBef>
              <a:spcAft>
                <a:spcPts val="600"/>
              </a:spcAft>
            </a:pPr>
            <a:r>
              <a:rPr lang="en-US" sz="2400" smtClean="0">
                <a:latin typeface="Arial" charset="0"/>
                <a:cs typeface="Arial" charset="0"/>
              </a:rPr>
              <a:t>NNSA and EM each have issued guidance for Natural Phenomena Hazard (NPH) classification based on chemical hazard levels to the public and to workers</a:t>
            </a:r>
          </a:p>
        </p:txBody>
      </p:sp>
      <p:sp>
        <p:nvSpPr>
          <p:cNvPr id="5" name="Slide Number Placeholder 4"/>
          <p:cNvSpPr>
            <a:spLocks noGrp="1"/>
          </p:cNvSpPr>
          <p:nvPr>
            <p:ph type="sldNum" sz="quarter" idx="10"/>
          </p:nvPr>
        </p:nvSpPr>
        <p:spPr/>
        <p:txBody>
          <a:bodyPr/>
          <a:lstStyle/>
          <a:p>
            <a:pPr>
              <a:defRPr/>
            </a:pPr>
            <a:fld id="{627C79F2-2ECF-48DF-97BC-885BA1E3DCD8}" type="slidenum">
              <a:rPr lang="en-US" smtClean="0"/>
              <a:pPr>
                <a:defRPr/>
              </a:pPr>
              <a:t>117</a:t>
            </a:fld>
            <a:endParaRPr 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rtlCol="0">
            <a:noAutofit/>
          </a:bodyPr>
          <a:lstStyle/>
          <a:p>
            <a:pPr eaLnBrk="1" fontAlgn="auto" hangingPunct="1">
              <a:spcAft>
                <a:spcPts val="0"/>
              </a:spcAft>
              <a:defRPr/>
            </a:pPr>
            <a:r>
              <a:rPr lang="en-US" sz="3200" cap="small" dirty="0" smtClean="0"/>
              <a:t>EM Chemical Hazard </a:t>
            </a:r>
            <a:br>
              <a:rPr lang="en-US" sz="3200" cap="small" dirty="0" smtClean="0"/>
            </a:br>
            <a:r>
              <a:rPr lang="en-US" sz="3200" cap="small" dirty="0" smtClean="0"/>
              <a:t>NPH Guidance</a:t>
            </a:r>
            <a:endParaRPr lang="en-US" sz="3200" cap="small" dirty="0"/>
          </a:p>
        </p:txBody>
      </p:sp>
      <p:sp>
        <p:nvSpPr>
          <p:cNvPr id="133123" name="Content Placeholder 2"/>
          <p:cNvSpPr>
            <a:spLocks noGrp="1"/>
          </p:cNvSpPr>
          <p:nvPr>
            <p:ph idx="1"/>
          </p:nvPr>
        </p:nvSpPr>
        <p:spPr>
          <a:xfrm>
            <a:off x="533400" y="1981200"/>
            <a:ext cx="8234363" cy="4267200"/>
          </a:xfrm>
        </p:spPr>
        <p:txBody>
          <a:bodyPr/>
          <a:lstStyle/>
          <a:p>
            <a:pPr eaLnBrk="1" hangingPunct="1">
              <a:spcBef>
                <a:spcPts val="1200"/>
              </a:spcBef>
            </a:pPr>
            <a:r>
              <a:rPr lang="en-US" sz="2400" smtClean="0">
                <a:latin typeface="Arial" charset="0"/>
                <a:cs typeface="Arial" charset="0"/>
              </a:rPr>
              <a:t>Reference: 4/15/09 memo from Owendoff on Implementation of DOE-STD-1189, </a:t>
            </a:r>
            <a:r>
              <a:rPr lang="en-US" sz="2400" i="1" smtClean="0">
                <a:latin typeface="Arial" charset="0"/>
                <a:cs typeface="Arial" charset="0"/>
              </a:rPr>
              <a:t>Integration of Safety into the Design Process</a:t>
            </a:r>
            <a:r>
              <a:rPr lang="en-US" sz="2400" smtClean="0">
                <a:latin typeface="Arial" charset="0"/>
                <a:cs typeface="Arial" charset="0"/>
              </a:rPr>
              <a:t> for Environmental Management Activities</a:t>
            </a:r>
          </a:p>
          <a:p>
            <a:pPr lvl="1" eaLnBrk="1" hangingPunct="1">
              <a:spcBef>
                <a:spcPts val="1200"/>
              </a:spcBef>
              <a:buFont typeface="Arial" charset="0"/>
              <a:buChar char="–"/>
            </a:pPr>
            <a:r>
              <a:rPr lang="en-US" sz="2000" smtClean="0">
                <a:solidFill>
                  <a:schemeClr val="tx1"/>
                </a:solidFill>
                <a:latin typeface="Arial" charset="0"/>
                <a:cs typeface="Arial" charset="0"/>
              </a:rPr>
              <a:t>Note: also addresses non-seismic NPH</a:t>
            </a:r>
          </a:p>
          <a:p>
            <a:pPr lvl="1" eaLnBrk="1" hangingPunct="1">
              <a:spcBef>
                <a:spcPts val="1200"/>
              </a:spcBef>
              <a:buFont typeface="Arial" charset="0"/>
              <a:buChar char="–"/>
            </a:pPr>
            <a:r>
              <a:rPr lang="en-US" sz="2000" smtClean="0">
                <a:solidFill>
                  <a:schemeClr val="tx1"/>
                </a:solidFill>
                <a:latin typeface="Arial" charset="0"/>
                <a:cs typeface="Arial" charset="0"/>
              </a:rPr>
              <a:t>For chemical hazards, use Appendix A </a:t>
            </a:r>
            <a:r>
              <a:rPr lang="en-US" sz="2000" i="1" smtClean="0">
                <a:solidFill>
                  <a:schemeClr val="tx1"/>
                </a:solidFill>
                <a:latin typeface="Arial" charset="0"/>
                <a:cs typeface="Arial" charset="0"/>
              </a:rPr>
              <a:t>X</a:t>
            </a:r>
            <a:r>
              <a:rPr lang="en-US" sz="2000" smtClean="0">
                <a:solidFill>
                  <a:schemeClr val="tx1"/>
                </a:solidFill>
                <a:latin typeface="Arial" charset="0"/>
                <a:cs typeface="Arial" charset="0"/>
              </a:rPr>
              <a:t>/Q unless heavy gases or high wind/tornados are involved</a:t>
            </a:r>
          </a:p>
          <a:p>
            <a:pPr lvl="1" eaLnBrk="1" hangingPunct="1">
              <a:spcBef>
                <a:spcPts val="1200"/>
              </a:spcBef>
              <a:buFont typeface="Arial" charset="0"/>
              <a:buChar char="–"/>
            </a:pPr>
            <a:r>
              <a:rPr lang="en-US" sz="2000" smtClean="0">
                <a:solidFill>
                  <a:schemeClr val="tx1"/>
                </a:solidFill>
                <a:latin typeface="Arial" charset="0"/>
                <a:cs typeface="Arial" charset="0"/>
              </a:rPr>
              <a:t>Criteria of Appendix B will be applied for safety significant designation and PC-3 designation, subject to cost/benefit analysis and consultation with EM HQ</a:t>
            </a:r>
          </a:p>
          <a:p>
            <a:pPr eaLnBrk="1" hangingPunct="1">
              <a:spcBef>
                <a:spcPts val="1200"/>
              </a:spcBef>
            </a:pPr>
            <a:r>
              <a:rPr lang="en-US" sz="2400" smtClean="0">
                <a:latin typeface="Arial" charset="0"/>
                <a:cs typeface="Arial" charset="0"/>
              </a:rPr>
              <a:t>Consult the referenced document for details</a:t>
            </a:r>
          </a:p>
          <a:p>
            <a:pPr eaLnBrk="1" hangingPunct="1">
              <a:lnSpc>
                <a:spcPct val="90000"/>
              </a:lnSpc>
              <a:buFont typeface="Arial" charset="0"/>
              <a:buChar char="•"/>
            </a:pPr>
            <a:endParaRPr lang="en-US" sz="2400" smtClean="0">
              <a:latin typeface="Arial" charset="0"/>
              <a:cs typeface="Arial" charset="0"/>
            </a:endParaRPr>
          </a:p>
        </p:txBody>
      </p:sp>
      <p:sp>
        <p:nvSpPr>
          <p:cNvPr id="7" name="Slide Number Placeholder 6"/>
          <p:cNvSpPr>
            <a:spLocks noGrp="1"/>
          </p:cNvSpPr>
          <p:nvPr>
            <p:ph type="sldNum" sz="quarter" idx="10"/>
          </p:nvPr>
        </p:nvSpPr>
        <p:spPr/>
        <p:txBody>
          <a:bodyPr/>
          <a:lstStyle/>
          <a:p>
            <a:pPr>
              <a:defRPr/>
            </a:pPr>
            <a:fld id="{290E844A-7A22-47F7-A762-CBA16BA969FB}" type="slidenum">
              <a:rPr lang="en-US" smtClean="0"/>
              <a:pPr>
                <a:defRPr/>
              </a:pPr>
              <a:t>118</a:t>
            </a:fld>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Title 1"/>
          <p:cNvSpPr>
            <a:spLocks noGrp="1"/>
          </p:cNvSpPr>
          <p:nvPr>
            <p:ph type="title"/>
          </p:nvPr>
        </p:nvSpPr>
        <p:spPr/>
        <p:txBody>
          <a:bodyPr/>
          <a:lstStyle/>
          <a:p>
            <a:pPr eaLnBrk="1" hangingPunct="1">
              <a:defRPr/>
            </a:pPr>
            <a:r>
              <a:rPr lang="en-US" sz="3200" cap="small" dirty="0" smtClean="0">
                <a:latin typeface="Arial" charset="0"/>
                <a:cs typeface="Arial" charset="0"/>
              </a:rPr>
              <a:t>NNSA CHEMICAL HAZARD</a:t>
            </a:r>
            <a:br>
              <a:rPr lang="en-US" sz="3200" cap="small" dirty="0" smtClean="0">
                <a:latin typeface="Arial" charset="0"/>
                <a:cs typeface="Arial" charset="0"/>
              </a:rPr>
            </a:br>
            <a:r>
              <a:rPr lang="en-US" sz="3200" cap="small" dirty="0" smtClean="0">
                <a:latin typeface="Arial" charset="0"/>
                <a:cs typeface="Arial" charset="0"/>
              </a:rPr>
              <a:t> NPH GUIDANCE</a:t>
            </a:r>
            <a:r>
              <a:rPr lang="en-US" sz="3200" dirty="0" smtClean="0">
                <a:latin typeface="Arial" charset="0"/>
                <a:cs typeface="Arial" charset="0"/>
              </a:rPr>
              <a:t/>
            </a:r>
            <a:br>
              <a:rPr lang="en-US" sz="3200" dirty="0" smtClean="0">
                <a:latin typeface="Arial" charset="0"/>
                <a:cs typeface="Arial" charset="0"/>
              </a:rPr>
            </a:br>
            <a:r>
              <a:rPr lang="en-US" sz="2000" cap="small" dirty="0" smtClean="0"/>
              <a:t> (Slide 1 of 2) </a:t>
            </a:r>
            <a:endParaRPr lang="en-US" sz="3200" dirty="0" smtClean="0">
              <a:latin typeface="Arial" charset="0"/>
              <a:cs typeface="Arial" charset="0"/>
            </a:endParaRPr>
          </a:p>
        </p:txBody>
      </p:sp>
      <p:sp>
        <p:nvSpPr>
          <p:cNvPr id="134147" name="Content Placeholder 2"/>
          <p:cNvSpPr>
            <a:spLocks noGrp="1"/>
          </p:cNvSpPr>
          <p:nvPr>
            <p:ph idx="1"/>
          </p:nvPr>
        </p:nvSpPr>
        <p:spPr/>
        <p:txBody>
          <a:bodyPr/>
          <a:lstStyle/>
          <a:p>
            <a:pPr eaLnBrk="1" hangingPunct="1">
              <a:spcBef>
                <a:spcPts val="1200"/>
              </a:spcBef>
              <a:spcAft>
                <a:spcPts val="600"/>
              </a:spcAft>
            </a:pPr>
            <a:r>
              <a:rPr lang="en-US" sz="2000" smtClean="0">
                <a:latin typeface="Arial" charset="0"/>
                <a:cs typeface="Arial" charset="0"/>
              </a:rPr>
              <a:t>Reference: 7/9/2009 memo from D’Agostino to the Deputy Administrator for Defense Programs (and others), Guidance and Expectations for DOE-STD-1189-2008, </a:t>
            </a:r>
            <a:r>
              <a:rPr lang="en-US" sz="2000" i="1" smtClean="0">
                <a:latin typeface="Arial" charset="0"/>
                <a:cs typeface="Arial" charset="0"/>
              </a:rPr>
              <a:t>Integration of Safety into the Design Process</a:t>
            </a:r>
            <a:r>
              <a:rPr lang="en-US" sz="2000" smtClean="0">
                <a:latin typeface="Arial" charset="0"/>
                <a:cs typeface="Arial" charset="0"/>
              </a:rPr>
              <a:t>, Natural Phenomena Hazard Design Basis Criteria for Chemical Hazard Safety Structures and Components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Note: also addresses non seismic NPH</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Guidance mandatory for projects not yet in preliminary design (July, 2009)</a:t>
            </a:r>
          </a:p>
          <a:p>
            <a:pPr lvl="1" eaLnBrk="1" hangingPunct="1">
              <a:spcBef>
                <a:spcPts val="1200"/>
              </a:spcBef>
              <a:spcAft>
                <a:spcPts val="600"/>
              </a:spcAft>
              <a:buFont typeface="Arial" charset="0"/>
              <a:buChar char="–"/>
            </a:pPr>
            <a:endParaRPr lang="en-US"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60AD0E6F-79AE-4A85-8C12-C03E6F10717A}" type="slidenum">
              <a:rPr lang="en-US" smtClean="0"/>
              <a:pPr>
                <a:defRPr/>
              </a:pPr>
              <a:t>119</a:t>
            </a:fld>
            <a:endParaRPr lang="en-US"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2800" cap="small" dirty="0" smtClean="0"/>
              <a:t>NNSA CHEMICAL HAZARD</a:t>
            </a:r>
            <a:br>
              <a:rPr lang="en-US" sz="2800" cap="small" dirty="0" smtClean="0"/>
            </a:br>
            <a:r>
              <a:rPr lang="en-US" sz="2800" cap="small" dirty="0" smtClean="0"/>
              <a:t> NPH GUIDANCE</a:t>
            </a:r>
            <a:br>
              <a:rPr lang="en-US" sz="2800" cap="small" dirty="0" smtClean="0"/>
            </a:br>
            <a:r>
              <a:rPr lang="en-US" sz="1800" cap="small" dirty="0" smtClean="0"/>
              <a:t> (Slide 2 of 2) </a:t>
            </a:r>
            <a:endParaRPr lang="en-US" sz="2800" cap="small" dirty="0"/>
          </a:p>
        </p:txBody>
      </p:sp>
      <p:sp>
        <p:nvSpPr>
          <p:cNvPr id="135171" name="Content Placeholder 2"/>
          <p:cNvSpPr>
            <a:spLocks noGrp="1"/>
          </p:cNvSpPr>
          <p:nvPr>
            <p:ph idx="1"/>
          </p:nvPr>
        </p:nvSpPr>
        <p:spPr/>
        <p:txBody>
          <a:bodyPr/>
          <a:lstStyle/>
          <a:p>
            <a:pPr lvl="1" eaLnBrk="1" hangingPunct="1">
              <a:spcBef>
                <a:spcPts val="1200"/>
              </a:spcBef>
              <a:spcAft>
                <a:spcPts val="600"/>
              </a:spcAft>
              <a:buFont typeface="Arial" charset="0"/>
              <a:buChar char="–"/>
            </a:pPr>
            <a:r>
              <a:rPr lang="en-US" sz="1800" smtClean="0">
                <a:solidFill>
                  <a:schemeClr val="tx1"/>
                </a:solidFill>
                <a:latin typeface="Arial" charset="0"/>
                <a:cs typeface="Arial" charset="0"/>
              </a:rPr>
              <a:t>Appendix B criteria suggested for use for safety significant classification and initial categorization of SDC-3 or PC-3 (rad and non-rad)</a:t>
            </a:r>
          </a:p>
          <a:p>
            <a:pPr marL="1143000" lvl="2" eaLnBrk="1" hangingPunct="1">
              <a:spcBef>
                <a:spcPts val="1200"/>
              </a:spcBef>
              <a:spcAft>
                <a:spcPts val="600"/>
              </a:spcAft>
              <a:buFont typeface="Arial" charset="0"/>
              <a:buChar char="•"/>
            </a:pPr>
            <a:r>
              <a:rPr lang="en-US" sz="1800" smtClean="0">
                <a:solidFill>
                  <a:schemeClr val="tx1"/>
                </a:solidFill>
                <a:latin typeface="Arial" charset="0"/>
                <a:cs typeface="Arial" charset="0"/>
              </a:rPr>
              <a:t>SDC-2 or PC-2 may be justified based on technical or cost/benefit considerations with approval of Acquisition Executive</a:t>
            </a:r>
          </a:p>
          <a:p>
            <a:pPr lvl="1" eaLnBrk="1" hangingPunct="1">
              <a:spcBef>
                <a:spcPts val="1200"/>
              </a:spcBef>
              <a:spcAft>
                <a:spcPts val="600"/>
              </a:spcAft>
              <a:buFont typeface="Arial" charset="0"/>
              <a:buChar char="–"/>
            </a:pPr>
            <a:r>
              <a:rPr lang="en-US" sz="1800" smtClean="0">
                <a:solidFill>
                  <a:schemeClr val="tx1"/>
                </a:solidFill>
                <a:latin typeface="Arial" charset="0"/>
                <a:cs typeface="Arial" charset="0"/>
              </a:rPr>
              <a:t>Similar guidance for in-facility worker protection (SDC-3 or PC-3) when it is necessary for them to remain in the facility after an accident for safety related purposes</a:t>
            </a:r>
          </a:p>
          <a:p>
            <a:pPr lvl="1" eaLnBrk="1" hangingPunct="1">
              <a:spcBef>
                <a:spcPts val="1200"/>
              </a:spcBef>
              <a:spcAft>
                <a:spcPts val="600"/>
              </a:spcAft>
              <a:buFont typeface="Arial" charset="0"/>
              <a:buChar char="–"/>
            </a:pPr>
            <a:r>
              <a:rPr lang="en-US" sz="1800" smtClean="0">
                <a:solidFill>
                  <a:schemeClr val="tx1"/>
                </a:solidFill>
                <a:latin typeface="Arial" charset="0"/>
                <a:cs typeface="Arial" charset="0"/>
              </a:rPr>
              <a:t>Appendix C criteria suggested to be used for safety significant classification for in-facility workers </a:t>
            </a:r>
          </a:p>
          <a:p>
            <a:pPr eaLnBrk="1" hangingPunct="1">
              <a:spcBef>
                <a:spcPts val="1200"/>
              </a:spcBef>
              <a:spcAft>
                <a:spcPts val="600"/>
              </a:spcAft>
            </a:pPr>
            <a:r>
              <a:rPr lang="en-US" sz="2000" smtClean="0">
                <a:latin typeface="Arial" charset="0"/>
                <a:cs typeface="Arial" charset="0"/>
              </a:rPr>
              <a:t>Consult the referenced document for details</a:t>
            </a:r>
            <a:endParaRPr lang="en-US" sz="32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23F6737B-369E-4DE3-B5B6-65FB42657515}" type="slidenum">
              <a:rPr lang="en-US" smtClean="0"/>
              <a:pPr>
                <a:defRPr/>
              </a:pPr>
              <a:t>120</a:t>
            </a:fld>
            <a:endParaRPr lang="en-US"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6" name="Rectangle 4"/>
          <p:cNvSpPr>
            <a:spLocks noGrp="1" noChangeArrowheads="1"/>
          </p:cNvSpPr>
          <p:nvPr>
            <p:ph type="title"/>
          </p:nvPr>
        </p:nvSpPr>
        <p:spPr/>
        <p:txBody>
          <a:bodyPr rtlCol="0">
            <a:normAutofit/>
          </a:bodyPr>
          <a:lstStyle/>
          <a:p>
            <a:pPr marL="63500" indent="-38100" eaLnBrk="1" fontAlgn="auto" hangingPunct="1">
              <a:spcAft>
                <a:spcPts val="0"/>
              </a:spcAft>
              <a:defRPr/>
            </a:pPr>
            <a:r>
              <a:rPr lang="en-US" sz="2800" cap="small" dirty="0" smtClean="0"/>
              <a:t>Safety and Design Integration </a:t>
            </a:r>
            <a:br>
              <a:rPr lang="en-US" sz="2800" cap="small" dirty="0" smtClean="0"/>
            </a:br>
            <a:r>
              <a:rPr lang="en-US" sz="2800" cap="small" dirty="0" smtClean="0"/>
              <a:t>DOE-STD-1189-2008</a:t>
            </a:r>
          </a:p>
        </p:txBody>
      </p:sp>
      <p:sp>
        <p:nvSpPr>
          <p:cNvPr id="136195" name="Rectangle 5"/>
          <p:cNvSpPr>
            <a:spLocks noGrp="1" noChangeArrowheads="1"/>
          </p:cNvSpPr>
          <p:nvPr>
            <p:ph idx="1"/>
          </p:nvPr>
        </p:nvSpPr>
        <p:spPr/>
        <p:txBody>
          <a:bodyPr/>
          <a:lstStyle/>
          <a:p>
            <a:pPr algn="ctr" eaLnBrk="1" hangingPunct="1">
              <a:buFont typeface="Wingdings" pitchFamily="2" charset="2"/>
              <a:buNone/>
            </a:pPr>
            <a:endParaRPr lang="en-US" sz="2400" smtClean="0">
              <a:solidFill>
                <a:srgbClr val="C00000"/>
              </a:solidFill>
              <a:latin typeface="Arial" charset="0"/>
              <a:cs typeface="Arial" charset="0"/>
            </a:endParaRPr>
          </a:p>
          <a:p>
            <a:pPr algn="ctr" eaLnBrk="1" hangingPunct="1">
              <a:buFont typeface="Wingdings" pitchFamily="2" charset="2"/>
              <a:buNone/>
            </a:pPr>
            <a:endParaRPr lang="en-US" sz="2400" smtClean="0">
              <a:solidFill>
                <a:srgbClr val="C00000"/>
              </a:solidFill>
              <a:latin typeface="Arial" charset="0"/>
              <a:cs typeface="Arial" charset="0"/>
            </a:endParaRPr>
          </a:p>
          <a:p>
            <a:pPr algn="ctr" eaLnBrk="1" hangingPunct="1">
              <a:buFont typeface="Wingdings" pitchFamily="2" charset="2"/>
              <a:buNone/>
            </a:pPr>
            <a:endParaRPr lang="en-US" sz="2400" smtClean="0">
              <a:solidFill>
                <a:srgbClr val="C00000"/>
              </a:solidFill>
              <a:latin typeface="Arial" charset="0"/>
              <a:cs typeface="Arial" charset="0"/>
            </a:endParaRPr>
          </a:p>
          <a:p>
            <a:pPr algn="ctr" eaLnBrk="1" hangingPunct="1">
              <a:buFont typeface="Wingdings" pitchFamily="2" charset="2"/>
              <a:buNone/>
            </a:pPr>
            <a:endParaRPr lang="en-US" sz="2400" smtClean="0">
              <a:solidFill>
                <a:srgbClr val="C00000"/>
              </a:solidFill>
              <a:latin typeface="Arial" charset="0"/>
              <a:cs typeface="Arial" charset="0"/>
            </a:endParaRPr>
          </a:p>
          <a:p>
            <a:pPr algn="ctr" eaLnBrk="1" hangingPunct="1">
              <a:buFont typeface="Wingdings" pitchFamily="2" charset="2"/>
              <a:buNone/>
            </a:pPr>
            <a:r>
              <a:rPr lang="en-US" sz="2400" smtClean="0">
                <a:solidFill>
                  <a:srgbClr val="C00000"/>
                </a:solidFill>
                <a:latin typeface="Arial" charset="0"/>
                <a:cs typeface="Arial" charset="0"/>
              </a:rPr>
              <a:t>Appendix C – Facility Worker Hazard Evaluation</a:t>
            </a:r>
          </a:p>
        </p:txBody>
      </p:sp>
      <p:sp>
        <p:nvSpPr>
          <p:cNvPr id="4" name="Slide Number Placeholder 3"/>
          <p:cNvSpPr>
            <a:spLocks noGrp="1"/>
          </p:cNvSpPr>
          <p:nvPr>
            <p:ph type="sldNum" sz="quarter" idx="10"/>
          </p:nvPr>
        </p:nvSpPr>
        <p:spPr/>
        <p:txBody>
          <a:bodyPr/>
          <a:lstStyle/>
          <a:p>
            <a:pPr>
              <a:defRPr/>
            </a:pPr>
            <a:fld id="{B39F2A5D-04CE-4343-BDD5-3CFE2CEFFA33}" type="slidenum">
              <a:rPr lang="en-US" smtClean="0"/>
              <a:pPr>
                <a:defRPr/>
              </a:pPr>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Hazard Analysis</a:t>
            </a:r>
          </a:p>
        </p:txBody>
      </p:sp>
      <p:sp>
        <p:nvSpPr>
          <p:cNvPr id="142339" name="Rectangle 3"/>
          <p:cNvSpPr>
            <a:spLocks noGrp="1" noChangeArrowheads="1"/>
          </p:cNvSpPr>
          <p:nvPr>
            <p:ph idx="1"/>
          </p:nvPr>
        </p:nvSpPr>
        <p:spPr>
          <a:xfrm>
            <a:off x="533400" y="1981200"/>
            <a:ext cx="8234363" cy="4267200"/>
          </a:xfrm>
        </p:spPr>
        <p:txBody>
          <a:bodyPr/>
          <a:lstStyle/>
          <a:p>
            <a:pPr marL="0" indent="25400" eaLnBrk="1" hangingPunct="1">
              <a:spcBef>
                <a:spcPts val="1200"/>
              </a:spcBef>
              <a:buFont typeface="Wingdings" pitchFamily="2" charset="2"/>
              <a:buNone/>
              <a:defRPr/>
            </a:pPr>
            <a:r>
              <a:rPr lang="en-US" sz="2400" dirty="0" smtClean="0"/>
              <a:t>A qualitative evaluation of unmitigated consequence to the facility worker (FW) considering:</a:t>
            </a:r>
          </a:p>
          <a:p>
            <a:pPr marL="450850" lvl="2" indent="-438150" eaLnBrk="1" hangingPunct="1">
              <a:spcBef>
                <a:spcPts val="1200"/>
              </a:spcBef>
              <a:buClr>
                <a:schemeClr val="tx1"/>
              </a:buClr>
              <a:buFont typeface="Arial" pitchFamily="34" charset="0"/>
              <a:buChar char="-"/>
              <a:defRPr/>
            </a:pPr>
            <a:r>
              <a:rPr lang="en-US" dirty="0" smtClean="0">
                <a:solidFill>
                  <a:schemeClr val="tx1"/>
                </a:solidFill>
              </a:rPr>
              <a:t>energetic releases of radiological or toxic chemical materials where the FW would be unable to take self-protective actions;</a:t>
            </a:r>
          </a:p>
          <a:p>
            <a:pPr marL="450850" lvl="2" indent="-438150" eaLnBrk="1" hangingPunct="1">
              <a:spcBef>
                <a:spcPts val="1200"/>
              </a:spcBef>
              <a:buClr>
                <a:schemeClr val="tx1"/>
              </a:buClr>
              <a:buFont typeface="Arial" pitchFamily="34" charset="0"/>
              <a:buChar char="-"/>
              <a:defRPr/>
            </a:pPr>
            <a:r>
              <a:rPr lang="en-US" dirty="0" smtClean="0">
                <a:solidFill>
                  <a:schemeClr val="tx1"/>
                </a:solidFill>
              </a:rPr>
              <a:t>deflagrations or explosions where serious injury or death to a FW </a:t>
            </a:r>
            <a:r>
              <a:rPr lang="en-US" smtClean="0">
                <a:solidFill>
                  <a:schemeClr val="tx1"/>
                </a:solidFill>
              </a:rPr>
              <a:t>may result;</a:t>
            </a:r>
            <a:endParaRPr lang="en-US" dirty="0" smtClean="0">
              <a:solidFill>
                <a:schemeClr val="tx1"/>
              </a:solidFill>
            </a:endParaRPr>
          </a:p>
          <a:p>
            <a:pPr marL="450850" lvl="2" indent="-438150" eaLnBrk="1" hangingPunct="1">
              <a:spcBef>
                <a:spcPts val="1200"/>
              </a:spcBef>
              <a:buClr>
                <a:schemeClr val="tx1"/>
              </a:buClr>
              <a:buFont typeface="Arial" pitchFamily="34" charset="0"/>
              <a:buChar char="-"/>
              <a:defRPr/>
            </a:pPr>
            <a:r>
              <a:rPr lang="en-US" dirty="0" smtClean="0">
                <a:solidFill>
                  <a:schemeClr val="tx1"/>
                </a:solidFill>
              </a:rPr>
              <a:t>chemical or thermal burns to a FW that could reasonably cover a significant portion of the FW’s body; and</a:t>
            </a:r>
          </a:p>
          <a:p>
            <a:pPr marL="450850" lvl="2" indent="-438150" eaLnBrk="1" hangingPunct="1">
              <a:spcBef>
                <a:spcPts val="1200"/>
              </a:spcBef>
              <a:buClr>
                <a:schemeClr val="tx1"/>
              </a:buClr>
              <a:buFont typeface="Arial" pitchFamily="34" charset="0"/>
              <a:buChar char="-"/>
              <a:defRPr/>
            </a:pPr>
            <a:r>
              <a:rPr lang="en-US" dirty="0" smtClean="0">
                <a:solidFill>
                  <a:schemeClr val="tx1"/>
                </a:solidFill>
              </a:rPr>
              <a:t>leaks from process systems where asphyxiation of a FW normally present may result.</a:t>
            </a:r>
          </a:p>
          <a:p>
            <a:pPr marL="450850" lvl="2" indent="-438150" eaLnBrk="1" hangingPunct="1">
              <a:spcBef>
                <a:spcPts val="1200"/>
              </a:spcBef>
              <a:buClr>
                <a:schemeClr val="folHlink"/>
              </a:buClr>
              <a:buFont typeface="Wingdings" pitchFamily="2" charset="2"/>
              <a:buChar char="Ø"/>
              <a:defRPr/>
            </a:pPr>
            <a:endParaRPr lang="en-US" dirty="0" smtClean="0">
              <a:solidFill>
                <a:schemeClr val="tx1"/>
              </a:solidFill>
            </a:endParaRPr>
          </a:p>
          <a:p>
            <a:pPr indent="25400" eaLnBrk="1" hangingPunct="1">
              <a:spcBef>
                <a:spcPts val="1200"/>
              </a:spcBef>
              <a:buFont typeface="Wingdings" pitchFamily="2" charset="2"/>
              <a:buChar char="Ø"/>
              <a:defRPr/>
            </a:pPr>
            <a:endParaRPr lang="en-US" sz="2000" dirty="0" smtClean="0"/>
          </a:p>
        </p:txBody>
      </p:sp>
      <p:sp>
        <p:nvSpPr>
          <p:cNvPr id="5" name="Slide Number Placeholder 4"/>
          <p:cNvSpPr>
            <a:spLocks noGrp="1"/>
          </p:cNvSpPr>
          <p:nvPr>
            <p:ph type="sldNum" sz="quarter" idx="10"/>
          </p:nvPr>
        </p:nvSpPr>
        <p:spPr/>
        <p:txBody>
          <a:bodyPr/>
          <a:lstStyle/>
          <a:p>
            <a:pPr>
              <a:defRPr/>
            </a:pPr>
            <a:fld id="{073B432B-2C45-4434-9331-990AEA69D327}" type="slidenum">
              <a:rPr lang="en-US" smtClean="0"/>
              <a:pPr>
                <a:defRPr/>
              </a:pPr>
              <a:t>122</a:t>
            </a:fld>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Significant Exposure</a:t>
            </a:r>
          </a:p>
        </p:txBody>
      </p:sp>
      <p:sp>
        <p:nvSpPr>
          <p:cNvPr id="138243" name="Rectangle 3"/>
          <p:cNvSpPr>
            <a:spLocks noGrp="1" noChangeArrowheads="1"/>
          </p:cNvSpPr>
          <p:nvPr>
            <p:ph idx="1"/>
          </p:nvPr>
        </p:nvSpPr>
        <p:spPr/>
        <p:txBody>
          <a:bodyPr/>
          <a:lstStyle/>
          <a:p>
            <a:pPr marL="609600" indent="-609600" eaLnBrk="1" hangingPunct="1">
              <a:lnSpc>
                <a:spcPct val="95000"/>
              </a:lnSpc>
            </a:pPr>
            <a:r>
              <a:rPr lang="en-US" sz="2400" smtClean="0">
                <a:latin typeface="Arial" charset="0"/>
                <a:cs typeface="Arial" charset="0"/>
              </a:rPr>
              <a:t>For radiological consequences, the suggested evaluation criterion is 100 rem TEDE. </a:t>
            </a:r>
          </a:p>
          <a:p>
            <a:pPr marL="609600" indent="-609600" eaLnBrk="1" hangingPunct="1">
              <a:lnSpc>
                <a:spcPct val="95000"/>
              </a:lnSpc>
            </a:pPr>
            <a:endParaRPr lang="en-US" sz="2400" smtClean="0">
              <a:latin typeface="Arial" charset="0"/>
              <a:cs typeface="Arial" charset="0"/>
            </a:endParaRPr>
          </a:p>
          <a:p>
            <a:pPr marL="609600" indent="-609600" eaLnBrk="1" hangingPunct="1">
              <a:lnSpc>
                <a:spcPct val="95000"/>
              </a:lnSpc>
            </a:pPr>
            <a:r>
              <a:rPr lang="en-US" sz="2400" smtClean="0">
                <a:latin typeface="Arial" charset="0"/>
                <a:cs typeface="Arial" charset="0"/>
              </a:rPr>
              <a:t>For chemical exposure, the evaluation criterion is AEGL-3 or equivalent (e.g., ERPG-3, TEEL-3). </a:t>
            </a:r>
          </a:p>
        </p:txBody>
      </p:sp>
      <p:sp>
        <p:nvSpPr>
          <p:cNvPr id="5" name="Slide Number Placeholder 4"/>
          <p:cNvSpPr>
            <a:spLocks noGrp="1"/>
          </p:cNvSpPr>
          <p:nvPr>
            <p:ph type="sldNum" sz="quarter" idx="10"/>
          </p:nvPr>
        </p:nvSpPr>
        <p:spPr/>
        <p:txBody>
          <a:bodyPr/>
          <a:lstStyle/>
          <a:p>
            <a:pPr>
              <a:defRPr/>
            </a:pPr>
            <a:fld id="{0179946B-43CD-4140-9564-294818BF501D}" type="slidenum">
              <a:rPr lang="en-US" smtClean="0"/>
              <a:pPr>
                <a:defRPr/>
              </a:pPr>
              <a:t>123</a:t>
            </a:fld>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rtlCol="0">
            <a:normAutofit/>
          </a:bodyPr>
          <a:lstStyle/>
          <a:p>
            <a:pPr eaLnBrk="1" fontAlgn="auto" hangingPunct="1">
              <a:spcAft>
                <a:spcPts val="0"/>
              </a:spcAft>
              <a:defRPr/>
            </a:pPr>
            <a:r>
              <a:rPr lang="en-US" sz="3200" cap="small" dirty="0" smtClean="0"/>
              <a:t>Qualitative Results</a:t>
            </a:r>
          </a:p>
        </p:txBody>
      </p:sp>
      <p:sp>
        <p:nvSpPr>
          <p:cNvPr id="139267" name="Rectangle 3"/>
          <p:cNvSpPr>
            <a:spLocks noGrp="1" noChangeArrowheads="1"/>
          </p:cNvSpPr>
          <p:nvPr>
            <p:ph idx="1"/>
          </p:nvPr>
        </p:nvSpPr>
        <p:spPr/>
        <p:txBody>
          <a:bodyPr/>
          <a:lstStyle/>
          <a:p>
            <a:pPr marL="609600" indent="-609600" eaLnBrk="1" hangingPunct="1">
              <a:spcBef>
                <a:spcPct val="0"/>
              </a:spcBef>
            </a:pPr>
            <a:r>
              <a:rPr lang="en-US" sz="2200" smtClean="0">
                <a:latin typeface="Arial" charset="0"/>
                <a:cs typeface="Arial" charset="0"/>
              </a:rPr>
              <a:t>By comparing the qualitatively derived FW radiological or chemical consequence to these evaluation criteria, an assessment can then be made about the need for SS preventive or mitigative controls.</a:t>
            </a:r>
          </a:p>
          <a:p>
            <a:pPr marL="609600" indent="-609600" eaLnBrk="1" hangingPunct="1">
              <a:spcBef>
                <a:spcPct val="0"/>
              </a:spcBef>
            </a:pPr>
            <a:endParaRPr lang="en-US" sz="2200" smtClean="0">
              <a:latin typeface="Arial" charset="0"/>
              <a:cs typeface="Arial" charset="0"/>
            </a:endParaRPr>
          </a:p>
          <a:p>
            <a:pPr marL="609600" indent="-609600" eaLnBrk="1" hangingPunct="1">
              <a:spcBef>
                <a:spcPct val="0"/>
              </a:spcBef>
            </a:pPr>
            <a:r>
              <a:rPr lang="en-US" sz="2200" smtClean="0">
                <a:latin typeface="Arial" charset="0"/>
                <a:cs typeface="Arial" charset="0"/>
              </a:rPr>
              <a:t>Where the qualitative consequence assessment yields a result that is not clearly above or below the evaluation criteria, then the need for SS FW controls shall be more closely considered by the project.</a:t>
            </a:r>
            <a:endParaRPr lang="en-US" sz="2000" smtClean="0">
              <a:latin typeface="Arial" charset="0"/>
              <a:cs typeface="Arial" charset="0"/>
            </a:endParaRPr>
          </a:p>
          <a:p>
            <a:pPr marL="1009650" lvl="1" indent="-609600" eaLnBrk="1" hangingPunct="1">
              <a:buFont typeface="Wingdings" pitchFamily="2" charset="2"/>
              <a:buNone/>
            </a:pPr>
            <a:r>
              <a:rPr lang="en-US" sz="1600" smtClean="0">
                <a:solidFill>
                  <a:schemeClr val="tx1"/>
                </a:solidFill>
                <a:latin typeface="Arial" charset="0"/>
                <a:cs typeface="Arial" charset="0"/>
              </a:rPr>
              <a:t>	</a:t>
            </a:r>
          </a:p>
          <a:p>
            <a:pPr marL="1009650" lvl="1" indent="-609600" eaLnBrk="1" hangingPunct="1">
              <a:buFont typeface="Wingdings" pitchFamily="2" charset="2"/>
              <a:buNone/>
            </a:pPr>
            <a:r>
              <a:rPr lang="en-US" sz="1600" smtClean="0">
                <a:solidFill>
                  <a:schemeClr val="tx1"/>
                </a:solidFill>
                <a:latin typeface="Arial" charset="0"/>
                <a:cs typeface="Arial" charset="0"/>
              </a:rPr>
              <a:t>	</a:t>
            </a:r>
            <a:endParaRPr lang="en-US" sz="1400"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5C9861E2-9A80-4F7B-9B20-093A7A47F2D3}" type="slidenum">
              <a:rPr lang="en-US" smtClean="0"/>
              <a:pPr>
                <a:defRPr/>
              </a:pPr>
              <a:t>124</a:t>
            </a:fld>
            <a:endParaRPr lang="en-US"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Rectangle 4"/>
          <p:cNvSpPr>
            <a:spLocks noGrp="1" noChangeArrowheads="1"/>
          </p:cNvSpPr>
          <p:nvPr>
            <p:ph type="title"/>
          </p:nvPr>
        </p:nvSpPr>
        <p:spPr/>
        <p:txBody>
          <a:bodyPr rtlCol="0">
            <a:normAutofit/>
          </a:bodyPr>
          <a:lstStyle/>
          <a:p>
            <a:pPr eaLnBrk="1" fontAlgn="auto" hangingPunct="1">
              <a:spcAft>
                <a:spcPts val="0"/>
              </a:spcAft>
              <a:defRPr/>
            </a:pPr>
            <a:r>
              <a:rPr lang="en-US" sz="2800" cap="small" dirty="0" smtClean="0"/>
              <a:t>Safety and Design Integration </a:t>
            </a:r>
            <a:br>
              <a:rPr lang="en-US" sz="2800" cap="small" dirty="0" smtClean="0"/>
            </a:br>
            <a:r>
              <a:rPr lang="en-US" sz="2800" cap="small" dirty="0" smtClean="0"/>
              <a:t>DOE-STD-1189-2008</a:t>
            </a:r>
          </a:p>
        </p:txBody>
      </p:sp>
      <p:sp>
        <p:nvSpPr>
          <p:cNvPr id="140291" name="Rectangle 6"/>
          <p:cNvSpPr>
            <a:spLocks noGrp="1" noChangeArrowheads="1"/>
          </p:cNvSpPr>
          <p:nvPr>
            <p:ph idx="1"/>
          </p:nvPr>
        </p:nvSpPr>
        <p:spPr/>
        <p:txBody>
          <a:bodyPr/>
          <a:lstStyle/>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endParaRPr lang="en-US" smtClean="0">
              <a:latin typeface="Arial" charset="0"/>
              <a:cs typeface="Arial" charset="0"/>
            </a:endParaRPr>
          </a:p>
          <a:p>
            <a:pPr algn="ctr" eaLnBrk="1" hangingPunct="1">
              <a:buFont typeface="Wingdings" pitchFamily="2" charset="2"/>
              <a:buNone/>
            </a:pPr>
            <a:r>
              <a:rPr lang="en-US" smtClean="0">
                <a:solidFill>
                  <a:srgbClr val="C00000"/>
                </a:solidFill>
                <a:latin typeface="Arial" charset="0"/>
                <a:cs typeface="Arial" charset="0"/>
              </a:rPr>
              <a:t>Facility Modifications</a:t>
            </a:r>
          </a:p>
        </p:txBody>
      </p:sp>
      <p:sp>
        <p:nvSpPr>
          <p:cNvPr id="4" name="Slide Number Placeholder 3"/>
          <p:cNvSpPr>
            <a:spLocks noGrp="1"/>
          </p:cNvSpPr>
          <p:nvPr>
            <p:ph type="sldNum" sz="quarter" idx="10"/>
          </p:nvPr>
        </p:nvSpPr>
        <p:spPr/>
        <p:txBody>
          <a:bodyPr/>
          <a:lstStyle/>
          <a:p>
            <a:pPr>
              <a:defRPr/>
            </a:pPr>
            <a:fld id="{297231CF-B5FC-41A7-9866-B2768684AB9A}" type="slidenum">
              <a:rPr lang="en-US" smtClean="0"/>
              <a:pPr>
                <a:defRPr/>
              </a:pPr>
              <a:t>125</a:t>
            </a:fld>
            <a:endParaRPr lang="en-US"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eaLnBrk="1" hangingPunct="1"/>
            <a:r>
              <a:rPr lang="en-US" sz="3200" smtClean="0">
                <a:latin typeface="Arial" charset="0"/>
                <a:cs typeface="Arial" charset="0"/>
              </a:rPr>
              <a:t>Facility Modifications</a:t>
            </a:r>
            <a:endParaRPr lang="en-US" smtClean="0">
              <a:latin typeface="Arial" charset="0"/>
              <a:cs typeface="Arial" charset="0"/>
            </a:endParaRPr>
          </a:p>
        </p:txBody>
      </p:sp>
      <p:sp>
        <p:nvSpPr>
          <p:cNvPr id="141315" name="Rectangle 3"/>
          <p:cNvSpPr>
            <a:spLocks noGrp="1" noChangeArrowheads="1"/>
          </p:cNvSpPr>
          <p:nvPr>
            <p:ph idx="1"/>
          </p:nvPr>
        </p:nvSpPr>
        <p:spPr/>
        <p:txBody>
          <a:bodyPr/>
          <a:lstStyle/>
          <a:p>
            <a:pPr marL="609600" indent="-609600" eaLnBrk="1" hangingPunct="1">
              <a:buFont typeface="Wingdings" pitchFamily="2" charset="2"/>
              <a:buNone/>
            </a:pPr>
            <a:r>
              <a:rPr lang="en-US" smtClean="0">
                <a:latin typeface="Arial" charset="0"/>
                <a:cs typeface="Arial" charset="0"/>
              </a:rPr>
              <a:t>	</a:t>
            </a:r>
            <a:r>
              <a:rPr lang="en-US" sz="2400" smtClean="0">
                <a:latin typeface="Arial" charset="0"/>
                <a:cs typeface="Arial" charset="0"/>
              </a:rPr>
              <a:t>The process for integration of safety into the design of facility modifications is similar to that for new facilities, but it is tailored to the scope, magnitude, and complexity of the modification.</a:t>
            </a:r>
          </a:p>
        </p:txBody>
      </p:sp>
      <p:sp>
        <p:nvSpPr>
          <p:cNvPr id="5" name="Slide Number Placeholder 4"/>
          <p:cNvSpPr>
            <a:spLocks noGrp="1"/>
          </p:cNvSpPr>
          <p:nvPr>
            <p:ph type="sldNum" sz="quarter" idx="10"/>
          </p:nvPr>
        </p:nvSpPr>
        <p:spPr/>
        <p:txBody>
          <a:bodyPr/>
          <a:lstStyle/>
          <a:p>
            <a:pPr>
              <a:defRPr/>
            </a:pPr>
            <a:fld id="{C0647F93-7C60-41D1-9388-3C6AC903F675}" type="slidenum">
              <a:rPr lang="en-US" smtClean="0"/>
              <a:pPr>
                <a:defRPr/>
              </a:pPr>
              <a:t>126</a:t>
            </a:fld>
            <a:endParaRPr lang="en-US"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pPr>
              <a:defRPr/>
            </a:pPr>
            <a:fld id="{84AD3658-896D-47D5-BD97-E925232CBA20}" type="slidenum">
              <a:rPr lang="en-US" smtClean="0"/>
              <a:pPr>
                <a:defRPr/>
              </a:pPr>
              <a:t>127</a:t>
            </a:fld>
            <a:endParaRPr lang="en-US" dirty="0"/>
          </a:p>
        </p:txBody>
      </p:sp>
      <p:sp>
        <p:nvSpPr>
          <p:cNvPr id="198664" name="Rectangle 8"/>
          <p:cNvSpPr>
            <a:spLocks noGrp="1" noChangeArrowheads="1"/>
          </p:cNvSpPr>
          <p:nvPr>
            <p:ph type="title" idx="4294967295"/>
          </p:nvPr>
        </p:nvSpPr>
        <p:spPr>
          <a:xfrm>
            <a:off x="1143000" y="0"/>
            <a:ext cx="7150100" cy="1143000"/>
          </a:xfrm>
        </p:spPr>
        <p:txBody>
          <a:bodyPr rtlCol="0">
            <a:normAutofit/>
          </a:bodyPr>
          <a:lstStyle/>
          <a:p>
            <a:pPr eaLnBrk="1" fontAlgn="auto" hangingPunct="1">
              <a:spcAft>
                <a:spcPts val="0"/>
              </a:spcAft>
              <a:defRPr/>
            </a:pPr>
            <a:r>
              <a:rPr lang="en-US" sz="2800" b="1" cap="small" dirty="0" smtClean="0"/>
              <a:t> </a:t>
            </a:r>
            <a:r>
              <a:rPr lang="en-US" sz="3200" b="1" cap="small" dirty="0" smtClean="0">
                <a:solidFill>
                  <a:schemeClr val="accent3">
                    <a:lumMod val="75000"/>
                  </a:schemeClr>
                </a:solidFill>
              </a:rPr>
              <a:t>Facility Modification Process </a:t>
            </a:r>
          </a:p>
        </p:txBody>
      </p:sp>
      <p:pic>
        <p:nvPicPr>
          <p:cNvPr id="142340" name="Picture 7"/>
          <p:cNvPicPr>
            <a:picLocks noChangeAspect="1" noChangeArrowheads="1"/>
          </p:cNvPicPr>
          <p:nvPr/>
        </p:nvPicPr>
        <p:blipFill>
          <a:blip r:embed="rId3" cstate="print"/>
          <a:srcRect/>
          <a:stretch>
            <a:fillRect/>
          </a:stretch>
        </p:blipFill>
        <p:spPr bwMode="auto">
          <a:xfrm>
            <a:off x="606425" y="914400"/>
            <a:ext cx="8085138" cy="5334000"/>
          </a:xfrm>
          <a:prstGeom prst="rect">
            <a:avLst/>
          </a:prstGeom>
          <a:noFill/>
          <a:ln w="9525" algn="ctr">
            <a:noFill/>
            <a:miter lim="800000"/>
            <a:headEnd/>
            <a:tailEnd/>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pPr marL="63500" indent="-38100" eaLnBrk="1" hangingPunct="1"/>
            <a:r>
              <a:rPr lang="en-US" sz="3200" smtClean="0">
                <a:latin typeface="Arial" charset="0"/>
                <a:cs typeface="Arial" charset="0"/>
              </a:rPr>
              <a:t>MAJOR MODIFICATION </a:t>
            </a:r>
            <a:br>
              <a:rPr lang="en-US" sz="3200" smtClean="0">
                <a:latin typeface="Arial" charset="0"/>
                <a:cs typeface="Arial" charset="0"/>
              </a:rPr>
            </a:br>
            <a:r>
              <a:rPr lang="en-US" sz="3200" smtClean="0">
                <a:latin typeface="Arial" charset="0"/>
                <a:cs typeface="Arial" charset="0"/>
              </a:rPr>
              <a:t>DEFINITION AND IMPLICATIONS </a:t>
            </a:r>
          </a:p>
        </p:txBody>
      </p:sp>
      <p:sp>
        <p:nvSpPr>
          <p:cNvPr id="143363" name="Rectangle 3"/>
          <p:cNvSpPr>
            <a:spLocks noGrp="1" noChangeArrowheads="1"/>
          </p:cNvSpPr>
          <p:nvPr>
            <p:ph idx="1"/>
          </p:nvPr>
        </p:nvSpPr>
        <p:spPr/>
        <p:txBody>
          <a:bodyPr/>
          <a:lstStyle/>
          <a:p>
            <a:pPr marL="609600" indent="-609600" eaLnBrk="1" hangingPunct="1">
              <a:spcBef>
                <a:spcPts val="1200"/>
              </a:spcBef>
              <a:spcAft>
                <a:spcPts val="600"/>
              </a:spcAft>
            </a:pPr>
            <a:r>
              <a:rPr lang="en-US" sz="2400" smtClean="0">
                <a:latin typeface="Arial" charset="0"/>
                <a:cs typeface="Arial" charset="0"/>
              </a:rPr>
              <a:t>As defined by 10 CFR 830.3, major modifications are those that “substantially change the existing safety basis for the facility.”</a:t>
            </a:r>
          </a:p>
          <a:p>
            <a:pPr marL="609600" indent="-609600" eaLnBrk="1" hangingPunct="1">
              <a:spcBef>
                <a:spcPts val="1200"/>
              </a:spcBef>
              <a:spcAft>
                <a:spcPts val="600"/>
              </a:spcAft>
            </a:pPr>
            <a:r>
              <a:rPr lang="en-US" sz="2400" smtClean="0">
                <a:latin typeface="Arial" charset="0"/>
                <a:cs typeface="Arial" charset="0"/>
              </a:rPr>
              <a:t>A major modification requires the development of a Preliminary Documented Safety Analysis (PDSA) (830.206) and approval of the PDSA by DOE (830.207) prior to procurement or construction of the modification</a:t>
            </a:r>
          </a:p>
        </p:txBody>
      </p:sp>
      <p:sp>
        <p:nvSpPr>
          <p:cNvPr id="5" name="Slide Number Placeholder 4"/>
          <p:cNvSpPr>
            <a:spLocks noGrp="1"/>
          </p:cNvSpPr>
          <p:nvPr>
            <p:ph type="sldNum" sz="quarter" idx="10"/>
          </p:nvPr>
        </p:nvSpPr>
        <p:spPr/>
        <p:txBody>
          <a:bodyPr/>
          <a:lstStyle/>
          <a:p>
            <a:pPr>
              <a:defRPr/>
            </a:pPr>
            <a:fld id="{F3B63C4A-CBED-4310-9897-31C717CB7007}" type="slidenum">
              <a:rPr lang="en-US" smtClean="0"/>
              <a:pPr>
                <a:defRPr/>
              </a:pPr>
              <a:t>128</a:t>
            </a:fld>
            <a:endParaRPr lang="en-US"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rtlCol="0">
            <a:normAutofit/>
          </a:bodyPr>
          <a:lstStyle/>
          <a:p>
            <a:pPr marL="838200" indent="-838200" eaLnBrk="1" fontAlgn="auto" hangingPunct="1">
              <a:spcAft>
                <a:spcPts val="0"/>
              </a:spcAft>
              <a:defRPr/>
            </a:pPr>
            <a:r>
              <a:rPr lang="en-US" cap="small" dirty="0" smtClean="0"/>
              <a:t>Evaluating Modifications</a:t>
            </a:r>
            <a:br>
              <a:rPr lang="en-US" cap="small" dirty="0" smtClean="0"/>
            </a:br>
            <a:r>
              <a:rPr lang="en-US" sz="2200" cap="small" dirty="0" smtClean="0"/>
              <a:t>(Slide 1 of 2) </a:t>
            </a:r>
            <a:endParaRPr lang="en-US" cap="small" dirty="0" smtClean="0"/>
          </a:p>
        </p:txBody>
      </p:sp>
      <p:sp>
        <p:nvSpPr>
          <p:cNvPr id="149507" name="Rectangle 3"/>
          <p:cNvSpPr>
            <a:spLocks noGrp="1" noChangeArrowheads="1"/>
          </p:cNvSpPr>
          <p:nvPr>
            <p:ph idx="1"/>
          </p:nvPr>
        </p:nvSpPr>
        <p:spPr>
          <a:xfrm>
            <a:off x="533400" y="2133600"/>
            <a:ext cx="8234363" cy="4114800"/>
          </a:xfrm>
        </p:spPr>
        <p:txBody>
          <a:bodyPr/>
          <a:lstStyle/>
          <a:p>
            <a:pPr marL="346075" indent="-346075" eaLnBrk="1" hangingPunct="1">
              <a:spcBef>
                <a:spcPts val="1200"/>
              </a:spcBef>
              <a:spcAft>
                <a:spcPts val="600"/>
              </a:spcAft>
              <a:defRPr/>
            </a:pPr>
            <a:r>
              <a:rPr lang="en-US" sz="2400" dirty="0" smtClean="0"/>
              <a:t>Simple modifications - existing hazard analysis is adequate for the modification; hazard controls adequately address the modification and associated activities; implementing the existing change control processes is adequate to support the proposed change.  </a:t>
            </a:r>
          </a:p>
          <a:p>
            <a:pPr marL="111125" indent="-111125" eaLnBrk="1" hangingPunct="1">
              <a:spcBef>
                <a:spcPts val="1200"/>
              </a:spcBef>
              <a:spcAft>
                <a:spcPts val="600"/>
              </a:spcAft>
              <a:buFont typeface="Wingdings" pitchFamily="2" charset="2"/>
              <a:buNone/>
              <a:defRPr/>
            </a:pPr>
            <a:r>
              <a:rPr lang="en-US" sz="2400" dirty="0" smtClean="0"/>
              <a:t>	</a:t>
            </a:r>
          </a:p>
        </p:txBody>
      </p:sp>
      <p:sp>
        <p:nvSpPr>
          <p:cNvPr id="5" name="Slide Number Placeholder 4"/>
          <p:cNvSpPr>
            <a:spLocks noGrp="1"/>
          </p:cNvSpPr>
          <p:nvPr>
            <p:ph type="sldNum" sz="quarter" idx="10"/>
          </p:nvPr>
        </p:nvSpPr>
        <p:spPr/>
        <p:txBody>
          <a:bodyPr/>
          <a:lstStyle/>
          <a:p>
            <a:pPr>
              <a:defRPr/>
            </a:pPr>
            <a:fld id="{6667F7F4-C70D-4188-8BCD-C04DFFA958A7}" type="slidenum">
              <a:rPr lang="en-US" smtClean="0"/>
              <a:pPr>
                <a:defRPr/>
              </a:pPr>
              <a:t>129</a:t>
            </a:fld>
            <a:endParaRPr 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cap="small" dirty="0" smtClean="0"/>
              <a:t>Evaluating Modifications</a:t>
            </a:r>
            <a:br>
              <a:rPr lang="en-US" cap="small" dirty="0" smtClean="0"/>
            </a:br>
            <a:r>
              <a:rPr lang="en-US" sz="2000" cap="small" dirty="0" smtClean="0"/>
              <a:t> (Slide 2 of 2) </a:t>
            </a:r>
            <a:endParaRPr lang="en-US" dirty="0"/>
          </a:p>
        </p:txBody>
      </p:sp>
      <p:sp>
        <p:nvSpPr>
          <p:cNvPr id="145411" name="Content Placeholder 2"/>
          <p:cNvSpPr>
            <a:spLocks noGrp="1"/>
          </p:cNvSpPr>
          <p:nvPr>
            <p:ph idx="1"/>
          </p:nvPr>
        </p:nvSpPr>
        <p:spPr/>
        <p:txBody>
          <a:bodyPr/>
          <a:lstStyle/>
          <a:p>
            <a:r>
              <a:rPr lang="en-US" sz="2400" smtClean="0">
                <a:latin typeface="Arial" charset="0"/>
                <a:cs typeface="Arial" charset="0"/>
              </a:rPr>
              <a:t>Note that a simple modification or a less-than-major modification might invoke DOE O 413.3A, and therefore STD-1189, under cost criteria.  In those cases, a Safety Design Strategy (SDS) is required, wherein the bases for the modification classification must be described.  The SDS also provides the mechanism for tailoring the application of STD-1189.</a:t>
            </a:r>
          </a:p>
        </p:txBody>
      </p:sp>
      <p:sp>
        <p:nvSpPr>
          <p:cNvPr id="4" name="Slide Number Placeholder 3"/>
          <p:cNvSpPr>
            <a:spLocks noGrp="1"/>
          </p:cNvSpPr>
          <p:nvPr>
            <p:ph type="sldNum" sz="quarter" idx="10"/>
          </p:nvPr>
        </p:nvSpPr>
        <p:spPr/>
        <p:txBody>
          <a:bodyPr/>
          <a:lstStyle/>
          <a:p>
            <a:pPr>
              <a:defRPr/>
            </a:pPr>
            <a:fld id="{45EF8BFC-73B8-4D0E-95F7-286B57358EFE}" type="slidenum">
              <a:rPr lang="en-US" smtClean="0"/>
              <a:pPr>
                <a:defRPr/>
              </a:pPr>
              <a:t>130</a:t>
            </a:fld>
            <a:endParaRPr lang="en-US"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ChangeArrowheads="1"/>
          </p:cNvSpPr>
          <p:nvPr>
            <p:ph type="title"/>
          </p:nvPr>
        </p:nvSpPr>
        <p:spPr/>
        <p:txBody>
          <a:bodyPr rtlCol="0">
            <a:noAutofit/>
          </a:bodyPr>
          <a:lstStyle/>
          <a:p>
            <a:pPr indent="25400" eaLnBrk="1" fontAlgn="auto" hangingPunct="1">
              <a:spcAft>
                <a:spcPts val="0"/>
              </a:spcAft>
              <a:defRPr/>
            </a:pPr>
            <a:r>
              <a:rPr lang="en-US" sz="3200" cap="small" dirty="0" smtClean="0"/>
              <a:t>Determining a </a:t>
            </a:r>
            <a:br>
              <a:rPr lang="en-US" sz="3200" cap="small" dirty="0" smtClean="0"/>
            </a:br>
            <a:r>
              <a:rPr lang="en-US" sz="3200" cap="small" dirty="0" smtClean="0"/>
              <a:t>Major Modification</a:t>
            </a:r>
          </a:p>
        </p:txBody>
      </p:sp>
      <p:sp>
        <p:nvSpPr>
          <p:cNvPr id="146435" name="Rectangle 3"/>
          <p:cNvSpPr>
            <a:spLocks noGrp="1" noChangeArrowheads="1"/>
          </p:cNvSpPr>
          <p:nvPr>
            <p:ph idx="1"/>
          </p:nvPr>
        </p:nvSpPr>
        <p:spPr/>
        <p:txBody>
          <a:bodyPr/>
          <a:lstStyle/>
          <a:p>
            <a:pPr marL="609600" indent="-609600" eaLnBrk="1" hangingPunct="1">
              <a:spcBef>
                <a:spcPts val="1200"/>
              </a:spcBef>
              <a:spcAft>
                <a:spcPts val="600"/>
              </a:spcAft>
            </a:pPr>
            <a:r>
              <a:rPr lang="en-US" sz="2400" smtClean="0">
                <a:latin typeface="Arial" charset="0"/>
                <a:cs typeface="Arial" charset="0"/>
              </a:rPr>
              <a:t>It is important to determine the need for a Preliminary Documented Safety Analysis (PDSA) as early as feasible in planning for a modification.</a:t>
            </a:r>
          </a:p>
          <a:p>
            <a:pPr marL="609600" indent="-609600" eaLnBrk="1" hangingPunct="1">
              <a:spcBef>
                <a:spcPts val="1200"/>
              </a:spcBef>
              <a:spcAft>
                <a:spcPts val="600"/>
              </a:spcAft>
            </a:pPr>
            <a:r>
              <a:rPr lang="en-US" sz="2400" smtClean="0">
                <a:latin typeface="Arial" charset="0"/>
                <a:cs typeface="Arial" charset="0"/>
              </a:rPr>
              <a:t>In many situations, the need for a PDSA may be readily discernable with little or no detailed evaluation required.</a:t>
            </a:r>
          </a:p>
          <a:p>
            <a:pPr marL="609600" indent="-609600" eaLnBrk="1" hangingPunct="1">
              <a:spcBef>
                <a:spcPts val="1200"/>
              </a:spcBef>
              <a:spcAft>
                <a:spcPts val="600"/>
              </a:spcAft>
            </a:pPr>
            <a:r>
              <a:rPr lang="en-US" sz="2400" smtClean="0">
                <a:latin typeface="Arial" charset="0"/>
                <a:cs typeface="Arial" charset="0"/>
              </a:rPr>
              <a:t>The Standard establishes criteria for evaluating the need for a PDSA.  If a PDSA is warranted, the facility modification is a Major Modification.</a:t>
            </a:r>
          </a:p>
          <a:p>
            <a:pPr marL="609600" indent="-609600" eaLnBrk="1" hangingPunct="1">
              <a:spcBef>
                <a:spcPts val="1200"/>
              </a:spcBef>
              <a:spcAft>
                <a:spcPts val="600"/>
              </a:spcAft>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58616A9-F15B-42E5-8F3C-7C6C5EF12037}" type="slidenum">
              <a:rPr lang="en-US" smtClean="0"/>
              <a:pPr>
                <a:defRPr/>
              </a:pPr>
              <a:t>131</a:t>
            </a:fld>
            <a:endParaRPr lang="en-US"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p:cNvSpPr>
            <a:spLocks noGrp="1"/>
          </p:cNvSpPr>
          <p:nvPr>
            <p:ph type="title"/>
          </p:nvPr>
        </p:nvSpPr>
        <p:spPr/>
        <p:txBody>
          <a:bodyPr/>
          <a:lstStyle/>
          <a:p>
            <a:pPr eaLnBrk="1" hangingPunct="1">
              <a:defRPr/>
            </a:pPr>
            <a:r>
              <a:rPr lang="en-US" sz="3200" cap="small" dirty="0" smtClean="0"/>
              <a:t>Major Modification Criteria</a:t>
            </a:r>
            <a:br>
              <a:rPr lang="en-US" sz="3200" cap="small" dirty="0" smtClean="0"/>
            </a:br>
            <a:r>
              <a:rPr lang="en-US" sz="2000" cap="small" dirty="0" smtClean="0"/>
              <a:t>(Slide 1of 2)</a:t>
            </a:r>
            <a:endParaRPr lang="en-US" sz="3200" cap="small" dirty="0" smtClean="0"/>
          </a:p>
        </p:txBody>
      </p:sp>
      <p:sp>
        <p:nvSpPr>
          <p:cNvPr id="147459"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Add a new building or facility with a material inventory </a:t>
            </a:r>
            <a:r>
              <a:rPr lang="en-US" sz="2400" u="sng" smtClean="0">
                <a:latin typeface="Arial" charset="0"/>
                <a:cs typeface="Arial" charset="0"/>
              </a:rPr>
              <a:t>&gt;</a:t>
            </a:r>
            <a:r>
              <a:rPr lang="en-US" sz="2400" smtClean="0">
                <a:latin typeface="Arial" charset="0"/>
                <a:cs typeface="Arial" charset="0"/>
              </a:rPr>
              <a:t> HC 3 limits or increase the HC of an existing facility?</a:t>
            </a:r>
          </a:p>
          <a:p>
            <a:pPr eaLnBrk="1" hangingPunct="1">
              <a:spcBef>
                <a:spcPts val="1200"/>
              </a:spcBef>
              <a:spcAft>
                <a:spcPts val="600"/>
              </a:spcAft>
            </a:pPr>
            <a:r>
              <a:rPr lang="en-US" sz="2400" smtClean="0">
                <a:latin typeface="Arial" charset="0"/>
                <a:cs typeface="Arial" charset="0"/>
              </a:rPr>
              <a:t>Change the footprint of an existing HC 1, 2 or 3 facility with the potential to adversely impact any SC or SS safety function or associated SSC?</a:t>
            </a:r>
          </a:p>
          <a:p>
            <a:pPr eaLnBrk="1" hangingPunct="1">
              <a:spcBef>
                <a:spcPts val="1200"/>
              </a:spcBef>
              <a:spcAft>
                <a:spcPts val="600"/>
              </a:spcAft>
            </a:pPr>
            <a:r>
              <a:rPr lang="en-US" sz="2400" smtClean="0">
                <a:latin typeface="Arial" charset="0"/>
                <a:cs typeface="Arial" charset="0"/>
              </a:rPr>
              <a:t>Change an existing process or add a new process resulting in the need for a safety basis change requiring DOE approval?</a:t>
            </a:r>
          </a:p>
        </p:txBody>
      </p:sp>
      <p:sp>
        <p:nvSpPr>
          <p:cNvPr id="5" name="Rectangle 2"/>
          <p:cNvSpPr txBox="1">
            <a:spLocks noChangeArrowheads="1"/>
          </p:cNvSpPr>
          <p:nvPr/>
        </p:nvSpPr>
        <p:spPr bwMode="auto">
          <a:xfrm>
            <a:off x="609600" y="533400"/>
            <a:ext cx="8305800" cy="914400"/>
          </a:xfrm>
          <a:prstGeom prst="rect">
            <a:avLst/>
          </a:prstGeom>
          <a:noFill/>
          <a:ln w="9525">
            <a:noFill/>
            <a:miter lim="800000"/>
            <a:headEnd/>
            <a:tailEnd/>
          </a:ln>
        </p:spPr>
        <p:txBody>
          <a:bodyPr anchor="ctr"/>
          <a:lstStyle/>
          <a:p>
            <a:pPr indent="25400" algn="ctr" fontAlgn="auto">
              <a:spcAft>
                <a:spcPts val="0"/>
              </a:spcAft>
              <a:defRPr/>
            </a:pPr>
            <a:endParaRPr lang="en-US" sz="3200" b="1" cap="small" dirty="0">
              <a:latin typeface="+mj-lt"/>
              <a:ea typeface="+mj-ea"/>
              <a:cs typeface="+mj-cs"/>
            </a:endParaRPr>
          </a:p>
        </p:txBody>
      </p:sp>
      <p:sp>
        <p:nvSpPr>
          <p:cNvPr id="6" name="Slide Number Placeholder 5"/>
          <p:cNvSpPr>
            <a:spLocks noGrp="1"/>
          </p:cNvSpPr>
          <p:nvPr>
            <p:ph type="sldNum" sz="quarter" idx="10"/>
          </p:nvPr>
        </p:nvSpPr>
        <p:spPr/>
        <p:txBody>
          <a:bodyPr/>
          <a:lstStyle/>
          <a:p>
            <a:pPr>
              <a:defRPr/>
            </a:pPr>
            <a:fld id="{50B8AE16-9482-4486-B3A4-970C9D61013B}" type="slidenum">
              <a:rPr lang="en-US" smtClean="0"/>
              <a:pPr>
                <a:defRPr/>
              </a:pPr>
              <a:t>132</a:t>
            </a:fld>
            <a:endParaRPr lang="en-US"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Major Modification Criteria</a:t>
            </a:r>
            <a:br>
              <a:rPr lang="en-US" sz="3200" cap="small" dirty="0" smtClean="0"/>
            </a:br>
            <a:r>
              <a:rPr lang="en-US" sz="1800" cap="small" dirty="0" smtClean="0"/>
              <a:t>(Slide 1of 2)</a:t>
            </a:r>
            <a:endParaRPr lang="en-US" sz="3200" cap="small" dirty="0"/>
          </a:p>
        </p:txBody>
      </p:sp>
      <p:sp>
        <p:nvSpPr>
          <p:cNvPr id="148483"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Utilize new technology or Government Furnished Equipment (GFE) not currently in use or not previously formally reviewed and approved by DOE for the affected facility?</a:t>
            </a:r>
          </a:p>
          <a:p>
            <a:pPr eaLnBrk="1" hangingPunct="1">
              <a:spcBef>
                <a:spcPts val="1200"/>
              </a:spcBef>
              <a:spcAft>
                <a:spcPts val="600"/>
              </a:spcAft>
            </a:pPr>
            <a:r>
              <a:rPr lang="en-US" sz="2400" smtClean="0">
                <a:latin typeface="Arial" charset="0"/>
                <a:cs typeface="Arial" charset="0"/>
              </a:rPr>
              <a:t>Create the need for new or revised Safety SSCs?</a:t>
            </a:r>
          </a:p>
          <a:p>
            <a:pPr eaLnBrk="1" hangingPunct="1">
              <a:spcBef>
                <a:spcPts val="1200"/>
              </a:spcBef>
              <a:spcAft>
                <a:spcPts val="600"/>
              </a:spcAft>
            </a:pPr>
            <a:r>
              <a:rPr lang="en-US" sz="2400" smtClean="0">
                <a:latin typeface="Arial" charset="0"/>
                <a:cs typeface="Arial" charset="0"/>
              </a:rPr>
              <a:t>Involve a hazard not previously evaluated in the DSA?</a:t>
            </a:r>
          </a:p>
          <a:p>
            <a:pPr>
              <a:spcBef>
                <a:spcPts val="1200"/>
              </a:spcBef>
              <a:spcAft>
                <a:spcPts val="600"/>
              </a:spcAft>
            </a:pPr>
            <a:endParaRPr lang="en-US" sz="24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3643CBB8-A065-465C-8153-2FF6F99ACC5F}" type="slidenum">
              <a:rPr lang="en-US" smtClean="0"/>
              <a:pPr>
                <a:defRPr/>
              </a:pPr>
              <a:t>133</a:t>
            </a:fld>
            <a:endParaRPr 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pPr eaLnBrk="1" hangingPunct="1"/>
            <a:r>
              <a:rPr lang="en-US" sz="3200" smtClean="0">
                <a:latin typeface="Arial" charset="0"/>
                <a:cs typeface="Arial" charset="0"/>
              </a:rPr>
              <a:t>Safety Design Strategy for Major Modification</a:t>
            </a:r>
          </a:p>
        </p:txBody>
      </p:sp>
      <p:sp>
        <p:nvSpPr>
          <p:cNvPr id="149507" name="Rectangle 3"/>
          <p:cNvSpPr>
            <a:spLocks noGrp="1" noChangeArrowheads="1"/>
          </p:cNvSpPr>
          <p:nvPr>
            <p:ph idx="1"/>
          </p:nvPr>
        </p:nvSpPr>
        <p:spPr>
          <a:xfrm>
            <a:off x="533400" y="1905000"/>
            <a:ext cx="8234363" cy="4343400"/>
          </a:xfrm>
        </p:spPr>
        <p:txBody>
          <a:bodyPr/>
          <a:lstStyle/>
          <a:p>
            <a:pPr marL="0" indent="25400" eaLnBrk="1" hangingPunct="1">
              <a:lnSpc>
                <a:spcPct val="105000"/>
              </a:lnSpc>
              <a:buFont typeface="Wingdings" pitchFamily="2" charset="2"/>
              <a:buNone/>
            </a:pPr>
            <a:r>
              <a:rPr lang="en-US" sz="2400" smtClean="0">
                <a:latin typeface="Arial" charset="0"/>
                <a:cs typeface="Arial" charset="0"/>
              </a:rPr>
              <a:t>Where a major modification is found to exist, an SDS should be developed that addresses:</a:t>
            </a:r>
          </a:p>
          <a:p>
            <a:pPr marL="685800" lvl="1" indent="-422275" eaLnBrk="1" hangingPunct="1">
              <a:spcBef>
                <a:spcPts val="1200"/>
              </a:spcBef>
              <a:spcAft>
                <a:spcPts val="600"/>
              </a:spcAft>
              <a:buFont typeface="Arial" charset="0"/>
              <a:buChar char="-"/>
            </a:pPr>
            <a:r>
              <a:rPr lang="en-US" sz="2000" smtClean="0">
                <a:solidFill>
                  <a:schemeClr val="tx1"/>
                </a:solidFill>
                <a:latin typeface="Arial" charset="0"/>
                <a:cs typeface="Arial" charset="0"/>
              </a:rPr>
              <a:t>The need for a CSDR or PSDR (as well as the required PDSA) to support project phases</a:t>
            </a:r>
          </a:p>
          <a:p>
            <a:pPr marL="685800" lvl="1" indent="-422275" eaLnBrk="1" hangingPunct="1">
              <a:spcBef>
                <a:spcPts val="1200"/>
              </a:spcBef>
              <a:spcAft>
                <a:spcPts val="600"/>
              </a:spcAft>
              <a:buFont typeface="Arial" charset="0"/>
              <a:buChar char="-"/>
            </a:pPr>
            <a:r>
              <a:rPr lang="en-US" sz="2000" smtClean="0">
                <a:solidFill>
                  <a:schemeClr val="tx1"/>
                </a:solidFill>
                <a:latin typeface="Arial" charset="0"/>
                <a:cs typeface="Arial" charset="0"/>
              </a:rPr>
              <a:t>The graded content of the PDSA necessary to support the design and modification</a:t>
            </a:r>
          </a:p>
          <a:p>
            <a:pPr marL="685800" lvl="1" indent="-422275" eaLnBrk="1" hangingPunct="1">
              <a:spcBef>
                <a:spcPts val="1200"/>
              </a:spcBef>
              <a:spcAft>
                <a:spcPts val="600"/>
              </a:spcAft>
              <a:buFont typeface="Arial" charset="0"/>
              <a:buChar char="-"/>
            </a:pPr>
            <a:r>
              <a:rPr lang="en-US" sz="2000" smtClean="0">
                <a:solidFill>
                  <a:schemeClr val="tx1"/>
                </a:solidFill>
                <a:latin typeface="Arial" charset="0"/>
                <a:cs typeface="Arial" charset="0"/>
              </a:rPr>
              <a:t>The application of nuclear safety design criteria</a:t>
            </a:r>
          </a:p>
          <a:p>
            <a:pPr marL="685800" lvl="1" indent="-422275" eaLnBrk="1" hangingPunct="1">
              <a:spcBef>
                <a:spcPts val="1200"/>
              </a:spcBef>
              <a:spcAft>
                <a:spcPts val="600"/>
              </a:spcAft>
              <a:buFont typeface="Arial" charset="0"/>
              <a:buChar char="-"/>
            </a:pPr>
            <a:r>
              <a:rPr lang="en-US" sz="2000" smtClean="0">
                <a:solidFill>
                  <a:schemeClr val="tx1"/>
                </a:solidFill>
                <a:latin typeface="Arial" charset="0"/>
                <a:cs typeface="Arial" charset="0"/>
              </a:rPr>
              <a:t>The interface with the existing facility, its operations, and construction activities</a:t>
            </a:r>
          </a:p>
        </p:txBody>
      </p:sp>
      <p:sp>
        <p:nvSpPr>
          <p:cNvPr id="5" name="Slide Number Placeholder 4"/>
          <p:cNvSpPr>
            <a:spLocks noGrp="1"/>
          </p:cNvSpPr>
          <p:nvPr>
            <p:ph type="sldNum" sz="quarter" idx="10"/>
          </p:nvPr>
        </p:nvSpPr>
        <p:spPr/>
        <p:txBody>
          <a:bodyPr/>
          <a:lstStyle/>
          <a:p>
            <a:pPr>
              <a:defRPr/>
            </a:pPr>
            <a:fld id="{F7CA5856-C72E-4249-8021-4576AB61C2A8}" type="slidenum">
              <a:rPr lang="en-US" smtClean="0"/>
              <a:pPr>
                <a:defRPr/>
              </a:pPr>
              <a:t>134</a:t>
            </a:fld>
            <a:endParaRPr lang="en-US"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2800" cap="small" dirty="0" smtClean="0"/>
              <a:t>Summary of Major Modification </a:t>
            </a:r>
            <a:br>
              <a:rPr lang="en-US" sz="2800" cap="small" dirty="0" smtClean="0"/>
            </a:br>
            <a:r>
              <a:rPr lang="en-US" sz="2800" cap="small" dirty="0" smtClean="0"/>
              <a:t>Determination Process</a:t>
            </a:r>
            <a:endParaRPr lang="en-US" sz="2800" cap="small" dirty="0"/>
          </a:p>
        </p:txBody>
      </p:sp>
      <p:sp>
        <p:nvSpPr>
          <p:cNvPr id="150531" name="Content Placeholder 2"/>
          <p:cNvSpPr>
            <a:spLocks noGrp="1"/>
          </p:cNvSpPr>
          <p:nvPr>
            <p:ph idx="1"/>
          </p:nvPr>
        </p:nvSpPr>
        <p:spPr>
          <a:xfrm>
            <a:off x="533400" y="1981200"/>
            <a:ext cx="8234363" cy="4267200"/>
          </a:xfrm>
        </p:spPr>
        <p:txBody>
          <a:bodyPr/>
          <a:lstStyle/>
          <a:p>
            <a:pPr marL="292100" lvl="1" indent="-292100" eaLnBrk="1" hangingPunct="1">
              <a:spcBef>
                <a:spcPts val="1200"/>
              </a:spcBef>
              <a:spcAft>
                <a:spcPts val="600"/>
              </a:spcAft>
              <a:buFont typeface="Wingdings" pitchFamily="2" charset="2"/>
              <a:buChar char="§"/>
            </a:pPr>
            <a:r>
              <a:rPr lang="en-US" sz="2000" smtClean="0">
                <a:solidFill>
                  <a:schemeClr val="tx1"/>
                </a:solidFill>
                <a:latin typeface="Arial" charset="0"/>
                <a:cs typeface="Arial" charset="0"/>
              </a:rPr>
              <a:t>Determine whether the modification is a major modification</a:t>
            </a:r>
          </a:p>
          <a:p>
            <a:pPr marL="292100" lvl="1" indent="-292100" eaLnBrk="1" hangingPunct="1">
              <a:spcBef>
                <a:spcPts val="1200"/>
              </a:spcBef>
              <a:spcAft>
                <a:spcPts val="600"/>
              </a:spcAft>
              <a:buFont typeface="Wingdings" pitchFamily="2" charset="2"/>
              <a:buChar char="§"/>
            </a:pPr>
            <a:r>
              <a:rPr lang="en-US" sz="2000" smtClean="0">
                <a:solidFill>
                  <a:schemeClr val="tx1"/>
                </a:solidFill>
                <a:latin typeface="Arial" charset="0"/>
                <a:cs typeface="Arial" charset="0"/>
              </a:rPr>
              <a:t>Determination involves qualitative evaluations of six criteria</a:t>
            </a:r>
          </a:p>
          <a:p>
            <a:pPr marL="292100" lvl="1" indent="-292100" eaLnBrk="1" hangingPunct="1">
              <a:spcBef>
                <a:spcPts val="1200"/>
              </a:spcBef>
              <a:spcAft>
                <a:spcPts val="600"/>
              </a:spcAft>
              <a:buFont typeface="Wingdings" pitchFamily="2" charset="2"/>
              <a:buChar char="§"/>
            </a:pPr>
            <a:r>
              <a:rPr lang="en-US" sz="2000" smtClean="0">
                <a:solidFill>
                  <a:schemeClr val="tx1"/>
                </a:solidFill>
                <a:latin typeface="Arial" charset="0"/>
                <a:cs typeface="Arial" charset="0"/>
              </a:rPr>
              <a:t>No one criterion is determining</a:t>
            </a:r>
          </a:p>
          <a:p>
            <a:pPr marL="292100" lvl="1" indent="-292100" eaLnBrk="1" hangingPunct="1">
              <a:spcBef>
                <a:spcPts val="1200"/>
              </a:spcBef>
              <a:spcAft>
                <a:spcPts val="600"/>
              </a:spcAft>
              <a:buFont typeface="Wingdings" pitchFamily="2" charset="2"/>
              <a:buChar char="§"/>
            </a:pPr>
            <a:r>
              <a:rPr lang="en-US" sz="2000" smtClean="0">
                <a:solidFill>
                  <a:schemeClr val="tx1"/>
                </a:solidFill>
                <a:latin typeface="Arial" charset="0"/>
                <a:cs typeface="Arial" charset="0"/>
              </a:rPr>
              <a:t>Process relies on judgment based on consideration of all the criteria evaluations, on balance</a:t>
            </a:r>
          </a:p>
          <a:p>
            <a:pPr marL="292100" lvl="1" indent="-292100" eaLnBrk="1" hangingPunct="1">
              <a:spcBef>
                <a:spcPts val="1200"/>
              </a:spcBef>
              <a:spcAft>
                <a:spcPts val="600"/>
              </a:spcAft>
              <a:buFont typeface="Wingdings" pitchFamily="2" charset="2"/>
              <a:buChar char="§"/>
            </a:pPr>
            <a:r>
              <a:rPr lang="en-US" sz="2000" smtClean="0">
                <a:solidFill>
                  <a:schemeClr val="tx1"/>
                </a:solidFill>
                <a:latin typeface="Arial" charset="0"/>
                <a:cs typeface="Arial" charset="0"/>
              </a:rPr>
              <a:t>Process and criteria are described in Ch 8 of the Standard</a:t>
            </a:r>
          </a:p>
          <a:p>
            <a:pPr marL="292100" lvl="1" indent="-292100" eaLnBrk="1" hangingPunct="1">
              <a:spcBef>
                <a:spcPts val="1200"/>
              </a:spcBef>
              <a:spcAft>
                <a:spcPts val="600"/>
              </a:spcAft>
              <a:buFont typeface="Wingdings" pitchFamily="2" charset="2"/>
              <a:buChar char="§"/>
            </a:pPr>
            <a:r>
              <a:rPr lang="en-US" sz="2000" smtClean="0">
                <a:solidFill>
                  <a:schemeClr val="tx1"/>
                </a:solidFill>
                <a:latin typeface="Arial" charset="0"/>
                <a:cs typeface="Arial" charset="0"/>
              </a:rPr>
              <a:t>Specific examples are in Appendix J of the Standard</a:t>
            </a:r>
          </a:p>
          <a:p>
            <a:pPr marL="292100" lvl="1" indent="-292100" eaLnBrk="1" hangingPunct="1">
              <a:spcBef>
                <a:spcPts val="1200"/>
              </a:spcBef>
              <a:spcAft>
                <a:spcPts val="600"/>
              </a:spcAft>
              <a:buFont typeface="Wingdings" pitchFamily="2" charset="2"/>
              <a:buChar char="§"/>
            </a:pPr>
            <a:endParaRPr lang="en-US" sz="2000"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D53FCE89-3FF5-43AA-B36B-51E8943DE783}" type="slidenum">
              <a:rPr lang="en-US" smtClean="0"/>
              <a:pPr>
                <a:defRPr/>
              </a:pPr>
              <a:t>135</a:t>
            </a:fld>
            <a:endParaRPr lang="en-US"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2800" cap="small" dirty="0" smtClean="0"/>
              <a:t>Safety and Design Integration </a:t>
            </a:r>
            <a:br>
              <a:rPr lang="en-US" sz="2800" cap="small" dirty="0" smtClean="0"/>
            </a:br>
            <a:r>
              <a:rPr lang="en-US" sz="2800" cap="small" dirty="0" smtClean="0"/>
              <a:t>DOE-STD-1189-2008</a:t>
            </a:r>
            <a:endParaRPr lang="en-US" sz="2800" cap="small" dirty="0"/>
          </a:p>
        </p:txBody>
      </p:sp>
      <p:sp>
        <p:nvSpPr>
          <p:cNvPr id="151555" name="Subtitle 2"/>
          <p:cNvSpPr>
            <a:spLocks noGrp="1"/>
          </p:cNvSpPr>
          <p:nvPr>
            <p:ph idx="1"/>
          </p:nvPr>
        </p:nvSpPr>
        <p:spPr/>
        <p:txBody>
          <a:bodyPr/>
          <a:lstStyle/>
          <a:p>
            <a:pPr algn="ctr" eaLnBrk="1" hangingPunct="1">
              <a:buFont typeface="Wingdings" pitchFamily="2" charset="2"/>
              <a:buNone/>
            </a:pPr>
            <a:endParaRPr lang="en-US" smtClean="0">
              <a:solidFill>
                <a:srgbClr val="C00000"/>
              </a:solidFill>
              <a:latin typeface="Arial" charset="0"/>
              <a:cs typeface="Arial" charset="0"/>
            </a:endParaRPr>
          </a:p>
          <a:p>
            <a:pPr algn="ctr" eaLnBrk="1" hangingPunct="1">
              <a:buFont typeface="Wingdings" pitchFamily="2" charset="2"/>
              <a:buNone/>
            </a:pPr>
            <a:endParaRPr lang="en-US" smtClean="0">
              <a:solidFill>
                <a:srgbClr val="C00000"/>
              </a:solidFill>
              <a:latin typeface="Arial" charset="0"/>
              <a:cs typeface="Arial" charset="0"/>
            </a:endParaRPr>
          </a:p>
          <a:p>
            <a:pPr algn="ctr" eaLnBrk="1" hangingPunct="1">
              <a:buFont typeface="Wingdings" pitchFamily="2" charset="2"/>
              <a:buNone/>
            </a:pPr>
            <a:endParaRPr lang="en-US" smtClean="0">
              <a:solidFill>
                <a:srgbClr val="C00000"/>
              </a:solidFill>
              <a:latin typeface="Arial" charset="0"/>
              <a:cs typeface="Arial" charset="0"/>
            </a:endParaRPr>
          </a:p>
          <a:p>
            <a:pPr algn="ctr" eaLnBrk="1" hangingPunct="1">
              <a:buFont typeface="Wingdings" pitchFamily="2" charset="2"/>
              <a:buNone/>
            </a:pPr>
            <a:r>
              <a:rPr lang="en-US" smtClean="0">
                <a:solidFill>
                  <a:srgbClr val="C00000"/>
                </a:solidFill>
                <a:latin typeface="Arial" charset="0"/>
                <a:cs typeface="Arial" charset="0"/>
              </a:rPr>
              <a:t>Lessons Learned</a:t>
            </a:r>
          </a:p>
        </p:txBody>
      </p:sp>
      <p:sp>
        <p:nvSpPr>
          <p:cNvPr id="4" name="Slide Number Placeholder 3"/>
          <p:cNvSpPr>
            <a:spLocks noGrp="1"/>
          </p:cNvSpPr>
          <p:nvPr>
            <p:ph type="sldNum" sz="quarter" idx="10"/>
          </p:nvPr>
        </p:nvSpPr>
        <p:spPr/>
        <p:txBody>
          <a:bodyPr/>
          <a:lstStyle/>
          <a:p>
            <a:pPr>
              <a:defRPr/>
            </a:pPr>
            <a:fld id="{2FEFF9E4-BC8B-4709-A370-D645FF8672E7}" type="slidenum">
              <a:rPr lang="en-US" smtClean="0"/>
              <a:pPr>
                <a:defRPr/>
              </a:pPr>
              <a:t>136</a:t>
            </a:fld>
            <a:endParaRPr lang="en-US"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Sources of Lessons Learned</a:t>
            </a:r>
            <a:endParaRPr lang="en-US" sz="3200" cap="small" dirty="0"/>
          </a:p>
        </p:txBody>
      </p:sp>
      <p:sp>
        <p:nvSpPr>
          <p:cNvPr id="152579" name="Content Placeholder 2"/>
          <p:cNvSpPr>
            <a:spLocks noGrp="1"/>
          </p:cNvSpPr>
          <p:nvPr>
            <p:ph idx="1"/>
          </p:nvPr>
        </p:nvSpPr>
        <p:spPr/>
        <p:txBody>
          <a:bodyPr/>
          <a:lstStyle/>
          <a:p>
            <a:pPr eaLnBrk="1" hangingPunct="1">
              <a:lnSpc>
                <a:spcPct val="90000"/>
              </a:lnSpc>
              <a:spcBef>
                <a:spcPts val="1200"/>
              </a:spcBef>
              <a:spcAft>
                <a:spcPts val="600"/>
              </a:spcAft>
            </a:pPr>
            <a:r>
              <a:rPr lang="en-US" smtClean="0">
                <a:latin typeface="Arial" charset="0"/>
                <a:cs typeface="Arial" charset="0"/>
              </a:rPr>
              <a:t>DOE Project Reviews</a:t>
            </a:r>
          </a:p>
          <a:p>
            <a:pPr eaLnBrk="1" hangingPunct="1">
              <a:lnSpc>
                <a:spcPct val="90000"/>
              </a:lnSpc>
              <a:spcBef>
                <a:spcPts val="1200"/>
              </a:spcBef>
              <a:spcAft>
                <a:spcPts val="600"/>
              </a:spcAft>
            </a:pPr>
            <a:r>
              <a:rPr lang="en-US" smtClean="0">
                <a:latin typeface="Arial" charset="0"/>
                <a:cs typeface="Arial" charset="0"/>
              </a:rPr>
              <a:t>DNFSB Project Reviews</a:t>
            </a:r>
          </a:p>
          <a:p>
            <a:pPr eaLnBrk="1" hangingPunct="1">
              <a:lnSpc>
                <a:spcPct val="90000"/>
              </a:lnSpc>
              <a:spcBef>
                <a:spcPts val="1200"/>
              </a:spcBef>
              <a:spcAft>
                <a:spcPts val="600"/>
              </a:spcAft>
            </a:pPr>
            <a:r>
              <a:rPr lang="en-US" smtClean="0">
                <a:latin typeface="Arial" charset="0"/>
                <a:cs typeface="Arial" charset="0"/>
              </a:rPr>
              <a:t>Project Implementation Experience</a:t>
            </a:r>
          </a:p>
          <a:p>
            <a:pPr eaLnBrk="1" hangingPunct="1">
              <a:lnSpc>
                <a:spcPct val="90000"/>
              </a:lnSpc>
              <a:spcBef>
                <a:spcPts val="1200"/>
              </a:spcBef>
              <a:spcAft>
                <a:spcPts val="600"/>
              </a:spcAft>
            </a:pPr>
            <a:r>
              <a:rPr lang="en-US" smtClean="0">
                <a:latin typeface="Arial" charset="0"/>
                <a:cs typeface="Arial" charset="0"/>
              </a:rPr>
              <a:t>Implementation Questions from Field</a:t>
            </a:r>
          </a:p>
          <a:p>
            <a:pPr eaLnBrk="1" hangingPunct="1">
              <a:lnSpc>
                <a:spcPct val="90000"/>
              </a:lnSpc>
              <a:spcBef>
                <a:spcPts val="1200"/>
              </a:spcBef>
              <a:spcAft>
                <a:spcPts val="600"/>
              </a:spcAft>
            </a:pPr>
            <a:r>
              <a:rPr lang="en-US" smtClean="0">
                <a:latin typeface="Arial" charset="0"/>
                <a:cs typeface="Arial" charset="0"/>
              </a:rPr>
              <a:t>Questions During 1189 Training Sessions</a:t>
            </a:r>
          </a:p>
          <a:p>
            <a:pPr eaLnBrk="1" hangingPunct="1">
              <a:lnSpc>
                <a:spcPct val="90000"/>
              </a:lnSpc>
              <a:buFontTx/>
              <a:buNone/>
            </a:pPr>
            <a:endParaRPr lang="en-US" sz="30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5ABB5DCD-7D8B-49AA-B4F6-343C49708C3F}" type="slidenum">
              <a:rPr lang="en-US" smtClean="0"/>
              <a:pPr>
                <a:defRPr/>
              </a:pPr>
              <a:t>137</a:t>
            </a:fld>
            <a:endParaRPr lang="en-US"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Lessons Learned</a:t>
            </a:r>
            <a:br>
              <a:rPr lang="en-US" sz="3200" cap="small" dirty="0" smtClean="0"/>
            </a:br>
            <a:r>
              <a:rPr lang="en-US" sz="3200" cap="small" dirty="0" smtClean="0"/>
              <a:t> </a:t>
            </a:r>
            <a:r>
              <a:rPr lang="en-US" sz="2000" cap="small" dirty="0" smtClean="0"/>
              <a:t>(Slide 1 of 5) </a:t>
            </a:r>
            <a:endParaRPr lang="en-US" sz="3200" cap="small" dirty="0"/>
          </a:p>
        </p:txBody>
      </p:sp>
      <p:sp>
        <p:nvSpPr>
          <p:cNvPr id="153603" name="Content Placeholder 2"/>
          <p:cNvSpPr>
            <a:spLocks noGrp="1"/>
          </p:cNvSpPr>
          <p:nvPr>
            <p:ph idx="1"/>
          </p:nvPr>
        </p:nvSpPr>
        <p:spPr>
          <a:xfrm>
            <a:off x="533400" y="1981200"/>
            <a:ext cx="8234363" cy="4267200"/>
          </a:xfrm>
        </p:spPr>
        <p:txBody>
          <a:bodyPr/>
          <a:lstStyle/>
          <a:p>
            <a:pPr eaLnBrk="1" hangingPunct="1">
              <a:spcBef>
                <a:spcPts val="1200"/>
              </a:spcBef>
              <a:spcAft>
                <a:spcPts val="600"/>
              </a:spcAft>
            </a:pPr>
            <a:r>
              <a:rPr lang="en-US" smtClean="0">
                <a:latin typeface="Arial" charset="0"/>
                <a:cs typeface="Arial" charset="0"/>
              </a:rPr>
              <a:t>Need for detailed training on STD-1189 for FPDs, safety leads, engineering leads</a:t>
            </a:r>
          </a:p>
          <a:p>
            <a:pPr lvl="1" eaLnBrk="1" hangingPunct="1">
              <a:spcBef>
                <a:spcPts val="1200"/>
              </a:spcBef>
              <a:spcAft>
                <a:spcPts val="600"/>
              </a:spcAft>
              <a:buFont typeface="Calibri" pitchFamily="34" charset="0"/>
              <a:buChar char="–"/>
            </a:pPr>
            <a:r>
              <a:rPr lang="en-US" smtClean="0">
                <a:solidFill>
                  <a:schemeClr val="tx1"/>
                </a:solidFill>
                <a:latin typeface="Arial" charset="0"/>
                <a:cs typeface="Arial" charset="0"/>
              </a:rPr>
              <a:t>Surface level review of the Standard; focus on products (SDS, CSDR, PSDR, etc. instead of understanding the integrating process approach)</a:t>
            </a:r>
          </a:p>
          <a:p>
            <a:pPr lvl="1" eaLnBrk="1" hangingPunct="1">
              <a:spcBef>
                <a:spcPts val="1200"/>
              </a:spcBef>
              <a:spcAft>
                <a:spcPts val="600"/>
              </a:spcAft>
              <a:buFont typeface="Calibri" pitchFamily="34" charset="0"/>
              <a:buChar char="–"/>
            </a:pPr>
            <a:r>
              <a:rPr lang="en-US" smtClean="0">
                <a:solidFill>
                  <a:schemeClr val="tx1"/>
                </a:solidFill>
                <a:latin typeface="Arial" charset="0"/>
                <a:cs typeface="Arial" charset="0"/>
              </a:rPr>
              <a:t>Project management, safety, and engineering design personnel should have a level of familiarity with the requirements and guidance relevant to the other disciplines</a:t>
            </a:r>
          </a:p>
          <a:p>
            <a:pPr eaLnBrk="1" hangingPunct="1">
              <a:spcBef>
                <a:spcPts val="1200"/>
              </a:spcBef>
              <a:spcAft>
                <a:spcPts val="600"/>
              </a:spcAft>
              <a:buFontTx/>
              <a:buChar char="•"/>
            </a:pPr>
            <a:endParaRPr lang="en-US" sz="2400" smtClean="0">
              <a:latin typeface="Arial" charset="0"/>
              <a:cs typeface="Arial" charset="0"/>
            </a:endParaRPr>
          </a:p>
          <a:p>
            <a:pPr lvl="1" eaLnBrk="1" hangingPunct="1">
              <a:spcBef>
                <a:spcPts val="1200"/>
              </a:spcBef>
              <a:spcAft>
                <a:spcPts val="600"/>
              </a:spcAft>
              <a:buFont typeface="Wingdings" pitchFamily="2" charset="2"/>
              <a:buNone/>
            </a:pPr>
            <a:endParaRPr lang="en-US" sz="2000"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127423DD-2D7D-42B8-A98C-AA1F84E66753}" type="slidenum">
              <a:rPr lang="en-US" smtClean="0"/>
              <a:pPr>
                <a:defRPr/>
              </a:pPr>
              <a:t>138</a:t>
            </a:fld>
            <a:endParaRPr lang="en-US"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sz="3200" cap="small" dirty="0" smtClean="0"/>
              <a:t>Lessons Learned</a:t>
            </a:r>
            <a:br>
              <a:rPr lang="en-US" sz="3200" cap="small" dirty="0" smtClean="0"/>
            </a:br>
            <a:r>
              <a:rPr lang="en-US" sz="1800" cap="small" dirty="0" smtClean="0"/>
              <a:t> (Slide 2 of 5) </a:t>
            </a:r>
            <a:endParaRPr lang="en-US" sz="3200" dirty="0"/>
          </a:p>
        </p:txBody>
      </p:sp>
      <p:sp>
        <p:nvSpPr>
          <p:cNvPr id="154627" name="Content Placeholder 2"/>
          <p:cNvSpPr>
            <a:spLocks noGrp="1"/>
          </p:cNvSpPr>
          <p:nvPr>
            <p:ph idx="1"/>
          </p:nvPr>
        </p:nvSpPr>
        <p:spPr/>
        <p:txBody>
          <a:bodyPr/>
          <a:lstStyle/>
          <a:p>
            <a:pPr eaLnBrk="1" hangingPunct="1">
              <a:spcBef>
                <a:spcPts val="1200"/>
              </a:spcBef>
              <a:spcAft>
                <a:spcPts val="600"/>
              </a:spcAft>
            </a:pPr>
            <a:r>
              <a:rPr lang="en-US" smtClean="0">
                <a:latin typeface="Arial" charset="0"/>
                <a:cs typeface="Arial" charset="0"/>
              </a:rPr>
              <a:t>Issues missed in application: </a:t>
            </a:r>
          </a:p>
          <a:p>
            <a:pPr lvl="1" eaLnBrk="1" hangingPunct="1">
              <a:spcBef>
                <a:spcPts val="1200"/>
              </a:spcBef>
              <a:spcAft>
                <a:spcPts val="600"/>
              </a:spcAft>
              <a:buFont typeface="Calibri" pitchFamily="34" charset="0"/>
              <a:buChar char="–"/>
            </a:pPr>
            <a:r>
              <a:rPr lang="en-US" smtClean="0">
                <a:solidFill>
                  <a:schemeClr val="tx1"/>
                </a:solidFill>
                <a:latin typeface="Arial" charset="0"/>
                <a:cs typeface="Arial" charset="0"/>
              </a:rPr>
              <a:t>Level of HA as function of design stage; </a:t>
            </a:r>
          </a:p>
          <a:p>
            <a:pPr lvl="1" eaLnBrk="1" hangingPunct="1">
              <a:spcBef>
                <a:spcPts val="1200"/>
              </a:spcBef>
              <a:spcAft>
                <a:spcPts val="600"/>
              </a:spcAft>
              <a:buFont typeface="Calibri" pitchFamily="34" charset="0"/>
              <a:buChar char="–"/>
            </a:pPr>
            <a:r>
              <a:rPr lang="en-US" smtClean="0">
                <a:solidFill>
                  <a:schemeClr val="tx1"/>
                </a:solidFill>
                <a:latin typeface="Arial" charset="0"/>
                <a:cs typeface="Arial" charset="0"/>
              </a:rPr>
              <a:t>Nuclear criticality safety not included in HA/control identification; </a:t>
            </a:r>
          </a:p>
          <a:p>
            <a:pPr lvl="1" eaLnBrk="1" hangingPunct="1">
              <a:spcBef>
                <a:spcPts val="1200"/>
              </a:spcBef>
              <a:spcAft>
                <a:spcPts val="600"/>
              </a:spcAft>
              <a:buFont typeface="Calibri" pitchFamily="34" charset="0"/>
              <a:buChar char="–"/>
            </a:pPr>
            <a:r>
              <a:rPr lang="en-US" smtClean="0">
                <a:solidFill>
                  <a:schemeClr val="tx1"/>
                </a:solidFill>
                <a:latin typeface="Arial" charset="0"/>
                <a:cs typeface="Arial" charset="0"/>
              </a:rPr>
              <a:t>Risk and Opportunity Assessments not carried into Project Risk Management Plan; </a:t>
            </a:r>
          </a:p>
          <a:p>
            <a:pPr lvl="1" eaLnBrk="1" hangingPunct="1">
              <a:spcBef>
                <a:spcPts val="1200"/>
              </a:spcBef>
              <a:spcAft>
                <a:spcPts val="600"/>
              </a:spcAft>
              <a:buFont typeface="Calibri" pitchFamily="34" charset="0"/>
              <a:buChar char="–"/>
            </a:pPr>
            <a:r>
              <a:rPr lang="en-US" smtClean="0">
                <a:solidFill>
                  <a:schemeClr val="tx1"/>
                </a:solidFill>
                <a:latin typeface="Arial" charset="0"/>
                <a:cs typeface="Arial" charset="0"/>
              </a:rPr>
              <a:t>Security not included in SDIT</a:t>
            </a:r>
            <a:endParaRPr lang="en-US" sz="2800" smtClean="0">
              <a:latin typeface="Arial" charset="0"/>
              <a:cs typeface="Arial" charset="0"/>
            </a:endParaRPr>
          </a:p>
        </p:txBody>
      </p:sp>
      <p:sp>
        <p:nvSpPr>
          <p:cNvPr id="4" name="Slide Number Placeholder 3"/>
          <p:cNvSpPr>
            <a:spLocks noGrp="1"/>
          </p:cNvSpPr>
          <p:nvPr>
            <p:ph type="sldNum" sz="quarter" idx="10"/>
          </p:nvPr>
        </p:nvSpPr>
        <p:spPr/>
        <p:txBody>
          <a:bodyPr/>
          <a:lstStyle/>
          <a:p>
            <a:pPr>
              <a:defRPr/>
            </a:pPr>
            <a:fld id="{03FFA849-B7C8-4448-9A46-7B1C028C7CC5}" type="slidenum">
              <a:rPr lang="en-US" smtClean="0"/>
              <a:pPr>
                <a:defRPr/>
              </a:pPr>
              <a:t>139</a:t>
            </a:fld>
            <a:endParaRPr lang="en-US"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itle 1"/>
          <p:cNvSpPr>
            <a:spLocks noGrp="1"/>
          </p:cNvSpPr>
          <p:nvPr>
            <p:ph type="title"/>
          </p:nvPr>
        </p:nvSpPr>
        <p:spPr/>
        <p:txBody>
          <a:bodyPr/>
          <a:lstStyle/>
          <a:p>
            <a:pPr eaLnBrk="1" hangingPunct="1">
              <a:defRPr/>
            </a:pPr>
            <a:r>
              <a:rPr lang="en-US" sz="3200" cap="small" dirty="0" smtClean="0"/>
              <a:t>Lessons Learned</a:t>
            </a:r>
            <a:br>
              <a:rPr lang="en-US" sz="3200" cap="small" dirty="0" smtClean="0"/>
            </a:br>
            <a:r>
              <a:rPr lang="en-US" sz="1800" cap="small" dirty="0" smtClean="0"/>
              <a:t> (Slide 3 of 5) </a:t>
            </a:r>
            <a:endParaRPr lang="en-US" sz="1800" dirty="0" smtClean="0"/>
          </a:p>
        </p:txBody>
      </p:sp>
      <p:sp>
        <p:nvSpPr>
          <p:cNvPr id="155651" name="Content Placeholder 2"/>
          <p:cNvSpPr>
            <a:spLocks noGrp="1"/>
          </p:cNvSpPr>
          <p:nvPr>
            <p:ph idx="1"/>
          </p:nvPr>
        </p:nvSpPr>
        <p:spPr/>
        <p:txBody>
          <a:bodyPr/>
          <a:lstStyle/>
          <a:p>
            <a:pPr eaLnBrk="1" hangingPunct="1">
              <a:lnSpc>
                <a:spcPct val="110000"/>
              </a:lnSpc>
              <a:spcBef>
                <a:spcPts val="1200"/>
              </a:spcBef>
              <a:spcAft>
                <a:spcPts val="600"/>
              </a:spcAft>
            </a:pPr>
            <a:r>
              <a:rPr lang="en-US" sz="2400" smtClean="0">
                <a:latin typeface="Arial" charset="0"/>
                <a:cs typeface="Arial" charset="0"/>
              </a:rPr>
              <a:t>Need for formality in establishment and activities of  Safety Design Integration Team (SDIT)</a:t>
            </a:r>
          </a:p>
          <a:p>
            <a:pPr eaLnBrk="1" hangingPunct="1">
              <a:lnSpc>
                <a:spcPct val="110000"/>
              </a:lnSpc>
              <a:spcBef>
                <a:spcPts val="1200"/>
              </a:spcBef>
              <a:spcAft>
                <a:spcPts val="600"/>
              </a:spcAft>
            </a:pPr>
            <a:r>
              <a:rPr lang="en-US" sz="2400" smtClean="0">
                <a:solidFill>
                  <a:srgbClr val="002060"/>
                </a:solidFill>
                <a:latin typeface="Arial" charset="0"/>
                <a:cs typeface="Arial" charset="0"/>
              </a:rPr>
              <a:t>Project management commitment; designation of an SDIT lead (forcing function for effective communication between safety, design, and engineering)</a:t>
            </a:r>
            <a:endParaRPr lang="en-US" sz="3200" smtClean="0">
              <a:solidFill>
                <a:srgbClr val="002060"/>
              </a:solidFill>
              <a:latin typeface="Arial" charset="0"/>
              <a:cs typeface="Arial" charset="0"/>
            </a:endParaRPr>
          </a:p>
          <a:p>
            <a:pPr eaLnBrk="1" hangingPunct="1">
              <a:buFontTx/>
              <a:buNone/>
            </a:pPr>
            <a:endParaRPr lang="en-US" sz="2000" smtClean="0">
              <a:latin typeface="Arial" charset="0"/>
              <a:cs typeface="Arial" charset="0"/>
            </a:endParaRPr>
          </a:p>
          <a:p>
            <a:pPr lvl="1" eaLnBrk="1" hangingPunct="1">
              <a:buFont typeface="Wingdings" pitchFamily="2" charset="2"/>
              <a:buNone/>
            </a:pPr>
            <a:endParaRPr lang="en-US" sz="16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A1794928-B329-4471-854E-06DE9022DCA4}" type="slidenum">
              <a:rPr lang="en-US" smtClean="0"/>
              <a:pPr>
                <a:defRPr/>
              </a:pPr>
              <a:t>140</a:t>
            </a:fld>
            <a:endParaRPr lang="en-US"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Lessons Learned</a:t>
            </a:r>
            <a:br>
              <a:rPr lang="en-US" sz="3200" cap="small" dirty="0" smtClean="0"/>
            </a:br>
            <a:r>
              <a:rPr lang="en-US" sz="1800" cap="small" dirty="0" smtClean="0"/>
              <a:t> (Slide 4 of 5) </a:t>
            </a:r>
            <a:endParaRPr lang="en-US" sz="1800" dirty="0" smtClean="0"/>
          </a:p>
        </p:txBody>
      </p:sp>
      <p:sp>
        <p:nvSpPr>
          <p:cNvPr id="156675" name="Content Placeholder 2"/>
          <p:cNvSpPr>
            <a:spLocks noGrp="1"/>
          </p:cNvSpPr>
          <p:nvPr>
            <p:ph idx="1"/>
          </p:nvPr>
        </p:nvSpPr>
        <p:spPr>
          <a:xfrm>
            <a:off x="533400" y="2057400"/>
            <a:ext cx="8234363" cy="4191000"/>
          </a:xfrm>
        </p:spPr>
        <p:txBody>
          <a:bodyPr/>
          <a:lstStyle/>
          <a:p>
            <a:pPr eaLnBrk="1" hangingPunct="1">
              <a:spcBef>
                <a:spcPts val="1200"/>
              </a:spcBef>
            </a:pPr>
            <a:r>
              <a:rPr lang="en-US" sz="2400" smtClean="0">
                <a:latin typeface="Arial" charset="0"/>
                <a:cs typeface="Arial" charset="0"/>
              </a:rPr>
              <a:t>Importance of a requirements management system </a:t>
            </a:r>
          </a:p>
          <a:p>
            <a:pPr eaLnBrk="1" hangingPunct="1">
              <a:spcBef>
                <a:spcPts val="1200"/>
              </a:spcBef>
              <a:buFont typeface="Wingdings" pitchFamily="2" charset="2"/>
              <a:buNone/>
            </a:pPr>
            <a:r>
              <a:rPr lang="en-US" sz="2400" smtClean="0">
                <a:latin typeface="Arial" charset="0"/>
                <a:cs typeface="Arial" charset="0"/>
              </a:rPr>
              <a:t>	</a:t>
            </a:r>
            <a:r>
              <a:rPr lang="en-US" sz="2000" smtClean="0">
                <a:latin typeface="Arial" charset="0"/>
                <a:cs typeface="Arial" charset="0"/>
              </a:rPr>
              <a:t>(e.g., Dynamic Object Oriented Requirements System)</a:t>
            </a:r>
            <a:endParaRPr lang="en-US" sz="1600" smtClean="0">
              <a:latin typeface="Arial" charset="0"/>
              <a:cs typeface="Arial" charset="0"/>
            </a:endParaRPr>
          </a:p>
          <a:p>
            <a:pPr lvl="1" eaLnBrk="1" hangingPunct="1">
              <a:spcBef>
                <a:spcPts val="1200"/>
              </a:spcBef>
              <a:buFont typeface="Calibri" pitchFamily="34" charset="0"/>
              <a:buChar char="–"/>
            </a:pPr>
            <a:r>
              <a:rPr lang="en-US" sz="2000" smtClean="0">
                <a:solidFill>
                  <a:schemeClr val="tx1"/>
                </a:solidFill>
                <a:latin typeface="Arial" charset="0"/>
                <a:cs typeface="Arial" charset="0"/>
              </a:rPr>
              <a:t>Need flowdown of functional requirements to design documentation [System Design Descriptions (SDDs)]</a:t>
            </a:r>
          </a:p>
          <a:p>
            <a:pPr lvl="1" eaLnBrk="1" hangingPunct="1">
              <a:spcBef>
                <a:spcPts val="1200"/>
              </a:spcBef>
              <a:buFont typeface="Calibri" pitchFamily="34" charset="0"/>
              <a:buChar char="–"/>
            </a:pPr>
            <a:r>
              <a:rPr lang="en-US" sz="2000" smtClean="0">
                <a:solidFill>
                  <a:schemeClr val="tx1"/>
                </a:solidFill>
                <a:latin typeface="Arial" charset="0"/>
                <a:cs typeface="Arial" charset="0"/>
              </a:rPr>
              <a:t>Need management of change</a:t>
            </a:r>
          </a:p>
          <a:p>
            <a:pPr lvl="1" eaLnBrk="1" hangingPunct="1">
              <a:spcBef>
                <a:spcPts val="1200"/>
              </a:spcBef>
              <a:buFont typeface="Calibri" pitchFamily="34" charset="0"/>
              <a:buChar char="–"/>
            </a:pPr>
            <a:r>
              <a:rPr lang="en-US" sz="2000" smtClean="0">
                <a:solidFill>
                  <a:schemeClr val="tx1"/>
                </a:solidFill>
                <a:latin typeface="Arial" charset="0"/>
                <a:cs typeface="Arial" charset="0"/>
              </a:rPr>
              <a:t>Don’t let development of SDDs get out of sync with safety input and documentation in CSDR, PSDR, PDSA</a:t>
            </a:r>
          </a:p>
          <a:p>
            <a:pPr eaLnBrk="1" hangingPunct="1">
              <a:spcBef>
                <a:spcPts val="1200"/>
              </a:spcBef>
            </a:pPr>
            <a:r>
              <a:rPr lang="en-US" sz="2400" smtClean="0">
                <a:latin typeface="Arial" charset="0"/>
                <a:cs typeface="Arial" charset="0"/>
              </a:rPr>
              <a:t>Need to assess/validate ability of safety SSCs to provide the safety function indicated by hazards analysis </a:t>
            </a:r>
          </a:p>
          <a:p>
            <a:pPr lvl="1" eaLnBrk="1" hangingPunct="1">
              <a:spcBef>
                <a:spcPts val="1200"/>
              </a:spcBef>
              <a:buFont typeface="Wingdings" pitchFamily="2" charset="2"/>
              <a:buChar char="Ø"/>
            </a:pPr>
            <a:endParaRPr lang="en-US" smtClean="0">
              <a:solidFill>
                <a:schemeClr val="tx1"/>
              </a:solidFill>
              <a:latin typeface="Arial" charset="0"/>
              <a:cs typeface="Arial" charset="0"/>
            </a:endParaRPr>
          </a:p>
          <a:p>
            <a:pPr lvl="1" eaLnBrk="1" hangingPunct="1">
              <a:spcBef>
                <a:spcPts val="1200"/>
              </a:spcBef>
              <a:buFont typeface="Wingdings" pitchFamily="2" charset="2"/>
              <a:buChar char="Ø"/>
            </a:pPr>
            <a:endParaRPr lang="en-US" smtClean="0">
              <a:solidFill>
                <a:schemeClr val="tx1"/>
              </a:solidFill>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EBBEA0C0-A119-4AE3-A56C-F0772E20C495}" type="slidenum">
              <a:rPr lang="en-US" smtClean="0"/>
              <a:pPr>
                <a:defRPr/>
              </a:pPr>
              <a:t>141</a:t>
            </a:fld>
            <a:endParaRPr lang="en-US"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sz="3200" cap="small" dirty="0" smtClean="0"/>
              <a:t>Lessons Learned</a:t>
            </a:r>
            <a:br>
              <a:rPr lang="en-US" sz="3200" cap="small" dirty="0" smtClean="0"/>
            </a:br>
            <a:r>
              <a:rPr lang="en-US" sz="1800" cap="small" dirty="0" smtClean="0"/>
              <a:t> (Slide 5 of 5) </a:t>
            </a:r>
            <a:endParaRPr lang="en-US" sz="1800" dirty="0" smtClean="0"/>
          </a:p>
        </p:txBody>
      </p:sp>
      <p:sp>
        <p:nvSpPr>
          <p:cNvPr id="157699" name="Content Placeholder 2"/>
          <p:cNvSpPr>
            <a:spLocks noGrp="1"/>
          </p:cNvSpPr>
          <p:nvPr>
            <p:ph idx="1"/>
          </p:nvPr>
        </p:nvSpPr>
        <p:spPr/>
        <p:txBody>
          <a:bodyPr/>
          <a:lstStyle/>
          <a:p>
            <a:pPr eaLnBrk="1" hangingPunct="1"/>
            <a:r>
              <a:rPr lang="en-US" sz="2400" smtClean="0">
                <a:latin typeface="Arial" charset="0"/>
                <a:cs typeface="Arial" charset="0"/>
              </a:rPr>
              <a:t>Role of the Safety Design Strategy (SDS) document</a:t>
            </a:r>
          </a:p>
          <a:p>
            <a:pPr eaLnBrk="1" hangingPunct="1">
              <a:buFont typeface="Arial" charset="0"/>
              <a:buChar char="•"/>
            </a:pPr>
            <a:endParaRPr lang="en-US" sz="2400" smtClean="0">
              <a:latin typeface="Arial" charset="0"/>
              <a:cs typeface="Arial" charset="0"/>
            </a:endParaRPr>
          </a:p>
          <a:p>
            <a:pPr lvl="1" eaLnBrk="1" hangingPunct="1">
              <a:buFont typeface="Arial" charset="0"/>
              <a:buChar char="–"/>
            </a:pPr>
            <a:r>
              <a:rPr lang="en-US" sz="2000" smtClean="0">
                <a:solidFill>
                  <a:schemeClr val="tx1"/>
                </a:solidFill>
                <a:latin typeface="Arial" charset="0"/>
                <a:cs typeface="Arial" charset="0"/>
              </a:rPr>
              <a:t>Tailoring of CD phases and safety documentation </a:t>
            </a:r>
          </a:p>
          <a:p>
            <a:pPr lvl="1" eaLnBrk="1" hangingPunct="1">
              <a:buFont typeface="Arial" charset="0"/>
              <a:buChar char="–"/>
            </a:pPr>
            <a:endParaRPr lang="en-US" sz="2000" smtClean="0">
              <a:solidFill>
                <a:schemeClr val="tx1"/>
              </a:solidFill>
              <a:latin typeface="Arial" charset="0"/>
              <a:cs typeface="Arial" charset="0"/>
            </a:endParaRPr>
          </a:p>
          <a:p>
            <a:pPr lvl="1" eaLnBrk="1" hangingPunct="1">
              <a:buFont typeface="Arial" charset="0"/>
              <a:buChar char="–"/>
            </a:pPr>
            <a:r>
              <a:rPr lang="en-US" sz="2000" smtClean="0">
                <a:solidFill>
                  <a:schemeClr val="tx1"/>
                </a:solidFill>
                <a:latin typeface="Arial" charset="0"/>
                <a:cs typeface="Arial" charset="0"/>
              </a:rPr>
              <a:t>Revising conservative safety assumptions with better information as design proceeds</a:t>
            </a:r>
          </a:p>
          <a:p>
            <a:pPr lvl="1" eaLnBrk="1" hangingPunct="1">
              <a:buFont typeface="Arial" charset="0"/>
              <a:buChar char="–"/>
            </a:pPr>
            <a:endParaRPr lang="en-US" sz="2000" smtClean="0">
              <a:solidFill>
                <a:schemeClr val="tx1"/>
              </a:solidFill>
              <a:latin typeface="Arial" charset="0"/>
              <a:cs typeface="Arial" charset="0"/>
            </a:endParaRPr>
          </a:p>
          <a:p>
            <a:pPr lvl="1" eaLnBrk="1" hangingPunct="1">
              <a:buFont typeface="Arial" charset="0"/>
              <a:buChar char="–"/>
            </a:pPr>
            <a:r>
              <a:rPr lang="en-US" sz="2000" smtClean="0">
                <a:solidFill>
                  <a:schemeClr val="tx1"/>
                </a:solidFill>
                <a:latin typeface="Arial" charset="0"/>
                <a:cs typeface="Arial" charset="0"/>
              </a:rPr>
              <a:t>Real time mechanism to achieve consensus on safety in design approaches (living document)</a:t>
            </a:r>
          </a:p>
          <a:p>
            <a:pPr eaLnBrk="1" hangingPunct="1">
              <a:buFontTx/>
              <a:buNone/>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5E3029BE-C66A-4F07-9BD8-D16FAC985C22}" type="slidenum">
              <a:rPr lang="en-US" smtClean="0"/>
              <a:pPr>
                <a:defRPr/>
              </a:pPr>
              <a:t>142</a:t>
            </a:fld>
            <a:endParaRPr 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p:cNvSpPr>
            <a:spLocks noGrp="1"/>
          </p:cNvSpPr>
          <p:nvPr>
            <p:ph type="title"/>
          </p:nvPr>
        </p:nvSpPr>
        <p:spPr/>
        <p:txBody>
          <a:bodyPr/>
          <a:lstStyle/>
          <a:p>
            <a:pPr eaLnBrk="1" hangingPunct="1"/>
            <a:r>
              <a:rPr lang="en-US" sz="3200" smtClean="0">
                <a:latin typeface="Arial" charset="0"/>
                <a:cs typeface="Arial" charset="0"/>
              </a:rPr>
              <a:t>FAQs</a:t>
            </a:r>
          </a:p>
        </p:txBody>
      </p:sp>
      <p:sp>
        <p:nvSpPr>
          <p:cNvPr id="158723" name="Content Placeholder 2"/>
          <p:cNvSpPr>
            <a:spLocks noGrp="1"/>
          </p:cNvSpPr>
          <p:nvPr>
            <p:ph idx="1"/>
          </p:nvPr>
        </p:nvSpPr>
        <p:spPr>
          <a:xfrm>
            <a:off x="533400" y="1905000"/>
            <a:ext cx="8234363" cy="4343400"/>
          </a:xfrm>
        </p:spPr>
        <p:txBody>
          <a:bodyPr/>
          <a:lstStyle/>
          <a:p>
            <a:pPr eaLnBrk="1" hangingPunct="1">
              <a:spcBef>
                <a:spcPts val="1200"/>
              </a:spcBef>
            </a:pPr>
            <a:r>
              <a:rPr lang="en-US" sz="2400" smtClean="0">
                <a:latin typeface="Arial" charset="0"/>
                <a:cs typeface="Arial" charset="0"/>
              </a:rPr>
              <a:t>Does commitment to O 420.1B criteria mean commitment to the associated guides as well?  </a:t>
            </a:r>
          </a:p>
          <a:p>
            <a:pPr marL="800100" lvl="1" indent="-342900" eaLnBrk="1" hangingPunct="1">
              <a:spcBef>
                <a:spcPts val="1200"/>
              </a:spcBef>
              <a:buFont typeface="Arial" charset="0"/>
              <a:buChar char="-"/>
            </a:pPr>
            <a:r>
              <a:rPr lang="en-US" sz="2000" smtClean="0">
                <a:solidFill>
                  <a:schemeClr val="tx1"/>
                </a:solidFill>
                <a:latin typeface="Arial" charset="0"/>
                <a:cs typeface="Arial" charset="0"/>
              </a:rPr>
              <a:t>Means for choosing/justifying alternative safety design criteria. </a:t>
            </a:r>
          </a:p>
          <a:p>
            <a:pPr eaLnBrk="1" hangingPunct="1">
              <a:spcBef>
                <a:spcPts val="1200"/>
              </a:spcBef>
            </a:pPr>
            <a:r>
              <a:rPr lang="en-US" sz="2400" smtClean="0">
                <a:latin typeface="Arial" charset="0"/>
                <a:cs typeface="Arial" charset="0"/>
              </a:rPr>
              <a:t>Level of detail of DOE review of safety design documents (CSDR/PSDR/PDSA) in meeting O 420.1B safety design requirements.</a:t>
            </a:r>
          </a:p>
          <a:p>
            <a:pPr eaLnBrk="1" hangingPunct="1">
              <a:spcBef>
                <a:spcPts val="1200"/>
              </a:spcBef>
            </a:pPr>
            <a:r>
              <a:rPr lang="en-US" sz="2400" smtClean="0">
                <a:latin typeface="Arial" charset="0"/>
                <a:cs typeface="Arial" charset="0"/>
              </a:rPr>
              <a:t>How to modify early conservative safety design assumptions/approaches.  Considerations.</a:t>
            </a:r>
          </a:p>
          <a:p>
            <a:pPr eaLnBrk="1" hangingPunct="1">
              <a:spcBef>
                <a:spcPts val="1200"/>
              </a:spcBef>
            </a:pPr>
            <a:r>
              <a:rPr lang="en-US" sz="2400" smtClean="0">
                <a:latin typeface="Arial" charset="0"/>
                <a:cs typeface="Arial" charset="0"/>
              </a:rPr>
              <a:t>What is Code of Record?</a:t>
            </a:r>
          </a:p>
          <a:p>
            <a:pPr eaLnBrk="1" hangingPunct="1">
              <a:spcBef>
                <a:spcPts val="1200"/>
              </a:spcBef>
              <a:buFont typeface="Arial" charset="0"/>
              <a:buChar char="•"/>
            </a:pPr>
            <a:endParaRPr lang="en-US"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764D4DBD-D15A-4C2C-99FD-AF9364E8956C}" type="slidenum">
              <a:rPr lang="en-US" smtClean="0"/>
              <a:pPr>
                <a:defRPr/>
              </a:pPr>
              <a:t>143</a:t>
            </a:fld>
            <a:endParaRPr lang="en-US"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p:nvPr>
        </p:nvSpPr>
        <p:spPr/>
        <p:txBody>
          <a:bodyPr/>
          <a:lstStyle/>
          <a:p>
            <a:pPr eaLnBrk="1" hangingPunct="1">
              <a:defRPr/>
            </a:pPr>
            <a:r>
              <a:rPr lang="en-US" sz="3200" cap="small" dirty="0" smtClean="0"/>
              <a:t>Commitment To </a:t>
            </a:r>
            <a:br>
              <a:rPr lang="en-US" sz="3200" cap="small" dirty="0" smtClean="0"/>
            </a:br>
            <a:r>
              <a:rPr lang="en-US" sz="3200" cap="small" dirty="0" smtClean="0"/>
              <a:t>DOE O 420.1B Guides</a:t>
            </a:r>
          </a:p>
        </p:txBody>
      </p:sp>
      <p:sp>
        <p:nvSpPr>
          <p:cNvPr id="161795" name="Content Placeholder 2"/>
          <p:cNvSpPr>
            <a:spLocks noGrp="1"/>
          </p:cNvSpPr>
          <p:nvPr>
            <p:ph idx="1"/>
          </p:nvPr>
        </p:nvSpPr>
        <p:spPr>
          <a:xfrm>
            <a:off x="533400" y="1905000"/>
            <a:ext cx="8234363" cy="4343400"/>
          </a:xfrm>
        </p:spPr>
        <p:txBody>
          <a:bodyPr/>
          <a:lstStyle/>
          <a:p>
            <a:pPr eaLnBrk="1" hangingPunct="1">
              <a:spcBef>
                <a:spcPts val="1200"/>
              </a:spcBef>
              <a:defRPr/>
            </a:pPr>
            <a:r>
              <a:rPr lang="en-US" sz="2400" dirty="0" smtClean="0"/>
              <a:t>Does commitment to O 420.1B criteria mean commitment to the associated guides as well?</a:t>
            </a:r>
          </a:p>
          <a:p>
            <a:pPr lvl="1" eaLnBrk="1" hangingPunct="1">
              <a:spcBef>
                <a:spcPts val="1200"/>
              </a:spcBef>
              <a:buFont typeface="Arial" charset="0"/>
              <a:buChar char="–"/>
              <a:defRPr/>
            </a:pPr>
            <a:r>
              <a:rPr lang="en-US" sz="2000" dirty="0" smtClean="0">
                <a:solidFill>
                  <a:schemeClr val="tx1"/>
                </a:solidFill>
              </a:rPr>
              <a:t>Guides are not requirements (unless committed to by contract)</a:t>
            </a:r>
          </a:p>
          <a:p>
            <a:pPr lvl="1" eaLnBrk="1" hangingPunct="1">
              <a:spcBef>
                <a:spcPts val="1200"/>
              </a:spcBef>
              <a:buFont typeface="Arial" charset="0"/>
              <a:buChar char="–"/>
              <a:defRPr/>
            </a:pPr>
            <a:r>
              <a:rPr lang="en-US" sz="2000" dirty="0" smtClean="0">
                <a:solidFill>
                  <a:schemeClr val="tx1"/>
                </a:solidFill>
              </a:rPr>
              <a:t>DOE expectation is that guides will be followed</a:t>
            </a:r>
          </a:p>
          <a:p>
            <a:pPr eaLnBrk="1" hangingPunct="1">
              <a:spcBef>
                <a:spcPts val="1200"/>
              </a:spcBef>
              <a:defRPr/>
            </a:pPr>
            <a:r>
              <a:rPr lang="en-US" sz="2400" dirty="0" smtClean="0"/>
              <a:t>Considerations?</a:t>
            </a:r>
          </a:p>
          <a:p>
            <a:pPr lvl="1" eaLnBrk="1" hangingPunct="1">
              <a:spcBef>
                <a:spcPts val="1200"/>
              </a:spcBef>
              <a:buFont typeface="Arial" charset="0"/>
              <a:buChar char="–"/>
              <a:defRPr/>
            </a:pPr>
            <a:r>
              <a:rPr lang="en-US" sz="2000" dirty="0" smtClean="0">
                <a:solidFill>
                  <a:schemeClr val="tx1"/>
                </a:solidFill>
              </a:rPr>
              <a:t>Cost</a:t>
            </a:r>
          </a:p>
          <a:p>
            <a:pPr lvl="1" eaLnBrk="1" hangingPunct="1">
              <a:spcBef>
                <a:spcPts val="1200"/>
              </a:spcBef>
              <a:buFont typeface="Arial" charset="0"/>
              <a:buChar char="–"/>
              <a:defRPr/>
            </a:pPr>
            <a:r>
              <a:rPr lang="en-US" sz="2000" dirty="0" smtClean="0">
                <a:solidFill>
                  <a:schemeClr val="tx1"/>
                </a:solidFill>
              </a:rPr>
              <a:t>Schedule implications</a:t>
            </a:r>
          </a:p>
          <a:p>
            <a:pPr lvl="1" eaLnBrk="1" hangingPunct="1">
              <a:spcBef>
                <a:spcPts val="1200"/>
              </a:spcBef>
              <a:buFont typeface="Arial" charset="0"/>
              <a:buChar char="–"/>
              <a:defRPr/>
            </a:pPr>
            <a:r>
              <a:rPr lang="en-US" sz="2000" dirty="0" smtClean="0">
                <a:solidFill>
                  <a:schemeClr val="tx1"/>
                </a:solidFill>
              </a:rPr>
              <a:t>Equivalent or better outcomes/demonstration thereof</a:t>
            </a:r>
          </a:p>
          <a:p>
            <a:pPr indent="-285750" eaLnBrk="1" hangingPunct="1">
              <a:spcBef>
                <a:spcPts val="1200"/>
              </a:spcBef>
              <a:buFont typeface="Arial" charset="0"/>
              <a:buChar char="–"/>
              <a:defRPr/>
            </a:pPr>
            <a:endParaRPr lang="en-US" sz="2400" dirty="0" smtClean="0"/>
          </a:p>
        </p:txBody>
      </p:sp>
      <p:sp>
        <p:nvSpPr>
          <p:cNvPr id="5" name="Slide Number Placeholder 4"/>
          <p:cNvSpPr>
            <a:spLocks noGrp="1"/>
          </p:cNvSpPr>
          <p:nvPr>
            <p:ph type="sldNum" sz="quarter" idx="10"/>
          </p:nvPr>
        </p:nvSpPr>
        <p:spPr/>
        <p:txBody>
          <a:bodyPr/>
          <a:lstStyle/>
          <a:p>
            <a:pPr>
              <a:defRPr/>
            </a:pPr>
            <a:fld id="{4B187EB7-B813-4683-9A55-3FDE3CBF79F5}" type="slidenum">
              <a:rPr lang="en-US" smtClean="0"/>
              <a:pPr>
                <a:defRPr/>
              </a:pPr>
              <a:t>144</a:t>
            </a:fld>
            <a:endParaRPr lang="en-US"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p:cNvSpPr>
            <a:spLocks noGrp="1"/>
          </p:cNvSpPr>
          <p:nvPr>
            <p:ph type="title"/>
          </p:nvPr>
        </p:nvSpPr>
        <p:spPr/>
        <p:txBody>
          <a:bodyPr/>
          <a:lstStyle/>
          <a:p>
            <a:pPr eaLnBrk="1" hangingPunct="1">
              <a:defRPr/>
            </a:pPr>
            <a:r>
              <a:rPr lang="en-US" sz="2800" cap="small" dirty="0" smtClean="0"/>
              <a:t>Level of DOE Review of </a:t>
            </a:r>
            <a:br>
              <a:rPr lang="en-US" sz="2800" cap="small" dirty="0" smtClean="0"/>
            </a:br>
            <a:r>
              <a:rPr lang="en-US" sz="2800" cap="small" dirty="0" smtClean="0"/>
              <a:t>Safety Design Documents</a:t>
            </a:r>
          </a:p>
        </p:txBody>
      </p:sp>
      <p:sp>
        <p:nvSpPr>
          <p:cNvPr id="160771" name="Content Placeholder 2"/>
          <p:cNvSpPr>
            <a:spLocks noGrp="1"/>
          </p:cNvSpPr>
          <p:nvPr>
            <p:ph idx="1"/>
          </p:nvPr>
        </p:nvSpPr>
        <p:spPr>
          <a:xfrm>
            <a:off x="533400" y="1981200"/>
            <a:ext cx="8234363" cy="4267200"/>
          </a:xfrm>
        </p:spPr>
        <p:txBody>
          <a:bodyPr/>
          <a:lstStyle/>
          <a:p>
            <a:pPr eaLnBrk="1" hangingPunct="1">
              <a:spcBef>
                <a:spcPts val="1200"/>
              </a:spcBef>
              <a:spcAft>
                <a:spcPts val="600"/>
              </a:spcAft>
            </a:pPr>
            <a:r>
              <a:rPr lang="en-US" sz="2400" smtClean="0">
                <a:latin typeface="Arial" charset="0"/>
                <a:cs typeface="Arial" charset="0"/>
              </a:rPr>
              <a:t>What is the level of detail of DOE review of safety design documents (CSDR/PSDR and PDSA) in meeting O 420.1B safety design requirements?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A function of the stage of design</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Sufficient to identify issues that need to be addressed in the next stage</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Sufficient to determine acceptability of safety-in-design approaches</a:t>
            </a:r>
          </a:p>
          <a:p>
            <a:pPr eaLnBrk="1" hangingPunct="1">
              <a:spcBef>
                <a:spcPts val="1200"/>
              </a:spcBef>
              <a:spcAft>
                <a:spcPts val="600"/>
              </a:spcAft>
              <a:buFont typeface="Arial" charset="0"/>
              <a:buChar char="•"/>
            </a:pPr>
            <a:endParaRPr lang="en-US" sz="2400" smtClean="0">
              <a:latin typeface="Arial" charset="0"/>
              <a:cs typeface="Arial" charset="0"/>
            </a:endParaRPr>
          </a:p>
          <a:p>
            <a:pPr eaLnBrk="1" hangingPunct="1">
              <a:spcBef>
                <a:spcPts val="1200"/>
              </a:spcBef>
              <a:spcAft>
                <a:spcPts val="600"/>
              </a:spcAft>
              <a:buFont typeface="Arial" charset="0"/>
              <a:buChar char="•"/>
            </a:pPr>
            <a:endParaRPr lang="en-US" sz="2400" smtClean="0">
              <a:latin typeface="Arial" charset="0"/>
              <a:cs typeface="Arial" charset="0"/>
            </a:endParaRPr>
          </a:p>
          <a:p>
            <a:pPr eaLnBrk="1" hangingPunct="1">
              <a:spcBef>
                <a:spcPts val="1200"/>
              </a:spcBef>
              <a:spcAft>
                <a:spcPts val="600"/>
              </a:spcAft>
              <a:buFont typeface="Arial" charset="0"/>
              <a:buChar char="•"/>
            </a:pP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4939847B-2893-4758-B259-472A9A299ACD}" type="slidenum">
              <a:rPr lang="en-US" smtClean="0"/>
              <a:pPr>
                <a:defRPr/>
              </a:pPr>
              <a:t>145</a:t>
            </a:fld>
            <a:endParaRPr lang="en-US"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p:nvPr>
        </p:nvSpPr>
        <p:spPr/>
        <p:txBody>
          <a:bodyPr/>
          <a:lstStyle/>
          <a:p>
            <a:pPr eaLnBrk="1" hangingPunct="1"/>
            <a:r>
              <a:rPr lang="en-US" sz="2400" smtClean="0">
                <a:latin typeface="Arial" charset="0"/>
                <a:cs typeface="Arial" charset="0"/>
              </a:rPr>
              <a:t>How to Modify Early Conservative Safety Design Assumptions/Approaches</a:t>
            </a:r>
          </a:p>
        </p:txBody>
      </p:sp>
      <p:sp>
        <p:nvSpPr>
          <p:cNvPr id="161795" name="Content Placeholder 2"/>
          <p:cNvSpPr>
            <a:spLocks noGrp="1"/>
          </p:cNvSpPr>
          <p:nvPr>
            <p:ph idx="1"/>
          </p:nvPr>
        </p:nvSpPr>
        <p:spPr>
          <a:xfrm>
            <a:off x="533400" y="2057400"/>
            <a:ext cx="8234363" cy="4191000"/>
          </a:xfrm>
        </p:spPr>
        <p:txBody>
          <a:bodyPr/>
          <a:lstStyle/>
          <a:p>
            <a:pPr eaLnBrk="1" hangingPunct="1">
              <a:spcBef>
                <a:spcPts val="1200"/>
              </a:spcBef>
              <a:spcAft>
                <a:spcPts val="600"/>
              </a:spcAft>
            </a:pPr>
            <a:r>
              <a:rPr lang="en-US" sz="2400" smtClean="0">
                <a:latin typeface="Arial" charset="0"/>
                <a:cs typeface="Arial" charset="0"/>
              </a:rPr>
              <a:t>Potentials for this should be identified in the Safety Design Strategy (SDS, Risk &amp; OA, and the Project RMP)</a:t>
            </a:r>
          </a:p>
          <a:p>
            <a:pPr eaLnBrk="1" hangingPunct="1">
              <a:spcBef>
                <a:spcPts val="1200"/>
              </a:spcBef>
              <a:spcAft>
                <a:spcPts val="600"/>
              </a:spcAft>
            </a:pPr>
            <a:r>
              <a:rPr lang="en-US" sz="2400" smtClean="0">
                <a:latin typeface="Arial" charset="0"/>
                <a:cs typeface="Arial" charset="0"/>
              </a:rPr>
              <a:t>Modify the SDS and get approval of the update</a:t>
            </a:r>
          </a:p>
          <a:p>
            <a:pPr eaLnBrk="1" hangingPunct="1">
              <a:spcBef>
                <a:spcPts val="1200"/>
              </a:spcBef>
              <a:spcAft>
                <a:spcPts val="600"/>
              </a:spcAft>
            </a:pPr>
            <a:r>
              <a:rPr lang="en-US" sz="2400" smtClean="0">
                <a:latin typeface="Arial" charset="0"/>
                <a:cs typeface="Arial" charset="0"/>
              </a:rPr>
              <a:t>Considerations</a:t>
            </a:r>
          </a:p>
          <a:p>
            <a:pPr lvl="1" eaLnBrk="1" hangingPunct="1">
              <a:spcBef>
                <a:spcPts val="1200"/>
              </a:spcBef>
              <a:spcAft>
                <a:spcPts val="600"/>
              </a:spcAft>
              <a:buFont typeface="Arial" charset="0"/>
              <a:buChar char="–"/>
            </a:pPr>
            <a:r>
              <a:rPr lang="en-US" sz="2000" smtClean="0">
                <a:solidFill>
                  <a:schemeClr val="tx1"/>
                </a:solidFill>
                <a:latin typeface="Arial" charset="0"/>
                <a:cs typeface="Arial" charset="0"/>
              </a:rPr>
              <a:t>Refined design inputs (process design, MAR, new information…)</a:t>
            </a:r>
          </a:p>
          <a:p>
            <a:pPr lvl="1" eaLnBrk="1" hangingPunct="1">
              <a:spcBef>
                <a:spcPct val="0"/>
              </a:spcBef>
              <a:buFont typeface="Arial" charset="0"/>
              <a:buChar char="–"/>
            </a:pPr>
            <a:r>
              <a:rPr lang="en-US" sz="2000" smtClean="0">
                <a:solidFill>
                  <a:schemeClr val="tx1"/>
                </a:solidFill>
                <a:latin typeface="Arial" charset="0"/>
                <a:cs typeface="Arial" charset="0"/>
              </a:rPr>
              <a:t>Cost and schedule impacts of redesign</a:t>
            </a:r>
          </a:p>
          <a:p>
            <a:pPr marL="741363" lvl="2" eaLnBrk="1" hangingPunct="1">
              <a:spcBef>
                <a:spcPct val="0"/>
              </a:spcBef>
              <a:buFont typeface="Wingdings" pitchFamily="2" charset="2"/>
              <a:buNone/>
            </a:pPr>
            <a:r>
              <a:rPr lang="en-US" smtClean="0">
                <a:solidFill>
                  <a:schemeClr val="tx1"/>
                </a:solidFill>
                <a:latin typeface="Arial" charset="0"/>
                <a:cs typeface="Arial" charset="0"/>
              </a:rPr>
              <a:t>	</a:t>
            </a:r>
            <a:r>
              <a:rPr lang="en-US" sz="1800" smtClean="0">
                <a:solidFill>
                  <a:schemeClr val="tx1"/>
                </a:solidFill>
                <a:latin typeface="Arial" charset="0"/>
                <a:cs typeface="Arial" charset="0"/>
              </a:rPr>
              <a:t>(e.g., redesign of building structure for lower Seismic Design Category/Limit State (SDS/LC)</a:t>
            </a:r>
          </a:p>
        </p:txBody>
      </p:sp>
      <p:sp>
        <p:nvSpPr>
          <p:cNvPr id="5" name="Slide Number Placeholder 4"/>
          <p:cNvSpPr>
            <a:spLocks noGrp="1"/>
          </p:cNvSpPr>
          <p:nvPr>
            <p:ph type="sldNum" sz="quarter" idx="10"/>
          </p:nvPr>
        </p:nvSpPr>
        <p:spPr/>
        <p:txBody>
          <a:bodyPr/>
          <a:lstStyle/>
          <a:p>
            <a:pPr>
              <a:defRPr/>
            </a:pPr>
            <a:fld id="{68377DAC-8EEA-46C0-AE0A-46A4414E8703}" type="slidenum">
              <a:rPr lang="en-US" smtClean="0"/>
              <a:pPr>
                <a:defRPr/>
              </a:pPr>
              <a:t>146</a:t>
            </a:fld>
            <a:endParaRPr lang="en-US"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Title 1"/>
          <p:cNvSpPr>
            <a:spLocks noGrp="1"/>
          </p:cNvSpPr>
          <p:nvPr>
            <p:ph type="title"/>
          </p:nvPr>
        </p:nvSpPr>
        <p:spPr/>
        <p:txBody>
          <a:bodyPr/>
          <a:lstStyle/>
          <a:p>
            <a:pPr eaLnBrk="1" hangingPunct="1">
              <a:defRPr/>
            </a:pPr>
            <a:r>
              <a:rPr lang="en-US" sz="3200" cap="small" dirty="0" smtClean="0"/>
              <a:t>What is the Code of Record?</a:t>
            </a:r>
          </a:p>
        </p:txBody>
      </p:sp>
      <p:sp>
        <p:nvSpPr>
          <p:cNvPr id="162819" name="Content Placeholder 2"/>
          <p:cNvSpPr>
            <a:spLocks noGrp="1"/>
          </p:cNvSpPr>
          <p:nvPr>
            <p:ph idx="1"/>
          </p:nvPr>
        </p:nvSpPr>
        <p:spPr/>
        <p:txBody>
          <a:bodyPr/>
          <a:lstStyle/>
          <a:p>
            <a:pPr eaLnBrk="1" hangingPunct="1">
              <a:spcBef>
                <a:spcPts val="1200"/>
              </a:spcBef>
              <a:spcAft>
                <a:spcPts val="600"/>
              </a:spcAft>
            </a:pPr>
            <a:r>
              <a:rPr lang="en-US" sz="2400" smtClean="0">
                <a:latin typeface="Arial" charset="0"/>
                <a:cs typeface="Arial" charset="0"/>
              </a:rPr>
              <a:t>Set of design codes, standards, and other requirements that are the bases for design and operation</a:t>
            </a:r>
          </a:p>
          <a:p>
            <a:pPr eaLnBrk="1" hangingPunct="1">
              <a:spcBef>
                <a:spcPts val="1200"/>
              </a:spcBef>
              <a:spcAft>
                <a:spcPts val="600"/>
              </a:spcAft>
            </a:pPr>
            <a:r>
              <a:rPr lang="en-US" sz="2400" smtClean="0">
                <a:latin typeface="Arial" charset="0"/>
                <a:cs typeface="Arial" charset="0"/>
              </a:rPr>
              <a:t>Originates at CD-2 (preliminary design approval) and is important to cost basis</a:t>
            </a:r>
          </a:p>
          <a:p>
            <a:pPr eaLnBrk="1" hangingPunct="1"/>
            <a:r>
              <a:rPr lang="en-US" sz="2400" smtClean="0">
                <a:latin typeface="Arial" charset="0"/>
                <a:cs typeface="Arial" charset="0"/>
              </a:rPr>
              <a:t>Documented through design documents and PSDR/PDSA</a:t>
            </a:r>
          </a:p>
          <a:p>
            <a:pPr eaLnBrk="1" hangingPunct="1"/>
            <a:r>
              <a:rPr lang="en-US" sz="2400" smtClean="0">
                <a:latin typeface="Arial" charset="0"/>
                <a:cs typeface="Arial" charset="0"/>
              </a:rPr>
              <a:t>Can be added to or modified throughout the life of a facility</a:t>
            </a:r>
          </a:p>
          <a:p>
            <a:pPr eaLnBrk="1" hangingPunct="1">
              <a:spcBef>
                <a:spcPts val="1200"/>
              </a:spcBef>
              <a:spcAft>
                <a:spcPts val="600"/>
              </a:spcAft>
            </a:pPr>
            <a:endParaRPr lang="en-US" sz="2000" smtClean="0">
              <a:latin typeface="Arial" charset="0"/>
              <a:cs typeface="Arial" charset="0"/>
            </a:endParaRPr>
          </a:p>
          <a:p>
            <a:pPr eaLnBrk="1" hangingPunct="1">
              <a:spcBef>
                <a:spcPts val="1200"/>
              </a:spcBef>
              <a:spcAft>
                <a:spcPts val="600"/>
              </a:spcAft>
            </a:pPr>
            <a:endParaRPr lang="en-US" sz="2400" smtClean="0">
              <a:latin typeface="Arial" charset="0"/>
              <a:cs typeface="Arial" charset="0"/>
            </a:endParaRPr>
          </a:p>
        </p:txBody>
      </p:sp>
      <p:sp>
        <p:nvSpPr>
          <p:cNvPr id="35" name="Slide Number Placeholder 34"/>
          <p:cNvSpPr>
            <a:spLocks noGrp="1"/>
          </p:cNvSpPr>
          <p:nvPr>
            <p:ph type="sldNum" sz="quarter" idx="10"/>
          </p:nvPr>
        </p:nvSpPr>
        <p:spPr/>
        <p:txBody>
          <a:bodyPr/>
          <a:lstStyle/>
          <a:p>
            <a:pPr>
              <a:defRPr/>
            </a:pPr>
            <a:fld id="{0C1AC6A7-742E-421B-8831-CFF01B70E47B}" type="slidenum">
              <a:rPr lang="en-US" smtClean="0"/>
              <a:pPr>
                <a:defRPr/>
              </a:pPr>
              <a:t>147</a:t>
            </a:fld>
            <a:endParaRPr lang="en-US"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US" cap="small" dirty="0" smtClean="0"/>
              <a:t>Summary </a:t>
            </a:r>
            <a:r>
              <a:rPr lang="en-US" sz="3200" cap="small" dirty="0" smtClean="0"/>
              <a:t>(Take </a:t>
            </a:r>
            <a:r>
              <a:rPr lang="en-US" sz="3200" cap="small" dirty="0" err="1" smtClean="0"/>
              <a:t>Aways</a:t>
            </a:r>
            <a:r>
              <a:rPr lang="en-US" sz="3200" cap="small" dirty="0" smtClean="0"/>
              <a:t>)</a:t>
            </a:r>
            <a:endParaRPr lang="en-US" sz="4000" cap="small" dirty="0"/>
          </a:p>
        </p:txBody>
      </p:sp>
      <p:sp>
        <p:nvSpPr>
          <p:cNvPr id="163843" name="Content Placeholder 2"/>
          <p:cNvSpPr>
            <a:spLocks noGrp="1"/>
          </p:cNvSpPr>
          <p:nvPr>
            <p:ph idx="1"/>
          </p:nvPr>
        </p:nvSpPr>
        <p:spPr>
          <a:xfrm>
            <a:off x="533400" y="2057400"/>
            <a:ext cx="8234363" cy="4191000"/>
          </a:xfrm>
        </p:spPr>
        <p:txBody>
          <a:bodyPr/>
          <a:lstStyle/>
          <a:p>
            <a:pPr eaLnBrk="1" hangingPunct="1">
              <a:spcBef>
                <a:spcPts val="1200"/>
              </a:spcBef>
              <a:buFont typeface="Calibri" pitchFamily="34" charset="0"/>
              <a:buAutoNum type="arabicPeriod"/>
            </a:pPr>
            <a:r>
              <a:rPr lang="en-US" sz="2400" smtClean="0">
                <a:latin typeface="Arial" charset="0"/>
                <a:cs typeface="Arial" charset="0"/>
              </a:rPr>
              <a:t>The importance of the SDS as a consensus document for planning the path forward.</a:t>
            </a:r>
          </a:p>
          <a:p>
            <a:pPr eaLnBrk="1" hangingPunct="1">
              <a:spcBef>
                <a:spcPts val="1200"/>
              </a:spcBef>
              <a:buFont typeface="Calibri" pitchFamily="34" charset="0"/>
              <a:buAutoNum type="arabicPeriod"/>
            </a:pPr>
            <a:r>
              <a:rPr lang="en-US" sz="2400" smtClean="0">
                <a:latin typeface="Arial" charset="0"/>
                <a:cs typeface="Arial" charset="0"/>
              </a:rPr>
              <a:t>The importance of the SDIT and timely communications in the iterative nature of feedback and improvement between safety input and design outputs</a:t>
            </a:r>
          </a:p>
          <a:p>
            <a:pPr eaLnBrk="1" hangingPunct="1">
              <a:spcBef>
                <a:spcPts val="1200"/>
              </a:spcBef>
              <a:buFont typeface="Calibri" pitchFamily="34" charset="0"/>
              <a:buAutoNum type="arabicPeriod"/>
            </a:pPr>
            <a:r>
              <a:rPr lang="en-US" sz="2400" smtClean="0">
                <a:latin typeface="Arial" charset="0"/>
                <a:cs typeface="Arial" charset="0"/>
              </a:rPr>
              <a:t>The importance of the CDSR and PSDR and their approvals as timely communication documents to provide the safety-in-design basis for proceeding to the next design stage</a:t>
            </a:r>
            <a:br>
              <a:rPr lang="en-US" sz="2400" smtClean="0">
                <a:latin typeface="Arial" charset="0"/>
                <a:cs typeface="Arial" charset="0"/>
              </a:rPr>
            </a:br>
            <a:endParaRPr lang="en-US" sz="2400" smtClean="0">
              <a:latin typeface="Arial" charset="0"/>
              <a:cs typeface="Arial" charset="0"/>
            </a:endParaRPr>
          </a:p>
        </p:txBody>
      </p:sp>
      <p:sp>
        <p:nvSpPr>
          <p:cNvPr id="5" name="Slide Number Placeholder 4"/>
          <p:cNvSpPr>
            <a:spLocks noGrp="1"/>
          </p:cNvSpPr>
          <p:nvPr>
            <p:ph type="sldNum" sz="quarter" idx="10"/>
          </p:nvPr>
        </p:nvSpPr>
        <p:spPr/>
        <p:txBody>
          <a:bodyPr/>
          <a:lstStyle/>
          <a:p>
            <a:pPr>
              <a:defRPr/>
            </a:pPr>
            <a:fld id="{648C5574-0C75-4A50-BD16-A5CA3B56AAC8}" type="slidenum">
              <a:rPr lang="en-US" smtClean="0"/>
              <a:pPr>
                <a:defRPr/>
              </a:pPr>
              <a:t>148</a:t>
            </a:fld>
            <a:endParaRPr 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cap="small" dirty="0" smtClean="0"/>
              <a:t>Summary </a:t>
            </a:r>
            <a:r>
              <a:rPr lang="en-US" sz="3200" cap="small" dirty="0" smtClean="0"/>
              <a:t>(Take </a:t>
            </a:r>
            <a:r>
              <a:rPr lang="en-US" sz="3200" cap="small" dirty="0" err="1" smtClean="0"/>
              <a:t>Aways</a:t>
            </a:r>
            <a:r>
              <a:rPr lang="en-US" sz="3200" cap="small" dirty="0" smtClean="0"/>
              <a:t>)</a:t>
            </a:r>
            <a:r>
              <a:rPr lang="en-US" sz="2800" cap="small" dirty="0" smtClean="0"/>
              <a:t/>
            </a:r>
            <a:br>
              <a:rPr lang="en-US" sz="2800" cap="small" dirty="0" smtClean="0"/>
            </a:br>
            <a:r>
              <a:rPr lang="en-US" sz="1800" cap="small" dirty="0" smtClean="0"/>
              <a:t>(Continued)</a:t>
            </a:r>
            <a:endParaRPr lang="en-US" sz="2800" dirty="0"/>
          </a:p>
        </p:txBody>
      </p:sp>
      <p:sp>
        <p:nvSpPr>
          <p:cNvPr id="3" name="Content Placeholder 2"/>
          <p:cNvSpPr>
            <a:spLocks noGrp="1"/>
          </p:cNvSpPr>
          <p:nvPr>
            <p:ph idx="1"/>
          </p:nvPr>
        </p:nvSpPr>
        <p:spPr/>
        <p:txBody>
          <a:bodyPr/>
          <a:lstStyle/>
          <a:p>
            <a:pPr marL="403225" indent="-403225" eaLnBrk="1" fontAlgn="auto" hangingPunct="1">
              <a:spcBef>
                <a:spcPts val="1200"/>
              </a:spcBef>
              <a:spcAft>
                <a:spcPts val="0"/>
              </a:spcAft>
              <a:buFont typeface="+mj-lt"/>
              <a:buAutoNum type="arabicPeriod" startAt="4"/>
              <a:defRPr/>
            </a:pPr>
            <a:r>
              <a:rPr lang="en-US" sz="2400" dirty="0" smtClean="0"/>
              <a:t>Management support and utilization of the 1189 process; utilization of the R &amp;OA; conformance of the project to the Key Concepts and Guiding Principles of 1189</a:t>
            </a:r>
          </a:p>
          <a:p>
            <a:pPr eaLnBrk="1" fontAlgn="auto" hangingPunct="1">
              <a:spcBef>
                <a:spcPts val="1200"/>
              </a:spcBef>
              <a:spcAft>
                <a:spcPts val="0"/>
              </a:spcAft>
              <a:buFont typeface="Calibri" pitchFamily="34" charset="0"/>
              <a:buAutoNum type="arabicPeriod" startAt="4"/>
              <a:defRPr/>
            </a:pPr>
            <a:r>
              <a:rPr lang="en-US" sz="2400" dirty="0" smtClean="0"/>
              <a:t>The importance of a proactive approach in identifying and addressing safety in design issues in a timely fashion</a:t>
            </a:r>
          </a:p>
          <a:p>
            <a:pPr marL="514350" indent="-514350" eaLnBrk="1" fontAlgn="auto" hangingPunct="1">
              <a:spcAft>
                <a:spcPts val="0"/>
              </a:spcAft>
              <a:buFont typeface="+mj-lt"/>
              <a:buAutoNum type="arabicPeriod" startAt="3"/>
              <a:defRPr/>
            </a:pPr>
            <a:endParaRPr lang="en-US" sz="2400" dirty="0" smtClean="0"/>
          </a:p>
        </p:txBody>
      </p:sp>
      <p:sp>
        <p:nvSpPr>
          <p:cNvPr id="4" name="Slide Number Placeholder 3"/>
          <p:cNvSpPr>
            <a:spLocks noGrp="1"/>
          </p:cNvSpPr>
          <p:nvPr>
            <p:ph type="sldNum" sz="quarter" idx="10"/>
          </p:nvPr>
        </p:nvSpPr>
        <p:spPr/>
        <p:txBody>
          <a:bodyPr/>
          <a:lstStyle/>
          <a:p>
            <a:pPr>
              <a:defRPr/>
            </a:pPr>
            <a:fld id="{214DDF19-7DBC-4711-9724-DD3E150DD443}" type="slidenum">
              <a:rPr lang="en-US" smtClean="0"/>
              <a:pPr>
                <a:defRPr/>
              </a:pPr>
              <a:t>149</a:t>
            </a:fld>
            <a:endParaRPr lang="en-US" dirty="0"/>
          </a:p>
        </p:txBody>
      </p:sp>
    </p:spTree>
  </p:cSld>
  <p:clrMapOvr>
    <a:masterClrMapping/>
  </p:clrMapOvr>
</p:sld>
</file>

<file path=ppt/theme/theme1.xml><?xml version="1.0" encoding="utf-8"?>
<a:theme xmlns:a="http://schemas.openxmlformats.org/drawingml/2006/main" name="NTC course">
  <a:themeElements>
    <a:clrScheme name="NTC cours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fontScheme name="NTC course">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NTC cours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NTC cours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NTC cours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NTC cours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13610</TotalTime>
  <Words>11411</Words>
  <Application>Microsoft Office PowerPoint</Application>
  <PresentationFormat>On-screen Show (4:3)</PresentationFormat>
  <Paragraphs>1758</Paragraphs>
  <Slides>149</Slides>
  <Notes>149</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149</vt:i4>
      </vt:variant>
    </vt:vector>
  </HeadingPairs>
  <TitlesOfParts>
    <vt:vector size="152" baseType="lpstr">
      <vt:lpstr>NTC course</vt:lpstr>
      <vt:lpstr>Custom Design</vt:lpstr>
      <vt:lpstr>Document</vt:lpstr>
      <vt:lpstr>DOE-STD-1189-2008,  Integration of Safety  into the  Design Process</vt:lpstr>
      <vt:lpstr>Expectations</vt:lpstr>
      <vt:lpstr>Purpose</vt:lpstr>
      <vt:lpstr>Overview of Course</vt:lpstr>
      <vt:lpstr>Instructional Goal</vt:lpstr>
      <vt:lpstr>Lesson Objectives (Slide 1 of 5)</vt:lpstr>
      <vt:lpstr>Lesson Objectives  (Slide 2 of 5)</vt:lpstr>
      <vt:lpstr>Lesson Objectives  (Slide 3 of 5)</vt:lpstr>
      <vt:lpstr>Lesson Objectives  (Slide 4 of 5)</vt:lpstr>
      <vt:lpstr>Lesson Objectives  (Slide 5 of 5)</vt:lpstr>
      <vt:lpstr>STD-1189 Roadmap  (Slide 1 of 6)</vt:lpstr>
      <vt:lpstr>STD-1189 Roadmap (Slide 2 of 6)</vt:lpstr>
      <vt:lpstr>STD-1189 Roadmap (Slide 3 of 6)</vt:lpstr>
      <vt:lpstr>STD-1189 Roadmap  (Slide 4 of 6)</vt:lpstr>
      <vt:lpstr>STD-1189 Roadmap  (Slide 5 of 6)</vt:lpstr>
      <vt:lpstr>STD-1189 Roadmap  (Slide 6 of 6)</vt:lpstr>
      <vt:lpstr>Safety-in-Design Basic Precepts</vt:lpstr>
      <vt:lpstr>Development of STD-1189  (Slide 1 of 2)</vt:lpstr>
      <vt:lpstr>Development of STD-1189  (Slide 2 of 2)</vt:lpstr>
      <vt:lpstr>Correlation to  ISM Core Functions</vt:lpstr>
      <vt:lpstr>Summary of Key  Safety-in-Design Concepts (Slide 1 of 4)</vt:lpstr>
      <vt:lpstr>Summary of Key  Safety-in-Design Concepts  (Slide 2 of 4)</vt:lpstr>
      <vt:lpstr>Summary of Key  Safety-in-Design Concepts  (Slide 3 of 4)</vt:lpstr>
      <vt:lpstr>Summary of Key  Safety-in-Design Concepts  (Slide 4 of 4)</vt:lpstr>
      <vt:lpstr> Guiding Principles  (Slide 1 of 3)</vt:lpstr>
      <vt:lpstr>Guiding Principles  (Slide 2 of 3)</vt:lpstr>
      <vt:lpstr>Guiding Principles  (Slide 3 of 3)</vt:lpstr>
      <vt:lpstr>Applicability</vt:lpstr>
      <vt:lpstr>Safety and Design Integration </vt:lpstr>
      <vt:lpstr>Key Components of Project Integration and Planning  </vt:lpstr>
      <vt:lpstr>Relationships of  Major Project Entities</vt:lpstr>
      <vt:lpstr>Federal Integrated Project Team (Slide 1 of 3)</vt:lpstr>
      <vt:lpstr>Federal Integrated Project Team  (Slide 2 of 3)</vt:lpstr>
      <vt:lpstr>Federal Integrated Project Team  (Slide 3 of 3)</vt:lpstr>
      <vt:lpstr>What is the Contractor  Integrated Project Team?</vt:lpstr>
      <vt:lpstr>Typical Contractor  IPT Representation</vt:lpstr>
      <vt:lpstr>Contractor IPT Key Points  (Slide 1 of 2)</vt:lpstr>
      <vt:lpstr>Contractor IPT Key Points  (Slide 2 of 2)</vt:lpstr>
      <vt:lpstr>What is the Safety Design  Integration Team (SDIT)?</vt:lpstr>
      <vt:lpstr>SDIT Objectives</vt:lpstr>
      <vt:lpstr>SDIT Functions  (Slide 1 of 2) </vt:lpstr>
      <vt:lpstr>SDIT Functions  (Slide 2 of 2)</vt:lpstr>
      <vt:lpstr>SDIT Best Practices</vt:lpstr>
      <vt:lpstr>Safety Design Strategy (SDS)  (Slide 1 of 3)</vt:lpstr>
      <vt:lpstr>Safety Design Strategy (SDS)  (Slide 2 of 3)</vt:lpstr>
      <vt:lpstr>Safety Design Strategy  (Slide 3 of 3)</vt:lpstr>
      <vt:lpstr>SDS Updates</vt:lpstr>
      <vt:lpstr>SDS Format (see Appendix E)</vt:lpstr>
      <vt:lpstr>Risk Assessment</vt:lpstr>
      <vt:lpstr>Risk and Opportunities Assessment  (R &amp; OA)  (Slide 1 of 2)</vt:lpstr>
      <vt:lpstr>Risk and Opportunities Assessment (R &amp; OA)  (Slide 2 of 2)</vt:lpstr>
      <vt:lpstr>Example Risk Areas  (Slide 1 of 2) </vt:lpstr>
      <vt:lpstr>Example Risk Areas  (Slide 2 of 2) </vt:lpstr>
      <vt:lpstr>Roles and Responsibilities  (Slide 1 of 2) </vt:lpstr>
      <vt:lpstr>Roles and Responsibilities  (Slide 2 of 2) </vt:lpstr>
      <vt:lpstr>What Parts of the Standard are Mandatory?  (Slide 1 of 2) </vt:lpstr>
      <vt:lpstr>What Parts of the Standard are Mandatory?  (Slide 2 of 2) </vt:lpstr>
      <vt:lpstr>Safety and Design Integration  DOE-STD-1189-2008</vt:lpstr>
      <vt:lpstr>Project Lifecycle</vt:lpstr>
      <vt:lpstr>Pre-Conceptual Phase</vt:lpstr>
      <vt:lpstr>Safety-Related Activities  in Pre-conceptual Phase  (Slide 1 of 2) </vt:lpstr>
      <vt:lpstr>Develop DOE Expectations for Execution of Safety Activities  (Slide 1 of 2) </vt:lpstr>
      <vt:lpstr>Develop DOE Expectations for Execution of Safety Activities   (Slide 2 of 2) </vt:lpstr>
      <vt:lpstr>Pre-Conceptual Phase</vt:lpstr>
      <vt:lpstr> Identify Important Project Interfaces</vt:lpstr>
      <vt:lpstr>Conceptual Design Phase</vt:lpstr>
      <vt:lpstr>Conceptual Design Phase</vt:lpstr>
      <vt:lpstr>Key Safety-Related Activities (Slide 1 of 3)</vt:lpstr>
      <vt:lpstr>Key Safety-Related Activities  (Slide 2 of 3)</vt:lpstr>
      <vt:lpstr>Key Safety-Related Activities   (Slide 3 of 3)</vt:lpstr>
      <vt:lpstr> Conceptual Safety Design Report (CSDR)  (Slide 1 of 2) </vt:lpstr>
      <vt:lpstr> Conceptual Safety Design Report   (Slide 2 of 2) </vt:lpstr>
      <vt:lpstr>Conceptual Safety  Validation Report (CSVR)</vt:lpstr>
      <vt:lpstr>Preliminary Design Phase</vt:lpstr>
      <vt:lpstr>Preliminary Design Phase</vt:lpstr>
      <vt:lpstr>Safety Activities in  Preliminary Design  (Slide 1 of 2) </vt:lpstr>
      <vt:lpstr>Safety Activities in  Preliminary Design  (Slide 2 of 2) </vt:lpstr>
      <vt:lpstr>Preliminary Safety Design Report (PSDR)</vt:lpstr>
      <vt:lpstr>Safety Activities in  Final Design</vt:lpstr>
      <vt:lpstr>Final Design Phase</vt:lpstr>
      <vt:lpstr>Final Design Phase</vt:lpstr>
      <vt:lpstr>Preliminary Documented Safety Analysis (PDSA)</vt:lpstr>
      <vt:lpstr>Construction ,Transition, and Closeout Phase Design Related Issues</vt:lpstr>
      <vt:lpstr>Criteria for Determining  PDSA Revision (Slide 1 of 2)</vt:lpstr>
      <vt:lpstr>Criteria for Determining  PDSA Revision  (Slide 2 of 2)</vt:lpstr>
      <vt:lpstr>Safety and Design Interactions  </vt:lpstr>
      <vt:lpstr>Hazard and Accident Analysis: Initial Information Needed  (Slide 1 of 2) </vt:lpstr>
      <vt:lpstr>Hazard and Accident Analysis: Initial Information Needed  (Slide 2 of 2) </vt:lpstr>
      <vt:lpstr>Hazard and Accident Analysis  (Slide 1 of 2) </vt:lpstr>
      <vt:lpstr>Hazard and Accident Analysis  (Slide 2 of 2) </vt:lpstr>
      <vt:lpstr>Hazard and Accident Analysis:  Accident Types to Consider</vt:lpstr>
      <vt:lpstr>Hazard and Accident Analysis: Outputs to Engineering Design </vt:lpstr>
      <vt:lpstr>Hazard Analysis and  Design Basis Accidents (DBAs)  at Conceptual Design</vt:lpstr>
      <vt:lpstr>Hazard Analysis (HA)  at the Process Level</vt:lpstr>
      <vt:lpstr>Design Basis Accidents in Preliminary Design</vt:lpstr>
      <vt:lpstr>Safety Interface with Design  (Slide 1 of 2)</vt:lpstr>
      <vt:lpstr>Safety Interface with Design (Slide 2 of 2)</vt:lpstr>
      <vt:lpstr>When to Communicate Between Design and Safety</vt:lpstr>
      <vt:lpstr>Quality Assurance Program Activities for Design Process</vt:lpstr>
      <vt:lpstr>Safety and Design Integration  DOE-STD-1189-2008</vt:lpstr>
      <vt:lpstr>Purpose of Appendix A </vt:lpstr>
      <vt:lpstr>Seismic Design Basis</vt:lpstr>
      <vt:lpstr>Seismic Design Standards</vt:lpstr>
      <vt:lpstr>Seismic Design Criteria</vt:lpstr>
      <vt:lpstr>Limit States  (examples From ANS 2.26)</vt:lpstr>
      <vt:lpstr>Comparison of SDB to Performance Category</vt:lpstr>
      <vt:lpstr>Supplemental Guidance  for ANS 2.26 When Selecting SDCs and Limit States (SDB)</vt:lpstr>
      <vt:lpstr>Safety Classification Methodology: Public Protection</vt:lpstr>
      <vt:lpstr>Safety Classification Methodology: Collocated Worker Protection</vt:lpstr>
      <vt:lpstr>Backfit for  Major Modifications</vt:lpstr>
      <vt:lpstr>Additional Notes</vt:lpstr>
      <vt:lpstr> SAFETY AND DESIGN INTEGRATION  DOE-STD-1189-2008</vt:lpstr>
      <vt:lpstr>Purpose of Appendix B</vt:lpstr>
      <vt:lpstr>Content of Appendix B</vt:lpstr>
      <vt:lpstr>Appendix B Methodology</vt:lpstr>
      <vt:lpstr>Advisory Criteria for  Safety Significant Classification</vt:lpstr>
      <vt:lpstr>Additional Notes</vt:lpstr>
      <vt:lpstr>EM Chemical Hazard  NPH Guidance</vt:lpstr>
      <vt:lpstr>NNSA CHEMICAL HAZARD  NPH GUIDANCE  (Slide 1 of 2) </vt:lpstr>
      <vt:lpstr>NNSA CHEMICAL HAZARD  NPH GUIDANCE  (Slide 2 of 2) </vt:lpstr>
      <vt:lpstr>Safety and Design Integration  DOE-STD-1189-2008</vt:lpstr>
      <vt:lpstr>Hazard Analysis</vt:lpstr>
      <vt:lpstr>Significant Exposure</vt:lpstr>
      <vt:lpstr>Qualitative Results</vt:lpstr>
      <vt:lpstr>Safety and Design Integration  DOE-STD-1189-2008</vt:lpstr>
      <vt:lpstr>Facility Modifications</vt:lpstr>
      <vt:lpstr> Facility Modification Process </vt:lpstr>
      <vt:lpstr>MAJOR MODIFICATION  DEFINITION AND IMPLICATIONS </vt:lpstr>
      <vt:lpstr>Evaluating Modifications (Slide 1 of 2) </vt:lpstr>
      <vt:lpstr>Evaluating Modifications  (Slide 2 of 2) </vt:lpstr>
      <vt:lpstr>Determining a  Major Modification</vt:lpstr>
      <vt:lpstr>Major Modification Criteria (Slide 1of 2)</vt:lpstr>
      <vt:lpstr>Major Modification Criteria (Slide 1of 2)</vt:lpstr>
      <vt:lpstr>Safety Design Strategy for Major Modification</vt:lpstr>
      <vt:lpstr>Summary of Major Modification  Determination Process</vt:lpstr>
      <vt:lpstr>Safety and Design Integration  DOE-STD-1189-2008</vt:lpstr>
      <vt:lpstr>Sources of Lessons Learned</vt:lpstr>
      <vt:lpstr>Lessons Learned  (Slide 1 of 5) </vt:lpstr>
      <vt:lpstr>Lessons Learned  (Slide 2 of 5) </vt:lpstr>
      <vt:lpstr>Lessons Learned  (Slide 3 of 5) </vt:lpstr>
      <vt:lpstr>Lessons Learned  (Slide 4 of 5) </vt:lpstr>
      <vt:lpstr>Lessons Learned  (Slide 5 of 5) </vt:lpstr>
      <vt:lpstr>FAQs</vt:lpstr>
      <vt:lpstr>Commitment To  DOE O 420.1B Guides</vt:lpstr>
      <vt:lpstr>Level of DOE Review of  Safety Design Documents</vt:lpstr>
      <vt:lpstr>How to Modify Early Conservative Safety Design Assumptions/Approaches</vt:lpstr>
      <vt:lpstr>What is the Code of Record?</vt:lpstr>
      <vt:lpstr>Summary (Take Aways)</vt:lpstr>
      <vt:lpstr>Summary (Take Aways) (Continued)</vt:lpstr>
    </vt:vector>
  </TitlesOfParts>
  <Company>NTC</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uc95t23</dc:creator>
  <cp:lastModifiedBy>217330</cp:lastModifiedBy>
  <cp:revision>523</cp:revision>
  <dcterms:created xsi:type="dcterms:W3CDTF">2008-11-12T19:09:49Z</dcterms:created>
  <dcterms:modified xsi:type="dcterms:W3CDTF">2010-08-02T16:59:48Z</dcterms:modified>
</cp:coreProperties>
</file>