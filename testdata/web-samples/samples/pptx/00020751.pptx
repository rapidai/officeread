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28"/>
  </p:notesMasterIdLst>
  <p:sldIdLst>
    <p:sldId id="273" r:id="rId2"/>
    <p:sldId id="274" r:id="rId3"/>
    <p:sldId id="324" r:id="rId4"/>
    <p:sldId id="276" r:id="rId5"/>
    <p:sldId id="325" r:id="rId6"/>
    <p:sldId id="278" r:id="rId7"/>
    <p:sldId id="326" r:id="rId8"/>
    <p:sldId id="287" r:id="rId9"/>
    <p:sldId id="289" r:id="rId10"/>
    <p:sldId id="297" r:id="rId11"/>
    <p:sldId id="298" r:id="rId12"/>
    <p:sldId id="299" r:id="rId13"/>
    <p:sldId id="300" r:id="rId14"/>
    <p:sldId id="302" r:id="rId15"/>
    <p:sldId id="315" r:id="rId16"/>
    <p:sldId id="316" r:id="rId17"/>
    <p:sldId id="318" r:id="rId18"/>
    <p:sldId id="317" r:id="rId19"/>
    <p:sldId id="319" r:id="rId20"/>
    <p:sldId id="320" r:id="rId21"/>
    <p:sldId id="321" r:id="rId22"/>
    <p:sldId id="311" r:id="rId23"/>
    <p:sldId id="312" r:id="rId24"/>
    <p:sldId id="327" r:id="rId25"/>
    <p:sldId id="279" r:id="rId26"/>
    <p:sldId id="31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5C5C"/>
    <a:srgbClr val="C01B1C"/>
    <a:srgbClr val="C40836"/>
    <a:srgbClr val="590F4A"/>
    <a:srgbClr val="166813"/>
    <a:srgbClr val="004FBB"/>
    <a:srgbClr val="383838"/>
    <a:srgbClr val="00A2D7"/>
    <a:srgbClr val="FFCF00"/>
    <a:srgbClr val="F27D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269" autoAdjust="0"/>
  </p:normalViewPr>
  <p:slideViewPr>
    <p:cSldViewPr>
      <p:cViewPr varScale="1">
        <p:scale>
          <a:sx n="103" d="100"/>
          <a:sy n="103" d="100"/>
        </p:scale>
        <p:origin x="-1248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0EEA6-3FE3-4FAA-B648-A79F7B237411}" type="datetimeFigureOut">
              <a:rPr lang="en-AU" smtClean="0"/>
              <a:t>3/12/12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60B50-68CE-4856-A7F5-953E39274F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9407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PNIC 34_PPT template_cover_ FINA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847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1844825"/>
            <a:ext cx="8424936" cy="2160239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077072"/>
            <a:ext cx="8424936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37449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PNIC 34_PPT template_cover_ FINA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847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1844824"/>
            <a:ext cx="8424936" cy="2016223"/>
          </a:xfrm>
        </p:spPr>
        <p:txBody>
          <a:bodyPr anchor="t" anchorCtr="0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3933056"/>
            <a:ext cx="8424936" cy="1152128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sp>
        <p:nvSpPr>
          <p:cNvPr id="9" name="Rectangle 8"/>
          <p:cNvSpPr/>
          <p:nvPr userDrawn="1"/>
        </p:nvSpPr>
        <p:spPr>
          <a:xfrm>
            <a:off x="325918" y="5085184"/>
            <a:ext cx="8460000" cy="1080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0322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352928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00200"/>
            <a:ext cx="8352928" cy="4565103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</p:spTree>
    <p:extLst>
      <p:ext uri="{BB962C8B-B14F-4D97-AF65-F5344CB8AC3E}">
        <p14:creationId xmlns:p14="http://schemas.microsoft.com/office/powerpoint/2010/main" val="23746506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PNIC 34_PPT template_cover_ FINA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847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421904"/>
            <a:ext cx="8352928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636912"/>
            <a:ext cx="8352928" cy="35283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</p:spTree>
    <p:extLst>
      <p:ext uri="{BB962C8B-B14F-4D97-AF65-F5344CB8AC3E}">
        <p14:creationId xmlns:p14="http://schemas.microsoft.com/office/powerpoint/2010/main" val="14134799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PNIC 34_PPT template_cover_ FINA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8472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996952"/>
            <a:ext cx="9144000" cy="3528392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570782"/>
            <a:ext cx="8352928" cy="778098"/>
          </a:xfrm>
        </p:spPr>
        <p:txBody>
          <a:bodyPr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140968"/>
            <a:ext cx="8352928" cy="325306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95536" y="2420888"/>
            <a:ext cx="8352928" cy="50460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</p:spTree>
    <p:extLst>
      <p:ext uri="{BB962C8B-B14F-4D97-AF65-F5344CB8AC3E}">
        <p14:creationId xmlns:p14="http://schemas.microsoft.com/office/powerpoint/2010/main" val="36697040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PNIC 34_PPT template_cover_ FINA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84726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0" y="0"/>
            <a:ext cx="5580112" cy="6885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4896544" cy="1143000"/>
          </a:xfrm>
        </p:spPr>
        <p:txBody>
          <a:bodyPr/>
          <a:lstStyle>
            <a:lvl1pPr>
              <a:defRPr i="0">
                <a:solidFill>
                  <a:schemeClr val="tx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00200"/>
            <a:ext cx="4896544" cy="45651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6012161" y="260350"/>
            <a:ext cx="2808312" cy="590495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2808312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82" b="1"/>
          <a:stretch/>
        </p:blipFill>
        <p:spPr>
          <a:xfrm>
            <a:off x="0" y="6379370"/>
            <a:ext cx="2032000" cy="47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84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PNIC 34_PPT template_cover_ FINA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84726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1916832"/>
            <a:ext cx="9144000" cy="3240360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95536" y="2420888"/>
            <a:ext cx="8352928" cy="1362075"/>
          </a:xfrm>
        </p:spPr>
        <p:txBody>
          <a:bodyPr anchor="ctr" anchorCtr="0">
            <a:noAutofit/>
          </a:bodyPr>
          <a:lstStyle>
            <a:lvl1pPr algn="l">
              <a:defRPr sz="4800" b="1" cap="none" baseline="0">
                <a:solidFill>
                  <a:schemeClr val="tx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95536" y="3965525"/>
            <a:ext cx="8373710" cy="649288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</p:spTree>
    <p:extLst>
      <p:ext uri="{BB962C8B-B14F-4D97-AF65-F5344CB8AC3E}">
        <p14:creationId xmlns:p14="http://schemas.microsoft.com/office/powerpoint/2010/main" val="31827927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PNIC 34_PPT template_cover_ FINAL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84726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0"/>
            <a:ext cx="5580112" cy="6885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060848"/>
            <a:ext cx="4896544" cy="2049191"/>
          </a:xfrm>
        </p:spPr>
        <p:txBody>
          <a:bodyPr anchor="ctr" anchorCtr="0">
            <a:noAutofit/>
          </a:bodyPr>
          <a:lstStyle>
            <a:lvl1pPr algn="l">
              <a:defRPr sz="4800" b="1" cap="none" baseline="0">
                <a:solidFill>
                  <a:schemeClr val="tx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2808312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82" b="1"/>
          <a:stretch/>
        </p:blipFill>
        <p:spPr>
          <a:xfrm>
            <a:off x="0" y="6379370"/>
            <a:ext cx="2032000" cy="47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665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352928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600200"/>
            <a:ext cx="4104456" cy="456510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00200"/>
            <a:ext cx="4176464" cy="456510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</p:spTree>
    <p:extLst>
      <p:ext uri="{BB962C8B-B14F-4D97-AF65-F5344CB8AC3E}">
        <p14:creationId xmlns:p14="http://schemas.microsoft.com/office/powerpoint/2010/main" val="18088532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35292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1535113"/>
            <a:ext cx="4104456" cy="639762"/>
          </a:xfrm>
        </p:spPr>
        <p:txBody>
          <a:bodyPr anchor="t" anchorCtr="0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2174875"/>
            <a:ext cx="4104456" cy="39904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1" y="1535113"/>
            <a:ext cx="4176463" cy="6397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1" y="2174875"/>
            <a:ext cx="4176463" cy="39904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</p:spTree>
    <p:extLst>
      <p:ext uri="{BB962C8B-B14F-4D97-AF65-F5344CB8AC3E}">
        <p14:creationId xmlns:p14="http://schemas.microsoft.com/office/powerpoint/2010/main" val="35773392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352928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</p:spTree>
    <p:extLst>
      <p:ext uri="{BB962C8B-B14F-4D97-AF65-F5344CB8AC3E}">
        <p14:creationId xmlns:p14="http://schemas.microsoft.com/office/powerpoint/2010/main" val="994038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</p:spTree>
    <p:extLst>
      <p:ext uri="{BB962C8B-B14F-4D97-AF65-F5344CB8AC3E}">
        <p14:creationId xmlns:p14="http://schemas.microsoft.com/office/powerpoint/2010/main" val="20728924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352928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1600200"/>
            <a:ext cx="8352928" cy="45651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699792" y="6548966"/>
            <a:ext cx="3960440" cy="227624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AU" kern="0" dirty="0"/>
          </a:p>
        </p:txBody>
      </p:sp>
      <p:sp>
        <p:nvSpPr>
          <p:cNvPr id="1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48464" y="6548965"/>
            <a:ext cx="288032" cy="216024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38B2A337-2C29-4402-A0A2-E290C184D5D3}" type="slidenum">
              <a:rPr lang="en-AU" kern="0" smtClean="0"/>
              <a:pPr/>
              <a:t>‹#›</a:t>
            </a:fld>
            <a:endParaRPr lang="en-AU" kern="0" dirty="0"/>
          </a:p>
        </p:txBody>
      </p:sp>
      <p:pic>
        <p:nvPicPr>
          <p:cNvPr id="4" name="Picture 3" descr="APNIC 34_Powerpoint template.pn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9669"/>
            <a:ext cx="9144000" cy="54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8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701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spcBef>
          <a:spcPts val="12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66700" algn="l" defTabSz="914400" rtl="0" eaLnBrk="1" latinLnBrk="0" hangingPunct="1">
        <a:spcBef>
          <a:spcPts val="4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9400" algn="l" defTabSz="914400" rtl="0" eaLnBrk="1" latinLnBrk="0" hangingPunct="1">
        <a:spcBef>
          <a:spcPts val="4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APNIC RPKI Report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George Michaelson</a:t>
            </a:r>
          </a:p>
          <a:p>
            <a:r>
              <a:rPr lang="en-US" dirty="0" err="1" smtClean="0"/>
              <a:t>ggm@apnic.net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3856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In service since Jan 2009</a:t>
            </a:r>
          </a:p>
          <a:p>
            <a:r>
              <a:rPr lang="en-US" sz="3600" dirty="0" smtClean="0"/>
              <a:t>Two level service </a:t>
            </a:r>
            <a:r>
              <a:rPr lang="en-US" sz="3200" dirty="0"/>
              <a:t>a</a:t>
            </a:r>
            <a:r>
              <a:rPr lang="en-US" sz="3200" dirty="0" smtClean="0"/>
              <a:t>ccessed via </a:t>
            </a:r>
            <a:r>
              <a:rPr lang="en-US" sz="3200" dirty="0" err="1" smtClean="0"/>
              <a:t>myAPNIC</a:t>
            </a:r>
            <a:endParaRPr lang="en-US" sz="3200" dirty="0" smtClean="0"/>
          </a:p>
          <a:p>
            <a:pPr lvl="1"/>
            <a:r>
              <a:rPr lang="en-US" sz="2800" dirty="0" smtClean="0"/>
              <a:t>APNIC certifies members holdings</a:t>
            </a:r>
          </a:p>
          <a:p>
            <a:pPr lvl="1"/>
            <a:r>
              <a:rPr lang="en-US" sz="2800" dirty="0" smtClean="0"/>
              <a:t>Members can certify their allocations through hosted service interface</a:t>
            </a:r>
          </a:p>
        </p:txBody>
      </p:sp>
    </p:spTree>
    <p:extLst>
      <p:ext uri="{BB962C8B-B14F-4D97-AF65-F5344CB8AC3E}">
        <p14:creationId xmlns:p14="http://schemas.microsoft.com/office/powerpoint/2010/main" val="793404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APNIC RPKI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00200"/>
            <a:ext cx="8856984" cy="4565103"/>
          </a:xfrm>
        </p:spPr>
        <p:txBody>
          <a:bodyPr>
            <a:normAutofit/>
          </a:bodyPr>
          <a:lstStyle/>
          <a:p>
            <a:r>
              <a:rPr lang="en-US" sz="3200" dirty="0" smtClean="0"/>
              <a:t>Generate CA Certificates covering allocated resources</a:t>
            </a:r>
          </a:p>
          <a:p>
            <a:r>
              <a:rPr lang="en-US" sz="3200" dirty="0" smtClean="0"/>
              <a:t>Manage resource pools and datasets</a:t>
            </a:r>
          </a:p>
          <a:p>
            <a:r>
              <a:rPr lang="en-US" sz="3200" dirty="0" smtClean="0"/>
              <a:t>Generate Routing Authority Attestations (ROA)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05800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Trust Anchor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ROA management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General Signer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Public Up-Down Protocol interface</a:t>
            </a:r>
          </a:p>
        </p:txBody>
      </p:sp>
    </p:spTree>
    <p:extLst>
      <p:ext uri="{BB962C8B-B14F-4D97-AF65-F5344CB8AC3E}">
        <p14:creationId xmlns:p14="http://schemas.microsoft.com/office/powerpoint/2010/main" val="1167204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Trust Anchor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Split single APNIC TA to multi-component TA</a:t>
            </a:r>
          </a:p>
          <a:p>
            <a:pPr lvl="1"/>
            <a:r>
              <a:rPr lang="en-US" sz="2400" dirty="0" smtClean="0"/>
              <a:t>Reflect IANA and ERX resource origin</a:t>
            </a:r>
          </a:p>
          <a:p>
            <a:pPr lvl="1"/>
            <a:r>
              <a:rPr lang="en-US" sz="2400" dirty="0" smtClean="0"/>
              <a:t>Compatible with ongoing work on Global TA</a:t>
            </a:r>
          </a:p>
          <a:p>
            <a:r>
              <a:rPr lang="en-US" sz="2800" dirty="0"/>
              <a:t>D</a:t>
            </a:r>
            <a:r>
              <a:rPr lang="en-US" sz="2800" dirty="0" smtClean="0"/>
              <a:t>isruption </a:t>
            </a:r>
            <a:r>
              <a:rPr lang="en-US" sz="2800" dirty="0"/>
              <a:t>to existing deployed </a:t>
            </a:r>
            <a:r>
              <a:rPr lang="en-US" sz="2800" dirty="0" smtClean="0"/>
              <a:t>service will be minimal due to sparse ERX holdings in APNIC region</a:t>
            </a:r>
          </a:p>
          <a:p>
            <a:r>
              <a:rPr lang="en-US" sz="2800" dirty="0" smtClean="0"/>
              <a:t>TA transition in place by Q4</a:t>
            </a:r>
          </a:p>
        </p:txBody>
      </p:sp>
    </p:spTree>
    <p:extLst>
      <p:ext uri="{BB962C8B-B14F-4D97-AF65-F5344CB8AC3E}">
        <p14:creationId xmlns:p14="http://schemas.microsoft.com/office/powerpoint/2010/main" val="4027567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ROA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4000" dirty="0" smtClean="0"/>
              <a:t>User defined </a:t>
            </a:r>
            <a:r>
              <a:rPr lang="en-US" sz="4000" dirty="0" err="1" smtClean="0"/>
              <a:t>MaxLength</a:t>
            </a:r>
            <a:r>
              <a:rPr lang="en-US" sz="4000" dirty="0" smtClean="0"/>
              <a:t> parameter for ROA</a:t>
            </a:r>
          </a:p>
          <a:p>
            <a:pPr lvl="1">
              <a:lnSpc>
                <a:spcPct val="120000"/>
              </a:lnSpc>
            </a:pPr>
            <a:r>
              <a:rPr lang="en-US" sz="3600" dirty="0" smtClean="0"/>
              <a:t>Previously fixed-length in UI</a:t>
            </a:r>
          </a:p>
          <a:p>
            <a:pPr lvl="1">
              <a:lnSpc>
                <a:spcPct val="120000"/>
              </a:lnSpc>
            </a:pPr>
            <a:r>
              <a:rPr lang="en-US" sz="3200" dirty="0" smtClean="0"/>
              <a:t>No back-end changes</a:t>
            </a:r>
          </a:p>
        </p:txBody>
      </p:sp>
    </p:spTree>
    <p:extLst>
      <p:ext uri="{BB962C8B-B14F-4D97-AF65-F5344CB8AC3E}">
        <p14:creationId xmlns:p14="http://schemas.microsoft.com/office/powerpoint/2010/main" val="7903546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General Signer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“Resource Tagged Attestations” </a:t>
            </a:r>
          </a:p>
          <a:p>
            <a:pPr lvl="1"/>
            <a:r>
              <a:rPr lang="en-US" sz="2800" dirty="0" smtClean="0"/>
              <a:t>Ability to sign files with RPKI digital signatures</a:t>
            </a:r>
          </a:p>
          <a:p>
            <a:pPr lvl="1"/>
            <a:r>
              <a:rPr lang="en-US" sz="2800" dirty="0" smtClean="0"/>
              <a:t>Useful for Resource Transfers, Customer Provisioning, general attestations about addresses</a:t>
            </a:r>
          </a:p>
          <a:p>
            <a:pPr lvl="1"/>
            <a:r>
              <a:rPr lang="en-US" sz="2800" dirty="0" smtClean="0"/>
              <a:t>CMS based objects</a:t>
            </a:r>
          </a:p>
          <a:p>
            <a:pPr lvl="1"/>
            <a:r>
              <a:rPr lang="en-US" sz="2800" dirty="0" smtClean="0"/>
              <a:t>multiple key signing supported</a:t>
            </a:r>
          </a:p>
          <a:p>
            <a:pPr lvl="1"/>
            <a:r>
              <a:rPr lang="en-US" sz="2800" dirty="0" smtClean="0"/>
              <a:t>Validity dates</a:t>
            </a:r>
          </a:p>
        </p:txBody>
      </p:sp>
    </p:spTree>
    <p:extLst>
      <p:ext uri="{BB962C8B-B14F-4D97-AF65-F5344CB8AC3E}">
        <p14:creationId xmlns:p14="http://schemas.microsoft.com/office/powerpoint/2010/main" val="5499295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Signer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RFC3779 encodes Internet Number Resources as critical extensions into public-key certificates</a:t>
            </a:r>
          </a:p>
          <a:p>
            <a:pPr lvl="1"/>
            <a:r>
              <a:rPr lang="en-US" sz="2800" dirty="0" smtClean="0"/>
              <a:t>This is a (cryptographically) strong mechanism</a:t>
            </a:r>
          </a:p>
          <a:p>
            <a:r>
              <a:rPr lang="en-US" sz="2800" dirty="0" smtClean="0"/>
              <a:t>We now have a mechanism to make strong, testable attestations about Internet Number Resources.</a:t>
            </a:r>
          </a:p>
        </p:txBody>
      </p:sp>
    </p:spTree>
    <p:extLst>
      <p:ext uri="{BB962C8B-B14F-4D97-AF65-F5344CB8AC3E}">
        <p14:creationId xmlns:p14="http://schemas.microsoft.com/office/powerpoint/2010/main" val="19049362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i="1" dirty="0" smtClean="0"/>
              <a:t>“please can you add a static route for 192.0.200.0/24 to my service,</a:t>
            </a:r>
          </a:p>
          <a:p>
            <a:pPr marL="0" indent="0">
              <a:buNone/>
            </a:pPr>
            <a:r>
              <a:rPr lang="en-US" sz="2800" i="1" dirty="0"/>
              <a:t>	</a:t>
            </a:r>
            <a:r>
              <a:rPr lang="en-US" sz="2800" i="1" dirty="0" smtClean="0"/>
              <a:t>signed, owner of 192.0.200.0/24”</a:t>
            </a:r>
          </a:p>
          <a:p>
            <a:pPr marL="0" indent="0">
              <a:buNone/>
            </a:pPr>
            <a:endParaRPr lang="en-US" i="1" dirty="0" smtClean="0"/>
          </a:p>
          <a:p>
            <a:pPr lvl="1"/>
            <a:r>
              <a:rPr lang="en-US" sz="2800" dirty="0" smtClean="0"/>
              <a:t>ISP can now verify request comes from delegate for the prefix</a:t>
            </a:r>
          </a:p>
          <a:p>
            <a:pPr marL="266700" lvl="1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i="1" dirty="0" smtClean="0"/>
              <a:t>“Dear broker, as the current holder of 192.0.200.0/24 please list this block as available for transfer,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600" dirty="0" smtClean="0"/>
              <a:t>signed, </a:t>
            </a:r>
            <a:r>
              <a:rPr lang="en-US" sz="2600" i="1" dirty="0" smtClean="0"/>
              <a:t>the soon-to-be ex-owner of 192.0.200.0/24</a:t>
            </a:r>
            <a:r>
              <a:rPr lang="en-US" sz="2600" dirty="0" smtClean="0"/>
              <a:t>”</a:t>
            </a:r>
          </a:p>
          <a:p>
            <a:pPr marL="0" indent="0">
              <a:buNone/>
            </a:pPr>
            <a:endParaRPr lang="en-US" sz="2600" dirty="0" smtClean="0"/>
          </a:p>
          <a:p>
            <a:pPr lvl="1"/>
            <a:r>
              <a:rPr lang="en-US" sz="2800" dirty="0" smtClean="0"/>
              <a:t>Broker can now validate this listing request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212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s_00_resourcemenu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67" r="-5118" b="9375"/>
          <a:stretch/>
        </p:blipFill>
        <p:spPr>
          <a:xfrm>
            <a:off x="401016" y="300808"/>
            <a:ext cx="8285784" cy="5815617"/>
          </a:xfrm>
        </p:spPr>
      </p:pic>
    </p:spTree>
    <p:extLst>
      <p:ext uri="{BB962C8B-B14F-4D97-AF65-F5344CB8AC3E}">
        <p14:creationId xmlns:p14="http://schemas.microsoft.com/office/powerpoint/2010/main" val="6688438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gs_01_blankpage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216" t="11083" r="-18624" b="7217"/>
          <a:stretch/>
        </p:blipFill>
        <p:spPr>
          <a:xfrm>
            <a:off x="601524" y="952559"/>
            <a:ext cx="8085275" cy="5297560"/>
          </a:xfrm>
        </p:spPr>
      </p:pic>
    </p:spTree>
    <p:extLst>
      <p:ext uri="{BB962C8B-B14F-4D97-AF65-F5344CB8AC3E}">
        <p14:creationId xmlns:p14="http://schemas.microsoft.com/office/powerpoint/2010/main" val="4130752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s_02_text_download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311" t="9106" r="-26747" b="7177"/>
          <a:stretch/>
        </p:blipFill>
        <p:spPr>
          <a:xfrm>
            <a:off x="250634" y="852288"/>
            <a:ext cx="8425821" cy="5531521"/>
          </a:xfrm>
        </p:spPr>
      </p:pic>
    </p:spTree>
    <p:extLst>
      <p:ext uri="{BB962C8B-B14F-4D97-AF65-F5344CB8AC3E}">
        <p14:creationId xmlns:p14="http://schemas.microsoft.com/office/powerpoint/2010/main" val="3010685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gs_03_download_file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404" r="-8404"/>
          <a:stretch/>
        </p:blipFill>
        <p:spPr>
          <a:xfrm>
            <a:off x="334180" y="685174"/>
            <a:ext cx="8352620" cy="5815618"/>
          </a:xfrm>
        </p:spPr>
      </p:pic>
    </p:spTree>
    <p:extLst>
      <p:ext uri="{BB962C8B-B14F-4D97-AF65-F5344CB8AC3E}">
        <p14:creationId xmlns:p14="http://schemas.microsoft.com/office/powerpoint/2010/main" val="30214761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gs_05_email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103" b="-14103"/>
          <a:stretch/>
        </p:blipFill>
        <p:spPr>
          <a:xfrm>
            <a:off x="267344" y="417790"/>
            <a:ext cx="8553128" cy="6149848"/>
          </a:xfrm>
        </p:spPr>
      </p:pic>
    </p:spTree>
    <p:extLst>
      <p:ext uri="{BB962C8B-B14F-4D97-AF65-F5344CB8AC3E}">
        <p14:creationId xmlns:p14="http://schemas.microsoft.com/office/powerpoint/2010/main" val="36443994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 descr="svt_00_start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6" r="307" b="33740"/>
          <a:stretch/>
        </p:blipFill>
        <p:spPr>
          <a:xfrm>
            <a:off x="618690" y="334683"/>
            <a:ext cx="7913750" cy="5974637"/>
          </a:xfrm>
        </p:spPr>
      </p:pic>
    </p:spTree>
    <p:extLst>
      <p:ext uri="{BB962C8B-B14F-4D97-AF65-F5344CB8AC3E}">
        <p14:creationId xmlns:p14="http://schemas.microsoft.com/office/powerpoint/2010/main" val="15559387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Content Placeholder 2" descr="svt_01_non-rta_upload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" t="-4079" r="1" b="39165"/>
          <a:stretch/>
        </p:blipFill>
        <p:spPr>
          <a:xfrm>
            <a:off x="611560" y="-27384"/>
            <a:ext cx="8011914" cy="5910592"/>
          </a:xfrm>
        </p:spPr>
      </p:pic>
    </p:spTree>
    <p:extLst>
      <p:ext uri="{BB962C8B-B14F-4D97-AF65-F5344CB8AC3E}">
        <p14:creationId xmlns:p14="http://schemas.microsoft.com/office/powerpoint/2010/main" val="25553733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vt_02_non-rta_result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6" t="-473" r="-862" b="39458"/>
          <a:stretch/>
        </p:blipFill>
        <p:spPr>
          <a:xfrm>
            <a:off x="611560" y="332656"/>
            <a:ext cx="7984116" cy="5470120"/>
          </a:xfrm>
        </p:spPr>
      </p:pic>
    </p:spTree>
    <p:extLst>
      <p:ext uri="{BB962C8B-B14F-4D97-AF65-F5344CB8AC3E}">
        <p14:creationId xmlns:p14="http://schemas.microsoft.com/office/powerpoint/2010/main" val="34412183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vt_03_bad-resources_upload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4" t="-386" r="1" b="34470"/>
          <a:stretch/>
        </p:blipFill>
        <p:spPr>
          <a:xfrm>
            <a:off x="610933" y="332656"/>
            <a:ext cx="7921507" cy="5909406"/>
          </a:xfrm>
        </p:spPr>
      </p:pic>
    </p:spTree>
    <p:extLst>
      <p:ext uri="{BB962C8B-B14F-4D97-AF65-F5344CB8AC3E}">
        <p14:creationId xmlns:p14="http://schemas.microsoft.com/office/powerpoint/2010/main" val="16909476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vt_04_bad-resources_result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 t="1" r="525" b="39164"/>
          <a:stretch/>
        </p:blipFill>
        <p:spPr>
          <a:xfrm>
            <a:off x="611560" y="404664"/>
            <a:ext cx="7807906" cy="5454041"/>
          </a:xfrm>
        </p:spPr>
      </p:pic>
    </p:spTree>
    <p:extLst>
      <p:ext uri="{BB962C8B-B14F-4D97-AF65-F5344CB8AC3E}">
        <p14:creationId xmlns:p14="http://schemas.microsoft.com/office/powerpoint/2010/main" val="40745400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vt_05_detached_upload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19" b="39355"/>
          <a:stretch/>
        </p:blipFill>
        <p:spPr>
          <a:xfrm>
            <a:off x="611560" y="404664"/>
            <a:ext cx="7884160" cy="5465571"/>
          </a:xfrm>
        </p:spPr>
      </p:pic>
    </p:spTree>
    <p:extLst>
      <p:ext uri="{BB962C8B-B14F-4D97-AF65-F5344CB8AC3E}">
        <p14:creationId xmlns:p14="http://schemas.microsoft.com/office/powerpoint/2010/main" val="10058774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svt_06_detached_result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" b="39432"/>
          <a:stretch/>
        </p:blipFill>
        <p:spPr>
          <a:xfrm>
            <a:off x="576272" y="548680"/>
            <a:ext cx="7884160" cy="5386676"/>
          </a:xfrm>
        </p:spPr>
      </p:pic>
    </p:spTree>
    <p:extLst>
      <p:ext uri="{BB962C8B-B14F-4D97-AF65-F5344CB8AC3E}">
        <p14:creationId xmlns:p14="http://schemas.microsoft.com/office/powerpoint/2010/main" val="6864780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svt_09_embedded_download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78" b="16189"/>
          <a:stretch/>
        </p:blipFill>
        <p:spPr>
          <a:xfrm>
            <a:off x="457200" y="484636"/>
            <a:ext cx="8229600" cy="5641528"/>
          </a:xfrm>
        </p:spPr>
      </p:pic>
    </p:spTree>
    <p:extLst>
      <p:ext uri="{BB962C8B-B14F-4D97-AF65-F5344CB8AC3E}">
        <p14:creationId xmlns:p14="http://schemas.microsoft.com/office/powerpoint/2010/main" val="798101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vt_10_embedded_file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" r="398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112173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Public </a:t>
            </a:r>
            <a:r>
              <a:rPr lang="en-US" dirty="0"/>
              <a:t>Up-Down Protocol </a:t>
            </a:r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Complements existing </a:t>
            </a:r>
            <a:r>
              <a:rPr lang="en-US" sz="3200" dirty="0" err="1" smtClean="0"/>
              <a:t>myAPNIC</a:t>
            </a:r>
            <a:r>
              <a:rPr lang="en-US" sz="3200" dirty="0" smtClean="0"/>
              <a:t> hosted services</a:t>
            </a:r>
          </a:p>
          <a:p>
            <a:r>
              <a:rPr lang="en-US" sz="3200" dirty="0" smtClean="0"/>
              <a:t>Allows for NIR and LIR sub-delegated RPKI services</a:t>
            </a:r>
          </a:p>
          <a:p>
            <a:r>
              <a:rPr lang="en-US" sz="3200" dirty="0" smtClean="0"/>
              <a:t>Currently designing Up-Down enrollment procedures and credential exchange</a:t>
            </a:r>
          </a:p>
          <a:p>
            <a:r>
              <a:rPr lang="en-US" sz="3200" dirty="0" smtClean="0"/>
              <a:t>End Q4 deliverable</a:t>
            </a:r>
          </a:p>
        </p:txBody>
      </p:sp>
    </p:spTree>
    <p:extLst>
      <p:ext uri="{BB962C8B-B14F-4D97-AF65-F5344CB8AC3E}">
        <p14:creationId xmlns:p14="http://schemas.microsoft.com/office/powerpoint/2010/main" val="1891391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Interfacing to NIR Resource CA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RPKI reflects resource allocation hierarchy</a:t>
            </a:r>
          </a:p>
          <a:p>
            <a:pPr lvl="1"/>
            <a:r>
              <a:rPr lang="en-US" sz="2400" dirty="0" smtClean="0"/>
              <a:t>Support for NIR Resource CA therefore follows allocation hierarchy</a:t>
            </a:r>
          </a:p>
          <a:p>
            <a:r>
              <a:rPr lang="en-US" sz="3200" dirty="0" smtClean="0"/>
              <a:t>APNIC cannot sign what it doesn’t know</a:t>
            </a:r>
          </a:p>
          <a:p>
            <a:pPr lvl="1"/>
            <a:r>
              <a:rPr lang="en-US" sz="2400" dirty="0" smtClean="0"/>
              <a:t>APNIC RPKI CA signs the state of registry</a:t>
            </a:r>
          </a:p>
          <a:p>
            <a:pPr lvl="1"/>
            <a:r>
              <a:rPr lang="en-US" sz="2400" dirty="0" smtClean="0"/>
              <a:t>APNIC supplies RPKI services over Up-Down Protocol </a:t>
            </a:r>
          </a:p>
          <a:p>
            <a:r>
              <a:rPr lang="en-US" sz="3200" dirty="0" smtClean="0"/>
              <a:t>Certification Practice requires APNIC issue RPKI certificates to NIR</a:t>
            </a:r>
          </a:p>
          <a:p>
            <a:pPr lvl="1"/>
            <a:r>
              <a:rPr lang="en-US" sz="2400" dirty="0" smtClean="0"/>
              <a:t>NIR operates RPKI services reflecting NIR registry state</a:t>
            </a:r>
          </a:p>
        </p:txBody>
      </p:sp>
    </p:spTree>
    <p:extLst>
      <p:ext uri="{BB962C8B-B14F-4D97-AF65-F5344CB8AC3E}">
        <p14:creationId xmlns:p14="http://schemas.microsoft.com/office/powerpoint/2010/main" val="214683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NIR Operational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NIR operates an RPKI engine instance</a:t>
            </a:r>
          </a:p>
          <a:p>
            <a:r>
              <a:rPr lang="en-US" smtClean="0"/>
              <a:t>Interface with APNIC via public Up-Down port</a:t>
            </a:r>
          </a:p>
          <a:p>
            <a:r>
              <a:rPr lang="en-US" smtClean="0"/>
              <a:t>NIR issued RPKI certificates align to NIR resource registry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542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APNIC33PowerPointTemplateFinal">
  <a:themeElements>
    <a:clrScheme name="APNIC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4FBA"/>
      </a:accent1>
      <a:accent2>
        <a:srgbClr val="F27D0A"/>
      </a:accent2>
      <a:accent3>
        <a:srgbClr val="590F4A"/>
      </a:accent3>
      <a:accent4>
        <a:srgbClr val="166813"/>
      </a:accent4>
      <a:accent5>
        <a:srgbClr val="C40836"/>
      </a:accent5>
      <a:accent6>
        <a:srgbClr val="FFCF0A"/>
      </a:accent6>
      <a:hlink>
        <a:srgbClr val="5C5C5C"/>
      </a:hlink>
      <a:folHlink>
        <a:srgbClr val="00A2D7"/>
      </a:folHlink>
    </a:clrScheme>
    <a:fontScheme name="APNI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APNIC33PowerPointTemplateFinal.potx</Template>
  <TotalTime>900</TotalTime>
  <Words>360</Words>
  <Application>Microsoft Macintosh PowerPoint</Application>
  <PresentationFormat>On-screen Show (4:3)</PresentationFormat>
  <Paragraphs>65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APNIC33PowerPointTemplateFinal</vt:lpstr>
      <vt:lpstr>APNIC RPKI Report</vt:lpstr>
      <vt:lpstr>Current Status</vt:lpstr>
      <vt:lpstr>Current APNIC RPKI Service</vt:lpstr>
      <vt:lpstr>Current Activity</vt:lpstr>
      <vt:lpstr>1. Trust Anchor Management</vt:lpstr>
      <vt:lpstr>2. ROA Management</vt:lpstr>
      <vt:lpstr>3. General Signer</vt:lpstr>
      <vt:lpstr>General Signer Motivation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Public Up-Down Protocol interface</vt:lpstr>
      <vt:lpstr>Interfacing to NIR Resource CA</vt:lpstr>
      <vt:lpstr>NIR Operational Model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APNIC PowerPoint Template</dc:title>
  <dc:creator>Rebekah</dc:creator>
  <cp:lastModifiedBy>George Michaelson</cp:lastModifiedBy>
  <cp:revision>65</cp:revision>
  <dcterms:created xsi:type="dcterms:W3CDTF">2011-12-06T02:23:30Z</dcterms:created>
  <dcterms:modified xsi:type="dcterms:W3CDTF">2012-12-03T02:44:33Z</dcterms:modified>
</cp:coreProperties>
</file>