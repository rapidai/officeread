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notesSlides/notesSlide6.xml" ContentType="application/vnd.openxmlformats-officedocument.presentationml.notesSlide+xml"/>
  <Override PartName="/ppt/notesSlides/notesSlide7.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66" r:id="rId2"/>
    <p:sldId id="263" r:id="rId3"/>
    <p:sldId id="268" r:id="rId4"/>
    <p:sldId id="270" r:id="rId5"/>
    <p:sldId id="260" r:id="rId6"/>
    <p:sldId id="271" r:id="rId7"/>
    <p:sldId id="259" r:id="rId8"/>
    <p:sldId id="273" r:id="rId9"/>
  </p:sldIdLst>
  <p:sldSz cx="9144000" cy="6858000" type="screen4x3"/>
  <p:notesSz cx="6858000" cy="9101138"/>
  <p:defaultTextStyle>
    <a:defPPr>
      <a:defRPr lang="en-US"/>
    </a:defPPr>
    <a:lvl1pPr algn="l" rtl="0" fontAlgn="base">
      <a:spcBef>
        <a:spcPct val="0"/>
      </a:spcBef>
      <a:spcAft>
        <a:spcPct val="0"/>
      </a:spcAft>
      <a:defRPr kern="1200">
        <a:solidFill>
          <a:schemeClr val="tx1"/>
        </a:solidFill>
        <a:latin typeface="Calibri" pitchFamily="34" charset="0"/>
        <a:ea typeface="MS PGothic" pitchFamily="34" charset="-128"/>
        <a:cs typeface="+mn-cs"/>
      </a:defRPr>
    </a:lvl1pPr>
    <a:lvl2pPr marL="457200" algn="l" rtl="0" fontAlgn="base">
      <a:spcBef>
        <a:spcPct val="0"/>
      </a:spcBef>
      <a:spcAft>
        <a:spcPct val="0"/>
      </a:spcAft>
      <a:defRPr kern="1200">
        <a:solidFill>
          <a:schemeClr val="tx1"/>
        </a:solidFill>
        <a:latin typeface="Calibri" pitchFamily="34" charset="0"/>
        <a:ea typeface="MS PGothic" pitchFamily="34" charset="-128"/>
        <a:cs typeface="+mn-cs"/>
      </a:defRPr>
    </a:lvl2pPr>
    <a:lvl3pPr marL="914400" algn="l" rtl="0" fontAlgn="base">
      <a:spcBef>
        <a:spcPct val="0"/>
      </a:spcBef>
      <a:spcAft>
        <a:spcPct val="0"/>
      </a:spcAft>
      <a:defRPr kern="1200">
        <a:solidFill>
          <a:schemeClr val="tx1"/>
        </a:solidFill>
        <a:latin typeface="Calibri" pitchFamily="34" charset="0"/>
        <a:ea typeface="MS PGothic" pitchFamily="34" charset="-128"/>
        <a:cs typeface="+mn-cs"/>
      </a:defRPr>
    </a:lvl3pPr>
    <a:lvl4pPr marL="1371600" algn="l" rtl="0" fontAlgn="base">
      <a:spcBef>
        <a:spcPct val="0"/>
      </a:spcBef>
      <a:spcAft>
        <a:spcPct val="0"/>
      </a:spcAft>
      <a:defRPr kern="1200">
        <a:solidFill>
          <a:schemeClr val="tx1"/>
        </a:solidFill>
        <a:latin typeface="Calibri" pitchFamily="34" charset="0"/>
        <a:ea typeface="MS PGothic" pitchFamily="34" charset="-128"/>
        <a:cs typeface="+mn-cs"/>
      </a:defRPr>
    </a:lvl4pPr>
    <a:lvl5pPr marL="1828800" algn="l" rtl="0" fontAlgn="base">
      <a:spcBef>
        <a:spcPct val="0"/>
      </a:spcBef>
      <a:spcAft>
        <a:spcPct val="0"/>
      </a:spcAft>
      <a:defRPr kern="1200">
        <a:solidFill>
          <a:schemeClr val="tx1"/>
        </a:solidFill>
        <a:latin typeface="Calibri" pitchFamily="34" charset="0"/>
        <a:ea typeface="MS PGothic" pitchFamily="34" charset="-128"/>
        <a:cs typeface="+mn-cs"/>
      </a:defRPr>
    </a:lvl5pPr>
    <a:lvl6pPr marL="2286000" algn="l" defTabSz="914400" rtl="0" eaLnBrk="1" latinLnBrk="0" hangingPunct="1">
      <a:defRPr kern="1200">
        <a:solidFill>
          <a:schemeClr val="tx1"/>
        </a:solidFill>
        <a:latin typeface="Calibri" pitchFamily="34" charset="0"/>
        <a:ea typeface="MS PGothic" pitchFamily="34" charset="-128"/>
        <a:cs typeface="+mn-cs"/>
      </a:defRPr>
    </a:lvl6pPr>
    <a:lvl7pPr marL="2743200" algn="l" defTabSz="914400" rtl="0" eaLnBrk="1" latinLnBrk="0" hangingPunct="1">
      <a:defRPr kern="1200">
        <a:solidFill>
          <a:schemeClr val="tx1"/>
        </a:solidFill>
        <a:latin typeface="Calibri" pitchFamily="34" charset="0"/>
        <a:ea typeface="MS PGothic" pitchFamily="34" charset="-128"/>
        <a:cs typeface="+mn-cs"/>
      </a:defRPr>
    </a:lvl7pPr>
    <a:lvl8pPr marL="3200400" algn="l" defTabSz="914400" rtl="0" eaLnBrk="1" latinLnBrk="0" hangingPunct="1">
      <a:defRPr kern="1200">
        <a:solidFill>
          <a:schemeClr val="tx1"/>
        </a:solidFill>
        <a:latin typeface="Calibri" pitchFamily="34" charset="0"/>
        <a:ea typeface="MS PGothic" pitchFamily="34" charset="-128"/>
        <a:cs typeface="+mn-cs"/>
      </a:defRPr>
    </a:lvl8pPr>
    <a:lvl9pPr marL="3657600" algn="l" defTabSz="914400" rtl="0" eaLnBrk="1" latinLnBrk="0" hangingPunct="1">
      <a:defRPr kern="1200">
        <a:solidFill>
          <a:schemeClr val="tx1"/>
        </a:solidFill>
        <a:latin typeface="Calibri" pitchFamily="34" charset="0"/>
        <a:ea typeface="MS PGothic" pitchFamily="34" charset="-128"/>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3333"/>
    <a:srgbClr val="819BB8"/>
    <a:srgbClr val="CC0000"/>
    <a:srgbClr val="669966"/>
    <a:srgbClr val="003366"/>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3729" autoAdjust="0"/>
  </p:normalViewPr>
  <p:slideViewPr>
    <p:cSldViewPr>
      <p:cViewPr varScale="1">
        <p:scale>
          <a:sx n="64" d="100"/>
          <a:sy n="64" d="100"/>
        </p:scale>
        <p:origin x="-1344" y="-108"/>
      </p:cViewPr>
      <p:guideLst>
        <p:guide orient="horz" pos="2160"/>
        <p:guide pos="2880"/>
      </p:guideLst>
    </p:cSldViewPr>
  </p:slideViewPr>
  <p:outlineViewPr>
    <p:cViewPr>
      <p:scale>
        <a:sx n="33" d="100"/>
        <a:sy n="33" d="100"/>
      </p:scale>
      <p:origin x="0" y="0"/>
    </p:cViewPr>
  </p:outlineViewPr>
  <p:notesTextViewPr>
    <p:cViewPr>
      <p:scale>
        <a:sx n="400" d="100"/>
        <a:sy n="4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5057"/>
          </a:xfrm>
          <a:prstGeom prst="rect">
            <a:avLst/>
          </a:prstGeom>
        </p:spPr>
        <p:txBody>
          <a:bodyPr vert="horz" wrap="square" lIns="91440" tIns="45720" rIns="91440" bIns="45720" numCol="1" anchor="t" anchorCtr="0" compatLnSpc="1">
            <a:prstTxWarp prst="textNoShape">
              <a:avLst/>
            </a:prstTxWarp>
          </a:bodyPr>
          <a:lstStyle>
            <a:lvl1pPr>
              <a:defRPr sz="1200">
                <a:latin typeface="Calibri" pitchFamily="-65" charset="0"/>
                <a:ea typeface="MS PGothic" pitchFamily="34" charset="-128"/>
                <a:cs typeface="+mn-cs"/>
              </a:defRPr>
            </a:lvl1pPr>
          </a:lstStyle>
          <a:p>
            <a:pPr>
              <a:defRPr/>
            </a:pPr>
            <a:endParaRPr lang="en-US"/>
          </a:p>
        </p:txBody>
      </p:sp>
      <p:sp>
        <p:nvSpPr>
          <p:cNvPr id="3" name="Date Placeholder 2"/>
          <p:cNvSpPr>
            <a:spLocks noGrp="1"/>
          </p:cNvSpPr>
          <p:nvPr>
            <p:ph type="dt" idx="1"/>
          </p:nvPr>
        </p:nvSpPr>
        <p:spPr>
          <a:xfrm>
            <a:off x="3884613" y="0"/>
            <a:ext cx="2971800" cy="455057"/>
          </a:xfrm>
          <a:prstGeom prst="rect">
            <a:avLst/>
          </a:prstGeom>
        </p:spPr>
        <p:txBody>
          <a:bodyPr vert="horz" wrap="square" lIns="91440" tIns="45720" rIns="91440" bIns="45720" numCol="1" anchor="t" anchorCtr="0" compatLnSpc="1">
            <a:prstTxWarp prst="textNoShape">
              <a:avLst/>
            </a:prstTxWarp>
          </a:bodyPr>
          <a:lstStyle>
            <a:lvl1pPr algn="r">
              <a:defRPr sz="1200" smtClean="0"/>
            </a:lvl1pPr>
          </a:lstStyle>
          <a:p>
            <a:pPr>
              <a:defRPr/>
            </a:pPr>
            <a:fld id="{8441ABF4-08B1-4B3F-8EC7-5C291DE11875}" type="datetime1">
              <a:rPr lang="en-US"/>
              <a:pPr>
                <a:defRPr/>
              </a:pPr>
              <a:t>1/25/2012</a:t>
            </a:fld>
            <a:endParaRPr lang="en-US"/>
          </a:p>
        </p:txBody>
      </p:sp>
      <p:sp>
        <p:nvSpPr>
          <p:cNvPr id="4" name="Slide Image Placeholder 3"/>
          <p:cNvSpPr>
            <a:spLocks noGrp="1" noRot="1" noChangeAspect="1"/>
          </p:cNvSpPr>
          <p:nvPr>
            <p:ph type="sldImg" idx="2"/>
          </p:nvPr>
        </p:nvSpPr>
        <p:spPr>
          <a:xfrm>
            <a:off x="1154113" y="682625"/>
            <a:ext cx="4549775" cy="3413125"/>
          </a:xfrm>
          <a:prstGeom prst="rect">
            <a:avLst/>
          </a:prstGeom>
          <a:noFill/>
          <a:ln w="12700">
            <a:solidFill>
              <a:prstClr val="black"/>
            </a:solidFill>
          </a:ln>
        </p:spPr>
        <p:txBody>
          <a:bodyPr vert="horz" wrap="square" lIns="91440" tIns="45720" rIns="91440" bIns="45720" numCol="1" anchor="ctr" anchorCtr="0" compatLnSpc="1">
            <a:prstTxWarp prst="textNoShape">
              <a:avLst/>
            </a:prstTxWarp>
          </a:bodyPr>
          <a:lstStyle/>
          <a:p>
            <a:pPr lvl="0"/>
            <a:endParaRPr lang="en-US" noProof="0" smtClean="0"/>
          </a:p>
        </p:txBody>
      </p:sp>
      <p:sp>
        <p:nvSpPr>
          <p:cNvPr id="5" name="Notes Placeholder 4"/>
          <p:cNvSpPr>
            <a:spLocks noGrp="1"/>
          </p:cNvSpPr>
          <p:nvPr>
            <p:ph type="body" sz="quarter" idx="3"/>
          </p:nvPr>
        </p:nvSpPr>
        <p:spPr>
          <a:xfrm>
            <a:off x="685800" y="4323041"/>
            <a:ext cx="5486400" cy="4095512"/>
          </a:xfrm>
          <a:prstGeom prst="rect">
            <a:avLst/>
          </a:prstGeom>
        </p:spPr>
        <p:txBody>
          <a:bodyPr vert="horz" wrap="square" lIns="91440" tIns="45720" rIns="91440" bIns="45720" numCol="1" anchor="t" anchorCtr="0" compatLnSpc="1">
            <a:prstTxWarp prst="textNoShape">
              <a:avLst/>
            </a:prstTxWarp>
            <a:norm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6" name="Footer Placeholder 5"/>
          <p:cNvSpPr>
            <a:spLocks noGrp="1"/>
          </p:cNvSpPr>
          <p:nvPr>
            <p:ph type="ftr" sz="quarter" idx="4"/>
          </p:nvPr>
        </p:nvSpPr>
        <p:spPr>
          <a:xfrm>
            <a:off x="0" y="8644501"/>
            <a:ext cx="2971800" cy="455057"/>
          </a:xfrm>
          <a:prstGeom prst="rect">
            <a:avLst/>
          </a:prstGeom>
        </p:spPr>
        <p:txBody>
          <a:bodyPr vert="horz" wrap="square" lIns="91440" tIns="45720" rIns="91440" bIns="45720" numCol="1" anchor="b" anchorCtr="0" compatLnSpc="1">
            <a:prstTxWarp prst="textNoShape">
              <a:avLst/>
            </a:prstTxWarp>
          </a:bodyPr>
          <a:lstStyle>
            <a:lvl1pPr>
              <a:defRPr sz="1200">
                <a:latin typeface="Calibri" pitchFamily="-65" charset="0"/>
                <a:ea typeface="MS PGothic" pitchFamily="34" charset="-128"/>
                <a:cs typeface="+mn-cs"/>
              </a:defRPr>
            </a:lvl1pPr>
          </a:lstStyle>
          <a:p>
            <a:pPr>
              <a:defRPr/>
            </a:pPr>
            <a:endParaRPr lang="en-US"/>
          </a:p>
        </p:txBody>
      </p:sp>
      <p:sp>
        <p:nvSpPr>
          <p:cNvPr id="7" name="Slide Number Placeholder 6"/>
          <p:cNvSpPr>
            <a:spLocks noGrp="1"/>
          </p:cNvSpPr>
          <p:nvPr>
            <p:ph type="sldNum" sz="quarter" idx="5"/>
          </p:nvPr>
        </p:nvSpPr>
        <p:spPr>
          <a:xfrm>
            <a:off x="3884613" y="8644501"/>
            <a:ext cx="2971800" cy="455057"/>
          </a:xfrm>
          <a:prstGeom prst="rect">
            <a:avLst/>
          </a:prstGeom>
        </p:spPr>
        <p:txBody>
          <a:bodyPr vert="horz" wrap="square" lIns="91440" tIns="45720" rIns="91440" bIns="45720" numCol="1" anchor="b" anchorCtr="0" compatLnSpc="1">
            <a:prstTxWarp prst="textNoShape">
              <a:avLst/>
            </a:prstTxWarp>
          </a:bodyPr>
          <a:lstStyle>
            <a:lvl1pPr algn="r">
              <a:defRPr sz="1200" smtClean="0"/>
            </a:lvl1pPr>
          </a:lstStyle>
          <a:p>
            <a:pPr>
              <a:defRPr/>
            </a:pPr>
            <a:fld id="{EB6AD0D9-7ABD-4243-83CF-49717A6CBC2E}"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S PGothic" pitchFamily="34" charset="-128"/>
        <a:cs typeface="MS PGothic" pitchFamily="34" charset="-128"/>
      </a:defRPr>
    </a:lvl1pPr>
    <a:lvl2pPr marL="457200" algn="l" rtl="0" eaLnBrk="0" fontAlgn="base" hangingPunct="0">
      <a:spcBef>
        <a:spcPct val="30000"/>
      </a:spcBef>
      <a:spcAft>
        <a:spcPct val="0"/>
      </a:spcAft>
      <a:defRPr sz="1200" kern="1200">
        <a:solidFill>
          <a:schemeClr val="tx1"/>
        </a:solidFill>
        <a:latin typeface="+mn-lt"/>
        <a:ea typeface="MS PGothic" pitchFamily="34" charset="-128"/>
        <a:cs typeface="MS PGothic" charset="0"/>
      </a:defRPr>
    </a:lvl2pPr>
    <a:lvl3pPr marL="914400" algn="l" rtl="0" eaLnBrk="0" fontAlgn="base" hangingPunct="0">
      <a:spcBef>
        <a:spcPct val="30000"/>
      </a:spcBef>
      <a:spcAft>
        <a:spcPct val="0"/>
      </a:spcAft>
      <a:defRPr sz="1200" kern="1200">
        <a:solidFill>
          <a:schemeClr val="tx1"/>
        </a:solidFill>
        <a:latin typeface="+mn-lt"/>
        <a:ea typeface="MS PGothic" pitchFamily="34" charset="-128"/>
        <a:cs typeface="MS PGothic" charset="0"/>
      </a:defRPr>
    </a:lvl3pPr>
    <a:lvl4pPr marL="1371600" algn="l" rtl="0" eaLnBrk="0" fontAlgn="base" hangingPunct="0">
      <a:spcBef>
        <a:spcPct val="30000"/>
      </a:spcBef>
      <a:spcAft>
        <a:spcPct val="0"/>
      </a:spcAft>
      <a:defRPr sz="1200" kern="1200">
        <a:solidFill>
          <a:schemeClr val="tx1"/>
        </a:solidFill>
        <a:latin typeface="+mn-lt"/>
        <a:ea typeface="MS PGothic" pitchFamily="34" charset="-128"/>
        <a:cs typeface="MS PGothic" charset="0"/>
      </a:defRPr>
    </a:lvl4pPr>
    <a:lvl5pPr marL="1828800" algn="l" rtl="0" eaLnBrk="0" fontAlgn="base" hangingPunct="0">
      <a:spcBef>
        <a:spcPct val="30000"/>
      </a:spcBef>
      <a:spcAft>
        <a:spcPct val="0"/>
      </a:spcAft>
      <a:defRPr sz="1200" kern="1200">
        <a:solidFill>
          <a:schemeClr val="tx1"/>
        </a:solidFill>
        <a:latin typeface="+mn-lt"/>
        <a:ea typeface="MS PGothic" pitchFamily="34" charset="-128"/>
        <a:cs typeface="MS PGothic"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Image Placeholder 1"/>
          <p:cNvSpPr>
            <a:spLocks noGrp="1" noRot="1" noChangeAspect="1" noTextEdit="1"/>
          </p:cNvSpPr>
          <p:nvPr>
            <p:ph type="sldImg"/>
          </p:nvPr>
        </p:nvSpPr>
        <p:spPr bwMode="auto">
          <a:noFill/>
          <a:ln>
            <a:solidFill>
              <a:srgbClr val="000000"/>
            </a:solidFill>
            <a:miter lim="800000"/>
            <a:headEnd/>
            <a:tailEnd/>
          </a:ln>
        </p:spPr>
      </p:sp>
      <p:sp>
        <p:nvSpPr>
          <p:cNvPr id="12291" name="Notes Placeholder 2"/>
          <p:cNvSpPr>
            <a:spLocks noGrp="1"/>
          </p:cNvSpPr>
          <p:nvPr>
            <p:ph type="body" idx="1"/>
          </p:nvPr>
        </p:nvSpPr>
        <p:spPr bwMode="auto">
          <a:noFill/>
        </p:spPr>
        <p:txBody>
          <a:bodyPr/>
          <a:lstStyle/>
          <a:p>
            <a:pPr eaLnBrk="1" hangingPunct="1">
              <a:spcBef>
                <a:spcPct val="0"/>
              </a:spcBef>
            </a:pPr>
            <a:r>
              <a:rPr lang="en-US" sz="1000" smtClean="0">
                <a:latin typeface="Arabic Typesetting" pitchFamily="66" charset="-78"/>
                <a:cs typeface="Arabic Typesetting" pitchFamily="66" charset="-78"/>
              </a:rPr>
              <a:t>During this time, we have learned a lot about what makes businesses competitive</a:t>
            </a:r>
          </a:p>
          <a:p>
            <a:pPr eaLnBrk="1" hangingPunct="1">
              <a:spcBef>
                <a:spcPct val="0"/>
              </a:spcBef>
            </a:pPr>
            <a:endParaRPr lang="en-US" smtClean="0"/>
          </a:p>
        </p:txBody>
      </p:sp>
      <p:sp>
        <p:nvSpPr>
          <p:cNvPr id="12292" name="Slide Number Placeholder 3"/>
          <p:cNvSpPr>
            <a:spLocks noGrp="1"/>
          </p:cNvSpPr>
          <p:nvPr>
            <p:ph type="sldNum" sz="quarter" idx="5"/>
          </p:nvPr>
        </p:nvSpPr>
        <p:spPr bwMode="auto">
          <a:noFill/>
          <a:ln>
            <a:miter lim="800000"/>
            <a:headEnd/>
            <a:tailEnd/>
          </a:ln>
        </p:spPr>
        <p:txBody>
          <a:bodyPr/>
          <a:lstStyle/>
          <a:p>
            <a:fld id="{2EB6B4FD-A990-493D-8BCE-033B17FF1A0F}" type="slidenum">
              <a:rPr lang="en-US"/>
              <a:pPr/>
              <a:t>2</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Image Placeholder 1"/>
          <p:cNvSpPr>
            <a:spLocks noGrp="1" noRot="1" noChangeAspect="1" noTextEdit="1"/>
          </p:cNvSpPr>
          <p:nvPr>
            <p:ph type="sldImg"/>
          </p:nvPr>
        </p:nvSpPr>
        <p:spPr bwMode="auto">
          <a:noFill/>
          <a:ln>
            <a:solidFill>
              <a:srgbClr val="000000"/>
            </a:solidFill>
            <a:miter lim="800000"/>
            <a:headEnd/>
            <a:tailEnd/>
          </a:ln>
        </p:spPr>
      </p:sp>
      <p:sp>
        <p:nvSpPr>
          <p:cNvPr id="13315" name="Notes Placeholder 2"/>
          <p:cNvSpPr>
            <a:spLocks noGrp="1"/>
          </p:cNvSpPr>
          <p:nvPr>
            <p:ph type="body" idx="1"/>
          </p:nvPr>
        </p:nvSpPr>
        <p:spPr bwMode="auto">
          <a:noFill/>
        </p:spPr>
        <p:txBody>
          <a:bodyPr/>
          <a:lstStyle/>
          <a:p>
            <a:pPr eaLnBrk="1" hangingPunct="1">
              <a:spcBef>
                <a:spcPct val="0"/>
              </a:spcBef>
            </a:pPr>
            <a:r>
              <a:rPr lang="en-US" dirty="0" smtClean="0"/>
              <a:t>I only share these to demonstrate that we have experience helping businesses bring new products to market. My presentation today will focus on the lessons learned when working with these businesses. Of which, the most important presentation is (flip to new slide).</a:t>
            </a:r>
          </a:p>
        </p:txBody>
      </p:sp>
      <p:sp>
        <p:nvSpPr>
          <p:cNvPr id="13316" name="Slide Number Placeholder 3"/>
          <p:cNvSpPr>
            <a:spLocks noGrp="1"/>
          </p:cNvSpPr>
          <p:nvPr>
            <p:ph type="sldNum" sz="quarter" idx="5"/>
          </p:nvPr>
        </p:nvSpPr>
        <p:spPr bwMode="auto">
          <a:noFill/>
          <a:ln>
            <a:miter lim="800000"/>
            <a:headEnd/>
            <a:tailEnd/>
          </a:ln>
        </p:spPr>
        <p:txBody>
          <a:bodyPr/>
          <a:lstStyle/>
          <a:p>
            <a:fld id="{3DB935A4-E982-4D56-913E-CDB743E925DF}" type="slidenum">
              <a:rPr lang="en-US"/>
              <a:pPr/>
              <a:t>3</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TextEdit="1"/>
          </p:cNvSpPr>
          <p:nvPr>
            <p:ph type="sldImg"/>
          </p:nvPr>
        </p:nvSpPr>
        <p:spPr bwMode="auto">
          <a:noFill/>
          <a:ln>
            <a:solidFill>
              <a:srgbClr val="000000"/>
            </a:solidFill>
            <a:miter lim="800000"/>
            <a:headEnd/>
            <a:tailEnd/>
          </a:ln>
        </p:spPr>
      </p:sp>
      <p:sp>
        <p:nvSpPr>
          <p:cNvPr id="14339" name="Notes Placeholder 2"/>
          <p:cNvSpPr>
            <a:spLocks noGrp="1"/>
          </p:cNvSpPr>
          <p:nvPr>
            <p:ph type="body" idx="1"/>
          </p:nvPr>
        </p:nvSpPr>
        <p:spPr bwMode="auto">
          <a:noFill/>
        </p:spPr>
        <p:txBody>
          <a:bodyPr/>
          <a:lstStyle/>
          <a:p>
            <a:r>
              <a:rPr lang="en-US" sz="800" smtClean="0"/>
              <a:t>….the journey is as important as the destination. So what I</a:t>
            </a:r>
            <a:r>
              <a:rPr lang="ja-JP" altLang="en-US" sz="800" smtClean="0"/>
              <a:t>’</a:t>
            </a:r>
            <a:r>
              <a:rPr lang="en-US" altLang="ja-JP" sz="800" smtClean="0"/>
              <a:t>m going to talk to you about today is the development journey and how that is critical to creating jobs.</a:t>
            </a:r>
            <a:endParaRPr lang="en-US" sz="800" smtClean="0"/>
          </a:p>
        </p:txBody>
      </p:sp>
      <p:sp>
        <p:nvSpPr>
          <p:cNvPr id="14340" name="Slide Number Placeholder 3"/>
          <p:cNvSpPr>
            <a:spLocks noGrp="1"/>
          </p:cNvSpPr>
          <p:nvPr>
            <p:ph type="sldNum" sz="quarter" idx="5"/>
          </p:nvPr>
        </p:nvSpPr>
        <p:spPr bwMode="auto">
          <a:noFill/>
          <a:ln>
            <a:miter lim="800000"/>
            <a:headEnd/>
            <a:tailEnd/>
          </a:ln>
        </p:spPr>
        <p:txBody>
          <a:bodyPr/>
          <a:lstStyle/>
          <a:p>
            <a:fld id="{D213FE05-61B6-4BAF-8148-E1C3E99CDD25}" type="slidenum">
              <a:rPr lang="en-US"/>
              <a:pPr/>
              <a:t>4</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Image Placeholder 1"/>
          <p:cNvSpPr>
            <a:spLocks noGrp="1" noRot="1" noChangeAspect="1" noTextEdit="1"/>
          </p:cNvSpPr>
          <p:nvPr>
            <p:ph type="sldImg"/>
          </p:nvPr>
        </p:nvSpPr>
        <p:spPr bwMode="auto">
          <a:noFill/>
          <a:ln>
            <a:solidFill>
              <a:srgbClr val="000000"/>
            </a:solidFill>
            <a:miter lim="800000"/>
            <a:headEnd/>
            <a:tailEnd/>
          </a:ln>
        </p:spPr>
      </p:sp>
      <p:sp>
        <p:nvSpPr>
          <p:cNvPr id="15363" name="Notes Placeholder 2"/>
          <p:cNvSpPr>
            <a:spLocks noGrp="1"/>
          </p:cNvSpPr>
          <p:nvPr>
            <p:ph type="body" idx="1"/>
          </p:nvPr>
        </p:nvSpPr>
        <p:spPr bwMode="auto">
          <a:noFill/>
        </p:spPr>
        <p:txBody>
          <a:bodyPr/>
          <a:lstStyle/>
          <a:p>
            <a:r>
              <a:rPr lang="en-US" smtClean="0"/>
              <a:t>I recognize that this is a complicated slide, but I</a:t>
            </a:r>
            <a:r>
              <a:rPr lang="ja-JP" altLang="en-US" smtClean="0"/>
              <a:t>’</a:t>
            </a:r>
            <a:r>
              <a:rPr lang="en-US" altLang="ja-JP" smtClean="0"/>
              <a:t>m trying to show you that there</a:t>
            </a:r>
            <a:r>
              <a:rPr lang="ja-JP" altLang="en-US" smtClean="0"/>
              <a:t>’</a:t>
            </a:r>
            <a:r>
              <a:rPr lang="en-US" altLang="ja-JP" smtClean="0"/>
              <a:t>s a lot that goes into successfully bringing a product from idea to market. There are three components to a successful business—you need to ensure a good product that matches market needs that is supported by strong business operations. Each one of these components has a series of steps that leads to one another. Research, business plans, and access to capital.</a:t>
            </a:r>
            <a:endParaRPr lang="en-US" smtClean="0"/>
          </a:p>
        </p:txBody>
      </p:sp>
      <p:sp>
        <p:nvSpPr>
          <p:cNvPr id="15364" name="Slide Number Placeholder 3"/>
          <p:cNvSpPr>
            <a:spLocks noGrp="1"/>
          </p:cNvSpPr>
          <p:nvPr>
            <p:ph type="sldNum" sz="quarter" idx="5"/>
          </p:nvPr>
        </p:nvSpPr>
        <p:spPr bwMode="auto">
          <a:noFill/>
          <a:ln>
            <a:miter lim="800000"/>
            <a:headEnd/>
            <a:tailEnd/>
          </a:ln>
        </p:spPr>
        <p:txBody>
          <a:bodyPr/>
          <a:lstStyle/>
          <a:p>
            <a:fld id="{D328BDC3-2264-4AAE-A0A0-2E714681F6DB}" type="slidenum">
              <a:rPr lang="en-US"/>
              <a:pPr/>
              <a:t>5</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Image Placeholder 1"/>
          <p:cNvSpPr>
            <a:spLocks noGrp="1" noRot="1" noChangeAspect="1" noTextEdit="1"/>
          </p:cNvSpPr>
          <p:nvPr>
            <p:ph type="sldImg"/>
          </p:nvPr>
        </p:nvSpPr>
        <p:spPr bwMode="auto">
          <a:noFill/>
          <a:ln>
            <a:solidFill>
              <a:srgbClr val="000000"/>
            </a:solidFill>
            <a:miter lim="800000"/>
            <a:headEnd/>
            <a:tailEnd/>
          </a:ln>
        </p:spPr>
      </p:sp>
      <p:sp>
        <p:nvSpPr>
          <p:cNvPr id="17411" name="Notes Placeholder 2"/>
          <p:cNvSpPr>
            <a:spLocks noGrp="1"/>
          </p:cNvSpPr>
          <p:nvPr>
            <p:ph type="body" idx="1"/>
          </p:nvPr>
        </p:nvSpPr>
        <p:spPr bwMode="auto">
          <a:noFill/>
        </p:spPr>
        <p:txBody>
          <a:bodyPr/>
          <a:lstStyle/>
          <a:p>
            <a:r>
              <a:rPr lang="en-US" smtClean="0"/>
              <a:t>And we know that the development journey works because 95% of our clients that demonstrate appropriate product, market, and business readiness have access to the capital needed to move to commercialization. </a:t>
            </a:r>
          </a:p>
        </p:txBody>
      </p:sp>
      <p:sp>
        <p:nvSpPr>
          <p:cNvPr id="17412" name="Slide Number Placeholder 3"/>
          <p:cNvSpPr>
            <a:spLocks noGrp="1"/>
          </p:cNvSpPr>
          <p:nvPr>
            <p:ph type="sldNum" sz="quarter" idx="5"/>
          </p:nvPr>
        </p:nvSpPr>
        <p:spPr bwMode="auto">
          <a:noFill/>
          <a:ln>
            <a:miter lim="800000"/>
            <a:headEnd/>
            <a:tailEnd/>
          </a:ln>
        </p:spPr>
        <p:txBody>
          <a:bodyPr/>
          <a:lstStyle/>
          <a:p>
            <a:fld id="{475F7989-835B-43B4-B641-FD2E4B16E2F0}" type="slidenum">
              <a:rPr lang="en-US"/>
              <a:pPr/>
              <a:t>6</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Image Placeholder 1"/>
          <p:cNvSpPr>
            <a:spLocks noGrp="1" noRot="1" noChangeAspect="1" noTextEdit="1"/>
          </p:cNvSpPr>
          <p:nvPr>
            <p:ph type="sldImg"/>
          </p:nvPr>
        </p:nvSpPr>
        <p:spPr bwMode="auto">
          <a:noFill/>
          <a:ln>
            <a:solidFill>
              <a:srgbClr val="000000"/>
            </a:solidFill>
            <a:miter lim="800000"/>
            <a:headEnd/>
            <a:tailEnd/>
          </a:ln>
        </p:spPr>
      </p:sp>
      <p:sp>
        <p:nvSpPr>
          <p:cNvPr id="19459" name="Notes Placeholder 2"/>
          <p:cNvSpPr>
            <a:spLocks noGrp="1"/>
          </p:cNvSpPr>
          <p:nvPr>
            <p:ph type="body" idx="1"/>
          </p:nvPr>
        </p:nvSpPr>
        <p:spPr bwMode="auto">
          <a:noFill/>
        </p:spPr>
        <p:txBody>
          <a:bodyPr/>
          <a:lstStyle/>
          <a:p>
            <a:r>
              <a:rPr lang="en-US" smtClean="0"/>
              <a:t>	</a:t>
            </a:r>
          </a:p>
        </p:txBody>
      </p:sp>
      <p:sp>
        <p:nvSpPr>
          <p:cNvPr id="19460" name="Slide Number Placeholder 3"/>
          <p:cNvSpPr>
            <a:spLocks noGrp="1"/>
          </p:cNvSpPr>
          <p:nvPr>
            <p:ph type="sldNum" sz="quarter" idx="5"/>
          </p:nvPr>
        </p:nvSpPr>
        <p:spPr bwMode="auto">
          <a:noFill/>
          <a:ln>
            <a:miter lim="800000"/>
            <a:headEnd/>
            <a:tailEnd/>
          </a:ln>
        </p:spPr>
        <p:txBody>
          <a:bodyPr/>
          <a:lstStyle/>
          <a:p>
            <a:fld id="{91438675-6241-4F51-9D87-55AC397D35CE}" type="slidenum">
              <a:rPr lang="en-US"/>
              <a:pPr/>
              <a:t>7</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Image Placeholder 1"/>
          <p:cNvSpPr>
            <a:spLocks noGrp="1" noRot="1" noChangeAspect="1" noTextEdit="1"/>
          </p:cNvSpPr>
          <p:nvPr>
            <p:ph type="sldImg"/>
          </p:nvPr>
        </p:nvSpPr>
        <p:spPr bwMode="auto">
          <a:noFill/>
          <a:ln>
            <a:solidFill>
              <a:srgbClr val="000000"/>
            </a:solidFill>
            <a:miter lim="800000"/>
            <a:headEnd/>
            <a:tailEnd/>
          </a:ln>
        </p:spPr>
      </p:sp>
      <p:sp>
        <p:nvSpPr>
          <p:cNvPr id="18435" name="Notes Placeholder 2"/>
          <p:cNvSpPr>
            <a:spLocks noGrp="1"/>
          </p:cNvSpPr>
          <p:nvPr>
            <p:ph type="body" idx="1"/>
          </p:nvPr>
        </p:nvSpPr>
        <p:spPr bwMode="auto">
          <a:noFill/>
        </p:spPr>
        <p:txBody>
          <a:bodyPr/>
          <a:lstStyle/>
          <a:p>
            <a:endParaRPr lang="en-US" smtClean="0"/>
          </a:p>
        </p:txBody>
      </p:sp>
      <p:sp>
        <p:nvSpPr>
          <p:cNvPr id="18436" name="Slide Number Placeholder 3"/>
          <p:cNvSpPr>
            <a:spLocks noGrp="1"/>
          </p:cNvSpPr>
          <p:nvPr>
            <p:ph type="sldNum" sz="quarter" idx="5"/>
          </p:nvPr>
        </p:nvSpPr>
        <p:spPr bwMode="auto">
          <a:noFill/>
          <a:ln>
            <a:miter lim="800000"/>
            <a:headEnd/>
            <a:tailEnd/>
          </a:ln>
        </p:spPr>
        <p:txBody>
          <a:bodyPr/>
          <a:lstStyle/>
          <a:p>
            <a:fld id="{09B6CD87-572F-4831-B60B-4CA7ABD54F78}" type="slidenum">
              <a:rPr lang="en-US"/>
              <a:pPr/>
              <a:t>8</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C4D3D62C-1D63-4591-8FC4-361D7E555771}" type="datetime1">
              <a:rPr lang="en-US"/>
              <a:pPr>
                <a:defRPr/>
              </a:pPr>
              <a:t>1/25/2012</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B5170CC-2242-4855-BB4A-091F76D388D9}"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279FB9B0-9426-423E-86FA-02F071B10219}" type="datetime1">
              <a:rPr lang="en-US"/>
              <a:pPr>
                <a:defRPr/>
              </a:pPr>
              <a:t>1/25/2012</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2311B479-99A3-4635-A8A9-C5AEE17209FC}"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2AEF9E76-8419-4026-8B70-E078CFFC40A3}" type="datetime1">
              <a:rPr lang="en-US"/>
              <a:pPr>
                <a:defRPr/>
              </a:pPr>
              <a:t>1/25/2012</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C1F89829-2EFA-456A-8F9C-A913AEA4FAC1}"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3E346950-BF86-4B25-AF3E-8DACFB7310DB}" type="datetime1">
              <a:rPr lang="en-US"/>
              <a:pPr>
                <a:defRPr/>
              </a:pPr>
              <a:t>1/25/2012</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8CCE441A-1847-45DE-887A-BFF20CEB3C8C}"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F83B707E-C088-43D1-A85D-C5A789907D1D}" type="datetime1">
              <a:rPr lang="en-US"/>
              <a:pPr>
                <a:defRPr/>
              </a:pPr>
              <a:t>1/25/2012</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3C54913A-9721-4E5C-AE9F-F0120FDD02E3}"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21989EB7-3A65-486A-8C22-B200B129383A}" type="datetime1">
              <a:rPr lang="en-US"/>
              <a:pPr>
                <a:defRPr/>
              </a:pPr>
              <a:t>1/25/2012</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F64E5AC9-64B8-4270-9B64-364757E0F676}"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3D92AE32-205D-4DC4-9050-0C314BA35E54}" type="datetime1">
              <a:rPr lang="en-US"/>
              <a:pPr>
                <a:defRPr/>
              </a:pPr>
              <a:t>1/25/2012</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028DCA87-1037-4C69-94DB-A7D235597559}"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9599A163-DAD3-4858-8054-3FB84B37A66A}" type="datetime1">
              <a:rPr lang="en-US"/>
              <a:pPr>
                <a:defRPr/>
              </a:pPr>
              <a:t>1/25/2012</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2EFD235A-8A83-4F36-B9B6-8C33FD5D42CF}"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730388A7-B24D-480E-B947-4263FEB647F1}" type="datetime1">
              <a:rPr lang="en-US"/>
              <a:pPr>
                <a:defRPr/>
              </a:pPr>
              <a:t>1/25/2012</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34A038B1-D127-462E-AA45-7166AC05CE49}"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C609C861-A603-4D7B-A5A5-3161E82DA0A4}" type="datetime1">
              <a:rPr lang="en-US"/>
              <a:pPr>
                <a:defRPr/>
              </a:pPr>
              <a:t>1/25/2012</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FEB11208-CDB0-4BFE-875F-628ADD073FF3}"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4EAAEEB2-DD3D-44AC-B992-92286229EA38}" type="datetime1">
              <a:rPr lang="en-US"/>
              <a:pPr>
                <a:defRPr/>
              </a:pPr>
              <a:t>1/25/2012</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41D296BC-EC89-4D24-AA62-3963E86C591A}"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a:defRPr sz="1200" smtClean="0">
                <a:solidFill>
                  <a:srgbClr val="898989"/>
                </a:solidFill>
              </a:defRPr>
            </a:lvl1pPr>
          </a:lstStyle>
          <a:p>
            <a:pPr>
              <a:defRPr/>
            </a:pPr>
            <a:fld id="{998F5748-3BE5-43BC-8827-42CAD9999129}" type="datetime1">
              <a:rPr lang="en-US"/>
              <a:pPr>
                <a:defRPr/>
              </a:pPr>
              <a:t>1/25/2012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wrap="square" lIns="91440" tIns="45720" rIns="91440" bIns="45720" numCol="1" anchor="ctr" anchorCtr="0" compatLnSpc="1">
            <a:prstTxWarp prst="textNoShape">
              <a:avLst/>
            </a:prstTxWarp>
          </a:bodyPr>
          <a:lstStyle>
            <a:lvl1pPr algn="ctr">
              <a:defRPr sz="1200">
                <a:solidFill>
                  <a:srgbClr val="898989"/>
                </a:solidFill>
                <a:latin typeface="Calibri" pitchFamily="-65" charset="0"/>
                <a:ea typeface="MS PGothic" pitchFamily="34" charset="-128"/>
                <a:cs typeface="+mn-cs"/>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smtClean="0">
                <a:solidFill>
                  <a:srgbClr val="898989"/>
                </a:solidFill>
              </a:defRPr>
            </a:lvl1pPr>
          </a:lstStyle>
          <a:p>
            <a:pPr>
              <a:defRPr/>
            </a:pPr>
            <a:fld id="{18C1002E-9665-477A-B71D-2262405CED8C}"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kern="1200">
          <a:solidFill>
            <a:schemeClr val="tx1"/>
          </a:solidFill>
          <a:latin typeface="+mj-lt"/>
          <a:ea typeface="MS PGothic" pitchFamily="34" charset="-128"/>
          <a:cs typeface="MS PGothic" pitchFamily="34" charset="-128"/>
        </a:defRPr>
      </a:lvl1pPr>
      <a:lvl2pPr algn="ctr" rtl="0" eaLnBrk="0" fontAlgn="base" hangingPunct="0">
        <a:spcBef>
          <a:spcPct val="0"/>
        </a:spcBef>
        <a:spcAft>
          <a:spcPct val="0"/>
        </a:spcAft>
        <a:defRPr sz="4400">
          <a:solidFill>
            <a:schemeClr val="tx1"/>
          </a:solidFill>
          <a:latin typeface="Calibri" charset="0"/>
          <a:ea typeface="MS PGothic" pitchFamily="34" charset="-128"/>
          <a:cs typeface="MS PGothic" pitchFamily="34" charset="-128"/>
        </a:defRPr>
      </a:lvl2pPr>
      <a:lvl3pPr algn="ctr" rtl="0" eaLnBrk="0" fontAlgn="base" hangingPunct="0">
        <a:spcBef>
          <a:spcPct val="0"/>
        </a:spcBef>
        <a:spcAft>
          <a:spcPct val="0"/>
        </a:spcAft>
        <a:defRPr sz="4400">
          <a:solidFill>
            <a:schemeClr val="tx1"/>
          </a:solidFill>
          <a:latin typeface="Calibri" charset="0"/>
          <a:ea typeface="MS PGothic" pitchFamily="34" charset="-128"/>
          <a:cs typeface="MS PGothic" pitchFamily="34" charset="-128"/>
        </a:defRPr>
      </a:lvl3pPr>
      <a:lvl4pPr algn="ctr" rtl="0" eaLnBrk="0" fontAlgn="base" hangingPunct="0">
        <a:spcBef>
          <a:spcPct val="0"/>
        </a:spcBef>
        <a:spcAft>
          <a:spcPct val="0"/>
        </a:spcAft>
        <a:defRPr sz="4400">
          <a:solidFill>
            <a:schemeClr val="tx1"/>
          </a:solidFill>
          <a:latin typeface="Calibri" charset="0"/>
          <a:ea typeface="MS PGothic" pitchFamily="34" charset="-128"/>
          <a:cs typeface="MS PGothic" pitchFamily="34" charset="-128"/>
        </a:defRPr>
      </a:lvl4pPr>
      <a:lvl5pPr algn="ctr" rtl="0" eaLnBrk="0" fontAlgn="base" hangingPunct="0">
        <a:spcBef>
          <a:spcPct val="0"/>
        </a:spcBef>
        <a:spcAft>
          <a:spcPct val="0"/>
        </a:spcAft>
        <a:defRPr sz="4400">
          <a:solidFill>
            <a:schemeClr val="tx1"/>
          </a:solidFill>
          <a:latin typeface="Calibri" charset="0"/>
          <a:ea typeface="MS PGothic" pitchFamily="34" charset="-128"/>
          <a:cs typeface="MS PGothic" pitchFamily="34" charset="-128"/>
        </a:defRPr>
      </a:lvl5pPr>
      <a:lvl6pPr marL="457200" algn="ctr" rtl="0" fontAlgn="base">
        <a:spcBef>
          <a:spcPct val="0"/>
        </a:spcBef>
        <a:spcAft>
          <a:spcPct val="0"/>
        </a:spcAft>
        <a:defRPr sz="4400">
          <a:solidFill>
            <a:schemeClr val="tx1"/>
          </a:solidFill>
          <a:latin typeface="Calibri" charset="0"/>
          <a:ea typeface="ＭＳ Ｐゴシック" charset="0"/>
          <a:cs typeface="ＭＳ Ｐゴシック" charset="0"/>
        </a:defRPr>
      </a:lvl6pPr>
      <a:lvl7pPr marL="914400" algn="ctr" rtl="0" fontAlgn="base">
        <a:spcBef>
          <a:spcPct val="0"/>
        </a:spcBef>
        <a:spcAft>
          <a:spcPct val="0"/>
        </a:spcAft>
        <a:defRPr sz="4400">
          <a:solidFill>
            <a:schemeClr val="tx1"/>
          </a:solidFill>
          <a:latin typeface="Calibri" charset="0"/>
          <a:ea typeface="ＭＳ Ｐゴシック" charset="0"/>
          <a:cs typeface="ＭＳ Ｐゴシック" charset="0"/>
        </a:defRPr>
      </a:lvl7pPr>
      <a:lvl8pPr marL="1371600" algn="ctr" rtl="0" fontAlgn="base">
        <a:spcBef>
          <a:spcPct val="0"/>
        </a:spcBef>
        <a:spcAft>
          <a:spcPct val="0"/>
        </a:spcAft>
        <a:defRPr sz="4400">
          <a:solidFill>
            <a:schemeClr val="tx1"/>
          </a:solidFill>
          <a:latin typeface="Calibri" charset="0"/>
          <a:ea typeface="ＭＳ Ｐゴシック" charset="0"/>
          <a:cs typeface="ＭＳ Ｐゴシック" charset="0"/>
        </a:defRPr>
      </a:lvl8pPr>
      <a:lvl9pPr marL="1828800" algn="ctr" rtl="0" fontAlgn="base">
        <a:spcBef>
          <a:spcPct val="0"/>
        </a:spcBef>
        <a:spcAft>
          <a:spcPct val="0"/>
        </a:spcAft>
        <a:defRPr sz="4400">
          <a:solidFill>
            <a:schemeClr val="tx1"/>
          </a:solidFill>
          <a:latin typeface="Calibri" charset="0"/>
          <a:ea typeface="ＭＳ Ｐゴシック" charset="0"/>
          <a:cs typeface="ＭＳ Ｐゴシック"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S PGothic" pitchFamily="34" charset="-128"/>
          <a:cs typeface="MS PGothic" pitchFamily="34" charset="-128"/>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S PGothic" pitchFamily="34" charset="-128"/>
          <a:cs typeface="MS PGothic" charset="0"/>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S PGothic" pitchFamily="34" charset="-128"/>
          <a:cs typeface="MS PGothic" charset="0"/>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S PGothic" pitchFamily="34" charset="-128"/>
          <a:cs typeface="MS PGothic" charset="0"/>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S PGothic" pitchFamily="34" charset="-128"/>
          <a:cs typeface="MS PGothic"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image" Target="../media/image4.jpeg"/></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3"/>
          <p:cNvSpPr>
            <a:spLocks noChangeArrowheads="1"/>
          </p:cNvSpPr>
          <p:nvPr/>
        </p:nvSpPr>
        <p:spPr bwMode="auto">
          <a:xfrm>
            <a:off x="0" y="0"/>
            <a:ext cx="9144000" cy="6248400"/>
          </a:xfrm>
          <a:prstGeom prst="rect">
            <a:avLst/>
          </a:prstGeom>
          <a:solidFill>
            <a:srgbClr val="003366"/>
          </a:solidFill>
          <a:ln w="9525">
            <a:noFill/>
            <a:miter lim="800000"/>
            <a:headEnd/>
            <a:tailEnd/>
          </a:ln>
        </p:spPr>
        <p:txBody>
          <a:bodyPr wrap="none" anchor="ctr"/>
          <a:lstStyle/>
          <a:p>
            <a:endParaRPr lang="en-US"/>
          </a:p>
        </p:txBody>
      </p:sp>
      <p:pic>
        <p:nvPicPr>
          <p:cNvPr id="2051" name="Picture 1027" descr="One Minnesota_1.jpg                                            002BBD84Macintosh HD                   7C2623F4:"/>
          <p:cNvPicPr>
            <a:picLocks noChangeAspect="1" noChangeArrowheads="1"/>
          </p:cNvPicPr>
          <p:nvPr/>
        </p:nvPicPr>
        <p:blipFill>
          <a:blip r:embed="rId2" cstate="print"/>
          <a:srcRect/>
          <a:stretch>
            <a:fillRect/>
          </a:stretch>
        </p:blipFill>
        <p:spPr bwMode="auto">
          <a:xfrm>
            <a:off x="0" y="901700"/>
            <a:ext cx="9144000" cy="5448300"/>
          </a:xfrm>
          <a:prstGeom prst="rect">
            <a:avLst/>
          </a:prstGeom>
          <a:noFill/>
          <a:ln w="9525">
            <a:noFill/>
            <a:miter lim="800000"/>
            <a:headEnd/>
            <a:tailEnd/>
          </a:ln>
        </p:spPr>
      </p:pic>
      <p:sp>
        <p:nvSpPr>
          <p:cNvPr id="2052" name="Rectangle 4"/>
          <p:cNvSpPr>
            <a:spLocks noChangeArrowheads="1"/>
          </p:cNvSpPr>
          <p:nvPr/>
        </p:nvSpPr>
        <p:spPr bwMode="auto">
          <a:xfrm>
            <a:off x="0" y="4851400"/>
            <a:ext cx="9144000" cy="2159000"/>
          </a:xfrm>
          <a:prstGeom prst="rect">
            <a:avLst/>
          </a:prstGeom>
          <a:solidFill>
            <a:srgbClr val="819BB8"/>
          </a:solidFill>
          <a:ln w="9525">
            <a:noFill/>
            <a:miter lim="800000"/>
            <a:headEnd/>
            <a:tailEnd/>
          </a:ln>
        </p:spPr>
        <p:txBody>
          <a:bodyPr wrap="none" anchor="ctr"/>
          <a:lstStyle/>
          <a:p>
            <a:pPr algn="ctr"/>
            <a:endParaRPr lang="en-US">
              <a:solidFill>
                <a:srgbClr val="819BB8"/>
              </a:solidFill>
            </a:endParaRPr>
          </a:p>
        </p:txBody>
      </p:sp>
      <p:sp>
        <p:nvSpPr>
          <p:cNvPr id="2053" name="Line 6"/>
          <p:cNvSpPr>
            <a:spLocks noChangeShapeType="1"/>
          </p:cNvSpPr>
          <p:nvPr/>
        </p:nvSpPr>
        <p:spPr bwMode="auto">
          <a:xfrm>
            <a:off x="0" y="990600"/>
            <a:ext cx="9144000" cy="0"/>
          </a:xfrm>
          <a:prstGeom prst="line">
            <a:avLst/>
          </a:prstGeom>
          <a:noFill/>
          <a:ln w="9525">
            <a:solidFill>
              <a:srgbClr val="CC0000"/>
            </a:solidFill>
            <a:round/>
            <a:headEnd/>
            <a:tailEnd/>
          </a:ln>
        </p:spPr>
        <p:txBody>
          <a:bodyPr wrap="none" anchor="ctr"/>
          <a:lstStyle/>
          <a:p>
            <a:endParaRPr lang="en-US"/>
          </a:p>
        </p:txBody>
      </p:sp>
      <p:sp>
        <p:nvSpPr>
          <p:cNvPr id="2054" name="Line 7"/>
          <p:cNvSpPr>
            <a:spLocks noChangeShapeType="1"/>
          </p:cNvSpPr>
          <p:nvPr/>
        </p:nvSpPr>
        <p:spPr bwMode="auto">
          <a:xfrm>
            <a:off x="0" y="6248400"/>
            <a:ext cx="9144000" cy="0"/>
          </a:xfrm>
          <a:prstGeom prst="line">
            <a:avLst/>
          </a:prstGeom>
          <a:noFill/>
          <a:ln w="9525">
            <a:solidFill>
              <a:srgbClr val="CC0000"/>
            </a:solidFill>
            <a:round/>
            <a:headEnd/>
            <a:tailEnd/>
          </a:ln>
        </p:spPr>
        <p:txBody>
          <a:bodyPr wrap="none" anchor="ctr"/>
          <a:lstStyle/>
          <a:p>
            <a:endParaRPr lang="en-US"/>
          </a:p>
        </p:txBody>
      </p:sp>
      <p:sp>
        <p:nvSpPr>
          <p:cNvPr id="2055" name="Title 1"/>
          <p:cNvSpPr>
            <a:spLocks noGrp="1"/>
          </p:cNvSpPr>
          <p:nvPr>
            <p:ph type="ctrTitle" idx="4294967295"/>
          </p:nvPr>
        </p:nvSpPr>
        <p:spPr>
          <a:xfrm>
            <a:off x="292100" y="4800600"/>
            <a:ext cx="8763000" cy="1447800"/>
          </a:xfrm>
        </p:spPr>
        <p:txBody>
          <a:bodyPr/>
          <a:lstStyle/>
          <a:p>
            <a:pPr algn="l" eaLnBrk="1" hangingPunct="1"/>
            <a:r>
              <a:rPr lang="en-US" sz="3200" b="1" smtClean="0">
                <a:solidFill>
                  <a:schemeClr val="bg1"/>
                </a:solidFill>
              </a:rPr>
              <a:t>Perspectives on Growth:</a:t>
            </a:r>
            <a:br>
              <a:rPr lang="en-US" sz="3200" b="1" smtClean="0">
                <a:solidFill>
                  <a:schemeClr val="bg1"/>
                </a:solidFill>
              </a:rPr>
            </a:br>
            <a:r>
              <a:rPr lang="en-US" sz="3200" b="1" smtClean="0">
                <a:solidFill>
                  <a:schemeClr val="bg1"/>
                </a:solidFill>
              </a:rPr>
              <a:t>What we can learn from agricultural innovators</a:t>
            </a:r>
            <a:endParaRPr lang="en-US" sz="3200" b="1"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3"/>
          <p:cNvSpPr>
            <a:spLocks noChangeArrowheads="1"/>
          </p:cNvSpPr>
          <p:nvPr/>
        </p:nvSpPr>
        <p:spPr bwMode="auto">
          <a:xfrm>
            <a:off x="0" y="0"/>
            <a:ext cx="9144000" cy="6248400"/>
          </a:xfrm>
          <a:prstGeom prst="rect">
            <a:avLst/>
          </a:prstGeom>
          <a:solidFill>
            <a:srgbClr val="003366"/>
          </a:solidFill>
          <a:ln w="9525">
            <a:noFill/>
            <a:miter lim="800000"/>
            <a:headEnd/>
            <a:tailEnd/>
          </a:ln>
        </p:spPr>
        <p:txBody>
          <a:bodyPr wrap="none" anchor="ctr"/>
          <a:lstStyle/>
          <a:p>
            <a:endParaRPr lang="en-US"/>
          </a:p>
        </p:txBody>
      </p:sp>
      <p:sp>
        <p:nvSpPr>
          <p:cNvPr id="3075" name="Rectangle 4"/>
          <p:cNvSpPr>
            <a:spLocks noChangeArrowheads="1"/>
          </p:cNvSpPr>
          <p:nvPr/>
        </p:nvSpPr>
        <p:spPr bwMode="auto">
          <a:xfrm>
            <a:off x="0" y="6248400"/>
            <a:ext cx="9144000" cy="609600"/>
          </a:xfrm>
          <a:prstGeom prst="rect">
            <a:avLst/>
          </a:prstGeom>
          <a:solidFill>
            <a:srgbClr val="819BB8"/>
          </a:solidFill>
          <a:ln w="9525">
            <a:noFill/>
            <a:miter lim="800000"/>
            <a:headEnd/>
            <a:tailEnd/>
          </a:ln>
        </p:spPr>
        <p:txBody>
          <a:bodyPr wrap="none" anchor="ctr"/>
          <a:lstStyle/>
          <a:p>
            <a:endParaRPr lang="en-US"/>
          </a:p>
        </p:txBody>
      </p:sp>
      <p:sp>
        <p:nvSpPr>
          <p:cNvPr id="3076" name="Rectangle 5"/>
          <p:cNvSpPr>
            <a:spLocks noChangeArrowheads="1"/>
          </p:cNvSpPr>
          <p:nvPr/>
        </p:nvSpPr>
        <p:spPr bwMode="auto">
          <a:xfrm>
            <a:off x="457200" y="1143000"/>
            <a:ext cx="8686800" cy="5181600"/>
          </a:xfrm>
          <a:prstGeom prst="rect">
            <a:avLst/>
          </a:prstGeom>
          <a:solidFill>
            <a:schemeClr val="bg1"/>
          </a:solidFill>
          <a:ln w="9525">
            <a:noFill/>
            <a:miter lim="800000"/>
            <a:headEnd/>
            <a:tailEnd/>
          </a:ln>
        </p:spPr>
        <p:txBody>
          <a:bodyPr wrap="none" anchor="ctr"/>
          <a:lstStyle/>
          <a:p>
            <a:endParaRPr lang="en-US"/>
          </a:p>
        </p:txBody>
      </p:sp>
      <p:sp>
        <p:nvSpPr>
          <p:cNvPr id="3077" name="Line 6"/>
          <p:cNvSpPr>
            <a:spLocks noChangeShapeType="1"/>
          </p:cNvSpPr>
          <p:nvPr/>
        </p:nvSpPr>
        <p:spPr bwMode="auto">
          <a:xfrm>
            <a:off x="0" y="1219200"/>
            <a:ext cx="9144000" cy="0"/>
          </a:xfrm>
          <a:prstGeom prst="line">
            <a:avLst/>
          </a:prstGeom>
          <a:noFill/>
          <a:ln w="9525">
            <a:solidFill>
              <a:srgbClr val="CC0000"/>
            </a:solidFill>
            <a:round/>
            <a:headEnd/>
            <a:tailEnd/>
          </a:ln>
        </p:spPr>
        <p:txBody>
          <a:bodyPr wrap="none" anchor="ctr"/>
          <a:lstStyle/>
          <a:p>
            <a:endParaRPr lang="en-US"/>
          </a:p>
        </p:txBody>
      </p:sp>
      <p:sp>
        <p:nvSpPr>
          <p:cNvPr id="3078" name="Title 1"/>
          <p:cNvSpPr>
            <a:spLocks noGrp="1"/>
          </p:cNvSpPr>
          <p:nvPr>
            <p:ph type="title"/>
          </p:nvPr>
        </p:nvSpPr>
        <p:spPr>
          <a:xfrm>
            <a:off x="457200" y="274638"/>
            <a:ext cx="8229600" cy="944562"/>
          </a:xfrm>
        </p:spPr>
        <p:txBody>
          <a:bodyPr/>
          <a:lstStyle/>
          <a:p>
            <a:pPr eaLnBrk="1" hangingPunct="1"/>
            <a:r>
              <a:rPr lang="en-US" sz="2800" b="1" smtClean="0">
                <a:solidFill>
                  <a:schemeClr val="bg1"/>
                </a:solidFill>
              </a:rPr>
              <a:t>Who We Are</a:t>
            </a:r>
          </a:p>
        </p:txBody>
      </p:sp>
      <p:sp>
        <p:nvSpPr>
          <p:cNvPr id="3079" name="Line 8"/>
          <p:cNvSpPr>
            <a:spLocks noChangeShapeType="1"/>
          </p:cNvSpPr>
          <p:nvPr/>
        </p:nvSpPr>
        <p:spPr bwMode="auto">
          <a:xfrm>
            <a:off x="0" y="6248400"/>
            <a:ext cx="9144000" cy="0"/>
          </a:xfrm>
          <a:prstGeom prst="line">
            <a:avLst/>
          </a:prstGeom>
          <a:noFill/>
          <a:ln w="9525">
            <a:solidFill>
              <a:srgbClr val="CC0000"/>
            </a:solidFill>
            <a:round/>
            <a:headEnd/>
            <a:tailEnd/>
          </a:ln>
        </p:spPr>
        <p:txBody>
          <a:bodyPr wrap="none" anchor="ctr"/>
          <a:lstStyle/>
          <a:p>
            <a:endParaRPr lang="en-US"/>
          </a:p>
        </p:txBody>
      </p:sp>
      <p:pic>
        <p:nvPicPr>
          <p:cNvPr id="3080" name="Picture 9" descr="AURI_rgb_Logo.jpg                                              002BBBDCMacintosh HD                   7C2623F4:"/>
          <p:cNvPicPr>
            <a:picLocks noChangeAspect="1" noChangeArrowheads="1"/>
          </p:cNvPicPr>
          <p:nvPr/>
        </p:nvPicPr>
        <p:blipFill>
          <a:blip r:embed="rId3" cstate="print"/>
          <a:srcRect/>
          <a:stretch>
            <a:fillRect/>
          </a:stretch>
        </p:blipFill>
        <p:spPr bwMode="auto">
          <a:xfrm>
            <a:off x="7467600" y="5410200"/>
            <a:ext cx="1381125" cy="717550"/>
          </a:xfrm>
          <a:prstGeom prst="rect">
            <a:avLst/>
          </a:prstGeom>
          <a:noFill/>
          <a:ln w="9525">
            <a:noFill/>
            <a:miter lim="800000"/>
            <a:headEnd/>
            <a:tailEnd/>
          </a:ln>
        </p:spPr>
      </p:pic>
      <p:sp>
        <p:nvSpPr>
          <p:cNvPr id="3081" name="Content Placeholder 2"/>
          <p:cNvSpPr>
            <a:spLocks/>
          </p:cNvSpPr>
          <p:nvPr/>
        </p:nvSpPr>
        <p:spPr bwMode="auto">
          <a:xfrm>
            <a:off x="914400" y="1524000"/>
            <a:ext cx="8229600" cy="5334000"/>
          </a:xfrm>
          <a:prstGeom prst="rect">
            <a:avLst/>
          </a:prstGeom>
          <a:noFill/>
          <a:ln w="9525">
            <a:noFill/>
            <a:miter lim="800000"/>
            <a:headEnd/>
            <a:tailEnd/>
          </a:ln>
        </p:spPr>
        <p:txBody>
          <a:bodyPr/>
          <a:lstStyle/>
          <a:p>
            <a:pPr>
              <a:spcAft>
                <a:spcPct val="50000"/>
              </a:spcAft>
            </a:pPr>
            <a:r>
              <a:rPr lang="en-US" sz="1900"/>
              <a:t>20+ years experience supporting small and mid- sized businesses </a:t>
            </a:r>
            <a:br>
              <a:rPr lang="en-US" sz="1900"/>
            </a:br>
            <a:r>
              <a:rPr lang="en-US" sz="1900"/>
              <a:t>  in moving research and technology to commercialization</a:t>
            </a:r>
          </a:p>
          <a:p>
            <a:pPr>
              <a:spcAft>
                <a:spcPct val="50000"/>
              </a:spcAft>
            </a:pPr>
            <a:endParaRPr lang="en-US" sz="1900"/>
          </a:p>
          <a:p>
            <a:pPr>
              <a:spcAft>
                <a:spcPct val="50000"/>
              </a:spcAft>
            </a:pPr>
            <a:r>
              <a:rPr lang="en-US" sz="1900"/>
              <a:t>Our expertise is in adding value to agricultural commodities:</a:t>
            </a:r>
          </a:p>
          <a:p>
            <a:pPr lvl="1">
              <a:spcAft>
                <a:spcPct val="50000"/>
              </a:spcAft>
              <a:buFont typeface="Arial" charset="0"/>
              <a:buChar char="•"/>
            </a:pPr>
            <a:r>
              <a:rPr lang="en-US" sz="1900"/>
              <a:t> Food </a:t>
            </a:r>
          </a:p>
          <a:p>
            <a:pPr lvl="1">
              <a:spcAft>
                <a:spcPct val="50000"/>
              </a:spcAft>
              <a:buFont typeface="Arial" charset="0"/>
              <a:buChar char="•"/>
            </a:pPr>
            <a:r>
              <a:rPr lang="en-US" sz="1900"/>
              <a:t> Biobased Products</a:t>
            </a:r>
          </a:p>
          <a:p>
            <a:pPr lvl="1">
              <a:spcAft>
                <a:spcPct val="50000"/>
              </a:spcAft>
              <a:buFont typeface="Arial" charset="0"/>
              <a:buChar char="•"/>
            </a:pPr>
            <a:r>
              <a:rPr lang="en-US" sz="1900"/>
              <a:t> Renewable Energy</a:t>
            </a:r>
          </a:p>
          <a:p>
            <a:pPr lvl="1">
              <a:spcAft>
                <a:spcPct val="50000"/>
              </a:spcAft>
              <a:buFont typeface="Arial" charset="0"/>
              <a:buChar char="•"/>
            </a:pPr>
            <a:r>
              <a:rPr lang="en-US" sz="1900"/>
              <a:t> Coproduct Utilization</a:t>
            </a:r>
          </a:p>
          <a:p>
            <a:pPr algn="ctr">
              <a:spcAft>
                <a:spcPct val="50000"/>
              </a:spcAft>
            </a:pPr>
            <a:r>
              <a:rPr lang="en-US" sz="1900" b="1"/>
              <a:t>	</a:t>
            </a:r>
            <a:endParaRPr lang="en-US" sz="190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
          <p:cNvSpPr>
            <a:spLocks noChangeArrowheads="1"/>
          </p:cNvSpPr>
          <p:nvPr/>
        </p:nvSpPr>
        <p:spPr bwMode="auto">
          <a:xfrm>
            <a:off x="0" y="0"/>
            <a:ext cx="9144000" cy="6248400"/>
          </a:xfrm>
          <a:prstGeom prst="rect">
            <a:avLst/>
          </a:prstGeom>
          <a:solidFill>
            <a:srgbClr val="003366"/>
          </a:solidFill>
          <a:ln w="9525">
            <a:noFill/>
            <a:miter lim="800000"/>
            <a:headEnd/>
            <a:tailEnd/>
          </a:ln>
        </p:spPr>
        <p:txBody>
          <a:bodyPr wrap="none" anchor="ctr"/>
          <a:lstStyle/>
          <a:p>
            <a:endParaRPr lang="en-US"/>
          </a:p>
        </p:txBody>
      </p:sp>
      <p:sp>
        <p:nvSpPr>
          <p:cNvPr id="4099" name="Rectangle 4"/>
          <p:cNvSpPr>
            <a:spLocks noChangeArrowheads="1"/>
          </p:cNvSpPr>
          <p:nvPr/>
        </p:nvSpPr>
        <p:spPr bwMode="auto">
          <a:xfrm>
            <a:off x="0" y="6248400"/>
            <a:ext cx="9144000" cy="609600"/>
          </a:xfrm>
          <a:prstGeom prst="rect">
            <a:avLst/>
          </a:prstGeom>
          <a:solidFill>
            <a:srgbClr val="819BB8"/>
          </a:solidFill>
          <a:ln w="9525">
            <a:noFill/>
            <a:miter lim="800000"/>
            <a:headEnd/>
            <a:tailEnd/>
          </a:ln>
        </p:spPr>
        <p:txBody>
          <a:bodyPr wrap="none" anchor="ctr"/>
          <a:lstStyle/>
          <a:p>
            <a:endParaRPr lang="en-US"/>
          </a:p>
        </p:txBody>
      </p:sp>
      <p:sp>
        <p:nvSpPr>
          <p:cNvPr id="4100" name="Rectangle 5"/>
          <p:cNvSpPr>
            <a:spLocks noChangeArrowheads="1"/>
          </p:cNvSpPr>
          <p:nvPr/>
        </p:nvSpPr>
        <p:spPr bwMode="auto">
          <a:xfrm>
            <a:off x="457200" y="1143000"/>
            <a:ext cx="8686800" cy="5181600"/>
          </a:xfrm>
          <a:prstGeom prst="rect">
            <a:avLst/>
          </a:prstGeom>
          <a:solidFill>
            <a:schemeClr val="bg1"/>
          </a:solidFill>
          <a:ln w="9525">
            <a:noFill/>
            <a:miter lim="800000"/>
            <a:headEnd/>
            <a:tailEnd/>
          </a:ln>
        </p:spPr>
        <p:txBody>
          <a:bodyPr wrap="none" anchor="ctr"/>
          <a:lstStyle/>
          <a:p>
            <a:endParaRPr lang="en-US"/>
          </a:p>
        </p:txBody>
      </p:sp>
      <p:sp>
        <p:nvSpPr>
          <p:cNvPr id="4101" name="Line 6"/>
          <p:cNvSpPr>
            <a:spLocks noChangeShapeType="1"/>
          </p:cNvSpPr>
          <p:nvPr/>
        </p:nvSpPr>
        <p:spPr bwMode="auto">
          <a:xfrm>
            <a:off x="0" y="1219200"/>
            <a:ext cx="9144000" cy="0"/>
          </a:xfrm>
          <a:prstGeom prst="line">
            <a:avLst/>
          </a:prstGeom>
          <a:noFill/>
          <a:ln w="9525">
            <a:solidFill>
              <a:srgbClr val="CC0000"/>
            </a:solidFill>
            <a:round/>
            <a:headEnd/>
            <a:tailEnd/>
          </a:ln>
        </p:spPr>
        <p:txBody>
          <a:bodyPr wrap="none" anchor="ctr"/>
          <a:lstStyle/>
          <a:p>
            <a:endParaRPr lang="en-US"/>
          </a:p>
        </p:txBody>
      </p:sp>
      <p:sp>
        <p:nvSpPr>
          <p:cNvPr id="4102" name="Title 1"/>
          <p:cNvSpPr>
            <a:spLocks noGrp="1"/>
          </p:cNvSpPr>
          <p:nvPr>
            <p:ph type="title"/>
          </p:nvPr>
        </p:nvSpPr>
        <p:spPr>
          <a:xfrm>
            <a:off x="457200" y="274638"/>
            <a:ext cx="8229600" cy="944562"/>
          </a:xfrm>
        </p:spPr>
        <p:txBody>
          <a:bodyPr/>
          <a:lstStyle/>
          <a:p>
            <a:pPr eaLnBrk="1" hangingPunct="1"/>
            <a:r>
              <a:rPr lang="en-US" sz="2800" b="1" smtClean="0">
                <a:solidFill>
                  <a:schemeClr val="bg1"/>
                </a:solidFill>
              </a:rPr>
              <a:t>Outcomes</a:t>
            </a:r>
          </a:p>
        </p:txBody>
      </p:sp>
      <p:sp>
        <p:nvSpPr>
          <p:cNvPr id="4103" name="Line 8"/>
          <p:cNvSpPr>
            <a:spLocks noChangeShapeType="1"/>
          </p:cNvSpPr>
          <p:nvPr/>
        </p:nvSpPr>
        <p:spPr bwMode="auto">
          <a:xfrm>
            <a:off x="0" y="6248400"/>
            <a:ext cx="9144000" cy="0"/>
          </a:xfrm>
          <a:prstGeom prst="line">
            <a:avLst/>
          </a:prstGeom>
          <a:noFill/>
          <a:ln w="9525">
            <a:solidFill>
              <a:srgbClr val="CC0000"/>
            </a:solidFill>
            <a:round/>
            <a:headEnd/>
            <a:tailEnd/>
          </a:ln>
        </p:spPr>
        <p:txBody>
          <a:bodyPr wrap="none" anchor="ctr"/>
          <a:lstStyle/>
          <a:p>
            <a:endParaRPr lang="en-US"/>
          </a:p>
        </p:txBody>
      </p:sp>
      <p:pic>
        <p:nvPicPr>
          <p:cNvPr id="4104" name="Picture 9" descr="AURI_rgb_Logo.jpg                                              002BBBDCMacintosh HD                   7C2623F4:"/>
          <p:cNvPicPr>
            <a:picLocks noChangeAspect="1" noChangeArrowheads="1"/>
          </p:cNvPicPr>
          <p:nvPr/>
        </p:nvPicPr>
        <p:blipFill>
          <a:blip r:embed="rId3" cstate="print"/>
          <a:srcRect/>
          <a:stretch>
            <a:fillRect/>
          </a:stretch>
        </p:blipFill>
        <p:spPr bwMode="auto">
          <a:xfrm>
            <a:off x="7467600" y="5410200"/>
            <a:ext cx="1381125" cy="717550"/>
          </a:xfrm>
          <a:prstGeom prst="rect">
            <a:avLst/>
          </a:prstGeom>
          <a:noFill/>
          <a:ln w="9525">
            <a:noFill/>
            <a:miter lim="800000"/>
            <a:headEnd/>
            <a:tailEnd/>
          </a:ln>
        </p:spPr>
      </p:pic>
      <p:sp>
        <p:nvSpPr>
          <p:cNvPr id="4105" name="Content Placeholder 2"/>
          <p:cNvSpPr>
            <a:spLocks/>
          </p:cNvSpPr>
          <p:nvPr/>
        </p:nvSpPr>
        <p:spPr bwMode="auto">
          <a:xfrm>
            <a:off x="762000" y="1524000"/>
            <a:ext cx="8229600" cy="3429000"/>
          </a:xfrm>
          <a:prstGeom prst="rect">
            <a:avLst/>
          </a:prstGeom>
          <a:noFill/>
          <a:ln w="9525">
            <a:noFill/>
            <a:miter lim="800000"/>
            <a:headEnd/>
            <a:tailEnd/>
          </a:ln>
        </p:spPr>
        <p:txBody>
          <a:bodyPr/>
          <a:lstStyle/>
          <a:p>
            <a:pPr>
              <a:spcAft>
                <a:spcPct val="50000"/>
              </a:spcAft>
              <a:buFont typeface="Arial" charset="0"/>
              <a:buNone/>
            </a:pPr>
            <a:endParaRPr lang="en-US" sz="1900"/>
          </a:p>
          <a:p>
            <a:pPr>
              <a:spcAft>
                <a:spcPct val="50000"/>
              </a:spcAft>
              <a:buFont typeface="Arial" charset="0"/>
              <a:buNone/>
            </a:pPr>
            <a:r>
              <a:rPr lang="en-US" sz="1900" b="1"/>
              <a:t>In the last two years alone, AURI has:</a:t>
            </a:r>
          </a:p>
          <a:p>
            <a:pPr>
              <a:spcAft>
                <a:spcPct val="50000"/>
              </a:spcAft>
            </a:pPr>
            <a:r>
              <a:rPr lang="en-US" sz="1900"/>
              <a:t>Assisted in the development of more than </a:t>
            </a:r>
            <a:r>
              <a:rPr lang="en-US" sz="1900" b="1" i="1"/>
              <a:t>325 unique projects </a:t>
            </a:r>
            <a:br>
              <a:rPr lang="en-US" sz="1900" b="1" i="1"/>
            </a:br>
            <a:r>
              <a:rPr lang="en-US" sz="1900" b="1" i="1"/>
              <a:t>and initiatives</a:t>
            </a:r>
            <a:endParaRPr lang="en-US" sz="1900" i="1"/>
          </a:p>
          <a:p>
            <a:pPr>
              <a:spcAft>
                <a:spcPct val="50000"/>
              </a:spcAft>
            </a:pPr>
            <a:r>
              <a:rPr lang="en-US" sz="1900"/>
              <a:t>Brought </a:t>
            </a:r>
            <a:r>
              <a:rPr lang="en-US" sz="1900" b="1" i="1"/>
              <a:t>143 new or improved ag-based products to market</a:t>
            </a:r>
            <a:r>
              <a:rPr lang="en-US" sz="1900"/>
              <a:t> </a:t>
            </a:r>
          </a:p>
          <a:p>
            <a:pPr>
              <a:spcAft>
                <a:spcPct val="50000"/>
              </a:spcAft>
            </a:pPr>
            <a:r>
              <a:rPr lang="en-US" sz="1900"/>
              <a:t>Helped bring more than </a:t>
            </a:r>
            <a:r>
              <a:rPr lang="en-US" sz="1900" b="1" i="1"/>
              <a:t>$123 million in capital investment </a:t>
            </a:r>
            <a:r>
              <a:rPr lang="en-US" sz="1900"/>
              <a:t>to Minnesota</a:t>
            </a:r>
          </a:p>
          <a:p>
            <a:pPr>
              <a:spcAft>
                <a:spcPct val="50000"/>
              </a:spcAft>
            </a:pPr>
            <a:endParaRPr lang="en-US" sz="1900">
              <a:solidFill>
                <a:srgbClr val="FF0000"/>
              </a:solidFill>
            </a:endParaRPr>
          </a:p>
          <a:p>
            <a:pPr>
              <a:spcAft>
                <a:spcPct val="50000"/>
              </a:spcAft>
              <a:buFont typeface="Arial" charset="0"/>
              <a:buChar char="•"/>
            </a:pPr>
            <a:endParaRPr lang="en-US" sz="1900">
              <a:solidFill>
                <a:srgbClr val="FF0000"/>
              </a:solidFill>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4"/>
          <p:cNvSpPr>
            <a:spLocks noChangeArrowheads="1"/>
          </p:cNvSpPr>
          <p:nvPr/>
        </p:nvSpPr>
        <p:spPr bwMode="auto">
          <a:xfrm>
            <a:off x="0" y="0"/>
            <a:ext cx="9144000" cy="6248400"/>
          </a:xfrm>
          <a:prstGeom prst="rect">
            <a:avLst/>
          </a:prstGeom>
          <a:solidFill>
            <a:srgbClr val="003366"/>
          </a:solidFill>
          <a:ln w="9525">
            <a:noFill/>
            <a:miter lim="800000"/>
            <a:headEnd/>
            <a:tailEnd/>
          </a:ln>
        </p:spPr>
        <p:txBody>
          <a:bodyPr wrap="none" anchor="ctr"/>
          <a:lstStyle/>
          <a:p>
            <a:endParaRPr lang="en-US"/>
          </a:p>
        </p:txBody>
      </p:sp>
      <p:sp>
        <p:nvSpPr>
          <p:cNvPr id="5123" name="Rectangle 5"/>
          <p:cNvSpPr>
            <a:spLocks noChangeArrowheads="1"/>
          </p:cNvSpPr>
          <p:nvPr/>
        </p:nvSpPr>
        <p:spPr bwMode="auto">
          <a:xfrm>
            <a:off x="0" y="6248400"/>
            <a:ext cx="9144000" cy="609600"/>
          </a:xfrm>
          <a:prstGeom prst="rect">
            <a:avLst/>
          </a:prstGeom>
          <a:solidFill>
            <a:srgbClr val="819BB8"/>
          </a:solidFill>
          <a:ln w="9525">
            <a:noFill/>
            <a:miter lim="800000"/>
            <a:headEnd/>
            <a:tailEnd/>
          </a:ln>
        </p:spPr>
        <p:txBody>
          <a:bodyPr wrap="none" anchor="ctr"/>
          <a:lstStyle/>
          <a:p>
            <a:endParaRPr lang="en-US"/>
          </a:p>
        </p:txBody>
      </p:sp>
      <p:sp>
        <p:nvSpPr>
          <p:cNvPr id="5124" name="Rectangle 5"/>
          <p:cNvSpPr>
            <a:spLocks noChangeArrowheads="1"/>
          </p:cNvSpPr>
          <p:nvPr/>
        </p:nvSpPr>
        <p:spPr bwMode="auto">
          <a:xfrm>
            <a:off x="457200" y="1143000"/>
            <a:ext cx="8686800" cy="5181600"/>
          </a:xfrm>
          <a:prstGeom prst="rect">
            <a:avLst/>
          </a:prstGeom>
          <a:solidFill>
            <a:schemeClr val="bg1"/>
          </a:solidFill>
          <a:ln w="9525">
            <a:noFill/>
            <a:miter lim="800000"/>
            <a:headEnd/>
            <a:tailEnd/>
          </a:ln>
        </p:spPr>
        <p:txBody>
          <a:bodyPr wrap="none" anchor="ctr"/>
          <a:lstStyle/>
          <a:p>
            <a:endParaRPr lang="en-US"/>
          </a:p>
        </p:txBody>
      </p:sp>
      <p:sp>
        <p:nvSpPr>
          <p:cNvPr id="5125" name="Line 7"/>
          <p:cNvSpPr>
            <a:spLocks noChangeShapeType="1"/>
          </p:cNvSpPr>
          <p:nvPr/>
        </p:nvSpPr>
        <p:spPr bwMode="auto">
          <a:xfrm>
            <a:off x="0" y="1219200"/>
            <a:ext cx="9144000" cy="0"/>
          </a:xfrm>
          <a:prstGeom prst="line">
            <a:avLst/>
          </a:prstGeom>
          <a:noFill/>
          <a:ln w="9525">
            <a:solidFill>
              <a:srgbClr val="CC0000"/>
            </a:solidFill>
            <a:round/>
            <a:headEnd/>
            <a:tailEnd/>
          </a:ln>
        </p:spPr>
        <p:txBody>
          <a:bodyPr wrap="none" anchor="ctr"/>
          <a:lstStyle/>
          <a:p>
            <a:endParaRPr lang="en-US"/>
          </a:p>
        </p:txBody>
      </p:sp>
      <p:sp>
        <p:nvSpPr>
          <p:cNvPr id="5126" name="Title 1"/>
          <p:cNvSpPr>
            <a:spLocks/>
          </p:cNvSpPr>
          <p:nvPr/>
        </p:nvSpPr>
        <p:spPr bwMode="auto">
          <a:xfrm>
            <a:off x="457200" y="274638"/>
            <a:ext cx="8229600" cy="944562"/>
          </a:xfrm>
          <a:prstGeom prst="rect">
            <a:avLst/>
          </a:prstGeom>
          <a:noFill/>
          <a:ln w="9525">
            <a:noFill/>
            <a:miter lim="800000"/>
            <a:headEnd/>
            <a:tailEnd/>
          </a:ln>
        </p:spPr>
        <p:txBody>
          <a:bodyPr anchor="ctr"/>
          <a:lstStyle/>
          <a:p>
            <a:pPr algn="ctr"/>
            <a:r>
              <a:rPr lang="en-US" sz="2800" b="1">
                <a:solidFill>
                  <a:schemeClr val="bg1"/>
                </a:solidFill>
              </a:rPr>
              <a:t>The Journey is as Important as the Destination</a:t>
            </a:r>
          </a:p>
        </p:txBody>
      </p:sp>
      <p:sp>
        <p:nvSpPr>
          <p:cNvPr id="5127" name="Line 11"/>
          <p:cNvSpPr>
            <a:spLocks noChangeShapeType="1"/>
          </p:cNvSpPr>
          <p:nvPr/>
        </p:nvSpPr>
        <p:spPr bwMode="auto">
          <a:xfrm>
            <a:off x="0" y="6248400"/>
            <a:ext cx="9144000" cy="0"/>
          </a:xfrm>
          <a:prstGeom prst="line">
            <a:avLst/>
          </a:prstGeom>
          <a:noFill/>
          <a:ln w="9525">
            <a:solidFill>
              <a:srgbClr val="CC0000"/>
            </a:solidFill>
            <a:round/>
            <a:headEnd/>
            <a:tailEnd/>
          </a:ln>
        </p:spPr>
        <p:txBody>
          <a:bodyPr wrap="none" anchor="ctr"/>
          <a:lstStyle/>
          <a:p>
            <a:endParaRPr lang="en-US"/>
          </a:p>
        </p:txBody>
      </p:sp>
      <p:pic>
        <p:nvPicPr>
          <p:cNvPr id="5128" name="Picture 13" descr="AURI_rgb_Logo.jpg                                              002BBBDCMacintosh HD                   7C2623F4:"/>
          <p:cNvPicPr>
            <a:picLocks noChangeAspect="1" noChangeArrowheads="1"/>
          </p:cNvPicPr>
          <p:nvPr/>
        </p:nvPicPr>
        <p:blipFill>
          <a:blip r:embed="rId3" cstate="print"/>
          <a:srcRect/>
          <a:stretch>
            <a:fillRect/>
          </a:stretch>
        </p:blipFill>
        <p:spPr bwMode="auto">
          <a:xfrm>
            <a:off x="7467600" y="5410200"/>
            <a:ext cx="1381125" cy="717550"/>
          </a:xfrm>
          <a:prstGeom prst="rect">
            <a:avLst/>
          </a:prstGeom>
          <a:noFill/>
          <a:ln w="9525">
            <a:noFill/>
            <a:miter lim="800000"/>
            <a:headEnd/>
            <a:tailEnd/>
          </a:ln>
        </p:spPr>
      </p:pic>
      <p:sp>
        <p:nvSpPr>
          <p:cNvPr id="5129" name="Rectangle 3"/>
          <p:cNvSpPr>
            <a:spLocks noChangeArrowheads="1"/>
          </p:cNvSpPr>
          <p:nvPr/>
        </p:nvSpPr>
        <p:spPr bwMode="auto">
          <a:xfrm>
            <a:off x="838200" y="2057400"/>
            <a:ext cx="7924800" cy="3785652"/>
          </a:xfrm>
          <a:prstGeom prst="rect">
            <a:avLst/>
          </a:prstGeom>
          <a:noFill/>
          <a:ln w="9525">
            <a:noFill/>
            <a:miter lim="800000"/>
            <a:headEnd/>
            <a:tailEnd/>
          </a:ln>
        </p:spPr>
        <p:txBody>
          <a:bodyPr>
            <a:spAutoFit/>
          </a:bodyPr>
          <a:lstStyle/>
          <a:p>
            <a:r>
              <a:rPr lang="en-US" sz="2000" dirty="0"/>
              <a:t>Each step in the development process increases understanding of product, market, and business opportunity – </a:t>
            </a:r>
            <a:r>
              <a:rPr lang="en-US" sz="2000" i="1" dirty="0"/>
              <a:t>and reduces risk</a:t>
            </a:r>
            <a:r>
              <a:rPr lang="en-US" sz="2000" i="1" dirty="0" smtClean="0"/>
              <a:t>.</a:t>
            </a:r>
          </a:p>
          <a:p>
            <a:endParaRPr lang="en-US" sz="2000" i="1" dirty="0" smtClean="0"/>
          </a:p>
          <a:p>
            <a:r>
              <a:rPr lang="en-US" sz="2000" b="1" dirty="0" smtClean="0"/>
              <a:t>The more you know, the better decisions you make. </a:t>
            </a:r>
          </a:p>
          <a:p>
            <a:endParaRPr lang="en-US" sz="2000" b="1" i="1" dirty="0"/>
          </a:p>
          <a:p>
            <a:r>
              <a:rPr lang="en-US" sz="2000" b="1" dirty="0" smtClean="0"/>
              <a:t>This </a:t>
            </a:r>
            <a:r>
              <a:rPr lang="en-US" sz="2000" b="1" dirty="0"/>
              <a:t>deliberate process leads to businesses that:</a:t>
            </a:r>
          </a:p>
          <a:p>
            <a:r>
              <a:rPr lang="en-US" sz="2000" dirty="0"/>
              <a:t>	Are more attractive to investors</a:t>
            </a:r>
          </a:p>
          <a:p>
            <a:r>
              <a:rPr lang="en-US" sz="2000" dirty="0"/>
              <a:t>	Have a greater likelihood of market success</a:t>
            </a:r>
          </a:p>
          <a:p>
            <a:r>
              <a:rPr lang="en-US" sz="2000" dirty="0"/>
              <a:t>	Achieve a sustained competitive position</a:t>
            </a:r>
          </a:p>
          <a:p>
            <a:r>
              <a:rPr lang="en-US" sz="2000" dirty="0"/>
              <a:t>	</a:t>
            </a:r>
            <a:endParaRPr lang="en-US" sz="2000" dirty="0" smtClean="0"/>
          </a:p>
          <a:p>
            <a:endParaRPr lang="en-US" sz="2000" b="1" dirty="0"/>
          </a:p>
          <a:p>
            <a:r>
              <a:rPr lang="en-US" sz="2000" b="1" dirty="0"/>
              <a:t>In the end, this all means jobs.</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6"/>
          <p:cNvSpPr>
            <a:spLocks noChangeArrowheads="1"/>
          </p:cNvSpPr>
          <p:nvPr/>
        </p:nvSpPr>
        <p:spPr bwMode="auto">
          <a:xfrm>
            <a:off x="0" y="6400800"/>
            <a:ext cx="9144000" cy="457200"/>
          </a:xfrm>
          <a:prstGeom prst="rect">
            <a:avLst/>
          </a:prstGeom>
          <a:solidFill>
            <a:srgbClr val="819BB8"/>
          </a:solidFill>
          <a:ln w="9525">
            <a:noFill/>
            <a:miter lim="800000"/>
            <a:headEnd/>
            <a:tailEnd/>
          </a:ln>
        </p:spPr>
        <p:txBody>
          <a:bodyPr wrap="none" anchor="ctr"/>
          <a:lstStyle/>
          <a:p>
            <a:endParaRPr lang="en-US"/>
          </a:p>
        </p:txBody>
      </p:sp>
      <p:sp>
        <p:nvSpPr>
          <p:cNvPr id="6147" name="Rectangle 7"/>
          <p:cNvSpPr>
            <a:spLocks noChangeArrowheads="1"/>
          </p:cNvSpPr>
          <p:nvPr/>
        </p:nvSpPr>
        <p:spPr bwMode="auto">
          <a:xfrm>
            <a:off x="381000" y="0"/>
            <a:ext cx="8763000" cy="6477000"/>
          </a:xfrm>
          <a:prstGeom prst="rect">
            <a:avLst/>
          </a:prstGeom>
          <a:solidFill>
            <a:schemeClr val="bg1"/>
          </a:solidFill>
          <a:ln w="9525">
            <a:noFill/>
            <a:miter lim="800000"/>
            <a:headEnd/>
            <a:tailEnd/>
          </a:ln>
        </p:spPr>
        <p:txBody>
          <a:bodyPr wrap="none" anchor="ctr"/>
          <a:lstStyle/>
          <a:p>
            <a:endParaRPr lang="en-US"/>
          </a:p>
        </p:txBody>
      </p:sp>
      <p:sp>
        <p:nvSpPr>
          <p:cNvPr id="6148" name="Title 1"/>
          <p:cNvSpPr>
            <a:spLocks/>
          </p:cNvSpPr>
          <p:nvPr/>
        </p:nvSpPr>
        <p:spPr bwMode="auto">
          <a:xfrm>
            <a:off x="457200" y="274638"/>
            <a:ext cx="8229600" cy="944562"/>
          </a:xfrm>
          <a:prstGeom prst="rect">
            <a:avLst/>
          </a:prstGeom>
          <a:noFill/>
          <a:ln w="9525">
            <a:noFill/>
            <a:miter lim="800000"/>
            <a:headEnd/>
            <a:tailEnd/>
          </a:ln>
        </p:spPr>
        <p:txBody>
          <a:bodyPr anchor="ctr"/>
          <a:lstStyle/>
          <a:p>
            <a:pPr algn="ctr"/>
            <a:r>
              <a:rPr lang="en-US" sz="2800">
                <a:solidFill>
                  <a:srgbClr val="819BB8"/>
                </a:solidFill>
              </a:rPr>
              <a:t>Process is Important</a:t>
            </a:r>
          </a:p>
        </p:txBody>
      </p:sp>
      <p:pic>
        <p:nvPicPr>
          <p:cNvPr id="6149" name="Picture 32" descr="Idea_icon2.jpg                                                 002BB7A3Macintosh HD                   7C2623F4:"/>
          <p:cNvPicPr>
            <a:picLocks noChangeAspect="1" noChangeArrowheads="1"/>
          </p:cNvPicPr>
          <p:nvPr/>
        </p:nvPicPr>
        <p:blipFill>
          <a:blip r:embed="rId3" cstate="print"/>
          <a:srcRect/>
          <a:stretch>
            <a:fillRect/>
          </a:stretch>
        </p:blipFill>
        <p:spPr bwMode="auto">
          <a:xfrm>
            <a:off x="273050" y="268288"/>
            <a:ext cx="8597900" cy="6027737"/>
          </a:xfrm>
          <a:prstGeom prst="rect">
            <a:avLst/>
          </a:prstGeom>
          <a:noFill/>
          <a:ln w="9525">
            <a:noFill/>
            <a:miter lim="800000"/>
            <a:headEnd/>
            <a:tailEnd/>
          </a:ln>
        </p:spPr>
      </p:pic>
      <p:sp>
        <p:nvSpPr>
          <p:cNvPr id="6150" name="Title 1"/>
          <p:cNvSpPr>
            <a:spLocks/>
          </p:cNvSpPr>
          <p:nvPr/>
        </p:nvSpPr>
        <p:spPr bwMode="auto">
          <a:xfrm>
            <a:off x="457200" y="76200"/>
            <a:ext cx="4572000" cy="1752600"/>
          </a:xfrm>
          <a:prstGeom prst="rect">
            <a:avLst/>
          </a:prstGeom>
          <a:noFill/>
          <a:ln w="9525">
            <a:noFill/>
            <a:miter lim="800000"/>
            <a:headEnd/>
            <a:tailEnd/>
          </a:ln>
        </p:spPr>
        <p:txBody>
          <a:bodyPr anchor="ctr"/>
          <a:lstStyle/>
          <a:p>
            <a:pPr>
              <a:lnSpc>
                <a:spcPct val="90000"/>
              </a:lnSpc>
            </a:pPr>
            <a:r>
              <a:rPr lang="en-US" sz="2800">
                <a:solidFill>
                  <a:srgbClr val="819BB8"/>
                </a:solidFill>
              </a:rPr>
              <a:t>Development Journey:</a:t>
            </a:r>
            <a:r>
              <a:rPr lang="en-US" sz="2800">
                <a:solidFill>
                  <a:srgbClr val="003366"/>
                </a:solidFill>
              </a:rPr>
              <a:t> </a:t>
            </a:r>
            <a:br>
              <a:rPr lang="en-US" sz="2800">
                <a:solidFill>
                  <a:srgbClr val="003366"/>
                </a:solidFill>
              </a:rPr>
            </a:br>
            <a:r>
              <a:rPr lang="en-US" sz="2800">
                <a:solidFill>
                  <a:srgbClr val="003366"/>
                </a:solidFill>
              </a:rPr>
              <a:t>From Idea to </a:t>
            </a:r>
            <a:br>
              <a:rPr lang="en-US" sz="2800">
                <a:solidFill>
                  <a:srgbClr val="003366"/>
                </a:solidFill>
              </a:rPr>
            </a:br>
            <a:r>
              <a:rPr lang="en-US" sz="2800">
                <a:solidFill>
                  <a:srgbClr val="003366"/>
                </a:solidFill>
              </a:rPr>
              <a:t>Commercialization</a:t>
            </a:r>
            <a:endParaRPr lang="en-US" sz="3200">
              <a:solidFill>
                <a:srgbClr val="003366"/>
              </a:solidFill>
            </a:endParaRPr>
          </a:p>
        </p:txBody>
      </p:sp>
      <p:sp>
        <p:nvSpPr>
          <p:cNvPr id="6151" name="Title 1"/>
          <p:cNvSpPr>
            <a:spLocks/>
          </p:cNvSpPr>
          <p:nvPr/>
        </p:nvSpPr>
        <p:spPr bwMode="auto">
          <a:xfrm>
            <a:off x="1752600" y="2300288"/>
            <a:ext cx="2235200" cy="304800"/>
          </a:xfrm>
          <a:prstGeom prst="rect">
            <a:avLst/>
          </a:prstGeom>
          <a:noFill/>
          <a:ln w="9525">
            <a:noFill/>
            <a:miter lim="800000"/>
            <a:headEnd/>
            <a:tailEnd/>
          </a:ln>
        </p:spPr>
        <p:txBody>
          <a:bodyPr anchor="ctr"/>
          <a:lstStyle/>
          <a:p>
            <a:pPr algn="r"/>
            <a:r>
              <a:rPr lang="en-US" sz="1400" b="1">
                <a:solidFill>
                  <a:schemeClr val="bg1"/>
                </a:solidFill>
              </a:rPr>
              <a:t>PRODUCT</a:t>
            </a:r>
            <a:endParaRPr lang="en-US" sz="1400">
              <a:solidFill>
                <a:schemeClr val="bg1"/>
              </a:solidFill>
            </a:endParaRPr>
          </a:p>
        </p:txBody>
      </p:sp>
      <p:sp>
        <p:nvSpPr>
          <p:cNvPr id="6152" name="Title 1"/>
          <p:cNvSpPr>
            <a:spLocks/>
          </p:cNvSpPr>
          <p:nvPr/>
        </p:nvSpPr>
        <p:spPr bwMode="auto">
          <a:xfrm>
            <a:off x="6604000" y="2300288"/>
            <a:ext cx="2235200" cy="304800"/>
          </a:xfrm>
          <a:prstGeom prst="rect">
            <a:avLst/>
          </a:prstGeom>
          <a:noFill/>
          <a:ln w="9525">
            <a:noFill/>
            <a:miter lim="800000"/>
            <a:headEnd/>
            <a:tailEnd/>
          </a:ln>
        </p:spPr>
        <p:txBody>
          <a:bodyPr anchor="ctr"/>
          <a:lstStyle/>
          <a:p>
            <a:r>
              <a:rPr lang="en-US" sz="1400" b="1">
                <a:solidFill>
                  <a:schemeClr val="bg1"/>
                </a:solidFill>
              </a:rPr>
              <a:t>BUSINESS</a:t>
            </a:r>
            <a:endParaRPr lang="en-US" sz="1400">
              <a:solidFill>
                <a:schemeClr val="bg1"/>
              </a:solidFill>
            </a:endParaRPr>
          </a:p>
        </p:txBody>
      </p:sp>
      <p:sp>
        <p:nvSpPr>
          <p:cNvPr id="6153" name="Title 1"/>
          <p:cNvSpPr>
            <a:spLocks/>
          </p:cNvSpPr>
          <p:nvPr/>
        </p:nvSpPr>
        <p:spPr bwMode="auto">
          <a:xfrm>
            <a:off x="4191000" y="2300288"/>
            <a:ext cx="2235200" cy="304800"/>
          </a:xfrm>
          <a:prstGeom prst="rect">
            <a:avLst/>
          </a:prstGeom>
          <a:noFill/>
          <a:ln w="9525">
            <a:noFill/>
            <a:miter lim="800000"/>
            <a:headEnd/>
            <a:tailEnd/>
          </a:ln>
        </p:spPr>
        <p:txBody>
          <a:bodyPr anchor="ctr"/>
          <a:lstStyle/>
          <a:p>
            <a:pPr algn="ctr"/>
            <a:r>
              <a:rPr lang="en-US" sz="1400" b="1">
                <a:solidFill>
                  <a:schemeClr val="bg1"/>
                </a:solidFill>
              </a:rPr>
              <a:t>MARKET</a:t>
            </a:r>
            <a:endParaRPr lang="en-US" sz="1400">
              <a:solidFill>
                <a:schemeClr val="bg1"/>
              </a:solidFill>
            </a:endParaRPr>
          </a:p>
        </p:txBody>
      </p:sp>
      <p:sp>
        <p:nvSpPr>
          <p:cNvPr id="6154" name="Title 1"/>
          <p:cNvSpPr>
            <a:spLocks/>
          </p:cNvSpPr>
          <p:nvPr/>
        </p:nvSpPr>
        <p:spPr bwMode="auto">
          <a:xfrm>
            <a:off x="0" y="2757488"/>
            <a:ext cx="1625600" cy="381000"/>
          </a:xfrm>
          <a:prstGeom prst="rect">
            <a:avLst/>
          </a:prstGeom>
          <a:noFill/>
          <a:ln w="9525">
            <a:noFill/>
            <a:miter lim="800000"/>
            <a:headEnd/>
            <a:tailEnd/>
          </a:ln>
        </p:spPr>
        <p:txBody>
          <a:bodyPr anchor="ctr"/>
          <a:lstStyle/>
          <a:p>
            <a:pPr algn="r"/>
            <a:r>
              <a:rPr lang="en-US" sz="1200"/>
              <a:t>Investigation</a:t>
            </a:r>
          </a:p>
        </p:txBody>
      </p:sp>
      <p:sp>
        <p:nvSpPr>
          <p:cNvPr id="6155" name="Title 1"/>
          <p:cNvSpPr>
            <a:spLocks/>
          </p:cNvSpPr>
          <p:nvPr/>
        </p:nvSpPr>
        <p:spPr bwMode="auto">
          <a:xfrm>
            <a:off x="0" y="3343275"/>
            <a:ext cx="1625600" cy="381000"/>
          </a:xfrm>
          <a:prstGeom prst="rect">
            <a:avLst/>
          </a:prstGeom>
          <a:noFill/>
          <a:ln w="9525">
            <a:noFill/>
            <a:miter lim="800000"/>
            <a:headEnd/>
            <a:tailEnd/>
          </a:ln>
        </p:spPr>
        <p:txBody>
          <a:bodyPr anchor="ctr"/>
          <a:lstStyle/>
          <a:p>
            <a:pPr algn="r"/>
            <a:r>
              <a:rPr lang="en-US" sz="1200"/>
              <a:t>Feasibility</a:t>
            </a:r>
          </a:p>
        </p:txBody>
      </p:sp>
      <p:sp>
        <p:nvSpPr>
          <p:cNvPr id="6156" name="Title 1"/>
          <p:cNvSpPr>
            <a:spLocks/>
          </p:cNvSpPr>
          <p:nvPr/>
        </p:nvSpPr>
        <p:spPr bwMode="auto">
          <a:xfrm>
            <a:off x="0" y="3937000"/>
            <a:ext cx="1625600" cy="381000"/>
          </a:xfrm>
          <a:prstGeom prst="rect">
            <a:avLst/>
          </a:prstGeom>
          <a:noFill/>
          <a:ln w="9525">
            <a:noFill/>
            <a:miter lim="800000"/>
            <a:headEnd/>
            <a:tailEnd/>
          </a:ln>
        </p:spPr>
        <p:txBody>
          <a:bodyPr anchor="ctr"/>
          <a:lstStyle/>
          <a:p>
            <a:pPr algn="r"/>
            <a:r>
              <a:rPr lang="en-US" sz="1200"/>
              <a:t>Development</a:t>
            </a:r>
          </a:p>
        </p:txBody>
      </p:sp>
      <p:sp>
        <p:nvSpPr>
          <p:cNvPr id="6157" name="Title 1"/>
          <p:cNvSpPr>
            <a:spLocks/>
          </p:cNvSpPr>
          <p:nvPr/>
        </p:nvSpPr>
        <p:spPr bwMode="auto">
          <a:xfrm>
            <a:off x="0" y="4530725"/>
            <a:ext cx="1625600" cy="381000"/>
          </a:xfrm>
          <a:prstGeom prst="rect">
            <a:avLst/>
          </a:prstGeom>
          <a:noFill/>
          <a:ln w="9525">
            <a:noFill/>
            <a:miter lim="800000"/>
            <a:headEnd/>
            <a:tailEnd/>
          </a:ln>
        </p:spPr>
        <p:txBody>
          <a:bodyPr anchor="ctr"/>
          <a:lstStyle/>
          <a:p>
            <a:pPr algn="r"/>
            <a:r>
              <a:rPr lang="en-US" sz="1200"/>
              <a:t>Introduction</a:t>
            </a:r>
          </a:p>
        </p:txBody>
      </p:sp>
      <p:sp>
        <p:nvSpPr>
          <p:cNvPr id="6158" name="Title 1"/>
          <p:cNvSpPr>
            <a:spLocks/>
          </p:cNvSpPr>
          <p:nvPr/>
        </p:nvSpPr>
        <p:spPr bwMode="auto">
          <a:xfrm>
            <a:off x="0" y="5148263"/>
            <a:ext cx="1625600" cy="381000"/>
          </a:xfrm>
          <a:prstGeom prst="rect">
            <a:avLst/>
          </a:prstGeom>
          <a:noFill/>
          <a:ln w="9525">
            <a:noFill/>
            <a:miter lim="800000"/>
            <a:headEnd/>
            <a:tailEnd/>
          </a:ln>
        </p:spPr>
        <p:txBody>
          <a:bodyPr anchor="ctr"/>
          <a:lstStyle/>
          <a:p>
            <a:pPr algn="r"/>
            <a:r>
              <a:rPr lang="en-US" sz="1200"/>
              <a:t>Growth</a:t>
            </a:r>
          </a:p>
        </p:txBody>
      </p:sp>
      <p:sp>
        <p:nvSpPr>
          <p:cNvPr id="6159" name="Title 1"/>
          <p:cNvSpPr>
            <a:spLocks/>
          </p:cNvSpPr>
          <p:nvPr/>
        </p:nvSpPr>
        <p:spPr bwMode="auto">
          <a:xfrm>
            <a:off x="0" y="5749925"/>
            <a:ext cx="1625600" cy="381000"/>
          </a:xfrm>
          <a:prstGeom prst="rect">
            <a:avLst/>
          </a:prstGeom>
          <a:noFill/>
          <a:ln w="9525">
            <a:noFill/>
            <a:miter lim="800000"/>
            <a:headEnd/>
            <a:tailEnd/>
          </a:ln>
        </p:spPr>
        <p:txBody>
          <a:bodyPr anchor="ctr"/>
          <a:lstStyle/>
          <a:p>
            <a:pPr algn="r"/>
            <a:r>
              <a:rPr lang="en-US" sz="1200"/>
              <a:t>Maturity</a:t>
            </a:r>
          </a:p>
        </p:txBody>
      </p:sp>
      <p:sp>
        <p:nvSpPr>
          <p:cNvPr id="6160" name="Title 1"/>
          <p:cNvSpPr>
            <a:spLocks/>
          </p:cNvSpPr>
          <p:nvPr/>
        </p:nvSpPr>
        <p:spPr bwMode="auto">
          <a:xfrm>
            <a:off x="1905000" y="2681288"/>
            <a:ext cx="1981200" cy="533400"/>
          </a:xfrm>
          <a:prstGeom prst="rect">
            <a:avLst/>
          </a:prstGeom>
          <a:noFill/>
          <a:ln w="9525">
            <a:noFill/>
            <a:miter lim="800000"/>
            <a:headEnd/>
            <a:tailEnd/>
          </a:ln>
        </p:spPr>
        <p:txBody>
          <a:bodyPr anchor="ctr"/>
          <a:lstStyle/>
          <a:p>
            <a:pPr algn="ctr"/>
            <a:r>
              <a:rPr lang="en-US" sz="1200">
                <a:solidFill>
                  <a:schemeClr val="bg1"/>
                </a:solidFill>
              </a:rPr>
              <a:t>Product Assessment</a:t>
            </a:r>
          </a:p>
        </p:txBody>
      </p:sp>
      <p:sp>
        <p:nvSpPr>
          <p:cNvPr id="6161" name="Title 1"/>
          <p:cNvSpPr>
            <a:spLocks/>
          </p:cNvSpPr>
          <p:nvPr/>
        </p:nvSpPr>
        <p:spPr bwMode="auto">
          <a:xfrm>
            <a:off x="6729413" y="2681288"/>
            <a:ext cx="1981200" cy="533400"/>
          </a:xfrm>
          <a:prstGeom prst="rect">
            <a:avLst/>
          </a:prstGeom>
          <a:noFill/>
          <a:ln w="9525">
            <a:noFill/>
            <a:miter lim="800000"/>
            <a:headEnd/>
            <a:tailEnd/>
          </a:ln>
        </p:spPr>
        <p:txBody>
          <a:bodyPr anchor="ctr"/>
          <a:lstStyle/>
          <a:p>
            <a:pPr algn="ctr"/>
            <a:r>
              <a:rPr lang="en-US" sz="1200">
                <a:solidFill>
                  <a:schemeClr val="bg1"/>
                </a:solidFill>
              </a:rPr>
              <a:t>Business Assessment</a:t>
            </a:r>
          </a:p>
        </p:txBody>
      </p:sp>
      <p:sp>
        <p:nvSpPr>
          <p:cNvPr id="6162" name="Title 1"/>
          <p:cNvSpPr>
            <a:spLocks/>
          </p:cNvSpPr>
          <p:nvPr/>
        </p:nvSpPr>
        <p:spPr bwMode="auto">
          <a:xfrm>
            <a:off x="1905000" y="3259138"/>
            <a:ext cx="1981200" cy="533400"/>
          </a:xfrm>
          <a:prstGeom prst="rect">
            <a:avLst/>
          </a:prstGeom>
          <a:noFill/>
          <a:ln w="9525">
            <a:noFill/>
            <a:miter lim="800000"/>
            <a:headEnd/>
            <a:tailEnd/>
          </a:ln>
        </p:spPr>
        <p:txBody>
          <a:bodyPr anchor="ctr"/>
          <a:lstStyle/>
          <a:p>
            <a:pPr algn="ctr"/>
            <a:r>
              <a:rPr lang="en-US" sz="1200">
                <a:solidFill>
                  <a:schemeClr val="bg1"/>
                </a:solidFill>
              </a:rPr>
              <a:t>Product Feasibility</a:t>
            </a:r>
          </a:p>
        </p:txBody>
      </p:sp>
      <p:sp>
        <p:nvSpPr>
          <p:cNvPr id="6163" name="Title 1"/>
          <p:cNvSpPr>
            <a:spLocks/>
          </p:cNvSpPr>
          <p:nvPr/>
        </p:nvSpPr>
        <p:spPr bwMode="auto">
          <a:xfrm>
            <a:off x="4306888" y="3259138"/>
            <a:ext cx="1981200" cy="533400"/>
          </a:xfrm>
          <a:prstGeom prst="rect">
            <a:avLst/>
          </a:prstGeom>
          <a:noFill/>
          <a:ln w="9525">
            <a:noFill/>
            <a:miter lim="800000"/>
            <a:headEnd/>
            <a:tailEnd/>
          </a:ln>
        </p:spPr>
        <p:txBody>
          <a:bodyPr anchor="ctr"/>
          <a:lstStyle/>
          <a:p>
            <a:pPr algn="ctr"/>
            <a:r>
              <a:rPr lang="en-US" sz="1200">
                <a:solidFill>
                  <a:schemeClr val="bg1"/>
                </a:solidFill>
              </a:rPr>
              <a:t>Market Study</a:t>
            </a:r>
          </a:p>
        </p:txBody>
      </p:sp>
      <p:sp>
        <p:nvSpPr>
          <p:cNvPr id="6164" name="Title 1"/>
          <p:cNvSpPr>
            <a:spLocks/>
          </p:cNvSpPr>
          <p:nvPr/>
        </p:nvSpPr>
        <p:spPr bwMode="auto">
          <a:xfrm>
            <a:off x="6729413" y="3259138"/>
            <a:ext cx="1981200" cy="533400"/>
          </a:xfrm>
          <a:prstGeom prst="rect">
            <a:avLst/>
          </a:prstGeom>
          <a:noFill/>
          <a:ln w="9525">
            <a:noFill/>
            <a:miter lim="800000"/>
            <a:headEnd/>
            <a:tailEnd/>
          </a:ln>
        </p:spPr>
        <p:txBody>
          <a:bodyPr anchor="ctr"/>
          <a:lstStyle/>
          <a:p>
            <a:pPr algn="ctr"/>
            <a:r>
              <a:rPr lang="en-US" sz="1200">
                <a:solidFill>
                  <a:schemeClr val="bg1"/>
                </a:solidFill>
              </a:rPr>
              <a:t>Economic Feasibility</a:t>
            </a:r>
          </a:p>
        </p:txBody>
      </p:sp>
      <p:sp>
        <p:nvSpPr>
          <p:cNvPr id="6165" name="Title 1"/>
          <p:cNvSpPr>
            <a:spLocks/>
          </p:cNvSpPr>
          <p:nvPr/>
        </p:nvSpPr>
        <p:spPr bwMode="auto">
          <a:xfrm>
            <a:off x="1905000" y="3860800"/>
            <a:ext cx="1981200" cy="533400"/>
          </a:xfrm>
          <a:prstGeom prst="rect">
            <a:avLst/>
          </a:prstGeom>
          <a:noFill/>
          <a:ln w="9525">
            <a:noFill/>
            <a:miter lim="800000"/>
            <a:headEnd/>
            <a:tailEnd/>
          </a:ln>
        </p:spPr>
        <p:txBody>
          <a:bodyPr anchor="ctr"/>
          <a:lstStyle/>
          <a:p>
            <a:pPr algn="ctr"/>
            <a:r>
              <a:rPr lang="en-US" sz="1200">
                <a:solidFill>
                  <a:schemeClr val="bg1"/>
                </a:solidFill>
              </a:rPr>
              <a:t>Product Prototype</a:t>
            </a:r>
          </a:p>
        </p:txBody>
      </p:sp>
      <p:sp>
        <p:nvSpPr>
          <p:cNvPr id="6166" name="Title 1"/>
          <p:cNvSpPr>
            <a:spLocks/>
          </p:cNvSpPr>
          <p:nvPr/>
        </p:nvSpPr>
        <p:spPr bwMode="auto">
          <a:xfrm>
            <a:off x="4306888" y="3860800"/>
            <a:ext cx="1981200" cy="533400"/>
          </a:xfrm>
          <a:prstGeom prst="rect">
            <a:avLst/>
          </a:prstGeom>
          <a:noFill/>
          <a:ln w="9525">
            <a:noFill/>
            <a:miter lim="800000"/>
            <a:headEnd/>
            <a:tailEnd/>
          </a:ln>
        </p:spPr>
        <p:txBody>
          <a:bodyPr anchor="ctr"/>
          <a:lstStyle/>
          <a:p>
            <a:pPr algn="ctr"/>
            <a:r>
              <a:rPr lang="en-US" sz="1200">
                <a:solidFill>
                  <a:schemeClr val="bg1"/>
                </a:solidFill>
              </a:rPr>
              <a:t>Market Plan</a:t>
            </a:r>
          </a:p>
        </p:txBody>
      </p:sp>
      <p:sp>
        <p:nvSpPr>
          <p:cNvPr id="6167" name="Title 1"/>
          <p:cNvSpPr>
            <a:spLocks/>
          </p:cNvSpPr>
          <p:nvPr/>
        </p:nvSpPr>
        <p:spPr bwMode="auto">
          <a:xfrm>
            <a:off x="6729413" y="3860800"/>
            <a:ext cx="1981200" cy="533400"/>
          </a:xfrm>
          <a:prstGeom prst="rect">
            <a:avLst/>
          </a:prstGeom>
          <a:noFill/>
          <a:ln w="9525">
            <a:noFill/>
            <a:miter lim="800000"/>
            <a:headEnd/>
            <a:tailEnd/>
          </a:ln>
        </p:spPr>
        <p:txBody>
          <a:bodyPr anchor="ctr"/>
          <a:lstStyle/>
          <a:p>
            <a:pPr algn="ctr"/>
            <a:r>
              <a:rPr lang="en-US" sz="1200">
                <a:solidFill>
                  <a:schemeClr val="bg1"/>
                </a:solidFill>
              </a:rPr>
              <a:t>Strategic Business Plan</a:t>
            </a:r>
          </a:p>
        </p:txBody>
      </p:sp>
      <p:sp>
        <p:nvSpPr>
          <p:cNvPr id="6168" name="Title 1"/>
          <p:cNvSpPr>
            <a:spLocks/>
          </p:cNvSpPr>
          <p:nvPr/>
        </p:nvSpPr>
        <p:spPr bwMode="auto">
          <a:xfrm>
            <a:off x="1905000" y="4462463"/>
            <a:ext cx="1981200" cy="533400"/>
          </a:xfrm>
          <a:prstGeom prst="rect">
            <a:avLst/>
          </a:prstGeom>
          <a:noFill/>
          <a:ln w="9525">
            <a:noFill/>
            <a:miter lim="800000"/>
            <a:headEnd/>
            <a:tailEnd/>
          </a:ln>
        </p:spPr>
        <p:txBody>
          <a:bodyPr anchor="ctr"/>
          <a:lstStyle/>
          <a:p>
            <a:pPr algn="ctr"/>
            <a:r>
              <a:rPr lang="en-US" sz="1200">
                <a:solidFill>
                  <a:schemeClr val="bg1"/>
                </a:solidFill>
              </a:rPr>
              <a:t>Pre-Production Prototype</a:t>
            </a:r>
          </a:p>
        </p:txBody>
      </p:sp>
      <p:sp>
        <p:nvSpPr>
          <p:cNvPr id="6169" name="Title 1"/>
          <p:cNvSpPr>
            <a:spLocks/>
          </p:cNvSpPr>
          <p:nvPr/>
        </p:nvSpPr>
        <p:spPr bwMode="auto">
          <a:xfrm>
            <a:off x="4306888" y="4462463"/>
            <a:ext cx="1981200" cy="533400"/>
          </a:xfrm>
          <a:prstGeom prst="rect">
            <a:avLst/>
          </a:prstGeom>
          <a:noFill/>
          <a:ln w="9525">
            <a:noFill/>
            <a:miter lim="800000"/>
            <a:headEnd/>
            <a:tailEnd/>
          </a:ln>
        </p:spPr>
        <p:txBody>
          <a:bodyPr anchor="ctr"/>
          <a:lstStyle/>
          <a:p>
            <a:pPr algn="ctr"/>
            <a:r>
              <a:rPr lang="en-US" sz="1200">
                <a:solidFill>
                  <a:schemeClr val="bg1"/>
                </a:solidFill>
              </a:rPr>
              <a:t>Market Validation</a:t>
            </a:r>
          </a:p>
        </p:txBody>
      </p:sp>
      <p:sp>
        <p:nvSpPr>
          <p:cNvPr id="6170" name="Title 1"/>
          <p:cNvSpPr>
            <a:spLocks/>
          </p:cNvSpPr>
          <p:nvPr/>
        </p:nvSpPr>
        <p:spPr bwMode="auto">
          <a:xfrm>
            <a:off x="6729413" y="4462463"/>
            <a:ext cx="1981200" cy="533400"/>
          </a:xfrm>
          <a:prstGeom prst="rect">
            <a:avLst/>
          </a:prstGeom>
          <a:noFill/>
          <a:ln w="9525">
            <a:noFill/>
            <a:miter lim="800000"/>
            <a:headEnd/>
            <a:tailEnd/>
          </a:ln>
        </p:spPr>
        <p:txBody>
          <a:bodyPr anchor="ctr"/>
          <a:lstStyle/>
          <a:p>
            <a:pPr algn="ctr"/>
            <a:r>
              <a:rPr lang="en-US" sz="1200">
                <a:solidFill>
                  <a:schemeClr val="bg1"/>
                </a:solidFill>
              </a:rPr>
              <a:t>Business Start-Up</a:t>
            </a:r>
          </a:p>
        </p:txBody>
      </p:sp>
      <p:sp>
        <p:nvSpPr>
          <p:cNvPr id="6171" name="Title 1"/>
          <p:cNvSpPr>
            <a:spLocks/>
          </p:cNvSpPr>
          <p:nvPr/>
        </p:nvSpPr>
        <p:spPr bwMode="auto">
          <a:xfrm>
            <a:off x="1905000" y="5064125"/>
            <a:ext cx="1981200" cy="533400"/>
          </a:xfrm>
          <a:prstGeom prst="rect">
            <a:avLst/>
          </a:prstGeom>
          <a:noFill/>
          <a:ln w="9525">
            <a:noFill/>
            <a:miter lim="800000"/>
            <a:headEnd/>
            <a:tailEnd/>
          </a:ln>
        </p:spPr>
        <p:txBody>
          <a:bodyPr anchor="ctr"/>
          <a:lstStyle/>
          <a:p>
            <a:pPr algn="ctr"/>
            <a:r>
              <a:rPr lang="en-US" sz="1200">
                <a:solidFill>
                  <a:schemeClr val="bg1"/>
                </a:solidFill>
              </a:rPr>
              <a:t>Production</a:t>
            </a:r>
          </a:p>
        </p:txBody>
      </p:sp>
      <p:sp>
        <p:nvSpPr>
          <p:cNvPr id="6172" name="Title 1"/>
          <p:cNvSpPr>
            <a:spLocks/>
          </p:cNvSpPr>
          <p:nvPr/>
        </p:nvSpPr>
        <p:spPr bwMode="auto">
          <a:xfrm>
            <a:off x="4306888" y="5064125"/>
            <a:ext cx="1981200" cy="533400"/>
          </a:xfrm>
          <a:prstGeom prst="rect">
            <a:avLst/>
          </a:prstGeom>
          <a:noFill/>
          <a:ln w="9525">
            <a:noFill/>
            <a:miter lim="800000"/>
            <a:headEnd/>
            <a:tailEnd/>
          </a:ln>
        </p:spPr>
        <p:txBody>
          <a:bodyPr anchor="ctr"/>
          <a:lstStyle/>
          <a:p>
            <a:pPr algn="ctr"/>
            <a:r>
              <a:rPr lang="en-US" sz="1200">
                <a:solidFill>
                  <a:schemeClr val="bg1"/>
                </a:solidFill>
              </a:rPr>
              <a:t>Sales &amp; Distribution</a:t>
            </a:r>
          </a:p>
        </p:txBody>
      </p:sp>
      <p:sp>
        <p:nvSpPr>
          <p:cNvPr id="6173" name="Title 1"/>
          <p:cNvSpPr>
            <a:spLocks/>
          </p:cNvSpPr>
          <p:nvPr/>
        </p:nvSpPr>
        <p:spPr bwMode="auto">
          <a:xfrm>
            <a:off x="6729413" y="5064125"/>
            <a:ext cx="1981200" cy="533400"/>
          </a:xfrm>
          <a:prstGeom prst="rect">
            <a:avLst/>
          </a:prstGeom>
          <a:noFill/>
          <a:ln w="9525">
            <a:noFill/>
            <a:miter lim="800000"/>
            <a:headEnd/>
            <a:tailEnd/>
          </a:ln>
        </p:spPr>
        <p:txBody>
          <a:bodyPr anchor="ctr"/>
          <a:lstStyle/>
          <a:p>
            <a:pPr algn="ctr"/>
            <a:r>
              <a:rPr lang="en-US" sz="1200">
                <a:solidFill>
                  <a:schemeClr val="bg1"/>
                </a:solidFill>
              </a:rPr>
              <a:t>Business Growth</a:t>
            </a:r>
          </a:p>
        </p:txBody>
      </p:sp>
      <p:sp>
        <p:nvSpPr>
          <p:cNvPr id="6174" name="Title 1"/>
          <p:cNvSpPr>
            <a:spLocks/>
          </p:cNvSpPr>
          <p:nvPr/>
        </p:nvSpPr>
        <p:spPr bwMode="auto">
          <a:xfrm>
            <a:off x="1905000" y="5657850"/>
            <a:ext cx="1981200" cy="533400"/>
          </a:xfrm>
          <a:prstGeom prst="rect">
            <a:avLst/>
          </a:prstGeom>
          <a:noFill/>
          <a:ln w="9525">
            <a:noFill/>
            <a:miter lim="800000"/>
            <a:headEnd/>
            <a:tailEnd/>
          </a:ln>
        </p:spPr>
        <p:txBody>
          <a:bodyPr anchor="ctr"/>
          <a:lstStyle/>
          <a:p>
            <a:pPr algn="ctr"/>
            <a:r>
              <a:rPr lang="en-US" sz="1200">
                <a:solidFill>
                  <a:schemeClr val="bg1"/>
                </a:solidFill>
              </a:rPr>
              <a:t>Production Support</a:t>
            </a:r>
          </a:p>
        </p:txBody>
      </p:sp>
      <p:sp>
        <p:nvSpPr>
          <p:cNvPr id="6175" name="Title 1"/>
          <p:cNvSpPr>
            <a:spLocks/>
          </p:cNvSpPr>
          <p:nvPr/>
        </p:nvSpPr>
        <p:spPr bwMode="auto">
          <a:xfrm>
            <a:off x="4306888" y="5657850"/>
            <a:ext cx="1981200" cy="533400"/>
          </a:xfrm>
          <a:prstGeom prst="rect">
            <a:avLst/>
          </a:prstGeom>
          <a:noFill/>
          <a:ln w="9525">
            <a:noFill/>
            <a:miter lim="800000"/>
            <a:headEnd/>
            <a:tailEnd/>
          </a:ln>
        </p:spPr>
        <p:txBody>
          <a:bodyPr anchor="ctr"/>
          <a:lstStyle/>
          <a:p>
            <a:pPr algn="ctr"/>
            <a:r>
              <a:rPr lang="en-US" sz="1200">
                <a:solidFill>
                  <a:schemeClr val="bg1"/>
                </a:solidFill>
              </a:rPr>
              <a:t>Market Diversification</a:t>
            </a:r>
          </a:p>
        </p:txBody>
      </p:sp>
      <p:sp>
        <p:nvSpPr>
          <p:cNvPr id="6176" name="Title 1"/>
          <p:cNvSpPr>
            <a:spLocks/>
          </p:cNvSpPr>
          <p:nvPr/>
        </p:nvSpPr>
        <p:spPr bwMode="auto">
          <a:xfrm>
            <a:off x="6729413" y="5657850"/>
            <a:ext cx="1981200" cy="533400"/>
          </a:xfrm>
          <a:prstGeom prst="rect">
            <a:avLst/>
          </a:prstGeom>
          <a:noFill/>
          <a:ln w="9525">
            <a:noFill/>
            <a:miter lim="800000"/>
            <a:headEnd/>
            <a:tailEnd/>
          </a:ln>
        </p:spPr>
        <p:txBody>
          <a:bodyPr anchor="ctr"/>
          <a:lstStyle/>
          <a:p>
            <a:pPr algn="ctr"/>
            <a:r>
              <a:rPr lang="en-US" sz="1200">
                <a:solidFill>
                  <a:schemeClr val="bg1"/>
                </a:solidFill>
              </a:rPr>
              <a:t>Business Maturity</a:t>
            </a:r>
          </a:p>
        </p:txBody>
      </p:sp>
      <p:sp>
        <p:nvSpPr>
          <p:cNvPr id="6177" name="TextBox 4"/>
          <p:cNvSpPr txBox="1">
            <a:spLocks noChangeArrowheads="1"/>
          </p:cNvSpPr>
          <p:nvPr/>
        </p:nvSpPr>
        <p:spPr bwMode="auto">
          <a:xfrm>
            <a:off x="2819400" y="6491288"/>
            <a:ext cx="6096000" cy="214312"/>
          </a:xfrm>
          <a:prstGeom prst="rect">
            <a:avLst/>
          </a:prstGeom>
          <a:noFill/>
          <a:ln w="9525">
            <a:noFill/>
            <a:miter lim="800000"/>
            <a:headEnd/>
            <a:tailEnd/>
          </a:ln>
        </p:spPr>
        <p:txBody>
          <a:bodyPr>
            <a:spAutoFit/>
          </a:bodyPr>
          <a:lstStyle/>
          <a:p>
            <a:pPr algn="r"/>
            <a:r>
              <a:rPr lang="en-US" sz="800"/>
              <a:t>Modified from SSTI</a:t>
            </a:r>
            <a:r>
              <a:rPr lang="ja-JP" altLang="en-US" sz="800"/>
              <a:t>’</a:t>
            </a:r>
            <a:r>
              <a:rPr lang="en-US" altLang="ja-JP" sz="800"/>
              <a:t>s TBED Resource Guide</a:t>
            </a:r>
            <a:endParaRPr lang="en-US" sz="800"/>
          </a:p>
        </p:txBody>
      </p:sp>
      <p:sp>
        <p:nvSpPr>
          <p:cNvPr id="6178" name="Title 1"/>
          <p:cNvSpPr>
            <a:spLocks/>
          </p:cNvSpPr>
          <p:nvPr/>
        </p:nvSpPr>
        <p:spPr bwMode="auto">
          <a:xfrm>
            <a:off x="4191000" y="2681288"/>
            <a:ext cx="2286000" cy="533400"/>
          </a:xfrm>
          <a:prstGeom prst="rect">
            <a:avLst/>
          </a:prstGeom>
          <a:noFill/>
          <a:ln w="9525">
            <a:noFill/>
            <a:miter lim="800000"/>
            <a:headEnd/>
            <a:tailEnd/>
          </a:ln>
        </p:spPr>
        <p:txBody>
          <a:bodyPr anchor="ctr"/>
          <a:lstStyle/>
          <a:p>
            <a:pPr algn="ctr"/>
            <a:r>
              <a:rPr lang="en-US" sz="1200">
                <a:solidFill>
                  <a:schemeClr val="bg1"/>
                </a:solidFill>
              </a:rPr>
              <a:t>Market Needs Assessment</a:t>
            </a:r>
          </a:p>
        </p:txBody>
      </p:sp>
      <p:pic>
        <p:nvPicPr>
          <p:cNvPr id="6179" name="Picture 13" descr="AURI_rgb_Logo.jpg                                              002BBBDCMacintosh HD                   7C2623F4:"/>
          <p:cNvPicPr>
            <a:picLocks noChangeAspect="1" noChangeArrowheads="1"/>
          </p:cNvPicPr>
          <p:nvPr/>
        </p:nvPicPr>
        <p:blipFill>
          <a:blip r:embed="rId4" cstate="print"/>
          <a:srcRect/>
          <a:stretch>
            <a:fillRect/>
          </a:stretch>
        </p:blipFill>
        <p:spPr bwMode="auto">
          <a:xfrm>
            <a:off x="7467600" y="304800"/>
            <a:ext cx="1381125" cy="717550"/>
          </a:xfrm>
          <a:prstGeom prst="rect">
            <a:avLst/>
          </a:prstGeom>
          <a:noFill/>
          <a:ln w="9525">
            <a:noFill/>
            <a:miter lim="800000"/>
            <a:headEnd/>
            <a:tailEnd/>
          </a:ln>
        </p:spPr>
      </p:pic>
      <p:sp>
        <p:nvSpPr>
          <p:cNvPr id="6180" name="Rectangle 5"/>
          <p:cNvSpPr>
            <a:spLocks noChangeArrowheads="1"/>
          </p:cNvSpPr>
          <p:nvPr/>
        </p:nvSpPr>
        <p:spPr bwMode="auto">
          <a:xfrm>
            <a:off x="0" y="0"/>
            <a:ext cx="381000" cy="6400800"/>
          </a:xfrm>
          <a:prstGeom prst="rect">
            <a:avLst/>
          </a:prstGeom>
          <a:solidFill>
            <a:srgbClr val="003366"/>
          </a:solidFill>
          <a:ln w="9525">
            <a:noFill/>
            <a:miter lim="800000"/>
            <a:headEnd/>
            <a:tailEnd/>
          </a:ln>
        </p:spPr>
        <p:txBody>
          <a:bodyPr wrap="none" anchor="ctr"/>
          <a:lstStyle/>
          <a:p>
            <a:endParaRPr lang="en-US"/>
          </a:p>
        </p:txBody>
      </p:sp>
      <p:sp>
        <p:nvSpPr>
          <p:cNvPr id="6181" name="Line 8"/>
          <p:cNvSpPr>
            <a:spLocks noChangeShapeType="1"/>
          </p:cNvSpPr>
          <p:nvPr/>
        </p:nvSpPr>
        <p:spPr bwMode="auto">
          <a:xfrm>
            <a:off x="-6350" y="1600200"/>
            <a:ext cx="3435350" cy="0"/>
          </a:xfrm>
          <a:prstGeom prst="line">
            <a:avLst/>
          </a:prstGeom>
          <a:noFill/>
          <a:ln w="9525">
            <a:solidFill>
              <a:srgbClr val="CC0000"/>
            </a:solidFill>
            <a:round/>
            <a:headEnd/>
            <a:tailEnd/>
          </a:ln>
        </p:spPr>
        <p:txBody>
          <a:bodyPr wrap="none" anchor="ctr"/>
          <a:lstStyle/>
          <a:p>
            <a:endParaRPr lang="en-US"/>
          </a:p>
        </p:txBody>
      </p:sp>
      <p:sp>
        <p:nvSpPr>
          <p:cNvPr id="6182" name="Line 11"/>
          <p:cNvSpPr>
            <a:spLocks noChangeShapeType="1"/>
          </p:cNvSpPr>
          <p:nvPr/>
        </p:nvSpPr>
        <p:spPr bwMode="auto">
          <a:xfrm>
            <a:off x="0" y="6400800"/>
            <a:ext cx="9144000" cy="0"/>
          </a:xfrm>
          <a:prstGeom prst="line">
            <a:avLst/>
          </a:prstGeom>
          <a:noFill/>
          <a:ln w="9525">
            <a:solidFill>
              <a:srgbClr val="CC0000"/>
            </a:solidFill>
            <a:round/>
            <a:headEnd/>
            <a:tailEnd/>
          </a:ln>
        </p:spPr>
        <p:txBody>
          <a:bodyPr wrap="none" anchor="ctr"/>
          <a:lstStyle/>
          <a:p>
            <a:endParaRPr lang="en-US"/>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ChangeArrowheads="1"/>
          </p:cNvSpPr>
          <p:nvPr/>
        </p:nvSpPr>
        <p:spPr bwMode="auto">
          <a:xfrm>
            <a:off x="0" y="0"/>
            <a:ext cx="9144000" cy="6248400"/>
          </a:xfrm>
          <a:prstGeom prst="rect">
            <a:avLst/>
          </a:prstGeom>
          <a:solidFill>
            <a:srgbClr val="003366"/>
          </a:solidFill>
          <a:ln w="9525">
            <a:noFill/>
            <a:miter lim="800000"/>
            <a:headEnd/>
            <a:tailEnd/>
          </a:ln>
        </p:spPr>
        <p:txBody>
          <a:bodyPr wrap="none" anchor="ctr"/>
          <a:lstStyle/>
          <a:p>
            <a:endParaRPr lang="en-US"/>
          </a:p>
        </p:txBody>
      </p:sp>
      <p:sp>
        <p:nvSpPr>
          <p:cNvPr id="8195" name="Rectangle 3"/>
          <p:cNvSpPr>
            <a:spLocks noChangeArrowheads="1"/>
          </p:cNvSpPr>
          <p:nvPr/>
        </p:nvSpPr>
        <p:spPr bwMode="auto">
          <a:xfrm>
            <a:off x="0" y="6248400"/>
            <a:ext cx="9144000" cy="609600"/>
          </a:xfrm>
          <a:prstGeom prst="rect">
            <a:avLst/>
          </a:prstGeom>
          <a:solidFill>
            <a:srgbClr val="819BB8"/>
          </a:solidFill>
          <a:ln w="9525">
            <a:noFill/>
            <a:miter lim="800000"/>
            <a:headEnd/>
            <a:tailEnd/>
          </a:ln>
        </p:spPr>
        <p:txBody>
          <a:bodyPr wrap="none" anchor="ctr"/>
          <a:lstStyle/>
          <a:p>
            <a:endParaRPr lang="en-US"/>
          </a:p>
        </p:txBody>
      </p:sp>
      <p:sp>
        <p:nvSpPr>
          <p:cNvPr id="8196" name="Rectangle 4"/>
          <p:cNvSpPr>
            <a:spLocks noChangeArrowheads="1"/>
          </p:cNvSpPr>
          <p:nvPr/>
        </p:nvSpPr>
        <p:spPr bwMode="auto">
          <a:xfrm>
            <a:off x="457200" y="1143000"/>
            <a:ext cx="8686800" cy="5181600"/>
          </a:xfrm>
          <a:prstGeom prst="rect">
            <a:avLst/>
          </a:prstGeom>
          <a:solidFill>
            <a:schemeClr val="bg1"/>
          </a:solidFill>
          <a:ln w="9525">
            <a:noFill/>
            <a:miter lim="800000"/>
            <a:headEnd/>
            <a:tailEnd/>
          </a:ln>
        </p:spPr>
        <p:txBody>
          <a:bodyPr wrap="none" anchor="ctr"/>
          <a:lstStyle/>
          <a:p>
            <a:r>
              <a:rPr lang="en-US"/>
              <a:t>       </a:t>
            </a:r>
          </a:p>
        </p:txBody>
      </p:sp>
      <p:sp>
        <p:nvSpPr>
          <p:cNvPr id="8197" name="Line 5"/>
          <p:cNvSpPr>
            <a:spLocks noChangeShapeType="1"/>
          </p:cNvSpPr>
          <p:nvPr/>
        </p:nvSpPr>
        <p:spPr bwMode="auto">
          <a:xfrm>
            <a:off x="0" y="1219200"/>
            <a:ext cx="9144000" cy="0"/>
          </a:xfrm>
          <a:prstGeom prst="line">
            <a:avLst/>
          </a:prstGeom>
          <a:noFill/>
          <a:ln w="9525">
            <a:solidFill>
              <a:srgbClr val="CC0000"/>
            </a:solidFill>
            <a:round/>
            <a:headEnd/>
            <a:tailEnd/>
          </a:ln>
        </p:spPr>
        <p:txBody>
          <a:bodyPr wrap="none" anchor="ctr"/>
          <a:lstStyle/>
          <a:p>
            <a:endParaRPr lang="en-US"/>
          </a:p>
        </p:txBody>
      </p:sp>
      <p:sp>
        <p:nvSpPr>
          <p:cNvPr id="8198" name="Title 1"/>
          <p:cNvSpPr>
            <a:spLocks/>
          </p:cNvSpPr>
          <p:nvPr/>
        </p:nvSpPr>
        <p:spPr bwMode="auto">
          <a:xfrm>
            <a:off x="457200" y="274638"/>
            <a:ext cx="8229600" cy="944562"/>
          </a:xfrm>
          <a:prstGeom prst="rect">
            <a:avLst/>
          </a:prstGeom>
          <a:noFill/>
          <a:ln w="9525">
            <a:noFill/>
            <a:miter lim="800000"/>
            <a:headEnd/>
            <a:tailEnd/>
          </a:ln>
        </p:spPr>
        <p:txBody>
          <a:bodyPr anchor="ctr"/>
          <a:lstStyle/>
          <a:p>
            <a:pPr algn="ctr"/>
            <a:r>
              <a:rPr lang="en-US" sz="2800" b="1">
                <a:solidFill>
                  <a:schemeClr val="bg1"/>
                </a:solidFill>
              </a:rPr>
              <a:t>Capital Exists for Proven Innovations</a:t>
            </a:r>
          </a:p>
        </p:txBody>
      </p:sp>
      <p:sp>
        <p:nvSpPr>
          <p:cNvPr id="8199" name="Line 8"/>
          <p:cNvSpPr>
            <a:spLocks noChangeShapeType="1"/>
          </p:cNvSpPr>
          <p:nvPr/>
        </p:nvSpPr>
        <p:spPr bwMode="auto">
          <a:xfrm>
            <a:off x="0" y="6248400"/>
            <a:ext cx="9144000" cy="0"/>
          </a:xfrm>
          <a:prstGeom prst="line">
            <a:avLst/>
          </a:prstGeom>
          <a:noFill/>
          <a:ln w="9525">
            <a:solidFill>
              <a:srgbClr val="CC0000"/>
            </a:solidFill>
            <a:round/>
            <a:headEnd/>
            <a:tailEnd/>
          </a:ln>
        </p:spPr>
        <p:txBody>
          <a:bodyPr wrap="none" anchor="ctr"/>
          <a:lstStyle/>
          <a:p>
            <a:endParaRPr lang="en-US"/>
          </a:p>
        </p:txBody>
      </p:sp>
      <p:pic>
        <p:nvPicPr>
          <p:cNvPr id="8200" name="Picture 10" descr="AURI_rgb_Logo.jpg                                              002BBBDCMacintosh HD                   7C2623F4:"/>
          <p:cNvPicPr>
            <a:picLocks noChangeAspect="1" noChangeArrowheads="1"/>
          </p:cNvPicPr>
          <p:nvPr/>
        </p:nvPicPr>
        <p:blipFill>
          <a:blip r:embed="rId3" cstate="print"/>
          <a:srcRect/>
          <a:stretch>
            <a:fillRect/>
          </a:stretch>
        </p:blipFill>
        <p:spPr bwMode="auto">
          <a:xfrm>
            <a:off x="7467600" y="5410200"/>
            <a:ext cx="1381125" cy="717550"/>
          </a:xfrm>
          <a:prstGeom prst="rect">
            <a:avLst/>
          </a:prstGeom>
          <a:noFill/>
          <a:ln w="9525">
            <a:noFill/>
            <a:miter lim="800000"/>
            <a:headEnd/>
            <a:tailEnd/>
          </a:ln>
        </p:spPr>
      </p:pic>
      <p:sp>
        <p:nvSpPr>
          <p:cNvPr id="8201" name="Content Placeholder 3"/>
          <p:cNvSpPr>
            <a:spLocks/>
          </p:cNvSpPr>
          <p:nvPr/>
        </p:nvSpPr>
        <p:spPr bwMode="auto">
          <a:xfrm>
            <a:off x="914400" y="1600200"/>
            <a:ext cx="7772400" cy="1554163"/>
          </a:xfrm>
          <a:prstGeom prst="rect">
            <a:avLst/>
          </a:prstGeom>
          <a:noFill/>
          <a:ln w="9525">
            <a:noFill/>
            <a:miter lim="800000"/>
            <a:headEnd/>
            <a:tailEnd/>
          </a:ln>
        </p:spPr>
        <p:txBody>
          <a:bodyPr>
            <a:spAutoFit/>
          </a:bodyPr>
          <a:lstStyle/>
          <a:p>
            <a:pPr marL="0" lvl="1">
              <a:spcAft>
                <a:spcPct val="75000"/>
              </a:spcAft>
            </a:pPr>
            <a:r>
              <a:rPr lang="en-US" sz="2000"/>
              <a:t>Funding will be there if good ideas are vetted and proven.</a:t>
            </a:r>
          </a:p>
          <a:p>
            <a:pPr marL="0" lvl="1">
              <a:spcAft>
                <a:spcPct val="75000"/>
              </a:spcAft>
            </a:pPr>
            <a:r>
              <a:rPr lang="en-US" sz="2000"/>
              <a:t>95% of our clients that demonstrate appropriate product, market, and    </a:t>
            </a:r>
            <a:br>
              <a:rPr lang="en-US" sz="2000"/>
            </a:br>
            <a:r>
              <a:rPr lang="en-US" sz="2000"/>
              <a:t> business readiness access the capital needed to move to</a:t>
            </a:r>
            <a:br>
              <a:rPr lang="en-US" sz="2000"/>
            </a:br>
            <a:r>
              <a:rPr lang="en-US" sz="2000"/>
              <a:t> commercialization.</a:t>
            </a:r>
          </a:p>
        </p:txBody>
      </p:sp>
      <p:pic>
        <p:nvPicPr>
          <p:cNvPr id="8202" name="Picture 10" descr=" truck.jpg                                                      002BD56BMacintosh HD                   7C2623F4:"/>
          <p:cNvPicPr>
            <a:picLocks noChangeAspect="1" noChangeArrowheads="1"/>
          </p:cNvPicPr>
          <p:nvPr/>
        </p:nvPicPr>
        <p:blipFill>
          <a:blip r:embed="rId4" cstate="print"/>
          <a:srcRect/>
          <a:stretch>
            <a:fillRect/>
          </a:stretch>
        </p:blipFill>
        <p:spPr bwMode="auto">
          <a:xfrm>
            <a:off x="438150" y="3276600"/>
            <a:ext cx="3005138" cy="2057400"/>
          </a:xfrm>
          <a:prstGeom prst="rect">
            <a:avLst/>
          </a:prstGeom>
          <a:noFill/>
          <a:ln w="9525">
            <a:noFill/>
            <a:miter lim="800000"/>
            <a:headEnd/>
            <a:tailEnd/>
          </a:ln>
        </p:spPr>
      </p:pic>
      <p:pic>
        <p:nvPicPr>
          <p:cNvPr id="8203" name="Picture 11" descr=" group.jpg                                                      002BD56BMacintosh HD                   7C2623F4:"/>
          <p:cNvPicPr>
            <a:picLocks noChangeAspect="1" noChangeArrowheads="1"/>
          </p:cNvPicPr>
          <p:nvPr/>
        </p:nvPicPr>
        <p:blipFill>
          <a:blip r:embed="rId5" cstate="print"/>
          <a:srcRect/>
          <a:stretch>
            <a:fillRect/>
          </a:stretch>
        </p:blipFill>
        <p:spPr bwMode="auto">
          <a:xfrm>
            <a:off x="2760663" y="3281363"/>
            <a:ext cx="2801937" cy="2020887"/>
          </a:xfrm>
          <a:prstGeom prst="rect">
            <a:avLst/>
          </a:prstGeom>
          <a:noFill/>
          <a:ln w="9525">
            <a:noFill/>
            <a:miter lim="800000"/>
            <a:headEnd/>
            <a:tailEnd/>
          </a:ln>
        </p:spPr>
      </p:pic>
      <p:pic>
        <p:nvPicPr>
          <p:cNvPr id="8204" name="Picture 12" descr="fans.jpg                                                       002BD56BMacintosh HD                   7C2623F4:"/>
          <p:cNvPicPr>
            <a:picLocks noChangeAspect="1" noChangeArrowheads="1"/>
          </p:cNvPicPr>
          <p:nvPr/>
        </p:nvPicPr>
        <p:blipFill>
          <a:blip r:embed="rId6" cstate="print"/>
          <a:srcRect/>
          <a:stretch>
            <a:fillRect/>
          </a:stretch>
        </p:blipFill>
        <p:spPr bwMode="auto">
          <a:xfrm>
            <a:off x="5145088" y="3281363"/>
            <a:ext cx="2170112" cy="2020887"/>
          </a:xfrm>
          <a:prstGeom prst="rect">
            <a:avLst/>
          </a:prstGeom>
          <a:noFill/>
          <a:ln w="9525">
            <a:noFill/>
            <a:miter lim="800000"/>
            <a:headEnd/>
            <a:tailEnd/>
          </a:ln>
        </p:spPr>
      </p:pic>
      <p:pic>
        <p:nvPicPr>
          <p:cNvPr id="8205" name="Picture 13" descr="research.jpg                                                   002BD56BMacintosh HD                   7C2623F4:"/>
          <p:cNvPicPr>
            <a:picLocks noChangeAspect="1" noChangeArrowheads="1"/>
          </p:cNvPicPr>
          <p:nvPr/>
        </p:nvPicPr>
        <p:blipFill>
          <a:blip r:embed="rId7" cstate="print"/>
          <a:srcRect/>
          <a:stretch>
            <a:fillRect/>
          </a:stretch>
        </p:blipFill>
        <p:spPr bwMode="auto">
          <a:xfrm>
            <a:off x="7286625" y="3276600"/>
            <a:ext cx="1857375" cy="20256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3"/>
          <p:cNvSpPr>
            <a:spLocks noChangeArrowheads="1"/>
          </p:cNvSpPr>
          <p:nvPr/>
        </p:nvSpPr>
        <p:spPr bwMode="auto">
          <a:xfrm>
            <a:off x="0" y="0"/>
            <a:ext cx="9144000" cy="6248400"/>
          </a:xfrm>
          <a:prstGeom prst="rect">
            <a:avLst/>
          </a:prstGeom>
          <a:solidFill>
            <a:srgbClr val="003366"/>
          </a:solidFill>
          <a:ln w="9525">
            <a:noFill/>
            <a:miter lim="800000"/>
            <a:headEnd/>
            <a:tailEnd/>
          </a:ln>
        </p:spPr>
        <p:txBody>
          <a:bodyPr wrap="none" anchor="ctr"/>
          <a:lstStyle/>
          <a:p>
            <a:endParaRPr lang="en-US"/>
          </a:p>
        </p:txBody>
      </p:sp>
      <p:sp>
        <p:nvSpPr>
          <p:cNvPr id="10243" name="Rectangle 4"/>
          <p:cNvSpPr>
            <a:spLocks noChangeArrowheads="1"/>
          </p:cNvSpPr>
          <p:nvPr/>
        </p:nvSpPr>
        <p:spPr bwMode="auto">
          <a:xfrm>
            <a:off x="0" y="6248400"/>
            <a:ext cx="9144000" cy="609600"/>
          </a:xfrm>
          <a:prstGeom prst="rect">
            <a:avLst/>
          </a:prstGeom>
          <a:solidFill>
            <a:srgbClr val="819BB8"/>
          </a:solidFill>
          <a:ln w="9525">
            <a:noFill/>
            <a:miter lim="800000"/>
            <a:headEnd/>
            <a:tailEnd/>
          </a:ln>
        </p:spPr>
        <p:txBody>
          <a:bodyPr wrap="none" anchor="ctr"/>
          <a:lstStyle/>
          <a:p>
            <a:endParaRPr lang="en-US"/>
          </a:p>
        </p:txBody>
      </p:sp>
      <p:sp>
        <p:nvSpPr>
          <p:cNvPr id="10244" name="Rectangle 5"/>
          <p:cNvSpPr>
            <a:spLocks noChangeArrowheads="1"/>
          </p:cNvSpPr>
          <p:nvPr/>
        </p:nvSpPr>
        <p:spPr bwMode="auto">
          <a:xfrm>
            <a:off x="457200" y="1066800"/>
            <a:ext cx="8686800" cy="5181600"/>
          </a:xfrm>
          <a:prstGeom prst="rect">
            <a:avLst/>
          </a:prstGeom>
          <a:solidFill>
            <a:schemeClr val="bg1"/>
          </a:solidFill>
          <a:ln w="9525">
            <a:noFill/>
            <a:miter lim="800000"/>
            <a:headEnd/>
            <a:tailEnd/>
          </a:ln>
        </p:spPr>
        <p:txBody>
          <a:bodyPr wrap="none" anchor="ctr"/>
          <a:lstStyle/>
          <a:p>
            <a:pPr algn="ctr"/>
            <a:endParaRPr lang="en-US" sz="2800" b="1"/>
          </a:p>
        </p:txBody>
      </p:sp>
      <p:sp>
        <p:nvSpPr>
          <p:cNvPr id="10245" name="Line 6"/>
          <p:cNvSpPr>
            <a:spLocks noChangeShapeType="1"/>
          </p:cNvSpPr>
          <p:nvPr/>
        </p:nvSpPr>
        <p:spPr bwMode="auto">
          <a:xfrm>
            <a:off x="0" y="1219200"/>
            <a:ext cx="9144000" cy="0"/>
          </a:xfrm>
          <a:prstGeom prst="line">
            <a:avLst/>
          </a:prstGeom>
          <a:noFill/>
          <a:ln w="9525">
            <a:solidFill>
              <a:srgbClr val="CC0000"/>
            </a:solidFill>
            <a:round/>
            <a:headEnd/>
            <a:tailEnd/>
          </a:ln>
        </p:spPr>
        <p:txBody>
          <a:bodyPr wrap="none" anchor="ctr"/>
          <a:lstStyle/>
          <a:p>
            <a:endParaRPr lang="en-US"/>
          </a:p>
        </p:txBody>
      </p:sp>
      <p:sp>
        <p:nvSpPr>
          <p:cNvPr id="10246" name="Title 1"/>
          <p:cNvSpPr>
            <a:spLocks/>
          </p:cNvSpPr>
          <p:nvPr/>
        </p:nvSpPr>
        <p:spPr bwMode="auto">
          <a:xfrm>
            <a:off x="457200" y="274638"/>
            <a:ext cx="8229600" cy="944562"/>
          </a:xfrm>
          <a:prstGeom prst="rect">
            <a:avLst/>
          </a:prstGeom>
          <a:noFill/>
          <a:ln w="9525">
            <a:noFill/>
            <a:miter lim="800000"/>
            <a:headEnd/>
            <a:tailEnd/>
          </a:ln>
        </p:spPr>
        <p:txBody>
          <a:bodyPr anchor="ctr"/>
          <a:lstStyle/>
          <a:p>
            <a:pPr algn="ctr"/>
            <a:endParaRPr lang="en-US" sz="2800" b="1">
              <a:solidFill>
                <a:schemeClr val="bg1"/>
              </a:solidFill>
            </a:endParaRPr>
          </a:p>
        </p:txBody>
      </p:sp>
      <p:sp>
        <p:nvSpPr>
          <p:cNvPr id="10247" name="Line 9"/>
          <p:cNvSpPr>
            <a:spLocks noChangeShapeType="1"/>
          </p:cNvSpPr>
          <p:nvPr/>
        </p:nvSpPr>
        <p:spPr bwMode="auto">
          <a:xfrm>
            <a:off x="0" y="6248400"/>
            <a:ext cx="9144000" cy="0"/>
          </a:xfrm>
          <a:prstGeom prst="line">
            <a:avLst/>
          </a:prstGeom>
          <a:noFill/>
          <a:ln w="9525">
            <a:solidFill>
              <a:srgbClr val="CC0000"/>
            </a:solidFill>
            <a:round/>
            <a:headEnd/>
            <a:tailEnd/>
          </a:ln>
        </p:spPr>
        <p:txBody>
          <a:bodyPr wrap="none" anchor="ctr"/>
          <a:lstStyle/>
          <a:p>
            <a:endParaRPr lang="en-US"/>
          </a:p>
        </p:txBody>
      </p:sp>
      <p:pic>
        <p:nvPicPr>
          <p:cNvPr id="10248" name="Picture 11" descr="AURI_rgb_Logo.jpg                                              002BBBDCMacintosh HD                   7C2623F4:"/>
          <p:cNvPicPr>
            <a:picLocks noChangeAspect="1" noChangeArrowheads="1"/>
          </p:cNvPicPr>
          <p:nvPr/>
        </p:nvPicPr>
        <p:blipFill>
          <a:blip r:embed="rId3" cstate="print"/>
          <a:srcRect/>
          <a:stretch>
            <a:fillRect/>
          </a:stretch>
        </p:blipFill>
        <p:spPr bwMode="auto">
          <a:xfrm>
            <a:off x="7467600" y="5410200"/>
            <a:ext cx="1381125" cy="717550"/>
          </a:xfrm>
          <a:prstGeom prst="rect">
            <a:avLst/>
          </a:prstGeom>
          <a:noFill/>
          <a:ln w="9525">
            <a:noFill/>
            <a:miter lim="800000"/>
            <a:headEnd/>
            <a:tailEnd/>
          </a:ln>
        </p:spPr>
      </p:pic>
      <p:sp>
        <p:nvSpPr>
          <p:cNvPr id="10249" name="Content Placeholder 2"/>
          <p:cNvSpPr>
            <a:spLocks/>
          </p:cNvSpPr>
          <p:nvPr/>
        </p:nvSpPr>
        <p:spPr bwMode="auto">
          <a:xfrm>
            <a:off x="762000" y="1524000"/>
            <a:ext cx="8382000" cy="4449763"/>
          </a:xfrm>
          <a:prstGeom prst="rect">
            <a:avLst/>
          </a:prstGeom>
          <a:noFill/>
          <a:ln w="9525">
            <a:noFill/>
            <a:miter lim="800000"/>
            <a:headEnd/>
            <a:tailEnd/>
          </a:ln>
        </p:spPr>
        <p:txBody>
          <a:bodyPr/>
          <a:lstStyle/>
          <a:p>
            <a:pPr>
              <a:spcAft>
                <a:spcPct val="50000"/>
              </a:spcAft>
            </a:pPr>
            <a:endParaRPr lang="en-US" sz="2000" b="1"/>
          </a:p>
        </p:txBody>
      </p:sp>
      <p:sp>
        <p:nvSpPr>
          <p:cNvPr id="10250" name="Content Placeholder 2"/>
          <p:cNvSpPr>
            <a:spLocks/>
          </p:cNvSpPr>
          <p:nvPr/>
        </p:nvSpPr>
        <p:spPr bwMode="auto">
          <a:xfrm>
            <a:off x="762000" y="1447800"/>
            <a:ext cx="8382000" cy="4449763"/>
          </a:xfrm>
          <a:prstGeom prst="rect">
            <a:avLst/>
          </a:prstGeom>
          <a:noFill/>
          <a:ln w="9525">
            <a:noFill/>
            <a:miter lim="800000"/>
            <a:headEnd/>
            <a:tailEnd/>
          </a:ln>
        </p:spPr>
        <p:txBody>
          <a:bodyPr/>
          <a:lstStyle/>
          <a:p>
            <a:pPr>
              <a:spcBef>
                <a:spcPct val="50000"/>
              </a:spcBef>
              <a:spcAft>
                <a:spcPct val="50000"/>
              </a:spcAft>
              <a:buFont typeface="Arial" charset="0"/>
              <a:buNone/>
            </a:pPr>
            <a:r>
              <a:rPr lang="en-US" altLang="ja-JP" sz="2000"/>
              <a:t> </a:t>
            </a:r>
          </a:p>
        </p:txBody>
      </p:sp>
      <p:sp>
        <p:nvSpPr>
          <p:cNvPr id="10251" name="TextBox 10"/>
          <p:cNvSpPr txBox="1">
            <a:spLocks noChangeArrowheads="1"/>
          </p:cNvSpPr>
          <p:nvPr/>
        </p:nvSpPr>
        <p:spPr bwMode="auto">
          <a:xfrm>
            <a:off x="685800" y="3200400"/>
            <a:ext cx="8001000" cy="523875"/>
          </a:xfrm>
          <a:prstGeom prst="rect">
            <a:avLst/>
          </a:prstGeom>
          <a:noFill/>
          <a:ln w="9525">
            <a:noFill/>
            <a:miter lim="800000"/>
            <a:headEnd/>
            <a:tailEnd/>
          </a:ln>
        </p:spPr>
        <p:txBody>
          <a:bodyPr>
            <a:spAutoFit/>
          </a:bodyPr>
          <a:lstStyle/>
          <a:p>
            <a:pPr algn="ctr"/>
            <a:r>
              <a:rPr lang="en-US" sz="2800"/>
              <a:t>Agriculture + Innovation = A Prosperous Minnesota</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3"/>
          <p:cNvSpPr>
            <a:spLocks noChangeArrowheads="1"/>
          </p:cNvSpPr>
          <p:nvPr/>
        </p:nvSpPr>
        <p:spPr bwMode="auto">
          <a:xfrm>
            <a:off x="0" y="0"/>
            <a:ext cx="9144000" cy="6248400"/>
          </a:xfrm>
          <a:prstGeom prst="rect">
            <a:avLst/>
          </a:prstGeom>
          <a:solidFill>
            <a:srgbClr val="003366"/>
          </a:solidFill>
          <a:ln w="9525">
            <a:noFill/>
            <a:miter lim="800000"/>
            <a:headEnd/>
            <a:tailEnd/>
          </a:ln>
        </p:spPr>
        <p:txBody>
          <a:bodyPr wrap="none" anchor="ctr"/>
          <a:lstStyle/>
          <a:p>
            <a:endParaRPr lang="en-US"/>
          </a:p>
        </p:txBody>
      </p:sp>
      <p:sp>
        <p:nvSpPr>
          <p:cNvPr id="9219" name="Rectangle 4"/>
          <p:cNvSpPr>
            <a:spLocks noChangeArrowheads="1"/>
          </p:cNvSpPr>
          <p:nvPr/>
        </p:nvSpPr>
        <p:spPr bwMode="auto">
          <a:xfrm>
            <a:off x="0" y="6248400"/>
            <a:ext cx="9144000" cy="609600"/>
          </a:xfrm>
          <a:prstGeom prst="rect">
            <a:avLst/>
          </a:prstGeom>
          <a:solidFill>
            <a:srgbClr val="819BB8"/>
          </a:solidFill>
          <a:ln w="9525">
            <a:noFill/>
            <a:miter lim="800000"/>
            <a:headEnd/>
            <a:tailEnd/>
          </a:ln>
        </p:spPr>
        <p:txBody>
          <a:bodyPr wrap="none" anchor="ctr"/>
          <a:lstStyle/>
          <a:p>
            <a:endParaRPr lang="en-US"/>
          </a:p>
        </p:txBody>
      </p:sp>
      <p:sp>
        <p:nvSpPr>
          <p:cNvPr id="9220" name="Rectangle 5"/>
          <p:cNvSpPr>
            <a:spLocks noChangeArrowheads="1"/>
          </p:cNvSpPr>
          <p:nvPr/>
        </p:nvSpPr>
        <p:spPr bwMode="auto">
          <a:xfrm>
            <a:off x="457200" y="1143000"/>
            <a:ext cx="8686800" cy="5181600"/>
          </a:xfrm>
          <a:prstGeom prst="rect">
            <a:avLst/>
          </a:prstGeom>
          <a:solidFill>
            <a:schemeClr val="bg1"/>
          </a:solidFill>
          <a:ln w="9525">
            <a:noFill/>
            <a:miter lim="800000"/>
            <a:headEnd/>
            <a:tailEnd/>
          </a:ln>
        </p:spPr>
        <p:txBody>
          <a:bodyPr wrap="none" anchor="ctr"/>
          <a:lstStyle/>
          <a:p>
            <a:endParaRPr lang="en-US"/>
          </a:p>
        </p:txBody>
      </p:sp>
      <p:sp>
        <p:nvSpPr>
          <p:cNvPr id="9221" name="Line 6"/>
          <p:cNvSpPr>
            <a:spLocks noChangeShapeType="1"/>
          </p:cNvSpPr>
          <p:nvPr/>
        </p:nvSpPr>
        <p:spPr bwMode="auto">
          <a:xfrm>
            <a:off x="0" y="1219200"/>
            <a:ext cx="9144000" cy="0"/>
          </a:xfrm>
          <a:prstGeom prst="line">
            <a:avLst/>
          </a:prstGeom>
          <a:noFill/>
          <a:ln w="9525">
            <a:solidFill>
              <a:srgbClr val="CC0000"/>
            </a:solidFill>
            <a:round/>
            <a:headEnd/>
            <a:tailEnd/>
          </a:ln>
        </p:spPr>
        <p:txBody>
          <a:bodyPr wrap="none" anchor="ctr"/>
          <a:lstStyle/>
          <a:p>
            <a:endParaRPr lang="en-US"/>
          </a:p>
        </p:txBody>
      </p:sp>
      <p:sp>
        <p:nvSpPr>
          <p:cNvPr id="9222" name="Title 1"/>
          <p:cNvSpPr>
            <a:spLocks/>
          </p:cNvSpPr>
          <p:nvPr/>
        </p:nvSpPr>
        <p:spPr bwMode="auto">
          <a:xfrm>
            <a:off x="457200" y="274638"/>
            <a:ext cx="8229600" cy="944562"/>
          </a:xfrm>
          <a:prstGeom prst="rect">
            <a:avLst/>
          </a:prstGeom>
          <a:noFill/>
          <a:ln w="9525">
            <a:noFill/>
            <a:miter lim="800000"/>
            <a:headEnd/>
            <a:tailEnd/>
          </a:ln>
        </p:spPr>
        <p:txBody>
          <a:bodyPr anchor="ctr"/>
          <a:lstStyle/>
          <a:p>
            <a:pPr algn="ctr"/>
            <a:r>
              <a:rPr lang="en-US" sz="2800" b="1" dirty="0" smtClean="0">
                <a:solidFill>
                  <a:schemeClr val="bg1"/>
                </a:solidFill>
              </a:rPr>
              <a:t>What can you do?</a:t>
            </a:r>
            <a:endParaRPr lang="en-US" sz="2800" b="1" dirty="0">
              <a:solidFill>
                <a:schemeClr val="bg1"/>
              </a:solidFill>
            </a:endParaRPr>
          </a:p>
        </p:txBody>
      </p:sp>
      <p:sp>
        <p:nvSpPr>
          <p:cNvPr id="9223" name="Line 9"/>
          <p:cNvSpPr>
            <a:spLocks noChangeShapeType="1"/>
          </p:cNvSpPr>
          <p:nvPr/>
        </p:nvSpPr>
        <p:spPr bwMode="auto">
          <a:xfrm>
            <a:off x="0" y="6248400"/>
            <a:ext cx="9144000" cy="0"/>
          </a:xfrm>
          <a:prstGeom prst="line">
            <a:avLst/>
          </a:prstGeom>
          <a:noFill/>
          <a:ln w="9525">
            <a:solidFill>
              <a:srgbClr val="CC0000"/>
            </a:solidFill>
            <a:round/>
            <a:headEnd/>
            <a:tailEnd/>
          </a:ln>
        </p:spPr>
        <p:txBody>
          <a:bodyPr wrap="none" anchor="ctr"/>
          <a:lstStyle/>
          <a:p>
            <a:endParaRPr lang="en-US"/>
          </a:p>
        </p:txBody>
      </p:sp>
      <p:pic>
        <p:nvPicPr>
          <p:cNvPr id="9224" name="Picture 11" descr="AURI_rgb_Logo.jpg                                              002BBBDCMacintosh HD                   7C2623F4:"/>
          <p:cNvPicPr>
            <a:picLocks noChangeAspect="1" noChangeArrowheads="1"/>
          </p:cNvPicPr>
          <p:nvPr/>
        </p:nvPicPr>
        <p:blipFill>
          <a:blip r:embed="rId3" cstate="print"/>
          <a:srcRect/>
          <a:stretch>
            <a:fillRect/>
          </a:stretch>
        </p:blipFill>
        <p:spPr bwMode="auto">
          <a:xfrm>
            <a:off x="7467600" y="5410200"/>
            <a:ext cx="1381125" cy="717550"/>
          </a:xfrm>
          <a:prstGeom prst="rect">
            <a:avLst/>
          </a:prstGeom>
          <a:noFill/>
          <a:ln w="9525">
            <a:noFill/>
            <a:miter lim="800000"/>
            <a:headEnd/>
            <a:tailEnd/>
          </a:ln>
        </p:spPr>
      </p:pic>
      <p:sp>
        <p:nvSpPr>
          <p:cNvPr id="9225" name="Content Placeholder 2"/>
          <p:cNvSpPr>
            <a:spLocks/>
          </p:cNvSpPr>
          <p:nvPr/>
        </p:nvSpPr>
        <p:spPr bwMode="auto">
          <a:xfrm>
            <a:off x="762000" y="1524000"/>
            <a:ext cx="8382000" cy="4449763"/>
          </a:xfrm>
          <a:prstGeom prst="rect">
            <a:avLst/>
          </a:prstGeom>
          <a:noFill/>
          <a:ln w="9525">
            <a:noFill/>
            <a:miter lim="800000"/>
            <a:headEnd/>
            <a:tailEnd/>
          </a:ln>
        </p:spPr>
        <p:txBody>
          <a:bodyPr/>
          <a:lstStyle/>
          <a:p>
            <a:pPr>
              <a:spcAft>
                <a:spcPct val="50000"/>
              </a:spcAft>
            </a:pPr>
            <a:r>
              <a:rPr lang="en-US" sz="2000" dirty="0"/>
              <a:t> </a:t>
            </a:r>
            <a:r>
              <a:rPr lang="en-US" sz="2000" dirty="0" smtClean="0"/>
              <a:t>Encourage ALIGNMENT of programming across the state from research to development to commercialization.</a:t>
            </a:r>
          </a:p>
          <a:p>
            <a:pPr>
              <a:spcAft>
                <a:spcPct val="50000"/>
              </a:spcAft>
            </a:pPr>
            <a:r>
              <a:rPr lang="en-US" sz="2000" dirty="0"/>
              <a:t/>
            </a:r>
            <a:br>
              <a:rPr lang="en-US" sz="2000" dirty="0"/>
            </a:br>
            <a:r>
              <a:rPr lang="en-US" sz="2000" dirty="0" smtClean="0"/>
              <a:t>When funding research, if appropriate, make sure there is a plan for dissemination or development, including collaboration with local organizations.</a:t>
            </a:r>
          </a:p>
          <a:p>
            <a:pPr>
              <a:spcAft>
                <a:spcPct val="50000"/>
              </a:spcAft>
            </a:pPr>
            <a:endParaRPr lang="en-US" sz="2000" dirty="0" smtClean="0"/>
          </a:p>
          <a:p>
            <a:pPr>
              <a:spcAft>
                <a:spcPct val="50000"/>
              </a:spcAft>
            </a:pPr>
            <a:r>
              <a:rPr lang="en-US" sz="2000" dirty="0" smtClean="0"/>
              <a:t>Look at your district – be proactive in supporting and providing venues for GENERATING IDEAS that build on the capacity and unique assets of your district.</a:t>
            </a:r>
            <a:endParaRPr lang="en-US" sz="2000"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902</TotalTime>
  <Words>431</Words>
  <Application>Microsoft Office PowerPoint</Application>
  <PresentationFormat>On-screen Show (4:3)</PresentationFormat>
  <Paragraphs>82</Paragraphs>
  <Slides>8</Slides>
  <Notes>7</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Office Theme</vt:lpstr>
      <vt:lpstr>Perspectives on Growth: What we can learn from agricultural innovators</vt:lpstr>
      <vt:lpstr>Who We Are</vt:lpstr>
      <vt:lpstr>Outcomes</vt:lpstr>
      <vt:lpstr>Slide 4</vt:lpstr>
      <vt:lpstr>Slide 5</vt:lpstr>
      <vt:lpstr>Slide 6</vt:lpstr>
      <vt:lpstr>Slide 7</vt:lpstr>
      <vt:lpstr>Slide 8</vt:lpstr>
    </vt:vector>
  </TitlesOfParts>
  <Company>Microsoft</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One Minnesota Presentation</dc:title>
  <dc:creator>kparis</dc:creator>
  <cp:lastModifiedBy>Kate Cimino</cp:lastModifiedBy>
  <cp:revision>88</cp:revision>
  <dcterms:created xsi:type="dcterms:W3CDTF">2012-01-11T20:06:28Z</dcterms:created>
  <dcterms:modified xsi:type="dcterms:W3CDTF">2012-01-25T16:02:30Z</dcterms:modified>
</cp:coreProperties>
</file>