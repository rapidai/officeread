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30"/>
  </p:notesMasterIdLst>
  <p:sldIdLst>
    <p:sldId id="256" r:id="rId2"/>
    <p:sldId id="291" r:id="rId3"/>
    <p:sldId id="260" r:id="rId4"/>
    <p:sldId id="261" r:id="rId5"/>
    <p:sldId id="263" r:id="rId6"/>
    <p:sldId id="264" r:id="rId7"/>
    <p:sldId id="265" r:id="rId8"/>
    <p:sldId id="268" r:id="rId9"/>
    <p:sldId id="269" r:id="rId10"/>
    <p:sldId id="270" r:id="rId11"/>
    <p:sldId id="271" r:id="rId12"/>
    <p:sldId id="272" r:id="rId13"/>
    <p:sldId id="274" r:id="rId14"/>
    <p:sldId id="275" r:id="rId15"/>
    <p:sldId id="282" r:id="rId16"/>
    <p:sldId id="283" r:id="rId17"/>
    <p:sldId id="277" r:id="rId18"/>
    <p:sldId id="279" r:id="rId19"/>
    <p:sldId id="278" r:id="rId20"/>
    <p:sldId id="280" r:id="rId21"/>
    <p:sldId id="288" r:id="rId22"/>
    <p:sldId id="281" r:id="rId23"/>
    <p:sldId id="276" r:id="rId24"/>
    <p:sldId id="284" r:id="rId25"/>
    <p:sldId id="289" r:id="rId26"/>
    <p:sldId id="286" r:id="rId27"/>
    <p:sldId id="266" r:id="rId28"/>
    <p:sldId id="267"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656" autoAdjust="0"/>
  </p:normalViewPr>
  <p:slideViewPr>
    <p:cSldViewPr>
      <p:cViewPr varScale="1">
        <p:scale>
          <a:sx n="66" d="100"/>
          <a:sy n="66" d="100"/>
        </p:scale>
        <p:origin x="-1650"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CBA4EC0-A2B1-4FA7-9D2D-62A028F2938B}" type="datetimeFigureOut">
              <a:rPr lang="en-US" smtClean="0"/>
              <a:pPr/>
              <a:t>2/10/2010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BD75E9-4384-4963-B8ED-17783A445A2A}" type="slidenum">
              <a:rPr lang="en-US" smtClean="0"/>
              <a:pPr/>
              <a:t>‹#›</a:t>
            </a:fld>
            <a:endParaRPr lang="en-US"/>
          </a:p>
        </p:txBody>
      </p:sp>
    </p:spTree>
    <p:extLst>
      <p:ext uri="{BB962C8B-B14F-4D97-AF65-F5344CB8AC3E}">
        <p14:creationId xmlns:p14="http://schemas.microsoft.com/office/powerpoint/2010/main" val="1168914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To be clear, this</a:t>
            </a:r>
            <a:r>
              <a:rPr lang="en-US" baseline="0" dirty="0" smtClean="0"/>
              <a:t> presentation </a:t>
            </a:r>
            <a:r>
              <a:rPr lang="en-US" baseline="0" dirty="0" smtClean="0"/>
              <a:t>is not really original </a:t>
            </a:r>
            <a:r>
              <a:rPr lang="en-US" baseline="0" dirty="0" smtClean="0"/>
              <a:t>work of mine, sometimes blatantly so</a:t>
            </a:r>
            <a:r>
              <a:rPr lang="en-US" baseline="0" dirty="0" smtClean="0"/>
              <a:t>!</a:t>
            </a:r>
          </a:p>
          <a:p>
            <a:endParaRPr lang="en-US" baseline="0" dirty="0" smtClean="0"/>
          </a:p>
          <a:p>
            <a:r>
              <a:rPr lang="en-US" baseline="0" dirty="0" smtClean="0"/>
              <a:t>I created this presentation for an </a:t>
            </a:r>
            <a:r>
              <a:rPr lang="en-US" baseline="0" dirty="0" err="1" smtClean="0"/>
              <a:t>NYU:Poly</a:t>
            </a:r>
            <a:r>
              <a:rPr lang="en-US" baseline="0" dirty="0" smtClean="0"/>
              <a:t> course in mobile application development – non-security CS undergrads and a non-security course – to introduce them to mobile device security issues. I knew very little about Android before making it and I have stopped researching it since. There might be mistakes in here but I tried to source the material as much as possible from people who actually do </a:t>
            </a:r>
            <a:r>
              <a:rPr lang="en-US" baseline="0" smtClean="0"/>
              <a:t>know what they’re talking about.</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We’re not talking so much about code security issues in the </a:t>
            </a:r>
            <a:r>
              <a:rPr lang="en-US" dirty="0" err="1" smtClean="0"/>
              <a:t>Davlik</a:t>
            </a:r>
            <a:r>
              <a:rPr lang="en-US" dirty="0" smtClean="0"/>
              <a:t> SDK. SDKs from both Android and </a:t>
            </a:r>
            <a:r>
              <a:rPr lang="en-US" dirty="0" err="1" smtClean="0"/>
              <a:t>iPhone</a:t>
            </a:r>
            <a:r>
              <a:rPr lang="en-US" baseline="0" dirty="0" smtClean="0"/>
              <a:t> do a good job of taking security out of the hands of developers. Dino is going to talk more about the possible issues you should be aware of as developers. My talk is going to focus more on OS internals and embedded OS design issues.</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None/>
            </a:pP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r>
              <a:rPr lang="en-US" dirty="0" smtClean="0"/>
              <a:t>You’ll notice this talk is much more “ad hoc” than Dino’s</a:t>
            </a:r>
            <a:r>
              <a:rPr lang="en-US" baseline="0" dirty="0" smtClean="0"/>
              <a:t> upcoming talk on the </a:t>
            </a:r>
            <a:r>
              <a:rPr lang="en-US" baseline="0" dirty="0" err="1" smtClean="0"/>
              <a:t>iPhone</a:t>
            </a:r>
            <a:r>
              <a:rPr lang="en-US" baseline="0" dirty="0" smtClean="0"/>
              <a:t>. This is a reflection of the current implementation of Android. They either haven’t thought about the big mobile device security issues or they haven’t addressed them yet. The </a:t>
            </a:r>
            <a:r>
              <a:rPr lang="en-US" baseline="0" dirty="0" err="1" smtClean="0"/>
              <a:t>iPhone</a:t>
            </a:r>
            <a:r>
              <a:rPr lang="en-US" baseline="0" dirty="0" smtClean="0"/>
              <a:t> is at v3.0 and Android is at v1.1, so this might change in time, but currently, Android doesn’t have good answers to lots of security questions.</a:t>
            </a:r>
          </a:p>
          <a:p>
            <a:pPr marL="228600" indent="-228600">
              <a:buAutoNum type="arabicPeriod"/>
            </a:pPr>
            <a:r>
              <a:rPr lang="en-US" dirty="0" smtClean="0"/>
              <a:t>The Android OS is based on Linux which is</a:t>
            </a:r>
            <a:r>
              <a:rPr lang="en-US" baseline="0" dirty="0" smtClean="0"/>
              <a:t> among the most well documented OS’s from an exploitation perspective. ARMv5.</a:t>
            </a:r>
          </a:p>
          <a:p>
            <a:pPr marL="228600" indent="-228600">
              <a:buAutoNum type="arabicPeriod"/>
            </a:pPr>
            <a:r>
              <a:rPr lang="en-US" baseline="0" dirty="0" smtClean="0"/>
              <a:t>Android contains dozens of 3</a:t>
            </a:r>
            <a:r>
              <a:rPr lang="en-US" baseline="30000" dirty="0" smtClean="0"/>
              <a:t>rd</a:t>
            </a:r>
            <a:r>
              <a:rPr lang="en-US" baseline="0" dirty="0" smtClean="0"/>
              <a:t> party OSS libraries whose vulnerabilities aren’t tracked and their patching status is unknown. Finding a vulnerability in the Android OS is as easy as </a:t>
            </a:r>
            <a:r>
              <a:rPr lang="en-US" baseline="0" dirty="0" err="1" smtClean="0"/>
              <a:t>grepping</a:t>
            </a:r>
            <a:r>
              <a:rPr lang="en-US" baseline="0" dirty="0" smtClean="0"/>
              <a:t> a </a:t>
            </a:r>
            <a:r>
              <a:rPr lang="en-US" baseline="0" dirty="0" err="1" smtClean="0"/>
              <a:t>changelog</a:t>
            </a:r>
            <a:r>
              <a:rPr lang="en-US" baseline="0" dirty="0" smtClean="0"/>
              <a:t>.</a:t>
            </a:r>
          </a:p>
          <a:p>
            <a:pPr marL="228600" indent="-228600">
              <a:buAutoNum type="arabicPeriod"/>
            </a:pPr>
            <a:r>
              <a:rPr lang="en-US" baseline="0" dirty="0" smtClean="0"/>
              <a:t>The code that isn’t 3</a:t>
            </a:r>
            <a:r>
              <a:rPr lang="en-US" baseline="30000" dirty="0" smtClean="0"/>
              <a:t>rd</a:t>
            </a:r>
            <a:r>
              <a:rPr lang="en-US" baseline="0" dirty="0" smtClean="0"/>
              <a:t> party is fresh C development by Google engineers, not to mention, </a:t>
            </a:r>
            <a:r>
              <a:rPr lang="en-US" baseline="0" dirty="0" smtClean="0"/>
              <a:t>most of the </a:t>
            </a:r>
            <a:r>
              <a:rPr lang="en-US" baseline="0" dirty="0" smtClean="0"/>
              <a:t>code is publicly available.</a:t>
            </a:r>
          </a:p>
          <a:p>
            <a:pPr marL="228600" indent="-228600">
              <a:buAutoNum type="arabicPeriod"/>
            </a:pPr>
            <a:r>
              <a:rPr lang="en-US" baseline="0" dirty="0" smtClean="0"/>
              <a:t>Many common tools used for exploit development on Linux can be easily ported over to Android.</a:t>
            </a:r>
          </a:p>
          <a:p>
            <a:pPr marL="228600" indent="-228600">
              <a:buAutoNum type="arabicPeriod"/>
            </a:pPr>
            <a:r>
              <a:rPr lang="en-US" baseline="0" dirty="0" smtClean="0"/>
              <a:t>Historically, we’ve seen a large amount of interest in hacking this platform because it is easy and high-profile. There were 3 separate talks at a recent security conference re: Android security.</a:t>
            </a:r>
            <a:endParaRPr lang="en-US" dirty="0" smtClean="0"/>
          </a:p>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Why are we talking about this? This image</a:t>
            </a:r>
            <a:r>
              <a:rPr lang="en-US" baseline="0" dirty="0" smtClean="0"/>
              <a:t> partially (mostly) defines the attack surface of the phone. The Android Platform consists of a large number of components at the OS, middleware, and application level.</a:t>
            </a:r>
          </a:p>
          <a:p>
            <a:r>
              <a:rPr lang="en-US" baseline="0" dirty="0" smtClean="0"/>
              <a:t>- At the lowest level, the OS is based on a fairly stock Linux kernel (2.6.25) with binary drivers added to enable functionality in some of the hardware. (</a:t>
            </a:r>
            <a:r>
              <a:rPr lang="en-US" baseline="0" dirty="0" smtClean="0"/>
              <a:t>save </a:t>
            </a:r>
            <a:r>
              <a:rPr lang="en-US" baseline="0" dirty="0" smtClean="0"/>
              <a:t>those binary drivers when flashing the phone) (binary keyboard update that caused the root terminal issue)</a:t>
            </a:r>
          </a:p>
          <a:p>
            <a:pPr>
              <a:buFontTx/>
              <a:buChar char="-"/>
            </a:pPr>
            <a:r>
              <a:rPr lang="en-US" baseline="0" dirty="0" smtClean="0"/>
              <a:t> Google provides a full set of libraries to enable rich media functionality on the phone. They wanted to make it as easy as possible to write complicated and interactive applications so they sourced libraries from all over OSS and even wrote a large amount of their own code implementing things like a multimedia framework for parsing formats like h264 and mp3.</a:t>
            </a:r>
          </a:p>
          <a:p>
            <a:pPr>
              <a:buFontTx/>
              <a:buChar char="-"/>
            </a:pPr>
            <a:r>
              <a:rPr lang="en-US" dirty="0" smtClean="0"/>
              <a:t> At the application level, most are written in Java and compiled to </a:t>
            </a:r>
            <a:r>
              <a:rPr lang="en-US" dirty="0" err="1" smtClean="0"/>
              <a:t>dex</a:t>
            </a:r>
            <a:r>
              <a:rPr lang="en-US" dirty="0" smtClean="0"/>
              <a:t> to be run by the </a:t>
            </a:r>
            <a:r>
              <a:rPr lang="en-US" dirty="0" err="1" smtClean="0"/>
              <a:t>Davlik</a:t>
            </a:r>
            <a:r>
              <a:rPr lang="en-US" dirty="0" smtClean="0"/>
              <a:t> interpreter. These applications run as Linux processes on a 1-1 mapping.</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Bytecode</a:t>
            </a:r>
            <a:r>
              <a:rPr lang="en-US" dirty="0" smtClean="0"/>
              <a:t> interpreter: while</a:t>
            </a:r>
            <a:r>
              <a:rPr lang="en-US" baseline="0" dirty="0" smtClean="0"/>
              <a:t> -&gt; switch statement. Speed this up by making an </a:t>
            </a:r>
            <a:r>
              <a:rPr lang="en-US" baseline="0" dirty="0" err="1" smtClean="0"/>
              <a:t>opcode</a:t>
            </a:r>
            <a:r>
              <a:rPr lang="en-US" baseline="0" dirty="0" smtClean="0"/>
              <a:t> table and indexing to find instruction. </a:t>
            </a:r>
            <a:r>
              <a:rPr lang="en-US" baseline="0" dirty="0" err="1" smtClean="0"/>
              <a:t>Davlik</a:t>
            </a:r>
            <a:r>
              <a:rPr lang="en-US" baseline="0" dirty="0" smtClean="0"/>
              <a:t> guarantees that interpreter begins at certain address and that each </a:t>
            </a:r>
            <a:r>
              <a:rPr lang="en-US" baseline="0" dirty="0" err="1" smtClean="0"/>
              <a:t>opcode</a:t>
            </a:r>
            <a:r>
              <a:rPr lang="en-US" baseline="0" dirty="0" smtClean="0"/>
              <a:t> is the same number of bytes (pads it). Aligns on cache-line boundary.</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From Bornstein’s presentation</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From Bornstein’s presentation</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9</a:t>
            </a:fld>
            <a:endParaRPr lang="en-US"/>
          </a:p>
        </p:txBody>
      </p:sp>
    </p:spTree>
    <p:extLst>
      <p:ext uri="{BB962C8B-B14F-4D97-AF65-F5344CB8AC3E}">
        <p14:creationId xmlns:p14="http://schemas.microsoft.com/office/powerpoint/2010/main" val="771471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From Charlie’s presentation</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Can you see a problem </a:t>
            </a:r>
            <a:r>
              <a:rPr lang="en-US" dirty="0" smtClean="0"/>
              <a:t>with </a:t>
            </a:r>
            <a:r>
              <a:rPr lang="en-US" dirty="0" smtClean="0"/>
              <a:t>this</a:t>
            </a:r>
            <a:r>
              <a:rPr lang="en-US" dirty="0" smtClean="0"/>
              <a:t>? (From </a:t>
            </a:r>
            <a:r>
              <a:rPr lang="en-US" dirty="0" err="1" smtClean="0"/>
              <a:t>Oberheide’s</a:t>
            </a:r>
            <a:r>
              <a:rPr lang="en-US" dirty="0" smtClean="0"/>
              <a:t> presentation)</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From</a:t>
            </a:r>
            <a:r>
              <a:rPr lang="en-US" baseline="0" dirty="0" smtClean="0"/>
              <a:t> Charlie’s presentation</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Just thought I should mention this</a:t>
            </a:r>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CBD75E9-4384-4963-B8ED-17783A445A2A}" type="slidenum">
              <a:rPr lang="en-US" smtClean="0"/>
              <a:pPr/>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xmlns:mc="http://schemas.openxmlformats.org/markup-compatibility/2006" xmlns:a14="http://schemas.microsoft.com/office/drawing/2010/main" val="000000" mc:Ignorable=""/>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xmlns:mc="http://schemas.openxmlformats.org/markup-compatibility/2006" xmlns:a14="http://schemas.microsoft.com/office/drawing/2010/main" val="FFFFFF" mc:Ignorable=""/>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792FADA2-DBF2-4866-AAC2-1A9BC9B10695}" type="datetimeFigureOut">
              <a:rPr lang="en-US" smtClean="0"/>
              <a:pPr/>
              <a:t>2/10/2010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82D2CE-9A9C-4726-9C02-C7EA4C8F3F3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xmlns:mc="http://schemas.openxmlformats.org/markup-compatibility/2006" xmlns:a14="http://schemas.microsoft.com/office/drawing/2010/main" val="FFFFFF" mc:Ignorable=""/>
          </a:solidFill>
          <a:ln w="48000" cap="flat" cmpd="thickThin" algn="ctr">
            <a:noFill/>
            <a:prstDash val="solid"/>
          </a:ln>
          <a:effectLst>
            <a:outerShdw blurRad="31750" dist="10160" dir="5400000" algn="tl" rotWithShape="0">
              <a:srgbClr xmlns:mc="http://schemas.openxmlformats.org/markup-compatibility/2006" xmlns:a14="http://schemas.microsoft.com/office/drawing/2010/main" val="000000" mc:Ignorable="">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92FADA2-DBF2-4866-AAC2-1A9BC9B10695}" type="datetimeFigureOut">
              <a:rPr lang="en-US" smtClean="0"/>
              <a:pPr/>
              <a:t>2/10/2010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82D2CE-9A9C-4726-9C02-C7EA4C8F3F3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xmlns:mc="http://schemas.openxmlformats.org/markup-compatibility/2006" xmlns:a14="http://schemas.microsoft.com/office/drawing/2010/main" val="000000" mc:Ignorable=""/>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xmlns:mc="http://schemas.openxmlformats.org/markup-compatibility/2006" xmlns:a14="http://schemas.microsoft.com/office/drawing/2010/main" val="FFFFFF" mc:Ignorable=""/>
          </a:solidFill>
          <a:ln w="48000" cap="flat" cmpd="thickThin" algn="ctr">
            <a:noFill/>
            <a:prstDash val="solid"/>
          </a:ln>
          <a:effectLst>
            <a:outerShdw blurRad="31750" dist="10160" dir="5400000" algn="tl" rotWithShape="0">
              <a:srgbClr xmlns:mc="http://schemas.openxmlformats.org/markup-compatibility/2006" xmlns:a14="http://schemas.microsoft.com/office/drawing/2010/main" val="000000" mc:Ignorable="">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xmlns:mc="http://schemas.openxmlformats.org/markup-compatibility/2006" xmlns:a14="http://schemas.microsoft.com/office/drawing/2010/main" val="FFFFFF" mc:Ignorable=""/>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92FADA2-DBF2-4866-AAC2-1A9BC9B10695}" type="datetimeFigureOut">
              <a:rPr lang="en-US" smtClean="0"/>
              <a:pPr/>
              <a:t>2/10/2010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82D2CE-9A9C-4726-9C02-C7EA4C8F3F3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92FADA2-DBF2-4866-AAC2-1A9BC9B10695}" type="datetimeFigureOut">
              <a:rPr lang="en-US" smtClean="0"/>
              <a:pPr/>
              <a:t>2/10/2010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82D2CE-9A9C-4726-9C02-C7EA4C8F3F3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92FADA2-DBF2-4866-AAC2-1A9BC9B10695}" type="datetimeFigureOut">
              <a:rPr lang="en-US" smtClean="0"/>
              <a:pPr/>
              <a:t>2/10/2010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82D2CE-9A9C-4726-9C02-C7EA4C8F3F3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92FADA2-DBF2-4866-AAC2-1A9BC9B10695}" type="datetimeFigureOut">
              <a:rPr lang="en-US" smtClean="0"/>
              <a:pPr/>
              <a:t>2/10/2010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82D2CE-9A9C-4726-9C02-C7EA4C8F3F3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2FADA2-DBF2-4866-AAC2-1A9BC9B10695}" type="datetimeFigureOut">
              <a:rPr lang="en-US" smtClean="0"/>
              <a:pPr/>
              <a:t>2/10/2010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82D2CE-9A9C-4726-9C02-C7EA4C8F3F3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92FADA2-DBF2-4866-AAC2-1A9BC9B10695}" type="datetimeFigureOut">
              <a:rPr lang="en-US" smtClean="0"/>
              <a:pPr/>
              <a:t>2/10/2010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82D2CE-9A9C-4726-9C02-C7EA4C8F3F3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xmlns:mc="http://schemas.openxmlformats.org/markup-compatibility/2006" xmlns:a14="http://schemas.microsoft.com/office/drawing/2010/main" val="FFFFFF" mc:Ignorable=""/>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xmlns:mc="http://schemas.openxmlformats.org/markup-compatibility/2006" xmlns:a14="http://schemas.microsoft.com/office/drawing/2010/main" val="FFFFFF" mc:Ignorable=""/>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792FADA2-DBF2-4866-AAC2-1A9BC9B10695}" type="datetimeFigureOut">
              <a:rPr lang="en-US" smtClean="0"/>
              <a:pPr/>
              <a:t>2/10/2010</a:t>
            </a:fld>
            <a:endParaRPr lang="en-US"/>
          </a:p>
        </p:txBody>
      </p:sp>
      <p:sp>
        <p:nvSpPr>
          <p:cNvPr id="11" name="Rectangle 10"/>
          <p:cNvSpPr/>
          <p:nvPr/>
        </p:nvSpPr>
        <p:spPr>
          <a:xfrm>
            <a:off x="2855737" y="0"/>
            <a:ext cx="45720" cy="6858000"/>
          </a:xfrm>
          <a:prstGeom prst="rect">
            <a:avLst/>
          </a:prstGeom>
          <a:solidFill>
            <a:srgbClr xmlns:mc="http://schemas.openxmlformats.org/markup-compatibility/2006" xmlns:a14="http://schemas.microsoft.com/office/drawing/2010/main" val="FFFFFF" mc:Ignorable=""/>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xmlns:mc="http://schemas.openxmlformats.org/markup-compatibility/2006" xmlns:a14="http://schemas.microsoft.com/office/drawing/2010/main" val="FFFFFF" mc:Ignorable=""/>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7D82D2CE-9A9C-4726-9C02-C7EA4C8F3F3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92FADA2-DBF2-4866-AAC2-1A9BC9B10695}" type="datetimeFigureOut">
              <a:rPr lang="en-US" smtClean="0"/>
              <a:pPr/>
              <a:t>2/10/2010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82D2CE-9A9C-4726-9C02-C7EA4C8F3F3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xmlns:mc="http://schemas.openxmlformats.org/markup-compatibility/2006" xmlns:a14="http://schemas.microsoft.com/office/drawing/2010/main" val="FFFFFF" mc:Ignorable=""/>
          </a:solidFill>
          <a:ln w="48000" cap="flat" cmpd="thickThin" algn="ctr">
            <a:noFill/>
            <a:prstDash val="solid"/>
          </a:ln>
          <a:effectLst>
            <a:outerShdw blurRad="31750" dist="10160" dir="10800000" algn="tl" rotWithShape="0">
              <a:srgbClr xmlns:mc="http://schemas.openxmlformats.org/markup-compatibility/2006" xmlns:a14="http://schemas.microsoft.com/office/drawing/2010/main" val="000000" mc:Ignorable="">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xmlns:mc="http://schemas.openxmlformats.org/markup-compatibility/2006" xmlns:a14="http://schemas.microsoft.com/office/drawing/2010/main" val="000000" mc:Ignorable=""/>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92FADA2-DBF2-4866-AAC2-1A9BC9B10695}" type="datetimeFigureOut">
              <a:rPr lang="en-US" smtClean="0"/>
              <a:pPr/>
              <a:t>2/10/2010</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7D82D2CE-9A9C-4726-9C02-C7EA4C8F3F3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xmlns:mc="http://schemas.openxmlformats.org/markup-compatibility/2006" xmlns:a14="http://schemas.microsoft.com/office/drawing/2010/main" val="FFFFFF" mc:Ignorable=""/>
          </a:solidFill>
          <a:ln w="48000" cap="flat" cmpd="thickThin" algn="ctr">
            <a:noFill/>
            <a:prstDash val="solid"/>
          </a:ln>
          <a:effectLst>
            <a:outerShdw blurRad="31750" dist="10160" dir="5400000" algn="tl" rotWithShape="0">
              <a:srgbClr xmlns:mc="http://schemas.openxmlformats.org/markup-compatibility/2006" xmlns:a14="http://schemas.microsoft.com/office/drawing/2010/main" val="000000" mc:Ignorable="">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xmlns:mc="http://schemas.openxmlformats.org/markup-compatibility/2006" xmlns:a14="http://schemas.microsoft.com/office/drawing/2010/main" val="000000" mc:Ignorable=""/>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lstStyle>
          <a:p>
            <a:fld id="{792FADA2-DBF2-4866-AAC2-1A9BC9B10695}" type="datetimeFigureOut">
              <a:rPr lang="en-US" smtClean="0"/>
              <a:pPr/>
              <a:t>2/10/2010</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lstStyle>
          <a:p>
            <a:fld id="{7D82D2CE-9A9C-4726-9C02-C7EA4C8F3F3E}"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Android</a:t>
            </a:r>
            <a:endParaRPr lang="en-US" dirty="0"/>
          </a:p>
        </p:txBody>
      </p:sp>
      <p:sp>
        <p:nvSpPr>
          <p:cNvPr id="3" name="Subtitle 2"/>
          <p:cNvSpPr>
            <a:spLocks noGrp="1"/>
          </p:cNvSpPr>
          <p:nvPr>
            <p:ph type="subTitle" idx="1"/>
          </p:nvPr>
        </p:nvSpPr>
        <p:spPr/>
        <p:txBody>
          <a:bodyPr/>
          <a:lstStyle/>
          <a:p>
            <a:r>
              <a:rPr lang="en-US" dirty="0" smtClean="0"/>
              <a:t>The most exploitable </a:t>
            </a:r>
            <a:r>
              <a:rPr lang="en-US" dirty="0" err="1" smtClean="0"/>
              <a:t>smartphone</a:t>
            </a:r>
            <a:r>
              <a:rPr lang="en-US" dirty="0" smtClean="0"/>
              <a:t> on the market</a:t>
            </a:r>
            <a:endParaRPr lang="en-US" dirty="0"/>
          </a:p>
        </p:txBody>
      </p:sp>
      <p:pic>
        <p:nvPicPr>
          <p:cNvPr id="1026" name="Picture 2" descr="C:\Documents and Settings\Dan Guido\Desktop\title.png"/>
          <p:cNvPicPr>
            <a:picLocks noChangeAspect="1" noChangeArrowheads="1"/>
          </p:cNvPicPr>
          <p:nvPr/>
        </p:nvPicPr>
        <p:blipFill>
          <a:blip r:embed="rId2"/>
          <a:srcRect/>
          <a:stretch>
            <a:fillRect/>
          </a:stretch>
        </p:blipFill>
        <p:spPr bwMode="auto">
          <a:xfrm>
            <a:off x="2209800" y="228600"/>
            <a:ext cx="4652962" cy="2659657"/>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 You!</a:t>
            </a:r>
            <a:endParaRPr lang="en-US" dirty="0"/>
          </a:p>
        </p:txBody>
      </p:sp>
      <p:sp>
        <p:nvSpPr>
          <p:cNvPr id="3" name="Content Placeholder 2"/>
          <p:cNvSpPr>
            <a:spLocks noGrp="1"/>
          </p:cNvSpPr>
          <p:nvPr>
            <p:ph idx="1"/>
          </p:nvPr>
        </p:nvSpPr>
        <p:spPr/>
        <p:txBody>
          <a:bodyPr>
            <a:normAutofit/>
          </a:bodyPr>
          <a:lstStyle/>
          <a:p>
            <a:r>
              <a:rPr lang="en-US" dirty="0" smtClean="0"/>
              <a:t>This presentation is a compilation of original research done by the following people:</a:t>
            </a:r>
          </a:p>
          <a:p>
            <a:pPr lvl="1"/>
            <a:r>
              <a:rPr lang="en-US" dirty="0" smtClean="0"/>
              <a:t>Charlie Miller,</a:t>
            </a:r>
          </a:p>
          <a:p>
            <a:pPr lvl="1"/>
            <a:r>
              <a:rPr lang="en-US" dirty="0" smtClean="0"/>
              <a:t>Sergio ‘</a:t>
            </a:r>
            <a:r>
              <a:rPr lang="en-US" dirty="0" err="1" smtClean="0"/>
              <a:t>shadown</a:t>
            </a:r>
            <a:r>
              <a:rPr lang="en-US" dirty="0" smtClean="0"/>
              <a:t>’ Alvarez,</a:t>
            </a:r>
          </a:p>
          <a:p>
            <a:pPr lvl="1"/>
            <a:r>
              <a:rPr lang="en-US" dirty="0" smtClean="0"/>
              <a:t>Jon </a:t>
            </a:r>
            <a:r>
              <a:rPr lang="en-US" dirty="0" err="1" smtClean="0"/>
              <a:t>Oberheide</a:t>
            </a:r>
            <a:r>
              <a:rPr lang="en-US" dirty="0" smtClean="0"/>
              <a:t>,</a:t>
            </a:r>
          </a:p>
          <a:p>
            <a:pPr lvl="1"/>
            <a:r>
              <a:rPr lang="en-US" dirty="0" smtClean="0"/>
              <a:t>Alfredo Ortega,</a:t>
            </a:r>
          </a:p>
          <a:p>
            <a:pPr lvl="1"/>
            <a:r>
              <a:rPr lang="en-US" dirty="0" smtClean="0"/>
              <a:t>Nicolas </a:t>
            </a:r>
            <a:r>
              <a:rPr lang="en-US" dirty="0" err="1" smtClean="0"/>
              <a:t>Economou</a:t>
            </a:r>
            <a:r>
              <a:rPr lang="en-US" dirty="0" smtClean="0"/>
              <a:t>,</a:t>
            </a:r>
          </a:p>
          <a:p>
            <a:pPr lvl="1"/>
            <a:r>
              <a:rPr lang="en-US" dirty="0" smtClean="0"/>
              <a:t>Dan Bornstein, and others listed in the appendix!</a:t>
            </a:r>
          </a:p>
          <a:p>
            <a:endParaRPr lang="en-US" dirty="0" smtClean="0"/>
          </a:p>
          <a:p>
            <a:pPr lvl="1"/>
            <a:endParaRPr lang="en-US" dirty="0" smtClean="0"/>
          </a:p>
        </p:txBody>
      </p:sp>
    </p:spTree>
    <p:extLst>
      <p:ext uri="{BB962C8B-B14F-4D97-AF65-F5344CB8AC3E}">
        <p14:creationId xmlns:p14="http://schemas.microsoft.com/office/powerpoint/2010/main" val="2122223466"/>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What are we talking about?</a:t>
            </a:r>
          </a:p>
          <a:p>
            <a:pPr lvl="1"/>
            <a:r>
              <a:rPr lang="en-US" dirty="0" smtClean="0"/>
              <a:t>The OS, the SDK, </a:t>
            </a:r>
            <a:r>
              <a:rPr lang="en-US" dirty="0" err="1" smtClean="0"/>
              <a:t>Dalvik</a:t>
            </a:r>
            <a:r>
              <a:rPr lang="en-US" dirty="0" smtClean="0"/>
              <a:t>, </a:t>
            </a:r>
            <a:r>
              <a:rPr lang="en-US" dirty="0" err="1" smtClean="0"/>
              <a:t>Dex</a:t>
            </a:r>
            <a:endParaRPr lang="en-US" dirty="0" smtClean="0"/>
          </a:p>
          <a:p>
            <a:pPr lvl="1"/>
            <a:endParaRPr lang="en-US" dirty="0" smtClean="0"/>
          </a:p>
          <a:p>
            <a:r>
              <a:rPr lang="en-US" dirty="0" smtClean="0"/>
              <a:t>SDK Security Architecture</a:t>
            </a:r>
          </a:p>
          <a:p>
            <a:pPr lvl="1"/>
            <a:r>
              <a:rPr lang="en-US" dirty="0" smtClean="0"/>
              <a:t>APKs, Permissions, Android Market</a:t>
            </a:r>
          </a:p>
          <a:p>
            <a:pPr lvl="1"/>
            <a:endParaRPr lang="en-US" dirty="0" smtClean="0"/>
          </a:p>
          <a:p>
            <a:r>
              <a:rPr lang="en-US" dirty="0" smtClean="0"/>
              <a:t>Native Apps</a:t>
            </a:r>
          </a:p>
          <a:p>
            <a:pPr lvl="1"/>
            <a:r>
              <a:rPr lang="en-US" dirty="0" err="1" smtClean="0"/>
              <a:t>Toolchain</a:t>
            </a:r>
            <a:r>
              <a:rPr lang="en-US" dirty="0" smtClean="0"/>
              <a:t>, Debugging</a:t>
            </a:r>
          </a:p>
          <a:p>
            <a:pPr lvl="1"/>
            <a:endParaRPr lang="en-US" dirty="0" smtClean="0"/>
          </a:p>
          <a:p>
            <a:r>
              <a:rPr lang="en-US" dirty="0" smtClean="0"/>
              <a:t>Exploiting Android</a:t>
            </a:r>
          </a:p>
          <a:p>
            <a:pPr lvl="1"/>
            <a:r>
              <a:rPr lang="en-US" dirty="0" err="1" smtClean="0"/>
              <a:t>Jailbreaking</a:t>
            </a:r>
            <a:r>
              <a:rPr lang="en-US" dirty="0" smtClean="0"/>
              <a:t>, Attacking Applications, Exploiting Android, Finding Bugs</a:t>
            </a:r>
          </a:p>
          <a:p>
            <a:pPr lvl="1"/>
            <a:endParaRPr lang="en-US" dirty="0" smtClean="0"/>
          </a:p>
          <a:p>
            <a:r>
              <a:rPr lang="en-US" dirty="0" smtClean="0"/>
              <a:t>Research Opportunities</a:t>
            </a:r>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Point</a:t>
            </a:r>
            <a:endParaRPr lang="en-US" dirty="0"/>
          </a:p>
        </p:txBody>
      </p:sp>
      <p:sp>
        <p:nvSpPr>
          <p:cNvPr id="3" name="Content Placeholder 2"/>
          <p:cNvSpPr>
            <a:spLocks noGrp="1"/>
          </p:cNvSpPr>
          <p:nvPr>
            <p:ph idx="1"/>
          </p:nvPr>
        </p:nvSpPr>
        <p:spPr/>
        <p:txBody>
          <a:bodyPr>
            <a:normAutofit/>
          </a:bodyPr>
          <a:lstStyle/>
          <a:p>
            <a:r>
              <a:rPr lang="en-US" dirty="0" smtClean="0"/>
              <a:t>The Android OS is the most easily exploitable </a:t>
            </a:r>
            <a:r>
              <a:rPr lang="en-US" dirty="0" err="1" smtClean="0"/>
              <a:t>smartphone</a:t>
            </a:r>
            <a:r>
              <a:rPr lang="en-US" dirty="0" smtClean="0"/>
              <a:t> on the market today (!)</a:t>
            </a:r>
          </a:p>
          <a:p>
            <a:endParaRPr lang="en-US" dirty="0" smtClean="0"/>
          </a:p>
          <a:p>
            <a:r>
              <a:rPr lang="en-US" dirty="0" smtClean="0"/>
              <a:t>Typical mobile phones:</a:t>
            </a:r>
          </a:p>
          <a:p>
            <a:pPr lvl="1"/>
            <a:r>
              <a:rPr lang="en-US" dirty="0" smtClean="0"/>
              <a:t>Operating system not documented</a:t>
            </a:r>
          </a:p>
          <a:p>
            <a:pPr lvl="1"/>
            <a:r>
              <a:rPr lang="en-US" dirty="0" smtClean="0"/>
              <a:t>Firmware delivered via binary</a:t>
            </a:r>
          </a:p>
          <a:p>
            <a:pPr lvl="1"/>
            <a:r>
              <a:rPr lang="en-US" dirty="0" smtClean="0"/>
              <a:t>Hardware not commonplace</a:t>
            </a:r>
          </a:p>
          <a:p>
            <a:pPr lvl="1"/>
            <a:r>
              <a:rPr lang="en-US" dirty="0" smtClean="0"/>
              <a:t>Application </a:t>
            </a:r>
            <a:r>
              <a:rPr lang="en-US" dirty="0" err="1" smtClean="0"/>
              <a:t>whitelisting</a:t>
            </a:r>
            <a:r>
              <a:rPr lang="en-US" dirty="0" smtClean="0"/>
              <a:t> / code signing</a:t>
            </a:r>
          </a:p>
          <a:p>
            <a:pPr lvl="1"/>
            <a:endParaRPr lang="en-US" dirty="0" smtClean="0"/>
          </a:p>
          <a:p>
            <a:pPr lvl="1"/>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Android Fail</a:t>
            </a:r>
            <a:endParaRPr lang="en-US" dirty="0"/>
          </a:p>
        </p:txBody>
      </p:sp>
      <p:sp>
        <p:nvSpPr>
          <p:cNvPr id="3" name="Content Placeholder 2"/>
          <p:cNvSpPr>
            <a:spLocks noGrp="1"/>
          </p:cNvSpPr>
          <p:nvPr>
            <p:ph idx="1"/>
          </p:nvPr>
        </p:nvSpPr>
        <p:spPr/>
        <p:txBody>
          <a:bodyPr>
            <a:normAutofit fontScale="92500" lnSpcReduction="20000"/>
          </a:bodyPr>
          <a:lstStyle/>
          <a:p>
            <a:pPr marL="678942" indent="-514350">
              <a:buFont typeface="+mj-lt"/>
              <a:buAutoNum type="arabicPeriod"/>
            </a:pPr>
            <a:r>
              <a:rPr lang="en-US" dirty="0" smtClean="0"/>
              <a:t>Many security goals not addressed</a:t>
            </a:r>
          </a:p>
          <a:p>
            <a:pPr marL="678942" indent="-514350">
              <a:buFont typeface="+mj-lt"/>
              <a:buAutoNum type="arabicPeriod"/>
            </a:pPr>
            <a:endParaRPr lang="en-US" dirty="0" smtClean="0"/>
          </a:p>
          <a:p>
            <a:pPr marL="678942" indent="-514350">
              <a:buFont typeface="+mj-lt"/>
              <a:buAutoNum type="arabicPeriod"/>
            </a:pPr>
            <a:r>
              <a:rPr lang="en-US" dirty="0" smtClean="0"/>
              <a:t>Platform well understood by hackers</a:t>
            </a:r>
          </a:p>
          <a:p>
            <a:pPr marL="678942" indent="-514350">
              <a:buFont typeface="+mj-lt"/>
              <a:buAutoNum type="arabicPeriod"/>
            </a:pPr>
            <a:endParaRPr lang="en-US" dirty="0" smtClean="0"/>
          </a:p>
          <a:p>
            <a:pPr marL="678942" indent="-514350">
              <a:buFont typeface="+mj-lt"/>
              <a:buAutoNum type="arabicPeriod"/>
            </a:pPr>
            <a:r>
              <a:rPr lang="en-US" dirty="0" smtClean="0"/>
              <a:t>Infrequent patching of 3</a:t>
            </a:r>
            <a:r>
              <a:rPr lang="en-US" baseline="30000" dirty="0" smtClean="0"/>
              <a:t>rd</a:t>
            </a:r>
            <a:r>
              <a:rPr lang="en-US" dirty="0" smtClean="0"/>
              <a:t> party libraries</a:t>
            </a:r>
          </a:p>
          <a:p>
            <a:pPr marL="678942" indent="-514350">
              <a:buFont typeface="+mj-lt"/>
              <a:buAutoNum type="arabicPeriod"/>
            </a:pPr>
            <a:endParaRPr lang="en-US" dirty="0" smtClean="0"/>
          </a:p>
          <a:p>
            <a:pPr marL="678942" indent="-514350">
              <a:buFont typeface="+mj-lt"/>
              <a:buAutoNum type="arabicPeriod"/>
            </a:pPr>
            <a:r>
              <a:rPr lang="en-US" dirty="0" smtClean="0"/>
              <a:t>Consists of new, untested C code</a:t>
            </a:r>
          </a:p>
          <a:p>
            <a:pPr marL="678942" indent="-514350">
              <a:buFont typeface="+mj-lt"/>
              <a:buAutoNum type="arabicPeriod"/>
            </a:pPr>
            <a:endParaRPr lang="en-US" dirty="0" smtClean="0"/>
          </a:p>
          <a:p>
            <a:pPr marL="678942" indent="-514350">
              <a:buFont typeface="+mj-lt"/>
              <a:buAutoNum type="arabicPeriod"/>
            </a:pPr>
            <a:r>
              <a:rPr lang="en-US" dirty="0" smtClean="0"/>
              <a:t>Large set of low-level tools available</a:t>
            </a:r>
          </a:p>
          <a:p>
            <a:pPr marL="678942" indent="-514350">
              <a:buFont typeface="+mj-lt"/>
              <a:buAutoNum type="arabicPeriod"/>
            </a:pPr>
            <a:endParaRPr lang="en-US" dirty="0" smtClean="0"/>
          </a:p>
          <a:p>
            <a:pPr marL="678942" indent="-514350">
              <a:buFont typeface="+mj-lt"/>
              <a:buAutoNum type="arabicPeriod"/>
            </a:pPr>
            <a:r>
              <a:rPr lang="en-US" dirty="0" smtClean="0"/>
              <a:t>High-profile device is attracting attention</a:t>
            </a:r>
          </a:p>
          <a:p>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Android Basics</a:t>
            </a:r>
            <a:endParaRPr lang="en-US" dirty="0"/>
          </a:p>
        </p:txBody>
      </p:sp>
      <p:sp>
        <p:nvSpPr>
          <p:cNvPr id="3" name="Content Placeholder 2"/>
          <p:cNvSpPr>
            <a:spLocks noGrp="1"/>
          </p:cNvSpPr>
          <p:nvPr>
            <p:ph idx="1"/>
          </p:nvPr>
        </p:nvSpPr>
        <p:spPr/>
        <p:txBody>
          <a:bodyPr>
            <a:normAutofit/>
          </a:bodyPr>
          <a:lstStyle/>
          <a:p>
            <a:endParaRPr lang="en-US" dirty="0" smtClean="0"/>
          </a:p>
        </p:txBody>
      </p:sp>
      <p:pic>
        <p:nvPicPr>
          <p:cNvPr id="1026" name="Picture 2" descr="C:\Documents and Settings\Dan Guido\Desktop\system-architecture.jpg"/>
          <p:cNvPicPr>
            <a:picLocks noChangeAspect="1" noChangeArrowheads="1"/>
          </p:cNvPicPr>
          <p:nvPr/>
        </p:nvPicPr>
        <p:blipFill>
          <a:blip r:embed="rId3"/>
          <a:srcRect/>
          <a:stretch>
            <a:fillRect/>
          </a:stretch>
        </p:blipFill>
        <p:spPr bwMode="auto">
          <a:xfrm>
            <a:off x="1143000" y="1600200"/>
            <a:ext cx="6791325" cy="4876800"/>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Demystifying </a:t>
            </a:r>
            <a:r>
              <a:rPr lang="en-US" dirty="0" err="1" smtClean="0"/>
              <a:t>Dalvik</a:t>
            </a:r>
            <a:endParaRPr lang="en-US" dirty="0"/>
          </a:p>
        </p:txBody>
      </p:sp>
      <p:sp>
        <p:nvSpPr>
          <p:cNvPr id="3" name="Content Placeholder 2"/>
          <p:cNvSpPr>
            <a:spLocks noGrp="1"/>
          </p:cNvSpPr>
          <p:nvPr>
            <p:ph idx="1"/>
          </p:nvPr>
        </p:nvSpPr>
        <p:spPr/>
        <p:txBody>
          <a:bodyPr>
            <a:normAutofit lnSpcReduction="10000"/>
          </a:bodyPr>
          <a:lstStyle/>
          <a:p>
            <a:r>
              <a:rPr lang="en-US" dirty="0" smtClean="0"/>
              <a:t>Optimizing translator for Java class files to a register-based </a:t>
            </a:r>
            <a:r>
              <a:rPr lang="en-US" dirty="0" err="1" smtClean="0"/>
              <a:t>bytecode</a:t>
            </a:r>
            <a:r>
              <a:rPr lang="en-US" dirty="0" smtClean="0"/>
              <a:t> format called </a:t>
            </a:r>
            <a:r>
              <a:rPr lang="en-US" dirty="0" err="1" smtClean="0"/>
              <a:t>dex</a:t>
            </a:r>
            <a:endParaRPr lang="en-US" dirty="0" smtClean="0"/>
          </a:p>
          <a:p>
            <a:endParaRPr lang="en-US" dirty="0" smtClean="0"/>
          </a:p>
          <a:p>
            <a:pPr lvl="1"/>
            <a:r>
              <a:rPr lang="en-US" dirty="0" smtClean="0"/>
              <a:t>Collapses shared elements in class files</a:t>
            </a:r>
          </a:p>
          <a:p>
            <a:pPr lvl="2"/>
            <a:r>
              <a:rPr lang="en-US" dirty="0" err="1" smtClean="0"/>
              <a:t>Filesize</a:t>
            </a:r>
            <a:r>
              <a:rPr lang="en-US" dirty="0" smtClean="0"/>
              <a:t> savings are in line with </a:t>
            </a:r>
            <a:r>
              <a:rPr lang="en-US" dirty="0" err="1" smtClean="0"/>
              <a:t>gzip’ing</a:t>
            </a:r>
            <a:r>
              <a:rPr lang="en-US" dirty="0" smtClean="0"/>
              <a:t> a class file</a:t>
            </a:r>
          </a:p>
          <a:p>
            <a:pPr lvl="2"/>
            <a:endParaRPr lang="en-US" dirty="0" smtClean="0"/>
          </a:p>
          <a:p>
            <a:pPr lvl="1"/>
            <a:r>
              <a:rPr lang="en-US" dirty="0" smtClean="0"/>
              <a:t>Instruction stream / code units more dense</a:t>
            </a:r>
          </a:p>
          <a:p>
            <a:pPr lvl="2"/>
            <a:r>
              <a:rPr lang="en-US" dirty="0" smtClean="0"/>
              <a:t>More code in cache at once</a:t>
            </a:r>
          </a:p>
          <a:p>
            <a:pPr lvl="1"/>
            <a:endParaRPr lang="en-US" dirty="0" smtClean="0"/>
          </a:p>
          <a:p>
            <a:pPr lvl="1"/>
            <a:r>
              <a:rPr lang="en-US" dirty="0" smtClean="0"/>
              <a:t>Many optimizations specifically target ARM CPU</a:t>
            </a:r>
          </a:p>
          <a:p>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lvl="1"/>
            <a:endParaRPr lang="en-US" dirty="0" smtClean="0"/>
          </a:p>
        </p:txBody>
      </p:sp>
      <p:pic>
        <p:nvPicPr>
          <p:cNvPr id="2050" name="Picture 2" descr="C:\Documents and Settings\Dan Guido\Desktop\java class.png"/>
          <p:cNvPicPr>
            <a:picLocks noChangeAspect="1" noChangeArrowheads="1"/>
          </p:cNvPicPr>
          <p:nvPr/>
        </p:nvPicPr>
        <p:blipFill>
          <a:blip r:embed="rId3"/>
          <a:srcRect/>
          <a:stretch>
            <a:fillRect/>
          </a:stretch>
        </p:blipFill>
        <p:spPr bwMode="auto">
          <a:xfrm>
            <a:off x="0" y="0"/>
            <a:ext cx="9144000" cy="6870448"/>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C:\Documents and Settings\Dan Guido\Desktop\dex file.png"/>
          <p:cNvPicPr>
            <a:picLocks noChangeAspect="1" noChangeArrowheads="1"/>
          </p:cNvPicPr>
          <p:nvPr/>
        </p:nvPicPr>
        <p:blipFill>
          <a:blip r:embed="rId3"/>
          <a:srcRect/>
          <a:stretch>
            <a:fillRect/>
          </a:stretch>
        </p:blipFill>
        <p:spPr bwMode="auto">
          <a:xfrm>
            <a:off x="0" y="8312"/>
            <a:ext cx="9144000" cy="6849688"/>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Sandboxing</a:t>
            </a:r>
            <a:endParaRPr lang="en-US" dirty="0"/>
          </a:p>
        </p:txBody>
      </p:sp>
      <p:sp>
        <p:nvSpPr>
          <p:cNvPr id="3" name="Content Placeholder 2"/>
          <p:cNvSpPr>
            <a:spLocks noGrp="1"/>
          </p:cNvSpPr>
          <p:nvPr>
            <p:ph idx="1"/>
          </p:nvPr>
        </p:nvSpPr>
        <p:spPr/>
        <p:txBody>
          <a:bodyPr>
            <a:normAutofit/>
          </a:bodyPr>
          <a:lstStyle/>
          <a:p>
            <a:r>
              <a:rPr lang="en-US" dirty="0" smtClean="0"/>
              <a:t>Each app runs in its own Linux process</a:t>
            </a:r>
          </a:p>
          <a:p>
            <a:endParaRPr lang="en-US" dirty="0" smtClean="0"/>
          </a:p>
          <a:p>
            <a:r>
              <a:rPr lang="en-US" dirty="0" smtClean="0"/>
              <a:t>Each app is given unique user and group IDs</a:t>
            </a:r>
          </a:p>
          <a:p>
            <a:endParaRPr lang="en-US" dirty="0" smtClean="0"/>
          </a:p>
          <a:p>
            <a:r>
              <a:rPr lang="en-US" dirty="0" smtClean="0"/>
              <a:t>App data stored user readable/writable only</a:t>
            </a:r>
          </a:p>
          <a:p>
            <a:pPr lvl="1"/>
            <a:r>
              <a:rPr lang="en-US" dirty="0" smtClean="0"/>
              <a:t>‘</a:t>
            </a:r>
            <a:r>
              <a:rPr lang="en-US" dirty="0" err="1" smtClean="0"/>
              <a:t>sharedUserId</a:t>
            </a:r>
            <a:r>
              <a:rPr lang="en-US" dirty="0" smtClean="0"/>
              <a:t>’ attribute</a:t>
            </a:r>
          </a:p>
          <a:p>
            <a:pPr lvl="1"/>
            <a:r>
              <a:rPr lang="en-US" dirty="0" smtClean="0"/>
              <a:t>MODE_WORLD_READABLE, MODE_WORLD_WRITEABLE</a:t>
            </a:r>
          </a:p>
          <a:p>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Signing</a:t>
            </a:r>
            <a:endParaRPr lang="en-US" dirty="0"/>
          </a:p>
        </p:txBody>
      </p:sp>
      <p:sp>
        <p:nvSpPr>
          <p:cNvPr id="3" name="Content Placeholder 2"/>
          <p:cNvSpPr>
            <a:spLocks noGrp="1"/>
          </p:cNvSpPr>
          <p:nvPr>
            <p:ph idx="1"/>
          </p:nvPr>
        </p:nvSpPr>
        <p:spPr/>
        <p:txBody>
          <a:bodyPr>
            <a:normAutofit lnSpcReduction="10000"/>
          </a:bodyPr>
          <a:lstStyle/>
          <a:p>
            <a:r>
              <a:rPr lang="en-US" dirty="0" smtClean="0"/>
              <a:t>No CA’s, all apps self-signed by developers</a:t>
            </a:r>
          </a:p>
          <a:p>
            <a:pPr lvl="1"/>
            <a:r>
              <a:rPr lang="en-US" dirty="0" smtClean="0"/>
              <a:t>Recommended to expire </a:t>
            </a:r>
            <a:r>
              <a:rPr lang="en-US" dirty="0" err="1" smtClean="0"/>
              <a:t>certs</a:t>
            </a:r>
            <a:r>
              <a:rPr lang="en-US" dirty="0" smtClean="0"/>
              <a:t> after </a:t>
            </a:r>
            <a:r>
              <a:rPr lang="en-US" b="1" dirty="0" smtClean="0"/>
              <a:t>25 years</a:t>
            </a:r>
          </a:p>
          <a:p>
            <a:pPr lvl="2"/>
            <a:r>
              <a:rPr lang="en-US" dirty="0" smtClean="0"/>
              <a:t>This is enforced by the Android Market</a:t>
            </a:r>
          </a:p>
          <a:p>
            <a:pPr lvl="1"/>
            <a:r>
              <a:rPr lang="en-US" dirty="0" smtClean="0"/>
              <a:t>Not used for application control </a:t>
            </a:r>
            <a:r>
              <a:rPr lang="en-US" i="1" dirty="0" smtClean="0"/>
              <a:t>a la </a:t>
            </a:r>
            <a:r>
              <a:rPr lang="en-US" dirty="0" err="1" smtClean="0"/>
              <a:t>iPhone</a:t>
            </a:r>
            <a:endParaRPr lang="en-US" dirty="0" smtClean="0"/>
          </a:p>
          <a:p>
            <a:pPr lvl="2"/>
            <a:r>
              <a:rPr lang="en-US" dirty="0" smtClean="0"/>
              <a:t>Ad hoc distribution is more than possible</a:t>
            </a:r>
          </a:p>
          <a:p>
            <a:endParaRPr lang="en-US" dirty="0" smtClean="0"/>
          </a:p>
          <a:p>
            <a:r>
              <a:rPr lang="en-US" dirty="0" smtClean="0"/>
              <a:t>If not control, then what is it used for?</a:t>
            </a:r>
          </a:p>
          <a:p>
            <a:pPr lvl="1"/>
            <a:r>
              <a:rPr lang="en-US" dirty="0" smtClean="0"/>
              <a:t>Code/data sharing between applications</a:t>
            </a:r>
          </a:p>
          <a:p>
            <a:pPr lvl="2"/>
            <a:r>
              <a:rPr lang="en-US" dirty="0" smtClean="0"/>
              <a:t>Lets apps run in the same process</a:t>
            </a:r>
          </a:p>
          <a:p>
            <a:pPr lvl="1"/>
            <a:r>
              <a:rPr lang="en-US" dirty="0" smtClean="0"/>
              <a:t>Facilitate application upgrades</a:t>
            </a:r>
          </a:p>
          <a:p>
            <a:pPr lvl="1"/>
            <a:endParaRPr lang="en-US" dirty="0" smtClean="0"/>
          </a:p>
          <a:p>
            <a:endParaRPr lang="en-US" dirty="0" smtClean="0"/>
          </a:p>
          <a:p>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Controls</a:t>
            </a:r>
            <a:endParaRPr lang="en-US" dirty="0"/>
          </a:p>
        </p:txBody>
      </p:sp>
      <p:sp>
        <p:nvSpPr>
          <p:cNvPr id="3" name="Content Placeholder 2"/>
          <p:cNvSpPr>
            <a:spLocks noGrp="1"/>
          </p:cNvSpPr>
          <p:nvPr>
            <p:ph idx="1"/>
          </p:nvPr>
        </p:nvSpPr>
        <p:spPr>
          <a:xfrm>
            <a:off x="457200" y="1775191"/>
            <a:ext cx="8229600" cy="3254009"/>
          </a:xfrm>
        </p:spPr>
        <p:txBody>
          <a:bodyPr>
            <a:normAutofit/>
          </a:bodyPr>
          <a:lstStyle/>
          <a:p>
            <a:r>
              <a:rPr lang="en-US" dirty="0" smtClean="0"/>
              <a:t>Apps request permissions at install-time</a:t>
            </a:r>
          </a:p>
          <a:p>
            <a:pPr lvl="1"/>
            <a:r>
              <a:rPr lang="en-US" dirty="0" smtClean="0"/>
              <a:t>For example, access to location information</a:t>
            </a:r>
          </a:p>
          <a:p>
            <a:pPr lvl="1"/>
            <a:r>
              <a:rPr lang="en-US" dirty="0" smtClean="0"/>
              <a:t>User is informed and may accept / reject</a:t>
            </a:r>
          </a:p>
          <a:p>
            <a:endParaRPr lang="en-US" dirty="0" smtClean="0"/>
          </a:p>
          <a:p>
            <a:r>
              <a:rPr lang="en-US" dirty="0" smtClean="0"/>
              <a:t>“pm list permissions” – show available perms</a:t>
            </a:r>
          </a:p>
          <a:p>
            <a:r>
              <a:rPr lang="en-US" dirty="0" smtClean="0"/>
              <a:t>Perms requested in AndroidManifest.xml</a:t>
            </a:r>
          </a:p>
        </p:txBody>
      </p:sp>
      <p:sp>
        <p:nvSpPr>
          <p:cNvPr id="4" name="TextBox 3"/>
          <p:cNvSpPr txBox="1"/>
          <p:nvPr/>
        </p:nvSpPr>
        <p:spPr>
          <a:xfrm>
            <a:off x="685800" y="5105400"/>
            <a:ext cx="8077200" cy="1477328"/>
          </a:xfrm>
          <a:prstGeom prst="rect">
            <a:avLst/>
          </a:prstGeom>
          <a:noFill/>
        </p:spPr>
        <p:txBody>
          <a:bodyPr wrap="square" rtlCol="0">
            <a:spAutoFit/>
          </a:bodyPr>
          <a:lstStyle/>
          <a:p>
            <a:r>
              <a:rPr lang="en-US" dirty="0" smtClean="0"/>
              <a:t>&lt;manifest </a:t>
            </a:r>
            <a:r>
              <a:rPr lang="en-US" dirty="0" err="1" smtClean="0"/>
              <a:t>xmlns:android</a:t>
            </a:r>
            <a:r>
              <a:rPr lang="en-US" dirty="0" smtClean="0"/>
              <a:t>="http://schemas.android.com/apk/res/android"</a:t>
            </a:r>
          </a:p>
          <a:p>
            <a:r>
              <a:rPr lang="en-US" dirty="0" smtClean="0"/>
              <a:t>	package="</a:t>
            </a:r>
            <a:r>
              <a:rPr lang="en-US" dirty="0" err="1" smtClean="0"/>
              <a:t>com.android.app.myapp</a:t>
            </a:r>
            <a:r>
              <a:rPr lang="en-US" dirty="0" smtClean="0"/>
              <a:t>" &gt;</a:t>
            </a:r>
          </a:p>
          <a:p>
            <a:endParaRPr lang="en-US" dirty="0" smtClean="0"/>
          </a:p>
          <a:p>
            <a:r>
              <a:rPr lang="en-US" dirty="0" smtClean="0"/>
              <a:t>	&lt;uses-permission </a:t>
            </a:r>
            <a:r>
              <a:rPr lang="en-US" dirty="0" err="1" smtClean="0"/>
              <a:t>android:name</a:t>
            </a:r>
            <a:r>
              <a:rPr lang="en-US" dirty="0" smtClean="0"/>
              <a:t>="</a:t>
            </a:r>
            <a:r>
              <a:rPr lang="en-US" dirty="0" err="1" smtClean="0"/>
              <a:t>android.permission.RECEIVE_SMS</a:t>
            </a:r>
            <a:r>
              <a:rPr lang="en-US" dirty="0" smtClean="0"/>
              <a:t>" /&gt; &lt;/manifest&gt;</a:t>
            </a:r>
            <a:endParaRPr lang="en-US"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endParaRPr lang="en-US" dirty="0" smtClean="0"/>
          </a:p>
        </p:txBody>
      </p:sp>
      <p:pic>
        <p:nvPicPr>
          <p:cNvPr id="1026" name="Picture 2" descr="C:\Documents and Settings\Dan Guido\Desktop\browser perms.png"/>
          <p:cNvPicPr>
            <a:picLocks noChangeAspect="1" noChangeArrowheads="1"/>
          </p:cNvPicPr>
          <p:nvPr/>
        </p:nvPicPr>
        <p:blipFill>
          <a:blip r:embed="rId3"/>
          <a:srcRect/>
          <a:stretch>
            <a:fillRect/>
          </a:stretch>
        </p:blipFill>
        <p:spPr bwMode="auto">
          <a:xfrm>
            <a:off x="-26127" y="0"/>
            <a:ext cx="9170127" cy="6858000"/>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Granularity</a:t>
            </a:r>
            <a:endParaRPr lang="en-US" dirty="0"/>
          </a:p>
        </p:txBody>
      </p:sp>
      <p:sp>
        <p:nvSpPr>
          <p:cNvPr id="3" name="Content Placeholder 2"/>
          <p:cNvSpPr>
            <a:spLocks noGrp="1"/>
          </p:cNvSpPr>
          <p:nvPr>
            <p:ph idx="1"/>
          </p:nvPr>
        </p:nvSpPr>
        <p:spPr/>
        <p:txBody>
          <a:bodyPr>
            <a:normAutofit/>
          </a:bodyPr>
          <a:lstStyle/>
          <a:p>
            <a:r>
              <a:rPr lang="en-US" dirty="0" smtClean="0"/>
              <a:t>Permissions are very coarse</a:t>
            </a:r>
          </a:p>
          <a:p>
            <a:pPr lvl="1"/>
            <a:r>
              <a:rPr lang="en-US" dirty="0" smtClean="0"/>
              <a:t>Users might benefit from finer permissions</a:t>
            </a:r>
          </a:p>
          <a:p>
            <a:pPr lvl="1"/>
            <a:r>
              <a:rPr lang="en-US" dirty="0" smtClean="0"/>
              <a:t>Must balance granularity </a:t>
            </a:r>
            <a:r>
              <a:rPr lang="en-US" dirty="0" err="1" smtClean="0"/>
              <a:t>vs</a:t>
            </a:r>
            <a:r>
              <a:rPr lang="en-US" dirty="0" smtClean="0"/>
              <a:t> permission overload</a:t>
            </a:r>
          </a:p>
          <a:p>
            <a:endParaRPr lang="en-US" dirty="0" smtClean="0"/>
          </a:p>
          <a:p>
            <a:r>
              <a:rPr lang="en-US" dirty="0" smtClean="0"/>
              <a:t>Example: I install 3</a:t>
            </a:r>
            <a:r>
              <a:rPr lang="en-US" baseline="30000" dirty="0" smtClean="0"/>
              <a:t>rd</a:t>
            </a:r>
            <a:r>
              <a:rPr lang="en-US" dirty="0" smtClean="0"/>
              <a:t> party </a:t>
            </a:r>
            <a:r>
              <a:rPr lang="en-US" dirty="0" err="1" smtClean="0"/>
              <a:t>Facebook</a:t>
            </a:r>
            <a:r>
              <a:rPr lang="en-US" dirty="0" smtClean="0"/>
              <a:t> app</a:t>
            </a:r>
          </a:p>
          <a:p>
            <a:pPr lvl="1"/>
            <a:r>
              <a:rPr lang="en-US" dirty="0" smtClean="0"/>
              <a:t>Restrict app’s network traffic to facebook.com</a:t>
            </a:r>
          </a:p>
          <a:p>
            <a:pPr lvl="2"/>
            <a:r>
              <a:rPr lang="en-US" dirty="0" smtClean="0"/>
              <a:t>Don’t want </a:t>
            </a:r>
            <a:r>
              <a:rPr lang="en-US" dirty="0" err="1" smtClean="0"/>
              <a:t>trojan</a:t>
            </a:r>
            <a:r>
              <a:rPr lang="en-US" dirty="0" smtClean="0"/>
              <a:t> app dumping my </a:t>
            </a:r>
            <a:r>
              <a:rPr lang="en-US" dirty="0" err="1" smtClean="0"/>
              <a:t>creds</a:t>
            </a:r>
            <a:r>
              <a:rPr lang="en-US" dirty="0" smtClean="0"/>
              <a:t> somewhere</a:t>
            </a:r>
          </a:p>
          <a:p>
            <a:pPr lvl="1"/>
            <a:r>
              <a:rPr lang="en-US" dirty="0" smtClean="0"/>
              <a:t>Restrict app’s traffic to HTTPS</a:t>
            </a:r>
          </a:p>
          <a:p>
            <a:pPr lvl="2"/>
            <a:r>
              <a:rPr lang="en-US" dirty="0" smtClean="0"/>
              <a:t>MITM -&gt; malicious update check / </a:t>
            </a:r>
            <a:r>
              <a:rPr lang="en-US" dirty="0" err="1" smtClean="0"/>
              <a:t>javascript</a:t>
            </a:r>
            <a:r>
              <a:rPr lang="en-US" dirty="0" smtClean="0"/>
              <a:t> injection</a:t>
            </a: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Android Market</a:t>
            </a:r>
            <a:endParaRPr lang="en-US" dirty="0"/>
          </a:p>
        </p:txBody>
      </p:sp>
      <p:sp>
        <p:nvSpPr>
          <p:cNvPr id="3" name="Content Placeholder 2"/>
          <p:cNvSpPr>
            <a:spLocks noGrp="1"/>
          </p:cNvSpPr>
          <p:nvPr>
            <p:ph idx="1"/>
          </p:nvPr>
        </p:nvSpPr>
        <p:spPr>
          <a:xfrm>
            <a:off x="457200" y="1752601"/>
            <a:ext cx="3886200" cy="4648200"/>
          </a:xfrm>
        </p:spPr>
        <p:txBody>
          <a:bodyPr>
            <a:normAutofit fontScale="92500" lnSpcReduction="20000"/>
          </a:bodyPr>
          <a:lstStyle/>
          <a:p>
            <a:r>
              <a:rPr lang="en-US" dirty="0" smtClean="0"/>
              <a:t>Offers opt-in copy protection for apps</a:t>
            </a:r>
          </a:p>
          <a:p>
            <a:endParaRPr lang="en-US" dirty="0" smtClean="0"/>
          </a:p>
          <a:p>
            <a:endParaRPr lang="en-US" dirty="0" smtClean="0"/>
          </a:p>
          <a:p>
            <a:r>
              <a:rPr lang="en-US" dirty="0" smtClean="0"/>
              <a:t>Off?</a:t>
            </a:r>
          </a:p>
          <a:p>
            <a:pPr lvl="1"/>
            <a:r>
              <a:rPr lang="en-US" dirty="0" smtClean="0"/>
              <a:t>App stored in /data/app</a:t>
            </a:r>
          </a:p>
          <a:p>
            <a:pPr lvl="1"/>
            <a:r>
              <a:rPr lang="en-US" dirty="0" smtClean="0"/>
              <a:t>Readable to user</a:t>
            </a:r>
          </a:p>
          <a:p>
            <a:r>
              <a:rPr lang="en-US" dirty="0" smtClean="0"/>
              <a:t>On?</a:t>
            </a:r>
          </a:p>
          <a:p>
            <a:pPr lvl="1"/>
            <a:r>
              <a:rPr lang="en-US" dirty="0" smtClean="0"/>
              <a:t>App stored /data/app-private</a:t>
            </a:r>
          </a:p>
          <a:p>
            <a:pPr lvl="1"/>
            <a:r>
              <a:rPr lang="en-US" dirty="0" smtClean="0"/>
              <a:t>Unreadable to user</a:t>
            </a:r>
          </a:p>
        </p:txBody>
      </p:sp>
      <p:pic>
        <p:nvPicPr>
          <p:cNvPr id="4098" name="Picture 2" descr="C:\Documents and Settings\Dan Guido\Desktop\copy protection.png"/>
          <p:cNvPicPr>
            <a:picLocks noChangeAspect="1" noChangeArrowheads="1"/>
          </p:cNvPicPr>
          <p:nvPr/>
        </p:nvPicPr>
        <p:blipFill>
          <a:blip r:embed="rId3"/>
          <a:srcRect/>
          <a:stretch>
            <a:fillRect/>
          </a:stretch>
        </p:blipFill>
        <p:spPr bwMode="auto">
          <a:xfrm>
            <a:off x="4295775" y="1524000"/>
            <a:ext cx="4848225" cy="2895600"/>
          </a:xfrm>
          <a:prstGeom prst="rect">
            <a:avLst/>
          </a:prstGeom>
          <a:noFill/>
        </p:spPr>
      </p:pic>
      <p:pic>
        <p:nvPicPr>
          <p:cNvPr id="4099" name="Picture 3" descr="C:\Documents and Settings\Dan Guido\Desktop\copy protection2.png"/>
          <p:cNvPicPr>
            <a:picLocks noChangeAspect="1" noChangeArrowheads="1"/>
          </p:cNvPicPr>
          <p:nvPr/>
        </p:nvPicPr>
        <p:blipFill>
          <a:blip r:embed="rId4"/>
          <a:srcRect/>
          <a:stretch>
            <a:fillRect/>
          </a:stretch>
        </p:blipFill>
        <p:spPr bwMode="auto">
          <a:xfrm>
            <a:off x="4267200" y="4318000"/>
            <a:ext cx="5159624" cy="2540000"/>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Android Market Exploit</a:t>
            </a:r>
            <a:endParaRPr lang="en-US" dirty="0"/>
          </a:p>
        </p:txBody>
      </p:sp>
      <p:sp>
        <p:nvSpPr>
          <p:cNvPr id="3" name="Content Placeholder 2"/>
          <p:cNvSpPr>
            <a:spLocks noGrp="1"/>
          </p:cNvSpPr>
          <p:nvPr>
            <p:ph idx="1"/>
          </p:nvPr>
        </p:nvSpPr>
        <p:spPr/>
        <p:txBody>
          <a:bodyPr>
            <a:normAutofit lnSpcReduction="10000"/>
          </a:bodyPr>
          <a:lstStyle/>
          <a:p>
            <a:pPr marL="633222" indent="-514350">
              <a:buFont typeface="+mj-lt"/>
              <a:buAutoNum type="arabicPeriod"/>
            </a:pPr>
            <a:r>
              <a:rPr lang="en-US" dirty="0" smtClean="0"/>
              <a:t>Buy app on developer phone (ADP1)</a:t>
            </a:r>
          </a:p>
          <a:p>
            <a:pPr marL="633222" indent="-514350">
              <a:buFont typeface="+mj-lt"/>
              <a:buAutoNum type="arabicPeriod"/>
            </a:pPr>
            <a:r>
              <a:rPr lang="en-US" dirty="0" smtClean="0"/>
              <a:t>Use root access to copy </a:t>
            </a:r>
            <a:r>
              <a:rPr lang="en-US" dirty="0" err="1" smtClean="0"/>
              <a:t>apk</a:t>
            </a:r>
            <a:r>
              <a:rPr lang="en-US" dirty="0" smtClean="0"/>
              <a:t> off the device</a:t>
            </a:r>
          </a:p>
          <a:p>
            <a:pPr marL="633222" indent="-514350">
              <a:buFont typeface="+mj-lt"/>
              <a:buAutoNum type="arabicPeriod"/>
            </a:pPr>
            <a:r>
              <a:rPr lang="en-US" dirty="0" smtClean="0"/>
              <a:t>Post </a:t>
            </a:r>
            <a:r>
              <a:rPr lang="en-US" dirty="0" err="1" smtClean="0"/>
              <a:t>apk</a:t>
            </a:r>
            <a:r>
              <a:rPr lang="en-US" dirty="0" smtClean="0"/>
              <a:t> online</a:t>
            </a:r>
          </a:p>
          <a:p>
            <a:pPr marL="633222" indent="-514350">
              <a:buFont typeface="+mj-lt"/>
              <a:buAutoNum type="arabicPeriod"/>
            </a:pPr>
            <a:r>
              <a:rPr lang="en-US" dirty="0" smtClean="0"/>
              <a:t>Ask for refund within 24 hours</a:t>
            </a:r>
          </a:p>
          <a:p>
            <a:pPr marL="633222" indent="-514350"/>
            <a:endParaRPr lang="en-US" dirty="0" smtClean="0"/>
          </a:p>
          <a:p>
            <a:pPr marL="633222" indent="-514350"/>
            <a:r>
              <a:rPr lang="en-US" dirty="0" smtClean="0"/>
              <a:t>Protection is system-level, not app-level</a:t>
            </a:r>
          </a:p>
          <a:p>
            <a:pPr marL="633222" indent="-514350"/>
            <a:r>
              <a:rPr lang="en-US" dirty="0" smtClean="0"/>
              <a:t>3</a:t>
            </a:r>
            <a:r>
              <a:rPr lang="en-US" baseline="30000" dirty="0" smtClean="0"/>
              <a:t>rd</a:t>
            </a:r>
            <a:r>
              <a:rPr lang="en-US" dirty="0" smtClean="0"/>
              <a:t> party protections filling the gap</a:t>
            </a:r>
          </a:p>
          <a:p>
            <a:pPr marL="925830" lvl="1" indent="-514350"/>
            <a:r>
              <a:rPr lang="en-US" dirty="0" err="1" smtClean="0"/>
              <a:t>SlideLock</a:t>
            </a:r>
            <a:endParaRPr lang="en-US" dirty="0" smtClean="0"/>
          </a:p>
          <a:p>
            <a:pPr marL="1191006" lvl="2" indent="-514350"/>
            <a:r>
              <a:rPr lang="en-US" dirty="0" smtClean="0"/>
              <a:t>Links with app</a:t>
            </a:r>
          </a:p>
          <a:p>
            <a:pPr marL="1191006" lvl="2" indent="-514350"/>
            <a:r>
              <a:rPr lang="en-US" dirty="0" smtClean="0"/>
              <a:t>Phones home with unique ID of phone</a:t>
            </a:r>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Bypassing the SDK</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Static compilation</a:t>
            </a:r>
          </a:p>
          <a:p>
            <a:pPr lvl="1"/>
            <a:r>
              <a:rPr lang="en-US" dirty="0" smtClean="0"/>
              <a:t>Use provided </a:t>
            </a:r>
            <a:r>
              <a:rPr lang="en-US" dirty="0" err="1" smtClean="0"/>
              <a:t>gcc</a:t>
            </a:r>
            <a:r>
              <a:rPr lang="en-US" dirty="0" smtClean="0"/>
              <a:t> ARM cross-compiler with –static</a:t>
            </a:r>
          </a:p>
          <a:p>
            <a:endParaRPr lang="en-US" dirty="0" smtClean="0"/>
          </a:p>
          <a:p>
            <a:r>
              <a:rPr lang="en-US" dirty="0" smtClean="0"/>
              <a:t>Dynamic linking</a:t>
            </a:r>
          </a:p>
          <a:p>
            <a:pPr lvl="1"/>
            <a:r>
              <a:rPr lang="en-US" dirty="0" smtClean="0"/>
              <a:t>Android uses a non-standard </a:t>
            </a:r>
            <a:r>
              <a:rPr lang="en-US" dirty="0" err="1" smtClean="0"/>
              <a:t>libc</a:t>
            </a:r>
            <a:r>
              <a:rPr lang="en-US" dirty="0" smtClean="0"/>
              <a:t>, bionic</a:t>
            </a:r>
          </a:p>
          <a:p>
            <a:pPr lvl="2"/>
            <a:r>
              <a:rPr lang="en-US" dirty="0" smtClean="0"/>
              <a:t>Mostly BSD with Linux threads, processes, and signals</a:t>
            </a:r>
          </a:p>
          <a:p>
            <a:pPr lvl="1"/>
            <a:r>
              <a:rPr lang="en-US" dirty="0" smtClean="0"/>
              <a:t>Use ‘</a:t>
            </a:r>
            <a:r>
              <a:rPr lang="en-US" dirty="0" err="1" smtClean="0"/>
              <a:t>agcc</a:t>
            </a:r>
            <a:r>
              <a:rPr lang="en-US" dirty="0" smtClean="0"/>
              <a:t>’ wrapper to set all the flags you need</a:t>
            </a:r>
          </a:p>
          <a:p>
            <a:endParaRPr lang="en-US" dirty="0" smtClean="0"/>
          </a:p>
          <a:p>
            <a:r>
              <a:rPr lang="en-US" dirty="0" smtClean="0"/>
              <a:t>Install </a:t>
            </a:r>
            <a:r>
              <a:rPr lang="en-US" dirty="0" err="1" smtClean="0"/>
              <a:t>Debian</a:t>
            </a:r>
            <a:r>
              <a:rPr lang="en-US" dirty="0" smtClean="0"/>
              <a:t> (!)</a:t>
            </a:r>
          </a:p>
          <a:p>
            <a:pPr lvl="1"/>
            <a:r>
              <a:rPr lang="en-US" dirty="0" smtClean="0"/>
              <a:t>Install </a:t>
            </a:r>
            <a:r>
              <a:rPr lang="en-US" dirty="0" err="1" smtClean="0"/>
              <a:t>busybox</a:t>
            </a:r>
            <a:endParaRPr lang="en-US" dirty="0" smtClean="0"/>
          </a:p>
          <a:p>
            <a:pPr lvl="1"/>
            <a:r>
              <a:rPr lang="en-US" dirty="0" smtClean="0"/>
              <a:t>Set up </a:t>
            </a:r>
            <a:r>
              <a:rPr lang="en-US" dirty="0" err="1" smtClean="0"/>
              <a:t>mountpoints</a:t>
            </a:r>
            <a:r>
              <a:rPr lang="en-US" dirty="0" smtClean="0"/>
              <a:t> on /</a:t>
            </a:r>
            <a:r>
              <a:rPr lang="en-US" dirty="0" err="1" smtClean="0"/>
              <a:t>sdcard</a:t>
            </a:r>
            <a:endParaRPr lang="en-US" dirty="0" smtClean="0"/>
          </a:p>
          <a:p>
            <a:pPr lvl="1"/>
            <a:r>
              <a:rPr lang="en-US" dirty="0" smtClean="0"/>
              <a:t>Run </a:t>
            </a:r>
            <a:r>
              <a:rPr lang="en-US" dirty="0" err="1" smtClean="0"/>
              <a:t>debootstrap</a:t>
            </a:r>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Debugging</a:t>
            </a:r>
            <a:endParaRPr lang="en-US" dirty="0"/>
          </a:p>
        </p:txBody>
      </p:sp>
      <p:sp>
        <p:nvSpPr>
          <p:cNvPr id="3" name="Content Placeholder 2"/>
          <p:cNvSpPr>
            <a:spLocks noGrp="1"/>
          </p:cNvSpPr>
          <p:nvPr>
            <p:ph idx="1"/>
          </p:nvPr>
        </p:nvSpPr>
        <p:spPr>
          <a:xfrm>
            <a:off x="457200" y="1775191"/>
            <a:ext cx="8229600" cy="4625609"/>
          </a:xfrm>
        </p:spPr>
        <p:txBody>
          <a:bodyPr>
            <a:normAutofit fontScale="92500" lnSpcReduction="20000"/>
          </a:bodyPr>
          <a:lstStyle/>
          <a:p>
            <a:r>
              <a:rPr lang="en-US" dirty="0" err="1" smtClean="0"/>
              <a:t>adb</a:t>
            </a:r>
            <a:r>
              <a:rPr lang="en-US" dirty="0" smtClean="0"/>
              <a:t>, Android Debug Bridge</a:t>
            </a:r>
          </a:p>
          <a:p>
            <a:pPr lvl="1"/>
            <a:r>
              <a:rPr lang="en-US" dirty="0" smtClean="0"/>
              <a:t>Push/pull files, forward network ports, poll state</a:t>
            </a:r>
          </a:p>
          <a:p>
            <a:pPr lvl="1"/>
            <a:r>
              <a:rPr lang="en-US" dirty="0" smtClean="0"/>
              <a:t>Issue arbitrary shell commands, </a:t>
            </a:r>
            <a:r>
              <a:rPr lang="en-US" dirty="0" err="1" smtClean="0"/>
              <a:t>adb</a:t>
            </a:r>
            <a:r>
              <a:rPr lang="en-US" dirty="0" smtClean="0"/>
              <a:t> shell</a:t>
            </a:r>
          </a:p>
          <a:p>
            <a:pPr lvl="1"/>
            <a:r>
              <a:rPr lang="en-US" dirty="0" smtClean="0"/>
              <a:t>Control/manipulate emulator instances</a:t>
            </a:r>
          </a:p>
          <a:p>
            <a:pPr lvl="1"/>
            <a:endParaRPr lang="en-US" dirty="0" smtClean="0"/>
          </a:p>
          <a:p>
            <a:r>
              <a:rPr lang="en-US" dirty="0" smtClean="0"/>
              <a:t>DDMS, </a:t>
            </a:r>
            <a:r>
              <a:rPr lang="en-US" dirty="0" err="1" smtClean="0"/>
              <a:t>Dalvik</a:t>
            </a:r>
            <a:r>
              <a:rPr lang="en-US" dirty="0" smtClean="0"/>
              <a:t> Debug Monitor Service</a:t>
            </a:r>
          </a:p>
          <a:p>
            <a:pPr lvl="1"/>
            <a:r>
              <a:rPr lang="en-US" dirty="0" smtClean="0"/>
              <a:t>Java debugger, exposed in Eclipse</a:t>
            </a:r>
          </a:p>
          <a:p>
            <a:endParaRPr lang="en-US" dirty="0" smtClean="0"/>
          </a:p>
          <a:p>
            <a:r>
              <a:rPr lang="en-US" dirty="0" err="1" smtClean="0"/>
              <a:t>logcat</a:t>
            </a:r>
            <a:r>
              <a:rPr lang="en-US" dirty="0" smtClean="0"/>
              <a:t>, collects system debug output</a:t>
            </a:r>
          </a:p>
          <a:p>
            <a:endParaRPr lang="en-US" dirty="0" smtClean="0"/>
          </a:p>
          <a:p>
            <a:r>
              <a:rPr lang="en-US" dirty="0" smtClean="0"/>
              <a:t>Native: </a:t>
            </a:r>
            <a:r>
              <a:rPr lang="en-US" dirty="0" err="1" smtClean="0"/>
              <a:t>gdb</a:t>
            </a:r>
            <a:r>
              <a:rPr lang="en-US" dirty="0" smtClean="0"/>
              <a:t>, IDA 5.4 with </a:t>
            </a:r>
            <a:r>
              <a:rPr lang="en-US" dirty="0" err="1" smtClean="0"/>
              <a:t>gdbserver</a:t>
            </a:r>
            <a:r>
              <a:rPr lang="en-US" dirty="0" smtClean="0"/>
              <a:t> module</a:t>
            </a:r>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Jailbreaking</a:t>
            </a:r>
            <a:endParaRPr lang="en-US" dirty="0"/>
          </a:p>
        </p:txBody>
      </p:sp>
      <p:sp>
        <p:nvSpPr>
          <p:cNvPr id="3" name="Content Placeholder 2"/>
          <p:cNvSpPr>
            <a:spLocks noGrp="1"/>
          </p:cNvSpPr>
          <p:nvPr>
            <p:ph idx="1"/>
          </p:nvPr>
        </p:nvSpPr>
        <p:spPr/>
        <p:txBody>
          <a:bodyPr>
            <a:normAutofit fontScale="92500" lnSpcReduction="20000"/>
          </a:bodyPr>
          <a:lstStyle/>
          <a:p>
            <a:pPr marL="633222" indent="-514350">
              <a:buFont typeface="+mj-lt"/>
              <a:buAutoNum type="arabicPeriod"/>
            </a:pPr>
            <a:r>
              <a:rPr lang="en-US" dirty="0" smtClean="0"/>
              <a:t>Grab OTA update files exposed online</a:t>
            </a:r>
          </a:p>
          <a:p>
            <a:pPr marL="971550" lvl="1" indent="-514350"/>
            <a:r>
              <a:rPr lang="en-US" dirty="0" smtClean="0"/>
              <a:t>android.clients.google.com/updates/</a:t>
            </a:r>
          </a:p>
          <a:p>
            <a:pPr marL="633222" indent="-514350">
              <a:buFont typeface="+mj-lt"/>
              <a:buAutoNum type="arabicPeriod"/>
            </a:pPr>
            <a:endParaRPr lang="en-US" dirty="0" smtClean="0"/>
          </a:p>
          <a:p>
            <a:pPr marL="633222" indent="-514350">
              <a:buFont typeface="+mj-lt"/>
              <a:buAutoNum type="arabicPeriod"/>
            </a:pPr>
            <a:r>
              <a:rPr lang="en-US" dirty="0" smtClean="0"/>
              <a:t>Put RC29 on SD card as update.zip</a:t>
            </a:r>
          </a:p>
          <a:p>
            <a:pPr marL="633222" indent="-514350">
              <a:buFont typeface="+mj-lt"/>
              <a:buAutoNum type="arabicPeriod"/>
            </a:pPr>
            <a:endParaRPr lang="en-US" dirty="0" smtClean="0"/>
          </a:p>
          <a:p>
            <a:pPr marL="633222" indent="-514350">
              <a:buFont typeface="+mj-lt"/>
              <a:buAutoNum type="arabicPeriod"/>
            </a:pPr>
            <a:r>
              <a:rPr lang="en-US" dirty="0" smtClean="0"/>
              <a:t>Reboot with </a:t>
            </a:r>
            <a:r>
              <a:rPr lang="en-US" dirty="0" err="1" smtClean="0"/>
              <a:t>Home+End</a:t>
            </a:r>
            <a:r>
              <a:rPr lang="en-US" dirty="0" smtClean="0"/>
              <a:t> keys</a:t>
            </a:r>
          </a:p>
          <a:p>
            <a:pPr marL="633222" indent="-514350">
              <a:buFont typeface="+mj-lt"/>
              <a:buAutoNum type="arabicPeriod"/>
            </a:pPr>
            <a:endParaRPr lang="en-US" dirty="0" smtClean="0"/>
          </a:p>
          <a:p>
            <a:pPr marL="633222" indent="-514350">
              <a:buFont typeface="+mj-lt"/>
              <a:buAutoNum type="arabicPeriod"/>
            </a:pPr>
            <a:r>
              <a:rPr lang="en-US" dirty="0" err="1" smtClean="0"/>
              <a:t>Alt+S</a:t>
            </a:r>
            <a:r>
              <a:rPr lang="en-US" dirty="0" smtClean="0"/>
              <a:t> to install firmware</a:t>
            </a:r>
          </a:p>
          <a:p>
            <a:pPr marL="633222" indent="-514350">
              <a:buFont typeface="+mj-lt"/>
              <a:buAutoNum type="arabicPeriod"/>
            </a:pPr>
            <a:endParaRPr lang="en-US" dirty="0" smtClean="0"/>
          </a:p>
          <a:p>
            <a:pPr marL="633222" indent="-514350">
              <a:buFont typeface="+mj-lt"/>
              <a:buAutoNum type="arabicPeriod"/>
            </a:pPr>
            <a:r>
              <a:rPr lang="en-US" dirty="0" smtClean="0"/>
              <a:t>Exploit local privilege escalation vulnerability</a:t>
            </a:r>
          </a:p>
          <a:p>
            <a:pPr marL="633222" indent="-514350">
              <a:buFont typeface="+mj-lt"/>
              <a:buAutoNum type="arabicPeriod"/>
            </a:pPr>
            <a:endParaRPr lang="en-US" dirty="0" smtClean="0"/>
          </a:p>
          <a:p>
            <a:pPr marL="633222" indent="-514350">
              <a:buFont typeface="+mj-lt"/>
              <a:buAutoNum type="arabicPeriod"/>
            </a:pPr>
            <a:r>
              <a:rPr lang="en-US" dirty="0" smtClean="0"/>
              <a:t>Re-flash with developer image</a:t>
            </a:r>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Reality Check</a:t>
            </a:r>
            <a:endParaRPr lang="en-US" dirty="0"/>
          </a:p>
        </p:txBody>
      </p:sp>
      <p:sp>
        <p:nvSpPr>
          <p:cNvPr id="3" name="Content Placeholder 2"/>
          <p:cNvSpPr>
            <a:spLocks noGrp="1"/>
          </p:cNvSpPr>
          <p:nvPr>
            <p:ph idx="1"/>
          </p:nvPr>
        </p:nvSpPr>
        <p:spPr/>
        <p:txBody>
          <a:bodyPr>
            <a:normAutofit/>
          </a:bodyPr>
          <a:lstStyle/>
          <a:p>
            <a:r>
              <a:rPr lang="en-US" dirty="0" smtClean="0"/>
              <a:t>Jailbreak phones: Check</a:t>
            </a:r>
          </a:p>
          <a:p>
            <a:endParaRPr lang="en-US" dirty="0" smtClean="0"/>
          </a:p>
          <a:p>
            <a:r>
              <a:rPr lang="en-US" dirty="0" smtClean="0"/>
              <a:t>Steal apps from Market: Check</a:t>
            </a:r>
          </a:p>
          <a:p>
            <a:endParaRPr lang="en-US" dirty="0" smtClean="0"/>
          </a:p>
          <a:p>
            <a:r>
              <a:rPr lang="en-US" dirty="0" smtClean="0"/>
              <a:t>Install arbitrary applications: Check</a:t>
            </a:r>
          </a:p>
          <a:p>
            <a:endParaRPr lang="en-US" dirty="0" smtClean="0"/>
          </a:p>
          <a:p>
            <a:r>
              <a:rPr lang="en-US" dirty="0" smtClean="0"/>
              <a:t>Steal user data: … wait a few more slides </a:t>
            </a:r>
            <a:r>
              <a:rPr lang="en-US" dirty="0" smtClean="0">
                <a:sym typeface="Wingdings" pitchFamily="2" charset="2"/>
              </a:rPr>
              <a:t></a:t>
            </a:r>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Threats to Applications</a:t>
            </a:r>
            <a:endParaRPr lang="en-US" dirty="0"/>
          </a:p>
        </p:txBody>
      </p:sp>
      <p:sp>
        <p:nvSpPr>
          <p:cNvPr id="3" name="Content Placeholder 2"/>
          <p:cNvSpPr>
            <a:spLocks noGrp="1"/>
          </p:cNvSpPr>
          <p:nvPr>
            <p:ph idx="1"/>
          </p:nvPr>
        </p:nvSpPr>
        <p:spPr/>
        <p:txBody>
          <a:bodyPr>
            <a:normAutofit/>
          </a:bodyPr>
          <a:lstStyle/>
          <a:p>
            <a:r>
              <a:rPr lang="en-US" dirty="0" smtClean="0"/>
              <a:t>Some things you can screw up…</a:t>
            </a:r>
          </a:p>
          <a:p>
            <a:pPr lvl="1"/>
            <a:endParaRPr lang="en-US" dirty="0" smtClean="0"/>
          </a:p>
          <a:p>
            <a:pPr lvl="1"/>
            <a:r>
              <a:rPr lang="en-US" dirty="0" smtClean="0"/>
              <a:t>Passive credential </a:t>
            </a:r>
            <a:r>
              <a:rPr lang="en-US" dirty="0" err="1" smtClean="0"/>
              <a:t>snarfing</a:t>
            </a:r>
            <a:endParaRPr lang="en-US" dirty="0" smtClean="0"/>
          </a:p>
          <a:p>
            <a:pPr lvl="2"/>
            <a:r>
              <a:rPr lang="en-US" dirty="0" err="1" smtClean="0"/>
              <a:t>Wifi</a:t>
            </a:r>
            <a:r>
              <a:rPr lang="en-US" dirty="0" smtClean="0"/>
              <a:t> + non-HTTPS web service = 0wned</a:t>
            </a:r>
          </a:p>
          <a:p>
            <a:pPr lvl="1"/>
            <a:endParaRPr lang="en-US" dirty="0" smtClean="0"/>
          </a:p>
          <a:p>
            <a:pPr lvl="1"/>
            <a:r>
              <a:rPr lang="en-US" dirty="0" smtClean="0"/>
              <a:t>Active MITM</a:t>
            </a:r>
          </a:p>
          <a:p>
            <a:pPr lvl="2"/>
            <a:r>
              <a:rPr lang="en-US" dirty="0" err="1" smtClean="0"/>
              <a:t>Wifi</a:t>
            </a:r>
            <a:r>
              <a:rPr lang="en-US" dirty="0" smtClean="0"/>
              <a:t> + HTTPS login + HTTP data = 0wned</a:t>
            </a:r>
          </a:p>
          <a:p>
            <a:pPr lvl="2"/>
            <a:r>
              <a:rPr lang="en-US" dirty="0" err="1" smtClean="0"/>
              <a:t>Wifi</a:t>
            </a:r>
            <a:r>
              <a:rPr lang="en-US" dirty="0" smtClean="0"/>
              <a:t> + non-HTTPS update check = 0wned</a:t>
            </a:r>
          </a:p>
          <a:p>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Exploiting Android</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All apps are written in Java, aren’t we safe?</a:t>
            </a:r>
          </a:p>
          <a:p>
            <a:pPr lvl="1"/>
            <a:r>
              <a:rPr lang="en-US" dirty="0" smtClean="0"/>
              <a:t>VM built on many C/C++ libraries</a:t>
            </a:r>
          </a:p>
          <a:p>
            <a:pPr lvl="1"/>
            <a:r>
              <a:rPr lang="en-US" dirty="0" smtClean="0"/>
              <a:t>APIs commonly pass data to C/C++ daemons</a:t>
            </a:r>
          </a:p>
          <a:p>
            <a:pPr lvl="2"/>
            <a:r>
              <a:rPr lang="en-US" dirty="0" smtClean="0"/>
              <a:t>Multi-media, image, compression, crypto, doc parsing</a:t>
            </a:r>
          </a:p>
          <a:p>
            <a:pPr lvl="2"/>
            <a:r>
              <a:rPr lang="en-US" dirty="0" smtClean="0"/>
              <a:t>Browser HTML, </a:t>
            </a:r>
            <a:r>
              <a:rPr lang="en-US" dirty="0" err="1" smtClean="0"/>
              <a:t>Javascript</a:t>
            </a:r>
            <a:r>
              <a:rPr lang="en-US" dirty="0" smtClean="0"/>
              <a:t>, XML, </a:t>
            </a:r>
            <a:r>
              <a:rPr lang="en-US" dirty="0" err="1" smtClean="0"/>
              <a:t>WebServices</a:t>
            </a:r>
            <a:r>
              <a:rPr lang="en-US" dirty="0" smtClean="0"/>
              <a:t> parsers</a:t>
            </a:r>
          </a:p>
          <a:p>
            <a:pPr lvl="2"/>
            <a:r>
              <a:rPr lang="en-US" dirty="0" smtClean="0"/>
              <a:t>Source code available!</a:t>
            </a:r>
          </a:p>
          <a:p>
            <a:endParaRPr lang="en-US" dirty="0" smtClean="0"/>
          </a:p>
          <a:p>
            <a:r>
              <a:rPr lang="en-US" dirty="0" smtClean="0"/>
              <a:t>What about Sandboxing?</a:t>
            </a:r>
          </a:p>
          <a:p>
            <a:pPr lvl="1"/>
            <a:r>
              <a:rPr lang="en-US" dirty="0" smtClean="0"/>
              <a:t>User data is </a:t>
            </a:r>
            <a:r>
              <a:rPr lang="en-US" dirty="0" smtClean="0"/>
              <a:t>exposed after 1 exploit</a:t>
            </a:r>
          </a:p>
          <a:p>
            <a:pPr lvl="1"/>
            <a:r>
              <a:rPr lang="en-US" dirty="0" smtClean="0"/>
              <a:t>Root requires 2</a:t>
            </a:r>
            <a:r>
              <a:rPr lang="en-US" baseline="30000" dirty="0" smtClean="0"/>
              <a:t>nd</a:t>
            </a:r>
            <a:r>
              <a:rPr lang="en-US" dirty="0" smtClean="0"/>
              <a:t> </a:t>
            </a:r>
            <a:r>
              <a:rPr lang="en-US" dirty="0" err="1" smtClean="0"/>
              <a:t>priv</a:t>
            </a:r>
            <a:r>
              <a:rPr lang="en-US" dirty="0" smtClean="0"/>
              <a:t> escalation</a:t>
            </a:r>
          </a:p>
          <a:p>
            <a:pPr lvl="1"/>
            <a:r>
              <a:rPr lang="en-US" dirty="0" smtClean="0"/>
              <a:t>Browser is native code (</a:t>
            </a:r>
            <a:r>
              <a:rPr lang="en-US" dirty="0" err="1" smtClean="0"/>
              <a:t>webkit</a:t>
            </a:r>
            <a:r>
              <a:rPr lang="en-US" dirty="0" smtClean="0"/>
              <a:t>)</a:t>
            </a:r>
            <a:endParaRPr lang="en-US" dirty="0" smtClean="0"/>
          </a:p>
          <a:p>
            <a:endParaRPr lang="en-US" dirty="0" smtClean="0"/>
          </a:p>
        </p:txBody>
      </p:sp>
      <p:pic>
        <p:nvPicPr>
          <p:cNvPr id="5122" name="Picture 2" descr="C:\Documents and Settings\Dan Guido\Desktop\exploit mitigations.png"/>
          <p:cNvPicPr>
            <a:picLocks noChangeAspect="1" noChangeArrowheads="1"/>
          </p:cNvPicPr>
          <p:nvPr/>
        </p:nvPicPr>
        <p:blipFill>
          <a:blip r:embed="rId3"/>
          <a:srcRect/>
          <a:stretch>
            <a:fillRect/>
          </a:stretch>
        </p:blipFill>
        <p:spPr bwMode="auto">
          <a:xfrm>
            <a:off x="6229350" y="4371975"/>
            <a:ext cx="2914650" cy="248602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Interpreter Bugs</a:t>
            </a:r>
            <a:endParaRPr lang="en-US" dirty="0"/>
          </a:p>
        </p:txBody>
      </p:sp>
      <p:sp>
        <p:nvSpPr>
          <p:cNvPr id="3" name="Content Placeholder 2"/>
          <p:cNvSpPr>
            <a:spLocks noGrp="1"/>
          </p:cNvSpPr>
          <p:nvPr>
            <p:ph idx="1"/>
          </p:nvPr>
        </p:nvSpPr>
        <p:spPr/>
        <p:txBody>
          <a:bodyPr>
            <a:normAutofit/>
          </a:bodyPr>
          <a:lstStyle/>
          <a:p>
            <a:r>
              <a:rPr lang="en-US" dirty="0" smtClean="0"/>
              <a:t>No one has ever found a bug in a VM before!</a:t>
            </a:r>
          </a:p>
        </p:txBody>
      </p:sp>
      <p:pic>
        <p:nvPicPr>
          <p:cNvPr id="3074" name="Picture 2" descr="C:\Documents and Settings\Dan Guido\Desktop\secunia.com.png"/>
          <p:cNvPicPr>
            <a:picLocks noChangeAspect="1" noChangeArrowheads="1"/>
          </p:cNvPicPr>
          <p:nvPr/>
        </p:nvPicPr>
        <p:blipFill>
          <a:blip r:embed="rId3"/>
          <a:srcRect/>
          <a:stretch>
            <a:fillRect/>
          </a:stretch>
        </p:blipFill>
        <p:spPr bwMode="auto">
          <a:xfrm>
            <a:off x="1447800" y="2514600"/>
            <a:ext cx="6099556" cy="413062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Finding More Bugs</a:t>
            </a:r>
            <a:endParaRPr lang="en-US" dirty="0"/>
          </a:p>
        </p:txBody>
      </p:sp>
      <p:sp>
        <p:nvSpPr>
          <p:cNvPr id="3" name="Content Placeholder 2"/>
          <p:cNvSpPr>
            <a:spLocks noGrp="1"/>
          </p:cNvSpPr>
          <p:nvPr>
            <p:ph idx="1"/>
          </p:nvPr>
        </p:nvSpPr>
        <p:spPr/>
        <p:txBody>
          <a:bodyPr>
            <a:normAutofit/>
          </a:bodyPr>
          <a:lstStyle/>
          <a:p>
            <a:r>
              <a:rPr lang="en-US" dirty="0" smtClean="0"/>
              <a:t>“</a:t>
            </a:r>
            <a:r>
              <a:rPr lang="en-US" dirty="0" err="1" smtClean="0"/>
              <a:t>Changelogging</a:t>
            </a:r>
            <a:r>
              <a:rPr lang="en-US" dirty="0" smtClean="0"/>
              <a:t>”</a:t>
            </a:r>
          </a:p>
          <a:p>
            <a:pPr lvl="1"/>
            <a:r>
              <a:rPr lang="en-US" dirty="0" smtClean="0"/>
              <a:t>Find an OSS library Android uses</a:t>
            </a:r>
          </a:p>
          <a:p>
            <a:pPr lvl="1"/>
            <a:r>
              <a:rPr lang="en-US" dirty="0" smtClean="0"/>
              <a:t>Find a recent security bug in it</a:t>
            </a:r>
          </a:p>
          <a:p>
            <a:pPr lvl="1"/>
            <a:r>
              <a:rPr lang="en-US" dirty="0" smtClean="0"/>
              <a:t>Done.</a:t>
            </a:r>
          </a:p>
          <a:p>
            <a:endParaRPr lang="en-US" dirty="0" smtClean="0"/>
          </a:p>
          <a:p>
            <a:r>
              <a:rPr lang="en-US" dirty="0" err="1" smtClean="0"/>
              <a:t>Fuzzing</a:t>
            </a:r>
            <a:endParaRPr lang="en-US" dirty="0" smtClean="0"/>
          </a:p>
          <a:p>
            <a:pPr lvl="1"/>
            <a:r>
              <a:rPr lang="en-US" dirty="0" err="1" smtClean="0"/>
              <a:t>logcat</a:t>
            </a:r>
            <a:r>
              <a:rPr lang="en-US" dirty="0" smtClean="0"/>
              <a:t> catches crash information</a:t>
            </a:r>
          </a:p>
          <a:p>
            <a:pPr lvl="1"/>
            <a:r>
              <a:rPr lang="en-US" dirty="0" err="1" smtClean="0"/>
              <a:t>adb</a:t>
            </a:r>
            <a:r>
              <a:rPr lang="en-US" dirty="0" smtClean="0"/>
              <a:t> can launch and control apps from CLI</a:t>
            </a:r>
          </a:p>
          <a:p>
            <a:pPr lvl="1"/>
            <a:endParaRPr lang="en-US" dirty="0" smtClean="0"/>
          </a:p>
          <a:p>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Opportunities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Audit the available source code (Fortify?)</a:t>
            </a:r>
          </a:p>
          <a:p>
            <a:pPr marL="438912" lvl="1" indent="-320040">
              <a:spcBef>
                <a:spcPts val="0"/>
              </a:spcBef>
              <a:buClr>
                <a:schemeClr val="accent1"/>
              </a:buClr>
              <a:buSzPct val="80000"/>
              <a:buFont typeface="Wingdings 2"/>
              <a:buChar char=""/>
            </a:pPr>
            <a:endParaRPr lang="en-US" dirty="0" smtClean="0"/>
          </a:p>
          <a:p>
            <a:pPr marL="438912" lvl="1" indent="-320040">
              <a:spcBef>
                <a:spcPts val="0"/>
              </a:spcBef>
              <a:buClr>
                <a:schemeClr val="accent1"/>
              </a:buClr>
              <a:buSzPct val="80000"/>
              <a:buFont typeface="Wingdings 2"/>
              <a:buChar char=""/>
            </a:pPr>
            <a:r>
              <a:rPr lang="en-US" sz="3000" dirty="0" smtClean="0"/>
              <a:t>Build a </a:t>
            </a:r>
            <a:r>
              <a:rPr lang="en-US" sz="3000" dirty="0" err="1" smtClean="0"/>
              <a:t>fuzzing</a:t>
            </a:r>
            <a:r>
              <a:rPr lang="en-US" sz="3000" dirty="0" smtClean="0"/>
              <a:t> harness on top of the emulator</a:t>
            </a:r>
          </a:p>
          <a:p>
            <a:pPr marL="438912" lvl="1" indent="-320040">
              <a:spcBef>
                <a:spcPts val="0"/>
              </a:spcBef>
              <a:buClr>
                <a:schemeClr val="accent1"/>
              </a:buClr>
              <a:buSzPct val="80000"/>
              <a:buFont typeface="Wingdings 2"/>
              <a:buChar char=""/>
            </a:pPr>
            <a:endParaRPr lang="en-US" sz="3000" dirty="0" smtClean="0"/>
          </a:p>
          <a:p>
            <a:pPr marL="438912" lvl="1" indent="-320040">
              <a:spcBef>
                <a:spcPts val="0"/>
              </a:spcBef>
              <a:buClr>
                <a:schemeClr val="accent1"/>
              </a:buClr>
              <a:buSzPct val="80000"/>
              <a:buFont typeface="Wingdings 2"/>
              <a:buChar char=""/>
            </a:pPr>
            <a:r>
              <a:rPr lang="en-US" sz="3000" dirty="0" smtClean="0"/>
              <a:t>Decompile .</a:t>
            </a:r>
            <a:r>
              <a:rPr lang="en-US" sz="3000" dirty="0" err="1" smtClean="0"/>
              <a:t>dex</a:t>
            </a:r>
            <a:r>
              <a:rPr lang="en-US" sz="3000" dirty="0" smtClean="0"/>
              <a:t> back to .class or to source</a:t>
            </a:r>
          </a:p>
          <a:p>
            <a:endParaRPr lang="en-US" dirty="0" smtClean="0"/>
          </a:p>
          <a:p>
            <a:r>
              <a:rPr lang="en-US" dirty="0" smtClean="0"/>
              <a:t>IDA scripts for exploit-development</a:t>
            </a:r>
          </a:p>
          <a:p>
            <a:endParaRPr lang="en-US" dirty="0" smtClean="0"/>
          </a:p>
          <a:p>
            <a:r>
              <a:rPr lang="en-US" dirty="0" smtClean="0"/>
              <a:t>Trojan Apps</a:t>
            </a:r>
          </a:p>
          <a:p>
            <a:pPr lvl="1"/>
            <a:r>
              <a:rPr lang="en-US" dirty="0" smtClean="0"/>
              <a:t>Do they already exist?</a:t>
            </a:r>
          </a:p>
          <a:p>
            <a:pPr lvl="1"/>
            <a:r>
              <a:rPr lang="en-US" dirty="0" smtClean="0"/>
              <a:t>How would we make one?</a:t>
            </a:r>
          </a:p>
          <a:p>
            <a:endParaRPr lang="en-US"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 not discussed</a:t>
            </a:r>
            <a:endParaRPr lang="en-US" dirty="0"/>
          </a:p>
        </p:txBody>
      </p:sp>
      <p:sp>
        <p:nvSpPr>
          <p:cNvPr id="3" name="Content Placeholder 2"/>
          <p:cNvSpPr>
            <a:spLocks noGrp="1"/>
          </p:cNvSpPr>
          <p:nvPr>
            <p:ph idx="1"/>
          </p:nvPr>
        </p:nvSpPr>
        <p:spPr/>
        <p:txBody>
          <a:bodyPr>
            <a:normAutofit lnSpcReduction="10000"/>
          </a:bodyPr>
          <a:lstStyle/>
          <a:p>
            <a:r>
              <a:rPr lang="en-US" dirty="0" smtClean="0"/>
              <a:t>Exercises for the reader</a:t>
            </a:r>
          </a:p>
          <a:p>
            <a:pPr lvl="1"/>
            <a:r>
              <a:rPr lang="en-US" dirty="0" smtClean="0"/>
              <a:t>How does Android do OTA updates?</a:t>
            </a:r>
          </a:p>
          <a:p>
            <a:pPr lvl="1"/>
            <a:r>
              <a:rPr lang="en-US" dirty="0" smtClean="0"/>
              <a:t>How does Android authenticate to the Market?</a:t>
            </a:r>
          </a:p>
          <a:p>
            <a:pPr lvl="2"/>
            <a:r>
              <a:rPr lang="en-US" dirty="0" smtClean="0"/>
              <a:t>Can you do it with a regular web browser?</a:t>
            </a:r>
          </a:p>
          <a:p>
            <a:pPr lvl="1"/>
            <a:r>
              <a:rPr lang="en-US" dirty="0" smtClean="0"/>
              <a:t>Where does Android store my Google password?</a:t>
            </a:r>
          </a:p>
          <a:p>
            <a:pPr lvl="2"/>
            <a:r>
              <a:rPr lang="en-US" dirty="0" smtClean="0"/>
              <a:t>Further, where should my app store its passwords?</a:t>
            </a:r>
          </a:p>
          <a:p>
            <a:pPr lvl="1"/>
            <a:r>
              <a:rPr lang="en-US" dirty="0" smtClean="0"/>
              <a:t>How would you write an Android </a:t>
            </a:r>
            <a:r>
              <a:rPr lang="en-US" dirty="0" err="1" smtClean="0"/>
              <a:t>rootkit</a:t>
            </a:r>
            <a:r>
              <a:rPr lang="en-US" dirty="0" smtClean="0"/>
              <a:t>?</a:t>
            </a:r>
          </a:p>
          <a:p>
            <a:endParaRPr lang="en-US" dirty="0" smtClean="0"/>
          </a:p>
          <a:p>
            <a:r>
              <a:rPr lang="en-US" dirty="0" smtClean="0"/>
              <a:t>How do you secure a platform where 50,000 Android users install </a:t>
            </a:r>
            <a:r>
              <a:rPr lang="en-US" dirty="0" err="1" smtClean="0"/>
              <a:t>Fartdroid</a:t>
            </a:r>
            <a:r>
              <a:rPr lang="en-US" dirty="0" smtClean="0"/>
              <a:t>?</a:t>
            </a:r>
          </a:p>
          <a:p>
            <a:endParaRPr lang="en-US" dirty="0" smtClean="0"/>
          </a:p>
        </p:txBody>
      </p:sp>
      <p:pic>
        <p:nvPicPr>
          <p:cNvPr id="6146" name="Picture 2" descr="C:\Documents and Settings\Dan Guido\Desktop\FartDroid.png"/>
          <p:cNvPicPr>
            <a:picLocks noChangeAspect="1" noChangeArrowheads="1"/>
          </p:cNvPicPr>
          <p:nvPr/>
        </p:nvPicPr>
        <p:blipFill>
          <a:blip r:embed="rId3"/>
          <a:srcRect/>
          <a:stretch>
            <a:fillRect/>
          </a:stretch>
        </p:blipFill>
        <p:spPr bwMode="auto">
          <a:xfrm>
            <a:off x="6248400" y="5838825"/>
            <a:ext cx="457200" cy="409575"/>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Appendix</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Pulling a John Connor: Defeating Android</a:t>
            </a:r>
          </a:p>
          <a:p>
            <a:pPr lvl="1"/>
            <a:r>
              <a:rPr lang="en-US" dirty="0" smtClean="0"/>
              <a:t>Charlie Miller, </a:t>
            </a:r>
            <a:r>
              <a:rPr lang="en-US" dirty="0" err="1" smtClean="0"/>
              <a:t>ShmooCon</a:t>
            </a:r>
            <a:r>
              <a:rPr lang="en-US" dirty="0" smtClean="0"/>
              <a:t> 2009</a:t>
            </a:r>
          </a:p>
          <a:p>
            <a:pPr lvl="1"/>
            <a:endParaRPr lang="en-US" dirty="0" smtClean="0"/>
          </a:p>
          <a:p>
            <a:r>
              <a:rPr lang="en-US" dirty="0" smtClean="0"/>
              <a:t>The Smart-Phones Security Nightmare</a:t>
            </a:r>
          </a:p>
          <a:p>
            <a:pPr lvl="1"/>
            <a:r>
              <a:rPr lang="en-US" dirty="0" smtClean="0"/>
              <a:t>Sergio ‘</a:t>
            </a:r>
            <a:r>
              <a:rPr lang="en-US" dirty="0" err="1" smtClean="0"/>
              <a:t>shadown</a:t>
            </a:r>
            <a:r>
              <a:rPr lang="en-US" dirty="0" smtClean="0"/>
              <a:t>’ Alvarez, </a:t>
            </a:r>
            <a:r>
              <a:rPr lang="en-US" dirty="0" err="1" smtClean="0"/>
              <a:t>CanSecWest</a:t>
            </a:r>
            <a:r>
              <a:rPr lang="en-US" dirty="0" smtClean="0"/>
              <a:t> 2009</a:t>
            </a:r>
          </a:p>
          <a:p>
            <a:pPr lvl="1"/>
            <a:endParaRPr lang="en-US" dirty="0" smtClean="0"/>
          </a:p>
          <a:p>
            <a:r>
              <a:rPr lang="en-US" dirty="0" smtClean="0"/>
              <a:t>Smartphone (in) Security</a:t>
            </a:r>
          </a:p>
          <a:p>
            <a:pPr lvl="1"/>
            <a:r>
              <a:rPr lang="en-US" dirty="0" smtClean="0"/>
              <a:t>Ortega &amp; </a:t>
            </a:r>
            <a:r>
              <a:rPr lang="en-US" dirty="0" err="1" smtClean="0"/>
              <a:t>Economou</a:t>
            </a:r>
            <a:r>
              <a:rPr lang="en-US" dirty="0" smtClean="0"/>
              <a:t>, </a:t>
            </a:r>
            <a:r>
              <a:rPr lang="en-US" dirty="0" err="1" smtClean="0"/>
              <a:t>CanSecWest</a:t>
            </a:r>
            <a:r>
              <a:rPr lang="en-US" dirty="0" smtClean="0"/>
              <a:t> 2009</a:t>
            </a:r>
          </a:p>
          <a:p>
            <a:pPr lvl="1"/>
            <a:endParaRPr lang="en-US" dirty="0" smtClean="0"/>
          </a:p>
          <a:p>
            <a:r>
              <a:rPr lang="en-US" dirty="0" smtClean="0"/>
              <a:t>Google’s Android Platform</a:t>
            </a:r>
          </a:p>
          <a:p>
            <a:pPr lvl="1"/>
            <a:r>
              <a:rPr lang="en-US" dirty="0" smtClean="0"/>
              <a:t>Jon </a:t>
            </a:r>
            <a:r>
              <a:rPr lang="en-US" dirty="0" err="1" smtClean="0"/>
              <a:t>Oberheide</a:t>
            </a:r>
            <a:r>
              <a:rPr lang="en-US" dirty="0" smtClean="0"/>
              <a:t>, </a:t>
            </a:r>
            <a:r>
              <a:rPr lang="en-US" dirty="0" err="1" smtClean="0"/>
              <a:t>CanSecWest</a:t>
            </a:r>
            <a:r>
              <a:rPr lang="en-US" dirty="0" smtClean="0"/>
              <a:t> 2009</a:t>
            </a:r>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bg1"/>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Appendix</a:t>
            </a:r>
            <a:endParaRPr lang="en-US" dirty="0"/>
          </a:p>
        </p:txBody>
      </p:sp>
      <p:sp>
        <p:nvSpPr>
          <p:cNvPr id="3" name="Content Placeholder 2"/>
          <p:cNvSpPr>
            <a:spLocks noGrp="1"/>
          </p:cNvSpPr>
          <p:nvPr>
            <p:ph idx="1"/>
          </p:nvPr>
        </p:nvSpPr>
        <p:spPr/>
        <p:txBody>
          <a:bodyPr>
            <a:normAutofit/>
          </a:bodyPr>
          <a:lstStyle/>
          <a:p>
            <a:r>
              <a:rPr lang="en-US" dirty="0" err="1" smtClean="0"/>
              <a:t>Dalvik</a:t>
            </a:r>
            <a:r>
              <a:rPr lang="en-US" dirty="0" smtClean="0"/>
              <a:t> Virtual Machine Internals</a:t>
            </a:r>
          </a:p>
          <a:p>
            <a:pPr lvl="1"/>
            <a:r>
              <a:rPr lang="en-US" dirty="0" smtClean="0"/>
              <a:t>Dan Bornstein, Google I/O 2008</a:t>
            </a:r>
          </a:p>
          <a:p>
            <a:endParaRPr lang="en-US" dirty="0" smtClean="0"/>
          </a:p>
          <a:p>
            <a:r>
              <a:rPr lang="en-US" dirty="0" err="1" smtClean="0"/>
              <a:t>Debian</a:t>
            </a:r>
            <a:r>
              <a:rPr lang="en-US" dirty="0" smtClean="0"/>
              <a:t> &amp; Android Together on G1</a:t>
            </a:r>
          </a:p>
          <a:p>
            <a:pPr lvl="1"/>
            <a:r>
              <a:rPr lang="en-US" dirty="0" smtClean="0"/>
              <a:t>Jay Freeman, saurik.com/id/10</a:t>
            </a:r>
          </a:p>
          <a:p>
            <a:endParaRPr lang="en-US" dirty="0" smtClean="0"/>
          </a:p>
          <a:p>
            <a:r>
              <a:rPr lang="en-US" dirty="0" smtClean="0"/>
              <a:t>Updated </a:t>
            </a:r>
            <a:r>
              <a:rPr lang="en-US" dirty="0" err="1" smtClean="0"/>
              <a:t>Dex</a:t>
            </a:r>
            <a:r>
              <a:rPr lang="en-US" dirty="0" smtClean="0"/>
              <a:t> File Format</a:t>
            </a:r>
          </a:p>
          <a:p>
            <a:pPr lvl="1"/>
            <a:r>
              <a:rPr lang="en-US" dirty="0" smtClean="0"/>
              <a:t>Tim </a:t>
            </a:r>
            <a:r>
              <a:rPr lang="en-US" dirty="0" err="1" smtClean="0"/>
              <a:t>Strazzere</a:t>
            </a:r>
            <a:r>
              <a:rPr lang="en-US" dirty="0" smtClean="0"/>
              <a:t>, strazzere.com/blog/?p=104</a:t>
            </a:r>
          </a:p>
          <a:p>
            <a:pPr lvl="1"/>
            <a:endParaRPr lang="en-US" dirty="0" smtClean="0"/>
          </a:p>
        </p:txBody>
      </p:sp>
    </p:spTree>
  </p:cSld>
  <p:clrMapOvr>
    <a:masterClrMapping/>
  </p:clrMapOvr>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xmlns:mc="http://schemas.openxmlformats.org/markup-compatibility/2006" xmlns:a14="http://schemas.microsoft.com/office/drawing/2010/main" val="5A6378" mc:Ignorable=""/>
      </a:dk2>
      <a:lt2>
        <a:srgbClr xmlns:mc="http://schemas.openxmlformats.org/markup-compatibility/2006" xmlns:a14="http://schemas.microsoft.com/office/drawing/2010/main" val="D4D4D6" mc:Ignorable=""/>
      </a:lt2>
      <a:accent1>
        <a:srgbClr xmlns:mc="http://schemas.openxmlformats.org/markup-compatibility/2006" xmlns:a14="http://schemas.microsoft.com/office/drawing/2010/main" val="F0AD00" mc:Ignorable=""/>
      </a:accent1>
      <a:accent2>
        <a:srgbClr xmlns:mc="http://schemas.openxmlformats.org/markup-compatibility/2006" xmlns:a14="http://schemas.microsoft.com/office/drawing/2010/main" val="60B5CC" mc:Ignorable=""/>
      </a:accent2>
      <a:accent3>
        <a:srgbClr xmlns:mc="http://schemas.openxmlformats.org/markup-compatibility/2006" xmlns:a14="http://schemas.microsoft.com/office/drawing/2010/main" val="E66C7D" mc:Ignorable=""/>
      </a:accent3>
      <a:accent4>
        <a:srgbClr xmlns:mc="http://schemas.openxmlformats.org/markup-compatibility/2006" xmlns:a14="http://schemas.microsoft.com/office/drawing/2010/main" val="6BB76D" mc:Ignorable=""/>
      </a:accent4>
      <a:accent5>
        <a:srgbClr xmlns:mc="http://schemas.openxmlformats.org/markup-compatibility/2006" xmlns:a14="http://schemas.microsoft.com/office/drawing/2010/main" val="E88651" mc:Ignorable=""/>
      </a:accent5>
      <a:accent6>
        <a:srgbClr xmlns:mc="http://schemas.openxmlformats.org/markup-compatibility/2006" xmlns:a14="http://schemas.microsoft.com/office/drawing/2010/main" val="C64847" mc:Ignorable=""/>
      </a:accent6>
      <a:hlink>
        <a:srgbClr xmlns:mc="http://schemas.openxmlformats.org/markup-compatibility/2006" xmlns:a14="http://schemas.microsoft.com/office/drawing/2010/main" val="168BBA" mc:Ignorable=""/>
      </a:hlink>
      <a:folHlink>
        <a:srgbClr xmlns:mc="http://schemas.openxmlformats.org/markup-compatibility/2006" xmlns:a14="http://schemas.microsoft.com/office/drawing/2010/main" val="680000" mc:Ignorable=""/>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xmlns:mc="http://schemas.openxmlformats.org/markup-compatibility/2006" xmlns:a14="http://schemas.microsoft.com/office/drawing/2010/main" val="000000" mc:Ignorable="">
                <a:alpha val="38000"/>
              </a:srgbClr>
            </a:outerShdw>
          </a:effectLst>
        </a:effectStyle>
        <a:effectStyle>
          <a:effectLst>
            <a:outerShdw blurRad="39000" dist="25400" dir="5400000" rotWithShape="0">
              <a:srgbClr xmlns:mc="http://schemas.openxmlformats.org/markup-compatibility/2006" xmlns:a14="http://schemas.microsoft.com/office/drawing/2010/main" val="000000" mc:Ignorable="">
                <a:alpha val="38000"/>
              </a:srgbClr>
            </a:outerShdw>
          </a:effectLst>
        </a:effectStyle>
        <a:effectStyle>
          <a:effectLst>
            <a:outerShdw blurRad="39000" dist="25400" dir="5400000" rotWithShape="0">
              <a:srgbClr xmlns:mc="http://schemas.openxmlformats.org/markup-compatibility/2006" xmlns:a14="http://schemas.microsoft.com/office/drawing/2010/main" val="000000" mc:Ignorable="">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xmlns:mc="http://schemas.openxmlformats.org/markup-compatibility/2006" xmlns:a14="http://schemas.microsoft.com/office/drawing/2010/main" val="1F497D" mc:Ignorable=""/>
      </a:dk2>
      <a:lt2>
        <a:srgbClr xmlns:mc="http://schemas.openxmlformats.org/markup-compatibility/2006" xmlns:a14="http://schemas.microsoft.com/office/drawing/2010/main" val="EEECE1" mc:Ignorable=""/>
      </a:lt2>
      <a:accent1>
        <a:srgbClr xmlns:mc="http://schemas.openxmlformats.org/markup-compatibility/2006" xmlns:a14="http://schemas.microsoft.com/office/drawing/2010/main" val="4F81BD" mc:Ignorable=""/>
      </a:accent1>
      <a:accent2>
        <a:srgbClr xmlns:mc="http://schemas.openxmlformats.org/markup-compatibility/2006" xmlns:a14="http://schemas.microsoft.com/office/drawing/2010/main" val="C0504D" mc:Ignorable=""/>
      </a:accent2>
      <a:accent3>
        <a:srgbClr xmlns:mc="http://schemas.openxmlformats.org/markup-compatibility/2006" xmlns:a14="http://schemas.microsoft.com/office/drawing/2010/main" val="9BBB59" mc:Ignorable=""/>
      </a:accent3>
      <a:accent4>
        <a:srgbClr xmlns:mc="http://schemas.openxmlformats.org/markup-compatibility/2006" xmlns:a14="http://schemas.microsoft.com/office/drawing/2010/main" val="8064A2" mc:Ignorable=""/>
      </a:accent4>
      <a:accent5>
        <a:srgbClr xmlns:mc="http://schemas.openxmlformats.org/markup-compatibility/2006" xmlns:a14="http://schemas.microsoft.com/office/drawing/2010/main" val="4BACC6" mc:Ignorable=""/>
      </a:accent5>
      <a:accent6>
        <a:srgbClr xmlns:mc="http://schemas.openxmlformats.org/markup-compatibility/2006" xmlns:a14="http://schemas.microsoft.com/office/drawing/2010/main" val="F79646" mc:Ignorable=""/>
      </a:accent6>
      <a:hlink>
        <a:srgbClr xmlns:mc="http://schemas.openxmlformats.org/markup-compatibility/2006" xmlns:a14="http://schemas.microsoft.com/office/drawing/2010/main" val="0000FF" mc:Ignorable=""/>
      </a:hlink>
      <a:folHlink>
        <a:srgbClr xmlns:mc="http://schemas.openxmlformats.org/markup-compatibility/2006" xmlns:a14="http://schemas.microsoft.com/office/drawing/2010/main" val="800080" mc:Ignorabl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xmlns:mc="http://schemas.openxmlformats.org/markup-compatibility/2006" xmlns:a14="http://schemas.microsoft.com/office/drawing/2010/main" val="000000" mc:Ignorable="">
                <a:alpha val="38000"/>
              </a:srgbClr>
            </a:outerShdw>
          </a:effectLst>
        </a:effectStyle>
        <a:effectStyle>
          <a:effectLst>
            <a:outerShdw blurRad="40000" dist="23000" dir="5400000" rotWithShape="0">
              <a:srgbClr xmlns:mc="http://schemas.openxmlformats.org/markup-compatibility/2006" xmlns:a14="http://schemas.microsoft.com/office/drawing/2010/main" val="000000" mc:Ignorable="">
                <a:alpha val="35000"/>
              </a:srgbClr>
            </a:outerShdw>
          </a:effectLst>
        </a:effectStyle>
        <a:effectStyle>
          <a:effectLst>
            <a:outerShdw blurRad="40000" dist="23000" dir="5400000" rotWithShape="0">
              <a:srgbClr xmlns:mc="http://schemas.openxmlformats.org/markup-compatibility/2006" xmlns:a14="http://schemas.microsoft.com/office/drawing/2010/main" val="000000" mc:Ignorable="">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0</TotalTime>
  <Words>1687</Words>
  <Application>Microsoft Office PowerPoint</Application>
  <PresentationFormat>On-screen Show (4:3)</PresentationFormat>
  <Paragraphs>286</Paragraphs>
  <Slides>28</Slides>
  <Notes>27</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Module</vt:lpstr>
      <vt:lpstr>Android</vt:lpstr>
      <vt:lpstr>Thank You!</vt:lpstr>
      <vt:lpstr>Outline</vt:lpstr>
      <vt:lpstr>The Point</vt:lpstr>
      <vt:lpstr>Android Fail</vt:lpstr>
      <vt:lpstr>Android Basics</vt:lpstr>
      <vt:lpstr>Demystifying Dalvik</vt:lpstr>
      <vt:lpstr>PowerPoint Presentation</vt:lpstr>
      <vt:lpstr>PowerPoint Presentation</vt:lpstr>
      <vt:lpstr>Sandboxing</vt:lpstr>
      <vt:lpstr>Application Signing</vt:lpstr>
      <vt:lpstr>Access Controls</vt:lpstr>
      <vt:lpstr>PowerPoint Presentation</vt:lpstr>
      <vt:lpstr>Granularity</vt:lpstr>
      <vt:lpstr>Android Market</vt:lpstr>
      <vt:lpstr>Android Market Exploit</vt:lpstr>
      <vt:lpstr>Bypassing the SDK</vt:lpstr>
      <vt:lpstr>Debugging</vt:lpstr>
      <vt:lpstr>Jailbreaking</vt:lpstr>
      <vt:lpstr>Reality Check</vt:lpstr>
      <vt:lpstr>Threats to Applications</vt:lpstr>
      <vt:lpstr>Exploiting Android</vt:lpstr>
      <vt:lpstr>Interpreter Bugs</vt:lpstr>
      <vt:lpstr>Finding More Bugs</vt:lpstr>
      <vt:lpstr>Research Opportunities</vt:lpstr>
      <vt:lpstr>Issues not discussed</vt:lpstr>
      <vt:lpstr>Appendix</vt:lpstr>
      <vt:lpstr>Appendix</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2010-02-10T21:41:17Z</dcterms:created>
  <dcterms:modified xsi:type="dcterms:W3CDTF">2010-02-10T21:41:22Z</dcterms:modified>
</cp:coreProperties>
</file>