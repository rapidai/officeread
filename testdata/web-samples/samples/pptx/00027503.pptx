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9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5" r:id="rId16"/>
    <p:sldId id="269" r:id="rId17"/>
    <p:sldId id="274" r:id="rId18"/>
    <p:sldId id="270" r:id="rId19"/>
    <p:sldId id="258" r:id="rId20"/>
  </p:sldIdLst>
  <p:sldSz cx="9144000" cy="6858000" type="screen4x3"/>
  <p:notesSz cx="6797675" cy="9926638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00"/>
    <a:srgbClr val="00528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2904" autoAdjust="0"/>
  </p:normalViewPr>
  <p:slideViewPr>
    <p:cSldViewPr snapToObjects="1">
      <p:cViewPr>
        <p:scale>
          <a:sx n="80" d="100"/>
          <a:sy n="80" d="100"/>
        </p:scale>
        <p:origin x="-126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autoTitleDeleted val="1"/>
    <c:plotArea>
      <c:layout>
        <c:manualLayout>
          <c:layoutTarget val="inner"/>
          <c:xMode val="edge"/>
          <c:yMode val="edge"/>
          <c:x val="0.10332541567696002"/>
          <c:y val="0.11137440758293848"/>
          <c:w val="0.89667458432304192"/>
          <c:h val="0.68009478672985868"/>
        </c:manualLayout>
      </c:layout>
      <c:barChart>
        <c:barDir val="col"/>
        <c:grouping val="clustered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Lbls>
            <c:dLbl>
              <c:idx val="47"/>
              <c:layout>
                <c:manualLayout>
                  <c:x val="2.1460048522883742E-2"/>
                  <c:y val="1.7347081872926658E-2"/>
                </c:manualLayout>
              </c:layout>
              <c:tx>
                <c:rich>
                  <a:bodyPr/>
                  <a:lstStyle/>
                  <a:p>
                    <a:pPr>
                      <a:defRPr lang="en-AU"/>
                    </a:pPr>
                    <a:r>
                      <a:rPr lang="en-US" b="1" dirty="0" smtClean="0"/>
                      <a:t>327</a:t>
                    </a:r>
                    <a:endParaRPr lang="en-US" b="1" dirty="0"/>
                  </a:p>
                </c:rich>
              </c:tx>
              <c:spPr>
                <a:noFill/>
                <a:ln w="25932">
                  <a:noFill/>
                </a:ln>
              </c:spPr>
              <c:showVal val="1"/>
            </c:dLbl>
            <c:delete val="1"/>
          </c:dLbls>
          <c:cat>
            <c:numRef>
              <c:f>Sheet1!$B$1:$AX$1</c:f>
              <c:numCache>
                <c:formatCode>General</c:formatCode>
                <c:ptCount val="49"/>
                <c:pt idx="0">
                  <c:v>1960</c:v>
                </c:pt>
                <c:pt idx="5">
                  <c:v>1965</c:v>
                </c:pt>
                <c:pt idx="10">
                  <c:v>1970</c:v>
                </c:pt>
                <c:pt idx="15">
                  <c:v>1975</c:v>
                </c:pt>
                <c:pt idx="20">
                  <c:v>1980</c:v>
                </c:pt>
                <c:pt idx="25">
                  <c:v>1985</c:v>
                </c:pt>
                <c:pt idx="30">
                  <c:v>1990</c:v>
                </c:pt>
                <c:pt idx="35">
                  <c:v>1995</c:v>
                </c:pt>
                <c:pt idx="40">
                  <c:v>2000</c:v>
                </c:pt>
                <c:pt idx="45">
                  <c:v>2005</c:v>
                </c:pt>
              </c:numCache>
            </c:numRef>
          </c:cat>
          <c:val>
            <c:numRef>
              <c:f>Sheet1!$B$2:$AX$2</c:f>
              <c:numCache>
                <c:formatCode>General</c:formatCode>
                <c:ptCount val="49"/>
                <c:pt idx="0">
                  <c:v>346</c:v>
                </c:pt>
                <c:pt idx="1">
                  <c:v>337</c:v>
                </c:pt>
                <c:pt idx="2">
                  <c:v>403</c:v>
                </c:pt>
                <c:pt idx="3">
                  <c:v>398</c:v>
                </c:pt>
                <c:pt idx="4">
                  <c:v>461</c:v>
                </c:pt>
                <c:pt idx="5">
                  <c:v>467</c:v>
                </c:pt>
                <c:pt idx="6">
                  <c:v>466</c:v>
                </c:pt>
                <c:pt idx="7">
                  <c:v>502</c:v>
                </c:pt>
                <c:pt idx="8">
                  <c:v>477</c:v>
                </c:pt>
                <c:pt idx="9">
                  <c:v>556</c:v>
                </c:pt>
                <c:pt idx="10">
                  <c:v>527</c:v>
                </c:pt>
                <c:pt idx="11">
                  <c:v>594</c:v>
                </c:pt>
                <c:pt idx="12">
                  <c:v>572</c:v>
                </c:pt>
                <c:pt idx="13">
                  <c:v>638</c:v>
                </c:pt>
                <c:pt idx="14">
                  <c:v>589</c:v>
                </c:pt>
                <c:pt idx="15">
                  <c:v>635</c:v>
                </c:pt>
                <c:pt idx="16">
                  <c:v>569</c:v>
                </c:pt>
                <c:pt idx="17">
                  <c:v>572</c:v>
                </c:pt>
                <c:pt idx="18">
                  <c:v>612</c:v>
                </c:pt>
                <c:pt idx="19">
                  <c:v>616</c:v>
                </c:pt>
                <c:pt idx="20">
                  <c:v>557</c:v>
                </c:pt>
                <c:pt idx="21">
                  <c:v>594</c:v>
                </c:pt>
                <c:pt idx="22">
                  <c:v>602</c:v>
                </c:pt>
                <c:pt idx="23">
                  <c:v>510</c:v>
                </c:pt>
                <c:pt idx="24">
                  <c:v>505</c:v>
                </c:pt>
                <c:pt idx="25">
                  <c:v>502</c:v>
                </c:pt>
                <c:pt idx="26">
                  <c:v>481</c:v>
                </c:pt>
                <c:pt idx="27">
                  <c:v>442</c:v>
                </c:pt>
                <c:pt idx="28">
                  <c:v>539</c:v>
                </c:pt>
                <c:pt idx="29">
                  <c:v>428</c:v>
                </c:pt>
                <c:pt idx="30">
                  <c:v>402</c:v>
                </c:pt>
                <c:pt idx="31">
                  <c:v>395</c:v>
                </c:pt>
                <c:pt idx="32">
                  <c:v>416</c:v>
                </c:pt>
                <c:pt idx="33">
                  <c:v>395</c:v>
                </c:pt>
                <c:pt idx="34">
                  <c:v>422</c:v>
                </c:pt>
                <c:pt idx="35">
                  <c:v>456</c:v>
                </c:pt>
                <c:pt idx="36">
                  <c:v>385</c:v>
                </c:pt>
                <c:pt idx="37">
                  <c:v>360</c:v>
                </c:pt>
                <c:pt idx="38">
                  <c:v>279</c:v>
                </c:pt>
                <c:pt idx="39">
                  <c:v>314</c:v>
                </c:pt>
                <c:pt idx="40">
                  <c:v>317</c:v>
                </c:pt>
                <c:pt idx="41">
                  <c:v>324</c:v>
                </c:pt>
                <c:pt idx="42">
                  <c:v>322</c:v>
                </c:pt>
                <c:pt idx="43">
                  <c:v>310</c:v>
                </c:pt>
                <c:pt idx="44">
                  <c:v>311</c:v>
                </c:pt>
                <c:pt idx="45">
                  <c:v>330</c:v>
                </c:pt>
                <c:pt idx="46">
                  <c:v>337</c:v>
                </c:pt>
                <c:pt idx="47">
                  <c:v>359</c:v>
                </c:pt>
                <c:pt idx="48">
                  <c:v>327</c:v>
                </c:pt>
              </c:numCache>
            </c:numRef>
          </c:val>
        </c:ser>
        <c:axId val="68855680"/>
        <c:axId val="68857216"/>
      </c:barChart>
      <c:catAx>
        <c:axId val="68855680"/>
        <c:scaling>
          <c:orientation val="minMax"/>
        </c:scaling>
        <c:axPos val="b"/>
        <c:numFmt formatCode="General" sourceLinked="0"/>
        <c:tickLblPos val="nextTo"/>
        <c:spPr>
          <a:ln w="12966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lang="en-AU"/>
            </a:pPr>
            <a:endParaRPr lang="en-US"/>
          </a:p>
        </c:txPr>
        <c:crossAx val="68857216"/>
        <c:crosses val="autoZero"/>
        <c:auto val="1"/>
        <c:lblAlgn val="ctr"/>
        <c:lblOffset val="100"/>
        <c:tickLblSkip val="1"/>
        <c:tickMarkSkip val="1"/>
      </c:catAx>
      <c:valAx>
        <c:axId val="68857216"/>
        <c:scaling>
          <c:orientation val="minMax"/>
          <c:max val="700"/>
        </c:scaling>
        <c:axPos val="l"/>
        <c:majorGridlines>
          <c:spPr>
            <a:ln w="3242">
              <a:solidFill>
                <a:schemeClr val="tx1"/>
              </a:solidFill>
              <a:prstDash val="solid"/>
            </a:ln>
          </c:spPr>
        </c:majorGridlines>
        <c:numFmt formatCode="General" sourceLinked="1"/>
        <c:tickLblPos val="nextTo"/>
        <c:spPr>
          <a:ln w="12966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lang="en-AU"/>
            </a:pPr>
            <a:endParaRPr lang="en-US"/>
          </a:p>
        </c:txPr>
        <c:crossAx val="68855680"/>
        <c:crosses val="autoZero"/>
        <c:crossBetween val="between"/>
      </c:valAx>
      <c:spPr>
        <a:noFill/>
        <a:ln w="25932">
          <a:noFill/>
        </a:ln>
      </c:spPr>
    </c:plotArea>
    <c:plotVisOnly val="1"/>
    <c:dispBlanksAs val="gap"/>
  </c:chart>
  <c:spPr>
    <a:solidFill>
      <a:schemeClr val="lt1"/>
    </a:solidFill>
    <a:ln w="25400" cap="flat" cmpd="sng" algn="ctr">
      <a:solidFill>
        <a:schemeClr val="dk1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01DC3-3FBF-45FF-BAA0-48135722F50A}" type="datetimeFigureOut">
              <a:rPr lang="en-AU" smtClean="0"/>
              <a:t>6/07/2011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8B5BF-4460-418B-AE8B-C90731BA21D7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98CD655-806C-46B0-BB39-0883574938CD}" type="datetime1">
              <a:rPr lang="en-AU"/>
              <a:pPr>
                <a:defRPr/>
              </a:pPr>
              <a:t>6/07/2011</a:t>
            </a:fld>
            <a:endParaRPr lang="en-AU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A608E31B-C042-4E85-B5EB-12506A2C072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08E31B-C042-4E85-B5EB-12506A2C072E}" type="slidenum">
              <a:rPr lang="en-AU" smtClean="0"/>
              <a:pPr>
                <a:defRPr/>
              </a:pPr>
              <a:t>3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08E31B-C042-4E85-B5EB-12506A2C072E}" type="slidenum">
              <a:rPr lang="en-AU" smtClean="0"/>
              <a:pPr>
                <a:defRPr/>
              </a:pPr>
              <a:t>5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08E31B-C042-4E85-B5EB-12506A2C072E}" type="slidenum">
              <a:rPr lang="en-AU" smtClean="0"/>
              <a:pPr>
                <a:defRPr/>
              </a:pPr>
              <a:t>7</a:t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08E31B-C042-4E85-B5EB-12506A2C072E}" type="slidenum">
              <a:rPr lang="en-AU" smtClean="0"/>
              <a:pPr>
                <a:defRPr/>
              </a:pPr>
              <a:t>8</a:t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08E31B-C042-4E85-B5EB-12506A2C072E}" type="slidenum">
              <a:rPr lang="en-AU" smtClean="0"/>
              <a:pPr>
                <a:defRPr/>
              </a:pPr>
              <a:t>9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0D5C7-5948-4F57-AB0E-D5EC64E70B34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3756D-0840-41A4-A8CD-C8791CD1E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F620F-E073-41EB-A23D-E7C552531162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DECAC-6A7B-4A2C-B0DC-8C0CC7BABC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E528F-4FC1-4977-8C16-71779F872F72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890EB-7B37-4EDC-B6A8-80F83BE63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DAA55-DAA2-4CDB-9DF9-FDB6ECE509C1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AEC39-A42E-4630-A000-60C7641718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ABFB7-C09B-4B5A-9E6C-56FAA4040DC7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6550E-5489-4F30-B728-0E8E532CC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966F3-7DBD-455A-B732-8C984759CC7E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8128C-6650-4E8C-A9BA-FFF686E11C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4C369-6711-404C-BF28-AA6FCF89364C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35DB9-104B-4345-AAD5-3000A370FB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44FD4-997A-41BA-8BD0-640AABBAD1E7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2B14-AD1D-4177-B62B-0AD8DF88B5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F17BA-A561-4FD9-9165-71115272C1AD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6BB-3ACA-48F5-BE0B-FD419E2EB9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820BB-FC4E-4245-AE46-1E3505EEA079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1DBB-BADE-4694-B17D-3CF12E36A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4BD1C-FEC8-4607-9D88-7A40ED23D413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87B3F-E1AA-4D8C-922B-31A54F6567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404813"/>
            <a:ext cx="8424862" cy="720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95288" y="1341438"/>
            <a:ext cx="8497887" cy="4464050"/>
          </a:xfrm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fld id="{1AA86C61-CAE5-47B7-8F5B-1B06CE2379F6}" type="datetime1">
              <a:rPr lang="en-US"/>
              <a:pPr>
                <a:defRPr/>
              </a:pPr>
              <a:t>7/6/2011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98B0"/>
                </a:solidFill>
              </a:defRPr>
            </a:lvl1pPr>
          </a:lstStyle>
          <a:p>
            <a:pPr>
              <a:defRPr/>
            </a:pPr>
            <a:fld id="{D2E06F2D-8121-499C-9B92-D1F803EE1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109" charset="-128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rrsq.qut.edu.au/qrsa" TargetMode="External"/><Relationship Id="rId2" Type="http://schemas.openxmlformats.org/officeDocument/2006/relationships/hyperlink" Target="mailto:clare.murray@qut.edu.a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107950" y="3068638"/>
            <a:ext cx="903605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endParaRPr lang="en-AU" sz="3600">
              <a:solidFill>
                <a:srgbClr val="CC0000"/>
              </a:solidFill>
              <a:latin typeface="Trebuchet MS" pitchFamily="34" charset="0"/>
            </a:endParaRP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714375" y="3214688"/>
            <a:ext cx="8429625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14400"/>
            <a:endParaRPr lang="en-AU" sz="1000" b="1">
              <a:solidFill>
                <a:schemeClr val="bg2"/>
              </a:solidFill>
              <a:latin typeface="Trebuchet MS" pitchFamily="34" charset="0"/>
            </a:endParaRPr>
          </a:p>
        </p:txBody>
      </p:sp>
      <p:sp>
        <p:nvSpPr>
          <p:cNvPr id="2052" name="TextBox 3"/>
          <p:cNvSpPr txBox="1">
            <a:spLocks noChangeArrowheads="1"/>
          </p:cNvSpPr>
          <p:nvPr/>
        </p:nvSpPr>
        <p:spPr bwMode="auto">
          <a:xfrm>
            <a:off x="7429500" y="6611938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>
                <a:solidFill>
                  <a:schemeClr val="bg1"/>
                </a:solidFill>
              </a:rPr>
              <a:t>CRICOS No. 00213J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857250" y="4267200"/>
            <a:ext cx="8143875" cy="1295400"/>
          </a:xfrm>
        </p:spPr>
        <p:txBody>
          <a:bodyPr lIns="0" rIns="0" anchor="ctr"/>
          <a:lstStyle/>
          <a:p>
            <a:pPr algn="r" eaLnBrk="1" hangingPunct="1">
              <a:defRPr/>
            </a:pPr>
            <a:r>
              <a:rPr lang="en-US" sz="2000" dirty="0" smtClean="0">
                <a:solidFill>
                  <a:schemeClr val="tx1"/>
                </a:solidFill>
                <a:cs typeface="Arial" charset="0"/>
              </a:rPr>
              <a:t>Clare Murray</a:t>
            </a:r>
          </a:p>
          <a:p>
            <a:pPr algn="r" eaLnBrk="1" hangingPunct="1">
              <a:defRPr/>
            </a:pPr>
            <a:r>
              <a:rPr lang="en-AU" sz="2000" dirty="0" smtClean="0"/>
              <a:t>AUCEA National Conference, 11 July 2011</a:t>
            </a:r>
            <a:endParaRPr lang="en-US" sz="2000" dirty="0" smtClean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714375" y="2743200"/>
            <a:ext cx="8286750" cy="1981200"/>
          </a:xfrm>
        </p:spPr>
        <p:txBody>
          <a:bodyPr lIns="0" rIns="0"/>
          <a:lstStyle/>
          <a:p>
            <a:pPr marL="342900" indent="-342900" algn="r" eaLnBrk="1" hangingPunct="1">
              <a:spcBef>
                <a:spcPct val="40000"/>
              </a:spcBef>
            </a:pPr>
            <a:r>
              <a:rPr lang="en-AU" sz="2800" dirty="0" smtClean="0">
                <a:latin typeface="+mn-lt"/>
                <a:ea typeface="ＭＳ Ｐゴシック" pitchFamily="34" charset="-128"/>
              </a:rPr>
              <a:t>Designing University, Government and Industry community engagement to build informed and effective interventions in the area of road safety</a:t>
            </a:r>
            <a:endParaRPr lang="en-US" sz="2800" dirty="0" smtClean="0">
              <a:latin typeface="+mn-lt"/>
              <a:ea typeface="ＭＳ Ｐゴシック" pitchFamily="34" charset="-12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CARRS-Q?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Centre for Accident Research &amp; Road Safety – Queensland (CARRS-Q) was established in 1996 as joint initiative of: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QUT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Motor Accident Insurance Commission (MAIC)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Based in the School of Psychology &amp; Counselling, Faculty of Health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Primary role is to undertake research and training to improve safety on Queensland roads and in the workplace</a:t>
            </a:r>
          </a:p>
          <a:p>
            <a:pPr>
              <a:buNone/>
            </a:pPr>
            <a:endParaRPr lang="en-AU" dirty="0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Road Safety in Australia</a:t>
            </a:r>
            <a:endParaRPr lang="en-AU" dirty="0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99592" y="1493886"/>
            <a:ext cx="6625158" cy="427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382000" cy="914400"/>
          </a:xfrm>
          <a:noFill/>
          <a:ln/>
        </p:spPr>
        <p:txBody>
          <a:bodyPr/>
          <a:lstStyle/>
          <a:p>
            <a:r>
              <a:rPr lang="en-US" sz="4000" b="1" dirty="0" smtClean="0"/>
              <a:t>Queensland Road Toll: 1960-2008</a:t>
            </a:r>
            <a:endParaRPr lang="en-AU" sz="4000" b="1" dirty="0" smtClean="0"/>
          </a:p>
        </p:txBody>
      </p:sp>
      <p:graphicFrame>
        <p:nvGraphicFramePr>
          <p:cNvPr id="6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463550" y="1341438"/>
          <a:ext cx="8285163" cy="43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8404" name="Text Box 4"/>
          <p:cNvSpPr txBox="1">
            <a:spLocks noChangeArrowheads="1"/>
          </p:cNvSpPr>
          <p:nvPr/>
        </p:nvSpPr>
        <p:spPr bwMode="auto">
          <a:xfrm>
            <a:off x="539750" y="6165850"/>
            <a:ext cx="429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AU" sz="1400" b="0" dirty="0">
                <a:solidFill>
                  <a:srgbClr val="005287"/>
                </a:solidFill>
              </a:rPr>
              <a:t>Sources:  Queensland Transport, </a:t>
            </a:r>
            <a:r>
              <a:rPr lang="en-AU" sz="1400" b="0" dirty="0" smtClean="0">
                <a:solidFill>
                  <a:srgbClr val="005287"/>
                </a:solidFill>
              </a:rPr>
              <a:t>2009; </a:t>
            </a:r>
            <a:r>
              <a:rPr lang="en-AU" sz="1400" b="0" dirty="0">
                <a:solidFill>
                  <a:srgbClr val="005287"/>
                </a:solidFill>
              </a:rPr>
              <a:t>ATSB, </a:t>
            </a:r>
            <a:r>
              <a:rPr lang="en-AU" sz="1400" b="0" dirty="0" smtClean="0">
                <a:solidFill>
                  <a:srgbClr val="005287"/>
                </a:solidFill>
              </a:rPr>
              <a:t>2009</a:t>
            </a:r>
            <a:endParaRPr lang="en-AU" sz="1400" b="0" dirty="0">
              <a:solidFill>
                <a:srgbClr val="005287"/>
              </a:solidFill>
            </a:endParaRPr>
          </a:p>
        </p:txBody>
      </p:sp>
      <p:sp>
        <p:nvSpPr>
          <p:cNvPr id="358405" name="Rectangle 5"/>
          <p:cNvSpPr>
            <a:spLocks noChangeArrowheads="1"/>
          </p:cNvSpPr>
          <p:nvPr/>
        </p:nvSpPr>
        <p:spPr bwMode="auto">
          <a:xfrm>
            <a:off x="4067175" y="5734050"/>
            <a:ext cx="6762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AU" sz="1800"/>
              <a:t>Year</a:t>
            </a:r>
            <a:endParaRPr lang="en-AU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Community Road Safety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Imprecise term which overlaps with similar terms including: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Local government road safety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Safe communities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Characteristics are: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Action initiated and managed at local level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Action to tackle problems in local area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Involvement of the local community and local groups as service deliverers</a:t>
            </a: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Examples of Community Road Safety Initiatives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Queensland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No formal State level CRS program although the Department of Transport and Main Roads supports a number of community activities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Driver Reviver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School safety program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Community committees formed around specific issues/geographical areas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Local Councils employ road safety officers who also support local </a:t>
            </a: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initiatives </a:t>
            </a:r>
            <a:endParaRPr lang="en-AU" sz="2600" dirty="0" smtClean="0">
              <a:ea typeface="ＭＳ Ｐゴシック" pitchFamily="34" charset="-128"/>
              <a:cs typeface="ＭＳ Ｐゴシック" pitchFamily="-109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objectives of </a:t>
            </a:r>
            <a:r>
              <a:rPr lang="en-AU" dirty="0" smtClean="0"/>
              <a:t>CRS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AU" dirty="0" smtClean="0"/>
              <a:t>Creating an informed community</a:t>
            </a:r>
          </a:p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r>
              <a:rPr lang="en-AU" dirty="0" smtClean="0"/>
              <a:t>Mobilising local resources to road safety ends</a:t>
            </a:r>
          </a:p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r>
              <a:rPr lang="en-AU" dirty="0" smtClean="0"/>
              <a:t>Promoting effective action</a:t>
            </a:r>
          </a:p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r>
              <a:rPr lang="en-AU" dirty="0" smtClean="0"/>
              <a:t>Integrating activities</a:t>
            </a:r>
            <a:endParaRPr lang="en-AU" dirty="0"/>
          </a:p>
        </p:txBody>
      </p:sp>
      <p:sp>
        <p:nvSpPr>
          <p:cNvPr id="4" name="Down Arrow 3"/>
          <p:cNvSpPr/>
          <p:nvPr/>
        </p:nvSpPr>
        <p:spPr>
          <a:xfrm>
            <a:off x="4427984" y="2204864"/>
            <a:ext cx="576064" cy="720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Down Arrow 4"/>
          <p:cNvSpPr/>
          <p:nvPr/>
        </p:nvSpPr>
        <p:spPr>
          <a:xfrm>
            <a:off x="4427984" y="3789040"/>
            <a:ext cx="576064" cy="720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Down Arrow 5"/>
          <p:cNvSpPr/>
          <p:nvPr/>
        </p:nvSpPr>
        <p:spPr>
          <a:xfrm>
            <a:off x="4427984" y="5013176"/>
            <a:ext cx="576064" cy="720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History of the Queensland Road Safety Awards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</a:rPr>
              <a:t>Established in 2000 in partnership with the Royal Automobile Club of Queensland (RACQ)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</a:rPr>
              <a:t>Designed to recognise the work of individuals and groups who have designed programs, innovations or initiatives dedicated to improving road safety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</a:rPr>
              <a:t>Schools, Communities, Government and Industry are eligible to </a:t>
            </a:r>
            <a:r>
              <a:rPr lang="en-AU" sz="2200" dirty="0" smtClean="0">
                <a:ea typeface="ＭＳ Ｐゴシック" pitchFamily="34" charset="-128"/>
              </a:rPr>
              <a:t>nominate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</a:rPr>
              <a:t>Nominated projects must be above core business for Local and State Government agencies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</a:rPr>
              <a:t>Partners include RACQ, Transport and Main Roads, Queensland Police Service, Leighton Contractors Pty Ltd and Radio Station 96.5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need for the Workshop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Award program nominations were reducing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Nominated projects were becoming less informed by research and did not feature evaluation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Community road safety advocates were asking for a way in which they could be informed about what they should be doing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Partners and Stakeholders - Workshop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Leighton Contactors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Queensland Department of Transport and Main Roads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Queensland Police Service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RACQ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QUT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Development of the Workshop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Call for speakers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Invited speakers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Funded delegate program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Criteria for selection of speakers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Criteria for funded delegates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Call for participants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CARRS-Q database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Previous winners and nominees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Stakeholder employees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Members of the public via media campaign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endParaRPr lang="en-AU" sz="2600" dirty="0" smtClean="0">
              <a:ea typeface="ＭＳ Ｐゴシック" pitchFamily="34" charset="-128"/>
            </a:endParaRP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Criticism – many attendees already in road safety ‘family’  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Workshop Program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Keynote speakers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Mary Williams, OBE, Brake UK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Superintendent Col Campbell, QPS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Selected speakers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Local council projects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Not-for-profit initiatives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Community led programs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Government policies</a:t>
            </a:r>
          </a:p>
          <a:p>
            <a:pPr marL="742950" lvl="2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200" dirty="0" smtClean="0">
                <a:ea typeface="ＭＳ Ｐゴシック" pitchFamily="34" charset="-128"/>
                <a:cs typeface="ＭＳ Ｐゴシック" pitchFamily="-109" charset="-128"/>
              </a:rPr>
              <a:t>Youth and education programs</a:t>
            </a: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Participant Feedback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Participant</a:t>
            </a:r>
          </a:p>
          <a:p>
            <a:pPr lvl="1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Desire to have workshop every year</a:t>
            </a:r>
          </a:p>
          <a:p>
            <a:pPr lvl="1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Expand program to allow specific topics to be covered in more depth e.g. RS in schools</a:t>
            </a:r>
          </a:p>
          <a:p>
            <a:pPr lvl="1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Great for networking and meeting others doing similar work around Queensland</a:t>
            </a:r>
          </a:p>
          <a:p>
            <a:pPr lvl="1" indent="-342900"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  <a:cs typeface="ＭＳ Ｐゴシック" pitchFamily="-109" charset="-128"/>
              </a:rPr>
              <a:t>Great to hear about projects happening in other States that can influence work in Queensland</a:t>
            </a:r>
          </a:p>
          <a:p>
            <a:pPr lvl="1"/>
            <a:endParaRPr lang="en-AU" dirty="0"/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Stakeholder Feedback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Good to provide teaching opportunity to those working in the area already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Need to allow more stakeholders to address workshop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Invite winners from previous years to present on project since winning QRSA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Some stakeholders happy with lower profile than others</a:t>
            </a:r>
            <a:endParaRPr lang="en-AU" sz="2600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Was it successful?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Maximum capacity registrations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More presentations submitted than we could program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Positive participant feedback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Proof will be in quality of future QRSA nominations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Will another 200 people attend in 2011?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Limitations and Criticism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Lack of follow up provided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Plans for online resources not possible due to funding and staff limitations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No further work was done with participants post workshop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Many participants were already part of road safety ‘family’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No facilitated follow up between participants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Future Developments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Workshop is occurring again in 2011 in conjunction with regular QRSA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Theme is Innovation and hope to include presentations on road safety projects being done differently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Char char="§"/>
            </a:pPr>
            <a:r>
              <a:rPr lang="en-AU" sz="2600" dirty="0" smtClean="0">
                <a:ea typeface="ＭＳ Ｐゴシック" pitchFamily="34" charset="-128"/>
              </a:rPr>
              <a:t>Dependent on final speaker numbers, 2 streams may be programmed to allow for more in-depth discussions on specific topics</a:t>
            </a:r>
            <a:endParaRPr lang="en-AU" sz="2600" dirty="0">
              <a:ea typeface="ＭＳ Ｐゴシック" pitchFamily="34" charset="-128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7429500" y="6623844"/>
            <a:ext cx="1714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CRICOS No. 00213J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2646056"/>
          </a:xfrm>
        </p:spPr>
        <p:txBody>
          <a:bodyPr/>
          <a:lstStyle/>
          <a:p>
            <a:pPr algn="ctr">
              <a:buNone/>
            </a:pPr>
            <a:endParaRPr lang="en-AU" dirty="0" smtClean="0"/>
          </a:p>
          <a:p>
            <a:pPr algn="ctr">
              <a:buNone/>
            </a:pPr>
            <a:r>
              <a:rPr lang="en-AU" sz="4800" b="1" dirty="0" smtClean="0"/>
              <a:t>Questions?</a:t>
            </a:r>
          </a:p>
          <a:p>
            <a:pPr algn="ctr">
              <a:buNone/>
            </a:pPr>
            <a:r>
              <a:rPr lang="en-AU" sz="2400" dirty="0" smtClean="0">
                <a:hlinkClick r:id="rId2"/>
              </a:rPr>
              <a:t>clare.murray@qut.edu.au</a:t>
            </a:r>
            <a:endParaRPr lang="en-AU" sz="2400" dirty="0" smtClean="0"/>
          </a:p>
          <a:p>
            <a:pPr algn="ctr">
              <a:buNone/>
            </a:pPr>
            <a:r>
              <a:rPr lang="en-AU" sz="2400" dirty="0" smtClean="0">
                <a:hlinkClick r:id="rId3"/>
              </a:rPr>
              <a:t>www.carrsq.qut.edu.au/qrsa</a:t>
            </a:r>
            <a:r>
              <a:rPr lang="en-AU" sz="2400" dirty="0" smtClean="0"/>
              <a:t>  </a:t>
            </a:r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476375" y="4156075"/>
            <a:ext cx="6191250" cy="1720850"/>
            <a:chOff x="457200" y="3789040"/>
            <a:chExt cx="8229600" cy="2288330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3789040"/>
              <a:ext cx="8229600" cy="22883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AU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81051" y="4082470"/>
              <a:ext cx="5123454" cy="16866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AU" b="1" dirty="0">
                  <a:latin typeface="Arial" charset="0"/>
                  <a:ea typeface="ＭＳ Ｐゴシック" pitchFamily="-109" charset="-128"/>
                </a:rPr>
                <a:t>Mark your Diaries!</a:t>
              </a:r>
            </a:p>
            <a:p>
              <a:pPr algn="ctr">
                <a:defRPr/>
              </a:pPr>
              <a:endParaRPr lang="en-AU" sz="1050" b="1" dirty="0">
                <a:latin typeface="Arial" charset="0"/>
                <a:ea typeface="ＭＳ Ｐゴシック" pitchFamily="-109" charset="-128"/>
              </a:endParaRPr>
            </a:p>
            <a:p>
              <a:pPr>
                <a:defRPr/>
              </a:pPr>
              <a:r>
                <a:rPr lang="en-AU" sz="1600" dirty="0">
                  <a:latin typeface="Arial" charset="0"/>
                  <a:ea typeface="ＭＳ Ｐゴシック" pitchFamily="-109" charset="-128"/>
                </a:rPr>
                <a:t>International Council on Alcohol, Drugs and Traffic Safety Conference (T2013)</a:t>
              </a:r>
            </a:p>
            <a:p>
              <a:pPr algn="ctr">
                <a:defRPr/>
              </a:pPr>
              <a:r>
                <a:rPr lang="en-AU" sz="1600" dirty="0">
                  <a:solidFill>
                    <a:srgbClr val="698335"/>
                  </a:solidFill>
                  <a:latin typeface="Arial" charset="0"/>
                  <a:ea typeface="ＭＳ Ｐゴシック" pitchFamily="-109" charset="-128"/>
                </a:rPr>
                <a:t>26-29 August 2013, Brisbane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rot="5400000">
              <a:off x="2428767" y="4957483"/>
              <a:ext cx="1838686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3" descr="C:\Documents and Settings\steinhar\Desktop\t2013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97408" y="3910270"/>
              <a:ext cx="2448918" cy="1967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rgbClr val="005287"/>
      </a:dk1>
      <a:lt1>
        <a:sysClr val="window" lastClr="FFFFFF"/>
      </a:lt1>
      <a:dk2>
        <a:srgbClr val="CD1140"/>
      </a:dk2>
      <a:lt2>
        <a:srgbClr val="FFFFFF"/>
      </a:lt2>
      <a:accent1>
        <a:srgbClr val="CD1140"/>
      </a:accent1>
      <a:accent2>
        <a:srgbClr val="E2C5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D1140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2401</TotalTime>
  <Words>772</Words>
  <Application>Microsoft Office PowerPoint</Application>
  <PresentationFormat>On-screen Show (4:3)</PresentationFormat>
  <Paragraphs>130</Paragraphs>
  <Slides>19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Designing University, Government and Industry community engagement to build informed and effective interventions in the area of road safety</vt:lpstr>
      <vt:lpstr>What is CARRS-Q?</vt:lpstr>
      <vt:lpstr>Road Safety in Australia</vt:lpstr>
      <vt:lpstr>Queensland Road Toll: 1960-2008</vt:lpstr>
      <vt:lpstr>Community Road Safety</vt:lpstr>
      <vt:lpstr>Examples of Community Road Safety Initiatives</vt:lpstr>
      <vt:lpstr>Key objectives of CRS</vt:lpstr>
      <vt:lpstr>History of the Queensland Road Safety Awards</vt:lpstr>
      <vt:lpstr>The need for the Workshop</vt:lpstr>
      <vt:lpstr>Partners and Stakeholders - Workshop</vt:lpstr>
      <vt:lpstr>Development of the Workshop</vt:lpstr>
      <vt:lpstr>Call for participants</vt:lpstr>
      <vt:lpstr>Workshop Program</vt:lpstr>
      <vt:lpstr>Participant Feedback</vt:lpstr>
      <vt:lpstr>Stakeholder Feedback</vt:lpstr>
      <vt:lpstr>Was it successful?</vt:lpstr>
      <vt:lpstr>Limitations and Criticism</vt:lpstr>
      <vt:lpstr>Future Developments</vt:lpstr>
      <vt:lpstr>Slide 19</vt:lpstr>
    </vt:vector>
  </TitlesOfParts>
  <Company>Evans and Hartshorn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Meredith Evans</dc:creator>
  <cp:lastModifiedBy>murrayc2</cp:lastModifiedBy>
  <cp:revision>221</cp:revision>
  <dcterms:created xsi:type="dcterms:W3CDTF">2009-02-16T00:16:40Z</dcterms:created>
  <dcterms:modified xsi:type="dcterms:W3CDTF">2011-07-06T02:46:08Z</dcterms:modified>
</cp:coreProperties>
</file>