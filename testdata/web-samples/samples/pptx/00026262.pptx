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21" r:id="rId2"/>
    <p:sldMasterId id="2147483697" r:id="rId3"/>
    <p:sldMasterId id="2147483685" r:id="rId4"/>
    <p:sldMasterId id="2147483733" r:id="rId5"/>
    <p:sldMasterId id="2147483661" r:id="rId6"/>
    <p:sldMasterId id="2147485161" r:id="rId7"/>
  </p:sldMasterIdLst>
  <p:notesMasterIdLst>
    <p:notesMasterId r:id="rId74"/>
  </p:notesMasterIdLst>
  <p:handoutMasterIdLst>
    <p:handoutMasterId r:id="rId75"/>
  </p:handoutMasterIdLst>
  <p:sldIdLst>
    <p:sldId id="422" r:id="rId8"/>
    <p:sldId id="496" r:id="rId9"/>
    <p:sldId id="425" r:id="rId10"/>
    <p:sldId id="421" r:id="rId11"/>
    <p:sldId id="460" r:id="rId12"/>
    <p:sldId id="470" r:id="rId13"/>
    <p:sldId id="434" r:id="rId14"/>
    <p:sldId id="471" r:id="rId15"/>
    <p:sldId id="436" r:id="rId16"/>
    <p:sldId id="437" r:id="rId17"/>
    <p:sldId id="438" r:id="rId18"/>
    <p:sldId id="440" r:id="rId19"/>
    <p:sldId id="441" r:id="rId20"/>
    <p:sldId id="444" r:id="rId21"/>
    <p:sldId id="445" r:id="rId22"/>
    <p:sldId id="448" r:id="rId23"/>
    <p:sldId id="449" r:id="rId24"/>
    <p:sldId id="450" r:id="rId25"/>
    <p:sldId id="452" r:id="rId26"/>
    <p:sldId id="453" r:id="rId27"/>
    <p:sldId id="454" r:id="rId28"/>
    <p:sldId id="455" r:id="rId29"/>
    <p:sldId id="456" r:id="rId30"/>
    <p:sldId id="457" r:id="rId31"/>
    <p:sldId id="458" r:id="rId32"/>
    <p:sldId id="497" r:id="rId33"/>
    <p:sldId id="499" r:id="rId34"/>
    <p:sldId id="494" r:id="rId35"/>
    <p:sldId id="492" r:id="rId36"/>
    <p:sldId id="493" r:id="rId37"/>
    <p:sldId id="463" r:id="rId38"/>
    <p:sldId id="469" r:id="rId39"/>
    <p:sldId id="468" r:id="rId40"/>
    <p:sldId id="491" r:id="rId41"/>
    <p:sldId id="473" r:id="rId42"/>
    <p:sldId id="474" r:id="rId43"/>
    <p:sldId id="475" r:id="rId44"/>
    <p:sldId id="467" r:id="rId45"/>
    <p:sldId id="476" r:id="rId46"/>
    <p:sldId id="477" r:id="rId47"/>
    <p:sldId id="478" r:id="rId48"/>
    <p:sldId id="479" r:id="rId49"/>
    <p:sldId id="481" r:id="rId50"/>
    <p:sldId id="482" r:id="rId51"/>
    <p:sldId id="490" r:id="rId52"/>
    <p:sldId id="500" r:id="rId53"/>
    <p:sldId id="486" r:id="rId54"/>
    <p:sldId id="487" r:id="rId55"/>
    <p:sldId id="503" r:id="rId56"/>
    <p:sldId id="502" r:id="rId57"/>
    <p:sldId id="488" r:id="rId58"/>
    <p:sldId id="507" r:id="rId59"/>
    <p:sldId id="504" r:id="rId60"/>
    <p:sldId id="508" r:id="rId61"/>
    <p:sldId id="505" r:id="rId62"/>
    <p:sldId id="510" r:id="rId63"/>
    <p:sldId id="509" r:id="rId64"/>
    <p:sldId id="506" r:id="rId65"/>
    <p:sldId id="514" r:id="rId66"/>
    <p:sldId id="511" r:id="rId67"/>
    <p:sldId id="512" r:id="rId68"/>
    <p:sldId id="513" r:id="rId69"/>
    <p:sldId id="515" r:id="rId70"/>
    <p:sldId id="517" r:id="rId71"/>
    <p:sldId id="516" r:id="rId72"/>
    <p:sldId id="518" r:id="rId73"/>
  </p:sldIdLst>
  <p:sldSz cx="10693400" cy="7561263"/>
  <p:notesSz cx="6746875" cy="99139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55 Roman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0"/>
    <a:srgbClr val="FF5050"/>
    <a:srgbClr val="86C6F2"/>
    <a:srgbClr val="FFFF00"/>
    <a:srgbClr val="FFA817"/>
    <a:srgbClr val="FF1721"/>
    <a:srgbClr val="AEDCAE"/>
    <a:srgbClr val="26B5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39" autoAdjust="0"/>
    <p:restoredTop sz="96577" autoAdjust="0"/>
  </p:normalViewPr>
  <p:slideViewPr>
    <p:cSldViewPr snapToGrid="0">
      <p:cViewPr varScale="1">
        <p:scale>
          <a:sx n="66" d="100"/>
          <a:sy n="66" d="100"/>
        </p:scale>
        <p:origin x="-216" y="-114"/>
      </p:cViewPr>
      <p:guideLst>
        <p:guide orient="horz" pos="238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2610" y="-84"/>
      </p:cViewPr>
      <p:guideLst>
        <p:guide orient="horz" pos="3122"/>
        <p:guide pos="2125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2700" y="952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2700" y="943927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E3EEC5EE-A852-40A2-A7A2-13EC7C93DC9B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2700" y="952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927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2700" y="9439275"/>
            <a:ext cx="29241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5BCD225-3F5F-41D8-8A13-6340F05E4EC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722813"/>
            <a:ext cx="49466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Formate des Vorlagentextes zu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399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01650" y="566738"/>
            <a:ext cx="5743575" cy="4060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588" y="0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54063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54063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0" y="754063"/>
            <a:ext cx="0" cy="0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377564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987521" y="753665"/>
            <a:ext cx="4770417" cy="371680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46125" y="754063"/>
            <a:ext cx="5253038" cy="3716337"/>
          </a:xfrm>
          <a:solidFill>
            <a:srgbClr val="3891A7"/>
          </a:solidFill>
          <a:ln w="25560">
            <a:solidFill>
              <a:srgbClr val="26697A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674716" y="4709036"/>
            <a:ext cx="5397411" cy="446135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Cifar</a:t>
            </a:r>
            <a:r>
              <a:rPr lang="en-US" dirty="0" smtClean="0"/>
              <a:t> comes</a:t>
            </a:r>
            <a:r>
              <a:rPr lang="en-US" baseline="0" dirty="0" smtClean="0"/>
              <a:t> with superclass labels which we ignore and hope to find implicitly</a:t>
            </a:r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E8E95-6C08-42A1-8271-DE09633CEBC0}" type="slidenum">
              <a:rPr lang="he-IL" smtClean="0"/>
              <a:pPr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119655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Cifar</a:t>
            </a:r>
            <a:r>
              <a:rPr lang="en-US" dirty="0" smtClean="0"/>
              <a:t> comes</a:t>
            </a:r>
            <a:r>
              <a:rPr lang="en-US" baseline="0" dirty="0" smtClean="0"/>
              <a:t> with superclass labels which we ignore and hope to find implicitly</a:t>
            </a:r>
            <a:endParaRPr lang="he-IL" dirty="0" smtClean="0"/>
          </a:p>
          <a:p>
            <a:pPr algn="l" rtl="0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E8E95-6C08-42A1-8271-DE09633CEBC0}" type="slidenum">
              <a:rPr lang="he-IL" smtClean="0"/>
              <a:pPr/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119655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E8E95-6C08-42A1-8271-DE09633CEBC0}" type="slidenum">
              <a:rPr lang="he-IL" smtClean="0"/>
              <a:pPr/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2585146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E8E95-6C08-42A1-8271-DE09633CEBC0}" type="slidenum">
              <a:rPr lang="he-IL" smtClean="0"/>
              <a:pPr/>
              <a:t>50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333607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33" tIns="52116" rIns="104233" bIns="52116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33" tIns="52116" rIns="104233" bIns="52116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6" name="Picture 4" descr="_HT-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02005" y="2520422"/>
            <a:ext cx="9089390" cy="1932323"/>
          </a:xfrm>
        </p:spPr>
        <p:txBody>
          <a:bodyPr/>
          <a:lstStyle>
            <a:lvl1pPr>
              <a:defRPr sz="4600"/>
            </a:lvl1pPr>
          </a:lstStyle>
          <a:p>
            <a:r>
              <a:rPr lang="de-DE"/>
              <a:t>Klicken Sie, um das Titelformat zu bearbeiten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04010" y="5208870"/>
            <a:ext cx="7485380" cy="100816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700"/>
            </a:lvl1pPr>
          </a:lstStyle>
          <a:p>
            <a:r>
              <a:rPr lang="de-DE"/>
              <a:t>Klicken Sie, um das Format des Untertitel-Masters zu bearbeiten.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705" y="4858816"/>
            <a:ext cx="9089390" cy="1501751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6"/>
          </a:xfrm>
        </p:spPr>
        <p:txBody>
          <a:bodyPr anchor="b"/>
          <a:lstStyle>
            <a:lvl1pPr marL="0" indent="0">
              <a:buNone/>
              <a:defRPr sz="2300"/>
            </a:lvl1pPr>
            <a:lvl2pPr marL="521160" indent="0">
              <a:buNone/>
              <a:defRPr sz="2100"/>
            </a:lvl2pPr>
            <a:lvl3pPr marL="1042320" indent="0">
              <a:buNone/>
              <a:defRPr sz="1800"/>
            </a:lvl3pPr>
            <a:lvl4pPr marL="1563480" indent="0">
              <a:buNone/>
              <a:defRPr sz="1600"/>
            </a:lvl4pPr>
            <a:lvl5pPr marL="2084641" indent="0">
              <a:buNone/>
              <a:defRPr sz="1600"/>
            </a:lvl5pPr>
            <a:lvl6pPr marL="2605799" indent="0">
              <a:buNone/>
              <a:defRPr sz="1600"/>
            </a:lvl6pPr>
            <a:lvl7pPr marL="3126960" indent="0">
              <a:buNone/>
              <a:defRPr sz="1600"/>
            </a:lvl7pPr>
            <a:lvl8pPr marL="3648121" indent="0">
              <a:buNone/>
              <a:defRPr sz="1600"/>
            </a:lvl8pPr>
            <a:lvl9pPr marL="4169279" indent="0">
              <a:buNone/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02005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35813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0" y="302802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670" y="1692533"/>
            <a:ext cx="4724775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160" indent="0">
              <a:buNone/>
              <a:defRPr sz="2300" b="1"/>
            </a:lvl2pPr>
            <a:lvl3pPr marL="1042320" indent="0">
              <a:buNone/>
              <a:defRPr sz="2100" b="1"/>
            </a:lvl3pPr>
            <a:lvl4pPr marL="1563480" indent="0">
              <a:buNone/>
              <a:defRPr sz="1800" b="1"/>
            </a:lvl4pPr>
            <a:lvl5pPr marL="2084641" indent="0">
              <a:buNone/>
              <a:defRPr sz="1800" b="1"/>
            </a:lvl5pPr>
            <a:lvl6pPr marL="2605799" indent="0">
              <a:buNone/>
              <a:defRPr sz="1800" b="1"/>
            </a:lvl6pPr>
            <a:lvl7pPr marL="3126960" indent="0">
              <a:buNone/>
              <a:defRPr sz="1800" b="1"/>
            </a:lvl7pPr>
            <a:lvl8pPr marL="3648121" indent="0">
              <a:buNone/>
              <a:defRPr sz="1800" b="1"/>
            </a:lvl8pPr>
            <a:lvl9pPr marL="4169279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670" y="2397901"/>
            <a:ext cx="4724775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104" y="1692533"/>
            <a:ext cx="4726631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160" indent="0">
              <a:buNone/>
              <a:defRPr sz="2300" b="1"/>
            </a:lvl2pPr>
            <a:lvl3pPr marL="1042320" indent="0">
              <a:buNone/>
              <a:defRPr sz="2100" b="1"/>
            </a:lvl3pPr>
            <a:lvl4pPr marL="1563480" indent="0">
              <a:buNone/>
              <a:defRPr sz="1800" b="1"/>
            </a:lvl4pPr>
            <a:lvl5pPr marL="2084641" indent="0">
              <a:buNone/>
              <a:defRPr sz="1800" b="1"/>
            </a:lvl5pPr>
            <a:lvl6pPr marL="2605799" indent="0">
              <a:buNone/>
              <a:defRPr sz="1800" b="1"/>
            </a:lvl6pPr>
            <a:lvl7pPr marL="3126960" indent="0">
              <a:buNone/>
              <a:defRPr sz="1800" b="1"/>
            </a:lvl7pPr>
            <a:lvl8pPr marL="3648121" indent="0">
              <a:buNone/>
              <a:defRPr sz="1800" b="1"/>
            </a:lvl8pPr>
            <a:lvl9pPr marL="4169279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104" y="2397901"/>
            <a:ext cx="4726631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5" y="301050"/>
            <a:ext cx="3518055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675" y="1582265"/>
            <a:ext cx="3518055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1160" indent="0">
              <a:buNone/>
              <a:defRPr sz="1400"/>
            </a:lvl2pPr>
            <a:lvl3pPr marL="1042320" indent="0">
              <a:buNone/>
              <a:defRPr sz="1100"/>
            </a:lvl3pPr>
            <a:lvl4pPr marL="1563480" indent="0">
              <a:buNone/>
              <a:defRPr sz="1000"/>
            </a:lvl4pPr>
            <a:lvl5pPr marL="2084641" indent="0">
              <a:buNone/>
              <a:defRPr sz="1000"/>
            </a:lvl5pPr>
            <a:lvl6pPr marL="2605799" indent="0">
              <a:buNone/>
              <a:defRPr sz="1000"/>
            </a:lvl6pPr>
            <a:lvl7pPr marL="3126960" indent="0">
              <a:buNone/>
              <a:defRPr sz="1000"/>
            </a:lvl7pPr>
            <a:lvl8pPr marL="3648121" indent="0">
              <a:buNone/>
              <a:defRPr sz="1000"/>
            </a:lvl8pPr>
            <a:lvl9pPr marL="4169279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1160" indent="0">
              <a:buNone/>
              <a:defRPr sz="3200"/>
            </a:lvl2pPr>
            <a:lvl3pPr marL="1042320" indent="0">
              <a:buNone/>
              <a:defRPr sz="2700"/>
            </a:lvl3pPr>
            <a:lvl4pPr marL="1563480" indent="0">
              <a:buNone/>
              <a:defRPr sz="2300"/>
            </a:lvl4pPr>
            <a:lvl5pPr marL="2084641" indent="0">
              <a:buNone/>
              <a:defRPr sz="2300"/>
            </a:lvl5pPr>
            <a:lvl6pPr marL="2605799" indent="0">
              <a:buNone/>
              <a:defRPr sz="2300"/>
            </a:lvl6pPr>
            <a:lvl7pPr marL="3126960" indent="0">
              <a:buNone/>
              <a:defRPr sz="2300"/>
            </a:lvl7pPr>
            <a:lvl8pPr marL="3648121" indent="0">
              <a:buNone/>
              <a:defRPr sz="2300"/>
            </a:lvl8pPr>
            <a:lvl9pPr marL="4169279" indent="0">
              <a:buNone/>
              <a:defRPr sz="23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1160" indent="0">
              <a:buNone/>
              <a:defRPr sz="1400"/>
            </a:lvl2pPr>
            <a:lvl3pPr marL="1042320" indent="0">
              <a:buNone/>
              <a:defRPr sz="1100"/>
            </a:lvl3pPr>
            <a:lvl4pPr marL="1563480" indent="0">
              <a:buNone/>
              <a:defRPr sz="1000"/>
            </a:lvl4pPr>
            <a:lvl5pPr marL="2084641" indent="0">
              <a:buNone/>
              <a:defRPr sz="1000"/>
            </a:lvl5pPr>
            <a:lvl6pPr marL="2605799" indent="0">
              <a:buNone/>
              <a:defRPr sz="1000"/>
            </a:lvl6pPr>
            <a:lvl7pPr marL="3126960" indent="0">
              <a:buNone/>
              <a:defRPr sz="1000"/>
            </a:lvl7pPr>
            <a:lvl8pPr marL="3648121" indent="0">
              <a:buNone/>
              <a:defRPr sz="1000"/>
            </a:lvl8pPr>
            <a:lvl9pPr marL="4169279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619047" y="252042"/>
            <a:ext cx="2272348" cy="5964996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02005" y="252042"/>
            <a:ext cx="6638819" cy="5964996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het opmaakprofiel van de modelondertitel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A360A-61AD-403B-80B5-E9EB6C5501BC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31858-5C3B-4E4D-B7A4-E07685FF67FB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F80824-81F8-493D-902F-9247E71B855F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8782B-316E-4921-B4F5-0F0E2D58F371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DB9C1-0F32-416F-B9CB-E9132E0091A7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D4D34-80EF-460F-BBC9-DBDF74B0FBEF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34988" y="1763713"/>
            <a:ext cx="4735512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22900" y="1763713"/>
            <a:ext cx="4735513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BCF92-C8AC-4901-AEB0-C7D17AE548BD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95775-BD82-411D-AD04-9FB5041DA852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5F532-8B50-441A-823A-83FA6A963616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E5200-1A1E-448B-AA02-5801C8CE1FB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66E08-24E2-47E5-A838-B2C91C2F1228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1B8E0-4880-457B-B016-CB672E1359D3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53ED3-4925-4666-A5B4-C827DCCD4084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3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02DB9-8D7F-4343-95D4-B59BAD02380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B1FCB-68D0-486E-8DEE-18F1FA5B7AF4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8768D-F3D7-4C47-84C8-7B16D6C25425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0BAC8-4448-4081-BB2A-7E9C06EA3924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DE9CB-6566-4CC0-872C-BF1C471F8517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24EE8-9BD1-4D70-8B11-9068B70A9C22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FC6E6-9870-411C-91B1-4613C6B6018B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753350" y="303213"/>
            <a:ext cx="2405063" cy="6451600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534988" y="303213"/>
            <a:ext cx="7065962" cy="6451600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DF9B4-DD3B-454F-A17B-CD7553D565B4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65DEB-B183-432E-BE8C-4B5B0692FEC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51" tIns="52125" rIns="104251" bIns="52125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51" tIns="52125" rIns="104251" bIns="52125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6" name="Picture 4" descr="_HT-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02005" y="2520422"/>
            <a:ext cx="9089390" cy="1932323"/>
          </a:xfrm>
        </p:spPr>
        <p:txBody>
          <a:bodyPr/>
          <a:lstStyle>
            <a:lvl1pPr>
              <a:defRPr sz="4600"/>
            </a:lvl1pPr>
          </a:lstStyle>
          <a:p>
            <a:r>
              <a:rPr lang="de-DE"/>
              <a:t>Klicken Sie, um das Titelformat zu bearbeiten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04010" y="5208870"/>
            <a:ext cx="7485380" cy="100816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700"/>
            </a:lvl1pPr>
          </a:lstStyle>
          <a:p>
            <a:r>
              <a:rPr lang="de-DE"/>
              <a:t>Klicken Sie, um das Format des Untertitel-Masters zu bearbeiten.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705" y="4858815"/>
            <a:ext cx="9089390" cy="1501751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6"/>
          </a:xfrm>
        </p:spPr>
        <p:txBody>
          <a:bodyPr anchor="b"/>
          <a:lstStyle>
            <a:lvl1pPr marL="0" indent="0">
              <a:buNone/>
              <a:defRPr sz="2300"/>
            </a:lvl1pPr>
            <a:lvl2pPr marL="521252" indent="0">
              <a:buNone/>
              <a:defRPr sz="2100"/>
            </a:lvl2pPr>
            <a:lvl3pPr marL="1042504" indent="0">
              <a:buNone/>
              <a:defRPr sz="1800"/>
            </a:lvl3pPr>
            <a:lvl4pPr marL="1563756" indent="0">
              <a:buNone/>
              <a:defRPr sz="1600"/>
            </a:lvl4pPr>
            <a:lvl5pPr marL="2085008" indent="0">
              <a:buNone/>
              <a:defRPr sz="1600"/>
            </a:lvl5pPr>
            <a:lvl6pPr marL="2606259" indent="0">
              <a:buNone/>
              <a:defRPr sz="1600"/>
            </a:lvl6pPr>
            <a:lvl7pPr marL="3127512" indent="0">
              <a:buNone/>
              <a:defRPr sz="1600"/>
            </a:lvl7pPr>
            <a:lvl8pPr marL="3648764" indent="0">
              <a:buNone/>
              <a:defRPr sz="1600"/>
            </a:lvl8pPr>
            <a:lvl9pPr marL="4170015" indent="0">
              <a:buNone/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02005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35813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0" y="302802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670" y="1692533"/>
            <a:ext cx="4724775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252" indent="0">
              <a:buNone/>
              <a:defRPr sz="2300" b="1"/>
            </a:lvl2pPr>
            <a:lvl3pPr marL="1042504" indent="0">
              <a:buNone/>
              <a:defRPr sz="2100" b="1"/>
            </a:lvl3pPr>
            <a:lvl4pPr marL="1563756" indent="0">
              <a:buNone/>
              <a:defRPr sz="1800" b="1"/>
            </a:lvl4pPr>
            <a:lvl5pPr marL="2085008" indent="0">
              <a:buNone/>
              <a:defRPr sz="1800" b="1"/>
            </a:lvl5pPr>
            <a:lvl6pPr marL="2606259" indent="0">
              <a:buNone/>
              <a:defRPr sz="1800" b="1"/>
            </a:lvl6pPr>
            <a:lvl7pPr marL="3127512" indent="0">
              <a:buNone/>
              <a:defRPr sz="1800" b="1"/>
            </a:lvl7pPr>
            <a:lvl8pPr marL="3648764" indent="0">
              <a:buNone/>
              <a:defRPr sz="1800" b="1"/>
            </a:lvl8pPr>
            <a:lvl9pPr marL="4170015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670" y="2397901"/>
            <a:ext cx="4724775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103" y="1692533"/>
            <a:ext cx="4726631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252" indent="0">
              <a:buNone/>
              <a:defRPr sz="2300" b="1"/>
            </a:lvl2pPr>
            <a:lvl3pPr marL="1042504" indent="0">
              <a:buNone/>
              <a:defRPr sz="2100" b="1"/>
            </a:lvl3pPr>
            <a:lvl4pPr marL="1563756" indent="0">
              <a:buNone/>
              <a:defRPr sz="1800" b="1"/>
            </a:lvl4pPr>
            <a:lvl5pPr marL="2085008" indent="0">
              <a:buNone/>
              <a:defRPr sz="1800" b="1"/>
            </a:lvl5pPr>
            <a:lvl6pPr marL="2606259" indent="0">
              <a:buNone/>
              <a:defRPr sz="1800" b="1"/>
            </a:lvl6pPr>
            <a:lvl7pPr marL="3127512" indent="0">
              <a:buNone/>
              <a:defRPr sz="1800" b="1"/>
            </a:lvl7pPr>
            <a:lvl8pPr marL="3648764" indent="0">
              <a:buNone/>
              <a:defRPr sz="1800" b="1"/>
            </a:lvl8pPr>
            <a:lvl9pPr marL="4170015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103" y="2397901"/>
            <a:ext cx="4726631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4" y="301050"/>
            <a:ext cx="3518055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674" y="1582265"/>
            <a:ext cx="3518055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1252" indent="0">
              <a:buNone/>
              <a:defRPr sz="1400"/>
            </a:lvl2pPr>
            <a:lvl3pPr marL="1042504" indent="0">
              <a:buNone/>
              <a:defRPr sz="1100"/>
            </a:lvl3pPr>
            <a:lvl4pPr marL="1563756" indent="0">
              <a:buNone/>
              <a:defRPr sz="1000"/>
            </a:lvl4pPr>
            <a:lvl5pPr marL="2085008" indent="0">
              <a:buNone/>
              <a:defRPr sz="1000"/>
            </a:lvl5pPr>
            <a:lvl6pPr marL="2606259" indent="0">
              <a:buNone/>
              <a:defRPr sz="1000"/>
            </a:lvl6pPr>
            <a:lvl7pPr marL="3127512" indent="0">
              <a:buNone/>
              <a:defRPr sz="1000"/>
            </a:lvl7pPr>
            <a:lvl8pPr marL="3648764" indent="0">
              <a:buNone/>
              <a:defRPr sz="1000"/>
            </a:lvl8pPr>
            <a:lvl9pPr marL="4170015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1252" indent="0">
              <a:buNone/>
              <a:defRPr sz="3200"/>
            </a:lvl2pPr>
            <a:lvl3pPr marL="1042504" indent="0">
              <a:buNone/>
              <a:defRPr sz="2700"/>
            </a:lvl3pPr>
            <a:lvl4pPr marL="1563756" indent="0">
              <a:buNone/>
              <a:defRPr sz="2300"/>
            </a:lvl4pPr>
            <a:lvl5pPr marL="2085008" indent="0">
              <a:buNone/>
              <a:defRPr sz="2300"/>
            </a:lvl5pPr>
            <a:lvl6pPr marL="2606259" indent="0">
              <a:buNone/>
              <a:defRPr sz="2300"/>
            </a:lvl6pPr>
            <a:lvl7pPr marL="3127512" indent="0">
              <a:buNone/>
              <a:defRPr sz="2300"/>
            </a:lvl7pPr>
            <a:lvl8pPr marL="3648764" indent="0">
              <a:buNone/>
              <a:defRPr sz="2300"/>
            </a:lvl8pPr>
            <a:lvl9pPr marL="4170015" indent="0">
              <a:buNone/>
              <a:defRPr sz="23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1252" indent="0">
              <a:buNone/>
              <a:defRPr sz="1400"/>
            </a:lvl2pPr>
            <a:lvl3pPr marL="1042504" indent="0">
              <a:buNone/>
              <a:defRPr sz="1100"/>
            </a:lvl3pPr>
            <a:lvl4pPr marL="1563756" indent="0">
              <a:buNone/>
              <a:defRPr sz="1000"/>
            </a:lvl4pPr>
            <a:lvl5pPr marL="2085008" indent="0">
              <a:buNone/>
              <a:defRPr sz="1000"/>
            </a:lvl5pPr>
            <a:lvl6pPr marL="2606259" indent="0">
              <a:buNone/>
              <a:defRPr sz="1000"/>
            </a:lvl6pPr>
            <a:lvl7pPr marL="3127512" indent="0">
              <a:buNone/>
              <a:defRPr sz="1000"/>
            </a:lvl7pPr>
            <a:lvl8pPr marL="3648764" indent="0">
              <a:buNone/>
              <a:defRPr sz="1000"/>
            </a:lvl8pPr>
            <a:lvl9pPr marL="4170015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619047" y="252042"/>
            <a:ext cx="2272348" cy="5964996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02005" y="252042"/>
            <a:ext cx="6638819" cy="5964996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69" tIns="52135" rIns="104269" bIns="52135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69" tIns="52135" rIns="104269" bIns="52135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6" name="Picture 4" descr="_HT-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02005" y="2520422"/>
            <a:ext cx="9089390" cy="1932323"/>
          </a:xfrm>
        </p:spPr>
        <p:txBody>
          <a:bodyPr/>
          <a:lstStyle>
            <a:lvl1pPr>
              <a:defRPr sz="4600"/>
            </a:lvl1pPr>
          </a:lstStyle>
          <a:p>
            <a:r>
              <a:rPr lang="de-DE"/>
              <a:t>Klicken Sie, um das Titelformat zu bearbeiten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04010" y="5208870"/>
            <a:ext cx="7485380" cy="100816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700"/>
            </a:lvl1pPr>
          </a:lstStyle>
          <a:p>
            <a:r>
              <a:rPr lang="de-DE"/>
              <a:t>Klicken Sie, um das Format des Untertitel-Masters zu bearbeiten.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705" y="4858814"/>
            <a:ext cx="9089390" cy="1501751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705" y="3204786"/>
            <a:ext cx="9089390" cy="1654026"/>
          </a:xfrm>
        </p:spPr>
        <p:txBody>
          <a:bodyPr anchor="b"/>
          <a:lstStyle>
            <a:lvl1pPr marL="0" indent="0">
              <a:buNone/>
              <a:defRPr sz="2300"/>
            </a:lvl1pPr>
            <a:lvl2pPr marL="521344" indent="0">
              <a:buNone/>
              <a:defRPr sz="2100"/>
            </a:lvl2pPr>
            <a:lvl3pPr marL="1042688" indent="0">
              <a:buNone/>
              <a:defRPr sz="1800"/>
            </a:lvl3pPr>
            <a:lvl4pPr marL="1564032" indent="0">
              <a:buNone/>
              <a:defRPr sz="1600"/>
            </a:lvl4pPr>
            <a:lvl5pPr marL="2085376" indent="0">
              <a:buNone/>
              <a:defRPr sz="1600"/>
            </a:lvl5pPr>
            <a:lvl6pPr marL="2606719" indent="0">
              <a:buNone/>
              <a:defRPr sz="1600"/>
            </a:lvl6pPr>
            <a:lvl7pPr marL="3128064" indent="0">
              <a:buNone/>
              <a:defRPr sz="1600"/>
            </a:lvl7pPr>
            <a:lvl8pPr marL="3649408" indent="0">
              <a:buNone/>
              <a:defRPr sz="1600"/>
            </a:lvl8pPr>
            <a:lvl9pPr marL="4170751" indent="0">
              <a:buNone/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02005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35813" y="1680281"/>
            <a:ext cx="4455583" cy="45367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0" y="302802"/>
            <a:ext cx="9624060" cy="1260211"/>
          </a:xfrm>
        </p:spPr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670" y="1692533"/>
            <a:ext cx="4724775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344" indent="0">
              <a:buNone/>
              <a:defRPr sz="2300" b="1"/>
            </a:lvl2pPr>
            <a:lvl3pPr marL="1042688" indent="0">
              <a:buNone/>
              <a:defRPr sz="2100" b="1"/>
            </a:lvl3pPr>
            <a:lvl4pPr marL="1564032" indent="0">
              <a:buNone/>
              <a:defRPr sz="1800" b="1"/>
            </a:lvl4pPr>
            <a:lvl5pPr marL="2085376" indent="0">
              <a:buNone/>
              <a:defRPr sz="1800" b="1"/>
            </a:lvl5pPr>
            <a:lvl6pPr marL="2606719" indent="0">
              <a:buNone/>
              <a:defRPr sz="1800" b="1"/>
            </a:lvl6pPr>
            <a:lvl7pPr marL="3128064" indent="0">
              <a:buNone/>
              <a:defRPr sz="1800" b="1"/>
            </a:lvl7pPr>
            <a:lvl8pPr marL="3649408" indent="0">
              <a:buNone/>
              <a:defRPr sz="1800" b="1"/>
            </a:lvl8pPr>
            <a:lvl9pPr marL="4170751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670" y="2397901"/>
            <a:ext cx="4724775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102" y="1692533"/>
            <a:ext cx="4726631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344" indent="0">
              <a:buNone/>
              <a:defRPr sz="2300" b="1"/>
            </a:lvl2pPr>
            <a:lvl3pPr marL="1042688" indent="0">
              <a:buNone/>
              <a:defRPr sz="2100" b="1"/>
            </a:lvl3pPr>
            <a:lvl4pPr marL="1564032" indent="0">
              <a:buNone/>
              <a:defRPr sz="1800" b="1"/>
            </a:lvl4pPr>
            <a:lvl5pPr marL="2085376" indent="0">
              <a:buNone/>
              <a:defRPr sz="1800" b="1"/>
            </a:lvl5pPr>
            <a:lvl6pPr marL="2606719" indent="0">
              <a:buNone/>
              <a:defRPr sz="1800" b="1"/>
            </a:lvl6pPr>
            <a:lvl7pPr marL="3128064" indent="0">
              <a:buNone/>
              <a:defRPr sz="1800" b="1"/>
            </a:lvl7pPr>
            <a:lvl8pPr marL="3649408" indent="0">
              <a:buNone/>
              <a:defRPr sz="1800" b="1"/>
            </a:lvl8pPr>
            <a:lvl9pPr marL="4170751" indent="0">
              <a:buNone/>
              <a:defRPr sz="18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102" y="2397901"/>
            <a:ext cx="4726631" cy="4356478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673" y="301050"/>
            <a:ext cx="3518055" cy="128121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0822" y="301051"/>
            <a:ext cx="5977908" cy="645332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673" y="1582265"/>
            <a:ext cx="3518055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21344" indent="0">
              <a:buNone/>
              <a:defRPr sz="1400"/>
            </a:lvl2pPr>
            <a:lvl3pPr marL="1042688" indent="0">
              <a:buNone/>
              <a:defRPr sz="1100"/>
            </a:lvl3pPr>
            <a:lvl4pPr marL="1564032" indent="0">
              <a:buNone/>
              <a:defRPr sz="1000"/>
            </a:lvl4pPr>
            <a:lvl5pPr marL="2085376" indent="0">
              <a:buNone/>
              <a:defRPr sz="1000"/>
            </a:lvl5pPr>
            <a:lvl6pPr marL="2606719" indent="0">
              <a:buNone/>
              <a:defRPr sz="1000"/>
            </a:lvl6pPr>
            <a:lvl7pPr marL="3128064" indent="0">
              <a:buNone/>
              <a:defRPr sz="1000"/>
            </a:lvl7pPr>
            <a:lvl8pPr marL="3649408" indent="0">
              <a:buNone/>
              <a:defRPr sz="1000"/>
            </a:lvl8pPr>
            <a:lvl9pPr marL="4170751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981" y="5292884"/>
            <a:ext cx="6416040" cy="624855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981" y="675613"/>
            <a:ext cx="6416040" cy="4536758"/>
          </a:xfrm>
        </p:spPr>
        <p:txBody>
          <a:bodyPr/>
          <a:lstStyle>
            <a:lvl1pPr marL="0" indent="0">
              <a:buNone/>
              <a:defRPr sz="3700"/>
            </a:lvl1pPr>
            <a:lvl2pPr marL="521344" indent="0">
              <a:buNone/>
              <a:defRPr sz="3200"/>
            </a:lvl2pPr>
            <a:lvl3pPr marL="1042688" indent="0">
              <a:buNone/>
              <a:defRPr sz="2700"/>
            </a:lvl3pPr>
            <a:lvl4pPr marL="1564032" indent="0">
              <a:buNone/>
              <a:defRPr sz="2300"/>
            </a:lvl4pPr>
            <a:lvl5pPr marL="2085376" indent="0">
              <a:buNone/>
              <a:defRPr sz="2300"/>
            </a:lvl5pPr>
            <a:lvl6pPr marL="2606719" indent="0">
              <a:buNone/>
              <a:defRPr sz="2300"/>
            </a:lvl6pPr>
            <a:lvl7pPr marL="3128064" indent="0">
              <a:buNone/>
              <a:defRPr sz="2300"/>
            </a:lvl7pPr>
            <a:lvl8pPr marL="3649408" indent="0">
              <a:buNone/>
              <a:defRPr sz="2300"/>
            </a:lvl8pPr>
            <a:lvl9pPr marL="4170751" indent="0">
              <a:buNone/>
              <a:defRPr sz="23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981" y="5917739"/>
            <a:ext cx="6416040" cy="887398"/>
          </a:xfrm>
        </p:spPr>
        <p:txBody>
          <a:bodyPr/>
          <a:lstStyle>
            <a:lvl1pPr marL="0" indent="0">
              <a:buNone/>
              <a:defRPr sz="1600"/>
            </a:lvl1pPr>
            <a:lvl2pPr marL="521344" indent="0">
              <a:buNone/>
              <a:defRPr sz="1400"/>
            </a:lvl2pPr>
            <a:lvl3pPr marL="1042688" indent="0">
              <a:buNone/>
              <a:defRPr sz="1100"/>
            </a:lvl3pPr>
            <a:lvl4pPr marL="1564032" indent="0">
              <a:buNone/>
              <a:defRPr sz="1000"/>
            </a:lvl4pPr>
            <a:lvl5pPr marL="2085376" indent="0">
              <a:buNone/>
              <a:defRPr sz="1000"/>
            </a:lvl5pPr>
            <a:lvl6pPr marL="2606719" indent="0">
              <a:buNone/>
              <a:defRPr sz="1000"/>
            </a:lvl6pPr>
            <a:lvl7pPr marL="3128064" indent="0">
              <a:buNone/>
              <a:defRPr sz="1000"/>
            </a:lvl7pPr>
            <a:lvl8pPr marL="3649408" indent="0">
              <a:buNone/>
              <a:defRPr sz="1000"/>
            </a:lvl8pPr>
            <a:lvl9pPr marL="4170751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619047" y="252042"/>
            <a:ext cx="2272348" cy="5964996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02005" y="252042"/>
            <a:ext cx="6638819" cy="5964996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het opmaakprofiel van de modelondertitel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BBDB1-C232-4B10-92BB-2E050015F7A9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4E7A-2037-4229-9DFB-C7BACE9B55B7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DFD03-6ED6-41BB-9017-6CE51B1BEEEF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45956-656E-4F61-A33D-24DF85A0D93B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422EA-618E-4243-8D3B-F00D897FAEE9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6AAEF-7744-4C12-8843-FE2C89C9FBED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34988" y="1763713"/>
            <a:ext cx="4735512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22900" y="1763713"/>
            <a:ext cx="4735513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A87F1-23AD-4FC3-8622-8352AA802DE2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9830B-7A4C-44C6-9CFF-C0B9D47CD634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E5BEF-EC7E-4FA4-AC1D-3AF3C5C60D3B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FBBB4-EE27-47D2-BA05-33A0AF73C57C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CBA3E-FD9B-4ED4-BF5B-D3AF26C8C06F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BEDF9-8337-4ABB-B9CD-9C45CD8F836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01C3B-F1C2-4C70-BCB5-3E89398A2AF8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3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4031B-1BC7-49BE-B5E3-8E35CD31E56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ED05D-EDCB-447D-92F6-BD95C3C52901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4BDF5-5089-4EB4-9255-E0C6E8DD6C2C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E04DB-61EC-4B4D-9684-567A307952B3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1787E-0C02-4D42-ACB8-D74388372B26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83D81-FCCB-42FF-BAD8-B5DB241A479E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F481C-22C8-452F-BEE7-F00923EEB5A0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753350" y="303213"/>
            <a:ext cx="2405063" cy="6451600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534988" y="303213"/>
            <a:ext cx="7065962" cy="6451600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9FEB8-358D-4511-8764-B162A9D6BC80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E0242-C0CB-47D2-ADFD-815A0335DE3E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het opmaakprofiel van de modelondertitel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18418-B3DC-4E95-97D0-9B248959239C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30C01-0BDA-449F-86EA-84073E73509E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848F0-6F16-4067-B219-7F39DDC52858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DC6A3-7F57-48D9-9717-031C8C15F464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FB23C-546A-402A-8B50-04898FE01F29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456CA-15EC-4205-987B-F05F5D56BCCC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34988" y="1763713"/>
            <a:ext cx="4735512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422900" y="1763713"/>
            <a:ext cx="4735513" cy="4991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834CC-43E7-405D-932B-017191C2656F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0185B-5256-4D08-82C5-409E9024845F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255B8-1162-4424-A681-DDD91CB3F316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8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FE63-F155-4050-8325-8CA09D95AF53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5575A-6476-4917-B93C-B01DC5619DCC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3BCF1-54DB-4EA2-AA0D-34E60F016260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B60AD-37E3-4F30-BEF5-99D574A0B8F4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3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194E8-4986-4FE7-8625-8AC6263F4AF4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EF649-6731-43B5-ACE8-422DC7EB3B77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21DDF-5573-4550-8082-4152BD977031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dirty="0" smtClean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2F2BA-C511-47AA-814F-8D6C1CB3539F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AC4C5-BA53-4CCA-A4C1-6638AFDAB03A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08AF9-C797-4A8C-B210-3428FA83375E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CC656-767D-45CB-84C9-411914D0CFE7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753350" y="303213"/>
            <a:ext cx="2405063" cy="6451600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534988" y="303213"/>
            <a:ext cx="7065962" cy="6451600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54083-C1BF-40A4-9C86-C628E63B1B5C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F4A1A-126D-4EBD-BAF1-015AA6F34A96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76380" y="76909"/>
            <a:ext cx="10540638" cy="7378462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14898" y="3528589"/>
            <a:ext cx="7485380" cy="1764295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tx2"/>
                </a:solidFill>
              </a:defRPr>
            </a:lvl1pPr>
            <a:lvl2pPr marL="521528" indent="0" algn="ctr">
              <a:buNone/>
            </a:lvl2pPr>
            <a:lvl3pPr marL="1043056" indent="0" algn="ctr">
              <a:buNone/>
            </a:lvl3pPr>
            <a:lvl4pPr marL="1564584" indent="0" algn="ctr">
              <a:buNone/>
            </a:lvl4pPr>
            <a:lvl5pPr marL="2086112" indent="0" algn="ctr">
              <a:buNone/>
            </a:lvl5pPr>
            <a:lvl6pPr marL="2607640" indent="0" algn="ctr">
              <a:buNone/>
            </a:lvl6pPr>
            <a:lvl7pPr marL="3129168" indent="0" algn="ctr">
              <a:buNone/>
            </a:lvl7pPr>
            <a:lvl8pPr marL="3650696" indent="0" algn="ctr">
              <a:buNone/>
            </a:lvl8pPr>
            <a:lvl9pPr marL="4172224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595" y="1597924"/>
            <a:ext cx="10550186" cy="1683973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73595" y="1539949"/>
            <a:ext cx="10550186" cy="13294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73595" y="3281893"/>
            <a:ext cx="10550186" cy="12186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34670" y="1660358"/>
            <a:ext cx="9624060" cy="1620771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2C6B1FF6-39B9-40F5-8B67-33C6354A3D4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069340" y="1596267"/>
            <a:ext cx="9089390" cy="5040842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76380" y="76909"/>
            <a:ext cx="10540638" cy="7378462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1050176"/>
            <a:ext cx="9089390" cy="1501751"/>
          </a:xfrm>
        </p:spPr>
        <p:txBody>
          <a:bodyPr anchor="b" anchorCtr="0"/>
          <a:lstStyle>
            <a:lvl1pPr algn="l">
              <a:buNone/>
              <a:defRPr sz="46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2809220"/>
            <a:ext cx="9089390" cy="1475496"/>
          </a:xfrm>
        </p:spPr>
        <p:txBody>
          <a:bodyPr anchor="t" anchorCtr="0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5672" y="6805137"/>
            <a:ext cx="4678363" cy="504084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 flipV="1">
            <a:off x="81174" y="2620565"/>
            <a:ext cx="10540805" cy="10081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80863" y="2581585"/>
            <a:ext cx="10541116" cy="5040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79881" y="2722055"/>
            <a:ext cx="10542098" cy="5040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1094" y="6845464"/>
            <a:ext cx="534670" cy="504084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069340" y="1596267"/>
            <a:ext cx="4384294" cy="5040842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769980" y="1596267"/>
            <a:ext cx="4384294" cy="5040842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301050"/>
            <a:ext cx="9089390" cy="1260211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340" y="1596267"/>
            <a:ext cx="4366472" cy="840140"/>
          </a:xfrm>
          <a:noFill/>
          <a:ln w="12700" cap="sq" cmpd="sng" algn="ctr">
            <a:noFill/>
            <a:prstDash val="solid"/>
          </a:ln>
        </p:spPr>
        <p:txBody>
          <a:bodyPr lIns="104306" anchor="b" anchorCtr="0">
            <a:noAutofit/>
          </a:bodyPr>
          <a:lstStyle>
            <a:lvl1pPr marL="0" indent="0">
              <a:buNone/>
              <a:defRPr sz="27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300" b="1"/>
            </a:lvl2pPr>
            <a:lvl3pPr>
              <a:buNone/>
              <a:defRPr sz="21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792258" y="1596267"/>
            <a:ext cx="4366472" cy="840140"/>
          </a:xfrm>
          <a:noFill/>
          <a:ln w="12700" cap="sq" cmpd="sng" algn="ctr">
            <a:noFill/>
            <a:prstDash val="solid"/>
          </a:ln>
        </p:spPr>
        <p:txBody>
          <a:bodyPr lIns="104306" anchor="b" anchorCtr="0">
            <a:noAutofit/>
          </a:bodyPr>
          <a:lstStyle>
            <a:lvl1pPr marL="0" indent="0">
              <a:buNone/>
              <a:defRPr sz="27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300" b="1"/>
            </a:lvl2pPr>
            <a:lvl3pPr>
              <a:buNone/>
              <a:defRPr sz="21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069340" y="2478414"/>
            <a:ext cx="4366472" cy="4284716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5792258" y="2478414"/>
            <a:ext cx="4366472" cy="4284716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74854" y="76908"/>
            <a:ext cx="10540638" cy="737979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301050"/>
            <a:ext cx="9089390" cy="1260211"/>
          </a:xfrm>
        </p:spPr>
        <p:txBody>
          <a:bodyPr anchor="b" anchorCtr="0"/>
          <a:lstStyle>
            <a:lvl1pPr algn="l">
              <a:buNone/>
              <a:defRPr sz="46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069340" y="1764295"/>
            <a:ext cx="2227792" cy="4956828"/>
          </a:xfrm>
        </p:spPr>
        <p:txBody>
          <a:bodyPr/>
          <a:lstStyle>
            <a:lvl1pPr marL="0" indent="0">
              <a:buNone/>
              <a:defRPr sz="2100"/>
            </a:lvl1pPr>
            <a:lvl2pPr>
              <a:buNone/>
              <a:defRPr sz="14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475355" y="1764295"/>
            <a:ext cx="6683375" cy="4956828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5403083"/>
            <a:ext cx="8554720" cy="575847"/>
          </a:xfrm>
        </p:spPr>
        <p:txBody>
          <a:bodyPr anchor="ctr">
            <a:noAutofit/>
          </a:bodyPr>
          <a:lstStyle>
            <a:lvl1pPr algn="l">
              <a:buNone/>
              <a:defRPr sz="32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340" y="6004275"/>
            <a:ext cx="8554720" cy="756126"/>
          </a:xfrm>
        </p:spPr>
        <p:txBody>
          <a:bodyPr/>
          <a:lstStyle>
            <a:lvl1pPr marL="0" indent="0">
              <a:buFontTx/>
              <a:buNone/>
              <a:defRPr sz="18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9340" y="6805137"/>
            <a:ext cx="4544695" cy="504084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1094" y="6845464"/>
            <a:ext cx="534670" cy="504084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79881" y="5163836"/>
            <a:ext cx="10532999" cy="100817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80117" y="5127364"/>
            <a:ext cx="10532764" cy="5040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80119" y="5262701"/>
            <a:ext cx="10532762" cy="5381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9883" y="73513"/>
            <a:ext cx="10527190" cy="50513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7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52715" y="302805"/>
            <a:ext cx="2352548" cy="6451578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340" y="302804"/>
            <a:ext cx="6505152" cy="6451578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9/21/2012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title" idx="4294967295"/>
          </p:nvPr>
        </p:nvSpPr>
        <p:spPr>
          <a:xfrm>
            <a:off x="1678106" y="1596398"/>
            <a:ext cx="8770272" cy="5292884"/>
          </a:xfrm>
        </p:spPr>
        <p:txBody>
          <a:bodyPr anchor="t"/>
          <a:lstStyle>
            <a:lvl1pPr marL="416401" indent="-322362">
              <a:spcBef>
                <a:spcPts val="686"/>
              </a:spcBef>
              <a:buClr>
                <a:srgbClr val="3891A7"/>
              </a:buClr>
              <a:buSzPct val="80000"/>
              <a:buFont typeface="Wingdings 2" pitchFamily="18"/>
              <a:buChar char=""/>
              <a:defRPr sz="37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Second level</a:t>
            </a:r>
            <a:br>
              <a:rPr lang="en-US"/>
            </a:br>
            <a:r>
              <a:rPr lang="en-US"/>
              <a:t>Third level</a:t>
            </a:r>
            <a:br>
              <a:rPr lang="en-US"/>
            </a:br>
            <a:r>
              <a:rPr lang="en-US"/>
              <a:t>Fourth level</a:t>
            </a:r>
            <a:br>
              <a:rPr lang="en-US"/>
            </a:br>
            <a:r>
              <a:rPr lang="en-US"/>
              <a:t>Fifth level</a:t>
            </a:r>
          </a:p>
        </p:txBody>
      </p:sp>
      <p:sp>
        <p:nvSpPr>
          <p:cNvPr id="4" name="Date Placeholder 2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2A818B-2F89-4F2D-8869-EE191A49A620}" type="datetime1">
              <a:rPr lang="en-US"/>
              <a:pPr lvl="0"/>
              <a:t>9/21/2012</a:t>
            </a:fld>
            <a:endParaRPr lang="en-US"/>
          </a:p>
        </p:txBody>
      </p:sp>
      <p:sp>
        <p:nvSpPr>
          <p:cNvPr id="5" name="Footer Placeholder 9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2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B274DF-2270-4610-AE0A-181E6E19EADF}" type="slidenum">
              <a:rPr/>
              <a:pPr lvl="0"/>
              <a:t>‹#›</a:t>
            </a:fld>
            <a:endParaRPr lang="en-US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34670" y="1769058"/>
            <a:ext cx="9623639" cy="4990037"/>
          </a:xfrm>
        </p:spPr>
        <p:txBody>
          <a:bodyPr lIns="0" tIns="0" rIns="0" bIns="0"/>
          <a:lstStyle>
            <a:lvl1pPr>
              <a:spcBef>
                <a:spcPts val="0"/>
              </a:spcBef>
              <a:spcAft>
                <a:spcPts val="1616"/>
              </a:spcAft>
              <a:defRPr lang="en-GB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</a:lstStyle>
          <a:p>
            <a:endParaRPr lang="en-GB"/>
          </a:p>
        </p:txBody>
      </p:sp>
    </p:spTree>
  </p:cSld>
  <p:clrMapOvr>
    <a:masterClrMapping/>
  </p:clrMapOvr>
  <p:transition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tx1"/>
            </a:gs>
            <a:gs pos="100000">
              <a:schemeClr val="tx1">
                <a:gamma/>
                <a:tint val="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Line 44"/>
          <p:cNvSpPr>
            <a:spLocks noChangeShapeType="1"/>
          </p:cNvSpPr>
          <p:nvPr userDrawn="1"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51" tIns="52125" rIns="104251" bIns="52125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166" name="Rectangle 46"/>
          <p:cNvSpPr>
            <a:spLocks noChangeArrowheads="1"/>
          </p:cNvSpPr>
          <p:nvPr userDrawn="1"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51" tIns="52125" rIns="104251" bIns="52125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2052" name="Picture 50" descr="_HT-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72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801688" y="252413"/>
            <a:ext cx="909002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51" tIns="52125" rIns="104251" bIns="521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5173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1688" y="1679575"/>
            <a:ext cx="909002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51" tIns="52125" rIns="104251" bIns="521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Klicken Sie, um die Formate des Vorlagentextes zu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19" r:id="rId1"/>
    <p:sldLayoutId id="2147485056" r:id="rId2"/>
    <p:sldLayoutId id="2147485057" r:id="rId3"/>
    <p:sldLayoutId id="2147485058" r:id="rId4"/>
    <p:sldLayoutId id="2147485059" r:id="rId5"/>
    <p:sldLayoutId id="2147485060" r:id="rId6"/>
    <p:sldLayoutId id="2147485061" r:id="rId7"/>
    <p:sldLayoutId id="2147485062" r:id="rId8"/>
    <p:sldLayoutId id="2147485063" r:id="rId9"/>
    <p:sldLayoutId id="2147485064" r:id="rId10"/>
    <p:sldLayoutId id="2147485065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5pPr>
      <a:lvl6pPr marL="521252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6pPr>
      <a:lvl7pPr marL="1042504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7pPr>
      <a:lvl8pPr marL="1563756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8pPr>
      <a:lvl9pPr marL="2085008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9pPr>
    </p:titleStyle>
    <p:bodyStyle>
      <a:lvl1pPr marL="390525" indent="-3905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46138" indent="-3254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301750" indent="-260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824038" indent="-2603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344738" indent="-2603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866886" indent="-260626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3388137" indent="-260626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909390" indent="-260626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4430642" indent="-260626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nl-NL"/>
      </a:defPPr>
      <a:lvl1pPr marL="0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252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504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3756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008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6259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7512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8764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0015" algn="l" defTabSz="104250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</a:p>
        </p:txBody>
      </p:sp>
      <p:sp>
        <p:nvSpPr>
          <p:cNvPr id="3075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44C2357-D5DA-4294-9ADC-F96F85C367FC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9432C21-B5A7-42AE-BD88-1CAAD3750C41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66" r:id="rId1"/>
    <p:sldLayoutId id="2147485067" r:id="rId2"/>
    <p:sldLayoutId id="2147485068" r:id="rId3"/>
    <p:sldLayoutId id="2147485069" r:id="rId4"/>
    <p:sldLayoutId id="2147485070" r:id="rId5"/>
    <p:sldLayoutId id="2147485071" r:id="rId6"/>
    <p:sldLayoutId id="2147485072" r:id="rId7"/>
    <p:sldLayoutId id="2147485073" r:id="rId8"/>
    <p:sldLayoutId id="2147485074" r:id="rId9"/>
    <p:sldLayoutId id="2147485075" r:id="rId10"/>
    <p:sldLayoutId id="214748507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chemeClr val="tx1">
                <a:gamma/>
                <a:tint val="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Line 44"/>
          <p:cNvSpPr>
            <a:spLocks noChangeShapeType="1"/>
          </p:cNvSpPr>
          <p:nvPr userDrawn="1"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69" tIns="52135" rIns="104269" bIns="52135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166" name="Rectangle 46"/>
          <p:cNvSpPr>
            <a:spLocks noChangeArrowheads="1"/>
          </p:cNvSpPr>
          <p:nvPr userDrawn="1"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69" tIns="52135" rIns="104269" bIns="52135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4100" name="Picture 50" descr="_HT-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72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801688" y="252413"/>
            <a:ext cx="909002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69" tIns="52135" rIns="104269" bIns="521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5173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1688" y="1679575"/>
            <a:ext cx="909002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69" tIns="52135" rIns="104269" bIns="52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die Formate des Vorlagentextes zu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20" r:id="rId1"/>
    <p:sldLayoutId id="2147485077" r:id="rId2"/>
    <p:sldLayoutId id="2147485078" r:id="rId3"/>
    <p:sldLayoutId id="2147485079" r:id="rId4"/>
    <p:sldLayoutId id="2147485080" r:id="rId5"/>
    <p:sldLayoutId id="2147485081" r:id="rId6"/>
    <p:sldLayoutId id="2147485082" r:id="rId7"/>
    <p:sldLayoutId id="2147485083" r:id="rId8"/>
    <p:sldLayoutId id="2147485084" r:id="rId9"/>
    <p:sldLayoutId id="2147485085" r:id="rId10"/>
    <p:sldLayoutId id="214748508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5pPr>
      <a:lvl6pPr marL="521344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6pPr>
      <a:lvl7pPr marL="1042688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7pPr>
      <a:lvl8pPr marL="1564032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8pPr>
      <a:lvl9pPr marL="2085376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9pPr>
    </p:titleStyle>
    <p:bodyStyle>
      <a:lvl1pPr marL="390525" indent="-3905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46138" indent="-3254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303338" indent="-260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824038" indent="-2603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344738" indent="-2603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867392" indent="-260672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3388735" indent="-260672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910080" indent="-260672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4431424" indent="-260672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nl-NL"/>
      </a:defPPr>
      <a:lvl1pPr marL="0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344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688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2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376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6719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064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9408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0751" algn="l" defTabSz="104268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chemeClr val="tx1">
                <a:gamma/>
                <a:tint val="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Line 44"/>
          <p:cNvSpPr>
            <a:spLocks noChangeShapeType="1"/>
          </p:cNvSpPr>
          <p:nvPr userDrawn="1"/>
        </p:nvSpPr>
        <p:spPr bwMode="auto">
          <a:xfrm>
            <a:off x="3175" y="1344613"/>
            <a:ext cx="10682288" cy="0"/>
          </a:xfrm>
          <a:prstGeom prst="line">
            <a:avLst/>
          </a:prstGeom>
          <a:noFill/>
          <a:ln w="50800">
            <a:solidFill>
              <a:srgbClr val="505B97"/>
            </a:solidFill>
            <a:round/>
            <a:headEnd type="none" w="sm" len="sm"/>
            <a:tailEnd type="none" w="sm" len="sm"/>
          </a:ln>
          <a:effectLst/>
        </p:spPr>
        <p:txBody>
          <a:bodyPr wrap="none" lIns="104287" tIns="52144" rIns="104287" bIns="52144" anchor="ctr"/>
          <a:lstStyle/>
          <a:p>
            <a:pPr>
              <a:defRPr/>
            </a:pPr>
            <a:endParaRPr lang="nl-NL" dirty="0"/>
          </a:p>
        </p:txBody>
      </p:sp>
      <p:sp>
        <p:nvSpPr>
          <p:cNvPr id="5166" name="Rectangle 46"/>
          <p:cNvSpPr>
            <a:spLocks noChangeArrowheads="1"/>
          </p:cNvSpPr>
          <p:nvPr userDrawn="1"/>
        </p:nvSpPr>
        <p:spPr bwMode="auto">
          <a:xfrm>
            <a:off x="0" y="1398588"/>
            <a:ext cx="293688" cy="6161087"/>
          </a:xfrm>
          <a:prstGeom prst="rect">
            <a:avLst/>
          </a:prstGeom>
          <a:solidFill>
            <a:srgbClr val="505B97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87" tIns="52144" rIns="104287" bIns="52144" anchor="ctr"/>
          <a:lstStyle/>
          <a:p>
            <a:pPr>
              <a:defRPr/>
            </a:pPr>
            <a:endParaRPr lang="nl-NL" dirty="0"/>
          </a:p>
        </p:txBody>
      </p:sp>
      <p:pic>
        <p:nvPicPr>
          <p:cNvPr id="5124" name="Picture 50" descr="_HT-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7000" y="106363"/>
            <a:ext cx="1404938" cy="1109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72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801688" y="252413"/>
            <a:ext cx="909002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5173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1688" y="1679575"/>
            <a:ext cx="909002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die Formate des Vorlagentextes zu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121" r:id="rId1"/>
    <p:sldLayoutId id="2147485087" r:id="rId2"/>
    <p:sldLayoutId id="2147485088" r:id="rId3"/>
    <p:sldLayoutId id="2147485089" r:id="rId4"/>
    <p:sldLayoutId id="2147485090" r:id="rId5"/>
    <p:sldLayoutId id="2147485091" r:id="rId6"/>
    <p:sldLayoutId id="2147485092" r:id="rId7"/>
    <p:sldLayoutId id="2147485093" r:id="rId8"/>
    <p:sldLayoutId id="2147485094" r:id="rId9"/>
    <p:sldLayoutId id="2147485095" r:id="rId10"/>
    <p:sldLayoutId id="214748509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5pPr>
      <a:lvl6pPr marL="521436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6pPr>
      <a:lvl7pPr marL="1042872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7pPr>
      <a:lvl8pPr marL="1564308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8pPr>
      <a:lvl9pPr marL="2085744" algn="ctr" rtl="0" fontAlgn="base">
        <a:spcBef>
          <a:spcPct val="0"/>
        </a:spcBef>
        <a:spcAft>
          <a:spcPct val="0"/>
        </a:spcAft>
        <a:defRPr sz="3700" b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MetaNormal-Roman" pitchFamily="34" charset="0"/>
        </a:defRPr>
      </a:lvl9pPr>
    </p:titleStyle>
    <p:bodyStyle>
      <a:lvl1pPr marL="390525" indent="-3905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846138" indent="-3254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303338" indent="-260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7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824038" indent="-2603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346325" indent="-2603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867898" indent="-260718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3389333" indent="-260718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910770" indent="-260718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4432206" indent="-260718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3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nl-NL"/>
      </a:defPPr>
      <a:lvl1pPr marL="0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6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2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08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4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79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16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2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87" algn="l" defTabSz="1042872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</a:p>
        </p:txBody>
      </p:sp>
      <p:sp>
        <p:nvSpPr>
          <p:cNvPr id="6147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F877A2-F90C-4771-8564-7D5D42004228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2FE1E06-34CE-4E25-A127-D450B5D9BAF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7" r:id="rId1"/>
    <p:sldLayoutId id="2147485098" r:id="rId2"/>
    <p:sldLayoutId id="2147485099" r:id="rId3"/>
    <p:sldLayoutId id="2147485100" r:id="rId4"/>
    <p:sldLayoutId id="2147485101" r:id="rId5"/>
    <p:sldLayoutId id="2147485102" r:id="rId6"/>
    <p:sldLayoutId id="2147485103" r:id="rId7"/>
    <p:sldLayoutId id="2147485104" r:id="rId8"/>
    <p:sldLayoutId id="2147485105" r:id="rId9"/>
    <p:sldLayoutId id="2147485106" r:id="rId10"/>
    <p:sldLayoutId id="214748510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stijl te bewerken</a:t>
            </a:r>
          </a:p>
        </p:txBody>
      </p:sp>
      <p:sp>
        <p:nvSpPr>
          <p:cNvPr id="7171" name="Tijdelijke aanduiding voor tekst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FAF2310-4FBB-4BE0-ADA9-4C3C8FE378F7}" type="datetimeFigureOut">
              <a:rPr lang="nl-NL"/>
              <a:pPr>
                <a:defRPr/>
              </a:pPr>
              <a:t>21-9-2012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5AA10E9-0983-4A86-AB06-50C7B8134CDF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08" r:id="rId1"/>
    <p:sldLayoutId id="2147485109" r:id="rId2"/>
    <p:sldLayoutId id="2147485110" r:id="rId3"/>
    <p:sldLayoutId id="2147485111" r:id="rId4"/>
    <p:sldLayoutId id="2147485112" r:id="rId5"/>
    <p:sldLayoutId id="2147485113" r:id="rId6"/>
    <p:sldLayoutId id="2147485114" r:id="rId7"/>
    <p:sldLayoutId id="2147485115" r:id="rId8"/>
    <p:sldLayoutId id="2147485116" r:id="rId9"/>
    <p:sldLayoutId id="2147485117" r:id="rId10"/>
    <p:sldLayoutId id="2147485118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74854" y="76908"/>
            <a:ext cx="10540638" cy="737979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4306" tIns="52153" rIns="104306" bIns="52153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069340" y="302801"/>
            <a:ext cx="9089390" cy="1260211"/>
          </a:xfrm>
          <a:prstGeom prst="rect">
            <a:avLst/>
          </a:prstGeom>
        </p:spPr>
        <p:txBody>
          <a:bodyPr lIns="104306" tIns="52153" rIns="104306" bIns="104306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069340" y="1596267"/>
            <a:ext cx="9089390" cy="5040842"/>
          </a:xfrm>
          <a:prstGeom prst="rect">
            <a:avLst/>
          </a:prstGeom>
        </p:spPr>
        <p:txBody>
          <a:bodyPr lIns="104306" tIns="52153" rIns="104306" bIns="52153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218045" y="6826140"/>
            <a:ext cx="2896129" cy="525088"/>
          </a:xfrm>
          <a:prstGeom prst="rect">
            <a:avLst/>
          </a:prstGeom>
        </p:spPr>
        <p:txBody>
          <a:bodyPr lIns="104306" tIns="52153" rIns="104306" bIns="52153" anchor="ctr" anchorCtr="0"/>
          <a:lstStyle>
            <a:lvl1pPr algn="r" eaLnBrk="1" latinLnBrk="0" hangingPunct="1">
              <a:defRPr kumimoji="0" sz="16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9/21/2012</a:t>
            </a:fld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9340" y="6805137"/>
            <a:ext cx="4633807" cy="504084"/>
          </a:xfrm>
          <a:prstGeom prst="rect">
            <a:avLst/>
          </a:prstGeom>
        </p:spPr>
        <p:txBody>
          <a:bodyPr lIns="104306" tIns="52153" rIns="104306" bIns="52153" anchor="ctr" anchorCtr="0"/>
          <a:lstStyle>
            <a:lvl1pPr eaLnBrk="1" latinLnBrk="0" hangingPunct="1">
              <a:defRPr kumimoji="0" sz="1600">
                <a:solidFill>
                  <a:schemeClr val="tx2"/>
                </a:solidFill>
              </a:defRPr>
            </a:lvl1pPr>
          </a:lstStyle>
          <a:p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71094" y="6847144"/>
            <a:ext cx="534670" cy="504084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6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6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2" r:id="rId1"/>
    <p:sldLayoutId id="2147485163" r:id="rId2"/>
    <p:sldLayoutId id="2147485164" r:id="rId3"/>
    <p:sldLayoutId id="2147485165" r:id="rId4"/>
    <p:sldLayoutId id="2147485166" r:id="rId5"/>
    <p:sldLayoutId id="2147485167" r:id="rId6"/>
    <p:sldLayoutId id="2147485168" r:id="rId7"/>
    <p:sldLayoutId id="2147485169" r:id="rId8"/>
    <p:sldLayoutId id="2147485170" r:id="rId9"/>
    <p:sldLayoutId id="2147485171" r:id="rId10"/>
    <p:sldLayoutId id="2147485172" r:id="rId11"/>
    <p:sldLayoutId id="2147485173" r:id="rId12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2917" indent="-312917" algn="l" rtl="0" eaLnBrk="1" latinLnBrk="0" hangingPunct="1">
        <a:spcBef>
          <a:spcPts val="662"/>
        </a:spcBef>
        <a:buClr>
          <a:schemeClr val="accent1"/>
        </a:buClr>
        <a:buSzPct val="85000"/>
        <a:buFont typeface="Wingdings 2"/>
        <a:buChar char="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25834" indent="-260764" algn="l" rtl="0" eaLnBrk="1" latinLnBrk="0" hangingPunct="1">
        <a:spcBef>
          <a:spcPts val="422"/>
        </a:spcBef>
        <a:buClr>
          <a:schemeClr val="accent2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938750" indent="-260764" algn="l" rtl="0" eaLnBrk="1" latinLnBrk="0" hangingPunct="1">
        <a:spcBef>
          <a:spcPts val="422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51667" indent="-260764" algn="l" rtl="0" eaLnBrk="1" latinLnBrk="0" hangingPunct="1">
        <a:spcBef>
          <a:spcPts val="422"/>
        </a:spcBef>
        <a:buClr>
          <a:schemeClr val="accent3"/>
        </a:buClr>
        <a:buSzPct val="80000"/>
        <a:buFont typeface="Wingdings 2"/>
        <a:buChar char="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indent="-260764" algn="l" rtl="0" eaLnBrk="1" latinLnBrk="0" hangingPunct="1">
        <a:spcBef>
          <a:spcPts val="422"/>
        </a:spcBef>
        <a:buClr>
          <a:schemeClr val="accent3"/>
        </a:buClr>
        <a:buFontTx/>
        <a:buChar char="o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1877501" indent="-260764" algn="l" rtl="0" eaLnBrk="1" latinLnBrk="0" hangingPunct="1">
        <a:spcBef>
          <a:spcPts val="422"/>
        </a:spcBef>
        <a:buClr>
          <a:schemeClr val="accent3"/>
        </a:buClr>
        <a:buChar char="•"/>
        <a:defRPr kumimoji="0" sz="2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190418" indent="-260764" algn="l" rtl="0" eaLnBrk="1" latinLnBrk="0" hangingPunct="1">
        <a:spcBef>
          <a:spcPts val="422"/>
        </a:spcBef>
        <a:buClr>
          <a:schemeClr val="accent2"/>
        </a:buClr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2503335" indent="-260764" algn="l" rtl="0" eaLnBrk="1" latinLnBrk="0" hangingPunct="1">
        <a:spcBef>
          <a:spcPts val="422"/>
        </a:spcBef>
        <a:buClr>
          <a:schemeClr val="accent1">
            <a:tint val="60000"/>
          </a:schemeClr>
        </a:buClr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2816251" indent="-260764" algn="l" rtl="0" eaLnBrk="1" latinLnBrk="0" hangingPunct="1">
        <a:spcBef>
          <a:spcPts val="422"/>
        </a:spcBef>
        <a:buClr>
          <a:schemeClr val="accent2">
            <a:tint val="60000"/>
          </a:schemeClr>
        </a:buClr>
        <a:buChar char="•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42.jpeg"/><Relationship Id="rId18" Type="http://schemas.openxmlformats.org/officeDocument/2006/relationships/image" Target="../media/image47.jpeg"/><Relationship Id="rId26" Type="http://schemas.openxmlformats.org/officeDocument/2006/relationships/image" Target="../media/image55.jpeg"/><Relationship Id="rId3" Type="http://schemas.openxmlformats.org/officeDocument/2006/relationships/image" Target="../media/image32.wmf"/><Relationship Id="rId21" Type="http://schemas.openxmlformats.org/officeDocument/2006/relationships/image" Target="../media/image50.jpeg"/><Relationship Id="rId7" Type="http://schemas.openxmlformats.org/officeDocument/2006/relationships/image" Target="../media/image36.jpeg"/><Relationship Id="rId12" Type="http://schemas.openxmlformats.org/officeDocument/2006/relationships/image" Target="../media/image41.jpeg"/><Relationship Id="rId17" Type="http://schemas.openxmlformats.org/officeDocument/2006/relationships/image" Target="../media/image46.jpeg"/><Relationship Id="rId25" Type="http://schemas.openxmlformats.org/officeDocument/2006/relationships/image" Target="../media/image54.jpe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5.jpeg"/><Relationship Id="rId20" Type="http://schemas.openxmlformats.org/officeDocument/2006/relationships/image" Target="../media/image49.jpeg"/><Relationship Id="rId1" Type="http://schemas.openxmlformats.org/officeDocument/2006/relationships/slideLayout" Target="../slideLayouts/slideLayout68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24" Type="http://schemas.openxmlformats.org/officeDocument/2006/relationships/image" Target="../media/image53.jpeg"/><Relationship Id="rId5" Type="http://schemas.openxmlformats.org/officeDocument/2006/relationships/image" Target="../media/image34.wmf"/><Relationship Id="rId15" Type="http://schemas.openxmlformats.org/officeDocument/2006/relationships/image" Target="../media/image44.jpeg"/><Relationship Id="rId23" Type="http://schemas.openxmlformats.org/officeDocument/2006/relationships/image" Target="../media/image52.jpeg"/><Relationship Id="rId28" Type="http://schemas.openxmlformats.org/officeDocument/2006/relationships/image" Target="../media/image57.jpeg"/><Relationship Id="rId10" Type="http://schemas.openxmlformats.org/officeDocument/2006/relationships/image" Target="../media/image39.jpeg"/><Relationship Id="rId19" Type="http://schemas.openxmlformats.org/officeDocument/2006/relationships/image" Target="../media/image48.jpeg"/><Relationship Id="rId4" Type="http://schemas.openxmlformats.org/officeDocument/2006/relationships/image" Target="../media/image33.wmf"/><Relationship Id="rId9" Type="http://schemas.openxmlformats.org/officeDocument/2006/relationships/image" Target="../media/image38.jpeg"/><Relationship Id="rId14" Type="http://schemas.openxmlformats.org/officeDocument/2006/relationships/image" Target="../media/image43.jpeg"/><Relationship Id="rId22" Type="http://schemas.openxmlformats.org/officeDocument/2006/relationships/image" Target="../media/image51.jpeg"/><Relationship Id="rId27" Type="http://schemas.openxmlformats.org/officeDocument/2006/relationships/image" Target="../media/image5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6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6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66.jpeg"/><Relationship Id="rId7" Type="http://schemas.openxmlformats.org/officeDocument/2006/relationships/image" Target="../media/image69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2.xml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54.jpeg"/><Relationship Id="rId9" Type="http://schemas.openxmlformats.org/officeDocument/2006/relationships/image" Target="../media/image7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73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833377" y="926122"/>
            <a:ext cx="8843058" cy="4085715"/>
          </a:xfrm>
          <a:ln/>
        </p:spPr>
        <p:txBody>
          <a:bodyPr lIns="101867" tIns="101867" rIns="1273" bIns="101867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dirty="0" smtClean="0"/>
              <a:t>Identifying Surprising Events in Video</a:t>
            </a:r>
            <a:br>
              <a:rPr lang="en-US" sz="4800" dirty="0" smtClean="0"/>
            </a:br>
            <a:r>
              <a:rPr lang="en-US" sz="4800" dirty="0" smtClean="0"/>
              <a:t>&amp;</a:t>
            </a:r>
            <a:br>
              <a:rPr lang="en-US" sz="4800" dirty="0" smtClean="0"/>
            </a:br>
            <a:r>
              <a:rPr lang="en-US" sz="4800" dirty="0" smtClean="0"/>
              <a:t>Foreground/Background Segregation in Still Images</a:t>
            </a:r>
            <a:r>
              <a:rPr lang="en-US" sz="4800" dirty="0" smtClean="0">
                <a:effectLst>
                  <a:outerShdw blurRad="38100" dist="38100" dir="2700000" algn="tl">
                    <a:srgbClr val="C0C0C0"/>
                  </a:outerShdw>
                </a:effectLst>
                <a:sym typeface="Arial" charset="0"/>
              </a:rPr>
              <a:t/>
            </a:r>
            <a:br>
              <a:rPr lang="en-US" sz="4800" dirty="0" smtClean="0">
                <a:effectLst>
                  <a:outerShdw blurRad="38100" dist="38100" dir="2700000" algn="tl">
                    <a:srgbClr val="C0C0C0"/>
                  </a:outerShdw>
                </a:effectLst>
                <a:sym typeface="Arial" charset="0"/>
              </a:rPr>
            </a:br>
            <a:endParaRPr lang="en-US" sz="4800" dirty="0">
              <a:solidFill>
                <a:srgbClr val="2F2B2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Arial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0218" y="5208311"/>
            <a:ext cx="9728523" cy="1828524"/>
          </a:xfrm>
          <a:ln/>
        </p:spPr>
        <p:txBody>
          <a:bodyPr lIns="101867" tIns="101867" rIns="1273" bIns="101867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2800" b="1" dirty="0" smtClean="0">
                <a:solidFill>
                  <a:srgbClr val="001F6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  <a:sym typeface="Arial" charset="0"/>
              </a:rPr>
              <a:t>Daphna </a:t>
            </a:r>
            <a:r>
              <a:rPr lang="en-US" sz="2800" b="1" dirty="0" err="1" smtClean="0">
                <a:solidFill>
                  <a:srgbClr val="001F6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charset="0"/>
                <a:sym typeface="Arial" charset="0"/>
              </a:rPr>
              <a:t>Weinshall</a:t>
            </a:r>
            <a:endParaRPr lang="en-US" sz="2800" b="1" dirty="0" smtClean="0">
              <a:solidFill>
                <a:srgbClr val="001F67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charset="0"/>
              <a:sym typeface="Arial" charset="0"/>
            </a:endParaRPr>
          </a:p>
          <a:p>
            <a:pPr algn="ctr">
              <a:lnSpc>
                <a:spcPct val="130000"/>
              </a:lnSpc>
              <a:buNone/>
            </a:pPr>
            <a:r>
              <a:rPr lang="en-US" sz="2800" b="1" dirty="0" smtClean="0">
                <a:solidFill>
                  <a:srgbClr val="001F6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charset="0"/>
                <a:sym typeface="Arial" charset="0"/>
              </a:rPr>
              <a:t>Hebrew University of Jerusalem</a:t>
            </a:r>
          </a:p>
        </p:txBody>
      </p:sp>
      <p:pic>
        <p:nvPicPr>
          <p:cNvPr id="6" name="Picture 5" descr="Huji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677" y="197422"/>
            <a:ext cx="984445" cy="102724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351692" y="221535"/>
            <a:ext cx="10163907" cy="769441"/>
          </a:xfrm>
        </p:spPr>
        <p:txBody>
          <a:bodyPr wrap="square" lIns="0" tIns="0" rIns="0" bIns="0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>
              <a:buNone/>
            </a:pPr>
            <a:r>
              <a:rPr lang="en-GB" sz="4400" dirty="0" smtClean="0">
                <a:latin typeface="Arial" pitchFamily="18"/>
              </a:rPr>
              <a:t>Lots of data can get us very confused</a:t>
            </a:r>
            <a:r>
              <a:rPr lang="en-GB" sz="5000" dirty="0" smtClean="0">
                <a:latin typeface="Arial" pitchFamily="18"/>
              </a:rPr>
              <a:t>...</a:t>
            </a:r>
            <a:endParaRPr lang="en-GB" sz="5000" dirty="0">
              <a:latin typeface="Arial" pitchFamily="18"/>
            </a:endParaRP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71605" y="1369036"/>
            <a:ext cx="8895309" cy="2149306"/>
          </a:xfrm>
        </p:spPr>
        <p:txBody>
          <a:bodyPr>
            <a:sp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/>
            <a:r>
              <a:rPr lang="en-GB" dirty="0"/>
              <a:t>Massive amounts of (visual) data is gathered  </a:t>
            </a:r>
            <a:r>
              <a:rPr lang="en-GB" dirty="0" smtClean="0"/>
              <a:t>continuously</a:t>
            </a:r>
            <a:endParaRPr lang="en-GB" dirty="0"/>
          </a:p>
          <a:p>
            <a:pPr lvl="0"/>
            <a:r>
              <a:rPr lang="en-GB" dirty="0" smtClean="0"/>
              <a:t>Lack of automatic </a:t>
            </a:r>
            <a:r>
              <a:rPr lang="en-GB" dirty="0"/>
              <a:t>means to make sense of </a:t>
            </a:r>
            <a:r>
              <a:rPr lang="en-GB" dirty="0" smtClean="0"/>
              <a:t>all the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5303119" y="3980969"/>
            <a:ext cx="4450391" cy="290106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03186" y="4139753"/>
            <a:ext cx="4799933" cy="3244646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GB" sz="3400" dirty="0" smtClean="0">
                <a:latin typeface="+mj-lt"/>
              </a:rPr>
              <a:t>Automatic data pruning: </a:t>
            </a:r>
            <a:r>
              <a:rPr lang="en-GB" sz="3400" i="1" dirty="0" smtClean="0">
                <a:latin typeface="+mj-lt"/>
              </a:rPr>
              <a:t>process the data so that it is more accessible to human inspection</a:t>
            </a:r>
          </a:p>
          <a:p>
            <a:endParaRPr lang="en-US" sz="3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339960" y="331470"/>
            <a:ext cx="7952630" cy="92251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hangingPunct="1">
              <a:buNone/>
            </a:pPr>
            <a:r>
              <a:rPr lang="en-US" sz="3700" dirty="0">
                <a:latin typeface="Arial" pitchFamily="34"/>
              </a:rPr>
              <a:t>The Search for the </a:t>
            </a:r>
            <a:r>
              <a:rPr lang="en-US" sz="3700" dirty="0" smtClean="0">
                <a:latin typeface="Arial" pitchFamily="34"/>
              </a:rPr>
              <a:t>Abnormal</a:t>
            </a:r>
            <a:endParaRPr lang="en-US" sz="3700" dirty="0">
              <a:latin typeface="Arial" pitchFamily="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3192" y="1236898"/>
            <a:ext cx="9398028" cy="5792551"/>
          </a:xfrm>
          <a:prstGeom prst="rect">
            <a:avLst/>
          </a:prstGeom>
          <a:noFill/>
          <a:ln>
            <a:noFill/>
          </a:ln>
        </p:spPr>
        <p:txBody>
          <a:bodyPr wrap="square" lIns="104306" tIns="52153" rIns="104306" bIns="52153" anchor="t" anchorCtr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 defTabSz="1043056" fontAlgn="auto">
              <a:spcBef>
                <a:spcPts val="686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Wingdings 2" pitchFamily="18"/>
              <a:buChar char=""/>
              <a:defRPr/>
            </a:pPr>
            <a:endParaRPr lang="en-US" sz="3700" dirty="0" smtClean="0">
              <a:solidFill>
                <a:srgbClr val="000000"/>
              </a:solidFill>
              <a:latin typeface="+mj-lt"/>
            </a:endParaRPr>
          </a:p>
          <a:p>
            <a:pPr marL="416401" indent="-322362" defTabSz="1043056" fontAlgn="auto">
              <a:spcBef>
                <a:spcPts val="686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Wingdings 2" pitchFamily="18"/>
              <a:buChar char=""/>
              <a:defRPr/>
            </a:pPr>
            <a:r>
              <a:rPr lang="en-US" sz="2800" dirty="0" smtClean="0"/>
              <a:t>A larger framework of identifying the ‘different’ </a:t>
            </a:r>
          </a:p>
          <a:p>
            <a:pPr marL="416401" indent="-322362" defTabSz="1043056" fontAlgn="auto">
              <a:spcBef>
                <a:spcPts val="686"/>
              </a:spcBef>
              <a:spcAft>
                <a:spcPts val="0"/>
              </a:spcAft>
              <a:buClr>
                <a:srgbClr val="3891A7"/>
              </a:buClr>
              <a:buSzPct val="80000"/>
              <a:buNone/>
              <a:defRPr/>
            </a:pPr>
            <a:r>
              <a:rPr lang="en-US" sz="2800" dirty="0" smtClean="0"/>
              <a:t>	</a:t>
            </a:r>
            <a:r>
              <a:rPr lang="en-US" sz="2400" dirty="0" smtClean="0"/>
              <a:t>[aka: out of the ordinary, rare, outliers, interesting, irregular, unexpected, novel …]</a:t>
            </a:r>
            <a:endParaRPr lang="en-US" sz="2800" dirty="0" smtClean="0"/>
          </a:p>
          <a:p>
            <a:pPr marL="416401" indent="-322362" defTabSz="1043056" fontAlgn="auto">
              <a:spcBef>
                <a:spcPts val="686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Wingdings 2" pitchFamily="18"/>
              <a:buChar char=""/>
              <a:defRPr/>
            </a:pPr>
            <a:endParaRPr lang="en-US" sz="2800" dirty="0" smtClean="0">
              <a:solidFill>
                <a:srgbClr val="000000"/>
              </a:solidFill>
              <a:latin typeface="+mj-lt"/>
            </a:endParaRPr>
          </a:p>
          <a:p>
            <a:pPr marL="416401" indent="-322362" defTabSz="1043056" fontAlgn="auto">
              <a:spcBef>
                <a:spcPts val="686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Wingdings 2" pitchFamily="18"/>
              <a:buChar char=""/>
              <a:defRPr/>
            </a:pPr>
            <a:r>
              <a:rPr lang="en-US" sz="2800" dirty="0" smtClean="0">
                <a:solidFill>
                  <a:srgbClr val="000000"/>
                </a:solidFill>
                <a:latin typeface="+mj-lt"/>
              </a:rPr>
              <a:t>Various uses:</a:t>
            </a:r>
          </a:p>
          <a:p>
            <a:pPr marL="729729" lvl="1" indent="-269798" defTabSz="1043056" fontAlgn="auto">
              <a:spcBef>
                <a:spcPts val="627"/>
              </a:spcBef>
              <a:spcAft>
                <a:spcPts val="0"/>
              </a:spcAft>
              <a:buClr>
                <a:srgbClr val="3891A7"/>
              </a:buClr>
              <a:buSzPct val="100000"/>
              <a:buFont typeface="Verdana" pitchFamily="34"/>
              <a:buChar char="◦"/>
              <a:defRPr/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Efficient access to large volumes of data</a:t>
            </a:r>
          </a:p>
          <a:p>
            <a:pPr marL="729729" lvl="1" indent="-269798" defTabSz="1043056" fontAlgn="auto">
              <a:spcBef>
                <a:spcPts val="627"/>
              </a:spcBef>
              <a:spcAft>
                <a:spcPts val="0"/>
              </a:spcAft>
              <a:buClr>
                <a:srgbClr val="3891A7"/>
              </a:buClr>
              <a:buSzPct val="100000"/>
              <a:buFont typeface="Verdana" pitchFamily="34"/>
              <a:buChar char="◦"/>
              <a:defRPr/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Intelligent allocation of limited resources</a:t>
            </a:r>
          </a:p>
          <a:p>
            <a:pPr marL="729729" lvl="1" indent="-269798" defTabSz="1043056" fontAlgn="auto">
              <a:spcBef>
                <a:spcPts val="627"/>
              </a:spcBef>
              <a:spcAft>
                <a:spcPts val="0"/>
              </a:spcAft>
              <a:buClr>
                <a:srgbClr val="3891A7"/>
              </a:buClr>
              <a:buSzPct val="100000"/>
              <a:buFont typeface="Verdana" pitchFamily="34"/>
              <a:buChar char="◦"/>
              <a:defRPr/>
            </a:pPr>
            <a:r>
              <a:rPr lang="en-US" dirty="0" smtClean="0">
                <a:solidFill>
                  <a:srgbClr val="000000"/>
                </a:solidFill>
                <a:latin typeface="+mj-lt"/>
              </a:rPr>
              <a:t>Effective adaptation to a changing environment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197" y="302802"/>
            <a:ext cx="9833053" cy="91140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 The challenge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9340" y="1596266"/>
            <a:ext cx="9089390" cy="5329189"/>
          </a:xfrm>
        </p:spPr>
        <p:txBody>
          <a:bodyPr>
            <a:normAutofit/>
          </a:bodyPr>
          <a:lstStyle/>
          <a:p>
            <a:r>
              <a:rPr lang="en-US" dirty="0" smtClean="0"/>
              <a:t>Machine learning techniques typically attempt to predict the future based on past experience</a:t>
            </a:r>
          </a:p>
          <a:p>
            <a:endParaRPr lang="en-US" dirty="0" smtClean="0"/>
          </a:p>
          <a:p>
            <a:r>
              <a:rPr lang="en-US" dirty="0" smtClean="0"/>
              <a:t>An important task is to decide when to </a:t>
            </a:r>
            <a:r>
              <a:rPr lang="en-US" i="1" dirty="0" smtClean="0"/>
              <a:t>stop predicting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– the task of novelty detection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81064" y="1268020"/>
            <a:ext cx="9089390" cy="53320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Bayesian surprise: an approach to detecting “interesting” novel events, and its application to video surveillance; ACCV 2010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Incongruent events: another (very different) approach to the detection of interesting novel events; I will focus on Hierarchy discovery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Foreground/Background Segregation in Still Images (not object specific); ICCV 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053433" y="0"/>
            <a:ext cx="9089390" cy="1337310"/>
          </a:xfrm>
          <a:ln/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1. The problem</a:t>
            </a:r>
            <a:endParaRPr lang="en-US" sz="4800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789446" y="1526223"/>
            <a:ext cx="9903954" cy="6035040"/>
          </a:xfrm>
          <a:ln/>
          <a:effectLst/>
        </p:spPr>
        <p:txBody>
          <a:bodyPr>
            <a:normAutofit lnSpcReduction="10000"/>
          </a:bodyPr>
          <a:lstStyle/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 common practice when dealing with novelty is to look for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outliers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declare novelty for low probability events</a:t>
            </a: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None/>
            </a:pPr>
            <a:endParaRPr lang="en-US" dirty="0" smtClean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But outlier events are often not very interesting, such as those resulting from noise</a:t>
            </a:r>
            <a:endParaRPr lang="en-US" dirty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endParaRPr lang="en-US" dirty="0" smtClean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Proposal: using the notion of </a:t>
            </a:r>
            <a:r>
              <a:rPr lang="en-US" i="1" dirty="0" smtClean="0">
                <a:solidFill>
                  <a:srgbClr val="C00000"/>
                </a:solidFill>
                <a:latin typeface="Arial" charset="0"/>
                <a:cs typeface="Arial" charset="0"/>
                <a:sym typeface="Arial" charset="0"/>
              </a:rPr>
              <a:t>Bayesian surprise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, identify events with low surprise rather than low probability</a:t>
            </a: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endParaRPr lang="en-US" dirty="0" smtClean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None/>
            </a:pPr>
            <a:r>
              <a:rPr lang="en-US" sz="2600" dirty="0" smtClean="0">
                <a:latin typeface="Gill Sans MT"/>
              </a:rPr>
              <a:t>Joint work with </a:t>
            </a:r>
            <a:r>
              <a:rPr lang="en-US" sz="2600" dirty="0" err="1" smtClean="0">
                <a:latin typeface="Gill Sans MT"/>
              </a:rPr>
              <a:t>Avishai</a:t>
            </a:r>
            <a:r>
              <a:rPr lang="en-US" sz="2600" dirty="0" smtClean="0">
                <a:latin typeface="Gill Sans MT"/>
              </a:rPr>
              <a:t> </a:t>
            </a:r>
            <a:r>
              <a:rPr lang="en-US" sz="2600" dirty="0" err="1" smtClean="0">
                <a:latin typeface="Gill Sans MT"/>
              </a:rPr>
              <a:t>Hendel</a:t>
            </a:r>
            <a:r>
              <a:rPr lang="en-US" sz="2600" dirty="0" smtClean="0">
                <a:latin typeface="Gill Sans MT"/>
              </a:rPr>
              <a:t>, Dmitri </a:t>
            </a:r>
            <a:r>
              <a:rPr lang="en-US" sz="2600" dirty="0" err="1" smtClean="0">
                <a:latin typeface="Gill Sans MT"/>
              </a:rPr>
              <a:t>Hanukaev</a:t>
            </a:r>
            <a:r>
              <a:rPr lang="en-US" sz="2600" dirty="0" smtClean="0">
                <a:latin typeface="Gill Sans MT"/>
              </a:rPr>
              <a:t> and </a:t>
            </a:r>
            <a:r>
              <a:rPr lang="en-US" sz="2600" dirty="0" err="1" smtClean="0">
                <a:latin typeface="Gill Sans MT"/>
              </a:rPr>
              <a:t>Shmuel</a:t>
            </a:r>
            <a:r>
              <a:rPr lang="en-US" sz="2600" dirty="0" smtClean="0">
                <a:latin typeface="Gill Sans MT"/>
              </a:rPr>
              <a:t> </a:t>
            </a:r>
            <a:r>
              <a:rPr lang="en-US" sz="2600" dirty="0" err="1" smtClean="0">
                <a:latin typeface="Gill Sans MT"/>
              </a:rPr>
              <a:t>Peleg</a:t>
            </a:r>
            <a:endParaRPr lang="en-US" sz="2600" dirty="0" smtClean="0">
              <a:latin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endParaRPr lang="en-US" sz="3600" dirty="0">
              <a:latin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>
              <a:buNone/>
            </a:pPr>
            <a:r>
              <a:rPr lang="en-GB" sz="5000" dirty="0">
                <a:latin typeface="Arial" pitchFamily="18"/>
              </a:rPr>
              <a:t>Our Approach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/>
            <a:r>
              <a:rPr lang="en-GB" dirty="0"/>
              <a:t>Identify high level events </a:t>
            </a:r>
            <a:r>
              <a:rPr lang="en-GB" dirty="0" smtClean="0"/>
              <a:t>(e.g., activities in video) </a:t>
            </a:r>
            <a:r>
              <a:rPr lang="en-GB" dirty="0"/>
              <a:t>in input data</a:t>
            </a:r>
          </a:p>
          <a:p>
            <a:pPr lvl="0"/>
            <a:r>
              <a:rPr lang="en-GB" dirty="0"/>
              <a:t>Establish a model to represent the events in a manner that allows meaningful </a:t>
            </a:r>
            <a:r>
              <a:rPr lang="en-GB" dirty="0" smtClean="0"/>
              <a:t>inference (LDA)</a:t>
            </a:r>
            <a:endParaRPr lang="en-GB" dirty="0"/>
          </a:p>
          <a:p>
            <a:pPr lvl="0"/>
            <a:r>
              <a:rPr lang="en-GB" dirty="0"/>
              <a:t>Apply a measure to quantify the </a:t>
            </a:r>
            <a:r>
              <a:rPr lang="en-GB" dirty="0" smtClean="0"/>
              <a:t>novelty and significance </a:t>
            </a:r>
            <a:r>
              <a:rPr lang="en-GB" dirty="0"/>
              <a:t>of each </a:t>
            </a:r>
            <a:r>
              <a:rPr lang="en-GB" dirty="0" smtClean="0"/>
              <a:t>event (Bayesian surprise)</a:t>
            </a:r>
            <a:endParaRPr lang="en-GB" dirty="0"/>
          </a:p>
          <a:p>
            <a:pPr lvl="0"/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 dirty="0">
                <a:latin typeface="Arial" pitchFamily="34"/>
              </a:rPr>
              <a:t>Bayesian Surprise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>
                <a:latin typeface="+mn-lt"/>
              </a:rPr>
              <a:t>Surprise arises in a world which contains </a:t>
            </a:r>
            <a:r>
              <a:rPr lang="en-US" sz="3000" dirty="0" smtClean="0">
                <a:latin typeface="+mn-lt"/>
              </a:rPr>
              <a:t>uncertainty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 smtClean="0">
                <a:latin typeface="+mn-lt"/>
              </a:rPr>
              <a:t>Notion </a:t>
            </a:r>
            <a:r>
              <a:rPr lang="en-US" sz="3000" dirty="0">
                <a:latin typeface="+mn-lt"/>
              </a:rPr>
              <a:t>of surprise is human-centric and </a:t>
            </a:r>
            <a:r>
              <a:rPr lang="en-US" sz="3000" dirty="0" smtClean="0">
                <a:latin typeface="+mn-lt"/>
              </a:rPr>
              <a:t>ill-defined, and depends </a:t>
            </a:r>
            <a:r>
              <a:rPr lang="en-US" sz="3000" dirty="0">
                <a:latin typeface="+mn-lt"/>
              </a:rPr>
              <a:t>on the domain and background </a:t>
            </a:r>
            <a:r>
              <a:rPr lang="en-US" sz="3000" dirty="0" smtClean="0">
                <a:latin typeface="+mn-lt"/>
              </a:rPr>
              <a:t>assumptions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 smtClean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 err="1" smtClean="0">
                <a:latin typeface="+mn-lt"/>
              </a:rPr>
              <a:t>Itti</a:t>
            </a:r>
            <a:r>
              <a:rPr lang="en-US" sz="3000" dirty="0" smtClean="0">
                <a:latin typeface="+mn-lt"/>
              </a:rPr>
              <a:t> and </a:t>
            </a:r>
            <a:r>
              <a:rPr lang="en-US" sz="3000" dirty="0" err="1" smtClean="0">
                <a:latin typeface="+mn-lt"/>
              </a:rPr>
              <a:t>Baldi</a:t>
            </a:r>
            <a:r>
              <a:rPr lang="en-US" sz="3000" dirty="0" smtClean="0">
                <a:latin typeface="+mn-lt"/>
              </a:rPr>
              <a:t> (2006), </a:t>
            </a:r>
            <a:r>
              <a:rPr lang="en-US" sz="3000" dirty="0" err="1" smtClean="0">
                <a:latin typeface="+mn-lt"/>
              </a:rPr>
              <a:t>Schmidhuber</a:t>
            </a:r>
            <a:r>
              <a:rPr lang="en-US" sz="3000" dirty="0" smtClean="0">
                <a:latin typeface="+mn-lt"/>
              </a:rPr>
              <a:t> (1995) presented a Bayesian framework to measure surprise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dirty="0">
              <a:latin typeface="Gill Sans M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dirty="0">
              <a:latin typeface="Gill Sans M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 dirty="0"/>
              <a:t>Bayesian Surprise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 lIns="104306" tIns="52153" rIns="104306" bIns="52153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 smtClean="0">
                <a:latin typeface="+mn-lt"/>
              </a:rPr>
              <a:t>Formally</a:t>
            </a:r>
            <a:r>
              <a:rPr lang="en-US" sz="3000" dirty="0">
                <a:latin typeface="+mn-lt"/>
              </a:rPr>
              <a:t>, assume an observer has a model </a:t>
            </a:r>
            <a:r>
              <a:rPr lang="en-US" sz="3000" b="1" i="1" dirty="0">
                <a:latin typeface="+mn-lt"/>
              </a:rPr>
              <a:t>M </a:t>
            </a:r>
            <a:r>
              <a:rPr lang="en-US" sz="3000" dirty="0">
                <a:latin typeface="+mn-lt"/>
              </a:rPr>
              <a:t>to represent its world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 smtClean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 smtClean="0">
                <a:latin typeface="+mn-lt"/>
              </a:rPr>
              <a:t>Observer’s </a:t>
            </a:r>
            <a:r>
              <a:rPr lang="en-US" sz="3000" dirty="0">
                <a:latin typeface="+mn-lt"/>
              </a:rPr>
              <a:t>belief in </a:t>
            </a:r>
            <a:r>
              <a:rPr lang="en-US" sz="3000" i="1" dirty="0">
                <a:latin typeface="+mn-lt"/>
              </a:rPr>
              <a:t>M </a:t>
            </a:r>
            <a:r>
              <a:rPr lang="en-US" sz="3000" dirty="0">
                <a:latin typeface="+mn-lt"/>
              </a:rPr>
              <a:t>is modeled through the prior distribution P(M)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 smtClean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 smtClean="0">
                <a:latin typeface="+mn-lt"/>
              </a:rPr>
              <a:t>Upon </a:t>
            </a:r>
            <a:r>
              <a:rPr lang="en-US" sz="3000" dirty="0">
                <a:latin typeface="+mn-lt"/>
              </a:rPr>
              <a:t>observing new data </a:t>
            </a:r>
            <a:r>
              <a:rPr lang="en-US" sz="3000" b="1" i="1" dirty="0" smtClean="0">
                <a:latin typeface="+mn-lt"/>
              </a:rPr>
              <a:t>D</a:t>
            </a:r>
            <a:r>
              <a:rPr lang="en-US" sz="3000" dirty="0" smtClean="0">
                <a:latin typeface="+mn-lt"/>
              </a:rPr>
              <a:t>, </a:t>
            </a:r>
            <a:r>
              <a:rPr lang="en-US" sz="3000" dirty="0">
                <a:latin typeface="+mn-lt"/>
              </a:rPr>
              <a:t>the observer’s beliefs are updated via </a:t>
            </a:r>
            <a:r>
              <a:rPr lang="en-US" sz="3000" dirty="0" err="1">
                <a:latin typeface="+mn-lt"/>
              </a:rPr>
              <a:t>Bayes</a:t>
            </a:r>
            <a:r>
              <a:rPr lang="en-US" sz="3000" dirty="0">
                <a:latin typeface="+mn-lt"/>
              </a:rPr>
              <a:t>’ </a:t>
            </a:r>
            <a:r>
              <a:rPr lang="en-US" sz="3000" dirty="0" smtClean="0">
                <a:latin typeface="+mn-lt"/>
              </a:rPr>
              <a:t>theorem   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None/>
            </a:pPr>
            <a:r>
              <a:rPr lang="en-US" sz="3000" dirty="0" smtClean="0">
                <a:latin typeface="+mn-lt"/>
              </a:rPr>
              <a:t>	</a:t>
            </a:r>
            <a:r>
              <a:rPr lang="en-US" sz="3000" dirty="0" smtClean="0">
                <a:latin typeface="+mn-lt"/>
                <a:sym typeface="Symbol"/>
              </a:rPr>
              <a:t> </a:t>
            </a:r>
            <a:r>
              <a:rPr lang="en-US" sz="3000" dirty="0" smtClean="0"/>
              <a:t>P(M/D)</a:t>
            </a:r>
            <a:endParaRPr lang="en-US" sz="3000" dirty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dirty="0">
              <a:latin typeface="Gill Sans M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 dirty="0"/>
              <a:t>Bayesian Surprise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None/>
            </a:pPr>
            <a:r>
              <a:rPr lang="en-US" dirty="0" smtClean="0">
                <a:solidFill>
                  <a:srgbClr val="FF0000"/>
                </a:solidFill>
                <a:latin typeface="Gill Sans MT"/>
              </a:rPr>
              <a:t>	</a:t>
            </a:r>
            <a:r>
              <a:rPr lang="en-US" sz="3000" dirty="0" smtClean="0">
                <a:solidFill>
                  <a:srgbClr val="FF0000"/>
                </a:solidFill>
                <a:latin typeface="+mn-lt"/>
              </a:rPr>
              <a:t>The </a:t>
            </a:r>
            <a:r>
              <a:rPr lang="en-US" sz="3000" dirty="0">
                <a:solidFill>
                  <a:srgbClr val="FF0000"/>
                </a:solidFill>
                <a:latin typeface="+mn-lt"/>
              </a:rPr>
              <a:t>difference between the prior and posterior distributions is regarded as the surprise experienced by the </a:t>
            </a:r>
            <a:r>
              <a:rPr lang="en-US" sz="3000" dirty="0" smtClean="0">
                <a:solidFill>
                  <a:srgbClr val="FF0000"/>
                </a:solidFill>
                <a:latin typeface="+mn-lt"/>
              </a:rPr>
              <a:t>observer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>
              <a:solidFill>
                <a:srgbClr val="FF0000"/>
              </a:solidFill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None/>
            </a:pPr>
            <a:r>
              <a:rPr lang="en-US" sz="3000" dirty="0" smtClean="0">
                <a:latin typeface="+mn-lt"/>
              </a:rPr>
              <a:t>	KL </a:t>
            </a:r>
            <a:r>
              <a:rPr lang="en-US" sz="3000" dirty="0">
                <a:latin typeface="+mn-lt"/>
              </a:rPr>
              <a:t>Divergence is used to quantify this distance:</a:t>
            </a:r>
          </a:p>
        </p:txBody>
      </p:sp>
      <p:pic>
        <p:nvPicPr>
          <p:cNvPr id="4" name="Picture 3" descr="Surp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65414" y="5064720"/>
            <a:ext cx="7872981" cy="422549"/>
          </a:xfrm>
          <a:prstGeom prst="rect">
            <a:avLst/>
          </a:prstGeom>
        </p:spPr>
      </p:pic>
      <p:pic>
        <p:nvPicPr>
          <p:cNvPr id="5" name="Picture 4" descr="Surp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33789" y="5699858"/>
            <a:ext cx="5415247" cy="9839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/>
              <a:t>Bayesian Surprise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>
                <a:latin typeface="+mn-lt"/>
              </a:rPr>
              <a:t>Note that the integration is over the entire model</a:t>
            </a:r>
            <a:r>
              <a:rPr lang="en-US" sz="3000" i="1" dirty="0">
                <a:latin typeface="+mn-lt"/>
              </a:rPr>
              <a:t> </a:t>
            </a:r>
            <a:r>
              <a:rPr lang="en-US" sz="3000" dirty="0" smtClean="0">
                <a:latin typeface="+mn-lt"/>
              </a:rPr>
              <a:t>space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>
                <a:latin typeface="+mn-lt"/>
              </a:rPr>
              <a:t>Surprise occurs when a different model is </a:t>
            </a:r>
            <a:r>
              <a:rPr lang="en-US" sz="3000" dirty="0" smtClean="0">
                <a:latin typeface="+mn-lt"/>
              </a:rPr>
              <a:t>favored; this is </a:t>
            </a:r>
            <a:r>
              <a:rPr lang="en-US" sz="3000" dirty="0">
                <a:latin typeface="+mn-lt"/>
              </a:rPr>
              <a:t>different from low probability </a:t>
            </a:r>
            <a:r>
              <a:rPr lang="en-US" sz="3000" dirty="0" smtClean="0">
                <a:latin typeface="+mn-lt"/>
              </a:rPr>
              <a:t>events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endParaRPr lang="en-US" sz="3000" dirty="0">
              <a:latin typeface="+mn-lt"/>
            </a:endParaRP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sz="3000" dirty="0">
                <a:latin typeface="+mn-lt"/>
              </a:rPr>
              <a:t>May be computed analytically when using probability distributions from the exponential family (e.g. </a:t>
            </a:r>
            <a:r>
              <a:rPr lang="en-US" sz="3000" dirty="0" err="1">
                <a:latin typeface="+mn-lt"/>
              </a:rPr>
              <a:t>Dirichlet</a:t>
            </a:r>
            <a:r>
              <a:rPr lang="en-US" sz="3000" dirty="0">
                <a:latin typeface="+mn-lt"/>
              </a:rPr>
              <a:t> distribution)</a:t>
            </a:r>
          </a:p>
          <a:p>
            <a:pPr marL="416401" indent="-322362">
              <a:spcBef>
                <a:spcPts val="686"/>
              </a:spcBef>
              <a:spcAft>
                <a:spcPts val="0"/>
              </a:spcAft>
              <a:buNone/>
            </a:pPr>
            <a:endParaRPr lang="en-US" dirty="0">
              <a:latin typeface="Gill Sans M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069340" y="548186"/>
            <a:ext cx="9089390" cy="769441"/>
          </a:xfrm>
        </p:spPr>
        <p:txBody>
          <a:bodyPr lIns="0" tIns="0" rIns="0" bIns="0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5000" dirty="0" smtClean="0">
                <a:latin typeface="Arial" pitchFamily="18"/>
              </a:rPr>
              <a:t>The model</a:t>
            </a:r>
            <a:endParaRPr lang="en-GB" sz="5000" dirty="0">
              <a:latin typeface="Arial" pitchFamily="18"/>
            </a:endParaRP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/>
            <a:r>
              <a:rPr lang="en-GB" sz="3000" dirty="0" smtClean="0"/>
              <a:t>Latent </a:t>
            </a:r>
            <a:r>
              <a:rPr lang="en-GB" sz="3000" dirty="0" err="1" smtClean="0"/>
              <a:t>Dirichlet</a:t>
            </a:r>
            <a:r>
              <a:rPr lang="en-GB" sz="3000" dirty="0" smtClean="0"/>
              <a:t> Allocation (LDA) - a </a:t>
            </a:r>
            <a:r>
              <a:rPr lang="en-GB" sz="3000" dirty="0"/>
              <a:t>generative probabilistic model from the `bag of words' paradigm (</a:t>
            </a:r>
            <a:r>
              <a:rPr lang="en-GB" sz="3000" dirty="0" err="1"/>
              <a:t>Blei</a:t>
            </a:r>
            <a:r>
              <a:rPr lang="en-GB" sz="3000" dirty="0"/>
              <a:t>, 2001</a:t>
            </a:r>
            <a:r>
              <a:rPr lang="en-GB" sz="3000" dirty="0" smtClean="0"/>
              <a:t>)</a:t>
            </a:r>
          </a:p>
          <a:p>
            <a:pPr lvl="0"/>
            <a:endParaRPr lang="en-GB" sz="3000" dirty="0"/>
          </a:p>
          <a:p>
            <a:pPr lvl="0"/>
            <a:r>
              <a:rPr lang="en-GB" sz="3000" dirty="0"/>
              <a:t>Assumes each document </a:t>
            </a:r>
            <a:r>
              <a:rPr lang="en-GB" sz="3000" dirty="0" smtClean="0"/>
              <a:t>is generated by </a:t>
            </a:r>
            <a:r>
              <a:rPr lang="en-GB" sz="3000" dirty="0"/>
              <a:t>a mixture </a:t>
            </a:r>
            <a:r>
              <a:rPr lang="en-GB" sz="3000" dirty="0" smtClean="0"/>
              <a:t>probability of </a:t>
            </a:r>
            <a:r>
              <a:rPr lang="en-GB" sz="3000" dirty="0"/>
              <a:t>latent topics, where each topic is responsible for the actual appearance of </a:t>
            </a:r>
            <a:r>
              <a:rPr lang="en-GB" sz="3000" dirty="0" smtClean="0"/>
              <a:t>words</a:t>
            </a:r>
            <a:endParaRPr lang="en-GB" sz="3000" dirty="0"/>
          </a:p>
          <a:p>
            <a:pPr lvl="0"/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2791295" y="175012"/>
            <a:ext cx="4841500" cy="2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/>
          </p:nvPr>
        </p:nvSpPr>
        <p:spPr>
          <a:xfrm>
            <a:off x="832286" y="352462"/>
            <a:ext cx="8770272" cy="1160981"/>
          </a:xfrm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5000" dirty="0">
                <a:latin typeface="Arial" pitchFamily="18"/>
              </a:rPr>
              <a:t>LDA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17180" y="1786125"/>
            <a:ext cx="8895309" cy="4890807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>
              <a:buNone/>
            </a:pPr>
            <a:endParaRPr lang="en-GB" dirty="0"/>
          </a:p>
          <a:p>
            <a:pPr lvl="0">
              <a:buNone/>
            </a:pP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/>
          <a:stretch>
            <a:fillRect/>
          </a:stretch>
        </p:blipFill>
        <p:spPr>
          <a:xfrm>
            <a:off x="375080" y="2544789"/>
            <a:ext cx="9472500" cy="269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alphaModFix/>
            <a:lum/>
          </a:blip>
          <a:srcRect/>
          <a:stretch>
            <a:fillRect/>
          </a:stretch>
        </p:blipFill>
        <p:spPr>
          <a:xfrm>
            <a:off x="417601" y="5358375"/>
            <a:ext cx="9429979" cy="220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032764" y="0"/>
            <a:ext cx="9089390" cy="1260211"/>
          </a:xfrm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4300" dirty="0">
                <a:latin typeface="Arial" pitchFamily="18"/>
              </a:rPr>
              <a:t>Bayesian Surprise and LDA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>
          <a:xfrm>
            <a:off x="680720" y="2144907"/>
            <a:ext cx="9089390" cy="5040842"/>
          </a:xfrm>
        </p:spPr>
        <p:txBody>
          <a:bodyPr>
            <a:normAutofit lnSpcReduction="10000"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/>
            <a:r>
              <a:rPr lang="en-GB" dirty="0"/>
              <a:t>LDA is ultimately represented by </a:t>
            </a:r>
            <a:r>
              <a:rPr lang="en-GB" dirty="0">
                <a:latin typeface="Arial" pitchFamily="32"/>
                <a:cs typeface="Arial" pitchFamily="32"/>
              </a:rPr>
              <a:t>α</a:t>
            </a:r>
            <a:r>
              <a:rPr lang="en-GB" dirty="0">
                <a:cs typeface="Arial" pitchFamily="32"/>
              </a:rPr>
              <a:t>, the </a:t>
            </a:r>
            <a:r>
              <a:rPr lang="en-GB" dirty="0" err="1">
                <a:cs typeface="Arial" pitchFamily="32"/>
              </a:rPr>
              <a:t>Dirichlet</a:t>
            </a:r>
            <a:r>
              <a:rPr lang="en-GB" dirty="0">
                <a:cs typeface="Arial" pitchFamily="32"/>
              </a:rPr>
              <a:t> parameter, and </a:t>
            </a:r>
            <a:r>
              <a:rPr lang="en-GB" dirty="0">
                <a:latin typeface="Arial" pitchFamily="32"/>
                <a:cs typeface="Arial" pitchFamily="32"/>
              </a:rPr>
              <a:t>β</a:t>
            </a:r>
            <a:r>
              <a:rPr lang="en-GB" dirty="0">
                <a:cs typeface="Arial" pitchFamily="32"/>
              </a:rPr>
              <a:t>, the word distribution </a:t>
            </a:r>
            <a:r>
              <a:rPr lang="en-GB" dirty="0" smtClean="0">
                <a:cs typeface="Arial" pitchFamily="32"/>
              </a:rPr>
              <a:t>matrix</a:t>
            </a:r>
            <a:r>
              <a:rPr lang="en-GB" dirty="0">
                <a:cs typeface="Arial" pitchFamily="32"/>
              </a:rPr>
              <a:t>.</a:t>
            </a:r>
          </a:p>
          <a:p>
            <a:pPr lvl="0"/>
            <a:r>
              <a:rPr lang="en-GB" dirty="0" smtClean="0">
                <a:cs typeface="Arial" pitchFamily="32"/>
              </a:rPr>
              <a:t>A </a:t>
            </a:r>
            <a:r>
              <a:rPr lang="en-GB" dirty="0">
                <a:cs typeface="Arial" pitchFamily="32"/>
              </a:rPr>
              <a:t>new measurement </a:t>
            </a:r>
            <a:r>
              <a:rPr lang="en-GB" dirty="0" smtClean="0">
                <a:cs typeface="Arial" pitchFamily="32"/>
              </a:rPr>
              <a:t>updates </a:t>
            </a:r>
            <a:r>
              <a:rPr lang="en-GB" dirty="0">
                <a:cs typeface="Arial" pitchFamily="32"/>
              </a:rPr>
              <a:t>the model, to the posterior </a:t>
            </a:r>
            <a:r>
              <a:rPr lang="en-GB" dirty="0" err="1">
                <a:cs typeface="Arial" pitchFamily="32"/>
              </a:rPr>
              <a:t>Dirichlet</a:t>
            </a:r>
            <a:r>
              <a:rPr lang="en-GB" dirty="0">
                <a:cs typeface="Arial" pitchFamily="32"/>
              </a:rPr>
              <a:t> parameter, </a:t>
            </a:r>
            <a:r>
              <a:rPr lang="el-GR" dirty="0" smtClean="0">
                <a:latin typeface="Arial" pitchFamily="32"/>
                <a:cs typeface="Arial" pitchFamily="32"/>
              </a:rPr>
              <a:t>ᾱ</a:t>
            </a:r>
            <a:r>
              <a:rPr lang="en-GB" dirty="0" smtClean="0">
                <a:cs typeface="Arial" pitchFamily="32"/>
              </a:rPr>
              <a:t>. </a:t>
            </a:r>
            <a:r>
              <a:rPr lang="en-GB" dirty="0" smtClean="0">
                <a:latin typeface="Arial" pitchFamily="32"/>
                <a:cs typeface="Arial" pitchFamily="32"/>
              </a:rPr>
              <a:t>We </a:t>
            </a:r>
            <a:r>
              <a:rPr lang="en-GB" dirty="0">
                <a:latin typeface="Arial" pitchFamily="32"/>
                <a:cs typeface="Arial" pitchFamily="32"/>
              </a:rPr>
              <a:t>use the same VB-EM algorithm employed in the parameter estimation stage to compute </a:t>
            </a:r>
            <a:r>
              <a:rPr lang="el-GR" dirty="0" smtClean="0">
                <a:latin typeface="Arial" pitchFamily="32"/>
                <a:cs typeface="Arial" pitchFamily="32"/>
              </a:rPr>
              <a:t>ᾱ</a:t>
            </a:r>
            <a:r>
              <a:rPr lang="en-GB" dirty="0" smtClean="0">
                <a:latin typeface="Arial" pitchFamily="32"/>
                <a:cs typeface="Arial" pitchFamily="32"/>
              </a:rPr>
              <a:t>, </a:t>
            </a:r>
            <a:r>
              <a:rPr lang="en-GB" dirty="0">
                <a:latin typeface="Arial" pitchFamily="32"/>
                <a:cs typeface="Arial" pitchFamily="32"/>
              </a:rPr>
              <a:t>where β is kept fixed</a:t>
            </a:r>
            <a:r>
              <a:rPr lang="en-GB" dirty="0" smtClean="0">
                <a:latin typeface="Arial" pitchFamily="32"/>
                <a:cs typeface="Arial" pitchFamily="32"/>
              </a:rPr>
              <a:t>.</a:t>
            </a:r>
          </a:p>
          <a:p>
            <a:r>
              <a:rPr lang="en-GB" dirty="0" smtClean="0"/>
              <a:t>This change in </a:t>
            </a:r>
            <a:r>
              <a:rPr lang="en-GB" dirty="0" smtClean="0">
                <a:latin typeface="Arial" pitchFamily="32"/>
                <a:cs typeface="Arial" pitchFamily="32"/>
              </a:rPr>
              <a:t>α prior</a:t>
            </a:r>
            <a:r>
              <a:rPr lang="en-GB" dirty="0" smtClean="0">
                <a:cs typeface="Arial" pitchFamily="32"/>
              </a:rPr>
              <a:t> can be regarded as the surprise score for an event.</a:t>
            </a:r>
          </a:p>
          <a:p>
            <a:pPr lvl="0"/>
            <a:endParaRPr lang="en-GB" sz="3000" dirty="0">
              <a:latin typeface="Arial" pitchFamily="32"/>
              <a:cs typeface="Arial" pitchFamily="32"/>
            </a:endParaRPr>
          </a:p>
        </p:txBody>
      </p:sp>
      <p:pic>
        <p:nvPicPr>
          <p:cNvPr id="4" name="Picture 3" descr="Surp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8578" y="1526450"/>
            <a:ext cx="7872981" cy="42254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433926" y="48425"/>
            <a:ext cx="8770272" cy="756248"/>
          </a:xfrm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sz="4300" dirty="0">
                <a:latin typeface="Arial" pitchFamily="18"/>
              </a:rPr>
              <a:t>Bayesian Surprise and LDA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719435" y="1520787"/>
            <a:ext cx="8895309" cy="4890807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>
              <a:buNone/>
            </a:pPr>
            <a:r>
              <a:rPr lang="en-GB" dirty="0" smtClean="0">
                <a:cs typeface="Arial" pitchFamily="32"/>
              </a:rPr>
              <a:t>	The </a:t>
            </a:r>
            <a:r>
              <a:rPr lang="en-GB" dirty="0">
                <a:cs typeface="Arial" pitchFamily="32"/>
              </a:rPr>
              <a:t>surprise elicited by </a:t>
            </a:r>
            <a:r>
              <a:rPr lang="en-GB" b="1" i="1" dirty="0">
                <a:cs typeface="Arial" pitchFamily="32"/>
              </a:rPr>
              <a:t>e </a:t>
            </a:r>
            <a:r>
              <a:rPr lang="en-GB" dirty="0">
                <a:cs typeface="Arial" pitchFamily="32"/>
              </a:rPr>
              <a:t>is the distance between the prior and posterior </a:t>
            </a:r>
            <a:r>
              <a:rPr lang="en-GB" dirty="0" err="1">
                <a:cs typeface="Arial" pitchFamily="32"/>
              </a:rPr>
              <a:t>Dirichlet</a:t>
            </a:r>
            <a:r>
              <a:rPr lang="en-GB" dirty="0">
                <a:cs typeface="Arial" pitchFamily="32"/>
              </a:rPr>
              <a:t> distributions </a:t>
            </a:r>
            <a:r>
              <a:rPr lang="en-GB" dirty="0" smtClean="0">
                <a:cs typeface="Arial" pitchFamily="32"/>
              </a:rPr>
              <a:t>parameterized </a:t>
            </a:r>
            <a:r>
              <a:rPr lang="en-GB" dirty="0">
                <a:cs typeface="Arial" pitchFamily="32"/>
              </a:rPr>
              <a:t>by </a:t>
            </a:r>
            <a:r>
              <a:rPr lang="en-GB" dirty="0">
                <a:latin typeface="Arial" pitchFamily="32"/>
                <a:cs typeface="Arial" pitchFamily="32"/>
              </a:rPr>
              <a:t>α</a:t>
            </a:r>
            <a:r>
              <a:rPr lang="en-GB" dirty="0">
                <a:cs typeface="Arial" pitchFamily="32"/>
              </a:rPr>
              <a:t> and </a:t>
            </a:r>
            <a:r>
              <a:rPr lang="en-GB" dirty="0">
                <a:latin typeface="Arial" pitchFamily="32"/>
                <a:cs typeface="Arial" pitchFamily="32"/>
              </a:rPr>
              <a:t>ᾰ: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446557" y="3011094"/>
            <a:ext cx="9429979" cy="41874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557279" y="7154057"/>
            <a:ext cx="5279344" cy="382324"/>
          </a:xfrm>
          <a:prstGeom prst="rect">
            <a:avLst/>
          </a:prstGeom>
          <a:noFill/>
        </p:spPr>
        <p:txBody>
          <a:bodyPr wrap="none" lIns="104306" tIns="52153" rIns="104306" bIns="52153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  <a:sym typeface="Symbol"/>
              </a:rPr>
              <a:t>[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and 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  <a:sym typeface="Symbol"/>
              </a:rPr>
              <a:t>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 are the gamma and digamma functions]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 descr="Surp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6380" y="1004315"/>
            <a:ext cx="7872981" cy="42254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 dirty="0" smtClean="0"/>
              <a:t>Application: video surveillance</a:t>
            </a:r>
            <a:endParaRPr lang="en-US" dirty="0"/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lvl="0">
              <a:buNone/>
            </a:pPr>
            <a:r>
              <a:rPr lang="en-GB" dirty="0" smtClean="0"/>
              <a:t>	Basic </a:t>
            </a:r>
            <a:r>
              <a:rPr lang="en-GB" dirty="0"/>
              <a:t>building blocks – video tubes</a:t>
            </a:r>
          </a:p>
          <a:p>
            <a:pPr lvl="1"/>
            <a:r>
              <a:rPr lang="en-GB" dirty="0"/>
              <a:t>Locate foreground blobs</a:t>
            </a:r>
          </a:p>
          <a:p>
            <a:pPr lvl="1"/>
            <a:r>
              <a:rPr lang="en-GB" dirty="0"/>
              <a:t>Attach blobs from consecutive frames to construct space time tubes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1894500" y="4167625"/>
            <a:ext cx="3564186" cy="252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/>
          <a:stretch>
            <a:fillRect/>
          </a:stretch>
        </p:blipFill>
        <p:spPr>
          <a:xfrm>
            <a:off x="6104500" y="4167625"/>
            <a:ext cx="3564186" cy="252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GB" dirty="0" smtClean="0"/>
              <a:t>Trajectory representation</a:t>
            </a:r>
            <a:endParaRPr lang="en-US" dirty="0"/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>
          <a:xfrm>
            <a:off x="635000" y="2464946"/>
            <a:ext cx="9089390" cy="3106146"/>
          </a:xfrm>
        </p:spPr>
        <p:txBody>
          <a:bodyPr wrap="square">
            <a:sp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r>
              <a:rPr lang="en-GB" dirty="0" smtClean="0"/>
              <a:t>Compute </a:t>
            </a:r>
            <a:r>
              <a:rPr lang="en-GB" dirty="0"/>
              <a:t>displacement vector</a:t>
            </a:r>
          </a:p>
          <a:p>
            <a:r>
              <a:rPr lang="en-GB" dirty="0"/>
              <a:t>Bin into one of 25 quantization bins</a:t>
            </a:r>
          </a:p>
          <a:p>
            <a:r>
              <a:rPr lang="en-GB" dirty="0"/>
              <a:t>Consider transition between one bin to another as a word (25 * 25 = 625 vocabulary words)</a:t>
            </a:r>
          </a:p>
          <a:p>
            <a:r>
              <a:rPr lang="en-GB" dirty="0"/>
              <a:t>`Bag of words' representation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/>
          <a:stretch>
            <a:fillRect/>
          </a:stretch>
        </p:blipFill>
        <p:spPr>
          <a:xfrm>
            <a:off x="885810" y="547852"/>
            <a:ext cx="3789000" cy="3317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/>
          <a:stretch>
            <a:fillRect/>
          </a:stretch>
        </p:blipFill>
        <p:spPr>
          <a:xfrm>
            <a:off x="3789000" y="2381500"/>
            <a:ext cx="3543557" cy="2778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alphaModFix/>
            <a:lum/>
          </a:blip>
          <a:srcRect/>
          <a:stretch>
            <a:fillRect/>
          </a:stretch>
        </p:blipFill>
        <p:spPr>
          <a:xfrm>
            <a:off x="7367500" y="5159917"/>
            <a:ext cx="3051829" cy="2225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340" y="2034004"/>
            <a:ext cx="9089390" cy="4603105"/>
          </a:xfrm>
        </p:spPr>
        <p:txBody>
          <a:bodyPr/>
          <a:lstStyle/>
          <a:p>
            <a:r>
              <a:rPr lang="en-US" dirty="0" smtClean="0"/>
              <a:t>Training and test videos are each an hour long, of an urban street intersection</a:t>
            </a:r>
          </a:p>
          <a:p>
            <a:endParaRPr lang="en-US" dirty="0" smtClean="0"/>
          </a:p>
          <a:p>
            <a:r>
              <a:rPr lang="en-US" dirty="0" smtClean="0"/>
              <a:t>Each hour contributed ~1000 tubes</a:t>
            </a:r>
          </a:p>
          <a:p>
            <a:endParaRPr lang="en-US" dirty="0" smtClean="0"/>
          </a:p>
          <a:p>
            <a:r>
              <a:rPr lang="en-US" dirty="0" smtClean="0"/>
              <a:t>We set </a:t>
            </a:r>
            <a:r>
              <a:rPr lang="en-US" i="1" dirty="0" smtClean="0"/>
              <a:t>k</a:t>
            </a:r>
            <a:r>
              <a:rPr lang="en-US" dirty="0" smtClean="0"/>
              <a:t>, the number of latent topics to be 8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Experimental 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3200" dirty="0" smtClean="0"/>
              <a:t>	Learned topics:</a:t>
            </a:r>
          </a:p>
          <a:p>
            <a:pPr lvl="1">
              <a:lnSpc>
                <a:spcPct val="200000"/>
              </a:lnSpc>
            </a:pPr>
            <a:r>
              <a:rPr lang="en-US" sz="2800" dirty="0" smtClean="0"/>
              <a:t>cars going left to right</a:t>
            </a:r>
          </a:p>
          <a:p>
            <a:pPr lvl="1">
              <a:lnSpc>
                <a:spcPct val="200000"/>
              </a:lnSpc>
            </a:pPr>
            <a:r>
              <a:rPr lang="en-US" sz="2800" dirty="0" smtClean="0"/>
              <a:t>cars going right to left</a:t>
            </a:r>
          </a:p>
          <a:p>
            <a:pPr lvl="1">
              <a:lnSpc>
                <a:spcPct val="200000"/>
              </a:lnSpc>
            </a:pPr>
            <a:r>
              <a:rPr lang="en-US" sz="2800" dirty="0" smtClean="0"/>
              <a:t>people going left to right</a:t>
            </a:r>
          </a:p>
          <a:p>
            <a:pPr lvl="1">
              <a:lnSpc>
                <a:spcPct val="200000"/>
              </a:lnSpc>
            </a:pPr>
            <a:r>
              <a:rPr lang="en-US" sz="2800" dirty="0" smtClean="0"/>
              <a:t>Complex dynamics: turning into top street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488" y="0"/>
            <a:ext cx="8770272" cy="126021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Experimental Results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/>
              <a:t>Results – Learned classes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>
          <a:xfrm>
            <a:off x="1069340" y="1746168"/>
            <a:ext cx="9089390" cy="5040842"/>
          </a:xfrm>
        </p:spPr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None/>
            </a:pPr>
            <a:r>
              <a:rPr lang="en-US" dirty="0" smtClean="0">
                <a:latin typeface="Gill Sans MT"/>
              </a:rPr>
              <a:t>		Cars </a:t>
            </a:r>
            <a:r>
              <a:rPr lang="en-US" dirty="0">
                <a:latin typeface="Gill Sans MT"/>
              </a:rPr>
              <a:t>going left to </a:t>
            </a:r>
            <a:r>
              <a:rPr lang="en-US" dirty="0" smtClean="0">
                <a:latin typeface="Gill Sans MT"/>
              </a:rPr>
              <a:t>right, or right to left</a:t>
            </a:r>
            <a:endParaRPr lang="en-US" dirty="0">
              <a:latin typeface="Gill Sans M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070" y="3463063"/>
            <a:ext cx="4294677" cy="30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4584" y="3463063"/>
            <a:ext cx="4308514" cy="3046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/>
              <a:t>Results – Learned classes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1678106" y="1596398"/>
            <a:ext cx="8770272" cy="5292884"/>
          </a:xfrm>
        </p:spPr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Font typeface="Wingdings 2" pitchFamily="18"/>
              <a:buChar char=""/>
            </a:pPr>
            <a:r>
              <a:rPr lang="en-US" dirty="0">
                <a:latin typeface="Gill Sans MT"/>
              </a:rPr>
              <a:t>People walking </a:t>
            </a:r>
            <a:r>
              <a:rPr lang="en-US" dirty="0" smtClean="0">
                <a:latin typeface="Gill Sans MT"/>
              </a:rPr>
              <a:t>left to right, or right to left</a:t>
            </a:r>
            <a:endParaRPr lang="en-US" dirty="0">
              <a:latin typeface="Gill Sans M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8861" y="3542455"/>
            <a:ext cx="4154329" cy="293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36166" y="3542455"/>
            <a:ext cx="4126258" cy="291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Experimental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Each tube (track) receives a surprise score, with regard to the world parameter </a:t>
            </a:r>
            <a:r>
              <a:rPr lang="el-GR" dirty="0" smtClean="0"/>
              <a:t>α</a:t>
            </a:r>
            <a:r>
              <a:rPr lang="en-US" dirty="0" smtClean="0"/>
              <a:t>; the video shows tubes taken from the top 5%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hangingPunct="1">
              <a:buNone/>
            </a:pPr>
            <a:r>
              <a:rPr lang="en-US"/>
              <a:t>Results – Surprising Events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quarter" idx="1"/>
          </p:nvPr>
        </p:nvSpPr>
        <p:spPr/>
        <p:txBody>
          <a:bodyPr lIns="104306" tIns="52153" rIns="104306" bIns="52153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GB" sz="32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en-GB" sz="28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en-GB" sz="24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GB" sz="2000" b="0" i="0" u="none" strike="noStrike" kern="1200">
                <a:ln>
                  <a:noFill/>
                </a:ln>
                <a:latin typeface="Arial" pitchFamily="18"/>
                <a:ea typeface="SimSun" pitchFamily="2"/>
                <a:cs typeface="Tahoma" pitchFamily="2"/>
              </a:defRPr>
            </a:lvl9pPr>
          </a:lstStyle>
          <a:p>
            <a:pPr marL="416401" indent="-322362">
              <a:spcBef>
                <a:spcPts val="686"/>
              </a:spcBef>
              <a:spcAft>
                <a:spcPts val="0"/>
              </a:spcAft>
              <a:buSzPct val="80000"/>
              <a:buNone/>
            </a:pPr>
            <a:r>
              <a:rPr lang="en-US" dirty="0" smtClean="0">
                <a:latin typeface="Gill Sans MT"/>
              </a:rPr>
              <a:t>	Some </a:t>
            </a:r>
            <a:r>
              <a:rPr lang="en-US" dirty="0">
                <a:latin typeface="Gill Sans MT"/>
              </a:rPr>
              <a:t>events with top surprise score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2535" y="3542455"/>
            <a:ext cx="3564467" cy="2520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0375" y="3542455"/>
            <a:ext cx="3564467" cy="2520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Typical and surprising events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3195" y="1637043"/>
            <a:ext cx="9370205" cy="404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67792" y="6083004"/>
            <a:ext cx="1993188" cy="382324"/>
          </a:xfrm>
          <a:prstGeom prst="rect">
            <a:avLst/>
          </a:prstGeom>
          <a:noFill/>
        </p:spPr>
        <p:txBody>
          <a:bodyPr wrap="none" lIns="104306" tIns="52153" rIns="104306" bIns="52153" rtlCol="0">
            <a:spAutoFit/>
          </a:bodyPr>
          <a:lstStyle/>
          <a:p>
            <a:r>
              <a:rPr lang="en-US" dirty="0" smtClean="0"/>
              <a:t>Surprising events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704562" y="6083004"/>
            <a:ext cx="1672653" cy="382324"/>
          </a:xfrm>
          <a:prstGeom prst="rect">
            <a:avLst/>
          </a:prstGeom>
          <a:noFill/>
        </p:spPr>
        <p:txBody>
          <a:bodyPr wrap="none" lIns="104306" tIns="52153" rIns="104306" bIns="52153" rtlCol="0">
            <a:spAutoFit/>
          </a:bodyPr>
          <a:lstStyle/>
          <a:p>
            <a:r>
              <a:rPr lang="en-US" dirty="0" smtClean="0"/>
              <a:t>Typical events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02350" y="195346"/>
            <a:ext cx="1871345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Surprise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25269" y="195346"/>
            <a:ext cx="1871345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Likelihood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2275" y="536843"/>
            <a:ext cx="4185139" cy="3382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84984" y="543909"/>
            <a:ext cx="4337539" cy="3432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97762" y="3960731"/>
            <a:ext cx="4248207" cy="3312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85176" y="3937761"/>
            <a:ext cx="4270854" cy="3324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241920" y="2235161"/>
            <a:ext cx="1117958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typical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18474" y="5400392"/>
            <a:ext cx="1364142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Abnormal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81064" y="1268020"/>
            <a:ext cx="9089390" cy="53320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Bayesian surprise: an approach to detecting “interesting” novel events, and its application to video surveillance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Incongruent events: another (very different) approach to the detection of interesting novel events; I will focus on Hierarchy discovery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chemeClr val="bg1">
                    <a:lumMod val="65000"/>
                  </a:schemeClr>
                </a:solidFill>
              </a:rPr>
              <a:t>Foreground/Background Segregation in Still Images (not object specific)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053433" y="0"/>
            <a:ext cx="9089390" cy="1524000"/>
          </a:xfrm>
          <a:ln/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2. Incongruent events</a:t>
            </a:r>
            <a:endParaRPr lang="en-US" sz="4800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788860" y="1752844"/>
            <a:ext cx="9089390" cy="5227309"/>
          </a:xfrm>
          <a:noFill/>
          <a:ln>
            <a:noFill/>
          </a:ln>
          <a:effectLst/>
        </p:spPr>
        <p:txBody>
          <a:bodyPr>
            <a:normAutofit fontScale="92500" lnSpcReduction="10000"/>
          </a:bodyPr>
          <a:lstStyle/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 common practice when dealing with novelty is to look for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 outliers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declare novelty when no known classifier assigns a test item high probability</a:t>
            </a: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None/>
            </a:pPr>
            <a:endParaRPr lang="en-US" dirty="0" smtClean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New idea: use a hierarchy of representations, first </a:t>
            </a:r>
            <a:r>
              <a:rPr lang="en-US" dirty="0">
                <a:latin typeface="Arial" charset="0"/>
                <a:cs typeface="Arial" charset="0"/>
                <a:sym typeface="Arial" charset="0"/>
              </a:rPr>
              <a:t>look for a level of description where the novel event is highly 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probable</a:t>
            </a:r>
            <a:endParaRPr lang="en-US" dirty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endParaRPr lang="en-US" dirty="0" smtClean="0">
              <a:latin typeface="Arial" charset="0"/>
              <a:cs typeface="Arial" charset="0"/>
              <a:sym typeface="Arial" charset="0"/>
            </a:endParaRP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Font typeface="Tahoma" charset="0"/>
              <a:buChar char="•"/>
            </a:pP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Novel</a:t>
            </a:r>
            <a:r>
              <a:rPr lang="en-US" b="1" dirty="0" smtClean="0">
                <a:solidFill>
                  <a:srgbClr val="001F67"/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Incongruent events 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are detected by the </a:t>
            </a:r>
            <a:r>
              <a:rPr lang="en-US" i="1" dirty="0" smtClean="0">
                <a:latin typeface="Arial" charset="0"/>
                <a:cs typeface="Arial" charset="0"/>
                <a:sym typeface="Arial" charset="0"/>
              </a:rPr>
              <a:t>acceptance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 of a general level classifier and the </a:t>
            </a:r>
            <a:r>
              <a:rPr lang="en-US" i="1" dirty="0" smtClean="0">
                <a:latin typeface="Arial" charset="0"/>
                <a:cs typeface="Arial" charset="0"/>
                <a:sym typeface="Arial" charset="0"/>
              </a:rPr>
              <a:t>rejection</a:t>
            </a: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 of the more specific level classifier.</a:t>
            </a:r>
          </a:p>
          <a:p>
            <a:pPr marL="376907" indent="-162987">
              <a:spcBef>
                <a:spcPts val="802"/>
              </a:spcBef>
              <a:buClr>
                <a:srgbClr val="000000"/>
              </a:buClr>
              <a:buSzPct val="125000"/>
              <a:buNone/>
            </a:pPr>
            <a:r>
              <a:rPr lang="en-US" dirty="0" smtClean="0">
                <a:latin typeface="Arial" charset="0"/>
                <a:cs typeface="Arial" charset="0"/>
                <a:sym typeface="Arial" charset="0"/>
              </a:rPr>
              <a:t>[NIPS 2008, IEEE PAMI 2012]</a:t>
            </a:r>
            <a:endParaRPr lang="en-US" dirty="0" smtClean="0">
              <a:latin typeface="Arial" charset="0"/>
              <a:sym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92728" y="2297509"/>
            <a:ext cx="9115031" cy="4499088"/>
          </a:xfrm>
          <a:ln/>
        </p:spPr>
        <p:txBody>
          <a:bodyPr>
            <a:normAutofit lnSpcReduction="10000"/>
          </a:bodyPr>
          <a:lstStyle/>
          <a:p>
            <a:pPr marL="713067"/>
            <a:r>
              <a:rPr lang="en-US" sz="2800" dirty="0">
                <a:solidFill>
                  <a:srgbClr val="430A1F"/>
                </a:solidFill>
              </a:rPr>
              <a:t>Cognitive psychology:</a:t>
            </a:r>
            <a:r>
              <a:rPr lang="en-US" sz="2800" dirty="0"/>
              <a:t> Basic-Level Category (</a:t>
            </a:r>
            <a:r>
              <a:rPr lang="en-US" sz="2800" dirty="0" err="1"/>
              <a:t>Rosch</a:t>
            </a:r>
            <a:r>
              <a:rPr lang="en-US" sz="2800" dirty="0"/>
              <a:t> 1976). Intermediate category level which is learnt faster and is more primary compared to other </a:t>
            </a:r>
            <a:r>
              <a:rPr lang="en-US" sz="2800" dirty="0" smtClean="0"/>
              <a:t>levels </a:t>
            </a:r>
            <a:r>
              <a:rPr lang="en-US" sz="2800" dirty="0"/>
              <a:t>in the category hierarchy.</a:t>
            </a:r>
          </a:p>
          <a:p>
            <a:pPr marL="713067"/>
            <a:endParaRPr lang="en-US" sz="2800" dirty="0"/>
          </a:p>
          <a:p>
            <a:pPr marL="713067"/>
            <a:endParaRPr lang="en-US" sz="2800" dirty="0"/>
          </a:p>
          <a:p>
            <a:pPr marL="713067"/>
            <a:r>
              <a:rPr lang="en-US" sz="2800" dirty="0">
                <a:solidFill>
                  <a:srgbClr val="490000"/>
                </a:solidFill>
              </a:rPr>
              <a:t>Neurophysiology: </a:t>
            </a:r>
            <a:r>
              <a:rPr lang="en-US" sz="2800" dirty="0"/>
              <a:t>Agglomerative clustering of responses taken from population of neurons within the IT of macaque monkeys resembles an intuitive hierarchy. </a:t>
            </a:r>
            <a:r>
              <a:rPr lang="en-US" sz="2800" dirty="0" err="1"/>
              <a:t>Kiani</a:t>
            </a:r>
            <a:r>
              <a:rPr lang="en-US" sz="2800" dirty="0"/>
              <a:t> et al. 2007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1235" y="329262"/>
            <a:ext cx="10055632" cy="12823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Hierarchical representation dominates Perception/Cognition: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6264" y="973015"/>
            <a:ext cx="9696586" cy="56233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Focus of this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89280" y="1836297"/>
            <a:ext cx="9089390" cy="5040842"/>
          </a:xfrm>
        </p:spPr>
        <p:txBody>
          <a:bodyPr>
            <a:normAutofit/>
          </a:bodyPr>
          <a:lstStyle/>
          <a:p>
            <a:r>
              <a:rPr lang="en-US" b="1" dirty="0" smtClean="0"/>
              <a:t>Challenge</a:t>
            </a:r>
            <a:r>
              <a:rPr lang="en-US" dirty="0" smtClean="0"/>
              <a:t>: hierarchy should be provided by user</a:t>
            </a:r>
          </a:p>
          <a:p>
            <a:pPr>
              <a:buFont typeface="Symbol" pitchFamily="18" charset="2"/>
              <a:buChar char="Þ"/>
            </a:pPr>
            <a:r>
              <a:rPr lang="en-US" dirty="0" smtClean="0"/>
              <a:t> a method for hierarchy discovery within the multi-task learning paradigm</a:t>
            </a:r>
          </a:p>
          <a:p>
            <a:endParaRPr lang="en-US" dirty="0" smtClean="0"/>
          </a:p>
          <a:p>
            <a:r>
              <a:rPr lang="en-US" b="1" dirty="0" smtClean="0"/>
              <a:t>Challenge</a:t>
            </a:r>
            <a:r>
              <a:rPr lang="en-US" dirty="0" smtClean="0"/>
              <a:t>: once a novel object has been detected, how do we proceed with classifying future pictures of this object?</a:t>
            </a:r>
          </a:p>
          <a:p>
            <a:pPr>
              <a:buFont typeface="Symbol" pitchFamily="18" charset="2"/>
              <a:buChar char="Þ"/>
            </a:pPr>
            <a:r>
              <a:rPr lang="en-US" dirty="0" smtClean="0"/>
              <a:t> knowledge transfer with the same hierarchical discovery algorithm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70168" y="6772124"/>
            <a:ext cx="4421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>
                <a:latin typeface="Gill Sans MT"/>
              </a:rPr>
              <a:t>Joint work with </a:t>
            </a:r>
            <a:r>
              <a:rPr lang="en-US" sz="2400" u="sng" dirty="0" err="1" smtClean="0">
                <a:latin typeface="Gill Sans MT"/>
              </a:rPr>
              <a:t>Alon</a:t>
            </a:r>
            <a:r>
              <a:rPr lang="en-US" sz="2400" u="sng" dirty="0" smtClean="0">
                <a:latin typeface="Gill Sans MT"/>
              </a:rPr>
              <a:t> Zweig</a:t>
            </a:r>
            <a:endParaRPr lang="en-US" sz="2400" u="sng" dirty="0" smtClean="0">
              <a:latin typeface="Arial" charset="0"/>
              <a:sym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302801"/>
            <a:ext cx="9089390" cy="1034509"/>
          </a:xfrm>
        </p:spPr>
        <p:txBody>
          <a:bodyPr/>
          <a:lstStyle/>
          <a:p>
            <a:r>
              <a:rPr lang="en-US" dirty="0" smtClean="0"/>
              <a:t>An implicit hierarchy is discovered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9340" y="1596266"/>
            <a:ext cx="9089390" cy="5478903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 smtClean="0"/>
              <a:t>Multi-task learning, jointly learn classifiers for a few related tasks:</a:t>
            </a:r>
          </a:p>
          <a:p>
            <a:pPr>
              <a:buNone/>
            </a:pPr>
            <a:r>
              <a:rPr lang="en-US" dirty="0" smtClean="0"/>
              <a:t>	Each classifier is a linear combination of classifiers computed in a cascade</a:t>
            </a:r>
          </a:p>
          <a:p>
            <a:pPr lvl="1"/>
            <a:r>
              <a:rPr lang="en-US" dirty="0" smtClean="0"/>
              <a:t>Higher levels – high incentive for information sharing</a:t>
            </a:r>
          </a:p>
          <a:p>
            <a:pPr lvl="1">
              <a:buNone/>
            </a:pPr>
            <a:r>
              <a:rPr lang="en-US" dirty="0" smtClean="0">
                <a:sym typeface="Symbol"/>
              </a:rPr>
              <a:t>	 more tasks participate, classifiers are less precise</a:t>
            </a:r>
          </a:p>
          <a:p>
            <a:pPr lvl="1"/>
            <a:r>
              <a:rPr lang="en-US" dirty="0" smtClean="0"/>
              <a:t>Lower levels – low incentive to share</a:t>
            </a:r>
          </a:p>
          <a:p>
            <a:pPr lvl="1">
              <a:buNone/>
            </a:pPr>
            <a:r>
              <a:rPr lang="en-US" dirty="0" smtClean="0">
                <a:sym typeface="Symbol"/>
              </a:rPr>
              <a:t>	 fewer tasks participate, classifiers get more precise</a:t>
            </a:r>
          </a:p>
          <a:p>
            <a:pPr lvl="2">
              <a:buNone/>
            </a:pPr>
            <a:endParaRPr lang="en-US" dirty="0" smtClean="0">
              <a:sym typeface="Symbol"/>
            </a:endParaRPr>
          </a:p>
          <a:p>
            <a:pPr marL="514350" indent="-514350"/>
            <a:r>
              <a:rPr lang="en-US" dirty="0" smtClean="0">
                <a:sym typeface="Symbol"/>
              </a:rPr>
              <a:t>How do we control the incentive to share?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 vary regularization of loss function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9666" y="302801"/>
            <a:ext cx="9649064" cy="97735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How do we control the incentive to share?</a:t>
            </a:r>
            <a:endParaRPr lang="he-IL" sz="3600" b="1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33</a:t>
            </a:fld>
            <a:endParaRPr lang="he-I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97840" y="1321946"/>
            <a:ext cx="9089390" cy="5489161"/>
          </a:xfrm>
        </p:spPr>
        <p:txBody>
          <a:bodyPr>
            <a:normAutofit lnSpcReduction="10000"/>
          </a:bodyPr>
          <a:lstStyle/>
          <a:p>
            <a:r>
              <a:rPr lang="en-US" sz="3200" b="1" dirty="0" smtClean="0"/>
              <a:t>Sharing assumption</a:t>
            </a:r>
            <a:r>
              <a:rPr lang="en-US" sz="3200" dirty="0" smtClean="0"/>
              <a:t>: the more related tasks are, the more features they share</a:t>
            </a:r>
          </a:p>
          <a:p>
            <a:r>
              <a:rPr lang="en-US" sz="3200" b="1" dirty="0" smtClean="0"/>
              <a:t>Regularization:</a:t>
            </a:r>
            <a:r>
              <a:rPr lang="en-US" sz="3200" dirty="0" smtClean="0"/>
              <a:t> </a:t>
            </a:r>
          </a:p>
          <a:p>
            <a:pPr lvl="1"/>
            <a:r>
              <a:rPr lang="en-US" sz="2900" dirty="0" smtClean="0"/>
              <a:t>restrict the number of features the classifiers can use by imposing sparse regularization - || • ||</a:t>
            </a:r>
            <a:r>
              <a:rPr lang="en-US" sz="2900" baseline="-25000" dirty="0" smtClean="0"/>
              <a:t>1</a:t>
            </a:r>
            <a:endParaRPr lang="en-US" sz="2900" dirty="0" smtClean="0"/>
          </a:p>
          <a:p>
            <a:pPr lvl="1"/>
            <a:r>
              <a:rPr lang="en-US" sz="2900" dirty="0" smtClean="0"/>
              <a:t>add another sparse regularization term which does not penalize for joint features - </a:t>
            </a:r>
            <a:r>
              <a:rPr lang="en-US" sz="3200" dirty="0" smtClean="0"/>
              <a:t>|| • ||</a:t>
            </a:r>
            <a:r>
              <a:rPr lang="en-US" sz="3200" baseline="-25000" dirty="0" smtClean="0"/>
              <a:t>1,2</a:t>
            </a:r>
            <a:endParaRPr lang="en-US" sz="2900" dirty="0" smtClean="0"/>
          </a:p>
          <a:p>
            <a:pPr lvl="1">
              <a:buNone/>
            </a:pPr>
            <a:r>
              <a:rPr lang="en-US" sz="3200" dirty="0" smtClean="0"/>
              <a:t>		</a:t>
            </a:r>
            <a:r>
              <a:rPr lang="en-US" sz="3200" dirty="0" smtClean="0">
                <a:sym typeface="Symbol"/>
              </a:rPr>
              <a:t>   </a:t>
            </a:r>
            <a:r>
              <a:rPr lang="el-GR" sz="3200" dirty="0" smtClean="0"/>
              <a:t>λ</a:t>
            </a:r>
            <a:r>
              <a:rPr lang="en-US" sz="3200" dirty="0" smtClean="0"/>
              <a:t>|| • ||</a:t>
            </a:r>
            <a:r>
              <a:rPr lang="en-US" sz="3200" baseline="-25000" dirty="0" smtClean="0"/>
              <a:t>1,2 </a:t>
            </a:r>
            <a:r>
              <a:rPr lang="en-US" sz="3200" dirty="0" smtClean="0"/>
              <a:t>+ (1-</a:t>
            </a:r>
            <a:r>
              <a:rPr lang="el-GR" sz="3200" dirty="0" smtClean="0"/>
              <a:t> λ </a:t>
            </a:r>
            <a:r>
              <a:rPr lang="en-US" sz="3200" dirty="0" smtClean="0"/>
              <a:t>)|| • ||</a:t>
            </a:r>
            <a:r>
              <a:rPr lang="en-US" sz="3200" baseline="-25000" dirty="0" smtClean="0"/>
              <a:t>1</a:t>
            </a:r>
            <a:r>
              <a:rPr lang="en-US" sz="3200" b="1" dirty="0" smtClean="0"/>
              <a:t> </a:t>
            </a:r>
          </a:p>
          <a:p>
            <a:r>
              <a:rPr lang="en-US" sz="3500" b="1" dirty="0" smtClean="0"/>
              <a:t>Incentive to share:</a:t>
            </a:r>
          </a:p>
          <a:p>
            <a:pPr marL="879420" lvl="1" indent="-514350"/>
            <a:r>
              <a:rPr lang="el-GR" sz="3200" dirty="0" smtClean="0"/>
              <a:t>λ</a:t>
            </a:r>
            <a:r>
              <a:rPr lang="en-US" sz="3200" dirty="0" smtClean="0"/>
              <a:t>=1 </a:t>
            </a:r>
            <a:r>
              <a:rPr lang="en-US" sz="3200" dirty="0" smtClean="0">
                <a:sym typeface="Symbol"/>
              </a:rPr>
              <a:t> highest incentive to share</a:t>
            </a:r>
          </a:p>
          <a:p>
            <a:pPr marL="879420" lvl="1" indent="-514350"/>
            <a:r>
              <a:rPr lang="el-GR" sz="3200" dirty="0" smtClean="0"/>
              <a:t>λ</a:t>
            </a:r>
            <a:r>
              <a:rPr lang="en-US" sz="3200" dirty="0" smtClean="0"/>
              <a:t>=0 </a:t>
            </a:r>
            <a:r>
              <a:rPr lang="en-US" sz="3200" dirty="0" smtClean="0">
                <a:sym typeface="Symbol"/>
              </a:rPr>
              <a:t> no incentive to share</a:t>
            </a:r>
          </a:p>
          <a:p>
            <a:pPr marL="879420" lvl="1" indent="-514350"/>
            <a:endParaRPr lang="en-US" sz="3200" baseline="-25000" dirty="0" smtClean="0"/>
          </a:p>
          <a:p>
            <a:pPr lvl="1">
              <a:buNone/>
            </a:pPr>
            <a:endParaRPr lang="en-US" sz="3200" baseline="-25000" dirty="0" smtClean="0"/>
          </a:p>
          <a:p>
            <a:pPr lvl="1">
              <a:buNone/>
            </a:pPr>
            <a:endParaRPr lang="en-US" sz="2900" dirty="0" smtClean="0"/>
          </a:p>
        </p:txBody>
      </p:sp>
    </p:spTree>
    <p:extLst>
      <p:ext uri="{BB962C8B-B14F-4D97-AF65-F5344CB8AC3E}">
        <p14:creationId xmlns="" xmlns:p14="http://schemas.microsoft.com/office/powerpoint/2010/main" val="175945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635137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Example</a:t>
            </a:r>
            <a:endParaRPr lang="he-IL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546258"/>
            <a:ext cx="4210468" cy="428494"/>
          </a:xfrm>
        </p:spPr>
        <p:txBody>
          <a:bodyPr>
            <a:normAutofit/>
          </a:bodyPr>
          <a:lstStyle/>
          <a:p>
            <a:pPr algn="l" rtl="0">
              <a:buNone/>
            </a:pPr>
            <a:r>
              <a:rPr lang="en-US" sz="2100" dirty="0" smtClean="0"/>
              <a:t>	Explicit hierarchy</a:t>
            </a:r>
            <a:endParaRPr lang="he-IL" sz="21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5909" y="4827209"/>
            <a:ext cx="6682796" cy="2187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7943765"/>
              </p:ext>
            </p:extLst>
          </p:nvPr>
        </p:nvGraphicFramePr>
        <p:xfrm>
          <a:off x="4826434" y="785840"/>
          <a:ext cx="5553979" cy="3749012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110796"/>
                <a:gridCol w="1121309"/>
                <a:gridCol w="1100282"/>
                <a:gridCol w="1110796"/>
                <a:gridCol w="1110796"/>
              </a:tblGrid>
              <a:tr h="504084">
                <a:tc>
                  <a:txBody>
                    <a:bodyPr/>
                    <a:lstStyle/>
                    <a:p>
                      <a:pPr algn="l" rtl="0"/>
                      <a:r>
                        <a:rPr lang="en-US" sz="1300" dirty="0" smtClean="0"/>
                        <a:t>African</a:t>
                      </a:r>
                      <a:r>
                        <a:rPr lang="en-US" sz="1300" baseline="0" dirty="0" smtClean="0"/>
                        <a:t> </a:t>
                      </a:r>
                      <a:r>
                        <a:rPr lang="en-US" sz="1300" baseline="0" dirty="0" err="1" smtClean="0"/>
                        <a:t>Elp</a:t>
                      </a:r>
                      <a:endParaRPr lang="he-IL" sz="13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300" dirty="0" smtClean="0"/>
                        <a:t>Asian </a:t>
                      </a:r>
                      <a:r>
                        <a:rPr lang="en-US" sz="1300" dirty="0" err="1" smtClean="0"/>
                        <a:t>Elp</a:t>
                      </a:r>
                      <a:endParaRPr lang="he-IL" sz="13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300" dirty="0" smtClean="0"/>
                        <a:t>Owl</a:t>
                      </a:r>
                      <a:endParaRPr lang="he-IL" sz="13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300" dirty="0" smtClean="0"/>
                        <a:t>Eagle</a:t>
                      </a:r>
                      <a:endParaRPr lang="he-IL" sz="13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Head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Legs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Wings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191458"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Long Beak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Short Beak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Trunk</a:t>
                      </a:r>
                      <a:endParaRPr lang="he-IL" sz="12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en-US" sz="20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Short Ears</a:t>
                      </a:r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l" rtl="0"/>
                      <a:endParaRPr lang="en-US" sz="2000" dirty="0" smtClean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20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200" dirty="0" smtClean="0"/>
                        <a:t>Long Ears</a:t>
                      </a:r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0" y="2469379"/>
            <a:ext cx="4210468" cy="428494"/>
          </a:xfrm>
          <a:prstGeom prst="rect">
            <a:avLst/>
          </a:prstGeom>
        </p:spPr>
        <p:txBody>
          <a:bodyPr vert="horz" lIns="104306" tIns="52153" rIns="104306" bIns="52153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buNone/>
            </a:pPr>
            <a:r>
              <a:rPr lang="en-US" sz="2100" dirty="0" smtClean="0"/>
              <a:t>	Matrix notation:</a:t>
            </a:r>
            <a:endParaRPr lang="he-IL" sz="2100" dirty="0"/>
          </a:p>
        </p:txBody>
      </p:sp>
    </p:spTree>
    <p:extLst>
      <p:ext uri="{BB962C8B-B14F-4D97-AF65-F5344CB8AC3E}">
        <p14:creationId xmlns:p14="http://schemas.microsoft.com/office/powerpoint/2010/main" xmlns="" val="186706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635137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Levels of sharing</a:t>
            </a:r>
            <a:endParaRPr lang="he-IL" sz="32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50570831"/>
              </p:ext>
            </p:extLst>
          </p:nvPr>
        </p:nvGraphicFramePr>
        <p:xfrm>
          <a:off x="3746721" y="1668576"/>
          <a:ext cx="3368375" cy="1848049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842094"/>
                <a:gridCol w="850063"/>
                <a:gridCol w="834124"/>
                <a:gridCol w="842094"/>
              </a:tblGrid>
              <a:tr h="264007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64007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67353847"/>
              </p:ext>
            </p:extLst>
          </p:nvPr>
        </p:nvGraphicFramePr>
        <p:xfrm>
          <a:off x="378348" y="4579580"/>
          <a:ext cx="2947327" cy="1665832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736832"/>
                <a:gridCol w="743805"/>
                <a:gridCol w="729858"/>
                <a:gridCol w="736832"/>
              </a:tblGrid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92095014"/>
              </p:ext>
            </p:extLst>
          </p:nvPr>
        </p:nvGraphicFramePr>
        <p:xfrm>
          <a:off x="3999351" y="4579580"/>
          <a:ext cx="2947327" cy="1665832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736832"/>
                <a:gridCol w="743805"/>
                <a:gridCol w="729858"/>
                <a:gridCol w="736832"/>
              </a:tblGrid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89965683"/>
              </p:ext>
            </p:extLst>
          </p:nvPr>
        </p:nvGraphicFramePr>
        <p:xfrm>
          <a:off x="7620353" y="4579580"/>
          <a:ext cx="2947329" cy="1665832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736832"/>
                <a:gridCol w="743805"/>
                <a:gridCol w="729860"/>
                <a:gridCol w="736832"/>
              </a:tblGrid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235239">
                <a:tc>
                  <a:txBody>
                    <a:bodyPr/>
                    <a:lstStyle/>
                    <a:p>
                      <a:pPr algn="l" rtl="0"/>
                      <a:endParaRPr lang="en-US" sz="900" dirty="0" smtClean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9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9306" y="2192788"/>
            <a:ext cx="673675" cy="813211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sz="4600" b="1" dirty="0" smtClean="0"/>
              <a:t>=</a:t>
            </a:r>
            <a:endParaRPr lang="he-IL" sz="4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409885" y="4971514"/>
            <a:ext cx="673675" cy="813211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sz="4600" b="1" dirty="0" smtClean="0"/>
              <a:t>+</a:t>
            </a:r>
            <a:endParaRPr lang="he-IL" sz="4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946678" y="4971514"/>
            <a:ext cx="673675" cy="813211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sz="4600" b="1" dirty="0" smtClean="0"/>
              <a:t>+</a:t>
            </a:r>
            <a:endParaRPr lang="he-IL" sz="4600" b="1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35</a:t>
            </a:fld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832339" y="4196861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Level 1: head + legs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396153" y="4196862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Level 2: wings, trunk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112369" y="4196861"/>
            <a:ext cx="1919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Level 3: beak, ears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6130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16232" y="0"/>
            <a:ext cx="9089390" cy="1260211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The cascade generated by varying the regularization</a:t>
            </a:r>
            <a:endParaRPr lang="he-IL" sz="3200" b="1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36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Loss + || • ||</a:t>
            </a:r>
            <a:r>
              <a:rPr lang="en-US" sz="3200" baseline="-25000" dirty="0" smtClean="0"/>
              <a:t>12</a:t>
            </a:r>
          </a:p>
          <a:p>
            <a:endParaRPr lang="en-US" sz="3200" baseline="-25000" dirty="0" smtClean="0"/>
          </a:p>
          <a:p>
            <a:endParaRPr lang="en-US" sz="3200" baseline="-25000" dirty="0" smtClean="0"/>
          </a:p>
          <a:p>
            <a:endParaRPr lang="en-US" sz="3200" baseline="-25000" dirty="0" smtClean="0"/>
          </a:p>
          <a:p>
            <a:r>
              <a:rPr lang="en-US" sz="2800" dirty="0" smtClean="0"/>
              <a:t>Loss + </a:t>
            </a:r>
            <a:r>
              <a:rPr lang="el-GR" sz="2800" dirty="0" smtClean="0"/>
              <a:t>λ</a:t>
            </a:r>
            <a:r>
              <a:rPr lang="en-US" sz="2800" dirty="0" smtClean="0"/>
              <a:t>|| • ||</a:t>
            </a:r>
            <a:r>
              <a:rPr lang="en-US" sz="2800" baseline="-25000" dirty="0" smtClean="0"/>
              <a:t>1,2 </a:t>
            </a:r>
            <a:r>
              <a:rPr lang="en-US" sz="2800" dirty="0" smtClean="0"/>
              <a:t>+ (1-</a:t>
            </a:r>
            <a:r>
              <a:rPr lang="el-GR" sz="2800" dirty="0" smtClean="0"/>
              <a:t> λ </a:t>
            </a:r>
            <a:r>
              <a:rPr lang="en-US" sz="2800" dirty="0" smtClean="0"/>
              <a:t>)|| • ||</a:t>
            </a:r>
            <a:r>
              <a:rPr lang="en-US" sz="2800" baseline="-25000" dirty="0" smtClean="0"/>
              <a:t>1</a:t>
            </a:r>
          </a:p>
          <a:p>
            <a:endParaRPr lang="en-US" sz="2800" baseline="-25000" dirty="0" smtClean="0"/>
          </a:p>
          <a:p>
            <a:endParaRPr lang="en-US" sz="2800" baseline="-25000" dirty="0" smtClean="0"/>
          </a:p>
          <a:p>
            <a:endParaRPr lang="en-US" sz="2800" baseline="-25000" dirty="0" smtClean="0"/>
          </a:p>
          <a:p>
            <a:r>
              <a:rPr lang="en-US" sz="2800" dirty="0" smtClean="0"/>
              <a:t>Loss + || • ||</a:t>
            </a:r>
            <a:r>
              <a:rPr lang="en-US" sz="2800" baseline="-25000" dirty="0" smtClean="0"/>
              <a:t>1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07299746"/>
              </p:ext>
            </p:extLst>
          </p:nvPr>
        </p:nvGraphicFramePr>
        <p:xfrm>
          <a:off x="6260959" y="1646214"/>
          <a:ext cx="1852606" cy="1250949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39268"/>
                <a:gridCol w="691419"/>
                <a:gridCol w="458768"/>
                <a:gridCol w="463151"/>
              </a:tblGrid>
              <a:tr h="179157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85808671"/>
              </p:ext>
            </p:extLst>
          </p:nvPr>
        </p:nvGraphicFramePr>
        <p:xfrm>
          <a:off x="6268872" y="3554447"/>
          <a:ext cx="1852605" cy="1250424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463151"/>
                <a:gridCol w="467536"/>
                <a:gridCol w="458767"/>
                <a:gridCol w="463151"/>
              </a:tblGrid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78632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68627384"/>
              </p:ext>
            </p:extLst>
          </p:nvPr>
        </p:nvGraphicFramePr>
        <p:xfrm>
          <a:off x="6304040" y="5325600"/>
          <a:ext cx="1852605" cy="1180956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463151"/>
                <a:gridCol w="467536"/>
                <a:gridCol w="458767"/>
                <a:gridCol w="463151"/>
              </a:tblGrid>
              <a:tr h="168708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  <a:tr h="168708">
                <a:tc>
                  <a:txBody>
                    <a:bodyPr/>
                    <a:lstStyle/>
                    <a:p>
                      <a:pPr algn="l" rtl="0"/>
                      <a:endParaRPr lang="en-US" sz="400" dirty="0" smtClean="0"/>
                    </a:p>
                  </a:txBody>
                  <a:tcPr marL="106934" marR="106934" marT="50408" marB="50408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400" dirty="0"/>
                    </a:p>
                  </a:txBody>
                  <a:tcPr marL="106934" marR="106934" marT="50408" marB="50408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5945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55040" y="0"/>
            <a:ext cx="9089390" cy="1260211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Algorithm</a:t>
            </a:r>
            <a:endParaRPr lang="he-IL" sz="32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37</a:t>
            </a:fld>
            <a:endParaRPr lang="he-IL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1511" y="1240082"/>
            <a:ext cx="10189332" cy="6430765"/>
          </a:xfrm>
          <a:prstGeom prst="rect">
            <a:avLst/>
          </a:prstGeom>
        </p:spPr>
        <p:txBody>
          <a:bodyPr vert="horz" lIns="104306" tIns="52153" rIns="104306" bIns="52153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100" dirty="0" smtClean="0">
                <a:solidFill>
                  <a:prstClr val="black"/>
                </a:solidFill>
              </a:rPr>
              <a:t>We train a linear classifier in Multi-task and multi-class settings, as defined by the respective loss function</a:t>
            </a:r>
          </a:p>
          <a:p>
            <a:pPr algn="l" rtl="0"/>
            <a:endParaRPr lang="en-US" sz="2100" dirty="0" smtClean="0">
              <a:solidFill>
                <a:prstClr val="black"/>
              </a:solidFill>
            </a:endParaRPr>
          </a:p>
          <a:p>
            <a:pPr algn="l" rtl="0"/>
            <a:r>
              <a:rPr lang="en-US" sz="2100" dirty="0" smtClean="0">
                <a:solidFill>
                  <a:prstClr val="black"/>
                </a:solidFill>
              </a:rPr>
              <a:t>Iterative algorithm over the basic step:</a:t>
            </a:r>
            <a:endParaRPr lang="en-US" sz="2100" dirty="0">
              <a:solidFill>
                <a:prstClr val="black"/>
              </a:solidFill>
            </a:endParaRPr>
          </a:p>
          <a:p>
            <a:pPr algn="l" rtl="0"/>
            <a:endParaRPr lang="en-US" sz="2100" dirty="0" smtClean="0">
              <a:solidFill>
                <a:prstClr val="black"/>
              </a:solidFill>
            </a:endParaRPr>
          </a:p>
          <a:p>
            <a:pPr algn="l" rtl="0"/>
            <a:endParaRPr lang="en-US" sz="2100" dirty="0">
              <a:solidFill>
                <a:prstClr val="black"/>
              </a:solidFill>
            </a:endParaRPr>
          </a:p>
          <a:p>
            <a:pPr algn="l" rtl="0"/>
            <a:endParaRPr lang="en-US" sz="2100" dirty="0" smtClean="0">
              <a:solidFill>
                <a:prstClr val="black"/>
              </a:solidFill>
            </a:endParaRPr>
          </a:p>
          <a:p>
            <a:pPr algn="l" rtl="0">
              <a:buNone/>
            </a:pPr>
            <a:r>
              <a:rPr lang="en-US" sz="2100" dirty="0" smtClean="0">
                <a:solidFill>
                  <a:prstClr val="black"/>
                </a:solidFill>
              </a:rPr>
              <a:t>	</a:t>
            </a:r>
            <a:r>
              <a:rPr lang="el-GR" sz="2100" dirty="0" smtClean="0">
                <a:solidFill>
                  <a:prstClr val="black"/>
                </a:solidFill>
              </a:rPr>
              <a:t>ϴ</a:t>
            </a:r>
            <a:r>
              <a:rPr lang="en-US" sz="2100" dirty="0" smtClean="0">
                <a:solidFill>
                  <a:prstClr val="black"/>
                </a:solidFill>
              </a:rPr>
              <a:t> = {</a:t>
            </a:r>
            <a:r>
              <a:rPr lang="en-US" sz="2100" dirty="0" err="1" smtClean="0">
                <a:solidFill>
                  <a:prstClr val="black"/>
                </a:solidFill>
              </a:rPr>
              <a:t>W,b</a:t>
            </a:r>
            <a:r>
              <a:rPr lang="en-US" sz="2100" dirty="0" smtClean="0">
                <a:solidFill>
                  <a:prstClr val="black"/>
                </a:solidFill>
              </a:rPr>
              <a:t>}</a:t>
            </a:r>
          </a:p>
          <a:p>
            <a:pPr algn="l" rtl="0">
              <a:buNone/>
            </a:pPr>
            <a:r>
              <a:rPr lang="en-US" sz="2100" dirty="0" smtClean="0">
                <a:solidFill>
                  <a:prstClr val="black"/>
                </a:solidFill>
              </a:rPr>
              <a:t>	</a:t>
            </a:r>
            <a:r>
              <a:rPr lang="el-GR" sz="2100" dirty="0" smtClean="0">
                <a:solidFill>
                  <a:prstClr val="black"/>
                </a:solidFill>
              </a:rPr>
              <a:t>ϴ</a:t>
            </a:r>
            <a:r>
              <a:rPr lang="en-US" sz="2100" dirty="0" smtClean="0">
                <a:solidFill>
                  <a:prstClr val="black"/>
                </a:solidFill>
              </a:rPr>
              <a:t>’ stands for the parameters learnt up till the current step.</a:t>
            </a:r>
          </a:p>
          <a:p>
            <a:pPr algn="l" rtl="0">
              <a:buNone/>
            </a:pPr>
            <a:r>
              <a:rPr lang="en-US" sz="2100" dirty="0" smtClean="0">
                <a:solidFill>
                  <a:prstClr val="black"/>
                </a:solidFill>
              </a:rPr>
              <a:t>	λ governs the level of sharing from max sharing λ = 0 to no sharing λ = 1</a:t>
            </a:r>
          </a:p>
          <a:p>
            <a:pPr algn="l" rtl="0"/>
            <a:endParaRPr lang="en-US" sz="2100" dirty="0" smtClean="0">
              <a:solidFill>
                <a:prstClr val="black"/>
              </a:solidFill>
            </a:endParaRPr>
          </a:p>
          <a:p>
            <a:pPr algn="l" rtl="0"/>
            <a:r>
              <a:rPr lang="en-US" sz="2100" dirty="0" smtClean="0">
                <a:solidFill>
                  <a:prstClr val="black"/>
                </a:solidFill>
              </a:rPr>
              <a:t>Each step </a:t>
            </a:r>
            <a:r>
              <a:rPr lang="en-US" sz="2100" dirty="0">
                <a:solidFill>
                  <a:prstClr val="black"/>
                </a:solidFill>
              </a:rPr>
              <a:t>λ </a:t>
            </a:r>
            <a:r>
              <a:rPr lang="en-US" sz="2100" dirty="0" smtClean="0">
                <a:solidFill>
                  <a:prstClr val="black"/>
                </a:solidFill>
              </a:rPr>
              <a:t>is increased.</a:t>
            </a:r>
            <a:endParaRPr lang="en-US" sz="2100" dirty="0">
              <a:solidFill>
                <a:prstClr val="black"/>
              </a:solidFill>
            </a:endParaRPr>
          </a:p>
          <a:p>
            <a:pPr algn="l" rtl="0">
              <a:buNone/>
            </a:pPr>
            <a:r>
              <a:rPr lang="en-US" sz="2100" dirty="0" smtClean="0">
                <a:solidFill>
                  <a:prstClr val="black"/>
                </a:solidFill>
              </a:rPr>
              <a:t>	The aggregated parameters plus the decreased level of sharing is intended to guide the learning to focus on more task/class specific information as compared to the previous step. </a:t>
            </a:r>
          </a:p>
          <a:p>
            <a:pPr algn="l" rtl="0"/>
            <a:endParaRPr lang="en-US" sz="2100" dirty="0">
              <a:solidFill>
                <a:prstClr val="black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29481" y="2949629"/>
            <a:ext cx="6264696" cy="59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9664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30" y="0"/>
            <a:ext cx="9089390" cy="1260211"/>
          </a:xfrm>
        </p:spPr>
        <p:txBody>
          <a:bodyPr/>
          <a:lstStyle/>
          <a:p>
            <a:r>
              <a:rPr lang="en-US" dirty="0" smtClean="0"/>
              <a:t>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9537" y="1266482"/>
            <a:ext cx="9160510" cy="62947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35000"/>
              </a:lnSpc>
            </a:pPr>
            <a:r>
              <a:rPr lang="en-US" dirty="0" smtClean="0"/>
              <a:t>Synthetic and real data (many sets)</a:t>
            </a:r>
          </a:p>
          <a:p>
            <a:pPr>
              <a:lnSpc>
                <a:spcPct val="135000"/>
              </a:lnSpc>
            </a:pPr>
            <a:r>
              <a:rPr lang="en-US" dirty="0" smtClean="0"/>
              <a:t>Multi-task and multi-class loss functions</a:t>
            </a:r>
          </a:p>
          <a:p>
            <a:pPr>
              <a:lnSpc>
                <a:spcPct val="135000"/>
              </a:lnSpc>
              <a:buNone/>
            </a:pPr>
            <a:endParaRPr lang="en-US" dirty="0" smtClean="0"/>
          </a:p>
          <a:p>
            <a:pPr>
              <a:lnSpc>
                <a:spcPct val="135000"/>
              </a:lnSpc>
              <a:buNone/>
            </a:pPr>
            <a:endParaRPr lang="en-US" dirty="0" smtClean="0"/>
          </a:p>
          <a:p>
            <a:pPr>
              <a:lnSpc>
                <a:spcPct val="135000"/>
              </a:lnSpc>
              <a:buNone/>
            </a:pPr>
            <a:endParaRPr lang="en-US" dirty="0" smtClean="0"/>
          </a:p>
          <a:p>
            <a:pPr>
              <a:lnSpc>
                <a:spcPct val="135000"/>
              </a:lnSpc>
            </a:pPr>
            <a:r>
              <a:rPr lang="en-US" dirty="0" smtClean="0"/>
              <a:t>Low level features vs. high level features</a:t>
            </a:r>
          </a:p>
          <a:p>
            <a:pPr>
              <a:lnSpc>
                <a:spcPct val="135000"/>
              </a:lnSpc>
            </a:pPr>
            <a:r>
              <a:rPr lang="en-US" dirty="0" smtClean="0"/>
              <a:t>Compare the cascade approach against the same algorithm with:</a:t>
            </a:r>
          </a:p>
          <a:p>
            <a:pPr lvl="1">
              <a:lnSpc>
                <a:spcPct val="135000"/>
              </a:lnSpc>
            </a:pPr>
            <a:r>
              <a:rPr lang="en-US" dirty="0" smtClean="0"/>
              <a:t>No regularization</a:t>
            </a:r>
          </a:p>
          <a:p>
            <a:pPr lvl="1">
              <a:lnSpc>
                <a:spcPct val="135000"/>
              </a:lnSpc>
            </a:pPr>
            <a:r>
              <a:rPr lang="en-US" dirty="0" smtClean="0"/>
              <a:t>L</a:t>
            </a:r>
            <a:r>
              <a:rPr lang="en-US" baseline="-25000" dirty="0" smtClean="0"/>
              <a:t>1</a:t>
            </a:r>
            <a:r>
              <a:rPr lang="en-US" dirty="0" smtClean="0"/>
              <a:t> sparse regularization</a:t>
            </a:r>
          </a:p>
          <a:p>
            <a:pPr lvl="1">
              <a:lnSpc>
                <a:spcPct val="135000"/>
              </a:lnSpc>
            </a:pPr>
            <a:r>
              <a:rPr lang="en-US" dirty="0" smtClean="0"/>
              <a:t>L</a:t>
            </a:r>
            <a:r>
              <a:rPr lang="en-US" baseline="-25000" dirty="0" smtClean="0"/>
              <a:t>12</a:t>
            </a:r>
            <a:r>
              <a:rPr lang="en-US" dirty="0" smtClean="0"/>
              <a:t> multi-task regularization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95929" y="2560320"/>
            <a:ext cx="5576095" cy="852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25634" y="2728424"/>
            <a:ext cx="291207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Multi-task loss</a:t>
            </a:r>
            <a:endParaRPr lang="he-IL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8428" y="3381692"/>
            <a:ext cx="6413337" cy="69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629444" y="3429464"/>
            <a:ext cx="291207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Multi-class loss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635137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Real data</a:t>
            </a:r>
            <a:endParaRPr lang="he-IL" sz="32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0631" y="1414886"/>
            <a:ext cx="985823" cy="10110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400000">
            <a:off x="6567088" y="5446355"/>
            <a:ext cx="1700392" cy="13564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46208" y="5419623"/>
            <a:ext cx="1936815" cy="13733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55844" y="991661"/>
            <a:ext cx="2222460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Caltech 101</a:t>
            </a:r>
            <a:endParaRPr lang="he-IL" dirty="0"/>
          </a:p>
        </p:txBody>
      </p:sp>
      <p:sp>
        <p:nvSpPr>
          <p:cNvPr id="22" name="TextBox 21"/>
          <p:cNvSpPr txBox="1"/>
          <p:nvPr/>
        </p:nvSpPr>
        <p:spPr>
          <a:xfrm>
            <a:off x="7160390" y="4574553"/>
            <a:ext cx="2909439" cy="659322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Cifar-100 </a:t>
            </a:r>
          </a:p>
          <a:p>
            <a:pPr algn="ctr" rtl="0"/>
            <a:r>
              <a:rPr lang="en-US" dirty="0" smtClean="0"/>
              <a:t>(subset of tiny images)</a:t>
            </a:r>
            <a:endParaRPr lang="he-IL" dirty="0"/>
          </a:p>
        </p:txBody>
      </p:sp>
      <p:sp>
        <p:nvSpPr>
          <p:cNvPr id="23" name="TextBox 22"/>
          <p:cNvSpPr txBox="1"/>
          <p:nvPr/>
        </p:nvSpPr>
        <p:spPr>
          <a:xfrm>
            <a:off x="1594442" y="4050731"/>
            <a:ext cx="2222460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err="1" smtClean="0"/>
              <a:t>Imagenet</a:t>
            </a:r>
            <a:endParaRPr lang="he-IL" dirty="0"/>
          </a:p>
        </p:txBody>
      </p:sp>
      <p:sp>
        <p:nvSpPr>
          <p:cNvPr id="24" name="TextBox 23"/>
          <p:cNvSpPr txBox="1"/>
          <p:nvPr/>
        </p:nvSpPr>
        <p:spPr>
          <a:xfrm>
            <a:off x="7147716" y="991661"/>
            <a:ext cx="2222460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Caltech 256</a:t>
            </a:r>
            <a:endParaRPr lang="he-IL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3560" y="1419915"/>
            <a:ext cx="949737" cy="101105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73048" y="2430965"/>
            <a:ext cx="1009312" cy="107382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83560" y="2430965"/>
            <a:ext cx="984782" cy="105730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0800000" flipV="1">
            <a:off x="1688389" y="2159201"/>
            <a:ext cx="1277968" cy="70733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0800000" flipV="1">
            <a:off x="1594442" y="1434013"/>
            <a:ext cx="1510690" cy="63260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0800000" flipV="1">
            <a:off x="-1734" y="1434013"/>
            <a:ext cx="1690123" cy="646842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0800000" flipV="1">
            <a:off x="15000" y="2123320"/>
            <a:ext cx="1673390" cy="61528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35588" y="2682391"/>
            <a:ext cx="985195" cy="125702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54872" y="2689060"/>
            <a:ext cx="1049707" cy="134953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35588" y="1450106"/>
            <a:ext cx="963391" cy="12615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20983" y="1455866"/>
            <a:ext cx="1072460" cy="119593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41400" y="2649182"/>
            <a:ext cx="1167025" cy="136962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71620" y="1526668"/>
            <a:ext cx="861594" cy="820429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51272" y="1526669"/>
            <a:ext cx="1196510" cy="98393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88750" y="2710180"/>
            <a:ext cx="1162050" cy="122923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42705" y="4378545"/>
            <a:ext cx="972414" cy="1366639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51979" y="5802635"/>
            <a:ext cx="1272319" cy="79889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28655" y="4385264"/>
            <a:ext cx="1104101" cy="1384229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20420" y="5807603"/>
            <a:ext cx="1366090" cy="826859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5721" y="5569427"/>
            <a:ext cx="1340844" cy="170446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99383" y="5569427"/>
            <a:ext cx="1136827" cy="1429059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94441" y="4457937"/>
            <a:ext cx="1647025" cy="101864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196" y="4457938"/>
            <a:ext cx="1529472" cy="10814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757235" y="604945"/>
            <a:ext cx="1981824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dirty="0" smtClean="0"/>
              <a:t>Datasets</a:t>
            </a:r>
            <a:endParaRPr lang="he-IL" dirty="0"/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283177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635137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Real data</a:t>
            </a:r>
            <a:endParaRPr lang="he-IL" sz="3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4757235" y="604945"/>
            <a:ext cx="1981824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dirty="0" smtClean="0"/>
              <a:t>Datasets</a:t>
            </a:r>
            <a:endParaRPr lang="he-IL" dirty="0"/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40</a:t>
            </a:fld>
            <a:endParaRPr lang="he-IL"/>
          </a:p>
        </p:txBody>
      </p:sp>
      <p:sp>
        <p:nvSpPr>
          <p:cNvPr id="57" name="TextBox 56"/>
          <p:cNvSpPr txBox="1"/>
          <p:nvPr/>
        </p:nvSpPr>
        <p:spPr>
          <a:xfrm>
            <a:off x="2360070" y="1210137"/>
            <a:ext cx="5583779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MIT-Indoor-Scene (annotated with label-me)</a:t>
            </a:r>
            <a:endParaRPr lang="he-IL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0976" y="1954612"/>
            <a:ext cx="9697372" cy="4604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5009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635137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Features</a:t>
            </a:r>
            <a:endParaRPr lang="he-IL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599384" y="763730"/>
            <a:ext cx="7494633" cy="659322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Representation for sparse hierarchical sharing:</a:t>
            </a:r>
          </a:p>
          <a:p>
            <a:pPr algn="ctr" rtl="0"/>
            <a:r>
              <a:rPr lang="en-US" dirty="0"/>
              <a:t>l</a:t>
            </a:r>
            <a:r>
              <a:rPr lang="en-US" dirty="0" smtClean="0"/>
              <a:t>ow-level vs. mid-level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715185" y="1716435"/>
            <a:ext cx="9178820" cy="1490319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marL="325955" indent="-325955">
              <a:buFont typeface="Courier New" pitchFamily="49" charset="0"/>
              <a:buChar char="o"/>
            </a:pPr>
            <a:r>
              <a:rPr lang="en-US" i="1" dirty="0" smtClean="0">
                <a:solidFill>
                  <a:schemeClr val="tx2"/>
                </a:solidFill>
              </a:rPr>
              <a:t>Low level features: </a:t>
            </a:r>
            <a:r>
              <a:rPr lang="en-US" dirty="0"/>
              <a:t>any of the images features which </a:t>
            </a:r>
            <a:r>
              <a:rPr lang="en-US" dirty="0" smtClean="0"/>
              <a:t>are computed </a:t>
            </a:r>
            <a:r>
              <a:rPr lang="en-US" dirty="0"/>
              <a:t>from the image via some local or global </a:t>
            </a:r>
            <a:r>
              <a:rPr lang="en-US" dirty="0" smtClean="0"/>
              <a:t>operator, such </a:t>
            </a:r>
            <a:r>
              <a:rPr lang="en-US" dirty="0"/>
              <a:t>as Gist or Sift</a:t>
            </a:r>
            <a:r>
              <a:rPr lang="en-US" dirty="0" smtClean="0"/>
              <a:t>.</a:t>
            </a:r>
          </a:p>
          <a:p>
            <a:pPr marL="325955" indent="-325955">
              <a:buFont typeface="Courier New" pitchFamily="49" charset="0"/>
              <a:buChar char="o"/>
            </a:pPr>
            <a:endParaRPr lang="en-US" dirty="0"/>
          </a:p>
          <a:p>
            <a:pPr marL="325955" indent="-325955">
              <a:buFont typeface="Courier New" pitchFamily="49" charset="0"/>
              <a:buChar char="o"/>
            </a:pPr>
            <a:r>
              <a:rPr lang="en-US" i="1" dirty="0" smtClean="0">
                <a:solidFill>
                  <a:schemeClr val="accent2"/>
                </a:solidFill>
              </a:rPr>
              <a:t>Mid level features: </a:t>
            </a:r>
            <a:r>
              <a:rPr lang="en-US" dirty="0" smtClean="0"/>
              <a:t>features capturing some semantic notion, such as a variety of pre-trained classifiers over low </a:t>
            </a:r>
            <a:r>
              <a:rPr lang="en-US" smtClean="0"/>
              <a:t>level features.</a:t>
            </a:r>
            <a:endParaRPr lang="he-IL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51360430"/>
              </p:ext>
            </p:extLst>
          </p:nvPr>
        </p:nvGraphicFramePr>
        <p:xfrm>
          <a:off x="687706" y="3542455"/>
          <a:ext cx="9627346" cy="1226604"/>
        </p:xfrm>
        <a:graphic>
          <a:graphicData uri="http://schemas.openxmlformats.org/drawingml/2006/table">
            <a:tbl>
              <a:tblPr rtl="1" firstRow="1" bandRow="1">
                <a:tableStyleId>{D113A9D2-9D6B-4929-AA2D-F23B5EE8CBE7}</a:tableStyleId>
              </a:tblPr>
              <a:tblGrid>
                <a:gridCol w="7514702"/>
                <a:gridCol w="2112644"/>
              </a:tblGrid>
              <a:tr h="408868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Low</a:t>
                      </a:r>
                      <a:r>
                        <a:rPr lang="en-US" sz="1500" baseline="0" dirty="0" smtClean="0"/>
                        <a:t> Level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Gist, RBF</a:t>
                      </a:r>
                      <a:r>
                        <a:rPr lang="en-US" sz="1500" baseline="0" dirty="0" smtClean="0"/>
                        <a:t> kernel approximation by random projections (</a:t>
                      </a:r>
                      <a:r>
                        <a:rPr lang="en-US" sz="1500" baseline="0" dirty="0" err="1" smtClean="0"/>
                        <a:t>Rahimi</a:t>
                      </a:r>
                      <a:r>
                        <a:rPr lang="en-US" sz="1500" baseline="0" dirty="0" smtClean="0"/>
                        <a:t> et al. NIPS ’07)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smtClean="0"/>
                        <a:t>Cifar-100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Sift, 1000 word codebook,</a:t>
                      </a:r>
                      <a:r>
                        <a:rPr lang="en-US" sz="1500" baseline="0" dirty="0" smtClean="0"/>
                        <a:t> </a:t>
                      </a:r>
                      <a:r>
                        <a:rPr lang="en-US" sz="1500" baseline="0" dirty="0" err="1" smtClean="0"/>
                        <a:t>tf-idf</a:t>
                      </a:r>
                      <a:r>
                        <a:rPr lang="en-US" sz="1500" baseline="0" dirty="0" smtClean="0"/>
                        <a:t> normalization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err="1" smtClean="0"/>
                        <a:t>Imagenet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18990110"/>
              </p:ext>
            </p:extLst>
          </p:nvPr>
        </p:nvGraphicFramePr>
        <p:xfrm>
          <a:off x="715113" y="5209690"/>
          <a:ext cx="9627346" cy="1929070"/>
        </p:xfrm>
        <a:graphic>
          <a:graphicData uri="http://schemas.openxmlformats.org/drawingml/2006/table">
            <a:tbl>
              <a:tblPr rtl="1" firstRow="1" bandRow="1">
                <a:tableStyleId>{18603FDC-E32A-4AB5-989C-0864C3EAD2B8}</a:tableStyleId>
              </a:tblPr>
              <a:tblGrid>
                <a:gridCol w="7587829"/>
                <a:gridCol w="2039517"/>
              </a:tblGrid>
              <a:tr h="403267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Mid Level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endParaRPr lang="he-IL" sz="200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Feature specific classifiers</a:t>
                      </a:r>
                      <a:r>
                        <a:rPr lang="en-US" sz="1500" baseline="0" dirty="0" smtClean="0"/>
                        <a:t> (of </a:t>
                      </a:r>
                      <a:r>
                        <a:rPr lang="en-US" sz="1500" baseline="0" dirty="0" err="1" smtClean="0"/>
                        <a:t>Gehler</a:t>
                      </a:r>
                      <a:r>
                        <a:rPr lang="en-US" sz="1500" baseline="0" dirty="0" smtClean="0"/>
                        <a:t> et al. 2009).</a:t>
                      </a:r>
                      <a:endParaRPr lang="he-IL" sz="1500" dirty="0" smtClean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smtClean="0"/>
                        <a:t>Caltech-101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Feature specific classifiers </a:t>
                      </a:r>
                      <a:r>
                        <a:rPr lang="en-US" sz="1500" baseline="0" dirty="0" smtClean="0"/>
                        <a:t>or </a:t>
                      </a:r>
                      <a:r>
                        <a:rPr lang="en-US" sz="1500" baseline="0" dirty="0" err="1" smtClean="0"/>
                        <a:t>Classemes</a:t>
                      </a:r>
                      <a:r>
                        <a:rPr lang="en-US" sz="1500" baseline="0" dirty="0" smtClean="0"/>
                        <a:t> (</a:t>
                      </a:r>
                      <a:r>
                        <a:rPr lang="en-US" sz="1500" baseline="0" dirty="0" err="1" smtClean="0"/>
                        <a:t>Torresani</a:t>
                      </a:r>
                      <a:r>
                        <a:rPr lang="en-US" sz="1500" baseline="0" dirty="0" smtClean="0"/>
                        <a:t> et al. 2010).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smtClean="0"/>
                        <a:t>Caltech-256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705718">
                <a:tc>
                  <a:txBody>
                    <a:bodyPr/>
                    <a:lstStyle/>
                    <a:p>
                      <a:pPr algn="l" rtl="0"/>
                      <a:r>
                        <a:rPr lang="en-US" sz="1500" dirty="0" smtClean="0"/>
                        <a:t>Object</a:t>
                      </a:r>
                      <a:r>
                        <a:rPr lang="en-US" sz="1500" baseline="0" dirty="0" smtClean="0"/>
                        <a:t> Bank (Li et al. 2010).</a:t>
                      </a:r>
                      <a:endParaRPr lang="he-IL" sz="15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dirty="0" smtClean="0"/>
                        <a:t>Indoor-Scene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53034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7530" y="517830"/>
            <a:ext cx="9624060" cy="635137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Low-level features: results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13237944"/>
              </p:ext>
            </p:extLst>
          </p:nvPr>
        </p:nvGraphicFramePr>
        <p:xfrm>
          <a:off x="324227" y="1650612"/>
          <a:ext cx="5127882" cy="268135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54677"/>
                <a:gridCol w="1889813"/>
                <a:gridCol w="1283392"/>
              </a:tblGrid>
              <a:tr h="467146"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Cifar-100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Imagenet-30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67146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79.91 ± 0.22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80.67 ± 0.08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H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67146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76.98 ± 0.19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78.00 ± 0.09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L1 </a:t>
                      </a:r>
                      <a:r>
                        <a:rPr lang="en-US" sz="2000" dirty="0" err="1" smtClean="0"/>
                        <a:t>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812773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76.98 ± 0.17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77.99 ± 0.07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L12 </a:t>
                      </a:r>
                      <a:r>
                        <a:rPr lang="en-US" sz="2000" dirty="0" err="1" smtClean="0"/>
                        <a:t>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67146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76.98 ± 0.17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78.02 ± 0.09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err="1" smtClean="0"/>
                        <a:t>NoReg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66362964"/>
              </p:ext>
            </p:extLst>
          </p:nvPr>
        </p:nvGraphicFramePr>
        <p:xfrm>
          <a:off x="5767749" y="1684902"/>
          <a:ext cx="4799932" cy="262828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29667"/>
                <a:gridCol w="1731424"/>
                <a:gridCol w="1238841"/>
              </a:tblGrid>
              <a:tr h="403267"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Cifar-100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Imagenet-30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21.93 ± 0.38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35.53 ± 0.18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H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705718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17.63 ± 0.49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29.76 ± 0.18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L1 </a:t>
                      </a:r>
                      <a:r>
                        <a:rPr lang="en-US" sz="2000" dirty="0" err="1" smtClean="0"/>
                        <a:t>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705718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18.23 ± 0.21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29.77 ± 0.17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smtClean="0"/>
                        <a:t>L12 </a:t>
                      </a:r>
                      <a:r>
                        <a:rPr lang="en-US" sz="2000" dirty="0" err="1" smtClean="0"/>
                        <a:t>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  <a:tr h="403267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18.23 ± 0.28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29.89 ± 0.16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dirty="0" err="1" smtClean="0"/>
                        <a:t>NoReg</a:t>
                      </a:r>
                      <a:endParaRPr lang="he-IL" sz="20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36232" y="1277697"/>
            <a:ext cx="3115746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Multi-Task</a:t>
            </a:r>
            <a:endParaRPr lang="he-IL" dirty="0"/>
          </a:p>
        </p:txBody>
      </p:sp>
      <p:sp>
        <p:nvSpPr>
          <p:cNvPr id="6" name="TextBox 5"/>
          <p:cNvSpPr txBox="1"/>
          <p:nvPr/>
        </p:nvSpPr>
        <p:spPr>
          <a:xfrm>
            <a:off x="6357212" y="1277697"/>
            <a:ext cx="3115746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Multi-Class</a:t>
            </a:r>
            <a:endParaRPr lang="he-IL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xmlns="" val="388063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1105230"/>
          </a:xfrm>
        </p:spPr>
        <p:txBody>
          <a:bodyPr>
            <a:noAutofit/>
          </a:bodyPr>
          <a:lstStyle/>
          <a:p>
            <a:r>
              <a:rPr lang="en-US" sz="3600" dirty="0" smtClean="0"/>
              <a:t>Mid-level features: results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>
          <a:xfrm>
            <a:off x="5524949" y="3363828"/>
            <a:ext cx="5429030" cy="2964801"/>
            <a:chOff x="4501599" y="2222084"/>
            <a:chExt cx="4642401" cy="268904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501599" y="2378915"/>
              <a:ext cx="4642401" cy="253221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5688419" y="2222084"/>
              <a:ext cx="2640798" cy="33498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 rtl="0"/>
              <a:r>
                <a:rPr lang="en-US" dirty="0" smtClean="0"/>
                <a:t>Caltech 256 Multi-Task</a:t>
              </a:r>
              <a:endParaRPr lang="he-IL" dirty="0"/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43</a:t>
            </a:fld>
            <a:endParaRPr lang="he-IL"/>
          </a:p>
        </p:txBody>
      </p:sp>
      <p:grpSp>
        <p:nvGrpSpPr>
          <p:cNvPr id="7" name="Group 15"/>
          <p:cNvGrpSpPr/>
          <p:nvPr/>
        </p:nvGrpSpPr>
        <p:grpSpPr>
          <a:xfrm>
            <a:off x="302090" y="3363828"/>
            <a:ext cx="5430909" cy="2996458"/>
            <a:chOff x="179512" y="1412776"/>
            <a:chExt cx="4644008" cy="271776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79512" y="1597442"/>
              <a:ext cx="4644008" cy="253309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367136" y="1412776"/>
              <a:ext cx="2424774" cy="33498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l" rtl="0"/>
              <a:r>
                <a:rPr lang="en-US" dirty="0" smtClean="0"/>
                <a:t>Caltech 101 Multi-Task</a:t>
              </a:r>
              <a:endParaRPr lang="he-IL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0" y="4352336"/>
            <a:ext cx="764647" cy="1093439"/>
          </a:xfrm>
          <a:prstGeom prst="rect">
            <a:avLst/>
          </a:prstGeom>
          <a:noFill/>
        </p:spPr>
        <p:txBody>
          <a:bodyPr vert="vert"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Average accuracy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4890905" y="6614007"/>
            <a:ext cx="1684187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Sample size</a:t>
            </a:r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628828" y="996462"/>
            <a:ext cx="9599867" cy="1669855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marL="325955" indent="-325955">
              <a:spcBef>
                <a:spcPts val="1369"/>
              </a:spcBef>
              <a:buFont typeface="Arial" pitchFamily="34" charset="0"/>
              <a:buChar char="•"/>
            </a:pPr>
            <a:r>
              <a:rPr lang="en-US" dirty="0" err="1" smtClean="0"/>
              <a:t>Gehler</a:t>
            </a:r>
            <a:r>
              <a:rPr lang="en-US" dirty="0" smtClean="0"/>
              <a:t> et al. (2009), achieve state of the art in multi-class recognition on both the caltech-101 and caltech-256 dataset. </a:t>
            </a:r>
          </a:p>
          <a:p>
            <a:pPr marL="325955" indent="-325955">
              <a:spcBef>
                <a:spcPts val="1369"/>
              </a:spcBef>
              <a:buFont typeface="Arial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class i</a:t>
            </a:r>
            <a:r>
              <a:rPr lang="en-US" dirty="0" smtClean="0"/>
              <a:t>s </a:t>
            </a:r>
            <a:r>
              <a:rPr lang="en-US" dirty="0"/>
              <a:t>represented by the set of </a:t>
            </a:r>
            <a:r>
              <a:rPr lang="en-US" dirty="0" smtClean="0"/>
              <a:t>classifiers trained </a:t>
            </a:r>
            <a:r>
              <a:rPr lang="en-US" dirty="0"/>
              <a:t>to distinguish this specific class from the </a:t>
            </a:r>
            <a:r>
              <a:rPr lang="en-US" dirty="0" smtClean="0"/>
              <a:t>rest of </a:t>
            </a:r>
            <a:r>
              <a:rPr lang="en-US" dirty="0"/>
              <a:t>the classes. Thus, each class has its own </a:t>
            </a:r>
            <a:r>
              <a:rPr lang="en-US" dirty="0" smtClean="0"/>
              <a:t>representation based </a:t>
            </a:r>
            <a:r>
              <a:rPr lang="en-US" dirty="0"/>
              <a:t>on its unique set of classifiers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44415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1265250"/>
          </a:xfrm>
        </p:spPr>
        <p:txBody>
          <a:bodyPr>
            <a:noAutofit/>
          </a:bodyPr>
          <a:lstStyle/>
          <a:p>
            <a:r>
              <a:rPr lang="en-US" sz="3600" dirty="0" smtClean="0"/>
              <a:t>Mid-level features: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46082290"/>
              </p:ext>
            </p:extLst>
          </p:nvPr>
        </p:nvGraphicFramePr>
        <p:xfrm>
          <a:off x="799395" y="2566049"/>
          <a:ext cx="2807947" cy="293438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453100"/>
                <a:gridCol w="1354847"/>
              </a:tblGrid>
              <a:tr h="638507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Caltech-256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endParaRPr lang="he-IL" sz="18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42.54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H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41.50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L1 </a:t>
                      </a:r>
                      <a:r>
                        <a:rPr lang="en-US" sz="1800" dirty="0" err="1" smtClean="0"/>
                        <a:t>Reg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41.50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L12 </a:t>
                      </a:r>
                      <a:r>
                        <a:rPr lang="en-US" sz="1800" dirty="0" err="1" smtClean="0"/>
                        <a:t>Reg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41.50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err="1" smtClean="0"/>
                        <a:t>NoReg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</a:tr>
              <a:tr h="638507"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40.62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 smtClean="0"/>
                        <a:t>Original </a:t>
                      </a:r>
                      <a:r>
                        <a:rPr lang="en-US" sz="1800" dirty="0" err="1" smtClean="0"/>
                        <a:t>classemes</a:t>
                      </a:r>
                      <a:endParaRPr lang="he-IL" sz="18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76" y="1875220"/>
            <a:ext cx="3115746" cy="659322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Multi-Class using </a:t>
            </a:r>
            <a:r>
              <a:rPr lang="en-US" dirty="0" err="1" smtClean="0"/>
              <a:t>Classemes</a:t>
            </a:r>
            <a:endParaRPr lang="he-IL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44</a:t>
            </a:fld>
            <a:endParaRPr lang="he-IL"/>
          </a:p>
        </p:txBody>
      </p:sp>
      <p:sp>
        <p:nvSpPr>
          <p:cNvPr id="15" name="TextBox 14"/>
          <p:cNvSpPr txBox="1"/>
          <p:nvPr/>
        </p:nvSpPr>
        <p:spPr>
          <a:xfrm>
            <a:off x="4363630" y="1954612"/>
            <a:ext cx="6315702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Multi-Class using </a:t>
            </a:r>
            <a:r>
              <a:rPr lang="en-US" dirty="0" err="1" smtClean="0"/>
              <a:t>ObjBank</a:t>
            </a:r>
            <a:r>
              <a:rPr lang="en-US" dirty="0" smtClean="0"/>
              <a:t> on MIT-Indoor-Scene dataset</a:t>
            </a:r>
            <a:endParaRPr lang="he-IL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06329" y="2327883"/>
            <a:ext cx="6273003" cy="32361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00737" y="5777358"/>
            <a:ext cx="1684187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Sample size</a:t>
            </a:r>
            <a:endParaRPr lang="he-IL" dirty="0"/>
          </a:p>
        </p:txBody>
      </p:sp>
      <p:sp>
        <p:nvSpPr>
          <p:cNvPr id="17" name="TextBox 16"/>
          <p:cNvSpPr txBox="1"/>
          <p:nvPr/>
        </p:nvSpPr>
        <p:spPr>
          <a:xfrm>
            <a:off x="5009863" y="6184565"/>
            <a:ext cx="5220980" cy="659322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State of the art (also using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ObjBank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 37.6% we get 45.9%</a:t>
            </a:r>
            <a:endParaRPr lang="he-IL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60852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25955" indent="-325955">
              <a:buFont typeface="Arial" pitchFamily="34" charset="0"/>
              <a:buChar char="•"/>
            </a:pPr>
            <a:r>
              <a:rPr lang="en-US" dirty="0" smtClean="0"/>
              <a:t>Main objective: faster learning algorithm for dealing with larger dataset (more classes, more samples)</a:t>
            </a:r>
          </a:p>
          <a:p>
            <a:pPr marL="325955" indent="-325955">
              <a:buFont typeface="Arial" pitchFamily="34" charset="0"/>
              <a:buChar char="•"/>
            </a:pPr>
            <a:r>
              <a:rPr lang="en-US" dirty="0" smtClean="0"/>
              <a:t>Iterate over original algorithm for each new sample, where each level uses the current value of the previous level</a:t>
            </a:r>
          </a:p>
          <a:p>
            <a:pPr marL="325955" indent="-325955">
              <a:buFont typeface="Arial" pitchFamily="34" charset="0"/>
              <a:buChar char="•"/>
            </a:pPr>
            <a:r>
              <a:rPr lang="en-US" dirty="0" smtClean="0"/>
              <a:t>Solve each step of the algorithm using the online version presented in “Online learning for group Lasso”, Yang et al. 2011</a:t>
            </a:r>
          </a:p>
          <a:p>
            <a:pPr marL="325955" indent="-325955">
              <a:buNone/>
            </a:pPr>
            <a:r>
              <a:rPr lang="en-US" dirty="0" smtClean="0"/>
              <a:t>(we proved regret convergence)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46393" y="178154"/>
            <a:ext cx="9624060" cy="865200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Large Scale Experiment</a:t>
            </a:r>
            <a:endParaRPr lang="he-IL" sz="3600" b="1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46</a:t>
            </a:fld>
            <a:endParaRPr lang="he-IL" dirty="0"/>
          </a:p>
        </p:txBody>
      </p:sp>
      <p:sp>
        <p:nvSpPr>
          <p:cNvPr id="13" name="TextBox 12"/>
          <p:cNvSpPr txBox="1"/>
          <p:nvPr/>
        </p:nvSpPr>
        <p:spPr>
          <a:xfrm>
            <a:off x="462557" y="1240083"/>
            <a:ext cx="9684076" cy="659322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marL="325955" indent="-325955">
              <a:buFont typeface="Arial" pitchFamily="34" charset="0"/>
              <a:buChar char="•"/>
            </a:pPr>
            <a:r>
              <a:rPr lang="en-US" dirty="0" smtClean="0"/>
              <a:t>Experiment on 1000 classes from </a:t>
            </a:r>
            <a:r>
              <a:rPr lang="en-US" dirty="0" err="1" smtClean="0"/>
              <a:t>Imagenet</a:t>
            </a:r>
            <a:r>
              <a:rPr lang="en-US" dirty="0" smtClean="0"/>
              <a:t> with 3000 samples per class and 21000 features per sample.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9929" y="3567024"/>
            <a:ext cx="1178931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04606" y="5835063"/>
            <a:ext cx="2021025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pPr algn="ctr"/>
            <a:r>
              <a:rPr lang="en-US" dirty="0"/>
              <a:t>d</a:t>
            </a:r>
            <a:r>
              <a:rPr lang="en-US" dirty="0" smtClean="0"/>
              <a:t>ata repetitions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69527" y="2113396"/>
            <a:ext cx="8505145" cy="372166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4675876"/>
              </p:ext>
            </p:extLst>
          </p:nvPr>
        </p:nvGraphicFramePr>
        <p:xfrm>
          <a:off x="799393" y="6559357"/>
          <a:ext cx="7759734" cy="81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770"/>
                <a:gridCol w="1070808"/>
                <a:gridCol w="1293289"/>
                <a:gridCol w="1293289"/>
                <a:gridCol w="1293289"/>
                <a:gridCol w="1293289"/>
              </a:tblGrid>
              <a:tr h="40886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H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0.285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0.365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0.403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0.434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0.456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</a:tr>
              <a:tr h="40886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Zhao et al. 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0.221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0.302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0.366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0.411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0.435</a:t>
                      </a:r>
                      <a:endParaRPr lang="en-US" sz="2000" dirty="0"/>
                    </a:p>
                  </a:txBody>
                  <a:tcPr marL="106934" marR="106934" marT="50408" marB="50408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56396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9340" y="302801"/>
            <a:ext cx="9089390" cy="95449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Online algorithm</a:t>
            </a:r>
            <a:endParaRPr lang="he-IL" sz="3600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71D6-25BA-492C-8F96-EE5AD2485483}" type="slidenum">
              <a:rPr lang="he-IL" smtClean="0"/>
              <a:pPr/>
              <a:t>47</a:t>
            </a:fld>
            <a:endParaRPr lang="he-IL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4048" y="2701887"/>
            <a:ext cx="4842038" cy="24858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5028" y="2669698"/>
            <a:ext cx="4968352" cy="2572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7189" y="2359374"/>
            <a:ext cx="2694699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dirty="0" smtClean="0"/>
              <a:t>Single data pass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6369226" y="2359374"/>
            <a:ext cx="3410479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l" rtl="0"/>
            <a:r>
              <a:rPr lang="en-US" dirty="0" smtClean="0"/>
              <a:t>10 repetitions of all samples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xmlns="" val="127576965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063" y="0"/>
            <a:ext cx="9089390" cy="1125415"/>
          </a:xfrm>
        </p:spPr>
        <p:txBody>
          <a:bodyPr/>
          <a:lstStyle/>
          <a:p>
            <a:r>
              <a:rPr lang="en-US" dirty="0" smtClean="0"/>
              <a:t>Knowledge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33046" y="1184031"/>
            <a:ext cx="9525684" cy="592015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200" b="1" dirty="0" smtClean="0"/>
              <a:t>	</a:t>
            </a:r>
            <a:r>
              <a:rPr lang="en-US" sz="3200" i="1" dirty="0" smtClean="0"/>
              <a:t>A different setting for sharing</a:t>
            </a:r>
            <a:r>
              <a:rPr lang="en-US" sz="3200" dirty="0" smtClean="0"/>
              <a:t>: share information between pre-trained models and a new learning task (typically small sample settings).</a:t>
            </a:r>
          </a:p>
          <a:p>
            <a:endParaRPr lang="en-US" dirty="0" smtClean="0"/>
          </a:p>
          <a:p>
            <a:r>
              <a:rPr lang="en-US" dirty="0" smtClean="0"/>
              <a:t>Extension of both batch and online algorithms, but online extension is more natural</a:t>
            </a:r>
          </a:p>
          <a:p>
            <a:r>
              <a:rPr lang="en-US" dirty="0" smtClean="0"/>
              <a:t>Gets as input the implicit hierarchy computed during training with the known classes</a:t>
            </a:r>
          </a:p>
          <a:p>
            <a:r>
              <a:rPr lang="en-US" dirty="0" smtClean="0"/>
              <a:t>When examples from a new task arrive:</a:t>
            </a:r>
          </a:p>
          <a:p>
            <a:pPr lvl="1"/>
            <a:r>
              <a:rPr lang="en-US" dirty="0" smtClean="0"/>
              <a:t>The online learning algorithms continues from where it stopped</a:t>
            </a:r>
          </a:p>
          <a:p>
            <a:pPr lvl="1"/>
            <a:r>
              <a:rPr lang="en-US" dirty="0" smtClean="0"/>
              <a:t>The matrix of weights is enlarged to include the new task, and the weights of the new task are initialized</a:t>
            </a:r>
          </a:p>
          <a:p>
            <a:pPr lvl="1"/>
            <a:r>
              <a:rPr lang="en-US" dirty="0" smtClean="0"/>
              <a:t>Sub-gradients of known classes are not changed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40678"/>
            <a:ext cx="9089390" cy="961292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Knowledge Transfer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57220952"/>
              </p:ext>
            </p:extLst>
          </p:nvPr>
        </p:nvGraphicFramePr>
        <p:xfrm>
          <a:off x="3053769" y="3815611"/>
          <a:ext cx="865937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  <a:gridCol w="218533"/>
                <a:gridCol w="214436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62721534"/>
              </p:ext>
            </p:extLst>
          </p:nvPr>
        </p:nvGraphicFramePr>
        <p:xfrm>
          <a:off x="4176599" y="3797331"/>
          <a:ext cx="849974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19528"/>
                <a:gridCol w="213440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4933097"/>
              </p:ext>
            </p:extLst>
          </p:nvPr>
        </p:nvGraphicFramePr>
        <p:xfrm>
          <a:off x="5226373" y="3797331"/>
          <a:ext cx="869353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  <a:gridCol w="235863"/>
                <a:gridCol w="200522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71674391"/>
              </p:ext>
            </p:extLst>
          </p:nvPr>
        </p:nvGraphicFramePr>
        <p:xfrm>
          <a:off x="6308746" y="3815611"/>
          <a:ext cx="852023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  <a:gridCol w="218533"/>
                <a:gridCol w="200522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36519" y="4120079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=</a:t>
            </a:r>
            <a:endParaRPr lang="he-IL" sz="16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020069" y="4120079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103618" y="4120079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2810166"/>
              </p:ext>
            </p:extLst>
          </p:nvPr>
        </p:nvGraphicFramePr>
        <p:xfrm>
          <a:off x="1742671" y="5942227"/>
          <a:ext cx="1002610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  <a:gridCol w="200522"/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91798022"/>
              </p:ext>
            </p:extLst>
          </p:nvPr>
        </p:nvGraphicFramePr>
        <p:xfrm>
          <a:off x="2877683" y="5942227"/>
          <a:ext cx="1002610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  <a:gridCol w="200522"/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1684923"/>
              </p:ext>
            </p:extLst>
          </p:nvPr>
        </p:nvGraphicFramePr>
        <p:xfrm>
          <a:off x="4004979" y="5942227"/>
          <a:ext cx="1002610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  <a:gridCol w="200522"/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80" y="6277344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861783" y="6277344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71772878"/>
              </p:ext>
            </p:extLst>
          </p:nvPr>
        </p:nvGraphicFramePr>
        <p:xfrm>
          <a:off x="6217161" y="5942227"/>
          <a:ext cx="216484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48262954"/>
              </p:ext>
            </p:extLst>
          </p:nvPr>
        </p:nvGraphicFramePr>
        <p:xfrm>
          <a:off x="7021346" y="5942227"/>
          <a:ext cx="432968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02775401"/>
              </p:ext>
            </p:extLst>
          </p:nvPr>
        </p:nvGraphicFramePr>
        <p:xfrm>
          <a:off x="8446336" y="5942227"/>
          <a:ext cx="860500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16484"/>
                <a:gridCol w="227010"/>
                <a:gridCol w="200522"/>
                <a:gridCol w="216484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33645" y="6268418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7485884" y="6275751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+</a:t>
            </a:r>
            <a:endParaRPr lang="he-IL" sz="1600" b="1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29343883"/>
              </p:ext>
            </p:extLst>
          </p:nvPr>
        </p:nvGraphicFramePr>
        <p:xfrm>
          <a:off x="5981686" y="5942227"/>
          <a:ext cx="200522" cy="13523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60162425"/>
              </p:ext>
            </p:extLst>
          </p:nvPr>
        </p:nvGraphicFramePr>
        <p:xfrm>
          <a:off x="6563925" y="5942227"/>
          <a:ext cx="401044" cy="13523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11389929"/>
              </p:ext>
            </p:extLst>
          </p:nvPr>
        </p:nvGraphicFramePr>
        <p:xfrm>
          <a:off x="7595962" y="5942227"/>
          <a:ext cx="802088" cy="13523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>
            <a:off x="2733634" y="4982878"/>
            <a:ext cx="1679753" cy="66982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601794" y="4997404"/>
            <a:ext cx="1330574" cy="66982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11976" y="4997406"/>
            <a:ext cx="1817930" cy="251611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400" b="1" dirty="0"/>
              <a:t>Online KT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7280" y="4968435"/>
            <a:ext cx="1806285" cy="251611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400" b="1" dirty="0"/>
              <a:t>Batch KT 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020" y="3591366"/>
            <a:ext cx="1050312" cy="282389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600" b="1" dirty="0"/>
              <a:t>1  .   .   .  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2174" y="6277344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=</a:t>
            </a:r>
            <a:endParaRPr lang="he-IL" sz="1600" b="1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6874313"/>
              </p:ext>
            </p:extLst>
          </p:nvPr>
        </p:nvGraphicFramePr>
        <p:xfrm>
          <a:off x="5600951" y="5957174"/>
          <a:ext cx="200522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C0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828210" y="6268418"/>
            <a:ext cx="279626" cy="282389"/>
          </a:xfrm>
          <a:prstGeom prst="rect">
            <a:avLst/>
          </a:prstGeom>
          <a:noFill/>
        </p:spPr>
        <p:txBody>
          <a:bodyPr wrap="square" lIns="35817" tIns="17909" rIns="35817" bIns="17909" rtlCol="1">
            <a:spAutoFit/>
          </a:bodyPr>
          <a:lstStyle/>
          <a:p>
            <a:pPr algn="l" rtl="0"/>
            <a:r>
              <a:rPr lang="en-US" sz="1600" b="1" dirty="0"/>
              <a:t>=</a:t>
            </a:r>
            <a:endParaRPr lang="he-IL" sz="1600" b="1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20962747"/>
              </p:ext>
            </p:extLst>
          </p:nvPr>
        </p:nvGraphicFramePr>
        <p:xfrm>
          <a:off x="573087" y="5945671"/>
          <a:ext cx="1002610" cy="946645"/>
        </p:xfrm>
        <a:graphic>
          <a:graphicData uri="http://schemas.openxmlformats.org/drawingml/2006/table">
            <a:tbl>
              <a:tblPr rtl="1">
                <a:tableStyleId>{073A0DAA-6AF3-43AB-8588-CEC1D06C72B9}</a:tableStyleId>
              </a:tblPr>
              <a:tblGrid>
                <a:gridCol w="200522"/>
                <a:gridCol w="200522"/>
                <a:gridCol w="200522"/>
                <a:gridCol w="200522"/>
                <a:gridCol w="200522"/>
              </a:tblGrid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  <a:tr h="135235"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n-US" sz="500" dirty="0" smtClean="0"/>
                    </a:p>
                  </a:txBody>
                  <a:tcPr marL="87561" marR="87561" marT="28823" marB="28823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he-IL" sz="500" dirty="0"/>
                    </a:p>
                  </a:txBody>
                  <a:tcPr marL="87561" marR="87561" marT="28823" marB="28823"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525054" y="5744049"/>
            <a:ext cx="525156" cy="236223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300" b="1" dirty="0"/>
              <a:t>K+1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7504" y="5744049"/>
            <a:ext cx="525156" cy="236223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300" b="1" dirty="0"/>
              <a:t>K+1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8511" y="5740366"/>
            <a:ext cx="525156" cy="236223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300" b="1" dirty="0"/>
              <a:t>K+1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7015" y="5744049"/>
            <a:ext cx="525156" cy="236223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300" b="1" dirty="0"/>
              <a:t>K+1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0002" y="5693997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α</a:t>
            </a:r>
            <a:endParaRPr lang="en-US" sz="17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7941780" y="5693997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α</a:t>
            </a:r>
            <a:endParaRPr lang="en-US" sz="17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657047" y="5701958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α</a:t>
            </a:r>
            <a:endParaRPr lang="en-US" sz="17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8715771" y="5693997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π</a:t>
            </a:r>
            <a:endParaRPr lang="en-US" sz="17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138307" y="5693997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π</a:t>
            </a:r>
            <a:endParaRPr lang="en-US" sz="17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6207280" y="5693997"/>
            <a:ext cx="239258" cy="297778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l-GR" sz="1700" b="1" dirty="0"/>
              <a:t>π</a:t>
            </a:r>
            <a:endParaRPr lang="en-US" sz="17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2853321" y="1349840"/>
            <a:ext cx="4924202" cy="2093512"/>
            <a:chOff x="5720145" y="1485008"/>
            <a:chExt cx="13262005" cy="4951254"/>
          </a:xfrm>
        </p:grpSpPr>
        <p:grpSp>
          <p:nvGrpSpPr>
            <p:cNvPr id="43" name="Group 151"/>
            <p:cNvGrpSpPr/>
            <p:nvPr/>
          </p:nvGrpSpPr>
          <p:grpSpPr>
            <a:xfrm>
              <a:off x="5720145" y="2170701"/>
              <a:ext cx="4864516" cy="4265561"/>
              <a:chOff x="1858107" y="1631384"/>
              <a:chExt cx="6010140" cy="5885734"/>
            </a:xfrm>
          </p:grpSpPr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5169520" y="3718271"/>
                <a:ext cx="2461311" cy="3281745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858107" y="1737200"/>
                <a:ext cx="3311413" cy="2483561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2753608" y="3602933"/>
                <a:ext cx="2903021" cy="3914185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4302324" y="1631384"/>
                <a:ext cx="3565923" cy="2339244"/>
              </a:xfrm>
              <a:prstGeom prst="rect">
                <a:avLst/>
              </a:prstGeom>
            </p:spPr>
          </p:pic>
        </p:grpSp>
        <p:grpSp>
          <p:nvGrpSpPr>
            <p:cNvPr id="44" name="Group 152"/>
            <p:cNvGrpSpPr/>
            <p:nvPr/>
          </p:nvGrpSpPr>
          <p:grpSpPr>
            <a:xfrm>
              <a:off x="14983729" y="2170701"/>
              <a:ext cx="3998421" cy="3565958"/>
              <a:chOff x="11824986" y="4526036"/>
              <a:chExt cx="4940074" cy="4920404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1824986" y="7611837"/>
                <a:ext cx="2754660" cy="1834603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3937205" y="4526036"/>
                <a:ext cx="2390455" cy="3178796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3807380" y="7462186"/>
                <a:ext cx="2957680" cy="1898830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11843540" y="4558848"/>
                <a:ext cx="2105344" cy="3138401"/>
              </a:xfrm>
              <a:prstGeom prst="rect">
                <a:avLst/>
              </a:prstGeom>
            </p:spPr>
          </p:pic>
        </p:grpSp>
        <p:sp>
          <p:nvSpPr>
            <p:cNvPr id="45" name="TextBox 44"/>
            <p:cNvSpPr txBox="1"/>
            <p:nvPr/>
          </p:nvSpPr>
          <p:spPr>
            <a:xfrm>
              <a:off x="7060247" y="1485008"/>
              <a:ext cx="2336177" cy="837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b="1" dirty="0"/>
                <a:t>Task 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5873205" y="1485008"/>
              <a:ext cx="2228941" cy="837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b="1" dirty="0"/>
                <a:t>Task K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11603363" y="3866019"/>
              <a:ext cx="233129" cy="1812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12769007" y="3885828"/>
              <a:ext cx="233129" cy="1812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13934650" y="3866019"/>
              <a:ext cx="233129" cy="1812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Left Bracket 57"/>
          <p:cNvSpPr/>
          <p:nvPr/>
        </p:nvSpPr>
        <p:spPr>
          <a:xfrm>
            <a:off x="2243031" y="2279259"/>
            <a:ext cx="437130" cy="1840820"/>
          </a:xfrm>
          <a:prstGeom prst="leftBracket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lIns="35817" tIns="17909" rIns="35817" bIns="17909" rtlCol="0" anchor="ctr"/>
          <a:lstStyle/>
          <a:p>
            <a:pPr algn="ctr"/>
            <a:endParaRPr lang="en-US" sz="3900" dirty="0"/>
          </a:p>
        </p:txBody>
      </p:sp>
      <p:sp>
        <p:nvSpPr>
          <p:cNvPr id="59" name="TextBox 58"/>
          <p:cNvSpPr txBox="1"/>
          <p:nvPr/>
        </p:nvSpPr>
        <p:spPr>
          <a:xfrm>
            <a:off x="1758679" y="3024411"/>
            <a:ext cx="524482" cy="282389"/>
          </a:xfrm>
          <a:prstGeom prst="rect">
            <a:avLst/>
          </a:prstGeom>
          <a:noFill/>
        </p:spPr>
        <p:txBody>
          <a:bodyPr wrap="square" lIns="35817" tIns="17909" rIns="35817" bIns="17909" rtlCol="0">
            <a:spAutoFit/>
          </a:bodyPr>
          <a:lstStyle/>
          <a:p>
            <a:r>
              <a:rPr lang="en-US" sz="1600" b="1" dirty="0"/>
              <a:t>MTL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8" grpId="0"/>
      <p:bldP spid="19" grpId="0"/>
      <p:bldP spid="25" grpId="0"/>
      <p:bldP spid="26" grpId="0"/>
      <p:bldP spid="27" grpId="0"/>
      <p:bldP spid="28" grpId="0"/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58" grpId="0" animBg="1"/>
      <p:bldP spid="5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49200"/>
            <a:ext cx="9624060" cy="912092"/>
          </a:xfrm>
        </p:spPr>
        <p:txBody>
          <a:bodyPr>
            <a:normAutofit/>
          </a:bodyPr>
          <a:lstStyle/>
          <a:p>
            <a:pPr rtl="0"/>
            <a:r>
              <a:rPr lang="en-US" sz="4000" dirty="0" smtClean="0"/>
              <a:t>Knowledge Transfer (</a:t>
            </a:r>
            <a:r>
              <a:rPr lang="en-US" sz="4000" dirty="0" err="1" smtClean="0"/>
              <a:t>imagenet</a:t>
            </a:r>
            <a:r>
              <a:rPr lang="en-US" sz="4000" dirty="0" smtClean="0"/>
              <a:t> dataset)</a:t>
            </a:r>
            <a:endParaRPr lang="he-IL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09929" y="7030104"/>
            <a:ext cx="2495127" cy="402567"/>
          </a:xfrm>
        </p:spPr>
        <p:txBody>
          <a:bodyPr/>
          <a:lstStyle/>
          <a:p>
            <a:fld id="{0D7D71D6-25BA-492C-8F96-EE5AD2485483}" type="slidenum">
              <a:rPr lang="he-IL" smtClean="0"/>
              <a:pPr/>
              <a:t>50</a:t>
            </a:fld>
            <a:endParaRPr lang="he-I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57143" y="3939416"/>
            <a:ext cx="6942140" cy="30377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94117" y="843122"/>
            <a:ext cx="6905167" cy="3021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740" y="5051075"/>
            <a:ext cx="1178931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5740" y="2150294"/>
            <a:ext cx="1178931" cy="382324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04607" y="7043341"/>
            <a:ext cx="1684187" cy="382324"/>
          </a:xfrm>
          <a:prstGeom prst="rect">
            <a:avLst/>
          </a:prstGeom>
          <a:noFill/>
        </p:spPr>
        <p:txBody>
          <a:bodyPr wrap="square" lIns="104306" tIns="52153" rIns="104306" bIns="52153" rtlCol="1">
            <a:spAutoFit/>
          </a:bodyPr>
          <a:lstStyle/>
          <a:p>
            <a:pPr algn="ctr" rtl="0"/>
            <a:r>
              <a:rPr lang="en-US" dirty="0" smtClean="0"/>
              <a:t>Sample size</a:t>
            </a:r>
            <a:endParaRPr lang="he-IL" dirty="0"/>
          </a:p>
        </p:txBody>
      </p:sp>
      <p:sp>
        <p:nvSpPr>
          <p:cNvPr id="11" name="TextBox 10"/>
          <p:cNvSpPr txBox="1"/>
          <p:nvPr/>
        </p:nvSpPr>
        <p:spPr>
          <a:xfrm>
            <a:off x="8451313" y="1844890"/>
            <a:ext cx="2273653" cy="936321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Large scale:</a:t>
            </a:r>
          </a:p>
          <a:p>
            <a:r>
              <a:rPr lang="en-US" dirty="0" smtClean="0"/>
              <a:t>900 known tasks</a:t>
            </a:r>
          </a:p>
          <a:p>
            <a:r>
              <a:rPr lang="en-US" dirty="0" smtClean="0"/>
              <a:t>21000 feature dim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9747" y="4745671"/>
            <a:ext cx="2273653" cy="936321"/>
          </a:xfrm>
          <a:prstGeom prst="rect">
            <a:avLst/>
          </a:prstGeom>
          <a:noFill/>
        </p:spPr>
        <p:txBody>
          <a:bodyPr wrap="square" lIns="104306" tIns="52153" rIns="104306" bIns="52153" rtlCol="0">
            <a:spAutoFit/>
          </a:bodyPr>
          <a:lstStyle/>
          <a:p>
            <a:r>
              <a:rPr lang="en-US" dirty="0" smtClean="0"/>
              <a:t>Medium scale:</a:t>
            </a:r>
          </a:p>
          <a:p>
            <a:r>
              <a:rPr lang="en-US" dirty="0" smtClean="0"/>
              <a:t>31known tasks</a:t>
            </a:r>
          </a:p>
          <a:p>
            <a:r>
              <a:rPr lang="en-US" dirty="0" smtClean="0"/>
              <a:t>1000 feature dim</a:t>
            </a:r>
          </a:p>
        </p:txBody>
      </p:sp>
    </p:spTree>
    <p:extLst>
      <p:ext uri="{BB962C8B-B14F-4D97-AF65-F5344CB8AC3E}">
        <p14:creationId xmlns:p14="http://schemas.microsoft.com/office/powerpoint/2010/main" xmlns="" val="12647351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70" y="0"/>
            <a:ext cx="9089390" cy="1260211"/>
          </a:xfrm>
        </p:spPr>
        <p:txBody>
          <a:bodyPr/>
          <a:lstStyle/>
          <a:p>
            <a:r>
              <a:rPr lang="en-US" dirty="0" smtClean="0"/>
              <a:t>Results with Cifar-100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8152" y="1335722"/>
            <a:ext cx="7750452" cy="4950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00100" y="6595110"/>
            <a:ext cx="8036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Plotted values: accuracy of online method – accuracy of respective methods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4 new classes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81064" y="1268020"/>
            <a:ext cx="9089390" cy="53320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Bayesian surprise: an approach to detecting “interesting” novel events, and its application to video surveillance; ACCV 2010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Incongruent events: another (very different) approach to the detection of interesting novel events; we focus on Hierarchy discovery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Foreground/Background Segregation in Still Images (not object specific)</a:t>
            </a:r>
            <a:r>
              <a:rPr lang="en-US" dirty="0" smtClean="0"/>
              <a:t>; ICCV 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smtClean="0"/>
              <a:t>Extracting Foreground Masks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81770" y="1889344"/>
            <a:ext cx="9457983" cy="5040842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Segmentation and recognition: which one comes first?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Bottom up: known segmentation improves recognition rates</a:t>
            </a:r>
          </a:p>
          <a:p>
            <a:pPr lvl="1"/>
            <a:r>
              <a:rPr lang="en-US" dirty="0" smtClean="0"/>
              <a:t>Top down: Known object identity improves segmentation accuracy (“</a:t>
            </a:r>
            <a:r>
              <a:rPr lang="en-US" sz="1800" dirty="0" smtClean="0"/>
              <a:t>stimulus familiarity influenced segmentation per se</a:t>
            </a:r>
            <a:r>
              <a:rPr lang="en-US" dirty="0" smtClean="0"/>
              <a:t>”)</a:t>
            </a:r>
          </a:p>
          <a:p>
            <a:pPr lvl="1"/>
            <a:endParaRPr lang="en-US" dirty="0" smtClean="0"/>
          </a:p>
          <a:p>
            <a:pPr lvl="1"/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proposal</a:t>
            </a: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top down figure-ground segregation, which is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object specific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Desired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bottom up segmentation, over-segmentation typically occurs, where objects are divided into many segments; we wish segments to align with object boundaries (as in top down approach)</a:t>
            </a:r>
          </a:p>
          <a:p>
            <a:endParaRPr lang="en-US" dirty="0" smtClean="0"/>
          </a:p>
          <a:p>
            <a:r>
              <a:rPr lang="en-US" dirty="0" smtClean="0"/>
              <a:t>Top down segmentation depends on each individual object; we want this pre-processing stage to be image-based rather than object based (as in bottom up approach)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overview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2695" y="1550942"/>
            <a:ext cx="7009408" cy="5255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1614663" y="3422321"/>
            <a:ext cx="3024336" cy="3456384"/>
            <a:chOff x="1403648" y="3140968"/>
            <a:chExt cx="3024336" cy="3456384"/>
          </a:xfrm>
          <a:solidFill>
            <a:schemeClr val="bg1"/>
          </a:solidFill>
        </p:grpSpPr>
        <p:sp>
          <p:nvSpPr>
            <p:cNvPr id="6" name="Rectangle 5"/>
            <p:cNvSpPr/>
            <p:nvPr/>
          </p:nvSpPr>
          <p:spPr>
            <a:xfrm>
              <a:off x="1403648" y="3140968"/>
              <a:ext cx="2808312" cy="34563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067944" y="5517232"/>
              <a:ext cx="360040" cy="10801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image representation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9975" y="2586949"/>
            <a:ext cx="9088438" cy="306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25969" y="2074985"/>
            <a:ext cx="96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49662" y="2121878"/>
            <a:ext cx="1652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Super-pixels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prior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5216" y="4161692"/>
            <a:ext cx="9089390" cy="3012668"/>
          </a:xfrm>
        </p:spPr>
        <p:txBody>
          <a:bodyPr/>
          <a:lstStyle/>
          <a:p>
            <a:r>
              <a:rPr lang="en-US" dirty="0" smtClean="0"/>
              <a:t>Find k-nearest-neighbor images based on Gist descriptor</a:t>
            </a:r>
          </a:p>
          <a:p>
            <a:r>
              <a:rPr lang="en-US" dirty="0" smtClean="0"/>
              <a:t>Obtain non-parametric estimate of foreground probability mask by averaging those images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473" y="2007662"/>
            <a:ext cx="10316996" cy="1842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similarity prior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063" y="1717643"/>
            <a:ext cx="9047332" cy="179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1145739" y="3588078"/>
            <a:ext cx="9229183" cy="25096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marL="432000" marR="0" lvl="0" indent="-324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>
                <a:srgbClr val="3891A7"/>
              </a:buClr>
              <a:buSzPct val="45000"/>
              <a:buFont typeface="StarSymbol"/>
              <a:buChar char="●"/>
              <a:tabLst/>
              <a:defRPr/>
            </a:pPr>
            <a:r>
              <a:rPr lang="en-US" sz="3200" dirty="0" smtClean="0">
                <a:solidFill>
                  <a:srgbClr val="000000"/>
                </a:solidFill>
                <a:latin typeface="Arial" pitchFamily="18"/>
                <a:ea typeface="SimSun" pitchFamily="2"/>
                <a:cs typeface="Tahoma" pitchFamily="2"/>
              </a:rPr>
              <a:t>Represent images with bag of words (based on PHOW descriptors) </a:t>
            </a:r>
          </a:p>
          <a:p>
            <a:pPr marL="432000" marR="0" lvl="0" indent="-324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>
                <a:srgbClr val="3891A7"/>
              </a:buClr>
              <a:buSzPct val="45000"/>
              <a:buFont typeface="StarSymbol"/>
              <a:buChar char="●"/>
              <a:tabLst/>
              <a:defRPr/>
            </a:pPr>
            <a:r>
              <a:rPr lang="en-US" sz="3200" dirty="0" smtClean="0">
                <a:solidFill>
                  <a:srgbClr val="000000"/>
                </a:solidFill>
                <a:latin typeface="Arial" pitchFamily="18"/>
                <a:ea typeface="SimSun" pitchFamily="2"/>
                <a:cs typeface="Tahoma" pitchFamily="2"/>
              </a:rPr>
              <a:t>Assign each word a probability to be in either background or foreground </a:t>
            </a:r>
          </a:p>
          <a:p>
            <a:pPr marL="432000" marR="0" lvl="0" indent="-324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>
                <a:srgbClr val="3891A7"/>
              </a:buClr>
              <a:buSzPct val="45000"/>
              <a:buFont typeface="StarSymbol"/>
              <a:buChar char="●"/>
              <a:tabLst/>
              <a:defRPr/>
            </a:pPr>
            <a:r>
              <a:rPr lang="en-US" sz="3200" dirty="0" smtClean="0">
                <a:solidFill>
                  <a:srgbClr val="000000"/>
                </a:solidFill>
                <a:latin typeface="Arial" pitchFamily="18"/>
                <a:ea typeface="SimSun" pitchFamily="2"/>
                <a:cs typeface="Tahoma" pitchFamily="2"/>
              </a:rPr>
              <a:t>Assign a word and its respective probability to each pixel (based on the pixel’s descriptor)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18"/>
              <a:ea typeface="SimSun" pitchFamily="2"/>
              <a:cs typeface="Tahoma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666" y="2002120"/>
            <a:ext cx="10462734" cy="478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469985" y="1388962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Geometrically similar images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24936" y="1414039"/>
            <a:ext cx="251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Visually similar images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785" y="0"/>
            <a:ext cx="9329029" cy="126021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Graphical model description of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69340" y="1301262"/>
            <a:ext cx="9089390" cy="586153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Minimize the following energy function: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where</a:t>
            </a:r>
          </a:p>
          <a:p>
            <a:r>
              <a:rPr lang="en-US" dirty="0" smtClean="0"/>
              <a:t>Nodes are super-pixels</a:t>
            </a:r>
          </a:p>
          <a:p>
            <a:r>
              <a:rPr lang="en-US" dirty="0" smtClean="0"/>
              <a:t>Unary term – average geometric and visual priors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Binary terms depend on color difference and boundary length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67" y="1912204"/>
            <a:ext cx="98488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5693" y="4437504"/>
            <a:ext cx="8630138" cy="140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302802"/>
            <a:ext cx="9089390" cy="1057076"/>
          </a:xfrm>
        </p:spPr>
        <p:txBody>
          <a:bodyPr/>
          <a:lstStyle/>
          <a:p>
            <a:pPr algn="ctr"/>
            <a:r>
              <a:rPr lang="en-US" dirty="0" smtClean="0"/>
              <a:t>Graph-cut of energy function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1663" y="2093913"/>
            <a:ext cx="44100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from VOC09,10: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241" y="1742822"/>
            <a:ext cx="10034649" cy="4544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423686" y="6852213"/>
            <a:ext cx="487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(note: foreground mask can be </a:t>
            </a:r>
            <a:r>
              <a:rPr lang="en-US" dirty="0" err="1" smtClean="0"/>
              <a:t>discontiguous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302802"/>
            <a:ext cx="9089390" cy="7273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Results 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8767" y="955796"/>
            <a:ext cx="7458075" cy="597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4329" y="1707729"/>
            <a:ext cx="5400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489" y="0"/>
            <a:ext cx="9089390" cy="1120885"/>
          </a:xfrm>
        </p:spPr>
        <p:txBody>
          <a:bodyPr/>
          <a:lstStyle/>
          <a:p>
            <a:pPr algn="ctr"/>
            <a:r>
              <a:rPr lang="en-US" dirty="0" smtClean="0"/>
              <a:t>Mean segment overlap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18573" y="3958543"/>
            <a:ext cx="8333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CPMC: </a:t>
            </a:r>
            <a:r>
              <a:rPr lang="fr-FR" dirty="0" err="1" smtClean="0"/>
              <a:t>Generate</a:t>
            </a:r>
            <a:r>
              <a:rPr lang="fr-FR" dirty="0" smtClean="0"/>
              <a:t> </a:t>
            </a:r>
            <a:r>
              <a:rPr lang="fr-FR" dirty="0" err="1" smtClean="0"/>
              <a:t>many</a:t>
            </a:r>
            <a:r>
              <a:rPr lang="fr-FR" dirty="0" smtClean="0"/>
              <a:t> possible segmentations, </a:t>
            </a:r>
            <a:r>
              <a:rPr lang="fr-FR" dirty="0" err="1" smtClean="0"/>
              <a:t>takes</a:t>
            </a:r>
            <a:r>
              <a:rPr lang="fr-FR" dirty="0" smtClean="0"/>
              <a:t> minutes </a:t>
            </a:r>
            <a:r>
              <a:rPr lang="fr-FR" dirty="0" err="1" smtClean="0"/>
              <a:t>instead</a:t>
            </a:r>
            <a:r>
              <a:rPr lang="fr-FR" dirty="0" smtClean="0"/>
              <a:t> of seconds</a:t>
            </a:r>
            <a:endParaRPr lang="en-US" dirty="0" smtClean="0"/>
          </a:p>
          <a:p>
            <a:r>
              <a:rPr lang="en-US" dirty="0" smtClean="0"/>
              <a:t>J. </a:t>
            </a:r>
            <a:r>
              <a:rPr lang="en-US" dirty="0" err="1" smtClean="0"/>
              <a:t>Carreira</a:t>
            </a:r>
            <a:r>
              <a:rPr lang="en-US" dirty="0" smtClean="0"/>
              <a:t> and C. </a:t>
            </a:r>
            <a:r>
              <a:rPr lang="en-US" dirty="0" err="1" smtClean="0"/>
              <a:t>Sminchisescu</a:t>
            </a:r>
            <a:r>
              <a:rPr lang="en-US" dirty="0" smtClean="0"/>
              <a:t>. Constrained parametric min-cuts for automatic object segmentation. In Computer Vision and Pattern Recognition (CVPR), 2010 IEEE Conference </a:t>
            </a:r>
            <a:r>
              <a:rPr lang="fr-FR" dirty="0" smtClean="0"/>
              <a:t>on, pages 3241–3248. IEEE, 2010.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641" y="559906"/>
            <a:ext cx="6474549" cy="4711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489" y="0"/>
            <a:ext cx="9089390" cy="1120885"/>
          </a:xfrm>
        </p:spPr>
        <p:txBody>
          <a:bodyPr/>
          <a:lstStyle/>
          <a:p>
            <a:pPr algn="ctr"/>
            <a:r>
              <a:rPr lang="en-US" dirty="0" smtClean="0"/>
              <a:t>The priors are not </a:t>
            </a:r>
            <a:r>
              <a:rPr lang="en-US" smtClean="0"/>
              <a:t>always helpful</a:t>
            </a:r>
            <a:endParaRPr 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1683" y="5057579"/>
            <a:ext cx="5881246" cy="225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171726" y="4710896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Appearance only: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34765" y="353620"/>
            <a:ext cx="9370876" cy="417208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Bayesian surprise: an approach to detecting “interesting” novel events, and its application to video surveillance; </a:t>
            </a:r>
            <a:r>
              <a:rPr lang="en-US" sz="2800" dirty="0" smtClean="0"/>
              <a:t>ACCV 2010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Incongruent events: another (very different) approach to the detection of interesting novel events; we focus on Hierarchy discovery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Foreground/Background Segregation in Still Images (not object specific); </a:t>
            </a:r>
            <a:r>
              <a:rPr lang="en-US" sz="2800" dirty="0" smtClean="0"/>
              <a:t>ICCV 2011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94358" y="4880609"/>
            <a:ext cx="2325520" cy="2430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3_Standarddesign">
  <a:themeElements>
    <a:clrScheme name="Standarddesign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Standarddesign">
      <a:majorFont>
        <a:latin typeface="MetaNormal-Roman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Aangepast ontwer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tandarddesign">
  <a:themeElements>
    <a:clrScheme name="Standarddesign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Standarddesign">
      <a:majorFont>
        <a:latin typeface="MetaNormal-Roman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Standarddesign">
  <a:themeElements>
    <a:clrScheme name="Standarddesign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Standarddesign">
      <a:majorFont>
        <a:latin typeface="MetaNormal-Roman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Aangepast ontwer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Aangepast ontwerp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praesent_de</Template>
  <TotalTime>11781</TotalTime>
  <Pages>1</Pages>
  <Words>2144</Words>
  <Application>Microsoft Office PowerPoint</Application>
  <PresentationFormat>Custom</PresentationFormat>
  <Paragraphs>445</Paragraphs>
  <Slides>66</Slides>
  <Notes>21</Notes>
  <HiddenSlides>4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3_Standarddesign</vt:lpstr>
      <vt:lpstr>1_Aangepast ontwerp</vt:lpstr>
      <vt:lpstr>2_Standarddesign</vt:lpstr>
      <vt:lpstr>1_Standarddesign</vt:lpstr>
      <vt:lpstr>2_Aangepast ontwerp</vt:lpstr>
      <vt:lpstr>Aangepast ontwerp</vt:lpstr>
      <vt:lpstr>Equity</vt:lpstr>
      <vt:lpstr>Identifying Surprising Events in Video &amp; Foreground/Background Segregation in Still Images </vt:lpstr>
      <vt:lpstr>Lots of data can get us very confused...</vt:lpstr>
      <vt:lpstr>The Search for the Abnormal</vt:lpstr>
      <vt:lpstr> The challenge</vt:lpstr>
      <vt:lpstr>Outline</vt:lpstr>
      <vt:lpstr>1. The problem</vt:lpstr>
      <vt:lpstr>Our Approach</vt:lpstr>
      <vt:lpstr>Bayesian Surprise</vt:lpstr>
      <vt:lpstr>Bayesian Surprise</vt:lpstr>
      <vt:lpstr>Bayesian Surprise</vt:lpstr>
      <vt:lpstr>Bayesian Surprise</vt:lpstr>
      <vt:lpstr>The model</vt:lpstr>
      <vt:lpstr>LDA</vt:lpstr>
      <vt:lpstr>Bayesian Surprise and LDA</vt:lpstr>
      <vt:lpstr>Bayesian Surprise and LDA</vt:lpstr>
      <vt:lpstr>Application: video surveillance</vt:lpstr>
      <vt:lpstr>Trajectory representation</vt:lpstr>
      <vt:lpstr>Slide 18</vt:lpstr>
      <vt:lpstr>Experimental Results</vt:lpstr>
      <vt:lpstr>Experimental Results</vt:lpstr>
      <vt:lpstr>Results – Learned classes</vt:lpstr>
      <vt:lpstr>Results – Learned classes</vt:lpstr>
      <vt:lpstr>Experimental Results</vt:lpstr>
      <vt:lpstr>Results – Surprising Events</vt:lpstr>
      <vt:lpstr>Typical and surprising events</vt:lpstr>
      <vt:lpstr>Slide 26</vt:lpstr>
      <vt:lpstr>Outline</vt:lpstr>
      <vt:lpstr>2. Incongruent events</vt:lpstr>
      <vt:lpstr>Hierarchical representation dominates Perception/Cognition:</vt:lpstr>
      <vt:lpstr>Slide 30</vt:lpstr>
      <vt:lpstr>Focus of this part</vt:lpstr>
      <vt:lpstr>An implicit hierarchy is discovered</vt:lpstr>
      <vt:lpstr>How do we control the incentive to share?</vt:lpstr>
      <vt:lpstr>Example</vt:lpstr>
      <vt:lpstr>Levels of sharing</vt:lpstr>
      <vt:lpstr>The cascade generated by varying the regularization</vt:lpstr>
      <vt:lpstr>Algorithm</vt:lpstr>
      <vt:lpstr>Experiments</vt:lpstr>
      <vt:lpstr>Real data</vt:lpstr>
      <vt:lpstr>Real data</vt:lpstr>
      <vt:lpstr>Features</vt:lpstr>
      <vt:lpstr>Low-level features: results </vt:lpstr>
      <vt:lpstr>Mid-level features: results</vt:lpstr>
      <vt:lpstr>Mid-level features: results</vt:lpstr>
      <vt:lpstr>Online Algorithm</vt:lpstr>
      <vt:lpstr>Large Scale Experiment</vt:lpstr>
      <vt:lpstr>Online algorithm</vt:lpstr>
      <vt:lpstr>Knowledge transfer</vt:lpstr>
      <vt:lpstr>Knowledge Transfer</vt:lpstr>
      <vt:lpstr>Knowledge Transfer (imagenet dataset)</vt:lpstr>
      <vt:lpstr>Results with Cifar-100</vt:lpstr>
      <vt:lpstr>Outline</vt:lpstr>
      <vt:lpstr>Extracting Foreground Masks</vt:lpstr>
      <vt:lpstr>Desired properties</vt:lpstr>
      <vt:lpstr>Method overview</vt:lpstr>
      <vt:lpstr>Initial image representation</vt:lpstr>
      <vt:lpstr>Geometric prior</vt:lpstr>
      <vt:lpstr>Visual similarity prior</vt:lpstr>
      <vt:lpstr>Slide 59</vt:lpstr>
      <vt:lpstr>Graphical model description of image</vt:lpstr>
      <vt:lpstr>Graph-cut of energy function</vt:lpstr>
      <vt:lpstr>Examples from VOC09,10:</vt:lpstr>
      <vt:lpstr>Results </vt:lpstr>
      <vt:lpstr>Mean segment overlap</vt:lpstr>
      <vt:lpstr>The priors are not always helpful</vt:lpstr>
      <vt:lpstr>Slide 66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Fraunhofer-Institut für Digitale Medientechnologie IDMT</dc:title>
  <dc:creator>khr</dc:creator>
  <cp:lastModifiedBy>daphna</cp:lastModifiedBy>
  <cp:revision>475</cp:revision>
  <cp:lastPrinted>1997-11-19T15:29:38Z</cp:lastPrinted>
  <dcterms:created xsi:type="dcterms:W3CDTF">2007-08-29T09:33:22Z</dcterms:created>
  <dcterms:modified xsi:type="dcterms:W3CDTF">2012-09-21T15:56:31Z</dcterms:modified>
</cp:coreProperties>
</file>