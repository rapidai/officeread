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1"/>
  </p:notesMasterIdLst>
  <p:sldIdLst>
    <p:sldId id="256" r:id="rId2"/>
    <p:sldId id="257" r:id="rId3"/>
    <p:sldId id="266" r:id="rId4"/>
    <p:sldId id="267" r:id="rId5"/>
    <p:sldId id="268" r:id="rId6"/>
    <p:sldId id="269" r:id="rId7"/>
    <p:sldId id="270" r:id="rId8"/>
    <p:sldId id="272" r:id="rId9"/>
    <p:sldId id="271" r:id="rId10"/>
    <p:sldId id="262" r:id="rId11"/>
    <p:sldId id="273" r:id="rId12"/>
    <p:sldId id="274" r:id="rId13"/>
    <p:sldId id="275" r:id="rId14"/>
    <p:sldId id="263" r:id="rId15"/>
    <p:sldId id="277" r:id="rId16"/>
    <p:sldId id="265" r:id="rId17"/>
    <p:sldId id="260" r:id="rId18"/>
    <p:sldId id="276" r:id="rId19"/>
    <p:sldId id="278" r:id="rId20"/>
  </p:sldIdLst>
  <p:sldSz cx="9144000" cy="6858000" type="screen4x3"/>
  <p:notesSz cx="6775450" cy="9906000"/>
  <p:defaultTextStyle>
    <a:defPPr>
      <a:defRPr lang="en-A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922" autoAdjust="0"/>
  </p:normalViewPr>
  <p:slideViewPr>
    <p:cSldViewPr>
      <p:cViewPr varScale="1">
        <p:scale>
          <a:sx n="77" d="100"/>
          <a:sy n="77" d="100"/>
        </p:scale>
        <p:origin x="-126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36028"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AU" dirty="0"/>
          </a:p>
        </p:txBody>
      </p:sp>
      <p:sp>
        <p:nvSpPr>
          <p:cNvPr id="19459" name="Rectangle 3"/>
          <p:cNvSpPr>
            <a:spLocks noGrp="1" noChangeArrowheads="1"/>
          </p:cNvSpPr>
          <p:nvPr>
            <p:ph type="dt" idx="1"/>
          </p:nvPr>
        </p:nvSpPr>
        <p:spPr bwMode="auto">
          <a:xfrm>
            <a:off x="3837854" y="0"/>
            <a:ext cx="2936028"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AU" dirty="0"/>
          </a:p>
        </p:txBody>
      </p:sp>
      <p:sp>
        <p:nvSpPr>
          <p:cNvPr id="19460" name="Rectangle 4"/>
          <p:cNvSpPr>
            <a:spLocks noGrp="1" noRot="1" noChangeAspect="1" noChangeArrowheads="1" noTextEdit="1"/>
          </p:cNvSpPr>
          <p:nvPr>
            <p:ph type="sldImg" idx="2"/>
          </p:nvPr>
        </p:nvSpPr>
        <p:spPr bwMode="auto">
          <a:xfrm>
            <a:off x="911225" y="742950"/>
            <a:ext cx="4953000" cy="3714750"/>
          </a:xfrm>
          <a:prstGeom prst="rect">
            <a:avLst/>
          </a:prstGeom>
          <a:noFill/>
          <a:ln w="9525">
            <a:solidFill>
              <a:srgbClr val="000000"/>
            </a:solidFill>
            <a:miter lim="800000"/>
            <a:headEnd/>
            <a:tailEnd/>
          </a:ln>
          <a:effectLst/>
        </p:spPr>
      </p:sp>
      <p:sp>
        <p:nvSpPr>
          <p:cNvPr id="19461" name="Rectangle 5"/>
          <p:cNvSpPr>
            <a:spLocks noGrp="1" noChangeArrowheads="1"/>
          </p:cNvSpPr>
          <p:nvPr>
            <p:ph type="body" sz="quarter" idx="3"/>
          </p:nvPr>
        </p:nvSpPr>
        <p:spPr bwMode="auto">
          <a:xfrm>
            <a:off x="677545" y="4705350"/>
            <a:ext cx="5420360" cy="4457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19462" name="Rectangle 6"/>
          <p:cNvSpPr>
            <a:spLocks noGrp="1" noChangeArrowheads="1"/>
          </p:cNvSpPr>
          <p:nvPr>
            <p:ph type="ftr" sz="quarter" idx="4"/>
          </p:nvPr>
        </p:nvSpPr>
        <p:spPr bwMode="auto">
          <a:xfrm>
            <a:off x="0" y="9408981"/>
            <a:ext cx="2936028"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AU" dirty="0"/>
          </a:p>
        </p:txBody>
      </p:sp>
      <p:sp>
        <p:nvSpPr>
          <p:cNvPr id="19463" name="Rectangle 7"/>
          <p:cNvSpPr>
            <a:spLocks noGrp="1" noChangeArrowheads="1"/>
          </p:cNvSpPr>
          <p:nvPr>
            <p:ph type="sldNum" sz="quarter" idx="5"/>
          </p:nvPr>
        </p:nvSpPr>
        <p:spPr bwMode="auto">
          <a:xfrm>
            <a:off x="3837854" y="9408981"/>
            <a:ext cx="2936028"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022EC53-8B2A-4CA7-ACDB-67B130969263}" type="slidenum">
              <a:rPr lang="en-AU"/>
              <a:pPr/>
              <a:t>‹#›</a:t>
            </a:fld>
            <a:endParaRPr lang="en-AU"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9E4A87-500D-4ED2-948F-87D313A28113}" type="slidenum">
              <a:rPr lang="en-AU"/>
              <a:pPr/>
              <a:t>1</a:t>
            </a:fld>
            <a:endParaRPr lang="en-AU" dirty="0"/>
          </a:p>
        </p:txBody>
      </p:sp>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p:txBody>
          <a:bodyPr/>
          <a:lstStyle/>
          <a:p>
            <a:pPr>
              <a:lnSpc>
                <a:spcPct val="120000"/>
              </a:lnSpc>
              <a:spcBef>
                <a:spcPct val="50000"/>
              </a:spcBef>
              <a:buFont typeface="Times" charset="0"/>
              <a:buChar char="•"/>
            </a:pPr>
            <a:r>
              <a:rPr lang="en-US" dirty="0"/>
              <a:t>No animations in this slide.</a:t>
            </a:r>
          </a:p>
          <a:p>
            <a:pPr>
              <a:lnSpc>
                <a:spcPct val="120000"/>
              </a:lnSpc>
              <a:spcBef>
                <a:spcPct val="50000"/>
              </a:spcBef>
              <a:buFont typeface="Times" charset="0"/>
              <a:buAutoNum type="arabicPeriod"/>
            </a:pPr>
            <a:r>
              <a:rPr lang="en-US" dirty="0"/>
              <a:t>Students will want to have access to texts of the poems.</a:t>
            </a:r>
          </a:p>
          <a:p>
            <a:pPr>
              <a:lnSpc>
                <a:spcPct val="120000"/>
              </a:lnSpc>
              <a:spcBef>
                <a:spcPct val="50000"/>
              </a:spcBef>
              <a:buFont typeface="Times" charset="0"/>
              <a:buAutoNum type="arabicPeriod"/>
            </a:pPr>
            <a:r>
              <a:rPr lang="en-US" dirty="0"/>
              <a:t>Give them time to arrange themselves if they need to look on with each other.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F09340-6CE5-4F4D-8298-CC434FD54134}" type="slidenum">
              <a:rPr lang="en-AU"/>
              <a:pPr/>
              <a:t>2</a:t>
            </a:fld>
            <a:endParaRPr lang="en-AU" dirty="0"/>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p:txBody>
          <a:bodyPr/>
          <a:lstStyle/>
          <a:p>
            <a:pPr>
              <a:lnSpc>
                <a:spcPct val="120000"/>
              </a:lnSpc>
              <a:spcBef>
                <a:spcPct val="50000"/>
              </a:spcBef>
              <a:buFontTx/>
              <a:buChar char="•"/>
            </a:pPr>
            <a:r>
              <a:rPr lang="en-US" dirty="0"/>
              <a:t>Click to reveal each key topic and sub-bullet.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8DE6DA-1B9A-4975-8085-04712A121C08}" type="slidenum">
              <a:rPr lang="en-AU"/>
              <a:pPr/>
              <a:t>10</a:t>
            </a:fld>
            <a:endParaRPr lang="en-AU" dirty="0"/>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p:txBody>
          <a:bodyPr/>
          <a:lstStyle/>
          <a:p>
            <a:pPr>
              <a:lnSpc>
                <a:spcPct val="120000"/>
              </a:lnSpc>
              <a:spcBef>
                <a:spcPct val="50000"/>
              </a:spcBef>
              <a:buFontTx/>
              <a:buChar char="•"/>
            </a:pPr>
            <a:r>
              <a:rPr lang="en-US" dirty="0"/>
              <a:t>No animations in this slide.</a:t>
            </a:r>
          </a:p>
          <a:p>
            <a:pPr>
              <a:lnSpc>
                <a:spcPct val="120000"/>
              </a:lnSpc>
              <a:spcBef>
                <a:spcPct val="50000"/>
              </a:spcBef>
              <a:buFontTx/>
              <a:buAutoNum type="arabicPeriod"/>
            </a:pPr>
            <a:r>
              <a:rPr lang="en-US" dirty="0"/>
              <a:t>This slide just prompts the class to turn to the Blake poem.</a:t>
            </a:r>
          </a:p>
          <a:p>
            <a:pPr>
              <a:lnSpc>
                <a:spcPct val="120000"/>
              </a:lnSpc>
              <a:spcBef>
                <a:spcPct val="50000"/>
              </a:spcBef>
              <a:buFontTx/>
              <a:buAutoNum type="arabicPeriod"/>
            </a:pPr>
            <a:r>
              <a:rPr lang="en-US" dirty="0"/>
              <a:t>Move on to next slide (1st edition facsimile) before discussing the poem.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D59779-BEFE-4366-B1DC-1E2F7DE2CB62}" type="slidenum">
              <a:rPr lang="en-AU"/>
              <a:pPr/>
              <a:t>14</a:t>
            </a:fld>
            <a:endParaRPr lang="en-AU" dirty="0"/>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p:txBody>
          <a:bodyPr/>
          <a:lstStyle/>
          <a:p>
            <a:pPr marL="228600" indent="-228600">
              <a:lnSpc>
                <a:spcPct val="120000"/>
              </a:lnSpc>
              <a:spcBef>
                <a:spcPct val="50000"/>
              </a:spcBef>
              <a:buFontTx/>
              <a:buChar char="•"/>
            </a:pPr>
            <a:r>
              <a:rPr lang="en-US" dirty="0"/>
              <a:t>No animations in this slide.</a:t>
            </a:r>
          </a:p>
          <a:p>
            <a:pPr marL="228600" indent="-228600">
              <a:lnSpc>
                <a:spcPct val="120000"/>
              </a:lnSpc>
              <a:spcBef>
                <a:spcPct val="50000"/>
              </a:spcBef>
              <a:buFontTx/>
              <a:buAutoNum type="arabicPeriod"/>
            </a:pPr>
            <a:r>
              <a:rPr lang="en-US" dirty="0"/>
              <a:t>Discuss the basic meaning of ‘The Tyger’ before focusing on the mysterious angle.</a:t>
            </a:r>
          </a:p>
          <a:p>
            <a:pPr marL="228600" indent="-228600">
              <a:lnSpc>
                <a:spcPct val="120000"/>
              </a:lnSpc>
              <a:spcBef>
                <a:spcPct val="50000"/>
              </a:spcBef>
              <a:buFontTx/>
              <a:buAutoNum type="arabicPeriod"/>
            </a:pPr>
            <a:r>
              <a:rPr lang="en-US" dirty="0"/>
              <a:t>How does this illustrated version alter our sense of the poem?</a:t>
            </a:r>
          </a:p>
          <a:p>
            <a:pPr marL="228600" indent="-228600">
              <a:lnSpc>
                <a:spcPct val="120000"/>
              </a:lnSpc>
              <a:spcBef>
                <a:spcPct val="50000"/>
              </a:spcBef>
              <a:buFontTx/>
              <a:buAutoNum type="arabicPeriod"/>
            </a:pPr>
            <a:r>
              <a:rPr lang="en-US" dirty="0"/>
              <a:t>The previous two poems may have been influenced by this work.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C40705-BB24-4734-929F-0A5C3CDCE9DF}" type="slidenum">
              <a:rPr lang="en-AU"/>
              <a:pPr/>
              <a:t>16</a:t>
            </a:fld>
            <a:endParaRPr lang="en-AU" dirty="0"/>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p:txBody>
          <a:bodyPr/>
          <a:lstStyle/>
          <a:p>
            <a:pPr>
              <a:buFontTx/>
              <a:buChar char="•"/>
            </a:pPr>
            <a:r>
              <a:rPr lang="en-US" dirty="0"/>
              <a:t>Click to reveal each bullet.</a:t>
            </a:r>
          </a:p>
          <a:p>
            <a:pPr>
              <a:buFontTx/>
              <a:buChar char="•"/>
            </a:pPr>
            <a:r>
              <a:rPr lang="en-US" dirty="0"/>
              <a:t>Discuss basic meaning.  Then address the focal questions.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B20742-3B68-4F58-8AAB-38677AA73ED9}" type="slidenum">
              <a:rPr lang="en-AU"/>
              <a:pPr/>
              <a:t>17</a:t>
            </a:fld>
            <a:endParaRPr lang="en-AU" dirty="0"/>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pPr>
              <a:lnSpc>
                <a:spcPct val="120000"/>
              </a:lnSpc>
              <a:spcBef>
                <a:spcPct val="50000"/>
              </a:spcBef>
              <a:buFontTx/>
              <a:buChar char="•"/>
            </a:pPr>
            <a:r>
              <a:rPr lang="en-US" dirty="0"/>
              <a:t>Click to reveal each bullet and sub-bullet.</a:t>
            </a:r>
          </a:p>
          <a:p>
            <a:pPr>
              <a:lnSpc>
                <a:spcPct val="120000"/>
              </a:lnSpc>
              <a:spcBef>
                <a:spcPct val="50000"/>
              </a:spcBef>
              <a:buFontTx/>
              <a:buAutoNum type="arabicPeriod"/>
            </a:pPr>
            <a:r>
              <a:rPr lang="en-US" dirty="0"/>
              <a:t>Discuss basic meaning.  Then address the focal questions.</a:t>
            </a:r>
          </a:p>
          <a:p>
            <a:pPr>
              <a:lnSpc>
                <a:spcPct val="120000"/>
              </a:lnSpc>
              <a:spcBef>
                <a:spcPct val="50000"/>
              </a:spcBef>
              <a:buFontTx/>
              <a:buAutoNum type="arabicPeriod"/>
            </a:pPr>
            <a:r>
              <a:rPr lang="en-US" dirty="0"/>
              <a:t>Give particular attention to the idea of ‘certainty’ around Aunt Jennifer’s impending death, which is integral to the fact of her fear, and which is deeply embedded in the versification (which is unadorned but regular, verging on obvious).  This leads us into the next slide.</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10" name="Picture 9" descr="Air title.png"/>
          <p:cNvPicPr>
            <a:picLocks noChangeAspect="1"/>
          </p:cNvPicPr>
          <p:nvPr/>
        </p:nvPicPr>
        <p:blipFill>
          <a:blip r:embed="rId2" cstate="print"/>
          <a:stretch>
            <a:fillRect/>
          </a:stretch>
        </p:blipFill>
        <p:spPr>
          <a:xfrm>
            <a:off x="3867657" y="0"/>
            <a:ext cx="5276343" cy="6858000"/>
          </a:xfrm>
          <a:prstGeom prst="rect">
            <a:avLst/>
          </a:prstGeom>
        </p:spPr>
      </p:pic>
      <p:sp>
        <p:nvSpPr>
          <p:cNvPr id="2" name="Title 1"/>
          <p:cNvSpPr>
            <a:spLocks noGrp="1"/>
          </p:cNvSpPr>
          <p:nvPr>
            <p:ph type="ctrTitle"/>
          </p:nvPr>
        </p:nvSpPr>
        <p:spPr>
          <a:xfrm>
            <a:off x="457200" y="1951038"/>
            <a:ext cx="4953000" cy="2193831"/>
          </a:xfrm>
        </p:spPr>
        <p:txBody>
          <a:bodyPr anchor="b" anchorCtr="0">
            <a:normAutofit/>
            <a:scene3d>
              <a:camera prst="orthographicFront"/>
              <a:lightRig rig="balanced" dir="t"/>
            </a:scene3d>
          </a:bodyPr>
          <a:lstStyle>
            <a:lvl1pPr>
              <a:defRPr sz="4800" b="0">
                <a:solidFill>
                  <a:schemeClr val="tx2"/>
                </a:solidFill>
              </a:defRPr>
            </a:lvl1pPr>
          </a:lstStyle>
          <a:p>
            <a:r>
              <a:rPr lang="en-US" smtClean="0"/>
              <a:t>Click to edit Master title style</a:t>
            </a:r>
            <a:endParaRPr/>
          </a:p>
        </p:txBody>
      </p:sp>
      <p:sp>
        <p:nvSpPr>
          <p:cNvPr id="3" name="Subtitle 2"/>
          <p:cNvSpPr>
            <a:spLocks noGrp="1"/>
          </p:cNvSpPr>
          <p:nvPr>
            <p:ph type="subTitle" idx="1"/>
          </p:nvPr>
        </p:nvSpPr>
        <p:spPr>
          <a:xfrm>
            <a:off x="457200" y="4404618"/>
            <a:ext cx="5715000" cy="1413475"/>
          </a:xfrm>
        </p:spPr>
        <p:txBody>
          <a:bodyPr>
            <a:normAutofit/>
            <a:scene3d>
              <a:camera prst="orthographicFront"/>
              <a:lightRig rig="twoPt" dir="t"/>
            </a:scene3d>
          </a:bodyPr>
          <a:lstStyle>
            <a:lvl1pPr marL="0" indent="0" algn="l">
              <a:buNone/>
              <a:defRPr sz="1800" b="0" kern="1200">
                <a:solidFill>
                  <a:schemeClr val="tx2"/>
                </a:solidFill>
                <a:effectLst>
                  <a:outerShdw blurRad="12700" dist="12700" dir="3000000" algn="ctr" rotWithShape="0">
                    <a:schemeClr val="bg1">
                      <a:lumMod val="85000"/>
                      <a:alpha val="60000"/>
                    </a:schemeClr>
                  </a:outerShdw>
                </a:effectLst>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p:txBody>
          <a:bodyPr/>
          <a:lstStyle/>
          <a:p>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8F5C5107-3124-402B-8336-7B6AD207A82D}" type="slidenum">
              <a:rPr lang="en-AU" smtClean="0"/>
              <a:pPr/>
              <a:t>‹#›</a:t>
            </a:fld>
            <a:endParaRPr lang="en-AU"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3E99C55E-860F-4F1F-B4DD-A19DBDABAA8C}" type="slidenum">
              <a:rPr lang="en-AU" smtClean="0"/>
              <a:pPr/>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12900" y="2590800"/>
            <a:ext cx="5943600" cy="1447800"/>
          </a:xfrm>
        </p:spPr>
        <p:txBody>
          <a:bodyPr vert="horz" lIns="91440" tIns="45720" rIns="91440" bIns="45720" rtlCol="0" anchor="b" anchorCtr="0">
            <a:normAutofit/>
            <a:scene3d>
              <a:camera prst="orthographicFront"/>
              <a:lightRig rig="balanced" dir="t"/>
            </a:scene3d>
          </a:bodyPr>
          <a:lstStyle>
            <a:lvl1pPr algn="l" defTabSz="914400" rtl="0" eaLnBrk="1" latinLnBrk="0" hangingPunct="1">
              <a:spcBef>
                <a:spcPct val="0"/>
              </a:spcBef>
              <a:buNone/>
              <a:defRPr sz="4800" b="0" kern="1200" cap="none" spc="100" baseline="0">
                <a:solidFill>
                  <a:schemeClr val="tx2"/>
                </a:solidFill>
                <a:effectLst>
                  <a:outerShdw blurRad="127000" algn="ctr" rotWithShape="0">
                    <a:schemeClr val="bg1">
                      <a:alpha val="50000"/>
                    </a:schemeClr>
                  </a:outerShdw>
                </a:effectLst>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1612900" y="4038601"/>
            <a:ext cx="5943600" cy="1143000"/>
          </a:xfrm>
        </p:spPr>
        <p:txBody>
          <a:bodyPr vert="horz" lIns="91440" tIns="45720" rIns="91440" bIns="45720" rtlCol="0">
            <a:normAutofit/>
            <a:scene3d>
              <a:camera prst="orthographicFront"/>
              <a:lightRig rig="twoPt" dir="t"/>
            </a:scene3d>
          </a:bodyPr>
          <a:lstStyle>
            <a:lvl1pPr marL="0" indent="0" algn="l" defTabSz="914400" rtl="0" eaLnBrk="1" latinLnBrk="0" hangingPunct="1">
              <a:lnSpc>
                <a:spcPct val="100000"/>
              </a:lnSpc>
              <a:spcBef>
                <a:spcPts val="1600"/>
              </a:spcBef>
              <a:buSzPct val="80000"/>
              <a:buFont typeface="Wingdings" pitchFamily="2" charset="2"/>
              <a:buNone/>
              <a:defRPr sz="1800" b="0" kern="1200">
                <a:solidFill>
                  <a:schemeClr val="tx2"/>
                </a:solidFill>
                <a:effectLst>
                  <a:outerShdw blurRad="12700" dist="12700" dir="3000000" algn="ctr" rotWithShape="0">
                    <a:schemeClr val="bg1">
                      <a:lumMod val="85000"/>
                      <a:alpha val="60000"/>
                    </a:scheme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B2D15E23-FC33-43F7-87EE-3C1205D26707}" type="slidenum">
              <a:rPr lang="en-AU" smtClean="0"/>
              <a:pPr/>
              <a:t>‹#›</a:t>
            </a:fld>
            <a:endParaRPr lang="en-AU" dirty="0"/>
          </a:p>
        </p:txBody>
      </p:sp>
      <p:pic>
        <p:nvPicPr>
          <p:cNvPr id="9" name="Picture 8" descr="Air title.png"/>
          <p:cNvPicPr>
            <a:picLocks noChangeAspect="1"/>
          </p:cNvPicPr>
          <p:nvPr/>
        </p:nvPicPr>
        <p:blipFill>
          <a:blip r:embed="rId2" cstate="print"/>
          <a:srcRect l="42293" t="29512" r="38657" b="34962"/>
          <a:stretch>
            <a:fillRect/>
          </a:stretch>
        </p:blipFill>
        <p:spPr>
          <a:xfrm>
            <a:off x="0" y="0"/>
            <a:ext cx="1475880" cy="35773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600200" y="1951039"/>
            <a:ext cx="2743200" cy="3886200"/>
          </a:xfrm>
        </p:spPr>
        <p:txBody>
          <a:bodyPr>
            <a:normAutofit/>
          </a:bodyPr>
          <a:lstStyle>
            <a:lvl1pPr>
              <a:defRPr sz="1800"/>
            </a:lvl1pPr>
            <a:lvl2pPr>
              <a:defRPr sz="1800"/>
            </a:lvl2pPr>
            <a:lvl3pPr>
              <a:defRPr sz="1800"/>
            </a:lvl3pPr>
            <a:lvl4pPr>
              <a:defRPr sz="1800"/>
            </a:lvl4pPr>
            <a:lvl5pPr>
              <a:defRPr sz="1800"/>
            </a:lvl5pPr>
            <a:lvl6pPr>
              <a:buFont typeface="Wingdings" pitchFamily="2" charset="2"/>
              <a:buChar char="Ë"/>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800600" y="1951039"/>
            <a:ext cx="2743200" cy="3886200"/>
          </a:xfrm>
        </p:spPr>
        <p:txBody>
          <a:bodyPr>
            <a:normAutofit/>
          </a:bodyPr>
          <a:lstStyle>
            <a:lvl1pPr>
              <a:defRPr sz="1800"/>
            </a:lvl1pPr>
            <a:lvl2pPr>
              <a:defRPr sz="1800"/>
            </a:lvl2pPr>
            <a:lvl3pPr>
              <a:defRPr sz="1800"/>
            </a:lvl3pPr>
            <a:lvl4pPr>
              <a:defRPr sz="1800"/>
            </a:lvl4pPr>
            <a:lvl5pPr>
              <a:defRPr sz="1800"/>
            </a:lvl5pPr>
            <a:lvl6pPr>
              <a:defRPr sz="1800" baseline="0"/>
            </a:lvl6pPr>
            <a:lvl7pPr>
              <a:defRPr sz="1800" baseline="0"/>
            </a:lvl7pPr>
            <a:lvl8pPr>
              <a:defRPr sz="1800" baseline="0"/>
            </a:lvl8pPr>
            <a:lvl9pPr>
              <a:defRPr sz="18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E5E96837-0217-4AC2-BFE8-9E2354E58956}" type="slidenum">
              <a:rPr lang="en-AU" smtClean="0"/>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600200" y="1660619"/>
            <a:ext cx="2743200" cy="827087"/>
          </a:xfrm>
        </p:spPr>
        <p:txBody>
          <a:bodyPr anchor="ctr" anchorCtr="0"/>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00200" y="2667000"/>
            <a:ext cx="2743200" cy="3170238"/>
          </a:xfrm>
        </p:spPr>
        <p:txBody>
          <a:bodyPr>
            <a:normAutofit/>
          </a:bodyPr>
          <a:lstStyle>
            <a:lvl1pPr>
              <a:defRPr sz="1800" b="0"/>
            </a:lvl1pPr>
            <a:lvl2pPr>
              <a:defRPr sz="1800" b="0"/>
            </a:lvl2pPr>
            <a:lvl3pPr>
              <a:defRPr sz="1800" b="0"/>
            </a:lvl3pPr>
            <a:lvl4pPr>
              <a:defRPr sz="1800" b="0"/>
            </a:lvl4pPr>
            <a:lvl5pPr>
              <a:defRPr sz="1800" b="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800600" y="1660619"/>
            <a:ext cx="2743200" cy="827087"/>
          </a:xfrm>
        </p:spPr>
        <p:txBody>
          <a:bodyPr anchor="ctr" anchorCtr="0"/>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00600" y="2667000"/>
            <a:ext cx="2743200" cy="3170238"/>
          </a:xfrm>
        </p:spPr>
        <p:txBody>
          <a:bodyPr>
            <a:normAutofit/>
          </a:bodyPr>
          <a:lstStyle>
            <a:lvl1pPr>
              <a:defRPr sz="1800" b="0"/>
            </a:lvl1pPr>
            <a:lvl2pPr>
              <a:defRPr sz="1800" b="0"/>
            </a:lvl2pPr>
            <a:lvl3pPr>
              <a:defRPr sz="1800" b="0"/>
            </a:lvl3pPr>
            <a:lvl4pPr>
              <a:defRPr sz="1800" b="0"/>
            </a:lvl4pPr>
            <a:lvl5pPr>
              <a:defRPr sz="1800" b="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B41F4426-4718-413A-AAE3-796A5989F7D3}" type="slidenum">
              <a:rPr lang="en-AU" smtClean="0"/>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6F996B9D-541D-4D4F-B42C-FFA38BED68AA}" type="slidenum">
              <a:rPr lang="en-AU" smtClean="0"/>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57BEF60D-2837-4126-BC97-FB5945F842EF}" type="slidenum">
              <a:rPr lang="en-AU" smtClean="0"/>
              <a:pPr/>
              <a:t>‹#›</a:t>
            </a:fld>
            <a:endParaRPr lang="en-AU" dirty="0"/>
          </a:p>
        </p:txBody>
      </p:sp>
      <p:pic>
        <p:nvPicPr>
          <p:cNvPr id="5" name="Picture 4" descr="Air title.png"/>
          <p:cNvPicPr>
            <a:picLocks noChangeAspect="1"/>
          </p:cNvPicPr>
          <p:nvPr/>
        </p:nvPicPr>
        <p:blipFill>
          <a:blip r:embed="rId2" cstate="print"/>
          <a:srcRect l="42293" t="29512" r="38657" b="34962"/>
          <a:stretch>
            <a:fillRect/>
          </a:stretch>
        </p:blipFill>
        <p:spPr>
          <a:xfrm>
            <a:off x="0" y="0"/>
            <a:ext cx="1475880" cy="35773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936750"/>
          </a:xfrm>
        </p:spPr>
        <p:txBody>
          <a:bodyPr anchor="ctr" anchorCtr="0">
            <a:noAutofit/>
          </a:bodyPr>
          <a:lstStyle>
            <a:lvl1pPr algn="l">
              <a:defRPr sz="3600" b="0"/>
            </a:lvl1pPr>
          </a:lstStyle>
          <a:p>
            <a:r>
              <a:rPr lang="en-US" smtClean="0"/>
              <a:t>Click to edit Master title style</a:t>
            </a:r>
            <a:endParaRPr/>
          </a:p>
        </p:txBody>
      </p:sp>
      <p:sp>
        <p:nvSpPr>
          <p:cNvPr id="3" name="Content Placeholder 2"/>
          <p:cNvSpPr>
            <a:spLocks noGrp="1"/>
          </p:cNvSpPr>
          <p:nvPr>
            <p:ph idx="1"/>
          </p:nvPr>
        </p:nvSpPr>
        <p:spPr>
          <a:xfrm>
            <a:off x="3886200" y="838200"/>
            <a:ext cx="3657600" cy="4572000"/>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457200" y="3200399"/>
            <a:ext cx="2703513" cy="2636839"/>
          </a:xfrm>
        </p:spPr>
        <p:txBody>
          <a:bodyPr/>
          <a:lstStyle>
            <a:lvl1pPr marL="0" indent="0">
              <a:lnSpc>
                <a:spcPct val="150000"/>
              </a:lnSpc>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53B562E-76D5-47FF-A2AE-BCB4FF4CFDD0}" type="slidenum">
              <a:rPr lang="en-AU" smtClean="0"/>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2" cy="1936750"/>
          </a:xfrm>
        </p:spPr>
        <p:txBody>
          <a:bodyPr vert="horz" lIns="91440" tIns="45720" rIns="91440" bIns="45720" rtlCol="0" anchor="ctr" anchorCtr="0">
            <a:noAutofit/>
          </a:bodyPr>
          <a:lstStyle>
            <a:lvl1pPr algn="l" defTabSz="914400" rtl="0" eaLnBrk="1" latinLnBrk="0" hangingPunct="1">
              <a:spcBef>
                <a:spcPct val="0"/>
              </a:spcBef>
              <a:buNone/>
              <a:defRPr sz="3600" b="0" kern="1200" cap="none" spc="100" baseline="0">
                <a:solidFill>
                  <a:schemeClr val="tx2"/>
                </a:solidFill>
                <a:effectLst>
                  <a:outerShdw blurRad="127000" algn="ctr" rotWithShape="0">
                    <a:schemeClr val="bg1">
                      <a:alpha val="50000"/>
                    </a:schemeClr>
                  </a:outerShdw>
                </a:effectLst>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3886200" y="838200"/>
            <a:ext cx="3657600" cy="4572000"/>
          </a:xfrm>
          <a:prstGeom prst="rect">
            <a:avLst/>
          </a:prstGeom>
          <a:ln>
            <a:noFill/>
          </a:ln>
          <a:effectLst>
            <a:reflection blurRad="42700" stA="30000" endPos="20000" dist="40000" dir="5400000" sy="-100000" algn="bl" rotWithShape="0"/>
          </a:effectLst>
          <a:scene3d>
            <a:camera prst="perspectiveContrastingLeftFacing">
              <a:rot lat="295432" lon="20402243" rev="52222"/>
            </a:camera>
            <a:lightRig rig="threePt" dir="t">
              <a:rot lat="0" lon="0" rev="2700000"/>
            </a:lightRig>
          </a:scene3d>
          <a:sp3d>
            <a:bevelT w="63500" h="50800"/>
          </a:sp3d>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57200" y="3200398"/>
            <a:ext cx="2703512" cy="2636838"/>
          </a:xfrm>
        </p:spPr>
        <p:txBody>
          <a:bodyPr vert="horz" lIns="91440" tIns="45720" rIns="91440" bIns="45720" rtlCol="0">
            <a:normAutofit/>
          </a:bodyPr>
          <a:lstStyle>
            <a:lvl1pPr marL="0" indent="0">
              <a:lnSpc>
                <a:spcPct val="150000"/>
              </a:lnSpc>
              <a:buNone/>
              <a:defRPr sz="140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lnSpc>
                <a:spcPct val="150000"/>
              </a:lnSpc>
              <a:spcBef>
                <a:spcPts val="1600"/>
              </a:spcBef>
              <a:buSzPct val="80000"/>
              <a:buFont typeface="Wingdings" pitchFamily="2" charset="2"/>
              <a:buNone/>
            </a:pPr>
            <a:r>
              <a:rPr lang="en-US" smtClean="0"/>
              <a:t>Click to edit Master text styles</a:t>
            </a:r>
          </a:p>
        </p:txBody>
      </p:sp>
      <p:sp>
        <p:nvSpPr>
          <p:cNvPr id="5" name="Date Placeholder 4"/>
          <p:cNvSpPr>
            <a:spLocks noGrp="1"/>
          </p:cNvSpPr>
          <p:nvPr>
            <p:ph type="dt" sz="half" idx="10"/>
          </p:nvPr>
        </p:nvSpPr>
        <p:spPr/>
        <p:txBody>
          <a:bodyPr/>
          <a:lstStyle/>
          <a:p>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5748AE9C-5822-40AC-93DC-913ABDECE8D4}" type="slidenum">
              <a:rPr lang="en-AU" smtClean="0"/>
              <a:pPr/>
              <a:t>‹#›</a:t>
            </a:fld>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879116A9-9FDC-494F-B1EA-52A0F8CA4585}" type="slidenum">
              <a:rPr lang="en-AU" smtClean="0"/>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762001"/>
            <a:ext cx="1676400" cy="50752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457200" y="762001"/>
            <a:ext cx="5867400" cy="50752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6022DD6B-91D6-4646-8101-66A2BDA585AE}" type="slidenum">
              <a:rPr lang="en-AU" smtClean="0"/>
              <a:pPr/>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8229600" cy="1325562"/>
          </a:xfrm>
          <a:prstGeom prst="rect">
            <a:avLst/>
          </a:prstGeom>
        </p:spPr>
        <p:txBody>
          <a:bodyPr vert="horz" lIns="91440" tIns="45720" rIns="91440" bIns="45720" rtlCol="0" anchor="ctr">
            <a:normAutofit/>
          </a:bodyPr>
          <a:lstStyle/>
          <a:p>
            <a:r>
              <a:rPr lang="en-US" smtClean="0"/>
              <a:t>Click to edit Master title style</a:t>
            </a:r>
            <a:endParaRPr/>
          </a:p>
        </p:txBody>
      </p:sp>
      <p:sp>
        <p:nvSpPr>
          <p:cNvPr id="3" name="Text Placeholder 2"/>
          <p:cNvSpPr>
            <a:spLocks noGrp="1"/>
          </p:cNvSpPr>
          <p:nvPr>
            <p:ph type="body" idx="1"/>
          </p:nvPr>
        </p:nvSpPr>
        <p:spPr>
          <a:xfrm>
            <a:off x="1600200" y="1936377"/>
            <a:ext cx="59436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b="0" kern="1200">
                <a:solidFill>
                  <a:schemeClr val="tx2">
                    <a:lumMod val="20000"/>
                    <a:lumOff val="80000"/>
                  </a:schemeClr>
                </a:solidFill>
                <a:effectLst/>
                <a:latin typeface="+mn-lt"/>
                <a:ea typeface="+mn-ea"/>
                <a:cs typeface="+mn-cs"/>
              </a:defRPr>
            </a:lvl1pPr>
          </a:lstStyle>
          <a:p>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b="0" kern="1200">
                <a:solidFill>
                  <a:schemeClr val="tx2">
                    <a:lumMod val="20000"/>
                    <a:lumOff val="80000"/>
                  </a:schemeClr>
                </a:solidFill>
                <a:effectLst/>
                <a:latin typeface="+mn-lt"/>
                <a:ea typeface="+mn-ea"/>
                <a:cs typeface="+mn-cs"/>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b="0" kern="1200">
                <a:solidFill>
                  <a:schemeClr val="tx2">
                    <a:lumMod val="20000"/>
                    <a:lumOff val="80000"/>
                  </a:schemeClr>
                </a:solidFill>
                <a:effectLst/>
                <a:latin typeface="+mn-lt"/>
                <a:ea typeface="+mn-ea"/>
                <a:cs typeface="+mn-cs"/>
              </a:defRPr>
            </a:lvl1pPr>
          </a:lstStyle>
          <a:p>
            <a:fld id="{B2C742CB-8F0D-49B3-9293-BC0BA3FC64C9}" type="slidenum">
              <a:rPr lang="en-AU" smtClean="0"/>
              <a:pPr/>
              <a:t>‹#›</a:t>
            </a:fld>
            <a:endParaRPr lang="en-AU" dirty="0"/>
          </a:p>
        </p:txBody>
      </p:sp>
      <p:pic>
        <p:nvPicPr>
          <p:cNvPr id="8" name="Picture 7" descr="dandelion.png"/>
          <p:cNvPicPr>
            <a:picLocks noChangeAspect="1"/>
          </p:cNvPicPr>
          <p:nvPr/>
        </p:nvPicPr>
        <p:blipFill>
          <a:blip r:embed="rId13" cstate="print"/>
          <a:srcRect r="19766" b="20000"/>
          <a:stretch>
            <a:fillRect/>
          </a:stretch>
        </p:blipFill>
        <p:spPr>
          <a:xfrm>
            <a:off x="7772400" y="3200400"/>
            <a:ext cx="1371600" cy="3657600"/>
          </a:xfrm>
          <a:prstGeom prst="rect">
            <a:avLst/>
          </a:prstGeom>
        </p:spPr>
      </p:pic>
      <p:pic>
        <p:nvPicPr>
          <p:cNvPr id="10" name="Picture 9" descr="Air title.png"/>
          <p:cNvPicPr>
            <a:picLocks noChangeAspect="1"/>
          </p:cNvPicPr>
          <p:nvPr/>
        </p:nvPicPr>
        <p:blipFill>
          <a:blip r:embed="rId14" cstate="print"/>
          <a:srcRect l="42293" t="29512" r="38657" b="34962"/>
          <a:stretch>
            <a:fillRect/>
          </a:stretch>
        </p:blipFill>
        <p:spPr>
          <a:xfrm>
            <a:off x="0" y="0"/>
            <a:ext cx="1475880" cy="3577380"/>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spcBef>
          <a:spcPct val="0"/>
        </a:spcBef>
        <a:buNone/>
        <a:defRPr sz="3600" b="0" kern="1200" cap="none" spc="100" baseline="0">
          <a:solidFill>
            <a:schemeClr val="tx2"/>
          </a:solidFill>
          <a:effectLst>
            <a:outerShdw blurRad="127000" algn="ctr" rotWithShape="0">
              <a:schemeClr val="bg1">
                <a:alpha val="50000"/>
              </a:schemeClr>
            </a:outerShdw>
          </a:effectLst>
          <a:latin typeface="+mj-lt"/>
          <a:ea typeface="+mj-ea"/>
          <a:cs typeface="+mj-cs"/>
        </a:defRPr>
      </a:lvl1pPr>
    </p:titleStyle>
    <p:bodyStyle>
      <a:lvl1pPr marL="342900" indent="-342900" algn="l" defTabSz="914400" rtl="0" eaLnBrk="1" latinLnBrk="0" hangingPunct="1">
        <a:lnSpc>
          <a:spcPct val="100000"/>
        </a:lnSpc>
        <a:spcBef>
          <a:spcPts val="1600"/>
        </a:spcBef>
        <a:buSzPct val="80000"/>
        <a:buFont typeface="Wingdings" pitchFamily="2" charset="2"/>
        <a:buChar char=""/>
        <a:defRPr sz="2000" kern="1200">
          <a:solidFill>
            <a:schemeClr val="tx2"/>
          </a:solidFill>
          <a:latin typeface="+mn-lt"/>
          <a:ea typeface="+mn-ea"/>
          <a:cs typeface="+mn-cs"/>
        </a:defRPr>
      </a:lvl1pPr>
      <a:lvl2pPr marL="631825" indent="-282575" algn="l" defTabSz="914400" rtl="0" eaLnBrk="1" latinLnBrk="0" hangingPunct="1">
        <a:lnSpc>
          <a:spcPct val="100000"/>
        </a:lnSpc>
        <a:spcBef>
          <a:spcPts val="1600"/>
        </a:spcBef>
        <a:buSzPct val="60000"/>
        <a:buFont typeface="Wingdings" pitchFamily="2" charset="2"/>
        <a:buChar char="Ë"/>
        <a:defRPr sz="1800" kern="1200">
          <a:solidFill>
            <a:schemeClr val="tx2"/>
          </a:solidFill>
          <a:latin typeface="+mn-lt"/>
          <a:ea typeface="+mn-ea"/>
          <a:cs typeface="+mn-cs"/>
        </a:defRPr>
      </a:lvl2pPr>
      <a:lvl3pPr marL="914400" indent="-282575" algn="l" defTabSz="914400" rtl="0" eaLnBrk="1" latinLnBrk="0" hangingPunct="1">
        <a:lnSpc>
          <a:spcPct val="100000"/>
        </a:lnSpc>
        <a:spcBef>
          <a:spcPts val="1600"/>
        </a:spcBef>
        <a:buSzPct val="70000"/>
        <a:buFont typeface="Wingdings" pitchFamily="2" charset="2"/>
        <a:buChar char="®"/>
        <a:defRPr sz="1800" kern="1200">
          <a:solidFill>
            <a:schemeClr val="tx2"/>
          </a:solidFill>
          <a:latin typeface="+mn-lt"/>
          <a:ea typeface="+mn-ea"/>
          <a:cs typeface="+mn-cs"/>
        </a:defRPr>
      </a:lvl3pPr>
      <a:lvl4pPr marL="1196975" indent="-282575" algn="l" defTabSz="914400" rtl="0" eaLnBrk="1" latinLnBrk="0" hangingPunct="1">
        <a:lnSpc>
          <a:spcPct val="100000"/>
        </a:lnSpc>
        <a:spcBef>
          <a:spcPts val="1600"/>
        </a:spcBef>
        <a:buSzPct val="60000"/>
        <a:buFont typeface="Wingdings" pitchFamily="2" charset="2"/>
        <a:buChar char="Ë"/>
        <a:defRPr sz="1800" kern="1200">
          <a:solidFill>
            <a:schemeClr val="tx2"/>
          </a:solidFill>
          <a:latin typeface="+mn-lt"/>
          <a:ea typeface="+mn-ea"/>
          <a:cs typeface="+mn-cs"/>
        </a:defRPr>
      </a:lvl4pPr>
      <a:lvl5pPr marL="1492250" indent="-295275" algn="l" defTabSz="914400" rtl="0" eaLnBrk="1" latinLnBrk="0" hangingPunct="1">
        <a:lnSpc>
          <a:spcPct val="100000"/>
        </a:lnSpc>
        <a:spcBef>
          <a:spcPts val="1600"/>
        </a:spcBef>
        <a:buSzPct val="70000"/>
        <a:buFont typeface="Wingdings" pitchFamily="2" charset="2"/>
        <a:buChar char="®"/>
        <a:defRPr sz="1800" kern="1200">
          <a:solidFill>
            <a:schemeClr val="tx2"/>
          </a:solidFill>
          <a:latin typeface="+mn-lt"/>
          <a:ea typeface="+mn-ea"/>
          <a:cs typeface="+mn-cs"/>
        </a:defRPr>
      </a:lvl5pPr>
      <a:lvl6pPr marL="1774825" indent="-282575" algn="l" defTabSz="914400" rtl="0" eaLnBrk="1" latinLnBrk="0" hangingPunct="1">
        <a:lnSpc>
          <a:spcPct val="100000"/>
        </a:lnSpc>
        <a:spcBef>
          <a:spcPts val="1600"/>
        </a:spcBef>
        <a:buSzPct val="60000"/>
        <a:buFont typeface="Wingdings" pitchFamily="2" charset="2"/>
        <a:buChar char="Ë"/>
        <a:defRPr sz="1800" kern="1200">
          <a:solidFill>
            <a:schemeClr val="tx2"/>
          </a:solidFill>
          <a:latin typeface="+mn-lt"/>
          <a:ea typeface="+mn-ea"/>
          <a:cs typeface="+mn-cs"/>
        </a:defRPr>
      </a:lvl6pPr>
      <a:lvl7pPr marL="2057400" indent="-282575" algn="l" defTabSz="914400" rtl="0" eaLnBrk="1" latinLnBrk="0" hangingPunct="1">
        <a:lnSpc>
          <a:spcPct val="100000"/>
        </a:lnSpc>
        <a:spcBef>
          <a:spcPts val="1600"/>
        </a:spcBef>
        <a:buSzPct val="70000"/>
        <a:buFont typeface="Wingdings" pitchFamily="2" charset="2"/>
        <a:buChar char="®"/>
        <a:defRPr sz="1800" kern="1200">
          <a:solidFill>
            <a:schemeClr val="tx2"/>
          </a:solidFill>
          <a:latin typeface="+mn-lt"/>
          <a:ea typeface="+mn-ea"/>
          <a:cs typeface="+mn-cs"/>
        </a:defRPr>
      </a:lvl7pPr>
      <a:lvl8pPr marL="2339975" indent="-282575" algn="l" defTabSz="914400" rtl="0" eaLnBrk="1" latinLnBrk="0" hangingPunct="1">
        <a:lnSpc>
          <a:spcPct val="100000"/>
        </a:lnSpc>
        <a:spcBef>
          <a:spcPts val="1600"/>
        </a:spcBef>
        <a:buSzPct val="60000"/>
        <a:buFont typeface="Wingdings" pitchFamily="2" charset="2"/>
        <a:buChar char="Ë"/>
        <a:defRPr sz="1800" kern="1200">
          <a:solidFill>
            <a:schemeClr val="tx2"/>
          </a:solidFill>
          <a:latin typeface="+mn-lt"/>
          <a:ea typeface="+mn-ea"/>
          <a:cs typeface="+mn-cs"/>
        </a:defRPr>
      </a:lvl8pPr>
      <a:lvl9pPr marL="2622550" indent="-282575" algn="l" defTabSz="914400" rtl="0" eaLnBrk="1" latinLnBrk="0" hangingPunct="1">
        <a:lnSpc>
          <a:spcPct val="100000"/>
        </a:lnSpc>
        <a:spcBef>
          <a:spcPts val="1600"/>
        </a:spcBef>
        <a:buSzPct val="70000"/>
        <a:buFont typeface="Wingdings" pitchFamily="2" charset="2"/>
        <a:buChar char="®"/>
        <a:defRPr sz="1800" kern="120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atalie.konyu@vu.edu.a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eecs.harvard.edu/~keith/poems/urn.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youtube.com/watch?v=HiOU9NAiYlQ"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youtube.com/watch?v=6hHjctqSBw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normAutofit fontScale="90000"/>
          </a:bodyPr>
          <a:lstStyle/>
          <a:p>
            <a:r>
              <a:rPr lang="en-GB" dirty="0"/>
              <a:t>ACL1002</a:t>
            </a:r>
            <a:br>
              <a:rPr lang="en-GB" dirty="0"/>
            </a:br>
            <a:r>
              <a:rPr lang="en-GB" dirty="0"/>
              <a:t>POETRY &amp; POETICS</a:t>
            </a:r>
            <a:endParaRPr lang="en-AU" dirty="0"/>
          </a:p>
        </p:txBody>
      </p:sp>
      <p:sp>
        <p:nvSpPr>
          <p:cNvPr id="2051" name="Rectangle 3"/>
          <p:cNvSpPr>
            <a:spLocks noGrp="1" noChangeArrowheads="1"/>
          </p:cNvSpPr>
          <p:nvPr>
            <p:ph type="subTitle" idx="1"/>
          </p:nvPr>
        </p:nvSpPr>
        <p:spPr/>
        <p:txBody>
          <a:bodyPr>
            <a:normAutofit/>
          </a:bodyPr>
          <a:lstStyle/>
          <a:p>
            <a:r>
              <a:rPr lang="en-GB" sz="2400" dirty="0"/>
              <a:t>Dr </a:t>
            </a:r>
            <a:r>
              <a:rPr lang="en-GB" sz="2400" dirty="0" smtClean="0"/>
              <a:t>Natalie Kon-yu</a:t>
            </a:r>
            <a:endParaRPr lang="en-GB" sz="2400" dirty="0"/>
          </a:p>
          <a:p>
            <a:r>
              <a:rPr lang="en-GB" sz="2400" dirty="0" smtClean="0"/>
              <a:t>Email</a:t>
            </a:r>
            <a:r>
              <a:rPr lang="en-GB" sz="2400" dirty="0"/>
              <a:t>: </a:t>
            </a:r>
            <a:r>
              <a:rPr lang="en-GB" sz="2400" dirty="0" smtClean="0">
                <a:solidFill>
                  <a:srgbClr val="C09E4A"/>
                </a:solidFill>
                <a:hlinkClick r:id="rId3"/>
              </a:rPr>
              <a:t>natalie.konyu@vu.edu.au</a:t>
            </a:r>
            <a:r>
              <a:rPr lang="en-GB" sz="2400" dirty="0" smtClean="0"/>
              <a:t> </a:t>
            </a:r>
            <a:endParaRPr lang="en-GB"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AU" dirty="0"/>
              <a:t>Lecture </a:t>
            </a:r>
            <a:r>
              <a:rPr lang="en-AU" dirty="0" smtClean="0"/>
              <a:t>4:</a:t>
            </a:r>
            <a:r>
              <a:rPr lang="en-AU" dirty="0"/>
              <a:t/>
            </a:r>
            <a:br>
              <a:rPr lang="en-AU" dirty="0"/>
            </a:br>
            <a:r>
              <a:rPr lang="en-AU" dirty="0"/>
              <a:t>‘Poetry and Communication’</a:t>
            </a:r>
          </a:p>
        </p:txBody>
      </p:sp>
      <p:sp>
        <p:nvSpPr>
          <p:cNvPr id="10243" name="Rectangle 3"/>
          <p:cNvSpPr>
            <a:spLocks noGrp="1" noChangeArrowheads="1"/>
          </p:cNvSpPr>
          <p:nvPr>
            <p:ph idx="1"/>
          </p:nvPr>
        </p:nvSpPr>
        <p:spPr>
          <a:xfrm>
            <a:off x="949325" y="1981200"/>
            <a:ext cx="7661275" cy="4471988"/>
          </a:xfrm>
        </p:spPr>
        <p:txBody>
          <a:bodyPr>
            <a:normAutofit/>
          </a:bodyPr>
          <a:lstStyle/>
          <a:p>
            <a:pPr>
              <a:lnSpc>
                <a:spcPct val="120000"/>
              </a:lnSpc>
              <a:spcBef>
                <a:spcPct val="50000"/>
              </a:spcBef>
              <a:buFont typeface="Times" charset="0"/>
              <a:buAutoNum type="arabicPeriod"/>
            </a:pPr>
            <a:r>
              <a:rPr lang="en-AU" sz="2800" dirty="0"/>
              <a:t>What does poetry communicate?</a:t>
            </a:r>
          </a:p>
          <a:p>
            <a:pPr lvl="1">
              <a:lnSpc>
                <a:spcPct val="120000"/>
              </a:lnSpc>
              <a:spcBef>
                <a:spcPct val="50000"/>
              </a:spcBef>
              <a:buFont typeface="Times" charset="0"/>
              <a:buChar char="•"/>
            </a:pPr>
            <a:r>
              <a:rPr lang="en-AU" sz="2400" dirty="0" smtClean="0"/>
              <a:t>E.g. Communicating things or facts.</a:t>
            </a:r>
          </a:p>
          <a:p>
            <a:pPr lvl="1">
              <a:lnSpc>
                <a:spcPct val="120000"/>
              </a:lnSpc>
              <a:spcBef>
                <a:spcPct val="50000"/>
              </a:spcBef>
              <a:buFont typeface="Times" charset="0"/>
              <a:buChar char="•"/>
            </a:pPr>
            <a:r>
              <a:rPr lang="en-AU" sz="2400" dirty="0" smtClean="0"/>
              <a:t>E.g. Communicating </a:t>
            </a:r>
            <a:r>
              <a:rPr lang="en-AU" sz="2400" dirty="0"/>
              <a:t>ideas or </a:t>
            </a:r>
            <a:r>
              <a:rPr lang="en-AU" sz="2400" dirty="0" smtClean="0"/>
              <a:t>notions.</a:t>
            </a:r>
            <a:endParaRPr lang="en-AU" sz="2400" dirty="0"/>
          </a:p>
          <a:p>
            <a:pPr lvl="1">
              <a:lnSpc>
                <a:spcPct val="120000"/>
              </a:lnSpc>
              <a:spcBef>
                <a:spcPct val="50000"/>
              </a:spcBef>
              <a:buFont typeface="Times" charset="0"/>
              <a:buChar char="•"/>
            </a:pPr>
            <a:r>
              <a:rPr lang="en-AU" sz="2400" dirty="0" smtClean="0"/>
              <a:t>E.g. Communicating </a:t>
            </a:r>
            <a:r>
              <a:rPr lang="en-AU" sz="2400" dirty="0"/>
              <a:t>feelings or </a:t>
            </a:r>
            <a:r>
              <a:rPr lang="en-AU" sz="2400" dirty="0" smtClean="0"/>
              <a:t>experiences</a:t>
            </a:r>
            <a:r>
              <a:rPr lang="en-AU" sz="2400" dirty="0"/>
              <a:t>.</a:t>
            </a:r>
          </a:p>
          <a:p>
            <a:pPr lvl="1">
              <a:lnSpc>
                <a:spcPct val="120000"/>
              </a:lnSpc>
              <a:spcBef>
                <a:spcPct val="50000"/>
              </a:spcBef>
              <a:buFont typeface="Times" charset="0"/>
              <a:buChar char="•"/>
            </a:pPr>
            <a:r>
              <a:rPr lang="en-AU" sz="2400" dirty="0" smtClean="0"/>
              <a:t>E.g. Communicating </a:t>
            </a:r>
            <a:r>
              <a:rPr lang="en-AU" sz="2400" dirty="0"/>
              <a:t>what cannot be categorised.</a:t>
            </a:r>
          </a:p>
          <a:p>
            <a:pPr>
              <a:lnSpc>
                <a:spcPct val="120000"/>
              </a:lnSpc>
              <a:spcBef>
                <a:spcPct val="50000"/>
              </a:spcBef>
              <a:buFont typeface="Times" charset="0"/>
              <a:buAutoNum type="arabicPeriod"/>
            </a:pPr>
            <a:r>
              <a:rPr lang="en-AU" sz="2800" dirty="0"/>
              <a:t>At what ‘levels’ does poetry communicate its meanings (or </a:t>
            </a:r>
            <a:r>
              <a:rPr lang="en-AU" sz="2800" dirty="0" smtClean="0"/>
              <a:t>meaningless-</a:t>
            </a:r>
            <a:r>
              <a:rPr lang="en-AU" sz="2800" dirty="0" smtClean="0"/>
              <a:t>es</a:t>
            </a:r>
            <a:r>
              <a:rPr lang="en-AU" sz="28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smtClean="0"/>
              <a:t> </a:t>
            </a:r>
            <a:r>
              <a:rPr lang="en-AU" dirty="0" smtClean="0"/>
              <a:t>Does poetry communicate? </a:t>
            </a:r>
            <a:endParaRPr lang="en-AU" dirty="0"/>
          </a:p>
        </p:txBody>
      </p:sp>
      <p:sp>
        <p:nvSpPr>
          <p:cNvPr id="3" name="Content Placeholder 2"/>
          <p:cNvSpPr>
            <a:spLocks noGrp="1"/>
          </p:cNvSpPr>
          <p:nvPr>
            <p:ph idx="1"/>
          </p:nvPr>
        </p:nvSpPr>
        <p:spPr>
          <a:xfrm>
            <a:off x="500034" y="1214420"/>
            <a:ext cx="8215370" cy="5357851"/>
          </a:xfrm>
        </p:spPr>
        <p:txBody>
          <a:bodyPr>
            <a:noAutofit/>
          </a:bodyPr>
          <a:lstStyle/>
          <a:p>
            <a:r>
              <a:rPr lang="en-AU" sz="2200" dirty="0" smtClean="0"/>
              <a:t>This apparently innocent and simple question is one bound to cause controversy among poetry circles and beyond. </a:t>
            </a:r>
          </a:p>
          <a:p>
            <a:r>
              <a:rPr lang="en-AU" sz="2200" dirty="0" smtClean="0"/>
              <a:t>50 years ago William J Rooney said: </a:t>
            </a:r>
          </a:p>
          <a:p>
            <a:pPr>
              <a:buNone/>
            </a:pPr>
            <a:r>
              <a:rPr lang="en-AU" sz="2200" dirty="0" smtClean="0"/>
              <a:t>“In the last seventy-five years the problem of poetry and communication has been the most insistent theme of most criticism.  </a:t>
            </a:r>
          </a:p>
          <a:p>
            <a:pPr>
              <a:buNone/>
            </a:pPr>
            <a:r>
              <a:rPr lang="en-AU" sz="2200" dirty="0" smtClean="0"/>
              <a:t>The flow of opinion . . . has emphasized . . .  the non-communicative aspects of poetry </a:t>
            </a:r>
          </a:p>
          <a:p>
            <a:pPr>
              <a:buNone/>
            </a:pPr>
            <a:r>
              <a:rPr lang="en-AU" sz="2200" dirty="0" smtClean="0"/>
              <a:t>The gradual emergence out of the late-Nineteenth into the Twentieth century of a deliberate, self-conscious emphasis on the literary product as somehow autonomous.”</a:t>
            </a:r>
          </a:p>
          <a:p>
            <a:endParaRPr lang="en-AU" sz="2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04898"/>
          </a:xfrm>
        </p:spPr>
        <p:txBody>
          <a:bodyPr/>
          <a:lstStyle/>
          <a:p>
            <a:endParaRPr lang="en-AU" dirty="0"/>
          </a:p>
        </p:txBody>
      </p:sp>
      <p:sp>
        <p:nvSpPr>
          <p:cNvPr id="3" name="Content Placeholder 2"/>
          <p:cNvSpPr>
            <a:spLocks noGrp="1"/>
          </p:cNvSpPr>
          <p:nvPr>
            <p:ph idx="1"/>
          </p:nvPr>
        </p:nvSpPr>
        <p:spPr>
          <a:xfrm>
            <a:off x="642910" y="1500174"/>
            <a:ext cx="7929618" cy="4786346"/>
          </a:xfrm>
        </p:spPr>
        <p:txBody>
          <a:bodyPr>
            <a:normAutofit/>
          </a:bodyPr>
          <a:lstStyle/>
          <a:p>
            <a:r>
              <a:rPr lang="en-AU" sz="2400" dirty="0" smtClean="0"/>
              <a:t>Rooney’s position is still fairly dominant, and  contemporary poetry editors of most literary magazines in Australia would hold a position similar to this one.</a:t>
            </a:r>
          </a:p>
          <a:p>
            <a:endParaRPr lang="en-AU" sz="2400" dirty="0" smtClean="0"/>
          </a:p>
          <a:p>
            <a:r>
              <a:rPr lang="en-AU" sz="2400" dirty="0" smtClean="0"/>
              <a:t>We can explore this question further by  looking at a poem by the English Romantic poet John Keats. His 'Ode on a Grecian Urn' is one of the centrally important poems for a number of critics. It embodies the kind of poetic values that they were trying to elevate.</a:t>
            </a:r>
          </a:p>
          <a:p>
            <a:pPr>
              <a:buNone/>
            </a:pPr>
            <a:endParaRPr lang="en-AU"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urn 1.gif"/>
          <p:cNvPicPr>
            <a:picLocks noGrp="1" noChangeAspect="1"/>
          </p:cNvPicPr>
          <p:nvPr>
            <p:ph idx="1"/>
          </p:nvPr>
        </p:nvPicPr>
        <p:blipFill>
          <a:blip r:embed="rId2" cstate="print"/>
          <a:stretch>
            <a:fillRect/>
          </a:stretch>
        </p:blipFill>
        <p:spPr>
          <a:xfrm>
            <a:off x="2285984" y="642918"/>
            <a:ext cx="4300538" cy="5143500"/>
          </a:xfr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urn 2.gif"/>
          <p:cNvPicPr>
            <a:picLocks noGrp="1" noChangeAspect="1"/>
          </p:cNvPicPr>
          <p:nvPr>
            <p:ph idx="1"/>
          </p:nvPr>
        </p:nvPicPr>
        <p:blipFill>
          <a:blip r:embed="rId2" cstate="print"/>
          <a:stretch>
            <a:fillRect/>
          </a:stretch>
        </p:blipFill>
        <p:spPr>
          <a:xfrm>
            <a:off x="3071802" y="928670"/>
            <a:ext cx="3043238" cy="5100638"/>
          </a:xfr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urn 3.gif"/>
          <p:cNvPicPr>
            <a:picLocks noGrp="1" noChangeAspect="1"/>
          </p:cNvPicPr>
          <p:nvPr>
            <p:ph idx="1"/>
          </p:nvPr>
        </p:nvPicPr>
        <p:blipFill>
          <a:blip r:embed="rId2" cstate="print"/>
          <a:stretch>
            <a:fillRect/>
          </a:stretch>
        </p:blipFill>
        <p:spPr>
          <a:xfrm>
            <a:off x="3143240" y="1142984"/>
            <a:ext cx="2857500" cy="4429125"/>
          </a:xfr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Keats’ ‘Ode on a Grecian Urn’</a:t>
            </a:r>
            <a:endParaRPr lang="en-AU" dirty="0"/>
          </a:p>
        </p:txBody>
      </p:sp>
      <p:sp>
        <p:nvSpPr>
          <p:cNvPr id="3" name="Content Placeholder 2"/>
          <p:cNvSpPr>
            <a:spLocks noGrp="1"/>
          </p:cNvSpPr>
          <p:nvPr>
            <p:ph idx="1"/>
          </p:nvPr>
        </p:nvSpPr>
        <p:spPr>
          <a:xfrm>
            <a:off x="642910" y="1285860"/>
            <a:ext cx="7929618" cy="5214974"/>
          </a:xfrm>
        </p:spPr>
        <p:txBody>
          <a:bodyPr>
            <a:normAutofit/>
          </a:bodyPr>
          <a:lstStyle/>
          <a:p>
            <a:r>
              <a:rPr lang="en-AU" sz="2800" dirty="0" smtClean="0">
                <a:hlinkClick r:id="rId2"/>
              </a:rPr>
              <a:t>http://www.eecs.harvard.edu/~keith/poems/urn.html</a:t>
            </a:r>
            <a:endParaRPr lang="en-AU" sz="2800" dirty="0" smtClean="0"/>
          </a:p>
          <a:p>
            <a:pPr>
              <a:lnSpc>
                <a:spcPct val="120000"/>
              </a:lnSpc>
              <a:spcBef>
                <a:spcPct val="50000"/>
              </a:spcBef>
            </a:pPr>
            <a:r>
              <a:rPr lang="en-US" sz="2800" dirty="0" smtClean="0"/>
              <a:t>What ideas are being explored in this poem?</a:t>
            </a:r>
          </a:p>
          <a:p>
            <a:pPr>
              <a:lnSpc>
                <a:spcPct val="120000"/>
              </a:lnSpc>
              <a:spcBef>
                <a:spcPct val="50000"/>
              </a:spcBef>
            </a:pPr>
            <a:r>
              <a:rPr lang="en-US" sz="2800" dirty="0" smtClean="0"/>
              <a:t>Is this poem realistic?</a:t>
            </a:r>
          </a:p>
          <a:p>
            <a:pPr>
              <a:lnSpc>
                <a:spcPct val="120000"/>
              </a:lnSpc>
              <a:spcBef>
                <a:spcPct val="50000"/>
              </a:spcBef>
            </a:pPr>
            <a:r>
              <a:rPr lang="en-US" sz="2800" dirty="0" smtClean="0"/>
              <a:t>What do you think motivates Keats to say (write) these lines?</a:t>
            </a:r>
          </a:p>
          <a:p>
            <a:pPr lvl="1">
              <a:lnSpc>
                <a:spcPct val="120000"/>
              </a:lnSpc>
              <a:spcBef>
                <a:spcPct val="50000"/>
              </a:spcBef>
            </a:pPr>
            <a:r>
              <a:rPr lang="en-US" sz="2800" dirty="0" smtClean="0"/>
              <a:t>Does he expect a particular response from us as readers?</a:t>
            </a:r>
          </a:p>
          <a:p>
            <a:endParaRPr lang="en-AU"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1133460"/>
          </a:xfrm>
        </p:spPr>
        <p:txBody>
          <a:bodyPr/>
          <a:lstStyle/>
          <a:p>
            <a:r>
              <a:rPr lang="en-AU" dirty="0" smtClean="0"/>
              <a:t>Communicating Keats’ Ode</a:t>
            </a:r>
            <a:endParaRPr lang="en-AU" dirty="0"/>
          </a:p>
        </p:txBody>
      </p:sp>
      <p:sp>
        <p:nvSpPr>
          <p:cNvPr id="3" name="Content Placeholder 2"/>
          <p:cNvSpPr>
            <a:spLocks noGrp="1"/>
          </p:cNvSpPr>
          <p:nvPr>
            <p:ph idx="1"/>
          </p:nvPr>
        </p:nvSpPr>
        <p:spPr>
          <a:xfrm>
            <a:off x="500034" y="1357298"/>
            <a:ext cx="8072494" cy="5143535"/>
          </a:xfrm>
        </p:spPr>
        <p:txBody>
          <a:bodyPr>
            <a:noAutofit/>
          </a:bodyPr>
          <a:lstStyle/>
          <a:p>
            <a:r>
              <a:rPr lang="es-ES" sz="2200" dirty="0" smtClean="0"/>
              <a:t>Keats' poem can be read as expressing an aesthetic that keeps </a:t>
            </a:r>
            <a:r>
              <a:rPr lang="en-AU" sz="2200" dirty="0" smtClean="0"/>
              <a:t>the</a:t>
            </a:r>
            <a:r>
              <a:rPr lang="es-ES" sz="2200" dirty="0" smtClean="0"/>
              <a:t> </a:t>
            </a:r>
            <a:r>
              <a:rPr lang="en-AU" sz="2200" dirty="0" smtClean="0"/>
              <a:t>literary</a:t>
            </a:r>
            <a:r>
              <a:rPr lang="es-ES" sz="2200" dirty="0" smtClean="0"/>
              <a:t> object apart from context, influence and indeed communication.</a:t>
            </a:r>
            <a:endParaRPr lang="en-AU" sz="2200" dirty="0" smtClean="0"/>
          </a:p>
          <a:p>
            <a:r>
              <a:rPr lang="en-AU" sz="2200" dirty="0" smtClean="0"/>
              <a:t>There are of course other opinions – that poetry is primarily about communication between people and that without communication it fails as an art form.</a:t>
            </a:r>
          </a:p>
          <a:p>
            <a:r>
              <a:rPr lang="en-AU" sz="2200" dirty="0" smtClean="0"/>
              <a:t>Cleanth Brooks writes ‘I think our initial question, 'What does the poem communicate?' is badly asked. It is not that the poem communicates nothing. Precisely the contrary. The poem communicates so much and communicates it so richly and with such delicate qualifications that the thing communicated is mauled and distorted if we attempt to convey it by any vehicle less subtle that that of the poem itself.’(pp. 72-73)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sz="3200" dirty="0"/>
              <a:t>Communicating feeling/experience</a:t>
            </a:r>
            <a:r>
              <a:rPr lang="en-US" sz="3200" dirty="0" smtClean="0"/>
              <a:t>:</a:t>
            </a:r>
            <a:endParaRPr lang="en-AU" sz="3600" dirty="0"/>
          </a:p>
        </p:txBody>
      </p:sp>
      <p:sp>
        <p:nvSpPr>
          <p:cNvPr id="15363" name="Rectangle 3"/>
          <p:cNvSpPr>
            <a:spLocks noGrp="1" noChangeArrowheads="1"/>
          </p:cNvSpPr>
          <p:nvPr>
            <p:ph idx="1"/>
          </p:nvPr>
        </p:nvSpPr>
        <p:spPr>
          <a:xfrm>
            <a:off x="642910" y="1357298"/>
            <a:ext cx="7858180" cy="5214973"/>
          </a:xfrm>
        </p:spPr>
        <p:txBody>
          <a:bodyPr>
            <a:normAutofit/>
          </a:bodyPr>
          <a:lstStyle/>
          <a:p>
            <a:r>
              <a:rPr lang="en-AU" sz="2200" dirty="0" smtClean="0"/>
              <a:t>TS Eliot felt that "Genuine poetry can communicate before it is understood." </a:t>
            </a:r>
          </a:p>
          <a:p>
            <a:r>
              <a:rPr lang="en-AU" sz="2200" dirty="0" smtClean="0"/>
              <a:t>Whereas other ways of thinking might suggest that something needs to be understood before it communicates. </a:t>
            </a:r>
          </a:p>
          <a:p>
            <a:r>
              <a:rPr lang="en-AU" sz="2200" dirty="0" smtClean="0"/>
              <a:t>We’ll take an example from Icelandic pop group Sigur </a:t>
            </a:r>
            <a:r>
              <a:rPr lang="en-AU" sz="2200" dirty="0" smtClean="0"/>
              <a:t>Ros</a:t>
            </a:r>
            <a:endParaRPr lang="en-AU" sz="2200" dirty="0" smtClean="0"/>
          </a:p>
          <a:p>
            <a:r>
              <a:rPr lang="en-US" sz="2200" dirty="0" smtClean="0">
                <a:hlinkClick r:id="rId3"/>
              </a:rPr>
              <a:t>http://www.youtube.com/watch?v=HiOU9NAiYlQ</a:t>
            </a:r>
            <a:endParaRPr lang="en-US" sz="2200" dirty="0" smtClean="0"/>
          </a:p>
          <a:p>
            <a:r>
              <a:rPr lang="en-US" sz="2200" dirty="0" smtClean="0"/>
              <a:t>What is the song about?</a:t>
            </a:r>
          </a:p>
          <a:p>
            <a:r>
              <a:rPr lang="en-US" sz="2200" dirty="0" smtClean="0"/>
              <a:t>Can we tell anything about the meaning from the sound?</a:t>
            </a:r>
          </a:p>
          <a:p>
            <a:r>
              <a:rPr lang="en-US" sz="2200" dirty="0" smtClean="0"/>
              <a:t>What is the tone, mood or feeling we get from the music and the sound of the lyrics?</a:t>
            </a:r>
            <a:endParaRPr lang="en-US" sz="22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285728"/>
            <a:ext cx="8358246" cy="6357982"/>
          </a:xfrm>
        </p:spPr>
        <p:txBody>
          <a:bodyPr>
            <a:normAutofit lnSpcReduction="10000"/>
          </a:bodyPr>
          <a:lstStyle/>
          <a:p>
            <a:pPr>
              <a:buNone/>
            </a:pPr>
            <a:r>
              <a:rPr lang="en-AU" dirty="0" smtClean="0"/>
              <a:t>A silver river illuminates the whole world and blue eyes </a:t>
            </a:r>
          </a:p>
          <a:p>
            <a:pPr>
              <a:buNone/>
            </a:pPr>
            <a:r>
              <a:rPr lang="en-AU" dirty="0" smtClean="0"/>
              <a:t>Cut the starry sky I make a wish and close your eyes now </a:t>
            </a:r>
          </a:p>
          <a:p>
            <a:pPr>
              <a:buNone/>
            </a:pPr>
            <a:r>
              <a:rPr lang="en-AU" dirty="0" smtClean="0"/>
              <a:t>Yes, do that, may it now come true </a:t>
            </a:r>
          </a:p>
          <a:p>
            <a:pPr>
              <a:buNone/>
            </a:pPr>
            <a:r>
              <a:rPr lang="en-AU" dirty="0" smtClean="0"/>
              <a:t>Oh no</a:t>
            </a:r>
          </a:p>
          <a:p>
            <a:pPr>
              <a:buNone/>
            </a:pPr>
            <a:r>
              <a:rPr lang="en-AU" dirty="0" smtClean="0"/>
              <a:t> </a:t>
            </a:r>
          </a:p>
          <a:p>
            <a:pPr>
              <a:buNone/>
            </a:pPr>
            <a:r>
              <a:rPr lang="en-AU" dirty="0" smtClean="0"/>
              <a:t>At the speed of the stars </a:t>
            </a:r>
          </a:p>
          <a:p>
            <a:pPr>
              <a:buNone/>
            </a:pPr>
            <a:r>
              <a:rPr lang="en-AU" dirty="0" smtClean="0"/>
              <a:t>Inside my heart explodes, an airplane rumbles </a:t>
            </a:r>
          </a:p>
          <a:p>
            <a:pPr>
              <a:buNone/>
            </a:pPr>
            <a:r>
              <a:rPr lang="en-AU" dirty="0" smtClean="0"/>
              <a:t>Cracked open the earth sings </a:t>
            </a:r>
          </a:p>
          <a:p>
            <a:pPr>
              <a:buNone/>
            </a:pPr>
            <a:r>
              <a:rPr lang="en-AU" dirty="0" smtClean="0"/>
              <a:t>I make a wish and close your eyes now </a:t>
            </a:r>
          </a:p>
          <a:p>
            <a:pPr>
              <a:buNone/>
            </a:pPr>
            <a:r>
              <a:rPr lang="en-AU" dirty="0" smtClean="0"/>
              <a:t>Yes, do that, let's go dance </a:t>
            </a:r>
          </a:p>
          <a:p>
            <a:pPr>
              <a:buNone/>
            </a:pPr>
            <a:r>
              <a:rPr lang="en-AU" dirty="0" smtClean="0"/>
              <a:t>Everything is forgotten in bliss, and may it come true </a:t>
            </a:r>
          </a:p>
          <a:p>
            <a:pPr>
              <a:buNone/>
            </a:pPr>
            <a:r>
              <a:rPr lang="en-AU" dirty="0" smtClean="0"/>
              <a:t>I open my eyes </a:t>
            </a:r>
          </a:p>
          <a:p>
            <a:pPr>
              <a:buNone/>
            </a:pPr>
            <a:r>
              <a:rPr lang="en-AU" dirty="0" smtClean="0"/>
              <a:t>Oh no </a:t>
            </a:r>
          </a:p>
          <a:p>
            <a:endParaRPr lang="en-AU"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357166"/>
            <a:ext cx="8429684" cy="6215106"/>
          </a:xfrm>
        </p:spPr>
        <p:txBody>
          <a:bodyPr>
            <a:normAutofit lnSpcReduction="10000"/>
          </a:bodyPr>
          <a:lstStyle/>
          <a:p>
            <a:pPr>
              <a:buNone/>
            </a:pPr>
            <a:r>
              <a:rPr lang="en-AU" dirty="0" smtClean="0"/>
              <a:t>My best friend whatever may happen </a:t>
            </a:r>
          </a:p>
          <a:p>
            <a:pPr>
              <a:buNone/>
            </a:pPr>
            <a:r>
              <a:rPr lang="en-AU" dirty="0" smtClean="0"/>
              <a:t>I swallow a tear and breathe in your hair </a:t>
            </a:r>
          </a:p>
          <a:p>
            <a:pPr>
              <a:buNone/>
            </a:pPr>
            <a:r>
              <a:rPr lang="en-AU" dirty="0" smtClean="0"/>
              <a:t>Making a ruckus, we cry in each other's arms </a:t>
            </a:r>
          </a:p>
          <a:p>
            <a:pPr>
              <a:buNone/>
            </a:pPr>
            <a:r>
              <a:rPr lang="en-AU" dirty="0" smtClean="0"/>
              <a:t>When we meet </a:t>
            </a:r>
          </a:p>
          <a:p>
            <a:pPr>
              <a:buNone/>
            </a:pPr>
            <a:r>
              <a:rPr lang="en-AU" dirty="0" smtClean="0"/>
              <a:t>When we kiss </a:t>
            </a:r>
          </a:p>
          <a:p>
            <a:pPr>
              <a:buNone/>
            </a:pPr>
            <a:r>
              <a:rPr lang="en-AU" dirty="0" smtClean="0"/>
              <a:t>Lips burning, holding hands </a:t>
            </a:r>
          </a:p>
          <a:p>
            <a:pPr>
              <a:buNone/>
            </a:pPr>
            <a:r>
              <a:rPr lang="en-AU" dirty="0" smtClean="0"/>
              <a:t>I see you waking up </a:t>
            </a:r>
          </a:p>
          <a:p>
            <a:pPr>
              <a:buNone/>
            </a:pPr>
            <a:r>
              <a:rPr lang="en-AU" dirty="0" smtClean="0"/>
              <a:t>I see you naked </a:t>
            </a:r>
          </a:p>
          <a:p>
            <a:pPr>
              <a:buNone/>
            </a:pPr>
            <a:r>
              <a:rPr lang="en-AU" dirty="0" smtClean="0"/>
              <a:t>Within me a lunatic sings </a:t>
            </a:r>
          </a:p>
          <a:p>
            <a:pPr>
              <a:buNone/>
            </a:pPr>
            <a:r>
              <a:rPr lang="en-AU" dirty="0" smtClean="0"/>
              <a:t> </a:t>
            </a:r>
          </a:p>
          <a:p>
            <a:pPr>
              <a:buNone/>
            </a:pPr>
            <a:r>
              <a:rPr lang="en-AU" dirty="0" smtClean="0"/>
              <a:t>Always you wade, we run faster </a:t>
            </a:r>
          </a:p>
          <a:p>
            <a:pPr>
              <a:buNone/>
            </a:pPr>
            <a:r>
              <a:rPr lang="en-AU" dirty="0" smtClean="0"/>
              <a:t>Everything becomes smaller, I scream louder </a:t>
            </a:r>
          </a:p>
          <a:p>
            <a:pPr>
              <a:buNone/>
            </a:pPr>
            <a:r>
              <a:rPr lang="en-AU" dirty="0" smtClean="0"/>
              <a:t>Am about to wade, going away </a:t>
            </a:r>
          </a:p>
          <a:p>
            <a:endParaRPr lang="en-AU"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How does Poetry communicate?</a:t>
            </a:r>
            <a:endParaRPr lang="en-AU" dirty="0"/>
          </a:p>
        </p:txBody>
      </p:sp>
      <p:sp>
        <p:nvSpPr>
          <p:cNvPr id="4" name="Content Placeholder 3"/>
          <p:cNvSpPr>
            <a:spLocks noGrp="1"/>
          </p:cNvSpPr>
          <p:nvPr>
            <p:ph idx="1"/>
          </p:nvPr>
        </p:nvSpPr>
        <p:spPr>
          <a:xfrm>
            <a:off x="357158" y="1500174"/>
            <a:ext cx="8429684" cy="3867725"/>
          </a:xfrm>
          <a:prstGeom prst="rect">
            <a:avLst/>
          </a:prstGeom>
        </p:spPr>
        <p:txBody>
          <a:bodyPr wrap="square">
            <a:spAutoFit/>
          </a:bodyPr>
          <a:lstStyle/>
          <a:p>
            <a:pPr>
              <a:buNone/>
            </a:pPr>
            <a:r>
              <a:rPr lang="en-AU" sz="3200" b="1" dirty="0" smtClean="0"/>
              <a:t>Poetry communicates substance through form via </a:t>
            </a:r>
            <a:r>
              <a:rPr lang="en-AU" sz="3200" dirty="0" smtClean="0"/>
              <a:t>– </a:t>
            </a:r>
          </a:p>
          <a:p>
            <a:pPr lvl="1"/>
            <a:r>
              <a:rPr lang="en-AU" sz="3200" dirty="0" smtClean="0"/>
              <a:t>Rhythm</a:t>
            </a:r>
          </a:p>
          <a:p>
            <a:pPr lvl="1"/>
            <a:r>
              <a:rPr lang="en-AU" sz="3200" dirty="0" smtClean="0"/>
              <a:t>Sound</a:t>
            </a:r>
          </a:p>
          <a:p>
            <a:pPr lvl="1"/>
            <a:r>
              <a:rPr lang="en-AU" sz="3200" dirty="0" smtClean="0"/>
              <a:t>Words</a:t>
            </a:r>
          </a:p>
          <a:p>
            <a:r>
              <a:rPr lang="en-AU" sz="3200" b="1" dirty="0" smtClean="0"/>
              <a:t>Meaning</a:t>
            </a:r>
            <a:endParaRPr lang="en-AU" sz="3200"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6388" name="Picture 4" descr="tyger"/>
          <p:cNvPicPr>
            <a:picLocks noChangeAspect="1" noChangeArrowheads="1"/>
          </p:cNvPicPr>
          <p:nvPr/>
        </p:nvPicPr>
        <p:blipFill>
          <a:blip r:embed="rId3" cstate="print"/>
          <a:srcRect/>
          <a:stretch>
            <a:fillRect/>
          </a:stretch>
        </p:blipFill>
        <p:spPr bwMode="auto">
          <a:xfrm>
            <a:off x="2143108" y="0"/>
            <a:ext cx="4481513" cy="6858000"/>
          </a:xfrm>
          <a:prstGeom prst="rect">
            <a:avLst/>
          </a:prstGeom>
          <a:noFill/>
          <a:ln w="25400">
            <a:solidFill>
              <a:srgbClr val="000000"/>
            </a:solid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William Blake’s ‘The Tyger’</a:t>
            </a:r>
            <a:endParaRPr lang="en-AU" dirty="0"/>
          </a:p>
        </p:txBody>
      </p:sp>
      <p:sp>
        <p:nvSpPr>
          <p:cNvPr id="3" name="Content Placeholder 2"/>
          <p:cNvSpPr>
            <a:spLocks noGrp="1"/>
          </p:cNvSpPr>
          <p:nvPr>
            <p:ph idx="1"/>
          </p:nvPr>
        </p:nvSpPr>
        <p:spPr>
          <a:xfrm>
            <a:off x="500034" y="1357298"/>
            <a:ext cx="8143932" cy="5143535"/>
          </a:xfrm>
        </p:spPr>
        <p:txBody>
          <a:bodyPr>
            <a:normAutofit/>
          </a:bodyPr>
          <a:lstStyle/>
          <a:p>
            <a:endParaRPr lang="en-AU" sz="3200" dirty="0" smtClean="0"/>
          </a:p>
          <a:p>
            <a:r>
              <a:rPr lang="en-AU" sz="3200" dirty="0" smtClean="0"/>
              <a:t>What is the poem about?</a:t>
            </a:r>
          </a:p>
          <a:p>
            <a:r>
              <a:rPr lang="en-AU" sz="3200" dirty="0" smtClean="0"/>
              <a:t>Where has Blake’s Tyger been created?</a:t>
            </a:r>
          </a:p>
          <a:p>
            <a:r>
              <a:rPr lang="en-AU" sz="3200" dirty="0" smtClean="0"/>
              <a:t>Is there a religious aspect to this poem?  How do we know that?</a:t>
            </a:r>
          </a:p>
          <a:p>
            <a:r>
              <a:rPr lang="en-AU" sz="3200" dirty="0" smtClean="0"/>
              <a:t>Is Blake commenting on the ability of poetry to  describe the Tyger?  If so, what is he saying about it?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14290"/>
            <a:ext cx="8229600" cy="714380"/>
          </a:xfrm>
        </p:spPr>
        <p:txBody>
          <a:bodyPr>
            <a:normAutofit fontScale="90000"/>
          </a:bodyPr>
          <a:lstStyle/>
          <a:p>
            <a:r>
              <a:rPr lang="en-US" b="1" dirty="0" smtClean="0"/>
              <a:t/>
            </a:r>
            <a:br>
              <a:rPr lang="en-US" b="1" dirty="0" smtClean="0"/>
            </a:br>
            <a:r>
              <a:rPr lang="en-US" b="1" dirty="0" smtClean="0"/>
              <a:t>Aunt Jennifer’s Tigers</a:t>
            </a:r>
            <a:br>
              <a:rPr lang="en-US" b="1" dirty="0" smtClean="0"/>
            </a:br>
            <a:endParaRPr lang="en-AU" sz="3600" dirty="0"/>
          </a:p>
        </p:txBody>
      </p:sp>
      <p:sp>
        <p:nvSpPr>
          <p:cNvPr id="14339" name="Rectangle 3"/>
          <p:cNvSpPr>
            <a:spLocks noGrp="1" noChangeArrowheads="1"/>
          </p:cNvSpPr>
          <p:nvPr>
            <p:ph idx="1"/>
          </p:nvPr>
        </p:nvSpPr>
        <p:spPr>
          <a:xfrm>
            <a:off x="500034" y="1000108"/>
            <a:ext cx="8143932" cy="5500726"/>
          </a:xfrm>
        </p:spPr>
        <p:txBody>
          <a:bodyPr>
            <a:normAutofit fontScale="70000" lnSpcReduction="20000"/>
          </a:bodyPr>
          <a:lstStyle/>
          <a:p>
            <a:pPr>
              <a:lnSpc>
                <a:spcPct val="120000"/>
              </a:lnSpc>
              <a:spcBef>
                <a:spcPts val="0"/>
              </a:spcBef>
              <a:buNone/>
            </a:pPr>
            <a:r>
              <a:rPr lang="en-AU" sz="3600" dirty="0" smtClean="0"/>
              <a:t>Aunt Jennifer's tigers prance across a screen, </a:t>
            </a:r>
          </a:p>
          <a:p>
            <a:pPr>
              <a:lnSpc>
                <a:spcPct val="120000"/>
              </a:lnSpc>
              <a:spcBef>
                <a:spcPts val="0"/>
              </a:spcBef>
              <a:buNone/>
            </a:pPr>
            <a:r>
              <a:rPr lang="en-AU" sz="3600" dirty="0" smtClean="0"/>
              <a:t>Bright topaz denizens of a world of green.</a:t>
            </a:r>
          </a:p>
          <a:p>
            <a:pPr>
              <a:lnSpc>
                <a:spcPct val="120000"/>
              </a:lnSpc>
              <a:spcBef>
                <a:spcPts val="0"/>
              </a:spcBef>
              <a:buNone/>
            </a:pPr>
            <a:r>
              <a:rPr lang="en-AU" sz="3600" dirty="0" smtClean="0"/>
              <a:t>They do not fear the men beneath the tree; </a:t>
            </a:r>
          </a:p>
          <a:p>
            <a:pPr>
              <a:lnSpc>
                <a:spcPct val="120000"/>
              </a:lnSpc>
              <a:spcBef>
                <a:spcPts val="0"/>
              </a:spcBef>
              <a:buNone/>
            </a:pPr>
            <a:r>
              <a:rPr lang="en-AU" sz="3600" dirty="0" smtClean="0"/>
              <a:t>They pace in sleek chivalric certainty. </a:t>
            </a:r>
          </a:p>
          <a:p>
            <a:pPr>
              <a:lnSpc>
                <a:spcPct val="120000"/>
              </a:lnSpc>
              <a:spcBef>
                <a:spcPts val="0"/>
              </a:spcBef>
              <a:buNone/>
            </a:pPr>
            <a:endParaRPr lang="en-AU" sz="3600" dirty="0" smtClean="0"/>
          </a:p>
          <a:p>
            <a:pPr>
              <a:lnSpc>
                <a:spcPct val="120000"/>
              </a:lnSpc>
              <a:spcBef>
                <a:spcPts val="0"/>
              </a:spcBef>
              <a:buNone/>
            </a:pPr>
            <a:r>
              <a:rPr lang="en-AU" sz="3600" dirty="0" smtClean="0"/>
              <a:t>Aunt Jennifer's fingers fluttering through her wool </a:t>
            </a:r>
          </a:p>
          <a:p>
            <a:pPr>
              <a:lnSpc>
                <a:spcPct val="120000"/>
              </a:lnSpc>
              <a:spcBef>
                <a:spcPts val="0"/>
              </a:spcBef>
              <a:buNone/>
            </a:pPr>
            <a:r>
              <a:rPr lang="en-AU" sz="3600" dirty="0" smtClean="0"/>
              <a:t>Find even the ivory needle hard to pull.</a:t>
            </a:r>
          </a:p>
          <a:p>
            <a:pPr>
              <a:lnSpc>
                <a:spcPct val="120000"/>
              </a:lnSpc>
              <a:spcBef>
                <a:spcPts val="0"/>
              </a:spcBef>
              <a:buNone/>
            </a:pPr>
            <a:r>
              <a:rPr lang="en-AU" sz="3600" dirty="0" smtClean="0"/>
              <a:t>The massive weight of Uncle's wedding band </a:t>
            </a:r>
          </a:p>
          <a:p>
            <a:pPr>
              <a:lnSpc>
                <a:spcPct val="120000"/>
              </a:lnSpc>
              <a:spcBef>
                <a:spcPts val="0"/>
              </a:spcBef>
              <a:buNone/>
            </a:pPr>
            <a:r>
              <a:rPr lang="en-AU" sz="3600" dirty="0" smtClean="0"/>
              <a:t>Sits heavily upon Aunt Jennifer's hand. </a:t>
            </a:r>
          </a:p>
          <a:p>
            <a:pPr>
              <a:lnSpc>
                <a:spcPct val="120000"/>
              </a:lnSpc>
              <a:spcBef>
                <a:spcPts val="0"/>
              </a:spcBef>
              <a:buNone/>
            </a:pPr>
            <a:endParaRPr lang="en-AU" sz="3600" dirty="0" smtClean="0"/>
          </a:p>
          <a:p>
            <a:pPr>
              <a:lnSpc>
                <a:spcPct val="120000"/>
              </a:lnSpc>
              <a:spcBef>
                <a:spcPts val="0"/>
              </a:spcBef>
              <a:buNone/>
            </a:pPr>
            <a:r>
              <a:rPr lang="en-AU" sz="3600" dirty="0" smtClean="0"/>
              <a:t>When Aunt is dead, her terrified hands will lie </a:t>
            </a:r>
          </a:p>
          <a:p>
            <a:pPr>
              <a:lnSpc>
                <a:spcPct val="120000"/>
              </a:lnSpc>
              <a:spcBef>
                <a:spcPts val="0"/>
              </a:spcBef>
              <a:buNone/>
            </a:pPr>
            <a:r>
              <a:rPr lang="en-AU" sz="3600" dirty="0" smtClean="0"/>
              <a:t>Still ringed with ordeals she was mastered by. </a:t>
            </a:r>
          </a:p>
          <a:p>
            <a:pPr>
              <a:lnSpc>
                <a:spcPct val="120000"/>
              </a:lnSpc>
              <a:spcBef>
                <a:spcPts val="0"/>
              </a:spcBef>
              <a:buNone/>
            </a:pPr>
            <a:r>
              <a:rPr lang="en-AU" sz="3600" dirty="0" smtClean="0"/>
              <a:t>The tigers in the panel that she made </a:t>
            </a:r>
          </a:p>
          <a:p>
            <a:pPr>
              <a:lnSpc>
                <a:spcPct val="120000"/>
              </a:lnSpc>
              <a:spcBef>
                <a:spcPts val="0"/>
              </a:spcBef>
              <a:buNone/>
            </a:pPr>
            <a:r>
              <a:rPr lang="en-AU" sz="3600" dirty="0" smtClean="0"/>
              <a:t>Will go on prancing, proud and unafraid.</a:t>
            </a:r>
            <a:endParaRPr lang="en-US" sz="3600" b="1" dirty="0"/>
          </a:p>
        </p:txBody>
      </p:sp>
    </p:spTree>
  </p:cSld>
  <p:clrMapOvr>
    <a:masterClrMapping/>
  </p:clrMapOvr>
  <p:transition advClick="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sz="3200" dirty="0"/>
              <a:t>Communicating things or facts:</a:t>
            </a:r>
            <a:br>
              <a:rPr lang="en-US" sz="3200" dirty="0"/>
            </a:br>
            <a:r>
              <a:rPr lang="en-US" sz="3600" dirty="0"/>
              <a:t> ‘Aunt Jennifer’s Tigers’</a:t>
            </a:r>
            <a:endParaRPr lang="en-AU" sz="3600" dirty="0"/>
          </a:p>
        </p:txBody>
      </p:sp>
      <p:sp>
        <p:nvSpPr>
          <p:cNvPr id="13315" name="Rectangle 3"/>
          <p:cNvSpPr>
            <a:spLocks noGrp="1" noChangeArrowheads="1"/>
          </p:cNvSpPr>
          <p:nvPr>
            <p:ph idx="1"/>
          </p:nvPr>
        </p:nvSpPr>
        <p:spPr/>
        <p:txBody>
          <a:bodyPr>
            <a:normAutofit/>
          </a:bodyPr>
          <a:lstStyle/>
          <a:p>
            <a:r>
              <a:rPr lang="en-US" sz="2800" dirty="0" smtClean="0"/>
              <a:t>What </a:t>
            </a:r>
            <a:r>
              <a:rPr lang="en-US" sz="2800" dirty="0"/>
              <a:t>are the central facts at issue in this poem?</a:t>
            </a:r>
          </a:p>
          <a:p>
            <a:pPr lvl="1"/>
            <a:r>
              <a:rPr lang="en-US" sz="2400" dirty="0"/>
              <a:t>Are they particularly well suited to poetic expression?  (Why or why not?)</a:t>
            </a:r>
          </a:p>
          <a:p>
            <a:r>
              <a:rPr lang="en-US" sz="2800" dirty="0" smtClean="0"/>
              <a:t>How </a:t>
            </a:r>
            <a:r>
              <a:rPr lang="en-US" sz="2800" dirty="0"/>
              <a:t>does the form of the poem amplify its meaning?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Inter-textual Communication:</a:t>
            </a:r>
            <a:br>
              <a:rPr lang="en-AU" dirty="0" smtClean="0"/>
            </a:br>
            <a:r>
              <a:rPr lang="en-AU" dirty="0" smtClean="0"/>
              <a:t>Rich’s Tigers and Blake’s Tyger</a:t>
            </a:r>
            <a:endParaRPr lang="en-AU" dirty="0"/>
          </a:p>
        </p:txBody>
      </p:sp>
      <p:sp>
        <p:nvSpPr>
          <p:cNvPr id="3" name="Content Placeholder 2"/>
          <p:cNvSpPr>
            <a:spLocks noGrp="1"/>
          </p:cNvSpPr>
          <p:nvPr>
            <p:ph idx="1"/>
          </p:nvPr>
        </p:nvSpPr>
        <p:spPr>
          <a:xfrm>
            <a:off x="500034" y="1571612"/>
            <a:ext cx="8072494" cy="5000660"/>
          </a:xfrm>
        </p:spPr>
        <p:txBody>
          <a:bodyPr>
            <a:noAutofit/>
          </a:bodyPr>
          <a:lstStyle/>
          <a:p>
            <a:r>
              <a:rPr lang="en-AU" sz="3200" dirty="0" smtClean="0"/>
              <a:t>Do these two poems relate to one another?</a:t>
            </a:r>
          </a:p>
          <a:p>
            <a:r>
              <a:rPr lang="en-AU" sz="3200" dirty="0" smtClean="0"/>
              <a:t>How does our understanding of Blake’s Tyger effect how we read Rich’s tigers?</a:t>
            </a:r>
          </a:p>
          <a:p>
            <a:r>
              <a:rPr lang="en-AU" sz="3200" dirty="0" smtClean="0"/>
              <a:t>What other factors can contribute to a reading of this poem?</a:t>
            </a:r>
          </a:p>
          <a:p>
            <a:r>
              <a:rPr lang="en-AU" sz="3200" dirty="0" smtClean="0"/>
              <a:t>Is there a gendered reading to be made of Rich’s poem?</a:t>
            </a:r>
            <a:endParaRPr lang="en-AU" sz="32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Sylvia Plath</a:t>
            </a:r>
            <a:endParaRPr lang="en-AU" dirty="0"/>
          </a:p>
        </p:txBody>
      </p:sp>
      <p:sp>
        <p:nvSpPr>
          <p:cNvPr id="3" name="Content Placeholder 2"/>
          <p:cNvSpPr>
            <a:spLocks noGrp="1"/>
          </p:cNvSpPr>
          <p:nvPr>
            <p:ph idx="1"/>
          </p:nvPr>
        </p:nvSpPr>
        <p:spPr>
          <a:xfrm>
            <a:off x="500034" y="1285860"/>
            <a:ext cx="8143932" cy="5143536"/>
          </a:xfrm>
        </p:spPr>
        <p:txBody>
          <a:bodyPr/>
          <a:lstStyle/>
          <a:p>
            <a:endParaRPr lang="en-AU" dirty="0" smtClean="0"/>
          </a:p>
          <a:p>
            <a:endParaRPr lang="en-AU" dirty="0" smtClean="0"/>
          </a:p>
          <a:p>
            <a:r>
              <a:rPr lang="en-AU" dirty="0" smtClean="0">
                <a:hlinkClick r:id="rId2"/>
              </a:rPr>
              <a:t>http://www.youtube.com/watch?v=6hHjctqSBwM</a:t>
            </a:r>
            <a:endParaRPr lang="en-AU" dirty="0" smtClean="0"/>
          </a:p>
          <a:p>
            <a:endParaRPr lang="en-AU"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ir">
      <a:fillStyleLst>
        <a:solidFill>
          <a:schemeClr val="phClr"/>
        </a:solidFill>
        <a:gradFill rotWithShape="1">
          <a:gsLst>
            <a:gs pos="0">
              <a:schemeClr val="phClr">
                <a:tint val="70000"/>
                <a:satMod val="200000"/>
              </a:schemeClr>
            </a:gs>
            <a:gs pos="35000">
              <a:schemeClr val="phClr">
                <a:tint val="50000"/>
                <a:satMod val="250000"/>
              </a:schemeClr>
            </a:gs>
            <a:gs pos="100000">
              <a:schemeClr val="phClr">
                <a:tint val="40000"/>
                <a:satMod val="350000"/>
              </a:schemeClr>
            </a:gs>
          </a:gsLst>
          <a:lin ang="8700000" scaled="1"/>
        </a:gradFill>
        <a:blipFill rotWithShape="1">
          <a:blip xmlns:r="http://schemas.openxmlformats.org/officeDocument/2006/relationships" r:embed="rId1">
            <a:duotone>
              <a:schemeClr val="phClr">
                <a:shade val="50000"/>
                <a:satMod val="110000"/>
              </a:schemeClr>
              <a:schemeClr val="phClr">
                <a:tint val="70000"/>
                <a:satMod val="150000"/>
              </a:schemeClr>
            </a:duotone>
          </a:blip>
          <a:tile tx="0" ty="0" sx="35000" sy="35000" flip="none" algn="tl"/>
        </a:blipFill>
      </a:fillStyleLst>
      <a:lnStyleLst>
        <a:ln w="9525" cap="flat" cmpd="sng" algn="ctr">
          <a:solidFill>
            <a:schemeClr val="phClr">
              <a:shade val="95000"/>
              <a:satMod val="115000"/>
            </a:schemeClr>
          </a:solidFill>
          <a:prstDash val="solid"/>
        </a:ln>
        <a:ln w="12700" cap="flat" cmpd="sng" algn="ctr">
          <a:solidFill>
            <a:schemeClr val="phClr">
              <a:shade val="90000"/>
              <a:satMod val="115000"/>
            </a:schemeClr>
          </a:solidFill>
          <a:prstDash val="solid"/>
        </a:ln>
        <a:ln w="19050" cap="flat" cmpd="sng" algn="ctr">
          <a:solidFill>
            <a:schemeClr val="phClr">
              <a:shade val="80000"/>
              <a:satMod val="110000"/>
            </a:schemeClr>
          </a:solidFill>
          <a:prstDash val="solid"/>
        </a:ln>
      </a:lnStyleLst>
      <a:effectStyleLst>
        <a:effectStyle>
          <a:effectLst>
            <a:outerShdw blurRad="40000" dist="20000" dir="5400000" rotWithShape="0">
              <a:srgbClr val="000000">
                <a:alpha val="38000"/>
              </a:srgbClr>
            </a:outerShdw>
          </a:effectLst>
        </a:effectStyle>
        <a:effectStyle>
          <a:effectLst>
            <a:outerShdw blurRad="63500" dist="25400" dir="5400000" rotWithShape="0">
              <a:srgbClr val="FFFFFF">
                <a:alpha val="50000"/>
              </a:srgbClr>
            </a:outerShdw>
            <a:reflection blurRad="63500" stA="20000" endPos="15000" dist="12700" dir="5400000" sy="-100000" rotWithShape="0"/>
          </a:effectLst>
        </a:effectStyle>
        <a:effectStyle>
          <a:effectLst>
            <a:reflection blurRad="127000" stA="25000" endPos="20000" dist="38100" dir="5400000" sy="-100000" rotWithShape="0"/>
          </a:effectLst>
          <a:scene3d>
            <a:camera prst="orthographicFront">
              <a:rot lat="0" lon="0" rev="0"/>
            </a:camera>
            <a:lightRig rig="balanced" dir="b">
              <a:rot lat="0" lon="0" rev="2700000"/>
            </a:lightRig>
          </a:scene3d>
          <a:sp3d>
            <a:bevelT w="38100" h="25400"/>
          </a:sp3d>
        </a:effectStyle>
      </a:effectStyleLst>
      <a:bgFillStyleLst>
        <a:solidFill>
          <a:schemeClr val="phClr"/>
        </a:solidFill>
        <a:gradFill rotWithShape="1">
          <a:gsLst>
            <a:gs pos="0">
              <a:schemeClr val="phClr"/>
            </a:gs>
            <a:gs pos="52000">
              <a:srgbClr val="D8D8D8"/>
            </a:gs>
            <a:gs pos="100000">
              <a:schemeClr val="phClr">
                <a:lumMod val="25000"/>
              </a:schemeClr>
            </a:gs>
          </a:gsLst>
          <a:path path="circle">
            <a:fillToRect t="-80000" r="80000" b="180000"/>
          </a:path>
        </a:gradFill>
        <a:gradFill rotWithShape="1">
          <a:gsLst>
            <a:gs pos="0">
              <a:schemeClr val="accent5"/>
            </a:gs>
            <a:gs pos="52000">
              <a:srgbClr val="D8D8D8"/>
            </a:gs>
            <a:gs pos="100000">
              <a:schemeClr val="phClr">
                <a:lumMod val="25000"/>
              </a:schemeClr>
            </a:gs>
          </a:gsLst>
          <a:path path="circle">
            <a:fillToRect t="-80000" r="80000" b="18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167</TotalTime>
  <Words>1091</Words>
  <Application>Microsoft Office PowerPoint</Application>
  <PresentationFormat>On-screen Show (4:3)</PresentationFormat>
  <Paragraphs>125</Paragraphs>
  <Slides>19</Slides>
  <Notes>6</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Theme1</vt:lpstr>
      <vt:lpstr>ACL1002 POETRY &amp; POETICS</vt:lpstr>
      <vt:lpstr>Lecture 4: ‘Poetry and Communication’</vt:lpstr>
      <vt:lpstr> Does poetry communicate? </vt:lpstr>
      <vt:lpstr>Slide 4</vt:lpstr>
      <vt:lpstr>Slide 5</vt:lpstr>
      <vt:lpstr>Slide 6</vt:lpstr>
      <vt:lpstr>Slide 7</vt:lpstr>
      <vt:lpstr>Keats’ ‘Ode on a Grecian Urn’</vt:lpstr>
      <vt:lpstr>Communicating Keats’ Ode</vt:lpstr>
      <vt:lpstr>Communicating feeling/experience:</vt:lpstr>
      <vt:lpstr>Slide 11</vt:lpstr>
      <vt:lpstr>Slide 12</vt:lpstr>
      <vt:lpstr>How does Poetry communicate?</vt:lpstr>
      <vt:lpstr>Slide 14</vt:lpstr>
      <vt:lpstr>William Blake’s ‘The Tyger’</vt:lpstr>
      <vt:lpstr> Aunt Jennifer’s Tigers </vt:lpstr>
      <vt:lpstr>Communicating things or facts:  ‘Aunt Jennifer’s Tigers’</vt:lpstr>
      <vt:lpstr>Inter-textual Communication: Rich’s Tigers and Blake’s Tyger</vt:lpstr>
      <vt:lpstr>Sylvia Plath</vt:lpstr>
    </vt:vector>
  </TitlesOfParts>
  <Company>Victoria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ACL1002 POETRY &amp; POETICS</dc:title>
  <dc:creator>Student Use</dc:creator>
  <cp:lastModifiedBy>Natalie</cp:lastModifiedBy>
  <cp:revision>45</cp:revision>
  <dcterms:created xsi:type="dcterms:W3CDTF">2008-08-04T01:00:36Z</dcterms:created>
  <dcterms:modified xsi:type="dcterms:W3CDTF">2011-08-16T21:51:32Z</dcterms:modified>
</cp:coreProperties>
</file>