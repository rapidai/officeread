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57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26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\\lajolla\rsvresp\WYR_OUTLOOKS\powell_wyoutlooks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/>
            </a:pPr>
            <a:r>
              <a:rPr lang="en-US"/>
              <a:t>Lake Powell Outlooks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Sheet1!$A$3</c:f>
              <c:strCache>
                <c:ptCount val="1"/>
                <c:pt idx="0">
                  <c:v>AUG FCST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</c:spPr>
          <c:cat>
            <c:strRef>
              <c:f>Sheet1!$F$2:$H$2</c:f>
              <c:strCache>
                <c:ptCount val="3"/>
                <c:pt idx="0">
                  <c:v>WY10</c:v>
                </c:pt>
                <c:pt idx="1">
                  <c:v>WY11</c:v>
                </c:pt>
                <c:pt idx="2">
                  <c:v>WY12</c:v>
                </c:pt>
              </c:strCache>
            </c:strRef>
          </c:cat>
          <c:val>
            <c:numRef>
              <c:f>Sheet1!$F$3:$H$3</c:f>
              <c:numCache>
                <c:formatCode>General</c:formatCode>
                <c:ptCount val="3"/>
                <c:pt idx="0">
                  <c:v>90</c:v>
                </c:pt>
                <c:pt idx="1">
                  <c:v>95</c:v>
                </c:pt>
                <c:pt idx="2">
                  <c:v>163</c:v>
                </c:pt>
              </c:numCache>
            </c:numRef>
          </c:val>
        </c:ser>
        <c:ser>
          <c:idx val="1"/>
          <c:order val="1"/>
          <c:tx>
            <c:strRef>
              <c:f>Sheet1!$A$4</c:f>
              <c:strCache>
                <c:ptCount val="1"/>
                <c:pt idx="0">
                  <c:v>AUG OBS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</c:spPr>
          <c:cat>
            <c:strRef>
              <c:f>Sheet1!$F$2:$H$2</c:f>
              <c:strCache>
                <c:ptCount val="3"/>
                <c:pt idx="0">
                  <c:v>WY10</c:v>
                </c:pt>
                <c:pt idx="1">
                  <c:v>WY11</c:v>
                </c:pt>
                <c:pt idx="2">
                  <c:v>WY12</c:v>
                </c:pt>
              </c:strCache>
            </c:strRef>
          </c:cat>
          <c:val>
            <c:numRef>
              <c:f>Sheet1!$F$4:$H$4</c:f>
              <c:numCache>
                <c:formatCode>General</c:formatCode>
                <c:ptCount val="3"/>
                <c:pt idx="0">
                  <c:v>53</c:v>
                </c:pt>
                <c:pt idx="1">
                  <c:v>82</c:v>
                </c:pt>
                <c:pt idx="2">
                  <c:v>140</c:v>
                </c:pt>
              </c:numCache>
            </c:numRef>
          </c:val>
        </c:ser>
        <c:ser>
          <c:idx val="2"/>
          <c:order val="2"/>
          <c:tx>
            <c:strRef>
              <c:f>Sheet1!$A$5</c:f>
              <c:strCache>
                <c:ptCount val="1"/>
                <c:pt idx="0">
                  <c:v>AUG PREC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</c:spPr>
          <c:cat>
            <c:strRef>
              <c:f>Sheet1!$F$2:$H$2</c:f>
              <c:strCache>
                <c:ptCount val="3"/>
                <c:pt idx="0">
                  <c:v>WY10</c:v>
                </c:pt>
                <c:pt idx="1">
                  <c:v>WY11</c:v>
                </c:pt>
                <c:pt idx="2">
                  <c:v>WY12</c:v>
                </c:pt>
              </c:strCache>
            </c:strRef>
          </c:cat>
          <c:val>
            <c:numRef>
              <c:f>Sheet1!$F$5:$H$5</c:f>
              <c:numCache>
                <c:formatCode>General</c:formatCode>
                <c:ptCount val="3"/>
                <c:pt idx="0">
                  <c:v>45</c:v>
                </c:pt>
                <c:pt idx="1">
                  <c:v>140</c:v>
                </c:pt>
                <c:pt idx="2">
                  <c:v>75</c:v>
                </c:pt>
              </c:numCache>
            </c:numRef>
          </c:val>
        </c:ser>
        <c:ser>
          <c:idx val="3"/>
          <c:order val="3"/>
          <c:tx>
            <c:strRef>
              <c:f>Sheet1!$A$6</c:f>
              <c:strCache>
                <c:ptCount val="1"/>
                <c:pt idx="0">
                  <c:v>SEP FCST</c:v>
                </c:pt>
              </c:strCache>
            </c:strRef>
          </c:tx>
          <c:spPr>
            <a:solidFill>
              <a:schemeClr val="accent3">
                <a:lumMod val="40000"/>
                <a:lumOff val="60000"/>
              </a:schemeClr>
            </a:solidFill>
          </c:spPr>
          <c:cat>
            <c:strRef>
              <c:f>Sheet1!$F$2:$H$2</c:f>
              <c:strCache>
                <c:ptCount val="3"/>
                <c:pt idx="0">
                  <c:v>WY10</c:v>
                </c:pt>
                <c:pt idx="1">
                  <c:v>WY11</c:v>
                </c:pt>
                <c:pt idx="2">
                  <c:v>WY12</c:v>
                </c:pt>
              </c:strCache>
            </c:strRef>
          </c:cat>
          <c:val>
            <c:numRef>
              <c:f>Sheet1!$F$6:$H$6</c:f>
              <c:numCache>
                <c:formatCode>General</c:formatCode>
                <c:ptCount val="3"/>
                <c:pt idx="0">
                  <c:v>95</c:v>
                </c:pt>
                <c:pt idx="1">
                  <c:v>95</c:v>
                </c:pt>
                <c:pt idx="2">
                  <c:v>141</c:v>
                </c:pt>
              </c:numCache>
            </c:numRef>
          </c:val>
        </c:ser>
        <c:ser>
          <c:idx val="4"/>
          <c:order val="4"/>
          <c:tx>
            <c:strRef>
              <c:f>Sheet1!$A$7</c:f>
              <c:strCache>
                <c:ptCount val="1"/>
                <c:pt idx="0">
                  <c:v>SEP OBS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</c:spPr>
          <c:cat>
            <c:strRef>
              <c:f>Sheet1!$F$2:$H$2</c:f>
              <c:strCache>
                <c:ptCount val="3"/>
                <c:pt idx="0">
                  <c:v>WY10</c:v>
                </c:pt>
                <c:pt idx="1">
                  <c:v>WY11</c:v>
                </c:pt>
                <c:pt idx="2">
                  <c:v>WY12</c:v>
                </c:pt>
              </c:strCache>
            </c:strRef>
          </c:cat>
          <c:val>
            <c:numRef>
              <c:f>Sheet1!$F$7:$H$7</c:f>
              <c:numCache>
                <c:formatCode>General</c:formatCode>
                <c:ptCount val="3"/>
                <c:pt idx="0">
                  <c:v>56</c:v>
                </c:pt>
                <c:pt idx="1">
                  <c:v>58</c:v>
                </c:pt>
                <c:pt idx="2">
                  <c:v>112</c:v>
                </c:pt>
              </c:numCache>
            </c:numRef>
          </c:val>
        </c:ser>
        <c:ser>
          <c:idx val="5"/>
          <c:order val="5"/>
          <c:tx>
            <c:strRef>
              <c:f>Sheet1!$A$8</c:f>
              <c:strCache>
                <c:ptCount val="1"/>
                <c:pt idx="0">
                  <c:v>SEP PREC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</c:spPr>
          <c:cat>
            <c:strRef>
              <c:f>Sheet1!$F$2:$H$2</c:f>
              <c:strCache>
                <c:ptCount val="3"/>
                <c:pt idx="0">
                  <c:v>WY10</c:v>
                </c:pt>
                <c:pt idx="1">
                  <c:v>WY11</c:v>
                </c:pt>
                <c:pt idx="2">
                  <c:v>WY12</c:v>
                </c:pt>
              </c:strCache>
            </c:strRef>
          </c:cat>
          <c:val>
            <c:numRef>
              <c:f>Sheet1!$F$8:$H$8</c:f>
              <c:numCache>
                <c:formatCode>General</c:formatCode>
                <c:ptCount val="3"/>
                <c:pt idx="0">
                  <c:v>75</c:v>
                </c:pt>
                <c:pt idx="1">
                  <c:v>55</c:v>
                </c:pt>
                <c:pt idx="2">
                  <c:v>85</c:v>
                </c:pt>
              </c:numCache>
            </c:numRef>
          </c:val>
        </c:ser>
        <c:ser>
          <c:idx val="6"/>
          <c:order val="6"/>
          <c:tx>
            <c:strRef>
              <c:f>Sheet1!$A$9</c:f>
              <c:strCache>
                <c:ptCount val="1"/>
                <c:pt idx="0">
                  <c:v>OCT FCST (AUG)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</c:spPr>
          <c:cat>
            <c:strRef>
              <c:f>Sheet1!$F$2:$H$2</c:f>
              <c:strCache>
                <c:ptCount val="3"/>
                <c:pt idx="0">
                  <c:v>WY10</c:v>
                </c:pt>
                <c:pt idx="1">
                  <c:v>WY11</c:v>
                </c:pt>
                <c:pt idx="2">
                  <c:v>WY12</c:v>
                </c:pt>
              </c:strCache>
            </c:strRef>
          </c:cat>
          <c:val>
            <c:numRef>
              <c:f>Sheet1!$F$9:$H$9</c:f>
              <c:numCache>
                <c:formatCode>General</c:formatCode>
                <c:ptCount val="3"/>
                <c:pt idx="0">
                  <c:v>91</c:v>
                </c:pt>
                <c:pt idx="1">
                  <c:v>91</c:v>
                </c:pt>
                <c:pt idx="2">
                  <c:v>128</c:v>
                </c:pt>
              </c:numCache>
            </c:numRef>
          </c:val>
        </c:ser>
        <c:ser>
          <c:idx val="7"/>
          <c:order val="7"/>
          <c:tx>
            <c:strRef>
              <c:f>Sheet1!$A$10</c:f>
              <c:strCache>
                <c:ptCount val="1"/>
                <c:pt idx="0">
                  <c:v>OCT FCST (OCT)</c:v>
                </c:pt>
              </c:strCache>
            </c:strRef>
          </c:tx>
          <c:cat>
            <c:strRef>
              <c:f>Sheet1!$F$2:$H$2</c:f>
              <c:strCache>
                <c:ptCount val="3"/>
                <c:pt idx="0">
                  <c:v>WY10</c:v>
                </c:pt>
                <c:pt idx="1">
                  <c:v>WY11</c:v>
                </c:pt>
                <c:pt idx="2">
                  <c:v>WY12</c:v>
                </c:pt>
              </c:strCache>
            </c:strRef>
          </c:cat>
          <c:val>
            <c:numRef>
              <c:f>Sheet1!$F$10:$H$10</c:f>
              <c:numCache>
                <c:formatCode>General</c:formatCode>
                <c:ptCount val="3"/>
                <c:pt idx="0">
                  <c:v>73</c:v>
                </c:pt>
                <c:pt idx="1">
                  <c:v>68</c:v>
                </c:pt>
                <c:pt idx="2">
                  <c:v>119</c:v>
                </c:pt>
              </c:numCache>
            </c:numRef>
          </c:val>
        </c:ser>
        <c:ser>
          <c:idx val="8"/>
          <c:order val="8"/>
          <c:tx>
            <c:strRef>
              <c:f>Sheet1!$A$13</c:f>
              <c:strCache>
                <c:ptCount val="1"/>
                <c:pt idx="0">
                  <c:v>APR-JUL FCST (AUG)</c:v>
                </c:pt>
              </c:strCache>
            </c:strRef>
          </c:tx>
          <c:spPr>
            <a:solidFill>
              <a:schemeClr val="accent4">
                <a:lumMod val="40000"/>
                <a:lumOff val="60000"/>
              </a:schemeClr>
            </a:solidFill>
          </c:spPr>
          <c:cat>
            <c:strRef>
              <c:f>Sheet1!$F$2:$H$2</c:f>
              <c:strCache>
                <c:ptCount val="3"/>
                <c:pt idx="0">
                  <c:v>WY10</c:v>
                </c:pt>
                <c:pt idx="1">
                  <c:v>WY11</c:v>
                </c:pt>
                <c:pt idx="2">
                  <c:v>WY12</c:v>
                </c:pt>
              </c:strCache>
            </c:strRef>
          </c:cat>
          <c:val>
            <c:numRef>
              <c:f>Sheet1!$F$13:$H$13</c:f>
              <c:numCache>
                <c:formatCode>General</c:formatCode>
                <c:ptCount val="3"/>
                <c:pt idx="0">
                  <c:v>91</c:v>
                </c:pt>
                <c:pt idx="1">
                  <c:v>90</c:v>
                </c:pt>
                <c:pt idx="2">
                  <c:v>101</c:v>
                </c:pt>
              </c:numCache>
            </c:numRef>
          </c:val>
        </c:ser>
        <c:ser>
          <c:idx val="9"/>
          <c:order val="9"/>
          <c:tx>
            <c:strRef>
              <c:f>Sheet1!$A$14</c:f>
              <c:strCache>
                <c:ptCount val="1"/>
                <c:pt idx="0">
                  <c:v>APR-JUL FCST (OCT)</c:v>
                </c:pt>
              </c:strCache>
            </c:strRef>
          </c:tx>
          <c:cat>
            <c:strRef>
              <c:f>Sheet1!$F$2:$H$2</c:f>
              <c:strCache>
                <c:ptCount val="3"/>
                <c:pt idx="0">
                  <c:v>WY10</c:v>
                </c:pt>
                <c:pt idx="1">
                  <c:v>WY11</c:v>
                </c:pt>
                <c:pt idx="2">
                  <c:v>WY12</c:v>
                </c:pt>
              </c:strCache>
            </c:strRef>
          </c:cat>
          <c:val>
            <c:numRef>
              <c:f>Sheet1!$F$14:$H$14</c:f>
              <c:numCache>
                <c:formatCode>General</c:formatCode>
                <c:ptCount val="3"/>
                <c:pt idx="0">
                  <c:v>83</c:v>
                </c:pt>
                <c:pt idx="1">
                  <c:v>79</c:v>
                </c:pt>
                <c:pt idx="2">
                  <c:v>91</c:v>
                </c:pt>
              </c:numCache>
            </c:numRef>
          </c:val>
        </c:ser>
        <c:ser>
          <c:idx val="10"/>
          <c:order val="10"/>
          <c:tx>
            <c:strRef>
              <c:f>Sheet1!$A$15</c:f>
              <c:strCache>
                <c:ptCount val="1"/>
                <c:pt idx="0">
                  <c:v>APR-JUL OBS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</c:spPr>
          <c:cat>
            <c:strRef>
              <c:f>Sheet1!$F$2:$H$2</c:f>
              <c:strCache>
                <c:ptCount val="3"/>
                <c:pt idx="0">
                  <c:v>WY10</c:v>
                </c:pt>
                <c:pt idx="1">
                  <c:v>WY11</c:v>
                </c:pt>
                <c:pt idx="2">
                  <c:v>WY12</c:v>
                </c:pt>
              </c:strCache>
            </c:strRef>
          </c:cat>
          <c:val>
            <c:numRef>
              <c:f>Sheet1!$F$15:$H$15</c:f>
              <c:numCache>
                <c:formatCode>General</c:formatCode>
                <c:ptCount val="3"/>
                <c:pt idx="0">
                  <c:v>73</c:v>
                </c:pt>
                <c:pt idx="1">
                  <c:v>163</c:v>
                </c:pt>
              </c:numCache>
            </c:numRef>
          </c:val>
        </c:ser>
        <c:axId val="113323008"/>
        <c:axId val="172389888"/>
      </c:barChart>
      <c:catAx>
        <c:axId val="113323008"/>
        <c:scaling>
          <c:orientation val="minMax"/>
        </c:scaling>
        <c:axPos val="b"/>
        <c:tickLblPos val="nextTo"/>
        <c:crossAx val="172389888"/>
        <c:crosses val="autoZero"/>
        <c:auto val="1"/>
        <c:lblAlgn val="ctr"/>
        <c:lblOffset val="100"/>
      </c:catAx>
      <c:valAx>
        <c:axId val="172389888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Percent Average</a:t>
                </a:r>
              </a:p>
            </c:rich>
          </c:tx>
          <c:layout/>
        </c:title>
        <c:numFmt formatCode="General" sourceLinked="1"/>
        <c:tickLblPos val="nextTo"/>
        <c:crossAx val="113323008"/>
        <c:crosses val="autoZero"/>
        <c:crossBetween val="between"/>
      </c:valAx>
    </c:plotArea>
    <c:legend>
      <c:legendPos val="r"/>
      <c:layout/>
    </c:legend>
    <c:plotVisOnly val="1"/>
  </c:chart>
  <c:externalData r:id="rId1"/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613-D47A-456D-8861-DA3593F1C0DD}" type="datetimeFigureOut">
              <a:rPr lang="en-US" smtClean="0"/>
              <a:pPr/>
              <a:t>11/8/2011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B2B-81C6-401B-A287-D850F711B9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613-D47A-456D-8861-DA3593F1C0DD}" type="datetimeFigureOut">
              <a:rPr lang="en-US" smtClean="0"/>
              <a:pPr/>
              <a:t>11/8/2011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B2B-81C6-401B-A287-D850F711B9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613-D47A-456D-8861-DA3593F1C0DD}" type="datetimeFigureOut">
              <a:rPr lang="en-US" smtClean="0"/>
              <a:pPr/>
              <a:t>11/8/2011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B2B-81C6-401B-A287-D850F711B9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613-D47A-456D-8861-DA3593F1C0DD}" type="datetimeFigureOut">
              <a:rPr lang="en-US" smtClean="0"/>
              <a:pPr/>
              <a:t>11/8/2011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B2B-81C6-401B-A287-D850F711B9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613-D47A-456D-8861-DA3593F1C0DD}" type="datetimeFigureOut">
              <a:rPr lang="en-US" smtClean="0"/>
              <a:pPr/>
              <a:t>11/8/2011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B2B-81C6-401B-A287-D850F711B9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613-D47A-456D-8861-DA3593F1C0DD}" type="datetimeFigureOut">
              <a:rPr lang="en-US" smtClean="0"/>
              <a:pPr/>
              <a:t>11/8/2011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B2B-81C6-401B-A287-D850F711B9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613-D47A-456D-8861-DA3593F1C0DD}" type="datetimeFigureOut">
              <a:rPr lang="en-US" smtClean="0"/>
              <a:pPr/>
              <a:t>11/8/2011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B2B-81C6-401B-A287-D850F711B9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613-D47A-456D-8861-DA3593F1C0DD}" type="datetimeFigureOut">
              <a:rPr lang="en-US" smtClean="0"/>
              <a:pPr/>
              <a:t>11/8/2011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B2B-81C6-401B-A287-D850F711B9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613-D47A-456D-8861-DA3593F1C0DD}" type="datetimeFigureOut">
              <a:rPr lang="en-US" smtClean="0"/>
              <a:pPr/>
              <a:t>11/8/2011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B2B-81C6-401B-A287-D850F711B9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613-D47A-456D-8861-DA3593F1C0DD}" type="datetimeFigureOut">
              <a:rPr lang="en-US" smtClean="0"/>
              <a:pPr/>
              <a:t>11/8/2011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B2B-81C6-401B-A287-D850F711B9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613-D47A-456D-8861-DA3593F1C0DD}" type="datetimeFigureOut">
              <a:rPr lang="en-US" smtClean="0"/>
              <a:pPr/>
              <a:t>11/8/2011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B2B-81C6-401B-A287-D850F711B9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07613-D47A-456D-8861-DA3593F1C0DD}" type="datetimeFigureOut">
              <a:rPr lang="en-US" smtClean="0"/>
              <a:pPr/>
              <a:t>11/8/2011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BFAB2B-81C6-401B-A287-D850F711B98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CBRFC WATER YEAR OUTLOOKS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CRFS</a:t>
            </a:r>
          </a:p>
          <a:p>
            <a:r>
              <a:rPr lang="en-US" dirty="0" smtClean="0"/>
              <a:t>November 8, 2011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76200"/>
            <a:ext cx="4343400" cy="67095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August 2, 2011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WY2012 MONTHLY OUTLOOKS</a:t>
            </a:r>
          </a:p>
          <a:p>
            <a:endParaRPr lang="en-US" sz="10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FLAMING GORGE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2011                 2012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OCT    NOV    DEC    JAN    FEB    MAR       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50%   73     62     56     48     47     80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2012                    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APR    MAY    JUN    JUL    AUG    SEP  WY2012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10%                                            2460                              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50%  129    260    385    184     84     62    1470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90%                                             815</a:t>
            </a:r>
          </a:p>
          <a:p>
            <a:endParaRPr lang="en-US" sz="10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BLUE MESA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2011                 2012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OCT    NOV    DEC    JAN    FEB    MAR       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50%   46     35     30     29     25     35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2012                    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APR    MAY    JUN    JUL    AUG    SEP  WY2012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10%                                            1520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50%   81    240    285    105     55     44    1010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90%                                             555</a:t>
            </a:r>
          </a:p>
          <a:p>
            <a:endParaRPr lang="en-US" sz="10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NAVAJO   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2011                 2012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OCT    NOV    DEC    JAN    FEB    MAR       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50%   35     33     23     21     28     83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2012                    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APR    MAY    JUN    JUL    AUG    SEP  WY2012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10%                                            1660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50%  161    285    245     56     35     35    1040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90%                                             450</a:t>
            </a:r>
          </a:p>
          <a:p>
            <a:endParaRPr lang="en-US" sz="10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LAKE POWELL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2011                 2012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OCT    NOV    DEC    JAN    FEB    MAR       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50%  700    650    550    500    450    700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2012                    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APR    MAY    JUN    JUL    AUG    SEP  WY2012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10%                                           19500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50% 1100   2600   3050   1250    550    500   12600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90%                                            7000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4648200" y="76201"/>
            <a:ext cx="4267200" cy="670559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October 3, 2011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WY2012 MONTHLY OUTLOOKS</a:t>
            </a:r>
          </a:p>
          <a:p>
            <a:endParaRPr lang="en-US" sz="10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FLAMING GORGE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2011                 2012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OCT    NOV    DEC    JAN    FEB    MAR       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50%   62     57     50     45     45     75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2012                    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APR    MAY    JUN    JUL    AUG    SEP  WY2012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10%                                            2340                              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50%  117    240    380    183     84     62    1400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90%                                             790</a:t>
            </a:r>
          </a:p>
          <a:p>
            <a:endParaRPr lang="en-US" sz="10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BLUE MESA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2011                 2012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OCT    NOV    DEC    JAN    FEB    MAR       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50%   41     35     32     29     25     34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2012                    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APR    MAY    JUN    JUL    AUG    SEP  WY2012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10%                                            1490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50%   78    206    255    105     52     43     935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90%                                             555</a:t>
            </a:r>
          </a:p>
          <a:p>
            <a:endParaRPr lang="en-US" sz="10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NAVAJO   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2011                 2012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OCT    NOV    DEC    JAN    FEB    MAR       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50%   26     28     20     19     25     71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2012                    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APR    MAY    JUN    JUL    AUG    SEP  WY2012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10%                                            1530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50%  136    260    230     54     29     32     930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90%                                             410</a:t>
            </a:r>
          </a:p>
          <a:p>
            <a:endParaRPr lang="en-US" sz="10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LAKE POWELL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2011                 2012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OCT    NOV    DEC    JAN    FEB    MAR       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50%  650    625    525    475    450    675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2012                        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APR    MAY    JUN    JUL    AUG    SEP  WY2012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10%                                           18500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50% 1050   2250   2750   1150    525    475   11600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90%                                            7000</a:t>
            </a:r>
            <a:endParaRPr lang="en-US" sz="10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ESP starting point is current model snow and soil states.</a:t>
            </a:r>
          </a:p>
          <a:p>
            <a:pPr lvl="1"/>
            <a:r>
              <a:rPr lang="en-US" dirty="0" smtClean="0"/>
              <a:t>Since there is generally no snow Aug 1 and Oct 1, the main difference between the two runs, besides lead time, is the starting soil moisture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b="33333"/>
          <a:stretch>
            <a:fillRect/>
          </a:stretch>
        </p:blipFill>
        <p:spPr bwMode="auto">
          <a:xfrm>
            <a:off x="1000125" y="4572000"/>
            <a:ext cx="2628900" cy="2032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 b="30000"/>
          <a:stretch>
            <a:fillRect/>
          </a:stretch>
        </p:blipFill>
        <p:spPr bwMode="auto">
          <a:xfrm>
            <a:off x="5029200" y="4495800"/>
            <a:ext cx="26289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7315200" y="579120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85%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 b="33334"/>
          <a:stretch>
            <a:fillRect/>
          </a:stretch>
        </p:blipFill>
        <p:spPr bwMode="auto">
          <a:xfrm>
            <a:off x="5067300" y="2235220"/>
            <a:ext cx="2628900" cy="203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 b="33334"/>
          <a:stretch>
            <a:fillRect/>
          </a:stretch>
        </p:blipFill>
        <p:spPr bwMode="auto">
          <a:xfrm>
            <a:off x="990600" y="2286000"/>
            <a:ext cx="2628900" cy="203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/>
          <a:srcRect b="33333"/>
          <a:stretch>
            <a:fillRect/>
          </a:stretch>
        </p:blipFill>
        <p:spPr bwMode="auto">
          <a:xfrm>
            <a:off x="990600" y="76200"/>
            <a:ext cx="2628900" cy="2032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 cstate="print"/>
          <a:srcRect b="33333"/>
          <a:stretch>
            <a:fillRect/>
          </a:stretch>
        </p:blipFill>
        <p:spPr bwMode="auto">
          <a:xfrm>
            <a:off x="5029200" y="101590"/>
            <a:ext cx="2628900" cy="2032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3226186" y="586740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75%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315200" y="144780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75%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226186" y="137160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45%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226186" y="3581400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140%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315200" y="358140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55%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228601" y="533400"/>
          <a:ext cx="8610600" cy="579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Contributing Factors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Late run-off</a:t>
            </a:r>
          </a:p>
          <a:p>
            <a:pPr lvl="1"/>
            <a:r>
              <a:rPr lang="en-US" dirty="0" smtClean="0"/>
              <a:t>Model soil moisture states very wet.</a:t>
            </a:r>
          </a:p>
          <a:p>
            <a:r>
              <a:rPr lang="en-US" dirty="0" smtClean="0"/>
              <a:t>Dry Aug-Sep</a:t>
            </a:r>
          </a:p>
          <a:p>
            <a:pPr lvl="1"/>
            <a:r>
              <a:rPr lang="en-US" dirty="0" smtClean="0"/>
              <a:t>Model assuming ‘normal’ precipitation.</a:t>
            </a:r>
          </a:p>
          <a:p>
            <a:r>
              <a:rPr lang="en-US" dirty="0" smtClean="0"/>
              <a:t>Consumptive Use/Diversions</a:t>
            </a:r>
          </a:p>
          <a:p>
            <a:pPr lvl="1"/>
            <a:r>
              <a:rPr lang="en-US" dirty="0" smtClean="0"/>
              <a:t>More irrigation occurring than model assumes?</a:t>
            </a:r>
          </a:p>
          <a:p>
            <a:pPr lvl="2"/>
            <a:r>
              <a:rPr lang="en-US" dirty="0" smtClean="0"/>
              <a:t>Consumptive Use operation is fixed in how much and when water will be taken.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484</Words>
  <Application>Microsoft Office PowerPoint</Application>
  <PresentationFormat>On-screen Show (4:3)</PresentationFormat>
  <Paragraphs>105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CBRFC WATER YEAR OUTLOOKS</vt:lpstr>
      <vt:lpstr>Slide 2</vt:lpstr>
      <vt:lpstr>Slide 3</vt:lpstr>
      <vt:lpstr>Slide 4</vt:lpstr>
      <vt:lpstr>Slide 5</vt:lpstr>
      <vt:lpstr>Contributing Factors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brenda alcorn</dc:creator>
  <cp:lastModifiedBy>brenda alcorn</cp:lastModifiedBy>
  <cp:revision>13</cp:revision>
  <dcterms:created xsi:type="dcterms:W3CDTF">2011-11-01T18:24:33Z</dcterms:created>
  <dcterms:modified xsi:type="dcterms:W3CDTF">2011-11-08T16:01:13Z</dcterms:modified>
</cp:coreProperties>
</file>