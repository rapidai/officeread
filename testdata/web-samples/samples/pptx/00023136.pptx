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6"/>
  </p:notesMasterIdLst>
  <p:handoutMasterIdLst>
    <p:handoutMasterId r:id="rId7"/>
  </p:handoutMasterIdLst>
  <p:sldIdLst>
    <p:sldId id="260" r:id="rId2"/>
    <p:sldId id="263" r:id="rId3"/>
    <p:sldId id="261" r:id="rId4"/>
    <p:sldId id="258" r:id="rId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inger D Benecke" initials="GDB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D8E8"/>
    <a:srgbClr val="E9EDF4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718" autoAdjust="0"/>
  </p:normalViewPr>
  <p:slideViewPr>
    <p:cSldViewPr>
      <p:cViewPr varScale="1">
        <p:scale>
          <a:sx n="88" d="100"/>
          <a:sy n="88" d="100"/>
        </p:scale>
        <p:origin x="-114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108" y="-90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AE0B65B-5330-4091-BE92-9CEDCF9C6D21}" type="datetimeFigureOut">
              <a:rPr lang="en-US" smtClean="0"/>
              <a:pPr/>
              <a:t>3/20/2012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7CD8A16-88A5-4BD4-B4EE-CC4CC3C32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4875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D0A9D61-D8F8-4510-B2F1-0ADBAB7036CA}" type="datetimeFigureOut">
              <a:rPr lang="en-US" smtClean="0"/>
              <a:pPr/>
              <a:t>3/20/2012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A271777-EB51-4C51-B2A0-50486E3AD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41412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271777-EB51-4C51-B2A0-50486E3AD7B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271777-EB51-4C51-B2A0-50486E3AD7B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3/20/2012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3/20/2012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3/20/2012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3/20/2012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3/20/2012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3/20/2012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3/20/2012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3/20/2012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3/20/2012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3/20/2012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3/20/2012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3/20/2012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anford.gov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hanford.gov/page.cfm/EmployeeAsbestosInformation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hanford.gov/page.cfm/EmployeeAsbestosInform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Asbestos Update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smtClean="0">
                <a:latin typeface="+mn-lt"/>
              </a:rPr>
              <a:t>Due to recent concerns related to asbestos and a stop work related to asbestos, a team has been formed to include DOE, HAMTC and HGU Safety Representatives, site contractors, and employees. </a:t>
            </a:r>
          </a:p>
          <a:p>
            <a:pPr marL="0" indent="0">
              <a:buNone/>
            </a:pPr>
            <a:endParaRPr lang="en-US" sz="2400" dirty="0" smtClean="0">
              <a:latin typeface="+mn-lt"/>
            </a:endParaRPr>
          </a:p>
          <a:p>
            <a:pPr marL="0" indent="0">
              <a:buNone/>
            </a:pPr>
            <a:r>
              <a:rPr lang="en-US" sz="2400" dirty="0" smtClean="0">
                <a:latin typeface="+mn-lt"/>
              </a:rPr>
              <a:t>This has prompted us to look beyond initial concerns about demolition of facilities and evaluate the condition of steam lines and facilities that have Potential Asbestos Containing Material (PACM).</a:t>
            </a:r>
          </a:p>
          <a:p>
            <a:pPr marL="0" indent="0">
              <a:buNone/>
            </a:pPr>
            <a:endParaRPr lang="en-US" sz="2400" dirty="0" smtClean="0">
              <a:latin typeface="+mn-lt"/>
            </a:endParaRPr>
          </a:p>
          <a:p>
            <a:pPr marL="0" indent="0">
              <a:buNone/>
            </a:pPr>
            <a:r>
              <a:rPr lang="en-US" sz="2400" dirty="0" smtClean="0">
                <a:latin typeface="+mn-lt"/>
              </a:rPr>
              <a:t>The team is taking several actions to address these concerns.</a:t>
            </a:r>
          </a:p>
          <a:p>
            <a:pPr marL="0" indent="0">
              <a:buNone/>
            </a:pPr>
            <a:endParaRPr lang="en-US" sz="1800" dirty="0">
              <a:latin typeface="Arial Narrow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58200" y="6324600"/>
            <a:ext cx="30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C582DBD-5226-4626-9D88-10638003E5C9}" type="slidenum">
              <a:rPr lang="en-US" smtClean="0">
                <a:latin typeface="+mj-lt"/>
              </a:rPr>
              <a:pPr>
                <a:defRPr/>
              </a:pPr>
              <a:t>1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95341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Asbestos Update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b="1" dirty="0" smtClean="0">
                <a:latin typeface="+mj-lt"/>
              </a:rPr>
              <a:t>Actions:</a:t>
            </a:r>
          </a:p>
          <a:p>
            <a:pPr lvl="0"/>
            <a:r>
              <a:rPr lang="en-US" sz="2800" dirty="0" smtClean="0">
                <a:latin typeface="+mj-lt"/>
              </a:rPr>
              <a:t>Verifying hundreds of area and personal exposures and monitoring data to determine if additional actions are necessary </a:t>
            </a:r>
          </a:p>
          <a:p>
            <a:pPr lvl="0"/>
            <a:r>
              <a:rPr lang="en-US" sz="2800" dirty="0" smtClean="0">
                <a:latin typeface="+mj-lt"/>
              </a:rPr>
              <a:t>Field </a:t>
            </a:r>
            <a:r>
              <a:rPr lang="en-US" sz="2800" dirty="0" smtClean="0">
                <a:latin typeface="+mj-lt"/>
              </a:rPr>
              <a:t>walk down </a:t>
            </a:r>
            <a:r>
              <a:rPr lang="en-US" sz="2800" dirty="0" smtClean="0">
                <a:latin typeface="+mj-lt"/>
              </a:rPr>
              <a:t>team has been evaluating all of the areas of concern and providing recommendations that we are committed to act upon quickly</a:t>
            </a:r>
          </a:p>
          <a:p>
            <a:pPr lvl="0"/>
            <a:r>
              <a:rPr lang="en-US" sz="2800" dirty="0" smtClean="0">
                <a:latin typeface="+mj-lt"/>
              </a:rPr>
              <a:t>All of the areas identified as part of this concern were barricaded and posted to prevent access while the evaluations are ongoing </a:t>
            </a:r>
          </a:p>
          <a:p>
            <a:pPr lvl="0"/>
            <a:r>
              <a:rPr lang="en-US" sz="2800" dirty="0" smtClean="0">
                <a:latin typeface="+mj-lt"/>
              </a:rPr>
              <a:t>Addressing a comprehensive list of near-term, mid-term, and long-term actions with commitment from all of the contractors to implement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610600" y="6492875"/>
            <a:ext cx="30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582DBD-5226-4626-9D88-10638003E5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Asbestos Concerns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+mn-lt"/>
              </a:rPr>
              <a:t>Remember:  Stop when unsure</a:t>
            </a:r>
          </a:p>
          <a:p>
            <a:r>
              <a:rPr lang="en-US" sz="2800" dirty="0" smtClean="0">
                <a:latin typeface="+mn-lt"/>
              </a:rPr>
              <a:t>Ask questions</a:t>
            </a:r>
          </a:p>
          <a:p>
            <a:pPr lvl="1"/>
            <a:r>
              <a:rPr lang="en-US" sz="1800" dirty="0" smtClean="0">
                <a:latin typeface="+mn-lt"/>
              </a:rPr>
              <a:t>Talk to or email your manager, supervisor or safety professional</a:t>
            </a:r>
          </a:p>
          <a:p>
            <a:pPr lvl="1">
              <a:spcAft>
                <a:spcPts val="600"/>
              </a:spcAft>
            </a:pPr>
            <a:r>
              <a:rPr lang="en-US" sz="1800" dirty="0" smtClean="0">
                <a:latin typeface="+mn-lt"/>
              </a:rPr>
              <a:t>Call your company hotline or go to </a:t>
            </a:r>
            <a:r>
              <a:rPr lang="en-US" sz="1800" dirty="0" smtClean="0">
                <a:latin typeface="+mn-lt"/>
                <a:hlinkClick r:id="rId3"/>
              </a:rPr>
              <a:t>www.hanford.gov</a:t>
            </a:r>
            <a:r>
              <a:rPr lang="en-US" sz="1800" dirty="0" smtClean="0">
                <a:latin typeface="+mn-lt"/>
              </a:rPr>
              <a:t> for more information</a:t>
            </a:r>
          </a:p>
          <a:p>
            <a:pPr lvl="1">
              <a:buNone/>
            </a:pPr>
            <a:r>
              <a:rPr lang="en-US" sz="2400" dirty="0" smtClean="0">
                <a:latin typeface="+mn-lt"/>
              </a:rPr>
              <a:t>  </a:t>
            </a:r>
          </a:p>
          <a:p>
            <a:pPr marL="0" indent="0">
              <a:buNone/>
            </a:pPr>
            <a:endParaRPr lang="en-US" dirty="0">
              <a:latin typeface="Arial Narrow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24600"/>
            <a:ext cx="228600" cy="2889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C582DBD-5226-4626-9D88-10638003E5C9}" type="slidenum">
              <a:rPr lang="en-US" smtClean="0">
                <a:latin typeface="+mj-lt"/>
              </a:rPr>
              <a:pPr>
                <a:defRPr/>
              </a:pPr>
              <a:t>3</a:t>
            </a:fld>
            <a:endParaRPr lang="en-US" dirty="0">
              <a:latin typeface="+mj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4395576"/>
              </p:ext>
            </p:extLst>
          </p:nvPr>
        </p:nvGraphicFramePr>
        <p:xfrm>
          <a:off x="990600" y="3733800"/>
          <a:ext cx="7162800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00472"/>
                <a:gridCol w="186232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CH2M HILL Plateau Remediation Company (CHPRC)</a:t>
                      </a:r>
                    </a:p>
                  </a:txBody>
                  <a:tcPr marL="95250" marR="95250" marT="95250" marB="952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 509-373-4535</a:t>
                      </a:r>
                    </a:p>
                  </a:txBody>
                  <a:tcPr marL="95250" marR="95250" marT="95250" marB="95250" anchor="ctr">
                    <a:solidFill>
                      <a:srgbClr val="D0D8E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 Mission Support Alliance (MSA)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 509-373-4877</a:t>
                      </a:r>
                    </a:p>
                  </a:txBody>
                  <a:tcPr marL="95250" marR="95250" marT="95250" marB="95250" anchor="ctr"/>
                </a:tc>
              </a:tr>
              <a:tr h="41243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 Washington Closure Hanford (WCH)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 509-375-4667</a:t>
                      </a:r>
                    </a:p>
                  </a:txBody>
                  <a:tcPr marL="95250" marR="95250" marT="95250" marB="95250" anchor="ctr"/>
                </a:tc>
              </a:tr>
              <a:tr h="41243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 Washington River Protection Solutions (WRPS)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 509-373-1458</a:t>
                      </a:r>
                    </a:p>
                  </a:txBody>
                  <a:tcPr marL="95250" marR="95250" marT="95250" marB="95250" anchor="ctr"/>
                </a:tc>
              </a:tr>
              <a:tr h="41243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 smtClean="0">
                          <a:solidFill>
                            <a:schemeClr val="tx1"/>
                          </a:solidFill>
                          <a:latin typeface="Arial Narrow" pitchFamily="34" charset="0"/>
                          <a:hlinkClick r:id="rId4"/>
                        </a:rPr>
                        <a:t>http://www.hanford.gov/page.cfm/EmployeeAsbestosInformation</a:t>
                      </a:r>
                      <a:endParaRPr lang="en-US" sz="1600" i="1" dirty="0" smtClean="0">
                        <a:solidFill>
                          <a:schemeClr val="tx1"/>
                        </a:solidFill>
                        <a:latin typeface="Arial Narrow" pitchFamily="34" charset="0"/>
                      </a:endParaRPr>
                    </a:p>
                  </a:txBody>
                  <a:tcPr marL="95250" marR="95250" marT="95250" marB="9525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marL="95250" marR="95250" marT="95250" marB="952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9142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 smtClean="0">
                <a:latin typeface="Arial" charset="0"/>
                <a:cs typeface="Arial" charset="0"/>
              </a:rPr>
              <a:t/>
            </a:r>
            <a:br>
              <a:rPr lang="en-US" sz="3200" dirty="0" smtClean="0">
                <a:latin typeface="Arial" charset="0"/>
                <a:cs typeface="Arial" charset="0"/>
              </a:rPr>
            </a:br>
            <a:r>
              <a:rPr lang="en-US" sz="4000" dirty="0" smtClean="0">
                <a:latin typeface="Arial" charset="0"/>
                <a:cs typeface="Arial" charset="0"/>
              </a:rPr>
              <a:t>Asbestos Action Plan in Progress</a:t>
            </a:r>
            <a:r>
              <a:rPr lang="en-US" dirty="0" smtClean="0">
                <a:latin typeface="Arial" charset="0"/>
                <a:cs typeface="Arial" charset="0"/>
              </a:rPr>
              <a:t/>
            </a:r>
            <a:br>
              <a:rPr lang="en-US" dirty="0" smtClean="0">
                <a:latin typeface="Arial" charset="0"/>
                <a:cs typeface="Arial" charset="0"/>
              </a:rPr>
            </a:br>
            <a:endParaRPr lang="en-US" dirty="0" smtClean="0">
              <a:latin typeface="Arial" charset="0"/>
              <a:cs typeface="Arial" charset="0"/>
            </a:endParaRPr>
          </a:p>
        </p:txBody>
      </p:sp>
      <p:sp>
        <p:nvSpPr>
          <p:cNvPr id="3075" name="Text Placeholder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2400" b="1" dirty="0" smtClean="0">
                <a:latin typeface="+mn-lt"/>
                <a:cs typeface="Arial" charset="0"/>
              </a:rPr>
              <a:t>Recent action updates:</a:t>
            </a:r>
          </a:p>
          <a:p>
            <a:pPr>
              <a:buNone/>
            </a:pPr>
            <a:endParaRPr lang="en-US" sz="2400" b="1" dirty="0" smtClean="0">
              <a:latin typeface="+mn-lt"/>
              <a:cs typeface="Arial" charset="0"/>
            </a:endParaRPr>
          </a:p>
          <a:p>
            <a:pPr marL="579438" lvl="1">
              <a:buFont typeface="Wingdings" pitchFamily="2" charset="2"/>
              <a:buChar char="þ"/>
            </a:pPr>
            <a:r>
              <a:rPr lang="en-US" sz="1800" dirty="0" smtClean="0">
                <a:latin typeface="+mn-lt"/>
                <a:cs typeface="Arial" charset="0"/>
              </a:rPr>
              <a:t>Barricaded and posted all areas of concern to restrict access. </a:t>
            </a:r>
          </a:p>
          <a:p>
            <a:pPr marL="579438" lvl="1">
              <a:buFont typeface="Wingdings" pitchFamily="2" charset="2"/>
              <a:buChar char="þ"/>
            </a:pPr>
            <a:r>
              <a:rPr lang="en-US" sz="1800" dirty="0" smtClean="0">
                <a:latin typeface="+mn-lt"/>
                <a:cs typeface="Arial" charset="0"/>
              </a:rPr>
              <a:t>Removed fragments or residual material suspected to contain asbestos from the 200 East and West areas. </a:t>
            </a:r>
          </a:p>
          <a:p>
            <a:pPr marL="579438" lvl="1">
              <a:buFont typeface="Wingdings" pitchFamily="2" charset="2"/>
              <a:buChar char="þ"/>
            </a:pPr>
            <a:r>
              <a:rPr lang="en-US" sz="1800" dirty="0" smtClean="0">
                <a:latin typeface="+mn-lt"/>
                <a:cs typeface="Arial" charset="0"/>
              </a:rPr>
              <a:t>Completed soil cover at 284-E Powerhouse site and </a:t>
            </a:r>
            <a:r>
              <a:rPr lang="en-US" sz="1800" dirty="0" smtClean="0">
                <a:latin typeface="+mn-lt"/>
                <a:cs typeface="Arial" charset="0"/>
              </a:rPr>
              <a:t>70 percent </a:t>
            </a:r>
            <a:r>
              <a:rPr lang="en-US" sz="1800" dirty="0" smtClean="0">
                <a:latin typeface="+mn-lt"/>
                <a:cs typeface="Arial" charset="0"/>
              </a:rPr>
              <a:t>complete with  cover at the 272-E building site. </a:t>
            </a:r>
          </a:p>
          <a:p>
            <a:pPr marL="579438" lvl="1">
              <a:buFont typeface="Wingdings" pitchFamily="2" charset="2"/>
              <a:buChar char="þ"/>
            </a:pPr>
            <a:r>
              <a:rPr lang="en-US" sz="1800" dirty="0" smtClean="0">
                <a:latin typeface="+mn-lt"/>
                <a:cs typeface="Arial" charset="0"/>
              </a:rPr>
              <a:t>Performed a verification </a:t>
            </a:r>
            <a:r>
              <a:rPr lang="en-US" sz="1800" dirty="0" smtClean="0">
                <a:latin typeface="+mn-lt"/>
                <a:cs typeface="Arial" charset="0"/>
              </a:rPr>
              <a:t>walk down </a:t>
            </a:r>
            <a:r>
              <a:rPr lang="en-US" sz="1800" dirty="0" smtClean="0">
                <a:latin typeface="+mn-lt"/>
                <a:cs typeface="Arial" charset="0"/>
              </a:rPr>
              <a:t>of the 200 West and East </a:t>
            </a:r>
            <a:r>
              <a:rPr lang="en-US" sz="1800" dirty="0" smtClean="0">
                <a:latin typeface="+mn-lt"/>
                <a:cs typeface="Arial" charset="0"/>
              </a:rPr>
              <a:t>steam lines</a:t>
            </a:r>
            <a:r>
              <a:rPr lang="en-US" sz="1800" dirty="0" smtClean="0">
                <a:latin typeface="+mn-lt"/>
                <a:cs typeface="Arial" charset="0"/>
              </a:rPr>
              <a:t>.   </a:t>
            </a:r>
          </a:p>
          <a:p>
            <a:pPr marL="579438" lvl="1">
              <a:buFont typeface="Wingdings" pitchFamily="2" charset="2"/>
              <a:buChar char="þ"/>
            </a:pPr>
            <a:r>
              <a:rPr lang="en-US" sz="1800" dirty="0" smtClean="0">
                <a:latin typeface="+mn-lt"/>
                <a:cs typeface="Arial" charset="0"/>
              </a:rPr>
              <a:t>Established Hanford “Employee Asbestos Information” website at</a:t>
            </a:r>
            <a:r>
              <a:rPr lang="en-US" sz="1800" dirty="0" smtClean="0">
                <a:cs typeface="Arial" charset="0"/>
              </a:rPr>
              <a:t>. </a:t>
            </a:r>
            <a:r>
              <a:rPr lang="en-US" sz="1800" dirty="0" smtClean="0">
                <a:cs typeface="Arial" charset="0"/>
                <a:hlinkClick r:id="rId2"/>
              </a:rPr>
              <a:t>http://www.hanford.gov/page.cfm/EmployeeAsbestosInformation </a:t>
            </a:r>
            <a:endParaRPr lang="en-US" sz="1800" dirty="0" smtClean="0">
              <a:latin typeface="+mn-lt"/>
              <a:cs typeface="Arial" charset="0"/>
            </a:endParaRPr>
          </a:p>
          <a:p>
            <a:pPr marL="579438" lvl="1">
              <a:buFont typeface="Wingdings" pitchFamily="2" charset="2"/>
              <a:buChar char="þ"/>
            </a:pPr>
            <a:r>
              <a:rPr lang="en-US" sz="1800" dirty="0" smtClean="0">
                <a:latin typeface="+mn-lt"/>
                <a:cs typeface="Arial" charset="0"/>
              </a:rPr>
              <a:t>Continued washing and relocating equipment from the “lay down” area at the “Industrial 7”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24600"/>
            <a:ext cx="30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C025169-2DF7-43C8-B1D3-6DE284FA9705}" type="slidenum">
              <a:rPr lang="en-US" smtClean="0">
                <a:latin typeface="+mj-lt"/>
              </a:rPr>
              <a:pPr>
                <a:defRPr/>
              </a:pPr>
              <a:t>4</a:t>
            </a:fld>
            <a:endParaRPr 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1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B5394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2675</TotalTime>
  <Words>282</Words>
  <Application>Microsoft Office PowerPoint</Application>
  <PresentationFormat>On-screen Show (4:3)</PresentationFormat>
  <Paragraphs>42</Paragraphs>
  <Slides>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Flow</vt:lpstr>
      <vt:lpstr>Asbestos Update</vt:lpstr>
      <vt:lpstr>Asbestos Update</vt:lpstr>
      <vt:lpstr>Asbestos Concerns</vt:lpstr>
      <vt:lpstr> Asbestos Action Plan in Progress </vt:lpstr>
    </vt:vector>
  </TitlesOfParts>
  <Company>Hanford (MSP ver 2.0)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*NEW* Employee Hotline!</dc:title>
  <dc:creator>H0183300</dc:creator>
  <cp:lastModifiedBy>H0068565</cp:lastModifiedBy>
  <cp:revision>15</cp:revision>
  <cp:lastPrinted>2012-03-05T21:55:30Z</cp:lastPrinted>
  <dcterms:created xsi:type="dcterms:W3CDTF">2012-02-28T18:39:42Z</dcterms:created>
  <dcterms:modified xsi:type="dcterms:W3CDTF">2012-03-20T14:58:51Z</dcterms:modified>
</cp:coreProperties>
</file>