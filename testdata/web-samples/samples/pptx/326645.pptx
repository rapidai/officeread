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"/>
  </p:notesMasterIdLst>
  <p:sldIdLst>
    <p:sldId id="256" r:id="rId2"/>
    <p:sldId id="260" r:id="rId3"/>
    <p:sldId id="261" r:id="rId4"/>
    <p:sldId id="258" r:id="rId5"/>
    <p:sldId id="257" r:id="rId6"/>
    <p:sldId id="268" r:id="rId7"/>
    <p:sldId id="259" r:id="rId8"/>
    <p:sldId id="262" r:id="rId9"/>
    <p:sldId id="263" r:id="rId10"/>
    <p:sldId id="264" r:id="rId11"/>
    <p:sldId id="265" r:id="rId12"/>
    <p:sldId id="266" r:id="rId13"/>
    <p:sldId id="270" r:id="rId14"/>
    <p:sldId id="271" r:id="rId15"/>
    <p:sldId id="272" r:id="rId16"/>
    <p:sldId id="269" r:id="rId17"/>
    <p:sldId id="267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71727" autoAdjust="0"/>
  </p:normalViewPr>
  <p:slideViewPr>
    <p:cSldViewPr>
      <p:cViewPr varScale="1">
        <p:scale>
          <a:sx n="53" d="100"/>
          <a:sy n="53" d="100"/>
        </p:scale>
        <p:origin x="-9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9B3BF995-FA30-4FEA-A70B-84686CF320B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E374C6-C971-47FB-9B7D-3E424F9110C7}" type="slidenum">
              <a:rPr lang="en-US"/>
              <a:pPr/>
              <a:t>1</a:t>
            </a:fld>
            <a:endParaRPr lang="en-US"/>
          </a:p>
        </p:txBody>
      </p:sp>
      <p:sp>
        <p:nvSpPr>
          <p:cNvPr id="296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VISN 23 CHRONIC DISEASE COLLABORATIVE</a:t>
            </a:r>
          </a:p>
          <a:p>
            <a:endParaRPr lang="en-US" b="1"/>
          </a:p>
          <a:p>
            <a:r>
              <a:rPr lang="en-US" sz="2000"/>
              <a:t>AN APPROACH TO POPULATION CARE MANAGEMENT</a:t>
            </a:r>
          </a:p>
          <a:p>
            <a:endParaRPr lang="en-US" sz="1600"/>
          </a:p>
          <a:p>
            <a:r>
              <a:rPr lang="en-US" sz="900"/>
              <a:t>DARYL S. DICKSON MD</a:t>
            </a:r>
          </a:p>
          <a:p>
            <a:r>
              <a:rPr lang="en-US" sz="900"/>
              <a:t>PRIMARY CARE SITE MANAGER</a:t>
            </a:r>
          </a:p>
          <a:p>
            <a:r>
              <a:rPr lang="en-US" sz="900"/>
              <a:t>RAPID CITY VA CLINIC</a:t>
            </a:r>
          </a:p>
          <a:p>
            <a:r>
              <a:rPr lang="en-US" sz="900"/>
              <a:t>VA BLACK HILLS HEALTH CARE SYSTEM CBOC</a:t>
            </a:r>
          </a:p>
          <a:p>
            <a:r>
              <a:rPr lang="en-US" sz="900"/>
              <a:t>07/09/07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7F88F6-8D73-4326-A750-501A78AFE3A1}" type="slidenum">
              <a:rPr lang="en-US"/>
              <a:pPr/>
              <a:t>2</a:t>
            </a:fld>
            <a:endParaRPr lang="en-US"/>
          </a:p>
        </p:txBody>
      </p:sp>
      <p:sp>
        <p:nvSpPr>
          <p:cNvPr id="307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VISN 23 NETWORK LEADERSHIP</a:t>
            </a:r>
          </a:p>
          <a:p>
            <a:endParaRPr lang="en-US" b="1"/>
          </a:p>
          <a:p>
            <a:r>
              <a:rPr lang="en-US"/>
              <a:t>ROBERT A. PETZEL MD—NETWORK DIRECTOR</a:t>
            </a:r>
          </a:p>
          <a:p>
            <a:endParaRPr lang="en-US"/>
          </a:p>
          <a:p>
            <a:r>
              <a:rPr lang="en-US"/>
              <a:t>BARRY GRAHAM MD—NETWORK CMO</a:t>
            </a:r>
          </a:p>
          <a:p>
            <a:endParaRPr lang="en-US"/>
          </a:p>
          <a:p>
            <a:r>
              <a:rPr lang="en-US"/>
              <a:t>JANET P. MURPHY MBA—NETWORK PRIMARY AND SPECIALTY MEDICINE SERVICE LINE CEO—</a:t>
            </a:r>
            <a:r>
              <a:rPr lang="en-US" b="1"/>
              <a:t>COLLABORATIVE</a:t>
            </a:r>
            <a:r>
              <a:rPr lang="en-US"/>
              <a:t> </a:t>
            </a:r>
            <a:r>
              <a:rPr lang="en-US" b="1"/>
              <a:t>DIRECTOR</a:t>
            </a:r>
          </a:p>
          <a:p>
            <a:endParaRPr lang="en-US" b="1"/>
          </a:p>
          <a:p>
            <a:r>
              <a:rPr lang="en-US"/>
              <a:t>TERRY WAHLS MD—PRIMARY AND SPECIALTY MEDICINE NETWORK MEDICAL DIRECTOR  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73D72B-ED6D-4238-90C1-501E651B5723}" type="slidenum">
              <a:rPr lang="en-US"/>
              <a:pPr/>
              <a:t>3</a:t>
            </a:fld>
            <a:endParaRPr lang="en-US"/>
          </a:p>
        </p:txBody>
      </p:sp>
      <p:sp>
        <p:nvSpPr>
          <p:cNvPr id="317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CHRONIC DISEASE COLLABORATIVE</a:t>
            </a:r>
          </a:p>
          <a:p>
            <a:endParaRPr lang="en-US" b="1"/>
          </a:p>
          <a:p>
            <a:r>
              <a:rPr lang="en-US"/>
              <a:t>18 MONTH DURATION—STARTED IN APRIL 2006</a:t>
            </a:r>
          </a:p>
          <a:p>
            <a:endParaRPr lang="en-US"/>
          </a:p>
          <a:p>
            <a:r>
              <a:rPr lang="en-US"/>
              <a:t>4 FACE-TO-FACE LEARNING SESSIONS—MOST RECENT SESSION (L.S.#3) MAY 2007</a:t>
            </a:r>
          </a:p>
          <a:p>
            <a:endParaRPr lang="en-US"/>
          </a:p>
          <a:p>
            <a:r>
              <a:rPr lang="en-US"/>
              <a:t>3 ACTION PERIODS BETWEEN LEARNING SESSIONS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56D356-2BA8-4288-8CD2-E700C3BCC1DE}" type="slidenum">
              <a:rPr lang="en-US"/>
              <a:pPr/>
              <a:t>4</a:t>
            </a:fld>
            <a:endParaRPr lang="en-US"/>
          </a:p>
        </p:txBody>
      </p:sp>
      <p:sp>
        <p:nvSpPr>
          <p:cNvPr id="327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FOCUS OF COLLABORATIVE</a:t>
            </a:r>
          </a:p>
          <a:p>
            <a:endParaRPr lang="en-US" b="1"/>
          </a:p>
          <a:p>
            <a:r>
              <a:rPr lang="en-US"/>
              <a:t>Diabetes Mellitus</a:t>
            </a:r>
          </a:p>
          <a:p>
            <a:endParaRPr lang="en-US"/>
          </a:p>
          <a:p>
            <a:r>
              <a:rPr lang="en-US"/>
              <a:t>COPD</a:t>
            </a:r>
          </a:p>
          <a:p>
            <a:endParaRPr lang="en-US"/>
          </a:p>
          <a:p>
            <a:r>
              <a:rPr lang="en-US" sz="1800" b="1"/>
              <a:t>CHF</a:t>
            </a:r>
            <a:r>
              <a:rPr lang="en-US"/>
              <a:t>—SUBJECT MATTER EXPERT DR. I. ANAND—MINNEAPOLIS VA CARDIOLOGY</a:t>
            </a:r>
            <a:endParaRPr lang="en-US" sz="1800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BD9317-3A94-403E-8C0C-EEAB5D9C28A2}" type="slidenum">
              <a:rPr lang="en-US"/>
              <a:pPr/>
              <a:t>5</a:t>
            </a:fld>
            <a:endParaRPr lang="en-US"/>
          </a:p>
        </p:txBody>
      </p:sp>
      <p:sp>
        <p:nvSpPr>
          <p:cNvPr id="337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CHRONIC CARE MODEL</a:t>
            </a:r>
          </a:p>
          <a:p>
            <a:endParaRPr lang="en-US" b="1"/>
          </a:p>
          <a:p>
            <a:r>
              <a:rPr lang="en-US"/>
              <a:t>Based on Wagner’s Chronic Care Model</a:t>
            </a:r>
          </a:p>
          <a:p>
            <a:endParaRPr lang="en-US"/>
          </a:p>
          <a:p>
            <a:r>
              <a:rPr lang="en-US"/>
              <a:t>Incorporates VA care, Community care, and encourages patients to take a more active role in their daily disease management.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F7E3A3-F296-46CB-9C71-F1FB4FD22717}" type="slidenum">
              <a:rPr lang="en-US"/>
              <a:pPr/>
              <a:t>6</a:t>
            </a:fld>
            <a:endParaRPr lang="en-US"/>
          </a:p>
        </p:txBody>
      </p:sp>
      <p:sp>
        <p:nvSpPr>
          <p:cNvPr id="348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Wagner Chronic Care Model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8289D7-AFAD-4B38-9104-4334491B8904}" type="slidenum">
              <a:rPr lang="en-US"/>
              <a:pPr/>
              <a:t>7</a:t>
            </a:fld>
            <a:endParaRPr lang="en-US"/>
          </a:p>
        </p:txBody>
      </p:sp>
      <p:sp>
        <p:nvSpPr>
          <p:cNvPr id="358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OVERALL CHF GOAL OF COLLABORATIVE</a:t>
            </a:r>
          </a:p>
          <a:p>
            <a:endParaRPr lang="en-US" b="1"/>
          </a:p>
          <a:p>
            <a:r>
              <a:rPr lang="en-US"/>
              <a:t>IDENTIFY PATIENTS WHO QUALIFY FOR THE COLLABORATIVE</a:t>
            </a:r>
          </a:p>
          <a:p>
            <a:endParaRPr lang="en-US"/>
          </a:p>
          <a:p>
            <a:r>
              <a:rPr lang="en-US"/>
              <a:t>ASSURE CORRECT DIAGNOSIS BASED UPON SET CRITERIA</a:t>
            </a:r>
          </a:p>
          <a:p>
            <a:endParaRPr lang="en-US"/>
          </a:p>
          <a:p>
            <a:r>
              <a:rPr lang="en-US"/>
              <a:t>CHF CRITERIA BASED UPON NYHA CHF CRITERIA AND ACC STAGING WITH EJECTION FRACTION CONFIRMATION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857558-9FD6-4932-B0ED-AFB1AB15F9BB}" type="slidenum">
              <a:rPr lang="en-US"/>
              <a:pPr/>
              <a:t>8</a:t>
            </a:fld>
            <a:endParaRPr lang="en-US"/>
          </a:p>
        </p:txBody>
      </p:sp>
      <p:sp>
        <p:nvSpPr>
          <p:cNvPr id="368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OVERALL CHF GOAL OF COLLABORATIVE</a:t>
            </a:r>
          </a:p>
          <a:p>
            <a:endParaRPr lang="en-US" b="1"/>
          </a:p>
          <a:p>
            <a:r>
              <a:rPr lang="en-US"/>
              <a:t>DECREASE HOSPITAL ADMISSIONS FOR CONGESTIVE HEART FAILURE</a:t>
            </a:r>
          </a:p>
          <a:p>
            <a:endParaRPr lang="en-US"/>
          </a:p>
          <a:p>
            <a:r>
              <a:rPr lang="en-US"/>
              <a:t>DECREASE EMERGENCY ROOM AND URGENT CARE VISITS OF PATIENTS FOR CONGESTIVE HEART FAILURE SYMPTOMS</a:t>
            </a:r>
          </a:p>
          <a:p>
            <a:endParaRPr lang="en-US"/>
          </a:p>
          <a:p>
            <a:r>
              <a:rPr lang="en-US"/>
              <a:t>IMPROVE QUALITY OF LIFE FOR PATIENTS WITH CONGESTIVE HEART FAILURE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FF5851-9F55-4948-8043-F262813EE60B}" type="slidenum">
              <a:rPr lang="en-US"/>
              <a:pPr/>
              <a:t>9</a:t>
            </a:fld>
            <a:endParaRPr lang="en-US"/>
          </a:p>
        </p:txBody>
      </p:sp>
      <p:sp>
        <p:nvSpPr>
          <p:cNvPr id="378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TOOLS PROVIDED</a:t>
            </a:r>
          </a:p>
          <a:p>
            <a:endParaRPr lang="en-US" b="1"/>
          </a:p>
          <a:p>
            <a:r>
              <a:rPr lang="en-US"/>
              <a:t>1.CHRONIC DISEASE MANAGEMENT PATIENT REGISTRIES</a:t>
            </a:r>
          </a:p>
          <a:p>
            <a:endParaRPr lang="en-US"/>
          </a:p>
          <a:p>
            <a:pPr lvl="1"/>
            <a:r>
              <a:rPr lang="en-US"/>
              <a:t>CREATED BY DSS FOR TRACKING PURPOSES—PATIENT IDENTIFICATION</a:t>
            </a:r>
          </a:p>
          <a:p>
            <a:pPr lvl="1"/>
            <a:endParaRPr lang="en-US"/>
          </a:p>
          <a:p>
            <a:pPr lvl="1"/>
            <a:r>
              <a:rPr lang="en-US"/>
              <a:t>EACH CHRONIC DISEASE HAS ITS OWN REGISTRY</a:t>
            </a:r>
          </a:p>
          <a:p>
            <a:pPr lvl="1"/>
            <a:endParaRPr lang="en-US"/>
          </a:p>
          <a:p>
            <a:pPr lvl="1"/>
            <a:r>
              <a:rPr lang="en-US"/>
              <a:t>CHF REGISTRY BASED UPON PROBLEM LIST AND DISCHARGE DIAGNOSIS</a:t>
            </a:r>
          </a:p>
          <a:p>
            <a:pPr lvl="1"/>
            <a:r>
              <a:rPr lang="en-US"/>
              <a:t> </a:t>
            </a:r>
          </a:p>
          <a:p>
            <a:pPr lvl="1"/>
            <a:r>
              <a:rPr lang="en-US"/>
              <a:t>REGISTRIES ARE FACILITY (DIVISION SPECIFIC) AND CAN BE BROKEN DOWN TO PRIMARY CARE PROVIDER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2C3A20-AD00-45BB-9D02-8A970DDC20A6}" type="slidenum">
              <a:rPr lang="en-US"/>
              <a:pPr/>
              <a:t>10</a:t>
            </a:fld>
            <a:endParaRPr lang="en-US"/>
          </a:p>
        </p:txBody>
      </p:sp>
      <p:sp>
        <p:nvSpPr>
          <p:cNvPr id="389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TOOLS PROVIDED</a:t>
            </a:r>
          </a:p>
          <a:p>
            <a:endParaRPr lang="en-US" b="1"/>
          </a:p>
          <a:p>
            <a:r>
              <a:rPr lang="en-US"/>
              <a:t>2. CHRONIC DISEASE CASE MANAGERS</a:t>
            </a:r>
          </a:p>
          <a:p>
            <a:endParaRPr lang="en-US"/>
          </a:p>
          <a:p>
            <a:pPr lvl="1"/>
            <a:r>
              <a:rPr lang="en-US"/>
              <a:t>EACH FACILITY PROVIDED FTEE THROUGH NETWORK RESOURCES</a:t>
            </a:r>
          </a:p>
          <a:p>
            <a:pPr lvl="1"/>
            <a:endParaRPr lang="en-US"/>
          </a:p>
          <a:p>
            <a:pPr lvl="1"/>
            <a:r>
              <a:rPr lang="en-US"/>
              <a:t>CASE MANAGERS ARE MAINLY RNs BUT SOMETIMES DISEASE SPECIFIC INDIVIDUALS (RT) FOR COPD AND OR CDE FOR DIABETES</a:t>
            </a:r>
          </a:p>
          <a:p>
            <a:pPr lvl="1"/>
            <a:endParaRPr lang="en-US"/>
          </a:p>
          <a:p>
            <a:pPr lvl="1"/>
            <a:r>
              <a:rPr lang="en-US"/>
              <a:t>HOW TO USE CASE MANAGERS WAS DETERMINED BY FACILITIES</a:t>
            </a:r>
          </a:p>
          <a:p>
            <a:pPr lvl="1"/>
            <a:endParaRPr lang="en-US"/>
          </a:p>
          <a:p>
            <a:pPr lvl="1"/>
            <a:r>
              <a:rPr lang="en-US"/>
              <a:t>CASE MANAGERS BECAME PRIMARY CARE CCHT(CHRONIC CARE HOME TELEHEALTH) “EXPERTS”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F8BFFB-1B41-4ABD-A343-E8BFA239B5A5}" type="slidenum">
              <a:rPr lang="en-US"/>
              <a:pPr/>
              <a:t>11</a:t>
            </a:fld>
            <a:endParaRPr lang="en-US"/>
          </a:p>
        </p:txBody>
      </p:sp>
      <p:sp>
        <p:nvSpPr>
          <p:cNvPr id="399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TOOLS PROVIDED</a:t>
            </a:r>
          </a:p>
          <a:p>
            <a:endParaRPr lang="en-US"/>
          </a:p>
          <a:p>
            <a:r>
              <a:rPr lang="en-US"/>
              <a:t>3. CDM HEALTH FACTOR TEMPLATES</a:t>
            </a:r>
          </a:p>
          <a:p>
            <a:endParaRPr lang="en-US"/>
          </a:p>
          <a:p>
            <a:pPr lvl="1"/>
            <a:r>
              <a:rPr lang="en-US"/>
              <a:t>TEMPLATED PROGRESS NOTE TO HELP OPTIMIZE CHRONIC DISEASE CARE BY PROVIDERS FOR EACH COLLABORATIVE DISEASE STATE</a:t>
            </a:r>
          </a:p>
          <a:p>
            <a:pPr lvl="1"/>
            <a:endParaRPr lang="en-US"/>
          </a:p>
          <a:p>
            <a:pPr lvl="1"/>
            <a:r>
              <a:rPr lang="en-US"/>
              <a:t>HELPS TO TRACK IMPROVEMENT OF PATIENT CARE WITH ESTABISHED STANDARDS OF CARE AS RECOMMENDED BY ACC AND AHA</a:t>
            </a:r>
          </a:p>
          <a:p>
            <a:pPr lvl="1"/>
            <a:endParaRPr lang="en-US"/>
          </a:p>
          <a:p>
            <a:pPr lvl="1"/>
            <a:r>
              <a:rPr lang="en-US"/>
              <a:t>ACTS AS A REMINDERS TO PROVIDERS OF HOW TO OPTIMIZE CARE FOR PATIENTS WITH CHF AND OTHER DISEASE STATES</a:t>
            </a:r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03DF92-A69B-4603-9B47-081A0D0BD76F}" type="slidenum">
              <a:rPr lang="en-US"/>
              <a:pPr/>
              <a:t>16</a:t>
            </a:fld>
            <a:endParaRPr lang="en-US"/>
          </a:p>
        </p:txBody>
      </p:sp>
      <p:sp>
        <p:nvSpPr>
          <p:cNvPr id="409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LESSIONS LEARNED</a:t>
            </a:r>
          </a:p>
          <a:p>
            <a:endParaRPr lang="en-US"/>
          </a:p>
          <a:p>
            <a:r>
              <a:rPr lang="en-US"/>
              <a:t>GREATEST AMOUNT OF IMPROVEMENT IN PATIENT CARE OCCURS WHEN STAFF CAN FOCUS ON IMPROVEMENT GOALS (CASE MANAGERS ARE INVOLVED IN PATIENTS’ CARE)</a:t>
            </a:r>
          </a:p>
          <a:p>
            <a:endParaRPr lang="en-US"/>
          </a:p>
          <a:p>
            <a:r>
              <a:rPr lang="en-US"/>
              <a:t>PROVIDERS ARE REMINDED REGULARLY OF COLLABORATIVE EFFORTS (STAFF MEETINGS)</a:t>
            </a:r>
          </a:p>
          <a:p>
            <a:endParaRPr lang="en-US"/>
          </a:p>
          <a:p>
            <a:r>
              <a:rPr lang="en-US"/>
              <a:t>STAFF REMAIN “ENGAGED” IN COLLABORATIVE EFFORTS (STAFF MEETING DISCUSSIONS)</a:t>
            </a:r>
          </a:p>
          <a:p>
            <a:endParaRPr lang="en-US"/>
          </a:p>
          <a:p>
            <a:r>
              <a:rPr lang="en-US"/>
              <a:t>PATIENTS TAKE AN ACTIVE ROLL IN THEIR HEALTH CARE/DISEASE MANAGEMENT </a:t>
            </a:r>
          </a:p>
          <a:p>
            <a:endParaRPr lang="en-US"/>
          </a:p>
          <a:p>
            <a:endParaRPr lang="en-US" b="1"/>
          </a:p>
          <a:p>
            <a:endParaRPr lang="en-US"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E407F0-925C-4D8B-B640-B9589376FAB3}" type="slidenum">
              <a:rPr lang="en-US"/>
              <a:pPr/>
              <a:t>17</a:t>
            </a:fld>
            <a:endParaRPr lang="en-US"/>
          </a:p>
        </p:txBody>
      </p:sp>
      <p:sp>
        <p:nvSpPr>
          <p:cNvPr id="419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QUESTIONS?</a:t>
            </a:r>
          </a:p>
          <a:p>
            <a:endParaRPr lang="en-US" b="1"/>
          </a:p>
          <a:p>
            <a:r>
              <a:rPr lang="en-US"/>
              <a:t>THANK YOU!</a:t>
            </a:r>
          </a:p>
          <a:p>
            <a:endParaRPr lang="en-US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2084388" y="296863"/>
            <a:ext cx="6823075" cy="5353050"/>
            <a:chOff x="1313" y="187"/>
            <a:chExt cx="4298" cy="3372"/>
          </a:xfrm>
        </p:grpSpPr>
        <p:grpSp>
          <p:nvGrpSpPr>
            <p:cNvPr id="15363" name="Group 3"/>
            <p:cNvGrpSpPr>
              <a:grpSpLocks/>
            </p:cNvGrpSpPr>
            <p:nvPr/>
          </p:nvGrpSpPr>
          <p:grpSpPr bwMode="auto">
            <a:xfrm>
              <a:off x="2194" y="601"/>
              <a:ext cx="596" cy="447"/>
              <a:chOff x="0" y="0"/>
              <a:chExt cx="768" cy="576"/>
            </a:xfrm>
          </p:grpSpPr>
          <p:sp>
            <p:nvSpPr>
              <p:cNvPr id="15364" name="Oval 4"/>
              <p:cNvSpPr>
                <a:spLocks noChangeArrowheads="1"/>
              </p:cNvSpPr>
              <p:nvPr/>
            </p:nvSpPr>
            <p:spPr bwMode="hidden">
              <a:xfrm>
                <a:off x="0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65" name="Oval 5"/>
              <p:cNvSpPr>
                <a:spLocks noChangeArrowheads="1"/>
              </p:cNvSpPr>
              <p:nvPr/>
            </p:nvSpPr>
            <p:spPr bwMode="hidden">
              <a:xfrm>
                <a:off x="276" y="252"/>
                <a:ext cx="185" cy="10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366" name="Group 6"/>
            <p:cNvGrpSpPr>
              <a:grpSpLocks/>
            </p:cNvGrpSpPr>
            <p:nvPr/>
          </p:nvGrpSpPr>
          <p:grpSpPr bwMode="auto">
            <a:xfrm>
              <a:off x="1313" y="187"/>
              <a:ext cx="4298" cy="3372"/>
              <a:chOff x="0" y="0"/>
              <a:chExt cx="5533" cy="4341"/>
            </a:xfrm>
          </p:grpSpPr>
          <p:grpSp>
            <p:nvGrpSpPr>
              <p:cNvPr id="15367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5470" cy="4341"/>
                <a:chOff x="0" y="0"/>
                <a:chExt cx="5470" cy="4341"/>
              </a:xfrm>
            </p:grpSpPr>
            <p:grpSp>
              <p:nvGrpSpPr>
                <p:cNvPr id="15368" name="Group 8"/>
                <p:cNvGrpSpPr>
                  <a:grpSpLocks/>
                </p:cNvGrpSpPr>
                <p:nvPr/>
              </p:nvGrpSpPr>
              <p:grpSpPr bwMode="auto">
                <a:xfrm>
                  <a:off x="1339" y="786"/>
                  <a:ext cx="2919" cy="2151"/>
                  <a:chOff x="1265" y="814"/>
                  <a:chExt cx="2919" cy="2151"/>
                </a:xfrm>
              </p:grpSpPr>
              <p:sp>
                <p:nvSpPr>
                  <p:cNvPr id="15369" name="Oval 9"/>
                  <p:cNvSpPr>
                    <a:spLocks noChangeArrowheads="1"/>
                  </p:cNvSpPr>
                  <p:nvPr/>
                </p:nvSpPr>
                <p:spPr bwMode="hidden">
                  <a:xfrm>
                    <a:off x="1265" y="814"/>
                    <a:ext cx="2919" cy="2151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bg2"/>
                      </a:gs>
                      <a:gs pos="100000">
                        <a:schemeClr val="bg1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370" name="Oval 10"/>
                  <p:cNvSpPr>
                    <a:spLocks noChangeArrowheads="1"/>
                  </p:cNvSpPr>
                  <p:nvPr/>
                </p:nvSpPr>
                <p:spPr bwMode="hidden">
                  <a:xfrm>
                    <a:off x="2380" y="1601"/>
                    <a:ext cx="579" cy="406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bg2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371" name="Group 11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470" cy="4341"/>
                  <a:chOff x="0" y="0"/>
                  <a:chExt cx="5470" cy="4341"/>
                </a:xfrm>
              </p:grpSpPr>
              <p:grpSp>
                <p:nvGrpSpPr>
                  <p:cNvPr id="1537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3545" y="1502"/>
                    <a:ext cx="1258" cy="2327"/>
                    <a:chOff x="3471" y="1530"/>
                    <a:chExt cx="1258" cy="2327"/>
                  </a:xfrm>
                </p:grpSpPr>
                <p:sp>
                  <p:nvSpPr>
                    <p:cNvPr id="15373" name="Freeform 13"/>
                    <p:cNvSpPr>
                      <a:spLocks/>
                    </p:cNvSpPr>
                    <p:nvPr/>
                  </p:nvSpPr>
                  <p:spPr bwMode="hidden">
                    <a:xfrm rot="2711884">
                      <a:off x="2765" y="2236"/>
                      <a:ext cx="1724" cy="31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74" name="Freeform 14"/>
                    <p:cNvSpPr>
                      <a:spLocks/>
                    </p:cNvSpPr>
                    <p:nvPr/>
                  </p:nvSpPr>
                  <p:spPr bwMode="hidden">
                    <a:xfrm rot="2711884">
                      <a:off x="4021" y="3150"/>
                      <a:ext cx="925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75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938" y="1991"/>
                    <a:ext cx="2463" cy="1332"/>
                    <a:chOff x="2864" y="2019"/>
                    <a:chExt cx="2463" cy="1332"/>
                  </a:xfrm>
                </p:grpSpPr>
                <p:sp>
                  <p:nvSpPr>
                    <p:cNvPr id="15376" name="Freeform 16"/>
                    <p:cNvSpPr>
                      <a:spLocks/>
                    </p:cNvSpPr>
                    <p:nvPr/>
                  </p:nvSpPr>
                  <p:spPr bwMode="hidden">
                    <a:xfrm rot="2104081">
                      <a:off x="2864" y="2019"/>
                      <a:ext cx="1814" cy="34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77" name="Freeform 17"/>
                    <p:cNvSpPr>
                      <a:spLocks/>
                    </p:cNvSpPr>
                    <p:nvPr/>
                  </p:nvSpPr>
                  <p:spPr bwMode="hidden">
                    <a:xfrm rot="2104081">
                      <a:off x="4353" y="2806"/>
                      <a:ext cx="974" cy="54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78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2971" y="1804"/>
                    <a:ext cx="2477" cy="1064"/>
                    <a:chOff x="2897" y="1832"/>
                    <a:chExt cx="2477" cy="1064"/>
                  </a:xfrm>
                </p:grpSpPr>
                <p:sp>
                  <p:nvSpPr>
                    <p:cNvPr id="15379" name="Freeform 19"/>
                    <p:cNvSpPr>
                      <a:spLocks/>
                    </p:cNvSpPr>
                    <p:nvPr/>
                  </p:nvSpPr>
                  <p:spPr bwMode="hidden">
                    <a:xfrm rot="1582915">
                      <a:off x="2897" y="1832"/>
                      <a:ext cx="1736" cy="30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80" name="Freeform 20"/>
                    <p:cNvSpPr>
                      <a:spLocks/>
                    </p:cNvSpPr>
                    <p:nvPr/>
                  </p:nvSpPr>
                  <p:spPr bwMode="hidden">
                    <a:xfrm rot="1582915">
                      <a:off x="4442" y="2420"/>
                      <a:ext cx="932" cy="47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81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2998" y="1608"/>
                    <a:ext cx="2472" cy="927"/>
                    <a:chOff x="2924" y="1636"/>
                    <a:chExt cx="2472" cy="927"/>
                  </a:xfrm>
                </p:grpSpPr>
                <p:sp>
                  <p:nvSpPr>
                    <p:cNvPr id="15382" name="Freeform 22"/>
                    <p:cNvSpPr>
                      <a:spLocks/>
                    </p:cNvSpPr>
                    <p:nvPr/>
                  </p:nvSpPr>
                  <p:spPr bwMode="hidden">
                    <a:xfrm rot="1080363">
                      <a:off x="2924" y="1636"/>
                      <a:ext cx="1677" cy="33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83" name="Freeform 23"/>
                    <p:cNvSpPr>
                      <a:spLocks/>
                    </p:cNvSpPr>
                    <p:nvPr/>
                  </p:nvSpPr>
                  <p:spPr bwMode="hidden">
                    <a:xfrm rot="1080363">
                      <a:off x="4495" y="2037"/>
                      <a:ext cx="901" cy="52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84" name="Group 24"/>
                  <p:cNvGrpSpPr>
                    <a:grpSpLocks/>
                  </p:cNvGrpSpPr>
                  <p:nvPr/>
                </p:nvGrpSpPr>
                <p:grpSpPr bwMode="auto">
                  <a:xfrm>
                    <a:off x="3032" y="1386"/>
                    <a:ext cx="2342" cy="657"/>
                    <a:chOff x="2958" y="1414"/>
                    <a:chExt cx="2342" cy="657"/>
                  </a:xfrm>
                </p:grpSpPr>
                <p:sp>
                  <p:nvSpPr>
                    <p:cNvPr id="15385" name="Freeform 25"/>
                    <p:cNvSpPr>
                      <a:spLocks/>
                    </p:cNvSpPr>
                    <p:nvPr/>
                  </p:nvSpPr>
                  <p:spPr bwMode="hidden">
                    <a:xfrm rot="463793">
                      <a:off x="2958" y="1414"/>
                      <a:ext cx="1545" cy="31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86" name="Freeform 26"/>
                    <p:cNvSpPr>
                      <a:spLocks/>
                    </p:cNvSpPr>
                    <p:nvPr/>
                  </p:nvSpPr>
                  <p:spPr bwMode="hidden">
                    <a:xfrm rot="463793">
                      <a:off x="4470" y="1582"/>
                      <a:ext cx="830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87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3057" y="1241"/>
                    <a:ext cx="2150" cy="343"/>
                    <a:chOff x="2983" y="1269"/>
                    <a:chExt cx="2150" cy="343"/>
                  </a:xfrm>
                </p:grpSpPr>
                <p:sp>
                  <p:nvSpPr>
                    <p:cNvPr id="15388" name="Freeform 28"/>
                    <p:cNvSpPr>
                      <a:spLocks/>
                    </p:cNvSpPr>
                    <p:nvPr/>
                  </p:nvSpPr>
                  <p:spPr bwMode="hidden">
                    <a:xfrm rot="-84182">
                      <a:off x="2983" y="1289"/>
                      <a:ext cx="1404" cy="21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89" name="Freeform 29"/>
                    <p:cNvSpPr>
                      <a:spLocks/>
                    </p:cNvSpPr>
                    <p:nvPr/>
                  </p:nvSpPr>
                  <p:spPr bwMode="hidden">
                    <a:xfrm rot="-84182">
                      <a:off x="4379" y="1269"/>
                      <a:ext cx="754" cy="343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90" name="Group 30"/>
                  <p:cNvGrpSpPr>
                    <a:grpSpLocks/>
                  </p:cNvGrpSpPr>
                  <p:nvPr/>
                </p:nvGrpSpPr>
                <p:grpSpPr bwMode="auto">
                  <a:xfrm>
                    <a:off x="3012" y="889"/>
                    <a:ext cx="1879" cy="427"/>
                    <a:chOff x="2938" y="917"/>
                    <a:chExt cx="1879" cy="427"/>
                  </a:xfrm>
                </p:grpSpPr>
                <p:sp>
                  <p:nvSpPr>
                    <p:cNvPr id="15391" name="Freeform 31"/>
                    <p:cNvSpPr>
                      <a:spLocks/>
                    </p:cNvSpPr>
                    <p:nvPr/>
                  </p:nvSpPr>
                  <p:spPr bwMode="hidden">
                    <a:xfrm rot="-802576">
                      <a:off x="2938" y="1129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92" name="Freeform 32"/>
                    <p:cNvSpPr>
                      <a:spLocks/>
                    </p:cNvSpPr>
                    <p:nvPr/>
                  </p:nvSpPr>
                  <p:spPr bwMode="hidden">
                    <a:xfrm rot="-802576">
                      <a:off x="4155" y="917"/>
                      <a:ext cx="662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93" name="Group 33"/>
                  <p:cNvGrpSpPr>
                    <a:grpSpLocks/>
                  </p:cNvGrpSpPr>
                  <p:nvPr/>
                </p:nvGrpSpPr>
                <p:grpSpPr bwMode="auto">
                  <a:xfrm>
                    <a:off x="711" y="1625"/>
                    <a:ext cx="1257" cy="2326"/>
                    <a:chOff x="637" y="1653"/>
                    <a:chExt cx="1257" cy="2326"/>
                  </a:xfrm>
                </p:grpSpPr>
                <p:sp>
                  <p:nvSpPr>
                    <p:cNvPr id="15394" name="Freeform 34"/>
                    <p:cNvSpPr>
                      <a:spLocks/>
                    </p:cNvSpPr>
                    <p:nvPr/>
                  </p:nvSpPr>
                  <p:spPr bwMode="hidden">
                    <a:xfrm rot="18888116" flipH="1">
                      <a:off x="876" y="2359"/>
                      <a:ext cx="1724" cy="31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95" name="Freeform 35"/>
                    <p:cNvSpPr>
                      <a:spLocks/>
                    </p:cNvSpPr>
                    <p:nvPr/>
                  </p:nvSpPr>
                  <p:spPr bwMode="hidden">
                    <a:xfrm rot="18888116" flipH="1">
                      <a:off x="419" y="3272"/>
                      <a:ext cx="925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96" name="Group 36"/>
                  <p:cNvGrpSpPr>
                    <a:grpSpLocks/>
                  </p:cNvGrpSpPr>
                  <p:nvPr/>
                </p:nvGrpSpPr>
                <p:grpSpPr bwMode="auto">
                  <a:xfrm>
                    <a:off x="69" y="2168"/>
                    <a:ext cx="2463" cy="1332"/>
                    <a:chOff x="-5" y="2196"/>
                    <a:chExt cx="2463" cy="1332"/>
                  </a:xfrm>
                </p:grpSpPr>
                <p:sp>
                  <p:nvSpPr>
                    <p:cNvPr id="15397" name="Freeform 37"/>
                    <p:cNvSpPr>
                      <a:spLocks/>
                    </p:cNvSpPr>
                    <p:nvPr/>
                  </p:nvSpPr>
                  <p:spPr bwMode="hidden">
                    <a:xfrm rot="19495919" flipH="1">
                      <a:off x="644" y="2196"/>
                      <a:ext cx="1814" cy="347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398" name="Freeform 38"/>
                    <p:cNvSpPr>
                      <a:spLocks/>
                    </p:cNvSpPr>
                    <p:nvPr/>
                  </p:nvSpPr>
                  <p:spPr bwMode="hidden">
                    <a:xfrm rot="19495919" flipH="1">
                      <a:off x="-5" y="2983"/>
                      <a:ext cx="974" cy="54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399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22" y="1981"/>
                    <a:ext cx="2477" cy="1064"/>
                    <a:chOff x="-52" y="2009"/>
                    <a:chExt cx="2477" cy="1064"/>
                  </a:xfrm>
                </p:grpSpPr>
                <p:sp>
                  <p:nvSpPr>
                    <p:cNvPr id="15400" name="Freeform 40"/>
                    <p:cNvSpPr>
                      <a:spLocks/>
                    </p:cNvSpPr>
                    <p:nvPr/>
                  </p:nvSpPr>
                  <p:spPr bwMode="hidden">
                    <a:xfrm rot="20017085" flipH="1">
                      <a:off x="689" y="2009"/>
                      <a:ext cx="1736" cy="30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1" name="Freeform 41"/>
                    <p:cNvSpPr>
                      <a:spLocks/>
                    </p:cNvSpPr>
                    <p:nvPr/>
                  </p:nvSpPr>
                  <p:spPr bwMode="hidden">
                    <a:xfrm rot="20017085" flipH="1">
                      <a:off x="-52" y="2597"/>
                      <a:ext cx="932" cy="47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02" name="Group 42"/>
                  <p:cNvGrpSpPr>
                    <a:grpSpLocks/>
                  </p:cNvGrpSpPr>
                  <p:nvPr/>
                </p:nvGrpSpPr>
                <p:grpSpPr bwMode="auto">
                  <a:xfrm>
                    <a:off x="0" y="1785"/>
                    <a:ext cx="2472" cy="927"/>
                    <a:chOff x="-74" y="1813"/>
                    <a:chExt cx="2472" cy="927"/>
                  </a:xfrm>
                </p:grpSpPr>
                <p:sp>
                  <p:nvSpPr>
                    <p:cNvPr id="15403" name="Freeform 43"/>
                    <p:cNvSpPr>
                      <a:spLocks/>
                    </p:cNvSpPr>
                    <p:nvPr/>
                  </p:nvSpPr>
                  <p:spPr bwMode="hidden">
                    <a:xfrm rot="20519637" flipH="1">
                      <a:off x="721" y="1813"/>
                      <a:ext cx="1677" cy="33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4" name="Freeform 44"/>
                    <p:cNvSpPr>
                      <a:spLocks/>
                    </p:cNvSpPr>
                    <p:nvPr/>
                  </p:nvSpPr>
                  <p:spPr bwMode="hidden">
                    <a:xfrm rot="20519637" flipH="1">
                      <a:off x="-74" y="2214"/>
                      <a:ext cx="901" cy="52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05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96" y="1563"/>
                    <a:ext cx="2342" cy="657"/>
                    <a:chOff x="22" y="1591"/>
                    <a:chExt cx="2342" cy="657"/>
                  </a:xfrm>
                </p:grpSpPr>
                <p:sp>
                  <p:nvSpPr>
                    <p:cNvPr id="15406" name="Freeform 46"/>
                    <p:cNvSpPr>
                      <a:spLocks/>
                    </p:cNvSpPr>
                    <p:nvPr/>
                  </p:nvSpPr>
                  <p:spPr bwMode="hidden">
                    <a:xfrm rot="21136207" flipH="1">
                      <a:off x="819" y="1591"/>
                      <a:ext cx="1545" cy="31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7" name="Freeform 47"/>
                    <p:cNvSpPr>
                      <a:spLocks/>
                    </p:cNvSpPr>
                    <p:nvPr/>
                  </p:nvSpPr>
                  <p:spPr bwMode="hidden">
                    <a:xfrm rot="21136207" flipH="1">
                      <a:off x="22" y="1759"/>
                      <a:ext cx="830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08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263" y="1418"/>
                    <a:ext cx="2150" cy="343"/>
                    <a:chOff x="189" y="1446"/>
                    <a:chExt cx="2150" cy="343"/>
                  </a:xfrm>
                </p:grpSpPr>
                <p:sp>
                  <p:nvSpPr>
                    <p:cNvPr id="15409" name="Freeform 49"/>
                    <p:cNvSpPr>
                      <a:spLocks/>
                    </p:cNvSpPr>
                    <p:nvPr/>
                  </p:nvSpPr>
                  <p:spPr bwMode="hidden">
                    <a:xfrm rot="84182" flipH="1">
                      <a:off x="935" y="1466"/>
                      <a:ext cx="1404" cy="21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10" name="Freeform 50"/>
                    <p:cNvSpPr>
                      <a:spLocks/>
                    </p:cNvSpPr>
                    <p:nvPr/>
                  </p:nvSpPr>
                  <p:spPr bwMode="hidden">
                    <a:xfrm rot="84182" flipH="1">
                      <a:off x="189" y="1446"/>
                      <a:ext cx="754" cy="343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1" name="Group 51"/>
                  <p:cNvGrpSpPr>
                    <a:grpSpLocks/>
                  </p:cNvGrpSpPr>
                  <p:nvPr/>
                </p:nvGrpSpPr>
                <p:grpSpPr bwMode="auto">
                  <a:xfrm>
                    <a:off x="579" y="1066"/>
                    <a:ext cx="1879" cy="427"/>
                    <a:chOff x="505" y="1094"/>
                    <a:chExt cx="1879" cy="427"/>
                  </a:xfrm>
                </p:grpSpPr>
                <p:sp>
                  <p:nvSpPr>
                    <p:cNvPr id="15412" name="Freeform 52"/>
                    <p:cNvSpPr>
                      <a:spLocks/>
                    </p:cNvSpPr>
                    <p:nvPr/>
                  </p:nvSpPr>
                  <p:spPr bwMode="hidden">
                    <a:xfrm rot="802576" flipH="1">
                      <a:off x="1151" y="1306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13" name="Freeform 53"/>
                    <p:cNvSpPr>
                      <a:spLocks/>
                    </p:cNvSpPr>
                    <p:nvPr/>
                  </p:nvSpPr>
                  <p:spPr bwMode="hidden">
                    <a:xfrm rot="802576" flipH="1">
                      <a:off x="505" y="1094"/>
                      <a:ext cx="662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4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690" y="871"/>
                    <a:ext cx="1850" cy="554"/>
                    <a:chOff x="616" y="899"/>
                    <a:chExt cx="1850" cy="554"/>
                  </a:xfrm>
                </p:grpSpPr>
                <p:sp>
                  <p:nvSpPr>
                    <p:cNvPr id="15415" name="Freeform 55"/>
                    <p:cNvSpPr>
                      <a:spLocks/>
                    </p:cNvSpPr>
                    <p:nvPr/>
                  </p:nvSpPr>
                  <p:spPr bwMode="hidden">
                    <a:xfrm rot="1277471" flipH="1">
                      <a:off x="1233" y="1238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16" name="Freeform 56"/>
                    <p:cNvSpPr>
                      <a:spLocks/>
                    </p:cNvSpPr>
                    <p:nvPr/>
                  </p:nvSpPr>
                  <p:spPr bwMode="hidden">
                    <a:xfrm rot="1277471" flipH="1">
                      <a:off x="616" y="899"/>
                      <a:ext cx="662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7" name="Group 57"/>
                  <p:cNvGrpSpPr>
                    <a:grpSpLocks/>
                  </p:cNvGrpSpPr>
                  <p:nvPr/>
                </p:nvGrpSpPr>
                <p:grpSpPr bwMode="auto">
                  <a:xfrm>
                    <a:off x="911" y="589"/>
                    <a:ext cx="1767" cy="743"/>
                    <a:chOff x="911" y="589"/>
                    <a:chExt cx="1767" cy="743"/>
                  </a:xfrm>
                </p:grpSpPr>
                <p:sp>
                  <p:nvSpPr>
                    <p:cNvPr id="15418" name="Freeform 58"/>
                    <p:cNvSpPr>
                      <a:spLocks/>
                    </p:cNvSpPr>
                    <p:nvPr/>
                  </p:nvSpPr>
                  <p:spPr bwMode="hidden">
                    <a:xfrm rot="2028410" flipH="1">
                      <a:off x="1445" y="1117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19" name="Freeform 59"/>
                    <p:cNvSpPr>
                      <a:spLocks/>
                    </p:cNvSpPr>
                    <p:nvPr/>
                  </p:nvSpPr>
                  <p:spPr bwMode="hidden">
                    <a:xfrm rot="2028410" flipH="1">
                      <a:off x="911" y="589"/>
                      <a:ext cx="662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20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1120" y="300"/>
                    <a:ext cx="1693" cy="892"/>
                    <a:chOff x="1120" y="300"/>
                    <a:chExt cx="1693" cy="892"/>
                  </a:xfrm>
                </p:grpSpPr>
                <p:sp>
                  <p:nvSpPr>
                    <p:cNvPr id="15421" name="Freeform 61"/>
                    <p:cNvSpPr>
                      <a:spLocks/>
                    </p:cNvSpPr>
                    <p:nvPr/>
                  </p:nvSpPr>
                  <p:spPr bwMode="hidden">
                    <a:xfrm rot="2664424" flipH="1">
                      <a:off x="1562" y="977"/>
                      <a:ext cx="1251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2" name="Freeform 62"/>
                    <p:cNvSpPr>
                      <a:spLocks/>
                    </p:cNvSpPr>
                    <p:nvPr/>
                  </p:nvSpPr>
                  <p:spPr bwMode="hidden">
                    <a:xfrm rot="2664424" flipH="1">
                      <a:off x="1120" y="300"/>
                      <a:ext cx="672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23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1707" y="76"/>
                    <a:ext cx="778" cy="1512"/>
                    <a:chOff x="1633" y="104"/>
                    <a:chExt cx="778" cy="1512"/>
                  </a:xfrm>
                </p:grpSpPr>
                <p:sp>
                  <p:nvSpPr>
                    <p:cNvPr id="15424" name="Freeform 64"/>
                    <p:cNvSpPr>
                      <a:spLocks/>
                    </p:cNvSpPr>
                    <p:nvPr/>
                  </p:nvSpPr>
                  <p:spPr bwMode="hidden">
                    <a:xfrm rot="3473776" flipH="1">
                      <a:off x="1754" y="958"/>
                      <a:ext cx="1100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5" name="Freeform 65"/>
                    <p:cNvSpPr>
                      <a:spLocks/>
                    </p:cNvSpPr>
                    <p:nvPr/>
                  </p:nvSpPr>
                  <p:spPr bwMode="hidden">
                    <a:xfrm rot="3473776" flipH="1">
                      <a:off x="1506" y="231"/>
                      <a:ext cx="591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26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2009" y="0"/>
                    <a:ext cx="634" cy="1534"/>
                    <a:chOff x="1935" y="28"/>
                    <a:chExt cx="634" cy="1534"/>
                  </a:xfrm>
                </p:grpSpPr>
                <p:sp>
                  <p:nvSpPr>
                    <p:cNvPr id="15427" name="Freeform 67"/>
                    <p:cNvSpPr>
                      <a:spLocks/>
                    </p:cNvSpPr>
                    <p:nvPr/>
                  </p:nvSpPr>
                  <p:spPr bwMode="hidden">
                    <a:xfrm rot="4126480" flipH="1">
                      <a:off x="1931" y="924"/>
                      <a:ext cx="1061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8" name="Freeform 68"/>
                    <p:cNvSpPr>
                      <a:spLocks/>
                    </p:cNvSpPr>
                    <p:nvPr/>
                  </p:nvSpPr>
                  <p:spPr bwMode="hidden">
                    <a:xfrm rot="4126480" flipH="1">
                      <a:off x="1819" y="144"/>
                      <a:ext cx="570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29" name="Group 69"/>
                  <p:cNvGrpSpPr>
                    <a:grpSpLocks/>
                  </p:cNvGrpSpPr>
                  <p:nvPr/>
                </p:nvGrpSpPr>
                <p:grpSpPr bwMode="auto">
                  <a:xfrm>
                    <a:off x="2896" y="644"/>
                    <a:ext cx="1845" cy="566"/>
                    <a:chOff x="2822" y="672"/>
                    <a:chExt cx="1845" cy="566"/>
                  </a:xfrm>
                </p:grpSpPr>
                <p:sp>
                  <p:nvSpPr>
                    <p:cNvPr id="15430" name="Freeform 70"/>
                    <p:cNvSpPr>
                      <a:spLocks/>
                    </p:cNvSpPr>
                    <p:nvPr/>
                  </p:nvSpPr>
                  <p:spPr bwMode="hidden">
                    <a:xfrm rot="-1325434">
                      <a:off x="2822" y="1023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1" name="Freeform 71"/>
                    <p:cNvSpPr>
                      <a:spLocks/>
                    </p:cNvSpPr>
                    <p:nvPr/>
                  </p:nvSpPr>
                  <p:spPr bwMode="hidden">
                    <a:xfrm rot="-1325434">
                      <a:off x="4005" y="672"/>
                      <a:ext cx="662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32" name="Group 72"/>
                  <p:cNvGrpSpPr>
                    <a:grpSpLocks/>
                  </p:cNvGrpSpPr>
                  <p:nvPr/>
                </p:nvGrpSpPr>
                <p:grpSpPr bwMode="auto">
                  <a:xfrm>
                    <a:off x="2757" y="417"/>
                    <a:ext cx="1781" cy="717"/>
                    <a:chOff x="2683" y="445"/>
                    <a:chExt cx="1781" cy="717"/>
                  </a:xfrm>
                </p:grpSpPr>
                <p:sp>
                  <p:nvSpPr>
                    <p:cNvPr id="15433" name="Freeform 73"/>
                    <p:cNvSpPr>
                      <a:spLocks/>
                    </p:cNvSpPr>
                    <p:nvPr/>
                  </p:nvSpPr>
                  <p:spPr bwMode="hidden">
                    <a:xfrm rot="-1921064">
                      <a:off x="2683" y="947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4" name="Freeform 74"/>
                    <p:cNvSpPr>
                      <a:spLocks/>
                    </p:cNvSpPr>
                    <p:nvPr/>
                  </p:nvSpPr>
                  <p:spPr bwMode="hidden">
                    <a:xfrm rot="-1921064">
                      <a:off x="3802" y="445"/>
                      <a:ext cx="662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5435" name="Freeform 75"/>
                  <p:cNvSpPr>
                    <a:spLocks/>
                  </p:cNvSpPr>
                  <p:nvPr/>
                </p:nvSpPr>
                <p:spPr bwMode="hidden">
                  <a:xfrm rot="4578755" flipH="1">
                    <a:off x="2175" y="949"/>
                    <a:ext cx="1027" cy="14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36" name="Freeform 76"/>
                  <p:cNvSpPr>
                    <a:spLocks/>
                  </p:cNvSpPr>
                  <p:nvPr/>
                </p:nvSpPr>
                <p:spPr bwMode="hidden">
                  <a:xfrm rot="4578755" flipH="1">
                    <a:off x="2199" y="196"/>
                    <a:ext cx="552" cy="22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5437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2874" y="13"/>
                    <a:ext cx="640" cy="1520"/>
                    <a:chOff x="2800" y="41"/>
                    <a:chExt cx="640" cy="1520"/>
                  </a:xfrm>
                </p:grpSpPr>
                <p:sp>
                  <p:nvSpPr>
                    <p:cNvPr id="15438" name="Freeform 78"/>
                    <p:cNvSpPr>
                      <a:spLocks/>
                    </p:cNvSpPr>
                    <p:nvPr/>
                  </p:nvSpPr>
                  <p:spPr bwMode="hidden">
                    <a:xfrm rot="-3857755">
                      <a:off x="2361" y="938"/>
                      <a:ext cx="1062" cy="18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9" name="Freeform 79"/>
                    <p:cNvSpPr>
                      <a:spLocks/>
                    </p:cNvSpPr>
                    <p:nvPr/>
                  </p:nvSpPr>
                  <p:spPr bwMode="hidden">
                    <a:xfrm rot="-3857755">
                      <a:off x="3011" y="181"/>
                      <a:ext cx="570" cy="28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40" name="Group 80"/>
                  <p:cNvGrpSpPr>
                    <a:grpSpLocks/>
                  </p:cNvGrpSpPr>
                  <p:nvPr/>
                </p:nvGrpSpPr>
                <p:grpSpPr bwMode="auto">
                  <a:xfrm>
                    <a:off x="3008" y="135"/>
                    <a:ext cx="1017" cy="1464"/>
                    <a:chOff x="2934" y="163"/>
                    <a:chExt cx="1017" cy="1464"/>
                  </a:xfrm>
                </p:grpSpPr>
                <p:sp>
                  <p:nvSpPr>
                    <p:cNvPr id="15441" name="Freeform 81"/>
                    <p:cNvSpPr>
                      <a:spLocks/>
                    </p:cNvSpPr>
                    <p:nvPr/>
                  </p:nvSpPr>
                  <p:spPr bwMode="hidden">
                    <a:xfrm rot="-2777260">
                      <a:off x="2491" y="915"/>
                      <a:ext cx="1155" cy="27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2" name="Freeform 82"/>
                    <p:cNvSpPr>
                      <a:spLocks/>
                    </p:cNvSpPr>
                    <p:nvPr/>
                  </p:nvSpPr>
                  <p:spPr bwMode="hidden">
                    <a:xfrm rot="-2777260">
                      <a:off x="3430" y="261"/>
                      <a:ext cx="620" cy="423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43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2804" y="4"/>
                    <a:ext cx="243" cy="1448"/>
                    <a:chOff x="2730" y="32"/>
                    <a:chExt cx="243" cy="1448"/>
                  </a:xfrm>
                </p:grpSpPr>
                <p:sp>
                  <p:nvSpPr>
                    <p:cNvPr id="15444" name="Freeform 84"/>
                    <p:cNvSpPr>
                      <a:spLocks/>
                    </p:cNvSpPr>
                    <p:nvPr/>
                  </p:nvSpPr>
                  <p:spPr bwMode="hidden">
                    <a:xfrm rot="-4903748">
                      <a:off x="2296" y="960"/>
                      <a:ext cx="954" cy="8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5" name="Freeform 85"/>
                    <p:cNvSpPr>
                      <a:spLocks/>
                    </p:cNvSpPr>
                    <p:nvPr/>
                  </p:nvSpPr>
                  <p:spPr bwMode="hidden">
                    <a:xfrm rot="-4903748">
                      <a:off x="2650" y="220"/>
                      <a:ext cx="512" cy="13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46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1017" y="1741"/>
                    <a:ext cx="1085" cy="2450"/>
                    <a:chOff x="943" y="1769"/>
                    <a:chExt cx="1085" cy="2450"/>
                  </a:xfrm>
                </p:grpSpPr>
                <p:sp>
                  <p:nvSpPr>
                    <p:cNvPr id="15447" name="Freeform 87"/>
                    <p:cNvSpPr>
                      <a:spLocks/>
                    </p:cNvSpPr>
                    <p:nvPr/>
                  </p:nvSpPr>
                  <p:spPr bwMode="hidden">
                    <a:xfrm rot="18335692" flipH="1">
                      <a:off x="1010" y="2475"/>
                      <a:ext cx="1724" cy="31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8" name="Freeform 88"/>
                    <p:cNvSpPr>
                      <a:spLocks/>
                    </p:cNvSpPr>
                    <p:nvPr/>
                  </p:nvSpPr>
                  <p:spPr bwMode="hidden">
                    <a:xfrm rot="18335692" flipH="1">
                      <a:off x="725" y="3512"/>
                      <a:ext cx="925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49" name="Group 89"/>
                  <p:cNvGrpSpPr>
                    <a:grpSpLocks/>
                  </p:cNvGrpSpPr>
                  <p:nvPr/>
                </p:nvGrpSpPr>
                <p:grpSpPr bwMode="auto">
                  <a:xfrm>
                    <a:off x="1529" y="1908"/>
                    <a:ext cx="766" cy="2373"/>
                    <a:chOff x="1455" y="1936"/>
                    <a:chExt cx="766" cy="2373"/>
                  </a:xfrm>
                </p:grpSpPr>
                <p:sp>
                  <p:nvSpPr>
                    <p:cNvPr id="15450" name="Freeform 90"/>
                    <p:cNvSpPr>
                      <a:spLocks/>
                    </p:cNvSpPr>
                    <p:nvPr/>
                  </p:nvSpPr>
                  <p:spPr bwMode="hidden">
                    <a:xfrm rot="17542885" flipH="1">
                      <a:off x="1267" y="2578"/>
                      <a:ext cx="1595" cy="31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1" name="Freeform 91"/>
                    <p:cNvSpPr>
                      <a:spLocks/>
                    </p:cNvSpPr>
                    <p:nvPr/>
                  </p:nvSpPr>
                  <p:spPr bwMode="hidden">
                    <a:xfrm rot="17542885" flipH="1">
                      <a:off x="1272" y="3636"/>
                      <a:ext cx="856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52" name="Group 92"/>
                  <p:cNvGrpSpPr>
                    <a:grpSpLocks/>
                  </p:cNvGrpSpPr>
                  <p:nvPr/>
                </p:nvGrpSpPr>
                <p:grpSpPr bwMode="auto">
                  <a:xfrm rot="88588">
                    <a:off x="2061" y="1962"/>
                    <a:ext cx="459" cy="2329"/>
                    <a:chOff x="1956" y="1990"/>
                    <a:chExt cx="492" cy="2604"/>
                  </a:xfrm>
                </p:grpSpPr>
                <p:sp>
                  <p:nvSpPr>
                    <p:cNvPr id="15453" name="Freeform 93"/>
                    <p:cNvSpPr>
                      <a:spLocks/>
                    </p:cNvSpPr>
                    <p:nvPr/>
                  </p:nvSpPr>
                  <p:spPr bwMode="hidden">
                    <a:xfrm rot="16782062" flipH="1">
                      <a:off x="1442" y="2695"/>
                      <a:ext cx="1711" cy="30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4" name="Freeform 94"/>
                    <p:cNvSpPr>
                      <a:spLocks/>
                    </p:cNvSpPr>
                    <p:nvPr/>
                  </p:nvSpPr>
                  <p:spPr bwMode="hidden">
                    <a:xfrm rot="16782062" flipH="1">
                      <a:off x="1734" y="3898"/>
                      <a:ext cx="918" cy="473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55" name="Group 95"/>
                  <p:cNvGrpSpPr>
                    <a:grpSpLocks/>
                  </p:cNvGrpSpPr>
                  <p:nvPr/>
                </p:nvGrpSpPr>
                <p:grpSpPr bwMode="auto">
                  <a:xfrm>
                    <a:off x="3408" y="1689"/>
                    <a:ext cx="1125" cy="2426"/>
                    <a:chOff x="3334" y="1717"/>
                    <a:chExt cx="1125" cy="2426"/>
                  </a:xfrm>
                </p:grpSpPr>
                <p:sp>
                  <p:nvSpPr>
                    <p:cNvPr id="15456" name="Freeform 96"/>
                    <p:cNvSpPr>
                      <a:spLocks/>
                    </p:cNvSpPr>
                    <p:nvPr/>
                  </p:nvSpPr>
                  <p:spPr bwMode="hidden">
                    <a:xfrm rot="3144576">
                      <a:off x="2628" y="2423"/>
                      <a:ext cx="1724" cy="31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7" name="Freeform 97"/>
                    <p:cNvSpPr>
                      <a:spLocks/>
                    </p:cNvSpPr>
                    <p:nvPr/>
                  </p:nvSpPr>
                  <p:spPr bwMode="hidden">
                    <a:xfrm rot="3144576">
                      <a:off x="3751" y="3436"/>
                      <a:ext cx="925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58" name="Group 98"/>
                  <p:cNvGrpSpPr>
                    <a:grpSpLocks/>
                  </p:cNvGrpSpPr>
                  <p:nvPr/>
                </p:nvGrpSpPr>
                <p:grpSpPr bwMode="auto">
                  <a:xfrm>
                    <a:off x="3255" y="1838"/>
                    <a:ext cx="883" cy="2426"/>
                    <a:chOff x="3181" y="1866"/>
                    <a:chExt cx="883" cy="2426"/>
                  </a:xfrm>
                </p:grpSpPr>
                <p:sp>
                  <p:nvSpPr>
                    <p:cNvPr id="15459" name="Freeform 99"/>
                    <p:cNvSpPr>
                      <a:spLocks/>
                    </p:cNvSpPr>
                    <p:nvPr/>
                  </p:nvSpPr>
                  <p:spPr bwMode="hidden">
                    <a:xfrm rot="3745735">
                      <a:off x="2506" y="2541"/>
                      <a:ext cx="1650" cy="29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60" name="Freeform 100"/>
                    <p:cNvSpPr>
                      <a:spLocks/>
                    </p:cNvSpPr>
                    <p:nvPr/>
                  </p:nvSpPr>
                  <p:spPr bwMode="hidden">
                    <a:xfrm rot="3745735">
                      <a:off x="3387" y="3615"/>
                      <a:ext cx="885" cy="46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61" name="Group 101"/>
                  <p:cNvGrpSpPr>
                    <a:grpSpLocks/>
                  </p:cNvGrpSpPr>
                  <p:nvPr/>
                </p:nvGrpSpPr>
                <p:grpSpPr bwMode="auto">
                  <a:xfrm>
                    <a:off x="3080" y="1955"/>
                    <a:ext cx="619" cy="2386"/>
                    <a:chOff x="3006" y="1983"/>
                    <a:chExt cx="619" cy="2386"/>
                  </a:xfrm>
                </p:grpSpPr>
                <p:sp>
                  <p:nvSpPr>
                    <p:cNvPr id="15462" name="Freeform 102"/>
                    <p:cNvSpPr>
                      <a:spLocks/>
                    </p:cNvSpPr>
                    <p:nvPr/>
                  </p:nvSpPr>
                  <p:spPr bwMode="hidden">
                    <a:xfrm rot="4286818">
                      <a:off x="2328" y="2661"/>
                      <a:ext cx="1601" cy="2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63" name="Freeform 103"/>
                    <p:cNvSpPr>
                      <a:spLocks/>
                    </p:cNvSpPr>
                    <p:nvPr/>
                  </p:nvSpPr>
                  <p:spPr bwMode="hidden">
                    <a:xfrm rot="4286818">
                      <a:off x="3002" y="3747"/>
                      <a:ext cx="859" cy="38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64" name="Group 104"/>
                  <p:cNvGrpSpPr>
                    <a:grpSpLocks/>
                  </p:cNvGrpSpPr>
                  <p:nvPr/>
                </p:nvGrpSpPr>
                <p:grpSpPr bwMode="auto">
                  <a:xfrm>
                    <a:off x="2893" y="2073"/>
                    <a:ext cx="405" cy="2219"/>
                    <a:chOff x="2819" y="2101"/>
                    <a:chExt cx="405" cy="2219"/>
                  </a:xfrm>
                </p:grpSpPr>
                <p:sp>
                  <p:nvSpPr>
                    <p:cNvPr id="15465" name="Freeform 105"/>
                    <p:cNvSpPr>
                      <a:spLocks/>
                    </p:cNvSpPr>
                    <p:nvPr/>
                  </p:nvSpPr>
                  <p:spPr bwMode="hidden">
                    <a:xfrm rot="4898956">
                      <a:off x="2206" y="2714"/>
                      <a:ext cx="1471" cy="2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66" name="Freeform 106"/>
                    <p:cNvSpPr>
                      <a:spLocks/>
                    </p:cNvSpPr>
                    <p:nvPr/>
                  </p:nvSpPr>
                  <p:spPr bwMode="hidden">
                    <a:xfrm rot="4898956">
                      <a:off x="2636" y="3732"/>
                      <a:ext cx="790" cy="38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67" name="Group 107"/>
                  <p:cNvGrpSpPr>
                    <a:grpSpLocks/>
                  </p:cNvGrpSpPr>
                  <p:nvPr/>
                </p:nvGrpSpPr>
                <p:grpSpPr bwMode="auto">
                  <a:xfrm>
                    <a:off x="2372" y="2107"/>
                    <a:ext cx="426" cy="2185"/>
                    <a:chOff x="2287" y="2135"/>
                    <a:chExt cx="426" cy="2185"/>
                  </a:xfrm>
                </p:grpSpPr>
                <p:sp>
                  <p:nvSpPr>
                    <p:cNvPr id="15468" name="Freeform 108"/>
                    <p:cNvSpPr>
                      <a:spLocks/>
                    </p:cNvSpPr>
                    <p:nvPr/>
                  </p:nvSpPr>
                  <p:spPr bwMode="hidden">
                    <a:xfrm rot="5755659">
                      <a:off x="1900" y="2760"/>
                      <a:ext cx="1437" cy="18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69" name="Freeform 109"/>
                    <p:cNvSpPr>
                      <a:spLocks/>
                    </p:cNvSpPr>
                    <p:nvPr/>
                  </p:nvSpPr>
                  <p:spPr bwMode="hidden">
                    <a:xfrm rot="5755659">
                      <a:off x="2049" y="3787"/>
                      <a:ext cx="771" cy="29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5470" name="Group 110"/>
              <p:cNvGrpSpPr>
                <a:grpSpLocks/>
              </p:cNvGrpSpPr>
              <p:nvPr/>
            </p:nvGrpSpPr>
            <p:grpSpPr bwMode="auto">
              <a:xfrm>
                <a:off x="74" y="313"/>
                <a:ext cx="5459" cy="3667"/>
                <a:chOff x="74" y="313"/>
                <a:chExt cx="5459" cy="3667"/>
              </a:xfrm>
            </p:grpSpPr>
            <p:grpSp>
              <p:nvGrpSpPr>
                <p:cNvPr id="15471" name="Group 111"/>
                <p:cNvGrpSpPr>
                  <a:grpSpLocks/>
                </p:cNvGrpSpPr>
                <p:nvPr/>
              </p:nvGrpSpPr>
              <p:grpSpPr bwMode="auto">
                <a:xfrm>
                  <a:off x="74" y="313"/>
                  <a:ext cx="5459" cy="3667"/>
                  <a:chOff x="74" y="313"/>
                  <a:chExt cx="5459" cy="3667"/>
                </a:xfrm>
              </p:grpSpPr>
              <p:sp>
                <p:nvSpPr>
                  <p:cNvPr id="15472" name="Arc 112"/>
                  <p:cNvSpPr>
                    <a:spLocks/>
                  </p:cNvSpPr>
                  <p:nvPr/>
                </p:nvSpPr>
                <p:spPr bwMode="hidden">
                  <a:xfrm flipV="1">
                    <a:off x="2966" y="456"/>
                    <a:ext cx="2567" cy="2046"/>
                  </a:xfrm>
                  <a:custGeom>
                    <a:avLst/>
                    <a:gdLst>
                      <a:gd name="G0" fmla="+- 17826 0 0"/>
                      <a:gd name="G1" fmla="+- 0 0 0"/>
                      <a:gd name="G2" fmla="+- 21600 0 0"/>
                      <a:gd name="T0" fmla="*/ 36729 w 36729"/>
                      <a:gd name="T1" fmla="*/ 10451 h 21600"/>
                      <a:gd name="T2" fmla="*/ 0 w 36729"/>
                      <a:gd name="T3" fmla="*/ 12197 h 21600"/>
                      <a:gd name="T4" fmla="*/ 17826 w 36729"/>
                      <a:gd name="T5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6729" h="21600" fill="none" extrusionOk="0">
                        <a:moveTo>
                          <a:pt x="36729" y="10451"/>
                        </a:moveTo>
                        <a:cubicBezTo>
                          <a:pt x="32926" y="17330"/>
                          <a:pt x="25686" y="21599"/>
                          <a:pt x="17826" y="21600"/>
                        </a:cubicBezTo>
                        <a:cubicBezTo>
                          <a:pt x="10696" y="21600"/>
                          <a:pt x="4025" y="18081"/>
                          <a:pt x="-1" y="12197"/>
                        </a:cubicBezTo>
                      </a:path>
                      <a:path w="36729" h="21600" stroke="0" extrusionOk="0">
                        <a:moveTo>
                          <a:pt x="36729" y="10451"/>
                        </a:moveTo>
                        <a:cubicBezTo>
                          <a:pt x="32926" y="17330"/>
                          <a:pt x="25686" y="21599"/>
                          <a:pt x="17826" y="21600"/>
                        </a:cubicBezTo>
                        <a:cubicBezTo>
                          <a:pt x="10696" y="21600"/>
                          <a:pt x="4025" y="18081"/>
                          <a:pt x="-1" y="12197"/>
                        </a:cubicBezTo>
                        <a:lnTo>
                          <a:pt x="17826" y="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73" name="Arc 113"/>
                  <p:cNvSpPr>
                    <a:spLocks/>
                  </p:cNvSpPr>
                  <p:nvPr/>
                </p:nvSpPr>
                <p:spPr bwMode="hidden">
                  <a:xfrm flipH="1">
                    <a:off x="388" y="1601"/>
                    <a:ext cx="2016" cy="2379"/>
                  </a:xfrm>
                  <a:custGeom>
                    <a:avLst/>
                    <a:gdLst>
                      <a:gd name="G0" fmla="+- 8873 0 0"/>
                      <a:gd name="G1" fmla="+- 21600 0 0"/>
                      <a:gd name="G2" fmla="+- 21600 0 0"/>
                      <a:gd name="T0" fmla="*/ 0 w 30473"/>
                      <a:gd name="T1" fmla="*/ 1907 h 22305"/>
                      <a:gd name="T2" fmla="*/ 30462 w 30473"/>
                      <a:gd name="T3" fmla="*/ 22305 h 22305"/>
                      <a:gd name="T4" fmla="*/ 8873 w 30473"/>
                      <a:gd name="T5" fmla="*/ 21600 h 22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0473" h="22305" fill="none" extrusionOk="0">
                        <a:moveTo>
                          <a:pt x="-1" y="1906"/>
                        </a:moveTo>
                        <a:cubicBezTo>
                          <a:pt x="2789" y="649"/>
                          <a:pt x="5813" y="-1"/>
                          <a:pt x="8873" y="0"/>
                        </a:cubicBezTo>
                        <a:cubicBezTo>
                          <a:pt x="20802" y="0"/>
                          <a:pt x="30473" y="9670"/>
                          <a:pt x="30473" y="21600"/>
                        </a:cubicBezTo>
                        <a:cubicBezTo>
                          <a:pt x="30473" y="21835"/>
                          <a:pt x="30469" y="22070"/>
                          <a:pt x="30461" y="22304"/>
                        </a:cubicBezTo>
                      </a:path>
                      <a:path w="30473" h="22305" stroke="0" extrusionOk="0">
                        <a:moveTo>
                          <a:pt x="-1" y="1906"/>
                        </a:moveTo>
                        <a:cubicBezTo>
                          <a:pt x="2789" y="649"/>
                          <a:pt x="5813" y="-1"/>
                          <a:pt x="8873" y="0"/>
                        </a:cubicBezTo>
                        <a:cubicBezTo>
                          <a:pt x="20802" y="0"/>
                          <a:pt x="30473" y="9670"/>
                          <a:pt x="30473" y="21600"/>
                        </a:cubicBezTo>
                        <a:cubicBezTo>
                          <a:pt x="30473" y="21835"/>
                          <a:pt x="30469" y="22070"/>
                          <a:pt x="30461" y="22304"/>
                        </a:cubicBezTo>
                        <a:lnTo>
                          <a:pt x="8873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folHlink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74" name="Arc 114"/>
                  <p:cNvSpPr>
                    <a:spLocks/>
                  </p:cNvSpPr>
                  <p:nvPr/>
                </p:nvSpPr>
                <p:spPr bwMode="hidden">
                  <a:xfrm>
                    <a:off x="3029" y="1181"/>
                    <a:ext cx="1426" cy="2379"/>
                  </a:xfrm>
                  <a:custGeom>
                    <a:avLst/>
                    <a:gdLst>
                      <a:gd name="G0" fmla="+- 13212 0 0"/>
                      <a:gd name="G1" fmla="+- 21600 0 0"/>
                      <a:gd name="G2" fmla="+- 21600 0 0"/>
                      <a:gd name="T0" fmla="*/ 0 w 34812"/>
                      <a:gd name="T1" fmla="*/ 4512 h 22305"/>
                      <a:gd name="T2" fmla="*/ 34801 w 34812"/>
                      <a:gd name="T3" fmla="*/ 22305 h 22305"/>
                      <a:gd name="T4" fmla="*/ 13212 w 34812"/>
                      <a:gd name="T5" fmla="*/ 21600 h 22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4812" h="22305" fill="none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5141" y="0"/>
                          <a:pt x="34812" y="9670"/>
                          <a:pt x="34812" y="21600"/>
                        </a:cubicBezTo>
                        <a:cubicBezTo>
                          <a:pt x="34812" y="21835"/>
                          <a:pt x="34808" y="22070"/>
                          <a:pt x="34800" y="22304"/>
                        </a:cubicBezTo>
                      </a:path>
                      <a:path w="34812" h="22305" stroke="0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5141" y="0"/>
                          <a:pt x="34812" y="9670"/>
                          <a:pt x="34812" y="21600"/>
                        </a:cubicBezTo>
                        <a:cubicBezTo>
                          <a:pt x="34812" y="21835"/>
                          <a:pt x="34808" y="22070"/>
                          <a:pt x="34800" y="22304"/>
                        </a:cubicBezTo>
                        <a:lnTo>
                          <a:pt x="13212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75" name="Arc 115"/>
                  <p:cNvSpPr>
                    <a:spLocks/>
                  </p:cNvSpPr>
                  <p:nvPr/>
                </p:nvSpPr>
                <p:spPr bwMode="hidden">
                  <a:xfrm flipH="1">
                    <a:off x="74" y="813"/>
                    <a:ext cx="2540" cy="2379"/>
                  </a:xfrm>
                  <a:custGeom>
                    <a:avLst/>
                    <a:gdLst>
                      <a:gd name="G0" fmla="+- 15230 0 0"/>
                      <a:gd name="G1" fmla="+- 21600 0 0"/>
                      <a:gd name="G2" fmla="+- 21600 0 0"/>
                      <a:gd name="T0" fmla="*/ 0 w 36830"/>
                      <a:gd name="T1" fmla="*/ 6283 h 22305"/>
                      <a:gd name="T2" fmla="*/ 36819 w 36830"/>
                      <a:gd name="T3" fmla="*/ 22305 h 22305"/>
                      <a:gd name="T4" fmla="*/ 15230 w 36830"/>
                      <a:gd name="T5" fmla="*/ 21600 h 22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6830" h="22305" fill="none" extrusionOk="0">
                        <a:moveTo>
                          <a:pt x="0" y="6283"/>
                        </a:moveTo>
                        <a:cubicBezTo>
                          <a:pt x="4047" y="2258"/>
                          <a:pt x="9522" y="-1"/>
                          <a:pt x="15230" y="0"/>
                        </a:cubicBezTo>
                        <a:cubicBezTo>
                          <a:pt x="27159" y="0"/>
                          <a:pt x="36830" y="9670"/>
                          <a:pt x="36830" y="21600"/>
                        </a:cubicBezTo>
                        <a:cubicBezTo>
                          <a:pt x="36830" y="21835"/>
                          <a:pt x="36826" y="22070"/>
                          <a:pt x="36818" y="22304"/>
                        </a:cubicBezTo>
                      </a:path>
                      <a:path w="36830" h="22305" stroke="0" extrusionOk="0">
                        <a:moveTo>
                          <a:pt x="0" y="6283"/>
                        </a:moveTo>
                        <a:cubicBezTo>
                          <a:pt x="4047" y="2258"/>
                          <a:pt x="9522" y="-1"/>
                          <a:pt x="15230" y="0"/>
                        </a:cubicBezTo>
                        <a:cubicBezTo>
                          <a:pt x="27159" y="0"/>
                          <a:pt x="36830" y="9670"/>
                          <a:pt x="36830" y="21600"/>
                        </a:cubicBezTo>
                        <a:cubicBezTo>
                          <a:pt x="36830" y="21835"/>
                          <a:pt x="36826" y="22070"/>
                          <a:pt x="36818" y="22304"/>
                        </a:cubicBezTo>
                        <a:lnTo>
                          <a:pt x="1523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folHlink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76" name="Arc 116"/>
                  <p:cNvSpPr>
                    <a:spLocks/>
                  </p:cNvSpPr>
                  <p:nvPr/>
                </p:nvSpPr>
                <p:spPr bwMode="hidden">
                  <a:xfrm flipH="1">
                    <a:off x="790" y="313"/>
                    <a:ext cx="1850" cy="2304"/>
                  </a:xfrm>
                  <a:custGeom>
                    <a:avLst/>
                    <a:gdLst>
                      <a:gd name="G0" fmla="+- 18231 0 0"/>
                      <a:gd name="G1" fmla="+- 21600 0 0"/>
                      <a:gd name="G2" fmla="+- 21600 0 0"/>
                      <a:gd name="T0" fmla="*/ 0 w 31881"/>
                      <a:gd name="T1" fmla="*/ 10016 h 21600"/>
                      <a:gd name="T2" fmla="*/ 31881 w 31881"/>
                      <a:gd name="T3" fmla="*/ 4860 h 21600"/>
                      <a:gd name="T4" fmla="*/ 18231 w 31881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1881" h="21600" fill="none" extrusionOk="0">
                        <a:moveTo>
                          <a:pt x="-1" y="10015"/>
                        </a:moveTo>
                        <a:cubicBezTo>
                          <a:pt x="3963" y="3778"/>
                          <a:pt x="10840" y="-1"/>
                          <a:pt x="18231" y="0"/>
                        </a:cubicBezTo>
                        <a:cubicBezTo>
                          <a:pt x="23204" y="0"/>
                          <a:pt x="28026" y="1716"/>
                          <a:pt x="31881" y="4859"/>
                        </a:cubicBezTo>
                      </a:path>
                      <a:path w="31881" h="21600" stroke="0" extrusionOk="0">
                        <a:moveTo>
                          <a:pt x="-1" y="10015"/>
                        </a:moveTo>
                        <a:cubicBezTo>
                          <a:pt x="3963" y="3778"/>
                          <a:pt x="10840" y="-1"/>
                          <a:pt x="18231" y="0"/>
                        </a:cubicBezTo>
                        <a:cubicBezTo>
                          <a:pt x="23204" y="0"/>
                          <a:pt x="28026" y="1716"/>
                          <a:pt x="31881" y="4859"/>
                        </a:cubicBezTo>
                        <a:lnTo>
                          <a:pt x="18231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77" name="Arc 117"/>
                  <p:cNvSpPr>
                    <a:spLocks/>
                  </p:cNvSpPr>
                  <p:nvPr/>
                </p:nvSpPr>
                <p:spPr bwMode="hidden">
                  <a:xfrm>
                    <a:off x="2763" y="1281"/>
                    <a:ext cx="764" cy="2304"/>
                  </a:xfrm>
                  <a:custGeom>
                    <a:avLst/>
                    <a:gdLst>
                      <a:gd name="G0" fmla="+- 13212 0 0"/>
                      <a:gd name="G1" fmla="+- 21600 0 0"/>
                      <a:gd name="G2" fmla="+- 21600 0 0"/>
                      <a:gd name="T0" fmla="*/ 0 w 31146"/>
                      <a:gd name="T1" fmla="*/ 4512 h 21600"/>
                      <a:gd name="T2" fmla="*/ 31146 w 31146"/>
                      <a:gd name="T3" fmla="*/ 9561 h 21600"/>
                      <a:gd name="T4" fmla="*/ 13212 w 3114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1146" h="21600" fill="none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0409" y="0"/>
                          <a:pt x="27134" y="3585"/>
                          <a:pt x="31145" y="9561"/>
                        </a:cubicBezTo>
                      </a:path>
                      <a:path w="31146" h="21600" stroke="0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0409" y="0"/>
                          <a:pt x="27134" y="3585"/>
                          <a:pt x="31145" y="9561"/>
                        </a:cubicBezTo>
                        <a:lnTo>
                          <a:pt x="13212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78" name="Freeform 118"/>
                  <p:cNvSpPr>
                    <a:spLocks/>
                  </p:cNvSpPr>
                  <p:nvPr/>
                </p:nvSpPr>
                <p:spPr bwMode="hidden">
                  <a:xfrm flipH="1">
                    <a:off x="1800" y="438"/>
                    <a:ext cx="418" cy="1524"/>
                  </a:xfrm>
                  <a:custGeom>
                    <a:avLst/>
                    <a:gdLst/>
                    <a:ahLst/>
                    <a:cxnLst>
                      <a:cxn ang="0">
                        <a:pos x="0" y="64"/>
                      </a:cxn>
                      <a:cxn ang="0">
                        <a:pos x="240" y="16"/>
                      </a:cxn>
                      <a:cxn ang="0">
                        <a:pos x="96" y="160"/>
                      </a:cxn>
                      <a:cxn ang="0">
                        <a:pos x="336" y="160"/>
                      </a:cxn>
                      <a:cxn ang="0">
                        <a:pos x="192" y="304"/>
                      </a:cxn>
                      <a:cxn ang="0">
                        <a:pos x="384" y="352"/>
                      </a:cxn>
                      <a:cxn ang="0">
                        <a:pos x="288" y="448"/>
                      </a:cxn>
                      <a:cxn ang="0">
                        <a:pos x="480" y="496"/>
                      </a:cxn>
                      <a:cxn ang="0">
                        <a:pos x="384" y="592"/>
                      </a:cxn>
                      <a:cxn ang="0">
                        <a:pos x="528" y="640"/>
                      </a:cxn>
                      <a:cxn ang="0">
                        <a:pos x="480" y="736"/>
                      </a:cxn>
                      <a:cxn ang="0">
                        <a:pos x="576" y="832"/>
                      </a:cxn>
                      <a:cxn ang="0">
                        <a:pos x="576" y="928"/>
                      </a:cxn>
                      <a:cxn ang="0">
                        <a:pos x="672" y="1072"/>
                      </a:cxn>
                      <a:cxn ang="0">
                        <a:pos x="624" y="1216"/>
                      </a:cxn>
                      <a:cxn ang="0">
                        <a:pos x="720" y="1312"/>
                      </a:cxn>
                      <a:cxn ang="0">
                        <a:pos x="672" y="1456"/>
                      </a:cxn>
                      <a:cxn ang="0">
                        <a:pos x="720" y="1600"/>
                      </a:cxn>
                      <a:cxn ang="0">
                        <a:pos x="672" y="1696"/>
                      </a:cxn>
                      <a:cxn ang="0">
                        <a:pos x="768" y="1840"/>
                      </a:cxn>
                      <a:cxn ang="0">
                        <a:pos x="720" y="1984"/>
                      </a:cxn>
                      <a:cxn ang="0">
                        <a:pos x="768" y="2176"/>
                      </a:cxn>
                      <a:cxn ang="0">
                        <a:pos x="720" y="2224"/>
                      </a:cxn>
                      <a:cxn ang="0">
                        <a:pos x="768" y="2368"/>
                      </a:cxn>
                    </a:cxnLst>
                    <a:rect l="0" t="0" r="r" b="b"/>
                    <a:pathLst>
                      <a:path w="776" h="2368">
                        <a:moveTo>
                          <a:pt x="0" y="64"/>
                        </a:moveTo>
                        <a:cubicBezTo>
                          <a:pt x="112" y="32"/>
                          <a:pt x="224" y="0"/>
                          <a:pt x="240" y="16"/>
                        </a:cubicBezTo>
                        <a:cubicBezTo>
                          <a:pt x="256" y="32"/>
                          <a:pt x="80" y="136"/>
                          <a:pt x="96" y="160"/>
                        </a:cubicBezTo>
                        <a:cubicBezTo>
                          <a:pt x="112" y="184"/>
                          <a:pt x="320" y="136"/>
                          <a:pt x="336" y="160"/>
                        </a:cubicBezTo>
                        <a:cubicBezTo>
                          <a:pt x="352" y="184"/>
                          <a:pt x="184" y="272"/>
                          <a:pt x="192" y="304"/>
                        </a:cubicBezTo>
                        <a:cubicBezTo>
                          <a:pt x="200" y="336"/>
                          <a:pt x="368" y="328"/>
                          <a:pt x="384" y="352"/>
                        </a:cubicBezTo>
                        <a:cubicBezTo>
                          <a:pt x="400" y="376"/>
                          <a:pt x="272" y="424"/>
                          <a:pt x="288" y="448"/>
                        </a:cubicBezTo>
                        <a:cubicBezTo>
                          <a:pt x="304" y="472"/>
                          <a:pt x="464" y="472"/>
                          <a:pt x="480" y="496"/>
                        </a:cubicBezTo>
                        <a:cubicBezTo>
                          <a:pt x="496" y="520"/>
                          <a:pt x="376" y="568"/>
                          <a:pt x="384" y="592"/>
                        </a:cubicBezTo>
                        <a:cubicBezTo>
                          <a:pt x="392" y="616"/>
                          <a:pt x="512" y="616"/>
                          <a:pt x="528" y="640"/>
                        </a:cubicBezTo>
                        <a:cubicBezTo>
                          <a:pt x="544" y="664"/>
                          <a:pt x="472" y="704"/>
                          <a:pt x="480" y="736"/>
                        </a:cubicBezTo>
                        <a:cubicBezTo>
                          <a:pt x="488" y="768"/>
                          <a:pt x="560" y="800"/>
                          <a:pt x="576" y="832"/>
                        </a:cubicBezTo>
                        <a:cubicBezTo>
                          <a:pt x="592" y="864"/>
                          <a:pt x="560" y="888"/>
                          <a:pt x="576" y="928"/>
                        </a:cubicBezTo>
                        <a:cubicBezTo>
                          <a:pt x="592" y="968"/>
                          <a:pt x="664" y="1024"/>
                          <a:pt x="672" y="1072"/>
                        </a:cubicBezTo>
                        <a:cubicBezTo>
                          <a:pt x="680" y="1120"/>
                          <a:pt x="616" y="1176"/>
                          <a:pt x="624" y="1216"/>
                        </a:cubicBezTo>
                        <a:cubicBezTo>
                          <a:pt x="632" y="1256"/>
                          <a:pt x="712" y="1272"/>
                          <a:pt x="720" y="1312"/>
                        </a:cubicBezTo>
                        <a:cubicBezTo>
                          <a:pt x="728" y="1352"/>
                          <a:pt x="672" y="1408"/>
                          <a:pt x="672" y="1456"/>
                        </a:cubicBezTo>
                        <a:cubicBezTo>
                          <a:pt x="672" y="1504"/>
                          <a:pt x="720" y="1560"/>
                          <a:pt x="720" y="1600"/>
                        </a:cubicBezTo>
                        <a:cubicBezTo>
                          <a:pt x="720" y="1640"/>
                          <a:pt x="664" y="1656"/>
                          <a:pt x="672" y="1696"/>
                        </a:cubicBezTo>
                        <a:cubicBezTo>
                          <a:pt x="680" y="1736"/>
                          <a:pt x="760" y="1792"/>
                          <a:pt x="768" y="1840"/>
                        </a:cubicBezTo>
                        <a:cubicBezTo>
                          <a:pt x="776" y="1888"/>
                          <a:pt x="720" y="1928"/>
                          <a:pt x="720" y="1984"/>
                        </a:cubicBezTo>
                        <a:cubicBezTo>
                          <a:pt x="720" y="2040"/>
                          <a:pt x="768" y="2136"/>
                          <a:pt x="768" y="2176"/>
                        </a:cubicBezTo>
                        <a:cubicBezTo>
                          <a:pt x="768" y="2216"/>
                          <a:pt x="720" y="2192"/>
                          <a:pt x="720" y="2224"/>
                        </a:cubicBezTo>
                        <a:cubicBezTo>
                          <a:pt x="720" y="2256"/>
                          <a:pt x="744" y="2312"/>
                          <a:pt x="768" y="2368"/>
                        </a:cubicBezTo>
                      </a:path>
                    </a:pathLst>
                  </a:custGeom>
                  <a:noFill/>
                  <a:ln w="9525">
                    <a:solidFill>
                      <a:schemeClr val="folHlink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479" name="Freeform 119"/>
                <p:cNvSpPr>
                  <a:spLocks/>
                </p:cNvSpPr>
                <p:nvPr/>
              </p:nvSpPr>
              <p:spPr bwMode="hidden">
                <a:xfrm rot="20253369">
                  <a:off x="3280" y="1529"/>
                  <a:ext cx="442" cy="837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240" y="16"/>
                    </a:cxn>
                    <a:cxn ang="0">
                      <a:pos x="96" y="160"/>
                    </a:cxn>
                    <a:cxn ang="0">
                      <a:pos x="336" y="160"/>
                    </a:cxn>
                    <a:cxn ang="0">
                      <a:pos x="192" y="304"/>
                    </a:cxn>
                    <a:cxn ang="0">
                      <a:pos x="384" y="352"/>
                    </a:cxn>
                    <a:cxn ang="0">
                      <a:pos x="288" y="448"/>
                    </a:cxn>
                    <a:cxn ang="0">
                      <a:pos x="480" y="496"/>
                    </a:cxn>
                    <a:cxn ang="0">
                      <a:pos x="384" y="592"/>
                    </a:cxn>
                    <a:cxn ang="0">
                      <a:pos x="528" y="640"/>
                    </a:cxn>
                    <a:cxn ang="0">
                      <a:pos x="480" y="736"/>
                    </a:cxn>
                    <a:cxn ang="0">
                      <a:pos x="576" y="832"/>
                    </a:cxn>
                    <a:cxn ang="0">
                      <a:pos x="576" y="928"/>
                    </a:cxn>
                    <a:cxn ang="0">
                      <a:pos x="672" y="1072"/>
                    </a:cxn>
                    <a:cxn ang="0">
                      <a:pos x="624" y="1216"/>
                    </a:cxn>
                    <a:cxn ang="0">
                      <a:pos x="720" y="1312"/>
                    </a:cxn>
                    <a:cxn ang="0">
                      <a:pos x="672" y="1456"/>
                    </a:cxn>
                    <a:cxn ang="0">
                      <a:pos x="720" y="1600"/>
                    </a:cxn>
                    <a:cxn ang="0">
                      <a:pos x="672" y="1696"/>
                    </a:cxn>
                    <a:cxn ang="0">
                      <a:pos x="768" y="1840"/>
                    </a:cxn>
                    <a:cxn ang="0">
                      <a:pos x="720" y="1984"/>
                    </a:cxn>
                    <a:cxn ang="0">
                      <a:pos x="768" y="2176"/>
                    </a:cxn>
                    <a:cxn ang="0">
                      <a:pos x="720" y="2224"/>
                    </a:cxn>
                    <a:cxn ang="0">
                      <a:pos x="768" y="2368"/>
                    </a:cxn>
                  </a:cxnLst>
                  <a:rect l="0" t="0" r="r" b="b"/>
                  <a:pathLst>
                    <a:path w="776" h="2368">
                      <a:moveTo>
                        <a:pt x="0" y="64"/>
                      </a:moveTo>
                      <a:cubicBezTo>
                        <a:pt x="112" y="32"/>
                        <a:pt x="224" y="0"/>
                        <a:pt x="240" y="16"/>
                      </a:cubicBezTo>
                      <a:cubicBezTo>
                        <a:pt x="256" y="32"/>
                        <a:pt x="80" y="136"/>
                        <a:pt x="96" y="160"/>
                      </a:cubicBezTo>
                      <a:cubicBezTo>
                        <a:pt x="112" y="184"/>
                        <a:pt x="320" y="136"/>
                        <a:pt x="336" y="160"/>
                      </a:cubicBezTo>
                      <a:cubicBezTo>
                        <a:pt x="352" y="184"/>
                        <a:pt x="184" y="272"/>
                        <a:pt x="192" y="304"/>
                      </a:cubicBezTo>
                      <a:cubicBezTo>
                        <a:pt x="200" y="336"/>
                        <a:pt x="368" y="328"/>
                        <a:pt x="384" y="352"/>
                      </a:cubicBezTo>
                      <a:cubicBezTo>
                        <a:pt x="400" y="376"/>
                        <a:pt x="272" y="424"/>
                        <a:pt x="288" y="448"/>
                      </a:cubicBezTo>
                      <a:cubicBezTo>
                        <a:pt x="304" y="472"/>
                        <a:pt x="464" y="472"/>
                        <a:pt x="480" y="496"/>
                      </a:cubicBezTo>
                      <a:cubicBezTo>
                        <a:pt x="496" y="520"/>
                        <a:pt x="376" y="568"/>
                        <a:pt x="384" y="592"/>
                      </a:cubicBezTo>
                      <a:cubicBezTo>
                        <a:pt x="392" y="616"/>
                        <a:pt x="512" y="616"/>
                        <a:pt x="528" y="640"/>
                      </a:cubicBezTo>
                      <a:cubicBezTo>
                        <a:pt x="544" y="664"/>
                        <a:pt x="472" y="704"/>
                        <a:pt x="480" y="736"/>
                      </a:cubicBezTo>
                      <a:cubicBezTo>
                        <a:pt x="488" y="768"/>
                        <a:pt x="560" y="800"/>
                        <a:pt x="576" y="832"/>
                      </a:cubicBezTo>
                      <a:cubicBezTo>
                        <a:pt x="592" y="864"/>
                        <a:pt x="560" y="888"/>
                        <a:pt x="576" y="928"/>
                      </a:cubicBezTo>
                      <a:cubicBezTo>
                        <a:pt x="592" y="968"/>
                        <a:pt x="664" y="1024"/>
                        <a:pt x="672" y="1072"/>
                      </a:cubicBezTo>
                      <a:cubicBezTo>
                        <a:pt x="680" y="1120"/>
                        <a:pt x="616" y="1176"/>
                        <a:pt x="624" y="1216"/>
                      </a:cubicBezTo>
                      <a:cubicBezTo>
                        <a:pt x="632" y="1256"/>
                        <a:pt x="712" y="1272"/>
                        <a:pt x="720" y="1312"/>
                      </a:cubicBezTo>
                      <a:cubicBezTo>
                        <a:pt x="728" y="1352"/>
                        <a:pt x="672" y="1408"/>
                        <a:pt x="672" y="1456"/>
                      </a:cubicBezTo>
                      <a:cubicBezTo>
                        <a:pt x="672" y="1504"/>
                        <a:pt x="720" y="1560"/>
                        <a:pt x="720" y="1600"/>
                      </a:cubicBezTo>
                      <a:cubicBezTo>
                        <a:pt x="720" y="1640"/>
                        <a:pt x="664" y="1656"/>
                        <a:pt x="672" y="1696"/>
                      </a:cubicBezTo>
                      <a:cubicBezTo>
                        <a:pt x="680" y="1736"/>
                        <a:pt x="760" y="1792"/>
                        <a:pt x="768" y="1840"/>
                      </a:cubicBezTo>
                      <a:cubicBezTo>
                        <a:pt x="776" y="1888"/>
                        <a:pt x="720" y="1928"/>
                        <a:pt x="720" y="1984"/>
                      </a:cubicBezTo>
                      <a:cubicBezTo>
                        <a:pt x="720" y="2040"/>
                        <a:pt x="768" y="2136"/>
                        <a:pt x="768" y="2176"/>
                      </a:cubicBezTo>
                      <a:cubicBezTo>
                        <a:pt x="768" y="2216"/>
                        <a:pt x="720" y="2192"/>
                        <a:pt x="720" y="2224"/>
                      </a:cubicBezTo>
                      <a:cubicBezTo>
                        <a:pt x="720" y="2256"/>
                        <a:pt x="744" y="2312"/>
                        <a:pt x="768" y="2368"/>
                      </a:cubicBezTo>
                    </a:path>
                  </a:pathLst>
                </a:cu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5480" name="Group 120"/>
            <p:cNvGrpSpPr>
              <a:grpSpLocks/>
            </p:cNvGrpSpPr>
            <p:nvPr/>
          </p:nvGrpSpPr>
          <p:grpSpPr bwMode="auto">
            <a:xfrm>
              <a:off x="1476" y="449"/>
              <a:ext cx="4038" cy="2966"/>
              <a:chOff x="210" y="337"/>
              <a:chExt cx="5198" cy="3818"/>
            </a:xfrm>
          </p:grpSpPr>
          <p:sp>
            <p:nvSpPr>
              <p:cNvPr id="15481" name="Freeform 121"/>
              <p:cNvSpPr>
                <a:spLocks/>
              </p:cNvSpPr>
              <p:nvPr/>
            </p:nvSpPr>
            <p:spPr bwMode="hidden">
              <a:xfrm flipH="1">
                <a:off x="1934" y="2382"/>
                <a:ext cx="485" cy="147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82" name="Arc 122"/>
              <p:cNvSpPr>
                <a:spLocks/>
              </p:cNvSpPr>
              <p:nvPr/>
            </p:nvSpPr>
            <p:spPr bwMode="hidden">
              <a:xfrm flipH="1">
                <a:off x="1054" y="1851"/>
                <a:ext cx="2122" cy="2304"/>
              </a:xfrm>
              <a:custGeom>
                <a:avLst/>
                <a:gdLst>
                  <a:gd name="G0" fmla="+- 0 0 0"/>
                  <a:gd name="G1" fmla="+- 20897 0 0"/>
                  <a:gd name="G2" fmla="+- 21600 0 0"/>
                  <a:gd name="T0" fmla="*/ 5467 w 21600"/>
                  <a:gd name="T1" fmla="*/ 0 h 21602"/>
                  <a:gd name="T2" fmla="*/ 21589 w 21600"/>
                  <a:gd name="T3" fmla="*/ 21602 h 21602"/>
                  <a:gd name="T4" fmla="*/ 0 w 21600"/>
                  <a:gd name="T5" fmla="*/ 20897 h 2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2" fill="none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</a:path>
                  <a:path w="21600" h="21602" stroke="0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  <a:lnTo>
                      <a:pt x="0" y="20897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83" name="Arc 123"/>
              <p:cNvSpPr>
                <a:spLocks/>
              </p:cNvSpPr>
              <p:nvPr/>
            </p:nvSpPr>
            <p:spPr bwMode="hidden">
              <a:xfrm flipH="1">
                <a:off x="1266" y="1480"/>
                <a:ext cx="1244" cy="2379"/>
              </a:xfrm>
              <a:custGeom>
                <a:avLst/>
                <a:gdLst>
                  <a:gd name="G0" fmla="+- 7340 0 0"/>
                  <a:gd name="G1" fmla="+- 21600 0 0"/>
                  <a:gd name="G2" fmla="+- 21600 0 0"/>
                  <a:gd name="T0" fmla="*/ 0 w 28940"/>
                  <a:gd name="T1" fmla="*/ 1285 h 22305"/>
                  <a:gd name="T2" fmla="*/ 28929 w 28940"/>
                  <a:gd name="T3" fmla="*/ 22305 h 22305"/>
                  <a:gd name="T4" fmla="*/ 7340 w 28940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940" h="22305" fill="none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</a:path>
                  <a:path w="28940" h="22305" stroke="0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  <a:lnTo>
                      <a:pt x="734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84" name="Arc 124"/>
              <p:cNvSpPr>
                <a:spLocks/>
              </p:cNvSpPr>
              <p:nvPr/>
            </p:nvSpPr>
            <p:spPr bwMode="hidden">
              <a:xfrm flipH="1">
                <a:off x="210" y="1168"/>
                <a:ext cx="2376" cy="2379"/>
              </a:xfrm>
              <a:custGeom>
                <a:avLst/>
                <a:gdLst>
                  <a:gd name="G0" fmla="+- 12855 0 0"/>
                  <a:gd name="G1" fmla="+- 21600 0 0"/>
                  <a:gd name="G2" fmla="+- 21600 0 0"/>
                  <a:gd name="T0" fmla="*/ 0 w 34455"/>
                  <a:gd name="T1" fmla="*/ 4241 h 22305"/>
                  <a:gd name="T2" fmla="*/ 34444 w 34455"/>
                  <a:gd name="T3" fmla="*/ 22305 h 22305"/>
                  <a:gd name="T4" fmla="*/ 12855 w 34455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455" h="22305" fill="none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</a:path>
                  <a:path w="34455" h="22305" stroke="0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  <a:lnTo>
                      <a:pt x="1285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85" name="Arc 125"/>
              <p:cNvSpPr>
                <a:spLocks/>
              </p:cNvSpPr>
              <p:nvPr/>
            </p:nvSpPr>
            <p:spPr bwMode="hidden">
              <a:xfrm>
                <a:off x="2840" y="1503"/>
                <a:ext cx="381" cy="2379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86" name="Arc 126"/>
              <p:cNvSpPr>
                <a:spLocks/>
              </p:cNvSpPr>
              <p:nvPr/>
            </p:nvSpPr>
            <p:spPr bwMode="hidden">
              <a:xfrm>
                <a:off x="2940" y="1492"/>
                <a:ext cx="1004" cy="2379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87" name="Freeform 127"/>
              <p:cNvSpPr>
                <a:spLocks/>
              </p:cNvSpPr>
              <p:nvPr/>
            </p:nvSpPr>
            <p:spPr bwMode="hidden">
              <a:xfrm>
                <a:off x="3301" y="2635"/>
                <a:ext cx="485" cy="147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88" name="Freeform 128"/>
              <p:cNvSpPr>
                <a:spLocks/>
              </p:cNvSpPr>
              <p:nvPr/>
            </p:nvSpPr>
            <p:spPr bwMode="hidden">
              <a:xfrm rot="19660755" flipV="1">
                <a:off x="2546" y="2150"/>
                <a:ext cx="442" cy="83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89" name="Freeform 129"/>
              <p:cNvSpPr>
                <a:spLocks/>
              </p:cNvSpPr>
              <p:nvPr/>
            </p:nvSpPr>
            <p:spPr bwMode="hidden">
              <a:xfrm flipH="1">
                <a:off x="489" y="2504"/>
                <a:ext cx="1085" cy="1524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90" name="Freeform 130"/>
              <p:cNvSpPr>
                <a:spLocks/>
              </p:cNvSpPr>
              <p:nvPr/>
            </p:nvSpPr>
            <p:spPr bwMode="hidden">
              <a:xfrm flipH="1">
                <a:off x="1000" y="893"/>
                <a:ext cx="696" cy="1524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91" name="Freeform 131"/>
              <p:cNvSpPr>
                <a:spLocks/>
              </p:cNvSpPr>
              <p:nvPr/>
            </p:nvSpPr>
            <p:spPr bwMode="hidden">
              <a:xfrm>
                <a:off x="4401" y="2280"/>
                <a:ext cx="1007" cy="1601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92" name="Freeform 132"/>
              <p:cNvSpPr>
                <a:spLocks/>
              </p:cNvSpPr>
              <p:nvPr/>
            </p:nvSpPr>
            <p:spPr bwMode="hidden">
              <a:xfrm>
                <a:off x="3878" y="1470"/>
                <a:ext cx="1518" cy="106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93" name="Freeform 133"/>
              <p:cNvSpPr>
                <a:spLocks/>
              </p:cNvSpPr>
              <p:nvPr/>
            </p:nvSpPr>
            <p:spPr bwMode="hidden">
              <a:xfrm>
                <a:off x="3934" y="337"/>
                <a:ext cx="663" cy="1434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94" name="Freeform 134"/>
              <p:cNvSpPr>
                <a:spLocks/>
              </p:cNvSpPr>
              <p:nvPr/>
            </p:nvSpPr>
            <p:spPr bwMode="hidden">
              <a:xfrm rot="1346631" flipH="1">
                <a:off x="1702" y="1506"/>
                <a:ext cx="442" cy="83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5495" name="Rectangle 135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27213"/>
            <a:ext cx="7772400" cy="16271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496" name="Rectangle 13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497" name="Rectangle 137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5498" name="Rectangle 13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5499" name="Rectangle 13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24A2499-3FB4-41B9-B1A0-2792E46886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2BBE9F-94DD-4813-8C8C-C20D51DA6C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930DD4-BE60-4D43-9C76-B1D5486446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D45932-A85D-4CD8-B3C5-1E67E41A3A5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9EB25A-5934-49D1-BC3A-4ED1BA4E6F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B8C854-0F29-445B-ABCD-E1E0FBB728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E078CD-739E-42B2-9665-72135F6E0F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0B7BC-1C3E-4FFB-899C-98F30EF8C9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986973-F125-42BF-ACE1-5C86E1BA3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E595EA-EF95-4FB8-8CB0-B4C2DB4DC1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1625"/>
            <a:ext cx="1943100" cy="5794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1625"/>
            <a:ext cx="5676900" cy="5794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878254-2D26-4849-9D1D-B7E17FA985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6303963" y="0"/>
            <a:ext cx="2840037" cy="3254375"/>
            <a:chOff x="3115" y="0"/>
            <a:chExt cx="2170" cy="2486"/>
          </a:xfrm>
        </p:grpSpPr>
        <p:grpSp>
          <p:nvGrpSpPr>
            <p:cNvPr id="14339" name="Group 3"/>
            <p:cNvGrpSpPr>
              <a:grpSpLocks/>
            </p:cNvGrpSpPr>
            <p:nvPr/>
          </p:nvGrpSpPr>
          <p:grpSpPr bwMode="auto">
            <a:xfrm>
              <a:off x="4080" y="1910"/>
              <a:ext cx="768" cy="576"/>
              <a:chOff x="0" y="0"/>
              <a:chExt cx="768" cy="576"/>
            </a:xfrm>
          </p:grpSpPr>
          <p:sp>
            <p:nvSpPr>
              <p:cNvPr id="14340" name="Oval 4"/>
              <p:cNvSpPr>
                <a:spLocks noChangeArrowheads="1"/>
              </p:cNvSpPr>
              <p:nvPr/>
            </p:nvSpPr>
            <p:spPr bwMode="hidden">
              <a:xfrm>
                <a:off x="0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41" name="Oval 5"/>
              <p:cNvSpPr>
                <a:spLocks noChangeArrowheads="1"/>
              </p:cNvSpPr>
              <p:nvPr/>
            </p:nvSpPr>
            <p:spPr bwMode="hidden">
              <a:xfrm>
                <a:off x="276" y="252"/>
                <a:ext cx="185" cy="10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342" name="Group 6"/>
            <p:cNvGrpSpPr>
              <a:grpSpLocks/>
            </p:cNvGrpSpPr>
            <p:nvPr/>
          </p:nvGrpSpPr>
          <p:grpSpPr bwMode="auto">
            <a:xfrm>
              <a:off x="4257" y="1103"/>
              <a:ext cx="768" cy="576"/>
              <a:chOff x="0" y="0"/>
              <a:chExt cx="768" cy="576"/>
            </a:xfrm>
          </p:grpSpPr>
          <p:sp>
            <p:nvSpPr>
              <p:cNvPr id="14343" name="Oval 7"/>
              <p:cNvSpPr>
                <a:spLocks noChangeArrowheads="1"/>
              </p:cNvSpPr>
              <p:nvPr/>
            </p:nvSpPr>
            <p:spPr bwMode="hidden">
              <a:xfrm>
                <a:off x="0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44" name="Oval 8"/>
              <p:cNvSpPr>
                <a:spLocks noChangeArrowheads="1"/>
              </p:cNvSpPr>
              <p:nvPr/>
            </p:nvSpPr>
            <p:spPr bwMode="hidden">
              <a:xfrm>
                <a:off x="276" y="252"/>
                <a:ext cx="185" cy="10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345" name="Group 9"/>
            <p:cNvGrpSpPr>
              <a:grpSpLocks/>
            </p:cNvGrpSpPr>
            <p:nvPr/>
          </p:nvGrpSpPr>
          <p:grpSpPr bwMode="auto">
            <a:xfrm>
              <a:off x="3134" y="0"/>
              <a:ext cx="768" cy="576"/>
              <a:chOff x="0" y="0"/>
              <a:chExt cx="768" cy="576"/>
            </a:xfrm>
          </p:grpSpPr>
          <p:sp>
            <p:nvSpPr>
              <p:cNvPr id="14346" name="Oval 10"/>
              <p:cNvSpPr>
                <a:spLocks noChangeArrowheads="1"/>
              </p:cNvSpPr>
              <p:nvPr/>
            </p:nvSpPr>
            <p:spPr bwMode="hidden">
              <a:xfrm>
                <a:off x="0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347" name="Oval 11"/>
              <p:cNvSpPr>
                <a:spLocks noChangeArrowheads="1"/>
              </p:cNvSpPr>
              <p:nvPr/>
            </p:nvSpPr>
            <p:spPr bwMode="hidden">
              <a:xfrm>
                <a:off x="276" y="252"/>
                <a:ext cx="185" cy="10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348" name="Group 12"/>
            <p:cNvGrpSpPr>
              <a:grpSpLocks/>
            </p:cNvGrpSpPr>
            <p:nvPr/>
          </p:nvGrpSpPr>
          <p:grpSpPr bwMode="auto">
            <a:xfrm>
              <a:off x="3115" y="0"/>
              <a:ext cx="2170" cy="1702"/>
              <a:chOff x="3115" y="0"/>
              <a:chExt cx="2170" cy="1702"/>
            </a:xfrm>
          </p:grpSpPr>
          <p:grpSp>
            <p:nvGrpSpPr>
              <p:cNvPr id="14349" name="Group 13"/>
              <p:cNvGrpSpPr>
                <a:grpSpLocks/>
              </p:cNvGrpSpPr>
              <p:nvPr/>
            </p:nvGrpSpPr>
            <p:grpSpPr bwMode="auto">
              <a:xfrm>
                <a:off x="3640" y="308"/>
                <a:ext cx="1145" cy="844"/>
                <a:chOff x="1265" y="814"/>
                <a:chExt cx="2919" cy="2151"/>
              </a:xfrm>
            </p:grpSpPr>
            <p:sp>
              <p:nvSpPr>
                <p:cNvPr id="14350" name="Oval 14"/>
                <p:cNvSpPr>
                  <a:spLocks noChangeArrowheads="1"/>
                </p:cNvSpPr>
                <p:nvPr/>
              </p:nvSpPr>
              <p:spPr bwMode="hidden">
                <a:xfrm>
                  <a:off x="1265" y="814"/>
                  <a:ext cx="2919" cy="215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351" name="Oval 15"/>
                <p:cNvSpPr>
                  <a:spLocks noChangeArrowheads="1"/>
                </p:cNvSpPr>
                <p:nvPr/>
              </p:nvSpPr>
              <p:spPr bwMode="hidden">
                <a:xfrm>
                  <a:off x="2380" y="1601"/>
                  <a:ext cx="579" cy="406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2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352" name="Group 16"/>
              <p:cNvGrpSpPr>
                <a:grpSpLocks/>
              </p:cNvGrpSpPr>
              <p:nvPr/>
            </p:nvGrpSpPr>
            <p:grpSpPr bwMode="auto">
              <a:xfrm>
                <a:off x="3115" y="0"/>
                <a:ext cx="2145" cy="1702"/>
                <a:chOff x="3115" y="0"/>
                <a:chExt cx="2145" cy="1702"/>
              </a:xfrm>
            </p:grpSpPr>
            <p:grpSp>
              <p:nvGrpSpPr>
                <p:cNvPr id="14353" name="Group 17"/>
                <p:cNvGrpSpPr>
                  <a:grpSpLocks/>
                </p:cNvGrpSpPr>
                <p:nvPr/>
              </p:nvGrpSpPr>
              <p:grpSpPr bwMode="auto">
                <a:xfrm>
                  <a:off x="4505" y="589"/>
                  <a:ext cx="493" cy="912"/>
                  <a:chOff x="3471" y="1530"/>
                  <a:chExt cx="1258" cy="2327"/>
                </a:xfrm>
              </p:grpSpPr>
              <p:sp>
                <p:nvSpPr>
                  <p:cNvPr id="14354" name="Freeform 18"/>
                  <p:cNvSpPr>
                    <a:spLocks/>
                  </p:cNvSpPr>
                  <p:nvPr/>
                </p:nvSpPr>
                <p:spPr bwMode="hidden">
                  <a:xfrm rot="2711884">
                    <a:off x="2765" y="2236"/>
                    <a:ext cx="1724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55" name="Freeform 19"/>
                  <p:cNvSpPr>
                    <a:spLocks/>
                  </p:cNvSpPr>
                  <p:nvPr/>
                </p:nvSpPr>
                <p:spPr bwMode="hidden">
                  <a:xfrm rot="2711884">
                    <a:off x="4021" y="3150"/>
                    <a:ext cx="925" cy="490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56" name="Group 20"/>
                <p:cNvGrpSpPr>
                  <a:grpSpLocks/>
                </p:cNvGrpSpPr>
                <p:nvPr/>
              </p:nvGrpSpPr>
              <p:grpSpPr bwMode="auto">
                <a:xfrm>
                  <a:off x="4267" y="781"/>
                  <a:ext cx="966" cy="522"/>
                  <a:chOff x="2864" y="2019"/>
                  <a:chExt cx="2463" cy="1332"/>
                </a:xfrm>
              </p:grpSpPr>
              <p:sp>
                <p:nvSpPr>
                  <p:cNvPr id="14357" name="Freeform 21"/>
                  <p:cNvSpPr>
                    <a:spLocks/>
                  </p:cNvSpPr>
                  <p:nvPr/>
                </p:nvSpPr>
                <p:spPr bwMode="hidden">
                  <a:xfrm rot="2104081">
                    <a:off x="2864" y="2019"/>
                    <a:ext cx="1814" cy="34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58" name="Freeform 22"/>
                  <p:cNvSpPr>
                    <a:spLocks/>
                  </p:cNvSpPr>
                  <p:nvPr/>
                </p:nvSpPr>
                <p:spPr bwMode="hidden">
                  <a:xfrm rot="2104081">
                    <a:off x="4353" y="2806"/>
                    <a:ext cx="974" cy="54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59" name="Group 23"/>
                <p:cNvGrpSpPr>
                  <a:grpSpLocks/>
                </p:cNvGrpSpPr>
                <p:nvPr/>
              </p:nvGrpSpPr>
              <p:grpSpPr bwMode="auto">
                <a:xfrm>
                  <a:off x="4280" y="707"/>
                  <a:ext cx="971" cy="417"/>
                  <a:chOff x="2897" y="1832"/>
                  <a:chExt cx="2477" cy="1064"/>
                </a:xfrm>
              </p:grpSpPr>
              <p:sp>
                <p:nvSpPr>
                  <p:cNvPr id="14360" name="Freeform 24"/>
                  <p:cNvSpPr>
                    <a:spLocks/>
                  </p:cNvSpPr>
                  <p:nvPr/>
                </p:nvSpPr>
                <p:spPr bwMode="hidden">
                  <a:xfrm rot="1582915">
                    <a:off x="2897" y="1832"/>
                    <a:ext cx="1736" cy="30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61" name="Freeform 25"/>
                  <p:cNvSpPr>
                    <a:spLocks/>
                  </p:cNvSpPr>
                  <p:nvPr/>
                </p:nvSpPr>
                <p:spPr bwMode="hidden">
                  <a:xfrm rot="1582915">
                    <a:off x="4442" y="2420"/>
                    <a:ext cx="932" cy="47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62" name="Group 26"/>
                <p:cNvGrpSpPr>
                  <a:grpSpLocks/>
                </p:cNvGrpSpPr>
                <p:nvPr/>
              </p:nvGrpSpPr>
              <p:grpSpPr bwMode="auto">
                <a:xfrm>
                  <a:off x="4291" y="630"/>
                  <a:ext cx="969" cy="364"/>
                  <a:chOff x="2924" y="1636"/>
                  <a:chExt cx="2472" cy="927"/>
                </a:xfrm>
              </p:grpSpPr>
              <p:sp>
                <p:nvSpPr>
                  <p:cNvPr id="14363" name="Freeform 27"/>
                  <p:cNvSpPr>
                    <a:spLocks/>
                  </p:cNvSpPr>
                  <p:nvPr/>
                </p:nvSpPr>
                <p:spPr bwMode="hidden">
                  <a:xfrm rot="1080363">
                    <a:off x="2924" y="1636"/>
                    <a:ext cx="1677" cy="33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64" name="Freeform 28"/>
                  <p:cNvSpPr>
                    <a:spLocks/>
                  </p:cNvSpPr>
                  <p:nvPr/>
                </p:nvSpPr>
                <p:spPr bwMode="hidden">
                  <a:xfrm rot="1080363">
                    <a:off x="4495" y="2037"/>
                    <a:ext cx="901" cy="52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65" name="Group 29"/>
                <p:cNvGrpSpPr>
                  <a:grpSpLocks/>
                </p:cNvGrpSpPr>
                <p:nvPr/>
              </p:nvGrpSpPr>
              <p:grpSpPr bwMode="auto">
                <a:xfrm>
                  <a:off x="4304" y="543"/>
                  <a:ext cx="918" cy="258"/>
                  <a:chOff x="2958" y="1414"/>
                  <a:chExt cx="2342" cy="657"/>
                </a:xfrm>
              </p:grpSpPr>
              <p:sp>
                <p:nvSpPr>
                  <p:cNvPr id="14366" name="Freeform 30"/>
                  <p:cNvSpPr>
                    <a:spLocks/>
                  </p:cNvSpPr>
                  <p:nvPr/>
                </p:nvSpPr>
                <p:spPr bwMode="hidden">
                  <a:xfrm rot="463793">
                    <a:off x="2958" y="1414"/>
                    <a:ext cx="1545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67" name="Freeform 31"/>
                  <p:cNvSpPr>
                    <a:spLocks/>
                  </p:cNvSpPr>
                  <p:nvPr/>
                </p:nvSpPr>
                <p:spPr bwMode="hidden">
                  <a:xfrm rot="463793">
                    <a:off x="4470" y="1582"/>
                    <a:ext cx="830" cy="48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68" name="Group 32"/>
                <p:cNvGrpSpPr>
                  <a:grpSpLocks/>
                </p:cNvGrpSpPr>
                <p:nvPr/>
              </p:nvGrpSpPr>
              <p:grpSpPr bwMode="auto">
                <a:xfrm>
                  <a:off x="4314" y="487"/>
                  <a:ext cx="843" cy="134"/>
                  <a:chOff x="2983" y="1269"/>
                  <a:chExt cx="2150" cy="343"/>
                </a:xfrm>
              </p:grpSpPr>
              <p:sp>
                <p:nvSpPr>
                  <p:cNvPr id="14369" name="Freeform 33"/>
                  <p:cNvSpPr>
                    <a:spLocks/>
                  </p:cNvSpPr>
                  <p:nvPr/>
                </p:nvSpPr>
                <p:spPr bwMode="hidden">
                  <a:xfrm rot="-84182">
                    <a:off x="2983" y="1289"/>
                    <a:ext cx="1404" cy="219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70" name="Freeform 34"/>
                  <p:cNvSpPr>
                    <a:spLocks/>
                  </p:cNvSpPr>
                  <p:nvPr/>
                </p:nvSpPr>
                <p:spPr bwMode="hidden">
                  <a:xfrm rot="-84182">
                    <a:off x="4379" y="1269"/>
                    <a:ext cx="754" cy="343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71" name="Group 35"/>
                <p:cNvGrpSpPr>
                  <a:grpSpLocks/>
                </p:cNvGrpSpPr>
                <p:nvPr/>
              </p:nvGrpSpPr>
              <p:grpSpPr bwMode="auto">
                <a:xfrm>
                  <a:off x="4296" y="349"/>
                  <a:ext cx="737" cy="167"/>
                  <a:chOff x="2938" y="917"/>
                  <a:chExt cx="1879" cy="427"/>
                </a:xfrm>
              </p:grpSpPr>
              <p:sp>
                <p:nvSpPr>
                  <p:cNvPr id="14372" name="Freeform 36"/>
                  <p:cNvSpPr>
                    <a:spLocks/>
                  </p:cNvSpPr>
                  <p:nvPr/>
                </p:nvSpPr>
                <p:spPr bwMode="hidden">
                  <a:xfrm rot="-802576">
                    <a:off x="2938" y="1129"/>
                    <a:ext cx="1233" cy="21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73" name="Freeform 37"/>
                  <p:cNvSpPr>
                    <a:spLocks/>
                  </p:cNvSpPr>
                  <p:nvPr/>
                </p:nvSpPr>
                <p:spPr bwMode="hidden">
                  <a:xfrm rot="-802576">
                    <a:off x="4155" y="917"/>
                    <a:ext cx="662" cy="33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74" name="Group 38"/>
                <p:cNvGrpSpPr>
                  <a:grpSpLocks/>
                </p:cNvGrpSpPr>
                <p:nvPr/>
              </p:nvGrpSpPr>
              <p:grpSpPr bwMode="auto">
                <a:xfrm>
                  <a:off x="3394" y="637"/>
                  <a:ext cx="493" cy="912"/>
                  <a:chOff x="637" y="1653"/>
                  <a:chExt cx="1257" cy="2326"/>
                </a:xfrm>
              </p:grpSpPr>
              <p:sp>
                <p:nvSpPr>
                  <p:cNvPr id="14375" name="Freeform 39"/>
                  <p:cNvSpPr>
                    <a:spLocks/>
                  </p:cNvSpPr>
                  <p:nvPr/>
                </p:nvSpPr>
                <p:spPr bwMode="hidden">
                  <a:xfrm rot="18888116" flipH="1">
                    <a:off x="876" y="2359"/>
                    <a:ext cx="1724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76" name="Freeform 40"/>
                  <p:cNvSpPr>
                    <a:spLocks/>
                  </p:cNvSpPr>
                  <p:nvPr/>
                </p:nvSpPr>
                <p:spPr bwMode="hidden">
                  <a:xfrm rot="18888116" flipH="1">
                    <a:off x="419" y="3272"/>
                    <a:ext cx="925" cy="490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77" name="Group 41"/>
                <p:cNvGrpSpPr>
                  <a:grpSpLocks/>
                </p:cNvGrpSpPr>
                <p:nvPr/>
              </p:nvGrpSpPr>
              <p:grpSpPr bwMode="auto">
                <a:xfrm>
                  <a:off x="3142" y="850"/>
                  <a:ext cx="966" cy="522"/>
                  <a:chOff x="-5" y="2196"/>
                  <a:chExt cx="2463" cy="1332"/>
                </a:xfrm>
              </p:grpSpPr>
              <p:sp>
                <p:nvSpPr>
                  <p:cNvPr id="14378" name="Freeform 42"/>
                  <p:cNvSpPr>
                    <a:spLocks/>
                  </p:cNvSpPr>
                  <p:nvPr/>
                </p:nvSpPr>
                <p:spPr bwMode="hidden">
                  <a:xfrm rot="19495919" flipH="1">
                    <a:off x="644" y="2196"/>
                    <a:ext cx="1814" cy="34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79" name="Freeform 43"/>
                  <p:cNvSpPr>
                    <a:spLocks/>
                  </p:cNvSpPr>
                  <p:nvPr/>
                </p:nvSpPr>
                <p:spPr bwMode="hidden">
                  <a:xfrm rot="19495919" flipH="1">
                    <a:off x="-5" y="2983"/>
                    <a:ext cx="974" cy="54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80" name="Group 44"/>
                <p:cNvGrpSpPr>
                  <a:grpSpLocks/>
                </p:cNvGrpSpPr>
                <p:nvPr/>
              </p:nvGrpSpPr>
              <p:grpSpPr bwMode="auto">
                <a:xfrm>
                  <a:off x="3124" y="777"/>
                  <a:ext cx="971" cy="417"/>
                  <a:chOff x="-52" y="2009"/>
                  <a:chExt cx="2477" cy="1064"/>
                </a:xfrm>
              </p:grpSpPr>
              <p:sp>
                <p:nvSpPr>
                  <p:cNvPr id="14381" name="Freeform 45"/>
                  <p:cNvSpPr>
                    <a:spLocks/>
                  </p:cNvSpPr>
                  <p:nvPr/>
                </p:nvSpPr>
                <p:spPr bwMode="hidden">
                  <a:xfrm rot="20017085" flipH="1">
                    <a:off x="689" y="2009"/>
                    <a:ext cx="1736" cy="30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82" name="Freeform 46"/>
                  <p:cNvSpPr>
                    <a:spLocks/>
                  </p:cNvSpPr>
                  <p:nvPr/>
                </p:nvSpPr>
                <p:spPr bwMode="hidden">
                  <a:xfrm rot="20017085" flipH="1">
                    <a:off x="-52" y="2597"/>
                    <a:ext cx="932" cy="47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83" name="Group 47"/>
                <p:cNvGrpSpPr>
                  <a:grpSpLocks/>
                </p:cNvGrpSpPr>
                <p:nvPr/>
              </p:nvGrpSpPr>
              <p:grpSpPr bwMode="auto">
                <a:xfrm>
                  <a:off x="3115" y="700"/>
                  <a:ext cx="969" cy="363"/>
                  <a:chOff x="-74" y="1813"/>
                  <a:chExt cx="2472" cy="927"/>
                </a:xfrm>
              </p:grpSpPr>
              <p:sp>
                <p:nvSpPr>
                  <p:cNvPr id="14384" name="Freeform 48"/>
                  <p:cNvSpPr>
                    <a:spLocks/>
                  </p:cNvSpPr>
                  <p:nvPr/>
                </p:nvSpPr>
                <p:spPr bwMode="hidden">
                  <a:xfrm rot="20519637" flipH="1">
                    <a:off x="721" y="1813"/>
                    <a:ext cx="1677" cy="33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85" name="Freeform 49"/>
                  <p:cNvSpPr>
                    <a:spLocks/>
                  </p:cNvSpPr>
                  <p:nvPr/>
                </p:nvSpPr>
                <p:spPr bwMode="hidden">
                  <a:xfrm rot="20519637" flipH="1">
                    <a:off x="-74" y="2214"/>
                    <a:ext cx="901" cy="52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86" name="Group 50"/>
                <p:cNvGrpSpPr>
                  <a:grpSpLocks/>
                </p:cNvGrpSpPr>
                <p:nvPr/>
              </p:nvGrpSpPr>
              <p:grpSpPr bwMode="auto">
                <a:xfrm>
                  <a:off x="3153" y="613"/>
                  <a:ext cx="918" cy="257"/>
                  <a:chOff x="22" y="1591"/>
                  <a:chExt cx="2342" cy="657"/>
                </a:xfrm>
              </p:grpSpPr>
              <p:sp>
                <p:nvSpPr>
                  <p:cNvPr id="14387" name="Freeform 51"/>
                  <p:cNvSpPr>
                    <a:spLocks/>
                  </p:cNvSpPr>
                  <p:nvPr/>
                </p:nvSpPr>
                <p:spPr bwMode="hidden">
                  <a:xfrm rot="21136207" flipH="1">
                    <a:off x="819" y="1591"/>
                    <a:ext cx="1545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88" name="Freeform 52"/>
                  <p:cNvSpPr>
                    <a:spLocks/>
                  </p:cNvSpPr>
                  <p:nvPr/>
                </p:nvSpPr>
                <p:spPr bwMode="hidden">
                  <a:xfrm rot="21136207" flipH="1">
                    <a:off x="22" y="1759"/>
                    <a:ext cx="830" cy="48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89" name="Group 53"/>
                <p:cNvGrpSpPr>
                  <a:grpSpLocks/>
                </p:cNvGrpSpPr>
                <p:nvPr/>
              </p:nvGrpSpPr>
              <p:grpSpPr bwMode="auto">
                <a:xfrm>
                  <a:off x="3218" y="556"/>
                  <a:ext cx="843" cy="134"/>
                  <a:chOff x="189" y="1446"/>
                  <a:chExt cx="2150" cy="343"/>
                </a:xfrm>
              </p:grpSpPr>
              <p:sp>
                <p:nvSpPr>
                  <p:cNvPr id="14390" name="Freeform 54"/>
                  <p:cNvSpPr>
                    <a:spLocks/>
                  </p:cNvSpPr>
                  <p:nvPr/>
                </p:nvSpPr>
                <p:spPr bwMode="hidden">
                  <a:xfrm rot="84182" flipH="1">
                    <a:off x="935" y="1466"/>
                    <a:ext cx="1404" cy="219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91" name="Freeform 55"/>
                  <p:cNvSpPr>
                    <a:spLocks/>
                  </p:cNvSpPr>
                  <p:nvPr/>
                </p:nvSpPr>
                <p:spPr bwMode="hidden">
                  <a:xfrm rot="84182" flipH="1">
                    <a:off x="189" y="1446"/>
                    <a:ext cx="754" cy="343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92" name="Group 56"/>
                <p:cNvGrpSpPr>
                  <a:grpSpLocks/>
                </p:cNvGrpSpPr>
                <p:nvPr/>
              </p:nvGrpSpPr>
              <p:grpSpPr bwMode="auto">
                <a:xfrm>
                  <a:off x="3342" y="418"/>
                  <a:ext cx="737" cy="167"/>
                  <a:chOff x="505" y="1094"/>
                  <a:chExt cx="1879" cy="427"/>
                </a:xfrm>
              </p:grpSpPr>
              <p:sp>
                <p:nvSpPr>
                  <p:cNvPr id="14393" name="Freeform 57"/>
                  <p:cNvSpPr>
                    <a:spLocks/>
                  </p:cNvSpPr>
                  <p:nvPr/>
                </p:nvSpPr>
                <p:spPr bwMode="hidden">
                  <a:xfrm rot="802576" flipH="1">
                    <a:off x="1151" y="1306"/>
                    <a:ext cx="1233" cy="21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94" name="Freeform 58"/>
                  <p:cNvSpPr>
                    <a:spLocks/>
                  </p:cNvSpPr>
                  <p:nvPr/>
                </p:nvSpPr>
                <p:spPr bwMode="hidden">
                  <a:xfrm rot="802576" flipH="1">
                    <a:off x="505" y="1094"/>
                    <a:ext cx="662" cy="33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95" name="Group 59"/>
                <p:cNvGrpSpPr>
                  <a:grpSpLocks/>
                </p:cNvGrpSpPr>
                <p:nvPr/>
              </p:nvGrpSpPr>
              <p:grpSpPr bwMode="auto">
                <a:xfrm>
                  <a:off x="3386" y="341"/>
                  <a:ext cx="725" cy="218"/>
                  <a:chOff x="616" y="899"/>
                  <a:chExt cx="1850" cy="554"/>
                </a:xfrm>
              </p:grpSpPr>
              <p:sp>
                <p:nvSpPr>
                  <p:cNvPr id="14396" name="Freeform 60"/>
                  <p:cNvSpPr>
                    <a:spLocks/>
                  </p:cNvSpPr>
                  <p:nvPr/>
                </p:nvSpPr>
                <p:spPr bwMode="hidden">
                  <a:xfrm rot="1277471" flipH="1">
                    <a:off x="1233" y="1238"/>
                    <a:ext cx="1233" cy="21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97" name="Freeform 61"/>
                  <p:cNvSpPr>
                    <a:spLocks/>
                  </p:cNvSpPr>
                  <p:nvPr/>
                </p:nvSpPr>
                <p:spPr bwMode="hidden">
                  <a:xfrm rot="1277471" flipH="1">
                    <a:off x="616" y="899"/>
                    <a:ext cx="662" cy="33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398" name="Group 62"/>
                <p:cNvGrpSpPr>
                  <a:grpSpLocks/>
                </p:cNvGrpSpPr>
                <p:nvPr/>
              </p:nvGrpSpPr>
              <p:grpSpPr bwMode="auto">
                <a:xfrm>
                  <a:off x="3472" y="231"/>
                  <a:ext cx="693" cy="291"/>
                  <a:chOff x="3472" y="231"/>
                  <a:chExt cx="693" cy="291"/>
                </a:xfrm>
              </p:grpSpPr>
              <p:sp>
                <p:nvSpPr>
                  <p:cNvPr id="14399" name="Freeform 63"/>
                  <p:cNvSpPr>
                    <a:spLocks/>
                  </p:cNvSpPr>
                  <p:nvPr/>
                </p:nvSpPr>
                <p:spPr bwMode="hidden">
                  <a:xfrm rot="2028410" flipH="1">
                    <a:off x="3681" y="438"/>
                    <a:ext cx="484" cy="8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00" name="Freeform 64"/>
                  <p:cNvSpPr>
                    <a:spLocks/>
                  </p:cNvSpPr>
                  <p:nvPr/>
                </p:nvSpPr>
                <p:spPr bwMode="hidden">
                  <a:xfrm rot="2028410" flipH="1">
                    <a:off x="3472" y="231"/>
                    <a:ext cx="260" cy="132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01" name="Group 65"/>
                <p:cNvGrpSpPr>
                  <a:grpSpLocks/>
                </p:cNvGrpSpPr>
                <p:nvPr/>
              </p:nvGrpSpPr>
              <p:grpSpPr bwMode="auto">
                <a:xfrm>
                  <a:off x="3554" y="118"/>
                  <a:ext cx="664" cy="349"/>
                  <a:chOff x="3554" y="118"/>
                  <a:chExt cx="664" cy="349"/>
                </a:xfrm>
              </p:grpSpPr>
              <p:sp>
                <p:nvSpPr>
                  <p:cNvPr id="14402" name="Freeform 66"/>
                  <p:cNvSpPr>
                    <a:spLocks/>
                  </p:cNvSpPr>
                  <p:nvPr/>
                </p:nvSpPr>
                <p:spPr bwMode="hidden">
                  <a:xfrm rot="2664424" flipH="1">
                    <a:off x="3727" y="383"/>
                    <a:ext cx="491" cy="8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03" name="Freeform 67"/>
                  <p:cNvSpPr>
                    <a:spLocks/>
                  </p:cNvSpPr>
                  <p:nvPr/>
                </p:nvSpPr>
                <p:spPr bwMode="hidden">
                  <a:xfrm rot="2664424" flipH="1">
                    <a:off x="3554" y="118"/>
                    <a:ext cx="264" cy="132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04" name="Group 68"/>
                <p:cNvGrpSpPr>
                  <a:grpSpLocks/>
                </p:cNvGrpSpPr>
                <p:nvPr/>
              </p:nvGrpSpPr>
              <p:grpSpPr bwMode="auto">
                <a:xfrm>
                  <a:off x="3784" y="30"/>
                  <a:ext cx="305" cy="593"/>
                  <a:chOff x="1633" y="104"/>
                  <a:chExt cx="778" cy="1512"/>
                </a:xfrm>
              </p:grpSpPr>
              <p:sp>
                <p:nvSpPr>
                  <p:cNvPr id="14405" name="Freeform 69"/>
                  <p:cNvSpPr>
                    <a:spLocks/>
                  </p:cNvSpPr>
                  <p:nvPr/>
                </p:nvSpPr>
                <p:spPr bwMode="hidden">
                  <a:xfrm rot="3473776" flipH="1">
                    <a:off x="1754" y="958"/>
                    <a:ext cx="1100" cy="21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06" name="Freeform 70"/>
                  <p:cNvSpPr>
                    <a:spLocks/>
                  </p:cNvSpPr>
                  <p:nvPr/>
                </p:nvSpPr>
                <p:spPr bwMode="hidden">
                  <a:xfrm rot="3473776" flipH="1">
                    <a:off x="1506" y="231"/>
                    <a:ext cx="591" cy="33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07" name="Group 71"/>
                <p:cNvGrpSpPr>
                  <a:grpSpLocks/>
                </p:cNvGrpSpPr>
                <p:nvPr/>
              </p:nvGrpSpPr>
              <p:grpSpPr bwMode="auto">
                <a:xfrm>
                  <a:off x="3903" y="0"/>
                  <a:ext cx="248" cy="601"/>
                  <a:chOff x="1935" y="28"/>
                  <a:chExt cx="634" cy="1534"/>
                </a:xfrm>
              </p:grpSpPr>
              <p:sp>
                <p:nvSpPr>
                  <p:cNvPr id="14408" name="Freeform 72"/>
                  <p:cNvSpPr>
                    <a:spLocks/>
                  </p:cNvSpPr>
                  <p:nvPr/>
                </p:nvSpPr>
                <p:spPr bwMode="hidden">
                  <a:xfrm rot="4126480" flipH="1">
                    <a:off x="1931" y="924"/>
                    <a:ext cx="1061" cy="21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09" name="Freeform 73"/>
                  <p:cNvSpPr>
                    <a:spLocks/>
                  </p:cNvSpPr>
                  <p:nvPr/>
                </p:nvSpPr>
                <p:spPr bwMode="hidden">
                  <a:xfrm rot="4126480" flipH="1">
                    <a:off x="1819" y="144"/>
                    <a:ext cx="570" cy="33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10" name="Group 74"/>
                <p:cNvGrpSpPr>
                  <a:grpSpLocks/>
                </p:cNvGrpSpPr>
                <p:nvPr/>
              </p:nvGrpSpPr>
              <p:grpSpPr bwMode="auto">
                <a:xfrm>
                  <a:off x="4251" y="252"/>
                  <a:ext cx="723" cy="222"/>
                  <a:chOff x="2822" y="672"/>
                  <a:chExt cx="1845" cy="566"/>
                </a:xfrm>
              </p:grpSpPr>
              <p:sp>
                <p:nvSpPr>
                  <p:cNvPr id="14411" name="Freeform 75"/>
                  <p:cNvSpPr>
                    <a:spLocks/>
                  </p:cNvSpPr>
                  <p:nvPr/>
                </p:nvSpPr>
                <p:spPr bwMode="hidden">
                  <a:xfrm rot="-1325434">
                    <a:off x="2822" y="1023"/>
                    <a:ext cx="1233" cy="21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12" name="Freeform 76"/>
                  <p:cNvSpPr>
                    <a:spLocks/>
                  </p:cNvSpPr>
                  <p:nvPr/>
                </p:nvSpPr>
                <p:spPr bwMode="hidden">
                  <a:xfrm rot="-1325434">
                    <a:off x="4005" y="672"/>
                    <a:ext cx="662" cy="33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13" name="Group 77"/>
                <p:cNvGrpSpPr>
                  <a:grpSpLocks/>
                </p:cNvGrpSpPr>
                <p:nvPr/>
              </p:nvGrpSpPr>
              <p:grpSpPr bwMode="auto">
                <a:xfrm>
                  <a:off x="4196" y="163"/>
                  <a:ext cx="699" cy="282"/>
                  <a:chOff x="2683" y="445"/>
                  <a:chExt cx="1781" cy="717"/>
                </a:xfrm>
              </p:grpSpPr>
              <p:sp>
                <p:nvSpPr>
                  <p:cNvPr id="14414" name="Freeform 78"/>
                  <p:cNvSpPr>
                    <a:spLocks/>
                  </p:cNvSpPr>
                  <p:nvPr/>
                </p:nvSpPr>
                <p:spPr bwMode="hidden">
                  <a:xfrm rot="-1921064">
                    <a:off x="2683" y="947"/>
                    <a:ext cx="1233" cy="21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15" name="Freeform 79"/>
                  <p:cNvSpPr>
                    <a:spLocks/>
                  </p:cNvSpPr>
                  <p:nvPr/>
                </p:nvSpPr>
                <p:spPr bwMode="hidden">
                  <a:xfrm rot="-1921064">
                    <a:off x="3802" y="445"/>
                    <a:ext cx="662" cy="33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4416" name="Freeform 80"/>
                <p:cNvSpPr>
                  <a:spLocks/>
                </p:cNvSpPr>
                <p:nvPr/>
              </p:nvSpPr>
              <p:spPr bwMode="hidden">
                <a:xfrm rot="4578755" flipH="1">
                  <a:off x="3968" y="372"/>
                  <a:ext cx="403" cy="57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864" y="168"/>
                    </a:cxn>
                    <a:cxn ang="0">
                      <a:pos x="1776" y="24"/>
                    </a:cxn>
                    <a:cxn ang="0">
                      <a:pos x="2736" y="24"/>
                    </a:cxn>
                    <a:cxn ang="0">
                      <a:pos x="2720" y="103"/>
                    </a:cxn>
                    <a:cxn ang="0">
                      <a:pos x="1764" y="103"/>
                    </a:cxn>
                    <a:cxn ang="0">
                      <a:pos x="654" y="292"/>
                    </a:cxn>
                    <a:cxn ang="0">
                      <a:pos x="0" y="504"/>
                    </a:cxn>
                  </a:cxnLst>
                  <a:rect l="0" t="0" r="r" b="b"/>
                  <a:pathLst>
                    <a:path w="2736" h="504">
                      <a:moveTo>
                        <a:pt x="0" y="504"/>
                      </a:moveTo>
                      <a:cubicBezTo>
                        <a:pt x="24" y="488"/>
                        <a:pt x="568" y="248"/>
                        <a:pt x="864" y="168"/>
                      </a:cubicBezTo>
                      <a:cubicBezTo>
                        <a:pt x="1160" y="88"/>
                        <a:pt x="1464" y="48"/>
                        <a:pt x="1776" y="24"/>
                      </a:cubicBezTo>
                      <a:cubicBezTo>
                        <a:pt x="2088" y="0"/>
                        <a:pt x="2579" y="11"/>
                        <a:pt x="2736" y="24"/>
                      </a:cubicBezTo>
                      <a:lnTo>
                        <a:pt x="2720" y="103"/>
                      </a:lnTo>
                      <a:cubicBezTo>
                        <a:pt x="2558" y="116"/>
                        <a:pt x="2108" y="71"/>
                        <a:pt x="1764" y="103"/>
                      </a:cubicBezTo>
                      <a:cubicBezTo>
                        <a:pt x="1209" y="136"/>
                        <a:pt x="998" y="192"/>
                        <a:pt x="654" y="292"/>
                      </a:cubicBezTo>
                      <a:cubicBezTo>
                        <a:pt x="358" y="356"/>
                        <a:pt x="136" y="460"/>
                        <a:pt x="0" y="50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chemeClr val="folHlink"/>
                    </a:gs>
                    <a:gs pos="100000">
                      <a:schemeClr val="accent2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417" name="Freeform 81"/>
                <p:cNvSpPr>
                  <a:spLocks/>
                </p:cNvSpPr>
                <p:nvPr/>
              </p:nvSpPr>
              <p:spPr bwMode="hidden">
                <a:xfrm rot="4578755" flipH="1">
                  <a:off x="3977" y="77"/>
                  <a:ext cx="216" cy="90"/>
                </a:xfrm>
                <a:custGeom>
                  <a:avLst/>
                  <a:gdLst/>
                  <a:ahLst/>
                  <a:cxnLst>
                    <a:cxn ang="0">
                      <a:pos x="5" y="8"/>
                    </a:cxn>
                    <a:cxn ang="0">
                      <a:pos x="485" y="56"/>
                    </a:cxn>
                    <a:cxn ang="0">
                      <a:pos x="1157" y="200"/>
                    </a:cxn>
                    <a:cxn ang="0">
                      <a:pos x="1611" y="432"/>
                    </a:cxn>
                    <a:cxn ang="0">
                      <a:pos x="1756" y="609"/>
                    </a:cxn>
                    <a:cxn ang="0">
                      <a:pos x="1689" y="787"/>
                    </a:cxn>
                    <a:cxn ang="0">
                      <a:pos x="1589" y="632"/>
                    </a:cxn>
                    <a:cxn ang="0">
                      <a:pos x="1389" y="454"/>
                    </a:cxn>
                    <a:cxn ang="0">
                      <a:pos x="1109" y="296"/>
                    </a:cxn>
                    <a:cxn ang="0">
                      <a:pos x="581" y="152"/>
                    </a:cxn>
                    <a:cxn ang="0">
                      <a:pos x="0" y="76"/>
                    </a:cxn>
                    <a:cxn ang="0">
                      <a:pos x="5" y="8"/>
                    </a:cxn>
                  </a:cxnLst>
                  <a:rect l="0" t="0" r="r" b="b"/>
                  <a:pathLst>
                    <a:path w="1769" h="791">
                      <a:moveTo>
                        <a:pt x="5" y="8"/>
                      </a:moveTo>
                      <a:cubicBezTo>
                        <a:pt x="85" y="0"/>
                        <a:pt x="293" y="24"/>
                        <a:pt x="485" y="56"/>
                      </a:cubicBezTo>
                      <a:cubicBezTo>
                        <a:pt x="677" y="88"/>
                        <a:pt x="969" y="137"/>
                        <a:pt x="1157" y="200"/>
                      </a:cubicBezTo>
                      <a:cubicBezTo>
                        <a:pt x="1345" y="263"/>
                        <a:pt x="1511" y="364"/>
                        <a:pt x="1611" y="432"/>
                      </a:cubicBezTo>
                      <a:cubicBezTo>
                        <a:pt x="1711" y="500"/>
                        <a:pt x="1743" y="550"/>
                        <a:pt x="1756" y="609"/>
                      </a:cubicBezTo>
                      <a:cubicBezTo>
                        <a:pt x="1769" y="668"/>
                        <a:pt x="1717" y="783"/>
                        <a:pt x="1689" y="787"/>
                      </a:cubicBezTo>
                      <a:cubicBezTo>
                        <a:pt x="1661" y="791"/>
                        <a:pt x="1639" y="687"/>
                        <a:pt x="1589" y="632"/>
                      </a:cubicBezTo>
                      <a:cubicBezTo>
                        <a:pt x="1539" y="577"/>
                        <a:pt x="1469" y="510"/>
                        <a:pt x="1389" y="454"/>
                      </a:cubicBezTo>
                      <a:cubicBezTo>
                        <a:pt x="1309" y="398"/>
                        <a:pt x="1244" y="346"/>
                        <a:pt x="1109" y="296"/>
                      </a:cubicBezTo>
                      <a:cubicBezTo>
                        <a:pt x="974" y="246"/>
                        <a:pt x="766" y="189"/>
                        <a:pt x="581" y="152"/>
                      </a:cubicBezTo>
                      <a:cubicBezTo>
                        <a:pt x="396" y="115"/>
                        <a:pt x="96" y="100"/>
                        <a:pt x="0" y="76"/>
                      </a:cubicBezTo>
                      <a:lnTo>
                        <a:pt x="5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folHlink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4418" name="Group 82"/>
                <p:cNvGrpSpPr>
                  <a:grpSpLocks/>
                </p:cNvGrpSpPr>
                <p:nvPr/>
              </p:nvGrpSpPr>
              <p:grpSpPr bwMode="auto">
                <a:xfrm>
                  <a:off x="4242" y="5"/>
                  <a:ext cx="251" cy="596"/>
                  <a:chOff x="2800" y="41"/>
                  <a:chExt cx="640" cy="1520"/>
                </a:xfrm>
              </p:grpSpPr>
              <p:sp>
                <p:nvSpPr>
                  <p:cNvPr id="14419" name="Freeform 83"/>
                  <p:cNvSpPr>
                    <a:spLocks/>
                  </p:cNvSpPr>
                  <p:nvPr/>
                </p:nvSpPr>
                <p:spPr bwMode="hidden">
                  <a:xfrm rot="-3857755">
                    <a:off x="2361" y="938"/>
                    <a:ext cx="1062" cy="18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20" name="Freeform 84"/>
                  <p:cNvSpPr>
                    <a:spLocks/>
                  </p:cNvSpPr>
                  <p:nvPr/>
                </p:nvSpPr>
                <p:spPr bwMode="hidden">
                  <a:xfrm rot="-3857755">
                    <a:off x="3011" y="181"/>
                    <a:ext cx="570" cy="28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21" name="Group 85"/>
                <p:cNvGrpSpPr>
                  <a:grpSpLocks/>
                </p:cNvGrpSpPr>
                <p:nvPr/>
              </p:nvGrpSpPr>
              <p:grpSpPr bwMode="auto">
                <a:xfrm>
                  <a:off x="4295" y="53"/>
                  <a:ext cx="398" cy="574"/>
                  <a:chOff x="2934" y="163"/>
                  <a:chExt cx="1017" cy="1464"/>
                </a:xfrm>
              </p:grpSpPr>
              <p:sp>
                <p:nvSpPr>
                  <p:cNvPr id="14422" name="Freeform 86"/>
                  <p:cNvSpPr>
                    <a:spLocks/>
                  </p:cNvSpPr>
                  <p:nvPr/>
                </p:nvSpPr>
                <p:spPr bwMode="hidden">
                  <a:xfrm rot="-2777260">
                    <a:off x="2491" y="915"/>
                    <a:ext cx="1155" cy="270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23" name="Freeform 87"/>
                  <p:cNvSpPr>
                    <a:spLocks/>
                  </p:cNvSpPr>
                  <p:nvPr/>
                </p:nvSpPr>
                <p:spPr bwMode="hidden">
                  <a:xfrm rot="-2777260">
                    <a:off x="3430" y="261"/>
                    <a:ext cx="620" cy="423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24" name="Group 88"/>
                <p:cNvGrpSpPr>
                  <a:grpSpLocks/>
                </p:cNvGrpSpPr>
                <p:nvPr/>
              </p:nvGrpSpPr>
              <p:grpSpPr bwMode="auto">
                <a:xfrm>
                  <a:off x="4215" y="2"/>
                  <a:ext cx="95" cy="567"/>
                  <a:chOff x="2730" y="32"/>
                  <a:chExt cx="243" cy="1448"/>
                </a:xfrm>
              </p:grpSpPr>
              <p:sp>
                <p:nvSpPr>
                  <p:cNvPr id="14425" name="Freeform 89"/>
                  <p:cNvSpPr>
                    <a:spLocks/>
                  </p:cNvSpPr>
                  <p:nvPr/>
                </p:nvSpPr>
                <p:spPr bwMode="hidden">
                  <a:xfrm rot="-4903748">
                    <a:off x="2296" y="960"/>
                    <a:ext cx="954" cy="8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26" name="Freeform 90"/>
                  <p:cNvSpPr>
                    <a:spLocks/>
                  </p:cNvSpPr>
                  <p:nvPr/>
                </p:nvSpPr>
                <p:spPr bwMode="hidden">
                  <a:xfrm rot="-4903748">
                    <a:off x="2650" y="220"/>
                    <a:ext cx="512" cy="13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27" name="Group 91"/>
                <p:cNvGrpSpPr>
                  <a:grpSpLocks/>
                </p:cNvGrpSpPr>
                <p:nvPr/>
              </p:nvGrpSpPr>
              <p:grpSpPr bwMode="auto">
                <a:xfrm>
                  <a:off x="3514" y="683"/>
                  <a:ext cx="425" cy="960"/>
                  <a:chOff x="943" y="1769"/>
                  <a:chExt cx="1085" cy="2450"/>
                </a:xfrm>
              </p:grpSpPr>
              <p:sp>
                <p:nvSpPr>
                  <p:cNvPr id="14428" name="Freeform 92"/>
                  <p:cNvSpPr>
                    <a:spLocks/>
                  </p:cNvSpPr>
                  <p:nvPr/>
                </p:nvSpPr>
                <p:spPr bwMode="hidden">
                  <a:xfrm rot="18335692" flipH="1">
                    <a:off x="1010" y="2475"/>
                    <a:ext cx="1724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29" name="Freeform 93"/>
                  <p:cNvSpPr>
                    <a:spLocks/>
                  </p:cNvSpPr>
                  <p:nvPr/>
                </p:nvSpPr>
                <p:spPr bwMode="hidden">
                  <a:xfrm rot="18335692" flipH="1">
                    <a:off x="725" y="3512"/>
                    <a:ext cx="925" cy="490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30" name="Group 94"/>
                <p:cNvGrpSpPr>
                  <a:grpSpLocks/>
                </p:cNvGrpSpPr>
                <p:nvPr/>
              </p:nvGrpSpPr>
              <p:grpSpPr bwMode="auto">
                <a:xfrm>
                  <a:off x="3715" y="748"/>
                  <a:ext cx="300" cy="930"/>
                  <a:chOff x="1455" y="1936"/>
                  <a:chExt cx="766" cy="2373"/>
                </a:xfrm>
              </p:grpSpPr>
              <p:sp>
                <p:nvSpPr>
                  <p:cNvPr id="14431" name="Freeform 95"/>
                  <p:cNvSpPr>
                    <a:spLocks/>
                  </p:cNvSpPr>
                  <p:nvPr/>
                </p:nvSpPr>
                <p:spPr bwMode="hidden">
                  <a:xfrm rot="17542885" flipH="1">
                    <a:off x="1267" y="2578"/>
                    <a:ext cx="1595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32" name="Freeform 96"/>
                  <p:cNvSpPr>
                    <a:spLocks/>
                  </p:cNvSpPr>
                  <p:nvPr/>
                </p:nvSpPr>
                <p:spPr bwMode="hidden">
                  <a:xfrm rot="17542885" flipH="1">
                    <a:off x="1272" y="3636"/>
                    <a:ext cx="856" cy="490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33" name="Group 97"/>
                <p:cNvGrpSpPr>
                  <a:grpSpLocks/>
                </p:cNvGrpSpPr>
                <p:nvPr/>
              </p:nvGrpSpPr>
              <p:grpSpPr bwMode="auto">
                <a:xfrm rot="88588">
                  <a:off x="3923" y="769"/>
                  <a:ext cx="180" cy="913"/>
                  <a:chOff x="1956" y="1990"/>
                  <a:chExt cx="492" cy="2604"/>
                </a:xfrm>
              </p:grpSpPr>
              <p:sp>
                <p:nvSpPr>
                  <p:cNvPr id="14434" name="Freeform 98"/>
                  <p:cNvSpPr>
                    <a:spLocks/>
                  </p:cNvSpPr>
                  <p:nvPr/>
                </p:nvSpPr>
                <p:spPr bwMode="hidden">
                  <a:xfrm rot="16782062" flipH="1">
                    <a:off x="1442" y="2695"/>
                    <a:ext cx="1711" cy="301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35" name="Freeform 99"/>
                  <p:cNvSpPr>
                    <a:spLocks/>
                  </p:cNvSpPr>
                  <p:nvPr/>
                </p:nvSpPr>
                <p:spPr bwMode="hidden">
                  <a:xfrm rot="16782062" flipH="1">
                    <a:off x="1734" y="3898"/>
                    <a:ext cx="918" cy="473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36" name="Group 100"/>
                <p:cNvGrpSpPr>
                  <a:grpSpLocks/>
                </p:cNvGrpSpPr>
                <p:nvPr/>
              </p:nvGrpSpPr>
              <p:grpSpPr bwMode="auto">
                <a:xfrm>
                  <a:off x="4451" y="662"/>
                  <a:ext cx="442" cy="951"/>
                  <a:chOff x="3334" y="1717"/>
                  <a:chExt cx="1125" cy="2426"/>
                </a:xfrm>
              </p:grpSpPr>
              <p:sp>
                <p:nvSpPr>
                  <p:cNvPr id="14437" name="Freeform 101"/>
                  <p:cNvSpPr>
                    <a:spLocks/>
                  </p:cNvSpPr>
                  <p:nvPr/>
                </p:nvSpPr>
                <p:spPr bwMode="hidden">
                  <a:xfrm rot="3144576">
                    <a:off x="2628" y="2423"/>
                    <a:ext cx="1724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38" name="Freeform 102"/>
                  <p:cNvSpPr>
                    <a:spLocks/>
                  </p:cNvSpPr>
                  <p:nvPr/>
                </p:nvSpPr>
                <p:spPr bwMode="hidden">
                  <a:xfrm rot="3144576">
                    <a:off x="3751" y="3436"/>
                    <a:ext cx="925" cy="490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39" name="Group 103"/>
                <p:cNvGrpSpPr>
                  <a:grpSpLocks/>
                </p:cNvGrpSpPr>
                <p:nvPr/>
              </p:nvGrpSpPr>
              <p:grpSpPr bwMode="auto">
                <a:xfrm>
                  <a:off x="4391" y="721"/>
                  <a:ext cx="347" cy="951"/>
                  <a:chOff x="3181" y="1866"/>
                  <a:chExt cx="883" cy="2426"/>
                </a:xfrm>
              </p:grpSpPr>
              <p:sp>
                <p:nvSpPr>
                  <p:cNvPr id="14440" name="Freeform 104"/>
                  <p:cNvSpPr>
                    <a:spLocks/>
                  </p:cNvSpPr>
                  <p:nvPr/>
                </p:nvSpPr>
                <p:spPr bwMode="hidden">
                  <a:xfrm rot="3745735">
                    <a:off x="2506" y="2541"/>
                    <a:ext cx="1650" cy="299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41" name="Freeform 105"/>
                  <p:cNvSpPr>
                    <a:spLocks/>
                  </p:cNvSpPr>
                  <p:nvPr/>
                </p:nvSpPr>
                <p:spPr bwMode="hidden">
                  <a:xfrm rot="3745735">
                    <a:off x="3387" y="3615"/>
                    <a:ext cx="885" cy="46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42" name="Group 106"/>
                <p:cNvGrpSpPr>
                  <a:grpSpLocks/>
                </p:cNvGrpSpPr>
                <p:nvPr/>
              </p:nvGrpSpPr>
              <p:grpSpPr bwMode="auto">
                <a:xfrm>
                  <a:off x="4323" y="767"/>
                  <a:ext cx="243" cy="935"/>
                  <a:chOff x="3006" y="1983"/>
                  <a:chExt cx="619" cy="2386"/>
                </a:xfrm>
              </p:grpSpPr>
              <p:sp>
                <p:nvSpPr>
                  <p:cNvPr id="14443" name="Freeform 107"/>
                  <p:cNvSpPr>
                    <a:spLocks/>
                  </p:cNvSpPr>
                  <p:nvPr/>
                </p:nvSpPr>
                <p:spPr bwMode="hidden">
                  <a:xfrm rot="4286818">
                    <a:off x="2328" y="2661"/>
                    <a:ext cx="1601" cy="24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44" name="Freeform 108"/>
                  <p:cNvSpPr>
                    <a:spLocks/>
                  </p:cNvSpPr>
                  <p:nvPr/>
                </p:nvSpPr>
                <p:spPr bwMode="hidden">
                  <a:xfrm rot="4286818">
                    <a:off x="3002" y="3747"/>
                    <a:ext cx="859" cy="38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45" name="Group 109"/>
                <p:cNvGrpSpPr>
                  <a:grpSpLocks/>
                </p:cNvGrpSpPr>
                <p:nvPr/>
              </p:nvGrpSpPr>
              <p:grpSpPr bwMode="auto">
                <a:xfrm>
                  <a:off x="4249" y="813"/>
                  <a:ext cx="159" cy="870"/>
                  <a:chOff x="2819" y="2101"/>
                  <a:chExt cx="405" cy="2219"/>
                </a:xfrm>
              </p:grpSpPr>
              <p:sp>
                <p:nvSpPr>
                  <p:cNvPr id="14446" name="Freeform 110"/>
                  <p:cNvSpPr>
                    <a:spLocks/>
                  </p:cNvSpPr>
                  <p:nvPr/>
                </p:nvSpPr>
                <p:spPr bwMode="hidden">
                  <a:xfrm rot="4898956">
                    <a:off x="2206" y="2714"/>
                    <a:ext cx="1471" cy="24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47" name="Freeform 111"/>
                  <p:cNvSpPr>
                    <a:spLocks/>
                  </p:cNvSpPr>
                  <p:nvPr/>
                </p:nvSpPr>
                <p:spPr bwMode="hidden">
                  <a:xfrm rot="4898956">
                    <a:off x="2636" y="3732"/>
                    <a:ext cx="790" cy="38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448" name="Group 112"/>
                <p:cNvGrpSpPr>
                  <a:grpSpLocks/>
                </p:cNvGrpSpPr>
                <p:nvPr/>
              </p:nvGrpSpPr>
              <p:grpSpPr bwMode="auto">
                <a:xfrm>
                  <a:off x="4045" y="826"/>
                  <a:ext cx="167" cy="857"/>
                  <a:chOff x="2287" y="2135"/>
                  <a:chExt cx="426" cy="2185"/>
                </a:xfrm>
              </p:grpSpPr>
              <p:sp>
                <p:nvSpPr>
                  <p:cNvPr id="14449" name="Freeform 113"/>
                  <p:cNvSpPr>
                    <a:spLocks/>
                  </p:cNvSpPr>
                  <p:nvPr/>
                </p:nvSpPr>
                <p:spPr bwMode="hidden">
                  <a:xfrm rot="5755659">
                    <a:off x="1900" y="2760"/>
                    <a:ext cx="1437" cy="188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450" name="Freeform 114"/>
                  <p:cNvSpPr>
                    <a:spLocks/>
                  </p:cNvSpPr>
                  <p:nvPr/>
                </p:nvSpPr>
                <p:spPr bwMode="hidden">
                  <a:xfrm rot="5755659">
                    <a:off x="2049" y="3787"/>
                    <a:ext cx="771" cy="29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4451" name="Freeform 115"/>
              <p:cNvSpPr>
                <a:spLocks/>
              </p:cNvSpPr>
              <p:nvPr/>
            </p:nvSpPr>
            <p:spPr bwMode="hidden">
              <a:xfrm flipH="1">
                <a:off x="3873" y="934"/>
                <a:ext cx="191" cy="58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52" name="Arc 116"/>
              <p:cNvSpPr>
                <a:spLocks/>
              </p:cNvSpPr>
              <p:nvPr/>
            </p:nvSpPr>
            <p:spPr bwMode="hidden">
              <a:xfrm flipH="1">
                <a:off x="3528" y="726"/>
                <a:ext cx="833" cy="903"/>
              </a:xfrm>
              <a:custGeom>
                <a:avLst/>
                <a:gdLst>
                  <a:gd name="G0" fmla="+- 0 0 0"/>
                  <a:gd name="G1" fmla="+- 20897 0 0"/>
                  <a:gd name="G2" fmla="+- 21600 0 0"/>
                  <a:gd name="T0" fmla="*/ 5467 w 21600"/>
                  <a:gd name="T1" fmla="*/ 0 h 21602"/>
                  <a:gd name="T2" fmla="*/ 21589 w 21600"/>
                  <a:gd name="T3" fmla="*/ 21602 h 21602"/>
                  <a:gd name="T4" fmla="*/ 0 w 21600"/>
                  <a:gd name="T5" fmla="*/ 20897 h 2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2" fill="none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</a:path>
                  <a:path w="21600" h="21602" stroke="0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  <a:lnTo>
                      <a:pt x="0" y="20897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53" name="Arc 117"/>
              <p:cNvSpPr>
                <a:spLocks/>
              </p:cNvSpPr>
              <p:nvPr/>
            </p:nvSpPr>
            <p:spPr bwMode="hidden">
              <a:xfrm flipV="1">
                <a:off x="4278" y="179"/>
                <a:ext cx="1007" cy="802"/>
              </a:xfrm>
              <a:custGeom>
                <a:avLst/>
                <a:gdLst>
                  <a:gd name="G0" fmla="+- 17826 0 0"/>
                  <a:gd name="G1" fmla="+- 0 0 0"/>
                  <a:gd name="G2" fmla="+- 21600 0 0"/>
                  <a:gd name="T0" fmla="*/ 36729 w 36729"/>
                  <a:gd name="T1" fmla="*/ 10451 h 21600"/>
                  <a:gd name="T2" fmla="*/ 0 w 36729"/>
                  <a:gd name="T3" fmla="*/ 12197 h 21600"/>
                  <a:gd name="T4" fmla="*/ 17826 w 3672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29" h="21600" fill="none" extrusionOk="0">
                    <a:moveTo>
                      <a:pt x="36729" y="10451"/>
                    </a:moveTo>
                    <a:cubicBezTo>
                      <a:pt x="32926" y="17330"/>
                      <a:pt x="25686" y="21599"/>
                      <a:pt x="17826" y="21600"/>
                    </a:cubicBezTo>
                    <a:cubicBezTo>
                      <a:pt x="10696" y="21600"/>
                      <a:pt x="4025" y="18081"/>
                      <a:pt x="-1" y="12197"/>
                    </a:cubicBezTo>
                  </a:path>
                  <a:path w="36729" h="21600" stroke="0" extrusionOk="0">
                    <a:moveTo>
                      <a:pt x="36729" y="10451"/>
                    </a:moveTo>
                    <a:cubicBezTo>
                      <a:pt x="32926" y="17330"/>
                      <a:pt x="25686" y="21599"/>
                      <a:pt x="17826" y="21600"/>
                    </a:cubicBezTo>
                    <a:cubicBezTo>
                      <a:pt x="10696" y="21600"/>
                      <a:pt x="4025" y="18081"/>
                      <a:pt x="-1" y="12197"/>
                    </a:cubicBezTo>
                    <a:lnTo>
                      <a:pt x="17826" y="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54" name="Arc 118"/>
              <p:cNvSpPr>
                <a:spLocks/>
              </p:cNvSpPr>
              <p:nvPr/>
            </p:nvSpPr>
            <p:spPr bwMode="hidden">
              <a:xfrm flipH="1">
                <a:off x="3612" y="580"/>
                <a:ext cx="487" cy="933"/>
              </a:xfrm>
              <a:custGeom>
                <a:avLst/>
                <a:gdLst>
                  <a:gd name="G0" fmla="+- 7340 0 0"/>
                  <a:gd name="G1" fmla="+- 21600 0 0"/>
                  <a:gd name="G2" fmla="+- 21600 0 0"/>
                  <a:gd name="T0" fmla="*/ 0 w 28940"/>
                  <a:gd name="T1" fmla="*/ 1285 h 22305"/>
                  <a:gd name="T2" fmla="*/ 28929 w 28940"/>
                  <a:gd name="T3" fmla="*/ 22305 h 22305"/>
                  <a:gd name="T4" fmla="*/ 7340 w 28940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940" h="22305" fill="none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</a:path>
                  <a:path w="28940" h="22305" stroke="0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  <a:lnTo>
                      <a:pt x="734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55" name="Arc 119"/>
              <p:cNvSpPr>
                <a:spLocks/>
              </p:cNvSpPr>
              <p:nvPr/>
            </p:nvSpPr>
            <p:spPr bwMode="hidden">
              <a:xfrm flipH="1">
                <a:off x="3267" y="628"/>
                <a:ext cx="791" cy="932"/>
              </a:xfrm>
              <a:custGeom>
                <a:avLst/>
                <a:gdLst>
                  <a:gd name="G0" fmla="+- 8873 0 0"/>
                  <a:gd name="G1" fmla="+- 21600 0 0"/>
                  <a:gd name="G2" fmla="+- 21600 0 0"/>
                  <a:gd name="T0" fmla="*/ 0 w 30473"/>
                  <a:gd name="T1" fmla="*/ 1907 h 22305"/>
                  <a:gd name="T2" fmla="*/ 30462 w 30473"/>
                  <a:gd name="T3" fmla="*/ 22305 h 22305"/>
                  <a:gd name="T4" fmla="*/ 8873 w 30473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473" h="22305" fill="none" extrusionOk="0">
                    <a:moveTo>
                      <a:pt x="-1" y="1906"/>
                    </a:moveTo>
                    <a:cubicBezTo>
                      <a:pt x="2789" y="649"/>
                      <a:pt x="5813" y="-1"/>
                      <a:pt x="8873" y="0"/>
                    </a:cubicBezTo>
                    <a:cubicBezTo>
                      <a:pt x="20802" y="0"/>
                      <a:pt x="30473" y="9670"/>
                      <a:pt x="30473" y="21600"/>
                    </a:cubicBezTo>
                    <a:cubicBezTo>
                      <a:pt x="30473" y="21835"/>
                      <a:pt x="30469" y="22070"/>
                      <a:pt x="30461" y="22304"/>
                    </a:cubicBezTo>
                  </a:path>
                  <a:path w="30473" h="22305" stroke="0" extrusionOk="0">
                    <a:moveTo>
                      <a:pt x="-1" y="1906"/>
                    </a:moveTo>
                    <a:cubicBezTo>
                      <a:pt x="2789" y="649"/>
                      <a:pt x="5813" y="-1"/>
                      <a:pt x="8873" y="0"/>
                    </a:cubicBezTo>
                    <a:cubicBezTo>
                      <a:pt x="20802" y="0"/>
                      <a:pt x="30473" y="9670"/>
                      <a:pt x="30473" y="21600"/>
                    </a:cubicBezTo>
                    <a:cubicBezTo>
                      <a:pt x="30473" y="21835"/>
                      <a:pt x="30469" y="22070"/>
                      <a:pt x="30461" y="22304"/>
                    </a:cubicBezTo>
                    <a:lnTo>
                      <a:pt x="8873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56" name="Arc 120"/>
              <p:cNvSpPr>
                <a:spLocks/>
              </p:cNvSpPr>
              <p:nvPr/>
            </p:nvSpPr>
            <p:spPr bwMode="hidden">
              <a:xfrm flipH="1">
                <a:off x="3197" y="458"/>
                <a:ext cx="932" cy="933"/>
              </a:xfrm>
              <a:custGeom>
                <a:avLst/>
                <a:gdLst>
                  <a:gd name="G0" fmla="+- 12855 0 0"/>
                  <a:gd name="G1" fmla="+- 21600 0 0"/>
                  <a:gd name="G2" fmla="+- 21600 0 0"/>
                  <a:gd name="T0" fmla="*/ 0 w 34455"/>
                  <a:gd name="T1" fmla="*/ 4241 h 22305"/>
                  <a:gd name="T2" fmla="*/ 34444 w 34455"/>
                  <a:gd name="T3" fmla="*/ 22305 h 22305"/>
                  <a:gd name="T4" fmla="*/ 12855 w 34455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455" h="22305" fill="none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</a:path>
                  <a:path w="34455" h="22305" stroke="0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  <a:lnTo>
                      <a:pt x="1285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57" name="Arc 121"/>
              <p:cNvSpPr>
                <a:spLocks/>
              </p:cNvSpPr>
              <p:nvPr/>
            </p:nvSpPr>
            <p:spPr bwMode="hidden">
              <a:xfrm>
                <a:off x="4229" y="589"/>
                <a:ext cx="149" cy="933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58" name="Arc 122"/>
              <p:cNvSpPr>
                <a:spLocks/>
              </p:cNvSpPr>
              <p:nvPr/>
            </p:nvSpPr>
            <p:spPr bwMode="hidden">
              <a:xfrm>
                <a:off x="4268" y="585"/>
                <a:ext cx="394" cy="933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59" name="Arc 123"/>
              <p:cNvSpPr>
                <a:spLocks/>
              </p:cNvSpPr>
              <p:nvPr/>
            </p:nvSpPr>
            <p:spPr bwMode="hidden">
              <a:xfrm>
                <a:off x="4303" y="463"/>
                <a:ext cx="559" cy="933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0" name="Freeform 124"/>
              <p:cNvSpPr>
                <a:spLocks/>
              </p:cNvSpPr>
              <p:nvPr/>
            </p:nvSpPr>
            <p:spPr bwMode="hidden">
              <a:xfrm>
                <a:off x="4410" y="1033"/>
                <a:ext cx="190" cy="58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1" name="Freeform 125"/>
              <p:cNvSpPr>
                <a:spLocks/>
              </p:cNvSpPr>
              <p:nvPr/>
            </p:nvSpPr>
            <p:spPr bwMode="hidden">
              <a:xfrm rot="19660755" flipV="1">
                <a:off x="4114" y="843"/>
                <a:ext cx="173" cy="328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2" name="Arc 126"/>
              <p:cNvSpPr>
                <a:spLocks/>
              </p:cNvSpPr>
              <p:nvPr/>
            </p:nvSpPr>
            <p:spPr bwMode="hidden">
              <a:xfrm flipH="1">
                <a:off x="3144" y="319"/>
                <a:ext cx="996" cy="933"/>
              </a:xfrm>
              <a:custGeom>
                <a:avLst/>
                <a:gdLst>
                  <a:gd name="G0" fmla="+- 15230 0 0"/>
                  <a:gd name="G1" fmla="+- 21600 0 0"/>
                  <a:gd name="G2" fmla="+- 21600 0 0"/>
                  <a:gd name="T0" fmla="*/ 0 w 36830"/>
                  <a:gd name="T1" fmla="*/ 6283 h 22305"/>
                  <a:gd name="T2" fmla="*/ 36819 w 36830"/>
                  <a:gd name="T3" fmla="*/ 22305 h 22305"/>
                  <a:gd name="T4" fmla="*/ 15230 w 36830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830" h="22305" fill="none" extrusionOk="0">
                    <a:moveTo>
                      <a:pt x="0" y="6283"/>
                    </a:moveTo>
                    <a:cubicBezTo>
                      <a:pt x="4047" y="2258"/>
                      <a:pt x="9522" y="-1"/>
                      <a:pt x="15230" y="0"/>
                    </a:cubicBezTo>
                    <a:cubicBezTo>
                      <a:pt x="27159" y="0"/>
                      <a:pt x="36830" y="9670"/>
                      <a:pt x="36830" y="21600"/>
                    </a:cubicBezTo>
                    <a:cubicBezTo>
                      <a:pt x="36830" y="21835"/>
                      <a:pt x="36826" y="22070"/>
                      <a:pt x="36818" y="22304"/>
                    </a:cubicBezTo>
                  </a:path>
                  <a:path w="36830" h="22305" stroke="0" extrusionOk="0">
                    <a:moveTo>
                      <a:pt x="0" y="6283"/>
                    </a:moveTo>
                    <a:cubicBezTo>
                      <a:pt x="4047" y="2258"/>
                      <a:pt x="9522" y="-1"/>
                      <a:pt x="15230" y="0"/>
                    </a:cubicBezTo>
                    <a:cubicBezTo>
                      <a:pt x="27159" y="0"/>
                      <a:pt x="36830" y="9670"/>
                      <a:pt x="36830" y="21600"/>
                    </a:cubicBezTo>
                    <a:cubicBezTo>
                      <a:pt x="36830" y="21835"/>
                      <a:pt x="36826" y="22070"/>
                      <a:pt x="36818" y="22304"/>
                    </a:cubicBezTo>
                    <a:lnTo>
                      <a:pt x="1523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3" name="Arc 127"/>
              <p:cNvSpPr>
                <a:spLocks/>
              </p:cNvSpPr>
              <p:nvPr/>
            </p:nvSpPr>
            <p:spPr bwMode="hidden">
              <a:xfrm flipH="1">
                <a:off x="3425" y="123"/>
                <a:ext cx="725" cy="903"/>
              </a:xfrm>
              <a:custGeom>
                <a:avLst/>
                <a:gdLst>
                  <a:gd name="G0" fmla="+- 18231 0 0"/>
                  <a:gd name="G1" fmla="+- 21600 0 0"/>
                  <a:gd name="G2" fmla="+- 21600 0 0"/>
                  <a:gd name="T0" fmla="*/ 0 w 31881"/>
                  <a:gd name="T1" fmla="*/ 10016 h 21600"/>
                  <a:gd name="T2" fmla="*/ 31881 w 31881"/>
                  <a:gd name="T3" fmla="*/ 4860 h 21600"/>
                  <a:gd name="T4" fmla="*/ 18231 w 3188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81" h="21600" fill="none" extrusionOk="0">
                    <a:moveTo>
                      <a:pt x="-1" y="10015"/>
                    </a:moveTo>
                    <a:cubicBezTo>
                      <a:pt x="3963" y="3778"/>
                      <a:pt x="10840" y="-1"/>
                      <a:pt x="18231" y="0"/>
                    </a:cubicBezTo>
                    <a:cubicBezTo>
                      <a:pt x="23204" y="0"/>
                      <a:pt x="28026" y="1716"/>
                      <a:pt x="31881" y="4859"/>
                    </a:cubicBezTo>
                  </a:path>
                  <a:path w="31881" h="21600" stroke="0" extrusionOk="0">
                    <a:moveTo>
                      <a:pt x="-1" y="10015"/>
                    </a:moveTo>
                    <a:cubicBezTo>
                      <a:pt x="3963" y="3778"/>
                      <a:pt x="10840" y="-1"/>
                      <a:pt x="18231" y="0"/>
                    </a:cubicBezTo>
                    <a:cubicBezTo>
                      <a:pt x="23204" y="0"/>
                      <a:pt x="28026" y="1716"/>
                      <a:pt x="31881" y="4859"/>
                    </a:cubicBezTo>
                    <a:lnTo>
                      <a:pt x="18231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4" name="Arc 128"/>
              <p:cNvSpPr>
                <a:spLocks/>
              </p:cNvSpPr>
              <p:nvPr/>
            </p:nvSpPr>
            <p:spPr bwMode="hidden">
              <a:xfrm>
                <a:off x="4199" y="502"/>
                <a:ext cx="299" cy="904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1146"/>
                  <a:gd name="T1" fmla="*/ 4512 h 21600"/>
                  <a:gd name="T2" fmla="*/ 31146 w 31146"/>
                  <a:gd name="T3" fmla="*/ 9561 h 21600"/>
                  <a:gd name="T4" fmla="*/ 13212 w 31146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146" h="21600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0409" y="0"/>
                      <a:pt x="27134" y="3585"/>
                      <a:pt x="31145" y="9561"/>
                    </a:cubicBezTo>
                  </a:path>
                  <a:path w="31146" h="21600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0409" y="0"/>
                      <a:pt x="27134" y="3585"/>
                      <a:pt x="31145" y="9561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5" name="Freeform 129"/>
              <p:cNvSpPr>
                <a:spLocks/>
              </p:cNvSpPr>
              <p:nvPr/>
            </p:nvSpPr>
            <p:spPr bwMode="hidden">
              <a:xfrm flipH="1">
                <a:off x="3307" y="982"/>
                <a:ext cx="425" cy="59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6" name="Freeform 130"/>
              <p:cNvSpPr>
                <a:spLocks/>
              </p:cNvSpPr>
              <p:nvPr/>
            </p:nvSpPr>
            <p:spPr bwMode="hidden">
              <a:xfrm flipH="1">
                <a:off x="3507" y="350"/>
                <a:ext cx="273" cy="598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7" name="Freeform 131"/>
              <p:cNvSpPr>
                <a:spLocks/>
              </p:cNvSpPr>
              <p:nvPr/>
            </p:nvSpPr>
            <p:spPr bwMode="hidden">
              <a:xfrm flipH="1">
                <a:off x="3821" y="172"/>
                <a:ext cx="164" cy="59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8" name="Freeform 132"/>
              <p:cNvSpPr>
                <a:spLocks/>
              </p:cNvSpPr>
              <p:nvPr/>
            </p:nvSpPr>
            <p:spPr bwMode="hidden">
              <a:xfrm>
                <a:off x="4841" y="894"/>
                <a:ext cx="395" cy="628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69" name="Freeform 133"/>
              <p:cNvSpPr>
                <a:spLocks/>
              </p:cNvSpPr>
              <p:nvPr/>
            </p:nvSpPr>
            <p:spPr bwMode="hidden">
              <a:xfrm>
                <a:off x="4636" y="576"/>
                <a:ext cx="595" cy="41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70" name="Freeform 134"/>
              <p:cNvSpPr>
                <a:spLocks/>
              </p:cNvSpPr>
              <p:nvPr/>
            </p:nvSpPr>
            <p:spPr bwMode="hidden">
              <a:xfrm>
                <a:off x="4658" y="132"/>
                <a:ext cx="260" cy="562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71" name="Freeform 135"/>
              <p:cNvSpPr>
                <a:spLocks/>
              </p:cNvSpPr>
              <p:nvPr/>
            </p:nvSpPr>
            <p:spPr bwMode="hidden">
              <a:xfrm rot="20253369">
                <a:off x="4401" y="599"/>
                <a:ext cx="174" cy="32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472" name="Freeform 136"/>
              <p:cNvSpPr>
                <a:spLocks/>
              </p:cNvSpPr>
              <p:nvPr/>
            </p:nvSpPr>
            <p:spPr bwMode="hidden">
              <a:xfrm rot="1346631" flipH="1">
                <a:off x="3783" y="590"/>
                <a:ext cx="173" cy="32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4473" name="Rectangle 13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1625"/>
            <a:ext cx="7772400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4474" name="Rectangle 13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475" name="Rectangle 1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14476" name="Rectangle 14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14477" name="Rectangle 1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FE737F0-66C0-4159-9215-52B26339A25E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−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VISN 23 CHRONIC DISEASE COLLABORATIVE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AN APPROACH TO POPULATION CARE MANAGEMENT</a:t>
            </a:r>
          </a:p>
          <a:p>
            <a:pPr>
              <a:lnSpc>
                <a:spcPct val="80000"/>
              </a:lnSpc>
            </a:pPr>
            <a:endParaRPr lang="en-US" sz="1800"/>
          </a:p>
          <a:p>
            <a:pPr>
              <a:lnSpc>
                <a:spcPct val="80000"/>
              </a:lnSpc>
            </a:pPr>
            <a:r>
              <a:rPr lang="en-US" sz="1000"/>
              <a:t>DARYL S. DICKSON MD</a:t>
            </a:r>
          </a:p>
          <a:p>
            <a:pPr>
              <a:lnSpc>
                <a:spcPct val="80000"/>
              </a:lnSpc>
            </a:pPr>
            <a:r>
              <a:rPr lang="en-US" sz="1000"/>
              <a:t>PRIMARY CARE SITE MANAGER</a:t>
            </a:r>
          </a:p>
          <a:p>
            <a:pPr>
              <a:lnSpc>
                <a:spcPct val="80000"/>
              </a:lnSpc>
            </a:pPr>
            <a:r>
              <a:rPr lang="en-US" sz="1000"/>
              <a:t>RAPID CITY VA CLINIC</a:t>
            </a:r>
          </a:p>
          <a:p>
            <a:pPr>
              <a:lnSpc>
                <a:spcPct val="80000"/>
              </a:lnSpc>
            </a:pPr>
            <a:r>
              <a:rPr lang="en-US" sz="1000"/>
              <a:t>VA BLACK HILLS HEALTH CARE SYSTEM CBOC</a:t>
            </a:r>
          </a:p>
          <a:p>
            <a:pPr>
              <a:lnSpc>
                <a:spcPct val="80000"/>
              </a:lnSpc>
            </a:pPr>
            <a:r>
              <a:rPr lang="en-US" sz="1000"/>
              <a:t>07/09/07</a:t>
            </a:r>
          </a:p>
          <a:p>
            <a:pPr>
              <a:lnSpc>
                <a:spcPct val="80000"/>
              </a:lnSpc>
            </a:pPr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VISN 23 NETWORK LEADERSHIP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ROBERT A. PETZEL MD—NETWORK DIRECTOR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/>
          </a:p>
          <a:p>
            <a:pPr>
              <a:lnSpc>
                <a:spcPct val="90000"/>
              </a:lnSpc>
            </a:pPr>
            <a:r>
              <a:rPr lang="en-US" sz="2400"/>
              <a:t>BARRY GRAHAM MD—NETWORK CMO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/>
          </a:p>
          <a:p>
            <a:pPr>
              <a:lnSpc>
                <a:spcPct val="90000"/>
              </a:lnSpc>
            </a:pPr>
            <a:r>
              <a:rPr lang="en-US" sz="2400"/>
              <a:t>JANET P. MURPHY MBA—NETWORK PRIMARY AND SPECIALTY MEDICINE SERVICE LINE CEO—</a:t>
            </a:r>
            <a:r>
              <a:rPr lang="en-US" sz="2400" b="1"/>
              <a:t>COLLABORATIVE</a:t>
            </a:r>
            <a:r>
              <a:rPr lang="en-US" sz="2400"/>
              <a:t> </a:t>
            </a:r>
            <a:r>
              <a:rPr lang="en-US" sz="2400" b="1"/>
              <a:t>DIRECTOR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b="1"/>
          </a:p>
          <a:p>
            <a:pPr>
              <a:lnSpc>
                <a:spcPct val="90000"/>
              </a:lnSpc>
            </a:pPr>
            <a:r>
              <a:rPr lang="en-US" sz="2400"/>
              <a:t>TERRY WAHLS MD—PRIMARY AND SPECIALTY MEDICINE NETWORK MEDICAL DIRECTOR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CHRONIC DISEASE COLLABORATIVE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18 MONTH DURATION—STARTED IN APRIL 2006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4 FACE-TO-FACE LEARNING SESSIONS—MOST RECENT SESSION (L.S.#3) MAY 2007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800"/>
          </a:p>
          <a:p>
            <a:pPr>
              <a:lnSpc>
                <a:spcPct val="90000"/>
              </a:lnSpc>
            </a:pPr>
            <a:r>
              <a:rPr lang="en-US" sz="2800"/>
              <a:t>3 ACTION PERIODS BETWEEN LEARNING SESSIONS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FOCUS OF COLLABORATIVE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Diabetes Mellitus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COPD</a:t>
            </a:r>
          </a:p>
          <a:p>
            <a:pPr>
              <a:buFontTx/>
              <a:buNone/>
            </a:pPr>
            <a:endParaRPr lang="en-US"/>
          </a:p>
          <a:p>
            <a:r>
              <a:rPr lang="en-US" sz="4400" b="1"/>
              <a:t>CHF</a:t>
            </a:r>
            <a:r>
              <a:rPr lang="en-US"/>
              <a:t>—SUBJECT MATTER EXPERT DR. I. ANAND—MINNEAPOLIS VA CARDIOLOGY</a:t>
            </a:r>
            <a:endParaRPr lang="en-US" sz="4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CHRONIC CARE MODEL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Based on Wagner’s Chronic Care Model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Incorporates VA care, Community care, and encourages patients to take a more active role in their daily disease management.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CHF GOAL OF COLLABORATIVE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/>
              <a:t>IDENTIFY PATIENTS WHO QUALIFY FOR THE COLLABORATIVE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800"/>
          </a:p>
          <a:p>
            <a:pPr>
              <a:lnSpc>
                <a:spcPct val="80000"/>
              </a:lnSpc>
            </a:pPr>
            <a:r>
              <a:rPr lang="en-US" sz="2800"/>
              <a:t>ASSURE CORRECT DIAGNOSIS BASED UPON SET CRITERIA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800"/>
          </a:p>
          <a:p>
            <a:pPr>
              <a:lnSpc>
                <a:spcPct val="80000"/>
              </a:lnSpc>
            </a:pPr>
            <a:r>
              <a:rPr lang="en-US" sz="2800"/>
              <a:t>CHF CRITERIA BASED UPON NYHA CHF CRITERIA AND ACC STAGING WITH EJECTION FRACTION CONFIRMATION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CHF GOAL OF COLLABORATIVE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DECREASE HOSPITAL ADMISSIONS FOR CONGESTIVE HEART FAILURE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/>
          </a:p>
          <a:p>
            <a:pPr>
              <a:lnSpc>
                <a:spcPct val="90000"/>
              </a:lnSpc>
            </a:pPr>
            <a:r>
              <a:rPr lang="en-US" sz="2400"/>
              <a:t>DECREASE EMERGENCY ROOM AND URGENT CARE VISITS OF PATIENTS FOR CONGESTIVE HEART FAILURE SYMPTOMS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/>
          </a:p>
          <a:p>
            <a:pPr>
              <a:lnSpc>
                <a:spcPct val="90000"/>
              </a:lnSpc>
            </a:pPr>
            <a:r>
              <a:rPr lang="en-US" sz="2400"/>
              <a:t>IMPROVE QUALITY OF LIFE FOR PATIENTS WITH CONGESTIVE HEART FAILURE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PROVIDED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1.CHRONIC DISEASE MANAGEMENT          	 PATIENT REGISTRIES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/>
          </a:p>
          <a:p>
            <a:pPr lvl="1">
              <a:lnSpc>
                <a:spcPct val="80000"/>
              </a:lnSpc>
            </a:pPr>
            <a:r>
              <a:rPr lang="en-US" sz="2000"/>
              <a:t>CREATED BY DSS FOR TRACKING PURPOSES—PATIENT IDENTIFICATION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2000"/>
          </a:p>
          <a:p>
            <a:pPr lvl="1">
              <a:lnSpc>
                <a:spcPct val="80000"/>
              </a:lnSpc>
            </a:pPr>
            <a:r>
              <a:rPr lang="en-US" sz="2000"/>
              <a:t>EACH CHRONIC DISEASE HAS ITS OWN REGISTRY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2000"/>
          </a:p>
          <a:p>
            <a:pPr lvl="1">
              <a:lnSpc>
                <a:spcPct val="80000"/>
              </a:lnSpc>
            </a:pPr>
            <a:r>
              <a:rPr lang="en-US" sz="2000"/>
              <a:t>CHF REGISTRY BASED UPON PROBLEM LIST AND DISCHARGE DIAGNOSIS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2000"/>
              <a:t> </a:t>
            </a:r>
          </a:p>
          <a:p>
            <a:pPr lvl="1">
              <a:lnSpc>
                <a:spcPct val="80000"/>
              </a:lnSpc>
            </a:pPr>
            <a:r>
              <a:rPr lang="en-US" sz="2000"/>
              <a:t>REGISTRIES ARE FACILITY (DIVISION SPECIFIC) AND CAN BE BROKEN DOWN TO PRIMARY CARE PROVIDER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PROVIDED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000"/>
              <a:t>2. CHRONIC DISEASE CASE MANAGERS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/>
          </a:p>
          <a:p>
            <a:pPr lvl="1">
              <a:lnSpc>
                <a:spcPct val="80000"/>
              </a:lnSpc>
            </a:pPr>
            <a:r>
              <a:rPr lang="en-US" sz="1800"/>
              <a:t>EACH FACILITY PROVIDED FTEE THROUGH NETWORK RESOURCES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1800"/>
          </a:p>
          <a:p>
            <a:pPr lvl="1">
              <a:lnSpc>
                <a:spcPct val="80000"/>
              </a:lnSpc>
            </a:pPr>
            <a:r>
              <a:rPr lang="en-US" sz="1800"/>
              <a:t>CASE MANAGERS ARE MAINLY RNs BUT SOMETIMES DISEASE SPECIFIC INDIVIDUALS (RT) FOR COPD AND OR CDE FOR DIABETES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1800"/>
          </a:p>
          <a:p>
            <a:pPr lvl="1">
              <a:lnSpc>
                <a:spcPct val="80000"/>
              </a:lnSpc>
            </a:pPr>
            <a:r>
              <a:rPr lang="en-US" sz="1800"/>
              <a:t>HOW TO USE CASE MANAGERS WAS DETERMINED BY FACILITIES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US" sz="1800"/>
          </a:p>
          <a:p>
            <a:pPr lvl="1">
              <a:lnSpc>
                <a:spcPct val="80000"/>
              </a:lnSpc>
            </a:pPr>
            <a:r>
              <a:rPr lang="en-US" sz="1800"/>
              <a:t>CASE MANAGERS BECAME PRIMARY CARE CCHT(CHRONIC CARE HOME TELEHEALTH) “EXPERTS”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PROVIDED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3. CDM HEALTH FACTOR TEMPLATES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000"/>
              <a:t>TEMPLATED PROGRESS NOTE TO HELP OPTIMIZE CHRONIC DISEASE CARE BY PROVIDERS FOR EACH COLLABORATIVE DISEASE STATE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2000"/>
          </a:p>
          <a:p>
            <a:pPr lvl="1">
              <a:lnSpc>
                <a:spcPct val="90000"/>
              </a:lnSpc>
            </a:pPr>
            <a:r>
              <a:rPr lang="en-US" sz="2000"/>
              <a:t>HELPS TO TRACK IMPROVEMENT OF PATIENT CARE WITH ESTABISHED STANDARDS OF CARE AS RECOMMENDED BY ACC AND AHA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sz="2000"/>
          </a:p>
          <a:p>
            <a:pPr lvl="1">
              <a:lnSpc>
                <a:spcPct val="90000"/>
              </a:lnSpc>
            </a:pPr>
            <a:r>
              <a:rPr lang="en-US" sz="2000"/>
              <a:t>ACTS AS A REMINDERS TO PROVIDERS OF HOW TO OPTIMIZE CARE FOR PATIENTS WITH CHF AND OTHER DISEASE STATES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CDM HEALTH FACTOR TEMPLATES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1371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LESSIONS LEARNED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/>
              <a:t>GREATEST AMOUNT OF IMPROVEMENT IN PATIENT CARE OCCURS WHEN STAFF CAN FOCUS ON IMPROVEMENT GOALS (CASE MANAGERS ARE INVOLVED IN PATIENTS’ CARE)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/>
          </a:p>
          <a:p>
            <a:pPr>
              <a:lnSpc>
                <a:spcPct val="80000"/>
              </a:lnSpc>
            </a:pPr>
            <a:r>
              <a:rPr lang="en-US" sz="2000"/>
              <a:t>PROVIDERS ARE REMINDED REGULARLY OF COLLABORATIVE EFFORTS (STAFF MEETINGS)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/>
          </a:p>
          <a:p>
            <a:pPr>
              <a:lnSpc>
                <a:spcPct val="80000"/>
              </a:lnSpc>
            </a:pPr>
            <a:r>
              <a:rPr lang="en-US" sz="2000"/>
              <a:t>STAFF REMAIN “ENGAGED” IN COLLABORATIVE EFFORTS (STAFF MEETING DISCUSSIONS)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/>
          </a:p>
          <a:p>
            <a:pPr>
              <a:lnSpc>
                <a:spcPct val="80000"/>
              </a:lnSpc>
            </a:pPr>
            <a:r>
              <a:rPr lang="en-US" sz="2000"/>
              <a:t>PATIENTS TAKE AN ACTIVE ROLL IN THEIR HEALTH CARE/DISEASE MANAGEMENT </a:t>
            </a:r>
          </a:p>
          <a:p>
            <a:pPr>
              <a:lnSpc>
                <a:spcPct val="80000"/>
              </a:lnSpc>
            </a:pP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QUESTIONS?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914400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ireworks">
  <a:themeElements>
    <a:clrScheme name="Fireworks 1">
      <a:dk1>
        <a:srgbClr val="AF273E"/>
      </a:dk1>
      <a:lt1>
        <a:srgbClr val="FFCC00"/>
      </a:lt1>
      <a:dk2>
        <a:srgbClr val="000000"/>
      </a:dk2>
      <a:lt2>
        <a:srgbClr val="FFFFFF"/>
      </a:lt2>
      <a:accent1>
        <a:srgbClr val="FF8B17"/>
      </a:accent1>
      <a:accent2>
        <a:srgbClr val="FFE103"/>
      </a:accent2>
      <a:accent3>
        <a:srgbClr val="AAAAAA"/>
      </a:accent3>
      <a:accent4>
        <a:srgbClr val="DAAE00"/>
      </a:accent4>
      <a:accent5>
        <a:srgbClr val="FFC4AB"/>
      </a:accent5>
      <a:accent6>
        <a:srgbClr val="E7CC02"/>
      </a:accent6>
      <a:hlink>
        <a:srgbClr val="FF3399"/>
      </a:hlink>
      <a:folHlink>
        <a:srgbClr val="FE1F08"/>
      </a:folHlink>
    </a:clrScheme>
    <a:fontScheme name="Fireworks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lnDef>
  </a:objectDefaults>
  <a:extraClrSchemeLst>
    <a:extraClrScheme>
      <a:clrScheme name="Fireworks 1">
        <a:dk1>
          <a:srgbClr val="AF273E"/>
        </a:dk1>
        <a:lt1>
          <a:srgbClr val="FFCC00"/>
        </a:lt1>
        <a:dk2>
          <a:srgbClr val="000000"/>
        </a:dk2>
        <a:lt2>
          <a:srgbClr val="FFFFFF"/>
        </a:lt2>
        <a:accent1>
          <a:srgbClr val="FF8B17"/>
        </a:accent1>
        <a:accent2>
          <a:srgbClr val="FFE103"/>
        </a:accent2>
        <a:accent3>
          <a:srgbClr val="AAAAAA"/>
        </a:accent3>
        <a:accent4>
          <a:srgbClr val="DAAE00"/>
        </a:accent4>
        <a:accent5>
          <a:srgbClr val="FFC4AB"/>
        </a:accent5>
        <a:accent6>
          <a:srgbClr val="E7CC02"/>
        </a:accent6>
        <a:hlink>
          <a:srgbClr val="FF3399"/>
        </a:hlink>
        <a:folHlink>
          <a:srgbClr val="FE1F0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2">
        <a:dk1>
          <a:srgbClr val="0000A4"/>
        </a:dk1>
        <a:lt1>
          <a:srgbClr val="CCFFFF"/>
        </a:lt1>
        <a:dk2>
          <a:srgbClr val="000066"/>
        </a:dk2>
        <a:lt2>
          <a:srgbClr val="00FFFF"/>
        </a:lt2>
        <a:accent1>
          <a:srgbClr val="51B2E3"/>
        </a:accent1>
        <a:accent2>
          <a:srgbClr val="04E8AC"/>
        </a:accent2>
        <a:accent3>
          <a:srgbClr val="AAAAB8"/>
        </a:accent3>
        <a:accent4>
          <a:srgbClr val="AEDADA"/>
        </a:accent4>
        <a:accent5>
          <a:srgbClr val="B3D5EF"/>
        </a:accent5>
        <a:accent6>
          <a:srgbClr val="03D29B"/>
        </a:accent6>
        <a:hlink>
          <a:srgbClr val="FF3399"/>
        </a:hlink>
        <a:folHlink>
          <a:srgbClr val="8F5FD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3">
        <a:dk1>
          <a:srgbClr val="9F237F"/>
        </a:dk1>
        <a:lt1>
          <a:srgbClr val="FFCC00"/>
        </a:lt1>
        <a:dk2>
          <a:srgbClr val="000000"/>
        </a:dk2>
        <a:lt2>
          <a:srgbClr val="FFFFFF"/>
        </a:lt2>
        <a:accent1>
          <a:srgbClr val="39A6DD"/>
        </a:accent1>
        <a:accent2>
          <a:srgbClr val="FF03E7"/>
        </a:accent2>
        <a:accent3>
          <a:srgbClr val="AAAAAA"/>
        </a:accent3>
        <a:accent4>
          <a:srgbClr val="DAAE00"/>
        </a:accent4>
        <a:accent5>
          <a:srgbClr val="AED0EB"/>
        </a:accent5>
        <a:accent6>
          <a:srgbClr val="E702D1"/>
        </a:accent6>
        <a:hlink>
          <a:srgbClr val="FF3399"/>
        </a:hlink>
        <a:folHlink>
          <a:srgbClr val="753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4">
        <a:dk1>
          <a:srgbClr val="00603B"/>
        </a:dk1>
        <a:lt1>
          <a:srgbClr val="FFCC00"/>
        </a:lt1>
        <a:dk2>
          <a:srgbClr val="000000"/>
        </a:dk2>
        <a:lt2>
          <a:srgbClr val="FFFFFF"/>
        </a:lt2>
        <a:accent1>
          <a:srgbClr val="39A6DD"/>
        </a:accent1>
        <a:accent2>
          <a:srgbClr val="07FB18"/>
        </a:accent2>
        <a:accent3>
          <a:srgbClr val="AAAAAA"/>
        </a:accent3>
        <a:accent4>
          <a:srgbClr val="DAAE00"/>
        </a:accent4>
        <a:accent5>
          <a:srgbClr val="AED0EB"/>
        </a:accent5>
        <a:accent6>
          <a:srgbClr val="06E315"/>
        </a:accent6>
        <a:hlink>
          <a:srgbClr val="FF3399"/>
        </a:hlink>
        <a:folHlink>
          <a:srgbClr val="753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5">
        <a:dk1>
          <a:srgbClr val="FF6600"/>
        </a:dk1>
        <a:lt1>
          <a:srgbClr val="FFFFFF"/>
        </a:lt1>
        <a:dk2>
          <a:srgbClr val="003366"/>
        </a:dk2>
        <a:lt2>
          <a:srgbClr val="FFFFFF"/>
        </a:lt2>
        <a:accent1>
          <a:srgbClr val="FF99FF"/>
        </a:accent1>
        <a:accent2>
          <a:srgbClr val="FFFF99"/>
        </a:accent2>
        <a:accent3>
          <a:srgbClr val="AAADB8"/>
        </a:accent3>
        <a:accent4>
          <a:srgbClr val="DADADA"/>
        </a:accent4>
        <a:accent5>
          <a:srgbClr val="FFCAFF"/>
        </a:accent5>
        <a:accent6>
          <a:srgbClr val="E7E78A"/>
        </a:accent6>
        <a:hlink>
          <a:srgbClr val="FF33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6">
        <a:dk1>
          <a:srgbClr val="000000"/>
        </a:dk1>
        <a:lt1>
          <a:srgbClr val="FFFFFF"/>
        </a:lt1>
        <a:dk2>
          <a:srgbClr val="993366"/>
        </a:dk2>
        <a:lt2>
          <a:srgbClr val="CCFFFF"/>
        </a:lt2>
        <a:accent1>
          <a:srgbClr val="CCECFF"/>
        </a:accent1>
        <a:accent2>
          <a:srgbClr val="FFFF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8A"/>
        </a:accent6>
        <a:hlink>
          <a:srgbClr val="FF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Fireworks</Template>
  <TotalTime>267</TotalTime>
  <Words>830</Words>
  <Application>Microsoft Office PowerPoint</Application>
  <PresentationFormat>On-screen Show (4:3)</PresentationFormat>
  <Paragraphs>179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Times New Roman</vt:lpstr>
      <vt:lpstr>Wingdings</vt:lpstr>
      <vt:lpstr>Fireworks</vt:lpstr>
      <vt:lpstr>VISN 23 CHRONIC DISEASE COLLABORATIVE</vt:lpstr>
      <vt:lpstr>VISN 23 NETWORK LEADERSHIP</vt:lpstr>
      <vt:lpstr>CHRONIC DISEASE COLLABORATIVE</vt:lpstr>
      <vt:lpstr>FOCUS OF COLLABORATIVE</vt:lpstr>
      <vt:lpstr>CHRONIC CARE MODEL</vt:lpstr>
      <vt:lpstr>Slide 6</vt:lpstr>
      <vt:lpstr>OVERALL CHF GOAL OF COLLABORATIVE</vt:lpstr>
      <vt:lpstr>OVERALL CHF GOAL OF COLLABORATIVE</vt:lpstr>
      <vt:lpstr>TOOLS PROVIDED</vt:lpstr>
      <vt:lpstr>TOOLS PROVIDED</vt:lpstr>
      <vt:lpstr>TOOLS PROVIDED</vt:lpstr>
      <vt:lpstr>CDM HEALTH FACTOR TEMPLATES</vt:lpstr>
      <vt:lpstr>Slide 13</vt:lpstr>
      <vt:lpstr>Slide 14</vt:lpstr>
      <vt:lpstr>Slide 15</vt:lpstr>
      <vt:lpstr>LESSIONS LEARNED</vt:lpstr>
      <vt:lpstr>QUESTIONS?</vt:lpstr>
    </vt:vector>
  </TitlesOfParts>
  <Company>BHHCS-FM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VISN 23 CHRONIC DISEASE COLLABORATIVE</dc:title>
  <dc:creator>Daryl S. Dickson</dc:creator>
  <cp:lastModifiedBy>vhapalsahaya</cp:lastModifiedBy>
  <cp:revision>29</cp:revision>
  <dcterms:created xsi:type="dcterms:W3CDTF">2007-07-06T03:05:50Z</dcterms:created>
  <dcterms:modified xsi:type="dcterms:W3CDTF">2007-11-01T22:44:07Z</dcterms:modified>
</cp:coreProperties>
</file>