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4" r:id="rId5"/>
    <p:sldId id="261" r:id="rId6"/>
    <p:sldId id="262" r:id="rId7"/>
    <p:sldId id="259" r:id="rId8"/>
    <p:sldId id="272" r:id="rId9"/>
    <p:sldId id="278" r:id="rId10"/>
    <p:sldId id="273" r:id="rId11"/>
    <p:sldId id="274" r:id="rId12"/>
    <p:sldId id="275" r:id="rId13"/>
    <p:sldId id="276" r:id="rId14"/>
    <p:sldId id="277" r:id="rId15"/>
    <p:sldId id="271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EB6"/>
    <a:srgbClr val="99CCFF"/>
    <a:srgbClr val="FFFF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A014B-3907-4EDB-B727-05145C23E24C}" type="datetimeFigureOut">
              <a:rPr lang="en-US" smtClean="0"/>
              <a:pPr/>
              <a:t>9/10/2008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54EEC-D207-472B-BCF1-1761191B93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gif"/><Relationship Id="rId4" Type="http://schemas.openxmlformats.org/officeDocument/2006/relationships/image" Target="../media/image17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3.gif"/><Relationship Id="rId5" Type="http://schemas.openxmlformats.org/officeDocument/2006/relationships/image" Target="../media/image22.gif"/><Relationship Id="rId4" Type="http://schemas.openxmlformats.org/officeDocument/2006/relationships/image" Target="../media/image2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6.gif"/><Relationship Id="rId4" Type="http://schemas.openxmlformats.org/officeDocument/2006/relationships/image" Target="../media/image25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.gif"/><Relationship Id="rId5" Type="http://schemas.openxmlformats.org/officeDocument/2006/relationships/image" Target="../media/image27.gi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0200" y="2057400"/>
            <a:ext cx="5301452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Systematic Uncertainties</a:t>
            </a:r>
          </a:p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Vipuli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Dharmawardane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(NMSU)</a:t>
            </a:r>
          </a:p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CNI meeting</a:t>
            </a:r>
          </a:p>
          <a:p>
            <a:pPr algn="ctr"/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Sep 11</a:t>
            </a:r>
            <a:r>
              <a:rPr lang="en-US" sz="2800" i="1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2008</a:t>
            </a:r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62000" y="304800"/>
            <a:ext cx="757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Uncertainties due to polarization profile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1" y="1219200"/>
            <a:ext cx="7924800" cy="48936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Same approach as run 6</a:t>
            </a: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determination  &lt; 0.2%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Scan is not continuous → We may miss the maximum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Target vibrations  (flat profiles) &lt;1%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Simulations done by Sasha → Uncertainty is negligible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Assumption that the profiles are Gaussian  &lt; 0.5%</a:t>
            </a: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 distributions for vertical/horizontal profile </a:t>
            </a:r>
          </a:p>
          <a:p>
            <a:pPr>
              <a:buClr>
                <a:srgbClr val="FF0000"/>
              </a:buClr>
              <a:buSzPct val="125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Studied the variation in R</a:t>
            </a:r>
          </a:p>
          <a:p>
            <a:pPr>
              <a:buClr>
                <a:srgbClr val="FF0000"/>
              </a:buClr>
              <a:buSzPct val="125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Blue we have both vertical and horizontal scans</a:t>
            </a:r>
          </a:p>
          <a:p>
            <a:pPr>
              <a:buClr>
                <a:srgbClr val="FF0000"/>
              </a:buClr>
              <a:buSzPct val="125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Yellow we only have horizontal scans   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rot="16200000">
            <a:off x="7354225" y="2780375"/>
            <a:ext cx="2364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TOTAL &lt; ≈ 1.1%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7924800" y="1676400"/>
            <a:ext cx="304800" cy="25146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>
            <a:off x="7848600" y="4648200"/>
            <a:ext cx="228600" cy="1524000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7741532" y="4983868"/>
            <a:ext cx="15023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 8 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SPECIFIC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228600"/>
            <a:ext cx="71790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 descr="Fill_V_Lum990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4400"/>
            <a:ext cx="3314700" cy="3200400"/>
          </a:xfrm>
          <a:prstGeom prst="rect">
            <a:avLst/>
          </a:prstGeom>
        </p:spPr>
      </p:pic>
      <p:pic>
        <p:nvPicPr>
          <p:cNvPr id="8" name="Picture 7" descr="Fill_V_Pol990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990600"/>
            <a:ext cx="3314700" cy="320040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16200000" flipV="1">
            <a:off x="6633385" y="3272615"/>
            <a:ext cx="386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HORIZONTAL SCANS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1" descr="Pmax_V_yellow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95762"/>
            <a:ext cx="4000500" cy="2662238"/>
          </a:xfrm>
          <a:prstGeom prst="rect">
            <a:avLst/>
          </a:prstGeom>
        </p:spPr>
      </p:pic>
      <p:pic>
        <p:nvPicPr>
          <p:cNvPr id="13" name="Picture 12" descr="R_V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195762"/>
            <a:ext cx="4000500" cy="2662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6286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5400000">
            <a:off x="7496334" y="2104866"/>
            <a:ext cx="2323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VERTICAL SCANS</a:t>
            </a:r>
            <a:endParaRPr lang="en-US" sz="20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5400000">
            <a:off x="7273677" y="5070723"/>
            <a:ext cx="2769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HORIZONTAL  SCANS</a:t>
            </a:r>
            <a:endParaRPr lang="en-US" sz="20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1" descr="Pmax_H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4000500" cy="2662238"/>
          </a:xfrm>
          <a:prstGeom prst="rect">
            <a:avLst/>
          </a:prstGeom>
        </p:spPr>
      </p:pic>
      <p:pic>
        <p:nvPicPr>
          <p:cNvPr id="14" name="Picture 13" descr="R_H_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990600"/>
            <a:ext cx="4000500" cy="2662238"/>
          </a:xfrm>
          <a:prstGeom prst="rect">
            <a:avLst/>
          </a:prstGeom>
        </p:spPr>
      </p:pic>
      <p:pic>
        <p:nvPicPr>
          <p:cNvPr id="17" name="Picture 16" descr="Pmax_V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95762"/>
            <a:ext cx="4000500" cy="2662238"/>
          </a:xfrm>
          <a:prstGeom prst="rect">
            <a:avLst/>
          </a:prstGeom>
        </p:spPr>
      </p:pic>
      <p:pic>
        <p:nvPicPr>
          <p:cNvPr id="18" name="Picture 17" descr="R_V_blue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4195762"/>
            <a:ext cx="4000500" cy="2662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228600"/>
            <a:ext cx="8712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Uncertainties due to polarization profile -Blue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Hist_Rdist_H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71600"/>
            <a:ext cx="3195638" cy="2662238"/>
          </a:xfrm>
          <a:prstGeom prst="rect">
            <a:avLst/>
          </a:prstGeom>
        </p:spPr>
      </p:pic>
      <p:pic>
        <p:nvPicPr>
          <p:cNvPr id="9" name="Picture 8" descr="Hist_Rdist_V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62400"/>
            <a:ext cx="3195638" cy="2662238"/>
          </a:xfrm>
          <a:prstGeom prst="rect">
            <a:avLst/>
          </a:prstGeom>
        </p:spPr>
      </p:pic>
      <p:pic>
        <p:nvPicPr>
          <p:cNvPr id="10" name="Picture 9" descr="Hist_dRdist_H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371600"/>
            <a:ext cx="3195638" cy="2662238"/>
          </a:xfrm>
          <a:prstGeom prst="rect">
            <a:avLst/>
          </a:prstGeom>
        </p:spPr>
      </p:pic>
      <p:pic>
        <p:nvPicPr>
          <p:cNvPr id="11" name="Picture 10" descr="Hist_dRdist_VBlue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3962400"/>
            <a:ext cx="3195638" cy="26622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71800" y="2286000"/>
            <a:ext cx="1701043" cy="707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Vertical Scans </a:t>
            </a:r>
          </a:p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 →0.07-0.26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24200" y="4724400"/>
            <a:ext cx="1994970" cy="707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Horizontal Scans </a:t>
            </a:r>
          </a:p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R→0.04-0.24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10000" y="5791200"/>
            <a:ext cx="1444626" cy="707886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 average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0.15±0.11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1066800"/>
            <a:ext cx="1883849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81600" y="1066800"/>
            <a:ext cx="2036135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  <a:cs typeface="Times New Roman" pitchFamily="18" charset="0"/>
              </a:rPr>
              <a:t>d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2133600"/>
            <a:ext cx="205740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Global uncertainty is zero → R is known for  both vertical and  horizontal  scans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228600"/>
            <a:ext cx="9153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Uncertainties due to polarization profile -Yellow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5029200"/>
            <a:ext cx="4669292" cy="1384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No vertical scans for Yellow</a:t>
            </a:r>
          </a:p>
          <a:p>
            <a:r>
              <a:rPr lang="en-US" sz="2800" dirty="0" smtClean="0"/>
              <a:t>Assume 0-0.39 variation in  R ?</a:t>
            </a:r>
          </a:p>
          <a:p>
            <a:r>
              <a:rPr lang="en-US" sz="2800" dirty="0" smtClean="0"/>
              <a:t>Fill uncertainty R ≈ 0.08</a:t>
            </a:r>
            <a:endParaRPr lang="en-US" sz="2800" dirty="0"/>
          </a:p>
        </p:txBody>
      </p:sp>
      <p:pic>
        <p:nvPicPr>
          <p:cNvPr id="8" name="Picture 7" descr="Hist_Rdist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3834765" cy="3194685"/>
          </a:xfrm>
          <a:prstGeom prst="rect">
            <a:avLst/>
          </a:prstGeom>
        </p:spPr>
      </p:pic>
      <p:pic>
        <p:nvPicPr>
          <p:cNvPr id="9" name="Picture 8" descr="Hist_dRdist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371600"/>
            <a:ext cx="3834765" cy="3194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19400" y="2362200"/>
            <a:ext cx="199497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Horizontal Scans </a:t>
            </a:r>
          </a:p>
          <a:p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R→0.20-0.39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4400" y="1143000"/>
            <a:ext cx="2036135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itchFamily="18" charset="2"/>
                <a:cs typeface="Times New Roman" pitchFamily="18" charset="0"/>
              </a:rPr>
              <a:t>d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800" y="1219200"/>
            <a:ext cx="1883849" cy="461665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 distribution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90600" y="228600"/>
            <a:ext cx="5904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Uncertainty due to Dead Layer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DLave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3195638" cy="2662238"/>
          </a:xfrm>
          <a:prstGeom prst="rect">
            <a:avLst/>
          </a:prstGeom>
        </p:spPr>
      </p:pic>
      <p:pic>
        <p:nvPicPr>
          <p:cNvPr id="7" name="Picture 6" descr="Hist_DL_diff_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66800"/>
            <a:ext cx="3195638" cy="2662238"/>
          </a:xfrm>
          <a:prstGeom prst="rect">
            <a:avLst/>
          </a:prstGeom>
        </p:spPr>
      </p:pic>
      <p:pic>
        <p:nvPicPr>
          <p:cNvPr id="8" name="Picture 7" descr="DLave_yellow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810000"/>
            <a:ext cx="3195638" cy="2662238"/>
          </a:xfrm>
          <a:prstGeom prst="rect">
            <a:avLst/>
          </a:prstGeom>
        </p:spPr>
      </p:pic>
      <p:pic>
        <p:nvPicPr>
          <p:cNvPr id="9" name="Picture 8" descr="Hist_DL_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810000"/>
            <a:ext cx="3195638" cy="2662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76600" y="4419600"/>
            <a:ext cx="2116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Dead layer  variation</a:t>
            </a:r>
          </a:p>
          <a:p>
            <a:r>
              <a:rPr lang="en-US" dirty="0" smtClean="0"/>
              <a:t>within  ±4 </a:t>
            </a:r>
            <a:r>
              <a:rPr lang="en-US" dirty="0" smtClean="0">
                <a:latin typeface="Symbol" pitchFamily="18" charset="2"/>
              </a:rPr>
              <a:t>m</a:t>
            </a:r>
            <a:r>
              <a:rPr lang="en-US" dirty="0" smtClean="0"/>
              <a:t>g/cm</a:t>
            </a:r>
            <a:r>
              <a:rPr lang="en-US" baseline="30000" dirty="0" smtClean="0"/>
              <a:t>2</a:t>
            </a:r>
          </a:p>
          <a:p>
            <a:endParaRPr lang="en-US" dirty="0" smtClean="0"/>
          </a:p>
          <a:p>
            <a:r>
              <a:rPr lang="en-US" dirty="0" smtClean="0"/>
              <a:t>Polarization ±2.5%</a:t>
            </a:r>
            <a:endParaRPr lang="en-US" dirty="0"/>
          </a:p>
        </p:txBody>
      </p:sp>
      <p:sp>
        <p:nvSpPr>
          <p:cNvPr id="11" name="Down Arrow 10"/>
          <p:cNvSpPr/>
          <p:nvPr/>
        </p:nvSpPr>
        <p:spPr>
          <a:xfrm>
            <a:off x="3886200" y="5105400"/>
            <a:ext cx="609600" cy="152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429000" y="1752600"/>
            <a:ext cx="2109104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Fill to fill uncertainty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429000" y="2286000"/>
            <a:ext cx="2116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Dead layer  variation</a:t>
            </a:r>
          </a:p>
          <a:p>
            <a:r>
              <a:rPr lang="en-US" dirty="0" smtClean="0"/>
              <a:t>within  ±3 </a:t>
            </a:r>
            <a:r>
              <a:rPr lang="en-US" dirty="0" smtClean="0">
                <a:latin typeface="Symbol" pitchFamily="18" charset="2"/>
              </a:rPr>
              <a:t>m</a:t>
            </a:r>
            <a:r>
              <a:rPr lang="en-US" dirty="0" smtClean="0"/>
              <a:t>g/cm</a:t>
            </a:r>
            <a:r>
              <a:rPr lang="en-US" baseline="30000" dirty="0" smtClean="0"/>
              <a:t>2</a:t>
            </a:r>
          </a:p>
          <a:p>
            <a:endParaRPr lang="en-US" dirty="0" smtClean="0"/>
          </a:p>
          <a:p>
            <a:r>
              <a:rPr lang="en-US" dirty="0" smtClean="0"/>
              <a:t>Polarization ±1.8%</a:t>
            </a:r>
            <a:endParaRPr lang="en-US" dirty="0"/>
          </a:p>
        </p:txBody>
      </p:sp>
      <p:sp>
        <p:nvSpPr>
          <p:cNvPr id="14" name="Down Arrow 13"/>
          <p:cNvSpPr/>
          <p:nvPr/>
        </p:nvSpPr>
        <p:spPr>
          <a:xfrm>
            <a:off x="3962400" y="2971800"/>
            <a:ext cx="609600" cy="152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467600" y="1981200"/>
            <a:ext cx="15775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Fill uncertainty</a:t>
            </a:r>
          </a:p>
          <a:p>
            <a:r>
              <a:rPr lang="en-US" dirty="0" smtClean="0"/>
              <a:t>1.6*0.6 ≈ 1%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315200" y="4648200"/>
            <a:ext cx="157754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Fill uncertainty</a:t>
            </a:r>
          </a:p>
          <a:p>
            <a:r>
              <a:rPr lang="en-US" dirty="0" smtClean="0"/>
              <a:t>1.1*0.6 ≈ 0.7%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981200" y="304800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Uncertainties : Summary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717190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Fill to fill uncertainties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Horizontal/Vertical profile   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3.0%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4.5%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Energy correction/dead layer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1.0%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0.7%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Global uncertainties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Jet normalization, stat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Jet normalization (profile)   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1.1%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1.1%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Jet normalization, systematic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uncert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Pol. Profile (for experiments)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0.0%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??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Energy correction/deal layer                         </a:t>
            </a:r>
            <a:r>
              <a:rPr lang="en-US" sz="2200" dirty="0" smtClean="0">
                <a:solidFill>
                  <a:srgbClr val="0A1EB6"/>
                </a:solidFill>
                <a:latin typeface="Times New Roman" pitchFamily="18" charset="0"/>
                <a:cs typeface="Times New Roman" pitchFamily="18" charset="0"/>
              </a:rPr>
              <a:t>1.8%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2.5%</a:t>
            </a: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990600"/>
            <a:ext cx="9144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981200" y="304800"/>
            <a:ext cx="3480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OTHER PLOTS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4463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-609600" y="838200"/>
            <a:ext cx="6217170" cy="6019800"/>
            <a:chOff x="0" y="838200"/>
            <a:chExt cx="6217170" cy="6019800"/>
          </a:xfrm>
        </p:grpSpPr>
        <p:grpSp>
          <p:nvGrpSpPr>
            <p:cNvPr id="6" name="Group 20"/>
            <p:cNvGrpSpPr/>
            <p:nvPr/>
          </p:nvGrpSpPr>
          <p:grpSpPr>
            <a:xfrm>
              <a:off x="0" y="838200"/>
              <a:ext cx="6217170" cy="6019800"/>
              <a:chOff x="0" y="838200"/>
              <a:chExt cx="6217170" cy="6019800"/>
            </a:xfrm>
          </p:grpSpPr>
          <p:pic>
            <p:nvPicPr>
              <p:cNvPr id="5" name="Picture 4" descr="profile.gif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38200"/>
                <a:ext cx="6217170" cy="6019800"/>
              </a:xfrm>
              <a:prstGeom prst="rect">
                <a:avLst/>
              </a:prstGeom>
            </p:spPr>
          </p:pic>
          <p:cxnSp>
            <p:nvCxnSpPr>
              <p:cNvPr id="7" name="Straight Arrow Connector 6"/>
              <p:cNvCxnSpPr/>
              <p:nvPr/>
            </p:nvCxnSpPr>
            <p:spPr>
              <a:xfrm>
                <a:off x="2971800" y="5715000"/>
                <a:ext cx="27432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rot="5400000" flipH="1" flipV="1">
                <a:off x="2286000" y="5029200"/>
                <a:ext cx="1371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1143000" y="1524000"/>
                <a:ext cx="14478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>
                <a:off x="794" y="2666206"/>
                <a:ext cx="2286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10800000">
                <a:off x="1143000" y="1981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10800000">
                <a:off x="1219200" y="3124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21724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rot="5400000">
                <a:off x="33916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 rot="16200000">
              <a:off x="1844238" y="4488406"/>
              <a:ext cx="13774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Intensity/</a:t>
              </a:r>
            </a:p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Polarization</a:t>
              </a:r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profile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19400" y="1066800"/>
              <a:ext cx="26377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VERTICAL / HORIZONTAL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SCANS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rot="5400000">
              <a:off x="3848894" y="5143500"/>
              <a:ext cx="1142206" cy="794"/>
            </a:xfrm>
            <a:prstGeom prst="line">
              <a:avLst/>
            </a:prstGeom>
            <a:ln w="50800">
              <a:solidFill>
                <a:srgbClr val="BF47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819400" y="5943600"/>
              <a:ext cx="3276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BF479D"/>
                  </a:solidFill>
                </a:rPr>
                <a:t>Fixed target measurements</a:t>
              </a:r>
            </a:p>
            <a:p>
              <a:pPr algn="ctr"/>
              <a:r>
                <a:rPr lang="en-US" sz="2000" b="1" dirty="0" err="1" smtClean="0">
                  <a:solidFill>
                    <a:srgbClr val="BF479D"/>
                  </a:solidFill>
                </a:rPr>
                <a:t>P</a:t>
              </a:r>
              <a:r>
                <a:rPr lang="en-US" sz="2000" b="1" baseline="-25000" dirty="0" err="1" smtClean="0">
                  <a:solidFill>
                    <a:srgbClr val="BF479D"/>
                  </a:solidFill>
                </a:rPr>
                <a:t>max</a:t>
              </a:r>
              <a:endParaRPr lang="en-US" sz="2000" b="1" baseline="-25000" dirty="0">
                <a:solidFill>
                  <a:srgbClr val="BF479D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eq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066800"/>
            <a:ext cx="3324225" cy="1133475"/>
          </a:xfrm>
          <a:prstGeom prst="rect">
            <a:avLst/>
          </a:prstGeom>
        </p:spPr>
      </p:pic>
      <p:pic>
        <p:nvPicPr>
          <p:cNvPr id="31" name="Picture 30" descr="eq1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00400"/>
            <a:ext cx="1742441" cy="1143000"/>
          </a:xfrm>
          <a:prstGeom prst="rect">
            <a:avLst/>
          </a:prstGeom>
        </p:spPr>
      </p:pic>
      <p:pic>
        <p:nvPicPr>
          <p:cNvPr id="34" name="Picture 33" descr="Fill_V_PVsI9938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2819400"/>
            <a:ext cx="3962400" cy="3825765"/>
          </a:xfrm>
          <a:prstGeom prst="rect">
            <a:avLst/>
          </a:prstGeom>
        </p:spPr>
      </p:pic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6705600" y="5181600"/>
          <a:ext cx="2061135" cy="787399"/>
        </p:xfrm>
        <a:graphic>
          <a:graphicData uri="http://schemas.openxmlformats.org/presentationml/2006/ole">
            <p:oleObj spid="_x0000_s1026" name="Equation" r:id="rId7" imgW="1396800" imgH="431640" progId="Equation.3">
              <p:embed/>
            </p:oleObj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648200" y="2362200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 fit to P Vs L/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 to determine 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baseline="-25000" dirty="0" smtClean="0">
                <a:solidFill>
                  <a:srgbClr val="BF479D"/>
                </a:solidFill>
                <a:latin typeface="Comic Sans MS" pitchFamily="66" charset="0"/>
              </a:rPr>
              <a:t> 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and 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/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endParaRPr lang="en-US" sz="2000" baseline="-25000" dirty="0">
              <a:solidFill>
                <a:srgbClr val="BF479D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591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ll_V_Lum990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3600"/>
            <a:ext cx="4444093" cy="4290848"/>
          </a:xfrm>
          <a:prstGeom prst="rect">
            <a:avLst/>
          </a:prstGeom>
        </p:spPr>
      </p:pic>
      <p:pic>
        <p:nvPicPr>
          <p:cNvPr id="11" name="Picture 10" descr="sin_phi_fi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066799"/>
            <a:ext cx="4047695" cy="2691325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2514600" y="4343400"/>
            <a:ext cx="304800" cy="228600"/>
          </a:xfrm>
          <a:prstGeom prst="rect">
            <a:avLst/>
          </a:prstGeom>
          <a:solidFill>
            <a:srgbClr val="D6369D">
              <a:alpha val="0"/>
            </a:srgb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5400000" flipH="1" flipV="1">
            <a:off x="2400300" y="3314700"/>
            <a:ext cx="1447800" cy="6096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Run_9906.10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23393"/>
            <a:ext cx="3429000" cy="29346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10400" y="28194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RUN08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0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was kept fixed at average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0</a:t>
            </a:r>
            <a:endParaRPr lang="en-US" baseline="-25000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76600" y="3886200"/>
            <a:ext cx="25146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Polarization for  each target position is determined by doing a sin phi fit to asymmetry Vs phi measured at  each target position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95800" y="2667000"/>
          <a:ext cx="1752600" cy="339213"/>
        </p:xfrm>
        <a:graphic>
          <a:graphicData uri="http://schemas.openxmlformats.org/presentationml/2006/ole">
            <p:oleObj spid="_x0000_s2050" name="Equation" r:id="rId6" imgW="1180800" imgH="228600" progId="Equation.3">
              <p:embed/>
            </p:oleObj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5867400" y="2971800"/>
            <a:ext cx="3048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591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in_phi_fi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66799"/>
            <a:ext cx="4047695" cy="2691325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7010400" y="28194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RUN08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0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was kept fixed at average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0</a:t>
            </a:r>
            <a:endParaRPr lang="en-US" baseline="-25000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95800" y="2667000"/>
          <a:ext cx="1752600" cy="339213"/>
        </p:xfrm>
        <a:graphic>
          <a:graphicData uri="http://schemas.openxmlformats.org/presentationml/2006/ole">
            <p:oleObj spid="_x0000_s3074" name="Equation" r:id="rId4" imgW="1180800" imgH="228600" progId="Equation.3">
              <p:embed/>
            </p:oleObj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5867400" y="2971800"/>
            <a:ext cx="3048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hase_ave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94785"/>
            <a:ext cx="4269105" cy="2863215"/>
          </a:xfrm>
          <a:prstGeom prst="rect">
            <a:avLst/>
          </a:prstGeom>
        </p:spPr>
      </p:pic>
      <p:pic>
        <p:nvPicPr>
          <p:cNvPr id="20" name="Picture 19" descr="Phase_ave_blue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4895" y="3994785"/>
            <a:ext cx="4269105" cy="28632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3962400"/>
            <a:ext cx="130240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Symbol" pitchFamily="18" charset="2"/>
              </a:rPr>
              <a:t>F</a:t>
            </a:r>
            <a:r>
              <a:rPr lang="en-US" baseline="-25000" dirty="0" smtClean="0"/>
              <a:t>0</a:t>
            </a:r>
            <a:r>
              <a:rPr lang="en-US" dirty="0" smtClean="0"/>
              <a:t> YELLOW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715000" y="3962400"/>
            <a:ext cx="1008481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Symbol" pitchFamily="18" charset="2"/>
              </a:rPr>
              <a:t>F</a:t>
            </a:r>
            <a:r>
              <a:rPr lang="en-US" baseline="-25000" dirty="0" smtClean="0"/>
              <a:t>0</a:t>
            </a:r>
            <a:r>
              <a:rPr lang="en-US" dirty="0" smtClean="0"/>
              <a:t> BLUE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702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NORMALIZATION TO HJET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8200" y="12192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PERIOD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pC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average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pC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/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HJet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All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39.59± 0.39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1.091± 0.035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41.00 ±0.61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1.045± 0.054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2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38.16±</a:t>
                      </a:r>
                      <a:r>
                        <a:rPr lang="en-US" sz="2000" b="0" baseline="0" dirty="0" smtClean="0">
                          <a:latin typeface="+mj-lt"/>
                          <a:cs typeface="Times New Roman" pitchFamily="18" charset="0"/>
                        </a:rPr>
                        <a:t> 0.73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1.124± 0.069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39.55±</a:t>
                      </a:r>
                      <a:r>
                        <a:rPr lang="en-US" sz="2000" b="0" baseline="0" dirty="0" smtClean="0">
                          <a:latin typeface="+mj-lt"/>
                          <a:cs typeface="Times New Roman" pitchFamily="18" charset="0"/>
                        </a:rPr>
                        <a:t> 0.69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1.110± 0.062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38200" y="35814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PERIOD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pC</a:t>
                      </a:r>
                      <a:r>
                        <a:rPr lang="en-US" sz="2000" dirty="0" smtClean="0"/>
                        <a:t> average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pC</a:t>
                      </a:r>
                      <a:r>
                        <a:rPr lang="en-US" sz="2000" dirty="0" smtClean="0"/>
                        <a:t>/</a:t>
                      </a:r>
                      <a:r>
                        <a:rPr lang="en-US" sz="2000" dirty="0" err="1" smtClean="0"/>
                        <a:t>HJet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ALL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47.96 ±0.53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1.062± 0.029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52.02± 0.65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1.086± 0.055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47.02± 0.74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1.090± 0.044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47.80± 1.38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0.982± 0.057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0" y="5867400"/>
            <a:ext cx="36086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Run 5   ≈  1.01     Run 6 ≈  1.15</a:t>
            </a:r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0" y="1447800"/>
            <a:ext cx="135165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Golden runs</a:t>
            </a:r>
          </a:p>
          <a:p>
            <a:r>
              <a:rPr lang="en-US" dirty="0" smtClean="0"/>
              <a:t>1.101±0.053</a:t>
            </a:r>
          </a:p>
          <a:p>
            <a:endParaRPr lang="en-US" dirty="0" smtClean="0"/>
          </a:p>
          <a:p>
            <a:r>
              <a:rPr lang="en-US" dirty="0" smtClean="0"/>
              <a:t>OK runs</a:t>
            </a:r>
          </a:p>
          <a:p>
            <a:r>
              <a:rPr lang="en-US" dirty="0" smtClean="0"/>
              <a:t>1.078±0.048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Golden runs</a:t>
            </a:r>
          </a:p>
          <a:p>
            <a:r>
              <a:rPr lang="en-US" dirty="0" smtClean="0"/>
              <a:t>1.086±0.082</a:t>
            </a:r>
          </a:p>
          <a:p>
            <a:endParaRPr lang="en-US" dirty="0" smtClean="0"/>
          </a:p>
          <a:p>
            <a:r>
              <a:rPr lang="en-US" dirty="0" smtClean="0"/>
              <a:t>OK runs</a:t>
            </a:r>
          </a:p>
          <a:p>
            <a:r>
              <a:rPr lang="en-US" dirty="0" smtClean="0"/>
              <a:t>1.051±0.031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702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NORMALIZATION TO HJET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norm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570"/>
            <a:ext cx="4541520" cy="5090160"/>
          </a:xfrm>
          <a:prstGeom prst="rect">
            <a:avLst/>
          </a:prstGeom>
        </p:spPr>
      </p:pic>
      <p:pic>
        <p:nvPicPr>
          <p:cNvPr id="9" name="Picture 8" descr="norm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80" y="1219200"/>
            <a:ext cx="4541520" cy="5090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143000"/>
          </a:xfrm>
        </p:spPr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28600"/>
            <a:ext cx="48141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compare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668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8141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Pol_di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compare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026"/>
            <a:ext cx="8686800" cy="5860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"/>
            <a:ext cx="55789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diff_yellow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8583385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diff_yellow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7026"/>
            <a:ext cx="8686800" cy="5860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diff_yellow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48438"/>
            <a:ext cx="8610600" cy="58095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479</Words>
  <Application>Microsoft Office PowerPoint</Application>
  <PresentationFormat>On-screen Show (4:3)</PresentationFormat>
  <Paragraphs>142</Paragraphs>
  <Slides>21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Office Theme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BACKUP SLIDES</vt:lpstr>
      <vt:lpstr>Slide 16</vt:lpstr>
      <vt:lpstr>Slide 17</vt:lpstr>
      <vt:lpstr>Slide 18</vt:lpstr>
      <vt:lpstr>Slide 19</vt:lpstr>
      <vt:lpstr>Slide 20</vt:lpstr>
      <vt:lpstr>Slide 21</vt:lpstr>
    </vt:vector>
  </TitlesOfParts>
  <Company>Jefferson Science Associates,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Myung Bang</dc:creator>
  <cp:lastModifiedBy>Myung Bang</cp:lastModifiedBy>
  <cp:revision>144</cp:revision>
  <dcterms:created xsi:type="dcterms:W3CDTF">2008-09-09T16:48:37Z</dcterms:created>
  <dcterms:modified xsi:type="dcterms:W3CDTF">2008-09-11T03:07:29Z</dcterms:modified>
</cp:coreProperties>
</file>